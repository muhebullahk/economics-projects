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417320"/>
          </a:xfrm>
          <a:prstGeom prst="rect">
            <a:avLst/>
          </a:prstGeom>
          <a:solidFill>
            <a:srgbClr val="005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128016"/>
            <a:ext cx="512064" cy="512064"/>
          </a:xfrm>
          <a:prstGeom prst="ellipse">
            <a:avLst/>
          </a:prstGeom>
          <a:solidFill>
            <a:srgbClr val="004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" y="201168"/>
            <a:ext cx="365760" cy="365760"/>
          </a:xfrm>
          <a:prstGeom prst="ellipse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8288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573F"/>
                </a:solidFill>
              </a:rPr>
              <a:t>UNBC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19456"/>
            <a:ext cx="1389888" cy="347472"/>
          </a:xfrm>
          <a:prstGeom prst="round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73F"/>
                </a:solidFill>
              </a:rPr>
              <a:t>ECON 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864" y="5486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 to Behavioural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864" y="612648"/>
            <a:ext cx="9875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3E8D7"/>
                </a:solidFill>
              </a:rPr>
              <a:t>Discover why smart, educated people still make predictably irrational choices — and how to change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62688" y="155448"/>
            <a:ext cx="2048256" cy="329184"/>
          </a:xfrm>
          <a:prstGeom prst="round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62688" y="155448"/>
            <a:ext cx="2048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A800"/>
                </a:solidFill>
              </a:rPr>
              <a:t>★  Student Favourite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62688" y="548640"/>
            <a:ext cx="2048256" cy="329184"/>
          </a:xfrm>
          <a:prstGeom prst="round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62688" y="548640"/>
            <a:ext cx="2048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No Prerequisites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417320"/>
            <a:ext cx="14630400" cy="36576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444752"/>
            <a:ext cx="1389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573F"/>
                </a:solidFill>
              </a:rPr>
              <a:t>✦  Open to ALL Programs   ✦   No Economics Background Needed   ✦   3 Credit Hours   ✦   Fall 2026   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" y="1883664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1883664"/>
            <a:ext cx="64008" cy="1993391"/>
          </a:xfrm>
          <a:prstGeom prst="rect">
            <a:avLst/>
          </a:prstGeom>
          <a:solidFill>
            <a:srgbClr val="00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1883664"/>
            <a:ext cx="3440430" cy="50292"/>
          </a:xfrm>
          <a:prstGeom prst="rect">
            <a:avLst/>
          </a:prstGeom>
          <a:solidFill>
            <a:srgbClr val="00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0896" y="1975104"/>
            <a:ext cx="3239262" cy="932688"/>
          </a:xfrm>
          <a:prstGeom prst="roundRect">
            <a:avLst/>
          </a:prstGeom>
          <a:solidFill>
            <a:srgbClr val="E8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3776" y="2066544"/>
            <a:ext cx="658368" cy="512064"/>
          </a:xfrm>
          <a:prstGeom prst="ellipse">
            <a:avLst/>
          </a:prstGeom>
          <a:solidFill>
            <a:srgbClr val="B4E8D2"/>
          </a:solidFill>
          <a:ln w="15240">
            <a:solidFill>
              <a:srgbClr val="00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2066544"/>
            <a:ext cx="621792" cy="512064"/>
          </a:xfrm>
          <a:prstGeom prst="ellipse">
            <a:avLst/>
          </a:prstGeom>
          <a:solidFill>
            <a:srgbClr val="B4E8D2"/>
          </a:solidFill>
          <a:ln w="15240">
            <a:solidFill>
              <a:srgbClr val="00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3" y="2642616"/>
            <a:ext cx="3019806" cy="32004"/>
          </a:xfrm>
          <a:prstGeom prst="rect">
            <a:avLst/>
          </a:prstGeom>
          <a:solidFill>
            <a:srgbClr val="00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" y="267004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164"/>
                </a:solidFill>
              </a:rPr>
              <a:t>✓ Good Enough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8216" y="26700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43C3C"/>
                </a:solidFill>
              </a:rPr>
              <a:t>✗ Optimal (skipped)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" y="2971800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164"/>
                </a:solidFill>
              </a:rPr>
              <a:t>Bounded Rationality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" y="3236976"/>
            <a:ext cx="325755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We satisfice — quick enough beats perfectly optimal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97046" y="1883664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97046" y="1883664"/>
            <a:ext cx="64008" cy="1993391"/>
          </a:xfrm>
          <a:prstGeom prst="rect">
            <a:avLst/>
          </a:prstGeom>
          <a:solidFill>
            <a:srgbClr val="D2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97046" y="1883664"/>
            <a:ext cx="3440430" cy="50292"/>
          </a:xfrm>
          <a:prstGeom prst="rect">
            <a:avLst/>
          </a:prstGeom>
          <a:solidFill>
            <a:srgbClr val="D2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906774" y="1975104"/>
            <a:ext cx="3239262" cy="932688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181094" y="2194560"/>
            <a:ext cx="512064" cy="658368"/>
          </a:xfrm>
          <a:prstGeom prst="roundRect">
            <a:avLst/>
          </a:prstGeom>
          <a:solidFill>
            <a:srgbClr val="D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5374" y="2066544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A1E1E"/>
                </a:solidFill>
              </a:rPr>
              <a:t>−$100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44518" y="2862072"/>
            <a:ext cx="5852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65A50"/>
                </a:solidFill>
              </a:rPr>
              <a:t>Loss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04054" y="2505456"/>
            <a:ext cx="512064" cy="347472"/>
          </a:xfrm>
          <a:prstGeom prst="roundRect">
            <a:avLst/>
          </a:prstGeom>
          <a:solidFill>
            <a:srgbClr val="2DB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8333" y="2377440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48237"/>
                </a:solidFill>
              </a:rPr>
              <a:t>+$100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67478" y="2862072"/>
            <a:ext cx="5852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65A50"/>
                </a:solidFill>
              </a:rPr>
              <a:t>Gain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27014" y="2231136"/>
            <a:ext cx="10972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22D2D"/>
                </a:solidFill>
              </a:rPr>
              <a:t>Pain
= 2×
Joy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34789" y="2852928"/>
            <a:ext cx="2983230" cy="22860"/>
          </a:xfrm>
          <a:prstGeom prst="rect">
            <a:avLst/>
          </a:prstGeom>
          <a:solidFill>
            <a:srgbClr val="91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5061" y="2971800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22D2D"/>
                </a:solidFill>
              </a:rPr>
              <a:t>Loss Aversion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25061" y="3236976"/>
            <a:ext cx="325755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Losses sting ~2× more than equal gains feel good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92924" y="1883664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92924" y="1883664"/>
            <a:ext cx="64008" cy="1993391"/>
          </a:xfrm>
          <a:prstGeom prst="rect">
            <a:avLst/>
          </a:prstGeom>
          <a:solidFill>
            <a:srgbClr val="1E5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92924" y="1883664"/>
            <a:ext cx="3440430" cy="50292"/>
          </a:xfrm>
          <a:prstGeom prst="rect">
            <a:avLst/>
          </a:prstGeom>
          <a:solidFill>
            <a:srgbClr val="1E5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502652" y="1975104"/>
            <a:ext cx="3239262" cy="932688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85531" y="2066544"/>
            <a:ext cx="457200" cy="457200"/>
          </a:xfrm>
          <a:prstGeom prst="ellipse">
            <a:avLst/>
          </a:prstGeom>
          <a:solidFill>
            <a:srgbClr val="E9F2FF"/>
          </a:solidFill>
          <a:ln w="19050">
            <a:solidFill>
              <a:srgbClr val="1E5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5531" y="20665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5FC3"/>
                </a:solidFill>
              </a:rPr>
              <a:t>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80475" y="2066544"/>
            <a:ext cx="822960" cy="310896"/>
          </a:xfrm>
          <a:prstGeom prst="roundRect">
            <a:avLst/>
          </a:prstGeom>
          <a:solidFill>
            <a:srgbClr val="DCEBFF"/>
          </a:solidFill>
          <a:ln w="10160">
            <a:solidFill>
              <a:srgbClr val="1E5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80475" y="206654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5FC3"/>
                </a:solidFill>
              </a:rPr>
              <a:t>Est:  900 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80475" y="2505456"/>
            <a:ext cx="822960" cy="310896"/>
          </a:xfrm>
          <a:prstGeom prst="roundRect">
            <a:avLst/>
          </a:prstGeom>
          <a:solidFill>
            <a:srgbClr val="FFF8DC"/>
          </a:solidFill>
          <a:ln w="10160">
            <a:solidFill>
              <a:srgbClr val="A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80475" y="250545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66400"/>
                </a:solidFill>
              </a:rPr>
              <a:t>Est:  200 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64524" y="2377440"/>
            <a:ext cx="32004" cy="137160"/>
          </a:xfrm>
          <a:prstGeom prst="rect">
            <a:avLst/>
          </a:prstGeom>
          <a:solidFill>
            <a:srgbClr val="91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94876" y="23225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1A59B"/>
                </a:solidFill>
              </a:rPr>
              <a:t>← anchor
   bias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20940" y="2971800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5FC3"/>
                </a:solidFill>
              </a:rPr>
              <a:t>Anchoring Bias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20940" y="3236976"/>
            <a:ext cx="325755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The first number heard skews every estimate after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88802" y="1883664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988802" y="1883664"/>
            <a:ext cx="64008" cy="1993391"/>
          </a:xfrm>
          <a:prstGeom prst="rect">
            <a:avLst/>
          </a:prstGeom>
          <a:solidFill>
            <a:srgbClr val="00A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988802" y="1883664"/>
            <a:ext cx="3440430" cy="50292"/>
          </a:xfrm>
          <a:prstGeom prst="rect">
            <a:avLst/>
          </a:prstGeom>
          <a:solidFill>
            <a:srgbClr val="00A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1098530" y="1975104"/>
            <a:ext cx="3239262" cy="932688"/>
          </a:xfrm>
          <a:prstGeom prst="roundRect">
            <a:avLst/>
          </a:prstGeom>
          <a:solidFill>
            <a:srgbClr val="E9F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1189969" y="2039112"/>
            <a:ext cx="3056382" cy="237744"/>
          </a:xfrm>
          <a:prstGeom prst="roundRect">
            <a:avLst/>
          </a:prstGeom>
          <a:solidFill>
            <a:srgbClr val="E9FCF2"/>
          </a:solidFill>
          <a:ln w="10160">
            <a:solidFill>
              <a:srgbClr val="00A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244834" y="2066543"/>
            <a:ext cx="29283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550"/>
                </a:solidFill>
              </a:rPr>
              <a:t>☑  Organ Donor  ← DEFAULT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189969" y="2313432"/>
            <a:ext cx="3056382" cy="237744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244834" y="2340863"/>
            <a:ext cx="29283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1A59B"/>
                </a:solidFill>
              </a:rPr>
              <a:t>○  Not a Donor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189969" y="2587752"/>
            <a:ext cx="3056382" cy="237744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44834" y="2615184"/>
            <a:ext cx="29283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1A59B"/>
                </a:solidFill>
              </a:rPr>
              <a:t>○  Other…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16818" y="2971800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550"/>
                </a:solidFill>
              </a:rPr>
              <a:t>Nudge Theory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16818" y="3236976"/>
            <a:ext cx="325755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Tiny default tweaks guide millions of decisions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01168" y="4005072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01168" y="4005072"/>
            <a:ext cx="64008" cy="1993391"/>
          </a:xfrm>
          <a:prstGeom prst="rect">
            <a:avLst/>
          </a:prstGeom>
          <a:solidFill>
            <a:srgbClr val="C8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01168" y="4005072"/>
            <a:ext cx="3440430" cy="50292"/>
          </a:xfrm>
          <a:prstGeom prst="rect">
            <a:avLst/>
          </a:prstGeom>
          <a:solidFill>
            <a:srgbClr val="C8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10896" y="4096511"/>
            <a:ext cx="3239262" cy="932688"/>
          </a:xfrm>
          <a:prstGeom prst="roundRect">
            <a:avLst/>
          </a:prstGeom>
          <a:solidFill>
            <a:srgbClr val="FF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75488" y="4608575"/>
            <a:ext cx="2910078" cy="27432"/>
          </a:xfrm>
          <a:prstGeom prst="rect">
            <a:avLst/>
          </a:prstGeom>
          <a:solidFill>
            <a:srgbClr val="91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75488" y="4169663"/>
            <a:ext cx="694944" cy="694944"/>
          </a:xfrm>
          <a:prstGeom prst="ellipse">
            <a:avLst/>
          </a:prstGeom>
          <a:solidFill>
            <a:srgbClr val="F5A800"/>
          </a:solidFill>
          <a:ln w="15240">
            <a:solidFill>
              <a:srgbClr val="BE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5488" y="4169663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573F"/>
                </a:solidFill>
              </a:rPr>
              <a:t>NOW
$10</a:t>
            </a:r>
          </a:p>
        </p:txBody>
      </p:sp>
      <p:sp>
        <p:nvSpPr>
          <p:cNvPr id="76" name="Oval 75"/>
          <p:cNvSpPr/>
          <p:nvPr/>
        </p:nvSpPr>
        <p:spPr>
          <a:xfrm>
            <a:off x="1682495" y="4425696"/>
            <a:ext cx="384048" cy="384048"/>
          </a:xfrm>
          <a:prstGeom prst="ellipse">
            <a:avLst/>
          </a:prstGeom>
          <a:solidFill>
            <a:srgbClr val="D7D7D7"/>
          </a:solidFill>
          <a:ln w="10160">
            <a:solidFill>
              <a:srgbClr val="91A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82495" y="44256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65A50"/>
                </a:solidFill>
              </a:rPr>
              <a:t>$15
later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31136" y="427939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65A50"/>
                </a:solidFill>
              </a:rPr>
              <a:t>Most choose
$10 now
over $15
next week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9184" y="5093208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5F00"/>
                </a:solidFill>
              </a:rPr>
              <a:t>Present Bias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9184" y="5358384"/>
            <a:ext cx="325755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A reward now beats a bigger reward tomorrow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797046" y="4005072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797046" y="4005072"/>
            <a:ext cx="64008" cy="1993391"/>
          </a:xfrm>
          <a:prstGeom prst="rect">
            <a:avLst/>
          </a:prstGeom>
          <a:solidFill>
            <a:srgbClr val="8C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797046" y="4005072"/>
            <a:ext cx="3440430" cy="50292"/>
          </a:xfrm>
          <a:prstGeom prst="rect">
            <a:avLst/>
          </a:prstGeom>
          <a:solidFill>
            <a:srgbClr val="8C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906774" y="4096511"/>
            <a:ext cx="3239262" cy="932688"/>
          </a:xfrm>
          <a:prstGeom prst="roundRect">
            <a:avLst/>
          </a:prstGeom>
          <a:solidFill>
            <a:srgbClr val="F7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071365" y="4389120"/>
            <a:ext cx="2910078" cy="310896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107941" y="4407407"/>
            <a:ext cx="909066" cy="274320"/>
          </a:xfrm>
          <a:prstGeom prst="roundRect">
            <a:avLst/>
          </a:prstGeom>
          <a:solidFill>
            <a:srgbClr val="2D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07941" y="4407407"/>
            <a:ext cx="90906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053584" y="4407407"/>
            <a:ext cx="909066" cy="274320"/>
          </a:xfrm>
          <a:prstGeom prst="round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53584" y="4407407"/>
            <a:ext cx="90906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573F"/>
                </a:solidFill>
              </a:rPr>
              <a:t>Medium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999226" y="4407407"/>
            <a:ext cx="909066" cy="274320"/>
          </a:xfrm>
          <a:prstGeom prst="roundRect">
            <a:avLst/>
          </a:prstGeom>
          <a:solidFill>
            <a:srgbClr val="D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99226" y="4407407"/>
            <a:ext cx="90906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HIGH!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780275" y="4261103"/>
            <a:ext cx="41148" cy="457200"/>
          </a:xfrm>
          <a:prstGeom prst="rect">
            <a:avLst/>
          </a:prstGeom>
          <a:solidFill>
            <a:srgbClr val="8C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761988" y="4224527"/>
            <a:ext cx="74980" cy="74980"/>
          </a:xfrm>
          <a:prstGeom prst="ellipse">
            <a:avLst/>
          </a:prstGeom>
          <a:solidFill>
            <a:srgbClr val="8C2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034789" y="4736592"/>
            <a:ext cx="29832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8C2DBE"/>
                </a:solidFill>
              </a:rPr>
              <a:t>Most people estimate their ability here 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25061" y="5093208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2DBE"/>
                </a:solidFill>
              </a:rPr>
              <a:t>Overconfidence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25061" y="5358384"/>
            <a:ext cx="325755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Most drivers — and students — think they're above average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392924" y="4005072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392924" y="4005072"/>
            <a:ext cx="64008" cy="1993391"/>
          </a:xfrm>
          <a:prstGeom prst="rect">
            <a:avLst/>
          </a:prstGeom>
          <a:solidFill>
            <a:srgbClr val="0F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392924" y="4005072"/>
            <a:ext cx="3440430" cy="50292"/>
          </a:xfrm>
          <a:prstGeom prst="rect">
            <a:avLst/>
          </a:prstGeom>
          <a:solidFill>
            <a:srgbClr val="0F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502652" y="4096511"/>
            <a:ext cx="3239262" cy="932688"/>
          </a:xfrm>
          <a:prstGeom prst="roundRect">
            <a:avLst/>
          </a:prstGeom>
          <a:solidFill>
            <a:srgbClr val="E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667244" y="4169663"/>
            <a:ext cx="932688" cy="731520"/>
          </a:xfrm>
          <a:prstGeom prst="roundRect">
            <a:avLst/>
          </a:prstGeom>
          <a:solidFill>
            <a:srgbClr val="E1F8EB"/>
          </a:solidFill>
          <a:ln w="12700">
            <a:solidFill>
              <a:srgbClr val="0F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67244" y="4169663"/>
            <a:ext cx="9326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91AF"/>
                </a:solidFill>
              </a:rPr>
              <a:t>90%
FAT FREE
😊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148572" y="4169663"/>
            <a:ext cx="932688" cy="731520"/>
          </a:xfrm>
          <a:prstGeom prst="roundRect">
            <a:avLst/>
          </a:prstGeom>
          <a:solidFill>
            <a:srgbClr val="FFE8E8"/>
          </a:solidFill>
          <a:ln w="127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48572" y="4169663"/>
            <a:ext cx="9326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1E1E"/>
                </a:solidFill>
              </a:rPr>
              <a:t>10%
FAT
😟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73084" y="435254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1A59B"/>
                </a:solidFill>
              </a:rPr>
              <a:t>←
SAME
→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520940" y="5093208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91AF"/>
                </a:solidFill>
              </a:rPr>
              <a:t>Framing Effects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20940" y="5358384"/>
            <a:ext cx="325755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90% Fat-Free vs 10% Fat — same product, different choice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988802" y="4005072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988802" y="4005072"/>
            <a:ext cx="64008" cy="1993391"/>
          </a:xfrm>
          <a:prstGeom prst="rect">
            <a:avLst/>
          </a:prstGeom>
          <a:solidFill>
            <a:srgbClr val="A5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988802" y="4005072"/>
            <a:ext cx="3440430" cy="50292"/>
          </a:xfrm>
          <a:prstGeom prst="rect">
            <a:avLst/>
          </a:prstGeom>
          <a:solidFill>
            <a:srgbClr val="A5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1098530" y="4096511"/>
            <a:ext cx="3239262" cy="932688"/>
          </a:xfrm>
          <a:prstGeom prst="roundRect">
            <a:avLst/>
          </a:prstGeom>
          <a:solidFill>
            <a:srgbClr val="FFF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11226546" y="4169663"/>
            <a:ext cx="658368" cy="694944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1253978" y="4273905"/>
            <a:ext cx="603503" cy="563270"/>
          </a:xfrm>
          <a:prstGeom prst="roundRect">
            <a:avLst/>
          </a:prstGeom>
          <a:solidFill>
            <a:srgbClr val="005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226546" y="4882896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65A50"/>
                </a:solidFill>
              </a:rPr>
              <a:t>Rent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2140946" y="4169663"/>
            <a:ext cx="658368" cy="694944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12168378" y="4568342"/>
            <a:ext cx="603503" cy="268833"/>
          </a:xfrm>
          <a:prstGeom prst="round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2140946" y="4882896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65A50"/>
                </a:solidFill>
              </a:rPr>
              <a:t>Fun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3055346" y="4169663"/>
            <a:ext cx="658368" cy="694944"/>
          </a:xfrm>
          <a:prstGeom prst="roundRect">
            <a:avLst/>
          </a:prstGeom>
          <a:solidFill>
            <a:srgbClr val="EEEEEE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3082778" y="4657953"/>
            <a:ext cx="603503" cy="179222"/>
          </a:xfrm>
          <a:prstGeom prst="roundRect">
            <a:avLst/>
          </a:prstGeom>
          <a:solidFill>
            <a:srgbClr val="A5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055346" y="4882896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65A50"/>
                </a:solidFill>
              </a:rPr>
              <a:t>Savings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116818" y="5093208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7D00"/>
                </a:solidFill>
              </a:rPr>
              <a:t>Mental Accounting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116818" y="5358384"/>
            <a:ext cx="3257550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We budget 'fun money' differently from 'rent money'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01168" y="6126479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01168" y="6126479"/>
            <a:ext cx="64008" cy="1993391"/>
          </a:xfrm>
          <a:prstGeom prst="rect">
            <a:avLst/>
          </a:prstGeom>
          <a:solidFill>
            <a:srgbClr val="287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01168" y="6126479"/>
            <a:ext cx="3440430" cy="50292"/>
          </a:xfrm>
          <a:prstGeom prst="rect">
            <a:avLst/>
          </a:prstGeom>
          <a:solidFill>
            <a:srgbClr val="287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310896" y="6217919"/>
            <a:ext cx="3239262" cy="932688"/>
          </a:xfrm>
          <a:prstGeom prst="roundRect">
            <a:avLst/>
          </a:prstGeom>
          <a:solidFill>
            <a:srgbClr val="EC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93776" y="6272783"/>
            <a:ext cx="365760" cy="365760"/>
          </a:xfrm>
          <a:prstGeom prst="ellipse">
            <a:avLst/>
          </a:prstGeom>
          <a:solidFill>
            <a:srgbClr val="287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76071" y="6638543"/>
            <a:ext cx="201168" cy="365760"/>
          </a:xfrm>
          <a:prstGeom prst="rect">
            <a:avLst/>
          </a:prstGeom>
          <a:solidFill>
            <a:srgbClr val="287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9768" y="6675119"/>
            <a:ext cx="164592" cy="73152"/>
          </a:xfrm>
          <a:prstGeom prst="rect">
            <a:avLst/>
          </a:prstGeom>
          <a:solidFill>
            <a:srgbClr val="287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58952" y="6675119"/>
            <a:ext cx="164592" cy="73152"/>
          </a:xfrm>
          <a:prstGeom prst="rect">
            <a:avLst/>
          </a:prstGeom>
          <a:solidFill>
            <a:srgbClr val="287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84048" y="7022591"/>
            <a:ext cx="5852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65A50"/>
                </a:solidFill>
              </a:rPr>
              <a:t>Person A</a:t>
            </a:r>
          </a:p>
        </p:txBody>
      </p:sp>
      <p:sp>
        <p:nvSpPr>
          <p:cNvPr id="132" name="Oval 131"/>
          <p:cNvSpPr/>
          <p:nvPr/>
        </p:nvSpPr>
        <p:spPr>
          <a:xfrm>
            <a:off x="2688336" y="6272783"/>
            <a:ext cx="365760" cy="365760"/>
          </a:xfrm>
          <a:prstGeom prst="ellipse">
            <a:avLst/>
          </a:prstGeom>
          <a:solidFill>
            <a:srgbClr val="32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770632" y="6638543"/>
            <a:ext cx="201168" cy="365760"/>
          </a:xfrm>
          <a:prstGeom prst="rect">
            <a:avLst/>
          </a:prstGeom>
          <a:solidFill>
            <a:srgbClr val="32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624327" y="6675119"/>
            <a:ext cx="164592" cy="73152"/>
          </a:xfrm>
          <a:prstGeom prst="rect">
            <a:avLst/>
          </a:prstGeom>
          <a:solidFill>
            <a:srgbClr val="32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953512" y="6675119"/>
            <a:ext cx="164592" cy="73152"/>
          </a:xfrm>
          <a:prstGeom prst="rect">
            <a:avLst/>
          </a:prstGeom>
          <a:solidFill>
            <a:srgbClr val="32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578608" y="7022591"/>
            <a:ext cx="5852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65A50"/>
                </a:solidFill>
              </a:rPr>
              <a:t>Person B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426464" y="6382511"/>
            <a:ext cx="914400" cy="475488"/>
          </a:xfrm>
          <a:prstGeom prst="roundRect">
            <a:avLst/>
          </a:prstGeom>
          <a:solidFill>
            <a:srgbClr val="FFF9D7"/>
          </a:solidFill>
          <a:ln w="127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426464" y="6382511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573F"/>
                </a:solidFill>
              </a:rPr>
              <a:t>$100
Fair
Split?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14983" y="6601967"/>
            <a:ext cx="429768" cy="32004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322576" y="6601967"/>
            <a:ext cx="411480" cy="32004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29184" y="7214615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7D28"/>
                </a:solidFill>
              </a:rPr>
              <a:t>Social Preferences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29184" y="7479791"/>
            <a:ext cx="325755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Fairness, reciprocity &amp; altruism trump pure self-interest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797046" y="6126479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797046" y="6126479"/>
            <a:ext cx="64008" cy="1993391"/>
          </a:xfrm>
          <a:prstGeom prst="rect">
            <a:avLst/>
          </a:prstGeom>
          <a:solidFill>
            <a:srgbClr val="AF4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797046" y="6126479"/>
            <a:ext cx="3440430" cy="50292"/>
          </a:xfrm>
          <a:prstGeom prst="rect">
            <a:avLst/>
          </a:prstGeom>
          <a:solidFill>
            <a:srgbClr val="AF4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3906774" y="6217919"/>
            <a:ext cx="3239262" cy="932688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4912614" y="6327647"/>
            <a:ext cx="1207008" cy="658368"/>
          </a:xfrm>
          <a:prstGeom prst="roundRect">
            <a:avLst/>
          </a:prstGeom>
          <a:solidFill>
            <a:srgbClr val="E8F8EE"/>
          </a:solidFill>
          <a:ln w="15240">
            <a:solidFill>
              <a:srgbClr val="00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912614" y="6327647"/>
            <a:ext cx="1207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573F"/>
                </a:solidFill>
              </a:rPr>
              <a:t>✓  STAY
(Default)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998213" y="6492239"/>
            <a:ext cx="777240" cy="347472"/>
          </a:xfrm>
          <a:prstGeom prst="roundRect">
            <a:avLst/>
          </a:prstGeom>
          <a:solidFill>
            <a:srgbClr val="F5F5F5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998213" y="649223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9B9B9"/>
                </a:solidFill>
              </a:rPr>
              <a:t>Change?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265926" y="6492239"/>
            <a:ext cx="777240" cy="347472"/>
          </a:xfrm>
          <a:prstGeom prst="roundRect">
            <a:avLst/>
          </a:prstGeom>
          <a:solidFill>
            <a:srgbClr val="F5F5F5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265926" y="6492239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B9B9B9"/>
                </a:solidFill>
              </a:rPr>
              <a:t>Switch?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75454" y="6638543"/>
            <a:ext cx="155448" cy="32004"/>
          </a:xfrm>
          <a:prstGeom prst="rect">
            <a:avLst/>
          </a:prstGeom>
          <a:solidFill>
            <a:srgbClr val="91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19622" y="6638543"/>
            <a:ext cx="155448" cy="32004"/>
          </a:xfrm>
          <a:prstGeom prst="rect">
            <a:avLst/>
          </a:prstGeom>
          <a:solidFill>
            <a:srgbClr val="91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363974" y="6931151"/>
            <a:ext cx="232486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91A59B"/>
                </a:solidFill>
              </a:rPr>
              <a:t>Inertia keeps us rooted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925061" y="7214615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F410F"/>
                </a:solidFill>
              </a:rPr>
              <a:t>Status Quo Bias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925061" y="7479791"/>
            <a:ext cx="325755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Whatever is default tends to stay — inertia is powerful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392924" y="6126479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392924" y="6126479"/>
            <a:ext cx="64008" cy="1993391"/>
          </a:xfrm>
          <a:prstGeom prst="rect">
            <a:avLst/>
          </a:prstGeom>
          <a:solidFill>
            <a:srgbClr val="19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392924" y="6126479"/>
            <a:ext cx="3440430" cy="50292"/>
          </a:xfrm>
          <a:prstGeom prst="rect">
            <a:avLst/>
          </a:prstGeom>
          <a:solidFill>
            <a:srgbClr val="19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7502652" y="6217919"/>
            <a:ext cx="3239262" cy="932688"/>
          </a:xfrm>
          <a:prstGeom prst="roundRect">
            <a:avLst/>
          </a:prstGeom>
          <a:solidFill>
            <a:srgbClr val="E6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7667244" y="6531742"/>
            <a:ext cx="402336" cy="554857"/>
          </a:xfrm>
          <a:prstGeom prst="roundRect">
            <a:avLst/>
          </a:prstGeom>
          <a:solidFill>
            <a:srgbClr val="195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8161020" y="6640007"/>
            <a:ext cx="402336" cy="446592"/>
          </a:xfrm>
          <a:prstGeom prst="roundRect">
            <a:avLst/>
          </a:prstGeom>
          <a:solidFill>
            <a:srgbClr val="415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8654796" y="6748271"/>
            <a:ext cx="402336" cy="338328"/>
          </a:xfrm>
          <a:prstGeom prst="roundRect">
            <a:avLst/>
          </a:prstGeom>
          <a:solidFill>
            <a:srgbClr val="694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9148572" y="6856536"/>
            <a:ext cx="402336" cy="230063"/>
          </a:xfrm>
          <a:prstGeom prst="roundRect">
            <a:avLst/>
          </a:prstGeom>
          <a:solidFill>
            <a:srgbClr val="91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9642348" y="6964801"/>
            <a:ext cx="402336" cy="121798"/>
          </a:xfrm>
          <a:prstGeom prst="roundRect">
            <a:avLst/>
          </a:prstGeom>
          <a:solidFill>
            <a:srgbClr val="B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667244" y="6309359"/>
            <a:ext cx="1389888" cy="2286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667244" y="6327647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B92D2D"/>
                </a:solidFill>
              </a:rPr>
              <a:t>✕  Already Spent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667244" y="7086599"/>
            <a:ext cx="2377440" cy="22860"/>
          </a:xfrm>
          <a:prstGeom prst="rect">
            <a:avLst/>
          </a:prstGeom>
          <a:solidFill>
            <a:srgbClr val="91A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520940" y="7214615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4B9B"/>
                </a:solidFill>
              </a:rPr>
              <a:t>Sunk Cost Fallacy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520940" y="7479791"/>
            <a:ext cx="325755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Past losses keep us investing in failing projects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0988802" y="6126479"/>
            <a:ext cx="3440430" cy="1993391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988802" y="6126479"/>
            <a:ext cx="64008" cy="1993391"/>
          </a:xfrm>
          <a:prstGeom prst="rect">
            <a:avLst/>
          </a:prstGeom>
          <a:solidFill>
            <a:srgbClr val="9B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988802" y="6126479"/>
            <a:ext cx="3440430" cy="50292"/>
          </a:xfrm>
          <a:prstGeom prst="rect">
            <a:avLst/>
          </a:prstGeom>
          <a:solidFill>
            <a:srgbClr val="9B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11098530" y="6217919"/>
            <a:ext cx="3239262" cy="932688"/>
          </a:xfrm>
          <a:prstGeom prst="roundRect">
            <a:avLst/>
          </a:prstGeom>
          <a:solidFill>
            <a:srgbClr val="FC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11235690" y="6345935"/>
            <a:ext cx="1115568" cy="585216"/>
          </a:xfrm>
          <a:prstGeom prst="roundRect">
            <a:avLst/>
          </a:prstGeom>
          <a:solidFill>
            <a:srgbClr val="F0F0FF"/>
          </a:solidFill>
          <a:ln w="10160">
            <a:solidFill>
              <a:srgbClr val="64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1235690" y="6345935"/>
            <a:ext cx="11155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B4BB9"/>
                </a:solidFill>
              </a:rPr>
              <a:t>Before owning
Willing to
PAY:  $5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2424409" y="6510527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2373"/>
                </a:solidFill>
              </a:rPr>
              <a:t>Own
  →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3037058" y="6345935"/>
            <a:ext cx="1115568" cy="585216"/>
          </a:xfrm>
          <a:prstGeom prst="roundRect">
            <a:avLst/>
          </a:prstGeom>
          <a:solidFill>
            <a:srgbClr val="FAEBFF"/>
          </a:solidFill>
          <a:ln w="12700">
            <a:solidFill>
              <a:srgbClr val="9B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3037058" y="6345935"/>
            <a:ext cx="11155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B2373"/>
                </a:solidFill>
              </a:rPr>
              <a:t>After owning
Willing to
SELL: $12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235690" y="6967727"/>
            <a:ext cx="296494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91A59B"/>
                </a:solidFill>
              </a:rPr>
              <a:t>WTA  &gt;  WTP  — ownership inflates value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116818" y="7214615"/>
            <a:ext cx="32575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2373"/>
                </a:solidFill>
              </a:rPr>
              <a:t>Endowment Effect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116818" y="7479791"/>
            <a:ext cx="325755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465A50"/>
                </a:solidFill>
              </a:rPr>
              <a:t>We price things higher the moment we own them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0" y="7936992"/>
            <a:ext cx="14630400" cy="292608"/>
          </a:xfrm>
          <a:prstGeom prst="rect">
            <a:avLst/>
          </a:prstGeom>
          <a:solidFill>
            <a:srgbClr val="005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65760" y="7964424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Register at  my.unbc.ca  |  Questions?  economics@unbc.ca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961120" y="796442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B4DCC8"/>
                </a:solidFill>
              </a:rPr>
              <a:t>Kahneman  ·  Thaler  ·  Ariely  ·  Sunstein  ·  Loewenstein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