
<file path=[Content_Types].xml><?xml version="1.0" encoding="utf-8"?>
<Types xmlns="http://schemas.openxmlformats.org/package/2006/content-types">
  <Default Extension="emf" ContentType="image/x-emf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3" r:id="rId4"/>
  </p:sldMasterIdLst>
  <p:notesMasterIdLst>
    <p:notesMasterId r:id="rId30"/>
  </p:notesMasterIdLst>
  <p:handoutMasterIdLst>
    <p:handoutMasterId r:id="rId31"/>
  </p:handoutMasterIdLst>
  <p:sldIdLst>
    <p:sldId id="1405" r:id="rId5"/>
    <p:sldId id="1403" r:id="rId6"/>
    <p:sldId id="1359" r:id="rId7"/>
    <p:sldId id="1407" r:id="rId8"/>
    <p:sldId id="1408" r:id="rId9"/>
    <p:sldId id="1361" r:id="rId10"/>
    <p:sldId id="1409" r:id="rId11"/>
    <p:sldId id="1410" r:id="rId12"/>
    <p:sldId id="1365" r:id="rId13"/>
    <p:sldId id="1366" r:id="rId14"/>
    <p:sldId id="1367" r:id="rId15"/>
    <p:sldId id="1368" r:id="rId16"/>
    <p:sldId id="1369" r:id="rId17"/>
    <p:sldId id="1370" r:id="rId18"/>
    <p:sldId id="1372" r:id="rId19"/>
    <p:sldId id="1373" r:id="rId20"/>
    <p:sldId id="1406" r:id="rId21"/>
    <p:sldId id="1375" r:id="rId22"/>
    <p:sldId id="1376" r:id="rId23"/>
    <p:sldId id="1377" r:id="rId24"/>
    <p:sldId id="1404" r:id="rId25"/>
    <p:sldId id="1411" r:id="rId26"/>
    <p:sldId id="1379" r:id="rId27"/>
    <p:sldId id="1381" r:id="rId28"/>
    <p:sldId id="1412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36">
          <p15:clr>
            <a:srgbClr val="A4A3A4"/>
          </p15:clr>
        </p15:guide>
        <p15:guide id="4" orient="horz" pos="3984">
          <p15:clr>
            <a:srgbClr val="A4A3A4"/>
          </p15:clr>
        </p15:guide>
        <p15:guide id="5" orient="horz" pos="720">
          <p15:clr>
            <a:srgbClr val="A4A3A4"/>
          </p15:clr>
        </p15:guide>
        <p15:guide id="6" orient="horz" pos="1056">
          <p15:clr>
            <a:srgbClr val="A4A3A4"/>
          </p15:clr>
        </p15:guide>
        <p15:guide id="7" orient="horz" pos="1392">
          <p15:clr>
            <a:srgbClr val="A4A3A4"/>
          </p15:clr>
        </p15:guide>
        <p15:guide id="8" pos="288">
          <p15:clr>
            <a:srgbClr val="A4A3A4"/>
          </p15:clr>
        </p15:guide>
        <p15:guide id="9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, Mohanapriya" initials="DM" lastIdx="1" clrIdx="0"/>
  <p:cmAuthor id="2" name="Baskar Kuppusamy" initials="BK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AE4"/>
    <a:srgbClr val="007FA3"/>
    <a:srgbClr val="99008C"/>
    <a:srgbClr val="001581"/>
    <a:srgbClr val="82007C"/>
    <a:srgbClr val="96008F"/>
    <a:srgbClr val="595375"/>
    <a:srgbClr val="6B638B"/>
    <a:srgbClr val="000000"/>
    <a:srgbClr val="FDB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65" autoAdjust="0"/>
    <p:restoredTop sz="90634" autoAdjust="0"/>
  </p:normalViewPr>
  <p:slideViewPr>
    <p:cSldViewPr>
      <p:cViewPr varScale="1">
        <p:scale>
          <a:sx n="102" d="100"/>
          <a:sy n="102" d="100"/>
        </p:scale>
        <p:origin x="184" y="376"/>
      </p:cViewPr>
      <p:guideLst>
        <p:guide orient="horz" pos="2160"/>
        <p:guide pos="2880"/>
        <p:guide orient="horz" pos="336"/>
        <p:guide orient="horz" pos="3984"/>
        <p:guide orient="horz" pos="720"/>
        <p:guide orient="horz" pos="1056"/>
        <p:guide orient="horz" pos="1392"/>
        <p:guide pos="288"/>
        <p:guide pos="5472"/>
      </p:guideLst>
    </p:cSldViewPr>
  </p:slideViewPr>
  <p:outlineViewPr>
    <p:cViewPr>
      <p:scale>
        <a:sx n="33" d="100"/>
        <a:sy n="33" d="100"/>
      </p:scale>
      <p:origin x="48" y="250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1974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If this PowerPoint presentation contains mathematical equations, you may need to check that your computer has the following installed: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1) </a:t>
            </a:r>
            <a:r>
              <a:rPr lang="en-IN" dirty="0" err="1"/>
              <a:t>MathType</a:t>
            </a:r>
            <a:r>
              <a:rPr lang="en-IN" dirty="0"/>
              <a:t> Plugin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2) Math Player (free versions available)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3) NVDA Reader (free versions available)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581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979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63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Pearson Logo">
            <a:extLst>
              <a:ext uri="{FF2B5EF4-FFF2-40B4-BE49-F238E27FC236}">
                <a16:creationId xmlns:a16="http://schemas.microsoft.com/office/drawing/2014/main" id="{70B541F5-A891-7C3E-F660-888E4DB694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E56531-2FF0-CEE4-8E35-B94B3B766825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kern="1200" dirty="0">
                <a:solidFill>
                  <a:schemeClr val="tx1"/>
                </a:solidFill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Copyright © 2024 Pearson Canada 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E89ABF-8DDD-C4C2-10FD-FB26AC916FDF}"/>
              </a:ext>
            </a:extLst>
          </p:cNvPr>
          <p:cNvSpPr txBox="1"/>
          <p:nvPr userDrawn="1"/>
        </p:nvSpPr>
        <p:spPr>
          <a:xfrm>
            <a:off x="8015565" y="6419975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r>
              <a:rPr lang="en-US" sz="1200" dirty="0">
                <a:solidFill>
                  <a:srgbClr val="A6A6A6"/>
                </a:solidFill>
                <a:latin typeface="Arial" charset="0"/>
              </a:rPr>
              <a:t>1 - </a:t>
            </a:r>
            <a:fld id="{02DAD016-8EBF-CF47-ACE8-593B4CD31605}" type="slidenum">
              <a:rPr lang="en-US" sz="1200">
                <a:solidFill>
                  <a:srgbClr val="A6A6A6"/>
                </a:solidFill>
                <a:latin typeface="Arial" charset="0"/>
              </a:rPr>
              <a:pPr/>
              <a:t>‹#›</a:t>
            </a:fld>
            <a:endParaRPr lang="en-US" sz="1200" dirty="0">
              <a:solidFill>
                <a:srgbClr val="A6A6A6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654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71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34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441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05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89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563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572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3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883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421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  <a:latin typeface="+mj-lt"/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10248E-50C3-2A1A-C7F4-3FE428924157}"/>
              </a:ext>
            </a:extLst>
          </p:cNvPr>
          <p:cNvSpPr txBox="1"/>
          <p:nvPr userDrawn="1"/>
        </p:nvSpPr>
        <p:spPr>
          <a:xfrm>
            <a:off x="8015565" y="6419975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r>
              <a:rPr lang="en-US" sz="1200" dirty="0">
                <a:solidFill>
                  <a:srgbClr val="A6A6A6"/>
                </a:solidFill>
                <a:latin typeface="Arial" charset="0"/>
              </a:rPr>
              <a:t>1 - </a:t>
            </a:r>
            <a:fld id="{02DAD016-8EBF-CF47-ACE8-593B4CD31605}" type="slidenum">
              <a:rPr lang="en-US" sz="1200">
                <a:solidFill>
                  <a:srgbClr val="A6A6A6"/>
                </a:solidFill>
                <a:latin typeface="Arial" charset="0"/>
              </a:rPr>
              <a:pPr/>
              <a:t>‹#›</a:t>
            </a:fld>
            <a:endParaRPr lang="en-US" sz="1200" dirty="0">
              <a:solidFill>
                <a:srgbClr val="A6A6A6"/>
              </a:solidFill>
              <a:latin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DFE9F-CD5B-CD49-1C9D-DC096EAECE28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kern="1200" dirty="0">
                <a:solidFill>
                  <a:schemeClr val="tx1"/>
                </a:solidFill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Copyright © 2024 Pearson Canada Inc.</a:t>
            </a:r>
          </a:p>
        </p:txBody>
      </p:sp>
    </p:spTree>
    <p:extLst>
      <p:ext uri="{BB962C8B-B14F-4D97-AF65-F5344CB8AC3E}">
        <p14:creationId xmlns:p14="http://schemas.microsoft.com/office/powerpoint/2010/main" val="3971832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>
                <a:solidFill>
                  <a:prstClr val="white"/>
                </a:solidFill>
              </a:rPr>
              <a:pPr/>
              <a:t>12/29/24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8015565" y="6409253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r>
              <a:rPr lang="en-US" sz="1200" dirty="0">
                <a:solidFill>
                  <a:srgbClr val="A6A6A6"/>
                </a:solidFill>
                <a:latin typeface="Arial" charset="0"/>
              </a:rPr>
              <a:t>1 - </a:t>
            </a:r>
            <a:fld id="{02DAD016-8EBF-CF47-ACE8-593B4CD31605}" type="slidenum">
              <a:rPr lang="en-US" sz="1200">
                <a:solidFill>
                  <a:srgbClr val="A6A6A6"/>
                </a:solidFill>
                <a:latin typeface="Arial" charset="0"/>
              </a:rPr>
              <a:pPr/>
              <a:t>‹#›</a:t>
            </a:fld>
            <a:endParaRPr lang="en-US" sz="1200" dirty="0">
              <a:solidFill>
                <a:srgbClr val="A6A6A6"/>
              </a:solidFill>
              <a:latin typeface="Arial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533400" y="1600200"/>
            <a:ext cx="3810000" cy="42672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700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 sz="2600"/>
            </a:lvl1pPr>
            <a:lvl2pPr>
              <a:buClr>
                <a:srgbClr val="007FA3"/>
              </a:buClr>
              <a:defRPr sz="2400"/>
            </a:lvl2pPr>
            <a:lvl3pPr>
              <a:buClr>
                <a:srgbClr val="007FA3"/>
              </a:buClr>
              <a:defRPr sz="2200"/>
            </a:lvl3pPr>
            <a:lvl4pPr>
              <a:buClr>
                <a:srgbClr val="007FA3"/>
              </a:buClr>
              <a:defRPr sz="2000"/>
            </a:lvl4pPr>
            <a:lvl5pPr>
              <a:buClr>
                <a:srgbClr val="007FA3"/>
              </a:buClr>
              <a:defRPr sz="1800"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2362201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457200" y="3048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457200" y="3810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6"/>
          </p:nvPr>
        </p:nvSpPr>
        <p:spPr>
          <a:xfrm>
            <a:off x="457200" y="46482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7"/>
          </p:nvPr>
        </p:nvSpPr>
        <p:spPr>
          <a:xfrm>
            <a:off x="609600" y="48006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1397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382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47675" y="2771775"/>
            <a:ext cx="82296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12/29/24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3686175"/>
            <a:ext cx="8153400" cy="685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/>
          </p:nvPr>
        </p:nvSpPr>
        <p:spPr>
          <a:xfrm>
            <a:off x="457200" y="5029200"/>
            <a:ext cx="8153400" cy="76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35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12/29/24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>
            <a:extLst>
              <a:ext uri="{FF2B5EF4-FFF2-40B4-BE49-F238E27FC236}">
                <a16:creationId xmlns:a16="http://schemas.microsoft.com/office/drawing/2014/main" id="{06317B81-2E4C-0D85-4542-60A36BB0A40C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47317D-DE30-DD2C-1637-3EEA84379E0A}"/>
              </a:ext>
            </a:extLst>
          </p:cNvPr>
          <p:cNvSpPr txBox="1"/>
          <p:nvPr userDrawn="1"/>
        </p:nvSpPr>
        <p:spPr>
          <a:xfrm>
            <a:off x="8015565" y="6419975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r>
              <a:rPr lang="en-US" sz="1200" dirty="0">
                <a:solidFill>
                  <a:srgbClr val="A6A6A6"/>
                </a:solidFill>
                <a:latin typeface="Arial" charset="0"/>
              </a:rPr>
              <a:t>1 - </a:t>
            </a:r>
            <a:fld id="{02DAD016-8EBF-CF47-ACE8-593B4CD31605}" type="slidenum">
              <a:rPr lang="en-US" sz="1200">
                <a:solidFill>
                  <a:srgbClr val="A6A6A6"/>
                </a:solidFill>
                <a:latin typeface="Arial" charset="0"/>
              </a:rPr>
              <a:pPr/>
              <a:t>‹#›</a:t>
            </a:fld>
            <a:endParaRPr lang="en-US" sz="1200" dirty="0">
              <a:solidFill>
                <a:srgbClr val="A6A6A6"/>
              </a:solidFill>
              <a:latin typeface="Arial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50A1E-23BA-A397-C6E2-5A8603D0C818}"/>
              </a:ext>
            </a:extLst>
          </p:cNvPr>
          <p:cNvSpPr txBox="1"/>
          <p:nvPr userDrawn="1"/>
        </p:nvSpPr>
        <p:spPr>
          <a:xfrm>
            <a:off x="1502228" y="6429974"/>
            <a:ext cx="617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kern="1200" dirty="0">
                <a:solidFill>
                  <a:schemeClr val="tx1"/>
                </a:solidFill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Copyright © 2024 Pearson Canada Inc.</a:t>
            </a:r>
          </a:p>
        </p:txBody>
      </p:sp>
    </p:spTree>
    <p:extLst>
      <p:ext uri="{BB962C8B-B14F-4D97-AF65-F5344CB8AC3E}">
        <p14:creationId xmlns:p14="http://schemas.microsoft.com/office/powerpoint/2010/main" val="97244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657" r:id="rId14"/>
    <p:sldLayoutId id="2147483656" r:id="rId15"/>
    <p:sldLayoutId id="2147483650" r:id="rId16"/>
    <p:sldLayoutId id="2147483659" r:id="rId17"/>
    <p:sldLayoutId id="2147483660" r:id="rId18"/>
    <p:sldLayoutId id="2147483661" r:id="rId19"/>
    <p:sldLayoutId id="214748366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5B717E13-2DC1-2D7C-F70D-0D5A20A70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38201"/>
            <a:ext cx="7772400" cy="1828800"/>
          </a:xfrm>
        </p:spPr>
        <p:txBody>
          <a:bodyPr/>
          <a:lstStyle/>
          <a:p>
            <a:r>
              <a:rPr lang="en-US" dirty="0"/>
              <a:t>Macroeconomics</a:t>
            </a:r>
            <a:br>
              <a:rPr lang="en-US" dirty="0"/>
            </a:br>
            <a:r>
              <a:rPr lang="en-US" sz="2800" dirty="0"/>
              <a:t>ECON 101</a:t>
            </a:r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ACC0129F-CDA1-6FA5-0D96-CB850EA55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276600"/>
            <a:ext cx="6858000" cy="1981200"/>
          </a:xfrm>
        </p:spPr>
        <p:txBody>
          <a:bodyPr>
            <a:normAutofit/>
          </a:bodyPr>
          <a:lstStyle/>
          <a:p>
            <a:r>
              <a:rPr lang="en-US" sz="2400" dirty="0"/>
              <a:t>Economics: Foundations and Models</a:t>
            </a:r>
          </a:p>
          <a:p>
            <a:r>
              <a:rPr lang="en-US" dirty="0"/>
              <a:t>(Chapter 1)</a:t>
            </a:r>
          </a:p>
          <a:p>
            <a:endParaRPr lang="en-US" dirty="0"/>
          </a:p>
          <a:p>
            <a:r>
              <a:rPr lang="en-US" dirty="0"/>
              <a:t>Instructor: </a:t>
            </a:r>
            <a:r>
              <a:rPr lang="en-US" dirty="0" err="1"/>
              <a:t>Muhebullah</a:t>
            </a:r>
            <a:r>
              <a:rPr lang="en-US" dirty="0"/>
              <a:t> </a:t>
            </a:r>
            <a:r>
              <a:rPr lang="en-US" dirty="0" err="1"/>
              <a:t>Karimzada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191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BD984E-C91D-E94B-99C9-7C9728BAE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tabLst>
                <a:tab pos="628650" algn="l"/>
              </a:tabLst>
            </a:pPr>
            <a:r>
              <a:rPr lang="en-US" b="1" dirty="0"/>
              <a:t>1.1</a:t>
            </a:r>
            <a:r>
              <a:rPr lang="en-US" dirty="0"/>
              <a:t>	Three Key Economic Ideas</a:t>
            </a:r>
          </a:p>
          <a:p>
            <a:pPr marL="0" indent="0">
              <a:buNone/>
              <a:tabLst>
                <a:tab pos="628650" algn="l"/>
              </a:tabLst>
            </a:pPr>
            <a:r>
              <a:rPr lang="en-US" b="1" dirty="0"/>
              <a:t>1.2</a:t>
            </a:r>
            <a:r>
              <a:rPr lang="en-US" dirty="0"/>
              <a:t>	The Economic Problems All Societies Must Solve</a:t>
            </a:r>
          </a:p>
          <a:p>
            <a:pPr marL="0" indent="0">
              <a:buNone/>
              <a:tabLst>
                <a:tab pos="628650" algn="l"/>
              </a:tabLst>
            </a:pPr>
            <a:r>
              <a:rPr lang="en-US" b="1" dirty="0"/>
              <a:t>1.3</a:t>
            </a:r>
            <a:r>
              <a:rPr lang="en-US" dirty="0"/>
              <a:t>	Economic Models</a:t>
            </a:r>
          </a:p>
          <a:p>
            <a:pPr marL="0" indent="0">
              <a:buNone/>
              <a:tabLst>
                <a:tab pos="628650" algn="l"/>
              </a:tabLst>
            </a:pPr>
            <a:r>
              <a:rPr lang="en-US" b="1" dirty="0"/>
              <a:t>1.4</a:t>
            </a:r>
            <a:r>
              <a:rPr lang="en-US" dirty="0"/>
              <a:t> 	Microeconomics and Macroeconomics</a:t>
            </a:r>
          </a:p>
          <a:p>
            <a:pPr marL="0" indent="0">
              <a:buNone/>
              <a:tabLst>
                <a:tab pos="628650" algn="l"/>
              </a:tabLst>
            </a:pPr>
            <a:r>
              <a:rPr lang="en-US" b="1" dirty="0"/>
              <a:t>1.5</a:t>
            </a:r>
            <a:r>
              <a:rPr lang="en-US" dirty="0"/>
              <a:t>	The Language of Economics</a:t>
            </a:r>
          </a:p>
        </p:txBody>
      </p:sp>
    </p:spTree>
    <p:extLst>
      <p:ext uri="{BB962C8B-B14F-4D97-AF65-F5344CB8AC3E}">
        <p14:creationId xmlns:p14="http://schemas.microsoft.com/office/powerpoint/2010/main" val="1037479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Economics?</a:t>
            </a:r>
            <a:r>
              <a:rPr lang="en-US" sz="2000" b="0" dirty="0"/>
              <a:t> (1 of 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noProof="0" dirty="0"/>
              <a:t>People make choices as they try to attain their goals. Choices are necessary because we live in a world of scarcity.</a:t>
            </a:r>
          </a:p>
          <a:p>
            <a:pPr marL="0" lvl="0" indent="0">
              <a:buNone/>
            </a:pPr>
            <a:r>
              <a:rPr lang="en-US" b="1" noProof="0" dirty="0"/>
              <a:t>Scarcity:</a:t>
            </a:r>
            <a:r>
              <a:rPr lang="en-US" noProof="0" dirty="0"/>
              <a:t> A situation in which unlimited wants exceed the limited resources available to fulfill those wants.</a:t>
            </a:r>
          </a:p>
          <a:p>
            <a:pPr marL="0" lvl="0" indent="0">
              <a:buNone/>
            </a:pPr>
            <a:r>
              <a:rPr lang="en-US" b="1" noProof="0" dirty="0"/>
              <a:t>Economics</a:t>
            </a:r>
            <a:r>
              <a:rPr lang="en-US" noProof="0" dirty="0"/>
              <a:t> is the study of the choices people make to attain their goals, given their scarce resources.</a:t>
            </a:r>
          </a:p>
          <a:p>
            <a:pPr marL="0" lvl="0" indent="0">
              <a:buNone/>
            </a:pPr>
            <a:r>
              <a:rPr lang="en-US" noProof="0" dirty="0"/>
              <a:t>Economists study these choices using </a:t>
            </a:r>
            <a:r>
              <a:rPr lang="en-US" b="1" noProof="0" dirty="0"/>
              <a:t>economic models,</a:t>
            </a:r>
            <a:r>
              <a:rPr lang="en-US" noProof="0" dirty="0"/>
              <a:t> simplified versions of reality used to analyze real-world economic situations.</a:t>
            </a:r>
          </a:p>
        </p:txBody>
      </p:sp>
    </p:spTree>
    <p:extLst>
      <p:ext uri="{BB962C8B-B14F-4D97-AF65-F5344CB8AC3E}">
        <p14:creationId xmlns:p14="http://schemas.microsoft.com/office/powerpoint/2010/main" val="2797075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EDB83-F77C-FBF2-507F-3A0E4A9DE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What Is Economics?</a:t>
            </a:r>
            <a:r>
              <a:rPr lang="en-US" sz="2000" b="0" dirty="0">
                <a:solidFill>
                  <a:schemeClr val="tx1"/>
                </a:solidFill>
              </a:rPr>
              <a:t> (2 of 2)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8" name="Picture 7" descr="A photo shows sacks of coffee beans in a warehouse.">
            <a:extLst>
              <a:ext uri="{FF2B5EF4-FFF2-40B4-BE49-F238E27FC236}">
                <a16:creationId xmlns:a16="http://schemas.microsoft.com/office/drawing/2014/main" id="{95AB13DE-757C-68FB-2708-476B75F2E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77" y="1219200"/>
            <a:ext cx="6915645" cy="479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85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E6E1-A49E-A8E6-964C-2695329F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“Economics” Questions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0928C-3AE6-8DF4-DAF7-7ED2182F8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We will learn how to answer questions like these:</a:t>
            </a:r>
          </a:p>
          <a:p>
            <a:pPr marL="347472" marR="0" lvl="1" indent="-347472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FA3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How are the prices of goods and services determined?</a:t>
            </a:r>
          </a:p>
          <a:p>
            <a:pPr marL="347472" marR="0" lvl="1" indent="-347472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FA3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How do government spending and taxation affect the economy?</a:t>
            </a:r>
          </a:p>
          <a:p>
            <a:pPr marL="347472" marR="0" lvl="1" indent="-347472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FA3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Why do governments control the prices of some goods?</a:t>
            </a:r>
          </a:p>
          <a:p>
            <a:pPr marL="347472" marR="0" lvl="1" indent="-347472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FA3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Why are some countries wealthier than others?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097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j-lt"/>
              </a:rPr>
              <a:t>Three Key Economic Ideas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1.1 Learning Objective</a:t>
            </a:r>
          </a:p>
          <a:p>
            <a:pPr marL="0" indent="0">
              <a:buNone/>
            </a:pPr>
            <a:r>
              <a:rPr lang="en-US" dirty="0"/>
              <a:t>Explain these three key economic ideas:</a:t>
            </a:r>
          </a:p>
          <a:p>
            <a:pPr marL="451041" lvl="1" indent="0">
              <a:buSzPct val="100000"/>
              <a:buNone/>
            </a:pPr>
            <a:r>
              <a:rPr lang="en-US" sz="2600" dirty="0"/>
              <a:t>People are rational.</a:t>
            </a:r>
          </a:p>
          <a:p>
            <a:pPr marL="451041" lvl="1" indent="0">
              <a:buSzPct val="100000"/>
              <a:buNone/>
            </a:pPr>
            <a:r>
              <a:rPr lang="en-US" sz="2600" dirty="0"/>
              <a:t>People respond to incentives.</a:t>
            </a:r>
          </a:p>
          <a:p>
            <a:pPr marL="451041" lvl="1" indent="0">
              <a:buSzPct val="100000"/>
              <a:buNone/>
            </a:pPr>
            <a:r>
              <a:rPr lang="en-US" sz="2600" dirty="0"/>
              <a:t>Optimal decisions are made at the margin.</a:t>
            </a:r>
          </a:p>
        </p:txBody>
      </p:sp>
    </p:spTree>
    <p:extLst>
      <p:ext uri="{BB962C8B-B14F-4D97-AF65-F5344CB8AC3E}">
        <p14:creationId xmlns:p14="http://schemas.microsoft.com/office/powerpoint/2010/main" val="335541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1C6DD-05F5-4BE3-CC1A-620D78F1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People are Rational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7D90-03EA-EE21-C7FE-3E1A4C5A3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/>
            <a:r>
              <a:rPr lang="en-US" dirty="0"/>
              <a:t>Economists generally assume that people are rational. </a:t>
            </a:r>
          </a:p>
          <a:p>
            <a:pPr marL="342900" indent="-342900">
              <a:spcBef>
                <a:spcPts val="1000"/>
              </a:spcBef>
            </a:pPr>
            <a:r>
              <a:rPr lang="en-US" b="1" dirty="0"/>
              <a:t>Rational:</a:t>
            </a:r>
            <a:r>
              <a:rPr lang="en-US" dirty="0"/>
              <a:t> People make choices based on what they believe will make them happy. People do not deliberately do things to make themselves worse off.</a:t>
            </a:r>
          </a:p>
          <a:p>
            <a:pPr marL="342900" indent="-342900">
              <a:spcBef>
                <a:spcPts val="1000"/>
              </a:spcBef>
            </a:pPr>
            <a:r>
              <a:rPr lang="en-US" dirty="0"/>
              <a:t>Rational decision makers weigh costs and benefits.</a:t>
            </a:r>
          </a:p>
          <a:p>
            <a:pPr marL="342900" indent="-342900">
              <a:spcBef>
                <a:spcPts val="1000"/>
              </a:spcBef>
            </a:pPr>
            <a:r>
              <a:rPr lang="en-US" i="1" dirty="0"/>
              <a:t>Example: You won’t buy a $5 cup of coffee unless you believe it will be worth at least the time and effort it takes you to earn $5.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312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58B3C-C98A-AD58-334A-0CC581CA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People Respond to Incentives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86E30-8E8F-9E1E-DA7B-69FE0BD1C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costs and benefits change, so do the actions that people will take.</a:t>
            </a:r>
          </a:p>
          <a:p>
            <a:pPr>
              <a:spcBef>
                <a:spcPts val="1000"/>
              </a:spcBef>
              <a:buNone/>
            </a:pPr>
            <a:r>
              <a:rPr lang="en-US" i="1" dirty="0"/>
              <a:t>Example: Do Canadian banks choose to get robbed?</a:t>
            </a:r>
          </a:p>
          <a:p>
            <a:pPr marL="342900" indent="-342900">
              <a:spcBef>
                <a:spcPts val="1000"/>
              </a:spcBef>
            </a:pPr>
            <a:r>
              <a:rPr lang="en-US" i="1" dirty="0"/>
              <a:t>“Bullet-resistant shields” cost $20,000</a:t>
            </a:r>
          </a:p>
          <a:p>
            <a:pPr marL="342900" indent="-342900">
              <a:spcBef>
                <a:spcPts val="1000"/>
              </a:spcBef>
            </a:pPr>
            <a:r>
              <a:rPr lang="en-US" i="1" dirty="0"/>
              <a:t>Typical loss due to an armed robbery is $1,200</a:t>
            </a:r>
          </a:p>
          <a:p>
            <a:pPr marL="342900" indent="-342900">
              <a:spcBef>
                <a:spcPts val="1000"/>
              </a:spcBef>
            </a:pPr>
            <a:r>
              <a:rPr lang="en-US" i="1" dirty="0"/>
              <a:t>Armed robbery is rare</a:t>
            </a:r>
          </a:p>
          <a:p>
            <a:pPr marL="342900" indent="-342900">
              <a:spcBef>
                <a:spcPts val="1000"/>
              </a:spcBef>
            </a:pPr>
            <a:r>
              <a:rPr lang="en-US" i="1" dirty="0"/>
              <a:t>Result – no bullet-resistant shields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243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Optimal Decisions Are Made at the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1000"/>
              </a:spcBef>
            </a:pPr>
            <a:r>
              <a:rPr lang="en-US" dirty="0"/>
              <a:t>Most decisions involve doing a little more or a little less of something.</a:t>
            </a:r>
          </a:p>
          <a:p>
            <a:pPr marL="342900" indent="-342900">
              <a:spcBef>
                <a:spcPts val="1000"/>
              </a:spcBef>
            </a:pPr>
            <a:r>
              <a:rPr lang="en-US" i="1" dirty="0"/>
              <a:t>Example: Should you watch an extra hour of </a:t>
            </a:r>
            <a:r>
              <a:rPr lang="en-US" i="1" spc="-300" dirty="0"/>
              <a:t>T </a:t>
            </a:r>
            <a:r>
              <a:rPr lang="en-US" i="1" dirty="0"/>
              <a:t>V, or study instead?</a:t>
            </a:r>
          </a:p>
          <a:p>
            <a:pPr marL="342900" indent="-342900">
              <a:spcBef>
                <a:spcPts val="1000"/>
              </a:spcBef>
            </a:pPr>
            <a:r>
              <a:rPr lang="en-US" b="1" dirty="0"/>
              <a:t>Marginal cost and benefit (</a:t>
            </a:r>
            <a:r>
              <a:rPr lang="en-US" b="1" spc="-300" dirty="0"/>
              <a:t>M </a:t>
            </a:r>
            <a:r>
              <a:rPr lang="en-US" b="1" dirty="0"/>
              <a:t>C and </a:t>
            </a:r>
            <a:r>
              <a:rPr lang="en-US" b="1" spc="-300" dirty="0"/>
              <a:t>M </a:t>
            </a:r>
            <a:r>
              <a:rPr lang="en-US" b="1" dirty="0"/>
              <a:t>B):</a:t>
            </a:r>
            <a:r>
              <a:rPr lang="en-US" dirty="0"/>
              <a:t> the additional cost or benefit associated with a small amount extra of some action.</a:t>
            </a:r>
          </a:p>
          <a:p>
            <a:pPr marL="342900" indent="-342900">
              <a:spcBef>
                <a:spcPts val="1000"/>
              </a:spcBef>
            </a:pPr>
            <a:r>
              <a:rPr lang="en-US" dirty="0"/>
              <a:t>Comparing </a:t>
            </a:r>
            <a:r>
              <a:rPr lang="en-US" spc="-300" dirty="0"/>
              <a:t>M </a:t>
            </a:r>
            <a:r>
              <a:rPr lang="en-US" dirty="0"/>
              <a:t>C and </a:t>
            </a:r>
            <a:r>
              <a:rPr lang="en-US" spc="-300" dirty="0"/>
              <a:t>M </a:t>
            </a:r>
            <a:r>
              <a:rPr lang="en-US" dirty="0"/>
              <a:t>B is known as </a:t>
            </a:r>
            <a:r>
              <a:rPr lang="en-US" b="1" dirty="0"/>
              <a:t>Marginal Analysis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4317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j-lt"/>
              </a:rPr>
              <a:t>The Economic Problems All Societies Must Solve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b="1" dirty="0"/>
              <a:t>1.2 Learning Objective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Discuss how an economy answers these questions:</a:t>
            </a:r>
          </a:p>
          <a:p>
            <a:pPr marL="542925" indent="-542925">
              <a:spcBef>
                <a:spcPts val="1000"/>
              </a:spcBef>
              <a:buFont typeface="+mj-lt"/>
              <a:buAutoNum type="arabicPeriod"/>
              <a:tabLst>
                <a:tab pos="447675" algn="l"/>
              </a:tabLst>
            </a:pPr>
            <a:r>
              <a:rPr lang="en-US" b="1" dirty="0"/>
              <a:t>What</a:t>
            </a:r>
            <a:r>
              <a:rPr lang="en-US" dirty="0"/>
              <a:t> goods and services will be produced?</a:t>
            </a:r>
          </a:p>
          <a:p>
            <a:pPr marL="542925" indent="-542925">
              <a:spcBef>
                <a:spcPts val="1000"/>
              </a:spcBef>
              <a:buFont typeface="+mj-lt"/>
              <a:buAutoNum type="arabicPeriod"/>
              <a:tabLst>
                <a:tab pos="447675" algn="l"/>
              </a:tabLst>
            </a:pPr>
            <a:r>
              <a:rPr lang="en-US" b="1" dirty="0"/>
              <a:t>How</a:t>
            </a:r>
            <a:r>
              <a:rPr lang="en-US" dirty="0"/>
              <a:t> will the goods and services be produced?</a:t>
            </a:r>
          </a:p>
          <a:p>
            <a:pPr marL="542925" indent="-542925">
              <a:spcBef>
                <a:spcPts val="1000"/>
              </a:spcBef>
              <a:buFont typeface="+mj-lt"/>
              <a:buAutoNum type="arabicPeriod"/>
              <a:tabLst>
                <a:tab pos="447675" algn="l"/>
              </a:tabLst>
            </a:pPr>
            <a:r>
              <a:rPr lang="en-US" b="1" dirty="0"/>
              <a:t>Who</a:t>
            </a:r>
            <a:r>
              <a:rPr lang="en-US" dirty="0"/>
              <a:t> will receive the goods and services produced?</a:t>
            </a:r>
          </a:p>
        </p:txBody>
      </p:sp>
    </p:spTree>
    <p:extLst>
      <p:ext uri="{BB962C8B-B14F-4D97-AF65-F5344CB8AC3E}">
        <p14:creationId xmlns:p14="http://schemas.microsoft.com/office/powerpoint/2010/main" val="3918631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i="1" dirty="0"/>
              <a:t>What</a:t>
            </a:r>
            <a:r>
              <a:rPr lang="en-US" dirty="0"/>
              <a:t> Goods and Services Will Be Produced?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 societies must decide which goods and services to produce.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Producing more of one thing means producing less of another.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This is a trade-off, resulting from the scarcity of productive resources.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Opportunity cost: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the value of the best alternative.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Example: the opportunity cost of increased funding for health care might be fewer university scholarships.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595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9902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j-lt"/>
              </a:rPr>
              <a:t>2. </a:t>
            </a:r>
            <a:r>
              <a:rPr lang="en-US" sz="3600" i="1" dirty="0">
                <a:latin typeface="+mj-lt"/>
              </a:rPr>
              <a:t>How</a:t>
            </a:r>
            <a:r>
              <a:rPr lang="en-US" sz="3600" dirty="0">
                <a:latin typeface="+mj-lt"/>
              </a:rPr>
              <a:t> will the Goods Be Produced?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firm might have several different methods for producing its goods and services.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Example #1: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music producer can make a song sound good by: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Hiring a great singer and using standard production techniques.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Hiring a mediocre singer and using Auto-Tune to correct the inaccuracies.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Example #2: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 the cost of manufacturing labour changes, a firm might respond by: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Changing its production technique to one that employs more machines and fewer workers.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Moving its factory to a location with cheaper labour.</a:t>
            </a:r>
            <a:endParaRPr kumimoji="0" lang="en-A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089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i="1" dirty="0"/>
              <a:t>Who Will Receive</a:t>
            </a:r>
            <a:r>
              <a:rPr lang="en-US" dirty="0"/>
              <a:t> the Goods and Services?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1000"/>
              </a:spcBef>
            </a:pPr>
            <a:r>
              <a:rPr lang="en-US" dirty="0"/>
              <a:t>Who gets the things we make?</a:t>
            </a:r>
          </a:p>
          <a:p>
            <a:pPr marL="342900" indent="-342900">
              <a:spcBef>
                <a:spcPts val="1000"/>
              </a:spcBef>
            </a:pPr>
            <a:r>
              <a:rPr lang="en-US" dirty="0"/>
              <a:t>This depends largely on income distribution.</a:t>
            </a:r>
          </a:p>
          <a:p>
            <a:pPr marL="342900" indent="-342900">
              <a:spcBef>
                <a:spcPts val="1000"/>
              </a:spcBef>
            </a:pPr>
            <a:r>
              <a:rPr lang="en-US" dirty="0"/>
              <a:t>People with highest incomes have the ability to buy the most goods and services.</a:t>
            </a:r>
          </a:p>
          <a:p>
            <a:pPr marL="342900" indent="-342900">
              <a:spcBef>
                <a:spcPts val="1000"/>
              </a:spcBef>
            </a:pPr>
            <a:r>
              <a:rPr lang="en-US" dirty="0"/>
              <a:t>Governments can change the income distribution through taxation and transfers (redistribution).</a:t>
            </a:r>
          </a:p>
        </p:txBody>
      </p:sp>
    </p:spTree>
    <p:extLst>
      <p:ext uri="{BB962C8B-B14F-4D97-AF65-F5344CB8AC3E}">
        <p14:creationId xmlns:p14="http://schemas.microsoft.com/office/powerpoint/2010/main" val="2761127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Centrally Planned Economies vs. Market Economies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Centrally planned economy: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 economy in which the government decides how economic resources will be allocated.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 economy: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 economy in which the decisions of households and firms interacting in markets allocate economic resources.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Mixed economy: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 economy in which most economic decisions result from the interaction of buyers and sellers in markets but in which the government plays a significant role in the allocation of resources.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Which of these best describes Canada today?</a:t>
            </a:r>
          </a:p>
          <a:p>
            <a:pPr marL="772668" lvl="1">
              <a:spcBef>
                <a:spcPts val="1000"/>
              </a:spcBef>
              <a:buSzPts val="2200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Canada is a mixed economy.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FA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Hospitals are centrally planned by provincial governments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FA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Fast food is organized by markets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436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and Equity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78EE06-C791-EF25-53B4-A3C0188D3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 economies tend to be more efficient than centrally-planned economies.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 economies promote:</a:t>
            </a:r>
          </a:p>
          <a:p>
            <a:pPr marL="742950" marR="0" lvl="1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Productive efficiency,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 situation in which a good or service is produced at the lowest possible cost; and</a:t>
            </a:r>
          </a:p>
          <a:p>
            <a:pPr marL="742950" marR="0" lvl="1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Allocative efficiency,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 state of the economy in which production is in accordance with consumer preferences; in particular, every good or service is produced up to the point where the last unit provides a marginal benefit to society equal to the marginal cost of producing it.</a:t>
            </a:r>
          </a:p>
        </p:txBody>
      </p:sp>
    </p:spTree>
    <p:extLst>
      <p:ext uri="{BB962C8B-B14F-4D97-AF65-F5344CB8AC3E}">
        <p14:creationId xmlns:p14="http://schemas.microsoft.com/office/powerpoint/2010/main" val="3516432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of Efficiency and Equity</a:t>
            </a:r>
            <a:endParaRPr lang="en-US" i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BEB6F8-F57E-2BEE-1454-BD68FD446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Productive efficiency comes about because of competition.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Allocative efficiency arises due to voluntary exchange.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 pitchFamily="34" charset="0"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Voluntary exchange: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 situation that occurs in markets when both the buyer and the seller of a product are made better off by the transaction.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Each transaction that takes place improves the well-being of the buyer and seller; transactions continue until no further improvement can take place.</a:t>
            </a:r>
          </a:p>
        </p:txBody>
      </p:sp>
    </p:spTree>
    <p:extLst>
      <p:ext uri="{BB962C8B-B14F-4D97-AF65-F5344CB8AC3E}">
        <p14:creationId xmlns:p14="http://schemas.microsoft.com/office/powerpoint/2010/main" val="2975164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and Equity </a:t>
            </a:r>
            <a:r>
              <a:rPr lang="en-US" sz="2000" b="0" dirty="0"/>
              <a:t>(</a:t>
            </a:r>
            <a:r>
              <a:rPr lang="en-US" sz="2000" b="0" i="1" dirty="0"/>
              <a:t>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1C9950-1F02-F7B4-7A16-8B0BE391B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Markets may not result in fully efficient outcomes. For example: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takes time to figure out the most efficient production method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Governments might interfere with market outcomes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 outcomes might ignore people who are not involved in transactions – ex: Externalities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Economic efficiency is not the only possible objective. 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Equity matters too.</a:t>
            </a: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Equity refers to as the fair distribution of economic benefits.</a:t>
            </a:r>
          </a:p>
        </p:txBody>
      </p:sp>
    </p:spTree>
    <p:extLst>
      <p:ext uri="{BB962C8B-B14F-4D97-AF65-F5344CB8AC3E}">
        <p14:creationId xmlns:p14="http://schemas.microsoft.com/office/powerpoint/2010/main" val="3588194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Economists develop economic models to analyze real-world issues.</a:t>
            </a:r>
          </a:p>
          <a:p>
            <a:pPr marL="256032" marR="0" lvl="0" indent="-256032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FA3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Building an economic model often follows these steps:</a:t>
            </a:r>
          </a:p>
          <a:p>
            <a:pPr marL="447675" marR="0" lvl="1" indent="-406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Decide on the assumptions to use in developing the model.</a:t>
            </a:r>
          </a:p>
          <a:p>
            <a:pPr marL="447675" marR="0" lvl="1" indent="-406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Formulate a testable hypothesis.</a:t>
            </a:r>
          </a:p>
          <a:p>
            <a:pPr marL="447675" marR="0" lvl="1" indent="-406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 economic data to test the hypothesis.</a:t>
            </a:r>
          </a:p>
          <a:p>
            <a:pPr marL="447675" marR="0" lvl="1" indent="-406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Revise the model if it fails to explain the economic data well.</a:t>
            </a:r>
          </a:p>
          <a:p>
            <a:pPr marL="447675" marR="0" lvl="1" indent="-4064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Retain the revised model to help answer similar economic questions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2270285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Features of Economic Models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237B1-CA72-9248-2C59-0992FA0D3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6700" indent="-266700">
              <a:spcBef>
                <a:spcPts val="1000"/>
              </a:spcBef>
            </a:pPr>
            <a:r>
              <a:rPr lang="en-US" b="1" dirty="0"/>
              <a:t>Role of Assumptions:</a:t>
            </a:r>
            <a:r>
              <a:rPr lang="en-US" dirty="0"/>
              <a:t> every model needs them in order to be useful.</a:t>
            </a:r>
          </a:p>
          <a:p>
            <a:pPr marL="266700" indent="-266700">
              <a:spcBef>
                <a:spcPts val="1000"/>
              </a:spcBef>
            </a:pPr>
            <a:r>
              <a:rPr lang="en-US" b="1" dirty="0"/>
              <a:t>Hypothesis Testing:</a:t>
            </a:r>
            <a:r>
              <a:rPr lang="en-US" dirty="0"/>
              <a:t> good models generate testable predictions, which can be verified or disproven using data.</a:t>
            </a:r>
          </a:p>
          <a:p>
            <a:pPr marL="266700" indent="-266700">
              <a:spcBef>
                <a:spcPts val="1000"/>
              </a:spcBef>
            </a:pPr>
            <a:r>
              <a:rPr lang="en-US" b="1" dirty="0"/>
              <a:t>Economic variables:</a:t>
            </a:r>
            <a:r>
              <a:rPr lang="en-US" dirty="0"/>
              <a:t> something measurable that can have different values, such as the incomes of doctors.</a:t>
            </a:r>
          </a:p>
        </p:txBody>
      </p:sp>
    </p:spTree>
    <p:extLst>
      <p:ext uri="{BB962C8B-B14F-4D97-AF65-F5344CB8AC3E}">
        <p14:creationId xmlns:p14="http://schemas.microsoft.com/office/powerpoint/2010/main" val="2739032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j-lt"/>
              </a:rPr>
              <a:t>The Scientific Nature of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Economists try to mimic natural scientists by using the scientific method. 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Economics remains a social science and people often have ideas about what the results “should” be.</a:t>
            </a:r>
          </a:p>
          <a:p>
            <a:pPr>
              <a:spcBef>
                <a:spcPts val="1000"/>
              </a:spcBef>
              <a:buNone/>
            </a:pPr>
            <a:r>
              <a:rPr lang="en-US" dirty="0"/>
              <a:t>Two types of analysis:</a:t>
            </a:r>
          </a:p>
          <a:p>
            <a:pPr marL="342900" indent="-342900">
              <a:spcBef>
                <a:spcPts val="1000"/>
              </a:spcBef>
            </a:pPr>
            <a:r>
              <a:rPr lang="en-US" b="1" dirty="0"/>
              <a:t>Positive analysis:</a:t>
            </a:r>
            <a:r>
              <a:rPr lang="en-US" dirty="0"/>
              <a:t> analysis relying on facts or logic.</a:t>
            </a:r>
          </a:p>
          <a:p>
            <a:pPr marL="342900" indent="-342900">
              <a:spcBef>
                <a:spcPts val="1000"/>
              </a:spcBef>
            </a:pPr>
            <a:r>
              <a:rPr lang="en-US" b="1" dirty="0"/>
              <a:t>Normative analysis:</a:t>
            </a:r>
            <a:r>
              <a:rPr lang="en-US" dirty="0"/>
              <a:t> analysis relying on value judgments.</a:t>
            </a:r>
          </a:p>
          <a:p>
            <a:pPr lvl="1">
              <a:spcBef>
                <a:spcPts val="1000"/>
              </a:spcBef>
            </a:pPr>
            <a:r>
              <a:rPr lang="en-US" i="1" dirty="0"/>
              <a:t>Words like “should” or “ought” are often used.</a:t>
            </a:r>
          </a:p>
          <a:p>
            <a:pPr>
              <a:spcBef>
                <a:spcPts val="1000"/>
              </a:spcBef>
              <a:buNone/>
            </a:pPr>
            <a:r>
              <a:rPr lang="en-US" dirty="0"/>
              <a:t>Economics tries to stick to positive analysis.</a:t>
            </a:r>
          </a:p>
        </p:txBody>
      </p:sp>
    </p:spTree>
    <p:extLst>
      <p:ext uri="{BB962C8B-B14F-4D97-AF65-F5344CB8AC3E}">
        <p14:creationId xmlns:p14="http://schemas.microsoft.com/office/powerpoint/2010/main" val="3267261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635EB7-BA1B-E0B5-138D-5FF4AB6E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448550" cy="100647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Apply the Concept: Should the Government Cap the Price of Houses?</a:t>
            </a:r>
            <a:r>
              <a:rPr lang="en-US" sz="2000" dirty="0">
                <a:latin typeface="+mj-lt"/>
              </a:rPr>
              <a:t> </a:t>
            </a:r>
            <a:r>
              <a:rPr lang="en-US" sz="2000" b="0" dirty="0"/>
              <a:t>(1 of 2)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4196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2200" dirty="0"/>
              <a:t>There are trade-offs to a cap on house prices</a:t>
            </a:r>
          </a:p>
          <a:p>
            <a:pPr>
              <a:spcBef>
                <a:spcPts val="600"/>
              </a:spcBef>
              <a:buNone/>
            </a:pPr>
            <a:r>
              <a:rPr lang="en-US" sz="2200" dirty="0"/>
              <a:t>The Benefit:</a:t>
            </a:r>
          </a:p>
          <a:p>
            <a:pPr marL="266700" indent="-266700">
              <a:spcBef>
                <a:spcPts val="600"/>
              </a:spcBef>
            </a:pPr>
            <a:r>
              <a:rPr lang="en-US" sz="2000" dirty="0"/>
              <a:t>Limiting the price of houses helps many people buy a house at a lower price</a:t>
            </a:r>
          </a:p>
          <a:p>
            <a:pPr marL="266700" indent="-266700">
              <a:spcBef>
                <a:spcPts val="600"/>
              </a:spcBef>
            </a:pPr>
            <a:r>
              <a:rPr lang="en-US" sz="2000" dirty="0"/>
              <a:t>Reducing housing costs frees up money for Homeowners to spend on other things. 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lang="en-US" sz="2200" dirty="0"/>
              <a:t>The Cost:</a:t>
            </a:r>
          </a:p>
          <a:p>
            <a:pPr marL="266700" indent="-266700">
              <a:spcBef>
                <a:spcPts val="600"/>
              </a:spcBef>
            </a:pPr>
            <a:r>
              <a:rPr lang="en-US" sz="2000" dirty="0"/>
              <a:t>A cap on house prices reduces the number of new houses built.</a:t>
            </a:r>
          </a:p>
          <a:p>
            <a:pPr marL="266700" indent="-266700">
              <a:spcBef>
                <a:spcPts val="600"/>
              </a:spcBef>
            </a:pPr>
            <a:r>
              <a:rPr lang="en-US" sz="2000" dirty="0"/>
              <a:t>When fewer houses are built, fewer people are employed in the trades.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/>
              <a:t>The size of each effect is positive.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/>
              <a:t>The importance of each effect is normative.</a:t>
            </a:r>
          </a:p>
        </p:txBody>
      </p:sp>
    </p:spTree>
    <p:extLst>
      <p:ext uri="{BB962C8B-B14F-4D97-AF65-F5344CB8AC3E}">
        <p14:creationId xmlns:p14="http://schemas.microsoft.com/office/powerpoint/2010/main" val="342065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9CA1-0256-BE87-21C3-2AA43FE5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Apply the Concept: Should the Government Cap the Price of Houses?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000" b="0" dirty="0">
                <a:solidFill>
                  <a:schemeClr val="tx1"/>
                </a:solidFill>
              </a:rPr>
              <a:t>(2 of 2)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6" name="Picture 5" descr="A photo shows a man carrying a child on his shoulders. A building with board, sold over the board, for sale can be seen in the background.">
            <a:extLst>
              <a:ext uri="{FF2B5EF4-FFF2-40B4-BE49-F238E27FC236}">
                <a16:creationId xmlns:a16="http://schemas.microsoft.com/office/drawing/2014/main" id="{0FDC7AB4-8217-0B85-53DD-05D1542D3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600200"/>
            <a:ext cx="6132576" cy="457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35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j-lt"/>
              </a:rPr>
              <a:t>Microeconomics and Macroeconomics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sz="2500" b="1" dirty="0"/>
              <a:t>1.4 Learning Objective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500" dirty="0"/>
              <a:t>Distinguish between microeconomics and macroeconomics.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500" b="1" dirty="0"/>
              <a:t>Microeconomics</a:t>
            </a:r>
            <a:r>
              <a:rPr lang="en-US" sz="2500" dirty="0"/>
              <a:t> is the study of</a:t>
            </a:r>
          </a:p>
          <a:p>
            <a:pPr marL="342900" indent="-342900">
              <a:spcBef>
                <a:spcPts val="1000"/>
              </a:spcBef>
            </a:pPr>
            <a:r>
              <a:rPr lang="en-US" sz="2500" dirty="0"/>
              <a:t>how households and firms make choices,</a:t>
            </a:r>
          </a:p>
          <a:p>
            <a:pPr marL="342900" indent="-342900">
              <a:spcBef>
                <a:spcPts val="1000"/>
              </a:spcBef>
            </a:pPr>
            <a:r>
              <a:rPr lang="en-US" sz="2500" dirty="0"/>
              <a:t>how they interact in markets, and </a:t>
            </a:r>
          </a:p>
          <a:p>
            <a:pPr marL="342900" indent="-342900">
              <a:spcBef>
                <a:spcPts val="1000"/>
              </a:spcBef>
            </a:pPr>
            <a:r>
              <a:rPr lang="en-US" sz="2500" dirty="0"/>
              <a:t>how the government attempts to influence their choices</a:t>
            </a:r>
          </a:p>
          <a:p>
            <a:pPr marL="0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500" b="1" dirty="0"/>
              <a:t>Macroeconomics</a:t>
            </a:r>
            <a:r>
              <a:rPr lang="en-US" sz="2500" dirty="0"/>
              <a:t> is the study of the economy as a whole, including topics such as inflation, unemployment, and economic growth.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185004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Language of Economics</a:t>
            </a:r>
            <a:r>
              <a:rPr lang="en-US" sz="2000" dirty="0">
                <a:latin typeface="+mj-lt"/>
              </a:rPr>
              <a:t> </a:t>
            </a:r>
            <a:r>
              <a:rPr lang="en-US" sz="2000" b="0" dirty="0"/>
              <a:t>(1 of 2)</a:t>
            </a: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lang="en-US" b="1" dirty="0"/>
              <a:t>1.5 Learning</a:t>
            </a:r>
            <a:r>
              <a:rPr lang="en-US" dirty="0"/>
              <a:t> </a:t>
            </a:r>
            <a:r>
              <a:rPr lang="en-US" b="1" dirty="0"/>
              <a:t>Objective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Define important economic terms.</a:t>
            </a:r>
          </a:p>
          <a:p>
            <a:pPr marL="266700" indent="-266700">
              <a:spcBef>
                <a:spcPts val="1000"/>
              </a:spcBef>
            </a:pPr>
            <a:r>
              <a:rPr lang="en-US" dirty="0"/>
              <a:t>Economics has its own terms and jargon with specific, precise meanings.</a:t>
            </a:r>
          </a:p>
          <a:p>
            <a:pPr marL="266700" indent="-266700">
              <a:spcBef>
                <a:spcPts val="1000"/>
              </a:spcBef>
            </a:pPr>
            <a:r>
              <a:rPr lang="en-US" dirty="0"/>
              <a:t>Sometimes these terms will be used in ways that differ even from closely related disciplines.</a:t>
            </a:r>
          </a:p>
        </p:txBody>
      </p:sp>
    </p:spTree>
    <p:extLst>
      <p:ext uri="{BB962C8B-B14F-4D97-AF65-F5344CB8AC3E}">
        <p14:creationId xmlns:p14="http://schemas.microsoft.com/office/powerpoint/2010/main" val="3529531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Language of Economics</a:t>
            </a:r>
            <a:r>
              <a:rPr lang="en-US" sz="2000" dirty="0">
                <a:latin typeface="+mj-lt"/>
              </a:rPr>
              <a:t> </a:t>
            </a:r>
            <a:r>
              <a:rPr lang="en-US" sz="2000" b="0" dirty="0"/>
              <a:t>(2 of 2)</a:t>
            </a: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Examples:</a:t>
            </a:r>
            <a:endParaRPr lang="en-US" b="1" dirty="0"/>
          </a:p>
          <a:p>
            <a:pPr marL="266700" indent="-266700">
              <a:spcBef>
                <a:spcPts val="1000"/>
              </a:spcBef>
            </a:pPr>
            <a:r>
              <a:rPr lang="en-US" b="1" dirty="0"/>
              <a:t>Technology:</a:t>
            </a:r>
            <a:r>
              <a:rPr lang="en-US" dirty="0"/>
              <a:t> the processes a firm uses for turning inputs into outputs of goods and services</a:t>
            </a:r>
          </a:p>
          <a:p>
            <a:pPr marL="266700" indent="-266700">
              <a:spcBef>
                <a:spcPts val="1000"/>
              </a:spcBef>
            </a:pPr>
            <a:r>
              <a:rPr lang="en-US" b="1" dirty="0"/>
              <a:t>Capital:</a:t>
            </a:r>
            <a:r>
              <a:rPr lang="en-US" dirty="0"/>
              <a:t> durable manufactured goods that are used to produce other goods and services</a:t>
            </a:r>
          </a:p>
          <a:p>
            <a:pPr marL="266700" indent="-266700">
              <a:spcBef>
                <a:spcPts val="1000"/>
              </a:spcBef>
            </a:pPr>
            <a:r>
              <a:rPr lang="en-US" dirty="0"/>
              <a:t>Pay close attention to terms defined in class and in the textbook!</a:t>
            </a:r>
          </a:p>
        </p:txBody>
      </p:sp>
    </p:spTree>
    <p:extLst>
      <p:ext uri="{BB962C8B-B14F-4D97-AF65-F5344CB8AC3E}">
        <p14:creationId xmlns:p14="http://schemas.microsoft.com/office/powerpoint/2010/main" val="1656352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B804D4F82C0B4088CBB3A2B255BE33" ma:contentTypeVersion="10" ma:contentTypeDescription="Create a new document." ma:contentTypeScope="" ma:versionID="ba2444f8b87678fbda005eb818e18e7d">
  <xsd:schema xmlns:xsd="http://www.w3.org/2001/XMLSchema" xmlns:xs="http://www.w3.org/2001/XMLSchema" xmlns:p="http://schemas.microsoft.com/office/2006/metadata/properties" xmlns:ns3="d445d462-2029-4cec-993f-47750f9ae382" targetNamespace="http://schemas.microsoft.com/office/2006/metadata/properties" ma:root="true" ma:fieldsID="59dfec31504f62d0b799b89d654e468f" ns3:_="">
    <xsd:import namespace="d445d462-2029-4cec-993f-47750f9ae38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45d462-2029-4cec-993f-47750f9ae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637977-83C3-4D06-8E43-B932C56FB1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45d462-2029-4cec-993f-47750f9ae3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0ED968-9256-4114-AF12-237294F6A362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d445d462-2029-4cec-993f-47750f9ae382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BE2AAD-6CC9-4100-8B6B-7A31EE5170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</TotalTime>
  <Words>1593</Words>
  <Application>Microsoft Macintosh PowerPoint</Application>
  <PresentationFormat>On-screen Show (4:3)</PresentationFormat>
  <Paragraphs>153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Verdana</vt:lpstr>
      <vt:lpstr>Wingdings</vt:lpstr>
      <vt:lpstr>Office Theme</vt:lpstr>
      <vt:lpstr>Macroeconomics ECON 101</vt:lpstr>
      <vt:lpstr>Chapter Outline</vt:lpstr>
      <vt:lpstr>What Is Economics? (1 of 2)</vt:lpstr>
      <vt:lpstr>What Is Economics? (2 of 2)</vt:lpstr>
      <vt:lpstr>Typical “Economics” Questions</vt:lpstr>
      <vt:lpstr>Three Key Economic Ideas</vt:lpstr>
      <vt:lpstr>1. People are Rational</vt:lpstr>
      <vt:lpstr>2. People Respond to Incentives</vt:lpstr>
      <vt:lpstr>3. Optimal Decisions Are Made at the Margin</vt:lpstr>
      <vt:lpstr>The Economic Problems All Societies Must Solve</vt:lpstr>
      <vt:lpstr>1. What Goods and Services Will Be Produced?</vt:lpstr>
      <vt:lpstr>2. How will the Goods Be Produced?</vt:lpstr>
      <vt:lpstr>3. Who Will Receive the Goods and Services?</vt:lpstr>
      <vt:lpstr>Centrally Planned Economies vs. Market Economies</vt:lpstr>
      <vt:lpstr>Efficiency and Equity</vt:lpstr>
      <vt:lpstr>Source of Efficiency and Equity</vt:lpstr>
      <vt:lpstr>Efficiency and Equity (continued)</vt:lpstr>
      <vt:lpstr>Economic Models</vt:lpstr>
      <vt:lpstr>Important Features of Economic Models</vt:lpstr>
      <vt:lpstr>The Scientific Nature of Economics</vt:lpstr>
      <vt:lpstr>Apply the Concept: Should the Government Cap the Price of Houses? (1 of 2)</vt:lpstr>
      <vt:lpstr>Apply the Concept: Should the Government Cap the Price of Houses? (2 of 2)</vt:lpstr>
      <vt:lpstr>Microeconomics and Macroeconomics</vt:lpstr>
      <vt:lpstr>The Language of Economics (1 of 2)</vt:lpstr>
      <vt:lpstr>The Language of Economics (2 of 2)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Macroeconomics, Third Canadian Edition, Chapter 1  Economics: Foundations and Models</dc:title>
  <dc:subject>Economics</dc:subject>
  <dc:creator>Hubbard, Patrick O’Brien, Serletis, Childs</dc:creator>
  <cp:lastModifiedBy>Muhebullah Karimzada</cp:lastModifiedBy>
  <cp:revision>5154</cp:revision>
  <dcterms:created xsi:type="dcterms:W3CDTF">2014-07-14T20:04:21Z</dcterms:created>
  <dcterms:modified xsi:type="dcterms:W3CDTF">2024-12-30T01:09:16Z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0x0101008EB804D4F82C0B4088CBB3A2B255BE33</vt:lpwstr>
  </property>
</Properties>
</file>