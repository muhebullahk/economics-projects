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4"/>
  </p:sldMasterIdLst>
  <p:notesMasterIdLst>
    <p:notesMasterId r:id="rId44"/>
  </p:notesMasterIdLst>
  <p:handoutMasterIdLst>
    <p:handoutMasterId r:id="rId45"/>
  </p:handoutMasterIdLst>
  <p:sldIdLst>
    <p:sldId id="1438" r:id="rId5"/>
    <p:sldId id="1443" r:id="rId6"/>
    <p:sldId id="1360" r:id="rId7"/>
    <p:sldId id="1361" r:id="rId8"/>
    <p:sldId id="1363" r:id="rId9"/>
    <p:sldId id="1448" r:id="rId10"/>
    <p:sldId id="1446" r:id="rId11"/>
    <p:sldId id="1365" r:id="rId12"/>
    <p:sldId id="1366" r:id="rId13"/>
    <p:sldId id="1406" r:id="rId14"/>
    <p:sldId id="1434" r:id="rId15"/>
    <p:sldId id="1435" r:id="rId16"/>
    <p:sldId id="1415" r:id="rId17"/>
    <p:sldId id="1412" r:id="rId18"/>
    <p:sldId id="1449" r:id="rId19"/>
    <p:sldId id="1450" r:id="rId20"/>
    <p:sldId id="1369" r:id="rId21"/>
    <p:sldId id="1416" r:id="rId22"/>
    <p:sldId id="1370" r:id="rId23"/>
    <p:sldId id="1451" r:id="rId24"/>
    <p:sldId id="1418" r:id="rId25"/>
    <p:sldId id="1419" r:id="rId26"/>
    <p:sldId id="1420" r:id="rId27"/>
    <p:sldId id="1421" r:id="rId28"/>
    <p:sldId id="1452" r:id="rId29"/>
    <p:sldId id="1437" r:id="rId30"/>
    <p:sldId id="1424" r:id="rId31"/>
    <p:sldId id="1425" r:id="rId32"/>
    <p:sldId id="1426" r:id="rId33"/>
    <p:sldId id="1374" r:id="rId34"/>
    <p:sldId id="1427" r:id="rId35"/>
    <p:sldId id="1439" r:id="rId36"/>
    <p:sldId id="1429" r:id="rId37"/>
    <p:sldId id="1375" r:id="rId38"/>
    <p:sldId id="1376" r:id="rId39"/>
    <p:sldId id="1440" r:id="rId40"/>
    <p:sldId id="1453" r:id="rId41"/>
    <p:sldId id="1404" r:id="rId42"/>
    <p:sldId id="1381"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9" autoAdjust="0"/>
    <p:restoredTop sz="89648" autoAdjust="0"/>
  </p:normalViewPr>
  <p:slideViewPr>
    <p:cSldViewPr>
      <p:cViewPr varScale="1">
        <p:scale>
          <a:sx n="110" d="100"/>
          <a:sy n="110" d="100"/>
        </p:scale>
        <p:origin x="528" y="176"/>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0" y="36528"/>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5" d="100"/>
          <a:sy n="85"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12/29/24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12/29/24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3267712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1142954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848830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3315284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2921622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3317603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0" i="0" u="none" strike="noStrike" kern="1200" baseline="0" dirty="0">
                <a:solidFill>
                  <a:schemeClr val="tx1"/>
                </a:solidFill>
                <a:latin typeface="+mn-lt"/>
                <a:ea typeface="+mn-ea"/>
                <a:cs typeface="+mn-cs"/>
              </a:rPr>
              <a:t>The circular-flow diagram illustrates the flow of spending and money in the economy. Firms sell goods and services to three groups: domestic households, foreign firms and households, and the government. To produce goods and services, firms use factors of production: labor, capital, natural resources, and entrepreneurship. Households supply the factors of production to firms in exchange for income in the form of wages, interest, profit, and rent. Firms make payments of wages and interest to households in exchange for hiring workers and other factors of production. The sum of wages, interest, rent, and profit is total income in the economy. We can measure GDP as the total income received by households. The diagram also shows that households use their income to purchase goods and services, pay taxes, and for savings. Firms and the government borrow the funds that flow from households into the financial system. We can measure GDP either by calculating the total value of expenditures on final goods and services or by calculating the value of total income.</a:t>
            </a:r>
            <a:endParaRPr lang="en-US" dirty="0"/>
          </a:p>
          <a:p>
            <a:endParaRPr lang="en-US" dirty="0"/>
          </a:p>
          <a:p>
            <a:r>
              <a:rPr lang="en-US" sz="1200" kern="1200" dirty="0">
                <a:solidFill>
                  <a:schemeClr val="tx1"/>
                </a:solidFill>
                <a:latin typeface="+mn-lt"/>
                <a:ea typeface="+mn-ea"/>
                <a:cs typeface="+mn-cs"/>
              </a:rPr>
              <a:t>Long Description:</a:t>
            </a:r>
          </a:p>
          <a:p>
            <a:endParaRPr lang="en-US"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 arrow from household pointing to firm reads expenditures on goods and services, and another arrow from firms point to households. Above the households, the flowchart reads GDP can be measured by total wages, interest, rent, and profits received by households. Below the firms, the flowchart reads GDP can be measured by total expenditures on goods and services by households, firms, government, and the rest of the world.</a:t>
            </a:r>
            <a:endParaRPr lang="en-IN" sz="1200" kern="1200" dirty="0">
              <a:solidFill>
                <a:schemeClr val="tx1"/>
              </a:solidFill>
              <a:effectLst/>
              <a:latin typeface="+mn-lt"/>
              <a:ea typeface="+mn-ea"/>
              <a:cs typeface="+mn-cs"/>
            </a:endParaRPr>
          </a:p>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974865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Arrows labeled taxes point from households, and firms to government. An arrow from government points to households and labeled payments of wages and interest, and transfer payments. Another arrow from government points to firms and is labeled expenditures on goods and services. An arrow from household pointing to firm reads expenditures on goods and services, and another arrow from firms point to households and is labeled payments of wages, interest, rent, and profit. Above the households, the flowchart reads GDP can be measured by total wages, interest, rent, and profits received by households. Below the firms, the flowchart reads GDP can be measured by total expenditures on goods and services by households, firms, government, and the rest of the world.</a:t>
            </a: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Arrows that read “Taxes” point from households, and firms to government. An arrow from government points to households and reads “Payments of wages and interest, and transfer payments.” Another arrow from government points to firms and reads “Expenditures on goods and services.” An arrow from household pointing to firm reads “Expenditures on goods and services, and another arrow from firms point to households and reads “Payments of wages, interest, rent, and profit.” Above the households, the flowchart reads “GDP can be measured by total wages, interest, rent, and profits received by households.” Below the firms, the flowchart reads “GDP can be measured by total expenditures on goods and services by households, firms, government, and the rest of the world.” An arrow from households pointing to rest of the world reads “Expenditures by domestic households on imports,” and an arrow from rest of the world pointing to firms reads “Expenditure by foreign households on exports.”</a:t>
            </a: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974865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974865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3745655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2373073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1448887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977875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111162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8844561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2648063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Y = C + I + G + </a:t>
            </a:r>
            <a:r>
              <a:rPr lang="en-US" dirty="0" err="1"/>
              <a:t>Nx</a:t>
            </a:r>
            <a:r>
              <a:rPr lang="en-US" dirty="0"/>
              <a:t> should be familiar to students by the end of the course.</a:t>
            </a:r>
            <a:endParaRPr lang="en-CA" dirty="0"/>
          </a:p>
        </p:txBody>
      </p:sp>
      <p:sp>
        <p:nvSpPr>
          <p:cNvPr id="4" name="Slide Number Placeholder 3"/>
          <p:cNvSpPr>
            <a:spLocks noGrp="1"/>
          </p:cNvSpPr>
          <p:nvPr>
            <p:ph type="sldNum" sz="quarter" idx="5"/>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12487635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4195606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28</a:t>
            </a:fld>
            <a:endParaRPr lang="en-US" dirty="0"/>
          </a:p>
        </p:txBody>
      </p:sp>
    </p:spTree>
    <p:extLst>
      <p:ext uri="{BB962C8B-B14F-4D97-AF65-F5344CB8AC3E}">
        <p14:creationId xmlns:p14="http://schemas.microsoft.com/office/powerpoint/2010/main" val="868098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dirty="0"/>
          </a:p>
        </p:txBody>
      </p:sp>
    </p:spTree>
    <p:extLst>
      <p:ext uri="{BB962C8B-B14F-4D97-AF65-F5344CB8AC3E}">
        <p14:creationId xmlns:p14="http://schemas.microsoft.com/office/powerpoint/2010/main" val="33771224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26173486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279428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33</a:t>
            </a:fld>
            <a:endParaRPr lang="en-US" dirty="0"/>
          </a:p>
        </p:txBody>
      </p:sp>
    </p:spTree>
    <p:extLst>
      <p:ext uri="{BB962C8B-B14F-4D97-AF65-F5344CB8AC3E}">
        <p14:creationId xmlns:p14="http://schemas.microsoft.com/office/powerpoint/2010/main" val="11414338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details of calculating real GDP using chain-weighted prices are more complicated than we need to discuss here, but the basic idea is straightforward. Starting with the base year, take the average of prices in that year and prices in the following year. Then use this average to calculate real GDP in the year after the base year (2013 if the base year is 2012). For the next year—two years after the base year (2014)—calculate real GDP by taking an average of prices in that year and the previous year. In this way, prices in each year are “chained” to prices from the previous year, and the distortion from changes in relative prices is minimized.</a:t>
            </a:r>
          </a:p>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34</a:t>
            </a:fld>
            <a:endParaRPr lang="en-US" dirty="0"/>
          </a:p>
        </p:txBody>
      </p:sp>
    </p:spTree>
    <p:extLst>
      <p:ext uri="{BB962C8B-B14F-4D97-AF65-F5344CB8AC3E}">
        <p14:creationId xmlns:p14="http://schemas.microsoft.com/office/powerpoint/2010/main" val="21866598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35</a:t>
            </a:fld>
            <a:endParaRPr lang="en-US" dirty="0"/>
          </a:p>
        </p:txBody>
      </p:sp>
    </p:spTree>
    <p:extLst>
      <p:ext uri="{BB962C8B-B14F-4D97-AF65-F5344CB8AC3E}">
        <p14:creationId xmlns:p14="http://schemas.microsoft.com/office/powerpoint/2010/main" val="3944076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38</a:t>
            </a:fld>
            <a:endParaRPr lang="en-US" dirty="0"/>
          </a:p>
        </p:txBody>
      </p:sp>
    </p:spTree>
    <p:extLst>
      <p:ext uri="{BB962C8B-B14F-4D97-AF65-F5344CB8AC3E}">
        <p14:creationId xmlns:p14="http://schemas.microsoft.com/office/powerpoint/2010/main" val="11909538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39</a:t>
            </a:fld>
            <a:endParaRPr lang="en-US" dirty="0"/>
          </a:p>
        </p:txBody>
      </p:sp>
    </p:spTree>
    <p:extLst>
      <p:ext uri="{BB962C8B-B14F-4D97-AF65-F5344CB8AC3E}">
        <p14:creationId xmlns:p14="http://schemas.microsoft.com/office/powerpoint/2010/main" val="9029491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068B39E8-5A96-48B9-2389-232CA0D9D5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031AE4FB-B045-EF5A-F300-3E1321FB81CA}"/>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9" name="TextBox 8">
            <a:extLst>
              <a:ext uri="{FF2B5EF4-FFF2-40B4-BE49-F238E27FC236}">
                <a16:creationId xmlns:a16="http://schemas.microsoft.com/office/drawing/2014/main" id="{35FF2451-719D-741C-6705-A235A2A3F6C2}"/>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4 -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4027367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27127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684735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291944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69198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286671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pic>
        <p:nvPicPr>
          <p:cNvPr id="5" name="Picture 4" descr="Pearson Logo">
            <a:extLst>
              <a:ext uri="{FF2B5EF4-FFF2-40B4-BE49-F238E27FC236}">
                <a16:creationId xmlns:a16="http://schemas.microsoft.com/office/drawing/2014/main" id="{AA4011A3-E5CD-70A0-E358-5FD8CBD433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4195566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595160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194308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58645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738082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731241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10450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397940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Content Placeholder 3"/>
          <p:cNvSpPr>
            <a:spLocks noGrp="1"/>
          </p:cNvSpPr>
          <p:nvPr>
            <p:ph sz="quarter" idx="13"/>
          </p:nvPr>
        </p:nvSpPr>
        <p:spPr>
          <a:xfrm>
            <a:off x="990600" y="1676400"/>
            <a:ext cx="2895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4"/>
          </p:nvPr>
        </p:nvSpPr>
        <p:spPr>
          <a:xfrm>
            <a:off x="4495800" y="1676400"/>
            <a:ext cx="41910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Picture Placeholder 10"/>
          <p:cNvSpPr>
            <a:spLocks noGrp="1"/>
          </p:cNvSpPr>
          <p:nvPr>
            <p:ph type="pic" sz="quarter" idx="15"/>
          </p:nvPr>
        </p:nvSpPr>
        <p:spPr>
          <a:xfrm>
            <a:off x="4648200" y="3429000"/>
            <a:ext cx="3810000" cy="1524000"/>
          </a:xfrm>
        </p:spPr>
        <p:txBody>
          <a:bodyPr/>
          <a:lstStyle/>
          <a:p>
            <a:endParaRPr lang="en-IN"/>
          </a:p>
        </p:txBody>
      </p:sp>
    </p:spTree>
    <p:extLst>
      <p:ext uri="{BB962C8B-B14F-4D97-AF65-F5344CB8AC3E}">
        <p14:creationId xmlns:p14="http://schemas.microsoft.com/office/powerpoint/2010/main" val="451699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8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35059723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1050937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2249680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pic">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285750">
              <a:buClr>
                <a:srgbClr val="007FA3"/>
              </a:buClr>
              <a:defRPr sz="2400"/>
            </a:lvl2pPr>
            <a:lvl3pPr>
              <a:buClr>
                <a:srgbClr val="007FA3"/>
              </a:buClr>
              <a:defRPr sz="22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3"/>
          </p:nvPr>
        </p:nvSpPr>
        <p:spPr>
          <a:xfrm>
            <a:off x="457200" y="4038600"/>
            <a:ext cx="8229600" cy="1295400"/>
          </a:xfrm>
        </p:spPr>
        <p:txBody>
          <a:bodyPr/>
          <a:lstStyle/>
          <a:p>
            <a:endParaRPr lang="en-IN"/>
          </a:p>
        </p:txBody>
      </p:sp>
    </p:spTree>
    <p:extLst>
      <p:ext uri="{BB962C8B-B14F-4D97-AF65-F5344CB8AC3E}">
        <p14:creationId xmlns:p14="http://schemas.microsoft.com/office/powerpoint/2010/main" val="1672684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2119467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latin typeface="+mj-lt"/>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90260EE8-9407-71EF-61AD-801690FDB16C}"/>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4 -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a:extLst>
              <a:ext uri="{FF2B5EF4-FFF2-40B4-BE49-F238E27FC236}">
                <a16:creationId xmlns:a16="http://schemas.microsoft.com/office/drawing/2014/main" id="{E4F678FB-382D-F524-82DC-D3DF96484A7E}"/>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22037960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5"/>
          </p:nvPr>
        </p:nvSpPr>
        <p:spPr>
          <a:xfrm>
            <a:off x="609600" y="1371600"/>
            <a:ext cx="8077200" cy="53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Text Placeholder 11"/>
          <p:cNvSpPr>
            <a:spLocks noGrp="1"/>
          </p:cNvSpPr>
          <p:nvPr>
            <p:ph type="body" sz="quarter" idx="16"/>
          </p:nvPr>
        </p:nvSpPr>
        <p:spPr>
          <a:xfrm>
            <a:off x="685800" y="2133600"/>
            <a:ext cx="7772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Picture Placeholder 13"/>
          <p:cNvSpPr>
            <a:spLocks noGrp="1"/>
          </p:cNvSpPr>
          <p:nvPr>
            <p:ph type="pic" sz="quarter" idx="17"/>
          </p:nvPr>
        </p:nvSpPr>
        <p:spPr>
          <a:xfrm>
            <a:off x="762000" y="3505200"/>
            <a:ext cx="7467600" cy="685800"/>
          </a:xfrm>
        </p:spPr>
        <p:txBody>
          <a:bodyPr/>
          <a:lstStyle/>
          <a:p>
            <a:endParaRPr lang="en-IN"/>
          </a:p>
        </p:txBody>
      </p:sp>
      <p:sp>
        <p:nvSpPr>
          <p:cNvPr id="16" name="Picture Placeholder 15"/>
          <p:cNvSpPr>
            <a:spLocks noGrp="1"/>
          </p:cNvSpPr>
          <p:nvPr>
            <p:ph type="pic" sz="quarter" idx="18"/>
          </p:nvPr>
        </p:nvSpPr>
        <p:spPr>
          <a:xfrm>
            <a:off x="1066800" y="4648200"/>
            <a:ext cx="7467600" cy="685800"/>
          </a:xfrm>
        </p:spPr>
        <p:txBody>
          <a:bodyPr/>
          <a:lstStyle/>
          <a:p>
            <a:endParaRPr lang="en-IN"/>
          </a:p>
        </p:txBody>
      </p:sp>
    </p:spTree>
    <p:extLst>
      <p:ext uri="{BB962C8B-B14F-4D97-AF65-F5344CB8AC3E}">
        <p14:creationId xmlns:p14="http://schemas.microsoft.com/office/powerpoint/2010/main" val="23883699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3322637"/>
            <a:ext cx="7848600" cy="7159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06762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a:latin typeface="+mj-lt"/>
              </a:defRPr>
            </a:lvl1p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C68621A5-ECD9-43F9-98C9-A04F6C02729B}"/>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9C1C6006-61AB-EA6F-7B3C-86DFC5B28789}"/>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4 -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ECCEF9D1-5713-21ED-7C2D-F23D6D18DE19}"/>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365206709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57" r:id="rId20"/>
    <p:sldLayoutId id="2147483650" r:id="rId21"/>
    <p:sldLayoutId id="2147483658" r:id="rId22"/>
    <p:sldLayoutId id="2147483660" r:id="rId23"/>
    <p:sldLayoutId id="2147483662" r:id="rId24"/>
    <p:sldLayoutId id="2147483665" r:id="rId25"/>
    <p:sldLayoutId id="2147483663" r:id="rId26"/>
    <p:sldLayoutId id="2147483671" r:id="rId27"/>
    <p:sldLayoutId id="2147483670" r:id="rId28"/>
    <p:sldLayoutId id="2147483654" r:id="rId29"/>
    <p:sldLayoutId id="2147483655" r:id="rId3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33.xml"/><Relationship Id="rId1" Type="http://schemas.openxmlformats.org/officeDocument/2006/relationships/slideLayout" Target="../slideLayouts/slideLayout19.xml"/><Relationship Id="rId6" Type="http://schemas.openxmlformats.org/officeDocument/2006/relationships/image" Target="../media/image11.wmf"/><Relationship Id="rId5" Type="http://schemas.openxmlformats.org/officeDocument/2006/relationships/oleObject" Target="../embeddings/oleObject3.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IN" sz="2400" dirty="0"/>
              <a:t>GDP: Measuring Total Production and Income</a:t>
            </a:r>
          </a:p>
          <a:p>
            <a:r>
              <a:rPr lang="en-US" dirty="0"/>
              <a:t>(Chapter 4)</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378EC3-6D8B-08DA-21D6-B7194F7C0D83}"/>
              </a:ext>
            </a:extLst>
          </p:cNvPr>
          <p:cNvSpPr>
            <a:spLocks noGrp="1"/>
          </p:cNvSpPr>
          <p:nvPr>
            <p:ph type="title"/>
          </p:nvPr>
        </p:nvSpPr>
        <p:spPr/>
        <p:txBody>
          <a:bodyPr/>
          <a:lstStyle/>
          <a:p>
            <a:r>
              <a:rPr lang="en-US" dirty="0">
                <a:latin typeface="+mj-lt"/>
              </a:rPr>
              <a:t>Chapter Outline</a:t>
            </a:r>
            <a:endParaRPr lang="en-IN" dirty="0"/>
          </a:p>
        </p:txBody>
      </p:sp>
      <p:sp>
        <p:nvSpPr>
          <p:cNvPr id="3" name="Content Placeholder 2"/>
          <p:cNvSpPr>
            <a:spLocks noGrp="1"/>
          </p:cNvSpPr>
          <p:nvPr>
            <p:ph idx="1"/>
          </p:nvPr>
        </p:nvSpPr>
        <p:spPr/>
        <p:txBody>
          <a:bodyPr wrap="square">
            <a:noAutofit/>
          </a:bodyPr>
          <a:lstStyle/>
          <a:p>
            <a:pPr marL="808038" indent="-808038">
              <a:buNone/>
              <a:tabLst>
                <a:tab pos="534988" algn="l"/>
              </a:tabLst>
            </a:pPr>
            <a:r>
              <a:rPr lang="en-US" sz="2500" b="1" dirty="0"/>
              <a:t>4.1</a:t>
            </a:r>
            <a:r>
              <a:rPr lang="en-US" sz="2500" dirty="0"/>
              <a:t>	</a:t>
            </a:r>
            <a:r>
              <a:rPr lang="en-IN" sz="2500" dirty="0"/>
              <a:t>Gross Domestic Product Measures Total Production</a:t>
            </a:r>
            <a:endParaRPr lang="en-US" sz="2500" dirty="0"/>
          </a:p>
          <a:p>
            <a:pPr marL="715963" indent="-715963">
              <a:buNone/>
              <a:tabLst>
                <a:tab pos="534988" algn="l"/>
              </a:tabLst>
            </a:pPr>
            <a:r>
              <a:rPr lang="en-US" sz="2500" b="1" dirty="0"/>
              <a:t>4.2</a:t>
            </a:r>
            <a:r>
              <a:rPr lang="en-US" sz="2500" dirty="0"/>
              <a:t>	</a:t>
            </a:r>
            <a:r>
              <a:rPr lang="en-IN" sz="2500" dirty="0"/>
              <a:t>Does GDP Measure What We Want It to Measure?</a:t>
            </a:r>
          </a:p>
          <a:p>
            <a:pPr marL="0" indent="0">
              <a:buNone/>
              <a:tabLst>
                <a:tab pos="534988" algn="l"/>
              </a:tabLst>
            </a:pPr>
            <a:r>
              <a:rPr lang="en-US" sz="2500" b="1" dirty="0"/>
              <a:t>4.3</a:t>
            </a:r>
            <a:r>
              <a:rPr lang="en-US" sz="2500" dirty="0"/>
              <a:t>	Real GDP versus Nominal GDP</a:t>
            </a:r>
          </a:p>
          <a:p>
            <a:pPr marL="0" indent="0">
              <a:buNone/>
              <a:tabLst>
                <a:tab pos="534988" algn="l"/>
              </a:tabLst>
            </a:pPr>
            <a:r>
              <a:rPr lang="en-US" sz="2500" b="1" dirty="0"/>
              <a:t>4.4</a:t>
            </a:r>
            <a:r>
              <a:rPr lang="en-US" sz="2500" dirty="0"/>
              <a:t> 	</a:t>
            </a:r>
            <a:r>
              <a:rPr lang="en-IN" sz="2500" dirty="0"/>
              <a:t>Other Measures of Total Production and Total Income</a:t>
            </a:r>
            <a:endParaRPr lang="en-US" sz="2500" dirty="0"/>
          </a:p>
        </p:txBody>
      </p:sp>
    </p:spTree>
    <p:extLst>
      <p:ext uri="{BB962C8B-B14F-4D97-AF65-F5344CB8AC3E}">
        <p14:creationId xmlns:p14="http://schemas.microsoft.com/office/powerpoint/2010/main" val="1986260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t>Some Important Terms in Macroeconomics</a:t>
            </a:r>
            <a:endParaRPr lang="en-US" dirty="0"/>
          </a:p>
        </p:txBody>
      </p:sp>
      <p:sp>
        <p:nvSpPr>
          <p:cNvPr id="3" name="Content Placeholder 2"/>
          <p:cNvSpPr>
            <a:spLocks noGrp="1"/>
          </p:cNvSpPr>
          <p:nvPr>
            <p:ph idx="1"/>
          </p:nvPr>
        </p:nvSpPr>
        <p:spPr>
          <a:xfrm>
            <a:off x="457200" y="1600200"/>
            <a:ext cx="8229600" cy="4206280"/>
          </a:xfrm>
        </p:spPr>
        <p:txBody>
          <a:bodyPr>
            <a:spAutoFit/>
          </a:bodyPr>
          <a:lstStyle/>
          <a:p>
            <a:pPr>
              <a:spcBef>
                <a:spcPts val="1000"/>
              </a:spcBef>
            </a:pPr>
            <a:r>
              <a:rPr lang="en-IN" sz="2400" b="1" dirty="0"/>
              <a:t>Business cycle:</a:t>
            </a:r>
            <a:r>
              <a:rPr lang="en-IN" sz="2400" dirty="0"/>
              <a:t> Alternating periods of economic expansion and economic recession.</a:t>
            </a:r>
          </a:p>
          <a:p>
            <a:pPr>
              <a:spcBef>
                <a:spcPts val="1000"/>
              </a:spcBef>
            </a:pPr>
            <a:r>
              <a:rPr lang="en-IN" sz="2400" b="1" dirty="0"/>
              <a:t>Expansion:</a:t>
            </a:r>
            <a:r>
              <a:rPr lang="en-IN" sz="2400" dirty="0"/>
              <a:t> The period of a business cycle during which the total production and total employment are increasing.</a:t>
            </a:r>
          </a:p>
          <a:p>
            <a:pPr>
              <a:spcBef>
                <a:spcPts val="1000"/>
              </a:spcBef>
            </a:pPr>
            <a:r>
              <a:rPr lang="en-IN" sz="2400" b="1" dirty="0"/>
              <a:t>Recession:</a:t>
            </a:r>
            <a:r>
              <a:rPr lang="en-IN" sz="2400" dirty="0"/>
              <a:t> The period of a business cycle during which total production and total employment are decreasing.</a:t>
            </a:r>
          </a:p>
          <a:p>
            <a:pPr>
              <a:spcBef>
                <a:spcPts val="1000"/>
              </a:spcBef>
            </a:pPr>
            <a:r>
              <a:rPr lang="en-IN" sz="2400" b="1" dirty="0"/>
              <a:t>Economic growth:</a:t>
            </a:r>
            <a:r>
              <a:rPr lang="en-IN" sz="2400" dirty="0"/>
              <a:t> The ability of an economy to produce increasing quantities of goods and services.</a:t>
            </a:r>
          </a:p>
          <a:p>
            <a:pPr>
              <a:spcBef>
                <a:spcPts val="1000"/>
              </a:spcBef>
            </a:pPr>
            <a:r>
              <a:rPr lang="en-IN" sz="2400" b="1" dirty="0"/>
              <a:t>Inflation rate:</a:t>
            </a:r>
            <a:r>
              <a:rPr lang="en-IN" sz="2400" dirty="0"/>
              <a:t> The percentage increase in the price level from one year to the next.</a:t>
            </a:r>
          </a:p>
        </p:txBody>
      </p:sp>
    </p:spTree>
    <p:extLst>
      <p:ext uri="{BB962C8B-B14F-4D97-AF65-F5344CB8AC3E}">
        <p14:creationId xmlns:p14="http://schemas.microsoft.com/office/powerpoint/2010/main" val="3291610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03828"/>
          </a:xfrm>
        </p:spPr>
        <p:txBody>
          <a:bodyPr/>
          <a:lstStyle/>
          <a:p>
            <a:r>
              <a:rPr lang="en-IN" dirty="0">
                <a:latin typeface="+mj-lt"/>
              </a:rPr>
              <a:t>Gross Domestic Product Measures Total Production</a:t>
            </a:r>
            <a:endParaRPr lang="en-US" dirty="0">
              <a:latin typeface="+mj-lt"/>
            </a:endParaRPr>
          </a:p>
        </p:txBody>
      </p:sp>
      <p:sp>
        <p:nvSpPr>
          <p:cNvPr id="5" name="Text Placeholder 4">
            <a:extLst>
              <a:ext uri="{FF2B5EF4-FFF2-40B4-BE49-F238E27FC236}">
                <a16:creationId xmlns:a16="http://schemas.microsoft.com/office/drawing/2014/main" id="{C35C2F21-63D0-98BB-6FEC-BF3BAC9F7F46}"/>
              </a:ext>
            </a:extLst>
          </p:cNvPr>
          <p:cNvSpPr>
            <a:spLocks noGrp="1"/>
          </p:cNvSpPr>
          <p:nvPr>
            <p:ph type="body" sz="quarter" idx="13"/>
          </p:nvPr>
        </p:nvSpPr>
        <p:spPr>
          <a:xfrm>
            <a:off x="462064" y="1328060"/>
            <a:ext cx="8229600" cy="402770"/>
          </a:xfrm>
        </p:spPr>
        <p:txBody>
          <a:bodyPr/>
          <a:lstStyle/>
          <a:p>
            <a:r>
              <a:rPr lang="en-US" sz="2400" b="1" dirty="0">
                <a:solidFill>
                  <a:schemeClr val="tx1"/>
                </a:solidFill>
              </a:rPr>
              <a:t>4.1 Learning Objective</a:t>
            </a:r>
          </a:p>
        </p:txBody>
      </p:sp>
      <p:sp>
        <p:nvSpPr>
          <p:cNvPr id="3" name="Subtitle 2"/>
          <p:cNvSpPr>
            <a:spLocks noGrp="1"/>
          </p:cNvSpPr>
          <p:nvPr>
            <p:ph sz="quarter" idx="14"/>
          </p:nvPr>
        </p:nvSpPr>
        <p:spPr>
          <a:xfrm>
            <a:off x="457200" y="1839690"/>
            <a:ext cx="8229600" cy="3883703"/>
          </a:xfrm>
        </p:spPr>
        <p:txBody>
          <a:bodyPr>
            <a:noAutofit/>
          </a:bodyPr>
          <a:lstStyle/>
          <a:p>
            <a:pPr marL="0" indent="0">
              <a:buNone/>
            </a:pPr>
            <a:r>
              <a:rPr lang="en-IN" sz="2400" dirty="0"/>
              <a:t>Explain how total production is measured.</a:t>
            </a:r>
          </a:p>
          <a:p>
            <a:pPr marL="0" indent="0">
              <a:spcBef>
                <a:spcPts val="1000"/>
              </a:spcBef>
              <a:buSzPts val="2200"/>
              <a:buFont typeface="Arial" panose="020B0604020202020204" pitchFamily="34" charset="0"/>
              <a:buNone/>
            </a:pPr>
            <a:r>
              <a:rPr lang="en-US" sz="2300" dirty="0"/>
              <a:t>The most common measure used by economists of overall economic activity in an economy is </a:t>
            </a:r>
            <a:r>
              <a:rPr lang="en-US" sz="2300" b="1" dirty="0"/>
              <a:t>gross domestic product,</a:t>
            </a:r>
            <a:r>
              <a:rPr lang="en-US" sz="2300" dirty="0"/>
              <a:t> or GDP.</a:t>
            </a:r>
          </a:p>
          <a:p>
            <a:pPr marL="0" indent="0">
              <a:spcBef>
                <a:spcPts val="1000"/>
              </a:spcBef>
              <a:buSzPts val="2200"/>
              <a:buFont typeface="Arial" panose="020B0604020202020204" pitchFamily="34" charset="0"/>
              <a:buNone/>
            </a:pPr>
            <a:r>
              <a:rPr lang="en-US" sz="2300" b="1" dirty="0"/>
              <a:t>Gross domestic product (GDP):</a:t>
            </a:r>
            <a:r>
              <a:rPr lang="en-US" sz="2300" dirty="0"/>
              <a:t> The market value of all final goods and services produced in a country during a period of time, typically one year.</a:t>
            </a:r>
          </a:p>
          <a:p>
            <a:pPr marL="0" indent="0">
              <a:spcBef>
                <a:spcPts val="1000"/>
              </a:spcBef>
              <a:buSzPts val="2200"/>
              <a:buFont typeface="Arial" panose="020B0604020202020204" pitchFamily="34" charset="0"/>
              <a:buNone/>
            </a:pPr>
            <a:r>
              <a:rPr lang="en-US" sz="2300" dirty="0"/>
              <a:t>We will examine each of the parts of this definition in turn.</a:t>
            </a:r>
          </a:p>
        </p:txBody>
      </p:sp>
    </p:spTree>
    <p:extLst>
      <p:ext uri="{BB962C8B-B14F-4D97-AF65-F5344CB8AC3E}">
        <p14:creationId xmlns:p14="http://schemas.microsoft.com/office/powerpoint/2010/main" val="3355417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Value”</a:t>
            </a:r>
          </a:p>
        </p:txBody>
      </p:sp>
      <p:sp>
        <p:nvSpPr>
          <p:cNvPr id="3" name="Content Placeholder 2"/>
          <p:cNvSpPr>
            <a:spLocks noGrp="1"/>
          </p:cNvSpPr>
          <p:nvPr>
            <p:ph idx="1"/>
          </p:nvPr>
        </p:nvSpPr>
        <p:spPr/>
        <p:txBody>
          <a:bodyPr>
            <a:noAutofit/>
          </a:bodyPr>
          <a:lstStyle/>
          <a:p>
            <a:pPr>
              <a:spcBef>
                <a:spcPts val="1000"/>
              </a:spcBef>
            </a:pPr>
            <a:r>
              <a:rPr lang="en-US" sz="2400" b="1" dirty="0"/>
              <a:t>Gross domestic product:</a:t>
            </a:r>
            <a:r>
              <a:rPr lang="en-US" sz="2400" dirty="0"/>
              <a:t> The </a:t>
            </a:r>
            <a:r>
              <a:rPr lang="en-US" sz="2400" u="sng" dirty="0"/>
              <a:t>market value</a:t>
            </a:r>
            <a:r>
              <a:rPr lang="en-US" sz="2400" dirty="0"/>
              <a:t> of all final goods and services produced in a country during a period of time, typically one year.</a:t>
            </a:r>
          </a:p>
          <a:p>
            <a:pPr>
              <a:spcBef>
                <a:spcPts val="1000"/>
              </a:spcBef>
            </a:pPr>
            <a:r>
              <a:rPr lang="en-US" sz="2400" dirty="0"/>
              <a:t>We cannot add together the number of cars, melons, haircuts, and all other goods and services—the result would be meaningless.</a:t>
            </a:r>
          </a:p>
          <a:p>
            <a:pPr>
              <a:spcBef>
                <a:spcPts val="1000"/>
              </a:spcBef>
            </a:pPr>
            <a:r>
              <a:rPr lang="en-US" sz="2400" dirty="0"/>
              <a:t>Before we can add things up we need a common unit.</a:t>
            </a:r>
          </a:p>
          <a:p>
            <a:pPr>
              <a:spcBef>
                <a:spcPts val="1000"/>
              </a:spcBef>
            </a:pPr>
            <a:r>
              <a:rPr lang="en-US" sz="2400" dirty="0"/>
              <a:t>The most practical way to get a common unit is to value each good and service in monetary (dollar) terms. </a:t>
            </a:r>
          </a:p>
          <a:p>
            <a:pPr>
              <a:spcBef>
                <a:spcPts val="1000"/>
              </a:spcBef>
            </a:pPr>
            <a:r>
              <a:rPr lang="en-US" sz="2400" dirty="0"/>
              <a:t>The best measure of value that we have is the price that each good or service is sold for.</a:t>
            </a:r>
          </a:p>
        </p:txBody>
      </p:sp>
    </p:spTree>
    <p:extLst>
      <p:ext uri="{BB962C8B-B14F-4D97-AF65-F5344CB8AC3E}">
        <p14:creationId xmlns:p14="http://schemas.microsoft.com/office/powerpoint/2010/main" val="1659120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93D65D-F548-F75E-C3F3-8DA132298BBC}"/>
              </a:ext>
            </a:extLst>
          </p:cNvPr>
          <p:cNvSpPr>
            <a:spLocks noGrp="1"/>
          </p:cNvSpPr>
          <p:nvPr>
            <p:ph type="title"/>
          </p:nvPr>
        </p:nvSpPr>
        <p:spPr/>
        <p:txBody>
          <a:bodyPr/>
          <a:lstStyle/>
          <a:p>
            <a:r>
              <a:rPr lang="en-US" dirty="0"/>
              <a:t>Final Goods and Services</a:t>
            </a:r>
            <a:r>
              <a:rPr lang="en-US" sz="2000" dirty="0"/>
              <a:t> </a:t>
            </a:r>
            <a:r>
              <a:rPr lang="en-US" sz="2000" b="0" dirty="0"/>
              <a:t>(1 of 2)</a:t>
            </a:r>
            <a:endParaRPr lang="en-IN" sz="2000" dirty="0"/>
          </a:p>
        </p:txBody>
      </p:sp>
      <p:sp>
        <p:nvSpPr>
          <p:cNvPr id="5" name="Content Placeholder 4">
            <a:extLst>
              <a:ext uri="{FF2B5EF4-FFF2-40B4-BE49-F238E27FC236}">
                <a16:creationId xmlns:a16="http://schemas.microsoft.com/office/drawing/2014/main" id="{3AEA6B23-DAEB-2516-15C5-EF4E1D200FC3}"/>
              </a:ext>
            </a:extLst>
          </p:cNvPr>
          <p:cNvSpPr>
            <a:spLocks noGrp="1"/>
          </p:cNvSpPr>
          <p:nvPr>
            <p:ph idx="1"/>
          </p:nvPr>
        </p:nvSpPr>
        <p:spPr>
          <a:xfrm>
            <a:off x="457200" y="1600200"/>
            <a:ext cx="8229600" cy="4648200"/>
          </a:xfrm>
        </p:spPr>
        <p:txBody>
          <a:bodyPr/>
          <a:lstStyle/>
          <a:p>
            <a:pPr marL="0" indent="0">
              <a:spcBef>
                <a:spcPts val="400"/>
              </a:spcBef>
              <a:buClr>
                <a:srgbClr val="0070C0"/>
              </a:buClr>
              <a:buSzPts val="2200"/>
              <a:buFont typeface="Arial" panose="020B0604020202020204" pitchFamily="34" charset="0"/>
              <a:buNone/>
            </a:pPr>
            <a:r>
              <a:rPr lang="en-US" sz="2200" b="1" dirty="0">
                <a:solidFill>
                  <a:srgbClr val="000000"/>
                </a:solidFill>
              </a:rPr>
              <a:t>Gross domestic product:</a:t>
            </a:r>
            <a:r>
              <a:rPr lang="en-US" sz="2200" dirty="0">
                <a:solidFill>
                  <a:srgbClr val="000000"/>
                </a:solidFill>
              </a:rPr>
              <a:t> The market value of all </a:t>
            </a:r>
            <a:r>
              <a:rPr lang="en-US" sz="2200" b="1" dirty="0">
                <a:solidFill>
                  <a:srgbClr val="000000"/>
                </a:solidFill>
              </a:rPr>
              <a:t>final goods and services</a:t>
            </a:r>
            <a:r>
              <a:rPr lang="en-US" sz="2200" dirty="0">
                <a:solidFill>
                  <a:srgbClr val="000000"/>
                </a:solidFill>
              </a:rPr>
              <a:t> produced in a country during a period of time, typically one year.</a:t>
            </a:r>
            <a:endParaRPr lang="en-US" sz="2200" dirty="0"/>
          </a:p>
          <a:p>
            <a:pPr marL="0" indent="0">
              <a:spcBef>
                <a:spcPts val="1000"/>
              </a:spcBef>
              <a:buClr>
                <a:srgbClr val="0070C0"/>
              </a:buClr>
              <a:buSzPts val="2200"/>
              <a:buFont typeface="Arial" panose="020B0604020202020204" pitchFamily="34" charset="0"/>
              <a:buNone/>
            </a:pPr>
            <a:r>
              <a:rPr lang="en-US" sz="2200" dirty="0">
                <a:solidFill>
                  <a:srgbClr val="000000"/>
                </a:solidFill>
              </a:rPr>
              <a:t>A </a:t>
            </a:r>
            <a:r>
              <a:rPr lang="en-US" sz="2200" b="1" dirty="0">
                <a:solidFill>
                  <a:srgbClr val="000000"/>
                </a:solidFill>
              </a:rPr>
              <a:t>final good or service </a:t>
            </a:r>
            <a:r>
              <a:rPr lang="en-US" sz="2200" dirty="0">
                <a:solidFill>
                  <a:srgbClr val="000000"/>
                </a:solidFill>
              </a:rPr>
              <a:t>is a good or service purchased by a final user. These are what are used to calculate GDP.</a:t>
            </a:r>
            <a:endParaRPr lang="en-US" sz="2200" dirty="0"/>
          </a:p>
          <a:p>
            <a:pPr marL="255600">
              <a:spcBef>
                <a:spcPts val="400"/>
              </a:spcBef>
            </a:pPr>
            <a:r>
              <a:rPr lang="en-US" sz="2200" dirty="0">
                <a:solidFill>
                  <a:srgbClr val="000000"/>
                </a:solidFill>
              </a:rPr>
              <a:t>Why? </a:t>
            </a:r>
            <a:r>
              <a:rPr lang="en-US" sz="2200" b="1" dirty="0">
                <a:solidFill>
                  <a:srgbClr val="000000"/>
                </a:solidFill>
              </a:rPr>
              <a:t>Intermediate goods and services</a:t>
            </a:r>
            <a:r>
              <a:rPr lang="en-US" sz="2200" dirty="0">
                <a:solidFill>
                  <a:srgbClr val="000000"/>
                </a:solidFill>
              </a:rPr>
              <a:t> are inputs into another good or service, such as a tire on a truck. If we counted these goods and services at each transaction, we would end up </a:t>
            </a:r>
            <a:r>
              <a:rPr lang="en-US" sz="2200" b="1" dirty="0">
                <a:solidFill>
                  <a:srgbClr val="000000"/>
                </a:solidFill>
              </a:rPr>
              <a:t>double counting.</a:t>
            </a:r>
          </a:p>
          <a:p>
            <a:pPr marL="0" indent="0">
              <a:spcBef>
                <a:spcPts val="1000"/>
              </a:spcBef>
              <a:buNone/>
            </a:pPr>
            <a:r>
              <a:rPr lang="en-US" sz="2200" b="1" dirty="0">
                <a:solidFill>
                  <a:srgbClr val="000000"/>
                </a:solidFill>
              </a:rPr>
              <a:t>Example: </a:t>
            </a:r>
            <a:r>
              <a:rPr lang="en-US" sz="2200" dirty="0">
                <a:solidFill>
                  <a:srgbClr val="000000"/>
                </a:solidFill>
              </a:rPr>
              <a:t>If we counted the value of the ice cream bought by a store, and also counted the value of that ice cream when it was sold to a consumer, we would be double counting the value of the ice cream.</a:t>
            </a:r>
            <a:endParaRPr lang="en-US" sz="2200" dirty="0"/>
          </a:p>
        </p:txBody>
      </p:sp>
    </p:spTree>
    <p:extLst>
      <p:ext uri="{BB962C8B-B14F-4D97-AF65-F5344CB8AC3E}">
        <p14:creationId xmlns:p14="http://schemas.microsoft.com/office/powerpoint/2010/main" val="338684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5805BF-88BE-3FA0-0CC5-9F8BA221D064}"/>
              </a:ext>
            </a:extLst>
          </p:cNvPr>
          <p:cNvSpPr>
            <a:spLocks noGrp="1"/>
          </p:cNvSpPr>
          <p:nvPr>
            <p:ph type="title"/>
          </p:nvPr>
        </p:nvSpPr>
        <p:spPr/>
        <p:txBody>
          <a:bodyPr/>
          <a:lstStyle/>
          <a:p>
            <a:r>
              <a:rPr lang="en-US" dirty="0"/>
              <a:t>Final Goods and Services</a:t>
            </a:r>
            <a:r>
              <a:rPr lang="en-US" sz="2000" dirty="0"/>
              <a:t> </a:t>
            </a:r>
            <a:r>
              <a:rPr lang="en-US" sz="2000" b="0" dirty="0"/>
              <a:t>(2 of 2)</a:t>
            </a:r>
            <a:endParaRPr lang="en-IN" sz="2000" dirty="0"/>
          </a:p>
        </p:txBody>
      </p:sp>
      <p:sp>
        <p:nvSpPr>
          <p:cNvPr id="7" name="Content Placeholder 6">
            <a:extLst>
              <a:ext uri="{FF2B5EF4-FFF2-40B4-BE49-F238E27FC236}">
                <a16:creationId xmlns:a16="http://schemas.microsoft.com/office/drawing/2014/main" id="{67B0306B-3BDB-F10D-F75C-447CE71B6CF6}"/>
              </a:ext>
            </a:extLst>
          </p:cNvPr>
          <p:cNvSpPr>
            <a:spLocks noGrp="1"/>
          </p:cNvSpPr>
          <p:nvPr>
            <p:ph idx="1"/>
          </p:nvPr>
        </p:nvSpPr>
        <p:spPr/>
        <p:txBody>
          <a:bodyPr/>
          <a:lstStyle/>
          <a:p>
            <a:pPr marL="0" indent="0">
              <a:spcBef>
                <a:spcPts val="1000"/>
              </a:spcBef>
              <a:buClr>
                <a:srgbClr val="0070C0"/>
              </a:buClr>
              <a:buSzPts val="2200"/>
              <a:buFont typeface="Arial" panose="020B0604020202020204" pitchFamily="34" charset="0"/>
              <a:buNone/>
            </a:pPr>
            <a:r>
              <a:rPr lang="en-US" b="1" dirty="0">
                <a:solidFill>
                  <a:srgbClr val="000000"/>
                </a:solidFill>
              </a:rPr>
              <a:t>Gross domestic product:</a:t>
            </a:r>
            <a:r>
              <a:rPr lang="en-US" dirty="0">
                <a:solidFill>
                  <a:srgbClr val="000000"/>
                </a:solidFill>
              </a:rPr>
              <a:t> The market value of all final goods and services </a:t>
            </a:r>
            <a:r>
              <a:rPr lang="en-US" b="1" dirty="0">
                <a:solidFill>
                  <a:srgbClr val="000000"/>
                </a:solidFill>
              </a:rPr>
              <a:t>produced in a country</a:t>
            </a:r>
            <a:r>
              <a:rPr lang="en-US" dirty="0">
                <a:solidFill>
                  <a:srgbClr val="000000"/>
                </a:solidFill>
              </a:rPr>
              <a:t> during a period of time, typically one year.</a:t>
            </a:r>
            <a:endParaRPr lang="en-US" dirty="0"/>
          </a:p>
          <a:p>
            <a:pPr marL="0" indent="0">
              <a:spcBef>
                <a:spcPts val="1000"/>
              </a:spcBef>
              <a:buClr>
                <a:srgbClr val="0070C0"/>
              </a:buClr>
              <a:buSzPts val="2200"/>
              <a:buFont typeface="Arial" panose="020B0604020202020204" pitchFamily="34" charset="0"/>
              <a:buNone/>
            </a:pPr>
            <a:r>
              <a:rPr lang="en-US" dirty="0">
                <a:solidFill>
                  <a:srgbClr val="000000"/>
                </a:solidFill>
              </a:rPr>
              <a:t>GDP measures output produced within a country’s borders. The ownership of that production is irrelevant, e.g. production by a Canadian firm or a foreign firm counts equally, as long as the production takes place in Canada.</a:t>
            </a:r>
            <a:endParaRPr lang="en-US" dirty="0"/>
          </a:p>
          <a:p>
            <a:pPr marL="0" indent="0">
              <a:spcBef>
                <a:spcPts val="1000"/>
              </a:spcBef>
              <a:buClr>
                <a:srgbClr val="0070C0"/>
              </a:buClr>
              <a:buSzPts val="2200"/>
              <a:buFont typeface="Arial" panose="020B0604020202020204" pitchFamily="34" charset="0"/>
              <a:buNone/>
            </a:pPr>
            <a:r>
              <a:rPr lang="en-US" dirty="0">
                <a:solidFill>
                  <a:srgbClr val="000000"/>
                </a:solidFill>
              </a:rPr>
              <a:t>However, production overseas does not count, even if it is performed by a Canadian firm.</a:t>
            </a:r>
            <a:endParaRPr lang="en-US" dirty="0"/>
          </a:p>
        </p:txBody>
      </p:sp>
    </p:spTree>
    <p:extLst>
      <p:ext uri="{BB962C8B-B14F-4D97-AF65-F5344CB8AC3E}">
        <p14:creationId xmlns:p14="http://schemas.microsoft.com/office/powerpoint/2010/main" val="1053198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“During a Period of Time”</a:t>
            </a:r>
          </a:p>
        </p:txBody>
      </p:sp>
      <p:sp>
        <p:nvSpPr>
          <p:cNvPr id="3" name="Content Placeholder 2"/>
          <p:cNvSpPr>
            <a:spLocks noGrp="1"/>
          </p:cNvSpPr>
          <p:nvPr>
            <p:ph idx="1"/>
          </p:nvPr>
        </p:nvSpPr>
        <p:spPr/>
        <p:txBody>
          <a:bodyPr>
            <a:noAutofit/>
          </a:bodyPr>
          <a:lstStyle/>
          <a:p>
            <a:pPr marL="0" indent="0">
              <a:spcBef>
                <a:spcPts val="1000"/>
              </a:spcBef>
              <a:buNone/>
            </a:pPr>
            <a:r>
              <a:rPr lang="en-IN" sz="2400" b="1" dirty="0"/>
              <a:t>Gross domestic product</a:t>
            </a:r>
            <a:r>
              <a:rPr lang="en-IN" sz="2400" dirty="0"/>
              <a:t>: The market value of all final goods and services produced in a country </a:t>
            </a:r>
            <a:r>
              <a:rPr lang="en-IN" sz="2400" u="sng" dirty="0"/>
              <a:t>during a period of time</a:t>
            </a:r>
            <a:r>
              <a:rPr lang="en-IN" sz="2400" dirty="0"/>
              <a:t>, typically one year.</a:t>
            </a:r>
          </a:p>
          <a:p>
            <a:pPr marL="0" indent="0">
              <a:spcBef>
                <a:spcPts val="1000"/>
              </a:spcBef>
              <a:buNone/>
            </a:pPr>
            <a:r>
              <a:rPr lang="en-IN" sz="2400" dirty="0"/>
              <a:t>To measure total output in a given year, we measure the goods and services produced only in that given year.</a:t>
            </a:r>
          </a:p>
          <a:p>
            <a:pPr marL="273050" indent="-273050">
              <a:spcBef>
                <a:spcPts val="1000"/>
              </a:spcBef>
            </a:pPr>
            <a:r>
              <a:rPr lang="en-IN" sz="2400" dirty="0"/>
              <a:t>Again, this avoids double-counting: if you buy a textbook in 2022, that textbook counts in 2022’s GDP. If you resell it in 2023, it will not count again in 2023’s GDP.</a:t>
            </a:r>
          </a:p>
          <a:p>
            <a:pPr marL="273050" indent="-273050">
              <a:spcBef>
                <a:spcPts val="1000"/>
              </a:spcBef>
            </a:pPr>
            <a:r>
              <a:rPr lang="en-IN" sz="2400" dirty="0"/>
              <a:t>So GDP counts only </a:t>
            </a:r>
            <a:r>
              <a:rPr lang="en-IN" sz="2400" i="1" dirty="0"/>
              <a:t>new</a:t>
            </a:r>
            <a:r>
              <a:rPr lang="en-IN" sz="2400" dirty="0"/>
              <a:t> goods and services. </a:t>
            </a:r>
            <a:r>
              <a:rPr lang="en-IN" sz="2400" i="1" dirty="0"/>
              <a:t>Used</a:t>
            </a:r>
            <a:r>
              <a:rPr lang="en-IN" sz="2400" dirty="0"/>
              <a:t> items were previously produced and counted, so don’t need to be counted again.</a:t>
            </a:r>
            <a:endParaRPr lang="en-US" sz="2400" dirty="0"/>
          </a:p>
        </p:txBody>
      </p:sp>
    </p:spTree>
    <p:extLst>
      <p:ext uri="{BB962C8B-B14F-4D97-AF65-F5344CB8AC3E}">
        <p14:creationId xmlns:p14="http://schemas.microsoft.com/office/powerpoint/2010/main" val="1524317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Production and Income</a:t>
            </a:r>
            <a:endParaRPr lang="en-US" sz="3600" dirty="0">
              <a:latin typeface="+mj-lt"/>
            </a:endParaRPr>
          </a:p>
        </p:txBody>
      </p:sp>
      <p:sp>
        <p:nvSpPr>
          <p:cNvPr id="4" name="Content Placeholder 3"/>
          <p:cNvSpPr>
            <a:spLocks noGrp="1"/>
          </p:cNvSpPr>
          <p:nvPr>
            <p:ph idx="1"/>
          </p:nvPr>
        </p:nvSpPr>
        <p:spPr/>
        <p:txBody>
          <a:bodyPr>
            <a:noAutofit/>
          </a:bodyPr>
          <a:lstStyle/>
          <a:p>
            <a:pPr marL="0" indent="0">
              <a:spcBef>
                <a:spcPts val="1000"/>
              </a:spcBef>
              <a:buNone/>
            </a:pPr>
            <a:r>
              <a:rPr lang="en-IN" sz="2400" dirty="0"/>
              <a:t>There are two main conceptual ways to measure the total economic activity in an economy: total production or total income.</a:t>
            </a:r>
          </a:p>
          <a:p>
            <a:pPr marL="0" indent="0">
              <a:spcBef>
                <a:spcPts val="1000"/>
              </a:spcBef>
              <a:buNone/>
            </a:pPr>
            <a:r>
              <a:rPr lang="en-IN" sz="2400" dirty="0"/>
              <a:t>When we measure one, we are also measuring the other.</a:t>
            </a:r>
          </a:p>
          <a:p>
            <a:pPr>
              <a:spcBef>
                <a:spcPts val="1000"/>
              </a:spcBef>
            </a:pPr>
            <a:r>
              <a:rPr lang="en-IN" sz="2400" dirty="0"/>
              <a:t>Why? </a:t>
            </a:r>
          </a:p>
          <a:p>
            <a:pPr>
              <a:spcBef>
                <a:spcPts val="1000"/>
              </a:spcBef>
            </a:pPr>
            <a:r>
              <a:rPr lang="en-IN" sz="2400" dirty="0"/>
              <a:t>Everything that is produced and sold constitutes income for someone. </a:t>
            </a:r>
          </a:p>
          <a:p>
            <a:pPr>
              <a:spcBef>
                <a:spcPts val="1000"/>
              </a:spcBef>
            </a:pPr>
            <a:r>
              <a:rPr lang="en-IN" sz="2400" dirty="0"/>
              <a:t>We have the choice of measuring economic activity using the value of products produced and sold, or the value of incomes.</a:t>
            </a:r>
          </a:p>
        </p:txBody>
      </p:sp>
    </p:spTree>
    <p:extLst>
      <p:ext uri="{BB962C8B-B14F-4D97-AF65-F5344CB8AC3E}">
        <p14:creationId xmlns:p14="http://schemas.microsoft.com/office/powerpoint/2010/main" val="3918631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900"/>
            <a:ext cx="8229600" cy="1097280"/>
          </a:xfrm>
        </p:spPr>
        <p:txBody>
          <a:bodyPr/>
          <a:lstStyle/>
          <a:p>
            <a:r>
              <a:rPr lang="en-US" dirty="0">
                <a:latin typeface="+mj-lt"/>
              </a:rPr>
              <a:t>Figure 4.1 The Circular Flow and the Measurement of GDP</a:t>
            </a:r>
            <a:r>
              <a:rPr lang="en-US" sz="2000" dirty="0">
                <a:latin typeface="+mj-lt"/>
              </a:rPr>
              <a:t> </a:t>
            </a:r>
            <a:r>
              <a:rPr lang="en-US" sz="2000" b="0" dirty="0">
                <a:latin typeface="+mj-lt"/>
              </a:rPr>
              <a:t>(1 of 4)</a:t>
            </a:r>
            <a:endParaRPr lang="en-US" sz="2000" dirty="0">
              <a:latin typeface="+mj-lt"/>
            </a:endParaRPr>
          </a:p>
        </p:txBody>
      </p:sp>
      <p:sp>
        <p:nvSpPr>
          <p:cNvPr id="3" name="Content Placeholder 2"/>
          <p:cNvSpPr>
            <a:spLocks noGrp="1"/>
          </p:cNvSpPr>
          <p:nvPr>
            <p:ph sz="quarter" idx="13"/>
          </p:nvPr>
        </p:nvSpPr>
        <p:spPr>
          <a:xfrm>
            <a:off x="533400" y="1384300"/>
            <a:ext cx="3740697" cy="4555873"/>
          </a:xfrm>
        </p:spPr>
        <p:txBody>
          <a:bodyPr>
            <a:noAutofit/>
          </a:bodyPr>
          <a:lstStyle/>
          <a:p>
            <a:pPr marL="0" indent="0">
              <a:spcBef>
                <a:spcPts val="600"/>
              </a:spcBef>
              <a:buNone/>
            </a:pPr>
            <a:r>
              <a:rPr lang="en-IN" sz="2400" dirty="0"/>
              <a:t>In a very simple model of the economy, we could start with households and firms.</a:t>
            </a:r>
          </a:p>
          <a:p>
            <a:pPr marL="0" indent="0">
              <a:spcBef>
                <a:spcPts val="600"/>
              </a:spcBef>
              <a:buNone/>
            </a:pPr>
            <a:r>
              <a:rPr lang="en-IN" sz="2400" dirty="0"/>
              <a:t>To measure overall economic activity, we could measure the amount of money that households spend on goods and services.</a:t>
            </a:r>
          </a:p>
          <a:p>
            <a:pPr marL="0" indent="0">
              <a:spcBef>
                <a:spcPts val="600"/>
              </a:spcBef>
              <a:buNone/>
            </a:pPr>
            <a:r>
              <a:rPr lang="en-IN" sz="2400" dirty="0"/>
              <a:t>Or we could measure incomes of households.</a:t>
            </a:r>
          </a:p>
        </p:txBody>
      </p:sp>
      <p:pic>
        <p:nvPicPr>
          <p:cNvPr id="6" name="Picture Placeholder 5" descr="A flowchart. The terms households, and firms are labeled inside circular bubbles."/>
          <p:cNvPicPr>
            <a:picLocks noGrp="1" noChangeAspect="1"/>
          </p:cNvPicPr>
          <p:nvPr>
            <p:ph type="pic" sz="quarter" idx="15"/>
          </p:nvPr>
        </p:nvPicPr>
        <p:blipFill>
          <a:blip r:embed="rId3" cstate="print">
            <a:extLst>
              <a:ext uri="{28A0092B-C50C-407E-A947-70E740481C1C}">
                <a14:useLocalDpi xmlns:a14="http://schemas.microsoft.com/office/drawing/2010/main" val="0"/>
              </a:ext>
            </a:extLst>
          </a:blip>
          <a:stretch>
            <a:fillRect/>
          </a:stretch>
        </p:blipFill>
        <p:spPr>
          <a:xfrm>
            <a:off x="5334000" y="1380671"/>
            <a:ext cx="2438400" cy="4921144"/>
          </a:xfrm>
        </p:spPr>
      </p:pic>
    </p:spTree>
    <p:extLst>
      <p:ext uri="{BB962C8B-B14F-4D97-AF65-F5344CB8AC3E}">
        <p14:creationId xmlns:p14="http://schemas.microsoft.com/office/powerpoint/2010/main" val="3270782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E5CC246-BD53-C9F4-E9F7-5A95821EC175}"/>
              </a:ext>
            </a:extLst>
          </p:cNvPr>
          <p:cNvSpPr>
            <a:spLocks noGrp="1"/>
          </p:cNvSpPr>
          <p:nvPr>
            <p:ph type="title"/>
          </p:nvPr>
        </p:nvSpPr>
        <p:spPr>
          <a:xfrm>
            <a:off x="457200" y="88900"/>
            <a:ext cx="8229600" cy="1097280"/>
          </a:xfrm>
        </p:spPr>
        <p:txBody>
          <a:bodyPr/>
          <a:lstStyle/>
          <a:p>
            <a:r>
              <a:rPr lang="en-US" dirty="0">
                <a:latin typeface="+mj-lt"/>
              </a:rPr>
              <a:t>Figure 4.1 The Circular Flow and the Measurement of GDP</a:t>
            </a:r>
            <a:r>
              <a:rPr lang="en-US" sz="2000" dirty="0">
                <a:latin typeface="+mj-lt"/>
              </a:rPr>
              <a:t> </a:t>
            </a:r>
            <a:r>
              <a:rPr lang="en-US" sz="2000" b="0" dirty="0">
                <a:latin typeface="+mj-lt"/>
              </a:rPr>
              <a:t>(2 of 4)</a:t>
            </a:r>
            <a:endParaRPr lang="en-US" sz="2000" dirty="0">
              <a:latin typeface="+mj-lt"/>
            </a:endParaRPr>
          </a:p>
        </p:txBody>
      </p:sp>
      <p:sp>
        <p:nvSpPr>
          <p:cNvPr id="3" name="Content Placeholder 2"/>
          <p:cNvSpPr>
            <a:spLocks noGrp="1"/>
          </p:cNvSpPr>
          <p:nvPr>
            <p:ph idx="1"/>
          </p:nvPr>
        </p:nvSpPr>
        <p:spPr>
          <a:xfrm>
            <a:off x="457200" y="1372959"/>
            <a:ext cx="3962400" cy="4154984"/>
          </a:xfrm>
        </p:spPr>
        <p:txBody>
          <a:bodyPr>
            <a:noAutofit/>
          </a:bodyPr>
          <a:lstStyle/>
          <a:p>
            <a:pPr marL="0" indent="0">
              <a:spcBef>
                <a:spcPts val="0"/>
              </a:spcBef>
              <a:spcAft>
                <a:spcPts val="1200"/>
              </a:spcAft>
              <a:buNone/>
            </a:pPr>
            <a:r>
              <a:rPr lang="en-US" sz="2400" dirty="0"/>
              <a:t>Let’s add in some more layers. We’ll start with government.</a:t>
            </a:r>
          </a:p>
          <a:p>
            <a:pPr marL="0" indent="0">
              <a:spcBef>
                <a:spcPts val="0"/>
              </a:spcBef>
              <a:spcAft>
                <a:spcPts val="1200"/>
              </a:spcAft>
              <a:buNone/>
            </a:pPr>
            <a:r>
              <a:rPr lang="en-US" sz="2400" dirty="0"/>
              <a:t>How does the government affect economic activity?</a:t>
            </a:r>
          </a:p>
          <a:p>
            <a:pPr>
              <a:spcBef>
                <a:spcPts val="0"/>
              </a:spcBef>
              <a:spcAft>
                <a:spcPts val="1200"/>
              </a:spcAft>
            </a:pPr>
            <a:r>
              <a:rPr lang="en-US" sz="2400" dirty="0"/>
              <a:t>It takes in taxes from households and firms.</a:t>
            </a:r>
          </a:p>
          <a:p>
            <a:pPr>
              <a:spcBef>
                <a:spcPts val="0"/>
              </a:spcBef>
              <a:spcAft>
                <a:spcPts val="1200"/>
              </a:spcAft>
            </a:pPr>
            <a:r>
              <a:rPr lang="en-US" sz="2400" dirty="0"/>
              <a:t>It uses those taxes to buy goods and services, and to make </a:t>
            </a:r>
            <a:r>
              <a:rPr lang="en-US" sz="2400" b="1" dirty="0"/>
              <a:t>transfer payments.</a:t>
            </a:r>
            <a:endParaRPr lang="en-US" sz="2400" dirty="0"/>
          </a:p>
        </p:txBody>
      </p:sp>
      <p:pic>
        <p:nvPicPr>
          <p:cNvPr id="6" name="Picture Placeholder 5" descr="A flowchart. The terms households, government, and firms are labeled inside circular bubbles."/>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tretch>
            <a:fillRect/>
          </a:stretch>
        </p:blipFill>
        <p:spPr>
          <a:xfrm>
            <a:off x="5257800" y="1321823"/>
            <a:ext cx="2485883" cy="5016966"/>
          </a:xfrm>
        </p:spPr>
      </p:pic>
    </p:spTree>
    <p:extLst>
      <p:ext uri="{BB962C8B-B14F-4D97-AF65-F5344CB8AC3E}">
        <p14:creationId xmlns:p14="http://schemas.microsoft.com/office/powerpoint/2010/main" val="2875844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26BA9F7-A100-AD8F-1120-10168FFBA2EF}"/>
              </a:ext>
            </a:extLst>
          </p:cNvPr>
          <p:cNvSpPr>
            <a:spLocks noGrp="1"/>
          </p:cNvSpPr>
          <p:nvPr>
            <p:ph type="title"/>
          </p:nvPr>
        </p:nvSpPr>
        <p:spPr>
          <a:xfrm>
            <a:off x="457200" y="88900"/>
            <a:ext cx="8229600" cy="1097280"/>
          </a:xfrm>
        </p:spPr>
        <p:txBody>
          <a:bodyPr/>
          <a:lstStyle/>
          <a:p>
            <a:r>
              <a:rPr lang="en-US" dirty="0">
                <a:latin typeface="+mj-lt"/>
              </a:rPr>
              <a:t>Figure 4.1 The Circular Flow and the Measurement of GDP</a:t>
            </a:r>
            <a:r>
              <a:rPr lang="en-US" sz="2000" dirty="0">
                <a:latin typeface="+mj-lt"/>
              </a:rPr>
              <a:t> </a:t>
            </a:r>
            <a:r>
              <a:rPr lang="en-US" sz="2000" b="0" dirty="0">
                <a:latin typeface="+mj-lt"/>
              </a:rPr>
              <a:t>(3 of 4)</a:t>
            </a:r>
            <a:endParaRPr lang="en-US" sz="2000" dirty="0">
              <a:latin typeface="+mj-lt"/>
            </a:endParaRPr>
          </a:p>
        </p:txBody>
      </p:sp>
      <p:sp>
        <p:nvSpPr>
          <p:cNvPr id="3" name="Content Placeholder 2"/>
          <p:cNvSpPr>
            <a:spLocks noGrp="1"/>
          </p:cNvSpPr>
          <p:nvPr>
            <p:ph idx="1"/>
          </p:nvPr>
        </p:nvSpPr>
        <p:spPr>
          <a:xfrm>
            <a:off x="457200" y="1372958"/>
            <a:ext cx="3962400" cy="4723041"/>
          </a:xfrm>
        </p:spPr>
        <p:txBody>
          <a:bodyPr>
            <a:noAutofit/>
          </a:bodyPr>
          <a:lstStyle/>
          <a:p>
            <a:pPr marL="0" indent="0">
              <a:spcBef>
                <a:spcPts val="1000"/>
              </a:spcBef>
              <a:buNone/>
            </a:pPr>
            <a:r>
              <a:rPr lang="en-US" sz="2400" dirty="0"/>
              <a:t>Some economic activity takes place between households, firms, and the rest of the world.</a:t>
            </a:r>
          </a:p>
          <a:p>
            <a:pPr>
              <a:spcBef>
                <a:spcPts val="1000"/>
              </a:spcBef>
            </a:pPr>
            <a:r>
              <a:rPr lang="en-US" sz="2400" dirty="0"/>
              <a:t>Households buy goods and services from firms in other countries; these are known as </a:t>
            </a:r>
            <a:r>
              <a:rPr lang="en-US" sz="2400" i="1" dirty="0"/>
              <a:t>imports</a:t>
            </a:r>
            <a:r>
              <a:rPr lang="en-US" sz="2400" dirty="0"/>
              <a:t>.</a:t>
            </a:r>
          </a:p>
          <a:p>
            <a:pPr>
              <a:spcBef>
                <a:spcPts val="1000"/>
              </a:spcBef>
            </a:pPr>
            <a:r>
              <a:rPr lang="en-US" sz="2400" dirty="0"/>
              <a:t>Firms sell goods and services to households in other countries; these are known as </a:t>
            </a:r>
            <a:r>
              <a:rPr lang="en-US" sz="2400" i="1" dirty="0"/>
              <a:t>exports</a:t>
            </a:r>
            <a:r>
              <a:rPr lang="en-US" sz="2400" dirty="0"/>
              <a:t>.</a:t>
            </a:r>
          </a:p>
        </p:txBody>
      </p:sp>
      <p:pic>
        <p:nvPicPr>
          <p:cNvPr id="5" name="Picture Placeholder 4" descr="A flowchart. The terms households, government, firms, and rest of the world are labeled inside circular bubbles."/>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tretch>
            <a:fillRect/>
          </a:stretch>
        </p:blipFill>
        <p:spPr>
          <a:xfrm>
            <a:off x="4737494" y="1186180"/>
            <a:ext cx="3568306" cy="5077974"/>
          </a:xfrm>
        </p:spPr>
      </p:pic>
    </p:spTree>
    <p:extLst>
      <p:ext uri="{BB962C8B-B14F-4D97-AF65-F5344CB8AC3E}">
        <p14:creationId xmlns:p14="http://schemas.microsoft.com/office/powerpoint/2010/main" val="919139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87DFC84-3E39-6EA8-CE42-A2E24F22D08B}"/>
              </a:ext>
            </a:extLst>
          </p:cNvPr>
          <p:cNvSpPr>
            <a:spLocks noGrp="1"/>
          </p:cNvSpPr>
          <p:nvPr>
            <p:ph type="title"/>
          </p:nvPr>
        </p:nvSpPr>
        <p:spPr>
          <a:xfrm>
            <a:off x="457200" y="88900"/>
            <a:ext cx="8229600" cy="1097280"/>
          </a:xfrm>
        </p:spPr>
        <p:txBody>
          <a:bodyPr/>
          <a:lstStyle/>
          <a:p>
            <a:r>
              <a:rPr lang="en-US" dirty="0">
                <a:latin typeface="+mj-lt"/>
              </a:rPr>
              <a:t>Figure 4.1 The Circular Flow and the Measurement of GDP</a:t>
            </a:r>
            <a:r>
              <a:rPr lang="en-US" sz="2000" dirty="0">
                <a:latin typeface="+mj-lt"/>
              </a:rPr>
              <a:t> </a:t>
            </a:r>
            <a:r>
              <a:rPr lang="en-US" sz="2000" b="0" dirty="0">
                <a:latin typeface="+mj-lt"/>
              </a:rPr>
              <a:t>(4 of 4)</a:t>
            </a:r>
            <a:endParaRPr lang="en-US" sz="2000" dirty="0">
              <a:latin typeface="+mj-lt"/>
            </a:endParaRPr>
          </a:p>
        </p:txBody>
      </p:sp>
      <p:sp>
        <p:nvSpPr>
          <p:cNvPr id="3" name="Content Placeholder 2"/>
          <p:cNvSpPr>
            <a:spLocks noGrp="1"/>
          </p:cNvSpPr>
          <p:nvPr>
            <p:ph sz="quarter" idx="13"/>
          </p:nvPr>
        </p:nvSpPr>
        <p:spPr>
          <a:xfrm>
            <a:off x="457200" y="1384300"/>
            <a:ext cx="3892584" cy="4693920"/>
          </a:xfrm>
        </p:spPr>
        <p:txBody>
          <a:bodyPr/>
          <a:lstStyle/>
          <a:p>
            <a:pPr marL="0" indent="0">
              <a:spcBef>
                <a:spcPts val="0"/>
              </a:spcBef>
              <a:spcAft>
                <a:spcPts val="1200"/>
              </a:spcAft>
              <a:buNone/>
            </a:pPr>
            <a:r>
              <a:rPr lang="en-US" sz="2400" dirty="0"/>
              <a:t>Finally, there are firms that deal specifically in flows of money; we label these firms as financial system.</a:t>
            </a:r>
          </a:p>
          <a:p>
            <a:pPr>
              <a:spcBef>
                <a:spcPts val="0"/>
              </a:spcBef>
              <a:spcAft>
                <a:spcPts val="1200"/>
              </a:spcAft>
            </a:pPr>
            <a:r>
              <a:rPr lang="en-US" sz="2400" dirty="0"/>
              <a:t>Households choose not to spend some of their income, and instead save it with financial system firms like banks.</a:t>
            </a:r>
          </a:p>
          <a:p>
            <a:pPr>
              <a:spcBef>
                <a:spcPts val="0"/>
              </a:spcBef>
              <a:spcAft>
                <a:spcPts val="1200"/>
              </a:spcAft>
            </a:pPr>
            <a:r>
              <a:rPr lang="en-US" sz="2400" dirty="0"/>
              <a:t>These financial system firms lend money to other firms and the government.</a:t>
            </a:r>
          </a:p>
        </p:txBody>
      </p:sp>
      <p:pic>
        <p:nvPicPr>
          <p:cNvPr id="5" name="Picture 4" descr="A figure shows a circular flow diagram depicting the flow of spending and money in economy.">
            <a:extLst>
              <a:ext uri="{FF2B5EF4-FFF2-40B4-BE49-F238E27FC236}">
                <a16:creationId xmlns:a16="http://schemas.microsoft.com/office/drawing/2014/main" id="{5A02D25F-8674-F8BD-46D9-1C7C9E9C4B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384300"/>
            <a:ext cx="4114800" cy="4751614"/>
          </a:xfrm>
          <a:prstGeom prst="rect">
            <a:avLst/>
          </a:prstGeom>
        </p:spPr>
      </p:pic>
    </p:spTree>
    <p:extLst>
      <p:ext uri="{BB962C8B-B14F-4D97-AF65-F5344CB8AC3E}">
        <p14:creationId xmlns:p14="http://schemas.microsoft.com/office/powerpoint/2010/main" val="4201759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latin typeface="+mj-lt"/>
              </a:rPr>
              <a:t>Income Approach to Measuring GDP</a:t>
            </a:r>
            <a:endParaRPr lang="en-US" dirty="0">
              <a:latin typeface="+mj-lt"/>
            </a:endParaRPr>
          </a:p>
        </p:txBody>
      </p:sp>
      <p:sp>
        <p:nvSpPr>
          <p:cNvPr id="3" name="Content Placeholder 2"/>
          <p:cNvSpPr>
            <a:spLocks noGrp="1"/>
          </p:cNvSpPr>
          <p:nvPr>
            <p:ph idx="1"/>
          </p:nvPr>
        </p:nvSpPr>
        <p:spPr/>
        <p:txBody>
          <a:bodyPr>
            <a:normAutofit lnSpcReduction="10000"/>
          </a:bodyPr>
          <a:lstStyle/>
          <a:p>
            <a:pPr marL="0" indent="0">
              <a:spcBef>
                <a:spcPts val="0"/>
              </a:spcBef>
              <a:spcAft>
                <a:spcPts val="1200"/>
              </a:spcAft>
              <a:buNone/>
            </a:pPr>
            <a:r>
              <a:rPr lang="en-US" sz="2400" dirty="0"/>
              <a:t>To measure GDP Statistics Canada keeps track of incomes. </a:t>
            </a:r>
          </a:p>
          <a:p>
            <a:pPr marL="0" indent="0">
              <a:spcBef>
                <a:spcPts val="0"/>
              </a:spcBef>
              <a:spcAft>
                <a:spcPts val="1200"/>
              </a:spcAft>
              <a:buNone/>
            </a:pPr>
            <a:r>
              <a:rPr lang="en-US" sz="2400" dirty="0"/>
              <a:t>The Income Approach has 5 Components</a:t>
            </a:r>
          </a:p>
          <a:p>
            <a:pPr>
              <a:spcBef>
                <a:spcPts val="0"/>
              </a:spcBef>
              <a:spcAft>
                <a:spcPts val="1200"/>
              </a:spcAft>
            </a:pPr>
            <a:r>
              <a:rPr lang="en-US" sz="2400" dirty="0"/>
              <a:t>Compensation of Employees</a:t>
            </a:r>
            <a:endParaRPr lang="en-US" sz="2400" i="1" dirty="0"/>
          </a:p>
          <a:p>
            <a:pPr>
              <a:spcBef>
                <a:spcPts val="0"/>
              </a:spcBef>
              <a:spcAft>
                <a:spcPts val="1200"/>
              </a:spcAft>
            </a:pPr>
            <a:r>
              <a:rPr lang="en-US" sz="2400" dirty="0"/>
              <a:t>Gross Operating Surplus</a:t>
            </a:r>
            <a:endParaRPr lang="en-US" sz="2400" i="1" dirty="0"/>
          </a:p>
          <a:p>
            <a:pPr>
              <a:spcBef>
                <a:spcPts val="0"/>
              </a:spcBef>
              <a:spcAft>
                <a:spcPts val="1200"/>
              </a:spcAft>
            </a:pPr>
            <a:r>
              <a:rPr lang="en-US" sz="2400" dirty="0"/>
              <a:t>Gross Mixed Income</a:t>
            </a:r>
          </a:p>
          <a:p>
            <a:pPr>
              <a:spcBef>
                <a:spcPts val="0"/>
              </a:spcBef>
              <a:spcAft>
                <a:spcPts val="1200"/>
              </a:spcAft>
            </a:pPr>
            <a:r>
              <a:rPr lang="en-US" sz="2400" dirty="0"/>
              <a:t>Taxes less Subsidies</a:t>
            </a:r>
          </a:p>
          <a:p>
            <a:pPr>
              <a:spcBef>
                <a:spcPts val="0"/>
              </a:spcBef>
              <a:spcAft>
                <a:spcPts val="1200"/>
              </a:spcAft>
            </a:pPr>
            <a:r>
              <a:rPr lang="en-US" sz="2400" dirty="0"/>
              <a:t>Statistical Discrepancy</a:t>
            </a:r>
          </a:p>
          <a:p>
            <a:pPr marL="0" indent="0">
              <a:spcBef>
                <a:spcPts val="0"/>
              </a:spcBef>
              <a:spcAft>
                <a:spcPts val="1200"/>
              </a:spcAft>
              <a:buNone/>
            </a:pPr>
            <a:r>
              <a:rPr lang="en-US" sz="2400" dirty="0"/>
              <a:t>We will examine each component of the Income Approach to measuring GDP in turn.</a:t>
            </a:r>
          </a:p>
          <a:p>
            <a:pPr>
              <a:spcBef>
                <a:spcPts val="0"/>
              </a:spcBef>
              <a:spcAft>
                <a:spcPts val="1200"/>
              </a:spcAft>
            </a:pPr>
            <a:endParaRPr lang="en-US" sz="2400" dirty="0"/>
          </a:p>
        </p:txBody>
      </p:sp>
    </p:spTree>
    <p:extLst>
      <p:ext uri="{BB962C8B-B14F-4D97-AF65-F5344CB8AC3E}">
        <p14:creationId xmlns:p14="http://schemas.microsoft.com/office/powerpoint/2010/main" val="4220932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D4C4-00C0-0558-6F46-14D145D68CD6}"/>
              </a:ext>
            </a:extLst>
          </p:cNvPr>
          <p:cNvSpPr>
            <a:spLocks noGrp="1"/>
          </p:cNvSpPr>
          <p:nvPr>
            <p:ph type="title"/>
          </p:nvPr>
        </p:nvSpPr>
        <p:spPr/>
        <p:txBody>
          <a:bodyPr/>
          <a:lstStyle/>
          <a:p>
            <a:r>
              <a:rPr lang="en-US" dirty="0"/>
              <a:t>Compensation of Employees</a:t>
            </a:r>
            <a:endParaRPr lang="en-IN" dirty="0"/>
          </a:p>
        </p:txBody>
      </p:sp>
      <p:sp>
        <p:nvSpPr>
          <p:cNvPr id="3" name="Content Placeholder 2">
            <a:extLst>
              <a:ext uri="{FF2B5EF4-FFF2-40B4-BE49-F238E27FC236}">
                <a16:creationId xmlns:a16="http://schemas.microsoft.com/office/drawing/2014/main" id="{63F6703F-09FD-002B-5FAE-D580D50C73E3}"/>
              </a:ext>
            </a:extLst>
          </p:cNvPr>
          <p:cNvSpPr>
            <a:spLocks noGrp="1"/>
          </p:cNvSpPr>
          <p:nvPr>
            <p:ph idx="1"/>
          </p:nvPr>
        </p:nvSpPr>
        <p:spPr/>
        <p:txBody>
          <a:bodyPr/>
          <a:lstStyle/>
          <a:p>
            <a:pPr marL="0" indent="0">
              <a:buNone/>
            </a:pPr>
            <a:r>
              <a:rPr lang="en-IN" sz="2400" b="1" dirty="0"/>
              <a:t>Compensation of Employees</a:t>
            </a:r>
            <a:r>
              <a:rPr lang="en-IN" sz="2400" dirty="0"/>
              <a:t> covers all the benefits workers receive from providing their labour to firms.</a:t>
            </a:r>
          </a:p>
          <a:p>
            <a:pPr marL="0" indent="0">
              <a:spcBef>
                <a:spcPts val="1000"/>
              </a:spcBef>
              <a:buNone/>
            </a:pPr>
            <a:r>
              <a:rPr lang="en-IN" sz="2400" dirty="0"/>
              <a:t>This makes up the single largest element of GDP in the income approach at 50 percent of GDP.</a:t>
            </a:r>
          </a:p>
          <a:p>
            <a:pPr marL="0" indent="0">
              <a:spcBef>
                <a:spcPts val="1000"/>
              </a:spcBef>
              <a:buNone/>
            </a:pPr>
            <a:r>
              <a:rPr lang="en-IN" sz="2400" dirty="0"/>
              <a:t>There are two components to compensation of employees</a:t>
            </a:r>
          </a:p>
          <a:p>
            <a:pPr marL="273050" indent="-273050">
              <a:spcBef>
                <a:spcPts val="1000"/>
              </a:spcBef>
            </a:pPr>
            <a:r>
              <a:rPr lang="en-IN" sz="2400" i="1" dirty="0"/>
              <a:t>Wages and Salaries</a:t>
            </a:r>
            <a:r>
              <a:rPr lang="en-IN" sz="2400" dirty="0"/>
              <a:t>: money paid to workers.</a:t>
            </a:r>
          </a:p>
          <a:p>
            <a:pPr marL="759968" lvl="1" indent="-273050">
              <a:spcBef>
                <a:spcPts val="1000"/>
              </a:spcBef>
            </a:pPr>
            <a:r>
              <a:rPr lang="en-IN" sz="2200" i="1" dirty="0"/>
              <a:t>44% of GDP in 2021</a:t>
            </a:r>
            <a:endParaRPr lang="en-IN" sz="2200" dirty="0"/>
          </a:p>
          <a:p>
            <a:pPr marL="273050" indent="-273050">
              <a:spcBef>
                <a:spcPts val="1000"/>
              </a:spcBef>
            </a:pPr>
            <a:r>
              <a:rPr lang="en-IN" sz="2400" i="1" dirty="0"/>
              <a:t>Employers’ Social Contributions</a:t>
            </a:r>
            <a:r>
              <a:rPr lang="en-IN" sz="2400" dirty="0"/>
              <a:t>: payments made by employers to social programs on behalf of employees.</a:t>
            </a:r>
          </a:p>
          <a:p>
            <a:pPr marL="759968" lvl="1" indent="-273050">
              <a:spcBef>
                <a:spcPts val="1000"/>
              </a:spcBef>
            </a:pPr>
            <a:r>
              <a:rPr lang="en-IN" sz="2200" i="1" dirty="0"/>
              <a:t>7% of GDP in 2021</a:t>
            </a:r>
            <a:endParaRPr lang="en-IN" sz="2200" dirty="0"/>
          </a:p>
        </p:txBody>
      </p:sp>
    </p:spTree>
    <p:extLst>
      <p:ext uri="{BB962C8B-B14F-4D97-AF65-F5344CB8AC3E}">
        <p14:creationId xmlns:p14="http://schemas.microsoft.com/office/powerpoint/2010/main" val="330162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DB6044-BB89-A48E-8243-A955E2BB2840}"/>
              </a:ext>
            </a:extLst>
          </p:cNvPr>
          <p:cNvSpPr>
            <a:spLocks noGrp="1"/>
          </p:cNvSpPr>
          <p:nvPr>
            <p:ph type="title"/>
          </p:nvPr>
        </p:nvSpPr>
        <p:spPr/>
        <p:txBody>
          <a:bodyPr/>
          <a:lstStyle/>
          <a:p>
            <a:r>
              <a:rPr lang="en-US" dirty="0">
                <a:latin typeface="+mj-lt"/>
              </a:rPr>
              <a:t>Gross Operating Surplus</a:t>
            </a:r>
            <a:endParaRPr lang="en-IN" dirty="0"/>
          </a:p>
        </p:txBody>
      </p:sp>
      <p:sp>
        <p:nvSpPr>
          <p:cNvPr id="6" name="Content Placeholder 5">
            <a:extLst>
              <a:ext uri="{FF2B5EF4-FFF2-40B4-BE49-F238E27FC236}">
                <a16:creationId xmlns:a16="http://schemas.microsoft.com/office/drawing/2014/main" id="{741DA66F-BC4E-A44D-025A-398B6911CCA5}"/>
              </a:ext>
            </a:extLst>
          </p:cNvPr>
          <p:cNvSpPr>
            <a:spLocks noGrp="1"/>
          </p:cNvSpPr>
          <p:nvPr>
            <p:ph idx="1"/>
          </p:nvPr>
        </p:nvSpPr>
        <p:spPr>
          <a:xfrm>
            <a:off x="457200" y="1600200"/>
            <a:ext cx="8458200" cy="4525963"/>
          </a:xfrm>
        </p:spPr>
        <p:txBody>
          <a:bodyPr/>
          <a:lstStyle/>
          <a:p>
            <a:pPr marL="0" indent="0">
              <a:spcBef>
                <a:spcPts val="1000"/>
              </a:spcBef>
              <a:buNone/>
            </a:pPr>
            <a:r>
              <a:rPr lang="en-US" sz="2400" b="1" dirty="0"/>
              <a:t>Gross Operating Surplus</a:t>
            </a:r>
            <a:r>
              <a:rPr lang="en-US" sz="2400" dirty="0"/>
              <a:t> covers payments to owners of the capital used by firms and government. </a:t>
            </a:r>
          </a:p>
          <a:p>
            <a:pPr marL="0" indent="0">
              <a:spcBef>
                <a:spcPts val="1000"/>
              </a:spcBef>
              <a:buNone/>
            </a:pPr>
            <a:r>
              <a:rPr lang="en-US" sz="2400" dirty="0"/>
              <a:t>Gross Operating Surplus accounted for 27.7% of GDP in 2021</a:t>
            </a:r>
          </a:p>
          <a:p>
            <a:pPr marL="0" indent="0">
              <a:spcBef>
                <a:spcPts val="1000"/>
              </a:spcBef>
              <a:buNone/>
            </a:pPr>
            <a:r>
              <a:rPr lang="en-US" sz="2400" dirty="0"/>
              <a:t>Two elements to Gross Operating Surplus</a:t>
            </a:r>
          </a:p>
          <a:p>
            <a:pPr>
              <a:spcBef>
                <a:spcPts val="1000"/>
              </a:spcBef>
            </a:pPr>
            <a:r>
              <a:rPr lang="en-US" sz="2400" b="1" dirty="0"/>
              <a:t>Net Operating Surplus: </a:t>
            </a:r>
            <a:r>
              <a:rPr lang="en-US" sz="2400" dirty="0"/>
              <a:t>payments to owners of capital over and above compensation for capital that wore out.</a:t>
            </a:r>
          </a:p>
          <a:p>
            <a:pPr lvl="1">
              <a:spcBef>
                <a:spcPts val="1000"/>
              </a:spcBef>
            </a:pPr>
            <a:r>
              <a:rPr lang="en-US" sz="2200" i="1" dirty="0"/>
              <a:t>14.2% of GDP in 2021</a:t>
            </a:r>
            <a:r>
              <a:rPr lang="en-US" sz="2200" dirty="0"/>
              <a:t> </a:t>
            </a:r>
          </a:p>
          <a:p>
            <a:pPr>
              <a:spcBef>
                <a:spcPts val="1000"/>
              </a:spcBef>
            </a:pPr>
            <a:r>
              <a:rPr lang="en-US" sz="2400" b="1" dirty="0"/>
              <a:t>Capital Consumption: </a:t>
            </a:r>
            <a:r>
              <a:rPr lang="en-US" sz="2400" dirty="0"/>
              <a:t>payments to the owners for capital that wore out.</a:t>
            </a:r>
          </a:p>
          <a:p>
            <a:pPr lvl="1">
              <a:spcBef>
                <a:spcPts val="1000"/>
              </a:spcBef>
            </a:pPr>
            <a:r>
              <a:rPr lang="en-US" sz="2200" i="1" dirty="0"/>
              <a:t>13.4% of GDP in 2021</a:t>
            </a:r>
            <a:endParaRPr lang="en-US" sz="2200" dirty="0"/>
          </a:p>
        </p:txBody>
      </p:sp>
    </p:spTree>
    <p:extLst>
      <p:ext uri="{BB962C8B-B14F-4D97-AF65-F5344CB8AC3E}">
        <p14:creationId xmlns:p14="http://schemas.microsoft.com/office/powerpoint/2010/main" val="1645531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Gross Mixed Income</a:t>
            </a:r>
          </a:p>
        </p:txBody>
      </p:sp>
      <p:sp>
        <p:nvSpPr>
          <p:cNvPr id="3" name="Content Placeholder 2"/>
          <p:cNvSpPr>
            <a:spLocks noGrp="1"/>
          </p:cNvSpPr>
          <p:nvPr>
            <p:ph idx="1"/>
          </p:nvPr>
        </p:nvSpPr>
        <p:spPr>
          <a:xfrm>
            <a:off x="457200" y="1600200"/>
            <a:ext cx="8229600" cy="4724400"/>
          </a:xfrm>
        </p:spPr>
        <p:txBody>
          <a:bodyPr>
            <a:noAutofit/>
          </a:bodyPr>
          <a:lstStyle/>
          <a:p>
            <a:pPr marL="0" indent="0">
              <a:spcBef>
                <a:spcPts val="1000"/>
              </a:spcBef>
              <a:buNone/>
            </a:pPr>
            <a:r>
              <a:rPr lang="en-US" sz="2400" b="1" dirty="0"/>
              <a:t>Gross Mixed Income:</a:t>
            </a:r>
            <a:r>
              <a:rPr lang="en-US" sz="2400" dirty="0"/>
              <a:t> covers income generated by small businesses for their owners.</a:t>
            </a:r>
          </a:p>
          <a:p>
            <a:pPr marL="0" indent="0">
              <a:spcBef>
                <a:spcPts val="1000"/>
              </a:spcBef>
              <a:buNone/>
            </a:pPr>
            <a:r>
              <a:rPr lang="en-US" sz="2400" dirty="0"/>
              <a:t>Gross mixed income accounted for 11.9% of GDP.</a:t>
            </a:r>
          </a:p>
          <a:p>
            <a:pPr marL="0" indent="0">
              <a:spcBef>
                <a:spcPts val="1000"/>
              </a:spcBef>
              <a:buNone/>
            </a:pPr>
            <a:r>
              <a:rPr lang="en-US" sz="2400" dirty="0"/>
              <a:t>Statistics Canada breaks gross mixed income down into</a:t>
            </a:r>
          </a:p>
          <a:p>
            <a:pPr>
              <a:spcBef>
                <a:spcPts val="1000"/>
              </a:spcBef>
            </a:pPr>
            <a:r>
              <a:rPr lang="en-US" sz="2400" b="1" dirty="0"/>
              <a:t>Consumption of Fixed Capital: </a:t>
            </a:r>
            <a:r>
              <a:rPr lang="en-US" sz="2400" dirty="0"/>
              <a:t>the depreciation of the capital used by small businesses.</a:t>
            </a:r>
          </a:p>
          <a:p>
            <a:pPr lvl="1">
              <a:spcBef>
                <a:spcPts val="1000"/>
              </a:spcBef>
            </a:pPr>
            <a:r>
              <a:rPr lang="en-US" sz="2200" i="1" dirty="0"/>
              <a:t>3.1% of GDP</a:t>
            </a:r>
            <a:endParaRPr lang="en-US" sz="2200" dirty="0"/>
          </a:p>
          <a:p>
            <a:pPr>
              <a:spcBef>
                <a:spcPts val="1000"/>
              </a:spcBef>
            </a:pPr>
            <a:r>
              <a:rPr lang="en-US" sz="2400" b="1" dirty="0"/>
              <a:t>Net Mixed Income: </a:t>
            </a:r>
            <a:r>
              <a:rPr lang="en-US" sz="2400" dirty="0"/>
              <a:t>the payment to owners of small businesses over and above the compensation for depreciation of capital owned by the business.</a:t>
            </a:r>
          </a:p>
          <a:p>
            <a:pPr lvl="1">
              <a:spcBef>
                <a:spcPts val="1000"/>
              </a:spcBef>
            </a:pPr>
            <a:r>
              <a:rPr lang="en-US" sz="2200" i="1" dirty="0"/>
              <a:t>8.7% of GDP</a:t>
            </a:r>
            <a:endParaRPr lang="en-US" sz="2200" dirty="0"/>
          </a:p>
        </p:txBody>
      </p:sp>
    </p:spTree>
    <p:extLst>
      <p:ext uri="{BB962C8B-B14F-4D97-AF65-F5344CB8AC3E}">
        <p14:creationId xmlns:p14="http://schemas.microsoft.com/office/powerpoint/2010/main" val="2761127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Taxes Less Subsidies</a:t>
            </a:r>
          </a:p>
        </p:txBody>
      </p:sp>
      <p:sp>
        <p:nvSpPr>
          <p:cNvPr id="3" name="Content Placeholder 2"/>
          <p:cNvSpPr>
            <a:spLocks noGrp="1"/>
          </p:cNvSpPr>
          <p:nvPr>
            <p:ph idx="1"/>
          </p:nvPr>
        </p:nvSpPr>
        <p:spPr/>
        <p:txBody>
          <a:bodyPr>
            <a:noAutofit/>
          </a:bodyPr>
          <a:lstStyle/>
          <a:p>
            <a:pPr marL="0" indent="0">
              <a:spcBef>
                <a:spcPts val="1000"/>
              </a:spcBef>
              <a:buNone/>
            </a:pPr>
            <a:r>
              <a:rPr lang="en-US" b="1" dirty="0"/>
              <a:t>Taxes Less Subsidies: </a:t>
            </a:r>
            <a:r>
              <a:rPr lang="en-US" dirty="0"/>
              <a:t>payment to government that mimics income received by the owners of other inputs.</a:t>
            </a:r>
          </a:p>
          <a:p>
            <a:pPr>
              <a:spcBef>
                <a:spcPts val="1000"/>
              </a:spcBef>
              <a:buNone/>
            </a:pPr>
            <a:r>
              <a:rPr lang="en-US" dirty="0"/>
              <a:t>Taxes Less Subsidies accounted for 9.4% of GDP</a:t>
            </a:r>
          </a:p>
        </p:txBody>
      </p:sp>
    </p:spTree>
    <p:extLst>
      <p:ext uri="{BB962C8B-B14F-4D97-AF65-F5344CB8AC3E}">
        <p14:creationId xmlns:p14="http://schemas.microsoft.com/office/powerpoint/2010/main" val="3384343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Expenditure Approach to Measuring GDP</a:t>
            </a:r>
          </a:p>
        </p:txBody>
      </p:sp>
      <p:sp>
        <p:nvSpPr>
          <p:cNvPr id="3" name="Content Placeholder 2"/>
          <p:cNvSpPr>
            <a:spLocks noGrp="1"/>
          </p:cNvSpPr>
          <p:nvPr>
            <p:ph idx="1"/>
          </p:nvPr>
        </p:nvSpPr>
        <p:spPr/>
        <p:txBody>
          <a:bodyPr/>
          <a:lstStyle/>
          <a:p>
            <a:pPr marL="0" indent="0">
              <a:spcBef>
                <a:spcPts val="1000"/>
              </a:spcBef>
              <a:buNone/>
            </a:pPr>
            <a:r>
              <a:rPr lang="en-US" sz="2400" dirty="0"/>
              <a:t>To measure GDP Statistics Canada keeps track of spending. </a:t>
            </a:r>
          </a:p>
          <a:p>
            <a:pPr marL="0" indent="0">
              <a:spcBef>
                <a:spcPts val="1000"/>
              </a:spcBef>
              <a:buNone/>
            </a:pPr>
            <a:r>
              <a:rPr lang="en-US" sz="2400" dirty="0"/>
              <a:t>The Expenditure Approach has 5 Components</a:t>
            </a:r>
          </a:p>
          <a:p>
            <a:pPr>
              <a:spcBef>
                <a:spcPts val="1000"/>
              </a:spcBef>
            </a:pPr>
            <a:r>
              <a:rPr lang="en-US" sz="2400" dirty="0"/>
              <a:t>Final Consumption</a:t>
            </a:r>
          </a:p>
          <a:p>
            <a:pPr>
              <a:spcBef>
                <a:spcPts val="1000"/>
              </a:spcBef>
            </a:pPr>
            <a:r>
              <a:rPr lang="en-US" sz="2400" dirty="0"/>
              <a:t>Gross Fixed Capital Formation</a:t>
            </a:r>
          </a:p>
          <a:p>
            <a:pPr>
              <a:spcBef>
                <a:spcPts val="1000"/>
              </a:spcBef>
            </a:pPr>
            <a:r>
              <a:rPr lang="en-US" sz="2400" dirty="0"/>
              <a:t>Investment in Inventories</a:t>
            </a:r>
          </a:p>
          <a:p>
            <a:pPr>
              <a:spcBef>
                <a:spcPts val="1000"/>
              </a:spcBef>
            </a:pPr>
            <a:r>
              <a:rPr lang="en-US" sz="2400" dirty="0"/>
              <a:t>Net Exports of Goods and Services</a:t>
            </a:r>
          </a:p>
          <a:p>
            <a:pPr>
              <a:spcBef>
                <a:spcPts val="1000"/>
              </a:spcBef>
            </a:pPr>
            <a:r>
              <a:rPr lang="en-US" sz="2400" dirty="0"/>
              <a:t>Statistical Discrepancy</a:t>
            </a:r>
          </a:p>
          <a:p>
            <a:pPr marL="0" indent="0">
              <a:spcBef>
                <a:spcPts val="1000"/>
              </a:spcBef>
              <a:buNone/>
            </a:pPr>
            <a:r>
              <a:rPr lang="en-US" sz="2400" dirty="0"/>
              <a:t>We will examine each component of the Expenditure Approach to measuring GDP in turn.</a:t>
            </a:r>
            <a:endParaRPr lang="en-IN" sz="2400" dirty="0"/>
          </a:p>
        </p:txBody>
      </p:sp>
    </p:spTree>
    <p:extLst>
      <p:ext uri="{BB962C8B-B14F-4D97-AF65-F5344CB8AC3E}">
        <p14:creationId xmlns:p14="http://schemas.microsoft.com/office/powerpoint/2010/main" val="2434436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26D7E1-C52F-D91A-3B80-E0CC68ED1D94}"/>
              </a:ext>
            </a:extLst>
          </p:cNvPr>
          <p:cNvSpPr>
            <a:spLocks noGrp="1"/>
          </p:cNvSpPr>
          <p:nvPr>
            <p:ph type="title"/>
          </p:nvPr>
        </p:nvSpPr>
        <p:spPr/>
        <p:txBody>
          <a:bodyPr/>
          <a:lstStyle/>
          <a:p>
            <a:r>
              <a:rPr lang="en-US" dirty="0">
                <a:latin typeface="+mj-lt"/>
              </a:rPr>
              <a:t>Final Consumption</a:t>
            </a:r>
            <a:endParaRPr lang="en-IN" dirty="0"/>
          </a:p>
        </p:txBody>
      </p:sp>
      <p:sp>
        <p:nvSpPr>
          <p:cNvPr id="6" name="Content Placeholder 5">
            <a:extLst>
              <a:ext uri="{FF2B5EF4-FFF2-40B4-BE49-F238E27FC236}">
                <a16:creationId xmlns:a16="http://schemas.microsoft.com/office/drawing/2014/main" id="{B02111FA-AF24-2580-0ACC-7A26F9038A8A}"/>
              </a:ext>
            </a:extLst>
          </p:cNvPr>
          <p:cNvSpPr>
            <a:spLocks noGrp="1"/>
          </p:cNvSpPr>
          <p:nvPr>
            <p:ph idx="1"/>
          </p:nvPr>
        </p:nvSpPr>
        <p:spPr>
          <a:xfrm>
            <a:off x="457200" y="1600200"/>
            <a:ext cx="8229600" cy="4648200"/>
          </a:xfrm>
        </p:spPr>
        <p:txBody>
          <a:bodyPr/>
          <a:lstStyle/>
          <a:p>
            <a:pPr marL="0" indent="0">
              <a:spcBef>
                <a:spcPts val="1000"/>
              </a:spcBef>
              <a:buNone/>
            </a:pPr>
            <a:r>
              <a:rPr lang="en-US" sz="2400" b="1" dirty="0"/>
              <a:t>Final Consumption:</a:t>
            </a:r>
            <a:r>
              <a:rPr lang="en-US" sz="2400" dirty="0"/>
              <a:t> all domestic purchases of goods and services by their final users. Goods that will be used to satisfy needs and wants.</a:t>
            </a:r>
          </a:p>
          <a:p>
            <a:pPr marL="0" indent="0">
              <a:spcBef>
                <a:spcPts val="1000"/>
              </a:spcBef>
              <a:buNone/>
            </a:pPr>
            <a:r>
              <a:rPr lang="en-US" sz="2400" dirty="0"/>
              <a:t>Purchases of clothing, paper by government, and food by food banks is all included in this category.</a:t>
            </a:r>
          </a:p>
          <a:p>
            <a:pPr lvl="1">
              <a:spcBef>
                <a:spcPts val="1000"/>
              </a:spcBef>
            </a:pPr>
            <a:r>
              <a:rPr lang="en-US" sz="2200" dirty="0"/>
              <a:t>77% of GDP</a:t>
            </a:r>
          </a:p>
          <a:p>
            <a:pPr marL="0" indent="0">
              <a:spcBef>
                <a:spcPts val="1000"/>
              </a:spcBef>
              <a:buNone/>
            </a:pPr>
            <a:r>
              <a:rPr lang="en-US" sz="2200" dirty="0"/>
              <a:t>Statistics Canada breaks final consumption down into three elements based on who does the spending.</a:t>
            </a:r>
          </a:p>
          <a:p>
            <a:pPr>
              <a:spcBef>
                <a:spcPts val="1000"/>
              </a:spcBef>
            </a:pPr>
            <a:r>
              <a:rPr lang="en-US" sz="2200" dirty="0"/>
              <a:t>Households: 54.1% of GDP</a:t>
            </a:r>
          </a:p>
          <a:p>
            <a:pPr>
              <a:spcBef>
                <a:spcPts val="1000"/>
              </a:spcBef>
            </a:pPr>
            <a:r>
              <a:rPr lang="en-US" sz="2200" dirty="0"/>
              <a:t>Government: 21.4% of GDP</a:t>
            </a:r>
          </a:p>
          <a:p>
            <a:pPr>
              <a:spcBef>
                <a:spcPts val="1000"/>
              </a:spcBef>
            </a:pPr>
            <a:r>
              <a:rPr lang="en-US" sz="2200" dirty="0"/>
              <a:t>Not for Profit Organizations: 1.5% of GDP</a:t>
            </a:r>
            <a:endParaRPr lang="en-IN" sz="2200" dirty="0"/>
          </a:p>
        </p:txBody>
      </p:sp>
    </p:spTree>
    <p:extLst>
      <p:ext uri="{BB962C8B-B14F-4D97-AF65-F5344CB8AC3E}">
        <p14:creationId xmlns:p14="http://schemas.microsoft.com/office/powerpoint/2010/main" val="1234186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Gross Fixed Capital Formation</a:t>
            </a:r>
          </a:p>
        </p:txBody>
      </p:sp>
      <p:sp>
        <p:nvSpPr>
          <p:cNvPr id="3" name="Content Placeholder 2"/>
          <p:cNvSpPr>
            <a:spLocks noGrp="1"/>
          </p:cNvSpPr>
          <p:nvPr>
            <p:ph idx="1"/>
          </p:nvPr>
        </p:nvSpPr>
        <p:spPr/>
        <p:txBody>
          <a:bodyPr>
            <a:noAutofit/>
          </a:bodyPr>
          <a:lstStyle/>
          <a:p>
            <a:pPr marL="0" indent="0">
              <a:spcBef>
                <a:spcPts val="1000"/>
              </a:spcBef>
              <a:buNone/>
            </a:pPr>
            <a:r>
              <a:rPr lang="en-US" sz="2400" b="1" dirty="0"/>
              <a:t>Gross Fixed Capital Formation:</a:t>
            </a:r>
            <a:r>
              <a:rPr lang="en-US" sz="2400" dirty="0"/>
              <a:t> is the purchase of fixed assets (capital) by firms, governments, and households. Fixed assets are goods that will provide benefits over a long period of time and cannot easily be converted into cash.</a:t>
            </a:r>
          </a:p>
          <a:p>
            <a:pPr marL="0" indent="0">
              <a:spcBef>
                <a:spcPts val="1000"/>
              </a:spcBef>
              <a:buNone/>
            </a:pPr>
            <a:r>
              <a:rPr lang="en-US" sz="2400" dirty="0"/>
              <a:t>Examples: Buildings, Machinery</a:t>
            </a:r>
          </a:p>
          <a:p>
            <a:pPr lvl="1">
              <a:spcBef>
                <a:spcPts val="1000"/>
              </a:spcBef>
            </a:pPr>
            <a:r>
              <a:rPr lang="en-US" sz="2200" dirty="0"/>
              <a:t>23.2% of GDP</a:t>
            </a:r>
          </a:p>
          <a:p>
            <a:pPr>
              <a:spcBef>
                <a:spcPts val="1000"/>
              </a:spcBef>
              <a:buNone/>
            </a:pPr>
            <a:r>
              <a:rPr lang="en-US" sz="2400" dirty="0"/>
              <a:t>Broken down by who buys the fixed asset.</a:t>
            </a:r>
          </a:p>
          <a:p>
            <a:pPr>
              <a:spcBef>
                <a:spcPts val="1000"/>
              </a:spcBef>
            </a:pPr>
            <a:r>
              <a:rPr lang="en-US" sz="2400" dirty="0"/>
              <a:t>Business 19.1% of GDP</a:t>
            </a:r>
          </a:p>
          <a:p>
            <a:pPr>
              <a:spcBef>
                <a:spcPts val="1000"/>
              </a:spcBef>
            </a:pPr>
            <a:r>
              <a:rPr lang="en-US" sz="2400" dirty="0"/>
              <a:t>Government 4% of GDP</a:t>
            </a:r>
          </a:p>
        </p:txBody>
      </p:sp>
    </p:spTree>
    <p:extLst>
      <p:ext uri="{BB962C8B-B14F-4D97-AF65-F5344CB8AC3E}">
        <p14:creationId xmlns:p14="http://schemas.microsoft.com/office/powerpoint/2010/main" val="1140292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Investment in Inventories</a:t>
            </a:r>
          </a:p>
        </p:txBody>
      </p:sp>
      <p:sp>
        <p:nvSpPr>
          <p:cNvPr id="3" name="Content Placeholder 2"/>
          <p:cNvSpPr>
            <a:spLocks noGrp="1"/>
          </p:cNvSpPr>
          <p:nvPr>
            <p:ph idx="1"/>
          </p:nvPr>
        </p:nvSpPr>
        <p:spPr/>
        <p:txBody>
          <a:bodyPr>
            <a:noAutofit/>
          </a:bodyPr>
          <a:lstStyle/>
          <a:p>
            <a:pPr marL="0" indent="0">
              <a:spcBef>
                <a:spcPts val="1000"/>
              </a:spcBef>
              <a:buNone/>
            </a:pPr>
            <a:r>
              <a:rPr lang="en-US" b="1" dirty="0"/>
              <a:t>Investment in Inventories:</a:t>
            </a:r>
            <a:r>
              <a:rPr lang="en-US" dirty="0"/>
              <a:t> spending on finished products kept on hand to sell.</a:t>
            </a:r>
          </a:p>
          <a:p>
            <a:pPr>
              <a:spcBef>
                <a:spcPts val="1000"/>
              </a:spcBef>
            </a:pPr>
            <a:r>
              <a:rPr lang="en-US" dirty="0"/>
              <a:t>In 2021, inventory investment was -$13,368.</a:t>
            </a:r>
          </a:p>
        </p:txBody>
      </p:sp>
    </p:spTree>
    <p:extLst>
      <p:ext uri="{BB962C8B-B14F-4D97-AF65-F5344CB8AC3E}">
        <p14:creationId xmlns:p14="http://schemas.microsoft.com/office/powerpoint/2010/main" val="515037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Net Exports</a:t>
            </a:r>
          </a:p>
        </p:txBody>
      </p:sp>
      <p:sp>
        <p:nvSpPr>
          <p:cNvPr id="3" name="Content Placeholder 2"/>
          <p:cNvSpPr>
            <a:spLocks noGrp="1"/>
          </p:cNvSpPr>
          <p:nvPr>
            <p:ph idx="1"/>
          </p:nvPr>
        </p:nvSpPr>
        <p:spPr>
          <a:xfrm>
            <a:off x="457200" y="1524000"/>
            <a:ext cx="8229600" cy="4800600"/>
          </a:xfrm>
        </p:spPr>
        <p:txBody>
          <a:bodyPr>
            <a:noAutofit/>
          </a:bodyPr>
          <a:lstStyle/>
          <a:p>
            <a:pPr marL="0" indent="0">
              <a:spcBef>
                <a:spcPts val="1000"/>
              </a:spcBef>
              <a:buNone/>
            </a:pPr>
            <a:r>
              <a:rPr lang="en-US" sz="2400" b="1" dirty="0"/>
              <a:t>Net Exports</a:t>
            </a:r>
            <a:r>
              <a:rPr lang="en-US" sz="2400" dirty="0"/>
              <a:t>: value of exports minus the value of imports. </a:t>
            </a:r>
          </a:p>
          <a:p>
            <a:pPr marL="0" indent="0">
              <a:spcBef>
                <a:spcPts val="1000"/>
              </a:spcBef>
              <a:buNone/>
            </a:pPr>
            <a:r>
              <a:rPr lang="en-US" sz="2400" b="1" i="1" dirty="0"/>
              <a:t>Exports</a:t>
            </a:r>
            <a:r>
              <a:rPr lang="en-US" sz="2400" dirty="0"/>
              <a:t> are goods and services produced in Canada and sold to foreign firms, governments, and households. </a:t>
            </a:r>
          </a:p>
          <a:p>
            <a:pPr marL="0" indent="0">
              <a:spcBef>
                <a:spcPts val="1000"/>
              </a:spcBef>
              <a:buNone/>
            </a:pPr>
            <a:r>
              <a:rPr lang="en-US" sz="2400" b="1" i="1" dirty="0"/>
              <a:t>Imports</a:t>
            </a:r>
            <a:r>
              <a:rPr lang="en-US" sz="2400" dirty="0"/>
              <a:t> are goods and services produced in other countries and bought by Canadian firms, governments, and households.</a:t>
            </a:r>
          </a:p>
          <a:p>
            <a:pPr lvl="1">
              <a:spcBef>
                <a:spcPts val="1000"/>
              </a:spcBef>
            </a:pPr>
            <a:r>
              <a:rPr lang="en-US" sz="2200" dirty="0"/>
              <a:t>Net exports: 2.8% of GDP in 2021</a:t>
            </a:r>
          </a:p>
          <a:p>
            <a:pPr marL="0" indent="0">
              <a:spcBef>
                <a:spcPts val="1000"/>
              </a:spcBef>
              <a:buNone/>
            </a:pPr>
            <a:r>
              <a:rPr lang="en-US" sz="2400" dirty="0"/>
              <a:t>The negative means that we imported more than we exported.</a:t>
            </a:r>
          </a:p>
          <a:p>
            <a:pPr>
              <a:spcBef>
                <a:spcPts val="1000"/>
              </a:spcBef>
            </a:pPr>
            <a:r>
              <a:rPr lang="en-US" sz="2400" dirty="0"/>
              <a:t>Exports 30.8% of GDP in 2021</a:t>
            </a:r>
          </a:p>
          <a:p>
            <a:pPr>
              <a:spcBef>
                <a:spcPts val="1000"/>
              </a:spcBef>
            </a:pPr>
            <a:r>
              <a:rPr lang="en-US" sz="2400" dirty="0"/>
              <a:t>Imports 30.6% of GDP in 2021</a:t>
            </a:r>
          </a:p>
        </p:txBody>
      </p:sp>
    </p:spTree>
    <p:extLst>
      <p:ext uri="{BB962C8B-B14F-4D97-AF65-F5344CB8AC3E}">
        <p14:creationId xmlns:p14="http://schemas.microsoft.com/office/powerpoint/2010/main" val="714291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latin typeface="+mj-lt"/>
              </a:rPr>
              <a:t>Statistical Discrepancy</a:t>
            </a:r>
          </a:p>
        </p:txBody>
      </p:sp>
      <p:sp>
        <p:nvSpPr>
          <p:cNvPr id="6" name="Content Placeholder 5"/>
          <p:cNvSpPr>
            <a:spLocks noGrp="1"/>
          </p:cNvSpPr>
          <p:nvPr>
            <p:ph idx="1"/>
          </p:nvPr>
        </p:nvSpPr>
        <p:spPr/>
        <p:txBody>
          <a:bodyPr>
            <a:noAutofit/>
          </a:bodyPr>
          <a:lstStyle/>
          <a:p>
            <a:pPr marL="0" indent="0">
              <a:spcBef>
                <a:spcPts val="1000"/>
              </a:spcBef>
              <a:buNone/>
            </a:pPr>
            <a:r>
              <a:rPr lang="en-US" sz="2400" b="1" dirty="0"/>
              <a:t>Statistical Discrepancy:</a:t>
            </a:r>
            <a:r>
              <a:rPr lang="en-US" sz="2400" dirty="0"/>
              <a:t> an accounting item that ensures that the income and expenditure approach yield the same result.</a:t>
            </a:r>
          </a:p>
          <a:p>
            <a:pPr marL="0" indent="0">
              <a:spcBef>
                <a:spcPts val="1000"/>
              </a:spcBef>
              <a:buNone/>
            </a:pPr>
            <a:r>
              <a:rPr lang="en-US" sz="2400" dirty="0"/>
              <a:t>Small errors in original data and differences in estimation techniques mean the income and expenditure approaches will give slightly different values for GDP.</a:t>
            </a:r>
          </a:p>
          <a:p>
            <a:pPr marL="0" indent="0">
              <a:spcBef>
                <a:spcPts val="1000"/>
              </a:spcBef>
              <a:buNone/>
            </a:pPr>
            <a:r>
              <a:rPr lang="en-US" sz="2400" dirty="0"/>
              <a:t>Statistics Canada takes the difference between the two approaches, divides it in half, and adds one half to the lower of the two estimates and subtracts the other half from the greater of the two estimates. </a:t>
            </a:r>
          </a:p>
          <a:p>
            <a:pPr marL="0" indent="0">
              <a:spcBef>
                <a:spcPts val="1000"/>
              </a:spcBef>
              <a:buNone/>
            </a:pPr>
            <a:r>
              <a:rPr lang="en-US" sz="2400" dirty="0"/>
              <a:t>The statistical discrepancy is just 0.0004% of GDP.</a:t>
            </a:r>
          </a:p>
        </p:txBody>
      </p:sp>
    </p:spTree>
    <p:extLst>
      <p:ext uri="{BB962C8B-B14F-4D97-AF65-F5344CB8AC3E}">
        <p14:creationId xmlns:p14="http://schemas.microsoft.com/office/powerpoint/2010/main" val="3405564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807BD-E514-6AAA-231D-A46B5DAEB93A}"/>
              </a:ext>
            </a:extLst>
          </p:cNvPr>
          <p:cNvSpPr>
            <a:spLocks noGrp="1"/>
          </p:cNvSpPr>
          <p:nvPr>
            <p:ph type="title"/>
          </p:nvPr>
        </p:nvSpPr>
        <p:spPr/>
        <p:txBody>
          <a:bodyPr/>
          <a:lstStyle/>
          <a:p>
            <a:r>
              <a:rPr lang="en-IN" dirty="0">
                <a:latin typeface="+mj-lt"/>
              </a:rPr>
              <a:t>The Expenditure Approach in Macro Models</a:t>
            </a:r>
            <a:endParaRPr lang="en-IN" dirty="0"/>
          </a:p>
        </p:txBody>
      </p:sp>
      <p:sp>
        <p:nvSpPr>
          <p:cNvPr id="5" name="Content Placeholder 4">
            <a:extLst>
              <a:ext uri="{FF2B5EF4-FFF2-40B4-BE49-F238E27FC236}">
                <a16:creationId xmlns:a16="http://schemas.microsoft.com/office/drawing/2014/main" id="{7D69BA05-2ED9-3D45-7B3A-90453E64A997}"/>
              </a:ext>
            </a:extLst>
          </p:cNvPr>
          <p:cNvSpPr>
            <a:spLocks noGrp="1"/>
          </p:cNvSpPr>
          <p:nvPr>
            <p:ph idx="1"/>
          </p:nvPr>
        </p:nvSpPr>
        <p:spPr>
          <a:xfrm>
            <a:off x="457200" y="1600200"/>
            <a:ext cx="8229600" cy="4648200"/>
          </a:xfrm>
        </p:spPr>
        <p:txBody>
          <a:bodyPr/>
          <a:lstStyle/>
          <a:p>
            <a:pPr marL="0" indent="0">
              <a:spcBef>
                <a:spcPts val="1000"/>
              </a:spcBef>
              <a:buNone/>
            </a:pPr>
            <a:r>
              <a:rPr lang="en-US" sz="2100" dirty="0"/>
              <a:t>The models in the rest of the text are built around an older version of the expenditure approach to measuring GDP. In this approach, spending is divided up based on who does the spending rather than the purpose of spending.</a:t>
            </a:r>
          </a:p>
          <a:p>
            <a:pPr marL="0" indent="0">
              <a:spcBef>
                <a:spcPts val="1000"/>
              </a:spcBef>
              <a:buNone/>
            </a:pPr>
            <a:r>
              <a:rPr lang="en-US" sz="2100" dirty="0"/>
              <a:t>This method of adding up spending gives us the model:</a:t>
            </a:r>
          </a:p>
          <a:p>
            <a:pPr marL="0" indent="0">
              <a:spcBef>
                <a:spcPts val="1000"/>
              </a:spcBef>
              <a:buNone/>
            </a:pPr>
            <a:r>
              <a:rPr lang="en-US" sz="2100" dirty="0"/>
              <a:t>		Y = C + I + G + NX</a:t>
            </a:r>
          </a:p>
          <a:p>
            <a:pPr>
              <a:spcBef>
                <a:spcPts val="1000"/>
              </a:spcBef>
            </a:pPr>
            <a:r>
              <a:rPr lang="en-US" sz="2100" b="1" dirty="0"/>
              <a:t>Consumption (C): </a:t>
            </a:r>
            <a:r>
              <a:rPr lang="en-US" sz="2100" dirty="0"/>
              <a:t>final consumption expenditure by households.</a:t>
            </a:r>
          </a:p>
          <a:p>
            <a:pPr>
              <a:spcBef>
                <a:spcPts val="1000"/>
              </a:spcBef>
            </a:pPr>
            <a:r>
              <a:rPr lang="en-US" sz="2100" b="1" dirty="0"/>
              <a:t>Investment (I): </a:t>
            </a:r>
            <a:r>
              <a:rPr lang="en-US" sz="2100" dirty="0"/>
              <a:t>money spent by firms on fixed capital formation and inventories.</a:t>
            </a:r>
          </a:p>
          <a:p>
            <a:pPr>
              <a:spcBef>
                <a:spcPts val="1000"/>
              </a:spcBef>
            </a:pPr>
            <a:r>
              <a:rPr lang="en-US" sz="2100" b="1" dirty="0"/>
              <a:t>Government spending (G):</a:t>
            </a:r>
            <a:r>
              <a:rPr lang="en-US" sz="2100" dirty="0"/>
              <a:t> Fixed capital formation and final consumption done by government.</a:t>
            </a:r>
          </a:p>
          <a:p>
            <a:pPr>
              <a:spcBef>
                <a:spcPts val="1000"/>
              </a:spcBef>
            </a:pPr>
            <a:r>
              <a:rPr lang="en-US" sz="2100" b="1" dirty="0"/>
              <a:t>Net Export (NX):</a:t>
            </a:r>
            <a:r>
              <a:rPr lang="en-US" sz="2100" dirty="0"/>
              <a:t> exports minus imports</a:t>
            </a:r>
            <a:endParaRPr lang="en-IN" sz="2100" dirty="0"/>
          </a:p>
        </p:txBody>
      </p:sp>
    </p:spTree>
    <p:extLst>
      <p:ext uri="{BB962C8B-B14F-4D97-AF65-F5344CB8AC3E}">
        <p14:creationId xmlns:p14="http://schemas.microsoft.com/office/powerpoint/2010/main" val="3770123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6905"/>
            <a:ext cx="8229600" cy="535095"/>
          </a:xfrm>
        </p:spPr>
        <p:txBody>
          <a:bodyPr>
            <a:noAutofit/>
          </a:bodyPr>
          <a:lstStyle/>
          <a:p>
            <a:r>
              <a:rPr lang="en-US" dirty="0">
                <a:latin typeface="+mj-lt"/>
              </a:rPr>
              <a:t>Components of GDP</a:t>
            </a:r>
          </a:p>
        </p:txBody>
      </p:sp>
      <p:sp>
        <p:nvSpPr>
          <p:cNvPr id="3" name="Content Placeholder 2"/>
          <p:cNvSpPr>
            <a:spLocks noGrp="1"/>
          </p:cNvSpPr>
          <p:nvPr>
            <p:ph idx="1"/>
          </p:nvPr>
        </p:nvSpPr>
        <p:spPr>
          <a:xfrm>
            <a:off x="457200" y="1013445"/>
            <a:ext cx="8229600" cy="1348755"/>
          </a:xfrm>
        </p:spPr>
        <p:txBody>
          <a:bodyPr>
            <a:noAutofit/>
          </a:bodyPr>
          <a:lstStyle/>
          <a:p>
            <a:pPr marL="0" indent="0">
              <a:spcBef>
                <a:spcPts val="1000"/>
              </a:spcBef>
              <a:buNone/>
            </a:pPr>
            <a:r>
              <a:rPr lang="en-US" sz="2000" dirty="0"/>
              <a:t>Consumption is the largest component of GDP; within that, services are the largest component—almost half of GDP.</a:t>
            </a:r>
          </a:p>
          <a:p>
            <a:pPr marL="0" indent="0">
              <a:spcBef>
                <a:spcPts val="1000"/>
              </a:spcBef>
              <a:buNone/>
            </a:pPr>
            <a:r>
              <a:rPr lang="en-US" sz="2000" dirty="0"/>
              <a:t>In recent years, net exports have typically been negative, which reduces GDP.</a:t>
            </a:r>
          </a:p>
        </p:txBody>
      </p:sp>
      <p:sp>
        <p:nvSpPr>
          <p:cNvPr id="9" name="Content Placeholder 8"/>
          <p:cNvSpPr>
            <a:spLocks noGrp="1"/>
          </p:cNvSpPr>
          <p:nvPr>
            <p:ph idx="13"/>
          </p:nvPr>
        </p:nvSpPr>
        <p:spPr>
          <a:xfrm>
            <a:off x="457200" y="5945743"/>
            <a:ext cx="8229600" cy="369332"/>
          </a:xfrm>
        </p:spPr>
        <p:txBody>
          <a:bodyPr>
            <a:noAutofit/>
          </a:bodyPr>
          <a:lstStyle/>
          <a:p>
            <a:pPr marL="0" indent="0">
              <a:buNone/>
            </a:pPr>
            <a:r>
              <a:rPr lang="en-US" sz="1200" b="1" dirty="0"/>
              <a:t>SOURCE: </a:t>
            </a:r>
            <a:r>
              <a:rPr lang="en-US" sz="1200" dirty="0"/>
              <a:t>Statistics Canada. Table 36-10-0104-01 Gross domestic product, expenditure-based, Canada, quarterly (×1,000,000), https://www150.statcan.gc.ca/t1/tbl1/en/tv.action?pid=3610010401.</a:t>
            </a:r>
            <a:endParaRPr lang="en-IN" sz="1200" dirty="0"/>
          </a:p>
        </p:txBody>
      </p:sp>
      <p:pic>
        <p:nvPicPr>
          <p:cNvPr id="5" name="Picture 4" descr="The x-axis lists the components contributing to the G D P. The y-axis ranges from 0 to 1,600,000 in increments of 200,000. The data are as follows.&#10;Consumption, 55.3%&#10;Investment, 19.1%&#10;Government spending, 25.3%&#10;Net exports, 0.3%">
            <a:extLst>
              <a:ext uri="{FF2B5EF4-FFF2-40B4-BE49-F238E27FC236}">
                <a16:creationId xmlns:a16="http://schemas.microsoft.com/office/drawing/2014/main" id="{9995B5B9-4039-97E5-5DDD-F9A984EDE6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3510" y="2514600"/>
            <a:ext cx="5196980" cy="3200400"/>
          </a:xfrm>
          <a:prstGeom prst="rect">
            <a:avLst/>
          </a:prstGeom>
        </p:spPr>
      </p:pic>
    </p:spTree>
    <p:extLst>
      <p:ext uri="{BB962C8B-B14F-4D97-AF65-F5344CB8AC3E}">
        <p14:creationId xmlns:p14="http://schemas.microsoft.com/office/powerpoint/2010/main" val="4244995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3257547-3EA8-D565-E342-F534B94AD816}"/>
              </a:ext>
            </a:extLst>
          </p:cNvPr>
          <p:cNvSpPr>
            <a:spLocks noGrp="1"/>
          </p:cNvSpPr>
          <p:nvPr>
            <p:ph type="title"/>
          </p:nvPr>
        </p:nvSpPr>
        <p:spPr>
          <a:xfrm>
            <a:off x="457200" y="215372"/>
            <a:ext cx="8229600" cy="851428"/>
          </a:xfrm>
        </p:spPr>
        <p:txBody>
          <a:bodyPr/>
          <a:lstStyle/>
          <a:p>
            <a:r>
              <a:rPr lang="en-US" dirty="0">
                <a:latin typeface="+mj-lt"/>
              </a:rPr>
              <a:t>Table 4.1 Calculating Value Added</a:t>
            </a:r>
            <a:endParaRPr lang="en-IN" dirty="0"/>
          </a:p>
        </p:txBody>
      </p:sp>
      <p:sp>
        <p:nvSpPr>
          <p:cNvPr id="3" name="Content Placeholder 2"/>
          <p:cNvSpPr>
            <a:spLocks noGrp="1"/>
          </p:cNvSpPr>
          <p:nvPr>
            <p:ph idx="1"/>
          </p:nvPr>
        </p:nvSpPr>
        <p:spPr>
          <a:xfrm>
            <a:off x="457200" y="1230630"/>
            <a:ext cx="8229600" cy="2122170"/>
          </a:xfrm>
        </p:spPr>
        <p:txBody>
          <a:bodyPr>
            <a:noAutofit/>
          </a:bodyPr>
          <a:lstStyle/>
          <a:p>
            <a:pPr marL="0" indent="0">
              <a:spcBef>
                <a:spcPts val="1000"/>
              </a:spcBef>
              <a:buNone/>
            </a:pPr>
            <a:r>
              <a:rPr lang="en-US" sz="2000" dirty="0"/>
              <a:t>An alternative method to measure GDP is to measure the </a:t>
            </a:r>
            <a:r>
              <a:rPr lang="en-US" sz="2000" b="1" dirty="0"/>
              <a:t>value added:</a:t>
            </a:r>
            <a:r>
              <a:rPr lang="en-US" sz="2000" dirty="0"/>
              <a:t> the market value a firm adds to a product.</a:t>
            </a:r>
          </a:p>
          <a:p>
            <a:pPr marL="0" indent="0">
              <a:spcBef>
                <a:spcPts val="1000"/>
              </a:spcBef>
              <a:buNone/>
            </a:pPr>
            <a:r>
              <a:rPr lang="en-US" sz="2000" i="1" dirty="0"/>
              <a:t>The final selling price of a product must equal the sum of the values added to the product at each stage of production</a:t>
            </a:r>
            <a:r>
              <a:rPr lang="en-US" sz="2000" dirty="0"/>
              <a:t>.</a:t>
            </a:r>
          </a:p>
          <a:p>
            <a:pPr marL="0" indent="0">
              <a:spcBef>
                <a:spcPts val="1000"/>
              </a:spcBef>
              <a:buNone/>
            </a:pPr>
            <a:r>
              <a:rPr lang="en-US" sz="2000" dirty="0"/>
              <a:t>The table below illustrates this method for a diamond from the </a:t>
            </a:r>
            <a:r>
              <a:rPr lang="en-US" sz="2000" dirty="0" err="1"/>
              <a:t>Diavik</a:t>
            </a:r>
            <a:r>
              <a:rPr lang="en-US" sz="2000" dirty="0"/>
              <a:t> mine in the NWT.</a:t>
            </a:r>
          </a:p>
        </p:txBody>
      </p:sp>
      <p:graphicFrame>
        <p:nvGraphicFramePr>
          <p:cNvPr id="5" name="Table 4"/>
          <p:cNvGraphicFramePr>
            <a:graphicFrameLocks noGrp="1"/>
          </p:cNvGraphicFramePr>
          <p:nvPr>
            <p:extLst>
              <p:ext uri="{D42A27DB-BD31-4B8C-83A1-F6EECF244321}">
                <p14:modId xmlns:p14="http://schemas.microsoft.com/office/powerpoint/2010/main" val="1968474899"/>
              </p:ext>
            </p:extLst>
          </p:nvPr>
        </p:nvGraphicFramePr>
        <p:xfrm>
          <a:off x="457200" y="3657600"/>
          <a:ext cx="8229599" cy="2438398"/>
        </p:xfrm>
        <a:graphic>
          <a:graphicData uri="http://schemas.openxmlformats.org/drawingml/2006/table">
            <a:tbl>
              <a:tblPr firstRow="1" bandRow="1">
                <a:tableStyleId>{3B4B98B0-60AC-42C2-AFA5-B58CD77FA1E5}</a:tableStyleId>
              </a:tblPr>
              <a:tblGrid>
                <a:gridCol w="1752600">
                  <a:extLst>
                    <a:ext uri="{9D8B030D-6E8A-4147-A177-3AD203B41FA5}">
                      <a16:colId xmlns:a16="http://schemas.microsoft.com/office/drawing/2014/main" val="20000"/>
                    </a:ext>
                  </a:extLst>
                </a:gridCol>
                <a:gridCol w="2281517">
                  <a:extLst>
                    <a:ext uri="{9D8B030D-6E8A-4147-A177-3AD203B41FA5}">
                      <a16:colId xmlns:a16="http://schemas.microsoft.com/office/drawing/2014/main" val="20001"/>
                    </a:ext>
                  </a:extLst>
                </a:gridCol>
                <a:gridCol w="3065929">
                  <a:extLst>
                    <a:ext uri="{9D8B030D-6E8A-4147-A177-3AD203B41FA5}">
                      <a16:colId xmlns:a16="http://schemas.microsoft.com/office/drawing/2014/main" val="20002"/>
                    </a:ext>
                  </a:extLst>
                </a:gridCol>
                <a:gridCol w="1129553">
                  <a:extLst>
                    <a:ext uri="{9D8B030D-6E8A-4147-A177-3AD203B41FA5}">
                      <a16:colId xmlns:a16="http://schemas.microsoft.com/office/drawing/2014/main" val="20003"/>
                    </a:ext>
                  </a:extLst>
                </a:gridCol>
              </a:tblGrid>
              <a:tr h="308658">
                <a:tc>
                  <a:txBody>
                    <a:bodyPr/>
                    <a:lstStyle/>
                    <a:p>
                      <a:pPr algn="ctr"/>
                      <a:r>
                        <a:rPr lang="en-IN" sz="1400" b="1" i="0" u="none" strike="noStrike" kern="1200" baseline="0" dirty="0">
                          <a:solidFill>
                            <a:schemeClr val="bg1"/>
                          </a:solidFill>
                          <a:latin typeface="+mn-lt"/>
                          <a:ea typeface="+mn-ea"/>
                          <a:cs typeface="+mn-cs"/>
                        </a:rPr>
                        <a:t>Firm</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IN" sz="1400" b="1" i="0" u="none" strike="noStrike" kern="1200" baseline="0" dirty="0">
                          <a:solidFill>
                            <a:schemeClr val="bg1"/>
                          </a:solidFill>
                          <a:latin typeface="+mn-lt"/>
                          <a:ea typeface="+mn-ea"/>
                          <a:cs typeface="+mn-cs"/>
                        </a:rPr>
                        <a:t>Value of Product</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IN" sz="1400" b="1" i="0" u="none" strike="noStrike" kern="1200" baseline="0" dirty="0">
                          <a:solidFill>
                            <a:schemeClr val="bg1"/>
                          </a:solidFill>
                          <a:latin typeface="+mn-lt"/>
                          <a:ea typeface="+mn-ea"/>
                          <a:cs typeface="+mn-cs"/>
                        </a:rPr>
                        <a:t>Value Added</a:t>
                      </a:r>
                      <a:endParaRPr lang="en-IN" sz="14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endParaRPr lang="en-IN" sz="1200"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462987">
                <a:tc>
                  <a:txBody>
                    <a:bodyPr/>
                    <a:lstStyle/>
                    <a:p>
                      <a:pPr algn="ctr"/>
                      <a:r>
                        <a:rPr lang="en-IN" sz="1200" b="0" i="0" u="none" strike="noStrike" kern="1200" baseline="0" dirty="0" err="1">
                          <a:solidFill>
                            <a:schemeClr val="tx1"/>
                          </a:solidFill>
                          <a:latin typeface="+mn-lt"/>
                          <a:ea typeface="+mn-ea"/>
                          <a:cs typeface="+mn-cs"/>
                        </a:rPr>
                        <a:t>Diavik</a:t>
                      </a:r>
                      <a:r>
                        <a:rPr lang="en-IN" sz="1200" b="0" i="0" u="none" strike="noStrike" kern="1200" baseline="0" dirty="0">
                          <a:solidFill>
                            <a:schemeClr val="tx1"/>
                          </a:solidFill>
                          <a:latin typeface="+mn-lt"/>
                          <a:ea typeface="+mn-ea"/>
                          <a:cs typeface="+mn-cs"/>
                        </a:rPr>
                        <a:t> Diamond Mine</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US" sz="1200" b="0" i="0" u="none" strike="noStrike" kern="1200" baseline="0" dirty="0">
                          <a:solidFill>
                            <a:schemeClr val="tx1"/>
                          </a:solidFill>
                          <a:latin typeface="+mn-lt"/>
                          <a:ea typeface="+mn-ea"/>
                          <a:cs typeface="+mn-cs"/>
                        </a:rPr>
                        <a:t>Value of raw diamond = $500</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Value added by diamond miner</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a:t>
                      </a:r>
                      <a:r>
                        <a:rPr lang="en-IN" sz="1200" b="0" i="0" u="none" strike="noStrike" kern="1200" baseline="0" dirty="0">
                          <a:solidFill>
                            <a:schemeClr val="tx1"/>
                          </a:solidFill>
                          <a:latin typeface="+mn-lt"/>
                          <a:ea typeface="+mn-ea"/>
                          <a:cs typeface="+mn-cs"/>
                        </a:rPr>
                        <a:t>500</a:t>
                      </a:r>
                      <a:endParaRPr lang="en-IN" sz="1200" i="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462987">
                <a:tc>
                  <a:txBody>
                    <a:bodyPr/>
                    <a:lstStyle/>
                    <a:p>
                      <a:pPr algn="ctr"/>
                      <a:r>
                        <a:rPr lang="en-IN" sz="1200" b="0" i="0" u="none" strike="noStrike" kern="1200" baseline="0" dirty="0">
                          <a:solidFill>
                            <a:schemeClr val="tx1"/>
                          </a:solidFill>
                          <a:latin typeface="+mn-lt"/>
                          <a:ea typeface="+mn-ea"/>
                          <a:cs typeface="+mn-cs"/>
                        </a:rPr>
                        <a:t>Gem cutter</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Value of cut diamond = $700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Value added by diamond cutter = ($700 - $500)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a:t>
                      </a:r>
                      <a:r>
                        <a:rPr lang="en-IN" sz="1200" b="0" i="0" u="none" strike="noStrike" kern="1200" baseline="0" dirty="0">
                          <a:solidFill>
                            <a:schemeClr val="tx1"/>
                          </a:solidFill>
                          <a:latin typeface="+mn-lt"/>
                          <a:ea typeface="+mn-ea"/>
                          <a:cs typeface="+mn-cs"/>
                        </a:rPr>
                        <a:t>200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462987">
                <a:tc>
                  <a:txBody>
                    <a:bodyPr/>
                    <a:lstStyle/>
                    <a:p>
                      <a:pPr algn="ctr"/>
                      <a:r>
                        <a:rPr lang="en-IN" sz="1200" b="0" i="0" u="none" strike="noStrike" kern="1200" baseline="0" dirty="0">
                          <a:solidFill>
                            <a:schemeClr val="tx1"/>
                          </a:solidFill>
                          <a:latin typeface="+mn-lt"/>
                          <a:ea typeface="+mn-ea"/>
                          <a:cs typeface="+mn-cs"/>
                        </a:rPr>
                        <a:t>Jewellery designer</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200" b="0" i="0" u="none" strike="noStrike" kern="1200" baseline="0" dirty="0">
                          <a:solidFill>
                            <a:schemeClr val="tx1"/>
                          </a:solidFill>
                          <a:latin typeface="+mn-lt"/>
                          <a:ea typeface="+mn-ea"/>
                          <a:cs typeface="+mn-cs"/>
                        </a:rPr>
                        <a:t>Value of set diamond = $1000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200" b="0" i="0" u="none" strike="noStrike" kern="1200" baseline="0" dirty="0">
                          <a:solidFill>
                            <a:schemeClr val="tx1"/>
                          </a:solidFill>
                          <a:latin typeface="+mn-lt"/>
                          <a:ea typeface="+mn-ea"/>
                          <a:cs typeface="+mn-cs"/>
                        </a:rPr>
                        <a:t>Value added by </a:t>
                      </a:r>
                      <a:r>
                        <a:rPr lang="en-US" sz="1200" b="0" i="0" u="none" strike="noStrike" kern="1200" baseline="0" dirty="0" err="1">
                          <a:solidFill>
                            <a:schemeClr val="tx1"/>
                          </a:solidFill>
                          <a:latin typeface="+mn-lt"/>
                          <a:ea typeface="+mn-ea"/>
                          <a:cs typeface="+mn-cs"/>
                        </a:rPr>
                        <a:t>jewellery</a:t>
                      </a:r>
                      <a:r>
                        <a:rPr lang="en-US" sz="1200" b="0" i="0" u="none" strike="noStrike" kern="1200" baseline="0" dirty="0">
                          <a:solidFill>
                            <a:schemeClr val="tx1"/>
                          </a:solidFill>
                          <a:latin typeface="+mn-lt"/>
                          <a:ea typeface="+mn-ea"/>
                          <a:cs typeface="+mn-cs"/>
                        </a:rPr>
                        <a:t> designer = ($1000 - $700)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a:t>
                      </a:r>
                      <a:r>
                        <a:rPr lang="en-IN" sz="1200" b="0" i="0" u="none" strike="noStrike" kern="1200" baseline="0" dirty="0">
                          <a:solidFill>
                            <a:schemeClr val="tx1"/>
                          </a:solidFill>
                          <a:latin typeface="+mn-lt"/>
                          <a:ea typeface="+mn-ea"/>
                          <a:cs typeface="+mn-cs"/>
                        </a:rPr>
                        <a:t>300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462987">
                <a:tc>
                  <a:txBody>
                    <a:bodyPr/>
                    <a:lstStyle/>
                    <a:p>
                      <a:pPr algn="ctr"/>
                      <a:r>
                        <a:rPr lang="en-IN" sz="1200" b="0" i="0" u="none" strike="noStrike" kern="1200" baseline="0" dirty="0">
                          <a:solidFill>
                            <a:schemeClr val="tx1"/>
                          </a:solidFill>
                          <a:latin typeface="+mn-lt"/>
                          <a:ea typeface="+mn-ea"/>
                          <a:cs typeface="+mn-cs"/>
                        </a:rPr>
                        <a:t>Jewellery store</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200" b="0" i="0" u="none" strike="noStrike" kern="1200" baseline="0" dirty="0">
                          <a:solidFill>
                            <a:schemeClr val="tx1"/>
                          </a:solidFill>
                          <a:latin typeface="+mn-lt"/>
                          <a:ea typeface="+mn-ea"/>
                          <a:cs typeface="+mn-cs"/>
                        </a:rPr>
                        <a:t>Value of diamond </a:t>
                      </a:r>
                      <a:r>
                        <a:rPr lang="en-US" sz="1200" b="0" i="0" u="none" strike="noStrike" kern="1200" baseline="0" dirty="0" err="1">
                          <a:solidFill>
                            <a:schemeClr val="tx1"/>
                          </a:solidFill>
                          <a:latin typeface="+mn-lt"/>
                          <a:ea typeface="+mn-ea"/>
                          <a:cs typeface="+mn-cs"/>
                        </a:rPr>
                        <a:t>rin</a:t>
                      </a:r>
                      <a:r>
                        <a:rPr lang="en-US" sz="1200" b="0" i="0" u="none" strike="noStrike" kern="1200" baseline="0" dirty="0">
                          <a:solidFill>
                            <a:schemeClr val="tx1"/>
                          </a:solidFill>
                          <a:latin typeface="+mn-lt"/>
                          <a:ea typeface="+mn-ea"/>
                          <a:cs typeface="+mn-cs"/>
                        </a:rPr>
                        <a:t> = $1500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US" sz="1200" b="0" i="0" u="none" strike="noStrike" kern="1200" baseline="0" dirty="0">
                          <a:solidFill>
                            <a:schemeClr val="tx1"/>
                          </a:solidFill>
                          <a:latin typeface="+mn-lt"/>
                          <a:ea typeface="+mn-ea"/>
                          <a:cs typeface="+mn-cs"/>
                        </a:rPr>
                        <a:t>Value added by </a:t>
                      </a:r>
                      <a:r>
                        <a:rPr lang="en-US" sz="1200" b="0" i="0" u="none" strike="noStrike" kern="1200" baseline="0" dirty="0" err="1">
                          <a:solidFill>
                            <a:schemeClr val="tx1"/>
                          </a:solidFill>
                          <a:latin typeface="+mn-lt"/>
                          <a:ea typeface="+mn-ea"/>
                          <a:cs typeface="+mn-cs"/>
                        </a:rPr>
                        <a:t>jewellery</a:t>
                      </a:r>
                      <a:r>
                        <a:rPr lang="en-US" sz="1200" b="0" i="0" u="none" strike="noStrike" kern="1200" baseline="0" dirty="0">
                          <a:solidFill>
                            <a:schemeClr val="tx1"/>
                          </a:solidFill>
                          <a:latin typeface="+mn-lt"/>
                          <a:ea typeface="+mn-ea"/>
                          <a:cs typeface="+mn-cs"/>
                        </a:rPr>
                        <a:t> store = ($1500 - $1000)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a:t>
                      </a:r>
                      <a:r>
                        <a:rPr lang="en-IN" sz="1200" b="0" i="0" u="none" strike="noStrike" kern="1200" baseline="0" dirty="0">
                          <a:solidFill>
                            <a:schemeClr val="tx1"/>
                          </a:solidFill>
                          <a:latin typeface="+mn-lt"/>
                          <a:ea typeface="+mn-ea"/>
                          <a:cs typeface="+mn-cs"/>
                        </a:rPr>
                        <a:t>500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77792">
                <a:tc>
                  <a:txBody>
                    <a:bodyPr/>
                    <a:lstStyle/>
                    <a:p>
                      <a:pPr algn="ct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b="1" i="0" u="none" strike="noStrike" kern="1200" baseline="0" dirty="0">
                          <a:solidFill>
                            <a:schemeClr val="tx1"/>
                          </a:solidFill>
                          <a:latin typeface="+mn-lt"/>
                          <a:ea typeface="+mn-ea"/>
                          <a:cs typeface="+mn-cs"/>
                        </a:rPr>
                        <a:t>Total Value Added</a:t>
                      </a:r>
                      <a:endParaRPr lang="en-IN" sz="1200" b="1"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 </a:t>
                      </a:r>
                      <a:r>
                        <a:rPr lang="en-US" sz="1200" b="1" i="0" u="none" strike="noStrike" kern="1200" baseline="0" dirty="0">
                          <a:solidFill>
                            <a:schemeClr val="tx1"/>
                          </a:solidFill>
                          <a:latin typeface="+mn-lt"/>
                          <a:ea typeface="+mn-ea"/>
                          <a:cs typeface="+mn-cs"/>
                        </a:rPr>
                        <a:t>$</a:t>
                      </a:r>
                      <a:r>
                        <a:rPr lang="en-IN" sz="1200" b="1" i="0" u="none" strike="noStrike" kern="1200" baseline="0" dirty="0">
                          <a:solidFill>
                            <a:schemeClr val="tx1"/>
                          </a:solidFill>
                          <a:latin typeface="+mn-lt"/>
                          <a:ea typeface="+mn-ea"/>
                          <a:cs typeface="+mn-cs"/>
                        </a:rPr>
                        <a:t>1500</a:t>
                      </a:r>
                      <a:endParaRPr lang="en-IN" sz="1200" b="1" dirty="0"/>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36245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80028"/>
          </a:xfrm>
        </p:spPr>
        <p:txBody>
          <a:bodyPr/>
          <a:lstStyle/>
          <a:p>
            <a:r>
              <a:rPr lang="en-IN" dirty="0">
                <a:latin typeface="+mj-lt"/>
              </a:rPr>
              <a:t>Does GDP Measure What We Want It to Measure?</a:t>
            </a:r>
            <a:endParaRPr lang="en-US" dirty="0">
              <a:latin typeface="+mj-lt"/>
            </a:endParaRPr>
          </a:p>
        </p:txBody>
      </p:sp>
      <p:sp>
        <p:nvSpPr>
          <p:cNvPr id="5" name="Text Placeholder 4">
            <a:extLst>
              <a:ext uri="{FF2B5EF4-FFF2-40B4-BE49-F238E27FC236}">
                <a16:creationId xmlns:a16="http://schemas.microsoft.com/office/drawing/2014/main" id="{4A9E8D7F-B190-D3F8-F62B-9420742B443E}"/>
              </a:ext>
            </a:extLst>
          </p:cNvPr>
          <p:cNvSpPr>
            <a:spLocks noGrp="1"/>
          </p:cNvSpPr>
          <p:nvPr>
            <p:ph type="body" sz="quarter" idx="13"/>
          </p:nvPr>
        </p:nvSpPr>
        <p:spPr>
          <a:xfrm>
            <a:off x="457200" y="1368652"/>
            <a:ext cx="8229600" cy="402770"/>
          </a:xfrm>
        </p:spPr>
        <p:txBody>
          <a:bodyPr/>
          <a:lstStyle/>
          <a:p>
            <a:r>
              <a:rPr lang="en-US" sz="2400" b="1" dirty="0">
                <a:solidFill>
                  <a:schemeClr val="tx1"/>
                </a:solidFill>
              </a:rPr>
              <a:t>4.2 Learning Objective</a:t>
            </a:r>
          </a:p>
        </p:txBody>
      </p:sp>
      <p:sp>
        <p:nvSpPr>
          <p:cNvPr id="3" name="Subtitle 2"/>
          <p:cNvSpPr>
            <a:spLocks noGrp="1"/>
          </p:cNvSpPr>
          <p:nvPr>
            <p:ph sz="quarter" idx="14"/>
          </p:nvPr>
        </p:nvSpPr>
        <p:spPr>
          <a:xfrm>
            <a:off x="457200" y="1844674"/>
            <a:ext cx="8229600" cy="4281489"/>
          </a:xfrm>
        </p:spPr>
        <p:txBody>
          <a:bodyPr>
            <a:noAutofit/>
          </a:bodyPr>
          <a:lstStyle/>
          <a:p>
            <a:pPr marL="0" indent="0">
              <a:spcBef>
                <a:spcPts val="1000"/>
              </a:spcBef>
              <a:buNone/>
            </a:pPr>
            <a:r>
              <a:rPr lang="en-US" sz="2400" dirty="0"/>
              <a:t>Discuss whether GDP is a good measure of well-being.</a:t>
            </a:r>
          </a:p>
          <a:p>
            <a:pPr marL="0" indent="0">
              <a:spcBef>
                <a:spcPts val="1000"/>
              </a:spcBef>
              <a:buSzPts val="2200"/>
              <a:buFont typeface="Arial" panose="020B0604020202020204" pitchFamily="34" charset="0"/>
              <a:buNone/>
            </a:pPr>
            <a:r>
              <a:rPr lang="en-US" sz="2400" dirty="0"/>
              <a:t>GDP can be a useful tool to measure total output in an economy. Many people go further than this, interpreting GDP as a measure of the well-being of citizens.</a:t>
            </a:r>
          </a:p>
          <a:p>
            <a:pPr marL="0" indent="0">
              <a:spcBef>
                <a:spcPts val="1000"/>
              </a:spcBef>
              <a:buSzPts val="2200"/>
              <a:buFont typeface="Arial" panose="020B0604020202020204" pitchFamily="34" charset="0"/>
              <a:buNone/>
            </a:pPr>
            <a:r>
              <a:rPr lang="en-US" sz="2400" dirty="0"/>
              <a:t>However, GDP has shortcomings as both a</a:t>
            </a:r>
          </a:p>
          <a:p>
            <a:pPr marL="255600">
              <a:spcBef>
                <a:spcPts val="1000"/>
              </a:spcBef>
            </a:pPr>
            <a:r>
              <a:rPr lang="en-US" sz="2400" b="1" dirty="0"/>
              <a:t>Measure of total production </a:t>
            </a:r>
            <a:r>
              <a:rPr lang="en-US" sz="2400" dirty="0"/>
              <a:t>and a</a:t>
            </a:r>
          </a:p>
          <a:p>
            <a:pPr marL="255600">
              <a:spcBef>
                <a:spcPts val="1000"/>
              </a:spcBef>
            </a:pPr>
            <a:r>
              <a:rPr lang="en-US" sz="2400" b="1" dirty="0"/>
              <a:t>Measure of well-being.</a:t>
            </a:r>
          </a:p>
        </p:txBody>
      </p:sp>
    </p:spTree>
    <p:extLst>
      <p:ext uri="{BB962C8B-B14F-4D97-AF65-F5344CB8AC3E}">
        <p14:creationId xmlns:p14="http://schemas.microsoft.com/office/powerpoint/2010/main" val="3658180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mj-lt"/>
              </a:rPr>
              <a:t>Shortcomings of GDP as a Measure of Total Production</a:t>
            </a:r>
            <a:endParaRPr lang="en-US" dirty="0">
              <a:latin typeface="+mj-lt"/>
            </a:endParaRPr>
          </a:p>
        </p:txBody>
      </p:sp>
      <p:sp>
        <p:nvSpPr>
          <p:cNvPr id="3" name="Content Placeholder 2"/>
          <p:cNvSpPr>
            <a:spLocks noGrp="1"/>
          </p:cNvSpPr>
          <p:nvPr>
            <p:ph idx="1"/>
          </p:nvPr>
        </p:nvSpPr>
        <p:spPr/>
        <p:txBody>
          <a:bodyPr>
            <a:noAutofit/>
          </a:bodyPr>
          <a:lstStyle/>
          <a:p>
            <a:pPr marL="0" indent="0">
              <a:spcBef>
                <a:spcPts val="1000"/>
              </a:spcBef>
              <a:buNone/>
            </a:pPr>
            <a:r>
              <a:rPr lang="en-US" sz="1800" dirty="0"/>
              <a:t>Two important types of production are omitted from Statistics Canada’s measurement of GDP:</a:t>
            </a:r>
          </a:p>
          <a:p>
            <a:pPr marL="0" indent="0">
              <a:spcBef>
                <a:spcPts val="1000"/>
              </a:spcBef>
              <a:buNone/>
            </a:pPr>
            <a:r>
              <a:rPr lang="en-US" sz="1800" b="1" dirty="0"/>
              <a:t>Household Production</a:t>
            </a:r>
          </a:p>
          <a:p>
            <a:pPr>
              <a:spcBef>
                <a:spcPts val="1000"/>
              </a:spcBef>
            </a:pPr>
            <a:r>
              <a:rPr lang="en-US" sz="1800" dirty="0"/>
              <a:t>Household production such as childcare, cleaning, and cooking is not typically paid for with money. However such contributions are real—if they were performed by a non-household-member, they </a:t>
            </a:r>
            <a:r>
              <a:rPr lang="en-US" sz="1800" i="1" dirty="0"/>
              <a:t>would</a:t>
            </a:r>
            <a:r>
              <a:rPr lang="en-US" sz="1800" dirty="0"/>
              <a:t> be paid for and counted in GDP.</a:t>
            </a:r>
          </a:p>
          <a:p>
            <a:pPr marL="0" indent="0">
              <a:spcBef>
                <a:spcPts val="1000"/>
              </a:spcBef>
              <a:buNone/>
            </a:pPr>
            <a:r>
              <a:rPr lang="en-US" sz="1800" b="1" dirty="0"/>
              <a:t>The Informal Economy</a:t>
            </a:r>
          </a:p>
          <a:p>
            <a:pPr>
              <a:spcBef>
                <a:spcPts val="1000"/>
              </a:spcBef>
            </a:pPr>
            <a:r>
              <a:rPr lang="en-US" sz="1800" dirty="0"/>
              <a:t>Buying and selling of goods and services might be concealed from the government to avoid taxes or regulations or because the goods and services are illegal. This constitutes the </a:t>
            </a:r>
            <a:r>
              <a:rPr lang="en-US" sz="1800" b="1" dirty="0"/>
              <a:t>informal economy.</a:t>
            </a:r>
          </a:p>
          <a:p>
            <a:pPr>
              <a:spcBef>
                <a:spcPts val="1000"/>
              </a:spcBef>
            </a:pPr>
            <a:r>
              <a:rPr lang="en-US" sz="1800" dirty="0"/>
              <a:t>It is estimated that the Canadian shadow economy is 13 percent of the size of the officially measured GDP, and it is substantially larger in low-income countries.</a:t>
            </a:r>
          </a:p>
        </p:txBody>
      </p:sp>
    </p:spTree>
    <p:extLst>
      <p:ext uri="{BB962C8B-B14F-4D97-AF65-F5344CB8AC3E}">
        <p14:creationId xmlns:p14="http://schemas.microsoft.com/office/powerpoint/2010/main" val="30785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How Important are these Shortcomings?</a:t>
            </a:r>
          </a:p>
        </p:txBody>
      </p:sp>
      <p:sp>
        <p:nvSpPr>
          <p:cNvPr id="3" name="Content Placeholder 2"/>
          <p:cNvSpPr>
            <a:spLocks noGrp="1"/>
          </p:cNvSpPr>
          <p:nvPr>
            <p:ph idx="1"/>
          </p:nvPr>
        </p:nvSpPr>
        <p:spPr/>
        <p:txBody>
          <a:bodyPr>
            <a:noAutofit/>
          </a:bodyPr>
          <a:lstStyle/>
          <a:p>
            <a:pPr>
              <a:spcBef>
                <a:spcPts val="1000"/>
              </a:spcBef>
            </a:pPr>
            <a:r>
              <a:rPr lang="en-US" sz="2400" dirty="0"/>
              <a:t>If we are comparing GDP from year to year, the size of household production and the informal economy is probably about the same from year to year, so </a:t>
            </a:r>
            <a:r>
              <a:rPr lang="en-US" sz="2400" i="1" dirty="0"/>
              <a:t>GDP growth </a:t>
            </a:r>
            <a:r>
              <a:rPr lang="en-US" sz="2400" dirty="0"/>
              <a:t>is a reasonable measure of the </a:t>
            </a:r>
            <a:r>
              <a:rPr lang="en-US" sz="2400" i="1" dirty="0"/>
              <a:t>growth in total production</a:t>
            </a:r>
            <a:r>
              <a:rPr lang="en-US" sz="2400" dirty="0"/>
              <a:t>.</a:t>
            </a:r>
          </a:p>
          <a:p>
            <a:pPr>
              <a:spcBef>
                <a:spcPts val="1000"/>
              </a:spcBef>
            </a:pPr>
            <a:r>
              <a:rPr lang="en-US" sz="2400" dirty="0"/>
              <a:t>However over long periods of time, these shortcomings might be more serious.</a:t>
            </a:r>
          </a:p>
          <a:p>
            <a:pPr>
              <a:spcBef>
                <a:spcPts val="1000"/>
              </a:spcBef>
            </a:pPr>
            <a:r>
              <a:rPr lang="en-US" sz="2400" i="1" dirty="0"/>
              <a:t>Example: As women have entered the workforce in larger numbers, some household production has been replaced by paid childcare and restaurant meals. So increases in GDP may exaggerate the increase in actual total production.</a:t>
            </a:r>
            <a:endParaRPr lang="en-US" sz="2400" dirty="0"/>
          </a:p>
        </p:txBody>
      </p:sp>
    </p:spTree>
    <p:extLst>
      <p:ext uri="{BB962C8B-B14F-4D97-AF65-F5344CB8AC3E}">
        <p14:creationId xmlns:p14="http://schemas.microsoft.com/office/powerpoint/2010/main" val="4076914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Shortcomings of GDP as a Measure of Well-Being</a:t>
            </a:r>
          </a:p>
        </p:txBody>
      </p:sp>
      <p:sp>
        <p:nvSpPr>
          <p:cNvPr id="3" name="Content Placeholder 2"/>
          <p:cNvSpPr>
            <a:spLocks noGrp="1"/>
          </p:cNvSpPr>
          <p:nvPr>
            <p:ph idx="1"/>
          </p:nvPr>
        </p:nvSpPr>
        <p:spPr>
          <a:xfrm>
            <a:off x="457200" y="1447800"/>
            <a:ext cx="8229600" cy="4800600"/>
          </a:xfrm>
        </p:spPr>
        <p:txBody>
          <a:bodyPr>
            <a:noAutofit/>
          </a:bodyPr>
          <a:lstStyle/>
          <a:p>
            <a:pPr marL="0" indent="0">
              <a:spcBef>
                <a:spcPts val="1000"/>
              </a:spcBef>
              <a:spcAft>
                <a:spcPts val="0"/>
              </a:spcAft>
              <a:buNone/>
            </a:pPr>
            <a:r>
              <a:rPr lang="en-US" sz="2000" i="1" dirty="0"/>
              <a:t>GDP per capita</a:t>
            </a:r>
            <a:r>
              <a:rPr lang="en-US" sz="2000" dirty="0"/>
              <a:t> (i.e. GDP divided by population) is often used to represent differences in standards of living from country to country. However, even if it accurately measures total production, it would not reflect:</a:t>
            </a:r>
          </a:p>
          <a:p>
            <a:pPr>
              <a:spcBef>
                <a:spcPts val="1000"/>
              </a:spcBef>
            </a:pPr>
            <a:r>
              <a:rPr lang="en-US" sz="2000" i="1" dirty="0"/>
              <a:t>The value of leisure</a:t>
            </a:r>
          </a:p>
          <a:p>
            <a:pPr>
              <a:spcBef>
                <a:spcPts val="1000"/>
              </a:spcBef>
            </a:pPr>
            <a:r>
              <a:rPr lang="en-US" sz="2000" i="1" dirty="0"/>
              <a:t>Pollution and other negative effects of production</a:t>
            </a:r>
          </a:p>
          <a:p>
            <a:pPr>
              <a:spcBef>
                <a:spcPts val="1000"/>
              </a:spcBef>
            </a:pPr>
            <a:r>
              <a:rPr lang="en-US" sz="2000" i="1" dirty="0"/>
              <a:t>Crime and other social problems</a:t>
            </a:r>
          </a:p>
          <a:p>
            <a:pPr>
              <a:spcBef>
                <a:spcPts val="1000"/>
              </a:spcBef>
            </a:pPr>
            <a:r>
              <a:rPr lang="en-US" sz="2000" i="1" dirty="0"/>
              <a:t>The distribution of income</a:t>
            </a:r>
          </a:p>
          <a:p>
            <a:pPr marL="0" indent="0">
              <a:spcBef>
                <a:spcPts val="1000"/>
              </a:spcBef>
              <a:spcAft>
                <a:spcPts val="0"/>
              </a:spcAft>
              <a:buNone/>
            </a:pPr>
            <a:r>
              <a:rPr lang="en-US" sz="2000" dirty="0"/>
              <a:t>To summarize, a person’s well-being depends on many factors that are not considered when calculating GDP. </a:t>
            </a:r>
          </a:p>
          <a:p>
            <a:pPr marL="0" indent="0">
              <a:spcBef>
                <a:spcPts val="1000"/>
              </a:spcBef>
              <a:spcAft>
                <a:spcPts val="0"/>
              </a:spcAft>
              <a:buNone/>
            </a:pPr>
            <a:r>
              <a:rPr lang="en-US" sz="2000" i="1" dirty="0"/>
              <a:t>Example: Lower crime would allow lower spending on police, prisons, and private security. This would decrease GDP, but surely result in improvements in economic well-being.</a:t>
            </a:r>
            <a:endParaRPr lang="en-US" sz="2000" dirty="0"/>
          </a:p>
        </p:txBody>
      </p:sp>
    </p:spTree>
    <p:extLst>
      <p:ext uri="{BB962C8B-B14F-4D97-AF65-F5344CB8AC3E}">
        <p14:creationId xmlns:p14="http://schemas.microsoft.com/office/powerpoint/2010/main" val="3746908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38664"/>
          </a:xfrm>
        </p:spPr>
        <p:txBody>
          <a:bodyPr>
            <a:noAutofit/>
          </a:bodyPr>
          <a:lstStyle/>
          <a:p>
            <a:r>
              <a:rPr lang="en-US" dirty="0">
                <a:latin typeface="+mj-lt"/>
              </a:rPr>
              <a:t>Social Explorer: GDP and Happiness</a:t>
            </a:r>
          </a:p>
        </p:txBody>
      </p:sp>
      <p:sp>
        <p:nvSpPr>
          <p:cNvPr id="3" name="Content Placeholder 2"/>
          <p:cNvSpPr>
            <a:spLocks noGrp="1"/>
          </p:cNvSpPr>
          <p:nvPr>
            <p:ph idx="1"/>
          </p:nvPr>
        </p:nvSpPr>
        <p:spPr>
          <a:xfrm>
            <a:off x="457200" y="1419224"/>
            <a:ext cx="3962400" cy="3924151"/>
          </a:xfrm>
        </p:spPr>
        <p:txBody>
          <a:bodyPr>
            <a:noAutofit/>
          </a:bodyPr>
          <a:lstStyle/>
          <a:p>
            <a:pPr marL="0" indent="0">
              <a:spcBef>
                <a:spcPts val="600"/>
              </a:spcBef>
              <a:spcAft>
                <a:spcPts val="0"/>
              </a:spcAft>
              <a:buNone/>
            </a:pPr>
            <a:r>
              <a:rPr lang="en-US" sz="2000" dirty="0"/>
              <a:t>GDP isn’t meant to measure well-being, but well-being and GDP are related.</a:t>
            </a:r>
          </a:p>
          <a:p>
            <a:pPr marL="0" indent="0">
              <a:spcBef>
                <a:spcPts val="600"/>
              </a:spcBef>
              <a:spcAft>
                <a:spcPts val="0"/>
              </a:spcAft>
              <a:buNone/>
            </a:pPr>
            <a:r>
              <a:rPr lang="en-US" sz="2000" dirty="0"/>
              <a:t>OECD constructed the “Better Life Index” meant to measure well being.</a:t>
            </a:r>
          </a:p>
          <a:p>
            <a:pPr marL="273050" indent="-273050">
              <a:spcBef>
                <a:spcPts val="600"/>
              </a:spcBef>
            </a:pPr>
            <a:r>
              <a:rPr lang="en-US" sz="2000" dirty="0"/>
              <a:t>It turns out that higher GDP per person and a high Better Life Index often go together.</a:t>
            </a:r>
          </a:p>
          <a:p>
            <a:pPr marL="273050" indent="-273050">
              <a:spcBef>
                <a:spcPts val="600"/>
              </a:spcBef>
            </a:pPr>
            <a:r>
              <a:rPr lang="en-US" sz="2000" dirty="0"/>
              <a:t>GDP isn’t a perfect measure of well-being, but it actually performs pretty well.</a:t>
            </a:r>
          </a:p>
        </p:txBody>
      </p:sp>
      <p:sp>
        <p:nvSpPr>
          <p:cNvPr id="8" name="Content Placeholder 7"/>
          <p:cNvSpPr>
            <a:spLocks noGrp="1"/>
          </p:cNvSpPr>
          <p:nvPr>
            <p:ph idx="13"/>
          </p:nvPr>
        </p:nvSpPr>
        <p:spPr>
          <a:xfrm>
            <a:off x="4641715" y="1419224"/>
            <a:ext cx="3962400" cy="1047750"/>
          </a:xfrm>
        </p:spPr>
        <p:txBody>
          <a:bodyPr>
            <a:noAutofit/>
          </a:bodyPr>
          <a:lstStyle/>
          <a:p>
            <a:pPr marL="0" indent="0">
              <a:spcBef>
                <a:spcPts val="1000"/>
              </a:spcBef>
              <a:buNone/>
            </a:pPr>
            <a:r>
              <a:rPr lang="en-IN" sz="2000" b="1" dirty="0"/>
              <a:t>Well-being and Wealth </a:t>
            </a:r>
          </a:p>
          <a:p>
            <a:pPr marL="0" indent="0">
              <a:spcBef>
                <a:spcPts val="1000"/>
              </a:spcBef>
              <a:buNone/>
            </a:pPr>
            <a:r>
              <a:rPr lang="en-US" sz="2000" dirty="0"/>
              <a:t>OECD Better Life Index (10 = best) and GDP per person, 2017</a:t>
            </a:r>
            <a:endParaRPr lang="en-IN" sz="2000" b="1" dirty="0"/>
          </a:p>
        </p:txBody>
      </p:sp>
      <p:sp>
        <p:nvSpPr>
          <p:cNvPr id="9" name="Content Placeholder 8"/>
          <p:cNvSpPr>
            <a:spLocks noGrp="1"/>
          </p:cNvSpPr>
          <p:nvPr>
            <p:ph sz="quarter" idx="14"/>
          </p:nvPr>
        </p:nvSpPr>
        <p:spPr>
          <a:xfrm>
            <a:off x="4653064" y="2476702"/>
            <a:ext cx="4137169" cy="628652"/>
          </a:xfrm>
        </p:spPr>
        <p:txBody>
          <a:bodyPr>
            <a:noAutofit/>
          </a:bodyPr>
          <a:lstStyle/>
          <a:p>
            <a:pPr marL="0" indent="0" algn="l">
              <a:buNone/>
            </a:pPr>
            <a:r>
              <a:rPr lang="en-US" sz="1200" b="1" i="0" u="none" strike="noStrike" baseline="0" dirty="0">
                <a:latin typeface="+mj-lt"/>
              </a:rPr>
              <a:t>SOURCE:</a:t>
            </a:r>
            <a:r>
              <a:rPr lang="en-US" sz="1200" b="0" i="0" u="none" strike="noStrike" baseline="0" dirty="0">
                <a:latin typeface="+mj-lt"/>
              </a:rPr>
              <a:t> Data from Well-being and wealth: OECD Better Life index (10 = best) and GDP per person, 2017, The </a:t>
            </a:r>
            <a:r>
              <a:rPr lang="en-US" sz="1200" b="0" i="0" u="none" strike="noStrike" baseline="0" dirty="0" err="1">
                <a:latin typeface="+mj-lt"/>
              </a:rPr>
              <a:t>Organisation</a:t>
            </a:r>
            <a:r>
              <a:rPr lang="en-US" sz="1200" b="0" i="0" u="none" strike="noStrike" baseline="0" dirty="0">
                <a:latin typeface="+mj-lt"/>
              </a:rPr>
              <a:t> for Economic Co-operation </a:t>
            </a:r>
            <a:r>
              <a:rPr lang="en-IN" sz="1200" b="0" i="0" u="none" strike="noStrike" baseline="0" dirty="0">
                <a:latin typeface="+mj-lt"/>
              </a:rPr>
              <a:t>and Development.</a:t>
            </a:r>
            <a:endParaRPr lang="en-IN" sz="1200" dirty="0">
              <a:latin typeface="+mj-lt"/>
            </a:endParaRPr>
          </a:p>
        </p:txBody>
      </p:sp>
      <p:pic>
        <p:nvPicPr>
          <p:cNvPr id="5" name="Picture 4" descr="A scatter plot depicting O E C D better life index and real G D P per capita at purchasing power parity.">
            <a:extLst>
              <a:ext uri="{FF2B5EF4-FFF2-40B4-BE49-F238E27FC236}">
                <a16:creationId xmlns:a16="http://schemas.microsoft.com/office/drawing/2014/main" id="{10DF3ED2-BD1C-DC39-BECA-95B7F3536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3094" y="3127067"/>
            <a:ext cx="4180926" cy="2667000"/>
          </a:xfrm>
          <a:prstGeom prst="rect">
            <a:avLst/>
          </a:prstGeom>
        </p:spPr>
      </p:pic>
      <p:sp>
        <p:nvSpPr>
          <p:cNvPr id="6" name="TextBox 5">
            <a:extLst>
              <a:ext uri="{FF2B5EF4-FFF2-40B4-BE49-F238E27FC236}">
                <a16:creationId xmlns:a16="http://schemas.microsoft.com/office/drawing/2014/main" id="{19F4B474-833A-5264-010F-1B518374BDD5}"/>
              </a:ext>
            </a:extLst>
          </p:cNvPr>
          <p:cNvSpPr txBox="1"/>
          <p:nvPr/>
        </p:nvSpPr>
        <p:spPr>
          <a:xfrm>
            <a:off x="609600" y="5835867"/>
            <a:ext cx="8409232" cy="461665"/>
          </a:xfrm>
          <a:prstGeom prst="rect">
            <a:avLst/>
          </a:prstGeom>
          <a:noFill/>
        </p:spPr>
        <p:txBody>
          <a:bodyPr wrap="square">
            <a:spAutoFit/>
          </a:bodyPr>
          <a:lstStyle/>
          <a:p>
            <a:pPr algn="l"/>
            <a:r>
              <a:rPr lang="en-US" sz="1200" b="1" i="0" u="none" strike="noStrike" baseline="0" dirty="0">
                <a:latin typeface="+mj-lt"/>
              </a:rPr>
              <a:t>SOURCES:</a:t>
            </a:r>
            <a:r>
              <a:rPr lang="en-US" sz="1200" b="0" i="0" u="none" strike="noStrike" baseline="0" dirty="0">
                <a:latin typeface="+mj-lt"/>
              </a:rPr>
              <a:t> OECD Better Life Index, https://www.oecdbetterlifeindex.org/#/11111111111; OECD Aggregate National Accounts, SNA 2008 (or SNA1993): Gross Domestic Product, https://data.oecd.org/gdp/gross-domesticproduct-</a:t>
            </a:r>
            <a:r>
              <a:rPr lang="en-IN" sz="1200" b="0" i="0" u="none" strike="noStrike" baseline="0" dirty="0">
                <a:latin typeface="+mj-lt"/>
              </a:rPr>
              <a:t>gdp.htm.</a:t>
            </a:r>
            <a:endParaRPr lang="en-IN" sz="1200" dirty="0">
              <a:latin typeface="+mj-lt"/>
            </a:endParaRPr>
          </a:p>
        </p:txBody>
      </p:sp>
    </p:spTree>
    <p:extLst>
      <p:ext uri="{BB962C8B-B14F-4D97-AF65-F5344CB8AC3E}">
        <p14:creationId xmlns:p14="http://schemas.microsoft.com/office/powerpoint/2010/main" val="379824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Real GDP versus Nominal GDP</a:t>
            </a:r>
          </a:p>
        </p:txBody>
      </p:sp>
      <p:sp>
        <p:nvSpPr>
          <p:cNvPr id="4" name="Text Placeholder 3">
            <a:extLst>
              <a:ext uri="{FF2B5EF4-FFF2-40B4-BE49-F238E27FC236}">
                <a16:creationId xmlns:a16="http://schemas.microsoft.com/office/drawing/2014/main" id="{4E642DB6-6C89-9E5D-C50D-FC7BF875BFF3}"/>
              </a:ext>
            </a:extLst>
          </p:cNvPr>
          <p:cNvSpPr>
            <a:spLocks noGrp="1"/>
          </p:cNvSpPr>
          <p:nvPr>
            <p:ph type="body" sz="quarter" idx="13"/>
          </p:nvPr>
        </p:nvSpPr>
        <p:spPr/>
        <p:txBody>
          <a:bodyPr/>
          <a:lstStyle/>
          <a:p>
            <a:r>
              <a:rPr lang="en-US" sz="2400" b="1" dirty="0">
                <a:solidFill>
                  <a:schemeClr val="tx1"/>
                </a:solidFill>
              </a:rPr>
              <a:t>4.3 Learning Objective</a:t>
            </a:r>
          </a:p>
        </p:txBody>
      </p:sp>
      <p:sp>
        <p:nvSpPr>
          <p:cNvPr id="3" name="Subtitle 2"/>
          <p:cNvSpPr>
            <a:spLocks noGrp="1"/>
          </p:cNvSpPr>
          <p:nvPr>
            <p:ph sz="quarter" idx="14"/>
          </p:nvPr>
        </p:nvSpPr>
        <p:spPr/>
        <p:txBody>
          <a:bodyPr>
            <a:noAutofit/>
          </a:bodyPr>
          <a:lstStyle/>
          <a:p>
            <a:pPr marL="0" indent="0">
              <a:buNone/>
            </a:pPr>
            <a:r>
              <a:rPr lang="en-IN" dirty="0"/>
              <a:t>Discuss the difference between real GDP and nominal GDP.</a:t>
            </a:r>
          </a:p>
        </p:txBody>
      </p:sp>
    </p:spTree>
    <p:extLst>
      <p:ext uri="{BB962C8B-B14F-4D97-AF65-F5344CB8AC3E}">
        <p14:creationId xmlns:p14="http://schemas.microsoft.com/office/powerpoint/2010/main" val="460243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Real GDP</a:t>
            </a:r>
            <a:r>
              <a:rPr lang="en-US" sz="2000" dirty="0"/>
              <a:t> </a:t>
            </a:r>
            <a:r>
              <a:rPr lang="en-US" sz="2000" b="0" dirty="0"/>
              <a:t>(1 of 2)</a:t>
            </a:r>
          </a:p>
        </p:txBody>
      </p:sp>
      <p:sp>
        <p:nvSpPr>
          <p:cNvPr id="3" name="Content Placeholder 2"/>
          <p:cNvSpPr>
            <a:spLocks noGrp="1"/>
          </p:cNvSpPr>
          <p:nvPr>
            <p:ph idx="1"/>
          </p:nvPr>
        </p:nvSpPr>
        <p:spPr>
          <a:xfrm>
            <a:off x="457200" y="1447800"/>
            <a:ext cx="8229600" cy="4876800"/>
          </a:xfrm>
        </p:spPr>
        <p:txBody>
          <a:bodyPr>
            <a:noAutofit/>
          </a:bodyPr>
          <a:lstStyle/>
          <a:p>
            <a:pPr marL="0" indent="0">
              <a:spcBef>
                <a:spcPts val="1000"/>
              </a:spcBef>
              <a:buNone/>
            </a:pPr>
            <a:r>
              <a:rPr lang="en-US" sz="2000" dirty="0"/>
              <a:t>Since GDP is measured in “value” terms, we might have problems interpreting changes over time if prices change. </a:t>
            </a:r>
          </a:p>
          <a:p>
            <a:pPr marL="0" indent="0">
              <a:spcBef>
                <a:spcPts val="1000"/>
              </a:spcBef>
              <a:buNone/>
            </a:pPr>
            <a:r>
              <a:rPr lang="en-US" sz="2000" dirty="0"/>
              <a:t>Is the increase in GDP due to increase in production, or due to increase in prices?</a:t>
            </a:r>
          </a:p>
          <a:p>
            <a:pPr marL="0" indent="0">
              <a:spcBef>
                <a:spcPts val="1000"/>
              </a:spcBef>
              <a:buNone/>
            </a:pPr>
            <a:r>
              <a:rPr lang="en-US" sz="2000" dirty="0"/>
              <a:t>To separate these effects, Statistics Canada calculates both </a:t>
            </a:r>
            <a:r>
              <a:rPr lang="en-US" sz="2000" b="1" dirty="0"/>
              <a:t>nominal GDP</a:t>
            </a:r>
            <a:r>
              <a:rPr lang="en-US" sz="2000" dirty="0"/>
              <a:t>—the value of final goods and services evaluated at current-year prices—and </a:t>
            </a:r>
            <a:r>
              <a:rPr lang="en-US" sz="2000" b="1" dirty="0"/>
              <a:t>real GDP</a:t>
            </a:r>
            <a:r>
              <a:rPr lang="en-US" sz="2000" dirty="0"/>
              <a:t>—the value of final goods and services evaluated at base-year prices.</a:t>
            </a:r>
          </a:p>
          <a:p>
            <a:pPr marL="0" indent="0">
              <a:spcBef>
                <a:spcPts val="1000"/>
              </a:spcBef>
              <a:buNone/>
            </a:pPr>
            <a:r>
              <a:rPr lang="en-US" sz="2000" dirty="0"/>
              <a:t>The choice of a base-year is arbitrary; we might use any year’s prices to compare real GDP in each year. The current standard is 2012.</a:t>
            </a:r>
          </a:p>
          <a:p>
            <a:pPr marL="0" indent="0">
              <a:spcBef>
                <a:spcPts val="1000"/>
              </a:spcBef>
              <a:buNone/>
            </a:pPr>
            <a:r>
              <a:rPr lang="en-US" sz="2000" dirty="0"/>
              <a:t>The drawback of using base year is that </a:t>
            </a:r>
            <a:r>
              <a:rPr lang="en-US" sz="2000" i="1" dirty="0"/>
              <a:t>relative prices</a:t>
            </a:r>
            <a:r>
              <a:rPr lang="en-US" sz="2000" dirty="0"/>
              <a:t> also change from year to year, distorting real GDP calculations. Since 2003, Statistics Canada has used </a:t>
            </a:r>
            <a:r>
              <a:rPr lang="en-US" sz="2000" i="1" dirty="0"/>
              <a:t>chain-weighted</a:t>
            </a:r>
            <a:r>
              <a:rPr lang="en-US" sz="2000" dirty="0"/>
              <a:t> prices to reduce distortion, using previous-year prices to adjust current-year production measure.</a:t>
            </a:r>
            <a:endParaRPr lang="en-US" sz="2000" i="1" dirty="0"/>
          </a:p>
        </p:txBody>
      </p:sp>
    </p:spTree>
    <p:extLst>
      <p:ext uri="{BB962C8B-B14F-4D97-AF65-F5344CB8AC3E}">
        <p14:creationId xmlns:p14="http://schemas.microsoft.com/office/powerpoint/2010/main" val="2270285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D76872B-CE33-C14B-5A43-0B13578823F6}"/>
              </a:ext>
            </a:extLst>
          </p:cNvPr>
          <p:cNvSpPr>
            <a:spLocks noGrp="1"/>
          </p:cNvSpPr>
          <p:nvPr>
            <p:ph type="title"/>
          </p:nvPr>
        </p:nvSpPr>
        <p:spPr/>
        <p:txBody>
          <a:bodyPr/>
          <a:lstStyle/>
          <a:p>
            <a:r>
              <a:rPr lang="en-US" dirty="0">
                <a:latin typeface="+mj-lt"/>
              </a:rPr>
              <a:t>Calculating Real GDP</a:t>
            </a:r>
            <a:r>
              <a:rPr lang="en-US" sz="2000" dirty="0">
                <a:latin typeface="+mj-lt"/>
              </a:rPr>
              <a:t> </a:t>
            </a:r>
            <a:r>
              <a:rPr lang="en-US" sz="2000" b="0" dirty="0">
                <a:latin typeface="+mj-lt"/>
              </a:rPr>
              <a:t>(2 of 2)</a:t>
            </a:r>
            <a:endParaRPr lang="en-IN" sz="2000" dirty="0"/>
          </a:p>
        </p:txBody>
      </p:sp>
      <p:sp>
        <p:nvSpPr>
          <p:cNvPr id="3" name="Content Placeholder 2"/>
          <p:cNvSpPr>
            <a:spLocks noGrp="1"/>
          </p:cNvSpPr>
          <p:nvPr>
            <p:ph idx="1"/>
          </p:nvPr>
        </p:nvSpPr>
        <p:spPr>
          <a:xfrm>
            <a:off x="457200" y="1752600"/>
            <a:ext cx="4114800" cy="3675063"/>
          </a:xfrm>
        </p:spPr>
        <p:txBody>
          <a:bodyPr/>
          <a:lstStyle/>
          <a:p>
            <a:pPr marL="0" indent="0">
              <a:spcBef>
                <a:spcPts val="0"/>
              </a:spcBef>
              <a:spcAft>
                <a:spcPts val="1200"/>
              </a:spcAft>
              <a:buNone/>
            </a:pPr>
            <a:r>
              <a:rPr lang="en-US" sz="1800" dirty="0"/>
              <a:t>The table shows output and prices in 2012 and 2023.</a:t>
            </a:r>
          </a:p>
          <a:p>
            <a:pPr marL="0" indent="0">
              <a:spcBef>
                <a:spcPts val="0"/>
              </a:spcBef>
              <a:spcAft>
                <a:spcPts val="1200"/>
              </a:spcAft>
              <a:buNone/>
            </a:pPr>
            <a:r>
              <a:rPr lang="en-US" sz="1800" dirty="0"/>
              <a:t>Calculating the total value of output in 2023 using 2012 as base year gives:</a:t>
            </a:r>
          </a:p>
          <a:p>
            <a:pPr marL="0" indent="0">
              <a:spcBef>
                <a:spcPts val="0"/>
              </a:spcBef>
              <a:spcAft>
                <a:spcPts val="1200"/>
              </a:spcAft>
              <a:buNone/>
            </a:pPr>
            <a:r>
              <a:rPr lang="en-US" sz="1800" dirty="0"/>
              <a:t>$4000 + $880 + $1800 = $6680.</a:t>
            </a:r>
          </a:p>
          <a:p>
            <a:pPr marL="0" indent="0">
              <a:buNone/>
            </a:pPr>
            <a:r>
              <a:rPr lang="en-US" sz="1800" dirty="0"/>
              <a:t>Most prices increased from 2012 to 2023 so using nominal GDP would have yielded a higher figure: $7800.</a:t>
            </a:r>
          </a:p>
          <a:p>
            <a:pPr marL="0" indent="0">
              <a:buNone/>
            </a:pPr>
            <a:r>
              <a:rPr lang="en-US" sz="1800" dirty="0"/>
              <a:t>This highlights the need to use real GDP to avoid exaggerating growth.</a:t>
            </a:r>
          </a:p>
        </p:txBody>
      </p:sp>
      <p:graphicFrame>
        <p:nvGraphicFramePr>
          <p:cNvPr id="5" name="Table 4">
            <a:extLst>
              <a:ext uri="{FF2B5EF4-FFF2-40B4-BE49-F238E27FC236}">
                <a16:creationId xmlns:a16="http://schemas.microsoft.com/office/drawing/2014/main" id="{7BF747FF-072C-78E6-4343-1208D5D932CF}"/>
              </a:ext>
            </a:extLst>
          </p:cNvPr>
          <p:cNvGraphicFramePr>
            <a:graphicFrameLocks noGrp="1"/>
          </p:cNvGraphicFramePr>
          <p:nvPr>
            <p:extLst>
              <p:ext uri="{D42A27DB-BD31-4B8C-83A1-F6EECF244321}">
                <p14:modId xmlns:p14="http://schemas.microsoft.com/office/powerpoint/2010/main" val="54577128"/>
              </p:ext>
            </p:extLst>
          </p:nvPr>
        </p:nvGraphicFramePr>
        <p:xfrm>
          <a:off x="4724400" y="1813367"/>
          <a:ext cx="3907419" cy="1607496"/>
        </p:xfrm>
        <a:graphic>
          <a:graphicData uri="http://schemas.openxmlformats.org/drawingml/2006/table">
            <a:tbl>
              <a:tblPr firstRow="1" bandRow="1">
                <a:tableStyleId>{3B4B98B0-60AC-42C2-AFA5-B58CD77FA1E5}</a:tableStyleId>
              </a:tblPr>
              <a:tblGrid>
                <a:gridCol w="881395">
                  <a:extLst>
                    <a:ext uri="{9D8B030D-6E8A-4147-A177-3AD203B41FA5}">
                      <a16:colId xmlns:a16="http://schemas.microsoft.com/office/drawing/2014/main" val="20000"/>
                    </a:ext>
                  </a:extLst>
                </a:gridCol>
                <a:gridCol w="816225">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685799">
                  <a:extLst>
                    <a:ext uri="{9D8B030D-6E8A-4147-A177-3AD203B41FA5}">
                      <a16:colId xmlns:a16="http://schemas.microsoft.com/office/drawing/2014/main" val="3221802638"/>
                    </a:ext>
                  </a:extLst>
                </a:gridCol>
              </a:tblGrid>
              <a:tr h="475318">
                <a:tc>
                  <a:txBody>
                    <a:bodyPr/>
                    <a:lstStyle/>
                    <a:p>
                      <a:pPr algn="ctr"/>
                      <a:r>
                        <a:rPr lang="en-IN" sz="1200" b="1" i="0" u="none" strike="noStrike" kern="1200" baseline="0" dirty="0">
                          <a:solidFill>
                            <a:schemeClr val="bg1"/>
                          </a:solidFill>
                          <a:latin typeface="+mn-lt"/>
                          <a:ea typeface="+mn-ea"/>
                          <a:cs typeface="+mn-cs"/>
                        </a:rPr>
                        <a:t>Product</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IN" sz="1200" b="1" i="0" u="none" strike="noStrike" kern="1200" baseline="0" dirty="0">
                          <a:solidFill>
                            <a:schemeClr val="bg1"/>
                          </a:solidFill>
                          <a:latin typeface="+mn-lt"/>
                          <a:ea typeface="+mn-ea"/>
                          <a:cs typeface="+mn-cs"/>
                        </a:rPr>
                        <a:t>2012 Quantity</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IN" sz="1200" b="1" i="0" u="none" strike="noStrike" kern="1200" baseline="0" dirty="0">
                          <a:solidFill>
                            <a:schemeClr val="bg1"/>
                          </a:solidFill>
                          <a:latin typeface="+mn-lt"/>
                          <a:ea typeface="+mn-ea"/>
                          <a:cs typeface="+mn-cs"/>
                        </a:rPr>
                        <a:t>2012 Price</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IN" sz="1200" b="1" i="0" u="none" strike="noStrike" kern="1200" baseline="0" dirty="0">
                          <a:solidFill>
                            <a:schemeClr val="bg1"/>
                          </a:solidFill>
                          <a:latin typeface="+mn-lt"/>
                          <a:ea typeface="+mn-ea"/>
                          <a:cs typeface="+mn-cs"/>
                        </a:rPr>
                        <a:t>2023</a:t>
                      </a:r>
                    </a:p>
                    <a:p>
                      <a:pPr algn="ctr"/>
                      <a:r>
                        <a:rPr lang="en-IN" sz="1200" b="1" i="0" u="none" strike="noStrike" kern="1200" baseline="0" dirty="0">
                          <a:solidFill>
                            <a:schemeClr val="bg1"/>
                          </a:solidFill>
                          <a:latin typeface="+mn-lt"/>
                          <a:ea typeface="+mn-ea"/>
                          <a:cs typeface="+mn-cs"/>
                        </a:rPr>
                        <a:t>Quantity</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IN" sz="1200" b="1" dirty="0">
                          <a:solidFill>
                            <a:schemeClr val="bg1"/>
                          </a:solidFill>
                        </a:rPr>
                        <a:t>2023 Price</a:t>
                      </a: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37489">
                <a:tc>
                  <a:txBody>
                    <a:bodyPr/>
                    <a:lstStyle/>
                    <a:p>
                      <a:r>
                        <a:rPr lang="en-IN" sz="1200" b="0" i="0" u="none" strike="noStrike" kern="1200" baseline="0" dirty="0">
                          <a:solidFill>
                            <a:schemeClr val="tx1"/>
                          </a:solidFill>
                          <a:latin typeface="+mn-lt"/>
                          <a:ea typeface="+mn-ea"/>
                          <a:cs typeface="+mn-cs"/>
                        </a:rPr>
                        <a:t>Energy drinks</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80</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$40</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100</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200" dirty="0"/>
                        <a:t>$50</a:t>
                      </a: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37489">
                <a:tc>
                  <a:txBody>
                    <a:bodyPr/>
                    <a:lstStyle/>
                    <a:p>
                      <a:r>
                        <a:rPr lang="en-IN" sz="1200" b="0" i="0" u="none" strike="noStrike" kern="1200" baseline="0" dirty="0">
                          <a:solidFill>
                            <a:schemeClr val="tx1"/>
                          </a:solidFill>
                          <a:latin typeface="+mn-lt"/>
                          <a:ea typeface="+mn-ea"/>
                          <a:cs typeface="+mn-cs"/>
                        </a:rPr>
                        <a:t>Pizzas</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90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11</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80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dirty="0"/>
                        <a:t>10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37489">
                <a:tc>
                  <a:txBody>
                    <a:bodyPr/>
                    <a:lstStyle/>
                    <a:p>
                      <a:r>
                        <a:rPr lang="en-IN" sz="1200" b="0" i="0" u="none" strike="noStrike" kern="1200" baseline="0" dirty="0">
                          <a:solidFill>
                            <a:schemeClr val="tx1"/>
                          </a:solidFill>
                          <a:latin typeface="+mn-lt"/>
                          <a:ea typeface="+mn-ea"/>
                          <a:cs typeface="+mn-cs"/>
                        </a:rPr>
                        <a:t>Textbooks</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15</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90</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20</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200" dirty="0"/>
                        <a:t>100</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86285477"/>
              </p:ext>
            </p:extLst>
          </p:nvPr>
        </p:nvGraphicFramePr>
        <p:xfrm>
          <a:off x="4715718" y="3711933"/>
          <a:ext cx="3907420" cy="1469667"/>
        </p:xfrm>
        <a:graphic>
          <a:graphicData uri="http://schemas.openxmlformats.org/drawingml/2006/table">
            <a:tbl>
              <a:tblPr firstRow="1" bandRow="1">
                <a:tableStyleId>{3B4B98B0-60AC-42C2-AFA5-B58CD77FA1E5}</a:tableStyleId>
              </a:tblPr>
              <a:tblGrid>
                <a:gridCol w="1157753">
                  <a:extLst>
                    <a:ext uri="{9D8B030D-6E8A-4147-A177-3AD203B41FA5}">
                      <a16:colId xmlns:a16="http://schemas.microsoft.com/office/drawing/2014/main" val="20000"/>
                    </a:ext>
                  </a:extLst>
                </a:gridCol>
                <a:gridCol w="868315">
                  <a:extLst>
                    <a:ext uri="{9D8B030D-6E8A-4147-A177-3AD203B41FA5}">
                      <a16:colId xmlns:a16="http://schemas.microsoft.com/office/drawing/2014/main" val="20001"/>
                    </a:ext>
                  </a:extLst>
                </a:gridCol>
                <a:gridCol w="795957">
                  <a:extLst>
                    <a:ext uri="{9D8B030D-6E8A-4147-A177-3AD203B41FA5}">
                      <a16:colId xmlns:a16="http://schemas.microsoft.com/office/drawing/2014/main" val="20002"/>
                    </a:ext>
                  </a:extLst>
                </a:gridCol>
                <a:gridCol w="1085395">
                  <a:extLst>
                    <a:ext uri="{9D8B030D-6E8A-4147-A177-3AD203B41FA5}">
                      <a16:colId xmlns:a16="http://schemas.microsoft.com/office/drawing/2014/main" val="20003"/>
                    </a:ext>
                  </a:extLst>
                </a:gridCol>
              </a:tblGrid>
              <a:tr h="457200">
                <a:tc>
                  <a:txBody>
                    <a:bodyPr/>
                    <a:lstStyle/>
                    <a:p>
                      <a:pPr algn="ctr"/>
                      <a:r>
                        <a:rPr lang="en-IN" sz="1200" b="1" i="0" u="none" strike="noStrike" kern="1200" baseline="0" dirty="0">
                          <a:solidFill>
                            <a:schemeClr val="bg1"/>
                          </a:solidFill>
                          <a:latin typeface="+mn-lt"/>
                          <a:ea typeface="+mn-ea"/>
                          <a:cs typeface="+mn-cs"/>
                        </a:rPr>
                        <a:t>Product</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IN" sz="1200" b="1" i="0" u="none" strike="noStrike" kern="1200" baseline="0" dirty="0">
                          <a:solidFill>
                            <a:schemeClr val="bg1"/>
                          </a:solidFill>
                          <a:latin typeface="+mn-lt"/>
                          <a:ea typeface="+mn-ea"/>
                          <a:cs typeface="+mn-cs"/>
                        </a:rPr>
                        <a:t>2023 Quantity</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IN" sz="1200" b="1" i="0" u="none" strike="noStrike" kern="1200" baseline="0" dirty="0">
                          <a:solidFill>
                            <a:schemeClr val="bg1"/>
                          </a:solidFill>
                          <a:latin typeface="+mn-lt"/>
                          <a:ea typeface="+mn-ea"/>
                          <a:cs typeface="+mn-cs"/>
                        </a:rPr>
                        <a:t>2012 Price</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IN" sz="1200" b="1" i="0" u="none" strike="noStrike" kern="1200" baseline="0" dirty="0">
                          <a:solidFill>
                            <a:schemeClr val="bg1"/>
                          </a:solidFill>
                          <a:latin typeface="+mn-lt"/>
                          <a:ea typeface="+mn-ea"/>
                          <a:cs typeface="+mn-cs"/>
                        </a:rPr>
                        <a:t>Value</a:t>
                      </a:r>
                      <a:endParaRPr lang="en-IN" sz="1200" b="1" dirty="0">
                        <a:solidFill>
                          <a:schemeClr val="bg1"/>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37489">
                <a:tc>
                  <a:txBody>
                    <a:bodyPr/>
                    <a:lstStyle/>
                    <a:p>
                      <a:r>
                        <a:rPr lang="en-IN" sz="1200" b="0" i="0" u="none" strike="noStrike" kern="1200" baseline="0" dirty="0">
                          <a:solidFill>
                            <a:schemeClr val="tx1"/>
                          </a:solidFill>
                          <a:latin typeface="+mn-lt"/>
                          <a:ea typeface="+mn-ea"/>
                          <a:cs typeface="+mn-cs"/>
                        </a:rPr>
                        <a:t>Energy drinks</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100</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$40</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$4000</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37489">
                <a:tc>
                  <a:txBody>
                    <a:bodyPr/>
                    <a:lstStyle/>
                    <a:p>
                      <a:r>
                        <a:rPr lang="en-IN" sz="1200" b="0" i="0" u="none" strike="noStrike" kern="1200" baseline="0" dirty="0">
                          <a:solidFill>
                            <a:schemeClr val="tx1"/>
                          </a:solidFill>
                          <a:latin typeface="+mn-lt"/>
                          <a:ea typeface="+mn-ea"/>
                          <a:cs typeface="+mn-cs"/>
                        </a:rPr>
                        <a:t>Pizzas</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80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11</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880</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37489">
                <a:tc>
                  <a:txBody>
                    <a:bodyPr/>
                    <a:lstStyle/>
                    <a:p>
                      <a:r>
                        <a:rPr lang="en-IN" sz="1200" b="0" i="0" u="none" strike="noStrike" kern="1200" baseline="0" dirty="0">
                          <a:solidFill>
                            <a:schemeClr val="tx1"/>
                          </a:solidFill>
                          <a:latin typeface="+mn-lt"/>
                          <a:ea typeface="+mn-ea"/>
                          <a:cs typeface="+mn-cs"/>
                        </a:rPr>
                        <a:t>Textbooks</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20</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90</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ctr"/>
                      <a:r>
                        <a:rPr lang="en-IN" sz="1200" b="0" i="0" u="none" strike="noStrike" kern="1200" baseline="0" dirty="0">
                          <a:solidFill>
                            <a:schemeClr val="tx1"/>
                          </a:solidFill>
                          <a:latin typeface="+mn-lt"/>
                          <a:ea typeface="+mn-ea"/>
                          <a:cs typeface="+mn-cs"/>
                        </a:rPr>
                        <a:t>1800</a:t>
                      </a:r>
                      <a:endParaRPr lang="en-IN" sz="1200"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39032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4799"/>
            <a:ext cx="8229600" cy="687201"/>
          </a:xfrm>
        </p:spPr>
        <p:txBody>
          <a:bodyPr>
            <a:noAutofit/>
          </a:bodyPr>
          <a:lstStyle/>
          <a:p>
            <a:r>
              <a:rPr lang="en-US" dirty="0">
                <a:latin typeface="+mj-lt"/>
              </a:rPr>
              <a:t>Figure 4.4 Nominal GDP and Real GDP</a:t>
            </a:r>
          </a:p>
        </p:txBody>
      </p:sp>
      <p:sp>
        <p:nvSpPr>
          <p:cNvPr id="3" name="Content Placeholder 2"/>
          <p:cNvSpPr>
            <a:spLocks noGrp="1"/>
          </p:cNvSpPr>
          <p:nvPr>
            <p:ph idx="1"/>
          </p:nvPr>
        </p:nvSpPr>
        <p:spPr>
          <a:xfrm>
            <a:off x="457200" y="1066800"/>
            <a:ext cx="3962400" cy="4867275"/>
          </a:xfrm>
        </p:spPr>
        <p:txBody>
          <a:bodyPr>
            <a:noAutofit/>
          </a:bodyPr>
          <a:lstStyle/>
          <a:p>
            <a:pPr marL="0" indent="0">
              <a:spcBef>
                <a:spcPts val="1000"/>
              </a:spcBef>
              <a:buNone/>
            </a:pPr>
            <a:r>
              <a:rPr lang="en-US" sz="2400" dirty="0"/>
              <a:t>The current base year for calculating prices is 2012, so real and nominal GDP are equal in 2012.</a:t>
            </a:r>
          </a:p>
          <a:p>
            <a:pPr marL="0" indent="0">
              <a:spcBef>
                <a:spcPts val="1000"/>
              </a:spcBef>
              <a:buNone/>
            </a:pPr>
            <a:r>
              <a:rPr lang="en-US" sz="2400" dirty="0"/>
              <a:t>Growth figures reported in the media are the growth in real GDP.</a:t>
            </a:r>
          </a:p>
          <a:p>
            <a:pPr marL="0" indent="0">
              <a:spcBef>
                <a:spcPts val="1000"/>
              </a:spcBef>
              <a:buNone/>
            </a:pPr>
            <a:r>
              <a:rPr lang="en-US" sz="2400" dirty="0"/>
              <a:t>Since prices have generally increased since 2012, real GDP is less than nominal GDP, and the opposite is true </a:t>
            </a:r>
            <a:r>
              <a:rPr lang="en-US" sz="2400" i="1" dirty="0"/>
              <a:t>before</a:t>
            </a:r>
            <a:r>
              <a:rPr lang="en-US" sz="2400" dirty="0"/>
              <a:t> 2012.</a:t>
            </a:r>
          </a:p>
        </p:txBody>
      </p:sp>
      <p:sp>
        <p:nvSpPr>
          <p:cNvPr id="9" name="Content Placeholder 8"/>
          <p:cNvSpPr>
            <a:spLocks noGrp="1"/>
          </p:cNvSpPr>
          <p:nvPr>
            <p:ph idx="13"/>
          </p:nvPr>
        </p:nvSpPr>
        <p:spPr>
          <a:xfrm>
            <a:off x="4962000" y="4617911"/>
            <a:ext cx="3886200" cy="553998"/>
          </a:xfrm>
        </p:spPr>
        <p:txBody>
          <a:bodyPr>
            <a:noAutofit/>
          </a:bodyPr>
          <a:lstStyle/>
          <a:p>
            <a:pPr marL="0" indent="0">
              <a:buNone/>
            </a:pPr>
            <a:r>
              <a:rPr lang="en-US" sz="1200" b="1" dirty="0"/>
              <a:t>SOURCE: </a:t>
            </a:r>
            <a:r>
              <a:rPr lang="en-US" sz="1200" dirty="0"/>
              <a:t>Statistics Canada, “Gross Domestic Product, Expenditure Based, Provincial and Territorial, Annual (×1,000,000),” Table 36-10.0222-01.</a:t>
            </a:r>
            <a:endParaRPr lang="en-IN" sz="1200" dirty="0"/>
          </a:p>
        </p:txBody>
      </p:sp>
      <p:pic>
        <p:nvPicPr>
          <p:cNvPr id="5" name="Picture 4" descr="The x-axis lists the years from 1981 to 2019 in increments of 2. The y-axis labeled, real and nominal G D P in millions of dollars ranges from 0 to 2,500,000 at intervals of 500,000. The line for real G D P slopes upward from 900,000 in 1981 and shows a growing trend over the years. The line for nominal G D P slopes upward from 400,000 in 1981 and shows a growing trend over the years. The two lines intersect at (2012, 1700000) and the point is marked base year 2012. The values used in the description are approximate.">
            <a:extLst>
              <a:ext uri="{FF2B5EF4-FFF2-40B4-BE49-F238E27FC236}">
                <a16:creationId xmlns:a16="http://schemas.microsoft.com/office/drawing/2014/main" id="{5CCE6495-0A9A-C4F2-CA3D-56A6E0943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1219200"/>
            <a:ext cx="4391311" cy="3218510"/>
          </a:xfrm>
          <a:prstGeom prst="rect">
            <a:avLst/>
          </a:prstGeom>
        </p:spPr>
      </p:pic>
    </p:spTree>
    <p:extLst>
      <p:ext uri="{BB962C8B-B14F-4D97-AF65-F5344CB8AC3E}">
        <p14:creationId xmlns:p14="http://schemas.microsoft.com/office/powerpoint/2010/main" val="3572878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3F57B5-8D76-72D6-D0FC-CD337DCEB071}"/>
              </a:ext>
            </a:extLst>
          </p:cNvPr>
          <p:cNvSpPr>
            <a:spLocks noGrp="1"/>
          </p:cNvSpPr>
          <p:nvPr>
            <p:ph type="title"/>
          </p:nvPr>
        </p:nvSpPr>
        <p:spPr/>
        <p:txBody>
          <a:bodyPr/>
          <a:lstStyle/>
          <a:p>
            <a:r>
              <a:rPr lang="en-US" dirty="0">
                <a:latin typeface="+mj-lt"/>
              </a:rPr>
              <a:t>The GDP Deflator</a:t>
            </a:r>
            <a:endParaRPr lang="en-IN" dirty="0"/>
          </a:p>
        </p:txBody>
      </p:sp>
      <p:sp>
        <p:nvSpPr>
          <p:cNvPr id="7" name="Content Placeholder 6">
            <a:extLst>
              <a:ext uri="{FF2B5EF4-FFF2-40B4-BE49-F238E27FC236}">
                <a16:creationId xmlns:a16="http://schemas.microsoft.com/office/drawing/2014/main" id="{81F50737-092E-BCF0-9A32-7540F4C9BA17}"/>
              </a:ext>
            </a:extLst>
          </p:cNvPr>
          <p:cNvSpPr>
            <a:spLocks noGrp="1"/>
          </p:cNvSpPr>
          <p:nvPr>
            <p:ph idx="1"/>
          </p:nvPr>
        </p:nvSpPr>
        <p:spPr/>
        <p:txBody>
          <a:bodyPr/>
          <a:lstStyle/>
          <a:p>
            <a:pPr marL="0" indent="0">
              <a:spcBef>
                <a:spcPts val="1000"/>
              </a:spcBef>
              <a:buNone/>
            </a:pPr>
            <a:r>
              <a:rPr lang="en-US" sz="1800" dirty="0"/>
              <a:t>Economists and policy-makers are interested in the </a:t>
            </a:r>
            <a:r>
              <a:rPr lang="en-US" sz="1800" b="1" dirty="0"/>
              <a:t>price level:</a:t>
            </a:r>
            <a:r>
              <a:rPr lang="en-US" sz="1800" dirty="0"/>
              <a:t> a measure of the average prices of goods and services in the economy.</a:t>
            </a:r>
          </a:p>
          <a:p>
            <a:pPr>
              <a:spcBef>
                <a:spcPts val="1000"/>
              </a:spcBef>
            </a:pPr>
            <a:r>
              <a:rPr lang="en-US" sz="1800" dirty="0"/>
              <a:t>Stable prices are desirable because they allow households and firms to plan for the future appropriately.</a:t>
            </a:r>
          </a:p>
          <a:p>
            <a:pPr marL="0" indent="0">
              <a:spcBef>
                <a:spcPts val="1000"/>
              </a:spcBef>
              <a:buNone/>
            </a:pPr>
            <a:r>
              <a:rPr lang="en-US" sz="1800" dirty="0"/>
              <a:t>In order to know whether we are achieving price stability, we need to </a:t>
            </a:r>
            <a:r>
              <a:rPr lang="en-US" sz="1800" i="1" dirty="0"/>
              <a:t>measure</a:t>
            </a:r>
            <a:r>
              <a:rPr lang="en-US" sz="1800" dirty="0"/>
              <a:t> the price level.</a:t>
            </a:r>
          </a:p>
          <a:p>
            <a:pPr>
              <a:spcBef>
                <a:spcPts val="1000"/>
              </a:spcBef>
            </a:pPr>
            <a:r>
              <a:rPr lang="en-US" sz="1800" dirty="0"/>
              <a:t>One way to do this is using the </a:t>
            </a:r>
            <a:r>
              <a:rPr lang="en-US" sz="1800" b="1" dirty="0"/>
              <a:t>GDP deflator:</a:t>
            </a:r>
            <a:r>
              <a:rPr lang="en-US" sz="1800" dirty="0"/>
              <a:t> a measure of the price level, calculated by dividing nominal GDP by real GDP and multiplying by 100:</a:t>
            </a:r>
          </a:p>
          <a:p>
            <a:pPr>
              <a:spcBef>
                <a:spcPts val="1000"/>
              </a:spcBef>
            </a:pPr>
            <a:endParaRPr lang="en-US" sz="1800" dirty="0"/>
          </a:p>
          <a:p>
            <a:pPr>
              <a:spcBef>
                <a:spcPts val="1000"/>
              </a:spcBef>
            </a:pPr>
            <a:endParaRPr lang="en-US" sz="1800" dirty="0"/>
          </a:p>
          <a:p>
            <a:pPr>
              <a:spcBef>
                <a:spcPts val="1000"/>
              </a:spcBef>
            </a:pPr>
            <a:r>
              <a:rPr lang="en-US" sz="1800" kern="0" dirty="0"/>
              <a:t>Since nominal and real GDP will be the same in the base year, the GDP deflator will be 100 in the base year.</a:t>
            </a:r>
            <a:endParaRPr lang="en-US" sz="1800" dirty="0"/>
          </a:p>
        </p:txBody>
      </p:sp>
      <p:graphicFrame>
        <p:nvGraphicFramePr>
          <p:cNvPr id="9" name="Object 8">
            <a:extLst>
              <a:ext uri="{FF2B5EF4-FFF2-40B4-BE49-F238E27FC236}">
                <a16:creationId xmlns:a16="http://schemas.microsoft.com/office/drawing/2014/main" id="{CDFC303A-912C-DF14-0335-F9E5F14E9A9C}"/>
              </a:ext>
            </a:extLst>
          </p:cNvPr>
          <p:cNvGraphicFramePr>
            <a:graphicFrameLocks noChangeAspect="1"/>
          </p:cNvGraphicFramePr>
          <p:nvPr>
            <p:extLst>
              <p:ext uri="{D42A27DB-BD31-4B8C-83A1-F6EECF244321}">
                <p14:modId xmlns:p14="http://schemas.microsoft.com/office/powerpoint/2010/main" val="3272409915"/>
              </p:ext>
            </p:extLst>
          </p:nvPr>
        </p:nvGraphicFramePr>
        <p:xfrm>
          <a:off x="2654300" y="4343400"/>
          <a:ext cx="3835400" cy="609600"/>
        </p:xfrm>
        <a:graphic>
          <a:graphicData uri="http://schemas.openxmlformats.org/presentationml/2006/ole">
            <mc:AlternateContent xmlns:mc="http://schemas.openxmlformats.org/markup-compatibility/2006">
              <mc:Choice xmlns:v="urn:schemas-microsoft-com:vml" Requires="v">
                <p:oleObj name="Equation" r:id="rId2" imgW="3836183" imgH="609633" progId="Equation.DSMT4">
                  <p:embed/>
                </p:oleObj>
              </mc:Choice>
              <mc:Fallback>
                <p:oleObj name="Equation" r:id="rId2" imgW="3836183" imgH="609633" progId="Equation.DSMT4">
                  <p:embed/>
                  <p:pic>
                    <p:nvPicPr>
                      <p:cNvPr id="0" name=""/>
                      <p:cNvPicPr/>
                      <p:nvPr/>
                    </p:nvPicPr>
                    <p:blipFill>
                      <a:blip r:embed="rId3"/>
                      <a:stretch>
                        <a:fillRect/>
                      </a:stretch>
                    </p:blipFill>
                    <p:spPr>
                      <a:xfrm>
                        <a:off x="2654300" y="4343400"/>
                        <a:ext cx="3835400" cy="609600"/>
                      </a:xfrm>
                      <a:prstGeom prst="rect">
                        <a:avLst/>
                      </a:prstGeom>
                    </p:spPr>
                  </p:pic>
                </p:oleObj>
              </mc:Fallback>
            </mc:AlternateContent>
          </a:graphicData>
        </a:graphic>
      </p:graphicFrame>
    </p:spTree>
    <p:extLst>
      <p:ext uri="{BB962C8B-B14F-4D97-AF65-F5344CB8AC3E}">
        <p14:creationId xmlns:p14="http://schemas.microsoft.com/office/powerpoint/2010/main" val="3220842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681FA-0E81-B72D-AD4B-E5E6E2D1751E}"/>
              </a:ext>
            </a:extLst>
          </p:cNvPr>
          <p:cNvSpPr>
            <a:spLocks noGrp="1"/>
          </p:cNvSpPr>
          <p:nvPr>
            <p:ph type="title"/>
          </p:nvPr>
        </p:nvSpPr>
        <p:spPr>
          <a:xfrm>
            <a:off x="457200" y="215372"/>
            <a:ext cx="8229600" cy="813328"/>
          </a:xfrm>
        </p:spPr>
        <p:txBody>
          <a:bodyPr/>
          <a:lstStyle/>
          <a:p>
            <a:r>
              <a:rPr lang="en-US" dirty="0">
                <a:latin typeface="+mj-lt"/>
              </a:rPr>
              <a:t>Calculating the GDP Deflator</a:t>
            </a:r>
            <a:endParaRPr lang="en-IN" dirty="0"/>
          </a:p>
        </p:txBody>
      </p:sp>
      <p:sp>
        <p:nvSpPr>
          <p:cNvPr id="10" name="Content Placeholder 9"/>
          <p:cNvSpPr>
            <a:spLocks noGrp="1"/>
          </p:cNvSpPr>
          <p:nvPr>
            <p:ph idx="1"/>
          </p:nvPr>
        </p:nvSpPr>
        <p:spPr>
          <a:xfrm>
            <a:off x="457200" y="4343400"/>
            <a:ext cx="8229600" cy="609600"/>
          </a:xfrm>
        </p:spPr>
        <p:txBody>
          <a:bodyPr>
            <a:normAutofit lnSpcReduction="10000"/>
          </a:bodyPr>
          <a:lstStyle/>
          <a:p>
            <a:pPr marL="0" indent="0">
              <a:buNone/>
            </a:pPr>
            <a:r>
              <a:rPr lang="en-US" sz="2000" dirty="0"/>
              <a:t>The GDP deflator increased from 108.8 to 109.0 between the two years. This is a 0.2% increase:</a:t>
            </a:r>
          </a:p>
        </p:txBody>
      </p:sp>
      <p:sp>
        <p:nvSpPr>
          <p:cNvPr id="13" name="Content Placeholder 12"/>
          <p:cNvSpPr>
            <a:spLocks noGrp="1"/>
          </p:cNvSpPr>
          <p:nvPr>
            <p:ph idx="13"/>
          </p:nvPr>
        </p:nvSpPr>
        <p:spPr>
          <a:xfrm>
            <a:off x="457200" y="5948483"/>
            <a:ext cx="8229600" cy="346933"/>
          </a:xfrm>
        </p:spPr>
        <p:txBody>
          <a:bodyPr>
            <a:normAutofit lnSpcReduction="10000"/>
          </a:bodyPr>
          <a:lstStyle/>
          <a:p>
            <a:pPr marL="0" indent="0">
              <a:buNone/>
            </a:pPr>
            <a:r>
              <a:rPr lang="en-US" sz="2000" dirty="0"/>
              <a:t>So we say the price level rose 0.2% between 2019 and 2020.</a:t>
            </a:r>
            <a:endParaRPr lang="en-US" sz="2000" dirty="0">
              <a:latin typeface="Arial"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3405647489"/>
              </p:ext>
            </p:extLst>
          </p:nvPr>
        </p:nvGraphicFramePr>
        <p:xfrm>
          <a:off x="4724401" y="1500248"/>
          <a:ext cx="3962399" cy="1082984"/>
        </p:xfrm>
        <a:graphic>
          <a:graphicData uri="http://schemas.openxmlformats.org/drawingml/2006/table">
            <a:tbl>
              <a:tblPr firstRow="1" bandRow="1">
                <a:tableStyleId>{3B4B98B0-60AC-42C2-AFA5-B58CD77FA1E5}</a:tableStyleId>
              </a:tblPr>
              <a:tblGrid>
                <a:gridCol w="1174043">
                  <a:extLst>
                    <a:ext uri="{9D8B030D-6E8A-4147-A177-3AD203B41FA5}">
                      <a16:colId xmlns:a16="http://schemas.microsoft.com/office/drawing/2014/main" val="20000"/>
                    </a:ext>
                  </a:extLst>
                </a:gridCol>
                <a:gridCol w="1712149">
                  <a:extLst>
                    <a:ext uri="{9D8B030D-6E8A-4147-A177-3AD203B41FA5}">
                      <a16:colId xmlns:a16="http://schemas.microsoft.com/office/drawing/2014/main" val="20001"/>
                    </a:ext>
                  </a:extLst>
                </a:gridCol>
                <a:gridCol w="1076207">
                  <a:extLst>
                    <a:ext uri="{9D8B030D-6E8A-4147-A177-3AD203B41FA5}">
                      <a16:colId xmlns:a16="http://schemas.microsoft.com/office/drawing/2014/main" val="20002"/>
                    </a:ext>
                  </a:extLst>
                </a:gridCol>
              </a:tblGrid>
              <a:tr h="394802">
                <a:tc>
                  <a:txBody>
                    <a:bodyPr/>
                    <a:lstStyle/>
                    <a:p>
                      <a:pPr algn="ctr"/>
                      <a:endParaRPr lang="en-IN" sz="1200" dirty="0">
                        <a:solidFill>
                          <a:srgbClr val="FF0000"/>
                        </a:solidFill>
                      </a:endParaRP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US" sz="1200" dirty="0">
                          <a:solidFill>
                            <a:schemeClr val="bg1"/>
                          </a:solidFill>
                        </a:rPr>
                        <a:t>2019</a:t>
                      </a:r>
                      <a:endParaRPr lang="en-IN" sz="1200" dirty="0">
                        <a:solidFill>
                          <a:schemeClr val="bg1"/>
                        </a:solidFill>
                      </a:endParaRP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algn="ctr"/>
                      <a:r>
                        <a:rPr lang="en-US" sz="1200" dirty="0">
                          <a:solidFill>
                            <a:schemeClr val="bg1"/>
                          </a:solidFill>
                        </a:rPr>
                        <a:t>2020</a:t>
                      </a:r>
                    </a:p>
                  </a:txBody>
                  <a:tcPr anchor="ct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44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Nominal GDP</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mn-lt"/>
                        </a:rPr>
                        <a:t>$2311 billion</a:t>
                      </a: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$2206 billion</a:t>
                      </a:r>
                      <a:endParaRPr lang="en-IN" sz="1200" dirty="0"/>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44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Real GDP</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$2125 billion</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$2023 billion</a:t>
                      </a:r>
                      <a:endParaRPr lang="en-IN" sz="1200" dirty="0"/>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705571857"/>
              </p:ext>
            </p:extLst>
          </p:nvPr>
        </p:nvGraphicFramePr>
        <p:xfrm>
          <a:off x="457200" y="2743200"/>
          <a:ext cx="8258175" cy="1219200"/>
        </p:xfrm>
        <a:graphic>
          <a:graphicData uri="http://schemas.openxmlformats.org/drawingml/2006/table">
            <a:tbl>
              <a:tblPr firstRow="1" bandRow="1">
                <a:tableStyleId>{3B4B98B0-60AC-42C2-AFA5-B58CD77FA1E5}</a:tableStyleId>
              </a:tblPr>
              <a:tblGrid>
                <a:gridCol w="3364442">
                  <a:extLst>
                    <a:ext uri="{9D8B030D-6E8A-4147-A177-3AD203B41FA5}">
                      <a16:colId xmlns:a16="http://schemas.microsoft.com/office/drawing/2014/main" val="20000"/>
                    </a:ext>
                  </a:extLst>
                </a:gridCol>
                <a:gridCol w="2523331">
                  <a:extLst>
                    <a:ext uri="{9D8B030D-6E8A-4147-A177-3AD203B41FA5}">
                      <a16:colId xmlns:a16="http://schemas.microsoft.com/office/drawing/2014/main" val="20001"/>
                    </a:ext>
                  </a:extLst>
                </a:gridCol>
                <a:gridCol w="2370402">
                  <a:extLst>
                    <a:ext uri="{9D8B030D-6E8A-4147-A177-3AD203B41FA5}">
                      <a16:colId xmlns:a16="http://schemas.microsoft.com/office/drawing/2014/main" val="20002"/>
                    </a:ext>
                  </a:extLst>
                </a:gridCol>
              </a:tblGrid>
              <a:tr h="425570">
                <a:tc>
                  <a:txBody>
                    <a:bodyPr/>
                    <a:lstStyle/>
                    <a:p>
                      <a:pPr marL="0" marR="0" lvl="0" indent="0" algn="ctr" defTabSz="914400" rtl="0" eaLnBrk="1" fontAlgn="base" latinLnBrk="0" hangingPunct="1">
                        <a:lnSpc>
                          <a:spcPct val="70000"/>
                        </a:lnSpc>
                        <a:spcBef>
                          <a:spcPts val="0"/>
                        </a:spcBef>
                        <a:spcAft>
                          <a:spcPct val="0"/>
                        </a:spcAft>
                        <a:buClrTx/>
                        <a:buSzTx/>
                        <a:buFontTx/>
                        <a:buNone/>
                        <a:tabLst/>
                        <a:defRPr/>
                      </a:pPr>
                      <a:r>
                        <a:rPr kumimoji="0" lang="en-US" sz="1400" b="1" i="0" u="none" strike="noStrike" kern="1200" cap="none" normalizeH="0" baseline="0" dirty="0">
                          <a:ln>
                            <a:noFill/>
                          </a:ln>
                          <a:solidFill>
                            <a:schemeClr val="bg1"/>
                          </a:solidFill>
                          <a:effectLst/>
                          <a:latin typeface="+mn-lt"/>
                          <a:ea typeface="+mn-ea"/>
                          <a:cs typeface="+mn-cs"/>
                        </a:rPr>
                        <a:t>Formula</a:t>
                      </a:r>
                    </a:p>
                  </a:txBody>
                  <a:tcPr anchor="ctr">
                    <a:lnL>
                      <a:noFill/>
                    </a:lnL>
                    <a:lnR>
                      <a:noFill/>
                    </a:lnR>
                    <a:lnT w="12700" cmpd="sng">
                      <a:noFill/>
                    </a:lnT>
                    <a:lnB>
                      <a:noFill/>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normalizeH="0" baseline="0" dirty="0">
                          <a:ln>
                            <a:noFill/>
                          </a:ln>
                          <a:solidFill>
                            <a:schemeClr val="bg1"/>
                          </a:solidFill>
                          <a:effectLst/>
                          <a:latin typeface="+mn-lt"/>
                          <a:ea typeface="+mn-ea"/>
                          <a:cs typeface="+mn-cs"/>
                        </a:rPr>
                        <a:t>Applied to 2019</a:t>
                      </a:r>
                    </a:p>
                  </a:txBody>
                  <a:tcPr anchor="ctr">
                    <a:lnL>
                      <a:noFill/>
                    </a:lnL>
                    <a:lnR>
                      <a:noFill/>
                    </a:lnR>
                    <a:lnT w="12700" cmpd="sng">
                      <a:noFill/>
                    </a:lnT>
                    <a:lnB>
                      <a:noFill/>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1400" b="1" i="0" u="none" strike="noStrike" kern="1200" cap="none" normalizeH="0" baseline="0" dirty="0">
                          <a:ln>
                            <a:noFill/>
                          </a:ln>
                          <a:solidFill>
                            <a:schemeClr val="bg1"/>
                          </a:solidFill>
                          <a:effectLst/>
                          <a:latin typeface="+mn-lt"/>
                          <a:ea typeface="+mn-ea"/>
                          <a:cs typeface="+mn-cs"/>
                        </a:rPr>
                        <a:t>Applied to 2020</a:t>
                      </a:r>
                    </a:p>
                  </a:txBody>
                  <a:tcPr anchor="ctr">
                    <a:lnL>
                      <a:noFill/>
                    </a:lnL>
                    <a:lnR>
                      <a:noFill/>
                    </a:lnR>
                    <a:lnT w="12700" cmpd="sng">
                      <a:noFill/>
                    </a:lnT>
                    <a:lnB>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793630">
                <a:tc>
                  <a:txBody>
                    <a:bodyPr/>
                    <a:lstStyle/>
                    <a:p>
                      <a:pPr marL="0" marR="0" lvl="0" indent="0" algn="l" defTabSz="914400" rtl="0" eaLnBrk="1" fontAlgn="base" latinLnBrk="0" hangingPunct="1">
                        <a:lnSpc>
                          <a:spcPct val="70000"/>
                        </a:lnSpc>
                        <a:spcBef>
                          <a:spcPts val="0"/>
                        </a:spcBef>
                        <a:spcAft>
                          <a:spcPct val="0"/>
                        </a:spcAft>
                        <a:buClrTx/>
                        <a:buSzTx/>
                        <a:buFontTx/>
                        <a:buNone/>
                        <a:tabLst/>
                        <a:defRPr/>
                      </a:pPr>
                      <a:endParaRPr kumimoji="0" lang="en-US" sz="1400" b="0" i="0" u="none" strike="noStrike" kern="1200" cap="none" normalizeH="0" baseline="0" dirty="0">
                        <a:ln>
                          <a:noFill/>
                        </a:ln>
                        <a:solidFill>
                          <a:schemeClr val="tx1"/>
                        </a:solidFill>
                        <a:effectLst/>
                        <a:latin typeface="+mn-lt"/>
                        <a:ea typeface="Cambria Math"/>
                        <a:cs typeface="+mn-cs"/>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ctr"/>
                      <a:endParaRPr lang="en-IN" sz="1400" dirty="0">
                        <a:latin typeface="+mn-lt"/>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US" sz="1400" b="0" i="0" u="none" strike="noStrike" cap="none" normalizeH="0" baseline="0" dirty="0">
                        <a:ln>
                          <a:noFill/>
                        </a:ln>
                        <a:solidFill>
                          <a:schemeClr val="tx1"/>
                        </a:solidFill>
                        <a:effectLst/>
                        <a:latin typeface="+mn-lt"/>
                      </a:endParaRP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bl>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821824561"/>
              </p:ext>
            </p:extLst>
          </p:nvPr>
        </p:nvGraphicFramePr>
        <p:xfrm>
          <a:off x="687388" y="3367088"/>
          <a:ext cx="2717800" cy="442912"/>
        </p:xfrm>
        <a:graphic>
          <a:graphicData uri="http://schemas.openxmlformats.org/presentationml/2006/ole">
            <mc:AlternateContent xmlns:mc="http://schemas.openxmlformats.org/markup-compatibility/2006">
              <mc:Choice xmlns:v="urn:schemas-microsoft-com:vml" Requires="v">
                <p:oleObj name="Equation" r:id="rId3" imgW="2412720" imgH="393480" progId="Equation.DSMT4">
                  <p:embed/>
                </p:oleObj>
              </mc:Choice>
              <mc:Fallback>
                <p:oleObj name="Equation" r:id="rId3" imgW="2412720" imgH="393480" progId="Equation.DSMT4">
                  <p:embed/>
                  <p:pic>
                    <p:nvPicPr>
                      <p:cNvPr id="0" name=""/>
                      <p:cNvPicPr/>
                      <p:nvPr/>
                    </p:nvPicPr>
                    <p:blipFill>
                      <a:blip r:embed="rId4"/>
                      <a:stretch>
                        <a:fillRect/>
                      </a:stretch>
                    </p:blipFill>
                    <p:spPr>
                      <a:xfrm>
                        <a:off x="687388" y="3367088"/>
                        <a:ext cx="2717800" cy="44291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01BB6D96-F4D9-E53B-DD0A-939B316CC2C3}"/>
              </a:ext>
            </a:extLst>
          </p:cNvPr>
          <p:cNvGraphicFramePr>
            <a:graphicFrameLocks noChangeAspect="1"/>
          </p:cNvGraphicFramePr>
          <p:nvPr>
            <p:extLst>
              <p:ext uri="{D42A27DB-BD31-4B8C-83A1-F6EECF244321}">
                <p14:modId xmlns:p14="http://schemas.microsoft.com/office/powerpoint/2010/main" val="3207999958"/>
              </p:ext>
            </p:extLst>
          </p:nvPr>
        </p:nvGraphicFramePr>
        <p:xfrm>
          <a:off x="4324350" y="3370632"/>
          <a:ext cx="1549400" cy="431800"/>
        </p:xfrm>
        <a:graphic>
          <a:graphicData uri="http://schemas.openxmlformats.org/presentationml/2006/ole">
            <mc:AlternateContent xmlns:mc="http://schemas.openxmlformats.org/markup-compatibility/2006">
              <mc:Choice xmlns:v="urn:schemas-microsoft-com:vml" Requires="v">
                <p:oleObj name="Equation" r:id="rId5" imgW="1549080" imgH="431640" progId="Equation.DSMT4">
                  <p:embed/>
                </p:oleObj>
              </mc:Choice>
              <mc:Fallback>
                <p:oleObj name="Equation" r:id="rId5" imgW="1549080" imgH="431640" progId="Equation.DSMT4">
                  <p:embed/>
                  <p:pic>
                    <p:nvPicPr>
                      <p:cNvPr id="0" name=""/>
                      <p:cNvPicPr/>
                      <p:nvPr/>
                    </p:nvPicPr>
                    <p:blipFill>
                      <a:blip r:embed="rId6"/>
                      <a:stretch>
                        <a:fillRect/>
                      </a:stretch>
                    </p:blipFill>
                    <p:spPr>
                      <a:xfrm>
                        <a:off x="4324350" y="3370632"/>
                        <a:ext cx="1549400" cy="4318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FDAA76ED-CBAD-C80B-65FB-9C30C14A2E11}"/>
              </a:ext>
            </a:extLst>
          </p:cNvPr>
          <p:cNvGraphicFramePr>
            <a:graphicFrameLocks noChangeAspect="1"/>
          </p:cNvGraphicFramePr>
          <p:nvPr>
            <p:extLst>
              <p:ext uri="{D42A27DB-BD31-4B8C-83A1-F6EECF244321}">
                <p14:modId xmlns:p14="http://schemas.microsoft.com/office/powerpoint/2010/main" val="1450538477"/>
              </p:ext>
            </p:extLst>
          </p:nvPr>
        </p:nvGraphicFramePr>
        <p:xfrm>
          <a:off x="6851650" y="3360355"/>
          <a:ext cx="1549400" cy="431800"/>
        </p:xfrm>
        <a:graphic>
          <a:graphicData uri="http://schemas.openxmlformats.org/presentationml/2006/ole">
            <mc:AlternateContent xmlns:mc="http://schemas.openxmlformats.org/markup-compatibility/2006">
              <mc:Choice xmlns:v="urn:schemas-microsoft-com:vml" Requires="v">
                <p:oleObj name="Equation" r:id="rId7" imgW="1549080" imgH="431640" progId="Equation.DSMT4">
                  <p:embed/>
                </p:oleObj>
              </mc:Choice>
              <mc:Fallback>
                <p:oleObj name="Equation" r:id="rId7" imgW="1549080" imgH="431640" progId="Equation.DSMT4">
                  <p:embed/>
                  <p:pic>
                    <p:nvPicPr>
                      <p:cNvPr id="0" name=""/>
                      <p:cNvPicPr/>
                      <p:nvPr/>
                    </p:nvPicPr>
                    <p:blipFill>
                      <a:blip r:embed="rId8"/>
                      <a:stretch>
                        <a:fillRect/>
                      </a:stretch>
                    </p:blipFill>
                    <p:spPr>
                      <a:xfrm>
                        <a:off x="6851650" y="3360355"/>
                        <a:ext cx="1549400" cy="4318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49B75BF3-27B7-1CD2-C199-656824056BED}"/>
              </a:ext>
            </a:extLst>
          </p:cNvPr>
          <p:cNvGraphicFramePr>
            <a:graphicFrameLocks noChangeAspect="1"/>
          </p:cNvGraphicFramePr>
          <p:nvPr>
            <p:extLst>
              <p:ext uri="{D42A27DB-BD31-4B8C-83A1-F6EECF244321}">
                <p14:modId xmlns:p14="http://schemas.microsoft.com/office/powerpoint/2010/main" val="482694400"/>
              </p:ext>
            </p:extLst>
          </p:nvPr>
        </p:nvGraphicFramePr>
        <p:xfrm>
          <a:off x="3152776" y="5143852"/>
          <a:ext cx="3200400" cy="663498"/>
        </p:xfrm>
        <a:graphic>
          <a:graphicData uri="http://schemas.openxmlformats.org/presentationml/2006/ole">
            <mc:AlternateContent xmlns:mc="http://schemas.openxmlformats.org/markup-compatibility/2006">
              <mc:Choice xmlns:v="urn:schemas-microsoft-com:vml" Requires="v">
                <p:oleObj name="Equation" r:id="rId9" imgW="2082600" imgH="431640" progId="Equation.DSMT4">
                  <p:embed/>
                </p:oleObj>
              </mc:Choice>
              <mc:Fallback>
                <p:oleObj name="Equation" r:id="rId9" imgW="2082600" imgH="431640" progId="Equation.DSMT4">
                  <p:embed/>
                  <p:pic>
                    <p:nvPicPr>
                      <p:cNvPr id="0" name=""/>
                      <p:cNvPicPr/>
                      <p:nvPr/>
                    </p:nvPicPr>
                    <p:blipFill>
                      <a:blip r:embed="rId10"/>
                      <a:stretch>
                        <a:fillRect/>
                      </a:stretch>
                    </p:blipFill>
                    <p:spPr>
                      <a:xfrm>
                        <a:off x="3152776" y="5143852"/>
                        <a:ext cx="3200400" cy="663498"/>
                      </a:xfrm>
                      <a:prstGeom prst="rect">
                        <a:avLst/>
                      </a:prstGeom>
                    </p:spPr>
                  </p:pic>
                </p:oleObj>
              </mc:Fallback>
            </mc:AlternateContent>
          </a:graphicData>
        </a:graphic>
      </p:graphicFrame>
    </p:spTree>
    <p:extLst>
      <p:ext uri="{BB962C8B-B14F-4D97-AF65-F5344CB8AC3E}">
        <p14:creationId xmlns:p14="http://schemas.microsoft.com/office/powerpoint/2010/main" val="342065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4" name="Content Placeholder 3"/>
          <p:cNvSpPr>
            <a:spLocks noGrp="1"/>
          </p:cNvSpPr>
          <p:nvPr>
            <p:ph idx="1"/>
          </p:nvPr>
        </p:nvSpPr>
        <p:spPr/>
        <p:txBody>
          <a:bodyPr/>
          <a:lstStyle/>
          <a:p>
            <a:pPr>
              <a:spcBef>
                <a:spcPts val="1000"/>
              </a:spcBef>
            </a:pPr>
            <a:r>
              <a:rPr lang="en-US" sz="2400" dirty="0"/>
              <a:t>GDP measures the size of an economy – either total income or total expenditure.</a:t>
            </a:r>
          </a:p>
          <a:p>
            <a:pPr>
              <a:spcBef>
                <a:spcPts val="1000"/>
              </a:spcBef>
            </a:pPr>
            <a:r>
              <a:rPr lang="en-US" sz="2400" dirty="0"/>
              <a:t>GDP measures economic activity that takes place in markets. It excludes some important things.</a:t>
            </a:r>
          </a:p>
          <a:p>
            <a:pPr>
              <a:spcBef>
                <a:spcPts val="1000"/>
              </a:spcBef>
            </a:pPr>
            <a:r>
              <a:rPr lang="en-US" sz="2400" dirty="0"/>
              <a:t>GDP is not intended to be a measure of well being, but well being and GDP are related.</a:t>
            </a:r>
          </a:p>
          <a:p>
            <a:pPr>
              <a:spcBef>
                <a:spcPts val="1000"/>
              </a:spcBef>
            </a:pPr>
            <a:r>
              <a:rPr lang="en-US" sz="2400" dirty="0"/>
              <a:t>Real GDP controls for inflation, nominal GDP does not. The GDP Deflator is a measure of the price level.</a:t>
            </a:r>
          </a:p>
          <a:p>
            <a:pPr>
              <a:spcBef>
                <a:spcPts val="1000"/>
              </a:spcBef>
            </a:pPr>
            <a:r>
              <a:rPr lang="en-US" sz="2400" dirty="0"/>
              <a:t>There are also other measures of total production and total income.</a:t>
            </a:r>
          </a:p>
        </p:txBody>
      </p:sp>
    </p:spTree>
    <p:extLst>
      <p:ext uri="{BB962C8B-B14F-4D97-AF65-F5344CB8AC3E}">
        <p14:creationId xmlns:p14="http://schemas.microsoft.com/office/powerpoint/2010/main" val="3529531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BE2AAD-6CC9-4100-8B6B-7A31EE5170E5}">
  <ds:schemaRefs>
    <ds:schemaRef ds:uri="http://schemas.microsoft.com/sharepoint/v3/contenttype/forms"/>
  </ds:schemaRefs>
</ds:datastoreItem>
</file>

<file path=customXml/itemProps2.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40ED968-9256-4114-AF12-237294F6A362}">
  <ds:schemaRef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d445d462-2029-4cec-993f-47750f9ae38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3941</TotalTime>
  <Words>4247</Words>
  <Application>Microsoft Macintosh PowerPoint</Application>
  <PresentationFormat>On-screen Show (4:3)</PresentationFormat>
  <Paragraphs>349</Paragraphs>
  <Slides>39</Slides>
  <Notes>34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5" baseType="lpstr">
      <vt:lpstr>Aptos</vt:lpstr>
      <vt:lpstr>Aptos Display</vt:lpstr>
      <vt:lpstr>Arial</vt:lpstr>
      <vt:lpstr>Verdana</vt:lpstr>
      <vt:lpstr>Office Theme</vt:lpstr>
      <vt:lpstr>Equation</vt:lpstr>
      <vt:lpstr>Macroeconomics ECON 101</vt:lpstr>
      <vt:lpstr>Chapter Outline</vt:lpstr>
      <vt:lpstr>Some Important Terms in Macroeconomics</vt:lpstr>
      <vt:lpstr>Gross Domestic Product Measures Total Production</vt:lpstr>
      <vt:lpstr>“Market Value”</vt:lpstr>
      <vt:lpstr>Final Goods and Services (1 of 2)</vt:lpstr>
      <vt:lpstr>Final Goods and Services (2 of 2)</vt:lpstr>
      <vt:lpstr>“During a Period of Time”</vt:lpstr>
      <vt:lpstr>Production and Income</vt:lpstr>
      <vt:lpstr>Figure 4.1 The Circular Flow and the Measurement of GDP (1 of 4)</vt:lpstr>
      <vt:lpstr>Figure 4.1 The Circular Flow and the Measurement of GDP (2 of 4)</vt:lpstr>
      <vt:lpstr>Figure 4.1 The Circular Flow and the Measurement of GDP (3 of 4)</vt:lpstr>
      <vt:lpstr>Figure 4.1 The Circular Flow and the Measurement of GDP (4 of 4)</vt:lpstr>
      <vt:lpstr>Income Approach to Measuring GDP</vt:lpstr>
      <vt:lpstr>Compensation of Employees</vt:lpstr>
      <vt:lpstr>Gross Operating Surplus</vt:lpstr>
      <vt:lpstr>Gross Mixed Income</vt:lpstr>
      <vt:lpstr>Taxes Less Subsidies</vt:lpstr>
      <vt:lpstr>Expenditure Approach to Measuring GDP</vt:lpstr>
      <vt:lpstr>Final Consumption</vt:lpstr>
      <vt:lpstr>Gross Fixed Capital Formation</vt:lpstr>
      <vt:lpstr>Investment in Inventories</vt:lpstr>
      <vt:lpstr>Net Exports</vt:lpstr>
      <vt:lpstr>Statistical Discrepancy</vt:lpstr>
      <vt:lpstr>The Expenditure Approach in Macro Models</vt:lpstr>
      <vt:lpstr>Components of GDP</vt:lpstr>
      <vt:lpstr>Table 4.1 Calculating Value Added</vt:lpstr>
      <vt:lpstr>Does GDP Measure What We Want It to Measure?</vt:lpstr>
      <vt:lpstr>Shortcomings of GDP as a Measure of Total Production</vt:lpstr>
      <vt:lpstr>How Important are these Shortcomings?</vt:lpstr>
      <vt:lpstr>Shortcomings of GDP as a Measure of Well-Being</vt:lpstr>
      <vt:lpstr>Social Explorer: GDP and Happiness</vt:lpstr>
      <vt:lpstr>Real GDP versus Nominal GDP</vt:lpstr>
      <vt:lpstr>Calculating Real GDP (1 of 2)</vt:lpstr>
      <vt:lpstr>Calculating Real GDP (2 of 2)</vt:lpstr>
      <vt:lpstr>Figure 4.4 Nominal GDP and Real GDP</vt:lpstr>
      <vt:lpstr>The GDP Deflator</vt:lpstr>
      <vt:lpstr>Calculating the GDP Deflator</vt:lpstr>
      <vt:lpstr>Conclusion</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1  Economics: Foundations and Models</dc:title>
  <dc:subject>Economics</dc:subject>
  <dc:creator>Hubbard, Patrick O’Brien, Serletis, Childs</dc:creator>
  <cp:lastModifiedBy>Muhebullah Karimzada</cp:lastModifiedBy>
  <cp:revision>5317</cp:revision>
  <dcterms:created xsi:type="dcterms:W3CDTF">2014-07-14T20:04:21Z</dcterms:created>
  <dcterms:modified xsi:type="dcterms:W3CDTF">2024-12-30T02:10:42Z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