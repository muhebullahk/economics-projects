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4"/>
  </p:sldMasterIdLst>
  <p:notesMasterIdLst>
    <p:notesMasterId r:id="rId39"/>
  </p:notesMasterIdLst>
  <p:handoutMasterIdLst>
    <p:handoutMasterId r:id="rId40"/>
  </p:handoutMasterIdLst>
  <p:sldIdLst>
    <p:sldId id="1438" r:id="rId5"/>
    <p:sldId id="1404" r:id="rId6"/>
    <p:sldId id="1408" r:id="rId7"/>
    <p:sldId id="1455" r:id="rId8"/>
    <p:sldId id="1407" r:id="rId9"/>
    <p:sldId id="1409" r:id="rId10"/>
    <p:sldId id="1410" r:id="rId11"/>
    <p:sldId id="1456" r:id="rId12"/>
    <p:sldId id="1411" r:id="rId13"/>
    <p:sldId id="1412" r:id="rId14"/>
    <p:sldId id="1413" r:id="rId15"/>
    <p:sldId id="1414" r:id="rId16"/>
    <p:sldId id="1457" r:id="rId17"/>
    <p:sldId id="1420" r:id="rId18"/>
    <p:sldId id="1422" r:id="rId19"/>
    <p:sldId id="1423" r:id="rId20"/>
    <p:sldId id="1424" r:id="rId21"/>
    <p:sldId id="1425" r:id="rId22"/>
    <p:sldId id="1458" r:id="rId23"/>
    <p:sldId id="1426" r:id="rId24"/>
    <p:sldId id="1427" r:id="rId25"/>
    <p:sldId id="1428" r:id="rId26"/>
    <p:sldId id="1430" r:id="rId27"/>
    <p:sldId id="1431" r:id="rId28"/>
    <p:sldId id="1432" r:id="rId29"/>
    <p:sldId id="1459" r:id="rId30"/>
    <p:sldId id="1434" r:id="rId31"/>
    <p:sldId id="1460" r:id="rId32"/>
    <p:sldId id="1435" r:id="rId33"/>
    <p:sldId id="1436" r:id="rId34"/>
    <p:sldId id="1437" r:id="rId35"/>
    <p:sldId id="1461" r:id="rId36"/>
    <p:sldId id="1462" r:id="rId37"/>
    <p:sldId id="1463"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336">
          <p15:clr>
            <a:srgbClr val="A4A3A4"/>
          </p15:clr>
        </p15:guide>
        <p15:guide id="4" orient="horz" pos="3984">
          <p15:clr>
            <a:srgbClr val="A4A3A4"/>
          </p15:clr>
        </p15:guide>
        <p15:guide id="5" orient="horz" pos="720">
          <p15:clr>
            <a:srgbClr val="A4A3A4"/>
          </p15:clr>
        </p15:guide>
        <p15:guide id="6" orient="horz" pos="1056">
          <p15:clr>
            <a:srgbClr val="A4A3A4"/>
          </p15:clr>
        </p15:guide>
        <p15:guide id="7" orient="horz" pos="1392">
          <p15:clr>
            <a:srgbClr val="A4A3A4"/>
          </p15:clr>
        </p15:guide>
        <p15:guide id="8" pos="288">
          <p15:clr>
            <a:srgbClr val="A4A3A4"/>
          </p15:clr>
        </p15:guide>
        <p15:guide id="9" pos="547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AE4"/>
    <a:srgbClr val="007FA3"/>
    <a:srgbClr val="99008C"/>
    <a:srgbClr val="001581"/>
    <a:srgbClr val="82007C"/>
    <a:srgbClr val="96008F"/>
    <a:srgbClr val="595375"/>
    <a:srgbClr val="6B638B"/>
    <a:srgbClr val="000000"/>
    <a:srgbClr val="FDB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73" autoAdjust="0"/>
    <p:restoredTop sz="90775" autoAdjust="0"/>
  </p:normalViewPr>
  <p:slideViewPr>
    <p:cSldViewPr>
      <p:cViewPr varScale="1">
        <p:scale>
          <a:sx n="111" d="100"/>
          <a:sy n="111" d="100"/>
        </p:scale>
        <p:origin x="672" y="208"/>
      </p:cViewPr>
      <p:guideLst>
        <p:guide orient="horz" pos="2160"/>
        <p:guide pos="2880"/>
        <p:guide orient="horz" pos="336"/>
        <p:guide orient="horz" pos="3984"/>
        <p:guide orient="horz" pos="720"/>
        <p:guide orient="horz" pos="1056"/>
        <p:guide orient="horz" pos="1392"/>
        <p:guide pos="288"/>
        <p:guide pos="5472"/>
      </p:guideLst>
    </p:cSldViewPr>
  </p:slideViewPr>
  <p:outlineViewPr>
    <p:cViewPr>
      <p:scale>
        <a:sx n="33" d="100"/>
        <a:sy n="33" d="100"/>
      </p:scale>
      <p:origin x="0" y="11952"/>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80" d="100"/>
          <a:sy n="80" d="100"/>
        </p:scale>
        <p:origin x="-197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12/29/24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12/29/24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116891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18098727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1706211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t>7</a:t>
            </a:fld>
            <a:endParaRPr lang="en-US" dirty="0"/>
          </a:p>
        </p:txBody>
      </p:sp>
    </p:spTree>
    <p:extLst>
      <p:ext uri="{BB962C8B-B14F-4D97-AF65-F5344CB8AC3E}">
        <p14:creationId xmlns:p14="http://schemas.microsoft.com/office/powerpoint/2010/main" val="36710491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t>8</a:t>
            </a:fld>
            <a:endParaRPr lang="en-US" dirty="0"/>
          </a:p>
        </p:txBody>
      </p:sp>
    </p:spTree>
    <p:extLst>
      <p:ext uri="{BB962C8B-B14F-4D97-AF65-F5344CB8AC3E}">
        <p14:creationId xmlns:p14="http://schemas.microsoft.com/office/powerpoint/2010/main" val="20160298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Long Description: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line graph with the x-axis labeled real GDP in trillions of 2012 dollars and the y-axis labeled price level in CPI. A line labeled cap AD forms a downward slope with points (1.4, 127) and (1.6, 123) lying on it. An arrow flows from the point (1.6, 123) to the point (1.4, 127).</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Long Description: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line graph with the x-axis labeled real GDP in trillions of 2012 dollars and the y-axis labeled price level in CPI. A line labeled cap AD sub 1 forms a downward slope with a point (1.6, 123) lying on it. A line labeled cap AD sub 2 forms a downward slope with a point (1.4, 123) lying on it parallel to the line cap AD sub 1. An arrow flows from the line cap AD sub 1 to cap AD sub 2.</a:t>
            </a:r>
            <a:endParaRPr lang="en-IN"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IN" sz="120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9</a:t>
            </a:fld>
            <a:endParaRPr lang="en-US" dirty="0"/>
          </a:p>
        </p:txBody>
      </p:sp>
    </p:spTree>
    <p:extLst>
      <p:ext uri="{BB962C8B-B14F-4D97-AF65-F5344CB8AC3E}">
        <p14:creationId xmlns:p14="http://schemas.microsoft.com/office/powerpoint/2010/main" val="40224277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Long Description: </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table shows three columns named an increase in, shifts the AD curve, and because respectively. The data in first column reads interest rates. The shift in AD curve shows a line graph with the horizontal axis labeled real GDP, and the vertical axis labeled price level. There are two parallel lines that are like forward slash across this graph. The inclined line on the right side is dark and is named AD sub 1, and that on the left is faded and is named AD sub 2. There is an arrow to the left, between the two inclined parallel lines. The third column of the table reads “higher interest rates raise the cost to firms and households of borrowing, reducing consumption and investment.”</a:t>
            </a:r>
            <a:endParaRPr lang="en-IN" sz="120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A73D6722-9B4D-4E29-B226-C325925A8118}" type="slidenum">
              <a:rPr lang="en-US" smtClean="0"/>
              <a:t>10</a:t>
            </a:fld>
            <a:endParaRPr lang="en-US" dirty="0"/>
          </a:p>
        </p:txBody>
      </p:sp>
    </p:spTree>
    <p:extLst>
      <p:ext uri="{BB962C8B-B14F-4D97-AF65-F5344CB8AC3E}">
        <p14:creationId xmlns:p14="http://schemas.microsoft.com/office/powerpoint/2010/main" val="17023964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Long Description: </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table shows two cases for shift in AD curves. The line graphs have real GDP marked along the horizontal axis, and price level along the vertical axis.</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Case 1: The data in the first column reads “government purchases.” The second column shows a line graph that shows shift in AD curve. There are two parallel lines that are like forward slash across this graph. The inclined line on the right side is faded and is named AD sub 2, and that on the left is dark and is named AD sub 1. There is an arrow to the right, between the two inclined parallel lines. The third column of the table reads “government purchases are a component of aggregate demand.”</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Case 2: The data in the first column reads “personal income taxes or business taxes.” The second column shows a line graph that shows shift in AD curve. There are two parallel lines that are like forward slash across this graph. The inclined line on the right side is dark and is named AD sub 1, and that on the left side is faded and is named AD sub 2. There is an arrow to the left, between the two inclined parallel lines. The third column of the table reads “consumption spending falls when personal taxes rise, and investment falls when business taxes rise.”</a:t>
            </a:r>
            <a:endParaRPr lang="en-IN" sz="120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A73D6722-9B4D-4E29-B226-C325925A8118}" type="slidenum">
              <a:rPr lang="en-US" smtClean="0"/>
              <a:t>11</a:t>
            </a:fld>
            <a:endParaRPr lang="en-US" dirty="0"/>
          </a:p>
        </p:txBody>
      </p:sp>
    </p:spTree>
    <p:extLst>
      <p:ext uri="{BB962C8B-B14F-4D97-AF65-F5344CB8AC3E}">
        <p14:creationId xmlns:p14="http://schemas.microsoft.com/office/powerpoint/2010/main" val="1157376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Long Description: </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table shows two cases for shift in AD curves. The line graphs have real GDP marked along the horizontal axis, and price level along the vertical axis.</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Case 1: The data in the first column reads “households’ expectations of future income.” The second column shows a line graph that shows shift in AD curve. There are two parallel lines that are like forward slash across this graph. The inclined line on the right side is faded and is named AD sub 2, and that on the left is dark and is named AD sub 1. There is an arrow to the right, between the two inclined parallel lines. The third column of the table reads “consumption spending increases.”</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Case 2: The data in the first column reads “firms’ expectations of the future profitability of investments.” The second column shows a line graph that shows shift in AD curve. There are two parallel lines that are like forward slash across this graph. The inclined line on the right side is faded and is named AD sub 2, and that on the left is dark and is named AD sub 1. There is an arrow to the right, between the two inclined parallel lines. The third column of the table reads “investment spending increases.”</a:t>
            </a:r>
            <a:endParaRPr lang="en-IN" sz="120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5"/>
          </p:nvPr>
        </p:nvSpPr>
        <p:spPr/>
        <p:txBody>
          <a:bodyPr/>
          <a:lstStyle/>
          <a:p>
            <a:fld id="{A73D6722-9B4D-4E29-B226-C325925A8118}" type="slidenum">
              <a:rPr lang="en-US" smtClean="0"/>
              <a:t>12</a:t>
            </a:fld>
            <a:endParaRPr lang="en-US" dirty="0"/>
          </a:p>
        </p:txBody>
      </p:sp>
    </p:spTree>
    <p:extLst>
      <p:ext uri="{BB962C8B-B14F-4D97-AF65-F5344CB8AC3E}">
        <p14:creationId xmlns:p14="http://schemas.microsoft.com/office/powerpoint/2010/main" val="13295698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34326303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Long Description: </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table shows two cases for shift in short-run aggregate supply curves. The line graphs have real GDP marked along the horizontal axis, and price level along the vertical axis.</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Case 1: The data in the first column reads “the labor force or the capital stock.” The second column shows a line graph that shows shift in short-run aggregate supply curve. There are two parallel lines that are like backward slash across this graph. The inclined line on the right side is faded and is named SRAS sub 2, and that on the left side is dark and is named SRAS sub 1. There is an arrow to the right, between the two inclined parallel lines. The third column of the table reads “more output can be produced at every price level.”</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Case 2: The data in the first column reads “productivity.” The second column shows a line graph that shows shift in short-run aggregate supply curve. There are two parallel lines that are like backward slash across this graph. The inclined line on the right side is faded and is named SRAS sub 2, and that on the left side is dark and is named SRAS sub 1. There is an arrow to the right, between the two inclined parallel lines. The third column of the table reads “costs of production fall.”</a:t>
            </a:r>
            <a:endParaRPr lang="en-IN" dirty="0"/>
          </a:p>
        </p:txBody>
      </p:sp>
      <p:sp>
        <p:nvSpPr>
          <p:cNvPr id="4" name="Slide Number Placeholder 3"/>
          <p:cNvSpPr>
            <a:spLocks noGrp="1"/>
          </p:cNvSpPr>
          <p:nvPr>
            <p:ph type="sldNum" sz="quarter" idx="5"/>
          </p:nvPr>
        </p:nvSpPr>
        <p:spPr/>
        <p:txBody>
          <a:bodyPr/>
          <a:lstStyle/>
          <a:p>
            <a:fld id="{A73D6722-9B4D-4E29-B226-C325925A8118}" type="slidenum">
              <a:rPr lang="en-US" smtClean="0"/>
              <a:t>20</a:t>
            </a:fld>
            <a:endParaRPr lang="en-US" dirty="0"/>
          </a:p>
        </p:txBody>
      </p:sp>
    </p:spTree>
    <p:extLst>
      <p:ext uri="{BB962C8B-B14F-4D97-AF65-F5344CB8AC3E}">
        <p14:creationId xmlns:p14="http://schemas.microsoft.com/office/powerpoint/2010/main" val="34246946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a:t>
            </a:r>
            <a:r>
              <a:rPr lang="en-US" sz="1200" b="0" i="1" u="none" strike="noStrike" kern="1200" baseline="0" dirty="0">
                <a:solidFill>
                  <a:schemeClr val="tx1"/>
                </a:solidFill>
                <a:latin typeface="+mn-lt"/>
                <a:ea typeface="+mn-ea"/>
                <a:cs typeface="+mn-cs"/>
              </a:rPr>
              <a:t>SRAS </a:t>
            </a:r>
            <a:r>
              <a:rPr lang="en-US" sz="1200" b="0" i="0" u="none" strike="noStrike" kern="1200" baseline="0" dirty="0">
                <a:solidFill>
                  <a:schemeClr val="tx1"/>
                </a:solidFill>
                <a:latin typeface="+mn-lt"/>
                <a:ea typeface="+mn-ea"/>
                <a:cs typeface="+mn-cs"/>
              </a:rPr>
              <a:t>curve shifts to reflect workers’ and firms’ expectations of future prices.</a:t>
            </a:r>
          </a:p>
          <a:p>
            <a:r>
              <a:rPr lang="en-US" sz="1200" b="0" i="0" u="none" strike="noStrike" kern="1200" baseline="0" dirty="0">
                <a:solidFill>
                  <a:schemeClr val="tx1"/>
                </a:solidFill>
                <a:latin typeface="+mn-lt"/>
                <a:ea typeface="+mn-ea"/>
                <a:cs typeface="+mn-cs"/>
              </a:rPr>
              <a:t>1. If workers and firms expect that the price level will rise by 3 percent, from 130 to 134, they will adjust their wages and prices by that amount.</a:t>
            </a:r>
          </a:p>
          <a:p>
            <a:r>
              <a:rPr lang="en-US" sz="1200" b="0" i="0" u="none" strike="noStrike" kern="1200" baseline="0" dirty="0">
                <a:solidFill>
                  <a:schemeClr val="tx1"/>
                </a:solidFill>
                <a:latin typeface="+mn-lt"/>
                <a:ea typeface="+mn-ea"/>
                <a:cs typeface="+mn-cs"/>
              </a:rPr>
              <a:t>2. Holding constant all other variables that affect aggregate supply, the short-run aggregate supply curve will shift to the left. If workers and firms expect that the price level will be lower in the future, the short-run aggregate supply curve will shift to the right.</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Long Description:</a:t>
            </a:r>
          </a:p>
          <a:p>
            <a:pPr lvl="0" fontAlgn="auto"/>
            <a:endParaRPr lang="en-US" sz="1200" kern="1200" dirty="0">
              <a:solidFill>
                <a:schemeClr val="tx1"/>
              </a:solidFill>
              <a:effectLst/>
              <a:latin typeface="+mn-lt"/>
              <a:ea typeface="+mn-ea"/>
              <a:cs typeface="+mn-cs"/>
            </a:endParaRPr>
          </a:p>
          <a:p>
            <a:pPr lvl="0" fontAlgn="auto"/>
            <a:r>
              <a:rPr lang="en-US" sz="1200" kern="1200" dirty="0">
                <a:solidFill>
                  <a:schemeClr val="tx1"/>
                </a:solidFill>
                <a:effectLst/>
                <a:latin typeface="+mn-lt"/>
                <a:ea typeface="+mn-ea"/>
                <a:cs typeface="+mn-cs"/>
              </a:rPr>
              <a:t>•</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The line graph with the x-axis labeled real GDP in trillions of 2012 dollars and the y-axis labeled price level in CPI. A line labeled cap SRAS sub 2018 forms an upward slope with a point (2, 130) lying on it. A line labeled cap SRAS sub 2019 with a point (2, 134) forms an upward slope lying outward and parallel to the line SRAS sub 2018.</a:t>
            </a:r>
          </a:p>
          <a:p>
            <a:pPr lvl="0" fontAlgn="auto"/>
            <a:endParaRPr lang="en-US" sz="1200" kern="1200" dirty="0">
              <a:solidFill>
                <a:schemeClr val="tx1"/>
              </a:solidFill>
              <a:effectLst/>
              <a:latin typeface="+mn-lt"/>
              <a:ea typeface="+mn-ea"/>
              <a:cs typeface="+mn-cs"/>
            </a:endParaRPr>
          </a:p>
          <a:p>
            <a:pPr lvl="0" fontAlgn="auto"/>
            <a:r>
              <a:rPr lang="en-US" sz="1200" kern="1200" dirty="0">
                <a:solidFill>
                  <a:schemeClr val="tx1"/>
                </a:solidFill>
                <a:effectLst/>
                <a:latin typeface="+mn-lt"/>
                <a:ea typeface="+mn-ea"/>
                <a:cs typeface="+mn-cs"/>
              </a:rPr>
              <a:t>•</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An arrow flows from the line SRAS sub 2018 to the line SRAS sub 2019 with a note that reads “2. The SRAS curve will shift to the left to reflect the expected cost increase.”. An arrow flows from the point (0, 130) to the point (0, 134) with a note that reads “1. If firms and workers expect the price level to rise by 3% from 2018 to 2019”.</a:t>
            </a:r>
          </a:p>
          <a:p>
            <a:pPr lvl="0" fontAlgn="auto"/>
            <a:endParaRPr lang="en-I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data in the first column reads “the expected future price level.” The second column shows a line graph that shows shift in short-run aggregate supply curve. There are two parallel lines that are like backward slash across this graph. The inclined line on the right side is dark and is named SRAS sub 1, and that on the left side is faded and is named SRAS sub 2. There is an arrow to the left, between the two inclined parallel lines. The third column of the table reads “workers and firms increase wages and prices.”</a:t>
            </a:r>
            <a:endParaRPr lang="en-IN" sz="1200" kern="1200" dirty="0">
              <a:solidFill>
                <a:schemeClr val="tx1"/>
              </a:solidFill>
              <a:effectLst/>
              <a:latin typeface="+mn-lt"/>
              <a:ea typeface="+mn-ea"/>
              <a:cs typeface="+mn-cs"/>
            </a:endParaRPr>
          </a:p>
          <a:p>
            <a:pPr lvl="0" fontAlgn="auto"/>
            <a:endParaRPr lang="en-IN"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39562437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Long Description: </a:t>
            </a:r>
            <a:endParaRPr lang="en-IN"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data in the first column reads “the expected price of a key natural resource.” The second column shows a line graph that shows shift in short-run aggregate supply curve. There are two parallel lines that are like backward slash across this graph. The inclined line on the right side is dark and is named SRAS sub 1, and that on the left side is faded and is named SRAS sub 2. There is an arrow to the left, between the two inclined parallel lines. The third column of the table reads “costs of production rise.”</a:t>
            </a:r>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A73D6722-9B4D-4E29-B226-C325925A8118}" type="slidenum">
              <a:rPr lang="en-US" smtClean="0"/>
              <a:t>22</a:t>
            </a:fld>
            <a:endParaRPr lang="en-US" dirty="0"/>
          </a:p>
        </p:txBody>
      </p:sp>
    </p:spTree>
    <p:extLst>
      <p:ext uri="{BB962C8B-B14F-4D97-AF65-F5344CB8AC3E}">
        <p14:creationId xmlns:p14="http://schemas.microsoft.com/office/powerpoint/2010/main" val="38705600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t>23</a:t>
            </a:fld>
            <a:endParaRPr lang="en-US" dirty="0"/>
          </a:p>
        </p:txBody>
      </p:sp>
    </p:spTree>
    <p:extLst>
      <p:ext uri="{BB962C8B-B14F-4D97-AF65-F5344CB8AC3E}">
        <p14:creationId xmlns:p14="http://schemas.microsoft.com/office/powerpoint/2010/main" val="32012925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21148326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the short run, a decrease in aggregate demand causes a recession. In the long run, it causes only a decrease in the price level.</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Long Description:</a:t>
            </a:r>
          </a:p>
          <a:p>
            <a:pPr lvl="0"/>
            <a:r>
              <a:rPr lang="en-US" sz="1200" kern="1200" dirty="0">
                <a:solidFill>
                  <a:schemeClr val="tx1"/>
                </a:solidFill>
                <a:effectLst/>
                <a:latin typeface="+mn-lt"/>
                <a:ea typeface="+mn-ea"/>
                <a:cs typeface="+mn-cs"/>
              </a:rPr>
              <a:t>•</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The line graph with the x-axis labeled real GDP in trillions of 2012 dollars is truncated from 0 to 1.96 and ranges till 2.00 at intervals of 0.04. The y-axis labeled price level in CPI is truncated from 0 to 128 and ranges till 134 at intervals of 3.</a:t>
            </a:r>
          </a:p>
          <a:p>
            <a:pPr lvl="0"/>
            <a:r>
              <a:rPr lang="en-US" sz="1200" kern="1200" dirty="0">
                <a:solidFill>
                  <a:schemeClr val="tx1"/>
                </a:solidFill>
                <a:effectLst/>
                <a:latin typeface="+mn-lt"/>
                <a:ea typeface="+mn-ea"/>
                <a:cs typeface="+mn-cs"/>
              </a:rPr>
              <a:t>•</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 line labeled cap SRAS sub 1 forms an upward slope and a line labeled cap SRAS sub 2 forms an upward slope lying parallel and outward to the line cap SRAS sub 1. An arrow flows from the line cap SRAS sub 1 to the line cap SRAS sub 2 with a note that reads “2. As firms and workers adjust to the price level being lower than they had expected, costs will fall and cause SRAS to shift to the right.”</a:t>
            </a:r>
          </a:p>
          <a:p>
            <a:pPr lvl="0"/>
            <a:r>
              <a:rPr lang="en-US" sz="1200" kern="1200" dirty="0">
                <a:solidFill>
                  <a:schemeClr val="tx1"/>
                </a:solidFill>
                <a:effectLst/>
                <a:latin typeface="+mn-lt"/>
                <a:ea typeface="+mn-ea"/>
                <a:cs typeface="+mn-cs"/>
              </a:rPr>
              <a:t>•</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 line labeled cap AD sub 1 forms a downward slope intersecting the line cap SRAS sub 1 at a point A (2, 134). A line labeled cap AD sub 2 forms a downward slope intersecting the line cap SRAS sub 1 at a point B (1.96, 131) and intersecting the line cap SRAS sub 2 at a point C (2.00, 128) lying parallel and inward to the line cap AD sub 1. An arrow flows from the line cap AD sub 1 to the line cap AD sub 2 shows a note that reads “1. A decline in investment shifts AD to the left, causing a recession. “The point C shows a note that reads “3. Equilibrium moves from point A to point B to point C.”</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34637058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13489826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40980206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10401692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14540552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en-IN" sz="1200" kern="1200" dirty="0">
              <a:solidFill>
                <a:schemeClr val="tx1"/>
              </a:solidFill>
              <a:effectLst/>
              <a:latin typeface="+mn-lt"/>
              <a:ea typeface="+mn-ea"/>
              <a:cs typeface="+mn-cs"/>
            </a:endParaRPr>
          </a:p>
          <a:p>
            <a:endParaRPr lang="en-US" b="1"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37163969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en-IN" sz="1200" kern="1200" dirty="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31</a:t>
            </a:fld>
            <a:endParaRPr lang="en-US" dirty="0"/>
          </a:p>
        </p:txBody>
      </p:sp>
    </p:spTree>
    <p:extLst>
      <p:ext uri="{BB962C8B-B14F-4D97-AF65-F5344CB8AC3E}">
        <p14:creationId xmlns:p14="http://schemas.microsoft.com/office/powerpoint/2010/main" val="21219710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4C261-EA3E-9972-598F-AB953BC16A5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28A078E3-3699-A357-A877-471F27C49A73}"/>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890CD74-D0A1-045C-2F6E-947FEA5FCE0F}"/>
              </a:ext>
            </a:extLst>
          </p:cNvPr>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5" name="Footer Placeholder 4">
            <a:extLst>
              <a:ext uri="{FF2B5EF4-FFF2-40B4-BE49-F238E27FC236}">
                <a16:creationId xmlns:a16="http://schemas.microsoft.com/office/drawing/2014/main" id="{020312C3-C463-004D-9BCC-0A04D0B77DC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93F17A6-3E5B-4F27-08F3-4DCE2F96591F}"/>
              </a:ext>
            </a:extLst>
          </p:cNvPr>
          <p:cNvSpPr>
            <a:spLocks noGrp="1"/>
          </p:cNvSpPr>
          <p:nvPr>
            <p:ph type="sldNum" sz="quarter" idx="12"/>
          </p:nvPr>
        </p:nvSpPr>
        <p:spPr/>
        <p:txBody>
          <a:bodyPr/>
          <a:lstStyle/>
          <a:p>
            <a:fld id="{200B2350-5261-4F5C-9DF5-EF0D264FC8D2}" type="slidenum">
              <a:rPr lang="en-US" smtClean="0"/>
              <a:t>‹#›</a:t>
            </a:fld>
            <a:endParaRPr lang="en-US" dirty="0"/>
          </a:p>
        </p:txBody>
      </p:sp>
      <p:pic>
        <p:nvPicPr>
          <p:cNvPr id="7" name="Picture 6" descr="Pearson Logo">
            <a:extLst>
              <a:ext uri="{FF2B5EF4-FFF2-40B4-BE49-F238E27FC236}">
                <a16:creationId xmlns:a16="http://schemas.microsoft.com/office/drawing/2014/main" id="{B0CFA60A-85AB-FF20-7651-C3CC40D43D9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a:extLst>
              <a:ext uri="{FF2B5EF4-FFF2-40B4-BE49-F238E27FC236}">
                <a16:creationId xmlns:a16="http://schemas.microsoft.com/office/drawing/2014/main" id="{77D6064B-8552-D013-B2E9-4270BDB860DD}"/>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Tree>
    <p:extLst>
      <p:ext uri="{BB962C8B-B14F-4D97-AF65-F5344CB8AC3E}">
        <p14:creationId xmlns:p14="http://schemas.microsoft.com/office/powerpoint/2010/main" val="4144472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F61DA-8CAF-D0D5-7314-A77CBABDA1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46B1C6-0400-8A8B-4EA2-EF98570E69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FA16D8-1564-C540-01F1-521D1299EE69}"/>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B2445723-AECB-6A6B-A63D-EBBE01E11C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2FF04F-E267-AF5E-9AA1-D397B8C34A3A}"/>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03156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DDCEF-7EB8-B4A7-B5A6-0E0F54F1FA22}"/>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26DF73F8-8F45-8422-0924-D3F0F32A5090}"/>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368619-7981-782C-6E8B-B50B944B5E15}"/>
              </a:ext>
            </a:extLst>
          </p:cNvPr>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5" name="Footer Placeholder 4">
            <a:extLst>
              <a:ext uri="{FF2B5EF4-FFF2-40B4-BE49-F238E27FC236}">
                <a16:creationId xmlns:a16="http://schemas.microsoft.com/office/drawing/2014/main" id="{5884CC8F-D80E-0EEE-D444-5C20E7E46F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AA67221-1563-83C8-F29D-CF8F290A983B}"/>
              </a:ext>
            </a:extLst>
          </p:cNvPr>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46318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04DBE-7E1A-AEFA-B58C-6D4E2C7437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C3847F-7831-225B-C3C2-EEA0662A34FC}"/>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1F20B4-4896-2289-C691-CD7D716A8B4E}"/>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C3846B-BB20-E3E4-F1A4-8E0CC0BD736F}"/>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Footer Placeholder 5">
            <a:extLst>
              <a:ext uri="{FF2B5EF4-FFF2-40B4-BE49-F238E27FC236}">
                <a16:creationId xmlns:a16="http://schemas.microsoft.com/office/drawing/2014/main" id="{15DE7A17-EC17-F99A-0EAA-C72250FBB4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A9DDFCB-8E61-199B-9B8E-552A0207C86E}"/>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674226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931B5-1AF8-D03C-397E-4F789FA64C7D}"/>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308673-F258-0EEB-891B-1A85576F7F1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7D80525-B2F5-15F0-BE47-92A6CA3215D4}"/>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BED739-681F-3F6D-8CF2-CDBE0CE12E3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AA237D5D-3EF3-5B57-5811-EA37BEAB863E}"/>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C8DF7C-7B3F-6975-5D82-C72ED655913E}"/>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8" name="Footer Placeholder 7">
            <a:extLst>
              <a:ext uri="{FF2B5EF4-FFF2-40B4-BE49-F238E27FC236}">
                <a16:creationId xmlns:a16="http://schemas.microsoft.com/office/drawing/2014/main" id="{31E0EA46-AA31-78CC-E1BF-A63F399052D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8B1AECA-86EB-36F7-F412-8E9E3BA81C96}"/>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637709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84AF1-0A54-DC1C-2212-1C5FBD41C1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ED2F4A-738F-9801-833C-CA79FFF2EAEE}"/>
              </a:ext>
            </a:extLst>
          </p:cNvPr>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4" name="Footer Placeholder 3">
            <a:extLst>
              <a:ext uri="{FF2B5EF4-FFF2-40B4-BE49-F238E27FC236}">
                <a16:creationId xmlns:a16="http://schemas.microsoft.com/office/drawing/2014/main" id="{CAB31CB1-E0A1-7BBB-8623-D6A73BA01A9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A3890E7-6EEA-BA8A-30D3-45516A13464A}"/>
              </a:ext>
            </a:extLst>
          </p:cNvPr>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271169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FDDAE8-AB3B-4759-01A3-413C0129ABD5}"/>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3" name="Footer Placeholder 2">
            <a:extLst>
              <a:ext uri="{FF2B5EF4-FFF2-40B4-BE49-F238E27FC236}">
                <a16:creationId xmlns:a16="http://schemas.microsoft.com/office/drawing/2014/main" id="{30C98B8B-C0C0-1A91-BCD0-09515E2FB7F2}"/>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636B4E1-86E0-2513-7004-EA4294E6C04D}"/>
              </a:ext>
            </a:extLst>
          </p:cNvPr>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TextBox 4">
            <a:extLst>
              <a:ext uri="{FF2B5EF4-FFF2-40B4-BE49-F238E27FC236}">
                <a16:creationId xmlns:a16="http://schemas.microsoft.com/office/drawing/2014/main" id="{EA214C28-46B8-0739-1205-EC331DF917F4}"/>
              </a:ext>
            </a:extLst>
          </p:cNvPr>
          <p:cNvSpPr txBox="1"/>
          <p:nvPr userDrawn="1"/>
        </p:nvSpPr>
        <p:spPr>
          <a:xfrm>
            <a:off x="1533525" y="6374626"/>
            <a:ext cx="7162800" cy="276999"/>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dirty="0">
                <a:latin typeface="Verdana" panose="020B0604030504040204" pitchFamily="34" charset="0"/>
              </a:rPr>
              <a:t>Copyright © 2023 by Pearson Education, Inc. All Rights Reserved</a:t>
            </a:r>
          </a:p>
        </p:txBody>
      </p:sp>
      <p:pic>
        <p:nvPicPr>
          <p:cNvPr id="6" name="Picture 5" descr="Pearson Logo">
            <a:extLst>
              <a:ext uri="{FF2B5EF4-FFF2-40B4-BE49-F238E27FC236}">
                <a16:creationId xmlns:a16="http://schemas.microsoft.com/office/drawing/2014/main" id="{D139986B-22BE-E2F8-E858-E09ADF55B4C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931771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5C9FF-99FF-F578-1F43-1CAD87DB214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6DEF539-889F-BFF8-B369-7B9BCE25A73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7458CC-D689-6858-4D32-9CED858A98F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752ACFF-FD34-9894-47B1-01FBD826A37B}"/>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Footer Placeholder 5">
            <a:extLst>
              <a:ext uri="{FF2B5EF4-FFF2-40B4-BE49-F238E27FC236}">
                <a16:creationId xmlns:a16="http://schemas.microsoft.com/office/drawing/2014/main" id="{B3C4D7BD-346D-11F4-CA96-4F06FBE2FB9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AE2F306-F1A9-5686-6F4E-755C102CFAC3}"/>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464977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CDCA8-0000-4BB8-96A3-CCEA4EC6CBA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C907725-A1DB-BA15-C732-804C756B5C9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A9036CA0-8BCD-FDF5-8B62-8FEC7EE0871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801F158-6383-C558-AAFC-D3E7A479904E}"/>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Footer Placeholder 5">
            <a:extLst>
              <a:ext uri="{FF2B5EF4-FFF2-40B4-BE49-F238E27FC236}">
                <a16:creationId xmlns:a16="http://schemas.microsoft.com/office/drawing/2014/main" id="{5A4E7832-C0A2-5861-0D25-B1F3E92AFCB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99327C9-F866-DCF7-187F-6033F96AAC12}"/>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906849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77F3C-683A-6F9E-CEAE-4EE48C071D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1E2BD1-1E85-E51B-46A4-FB9A477AA7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C9B435-989C-AA3B-6443-CC1F1A4BD5B1}"/>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77299A9B-2E13-B90C-DEF9-7791ABE9DB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E4CFC08-8309-E170-1793-48744A90E810}"/>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172273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8636A9-0797-45E8-5B3F-C878E0DE84FE}"/>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9FC3B6-2BE8-9405-06B0-33563452D0CA}"/>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76B32E-482B-1C0D-0846-9037D9353C66}"/>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CC0BF214-EE94-DB02-AF0A-539537081AD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BA6FABF-7C30-FBA5-A3D5-CFF7E38E4B59}"/>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5086186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2 content 1 picture">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7620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743201"/>
            <a:ext cx="8229600" cy="1219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4724400"/>
            <a:ext cx="8229600" cy="914400"/>
          </a:xfrm>
        </p:spPr>
        <p:txBody>
          <a:bodyPr/>
          <a:lstStyle/>
          <a:p>
            <a:endParaRPr lang="en-US"/>
          </a:p>
        </p:txBody>
      </p:sp>
    </p:spTree>
    <p:extLst>
      <p:ext uri="{BB962C8B-B14F-4D97-AF65-F5344CB8AC3E}">
        <p14:creationId xmlns:p14="http://schemas.microsoft.com/office/powerpoint/2010/main" val="81775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928568"/>
            <a:ext cx="8229600" cy="402770"/>
          </a:xfrm>
        </p:spPr>
        <p:txBody>
          <a:bodyPr>
            <a:noAutofit/>
          </a:bodyPr>
          <a:lstStyle>
            <a:lvl1pPr marL="0" indent="0">
              <a:spcBef>
                <a:spcPts val="0"/>
              </a:spcBef>
              <a:buNone/>
              <a:defRPr sz="24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1pPr>
              <a:defRPr sz="2600"/>
            </a:lvl1pPr>
            <a:lvl2pPr>
              <a:defRPr sz="2400"/>
            </a:lvl2pPr>
            <a:lvl3pPr>
              <a:defRPr sz="2200"/>
            </a:lvl3pPr>
            <a:lvl4pPr>
              <a:defRPr sz="2000"/>
            </a:lvl4pPr>
            <a:lvl5pPr>
              <a:defRPr sz="1800"/>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12/29/24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41208429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3 content 2 picture">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3048000"/>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4495800"/>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Picture Placeholder 8"/>
          <p:cNvSpPr>
            <a:spLocks noGrp="1"/>
          </p:cNvSpPr>
          <p:nvPr>
            <p:ph type="pic" sz="quarter" idx="15"/>
          </p:nvPr>
        </p:nvSpPr>
        <p:spPr>
          <a:xfrm>
            <a:off x="457200" y="5410200"/>
            <a:ext cx="8229600" cy="533400"/>
          </a:xfrm>
        </p:spPr>
        <p:txBody>
          <a:bodyPr/>
          <a:lstStyle/>
          <a:p>
            <a:endParaRPr lang="en-US"/>
          </a:p>
        </p:txBody>
      </p:sp>
      <p:sp>
        <p:nvSpPr>
          <p:cNvPr id="10" name="Picture Placeholder 9"/>
          <p:cNvSpPr>
            <a:spLocks noGrp="1"/>
          </p:cNvSpPr>
          <p:nvPr>
            <p:ph type="pic" sz="quarter" idx="16"/>
          </p:nvPr>
        </p:nvSpPr>
        <p:spPr>
          <a:xfrm>
            <a:off x="457200" y="3810000"/>
            <a:ext cx="8229600" cy="609600"/>
          </a:xfrm>
        </p:spPr>
        <p:txBody>
          <a:bodyPr/>
          <a:lstStyle/>
          <a:p>
            <a:endParaRPr lang="en-US"/>
          </a:p>
        </p:txBody>
      </p:sp>
    </p:spTree>
    <p:extLst>
      <p:ext uri="{BB962C8B-B14F-4D97-AF65-F5344CB8AC3E}">
        <p14:creationId xmlns:p14="http://schemas.microsoft.com/office/powerpoint/2010/main" val="41775820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3 content 1 picture">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3048000"/>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4495800"/>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Picture Placeholder 8"/>
          <p:cNvSpPr>
            <a:spLocks noGrp="1"/>
          </p:cNvSpPr>
          <p:nvPr>
            <p:ph type="pic" sz="quarter" idx="15"/>
          </p:nvPr>
        </p:nvSpPr>
        <p:spPr>
          <a:xfrm>
            <a:off x="457200" y="5410200"/>
            <a:ext cx="8229600" cy="533400"/>
          </a:xfrm>
        </p:spPr>
        <p:txBody>
          <a:bodyPr/>
          <a:lstStyle/>
          <a:p>
            <a:endParaRPr lang="en-US"/>
          </a:p>
        </p:txBody>
      </p:sp>
    </p:spTree>
    <p:extLst>
      <p:ext uri="{BB962C8B-B14F-4D97-AF65-F5344CB8AC3E}">
        <p14:creationId xmlns:p14="http://schemas.microsoft.com/office/powerpoint/2010/main" val="21095070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3864427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5 content 2 picture">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7"/>
          </p:nvPr>
        </p:nvSpPr>
        <p:spPr>
          <a:xfrm>
            <a:off x="457200" y="5486400"/>
            <a:ext cx="8229600" cy="685800"/>
          </a:xfrm>
        </p:spPr>
        <p:txBody>
          <a:bodyPr/>
          <a:lstStyle/>
          <a:p>
            <a:endParaRPr lang="en-IN"/>
          </a:p>
        </p:txBody>
      </p:sp>
      <p:sp>
        <p:nvSpPr>
          <p:cNvPr id="13" name="Picture Placeholder 12"/>
          <p:cNvSpPr>
            <a:spLocks noGrp="1"/>
          </p:cNvSpPr>
          <p:nvPr>
            <p:ph type="pic" sz="quarter" idx="18"/>
          </p:nvPr>
        </p:nvSpPr>
        <p:spPr>
          <a:xfrm>
            <a:off x="457200" y="4343400"/>
            <a:ext cx="8229600" cy="457200"/>
          </a:xfrm>
        </p:spPr>
        <p:txBody>
          <a:bodyPr/>
          <a:lstStyle/>
          <a:p>
            <a:endParaRPr lang="en-IN"/>
          </a:p>
        </p:txBody>
      </p:sp>
    </p:spTree>
    <p:extLst>
      <p:ext uri="{BB962C8B-B14F-4D97-AF65-F5344CB8AC3E}">
        <p14:creationId xmlns:p14="http://schemas.microsoft.com/office/powerpoint/2010/main" val="41162387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12/29/24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4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600"/>
            </a:lvl1pPr>
            <a:lvl2pPr>
              <a:buClr>
                <a:srgbClr val="007FA3"/>
              </a:buClr>
              <a:defRPr sz="2400"/>
            </a:lvl2pPr>
            <a:lvl3pPr>
              <a:buClr>
                <a:srgbClr val="007FA3"/>
              </a:buClr>
              <a:defRPr sz="2200"/>
            </a:lvl3pPr>
            <a:lvl4pPr>
              <a:buClr>
                <a:srgbClr val="007FA3"/>
              </a:buClr>
              <a:defRPr sz="2000"/>
            </a:lvl4pPr>
            <a:lvl5pPr>
              <a:buClr>
                <a:srgbClr val="007FA3"/>
              </a:buClr>
              <a:defRPr sz="1800"/>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12/29/24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marL="180975" indent="-180975">
              <a:buClr>
                <a:srgbClr val="007FA3"/>
              </a:buClr>
              <a:buSzPct val="100000"/>
              <a:defRPr sz="2600"/>
            </a:lvl1pPr>
            <a:lvl2pPr marL="569913" indent="-303213">
              <a:buClr>
                <a:srgbClr val="007FA3"/>
              </a:buClr>
              <a:defRPr sz="2400"/>
            </a:lvl2pPr>
            <a:lvl3pPr>
              <a:buClr>
                <a:srgbClr val="007FA3"/>
              </a:buClr>
              <a:defRPr sz="2200"/>
            </a:lvl3pPr>
            <a:lvl4pPr>
              <a:buClr>
                <a:srgbClr val="007FA3"/>
              </a:buClr>
              <a:defRPr sz="2000"/>
            </a:lvl4pPr>
            <a:lvl5pPr>
              <a:buClr>
                <a:srgbClr val="007FA3"/>
              </a:buClr>
              <a:defRPr sz="18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1 picture">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1"/>
            <a:ext cx="8229600" cy="1371600"/>
          </a:xfrm>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3"/>
          </p:nvPr>
        </p:nvSpPr>
        <p:spPr>
          <a:xfrm>
            <a:off x="457200" y="3810000"/>
            <a:ext cx="8229600" cy="1066800"/>
          </a:xfrm>
        </p:spPr>
        <p:txBody>
          <a:bodyPr/>
          <a:lstStyle/>
          <a:p>
            <a:endParaRPr lang="en-US"/>
          </a:p>
        </p:txBody>
      </p:sp>
    </p:spTree>
    <p:extLst>
      <p:ext uri="{BB962C8B-B14F-4D97-AF65-F5344CB8AC3E}">
        <p14:creationId xmlns:p14="http://schemas.microsoft.com/office/powerpoint/2010/main" val="25925557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12/29/24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3" name="TextBox 2">
            <a:extLst>
              <a:ext uri="{FF2B5EF4-FFF2-40B4-BE49-F238E27FC236}">
                <a16:creationId xmlns:a16="http://schemas.microsoft.com/office/drawing/2014/main" id="{670F17BB-E61E-EC79-2980-5EEB1648D64A}"/>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
        <p:nvSpPr>
          <p:cNvPr id="5" name="TextBox 4">
            <a:extLst>
              <a:ext uri="{FF2B5EF4-FFF2-40B4-BE49-F238E27FC236}">
                <a16:creationId xmlns:a16="http://schemas.microsoft.com/office/drawing/2014/main" id="{017BDE85-FE83-92DA-412A-3621E162926A}"/>
              </a:ext>
            </a:extLst>
          </p:cNvPr>
          <p:cNvSpPr txBox="1"/>
          <p:nvPr userDrawn="1"/>
        </p:nvSpPr>
        <p:spPr>
          <a:xfrm>
            <a:off x="8015565" y="6417107"/>
            <a:ext cx="595035"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9 -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Tree>
    <p:extLst>
      <p:ext uri="{BB962C8B-B14F-4D97-AF65-F5344CB8AC3E}">
        <p14:creationId xmlns:p14="http://schemas.microsoft.com/office/powerpoint/2010/main" val="22037960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47999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5 content 1 picture">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7"/>
          </p:nvPr>
        </p:nvSpPr>
        <p:spPr>
          <a:xfrm>
            <a:off x="457200" y="5486400"/>
            <a:ext cx="8229600" cy="685800"/>
          </a:xfrm>
        </p:spPr>
        <p:txBody>
          <a:bodyPr/>
          <a:lstStyle/>
          <a:p>
            <a:endParaRPr lang="en-IN"/>
          </a:p>
        </p:txBody>
      </p:sp>
    </p:spTree>
    <p:extLst>
      <p:ext uri="{BB962C8B-B14F-4D97-AF65-F5344CB8AC3E}">
        <p14:creationId xmlns:p14="http://schemas.microsoft.com/office/powerpoint/2010/main" val="21272368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59676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3048000"/>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4495800"/>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0580261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2771775"/>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3686175"/>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5"/>
          </p:nvPr>
        </p:nvSpPr>
        <p:spPr>
          <a:xfrm>
            <a:off x="457200" y="5029200"/>
            <a:ext cx="8153400" cy="76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8363517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837902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12/29/24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sp>
        <p:nvSpPr>
          <p:cNvPr id="7" name="TextBox 6"/>
          <p:cNvSpPr txBox="1"/>
          <p:nvPr userDrawn="1"/>
        </p:nvSpPr>
        <p:spPr>
          <a:xfrm>
            <a:off x="1533525" y="6374626"/>
            <a:ext cx="7162800" cy="276999"/>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dirty="0">
                <a:latin typeface="Verdana" panose="020B0604030504040204" pitchFamily="34" charset="0"/>
              </a:rPr>
              <a:t>Copyright © 2023 by Pearson Education, Inc. All Rights Reserved</a:t>
            </a:r>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7111366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6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68076976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7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68076976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8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6807697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dirty="0"/>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629842" y="2505075"/>
            <a:ext cx="3868340"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629150" y="2505075"/>
            <a:ext cx="3887391"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12/29/24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
        <p:nvSpPr>
          <p:cNvPr id="10" name="Content Placeholder 3"/>
          <p:cNvSpPr>
            <a:spLocks noGrp="1"/>
          </p:cNvSpPr>
          <p:nvPr>
            <p:ph sz="half" idx="13"/>
          </p:nvPr>
        </p:nvSpPr>
        <p:spPr>
          <a:xfrm>
            <a:off x="631372" y="4278084"/>
            <a:ext cx="3868340"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5"/>
          <p:cNvSpPr>
            <a:spLocks noGrp="1"/>
          </p:cNvSpPr>
          <p:nvPr>
            <p:ph sz="quarter" idx="14"/>
          </p:nvPr>
        </p:nvSpPr>
        <p:spPr>
          <a:xfrm>
            <a:off x="4637312" y="4288972"/>
            <a:ext cx="3887391"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044918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9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93362631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0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93362631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9336263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93362631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93362631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4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9336263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93362631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emf"/><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A976C3-CCF4-41AE-2756-AF2E0B1C641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745C23-BBA8-99C5-36D5-E3C7D4CF995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2E0331-81B0-D7D6-7A4F-9EB7B27F6EBB}"/>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A91DA835-D6F5-4D98-C381-A1E9AC542842}"/>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9A993788-E333-3429-8FF8-7583FECFAE25}"/>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200B2350-5261-4F5C-9DF5-EF0D264FC8D2}" type="slidenum">
              <a:rPr lang="en-US" smtClean="0"/>
              <a:pPr/>
              <a:t>‹#›</a:t>
            </a:fld>
            <a:endParaRPr lang="en-US" dirty="0"/>
          </a:p>
        </p:txBody>
      </p:sp>
      <p:pic>
        <p:nvPicPr>
          <p:cNvPr id="7" name="Picture 6" descr="Pearson Logo">
            <a:extLst>
              <a:ext uri="{FF2B5EF4-FFF2-40B4-BE49-F238E27FC236}">
                <a16:creationId xmlns:a16="http://schemas.microsoft.com/office/drawing/2014/main" id="{CC41633A-C851-F401-BFE7-8898714B43E0}"/>
              </a:ext>
            </a:extLst>
          </p:cNvPr>
          <p:cNvPicPr>
            <a:picLocks noChangeAspect="1"/>
          </p:cNvPicPr>
          <p:nvPr userDrawn="1"/>
        </p:nvPicPr>
        <p:blipFill>
          <a:blip r:embed="rId43"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a:extLst>
              <a:ext uri="{FF2B5EF4-FFF2-40B4-BE49-F238E27FC236}">
                <a16:creationId xmlns:a16="http://schemas.microsoft.com/office/drawing/2014/main" id="{14E9293D-F7E7-EBE0-DB42-8F6E53A7AEC4}"/>
              </a:ext>
            </a:extLst>
          </p:cNvPr>
          <p:cNvSpPr txBox="1"/>
          <p:nvPr userDrawn="1"/>
        </p:nvSpPr>
        <p:spPr>
          <a:xfrm>
            <a:off x="8015565" y="6417107"/>
            <a:ext cx="595035"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9 -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9" name="TextBox 8">
            <a:extLst>
              <a:ext uri="{FF2B5EF4-FFF2-40B4-BE49-F238E27FC236}">
                <a16:creationId xmlns:a16="http://schemas.microsoft.com/office/drawing/2014/main" id="{C34671B4-31CE-C2AF-0A67-34E5DFC7C775}"/>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Tree>
    <p:extLst>
      <p:ext uri="{BB962C8B-B14F-4D97-AF65-F5344CB8AC3E}">
        <p14:creationId xmlns:p14="http://schemas.microsoft.com/office/powerpoint/2010/main" val="1498486870"/>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9" r:id="rId12"/>
    <p:sldLayoutId id="2147483700" r:id="rId13"/>
    <p:sldLayoutId id="2147483701" r:id="rId14"/>
    <p:sldLayoutId id="2147483702" r:id="rId15"/>
    <p:sldLayoutId id="2147483703" r:id="rId16"/>
    <p:sldLayoutId id="2147483704" r:id="rId17"/>
    <p:sldLayoutId id="2147483657" r:id="rId18"/>
    <p:sldLayoutId id="2147483650" r:id="rId19"/>
    <p:sldLayoutId id="2147483659" r:id="rId20"/>
    <p:sldLayoutId id="2147483672" r:id="rId21"/>
    <p:sldLayoutId id="2147483658" r:id="rId22"/>
    <p:sldLayoutId id="2147483660" r:id="rId23"/>
    <p:sldLayoutId id="2147483676" r:id="rId24"/>
    <p:sldLayoutId id="2147483662" r:id="rId25"/>
    <p:sldLayoutId id="2147483665" r:id="rId26"/>
    <p:sldLayoutId id="2147483666" r:id="rId27"/>
    <p:sldLayoutId id="2147483663" r:id="rId28"/>
    <p:sldLayoutId id="2147483654" r:id="rId29"/>
    <p:sldLayoutId id="2147483655" r:id="rId30"/>
    <p:sldLayoutId id="2147483668" r:id="rId31"/>
    <p:sldLayoutId id="2147483669" r:id="rId32"/>
    <p:sldLayoutId id="2147483670" r:id="rId33"/>
    <p:sldLayoutId id="2147483671" r:id="rId34"/>
    <p:sldLayoutId id="2147483677" r:id="rId35"/>
    <p:sldLayoutId id="2147483678" r:id="rId36"/>
    <p:sldLayoutId id="2147483679" r:id="rId37"/>
    <p:sldLayoutId id="2147483680" r:id="rId38"/>
    <p:sldLayoutId id="2147483681" r:id="rId39"/>
    <p:sldLayoutId id="2147483682" r:id="rId40"/>
    <p:sldLayoutId id="2147483683" r:id="rId4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5.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7.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838201"/>
            <a:ext cx="7772400" cy="1828800"/>
          </a:xfrm>
        </p:spPr>
        <p:txBody>
          <a:bodyPr/>
          <a:lstStyle/>
          <a:p>
            <a:r>
              <a:rPr lang="en-US" dirty="0"/>
              <a:t>Macroeconomics</a:t>
            </a:r>
            <a:br>
              <a:rPr lang="en-US" dirty="0"/>
            </a:br>
            <a:r>
              <a:rPr lang="en-US" sz="2800" dirty="0"/>
              <a:t>ECON 101</a:t>
            </a:r>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304800" y="3276600"/>
            <a:ext cx="8305800" cy="1981200"/>
          </a:xfrm>
        </p:spPr>
        <p:txBody>
          <a:bodyPr>
            <a:normAutofit/>
          </a:bodyPr>
          <a:lstStyle/>
          <a:p>
            <a:r>
              <a:rPr lang="en-IN" sz="2400" dirty="0"/>
              <a:t>Aggregate Demand and Aggregate Supply Analysis</a:t>
            </a:r>
          </a:p>
          <a:p>
            <a:r>
              <a:rPr lang="en-US" dirty="0"/>
              <a:t>(Chapter 9)</a:t>
            </a:r>
          </a:p>
          <a:p>
            <a:endParaRPr lang="en-US" dirty="0"/>
          </a:p>
          <a:p>
            <a:r>
              <a:rPr lang="en-US" dirty="0"/>
              <a:t>Instructor: </a:t>
            </a:r>
            <a:r>
              <a:rPr lang="en-US" dirty="0" err="1"/>
              <a:t>Muhebullah</a:t>
            </a:r>
            <a:r>
              <a:rPr lang="en-US" dirty="0"/>
              <a:t> </a:t>
            </a:r>
            <a:r>
              <a:rPr lang="en-US" dirty="0" err="1"/>
              <a:t>Karimzada</a:t>
            </a:r>
            <a:endParaRPr lang="en-US"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8"/>
          <p:cNvSpPr>
            <a:spLocks noGrp="1"/>
          </p:cNvSpPr>
          <p:nvPr>
            <p:ph type="title"/>
          </p:nvPr>
        </p:nvSpPr>
        <p:spPr>
          <a:xfrm>
            <a:off x="457200" y="296646"/>
            <a:ext cx="8229600" cy="465354"/>
          </a:xfrm>
        </p:spPr>
        <p:txBody>
          <a:bodyPr>
            <a:normAutofit fontScale="90000"/>
          </a:bodyPr>
          <a:lstStyle/>
          <a:p>
            <a:r>
              <a:rPr lang="en-US" dirty="0">
                <a:latin typeface="+mj-lt"/>
              </a:rPr>
              <a:t>Chapter Outline</a:t>
            </a:r>
          </a:p>
        </p:txBody>
      </p:sp>
      <p:sp>
        <p:nvSpPr>
          <p:cNvPr id="10" name="Content Placeholder 9"/>
          <p:cNvSpPr>
            <a:spLocks noGrp="1"/>
          </p:cNvSpPr>
          <p:nvPr>
            <p:ph idx="1"/>
          </p:nvPr>
        </p:nvSpPr>
        <p:spPr>
          <a:xfrm>
            <a:off x="457200" y="1066800"/>
            <a:ext cx="3886200" cy="4876800"/>
          </a:xfrm>
        </p:spPr>
        <p:txBody>
          <a:bodyPr/>
          <a:lstStyle/>
          <a:p>
            <a:pPr marL="0" indent="0">
              <a:spcBef>
                <a:spcPts val="1000"/>
              </a:spcBef>
              <a:buNone/>
            </a:pPr>
            <a:r>
              <a:rPr lang="en-US" sz="2400" b="1" dirty="0"/>
              <a:t>9.1</a:t>
            </a:r>
            <a:r>
              <a:rPr lang="en-US" sz="2400" dirty="0"/>
              <a:t>  Aggregate Demand</a:t>
            </a:r>
          </a:p>
          <a:p>
            <a:pPr marL="0" indent="0">
              <a:spcBef>
                <a:spcPts val="1000"/>
              </a:spcBef>
              <a:buNone/>
            </a:pPr>
            <a:r>
              <a:rPr lang="en-US" sz="2400" b="1" dirty="0"/>
              <a:t>9.2</a:t>
            </a:r>
            <a:r>
              <a:rPr lang="en-US" sz="2400" dirty="0"/>
              <a:t>  Aggregate Supply</a:t>
            </a:r>
          </a:p>
          <a:p>
            <a:pPr marL="609600" indent="-609600">
              <a:spcBef>
                <a:spcPts val="1000"/>
              </a:spcBef>
              <a:buNone/>
            </a:pPr>
            <a:r>
              <a:rPr lang="en-US" sz="2400" b="1" dirty="0"/>
              <a:t>9.3</a:t>
            </a:r>
            <a:r>
              <a:rPr lang="en-US" sz="2400" dirty="0"/>
              <a:t>  Macroeconomic Equilibrium in the Long Run and the Short Run</a:t>
            </a:r>
          </a:p>
        </p:txBody>
      </p:sp>
    </p:spTree>
    <p:extLst>
      <p:ext uri="{BB962C8B-B14F-4D97-AF65-F5344CB8AC3E}">
        <p14:creationId xmlns:p14="http://schemas.microsoft.com/office/powerpoint/2010/main" val="1378846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j-lt"/>
              </a:rPr>
              <a:t>Aggregate Demand</a:t>
            </a:r>
          </a:p>
        </p:txBody>
      </p:sp>
      <p:sp>
        <p:nvSpPr>
          <p:cNvPr id="8" name="Text Placeholder 7">
            <a:extLst>
              <a:ext uri="{FF2B5EF4-FFF2-40B4-BE49-F238E27FC236}">
                <a16:creationId xmlns:a16="http://schemas.microsoft.com/office/drawing/2014/main" id="{C8382D1A-AB1B-E7CF-546C-946D892954A1}"/>
              </a:ext>
            </a:extLst>
          </p:cNvPr>
          <p:cNvSpPr>
            <a:spLocks noGrp="1"/>
          </p:cNvSpPr>
          <p:nvPr>
            <p:ph type="body" sz="quarter" idx="13"/>
          </p:nvPr>
        </p:nvSpPr>
        <p:spPr/>
        <p:txBody>
          <a:bodyPr/>
          <a:lstStyle/>
          <a:p>
            <a:r>
              <a:rPr lang="en-US" sz="2400" b="1" dirty="0">
                <a:solidFill>
                  <a:schemeClr val="tx1"/>
                </a:solidFill>
              </a:rPr>
              <a:t>9.1 Learning</a:t>
            </a:r>
            <a:r>
              <a:rPr lang="en-US" sz="2400" dirty="0">
                <a:solidFill>
                  <a:schemeClr val="tx1"/>
                </a:solidFill>
              </a:rPr>
              <a:t> </a:t>
            </a:r>
            <a:r>
              <a:rPr lang="en-US" sz="2400" b="1" dirty="0">
                <a:solidFill>
                  <a:schemeClr val="tx1"/>
                </a:solidFill>
              </a:rPr>
              <a:t>Objective</a:t>
            </a:r>
          </a:p>
        </p:txBody>
      </p:sp>
      <p:sp>
        <p:nvSpPr>
          <p:cNvPr id="6" name="Content Placeholder 5"/>
          <p:cNvSpPr>
            <a:spLocks noGrp="1"/>
          </p:cNvSpPr>
          <p:nvPr>
            <p:ph sz="quarter" idx="14"/>
          </p:nvPr>
        </p:nvSpPr>
        <p:spPr>
          <a:xfrm>
            <a:off x="457200" y="1600200"/>
            <a:ext cx="8229600" cy="1031573"/>
          </a:xfrm>
        </p:spPr>
        <p:txBody>
          <a:bodyPr/>
          <a:lstStyle/>
          <a:p>
            <a:pPr marL="0" indent="0">
              <a:buNone/>
            </a:pPr>
            <a:r>
              <a:rPr lang="en-US" sz="2200" dirty="0"/>
              <a:t>Identify the determinants of aggregate demand and distinguish between a movement along the aggregate demand curve and a shift of the curve.</a:t>
            </a:r>
          </a:p>
        </p:txBody>
      </p:sp>
      <p:sp>
        <p:nvSpPr>
          <p:cNvPr id="3" name="Content Placeholder 6">
            <a:extLst>
              <a:ext uri="{FF2B5EF4-FFF2-40B4-BE49-F238E27FC236}">
                <a16:creationId xmlns:a16="http://schemas.microsoft.com/office/drawing/2014/main" id="{A0A26A39-FC85-A83F-4957-F9D30B7CA911}"/>
              </a:ext>
            </a:extLst>
          </p:cNvPr>
          <p:cNvSpPr txBox="1">
            <a:spLocks/>
          </p:cNvSpPr>
          <p:nvPr/>
        </p:nvSpPr>
        <p:spPr>
          <a:xfrm>
            <a:off x="441609" y="2731250"/>
            <a:ext cx="8232128" cy="1840749"/>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9pPr>
          </a:lstStyle>
          <a:p>
            <a:pPr marL="432" indent="0">
              <a:buFont typeface="Arial" panose="020B0604020202020204" pitchFamily="34" charset="0"/>
              <a:buNone/>
            </a:pPr>
            <a:r>
              <a:rPr lang="en-US" sz="2000" dirty="0"/>
              <a:t>Real GDP has four components:</a:t>
            </a:r>
          </a:p>
          <a:p>
            <a:pPr>
              <a:spcBef>
                <a:spcPts val="600"/>
              </a:spcBef>
            </a:pPr>
            <a:r>
              <a:rPr lang="en-US" sz="2000" dirty="0"/>
              <a:t>Consumption (</a:t>
            </a:r>
            <a:r>
              <a:rPr lang="en-US" sz="2000" i="1" dirty="0"/>
              <a:t>C</a:t>
            </a:r>
            <a:r>
              <a:rPr lang="en-US" sz="2000" dirty="0"/>
              <a:t>)</a:t>
            </a:r>
          </a:p>
          <a:p>
            <a:pPr>
              <a:spcBef>
                <a:spcPts val="600"/>
              </a:spcBef>
            </a:pPr>
            <a:r>
              <a:rPr lang="en-US" sz="2000" dirty="0"/>
              <a:t>Investment (</a:t>
            </a:r>
            <a:r>
              <a:rPr lang="en-US" sz="2000" i="1" dirty="0"/>
              <a:t>I</a:t>
            </a:r>
            <a:r>
              <a:rPr lang="en-US" sz="2000" dirty="0"/>
              <a:t>)</a:t>
            </a:r>
          </a:p>
          <a:p>
            <a:pPr>
              <a:spcBef>
                <a:spcPts val="600"/>
              </a:spcBef>
            </a:pPr>
            <a:r>
              <a:rPr lang="en-US" sz="2000" dirty="0"/>
              <a:t>Government purchases (</a:t>
            </a:r>
            <a:r>
              <a:rPr lang="en-US" sz="2000" i="1" dirty="0"/>
              <a:t>G</a:t>
            </a:r>
            <a:r>
              <a:rPr lang="en-US" sz="2000" dirty="0"/>
              <a:t>)</a:t>
            </a:r>
          </a:p>
          <a:p>
            <a:pPr>
              <a:spcBef>
                <a:spcPts val="600"/>
              </a:spcBef>
            </a:pPr>
            <a:r>
              <a:rPr lang="en-US" sz="2000" dirty="0"/>
              <a:t>Net exports (</a:t>
            </a:r>
            <a:r>
              <a:rPr lang="en-US" sz="2000" i="1" dirty="0"/>
              <a:t>NX</a:t>
            </a:r>
            <a:r>
              <a:rPr lang="en-US" sz="2000" dirty="0"/>
              <a:t>)</a:t>
            </a:r>
            <a:endParaRPr lang="en-IN" sz="2000" dirty="0"/>
          </a:p>
        </p:txBody>
      </p:sp>
      <p:sp>
        <p:nvSpPr>
          <p:cNvPr id="4" name="Content Placeholder 7">
            <a:extLst>
              <a:ext uri="{FF2B5EF4-FFF2-40B4-BE49-F238E27FC236}">
                <a16:creationId xmlns:a16="http://schemas.microsoft.com/office/drawing/2014/main" id="{717D5E9D-027F-640E-3137-2820F38C78EF}"/>
              </a:ext>
            </a:extLst>
          </p:cNvPr>
          <p:cNvSpPr txBox="1">
            <a:spLocks/>
          </p:cNvSpPr>
          <p:nvPr/>
        </p:nvSpPr>
        <p:spPr>
          <a:xfrm>
            <a:off x="304800" y="4572000"/>
            <a:ext cx="3657600" cy="339466"/>
          </a:xfrm>
          <a:prstGeom prst="rect">
            <a:avLst/>
          </a:prstGeom>
        </p:spPr>
        <p:txBody>
          <a:bodyPr tIns="0"/>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432" indent="0">
              <a:buFont typeface="Arial" panose="020B0604020202020204" pitchFamily="34" charset="0"/>
              <a:buNone/>
            </a:pPr>
            <a:r>
              <a:rPr lang="en-US" sz="2000" dirty="0"/>
              <a:t>Adding these gives real GDP:</a:t>
            </a:r>
            <a:endParaRPr lang="en-IN" sz="2000" dirty="0"/>
          </a:p>
        </p:txBody>
      </p:sp>
      <p:graphicFrame>
        <p:nvGraphicFramePr>
          <p:cNvPr id="5" name="Object 4" descr="Y = C + I + G + N X.">
            <a:extLst>
              <a:ext uri="{FF2B5EF4-FFF2-40B4-BE49-F238E27FC236}">
                <a16:creationId xmlns:a16="http://schemas.microsoft.com/office/drawing/2014/main" id="{9C093501-085A-E9DB-6E2A-0108097DE04D}"/>
              </a:ext>
            </a:extLst>
          </p:cNvPr>
          <p:cNvGraphicFramePr>
            <a:graphicFrameLocks noChangeAspect="1"/>
          </p:cNvGraphicFramePr>
          <p:nvPr>
            <p:extLst>
              <p:ext uri="{D42A27DB-BD31-4B8C-83A1-F6EECF244321}">
                <p14:modId xmlns:p14="http://schemas.microsoft.com/office/powerpoint/2010/main" val="2431392746"/>
              </p:ext>
            </p:extLst>
          </p:nvPr>
        </p:nvGraphicFramePr>
        <p:xfrm>
          <a:off x="3810000" y="4611574"/>
          <a:ext cx="2133600" cy="261791"/>
        </p:xfrm>
        <a:graphic>
          <a:graphicData uri="http://schemas.openxmlformats.org/presentationml/2006/ole">
            <mc:AlternateContent xmlns:mc="http://schemas.openxmlformats.org/markup-compatibility/2006">
              <mc:Choice xmlns:v="urn:schemas-microsoft-com:vml" Requires="v">
                <p:oleObj name="Equation" r:id="rId2" imgW="2070000" imgH="253800" progId="Equation.DSMT4">
                  <p:embed/>
                </p:oleObj>
              </mc:Choice>
              <mc:Fallback>
                <p:oleObj name="Equation" r:id="rId2" imgW="2070000" imgH="253800" progId="Equation.DSMT4">
                  <p:embed/>
                  <p:pic>
                    <p:nvPicPr>
                      <p:cNvPr id="10" name="Object 9" descr="Y = C + I + G + N X.">
                        <a:extLst>
                          <a:ext uri="{FF2B5EF4-FFF2-40B4-BE49-F238E27FC236}">
                            <a16:creationId xmlns:a16="http://schemas.microsoft.com/office/drawing/2014/main" id="{3426E255-7D2E-4944-9EC8-E2F6CEE75CC5}"/>
                          </a:ext>
                        </a:extLst>
                      </p:cNvPr>
                      <p:cNvPicPr/>
                      <p:nvPr/>
                    </p:nvPicPr>
                    <p:blipFill>
                      <a:blip r:embed="rId3"/>
                      <a:stretch>
                        <a:fillRect/>
                      </a:stretch>
                    </p:blipFill>
                    <p:spPr>
                      <a:xfrm>
                        <a:off x="3810000" y="4611574"/>
                        <a:ext cx="2133600" cy="261791"/>
                      </a:xfrm>
                      <a:prstGeom prst="rect">
                        <a:avLst/>
                      </a:prstGeom>
                    </p:spPr>
                  </p:pic>
                </p:oleObj>
              </mc:Fallback>
            </mc:AlternateContent>
          </a:graphicData>
        </a:graphic>
      </p:graphicFrame>
      <p:sp>
        <p:nvSpPr>
          <p:cNvPr id="7" name="Content Placeholder 8">
            <a:extLst>
              <a:ext uri="{FF2B5EF4-FFF2-40B4-BE49-F238E27FC236}">
                <a16:creationId xmlns:a16="http://schemas.microsoft.com/office/drawing/2014/main" id="{D922D904-7AA7-7E81-B528-BEB20B563D35}"/>
              </a:ext>
            </a:extLst>
          </p:cNvPr>
          <p:cNvSpPr txBox="1">
            <a:spLocks/>
          </p:cNvSpPr>
          <p:nvPr/>
        </p:nvSpPr>
        <p:spPr>
          <a:xfrm>
            <a:off x="314325" y="4911466"/>
            <a:ext cx="8232128" cy="1352744"/>
          </a:xfrm>
          <a:prstGeom prst="rect">
            <a:avLst/>
          </a:prstGeom>
        </p:spPr>
        <p:txBody>
          <a:bodyPr tIns="0"/>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a:spcBef>
                <a:spcPts val="1000"/>
              </a:spcBef>
            </a:pPr>
            <a:r>
              <a:rPr lang="en-US" sz="2000" dirty="0"/>
              <a:t>Government purchases are generally determined by the decisions of policymakers and are independent of changes in the price level.</a:t>
            </a:r>
          </a:p>
          <a:p>
            <a:pPr>
              <a:spcBef>
                <a:spcPts val="1000"/>
              </a:spcBef>
            </a:pPr>
            <a:r>
              <a:rPr lang="en-US" sz="2000" dirty="0"/>
              <a:t>However, consumption, investment, and net exports are affected by changes in the price level. We will examine each in turn.</a:t>
            </a:r>
            <a:endParaRPr lang="en-IN" sz="2000" dirty="0"/>
          </a:p>
        </p:txBody>
      </p:sp>
    </p:spTree>
    <p:extLst>
      <p:ext uri="{BB962C8B-B14F-4D97-AF65-F5344CB8AC3E}">
        <p14:creationId xmlns:p14="http://schemas.microsoft.com/office/powerpoint/2010/main" val="4007042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mj-lt"/>
              </a:rPr>
              <a:t>Aggregate Demand and Aggregate Supply Model</a:t>
            </a:r>
          </a:p>
        </p:txBody>
      </p:sp>
      <p:sp>
        <p:nvSpPr>
          <p:cNvPr id="5" name="Content Placeholder 4"/>
          <p:cNvSpPr>
            <a:spLocks noGrp="1"/>
          </p:cNvSpPr>
          <p:nvPr>
            <p:ph idx="1"/>
          </p:nvPr>
        </p:nvSpPr>
        <p:spPr>
          <a:xfrm>
            <a:off x="457200" y="1600200"/>
            <a:ext cx="8229600" cy="4572000"/>
          </a:xfrm>
        </p:spPr>
        <p:txBody>
          <a:bodyPr>
            <a:noAutofit/>
          </a:bodyPr>
          <a:lstStyle/>
          <a:p>
            <a:pPr marL="0" indent="0">
              <a:spcBef>
                <a:spcPts val="1000"/>
              </a:spcBef>
              <a:buNone/>
              <a:defRPr/>
            </a:pPr>
            <a:r>
              <a:rPr lang="en-US" sz="2300" dirty="0"/>
              <a:t>We have modeled long-run economic growth and also how real GDP is determined in the short run.</a:t>
            </a:r>
          </a:p>
          <a:p>
            <a:pPr marL="0" indent="0">
              <a:spcBef>
                <a:spcPts val="1000"/>
              </a:spcBef>
              <a:buNone/>
              <a:defRPr/>
            </a:pPr>
            <a:r>
              <a:rPr lang="en-US" sz="2300" dirty="0"/>
              <a:t>In this chapter we will extend the model of the economy in the short run to be able to understand why real GDP, the level of employment, and the price level fluctuate.</a:t>
            </a:r>
          </a:p>
          <a:p>
            <a:pPr marL="266700" indent="-266700">
              <a:spcBef>
                <a:spcPts val="1000"/>
              </a:spcBef>
              <a:defRPr/>
            </a:pPr>
            <a:r>
              <a:rPr lang="en-US" sz="2300" dirty="0"/>
              <a:t>Our tool for doing this will be the </a:t>
            </a:r>
            <a:r>
              <a:rPr lang="en-US" sz="2300" b="1" dirty="0"/>
              <a:t>aggregate demand and aggregate supply model;</a:t>
            </a:r>
            <a:r>
              <a:rPr lang="en-US" sz="2300" dirty="0"/>
              <a:t> to build the model, we must determine how aggregate demand and aggregate supply are each formed.</a:t>
            </a:r>
          </a:p>
          <a:p>
            <a:pPr marL="266700" indent="-266700">
              <a:spcBef>
                <a:spcPts val="1000"/>
              </a:spcBef>
              <a:defRPr/>
            </a:pPr>
            <a:r>
              <a:rPr lang="en-US" sz="2300" b="1" dirty="0"/>
              <a:t>Aggregate demand and aggregate supply model:</a:t>
            </a:r>
            <a:r>
              <a:rPr lang="en-US" sz="2300" dirty="0"/>
              <a:t> A model that explains short-run fluctuations in real GDP and the price level.</a:t>
            </a:r>
          </a:p>
        </p:txBody>
      </p:sp>
    </p:spTree>
    <p:extLst>
      <p:ext uri="{BB962C8B-B14F-4D97-AF65-F5344CB8AC3E}">
        <p14:creationId xmlns:p14="http://schemas.microsoft.com/office/powerpoint/2010/main" val="26277379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1"/>
            <a:ext cx="8229600" cy="914400"/>
          </a:xfrm>
        </p:spPr>
        <p:txBody>
          <a:bodyPr>
            <a:normAutofit fontScale="90000"/>
          </a:bodyPr>
          <a:lstStyle/>
          <a:p>
            <a:r>
              <a:rPr lang="en-US" sz="3200" dirty="0">
                <a:latin typeface="+mj-lt"/>
              </a:rPr>
              <a:t>Figure 9.1 Aggregate Demand and Aggregate Supply</a:t>
            </a:r>
          </a:p>
        </p:txBody>
      </p:sp>
      <p:sp>
        <p:nvSpPr>
          <p:cNvPr id="3" name="Content Placeholder 2"/>
          <p:cNvSpPr>
            <a:spLocks noGrp="1"/>
          </p:cNvSpPr>
          <p:nvPr>
            <p:ph idx="1"/>
          </p:nvPr>
        </p:nvSpPr>
        <p:spPr>
          <a:xfrm>
            <a:off x="457200" y="1316421"/>
            <a:ext cx="4114800" cy="4627179"/>
          </a:xfrm>
        </p:spPr>
        <p:txBody>
          <a:bodyPr/>
          <a:lstStyle/>
          <a:p>
            <a:pPr marL="0" indent="0">
              <a:spcBef>
                <a:spcPts val="1000"/>
              </a:spcBef>
              <a:spcAft>
                <a:spcPts val="0"/>
              </a:spcAft>
              <a:buNone/>
              <a:defRPr/>
            </a:pPr>
            <a:r>
              <a:rPr lang="en-US" sz="1850" dirty="0"/>
              <a:t>In the short run, real GDP and the price level are determined by the intersection of the </a:t>
            </a:r>
            <a:r>
              <a:rPr lang="en-US" sz="1850" b="1" dirty="0"/>
              <a:t>aggregate demand (AD) curve </a:t>
            </a:r>
            <a:r>
              <a:rPr lang="en-US" sz="1850" dirty="0"/>
              <a:t>and the </a:t>
            </a:r>
            <a:r>
              <a:rPr lang="en-US" sz="1850" b="1" dirty="0"/>
              <a:t>short-run aggregate supply (SRAS) curve.</a:t>
            </a:r>
            <a:endParaRPr lang="en-US" sz="1850" dirty="0"/>
          </a:p>
          <a:p>
            <a:pPr marL="0" indent="0">
              <a:spcBef>
                <a:spcPts val="1000"/>
              </a:spcBef>
              <a:spcAft>
                <a:spcPts val="0"/>
              </a:spcAft>
              <a:buNone/>
              <a:defRPr/>
            </a:pPr>
            <a:r>
              <a:rPr lang="en-US" sz="1850" b="1" dirty="0"/>
              <a:t>Aggregate demand (AD) curve:</a:t>
            </a:r>
            <a:r>
              <a:rPr lang="en-US" sz="1850" dirty="0"/>
              <a:t> A curve that shows the relationship between the price level and the quantity of real GDP demanded by households, firms, and the government.</a:t>
            </a:r>
          </a:p>
          <a:p>
            <a:pPr marL="0" indent="0">
              <a:spcBef>
                <a:spcPts val="1000"/>
              </a:spcBef>
              <a:buNone/>
              <a:defRPr/>
            </a:pPr>
            <a:r>
              <a:rPr lang="en-US" sz="1850" b="1" kern="0" dirty="0"/>
              <a:t>Short-run aggregate supply (SRAS) curve:</a:t>
            </a:r>
            <a:r>
              <a:rPr lang="en-US" sz="1850" kern="0" dirty="0"/>
              <a:t> A curve that shows the relationship in the short run between the price level and the quantity of real GDP supplied by firms.</a:t>
            </a:r>
            <a:endParaRPr lang="en-US" sz="1850" dirty="0"/>
          </a:p>
        </p:txBody>
      </p:sp>
      <p:pic>
        <p:nvPicPr>
          <p:cNvPr id="5" name="Picture 4" descr="The line graph with the x-axis labeled real G D P in trillions of 2012 dollars and the y-axis labeled price level in C P I. A line labeled short-run aggregate supply, S R A S forms an upward slope intersecting the line labeled aggregate demand, A D forming a downward slope at a point (2.2, 148).">
            <a:extLst>
              <a:ext uri="{FF2B5EF4-FFF2-40B4-BE49-F238E27FC236}">
                <a16:creationId xmlns:a16="http://schemas.microsoft.com/office/drawing/2014/main" id="{FC6F87AC-A3CF-B7ED-7F9B-581B184AA3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6800" y="1344996"/>
            <a:ext cx="3891299" cy="2895600"/>
          </a:xfrm>
          <a:prstGeom prst="rect">
            <a:avLst/>
          </a:prstGeom>
        </p:spPr>
      </p:pic>
    </p:spTree>
    <p:extLst>
      <p:ext uri="{BB962C8B-B14F-4D97-AF65-F5344CB8AC3E}">
        <p14:creationId xmlns:p14="http://schemas.microsoft.com/office/powerpoint/2010/main" val="638191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106A155-628C-83B1-AE5D-0A8ECFC6A5EE}"/>
              </a:ext>
            </a:extLst>
          </p:cNvPr>
          <p:cNvSpPr>
            <a:spLocks noGrp="1"/>
          </p:cNvSpPr>
          <p:nvPr>
            <p:ph type="title"/>
          </p:nvPr>
        </p:nvSpPr>
        <p:spPr/>
        <p:txBody>
          <a:bodyPr/>
          <a:lstStyle/>
          <a:p>
            <a:r>
              <a:rPr lang="en-US" dirty="0">
                <a:latin typeface="+mj-lt"/>
              </a:rPr>
              <a:t>The Wealth Effect: How a Change in the Price Level Affects Consumption</a:t>
            </a:r>
            <a:endParaRPr lang="en-IN" dirty="0">
              <a:latin typeface="+mj-lt"/>
            </a:endParaRPr>
          </a:p>
        </p:txBody>
      </p:sp>
      <p:sp>
        <p:nvSpPr>
          <p:cNvPr id="4" name="Content Placeholder 3"/>
          <p:cNvSpPr>
            <a:spLocks noGrp="1"/>
          </p:cNvSpPr>
          <p:nvPr>
            <p:ph idx="1"/>
          </p:nvPr>
        </p:nvSpPr>
        <p:spPr/>
        <p:txBody>
          <a:bodyPr/>
          <a:lstStyle/>
          <a:p>
            <a:pPr marL="0" indent="0">
              <a:spcBef>
                <a:spcPts val="1000"/>
              </a:spcBef>
              <a:buNone/>
              <a:defRPr/>
            </a:pPr>
            <a:r>
              <a:rPr lang="en-US" dirty="0"/>
              <a:t>Household consumption is mostly determined by income, but it is also affected by wealth.</a:t>
            </a:r>
          </a:p>
          <a:p>
            <a:pPr marL="266700" indent="-266700">
              <a:spcBef>
                <a:spcPts val="1000"/>
              </a:spcBef>
              <a:defRPr/>
            </a:pPr>
            <a:r>
              <a:rPr lang="en-US" dirty="0"/>
              <a:t>Some household wealth is held in </a:t>
            </a:r>
            <a:r>
              <a:rPr lang="en-US" i="1" dirty="0"/>
              <a:t>nominal assets</a:t>
            </a:r>
            <a:r>
              <a:rPr lang="en-US" dirty="0"/>
              <a:t>; so as price levels rise, the real value of household wealth declines. This results in less consumption.</a:t>
            </a:r>
          </a:p>
          <a:p>
            <a:pPr marL="266700" indent="-266700">
              <a:spcBef>
                <a:spcPts val="1000"/>
              </a:spcBef>
              <a:defRPr/>
            </a:pPr>
            <a:r>
              <a:rPr lang="en-US" dirty="0"/>
              <a:t>Implication: higher price level leads to lower consumption.</a:t>
            </a:r>
            <a:endParaRPr lang="en-IN" dirty="0"/>
          </a:p>
          <a:p>
            <a:pPr marL="342900" indent="-342900">
              <a:spcBef>
                <a:spcPts val="1000"/>
              </a:spcBef>
              <a:defRPr/>
            </a:pPr>
            <a:endParaRPr lang="en-US" dirty="0"/>
          </a:p>
        </p:txBody>
      </p:sp>
    </p:spTree>
    <p:extLst>
      <p:ext uri="{BB962C8B-B14F-4D97-AF65-F5344CB8AC3E}">
        <p14:creationId xmlns:p14="http://schemas.microsoft.com/office/powerpoint/2010/main" val="1439531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6DFDFE4-9FEC-4F78-9523-143A8A245685}"/>
              </a:ext>
            </a:extLst>
          </p:cNvPr>
          <p:cNvSpPr>
            <a:spLocks noGrp="1"/>
          </p:cNvSpPr>
          <p:nvPr>
            <p:ph type="title"/>
          </p:nvPr>
        </p:nvSpPr>
        <p:spPr/>
        <p:txBody>
          <a:bodyPr/>
          <a:lstStyle/>
          <a:p>
            <a:r>
              <a:rPr lang="en-US" dirty="0">
                <a:latin typeface="+mj-lt"/>
              </a:rPr>
              <a:t>The Interest-Rate Effect: How a Change in the Price Level Affects Investment</a:t>
            </a:r>
            <a:endParaRPr lang="en-IN" dirty="0">
              <a:latin typeface="+mj-lt"/>
            </a:endParaRPr>
          </a:p>
        </p:txBody>
      </p:sp>
      <p:sp>
        <p:nvSpPr>
          <p:cNvPr id="2" name="Content Placeholder 1">
            <a:extLst>
              <a:ext uri="{FF2B5EF4-FFF2-40B4-BE49-F238E27FC236}">
                <a16:creationId xmlns:a16="http://schemas.microsoft.com/office/drawing/2014/main" id="{48031763-F598-1EED-DD56-FE1269CEA4E1}"/>
              </a:ext>
            </a:extLst>
          </p:cNvPr>
          <p:cNvSpPr>
            <a:spLocks noGrp="1"/>
          </p:cNvSpPr>
          <p:nvPr>
            <p:ph idx="1"/>
          </p:nvPr>
        </p:nvSpPr>
        <p:spPr/>
        <p:txBody>
          <a:bodyPr/>
          <a:lstStyle/>
          <a:p>
            <a:pPr marL="432" indent="0">
              <a:spcBef>
                <a:spcPts val="1000"/>
              </a:spcBef>
              <a:buFont typeface="Arial" panose="020B0604020202020204" pitchFamily="34" charset="0"/>
              <a:buNone/>
            </a:pPr>
            <a:r>
              <a:rPr lang="en-US" dirty="0"/>
              <a:t>When prices rise, households and firms need more money to finance buying and selling.</a:t>
            </a:r>
          </a:p>
          <a:p>
            <a:pPr>
              <a:spcBef>
                <a:spcPts val="1000"/>
              </a:spcBef>
            </a:pPr>
            <a:r>
              <a:rPr lang="en-US" dirty="0"/>
              <a:t>So, households and firms borrow and withdraw funds from banks and sell financial assets such as bonds in order to have more funds available.</a:t>
            </a:r>
          </a:p>
          <a:p>
            <a:pPr>
              <a:spcBef>
                <a:spcPts val="1000"/>
              </a:spcBef>
            </a:pPr>
            <a:r>
              <a:rPr lang="en-US" dirty="0"/>
              <a:t>This increase in demand for money causes the “price” of holding money (the interest rate) to rise, discouraging firm investment.</a:t>
            </a:r>
          </a:p>
          <a:p>
            <a:pPr>
              <a:spcBef>
                <a:spcPts val="1000"/>
              </a:spcBef>
            </a:pPr>
            <a:r>
              <a:rPr lang="en-US" dirty="0"/>
              <a:t>Implication: higher price level leads to lower investment.</a:t>
            </a:r>
            <a:endParaRPr lang="en-IN" dirty="0"/>
          </a:p>
        </p:txBody>
      </p:sp>
    </p:spTree>
    <p:extLst>
      <p:ext uri="{BB962C8B-B14F-4D97-AF65-F5344CB8AC3E}">
        <p14:creationId xmlns:p14="http://schemas.microsoft.com/office/powerpoint/2010/main" val="513453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E9FB3C6-FB67-17F7-7284-2700DD77EE31}"/>
              </a:ext>
            </a:extLst>
          </p:cNvPr>
          <p:cNvSpPr>
            <a:spLocks noGrp="1"/>
          </p:cNvSpPr>
          <p:nvPr>
            <p:ph type="title"/>
          </p:nvPr>
        </p:nvSpPr>
        <p:spPr>
          <a:xfrm>
            <a:off x="457200" y="215372"/>
            <a:ext cx="8305800" cy="1097280"/>
          </a:xfrm>
        </p:spPr>
        <p:txBody>
          <a:bodyPr/>
          <a:lstStyle/>
          <a:p>
            <a:r>
              <a:rPr lang="en-US" sz="3000" dirty="0">
                <a:latin typeface="+mj-lt"/>
              </a:rPr>
              <a:t>The International-Trade Effect: How a Change in the Price Level Affects Net Exports</a:t>
            </a:r>
            <a:endParaRPr lang="en-IN" sz="3000" dirty="0">
              <a:latin typeface="+mj-lt"/>
            </a:endParaRPr>
          </a:p>
        </p:txBody>
      </p:sp>
      <p:sp>
        <p:nvSpPr>
          <p:cNvPr id="15" name="Content Placeholder 2">
            <a:extLst>
              <a:ext uri="{FF2B5EF4-FFF2-40B4-BE49-F238E27FC236}">
                <a16:creationId xmlns:a16="http://schemas.microsoft.com/office/drawing/2014/main" id="{568CCE3B-EBD2-703B-9CAD-1282678BE4C5}"/>
              </a:ext>
            </a:extLst>
          </p:cNvPr>
          <p:cNvSpPr txBox="1">
            <a:spLocks/>
          </p:cNvSpPr>
          <p:nvPr/>
        </p:nvSpPr>
        <p:spPr>
          <a:xfrm>
            <a:off x="457200" y="1600200"/>
            <a:ext cx="8232775" cy="441960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9pPr>
          </a:lstStyle>
          <a:p>
            <a:pPr marL="432" indent="0">
              <a:spcBef>
                <a:spcPts val="1000"/>
              </a:spcBef>
              <a:buFont typeface="Arial" panose="020B0604020202020204" pitchFamily="34" charset="0"/>
              <a:buNone/>
            </a:pPr>
            <a:r>
              <a:rPr lang="en-US" sz="2500" dirty="0">
                <a:latin typeface="+mj-lt"/>
              </a:rPr>
              <a:t>When Canadian price levels rise, Canadian exports become more expensive and imports become relatively cheaper.</a:t>
            </a:r>
          </a:p>
          <a:p>
            <a:pPr>
              <a:spcBef>
                <a:spcPts val="1000"/>
              </a:spcBef>
            </a:pPr>
            <a:r>
              <a:rPr lang="en-US" sz="2500" dirty="0">
                <a:latin typeface="+mj-lt"/>
              </a:rPr>
              <a:t>Fewer exports and more imports means net exports falls.</a:t>
            </a:r>
          </a:p>
          <a:p>
            <a:pPr>
              <a:spcBef>
                <a:spcPts val="1000"/>
              </a:spcBef>
            </a:pPr>
            <a:r>
              <a:rPr lang="en-US" sz="2500" dirty="0">
                <a:latin typeface="+mj-lt"/>
              </a:rPr>
              <a:t>Implication: higher price level leads to lower net exports.</a:t>
            </a:r>
          </a:p>
          <a:p>
            <a:pPr marL="432" indent="0">
              <a:spcBef>
                <a:spcPts val="1000"/>
              </a:spcBef>
              <a:buFont typeface="Arial" panose="020B0604020202020204" pitchFamily="34" charset="0"/>
              <a:buNone/>
            </a:pPr>
            <a:r>
              <a:rPr lang="en-US" sz="2500" i="1" dirty="0">
                <a:latin typeface="+mj-lt"/>
              </a:rPr>
              <a:t>Each of the three effects shows higher price levels leading to lower values of components of real GDP.</a:t>
            </a:r>
          </a:p>
          <a:p>
            <a:pPr>
              <a:spcBef>
                <a:spcPts val="1000"/>
              </a:spcBef>
            </a:pPr>
            <a:r>
              <a:rPr lang="en-US" sz="2500" dirty="0">
                <a:latin typeface="+mj-lt"/>
              </a:rPr>
              <a:t>This establishes that the aggregate demand curve slopes downward.</a:t>
            </a:r>
          </a:p>
        </p:txBody>
      </p:sp>
    </p:spTree>
    <p:extLst>
      <p:ext uri="{BB962C8B-B14F-4D97-AF65-F5344CB8AC3E}">
        <p14:creationId xmlns:p14="http://schemas.microsoft.com/office/powerpoint/2010/main" val="711847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5253"/>
            <a:ext cx="8229600" cy="1097280"/>
          </a:xfrm>
        </p:spPr>
        <p:txBody>
          <a:bodyPr/>
          <a:lstStyle/>
          <a:p>
            <a:r>
              <a:rPr lang="en-US" dirty="0">
                <a:latin typeface="+mj-lt"/>
              </a:rPr>
              <a:t>Shifts of the AD Curve vs. Movements Along It</a:t>
            </a:r>
          </a:p>
        </p:txBody>
      </p:sp>
      <p:sp>
        <p:nvSpPr>
          <p:cNvPr id="3" name="Content Placeholder 2"/>
          <p:cNvSpPr>
            <a:spLocks noGrp="1"/>
          </p:cNvSpPr>
          <p:nvPr>
            <p:ph idx="1"/>
          </p:nvPr>
        </p:nvSpPr>
        <p:spPr>
          <a:xfrm>
            <a:off x="457200" y="1447800"/>
            <a:ext cx="4648200" cy="4724400"/>
          </a:xfrm>
        </p:spPr>
        <p:txBody>
          <a:bodyPr/>
          <a:lstStyle/>
          <a:p>
            <a:pPr marL="0" indent="0">
              <a:spcBef>
                <a:spcPts val="0"/>
              </a:spcBef>
              <a:spcAft>
                <a:spcPts val="1200"/>
              </a:spcAft>
              <a:buNone/>
              <a:defRPr/>
            </a:pPr>
            <a:r>
              <a:rPr lang="en-US" sz="2400" dirty="0"/>
              <a:t>The aggregate demand curve shows the relationship between the price level and real GDP demanded, </a:t>
            </a:r>
            <a:r>
              <a:rPr lang="en-US" sz="2400" i="1" dirty="0"/>
              <a:t>holding everything else constant</a:t>
            </a:r>
            <a:r>
              <a:rPr lang="en-US" sz="2400" dirty="0"/>
              <a:t>.</a:t>
            </a:r>
          </a:p>
          <a:p>
            <a:pPr marL="0" indent="0">
              <a:spcBef>
                <a:spcPts val="0"/>
              </a:spcBef>
              <a:spcAft>
                <a:spcPts val="1200"/>
              </a:spcAft>
              <a:buNone/>
              <a:defRPr/>
            </a:pPr>
            <a:r>
              <a:rPr lang="en-US" sz="2400" dirty="0"/>
              <a:t>A change in the price level not caused by a change in a component of real GDP results in a movement along the AD curve.</a:t>
            </a:r>
          </a:p>
          <a:p>
            <a:pPr marL="0" indent="0">
              <a:spcBef>
                <a:spcPts val="0"/>
              </a:spcBef>
              <a:spcAft>
                <a:spcPts val="1200"/>
              </a:spcAft>
              <a:buNone/>
              <a:defRPr/>
            </a:pPr>
            <a:r>
              <a:rPr lang="en-US" sz="2400" dirty="0"/>
              <a:t>A change in some component of aggregate demand, on the other hand, will shift the AD curve.</a:t>
            </a:r>
          </a:p>
        </p:txBody>
      </p:sp>
      <p:pic>
        <p:nvPicPr>
          <p:cNvPr id="5" name="Picture 4" descr="A line graph depicts the relationship between the price level and real G D P.">
            <a:extLst>
              <a:ext uri="{FF2B5EF4-FFF2-40B4-BE49-F238E27FC236}">
                <a16:creationId xmlns:a16="http://schemas.microsoft.com/office/drawing/2014/main" id="{294FDC8E-3F6F-9A34-C451-E3E4D8D9F7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1600" y="1529100"/>
            <a:ext cx="3073330" cy="2199600"/>
          </a:xfrm>
          <a:prstGeom prst="rect">
            <a:avLst/>
          </a:prstGeom>
        </p:spPr>
      </p:pic>
      <p:pic>
        <p:nvPicPr>
          <p:cNvPr id="9" name="Picture 8" descr="A line graph depicts the leftward shift of the aggregate demand curve.">
            <a:extLst>
              <a:ext uri="{FF2B5EF4-FFF2-40B4-BE49-F238E27FC236}">
                <a16:creationId xmlns:a16="http://schemas.microsoft.com/office/drawing/2014/main" id="{FB921720-B309-9C06-B981-FFC2D72DC98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1600" y="3991650"/>
            <a:ext cx="3179307" cy="2199600"/>
          </a:xfrm>
          <a:prstGeom prst="rect">
            <a:avLst/>
          </a:prstGeom>
        </p:spPr>
      </p:pic>
    </p:spTree>
    <p:extLst>
      <p:ext uri="{BB962C8B-B14F-4D97-AF65-F5344CB8AC3E}">
        <p14:creationId xmlns:p14="http://schemas.microsoft.com/office/powerpoint/2010/main" val="1886160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9DBC65BE-E975-B5E4-3EFD-F62013DBE244}"/>
              </a:ext>
            </a:extLst>
          </p:cNvPr>
          <p:cNvSpPr>
            <a:spLocks noGrp="1"/>
          </p:cNvSpPr>
          <p:nvPr>
            <p:ph type="title"/>
          </p:nvPr>
        </p:nvSpPr>
        <p:spPr/>
        <p:txBody>
          <a:bodyPr/>
          <a:lstStyle/>
          <a:p>
            <a:r>
              <a:rPr lang="en-US" dirty="0">
                <a:latin typeface="+mj-lt"/>
              </a:rPr>
              <a:t>Table 9.1 Variables That Shift the Aggregate Demand Curve</a:t>
            </a:r>
            <a:r>
              <a:rPr lang="en-US" sz="2000" dirty="0">
                <a:latin typeface="+mj-lt"/>
              </a:rPr>
              <a:t> </a:t>
            </a:r>
            <a:r>
              <a:rPr lang="en-US" sz="2000" b="0" dirty="0">
                <a:latin typeface="+mj-lt"/>
              </a:rPr>
              <a:t>(1 of 4)</a:t>
            </a:r>
            <a:endParaRPr lang="en-IN" sz="2000" dirty="0">
              <a:latin typeface="+mj-lt"/>
            </a:endParaRPr>
          </a:p>
        </p:txBody>
      </p:sp>
      <p:graphicFrame>
        <p:nvGraphicFramePr>
          <p:cNvPr id="18" name="Content Placeholder 7">
            <a:extLst>
              <a:ext uri="{FF2B5EF4-FFF2-40B4-BE49-F238E27FC236}">
                <a16:creationId xmlns:a16="http://schemas.microsoft.com/office/drawing/2014/main" id="{9DD03E02-A343-0D1F-0871-E16DA4B8FC7F}"/>
              </a:ext>
            </a:extLst>
          </p:cNvPr>
          <p:cNvGraphicFramePr>
            <a:graphicFrameLocks/>
          </p:cNvGraphicFramePr>
          <p:nvPr>
            <p:extLst>
              <p:ext uri="{D42A27DB-BD31-4B8C-83A1-F6EECF244321}">
                <p14:modId xmlns:p14="http://schemas.microsoft.com/office/powerpoint/2010/main" val="1187047993"/>
              </p:ext>
            </p:extLst>
          </p:nvPr>
        </p:nvGraphicFramePr>
        <p:xfrm>
          <a:off x="457200" y="1594140"/>
          <a:ext cx="8232777" cy="1823664"/>
        </p:xfrm>
        <a:graphic>
          <a:graphicData uri="http://schemas.openxmlformats.org/drawingml/2006/table">
            <a:tbl>
              <a:tblPr firstRow="1" bandRow="1">
                <a:tableStyleId>{2D5ABB26-0587-4C30-8999-92F81FD0307C}</a:tableStyleId>
              </a:tblPr>
              <a:tblGrid>
                <a:gridCol w="2333501">
                  <a:extLst>
                    <a:ext uri="{9D8B030D-6E8A-4147-A177-3AD203B41FA5}">
                      <a16:colId xmlns:a16="http://schemas.microsoft.com/office/drawing/2014/main" val="2716805725"/>
                    </a:ext>
                  </a:extLst>
                </a:gridCol>
                <a:gridCol w="2778826">
                  <a:extLst>
                    <a:ext uri="{9D8B030D-6E8A-4147-A177-3AD203B41FA5}">
                      <a16:colId xmlns:a16="http://schemas.microsoft.com/office/drawing/2014/main" val="125723973"/>
                    </a:ext>
                  </a:extLst>
                </a:gridCol>
                <a:gridCol w="3120450">
                  <a:extLst>
                    <a:ext uri="{9D8B030D-6E8A-4147-A177-3AD203B41FA5}">
                      <a16:colId xmlns:a16="http://schemas.microsoft.com/office/drawing/2014/main" val="1815863382"/>
                    </a:ext>
                  </a:extLst>
                </a:gridCol>
              </a:tblGrid>
              <a:tr h="370840">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baseline="0" dirty="0">
                          <a:latin typeface="+mn-lt"/>
                          <a:sym typeface="Arial"/>
                        </a:rPr>
                        <a:t>An increase in …</a:t>
                      </a:r>
                      <a:endParaRPr sz="1600" b="1" u="none" strike="noStrike" cap="none" baseline="0" dirty="0">
                        <a:latin typeface="+mn-lt"/>
                        <a:ea typeface="Arial"/>
                        <a:cs typeface="Arial"/>
                        <a:sym typeface="Arial"/>
                      </a:endParaRPr>
                    </a:p>
                  </a:txBody>
                  <a:tcPr marL="60861" marR="61200" marT="61200" marB="6120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baseline="0" dirty="0">
                          <a:latin typeface="+mn-lt"/>
                          <a:sym typeface="Arial"/>
                        </a:rPr>
                        <a:t>shifts the aggregate</a:t>
                      </a:r>
                      <a:endParaRPr sz="1600" b="1" u="none" strike="noStrike" cap="none" baseline="0" dirty="0">
                        <a:latin typeface="+mn-lt"/>
                        <a:sym typeface="Arial"/>
                      </a:endParaRPr>
                    </a:p>
                    <a:p>
                      <a:pPr marL="0" marR="0" lvl="0" indent="0" algn="l" rtl="0">
                        <a:lnSpc>
                          <a:spcPct val="100000"/>
                        </a:lnSpc>
                        <a:spcBef>
                          <a:spcPts val="0"/>
                        </a:spcBef>
                        <a:spcAft>
                          <a:spcPts val="0"/>
                        </a:spcAft>
                        <a:buClr>
                          <a:srgbClr val="000000"/>
                        </a:buClr>
                        <a:buSzPts val="1800"/>
                        <a:buFont typeface="Arial"/>
                        <a:buNone/>
                      </a:pPr>
                      <a:r>
                        <a:rPr lang="en-US" sz="1600" b="1" u="none" strike="noStrike" cap="none" baseline="0" dirty="0">
                          <a:latin typeface="+mn-lt"/>
                          <a:sym typeface="Arial"/>
                        </a:rPr>
                        <a:t>demand curve …</a:t>
                      </a:r>
                      <a:endParaRPr sz="1600" b="1" u="none" strike="noStrike" cap="none" baseline="0" dirty="0">
                        <a:latin typeface="+mn-lt"/>
                        <a:ea typeface="Arial"/>
                        <a:cs typeface="Arial"/>
                        <a:sym typeface="Arial"/>
                      </a:endParaRPr>
                    </a:p>
                  </a:txBody>
                  <a:tcPr marL="60861" marR="61200" marT="61200" marB="612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baseline="0" dirty="0">
                          <a:latin typeface="+mn-lt"/>
                          <a:sym typeface="Arial"/>
                        </a:rPr>
                        <a:t>because …</a:t>
                      </a:r>
                      <a:endParaRPr sz="1600" b="1" u="none" strike="noStrike" cap="none" baseline="0" dirty="0">
                        <a:latin typeface="+mn-lt"/>
                        <a:ea typeface="Arial"/>
                        <a:cs typeface="Arial"/>
                        <a:sym typeface="Arial"/>
                      </a:endParaRPr>
                    </a:p>
                  </a:txBody>
                  <a:tcPr marL="60861" marR="61200" marT="61200" marB="6120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3176435"/>
                  </a:ext>
                </a:extLst>
              </a:tr>
              <a:tr h="1213584">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baseline="0" dirty="0">
                          <a:latin typeface="+mn-lt"/>
                          <a:sym typeface="Arial"/>
                        </a:rPr>
                        <a:t>interest rates</a:t>
                      </a:r>
                      <a:endParaRPr sz="1600" u="none" strike="noStrike" cap="none" baseline="0" dirty="0">
                        <a:latin typeface="+mn-lt"/>
                        <a:ea typeface="Arial"/>
                        <a:cs typeface="Arial"/>
                        <a:sym typeface="Arial"/>
                      </a:endParaRPr>
                    </a:p>
                  </a:txBody>
                  <a:tcPr marL="60861" marR="61200" marT="61200" marB="612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00" u="none" strike="noStrike" cap="none" baseline="0" dirty="0">
                          <a:solidFill>
                            <a:schemeClr val="tx1"/>
                          </a:solidFill>
                          <a:latin typeface="+mn-lt"/>
                          <a:ea typeface="Arial"/>
                          <a:cs typeface="Arial"/>
                          <a:sym typeface="Arial"/>
                        </a:rPr>
                        <a:t>On a graph, X is real G D P, and Y is price level. Line A D sub 1 shifts left and becomes A D sub 2.</a:t>
                      </a:r>
                      <a:endParaRPr sz="100" u="none" strike="noStrike" cap="none" baseline="0" dirty="0">
                        <a:solidFill>
                          <a:schemeClr val="tx1"/>
                        </a:solidFill>
                        <a:latin typeface="+mn-lt"/>
                        <a:ea typeface="Arial"/>
                        <a:cs typeface="Arial"/>
                        <a:sym typeface="Arial"/>
                      </a:endParaRPr>
                    </a:p>
                  </a:txBody>
                  <a:tcPr marL="60861" marR="61200" marT="61200" marB="61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baseline="0" dirty="0">
                          <a:latin typeface="+mn-lt"/>
                          <a:sym typeface="Arial"/>
                        </a:rPr>
                        <a:t>higher interest rates raise the cost to households and firms of borrowing, reducing consumption and investment spending.</a:t>
                      </a:r>
                      <a:endParaRPr sz="1600" u="none" strike="noStrike" cap="none" baseline="0" dirty="0">
                        <a:latin typeface="+mn-lt"/>
                        <a:ea typeface="Arial"/>
                        <a:cs typeface="Arial"/>
                        <a:sym typeface="Arial"/>
                      </a:endParaRPr>
                    </a:p>
                  </a:txBody>
                  <a:tcPr marL="60861" marR="61200" marT="61200" marB="612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8087927"/>
                  </a:ext>
                </a:extLst>
              </a:tr>
            </a:tbl>
          </a:graphicData>
        </a:graphic>
      </p:graphicFrame>
      <p:pic>
        <p:nvPicPr>
          <p:cNvPr id="19" name="Picture 18">
            <a:extLst>
              <a:ext uri="{FF2B5EF4-FFF2-40B4-BE49-F238E27FC236}">
                <a16:creationId xmlns:a16="http://schemas.microsoft.com/office/drawing/2014/main" id="{623A55FA-E598-BB26-5BDA-7602EA51AC9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306088" y="2289950"/>
            <a:ext cx="1662690" cy="1058579"/>
          </a:xfrm>
          <a:prstGeom prst="rect">
            <a:avLst/>
          </a:prstGeom>
          <a:solidFill>
            <a:schemeClr val="lt1"/>
          </a:solidFill>
        </p:spPr>
      </p:pic>
      <p:sp>
        <p:nvSpPr>
          <p:cNvPr id="20" name="Content Placeholder 4">
            <a:extLst>
              <a:ext uri="{FF2B5EF4-FFF2-40B4-BE49-F238E27FC236}">
                <a16:creationId xmlns:a16="http://schemas.microsoft.com/office/drawing/2014/main" id="{6BEFDBB5-CE2A-CED8-D59B-513BF601500C}"/>
              </a:ext>
            </a:extLst>
          </p:cNvPr>
          <p:cNvSpPr txBox="1">
            <a:spLocks/>
          </p:cNvSpPr>
          <p:nvPr/>
        </p:nvSpPr>
        <p:spPr>
          <a:xfrm>
            <a:off x="457200" y="3487391"/>
            <a:ext cx="8232128" cy="1791194"/>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432" indent="0">
              <a:buFont typeface="Arial" panose="020B0604020202020204" pitchFamily="34" charset="0"/>
              <a:buNone/>
            </a:pPr>
            <a:r>
              <a:rPr lang="en-US" sz="2000" dirty="0"/>
              <a:t>A government policy change could shift aggregate demand. There are two categories of government policies here:</a:t>
            </a:r>
          </a:p>
          <a:p>
            <a:pPr marL="432000" indent="-432000">
              <a:spcBef>
                <a:spcPts val="1000"/>
              </a:spcBef>
              <a:buFont typeface="+mj-lt"/>
              <a:buAutoNum type="arabicPeriod"/>
            </a:pPr>
            <a:r>
              <a:rPr lang="en-US" sz="2000" b="1" dirty="0"/>
              <a:t>Monetary policy:</a:t>
            </a:r>
            <a:r>
              <a:rPr lang="en-US" sz="2000" dirty="0"/>
              <a:t> The actions the Federal Reserve takes to manage the money supply and interest rates to pursue macroeconomic policy objectives.</a:t>
            </a:r>
            <a:endParaRPr lang="en-IN" sz="2000" dirty="0"/>
          </a:p>
        </p:txBody>
      </p:sp>
      <p:sp>
        <p:nvSpPr>
          <p:cNvPr id="21" name="Content Placeholder 5">
            <a:extLst>
              <a:ext uri="{FF2B5EF4-FFF2-40B4-BE49-F238E27FC236}">
                <a16:creationId xmlns:a16="http://schemas.microsoft.com/office/drawing/2014/main" id="{317E9510-4E03-78D4-A5C9-05BF987CE818}"/>
              </a:ext>
            </a:extLst>
          </p:cNvPr>
          <p:cNvSpPr txBox="1">
            <a:spLocks/>
          </p:cNvSpPr>
          <p:nvPr/>
        </p:nvSpPr>
        <p:spPr>
          <a:xfrm>
            <a:off x="454672" y="5263860"/>
            <a:ext cx="8232128" cy="677882"/>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432" indent="0">
              <a:buFont typeface="Arial" panose="020B0604020202020204" pitchFamily="34" charset="0"/>
              <a:buNone/>
            </a:pPr>
            <a:r>
              <a:rPr lang="en-US" sz="2000" dirty="0"/>
              <a:t>If the Bank of Canada causes </a:t>
            </a:r>
            <a:r>
              <a:rPr lang="en-US" sz="2000" b="1" dirty="0"/>
              <a:t>interest rates</a:t>
            </a:r>
            <a:r>
              <a:rPr lang="en-US" sz="2000" dirty="0"/>
              <a:t> to rise, investment spending will fall; if it causes interest rates to fall, investment spending will rise.</a:t>
            </a:r>
          </a:p>
        </p:txBody>
      </p:sp>
    </p:spTree>
    <p:extLst>
      <p:ext uri="{BB962C8B-B14F-4D97-AF65-F5344CB8AC3E}">
        <p14:creationId xmlns:p14="http://schemas.microsoft.com/office/powerpoint/2010/main" val="2009012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5A56A2EA-4972-8534-BC30-B55B1692E2EE}"/>
              </a:ext>
            </a:extLst>
          </p:cNvPr>
          <p:cNvSpPr>
            <a:spLocks noGrp="1"/>
          </p:cNvSpPr>
          <p:nvPr>
            <p:ph type="title"/>
          </p:nvPr>
        </p:nvSpPr>
        <p:spPr/>
        <p:txBody>
          <a:bodyPr/>
          <a:lstStyle/>
          <a:p>
            <a:r>
              <a:rPr lang="en-US" dirty="0">
                <a:latin typeface="+mj-lt"/>
              </a:rPr>
              <a:t>Table 9.1 Variables That Shift the Aggregate Demand Curve</a:t>
            </a:r>
            <a:r>
              <a:rPr lang="en-US" sz="2000" dirty="0">
                <a:latin typeface="+mj-lt"/>
              </a:rPr>
              <a:t> </a:t>
            </a:r>
            <a:r>
              <a:rPr lang="en-US" sz="2000" b="0" dirty="0">
                <a:latin typeface="+mj-lt"/>
              </a:rPr>
              <a:t>(2 of 4)</a:t>
            </a:r>
            <a:endParaRPr lang="en-IN" sz="2000" dirty="0">
              <a:latin typeface="+mj-lt"/>
            </a:endParaRPr>
          </a:p>
        </p:txBody>
      </p:sp>
      <p:graphicFrame>
        <p:nvGraphicFramePr>
          <p:cNvPr id="18" name="Content Placeholder 9">
            <a:extLst>
              <a:ext uri="{FF2B5EF4-FFF2-40B4-BE49-F238E27FC236}">
                <a16:creationId xmlns:a16="http://schemas.microsoft.com/office/drawing/2014/main" id="{166C5213-B7F9-FDD1-242C-7E2FCB069DCA}"/>
              </a:ext>
            </a:extLst>
          </p:cNvPr>
          <p:cNvGraphicFramePr>
            <a:graphicFrameLocks/>
          </p:cNvGraphicFramePr>
          <p:nvPr>
            <p:extLst>
              <p:ext uri="{D42A27DB-BD31-4B8C-83A1-F6EECF244321}">
                <p14:modId xmlns:p14="http://schemas.microsoft.com/office/powerpoint/2010/main" val="3047264148"/>
              </p:ext>
            </p:extLst>
          </p:nvPr>
        </p:nvGraphicFramePr>
        <p:xfrm>
          <a:off x="457200" y="1602669"/>
          <a:ext cx="8232777" cy="2665468"/>
        </p:xfrm>
        <a:graphic>
          <a:graphicData uri="http://schemas.openxmlformats.org/drawingml/2006/table">
            <a:tbl>
              <a:tblPr firstRow="1" bandRow="1">
                <a:tableStyleId>{2D5ABB26-0587-4C30-8999-92F81FD0307C}</a:tableStyleId>
              </a:tblPr>
              <a:tblGrid>
                <a:gridCol w="2744259">
                  <a:extLst>
                    <a:ext uri="{9D8B030D-6E8A-4147-A177-3AD203B41FA5}">
                      <a16:colId xmlns:a16="http://schemas.microsoft.com/office/drawing/2014/main" val="3747368406"/>
                    </a:ext>
                  </a:extLst>
                </a:gridCol>
                <a:gridCol w="2744259">
                  <a:extLst>
                    <a:ext uri="{9D8B030D-6E8A-4147-A177-3AD203B41FA5}">
                      <a16:colId xmlns:a16="http://schemas.microsoft.com/office/drawing/2014/main" val="2539403135"/>
                    </a:ext>
                  </a:extLst>
                </a:gridCol>
                <a:gridCol w="2744259">
                  <a:extLst>
                    <a:ext uri="{9D8B030D-6E8A-4147-A177-3AD203B41FA5}">
                      <a16:colId xmlns:a16="http://schemas.microsoft.com/office/drawing/2014/main" val="2418133910"/>
                    </a:ext>
                  </a:extLst>
                </a:gridCol>
              </a:tblGrid>
              <a:tr h="558499">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baseline="0" dirty="0">
                          <a:latin typeface="+mn-lt"/>
                          <a:sym typeface="Arial"/>
                        </a:rPr>
                        <a:t>An increase in …</a:t>
                      </a:r>
                      <a:endParaRPr sz="1600" b="1" u="none" strike="noStrike" cap="none" baseline="0" dirty="0">
                        <a:latin typeface="+mn-lt"/>
                        <a:ea typeface="Arial"/>
                        <a:cs typeface="Arial"/>
                        <a:sym typeface="Arial"/>
                      </a:endParaRPr>
                    </a:p>
                  </a:txBody>
                  <a:tcPr marL="61200" marR="61200" marT="61200" marB="6120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baseline="0" dirty="0">
                          <a:latin typeface="+mn-lt"/>
                          <a:sym typeface="Arial"/>
                        </a:rPr>
                        <a:t>shifts the aggregate</a:t>
                      </a:r>
                      <a:endParaRPr sz="1600" b="1" u="none" strike="noStrike" cap="none" baseline="0" dirty="0">
                        <a:latin typeface="+mn-lt"/>
                        <a:sym typeface="Arial"/>
                      </a:endParaRPr>
                    </a:p>
                    <a:p>
                      <a:pPr marL="0" marR="0" lvl="0" indent="0" algn="l" rtl="0">
                        <a:lnSpc>
                          <a:spcPct val="100000"/>
                        </a:lnSpc>
                        <a:spcBef>
                          <a:spcPts val="0"/>
                        </a:spcBef>
                        <a:spcAft>
                          <a:spcPts val="0"/>
                        </a:spcAft>
                        <a:buClr>
                          <a:srgbClr val="000000"/>
                        </a:buClr>
                        <a:buSzPts val="1800"/>
                        <a:buFont typeface="Arial"/>
                        <a:buNone/>
                      </a:pPr>
                      <a:r>
                        <a:rPr lang="en-US" sz="1600" b="1" u="none" strike="noStrike" cap="none" baseline="0" dirty="0">
                          <a:latin typeface="+mn-lt"/>
                          <a:sym typeface="Arial"/>
                        </a:rPr>
                        <a:t>demand curve …</a:t>
                      </a:r>
                      <a:endParaRPr sz="1600" b="1" u="none" strike="noStrike" cap="none" baseline="0" dirty="0">
                        <a:latin typeface="+mn-lt"/>
                        <a:ea typeface="Arial"/>
                        <a:cs typeface="Arial"/>
                        <a:sym typeface="Arial"/>
                      </a:endParaRPr>
                    </a:p>
                  </a:txBody>
                  <a:tcPr marL="61200" marR="61200" marT="61200" marB="612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baseline="0" dirty="0">
                          <a:latin typeface="+mn-lt"/>
                          <a:sym typeface="Arial"/>
                        </a:rPr>
                        <a:t>because …</a:t>
                      </a:r>
                      <a:endParaRPr sz="1600" b="1" u="none" strike="noStrike" cap="none" baseline="0" dirty="0">
                        <a:latin typeface="+mn-lt"/>
                        <a:ea typeface="Arial"/>
                        <a:cs typeface="Arial"/>
                        <a:sym typeface="Arial"/>
                      </a:endParaRPr>
                    </a:p>
                  </a:txBody>
                  <a:tcPr marL="61200" marR="61200" marT="61200" marB="6120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9888150"/>
                  </a:ext>
                </a:extLst>
              </a:tr>
              <a:tr h="957628">
                <a:tc>
                  <a:txBody>
                    <a:bodyPr/>
                    <a:lstStyle/>
                    <a:p>
                      <a:pPr marL="0" marR="0" lvl="0" indent="0" algn="l" rtl="0">
                        <a:lnSpc>
                          <a:spcPct val="100000"/>
                        </a:lnSpc>
                        <a:spcBef>
                          <a:spcPts val="0"/>
                        </a:spcBef>
                        <a:spcAft>
                          <a:spcPts val="0"/>
                        </a:spcAft>
                        <a:buClr>
                          <a:srgbClr val="000000"/>
                        </a:buClr>
                        <a:buSzPts val="1800"/>
                        <a:buFont typeface="Arial"/>
                        <a:buNone/>
                      </a:pPr>
                      <a:r>
                        <a:rPr lang="en-US" sz="1600" b="0" u="none" strike="noStrike" cap="none" baseline="0" dirty="0">
                          <a:latin typeface="+mn-lt"/>
                          <a:ea typeface="Arial"/>
                          <a:cs typeface="Arial"/>
                          <a:sym typeface="Arial"/>
                        </a:rPr>
                        <a:t>government purchases</a:t>
                      </a:r>
                      <a:endParaRPr sz="1600" b="0" u="none" strike="noStrike" cap="none" baseline="0" dirty="0">
                        <a:latin typeface="+mn-lt"/>
                        <a:ea typeface="Arial"/>
                        <a:cs typeface="Arial"/>
                        <a:sym typeface="Arial"/>
                      </a:endParaRPr>
                    </a:p>
                  </a:txBody>
                  <a:tcPr marL="61200" marR="61200" marT="61200" marB="612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00" b="0" u="none" strike="noStrike" cap="none" baseline="0" dirty="0">
                          <a:solidFill>
                            <a:schemeClr val="tx1"/>
                          </a:solidFill>
                          <a:latin typeface="+mn-lt"/>
                          <a:ea typeface="Arial"/>
                          <a:cs typeface="Arial"/>
                          <a:sym typeface="Arial"/>
                        </a:rPr>
                        <a:t>On a graph, X is real G D P, and Y is price level. Line A D sub 1 shifts right and becomes A D sub 2.</a:t>
                      </a:r>
                      <a:endParaRPr sz="100" b="0" u="none" strike="noStrike" cap="none" baseline="0" dirty="0">
                        <a:solidFill>
                          <a:schemeClr val="tx1"/>
                        </a:solidFill>
                        <a:latin typeface="+mn-lt"/>
                        <a:ea typeface="Arial"/>
                        <a:cs typeface="Arial"/>
                        <a:sym typeface="Arial"/>
                      </a:endParaRPr>
                    </a:p>
                  </a:txBody>
                  <a:tcPr marL="61200" marR="61200" marT="61200" marB="61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0" u="none" strike="noStrike" cap="none" baseline="0" dirty="0">
                          <a:latin typeface="+mn-lt"/>
                          <a:ea typeface="Arial"/>
                          <a:cs typeface="Arial"/>
                          <a:sym typeface="Arial"/>
                        </a:rPr>
                        <a:t>government purchases are a component of aggregate demand.</a:t>
                      </a:r>
                      <a:endParaRPr sz="1600" b="0" u="none" strike="noStrike" cap="none" baseline="0" dirty="0">
                        <a:latin typeface="+mn-lt"/>
                        <a:ea typeface="Arial"/>
                        <a:cs typeface="Arial"/>
                        <a:sym typeface="Arial"/>
                      </a:endParaRPr>
                    </a:p>
                  </a:txBody>
                  <a:tcPr marL="61200" marR="61200" marT="61200" marB="612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4611226"/>
                  </a:ext>
                </a:extLst>
              </a:tr>
              <a:tr h="970034">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baseline="0" dirty="0">
                          <a:latin typeface="+mn-lt"/>
                          <a:ea typeface="Arial"/>
                          <a:cs typeface="Arial"/>
                          <a:sym typeface="Arial"/>
                        </a:rPr>
                        <a:t>personal income taxes or business taxes</a:t>
                      </a:r>
                      <a:endParaRPr sz="1600" u="none" strike="noStrike" cap="none" baseline="0" dirty="0">
                        <a:latin typeface="+mn-lt"/>
                        <a:ea typeface="Arial"/>
                        <a:cs typeface="Arial"/>
                        <a:sym typeface="Arial"/>
                      </a:endParaRPr>
                    </a:p>
                  </a:txBody>
                  <a:tcPr marL="61200" marR="61200" marT="61200" marB="612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00" u="none" strike="noStrike" cap="none" baseline="0" dirty="0">
                          <a:solidFill>
                            <a:schemeClr val="tx1"/>
                          </a:solidFill>
                          <a:latin typeface="+mn-lt"/>
                          <a:ea typeface="Arial"/>
                          <a:cs typeface="Arial"/>
                          <a:sym typeface="Arial"/>
                        </a:rPr>
                        <a:t>On a graph, X is real G D P, and Y is price level. Line A D sub 1 shifts left and becomes A D sub 2.</a:t>
                      </a:r>
                      <a:endParaRPr sz="100" u="none" strike="noStrike" cap="none" baseline="0" dirty="0">
                        <a:solidFill>
                          <a:schemeClr val="tx1"/>
                        </a:solidFill>
                        <a:latin typeface="+mn-lt"/>
                        <a:ea typeface="Arial"/>
                        <a:cs typeface="Arial"/>
                        <a:sym typeface="Arial"/>
                      </a:endParaRPr>
                    </a:p>
                  </a:txBody>
                  <a:tcPr marL="61200" marR="61200" marT="61200" marB="61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baseline="0" dirty="0">
                          <a:latin typeface="+mn-lt"/>
                          <a:ea typeface="Arial"/>
                          <a:cs typeface="Arial"/>
                          <a:sym typeface="Arial"/>
                        </a:rPr>
                        <a:t>consumption spending falls when personal taxes rise, and investment falls when business taxes rise.</a:t>
                      </a:r>
                      <a:endParaRPr sz="1600" u="none" strike="noStrike" cap="none" baseline="0" dirty="0">
                        <a:latin typeface="+mn-lt"/>
                        <a:ea typeface="Arial"/>
                        <a:cs typeface="Arial"/>
                        <a:sym typeface="Arial"/>
                      </a:endParaRPr>
                    </a:p>
                  </a:txBody>
                  <a:tcPr marL="61200" marR="61200" marT="61200" marB="612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6797306"/>
                  </a:ext>
                </a:extLst>
              </a:tr>
            </a:tbl>
          </a:graphicData>
        </a:graphic>
      </p:graphicFrame>
      <p:pic>
        <p:nvPicPr>
          <p:cNvPr id="19" name="Picture 18">
            <a:extLst>
              <a:ext uri="{FF2B5EF4-FFF2-40B4-BE49-F238E27FC236}">
                <a16:creationId xmlns:a16="http://schemas.microsoft.com/office/drawing/2014/main" id="{ABCA1D81-F1AB-E189-6BBA-BB4D2DBB262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984625" y="2304586"/>
            <a:ext cx="1174749" cy="746313"/>
          </a:xfrm>
          <a:prstGeom prst="rect">
            <a:avLst/>
          </a:prstGeom>
          <a:solidFill>
            <a:schemeClr val="lt1"/>
          </a:solidFill>
        </p:spPr>
      </p:pic>
      <p:pic>
        <p:nvPicPr>
          <p:cNvPr id="20" name="Picture 19">
            <a:extLst>
              <a:ext uri="{FF2B5EF4-FFF2-40B4-BE49-F238E27FC236}">
                <a16:creationId xmlns:a16="http://schemas.microsoft.com/office/drawing/2014/main" id="{7ECF2B7F-955B-74B2-4F05-8E35E01A0960}"/>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984625" y="3330403"/>
            <a:ext cx="1239861" cy="787676"/>
          </a:xfrm>
          <a:prstGeom prst="rect">
            <a:avLst/>
          </a:prstGeom>
          <a:solidFill>
            <a:schemeClr val="lt1"/>
          </a:solidFill>
        </p:spPr>
      </p:pic>
      <p:sp>
        <p:nvSpPr>
          <p:cNvPr id="21" name="Content Placeholder 6">
            <a:extLst>
              <a:ext uri="{FF2B5EF4-FFF2-40B4-BE49-F238E27FC236}">
                <a16:creationId xmlns:a16="http://schemas.microsoft.com/office/drawing/2014/main" id="{0BE0B644-122B-2F14-41D9-771F9E043383}"/>
              </a:ext>
            </a:extLst>
          </p:cNvPr>
          <p:cNvSpPr txBox="1">
            <a:spLocks/>
          </p:cNvSpPr>
          <p:nvPr/>
        </p:nvSpPr>
        <p:spPr>
          <a:xfrm>
            <a:off x="457200" y="4424756"/>
            <a:ext cx="8232128" cy="604447"/>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432000" indent="-432000">
              <a:buFont typeface="+mj-lt"/>
              <a:buAutoNum type="arabicPeriod" startAt="2"/>
            </a:pPr>
            <a:r>
              <a:rPr lang="en-US" sz="1800" b="1" dirty="0"/>
              <a:t>Fiscal policy:</a:t>
            </a:r>
            <a:r>
              <a:rPr lang="en-US" sz="1800" dirty="0"/>
              <a:t> Changes in federal taxes and purchases that are intended to achieve macroeconomic policy objectives.</a:t>
            </a:r>
            <a:endParaRPr lang="en-IN" sz="1800" dirty="0"/>
          </a:p>
        </p:txBody>
      </p:sp>
      <p:sp>
        <p:nvSpPr>
          <p:cNvPr id="22" name="Content Placeholder 7">
            <a:extLst>
              <a:ext uri="{FF2B5EF4-FFF2-40B4-BE49-F238E27FC236}">
                <a16:creationId xmlns:a16="http://schemas.microsoft.com/office/drawing/2014/main" id="{B4BBD24B-2A93-8945-A91C-62AF49030C9F}"/>
              </a:ext>
            </a:extLst>
          </p:cNvPr>
          <p:cNvSpPr txBox="1">
            <a:spLocks/>
          </p:cNvSpPr>
          <p:nvPr/>
        </p:nvSpPr>
        <p:spPr>
          <a:xfrm>
            <a:off x="457200" y="5138060"/>
            <a:ext cx="8232128" cy="116576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432" indent="0">
              <a:buFont typeface="Arial" panose="020B0604020202020204" pitchFamily="34" charset="0"/>
              <a:buNone/>
            </a:pPr>
            <a:r>
              <a:rPr lang="en-US" sz="1800" b="1" dirty="0"/>
              <a:t>Increasing or decreasing personal income taxes</a:t>
            </a:r>
            <a:r>
              <a:rPr lang="en-US" sz="1800" dirty="0"/>
              <a:t> affects disposable income and hence consumption. The government can also alter its </a:t>
            </a:r>
            <a:r>
              <a:rPr lang="en-US" sz="1800" b="1" dirty="0"/>
              <a:t>level of government purchases.</a:t>
            </a:r>
            <a:r>
              <a:rPr lang="en-US" sz="1800" dirty="0"/>
              <a:t> It could also alter </a:t>
            </a:r>
            <a:r>
              <a:rPr lang="en-US" sz="1800" b="1" dirty="0"/>
              <a:t>business taxes,</a:t>
            </a:r>
            <a:r>
              <a:rPr lang="en-US" sz="1800" dirty="0"/>
              <a:t> affecting the level of investment spending.</a:t>
            </a:r>
          </a:p>
        </p:txBody>
      </p:sp>
    </p:spTree>
    <p:extLst>
      <p:ext uri="{BB962C8B-B14F-4D97-AF65-F5344CB8AC3E}">
        <p14:creationId xmlns:p14="http://schemas.microsoft.com/office/powerpoint/2010/main" val="929284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11092E11-8508-4335-F3E6-A8B916DABE93}"/>
              </a:ext>
            </a:extLst>
          </p:cNvPr>
          <p:cNvSpPr>
            <a:spLocks noGrp="1"/>
          </p:cNvSpPr>
          <p:nvPr>
            <p:ph type="title"/>
          </p:nvPr>
        </p:nvSpPr>
        <p:spPr/>
        <p:txBody>
          <a:bodyPr/>
          <a:lstStyle/>
          <a:p>
            <a:r>
              <a:rPr lang="en-US" dirty="0">
                <a:latin typeface="+mj-lt"/>
              </a:rPr>
              <a:t>Table 9.1 Variables That Shift the Aggregate Demand Curve</a:t>
            </a:r>
            <a:r>
              <a:rPr lang="en-US" sz="2000" dirty="0">
                <a:latin typeface="+mj-lt"/>
              </a:rPr>
              <a:t> </a:t>
            </a:r>
            <a:r>
              <a:rPr lang="en-US" sz="2000" b="0" dirty="0">
                <a:latin typeface="+mj-lt"/>
              </a:rPr>
              <a:t>(3 of 4)</a:t>
            </a:r>
            <a:endParaRPr lang="en-IN" sz="2000" dirty="0">
              <a:latin typeface="+mj-lt"/>
            </a:endParaRPr>
          </a:p>
        </p:txBody>
      </p:sp>
      <p:graphicFrame>
        <p:nvGraphicFramePr>
          <p:cNvPr id="28" name="Content Placeholder 7">
            <a:extLst>
              <a:ext uri="{FF2B5EF4-FFF2-40B4-BE49-F238E27FC236}">
                <a16:creationId xmlns:a16="http://schemas.microsoft.com/office/drawing/2014/main" id="{314D694B-B363-B521-CDE9-213E97705721}"/>
              </a:ext>
            </a:extLst>
          </p:cNvPr>
          <p:cNvGraphicFramePr>
            <a:graphicFrameLocks/>
          </p:cNvGraphicFramePr>
          <p:nvPr>
            <p:extLst>
              <p:ext uri="{D42A27DB-BD31-4B8C-83A1-F6EECF244321}">
                <p14:modId xmlns:p14="http://schemas.microsoft.com/office/powerpoint/2010/main" val="1112978603"/>
              </p:ext>
            </p:extLst>
          </p:nvPr>
        </p:nvGraphicFramePr>
        <p:xfrm>
          <a:off x="457200" y="1552575"/>
          <a:ext cx="8232777" cy="2718392"/>
        </p:xfrm>
        <a:graphic>
          <a:graphicData uri="http://schemas.openxmlformats.org/drawingml/2006/table">
            <a:tbl>
              <a:tblPr firstRow="1" bandRow="1">
                <a:tableStyleId>{2D5ABB26-0587-4C30-8999-92F81FD0307C}</a:tableStyleId>
              </a:tblPr>
              <a:tblGrid>
                <a:gridCol w="2744259">
                  <a:extLst>
                    <a:ext uri="{9D8B030D-6E8A-4147-A177-3AD203B41FA5}">
                      <a16:colId xmlns:a16="http://schemas.microsoft.com/office/drawing/2014/main" val="1681843133"/>
                    </a:ext>
                  </a:extLst>
                </a:gridCol>
                <a:gridCol w="2427445">
                  <a:extLst>
                    <a:ext uri="{9D8B030D-6E8A-4147-A177-3AD203B41FA5}">
                      <a16:colId xmlns:a16="http://schemas.microsoft.com/office/drawing/2014/main" val="84668056"/>
                    </a:ext>
                  </a:extLst>
                </a:gridCol>
                <a:gridCol w="3061073">
                  <a:extLst>
                    <a:ext uri="{9D8B030D-6E8A-4147-A177-3AD203B41FA5}">
                      <a16:colId xmlns:a16="http://schemas.microsoft.com/office/drawing/2014/main" val="85418950"/>
                    </a:ext>
                  </a:extLst>
                </a:gridCol>
              </a:tblGrid>
              <a:tr h="558500">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baseline="0" dirty="0">
                          <a:latin typeface="+mn-lt"/>
                          <a:sym typeface="Arial"/>
                        </a:rPr>
                        <a:t>An increase in …</a:t>
                      </a:r>
                      <a:endParaRPr sz="1600" b="1" u="none" strike="noStrike" cap="none" baseline="0" dirty="0">
                        <a:latin typeface="+mn-lt"/>
                        <a:ea typeface="Arial"/>
                        <a:cs typeface="Arial"/>
                        <a:sym typeface="Arial"/>
                      </a:endParaRPr>
                    </a:p>
                  </a:txBody>
                  <a:tcPr marL="61200" marR="61200" marT="61200" marB="6120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baseline="0" dirty="0">
                          <a:latin typeface="+mn-lt"/>
                          <a:sym typeface="Arial"/>
                        </a:rPr>
                        <a:t>shifts the aggregate</a:t>
                      </a:r>
                      <a:endParaRPr sz="1600" b="1" u="none" strike="noStrike" cap="none" baseline="0" dirty="0">
                        <a:latin typeface="+mn-lt"/>
                        <a:sym typeface="Arial"/>
                      </a:endParaRPr>
                    </a:p>
                    <a:p>
                      <a:pPr marL="0" marR="0" lvl="0" indent="0" algn="l" rtl="0">
                        <a:lnSpc>
                          <a:spcPct val="100000"/>
                        </a:lnSpc>
                        <a:spcBef>
                          <a:spcPts val="0"/>
                        </a:spcBef>
                        <a:spcAft>
                          <a:spcPts val="0"/>
                        </a:spcAft>
                        <a:buClr>
                          <a:srgbClr val="000000"/>
                        </a:buClr>
                        <a:buSzPts val="1800"/>
                        <a:buFont typeface="Arial"/>
                        <a:buNone/>
                      </a:pPr>
                      <a:r>
                        <a:rPr lang="en-US" sz="1600" b="1" u="none" strike="noStrike" cap="none" baseline="0" dirty="0">
                          <a:latin typeface="+mn-lt"/>
                          <a:sym typeface="Arial"/>
                        </a:rPr>
                        <a:t>demand curve …</a:t>
                      </a:r>
                      <a:endParaRPr sz="1600" b="1" u="none" strike="noStrike" cap="none" baseline="0" dirty="0">
                        <a:latin typeface="+mn-lt"/>
                        <a:ea typeface="Arial"/>
                        <a:cs typeface="Arial"/>
                        <a:sym typeface="Arial"/>
                      </a:endParaRPr>
                    </a:p>
                  </a:txBody>
                  <a:tcPr marL="61200" marR="61200" marT="61200" marB="612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baseline="0" dirty="0">
                          <a:latin typeface="+mn-lt"/>
                          <a:sym typeface="Arial"/>
                        </a:rPr>
                        <a:t>because …</a:t>
                      </a:r>
                      <a:endParaRPr sz="1600" b="1" u="none" strike="noStrike" cap="none" baseline="0" dirty="0">
                        <a:latin typeface="+mn-lt"/>
                        <a:ea typeface="Arial"/>
                        <a:cs typeface="Arial"/>
                        <a:sym typeface="Arial"/>
                      </a:endParaRPr>
                    </a:p>
                  </a:txBody>
                  <a:tcPr marL="61200" marR="61200" marT="61200" marB="6120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02815992"/>
                  </a:ext>
                </a:extLst>
              </a:tr>
              <a:tr h="591966">
                <a:tc>
                  <a:txBody>
                    <a:bodyPr/>
                    <a:lstStyle/>
                    <a:p>
                      <a:pPr marL="0" marR="0" lvl="0" indent="0" algn="l" rtl="0">
                        <a:lnSpc>
                          <a:spcPct val="100000"/>
                        </a:lnSpc>
                        <a:spcBef>
                          <a:spcPts val="0"/>
                        </a:spcBef>
                        <a:spcAft>
                          <a:spcPts val="0"/>
                        </a:spcAft>
                        <a:buClr>
                          <a:srgbClr val="000000"/>
                        </a:buClr>
                        <a:buSzPts val="1800"/>
                        <a:buFont typeface="Arial"/>
                        <a:buNone/>
                      </a:pPr>
                      <a:r>
                        <a:rPr lang="en-US" sz="1600" b="0" u="none" strike="noStrike" cap="none" baseline="0" dirty="0">
                          <a:latin typeface="+mn-lt"/>
                          <a:ea typeface="Arial"/>
                          <a:cs typeface="Arial"/>
                          <a:sym typeface="Arial"/>
                        </a:rPr>
                        <a:t>households’ expectations of their future incomes</a:t>
                      </a:r>
                      <a:endParaRPr sz="1600" b="0" u="none" strike="noStrike" cap="none" baseline="0" dirty="0">
                        <a:latin typeface="+mn-lt"/>
                        <a:ea typeface="Arial"/>
                        <a:cs typeface="Arial"/>
                        <a:sym typeface="Arial"/>
                      </a:endParaRPr>
                    </a:p>
                  </a:txBody>
                  <a:tcPr marL="61200" marR="61200" marT="61200" marB="612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00" b="0" u="none" strike="noStrike" cap="none" baseline="0" dirty="0">
                          <a:solidFill>
                            <a:schemeClr val="tx1"/>
                          </a:solidFill>
                          <a:latin typeface="+mn-lt"/>
                          <a:ea typeface="Arial"/>
                          <a:cs typeface="Arial"/>
                          <a:sym typeface="Arial"/>
                        </a:rPr>
                        <a:t>On a graph, X is real G D P, and Y is price level. Line A D sub 1 shifts right and becomes A D sub 2.</a:t>
                      </a:r>
                      <a:endParaRPr sz="100" b="0" u="none" strike="noStrike" cap="none" baseline="0" dirty="0">
                        <a:solidFill>
                          <a:schemeClr val="tx1"/>
                        </a:solidFill>
                        <a:latin typeface="+mn-lt"/>
                        <a:ea typeface="Arial"/>
                        <a:cs typeface="Arial"/>
                        <a:sym typeface="Arial"/>
                      </a:endParaRPr>
                    </a:p>
                  </a:txBody>
                  <a:tcPr marL="61200" marR="61200" marT="61200" marB="61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0" u="none" strike="noStrike" cap="none" baseline="0" dirty="0">
                          <a:latin typeface="+mn-lt"/>
                          <a:ea typeface="Arial"/>
                          <a:cs typeface="Arial"/>
                          <a:sym typeface="Arial"/>
                        </a:rPr>
                        <a:t>consumption spending and the residential investment component of investment spending increase.</a:t>
                      </a:r>
                      <a:endParaRPr sz="1600" b="0" u="none" strike="noStrike" cap="none" baseline="0" dirty="0">
                        <a:latin typeface="+mn-lt"/>
                        <a:ea typeface="Arial"/>
                        <a:cs typeface="Arial"/>
                        <a:sym typeface="Arial"/>
                      </a:endParaRPr>
                    </a:p>
                  </a:txBody>
                  <a:tcPr marL="61200" marR="61200" marT="61200" marB="612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6410984"/>
                  </a:ext>
                </a:extLst>
              </a:tr>
              <a:tr h="1010552">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baseline="0" dirty="0">
                          <a:latin typeface="+mn-lt"/>
                          <a:ea typeface="Arial"/>
                          <a:cs typeface="Arial"/>
                          <a:sym typeface="Arial"/>
                        </a:rPr>
                        <a:t>firms’ expectations of the future profitability of investment spending</a:t>
                      </a:r>
                      <a:endParaRPr sz="1600" u="none" strike="noStrike" cap="none" baseline="0" dirty="0">
                        <a:latin typeface="+mn-lt"/>
                        <a:ea typeface="Arial"/>
                        <a:cs typeface="Arial"/>
                        <a:sym typeface="Arial"/>
                      </a:endParaRPr>
                    </a:p>
                  </a:txBody>
                  <a:tcPr marL="61200" marR="61200" marT="61200" marB="612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00" u="none" strike="noStrike" cap="none" baseline="0" dirty="0">
                          <a:solidFill>
                            <a:schemeClr val="tx1"/>
                          </a:solidFill>
                          <a:latin typeface="+mn-lt"/>
                          <a:ea typeface="Arial"/>
                          <a:cs typeface="Arial"/>
                          <a:sym typeface="Arial"/>
                        </a:rPr>
                        <a:t>On a graph, X is real G D P, and Y is price level. Line A D sub 1 shifts right and becomes A D sub 2.</a:t>
                      </a:r>
                      <a:endParaRPr sz="100" u="none" strike="noStrike" cap="none" baseline="0" dirty="0">
                        <a:solidFill>
                          <a:schemeClr val="tx1"/>
                        </a:solidFill>
                        <a:latin typeface="+mn-lt"/>
                        <a:ea typeface="Arial"/>
                        <a:cs typeface="Arial"/>
                        <a:sym typeface="Arial"/>
                      </a:endParaRPr>
                    </a:p>
                  </a:txBody>
                  <a:tcPr marL="61200" marR="61200" marT="61200" marB="61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baseline="0" dirty="0">
                          <a:latin typeface="+mn-lt"/>
                          <a:ea typeface="Arial"/>
                          <a:cs typeface="Arial"/>
                          <a:sym typeface="Arial"/>
                        </a:rPr>
                        <a:t>investment spending increases.</a:t>
                      </a:r>
                      <a:endParaRPr sz="1600" u="none" strike="noStrike" cap="none" baseline="0" dirty="0">
                        <a:latin typeface="+mn-lt"/>
                        <a:ea typeface="Arial"/>
                        <a:cs typeface="Arial"/>
                        <a:sym typeface="Arial"/>
                      </a:endParaRPr>
                    </a:p>
                  </a:txBody>
                  <a:tcPr marL="61200" marR="61200" marT="61200" marB="612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1974189"/>
                  </a:ext>
                </a:extLst>
              </a:tr>
            </a:tbl>
          </a:graphicData>
        </a:graphic>
      </p:graphicFrame>
      <p:pic>
        <p:nvPicPr>
          <p:cNvPr id="29" name="Picture 28">
            <a:extLst>
              <a:ext uri="{FF2B5EF4-FFF2-40B4-BE49-F238E27FC236}">
                <a16:creationId xmlns:a16="http://schemas.microsoft.com/office/drawing/2014/main" id="{D2B39ADF-055D-BED7-F755-380165F6CA4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852061" y="2254684"/>
            <a:ext cx="1352708" cy="860813"/>
          </a:xfrm>
          <a:prstGeom prst="rect">
            <a:avLst/>
          </a:prstGeom>
          <a:solidFill>
            <a:schemeClr val="bg1"/>
          </a:solidFill>
        </p:spPr>
      </p:pic>
      <p:pic>
        <p:nvPicPr>
          <p:cNvPr id="30" name="Picture 29">
            <a:extLst>
              <a:ext uri="{FF2B5EF4-FFF2-40B4-BE49-F238E27FC236}">
                <a16:creationId xmlns:a16="http://schemas.microsoft.com/office/drawing/2014/main" id="{712199AA-1D96-B1AF-433C-E2922492AA0C}"/>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862481" y="3310291"/>
            <a:ext cx="1419038" cy="903790"/>
          </a:xfrm>
          <a:prstGeom prst="rect">
            <a:avLst/>
          </a:prstGeom>
          <a:solidFill>
            <a:schemeClr val="bg1"/>
          </a:solidFill>
        </p:spPr>
      </p:pic>
      <p:sp>
        <p:nvSpPr>
          <p:cNvPr id="31" name="Content Placeholder 4">
            <a:extLst>
              <a:ext uri="{FF2B5EF4-FFF2-40B4-BE49-F238E27FC236}">
                <a16:creationId xmlns:a16="http://schemas.microsoft.com/office/drawing/2014/main" id="{293055B7-7A8C-C1DD-C098-10CAD1777998}"/>
              </a:ext>
            </a:extLst>
          </p:cNvPr>
          <p:cNvSpPr txBox="1">
            <a:spLocks/>
          </p:cNvSpPr>
          <p:nvPr/>
        </p:nvSpPr>
        <p:spPr>
          <a:xfrm>
            <a:off x="457200" y="4549705"/>
            <a:ext cx="8232128" cy="1470095"/>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432" indent="0">
              <a:buFont typeface="Arial" panose="020B0604020202020204" pitchFamily="34" charset="0"/>
              <a:buNone/>
            </a:pPr>
            <a:r>
              <a:rPr lang="en-US" sz="2200" b="1" dirty="0"/>
              <a:t>Households or firms could become more optimistic</a:t>
            </a:r>
            <a:r>
              <a:rPr lang="en-US" sz="2200" dirty="0"/>
              <a:t> about the future, increasing consumption or investment respectively.</a:t>
            </a:r>
          </a:p>
          <a:p>
            <a:pPr marL="432" indent="0">
              <a:buFont typeface="Arial" panose="020B0604020202020204" pitchFamily="34" charset="0"/>
              <a:buNone/>
            </a:pPr>
            <a:r>
              <a:rPr lang="en-US" sz="2200" dirty="0"/>
              <a:t>The opposite is true if households and firms are pessimistic.</a:t>
            </a:r>
          </a:p>
        </p:txBody>
      </p:sp>
    </p:spTree>
    <p:extLst>
      <p:ext uri="{BB962C8B-B14F-4D97-AF65-F5344CB8AC3E}">
        <p14:creationId xmlns:p14="http://schemas.microsoft.com/office/powerpoint/2010/main" val="3623991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CD925D6-25FE-CD10-C4C1-BB0E95356537}"/>
              </a:ext>
            </a:extLst>
          </p:cNvPr>
          <p:cNvSpPr>
            <a:spLocks noGrp="1"/>
          </p:cNvSpPr>
          <p:nvPr>
            <p:ph type="title"/>
          </p:nvPr>
        </p:nvSpPr>
        <p:spPr/>
        <p:txBody>
          <a:bodyPr/>
          <a:lstStyle/>
          <a:p>
            <a:r>
              <a:rPr lang="en-US" dirty="0">
                <a:latin typeface="+mj-lt"/>
              </a:rPr>
              <a:t>Table 9.1 Variables That Shift the Aggregate Demand Curve</a:t>
            </a:r>
            <a:r>
              <a:rPr lang="en-US" sz="2000" dirty="0">
                <a:latin typeface="+mj-lt"/>
              </a:rPr>
              <a:t> </a:t>
            </a:r>
            <a:r>
              <a:rPr lang="en-US" sz="2000" b="0" dirty="0">
                <a:latin typeface="+mj-lt"/>
              </a:rPr>
              <a:t>(4 of 4)</a:t>
            </a:r>
            <a:endParaRPr lang="en-IN" sz="2000" dirty="0">
              <a:latin typeface="+mj-lt"/>
            </a:endParaRPr>
          </a:p>
        </p:txBody>
      </p:sp>
      <p:graphicFrame>
        <p:nvGraphicFramePr>
          <p:cNvPr id="9" name="Content Placeholder 5">
            <a:extLst>
              <a:ext uri="{FF2B5EF4-FFF2-40B4-BE49-F238E27FC236}">
                <a16:creationId xmlns:a16="http://schemas.microsoft.com/office/drawing/2014/main" id="{6081F1B0-D0B2-8028-9CE7-4C0705491BC6}"/>
              </a:ext>
            </a:extLst>
          </p:cNvPr>
          <p:cNvGraphicFramePr>
            <a:graphicFrameLocks/>
          </p:cNvGraphicFramePr>
          <p:nvPr>
            <p:extLst>
              <p:ext uri="{D42A27DB-BD31-4B8C-83A1-F6EECF244321}">
                <p14:modId xmlns:p14="http://schemas.microsoft.com/office/powerpoint/2010/main" val="1461590933"/>
              </p:ext>
            </p:extLst>
          </p:nvPr>
        </p:nvGraphicFramePr>
        <p:xfrm>
          <a:off x="457200" y="1638878"/>
          <a:ext cx="8229600" cy="2682467"/>
        </p:xfrm>
        <a:graphic>
          <a:graphicData uri="http://schemas.openxmlformats.org/drawingml/2006/table">
            <a:tbl>
              <a:tblPr firstRow="1" bandRow="1">
                <a:tableStyleId>{2D5ABB26-0587-4C30-8999-92F81FD0307C}</a:tableStyleId>
              </a:tblPr>
              <a:tblGrid>
                <a:gridCol w="2743200">
                  <a:extLst>
                    <a:ext uri="{9D8B030D-6E8A-4147-A177-3AD203B41FA5}">
                      <a16:colId xmlns:a16="http://schemas.microsoft.com/office/drawing/2014/main" val="1196041549"/>
                    </a:ext>
                  </a:extLst>
                </a:gridCol>
                <a:gridCol w="2743200">
                  <a:extLst>
                    <a:ext uri="{9D8B030D-6E8A-4147-A177-3AD203B41FA5}">
                      <a16:colId xmlns:a16="http://schemas.microsoft.com/office/drawing/2014/main" val="3984145538"/>
                    </a:ext>
                  </a:extLst>
                </a:gridCol>
                <a:gridCol w="2743200">
                  <a:extLst>
                    <a:ext uri="{9D8B030D-6E8A-4147-A177-3AD203B41FA5}">
                      <a16:colId xmlns:a16="http://schemas.microsoft.com/office/drawing/2014/main" val="1218204975"/>
                    </a:ext>
                  </a:extLst>
                </a:gridCol>
              </a:tblGrid>
              <a:tr h="564058">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baseline="0" dirty="0">
                          <a:latin typeface="+mn-lt"/>
                          <a:sym typeface="Arial"/>
                        </a:rPr>
                        <a:t>An increase in …</a:t>
                      </a:r>
                      <a:endParaRPr sz="1600" b="1" u="none" strike="noStrike" cap="none" baseline="0" dirty="0">
                        <a:latin typeface="+mn-lt"/>
                        <a:ea typeface="Arial"/>
                        <a:cs typeface="Arial"/>
                        <a:sym typeface="Arial"/>
                      </a:endParaRPr>
                    </a:p>
                  </a:txBody>
                  <a:tcPr marL="61200" marR="61200" marT="61200" marB="6120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baseline="0" dirty="0">
                          <a:latin typeface="+mn-lt"/>
                          <a:sym typeface="Arial"/>
                        </a:rPr>
                        <a:t>shifts the aggregate</a:t>
                      </a:r>
                      <a:endParaRPr sz="1600" b="1" u="none" strike="noStrike" cap="none" baseline="0" dirty="0">
                        <a:latin typeface="+mn-lt"/>
                        <a:sym typeface="Arial"/>
                      </a:endParaRPr>
                    </a:p>
                    <a:p>
                      <a:pPr marL="0" marR="0" lvl="0" indent="0" algn="l" rtl="0">
                        <a:lnSpc>
                          <a:spcPct val="100000"/>
                        </a:lnSpc>
                        <a:spcBef>
                          <a:spcPts val="0"/>
                        </a:spcBef>
                        <a:spcAft>
                          <a:spcPts val="0"/>
                        </a:spcAft>
                        <a:buClr>
                          <a:srgbClr val="000000"/>
                        </a:buClr>
                        <a:buSzPts val="1800"/>
                        <a:buFont typeface="Arial"/>
                        <a:buNone/>
                      </a:pPr>
                      <a:r>
                        <a:rPr lang="en-US" sz="1600" b="1" u="none" strike="noStrike" cap="none" baseline="0" dirty="0">
                          <a:latin typeface="+mn-lt"/>
                          <a:sym typeface="Arial"/>
                        </a:rPr>
                        <a:t>demand curve …</a:t>
                      </a:r>
                      <a:endParaRPr sz="1600" b="1" u="none" strike="noStrike" cap="none" baseline="0" dirty="0">
                        <a:latin typeface="+mn-lt"/>
                        <a:ea typeface="Arial"/>
                        <a:cs typeface="Arial"/>
                        <a:sym typeface="Arial"/>
                      </a:endParaRPr>
                    </a:p>
                  </a:txBody>
                  <a:tcPr marL="61200" marR="61200" marT="61200" marB="612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baseline="0" dirty="0">
                          <a:latin typeface="+mn-lt"/>
                          <a:sym typeface="Arial"/>
                        </a:rPr>
                        <a:t>because …</a:t>
                      </a:r>
                      <a:endParaRPr sz="1600" b="1" u="none" strike="noStrike" cap="none" baseline="0" dirty="0">
                        <a:latin typeface="+mn-lt"/>
                        <a:ea typeface="Arial"/>
                        <a:cs typeface="Arial"/>
                        <a:sym typeface="Arial"/>
                      </a:endParaRPr>
                    </a:p>
                  </a:txBody>
                  <a:tcPr marL="61200" marR="61200" marT="61200" marB="6120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1141400"/>
                  </a:ext>
                </a:extLst>
              </a:tr>
              <a:tr h="999026">
                <a:tc>
                  <a:txBody>
                    <a:bodyPr/>
                    <a:lstStyle/>
                    <a:p>
                      <a:pPr marL="0" marR="0" lvl="0" indent="0" algn="l" rtl="0">
                        <a:lnSpc>
                          <a:spcPct val="100000"/>
                        </a:lnSpc>
                        <a:spcBef>
                          <a:spcPts val="0"/>
                        </a:spcBef>
                        <a:spcAft>
                          <a:spcPts val="0"/>
                        </a:spcAft>
                        <a:buClr>
                          <a:srgbClr val="000000"/>
                        </a:buClr>
                        <a:buSzPts val="1800"/>
                        <a:buFont typeface="Arial"/>
                        <a:buNone/>
                      </a:pPr>
                      <a:r>
                        <a:rPr lang="en-US" sz="1600" b="0" u="none" strike="noStrike" cap="none" baseline="0" dirty="0">
                          <a:latin typeface="+mn-lt"/>
                          <a:ea typeface="Arial"/>
                          <a:cs typeface="Arial"/>
                          <a:sym typeface="Arial"/>
                        </a:rPr>
                        <a:t>the growth rate of domestic G</a:t>
                      </a:r>
                      <a:r>
                        <a:rPr lang="en-US" sz="100" b="0" u="none" strike="noStrike" cap="none" baseline="0" dirty="0">
                          <a:latin typeface="+mn-lt"/>
                          <a:ea typeface="Arial"/>
                          <a:cs typeface="Arial"/>
                          <a:sym typeface="Arial"/>
                        </a:rPr>
                        <a:t> </a:t>
                      </a:r>
                      <a:r>
                        <a:rPr lang="en-US" sz="1600" b="0" u="none" strike="noStrike" cap="none" baseline="0" dirty="0">
                          <a:latin typeface="+mn-lt"/>
                          <a:ea typeface="Arial"/>
                          <a:cs typeface="Arial"/>
                          <a:sym typeface="Arial"/>
                        </a:rPr>
                        <a:t>D</a:t>
                      </a:r>
                      <a:r>
                        <a:rPr lang="en-US" sz="100" b="0" u="none" strike="noStrike" cap="none" baseline="0" dirty="0">
                          <a:latin typeface="+mn-lt"/>
                          <a:ea typeface="Arial"/>
                          <a:cs typeface="Arial"/>
                          <a:sym typeface="Arial"/>
                        </a:rPr>
                        <a:t> </a:t>
                      </a:r>
                      <a:r>
                        <a:rPr lang="en-US" sz="1600" b="0" u="none" strike="noStrike" cap="none" baseline="0" dirty="0">
                          <a:latin typeface="+mn-lt"/>
                          <a:ea typeface="Arial"/>
                          <a:cs typeface="Arial"/>
                          <a:sym typeface="Arial"/>
                        </a:rPr>
                        <a:t>P relative to the growth rate of foreign G</a:t>
                      </a:r>
                      <a:r>
                        <a:rPr lang="en-US" sz="100" b="0" u="none" strike="noStrike" cap="none" baseline="0" dirty="0">
                          <a:latin typeface="+mn-lt"/>
                          <a:ea typeface="Arial"/>
                          <a:cs typeface="Arial"/>
                          <a:sym typeface="Arial"/>
                        </a:rPr>
                        <a:t> </a:t>
                      </a:r>
                      <a:r>
                        <a:rPr lang="en-US" sz="1600" b="0" u="none" strike="noStrike" cap="none" baseline="0" dirty="0">
                          <a:latin typeface="+mn-lt"/>
                          <a:ea typeface="Arial"/>
                          <a:cs typeface="Arial"/>
                          <a:sym typeface="Arial"/>
                        </a:rPr>
                        <a:t>D</a:t>
                      </a:r>
                      <a:r>
                        <a:rPr lang="en-US" sz="100" b="0" u="none" strike="noStrike" cap="none" baseline="0" dirty="0">
                          <a:latin typeface="+mn-lt"/>
                          <a:ea typeface="Arial"/>
                          <a:cs typeface="Arial"/>
                          <a:sym typeface="Arial"/>
                        </a:rPr>
                        <a:t> </a:t>
                      </a:r>
                      <a:r>
                        <a:rPr lang="en-US" sz="1600" b="0" u="none" strike="noStrike" cap="none" baseline="0" dirty="0">
                          <a:latin typeface="+mn-lt"/>
                          <a:ea typeface="Arial"/>
                          <a:cs typeface="Arial"/>
                          <a:sym typeface="Arial"/>
                        </a:rPr>
                        <a:t>P</a:t>
                      </a:r>
                      <a:endParaRPr sz="1600" b="0" u="none" strike="noStrike" cap="none" baseline="0" dirty="0">
                        <a:latin typeface="+mn-lt"/>
                        <a:ea typeface="Arial"/>
                        <a:cs typeface="Arial"/>
                        <a:sym typeface="Arial"/>
                      </a:endParaRPr>
                    </a:p>
                  </a:txBody>
                  <a:tcPr marL="61200" marR="61200" marT="61200" marB="612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00" b="0" u="none" strike="noStrike" cap="none" baseline="0" dirty="0">
                          <a:solidFill>
                            <a:schemeClr val="tx1"/>
                          </a:solidFill>
                          <a:latin typeface="+mn-lt"/>
                          <a:ea typeface="Arial"/>
                          <a:cs typeface="Arial"/>
                          <a:sym typeface="Arial"/>
                        </a:rPr>
                        <a:t>On a graph, X is real G D P, and Y is price level. Line A D sub 1 shifts left and becomes A D sub 2.</a:t>
                      </a:r>
                      <a:endParaRPr sz="100" b="0" u="none" strike="noStrike" cap="none" baseline="0" dirty="0">
                        <a:solidFill>
                          <a:schemeClr val="tx1"/>
                        </a:solidFill>
                        <a:latin typeface="+mn-lt"/>
                        <a:ea typeface="Arial"/>
                        <a:cs typeface="Arial"/>
                        <a:sym typeface="Arial"/>
                      </a:endParaRPr>
                    </a:p>
                  </a:txBody>
                  <a:tcPr marL="61200" marR="61200" marT="61200" marB="61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0" u="none" strike="noStrike" cap="none" baseline="0" dirty="0">
                          <a:latin typeface="+mn-lt"/>
                          <a:ea typeface="Arial"/>
                          <a:cs typeface="Arial"/>
                          <a:sym typeface="Arial"/>
                        </a:rPr>
                        <a:t>imports will increase faster than exports, reducing net exports.</a:t>
                      </a:r>
                      <a:endParaRPr sz="1600" b="0" u="none" strike="noStrike" cap="none" baseline="0" dirty="0">
                        <a:latin typeface="+mn-lt"/>
                        <a:ea typeface="Arial"/>
                        <a:cs typeface="Arial"/>
                        <a:sym typeface="Arial"/>
                      </a:endParaRPr>
                    </a:p>
                  </a:txBody>
                  <a:tcPr marL="61200" marR="61200" marT="61200" marB="612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1787057"/>
                  </a:ext>
                </a:extLst>
              </a:tr>
              <a:tr h="1073361">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baseline="0" dirty="0">
                          <a:latin typeface="+mn-lt"/>
                          <a:ea typeface="Arial"/>
                          <a:cs typeface="Arial"/>
                          <a:sym typeface="Arial"/>
                        </a:rPr>
                        <a:t>the exchange rate (the value of the dollar) relative to foreign currencies</a:t>
                      </a:r>
                      <a:endParaRPr sz="1600" u="none" strike="noStrike" cap="none" baseline="0" dirty="0">
                        <a:latin typeface="+mn-lt"/>
                        <a:ea typeface="Arial"/>
                        <a:cs typeface="Arial"/>
                        <a:sym typeface="Arial"/>
                      </a:endParaRPr>
                    </a:p>
                  </a:txBody>
                  <a:tcPr marL="61200" marR="61200" marT="61200" marB="612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00" u="none" strike="noStrike" cap="none" baseline="0" dirty="0">
                          <a:solidFill>
                            <a:schemeClr val="tx1"/>
                          </a:solidFill>
                          <a:latin typeface="+mn-lt"/>
                          <a:ea typeface="Arial"/>
                          <a:cs typeface="Arial"/>
                          <a:sym typeface="Arial"/>
                        </a:rPr>
                        <a:t>On a graph, X is real G D P, and Y is price level. Line A D sub 1 shifts left and becomes A D sub 2.</a:t>
                      </a:r>
                      <a:endParaRPr sz="100" u="none" strike="noStrike" cap="none" baseline="0" dirty="0">
                        <a:solidFill>
                          <a:schemeClr val="tx1"/>
                        </a:solidFill>
                        <a:latin typeface="+mn-lt"/>
                        <a:ea typeface="Arial"/>
                        <a:cs typeface="Arial"/>
                        <a:sym typeface="Arial"/>
                      </a:endParaRPr>
                    </a:p>
                  </a:txBody>
                  <a:tcPr marL="61200" marR="61200" marT="61200" marB="61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baseline="0" dirty="0">
                          <a:latin typeface="+mn-lt"/>
                          <a:ea typeface="Arial"/>
                          <a:cs typeface="Arial"/>
                          <a:sym typeface="Arial"/>
                        </a:rPr>
                        <a:t>imports will rise and exports will fall, reducing net exports.</a:t>
                      </a:r>
                      <a:endParaRPr sz="1600" u="none" strike="noStrike" cap="none" baseline="0" dirty="0">
                        <a:latin typeface="+mn-lt"/>
                        <a:ea typeface="Arial"/>
                        <a:cs typeface="Arial"/>
                        <a:sym typeface="Arial"/>
                      </a:endParaRPr>
                    </a:p>
                  </a:txBody>
                  <a:tcPr marL="61200" marR="61200" marT="61200" marB="6120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2271598"/>
                  </a:ext>
                </a:extLst>
              </a:tr>
            </a:tbl>
          </a:graphicData>
        </a:graphic>
      </p:graphicFrame>
      <p:pic>
        <p:nvPicPr>
          <p:cNvPr id="10" name="Picture 9">
            <a:extLst>
              <a:ext uri="{FF2B5EF4-FFF2-40B4-BE49-F238E27FC236}">
                <a16:creationId xmlns:a16="http://schemas.microsoft.com/office/drawing/2014/main" id="{ADD31537-28BA-B30E-1181-8C22AAD52CB8}"/>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889886" y="2312286"/>
            <a:ext cx="1364227" cy="866636"/>
          </a:xfrm>
          <a:prstGeom prst="rect">
            <a:avLst/>
          </a:prstGeom>
          <a:solidFill>
            <a:schemeClr val="bg1"/>
          </a:solidFill>
        </p:spPr>
      </p:pic>
      <p:pic>
        <p:nvPicPr>
          <p:cNvPr id="11" name="Picture 10">
            <a:extLst>
              <a:ext uri="{FF2B5EF4-FFF2-40B4-BE49-F238E27FC236}">
                <a16:creationId xmlns:a16="http://schemas.microsoft.com/office/drawing/2014/main" id="{E45E7DA9-F8E0-1457-6884-7D2F84DDEE2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889886" y="3290511"/>
            <a:ext cx="1487500" cy="947827"/>
          </a:xfrm>
          <a:prstGeom prst="rect">
            <a:avLst/>
          </a:prstGeom>
          <a:solidFill>
            <a:schemeClr val="bg1"/>
          </a:solidFill>
        </p:spPr>
      </p:pic>
      <p:sp>
        <p:nvSpPr>
          <p:cNvPr id="12" name="Content Placeholder 4">
            <a:extLst>
              <a:ext uri="{FF2B5EF4-FFF2-40B4-BE49-F238E27FC236}">
                <a16:creationId xmlns:a16="http://schemas.microsoft.com/office/drawing/2014/main" id="{5D2715B5-93E2-2833-F581-C27319453301}"/>
              </a:ext>
            </a:extLst>
          </p:cNvPr>
          <p:cNvSpPr txBox="1">
            <a:spLocks/>
          </p:cNvSpPr>
          <p:nvPr/>
        </p:nvSpPr>
        <p:spPr>
          <a:xfrm>
            <a:off x="457200" y="4476750"/>
            <a:ext cx="8229600" cy="1731822"/>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0"/>
              </a:spcBef>
              <a:spcAft>
                <a:spcPts val="1200"/>
              </a:spcAft>
              <a:buNone/>
              <a:defRPr/>
            </a:pPr>
            <a:r>
              <a:rPr lang="en-US" sz="2000" dirty="0"/>
              <a:t>If the </a:t>
            </a:r>
            <a:r>
              <a:rPr lang="en-US" sz="2000" b="1" dirty="0"/>
              <a:t>growth rate of domestic GDP </a:t>
            </a:r>
            <a:r>
              <a:rPr lang="en-US" sz="2000" dirty="0"/>
              <a:t>increases relative to GDP in other countries, Canadian imports will increase faster than Canadian exports making net exports fall. </a:t>
            </a:r>
          </a:p>
          <a:p>
            <a:pPr marL="0" indent="0">
              <a:spcBef>
                <a:spcPts val="0"/>
              </a:spcBef>
              <a:spcAft>
                <a:spcPts val="1200"/>
              </a:spcAft>
              <a:buNone/>
              <a:defRPr/>
            </a:pPr>
            <a:r>
              <a:rPr lang="en-US" sz="2000" dirty="0"/>
              <a:t>If our </a:t>
            </a:r>
            <a:r>
              <a:rPr lang="en-US" sz="2000" b="1" dirty="0"/>
              <a:t>exchange rate </a:t>
            </a:r>
            <a:r>
              <a:rPr lang="en-US" sz="2000" dirty="0"/>
              <a:t>rises, our exports become more expensive, so foreigners buy less of them (and we buy more imports, also).</a:t>
            </a:r>
          </a:p>
        </p:txBody>
      </p:sp>
    </p:spTree>
    <p:extLst>
      <p:ext uri="{BB962C8B-B14F-4D97-AF65-F5344CB8AC3E}">
        <p14:creationId xmlns:p14="http://schemas.microsoft.com/office/powerpoint/2010/main" val="31968774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j-lt"/>
              </a:rPr>
              <a:t>Aggregate Supply</a:t>
            </a:r>
          </a:p>
        </p:txBody>
      </p:sp>
      <p:sp>
        <p:nvSpPr>
          <p:cNvPr id="4" name="Content Placeholder 3"/>
          <p:cNvSpPr>
            <a:spLocks noGrp="1"/>
          </p:cNvSpPr>
          <p:nvPr>
            <p:ph type="body" sz="quarter" idx="13"/>
          </p:nvPr>
        </p:nvSpPr>
        <p:spPr/>
        <p:txBody>
          <a:bodyPr/>
          <a:lstStyle/>
          <a:p>
            <a:pPr marL="0" indent="0">
              <a:buNone/>
            </a:pPr>
            <a:r>
              <a:rPr lang="en-US" sz="2400" b="1" dirty="0">
                <a:solidFill>
                  <a:schemeClr val="tx1"/>
                </a:solidFill>
              </a:rPr>
              <a:t>9.2 Learning</a:t>
            </a:r>
            <a:r>
              <a:rPr lang="en-US" sz="2400" dirty="0">
                <a:solidFill>
                  <a:schemeClr val="tx1"/>
                </a:solidFill>
              </a:rPr>
              <a:t> </a:t>
            </a:r>
            <a:r>
              <a:rPr lang="en-US" sz="2400" b="1" dirty="0">
                <a:solidFill>
                  <a:schemeClr val="tx1"/>
                </a:solidFill>
              </a:rPr>
              <a:t>Objective</a:t>
            </a:r>
          </a:p>
        </p:txBody>
      </p:sp>
      <p:sp>
        <p:nvSpPr>
          <p:cNvPr id="3" name="Content Placeholder 2">
            <a:extLst>
              <a:ext uri="{FF2B5EF4-FFF2-40B4-BE49-F238E27FC236}">
                <a16:creationId xmlns:a16="http://schemas.microsoft.com/office/drawing/2014/main" id="{DB3CA302-550F-7A9B-1E45-FE02525CADDB}"/>
              </a:ext>
            </a:extLst>
          </p:cNvPr>
          <p:cNvSpPr>
            <a:spLocks noGrp="1"/>
          </p:cNvSpPr>
          <p:nvPr>
            <p:ph sz="quarter" idx="14"/>
          </p:nvPr>
        </p:nvSpPr>
        <p:spPr>
          <a:xfrm>
            <a:off x="457200" y="1440756"/>
            <a:ext cx="8229600" cy="4807644"/>
          </a:xfrm>
        </p:spPr>
        <p:txBody>
          <a:bodyPr/>
          <a:lstStyle/>
          <a:p>
            <a:pPr marL="0" indent="0">
              <a:spcBef>
                <a:spcPts val="0"/>
              </a:spcBef>
              <a:spcAft>
                <a:spcPts val="1200"/>
              </a:spcAft>
              <a:buNone/>
              <a:defRPr/>
            </a:pPr>
            <a:r>
              <a:rPr lang="en-US" sz="2200" dirty="0"/>
              <a:t>Identify the determinants of aggregate supply and distinguish between a movement along the short-run aggregate supply curve and a shift of the curve.</a:t>
            </a:r>
          </a:p>
          <a:p>
            <a:pPr marL="0" indent="0">
              <a:spcBef>
                <a:spcPts val="0"/>
              </a:spcBef>
              <a:spcAft>
                <a:spcPts val="1200"/>
              </a:spcAft>
              <a:buNone/>
              <a:defRPr/>
            </a:pPr>
            <a:r>
              <a:rPr lang="en-US" sz="2200" dirty="0"/>
              <a:t>Aggregate supply refers to the quantity of goods and services that firms are willing and able to supply.</a:t>
            </a:r>
          </a:p>
          <a:p>
            <a:pPr marL="0" indent="0">
              <a:spcBef>
                <a:spcPts val="0"/>
              </a:spcBef>
              <a:spcAft>
                <a:spcPts val="1200"/>
              </a:spcAft>
              <a:buNone/>
              <a:defRPr/>
            </a:pPr>
            <a:r>
              <a:rPr lang="en-US" sz="2200" dirty="0"/>
              <a:t>The relationship between this quantity and the price level is different in the long run and short run.</a:t>
            </a:r>
          </a:p>
          <a:p>
            <a:pPr marL="266700" indent="-266700">
              <a:spcBef>
                <a:spcPts val="0"/>
              </a:spcBef>
              <a:spcAft>
                <a:spcPts val="1200"/>
              </a:spcAft>
              <a:defRPr/>
            </a:pPr>
            <a:r>
              <a:rPr lang="en-US" sz="2200" dirty="0"/>
              <a:t>We will develop here both a short-run and </a:t>
            </a:r>
            <a:r>
              <a:rPr lang="en-US" sz="2200" b="1" dirty="0"/>
              <a:t>long-run aggregate supply curve.</a:t>
            </a:r>
          </a:p>
          <a:p>
            <a:pPr marL="0" indent="0">
              <a:spcBef>
                <a:spcPts val="0"/>
              </a:spcBef>
              <a:spcAft>
                <a:spcPts val="1200"/>
              </a:spcAft>
              <a:buNone/>
              <a:defRPr/>
            </a:pPr>
            <a:r>
              <a:rPr lang="en-US" sz="2200" b="1" dirty="0"/>
              <a:t>Long-run aggregate supply (LRAS) curve:</a:t>
            </a:r>
            <a:r>
              <a:rPr lang="en-US" sz="2200" dirty="0"/>
              <a:t> A curve that shows the relationship in the long run between the price level and the quantity of real GDP supplied.</a:t>
            </a:r>
          </a:p>
          <a:p>
            <a:pPr marL="0" indent="0">
              <a:spcBef>
                <a:spcPts val="0"/>
              </a:spcBef>
              <a:spcAft>
                <a:spcPts val="1200"/>
              </a:spcAft>
              <a:buNone/>
              <a:defRPr/>
            </a:pPr>
            <a:endParaRPr lang="en-US" sz="2200" dirty="0"/>
          </a:p>
        </p:txBody>
      </p:sp>
    </p:spTree>
    <p:extLst>
      <p:ext uri="{BB962C8B-B14F-4D97-AF65-F5344CB8AC3E}">
        <p14:creationId xmlns:p14="http://schemas.microsoft.com/office/powerpoint/2010/main" val="38812008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0600"/>
          </a:xfrm>
        </p:spPr>
        <p:txBody>
          <a:bodyPr/>
          <a:lstStyle/>
          <a:p>
            <a:r>
              <a:rPr lang="en-US" dirty="0">
                <a:latin typeface="+mj-lt"/>
              </a:rPr>
              <a:t>Figure 9.2 Long-Run Aggregate Supply Curve</a:t>
            </a:r>
          </a:p>
        </p:txBody>
      </p:sp>
      <p:sp>
        <p:nvSpPr>
          <p:cNvPr id="3" name="Content Placeholder 2"/>
          <p:cNvSpPr>
            <a:spLocks noGrp="1"/>
          </p:cNvSpPr>
          <p:nvPr>
            <p:ph idx="1"/>
          </p:nvPr>
        </p:nvSpPr>
        <p:spPr>
          <a:xfrm>
            <a:off x="457200" y="1447800"/>
            <a:ext cx="4014794" cy="4419600"/>
          </a:xfrm>
        </p:spPr>
        <p:txBody>
          <a:bodyPr/>
          <a:lstStyle/>
          <a:p>
            <a:pPr marL="432" indent="0">
              <a:buNone/>
            </a:pPr>
            <a:r>
              <a:rPr lang="en-US" sz="2100" dirty="0"/>
              <a:t>In the long run, the level of real GDP is determined by the number of workers, the level of technology, and the </a:t>
            </a:r>
            <a:r>
              <a:rPr lang="en-US" sz="2100" b="1" dirty="0"/>
              <a:t>capital stock </a:t>
            </a:r>
            <a:r>
              <a:rPr lang="en-US" sz="2100" dirty="0"/>
              <a:t>(factories, machinery, etc.).</a:t>
            </a:r>
          </a:p>
          <a:p>
            <a:pPr>
              <a:spcBef>
                <a:spcPts val="600"/>
              </a:spcBef>
            </a:pPr>
            <a:r>
              <a:rPr lang="en-US" sz="2100" dirty="0"/>
              <a:t>None of these elements is affected by the price level, so </a:t>
            </a:r>
            <a:r>
              <a:rPr lang="en-US" sz="2100" i="1" dirty="0"/>
              <a:t>LRAS</a:t>
            </a:r>
            <a:r>
              <a:rPr lang="en-US" sz="2100" dirty="0"/>
              <a:t> does not depend on the price level; it is a vertical line.</a:t>
            </a:r>
          </a:p>
          <a:p>
            <a:pPr>
              <a:spcBef>
                <a:spcPts val="600"/>
              </a:spcBef>
            </a:pPr>
            <a:r>
              <a:rPr lang="en-US" sz="2100" i="1" dirty="0"/>
              <a:t>LRAS</a:t>
            </a:r>
            <a:r>
              <a:rPr lang="en-US" sz="2100" dirty="0"/>
              <a:t> occurs at the level of </a:t>
            </a:r>
            <a:r>
              <a:rPr lang="en-US" sz="2100" b="1" dirty="0"/>
              <a:t>potential</a:t>
            </a:r>
            <a:r>
              <a:rPr lang="en-US" sz="2100" dirty="0"/>
              <a:t> or </a:t>
            </a:r>
            <a:r>
              <a:rPr lang="en-US" sz="2100" b="1" dirty="0"/>
              <a:t>full-employment GDP,</a:t>
            </a:r>
            <a:r>
              <a:rPr lang="en-US" sz="2100" dirty="0"/>
              <a:t> which advances each year.</a:t>
            </a:r>
          </a:p>
          <a:p>
            <a:pPr marL="0" indent="0">
              <a:spcBef>
                <a:spcPts val="0"/>
              </a:spcBef>
              <a:spcAft>
                <a:spcPts val="1200"/>
              </a:spcAft>
              <a:buNone/>
              <a:defRPr/>
            </a:pPr>
            <a:endParaRPr lang="en-US" sz="2100" dirty="0"/>
          </a:p>
        </p:txBody>
      </p:sp>
      <p:pic>
        <p:nvPicPr>
          <p:cNvPr id="5" name="Picture 4" descr="A line graph depicts the Long-Run Aggregate Supply.">
            <a:extLst>
              <a:ext uri="{FF2B5EF4-FFF2-40B4-BE49-F238E27FC236}">
                <a16:creationId xmlns:a16="http://schemas.microsoft.com/office/drawing/2014/main" id="{A5FE9299-F084-FAC6-C24A-9047A917BA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1447800"/>
            <a:ext cx="4176706" cy="2987040"/>
          </a:xfrm>
          <a:prstGeom prst="rect">
            <a:avLst/>
          </a:prstGeom>
        </p:spPr>
      </p:pic>
    </p:spTree>
    <p:extLst>
      <p:ext uri="{BB962C8B-B14F-4D97-AF65-F5344CB8AC3E}">
        <p14:creationId xmlns:p14="http://schemas.microsoft.com/office/powerpoint/2010/main" val="39375425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9770"/>
            <a:ext cx="8229600" cy="1033687"/>
          </a:xfrm>
        </p:spPr>
        <p:txBody>
          <a:bodyPr/>
          <a:lstStyle/>
          <a:p>
            <a:r>
              <a:rPr lang="en-US" dirty="0">
                <a:latin typeface="+mj-lt"/>
              </a:rPr>
              <a:t>Short-Run Aggregate Supply (SRAS) Curve</a:t>
            </a:r>
          </a:p>
        </p:txBody>
      </p:sp>
      <p:sp>
        <p:nvSpPr>
          <p:cNvPr id="3" name="Content Placeholder 2"/>
          <p:cNvSpPr>
            <a:spLocks noGrp="1"/>
          </p:cNvSpPr>
          <p:nvPr>
            <p:ph idx="1"/>
          </p:nvPr>
        </p:nvSpPr>
        <p:spPr>
          <a:xfrm>
            <a:off x="457200" y="1623510"/>
            <a:ext cx="8229600" cy="2026200"/>
          </a:xfrm>
        </p:spPr>
        <p:txBody>
          <a:bodyPr/>
          <a:lstStyle/>
          <a:p>
            <a:pPr marL="0" indent="0">
              <a:spcBef>
                <a:spcPts val="600"/>
              </a:spcBef>
              <a:spcAft>
                <a:spcPts val="0"/>
              </a:spcAft>
              <a:buNone/>
              <a:defRPr/>
            </a:pPr>
            <a:r>
              <a:rPr lang="en-US" sz="2000" dirty="0"/>
              <a:t>While the LRAS is vertical, the SRAS is upward sloping. Why?</a:t>
            </a:r>
          </a:p>
          <a:p>
            <a:pPr marL="266700" indent="-266700">
              <a:spcBef>
                <a:spcPts val="600"/>
              </a:spcBef>
              <a:defRPr/>
            </a:pPr>
            <a:r>
              <a:rPr lang="en-US" sz="2000" i="1" dirty="0"/>
              <a:t>As prices of final goods and services rise, prices of inputs—such as the wages of workers or the price of natural resources—rise more slowly.</a:t>
            </a:r>
          </a:p>
          <a:p>
            <a:pPr marL="266700" indent="-266700">
              <a:spcBef>
                <a:spcPts val="600"/>
              </a:spcBef>
              <a:defRPr/>
            </a:pPr>
            <a:r>
              <a:rPr lang="en-US" sz="2000" dirty="0"/>
              <a:t>A secondary reason is that some firms are slow to adjust their prices when the price level rises or falls.</a:t>
            </a:r>
          </a:p>
        </p:txBody>
      </p:sp>
      <p:sp>
        <p:nvSpPr>
          <p:cNvPr id="4" name="Content Placeholder 3"/>
          <p:cNvSpPr>
            <a:spLocks noGrp="1"/>
          </p:cNvSpPr>
          <p:nvPr>
            <p:ph idx="13"/>
          </p:nvPr>
        </p:nvSpPr>
        <p:spPr>
          <a:xfrm>
            <a:off x="457200" y="3777383"/>
            <a:ext cx="8229600" cy="2471017"/>
          </a:xfrm>
        </p:spPr>
        <p:txBody>
          <a:bodyPr/>
          <a:lstStyle/>
          <a:p>
            <a:pPr marL="0" indent="0">
              <a:spcBef>
                <a:spcPts val="600"/>
              </a:spcBef>
              <a:spcAft>
                <a:spcPts val="0"/>
              </a:spcAft>
              <a:buNone/>
              <a:defRPr/>
            </a:pPr>
            <a:r>
              <a:rPr lang="en-US" sz="2000" dirty="0"/>
              <a:t>Economists tend to believe that </a:t>
            </a:r>
            <a:r>
              <a:rPr lang="en-US" sz="2000" i="1" dirty="0"/>
              <a:t>some firms and workers fail to accurately predict changes in the price level</a:t>
            </a:r>
            <a:r>
              <a:rPr lang="en-US" sz="2000" dirty="0"/>
              <a:t>.</a:t>
            </a:r>
          </a:p>
          <a:p>
            <a:pPr marL="0" indent="0">
              <a:spcBef>
                <a:spcPts val="600"/>
              </a:spcBef>
              <a:spcAft>
                <a:spcPts val="0"/>
              </a:spcAft>
              <a:buNone/>
              <a:defRPr/>
            </a:pPr>
            <a:r>
              <a:rPr lang="en-US" sz="2000" dirty="0"/>
              <a:t>Based on this, there are three potential explanations for why the SRAS curve is upward-sloping:</a:t>
            </a:r>
          </a:p>
          <a:p>
            <a:pPr marL="347472" indent="-347472">
              <a:spcBef>
                <a:spcPts val="600"/>
              </a:spcBef>
              <a:buFont typeface="+mj-lt"/>
              <a:buAutoNum type="arabicPeriod"/>
              <a:defRPr/>
            </a:pPr>
            <a:r>
              <a:rPr lang="en-US" sz="2000" b="1" i="1" dirty="0"/>
              <a:t>Contracts make some wages and prices “sticky”</a:t>
            </a:r>
          </a:p>
          <a:p>
            <a:pPr marL="347472" indent="-347472">
              <a:spcBef>
                <a:spcPts val="600"/>
              </a:spcBef>
              <a:buFont typeface="+mj-lt"/>
              <a:buAutoNum type="arabicPeriod"/>
              <a:defRPr/>
            </a:pPr>
            <a:r>
              <a:rPr lang="en-US" sz="2000" b="1" i="1" dirty="0"/>
              <a:t>Firms are often slow to adjust wages</a:t>
            </a:r>
          </a:p>
          <a:p>
            <a:pPr marL="347472" indent="-347472">
              <a:spcBef>
                <a:spcPts val="600"/>
              </a:spcBef>
              <a:buFont typeface="+mj-lt"/>
              <a:buAutoNum type="arabicPeriod"/>
              <a:defRPr/>
            </a:pPr>
            <a:r>
              <a:rPr lang="en-US" sz="2000" b="1" i="1" dirty="0"/>
              <a:t>Menu costs make some prices sticky</a:t>
            </a:r>
            <a:endParaRPr lang="en-US" sz="2000" dirty="0"/>
          </a:p>
        </p:txBody>
      </p:sp>
    </p:spTree>
    <p:extLst>
      <p:ext uri="{BB962C8B-B14F-4D97-AF65-F5344CB8AC3E}">
        <p14:creationId xmlns:p14="http://schemas.microsoft.com/office/powerpoint/2010/main" val="25490506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7730"/>
            <a:ext cx="8229600" cy="1075659"/>
          </a:xfrm>
        </p:spPr>
        <p:txBody>
          <a:bodyPr/>
          <a:lstStyle/>
          <a:p>
            <a:r>
              <a:rPr lang="en-US" dirty="0"/>
              <a:t>Why is the SRAS Curve Upward Sloping?</a:t>
            </a:r>
          </a:p>
        </p:txBody>
      </p:sp>
      <p:sp>
        <p:nvSpPr>
          <p:cNvPr id="3" name="Content Placeholder 2"/>
          <p:cNvSpPr>
            <a:spLocks noGrp="1"/>
          </p:cNvSpPr>
          <p:nvPr>
            <p:ph idx="1"/>
          </p:nvPr>
        </p:nvSpPr>
        <p:spPr>
          <a:xfrm>
            <a:off x="457200" y="1371600"/>
            <a:ext cx="8229600" cy="4889901"/>
          </a:xfrm>
        </p:spPr>
        <p:txBody>
          <a:bodyPr/>
          <a:lstStyle/>
          <a:p>
            <a:pPr marL="0" indent="0">
              <a:spcBef>
                <a:spcPts val="1000"/>
              </a:spcBef>
              <a:buNone/>
              <a:defRPr/>
            </a:pPr>
            <a:r>
              <a:rPr lang="en-US" sz="2000" b="1" i="1" dirty="0"/>
              <a:t>Contracts make some wages and prices “sticky”</a:t>
            </a:r>
          </a:p>
          <a:p>
            <a:pPr marL="0" indent="0">
              <a:spcBef>
                <a:spcPts val="1000"/>
              </a:spcBef>
              <a:buNone/>
              <a:defRPr/>
            </a:pPr>
            <a:r>
              <a:rPr lang="en-US" sz="2000" dirty="0"/>
              <a:t>Prices and wages are said to be “sticky” when they do not respond quickly to changes in demand or supply.</a:t>
            </a:r>
          </a:p>
          <a:p>
            <a:pPr marL="0" indent="0">
              <a:spcBef>
                <a:spcPts val="1000"/>
              </a:spcBef>
              <a:buNone/>
              <a:defRPr/>
            </a:pPr>
            <a:r>
              <a:rPr lang="en-US" sz="2000" dirty="0"/>
              <a:t>Some firms and workers fail to predict price level changes, and hence do not correctly build them into long-term contracts.</a:t>
            </a:r>
            <a:endParaRPr lang="en-US" sz="2000" i="1" dirty="0"/>
          </a:p>
          <a:p>
            <a:pPr marL="0" indent="0">
              <a:spcBef>
                <a:spcPts val="1000"/>
              </a:spcBef>
              <a:buNone/>
              <a:defRPr/>
            </a:pPr>
            <a:r>
              <a:rPr lang="en-US" sz="2000" b="1" i="1" dirty="0"/>
              <a:t>Firms are often slow to adjust wages</a:t>
            </a:r>
          </a:p>
          <a:p>
            <a:pPr marL="0" indent="0">
              <a:spcBef>
                <a:spcPts val="1000"/>
              </a:spcBef>
              <a:buNone/>
              <a:defRPr/>
            </a:pPr>
            <a:r>
              <a:rPr lang="en-US" sz="2000" dirty="0"/>
              <a:t>Annual salary reviews are “normal”, for example. </a:t>
            </a:r>
          </a:p>
          <a:p>
            <a:pPr marL="0" indent="0">
              <a:spcBef>
                <a:spcPts val="1000"/>
              </a:spcBef>
              <a:buNone/>
              <a:defRPr/>
            </a:pPr>
            <a:r>
              <a:rPr lang="en-US" sz="2000" dirty="0"/>
              <a:t>Also, firms dislike cutting wages—it’s bad for morale.</a:t>
            </a:r>
          </a:p>
          <a:p>
            <a:pPr marL="0" indent="0">
              <a:spcBef>
                <a:spcPts val="1000"/>
              </a:spcBef>
              <a:buNone/>
              <a:defRPr/>
            </a:pPr>
            <a:r>
              <a:rPr lang="en-US" sz="2000" b="1" i="1" dirty="0"/>
              <a:t>Menu costs make some prices sticky</a:t>
            </a:r>
          </a:p>
          <a:p>
            <a:pPr marL="0" indent="0">
              <a:spcBef>
                <a:spcPts val="1000"/>
              </a:spcBef>
              <a:buNone/>
              <a:defRPr/>
            </a:pPr>
            <a:r>
              <a:rPr lang="en-US" sz="2000" dirty="0"/>
              <a:t>Altering prices is sometimes costly in itself. Firms have </a:t>
            </a:r>
            <a:r>
              <a:rPr lang="en-US" sz="2000" b="1" dirty="0"/>
              <a:t>menu costs </a:t>
            </a:r>
            <a:r>
              <a:rPr lang="en-US" sz="2000" dirty="0"/>
              <a:t>when it costs them money to change prices, for example by having to print new catalogs. A small “optimal” change in price may not be worth the hassle for a firm to perform.</a:t>
            </a:r>
          </a:p>
        </p:txBody>
      </p:sp>
    </p:spTree>
    <p:extLst>
      <p:ext uri="{BB962C8B-B14F-4D97-AF65-F5344CB8AC3E}">
        <p14:creationId xmlns:p14="http://schemas.microsoft.com/office/powerpoint/2010/main" val="25439093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9260"/>
            <a:ext cx="8229600" cy="1044024"/>
          </a:xfrm>
        </p:spPr>
        <p:txBody>
          <a:bodyPr/>
          <a:lstStyle/>
          <a:p>
            <a:r>
              <a:rPr lang="en-US" dirty="0"/>
              <a:t>Shifts of the SRAS Curve vs. Movements Along It</a:t>
            </a:r>
          </a:p>
        </p:txBody>
      </p:sp>
      <p:sp>
        <p:nvSpPr>
          <p:cNvPr id="3" name="Content Placeholder 2"/>
          <p:cNvSpPr>
            <a:spLocks noGrp="1"/>
          </p:cNvSpPr>
          <p:nvPr>
            <p:ph idx="1"/>
          </p:nvPr>
        </p:nvSpPr>
        <p:spPr>
          <a:xfrm>
            <a:off x="457200" y="1600200"/>
            <a:ext cx="8229600" cy="4571999"/>
          </a:xfrm>
        </p:spPr>
        <p:txBody>
          <a:bodyPr/>
          <a:lstStyle/>
          <a:p>
            <a:pPr marL="0" indent="0">
              <a:spcBef>
                <a:spcPts val="0"/>
              </a:spcBef>
              <a:spcAft>
                <a:spcPts val="1200"/>
              </a:spcAft>
              <a:buNone/>
              <a:defRPr/>
            </a:pPr>
            <a:r>
              <a:rPr lang="en-US" dirty="0"/>
              <a:t>The short-run aggregate supply curve describes the relationship between the price level and the quantity of goods and services firms are willing to supply, </a:t>
            </a:r>
            <a:r>
              <a:rPr lang="en-US" i="1" dirty="0"/>
              <a:t>holding constant all other variables that can affect the willingness of firms to supply goods and services.</a:t>
            </a:r>
            <a:endParaRPr lang="en-US" dirty="0"/>
          </a:p>
          <a:p>
            <a:pPr marL="0" indent="0">
              <a:spcBef>
                <a:spcPts val="0"/>
              </a:spcBef>
              <a:spcAft>
                <a:spcPts val="1200"/>
              </a:spcAft>
              <a:buNone/>
              <a:defRPr/>
            </a:pPr>
            <a:r>
              <a:rPr lang="en-US" dirty="0"/>
              <a:t>If the price level changes, but nothing else does, the economy will move up or down along a stationary SRAS curve.</a:t>
            </a:r>
          </a:p>
          <a:p>
            <a:pPr marL="0" indent="0">
              <a:spcBef>
                <a:spcPts val="0"/>
              </a:spcBef>
              <a:spcAft>
                <a:spcPts val="1200"/>
              </a:spcAft>
              <a:buNone/>
              <a:defRPr/>
            </a:pPr>
            <a:r>
              <a:rPr lang="en-US" dirty="0"/>
              <a:t>But some factors cause the SRAS curve to shift; we will consider them in turn.</a:t>
            </a:r>
          </a:p>
        </p:txBody>
      </p:sp>
    </p:spTree>
    <p:extLst>
      <p:ext uri="{BB962C8B-B14F-4D97-AF65-F5344CB8AC3E}">
        <p14:creationId xmlns:p14="http://schemas.microsoft.com/office/powerpoint/2010/main" val="2599791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3F34656-FD48-091C-7EA2-142AE0906E2C}"/>
              </a:ext>
            </a:extLst>
          </p:cNvPr>
          <p:cNvSpPr>
            <a:spLocks noGrp="1"/>
          </p:cNvSpPr>
          <p:nvPr>
            <p:ph type="title"/>
          </p:nvPr>
        </p:nvSpPr>
        <p:spPr>
          <a:xfrm>
            <a:off x="457199" y="215371"/>
            <a:ext cx="8467445" cy="851429"/>
          </a:xfrm>
        </p:spPr>
        <p:txBody>
          <a:bodyPr/>
          <a:lstStyle/>
          <a:p>
            <a:r>
              <a:rPr lang="en-US" sz="2600" dirty="0"/>
              <a:t>Figure 9.3 How Expectations of the Future Price Level Affect the Short-Run Aggregate Supply Curve</a:t>
            </a:r>
            <a:endParaRPr lang="en-IN" sz="2600" dirty="0"/>
          </a:p>
        </p:txBody>
      </p:sp>
      <p:sp>
        <p:nvSpPr>
          <p:cNvPr id="5" name="Content Placeholder 2">
            <a:extLst>
              <a:ext uri="{FF2B5EF4-FFF2-40B4-BE49-F238E27FC236}">
                <a16:creationId xmlns:a16="http://schemas.microsoft.com/office/drawing/2014/main" id="{41137D12-623B-C5DA-14D5-C4F31F14DB79}"/>
              </a:ext>
            </a:extLst>
          </p:cNvPr>
          <p:cNvSpPr txBox="1">
            <a:spLocks/>
          </p:cNvSpPr>
          <p:nvPr/>
        </p:nvSpPr>
        <p:spPr>
          <a:xfrm>
            <a:off x="457200" y="1447801"/>
            <a:ext cx="3657600" cy="4114799"/>
          </a:xfrm>
          <a:prstGeom prst="rect">
            <a:avLst/>
          </a:prstGeom>
        </p:spPr>
        <p:txBody>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432" indent="0">
              <a:spcBef>
                <a:spcPts val="1000"/>
              </a:spcBef>
              <a:buFont typeface="Arial" panose="020B0604020202020204" pitchFamily="34" charset="0"/>
              <a:buNone/>
            </a:pPr>
            <a:r>
              <a:rPr lang="en-US" sz="2000" dirty="0"/>
              <a:t>If workers and firms believe the price level will rise by a certain amount, say 3 percent, they will try to adjust their wages and prices accordingly.</a:t>
            </a:r>
          </a:p>
          <a:p>
            <a:pPr marL="432" indent="0">
              <a:spcBef>
                <a:spcPts val="1000"/>
              </a:spcBef>
              <a:buFont typeface="Arial" panose="020B0604020202020204" pitchFamily="34" charset="0"/>
              <a:buNone/>
            </a:pPr>
            <a:r>
              <a:rPr lang="en-US" sz="2000" dirty="0"/>
              <a:t>Holding constant all other variables that affect aggregate supply, the </a:t>
            </a:r>
            <a:r>
              <a:rPr lang="en-US" sz="2000" i="1" dirty="0"/>
              <a:t>SRAS</a:t>
            </a:r>
            <a:r>
              <a:rPr lang="en-US" sz="2000" dirty="0"/>
              <a:t> will shift to the left.</a:t>
            </a:r>
          </a:p>
          <a:p>
            <a:pPr marL="432" indent="0">
              <a:spcBef>
                <a:spcPts val="1000"/>
              </a:spcBef>
              <a:buFont typeface="Arial" panose="020B0604020202020204" pitchFamily="34" charset="0"/>
              <a:buNone/>
            </a:pPr>
            <a:r>
              <a:rPr lang="en-US" sz="2000" b="1" dirty="0"/>
              <a:t>Widely held expectations of future price-level increases are self-fulfilling!</a:t>
            </a:r>
            <a:endParaRPr lang="en-US" sz="2000" dirty="0"/>
          </a:p>
        </p:txBody>
      </p:sp>
      <p:pic>
        <p:nvPicPr>
          <p:cNvPr id="3" name="Picture 2" descr="A line graph depicts how expectations of the future price level affect the short-run aggregate supply.">
            <a:extLst>
              <a:ext uri="{FF2B5EF4-FFF2-40B4-BE49-F238E27FC236}">
                <a16:creationId xmlns:a16="http://schemas.microsoft.com/office/drawing/2014/main" id="{DFAF5E57-938C-E429-7515-3B62746180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4747" y="1524000"/>
            <a:ext cx="4462272" cy="3401568"/>
          </a:xfrm>
          <a:prstGeom prst="rect">
            <a:avLst/>
          </a:prstGeom>
        </p:spPr>
      </p:pic>
    </p:spTree>
    <p:extLst>
      <p:ext uri="{BB962C8B-B14F-4D97-AF65-F5344CB8AC3E}">
        <p14:creationId xmlns:p14="http://schemas.microsoft.com/office/powerpoint/2010/main" val="1536428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A5FC64FB-C165-5F65-0D99-E9DE07361485}"/>
              </a:ext>
            </a:extLst>
          </p:cNvPr>
          <p:cNvSpPr>
            <a:spLocks noGrp="1"/>
          </p:cNvSpPr>
          <p:nvPr>
            <p:ph type="title"/>
          </p:nvPr>
        </p:nvSpPr>
        <p:spPr>
          <a:xfrm>
            <a:off x="457200" y="215371"/>
            <a:ext cx="8232128" cy="1097279"/>
          </a:xfrm>
        </p:spPr>
        <p:txBody>
          <a:bodyPr/>
          <a:lstStyle/>
          <a:p>
            <a:r>
              <a:rPr lang="en-US" dirty="0">
                <a:latin typeface="+mj-lt"/>
              </a:rPr>
              <a:t>Table 9.2 Variables That Shift the Short-Run Aggregate Supply Curve</a:t>
            </a:r>
            <a:r>
              <a:rPr lang="en-US" sz="2000" dirty="0">
                <a:latin typeface="+mj-lt"/>
              </a:rPr>
              <a:t> </a:t>
            </a:r>
            <a:r>
              <a:rPr lang="en-US" sz="2000" b="0" dirty="0">
                <a:latin typeface="+mj-lt"/>
              </a:rPr>
              <a:t>(1 of 3)</a:t>
            </a:r>
            <a:endParaRPr lang="en-IN" sz="2000" dirty="0">
              <a:latin typeface="+mj-lt"/>
            </a:endParaRPr>
          </a:p>
        </p:txBody>
      </p:sp>
      <p:graphicFrame>
        <p:nvGraphicFramePr>
          <p:cNvPr id="15" name="Content Placeholder 7">
            <a:extLst>
              <a:ext uri="{FF2B5EF4-FFF2-40B4-BE49-F238E27FC236}">
                <a16:creationId xmlns:a16="http://schemas.microsoft.com/office/drawing/2014/main" id="{D2987FE8-DA1A-7945-C2C8-37D216E1A0CF}"/>
              </a:ext>
            </a:extLst>
          </p:cNvPr>
          <p:cNvGraphicFramePr>
            <a:graphicFrameLocks/>
          </p:cNvGraphicFramePr>
          <p:nvPr>
            <p:extLst>
              <p:ext uri="{D42A27DB-BD31-4B8C-83A1-F6EECF244321}">
                <p14:modId xmlns:p14="http://schemas.microsoft.com/office/powerpoint/2010/main" val="1459578816"/>
              </p:ext>
            </p:extLst>
          </p:nvPr>
        </p:nvGraphicFramePr>
        <p:xfrm>
          <a:off x="457200" y="1552575"/>
          <a:ext cx="8232777" cy="2683213"/>
        </p:xfrm>
        <a:graphic>
          <a:graphicData uri="http://schemas.openxmlformats.org/drawingml/2006/table">
            <a:tbl>
              <a:tblPr firstRow="1" bandRow="1">
                <a:tableStyleId>{2D5ABB26-0587-4C30-8999-92F81FD0307C}</a:tableStyleId>
              </a:tblPr>
              <a:tblGrid>
                <a:gridCol w="2744259">
                  <a:extLst>
                    <a:ext uri="{9D8B030D-6E8A-4147-A177-3AD203B41FA5}">
                      <a16:colId xmlns:a16="http://schemas.microsoft.com/office/drawing/2014/main" val="587714051"/>
                    </a:ext>
                  </a:extLst>
                </a:gridCol>
                <a:gridCol w="2744259">
                  <a:extLst>
                    <a:ext uri="{9D8B030D-6E8A-4147-A177-3AD203B41FA5}">
                      <a16:colId xmlns:a16="http://schemas.microsoft.com/office/drawing/2014/main" val="3541949093"/>
                    </a:ext>
                  </a:extLst>
                </a:gridCol>
                <a:gridCol w="2744259">
                  <a:extLst>
                    <a:ext uri="{9D8B030D-6E8A-4147-A177-3AD203B41FA5}">
                      <a16:colId xmlns:a16="http://schemas.microsoft.com/office/drawing/2014/main" val="1386124006"/>
                    </a:ext>
                  </a:extLst>
                </a:gridCol>
              </a:tblGrid>
              <a:tr h="573108">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baseline="0" dirty="0">
                          <a:latin typeface="+mn-lt"/>
                          <a:ea typeface="Arial"/>
                          <a:cs typeface="Arial"/>
                          <a:sym typeface="Arial"/>
                        </a:rPr>
                        <a:t>An increase in …</a:t>
                      </a:r>
                      <a:endParaRPr sz="1600" u="none" strike="noStrike" cap="none" baseline="0" dirty="0">
                        <a:latin typeface="+mn-lt"/>
                        <a:ea typeface="Arial"/>
                        <a:cs typeface="Arial"/>
                        <a:sym typeface="Arial"/>
                      </a:endParaRPr>
                    </a:p>
                  </a:txBody>
                  <a:tcPr marL="45725" marR="468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baseline="0" dirty="0">
                          <a:latin typeface="+mn-lt"/>
                          <a:ea typeface="Arial"/>
                          <a:cs typeface="Arial"/>
                          <a:sym typeface="Arial"/>
                        </a:rPr>
                        <a:t>shifts the short-run aggregate supply curve …</a:t>
                      </a:r>
                      <a:endParaRPr sz="1600" u="none" strike="noStrike" cap="none" baseline="0" dirty="0">
                        <a:latin typeface="+mn-lt"/>
                        <a:ea typeface="Arial"/>
                        <a:cs typeface="Arial"/>
                        <a:sym typeface="Arial"/>
                      </a:endParaRPr>
                    </a:p>
                  </a:txBody>
                  <a:tcPr marL="45725" marR="468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baseline="0" dirty="0">
                          <a:latin typeface="+mn-lt"/>
                          <a:ea typeface="Arial"/>
                          <a:cs typeface="Arial"/>
                          <a:sym typeface="Arial"/>
                        </a:rPr>
                        <a:t>because …</a:t>
                      </a:r>
                      <a:endParaRPr sz="1600" u="none" strike="noStrike" cap="none" baseline="0" dirty="0">
                        <a:latin typeface="+mn-lt"/>
                        <a:ea typeface="Arial"/>
                        <a:cs typeface="Arial"/>
                        <a:sym typeface="Arial"/>
                      </a:endParaRPr>
                    </a:p>
                  </a:txBody>
                  <a:tcPr marL="45725" marR="46800" marT="46800" marB="468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4050590"/>
                  </a:ext>
                </a:extLst>
              </a:tr>
              <a:tr h="1056904">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baseline="0" dirty="0">
                          <a:latin typeface="+mn-lt"/>
                          <a:ea typeface="Arial"/>
                          <a:cs typeface="Arial"/>
                          <a:sym typeface="Arial"/>
                        </a:rPr>
                        <a:t>the </a:t>
                      </a:r>
                      <a:r>
                        <a:rPr lang="en-US" sz="1600" u="none" strike="noStrike" cap="none" baseline="0" dirty="0" err="1">
                          <a:latin typeface="+mn-lt"/>
                          <a:ea typeface="Arial"/>
                          <a:cs typeface="Arial"/>
                          <a:sym typeface="Arial"/>
                        </a:rPr>
                        <a:t>labour</a:t>
                      </a:r>
                      <a:r>
                        <a:rPr lang="en-US" sz="1600" u="none" strike="noStrike" cap="none" baseline="0" dirty="0">
                          <a:latin typeface="+mn-lt"/>
                          <a:ea typeface="Arial"/>
                          <a:cs typeface="Arial"/>
                          <a:sym typeface="Arial"/>
                        </a:rPr>
                        <a:t> force or the capital stock</a:t>
                      </a:r>
                      <a:endParaRPr sz="1600" u="none" strike="noStrike" cap="none" baseline="0" dirty="0">
                        <a:latin typeface="+mn-lt"/>
                        <a:ea typeface="Arial"/>
                        <a:cs typeface="Arial"/>
                        <a:sym typeface="Arial"/>
                      </a:endParaRPr>
                    </a:p>
                  </a:txBody>
                  <a:tcPr marL="45725" marR="46800" marT="46800" marB="46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00" u="none" strike="noStrike" cap="none" baseline="0" dirty="0">
                          <a:solidFill>
                            <a:schemeClr val="tx1"/>
                          </a:solidFill>
                          <a:latin typeface="+mn-lt"/>
                          <a:ea typeface="Arial"/>
                          <a:cs typeface="Arial"/>
                          <a:sym typeface="Arial"/>
                        </a:rPr>
                        <a:t>On a graph, X is real G D P, and Y is price level. Line S R A S sub 1 shifts right and becomes S R A S sub 2.</a:t>
                      </a:r>
                      <a:endParaRPr sz="100" u="none" strike="noStrike" cap="none" baseline="0" dirty="0">
                        <a:solidFill>
                          <a:schemeClr val="tx1"/>
                        </a:solidFill>
                        <a:latin typeface="+mn-lt"/>
                        <a:ea typeface="Arial"/>
                        <a:cs typeface="Arial"/>
                        <a:sym typeface="Arial"/>
                      </a:endParaRPr>
                    </a:p>
                  </a:txBody>
                  <a:tcPr marL="45725" marR="468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baseline="0" dirty="0">
                          <a:latin typeface="+mn-lt"/>
                          <a:ea typeface="Arial"/>
                          <a:cs typeface="Arial"/>
                          <a:sym typeface="Arial"/>
                        </a:rPr>
                        <a:t>more output can be produced at every price level.</a:t>
                      </a:r>
                      <a:endParaRPr sz="1600" u="none" strike="noStrike" cap="none" baseline="0" dirty="0">
                        <a:latin typeface="+mn-lt"/>
                        <a:ea typeface="Arial"/>
                        <a:cs typeface="Arial"/>
                        <a:sym typeface="Arial"/>
                      </a:endParaRPr>
                    </a:p>
                  </a:txBody>
                  <a:tcPr marL="45725" marR="46800" marT="46800" marB="46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49307646"/>
                  </a:ext>
                </a:extLst>
              </a:tr>
              <a:tr h="1045029">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baseline="0" dirty="0">
                          <a:latin typeface="+mn-lt"/>
                          <a:ea typeface="Arial"/>
                          <a:cs typeface="Arial"/>
                          <a:sym typeface="Arial"/>
                        </a:rPr>
                        <a:t>productivity</a:t>
                      </a:r>
                      <a:endParaRPr sz="1600" u="none" strike="noStrike" cap="none" baseline="0" dirty="0">
                        <a:latin typeface="+mn-lt"/>
                        <a:ea typeface="Arial"/>
                        <a:cs typeface="Arial"/>
                        <a:sym typeface="Arial"/>
                      </a:endParaRPr>
                    </a:p>
                  </a:txBody>
                  <a:tcPr marL="45725" marR="46800" marT="46800" marB="46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00" u="none" strike="noStrike" cap="none" baseline="0" dirty="0">
                          <a:solidFill>
                            <a:schemeClr val="tx1"/>
                          </a:solidFill>
                          <a:latin typeface="+mn-lt"/>
                          <a:ea typeface="Arial"/>
                          <a:cs typeface="Arial"/>
                          <a:sym typeface="Arial"/>
                        </a:rPr>
                        <a:t>On a graph, X is real G D P, and Y is price level. Line S R A S sub 1 shifts right and becomes S R A S sub 2.</a:t>
                      </a:r>
                      <a:endParaRPr sz="100" u="none" strike="noStrike" cap="none" baseline="0" dirty="0">
                        <a:solidFill>
                          <a:schemeClr val="tx1"/>
                        </a:solidFill>
                        <a:latin typeface="+mn-lt"/>
                        <a:ea typeface="Arial"/>
                        <a:cs typeface="Arial"/>
                        <a:sym typeface="Arial"/>
                      </a:endParaRPr>
                    </a:p>
                  </a:txBody>
                  <a:tcPr marL="45725" marR="468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baseline="0" dirty="0">
                          <a:latin typeface="+mn-lt"/>
                          <a:ea typeface="Arial"/>
                          <a:cs typeface="Arial"/>
                          <a:sym typeface="Arial"/>
                        </a:rPr>
                        <a:t>costs of producing output fall.</a:t>
                      </a:r>
                      <a:endParaRPr sz="1600" u="none" strike="noStrike" cap="none" baseline="0" dirty="0">
                        <a:latin typeface="+mn-lt"/>
                        <a:ea typeface="Arial"/>
                        <a:cs typeface="Arial"/>
                        <a:sym typeface="Arial"/>
                      </a:endParaRPr>
                    </a:p>
                  </a:txBody>
                  <a:tcPr marL="45725" marR="46800" marT="46800" marB="46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5852657"/>
                  </a:ext>
                </a:extLst>
              </a:tr>
            </a:tbl>
          </a:graphicData>
        </a:graphic>
      </p:graphicFrame>
      <p:pic>
        <p:nvPicPr>
          <p:cNvPr id="16" name="Picture 15">
            <a:extLst>
              <a:ext uri="{FF2B5EF4-FFF2-40B4-BE49-F238E27FC236}">
                <a16:creationId xmlns:a16="http://schemas.microsoft.com/office/drawing/2014/main" id="{6014489C-9886-0DCE-E5F3-FC8A4A0895A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572959" y="2194183"/>
            <a:ext cx="1583663" cy="920852"/>
          </a:xfrm>
          <a:prstGeom prst="rect">
            <a:avLst/>
          </a:prstGeom>
          <a:solidFill>
            <a:schemeClr val="bg1"/>
          </a:solidFill>
        </p:spPr>
      </p:pic>
      <p:pic>
        <p:nvPicPr>
          <p:cNvPr id="17" name="Picture 16">
            <a:extLst>
              <a:ext uri="{FF2B5EF4-FFF2-40B4-BE49-F238E27FC236}">
                <a16:creationId xmlns:a16="http://schemas.microsoft.com/office/drawing/2014/main" id="{D98B6775-FA8B-B7A0-CEB0-0BF09B1122A1}"/>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557016" y="3249797"/>
            <a:ext cx="1563882" cy="912265"/>
          </a:xfrm>
          <a:prstGeom prst="rect">
            <a:avLst/>
          </a:prstGeom>
          <a:solidFill>
            <a:schemeClr val="bg1"/>
          </a:solidFill>
        </p:spPr>
      </p:pic>
      <p:sp>
        <p:nvSpPr>
          <p:cNvPr id="18" name="Content Placeholder 4">
            <a:extLst>
              <a:ext uri="{FF2B5EF4-FFF2-40B4-BE49-F238E27FC236}">
                <a16:creationId xmlns:a16="http://schemas.microsoft.com/office/drawing/2014/main" id="{CA4BDD5F-F236-1AE9-047E-D0DD364A8CA6}"/>
              </a:ext>
            </a:extLst>
          </p:cNvPr>
          <p:cNvSpPr txBox="1">
            <a:spLocks/>
          </p:cNvSpPr>
          <p:nvPr/>
        </p:nvSpPr>
        <p:spPr>
          <a:xfrm>
            <a:off x="457200" y="4364180"/>
            <a:ext cx="8232128" cy="1175659"/>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432" indent="0">
              <a:buFont typeface="Arial" panose="020B0604020202020204" pitchFamily="34" charset="0"/>
              <a:buNone/>
            </a:pPr>
            <a:r>
              <a:rPr lang="en-US" sz="1800" dirty="0"/>
              <a:t>An increase in the </a:t>
            </a:r>
            <a:r>
              <a:rPr lang="en-US" sz="1800" b="1" dirty="0"/>
              <a:t>availability of the factors of production,</a:t>
            </a:r>
            <a:r>
              <a:rPr lang="en-US" sz="1800" dirty="0"/>
              <a:t> i.e. </a:t>
            </a:r>
            <a:r>
              <a:rPr lang="en-US" sz="1800" dirty="0" err="1"/>
              <a:t>labour</a:t>
            </a:r>
            <a:r>
              <a:rPr lang="en-US" sz="1800" dirty="0"/>
              <a:t> and capital, allows more production at any price level.</a:t>
            </a:r>
          </a:p>
          <a:p>
            <a:r>
              <a:rPr lang="en-US" sz="1800" dirty="0"/>
              <a:t>A decrease in the availability of these factors decreases </a:t>
            </a:r>
            <a:r>
              <a:rPr lang="en-US" sz="1800" i="1" dirty="0"/>
              <a:t>S</a:t>
            </a:r>
            <a:r>
              <a:rPr lang="en-US" sz="100" i="1" dirty="0"/>
              <a:t> </a:t>
            </a:r>
            <a:r>
              <a:rPr lang="en-US" sz="1800" i="1" dirty="0"/>
              <a:t>R</a:t>
            </a:r>
            <a:r>
              <a:rPr lang="en-US" sz="100" i="1" dirty="0"/>
              <a:t> </a:t>
            </a:r>
            <a:r>
              <a:rPr lang="en-US" sz="1800" i="1" dirty="0"/>
              <a:t>A</a:t>
            </a:r>
            <a:r>
              <a:rPr lang="en-US" sz="100" i="1" dirty="0"/>
              <a:t> </a:t>
            </a:r>
            <a:r>
              <a:rPr lang="en-US" sz="1800" i="1" dirty="0"/>
              <a:t>S</a:t>
            </a:r>
            <a:r>
              <a:rPr lang="en-US" sz="1800" dirty="0"/>
              <a:t>.</a:t>
            </a:r>
            <a:endParaRPr lang="en-IN" sz="1800" dirty="0"/>
          </a:p>
        </p:txBody>
      </p:sp>
      <p:sp>
        <p:nvSpPr>
          <p:cNvPr id="19" name="Content Placeholder 5">
            <a:extLst>
              <a:ext uri="{FF2B5EF4-FFF2-40B4-BE49-F238E27FC236}">
                <a16:creationId xmlns:a16="http://schemas.microsoft.com/office/drawing/2014/main" id="{9E72B7BA-D915-EDF0-B627-2B979D994A42}"/>
              </a:ext>
            </a:extLst>
          </p:cNvPr>
          <p:cNvSpPr txBox="1">
            <a:spLocks/>
          </p:cNvSpPr>
          <p:nvPr/>
        </p:nvSpPr>
        <p:spPr>
          <a:xfrm>
            <a:off x="457200" y="5611093"/>
            <a:ext cx="8232128" cy="637308"/>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432" indent="0">
              <a:buFont typeface="Arial" panose="020B0604020202020204" pitchFamily="34" charset="0"/>
              <a:buNone/>
            </a:pPr>
            <a:r>
              <a:rPr lang="en-US" sz="1800" b="1" dirty="0"/>
              <a:t>Improvements in technology</a:t>
            </a:r>
            <a:r>
              <a:rPr lang="en-US" sz="1800" dirty="0"/>
              <a:t> allow productivity to improve, and hence the level of production at any given price level.</a:t>
            </a:r>
          </a:p>
        </p:txBody>
      </p:sp>
    </p:spTree>
    <p:extLst>
      <p:ext uri="{BB962C8B-B14F-4D97-AF65-F5344CB8AC3E}">
        <p14:creationId xmlns:p14="http://schemas.microsoft.com/office/powerpoint/2010/main" val="2315448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62C30FB4-15AF-0516-3C89-C4F715CB5DF9}"/>
              </a:ext>
            </a:extLst>
          </p:cNvPr>
          <p:cNvSpPr>
            <a:spLocks noGrp="1"/>
          </p:cNvSpPr>
          <p:nvPr>
            <p:ph type="title"/>
          </p:nvPr>
        </p:nvSpPr>
        <p:spPr>
          <a:xfrm>
            <a:off x="457200" y="215371"/>
            <a:ext cx="8232128" cy="1097279"/>
          </a:xfrm>
        </p:spPr>
        <p:txBody>
          <a:bodyPr/>
          <a:lstStyle/>
          <a:p>
            <a:r>
              <a:rPr lang="en-US" dirty="0">
                <a:latin typeface="+mj-lt"/>
              </a:rPr>
              <a:t>Table 9.2 Variables That Shift the Short-Run Aggregate Supply Curve</a:t>
            </a:r>
            <a:r>
              <a:rPr lang="en-US" sz="2000" dirty="0">
                <a:latin typeface="+mj-lt"/>
              </a:rPr>
              <a:t> </a:t>
            </a:r>
            <a:r>
              <a:rPr lang="en-US" sz="2000" b="0" dirty="0">
                <a:latin typeface="+mj-lt"/>
              </a:rPr>
              <a:t>(2 of 3)</a:t>
            </a:r>
            <a:endParaRPr lang="en-IN" sz="2000" dirty="0">
              <a:latin typeface="+mj-lt"/>
            </a:endParaRPr>
          </a:p>
        </p:txBody>
      </p:sp>
      <p:graphicFrame>
        <p:nvGraphicFramePr>
          <p:cNvPr id="20" name="Content Placeholder 7">
            <a:extLst>
              <a:ext uri="{FF2B5EF4-FFF2-40B4-BE49-F238E27FC236}">
                <a16:creationId xmlns:a16="http://schemas.microsoft.com/office/drawing/2014/main" id="{9BA2A440-EA6B-1952-26B8-85C499851A73}"/>
              </a:ext>
            </a:extLst>
          </p:cNvPr>
          <p:cNvGraphicFramePr>
            <a:graphicFrameLocks/>
          </p:cNvGraphicFramePr>
          <p:nvPr>
            <p:extLst>
              <p:ext uri="{D42A27DB-BD31-4B8C-83A1-F6EECF244321}">
                <p14:modId xmlns:p14="http://schemas.microsoft.com/office/powerpoint/2010/main" val="2542778237"/>
              </p:ext>
            </p:extLst>
          </p:nvPr>
        </p:nvGraphicFramePr>
        <p:xfrm>
          <a:off x="457200" y="1552575"/>
          <a:ext cx="8232777" cy="2719200"/>
        </p:xfrm>
        <a:graphic>
          <a:graphicData uri="http://schemas.openxmlformats.org/drawingml/2006/table">
            <a:tbl>
              <a:tblPr firstRow="1" bandRow="1">
                <a:tableStyleId>{2D5ABB26-0587-4C30-8999-92F81FD0307C}</a:tableStyleId>
              </a:tblPr>
              <a:tblGrid>
                <a:gridCol w="2744259">
                  <a:extLst>
                    <a:ext uri="{9D8B030D-6E8A-4147-A177-3AD203B41FA5}">
                      <a16:colId xmlns:a16="http://schemas.microsoft.com/office/drawing/2014/main" val="3311012574"/>
                    </a:ext>
                  </a:extLst>
                </a:gridCol>
                <a:gridCol w="2744259">
                  <a:extLst>
                    <a:ext uri="{9D8B030D-6E8A-4147-A177-3AD203B41FA5}">
                      <a16:colId xmlns:a16="http://schemas.microsoft.com/office/drawing/2014/main" val="3431540097"/>
                    </a:ext>
                  </a:extLst>
                </a:gridCol>
                <a:gridCol w="2744259">
                  <a:extLst>
                    <a:ext uri="{9D8B030D-6E8A-4147-A177-3AD203B41FA5}">
                      <a16:colId xmlns:a16="http://schemas.microsoft.com/office/drawing/2014/main" val="976083377"/>
                    </a:ext>
                  </a:extLst>
                </a:gridCol>
              </a:tblGrid>
              <a:tr h="370840">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baseline="0" dirty="0">
                          <a:latin typeface="+mn-lt"/>
                          <a:ea typeface="Arial"/>
                          <a:cs typeface="Arial"/>
                          <a:sym typeface="Arial"/>
                        </a:rPr>
                        <a:t>An increase in …</a:t>
                      </a:r>
                      <a:endParaRPr sz="1600" u="none" strike="noStrike" cap="none" baseline="0" dirty="0">
                        <a:latin typeface="+mn-lt"/>
                        <a:ea typeface="Arial"/>
                        <a:cs typeface="Arial"/>
                        <a:sym typeface="Arial"/>
                      </a:endParaRPr>
                    </a:p>
                  </a:txBody>
                  <a:tcPr marL="45725" marR="46800" marT="46800" marB="468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baseline="0" dirty="0">
                          <a:latin typeface="+mn-lt"/>
                          <a:ea typeface="Arial"/>
                          <a:cs typeface="Arial"/>
                          <a:sym typeface="Arial"/>
                        </a:rPr>
                        <a:t>shifts the short-run aggregate supply curve …</a:t>
                      </a:r>
                      <a:endParaRPr sz="1600" u="none" strike="noStrike" cap="none" baseline="0" dirty="0">
                        <a:latin typeface="+mn-lt"/>
                        <a:ea typeface="Arial"/>
                        <a:cs typeface="Arial"/>
                        <a:sym typeface="Arial"/>
                      </a:endParaRPr>
                    </a:p>
                  </a:txBody>
                  <a:tcPr marL="45725" marR="468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baseline="0" dirty="0">
                          <a:latin typeface="+mn-lt"/>
                          <a:ea typeface="Arial"/>
                          <a:cs typeface="Arial"/>
                          <a:sym typeface="Arial"/>
                        </a:rPr>
                        <a:t>because …</a:t>
                      </a:r>
                      <a:endParaRPr sz="1600" u="none" strike="noStrike" cap="none" baseline="0" dirty="0">
                        <a:latin typeface="+mn-lt"/>
                        <a:ea typeface="Arial"/>
                        <a:cs typeface="Arial"/>
                        <a:sym typeface="Arial"/>
                      </a:endParaRPr>
                    </a:p>
                  </a:txBody>
                  <a:tcPr marL="45725" marR="46800" marT="46800" marB="468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8596888"/>
                  </a:ext>
                </a:extLst>
              </a:tr>
              <a:tr h="703705">
                <a:tc>
                  <a:txBody>
                    <a:bodyPr/>
                    <a:lstStyle/>
                    <a:p>
                      <a:pPr marL="0" marR="0" lvl="0" indent="0" algn="l" rtl="0">
                        <a:lnSpc>
                          <a:spcPct val="100000"/>
                        </a:lnSpc>
                        <a:spcBef>
                          <a:spcPts val="0"/>
                        </a:spcBef>
                        <a:spcAft>
                          <a:spcPts val="0"/>
                        </a:spcAft>
                        <a:buClr>
                          <a:srgbClr val="000000"/>
                        </a:buClr>
                        <a:buSzPts val="1800"/>
                        <a:buFont typeface="Arial"/>
                        <a:buNone/>
                      </a:pPr>
                      <a:r>
                        <a:rPr lang="en-US" sz="1600" b="0" u="none" strike="noStrike" cap="none" baseline="0" dirty="0">
                          <a:latin typeface="+mn-lt"/>
                          <a:ea typeface="Arial"/>
                          <a:cs typeface="Arial"/>
                          <a:sym typeface="Arial"/>
                        </a:rPr>
                        <a:t>the expected future price level</a:t>
                      </a:r>
                      <a:endParaRPr sz="1600" b="0" u="none" strike="noStrike" cap="none" baseline="0" dirty="0">
                        <a:latin typeface="+mn-lt"/>
                        <a:ea typeface="Arial"/>
                        <a:cs typeface="Arial"/>
                        <a:sym typeface="Arial"/>
                      </a:endParaRPr>
                    </a:p>
                  </a:txBody>
                  <a:tcPr marL="45725" marR="46800" marT="46800" marB="46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00" b="0" u="none" strike="noStrike" cap="none" baseline="0" dirty="0">
                          <a:solidFill>
                            <a:schemeClr val="tx1"/>
                          </a:solidFill>
                          <a:latin typeface="+mn-lt"/>
                          <a:ea typeface="Arial"/>
                          <a:cs typeface="Arial"/>
                          <a:sym typeface="Arial"/>
                        </a:rPr>
                        <a:t>On a graph, X is real G D P, and Y is price level. Line S R A S sub 1 shifts left and becomes S R A S sub 2.</a:t>
                      </a:r>
                      <a:endParaRPr sz="100" b="0" u="none" strike="noStrike" cap="none" baseline="0" dirty="0">
                        <a:solidFill>
                          <a:schemeClr val="tx1"/>
                        </a:solidFill>
                        <a:latin typeface="+mn-lt"/>
                        <a:ea typeface="Arial"/>
                        <a:cs typeface="Arial"/>
                        <a:sym typeface="Arial"/>
                      </a:endParaRPr>
                    </a:p>
                  </a:txBody>
                  <a:tcPr marL="45725" marR="468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0" i="0" u="none" strike="noStrike" cap="none" baseline="0" dirty="0">
                          <a:solidFill>
                            <a:schemeClr val="tx1"/>
                          </a:solidFill>
                          <a:latin typeface="+mn-lt"/>
                          <a:ea typeface="+mn-ea"/>
                          <a:cs typeface="+mn-cs"/>
                          <a:sym typeface="Arial"/>
                        </a:rPr>
                        <a:t>workers and firms increase wages and prices.</a:t>
                      </a:r>
                    </a:p>
                    <a:p>
                      <a:endParaRPr lang="en-IN" sz="1600" b="0" i="0" u="none" strike="noStrike" cap="none" baseline="0" dirty="0">
                        <a:solidFill>
                          <a:schemeClr val="tx1"/>
                        </a:solidFill>
                        <a:latin typeface="+mn-lt"/>
                        <a:ea typeface="+mn-ea"/>
                        <a:cs typeface="+mn-cs"/>
                        <a:sym typeface="Arial"/>
                      </a:endParaRPr>
                    </a:p>
                    <a:p>
                      <a:endParaRPr sz="1600" b="0" u="none" strike="noStrike" cap="none" baseline="0" dirty="0">
                        <a:latin typeface="+mn-lt"/>
                        <a:ea typeface="Arial"/>
                        <a:cs typeface="Arial"/>
                        <a:sym typeface="Arial"/>
                      </a:endParaRPr>
                    </a:p>
                  </a:txBody>
                  <a:tcPr marL="45725" marR="46800" marT="46800" marB="46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0066045"/>
                  </a:ext>
                </a:extLst>
              </a:tr>
              <a:tr h="370840">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baseline="0" dirty="0">
                          <a:latin typeface="+mn-lt"/>
                          <a:ea typeface="Arial"/>
                          <a:cs typeface="Arial"/>
                          <a:sym typeface="Arial"/>
                        </a:rPr>
                        <a:t>The rate at which workers and firms adjust to under-estimating past price level increases</a:t>
                      </a:r>
                      <a:endParaRPr sz="1600" u="none" strike="noStrike" cap="none" baseline="0" dirty="0">
                        <a:latin typeface="+mn-lt"/>
                        <a:ea typeface="Arial"/>
                        <a:cs typeface="Arial"/>
                        <a:sym typeface="Arial"/>
                      </a:endParaRPr>
                    </a:p>
                  </a:txBody>
                  <a:tcPr marL="45725" marR="46800" marT="46800" marB="46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00" u="none" strike="noStrike" cap="none" baseline="0" dirty="0">
                          <a:solidFill>
                            <a:schemeClr val="tx1"/>
                          </a:solidFill>
                          <a:latin typeface="+mn-lt"/>
                          <a:ea typeface="Arial"/>
                          <a:cs typeface="Arial"/>
                          <a:sym typeface="Arial"/>
                        </a:rPr>
                        <a:t>On a graph, X is real G D P, and Y is price level. Line S R A S sub 1 shifts left and becomes S R A S sub 2.</a:t>
                      </a:r>
                      <a:endParaRPr sz="100" u="none" strike="noStrike" cap="none" baseline="0" dirty="0">
                        <a:solidFill>
                          <a:schemeClr val="tx1"/>
                        </a:solidFill>
                        <a:latin typeface="+mn-lt"/>
                        <a:ea typeface="Arial"/>
                        <a:cs typeface="Arial"/>
                        <a:sym typeface="Arial"/>
                      </a:endParaRPr>
                    </a:p>
                  </a:txBody>
                  <a:tcPr marL="45725" marR="468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600" b="0" i="0" u="none" strike="noStrike" cap="none" baseline="0" dirty="0">
                          <a:solidFill>
                            <a:schemeClr val="tx1"/>
                          </a:solidFill>
                          <a:latin typeface="+mn-lt"/>
                          <a:ea typeface="+mn-ea"/>
                          <a:cs typeface="+mn-cs"/>
                          <a:sym typeface="Arial"/>
                        </a:rPr>
                        <a:t>workers and firms increase wages and prices.</a:t>
                      </a:r>
                    </a:p>
                  </a:txBody>
                  <a:tcPr marL="45725" marR="46800" marT="46800" marB="46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8686131"/>
                  </a:ext>
                </a:extLst>
              </a:tr>
            </a:tbl>
          </a:graphicData>
        </a:graphic>
      </p:graphicFrame>
      <p:pic>
        <p:nvPicPr>
          <p:cNvPr id="21" name="Picture 20">
            <a:extLst>
              <a:ext uri="{FF2B5EF4-FFF2-40B4-BE49-F238E27FC236}">
                <a16:creationId xmlns:a16="http://schemas.microsoft.com/office/drawing/2014/main" id="{48E8F322-F778-2616-3AD5-9AF0894CD1B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715495" y="2199425"/>
            <a:ext cx="1571172" cy="924485"/>
          </a:xfrm>
          <a:prstGeom prst="rect">
            <a:avLst/>
          </a:prstGeom>
          <a:solidFill>
            <a:schemeClr val="bg1"/>
          </a:solidFill>
        </p:spPr>
      </p:pic>
      <p:pic>
        <p:nvPicPr>
          <p:cNvPr id="23" name="Picture 22">
            <a:extLst>
              <a:ext uri="{FF2B5EF4-FFF2-40B4-BE49-F238E27FC236}">
                <a16:creationId xmlns:a16="http://schemas.microsoft.com/office/drawing/2014/main" id="{9D324359-82AD-07D0-68E0-87F7C52338FF}"/>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803157" y="3319857"/>
            <a:ext cx="1540214" cy="901805"/>
          </a:xfrm>
          <a:prstGeom prst="rect">
            <a:avLst/>
          </a:prstGeom>
          <a:solidFill>
            <a:schemeClr val="bg1"/>
          </a:solidFill>
        </p:spPr>
      </p:pic>
      <p:sp>
        <p:nvSpPr>
          <p:cNvPr id="24" name="Content Placeholder 4">
            <a:extLst>
              <a:ext uri="{FF2B5EF4-FFF2-40B4-BE49-F238E27FC236}">
                <a16:creationId xmlns:a16="http://schemas.microsoft.com/office/drawing/2014/main" id="{EFD4ABB0-F04F-D13A-7A53-961D9FD84152}"/>
              </a:ext>
            </a:extLst>
          </p:cNvPr>
          <p:cNvSpPr txBox="1">
            <a:spLocks/>
          </p:cNvSpPr>
          <p:nvPr/>
        </p:nvSpPr>
        <p:spPr>
          <a:xfrm>
            <a:off x="457200" y="4438130"/>
            <a:ext cx="8232128" cy="1851836"/>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9pPr>
          </a:lstStyle>
          <a:p>
            <a:pPr marL="432" indent="0">
              <a:buFont typeface="Arial" panose="020B0604020202020204" pitchFamily="34" charset="0"/>
              <a:buNone/>
            </a:pPr>
            <a:r>
              <a:rPr lang="en-US" sz="2000"/>
              <a:t>If workers and firms expect higher prices in the future, </a:t>
            </a:r>
            <a:r>
              <a:rPr lang="en-US" sz="2000" i="1"/>
              <a:t>S</a:t>
            </a:r>
            <a:r>
              <a:rPr lang="en-US" sz="100" i="1"/>
              <a:t> </a:t>
            </a:r>
            <a:r>
              <a:rPr lang="en-US" sz="2000" i="1"/>
              <a:t>R</a:t>
            </a:r>
            <a:r>
              <a:rPr lang="en-US" sz="100" i="1"/>
              <a:t> </a:t>
            </a:r>
            <a:r>
              <a:rPr lang="en-US" sz="2000" i="1"/>
              <a:t>A</a:t>
            </a:r>
            <a:r>
              <a:rPr lang="en-US" sz="100" i="1"/>
              <a:t> </a:t>
            </a:r>
            <a:r>
              <a:rPr lang="en-US" sz="2000" i="1"/>
              <a:t>S</a:t>
            </a:r>
            <a:r>
              <a:rPr lang="en-US" sz="2000"/>
              <a:t> shifts to the left. This could happen because:</a:t>
            </a:r>
          </a:p>
          <a:p>
            <a:pPr>
              <a:spcBef>
                <a:spcPts val="600"/>
              </a:spcBef>
            </a:pPr>
            <a:r>
              <a:rPr lang="en-US" sz="2000"/>
              <a:t>Inflation expectations increase or</a:t>
            </a:r>
          </a:p>
          <a:p>
            <a:pPr>
              <a:spcBef>
                <a:spcPts val="600"/>
              </a:spcBef>
            </a:pPr>
            <a:r>
              <a:rPr lang="en-US" sz="2000"/>
              <a:t>Workers and firms realize they previously underestimated the price level.</a:t>
            </a:r>
            <a:endParaRPr lang="en-US" sz="2000" dirty="0"/>
          </a:p>
        </p:txBody>
      </p:sp>
    </p:spTree>
    <p:extLst>
      <p:ext uri="{BB962C8B-B14F-4D97-AF65-F5344CB8AC3E}">
        <p14:creationId xmlns:p14="http://schemas.microsoft.com/office/powerpoint/2010/main" val="38590896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690CB029-F4D0-F12B-F633-986DB331E0D3}"/>
              </a:ext>
            </a:extLst>
          </p:cNvPr>
          <p:cNvSpPr>
            <a:spLocks noGrp="1"/>
          </p:cNvSpPr>
          <p:nvPr>
            <p:ph type="title"/>
          </p:nvPr>
        </p:nvSpPr>
        <p:spPr>
          <a:xfrm>
            <a:off x="457200" y="215371"/>
            <a:ext cx="8331200" cy="1097279"/>
          </a:xfrm>
        </p:spPr>
        <p:txBody>
          <a:bodyPr/>
          <a:lstStyle/>
          <a:p>
            <a:r>
              <a:rPr lang="en-US" dirty="0">
                <a:latin typeface="+mj-lt"/>
              </a:rPr>
              <a:t>Table 9.2 Variables That Shift the Short-Run Aggregate Supply Curve</a:t>
            </a:r>
            <a:r>
              <a:rPr lang="en-US" sz="2000" dirty="0">
                <a:latin typeface="+mj-lt"/>
              </a:rPr>
              <a:t> </a:t>
            </a:r>
            <a:r>
              <a:rPr lang="en-US" sz="2000" b="0" dirty="0">
                <a:latin typeface="+mj-lt"/>
              </a:rPr>
              <a:t>(3 of 3)</a:t>
            </a:r>
            <a:endParaRPr lang="en-IN" sz="2000" dirty="0">
              <a:latin typeface="+mj-lt"/>
            </a:endParaRPr>
          </a:p>
        </p:txBody>
      </p:sp>
      <p:graphicFrame>
        <p:nvGraphicFramePr>
          <p:cNvPr id="15" name="Content Placeholder 5">
            <a:extLst>
              <a:ext uri="{FF2B5EF4-FFF2-40B4-BE49-F238E27FC236}">
                <a16:creationId xmlns:a16="http://schemas.microsoft.com/office/drawing/2014/main" id="{F8BA2722-648F-AAEE-2C41-4C8C0E86DD2C}"/>
              </a:ext>
            </a:extLst>
          </p:cNvPr>
          <p:cNvGraphicFramePr>
            <a:graphicFrameLocks/>
          </p:cNvGraphicFramePr>
          <p:nvPr>
            <p:extLst>
              <p:ext uri="{D42A27DB-BD31-4B8C-83A1-F6EECF244321}">
                <p14:modId xmlns:p14="http://schemas.microsoft.com/office/powerpoint/2010/main" val="481239850"/>
              </p:ext>
            </p:extLst>
          </p:nvPr>
        </p:nvGraphicFramePr>
        <p:xfrm>
          <a:off x="558800" y="1555750"/>
          <a:ext cx="8229600" cy="2025650"/>
        </p:xfrm>
        <a:graphic>
          <a:graphicData uri="http://schemas.openxmlformats.org/drawingml/2006/table">
            <a:tbl>
              <a:tblPr firstRow="1" bandRow="1"/>
              <a:tblGrid>
                <a:gridCol w="2578100">
                  <a:extLst>
                    <a:ext uri="{9D8B030D-6E8A-4147-A177-3AD203B41FA5}">
                      <a16:colId xmlns:a16="http://schemas.microsoft.com/office/drawing/2014/main" val="3428231214"/>
                    </a:ext>
                  </a:extLst>
                </a:gridCol>
                <a:gridCol w="2908300">
                  <a:extLst>
                    <a:ext uri="{9D8B030D-6E8A-4147-A177-3AD203B41FA5}">
                      <a16:colId xmlns:a16="http://schemas.microsoft.com/office/drawing/2014/main" val="1899436278"/>
                    </a:ext>
                  </a:extLst>
                </a:gridCol>
                <a:gridCol w="2743200">
                  <a:extLst>
                    <a:ext uri="{9D8B030D-6E8A-4147-A177-3AD203B41FA5}">
                      <a16:colId xmlns:a16="http://schemas.microsoft.com/office/drawing/2014/main" val="175305484"/>
                    </a:ext>
                  </a:extLst>
                </a:gridCol>
              </a:tblGrid>
              <a:tr h="628650">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baseline="0" dirty="0">
                          <a:latin typeface="+mn-lt"/>
                          <a:ea typeface="Arial"/>
                          <a:cs typeface="Arial"/>
                          <a:sym typeface="Arial"/>
                        </a:rPr>
                        <a:t>An increase in …</a:t>
                      </a:r>
                      <a:endParaRPr sz="1600" u="none" strike="noStrike" cap="none" baseline="0" dirty="0">
                        <a:latin typeface="+mn-lt"/>
                        <a:ea typeface="Arial"/>
                        <a:cs typeface="Arial"/>
                        <a:sym typeface="Arial"/>
                      </a:endParaRPr>
                    </a:p>
                  </a:txBody>
                  <a:tcPr marL="45725" marR="46800" marT="46800" marB="468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baseline="0" dirty="0">
                          <a:latin typeface="+mn-lt"/>
                          <a:ea typeface="Arial"/>
                          <a:cs typeface="Arial"/>
                          <a:sym typeface="Arial"/>
                        </a:rPr>
                        <a:t>shifts the short-run aggregate supply curve …</a:t>
                      </a:r>
                      <a:endParaRPr sz="1600" u="none" strike="noStrike" cap="none" baseline="0" dirty="0">
                        <a:latin typeface="+mn-lt"/>
                        <a:ea typeface="Arial"/>
                        <a:cs typeface="Arial"/>
                        <a:sym typeface="Arial"/>
                      </a:endParaRPr>
                    </a:p>
                  </a:txBody>
                  <a:tcPr marL="45725" marR="46800" marT="46800" marB="46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b="1" u="none" strike="noStrike" cap="none" baseline="0" dirty="0">
                          <a:latin typeface="+mn-lt"/>
                          <a:ea typeface="Arial"/>
                          <a:cs typeface="Arial"/>
                          <a:sym typeface="Arial"/>
                        </a:rPr>
                        <a:t>because …</a:t>
                      </a:r>
                      <a:endParaRPr sz="1600" u="none" strike="noStrike" cap="none" baseline="0" dirty="0">
                        <a:latin typeface="+mn-lt"/>
                        <a:ea typeface="Arial"/>
                        <a:cs typeface="Arial"/>
                        <a:sym typeface="Arial"/>
                      </a:endParaRPr>
                    </a:p>
                  </a:txBody>
                  <a:tcPr marL="45725" marR="46800" marT="46800" marB="4680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4630006"/>
                  </a:ext>
                </a:extLst>
              </a:tr>
              <a:tr h="1397000">
                <a:tc>
                  <a:txBody>
                    <a:bodyPr/>
                    <a:lstStyle/>
                    <a:p>
                      <a:r>
                        <a:rPr lang="en-IN" sz="1600" dirty="0">
                          <a:latin typeface="+mn-lt"/>
                        </a:rPr>
                        <a:t>the expected price of a key natural resource</a:t>
                      </a:r>
                      <a:endParaRPr lang="en-US" sz="16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 b="0" i="0" u="none" strike="noStrike" cap="none" baseline="0" dirty="0">
                          <a:solidFill>
                            <a:schemeClr val="tx1"/>
                          </a:solidFill>
                          <a:latin typeface="+mn-lt"/>
                          <a:ea typeface="Arial"/>
                          <a:cs typeface="Arial"/>
                          <a:sym typeface="Arial"/>
                        </a:rPr>
                        <a:t>On a graph, X is real G D P, and Y is price level. Line S R A S sub 1 shifts left and becomes S R A S sub 2.</a:t>
                      </a:r>
                      <a:endParaRPr lang="en-US" sz="10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600" dirty="0">
                          <a:latin typeface="+mn-lt"/>
                        </a:rPr>
                        <a:t>costs of production rise.</a:t>
                      </a:r>
                      <a:endParaRPr lang="en-US" sz="160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3863137"/>
                  </a:ext>
                </a:extLst>
              </a:tr>
            </a:tbl>
          </a:graphicData>
        </a:graphic>
      </p:graphicFrame>
      <p:pic>
        <p:nvPicPr>
          <p:cNvPr id="16" name="Picture 15">
            <a:extLst>
              <a:ext uri="{FF2B5EF4-FFF2-40B4-BE49-F238E27FC236}">
                <a16:creationId xmlns:a16="http://schemas.microsoft.com/office/drawing/2014/main" id="{7B9D8523-48BC-4E57-4D1B-35FF576827D5}"/>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0167" y="2239672"/>
            <a:ext cx="1945866" cy="1273836"/>
          </a:xfrm>
          <a:prstGeom prst="rect">
            <a:avLst/>
          </a:prstGeom>
        </p:spPr>
      </p:pic>
      <p:sp>
        <p:nvSpPr>
          <p:cNvPr id="17" name="Content Placeholder 4">
            <a:extLst>
              <a:ext uri="{FF2B5EF4-FFF2-40B4-BE49-F238E27FC236}">
                <a16:creationId xmlns:a16="http://schemas.microsoft.com/office/drawing/2014/main" id="{270F6843-024F-C424-84B5-C646936D5BED}"/>
              </a:ext>
            </a:extLst>
          </p:cNvPr>
          <p:cNvSpPr txBox="1">
            <a:spLocks/>
          </p:cNvSpPr>
          <p:nvPr/>
        </p:nvSpPr>
        <p:spPr>
          <a:xfrm>
            <a:off x="457200" y="3683084"/>
            <a:ext cx="8547100" cy="2654216"/>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432" indent="0">
              <a:spcBef>
                <a:spcPts val="600"/>
              </a:spcBef>
              <a:buFont typeface="Arial" panose="020B0604020202020204" pitchFamily="34" charset="0"/>
              <a:buNone/>
            </a:pPr>
            <a:r>
              <a:rPr lang="en-US" sz="2000" dirty="0"/>
              <a:t>A </a:t>
            </a:r>
            <a:r>
              <a:rPr lang="en-US" sz="2000" b="1" dirty="0"/>
              <a:t>supply shock</a:t>
            </a:r>
            <a:r>
              <a:rPr lang="en-US" sz="2000" dirty="0"/>
              <a:t> is an unexpected event that causes the short-run aggregate supply curve to shift.</a:t>
            </a:r>
          </a:p>
          <a:p>
            <a:pPr marL="432" indent="0">
              <a:spcBef>
                <a:spcPts val="600"/>
              </a:spcBef>
              <a:buFont typeface="Arial" panose="020B0604020202020204" pitchFamily="34" charset="0"/>
              <a:buNone/>
            </a:pPr>
            <a:r>
              <a:rPr lang="en-US" sz="2000" b="1" dirty="0"/>
              <a:t>Examples: </a:t>
            </a:r>
            <a:r>
              <a:rPr lang="en-US" sz="2000" dirty="0"/>
              <a:t>Oil prices increase suddenly. Firms immediately anticipate rising input prices and will only produce the same amount of output if their own prices rise. The pandemic shutdown closed businesses and reduced supply in 2020.</a:t>
            </a:r>
          </a:p>
          <a:p>
            <a:pPr marL="432" indent="0">
              <a:spcBef>
                <a:spcPts val="600"/>
              </a:spcBef>
              <a:buFont typeface="Arial" panose="020B0604020202020204" pitchFamily="34" charset="0"/>
              <a:buNone/>
            </a:pPr>
            <a:r>
              <a:rPr lang="en-US" sz="2000" dirty="0"/>
              <a:t>Unexpected input price increases cause a decrease in the </a:t>
            </a:r>
            <a:r>
              <a:rPr lang="en-US" sz="2000" i="1" dirty="0"/>
              <a:t>S</a:t>
            </a:r>
            <a:r>
              <a:rPr lang="en-US" sz="100" i="1" dirty="0"/>
              <a:t> </a:t>
            </a:r>
            <a:r>
              <a:rPr lang="en-US" sz="2000" i="1" dirty="0"/>
              <a:t>R</a:t>
            </a:r>
            <a:r>
              <a:rPr lang="en-US" sz="100" i="1" dirty="0"/>
              <a:t> </a:t>
            </a:r>
            <a:r>
              <a:rPr lang="en-US" sz="2000" i="1" dirty="0"/>
              <a:t>A</a:t>
            </a:r>
            <a:r>
              <a:rPr lang="en-US" sz="100" i="1" dirty="0"/>
              <a:t> </a:t>
            </a:r>
            <a:r>
              <a:rPr lang="en-US" sz="2000" i="1" dirty="0"/>
              <a:t>S</a:t>
            </a:r>
            <a:r>
              <a:rPr lang="en-US" sz="2000" dirty="0"/>
              <a:t>; unexpected input price </a:t>
            </a:r>
            <a:r>
              <a:rPr lang="en-US" sz="2000" b="1" dirty="0"/>
              <a:t>decreases</a:t>
            </a:r>
            <a:r>
              <a:rPr lang="en-US" sz="2000" dirty="0"/>
              <a:t> would shift </a:t>
            </a:r>
            <a:r>
              <a:rPr lang="en-US" sz="2000" i="1" dirty="0"/>
              <a:t>S</a:t>
            </a:r>
            <a:r>
              <a:rPr lang="en-US" sz="100" i="1" dirty="0"/>
              <a:t> </a:t>
            </a:r>
            <a:r>
              <a:rPr lang="en-US" sz="2000" i="1" dirty="0"/>
              <a:t>R</a:t>
            </a:r>
            <a:r>
              <a:rPr lang="en-US" sz="100" i="1" dirty="0"/>
              <a:t> </a:t>
            </a:r>
            <a:r>
              <a:rPr lang="en-US" sz="2000" i="1" dirty="0"/>
              <a:t>A</a:t>
            </a:r>
            <a:r>
              <a:rPr lang="en-US" sz="100" i="1" dirty="0"/>
              <a:t> </a:t>
            </a:r>
            <a:r>
              <a:rPr lang="en-US" sz="2000" i="1" dirty="0"/>
              <a:t>S</a:t>
            </a:r>
            <a:r>
              <a:rPr lang="en-US" sz="2000" dirty="0"/>
              <a:t> to the right instead.</a:t>
            </a:r>
          </a:p>
        </p:txBody>
      </p:sp>
    </p:spTree>
    <p:extLst>
      <p:ext uri="{BB962C8B-B14F-4D97-AF65-F5344CB8AC3E}">
        <p14:creationId xmlns:p14="http://schemas.microsoft.com/office/powerpoint/2010/main" val="26924168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1117672"/>
          </a:xfrm>
        </p:spPr>
        <p:txBody>
          <a:bodyPr/>
          <a:lstStyle/>
          <a:p>
            <a:r>
              <a:rPr lang="en-US" dirty="0">
                <a:latin typeface="+mj-lt"/>
              </a:rPr>
              <a:t>Macroeconomic Equilibrium in the Long Run and the Short Run</a:t>
            </a:r>
          </a:p>
        </p:txBody>
      </p:sp>
      <p:sp>
        <p:nvSpPr>
          <p:cNvPr id="5" name="Text Placeholder 4">
            <a:extLst>
              <a:ext uri="{FF2B5EF4-FFF2-40B4-BE49-F238E27FC236}">
                <a16:creationId xmlns:a16="http://schemas.microsoft.com/office/drawing/2014/main" id="{58FF3B4B-6EAF-7DE8-8494-B51539C9EF55}"/>
              </a:ext>
            </a:extLst>
          </p:cNvPr>
          <p:cNvSpPr>
            <a:spLocks noGrp="1"/>
          </p:cNvSpPr>
          <p:nvPr>
            <p:ph type="body" sz="quarter" idx="13"/>
          </p:nvPr>
        </p:nvSpPr>
        <p:spPr>
          <a:xfrm>
            <a:off x="457200" y="1417637"/>
            <a:ext cx="8229600" cy="402770"/>
          </a:xfrm>
        </p:spPr>
        <p:txBody>
          <a:bodyPr/>
          <a:lstStyle/>
          <a:p>
            <a:r>
              <a:rPr lang="en-US" sz="2400" b="1" dirty="0">
                <a:solidFill>
                  <a:schemeClr val="bg2"/>
                </a:solidFill>
              </a:rPr>
              <a:t>9.3 Learning Objective</a:t>
            </a:r>
          </a:p>
        </p:txBody>
      </p:sp>
      <p:sp>
        <p:nvSpPr>
          <p:cNvPr id="4" name="Content Placeholder 3"/>
          <p:cNvSpPr>
            <a:spLocks noGrp="1"/>
          </p:cNvSpPr>
          <p:nvPr>
            <p:ph sz="quarter" idx="14"/>
          </p:nvPr>
        </p:nvSpPr>
        <p:spPr>
          <a:xfrm>
            <a:off x="457200" y="1905000"/>
            <a:ext cx="8229600" cy="4221163"/>
          </a:xfrm>
        </p:spPr>
        <p:txBody>
          <a:bodyPr/>
          <a:lstStyle/>
          <a:p>
            <a:pPr marL="0" indent="0">
              <a:buNone/>
            </a:pPr>
            <a:r>
              <a:rPr lang="en-US" sz="2400" dirty="0"/>
              <a:t>Use the aggregate demand and aggregate supply model to illustrate the difference between short-run and long-run macroeconomic equilibrium.</a:t>
            </a:r>
          </a:p>
          <a:p>
            <a:pPr marL="432" indent="0">
              <a:buNone/>
            </a:pPr>
            <a:r>
              <a:rPr lang="en-US" sz="2400" dirty="0"/>
              <a:t>Now we are ready to introduce the long-run aggregate supply curve into our model.</a:t>
            </a:r>
          </a:p>
          <a:p>
            <a:r>
              <a:rPr lang="en-US" sz="2400" dirty="0"/>
              <a:t>Remember, the </a:t>
            </a:r>
            <a:r>
              <a:rPr lang="en-US" sz="2400" i="1" dirty="0"/>
              <a:t>LRAS</a:t>
            </a:r>
            <a:r>
              <a:rPr lang="en-US" sz="2400" dirty="0"/>
              <a:t> shows the level of potential, or full-employment, GDP.</a:t>
            </a:r>
          </a:p>
        </p:txBody>
      </p:sp>
    </p:spTree>
    <p:extLst>
      <p:ext uri="{BB962C8B-B14F-4D97-AF65-F5344CB8AC3E}">
        <p14:creationId xmlns:p14="http://schemas.microsoft.com/office/powerpoint/2010/main" val="7954761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1"/>
            <a:ext cx="8229600" cy="990600"/>
          </a:xfrm>
        </p:spPr>
        <p:txBody>
          <a:bodyPr/>
          <a:lstStyle/>
          <a:p>
            <a:r>
              <a:rPr lang="en-US" sz="3200" dirty="0">
                <a:latin typeface="+mj-lt"/>
              </a:rPr>
              <a:t>Figure 9.4 Long-Run Macroeconomic Equilibrium </a:t>
            </a:r>
            <a:endParaRPr lang="en-US" sz="3200" b="0" dirty="0">
              <a:latin typeface="+mj-lt"/>
            </a:endParaRPr>
          </a:p>
        </p:txBody>
      </p:sp>
      <p:sp>
        <p:nvSpPr>
          <p:cNvPr id="3" name="Content Placeholder 2"/>
          <p:cNvSpPr>
            <a:spLocks noGrp="1"/>
          </p:cNvSpPr>
          <p:nvPr>
            <p:ph idx="1"/>
          </p:nvPr>
        </p:nvSpPr>
        <p:spPr>
          <a:xfrm>
            <a:off x="457200" y="1219200"/>
            <a:ext cx="4114800" cy="2133600"/>
          </a:xfrm>
        </p:spPr>
        <p:txBody>
          <a:bodyPr/>
          <a:lstStyle/>
          <a:p>
            <a:pPr marL="0" indent="0">
              <a:spcAft>
                <a:spcPts val="0"/>
              </a:spcAft>
              <a:buNone/>
              <a:defRPr/>
            </a:pPr>
            <a:r>
              <a:rPr lang="en-US" sz="1800" dirty="0"/>
              <a:t>In the long run, we expect the economy to produce at the level of potential GDP—i.e., the LRAS level.</a:t>
            </a:r>
          </a:p>
          <a:p>
            <a:pPr marL="0" indent="0">
              <a:spcAft>
                <a:spcPts val="0"/>
              </a:spcAft>
              <a:buNone/>
              <a:defRPr/>
            </a:pPr>
            <a:r>
              <a:rPr lang="en-US" sz="1800" i="1" dirty="0"/>
              <a:t>So the long-run macroeconomic equilibrium occurs when the AD and SRAS curves intersect at the LRAS level</a:t>
            </a:r>
            <a:r>
              <a:rPr lang="en-US" sz="1800" dirty="0"/>
              <a:t>.</a:t>
            </a:r>
          </a:p>
        </p:txBody>
      </p:sp>
      <p:sp>
        <p:nvSpPr>
          <p:cNvPr id="4" name="Content Placeholder 3"/>
          <p:cNvSpPr>
            <a:spLocks noGrp="1"/>
          </p:cNvSpPr>
          <p:nvPr>
            <p:ph idx="13"/>
          </p:nvPr>
        </p:nvSpPr>
        <p:spPr>
          <a:xfrm>
            <a:off x="457200" y="3433760"/>
            <a:ext cx="4124325" cy="2738439"/>
          </a:xfrm>
        </p:spPr>
        <p:txBody>
          <a:bodyPr/>
          <a:lstStyle/>
          <a:p>
            <a:pPr marL="0" indent="0">
              <a:spcBef>
                <a:spcPts val="600"/>
              </a:spcBef>
              <a:spcAft>
                <a:spcPts val="0"/>
              </a:spcAft>
              <a:buNone/>
              <a:defRPr/>
            </a:pPr>
            <a:r>
              <a:rPr lang="en-US" sz="1800" dirty="0"/>
              <a:t>Our next task is to explain why long-run macroeconomic equilibrium cannot occur at any other level of output.</a:t>
            </a:r>
          </a:p>
          <a:p>
            <a:pPr marL="0" indent="0">
              <a:spcBef>
                <a:spcPts val="600"/>
              </a:spcBef>
              <a:spcAft>
                <a:spcPts val="0"/>
              </a:spcAft>
              <a:buNone/>
              <a:defRPr/>
            </a:pPr>
            <a:r>
              <a:rPr lang="en-US" sz="1800" i="1" dirty="0"/>
              <a:t>For simplicity, assume:</a:t>
            </a:r>
          </a:p>
          <a:p>
            <a:pPr marL="347472" indent="-347472">
              <a:spcBef>
                <a:spcPts val="600"/>
              </a:spcBef>
              <a:spcAft>
                <a:spcPts val="0"/>
              </a:spcAft>
              <a:buAutoNum type="arabicPeriod"/>
              <a:defRPr/>
            </a:pPr>
            <a:r>
              <a:rPr lang="en-US" sz="1800" i="1" dirty="0"/>
              <a:t>No inflation; the current and expected-future price level is 148.</a:t>
            </a:r>
          </a:p>
          <a:p>
            <a:pPr marL="347472" indent="-347472">
              <a:spcBef>
                <a:spcPts val="600"/>
              </a:spcBef>
              <a:spcAft>
                <a:spcPts val="0"/>
              </a:spcAft>
              <a:buAutoNum type="arabicPeriod"/>
              <a:defRPr/>
            </a:pPr>
            <a:r>
              <a:rPr lang="en-US" sz="1800" i="1" dirty="0"/>
              <a:t>No long-run growth; i.e. the LRAS curve is at $2.2 trillion and will be $2.2 trillion in future.</a:t>
            </a:r>
            <a:endParaRPr lang="en-US" sz="1800" dirty="0"/>
          </a:p>
        </p:txBody>
      </p:sp>
      <p:pic>
        <p:nvPicPr>
          <p:cNvPr id="6" name="Picture 5" descr="The line graph with the x-axis labeled real G D P in trillions of 2012 dollars and the y-axis labeled price level in C P I. A line labeled cap S R A S forms an upward slope and a line labeled cap A D forms a downward slope intersecting the line cap S R A S at a point (2.2, 148). A vertical line labeled L R A S originates at a point (2.2, 0) touching the point (2.2, 148).">
            <a:extLst>
              <a:ext uri="{FF2B5EF4-FFF2-40B4-BE49-F238E27FC236}">
                <a16:creationId xmlns:a16="http://schemas.microsoft.com/office/drawing/2014/main" id="{D51A98E0-C589-9AB2-4FFB-41998153F6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1525" y="1247775"/>
            <a:ext cx="4450080" cy="3291840"/>
          </a:xfrm>
          <a:prstGeom prst="rect">
            <a:avLst/>
          </a:prstGeom>
        </p:spPr>
      </p:pic>
    </p:spTree>
    <p:extLst>
      <p:ext uri="{BB962C8B-B14F-4D97-AF65-F5344CB8AC3E}">
        <p14:creationId xmlns:p14="http://schemas.microsoft.com/office/powerpoint/2010/main" val="14830654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153400" cy="990600"/>
          </a:xfrm>
        </p:spPr>
        <p:txBody>
          <a:bodyPr/>
          <a:lstStyle/>
          <a:p>
            <a:r>
              <a:rPr lang="en-US" sz="2800" dirty="0">
                <a:latin typeface="+mj-lt"/>
              </a:rPr>
              <a:t>Figure 9.5 The Short-Run and Long-Run Effects of a Decrease in Aggregate Demand</a:t>
            </a:r>
            <a:r>
              <a:rPr lang="en-US" sz="2000" dirty="0">
                <a:latin typeface="+mj-lt"/>
              </a:rPr>
              <a:t> </a:t>
            </a:r>
            <a:r>
              <a:rPr lang="en-US" sz="2000" b="0" dirty="0">
                <a:latin typeface="+mj-lt"/>
              </a:rPr>
              <a:t>(1 of 2)</a:t>
            </a:r>
            <a:endParaRPr lang="en-US" sz="2000" dirty="0">
              <a:latin typeface="+mj-lt"/>
            </a:endParaRPr>
          </a:p>
        </p:txBody>
      </p:sp>
      <p:sp>
        <p:nvSpPr>
          <p:cNvPr id="3" name="Content Placeholder 2"/>
          <p:cNvSpPr>
            <a:spLocks noGrp="1"/>
          </p:cNvSpPr>
          <p:nvPr>
            <p:ph idx="1"/>
          </p:nvPr>
        </p:nvSpPr>
        <p:spPr>
          <a:xfrm>
            <a:off x="457200" y="1575096"/>
            <a:ext cx="3048000" cy="4597104"/>
          </a:xfrm>
        </p:spPr>
        <p:txBody>
          <a:bodyPr/>
          <a:lstStyle/>
          <a:p>
            <a:pPr marL="0" indent="0">
              <a:spcBef>
                <a:spcPts val="600"/>
              </a:spcBef>
              <a:spcAft>
                <a:spcPts val="0"/>
              </a:spcAft>
              <a:buNone/>
              <a:defRPr/>
            </a:pPr>
            <a:r>
              <a:rPr lang="en-US" sz="2200" dirty="0"/>
              <a:t>Suppose that interest rates rise. </a:t>
            </a:r>
            <a:r>
              <a:rPr lang="en-US" sz="2200" i="1" dirty="0"/>
              <a:t>AD</a:t>
            </a:r>
            <a:r>
              <a:rPr lang="en-US" sz="2200" dirty="0"/>
              <a:t> moves left because:</a:t>
            </a:r>
          </a:p>
          <a:p>
            <a:pPr marL="342900" indent="-342900">
              <a:spcBef>
                <a:spcPts val="600"/>
              </a:spcBef>
              <a:defRPr/>
            </a:pPr>
            <a:r>
              <a:rPr lang="en-US" sz="2200" dirty="0"/>
              <a:t>Firms and households reduce their planned investments, decreasing aggregate demand.</a:t>
            </a:r>
          </a:p>
          <a:p>
            <a:pPr marL="342900" indent="-342900">
              <a:spcBef>
                <a:spcPts val="600"/>
              </a:spcBef>
              <a:defRPr/>
            </a:pPr>
            <a:r>
              <a:rPr lang="en-US" sz="2200" dirty="0"/>
              <a:t>Workers lose their jobs, and firms experience decreases in sales.</a:t>
            </a:r>
          </a:p>
        </p:txBody>
      </p:sp>
      <p:pic>
        <p:nvPicPr>
          <p:cNvPr id="5" name="Picture 4" descr="A line graph depicts the short-run and long-run effects of a decrease in aggregate demand.">
            <a:extLst>
              <a:ext uri="{FF2B5EF4-FFF2-40B4-BE49-F238E27FC236}">
                <a16:creationId xmlns:a16="http://schemas.microsoft.com/office/drawing/2014/main" id="{11A16B7D-1768-9618-3243-AE361E3A45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0688" y="1575096"/>
            <a:ext cx="4706112" cy="4169664"/>
          </a:xfrm>
          <a:prstGeom prst="rect">
            <a:avLst/>
          </a:prstGeom>
        </p:spPr>
      </p:pic>
    </p:spTree>
    <p:extLst>
      <p:ext uri="{BB962C8B-B14F-4D97-AF65-F5344CB8AC3E}">
        <p14:creationId xmlns:p14="http://schemas.microsoft.com/office/powerpoint/2010/main" val="3288359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5CD9938F-D42B-9988-ECCC-918129742D52}"/>
              </a:ext>
            </a:extLst>
          </p:cNvPr>
          <p:cNvSpPr>
            <a:spLocks noGrp="1"/>
          </p:cNvSpPr>
          <p:nvPr>
            <p:ph type="title"/>
          </p:nvPr>
        </p:nvSpPr>
        <p:spPr>
          <a:xfrm>
            <a:off x="457200" y="152400"/>
            <a:ext cx="8229600" cy="990600"/>
          </a:xfrm>
        </p:spPr>
        <p:txBody>
          <a:bodyPr/>
          <a:lstStyle/>
          <a:p>
            <a:r>
              <a:rPr lang="en-US" sz="2800" dirty="0">
                <a:latin typeface="+mj-lt"/>
              </a:rPr>
              <a:t>Figure 9.5 The Short-Run and Long-Run Effects of a Decrease in Aggregate Demand</a:t>
            </a:r>
            <a:r>
              <a:rPr lang="en-US" sz="2000" dirty="0">
                <a:latin typeface="+mj-lt"/>
              </a:rPr>
              <a:t> </a:t>
            </a:r>
            <a:r>
              <a:rPr lang="en-US" sz="2000" b="0" dirty="0">
                <a:latin typeface="+mj-lt"/>
              </a:rPr>
              <a:t>(2 of 2)</a:t>
            </a:r>
            <a:endParaRPr lang="en-US" sz="2000" dirty="0">
              <a:latin typeface="+mj-lt"/>
            </a:endParaRPr>
          </a:p>
        </p:txBody>
      </p:sp>
      <p:sp>
        <p:nvSpPr>
          <p:cNvPr id="4" name="Content Placeholder 3"/>
          <p:cNvSpPr>
            <a:spLocks noGrp="1"/>
          </p:cNvSpPr>
          <p:nvPr>
            <p:ph idx="1"/>
          </p:nvPr>
        </p:nvSpPr>
        <p:spPr>
          <a:xfrm>
            <a:off x="457200" y="1600200"/>
            <a:ext cx="3276600" cy="4419600"/>
          </a:xfrm>
        </p:spPr>
        <p:txBody>
          <a:bodyPr/>
          <a:lstStyle/>
          <a:p>
            <a:pPr marL="0" indent="0">
              <a:spcBef>
                <a:spcPts val="600"/>
              </a:spcBef>
              <a:spcAft>
                <a:spcPts val="0"/>
              </a:spcAft>
              <a:buNone/>
              <a:defRPr/>
            </a:pPr>
            <a:r>
              <a:rPr lang="en-US" sz="2200" dirty="0"/>
              <a:t>As a result of higher unemployment, workers become willing to accept lower wages, and firms expect lower prices for their output.</a:t>
            </a:r>
          </a:p>
          <a:p>
            <a:pPr marL="0" indent="0">
              <a:spcBef>
                <a:spcPts val="600"/>
              </a:spcBef>
              <a:spcAft>
                <a:spcPts val="0"/>
              </a:spcAft>
              <a:buNone/>
              <a:defRPr/>
            </a:pPr>
            <a:r>
              <a:rPr lang="en-US" sz="2200" dirty="0"/>
              <a:t>So the </a:t>
            </a:r>
            <a:r>
              <a:rPr lang="en-US" sz="2200" i="1" dirty="0"/>
              <a:t>SRAS</a:t>
            </a:r>
            <a:r>
              <a:rPr lang="en-US" sz="2200" dirty="0"/>
              <a:t> curve moves to the right, with goods and services sold for lower prices, until we return to full-employment.</a:t>
            </a:r>
          </a:p>
        </p:txBody>
      </p:sp>
      <p:pic>
        <p:nvPicPr>
          <p:cNvPr id="2" name="Picture 1" descr="A line graph depicts the short-run and long-run effects of a decrease in aggregate demand.">
            <a:extLst>
              <a:ext uri="{FF2B5EF4-FFF2-40B4-BE49-F238E27FC236}">
                <a16:creationId xmlns:a16="http://schemas.microsoft.com/office/drawing/2014/main" id="{039FFD46-3395-261C-8A8E-EEF6E169FA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0688" y="1600200"/>
            <a:ext cx="4706112" cy="4169664"/>
          </a:xfrm>
          <a:prstGeom prst="rect">
            <a:avLst/>
          </a:prstGeom>
        </p:spPr>
      </p:pic>
    </p:spTree>
    <p:extLst>
      <p:ext uri="{BB962C8B-B14F-4D97-AF65-F5344CB8AC3E}">
        <p14:creationId xmlns:p14="http://schemas.microsoft.com/office/powerpoint/2010/main" val="1930968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DE335A1C-A0B3-6218-F442-60D8CE64389C}"/>
              </a:ext>
            </a:extLst>
          </p:cNvPr>
          <p:cNvSpPr>
            <a:spLocks noGrp="1"/>
          </p:cNvSpPr>
          <p:nvPr>
            <p:ph type="title"/>
          </p:nvPr>
        </p:nvSpPr>
        <p:spPr>
          <a:xfrm>
            <a:off x="457200" y="215372"/>
            <a:ext cx="8229600" cy="927628"/>
          </a:xfrm>
        </p:spPr>
        <p:txBody>
          <a:bodyPr/>
          <a:lstStyle/>
          <a:p>
            <a:r>
              <a:rPr lang="en-US" sz="2800" dirty="0">
                <a:latin typeface="+mj-lt"/>
              </a:rPr>
              <a:t>Figure 9.6 The Short-Run and Long-Run Effects of an Increase in Aggregate Demand</a:t>
            </a:r>
            <a:r>
              <a:rPr lang="en-US" sz="2000" dirty="0">
                <a:latin typeface="+mj-lt"/>
              </a:rPr>
              <a:t> </a:t>
            </a:r>
            <a:r>
              <a:rPr lang="en-US" sz="2000" b="0" dirty="0">
                <a:latin typeface="+mj-lt"/>
              </a:rPr>
              <a:t>(1 of 2)</a:t>
            </a:r>
            <a:endParaRPr lang="en-IN" sz="2000" dirty="0">
              <a:latin typeface="+mj-lt"/>
            </a:endParaRPr>
          </a:p>
        </p:txBody>
      </p:sp>
      <p:sp>
        <p:nvSpPr>
          <p:cNvPr id="3" name="Content Placeholder 2"/>
          <p:cNvSpPr>
            <a:spLocks noGrp="1"/>
          </p:cNvSpPr>
          <p:nvPr>
            <p:ph idx="1"/>
          </p:nvPr>
        </p:nvSpPr>
        <p:spPr>
          <a:xfrm>
            <a:off x="457200" y="1600200"/>
            <a:ext cx="3352800" cy="4724400"/>
          </a:xfrm>
        </p:spPr>
        <p:txBody>
          <a:bodyPr/>
          <a:lstStyle/>
          <a:p>
            <a:pPr marL="0" indent="0">
              <a:spcBef>
                <a:spcPts val="1000"/>
              </a:spcBef>
              <a:spcAft>
                <a:spcPts val="0"/>
              </a:spcAft>
              <a:buNone/>
              <a:defRPr/>
            </a:pPr>
            <a:r>
              <a:rPr lang="en-US" sz="2400" dirty="0"/>
              <a:t>Suppose that firms become more optimistic about the future.</a:t>
            </a:r>
          </a:p>
          <a:p>
            <a:pPr marL="266700" indent="-266700">
              <a:spcBef>
                <a:spcPts val="1000"/>
              </a:spcBef>
              <a:defRPr/>
            </a:pPr>
            <a:r>
              <a:rPr lang="en-US" sz="2400" dirty="0"/>
              <a:t>They increase their investment, shifting </a:t>
            </a:r>
            <a:r>
              <a:rPr lang="en-US" sz="2400" i="1" dirty="0"/>
              <a:t>AD</a:t>
            </a:r>
            <a:r>
              <a:rPr lang="en-US" sz="2400" dirty="0"/>
              <a:t> to the right to AD</a:t>
            </a:r>
            <a:r>
              <a:rPr lang="en-US" sz="2400" baseline="-25000" dirty="0"/>
              <a:t>2</a:t>
            </a:r>
          </a:p>
          <a:p>
            <a:pPr marL="266700" indent="-266700">
              <a:spcBef>
                <a:spcPts val="1000"/>
              </a:spcBef>
              <a:defRPr/>
            </a:pPr>
            <a:r>
              <a:rPr lang="en-US" sz="2400" dirty="0"/>
              <a:t>Unemployment falls below its </a:t>
            </a:r>
            <a:r>
              <a:rPr lang="en-US" sz="2400" i="1" dirty="0"/>
              <a:t>natural rate</a:t>
            </a:r>
            <a:r>
              <a:rPr lang="en-US" sz="2400" dirty="0"/>
              <a:t>, forcing employers to pay more; the increased demand for goods raises prices.</a:t>
            </a:r>
          </a:p>
        </p:txBody>
      </p:sp>
      <p:pic>
        <p:nvPicPr>
          <p:cNvPr id="4" name="Picture 3" descr="A line graph depicts the short-run and long-run effects of an increase in aggregate demand.">
            <a:extLst>
              <a:ext uri="{FF2B5EF4-FFF2-40B4-BE49-F238E27FC236}">
                <a16:creationId xmlns:a16="http://schemas.microsoft.com/office/drawing/2014/main" id="{F4A5AA42-0B8F-80AF-706C-5F3D725E1B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2400" y="1600200"/>
            <a:ext cx="4870704" cy="4315968"/>
          </a:xfrm>
          <a:prstGeom prst="rect">
            <a:avLst/>
          </a:prstGeom>
        </p:spPr>
      </p:pic>
    </p:spTree>
    <p:extLst>
      <p:ext uri="{BB962C8B-B14F-4D97-AF65-F5344CB8AC3E}">
        <p14:creationId xmlns:p14="http://schemas.microsoft.com/office/powerpoint/2010/main" val="22386279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0CC9FE4A-779D-7E24-CF7D-FED6C97D60DF}"/>
              </a:ext>
            </a:extLst>
          </p:cNvPr>
          <p:cNvSpPr>
            <a:spLocks noGrp="1"/>
          </p:cNvSpPr>
          <p:nvPr>
            <p:ph type="title"/>
          </p:nvPr>
        </p:nvSpPr>
        <p:spPr>
          <a:xfrm>
            <a:off x="457200" y="215372"/>
            <a:ext cx="8229600" cy="927628"/>
          </a:xfrm>
        </p:spPr>
        <p:txBody>
          <a:bodyPr/>
          <a:lstStyle/>
          <a:p>
            <a:r>
              <a:rPr lang="en-US" sz="2800" dirty="0">
                <a:latin typeface="+mj-lt"/>
              </a:rPr>
              <a:t>Figure 9.6 The Short-Run and Long-Run Effects of an Increase in Aggregate Demand</a:t>
            </a:r>
            <a:r>
              <a:rPr lang="en-US" sz="2000" dirty="0">
                <a:latin typeface="+mj-lt"/>
              </a:rPr>
              <a:t> </a:t>
            </a:r>
            <a:r>
              <a:rPr lang="en-US" sz="2000" b="0" dirty="0">
                <a:latin typeface="+mj-lt"/>
              </a:rPr>
              <a:t>(2 of 2)</a:t>
            </a:r>
            <a:endParaRPr lang="en-IN" sz="2000" dirty="0">
              <a:latin typeface="+mj-lt"/>
            </a:endParaRPr>
          </a:p>
        </p:txBody>
      </p:sp>
      <p:sp>
        <p:nvSpPr>
          <p:cNvPr id="3" name="Content Placeholder 2"/>
          <p:cNvSpPr>
            <a:spLocks noGrp="1"/>
          </p:cNvSpPr>
          <p:nvPr>
            <p:ph idx="1"/>
          </p:nvPr>
        </p:nvSpPr>
        <p:spPr>
          <a:xfrm>
            <a:off x="457200" y="1600200"/>
            <a:ext cx="3352800" cy="4190999"/>
          </a:xfrm>
        </p:spPr>
        <p:txBody>
          <a:bodyPr/>
          <a:lstStyle/>
          <a:p>
            <a:pPr marL="0" indent="0">
              <a:spcBef>
                <a:spcPts val="1200"/>
              </a:spcBef>
              <a:buNone/>
              <a:defRPr/>
            </a:pPr>
            <a:r>
              <a:rPr lang="en-US" sz="2400" dirty="0"/>
              <a:t>Firms and workers raise their expectations about the price level, shifting </a:t>
            </a:r>
            <a:r>
              <a:rPr lang="en-US" sz="2400" i="1" dirty="0"/>
              <a:t>SRAS</a:t>
            </a:r>
            <a:r>
              <a:rPr lang="en-US" sz="2400" dirty="0"/>
              <a:t> to the left—restoring long run equilibrium.</a:t>
            </a:r>
          </a:p>
        </p:txBody>
      </p:sp>
      <p:pic>
        <p:nvPicPr>
          <p:cNvPr id="2" name="Picture 1" descr="A line graph depicts the short-run and long-run effects of an increase in aggregate demand.">
            <a:extLst>
              <a:ext uri="{FF2B5EF4-FFF2-40B4-BE49-F238E27FC236}">
                <a16:creationId xmlns:a16="http://schemas.microsoft.com/office/drawing/2014/main" id="{C3392521-984E-8E87-0C3F-2175495C70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2400" y="1600200"/>
            <a:ext cx="4870704" cy="4315968"/>
          </a:xfrm>
          <a:prstGeom prst="rect">
            <a:avLst/>
          </a:prstGeom>
        </p:spPr>
      </p:pic>
    </p:spTree>
    <p:extLst>
      <p:ext uri="{BB962C8B-B14F-4D97-AF65-F5344CB8AC3E}">
        <p14:creationId xmlns:p14="http://schemas.microsoft.com/office/powerpoint/2010/main" val="19476704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8C938AD-E9F2-7742-B83D-EEE4AC2C5401}"/>
              </a:ext>
            </a:extLst>
          </p:cNvPr>
          <p:cNvSpPr>
            <a:spLocks noGrp="1"/>
          </p:cNvSpPr>
          <p:nvPr>
            <p:ph type="title"/>
          </p:nvPr>
        </p:nvSpPr>
        <p:spPr/>
        <p:txBody>
          <a:bodyPr/>
          <a:lstStyle/>
          <a:p>
            <a:r>
              <a:rPr lang="en-US" dirty="0">
                <a:latin typeface="+mj-lt"/>
              </a:rPr>
              <a:t>Figure 9.7 The Short-Run and Long-Run Effects of a Supply Shock</a:t>
            </a:r>
            <a:r>
              <a:rPr lang="en-US" sz="2000" dirty="0">
                <a:latin typeface="+mj-lt"/>
              </a:rPr>
              <a:t> </a:t>
            </a:r>
            <a:r>
              <a:rPr lang="en-US" sz="2000" b="0" dirty="0">
                <a:latin typeface="+mj-lt"/>
              </a:rPr>
              <a:t>(1 of 3)</a:t>
            </a:r>
            <a:endParaRPr lang="en-IN" sz="2000" dirty="0">
              <a:latin typeface="+mj-lt"/>
            </a:endParaRPr>
          </a:p>
        </p:txBody>
      </p:sp>
      <p:sp>
        <p:nvSpPr>
          <p:cNvPr id="3" name="Content Placeholder 2"/>
          <p:cNvSpPr>
            <a:spLocks noGrp="1"/>
          </p:cNvSpPr>
          <p:nvPr>
            <p:ph idx="1"/>
          </p:nvPr>
        </p:nvSpPr>
        <p:spPr>
          <a:xfrm>
            <a:off x="457200" y="1676400"/>
            <a:ext cx="3352800" cy="4290850"/>
          </a:xfrm>
        </p:spPr>
        <p:txBody>
          <a:bodyPr/>
          <a:lstStyle/>
          <a:p>
            <a:pPr marL="0" indent="0">
              <a:spcBef>
                <a:spcPts val="0"/>
              </a:spcBef>
              <a:spcAft>
                <a:spcPts val="1200"/>
              </a:spcAft>
              <a:buNone/>
              <a:defRPr/>
            </a:pPr>
            <a:r>
              <a:rPr lang="en-US" sz="2000" dirty="0"/>
              <a:t>In the previous analyses, </a:t>
            </a:r>
            <a:r>
              <a:rPr lang="en-US" sz="2000" i="1" dirty="0"/>
              <a:t>AD</a:t>
            </a:r>
            <a:r>
              <a:rPr lang="en-US" sz="2000" dirty="0"/>
              <a:t> moved suddenly. What if instead </a:t>
            </a:r>
            <a:r>
              <a:rPr lang="en-US" sz="2000" i="1" dirty="0"/>
              <a:t>SRAS</a:t>
            </a:r>
            <a:r>
              <a:rPr lang="en-US" sz="2000" dirty="0"/>
              <a:t> moved suddenly? We call this a </a:t>
            </a:r>
            <a:r>
              <a:rPr lang="en-US" sz="2000" b="1" i="1" dirty="0"/>
              <a:t>supply shock</a:t>
            </a:r>
            <a:r>
              <a:rPr lang="en-US" sz="2000" b="1" dirty="0"/>
              <a:t>.</a:t>
            </a:r>
          </a:p>
          <a:p>
            <a:pPr marL="0" indent="0">
              <a:spcBef>
                <a:spcPts val="0"/>
              </a:spcBef>
              <a:spcAft>
                <a:spcPts val="1200"/>
              </a:spcAft>
              <a:buNone/>
              <a:defRPr/>
            </a:pPr>
            <a:r>
              <a:rPr lang="en-US" sz="2000" dirty="0"/>
              <a:t>For example, suppose a sudden increase in oil prices shifts </a:t>
            </a:r>
            <a:r>
              <a:rPr lang="en-US" sz="2000" i="1" dirty="0"/>
              <a:t>SRAS</a:t>
            </a:r>
            <a:r>
              <a:rPr lang="en-US" sz="2000" dirty="0"/>
              <a:t> to the left.</a:t>
            </a:r>
          </a:p>
          <a:p>
            <a:pPr marL="266700" indent="-266700">
              <a:spcBef>
                <a:spcPts val="0"/>
              </a:spcBef>
              <a:spcAft>
                <a:spcPts val="1200"/>
              </a:spcAft>
              <a:defRPr/>
            </a:pPr>
            <a:r>
              <a:rPr lang="en-US" sz="2000" dirty="0"/>
              <a:t>This causes </a:t>
            </a:r>
            <a:r>
              <a:rPr lang="en-US" sz="2000" b="1" dirty="0"/>
              <a:t>stagflation,</a:t>
            </a:r>
            <a:r>
              <a:rPr lang="en-US" sz="2000" dirty="0"/>
              <a:t> a combination of inflation and recession, usually resulting from a supply shock.</a:t>
            </a:r>
          </a:p>
        </p:txBody>
      </p:sp>
      <p:pic>
        <p:nvPicPr>
          <p:cNvPr id="6" name="Picture 5" descr="Two line graphs depict recession with a rising price level on the left and Adjustment back to potential G D P on the right.">
            <a:extLst>
              <a:ext uri="{FF2B5EF4-FFF2-40B4-BE49-F238E27FC236}">
                <a16:creationId xmlns:a16="http://schemas.microsoft.com/office/drawing/2014/main" id="{F8658D4F-AE14-16A6-E5B6-3166C3B6D7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1636776"/>
            <a:ext cx="3886200" cy="4428460"/>
          </a:xfrm>
          <a:prstGeom prst="rect">
            <a:avLst/>
          </a:prstGeom>
        </p:spPr>
      </p:pic>
    </p:spTree>
    <p:extLst>
      <p:ext uri="{BB962C8B-B14F-4D97-AF65-F5344CB8AC3E}">
        <p14:creationId xmlns:p14="http://schemas.microsoft.com/office/powerpoint/2010/main" val="35931247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5465EC4-EE55-DA83-AA8E-3F20024AE2EF}"/>
              </a:ext>
            </a:extLst>
          </p:cNvPr>
          <p:cNvSpPr>
            <a:spLocks noGrp="1"/>
          </p:cNvSpPr>
          <p:nvPr>
            <p:ph type="title"/>
          </p:nvPr>
        </p:nvSpPr>
        <p:spPr/>
        <p:txBody>
          <a:bodyPr/>
          <a:lstStyle/>
          <a:p>
            <a:r>
              <a:rPr lang="en-US" dirty="0">
                <a:latin typeface="+mj-lt"/>
              </a:rPr>
              <a:t>Figure 9.7 The Short-Run and Long-Run Effects of a Supply Shock</a:t>
            </a:r>
            <a:r>
              <a:rPr lang="en-US" sz="2000" dirty="0">
                <a:latin typeface="+mj-lt"/>
              </a:rPr>
              <a:t> </a:t>
            </a:r>
            <a:r>
              <a:rPr lang="en-US" sz="2000" b="0" dirty="0">
                <a:latin typeface="+mj-lt"/>
              </a:rPr>
              <a:t>(2 of 3)</a:t>
            </a:r>
            <a:endParaRPr lang="en-IN" sz="2000" dirty="0">
              <a:latin typeface="+mj-lt"/>
            </a:endParaRPr>
          </a:p>
        </p:txBody>
      </p:sp>
      <p:sp>
        <p:nvSpPr>
          <p:cNvPr id="3" name="Content Placeholder 2"/>
          <p:cNvSpPr>
            <a:spLocks noGrp="1"/>
          </p:cNvSpPr>
          <p:nvPr>
            <p:ph idx="1"/>
          </p:nvPr>
        </p:nvSpPr>
        <p:spPr>
          <a:xfrm>
            <a:off x="457200" y="1600200"/>
            <a:ext cx="3581400" cy="4191000"/>
          </a:xfrm>
        </p:spPr>
        <p:txBody>
          <a:bodyPr/>
          <a:lstStyle/>
          <a:p>
            <a:pPr marL="0" indent="0">
              <a:spcBef>
                <a:spcPts val="0"/>
              </a:spcBef>
              <a:spcAft>
                <a:spcPts val="1200"/>
              </a:spcAft>
              <a:buNone/>
              <a:defRPr/>
            </a:pPr>
            <a:r>
              <a:rPr lang="en-US" sz="2000" dirty="0"/>
              <a:t>With the lower level of output, people are unemployed and products go unsold.</a:t>
            </a:r>
          </a:p>
          <a:p>
            <a:pPr marL="266700" indent="-266700">
              <a:spcBef>
                <a:spcPts val="0"/>
              </a:spcBef>
              <a:spcAft>
                <a:spcPts val="1200"/>
              </a:spcAft>
              <a:defRPr/>
            </a:pPr>
            <a:r>
              <a:rPr lang="en-US" sz="2000" dirty="0"/>
              <a:t>Workers will be willing to accept lower wages, and firms decrease prices in order to clear inventories.</a:t>
            </a:r>
          </a:p>
          <a:p>
            <a:pPr marL="0" indent="0">
              <a:spcBef>
                <a:spcPts val="0"/>
              </a:spcBef>
              <a:spcAft>
                <a:spcPts val="1200"/>
              </a:spcAft>
              <a:buNone/>
              <a:defRPr/>
            </a:pPr>
            <a:r>
              <a:rPr lang="en-US" sz="2000" dirty="0"/>
              <a:t>With the decrease in expectations about prices, </a:t>
            </a:r>
            <a:r>
              <a:rPr lang="en-US" sz="2000" i="1" dirty="0"/>
              <a:t>SRAS</a:t>
            </a:r>
            <a:r>
              <a:rPr lang="en-US" sz="2000" dirty="0"/>
              <a:t> moves back to the right, restoring long-run equilibrium.</a:t>
            </a:r>
          </a:p>
          <a:p>
            <a:pPr marL="0" indent="0">
              <a:spcBef>
                <a:spcPts val="0"/>
              </a:spcBef>
              <a:spcAft>
                <a:spcPts val="1200"/>
              </a:spcAft>
              <a:buNone/>
              <a:defRPr/>
            </a:pPr>
            <a:endParaRPr lang="en-US" sz="2000" dirty="0"/>
          </a:p>
        </p:txBody>
      </p:sp>
      <p:pic>
        <p:nvPicPr>
          <p:cNvPr id="4" name="Picture 3" descr="Two line graphs depict recession with a rising price level on the left and Adjustment back to potential G D P on the right.">
            <a:extLst>
              <a:ext uri="{FF2B5EF4-FFF2-40B4-BE49-F238E27FC236}">
                <a16:creationId xmlns:a16="http://schemas.microsoft.com/office/drawing/2014/main" id="{17D7C276-85EA-192C-BDD7-0B3D1916C4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3400" y="1628775"/>
            <a:ext cx="4096510" cy="4427845"/>
          </a:xfrm>
          <a:prstGeom prst="rect">
            <a:avLst/>
          </a:prstGeom>
        </p:spPr>
      </p:pic>
    </p:spTree>
    <p:extLst>
      <p:ext uri="{BB962C8B-B14F-4D97-AF65-F5344CB8AC3E}">
        <p14:creationId xmlns:p14="http://schemas.microsoft.com/office/powerpoint/2010/main" val="29868239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F8A7501-30DB-9C3F-80E5-EF8DBC325B83}"/>
              </a:ext>
            </a:extLst>
          </p:cNvPr>
          <p:cNvSpPr>
            <a:spLocks noGrp="1"/>
          </p:cNvSpPr>
          <p:nvPr>
            <p:ph type="title"/>
          </p:nvPr>
        </p:nvSpPr>
        <p:spPr/>
        <p:txBody>
          <a:bodyPr/>
          <a:lstStyle/>
          <a:p>
            <a:r>
              <a:rPr lang="en-US" dirty="0">
                <a:latin typeface="+mj-lt"/>
              </a:rPr>
              <a:t>Figure 9.7 The Short-Run and Long-Run Effects of a Supply Shock</a:t>
            </a:r>
            <a:r>
              <a:rPr lang="en-US" sz="2000" dirty="0">
                <a:latin typeface="+mj-lt"/>
              </a:rPr>
              <a:t> </a:t>
            </a:r>
            <a:r>
              <a:rPr lang="en-US" sz="2000" b="0" dirty="0">
                <a:latin typeface="+mj-lt"/>
              </a:rPr>
              <a:t>(3 of 3)</a:t>
            </a:r>
            <a:endParaRPr lang="en-IN" sz="2000" dirty="0">
              <a:latin typeface="+mj-lt"/>
            </a:endParaRPr>
          </a:p>
        </p:txBody>
      </p:sp>
      <p:sp>
        <p:nvSpPr>
          <p:cNvPr id="3" name="Content Placeholder 2"/>
          <p:cNvSpPr>
            <a:spLocks noGrp="1"/>
          </p:cNvSpPr>
          <p:nvPr>
            <p:ph idx="1"/>
          </p:nvPr>
        </p:nvSpPr>
        <p:spPr>
          <a:xfrm>
            <a:off x="457200" y="1608888"/>
            <a:ext cx="3352800" cy="4563312"/>
          </a:xfrm>
        </p:spPr>
        <p:txBody>
          <a:bodyPr/>
          <a:lstStyle/>
          <a:p>
            <a:pPr marL="0" indent="0">
              <a:spcBef>
                <a:spcPts val="0"/>
              </a:spcBef>
              <a:spcAft>
                <a:spcPts val="1200"/>
              </a:spcAft>
              <a:buNone/>
              <a:defRPr/>
            </a:pPr>
            <a:r>
              <a:rPr lang="en-US" sz="2000" dirty="0"/>
              <a:t>How long does it take to restore full employment?</a:t>
            </a:r>
          </a:p>
          <a:p>
            <a:pPr marL="266700" indent="-266700">
              <a:spcBef>
                <a:spcPts val="0"/>
              </a:spcBef>
              <a:spcAft>
                <a:spcPts val="1200"/>
              </a:spcAft>
              <a:defRPr/>
            </a:pPr>
            <a:r>
              <a:rPr lang="en-US" sz="2000" dirty="0"/>
              <a:t>It depends on the severity of the supply shock, but it is likely to take several years.</a:t>
            </a:r>
          </a:p>
          <a:p>
            <a:pPr marL="0" indent="0">
              <a:spcBef>
                <a:spcPts val="0"/>
              </a:spcBef>
              <a:spcAft>
                <a:spcPts val="1200"/>
              </a:spcAft>
              <a:buNone/>
              <a:defRPr/>
            </a:pPr>
            <a:r>
              <a:rPr lang="en-US" sz="2000" dirty="0"/>
              <a:t>An alternative to waiting this long is to use fiscal or monetary policy to increase aggregate demand.</a:t>
            </a:r>
          </a:p>
          <a:p>
            <a:pPr marL="266700" indent="-266700">
              <a:spcBef>
                <a:spcPts val="0"/>
              </a:spcBef>
              <a:spcAft>
                <a:spcPts val="1200"/>
              </a:spcAft>
              <a:defRPr/>
            </a:pPr>
            <a:r>
              <a:rPr lang="en-US" sz="2000" dirty="0"/>
              <a:t>This will result in permanently higher prices but may be worth the cost.</a:t>
            </a:r>
          </a:p>
          <a:p>
            <a:pPr marL="0" indent="0">
              <a:spcBef>
                <a:spcPts val="0"/>
              </a:spcBef>
              <a:spcAft>
                <a:spcPts val="1200"/>
              </a:spcAft>
              <a:buNone/>
              <a:defRPr/>
            </a:pPr>
            <a:endParaRPr lang="en-US" sz="2000" dirty="0"/>
          </a:p>
        </p:txBody>
      </p:sp>
      <p:pic>
        <p:nvPicPr>
          <p:cNvPr id="4" name="Picture 3" descr="Two line graphs depict recession with a rising price level on the left and Adjustment back to potential G D P on the right.">
            <a:extLst>
              <a:ext uri="{FF2B5EF4-FFF2-40B4-BE49-F238E27FC236}">
                <a16:creationId xmlns:a16="http://schemas.microsoft.com/office/drawing/2014/main" id="{631ACFB2-8860-86FB-8266-A29C74BAAE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43400" y="1608888"/>
            <a:ext cx="4114800" cy="4447615"/>
          </a:xfrm>
          <a:prstGeom prst="rect">
            <a:avLst/>
          </a:prstGeom>
        </p:spPr>
      </p:pic>
    </p:spTree>
    <p:extLst>
      <p:ext uri="{BB962C8B-B14F-4D97-AF65-F5344CB8AC3E}">
        <p14:creationId xmlns:p14="http://schemas.microsoft.com/office/powerpoint/2010/main" val="19046074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2C3A09E-160A-41E8-E46A-43A8D0AE863D}"/>
              </a:ext>
            </a:extLst>
          </p:cNvPr>
          <p:cNvSpPr>
            <a:spLocks noGrp="1"/>
          </p:cNvSpPr>
          <p:nvPr>
            <p:ph type="title"/>
          </p:nvPr>
        </p:nvSpPr>
        <p:spPr>
          <a:xfrm>
            <a:off x="457200" y="291571"/>
            <a:ext cx="8229600" cy="1156229"/>
          </a:xfrm>
        </p:spPr>
        <p:txBody>
          <a:bodyPr/>
          <a:lstStyle/>
          <a:p>
            <a:r>
              <a:rPr lang="en-US" sz="2800" dirty="0">
                <a:latin typeface="+mj-lt"/>
              </a:rPr>
              <a:t>Apply the Concept: Was the 2020 COVID-19 Recession a Supply Shock or a Demand Shock? </a:t>
            </a:r>
            <a:r>
              <a:rPr lang="en-US" sz="2000" b="0" dirty="0">
                <a:latin typeface="+mj-lt"/>
              </a:rPr>
              <a:t>(1 of 3)</a:t>
            </a:r>
            <a:r>
              <a:rPr lang="en-US" sz="2000" dirty="0">
                <a:latin typeface="+mj-lt"/>
              </a:rPr>
              <a:t> </a:t>
            </a:r>
            <a:endParaRPr lang="en-IN" sz="2000" dirty="0">
              <a:latin typeface="+mj-lt"/>
            </a:endParaRPr>
          </a:p>
        </p:txBody>
      </p:sp>
      <p:sp>
        <p:nvSpPr>
          <p:cNvPr id="5" name="Content Placeholder 4">
            <a:extLst>
              <a:ext uri="{FF2B5EF4-FFF2-40B4-BE49-F238E27FC236}">
                <a16:creationId xmlns:a16="http://schemas.microsoft.com/office/drawing/2014/main" id="{E0B6D6D8-CCBD-85DB-C952-4E2A9D9D9A7D}"/>
              </a:ext>
            </a:extLst>
          </p:cNvPr>
          <p:cNvSpPr>
            <a:spLocks noGrp="1"/>
          </p:cNvSpPr>
          <p:nvPr>
            <p:ph idx="1"/>
          </p:nvPr>
        </p:nvSpPr>
        <p:spPr>
          <a:xfrm>
            <a:off x="504825" y="1720596"/>
            <a:ext cx="3457575" cy="4299204"/>
          </a:xfrm>
        </p:spPr>
        <p:txBody>
          <a:bodyPr/>
          <a:lstStyle/>
          <a:p>
            <a:pPr marL="0" indent="0">
              <a:spcBef>
                <a:spcPts val="1000"/>
              </a:spcBef>
              <a:buNone/>
            </a:pPr>
            <a:r>
              <a:rPr lang="en-CA" sz="2200" dirty="0">
                <a:effectLst/>
                <a:ea typeface="Malgun Gothic" panose="020B0503020000020004" pitchFamily="34" charset="-127"/>
                <a:cs typeface="Times New Roman" panose="02020603050405020304" pitchFamily="18" charset="0"/>
              </a:rPr>
              <a:t>Both supply shocks and demand shocks can cause recessions. So which kind of shock caused the 2020 recession? </a:t>
            </a:r>
          </a:p>
          <a:p>
            <a:pPr>
              <a:spcBef>
                <a:spcPts val="1000"/>
              </a:spcBef>
            </a:pPr>
            <a:r>
              <a:rPr lang="en-CA" sz="2200" dirty="0">
                <a:effectLst/>
                <a:ea typeface="Malgun Gothic" panose="020B0503020000020004" pitchFamily="34" charset="-127"/>
                <a:cs typeface="Times New Roman" panose="02020603050405020304" pitchFamily="18" charset="0"/>
              </a:rPr>
              <a:t>A supply shock that closes businesses and increases firms’ costs will shift the short-run aggregate supply curve to the left. The output will fall, and prices will rise.</a:t>
            </a:r>
          </a:p>
          <a:p>
            <a:pPr>
              <a:spcBef>
                <a:spcPts val="1000"/>
              </a:spcBef>
            </a:pPr>
            <a:endParaRPr lang="en-US" sz="2200" dirty="0"/>
          </a:p>
        </p:txBody>
      </p:sp>
      <p:pic>
        <p:nvPicPr>
          <p:cNvPr id="3" name="Picture 2" descr="A line graph of the price level versus real G D P.">
            <a:extLst>
              <a:ext uri="{FF2B5EF4-FFF2-40B4-BE49-F238E27FC236}">
                <a16:creationId xmlns:a16="http://schemas.microsoft.com/office/drawing/2014/main" id="{7EE2838A-6215-66E1-D641-56FCA69C46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1000" y="1720596"/>
            <a:ext cx="4342368" cy="4299204"/>
          </a:xfrm>
          <a:prstGeom prst="rect">
            <a:avLst/>
          </a:prstGeom>
        </p:spPr>
      </p:pic>
    </p:spTree>
    <p:extLst>
      <p:ext uri="{BB962C8B-B14F-4D97-AF65-F5344CB8AC3E}">
        <p14:creationId xmlns:p14="http://schemas.microsoft.com/office/powerpoint/2010/main" val="16048544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2C3A09E-160A-41E8-E46A-43A8D0AE863D}"/>
              </a:ext>
            </a:extLst>
          </p:cNvPr>
          <p:cNvSpPr>
            <a:spLocks noGrp="1"/>
          </p:cNvSpPr>
          <p:nvPr>
            <p:ph type="title"/>
          </p:nvPr>
        </p:nvSpPr>
        <p:spPr>
          <a:xfrm>
            <a:off x="457200" y="291571"/>
            <a:ext cx="8229600" cy="1156229"/>
          </a:xfrm>
        </p:spPr>
        <p:txBody>
          <a:bodyPr/>
          <a:lstStyle/>
          <a:p>
            <a:r>
              <a:rPr lang="en-US" sz="2800" dirty="0">
                <a:latin typeface="+mj-lt"/>
              </a:rPr>
              <a:t>Apply the Concept: Was the 2020 COVID-19 Recession a Supply Shock or a Demand Shock?</a:t>
            </a:r>
            <a:br>
              <a:rPr lang="en-US" sz="2800" dirty="0">
                <a:latin typeface="+mj-lt"/>
              </a:rPr>
            </a:br>
            <a:r>
              <a:rPr lang="en-US" sz="2000" b="0" dirty="0">
                <a:latin typeface="+mj-lt"/>
              </a:rPr>
              <a:t>(2 of 3)</a:t>
            </a:r>
            <a:endParaRPr lang="en-IN" sz="2000" dirty="0">
              <a:latin typeface="+mj-lt"/>
            </a:endParaRPr>
          </a:p>
        </p:txBody>
      </p:sp>
      <p:sp>
        <p:nvSpPr>
          <p:cNvPr id="5" name="Content Placeholder 4">
            <a:extLst>
              <a:ext uri="{FF2B5EF4-FFF2-40B4-BE49-F238E27FC236}">
                <a16:creationId xmlns:a16="http://schemas.microsoft.com/office/drawing/2014/main" id="{E0B6D6D8-CCBD-85DB-C952-4E2A9D9D9A7D}"/>
              </a:ext>
            </a:extLst>
          </p:cNvPr>
          <p:cNvSpPr>
            <a:spLocks noGrp="1"/>
          </p:cNvSpPr>
          <p:nvPr>
            <p:ph idx="1"/>
          </p:nvPr>
        </p:nvSpPr>
        <p:spPr>
          <a:xfrm>
            <a:off x="504825" y="1676400"/>
            <a:ext cx="3228975" cy="3810000"/>
          </a:xfrm>
        </p:spPr>
        <p:txBody>
          <a:bodyPr/>
          <a:lstStyle/>
          <a:p>
            <a:r>
              <a:rPr lang="en-CA" sz="2200" dirty="0">
                <a:effectLst/>
                <a:ea typeface="Malgun Gothic" panose="020B0503020000020004" pitchFamily="34" charset="-127"/>
                <a:cs typeface="Times New Roman" panose="02020603050405020304" pitchFamily="18" charset="0"/>
              </a:rPr>
              <a:t>A demand shock that reduces household demand for goods and services will shift the aggregate demand curve to the right. The output will fall, and prices will fall as well.</a:t>
            </a:r>
          </a:p>
          <a:p>
            <a:pPr marL="0" indent="0">
              <a:buNone/>
            </a:pPr>
            <a:endParaRPr lang="en-US" sz="2200" dirty="0"/>
          </a:p>
        </p:txBody>
      </p:sp>
      <p:pic>
        <p:nvPicPr>
          <p:cNvPr id="3" name="Picture 2" descr="A line graph of the price level versus real G D P.">
            <a:extLst>
              <a:ext uri="{FF2B5EF4-FFF2-40B4-BE49-F238E27FC236}">
                <a16:creationId xmlns:a16="http://schemas.microsoft.com/office/drawing/2014/main" id="{62498EB8-EFAE-5826-8374-FF99539AF9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05236" y="1752600"/>
            <a:ext cx="4800614" cy="4218432"/>
          </a:xfrm>
          <a:prstGeom prst="rect">
            <a:avLst/>
          </a:prstGeom>
        </p:spPr>
      </p:pic>
    </p:spTree>
    <p:extLst>
      <p:ext uri="{BB962C8B-B14F-4D97-AF65-F5344CB8AC3E}">
        <p14:creationId xmlns:p14="http://schemas.microsoft.com/office/powerpoint/2010/main" val="10697269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2C3A09E-160A-41E8-E46A-43A8D0AE863D}"/>
              </a:ext>
            </a:extLst>
          </p:cNvPr>
          <p:cNvSpPr>
            <a:spLocks noGrp="1"/>
          </p:cNvSpPr>
          <p:nvPr>
            <p:ph type="title"/>
          </p:nvPr>
        </p:nvSpPr>
        <p:spPr/>
        <p:txBody>
          <a:bodyPr/>
          <a:lstStyle/>
          <a:p>
            <a:r>
              <a:rPr lang="en-US" sz="2800" dirty="0">
                <a:latin typeface="+mj-lt"/>
              </a:rPr>
              <a:t>Apply the Concept: Was the 2020 COVID-19 Recession a Supply Shock or a Demand Shock?</a:t>
            </a:r>
            <a:br>
              <a:rPr lang="en-US" sz="2800" dirty="0">
                <a:latin typeface="+mj-lt"/>
              </a:rPr>
            </a:br>
            <a:r>
              <a:rPr lang="en-US" sz="2000" b="0" dirty="0">
                <a:latin typeface="+mj-lt"/>
              </a:rPr>
              <a:t>(3 of 3)</a:t>
            </a:r>
            <a:endParaRPr lang="en-IN" sz="2000" dirty="0">
              <a:latin typeface="+mj-lt"/>
            </a:endParaRPr>
          </a:p>
        </p:txBody>
      </p:sp>
      <p:sp>
        <p:nvSpPr>
          <p:cNvPr id="5" name="Content Placeholder 4">
            <a:extLst>
              <a:ext uri="{FF2B5EF4-FFF2-40B4-BE49-F238E27FC236}">
                <a16:creationId xmlns:a16="http://schemas.microsoft.com/office/drawing/2014/main" id="{E0B6D6D8-CCBD-85DB-C952-4E2A9D9D9A7D}"/>
              </a:ext>
            </a:extLst>
          </p:cNvPr>
          <p:cNvSpPr>
            <a:spLocks noGrp="1"/>
          </p:cNvSpPr>
          <p:nvPr>
            <p:ph idx="1"/>
          </p:nvPr>
        </p:nvSpPr>
        <p:spPr/>
        <p:txBody>
          <a:bodyPr/>
          <a:lstStyle/>
          <a:p>
            <a:pPr marL="0" indent="0">
              <a:spcBef>
                <a:spcPts val="1000"/>
              </a:spcBef>
              <a:buNone/>
            </a:pPr>
            <a:r>
              <a:rPr lang="en-CA" sz="2200" dirty="0">
                <a:effectLst/>
                <a:ea typeface="Malgun Gothic" panose="020B0503020000020004" pitchFamily="34" charset="-127"/>
                <a:cs typeface="Times New Roman" panose="02020603050405020304" pitchFamily="18" charset="0"/>
              </a:rPr>
              <a:t>Recessions caused by either supply or demand shocks see real GDP fall. </a:t>
            </a:r>
          </a:p>
          <a:p>
            <a:pPr>
              <a:spcBef>
                <a:spcPts val="1000"/>
              </a:spcBef>
            </a:pPr>
            <a:r>
              <a:rPr lang="en-CA" sz="2200" dirty="0">
                <a:effectLst/>
                <a:ea typeface="Malgun Gothic" panose="020B0503020000020004" pitchFamily="34" charset="-127"/>
                <a:cs typeface="Times New Roman" panose="02020603050405020304" pitchFamily="18" charset="0"/>
              </a:rPr>
              <a:t>This is exactly what we observed in 2020. Real GDP fell in the first two quarters of 2020, from $2.12 trillion at the end of 2019 to $1.85 trillion halfway through 2020. </a:t>
            </a:r>
          </a:p>
          <a:p>
            <a:pPr marL="0" indent="0">
              <a:spcBef>
                <a:spcPts val="1000"/>
              </a:spcBef>
              <a:buNone/>
            </a:pPr>
            <a:r>
              <a:rPr lang="en-CA" sz="2200" dirty="0">
                <a:effectLst/>
                <a:ea typeface="Malgun Gothic" panose="020B0503020000020004" pitchFamily="34" charset="-127"/>
                <a:cs typeface="Times New Roman" panose="02020603050405020304" pitchFamily="18" charset="0"/>
              </a:rPr>
              <a:t>In January 2020, the seasonally adjusted Consumer Price Index was 137.3. In July 2020, when output had started to recover, the seasonally adjusted Consumer Price Index was 136.7. </a:t>
            </a:r>
          </a:p>
          <a:p>
            <a:pPr>
              <a:spcBef>
                <a:spcPts val="1000"/>
              </a:spcBef>
            </a:pPr>
            <a:r>
              <a:rPr lang="en-CA" sz="2200" dirty="0">
                <a:effectLst/>
                <a:ea typeface="Malgun Gothic" panose="020B0503020000020004" pitchFamily="34" charset="-127"/>
                <a:cs typeface="Times New Roman" panose="02020603050405020304" pitchFamily="18" charset="0"/>
              </a:rPr>
              <a:t>This tells us that prices fell during the 2020 recession, suggesting that the shift in aggregate demand played a larger role in the recession of 2020 than the shift in short-run aggregate supply.</a:t>
            </a:r>
          </a:p>
        </p:txBody>
      </p:sp>
    </p:spTree>
    <p:extLst>
      <p:ext uri="{BB962C8B-B14F-4D97-AF65-F5344CB8AC3E}">
        <p14:creationId xmlns:p14="http://schemas.microsoft.com/office/powerpoint/2010/main" val="1258319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B804D4F82C0B4088CBB3A2B255BE33" ma:contentTypeVersion="10" ma:contentTypeDescription="Create a new document." ma:contentTypeScope="" ma:versionID="ba2444f8b87678fbda005eb818e18e7d">
  <xsd:schema xmlns:xsd="http://www.w3.org/2001/XMLSchema" xmlns:xs="http://www.w3.org/2001/XMLSchema" xmlns:p="http://schemas.microsoft.com/office/2006/metadata/properties" xmlns:ns3="d445d462-2029-4cec-993f-47750f9ae382" targetNamespace="http://schemas.microsoft.com/office/2006/metadata/properties" ma:root="true" ma:fieldsID="59dfec31504f62d0b799b89d654e468f" ns3:_="">
    <xsd:import namespace="d445d462-2029-4cec-993f-47750f9ae382"/>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45d462-2029-4cec-993f-47750f9ae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2637977-83C3-4D06-8E43-B932C56FB1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45d462-2029-4cec-993f-47750f9ae38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40ED968-9256-4114-AF12-237294F6A362}">
  <ds:schemaRefs>
    <ds:schemaRef ds:uri="http://schemas.microsoft.com/office/2006/documentManagement/types"/>
    <ds:schemaRef ds:uri="http://purl.org/dc/terms/"/>
    <ds:schemaRef ds:uri="d445d462-2029-4cec-993f-47750f9ae382"/>
    <ds:schemaRef ds:uri="http://schemas.microsoft.com/office/infopath/2007/PartnerControls"/>
    <ds:schemaRef ds:uri="http://purl.org/dc/dcmitype/"/>
    <ds:schemaRef ds:uri="http://www.w3.org/XML/1998/namespace"/>
    <ds:schemaRef ds:uri="http://schemas.microsoft.com/office/2006/metadata/properties"/>
    <ds:schemaRef ds:uri="http://schemas.openxmlformats.org/package/2006/metadata/core-properties"/>
    <ds:schemaRef ds:uri="http://purl.org/dc/elements/1.1/"/>
  </ds:schemaRefs>
</ds:datastoreItem>
</file>

<file path=customXml/itemProps3.xml><?xml version="1.0" encoding="utf-8"?>
<ds:datastoreItem xmlns:ds="http://schemas.openxmlformats.org/officeDocument/2006/customXml" ds:itemID="{A0BE2AAD-6CC9-4100-8B6B-7A31EE5170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2309</TotalTime>
  <Words>5304</Words>
  <Application>Microsoft Macintosh PowerPoint</Application>
  <PresentationFormat>On-screen Show (4:3)</PresentationFormat>
  <Paragraphs>284</Paragraphs>
  <Slides>34</Slides>
  <Notes>23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1" baseType="lpstr">
      <vt:lpstr>Malgun Gothic</vt:lpstr>
      <vt:lpstr>Aptos</vt:lpstr>
      <vt:lpstr>Aptos Display</vt:lpstr>
      <vt:lpstr>Arial</vt:lpstr>
      <vt:lpstr>Verdana</vt:lpstr>
      <vt:lpstr>Office Theme</vt:lpstr>
      <vt:lpstr>Equation</vt:lpstr>
      <vt:lpstr>Macroeconomics ECON 101</vt:lpstr>
      <vt:lpstr>Chapter Outline</vt:lpstr>
      <vt:lpstr>Aggregate Demand</vt:lpstr>
      <vt:lpstr>Aggregate Demand and Aggregate Supply Model</vt:lpstr>
      <vt:lpstr>Figure 9.1 Aggregate Demand and Aggregate Supply</vt:lpstr>
      <vt:lpstr>The Wealth Effect: How a Change in the Price Level Affects Consumption</vt:lpstr>
      <vt:lpstr>The Interest-Rate Effect: How a Change in the Price Level Affects Investment</vt:lpstr>
      <vt:lpstr>The International-Trade Effect: How a Change in the Price Level Affects Net Exports</vt:lpstr>
      <vt:lpstr>Shifts of the AD Curve vs. Movements Along It</vt:lpstr>
      <vt:lpstr>Table 9.1 Variables That Shift the Aggregate Demand Curve (1 of 4)</vt:lpstr>
      <vt:lpstr>Table 9.1 Variables That Shift the Aggregate Demand Curve (2 of 4)</vt:lpstr>
      <vt:lpstr>Table 9.1 Variables That Shift the Aggregate Demand Curve (3 of 4)</vt:lpstr>
      <vt:lpstr>Table 9.1 Variables That Shift the Aggregate Demand Curve (4 of 4)</vt:lpstr>
      <vt:lpstr>Aggregate Supply</vt:lpstr>
      <vt:lpstr>Figure 9.2 Long-Run Aggregate Supply Curve</vt:lpstr>
      <vt:lpstr>Short-Run Aggregate Supply (SRAS) Curve</vt:lpstr>
      <vt:lpstr>Why is the SRAS Curve Upward Sloping?</vt:lpstr>
      <vt:lpstr>Shifts of the SRAS Curve vs. Movements Along It</vt:lpstr>
      <vt:lpstr>Figure 9.3 How Expectations of the Future Price Level Affect the Short-Run Aggregate Supply Curve</vt:lpstr>
      <vt:lpstr>Table 9.2 Variables That Shift the Short-Run Aggregate Supply Curve (1 of 3)</vt:lpstr>
      <vt:lpstr>Table 9.2 Variables That Shift the Short-Run Aggregate Supply Curve (2 of 3)</vt:lpstr>
      <vt:lpstr>Table 9.2 Variables That Shift the Short-Run Aggregate Supply Curve (3 of 3)</vt:lpstr>
      <vt:lpstr>Macroeconomic Equilibrium in the Long Run and the Short Run</vt:lpstr>
      <vt:lpstr>Figure 9.4 Long-Run Macroeconomic Equilibrium </vt:lpstr>
      <vt:lpstr>Figure 9.5 The Short-Run and Long-Run Effects of a Decrease in Aggregate Demand (1 of 2)</vt:lpstr>
      <vt:lpstr>Figure 9.5 The Short-Run and Long-Run Effects of a Decrease in Aggregate Demand (2 of 2)</vt:lpstr>
      <vt:lpstr>Figure 9.6 The Short-Run and Long-Run Effects of an Increase in Aggregate Demand (1 of 2)</vt:lpstr>
      <vt:lpstr>Figure 9.6 The Short-Run and Long-Run Effects of an Increase in Aggregate Demand (2 of 2)</vt:lpstr>
      <vt:lpstr>Figure 9.7 The Short-Run and Long-Run Effects of a Supply Shock (1 of 3)</vt:lpstr>
      <vt:lpstr>Figure 9.7 The Short-Run and Long-Run Effects of a Supply Shock (2 of 3)</vt:lpstr>
      <vt:lpstr>Figure 9.7 The Short-Run and Long-Run Effects of a Supply Shock (3 of 3)</vt:lpstr>
      <vt:lpstr>Apply the Concept: Was the 2020 COVID-19 Recession a Supply Shock or a Demand Shock? (1 of 3) </vt:lpstr>
      <vt:lpstr>Apply the Concept: Was the 2020 COVID-19 Recession a Supply Shock or a Demand Shock? (2 of 3)</vt:lpstr>
      <vt:lpstr>Apply the Concept: Was the 2020 COVID-19 Recession a Supply Shock or a Demand Shock? (3 of 3)</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Macroeconomics, Third Canadian Edition, Chapter 9, Aggregate Demand and Aggregate Supply Analysis</dc:title>
  <dc:subject>Economics</dc:subject>
  <dc:creator>Hubbard, Patrick O’Brien, Serletis, Childs</dc:creator>
  <cp:lastModifiedBy>Muhebullah Karimzada</cp:lastModifiedBy>
  <cp:revision>5259</cp:revision>
  <dcterms:created xsi:type="dcterms:W3CDTF">2014-07-14T20:04:21Z</dcterms:created>
  <dcterms:modified xsi:type="dcterms:W3CDTF">2024-12-30T02:33:53Z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0x0101008EB804D4F82C0B4088CBB3A2B255BE33</vt:lpwstr>
  </property>
</Properties>
</file>