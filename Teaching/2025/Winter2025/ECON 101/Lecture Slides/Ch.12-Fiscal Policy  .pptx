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8"/>
  </p:notesMasterIdLst>
  <p:handoutMasterIdLst>
    <p:handoutMasterId r:id="rId39"/>
  </p:handoutMasterIdLst>
  <p:sldIdLst>
    <p:sldId id="1438" r:id="rId5"/>
    <p:sldId id="1403" r:id="rId6"/>
    <p:sldId id="1611" r:id="rId7"/>
    <p:sldId id="1612" r:id="rId8"/>
    <p:sldId id="1559" r:id="rId9"/>
    <p:sldId id="1560" r:id="rId10"/>
    <p:sldId id="1561" r:id="rId11"/>
    <p:sldId id="1614" r:id="rId12"/>
    <p:sldId id="1566" r:id="rId13"/>
    <p:sldId id="1567" r:id="rId14"/>
    <p:sldId id="1568" r:id="rId15"/>
    <p:sldId id="1509" r:id="rId16"/>
    <p:sldId id="1569" r:id="rId17"/>
    <p:sldId id="1510" r:id="rId18"/>
    <p:sldId id="1615" r:id="rId19"/>
    <p:sldId id="1572" r:id="rId20"/>
    <p:sldId id="1573" r:id="rId21"/>
    <p:sldId id="1616" r:id="rId22"/>
    <p:sldId id="1617" r:id="rId23"/>
    <p:sldId id="1577" r:id="rId24"/>
    <p:sldId id="1583" r:id="rId25"/>
    <p:sldId id="1618" r:id="rId26"/>
    <p:sldId id="1619" r:id="rId27"/>
    <p:sldId id="1587" r:id="rId28"/>
    <p:sldId id="1588" r:id="rId29"/>
    <p:sldId id="1590" r:id="rId30"/>
    <p:sldId id="1621" r:id="rId31"/>
    <p:sldId id="1460" r:id="rId32"/>
    <p:sldId id="1595" r:id="rId33"/>
    <p:sldId id="1596" r:id="rId34"/>
    <p:sldId id="1516" r:id="rId35"/>
    <p:sldId id="1597" r:id="rId36"/>
    <p:sldId id="1598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36">
          <p15:clr>
            <a:srgbClr val="A4A3A4"/>
          </p15:clr>
        </p15:guide>
        <p15:guide id="4" orient="horz" pos="3984">
          <p15:clr>
            <a:srgbClr val="A4A3A4"/>
          </p15:clr>
        </p15:guide>
        <p15:guide id="5" orient="horz" pos="720">
          <p15:clr>
            <a:srgbClr val="A4A3A4"/>
          </p15:clr>
        </p15:guide>
        <p15:guide id="6" orient="horz" pos="1056">
          <p15:clr>
            <a:srgbClr val="A4A3A4"/>
          </p15:clr>
        </p15:guide>
        <p15:guide id="7" orient="horz" pos="1392">
          <p15:clr>
            <a:srgbClr val="A4A3A4"/>
          </p15:clr>
        </p15:guide>
        <p15:guide id="8" pos="288">
          <p15:clr>
            <a:srgbClr val="A4A3A4"/>
          </p15:clr>
        </p15:guide>
        <p15:guide id="9" pos="5472">
          <p15:clr>
            <a:srgbClr val="A4A3A4"/>
          </p15:clr>
        </p15:guide>
        <p15:guide id="10" orient="horz" pos="2496">
          <p15:clr>
            <a:srgbClr val="A4A3A4"/>
          </p15:clr>
        </p15:guide>
        <p15:guide id="11" pos="40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, Mohanapriya" initials="D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AE4"/>
    <a:srgbClr val="007FA3"/>
    <a:srgbClr val="99008C"/>
    <a:srgbClr val="001581"/>
    <a:srgbClr val="82007C"/>
    <a:srgbClr val="96008F"/>
    <a:srgbClr val="595375"/>
    <a:srgbClr val="6B638B"/>
    <a:srgbClr val="000000"/>
    <a:srgbClr val="FDB9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23" autoAdjust="0"/>
    <p:restoredTop sz="91972" autoAdjust="0"/>
  </p:normalViewPr>
  <p:slideViewPr>
    <p:cSldViewPr>
      <p:cViewPr varScale="1">
        <p:scale>
          <a:sx n="113" d="100"/>
          <a:sy n="113" d="100"/>
        </p:scale>
        <p:origin x="744" y="176"/>
      </p:cViewPr>
      <p:guideLst>
        <p:guide orient="horz" pos="2160"/>
        <p:guide pos="2880"/>
        <p:guide orient="horz" pos="336"/>
        <p:guide orient="horz" pos="3984"/>
        <p:guide orient="horz" pos="720"/>
        <p:guide orient="horz" pos="1056"/>
        <p:guide orient="horz" pos="1392"/>
        <p:guide pos="288"/>
        <p:guide pos="5472"/>
        <p:guide orient="horz" pos="2496"/>
        <p:guide pos="4032"/>
      </p:guideLst>
    </p:cSldViewPr>
  </p:slideViewPr>
  <p:outlineViewPr>
    <p:cViewPr>
      <p:scale>
        <a:sx n="33" d="100"/>
        <a:sy n="33" d="100"/>
      </p:scale>
      <p:origin x="48" y="250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77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D874E-E9D5-433B-A149-BDF6BFDD40A8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If this PowerPoint presentation contains mathematical equations, you may need to check that your computer has the following installed: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1) </a:t>
            </a:r>
            <a:r>
              <a:rPr lang="en-IN" dirty="0" err="1"/>
              <a:t>MathType</a:t>
            </a:r>
            <a:r>
              <a:rPr lang="en-IN" dirty="0"/>
              <a:t> Plugin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2) Math Player (free versions available)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3) NVDA Reader (free versions available)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581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979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668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668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575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668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668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7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6687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668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668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6687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668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668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6687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2347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74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6687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74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74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74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5557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5557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55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4C261-EA3E-9972-598F-AB953BC16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078E3-3699-A357-A877-471F27C49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0CD74-D0A1-045C-2F6E-947FEA5FC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312C3-C463-004D-9BCC-0A04D0B77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F17A6-3E5B-4F27-08F3-4DCE2F965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Pearson Logo">
            <a:extLst>
              <a:ext uri="{FF2B5EF4-FFF2-40B4-BE49-F238E27FC236}">
                <a16:creationId xmlns:a16="http://schemas.microsoft.com/office/drawing/2014/main" id="{E080DC99-BB18-4B82-2A04-4B65F6EC38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A9A4C2-D0EF-0E63-0402-484BEFAD6168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0" kern="1200" dirty="0">
                <a:solidFill>
                  <a:schemeClr val="tx1"/>
                </a:solidFill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Copyright © 2024 Pearson Canada 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6BC1C6-C701-95BF-F2AA-409485E07783}"/>
              </a:ext>
            </a:extLst>
          </p:cNvPr>
          <p:cNvSpPr txBox="1"/>
          <p:nvPr userDrawn="1"/>
        </p:nvSpPr>
        <p:spPr>
          <a:xfrm>
            <a:off x="8015565" y="6417107"/>
            <a:ext cx="67999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r>
              <a:rPr lang="en-US" sz="1200" dirty="0">
                <a:solidFill>
                  <a:srgbClr val="A6A6A6"/>
                </a:solidFill>
                <a:latin typeface="Arial" charset="0"/>
              </a:rPr>
              <a:t>12 - </a:t>
            </a:r>
            <a:fld id="{02DAD016-8EBF-CF47-ACE8-593B4CD31605}" type="slidenum">
              <a:rPr lang="en-US" sz="1200">
                <a:solidFill>
                  <a:srgbClr val="A6A6A6"/>
                </a:solidFill>
                <a:latin typeface="Arial" charset="0"/>
              </a:rPr>
              <a:pPr/>
              <a:t>‹#›</a:t>
            </a:fld>
            <a:endParaRPr lang="en-US" sz="1200" dirty="0">
              <a:solidFill>
                <a:srgbClr val="A6A6A6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645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F61DA-8CAF-D0D5-7314-A77CBABDA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6B1C6-0400-8A8B-4EA2-EF98570E6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A16D8-1564-C540-01F1-521D1299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45723-AECB-6A6B-A63D-EBBE01E11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FF04F-E267-AF5E-9AA1-D397B8C3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787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DDCEF-7EB8-B4A7-B5A6-0E0F54F1F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F73F8-8F45-8422-0924-D3F0F32A5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68619-7981-782C-6E8B-B50B944B5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4CC8F-D80E-0EEE-D444-5C20E7E46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67221-1563-83C8-F29D-CF8F290A9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841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04DBE-7E1A-AEFA-B58C-6D4E2C743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3847F-7831-225B-C3C2-EEA0662A34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F20B4-4896-2289-C691-CD7D716A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3846B-BB20-E3E4-F1A4-8E0CC0BD7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E7A17-EC17-F99A-0EAA-C72250FBB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DDFCB-8E61-199B-9B8E-552A0207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30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931B5-1AF8-D03C-397E-4F789FA64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08673-F258-0EEB-891B-1A85576F7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D80525-B2F5-15F0-BE47-92A6CA321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ED739-681F-3F6D-8CF2-CDBE0CE12E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237D5D-3EF3-5B57-5811-EA37BEAB86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C8DF7C-7B3F-6975-5D82-C72ED6559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E0EA46-AA31-78CC-E1BF-A63F3990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B1AECA-86EB-36F7-F412-8E9E3BA81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31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4AF1-0A54-DC1C-2212-1C5FBD41C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ED2F4A-738F-9801-833C-CA79FFF2E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B31CB1-E0A1-7BBB-8623-D6A73BA01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3890E7-6EEA-BA8A-30D3-45516A134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966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FDDAE8-AB3B-4759-01A3-413C0129A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C98B8B-C0C0-1A91-BCD0-09515E2FB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6B4E1-86E0-2513-7004-EA4294E6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C2B2F5-76C5-AA3A-4FFD-634B19610887}"/>
              </a:ext>
            </a:extLst>
          </p:cNvPr>
          <p:cNvSpPr txBox="1"/>
          <p:nvPr userDrawn="1"/>
        </p:nvSpPr>
        <p:spPr>
          <a:xfrm>
            <a:off x="1533525" y="6374626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>
                <a:latin typeface="Verdana" panose="020B0604030504040204" pitchFamily="34" charset="0"/>
              </a:rPr>
              <a:t>Copyright © 2023 by Pearson Education, Inc. All Rights Reserved</a:t>
            </a:r>
          </a:p>
        </p:txBody>
      </p:sp>
      <p:pic>
        <p:nvPicPr>
          <p:cNvPr id="6" name="Picture 5" descr="Pearson Logo">
            <a:extLst>
              <a:ext uri="{FF2B5EF4-FFF2-40B4-BE49-F238E27FC236}">
                <a16:creationId xmlns:a16="http://schemas.microsoft.com/office/drawing/2014/main" id="{567CBE27-0913-6AA1-A5B3-B702F1FB8A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5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5C9FF-99FF-F578-1F43-1CAD87DB2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EF539-889F-BFF8-B369-7B9BCE25A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7458CC-D689-6858-4D32-9CED858A9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2ACFF-FD34-9894-47B1-01FBD826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4D7BD-346D-11F4-CA96-4F06FBE2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2F306-F1A9-5686-6F4E-755C102C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763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CDCA8-0000-4BB8-96A3-CCEA4EC6C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907725-A1DB-BA15-C732-804C756B5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36CA0-8BCD-FDF5-8B62-8FEC7EE08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01F158-6383-C558-AAFC-D3E7A479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E7832-C0A2-5861-0D25-B1F3E92AF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327C9-F866-DCF7-187F-6033F96A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457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77F3C-683A-6F9E-CEAE-4EE48C071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E2BD1-1E85-E51B-46A4-FB9A477AA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9B435-989C-AA3B-6443-CC1F1A4BD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99A9B-2E13-B90C-DEF9-7791ABE9D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CFC08-8309-E170-1793-48744A90E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199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8636A9-0797-45E8-5B3F-C878E0DE8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FC3B6-2BE8-9405-06B0-33563452D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6B32E-482B-1C0D-0846-9037D935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BF214-EE94-DB02-AF0A-539537081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6FABF-7C30-FBA5-A3D5-CFF7E38E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354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sz="1600"/>
            </a:lvl1pPr>
            <a:lvl2pPr marL="569913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554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003438"/>
            <a:ext cx="82296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941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382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47675" y="2771775"/>
            <a:ext cx="8229600" cy="609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3686175"/>
            <a:ext cx="8153400" cy="685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/>
          </p:nvPr>
        </p:nvSpPr>
        <p:spPr>
          <a:xfrm>
            <a:off x="457200" y="5029200"/>
            <a:ext cx="8153400" cy="76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457200" y="4419600"/>
            <a:ext cx="8229600" cy="9906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6456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609600" y="41148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296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382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47675" y="3048000"/>
            <a:ext cx="8229600" cy="609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4495800"/>
            <a:ext cx="8153400" cy="685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1574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09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2362201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457200" y="30480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5"/>
          </p:nvPr>
        </p:nvSpPr>
        <p:spPr>
          <a:xfrm>
            <a:off x="457200" y="38100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6"/>
          </p:nvPr>
        </p:nvSpPr>
        <p:spPr>
          <a:xfrm>
            <a:off x="457200" y="46482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7"/>
          </p:nvPr>
        </p:nvSpPr>
        <p:spPr>
          <a:xfrm>
            <a:off x="609600" y="48006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7332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628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 sz="26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2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1800"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27D47B-F44D-06A1-AD1F-71EE2465812B}"/>
              </a:ext>
            </a:extLst>
          </p:cNvPr>
          <p:cNvSpPr txBox="1"/>
          <p:nvPr userDrawn="1"/>
        </p:nvSpPr>
        <p:spPr>
          <a:xfrm>
            <a:off x="8015565" y="6417107"/>
            <a:ext cx="67999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r>
              <a:rPr lang="en-US" sz="1200" dirty="0">
                <a:solidFill>
                  <a:srgbClr val="A6A6A6"/>
                </a:solidFill>
                <a:latin typeface="Arial" charset="0"/>
              </a:rPr>
              <a:t>12 - </a:t>
            </a:r>
            <a:fld id="{02DAD016-8EBF-CF47-ACE8-593B4CD31605}" type="slidenum">
              <a:rPr lang="en-US" sz="1200">
                <a:solidFill>
                  <a:srgbClr val="A6A6A6"/>
                </a:solidFill>
                <a:latin typeface="Arial" charset="0"/>
              </a:rPr>
              <a:pPr/>
              <a:t>‹#›</a:t>
            </a:fld>
            <a:endParaRPr lang="en-US" sz="1200" dirty="0">
              <a:solidFill>
                <a:srgbClr val="A6A6A6"/>
              </a:solidFill>
              <a:latin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3FB3B-207B-BB90-8DF4-458A7330872B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0" kern="1200" dirty="0">
                <a:solidFill>
                  <a:schemeClr val="tx1"/>
                </a:solidFill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Copyright © 2024 Pearson Canada Inc.</a:t>
            </a: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09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2362201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457200" y="30480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5"/>
          </p:nvPr>
        </p:nvSpPr>
        <p:spPr>
          <a:xfrm>
            <a:off x="457200" y="38100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6"/>
          </p:nvPr>
        </p:nvSpPr>
        <p:spPr>
          <a:xfrm>
            <a:off x="457200" y="46482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7"/>
          </p:nvPr>
        </p:nvSpPr>
        <p:spPr>
          <a:xfrm>
            <a:off x="609600" y="48006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8"/>
          </p:nvPr>
        </p:nvSpPr>
        <p:spPr>
          <a:xfrm>
            <a:off x="762000" y="49530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9"/>
          </p:nvPr>
        </p:nvSpPr>
        <p:spPr>
          <a:xfrm>
            <a:off x="914400" y="51054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20"/>
          </p:nvPr>
        </p:nvSpPr>
        <p:spPr>
          <a:xfrm>
            <a:off x="1066800" y="52578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21"/>
          </p:nvPr>
        </p:nvSpPr>
        <p:spPr>
          <a:xfrm>
            <a:off x="1219200" y="54102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22"/>
          </p:nvPr>
        </p:nvSpPr>
        <p:spPr>
          <a:xfrm>
            <a:off x="1371600" y="55626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23"/>
          </p:nvPr>
        </p:nvSpPr>
        <p:spPr>
          <a:xfrm>
            <a:off x="1524000" y="57150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59676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457200" y="3200400"/>
            <a:ext cx="8229600" cy="12954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1397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457200" y="3200400"/>
            <a:ext cx="8229600" cy="129540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57200" y="4038600"/>
            <a:ext cx="8229600" cy="6858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287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6014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382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47675" y="2771775"/>
            <a:ext cx="8229600" cy="609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3686175"/>
            <a:ext cx="8153400" cy="685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/>
          </p:nvPr>
        </p:nvSpPr>
        <p:spPr>
          <a:xfrm>
            <a:off x="457200" y="5029200"/>
            <a:ext cx="8153400" cy="76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457200" y="4419600"/>
            <a:ext cx="8229600" cy="990600"/>
          </a:xfrm>
        </p:spPr>
        <p:txBody>
          <a:bodyPr/>
          <a:lstStyle/>
          <a:p>
            <a:endParaRPr lang="en-IN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7"/>
          </p:nvPr>
        </p:nvSpPr>
        <p:spPr>
          <a:xfrm>
            <a:off x="457200" y="2438400"/>
            <a:ext cx="8229600" cy="6858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5855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265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533525" y="6374626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>
                <a:latin typeface="Verdana" panose="020B0604030504040204" pitchFamily="34" charset="0"/>
              </a:rPr>
              <a:t>Copyright © 2023 by Pearson Education, Inc. All Rights Reserved</a:t>
            </a:r>
          </a:p>
        </p:txBody>
      </p:sp>
      <p:pic>
        <p:nvPicPr>
          <p:cNvPr id="11" name="Picture 10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136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A976C3-CCF4-41AE-2756-AF2E0B1C6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45C23-BBA8-99C5-36D5-E3C7D4CF9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E0331-81B0-D7D6-7A4F-9EB7B27F6E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DA835-D6F5-4D98-C381-A1E9AC542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93788-E333-3429-8FF8-7583FECFA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>
            <a:extLst>
              <a:ext uri="{FF2B5EF4-FFF2-40B4-BE49-F238E27FC236}">
                <a16:creationId xmlns:a16="http://schemas.microsoft.com/office/drawing/2014/main" id="{F5E30096-4586-AFB8-F7BF-3BFCB6DE6A8C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EF69BD-13F0-D275-23AB-AD97464C705E}"/>
              </a:ext>
            </a:extLst>
          </p:cNvPr>
          <p:cNvSpPr txBox="1"/>
          <p:nvPr userDrawn="1"/>
        </p:nvSpPr>
        <p:spPr>
          <a:xfrm>
            <a:off x="8015565" y="6417107"/>
            <a:ext cx="67999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r>
              <a:rPr lang="en-US" sz="1200" dirty="0">
                <a:solidFill>
                  <a:srgbClr val="A6A6A6"/>
                </a:solidFill>
                <a:latin typeface="Arial" charset="0"/>
              </a:rPr>
              <a:t>12 - </a:t>
            </a:r>
            <a:fld id="{02DAD016-8EBF-CF47-ACE8-593B4CD31605}" type="slidenum">
              <a:rPr lang="en-US" sz="1200">
                <a:solidFill>
                  <a:srgbClr val="A6A6A6"/>
                </a:solidFill>
                <a:latin typeface="Arial" charset="0"/>
              </a:rPr>
              <a:pPr/>
              <a:t>‹#›</a:t>
            </a:fld>
            <a:endParaRPr lang="en-US" sz="1200" dirty="0">
              <a:solidFill>
                <a:srgbClr val="A6A6A6"/>
              </a:solidFill>
              <a:latin typeface="Arial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9CABAE-1A32-133D-80C7-D7EB4B9C5489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0" kern="1200" dirty="0">
                <a:solidFill>
                  <a:schemeClr val="tx1"/>
                </a:solidFill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Copyright © 2024 Pearson Canada Inc.</a:t>
            </a:r>
          </a:p>
        </p:txBody>
      </p:sp>
    </p:spTree>
    <p:extLst>
      <p:ext uri="{BB962C8B-B14F-4D97-AF65-F5344CB8AC3E}">
        <p14:creationId xmlns:p14="http://schemas.microsoft.com/office/powerpoint/2010/main" val="236781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57" r:id="rId18"/>
    <p:sldLayoutId id="2147483650" r:id="rId19"/>
    <p:sldLayoutId id="2147483658" r:id="rId20"/>
    <p:sldLayoutId id="2147483662" r:id="rId21"/>
    <p:sldLayoutId id="2147483661" r:id="rId22"/>
    <p:sldLayoutId id="2147483669" r:id="rId23"/>
    <p:sldLayoutId id="2147483668" r:id="rId24"/>
    <p:sldLayoutId id="2147483670" r:id="rId25"/>
    <p:sldLayoutId id="2147483654" r:id="rId26"/>
    <p:sldLayoutId id="2147483655" r:id="rId2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6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0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4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5B717E13-2DC1-2D7C-F70D-0D5A20A70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38201"/>
            <a:ext cx="7772400" cy="1828800"/>
          </a:xfrm>
        </p:spPr>
        <p:txBody>
          <a:bodyPr/>
          <a:lstStyle/>
          <a:p>
            <a:r>
              <a:rPr lang="en-US" dirty="0"/>
              <a:t>Macroeconomics</a:t>
            </a:r>
            <a:br>
              <a:rPr lang="en-US" dirty="0"/>
            </a:br>
            <a:r>
              <a:rPr lang="en-US" sz="2800" dirty="0"/>
              <a:t>ECON 101</a:t>
            </a:r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ACC0129F-CDA1-6FA5-0D96-CB850EA55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3276600"/>
            <a:ext cx="8305800" cy="1981200"/>
          </a:xfrm>
        </p:spPr>
        <p:txBody>
          <a:bodyPr>
            <a:normAutofit/>
          </a:bodyPr>
          <a:lstStyle/>
          <a:p>
            <a:r>
              <a:rPr lang="en-US" sz="2400" dirty="0"/>
              <a:t>Fiscal Policy</a:t>
            </a:r>
          </a:p>
          <a:p>
            <a:r>
              <a:rPr lang="en-US" dirty="0"/>
              <a:t>(Chapter 12)</a:t>
            </a:r>
          </a:p>
          <a:p>
            <a:endParaRPr lang="en-US" dirty="0"/>
          </a:p>
          <a:p>
            <a:r>
              <a:rPr lang="en-US" dirty="0"/>
              <a:t>Instructor: </a:t>
            </a:r>
            <a:r>
              <a:rPr lang="en-US" dirty="0" err="1"/>
              <a:t>Muhebullah</a:t>
            </a:r>
            <a:r>
              <a:rPr lang="en-US" dirty="0"/>
              <a:t> </a:t>
            </a:r>
            <a:r>
              <a:rPr lang="en-US" dirty="0" err="1"/>
              <a:t>Karimzada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191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B143629-A826-F122-EA7F-127013038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Chapter Outline</a:t>
            </a:r>
            <a:r>
              <a:rPr lang="en-US" sz="2000" b="0" dirty="0">
                <a:latin typeface="+mj-lt"/>
              </a:rPr>
              <a:t> </a:t>
            </a:r>
            <a:endParaRPr lang="en-IN" sz="2000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900"/>
              </a:spcBef>
              <a:buNone/>
            </a:pPr>
            <a:r>
              <a:rPr lang="en-US" sz="2400" b="1" dirty="0"/>
              <a:t>12.1</a:t>
            </a:r>
            <a:r>
              <a:rPr lang="en-US" sz="2400" dirty="0"/>
              <a:t>  What is Fiscal Policy?</a:t>
            </a:r>
          </a:p>
          <a:p>
            <a:pPr marL="762000" indent="-762000">
              <a:spcBef>
                <a:spcPts val="900"/>
              </a:spcBef>
              <a:buNone/>
            </a:pPr>
            <a:r>
              <a:rPr lang="en-US" sz="2400" b="1" dirty="0"/>
              <a:t>12.2  </a:t>
            </a:r>
            <a:r>
              <a:rPr lang="en-US" sz="2400" dirty="0"/>
              <a:t>The Effects of Fiscal Policy on Real GDP and the Price  Level</a:t>
            </a:r>
          </a:p>
          <a:p>
            <a:pPr marL="628650" indent="-628650">
              <a:spcBef>
                <a:spcPts val="900"/>
              </a:spcBef>
              <a:buNone/>
            </a:pPr>
            <a:r>
              <a:rPr lang="en-US" sz="2400" b="1" dirty="0"/>
              <a:t>12.4</a:t>
            </a:r>
            <a:r>
              <a:rPr lang="en-US" sz="2400" dirty="0"/>
              <a:t>  Government Purchases and Tax Multipliers</a:t>
            </a:r>
          </a:p>
          <a:p>
            <a:pPr marL="628650" indent="-628650">
              <a:spcBef>
                <a:spcPts val="900"/>
              </a:spcBef>
              <a:buNone/>
            </a:pPr>
            <a:r>
              <a:rPr lang="en-US" sz="2400" b="1" dirty="0"/>
              <a:t>12.5  </a:t>
            </a:r>
            <a:r>
              <a:rPr lang="en-US" sz="2400" dirty="0"/>
              <a:t>The Limits of Fiscal Policy as a Stimulus</a:t>
            </a:r>
          </a:p>
          <a:p>
            <a:pPr marL="628650" indent="-628650">
              <a:spcBef>
                <a:spcPts val="900"/>
              </a:spcBef>
              <a:buNone/>
            </a:pPr>
            <a:r>
              <a:rPr lang="en-US" sz="2400" b="1" dirty="0"/>
              <a:t>12.6  </a:t>
            </a:r>
            <a:r>
              <a:rPr lang="en-US" sz="2400" dirty="0"/>
              <a:t>Deficits, Surpluses, and Federal Government Debt</a:t>
            </a:r>
          </a:p>
          <a:p>
            <a:pPr marL="628650" indent="-628650">
              <a:spcBef>
                <a:spcPts val="900"/>
              </a:spcBef>
              <a:buNone/>
            </a:pPr>
            <a:r>
              <a:rPr lang="en-US" sz="2400" b="1" dirty="0"/>
              <a:t>12.7  </a:t>
            </a:r>
            <a:r>
              <a:rPr lang="en-US" sz="2400" dirty="0"/>
              <a:t>The Effects of Fiscal Policy in the Long Run</a:t>
            </a:r>
          </a:p>
          <a:p>
            <a:pPr marL="628650" indent="-628650">
              <a:spcBef>
                <a:spcPts val="900"/>
              </a:spcBef>
              <a:buNone/>
            </a:pPr>
            <a:r>
              <a:rPr lang="en-US" sz="2400" b="1" dirty="0"/>
              <a:t>Appendix </a:t>
            </a:r>
            <a:r>
              <a:rPr lang="en-US" sz="2400" dirty="0">
                <a:solidFill>
                  <a:schemeClr val="tx1"/>
                </a:solidFill>
              </a:rPr>
              <a:t>A Closer Look at the Multiplier</a:t>
            </a:r>
          </a:p>
          <a:p>
            <a:pPr marL="628650" indent="-628650">
              <a:spcBef>
                <a:spcPts val="900"/>
              </a:spcBef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37479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08B942-3B66-7CDE-6F85-34C8F57D2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What is Fiscal Policy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53473E9-A91E-6AB5-6C4F-8FAF24A5A7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</a:rPr>
              <a:t>12.1 Learning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Objective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D4BEB6A-500B-D76F-A4BD-3889234C97A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Define fiscal policy.</a:t>
            </a:r>
          </a:p>
          <a:p>
            <a:pPr marL="0" indent="0">
              <a:spcBef>
                <a:spcPts val="1000"/>
              </a:spcBef>
              <a:buFont typeface="Arial" panose="020B0604020202020204" pitchFamily="34" charset="0"/>
              <a:buNone/>
              <a:defRPr/>
            </a:pPr>
            <a:r>
              <a:rPr lang="en-US" sz="2100" b="1" dirty="0"/>
              <a:t>Fiscal policy </a:t>
            </a:r>
            <a:r>
              <a:rPr lang="en-US" sz="2100" dirty="0"/>
              <a:t>refers to changes in </a:t>
            </a:r>
            <a:r>
              <a:rPr lang="en-US" sz="2100" i="1" dirty="0"/>
              <a:t>federal</a:t>
            </a:r>
            <a:r>
              <a:rPr lang="en-US" sz="2100" dirty="0"/>
              <a:t> taxes and purchases that are intended to achieve macroeconomic policy objectives.</a:t>
            </a:r>
          </a:p>
          <a:p>
            <a:pPr marL="0" indent="0">
              <a:spcBef>
                <a:spcPts val="1000"/>
              </a:spcBef>
              <a:buFont typeface="Arial" panose="020B0604020202020204" pitchFamily="34" charset="0"/>
              <a:buNone/>
              <a:defRPr/>
            </a:pPr>
            <a:r>
              <a:rPr lang="en-US" sz="2100" dirty="0"/>
              <a:t>(Provincial and territorial taxes and spending are not generally aimed at affecting </a:t>
            </a:r>
            <a:r>
              <a:rPr lang="en-US" sz="2100" i="1" dirty="0"/>
              <a:t>national-level</a:t>
            </a:r>
            <a:r>
              <a:rPr lang="en-US" sz="2100" dirty="0"/>
              <a:t> objectives.)</a:t>
            </a:r>
          </a:p>
          <a:p>
            <a:pPr marL="0" indent="0">
              <a:spcBef>
                <a:spcPts val="1000"/>
              </a:spcBef>
              <a:buFont typeface="Arial" panose="020B0604020202020204" pitchFamily="34" charset="0"/>
              <a:buNone/>
              <a:defRPr/>
            </a:pPr>
            <a:r>
              <a:rPr lang="en-US" sz="2100" dirty="0"/>
              <a:t>Some forms of government spending and taxes automatically increase or decrease along with the business cycle; these are </a:t>
            </a:r>
            <a:r>
              <a:rPr lang="en-US" sz="2100" b="1" dirty="0"/>
              <a:t>automatic stabilizers.</a:t>
            </a:r>
          </a:p>
          <a:p>
            <a:pPr marL="0" indent="0">
              <a:spcBef>
                <a:spcPts val="1000"/>
              </a:spcBef>
              <a:buFont typeface="Arial" panose="020B0604020202020204" pitchFamily="34" charset="0"/>
              <a:buNone/>
              <a:defRPr/>
            </a:pPr>
            <a:r>
              <a:rPr lang="en-US" sz="2100" b="1" i="1" dirty="0"/>
              <a:t>Example: </a:t>
            </a:r>
            <a:r>
              <a:rPr lang="en-US" sz="2100" i="1" dirty="0"/>
              <a:t>Employment insurance payments are larger during a recession</a:t>
            </a:r>
            <a:r>
              <a:rPr lang="en-US" sz="2100" dirty="0"/>
              <a:t>.</a:t>
            </a:r>
          </a:p>
          <a:p>
            <a:pPr marL="0" indent="0">
              <a:spcBef>
                <a:spcPts val="1000"/>
              </a:spcBef>
              <a:buFont typeface="Arial" panose="020B0604020202020204" pitchFamily="34" charset="0"/>
              <a:buNone/>
              <a:defRPr/>
            </a:pPr>
            <a:r>
              <a:rPr lang="en-US" sz="2100" b="1" i="1" dirty="0"/>
              <a:t>Discretionary fiscal policy</a:t>
            </a:r>
            <a:r>
              <a:rPr lang="en-US" sz="2100" b="1" dirty="0"/>
              <a:t>,</a:t>
            </a:r>
            <a:r>
              <a:rPr lang="en-US" sz="2100" dirty="0"/>
              <a:t> on the other hand, refers to intentional actions the government takes to change spending or taxes.</a:t>
            </a:r>
          </a:p>
        </p:txBody>
      </p:sp>
    </p:spTree>
    <p:extLst>
      <p:ext uri="{BB962C8B-B14F-4D97-AF65-F5344CB8AC3E}">
        <p14:creationId xmlns:p14="http://schemas.microsoft.com/office/powerpoint/2010/main" val="3893881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9EC06F3-B101-1C32-60C6-283E5C7DD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982058"/>
          </a:xfrm>
        </p:spPr>
        <p:txBody>
          <a:bodyPr/>
          <a:lstStyle/>
          <a:p>
            <a:r>
              <a:rPr lang="en-IN" sz="3200" dirty="0">
                <a:latin typeface="+mj-lt"/>
              </a:rPr>
              <a:t>The Effects of Fiscal Policy on Real GDP and the Price Level</a:t>
            </a:r>
            <a:endParaRPr lang="en-IN" sz="3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BEF04AC-C17D-2937-367B-92514F47D2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283155"/>
            <a:ext cx="8229600" cy="402770"/>
          </a:xfrm>
        </p:spPr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</a:rPr>
              <a:t>12.2 Learning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Objective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304077B-CB52-1153-2B9C-959E767237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752600"/>
            <a:ext cx="8229600" cy="4495800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/>
              <a:t>Explain how fiscal policy affects aggregate demand and how the government can use fiscal policy to stabilize the economy.</a:t>
            </a:r>
          </a:p>
          <a:p>
            <a:pPr marL="432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400" dirty="0"/>
              <a:t>The government carry out fiscal policy through:</a:t>
            </a:r>
          </a:p>
          <a:p>
            <a:pPr>
              <a:spcBef>
                <a:spcPts val="1000"/>
              </a:spcBef>
            </a:pPr>
            <a:r>
              <a:rPr lang="en-US" sz="2200" dirty="0"/>
              <a:t>Changes in government purchases</a:t>
            </a:r>
          </a:p>
          <a:p>
            <a:pPr>
              <a:spcBef>
                <a:spcPts val="1000"/>
              </a:spcBef>
            </a:pPr>
            <a:r>
              <a:rPr lang="en-US" sz="2200" dirty="0"/>
              <a:t>Changes in taxes</a:t>
            </a:r>
          </a:p>
          <a:p>
            <a:pPr marL="432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200" dirty="0"/>
              <a:t>A change in government purchases </a:t>
            </a:r>
            <a:r>
              <a:rPr lang="en-US" sz="2200" b="1" dirty="0"/>
              <a:t>directly</a:t>
            </a:r>
            <a:r>
              <a:rPr lang="en-US" sz="2200" dirty="0"/>
              <a:t> affects aggregate demand.</a:t>
            </a:r>
          </a:p>
          <a:p>
            <a:pPr marL="432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200" dirty="0"/>
              <a:t>A change in taxes changes income; this in turn affects consumption, and so it has an </a:t>
            </a:r>
            <a:r>
              <a:rPr lang="en-US" sz="2200" b="1" dirty="0"/>
              <a:t>indirect</a:t>
            </a:r>
            <a:r>
              <a:rPr lang="en-US" sz="2200" dirty="0"/>
              <a:t> effect on aggregate demand.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009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628"/>
            <a:ext cx="8229600" cy="684372"/>
          </a:xfrm>
        </p:spPr>
        <p:txBody>
          <a:bodyPr>
            <a:noAutofit/>
          </a:bodyPr>
          <a:lstStyle/>
          <a:p>
            <a:r>
              <a:rPr lang="en-IN" dirty="0">
                <a:latin typeface="+mj-lt"/>
              </a:rPr>
              <a:t>Figure 12.7 Fiscal Policy</a:t>
            </a:r>
            <a:r>
              <a:rPr lang="en-IN" sz="2000" dirty="0">
                <a:latin typeface="+mj-lt"/>
              </a:rPr>
              <a:t> </a:t>
            </a:r>
            <a:r>
              <a:rPr lang="en-US" sz="2000" b="0" dirty="0">
                <a:latin typeface="+mj-lt"/>
              </a:rPr>
              <a:t>(1 of 2)</a:t>
            </a:r>
            <a:endParaRPr lang="en-US" sz="20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3962400" cy="2923877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800" i="1" dirty="0"/>
              <a:t>Expansionary fiscal policy </a:t>
            </a:r>
            <a:r>
              <a:rPr lang="en-US" sz="1800" dirty="0"/>
              <a:t>involves increasing government purchases or decreasing taxes.</a:t>
            </a:r>
          </a:p>
          <a:p>
            <a:pPr marL="266700" indent="-266700">
              <a:spcBef>
                <a:spcPts val="600"/>
              </a:spcBef>
              <a:defRPr/>
            </a:pPr>
            <a:r>
              <a:rPr lang="en-US" sz="1800" dirty="0"/>
              <a:t>Increasing government purchases directly increases aggregate demand.</a:t>
            </a:r>
          </a:p>
          <a:p>
            <a:pPr marL="266700" indent="-266700">
              <a:spcBef>
                <a:spcPts val="600"/>
              </a:spcBef>
              <a:defRPr/>
            </a:pPr>
            <a:r>
              <a:rPr lang="en-US" sz="1800" dirty="0"/>
              <a:t>Decreasing taxes indirectly affects aggregate demand by increasing disposable income, and hence consumption spending.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>
          <a:xfrm>
            <a:off x="447675" y="4267200"/>
            <a:ext cx="3971925" cy="16459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i="1" kern="0" dirty="0"/>
              <a:t>If the government believes real GDP will be </a:t>
            </a:r>
            <a:r>
              <a:rPr lang="en-US" sz="1800" b="1" i="1" kern="0" dirty="0"/>
              <a:t>below potential GDP,</a:t>
            </a:r>
            <a:r>
              <a:rPr lang="en-US" sz="1800" i="1" kern="0" dirty="0"/>
              <a:t> it can enact </a:t>
            </a:r>
            <a:r>
              <a:rPr lang="en-US" sz="1800" b="1" i="1" kern="0" dirty="0"/>
              <a:t>expansionary fiscal policy </a:t>
            </a:r>
            <a:r>
              <a:rPr lang="en-US" sz="1800" i="1" kern="0" dirty="0"/>
              <a:t>in an attempt to restore long-run equilibrium—decreasing unemployment.</a:t>
            </a:r>
            <a:endParaRPr lang="en-US" sz="1800" dirty="0"/>
          </a:p>
        </p:txBody>
      </p:sp>
      <p:pic>
        <p:nvPicPr>
          <p:cNvPr id="8" name="Picture 7" descr="A line graph depicts the fiscal policy">
            <a:extLst>
              <a:ext uri="{FF2B5EF4-FFF2-40B4-BE49-F238E27FC236}">
                <a16:creationId xmlns:a16="http://schemas.microsoft.com/office/drawing/2014/main" id="{E9CACA89-2BFE-5AFC-F077-DE5DB3C58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2" y="1219200"/>
            <a:ext cx="3939452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897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8A28C-81CF-A5D1-E18D-82BD5E0E9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7628"/>
            <a:ext cx="8229600" cy="684372"/>
          </a:xfrm>
        </p:spPr>
        <p:txBody>
          <a:bodyPr>
            <a:noAutofit/>
          </a:bodyPr>
          <a:lstStyle/>
          <a:p>
            <a:r>
              <a:rPr lang="en-IN" dirty="0">
                <a:latin typeface="+mj-lt"/>
              </a:rPr>
              <a:t>Figure 12.7 Fiscal Policy</a:t>
            </a:r>
            <a:r>
              <a:rPr lang="en-IN" sz="2000" dirty="0">
                <a:latin typeface="+mj-lt"/>
              </a:rPr>
              <a:t> </a:t>
            </a:r>
            <a:r>
              <a:rPr lang="en-US" sz="2000" b="0" dirty="0">
                <a:latin typeface="+mj-lt"/>
              </a:rPr>
              <a:t>(2 of 2)</a:t>
            </a:r>
            <a:endParaRPr lang="en-US" sz="20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9852"/>
            <a:ext cx="3962400" cy="200054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-US" sz="2000" i="1" dirty="0" err="1"/>
              <a:t>Contractionary</a:t>
            </a:r>
            <a:r>
              <a:rPr lang="en-US" sz="2000" i="1" dirty="0"/>
              <a:t> fiscal policy </a:t>
            </a:r>
            <a:r>
              <a:rPr lang="en-US" sz="2000" dirty="0"/>
              <a:t>involves </a:t>
            </a:r>
            <a:r>
              <a:rPr lang="en-US" sz="2000" i="1" dirty="0"/>
              <a:t>decreasing</a:t>
            </a:r>
            <a:r>
              <a:rPr lang="en-US" sz="2000" dirty="0"/>
              <a:t> government purchases or </a:t>
            </a:r>
            <a:r>
              <a:rPr lang="en-US" sz="2000" i="1" dirty="0"/>
              <a:t>increasing</a:t>
            </a:r>
            <a:r>
              <a:rPr lang="en-US" sz="2000" dirty="0"/>
              <a:t> taxes.</a:t>
            </a:r>
          </a:p>
          <a:p>
            <a:pPr marL="266700" indent="-266700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 dirty="0"/>
              <a:t>This works just like expansionary fiscal policy, only in reverse.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>
          <a:xfrm>
            <a:off x="447675" y="3228945"/>
            <a:ext cx="3819525" cy="18466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i="1" dirty="0"/>
              <a:t>If the government believes real GDP will be </a:t>
            </a:r>
            <a:r>
              <a:rPr lang="en-US" sz="2000" b="1" i="1" dirty="0"/>
              <a:t>above potential GDP,</a:t>
            </a:r>
            <a:r>
              <a:rPr lang="en-US" sz="2000" i="1" dirty="0"/>
              <a:t> it can enact </a:t>
            </a:r>
            <a:r>
              <a:rPr lang="en-US" sz="2000" b="1" i="1" dirty="0" err="1"/>
              <a:t>contractionary</a:t>
            </a:r>
            <a:r>
              <a:rPr lang="en-US" sz="2000" b="1" i="1" dirty="0"/>
              <a:t> fiscal policy </a:t>
            </a:r>
            <a:r>
              <a:rPr lang="en-US" sz="2000" i="1" dirty="0"/>
              <a:t>in an attempt to restore long-run equilibrium—decreasing inflation.</a:t>
            </a:r>
            <a:endParaRPr lang="en-US" sz="2000" dirty="0"/>
          </a:p>
        </p:txBody>
      </p:sp>
      <p:pic>
        <p:nvPicPr>
          <p:cNvPr id="7" name="Picture 6" descr="A line graph depicts the fiscal policy">
            <a:extLst>
              <a:ext uri="{FF2B5EF4-FFF2-40B4-BE49-F238E27FC236}">
                <a16:creationId xmlns:a16="http://schemas.microsoft.com/office/drawing/2014/main" id="{2CBC2E9A-9C87-FF37-DAB5-E3D19977E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295400"/>
            <a:ext cx="410009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05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81EBFBF-83C9-B1FE-7393-F556817AE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99029"/>
          </a:xfrm>
        </p:spPr>
        <p:txBody>
          <a:bodyPr/>
          <a:lstStyle/>
          <a:p>
            <a:r>
              <a:rPr lang="en-US" sz="3200" dirty="0">
                <a:latin typeface="+mj-lt"/>
              </a:rPr>
              <a:t>Table 12.1 Countercyclical Fiscal Policy</a:t>
            </a:r>
            <a:endParaRPr lang="en-IN" sz="3200" dirty="0">
              <a:latin typeface="+mj-lt"/>
            </a:endParaRPr>
          </a:p>
        </p:txBody>
      </p:sp>
      <p:graphicFrame>
        <p:nvGraphicFramePr>
          <p:cNvPr id="13" name="Content Placeholder 7">
            <a:extLst>
              <a:ext uri="{FF2B5EF4-FFF2-40B4-BE49-F238E27FC236}">
                <a16:creationId xmlns:a16="http://schemas.microsoft.com/office/drawing/2014/main" id="{53EF92B4-0141-D336-5B01-C23CF7B346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7734873"/>
              </p:ext>
            </p:extLst>
          </p:nvPr>
        </p:nvGraphicFramePr>
        <p:xfrm>
          <a:off x="535578" y="1371600"/>
          <a:ext cx="8232776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0982">
                  <a:extLst>
                    <a:ext uri="{9D8B030D-6E8A-4147-A177-3AD203B41FA5}">
                      <a16:colId xmlns:a16="http://schemas.microsoft.com/office/drawing/2014/main" val="3219004249"/>
                    </a:ext>
                  </a:extLst>
                </a:gridCol>
                <a:gridCol w="2101931">
                  <a:extLst>
                    <a:ext uri="{9D8B030D-6E8A-4147-A177-3AD203B41FA5}">
                      <a16:colId xmlns:a16="http://schemas.microsoft.com/office/drawing/2014/main" val="335755645"/>
                    </a:ext>
                  </a:extLst>
                </a:gridCol>
                <a:gridCol w="2451669">
                  <a:extLst>
                    <a:ext uri="{9D8B030D-6E8A-4147-A177-3AD203B41FA5}">
                      <a16:colId xmlns:a16="http://schemas.microsoft.com/office/drawing/2014/main" val="2274141885"/>
                    </a:ext>
                  </a:extLst>
                </a:gridCol>
                <a:gridCol w="2058194">
                  <a:extLst>
                    <a:ext uri="{9D8B030D-6E8A-4147-A177-3AD203B41FA5}">
                      <a16:colId xmlns:a16="http://schemas.microsoft.com/office/drawing/2014/main" val="1968404554"/>
                    </a:ext>
                  </a:extLst>
                </a:gridCol>
              </a:tblGrid>
              <a:tr h="457834">
                <a:tc>
                  <a:txBody>
                    <a:bodyPr/>
                    <a:lstStyle/>
                    <a:p>
                      <a:r>
                        <a:rPr lang="en-US" sz="1400" b="1" baseline="0" dirty="0"/>
                        <a:t>Problem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baseline="0" dirty="0"/>
                        <a:t>Type of Policy Required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baseline="0" dirty="0"/>
                        <a:t>Actions by Congress</a:t>
                      </a:r>
                    </a:p>
                    <a:p>
                      <a:r>
                        <a:rPr lang="en-US" sz="1400" b="1" baseline="0" dirty="0"/>
                        <a:t>and the President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baseline="0" dirty="0"/>
                        <a:t>Result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092464"/>
                  </a:ext>
                </a:extLst>
              </a:tr>
              <a:tr h="457834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Recession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Expansionary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Increase government</a:t>
                      </a:r>
                    </a:p>
                    <a:p>
                      <a:r>
                        <a:rPr lang="en-US" sz="1400" baseline="0" dirty="0"/>
                        <a:t>purchases or cut taxes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Real G</a:t>
                      </a:r>
                      <a:r>
                        <a:rPr lang="en-US" sz="100" baseline="0" dirty="0"/>
                        <a:t> </a:t>
                      </a:r>
                      <a:r>
                        <a:rPr lang="en-US" sz="1400" baseline="0" dirty="0"/>
                        <a:t>D</a:t>
                      </a:r>
                      <a:r>
                        <a:rPr lang="en-US" sz="100" baseline="0" dirty="0"/>
                        <a:t> </a:t>
                      </a:r>
                      <a:r>
                        <a:rPr lang="en-US" sz="1400" baseline="0" dirty="0"/>
                        <a:t>P and the price level rise.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622414"/>
                  </a:ext>
                </a:extLst>
              </a:tr>
              <a:tr h="457834"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Rising inflation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Contractionary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Decrease government</a:t>
                      </a:r>
                    </a:p>
                    <a:p>
                      <a:r>
                        <a:rPr lang="en-US" sz="1400" baseline="0" dirty="0"/>
                        <a:t>purchases or raise taxes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Real G</a:t>
                      </a:r>
                      <a:r>
                        <a:rPr lang="en-US" sz="100" baseline="0" dirty="0"/>
                        <a:t> </a:t>
                      </a:r>
                      <a:r>
                        <a:rPr lang="en-US" sz="1400" baseline="0" dirty="0"/>
                        <a:t>D</a:t>
                      </a:r>
                      <a:r>
                        <a:rPr lang="en-US" sz="100" baseline="0" dirty="0"/>
                        <a:t> </a:t>
                      </a:r>
                      <a:r>
                        <a:rPr lang="en-US" sz="1400" baseline="0" dirty="0"/>
                        <a:t>P and the price level fall.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369196"/>
                  </a:ext>
                </a:extLst>
              </a:tr>
            </a:tbl>
          </a:graphicData>
        </a:graphic>
      </p:graphicFrame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BA0FAA1A-7CA0-46D5-3BB0-90B6D130DA55}"/>
              </a:ext>
            </a:extLst>
          </p:cNvPr>
          <p:cNvSpPr txBox="1">
            <a:spLocks/>
          </p:cNvSpPr>
          <p:nvPr/>
        </p:nvSpPr>
        <p:spPr>
          <a:xfrm>
            <a:off x="457200" y="3098428"/>
            <a:ext cx="8232128" cy="27705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6032" indent="-256032" algn="l" defTabSz="914400" rtl="0" eaLnBrk="1" latinLnBrk="0" hangingPunct="1">
              <a:spcBef>
                <a:spcPts val="15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ts val="3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ts val="3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ts val="3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ts val="3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2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000" dirty="0"/>
              <a:t>Bear in mind that:</a:t>
            </a:r>
          </a:p>
          <a:p>
            <a:pPr>
              <a:spcBef>
                <a:spcPts val="1000"/>
              </a:spcBef>
            </a:pPr>
            <a:r>
              <a:rPr lang="en-US" sz="2000" dirty="0"/>
              <a:t>The effects described assume </a:t>
            </a:r>
            <a:r>
              <a:rPr lang="en-US" sz="2000" b="1" dirty="0"/>
              <a:t>ceteris paribus: </a:t>
            </a:r>
            <a:r>
              <a:rPr lang="en-US" sz="2000" dirty="0"/>
              <a:t>everything else is staying the same, including </a:t>
            </a:r>
            <a:r>
              <a:rPr lang="en-US" sz="2000" b="1" dirty="0"/>
              <a:t>monetary policy.</a:t>
            </a:r>
          </a:p>
          <a:p>
            <a:pPr>
              <a:spcBef>
                <a:spcPts val="1000"/>
              </a:spcBef>
            </a:pPr>
            <a:r>
              <a:rPr lang="en-US" sz="2000" dirty="0"/>
              <a:t>Contractionary fiscal policy is not really causing prices to fall; it’s causing inflation to be lower </a:t>
            </a:r>
            <a:r>
              <a:rPr lang="en-US" sz="2000" b="1" dirty="0"/>
              <a:t>than it otherwise would have been.</a:t>
            </a:r>
          </a:p>
        </p:txBody>
      </p:sp>
    </p:spTree>
    <p:extLst>
      <p:ext uri="{BB962C8B-B14F-4D97-AF65-F5344CB8AC3E}">
        <p14:creationId xmlns:p14="http://schemas.microsoft.com/office/powerpoint/2010/main" val="372571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D0CB972-C5C3-6D66-036E-B564DA5B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1003828"/>
          </a:xfrm>
        </p:spPr>
        <p:txBody>
          <a:bodyPr/>
          <a:lstStyle/>
          <a:p>
            <a:r>
              <a:rPr lang="en-IN" sz="3200" dirty="0">
                <a:latin typeface="+mj-lt"/>
              </a:rPr>
              <a:t>The Government Purchases and Tax Multipliers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4D1AFE9-D214-94F7-867A-0BB6D77628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311730"/>
            <a:ext cx="8229600" cy="402770"/>
          </a:xfrm>
        </p:spPr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</a:rPr>
              <a:t>12.4 Learning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Objective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4D4EEA5-DA06-466B-95E8-0C6F20D7B8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pPr marL="0" indent="0">
              <a:spcBef>
                <a:spcPts val="1000"/>
              </a:spcBef>
              <a:buNone/>
            </a:pPr>
            <a:r>
              <a:rPr lang="en-US" sz="2400" dirty="0"/>
              <a:t>Explain how the government purchases and tax multipliers work.</a:t>
            </a:r>
          </a:p>
          <a:p>
            <a:pPr marL="432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200" dirty="0"/>
              <a:t>If the government increases its spending on goods and services, then aggregate demand increases immediately. This is the </a:t>
            </a:r>
            <a:r>
              <a:rPr lang="en-US" sz="2200" b="1" dirty="0"/>
              <a:t>autonomous </a:t>
            </a:r>
            <a:r>
              <a:rPr lang="en-US" sz="2200" dirty="0"/>
              <a:t>increase in aggregate demand.</a:t>
            </a:r>
          </a:p>
          <a:p>
            <a:pPr marL="432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200" dirty="0"/>
              <a:t>But then people receive this increased spending as increased income, increasing their consumption spending accordingly. This is the </a:t>
            </a:r>
            <a:r>
              <a:rPr lang="en-US" sz="2200" b="1" dirty="0"/>
              <a:t>induced</a:t>
            </a:r>
            <a:r>
              <a:rPr lang="en-US" sz="2200" dirty="0"/>
              <a:t> increase in aggregate demand.</a:t>
            </a:r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en-US" sz="2200" dirty="0"/>
              <a:t>The series of induced increases in consumption spending that results from the initial increase in autonomous expenditures is known as the </a:t>
            </a:r>
            <a:r>
              <a:rPr lang="en-US" sz="2200" b="1" dirty="0"/>
              <a:t>multiplier effect.</a:t>
            </a:r>
          </a:p>
          <a:p>
            <a:pPr marL="0" indent="0">
              <a:spcBef>
                <a:spcPts val="1000"/>
              </a:spcBef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8753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066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latin typeface="+mj-lt"/>
              </a:rPr>
              <a:t>Figure 12.10 </a:t>
            </a:r>
            <a:r>
              <a:rPr lang="en-IN" dirty="0">
                <a:latin typeface="+mj-lt"/>
              </a:rPr>
              <a:t>The Multiplier Effect and Aggregate Demand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FE01CE4-7318-724E-19F2-B60C8DF5FE1C}"/>
              </a:ext>
            </a:extLst>
          </p:cNvPr>
          <p:cNvSpPr txBox="1">
            <a:spLocks/>
          </p:cNvSpPr>
          <p:nvPr/>
        </p:nvSpPr>
        <p:spPr>
          <a:xfrm>
            <a:off x="457200" y="1558413"/>
            <a:ext cx="3403600" cy="25402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6032" indent="-256032" algn="l" defTabSz="914400" rtl="0" eaLnBrk="1" latinLnBrk="0" hangingPunct="1">
              <a:spcBef>
                <a:spcPts val="15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ts val="3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ts val="3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ts val="3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ts val="3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2" indent="0">
              <a:buFont typeface="Arial" panose="020B0604020202020204" pitchFamily="34" charset="0"/>
              <a:buNone/>
            </a:pPr>
            <a:r>
              <a:rPr lang="en-US" sz="2400" dirty="0"/>
              <a:t>Predicting the eventual (multiplied) effect of a change in autonomous expenditures requires knowing how big the multiplier is.</a:t>
            </a:r>
          </a:p>
        </p:txBody>
      </p:sp>
      <p:pic>
        <p:nvPicPr>
          <p:cNvPr id="4" name="Picture 3" descr="A line graph depicts multiplier effect and aggregate demand.">
            <a:extLst>
              <a:ext uri="{FF2B5EF4-FFF2-40B4-BE49-F238E27FC236}">
                <a16:creationId xmlns:a16="http://schemas.microsoft.com/office/drawing/2014/main" id="{3F8363A1-C137-B2EE-36A2-968198E8C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959" y="1600200"/>
            <a:ext cx="4852416" cy="376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63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628"/>
            <a:ext cx="8229600" cy="11079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latin typeface="+mj-lt"/>
              </a:rPr>
              <a:t>Figure 12.11 </a:t>
            </a:r>
            <a:r>
              <a:rPr lang="en-IN" dirty="0">
                <a:latin typeface="+mj-lt"/>
              </a:rPr>
              <a:t>The Multiplier Effect of an Increase in Government Purchases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12158"/>
            <a:ext cx="8229600" cy="1538883"/>
          </a:xfrm>
        </p:spPr>
        <p:txBody>
          <a:bodyPr>
            <a:noAutofit/>
          </a:bodyPr>
          <a:lstStyle/>
          <a:p>
            <a:pPr marL="0" indent="0">
              <a:spcBef>
                <a:spcPts val="1000"/>
              </a:spcBef>
              <a:buNone/>
              <a:defRPr/>
            </a:pPr>
            <a:r>
              <a:rPr lang="en-US" sz="1800" dirty="0"/>
              <a:t>Suppose each increase in spending induces an increase in consumption spending by one-half of the increase in income from the previous period, on domestically produced goods and services.</a:t>
            </a:r>
          </a:p>
          <a:p>
            <a:pPr marL="266700" indent="-266700">
              <a:spcBef>
                <a:spcPts val="1000"/>
              </a:spcBef>
              <a:defRPr/>
            </a:pPr>
            <a:r>
              <a:rPr lang="en-US" sz="1800" dirty="0"/>
              <a:t>Over time, a $10 billion increase in government purchases will result in an additional $10 billion in induced consumption spending.</a:t>
            </a:r>
          </a:p>
        </p:txBody>
      </p:sp>
      <p:pic>
        <p:nvPicPr>
          <p:cNvPr id="5" name="Picture 4" descr="A table and a histogram depict the multiplier effect of an increase in government purchases.">
            <a:extLst>
              <a:ext uri="{FF2B5EF4-FFF2-40B4-BE49-F238E27FC236}">
                <a16:creationId xmlns:a16="http://schemas.microsoft.com/office/drawing/2014/main" id="{E48CEA82-F26F-7420-7431-C82CA3E8E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74" y="1600200"/>
            <a:ext cx="7003051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78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6560"/>
            <a:ext cx="8229600" cy="1046440"/>
          </a:xfrm>
        </p:spPr>
        <p:txBody>
          <a:bodyPr>
            <a:noAutofit/>
          </a:bodyPr>
          <a:lstStyle/>
          <a:p>
            <a:r>
              <a:rPr lang="en-IN" dirty="0">
                <a:latin typeface="+mj-lt"/>
              </a:rPr>
              <a:t>Multipliers for Government Purchases and Taxes</a:t>
            </a:r>
            <a:endParaRPr lang="en-US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8925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We can describe the total effect of a change (increase </a:t>
            </a:r>
            <a:r>
              <a:rPr lang="en-US" sz="2000" i="1" dirty="0"/>
              <a:t>or</a:t>
            </a:r>
            <a:r>
              <a:rPr lang="en-US" sz="2000" dirty="0"/>
              <a:t> decrease) in government purchases or taxes by measuring the change in equilibrium real GDP.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>
          <a:xfrm>
            <a:off x="457200" y="3964245"/>
            <a:ext cx="8229600" cy="2369880"/>
          </a:xfrm>
        </p:spPr>
        <p:txBody>
          <a:bodyPr>
            <a:noAutofit/>
          </a:bodyPr>
          <a:lstStyle/>
          <a:p>
            <a:pPr marL="0" indent="0">
              <a:spcBef>
                <a:spcPts val="1000"/>
              </a:spcBef>
              <a:spcAft>
                <a:spcPts val="0"/>
              </a:spcAft>
              <a:buNone/>
              <a:defRPr/>
            </a:pPr>
            <a:r>
              <a:rPr lang="en-US" sz="2000" dirty="0"/>
              <a:t>The tax multiplier will be a negative number: an increase in taxes will </a:t>
            </a:r>
            <a:r>
              <a:rPr lang="en-US" sz="2000" i="1" dirty="0"/>
              <a:t>decrease</a:t>
            </a:r>
            <a:r>
              <a:rPr lang="en-US" sz="2000" dirty="0"/>
              <a:t> equilibrium real GDP, and vice versa.</a:t>
            </a:r>
          </a:p>
          <a:p>
            <a:pPr marL="0" indent="0">
              <a:spcBef>
                <a:spcPts val="1000"/>
              </a:spcBef>
              <a:spcAft>
                <a:spcPts val="0"/>
              </a:spcAft>
              <a:buNone/>
              <a:defRPr/>
            </a:pPr>
            <a:r>
              <a:rPr lang="en-US" sz="2000" dirty="0"/>
              <a:t>We expect the tax multiplier to be </a:t>
            </a:r>
            <a:r>
              <a:rPr lang="en-US" sz="2000" i="1" dirty="0"/>
              <a:t>smaller </a:t>
            </a:r>
            <a:r>
              <a:rPr lang="en-US" sz="2000" dirty="0"/>
              <a:t>(in absolute value) than the government purchases multiplier.</a:t>
            </a:r>
          </a:p>
          <a:p>
            <a:pPr marL="266700" indent="-266700">
              <a:spcBef>
                <a:spcPts val="1000"/>
              </a:spcBef>
              <a:defRPr/>
            </a:pPr>
            <a:r>
              <a:rPr lang="en-US" sz="2000" dirty="0"/>
              <a:t>Why? A $10 billion increase in purchases initially increases spending by $10 billion, but a $10 billion tax cut is partially spent and partially saved.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807009"/>
              </p:ext>
            </p:extLst>
          </p:nvPr>
        </p:nvGraphicFramePr>
        <p:xfrm>
          <a:off x="769938" y="2432050"/>
          <a:ext cx="709771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3920" imgH="685800" progId="Equation.DSMT4">
                  <p:embed/>
                </p:oleObj>
              </mc:Choice>
              <mc:Fallback>
                <p:oleObj name="Equation" r:id="rId3" imgW="7873920" imgH="685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8" y="2432050"/>
                        <a:ext cx="7097712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346266"/>
              </p:ext>
            </p:extLst>
          </p:nvPr>
        </p:nvGraphicFramePr>
        <p:xfrm>
          <a:off x="1917700" y="3194050"/>
          <a:ext cx="484187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371920" imgH="685800" progId="Equation.DSMT4">
                  <p:embed/>
                </p:oleObj>
              </mc:Choice>
              <mc:Fallback>
                <p:oleObj name="Equation" r:id="rId5" imgW="5371920" imgH="685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3194050"/>
                        <a:ext cx="4841875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5699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>
                <a:latin typeface="+mj-lt"/>
              </a:rPr>
              <a:t>The Effect of Changes in Tax Rates</a:t>
            </a:r>
            <a:endParaRPr lang="en-US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-US" sz="2400" dirty="0"/>
              <a:t>The tax multiplier applies to changes in the </a:t>
            </a:r>
            <a:r>
              <a:rPr lang="en-US" sz="2400" i="1" dirty="0"/>
              <a:t>amount</a:t>
            </a:r>
            <a:r>
              <a:rPr lang="en-US" sz="2400" dirty="0"/>
              <a:t> of taxes, without changes in </a:t>
            </a:r>
            <a:r>
              <a:rPr lang="en-US" sz="2400" i="1" dirty="0"/>
              <a:t>tax rates</a:t>
            </a:r>
            <a:r>
              <a:rPr lang="en-US" sz="2400" dirty="0"/>
              <a:t>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-US" sz="2400" dirty="0"/>
              <a:t>Decreases in tax rates have a slightly different effect:</a:t>
            </a:r>
          </a:p>
          <a:p>
            <a:pPr marL="347472" indent="-347472">
              <a:spcBef>
                <a:spcPts val="0"/>
              </a:spcBef>
              <a:spcAft>
                <a:spcPts val="1200"/>
              </a:spcAft>
              <a:buAutoNum type="arabicPeriod"/>
              <a:defRPr/>
            </a:pPr>
            <a:r>
              <a:rPr lang="en-US" sz="2400" dirty="0"/>
              <a:t>Increasing the disposable income of households, leading them to increase their consumption spending.</a:t>
            </a:r>
          </a:p>
          <a:p>
            <a:pPr marL="347472" indent="-347472">
              <a:spcBef>
                <a:spcPts val="0"/>
              </a:spcBef>
              <a:spcAft>
                <a:spcPts val="1200"/>
              </a:spcAft>
              <a:buAutoNum type="arabicPeriod"/>
              <a:defRPr/>
            </a:pPr>
            <a:r>
              <a:rPr lang="en-US" sz="2400" dirty="0"/>
              <a:t>Increasing the size of the multiplier effect, since more of any increase in income becomes disposable income.</a:t>
            </a:r>
          </a:p>
        </p:txBody>
      </p:sp>
    </p:spTree>
    <p:extLst>
      <p:ext uri="{BB962C8B-B14F-4D97-AF65-F5344CB8AC3E}">
        <p14:creationId xmlns:p14="http://schemas.microsoft.com/office/powerpoint/2010/main" val="540579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332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latin typeface="+mj-lt"/>
              </a:rPr>
              <a:t>Figure 12.12 </a:t>
            </a:r>
            <a:r>
              <a:rPr lang="en-IN" dirty="0">
                <a:latin typeface="+mj-lt"/>
              </a:rPr>
              <a:t>The Multiplier Effect and Aggregate Supply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0727"/>
            <a:ext cx="4038600" cy="456527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dirty="0"/>
              <a:t>An increase in aggregate demand will not only result in real GDP rising; it will also result in a price level increase, because the short-run aggregate supply (SRAS) curve is upward-sloping.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dirty="0"/>
              <a:t>Suppose that between the autonomous and induced effects, fiscal policy causes aggregate demand to increase by $100 billion.</a:t>
            </a:r>
          </a:p>
          <a:p>
            <a:pPr marL="266700" indent="-266700">
              <a:spcBef>
                <a:spcPts val="600"/>
              </a:spcBef>
              <a:defRPr/>
            </a:pPr>
            <a:r>
              <a:rPr lang="en-US" sz="2000" dirty="0"/>
              <a:t>The resulting real GDP increase is smaller—only $100 billion (from $2.12 trillion to $2.22 trillion). The price level also rises.</a:t>
            </a:r>
          </a:p>
        </p:txBody>
      </p:sp>
      <p:pic>
        <p:nvPicPr>
          <p:cNvPr id="5" name="Picture 4" descr="A line graph depicts the multiplier effect and aggregate supply.">
            <a:extLst>
              <a:ext uri="{FF2B5EF4-FFF2-40B4-BE49-F238E27FC236}">
                <a16:creationId xmlns:a16="http://schemas.microsoft.com/office/drawing/2014/main" id="{52D485F6-83EC-E764-455A-3989E5F1F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2" y="1526203"/>
            <a:ext cx="4250502" cy="309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095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537C13-2654-CB0D-8816-D8F56927B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j-lt"/>
              </a:rPr>
              <a:t>The Multipliers Work in Both Directions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97E840-BBDE-A02D-AC0A-8D477234C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000"/>
              </a:spcBef>
              <a:buNone/>
            </a:pPr>
            <a:r>
              <a:rPr lang="en-US" sz="2600" dirty="0"/>
              <a:t>An increase in government purchases and a cut in taxes have a positive multiplier effect.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600" dirty="0"/>
              <a:t>A decrease in government purchases and an increase in taxes have a </a:t>
            </a:r>
            <a:r>
              <a:rPr lang="en-US" sz="2600" i="1" dirty="0"/>
              <a:t>negative</a:t>
            </a:r>
            <a:r>
              <a:rPr lang="en-US" sz="2600" dirty="0"/>
              <a:t> multiplier effect.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600" b="1" i="1" dirty="0"/>
              <a:t>Example: </a:t>
            </a:r>
            <a:r>
              <a:rPr lang="en-US" sz="2600" i="1" dirty="0"/>
              <a:t>a reduction in government spending on infrastructure initially affects contractors, but then it would spread to suppliers and employees of those contractors, and then to other firms and workers.</a:t>
            </a:r>
            <a:endParaRPr lang="en-US" sz="2600" dirty="0"/>
          </a:p>
          <a:p>
            <a:pPr marL="0" indent="0">
              <a:spcBef>
                <a:spcPts val="1000"/>
              </a:spcBef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289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94321A8-6518-F3A1-FD18-D802E2968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994124"/>
          </a:xfrm>
        </p:spPr>
        <p:txBody>
          <a:bodyPr/>
          <a:lstStyle/>
          <a:p>
            <a:r>
              <a:rPr lang="en-IN" dirty="0">
                <a:latin typeface="+mj-lt"/>
              </a:rPr>
              <a:t>The Limits of Fiscal Policy as a Stimulus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98AC0B-6AFC-520E-AA9C-DB9068364F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279663"/>
            <a:ext cx="8229600" cy="402770"/>
          </a:xfrm>
        </p:spPr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</a:rPr>
              <a:t>12.5 Learning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Objective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F20BFC-AC8C-E4AA-34E2-B4AF65F1AC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752600"/>
            <a:ext cx="8229600" cy="43735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Discuss the difficulties that can arise in implementing fiscal policy.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sz="2000" dirty="0"/>
              <a:t>For several reasons, fiscal policy may be even less effective than monetary policy at countercyclical stabilization:</a:t>
            </a:r>
          </a:p>
          <a:p>
            <a:pPr>
              <a:spcBef>
                <a:spcPts val="900"/>
              </a:spcBef>
              <a:defRPr/>
            </a:pPr>
            <a:r>
              <a:rPr lang="en-US" sz="2000" b="1" i="1" dirty="0"/>
              <a:t>Timing</a:t>
            </a:r>
            <a:r>
              <a:rPr lang="en-US" sz="2000" b="1" dirty="0"/>
              <a:t> </a:t>
            </a:r>
            <a:r>
              <a:rPr lang="en-US" sz="2000" dirty="0"/>
              <a:t>of fiscal policy is harder, due to:</a:t>
            </a:r>
          </a:p>
          <a:p>
            <a:pPr lvl="1">
              <a:spcBef>
                <a:spcPts val="900"/>
              </a:spcBef>
              <a:defRPr/>
            </a:pPr>
            <a:r>
              <a:rPr lang="en-US" sz="1800" b="1" i="1" dirty="0"/>
              <a:t>Legislative delay: </a:t>
            </a:r>
            <a:r>
              <a:rPr lang="en-US" sz="1800" i="1" dirty="0"/>
              <a:t>Parliament needs to agree on the actions</a:t>
            </a:r>
          </a:p>
          <a:p>
            <a:pPr lvl="1">
              <a:spcBef>
                <a:spcPts val="900"/>
              </a:spcBef>
              <a:defRPr/>
            </a:pPr>
            <a:r>
              <a:rPr lang="en-US" sz="1800" b="1" i="1" dirty="0"/>
              <a:t>Implementation delay: </a:t>
            </a:r>
            <a:r>
              <a:rPr lang="en-US" sz="1800" i="1" dirty="0"/>
              <a:t>Large spending projects may take months or even years to begin, even after approval.</a:t>
            </a:r>
            <a:endParaRPr lang="en-US" sz="1800" dirty="0"/>
          </a:p>
          <a:p>
            <a:pPr>
              <a:defRPr/>
            </a:pPr>
            <a:r>
              <a:rPr lang="en-US" sz="2000" dirty="0"/>
              <a:t>Government spending might </a:t>
            </a:r>
            <a:r>
              <a:rPr lang="en-US" sz="2000" b="1" dirty="0"/>
              <a:t>crowd out </a:t>
            </a:r>
            <a:r>
              <a:rPr lang="en-US" sz="2000" dirty="0"/>
              <a:t>private investment.</a:t>
            </a:r>
          </a:p>
          <a:p>
            <a:pPr marL="0" indent="0">
              <a:buNone/>
            </a:pPr>
            <a:r>
              <a:rPr lang="en-US" sz="2400" b="1" dirty="0"/>
              <a:t>Crowding out:</a:t>
            </a:r>
            <a:r>
              <a:rPr lang="en-US" sz="2400" dirty="0"/>
              <a:t> A decline in private expenditures as a result of an increase in government purchases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2951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628"/>
            <a:ext cx="8229600" cy="11079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latin typeface="+mj-lt"/>
              </a:rPr>
              <a:t>Figure 12.13 </a:t>
            </a:r>
            <a:r>
              <a:rPr lang="en-IN" dirty="0">
                <a:latin typeface="+mj-lt"/>
              </a:rPr>
              <a:t>An Expansionary Fiscal Policy Increases Interest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3962400" cy="347787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-US" sz="2400" dirty="0"/>
              <a:t>A temporary increase in government purchases will cause the demand for money, and hence the interest rate, to rise.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-US" sz="2400" dirty="0"/>
              <a:t>But with the higher interest rate, consumption, investment, and net exports all fall.</a:t>
            </a:r>
          </a:p>
        </p:txBody>
      </p:sp>
      <p:pic>
        <p:nvPicPr>
          <p:cNvPr id="5" name="Picture 4" descr="A line graph depicts increasing interest rates due to expansionary fiscal policy.">
            <a:extLst>
              <a:ext uri="{FF2B5EF4-FFF2-40B4-BE49-F238E27FC236}">
                <a16:creationId xmlns:a16="http://schemas.microsoft.com/office/drawing/2014/main" id="{2F1089C5-66B1-1F8F-8BFE-C9EB94219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475613"/>
            <a:ext cx="4419600" cy="377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894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628"/>
            <a:ext cx="8229600" cy="11079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latin typeface="+mj-lt"/>
              </a:rPr>
              <a:t>Figure 12.14 </a:t>
            </a:r>
            <a:r>
              <a:rPr lang="en-IN" dirty="0">
                <a:latin typeface="+mj-lt"/>
              </a:rPr>
              <a:t>The Effect of Crowding Out in the Short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3200400" cy="45720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-US" sz="2000" dirty="0"/>
              <a:t>A temporary increase in government purchases will cause the demand for money, and hence the interest rate, to rise.</a:t>
            </a:r>
          </a:p>
          <a:p>
            <a:pPr marL="266700" indent="-266700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 dirty="0"/>
              <a:t>With the higher interest rate, consumption, investment, and net exports all fall.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-US" sz="2000" dirty="0"/>
              <a:t>So the initial increase in spending…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-US" sz="2000" dirty="0"/>
              <a:t>… is partially offset because of crowding out.</a:t>
            </a:r>
          </a:p>
        </p:txBody>
      </p:sp>
      <p:pic>
        <p:nvPicPr>
          <p:cNvPr id="5" name="Picture 4" descr="A line graph depicts the effect of crowding out in the short run.">
            <a:extLst>
              <a:ext uri="{FF2B5EF4-FFF2-40B4-BE49-F238E27FC236}">
                <a16:creationId xmlns:a16="http://schemas.microsoft.com/office/drawing/2014/main" id="{E92406A6-909B-623F-441D-EC86460D5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30" y="1447800"/>
            <a:ext cx="4998720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67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C5F95F-4F07-1C5C-A67E-7EDF67BE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+mj-lt"/>
              </a:rPr>
              <a:t>Crowding Out in the Long Run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4E1B56-7850-9E83-BDBF-90F66354D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000"/>
              </a:spcBef>
              <a:buNone/>
              <a:defRPr/>
            </a:pPr>
            <a:r>
              <a:rPr lang="en-US" sz="2400" dirty="0"/>
              <a:t>In the long run, the increase in government purchases will have no effect on real GDP; the reduction in consumption, investment, and net exports will exactly offset the increase in government purchases.</a:t>
            </a:r>
          </a:p>
          <a:p>
            <a:pPr marL="266700" indent="-266700">
              <a:spcBef>
                <a:spcPts val="1000"/>
              </a:spcBef>
              <a:defRPr/>
            </a:pPr>
            <a:r>
              <a:rPr lang="en-US" sz="2400" dirty="0"/>
              <a:t>Why? Because </a:t>
            </a:r>
            <a:r>
              <a:rPr lang="en-US" sz="2400" i="1" dirty="0"/>
              <a:t>in the long run, the economy returns to potential GDP</a:t>
            </a:r>
            <a:r>
              <a:rPr lang="en-US" sz="2400" dirty="0"/>
              <a:t>, even without the government’s intervention.</a:t>
            </a:r>
          </a:p>
          <a:p>
            <a:pPr marL="0" indent="0">
              <a:spcBef>
                <a:spcPts val="1000"/>
              </a:spcBef>
              <a:buNone/>
              <a:defRPr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27118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C1CC731-5C08-2AAA-1934-975F842E2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905858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latin typeface="+mj-lt"/>
              </a:rPr>
              <a:t>Deficits, Surpluses, and Federal Government Debt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50DD04-E904-2F4F-5039-FA8197724C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235530"/>
            <a:ext cx="8229600" cy="402770"/>
          </a:xfrm>
        </p:spPr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</a:rPr>
              <a:t>12.6 Learning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Objective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B3A070-C6DC-D3B4-2456-6F039E4648D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752600"/>
            <a:ext cx="8229600" cy="4373563"/>
          </a:xfrm>
        </p:spPr>
        <p:txBody>
          <a:bodyPr/>
          <a:lstStyle/>
          <a:p>
            <a:pPr marL="0" indent="0">
              <a:spcBef>
                <a:spcPts val="1000"/>
              </a:spcBef>
              <a:buNone/>
            </a:pPr>
            <a:r>
              <a:rPr lang="en-US" sz="2400" dirty="0"/>
              <a:t>Define federal budget deficit and federal government debt, and explain how the federal budget can serve as an automatic stabilizer.</a:t>
            </a:r>
          </a:p>
          <a:p>
            <a:pPr marL="432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400" dirty="0"/>
              <a:t>A </a:t>
            </a:r>
            <a:r>
              <a:rPr lang="en-US" sz="2400" b="1" dirty="0"/>
              <a:t>budget deficit </a:t>
            </a:r>
            <a:r>
              <a:rPr lang="en-US" sz="2400" dirty="0"/>
              <a:t>is the situation in which the government’s expenditures are greater than its tax revenue.</a:t>
            </a:r>
          </a:p>
          <a:p>
            <a:pPr marL="432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400" dirty="0"/>
              <a:t>A </a:t>
            </a:r>
            <a:r>
              <a:rPr lang="en-US" sz="2400" b="1" dirty="0"/>
              <a:t>budget surplus </a:t>
            </a:r>
            <a:r>
              <a:rPr lang="en-US" sz="2400" dirty="0"/>
              <a:t>is the situation in which the government’s expenditures are less than its tax revenue.</a:t>
            </a:r>
          </a:p>
          <a:p>
            <a:pPr marL="432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400" b="1" dirty="0"/>
              <a:t>Do you know whether the federal government is running a budget deficit or a budget surplus currently?</a:t>
            </a:r>
          </a:p>
        </p:txBody>
      </p:sp>
    </p:spTree>
    <p:extLst>
      <p:ext uri="{BB962C8B-B14F-4D97-AF65-F5344CB8AC3E}">
        <p14:creationId xmlns:p14="http://schemas.microsoft.com/office/powerpoint/2010/main" val="1597173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495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latin typeface="+mj-lt"/>
              </a:rPr>
              <a:t>Figure 12.15 </a:t>
            </a:r>
            <a:r>
              <a:rPr lang="en-IN" dirty="0">
                <a:latin typeface="+mj-lt"/>
              </a:rPr>
              <a:t>The Federal Budget Deficit, 1962–2021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3962400" cy="4800600"/>
          </a:xfrm>
        </p:spPr>
        <p:txBody>
          <a:bodyPr>
            <a:no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sz="1800" dirty="0"/>
              <a:t>The federal government has run deficits for most years since 1962. 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1800" dirty="0"/>
              <a:t>Deficits are larger during recession than expansions, but not always.</a:t>
            </a:r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en-US" sz="1800" dirty="0"/>
              <a:t>Typical during recessions, as tax receipts fall, and </a:t>
            </a:r>
            <a:r>
              <a:rPr lang="en-US" sz="1800" b="1" i="1" dirty="0"/>
              <a:t>automatic stabilizers,</a:t>
            </a:r>
            <a:r>
              <a:rPr lang="en-US" sz="1800" dirty="0"/>
              <a:t> like increases in transfer payments (unemployment insurance, welfare, etc.), take effect.</a:t>
            </a:r>
          </a:p>
          <a:p>
            <a:pPr marL="0" indent="0">
              <a:spcBef>
                <a:spcPts val="1000"/>
              </a:spcBef>
              <a:spcAft>
                <a:spcPts val="1200"/>
              </a:spcAft>
              <a:buNone/>
              <a:defRPr/>
            </a:pPr>
            <a:r>
              <a:rPr lang="en-US" sz="1800" dirty="0"/>
              <a:t>These automatic stabilizers are important for limiting the severity of a recession; many economists believe that the Great Depression of the 1930s was more severe because most of these automatic stabilizers did not exist then.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973831-DAC1-F4FD-FF05-C25EF210D1A0}"/>
              </a:ext>
            </a:extLst>
          </p:cNvPr>
          <p:cNvSpPr txBox="1"/>
          <p:nvPr/>
        </p:nvSpPr>
        <p:spPr>
          <a:xfrm>
            <a:off x="4419600" y="4757264"/>
            <a:ext cx="4724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u="none" strike="noStrike" baseline="0" dirty="0">
                <a:latin typeface="+mj-lt"/>
              </a:rPr>
              <a:t>SOURCE: </a:t>
            </a:r>
            <a:r>
              <a:rPr lang="en-US" sz="1200" b="0" i="0" u="none" strike="noStrike" baseline="0" dirty="0">
                <a:latin typeface="+mj-lt"/>
              </a:rPr>
              <a:t>Government of Canada, Department of Finance, “Fiscal Reference Tables for 2021,” https://www.canada.ca/en/department-finance/services/publications/fiscal-reference-tables/2021.html, and for 1996, https://www.canada.ca/content/dam/fin/migration/frt-trf/pdf/frt96e.pdf.</a:t>
            </a:r>
            <a:endParaRPr lang="en-US" sz="1200" dirty="0">
              <a:latin typeface="+mj-lt"/>
            </a:endParaRPr>
          </a:p>
        </p:txBody>
      </p:sp>
      <p:pic>
        <p:nvPicPr>
          <p:cNvPr id="6" name="Picture 5" descr="A line graph depicts the federal budget deficit, for the year 1962 to 2021.">
            <a:extLst>
              <a:ext uri="{FF2B5EF4-FFF2-40B4-BE49-F238E27FC236}">
                <a16:creationId xmlns:a16="http://schemas.microsoft.com/office/drawing/2014/main" id="{87BA799A-1F81-E358-2DDA-C3FFF688E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447800"/>
            <a:ext cx="4460385" cy="320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375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latin typeface="+mj-lt"/>
              </a:rPr>
              <a:t>Figure 12.16 </a:t>
            </a:r>
            <a:r>
              <a:rPr lang="en-IN" dirty="0">
                <a:latin typeface="+mj-lt"/>
              </a:rPr>
              <a:t>The Federal Government Debt, 1962–2021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81125"/>
            <a:ext cx="3962400" cy="4562475"/>
          </a:xfrm>
        </p:spPr>
        <p:txBody>
          <a:bodyPr>
            <a:noAutofit/>
          </a:bodyPr>
          <a:lstStyle/>
          <a:p>
            <a:pPr marL="0" indent="0">
              <a:spcBef>
                <a:spcPts val="1000"/>
              </a:spcBef>
              <a:buNone/>
              <a:defRPr/>
            </a:pPr>
            <a:r>
              <a:rPr lang="en-US" sz="1800" dirty="0"/>
              <a:t>When the federal government runs a budget deficit, it finances its activities by selling securities (bonds).</a:t>
            </a:r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en-US" sz="1800" dirty="0"/>
              <a:t>The total value of those securities outstanding is known as the </a:t>
            </a:r>
            <a:r>
              <a:rPr lang="en-US" sz="1800" i="1" dirty="0"/>
              <a:t>federal government debt</a:t>
            </a:r>
            <a:r>
              <a:rPr lang="en-US" sz="1800" dirty="0"/>
              <a:t>, or the </a:t>
            </a:r>
            <a:r>
              <a:rPr lang="en-US" sz="1800" i="1" dirty="0"/>
              <a:t>national debt</a:t>
            </a:r>
            <a:r>
              <a:rPr lang="en-US" sz="1800" dirty="0"/>
              <a:t>.</a:t>
            </a:r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en-US" sz="1800" dirty="0"/>
              <a:t>With the exception of 2000 to 2008, Canada’s debt has been growing the entire period of time.</a:t>
            </a:r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en-US" sz="1800" dirty="0"/>
              <a:t>The debt stabilized again in 2013–2014 but began rising in 2015. In 2020 to 2022, the federal debt rose dramatically as government revenue initially fell and expenditures rose rapidly.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444F7-42F4-461B-6838-0412AE07AFB8}"/>
              </a:ext>
            </a:extLst>
          </p:cNvPr>
          <p:cNvSpPr txBox="1"/>
          <p:nvPr/>
        </p:nvSpPr>
        <p:spPr>
          <a:xfrm>
            <a:off x="4495800" y="4727227"/>
            <a:ext cx="4648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u="none" strike="noStrike" baseline="0" dirty="0">
                <a:latin typeface="+mj-lt"/>
              </a:rPr>
              <a:t>SOURCE: </a:t>
            </a:r>
            <a:r>
              <a:rPr lang="en-US" sz="1200" b="0" i="0" u="none" strike="noStrike" baseline="0" dirty="0">
                <a:latin typeface="+mj-lt"/>
              </a:rPr>
              <a:t>Government of Canada, Department of Finance, “Fiscal Reference Table for 2021,” https://www.canada.ca/en/department-finance/services/publications/fiscal-reference-tables/2021.html, and for 1996, https://www.canada.ca/content/dam/fin/migration/frt-trf/pdf/frt96e.pdf.</a:t>
            </a:r>
            <a:endParaRPr lang="en-US" sz="1200" dirty="0">
              <a:latin typeface="+mj-lt"/>
            </a:endParaRPr>
          </a:p>
        </p:txBody>
      </p:sp>
      <p:pic>
        <p:nvPicPr>
          <p:cNvPr id="6" name="Picture 5" descr="A line graph depicts the federal government debt for the year 1962 to 2021.">
            <a:extLst>
              <a:ext uri="{FF2B5EF4-FFF2-40B4-BE49-F238E27FC236}">
                <a16:creationId xmlns:a16="http://schemas.microsoft.com/office/drawing/2014/main" id="{F9FBE2C5-9B25-D846-2E27-D4D1A5B7B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1438275"/>
            <a:ext cx="4273535" cy="318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84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3713196-EBBE-F549-9B03-EAD1E639C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927628"/>
          </a:xfrm>
        </p:spPr>
        <p:txBody>
          <a:bodyPr/>
          <a:lstStyle/>
          <a:p>
            <a:r>
              <a:rPr lang="en-IN" dirty="0">
                <a:latin typeface="+mj-lt"/>
              </a:rPr>
              <a:t>Is Government Debt a Problem?</a:t>
            </a:r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756A2B6-828B-3D2E-CB4D-E565230E6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spcBef>
                <a:spcPts val="1000"/>
              </a:spcBef>
              <a:buNone/>
              <a:defRPr/>
            </a:pPr>
            <a:r>
              <a:rPr lang="en-US" sz="2400" dirty="0"/>
              <a:t>For now, the federal government is at no serious risk of </a:t>
            </a:r>
            <a:r>
              <a:rPr lang="en-US" sz="2400" i="1" dirty="0"/>
              <a:t>defaulting</a:t>
            </a:r>
            <a:r>
              <a:rPr lang="en-US" sz="2400" dirty="0"/>
              <a:t> on its debt, because:</a:t>
            </a:r>
          </a:p>
          <a:p>
            <a:pPr marL="266700" indent="-266700">
              <a:spcBef>
                <a:spcPts val="1000"/>
              </a:spcBef>
              <a:defRPr/>
            </a:pPr>
            <a:r>
              <a:rPr lang="en-US" sz="2400" dirty="0"/>
              <a:t>The interest rate it can borrow money at is </a:t>
            </a:r>
            <a:r>
              <a:rPr lang="en-US" sz="2400" i="1" dirty="0"/>
              <a:t>very</a:t>
            </a:r>
            <a:r>
              <a:rPr lang="en-US" sz="2400" dirty="0"/>
              <a:t> low, and </a:t>
            </a:r>
          </a:p>
          <a:p>
            <a:pPr marL="266700" indent="-266700">
              <a:spcBef>
                <a:spcPts val="1000"/>
              </a:spcBef>
              <a:defRPr/>
            </a:pPr>
            <a:r>
              <a:rPr lang="en-US" sz="2400" dirty="0"/>
              <a:t>The size of the interest payments on the debt is low relative to the size of the federal budget</a:t>
            </a:r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en-US" sz="2400" dirty="0"/>
              <a:t>In the long run, a debt that increases in size relative to GDP can pose a problem—potentially crowding out investment, which is a key component of long term growth.</a:t>
            </a:r>
          </a:p>
          <a:p>
            <a:pPr marL="266700" indent="-266700">
              <a:spcBef>
                <a:spcPts val="1000"/>
              </a:spcBef>
              <a:defRPr/>
            </a:pPr>
            <a:r>
              <a:rPr lang="en-US" sz="2400" dirty="0"/>
              <a:t>This problem is reduced if the government debt was incurred to finance </a:t>
            </a:r>
            <a:r>
              <a:rPr lang="en-US" sz="2400" i="1" dirty="0"/>
              <a:t>infrastructure</a:t>
            </a:r>
            <a:r>
              <a:rPr lang="en-US" sz="2400" dirty="0"/>
              <a:t>, education, or research and development; these serve as a long term investment for the economy.</a:t>
            </a:r>
          </a:p>
        </p:txBody>
      </p:sp>
    </p:spTree>
    <p:extLst>
      <p:ext uri="{BB962C8B-B14F-4D97-AF65-F5344CB8AC3E}">
        <p14:creationId xmlns:p14="http://schemas.microsoft.com/office/powerpoint/2010/main" val="328692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D61C957-3091-2016-E052-61238633C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2"/>
            <a:ext cx="8382000" cy="1003828"/>
          </a:xfrm>
        </p:spPr>
        <p:txBody>
          <a:bodyPr/>
          <a:lstStyle/>
          <a:p>
            <a:r>
              <a:rPr lang="en-IN" sz="3200" dirty="0">
                <a:latin typeface="+mj-lt"/>
              </a:rPr>
              <a:t>The Effects of Fiscal Policy in the Long Run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A41224-B483-D4DB-68D0-707F52348F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273630"/>
            <a:ext cx="8229600" cy="402770"/>
          </a:xfrm>
        </p:spPr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</a:rPr>
              <a:t>12.7 Learning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Objective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4B93DAF-C909-FF93-B141-EFAEA88C68F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28801"/>
            <a:ext cx="8229600" cy="3962400"/>
          </a:xfrm>
        </p:spPr>
        <p:txBody>
          <a:bodyPr/>
          <a:lstStyle/>
          <a:p>
            <a:pPr marL="0" indent="0">
              <a:spcBef>
                <a:spcPts val="1000"/>
              </a:spcBef>
              <a:buNone/>
            </a:pPr>
            <a:r>
              <a:rPr lang="en-US" sz="2400" dirty="0"/>
              <a:t>Discuss the effects of fiscal policy in the long run.</a:t>
            </a:r>
          </a:p>
          <a:p>
            <a:pPr marL="432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200" dirty="0"/>
              <a:t>The fiscal policy we have concentrated on so far was intended to address short-run goals of stabilizing the economy.</a:t>
            </a:r>
          </a:p>
          <a:p>
            <a:pPr>
              <a:spcBef>
                <a:spcPts val="1000"/>
              </a:spcBef>
            </a:pPr>
            <a:r>
              <a:rPr lang="en-US" sz="2200" dirty="0"/>
              <a:t>But other fiscal policy actions are intended to have long-run impacts on potential GDP—i.e. on </a:t>
            </a:r>
            <a:r>
              <a:rPr lang="en-US" sz="2200" b="1" dirty="0"/>
              <a:t>aggregate supply,</a:t>
            </a:r>
            <a:r>
              <a:rPr lang="en-US" sz="2200" dirty="0"/>
              <a:t> rather than </a:t>
            </a:r>
            <a:r>
              <a:rPr lang="en-US" sz="2200" b="1" dirty="0"/>
              <a:t>aggregate demand.</a:t>
            </a:r>
          </a:p>
          <a:p>
            <a:pPr>
              <a:spcBef>
                <a:spcPts val="1000"/>
              </a:spcBef>
            </a:pPr>
            <a:r>
              <a:rPr lang="en-US" sz="2200" dirty="0"/>
              <a:t>Hence these actions are often referred to as </a:t>
            </a:r>
            <a:r>
              <a:rPr lang="en-US" sz="2200" b="1" dirty="0"/>
              <a:t>supply-side economics.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200" dirty="0"/>
              <a:t>Most of these policies are based on changing taxes in order to increase incentives to work, save, invest, and start a business.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213862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>
                <a:latin typeface="+mj-lt"/>
              </a:rPr>
              <a:t>The Long-Run Effects of Tax Policy</a:t>
            </a:r>
            <a:endParaRPr lang="en-US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Autofit/>
          </a:bodyPr>
          <a:lstStyle/>
          <a:p>
            <a:pPr marL="0" indent="0">
              <a:spcBef>
                <a:spcPts val="1000"/>
              </a:spcBef>
              <a:buNone/>
              <a:defRPr/>
            </a:pPr>
            <a:r>
              <a:rPr lang="en-US" sz="2000" dirty="0"/>
              <a:t>Most taxes are assessed as a percentage of some economic activity, like individual income, corporate income, or capital gains.</a:t>
            </a:r>
          </a:p>
          <a:p>
            <a:pPr marL="266700" indent="-266700">
              <a:spcBef>
                <a:spcPts val="1000"/>
              </a:spcBef>
              <a:defRPr/>
            </a:pPr>
            <a:r>
              <a:rPr lang="en-US" sz="2000" dirty="0"/>
              <a:t>When an individual decides how much to work, he bases the decision on how much an hour of work will increase his ability to consume goods and services—the </a:t>
            </a:r>
            <a:r>
              <a:rPr lang="en-US" sz="2000" i="1" dirty="0"/>
              <a:t>post-tax wage</a:t>
            </a:r>
            <a:r>
              <a:rPr lang="en-US" sz="2000" dirty="0"/>
              <a:t>.</a:t>
            </a:r>
          </a:p>
          <a:p>
            <a:pPr marL="266700" indent="-266700">
              <a:spcBef>
                <a:spcPts val="1000"/>
              </a:spcBef>
              <a:defRPr/>
            </a:pPr>
            <a:r>
              <a:rPr lang="en-US" sz="2000" dirty="0"/>
              <a:t>When a firm decides how many people to employ, it considers how much it has to pay in total for each worker: the </a:t>
            </a:r>
            <a:r>
              <a:rPr lang="en-US" sz="2000" i="1" dirty="0"/>
              <a:t>pre-tax wage</a:t>
            </a:r>
            <a:r>
              <a:rPr lang="en-US" sz="2000" dirty="0"/>
              <a:t>.</a:t>
            </a:r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en-US" sz="2000" dirty="0"/>
              <a:t>The difference between the pretax and post-tax return to an economic activity is known as the </a:t>
            </a:r>
            <a:r>
              <a:rPr lang="en-US" sz="2000" b="1" dirty="0"/>
              <a:t>tax wedge.</a:t>
            </a:r>
            <a:r>
              <a:rPr lang="en-US" sz="2000" dirty="0"/>
              <a:t> It applies to the </a:t>
            </a:r>
            <a:r>
              <a:rPr lang="en-US" sz="2000" i="1" dirty="0"/>
              <a:t>marginal tax rate </a:t>
            </a:r>
            <a:r>
              <a:rPr lang="en-US" sz="2000" dirty="0"/>
              <a:t>which is the fraction of each additional dollar of income paid in taxes.</a:t>
            </a:r>
            <a:endParaRPr lang="en-US" sz="2000" i="1" dirty="0"/>
          </a:p>
          <a:p>
            <a:pPr marL="266700" indent="-266700">
              <a:spcBef>
                <a:spcPts val="1000"/>
              </a:spcBef>
              <a:defRPr/>
            </a:pPr>
            <a:r>
              <a:rPr lang="en-US" sz="2000" dirty="0"/>
              <a:t>A large tax wedge </a:t>
            </a:r>
            <a:r>
              <a:rPr lang="en-US" sz="2000" i="1" dirty="0"/>
              <a:t>distorts the incentives</a:t>
            </a:r>
            <a:r>
              <a:rPr lang="en-US" sz="2000" dirty="0"/>
              <a:t> of individuals and firms to take part in economic activities, generally resulting in lower levels of economic activity—lower real GDP.</a:t>
            </a:r>
          </a:p>
        </p:txBody>
      </p:sp>
    </p:spTree>
    <p:extLst>
      <p:ext uri="{BB962C8B-B14F-4D97-AF65-F5344CB8AC3E}">
        <p14:creationId xmlns:p14="http://schemas.microsoft.com/office/powerpoint/2010/main" val="1643957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>
                <a:latin typeface="+mj-lt"/>
              </a:rPr>
              <a:t>Tax Rates Matter</a:t>
            </a:r>
            <a:endParaRPr lang="en-US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Autofit/>
          </a:bodyPr>
          <a:lstStyle/>
          <a:p>
            <a:pPr marL="0" indent="0">
              <a:spcBef>
                <a:spcPts val="1000"/>
              </a:spcBef>
              <a:buNone/>
              <a:defRPr/>
            </a:pPr>
            <a:r>
              <a:rPr lang="en-US" sz="2200" dirty="0"/>
              <a:t>Tax rates matter because the larger they are, the larger will be the behavioral response to the tax:</a:t>
            </a:r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en-US" sz="2200" b="1" i="1" dirty="0"/>
              <a:t>Individual income tax</a:t>
            </a:r>
          </a:p>
          <a:p>
            <a:pPr marL="347472" lvl="1" indent="-342900">
              <a:spcBef>
                <a:spcPts val="1000"/>
              </a:spcBef>
              <a:buFont typeface="Arial" pitchFamily="34" charset="0"/>
              <a:buChar char="•"/>
              <a:defRPr/>
            </a:pPr>
            <a:r>
              <a:rPr lang="en-US" sz="2200" dirty="0"/>
              <a:t>Affects </a:t>
            </a:r>
            <a:r>
              <a:rPr lang="en-US" sz="2200" dirty="0" err="1"/>
              <a:t>labour</a:t>
            </a:r>
            <a:r>
              <a:rPr lang="en-US" sz="2200" dirty="0"/>
              <a:t> supply decisions and the returns to entrepreneurship</a:t>
            </a:r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en-US" sz="2200" b="1" i="1" dirty="0"/>
              <a:t>Corporate income tax</a:t>
            </a:r>
          </a:p>
          <a:p>
            <a:pPr marL="347472" lvl="1" indent="-342900">
              <a:spcBef>
                <a:spcPts val="1000"/>
              </a:spcBef>
              <a:buFont typeface="Arial" pitchFamily="34" charset="0"/>
              <a:buChar char="•"/>
              <a:defRPr/>
            </a:pPr>
            <a:r>
              <a:rPr lang="en-US" sz="2200" dirty="0"/>
              <a:t>Affects the incentives of firms to engage in investment</a:t>
            </a:r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en-US" sz="2200" b="1" i="1" dirty="0"/>
              <a:t>Tax on dividends and capital gains</a:t>
            </a:r>
          </a:p>
          <a:p>
            <a:pPr marL="347472" lvl="1" indent="-342900">
              <a:spcBef>
                <a:spcPts val="1000"/>
              </a:spcBef>
              <a:buFont typeface="Arial" pitchFamily="34" charset="0"/>
              <a:buChar char="•"/>
              <a:defRPr/>
            </a:pPr>
            <a:r>
              <a:rPr lang="en-US" sz="2200" dirty="0"/>
              <a:t>Affects the supply of loanable funds from households to firms, and hence the real interest rate.</a:t>
            </a:r>
          </a:p>
          <a:p>
            <a:pPr marL="347472" lvl="1" indent="-342900">
              <a:spcBef>
                <a:spcPts val="1000"/>
              </a:spcBef>
              <a:buFont typeface="Arial" pitchFamily="34" charset="0"/>
              <a:buChar char="•"/>
              <a:defRPr/>
            </a:pPr>
            <a:r>
              <a:rPr lang="en-US" sz="2200" dirty="0"/>
              <a:t>Also affects the way firms disburse profits.</a:t>
            </a:r>
          </a:p>
        </p:txBody>
      </p:sp>
    </p:spTree>
    <p:extLst>
      <p:ext uri="{BB962C8B-B14F-4D97-AF65-F5344CB8AC3E}">
        <p14:creationId xmlns:p14="http://schemas.microsoft.com/office/powerpoint/2010/main" val="2897141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1"/>
            <a:ext cx="8229600" cy="914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b="1" dirty="0">
                <a:latin typeface="+mj-lt"/>
              </a:rPr>
              <a:t>Figure 12.17 </a:t>
            </a:r>
            <a:r>
              <a:rPr lang="en-IN" sz="3200" dirty="0">
                <a:latin typeface="+mj-lt"/>
              </a:rPr>
              <a:t>The Supply-Side Effects of a Tax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4114800" cy="46482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000" dirty="0"/>
              <a:t>Tax reform has the potential to increase real GDP in the long run beyond the increases that would occur without tax changes.</a:t>
            </a:r>
          </a:p>
          <a:p>
            <a:pPr marL="266700" indent="-266700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dirty="0"/>
              <a:t>The magnitude of the effect is uncertain, however.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000" kern="0" dirty="0"/>
              <a:t>For example, while people might like to work more if tax rates are lowered, they might be constrained by employers expecting a particular work week (like 40 hours). Economists believe that more study is needed on the impact of tax reforms.</a:t>
            </a:r>
            <a:endParaRPr lang="en-US" sz="2000" dirty="0"/>
          </a:p>
          <a:p>
            <a:pPr marL="342900" indent="-342900">
              <a:spcBef>
                <a:spcPts val="0"/>
              </a:spcBef>
              <a:spcAft>
                <a:spcPts val="600"/>
              </a:spcAft>
              <a:defRPr/>
            </a:pPr>
            <a:endParaRPr lang="en-US" sz="2000" dirty="0"/>
          </a:p>
        </p:txBody>
      </p:sp>
      <p:pic>
        <p:nvPicPr>
          <p:cNvPr id="6" name="Picture 5" descr="A line graph depicts the supply-side effects of a tax change.">
            <a:extLst>
              <a:ext uri="{FF2B5EF4-FFF2-40B4-BE49-F238E27FC236}">
                <a16:creationId xmlns:a16="http://schemas.microsoft.com/office/drawing/2014/main" id="{852C1C0D-D231-0FE1-32D3-A35FDB76B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447800"/>
            <a:ext cx="4244658" cy="280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6607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B2B2AC3-B70A-18B3-1A2C-6992DCA26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982058"/>
          </a:xfrm>
        </p:spPr>
        <p:txBody>
          <a:bodyPr/>
          <a:lstStyle/>
          <a:p>
            <a:r>
              <a:rPr lang="en-IN" sz="3200" dirty="0">
                <a:latin typeface="+mj-lt"/>
              </a:rPr>
              <a:t>Appendix A Closer Look at the Multiplier Formula</a:t>
            </a:r>
            <a:endParaRPr lang="en-IN" sz="32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FCDAB2-B21B-4739-B51E-78C959A593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349830"/>
            <a:ext cx="8229600" cy="402770"/>
          </a:xfrm>
        </p:spPr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</a:rPr>
              <a:t>Learning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Objective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8076E4-1777-7CE6-9DB8-3F29F4E453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pPr marL="0" indent="0">
              <a:spcBef>
                <a:spcPts val="1000"/>
              </a:spcBef>
              <a:buNone/>
            </a:pPr>
            <a:r>
              <a:rPr lang="en-US" sz="2400" dirty="0"/>
              <a:t>Apply the multiplier formula.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400" dirty="0"/>
              <a:t>Our objective in this appendix is to develop an </a:t>
            </a:r>
            <a:r>
              <a:rPr lang="en-US" sz="2400" i="1" dirty="0"/>
              <a:t>econometric</a:t>
            </a:r>
            <a:r>
              <a:rPr lang="en-US" sz="2400" dirty="0"/>
              <a:t> model for how real GDP is determined.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400" dirty="0"/>
              <a:t>Then we will use that model to identify:</a:t>
            </a:r>
          </a:p>
          <a:p>
            <a:pPr marL="347472" indent="-347472">
              <a:spcBef>
                <a:spcPts val="1000"/>
              </a:spcBef>
              <a:buAutoNum type="arabicPeriod"/>
            </a:pPr>
            <a:r>
              <a:rPr lang="en-US" sz="2400" dirty="0"/>
              <a:t>The government purchases and tax multipliers</a:t>
            </a:r>
          </a:p>
          <a:p>
            <a:pPr marL="347472" indent="-347472">
              <a:spcBef>
                <a:spcPts val="1000"/>
              </a:spcBef>
              <a:buAutoNum type="arabicPeriod"/>
            </a:pPr>
            <a:r>
              <a:rPr lang="en-US" sz="2400" dirty="0"/>
              <a:t>How those multipliers are altered by tax rates</a:t>
            </a:r>
          </a:p>
          <a:p>
            <a:pPr marL="347472" indent="-347472">
              <a:spcBef>
                <a:spcPts val="1000"/>
              </a:spcBef>
              <a:buAutoNum type="arabicPeriod"/>
            </a:pPr>
            <a:r>
              <a:rPr lang="en-US" sz="2400" dirty="0"/>
              <a:t>How those multipliers change in an </a:t>
            </a:r>
            <a:r>
              <a:rPr lang="en-US" sz="2400" i="1" dirty="0"/>
              <a:t>open economy</a:t>
            </a:r>
            <a:r>
              <a:rPr lang="en-US" sz="2400" dirty="0"/>
              <a:t>, i.e. when net exports change in response to income changes.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400" dirty="0"/>
              <a:t>Throughout, we will assume that price level is constant.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7219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4944"/>
            <a:ext cx="8229600" cy="1107996"/>
          </a:xfrm>
        </p:spPr>
        <p:txBody>
          <a:bodyPr>
            <a:noAutofit/>
          </a:bodyPr>
          <a:lstStyle/>
          <a:p>
            <a:r>
              <a:rPr lang="en-IN" dirty="0">
                <a:latin typeface="+mj-lt"/>
              </a:rPr>
              <a:t>An Expression for Equilibrium Real GDP</a:t>
            </a:r>
            <a:r>
              <a:rPr lang="en-IN" sz="2000" dirty="0">
                <a:latin typeface="+mj-lt"/>
              </a:rPr>
              <a:t> </a:t>
            </a:r>
            <a:r>
              <a:rPr lang="en-IN" sz="2000" b="0" dirty="0">
                <a:latin typeface="+mj-lt"/>
              </a:rPr>
              <a:t>(1 of 2)</a:t>
            </a:r>
            <a:endParaRPr lang="en-US" sz="2000" b="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9233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For simplicity, we will initially assume that taxes do not depend on income (i.e. they are a fixed amount), there are no government transfers to households, and there are no imports or exports.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>
          <a:xfrm>
            <a:off x="457200" y="4322802"/>
            <a:ext cx="8229600" cy="200054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-US" sz="2000" kern="0" dirty="0"/>
              <a:t>These numbers are in billions of dollars, except the marginal propensity to consume (MPC) of 0.8.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-US" sz="2000" kern="0" dirty="0"/>
              <a:t> Consumption depends on disposable income Y – T.</a:t>
            </a:r>
            <a:endParaRPr lang="en-US" sz="2000" i="1" kern="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-US" sz="2000" kern="0" dirty="0"/>
              <a:t>Then we can write:</a:t>
            </a:r>
          </a:p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s-ES" sz="2000" i="1" dirty="0">
                <a:cs typeface="Times New Roman" pitchFamily="18" charset="0"/>
              </a:rPr>
              <a:t>Y</a:t>
            </a:r>
            <a:r>
              <a:rPr lang="es-ES" sz="2000" dirty="0">
                <a:cs typeface="Times New Roman" pitchFamily="18" charset="0"/>
              </a:rPr>
              <a:t> = 100 + 0.8(</a:t>
            </a:r>
            <a:r>
              <a:rPr lang="es-ES" sz="2000" i="1" dirty="0">
                <a:cs typeface="Times New Roman" pitchFamily="18" charset="0"/>
              </a:rPr>
              <a:t>Y</a:t>
            </a:r>
            <a:r>
              <a:rPr lang="es-ES" sz="2000" dirty="0">
                <a:cs typeface="Times New Roman" pitchFamily="18" charset="0"/>
              </a:rPr>
              <a:t> − 100) + 125 + 125</a:t>
            </a:r>
            <a:endParaRPr lang="en-US" sz="20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859827"/>
              </p:ext>
            </p:extLst>
          </p:nvPr>
        </p:nvGraphicFramePr>
        <p:xfrm>
          <a:off x="1603057" y="2514600"/>
          <a:ext cx="6016943" cy="167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1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9648">
                <a:tc>
                  <a:txBody>
                    <a:bodyPr/>
                    <a:lstStyle/>
                    <a:p>
                      <a:r>
                        <a:rPr lang="fr-FR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1.</a:t>
                      </a:r>
                      <a:r>
                        <a:rPr lang="fr-F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fr-FR" sz="1600" b="0" i="1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  <a:r>
                        <a:rPr lang="fr-F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 = 1,000 + 0.8(</a:t>
                      </a:r>
                      <a:r>
                        <a:rPr lang="fr-FR" sz="1600" b="0" i="1" dirty="0">
                          <a:solidFill>
                            <a:schemeClr val="tx1"/>
                          </a:solidFill>
                          <a:latin typeface="+mn-lt"/>
                        </a:rPr>
                        <a:t>Y</a:t>
                      </a:r>
                      <a:r>
                        <a:rPr lang="fr-F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fr-FR" sz="1600" b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−</a:t>
                      </a:r>
                      <a:r>
                        <a:rPr lang="fr-F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fr-FR" sz="1600" b="0" i="1" dirty="0">
                          <a:solidFill>
                            <a:schemeClr val="tx1"/>
                          </a:solidFill>
                          <a:latin typeface="+mn-lt"/>
                        </a:rPr>
                        <a:t>T</a:t>
                      </a:r>
                      <a:r>
                        <a:rPr lang="fr-F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Consumption function</a:t>
                      </a:r>
                    </a:p>
                  </a:txBody>
                  <a:tcP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648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+mn-lt"/>
                        </a:rPr>
                        <a:t>2.</a:t>
                      </a:r>
                      <a:r>
                        <a:rPr lang="en-US" sz="1600" b="1" baseline="0" dirty="0">
                          <a:latin typeface="+mn-lt"/>
                        </a:rPr>
                        <a:t> </a:t>
                      </a:r>
                      <a:r>
                        <a:rPr lang="en-US" sz="1600" dirty="0">
                          <a:latin typeface="+mn-lt"/>
                        </a:rPr>
                        <a:t> </a:t>
                      </a:r>
                      <a:r>
                        <a:rPr lang="en-US" sz="1600" i="1" dirty="0">
                          <a:latin typeface="+mn-lt"/>
                        </a:rPr>
                        <a:t>I</a:t>
                      </a:r>
                      <a:r>
                        <a:rPr lang="en-US" sz="1600" dirty="0">
                          <a:latin typeface="+mn-lt"/>
                        </a:rPr>
                        <a:t> = 125</a:t>
                      </a:r>
                    </a:p>
                  </a:txBody>
                  <a:tcP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Planned investment function</a:t>
                      </a:r>
                    </a:p>
                  </a:txBody>
                  <a:tcP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648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+mn-lt"/>
                        </a:rPr>
                        <a:t>3.</a:t>
                      </a:r>
                      <a:r>
                        <a:rPr lang="en-US" sz="1600" b="1" baseline="0" dirty="0">
                          <a:latin typeface="+mn-lt"/>
                        </a:rPr>
                        <a:t> </a:t>
                      </a:r>
                      <a:r>
                        <a:rPr lang="en-US" sz="1600" dirty="0">
                          <a:latin typeface="+mn-lt"/>
                        </a:rPr>
                        <a:t> </a:t>
                      </a:r>
                      <a:r>
                        <a:rPr lang="en-US" sz="1600" i="1" dirty="0">
                          <a:latin typeface="+mn-lt"/>
                        </a:rPr>
                        <a:t>G</a:t>
                      </a:r>
                      <a:r>
                        <a:rPr lang="en-US" sz="1600" dirty="0">
                          <a:latin typeface="+mn-lt"/>
                        </a:rPr>
                        <a:t> = 125</a:t>
                      </a:r>
                    </a:p>
                  </a:txBody>
                  <a:tcP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Government purchases function</a:t>
                      </a:r>
                    </a:p>
                  </a:txBody>
                  <a:tcP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648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+mn-lt"/>
                        </a:rPr>
                        <a:t>4.</a:t>
                      </a:r>
                      <a:r>
                        <a:rPr lang="en-US" sz="1600" b="1" baseline="0" dirty="0">
                          <a:latin typeface="+mn-lt"/>
                        </a:rPr>
                        <a:t> </a:t>
                      </a:r>
                      <a:r>
                        <a:rPr lang="en-US" sz="1600" i="1" dirty="0">
                          <a:latin typeface="+mn-lt"/>
                        </a:rPr>
                        <a:t>T </a:t>
                      </a:r>
                      <a:r>
                        <a:rPr lang="en-US" sz="1600" dirty="0">
                          <a:latin typeface="+mn-lt"/>
                        </a:rPr>
                        <a:t>= 100</a:t>
                      </a:r>
                    </a:p>
                  </a:txBody>
                  <a:tcP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Tax function</a:t>
                      </a:r>
                    </a:p>
                  </a:txBody>
                  <a:tcP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48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+mn-lt"/>
                        </a:rPr>
                        <a:t>5.</a:t>
                      </a:r>
                      <a:r>
                        <a:rPr lang="en-US" sz="1600" dirty="0">
                          <a:latin typeface="+mn-lt"/>
                        </a:rPr>
                        <a:t> </a:t>
                      </a:r>
                      <a:r>
                        <a:rPr lang="en-US" sz="1600" i="1" dirty="0">
                          <a:latin typeface="+mn-lt"/>
                        </a:rPr>
                        <a:t>Y</a:t>
                      </a:r>
                      <a:r>
                        <a:rPr lang="en-US" sz="1600" dirty="0">
                          <a:latin typeface="+mn-lt"/>
                        </a:rPr>
                        <a:t> = </a:t>
                      </a:r>
                      <a:r>
                        <a:rPr lang="en-US" sz="1600" i="1" dirty="0">
                          <a:latin typeface="+mn-lt"/>
                        </a:rPr>
                        <a:t>C</a:t>
                      </a:r>
                      <a:r>
                        <a:rPr lang="en-US" sz="1600" dirty="0">
                          <a:latin typeface="+mn-lt"/>
                        </a:rPr>
                        <a:t> + </a:t>
                      </a:r>
                      <a:r>
                        <a:rPr lang="en-US" sz="1600" i="1" dirty="0">
                          <a:latin typeface="+mn-lt"/>
                        </a:rPr>
                        <a:t>I</a:t>
                      </a:r>
                      <a:r>
                        <a:rPr lang="en-US" sz="1600" dirty="0">
                          <a:latin typeface="+mn-lt"/>
                        </a:rPr>
                        <a:t> + </a:t>
                      </a:r>
                      <a:r>
                        <a:rPr lang="en-US" sz="1600" i="1" dirty="0">
                          <a:latin typeface="+mn-lt"/>
                        </a:rPr>
                        <a:t>G</a:t>
                      </a:r>
                    </a:p>
                  </a:txBody>
                  <a:tcP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Equilibrium condition</a:t>
                      </a:r>
                    </a:p>
                  </a:txBody>
                  <a:tcP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17547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4944"/>
            <a:ext cx="8229600" cy="1107996"/>
          </a:xfrm>
        </p:spPr>
        <p:txBody>
          <a:bodyPr>
            <a:noAutofit/>
          </a:bodyPr>
          <a:lstStyle/>
          <a:p>
            <a:r>
              <a:rPr lang="en-IN" dirty="0">
                <a:latin typeface="+mj-lt"/>
              </a:rPr>
              <a:t>An Expression for Equilibrium Real GDP</a:t>
            </a:r>
            <a:r>
              <a:rPr lang="en-IN" sz="2000" dirty="0">
                <a:latin typeface="+mj-lt"/>
              </a:rPr>
              <a:t> </a:t>
            </a:r>
            <a:r>
              <a:rPr lang="en-IN" sz="2000" b="0" dirty="0">
                <a:latin typeface="+mj-lt"/>
              </a:rPr>
              <a:t>(2 of 2)</a:t>
            </a:r>
            <a:endParaRPr lang="en-US" sz="2000" b="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3200"/>
            <a:ext cx="8229600" cy="3559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kern="0" dirty="0"/>
              <a:t>Subtracting 0.8</a:t>
            </a:r>
            <a:r>
              <a:rPr lang="en-US" sz="2400" i="1" kern="0" dirty="0"/>
              <a:t>Y</a:t>
            </a:r>
            <a:r>
              <a:rPr lang="en-US" sz="2400" kern="0" dirty="0"/>
              <a:t> from both sides, we obtain: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>
          <a:xfrm>
            <a:off x="457200" y="5257800"/>
            <a:ext cx="8229600" cy="7011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Thus we conclude that according to our model, real GDP will be $13 trillion.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277396"/>
              </p:ext>
            </p:extLst>
          </p:nvPr>
        </p:nvGraphicFramePr>
        <p:xfrm>
          <a:off x="2362200" y="1859348"/>
          <a:ext cx="4102100" cy="76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23800" imgH="431640" progId="Equation.DSMT4">
                  <p:embed/>
                </p:oleObj>
              </mc:Choice>
              <mc:Fallback>
                <p:oleObj name="Equation" r:id="rId3" imgW="2323800" imgH="431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859348"/>
                        <a:ext cx="4102100" cy="76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1431756"/>
              </p:ext>
            </p:extLst>
          </p:nvPr>
        </p:nvGraphicFramePr>
        <p:xfrm>
          <a:off x="2553494" y="3452276"/>
          <a:ext cx="3719512" cy="743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58920" imgH="431640" progId="Equation.DSMT4">
                  <p:embed/>
                </p:oleObj>
              </mc:Choice>
              <mc:Fallback>
                <p:oleObj name="Equation" r:id="rId5" imgW="2158920" imgH="4316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3494" y="3452276"/>
                        <a:ext cx="3719512" cy="7439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90459"/>
              </p:ext>
            </p:extLst>
          </p:nvPr>
        </p:nvGraphicFramePr>
        <p:xfrm>
          <a:off x="3289300" y="4338638"/>
          <a:ext cx="1739900" cy="634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79280" imgH="393480" progId="Equation.DSMT4">
                  <p:embed/>
                </p:oleObj>
              </mc:Choice>
              <mc:Fallback>
                <p:oleObj name="Equation" r:id="rId7" imgW="1079280" imgH="3934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4338638"/>
                        <a:ext cx="1739900" cy="6342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7993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7750"/>
            <a:ext cx="8229600" cy="965250"/>
          </a:xfrm>
        </p:spPr>
        <p:txBody>
          <a:bodyPr>
            <a:noAutofit/>
          </a:bodyPr>
          <a:lstStyle/>
          <a:p>
            <a:r>
              <a:rPr lang="en-IN" sz="3200" dirty="0">
                <a:latin typeface="+mj-lt"/>
              </a:rPr>
              <a:t>An Algebraic Expression for Equilibrium Real GDP</a:t>
            </a:r>
            <a:endParaRPr lang="en-US" sz="32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1100"/>
            <a:ext cx="8229600" cy="5539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Instead of inserting numbers, we could find an expression for real GDP algebraically. Let: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>
          <a:xfrm>
            <a:off x="457200" y="3743325"/>
            <a:ext cx="8229600" cy="68223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  <a:buNone/>
              <a:defRPr/>
            </a:pPr>
            <a:r>
              <a:rPr lang="en-US" sz="1800" dirty="0"/>
              <a:t>(The letters with bars represent fixed or </a:t>
            </a:r>
            <a:r>
              <a:rPr lang="en-US" sz="1800" i="1" dirty="0"/>
              <a:t>autonomous</a:t>
            </a:r>
            <a:r>
              <a:rPr lang="en-US" sz="1800" dirty="0"/>
              <a:t> variables.)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  <a:defRPr/>
            </a:pPr>
            <a:r>
              <a:rPr lang="en-US" sz="1800" dirty="0"/>
              <a:t>Then: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5671820"/>
                  </p:ext>
                </p:extLst>
              </p:nvPr>
            </p:nvGraphicFramePr>
            <p:xfrm>
              <a:off x="1676400" y="1827529"/>
              <a:ext cx="5788343" cy="17174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67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2134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7022">
                    <a:tc>
                      <a:txBody>
                        <a:bodyPr/>
                        <a:lstStyle/>
                        <a:p>
                          <a:r>
                            <a:rPr lang="fr-FR" sz="1600" i="1" dirty="0"/>
                            <a:t>C =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fr-FR" sz="16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b="0" i="1" baseline="0" smtClean="0">
                                      <a:latin typeface="+mn-lt"/>
                                    </a:rPr>
                                    <m:t>C</m:t>
                                  </m:r>
                                </m:e>
                              </m:acc>
                            </m:oMath>
                          </a14:m>
                          <a:r>
                            <a:rPr lang="fr-FR" sz="1600" i="1" dirty="0"/>
                            <a:t> + MPC(Y − T)</a:t>
                          </a:r>
                          <a:endParaRPr lang="en-US" sz="16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AE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Consumption function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AE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8193">
                    <a:tc>
                      <a:txBody>
                        <a:bodyPr/>
                        <a:lstStyle/>
                        <a:p>
                          <a:r>
                            <a:rPr lang="en-US" sz="1600" i="1" dirty="0"/>
                            <a:t> I</a:t>
                          </a:r>
                          <a:r>
                            <a:rPr lang="en-US" sz="1600" dirty="0"/>
                            <a:t> =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b="0" i="1" smtClean="0">
                                      <a:latin typeface="+mj-lt"/>
                                    </a:rPr>
                                    <m:t>I</m:t>
                                  </m:r>
                                </m:e>
                              </m:acc>
                            </m:oMath>
                          </a14:m>
                          <a:endParaRPr lang="en-US" sz="1600" i="1" dirty="0">
                            <a:latin typeface="+mj-lt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AE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Planned investment function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AE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8722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 </a:t>
                          </a:r>
                          <a:r>
                            <a:rPr lang="en-US" sz="1600" i="1" dirty="0"/>
                            <a:t>G</a:t>
                          </a:r>
                          <a:r>
                            <a:rPr lang="en-US" sz="1600" dirty="0"/>
                            <a:t> =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b="0" i="1" smtClean="0">
                                      <a:latin typeface="+mj-lt"/>
                                    </a:rPr>
                                    <m:t>G</m:t>
                                  </m:r>
                                </m:e>
                              </m:acc>
                            </m:oMath>
                          </a14:m>
                          <a:endParaRPr lang="en-US" sz="1600" i="1" dirty="0">
                            <a:latin typeface="+mj-lt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AE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Government purchases function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AE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8193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 T =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b="0" i="1" smtClean="0">
                                      <a:latin typeface="+mj-lt"/>
                                    </a:rPr>
                                    <m:t>T</m:t>
                                  </m:r>
                                </m:e>
                              </m:acc>
                            </m:oMath>
                          </a14:m>
                          <a:endParaRPr lang="en-US" sz="1600" i="1" dirty="0">
                            <a:latin typeface="+mj-lt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AE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Tax function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AE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0011">
                    <a:tc>
                      <a:txBody>
                        <a:bodyPr/>
                        <a:lstStyle/>
                        <a:p>
                          <a:r>
                            <a:rPr lang="en-US" sz="1600" i="1" dirty="0"/>
                            <a:t> Y = C + I + G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AE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Equilibrium condition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AE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5671820"/>
                  </p:ext>
                </p:extLst>
              </p:nvPr>
            </p:nvGraphicFramePr>
            <p:xfrm>
              <a:off x="1676400" y="1827529"/>
              <a:ext cx="5788343" cy="173767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67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2134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70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333" r="-116895" b="-39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Consumption function</a:t>
                          </a:r>
                          <a:endParaRPr 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AE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42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8772" r="-116895" b="-3192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Planned investment function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AE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467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08772" r="-116895" b="-2192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Government purchases function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AE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442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08772" r="-116895" b="-1192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Tax function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AE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i="1" dirty="0"/>
                            <a:t> Y = C + I + G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AE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Equilibrium condition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AE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408074"/>
              </p:ext>
            </p:extLst>
          </p:nvPr>
        </p:nvGraphicFramePr>
        <p:xfrm>
          <a:off x="2673799" y="4425563"/>
          <a:ext cx="3796401" cy="1907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206680" imgH="3060360" progId="Equation.DSMT4">
                  <p:embed/>
                </p:oleObj>
              </mc:Choice>
              <mc:Fallback>
                <p:oleObj name="Equation" r:id="rId4" imgW="5206680" imgH="30603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799" y="4425563"/>
                        <a:ext cx="3796401" cy="1907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8258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5976"/>
            <a:ext cx="8229600" cy="923008"/>
          </a:xfrm>
        </p:spPr>
        <p:txBody>
          <a:bodyPr>
            <a:noAutofit/>
          </a:bodyPr>
          <a:lstStyle/>
          <a:p>
            <a:r>
              <a:rPr lang="en-IN" sz="3000" dirty="0">
                <a:latin typeface="+mj-lt"/>
              </a:rPr>
              <a:t>A Formula for the Government Purchases Multiplier</a:t>
            </a:r>
            <a:endParaRPr lang="en-US" sz="30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167"/>
            <a:ext cx="8229600" cy="67710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Any change in an autonomous variable will change the value of real GDP (Y). We can make that explicit by writing the variables in </a:t>
            </a:r>
            <a:r>
              <a:rPr lang="en-US" sz="2000" i="1" dirty="0"/>
              <a:t>change form</a:t>
            </a:r>
            <a:r>
              <a:rPr lang="en-US" sz="2000" dirty="0"/>
              <a:t>: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457200" y="2542654"/>
            <a:ext cx="8229600" cy="103874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2000" dirty="0"/>
              <a:t>This uses the standard notation of ∆ for “change”.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2000" dirty="0"/>
              <a:t>Keeping autonomous consumption (C), taxes (T), and investment (I) constant, we get: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/>
          </p:nvPr>
        </p:nvSpPr>
        <p:spPr>
          <a:xfrm>
            <a:off x="457200" y="4355068"/>
            <a:ext cx="8229600" cy="3693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Divide both sides by ∆G to obtain the </a:t>
            </a:r>
            <a:r>
              <a:rPr lang="en-US" sz="2000" i="1" dirty="0"/>
              <a:t>government purchases multiplier</a:t>
            </a:r>
            <a:r>
              <a:rPr lang="en-US" sz="2000" dirty="0"/>
              <a:t>: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5"/>
          </p:nvPr>
        </p:nvSpPr>
        <p:spPr>
          <a:xfrm>
            <a:off x="457200" y="5334000"/>
            <a:ext cx="8229600" cy="3693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For example, if MPC = 0.8, the government purchases multiplier will be: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488205"/>
              </p:ext>
            </p:extLst>
          </p:nvPr>
        </p:nvGraphicFramePr>
        <p:xfrm>
          <a:off x="2768600" y="1828800"/>
          <a:ext cx="36068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63480" imgH="457200" progId="Equation.DSMT4">
                  <p:embed/>
                </p:oleObj>
              </mc:Choice>
              <mc:Fallback>
                <p:oleObj name="Equation" r:id="rId3" imgW="24634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8600" y="1828800"/>
                        <a:ext cx="3606800" cy="669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91988"/>
              </p:ext>
            </p:extLst>
          </p:nvPr>
        </p:nvGraphicFramePr>
        <p:xfrm>
          <a:off x="3857625" y="3690938"/>
          <a:ext cx="1430338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77760" imgH="393480" progId="Equation.DSMT4">
                  <p:embed/>
                </p:oleObj>
              </mc:Choice>
              <mc:Fallback>
                <p:oleObj name="Equation" r:id="rId5" imgW="9777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57625" y="3690938"/>
                        <a:ext cx="1430338" cy="576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247643"/>
              </p:ext>
            </p:extLst>
          </p:nvPr>
        </p:nvGraphicFramePr>
        <p:xfrm>
          <a:off x="3827463" y="4724400"/>
          <a:ext cx="14890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5920" imgH="393480" progId="Equation.DSMT4">
                  <p:embed/>
                </p:oleObj>
              </mc:Choice>
              <mc:Fallback>
                <p:oleObj name="Equation" r:id="rId7" imgW="10159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27463" y="4724400"/>
                        <a:ext cx="1489075" cy="576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99274"/>
              </p:ext>
            </p:extLst>
          </p:nvPr>
        </p:nvGraphicFramePr>
        <p:xfrm>
          <a:off x="4051300" y="5715000"/>
          <a:ext cx="104298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11000" imgH="393480" progId="Equation.DSMT4">
                  <p:embed/>
                </p:oleObj>
              </mc:Choice>
              <mc:Fallback>
                <p:oleObj name="Equation" r:id="rId9" imgW="7110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51300" y="5715000"/>
                        <a:ext cx="1042988" cy="576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37359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675"/>
            <a:ext cx="8229600" cy="830026"/>
          </a:xfrm>
        </p:spPr>
        <p:txBody>
          <a:bodyPr>
            <a:noAutofit/>
          </a:bodyPr>
          <a:lstStyle/>
          <a:p>
            <a:r>
              <a:rPr lang="en-IN" dirty="0">
                <a:latin typeface="+mj-lt"/>
              </a:rPr>
              <a:t>A Formula for the Tax Multiplier</a:t>
            </a:r>
            <a:endParaRPr lang="en-US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3925"/>
            <a:ext cx="8229600" cy="6096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Any change in an autonomous variable will change the value of real GDP (Y). We can make that explicit by writing the variables in </a:t>
            </a:r>
            <a:r>
              <a:rPr lang="en-US" sz="1800" i="1" dirty="0"/>
              <a:t>change form</a:t>
            </a:r>
            <a:r>
              <a:rPr lang="en-US" sz="1800" dirty="0"/>
              <a:t>: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Now we will keep autonomous consumption (C), investment (I), and government purchases (G) constant: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/>
          </p:nvPr>
        </p:nvSpPr>
        <p:spPr>
          <a:xfrm>
            <a:off x="457200" y="3810000"/>
            <a:ext cx="8229600" cy="276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Divide both sides by ∆T to obtain the </a:t>
            </a:r>
            <a:r>
              <a:rPr lang="en-US" sz="1800" i="1" dirty="0"/>
              <a:t>tax multiplier</a:t>
            </a:r>
            <a:r>
              <a:rPr lang="en-US" sz="1800" dirty="0"/>
              <a:t>: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5"/>
          </p:nvPr>
        </p:nvSpPr>
        <p:spPr>
          <a:xfrm>
            <a:off x="457200" y="4980801"/>
            <a:ext cx="8229600" cy="276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For example, if MPC = 0.8, the tax multiplier will be: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6"/>
          </p:nvPr>
        </p:nvSpPr>
        <p:spPr>
          <a:xfrm>
            <a:off x="457200" y="6038076"/>
            <a:ext cx="8229600" cy="276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A $10 billion increase in taxes decreases real GDP by $40 billion.</a:t>
            </a:r>
            <a:endParaRPr lang="en-IN" dirty="0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170522"/>
              </p:ext>
            </p:extLst>
          </p:nvPr>
        </p:nvGraphicFramePr>
        <p:xfrm>
          <a:off x="2974975" y="1676400"/>
          <a:ext cx="31956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00120" imgH="457200" progId="Equation.DSMT4">
                  <p:embed/>
                </p:oleObj>
              </mc:Choice>
              <mc:Fallback>
                <p:oleObj name="Equation" r:id="rId3" imgW="2400120" imgH="457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975" y="1676400"/>
                        <a:ext cx="319563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954065"/>
              </p:ext>
            </p:extLst>
          </p:nvPr>
        </p:nvGraphicFramePr>
        <p:xfrm>
          <a:off x="3600450" y="3068638"/>
          <a:ext cx="19431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06360" imgH="393480" progId="Equation.DSMT4">
                  <p:embed/>
                </p:oleObj>
              </mc:Choice>
              <mc:Fallback>
                <p:oleObj name="Equation" r:id="rId5" imgW="12063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00450" y="3068638"/>
                        <a:ext cx="1943100" cy="633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946374"/>
              </p:ext>
            </p:extLst>
          </p:nvPr>
        </p:nvGraphicFramePr>
        <p:xfrm>
          <a:off x="3754438" y="4210050"/>
          <a:ext cx="1638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5920" imgH="393480" progId="Equation.DSMT4">
                  <p:embed/>
                </p:oleObj>
              </mc:Choice>
              <mc:Fallback>
                <p:oleObj name="Equation" r:id="rId7" imgW="10159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54438" y="4210050"/>
                        <a:ext cx="16383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287211"/>
              </p:ext>
            </p:extLst>
          </p:nvPr>
        </p:nvGraphicFramePr>
        <p:xfrm>
          <a:off x="3986213" y="5414963"/>
          <a:ext cx="117316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99920" imgH="393480" progId="Equation.DSMT4">
                  <p:embed/>
                </p:oleObj>
              </mc:Choice>
              <mc:Fallback>
                <p:oleObj name="Equation" r:id="rId9" imgW="7999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86213" y="5414963"/>
                        <a:ext cx="1173162" cy="576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36812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799"/>
          </a:xfrm>
        </p:spPr>
        <p:txBody>
          <a:bodyPr>
            <a:noAutofit/>
          </a:bodyPr>
          <a:lstStyle/>
          <a:p>
            <a:r>
              <a:rPr lang="en-IN" dirty="0">
                <a:latin typeface="+mj-lt"/>
              </a:rPr>
              <a:t>The “Balanced Budget” Multiplier</a:t>
            </a:r>
            <a:endParaRPr lang="en-US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599"/>
            <a:ext cx="8229600" cy="609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Suppose we increase government spending and taxes both by $10 billion. What would happen to real GDP?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457200" y="2999601"/>
            <a:ext cx="8229600" cy="276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Adding these effects and factoring out the $10 billion gives: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/>
          </p:nvPr>
        </p:nvSpPr>
        <p:spPr>
          <a:xfrm>
            <a:off x="457200" y="4371201"/>
            <a:ext cx="8229600" cy="276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We can simplify this to: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5"/>
          </p:nvPr>
        </p:nvSpPr>
        <p:spPr>
          <a:xfrm>
            <a:off x="457200" y="5761077"/>
            <a:ext cx="8229600" cy="5539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So the balanced budget multiplier is 1: equal dollar increases in government spending and taxes lead to the same dollar increase in real GDP in the short run.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46866"/>
              </p:ext>
            </p:extLst>
          </p:nvPr>
        </p:nvGraphicFramePr>
        <p:xfrm>
          <a:off x="540544" y="1657348"/>
          <a:ext cx="8062912" cy="1142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18040" imgH="838080" progId="Equation.DSMT4">
                  <p:embed/>
                </p:oleObj>
              </mc:Choice>
              <mc:Fallback>
                <p:oleObj name="Equation" r:id="rId3" imgW="591804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0544" y="1657348"/>
                        <a:ext cx="8062912" cy="11425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789399"/>
              </p:ext>
            </p:extLst>
          </p:nvPr>
        </p:nvGraphicFramePr>
        <p:xfrm>
          <a:off x="2501900" y="3425825"/>
          <a:ext cx="3746500" cy="69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36760" imgH="431640" progId="Equation.DSMT4">
                  <p:embed/>
                </p:oleObj>
              </mc:Choice>
              <mc:Fallback>
                <p:oleObj name="Equation" r:id="rId5" imgW="2336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01900" y="3425825"/>
                        <a:ext cx="3746500" cy="692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394118"/>
              </p:ext>
            </p:extLst>
          </p:nvPr>
        </p:nvGraphicFramePr>
        <p:xfrm>
          <a:off x="2413000" y="4873625"/>
          <a:ext cx="4319588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38280" imgH="431640" progId="Equation.DSMT4">
                  <p:embed/>
                </p:oleObj>
              </mc:Choice>
              <mc:Fallback>
                <p:oleObj name="Equation" r:id="rId7" imgW="2438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13000" y="4873625"/>
                        <a:ext cx="4319588" cy="765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0683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B804D4F82C0B4088CBB3A2B255BE33" ma:contentTypeVersion="10" ma:contentTypeDescription="Create a new document." ma:contentTypeScope="" ma:versionID="ba2444f8b87678fbda005eb818e18e7d">
  <xsd:schema xmlns:xsd="http://www.w3.org/2001/XMLSchema" xmlns:xs="http://www.w3.org/2001/XMLSchema" xmlns:p="http://schemas.microsoft.com/office/2006/metadata/properties" xmlns:ns3="d445d462-2029-4cec-993f-47750f9ae382" targetNamespace="http://schemas.microsoft.com/office/2006/metadata/properties" ma:root="true" ma:fieldsID="59dfec31504f62d0b799b89d654e468f" ns3:_="">
    <xsd:import namespace="d445d462-2029-4cec-993f-47750f9ae38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45d462-2029-4cec-993f-47750f9ae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637977-83C3-4D06-8E43-B932C56FB1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45d462-2029-4cec-993f-47750f9ae3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0ED968-9256-4114-AF12-237294F6A362}">
  <ds:schemaRefs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d445d462-2029-4cec-993f-47750f9ae382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0BE2AAD-6CC9-4100-8B6B-7A31EE5170E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1403</TotalTime>
  <Words>2972</Words>
  <Application>Microsoft Macintosh PowerPoint</Application>
  <PresentationFormat>On-screen Show (4:3)</PresentationFormat>
  <Paragraphs>243</Paragraphs>
  <Slides>33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Aptos</vt:lpstr>
      <vt:lpstr>Aptos Display</vt:lpstr>
      <vt:lpstr>Arial</vt:lpstr>
      <vt:lpstr>Cambria Math</vt:lpstr>
      <vt:lpstr>Times New Roman</vt:lpstr>
      <vt:lpstr>Verdana</vt:lpstr>
      <vt:lpstr>Office Theme</vt:lpstr>
      <vt:lpstr>Equation</vt:lpstr>
      <vt:lpstr>Macroeconomics ECON 101</vt:lpstr>
      <vt:lpstr>Chapter Outline </vt:lpstr>
      <vt:lpstr>What is Fiscal Policy</vt:lpstr>
      <vt:lpstr>The Effects of Fiscal Policy on Real GDP and the Price Level</vt:lpstr>
      <vt:lpstr>Figure 12.7 Fiscal Policy (1 of 2)</vt:lpstr>
      <vt:lpstr>Figure 12.7 Fiscal Policy (2 of 2)</vt:lpstr>
      <vt:lpstr>Table 12.1 Countercyclical Fiscal Policy</vt:lpstr>
      <vt:lpstr>The Government Purchases and Tax Multipliers</vt:lpstr>
      <vt:lpstr>Figure 12.10 The Multiplier Effect and Aggregate Demand</vt:lpstr>
      <vt:lpstr>Figure 12.11 The Multiplier Effect of an Increase in Government Purchases</vt:lpstr>
      <vt:lpstr>Multipliers for Government Purchases and Taxes</vt:lpstr>
      <vt:lpstr>The Effect of Changes in Tax Rates</vt:lpstr>
      <vt:lpstr>Figure 12.12 The Multiplier Effect and Aggregate Supply</vt:lpstr>
      <vt:lpstr>The Multipliers Work in Both Directions</vt:lpstr>
      <vt:lpstr>The Limits of Fiscal Policy as a Stimulus</vt:lpstr>
      <vt:lpstr>Figure 12.13 An Expansionary Fiscal Policy Increases Interest Rates</vt:lpstr>
      <vt:lpstr>Figure 12.14 The Effect of Crowding Out in the Short Run</vt:lpstr>
      <vt:lpstr>Crowding Out in the Long Run</vt:lpstr>
      <vt:lpstr>Deficits, Surpluses, and Federal Government Debt</vt:lpstr>
      <vt:lpstr>Figure 12.15 The Federal Budget Deficit, 1962–2021</vt:lpstr>
      <vt:lpstr>Figure 12.16 The Federal Government Debt, 1962–2021</vt:lpstr>
      <vt:lpstr>Is Government Debt a Problem?</vt:lpstr>
      <vt:lpstr>The Effects of Fiscal Policy in the Long Run</vt:lpstr>
      <vt:lpstr>The Long-Run Effects of Tax Policy</vt:lpstr>
      <vt:lpstr>Tax Rates Matter</vt:lpstr>
      <vt:lpstr>Figure 12.17 The Supply-Side Effects of a Tax Change</vt:lpstr>
      <vt:lpstr>Appendix A Closer Look at the Multiplier Formula</vt:lpstr>
      <vt:lpstr>An Expression for Equilibrium Real GDP (1 of 2)</vt:lpstr>
      <vt:lpstr>An Expression for Equilibrium Real GDP (2 of 2)</vt:lpstr>
      <vt:lpstr>An Algebraic Expression for Equilibrium Real GDP</vt:lpstr>
      <vt:lpstr>A Formula for the Government Purchases Multiplier</vt:lpstr>
      <vt:lpstr>A Formula for the Tax Multiplier</vt:lpstr>
      <vt:lpstr>The “Balanced Budget” Multiplier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Macroeconomics, Third Canadian Edition, Chapter 12  Fiscal Policy</dc:title>
  <dc:subject>Economics</dc:subject>
  <dc:creator>Hubbard, Patrick O’Brien, Serletis, Childs</dc:creator>
  <cp:lastModifiedBy>Muhebullah Karimzada</cp:lastModifiedBy>
  <cp:revision>6493</cp:revision>
  <dcterms:created xsi:type="dcterms:W3CDTF">2014-07-14T20:04:21Z</dcterms:created>
  <dcterms:modified xsi:type="dcterms:W3CDTF">2024-12-30T02:45:45Z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0x0101008EB804D4F82C0B4088CBB3A2B255BE33</vt:lpwstr>
  </property>
</Properties>
</file>