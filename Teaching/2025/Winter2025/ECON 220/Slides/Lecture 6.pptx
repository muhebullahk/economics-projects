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2"/>
  </p:sldMasterIdLst>
  <p:notesMasterIdLst>
    <p:notesMasterId r:id="rId44"/>
  </p:notesMasterIdLst>
  <p:handoutMasterIdLst>
    <p:handoutMasterId r:id="rId45"/>
  </p:handoutMasterIdLst>
  <p:sldIdLst>
    <p:sldId id="1405" r:id="rId3"/>
    <p:sldId id="404" r:id="rId4"/>
    <p:sldId id="332" r:id="rId5"/>
    <p:sldId id="333" r:id="rId6"/>
    <p:sldId id="334" r:id="rId7"/>
    <p:sldId id="335" r:id="rId8"/>
    <p:sldId id="406" r:id="rId9"/>
    <p:sldId id="337" r:id="rId10"/>
    <p:sldId id="338" r:id="rId11"/>
    <p:sldId id="339" r:id="rId12"/>
    <p:sldId id="407" r:id="rId13"/>
    <p:sldId id="341" r:id="rId14"/>
    <p:sldId id="409" r:id="rId15"/>
    <p:sldId id="343" r:id="rId16"/>
    <p:sldId id="344" r:id="rId17"/>
    <p:sldId id="345" r:id="rId18"/>
    <p:sldId id="346" r:id="rId19"/>
    <p:sldId id="347" r:id="rId20"/>
    <p:sldId id="411" r:id="rId21"/>
    <p:sldId id="412" r:id="rId22"/>
    <p:sldId id="416" r:id="rId23"/>
    <p:sldId id="367" r:id="rId24"/>
    <p:sldId id="368" r:id="rId25"/>
    <p:sldId id="369" r:id="rId26"/>
    <p:sldId id="370" r:id="rId27"/>
    <p:sldId id="415" r:id="rId28"/>
    <p:sldId id="417" r:id="rId29"/>
    <p:sldId id="418" r:id="rId30"/>
    <p:sldId id="419" r:id="rId31"/>
    <p:sldId id="420" r:id="rId32"/>
    <p:sldId id="421" r:id="rId33"/>
    <p:sldId id="365" r:id="rId34"/>
    <p:sldId id="422" r:id="rId35"/>
    <p:sldId id="426" r:id="rId36"/>
    <p:sldId id="427" r:id="rId37"/>
    <p:sldId id="428" r:id="rId38"/>
    <p:sldId id="429" r:id="rId39"/>
    <p:sldId id="430" r:id="rId40"/>
    <p:sldId id="379" r:id="rId41"/>
    <p:sldId id="384" r:id="rId42"/>
    <p:sldId id="397"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amazani, Reza" initials="RR" lastIdx="66" clrIdx="6">
    <p:extLst>
      <p:ext uri="{19B8F6BF-5375-455C-9EA6-DF929625EA0E}">
        <p15:presenceInfo xmlns:p15="http://schemas.microsoft.com/office/powerpoint/2012/main" userId="Ramazani, Reza" providerId="None"/>
      </p:ext>
    </p:extLst>
  </p:cmAuthor>
  <p:cmAuthor id="1" name="Jennifer Baker" initials="JB" lastIdx="7" clrIdx="0"/>
  <p:cmAuthor id="8" name="PC" initials="P" lastIdx="17" clrIdx="7">
    <p:extLst>
      <p:ext uri="{19B8F6BF-5375-455C-9EA6-DF929625EA0E}">
        <p15:presenceInfo xmlns:p15="http://schemas.microsoft.com/office/powerpoint/2012/main" userId="PC" providerId="None"/>
      </p:ext>
    </p:extLst>
  </p:cmAuthor>
  <p:cmAuthor id="2" name="Hauk, William" initials="HW" lastIdx="6" clrIdx="1"/>
  <p:cmAuthor id="9" name="Copyeditor" initials="CE" lastIdx="13" clrIdx="8">
    <p:extLst>
      <p:ext uri="{19B8F6BF-5375-455C-9EA6-DF929625EA0E}">
        <p15:presenceInfo xmlns:p15="http://schemas.microsoft.com/office/powerpoint/2012/main" userId="Copyeditor" providerId="None"/>
      </p:ext>
    </p:extLst>
  </p:cmAuthor>
  <p:cmAuthor id="3" name="Mingzhi Xu" initials="MX" lastIdx="2" clrIdx="2"/>
  <p:cmAuthor id="10" name="Matamoros, Stephanie" initials="MS" lastIdx="8" clrIdx="9">
    <p:extLst>
      <p:ext uri="{19B8F6BF-5375-455C-9EA6-DF929625EA0E}">
        <p15:presenceInfo xmlns:p15="http://schemas.microsoft.com/office/powerpoint/2012/main" userId="S-1-5-21-4250845945-3731851581-3800177176-71210" providerId="AD"/>
      </p:ext>
    </p:extLst>
  </p:cmAuthor>
  <p:cmAuthor id="4" name="Microsoft Office User" initials="Office" lastIdx="1" clrIdx="3"/>
  <p:cmAuthor id="5" name="Microsoft Office User" initials="Office [2]" lastIdx="1" clrIdx="4"/>
  <p:cmAuthor id="6" name="Doolan, Edgar" initials="DE" lastIdx="6" clrIdx="5">
    <p:extLst>
      <p:ext uri="{19B8F6BF-5375-455C-9EA6-DF929625EA0E}">
        <p15:presenceInfo xmlns:p15="http://schemas.microsoft.com/office/powerpoint/2012/main" userId="S-1-5-21-4250845945-3731851581-3800177176-1693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5656"/>
    <a:srgbClr val="002E36"/>
    <a:srgbClr val="142234"/>
    <a:srgbClr val="00642D"/>
    <a:srgbClr val="F4D296"/>
    <a:srgbClr val="EFC2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47" autoAdjust="0"/>
    <p:restoredTop sz="95493" autoAdjust="0"/>
  </p:normalViewPr>
  <p:slideViewPr>
    <p:cSldViewPr snapToGrid="0">
      <p:cViewPr varScale="1">
        <p:scale>
          <a:sx n="118" d="100"/>
          <a:sy n="118" d="100"/>
        </p:scale>
        <p:origin x="15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7718"/>
    </p:cViewPr>
  </p:sorterViewPr>
  <p:notesViewPr>
    <p:cSldViewPr snapToGrid="0">
      <p:cViewPr varScale="1">
        <p:scale>
          <a:sx n="97" d="100"/>
          <a:sy n="97" d="100"/>
        </p:scale>
        <p:origin x="2904"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86B2FE8-8202-4814-9220-C15A31185844}" type="datetime1">
              <a:rPr lang="en-US" smtClean="0"/>
              <a:t>1/27/25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0976894-F06D-4981-9F3C-F653E4FDD5F7}" type="slidenum">
              <a:rPr lang="en-US" smtClean="0"/>
              <a:t>‹#›</a:t>
            </a:fld>
            <a:endParaRPr lang="en-US"/>
          </a:p>
        </p:txBody>
      </p:sp>
    </p:spTree>
    <p:extLst>
      <p:ext uri="{BB962C8B-B14F-4D97-AF65-F5344CB8AC3E}">
        <p14:creationId xmlns:p14="http://schemas.microsoft.com/office/powerpoint/2010/main" val="1047811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42088E-914D-4A55-A2AA-7777329AB2CD}" type="datetime1">
              <a:rPr lang="en-US" smtClean="0"/>
              <a:t>1/27/25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5F8F68-D58C-42E4-87D3-BE66E64A8246}" type="slidenum">
              <a:rPr lang="en-US" smtClean="0"/>
              <a:t>‹#›</a:t>
            </a:fld>
            <a:endParaRPr lang="en-US"/>
          </a:p>
        </p:txBody>
      </p:sp>
    </p:spTree>
    <p:extLst>
      <p:ext uri="{BB962C8B-B14F-4D97-AF65-F5344CB8AC3E}">
        <p14:creationId xmlns:p14="http://schemas.microsoft.com/office/powerpoint/2010/main" val="312905716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5F8F68-D58C-42E4-87D3-BE66E64A8246}" type="slidenum">
              <a:rPr lang="en-US" smtClean="0"/>
              <a:t>18</a:t>
            </a:fld>
            <a:endParaRPr lang="en-US"/>
          </a:p>
        </p:txBody>
      </p:sp>
    </p:spTree>
    <p:extLst>
      <p:ext uri="{BB962C8B-B14F-4D97-AF65-F5344CB8AC3E}">
        <p14:creationId xmlns:p14="http://schemas.microsoft.com/office/powerpoint/2010/main" val="3188831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32ECE-C513-1A47-9225-90F557808304}" type="slidenum">
              <a:rPr lang="en-US" smtClean="0"/>
              <a:t>‹#›</a:t>
            </a:fld>
            <a:endParaRPr lang="en-US"/>
          </a:p>
        </p:txBody>
      </p:sp>
      <p:cxnSp>
        <p:nvCxnSpPr>
          <p:cNvPr id="7" name="Straight Connector 6">
            <a:extLst>
              <a:ext uri="{FF2B5EF4-FFF2-40B4-BE49-F238E27FC236}">
                <a16:creationId xmlns:a16="http://schemas.microsoft.com/office/drawing/2014/main" id="{181883CC-1450-B44F-1265-BDAFBAED122B}"/>
              </a:ext>
            </a:extLst>
          </p:cNvPr>
          <p:cNvCxnSpPr/>
          <p:nvPr userDrawn="1"/>
        </p:nvCxnSpPr>
        <p:spPr>
          <a:xfrm>
            <a:off x="0" y="1600200"/>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88D93487-1305-0C64-A254-00600183D9ED}"/>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1462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cxnSp>
        <p:nvCxnSpPr>
          <p:cNvPr id="7" name="Straight Connector 6">
            <a:extLst>
              <a:ext uri="{FF2B5EF4-FFF2-40B4-BE49-F238E27FC236}">
                <a16:creationId xmlns:a16="http://schemas.microsoft.com/office/drawing/2014/main" id="{3F8AAD88-E2A6-AE95-B4CE-C790C325520F}"/>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00557B6C-FA5C-7490-CAB5-4255E570FF80}"/>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77BA68D4-0E99-C23B-5C2F-F3FFF9318F8D}"/>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0" name="Footer Placeholder 4">
            <a:extLst>
              <a:ext uri="{FF2B5EF4-FFF2-40B4-BE49-F238E27FC236}">
                <a16:creationId xmlns:a16="http://schemas.microsoft.com/office/drawing/2014/main" id="{F460D9DB-341A-3F64-1CC5-30A02D08069C}"/>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11" name="Slide Number Placeholder 3">
            <a:extLst>
              <a:ext uri="{FF2B5EF4-FFF2-40B4-BE49-F238E27FC236}">
                <a16:creationId xmlns:a16="http://schemas.microsoft.com/office/drawing/2014/main" id="{C3878251-3495-B301-4E41-81650DACC839}"/>
              </a:ext>
            </a:extLst>
          </p:cNvPr>
          <p:cNvSpPr txBox="1">
            <a:spLocks/>
          </p:cNvSpPr>
          <p:nvPr userDrawn="1"/>
        </p:nvSpPr>
        <p:spPr>
          <a:xfrm>
            <a:off x="6553200" y="6479151"/>
            <a:ext cx="2133600" cy="365125"/>
          </a:xfrm>
          <a:prstGeom prst="rect">
            <a:avLst/>
          </a:prstGeom>
        </p:spPr>
        <p:txBody>
          <a:bodyPr anchor="ctr"/>
          <a:lstStyle>
            <a:defPPr>
              <a:defRPr lang="en-US"/>
            </a:defPPr>
            <a:lvl1pPr marL="0" algn="r" defTabSz="914400" rtl="0" eaLnBrk="1" latinLnBrk="0" hangingPunct="1">
              <a:defRPr sz="11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dirty="0"/>
          </a:p>
        </p:txBody>
      </p:sp>
    </p:spTree>
    <p:extLst>
      <p:ext uri="{BB962C8B-B14F-4D97-AF65-F5344CB8AC3E}">
        <p14:creationId xmlns:p14="http://schemas.microsoft.com/office/powerpoint/2010/main" val="3016606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D1C34F-4D72-9342-B240-606CF18E27E3}"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191260101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D1C34F-4D72-9342-B240-606CF18E27E3}"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A32ECE-C513-1A47-9225-90F557808304}" type="slidenum">
              <a:rPr lang="en-US" smtClean="0"/>
              <a:t>‹#›</a:t>
            </a:fld>
            <a:endParaRPr lang="en-US"/>
          </a:p>
        </p:txBody>
      </p:sp>
      <p:sp>
        <p:nvSpPr>
          <p:cNvPr id="8" name="Slide Number Placeholder 5">
            <a:extLst>
              <a:ext uri="{FF2B5EF4-FFF2-40B4-BE49-F238E27FC236}">
                <a16:creationId xmlns:a16="http://schemas.microsoft.com/office/drawing/2014/main" id="{350EEBF7-F8ED-8458-8E0F-FC59D950197E}"/>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9" name="Straight Connector 8">
            <a:extLst>
              <a:ext uri="{FF2B5EF4-FFF2-40B4-BE49-F238E27FC236}">
                <a16:creationId xmlns:a16="http://schemas.microsoft.com/office/drawing/2014/main" id="{CA8EEF82-3DF9-6581-5159-F160A95EFF05}"/>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5936ADF2-60A2-74B8-12CE-E416E8FABC42}"/>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1BC57E1D-E7ED-DDA8-122E-4C4574DA61A7}"/>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2" name="Footer Placeholder 4">
            <a:extLst>
              <a:ext uri="{FF2B5EF4-FFF2-40B4-BE49-F238E27FC236}">
                <a16:creationId xmlns:a16="http://schemas.microsoft.com/office/drawing/2014/main" id="{70068D9D-E323-6FA3-9B80-9C2029B40F45}"/>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Tree>
    <p:extLst>
      <p:ext uri="{BB962C8B-B14F-4D97-AF65-F5344CB8AC3E}">
        <p14:creationId xmlns:p14="http://schemas.microsoft.com/office/powerpoint/2010/main" val="3100940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D1C34F-4D72-9342-B240-606CF18E27E3}" type="datetimeFigureOut">
              <a:rPr lang="en-US" smtClean="0"/>
              <a:t>1/27/25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241140328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D1C34F-4D72-9342-B240-606CF18E27E3}" type="datetimeFigureOut">
              <a:rPr lang="en-US" smtClean="0"/>
              <a:t>1/27/25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A32ECE-C513-1A47-9225-90F557808304}" type="slidenum">
              <a:rPr lang="en-US" smtClean="0"/>
              <a:t>‹#›</a:t>
            </a:fld>
            <a:endParaRPr lang="en-US"/>
          </a:p>
        </p:txBody>
      </p:sp>
      <p:sp>
        <p:nvSpPr>
          <p:cNvPr id="6" name="Slide Number Placeholder 5">
            <a:extLst>
              <a:ext uri="{FF2B5EF4-FFF2-40B4-BE49-F238E27FC236}">
                <a16:creationId xmlns:a16="http://schemas.microsoft.com/office/drawing/2014/main" id="{46421595-60B1-1EEC-945D-9D30B066F590}"/>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7" name="Straight Connector 6">
            <a:extLst>
              <a:ext uri="{FF2B5EF4-FFF2-40B4-BE49-F238E27FC236}">
                <a16:creationId xmlns:a16="http://schemas.microsoft.com/office/drawing/2014/main" id="{FBA2CCBD-4C22-4E9B-3CF5-ABEE6AF96179}"/>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F1520CD2-8CA5-6982-DD02-EC8346043AA1}"/>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502A0E63-D266-6C35-9256-F53F96AD649D}"/>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0" name="Footer Placeholder 4">
            <a:extLst>
              <a:ext uri="{FF2B5EF4-FFF2-40B4-BE49-F238E27FC236}">
                <a16:creationId xmlns:a16="http://schemas.microsoft.com/office/drawing/2014/main" id="{FEABCF5B-A217-F4DB-50E2-E3E1F68EB0B3}"/>
              </a:ext>
            </a:extLst>
          </p:cNvPr>
          <p:cNvSpPr txBox="1">
            <a:spLocks/>
          </p:cNvSpPr>
          <p:nvPr userDrawn="1"/>
        </p:nvSpPr>
        <p:spPr>
          <a:xfrm>
            <a:off x="2897488"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Tree>
    <p:extLst>
      <p:ext uri="{BB962C8B-B14F-4D97-AF65-F5344CB8AC3E}">
        <p14:creationId xmlns:p14="http://schemas.microsoft.com/office/powerpoint/2010/main" val="1142829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D1C34F-4D72-9342-B240-606CF18E27E3}" type="datetimeFigureOut">
              <a:rPr lang="en-US" smtClean="0"/>
              <a:t>1/27/25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41314991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D1C34F-4D72-9342-B240-606CF18E27E3}"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23778789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D1C34F-4D72-9342-B240-606CF18E27E3}"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243391016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91487623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60913535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6" name="Slide Number Placeholder 5"/>
          <p:cNvSpPr>
            <a:spLocks noGrp="1"/>
          </p:cNvSpPr>
          <p:nvPr>
            <p:ph type="sldNum" sz="quarter" idx="12"/>
          </p:nvPr>
        </p:nvSpPr>
        <p:spPr>
          <a:xfrm>
            <a:off x="6553200" y="6492875"/>
            <a:ext cx="2133600" cy="365125"/>
          </a:xfrm>
          <a:prstGeom prst="rect">
            <a:avLst/>
          </a:prstGeom>
        </p:spPr>
        <p:txBody>
          <a:bodyPr anchor="ctr"/>
          <a:lstStyle>
            <a:lvl1pPr algn="r">
              <a:defRPr sz="1100">
                <a:solidFill>
                  <a:schemeClr val="bg1"/>
                </a:solidFill>
              </a:defRPr>
            </a:lvl1pPr>
          </a:lstStyle>
          <a:p>
            <a:pPr algn="r"/>
            <a:fld id="{7A9DC544-88AA-4B99-9569-D68FC0552398}" type="slidenum">
              <a:rPr lang="en-US" smtClean="0"/>
              <a:pPr/>
              <a:t>‹#›</a:t>
            </a:fld>
            <a:endParaRPr lang="en-US"/>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DD51A9EC-BE96-8842-A44B-D590FF0B77B6}"/>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C87D19B1-4644-DF4A-9C99-28F970B44279}"/>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86B822E6-5782-1C42-A222-10EF4B19645A}"/>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4" name="Footer Placeholder 4">
            <a:extLst>
              <a:ext uri="{FF2B5EF4-FFF2-40B4-BE49-F238E27FC236}">
                <a16:creationId xmlns:a16="http://schemas.microsoft.com/office/drawing/2014/main" id="{CCEAB4B4-0B1C-9C40-8AC0-01CFCB246C8D}"/>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Content Placeholder 4"/>
          <p:cNvSpPr>
            <a:spLocks noGrp="1"/>
          </p:cNvSpPr>
          <p:nvPr>
            <p:ph sz="quarter" idx="13"/>
          </p:nvPr>
        </p:nvSpPr>
        <p:spPr>
          <a:xfrm>
            <a:off x="690563" y="1414463"/>
            <a:ext cx="6650037" cy="48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862013" y="1992313"/>
            <a:ext cx="6211887" cy="58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p:cNvSpPr>
            <a:spLocks noGrp="1"/>
          </p:cNvSpPr>
          <p:nvPr>
            <p:ph sz="quarter" idx="15"/>
          </p:nvPr>
        </p:nvSpPr>
        <p:spPr>
          <a:xfrm>
            <a:off x="889000" y="2924175"/>
            <a:ext cx="6891338" cy="439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6"/>
          </p:nvPr>
        </p:nvSpPr>
        <p:spPr>
          <a:xfrm>
            <a:off x="534988" y="3725863"/>
            <a:ext cx="7297737" cy="82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7"/>
          </p:nvPr>
        </p:nvSpPr>
        <p:spPr>
          <a:xfrm>
            <a:off x="595313" y="4830763"/>
            <a:ext cx="5175250" cy="3190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5">
            <a:extLst>
              <a:ext uri="{FF2B5EF4-FFF2-40B4-BE49-F238E27FC236}">
                <a16:creationId xmlns:a16="http://schemas.microsoft.com/office/drawing/2014/main" id="{35F97A87-28B5-4261-83C9-EADBE6764F62}"/>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Tree>
    <p:extLst>
      <p:ext uri="{BB962C8B-B14F-4D97-AF65-F5344CB8AC3E}">
        <p14:creationId xmlns:p14="http://schemas.microsoft.com/office/powerpoint/2010/main" val="2197138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DD51A9EC-BE96-8842-A44B-D590FF0B77B6}"/>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C87D19B1-4644-DF4A-9C99-28F970B44279}"/>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86B822E6-5782-1C42-A222-10EF4B19645A}"/>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4" name="Footer Placeholder 4">
            <a:extLst>
              <a:ext uri="{FF2B5EF4-FFF2-40B4-BE49-F238E27FC236}">
                <a16:creationId xmlns:a16="http://schemas.microsoft.com/office/drawing/2014/main" id="{CCEAB4B4-0B1C-9C40-8AC0-01CFCB246C8D}"/>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Content Placeholder 4"/>
          <p:cNvSpPr>
            <a:spLocks noGrp="1"/>
          </p:cNvSpPr>
          <p:nvPr>
            <p:ph sz="quarter" idx="13"/>
          </p:nvPr>
        </p:nvSpPr>
        <p:spPr>
          <a:xfrm>
            <a:off x="690563" y="1552575"/>
            <a:ext cx="7408862" cy="681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655638" y="2406650"/>
            <a:ext cx="7885112" cy="733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p:cNvSpPr>
            <a:spLocks noGrp="1"/>
          </p:cNvSpPr>
          <p:nvPr>
            <p:ph sz="quarter" idx="15"/>
          </p:nvPr>
        </p:nvSpPr>
        <p:spPr>
          <a:xfrm>
            <a:off x="811213" y="3502025"/>
            <a:ext cx="7340600" cy="8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6"/>
          </p:nvPr>
        </p:nvSpPr>
        <p:spPr>
          <a:xfrm>
            <a:off x="1095375" y="4468813"/>
            <a:ext cx="6443663"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7"/>
          </p:nvPr>
        </p:nvSpPr>
        <p:spPr>
          <a:xfrm>
            <a:off x="1423988" y="5616575"/>
            <a:ext cx="4545012" cy="3698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5">
            <a:extLst>
              <a:ext uri="{FF2B5EF4-FFF2-40B4-BE49-F238E27FC236}">
                <a16:creationId xmlns:a16="http://schemas.microsoft.com/office/drawing/2014/main" id="{ADBB0D4B-5AC6-4AA7-A3B2-DBD811B7DFDC}"/>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Tree>
    <p:extLst>
      <p:ext uri="{BB962C8B-B14F-4D97-AF65-F5344CB8AC3E}">
        <p14:creationId xmlns:p14="http://schemas.microsoft.com/office/powerpoint/2010/main" val="3239845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63197"/>
            <a:ext cx="8229600" cy="1143000"/>
          </a:xfrm>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E9F35A60-58A9-E645-96E7-5745071AB34B}"/>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12" name="Straight Connector 11">
            <a:extLst>
              <a:ext uri="{FF2B5EF4-FFF2-40B4-BE49-F238E27FC236}">
                <a16:creationId xmlns:a16="http://schemas.microsoft.com/office/drawing/2014/main" id="{0C85272D-C410-F84F-9F14-F8CD3AFC7EED}"/>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7CD7020A-17E2-0A46-8EF3-78A5E49F349F}"/>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4" name="Straight Connector 13">
            <a:extLst>
              <a:ext uri="{FF2B5EF4-FFF2-40B4-BE49-F238E27FC236}">
                <a16:creationId xmlns:a16="http://schemas.microsoft.com/office/drawing/2014/main" id="{E9808259-1753-2741-89A2-BC7D571F9527}"/>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6" name="Slide Number Placeholder 5">
            <a:extLst>
              <a:ext uri="{FF2B5EF4-FFF2-40B4-BE49-F238E27FC236}">
                <a16:creationId xmlns:a16="http://schemas.microsoft.com/office/drawing/2014/main" id="{97AFF193-42CC-C349-AF66-2300712F0345}"/>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17" name="Straight Connector 16">
            <a:extLst>
              <a:ext uri="{FF2B5EF4-FFF2-40B4-BE49-F238E27FC236}">
                <a16:creationId xmlns:a16="http://schemas.microsoft.com/office/drawing/2014/main" id="{EA0C83F5-650F-BB4B-B6CA-31F962068E54}"/>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8" name="Straight Connector 17">
            <a:extLst>
              <a:ext uri="{FF2B5EF4-FFF2-40B4-BE49-F238E27FC236}">
                <a16:creationId xmlns:a16="http://schemas.microsoft.com/office/drawing/2014/main" id="{828FBB9B-4901-7C47-93BF-56E2BFB4191C}"/>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9" name="Straight Connector 18">
            <a:extLst>
              <a:ext uri="{FF2B5EF4-FFF2-40B4-BE49-F238E27FC236}">
                <a16:creationId xmlns:a16="http://schemas.microsoft.com/office/drawing/2014/main" id="{47462C57-2A49-114A-AC68-B0A0C5C0641E}"/>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20" name="Footer Placeholder 4">
            <a:extLst>
              <a:ext uri="{FF2B5EF4-FFF2-40B4-BE49-F238E27FC236}">
                <a16:creationId xmlns:a16="http://schemas.microsoft.com/office/drawing/2014/main" id="{F5159183-951C-CD42-98A3-9B495B8CD2C6}"/>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6" name="Content Placeholder 5"/>
          <p:cNvSpPr>
            <a:spLocks noGrp="1"/>
          </p:cNvSpPr>
          <p:nvPr>
            <p:ph sz="quarter" idx="10"/>
          </p:nvPr>
        </p:nvSpPr>
        <p:spPr>
          <a:xfrm>
            <a:off x="982663" y="4046538"/>
            <a:ext cx="5202237" cy="1035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p:cNvSpPr>
            <a:spLocks noGrp="1"/>
          </p:cNvSpPr>
          <p:nvPr>
            <p:ph sz="quarter" idx="11"/>
          </p:nvPr>
        </p:nvSpPr>
        <p:spPr>
          <a:xfrm>
            <a:off x="3278188" y="2363788"/>
            <a:ext cx="2268537" cy="854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382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D1C34F-4D72-9342-B240-606CF18E27E3}" type="datetimeFigureOut">
              <a:rPr lang="en-US" smtClean="0"/>
              <a:t>1/27/25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fld id="{7A9DC544-88AA-4B99-9569-D68FC0552398}" type="slidenum">
              <a:rPr lang="en-US" smtClean="0"/>
              <a:pPr/>
              <a:t>‹#›</a:t>
            </a:fld>
            <a:endParaRPr lang="en-US"/>
          </a:p>
        </p:txBody>
      </p:sp>
      <p:pic>
        <p:nvPicPr>
          <p:cNvPr id="7" name="Picture 6" title="Macmillan Learning Logo">
            <a:extLst>
              <a:ext uri="{FF2B5EF4-FFF2-40B4-BE49-F238E27FC236}">
                <a16:creationId xmlns:a16="http://schemas.microsoft.com/office/drawing/2014/main" id="{A36729F9-C10F-2DBA-0BD3-F920028E460F}"/>
              </a:ext>
            </a:extLst>
          </p:cNvPr>
          <p:cNvPicPr>
            <a:picLocks noChangeAspect="1"/>
          </p:cNvPicPr>
          <p:nvPr userDrawn="1"/>
        </p:nvPicPr>
        <p:blipFill rotWithShape="1">
          <a:blip r:embed="rId16"/>
          <a:srcRect l="1645" t="3305" r="2291" b="2817"/>
          <a:stretch/>
        </p:blipFill>
        <p:spPr>
          <a:xfrm>
            <a:off x="0" y="6452235"/>
            <a:ext cx="1112566" cy="405765"/>
          </a:xfrm>
          <a:prstGeom prst="rect">
            <a:avLst/>
          </a:prstGeom>
        </p:spPr>
      </p:pic>
      <p:sp>
        <p:nvSpPr>
          <p:cNvPr id="8" name="Rectangle 7">
            <a:extLst>
              <a:ext uri="{FF2B5EF4-FFF2-40B4-BE49-F238E27FC236}">
                <a16:creationId xmlns:a16="http://schemas.microsoft.com/office/drawing/2014/main" id="{AA540455-9844-671E-A753-A4BEEAA18C72}"/>
              </a:ext>
            </a:extLst>
          </p:cNvPr>
          <p:cNvSpPr/>
          <p:nvPr userDrawn="1"/>
        </p:nvSpPr>
        <p:spPr>
          <a:xfrm>
            <a:off x="1112566" y="6492874"/>
            <a:ext cx="8031434" cy="365126"/>
          </a:xfrm>
          <a:prstGeom prst="rect">
            <a:avLst/>
          </a:prstGeom>
          <a:solidFill>
            <a:schemeClr val="tx2">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D562560C-E40A-1633-43CF-25564C33850C}"/>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493042332"/>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6"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oec.world/en/profile/bilateral-country/can/partner/usa" TargetMode="External"/><Relationship Id="rId2" Type="http://schemas.openxmlformats.org/officeDocument/2006/relationships/hyperlink" Target="https://unctadstat.unctad.org/EN/RcaRadar.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sz="4000" dirty="0"/>
              <a:t>Global Economic Shifts</a:t>
            </a:r>
            <a:br>
              <a:rPr lang="en-US" dirty="0"/>
            </a:br>
            <a:r>
              <a:rPr lang="en-US" sz="2800" dirty="0"/>
              <a:t> </a:t>
            </a:r>
            <a:r>
              <a:rPr lang="en-CA" sz="2400" b="0" i="0" dirty="0">
                <a:solidFill>
                  <a:srgbClr val="003E2D"/>
                </a:solidFill>
                <a:effectLst/>
                <a:latin typeface="Museo Sans W01 500"/>
              </a:rPr>
              <a:t>ECON 220</a:t>
            </a:r>
            <a:endParaRPr lang="en-US" sz="24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2999" y="3276600"/>
            <a:ext cx="7108371" cy="1981200"/>
          </a:xfrm>
        </p:spPr>
        <p:txBody>
          <a:bodyPr>
            <a:normAutofit/>
          </a:bodyPr>
          <a:lstStyle/>
          <a:p>
            <a:r>
              <a:rPr lang="en-US" sz="2000" dirty="0"/>
              <a:t>Trade, Technology and Economic Integration: The Ricardian Model</a:t>
            </a:r>
          </a:p>
          <a:p>
            <a:endParaRPr lang="en-US" dirty="0"/>
          </a:p>
          <a:p>
            <a:r>
              <a:rPr lang="en-US" sz="1800" dirty="0"/>
              <a:t>Instructor: </a:t>
            </a:r>
            <a:r>
              <a:rPr lang="en-US" sz="1800" dirty="0" err="1"/>
              <a:t>Muhebullah</a:t>
            </a:r>
            <a:r>
              <a:rPr lang="en-US" sz="1800" dirty="0"/>
              <a:t> </a:t>
            </a:r>
            <a:r>
              <a:rPr lang="en-US" sz="1800" dirty="0" err="1"/>
              <a:t>Karimzada</a:t>
            </a:r>
            <a:endParaRPr lang="en-US" sz="1800"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to Consider</a:t>
            </a:r>
          </a:p>
        </p:txBody>
      </p:sp>
      <p:sp>
        <p:nvSpPr>
          <p:cNvPr id="3" name="Content Placeholder 2"/>
          <p:cNvSpPr>
            <a:spLocks noGrp="1"/>
          </p:cNvSpPr>
          <p:nvPr>
            <p:ph idx="1"/>
          </p:nvPr>
        </p:nvSpPr>
        <p:spPr/>
        <p:txBody>
          <a:bodyPr/>
          <a:lstStyle/>
          <a:p>
            <a:pPr marL="514350" indent="-514350">
              <a:buFont typeface="+mj-lt"/>
              <a:buAutoNum type="arabicPeriod"/>
            </a:pPr>
            <a:r>
              <a:rPr lang="en-US" b="0" dirty="0"/>
              <a:t>What are reasons for countries to trade?</a:t>
            </a:r>
          </a:p>
          <a:p>
            <a:pPr marL="514350" indent="-514350">
              <a:buFont typeface="+mj-lt"/>
              <a:buAutoNum type="arabicPeriod"/>
            </a:pPr>
            <a:r>
              <a:rPr lang="en-US" b="0" dirty="0"/>
              <a:t>Will the country that is best at producing a good always export it?</a:t>
            </a:r>
          </a:p>
          <a:p>
            <a:pPr marL="514350" indent="-514350">
              <a:buFont typeface="+mj-lt"/>
              <a:buAutoNum type="arabicPeriod"/>
            </a:pPr>
            <a:r>
              <a:rPr lang="en-US" b="0" dirty="0"/>
              <a:t>How can countries compete with low-wage exporters, like China?</a:t>
            </a:r>
          </a:p>
        </p:txBody>
      </p:sp>
    </p:spTree>
    <p:extLst>
      <p:ext uri="{BB962C8B-B14F-4D97-AF65-F5344CB8AC3E}">
        <p14:creationId xmlns:p14="http://schemas.microsoft.com/office/powerpoint/2010/main" val="3818295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E253-485D-4948-9AEA-3CB5B56B250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61E2B9E-F3AC-5847-AA08-6507DD597C98}"/>
              </a:ext>
            </a:extLst>
          </p:cNvPr>
          <p:cNvSpPr>
            <a:spLocks noGrp="1"/>
          </p:cNvSpPr>
          <p:nvPr>
            <p:ph idx="1"/>
          </p:nvPr>
        </p:nvSpPr>
        <p:spPr/>
        <p:txBody>
          <a:bodyPr>
            <a:normAutofit lnSpcReduction="10000"/>
          </a:bodyPr>
          <a:lstStyle/>
          <a:p>
            <a:r>
              <a:rPr lang="en-US" dirty="0"/>
              <a:t>Reasons countries trade goods with each other</a:t>
            </a:r>
          </a:p>
          <a:p>
            <a:pPr lvl="1"/>
            <a:r>
              <a:rPr lang="en-US" dirty="0"/>
              <a:t>Differences in the technology used in each country (i.e., differences in each country’s ability to manufacture products)</a:t>
            </a:r>
          </a:p>
          <a:p>
            <a:pPr lvl="1"/>
            <a:r>
              <a:rPr lang="en-US" dirty="0"/>
              <a:t>Differences in the total amount of resources (including labor, capital, and land) found in each country</a:t>
            </a:r>
          </a:p>
          <a:p>
            <a:pPr lvl="1"/>
            <a:r>
              <a:rPr lang="en-US" dirty="0"/>
              <a:t>Differences in the costs of offshoring (i.e., producing the various parts of a good in different countries and then assembling them into the finished product in a final location)</a:t>
            </a:r>
          </a:p>
          <a:p>
            <a:pPr lvl="1"/>
            <a:r>
              <a:rPr lang="en-US" dirty="0"/>
              <a:t>The proximity of countries to each other (i.e., how close they are to one another). The closer countries are, the lower the costs of transportation.</a:t>
            </a:r>
          </a:p>
          <a:p>
            <a:endParaRPr lang="en-US" dirty="0"/>
          </a:p>
        </p:txBody>
      </p:sp>
    </p:spTree>
    <p:extLst>
      <p:ext uri="{BB962C8B-B14F-4D97-AF65-F5344CB8AC3E}">
        <p14:creationId xmlns:p14="http://schemas.microsoft.com/office/powerpoint/2010/main" val="2485052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7848-5133-E74B-A321-F1B2E2CB1C0F}"/>
              </a:ext>
            </a:extLst>
          </p:cNvPr>
          <p:cNvSpPr>
            <a:spLocks noGrp="1"/>
          </p:cNvSpPr>
          <p:nvPr>
            <p:ph type="title"/>
          </p:nvPr>
        </p:nvSpPr>
        <p:spPr/>
        <p:txBody>
          <a:bodyPr/>
          <a:lstStyle/>
          <a:p>
            <a:r>
              <a:rPr lang="en-US" dirty="0"/>
              <a:t>Introduction Cont’d</a:t>
            </a:r>
          </a:p>
        </p:txBody>
      </p:sp>
      <p:sp>
        <p:nvSpPr>
          <p:cNvPr id="3" name="Content Placeholder 2">
            <a:extLst>
              <a:ext uri="{FF2B5EF4-FFF2-40B4-BE49-F238E27FC236}">
                <a16:creationId xmlns:a16="http://schemas.microsoft.com/office/drawing/2014/main" id="{CECCEF96-076A-9841-8D2C-C0F4A6272006}"/>
              </a:ext>
            </a:extLst>
          </p:cNvPr>
          <p:cNvSpPr>
            <a:spLocks noGrp="1"/>
          </p:cNvSpPr>
          <p:nvPr>
            <p:ph idx="1"/>
          </p:nvPr>
        </p:nvSpPr>
        <p:spPr/>
        <p:txBody>
          <a:bodyPr/>
          <a:lstStyle/>
          <a:p>
            <a:pPr>
              <a:spcBef>
                <a:spcPct val="10000"/>
              </a:spcBef>
              <a:spcAft>
                <a:spcPct val="10000"/>
              </a:spcAft>
            </a:pPr>
            <a:r>
              <a:rPr lang="en-US" dirty="0">
                <a:latin typeface="Arial" panose="020B0604020202020204" pitchFamily="34" charset="0"/>
              </a:rPr>
              <a:t>In this lecture, we focus on technology differences across countries as an explanation for trade, called the Ricardian model.</a:t>
            </a:r>
          </a:p>
          <a:p>
            <a:pPr>
              <a:spcBef>
                <a:spcPct val="10000"/>
              </a:spcBef>
              <a:spcAft>
                <a:spcPct val="10000"/>
              </a:spcAft>
            </a:pPr>
            <a:endParaRPr lang="en-US" sz="10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The Ricardian model explains how the level of a country’s technology affects its trade pattern.</a:t>
            </a:r>
          </a:p>
          <a:p>
            <a:pPr lvl="1">
              <a:spcBef>
                <a:spcPct val="10000"/>
              </a:spcBef>
              <a:spcAft>
                <a:spcPct val="10000"/>
              </a:spcAft>
              <a:buFont typeface="Wingdings" panose="05000000000000000000" pitchFamily="2" charset="2"/>
              <a:buChar char="§"/>
            </a:pPr>
            <a:endParaRPr lang="en-US" sz="6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It also explains the concept of comparative advantage and why it works as an explanation for trade patterns.</a:t>
            </a:r>
          </a:p>
          <a:p>
            <a:endParaRPr lang="en-US" dirty="0"/>
          </a:p>
        </p:txBody>
      </p:sp>
    </p:spTree>
    <p:extLst>
      <p:ext uri="{BB962C8B-B14F-4D97-AF65-F5344CB8AC3E}">
        <p14:creationId xmlns:p14="http://schemas.microsoft.com/office/powerpoint/2010/main" val="2527603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D846792-6189-EB48-82EB-35B91F7D7852}"/>
              </a:ext>
            </a:extLst>
          </p:cNvPr>
          <p:cNvSpPr>
            <a:spLocks noGrp="1"/>
          </p:cNvSpPr>
          <p:nvPr>
            <p:ph type="title"/>
          </p:nvPr>
        </p:nvSpPr>
        <p:spPr/>
        <p:txBody>
          <a:bodyPr/>
          <a:lstStyle/>
          <a:p>
            <a:r>
              <a:rPr lang="en-US" dirty="0"/>
              <a:t>1) Reasons for Trade </a:t>
            </a:r>
          </a:p>
        </p:txBody>
      </p:sp>
      <p:sp>
        <p:nvSpPr>
          <p:cNvPr id="3" name="Content Placeholder 2">
            <a:extLst>
              <a:ext uri="{FF2B5EF4-FFF2-40B4-BE49-F238E27FC236}">
                <a16:creationId xmlns:a16="http://schemas.microsoft.com/office/drawing/2014/main" id="{D9C77663-689C-674D-A9F1-B869FEA27126}"/>
              </a:ext>
            </a:extLst>
          </p:cNvPr>
          <p:cNvSpPr>
            <a:spLocks noGrp="1"/>
          </p:cNvSpPr>
          <p:nvPr>
            <p:ph idx="1"/>
          </p:nvPr>
        </p:nvSpPr>
        <p:spPr/>
        <p:txBody>
          <a:bodyPr>
            <a:normAutofit/>
          </a:bodyPr>
          <a:lstStyle/>
          <a:p>
            <a:r>
              <a:rPr lang="en-US" b="1" dirty="0"/>
              <a:t>Proximity</a:t>
            </a:r>
          </a:p>
          <a:p>
            <a:pPr lvl="1"/>
            <a:r>
              <a:rPr lang="en-US" dirty="0"/>
              <a:t>The closer countries are, the lower the costs of transportation. For example, the largest trading partner of many European countries is another European country. </a:t>
            </a:r>
          </a:p>
          <a:p>
            <a:r>
              <a:rPr lang="en-US" b="1" dirty="0"/>
              <a:t>Resources</a:t>
            </a:r>
          </a:p>
          <a:p>
            <a:pPr lvl="1"/>
            <a:r>
              <a:rPr lang="en-US" dirty="0"/>
              <a:t>Geography includes natural resources, as well as labor resources and capital. A country’s resources are often collectively called its factors of production, the land, labor, and capital used to produce goods and services.</a:t>
            </a:r>
          </a:p>
          <a:p>
            <a:endParaRPr lang="en-US" dirty="0"/>
          </a:p>
        </p:txBody>
      </p:sp>
    </p:spTree>
    <p:extLst>
      <p:ext uri="{BB962C8B-B14F-4D97-AF65-F5344CB8AC3E}">
        <p14:creationId xmlns:p14="http://schemas.microsoft.com/office/powerpoint/2010/main" val="24143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DA83-FB9E-BB4F-B26E-1C443454E0AD}"/>
              </a:ext>
            </a:extLst>
          </p:cNvPr>
          <p:cNvSpPr>
            <a:spLocks noGrp="1"/>
          </p:cNvSpPr>
          <p:nvPr>
            <p:ph type="title"/>
          </p:nvPr>
        </p:nvSpPr>
        <p:spPr>
          <a:xfrm>
            <a:off x="457200" y="274638"/>
            <a:ext cx="8229600" cy="1143000"/>
          </a:xfrm>
        </p:spPr>
        <p:txBody>
          <a:bodyPr/>
          <a:lstStyle/>
          <a:p>
            <a:r>
              <a:rPr lang="en-US" dirty="0"/>
              <a:t>1) Reasons for Trade  Cont’d</a:t>
            </a:r>
          </a:p>
        </p:txBody>
      </p:sp>
      <p:sp>
        <p:nvSpPr>
          <p:cNvPr id="3" name="Content Placeholder 2">
            <a:extLst>
              <a:ext uri="{FF2B5EF4-FFF2-40B4-BE49-F238E27FC236}">
                <a16:creationId xmlns:a16="http://schemas.microsoft.com/office/drawing/2014/main" id="{6A93F9F8-11A7-A141-9E5E-A1E2F59BB120}"/>
              </a:ext>
            </a:extLst>
          </p:cNvPr>
          <p:cNvSpPr>
            <a:spLocks noGrp="1"/>
          </p:cNvSpPr>
          <p:nvPr>
            <p:ph idx="1"/>
          </p:nvPr>
        </p:nvSpPr>
        <p:spPr/>
        <p:txBody>
          <a:bodyPr>
            <a:normAutofit lnSpcReduction="10000"/>
          </a:bodyPr>
          <a:lstStyle/>
          <a:p>
            <a:r>
              <a:rPr lang="en-US" b="1" dirty="0"/>
              <a:t>Absolute Advantage</a:t>
            </a:r>
          </a:p>
          <a:p>
            <a:pPr lvl="1"/>
            <a:r>
              <a:rPr lang="en-US" dirty="0"/>
              <a:t>When a country has the best technology for producing a good, it has an absolute advantage in the production of that good. </a:t>
            </a:r>
          </a:p>
          <a:p>
            <a:pPr lvl="1"/>
            <a:r>
              <a:rPr lang="en-US" dirty="0"/>
              <a:t>Absolute advantage is not a good explanation for trade patterns. </a:t>
            </a:r>
          </a:p>
          <a:p>
            <a:r>
              <a:rPr lang="en-US" b="1" dirty="0"/>
              <a:t>Comparative Advantage</a:t>
            </a:r>
          </a:p>
          <a:p>
            <a:pPr lvl="1"/>
            <a:r>
              <a:rPr lang="en-US" dirty="0"/>
              <a:t>Instead, comparative advantage is the primary explanation for trade among countries.</a:t>
            </a:r>
          </a:p>
          <a:p>
            <a:pPr lvl="1"/>
            <a:r>
              <a:rPr lang="en-US" dirty="0"/>
              <a:t>A country has comparative advantage in producing those goods that it produces best compared with how well it produces other goods.</a:t>
            </a:r>
          </a:p>
          <a:p>
            <a:endParaRPr lang="en-US" dirty="0"/>
          </a:p>
          <a:p>
            <a:endParaRPr lang="en-US" dirty="0"/>
          </a:p>
        </p:txBody>
      </p:sp>
    </p:spTree>
    <p:extLst>
      <p:ext uri="{BB962C8B-B14F-4D97-AF65-F5344CB8AC3E}">
        <p14:creationId xmlns:p14="http://schemas.microsoft.com/office/powerpoint/2010/main" val="1410362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David Ricardo and Mercantilism</a:t>
            </a:r>
          </a:p>
        </p:txBody>
      </p:sp>
      <p:sp>
        <p:nvSpPr>
          <p:cNvPr id="6" name="Content Placeholder 5"/>
          <p:cNvSpPr>
            <a:spLocks noGrp="1"/>
          </p:cNvSpPr>
          <p:nvPr>
            <p:ph sz="half" idx="1"/>
          </p:nvPr>
        </p:nvSpPr>
        <p:spPr>
          <a:xfrm>
            <a:off x="457199" y="1600200"/>
            <a:ext cx="5622967" cy="4515592"/>
          </a:xfrm>
        </p:spPr>
        <p:txBody>
          <a:bodyPr>
            <a:normAutofit fontScale="85000" lnSpcReduction="20000"/>
          </a:bodyPr>
          <a:lstStyle/>
          <a:p>
            <a:r>
              <a:rPr lang="en-US" b="0" dirty="0"/>
              <a:t>Mercantilists believed that exporting was </a:t>
            </a:r>
            <a:br>
              <a:rPr lang="en-US" b="0" dirty="0"/>
            </a:br>
            <a:r>
              <a:rPr lang="en-US" b="0" dirty="0"/>
              <a:t>good because it generated gold and </a:t>
            </a:r>
            <a:br>
              <a:rPr lang="en-US" b="0" dirty="0"/>
            </a:br>
            <a:r>
              <a:rPr lang="en-US" b="0" dirty="0"/>
              <a:t>importing was bad because it drained gold from the national treasury.</a:t>
            </a:r>
          </a:p>
          <a:p>
            <a:r>
              <a:rPr lang="en-US" b="0" dirty="0"/>
              <a:t>Mercantilists were in favor of high tariffs to ensure high exports and low imports.</a:t>
            </a:r>
          </a:p>
          <a:p>
            <a:r>
              <a:rPr lang="en-US" b="0" dirty="0"/>
              <a:t>Ricardo showed that countries could benefit from international trade without having to use tariffs.</a:t>
            </a:r>
          </a:p>
          <a:p>
            <a:r>
              <a:rPr lang="en-US" b="0" dirty="0"/>
              <a:t>Many of today’s major international institutions around the world were founded at least in part on the idea that free trade between countries brings gains for all trading partners.</a:t>
            </a:r>
          </a:p>
        </p:txBody>
      </p:sp>
      <p:pic>
        <p:nvPicPr>
          <p:cNvPr id="8" name="Picture Placeholder 4" descr="A photo of David Ricardo.">
            <a:extLst>
              <a:ext uri="{FF2B5EF4-FFF2-40B4-BE49-F238E27FC236}">
                <a16:creationId xmlns:a16="http://schemas.microsoft.com/office/drawing/2014/main" id="{2E8EE95B-A4F2-6744-A24C-0E5F4B708CB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80679" y="1386727"/>
            <a:ext cx="1615307" cy="2041991"/>
          </a:xfrm>
          <a:prstGeom prst="rect">
            <a:avLst/>
          </a:prstGeom>
        </p:spPr>
      </p:pic>
    </p:spTree>
    <p:extLst>
      <p:ext uri="{BB962C8B-B14F-4D97-AF65-F5344CB8AC3E}">
        <p14:creationId xmlns:p14="http://schemas.microsoft.com/office/powerpoint/2010/main" val="691508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p:txBody>
          <a:bodyPr/>
          <a:lstStyle/>
          <a:p>
            <a:r>
              <a:rPr lang="en-US" dirty="0"/>
              <a:t>2) Ricardian Model of Trade (part 1)</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lstStyle/>
          <a:p>
            <a:pPr marL="0" indent="0">
              <a:spcBef>
                <a:spcPct val="10000"/>
              </a:spcBef>
              <a:spcAft>
                <a:spcPct val="10000"/>
              </a:spcAft>
              <a:buNone/>
              <a:defRPr/>
            </a:pPr>
            <a:r>
              <a:rPr lang="en-US" b="1" dirty="0">
                <a:latin typeface="Arial" panose="020B0604020202020204" pitchFamily="34" charset="0"/>
              </a:rPr>
              <a:t>The Home Country</a:t>
            </a:r>
          </a:p>
          <a:p>
            <a:pPr>
              <a:spcBef>
                <a:spcPct val="10000"/>
              </a:spcBef>
              <a:spcAft>
                <a:spcPct val="10000"/>
              </a:spcAft>
              <a:defRPr/>
            </a:pPr>
            <a:r>
              <a:rPr lang="en-US" b="0" dirty="0">
                <a:latin typeface="Arial" panose="020B0604020202020204" pitchFamily="34" charset="0"/>
              </a:rPr>
              <a:t>To develop a Ricardian model of trade, we will use an example with two goods:  </a:t>
            </a:r>
          </a:p>
          <a:p>
            <a:pPr>
              <a:spcBef>
                <a:spcPct val="10000"/>
              </a:spcBef>
              <a:spcAft>
                <a:spcPct val="10000"/>
              </a:spcAft>
              <a:defRPr/>
            </a:pPr>
            <a:endParaRPr lang="en-US" sz="900" dirty="0">
              <a:latin typeface="Arial" panose="020B0604020202020204" pitchFamily="34" charset="0"/>
            </a:endParaRPr>
          </a:p>
          <a:p>
            <a:pPr lvl="1">
              <a:spcBef>
                <a:spcPct val="10000"/>
              </a:spcBef>
              <a:spcAft>
                <a:spcPct val="10000"/>
              </a:spcAft>
              <a:defRPr/>
            </a:pPr>
            <a:r>
              <a:rPr lang="en-US" dirty="0">
                <a:latin typeface="Arial" panose="020B0604020202020204" pitchFamily="34" charset="0"/>
              </a:rPr>
              <a:t>Wheat and other grains are major exports of the United States and Europe.</a:t>
            </a:r>
          </a:p>
          <a:p>
            <a:pPr marL="571500" lvl="1" indent="-171450">
              <a:spcBef>
                <a:spcPct val="10000"/>
              </a:spcBef>
              <a:spcAft>
                <a:spcPct val="10000"/>
              </a:spcAft>
              <a:defRPr/>
            </a:pPr>
            <a:endParaRPr lang="en-US" sz="500" dirty="0">
              <a:latin typeface="Arial" panose="020B0604020202020204" pitchFamily="34" charset="0"/>
            </a:endParaRPr>
          </a:p>
          <a:p>
            <a:pPr lvl="1">
              <a:spcBef>
                <a:spcPct val="10000"/>
              </a:spcBef>
              <a:spcAft>
                <a:spcPct val="10000"/>
              </a:spcAft>
              <a:defRPr/>
            </a:pPr>
            <a:r>
              <a:rPr lang="en-US" dirty="0">
                <a:latin typeface="Arial" panose="020B0604020202020204" pitchFamily="34" charset="0"/>
              </a:rPr>
              <a:t>Many types of cloth are imported into these countries.</a:t>
            </a:r>
          </a:p>
          <a:p>
            <a:pPr marL="1314450" lvl="1" indent="-457200">
              <a:spcBef>
                <a:spcPct val="10000"/>
              </a:spcBef>
              <a:spcAft>
                <a:spcPct val="10000"/>
              </a:spcAft>
              <a:defRPr/>
            </a:pPr>
            <a:endParaRPr lang="en-US" sz="500" dirty="0">
              <a:latin typeface="Arial" panose="020B0604020202020204" pitchFamily="34" charset="0"/>
            </a:endParaRPr>
          </a:p>
          <a:p>
            <a:pPr lvl="1">
              <a:spcBef>
                <a:spcPct val="10000"/>
              </a:spcBef>
              <a:spcAft>
                <a:spcPct val="10000"/>
              </a:spcAft>
              <a:defRPr/>
            </a:pPr>
            <a:r>
              <a:rPr lang="en-US" dirty="0">
                <a:latin typeface="Arial" panose="020B0604020202020204" pitchFamily="34" charset="0"/>
              </a:rPr>
              <a:t>For simplicity, we will ignore the role of land and capital and suppose that both goods are produced with labor alone.</a:t>
            </a:r>
          </a:p>
          <a:p>
            <a:pPr lvl="1">
              <a:spcBef>
                <a:spcPct val="10000"/>
              </a:spcBef>
              <a:spcAft>
                <a:spcPct val="10000"/>
              </a:spcAft>
              <a:defRPr/>
            </a:pPr>
            <a:endParaRPr lang="en-US" sz="500" dirty="0">
              <a:latin typeface="Arial" panose="020B0604020202020204" pitchFamily="34" charset="0"/>
            </a:endParaRPr>
          </a:p>
          <a:p>
            <a:endParaRPr lang="en-US" dirty="0"/>
          </a:p>
          <a:p>
            <a:endParaRPr lang="en-US" dirty="0"/>
          </a:p>
        </p:txBody>
      </p:sp>
    </p:spTree>
    <p:extLst>
      <p:ext uri="{BB962C8B-B14F-4D97-AF65-F5344CB8AC3E}">
        <p14:creationId xmlns:p14="http://schemas.microsoft.com/office/powerpoint/2010/main" val="2497377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p:txBody>
          <a:bodyPr/>
          <a:lstStyle/>
          <a:p>
            <a:r>
              <a:rPr lang="en-US" dirty="0"/>
              <a:t>2) Ricardian Model of Trade (part 2)</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spcBef>
                <a:spcPct val="10000"/>
              </a:spcBef>
              <a:spcAft>
                <a:spcPct val="10000"/>
              </a:spcAft>
              <a:buNone/>
              <a:defRPr/>
            </a:pPr>
            <a:r>
              <a:rPr lang="en-US" b="1" dirty="0">
                <a:latin typeface="Arial" panose="020B0604020202020204" pitchFamily="34" charset="0"/>
              </a:rPr>
              <a:t>The Home Country</a:t>
            </a:r>
          </a:p>
          <a:p>
            <a:pPr>
              <a:spcBef>
                <a:spcPct val="10000"/>
              </a:spcBef>
              <a:spcAft>
                <a:spcPct val="10000"/>
              </a:spcAft>
            </a:pPr>
            <a:r>
              <a:rPr lang="en-US" b="0" dirty="0">
                <a:latin typeface="Arial" panose="020B0604020202020204" pitchFamily="34" charset="0"/>
              </a:rPr>
              <a:t>We assume that labor is the only resource used to produce goods. The marginal product of labor (MPL) is the extra output obtained by using one more unit of labor.</a:t>
            </a:r>
          </a:p>
          <a:p>
            <a:pPr>
              <a:spcBef>
                <a:spcPct val="10000"/>
              </a:spcBef>
              <a:spcAft>
                <a:spcPct val="10000"/>
              </a:spcAft>
            </a:pPr>
            <a:endParaRPr lang="en-US" sz="10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In Home, one worker produces 4 bushels of wheat, so  MPL</a:t>
            </a:r>
            <a:r>
              <a:rPr lang="en-US" baseline="-25000" dirty="0">
                <a:latin typeface="Arial" panose="020B0604020202020204" pitchFamily="34" charset="0"/>
              </a:rPr>
              <a:t>W</a:t>
            </a:r>
            <a:r>
              <a:rPr lang="en-US" dirty="0">
                <a:latin typeface="Arial" panose="020B0604020202020204" pitchFamily="34" charset="0"/>
              </a:rPr>
              <a:t> = 4. </a:t>
            </a:r>
          </a:p>
          <a:p>
            <a:pPr marL="571500" lvl="1" indent="-171450">
              <a:spcBef>
                <a:spcPct val="10000"/>
              </a:spcBef>
              <a:spcAft>
                <a:spcPct val="10000"/>
              </a:spcAft>
            </a:pPr>
            <a:endParaRPr lang="en-US" sz="6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Alternatively, one worker can produce 2 yards of cloth, so MPL</a:t>
            </a:r>
            <a:r>
              <a:rPr lang="en-US" baseline="-25000" dirty="0">
                <a:latin typeface="Arial" panose="020B0604020202020204" pitchFamily="34" charset="0"/>
              </a:rPr>
              <a:t>C</a:t>
            </a:r>
            <a:r>
              <a:rPr lang="en-US" dirty="0">
                <a:latin typeface="Arial" panose="020B0604020202020204" pitchFamily="34" charset="0"/>
              </a:rPr>
              <a:t> = 2.</a:t>
            </a:r>
          </a:p>
          <a:p>
            <a:pPr lvl="2">
              <a:spcBef>
                <a:spcPct val="10000"/>
              </a:spcBef>
              <a:spcAft>
                <a:spcPct val="10000"/>
              </a:spcAft>
              <a:defRPr/>
            </a:pPr>
            <a:endParaRPr lang="en-US" sz="100" dirty="0">
              <a:latin typeface="Arial" panose="020B0604020202020204" pitchFamily="34" charset="0"/>
            </a:endParaRPr>
          </a:p>
          <a:p>
            <a:endParaRPr lang="en-US" dirty="0"/>
          </a:p>
          <a:p>
            <a:endParaRPr lang="en-US" dirty="0"/>
          </a:p>
        </p:txBody>
      </p:sp>
    </p:spTree>
    <p:extLst>
      <p:ext uri="{BB962C8B-B14F-4D97-AF65-F5344CB8AC3E}">
        <p14:creationId xmlns:p14="http://schemas.microsoft.com/office/powerpoint/2010/main" val="983325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3)</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Home Production Possibilities Frontier  </a:t>
            </a:r>
          </a:p>
          <a:p>
            <a:pPr lvl="1"/>
            <a:r>
              <a:rPr lang="en-US" dirty="0"/>
              <a:t>We can graph Home’s production possibilities frontier (PPF) using the marginal products for wheat and cloth.</a:t>
            </a:r>
          </a:p>
          <a:p>
            <a:pPr lvl="1"/>
            <a:r>
              <a:rPr lang="en-US" dirty="0"/>
              <a:t>The slope of the PPF is also the opportunity cost of wheat, the amount of cloth that must be given up to obtain one more unit of wheat.</a:t>
            </a:r>
          </a:p>
          <a:p>
            <a:pPr lvl="1"/>
            <a:r>
              <a:rPr lang="en-US" dirty="0"/>
              <a:t>If Home had 25 workers and all were employed in wheat, Home could produce 100 bushels. If all were employed in cloth, they could produce 50 yards. </a:t>
            </a:r>
          </a:p>
          <a:p>
            <a:endParaRPr lang="en-US" dirty="0"/>
          </a:p>
          <a:p>
            <a:endParaRPr lang="en-US" dirty="0"/>
          </a:p>
        </p:txBody>
      </p:sp>
    </p:spTree>
    <p:extLst>
      <p:ext uri="{BB962C8B-B14F-4D97-AF65-F5344CB8AC3E}">
        <p14:creationId xmlns:p14="http://schemas.microsoft.com/office/powerpoint/2010/main" val="377902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2) </a:t>
            </a:r>
            <a:r>
              <a:rPr lang="en-US" dirty="0" err="1"/>
              <a:t>Ricardian</a:t>
            </a:r>
            <a:r>
              <a:rPr lang="en-US" dirty="0"/>
              <a:t> Model of Trade (part 4)</a:t>
            </a:r>
          </a:p>
        </p:txBody>
      </p:sp>
      <p:sp>
        <p:nvSpPr>
          <p:cNvPr id="6" name="Content Placeholder 5"/>
          <p:cNvSpPr>
            <a:spLocks noGrp="1"/>
          </p:cNvSpPr>
          <p:nvPr>
            <p:ph sz="quarter" idx="13"/>
          </p:nvPr>
        </p:nvSpPr>
        <p:spPr>
          <a:xfrm>
            <a:off x="336995" y="1402270"/>
            <a:ext cx="4222813" cy="4754690"/>
          </a:xfrm>
        </p:spPr>
        <p:txBody>
          <a:bodyPr>
            <a:normAutofit fontScale="70000" lnSpcReduction="20000"/>
          </a:bodyPr>
          <a:lstStyle/>
          <a:p>
            <a:pPr marL="0" indent="0">
              <a:lnSpc>
                <a:spcPct val="120000"/>
              </a:lnSpc>
              <a:spcBef>
                <a:spcPts val="624"/>
              </a:spcBef>
              <a:spcAft>
                <a:spcPts val="600"/>
              </a:spcAft>
              <a:buNone/>
            </a:pPr>
            <a:r>
              <a:rPr lang="en-US" dirty="0"/>
              <a:t>The Home Country</a:t>
            </a:r>
          </a:p>
          <a:p>
            <a:pPr>
              <a:lnSpc>
                <a:spcPct val="120000"/>
              </a:lnSpc>
              <a:spcBef>
                <a:spcPts val="624"/>
              </a:spcBef>
              <a:spcAft>
                <a:spcPts val="600"/>
              </a:spcAft>
            </a:pPr>
            <a:r>
              <a:rPr lang="en-US" dirty="0"/>
              <a:t>Home Production Possibilities Frontier</a:t>
            </a:r>
          </a:p>
          <a:p>
            <a:pPr marL="914400" indent="-512763">
              <a:lnSpc>
                <a:spcPct val="120000"/>
              </a:lnSpc>
              <a:spcBef>
                <a:spcPts val="624"/>
              </a:spcBef>
              <a:spcAft>
                <a:spcPts val="600"/>
              </a:spcAft>
              <a:buFont typeface="Arial" panose="020B0604020202020204" pitchFamily="34" charset="0"/>
              <a:buChar char="–"/>
            </a:pPr>
            <a:r>
              <a:rPr lang="en-US" sz="2600" b="0" dirty="0"/>
              <a:t>The Home PPF is a straight line between 50 yards of cloth and 100 bushels of wheat.</a:t>
            </a:r>
          </a:p>
          <a:p>
            <a:pPr marL="914400" indent="-512763">
              <a:lnSpc>
                <a:spcPct val="120000"/>
              </a:lnSpc>
              <a:spcBef>
                <a:spcPts val="624"/>
              </a:spcBef>
              <a:spcAft>
                <a:spcPts val="600"/>
              </a:spcAft>
              <a:buFont typeface="Arial" panose="020B0604020202020204" pitchFamily="34" charset="0"/>
              <a:buChar char="–"/>
            </a:pPr>
            <a:r>
              <a:rPr lang="en-US" sz="2600" b="0" dirty="0"/>
              <a:t>The slope of the PPF equals the negative of the opportunity cost of wheat. Equivalently, the magnitude of the slope can be expressed as the ratio of the marginal products of labor for the two goods.</a:t>
            </a:r>
          </a:p>
        </p:txBody>
      </p:sp>
      <p:pic>
        <p:nvPicPr>
          <p:cNvPr id="11" name="Picture Placeholder 4" descr="A graph shows the slope and its equation for home production possibilities frontier. The vertical axis plots cloth, Q subscript C, measured in yards and the horizontal axis wheat, Q subscript W, measured in bushels. The graph shows a curve with a negative slope labeled home production possibilities frontier, P P F extending from M P L subscript C times L bar equals 50-mark along the vertical axis to M P L subscript W times L bar equals 100 mark along the horizontal axis. The slope of the curve corresponding to the vertical axis is delta Q C equals negative half yard and the slope corresponding to horizontal axis is delta Q W equals 1 bushel. Therefore, the slope of the curve is negative (M P L subscript C over M P L subscript W) equals negative one half. ">
            <a:extLst>
              <a:ext uri="{FF2B5EF4-FFF2-40B4-BE49-F238E27FC236}">
                <a16:creationId xmlns:a16="http://schemas.microsoft.com/office/drawing/2014/main" id="{6BD8EE0E-C0FA-E149-A7A5-B669A280027D}"/>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559808" y="2373313"/>
            <a:ext cx="4222813" cy="2801598"/>
          </a:xfrm>
        </p:spPr>
      </p:pic>
      <p:sp>
        <p:nvSpPr>
          <p:cNvPr id="8" name="Content Placeholder 7"/>
          <p:cNvSpPr>
            <a:spLocks noGrp="1"/>
          </p:cNvSpPr>
          <p:nvPr>
            <p:ph sz="quarter" idx="15"/>
          </p:nvPr>
        </p:nvSpPr>
        <p:spPr>
          <a:xfrm>
            <a:off x="5155724" y="1425984"/>
            <a:ext cx="1705205" cy="427833"/>
          </a:xfrm>
        </p:spPr>
        <p:txBody>
          <a:bodyPr>
            <a:normAutofit fontScale="92500" lnSpcReduction="10000"/>
          </a:bodyPr>
          <a:lstStyle/>
          <a:p>
            <a:pPr marL="0" indent="0">
              <a:buNone/>
            </a:pPr>
            <a:r>
              <a:rPr lang="en-US" dirty="0"/>
              <a:t>FIGURE 2-1</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B3E2B03A-5CC5-1047-A275-BA6D073873B8}"/>
                  </a:ext>
                </a:extLst>
              </p:cNvPr>
              <p:cNvSpPr txBox="1">
                <a:spLocks noGrp="1"/>
              </p:cNvSpPr>
              <p:nvPr>
                <p:ph sz="quarter" idx="16"/>
              </p:nvPr>
            </p:nvSpPr>
            <p:spPr>
              <a:xfrm>
                <a:off x="4654550" y="5372100"/>
                <a:ext cx="4346575" cy="584968"/>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r>
                        <m:rPr>
                          <m:sty m:val="p"/>
                        </m:rPr>
                        <a:rPr lang="en-IN" sz="1400" b="0" i="0" smtClean="0">
                          <a:latin typeface="Cambria Math" panose="02040503050406030204" pitchFamily="18" charset="0"/>
                        </a:rPr>
                        <m:t>Slope</m:t>
                      </m:r>
                      <m:r>
                        <a:rPr lang="en-IN" sz="1400" b="0" i="0" smtClean="0">
                          <a:latin typeface="Cambria Math" panose="02040503050406030204" pitchFamily="18" charset="0"/>
                        </a:rPr>
                        <m:t> </m:t>
                      </m:r>
                      <m:r>
                        <m:rPr>
                          <m:sty m:val="p"/>
                        </m:rPr>
                        <a:rPr lang="en-IN" sz="1400" b="0" i="0" smtClean="0">
                          <a:latin typeface="Cambria Math" panose="02040503050406030204" pitchFamily="18" charset="0"/>
                        </a:rPr>
                        <m:t>of</m:t>
                      </m:r>
                      <m:r>
                        <a:rPr lang="en-IN" sz="1400" b="0" i="0" smtClean="0">
                          <a:latin typeface="Cambria Math" panose="02040503050406030204" pitchFamily="18" charset="0"/>
                        </a:rPr>
                        <m:t> </m:t>
                      </m:r>
                      <m:r>
                        <m:rPr>
                          <m:sty m:val="p"/>
                        </m:rPr>
                        <a:rPr lang="en-IN" sz="1400" b="0" i="0" smtClean="0">
                          <a:latin typeface="Cambria Math" panose="02040503050406030204" pitchFamily="18" charset="0"/>
                        </a:rPr>
                        <m:t>PPF</m:t>
                      </m:r>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50</m:t>
                          </m:r>
                        </m:num>
                        <m:den>
                          <m:r>
                            <a:rPr lang="en-IN" sz="1400" b="0" i="1" smtClean="0">
                              <a:latin typeface="Cambria Math" panose="02040503050406030204" pitchFamily="18" charset="0"/>
                            </a:rPr>
                            <m:t>100</m:t>
                          </m:r>
                        </m:den>
                      </m:f>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𝐶</m:t>
                              </m:r>
                            </m:sub>
                          </m:sSub>
                          <m:r>
                            <a:rPr lang="en-IN" sz="1400" b="0" i="1" smtClean="0">
                              <a:latin typeface="Cambria Math" panose="02040503050406030204" pitchFamily="18" charset="0"/>
                              <a:ea typeface="Cambria Math" panose="02040503050406030204" pitchFamily="18" charset="0"/>
                            </a:rPr>
                            <m:t>∙</m:t>
                          </m:r>
                          <m:acc>
                            <m:accPr>
                              <m:chr m:val="̅"/>
                              <m:ctrlPr>
                                <a:rPr lang="en-IN" sz="1400" b="0" i="1" smtClean="0">
                                  <a:latin typeface="Cambria Math" panose="02040503050406030204" pitchFamily="18" charset="0"/>
                                  <a:ea typeface="Cambria Math" panose="02040503050406030204" pitchFamily="18" charset="0"/>
                                </a:rPr>
                              </m:ctrlPr>
                            </m:accPr>
                            <m:e>
                              <m:r>
                                <a:rPr lang="en-IN" sz="1400" b="0" i="1" smtClean="0">
                                  <a:latin typeface="Cambria Math" panose="02040503050406030204" pitchFamily="18" charset="0"/>
                                  <a:ea typeface="Cambria Math" panose="02040503050406030204" pitchFamily="18" charset="0"/>
                                </a:rPr>
                                <m:t>𝐿</m:t>
                              </m:r>
                            </m:e>
                          </m:acc>
                        </m:num>
                        <m:den>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𝑊</m:t>
                              </m:r>
                            </m:sub>
                          </m:sSub>
                          <m:r>
                            <a:rPr lang="en-IN" sz="1400" b="0" i="1" smtClean="0">
                              <a:latin typeface="Cambria Math" panose="02040503050406030204" pitchFamily="18" charset="0"/>
                              <a:ea typeface="Cambria Math" panose="02040503050406030204" pitchFamily="18" charset="0"/>
                            </a:rPr>
                            <m:t>∙</m:t>
                          </m:r>
                          <m:acc>
                            <m:accPr>
                              <m:chr m:val="̿"/>
                              <m:ctrlPr>
                                <a:rPr lang="en-IN" sz="1400" b="0" i="1" smtClean="0">
                                  <a:latin typeface="Cambria Math" panose="02040503050406030204" pitchFamily="18" charset="0"/>
                                  <a:ea typeface="Cambria Math" panose="02040503050406030204" pitchFamily="18" charset="0"/>
                                </a:rPr>
                              </m:ctrlPr>
                            </m:accPr>
                            <m:e>
                              <m:r>
                                <a:rPr lang="en-IN" sz="1400" b="0" i="1" smtClean="0">
                                  <a:latin typeface="Cambria Math" panose="02040503050406030204" pitchFamily="18" charset="0"/>
                                  <a:ea typeface="Cambria Math" panose="02040503050406030204" pitchFamily="18" charset="0"/>
                                </a:rPr>
                                <m:t>𝐿</m:t>
                              </m:r>
                            </m:e>
                          </m:acc>
                        </m:den>
                      </m:f>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𝐶</m:t>
                              </m:r>
                            </m:sub>
                          </m:sSub>
                        </m:num>
                        <m:den>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𝑊</m:t>
                              </m:r>
                            </m:sub>
                          </m:sSub>
                        </m:den>
                      </m:f>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oMath>
                  </m:oMathPara>
                </a14:m>
                <a:endParaRPr lang="en-IN" sz="1400" dirty="0">
                  <a:latin typeface="Arial" panose="020B0604020202020204" pitchFamily="34" charset="0"/>
                </a:endParaRPr>
              </a:p>
            </p:txBody>
          </p:sp>
        </mc:Choice>
        <mc:Fallback xmlns="">
          <p:sp>
            <p:nvSpPr>
              <p:cNvPr id="12" name="Content Placeholder 11">
                <a:extLst>
                  <a:ext uri="{FF2B5EF4-FFF2-40B4-BE49-F238E27FC236}">
                    <a16:creationId xmlns="" xmlns:a16="http://schemas.microsoft.com/office/drawing/2014/main" xmlns:a14="http://schemas.microsoft.com/office/drawing/2010/main" id="{B3E2B03A-5CC5-1047-A275-BA6D073873B8}"/>
                  </a:ext>
                </a:extLst>
              </p:cNvPr>
              <p:cNvSpPr txBox="1">
                <a:spLocks noGrp="1" noRot="1" noChangeAspect="1" noMove="1" noResize="1" noEditPoints="1" noAdjustHandles="1" noChangeArrowheads="1" noChangeShapeType="1" noTextEdit="1"/>
              </p:cNvSpPr>
              <p:nvPr>
                <p:ph sz="quarter" idx="16"/>
              </p:nvPr>
            </p:nvSpPr>
            <p:spPr>
              <a:xfrm>
                <a:off x="4654550" y="5372100"/>
                <a:ext cx="4346575" cy="584968"/>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11924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5)</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Home Indifference Curve</a:t>
            </a:r>
          </a:p>
          <a:p>
            <a:pPr lvl="1"/>
            <a:r>
              <a:rPr lang="en-US" dirty="0"/>
              <a:t>We will represent demand in the home economy using indifference curves that have the following properties:</a:t>
            </a:r>
          </a:p>
          <a:p>
            <a:pPr lvl="1"/>
            <a:r>
              <a:rPr lang="en-US" dirty="0"/>
              <a:t>All points on an indifference curve have the same level of utility.</a:t>
            </a:r>
          </a:p>
          <a:p>
            <a:pPr lvl="1"/>
            <a:r>
              <a:rPr lang="en-US" dirty="0"/>
              <a:t>Points on higher indifference curves have higher utility. </a:t>
            </a:r>
          </a:p>
          <a:p>
            <a:pPr lvl="1"/>
            <a:r>
              <a:rPr lang="en-US" dirty="0"/>
              <a:t>Each indifference curve shows the combinations of two goods, such as wheat and cloth, that a person or economy can consume and be equally satisfied.</a:t>
            </a:r>
          </a:p>
          <a:p>
            <a:endParaRPr lang="en-US" dirty="0"/>
          </a:p>
          <a:p>
            <a:endParaRPr lang="en-US" dirty="0"/>
          </a:p>
        </p:txBody>
      </p:sp>
    </p:spTree>
    <p:extLst>
      <p:ext uri="{BB962C8B-B14F-4D97-AF65-F5344CB8AC3E}">
        <p14:creationId xmlns:p14="http://schemas.microsoft.com/office/powerpoint/2010/main" val="44305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dirty="0" err="1"/>
              <a:t>Ricardian</a:t>
            </a:r>
            <a:r>
              <a:rPr lang="en-US" dirty="0"/>
              <a:t> Model of Trade (part 6)</a:t>
            </a:r>
          </a:p>
        </p:txBody>
      </p:sp>
      <p:sp>
        <p:nvSpPr>
          <p:cNvPr id="4" name="Content Placeholder 3"/>
          <p:cNvSpPr>
            <a:spLocks noGrp="1"/>
          </p:cNvSpPr>
          <p:nvPr>
            <p:ph sz="quarter" idx="13"/>
          </p:nvPr>
        </p:nvSpPr>
        <p:spPr>
          <a:xfrm>
            <a:off x="690564" y="1414464"/>
            <a:ext cx="2112013" cy="366836"/>
          </a:xfrm>
        </p:spPr>
        <p:txBody>
          <a:bodyPr>
            <a:normAutofit fontScale="85000" lnSpcReduction="20000"/>
          </a:bodyPr>
          <a:lstStyle/>
          <a:p>
            <a:pPr marL="0" indent="0">
              <a:buNone/>
            </a:pPr>
            <a:r>
              <a:rPr lang="en-US" dirty="0"/>
              <a:t>FIGURE 2-2</a:t>
            </a:r>
          </a:p>
        </p:txBody>
      </p:sp>
      <p:pic>
        <p:nvPicPr>
          <p:cNvPr id="9" name="Picture Placeholder 5" descr="A line graph, correlating yards of cloth versus bushels of wheat, shows a home P P F curve and three indifference curves to illustrate home equilibrium with no trade. The vertical axis plots wheat, Q subscript W, measured in bushels and the horizontal axis plots cloth, Q subscript C measured in yards. The curve representing home P P F has a negative slope as it extends from 50-yard mark along the vertical axis to 100-bushel mark along the horizontal axis.&#10;Each of the indifference curves labeled, U subscript 0, U subscript 1, and U subscript 2 is convex to the origin and has a negative slope. The home P P F curve intersects U 0 curve at point D and tangents U 1 curve at point A labeled, “home no-trade equilibrium.” Point A is equal to 25 yards of cloths and 50 bushels of wheat. Point C is marked along U 2 curve and point B is marked along U 1 curve. ">
            <a:extLst>
              <a:ext uri="{FF2B5EF4-FFF2-40B4-BE49-F238E27FC236}">
                <a16:creationId xmlns:a16="http://schemas.microsoft.com/office/drawing/2014/main" id="{ECA6684D-7A45-2F48-8DE2-30FD4AA9E186}"/>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679977" y="2018522"/>
            <a:ext cx="4492207" cy="3259868"/>
          </a:xfrm>
          <a:prstGeom prst="rect">
            <a:avLst/>
          </a:prstGeom>
        </p:spPr>
      </p:pic>
      <p:sp>
        <p:nvSpPr>
          <p:cNvPr id="6" name="Content Placeholder 5"/>
          <p:cNvSpPr>
            <a:spLocks noGrp="1"/>
          </p:cNvSpPr>
          <p:nvPr>
            <p:ph sz="quarter" idx="15"/>
          </p:nvPr>
        </p:nvSpPr>
        <p:spPr>
          <a:xfrm>
            <a:off x="5343895" y="1641323"/>
            <a:ext cx="3645725" cy="4533845"/>
          </a:xfrm>
        </p:spPr>
        <p:txBody>
          <a:bodyPr>
            <a:noAutofit/>
          </a:bodyPr>
          <a:lstStyle/>
          <a:p>
            <a:pPr marL="0" indent="0">
              <a:buNone/>
            </a:pPr>
            <a:r>
              <a:rPr lang="en-US" sz="1600" dirty="0"/>
              <a:t>The Home Country</a:t>
            </a:r>
          </a:p>
          <a:p>
            <a:r>
              <a:rPr lang="en-US" sz="1600" dirty="0"/>
              <a:t>Home Indifference Curve</a:t>
            </a:r>
          </a:p>
          <a:p>
            <a:pPr marL="914400" indent="-450850">
              <a:buFontTx/>
              <a:buChar char="-"/>
            </a:pPr>
            <a:r>
              <a:rPr lang="en-US" sz="1400" b="0" dirty="0"/>
              <a:t>Points A and B lie on the same indifference curve and give the Home consumers the level of utility U1. </a:t>
            </a:r>
          </a:p>
          <a:p>
            <a:pPr marL="914400" indent="-450850">
              <a:buFontTx/>
              <a:buChar char="-"/>
            </a:pPr>
            <a:r>
              <a:rPr lang="en-US" sz="1400" b="0" dirty="0"/>
              <a:t>The highest level of Home utility on the PPF is obtained at point A, which is the no-trade equilibrium. </a:t>
            </a:r>
          </a:p>
          <a:p>
            <a:pPr marL="914400" indent="-450850">
              <a:buFontTx/>
              <a:buChar char="-"/>
            </a:pPr>
            <a:r>
              <a:rPr lang="en-US" sz="1400" b="0" dirty="0"/>
              <a:t>Point D is also on the PPF but would give lower utility. </a:t>
            </a:r>
          </a:p>
          <a:p>
            <a:pPr marL="914400" indent="-450850">
              <a:buFontTx/>
              <a:buChar char="-"/>
            </a:pPr>
            <a:r>
              <a:rPr lang="en-US" sz="1400" b="0" dirty="0"/>
              <a:t>Point C represents a higher utility level but is off of the PPF, so it is not attainable in the absence of international trade.</a:t>
            </a:r>
          </a:p>
        </p:txBody>
      </p:sp>
      <p:sp>
        <p:nvSpPr>
          <p:cNvPr id="8" name="Content Placeholder 7"/>
          <p:cNvSpPr>
            <a:spLocks noGrp="1"/>
          </p:cNvSpPr>
          <p:nvPr>
            <p:ph sz="quarter" idx="16"/>
          </p:nvPr>
        </p:nvSpPr>
        <p:spPr>
          <a:xfrm>
            <a:off x="717233" y="5769547"/>
            <a:ext cx="5175250" cy="319087"/>
          </a:xfrm>
        </p:spPr>
        <p:txBody>
          <a:bodyPr>
            <a:normAutofit fontScale="70000" lnSpcReduction="20000"/>
          </a:bodyPr>
          <a:lstStyle/>
          <a:p>
            <a:pPr marL="0" indent="0">
              <a:buNone/>
            </a:pPr>
            <a:r>
              <a:rPr lang="en-US" dirty="0"/>
              <a:t>Home Equilibrium with No Trade</a:t>
            </a:r>
          </a:p>
        </p:txBody>
      </p:sp>
    </p:spTree>
    <p:extLst>
      <p:ext uri="{BB962C8B-B14F-4D97-AF65-F5344CB8AC3E}">
        <p14:creationId xmlns:p14="http://schemas.microsoft.com/office/powerpoint/2010/main" val="4229621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7)</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lnSpcReduction="10000"/>
          </a:bodyPr>
          <a:lstStyle/>
          <a:p>
            <a:pPr marL="0" indent="0">
              <a:buNone/>
            </a:pPr>
            <a:r>
              <a:rPr lang="en-US" b="1" dirty="0"/>
              <a:t>The Home Country</a:t>
            </a:r>
          </a:p>
          <a:p>
            <a:r>
              <a:rPr lang="en-US" b="1" dirty="0"/>
              <a:t>Home Equilibrium</a:t>
            </a:r>
          </a:p>
          <a:p>
            <a:pPr lvl="1"/>
            <a:r>
              <a:rPr lang="en-US" dirty="0"/>
              <a:t>In the absence of international trade, the production possibilities frontier acts like a budget constraint for the country, and with perfectly competitive markets, the economy will produce at the point of highest utility subject to the limits imposed by its PPF.</a:t>
            </a:r>
          </a:p>
          <a:p>
            <a:pPr lvl="1"/>
            <a:r>
              <a:rPr lang="en-US" dirty="0"/>
              <a:t>The point of highest utility is at point A in Figure 2-2, where Home consumes 25 yards of cloth and 50 bushels of wheat.</a:t>
            </a:r>
          </a:p>
          <a:p>
            <a:pPr lvl="1"/>
            <a:r>
              <a:rPr lang="en-US" dirty="0"/>
              <a:t>We will refer to point A as the “no-trade” or the “pre-trade” equilibrium for Home. </a:t>
            </a:r>
          </a:p>
          <a:p>
            <a:endParaRPr lang="en-US" dirty="0"/>
          </a:p>
        </p:txBody>
      </p:sp>
    </p:spTree>
    <p:extLst>
      <p:ext uri="{BB962C8B-B14F-4D97-AF65-F5344CB8AC3E}">
        <p14:creationId xmlns:p14="http://schemas.microsoft.com/office/powerpoint/2010/main" val="312816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8)</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Opportunity Cost and Prices</a:t>
            </a:r>
          </a:p>
          <a:p>
            <a:pPr lvl="1"/>
            <a:r>
              <a:rPr lang="en-US" dirty="0"/>
              <a:t>The slope of the PPF reflects the opportunity cost of producing one more bushel of wheat.</a:t>
            </a:r>
          </a:p>
          <a:p>
            <a:pPr lvl="1"/>
            <a:r>
              <a:rPr lang="en-US" dirty="0"/>
              <a:t>Under perfect competition the opportunity cost of wheat should also equal the relative price of wheat.</a:t>
            </a:r>
          </a:p>
          <a:p>
            <a:pPr lvl="1"/>
            <a:r>
              <a:rPr lang="en-US" dirty="0"/>
              <a:t>Price reflects the opportunity cost of a good.</a:t>
            </a:r>
          </a:p>
          <a:p>
            <a:endParaRPr lang="en-US" dirty="0"/>
          </a:p>
        </p:txBody>
      </p:sp>
    </p:spTree>
    <p:extLst>
      <p:ext uri="{BB962C8B-B14F-4D97-AF65-F5344CB8AC3E}">
        <p14:creationId xmlns:p14="http://schemas.microsoft.com/office/powerpoint/2010/main" val="254707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9)</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Wages</a:t>
            </a:r>
          </a:p>
          <a:p>
            <a:pPr lvl="1"/>
            <a:r>
              <a:rPr lang="en-US" dirty="0"/>
              <a:t>In competitive markets, firms hire workers up to the point at which the hourly wage equals the value of one more hour of production.</a:t>
            </a:r>
          </a:p>
          <a:p>
            <a:pPr lvl="1"/>
            <a:r>
              <a:rPr lang="en-US" dirty="0"/>
              <a:t>The value of one more hour of labor equals the amount of goods produced in that hour (MPL) times the price of the good.</a:t>
            </a:r>
          </a:p>
          <a:p>
            <a:pPr lvl="1"/>
            <a:r>
              <a:rPr lang="en-US" dirty="0"/>
              <a:t>Labor will be hired up to the point where wage equals P x MPL for each industry.</a:t>
            </a:r>
          </a:p>
          <a:p>
            <a:endParaRPr lang="en-US" dirty="0"/>
          </a:p>
        </p:txBody>
      </p:sp>
    </p:spTree>
    <p:extLst>
      <p:ext uri="{BB962C8B-B14F-4D97-AF65-F5344CB8AC3E}">
        <p14:creationId xmlns:p14="http://schemas.microsoft.com/office/powerpoint/2010/main" val="2119253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normAutofit fontScale="90000"/>
          </a:bodyPr>
          <a:lstStyle/>
          <a:p>
            <a:r>
              <a:rPr lang="en-US" dirty="0"/>
              <a:t>2) Ricardian Model of Trade (part 10)</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lnSpcReduction="10000"/>
          </a:bodyPr>
          <a:lstStyle/>
          <a:p>
            <a:pPr marL="0" indent="0">
              <a:buNone/>
            </a:pPr>
            <a:r>
              <a:rPr lang="en-US" b="1" dirty="0"/>
              <a:t>The Home Country</a:t>
            </a:r>
          </a:p>
          <a:p>
            <a:r>
              <a:rPr lang="en-US" b="1" dirty="0"/>
              <a:t>Wages</a:t>
            </a:r>
          </a:p>
          <a:p>
            <a:pPr lvl="1"/>
            <a:r>
              <a:rPr lang="en-US" dirty="0"/>
              <a:t>Use the equality of the wage across industries to obtain the following equation:</a:t>
            </a:r>
          </a:p>
          <a:p>
            <a:pPr marL="457200" lvl="1" indent="0">
              <a:buNone/>
            </a:pPr>
            <a:r>
              <a:rPr lang="en-US" dirty="0"/>
              <a:t>			P</a:t>
            </a:r>
            <a:r>
              <a:rPr lang="en-US" baseline="-25000" dirty="0"/>
              <a:t>W</a:t>
            </a:r>
            <a:r>
              <a:rPr lang="en-US" dirty="0"/>
              <a:t> • MPL</a:t>
            </a:r>
            <a:r>
              <a:rPr lang="en-US" baseline="-25000" dirty="0"/>
              <a:t>W</a:t>
            </a:r>
            <a:r>
              <a:rPr lang="en-US" dirty="0"/>
              <a:t> = P</a:t>
            </a:r>
            <a:r>
              <a:rPr lang="en-US" baseline="-25000" dirty="0"/>
              <a:t>C</a:t>
            </a:r>
            <a:r>
              <a:rPr lang="en-US" dirty="0"/>
              <a:t> • MPL</a:t>
            </a:r>
            <a:r>
              <a:rPr lang="en-US" baseline="-25000" dirty="0"/>
              <a:t>C </a:t>
            </a:r>
            <a:endParaRPr lang="en-US" dirty="0"/>
          </a:p>
          <a:p>
            <a:pPr lvl="1"/>
            <a:r>
              <a:rPr lang="en-US" dirty="0"/>
              <a:t> Rearranging terms, we see that </a:t>
            </a:r>
          </a:p>
          <a:p>
            <a:pPr marL="457200" lvl="1" indent="0">
              <a:buNone/>
            </a:pPr>
            <a:r>
              <a:rPr lang="en-US" dirty="0"/>
              <a:t>			P</a:t>
            </a:r>
            <a:r>
              <a:rPr lang="en-US" baseline="-25000" dirty="0"/>
              <a:t>W </a:t>
            </a:r>
            <a:r>
              <a:rPr lang="en-US" dirty="0"/>
              <a:t>/P</a:t>
            </a:r>
            <a:r>
              <a:rPr lang="en-US" baseline="-25000" dirty="0"/>
              <a:t>C </a:t>
            </a:r>
            <a:r>
              <a:rPr lang="en-US" dirty="0"/>
              <a:t>= MPL</a:t>
            </a:r>
            <a:r>
              <a:rPr lang="en-US" baseline="-25000" dirty="0"/>
              <a:t>C</a:t>
            </a:r>
            <a:r>
              <a:rPr lang="en-US" dirty="0"/>
              <a:t> /MPL</a:t>
            </a:r>
            <a:r>
              <a:rPr lang="en-US" baseline="-25000" dirty="0"/>
              <a:t>W </a:t>
            </a:r>
            <a:endParaRPr lang="en-US" dirty="0"/>
          </a:p>
          <a:p>
            <a:pPr lvl="1"/>
            <a:r>
              <a:rPr lang="en-US" dirty="0"/>
              <a:t>The right-hand side of the equation is the slope of the production possibilities frontier (the opportunity cost of one more bushel of wheat).</a:t>
            </a:r>
          </a:p>
          <a:p>
            <a:pPr lvl="1"/>
            <a:r>
              <a:rPr lang="en-US" dirty="0"/>
              <a:t>The left-hand side of the equation is the relative price of wheat. </a:t>
            </a:r>
          </a:p>
          <a:p>
            <a:endParaRPr lang="en-US" dirty="0"/>
          </a:p>
        </p:txBody>
      </p:sp>
    </p:spTree>
    <p:extLst>
      <p:ext uri="{BB962C8B-B14F-4D97-AF65-F5344CB8AC3E}">
        <p14:creationId xmlns:p14="http://schemas.microsoft.com/office/powerpoint/2010/main" val="2333499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normAutofit fontScale="90000"/>
          </a:bodyPr>
          <a:lstStyle/>
          <a:p>
            <a:r>
              <a:rPr lang="en-US" dirty="0"/>
              <a:t>2) Ricardian Model of Trade (part 11)</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r>
              <a:rPr lang="en-US" b="1" dirty="0"/>
              <a:t>The Foreign Country</a:t>
            </a:r>
          </a:p>
          <a:p>
            <a:pPr lvl="1"/>
            <a:r>
              <a:rPr lang="en-US" dirty="0"/>
              <a:t>Assume a Foreign worker can produce 1 bushel of wheat or 1 yard of cloth.</a:t>
            </a:r>
          </a:p>
          <a:p>
            <a:pPr marL="457200" lvl="1" indent="0" algn="ctr">
              <a:buNone/>
            </a:pPr>
            <a:r>
              <a:rPr lang="en-US" dirty="0"/>
              <a:t>MPL*</a:t>
            </a:r>
            <a:r>
              <a:rPr lang="en-US" baseline="-25000" dirty="0"/>
              <a:t>W</a:t>
            </a:r>
            <a:r>
              <a:rPr lang="en-US" dirty="0"/>
              <a:t> = 1,  MPL*</a:t>
            </a:r>
            <a:r>
              <a:rPr lang="en-US" baseline="-25000" dirty="0"/>
              <a:t>C</a:t>
            </a:r>
            <a:r>
              <a:rPr lang="en-US" dirty="0"/>
              <a:t> = 1</a:t>
            </a:r>
          </a:p>
          <a:p>
            <a:pPr lvl="1"/>
            <a:r>
              <a:rPr lang="en-US" dirty="0"/>
              <a:t>Assume there are 100 workers available in Foreign.</a:t>
            </a:r>
          </a:p>
          <a:p>
            <a:pPr lvl="1"/>
            <a:r>
              <a:rPr lang="en-US" dirty="0"/>
              <a:t>If all workers were employed in wheat, they could produce 100 bushels.  </a:t>
            </a:r>
          </a:p>
          <a:p>
            <a:pPr lvl="1"/>
            <a:r>
              <a:rPr lang="en-US" dirty="0"/>
              <a:t>If all workers were employed in cloth, they could produce 100 yards.</a:t>
            </a:r>
          </a:p>
          <a:p>
            <a:pPr lvl="1"/>
            <a:r>
              <a:rPr lang="en-US" dirty="0"/>
              <a:t>It is worth noting that Home has absolute advantage in both goods but will export only one, as explained later.</a:t>
            </a:r>
          </a:p>
          <a:p>
            <a:endParaRPr lang="en-US" dirty="0"/>
          </a:p>
        </p:txBody>
      </p:sp>
    </p:spTree>
    <p:extLst>
      <p:ext uri="{BB962C8B-B14F-4D97-AF65-F5344CB8AC3E}">
        <p14:creationId xmlns:p14="http://schemas.microsoft.com/office/powerpoint/2010/main" val="2489792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dirty="0" err="1"/>
              <a:t>Ricardian</a:t>
            </a:r>
            <a:r>
              <a:rPr lang="en-US" dirty="0"/>
              <a:t> Model of Trade (part 12)</a:t>
            </a:r>
          </a:p>
        </p:txBody>
      </p:sp>
      <p:sp>
        <p:nvSpPr>
          <p:cNvPr id="4" name="Content Placeholder 3"/>
          <p:cNvSpPr>
            <a:spLocks noGrp="1"/>
          </p:cNvSpPr>
          <p:nvPr>
            <p:ph sz="quarter" idx="13"/>
          </p:nvPr>
        </p:nvSpPr>
        <p:spPr>
          <a:xfrm>
            <a:off x="397955" y="1426654"/>
            <a:ext cx="4600765" cy="4888801"/>
          </a:xfrm>
        </p:spPr>
        <p:txBody>
          <a:bodyPr>
            <a:normAutofit/>
          </a:bodyPr>
          <a:lstStyle/>
          <a:p>
            <a:pPr marL="0" indent="0">
              <a:buNone/>
            </a:pPr>
            <a:r>
              <a:rPr lang="en-US" sz="2000" dirty="0"/>
              <a:t>The Foreign Country</a:t>
            </a:r>
          </a:p>
          <a:p>
            <a:pPr marL="855663" indent="-392113"/>
            <a:r>
              <a:rPr lang="en-US" sz="2000" dirty="0"/>
              <a:t>The Foreign Production Possibilities Frontier</a:t>
            </a:r>
          </a:p>
          <a:p>
            <a:pPr marL="1257300">
              <a:buFont typeface="Arial" panose="020B0604020202020204" pitchFamily="34" charset="0"/>
              <a:buChar char="–"/>
              <a:tabLst>
                <a:tab pos="1257300" algn="l"/>
              </a:tabLst>
            </a:pPr>
            <a:r>
              <a:rPr lang="en-US" sz="2000" b="0" dirty="0"/>
              <a:t>The Foreign PPF is a straight line between 100 yards of cloth and 100 bushels of wheat. </a:t>
            </a:r>
          </a:p>
          <a:p>
            <a:pPr marL="1257300">
              <a:buFont typeface="Arial" panose="020B0604020202020204" pitchFamily="34" charset="0"/>
              <a:buChar char="–"/>
              <a:tabLst>
                <a:tab pos="1257300" algn="l"/>
              </a:tabLst>
            </a:pPr>
            <a:r>
              <a:rPr lang="en-US" sz="2000" b="0" dirty="0"/>
              <a:t>The slope of the PPF equals the negative of the opportunity cost of wheat.</a:t>
            </a:r>
          </a:p>
          <a:p>
            <a:pPr marL="1257300">
              <a:buFont typeface="Arial" panose="020B0604020202020204" pitchFamily="34" charset="0"/>
              <a:buChar char="–"/>
              <a:tabLst>
                <a:tab pos="1257300" algn="l"/>
              </a:tabLst>
            </a:pPr>
            <a:r>
              <a:rPr lang="en-US" sz="2000" b="0" dirty="0"/>
              <a:t>The opportunity cost is the amount of cloth that must be given up (1 yard) to obtain 1 more bushel of wheat.</a:t>
            </a:r>
          </a:p>
        </p:txBody>
      </p:sp>
      <p:sp>
        <p:nvSpPr>
          <p:cNvPr id="5" name="Content Placeholder 4"/>
          <p:cNvSpPr>
            <a:spLocks noGrp="1"/>
          </p:cNvSpPr>
          <p:nvPr>
            <p:ph sz="quarter" idx="14"/>
          </p:nvPr>
        </p:nvSpPr>
        <p:spPr>
          <a:xfrm>
            <a:off x="5125571" y="1418973"/>
            <a:ext cx="1445917" cy="336675"/>
          </a:xfrm>
        </p:spPr>
        <p:txBody>
          <a:bodyPr>
            <a:normAutofit fontScale="70000" lnSpcReduction="20000"/>
          </a:bodyPr>
          <a:lstStyle/>
          <a:p>
            <a:pPr marL="0" indent="0">
              <a:buNone/>
            </a:pPr>
            <a:r>
              <a:rPr lang="en-US" b="0" dirty="0"/>
              <a:t>FIGURE 2-3</a:t>
            </a:r>
          </a:p>
        </p:txBody>
      </p:sp>
      <p:pic>
        <p:nvPicPr>
          <p:cNvPr id="9" name="Picture Placeholder 4" descr="A graph shows the slope and its equation for foreign production possibilities frontier. The vertical axis plots cloth, Q asterisk subscript C, measured in yards, and the horizontal axis wheat, Q asterisk subscript W, measured in bushels. The graph shows a curve with a negative slope labeled, home production possibilities frontier, P P F extending from M P L asterisk subscript c times L asterisk bar equals 100 mark along the vertical axis to M P L asterisk subscript W times L asterisk bar equals 100 mark along the horizontal axis. The slope of the curve corresponding to the vertical axis is delta Q asterisk C equals negative one yard and the slope corresponding to horizontal axis is delta Q asterisk W equals 1 bushel. Therefore, the slope of the curve is negative (M P L asterisk subscript C over M P L asterisk subscript W) equals negative one.">
            <a:extLst>
              <a:ext uri="{FF2B5EF4-FFF2-40B4-BE49-F238E27FC236}">
                <a16:creationId xmlns:a16="http://schemas.microsoft.com/office/drawing/2014/main" id="{F4C150C6-5887-9249-AC03-ECB32658D43E}"/>
              </a:ext>
            </a:extLst>
          </p:cNvPr>
          <p:cNvPicPr>
            <a:picLocks noGrp="1" noChangeAspect="1"/>
          </p:cNvPicPr>
          <p:nvPr>
            <p:ph sz="quarter" idx="15"/>
          </p:nvPr>
        </p:nvPicPr>
        <p:blipFill>
          <a:blip r:embed="rId2" cstate="print">
            <a:extLst>
              <a:ext uri="{28A0092B-C50C-407E-A947-70E740481C1C}">
                <a14:useLocalDpi xmlns:a14="http://schemas.microsoft.com/office/drawing/2010/main" val="0"/>
              </a:ext>
            </a:extLst>
          </a:blip>
          <a:stretch>
            <a:fillRect/>
          </a:stretch>
        </p:blipFill>
        <p:spPr>
          <a:xfrm>
            <a:off x="4898571" y="1901700"/>
            <a:ext cx="4245428" cy="3280682"/>
          </a:xfrm>
          <a:prstGeom prst="rect">
            <a:avLst/>
          </a:prstGeom>
        </p:spPr>
      </p:pic>
    </p:spTree>
    <p:extLst>
      <p:ext uri="{BB962C8B-B14F-4D97-AF65-F5344CB8AC3E}">
        <p14:creationId xmlns:p14="http://schemas.microsoft.com/office/powerpoint/2010/main" val="2136835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dirty="0"/>
              <a:t>2) </a:t>
            </a:r>
            <a:r>
              <a:rPr lang="en-US" sz="4000" dirty="0" err="1"/>
              <a:t>Ricardian</a:t>
            </a:r>
            <a:r>
              <a:rPr lang="en-US" sz="4000" dirty="0"/>
              <a:t> Model of Trade (part 13)</a:t>
            </a:r>
          </a:p>
        </p:txBody>
      </p:sp>
      <p:sp>
        <p:nvSpPr>
          <p:cNvPr id="6" name="Content Placeholder 5"/>
          <p:cNvSpPr>
            <a:spLocks noGrp="1"/>
          </p:cNvSpPr>
          <p:nvPr>
            <p:ph sz="half" idx="1"/>
          </p:nvPr>
        </p:nvSpPr>
        <p:spPr>
          <a:xfrm>
            <a:off x="433450" y="1481447"/>
            <a:ext cx="8294914" cy="2769919"/>
          </a:xfrm>
        </p:spPr>
        <p:txBody>
          <a:bodyPr>
            <a:normAutofit fontScale="92500" lnSpcReduction="20000"/>
          </a:bodyPr>
          <a:lstStyle/>
          <a:p>
            <a:r>
              <a:rPr lang="en-US" dirty="0"/>
              <a:t>The Foreign Country</a:t>
            </a:r>
          </a:p>
          <a:p>
            <a:r>
              <a:rPr lang="en-US" dirty="0"/>
              <a:t>Comparative Advantage</a:t>
            </a:r>
          </a:p>
          <a:p>
            <a:pPr marL="920750" indent="-457200">
              <a:buFont typeface="Arial" panose="020B0604020202020204" pitchFamily="34" charset="0"/>
              <a:buChar char="–"/>
            </a:pPr>
            <a:r>
              <a:rPr lang="en-US" b="0" dirty="0"/>
              <a:t>A country has a comparative advantage in a good when it has a lower opportunity cost of producing than another country.</a:t>
            </a:r>
          </a:p>
          <a:p>
            <a:pPr marL="920750" indent="-457200">
              <a:buFont typeface="Arial" panose="020B0604020202020204" pitchFamily="34" charset="0"/>
              <a:buChar char="–"/>
            </a:pPr>
            <a:r>
              <a:rPr lang="en-US" b="0" dirty="0"/>
              <a:t>By looking at the chart we can see that Foreign has a comparative advantage in producing cloth. Home has a comparative advantage in producing wheat.</a:t>
            </a:r>
          </a:p>
        </p:txBody>
      </p:sp>
      <p:graphicFrame>
        <p:nvGraphicFramePr>
          <p:cNvPr id="8" name="Content Placeholder 7">
            <a:extLst>
              <a:ext uri="{FF2B5EF4-FFF2-40B4-BE49-F238E27FC236}">
                <a16:creationId xmlns:a16="http://schemas.microsoft.com/office/drawing/2014/main" id="{A0EC53C2-DA69-C546-99A2-5E1BAB5ECA0D}"/>
              </a:ext>
            </a:extLst>
          </p:cNvPr>
          <p:cNvGraphicFramePr>
            <a:graphicFrameLocks noGrp="1"/>
          </p:cNvGraphicFramePr>
          <p:nvPr>
            <p:ph sz="half" idx="2"/>
            <p:extLst>
              <p:ext uri="{D42A27DB-BD31-4B8C-83A1-F6EECF244321}">
                <p14:modId xmlns:p14="http://schemas.microsoft.com/office/powerpoint/2010/main" val="481445687"/>
              </p:ext>
            </p:extLst>
          </p:nvPr>
        </p:nvGraphicFramePr>
        <p:xfrm>
          <a:off x="1524000" y="4524488"/>
          <a:ext cx="6096000" cy="11125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en-US" b="0" i="0" dirty="0">
                        <a:latin typeface="Arial" panose="020B0604020202020204" pitchFamily="34" charset="0"/>
                      </a:endParaRPr>
                    </a:p>
                  </a:txBody>
                  <a:tcPr/>
                </a:tc>
                <a:tc>
                  <a:txBody>
                    <a:bodyPr/>
                    <a:lstStyle/>
                    <a:p>
                      <a:r>
                        <a:rPr lang="en-US" dirty="0"/>
                        <a:t>Cloth (1</a:t>
                      </a:r>
                      <a:r>
                        <a:rPr lang="en-US" baseline="0" dirty="0"/>
                        <a:t> Yard)</a:t>
                      </a:r>
                      <a:endParaRPr lang="en-US" b="0" i="0" dirty="0">
                        <a:latin typeface="Arial" panose="020B0604020202020204" pitchFamily="34" charset="0"/>
                      </a:endParaRPr>
                    </a:p>
                  </a:txBody>
                  <a:tcPr/>
                </a:tc>
                <a:tc>
                  <a:txBody>
                    <a:bodyPr/>
                    <a:lstStyle/>
                    <a:p>
                      <a:r>
                        <a:rPr lang="en-US" dirty="0"/>
                        <a:t>Wheat</a:t>
                      </a:r>
                      <a:r>
                        <a:rPr lang="en-US" baseline="0" dirty="0"/>
                        <a:t> (1 Bushel)</a:t>
                      </a:r>
                      <a:endParaRPr lang="en-US" b="0" i="0" dirty="0">
                        <a:latin typeface="Arial" panose="020B0604020202020204" pitchFamily="34" charset="0"/>
                      </a:endParaRPr>
                    </a:p>
                  </a:txBody>
                  <a:tcPr/>
                </a:tc>
                <a:extLst>
                  <a:ext uri="{0D108BD9-81ED-4DB2-BD59-A6C34878D82A}">
                    <a16:rowId xmlns:a16="http://schemas.microsoft.com/office/drawing/2014/main" val="10000"/>
                  </a:ext>
                </a:extLst>
              </a:tr>
              <a:tr h="370840">
                <a:tc>
                  <a:txBody>
                    <a:bodyPr/>
                    <a:lstStyle/>
                    <a:p>
                      <a:r>
                        <a:rPr lang="en-US" dirty="0"/>
                        <a:t>Home</a:t>
                      </a:r>
                      <a:endParaRPr lang="en-US" b="0" i="0" dirty="0">
                        <a:latin typeface="Arial" panose="020B0604020202020204" pitchFamily="34" charset="0"/>
                      </a:endParaRPr>
                    </a:p>
                  </a:txBody>
                  <a:tcPr/>
                </a:tc>
                <a:tc>
                  <a:txBody>
                    <a:bodyPr/>
                    <a:lstStyle/>
                    <a:p>
                      <a:r>
                        <a:rPr lang="en-US" dirty="0"/>
                        <a:t>2 Bushels of Wheat</a:t>
                      </a:r>
                      <a:endParaRPr lang="en-US" b="0" i="0" dirty="0">
                        <a:latin typeface="Arial" panose="020B0604020202020204" pitchFamily="34" charset="0"/>
                      </a:endParaRPr>
                    </a:p>
                  </a:txBody>
                  <a:tcPr/>
                </a:tc>
                <a:tc>
                  <a:txBody>
                    <a:bodyPr/>
                    <a:lstStyle/>
                    <a:p>
                      <a:r>
                        <a:rPr lang="en-US" dirty="0"/>
                        <a:t>½ Yard</a:t>
                      </a:r>
                      <a:r>
                        <a:rPr lang="en-US" baseline="0" dirty="0"/>
                        <a:t> of Cloth</a:t>
                      </a:r>
                      <a:endParaRPr lang="en-US" b="0" i="0" dirty="0">
                        <a:latin typeface="Arial" panose="020B0604020202020204" pitchFamily="34" charset="0"/>
                      </a:endParaRPr>
                    </a:p>
                  </a:txBody>
                  <a:tcPr/>
                </a:tc>
                <a:extLst>
                  <a:ext uri="{0D108BD9-81ED-4DB2-BD59-A6C34878D82A}">
                    <a16:rowId xmlns:a16="http://schemas.microsoft.com/office/drawing/2014/main" val="10001"/>
                  </a:ext>
                </a:extLst>
              </a:tr>
              <a:tr h="370840">
                <a:tc>
                  <a:txBody>
                    <a:bodyPr/>
                    <a:lstStyle/>
                    <a:p>
                      <a:r>
                        <a:rPr lang="en-US" dirty="0"/>
                        <a:t>Foreign</a:t>
                      </a:r>
                      <a:endParaRPr lang="en-US" b="0" i="0" dirty="0">
                        <a:latin typeface="Arial" panose="020B0604020202020204" pitchFamily="34" charset="0"/>
                      </a:endParaRPr>
                    </a:p>
                  </a:txBody>
                  <a:tcPr/>
                </a:tc>
                <a:tc>
                  <a:txBody>
                    <a:bodyPr/>
                    <a:lstStyle/>
                    <a:p>
                      <a:r>
                        <a:rPr lang="en-US" dirty="0"/>
                        <a:t>1 Bushel of Wheat</a:t>
                      </a:r>
                      <a:endParaRPr lang="en-US" b="0" i="0" dirty="0">
                        <a:latin typeface="Arial" panose="020B0604020202020204" pitchFamily="34" charset="0"/>
                      </a:endParaRPr>
                    </a:p>
                  </a:txBody>
                  <a:tcPr/>
                </a:tc>
                <a:tc>
                  <a:txBody>
                    <a:bodyPr/>
                    <a:lstStyle/>
                    <a:p>
                      <a:r>
                        <a:rPr lang="en-US" dirty="0"/>
                        <a:t>1 Yard of Cloth</a:t>
                      </a:r>
                      <a:endParaRPr lang="en-US" b="0" i="0" dirty="0">
                        <a:latin typeface="Arial" panose="020B0604020202020204" pitchFamily="34"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24894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dirty="0" err="1"/>
              <a:t>Ricardian</a:t>
            </a:r>
            <a:r>
              <a:rPr lang="en-US" dirty="0"/>
              <a:t> Model of Trade (part 14)</a:t>
            </a:r>
          </a:p>
        </p:txBody>
      </p:sp>
      <p:sp>
        <p:nvSpPr>
          <p:cNvPr id="4" name="Content Placeholder 3"/>
          <p:cNvSpPr>
            <a:spLocks noGrp="1"/>
          </p:cNvSpPr>
          <p:nvPr>
            <p:ph sz="quarter" idx="13"/>
          </p:nvPr>
        </p:nvSpPr>
        <p:spPr>
          <a:xfrm>
            <a:off x="690563" y="1414462"/>
            <a:ext cx="3768935" cy="4766881"/>
          </a:xfrm>
        </p:spPr>
        <p:txBody>
          <a:bodyPr>
            <a:normAutofit/>
          </a:bodyPr>
          <a:lstStyle/>
          <a:p>
            <a:pPr marL="0" indent="0">
              <a:buNone/>
            </a:pPr>
            <a:r>
              <a:rPr lang="en-US" dirty="0"/>
              <a:t>The Foreign Country</a:t>
            </a:r>
          </a:p>
          <a:p>
            <a:r>
              <a:rPr lang="en-US" dirty="0"/>
              <a:t>Comparative Advantage</a:t>
            </a:r>
          </a:p>
          <a:p>
            <a:pPr>
              <a:buFont typeface="Arial" panose="020B0604020202020204" pitchFamily="34" charset="0"/>
              <a:buChar char="–"/>
            </a:pPr>
            <a:r>
              <a:rPr lang="en-US" b="0" dirty="0"/>
              <a:t>The highest level of Foreign utility on the PPF is obtained at point A*, which is the no-trade equilibrium.</a:t>
            </a:r>
          </a:p>
        </p:txBody>
      </p:sp>
      <p:sp>
        <p:nvSpPr>
          <p:cNvPr id="5" name="Content Placeholder 4"/>
          <p:cNvSpPr>
            <a:spLocks noGrp="1"/>
          </p:cNvSpPr>
          <p:nvPr>
            <p:ph sz="quarter" idx="14"/>
          </p:nvPr>
        </p:nvSpPr>
        <p:spPr>
          <a:xfrm>
            <a:off x="4762345" y="1406781"/>
            <a:ext cx="2040791" cy="507364"/>
          </a:xfrm>
        </p:spPr>
        <p:txBody>
          <a:bodyPr>
            <a:normAutofit/>
          </a:bodyPr>
          <a:lstStyle/>
          <a:p>
            <a:pPr marL="0" indent="0">
              <a:buNone/>
            </a:pPr>
            <a:r>
              <a:rPr lang="en-US" sz="2000" b="0" dirty="0"/>
              <a:t>FIGURE 2-4</a:t>
            </a:r>
          </a:p>
        </p:txBody>
      </p:sp>
      <p:pic>
        <p:nvPicPr>
          <p:cNvPr id="9" name="Picture Placeholder 10" descr="A line graph correlating yards of cloth versus bushels of wheat shows a foreign P P F curve and three indifference curves to illustrate foreign equilibrium with no trade. The horizontal axis plots wheat, Q asterisk subscript W, measured in bushels and the vertical axis plots cloth, Q asterisk subscript C measured in yards. The curve representing foreign P P F has a negative slope extending from 100-yard mark along the vertical axis to 100-bushel mark along the horizontal axis. Each indifference curve is convex to the origin and has a negative slope. The indifference curve in the center is labeled U asterisk subscript 1. The home P P F curve tangents U asterisk 1 curve at point A asterisk labeled, “home no-trade equilibrium.” Point A is equal to 50-yards of cloths and 50 bushels of wheat. ">
            <a:extLst>
              <a:ext uri="{FF2B5EF4-FFF2-40B4-BE49-F238E27FC236}">
                <a16:creationId xmlns:a16="http://schemas.microsoft.com/office/drawing/2014/main" id="{EAA218DA-7BDB-FE46-90B3-C238473887D3}"/>
              </a:ext>
            </a:extLst>
          </p:cNvPr>
          <p:cNvPicPr>
            <a:picLocks noGrp="1" noChangeAspect="1"/>
          </p:cNvPicPr>
          <p:nvPr>
            <p:ph sz="quarter" idx="15"/>
          </p:nvPr>
        </p:nvPicPr>
        <p:blipFill>
          <a:blip r:embed="rId2" cstate="print">
            <a:extLst>
              <a:ext uri="{28A0092B-C50C-407E-A947-70E740481C1C}">
                <a14:useLocalDpi xmlns:a14="http://schemas.microsoft.com/office/drawing/2010/main" val="0"/>
              </a:ext>
            </a:extLst>
          </a:blip>
          <a:stretch>
            <a:fillRect/>
          </a:stretch>
        </p:blipFill>
        <p:spPr>
          <a:xfrm>
            <a:off x="4435750" y="2122714"/>
            <a:ext cx="4114327" cy="3159359"/>
          </a:xfrm>
          <a:prstGeom prst="rect">
            <a:avLst/>
          </a:prstGeom>
        </p:spPr>
      </p:pic>
      <p:sp>
        <p:nvSpPr>
          <p:cNvPr id="7" name="Content Placeholder 6"/>
          <p:cNvSpPr>
            <a:spLocks noGrp="1"/>
          </p:cNvSpPr>
          <p:nvPr>
            <p:ph sz="quarter" idx="16"/>
          </p:nvPr>
        </p:nvSpPr>
        <p:spPr>
          <a:xfrm>
            <a:off x="5238750" y="5796761"/>
            <a:ext cx="3774621" cy="509036"/>
          </a:xfrm>
        </p:spPr>
        <p:txBody>
          <a:bodyPr>
            <a:normAutofit/>
          </a:bodyPr>
          <a:lstStyle/>
          <a:p>
            <a:pPr marL="0" indent="0">
              <a:buNone/>
            </a:pPr>
            <a:r>
              <a:rPr lang="en-US" sz="1800" b="0" dirty="0"/>
              <a:t>Foreign Equilibrium with No Trade</a:t>
            </a:r>
          </a:p>
        </p:txBody>
      </p:sp>
    </p:spTree>
    <p:extLst>
      <p:ext uri="{BB962C8B-B14F-4D97-AF65-F5344CB8AC3E}">
        <p14:creationId xmlns:p14="http://schemas.microsoft.com/office/powerpoint/2010/main" val="354829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DB8D2-B868-8D46-B26D-39E244F0F031}"/>
              </a:ext>
            </a:extLst>
          </p:cNvPr>
          <p:cNvSpPr>
            <a:spLocks noGrp="1"/>
          </p:cNvSpPr>
          <p:nvPr>
            <p:ph type="title"/>
          </p:nvPr>
        </p:nvSpPr>
        <p:spPr/>
        <p:txBody>
          <a:bodyPr/>
          <a:lstStyle/>
          <a:p>
            <a:r>
              <a:rPr lang="en-US" dirty="0"/>
              <a:t>3)  Determining the Pattern of International Trade (part 1)</a:t>
            </a:r>
          </a:p>
        </p:txBody>
      </p:sp>
      <p:sp>
        <p:nvSpPr>
          <p:cNvPr id="3" name="Content Placeholder 2">
            <a:extLst>
              <a:ext uri="{FF2B5EF4-FFF2-40B4-BE49-F238E27FC236}">
                <a16:creationId xmlns:a16="http://schemas.microsoft.com/office/drawing/2014/main" id="{78A872E8-9F93-804E-B681-45BBBA4C5DAB}"/>
              </a:ext>
            </a:extLst>
          </p:cNvPr>
          <p:cNvSpPr>
            <a:spLocks noGrp="1"/>
          </p:cNvSpPr>
          <p:nvPr>
            <p:ph idx="1"/>
          </p:nvPr>
        </p:nvSpPr>
        <p:spPr/>
        <p:txBody>
          <a:bodyPr/>
          <a:lstStyle/>
          <a:p>
            <a:r>
              <a:rPr lang="en-US" dirty="0"/>
              <a:t>International Trade Equilibrium</a:t>
            </a:r>
          </a:p>
          <a:p>
            <a:pPr lvl="1"/>
            <a:r>
              <a:rPr lang="en-US" dirty="0"/>
              <a:t>What happens when goods are traded between Home and Foreign? We will see:</a:t>
            </a:r>
          </a:p>
          <a:p>
            <a:pPr lvl="1"/>
            <a:r>
              <a:rPr lang="en-US" dirty="0"/>
              <a:t>That a country’s no-trade relative price determines which product it will export and which it will import</a:t>
            </a:r>
          </a:p>
          <a:p>
            <a:pPr lvl="1"/>
            <a:r>
              <a:rPr lang="en-US" dirty="0"/>
              <a:t>The no-trade relative price equals its opportunity cost of production</a:t>
            </a:r>
          </a:p>
          <a:p>
            <a:pPr lvl="1"/>
            <a:r>
              <a:rPr lang="en-US" dirty="0"/>
              <a:t>The pattern of exports and imports will be determined by the opportunity costs of production in each country—their comparative advantage</a:t>
            </a:r>
          </a:p>
        </p:txBody>
      </p:sp>
    </p:spTree>
    <p:extLst>
      <p:ext uri="{BB962C8B-B14F-4D97-AF65-F5344CB8AC3E}">
        <p14:creationId xmlns:p14="http://schemas.microsoft.com/office/powerpoint/2010/main" val="1558990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8FB8C-8BF6-3A42-A74E-B99FA330818C}"/>
              </a:ext>
            </a:extLst>
          </p:cNvPr>
          <p:cNvSpPr>
            <a:spLocks noGrp="1"/>
          </p:cNvSpPr>
          <p:nvPr>
            <p:ph type="title"/>
          </p:nvPr>
        </p:nvSpPr>
        <p:spPr/>
        <p:txBody>
          <a:bodyPr/>
          <a:lstStyle/>
          <a:p>
            <a:r>
              <a:rPr lang="en-US" dirty="0"/>
              <a:t>3)  Determining the Pattern of International Trade (part 2)</a:t>
            </a:r>
          </a:p>
        </p:txBody>
      </p:sp>
      <p:sp>
        <p:nvSpPr>
          <p:cNvPr id="3" name="Content Placeholder 2">
            <a:extLst>
              <a:ext uri="{FF2B5EF4-FFF2-40B4-BE49-F238E27FC236}">
                <a16:creationId xmlns:a16="http://schemas.microsoft.com/office/drawing/2014/main" id="{96FAF51D-85B9-684C-AF9C-A20D522080C5}"/>
              </a:ext>
            </a:extLst>
          </p:cNvPr>
          <p:cNvSpPr>
            <a:spLocks noGrp="1"/>
          </p:cNvSpPr>
          <p:nvPr>
            <p:ph idx="1"/>
          </p:nvPr>
        </p:nvSpPr>
        <p:spPr/>
        <p:txBody>
          <a:bodyPr>
            <a:normAutofit/>
          </a:bodyPr>
          <a:lstStyle/>
          <a:p>
            <a:r>
              <a:rPr lang="en-US" dirty="0"/>
              <a:t>International Trade Equilibrium</a:t>
            </a:r>
          </a:p>
          <a:p>
            <a:pPr lvl="1"/>
            <a:r>
              <a:rPr lang="en-US" dirty="0"/>
              <a:t>Examining each country’s no-trade relative price, we can determine which product it will export and which it will import.</a:t>
            </a:r>
          </a:p>
          <a:p>
            <a:pPr lvl="1"/>
            <a:r>
              <a:rPr lang="en-US" dirty="0"/>
              <a:t>The relative price of cloth in Foreign is </a:t>
            </a:r>
            <a:r>
              <a:rPr lang="en-US" i="1" dirty="0"/>
              <a:t>P</a:t>
            </a:r>
            <a:r>
              <a:rPr lang="en-US" i="1" baseline="-25000" dirty="0"/>
              <a:t>C</a:t>
            </a:r>
            <a:r>
              <a:rPr lang="en-US" dirty="0"/>
              <a:t> /</a:t>
            </a:r>
            <a:r>
              <a:rPr lang="en-US" i="1" dirty="0"/>
              <a:t>P</a:t>
            </a:r>
            <a:r>
              <a:rPr lang="en-US" i="1" baseline="-25000" dirty="0"/>
              <a:t>W</a:t>
            </a:r>
            <a:r>
              <a:rPr lang="en-US" i="1" dirty="0"/>
              <a:t> </a:t>
            </a:r>
            <a:r>
              <a:rPr lang="en-US" dirty="0"/>
              <a:t>= 1.</a:t>
            </a:r>
          </a:p>
          <a:p>
            <a:pPr lvl="1"/>
            <a:r>
              <a:rPr lang="en-US" dirty="0"/>
              <a:t>The relative price of cloth in Home is </a:t>
            </a:r>
            <a:r>
              <a:rPr lang="en-US" i="1" dirty="0"/>
              <a:t>P</a:t>
            </a:r>
            <a:r>
              <a:rPr lang="en-US" i="1" baseline="-25000" dirty="0"/>
              <a:t>C</a:t>
            </a:r>
            <a:r>
              <a:rPr lang="en-US" dirty="0"/>
              <a:t> /</a:t>
            </a:r>
            <a:r>
              <a:rPr lang="en-US" i="1" dirty="0"/>
              <a:t>P</a:t>
            </a:r>
            <a:r>
              <a:rPr lang="en-US" i="1" baseline="-25000" dirty="0"/>
              <a:t>W</a:t>
            </a:r>
            <a:r>
              <a:rPr lang="en-US" dirty="0"/>
              <a:t> = 2.</a:t>
            </a:r>
          </a:p>
          <a:p>
            <a:pPr lvl="1"/>
            <a:r>
              <a:rPr lang="en-US" dirty="0"/>
              <a:t>Therefore, Foreign would want to export cloth to Home if they can make it for $1 and export it for more than $1.</a:t>
            </a:r>
          </a:p>
          <a:p>
            <a:pPr lvl="1"/>
            <a:r>
              <a:rPr lang="en-US" dirty="0"/>
              <a:t>Home will export wheat, and Foreign will export cloth. </a:t>
            </a:r>
          </a:p>
          <a:p>
            <a:pPr lvl="1"/>
            <a:r>
              <a:rPr lang="en-US" dirty="0"/>
              <a:t>Both countries export the good for which they have the comparative advantage.</a:t>
            </a:r>
          </a:p>
        </p:txBody>
      </p:sp>
    </p:spTree>
    <p:extLst>
      <p:ext uri="{BB962C8B-B14F-4D97-AF65-F5344CB8AC3E}">
        <p14:creationId xmlns:p14="http://schemas.microsoft.com/office/powerpoint/2010/main" val="287722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1042E-EB3D-8A4B-A718-C6C98B700E8A}"/>
              </a:ext>
            </a:extLst>
          </p:cNvPr>
          <p:cNvSpPr>
            <a:spLocks noGrp="1"/>
          </p:cNvSpPr>
          <p:nvPr>
            <p:ph type="title"/>
          </p:nvPr>
        </p:nvSpPr>
        <p:spPr/>
        <p:txBody>
          <a:bodyPr/>
          <a:lstStyle/>
          <a:p>
            <a:r>
              <a:rPr lang="en-US" dirty="0"/>
              <a:t>3)  Determining the Pattern of International Trade (part 3)</a:t>
            </a:r>
          </a:p>
        </p:txBody>
      </p:sp>
      <p:sp>
        <p:nvSpPr>
          <p:cNvPr id="3" name="Content Placeholder 2">
            <a:extLst>
              <a:ext uri="{FF2B5EF4-FFF2-40B4-BE49-F238E27FC236}">
                <a16:creationId xmlns:a16="http://schemas.microsoft.com/office/drawing/2014/main" id="{7F2C23AC-A4EA-534B-A5F7-4754963F0297}"/>
              </a:ext>
            </a:extLst>
          </p:cNvPr>
          <p:cNvSpPr>
            <a:spLocks noGrp="1"/>
          </p:cNvSpPr>
          <p:nvPr>
            <p:ph idx="1"/>
          </p:nvPr>
        </p:nvSpPr>
        <p:spPr/>
        <p:txBody>
          <a:bodyPr/>
          <a:lstStyle/>
          <a:p>
            <a:r>
              <a:rPr lang="en-US" dirty="0"/>
              <a:t>International Trade Equilibrium</a:t>
            </a:r>
          </a:p>
          <a:p>
            <a:pPr lvl="1"/>
            <a:r>
              <a:rPr lang="en-US" dirty="0"/>
              <a:t>The two countries are in an international trade equilibrium when the relative price of wheat is the same in the two countries.</a:t>
            </a:r>
          </a:p>
          <a:p>
            <a:pPr lvl="1"/>
            <a:r>
              <a:rPr lang="en-US" dirty="0"/>
              <a:t>To fully understand the international trade equilibrium, we are interested in two issues:</a:t>
            </a:r>
          </a:p>
          <a:p>
            <a:pPr lvl="1"/>
            <a:r>
              <a:rPr lang="en-US" dirty="0"/>
              <a:t>Determining the relative price of wheat (or cloth) in the trade equilibrium</a:t>
            </a:r>
          </a:p>
          <a:p>
            <a:pPr lvl="1"/>
            <a:r>
              <a:rPr lang="en-US" dirty="0"/>
              <a:t>Seeing how the shift from the no-trade equilibrium to the trade equilibrium affects production and consumption in both Home and Foreign</a:t>
            </a:r>
          </a:p>
        </p:txBody>
      </p:sp>
    </p:spTree>
    <p:extLst>
      <p:ext uri="{BB962C8B-B14F-4D97-AF65-F5344CB8AC3E}">
        <p14:creationId xmlns:p14="http://schemas.microsoft.com/office/powerpoint/2010/main" val="2608157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0671-7863-E948-9677-84B998682015}"/>
              </a:ext>
            </a:extLst>
          </p:cNvPr>
          <p:cNvSpPr>
            <a:spLocks noGrp="1"/>
          </p:cNvSpPr>
          <p:nvPr>
            <p:ph type="title"/>
          </p:nvPr>
        </p:nvSpPr>
        <p:spPr/>
        <p:txBody>
          <a:bodyPr/>
          <a:lstStyle/>
          <a:p>
            <a:r>
              <a:rPr lang="en-US" dirty="0"/>
              <a:t>3)  Determining the Pattern of International Trade (part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F4901B-76D2-EC4D-9283-C27DD0B896BC}"/>
                  </a:ext>
                </a:extLst>
              </p:cNvPr>
              <p:cNvSpPr>
                <a:spLocks noGrp="1"/>
              </p:cNvSpPr>
              <p:nvPr>
                <p:ph idx="1"/>
              </p:nvPr>
            </p:nvSpPr>
            <p:spPr>
              <a:xfrm>
                <a:off x="457200" y="1581150"/>
                <a:ext cx="8229600" cy="4525963"/>
              </a:xfrm>
            </p:spPr>
            <p:txBody>
              <a:bodyPr/>
              <a:lstStyle/>
              <a:p>
                <a:r>
                  <a:rPr lang="en-US" dirty="0"/>
                  <a:t>International Trade Equilibrium</a:t>
                </a:r>
              </a:p>
              <a:p>
                <a:pPr lvl="1"/>
                <a:r>
                  <a:rPr lang="en-US" dirty="0"/>
                  <a:t>The relative price of wheat in the trade equilibrium will be between the no-trade price in the two countries.</a:t>
                </a:r>
              </a:p>
              <a:p>
                <a:pPr lvl="1"/>
                <a:r>
                  <a:rPr lang="en-US" dirty="0"/>
                  <a:t>For now assume that the free-trade price of </a:t>
                </a:r>
                <a:r>
                  <a:rPr lang="en-US" i="1" dirty="0"/>
                  <a:t>P</a:t>
                </a:r>
                <a:r>
                  <a:rPr lang="en-US" i="1" baseline="-25000" dirty="0"/>
                  <a:t>W</a:t>
                </a:r>
                <a:r>
                  <a:rPr lang="en-US" dirty="0"/>
                  <a:t> /</a:t>
                </a:r>
                <a:r>
                  <a:rPr lang="en-US" i="1" dirty="0"/>
                  <a:t>P</a:t>
                </a:r>
                <a:r>
                  <a:rPr lang="en-US" i="1" baseline="-25000" dirty="0"/>
                  <a:t>C</a:t>
                </a:r>
                <a:r>
                  <a:rPr lang="en-US" dirty="0"/>
                  <a:t> is </a:t>
                </a:r>
                <a14:m>
                  <m:oMath xmlns:m="http://schemas.openxmlformats.org/officeDocument/2006/math">
                    <m:f>
                      <m:fPr>
                        <m:ctrlPr>
                          <a:rPr lang="en-US" i="1" dirty="0">
                            <a:latin typeface="Cambria Math" panose="02040503050406030204" pitchFamily="18" charset="0"/>
                          </a:rPr>
                        </m:ctrlPr>
                      </m:fPr>
                      <m:num>
                        <m:r>
                          <a:rPr lang="en-US" dirty="0">
                            <a:latin typeface="Cambria Math" panose="02040503050406030204" pitchFamily="18" charset="0"/>
                          </a:rPr>
                          <m:t>2</m:t>
                        </m:r>
                      </m:num>
                      <m:den>
                        <m:r>
                          <a:rPr lang="en-US" dirty="0">
                            <a:latin typeface="Cambria Math" panose="02040503050406030204" pitchFamily="18" charset="0"/>
                          </a:rPr>
                          <m:t>3</m:t>
                        </m:r>
                      </m:den>
                    </m:f>
                    <m:r>
                      <a:rPr lang="en-US" dirty="0">
                        <a:latin typeface="Cambria Math" panose="02040503050406030204" pitchFamily="18" charset="0"/>
                      </a:rPr>
                      <m:t> </m:t>
                    </m:r>
                  </m:oMath>
                </a14:m>
                <a:r>
                  <a:rPr lang="en-US" dirty="0"/>
                  <a:t>(between the price of </a:t>
                </a:r>
                <a14:m>
                  <m:oMath xmlns:m="http://schemas.openxmlformats.org/officeDocument/2006/math">
                    <m:f>
                      <m:fPr>
                        <m:ctrlPr>
                          <a:rPr lang="en-US" i="1" dirty="0">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oMath>
                </a14:m>
                <a:r>
                  <a:rPr lang="en-US" dirty="0"/>
                  <a:t> in Home and 1 in Foreign).</a:t>
                </a:r>
              </a:p>
              <a:p>
                <a:pPr lvl="1"/>
                <a:r>
                  <a:rPr lang="en-US" dirty="0"/>
                  <a:t>We can now take this price and see how trade changes production and consumption in each country.</a:t>
                </a:r>
              </a:p>
              <a:p>
                <a:pPr lvl="1"/>
                <a:r>
                  <a:rPr lang="en-US" dirty="0"/>
                  <a:t>The world price line shows the range of consumption possibilities that a country can achieve by specializing in one good and engaging in international trade.</a:t>
                </a:r>
              </a:p>
            </p:txBody>
          </p:sp>
        </mc:Choice>
        <mc:Fallback xmlns="">
          <p:sp>
            <p:nvSpPr>
              <p:cNvPr id="3" name="Content Placeholder 2">
                <a:extLst>
                  <a:ext uri="{FF2B5EF4-FFF2-40B4-BE49-F238E27FC236}">
                    <a16:creationId xmlns:a16="http://schemas.microsoft.com/office/drawing/2014/main" id="{5FF4901B-76D2-EC4D-9283-C27DD0B896BC}"/>
                  </a:ext>
                </a:extLst>
              </p:cNvPr>
              <p:cNvSpPr>
                <a:spLocks noGrp="1" noRot="1" noChangeAspect="1" noMove="1" noResize="1" noEditPoints="1" noAdjustHandles="1" noChangeArrowheads="1" noChangeShapeType="1" noTextEdit="1"/>
              </p:cNvSpPr>
              <p:nvPr>
                <p:ph idx="1"/>
              </p:nvPr>
            </p:nvSpPr>
            <p:spPr>
              <a:xfrm>
                <a:off x="457200" y="1581150"/>
                <a:ext cx="8229600" cy="4525963"/>
              </a:xfrm>
              <a:blipFill>
                <a:blip r:embed="rId2"/>
                <a:stretch>
                  <a:fillRect l="-1333" t="-1346" r="-1778"/>
                </a:stretch>
              </a:blipFill>
            </p:spPr>
            <p:txBody>
              <a:bodyPr/>
              <a:lstStyle/>
              <a:p>
                <a:r>
                  <a:rPr lang="en-US">
                    <a:noFill/>
                  </a:rPr>
                  <a:t> </a:t>
                </a:r>
              </a:p>
            </p:txBody>
          </p:sp>
        </mc:Fallback>
      </mc:AlternateContent>
    </p:spTree>
    <p:extLst>
      <p:ext uri="{BB962C8B-B14F-4D97-AF65-F5344CB8AC3E}">
        <p14:creationId xmlns:p14="http://schemas.microsoft.com/office/powerpoint/2010/main" val="2765338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3)  Determining the Pattern of International Trade (part 5)</a:t>
            </a:r>
          </a:p>
        </p:txBody>
      </p:sp>
      <p:sp>
        <p:nvSpPr>
          <p:cNvPr id="6" name="Content Placeholder 5"/>
          <p:cNvSpPr>
            <a:spLocks noGrp="1"/>
          </p:cNvSpPr>
          <p:nvPr>
            <p:ph sz="quarter" idx="13"/>
          </p:nvPr>
        </p:nvSpPr>
        <p:spPr>
          <a:xfrm>
            <a:off x="690564" y="1663838"/>
            <a:ext cx="2539524" cy="390586"/>
          </a:xfrm>
        </p:spPr>
        <p:txBody>
          <a:bodyPr>
            <a:normAutofit fontScale="85000" lnSpcReduction="20000"/>
          </a:bodyPr>
          <a:lstStyle/>
          <a:p>
            <a:pPr marL="0" indent="0">
              <a:buNone/>
            </a:pPr>
            <a:r>
              <a:rPr lang="en-US" b="0" dirty="0"/>
              <a:t>FIGURE</a:t>
            </a:r>
            <a:r>
              <a:rPr lang="en-US" b="0" dirty="0">
                <a:solidFill>
                  <a:schemeClr val="accent2">
                    <a:lumMod val="50000"/>
                  </a:schemeClr>
                </a:solidFill>
              </a:rPr>
              <a:t> </a:t>
            </a:r>
            <a:r>
              <a:rPr lang="en-US" b="0" dirty="0"/>
              <a:t>2-5 (1 of 3)</a:t>
            </a:r>
          </a:p>
        </p:txBody>
      </p:sp>
      <p:pic>
        <p:nvPicPr>
          <p:cNvPr id="13"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8592CAAB-2DFA-BC4A-9BF1-D1E73A4F1809}"/>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168739" y="2405258"/>
            <a:ext cx="3844081" cy="2488298"/>
          </a:xfrm>
          <a:prstGeom prst="rect">
            <a:avLst/>
          </a:prstGeom>
        </p:spPr>
      </p:pic>
      <p:sp>
        <p:nvSpPr>
          <p:cNvPr id="8" name="Content Placeholder 7"/>
          <p:cNvSpPr>
            <a:spLocks noGrp="1"/>
          </p:cNvSpPr>
          <p:nvPr>
            <p:ph sz="quarter" idx="15"/>
          </p:nvPr>
        </p:nvSpPr>
        <p:spPr>
          <a:xfrm>
            <a:off x="230632" y="5472303"/>
            <a:ext cx="3617468" cy="439738"/>
          </a:xfrm>
        </p:spPr>
        <p:txBody>
          <a:bodyPr>
            <a:normAutofit/>
          </a:bodyPr>
          <a:lstStyle/>
          <a:p>
            <a:pPr marL="0" indent="0">
              <a:buNone/>
            </a:pPr>
            <a:r>
              <a:rPr lang="en-US" sz="2000" b="0" dirty="0"/>
              <a:t>Home Equilibrium with Trade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16"/>
              </p:nvPr>
            </p:nvSpPr>
            <p:spPr>
              <a:xfrm>
                <a:off x="4391025" y="1516736"/>
                <a:ext cx="4586721" cy="4527804"/>
              </a:xfrm>
            </p:spPr>
            <p:txBody>
              <a:bodyPr>
                <a:normAutofit lnSpcReduction="10000"/>
              </a:bodyPr>
              <a:lstStyle/>
              <a:p>
                <a:pPr marL="0" indent="0">
                  <a:buNone/>
                </a:pPr>
                <a:r>
                  <a:rPr lang="en-US" dirty="0">
                    <a:latin typeface="+mn-lt"/>
                  </a:rPr>
                  <a:t>International Trade Equilibrium</a:t>
                </a:r>
              </a:p>
              <a:p>
                <a:r>
                  <a:rPr lang="en-US" dirty="0">
                    <a:latin typeface="+mn-lt"/>
                  </a:rPr>
                  <a:t>Change in Production and Consumption</a:t>
                </a:r>
              </a:p>
              <a:p>
                <a:pPr lvl="1"/>
                <a:r>
                  <a:rPr lang="en-US" dirty="0">
                    <a:latin typeface="+mn-lt"/>
                  </a:rPr>
                  <a:t>With a world relative price of wheat of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latin typeface="+mn-lt"/>
                  </a:rPr>
                  <a:t>, Home production will occur at point B.</a:t>
                </a:r>
              </a:p>
              <a:p>
                <a:pPr lvl="1"/>
                <a:r>
                  <a:rPr lang="en-US" dirty="0">
                    <a:latin typeface="+mn-lt"/>
                  </a:rPr>
                  <a:t>Through international trade, Home is able to export each bushel of wheat it produces in exchange for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latin typeface="+mn-lt"/>
                  </a:rPr>
                  <a:t> yard of cloth. </a:t>
                </a:r>
              </a:p>
            </p:txBody>
          </p:sp>
        </mc:Choice>
        <mc:Fallback xmlns="">
          <p:sp>
            <p:nvSpPr>
              <p:cNvPr id="9" name="Content Placeholder 8"/>
              <p:cNvSpPr>
                <a:spLocks noGrp="1" noRot="1" noChangeAspect="1" noMove="1" noResize="1" noEditPoints="1" noAdjustHandles="1" noChangeArrowheads="1" noChangeShapeType="1" noTextEdit="1"/>
              </p:cNvSpPr>
              <p:nvPr>
                <p:ph sz="quarter" idx="16"/>
              </p:nvPr>
            </p:nvSpPr>
            <p:spPr>
              <a:xfrm>
                <a:off x="4391025" y="1516736"/>
                <a:ext cx="4586721" cy="4527804"/>
              </a:xfrm>
              <a:blipFill>
                <a:blip r:embed="rId3"/>
                <a:stretch>
                  <a:fillRect l="-2755" t="-3073" r="-1102"/>
                </a:stretch>
              </a:blipFill>
            </p:spPr>
            <p:txBody>
              <a:bodyPr/>
              <a:lstStyle/>
              <a:p>
                <a:r>
                  <a:rPr lang="en-US">
                    <a:noFill/>
                  </a:rPr>
                  <a:t> </a:t>
                </a:r>
              </a:p>
            </p:txBody>
          </p:sp>
        </mc:Fallback>
      </mc:AlternateContent>
    </p:spTree>
    <p:extLst>
      <p:ext uri="{BB962C8B-B14F-4D97-AF65-F5344CB8AC3E}">
        <p14:creationId xmlns:p14="http://schemas.microsoft.com/office/powerpoint/2010/main" val="3702831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6)</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2-5 (2 of 3)</a:t>
            </a:r>
          </a:p>
        </p:txBody>
      </p:sp>
      <p:pic>
        <p:nvPicPr>
          <p:cNvPr id="19"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9C5F6949-E765-934B-AA99-C48842CB9C00}"/>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168363" y="2331751"/>
            <a:ext cx="4270775" cy="2764498"/>
          </a:xfrm>
          <a:prstGeom prst="rect">
            <a:avLst/>
          </a:prstGeom>
        </p:spPr>
      </p:pic>
      <p:sp>
        <p:nvSpPr>
          <p:cNvPr id="16" name="Content Placeholder 15"/>
          <p:cNvSpPr>
            <a:spLocks noGrp="1"/>
          </p:cNvSpPr>
          <p:nvPr>
            <p:ph sz="quarter" idx="15"/>
          </p:nvPr>
        </p:nvSpPr>
        <p:spPr>
          <a:xfrm>
            <a:off x="4480688" y="1566348"/>
            <a:ext cx="4513525" cy="4578420"/>
          </a:xfrm>
        </p:spPr>
        <p:txBody>
          <a:bodyPr>
            <a:normAutofit lnSpcReduction="10000"/>
          </a:bodyPr>
          <a:lstStyle/>
          <a:p>
            <a:pPr marL="0" indent="0">
              <a:buNone/>
            </a:pPr>
            <a:r>
              <a:rPr lang="en-US" dirty="0"/>
              <a:t>International Trade Equilibrium</a:t>
            </a:r>
          </a:p>
          <a:p>
            <a:r>
              <a:rPr lang="en-US" dirty="0"/>
              <a:t>Change in Production and Consumption</a:t>
            </a:r>
          </a:p>
          <a:p>
            <a:pPr lvl="1"/>
            <a:r>
              <a:rPr lang="en-US" dirty="0"/>
              <a:t>As wheat is exported, Home moves up the world price line </a:t>
            </a:r>
            <a:r>
              <a:rPr lang="en-US" i="1" dirty="0"/>
              <a:t>BC</a:t>
            </a:r>
            <a:r>
              <a:rPr lang="en-US" dirty="0"/>
              <a:t>.  Home consumption occurs at point </a:t>
            </a:r>
            <a:r>
              <a:rPr lang="en-US" i="1" dirty="0"/>
              <a:t>C</a:t>
            </a:r>
            <a:r>
              <a:rPr lang="en-US" dirty="0"/>
              <a:t>, at the tangent intersection with indifference curve </a:t>
            </a:r>
            <a:r>
              <a:rPr lang="en-US" i="1" dirty="0"/>
              <a:t>U</a:t>
            </a:r>
            <a:r>
              <a:rPr lang="en-US" baseline="-25000" dirty="0"/>
              <a:t>2</a:t>
            </a:r>
            <a:r>
              <a:rPr lang="en-US" dirty="0"/>
              <a:t>, since this is the highest possible utility curve on the world price line.</a:t>
            </a:r>
          </a:p>
        </p:txBody>
      </p:sp>
      <p:sp>
        <p:nvSpPr>
          <p:cNvPr id="18" name="Content Placeholder 17"/>
          <p:cNvSpPr>
            <a:spLocks noGrp="1"/>
          </p:cNvSpPr>
          <p:nvPr>
            <p:ph sz="quarter" idx="16"/>
          </p:nvPr>
        </p:nvSpPr>
        <p:spPr>
          <a:xfrm>
            <a:off x="966942" y="5525105"/>
            <a:ext cx="3128808" cy="448005"/>
          </a:xfrm>
        </p:spPr>
        <p:txBody>
          <a:bodyPr>
            <a:normAutofit/>
          </a:bodyPr>
          <a:lstStyle/>
          <a:p>
            <a:pPr marL="0" indent="0">
              <a:buNone/>
            </a:pPr>
            <a:r>
              <a:rPr lang="en-US" sz="1800" b="0" dirty="0"/>
              <a:t>Home Equilibrium with Trade</a:t>
            </a:r>
          </a:p>
        </p:txBody>
      </p:sp>
    </p:spTree>
    <p:extLst>
      <p:ext uri="{BB962C8B-B14F-4D97-AF65-F5344CB8AC3E}">
        <p14:creationId xmlns:p14="http://schemas.microsoft.com/office/powerpoint/2010/main" val="794201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7)</a:t>
            </a:r>
          </a:p>
        </p:txBody>
      </p:sp>
      <p:sp>
        <p:nvSpPr>
          <p:cNvPr id="14" name="Content Placeholder 13"/>
          <p:cNvSpPr>
            <a:spLocks noGrp="1"/>
          </p:cNvSpPr>
          <p:nvPr>
            <p:ph sz="quarter" idx="13"/>
          </p:nvPr>
        </p:nvSpPr>
        <p:spPr>
          <a:xfrm>
            <a:off x="923987" y="1458134"/>
            <a:ext cx="2543113" cy="359352"/>
          </a:xfrm>
        </p:spPr>
        <p:txBody>
          <a:bodyPr>
            <a:normAutofit fontScale="77500" lnSpcReduction="20000"/>
          </a:bodyPr>
          <a:lstStyle/>
          <a:p>
            <a:pPr marL="0" indent="0">
              <a:buNone/>
            </a:pPr>
            <a:r>
              <a:rPr lang="en-US" b="0" dirty="0"/>
              <a:t>FIGURE 2-5 (3 of 3)</a:t>
            </a:r>
          </a:p>
        </p:txBody>
      </p:sp>
      <p:pic>
        <p:nvPicPr>
          <p:cNvPr id="8"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8592CAAB-2DFA-BC4A-9BF1-D1E73A4F1809}"/>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02752" y="2339463"/>
            <a:ext cx="4063496" cy="2630325"/>
          </a:xfrm>
        </p:spPr>
      </p:pic>
      <p:sp>
        <p:nvSpPr>
          <p:cNvPr id="16" name="Content Placeholder 15"/>
          <p:cNvSpPr>
            <a:spLocks noGrp="1"/>
          </p:cNvSpPr>
          <p:nvPr>
            <p:ph sz="quarter" idx="15"/>
          </p:nvPr>
        </p:nvSpPr>
        <p:spPr>
          <a:xfrm>
            <a:off x="4480688" y="1566348"/>
            <a:ext cx="4513525" cy="4578420"/>
          </a:xfrm>
        </p:spPr>
        <p:txBody>
          <a:bodyPr>
            <a:normAutofit lnSpcReduction="10000"/>
          </a:bodyPr>
          <a:lstStyle/>
          <a:p>
            <a:pPr marL="0" indent="0">
              <a:buNone/>
            </a:pPr>
            <a:r>
              <a:rPr lang="en-US" sz="2600" dirty="0"/>
              <a:t>International Trade Equilibrium</a:t>
            </a:r>
          </a:p>
          <a:p>
            <a:r>
              <a:rPr lang="en-US" sz="2600" dirty="0"/>
              <a:t>Change in Production and Consumption</a:t>
            </a:r>
          </a:p>
          <a:p>
            <a:pPr lvl="1"/>
            <a:r>
              <a:rPr lang="en-US" dirty="0"/>
              <a:t>Given these levels of production and consumption, we can see that total exports are 60 bushels of wheat in exchange for imports of 40 yards of cloth and also that Home consumes 10 fewer bushels of wheat and 15 more yards of cloth relative to its pre-trade levels.</a:t>
            </a:r>
          </a:p>
        </p:txBody>
      </p:sp>
      <p:sp>
        <p:nvSpPr>
          <p:cNvPr id="18" name="Content Placeholder 17"/>
          <p:cNvSpPr>
            <a:spLocks noGrp="1"/>
          </p:cNvSpPr>
          <p:nvPr>
            <p:ph sz="quarter" idx="16"/>
          </p:nvPr>
        </p:nvSpPr>
        <p:spPr>
          <a:xfrm>
            <a:off x="812533" y="5455147"/>
            <a:ext cx="3511817" cy="558594"/>
          </a:xfrm>
        </p:spPr>
        <p:txBody>
          <a:bodyPr>
            <a:normAutofit/>
          </a:bodyPr>
          <a:lstStyle/>
          <a:p>
            <a:pPr marL="0" indent="0">
              <a:buNone/>
            </a:pPr>
            <a:r>
              <a:rPr lang="en-US" sz="2000" b="0" dirty="0"/>
              <a:t>Home Equilibrium with Trade</a:t>
            </a:r>
          </a:p>
        </p:txBody>
      </p:sp>
    </p:spTree>
    <p:extLst>
      <p:ext uri="{BB962C8B-B14F-4D97-AF65-F5344CB8AC3E}">
        <p14:creationId xmlns:p14="http://schemas.microsoft.com/office/powerpoint/2010/main" val="4190282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8)</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2-5 (revisited)</a:t>
            </a:r>
          </a:p>
        </p:txBody>
      </p:sp>
      <p:pic>
        <p:nvPicPr>
          <p:cNvPr id="9"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8592CAAB-2DFA-BC4A-9BF1-D1E73A4F1809}"/>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343377" y="2137588"/>
            <a:ext cx="4063496" cy="2630325"/>
          </a:xfrm>
        </p:spPr>
      </p:pic>
      <p:sp>
        <p:nvSpPr>
          <p:cNvPr id="16" name="Content Placeholder 15"/>
          <p:cNvSpPr>
            <a:spLocks noGrp="1"/>
          </p:cNvSpPr>
          <p:nvPr>
            <p:ph sz="quarter" idx="15"/>
          </p:nvPr>
        </p:nvSpPr>
        <p:spPr>
          <a:xfrm>
            <a:off x="4480688" y="1566348"/>
            <a:ext cx="4513525" cy="4578420"/>
          </a:xfrm>
        </p:spPr>
        <p:txBody>
          <a:bodyPr>
            <a:normAutofit/>
          </a:bodyPr>
          <a:lstStyle/>
          <a:p>
            <a:pPr marL="0" indent="0">
              <a:buNone/>
            </a:pPr>
            <a:r>
              <a:rPr lang="en-US" sz="2400" dirty="0"/>
              <a:t>International Trade Equilibrium</a:t>
            </a:r>
          </a:p>
          <a:p>
            <a:r>
              <a:rPr lang="en-US" sz="2400" dirty="0"/>
              <a:t>International Trade</a:t>
            </a:r>
          </a:p>
          <a:p>
            <a:pPr lvl="1">
              <a:spcBef>
                <a:spcPct val="10000"/>
              </a:spcBef>
              <a:spcAft>
                <a:spcPct val="10000"/>
              </a:spcAft>
            </a:pPr>
            <a:r>
              <a:rPr lang="en-US" sz="2200" dirty="0">
                <a:latin typeface="Arial" panose="020B0604020202020204" pitchFamily="34" charset="0"/>
              </a:rPr>
              <a:t>Home obtains a higher utility with international trade than in the absence of trade (</a:t>
            </a:r>
            <a:r>
              <a:rPr lang="en-US" sz="2200" i="1" dirty="0">
                <a:latin typeface="Arial" panose="020B0604020202020204" pitchFamily="34" charset="0"/>
              </a:rPr>
              <a:t>U</a:t>
            </a:r>
            <a:r>
              <a:rPr lang="en-US" sz="2200" baseline="-25000" dirty="0">
                <a:latin typeface="Arial" panose="020B0604020202020204" pitchFamily="34" charset="0"/>
              </a:rPr>
              <a:t>2</a:t>
            </a:r>
            <a:r>
              <a:rPr lang="en-US" sz="2200" dirty="0">
                <a:latin typeface="Arial" panose="020B0604020202020204" pitchFamily="34" charset="0"/>
              </a:rPr>
              <a:t> is higher than </a:t>
            </a:r>
            <a:r>
              <a:rPr lang="en-US" sz="2200" i="1" dirty="0">
                <a:latin typeface="Arial" panose="020B0604020202020204" pitchFamily="34" charset="0"/>
              </a:rPr>
              <a:t>U</a:t>
            </a:r>
            <a:r>
              <a:rPr lang="en-US" sz="2200" baseline="-25000" dirty="0">
                <a:latin typeface="Arial" panose="020B0604020202020204" pitchFamily="34" charset="0"/>
              </a:rPr>
              <a:t>1</a:t>
            </a:r>
            <a:r>
              <a:rPr lang="en-US" sz="2200" dirty="0">
                <a:latin typeface="Arial" panose="020B0604020202020204" pitchFamily="34" charset="0"/>
              </a:rPr>
              <a:t>).</a:t>
            </a:r>
          </a:p>
          <a:p>
            <a:pPr lvl="1">
              <a:spcBef>
                <a:spcPct val="10000"/>
              </a:spcBef>
              <a:spcAft>
                <a:spcPct val="10000"/>
              </a:spcAft>
            </a:pPr>
            <a:r>
              <a:rPr lang="en-US" sz="2200" dirty="0">
                <a:latin typeface="Arial" panose="020B0604020202020204" pitchFamily="34" charset="0"/>
              </a:rPr>
              <a:t>The finding that Home’s utility increases with trade is our first demonstration of the gains from trade.</a:t>
            </a:r>
          </a:p>
        </p:txBody>
      </p:sp>
      <p:sp>
        <p:nvSpPr>
          <p:cNvPr id="18" name="Content Placeholder 17"/>
          <p:cNvSpPr>
            <a:spLocks noGrp="1"/>
          </p:cNvSpPr>
          <p:nvPr>
            <p:ph sz="quarter" idx="16"/>
          </p:nvPr>
        </p:nvSpPr>
        <p:spPr>
          <a:xfrm>
            <a:off x="307708" y="5438445"/>
            <a:ext cx="4121788" cy="558594"/>
          </a:xfrm>
        </p:spPr>
        <p:txBody>
          <a:bodyPr>
            <a:normAutofit/>
          </a:bodyPr>
          <a:lstStyle/>
          <a:p>
            <a:pPr marL="0" indent="0">
              <a:buNone/>
            </a:pPr>
            <a:r>
              <a:rPr lang="en-US" sz="2200" b="0" dirty="0"/>
              <a:t>Home Equilibrium with Trade </a:t>
            </a:r>
          </a:p>
        </p:txBody>
      </p:sp>
    </p:spTree>
    <p:extLst>
      <p:ext uri="{BB962C8B-B14F-4D97-AF65-F5344CB8AC3E}">
        <p14:creationId xmlns:p14="http://schemas.microsoft.com/office/powerpoint/2010/main" val="2342480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9)</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2-6 (1 of 2)</a:t>
            </a:r>
          </a:p>
        </p:txBody>
      </p:sp>
      <p:pic>
        <p:nvPicPr>
          <p:cNvPr id="8" name="Picture Placeholder 5" descr="A line graph correlates yards of cloth versus bushels to illustrate foreign equilibrium with trade. The horizontal axis plots wheat, Q asterisk subscript W, measured in bushels and the vertical axis plots cloth, Q asterisk subscript C measured in yards. The graph shows two indifference curves labeled U asterisk subscript 1 and U asterisk subscript 2. A foreign P P F curve, with a negative slope, extends from 100-yard mark labeled foreign production (point B) along the vertical axis to 100 bushel mark along the horizontal axis and tangents U 1 curve at point A asterisk. Point A is equal to 50 yards and 50 bushels. Another P P F curve labeled, ‘world price line, slope equals negative 2 over 3’ extends from 100 yards mark labeled foreign production (point B) and tangents U 2 curve at point C asterisk labeled foreign consumption. Point C is equal to 40 yards and 40 bushels. 60 to 100 yards is labeled foreign exports 40 yards of cloth and 40 to 100 bushels is labeled foreign imports 60 bushels of wheat.">
            <a:extLst>
              <a:ext uri="{FF2B5EF4-FFF2-40B4-BE49-F238E27FC236}">
                <a16:creationId xmlns:a16="http://schemas.microsoft.com/office/drawing/2014/main" id="{50789E65-F88C-2146-AF7B-BE2A04C7DEA5}"/>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343377" y="2314631"/>
            <a:ext cx="4063496" cy="2513738"/>
          </a:xfrm>
        </p:spPr>
      </p:pic>
      <mc:AlternateContent xmlns:mc="http://schemas.openxmlformats.org/markup-compatibility/2006" xmlns:a14="http://schemas.microsoft.com/office/drawing/2010/main">
        <mc:Choice Requires="a14">
          <p:sp>
            <p:nvSpPr>
              <p:cNvPr id="16" name="Content Placeholder 15"/>
              <p:cNvSpPr>
                <a:spLocks noGrp="1"/>
              </p:cNvSpPr>
              <p:nvPr>
                <p:ph sz="quarter" idx="15"/>
              </p:nvPr>
            </p:nvSpPr>
            <p:spPr>
              <a:xfrm>
                <a:off x="4714506" y="1457572"/>
                <a:ext cx="4191369" cy="5000378"/>
              </a:xfrm>
            </p:spPr>
            <p:txBody>
              <a:bodyPr>
                <a:normAutofit lnSpcReduction="10000"/>
              </a:bodyPr>
              <a:lstStyle/>
              <a:p>
                <a:pPr marL="0" indent="0">
                  <a:buNone/>
                </a:pPr>
                <a:r>
                  <a:rPr lang="en-US" dirty="0"/>
                  <a:t>International Trade Equilibrium</a:t>
                </a:r>
              </a:p>
              <a:p>
                <a:r>
                  <a:rPr lang="en-US" dirty="0"/>
                  <a:t>Patterns of Trade and Gains from Trade</a:t>
                </a:r>
              </a:p>
              <a:p>
                <a:pPr lvl="1"/>
                <a:r>
                  <a:rPr lang="en-US" dirty="0"/>
                  <a:t>With a world relative price of wheat of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t>, Foreign production will occur at point </a:t>
                </a:r>
                <a:r>
                  <a:rPr lang="en-US" i="1" dirty="0"/>
                  <a:t>B</a:t>
                </a:r>
                <a:r>
                  <a:rPr lang="en-US" dirty="0"/>
                  <a:t>*.</a:t>
                </a:r>
              </a:p>
              <a:p>
                <a:pPr lvl="1"/>
                <a:r>
                  <a:rPr lang="en-US" dirty="0"/>
                  <a:t>Through international trade, Foreign is able to export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t> yard of cloth in exchange for 1 bushel of wheat, moving down the world price line.</a:t>
                </a:r>
              </a:p>
            </p:txBody>
          </p:sp>
        </mc:Choice>
        <mc:Fallback xmlns="">
          <p:sp>
            <p:nvSpPr>
              <p:cNvPr id="16" name="Content Placeholder 15"/>
              <p:cNvSpPr>
                <a:spLocks noGrp="1" noRot="1" noChangeAspect="1" noMove="1" noResize="1" noEditPoints="1" noAdjustHandles="1" noChangeArrowheads="1" noChangeShapeType="1" noTextEdit="1"/>
              </p:cNvSpPr>
              <p:nvPr>
                <p:ph sz="quarter" idx="15"/>
              </p:nvPr>
            </p:nvSpPr>
            <p:spPr>
              <a:xfrm>
                <a:off x="4714506" y="1457572"/>
                <a:ext cx="4191369" cy="5000378"/>
              </a:xfrm>
              <a:blipFill>
                <a:blip r:embed="rId3"/>
                <a:stretch>
                  <a:fillRect l="-3323" t="-2785" r="-2719" b="-506"/>
                </a:stretch>
              </a:blipFill>
            </p:spPr>
            <p:txBody>
              <a:bodyPr/>
              <a:lstStyle/>
              <a:p>
                <a:r>
                  <a:rPr lang="en-US">
                    <a:noFill/>
                  </a:rPr>
                  <a:t> </a:t>
                </a:r>
              </a:p>
            </p:txBody>
          </p:sp>
        </mc:Fallback>
      </mc:AlternateContent>
      <p:sp>
        <p:nvSpPr>
          <p:cNvPr id="18" name="Content Placeholder 17"/>
          <p:cNvSpPr>
            <a:spLocks noGrp="1"/>
          </p:cNvSpPr>
          <p:nvPr>
            <p:ph sz="quarter" idx="16"/>
          </p:nvPr>
        </p:nvSpPr>
        <p:spPr>
          <a:xfrm>
            <a:off x="762000" y="5438445"/>
            <a:ext cx="3667496" cy="409045"/>
          </a:xfrm>
        </p:spPr>
        <p:txBody>
          <a:bodyPr>
            <a:normAutofit/>
          </a:bodyPr>
          <a:lstStyle/>
          <a:p>
            <a:pPr marL="0" indent="0">
              <a:buNone/>
            </a:pPr>
            <a:r>
              <a:rPr lang="en-US" sz="1800" b="0" dirty="0"/>
              <a:t>Foreign Equilibrium with Trade</a:t>
            </a:r>
          </a:p>
        </p:txBody>
      </p:sp>
      <mc:AlternateContent xmlns:mc="http://schemas.openxmlformats.org/markup-compatibility/2006" xmlns:a14="http://schemas.microsoft.com/office/drawing/2010/main">
        <mc:Choice Requires="a14">
          <p:sp>
            <p:nvSpPr>
              <p:cNvPr id="2" name="Content Placeholder 15">
                <a:extLst>
                  <a:ext uri="{FF2B5EF4-FFF2-40B4-BE49-F238E27FC236}">
                    <a16:creationId xmlns:a16="http://schemas.microsoft.com/office/drawing/2014/main" id="{31A92921-0ADC-C148-4153-3AB0442EE219}"/>
                  </a:ext>
                </a:extLst>
              </p:cNvPr>
              <p:cNvSpPr txBox="1">
                <a:spLocks/>
              </p:cNvSpPr>
              <p:nvPr/>
            </p:nvSpPr>
            <p:spPr>
              <a:xfrm>
                <a:off x="5520049" y="5438445"/>
                <a:ext cx="4191369" cy="500037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International Trade Equilibrium</a:t>
                </a:r>
              </a:p>
              <a:p>
                <a:r>
                  <a:rPr lang="en-US" dirty="0"/>
                  <a:t>Patterns of Trade and Gains from Trade</a:t>
                </a:r>
              </a:p>
              <a:p>
                <a:pPr lvl="1"/>
                <a:r>
                  <a:rPr lang="en-US" dirty="0"/>
                  <a:t>With a world relative price of wheat of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t>, Foreign production will occur at point </a:t>
                </a:r>
                <a:r>
                  <a:rPr lang="en-US" i="1" dirty="0"/>
                  <a:t>B</a:t>
                </a:r>
                <a:r>
                  <a:rPr lang="en-US" dirty="0"/>
                  <a:t>*.</a:t>
                </a:r>
              </a:p>
              <a:p>
                <a:pPr lvl="1"/>
                <a:r>
                  <a:rPr lang="en-US" dirty="0"/>
                  <a:t>Through international trade, Foreign is able to export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t> yard of cloth in exchange for 1 bushel of wheat, moving down the world price line.</a:t>
                </a:r>
              </a:p>
            </p:txBody>
          </p:sp>
        </mc:Choice>
        <mc:Fallback xmlns="">
          <p:sp>
            <p:nvSpPr>
              <p:cNvPr id="2" name="Content Placeholder 15">
                <a:extLst>
                  <a:ext uri="{FF2B5EF4-FFF2-40B4-BE49-F238E27FC236}">
                    <a16:creationId xmlns:a16="http://schemas.microsoft.com/office/drawing/2014/main" id="{31A92921-0ADC-C148-4153-3AB0442EE219}"/>
                  </a:ext>
                </a:extLst>
              </p:cNvPr>
              <p:cNvSpPr txBox="1">
                <a:spLocks noRot="1" noChangeAspect="1" noMove="1" noResize="1" noEditPoints="1" noAdjustHandles="1" noChangeArrowheads="1" noChangeShapeType="1" noTextEdit="1"/>
              </p:cNvSpPr>
              <p:nvPr/>
            </p:nvSpPr>
            <p:spPr>
              <a:xfrm>
                <a:off x="5520049" y="5438445"/>
                <a:ext cx="4191369" cy="5000378"/>
              </a:xfrm>
              <a:prstGeom prst="rect">
                <a:avLst/>
              </a:prstGeom>
              <a:blipFill>
                <a:blip r:embed="rId4"/>
                <a:stretch>
                  <a:fillRect l="-3021" t="-2792" r="-3021" b="-508"/>
                </a:stretch>
              </a:blipFill>
            </p:spPr>
            <p:txBody>
              <a:bodyPr/>
              <a:lstStyle/>
              <a:p>
                <a:r>
                  <a:rPr lang="en-US">
                    <a:noFill/>
                  </a:rPr>
                  <a:t> </a:t>
                </a:r>
              </a:p>
            </p:txBody>
          </p:sp>
        </mc:Fallback>
      </mc:AlternateContent>
    </p:spTree>
    <p:extLst>
      <p:ext uri="{BB962C8B-B14F-4D97-AF65-F5344CB8AC3E}">
        <p14:creationId xmlns:p14="http://schemas.microsoft.com/office/powerpoint/2010/main" val="1988850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10)</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2-6 (2 of 2)</a:t>
            </a:r>
          </a:p>
        </p:txBody>
      </p:sp>
      <p:pic>
        <p:nvPicPr>
          <p:cNvPr id="9" name="Picture Placeholder 5" descr="A line graph correlates yards of cloth versus bushels to illustrate foreign equilibrium with trade. The horizontal axis plots wheat, Q asterisk subscript W, measured in bushels and the vertical axis plots cloth, Q asterisk subscript C measured in yards. The graph shows two indifference curves labeled U asterisk subscript 1 and U asterisk subscript 2. A foreign P P F curve, with a negative slope, extends from 100-yard mark labeled foreign production (point B) along the vertical axis to 100 bushel mark along the horizontal axis and tangents U 1 curve at point A asterisk. Point A is equal to 50 yards and 50 bushels. Another P P F curve labeled, ‘world price line, slope equals negative 2 over 3’ extends from 100 yards mark labeled foreign production (point B) and tangents U 2 curve at point C asterisk labeled foreign consumption. Point C is equal to 40 yards and 40 bushels. 60 to 100 yards is labeled foreign exports 40 yards of cloth and 40 to 100 bushels is labeled foreign imports 60 bushels of wheat.">
            <a:extLst>
              <a:ext uri="{FF2B5EF4-FFF2-40B4-BE49-F238E27FC236}">
                <a16:creationId xmlns:a16="http://schemas.microsoft.com/office/drawing/2014/main" id="{50789E65-F88C-2146-AF7B-BE2A04C7DEA5}"/>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367127" y="2421506"/>
            <a:ext cx="4063496" cy="2513738"/>
          </a:xfrm>
        </p:spPr>
      </p:pic>
      <p:sp>
        <p:nvSpPr>
          <p:cNvPr id="16" name="Content Placeholder 15"/>
          <p:cNvSpPr>
            <a:spLocks noGrp="1"/>
          </p:cNvSpPr>
          <p:nvPr>
            <p:ph sz="quarter" idx="15"/>
          </p:nvPr>
        </p:nvSpPr>
        <p:spPr>
          <a:xfrm>
            <a:off x="4810125" y="1457572"/>
            <a:ext cx="3966748" cy="4924178"/>
          </a:xfrm>
        </p:spPr>
        <p:txBody>
          <a:bodyPr>
            <a:normAutofit fontScale="92500"/>
          </a:bodyPr>
          <a:lstStyle/>
          <a:p>
            <a:pPr marL="0" indent="0">
              <a:buNone/>
            </a:pPr>
            <a:r>
              <a:rPr lang="en-US" sz="2600" dirty="0">
                <a:latin typeface="+mn-lt"/>
              </a:rPr>
              <a:t>International Trade Equilibrium</a:t>
            </a:r>
          </a:p>
          <a:p>
            <a:r>
              <a:rPr lang="en-US" sz="2600" dirty="0">
                <a:latin typeface="+mn-lt"/>
              </a:rPr>
              <a:t>Patterns of Trade and Gains from Trade</a:t>
            </a:r>
          </a:p>
          <a:p>
            <a:pPr lvl="1"/>
            <a:r>
              <a:rPr lang="en-US" dirty="0">
                <a:latin typeface="+mn-lt"/>
              </a:rPr>
              <a:t>Foreign consumption occurs at point </a:t>
            </a:r>
            <a:r>
              <a:rPr lang="en-US" i="1" dirty="0">
                <a:latin typeface="+mn-lt"/>
              </a:rPr>
              <a:t>C</a:t>
            </a:r>
            <a:r>
              <a:rPr lang="en-US" baseline="30000" dirty="0">
                <a:latin typeface="+mn-lt"/>
              </a:rPr>
              <a:t>*</a:t>
            </a:r>
            <a:r>
              <a:rPr lang="en-US" dirty="0">
                <a:latin typeface="+mn-lt"/>
              </a:rPr>
              <a:t>, and total exports are 40 yards of cloth in exchange for imports of 60 bushels of wheat. Relative to its pre-trade wheat and cloth consumption (point </a:t>
            </a:r>
            <a:r>
              <a:rPr lang="en-US" i="1" dirty="0">
                <a:latin typeface="+mn-lt"/>
              </a:rPr>
              <a:t>A</a:t>
            </a:r>
            <a:r>
              <a:rPr lang="en-US" baseline="30000" dirty="0">
                <a:latin typeface="+mn-lt"/>
              </a:rPr>
              <a:t>*</a:t>
            </a:r>
            <a:r>
              <a:rPr lang="en-US" dirty="0">
                <a:latin typeface="+mn-lt"/>
              </a:rPr>
              <a:t>), Foreign consumes 10 more bushels of wheat and 10 more yards of cloth.</a:t>
            </a:r>
          </a:p>
        </p:txBody>
      </p:sp>
      <p:sp>
        <p:nvSpPr>
          <p:cNvPr id="18" name="Content Placeholder 17"/>
          <p:cNvSpPr>
            <a:spLocks noGrp="1"/>
          </p:cNvSpPr>
          <p:nvPr>
            <p:ph sz="quarter" idx="16"/>
          </p:nvPr>
        </p:nvSpPr>
        <p:spPr>
          <a:xfrm>
            <a:off x="307708" y="5438445"/>
            <a:ext cx="4121788" cy="558594"/>
          </a:xfrm>
        </p:spPr>
        <p:txBody>
          <a:bodyPr>
            <a:normAutofit fontScale="85000" lnSpcReduction="10000"/>
          </a:bodyPr>
          <a:lstStyle/>
          <a:p>
            <a:pPr marL="0" indent="0">
              <a:buNone/>
            </a:pPr>
            <a:r>
              <a:rPr lang="en-US" b="0" dirty="0"/>
              <a:t>Foreign Equilibrium with Trade</a:t>
            </a:r>
          </a:p>
        </p:txBody>
      </p:sp>
    </p:spTree>
    <p:extLst>
      <p:ext uri="{BB962C8B-B14F-4D97-AF65-F5344CB8AC3E}">
        <p14:creationId xmlns:p14="http://schemas.microsoft.com/office/powerpoint/2010/main" val="2936934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913F-0AA9-B94D-915B-876167C7AC7B}"/>
              </a:ext>
            </a:extLst>
          </p:cNvPr>
          <p:cNvSpPr>
            <a:spLocks noGrp="1"/>
          </p:cNvSpPr>
          <p:nvPr>
            <p:ph type="title"/>
          </p:nvPr>
        </p:nvSpPr>
        <p:spPr/>
        <p:txBody>
          <a:bodyPr/>
          <a:lstStyle/>
          <a:p>
            <a:r>
              <a:rPr lang="en-US" dirty="0"/>
              <a:t>3)  Determining the Pattern of International Trade (part 11)</a:t>
            </a:r>
          </a:p>
        </p:txBody>
      </p:sp>
      <p:sp>
        <p:nvSpPr>
          <p:cNvPr id="3" name="Content Placeholder 2">
            <a:extLst>
              <a:ext uri="{FF2B5EF4-FFF2-40B4-BE49-F238E27FC236}">
                <a16:creationId xmlns:a16="http://schemas.microsoft.com/office/drawing/2014/main" id="{DD8C3294-C6F8-154A-8FB9-2101E359524D}"/>
              </a:ext>
            </a:extLst>
          </p:cNvPr>
          <p:cNvSpPr>
            <a:spLocks noGrp="1"/>
          </p:cNvSpPr>
          <p:nvPr>
            <p:ph idx="1"/>
          </p:nvPr>
        </p:nvSpPr>
        <p:spPr/>
        <p:txBody>
          <a:bodyPr/>
          <a:lstStyle/>
          <a:p>
            <a:r>
              <a:rPr lang="en-US" dirty="0"/>
              <a:t>International Trade Equilibrium</a:t>
            </a:r>
          </a:p>
          <a:p>
            <a:r>
              <a:rPr lang="en-US" dirty="0"/>
              <a:t>Patterns of Trade and Gains from Trade</a:t>
            </a:r>
          </a:p>
          <a:p>
            <a:pPr lvl="1"/>
            <a:r>
              <a:rPr lang="en-US" dirty="0"/>
              <a:t>Each country is exporting the good for which it has the comparative advantage.</a:t>
            </a:r>
          </a:p>
          <a:p>
            <a:pPr lvl="2"/>
            <a:r>
              <a:rPr lang="en-US" dirty="0"/>
              <a:t>This confirms that the pattern of trade is determined by comparative advantage.</a:t>
            </a:r>
          </a:p>
          <a:p>
            <a:pPr lvl="3"/>
            <a:r>
              <a:rPr lang="en-US" dirty="0"/>
              <a:t>This is the first lesson of the Ricardian model.</a:t>
            </a:r>
          </a:p>
          <a:p>
            <a:pPr lvl="1"/>
            <a:r>
              <a:rPr lang="en-US" dirty="0"/>
              <a:t>There are gains from trade for both countries.</a:t>
            </a:r>
          </a:p>
          <a:p>
            <a:pPr lvl="3"/>
            <a:r>
              <a:rPr lang="en-US" dirty="0"/>
              <a:t>This is the second lesson of the Ricardian model.</a:t>
            </a:r>
          </a:p>
        </p:txBody>
      </p:sp>
    </p:spTree>
    <p:extLst>
      <p:ext uri="{BB962C8B-B14F-4D97-AF65-F5344CB8AC3E}">
        <p14:creationId xmlns:p14="http://schemas.microsoft.com/office/powerpoint/2010/main" val="910365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3)  Determining the Pattern of International Trade (part 12)</a:t>
            </a:r>
          </a:p>
        </p:txBody>
      </p:sp>
      <p:sp>
        <p:nvSpPr>
          <p:cNvPr id="6" name="Content Placeholder 5"/>
          <p:cNvSpPr>
            <a:spLocks noGrp="1"/>
          </p:cNvSpPr>
          <p:nvPr>
            <p:ph sz="quarter" idx="13"/>
          </p:nvPr>
        </p:nvSpPr>
        <p:spPr>
          <a:xfrm>
            <a:off x="690563" y="1552575"/>
            <a:ext cx="7408862" cy="478106"/>
          </a:xfrm>
        </p:spPr>
        <p:txBody>
          <a:bodyPr>
            <a:normAutofit/>
          </a:bodyPr>
          <a:lstStyle/>
          <a:p>
            <a:r>
              <a:rPr lang="en-US" sz="2600" dirty="0"/>
              <a:t>Solving for Wages Across Countries</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BC4C443D-1893-7047-A6D2-AA56533A10AC}"/>
                  </a:ext>
                </a:extLst>
              </p:cNvPr>
              <p:cNvSpPr>
                <a:spLocks noGrp="1" noChangeArrowheads="1"/>
              </p:cNvSpPr>
              <p:nvPr>
                <p:ph sz="quarter" idx="14"/>
              </p:nvPr>
            </p:nvSpPr>
            <p:spPr bwMode="auto">
              <a:xfrm>
                <a:off x="631886" y="2192894"/>
                <a:ext cx="8060851" cy="1101199"/>
              </a:xfrm>
              <a:prstGeom prst="rect">
                <a:avLst/>
              </a:prstGeom>
              <a:noFill/>
              <a:ln w="9525" algn="ctr">
                <a:noFill/>
                <a:miter lim="800000"/>
                <a:headEnd/>
                <a:tailEnd/>
              </a:ln>
            </p:spPr>
            <p:txBody>
              <a:bodyPr wrap="square">
                <a:spAutoFit/>
              </a:bodyPr>
              <a:lstStyle/>
              <a:p>
                <a:pPr marL="0" indent="0">
                  <a:spcBef>
                    <a:spcPct val="20000"/>
                  </a:spcBef>
                  <a:buNone/>
                </a:pPr>
                <a:r>
                  <a:rPr lang="en-US" sz="2000" b="1" dirty="0">
                    <a:latin typeface="+mj-lt"/>
                  </a:rPr>
                  <a:t>Home Wage = </a:t>
                </a:r>
                <a14:m>
                  <m:oMath xmlns:m="http://schemas.openxmlformats.org/officeDocument/2006/math">
                    <m:d>
                      <m:dPr>
                        <m:begChr m:val="{"/>
                        <m:endChr m:val=""/>
                        <m:ctrlPr>
                          <a:rPr lang="en-US" sz="2000" b="1" i="1" smtClean="0">
                            <a:latin typeface="Cambria Math" panose="02040503050406030204" pitchFamily="18" charset="0"/>
                          </a:rPr>
                        </m:ctrlPr>
                      </m:dPr>
                      <m:e>
                        <m:eqArr>
                          <m:eqArrPr>
                            <m:ctrlPr>
                              <a:rPr lang="en-US" sz="2000" b="1" i="1" smtClean="0">
                                <a:latin typeface="Cambria Math" panose="02040503050406030204" pitchFamily="18" charset="0"/>
                              </a:rPr>
                            </m:ctrlPr>
                          </m:eqArrPr>
                          <m:e>
                            <m:sSub>
                              <m:sSubPr>
                                <m:ctrlPr>
                                  <a:rPr lang="en-US" sz="2000" b="1" i="1" smtClean="0">
                                    <a:latin typeface="Cambria Math" panose="02040503050406030204" pitchFamily="18" charset="0"/>
                                  </a:rPr>
                                </m:ctrlPr>
                              </m:sSubPr>
                              <m:e>
                                <m:r>
                                  <a:rPr lang="en-IN" sz="2000" b="1" i="1" smtClean="0">
                                    <a:latin typeface="Cambria Math" panose="02040503050406030204" pitchFamily="18" charset="0"/>
                                  </a:rPr>
                                  <m:t>𝑴𝑷𝑳</m:t>
                                </m:r>
                              </m:e>
                              <m:sub>
                                <m:r>
                                  <a:rPr lang="en-IN" sz="2000" b="1" i="1" smtClean="0">
                                    <a:latin typeface="Cambria Math" panose="02040503050406030204" pitchFamily="18" charset="0"/>
                                  </a:rPr>
                                  <m:t>𝒘</m:t>
                                </m:r>
                              </m:sub>
                            </m:sSub>
                            <m:r>
                              <a:rPr lang="en-IN" sz="2000" b="1" i="1" smtClean="0">
                                <a:latin typeface="Cambria Math" panose="02040503050406030204" pitchFamily="18" charset="0"/>
                              </a:rPr>
                              <m:t>=</m:t>
                            </m:r>
                            <m:r>
                              <a:rPr lang="en-IN" sz="2000" b="1" i="1" smtClean="0">
                                <a:latin typeface="Cambria Math" panose="02040503050406030204" pitchFamily="18" charset="0"/>
                              </a:rPr>
                              <m:t>𝟒</m:t>
                            </m:r>
                            <m:r>
                              <a:rPr lang="en-IN" sz="2000" b="1" i="1" smtClean="0">
                                <a:latin typeface="Cambria Math" panose="02040503050406030204" pitchFamily="18" charset="0"/>
                              </a:rPr>
                              <m:t> </m:t>
                            </m:r>
                            <m:r>
                              <a:rPr lang="en-IN" sz="2000" b="1" i="0" smtClean="0">
                                <a:latin typeface="Cambria Math" panose="02040503050406030204" pitchFamily="18" charset="0"/>
                              </a:rPr>
                              <m:t>𝐛𝐮𝐬𝐡𝐞𝐥𝐬</m:t>
                            </m:r>
                            <m:r>
                              <a:rPr lang="en-IN" sz="2000" b="1" i="0" smtClean="0">
                                <a:latin typeface="Cambria Math" panose="02040503050406030204" pitchFamily="18" charset="0"/>
                              </a:rPr>
                              <m:t> </m:t>
                            </m:r>
                            <m:r>
                              <a:rPr lang="en-IN" sz="2000" b="1" i="0" smtClean="0">
                                <a:latin typeface="Cambria Math" panose="02040503050406030204" pitchFamily="18" charset="0"/>
                              </a:rPr>
                              <m:t>𝐨𝐟</m:t>
                            </m:r>
                            <m:r>
                              <a:rPr lang="en-IN" sz="2000" b="1" i="0" smtClean="0">
                                <a:latin typeface="Cambria Math" panose="02040503050406030204" pitchFamily="18" charset="0"/>
                              </a:rPr>
                              <m:t> </m:t>
                            </m:r>
                            <m:r>
                              <a:rPr lang="en-IN" sz="2000" b="1" i="0" smtClean="0">
                                <a:latin typeface="Cambria Math" panose="02040503050406030204" pitchFamily="18" charset="0"/>
                              </a:rPr>
                              <m:t>𝐰𝐡𝐞𝐚𝐭</m:t>
                            </m:r>
                          </m:e>
                          <m:e>
                            <m:r>
                              <a:rPr lang="en-IN" sz="2000" b="1" i="1" smtClean="0">
                                <a:latin typeface="Cambria Math" panose="02040503050406030204" pitchFamily="18" charset="0"/>
                              </a:rPr>
                              <m:t>𝒐𝒓</m:t>
                            </m:r>
                          </m:e>
                          <m:e>
                            <m:d>
                              <m:dPr>
                                <m:ctrlPr>
                                  <a:rPr lang="en-US" sz="2000" b="1" i="1" smtClean="0">
                                    <a:latin typeface="Cambria Math" panose="02040503050406030204" pitchFamily="18" charset="0"/>
                                  </a:rPr>
                                </m:ctrlPr>
                              </m:dPr>
                              <m:e>
                                <m:f>
                                  <m:fPr>
                                    <m:type m:val="skw"/>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IN" sz="2000" b="1" i="1">
                                            <a:latin typeface="Cambria Math" panose="02040503050406030204" pitchFamily="18" charset="0"/>
                                          </a:rPr>
                                          <m:t>𝑷</m:t>
                                        </m:r>
                                      </m:e>
                                      <m:sub>
                                        <m:r>
                                          <a:rPr lang="en-IN" sz="2000" b="1" i="1">
                                            <a:latin typeface="Cambria Math" panose="02040503050406030204" pitchFamily="18" charset="0"/>
                                          </a:rPr>
                                          <m:t>𝒘</m:t>
                                        </m:r>
                                      </m:sub>
                                    </m:sSub>
                                  </m:num>
                                  <m:den>
                                    <m:sSub>
                                      <m:sSubPr>
                                        <m:ctrlPr>
                                          <a:rPr lang="en-US" sz="2000" b="1" i="1">
                                            <a:latin typeface="Cambria Math" panose="02040503050406030204" pitchFamily="18" charset="0"/>
                                          </a:rPr>
                                        </m:ctrlPr>
                                      </m:sSubPr>
                                      <m:e>
                                        <m:r>
                                          <a:rPr lang="en-IN" sz="2000" b="1" i="1">
                                            <a:latin typeface="Cambria Math" panose="02040503050406030204" pitchFamily="18" charset="0"/>
                                          </a:rPr>
                                          <m:t>𝑷</m:t>
                                        </m:r>
                                      </m:e>
                                      <m:sub>
                                        <m:r>
                                          <a:rPr lang="en-IN" sz="2000" b="1" i="1">
                                            <a:latin typeface="Cambria Math" panose="02040503050406030204" pitchFamily="18" charset="0"/>
                                          </a:rPr>
                                          <m:t>𝒄</m:t>
                                        </m:r>
                                      </m:sub>
                                    </m:sSub>
                                  </m:den>
                                </m:f>
                              </m:e>
                            </m:d>
                            <m:r>
                              <a:rPr lang="en-IN" sz="2000" b="1" i="1" smtClean="0">
                                <a:latin typeface="Cambria Math" panose="02040503050406030204" pitchFamily="18" charset="0"/>
                              </a:rPr>
                              <m:t>.</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𝑴𝑷𝑳</m:t>
                                </m:r>
                              </m:e>
                              <m:sub>
                                <m:r>
                                  <a:rPr lang="en-IN" sz="2000" b="1" i="1" smtClean="0">
                                    <a:latin typeface="Cambria Math" panose="02040503050406030204" pitchFamily="18" charset="0"/>
                                  </a:rPr>
                                  <m:t>𝒘</m:t>
                                </m:r>
                              </m:sub>
                            </m:sSub>
                            <m:r>
                              <a:rPr lang="en-IN" sz="2000" b="1" i="1" smtClean="0">
                                <a:latin typeface="Cambria Math" panose="02040503050406030204" pitchFamily="18" charset="0"/>
                              </a:rPr>
                              <m:t>= </m:t>
                            </m:r>
                            <m:f>
                              <m:fPr>
                                <m:ctrlPr>
                                  <a:rPr lang="en-IN" sz="2000" b="1" i="1" smtClean="0">
                                    <a:latin typeface="Cambria Math" panose="02040503050406030204" pitchFamily="18" charset="0"/>
                                  </a:rPr>
                                </m:ctrlPr>
                              </m:fPr>
                              <m:num>
                                <m:r>
                                  <a:rPr lang="en-IN" sz="2000" b="1" i="1" smtClean="0">
                                    <a:latin typeface="Cambria Math" panose="02040503050406030204" pitchFamily="18" charset="0"/>
                                  </a:rPr>
                                  <m:t>𝟖</m:t>
                                </m:r>
                              </m:num>
                              <m:den>
                                <m:r>
                                  <a:rPr lang="en-IN" sz="2000" b="1" i="1" smtClean="0">
                                    <a:latin typeface="Cambria Math" panose="02040503050406030204" pitchFamily="18" charset="0"/>
                                  </a:rPr>
                                  <m:t>𝟑</m:t>
                                </m:r>
                              </m:den>
                            </m:f>
                            <m:r>
                              <a:rPr lang="en-IN" sz="2000" b="1" i="1" smtClean="0">
                                <a:latin typeface="Cambria Math" panose="02040503050406030204" pitchFamily="18" charset="0"/>
                              </a:rPr>
                              <m:t> </m:t>
                            </m:r>
                            <m:r>
                              <a:rPr lang="en-IN" sz="2000" b="1" i="0" smtClean="0">
                                <a:latin typeface="Cambria Math" panose="02040503050406030204" pitchFamily="18" charset="0"/>
                              </a:rPr>
                              <m:t>𝐲𝐚𝐫𝐝</m:t>
                            </m:r>
                            <m:r>
                              <a:rPr lang="en-IN" sz="2000" b="1" i="0" smtClean="0">
                                <a:latin typeface="Cambria Math" panose="02040503050406030204" pitchFamily="18" charset="0"/>
                              </a:rPr>
                              <m:t> </m:t>
                            </m:r>
                            <m:r>
                              <a:rPr lang="en-IN" sz="2000" b="1" i="0" smtClean="0">
                                <a:latin typeface="Cambria Math" panose="02040503050406030204" pitchFamily="18" charset="0"/>
                              </a:rPr>
                              <m:t>𝐨𝐟</m:t>
                            </m:r>
                            <m:r>
                              <a:rPr lang="en-IN" sz="2000" b="1" i="0" smtClean="0">
                                <a:latin typeface="Cambria Math" panose="02040503050406030204" pitchFamily="18" charset="0"/>
                              </a:rPr>
                              <m:t> </m:t>
                            </m:r>
                            <m:r>
                              <a:rPr lang="en-IN" sz="2000" b="1" i="0" smtClean="0">
                                <a:latin typeface="Cambria Math" panose="02040503050406030204" pitchFamily="18" charset="0"/>
                              </a:rPr>
                              <m:t>𝐜𝐥𝐨𝐭𝐡</m:t>
                            </m:r>
                          </m:e>
                        </m:eqArr>
                      </m:e>
                    </m:d>
                  </m:oMath>
                </a14:m>
                <a:endParaRPr lang="en-US" sz="2000" b="1" dirty="0">
                  <a:latin typeface="+mj-lt"/>
                </a:endParaRPr>
              </a:p>
            </p:txBody>
          </p:sp>
        </mc:Choice>
        <mc:Fallback xmlns="">
          <p:sp>
            <p:nvSpPr>
              <p:cNvPr id="11" name="Content Placeholder 10">
                <a:extLst>
                  <a:ext uri="{FF2B5EF4-FFF2-40B4-BE49-F238E27FC236}">
                    <a16:creationId xmlns:a16="http://schemas.microsoft.com/office/drawing/2014/main" id="{BC4C443D-1893-7047-A6D2-AA56533A10AC}"/>
                  </a:ext>
                </a:extLst>
              </p:cNvPr>
              <p:cNvSpPr>
                <a:spLocks noGrp="1" noRot="1" noChangeAspect="1" noMove="1" noResize="1" noEditPoints="1" noAdjustHandles="1" noChangeArrowheads="1" noChangeShapeType="1" noTextEdit="1"/>
              </p:cNvSpPr>
              <p:nvPr>
                <p:ph sz="quarter" idx="14"/>
              </p:nvPr>
            </p:nvSpPr>
            <p:spPr bwMode="auto">
              <a:xfrm>
                <a:off x="631886" y="2192894"/>
                <a:ext cx="8060851" cy="1101199"/>
              </a:xfrm>
              <a:prstGeom prst="rect">
                <a:avLst/>
              </a:prstGeom>
              <a:blipFill>
                <a:blip r:embed="rId2"/>
                <a:stretch>
                  <a:fillRect l="-832" b="-7222"/>
                </a:stretch>
              </a:blipFill>
              <a:ln w="9525" algn="ctr">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4B6A3438-A49B-D045-9A99-8BE203C22A8E}"/>
                  </a:ext>
                </a:extLst>
              </p:cNvPr>
              <p:cNvSpPr txBox="1">
                <a:spLocks noGrp="1"/>
              </p:cNvSpPr>
              <p:nvPr>
                <p:ph sz="quarter" idx="15"/>
              </p:nvPr>
            </p:nvSpPr>
            <p:spPr>
              <a:xfrm>
                <a:off x="811213" y="3502025"/>
                <a:ext cx="7340600" cy="1239763"/>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r>
                        <a:rPr lang="en-IN" sz="2000" b="1" i="0" smtClean="0">
                          <a:latin typeface="Cambria Math" panose="02040503050406030204" pitchFamily="18" charset="0"/>
                        </a:rPr>
                        <m:t>𝐅𝐨𝐫𝐞𝐢𝐠𝐧</m:t>
                      </m:r>
                      <m:r>
                        <a:rPr lang="en-IN" sz="2000" b="1" i="0" smtClean="0">
                          <a:latin typeface="Cambria Math" panose="02040503050406030204" pitchFamily="18" charset="0"/>
                        </a:rPr>
                        <m:t> </m:t>
                      </m:r>
                      <m:r>
                        <a:rPr lang="en-IN" sz="2000" b="1" i="0" smtClean="0">
                          <a:latin typeface="Cambria Math" panose="02040503050406030204" pitchFamily="18" charset="0"/>
                        </a:rPr>
                        <m:t>𝐖𝐚𝐠𝐞</m:t>
                      </m:r>
                      <m:r>
                        <a:rPr lang="en-IN" sz="2000" b="1" i="1" smtClean="0">
                          <a:latin typeface="Cambria Math" panose="02040503050406030204" pitchFamily="18" charset="0"/>
                        </a:rPr>
                        <m:t>=</m:t>
                      </m:r>
                      <m:d>
                        <m:dPr>
                          <m:begChr m:val="{"/>
                          <m:endChr m:val=""/>
                          <m:ctrlPr>
                            <a:rPr lang="en-IN" sz="2000" b="1" i="1" smtClean="0">
                              <a:latin typeface="Cambria Math" panose="02040503050406030204" pitchFamily="18" charset="0"/>
                            </a:rPr>
                          </m:ctrlPr>
                        </m:dPr>
                        <m:e>
                          <m:eqArr>
                            <m:eqArrPr>
                              <m:ctrlPr>
                                <a:rPr lang="en-IN" sz="2000" b="1" i="1" smtClean="0">
                                  <a:latin typeface="Cambria Math" panose="02040503050406030204" pitchFamily="18" charset="0"/>
                                </a:rPr>
                              </m:ctrlPr>
                            </m:eqArrPr>
                            <m:e>
                              <m:r>
                                <a:rPr lang="en-IN" sz="2000" b="1" i="1" smtClean="0">
                                  <a:latin typeface="Cambria Math" panose="02040503050406030204" pitchFamily="18" charset="0"/>
                                </a:rPr>
                                <m:t>(</m:t>
                              </m:r>
                              <m:f>
                                <m:fPr>
                                  <m:type m:val="lin"/>
                                  <m:ctrlPr>
                                    <a:rPr lang="en-IN" sz="2000" b="1" i="1" smtClean="0">
                                      <a:latin typeface="Cambria Math" panose="02040503050406030204" pitchFamily="18" charset="0"/>
                                    </a:rPr>
                                  </m:ctrlPr>
                                </m:fPr>
                                <m:num>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𝑷</m:t>
                                      </m:r>
                                    </m:e>
                                    <m:sub>
                                      <m:r>
                                        <a:rPr lang="en-IN" sz="2000" b="1" i="1" smtClean="0">
                                          <a:latin typeface="Cambria Math" panose="02040503050406030204" pitchFamily="18" charset="0"/>
                                        </a:rPr>
                                        <m:t>𝑪</m:t>
                                      </m:r>
                                    </m:sub>
                                    <m:sup>
                                      <m:r>
                                        <a:rPr lang="en-IN" sz="2000" b="1" i="1" smtClean="0">
                                          <a:latin typeface="Cambria Math" panose="02040503050406030204" pitchFamily="18" charset="0"/>
                                        </a:rPr>
                                        <m:t>∗</m:t>
                                      </m:r>
                                    </m:sup>
                                  </m:sSubSup>
                                </m:num>
                                <m:den>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𝑷</m:t>
                                      </m:r>
                                    </m:e>
                                    <m:sub>
                                      <m:r>
                                        <a:rPr lang="en-IN" sz="2000" b="1" i="1" smtClean="0">
                                          <a:latin typeface="Cambria Math" panose="02040503050406030204" pitchFamily="18" charset="0"/>
                                        </a:rPr>
                                        <m:t>𝑾</m:t>
                                      </m:r>
                                    </m:sub>
                                    <m:sup>
                                      <m:r>
                                        <a:rPr lang="en-IN" sz="2000" b="1" i="1" smtClean="0">
                                          <a:latin typeface="Cambria Math" panose="02040503050406030204" pitchFamily="18" charset="0"/>
                                        </a:rPr>
                                        <m:t>∗</m:t>
                                      </m:r>
                                    </m:sup>
                                  </m:sSubSup>
                                  <m:r>
                                    <a:rPr lang="en-IN" sz="2000" b="1" i="1" smtClean="0">
                                      <a:latin typeface="Cambria Math" panose="02040503050406030204" pitchFamily="18" charset="0"/>
                                    </a:rPr>
                                    <m:t>)</m:t>
                                  </m:r>
                                  <m:r>
                                    <a:rPr lang="en-IN" sz="2000" b="1" i="1" smtClean="0">
                                      <a:latin typeface="Cambria Math" panose="02040503050406030204" pitchFamily="18" charset="0"/>
                                      <a:ea typeface="Cambria Math" panose="02040503050406030204" pitchFamily="18" charset="0"/>
                                    </a:rPr>
                                    <m:t>∙</m:t>
                                  </m:r>
                                  <m:r>
                                    <a:rPr lang="en-IN" sz="2000" b="1" i="1" smtClean="0">
                                      <a:latin typeface="Cambria Math" panose="02040503050406030204" pitchFamily="18" charset="0"/>
                                      <a:ea typeface="Cambria Math" panose="02040503050406030204" pitchFamily="18" charset="0"/>
                                    </a:rPr>
                                    <m:t>𝑴𝑷</m:t>
                                  </m:r>
                                  <m:sSubSup>
                                    <m:sSubSupPr>
                                      <m:ctrlPr>
                                        <a:rPr lang="en-IN" sz="2000" b="1" i="1" smtClean="0">
                                          <a:latin typeface="Cambria Math" panose="02040503050406030204" pitchFamily="18" charset="0"/>
                                          <a:ea typeface="Cambria Math" panose="02040503050406030204" pitchFamily="18" charset="0"/>
                                        </a:rPr>
                                      </m:ctrlPr>
                                    </m:sSubSupPr>
                                    <m:e>
                                      <m:r>
                                        <a:rPr lang="en-IN" sz="2000" b="1" i="1" smtClean="0">
                                          <a:latin typeface="Cambria Math" panose="02040503050406030204" pitchFamily="18" charset="0"/>
                                          <a:ea typeface="Cambria Math" panose="02040503050406030204" pitchFamily="18" charset="0"/>
                                        </a:rPr>
                                        <m:t>𝑳</m:t>
                                      </m:r>
                                    </m:e>
                                    <m:sub>
                                      <m:r>
                                        <a:rPr lang="en-IN" sz="2000" b="1" i="1" smtClean="0">
                                          <a:latin typeface="Cambria Math" panose="02040503050406030204" pitchFamily="18" charset="0"/>
                                          <a:ea typeface="Cambria Math" panose="02040503050406030204" pitchFamily="18" charset="0"/>
                                        </a:rPr>
                                        <m:t>𝑪</m:t>
                                      </m:r>
                                    </m:sub>
                                    <m:sup>
                                      <m:r>
                                        <a:rPr lang="en-IN" sz="2000" b="1" i="1" smtClean="0">
                                          <a:latin typeface="Cambria Math" panose="02040503050406030204" pitchFamily="18" charset="0"/>
                                          <a:ea typeface="Cambria Math" panose="02040503050406030204" pitchFamily="18" charset="0"/>
                                        </a:rPr>
                                        <m:t>∗</m:t>
                                      </m:r>
                                    </m:sup>
                                  </m:sSubSup>
                                  <m:r>
                                    <a:rPr lang="en-IN" sz="2000" b="1" i="1" smtClean="0">
                                      <a:latin typeface="Cambria Math" panose="02040503050406030204" pitchFamily="18" charset="0"/>
                                      <a:ea typeface="Cambria Math" panose="02040503050406030204" pitchFamily="18" charset="0"/>
                                    </a:rPr>
                                    <m:t>=</m:t>
                                  </m:r>
                                  <m:f>
                                    <m:fPr>
                                      <m:ctrlPr>
                                        <a:rPr lang="en-IN" sz="2000" b="1" i="1" smtClean="0">
                                          <a:latin typeface="Cambria Math" panose="02040503050406030204" pitchFamily="18" charset="0"/>
                                          <a:ea typeface="Cambria Math" panose="02040503050406030204" pitchFamily="18" charset="0"/>
                                        </a:rPr>
                                      </m:ctrlPr>
                                    </m:fPr>
                                    <m:num>
                                      <m:r>
                                        <a:rPr lang="en-IN" sz="2000" b="1" i="1" smtClean="0">
                                          <a:latin typeface="Cambria Math" panose="02040503050406030204" pitchFamily="18" charset="0"/>
                                          <a:ea typeface="Cambria Math" panose="02040503050406030204" pitchFamily="18" charset="0"/>
                                        </a:rPr>
                                        <m:t>𝟑</m:t>
                                      </m:r>
                                    </m:num>
                                    <m:den>
                                      <m:r>
                                        <a:rPr lang="en-IN" sz="2000" b="1" i="1" smtClean="0">
                                          <a:latin typeface="Cambria Math" panose="02040503050406030204" pitchFamily="18" charset="0"/>
                                          <a:ea typeface="Cambria Math" panose="02040503050406030204" pitchFamily="18" charset="0"/>
                                        </a:rPr>
                                        <m:t>𝟐</m:t>
                                      </m:r>
                                    </m:den>
                                  </m:f>
                                  <m:r>
                                    <a:rPr lang="en-IN" sz="2000" b="1" i="1" smtClean="0">
                                      <a:latin typeface="Cambria Math" panose="02040503050406030204" pitchFamily="18" charset="0"/>
                                      <a:ea typeface="Cambria Math" panose="02040503050406030204" pitchFamily="18" charset="0"/>
                                    </a:rPr>
                                    <m:t> </m:t>
                                  </m:r>
                                  <m:r>
                                    <a:rPr lang="en-IN" sz="2000" b="1" i="0" smtClean="0">
                                      <a:latin typeface="Cambria Math" panose="02040503050406030204" pitchFamily="18" charset="0"/>
                                      <a:ea typeface="Cambria Math" panose="02040503050406030204" pitchFamily="18" charset="0"/>
                                    </a:rPr>
                                    <m:t>𝐛𝐮𝐬𝐡𝐞𝐥𝐬</m:t>
                                  </m:r>
                                  <m:r>
                                    <a:rPr lang="en-IN" sz="2000" b="1" i="0" smtClean="0">
                                      <a:latin typeface="Cambria Math" panose="02040503050406030204" pitchFamily="18" charset="0"/>
                                      <a:ea typeface="Cambria Math" panose="02040503050406030204" pitchFamily="18" charset="0"/>
                                    </a:rPr>
                                    <m:t> </m:t>
                                  </m:r>
                                  <m:r>
                                    <a:rPr lang="en-IN" sz="2000" b="1" i="0" smtClean="0">
                                      <a:latin typeface="Cambria Math" panose="02040503050406030204" pitchFamily="18" charset="0"/>
                                      <a:ea typeface="Cambria Math" panose="02040503050406030204" pitchFamily="18" charset="0"/>
                                    </a:rPr>
                                    <m:t>𝐨𝐟</m:t>
                                  </m:r>
                                  <m:r>
                                    <a:rPr lang="en-IN" sz="2000" b="1" i="0" smtClean="0">
                                      <a:latin typeface="Cambria Math" panose="02040503050406030204" pitchFamily="18" charset="0"/>
                                      <a:ea typeface="Cambria Math" panose="02040503050406030204" pitchFamily="18" charset="0"/>
                                    </a:rPr>
                                    <m:t> </m:t>
                                  </m:r>
                                  <m:r>
                                    <a:rPr lang="en-IN" sz="2000" b="1" i="0" smtClean="0">
                                      <a:latin typeface="Cambria Math" panose="02040503050406030204" pitchFamily="18" charset="0"/>
                                      <a:ea typeface="Cambria Math" panose="02040503050406030204" pitchFamily="18" charset="0"/>
                                    </a:rPr>
                                    <m:t>𝐰𝐡𝐞𝐚𝐭</m:t>
                                  </m:r>
                                </m:den>
                              </m:f>
                            </m:e>
                            <m:e>
                              <m:r>
                                <a:rPr lang="en-IN" sz="2000" b="1" i="1" smtClean="0">
                                  <a:latin typeface="Cambria Math" panose="02040503050406030204" pitchFamily="18" charset="0"/>
                                </a:rPr>
                                <m:t>𝒐𝒓</m:t>
                              </m:r>
                            </m:e>
                            <m:e>
                              <m:r>
                                <a:rPr lang="en-IN" sz="2000" b="1" i="1" smtClean="0">
                                  <a:latin typeface="Cambria Math" panose="02040503050406030204" pitchFamily="18" charset="0"/>
                                </a:rPr>
                                <m:t>𝑴𝑷</m:t>
                              </m:r>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𝑳</m:t>
                                  </m:r>
                                </m:e>
                                <m:sub>
                                  <m:r>
                                    <a:rPr lang="en-IN" sz="2000" b="1" i="1" smtClean="0">
                                      <a:latin typeface="Cambria Math" panose="02040503050406030204" pitchFamily="18" charset="0"/>
                                    </a:rPr>
                                    <m:t>𝑪</m:t>
                                  </m:r>
                                </m:sub>
                                <m:sup>
                                  <m:r>
                                    <a:rPr lang="en-IN" sz="2000" b="1" i="1" smtClean="0">
                                      <a:latin typeface="Cambria Math" panose="02040503050406030204" pitchFamily="18" charset="0"/>
                                    </a:rPr>
                                    <m:t>∗</m:t>
                                  </m:r>
                                </m:sup>
                              </m:sSubSup>
                              <m:r>
                                <a:rPr lang="en-IN" sz="2000" b="1" i="1" smtClean="0">
                                  <a:latin typeface="Cambria Math" panose="02040503050406030204" pitchFamily="18" charset="0"/>
                                </a:rPr>
                                <m:t>=</m:t>
                              </m:r>
                              <m:r>
                                <a:rPr lang="en-IN" sz="2000" b="1" i="1" smtClean="0">
                                  <a:latin typeface="Cambria Math" panose="02040503050406030204" pitchFamily="18" charset="0"/>
                                </a:rPr>
                                <m:t>𝟏</m:t>
                              </m:r>
                              <m:r>
                                <a:rPr lang="en-IN" sz="2000" b="1" i="1" smtClean="0">
                                  <a:latin typeface="Cambria Math" panose="02040503050406030204" pitchFamily="18" charset="0"/>
                                </a:rPr>
                                <m:t> </m:t>
                              </m:r>
                              <m:r>
                                <a:rPr lang="en-IN" sz="2000" b="1" i="0" smtClean="0">
                                  <a:latin typeface="Cambria Math" panose="02040503050406030204" pitchFamily="18" charset="0"/>
                                </a:rPr>
                                <m:t>𝐲𝐚𝐫𝐝</m:t>
                              </m:r>
                              <m:r>
                                <a:rPr lang="en-IN" sz="2000" b="1" i="0" smtClean="0">
                                  <a:latin typeface="Cambria Math" panose="02040503050406030204" pitchFamily="18" charset="0"/>
                                </a:rPr>
                                <m:t> </m:t>
                              </m:r>
                              <m:r>
                                <a:rPr lang="en-IN" sz="2000" b="1" i="0" smtClean="0">
                                  <a:latin typeface="Cambria Math" panose="02040503050406030204" pitchFamily="18" charset="0"/>
                                </a:rPr>
                                <m:t>𝐨𝐟</m:t>
                              </m:r>
                              <m:r>
                                <a:rPr lang="en-IN" sz="2000" b="1" i="0" smtClean="0">
                                  <a:latin typeface="Cambria Math" panose="02040503050406030204" pitchFamily="18" charset="0"/>
                                </a:rPr>
                                <m:t> </m:t>
                              </m:r>
                              <m:r>
                                <a:rPr lang="en-IN" sz="2000" b="1" i="0" smtClean="0">
                                  <a:latin typeface="Cambria Math" panose="02040503050406030204" pitchFamily="18" charset="0"/>
                                </a:rPr>
                                <m:t>𝐜𝐥𝐨𝐭𝐡</m:t>
                              </m:r>
                            </m:e>
                          </m:eqArr>
                        </m:e>
                      </m:d>
                    </m:oMath>
                  </m:oMathPara>
                </a14:m>
                <a:endParaRPr lang="en-IN" sz="2000" dirty="0">
                  <a:latin typeface="Arial" panose="020B0604020202020204" pitchFamily="34" charset="0"/>
                </a:endParaRPr>
              </a:p>
            </p:txBody>
          </p:sp>
        </mc:Choice>
        <mc:Fallback xmlns="">
          <p:sp>
            <p:nvSpPr>
              <p:cNvPr id="12" name="Content Placeholder 11">
                <a:extLst>
                  <a:ext uri="{FF2B5EF4-FFF2-40B4-BE49-F238E27FC236}">
                    <a16:creationId xmlns="" xmlns:a16="http://schemas.microsoft.com/office/drawing/2014/main" xmlns:a14="http://schemas.microsoft.com/office/drawing/2010/main" id="{4B6A3438-A49B-D045-9A99-8BE203C22A8E}"/>
                  </a:ext>
                </a:extLst>
              </p:cNvPr>
              <p:cNvSpPr txBox="1">
                <a:spLocks noGrp="1" noRot="1" noChangeAspect="1" noMove="1" noResize="1" noEditPoints="1" noAdjustHandles="1" noChangeArrowheads="1" noChangeShapeType="1" noTextEdit="1"/>
              </p:cNvSpPr>
              <p:nvPr>
                <p:ph sz="quarter" idx="15"/>
              </p:nvPr>
            </p:nvSpPr>
            <p:spPr>
              <a:xfrm>
                <a:off x="811213" y="3502025"/>
                <a:ext cx="7340600" cy="1239763"/>
              </a:xfrm>
              <a:prstGeom prst="rect">
                <a:avLst/>
              </a:prstGeom>
              <a:blipFill rotWithShape="1">
                <a:blip r:embed="rId3"/>
                <a:stretch>
                  <a:fillRect/>
                </a:stretch>
              </a:blipFill>
            </p:spPr>
            <p:txBody>
              <a:bodyPr/>
              <a:lstStyle/>
              <a:p>
                <a:r>
                  <a:rPr lang="en-US">
                    <a:noFill/>
                  </a:rPr>
                  <a:t> </a:t>
                </a:r>
              </a:p>
            </p:txBody>
          </p:sp>
        </mc:Fallback>
      </mc:AlternateContent>
      <p:sp>
        <p:nvSpPr>
          <p:cNvPr id="9" name="Content Placeholder 8"/>
          <p:cNvSpPr>
            <a:spLocks noGrp="1"/>
          </p:cNvSpPr>
          <p:nvPr>
            <p:ph sz="quarter" idx="16"/>
          </p:nvPr>
        </p:nvSpPr>
        <p:spPr>
          <a:xfrm>
            <a:off x="846000" y="4825062"/>
            <a:ext cx="7870488" cy="1540111"/>
          </a:xfrm>
        </p:spPr>
        <p:txBody>
          <a:bodyPr>
            <a:normAutofit fontScale="70000" lnSpcReduction="20000"/>
          </a:bodyPr>
          <a:lstStyle/>
          <a:p>
            <a:pPr>
              <a:lnSpc>
                <a:spcPct val="120000"/>
              </a:lnSpc>
              <a:spcBef>
                <a:spcPts val="624"/>
              </a:spcBef>
            </a:pPr>
            <a:r>
              <a:rPr lang="en-US" sz="3400" dirty="0"/>
              <a:t>Absolute Advantage</a:t>
            </a:r>
          </a:p>
          <a:p>
            <a:pPr marL="685800">
              <a:lnSpc>
                <a:spcPct val="120000"/>
              </a:lnSpc>
              <a:spcBef>
                <a:spcPts val="624"/>
              </a:spcBef>
              <a:buFont typeface="Arial" panose="020B0604020202020204" pitchFamily="34" charset="0"/>
              <a:buChar char="–"/>
            </a:pPr>
            <a:r>
              <a:rPr lang="en-US" b="0" dirty="0"/>
              <a:t>As our example shows, wages are determined by absolute advantage. In contrast, the pattern of trade in the Ricardian model is determined by comparative advantage.</a:t>
            </a:r>
          </a:p>
        </p:txBody>
      </p:sp>
    </p:spTree>
    <p:extLst>
      <p:ext uri="{BB962C8B-B14F-4D97-AF65-F5344CB8AC3E}">
        <p14:creationId xmlns:p14="http://schemas.microsoft.com/office/powerpoint/2010/main" val="1370386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1)</a:t>
            </a:r>
          </a:p>
        </p:txBody>
      </p:sp>
      <p:sp>
        <p:nvSpPr>
          <p:cNvPr id="10" name="Content Placeholder 9"/>
          <p:cNvSpPr>
            <a:spLocks noGrp="1"/>
          </p:cNvSpPr>
          <p:nvPr>
            <p:ph sz="half" idx="1"/>
          </p:nvPr>
        </p:nvSpPr>
        <p:spPr>
          <a:xfrm>
            <a:off x="445324" y="1445822"/>
            <a:ext cx="4841052" cy="620486"/>
          </a:xfrm>
        </p:spPr>
        <p:txBody>
          <a:bodyPr>
            <a:normAutofit/>
          </a:bodyPr>
          <a:lstStyle/>
          <a:p>
            <a:r>
              <a:rPr lang="en-US" sz="2400" dirty="0"/>
              <a:t>Home Export Supply Curve</a:t>
            </a:r>
          </a:p>
        </p:txBody>
      </p:sp>
      <p:sp>
        <p:nvSpPr>
          <p:cNvPr id="11" name="Content Placeholder 10"/>
          <p:cNvSpPr>
            <a:spLocks noGrp="1"/>
          </p:cNvSpPr>
          <p:nvPr>
            <p:ph sz="half" idx="2"/>
          </p:nvPr>
        </p:nvSpPr>
        <p:spPr>
          <a:xfrm>
            <a:off x="6438900" y="1572221"/>
            <a:ext cx="2457450" cy="4536373"/>
          </a:xfrm>
        </p:spPr>
        <p:txBody>
          <a:bodyPr>
            <a:normAutofit/>
          </a:bodyPr>
          <a:lstStyle/>
          <a:p>
            <a:pPr marL="0" indent="0">
              <a:buNone/>
            </a:pPr>
            <a:r>
              <a:rPr lang="en-US" sz="2000" dirty="0"/>
              <a:t>Home Export Supply</a:t>
            </a:r>
            <a:r>
              <a:rPr lang="en-US" sz="2000" b="0" dirty="0"/>
              <a:t> Panel (a) repeats Figure 2-5, showing the trade equilibrium for Home with production at point </a:t>
            </a:r>
            <a:r>
              <a:rPr lang="en-US" sz="2000" b="0" i="1" dirty="0"/>
              <a:t>B</a:t>
            </a:r>
            <a:r>
              <a:rPr lang="en-US" sz="2000" b="0" dirty="0"/>
              <a:t> and consumption at point </a:t>
            </a:r>
            <a:r>
              <a:rPr lang="en-US" sz="2000" b="0" i="1" dirty="0"/>
              <a:t>C</a:t>
            </a:r>
            <a:r>
              <a:rPr lang="en-US" sz="2000" b="0" dirty="0"/>
              <a:t>. Panel (b) shows the home export supply of wheat.</a:t>
            </a:r>
          </a:p>
        </p:txBody>
      </p:sp>
      <p:pic>
        <p:nvPicPr>
          <p:cNvPr id="14" name="Picture Placeholder 5" descr="Two graphs compare the home production and consumption with home export supply of wheat. Graph (a) shows home production and consumption. It plots wheat, Q subscript W, measured in bushels along the horizontal axis and cloth, Q subscript C measured in yards along the vertical axi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10;Graph (b) shows the home export supply of wheat. It plots Relative price of wheat, P W over P C, versus quantity of Wheat, Q W, in bushels. The curve for Home export supply runs parallel to the horizontal axis from (0, one-half) to (50, one-half) and then slopes positively, passing through the point (60, two-thirds). The point A dash corresponds to one-half on the vertical axis, B dash corresponds to (50, one-half), and C dash corresponds to (60, two-thirds). A label pointing to the distance between 50 and 100 on the horizontal axis in graph (a) and the point 50 on the horizontal axis in graph (b) reads, (1) Home exports 0 to 50 bushels of wheat at a relative price of one-half and ellipsis. Another label pointing to the distance between 40 and 100 on the horizontal axis in graph (a) and the point 60 on the horizontal axis in graph (b) reads, (2) ellipsis 60 bushels of wheat at a relative price of two-thirds.">
            <a:extLst>
              <a:ext uri="{FF2B5EF4-FFF2-40B4-BE49-F238E27FC236}">
                <a16:creationId xmlns:a16="http://schemas.microsoft.com/office/drawing/2014/main" id="{BFD107EC-BA94-8B4E-ACF0-18061AC25B91}"/>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316275" y="2553706"/>
            <a:ext cx="5877137" cy="3457138"/>
          </a:xfrm>
          <a:prstGeom prst="rect">
            <a:avLst/>
          </a:prstGeom>
        </p:spPr>
      </p:pic>
      <p:sp>
        <p:nvSpPr>
          <p:cNvPr id="13" name="Content Placeholder 12"/>
          <p:cNvSpPr>
            <a:spLocks noGrp="1"/>
          </p:cNvSpPr>
          <p:nvPr>
            <p:ph sz="quarter" idx="11"/>
          </p:nvPr>
        </p:nvSpPr>
        <p:spPr>
          <a:xfrm>
            <a:off x="521766" y="2066308"/>
            <a:ext cx="2742602" cy="343786"/>
          </a:xfrm>
        </p:spPr>
        <p:txBody>
          <a:bodyPr>
            <a:normAutofit/>
          </a:bodyPr>
          <a:lstStyle/>
          <a:p>
            <a:pPr marL="0" indent="0">
              <a:buNone/>
            </a:pPr>
            <a:r>
              <a:rPr lang="en-US" sz="1600" b="0" dirty="0"/>
              <a:t>FIGURE 2-10 (1 of 2)</a:t>
            </a:r>
          </a:p>
        </p:txBody>
      </p:sp>
    </p:spTree>
    <p:extLst>
      <p:ext uri="{BB962C8B-B14F-4D97-AF65-F5344CB8AC3E}">
        <p14:creationId xmlns:p14="http://schemas.microsoft.com/office/powerpoint/2010/main" val="3287185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2)</a:t>
            </a:r>
          </a:p>
        </p:txBody>
      </p:sp>
      <p:sp>
        <p:nvSpPr>
          <p:cNvPr id="10" name="Content Placeholder 9"/>
          <p:cNvSpPr>
            <a:spLocks noGrp="1"/>
          </p:cNvSpPr>
          <p:nvPr>
            <p:ph sz="half" idx="1"/>
          </p:nvPr>
        </p:nvSpPr>
        <p:spPr>
          <a:xfrm>
            <a:off x="445323" y="1445822"/>
            <a:ext cx="4660077" cy="502331"/>
          </a:xfrm>
        </p:spPr>
        <p:txBody>
          <a:bodyPr>
            <a:normAutofit/>
          </a:bodyPr>
          <a:lstStyle/>
          <a:p>
            <a:r>
              <a:rPr lang="en-US" sz="2400" dirty="0"/>
              <a:t>Home Export Supply Curve</a:t>
            </a:r>
          </a:p>
        </p:txBody>
      </p:sp>
      <mc:AlternateContent xmlns:mc="http://schemas.openxmlformats.org/markup-compatibility/2006" xmlns:a14="http://schemas.microsoft.com/office/drawing/2010/main">
        <mc:Choice Requires="a14">
          <p:sp>
            <p:nvSpPr>
              <p:cNvPr id="11" name="Content Placeholder 10"/>
              <p:cNvSpPr>
                <a:spLocks noGrp="1"/>
              </p:cNvSpPr>
              <p:nvPr>
                <p:ph sz="half" idx="2"/>
              </p:nvPr>
            </p:nvSpPr>
            <p:spPr>
              <a:xfrm>
                <a:off x="6472176" y="1520043"/>
                <a:ext cx="2278299" cy="4728357"/>
              </a:xfrm>
            </p:spPr>
            <p:txBody>
              <a:bodyPr>
                <a:normAutofit/>
              </a:bodyPr>
              <a:lstStyle/>
              <a:p>
                <a:pPr marL="0" indent="0">
                  <a:buNone/>
                </a:pPr>
                <a:r>
                  <a:rPr lang="en-US" sz="2000" dirty="0">
                    <a:latin typeface="+mn-lt"/>
                  </a:rPr>
                  <a:t>Home Export Supply (continued) </a:t>
                </a:r>
                <a:r>
                  <a:rPr lang="en-US" sz="2000" b="0" dirty="0">
                    <a:latin typeface="+mn-lt"/>
                  </a:rPr>
                  <a:t>For relative prices above </a:t>
                </a:r>
                <a14:m>
                  <m:oMath xmlns:m="http://schemas.openxmlformats.org/officeDocument/2006/math">
                    <m:f>
                      <m:fPr>
                        <m:ctrlPr>
                          <a:rPr lang="en-US" sz="2000" b="0" i="1">
                            <a:latin typeface="Cambria Math" panose="02040503050406030204" pitchFamily="18" charset="0"/>
                          </a:rPr>
                        </m:ctrlPr>
                      </m:fPr>
                      <m:num>
                        <m:r>
                          <a:rPr lang="en-US" sz="2000" b="0">
                            <a:latin typeface="Cambria Math" panose="02040503050406030204" pitchFamily="18" charset="0"/>
                          </a:rPr>
                          <m:t>1</m:t>
                        </m:r>
                      </m:num>
                      <m:den>
                        <m:r>
                          <a:rPr lang="en-US" sz="2000" b="0">
                            <a:latin typeface="Cambria Math" panose="02040503050406030204" pitchFamily="18" charset="0"/>
                          </a:rPr>
                          <m:t>2</m:t>
                        </m:r>
                      </m:den>
                    </m:f>
                  </m:oMath>
                </a14:m>
                <a:r>
                  <a:rPr lang="en-US" sz="2000" b="0" dirty="0">
                    <a:latin typeface="+mn-lt"/>
                  </a:rPr>
                  <a:t>, Home exports more than 50 bushels, along the segment </a:t>
                </a:r>
                <a:r>
                  <a:rPr lang="en-US" sz="2000" b="0" i="1" dirty="0">
                    <a:latin typeface="+mn-lt"/>
                  </a:rPr>
                  <a:t>B</a:t>
                </a:r>
                <a:r>
                  <a:rPr lang="en-US" sz="2000" b="0" dirty="0">
                    <a:latin typeface="+mn-lt"/>
                    <a:sym typeface="Symbol" pitchFamily="18" charset="2"/>
                  </a:rPr>
                  <a:t></a:t>
                </a:r>
                <a:r>
                  <a:rPr lang="en-US" sz="2000" b="0" i="1" dirty="0">
                    <a:latin typeface="+mn-lt"/>
                  </a:rPr>
                  <a:t>C</a:t>
                </a:r>
                <a:r>
                  <a:rPr lang="en-US" sz="2000" b="0" dirty="0">
                    <a:latin typeface="+mn-lt"/>
                    <a:sym typeface="Symbol" pitchFamily="18" charset="2"/>
                  </a:rPr>
                  <a:t></a:t>
                </a:r>
                <a:r>
                  <a:rPr lang="en-US" sz="2000" b="0" dirty="0">
                    <a:latin typeface="+mn-lt"/>
                  </a:rPr>
                  <a:t>. For example, at the relative price of </a:t>
                </a:r>
                <a14:m>
                  <m:oMath xmlns:m="http://schemas.openxmlformats.org/officeDocument/2006/math">
                    <m:f>
                      <m:fPr>
                        <m:ctrlPr>
                          <a:rPr lang="en-US" sz="2000" b="0" i="1">
                            <a:latin typeface="Cambria Math" panose="02040503050406030204" pitchFamily="18" charset="0"/>
                          </a:rPr>
                        </m:ctrlPr>
                      </m:fPr>
                      <m:num>
                        <m:r>
                          <a:rPr lang="en-US" sz="2000" b="0">
                            <a:latin typeface="Cambria Math" panose="02040503050406030204" pitchFamily="18" charset="0"/>
                          </a:rPr>
                          <m:t>2</m:t>
                        </m:r>
                      </m:num>
                      <m:den>
                        <m:r>
                          <a:rPr lang="en-US" sz="2000" b="0">
                            <a:latin typeface="Cambria Math" panose="02040503050406030204" pitchFamily="18" charset="0"/>
                          </a:rPr>
                          <m:t>3</m:t>
                        </m:r>
                      </m:den>
                    </m:f>
                  </m:oMath>
                </a14:m>
                <a:r>
                  <a:rPr lang="en-US" sz="2000" b="0" dirty="0">
                    <a:latin typeface="+mn-lt"/>
                  </a:rPr>
                  <a:t>, Home exports 60 bushels of wheat.</a:t>
                </a:r>
              </a:p>
            </p:txBody>
          </p:sp>
        </mc:Choice>
        <mc:Fallback xmlns="">
          <p:sp>
            <p:nvSpPr>
              <p:cNvPr id="11" name="Content Placeholder 10"/>
              <p:cNvSpPr>
                <a:spLocks noGrp="1" noRot="1" noChangeAspect="1" noMove="1" noResize="1" noEditPoints="1" noAdjustHandles="1" noChangeArrowheads="1" noChangeShapeType="1" noTextEdit="1"/>
              </p:cNvSpPr>
              <p:nvPr>
                <p:ph sz="half" idx="2"/>
              </p:nvPr>
            </p:nvSpPr>
            <p:spPr>
              <a:xfrm>
                <a:off x="6472176" y="1520043"/>
                <a:ext cx="2278299" cy="4728357"/>
              </a:xfrm>
              <a:blipFill>
                <a:blip r:embed="rId3"/>
                <a:stretch>
                  <a:fillRect l="-2949" t="-515" r="-3753"/>
                </a:stretch>
              </a:blipFill>
            </p:spPr>
            <p:txBody>
              <a:bodyPr/>
              <a:lstStyle/>
              <a:p>
                <a:r>
                  <a:rPr lang="en-US">
                    <a:noFill/>
                  </a:rPr>
                  <a:t> </a:t>
                </a:r>
              </a:p>
            </p:txBody>
          </p:sp>
        </mc:Fallback>
      </mc:AlternateContent>
      <p:pic>
        <p:nvPicPr>
          <p:cNvPr id="12" name="Picture Placeholder 5" descr="Two graphs compare the home production and consumption with home export supply of wheat. Graph (a) shows home production and consumption. It plots wheat, Q subscript W, measured in bushels along the horizontal axis and cloth, Q subscript C measured in yards along the vertical axi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10;Graph (b) shows the home export supply of wheat. It plots Relative price of wheat, P W over P C, versus quantity of Wheat, Q W, in bushels. The curve for Home export supply runs parallel to the horizontal axis from (0, one-half) to (50, one-half) and then slopes positively, passing through the point (60, two-thirds). The point A dash corresponds to one-half on the vertical axis, B dash corresponds to (50, one-half), and C dash corresponds to (60, two-thirds). A label pointing to the distance between 50 and 100 on the horizontal axis in graph (a) and the point 50 on the horizontal axis in graph (b) reads, (1) Home exports 0 to 50 bushels of wheat at a relative price of one-half and ellipsis. Another label pointing to the distance between 40 and 100 on the horizontal axis in graph (a) and the point 60 on the horizontal axis in graph (b) reads, (2) ellipsis 60 bushels of wheat at a relative price of two-thirds.">
            <a:extLst>
              <a:ext uri="{FF2B5EF4-FFF2-40B4-BE49-F238E27FC236}">
                <a16:creationId xmlns:a16="http://schemas.microsoft.com/office/drawing/2014/main" id="{BFD107EC-BA94-8B4E-ACF0-18061AC25B91}"/>
              </a:ext>
            </a:extLst>
          </p:cNvPr>
          <p:cNvPicPr>
            <a:picLocks noGrp="1" noChangeAspect="1"/>
          </p:cNvPicPr>
          <p:nvPr>
            <p:ph sz="quarter" idx="10"/>
          </p:nvPr>
        </p:nvPicPr>
        <p:blipFill>
          <a:blip r:embed="rId4" cstate="print">
            <a:extLst>
              <a:ext uri="{28A0092B-C50C-407E-A947-70E740481C1C}">
                <a14:useLocalDpi xmlns:a14="http://schemas.microsoft.com/office/drawing/2010/main" val="0"/>
              </a:ext>
            </a:extLst>
          </a:blip>
          <a:stretch>
            <a:fillRect/>
          </a:stretch>
        </p:blipFill>
        <p:spPr>
          <a:xfrm>
            <a:off x="393525" y="2478599"/>
            <a:ext cx="5877137" cy="3457138"/>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2-10 (2 of 2)</a:t>
            </a:r>
          </a:p>
        </p:txBody>
      </p:sp>
    </p:spTree>
    <p:extLst>
      <p:ext uri="{BB962C8B-B14F-4D97-AF65-F5344CB8AC3E}">
        <p14:creationId xmlns:p14="http://schemas.microsoft.com/office/powerpoint/2010/main" val="873168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3)</a:t>
            </a:r>
          </a:p>
        </p:txBody>
      </p:sp>
      <p:sp>
        <p:nvSpPr>
          <p:cNvPr id="10" name="Content Placeholder 9"/>
          <p:cNvSpPr>
            <a:spLocks noGrp="1"/>
          </p:cNvSpPr>
          <p:nvPr>
            <p:ph sz="half" idx="1"/>
          </p:nvPr>
        </p:nvSpPr>
        <p:spPr>
          <a:xfrm>
            <a:off x="445324" y="1445822"/>
            <a:ext cx="4874822" cy="454230"/>
          </a:xfrm>
        </p:spPr>
        <p:txBody>
          <a:bodyPr>
            <a:normAutofit/>
          </a:bodyPr>
          <a:lstStyle/>
          <a:p>
            <a:r>
              <a:rPr lang="en-US" sz="2400" dirty="0"/>
              <a:t>Foreign Import Demand Curve</a:t>
            </a:r>
          </a:p>
        </p:txBody>
      </p:sp>
      <p:sp>
        <p:nvSpPr>
          <p:cNvPr id="11" name="Content Placeholder 10"/>
          <p:cNvSpPr>
            <a:spLocks noGrp="1"/>
          </p:cNvSpPr>
          <p:nvPr>
            <p:ph sz="half" idx="2"/>
          </p:nvPr>
        </p:nvSpPr>
        <p:spPr>
          <a:xfrm>
            <a:off x="6229350" y="1520043"/>
            <a:ext cx="2736520" cy="4536373"/>
          </a:xfrm>
        </p:spPr>
        <p:txBody>
          <a:bodyPr>
            <a:normAutofit/>
          </a:bodyPr>
          <a:lstStyle/>
          <a:p>
            <a:pPr marL="0" indent="0">
              <a:buNone/>
            </a:pPr>
            <a:r>
              <a:rPr lang="en-US" sz="2000" dirty="0"/>
              <a:t>Foreign Import Demand </a:t>
            </a:r>
            <a:r>
              <a:rPr lang="en-US" sz="2000" b="0" dirty="0"/>
              <a:t>Panel (a) repeats Figure 2-6. Panel (b) shows foreign import demand for wheat. When the relative price of wheat is 1, Foreign will import any amount of wheat between 0 and 50 bushels, along the segment </a:t>
            </a:r>
            <a:r>
              <a:rPr lang="en-US" sz="2000" b="0" i="1" dirty="0"/>
              <a:t>A*' B*' </a:t>
            </a:r>
            <a:r>
              <a:rPr lang="en-US" sz="2000" b="0" dirty="0"/>
              <a:t>of the foreign import demand curve.</a:t>
            </a:r>
          </a:p>
        </p:txBody>
      </p:sp>
      <p:pic>
        <p:nvPicPr>
          <p:cNvPr id="13" name="Picture Placeholder 4" descr="Two graphs compare the foreign production and consumption with foreign import demand for wheat. Graph (a) shows the foreign production and consumption of cloth and wheat. It plots yards of Cloth, Q C asterisk, versus quantity of Wheat, Q W asterisk, in bushels, and shows two C curves and two negative slopes. Foreign exports include 40 yards of cloth. Foreign imports include 60 bushels of wheat. From top to bottom, two indifference curves, U 2 asterisk and U 1 asterisk are plotted in the graph. The slope for World price line, with the slope value, negative two-thirds meets the curve U 2 asterisk at point C asterisk, which lies at (60, 60). Another slope meets the curve U 1 asterisk at point A asterisk, which lies at (50, 50). The slope of this curve is negative 1. The two slopes converge at 100 on the vertical axis. This point is labeled B asterisk. &#10;&#10;Graph (b) shows the foreign import demand for wheat. It plots Relative price of wheat, P W over P C, versus quantity of Wheat in bushels. The curve for Foreign import demand runs parallel to the horizontal axis from (0, 1) to (50, 1) and then slopes negatively, passing through the point (60, two-thirds). Point A asterisk dash on the curve corresponds to 1 on the vertical axis, B asterisk dash corresponds to (50, 1), and C asterisk dash corresponds to (60, two-thirds). A label pointing at the distance between the origin and 50 on the horizontal axes of graphs (a) and (b) reads, Foreign imports 0 to 50 bushels of wheat at a relative price of one and ellipsis. Another label pointing at the distance between the origin and 60 on the horizontal axes of graphs (a) and (b) reads, ellipsis 60 bushels of wheat at a relative price of two-thirds.">
            <a:extLst>
              <a:ext uri="{FF2B5EF4-FFF2-40B4-BE49-F238E27FC236}">
                <a16:creationId xmlns:a16="http://schemas.microsoft.com/office/drawing/2014/main" id="{9C7E1278-DFF1-E541-8FDA-0A926DD6ADAC}"/>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420837" y="2479659"/>
            <a:ext cx="5572397" cy="3166401"/>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2-11 (1 of 2)</a:t>
            </a:r>
          </a:p>
        </p:txBody>
      </p:sp>
    </p:spTree>
    <p:extLst>
      <p:ext uri="{BB962C8B-B14F-4D97-AF65-F5344CB8AC3E}">
        <p14:creationId xmlns:p14="http://schemas.microsoft.com/office/powerpoint/2010/main" val="3645481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4)</a:t>
            </a:r>
          </a:p>
        </p:txBody>
      </p:sp>
      <p:sp>
        <p:nvSpPr>
          <p:cNvPr id="10" name="Content Placeholder 9"/>
          <p:cNvSpPr>
            <a:spLocks noGrp="1"/>
          </p:cNvSpPr>
          <p:nvPr>
            <p:ph sz="half" idx="1"/>
          </p:nvPr>
        </p:nvSpPr>
        <p:spPr>
          <a:xfrm>
            <a:off x="445324" y="1445822"/>
            <a:ext cx="4874822" cy="454230"/>
          </a:xfrm>
        </p:spPr>
        <p:txBody>
          <a:bodyPr>
            <a:normAutofit/>
          </a:bodyPr>
          <a:lstStyle/>
          <a:p>
            <a:r>
              <a:rPr lang="en-US" sz="2400" dirty="0"/>
              <a:t>Foreign Import Demand Curve</a:t>
            </a:r>
          </a:p>
        </p:txBody>
      </p:sp>
      <mc:AlternateContent xmlns:mc="http://schemas.openxmlformats.org/markup-compatibility/2006" xmlns:a14="http://schemas.microsoft.com/office/drawing/2010/main">
        <mc:Choice Requires="a14">
          <p:sp>
            <p:nvSpPr>
              <p:cNvPr id="11" name="Content Placeholder 10"/>
              <p:cNvSpPr>
                <a:spLocks noGrp="1"/>
              </p:cNvSpPr>
              <p:nvPr>
                <p:ph sz="half" idx="2"/>
              </p:nvPr>
            </p:nvSpPr>
            <p:spPr>
              <a:xfrm>
                <a:off x="6216416" y="1685925"/>
                <a:ext cx="2452749" cy="4370491"/>
              </a:xfrm>
            </p:spPr>
            <p:txBody>
              <a:bodyPr>
                <a:normAutofit/>
              </a:bodyPr>
              <a:lstStyle/>
              <a:p>
                <a:pPr marL="0" indent="0">
                  <a:spcBef>
                    <a:spcPct val="10000"/>
                  </a:spcBef>
                  <a:spcAft>
                    <a:spcPct val="10000"/>
                  </a:spcAft>
                  <a:buNone/>
                </a:pPr>
                <a:r>
                  <a:rPr lang="en-US" sz="1800" dirty="0">
                    <a:latin typeface="Arial" panose="020B0604020202020204" pitchFamily="34" charset="0"/>
                  </a:rPr>
                  <a:t>Foreign Import Demand (continued)</a:t>
                </a:r>
                <a:r>
                  <a:rPr lang="en-US" sz="1800" dirty="0">
                    <a:solidFill>
                      <a:schemeClr val="accent2">
                        <a:lumMod val="50000"/>
                      </a:schemeClr>
                    </a:solidFill>
                    <a:latin typeface="Arial" panose="020B0604020202020204" pitchFamily="34" charset="0"/>
                  </a:rPr>
                  <a:t> </a:t>
                </a:r>
              </a:p>
              <a:p>
                <a:pPr marL="0" indent="0">
                  <a:spcBef>
                    <a:spcPct val="10000"/>
                  </a:spcBef>
                  <a:spcAft>
                    <a:spcPct val="10000"/>
                  </a:spcAft>
                  <a:buNone/>
                </a:pPr>
                <a:r>
                  <a:rPr lang="en-US" sz="1800" b="0" dirty="0">
                    <a:latin typeface="Arial" panose="020B0604020202020204" pitchFamily="34" charset="0"/>
                  </a:rPr>
                  <a:t>For relative prices below 1, Foreign imports more than 50 bushels, along the segment </a:t>
                </a:r>
                <a:r>
                  <a:rPr lang="en-US" sz="1800" b="0" i="1" dirty="0">
                    <a:latin typeface="Arial" panose="020B0604020202020204" pitchFamily="34" charset="0"/>
                  </a:rPr>
                  <a:t>B</a:t>
                </a:r>
                <a:r>
                  <a:rPr lang="en-US" sz="1800" b="0" dirty="0">
                    <a:latin typeface="Arial" panose="020B0604020202020204" pitchFamily="34" charset="0"/>
                  </a:rPr>
                  <a:t>*</a:t>
                </a:r>
                <a:r>
                  <a:rPr lang="en-US" sz="1800" b="0" dirty="0">
                    <a:latin typeface="Arial" panose="020B0604020202020204" pitchFamily="34" charset="0"/>
                    <a:sym typeface="Symbol" pitchFamily="18" charset="2"/>
                  </a:rPr>
                  <a:t></a:t>
                </a:r>
                <a:r>
                  <a:rPr lang="en-US" sz="1800" b="0" i="1" dirty="0">
                    <a:latin typeface="Arial" panose="020B0604020202020204" pitchFamily="34" charset="0"/>
                  </a:rPr>
                  <a:t>C</a:t>
                </a:r>
                <a:r>
                  <a:rPr lang="en-US" sz="1800" b="0" dirty="0">
                    <a:latin typeface="Arial" panose="020B0604020202020204" pitchFamily="34" charset="0"/>
                  </a:rPr>
                  <a:t>*</a:t>
                </a:r>
                <a:r>
                  <a:rPr lang="en-US" sz="1800" b="0" dirty="0">
                    <a:latin typeface="Arial" panose="020B0604020202020204" pitchFamily="34" charset="0"/>
                    <a:sym typeface="Symbol" pitchFamily="18" charset="2"/>
                  </a:rPr>
                  <a:t></a:t>
                </a:r>
                <a:r>
                  <a:rPr lang="en-US" sz="1800" b="0" dirty="0">
                    <a:latin typeface="Arial" panose="020B0604020202020204" pitchFamily="34" charset="0"/>
                  </a:rPr>
                  <a:t>. For example, at the relative price of </a:t>
                </a:r>
                <a14:m>
                  <m:oMath xmlns:m="http://schemas.openxmlformats.org/officeDocument/2006/math">
                    <m:f>
                      <m:fPr>
                        <m:ctrlPr>
                          <a:rPr lang="en-US" sz="1800" b="0" i="1">
                            <a:latin typeface="Cambria Math" panose="02040503050406030204" pitchFamily="18" charset="0"/>
                          </a:rPr>
                        </m:ctrlPr>
                      </m:fPr>
                      <m:num>
                        <m:r>
                          <a:rPr lang="en-US" sz="1800" b="0">
                            <a:latin typeface="Cambria Math" panose="02040503050406030204" pitchFamily="18" charset="0"/>
                          </a:rPr>
                          <m:t>2</m:t>
                        </m:r>
                      </m:num>
                      <m:den>
                        <m:r>
                          <a:rPr lang="en-US" sz="1800" b="0">
                            <a:latin typeface="Cambria Math" panose="02040503050406030204" pitchFamily="18" charset="0"/>
                          </a:rPr>
                          <m:t>3</m:t>
                        </m:r>
                      </m:den>
                    </m:f>
                  </m:oMath>
                </a14:m>
                <a:r>
                  <a:rPr lang="en-US" sz="1800" b="0" dirty="0">
                    <a:latin typeface="Arial" panose="020B0604020202020204" pitchFamily="34" charset="0"/>
                  </a:rPr>
                  <a:t>, Foreign imports 60 bushels of wheat.</a:t>
                </a:r>
              </a:p>
            </p:txBody>
          </p:sp>
        </mc:Choice>
        <mc:Fallback xmlns="">
          <p:sp>
            <p:nvSpPr>
              <p:cNvPr id="11" name="Content Placeholder 10"/>
              <p:cNvSpPr>
                <a:spLocks noGrp="1" noRot="1" noChangeAspect="1" noMove="1" noResize="1" noEditPoints="1" noAdjustHandles="1" noChangeArrowheads="1" noChangeShapeType="1" noTextEdit="1"/>
              </p:cNvSpPr>
              <p:nvPr>
                <p:ph sz="half" idx="2"/>
              </p:nvPr>
            </p:nvSpPr>
            <p:spPr>
              <a:xfrm>
                <a:off x="6216416" y="1685925"/>
                <a:ext cx="2452749" cy="4370491"/>
              </a:xfrm>
              <a:blipFill>
                <a:blip r:embed="rId3"/>
                <a:stretch>
                  <a:fillRect l="-2239" t="-837" r="-249"/>
                </a:stretch>
              </a:blipFill>
            </p:spPr>
            <p:txBody>
              <a:bodyPr/>
              <a:lstStyle/>
              <a:p>
                <a:r>
                  <a:rPr lang="en-US">
                    <a:noFill/>
                  </a:rPr>
                  <a:t> </a:t>
                </a:r>
              </a:p>
            </p:txBody>
          </p:sp>
        </mc:Fallback>
      </mc:AlternateContent>
      <p:pic>
        <p:nvPicPr>
          <p:cNvPr id="12" name="Picture Placeholder 4" descr="Two graphs compare the foreign production and consumption with foreign import demand for wheat. Graph (a) shows the foreign production and consumption of cloth and wheat. It plots yards of Cloth, Q C asterisk, versus quantity of Wheat, Q W asterisk, in bushels, and shows two C curves and two negative slopes. Foreign exports include 40 yards of cloth. Foreign imports include 60 bushels of wheat. From top to bottom, two indifference curves, U 2 asterisk and U 1 asterisk are plotted in the graph. The slope for World price line, with the slope value, negative two-thirds meets the curve U 2 asterisk at point C asterisk, which lies at (60, 60). Another slope meets the curve U 1 asterisk at point A asterisk, which lies at (50, 50). The slope of this curve is negative 1. The two slopes converge at 100 on the vertical axis. This point is labeled B asterisk. &#10;&#10;Graph (b) shows the foreign import demand for wheat. It plots Relative price of wheat, P W over P C, versus quantity of Wheat in bushels. The curve for Foreign import demand runs parallel to the horizontal axis from (0, 1) to (50, 1) and then slopes negatively, passing through the point (60, two-thirds). Point A asterisk dash on the curve corresponds to 1 on the vertical axis, B asterisk dash corresponds to (50, 1), and C asterisk dash corresponds to (60, two-thirds). A label pointing at the distance between the origin and 50 on the horizontal axes of graphs (a) and (b) reads, Foreign imports 0 to 50 bushels of wheat at a relative price of one and ellipsis. Another label pointing at the distance between the origin and 60 on the horizontal axes of graphs (a) and (b) reads, ellipsis 60 bushels of wheat at a relative price of two-thirds.">
            <a:extLst>
              <a:ext uri="{FF2B5EF4-FFF2-40B4-BE49-F238E27FC236}">
                <a16:creationId xmlns:a16="http://schemas.microsoft.com/office/drawing/2014/main" id="{9C7E1278-DFF1-E541-8FDA-0A926DD6ADAC}"/>
              </a:ext>
            </a:extLst>
          </p:cNvPr>
          <p:cNvPicPr>
            <a:picLocks noGrp="1" noChangeAspect="1"/>
          </p:cNvPicPr>
          <p:nvPr>
            <p:ph sz="quarter" idx="10"/>
          </p:nvPr>
        </p:nvPicPr>
        <p:blipFill>
          <a:blip r:embed="rId4" cstate="print">
            <a:extLst>
              <a:ext uri="{28A0092B-C50C-407E-A947-70E740481C1C}">
                <a14:useLocalDpi xmlns:a14="http://schemas.microsoft.com/office/drawing/2010/main" val="0"/>
              </a:ext>
            </a:extLst>
          </a:blip>
          <a:stretch>
            <a:fillRect/>
          </a:stretch>
        </p:blipFill>
        <p:spPr>
          <a:xfrm>
            <a:off x="357771" y="2449241"/>
            <a:ext cx="5798659" cy="3294968"/>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2-11 (2 of 2)</a:t>
            </a:r>
          </a:p>
        </p:txBody>
      </p:sp>
    </p:spTree>
    <p:extLst>
      <p:ext uri="{BB962C8B-B14F-4D97-AF65-F5344CB8AC3E}">
        <p14:creationId xmlns:p14="http://schemas.microsoft.com/office/powerpoint/2010/main" val="1054113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5)</a:t>
            </a:r>
          </a:p>
        </p:txBody>
      </p:sp>
      <p:sp>
        <p:nvSpPr>
          <p:cNvPr id="10" name="Content Placeholder 9"/>
          <p:cNvSpPr>
            <a:spLocks noGrp="1"/>
          </p:cNvSpPr>
          <p:nvPr>
            <p:ph sz="half" idx="1"/>
          </p:nvPr>
        </p:nvSpPr>
        <p:spPr>
          <a:xfrm>
            <a:off x="445324" y="1445822"/>
            <a:ext cx="4874822" cy="454230"/>
          </a:xfrm>
        </p:spPr>
        <p:txBody>
          <a:bodyPr>
            <a:normAutofit/>
          </a:bodyPr>
          <a:lstStyle/>
          <a:p>
            <a:r>
              <a:rPr lang="en-US" sz="2400" dirty="0"/>
              <a:t>International Trade Equilibrium</a:t>
            </a:r>
          </a:p>
        </p:txBody>
      </p:sp>
      <mc:AlternateContent xmlns:mc="http://schemas.openxmlformats.org/markup-compatibility/2006" xmlns:a14="http://schemas.microsoft.com/office/drawing/2010/main">
        <mc:Choice Requires="a14">
          <p:sp>
            <p:nvSpPr>
              <p:cNvPr id="11" name="Content Placeholder 10"/>
              <p:cNvSpPr>
                <a:spLocks noGrp="1"/>
              </p:cNvSpPr>
              <p:nvPr>
                <p:ph sz="half" idx="2"/>
              </p:nvPr>
            </p:nvSpPr>
            <p:spPr>
              <a:xfrm>
                <a:off x="5510151" y="2019300"/>
                <a:ext cx="3455719" cy="4037116"/>
              </a:xfrm>
            </p:spPr>
            <p:txBody>
              <a:bodyPr>
                <a:normAutofit/>
              </a:bodyPr>
              <a:lstStyle/>
              <a:p>
                <a:pPr marL="0" indent="0">
                  <a:buNone/>
                </a:pPr>
                <a:r>
                  <a:rPr lang="en-US" sz="2000" dirty="0">
                    <a:latin typeface="Arial" panose="020B0604020202020204" pitchFamily="34" charset="0"/>
                  </a:rPr>
                  <a:t>World Market for Wheat </a:t>
                </a:r>
                <a:r>
                  <a:rPr lang="en-US" sz="2000" b="0" dirty="0"/>
                  <a:t>Putting together the Home export supply curve and the Foreign import demand curve for wheat, the world equilibrium is established at point </a:t>
                </a:r>
                <a:r>
                  <a:rPr lang="en-US" sz="2000" b="0" i="1" dirty="0"/>
                  <a:t>C'</a:t>
                </a:r>
                <a:r>
                  <a:rPr lang="en-US" sz="2000" b="0" dirty="0"/>
                  <a:t>, where the relative price of wheat is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a:rPr>
                          <m:t>2</m:t>
                        </m:r>
                      </m:num>
                      <m:den>
                        <m:r>
                          <a:rPr lang="en-US" sz="2000" b="0" i="1" smtClean="0">
                            <a:latin typeface="Cambria Math"/>
                          </a:rPr>
                          <m:t>3</m:t>
                        </m:r>
                      </m:den>
                    </m:f>
                  </m:oMath>
                </a14:m>
                <a:r>
                  <a:rPr lang="en-US" sz="2000" b="0" dirty="0"/>
                  <a:t>.</a:t>
                </a:r>
              </a:p>
            </p:txBody>
          </p:sp>
        </mc:Choice>
        <mc:Fallback xmlns="">
          <p:sp>
            <p:nvSpPr>
              <p:cNvPr id="11" name="Content Placeholder 10"/>
              <p:cNvSpPr>
                <a:spLocks noGrp="1" noRot="1" noChangeAspect="1" noMove="1" noResize="1" noEditPoints="1" noAdjustHandles="1" noChangeArrowheads="1" noChangeShapeType="1" noTextEdit="1"/>
              </p:cNvSpPr>
              <p:nvPr>
                <p:ph sz="half" idx="2"/>
              </p:nvPr>
            </p:nvSpPr>
            <p:spPr>
              <a:xfrm>
                <a:off x="5510151" y="2019300"/>
                <a:ext cx="3455719" cy="4037116"/>
              </a:xfrm>
              <a:blipFill>
                <a:blip r:embed="rId3"/>
                <a:stretch>
                  <a:fillRect l="-1940" t="-603"/>
                </a:stretch>
              </a:blipFill>
            </p:spPr>
            <p:txBody>
              <a:bodyPr/>
              <a:lstStyle/>
              <a:p>
                <a:r>
                  <a:rPr lang="en-US">
                    <a:noFill/>
                  </a:rPr>
                  <a:t> </a:t>
                </a:r>
              </a:p>
            </p:txBody>
          </p:sp>
        </mc:Fallback>
      </mc:AlternateContent>
      <p:pic>
        <p:nvPicPr>
          <p:cNvPr id="13" name="Picture Placeholder 5" descr="A graph shows the international trade equilibrium point. The graph plots Relative price of wheat, P W over P C, along the vertical axis versus the quantity of Wheat in bushels along the horizontal axis. The curve for Foreign import demand runs parallel to the horizontal axis from 0 bushels 1 P W over P C to 50 bushels 1 P W over P C and then slopes negatively to terminate beyond 60 bushels one-half P W over P C. The curve for Home export supply runs parallel to the horizontal axis from 0 bushels one-half P W over P C to 50 bushels one-half) and then slopes positively to terminate beyond 60 bushels 1 P W over P C. The two curves intersect each other at point C dash that corresponds to 60 bushels two-thirds P W over P C. This point denotes International trade equilibrium.">
            <a:extLst>
              <a:ext uri="{FF2B5EF4-FFF2-40B4-BE49-F238E27FC236}">
                <a16:creationId xmlns:a16="http://schemas.microsoft.com/office/drawing/2014/main" id="{0146EDAE-AB39-9F4E-B2A1-01BE59861F72}"/>
              </a:ext>
            </a:extLst>
          </p:cNvPr>
          <p:cNvPicPr>
            <a:picLocks noGrp="1" noChangeAspect="1"/>
          </p:cNvPicPr>
          <p:nvPr>
            <p:ph sz="quarter" idx="10"/>
          </p:nvPr>
        </p:nvPicPr>
        <p:blipFill>
          <a:blip r:embed="rId4">
            <a:extLst>
              <a:ext uri="{28A0092B-C50C-407E-A947-70E740481C1C}">
                <a14:useLocalDpi xmlns:a14="http://schemas.microsoft.com/office/drawing/2010/main" val="0"/>
              </a:ext>
            </a:extLst>
          </a:blip>
          <a:stretch>
            <a:fillRect/>
          </a:stretch>
        </p:blipFill>
        <p:spPr>
          <a:xfrm>
            <a:off x="455241" y="2479413"/>
            <a:ext cx="4932268" cy="3086675"/>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2-12</a:t>
            </a:r>
          </a:p>
        </p:txBody>
      </p:sp>
    </p:spTree>
    <p:extLst>
      <p:ext uri="{BB962C8B-B14F-4D97-AF65-F5344CB8AC3E}">
        <p14:creationId xmlns:p14="http://schemas.microsoft.com/office/powerpoint/2010/main" val="3238099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590E-89BA-CC4F-8DED-0C26C155F5A5}"/>
              </a:ext>
            </a:extLst>
          </p:cNvPr>
          <p:cNvSpPr>
            <a:spLocks noGrp="1"/>
          </p:cNvSpPr>
          <p:nvPr>
            <p:ph type="title"/>
          </p:nvPr>
        </p:nvSpPr>
        <p:spPr/>
        <p:txBody>
          <a:bodyPr/>
          <a:lstStyle/>
          <a:p>
            <a:r>
              <a:rPr lang="en-US" dirty="0"/>
              <a:t>4) Solving for International Prices (part 6)</a:t>
            </a:r>
          </a:p>
        </p:txBody>
      </p:sp>
      <p:sp>
        <p:nvSpPr>
          <p:cNvPr id="3" name="Content Placeholder 2">
            <a:extLst>
              <a:ext uri="{FF2B5EF4-FFF2-40B4-BE49-F238E27FC236}">
                <a16:creationId xmlns:a16="http://schemas.microsoft.com/office/drawing/2014/main" id="{9596FDE2-CA29-EC43-A5D5-B8E031DC681C}"/>
              </a:ext>
            </a:extLst>
          </p:cNvPr>
          <p:cNvSpPr>
            <a:spLocks noGrp="1"/>
          </p:cNvSpPr>
          <p:nvPr>
            <p:ph idx="1"/>
          </p:nvPr>
        </p:nvSpPr>
        <p:spPr/>
        <p:txBody>
          <a:bodyPr>
            <a:normAutofit/>
          </a:bodyPr>
          <a:lstStyle/>
          <a:p>
            <a:pPr marL="0" indent="0">
              <a:buNone/>
            </a:pPr>
            <a:r>
              <a:rPr lang="en-US" dirty="0"/>
              <a:t>International Trade Equilibrium</a:t>
            </a:r>
          </a:p>
          <a:p>
            <a:r>
              <a:rPr lang="en-US" dirty="0"/>
              <a:t>The Terms of Trade</a:t>
            </a:r>
          </a:p>
          <a:p>
            <a:pPr lvl="1"/>
            <a:r>
              <a:rPr lang="en-US" dirty="0"/>
              <a:t>The price of a country’s exports divided by the price of its imports is called the terms of trade.</a:t>
            </a:r>
          </a:p>
          <a:p>
            <a:pPr lvl="1"/>
            <a:r>
              <a:rPr lang="en-US" dirty="0"/>
              <a:t>Because Home exports wheat, (</a:t>
            </a:r>
            <a:r>
              <a:rPr lang="en-US" i="1" dirty="0"/>
              <a:t>P</a:t>
            </a:r>
            <a:r>
              <a:rPr lang="en-US" i="1" baseline="-25000" dirty="0"/>
              <a:t>W</a:t>
            </a:r>
            <a:r>
              <a:rPr lang="en-US" dirty="0"/>
              <a:t>/</a:t>
            </a:r>
            <a:r>
              <a:rPr lang="en-US" i="1" dirty="0"/>
              <a:t>P</a:t>
            </a:r>
            <a:r>
              <a:rPr lang="en-US" i="1" baseline="-25000" dirty="0"/>
              <a:t>C</a:t>
            </a:r>
            <a:r>
              <a:rPr lang="en-US" dirty="0"/>
              <a:t>) is its terms of trade.</a:t>
            </a:r>
          </a:p>
          <a:p>
            <a:pPr lvl="1"/>
            <a:r>
              <a:rPr lang="en-US" dirty="0"/>
              <a:t>Foreign exports cloth, so (</a:t>
            </a:r>
            <a:r>
              <a:rPr lang="en-US" i="1" dirty="0"/>
              <a:t>P</a:t>
            </a:r>
            <a:r>
              <a:rPr lang="en-US" i="1" baseline="-25000" dirty="0"/>
              <a:t>C</a:t>
            </a:r>
            <a:r>
              <a:rPr lang="en-US" dirty="0"/>
              <a:t> /</a:t>
            </a:r>
            <a:r>
              <a:rPr lang="en-US" i="1" dirty="0"/>
              <a:t>P</a:t>
            </a:r>
            <a:r>
              <a:rPr lang="en-US" i="1" baseline="-25000" dirty="0"/>
              <a:t>W</a:t>
            </a:r>
            <a:r>
              <a:rPr lang="en-US" dirty="0"/>
              <a:t>) is its terms of trade.</a:t>
            </a:r>
          </a:p>
          <a:p>
            <a:pPr lvl="1"/>
            <a:r>
              <a:rPr lang="en-US" dirty="0"/>
              <a:t>In this case, having a higher price for cloth (</a:t>
            </a:r>
            <a:r>
              <a:rPr lang="en-US" dirty="0" err="1"/>
              <a:t>Foreign’s</a:t>
            </a:r>
            <a:r>
              <a:rPr lang="en-US" dirty="0"/>
              <a:t> export) or a lower price for wheat (</a:t>
            </a:r>
            <a:r>
              <a:rPr lang="en-US" dirty="0" err="1"/>
              <a:t>Foreign’s</a:t>
            </a:r>
            <a:r>
              <a:rPr lang="en-US" dirty="0"/>
              <a:t> import) would make the foreign country better off.</a:t>
            </a:r>
          </a:p>
        </p:txBody>
      </p:sp>
    </p:spTree>
    <p:extLst>
      <p:ext uri="{BB962C8B-B14F-4D97-AF65-F5344CB8AC3E}">
        <p14:creationId xmlns:p14="http://schemas.microsoft.com/office/powerpoint/2010/main" val="13456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590E-89BA-CC4F-8DED-0C26C155F5A5}"/>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9596FDE2-CA29-EC43-A5D5-B8E031DC681C}"/>
              </a:ext>
            </a:extLst>
          </p:cNvPr>
          <p:cNvSpPr>
            <a:spLocks noGrp="1"/>
          </p:cNvSpPr>
          <p:nvPr>
            <p:ph idx="1"/>
          </p:nvPr>
        </p:nvSpPr>
        <p:spPr/>
        <p:txBody>
          <a:bodyPr>
            <a:normAutofit fontScale="85000" lnSpcReduction="20000"/>
          </a:bodyPr>
          <a:lstStyle/>
          <a:p>
            <a:r>
              <a:rPr lang="en-US" altLang="en-US" b="0" dirty="0"/>
              <a:t>The Ricardian model was developed as a response to the mercantilist idea that exports are good and imports are bad. </a:t>
            </a:r>
          </a:p>
          <a:p>
            <a:r>
              <a:rPr lang="en-US" altLang="en-US" b="0" dirty="0"/>
              <a:t>Using differences in technology and opportunity cost, Ricardo demonstrated that the pattern of trade is determined by comparative advantage and that both countries gain from trade.</a:t>
            </a:r>
          </a:p>
          <a:p>
            <a:r>
              <a:rPr lang="en-US" altLang="en-US" b="0" dirty="0"/>
              <a:t>Wages depend on the marginal products of labor in each country and are determined by absolute advantage: a country with better technology will be able to pay higher wages.</a:t>
            </a:r>
          </a:p>
          <a:p>
            <a:r>
              <a:rPr lang="en-US" altLang="en-US" b="0" dirty="0"/>
              <a:t>The fact that only labor is used in the Ricardian model, with a constant marginal product of labor, makes it special. The PPF is a straight line, and the export supply and import demand curves each have a flat segment.</a:t>
            </a:r>
          </a:p>
        </p:txBody>
      </p:sp>
    </p:spTree>
    <p:extLst>
      <p:ext uri="{BB962C8B-B14F-4D97-AF65-F5344CB8AC3E}">
        <p14:creationId xmlns:p14="http://schemas.microsoft.com/office/powerpoint/2010/main" val="2307619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0671-7863-E948-9677-84B998682015}"/>
              </a:ext>
            </a:extLst>
          </p:cNvPr>
          <p:cNvSpPr>
            <a:spLocks noGrp="1"/>
          </p:cNvSpPr>
          <p:nvPr>
            <p:ph type="title"/>
          </p:nvPr>
        </p:nvSpPr>
        <p:spPr/>
        <p:txBody>
          <a:bodyPr/>
          <a:lstStyle/>
          <a:p>
            <a:r>
              <a:rPr lang="en-US" dirty="0"/>
              <a:t>Discovering Data</a:t>
            </a:r>
          </a:p>
        </p:txBody>
      </p:sp>
      <p:sp>
        <p:nvSpPr>
          <p:cNvPr id="3" name="Content Placeholder 2">
            <a:extLst>
              <a:ext uri="{FF2B5EF4-FFF2-40B4-BE49-F238E27FC236}">
                <a16:creationId xmlns:a16="http://schemas.microsoft.com/office/drawing/2014/main" id="{5FF4901B-76D2-EC4D-9283-C27DD0B896BC}"/>
              </a:ext>
            </a:extLst>
          </p:cNvPr>
          <p:cNvSpPr>
            <a:spLocks noGrp="1"/>
          </p:cNvSpPr>
          <p:nvPr>
            <p:ph idx="1"/>
          </p:nvPr>
        </p:nvSpPr>
        <p:spPr/>
        <p:txBody>
          <a:bodyPr>
            <a:normAutofit fontScale="85000" lnSpcReduction="20000"/>
          </a:bodyPr>
          <a:lstStyle/>
          <a:p>
            <a:r>
              <a:rPr lang="en-US" b="0" dirty="0"/>
              <a:t>In this chapter we explored the concept of comparative advantage as the basis for trade in the Ricardian model. Go to the online </a:t>
            </a:r>
            <a:r>
              <a:rPr lang="en-US" b="0" dirty="0" err="1"/>
              <a:t>UNCTad</a:t>
            </a:r>
            <a:r>
              <a:rPr lang="en-US" b="0" dirty="0"/>
              <a:t> database </a:t>
            </a:r>
            <a:r>
              <a:rPr lang="en-US" b="0" dirty="0">
                <a:hlinkClick r:id="rId2"/>
              </a:rPr>
              <a:t>https://</a:t>
            </a:r>
            <a:r>
              <a:rPr lang="en-US" b="0" dirty="0" err="1">
                <a:hlinkClick r:id="rId2"/>
              </a:rPr>
              <a:t>unctadstat.unctad.org</a:t>
            </a:r>
            <a:r>
              <a:rPr lang="en-US" b="0" dirty="0">
                <a:hlinkClick r:id="rId2"/>
              </a:rPr>
              <a:t>/EN/</a:t>
            </a:r>
            <a:r>
              <a:rPr lang="en-US" b="0" dirty="0" err="1">
                <a:hlinkClick r:id="rId2"/>
              </a:rPr>
              <a:t>RcaRadar.html</a:t>
            </a:r>
            <a:r>
              <a:rPr lang="en-US" b="0" dirty="0"/>
              <a:t> and choose two countries that are neighbors, for example, Canada and the United States.</a:t>
            </a:r>
          </a:p>
          <a:p>
            <a:r>
              <a:rPr lang="en-US" b="0" dirty="0"/>
              <a:t>Which goods does each country have the greatest comparative advantage in? Choose three (3).</a:t>
            </a:r>
          </a:p>
          <a:p>
            <a:r>
              <a:rPr lang="en-US" b="0" dirty="0"/>
              <a:t>Now go to the Observatory of Economic Complexity </a:t>
            </a:r>
            <a:r>
              <a:rPr lang="en-US" b="0" dirty="0">
                <a:hlinkClick r:id="rId3"/>
              </a:rPr>
              <a:t>https://oec.world/en/profile/bilateral-country/can/partner/usa</a:t>
            </a:r>
            <a:r>
              <a:rPr lang="en-US" b="0" dirty="0"/>
              <a:t> and look at the bilateral trade data for the countries you chose. </a:t>
            </a:r>
          </a:p>
          <a:p>
            <a:r>
              <a:rPr lang="en-US" b="0" dirty="0"/>
              <a:t>Does the trade pattern between the two countries reflect the comparative advantage you found? Why or why not?</a:t>
            </a:r>
          </a:p>
        </p:txBody>
      </p:sp>
    </p:spTree>
    <p:extLst>
      <p:ext uri="{BB962C8B-B14F-4D97-AF65-F5344CB8AC3E}">
        <p14:creationId xmlns:p14="http://schemas.microsoft.com/office/powerpoint/2010/main" val="26131755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BC42C35C-D6F5-EF4C-B409-90122F1B2EBA}">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10510</TotalTime>
  <Words>3425</Words>
  <Application>Microsoft Macintosh PowerPoint</Application>
  <PresentationFormat>On-screen Show (4:3)</PresentationFormat>
  <Paragraphs>272</Paragraphs>
  <Slides>41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Cambria Math</vt:lpstr>
      <vt:lpstr>Museo Sans W01 500</vt:lpstr>
      <vt:lpstr>Wingdings</vt:lpstr>
      <vt:lpstr>Office 2013 - 2022 Theme</vt:lpstr>
      <vt:lpstr>Global Economic Shifts  ECON 220</vt:lpstr>
      <vt:lpstr>Questions to Consider</vt:lpstr>
      <vt:lpstr>Introduction</vt:lpstr>
      <vt:lpstr>Introduction Cont’d</vt:lpstr>
      <vt:lpstr>1) Reasons for Trade </vt:lpstr>
      <vt:lpstr>1) Reasons for Trade  Cont’d</vt:lpstr>
      <vt:lpstr>David Ricardo and Mercantilism</vt:lpstr>
      <vt:lpstr>2) Ricardian Model of Trade (part 1)</vt:lpstr>
      <vt:lpstr>2) Ricardian Model of Trade (part 2)</vt:lpstr>
      <vt:lpstr>2) Ricardian Model of Trade (part 3)</vt:lpstr>
      <vt:lpstr>2) Ricardian Model of Trade (part 4)</vt:lpstr>
      <vt:lpstr>2) Ricardian Model of Trade (part 5)</vt:lpstr>
      <vt:lpstr>2) Ricardian Model of Trade (part 6)</vt:lpstr>
      <vt:lpstr>2) Ricardian Model of Trade (part 7)</vt:lpstr>
      <vt:lpstr>2) Ricardian Model of Trade (part 8)</vt:lpstr>
      <vt:lpstr>2) Ricardian Model of Trade (part 9)</vt:lpstr>
      <vt:lpstr>2) Ricardian Model of Trade (part 10)</vt:lpstr>
      <vt:lpstr>2) Ricardian Model of Trade (part 11)</vt:lpstr>
      <vt:lpstr>2) Ricardian Model of Trade (part 12)</vt:lpstr>
      <vt:lpstr>2) Ricardian Model of Trade (part 13)</vt:lpstr>
      <vt:lpstr>2) Ricardian Model of Trade (part 14)</vt:lpstr>
      <vt:lpstr>3)  Determining the Pattern of International Trade (part 1)</vt:lpstr>
      <vt:lpstr>3)  Determining the Pattern of International Trade (part 2)</vt:lpstr>
      <vt:lpstr>3)  Determining the Pattern of International Trade (part 3)</vt:lpstr>
      <vt:lpstr>3)  Determining the Pattern of International Trade (part 4)</vt:lpstr>
      <vt:lpstr>3)  Determining the Pattern of International Trade (part 5)</vt:lpstr>
      <vt:lpstr>3)  Determining the Pattern of International Trade (part 6)</vt:lpstr>
      <vt:lpstr>3)  Determining the Pattern of International Trade (part 7)</vt:lpstr>
      <vt:lpstr>3)  Determining the Pattern of International Trade (part 8)</vt:lpstr>
      <vt:lpstr>3)  Determining the Pattern of International Trade (part 9)</vt:lpstr>
      <vt:lpstr>3)  Determining the Pattern of International Trade (part 10)</vt:lpstr>
      <vt:lpstr>3)  Determining the Pattern of International Trade (part 11)</vt:lpstr>
      <vt:lpstr>3)  Determining the Pattern of International Trade (part 12)</vt:lpstr>
      <vt:lpstr>4) Solving for International Prices (part 1)</vt:lpstr>
      <vt:lpstr>4) Solving for International Prices (part 2)</vt:lpstr>
      <vt:lpstr>4) Solving for International Prices (part 3)</vt:lpstr>
      <vt:lpstr>4) Solving for International Prices (part 4)</vt:lpstr>
      <vt:lpstr>4) Solving for International Prices (part 5)</vt:lpstr>
      <vt:lpstr>4) Solving for International Prices (part 6)</vt:lpstr>
      <vt:lpstr>Conclusions</vt:lpstr>
      <vt:lpstr>Discovering Data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589</cp:revision>
  <dcterms:created xsi:type="dcterms:W3CDTF">2014-04-02T20:22:45Z</dcterms:created>
  <dcterms:modified xsi:type="dcterms:W3CDTF">2025-01-27T22:49:34Z</dcterms:modified>
  <cp:category/>
</cp:coreProperties>
</file>