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0" r:id="rId2"/>
  </p:sldMasterIdLst>
  <p:notesMasterIdLst>
    <p:notesMasterId r:id="rId33"/>
  </p:notesMasterIdLst>
  <p:handoutMasterIdLst>
    <p:handoutMasterId r:id="rId34"/>
  </p:handoutMasterIdLst>
  <p:sldIdLst>
    <p:sldId id="1405" r:id="rId3"/>
    <p:sldId id="342" r:id="rId4"/>
    <p:sldId id="343" r:id="rId5"/>
    <p:sldId id="417" r:id="rId6"/>
    <p:sldId id="418" r:id="rId7"/>
    <p:sldId id="419" r:id="rId8"/>
    <p:sldId id="420" r:id="rId9"/>
    <p:sldId id="416" r:id="rId10"/>
    <p:sldId id="422" r:id="rId11"/>
    <p:sldId id="423" r:id="rId12"/>
    <p:sldId id="424" r:id="rId13"/>
    <p:sldId id="425" r:id="rId14"/>
    <p:sldId id="426" r:id="rId15"/>
    <p:sldId id="427" r:id="rId16"/>
    <p:sldId id="428" r:id="rId17"/>
    <p:sldId id="429" r:id="rId18"/>
    <p:sldId id="430" r:id="rId19"/>
    <p:sldId id="431" r:id="rId20"/>
    <p:sldId id="432" r:id="rId21"/>
    <p:sldId id="433" r:id="rId22"/>
    <p:sldId id="435" r:id="rId23"/>
    <p:sldId id="436" r:id="rId24"/>
    <p:sldId id="437" r:id="rId25"/>
    <p:sldId id="438" r:id="rId26"/>
    <p:sldId id="439" r:id="rId27"/>
    <p:sldId id="440" r:id="rId28"/>
    <p:sldId id="441" r:id="rId29"/>
    <p:sldId id="442" r:id="rId30"/>
    <p:sldId id="461" r:id="rId31"/>
    <p:sldId id="462" r:id="rId32"/>
  </p:sldIdLst>
  <p:sldSz cx="9144000" cy="6858000" type="screen4x3"/>
  <p:notesSz cx="7102475" cy="93884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Matthew Christ" initials="MC" lastIdx="13" clrIdx="6">
    <p:extLst>
      <p:ext uri="{19B8F6BF-5375-455C-9EA6-DF929625EA0E}">
        <p15:presenceInfo xmlns:p15="http://schemas.microsoft.com/office/powerpoint/2012/main" userId="Wf1ssUNzd0iXNlCOvPmqQFyZNmIM/A7Gxr0ccE62Z4g=" providerId="None"/>
      </p:ext>
    </p:extLst>
  </p:cmAuthor>
  <p:cmAuthor id="1" name="Jennifer Baker" initials="JB" lastIdx="9" clrIdx="0"/>
  <p:cmAuthor id="8" name="Copyeditor" initials="CE" lastIdx="16" clrIdx="7">
    <p:extLst>
      <p:ext uri="{19B8F6BF-5375-455C-9EA6-DF929625EA0E}">
        <p15:presenceInfo xmlns:p15="http://schemas.microsoft.com/office/powerpoint/2012/main" userId="Copyeditor" providerId="None"/>
      </p:ext>
    </p:extLst>
  </p:cmAuthor>
  <p:cmAuthor id="2" name="Megan Mclaughlin" initials="" lastIdx="0" clrIdx="1"/>
  <p:cmAuthor id="9" name="Doolan, Edgar" initials="DE" lastIdx="1" clrIdx="8">
    <p:extLst>
      <p:ext uri="{19B8F6BF-5375-455C-9EA6-DF929625EA0E}">
        <p15:presenceInfo xmlns:p15="http://schemas.microsoft.com/office/powerpoint/2012/main" userId="S-1-5-21-4250845945-3731851581-3800177176-16931" providerId="AD"/>
      </p:ext>
    </p:extLst>
  </p:cmAuthor>
  <p:cmAuthor id="3" name="Hauk, William" initials="HW" lastIdx="8" clrIdx="2"/>
  <p:cmAuthor id="10" name="PC" initials="P" lastIdx="16" clrIdx="9">
    <p:extLst>
      <p:ext uri="{19B8F6BF-5375-455C-9EA6-DF929625EA0E}">
        <p15:presenceInfo xmlns:p15="http://schemas.microsoft.com/office/powerpoint/2012/main" userId="PC" providerId="None"/>
      </p:ext>
    </p:extLst>
  </p:cmAuthor>
  <p:cmAuthor id="4" name="Mingzhi Xu" initials="MX" lastIdx="5" clrIdx="3"/>
  <p:cmAuthor id="5" name="SWM" initials="SWM" lastIdx="1" clrIdx="4"/>
  <p:cmAuthor id="6" name="Ramazani, Reza" initials="RR" lastIdx="64" clrIdx="5">
    <p:extLst>
      <p:ext uri="{19B8F6BF-5375-455C-9EA6-DF929625EA0E}">
        <p15:presenceInfo xmlns:p15="http://schemas.microsoft.com/office/powerpoint/2012/main" userId="Ramazani, Rez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8629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370" autoAdjust="0"/>
    <p:restoredTop sz="86479" autoAdjust="0"/>
  </p:normalViewPr>
  <p:slideViewPr>
    <p:cSldViewPr>
      <p:cViewPr varScale="1">
        <p:scale>
          <a:sx n="106" d="100"/>
          <a:sy n="106" d="100"/>
        </p:scale>
        <p:origin x="1528" y="176"/>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2" d="100"/>
        <a:sy n="102"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commentAuthors" Target="commentAuthors.xml"/><Relationship Id="rId8" Type="http://schemas.openxmlformats.org/officeDocument/2006/relationships/slide" Target="slides/slide6.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69424"/>
          </a:xfrm>
          <a:prstGeom prst="rect">
            <a:avLst/>
          </a:prstGeom>
        </p:spPr>
        <p:txBody>
          <a:bodyPr vert="horz" lIns="94229" tIns="47114" rIns="94229" bIns="47114" rtlCol="0"/>
          <a:lstStyle>
            <a:lvl1pPr algn="l">
              <a:defRPr sz="1200"/>
            </a:lvl1pPr>
          </a:lstStyle>
          <a:p>
            <a:endParaRPr lang="en-US"/>
          </a:p>
        </p:txBody>
      </p:sp>
      <p:sp>
        <p:nvSpPr>
          <p:cNvPr id="3" name="Date Placeholder 2"/>
          <p:cNvSpPr>
            <a:spLocks noGrp="1"/>
          </p:cNvSpPr>
          <p:nvPr>
            <p:ph type="dt" sz="quarter" idx="1"/>
          </p:nvPr>
        </p:nvSpPr>
        <p:spPr>
          <a:xfrm>
            <a:off x="4023092" y="0"/>
            <a:ext cx="3077739" cy="469424"/>
          </a:xfrm>
          <a:prstGeom prst="rect">
            <a:avLst/>
          </a:prstGeom>
        </p:spPr>
        <p:txBody>
          <a:bodyPr vert="horz" lIns="94229" tIns="47114" rIns="94229" bIns="47114" rtlCol="0"/>
          <a:lstStyle>
            <a:lvl1pPr algn="r">
              <a:defRPr sz="1200"/>
            </a:lvl1pPr>
          </a:lstStyle>
          <a:p>
            <a:fld id="{1CBD1B2C-8A2A-0A46-808E-FCF3AA8C2B65}" type="datetimeFigureOut">
              <a:rPr lang="en-US" smtClean="0"/>
              <a:t>3/13/25</a:t>
            </a:fld>
            <a:endParaRPr lang="en-US"/>
          </a:p>
        </p:txBody>
      </p:sp>
      <p:sp>
        <p:nvSpPr>
          <p:cNvPr id="4" name="Footer Placeholder 3"/>
          <p:cNvSpPr>
            <a:spLocks noGrp="1"/>
          </p:cNvSpPr>
          <p:nvPr>
            <p:ph type="ftr" sz="quarter" idx="2"/>
          </p:nvPr>
        </p:nvSpPr>
        <p:spPr>
          <a:xfrm>
            <a:off x="0" y="8917422"/>
            <a:ext cx="3077739" cy="469424"/>
          </a:xfrm>
          <a:prstGeom prst="rect">
            <a:avLst/>
          </a:prstGeom>
        </p:spPr>
        <p:txBody>
          <a:bodyPr vert="horz" lIns="94229" tIns="47114" rIns="94229" bIns="47114" rtlCol="0" anchor="b"/>
          <a:lstStyle>
            <a:lvl1pPr algn="l">
              <a:defRPr sz="1200"/>
            </a:lvl1pPr>
          </a:lstStyle>
          <a:p>
            <a:endParaRPr lang="en-US"/>
          </a:p>
        </p:txBody>
      </p:sp>
      <p:sp>
        <p:nvSpPr>
          <p:cNvPr id="5" name="Slide Number Placeholder 4"/>
          <p:cNvSpPr>
            <a:spLocks noGrp="1"/>
          </p:cNvSpPr>
          <p:nvPr>
            <p:ph type="sldNum" sz="quarter" idx="3"/>
          </p:nvPr>
        </p:nvSpPr>
        <p:spPr>
          <a:xfrm>
            <a:off x="4023092" y="8917422"/>
            <a:ext cx="3077739" cy="469424"/>
          </a:xfrm>
          <a:prstGeom prst="rect">
            <a:avLst/>
          </a:prstGeom>
        </p:spPr>
        <p:txBody>
          <a:bodyPr vert="horz" lIns="94229" tIns="47114" rIns="94229" bIns="47114" rtlCol="0" anchor="b"/>
          <a:lstStyle>
            <a:lvl1pPr algn="r">
              <a:defRPr sz="1200"/>
            </a:lvl1pPr>
          </a:lstStyle>
          <a:p>
            <a:fld id="{36742C42-63FC-D04E-97CF-6B7AA068AC3C}" type="slidenum">
              <a:rPr lang="en-US" smtClean="0"/>
              <a:t>‹#›</a:t>
            </a:fld>
            <a:endParaRPr lang="en-US"/>
          </a:p>
        </p:txBody>
      </p:sp>
    </p:spTree>
    <p:extLst>
      <p:ext uri="{BB962C8B-B14F-4D97-AF65-F5344CB8AC3E}">
        <p14:creationId xmlns:p14="http://schemas.microsoft.com/office/powerpoint/2010/main" val="386304538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69424"/>
          </a:xfrm>
          <a:prstGeom prst="rect">
            <a:avLst/>
          </a:prstGeom>
        </p:spPr>
        <p:txBody>
          <a:bodyPr vert="horz" lIns="94229" tIns="47114" rIns="94229" bIns="47114" rtlCol="0"/>
          <a:lstStyle>
            <a:lvl1pPr algn="l">
              <a:defRPr sz="1200"/>
            </a:lvl1pPr>
          </a:lstStyle>
          <a:p>
            <a:endParaRPr lang="en-US"/>
          </a:p>
        </p:txBody>
      </p:sp>
      <p:sp>
        <p:nvSpPr>
          <p:cNvPr id="3" name="Date Placeholder 2"/>
          <p:cNvSpPr>
            <a:spLocks noGrp="1"/>
          </p:cNvSpPr>
          <p:nvPr>
            <p:ph type="dt" idx="1"/>
          </p:nvPr>
        </p:nvSpPr>
        <p:spPr>
          <a:xfrm>
            <a:off x="4023092" y="0"/>
            <a:ext cx="3077739" cy="469424"/>
          </a:xfrm>
          <a:prstGeom prst="rect">
            <a:avLst/>
          </a:prstGeom>
        </p:spPr>
        <p:txBody>
          <a:bodyPr vert="horz" lIns="94229" tIns="47114" rIns="94229" bIns="47114" rtlCol="0"/>
          <a:lstStyle>
            <a:lvl1pPr algn="r">
              <a:defRPr sz="1200"/>
            </a:lvl1pPr>
          </a:lstStyle>
          <a:p>
            <a:fld id="{AA102877-044D-4DAE-A559-1E4FC530964E}" type="datetimeFigureOut">
              <a:rPr lang="en-US" smtClean="0"/>
              <a:t>3/13/25</a:t>
            </a:fld>
            <a:endParaRPr lang="en-US"/>
          </a:p>
        </p:txBody>
      </p:sp>
      <p:sp>
        <p:nvSpPr>
          <p:cNvPr id="4" name="Slide Image Placeholder 3"/>
          <p:cNvSpPr>
            <a:spLocks noGrp="1" noRot="1" noChangeAspect="1"/>
          </p:cNvSpPr>
          <p:nvPr>
            <p:ph type="sldImg" idx="2"/>
          </p:nvPr>
        </p:nvSpPr>
        <p:spPr>
          <a:xfrm>
            <a:off x="1204913" y="704850"/>
            <a:ext cx="4692650" cy="3519488"/>
          </a:xfrm>
          <a:prstGeom prst="rect">
            <a:avLst/>
          </a:prstGeom>
          <a:noFill/>
          <a:ln w="12700">
            <a:solidFill>
              <a:prstClr val="black"/>
            </a:solidFill>
          </a:ln>
        </p:spPr>
        <p:txBody>
          <a:bodyPr vert="horz" lIns="94229" tIns="47114" rIns="94229" bIns="47114" rtlCol="0" anchor="ctr"/>
          <a:lstStyle/>
          <a:p>
            <a:endParaRPr lang="en-US"/>
          </a:p>
        </p:txBody>
      </p:sp>
      <p:sp>
        <p:nvSpPr>
          <p:cNvPr id="5" name="Notes Placeholder 4"/>
          <p:cNvSpPr>
            <a:spLocks noGrp="1"/>
          </p:cNvSpPr>
          <p:nvPr>
            <p:ph type="body" sz="quarter" idx="3"/>
          </p:nvPr>
        </p:nvSpPr>
        <p:spPr>
          <a:xfrm>
            <a:off x="710248" y="4459526"/>
            <a:ext cx="5681980" cy="4224814"/>
          </a:xfrm>
          <a:prstGeom prst="rect">
            <a:avLst/>
          </a:prstGeom>
        </p:spPr>
        <p:txBody>
          <a:bodyPr vert="horz" lIns="94229" tIns="47114" rIns="94229" bIns="4711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7422"/>
            <a:ext cx="3077739" cy="469424"/>
          </a:xfrm>
          <a:prstGeom prst="rect">
            <a:avLst/>
          </a:prstGeom>
        </p:spPr>
        <p:txBody>
          <a:bodyPr vert="horz" lIns="94229" tIns="47114" rIns="94229" bIns="47114"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917422"/>
            <a:ext cx="3077739" cy="469424"/>
          </a:xfrm>
          <a:prstGeom prst="rect">
            <a:avLst/>
          </a:prstGeom>
        </p:spPr>
        <p:txBody>
          <a:bodyPr vert="horz" lIns="94229" tIns="47114" rIns="94229" bIns="47114" rtlCol="0" anchor="b"/>
          <a:lstStyle>
            <a:lvl1pPr algn="r">
              <a:defRPr sz="1200"/>
            </a:lvl1pPr>
          </a:lstStyle>
          <a:p>
            <a:fld id="{B3DA0F5E-35E6-430D-9254-5B852B155E29}" type="slidenum">
              <a:rPr lang="en-US" smtClean="0"/>
              <a:t>‹#›</a:t>
            </a:fld>
            <a:endParaRPr lang="en-US"/>
          </a:p>
        </p:txBody>
      </p:sp>
    </p:spTree>
    <p:extLst>
      <p:ext uri="{BB962C8B-B14F-4D97-AF65-F5344CB8AC3E}">
        <p14:creationId xmlns:p14="http://schemas.microsoft.com/office/powerpoint/2010/main" val="325624535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If this PowerPoint presentation contains mathematical equations, you may need to check that your computer has the following installed:</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1) </a:t>
            </a:r>
            <a:r>
              <a:rPr lang="en-IN" dirty="0" err="1"/>
              <a:t>MathType</a:t>
            </a:r>
            <a:r>
              <a:rPr lang="en-IN" dirty="0"/>
              <a:t> Plugin</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2) Math Player (free versions available)</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3) NVDA Reader (free versions available)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1</a:t>
            </a:fld>
            <a:endParaRPr lang="en-US" dirty="0"/>
          </a:p>
        </p:txBody>
      </p:sp>
    </p:spTree>
    <p:extLst>
      <p:ext uri="{BB962C8B-B14F-4D97-AF65-F5344CB8AC3E}">
        <p14:creationId xmlns:p14="http://schemas.microsoft.com/office/powerpoint/2010/main" val="12795816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3DA0F5E-35E6-430D-9254-5B852B155E29}" type="slidenum">
              <a:rPr lang="en-US" smtClean="0"/>
              <a:t>8</a:t>
            </a:fld>
            <a:endParaRPr lang="en-US"/>
          </a:p>
        </p:txBody>
      </p:sp>
    </p:spTree>
    <p:extLst>
      <p:ext uri="{BB962C8B-B14F-4D97-AF65-F5344CB8AC3E}">
        <p14:creationId xmlns:p14="http://schemas.microsoft.com/office/powerpoint/2010/main" val="26543644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3DA0F5E-35E6-430D-9254-5B852B155E29}" type="slidenum">
              <a:rPr lang="en-US" smtClean="0"/>
              <a:t>9</a:t>
            </a:fld>
            <a:endParaRPr lang="en-US"/>
          </a:p>
        </p:txBody>
      </p:sp>
    </p:spTree>
    <p:extLst>
      <p:ext uri="{BB962C8B-B14F-4D97-AF65-F5344CB8AC3E}">
        <p14:creationId xmlns:p14="http://schemas.microsoft.com/office/powerpoint/2010/main" val="36929610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58001-10DB-6AB2-5044-D13EAD46F63D}"/>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995C3BFF-77D9-2BD7-2877-824C3E2610B9}"/>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4678D9EF-414B-FB3D-0F80-A6A06B24F25A}"/>
              </a:ext>
            </a:extLst>
          </p:cNvPr>
          <p:cNvSpPr>
            <a:spLocks noGrp="1"/>
          </p:cNvSpPr>
          <p:nvPr>
            <p:ph type="dt" sz="half" idx="10"/>
          </p:nvPr>
        </p:nvSpPr>
        <p:spPr/>
        <p:txBody>
          <a:bodyPr/>
          <a:lstStyle/>
          <a:p>
            <a:fld id="{3DE8DB6E-14A0-6942-8057-EA2847A4CCB9}" type="datetimeFigureOut">
              <a:rPr lang="en-US" smtClean="0"/>
              <a:t>3/13/25</a:t>
            </a:fld>
            <a:endParaRPr lang="en-US"/>
          </a:p>
        </p:txBody>
      </p:sp>
      <p:sp>
        <p:nvSpPr>
          <p:cNvPr id="5" name="Footer Placeholder 4">
            <a:extLst>
              <a:ext uri="{FF2B5EF4-FFF2-40B4-BE49-F238E27FC236}">
                <a16:creationId xmlns:a16="http://schemas.microsoft.com/office/drawing/2014/main" id="{AA13CAF1-7B42-88F5-8C3D-5AE31C3086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55A592-7E14-9D5A-D259-AA162A8366B9}"/>
              </a:ext>
            </a:extLst>
          </p:cNvPr>
          <p:cNvSpPr>
            <a:spLocks noGrp="1"/>
          </p:cNvSpPr>
          <p:nvPr>
            <p:ph type="sldNum" sz="quarter" idx="12"/>
          </p:nvPr>
        </p:nvSpPr>
        <p:spPr/>
        <p:txBody>
          <a:bodyPr/>
          <a:lstStyle/>
          <a:p>
            <a:fld id="{B23F1844-D42F-EE4C-969F-222C0239699D}" type="slidenum">
              <a:rPr lang="en-US" smtClean="0"/>
              <a:t>‹#›</a:t>
            </a:fld>
            <a:endParaRPr lang="en-US"/>
          </a:p>
        </p:txBody>
      </p:sp>
    </p:spTree>
    <p:extLst>
      <p:ext uri="{BB962C8B-B14F-4D97-AF65-F5344CB8AC3E}">
        <p14:creationId xmlns:p14="http://schemas.microsoft.com/office/powerpoint/2010/main" val="1133571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14C78-9129-B854-FBF9-6BFF26E8B34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137AE07-7A2E-4D35-9936-9B68E897C3F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3E8A64-EF1A-3791-24B4-00819FDAFBC0}"/>
              </a:ext>
            </a:extLst>
          </p:cNvPr>
          <p:cNvSpPr>
            <a:spLocks noGrp="1"/>
          </p:cNvSpPr>
          <p:nvPr>
            <p:ph type="dt" sz="half" idx="10"/>
          </p:nvPr>
        </p:nvSpPr>
        <p:spPr/>
        <p:txBody>
          <a:bodyPr/>
          <a:lstStyle/>
          <a:p>
            <a:fld id="{3DE8DB6E-14A0-6942-8057-EA2847A4CCB9}" type="datetimeFigureOut">
              <a:rPr lang="en-US" smtClean="0"/>
              <a:t>3/13/25</a:t>
            </a:fld>
            <a:endParaRPr lang="en-US"/>
          </a:p>
        </p:txBody>
      </p:sp>
      <p:sp>
        <p:nvSpPr>
          <p:cNvPr id="5" name="Footer Placeholder 4">
            <a:extLst>
              <a:ext uri="{FF2B5EF4-FFF2-40B4-BE49-F238E27FC236}">
                <a16:creationId xmlns:a16="http://schemas.microsoft.com/office/drawing/2014/main" id="{CDE855CE-BEE0-EE0C-9FAD-CA5690A643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E9253B-1677-4C27-CBA5-ADA04F7BB77B}"/>
              </a:ext>
            </a:extLst>
          </p:cNvPr>
          <p:cNvSpPr>
            <a:spLocks noGrp="1"/>
          </p:cNvSpPr>
          <p:nvPr>
            <p:ph type="sldNum" sz="quarter" idx="12"/>
          </p:nvPr>
        </p:nvSpPr>
        <p:spPr/>
        <p:txBody>
          <a:bodyPr/>
          <a:lstStyle/>
          <a:p>
            <a:fld id="{B23F1844-D42F-EE4C-969F-222C0239699D}" type="slidenum">
              <a:rPr lang="en-US" smtClean="0"/>
              <a:t>‹#›</a:t>
            </a:fld>
            <a:endParaRPr lang="en-US"/>
          </a:p>
        </p:txBody>
      </p:sp>
    </p:spTree>
    <p:extLst>
      <p:ext uri="{BB962C8B-B14F-4D97-AF65-F5344CB8AC3E}">
        <p14:creationId xmlns:p14="http://schemas.microsoft.com/office/powerpoint/2010/main" val="9496066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2FB87-1334-F7B1-C3D4-D0230E177CAF}"/>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36E2FF38-07B6-E822-0766-42DFDF778C2E}"/>
              </a:ext>
            </a:extLst>
          </p:cNvPr>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64BF61C-C90A-A4EE-DB92-911D34185E76}"/>
              </a:ext>
            </a:extLst>
          </p:cNvPr>
          <p:cNvSpPr>
            <a:spLocks noGrp="1"/>
          </p:cNvSpPr>
          <p:nvPr>
            <p:ph type="dt" sz="half" idx="10"/>
          </p:nvPr>
        </p:nvSpPr>
        <p:spPr/>
        <p:txBody>
          <a:bodyPr/>
          <a:lstStyle/>
          <a:p>
            <a:fld id="{3DE8DB6E-14A0-6942-8057-EA2847A4CCB9}" type="datetimeFigureOut">
              <a:rPr lang="en-US" smtClean="0"/>
              <a:t>3/13/25</a:t>
            </a:fld>
            <a:endParaRPr lang="en-US"/>
          </a:p>
        </p:txBody>
      </p:sp>
      <p:sp>
        <p:nvSpPr>
          <p:cNvPr id="5" name="Footer Placeholder 4">
            <a:extLst>
              <a:ext uri="{FF2B5EF4-FFF2-40B4-BE49-F238E27FC236}">
                <a16:creationId xmlns:a16="http://schemas.microsoft.com/office/drawing/2014/main" id="{1FD2A8EC-4913-F440-2E6A-AB8F10864C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5B9099-76BC-0011-FEFA-CFCF20A6F5D4}"/>
              </a:ext>
            </a:extLst>
          </p:cNvPr>
          <p:cNvSpPr>
            <a:spLocks noGrp="1"/>
          </p:cNvSpPr>
          <p:nvPr>
            <p:ph type="sldNum" sz="quarter" idx="12"/>
          </p:nvPr>
        </p:nvSpPr>
        <p:spPr/>
        <p:txBody>
          <a:bodyPr/>
          <a:lstStyle/>
          <a:p>
            <a:fld id="{B23F1844-D42F-EE4C-969F-222C0239699D}" type="slidenum">
              <a:rPr lang="en-US" smtClean="0"/>
              <a:t>‹#›</a:t>
            </a:fld>
            <a:endParaRPr lang="en-US"/>
          </a:p>
        </p:txBody>
      </p:sp>
    </p:spTree>
    <p:extLst>
      <p:ext uri="{BB962C8B-B14F-4D97-AF65-F5344CB8AC3E}">
        <p14:creationId xmlns:p14="http://schemas.microsoft.com/office/powerpoint/2010/main" val="3879361016"/>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9A933-C9DD-1752-F615-836E1456BD5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8A2166C-1485-66CD-6D0C-C8547499F0E3}"/>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7E16DF-09BC-A171-A14A-8C14293617B7}"/>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A2003F8-54CD-7C84-3507-0C891E161DB0}"/>
              </a:ext>
            </a:extLst>
          </p:cNvPr>
          <p:cNvSpPr>
            <a:spLocks noGrp="1"/>
          </p:cNvSpPr>
          <p:nvPr>
            <p:ph type="dt" sz="half" idx="10"/>
          </p:nvPr>
        </p:nvSpPr>
        <p:spPr/>
        <p:txBody>
          <a:bodyPr/>
          <a:lstStyle/>
          <a:p>
            <a:fld id="{3DE8DB6E-14A0-6942-8057-EA2847A4CCB9}" type="datetimeFigureOut">
              <a:rPr lang="en-US" smtClean="0"/>
              <a:t>3/13/25</a:t>
            </a:fld>
            <a:endParaRPr lang="en-US"/>
          </a:p>
        </p:txBody>
      </p:sp>
      <p:sp>
        <p:nvSpPr>
          <p:cNvPr id="6" name="Footer Placeholder 5">
            <a:extLst>
              <a:ext uri="{FF2B5EF4-FFF2-40B4-BE49-F238E27FC236}">
                <a16:creationId xmlns:a16="http://schemas.microsoft.com/office/drawing/2014/main" id="{6BFF06F7-A756-5245-6846-6F5FA99006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C379D1F-C032-F09D-7615-E46367065E19}"/>
              </a:ext>
            </a:extLst>
          </p:cNvPr>
          <p:cNvSpPr>
            <a:spLocks noGrp="1"/>
          </p:cNvSpPr>
          <p:nvPr>
            <p:ph type="sldNum" sz="quarter" idx="12"/>
          </p:nvPr>
        </p:nvSpPr>
        <p:spPr/>
        <p:txBody>
          <a:bodyPr/>
          <a:lstStyle/>
          <a:p>
            <a:fld id="{B23F1844-D42F-EE4C-969F-222C0239699D}" type="slidenum">
              <a:rPr lang="en-US" smtClean="0"/>
              <a:t>‹#›</a:t>
            </a:fld>
            <a:endParaRPr lang="en-US"/>
          </a:p>
        </p:txBody>
      </p:sp>
    </p:spTree>
    <p:extLst>
      <p:ext uri="{BB962C8B-B14F-4D97-AF65-F5344CB8AC3E}">
        <p14:creationId xmlns:p14="http://schemas.microsoft.com/office/powerpoint/2010/main" val="35550647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7122C-15F6-0F6A-4F8D-04712C2A20C6}"/>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1C56E58-8946-6147-CABB-1D0ADEC73F79}"/>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F57B107E-68C8-96D6-00E2-286E65F46C8F}"/>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DFAE441-1A5F-01FC-A3D1-B01FCD45EC56}"/>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C7F9C4BA-4DAC-A32A-FF9B-93018602AB85}"/>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2913989-A452-9192-5690-FC435EEAE387}"/>
              </a:ext>
            </a:extLst>
          </p:cNvPr>
          <p:cNvSpPr>
            <a:spLocks noGrp="1"/>
          </p:cNvSpPr>
          <p:nvPr>
            <p:ph type="dt" sz="half" idx="10"/>
          </p:nvPr>
        </p:nvSpPr>
        <p:spPr/>
        <p:txBody>
          <a:bodyPr/>
          <a:lstStyle/>
          <a:p>
            <a:fld id="{3DE8DB6E-14A0-6942-8057-EA2847A4CCB9}" type="datetimeFigureOut">
              <a:rPr lang="en-US" smtClean="0"/>
              <a:t>3/13/25</a:t>
            </a:fld>
            <a:endParaRPr lang="en-US"/>
          </a:p>
        </p:txBody>
      </p:sp>
      <p:sp>
        <p:nvSpPr>
          <p:cNvPr id="8" name="Footer Placeholder 7">
            <a:extLst>
              <a:ext uri="{FF2B5EF4-FFF2-40B4-BE49-F238E27FC236}">
                <a16:creationId xmlns:a16="http://schemas.microsoft.com/office/drawing/2014/main" id="{070FB0AD-B5D5-9DFC-1865-6C3F6DE109C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0D35191-7D7A-524C-1E24-C4D7CE23CF6C}"/>
              </a:ext>
            </a:extLst>
          </p:cNvPr>
          <p:cNvSpPr>
            <a:spLocks noGrp="1"/>
          </p:cNvSpPr>
          <p:nvPr>
            <p:ph type="sldNum" sz="quarter" idx="12"/>
          </p:nvPr>
        </p:nvSpPr>
        <p:spPr/>
        <p:txBody>
          <a:bodyPr/>
          <a:lstStyle/>
          <a:p>
            <a:fld id="{B23F1844-D42F-EE4C-969F-222C0239699D}" type="slidenum">
              <a:rPr lang="en-US" smtClean="0"/>
              <a:t>‹#›</a:t>
            </a:fld>
            <a:endParaRPr lang="en-US"/>
          </a:p>
        </p:txBody>
      </p:sp>
    </p:spTree>
    <p:extLst>
      <p:ext uri="{BB962C8B-B14F-4D97-AF65-F5344CB8AC3E}">
        <p14:creationId xmlns:p14="http://schemas.microsoft.com/office/powerpoint/2010/main" val="1828048297"/>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0E089-9BB4-4E9D-14D5-3B9CAEAFF6C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19D3111-7C08-DE67-4202-255A2DE1DBB3}"/>
              </a:ext>
            </a:extLst>
          </p:cNvPr>
          <p:cNvSpPr>
            <a:spLocks noGrp="1"/>
          </p:cNvSpPr>
          <p:nvPr>
            <p:ph type="dt" sz="half" idx="10"/>
          </p:nvPr>
        </p:nvSpPr>
        <p:spPr/>
        <p:txBody>
          <a:bodyPr/>
          <a:lstStyle/>
          <a:p>
            <a:fld id="{3DE8DB6E-14A0-6942-8057-EA2847A4CCB9}" type="datetimeFigureOut">
              <a:rPr lang="en-US" smtClean="0"/>
              <a:t>3/13/25</a:t>
            </a:fld>
            <a:endParaRPr lang="en-US"/>
          </a:p>
        </p:txBody>
      </p:sp>
      <p:sp>
        <p:nvSpPr>
          <p:cNvPr id="4" name="Footer Placeholder 3">
            <a:extLst>
              <a:ext uri="{FF2B5EF4-FFF2-40B4-BE49-F238E27FC236}">
                <a16:creationId xmlns:a16="http://schemas.microsoft.com/office/drawing/2014/main" id="{17B1E261-04D5-8181-C0B2-DD8359E6BD3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DEC1A62-1DA7-240C-9382-4D00B07DF8CF}"/>
              </a:ext>
            </a:extLst>
          </p:cNvPr>
          <p:cNvSpPr>
            <a:spLocks noGrp="1"/>
          </p:cNvSpPr>
          <p:nvPr>
            <p:ph type="sldNum" sz="quarter" idx="12"/>
          </p:nvPr>
        </p:nvSpPr>
        <p:spPr/>
        <p:txBody>
          <a:bodyPr/>
          <a:lstStyle/>
          <a:p>
            <a:fld id="{B23F1844-D42F-EE4C-969F-222C0239699D}" type="slidenum">
              <a:rPr lang="en-US" smtClean="0"/>
              <a:t>‹#›</a:t>
            </a:fld>
            <a:endParaRPr lang="en-US"/>
          </a:p>
        </p:txBody>
      </p:sp>
    </p:spTree>
    <p:extLst>
      <p:ext uri="{BB962C8B-B14F-4D97-AF65-F5344CB8AC3E}">
        <p14:creationId xmlns:p14="http://schemas.microsoft.com/office/powerpoint/2010/main" val="545123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456054-B173-26D8-C647-62EC48753066}"/>
              </a:ext>
            </a:extLst>
          </p:cNvPr>
          <p:cNvSpPr>
            <a:spLocks noGrp="1"/>
          </p:cNvSpPr>
          <p:nvPr>
            <p:ph type="dt" sz="half" idx="10"/>
          </p:nvPr>
        </p:nvSpPr>
        <p:spPr/>
        <p:txBody>
          <a:bodyPr/>
          <a:lstStyle/>
          <a:p>
            <a:fld id="{59D42486-60EF-4F60-A615-D972FC887030}" type="datetime1">
              <a:rPr lang="en-US" smtClean="0"/>
              <a:t>3/13/25</a:t>
            </a:fld>
            <a:endParaRPr lang="en-US"/>
          </a:p>
        </p:txBody>
      </p:sp>
      <p:sp>
        <p:nvSpPr>
          <p:cNvPr id="3" name="Footer Placeholder 2">
            <a:extLst>
              <a:ext uri="{FF2B5EF4-FFF2-40B4-BE49-F238E27FC236}">
                <a16:creationId xmlns:a16="http://schemas.microsoft.com/office/drawing/2014/main" id="{C861F898-2B30-469B-9FB7-4BDB1E6E5B85}"/>
              </a:ext>
            </a:extLst>
          </p:cNvPr>
          <p:cNvSpPr>
            <a:spLocks noGrp="1"/>
          </p:cNvSpPr>
          <p:nvPr>
            <p:ph type="ftr" sz="quarter" idx="11"/>
          </p:nvPr>
        </p:nvSpPr>
        <p:spPr/>
        <p:txBody>
          <a:bodyPr/>
          <a:lstStyle/>
          <a:p>
            <a:r>
              <a:rPr lang="en-US"/>
              <a:t>© 2021 Worth Publishers International Economics, 5e  |  Feenstra/Taylor</a:t>
            </a:r>
            <a:endParaRPr lang="en-US" dirty="0"/>
          </a:p>
        </p:txBody>
      </p:sp>
      <p:sp>
        <p:nvSpPr>
          <p:cNvPr id="4" name="Slide Number Placeholder 3">
            <a:extLst>
              <a:ext uri="{FF2B5EF4-FFF2-40B4-BE49-F238E27FC236}">
                <a16:creationId xmlns:a16="http://schemas.microsoft.com/office/drawing/2014/main" id="{5289F3BD-C57E-9EA9-E296-E7BA5D3FC8E7}"/>
              </a:ext>
            </a:extLst>
          </p:cNvPr>
          <p:cNvSpPr>
            <a:spLocks noGrp="1"/>
          </p:cNvSpPr>
          <p:nvPr>
            <p:ph type="sldNum" sz="quarter" idx="12"/>
          </p:nvPr>
        </p:nvSpPr>
        <p:spPr/>
        <p:txBody>
          <a:bodyPr/>
          <a:lstStyle/>
          <a:p>
            <a:fld id="{3716A705-FD81-4A6D-8669-AC884E7A3E75}" type="slidenum">
              <a:rPr lang="en-US" smtClean="0"/>
              <a:t>‹#›</a:t>
            </a:fld>
            <a:endParaRPr lang="en-US"/>
          </a:p>
        </p:txBody>
      </p:sp>
    </p:spTree>
    <p:extLst>
      <p:ext uri="{BB962C8B-B14F-4D97-AF65-F5344CB8AC3E}">
        <p14:creationId xmlns:p14="http://schemas.microsoft.com/office/powerpoint/2010/main" val="13551180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54DAE-15F4-008B-693F-C17387B5F0DA}"/>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4212CCC3-1DDD-563E-7EDB-AFA4EC5124A3}"/>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C9ABD0A-63DD-ED46-D514-6485D4764BB2}"/>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1B8E7B1-68A7-CB37-F138-6A317D226FEF}"/>
              </a:ext>
            </a:extLst>
          </p:cNvPr>
          <p:cNvSpPr>
            <a:spLocks noGrp="1"/>
          </p:cNvSpPr>
          <p:nvPr>
            <p:ph type="dt" sz="half" idx="10"/>
          </p:nvPr>
        </p:nvSpPr>
        <p:spPr/>
        <p:txBody>
          <a:bodyPr/>
          <a:lstStyle/>
          <a:p>
            <a:fld id="{3DE8DB6E-14A0-6942-8057-EA2847A4CCB9}" type="datetimeFigureOut">
              <a:rPr lang="en-US" smtClean="0"/>
              <a:t>3/13/25</a:t>
            </a:fld>
            <a:endParaRPr lang="en-US"/>
          </a:p>
        </p:txBody>
      </p:sp>
      <p:sp>
        <p:nvSpPr>
          <p:cNvPr id="6" name="Footer Placeholder 5">
            <a:extLst>
              <a:ext uri="{FF2B5EF4-FFF2-40B4-BE49-F238E27FC236}">
                <a16:creationId xmlns:a16="http://schemas.microsoft.com/office/drawing/2014/main" id="{6D3B48B8-1B41-DEA6-F29E-7AB798E4BC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998D5F-F558-B4B7-D33E-F832B3C5C8F2}"/>
              </a:ext>
            </a:extLst>
          </p:cNvPr>
          <p:cNvSpPr>
            <a:spLocks noGrp="1"/>
          </p:cNvSpPr>
          <p:nvPr>
            <p:ph type="sldNum" sz="quarter" idx="12"/>
          </p:nvPr>
        </p:nvSpPr>
        <p:spPr/>
        <p:txBody>
          <a:bodyPr/>
          <a:lstStyle/>
          <a:p>
            <a:fld id="{B23F1844-D42F-EE4C-969F-222C0239699D}" type="slidenum">
              <a:rPr lang="en-US" smtClean="0"/>
              <a:t>‹#›</a:t>
            </a:fld>
            <a:endParaRPr lang="en-US"/>
          </a:p>
        </p:txBody>
      </p:sp>
    </p:spTree>
    <p:extLst>
      <p:ext uri="{BB962C8B-B14F-4D97-AF65-F5344CB8AC3E}">
        <p14:creationId xmlns:p14="http://schemas.microsoft.com/office/powerpoint/2010/main" val="3262996302"/>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A0353-DD42-C24F-54C2-E2E02A8A437B}"/>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8E33F68C-A9F6-A403-2C8E-7EC3FCA50D1A}"/>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4F37E98D-1253-A1E1-CAEC-32D35D521E02}"/>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2BC60ACC-73E0-F00B-EBE3-DB481D203FDC}"/>
              </a:ext>
            </a:extLst>
          </p:cNvPr>
          <p:cNvSpPr>
            <a:spLocks noGrp="1"/>
          </p:cNvSpPr>
          <p:nvPr>
            <p:ph type="dt" sz="half" idx="10"/>
          </p:nvPr>
        </p:nvSpPr>
        <p:spPr/>
        <p:txBody>
          <a:bodyPr/>
          <a:lstStyle/>
          <a:p>
            <a:fld id="{3DE8DB6E-14A0-6942-8057-EA2847A4CCB9}" type="datetimeFigureOut">
              <a:rPr lang="en-US" smtClean="0"/>
              <a:t>3/13/25</a:t>
            </a:fld>
            <a:endParaRPr lang="en-US"/>
          </a:p>
        </p:txBody>
      </p:sp>
      <p:sp>
        <p:nvSpPr>
          <p:cNvPr id="6" name="Footer Placeholder 5">
            <a:extLst>
              <a:ext uri="{FF2B5EF4-FFF2-40B4-BE49-F238E27FC236}">
                <a16:creationId xmlns:a16="http://schemas.microsoft.com/office/drawing/2014/main" id="{A6CB8B00-E775-F82A-DB0F-BCF64976B45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17ABC6-CCB1-A691-EAD2-8175A22700F0}"/>
              </a:ext>
            </a:extLst>
          </p:cNvPr>
          <p:cNvSpPr>
            <a:spLocks noGrp="1"/>
          </p:cNvSpPr>
          <p:nvPr>
            <p:ph type="sldNum" sz="quarter" idx="12"/>
          </p:nvPr>
        </p:nvSpPr>
        <p:spPr/>
        <p:txBody>
          <a:bodyPr/>
          <a:lstStyle/>
          <a:p>
            <a:fld id="{B23F1844-D42F-EE4C-969F-222C0239699D}" type="slidenum">
              <a:rPr lang="en-US" smtClean="0"/>
              <a:t>‹#›</a:t>
            </a:fld>
            <a:endParaRPr lang="en-US"/>
          </a:p>
        </p:txBody>
      </p:sp>
    </p:spTree>
    <p:extLst>
      <p:ext uri="{BB962C8B-B14F-4D97-AF65-F5344CB8AC3E}">
        <p14:creationId xmlns:p14="http://schemas.microsoft.com/office/powerpoint/2010/main" val="1757418809"/>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6A02C-B530-FBC3-BCDF-EE99361C056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23DD415-32F5-0B77-0EF7-4103CF1F85D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F4B465-729C-5C60-0234-4B75142E8B43}"/>
              </a:ext>
            </a:extLst>
          </p:cNvPr>
          <p:cNvSpPr>
            <a:spLocks noGrp="1"/>
          </p:cNvSpPr>
          <p:nvPr>
            <p:ph type="dt" sz="half" idx="10"/>
          </p:nvPr>
        </p:nvSpPr>
        <p:spPr/>
        <p:txBody>
          <a:bodyPr/>
          <a:lstStyle/>
          <a:p>
            <a:fld id="{3DE8DB6E-14A0-6942-8057-EA2847A4CCB9}" type="datetimeFigureOut">
              <a:rPr lang="en-US" smtClean="0"/>
              <a:t>3/13/25</a:t>
            </a:fld>
            <a:endParaRPr lang="en-US"/>
          </a:p>
        </p:txBody>
      </p:sp>
      <p:sp>
        <p:nvSpPr>
          <p:cNvPr id="5" name="Footer Placeholder 4">
            <a:extLst>
              <a:ext uri="{FF2B5EF4-FFF2-40B4-BE49-F238E27FC236}">
                <a16:creationId xmlns:a16="http://schemas.microsoft.com/office/drawing/2014/main" id="{6ECFB839-B0DB-8E09-F2E3-29B0CE25C6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15974D-DC70-DCE2-9EB7-F3F404DE1656}"/>
              </a:ext>
            </a:extLst>
          </p:cNvPr>
          <p:cNvSpPr>
            <a:spLocks noGrp="1"/>
          </p:cNvSpPr>
          <p:nvPr>
            <p:ph type="sldNum" sz="quarter" idx="12"/>
          </p:nvPr>
        </p:nvSpPr>
        <p:spPr/>
        <p:txBody>
          <a:bodyPr/>
          <a:lstStyle/>
          <a:p>
            <a:fld id="{B23F1844-D42F-EE4C-969F-222C0239699D}" type="slidenum">
              <a:rPr lang="en-US" smtClean="0"/>
              <a:t>‹#›</a:t>
            </a:fld>
            <a:endParaRPr lang="en-US"/>
          </a:p>
        </p:txBody>
      </p:sp>
    </p:spTree>
    <p:extLst>
      <p:ext uri="{BB962C8B-B14F-4D97-AF65-F5344CB8AC3E}">
        <p14:creationId xmlns:p14="http://schemas.microsoft.com/office/powerpoint/2010/main" val="350249"/>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723BDFA-A7AC-F25D-1375-AB163466549F}"/>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D65FFE3-18F4-D06C-808B-CE874440E015}"/>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A6072E-99A8-E870-838F-B88DF9B209BF}"/>
              </a:ext>
            </a:extLst>
          </p:cNvPr>
          <p:cNvSpPr>
            <a:spLocks noGrp="1"/>
          </p:cNvSpPr>
          <p:nvPr>
            <p:ph type="dt" sz="half" idx="10"/>
          </p:nvPr>
        </p:nvSpPr>
        <p:spPr/>
        <p:txBody>
          <a:bodyPr/>
          <a:lstStyle/>
          <a:p>
            <a:fld id="{3DE8DB6E-14A0-6942-8057-EA2847A4CCB9}" type="datetimeFigureOut">
              <a:rPr lang="en-US" smtClean="0"/>
              <a:t>3/13/25</a:t>
            </a:fld>
            <a:endParaRPr lang="en-US"/>
          </a:p>
        </p:txBody>
      </p:sp>
      <p:sp>
        <p:nvSpPr>
          <p:cNvPr id="5" name="Footer Placeholder 4">
            <a:extLst>
              <a:ext uri="{FF2B5EF4-FFF2-40B4-BE49-F238E27FC236}">
                <a16:creationId xmlns:a16="http://schemas.microsoft.com/office/drawing/2014/main" id="{12647135-7BB7-68ED-BF11-76F2240FF7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FE75FB-BD61-870A-F89D-EA90AC9AB0C2}"/>
              </a:ext>
            </a:extLst>
          </p:cNvPr>
          <p:cNvSpPr>
            <a:spLocks noGrp="1"/>
          </p:cNvSpPr>
          <p:nvPr>
            <p:ph type="sldNum" sz="quarter" idx="12"/>
          </p:nvPr>
        </p:nvSpPr>
        <p:spPr/>
        <p:txBody>
          <a:bodyPr/>
          <a:lstStyle/>
          <a:p>
            <a:fld id="{B23F1844-D42F-EE4C-969F-222C0239699D}" type="slidenum">
              <a:rPr lang="en-US" smtClean="0"/>
              <a:t>‹#›</a:t>
            </a:fld>
            <a:endParaRPr lang="en-US"/>
          </a:p>
        </p:txBody>
      </p:sp>
    </p:spTree>
    <p:extLst>
      <p:ext uri="{BB962C8B-B14F-4D97-AF65-F5344CB8AC3E}">
        <p14:creationId xmlns:p14="http://schemas.microsoft.com/office/powerpoint/2010/main" val="2542568366"/>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52510"/>
            <a:ext cx="8229600" cy="1143000"/>
          </a:xfrm>
        </p:spPr>
        <p:txBody>
          <a:bodyPr/>
          <a:lstStyle>
            <a:lvl1pPr>
              <a:defRPr b="1"/>
            </a:lvl1pPr>
          </a:lstStyle>
          <a:p>
            <a:r>
              <a:rPr lang="en-US"/>
              <a:t>Click to edit Master title style</a:t>
            </a:r>
          </a:p>
        </p:txBody>
      </p:sp>
      <p:sp>
        <p:nvSpPr>
          <p:cNvPr id="3" name="Content Placeholder 2"/>
          <p:cNvSpPr>
            <a:spLocks noGrp="1"/>
          </p:cNvSpPr>
          <p:nvPr>
            <p:ph idx="1"/>
          </p:nvPr>
        </p:nvSpPr>
        <p:spPr>
          <a:xfrm>
            <a:off x="457200" y="1600201"/>
            <a:ext cx="8229600" cy="2133600"/>
          </a:xfrm>
        </p:spPr>
        <p:txBody>
          <a:bodyPr/>
          <a:lstStyle>
            <a:lvl1pPr marL="450850" indent="-450850">
              <a:spcBef>
                <a:spcPts val="624"/>
              </a:spcBef>
              <a:defRPr/>
            </a:lvl1pPr>
            <a:lvl2pPr marL="900113" indent="-442913">
              <a:spcBef>
                <a:spcPts val="624"/>
              </a:spcBef>
              <a:defRPr sz="2600"/>
            </a:lvl2pPr>
            <a:lvl3pPr marL="1255713" indent="-341313">
              <a:spcBef>
                <a:spcPts val="624"/>
              </a:spcBef>
              <a:defRPr sz="2400"/>
            </a:lvl3pPr>
            <a:lvl4pPr>
              <a:spcBef>
                <a:spcPts val="624"/>
              </a:spcBef>
              <a:defRPr/>
            </a:lvl4pPr>
            <a:lvl5pPr>
              <a:spcBef>
                <a:spcPts val="624"/>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5" name="Straight Connector 14">
            <a:extLst>
              <a:ext uri="{FF2B5EF4-FFF2-40B4-BE49-F238E27FC236}">
                <a16:creationId xmlns:a16="http://schemas.microsoft.com/office/drawing/2014/main" id="{21B469AE-2330-494A-AC2B-609B11BF28FE}"/>
              </a:ext>
            </a:extLst>
          </p:cNvPr>
          <p:cNvCxnSpPr/>
          <p:nvPr/>
        </p:nvCxnSpPr>
        <p:spPr>
          <a:xfrm>
            <a:off x="0" y="6464808"/>
            <a:ext cx="9144000" cy="0"/>
          </a:xfrm>
          <a:prstGeom prst="line">
            <a:avLst/>
          </a:prstGeom>
          <a:ln w="44450"/>
        </p:spPr>
        <p:style>
          <a:lnRef idx="1">
            <a:schemeClr val="accent6"/>
          </a:lnRef>
          <a:fillRef idx="0">
            <a:schemeClr val="accent6"/>
          </a:fillRef>
          <a:effectRef idx="0">
            <a:schemeClr val="accent6"/>
          </a:effectRef>
          <a:fontRef idx="minor">
            <a:schemeClr val="tx1"/>
          </a:fontRef>
        </p:style>
      </p:cxnSp>
      <p:cxnSp>
        <p:nvCxnSpPr>
          <p:cNvPr id="8" name="Straight Connector 7">
            <a:extLst>
              <a:ext uri="{FF2B5EF4-FFF2-40B4-BE49-F238E27FC236}">
                <a16:creationId xmlns:a16="http://schemas.microsoft.com/office/drawing/2014/main" id="{270A0709-DB7F-3E48-89F5-9FEDC6D848FB}"/>
              </a:ext>
            </a:extLst>
          </p:cNvPr>
          <p:cNvCxnSpPr/>
          <p:nvPr/>
        </p:nvCxnSpPr>
        <p:spPr>
          <a:xfrm>
            <a:off x="0" y="1250195"/>
            <a:ext cx="9144000" cy="0"/>
          </a:xfrm>
          <a:prstGeom prst="line">
            <a:avLst/>
          </a:prstGeom>
          <a:ln w="44450"/>
        </p:spPr>
        <p:style>
          <a:lnRef idx="1">
            <a:schemeClr val="accent6"/>
          </a:lnRef>
          <a:fillRef idx="0">
            <a:schemeClr val="accent6"/>
          </a:fillRef>
          <a:effectRef idx="0">
            <a:schemeClr val="accent6"/>
          </a:effectRef>
          <a:fontRef idx="minor">
            <a:schemeClr val="tx1"/>
          </a:fontRef>
        </p:style>
      </p:cxnSp>
      <p:cxnSp>
        <p:nvCxnSpPr>
          <p:cNvPr id="9" name="Straight Connector 8">
            <a:extLst>
              <a:ext uri="{FF2B5EF4-FFF2-40B4-BE49-F238E27FC236}">
                <a16:creationId xmlns:a16="http://schemas.microsoft.com/office/drawing/2014/main" id="{3F1F8FCD-E16F-E941-BD48-60499D651933}"/>
              </a:ext>
            </a:extLst>
          </p:cNvPr>
          <p:cNvCxnSpPr/>
          <p:nvPr/>
        </p:nvCxnSpPr>
        <p:spPr>
          <a:xfrm>
            <a:off x="0" y="1295510"/>
            <a:ext cx="9144000" cy="0"/>
          </a:xfrm>
          <a:prstGeom prst="line">
            <a:avLst/>
          </a:prstGeom>
          <a:ln w="44450">
            <a:solidFill>
              <a:schemeClr val="accent5">
                <a:lumMod val="60000"/>
                <a:lumOff val="40000"/>
              </a:schemeClr>
            </a:solidFill>
          </a:ln>
        </p:spPr>
        <p:style>
          <a:lnRef idx="1">
            <a:schemeClr val="accent6"/>
          </a:lnRef>
          <a:fillRef idx="0">
            <a:schemeClr val="accent6"/>
          </a:fillRef>
          <a:effectRef idx="0">
            <a:schemeClr val="accent6"/>
          </a:effectRef>
          <a:fontRef idx="minor">
            <a:schemeClr val="tx1"/>
          </a:fontRef>
        </p:style>
      </p:cxnSp>
      <p:sp>
        <p:nvSpPr>
          <p:cNvPr id="11" name="Slide Number Placeholder 5">
            <a:extLst>
              <a:ext uri="{FF2B5EF4-FFF2-40B4-BE49-F238E27FC236}">
                <a16:creationId xmlns:a16="http://schemas.microsoft.com/office/drawing/2014/main" id="{72F768FE-04AA-8D4B-B2F9-216643C09078}"/>
              </a:ext>
            </a:extLst>
          </p:cNvPr>
          <p:cNvSpPr txBox="1">
            <a:spLocks/>
          </p:cNvSpPr>
          <p:nvPr/>
        </p:nvSpPr>
        <p:spPr>
          <a:xfrm>
            <a:off x="6553200" y="6492875"/>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A9DC544-88AA-4B99-9569-D68FC0552398}" type="slidenum">
              <a:rPr lang="en-US" smtClean="0"/>
              <a:pPr/>
              <a:t>‹#›</a:t>
            </a:fld>
            <a:endParaRPr lang="en-US"/>
          </a:p>
        </p:txBody>
      </p:sp>
      <p:sp>
        <p:nvSpPr>
          <p:cNvPr id="12" name="Footer Placeholder 4">
            <a:extLst>
              <a:ext uri="{FF2B5EF4-FFF2-40B4-BE49-F238E27FC236}">
                <a16:creationId xmlns:a16="http://schemas.microsoft.com/office/drawing/2014/main" id="{4F43220B-9EF2-D04F-82AE-4F5B9040E30E}"/>
              </a:ext>
            </a:extLst>
          </p:cNvPr>
          <p:cNvSpPr txBox="1">
            <a:spLocks/>
          </p:cNvSpPr>
          <p:nvPr/>
        </p:nvSpPr>
        <p:spPr>
          <a:xfrm>
            <a:off x="2897488" y="6479152"/>
            <a:ext cx="3593995" cy="365125"/>
          </a:xfrm>
          <a:prstGeom prst="rect">
            <a:avLst/>
          </a:prstGeom>
        </p:spPr>
        <p:txBody>
          <a:bodyPr vert="horz" lIns="91440" tIns="45720" rIns="91440" bIns="45720" rtlCol="0" anchor="ctr"/>
          <a:lstStyle>
            <a:defPPr>
              <a:defRPr lang="en-US"/>
            </a:defPPr>
            <a:lvl1pPr marL="0" algn="ctr" defTabSz="914400" rtl="0" eaLnBrk="1" latinLnBrk="0" hangingPunct="1">
              <a:defRPr sz="11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 2021 Worth Publishers</a:t>
            </a:r>
            <a:br>
              <a:rPr lang="en-US" dirty="0"/>
            </a:br>
            <a:r>
              <a:rPr lang="en-US" dirty="0"/>
              <a:t>International Economics, 5e  |  </a:t>
            </a:r>
            <a:r>
              <a:rPr lang="en-US" dirty="0" err="1"/>
              <a:t>Feenstra</a:t>
            </a:r>
            <a:r>
              <a:rPr lang="en-US" dirty="0"/>
              <a:t>/Taylor</a:t>
            </a:r>
          </a:p>
        </p:txBody>
      </p:sp>
      <p:sp>
        <p:nvSpPr>
          <p:cNvPr id="5" name="Content Placeholder 4">
            <a:extLst>
              <a:ext uri="{FF2B5EF4-FFF2-40B4-BE49-F238E27FC236}">
                <a16:creationId xmlns:a16="http://schemas.microsoft.com/office/drawing/2014/main" id="{4B051B4E-709F-47BE-AF77-87957B11B37E}"/>
              </a:ext>
            </a:extLst>
          </p:cNvPr>
          <p:cNvSpPr>
            <a:spLocks noGrp="1"/>
          </p:cNvSpPr>
          <p:nvPr>
            <p:ph sz="quarter" idx="10"/>
          </p:nvPr>
        </p:nvSpPr>
        <p:spPr>
          <a:xfrm>
            <a:off x="457200" y="3886200"/>
            <a:ext cx="8229600" cy="1295400"/>
          </a:xfrm>
        </p:spPr>
        <p:txBody>
          <a:bodyPr/>
          <a:lstStyle>
            <a:lvl1pPr marL="450850" indent="-450850">
              <a:spcBef>
                <a:spcPts val="624"/>
              </a:spcBef>
              <a:defRPr/>
            </a:lvl1pPr>
            <a:lvl2pPr marL="900113" indent="-442913">
              <a:spcBef>
                <a:spcPts val="624"/>
              </a:spcBef>
              <a:defRPr sz="2600"/>
            </a:lvl2pPr>
            <a:lvl3pPr marL="1255713" indent="-341313">
              <a:spcBef>
                <a:spcPts val="624"/>
              </a:spcBef>
              <a:defRPr/>
            </a:lvl3pPr>
            <a:lvl4pPr>
              <a:spcBef>
                <a:spcPts val="624"/>
              </a:spcBef>
              <a:defRPr/>
            </a:lvl4pPr>
            <a:lvl5pPr>
              <a:spcBef>
                <a:spcPts val="624"/>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a:extLst>
              <a:ext uri="{FF2B5EF4-FFF2-40B4-BE49-F238E27FC236}">
                <a16:creationId xmlns:a16="http://schemas.microsoft.com/office/drawing/2014/main" id="{ACB70D98-B250-4B9C-BB39-A3CEA12FF217}"/>
              </a:ext>
            </a:extLst>
          </p:cNvPr>
          <p:cNvSpPr>
            <a:spLocks noGrp="1"/>
          </p:cNvSpPr>
          <p:nvPr>
            <p:ph sz="quarter" idx="11"/>
          </p:nvPr>
        </p:nvSpPr>
        <p:spPr>
          <a:xfrm>
            <a:off x="457200" y="5334000"/>
            <a:ext cx="8229600" cy="99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3" name="Picture Placeholder 12">
            <a:extLst>
              <a:ext uri="{FF2B5EF4-FFF2-40B4-BE49-F238E27FC236}">
                <a16:creationId xmlns:a16="http://schemas.microsoft.com/office/drawing/2014/main" id="{5AE9FD9E-D6C4-411F-8C8C-C5AD91450BFE}"/>
              </a:ext>
            </a:extLst>
          </p:cNvPr>
          <p:cNvSpPr>
            <a:spLocks noGrp="1"/>
          </p:cNvSpPr>
          <p:nvPr>
            <p:ph type="pic" sz="quarter" idx="12"/>
          </p:nvPr>
        </p:nvSpPr>
        <p:spPr>
          <a:xfrm>
            <a:off x="5486400" y="3200400"/>
            <a:ext cx="1219200" cy="1066800"/>
          </a:xfrm>
        </p:spPr>
        <p:txBody>
          <a:bodyPr/>
          <a:lstStyle/>
          <a:p>
            <a:endParaRPr lang="en-IN"/>
          </a:p>
        </p:txBody>
      </p:sp>
      <p:sp>
        <p:nvSpPr>
          <p:cNvPr id="16" name="Picture Placeholder 15">
            <a:extLst>
              <a:ext uri="{FF2B5EF4-FFF2-40B4-BE49-F238E27FC236}">
                <a16:creationId xmlns:a16="http://schemas.microsoft.com/office/drawing/2014/main" id="{2D6E374D-A3A2-4A73-BFE2-603D8AD2CCA1}"/>
              </a:ext>
            </a:extLst>
          </p:cNvPr>
          <p:cNvSpPr>
            <a:spLocks noGrp="1"/>
          </p:cNvSpPr>
          <p:nvPr>
            <p:ph type="pic" sz="quarter" idx="13"/>
          </p:nvPr>
        </p:nvSpPr>
        <p:spPr>
          <a:xfrm>
            <a:off x="6934200" y="3186113"/>
            <a:ext cx="990600" cy="1081087"/>
          </a:xfrm>
        </p:spPr>
        <p:txBody>
          <a:bodyPr/>
          <a:lstStyle/>
          <a:p>
            <a:endParaRPr lang="en-IN"/>
          </a:p>
        </p:txBody>
      </p:sp>
      <p:sp>
        <p:nvSpPr>
          <p:cNvPr id="18" name="Table Placeholder 17">
            <a:extLst>
              <a:ext uri="{FF2B5EF4-FFF2-40B4-BE49-F238E27FC236}">
                <a16:creationId xmlns:a16="http://schemas.microsoft.com/office/drawing/2014/main" id="{DA92EFBD-A085-4DF4-AD56-4077C618C39C}"/>
              </a:ext>
            </a:extLst>
          </p:cNvPr>
          <p:cNvSpPr>
            <a:spLocks noGrp="1"/>
          </p:cNvSpPr>
          <p:nvPr>
            <p:ph type="tbl" sz="quarter" idx="14"/>
          </p:nvPr>
        </p:nvSpPr>
        <p:spPr>
          <a:xfrm>
            <a:off x="8153400" y="3046413"/>
            <a:ext cx="762000" cy="1373187"/>
          </a:xfrm>
        </p:spPr>
        <p:txBody>
          <a:bodyPr/>
          <a:lstStyle/>
          <a:p>
            <a:endParaRPr lang="en-IN"/>
          </a:p>
        </p:txBody>
      </p:sp>
      <p:sp>
        <p:nvSpPr>
          <p:cNvPr id="20" name="Content Placeholder 19">
            <a:extLst>
              <a:ext uri="{FF2B5EF4-FFF2-40B4-BE49-F238E27FC236}">
                <a16:creationId xmlns:a16="http://schemas.microsoft.com/office/drawing/2014/main" id="{EAE33A6D-C7B7-47E9-87F1-DF5DD53E5813}"/>
              </a:ext>
            </a:extLst>
          </p:cNvPr>
          <p:cNvSpPr>
            <a:spLocks noGrp="1"/>
          </p:cNvSpPr>
          <p:nvPr>
            <p:ph sz="quarter" idx="15"/>
          </p:nvPr>
        </p:nvSpPr>
        <p:spPr>
          <a:xfrm>
            <a:off x="5867400" y="4559300"/>
            <a:ext cx="1371600" cy="1003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2" name="Content Placeholder 21">
            <a:extLst>
              <a:ext uri="{FF2B5EF4-FFF2-40B4-BE49-F238E27FC236}">
                <a16:creationId xmlns:a16="http://schemas.microsoft.com/office/drawing/2014/main" id="{5AC5569E-2789-46CB-B0BA-5D41359E5DD1}"/>
              </a:ext>
            </a:extLst>
          </p:cNvPr>
          <p:cNvSpPr>
            <a:spLocks noGrp="1"/>
          </p:cNvSpPr>
          <p:nvPr>
            <p:ph sz="quarter" idx="16"/>
          </p:nvPr>
        </p:nvSpPr>
        <p:spPr>
          <a:xfrm>
            <a:off x="7543800" y="4295775"/>
            <a:ext cx="838200" cy="1081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751855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92A549C-55D1-5697-6DD9-F1668414168D}"/>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35262CB-B2C8-4647-898D-7E8B04194251}"/>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20BDDA-D0D0-D48F-8263-81BCC1B2A598}"/>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3DE8DB6E-14A0-6942-8057-EA2847A4CCB9}" type="datetimeFigureOut">
              <a:rPr lang="en-US" smtClean="0"/>
              <a:t>3/13/25</a:t>
            </a:fld>
            <a:endParaRPr lang="en-US"/>
          </a:p>
        </p:txBody>
      </p:sp>
      <p:sp>
        <p:nvSpPr>
          <p:cNvPr id="5" name="Footer Placeholder 4">
            <a:extLst>
              <a:ext uri="{FF2B5EF4-FFF2-40B4-BE49-F238E27FC236}">
                <a16:creationId xmlns:a16="http://schemas.microsoft.com/office/drawing/2014/main" id="{C76F2F41-97CD-DCBA-1242-03640BE7A19C}"/>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F4A96C5-D790-A84F-811D-71C686A189AD}"/>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B23F1844-D42F-EE4C-969F-222C0239699D}" type="slidenum">
              <a:rPr lang="en-US" smtClean="0"/>
              <a:t>‹#›</a:t>
            </a:fld>
            <a:endParaRPr lang="en-US"/>
          </a:p>
        </p:txBody>
      </p:sp>
    </p:spTree>
    <p:extLst>
      <p:ext uri="{BB962C8B-B14F-4D97-AF65-F5344CB8AC3E}">
        <p14:creationId xmlns:p14="http://schemas.microsoft.com/office/powerpoint/2010/main" val="3241613851"/>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Lst>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90.png"/><Relationship Id="rId1" Type="http://schemas.openxmlformats.org/officeDocument/2006/relationships/slideLayout" Target="../slideLayouts/slideLayout12.xml"/><Relationship Id="rId5" Type="http://schemas.openxmlformats.org/officeDocument/2006/relationships/image" Target="../media/image10.png"/><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5B717E13-2DC1-2D7C-F70D-0D5A20A704A5}"/>
              </a:ext>
            </a:extLst>
          </p:cNvPr>
          <p:cNvSpPr>
            <a:spLocks noGrp="1"/>
          </p:cNvSpPr>
          <p:nvPr>
            <p:ph type="ctrTitle"/>
          </p:nvPr>
        </p:nvSpPr>
        <p:spPr>
          <a:xfrm>
            <a:off x="685800" y="838201"/>
            <a:ext cx="7772400" cy="1828800"/>
          </a:xfrm>
        </p:spPr>
        <p:txBody>
          <a:bodyPr>
            <a:normAutofit/>
          </a:bodyPr>
          <a:lstStyle/>
          <a:p>
            <a:r>
              <a:rPr lang="en-US" sz="4000" dirty="0"/>
              <a:t>Global Economic Shifts</a:t>
            </a:r>
            <a:br>
              <a:rPr lang="en-US" dirty="0"/>
            </a:br>
            <a:r>
              <a:rPr lang="en-US" sz="2800" dirty="0"/>
              <a:t> </a:t>
            </a:r>
            <a:r>
              <a:rPr lang="en-CA" sz="2800" b="0" i="0" dirty="0">
                <a:solidFill>
                  <a:srgbClr val="003E2D"/>
                </a:solidFill>
                <a:effectLst/>
                <a:latin typeface="Museo Sans W01 500"/>
              </a:rPr>
              <a:t>ECON 220</a:t>
            </a:r>
            <a:endParaRPr lang="en-US" sz="2800" dirty="0"/>
          </a:p>
        </p:txBody>
      </p:sp>
      <p:sp>
        <p:nvSpPr>
          <p:cNvPr id="19" name="Subtitle 18">
            <a:extLst>
              <a:ext uri="{FF2B5EF4-FFF2-40B4-BE49-F238E27FC236}">
                <a16:creationId xmlns:a16="http://schemas.microsoft.com/office/drawing/2014/main" id="{ACC0129F-CDA1-6FA5-0D96-CB850EA55C5E}"/>
              </a:ext>
            </a:extLst>
          </p:cNvPr>
          <p:cNvSpPr>
            <a:spLocks noGrp="1"/>
          </p:cNvSpPr>
          <p:nvPr>
            <p:ph type="subTitle" idx="1"/>
          </p:nvPr>
        </p:nvSpPr>
        <p:spPr>
          <a:xfrm>
            <a:off x="1143000" y="3276600"/>
            <a:ext cx="7111314" cy="1981200"/>
          </a:xfrm>
        </p:spPr>
        <p:txBody>
          <a:bodyPr>
            <a:normAutofit/>
          </a:bodyPr>
          <a:lstStyle/>
          <a:p>
            <a:r>
              <a:rPr lang="en-US" sz="2800" dirty="0"/>
              <a:t>Import Tariffs </a:t>
            </a:r>
          </a:p>
          <a:p>
            <a:r>
              <a:rPr lang="en-US" dirty="0"/>
              <a:t> </a:t>
            </a:r>
          </a:p>
          <a:p>
            <a:endParaRPr lang="en-US" dirty="0"/>
          </a:p>
          <a:p>
            <a:r>
              <a:rPr lang="en-US" dirty="0"/>
              <a:t>Instructor: </a:t>
            </a:r>
            <a:r>
              <a:rPr lang="en-US" dirty="0" err="1"/>
              <a:t>Muhebullah</a:t>
            </a:r>
            <a:r>
              <a:rPr lang="en-US" dirty="0"/>
              <a:t> </a:t>
            </a:r>
            <a:r>
              <a:rPr lang="en-US" dirty="0" err="1"/>
              <a:t>Karimzada</a:t>
            </a:r>
            <a:endParaRPr lang="en-US" dirty="0"/>
          </a:p>
        </p:txBody>
      </p:sp>
    </p:spTree>
    <p:extLst>
      <p:ext uri="{BB962C8B-B14F-4D97-AF65-F5344CB8AC3E}">
        <p14:creationId xmlns:p14="http://schemas.microsoft.com/office/powerpoint/2010/main" val="28221911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D49AE-68D8-7046-8699-9DF37C2836B7}"/>
              </a:ext>
            </a:extLst>
          </p:cNvPr>
          <p:cNvSpPr>
            <a:spLocks noGrp="1"/>
          </p:cNvSpPr>
          <p:nvPr>
            <p:ph type="title"/>
          </p:nvPr>
        </p:nvSpPr>
        <p:spPr/>
        <p:txBody>
          <a:bodyPr>
            <a:normAutofit/>
          </a:bodyPr>
          <a:lstStyle/>
          <a:p>
            <a:r>
              <a:rPr lang="en-US" sz="4000" dirty="0"/>
              <a:t>Questions to Consider</a:t>
            </a:r>
          </a:p>
        </p:txBody>
      </p:sp>
      <p:sp>
        <p:nvSpPr>
          <p:cNvPr id="3" name="Content Placeholder 2">
            <a:extLst>
              <a:ext uri="{FF2B5EF4-FFF2-40B4-BE49-F238E27FC236}">
                <a16:creationId xmlns:a16="http://schemas.microsoft.com/office/drawing/2014/main" id="{C789FEAC-D4B9-E146-9243-548C9B4EEF60}"/>
              </a:ext>
            </a:extLst>
          </p:cNvPr>
          <p:cNvSpPr>
            <a:spLocks noGrp="1"/>
          </p:cNvSpPr>
          <p:nvPr>
            <p:ph idx="1"/>
          </p:nvPr>
        </p:nvSpPr>
        <p:spPr/>
        <p:txBody>
          <a:bodyPr/>
          <a:lstStyle/>
          <a:p>
            <a:pPr marL="457200" indent="-457200" fontAlgn="t">
              <a:buFont typeface="+mj-lt"/>
              <a:buAutoNum type="arabicPeriod"/>
            </a:pPr>
            <a:r>
              <a:rPr lang="en-US" dirty="0"/>
              <a:t>Why do governments sometimes apply a tariff on imported goods? </a:t>
            </a:r>
          </a:p>
          <a:p>
            <a:pPr marL="457200" indent="-457200" fontAlgn="t">
              <a:buFont typeface="+mj-lt"/>
              <a:buAutoNum type="arabicPeriod"/>
            </a:pPr>
            <a:r>
              <a:rPr lang="en-US" dirty="0"/>
              <a:t>Why does the World Trade Organization try to reduce the use of tariffs? </a:t>
            </a:r>
          </a:p>
        </p:txBody>
      </p:sp>
    </p:spTree>
    <p:extLst>
      <p:ext uri="{BB962C8B-B14F-4D97-AF65-F5344CB8AC3E}">
        <p14:creationId xmlns:p14="http://schemas.microsoft.com/office/powerpoint/2010/main" val="36686290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C5D2F3A-AF83-9945-B6A5-79F0CFEC0589}"/>
              </a:ext>
            </a:extLst>
          </p:cNvPr>
          <p:cNvSpPr>
            <a:spLocks noGrp="1"/>
          </p:cNvSpPr>
          <p:nvPr>
            <p:ph type="title"/>
          </p:nvPr>
        </p:nvSpPr>
        <p:spPr/>
        <p:txBody>
          <a:bodyPr/>
          <a:lstStyle/>
          <a:p>
            <a:r>
              <a:rPr lang="en-US" dirty="0"/>
              <a:t>Introduction (part 1)</a:t>
            </a:r>
          </a:p>
        </p:txBody>
      </p:sp>
      <p:sp>
        <p:nvSpPr>
          <p:cNvPr id="2" name="Content Placeholder 1">
            <a:extLst>
              <a:ext uri="{FF2B5EF4-FFF2-40B4-BE49-F238E27FC236}">
                <a16:creationId xmlns:a16="http://schemas.microsoft.com/office/drawing/2014/main" id="{2EB38090-71DC-44C8-8343-28D9E8E5E7AE}"/>
              </a:ext>
            </a:extLst>
          </p:cNvPr>
          <p:cNvSpPr>
            <a:spLocks noGrp="1"/>
          </p:cNvSpPr>
          <p:nvPr>
            <p:ph idx="1"/>
          </p:nvPr>
        </p:nvSpPr>
        <p:spPr/>
        <p:txBody>
          <a:bodyPr>
            <a:normAutofit fontScale="92500"/>
          </a:bodyPr>
          <a:lstStyle/>
          <a:p>
            <a:pPr marL="441325" indent="-441325">
              <a:lnSpc>
                <a:spcPct val="110000"/>
              </a:lnSpc>
              <a:buFont typeface="Arial" panose="020B0604020202020204" pitchFamily="34" charset="0"/>
              <a:buChar char="•"/>
            </a:pPr>
            <a:r>
              <a:rPr lang="en-US" sz="1800" b="0" dirty="0"/>
              <a:t>During the U.S. presidential campaign of 2016, the Republican candidate Donald Trump said that he would apply a 45% tariff against imports from China.</a:t>
            </a:r>
          </a:p>
          <a:p>
            <a:pPr marL="441325" indent="-441325">
              <a:lnSpc>
                <a:spcPct val="110000"/>
              </a:lnSpc>
              <a:buFont typeface="Arial" panose="020B0604020202020204" pitchFamily="34" charset="0"/>
              <a:buChar char="•"/>
            </a:pPr>
            <a:r>
              <a:rPr lang="en-US" sz="1800" b="0" dirty="0"/>
              <a:t>President Trump did impose significant import tariffs on China in 2018–19.</a:t>
            </a:r>
          </a:p>
          <a:p>
            <a:pPr marL="441325" indent="-441325">
              <a:lnSpc>
                <a:spcPct val="110000"/>
              </a:lnSpc>
              <a:buFont typeface="Arial" panose="020B0604020202020204" pitchFamily="34" charset="0"/>
              <a:buChar char="•"/>
            </a:pPr>
            <a:r>
              <a:rPr lang="en-US" sz="1800" b="0" dirty="0"/>
              <a:t>The import tariff is an example of a trade policy, a government action meant to influence the amount of international trade.</a:t>
            </a:r>
          </a:p>
          <a:p>
            <a:pPr marL="441325" indent="-441325">
              <a:lnSpc>
                <a:spcPct val="110000"/>
              </a:lnSpc>
              <a:buFont typeface="Arial" panose="020B0604020202020204" pitchFamily="34" charset="0"/>
              <a:buChar char="•"/>
            </a:pPr>
            <a:r>
              <a:rPr lang="en-US" sz="1800" b="0" dirty="0"/>
              <a:t>Import tariffs are sometimes used for political and not economic reasons. This is called the political economy of tariffs.</a:t>
            </a:r>
          </a:p>
          <a:p>
            <a:pPr marL="441325" indent="-441325">
              <a:lnSpc>
                <a:spcPct val="110000"/>
              </a:lnSpc>
              <a:buFont typeface="Arial" panose="020B0604020202020204" pitchFamily="34" charset="0"/>
              <a:buChar char="•"/>
            </a:pPr>
            <a:r>
              <a:rPr lang="en-US" sz="1800" b="0" dirty="0"/>
              <a:t>Because the gains from trade are unevenly spread, industries and labor unions often feel that the government should do something to help limit their losses (or maximize their gains) from international trade. </a:t>
            </a:r>
          </a:p>
          <a:p>
            <a:pPr marL="441325" indent="-441325">
              <a:lnSpc>
                <a:spcPct val="110000"/>
              </a:lnSpc>
              <a:buFont typeface="Arial" panose="020B0604020202020204" pitchFamily="34" charset="0"/>
              <a:buChar char="•"/>
            </a:pPr>
            <a:r>
              <a:rPr lang="en-US" sz="1800" b="0" dirty="0"/>
              <a:t>That “something” is trade policy, which includes the use of import tariffs (taxes on imports), import quotas (quantity limits on imports), and export subsidies.</a:t>
            </a:r>
          </a:p>
        </p:txBody>
      </p:sp>
    </p:spTree>
    <p:extLst>
      <p:ext uri="{BB962C8B-B14F-4D97-AF65-F5344CB8AC3E}">
        <p14:creationId xmlns:p14="http://schemas.microsoft.com/office/powerpoint/2010/main" val="32502944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C5D2F3A-AF83-9945-B6A5-79F0CFEC0589}"/>
              </a:ext>
            </a:extLst>
          </p:cNvPr>
          <p:cNvSpPr>
            <a:spLocks noGrp="1"/>
          </p:cNvSpPr>
          <p:nvPr>
            <p:ph type="title"/>
          </p:nvPr>
        </p:nvSpPr>
        <p:spPr/>
        <p:txBody>
          <a:bodyPr/>
          <a:lstStyle/>
          <a:p>
            <a:r>
              <a:rPr lang="en-US" dirty="0"/>
              <a:t>Introduction (part 2)</a:t>
            </a:r>
          </a:p>
        </p:txBody>
      </p:sp>
      <p:sp>
        <p:nvSpPr>
          <p:cNvPr id="2" name="Content Placeholder 1">
            <a:extLst>
              <a:ext uri="{FF2B5EF4-FFF2-40B4-BE49-F238E27FC236}">
                <a16:creationId xmlns:a16="http://schemas.microsoft.com/office/drawing/2014/main" id="{2EB38090-71DC-44C8-8343-28D9E8E5E7AE}"/>
              </a:ext>
            </a:extLst>
          </p:cNvPr>
          <p:cNvSpPr>
            <a:spLocks noGrp="1"/>
          </p:cNvSpPr>
          <p:nvPr>
            <p:ph idx="1"/>
          </p:nvPr>
        </p:nvSpPr>
        <p:spPr/>
        <p:txBody>
          <a:bodyPr>
            <a:normAutofit/>
          </a:bodyPr>
          <a:lstStyle/>
          <a:p>
            <a:pPr marL="441325" indent="-441325">
              <a:lnSpc>
                <a:spcPct val="110000"/>
              </a:lnSpc>
              <a:buFont typeface="Arial" panose="020B0604020202020204" pitchFamily="34" charset="0"/>
              <a:buChar char="•"/>
            </a:pPr>
            <a:r>
              <a:rPr lang="en-US" sz="2000" b="0" dirty="0"/>
              <a:t>In this </a:t>
            </a:r>
            <a:r>
              <a:rPr lang="en-US" sz="2000" dirty="0"/>
              <a:t>lecture</a:t>
            </a:r>
            <a:r>
              <a:rPr lang="en-US" sz="2000" b="0" dirty="0"/>
              <a:t>, we begin our investigation of trade policies by focusing on the effects of tariffs and quotas in a perfectly competitive industry.</a:t>
            </a:r>
          </a:p>
          <a:p>
            <a:pPr marL="441325" indent="-441325">
              <a:lnSpc>
                <a:spcPct val="110000"/>
              </a:lnSpc>
              <a:buFont typeface="Arial" panose="020B0604020202020204" pitchFamily="34" charset="0"/>
              <a:buChar char="•"/>
            </a:pPr>
            <a:r>
              <a:rPr lang="en-US" sz="2000" b="0" dirty="0"/>
              <a:t>We explain the reasons why countries apply tariffs and the effects of these tariffs on the producers and consumers in the importing and exporting countries.</a:t>
            </a:r>
          </a:p>
        </p:txBody>
      </p:sp>
    </p:spTree>
    <p:extLst>
      <p:ext uri="{BB962C8B-B14F-4D97-AF65-F5344CB8AC3E}">
        <p14:creationId xmlns:p14="http://schemas.microsoft.com/office/powerpoint/2010/main" val="40148563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C5D2F3A-AF83-9945-B6A5-79F0CFEC0589}"/>
              </a:ext>
            </a:extLst>
          </p:cNvPr>
          <p:cNvSpPr>
            <a:spLocks noGrp="1"/>
          </p:cNvSpPr>
          <p:nvPr>
            <p:ph type="title"/>
          </p:nvPr>
        </p:nvSpPr>
        <p:spPr/>
        <p:txBody>
          <a:bodyPr/>
          <a:lstStyle/>
          <a:p>
            <a:r>
              <a:rPr lang="en-US" dirty="0"/>
              <a:t>1) A Brief History of the World Trade Organization (part 1)</a:t>
            </a:r>
          </a:p>
        </p:txBody>
      </p:sp>
      <p:sp>
        <p:nvSpPr>
          <p:cNvPr id="2" name="Content Placeholder 1">
            <a:extLst>
              <a:ext uri="{FF2B5EF4-FFF2-40B4-BE49-F238E27FC236}">
                <a16:creationId xmlns:a16="http://schemas.microsoft.com/office/drawing/2014/main" id="{2EB38090-71DC-44C8-8343-28D9E8E5E7AE}"/>
              </a:ext>
            </a:extLst>
          </p:cNvPr>
          <p:cNvSpPr>
            <a:spLocks noGrp="1"/>
          </p:cNvSpPr>
          <p:nvPr>
            <p:ph idx="1"/>
          </p:nvPr>
        </p:nvSpPr>
        <p:spPr/>
        <p:txBody>
          <a:bodyPr>
            <a:normAutofit/>
          </a:bodyPr>
          <a:lstStyle/>
          <a:p>
            <a:pPr marL="441325" indent="-441325">
              <a:lnSpc>
                <a:spcPct val="110000"/>
              </a:lnSpc>
              <a:buFont typeface="Arial" panose="020B0604020202020204" pitchFamily="34" charset="0"/>
              <a:buChar char="•"/>
            </a:pPr>
            <a:r>
              <a:rPr lang="en-US" sz="2000" b="0" dirty="0"/>
              <a:t>After World War II, the Allied countries met to discuss issues such as high trade barriers and unstable exchange rates.</a:t>
            </a:r>
          </a:p>
          <a:p>
            <a:pPr marL="441325" indent="-441325">
              <a:lnSpc>
                <a:spcPct val="110000"/>
              </a:lnSpc>
              <a:buFont typeface="Arial" panose="020B0604020202020204" pitchFamily="34" charset="0"/>
              <a:buChar char="•"/>
            </a:pPr>
            <a:r>
              <a:rPr lang="en-US" sz="2000" b="0" dirty="0"/>
              <a:t>In 1947 the General Agreement on Tariffs and Trade (GATT) was established to reduce barriers to trade between nations.</a:t>
            </a:r>
          </a:p>
          <a:p>
            <a:pPr marL="441325" indent="-441325">
              <a:lnSpc>
                <a:spcPct val="110000"/>
              </a:lnSpc>
              <a:buFont typeface="Arial" panose="020B0604020202020204" pitchFamily="34" charset="0"/>
              <a:buChar char="•"/>
            </a:pPr>
            <a:r>
              <a:rPr lang="en-US" sz="2000" b="0" dirty="0"/>
              <a:t>Some of the GATT’s main provisions are as follows:</a:t>
            </a:r>
          </a:p>
          <a:p>
            <a:pPr marL="890588" lvl="1" indent="-441325">
              <a:lnSpc>
                <a:spcPct val="110000"/>
              </a:lnSpc>
              <a:buFont typeface="+mj-lt"/>
              <a:buAutoNum type="arabicPeriod"/>
            </a:pPr>
            <a:r>
              <a:rPr lang="en-US" sz="1800" b="0" dirty="0"/>
              <a:t>A nation must extend the same tariffs to all trading partners that are GATT members. </a:t>
            </a:r>
          </a:p>
          <a:p>
            <a:pPr marL="890588" lvl="1" indent="-441325">
              <a:lnSpc>
                <a:spcPct val="110000"/>
              </a:lnSpc>
              <a:buFont typeface="+mj-lt"/>
              <a:buAutoNum type="arabicPeriod"/>
            </a:pPr>
            <a:r>
              <a:rPr lang="en-US" sz="1800" b="0" dirty="0"/>
              <a:t>Tariffs may be imposed in response to unfair trade practices such as dumping. </a:t>
            </a:r>
          </a:p>
          <a:p>
            <a:pPr marL="863600" lvl="1" indent="0">
              <a:lnSpc>
                <a:spcPct val="110000"/>
              </a:lnSpc>
              <a:buNone/>
            </a:pPr>
            <a:r>
              <a:rPr lang="en-US" sz="1800" b="0" dirty="0"/>
              <a:t>“Dumping” is defined as the sale of export goods at a price less than that charged at home, or at a price less than costs of production and shipping.</a:t>
            </a:r>
          </a:p>
        </p:txBody>
      </p:sp>
    </p:spTree>
    <p:extLst>
      <p:ext uri="{BB962C8B-B14F-4D97-AF65-F5344CB8AC3E}">
        <p14:creationId xmlns:p14="http://schemas.microsoft.com/office/powerpoint/2010/main" val="3801854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C5D2F3A-AF83-9945-B6A5-79F0CFEC0589}"/>
              </a:ext>
            </a:extLst>
          </p:cNvPr>
          <p:cNvSpPr>
            <a:spLocks noGrp="1"/>
          </p:cNvSpPr>
          <p:nvPr>
            <p:ph type="title"/>
          </p:nvPr>
        </p:nvSpPr>
        <p:spPr/>
        <p:txBody>
          <a:bodyPr/>
          <a:lstStyle/>
          <a:p>
            <a:r>
              <a:rPr lang="en-US" dirty="0"/>
              <a:t>1) A Brief History of the World Trade Organization (part 2)</a:t>
            </a:r>
          </a:p>
        </p:txBody>
      </p:sp>
      <p:sp>
        <p:nvSpPr>
          <p:cNvPr id="2" name="Content Placeholder 1">
            <a:extLst>
              <a:ext uri="{FF2B5EF4-FFF2-40B4-BE49-F238E27FC236}">
                <a16:creationId xmlns:a16="http://schemas.microsoft.com/office/drawing/2014/main" id="{2EB38090-71DC-44C8-8343-28D9E8E5E7AE}"/>
              </a:ext>
            </a:extLst>
          </p:cNvPr>
          <p:cNvSpPr>
            <a:spLocks noGrp="1"/>
          </p:cNvSpPr>
          <p:nvPr>
            <p:ph idx="1"/>
          </p:nvPr>
        </p:nvSpPr>
        <p:spPr/>
        <p:txBody>
          <a:bodyPr>
            <a:noAutofit/>
          </a:bodyPr>
          <a:lstStyle/>
          <a:p>
            <a:pPr marL="0" indent="0">
              <a:lnSpc>
                <a:spcPct val="110000"/>
              </a:lnSpc>
              <a:buNone/>
            </a:pPr>
            <a:r>
              <a:rPr lang="en-US" sz="2200" b="0" dirty="0"/>
              <a:t>Some of the GATT’s main provisions are as follows:</a:t>
            </a:r>
          </a:p>
          <a:p>
            <a:pPr marL="906463" lvl="1" indent="-457200">
              <a:lnSpc>
                <a:spcPct val="110000"/>
              </a:lnSpc>
              <a:buFont typeface="+mj-lt"/>
              <a:buAutoNum type="arabicPeriod" startAt="3"/>
            </a:pPr>
            <a:r>
              <a:rPr lang="en-US" sz="2000" b="0" dirty="0"/>
              <a:t>Countries should not limit the quantity of goods and services that they import. </a:t>
            </a:r>
          </a:p>
          <a:p>
            <a:pPr marL="906463" lvl="1" indent="-457200">
              <a:lnSpc>
                <a:spcPct val="110000"/>
              </a:lnSpc>
              <a:buFont typeface="+mj-lt"/>
              <a:buAutoNum type="arabicPeriod" startAt="3"/>
            </a:pPr>
            <a:r>
              <a:rPr lang="en-US" sz="2000" b="0" dirty="0"/>
              <a:t>Countries should declare export subsidies provided to particular firms, sectors, or industries. </a:t>
            </a:r>
          </a:p>
          <a:p>
            <a:pPr marL="906463" lvl="1" indent="-457200">
              <a:lnSpc>
                <a:spcPct val="110000"/>
              </a:lnSpc>
              <a:buFont typeface="+mj-lt"/>
              <a:buAutoNum type="arabicPeriod" startAt="3"/>
            </a:pPr>
            <a:r>
              <a:rPr lang="en-US" sz="2000" b="0" dirty="0"/>
              <a:t>Countries can temporarily raise tariffs for certain products. </a:t>
            </a:r>
          </a:p>
        </p:txBody>
      </p:sp>
    </p:spTree>
    <p:extLst>
      <p:ext uri="{BB962C8B-B14F-4D97-AF65-F5344CB8AC3E}">
        <p14:creationId xmlns:p14="http://schemas.microsoft.com/office/powerpoint/2010/main" val="4069403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C5D2F3A-AF83-9945-B6A5-79F0CFEC0589}"/>
              </a:ext>
            </a:extLst>
          </p:cNvPr>
          <p:cNvSpPr>
            <a:spLocks noGrp="1"/>
          </p:cNvSpPr>
          <p:nvPr>
            <p:ph type="title"/>
          </p:nvPr>
        </p:nvSpPr>
        <p:spPr/>
        <p:txBody>
          <a:bodyPr/>
          <a:lstStyle/>
          <a:p>
            <a:r>
              <a:rPr lang="en-US" dirty="0"/>
              <a:t>1) A Brief History of the World Trade Organization (part 3)</a:t>
            </a:r>
          </a:p>
        </p:txBody>
      </p:sp>
      <p:sp>
        <p:nvSpPr>
          <p:cNvPr id="2" name="Content Placeholder 1">
            <a:extLst>
              <a:ext uri="{FF2B5EF4-FFF2-40B4-BE49-F238E27FC236}">
                <a16:creationId xmlns:a16="http://schemas.microsoft.com/office/drawing/2014/main" id="{2EB38090-71DC-44C8-8343-28D9E8E5E7AE}"/>
              </a:ext>
            </a:extLst>
          </p:cNvPr>
          <p:cNvSpPr>
            <a:spLocks noGrp="1"/>
          </p:cNvSpPr>
          <p:nvPr>
            <p:ph idx="1"/>
          </p:nvPr>
        </p:nvSpPr>
        <p:spPr/>
        <p:txBody>
          <a:bodyPr>
            <a:noAutofit/>
          </a:bodyPr>
          <a:lstStyle/>
          <a:p>
            <a:pPr marL="0" indent="0">
              <a:lnSpc>
                <a:spcPct val="110000"/>
              </a:lnSpc>
              <a:buNone/>
            </a:pPr>
            <a:r>
              <a:rPr lang="en-US" sz="2200" b="0" dirty="0"/>
              <a:t>Some of the GATT’s main provisions are as follows:</a:t>
            </a:r>
          </a:p>
          <a:p>
            <a:pPr marL="0" indent="0">
              <a:lnSpc>
                <a:spcPct val="110000"/>
              </a:lnSpc>
              <a:buNone/>
            </a:pPr>
            <a:r>
              <a:rPr lang="en-US" sz="2200" b="0" dirty="0"/>
              <a:t>6.	The GATT recognizes the ability of blocs of countries to form two types of regional trade agreements: </a:t>
            </a:r>
          </a:p>
          <a:p>
            <a:pPr marL="971550" lvl="1" indent="-514350">
              <a:lnSpc>
                <a:spcPct val="110000"/>
              </a:lnSpc>
              <a:buFont typeface="+mj-lt"/>
              <a:buAutoNum type="romanLcPeriod"/>
            </a:pPr>
            <a:r>
              <a:rPr lang="en-US" sz="2000" b="0" dirty="0"/>
              <a:t> Free-trade areas, in which a group of countries voluntarily agree to remove trade barriers between themselves</a:t>
            </a:r>
          </a:p>
          <a:p>
            <a:pPr marL="971550" lvl="1" indent="-514350">
              <a:lnSpc>
                <a:spcPct val="110000"/>
              </a:lnSpc>
              <a:buFont typeface="+mj-lt"/>
              <a:buAutoNum type="romanLcPeriod"/>
            </a:pPr>
            <a:r>
              <a:rPr lang="en-US" sz="2000" b="0" dirty="0"/>
              <a:t>Customs unions, which are free-trade areas in which the countries also adopt identical tariffs between themselves and the rest of the world</a:t>
            </a:r>
          </a:p>
        </p:txBody>
      </p:sp>
    </p:spTree>
    <p:extLst>
      <p:ext uri="{BB962C8B-B14F-4D97-AF65-F5344CB8AC3E}">
        <p14:creationId xmlns:p14="http://schemas.microsoft.com/office/powerpoint/2010/main" val="30314178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09CA2BE-0BF6-46DD-B939-8078DFE69A22}"/>
              </a:ext>
            </a:extLst>
          </p:cNvPr>
          <p:cNvSpPr>
            <a:spLocks noGrp="1"/>
          </p:cNvSpPr>
          <p:nvPr>
            <p:ph type="title"/>
          </p:nvPr>
        </p:nvSpPr>
        <p:spPr/>
        <p:txBody>
          <a:bodyPr/>
          <a:lstStyle/>
          <a:p>
            <a:r>
              <a:rPr lang="en-US" dirty="0"/>
              <a:t>2) The Gains from Trade (part 1)</a:t>
            </a:r>
            <a:endParaRPr lang="en-IN" dirty="0"/>
          </a:p>
        </p:txBody>
      </p:sp>
      <p:sp>
        <p:nvSpPr>
          <p:cNvPr id="5" name="Content Placeholder 4">
            <a:extLst>
              <a:ext uri="{FF2B5EF4-FFF2-40B4-BE49-F238E27FC236}">
                <a16:creationId xmlns:a16="http://schemas.microsoft.com/office/drawing/2014/main" id="{FDCE5002-1760-4405-AA09-97FC6D7FE8CE}"/>
              </a:ext>
            </a:extLst>
          </p:cNvPr>
          <p:cNvSpPr>
            <a:spLocks noGrp="1"/>
          </p:cNvSpPr>
          <p:nvPr>
            <p:ph idx="1"/>
          </p:nvPr>
        </p:nvSpPr>
        <p:spPr>
          <a:xfrm>
            <a:off x="457200" y="1600201"/>
            <a:ext cx="8229600" cy="914399"/>
          </a:xfrm>
        </p:spPr>
        <p:txBody>
          <a:bodyPr>
            <a:normAutofit/>
          </a:bodyPr>
          <a:lstStyle/>
          <a:p>
            <a:pPr marL="0" indent="0">
              <a:buNone/>
            </a:pPr>
            <a:r>
              <a:rPr lang="en-IN" sz="2000" dirty="0">
                <a:latin typeface="+mn-lt"/>
              </a:rPr>
              <a:t>Consumer and Producer Surplus</a:t>
            </a:r>
          </a:p>
          <a:p>
            <a:pPr marL="0" indent="0">
              <a:buNone/>
            </a:pPr>
            <a:r>
              <a:rPr lang="en-US" sz="2000" dirty="0">
                <a:latin typeface="+mn-lt"/>
              </a:rPr>
              <a:t>FIGURE 1 (1 of 2)</a:t>
            </a:r>
            <a:r>
              <a:rPr lang="en-IN" sz="2000" dirty="0">
                <a:latin typeface="+mn-lt"/>
              </a:rPr>
              <a:t> </a:t>
            </a:r>
            <a:r>
              <a:rPr lang="en-US" sz="2000" b="0" dirty="0">
                <a:latin typeface="+mn-lt"/>
              </a:rPr>
              <a:t>Consumer and Producer Surplus</a:t>
            </a:r>
          </a:p>
        </p:txBody>
      </p:sp>
      <p:sp>
        <p:nvSpPr>
          <p:cNvPr id="6" name="Content Placeholder 5">
            <a:extLst>
              <a:ext uri="{FF2B5EF4-FFF2-40B4-BE49-F238E27FC236}">
                <a16:creationId xmlns:a16="http://schemas.microsoft.com/office/drawing/2014/main" id="{465C163F-0ECC-493B-8BC1-668AF2DB4AEE}"/>
              </a:ext>
            </a:extLst>
          </p:cNvPr>
          <p:cNvSpPr>
            <a:spLocks noGrp="1"/>
          </p:cNvSpPr>
          <p:nvPr>
            <p:ph sz="quarter" idx="10"/>
          </p:nvPr>
        </p:nvSpPr>
        <p:spPr>
          <a:xfrm>
            <a:off x="457200" y="4908550"/>
            <a:ext cx="8229600" cy="1339850"/>
          </a:xfrm>
        </p:spPr>
        <p:txBody>
          <a:bodyPr>
            <a:noAutofit/>
          </a:bodyPr>
          <a:lstStyle/>
          <a:p>
            <a:pPr marL="0" indent="0">
              <a:spcBef>
                <a:spcPct val="10000"/>
              </a:spcBef>
              <a:spcAft>
                <a:spcPct val="10000"/>
              </a:spcAft>
              <a:buNone/>
            </a:pPr>
            <a:r>
              <a:rPr lang="en-US" sz="1800" b="0" dirty="0">
                <a:latin typeface="Arial" panose="020B0604020202020204" pitchFamily="34" charset="0"/>
                <a:cs typeface="Arial" panose="020B0604020202020204" pitchFamily="34" charset="0"/>
              </a:rPr>
              <a:t>In panel (a), the consumer surplus from purchasing quantity D</a:t>
            </a:r>
            <a:r>
              <a:rPr lang="en-US" sz="1800" b="0" baseline="-25000" dirty="0">
                <a:latin typeface="Arial" panose="020B0604020202020204" pitchFamily="34" charset="0"/>
                <a:cs typeface="Arial" panose="020B0604020202020204" pitchFamily="34" charset="0"/>
              </a:rPr>
              <a:t>1 </a:t>
            </a:r>
            <a:r>
              <a:rPr lang="en-US" sz="1800" b="0" dirty="0">
                <a:latin typeface="Arial" panose="020B0604020202020204" pitchFamily="34" charset="0"/>
                <a:cs typeface="Arial" panose="020B0604020202020204" pitchFamily="34" charset="0"/>
              </a:rPr>
              <a:t>at price P</a:t>
            </a:r>
            <a:r>
              <a:rPr lang="en-US" sz="1800" b="0" baseline="-25000" dirty="0">
                <a:latin typeface="Arial" panose="020B0604020202020204" pitchFamily="34" charset="0"/>
                <a:cs typeface="Arial" panose="020B0604020202020204" pitchFamily="34" charset="0"/>
              </a:rPr>
              <a:t>1</a:t>
            </a:r>
            <a:r>
              <a:rPr lang="en-US" sz="1800" b="0" dirty="0">
                <a:latin typeface="Arial" panose="020B0604020202020204" pitchFamily="34" charset="0"/>
                <a:cs typeface="Arial" panose="020B0604020202020204" pitchFamily="34" charset="0"/>
              </a:rPr>
              <a:t> is the area below the demand curve and above that price. The consumer who purchases D</a:t>
            </a:r>
            <a:r>
              <a:rPr lang="en-US" sz="1800" b="0" baseline="-25000" dirty="0">
                <a:latin typeface="Arial" panose="020B0604020202020204" pitchFamily="34" charset="0"/>
                <a:cs typeface="Arial" panose="020B0604020202020204" pitchFamily="34" charset="0"/>
              </a:rPr>
              <a:t>2</a:t>
            </a:r>
            <a:r>
              <a:rPr lang="en-US" sz="1800" b="0" dirty="0">
                <a:latin typeface="Arial" panose="020B0604020202020204" pitchFamily="34" charset="0"/>
                <a:cs typeface="Arial" panose="020B0604020202020204" pitchFamily="34" charset="0"/>
              </a:rPr>
              <a:t> is willing to pay price P</a:t>
            </a:r>
            <a:r>
              <a:rPr lang="en-US" sz="1800" b="0" baseline="-25000" dirty="0">
                <a:latin typeface="Arial" panose="020B0604020202020204" pitchFamily="34" charset="0"/>
                <a:cs typeface="Arial" panose="020B0604020202020204" pitchFamily="34" charset="0"/>
              </a:rPr>
              <a:t>2</a:t>
            </a:r>
            <a:r>
              <a:rPr lang="en-US" sz="1800" b="0" dirty="0">
                <a:latin typeface="Arial" panose="020B0604020202020204" pitchFamily="34" charset="0"/>
                <a:cs typeface="Arial" panose="020B0604020202020204" pitchFamily="34" charset="0"/>
              </a:rPr>
              <a:t> but has to pay only P</a:t>
            </a:r>
            <a:r>
              <a:rPr lang="en-US" sz="1800" b="0" baseline="-25000" dirty="0">
                <a:latin typeface="Arial" panose="020B0604020202020204" pitchFamily="34" charset="0"/>
                <a:cs typeface="Arial" panose="020B0604020202020204" pitchFamily="34" charset="0"/>
              </a:rPr>
              <a:t>1</a:t>
            </a:r>
            <a:r>
              <a:rPr lang="en-US" sz="1800" b="0" dirty="0">
                <a:latin typeface="Arial" panose="020B0604020202020204" pitchFamily="34" charset="0"/>
                <a:cs typeface="Arial" panose="020B0604020202020204" pitchFamily="34" charset="0"/>
              </a:rPr>
              <a:t>. The difference is the consumer surplus and represents the satisfaction of consumers over and above the amount paid.</a:t>
            </a:r>
          </a:p>
        </p:txBody>
      </p:sp>
      <p:pic>
        <p:nvPicPr>
          <p:cNvPr id="8" name="Picture Placeholder 4" descr="Two graphs illustrate consumer and producer surplus. Both graphs plot X-axis as Quantity versus Y-axis as Price.&#10;Graph (a) titled, Consumer surplus, shows marks P subscript 1 and P subscript 2 on the Y-axis. Horizontal dotted lines parallel to the X-axis are drawn from these marks. The Y-axis has D subscript 2 and D subscript 1 marked on the X-axis. Vertical dotted lines are drawn from these marks parallel to the Y-axis. A downward sloping line D is drawn from a price higher than P subscript 2 on the Y-axis. The four dotted lines meet with D. The area between dotted lines P subscript 1, P subscript 2, and D subscript 2 is labeled “consumer surplus, C S.” The shift from Points p subscript 1 to P subscript 2 is labeled “Surplus for consumer purchasing quantity D subscript 2.” &#10;Graph (b) titled, Producer surplus, shows marks P subscript 0 and P subscript 1 on the Y-axis. Horizontal dotted lines are drawn parallel to the X-axis from these marks. S subscript 0 and S subscript 1 are marked on the X-axis. Vertical dotted lines are drawn from these marks parallel to the Y-axis. An upward sloping line S starts on the Y-axis at a price less than P subscript 0 and intersects at (S subscript 1, P subscript 1). The rectangular area between the dotted lines S subscript 0, and P subscript 1 is labeled “producer surplus.” The shift from P subscript 0 to P subscript 1 along the vertical dotted line at S subscript 0 is labeled “Surplus from firm producing quantity S subscript 0.” ">
            <a:extLst>
              <a:ext uri="{FF2B5EF4-FFF2-40B4-BE49-F238E27FC236}">
                <a16:creationId xmlns:a16="http://schemas.microsoft.com/office/drawing/2014/main" id="{D7615D70-D39E-499B-84B6-01B81A2303C6}"/>
              </a:ext>
            </a:extLst>
          </p:cNvPr>
          <p:cNvPicPr>
            <a:picLocks noGrp="1" noChangeAspect="1"/>
          </p:cNvPicPr>
          <p:nvPr>
            <p:ph type="pic" sz="quarter" idx="12"/>
          </p:nvPr>
        </p:nvPicPr>
        <p:blipFill>
          <a:blip r:embed="rId3" cstate="print">
            <a:extLst>
              <a:ext uri="{28A0092B-C50C-407E-A947-70E740481C1C}">
                <a14:useLocalDpi xmlns:a14="http://schemas.microsoft.com/office/drawing/2010/main" val="0"/>
              </a:ext>
            </a:extLst>
          </a:blip>
          <a:stretch>
            <a:fillRect/>
          </a:stretch>
        </p:blipFill>
        <p:spPr>
          <a:xfrm>
            <a:off x="2113585" y="2662888"/>
            <a:ext cx="4916831" cy="1985312"/>
          </a:xfrm>
          <a:prstGeom prst="rect">
            <a:avLst/>
          </a:prstGeom>
        </p:spPr>
      </p:pic>
    </p:spTree>
    <p:extLst>
      <p:ext uri="{BB962C8B-B14F-4D97-AF65-F5344CB8AC3E}">
        <p14:creationId xmlns:p14="http://schemas.microsoft.com/office/powerpoint/2010/main" val="18784445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09CA2BE-0BF6-46DD-B939-8078DFE69A22}"/>
              </a:ext>
            </a:extLst>
          </p:cNvPr>
          <p:cNvSpPr>
            <a:spLocks noGrp="1"/>
          </p:cNvSpPr>
          <p:nvPr>
            <p:ph type="title"/>
          </p:nvPr>
        </p:nvSpPr>
        <p:spPr/>
        <p:txBody>
          <a:bodyPr/>
          <a:lstStyle/>
          <a:p>
            <a:r>
              <a:rPr lang="en-US" dirty="0"/>
              <a:t>2) The Gains from Trade (part 2)</a:t>
            </a:r>
            <a:endParaRPr lang="en-IN" dirty="0"/>
          </a:p>
        </p:txBody>
      </p:sp>
      <p:sp>
        <p:nvSpPr>
          <p:cNvPr id="5" name="Content Placeholder 4">
            <a:extLst>
              <a:ext uri="{FF2B5EF4-FFF2-40B4-BE49-F238E27FC236}">
                <a16:creationId xmlns:a16="http://schemas.microsoft.com/office/drawing/2014/main" id="{FDCE5002-1760-4405-AA09-97FC6D7FE8CE}"/>
              </a:ext>
            </a:extLst>
          </p:cNvPr>
          <p:cNvSpPr>
            <a:spLocks noGrp="1"/>
          </p:cNvSpPr>
          <p:nvPr>
            <p:ph idx="1"/>
          </p:nvPr>
        </p:nvSpPr>
        <p:spPr>
          <a:xfrm>
            <a:off x="457200" y="1600201"/>
            <a:ext cx="8229600" cy="914399"/>
          </a:xfrm>
        </p:spPr>
        <p:txBody>
          <a:bodyPr>
            <a:normAutofit/>
          </a:bodyPr>
          <a:lstStyle/>
          <a:p>
            <a:pPr marL="0" indent="0">
              <a:buNone/>
            </a:pPr>
            <a:r>
              <a:rPr lang="en-IN" sz="2000" dirty="0">
                <a:latin typeface="+mn-lt"/>
              </a:rPr>
              <a:t>Consumer and Producer Surplus</a:t>
            </a:r>
          </a:p>
          <a:p>
            <a:pPr marL="0" indent="0">
              <a:buNone/>
            </a:pPr>
            <a:r>
              <a:rPr lang="en-US" sz="2000" dirty="0">
                <a:latin typeface="+mn-lt"/>
              </a:rPr>
              <a:t>Figure 1 (2 of 2)</a:t>
            </a:r>
            <a:r>
              <a:rPr lang="en-IN" sz="2000" dirty="0">
                <a:latin typeface="+mn-lt"/>
              </a:rPr>
              <a:t> </a:t>
            </a:r>
            <a:r>
              <a:rPr lang="en-US" sz="2000" b="0" dirty="0">
                <a:latin typeface="+mn-lt"/>
              </a:rPr>
              <a:t>Consumer and Producer Surplus</a:t>
            </a:r>
          </a:p>
        </p:txBody>
      </p:sp>
      <p:sp>
        <p:nvSpPr>
          <p:cNvPr id="6" name="Content Placeholder 5">
            <a:extLst>
              <a:ext uri="{FF2B5EF4-FFF2-40B4-BE49-F238E27FC236}">
                <a16:creationId xmlns:a16="http://schemas.microsoft.com/office/drawing/2014/main" id="{465C163F-0ECC-493B-8BC1-668AF2DB4AEE}"/>
              </a:ext>
            </a:extLst>
          </p:cNvPr>
          <p:cNvSpPr>
            <a:spLocks noGrp="1"/>
          </p:cNvSpPr>
          <p:nvPr>
            <p:ph sz="quarter" idx="10"/>
          </p:nvPr>
        </p:nvSpPr>
        <p:spPr>
          <a:xfrm>
            <a:off x="457200" y="4908550"/>
            <a:ext cx="8229600" cy="1339850"/>
          </a:xfrm>
        </p:spPr>
        <p:txBody>
          <a:bodyPr>
            <a:noAutofit/>
          </a:bodyPr>
          <a:lstStyle/>
          <a:p>
            <a:pPr marL="0" indent="0">
              <a:spcBef>
                <a:spcPct val="10000"/>
              </a:spcBef>
              <a:spcAft>
                <a:spcPct val="10000"/>
              </a:spcAft>
              <a:buNone/>
            </a:pPr>
            <a:r>
              <a:rPr lang="en-US" sz="1800" b="0" dirty="0">
                <a:latin typeface="Arial" panose="020B0604020202020204" pitchFamily="34" charset="0"/>
                <a:cs typeface="Arial" panose="020B0604020202020204" pitchFamily="34" charset="0"/>
              </a:rPr>
              <a:t>In panel (b), the producer surplus from supplying the quantity S</a:t>
            </a:r>
            <a:r>
              <a:rPr lang="en-US" sz="1800" b="0" baseline="-25000" dirty="0">
                <a:latin typeface="Arial" panose="020B0604020202020204" pitchFamily="34" charset="0"/>
                <a:cs typeface="Arial" panose="020B0604020202020204" pitchFamily="34" charset="0"/>
              </a:rPr>
              <a:t>1 </a:t>
            </a:r>
            <a:r>
              <a:rPr lang="en-US" sz="1800" b="0" dirty="0">
                <a:latin typeface="Arial" panose="020B0604020202020204" pitchFamily="34" charset="0"/>
                <a:cs typeface="Arial" panose="020B0604020202020204" pitchFamily="34" charset="0"/>
              </a:rPr>
              <a:t>at the price P</a:t>
            </a:r>
            <a:r>
              <a:rPr lang="en-US" sz="1800" b="0" baseline="-25000" dirty="0">
                <a:latin typeface="Arial" panose="020B0604020202020204" pitchFamily="34" charset="0"/>
                <a:cs typeface="Arial" panose="020B0604020202020204" pitchFamily="34" charset="0"/>
              </a:rPr>
              <a:t>1</a:t>
            </a:r>
            <a:r>
              <a:rPr lang="en-US" sz="1800" b="0" dirty="0">
                <a:latin typeface="Arial" panose="020B0604020202020204" pitchFamily="34" charset="0"/>
                <a:cs typeface="Arial" panose="020B0604020202020204" pitchFamily="34" charset="0"/>
              </a:rPr>
              <a:t> is the area above the supply curve and below that price. The supplier who supplies unit S</a:t>
            </a:r>
            <a:r>
              <a:rPr lang="en-US" sz="1800" b="0" baseline="-25000" dirty="0">
                <a:latin typeface="Arial" panose="020B0604020202020204" pitchFamily="34" charset="0"/>
                <a:cs typeface="Arial" panose="020B0604020202020204" pitchFamily="34" charset="0"/>
              </a:rPr>
              <a:t>0</a:t>
            </a:r>
            <a:r>
              <a:rPr lang="en-US" sz="1800" b="0" dirty="0">
                <a:latin typeface="Arial" panose="020B0604020202020204" pitchFamily="34" charset="0"/>
                <a:cs typeface="Arial" panose="020B0604020202020204" pitchFamily="34" charset="0"/>
              </a:rPr>
              <a:t> has marginal costs of P</a:t>
            </a:r>
            <a:r>
              <a:rPr lang="en-US" sz="1800" b="0" baseline="-25000" dirty="0">
                <a:latin typeface="Arial" panose="020B0604020202020204" pitchFamily="34" charset="0"/>
                <a:cs typeface="Arial" panose="020B0604020202020204" pitchFamily="34" charset="0"/>
              </a:rPr>
              <a:t>0</a:t>
            </a:r>
            <a:r>
              <a:rPr lang="en-US" sz="1800" b="0" dirty="0">
                <a:latin typeface="Arial" panose="020B0604020202020204" pitchFamily="34" charset="0"/>
                <a:cs typeface="Arial" panose="020B0604020202020204" pitchFamily="34" charset="0"/>
              </a:rPr>
              <a:t> but sells it for P</a:t>
            </a:r>
            <a:r>
              <a:rPr lang="en-US" sz="1800" b="0" baseline="-25000" dirty="0">
                <a:latin typeface="Arial" panose="020B0604020202020204" pitchFamily="34" charset="0"/>
                <a:cs typeface="Arial" panose="020B0604020202020204" pitchFamily="34" charset="0"/>
              </a:rPr>
              <a:t>1.</a:t>
            </a:r>
            <a:r>
              <a:rPr lang="en-US" sz="1800" b="0" dirty="0">
                <a:latin typeface="Arial" panose="020B0604020202020204" pitchFamily="34" charset="0"/>
                <a:cs typeface="Arial" panose="020B0604020202020204" pitchFamily="34" charset="0"/>
              </a:rPr>
              <a:t> The difference is the producer surplus and represents the return to fixed factors of production in the industry</a:t>
            </a:r>
          </a:p>
        </p:txBody>
      </p:sp>
      <p:pic>
        <p:nvPicPr>
          <p:cNvPr id="8" name="Picture Placeholder 4" descr="Two graphs illustrate consumer and producer surplus. Both graphs plot X-axis as Quantity versus Y-axis as Price.&#10;Graph (a) titled, Consumer surplus, shows marks P subscript 1 and P subscript 2 on the Y-axis. Horizontal dotted lines parallel to the X-axis are drawn from these marks. The Y-axis has D subscript 2 and D subscript 1 marked on the X-axis. Vertical dotted lines are drawn from these marks parallel to the Y-axis. A downward sloping line D is drawn from a price higher than P subscript 2 on the Y-axis. The four dotted lines meet with D. The area between dotted lines P subscript 1, P subscript 2, and D subscript 2 is labeled “consumer surplus, C S.” The shift from Points p subscript 1 to P subscript 2 is labeled “Surplus for consumer purchasing quantity D subscript 2.” &#10;Graph (b) titled, Producer surplus, shows marks P subscript 0 and P subscript 1 on the Y-axis. Horizontal dotted lines are drawn parallel to the X-axis from these marks. S subscript 0 and S subscript 1 are marked on the X-axis. Vertical dotted lines are drawn from these marks parallel to the Y-axis. An upward sloping line S starts on the Y-axis at a price less than P subscript 0 and intersects at (S subscript 1, P subscript 1). The rectangular area between the dotted lines S subscript 0, and P subscript 1 is labeled “producer surplus.” The shift from P subscript 0 to P subscript 1 along the vertical dotted line at S subscript 0 is labeled “Surplus from firm producing quantity S subscript 0.” ">
            <a:extLst>
              <a:ext uri="{FF2B5EF4-FFF2-40B4-BE49-F238E27FC236}">
                <a16:creationId xmlns:a16="http://schemas.microsoft.com/office/drawing/2014/main" id="{D7615D70-D39E-499B-84B6-01B81A2303C6}"/>
              </a:ext>
            </a:extLst>
          </p:cNvPr>
          <p:cNvPicPr>
            <a:picLocks noGrp="1" noChangeAspect="1"/>
          </p:cNvPicPr>
          <p:nvPr>
            <p:ph type="pic" sz="quarter" idx="12"/>
          </p:nvPr>
        </p:nvPicPr>
        <p:blipFill>
          <a:blip r:embed="rId3" cstate="print">
            <a:extLst>
              <a:ext uri="{28A0092B-C50C-407E-A947-70E740481C1C}">
                <a14:useLocalDpi xmlns:a14="http://schemas.microsoft.com/office/drawing/2010/main" val="0"/>
              </a:ext>
            </a:extLst>
          </a:blip>
          <a:stretch>
            <a:fillRect/>
          </a:stretch>
        </p:blipFill>
        <p:spPr>
          <a:xfrm>
            <a:off x="2113585" y="2662888"/>
            <a:ext cx="4916831" cy="1985312"/>
          </a:xfrm>
          <a:prstGeom prst="rect">
            <a:avLst/>
          </a:prstGeom>
        </p:spPr>
      </p:pic>
    </p:spTree>
    <p:extLst>
      <p:ext uri="{BB962C8B-B14F-4D97-AF65-F5344CB8AC3E}">
        <p14:creationId xmlns:p14="http://schemas.microsoft.com/office/powerpoint/2010/main" val="34454957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90E75-9CDA-4F5A-9C95-A861D25C2026}"/>
              </a:ext>
            </a:extLst>
          </p:cNvPr>
          <p:cNvSpPr>
            <a:spLocks noGrp="1"/>
          </p:cNvSpPr>
          <p:nvPr>
            <p:ph type="title"/>
          </p:nvPr>
        </p:nvSpPr>
        <p:spPr/>
        <p:txBody>
          <a:bodyPr/>
          <a:lstStyle/>
          <a:p>
            <a:r>
              <a:rPr lang="en-US" dirty="0"/>
              <a:t>2) The Gains from Trade (part 3)</a:t>
            </a:r>
            <a:endParaRPr lang="en-IN" dirty="0"/>
          </a:p>
        </p:txBody>
      </p:sp>
      <p:sp>
        <p:nvSpPr>
          <p:cNvPr id="3" name="Content Placeholder 2">
            <a:extLst>
              <a:ext uri="{FF2B5EF4-FFF2-40B4-BE49-F238E27FC236}">
                <a16:creationId xmlns:a16="http://schemas.microsoft.com/office/drawing/2014/main" id="{6854DFC7-479D-45F7-999C-13242742E059}"/>
              </a:ext>
            </a:extLst>
          </p:cNvPr>
          <p:cNvSpPr>
            <a:spLocks noGrp="1"/>
          </p:cNvSpPr>
          <p:nvPr>
            <p:ph idx="1"/>
          </p:nvPr>
        </p:nvSpPr>
        <p:spPr>
          <a:xfrm>
            <a:off x="457200" y="1600201"/>
            <a:ext cx="8229600" cy="1308099"/>
          </a:xfrm>
        </p:spPr>
        <p:txBody>
          <a:bodyPr>
            <a:normAutofit/>
          </a:bodyPr>
          <a:lstStyle/>
          <a:p>
            <a:pPr marL="0" indent="0">
              <a:buNone/>
            </a:pPr>
            <a:r>
              <a:rPr lang="en-US" sz="2000" b="1" dirty="0">
                <a:latin typeface="+mn-lt"/>
                <a:cs typeface="Arial" panose="020B0604020202020204" pitchFamily="34" charset="0"/>
              </a:rPr>
              <a:t>Home Welfare</a:t>
            </a:r>
          </a:p>
          <a:p>
            <a:pPr marL="0" indent="0">
              <a:buNone/>
            </a:pPr>
            <a:r>
              <a:rPr lang="en-US" sz="2000" b="1" dirty="0">
                <a:latin typeface="+mn-lt"/>
                <a:cs typeface="Arial" panose="020B0604020202020204" pitchFamily="34" charset="0"/>
              </a:rPr>
              <a:t>No Trade, Free Trade for a Small Country, Gains from Trade</a:t>
            </a:r>
          </a:p>
          <a:p>
            <a:pPr marL="0" indent="0">
              <a:buNone/>
            </a:pPr>
            <a:r>
              <a:rPr lang="en-IN" sz="2000" dirty="0">
                <a:latin typeface="+mn-lt"/>
              </a:rPr>
              <a:t>FIGURE 2</a:t>
            </a:r>
          </a:p>
        </p:txBody>
      </p:sp>
      <p:sp>
        <p:nvSpPr>
          <p:cNvPr id="4" name="Content Placeholder 3">
            <a:extLst>
              <a:ext uri="{FF2B5EF4-FFF2-40B4-BE49-F238E27FC236}">
                <a16:creationId xmlns:a16="http://schemas.microsoft.com/office/drawing/2014/main" id="{47EAEF59-30E8-4C48-AF1B-1958AE092DDD}"/>
              </a:ext>
            </a:extLst>
          </p:cNvPr>
          <p:cNvSpPr>
            <a:spLocks noGrp="1"/>
          </p:cNvSpPr>
          <p:nvPr>
            <p:ph sz="quarter" idx="10"/>
          </p:nvPr>
        </p:nvSpPr>
        <p:spPr>
          <a:xfrm>
            <a:off x="457200" y="5283199"/>
            <a:ext cx="4267200" cy="1041401"/>
          </a:xfrm>
        </p:spPr>
        <p:txBody>
          <a:bodyPr>
            <a:normAutofit/>
          </a:bodyPr>
          <a:lstStyle/>
          <a:p>
            <a:pPr marL="0" indent="0">
              <a:spcBef>
                <a:spcPct val="10000"/>
              </a:spcBef>
              <a:spcAft>
                <a:spcPct val="10000"/>
              </a:spcAft>
              <a:buNone/>
            </a:pPr>
            <a:r>
              <a:rPr lang="en-US" sz="1600" b="0" dirty="0">
                <a:latin typeface="Arial" panose="020B0604020202020204" pitchFamily="34" charset="0"/>
                <a:cs typeface="Arial" panose="020B0604020202020204" pitchFamily="34" charset="0"/>
              </a:rPr>
              <a:t>Rise in consumer surplus: +(b + d)</a:t>
            </a:r>
          </a:p>
          <a:p>
            <a:pPr marL="0" indent="0">
              <a:spcBef>
                <a:spcPct val="10000"/>
              </a:spcBef>
              <a:spcAft>
                <a:spcPct val="10000"/>
              </a:spcAft>
              <a:buNone/>
            </a:pPr>
            <a:r>
              <a:rPr lang="en-US" sz="1600" b="0" dirty="0">
                <a:latin typeface="Arial" panose="020B0604020202020204" pitchFamily="34" charset="0"/>
                <a:cs typeface="Arial" panose="020B0604020202020204" pitchFamily="34" charset="0"/>
              </a:rPr>
              <a:t>Fall in producer surplus: −b</a:t>
            </a:r>
          </a:p>
          <a:p>
            <a:pPr marL="0" indent="0">
              <a:spcBef>
                <a:spcPct val="10000"/>
              </a:spcBef>
              <a:spcAft>
                <a:spcPct val="10000"/>
              </a:spcAft>
              <a:buNone/>
            </a:pPr>
            <a:r>
              <a:rPr lang="en-US" sz="1600" b="0" dirty="0">
                <a:latin typeface="Arial" panose="020B0604020202020204" pitchFamily="34" charset="0"/>
                <a:cs typeface="Arial" panose="020B0604020202020204" pitchFamily="34" charset="0"/>
              </a:rPr>
              <a:t>Net effect on Home welfare: +d</a:t>
            </a:r>
          </a:p>
        </p:txBody>
      </p:sp>
      <p:sp>
        <p:nvSpPr>
          <p:cNvPr id="5" name="Content Placeholder 4">
            <a:extLst>
              <a:ext uri="{FF2B5EF4-FFF2-40B4-BE49-F238E27FC236}">
                <a16:creationId xmlns:a16="http://schemas.microsoft.com/office/drawing/2014/main" id="{17187ED4-2435-468A-8650-5143E5C39C3D}"/>
              </a:ext>
            </a:extLst>
          </p:cNvPr>
          <p:cNvSpPr>
            <a:spLocks noGrp="1"/>
          </p:cNvSpPr>
          <p:nvPr>
            <p:ph sz="quarter" idx="11"/>
          </p:nvPr>
        </p:nvSpPr>
        <p:spPr>
          <a:xfrm>
            <a:off x="5334002" y="2514600"/>
            <a:ext cx="3352798" cy="3810000"/>
          </a:xfrm>
        </p:spPr>
        <p:txBody>
          <a:bodyPr>
            <a:normAutofit/>
          </a:bodyPr>
          <a:lstStyle/>
          <a:p>
            <a:pPr marL="0" indent="0">
              <a:spcBef>
                <a:spcPct val="10000"/>
              </a:spcBef>
              <a:spcAft>
                <a:spcPts val="600"/>
              </a:spcAft>
              <a:buNone/>
            </a:pPr>
            <a:r>
              <a:rPr lang="en-US" sz="1400" dirty="0">
                <a:latin typeface="Arial" panose="020B0604020202020204" pitchFamily="34" charset="0"/>
                <a:cs typeface="Arial" panose="020B0604020202020204" pitchFamily="34" charset="0"/>
              </a:rPr>
              <a:t>The Gains from Free Trade in Home</a:t>
            </a:r>
            <a:r>
              <a:rPr lang="en-US" sz="1400" b="0" dirty="0">
                <a:latin typeface="Arial" panose="020B0604020202020204" pitchFamily="34" charset="0"/>
                <a:cs typeface="Arial" panose="020B0604020202020204" pitchFamily="34" charset="0"/>
              </a:rPr>
              <a:t> With Home demand of D and supply of S, the no-trade equilibrium is at point A, at the price P</a:t>
            </a:r>
            <a:r>
              <a:rPr lang="en-US" sz="1400" b="0" baseline="30000" dirty="0">
                <a:latin typeface="Arial" panose="020B0604020202020204" pitchFamily="34" charset="0"/>
                <a:cs typeface="Arial" panose="020B0604020202020204" pitchFamily="34" charset="0"/>
              </a:rPr>
              <a:t>A</a:t>
            </a:r>
            <a:r>
              <a:rPr lang="en-US" sz="1400" b="0" dirty="0">
                <a:latin typeface="Arial" panose="020B0604020202020204" pitchFamily="34" charset="0"/>
                <a:cs typeface="Arial" panose="020B0604020202020204" pitchFamily="34" charset="0"/>
              </a:rPr>
              <a:t> producing Q</a:t>
            </a:r>
            <a:r>
              <a:rPr lang="en-US" sz="1400" b="0" baseline="-25000" dirty="0">
                <a:latin typeface="Arial" panose="020B0604020202020204" pitchFamily="34" charset="0"/>
                <a:cs typeface="Arial" panose="020B0604020202020204" pitchFamily="34" charset="0"/>
              </a:rPr>
              <a:t>0</a:t>
            </a:r>
            <a:r>
              <a:rPr lang="en-US" sz="1400" b="0" dirty="0">
                <a:latin typeface="Arial" panose="020B0604020202020204" pitchFamily="34" charset="0"/>
                <a:cs typeface="Arial" panose="020B0604020202020204" pitchFamily="34" charset="0"/>
              </a:rPr>
              <a:t>. </a:t>
            </a:r>
          </a:p>
          <a:p>
            <a:pPr marL="0" indent="0">
              <a:spcBef>
                <a:spcPct val="10000"/>
              </a:spcBef>
              <a:spcAft>
                <a:spcPts val="600"/>
              </a:spcAft>
              <a:buNone/>
            </a:pPr>
            <a:r>
              <a:rPr lang="en-US" sz="1400" b="0" dirty="0">
                <a:latin typeface="Arial" panose="020B0604020202020204" pitchFamily="34" charset="0"/>
                <a:cs typeface="Arial" panose="020B0604020202020204" pitchFamily="34" charset="0"/>
              </a:rPr>
              <a:t>With trade, the world price is P</a:t>
            </a:r>
            <a:r>
              <a:rPr lang="en-US" sz="1400" b="0" baseline="30000" dirty="0">
                <a:latin typeface="Arial" panose="020B0604020202020204" pitchFamily="34" charset="0"/>
                <a:cs typeface="Arial" panose="020B0604020202020204" pitchFamily="34" charset="0"/>
              </a:rPr>
              <a:t>W</a:t>
            </a:r>
            <a:r>
              <a:rPr lang="en-US" sz="1400" b="0" dirty="0">
                <a:latin typeface="Arial" panose="020B0604020202020204" pitchFamily="34" charset="0"/>
                <a:cs typeface="Arial" panose="020B0604020202020204" pitchFamily="34" charset="0"/>
              </a:rPr>
              <a:t>, so quantity demanded increases to D</a:t>
            </a:r>
            <a:r>
              <a:rPr lang="en-US" sz="1400" b="0" baseline="-25000" dirty="0">
                <a:latin typeface="Arial" panose="020B0604020202020204" pitchFamily="34" charset="0"/>
                <a:cs typeface="Arial" panose="020B0604020202020204" pitchFamily="34" charset="0"/>
              </a:rPr>
              <a:t>1</a:t>
            </a:r>
            <a:r>
              <a:rPr lang="en-US" sz="1400" b="0" dirty="0">
                <a:latin typeface="Arial" panose="020B0604020202020204" pitchFamily="34" charset="0"/>
                <a:cs typeface="Arial" panose="020B0604020202020204" pitchFamily="34" charset="0"/>
              </a:rPr>
              <a:t> and quantity supplied falls to S</a:t>
            </a:r>
            <a:r>
              <a:rPr lang="en-US" sz="1400" b="0" baseline="-25000" dirty="0">
                <a:latin typeface="Arial" panose="020B0604020202020204" pitchFamily="34" charset="0"/>
                <a:cs typeface="Arial" panose="020B0604020202020204" pitchFamily="34" charset="0"/>
              </a:rPr>
              <a:t>1</a:t>
            </a:r>
            <a:r>
              <a:rPr lang="en-US" sz="1400" b="0" dirty="0">
                <a:latin typeface="Arial" panose="020B0604020202020204" pitchFamily="34" charset="0"/>
                <a:cs typeface="Arial" panose="020B0604020202020204" pitchFamily="34" charset="0"/>
              </a:rPr>
              <a:t>. Since quantity demanded exceeds quantity supplied, Home imports D</a:t>
            </a:r>
            <a:r>
              <a:rPr lang="en-US" sz="1400" b="0" baseline="-25000" dirty="0">
                <a:latin typeface="Arial" panose="020B0604020202020204" pitchFamily="34" charset="0"/>
                <a:cs typeface="Arial" panose="020B0604020202020204" pitchFamily="34" charset="0"/>
              </a:rPr>
              <a:t>1</a:t>
            </a:r>
            <a:r>
              <a:rPr lang="en-US" sz="1400" b="0" dirty="0">
                <a:latin typeface="Arial" panose="020B0604020202020204" pitchFamily="34" charset="0"/>
                <a:cs typeface="Arial" panose="020B0604020202020204" pitchFamily="34" charset="0"/>
              </a:rPr>
              <a:t> – S</a:t>
            </a:r>
            <a:r>
              <a:rPr lang="en-US" sz="1400" b="0" baseline="-25000" dirty="0">
                <a:latin typeface="Arial" panose="020B0604020202020204" pitchFamily="34" charset="0"/>
                <a:cs typeface="Arial" panose="020B0604020202020204" pitchFamily="34" charset="0"/>
              </a:rPr>
              <a:t>1</a:t>
            </a:r>
            <a:r>
              <a:rPr lang="en-US" sz="1400" b="0" dirty="0">
                <a:latin typeface="Arial" panose="020B0604020202020204" pitchFamily="34" charset="0"/>
                <a:cs typeface="Arial" panose="020B0604020202020204" pitchFamily="34" charset="0"/>
              </a:rPr>
              <a:t>. </a:t>
            </a:r>
          </a:p>
          <a:p>
            <a:pPr marL="0" indent="0">
              <a:spcBef>
                <a:spcPct val="10000"/>
              </a:spcBef>
              <a:spcAft>
                <a:spcPts val="600"/>
              </a:spcAft>
              <a:buNone/>
            </a:pPr>
            <a:r>
              <a:rPr lang="en-US" sz="1400" b="0" dirty="0">
                <a:latin typeface="Arial" panose="020B0604020202020204" pitchFamily="34" charset="0"/>
                <a:cs typeface="Arial" panose="020B0604020202020204" pitchFamily="34" charset="0"/>
              </a:rPr>
              <a:t>Consumer surplus increases by the area (b + d), and producer surplus falls by area b. </a:t>
            </a:r>
          </a:p>
          <a:p>
            <a:pPr marL="0" indent="0">
              <a:spcBef>
                <a:spcPct val="10000"/>
              </a:spcBef>
              <a:spcAft>
                <a:spcPts val="600"/>
              </a:spcAft>
              <a:buNone/>
            </a:pPr>
            <a:r>
              <a:rPr lang="en-US" sz="1400" b="0" dirty="0">
                <a:latin typeface="Arial" panose="020B0604020202020204" pitchFamily="34" charset="0"/>
                <a:cs typeface="Arial" panose="020B0604020202020204" pitchFamily="34" charset="0"/>
              </a:rPr>
              <a:t>The gains from trade are measured by area d.</a:t>
            </a:r>
          </a:p>
        </p:txBody>
      </p:sp>
      <p:pic>
        <p:nvPicPr>
          <p:cNvPr id="11" name="Picture Placeholder 5" descr="Two graphs illustrate gains from free trade in home. Both graphs plot X-axis as Quantity versus Y-axis as Price.&#10;Graph (a) titled, No trade graph shows Q subscript 0 on the horizontal axis and P superscript A on the vertical axis. &#10;The graph shows two straight lines S and D. Line S slants positively from a value just above the origin on the Y-axis and line D slants negatively from a value above P superscript A, high on the Y-axis. They intersect at point A (Q subscript 0, p superscript A) which is labeled “No trade equilibrium.”&#10;Straight dotted lines are drawn from point A to both the horizontal and vertical axis, to the Q subscript 0 and P superscript A markings respectively. Triangular region between the horizontal dotted line and line D is labeled “C S” and triangular region between the horizontal dotted line and line S is labeled “P S.” &#10;Graph (b) titled, Free trade marks S subscript 1 and D subscript 1 on X axis and; P superscript A and P superscript W on the Y-axis. &#10;The graph shows two straight lines S and D. Line S slants positively from a price below p superscript W, just above the origin on the Y-axis and line D slants negatively from a price above p superscript A, high on the Y-axis. They intersect each other at a point between quantities S subscript 1 and D subscript 1. &#10;Horizontal dotted lines parallel to the X-axis are drawn from price p superscript A and p superscript Won the Y-axis. Vertical dotted lines are drawn from quantity S subscript 1 and D subscript 1 parallel to the Y-axis.&#10;The triangular region between the dotted line from p superscript A and line D is labeled “a.” The region between dotted lines from p superscript A, P superscript W, and line S is labeled “b.” Triangular region below dotted line from p superscript W and line S is labeled “c.” Triangular area enclosed by lines S, D, and dotted line from p superscript W is labeled “d.” The area between S subscript 1 and D subscript 1 on the X-axis is labeled “imports which is equal to M subscript 1.”">
            <a:extLst>
              <a:ext uri="{FF2B5EF4-FFF2-40B4-BE49-F238E27FC236}">
                <a16:creationId xmlns:a16="http://schemas.microsoft.com/office/drawing/2014/main" id="{D3C23797-7543-43F2-84D0-9131CE6EFE15}"/>
              </a:ext>
            </a:extLst>
          </p:cNvPr>
          <p:cNvPicPr>
            <a:picLocks noGrp="1" noChangeAspect="1"/>
          </p:cNvPicPr>
          <p:nvPr>
            <p:ph type="pic" sz="quarter" idx="12"/>
          </p:nvPr>
        </p:nvPicPr>
        <p:blipFill>
          <a:blip r:embed="rId2" cstate="print">
            <a:extLst>
              <a:ext uri="{28A0092B-C50C-407E-A947-70E740481C1C}">
                <a14:useLocalDpi xmlns:a14="http://schemas.microsoft.com/office/drawing/2010/main" val="0"/>
              </a:ext>
            </a:extLst>
          </a:blip>
          <a:stretch>
            <a:fillRect/>
          </a:stretch>
        </p:blipFill>
        <p:spPr>
          <a:xfrm>
            <a:off x="1069074" y="3017057"/>
            <a:ext cx="3378189" cy="2164543"/>
          </a:xfrm>
          <a:prstGeom prst="rect">
            <a:avLst/>
          </a:prstGeom>
        </p:spPr>
      </p:pic>
    </p:spTree>
    <p:extLst>
      <p:ext uri="{BB962C8B-B14F-4D97-AF65-F5344CB8AC3E}">
        <p14:creationId xmlns:p14="http://schemas.microsoft.com/office/powerpoint/2010/main" val="24194867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90E75-9CDA-4F5A-9C95-A861D25C2026}"/>
              </a:ext>
            </a:extLst>
          </p:cNvPr>
          <p:cNvSpPr>
            <a:spLocks noGrp="1"/>
          </p:cNvSpPr>
          <p:nvPr>
            <p:ph type="title"/>
          </p:nvPr>
        </p:nvSpPr>
        <p:spPr/>
        <p:txBody>
          <a:bodyPr/>
          <a:lstStyle/>
          <a:p>
            <a:r>
              <a:rPr lang="en-US" dirty="0"/>
              <a:t>2) The Gains from Trade (part 4)</a:t>
            </a:r>
            <a:endParaRPr lang="en-IN" dirty="0"/>
          </a:p>
        </p:txBody>
      </p:sp>
      <p:sp>
        <p:nvSpPr>
          <p:cNvPr id="3" name="Content Placeholder 2">
            <a:extLst>
              <a:ext uri="{FF2B5EF4-FFF2-40B4-BE49-F238E27FC236}">
                <a16:creationId xmlns:a16="http://schemas.microsoft.com/office/drawing/2014/main" id="{6854DFC7-479D-45F7-999C-13242742E059}"/>
              </a:ext>
            </a:extLst>
          </p:cNvPr>
          <p:cNvSpPr>
            <a:spLocks noGrp="1"/>
          </p:cNvSpPr>
          <p:nvPr>
            <p:ph idx="1"/>
          </p:nvPr>
        </p:nvSpPr>
        <p:spPr>
          <a:xfrm>
            <a:off x="457200" y="1600201"/>
            <a:ext cx="3990063" cy="914399"/>
          </a:xfrm>
        </p:spPr>
        <p:txBody>
          <a:bodyPr>
            <a:normAutofit/>
          </a:bodyPr>
          <a:lstStyle/>
          <a:p>
            <a:pPr marL="0" indent="0">
              <a:buNone/>
            </a:pPr>
            <a:r>
              <a:rPr lang="en-US" sz="2000" b="1" dirty="0">
                <a:latin typeface="+mn-lt"/>
                <a:cs typeface="Arial" panose="020B0604020202020204" pitchFamily="34" charset="0"/>
              </a:rPr>
              <a:t>Home Import Demand Curve</a:t>
            </a:r>
          </a:p>
          <a:p>
            <a:pPr marL="0" indent="0">
              <a:buNone/>
            </a:pPr>
            <a:r>
              <a:rPr lang="en-IN" sz="2000" dirty="0">
                <a:latin typeface="+mn-lt"/>
              </a:rPr>
              <a:t>FIGURE 3</a:t>
            </a:r>
          </a:p>
        </p:txBody>
      </p:sp>
      <p:sp>
        <p:nvSpPr>
          <p:cNvPr id="4" name="Content Placeholder 3">
            <a:extLst>
              <a:ext uri="{FF2B5EF4-FFF2-40B4-BE49-F238E27FC236}">
                <a16:creationId xmlns:a16="http://schemas.microsoft.com/office/drawing/2014/main" id="{47EAEF59-30E8-4C48-AF1B-1958AE092DDD}"/>
              </a:ext>
            </a:extLst>
          </p:cNvPr>
          <p:cNvSpPr>
            <a:spLocks noGrp="1"/>
          </p:cNvSpPr>
          <p:nvPr>
            <p:ph sz="quarter" idx="10"/>
          </p:nvPr>
        </p:nvSpPr>
        <p:spPr>
          <a:xfrm>
            <a:off x="457200" y="5029200"/>
            <a:ext cx="4876802" cy="1143000"/>
          </a:xfrm>
        </p:spPr>
        <p:txBody>
          <a:bodyPr>
            <a:normAutofit/>
          </a:bodyPr>
          <a:lstStyle/>
          <a:p>
            <a:pPr marL="0" indent="0">
              <a:spcBef>
                <a:spcPct val="10000"/>
              </a:spcBef>
              <a:spcAft>
                <a:spcPct val="10000"/>
              </a:spcAft>
              <a:buNone/>
            </a:pPr>
            <a:r>
              <a:rPr lang="en-US" sz="1800" b="0" dirty="0">
                <a:latin typeface="Arial" panose="020B0604020202020204" pitchFamily="34" charset="0"/>
                <a:cs typeface="Arial" panose="020B0604020202020204" pitchFamily="34" charset="0"/>
              </a:rPr>
              <a:t>The import demand curve shows the relationship between the world price of a good and the quantity of imports demanded by Home consumers.</a:t>
            </a:r>
          </a:p>
        </p:txBody>
      </p:sp>
      <p:sp>
        <p:nvSpPr>
          <p:cNvPr id="5" name="Content Placeholder 4">
            <a:extLst>
              <a:ext uri="{FF2B5EF4-FFF2-40B4-BE49-F238E27FC236}">
                <a16:creationId xmlns:a16="http://schemas.microsoft.com/office/drawing/2014/main" id="{17187ED4-2435-468A-8650-5143E5C39C3D}"/>
              </a:ext>
            </a:extLst>
          </p:cNvPr>
          <p:cNvSpPr>
            <a:spLocks noGrp="1"/>
          </p:cNvSpPr>
          <p:nvPr>
            <p:ph sz="quarter" idx="11"/>
          </p:nvPr>
        </p:nvSpPr>
        <p:spPr>
          <a:xfrm>
            <a:off x="5334002" y="1600201"/>
            <a:ext cx="3352798" cy="4724399"/>
          </a:xfrm>
        </p:spPr>
        <p:txBody>
          <a:bodyPr>
            <a:normAutofit/>
          </a:bodyPr>
          <a:lstStyle/>
          <a:p>
            <a:pPr marL="0" indent="0">
              <a:spcBef>
                <a:spcPct val="10000"/>
              </a:spcBef>
              <a:spcAft>
                <a:spcPts val="600"/>
              </a:spcAft>
              <a:buNone/>
            </a:pPr>
            <a:r>
              <a:rPr lang="en-US" sz="1800" b="0" dirty="0">
                <a:solidFill>
                  <a:srgbClr val="8A3A6A"/>
                </a:solidFill>
                <a:latin typeface="Arial" panose="020B0604020202020204" pitchFamily="34" charset="0"/>
                <a:cs typeface="Arial" panose="020B0604020202020204" pitchFamily="34" charset="0"/>
              </a:rPr>
              <a:t>Home Import Demand </a:t>
            </a:r>
            <a:r>
              <a:rPr lang="en-US" sz="1800" b="0" dirty="0">
                <a:latin typeface="Arial" panose="020B0604020202020204" pitchFamily="34" charset="0"/>
                <a:cs typeface="Arial" panose="020B0604020202020204" pitchFamily="34" charset="0"/>
              </a:rPr>
              <a:t>With Home demand of D and supply of S, the no-trade equilibrium is at point A, with the price P</a:t>
            </a:r>
            <a:r>
              <a:rPr lang="en-US" sz="1800" b="0" baseline="30000" dirty="0">
                <a:latin typeface="Arial" panose="020B0604020202020204" pitchFamily="34" charset="0"/>
                <a:cs typeface="Arial" panose="020B0604020202020204" pitchFamily="34" charset="0"/>
              </a:rPr>
              <a:t>A</a:t>
            </a:r>
            <a:r>
              <a:rPr lang="en-US" sz="1800" b="0" dirty="0">
                <a:latin typeface="Arial" panose="020B0604020202020204" pitchFamily="34" charset="0"/>
                <a:cs typeface="Arial" panose="020B0604020202020204" pitchFamily="34" charset="0"/>
              </a:rPr>
              <a:t> and import quantity Q</a:t>
            </a:r>
            <a:r>
              <a:rPr lang="en-US" sz="1800" b="0" baseline="-25000" dirty="0">
                <a:latin typeface="Arial" panose="020B0604020202020204" pitchFamily="34" charset="0"/>
                <a:cs typeface="Arial" panose="020B0604020202020204" pitchFamily="34" charset="0"/>
              </a:rPr>
              <a:t>0</a:t>
            </a:r>
            <a:r>
              <a:rPr lang="en-US" sz="1800" b="0" dirty="0">
                <a:latin typeface="Arial" panose="020B0604020202020204" pitchFamily="34" charset="0"/>
                <a:cs typeface="Arial" panose="020B0604020202020204" pitchFamily="34" charset="0"/>
              </a:rPr>
              <a:t>. </a:t>
            </a:r>
          </a:p>
          <a:p>
            <a:pPr marL="0" indent="0">
              <a:spcBef>
                <a:spcPct val="10000"/>
              </a:spcBef>
              <a:spcAft>
                <a:spcPts val="600"/>
              </a:spcAft>
              <a:buNone/>
            </a:pPr>
            <a:r>
              <a:rPr lang="en-US" sz="1800" b="0" dirty="0">
                <a:latin typeface="Arial" panose="020B0604020202020204" pitchFamily="34" charset="0"/>
                <a:cs typeface="Arial" panose="020B0604020202020204" pitchFamily="34" charset="0"/>
              </a:rPr>
              <a:t>Import demand at this price is zero, as shown by the point A' in panel (b).</a:t>
            </a:r>
          </a:p>
          <a:p>
            <a:pPr marL="0" indent="0">
              <a:spcBef>
                <a:spcPct val="10000"/>
              </a:spcBef>
              <a:spcAft>
                <a:spcPts val="600"/>
              </a:spcAft>
              <a:buNone/>
            </a:pPr>
            <a:r>
              <a:rPr lang="en-US" sz="1800" b="0" dirty="0">
                <a:latin typeface="Arial" panose="020B0604020202020204" pitchFamily="34" charset="0"/>
                <a:cs typeface="Arial" panose="020B0604020202020204" pitchFamily="34" charset="0"/>
              </a:rPr>
              <a:t>At a lower world price of P</a:t>
            </a:r>
            <a:r>
              <a:rPr lang="en-US" sz="1800" b="0" baseline="30000" dirty="0">
                <a:latin typeface="Arial" panose="020B0604020202020204" pitchFamily="34" charset="0"/>
                <a:cs typeface="Arial" panose="020B0604020202020204" pitchFamily="34" charset="0"/>
              </a:rPr>
              <a:t>W</a:t>
            </a:r>
            <a:r>
              <a:rPr lang="en-US" sz="1800" b="0" dirty="0">
                <a:latin typeface="Arial" panose="020B0604020202020204" pitchFamily="34" charset="0"/>
                <a:cs typeface="Arial" panose="020B0604020202020204" pitchFamily="34" charset="0"/>
              </a:rPr>
              <a:t>, import demand is M</a:t>
            </a:r>
            <a:r>
              <a:rPr lang="en-US" sz="1800" b="0" baseline="-25000" dirty="0">
                <a:latin typeface="Arial" panose="020B0604020202020204" pitchFamily="34" charset="0"/>
                <a:cs typeface="Arial" panose="020B0604020202020204" pitchFamily="34" charset="0"/>
              </a:rPr>
              <a:t>1</a:t>
            </a:r>
            <a:r>
              <a:rPr lang="en-US" sz="1800" b="0" dirty="0">
                <a:latin typeface="Arial" panose="020B0604020202020204" pitchFamily="34" charset="0"/>
                <a:cs typeface="Arial" panose="020B0604020202020204" pitchFamily="34" charset="0"/>
              </a:rPr>
              <a:t> = D</a:t>
            </a:r>
            <a:r>
              <a:rPr lang="en-US" sz="1800" b="0" baseline="-25000" dirty="0">
                <a:latin typeface="Arial" panose="020B0604020202020204" pitchFamily="34" charset="0"/>
                <a:cs typeface="Arial" panose="020B0604020202020204" pitchFamily="34" charset="0"/>
              </a:rPr>
              <a:t>1</a:t>
            </a:r>
            <a:r>
              <a:rPr lang="en-US" sz="1800" b="0" dirty="0">
                <a:latin typeface="Arial" panose="020B0604020202020204" pitchFamily="34" charset="0"/>
                <a:cs typeface="Arial" panose="020B0604020202020204" pitchFamily="34" charset="0"/>
              </a:rPr>
              <a:t> – S</a:t>
            </a:r>
            <a:r>
              <a:rPr lang="en-US" sz="1800" b="0" baseline="-25000" dirty="0">
                <a:latin typeface="Arial" panose="020B0604020202020204" pitchFamily="34" charset="0"/>
                <a:cs typeface="Arial" panose="020B0604020202020204" pitchFamily="34" charset="0"/>
              </a:rPr>
              <a:t>1</a:t>
            </a:r>
            <a:r>
              <a:rPr lang="en-US" sz="1800" b="0" dirty="0">
                <a:latin typeface="Arial" panose="020B0604020202020204" pitchFamily="34" charset="0"/>
                <a:cs typeface="Arial" panose="020B0604020202020204" pitchFamily="34" charset="0"/>
              </a:rPr>
              <a:t>, as shown by point B.</a:t>
            </a:r>
          </a:p>
          <a:p>
            <a:pPr marL="0" indent="0">
              <a:spcBef>
                <a:spcPct val="10000"/>
              </a:spcBef>
              <a:spcAft>
                <a:spcPts val="600"/>
              </a:spcAft>
              <a:buNone/>
            </a:pPr>
            <a:r>
              <a:rPr lang="en-US" sz="1800" b="0" dirty="0">
                <a:latin typeface="Arial" panose="020B0604020202020204" pitchFamily="34" charset="0"/>
                <a:cs typeface="Arial" panose="020B0604020202020204" pitchFamily="34" charset="0"/>
              </a:rPr>
              <a:t>Joining up all points between A' and B, we obtain the import demand curve, M.</a:t>
            </a:r>
          </a:p>
        </p:txBody>
      </p:sp>
      <p:pic>
        <p:nvPicPr>
          <p:cNvPr id="8" name="Picture Placeholder 7" descr="Two line graphs titled (a) Home Market and (b) Import market illustrate Home Import Demand. Both graphs plot the Y-axis as Price.&#10;The Home Market graph shows the X-axis as Quantity and shows the following markings: Quantity S subscript 1, Quantity Q subscript 0, and D subscript 1. The Y-axis shows the following markings: P superscript A and P superscript W. It has the point, no trade equilibrium, plotted at point A (Q subscript 0, P superscript A). At this point straight line S, slanting positive, intersects the Straight line D, slanting negative. Quantity S subscript 1 is before quantity Q subscript 0 and D subscript 1 is after Q subscript 0 on the X-axis. The region between S subscript 1 and D subscript 1 on the X-axis is labeled “Imports equals M subscript 1.”&#10;(b) Import Market graph shows the X-axis as Imports. It has a straight import demand line, M, extend from point A prime (0, P superscript A) through point B (M subscript 1, P superscript W). ">
            <a:extLst>
              <a:ext uri="{FF2B5EF4-FFF2-40B4-BE49-F238E27FC236}">
                <a16:creationId xmlns:a16="http://schemas.microsoft.com/office/drawing/2014/main" id="{91533F83-F2EB-42B0-9716-A6B0FE8E542F}"/>
              </a:ext>
            </a:extLst>
          </p:cNvPr>
          <p:cNvPicPr>
            <a:picLocks noGrp="1" noChangeAspect="1"/>
          </p:cNvPicPr>
          <p:nvPr>
            <p:ph type="pic" sz="quarter" idx="12"/>
          </p:nvPr>
        </p:nvPicPr>
        <p:blipFill>
          <a:blip r:embed="rId2"/>
          <a:stretch>
            <a:fillRect/>
          </a:stretch>
        </p:blipFill>
        <p:spPr>
          <a:xfrm>
            <a:off x="631012" y="2590800"/>
            <a:ext cx="4093388" cy="2106806"/>
          </a:xfrm>
          <a:prstGeom prst="rect">
            <a:avLst/>
          </a:prstGeom>
        </p:spPr>
      </p:pic>
    </p:spTree>
    <p:extLst>
      <p:ext uri="{BB962C8B-B14F-4D97-AF65-F5344CB8AC3E}">
        <p14:creationId xmlns:p14="http://schemas.microsoft.com/office/powerpoint/2010/main" val="6726462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90E75-9CDA-4F5A-9C95-A861D25C2026}"/>
              </a:ext>
            </a:extLst>
          </p:cNvPr>
          <p:cNvSpPr>
            <a:spLocks noGrp="1"/>
          </p:cNvSpPr>
          <p:nvPr>
            <p:ph type="title"/>
          </p:nvPr>
        </p:nvSpPr>
        <p:spPr/>
        <p:txBody>
          <a:bodyPr/>
          <a:lstStyle/>
          <a:p>
            <a:r>
              <a:rPr lang="en-US" dirty="0"/>
              <a:t>3) Import Tariffs for a Small Country </a:t>
            </a:r>
            <a:br>
              <a:rPr lang="en-US" dirty="0"/>
            </a:br>
            <a:r>
              <a:rPr lang="en-US" dirty="0"/>
              <a:t>(part 1)</a:t>
            </a:r>
            <a:endParaRPr lang="en-IN" dirty="0"/>
          </a:p>
        </p:txBody>
      </p:sp>
      <p:sp>
        <p:nvSpPr>
          <p:cNvPr id="3" name="Content Placeholder 2">
            <a:extLst>
              <a:ext uri="{FF2B5EF4-FFF2-40B4-BE49-F238E27FC236}">
                <a16:creationId xmlns:a16="http://schemas.microsoft.com/office/drawing/2014/main" id="{6854DFC7-479D-45F7-999C-13242742E059}"/>
              </a:ext>
            </a:extLst>
          </p:cNvPr>
          <p:cNvSpPr>
            <a:spLocks noGrp="1"/>
          </p:cNvSpPr>
          <p:nvPr>
            <p:ph idx="1"/>
          </p:nvPr>
        </p:nvSpPr>
        <p:spPr>
          <a:xfrm>
            <a:off x="457200" y="1447801"/>
            <a:ext cx="8382000" cy="914399"/>
          </a:xfrm>
        </p:spPr>
        <p:txBody>
          <a:bodyPr>
            <a:normAutofit/>
          </a:bodyPr>
          <a:lstStyle/>
          <a:p>
            <a:pPr marL="0" indent="0">
              <a:buNone/>
            </a:pPr>
            <a:r>
              <a:rPr lang="en-US" sz="2000" b="1" dirty="0">
                <a:latin typeface="+mn-lt"/>
                <a:cs typeface="Arial" panose="020B0604020202020204" pitchFamily="34" charset="0"/>
              </a:rPr>
              <a:t>Free Trade for a Small Country</a:t>
            </a:r>
          </a:p>
          <a:p>
            <a:pPr marL="0" indent="0">
              <a:buNone/>
            </a:pPr>
            <a:r>
              <a:rPr lang="en-US" sz="2000" dirty="0">
                <a:latin typeface="+mn-lt"/>
              </a:rPr>
              <a:t>FIGURE 4 (1 of 2) Tariff for a Small Country</a:t>
            </a:r>
          </a:p>
        </p:txBody>
      </p:sp>
      <p:sp>
        <p:nvSpPr>
          <p:cNvPr id="7" name="Content Placeholder 6">
            <a:extLst>
              <a:ext uri="{FF2B5EF4-FFF2-40B4-BE49-F238E27FC236}">
                <a16:creationId xmlns:a16="http://schemas.microsoft.com/office/drawing/2014/main" id="{8507927E-CAA8-44DA-BA1F-81973897430C}"/>
              </a:ext>
            </a:extLst>
          </p:cNvPr>
          <p:cNvSpPr>
            <a:spLocks noGrp="1"/>
          </p:cNvSpPr>
          <p:nvPr>
            <p:ph sz="quarter" idx="10"/>
          </p:nvPr>
        </p:nvSpPr>
        <p:spPr>
          <a:xfrm>
            <a:off x="457200" y="5080063"/>
            <a:ext cx="7772400" cy="1269875"/>
          </a:xfrm>
        </p:spPr>
        <p:txBody>
          <a:bodyPr>
            <a:normAutofit/>
          </a:bodyPr>
          <a:lstStyle/>
          <a:p>
            <a:pPr marL="0" indent="0">
              <a:buNone/>
            </a:pPr>
            <a:r>
              <a:rPr lang="en-US" sz="2000" b="0" dirty="0">
                <a:latin typeface="Arial" panose="020B0604020202020204" pitchFamily="34" charset="0"/>
                <a:cs typeface="Arial" panose="020B0604020202020204" pitchFamily="34" charset="0"/>
              </a:rPr>
              <a:t>Applying a tariff of t dollars will increase the import price from P</a:t>
            </a:r>
            <a:r>
              <a:rPr lang="en-US" sz="2000" b="0" baseline="30000" dirty="0">
                <a:latin typeface="Arial" panose="020B0604020202020204" pitchFamily="34" charset="0"/>
                <a:cs typeface="Arial" panose="020B0604020202020204" pitchFamily="34" charset="0"/>
              </a:rPr>
              <a:t>W</a:t>
            </a:r>
            <a:r>
              <a:rPr lang="en-US" sz="2000" b="0" dirty="0">
                <a:latin typeface="Arial" panose="020B0604020202020204" pitchFamily="34" charset="0"/>
                <a:cs typeface="Arial" panose="020B0604020202020204" pitchFamily="34" charset="0"/>
              </a:rPr>
              <a:t> to P</a:t>
            </a:r>
            <a:r>
              <a:rPr lang="en-US" sz="2000" b="0" baseline="30000" dirty="0">
                <a:latin typeface="Arial" panose="020B0604020202020204" pitchFamily="34" charset="0"/>
                <a:cs typeface="Arial" panose="020B0604020202020204" pitchFamily="34" charset="0"/>
              </a:rPr>
              <a:t>W</a:t>
            </a:r>
            <a:r>
              <a:rPr lang="en-US" sz="2000" b="0" dirty="0">
                <a:latin typeface="Arial" panose="020B0604020202020204" pitchFamily="34" charset="0"/>
                <a:cs typeface="Arial" panose="020B0604020202020204" pitchFamily="34" charset="0"/>
              </a:rPr>
              <a:t> + t. The domestic price of that good also rises to P</a:t>
            </a:r>
            <a:r>
              <a:rPr lang="en-US" sz="2000" b="0" baseline="30000" dirty="0">
                <a:latin typeface="Arial" panose="020B0604020202020204" pitchFamily="34" charset="0"/>
                <a:cs typeface="Arial" panose="020B0604020202020204" pitchFamily="34" charset="0"/>
              </a:rPr>
              <a:t>W</a:t>
            </a:r>
            <a:r>
              <a:rPr lang="en-US" sz="2000" b="0" dirty="0">
                <a:latin typeface="Arial" panose="020B0604020202020204" pitchFamily="34" charset="0"/>
                <a:cs typeface="Arial" panose="020B0604020202020204" pitchFamily="34" charset="0"/>
              </a:rPr>
              <a:t> + t. This price rise leads to an increase in Home supply from S</a:t>
            </a:r>
            <a:r>
              <a:rPr lang="en-US" sz="2000" b="0" baseline="-25000" dirty="0">
                <a:latin typeface="Arial" panose="020B0604020202020204" pitchFamily="34" charset="0"/>
                <a:cs typeface="Arial" panose="020B0604020202020204" pitchFamily="34" charset="0"/>
              </a:rPr>
              <a:t>1</a:t>
            </a:r>
            <a:r>
              <a:rPr lang="en-US" sz="2000" b="0" dirty="0">
                <a:latin typeface="Arial" panose="020B0604020202020204" pitchFamily="34" charset="0"/>
                <a:cs typeface="Arial" panose="020B0604020202020204" pitchFamily="34" charset="0"/>
              </a:rPr>
              <a:t> to S</a:t>
            </a:r>
            <a:r>
              <a:rPr lang="en-US" sz="2000" b="0" baseline="-25000" dirty="0">
                <a:latin typeface="Arial" panose="020B0604020202020204" pitchFamily="34" charset="0"/>
                <a:cs typeface="Arial" panose="020B0604020202020204" pitchFamily="34" charset="0"/>
              </a:rPr>
              <a:t>2</a:t>
            </a:r>
            <a:r>
              <a:rPr lang="en-US" sz="2000" b="0" dirty="0">
                <a:latin typeface="Arial" panose="020B0604020202020204" pitchFamily="34" charset="0"/>
                <a:cs typeface="Arial" panose="020B0604020202020204" pitchFamily="34" charset="0"/>
              </a:rPr>
              <a:t>, and a decrease in Home demand from D</a:t>
            </a:r>
            <a:r>
              <a:rPr lang="en-US" sz="2000" b="0" baseline="-25000" dirty="0">
                <a:latin typeface="Arial" panose="020B0604020202020204" pitchFamily="34" charset="0"/>
                <a:cs typeface="Arial" panose="020B0604020202020204" pitchFamily="34" charset="0"/>
              </a:rPr>
              <a:t>1</a:t>
            </a:r>
            <a:r>
              <a:rPr lang="en-US" sz="2000" b="0" dirty="0">
                <a:latin typeface="Arial" panose="020B0604020202020204" pitchFamily="34" charset="0"/>
                <a:cs typeface="Arial" panose="020B0604020202020204" pitchFamily="34" charset="0"/>
              </a:rPr>
              <a:t> to D</a:t>
            </a:r>
            <a:r>
              <a:rPr lang="en-US" sz="2000" b="0" baseline="-25000" dirty="0">
                <a:latin typeface="Arial" panose="020B0604020202020204" pitchFamily="34" charset="0"/>
                <a:cs typeface="Arial" panose="020B0604020202020204" pitchFamily="34" charset="0"/>
              </a:rPr>
              <a:t>2</a:t>
            </a:r>
            <a:r>
              <a:rPr lang="en-US" sz="2000" b="0" dirty="0">
                <a:latin typeface="Arial" panose="020B0604020202020204" pitchFamily="34" charset="0"/>
                <a:cs typeface="Arial" panose="020B0604020202020204" pitchFamily="34" charset="0"/>
              </a:rPr>
              <a:t>, in panel (a).</a:t>
            </a:r>
          </a:p>
        </p:txBody>
      </p:sp>
      <p:pic>
        <p:nvPicPr>
          <p:cNvPr id="13" name="Picture Placeholder 12" descr="Two line graphs titled (a) Home Market and (b) Import market illustrate Tariff for a small country. &quot;Y-axis for both the graphs represents Price.&#10;Graph (a) shows Quantity on the X-axis. It has two straight lines S and D. Line S slants positively from the bottom left of the graph to the top right and Line D slants negatively from the top left of the graph to the bottom right. These lines intersect at point A labeled “No trade equilibrium.” On the Y-axis prices P superscript W and P superscript W plus t are marked. Horizontal dotted lines parallel to the X-axis is drawn from these two marks, intersecting both S and D lines. X-axis has quantities S subscript 1, S subscript 2, D subscript 2, and D subscript 1 marked. Vertical dotted lines from S subscript 1 and S subscript 2 meet line S at P superscript W and P superscript W plus t respectively and vertical dotted lines from D subscript 2 and D subscript 1 meet line D at P superscript W plus t and P superscript W respectively. The region between S subscript 2 and D subscript 2 on the X-axis is labeled M subscript 2. &#10;Graph (b) shows Imports on the X-axis and marks M subscript 1 and M subscript 2 are marked on it. Line X asterisk plus t runs parallel to the horizontal axis. Just below this line is the foreign export supply, X asterisk. Point M subscript 1 on the horizontal axis is connected to the foreign export supply line and the intersecting point is labeled B. Point M subscript 2 is connected to the line X asterisk plus t and the intersecting point is marked as C. A downward sloping line from high on the vertical axis and ending at the bottom right of the graph is drawn connecting points B and C and is labeled M.">
            <a:extLst>
              <a:ext uri="{FF2B5EF4-FFF2-40B4-BE49-F238E27FC236}">
                <a16:creationId xmlns:a16="http://schemas.microsoft.com/office/drawing/2014/main" id="{BC260020-A451-417A-97FA-80849671373C}"/>
              </a:ext>
            </a:extLst>
          </p:cNvPr>
          <p:cNvPicPr>
            <a:picLocks noGrp="1" noChangeAspect="1"/>
          </p:cNvPicPr>
          <p:nvPr>
            <p:ph type="pic" sz="quarter" idx="12"/>
          </p:nvPr>
        </p:nvPicPr>
        <p:blipFill>
          <a:blip r:embed="rId2"/>
          <a:stretch>
            <a:fillRect/>
          </a:stretch>
        </p:blipFill>
        <p:spPr>
          <a:xfrm>
            <a:off x="1748113" y="2438400"/>
            <a:ext cx="5647775" cy="2460817"/>
          </a:xfrm>
          <a:prstGeom prst="rect">
            <a:avLst/>
          </a:prstGeom>
        </p:spPr>
      </p:pic>
    </p:spTree>
    <p:extLst>
      <p:ext uri="{BB962C8B-B14F-4D97-AF65-F5344CB8AC3E}">
        <p14:creationId xmlns:p14="http://schemas.microsoft.com/office/powerpoint/2010/main" val="12970268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90E75-9CDA-4F5A-9C95-A861D25C2026}"/>
              </a:ext>
            </a:extLst>
          </p:cNvPr>
          <p:cNvSpPr>
            <a:spLocks noGrp="1"/>
          </p:cNvSpPr>
          <p:nvPr>
            <p:ph type="title"/>
          </p:nvPr>
        </p:nvSpPr>
        <p:spPr/>
        <p:txBody>
          <a:bodyPr/>
          <a:lstStyle/>
          <a:p>
            <a:r>
              <a:rPr lang="en-US" dirty="0"/>
              <a:t>3) Import Tariffs for a Small Country </a:t>
            </a:r>
            <a:br>
              <a:rPr lang="en-US" dirty="0"/>
            </a:br>
            <a:r>
              <a:rPr lang="en-US" dirty="0"/>
              <a:t>(part 2)</a:t>
            </a:r>
            <a:endParaRPr lang="en-IN" dirty="0"/>
          </a:p>
        </p:txBody>
      </p:sp>
      <p:sp>
        <p:nvSpPr>
          <p:cNvPr id="3" name="Content Placeholder 2">
            <a:extLst>
              <a:ext uri="{FF2B5EF4-FFF2-40B4-BE49-F238E27FC236}">
                <a16:creationId xmlns:a16="http://schemas.microsoft.com/office/drawing/2014/main" id="{6854DFC7-479D-45F7-999C-13242742E059}"/>
              </a:ext>
            </a:extLst>
          </p:cNvPr>
          <p:cNvSpPr>
            <a:spLocks noGrp="1"/>
          </p:cNvSpPr>
          <p:nvPr>
            <p:ph idx="1"/>
          </p:nvPr>
        </p:nvSpPr>
        <p:spPr>
          <a:xfrm>
            <a:off x="457200" y="1600201"/>
            <a:ext cx="8382000" cy="914399"/>
          </a:xfrm>
        </p:spPr>
        <p:txBody>
          <a:bodyPr>
            <a:normAutofit/>
          </a:bodyPr>
          <a:lstStyle/>
          <a:p>
            <a:pPr marL="0" indent="0">
              <a:buNone/>
            </a:pPr>
            <a:r>
              <a:rPr lang="en-US" sz="2000" b="1" dirty="0">
                <a:latin typeface="+mn-lt"/>
                <a:cs typeface="Arial" panose="020B0604020202020204" pitchFamily="34" charset="0"/>
              </a:rPr>
              <a:t>Free Trade for a Small Country</a:t>
            </a:r>
          </a:p>
          <a:p>
            <a:pPr marL="0" indent="0">
              <a:buNone/>
            </a:pPr>
            <a:r>
              <a:rPr lang="en-US" sz="2000" dirty="0">
                <a:latin typeface="+mn-lt"/>
              </a:rPr>
              <a:t>FIGURE 4 (2 of 2) Tariff for a Small Country</a:t>
            </a:r>
          </a:p>
        </p:txBody>
      </p:sp>
      <p:sp>
        <p:nvSpPr>
          <p:cNvPr id="7" name="Content Placeholder 6">
            <a:extLst>
              <a:ext uri="{FF2B5EF4-FFF2-40B4-BE49-F238E27FC236}">
                <a16:creationId xmlns:a16="http://schemas.microsoft.com/office/drawing/2014/main" id="{8507927E-CAA8-44DA-BA1F-81973897430C}"/>
              </a:ext>
            </a:extLst>
          </p:cNvPr>
          <p:cNvSpPr>
            <a:spLocks noGrp="1"/>
          </p:cNvSpPr>
          <p:nvPr>
            <p:ph sz="quarter" idx="10"/>
          </p:nvPr>
        </p:nvSpPr>
        <p:spPr>
          <a:xfrm>
            <a:off x="457200" y="5490625"/>
            <a:ext cx="8229600" cy="884775"/>
          </a:xfrm>
        </p:spPr>
        <p:txBody>
          <a:bodyPr>
            <a:normAutofit/>
          </a:bodyPr>
          <a:lstStyle/>
          <a:p>
            <a:pPr marL="0" indent="0">
              <a:spcBef>
                <a:spcPct val="10000"/>
              </a:spcBef>
              <a:spcAft>
                <a:spcPct val="10000"/>
              </a:spcAft>
              <a:buNone/>
            </a:pPr>
            <a:r>
              <a:rPr lang="en-US" sz="2000" b="0" dirty="0">
                <a:latin typeface="Arial" panose="020B0604020202020204" pitchFamily="34" charset="0"/>
                <a:cs typeface="Arial" panose="020B0604020202020204" pitchFamily="34" charset="0"/>
              </a:rPr>
              <a:t>Imports fall due to the tariff, from M</a:t>
            </a:r>
            <a:r>
              <a:rPr lang="en-US" sz="2000" b="0" baseline="-25000" dirty="0">
                <a:latin typeface="Arial" panose="020B0604020202020204" pitchFamily="34" charset="0"/>
                <a:cs typeface="Arial" panose="020B0604020202020204" pitchFamily="34" charset="0"/>
              </a:rPr>
              <a:t>1</a:t>
            </a:r>
            <a:r>
              <a:rPr lang="en-US" sz="2000" b="0" dirty="0">
                <a:latin typeface="Arial" panose="020B0604020202020204" pitchFamily="34" charset="0"/>
                <a:cs typeface="Arial" panose="020B0604020202020204" pitchFamily="34" charset="0"/>
              </a:rPr>
              <a:t> to M</a:t>
            </a:r>
            <a:r>
              <a:rPr lang="en-US" sz="2000" b="0" baseline="-25000" dirty="0">
                <a:latin typeface="Arial" panose="020B0604020202020204" pitchFamily="34" charset="0"/>
                <a:cs typeface="Arial" panose="020B0604020202020204" pitchFamily="34" charset="0"/>
              </a:rPr>
              <a:t>2</a:t>
            </a:r>
            <a:r>
              <a:rPr lang="en-US" sz="2000" b="0" dirty="0">
                <a:latin typeface="Arial" panose="020B0604020202020204" pitchFamily="34" charset="0"/>
                <a:cs typeface="Arial" panose="020B0604020202020204" pitchFamily="34" charset="0"/>
              </a:rPr>
              <a:t> in panel (b). As a result, the equilibrium shifts from point B to C.</a:t>
            </a:r>
          </a:p>
        </p:txBody>
      </p:sp>
      <p:pic>
        <p:nvPicPr>
          <p:cNvPr id="13" name="Picture Placeholder 12" descr="Two line graphs titled (a) Home Market and (b) Import market illustrate Tariff for a small country. &quot;Y-axis for both the graphs represents Price.&#10;Graph (a) shows Quantity on the X-axis. It has two straight lines S and D. Line S slants positively from the bottom left of the graph to the top right and Line D slants negatively from the top left of the graph to the bottom right. These lines intersect at point A labeled “No trade equilibrium.” On the Y-axis prices P superscript W and P superscript W plus t are marked. Horizontal dotted lines parallel to the X-axis is drawn from these two marks, intersecting both S and D lines. X-axis has quantities S subscript 1, S subscript 2, D subscript 2, and D subscript 1 marked. Vertical dotted lines from S subscript 1 and S subscript 2 meet line S at P superscript W and P superscript W plus t respectively and vertical dotted lines from D subscript 2 and D subscript 1 meet line D at P superscript W plus t and P superscript W respectively. The region between S subscript 2 and D subscript 2 on the X-axis is labeled M subscript 2. &#10;Graph (b) shows Imports on the X-axis and marks M subscript 1 and M subscript 2 are marked on it. Line X asterisk plus t runs parallel to the horizontal axis. Just below this line is the foreign export supply, X asterisk. Point M subscript 1 on the horizontal axis is connected to the foreign export supply line and the intersecting point is labeled B. Point M subscript 2 is connected to the line X asterisk plus t and the intersecting point is marked as C. A downward sloping line from high on the vertical axis and ending at the bottom right of the graph is drawn connecting points B and C and is labeled M.">
            <a:extLst>
              <a:ext uri="{FF2B5EF4-FFF2-40B4-BE49-F238E27FC236}">
                <a16:creationId xmlns:a16="http://schemas.microsoft.com/office/drawing/2014/main" id="{BC260020-A451-417A-97FA-80849671373C}"/>
              </a:ext>
            </a:extLst>
          </p:cNvPr>
          <p:cNvPicPr>
            <a:picLocks noGrp="1" noChangeAspect="1"/>
          </p:cNvPicPr>
          <p:nvPr>
            <p:ph type="pic" sz="quarter" idx="12"/>
          </p:nvPr>
        </p:nvPicPr>
        <p:blipFill>
          <a:blip r:embed="rId2"/>
          <a:stretch>
            <a:fillRect/>
          </a:stretch>
        </p:blipFill>
        <p:spPr>
          <a:xfrm>
            <a:off x="1274625" y="2477427"/>
            <a:ext cx="6594751" cy="2873427"/>
          </a:xfrm>
          <a:prstGeom prst="rect">
            <a:avLst/>
          </a:prstGeom>
        </p:spPr>
      </p:pic>
    </p:spTree>
    <p:extLst>
      <p:ext uri="{BB962C8B-B14F-4D97-AF65-F5344CB8AC3E}">
        <p14:creationId xmlns:p14="http://schemas.microsoft.com/office/powerpoint/2010/main" val="38060037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90E75-9CDA-4F5A-9C95-A861D25C2026}"/>
              </a:ext>
            </a:extLst>
          </p:cNvPr>
          <p:cNvSpPr>
            <a:spLocks noGrp="1"/>
          </p:cNvSpPr>
          <p:nvPr>
            <p:ph type="title"/>
          </p:nvPr>
        </p:nvSpPr>
        <p:spPr/>
        <p:txBody>
          <a:bodyPr/>
          <a:lstStyle/>
          <a:p>
            <a:r>
              <a:rPr lang="en-US" dirty="0"/>
              <a:t>3) Import Tariffs for a Small Country </a:t>
            </a:r>
            <a:br>
              <a:rPr lang="en-US" dirty="0"/>
            </a:br>
            <a:r>
              <a:rPr lang="en-US" dirty="0"/>
              <a:t>(part 3)</a:t>
            </a:r>
            <a:endParaRPr lang="en-IN" dirty="0"/>
          </a:p>
        </p:txBody>
      </p:sp>
      <p:sp>
        <p:nvSpPr>
          <p:cNvPr id="3" name="Content Placeholder 2">
            <a:extLst>
              <a:ext uri="{FF2B5EF4-FFF2-40B4-BE49-F238E27FC236}">
                <a16:creationId xmlns:a16="http://schemas.microsoft.com/office/drawing/2014/main" id="{6854DFC7-479D-45F7-999C-13242742E059}"/>
              </a:ext>
            </a:extLst>
          </p:cNvPr>
          <p:cNvSpPr>
            <a:spLocks noGrp="1"/>
          </p:cNvSpPr>
          <p:nvPr>
            <p:ph idx="1"/>
          </p:nvPr>
        </p:nvSpPr>
        <p:spPr>
          <a:xfrm>
            <a:off x="457200" y="1600201"/>
            <a:ext cx="8382000" cy="1295400"/>
          </a:xfrm>
        </p:spPr>
        <p:txBody>
          <a:bodyPr>
            <a:normAutofit/>
          </a:bodyPr>
          <a:lstStyle/>
          <a:p>
            <a:pPr marL="0" indent="0">
              <a:buNone/>
            </a:pPr>
            <a:r>
              <a:rPr lang="en-US" sz="2000" b="1" dirty="0">
                <a:latin typeface="+mn-lt"/>
                <a:cs typeface="Arial" panose="020B0604020202020204" pitchFamily="34" charset="0"/>
              </a:rPr>
              <a:t>Effect of the Tariff on Consumer Surplus, Producer Surplus, Government Revenue; Overall Effect of the Tariff on Welfare; Production Loss; Consumption Loss</a:t>
            </a:r>
          </a:p>
          <a:p>
            <a:pPr marL="0" indent="0">
              <a:buNone/>
            </a:pPr>
            <a:r>
              <a:rPr lang="en-US" sz="2000" b="1" dirty="0">
                <a:latin typeface="+mn-lt"/>
                <a:cs typeface="Arial" panose="020B0604020202020204" pitchFamily="34" charset="0"/>
              </a:rPr>
              <a:t>FIGURE 5 (1 of 2)</a:t>
            </a:r>
          </a:p>
        </p:txBody>
      </p:sp>
      <p:sp>
        <p:nvSpPr>
          <p:cNvPr id="7" name="Content Placeholder 6">
            <a:extLst>
              <a:ext uri="{FF2B5EF4-FFF2-40B4-BE49-F238E27FC236}">
                <a16:creationId xmlns:a16="http://schemas.microsoft.com/office/drawing/2014/main" id="{8507927E-CAA8-44DA-BA1F-81973897430C}"/>
              </a:ext>
            </a:extLst>
          </p:cNvPr>
          <p:cNvSpPr>
            <a:spLocks noGrp="1"/>
          </p:cNvSpPr>
          <p:nvPr>
            <p:ph sz="quarter" idx="10"/>
          </p:nvPr>
        </p:nvSpPr>
        <p:spPr>
          <a:xfrm>
            <a:off x="5791201" y="2438400"/>
            <a:ext cx="2362200" cy="3810000"/>
          </a:xfrm>
        </p:spPr>
        <p:txBody>
          <a:bodyPr>
            <a:normAutofit/>
          </a:bodyPr>
          <a:lstStyle/>
          <a:p>
            <a:pPr marL="0" indent="0">
              <a:spcBef>
                <a:spcPct val="10000"/>
              </a:spcBef>
              <a:spcAft>
                <a:spcPct val="10000"/>
              </a:spcAft>
              <a:buNone/>
            </a:pPr>
            <a:r>
              <a:rPr lang="en-US" sz="2000" b="0" dirty="0">
                <a:latin typeface="Arial" panose="020B0604020202020204" pitchFamily="34" charset="0"/>
                <a:cs typeface="Arial" panose="020B0604020202020204" pitchFamily="34" charset="0"/>
              </a:rPr>
              <a:t>The tariff increases the price from P</a:t>
            </a:r>
            <a:r>
              <a:rPr lang="en-US" sz="2000" b="0" baseline="30000" dirty="0">
                <a:latin typeface="Arial" panose="020B0604020202020204" pitchFamily="34" charset="0"/>
                <a:cs typeface="Arial" panose="020B0604020202020204" pitchFamily="34" charset="0"/>
              </a:rPr>
              <a:t>W</a:t>
            </a:r>
            <a:r>
              <a:rPr lang="en-US" sz="2000" b="0" dirty="0">
                <a:latin typeface="Arial" panose="020B0604020202020204" pitchFamily="34" charset="0"/>
                <a:cs typeface="Arial" panose="020B0604020202020204" pitchFamily="34" charset="0"/>
              </a:rPr>
              <a:t> to P</a:t>
            </a:r>
            <a:r>
              <a:rPr lang="en-US" sz="2000" b="0" baseline="30000" dirty="0">
                <a:latin typeface="Arial" panose="020B0604020202020204" pitchFamily="34" charset="0"/>
                <a:cs typeface="Arial" panose="020B0604020202020204" pitchFamily="34" charset="0"/>
              </a:rPr>
              <a:t>W</a:t>
            </a:r>
            <a:r>
              <a:rPr lang="en-US" sz="2000" b="0" dirty="0">
                <a:latin typeface="Arial" panose="020B0604020202020204" pitchFamily="34" charset="0"/>
                <a:cs typeface="Arial" panose="020B0604020202020204" pitchFamily="34" charset="0"/>
              </a:rPr>
              <a:t> + t. As a result, consumer surplus falls by (a + b + c + d). Producer surplus rises by area a, and government revenue increases by the area c.</a:t>
            </a:r>
          </a:p>
        </p:txBody>
      </p:sp>
      <p:pic>
        <p:nvPicPr>
          <p:cNvPr id="8" name="Picture Placeholder 4" descr="Two line graphs titled (a) Home Market and (b) Import market illustrate effect of Tariff on welfare. The Y-axis for both the graphs represents Price.&#10;Graph (a) shows Quantity on the X-axis. It has two straight lines S and D. Line S slants positively from the bottom left of the graph to the top right and Line D slants negatively from the top left to the bottom right. These lines intersect at point A. On the Y-axis, prices P superscript W and P superscript W plus t are marked. Horizontal dotted lines parallel to the X-axis is drawn from these two points, intersecting both S, D lines. The Y-axis has quantities S subscript 1, S subscript 2, D subscript 2, and D subscript 1 plotted. Vertical dotted lines from S subscript 1 and S subscript 2 meet line S at P superscript W and P superscript W plus t respectively, and vertical dotted lines from D subscript 2 and D subscript 1 meet line D at P superscript W plus t and P superscript W respectively. The region enclosed by dotted lines from P superscript W and P superscript W plus t and line S is labeled “a.” Triangular area enclosed by dotted lines from S subscript 1, P superscript W, and S subscript 2 and line S is labeled “b.” Rectangular area enclosed by dotted lines from P superscript W, P superscript W plus t, S subscript 2 and D subscript 2 is labeled “c.” Triangular area enclosed by dotted lines from D subscript 1, D subscript 2, P superscript W and line S is labeled “d.” &#10;Graph (b) shows Imports on the X-axis and marks M subscript 1 and M subscript 2 on it. Line X asterisk plus t runs parallel to the horizontal axis. Just below this line is the foreign export supply, X asterisk runs parallel. A line, M, slanting downwards from a high point on the vertical axis to the bottom right of the graph intersects both horizontal lines at Import values M subscript 2 and M subscript 1. Vertical dotted lines are drawn from these marks on the X-axis. The triangular area between dotted lines from M subscript 2 and M subscript 1 and line M is labeled “Deadweight less due to the tariff b plus d.”">
            <a:extLst>
              <a:ext uri="{FF2B5EF4-FFF2-40B4-BE49-F238E27FC236}">
                <a16:creationId xmlns:a16="http://schemas.microsoft.com/office/drawing/2014/main" id="{BC5C5E41-253B-446B-9CE9-2E914CAFEB26}"/>
              </a:ext>
            </a:extLst>
          </p:cNvPr>
          <p:cNvPicPr>
            <a:picLocks noGrp="1" noChangeAspect="1"/>
          </p:cNvPicPr>
          <p:nvPr>
            <p:ph type="pic" sz="quarter" idx="12"/>
          </p:nvPr>
        </p:nvPicPr>
        <p:blipFill>
          <a:blip r:embed="rId2" cstate="print">
            <a:extLst>
              <a:ext uri="{28A0092B-C50C-407E-A947-70E740481C1C}">
                <a14:useLocalDpi xmlns:a14="http://schemas.microsoft.com/office/drawing/2010/main" val="0"/>
              </a:ext>
            </a:extLst>
          </a:blip>
          <a:stretch>
            <a:fillRect/>
          </a:stretch>
        </p:blipFill>
        <p:spPr>
          <a:xfrm>
            <a:off x="533400" y="3242616"/>
            <a:ext cx="5028441" cy="2147850"/>
          </a:xfrm>
          <a:prstGeom prst="rect">
            <a:avLst/>
          </a:prstGeom>
        </p:spPr>
      </p:pic>
    </p:spTree>
    <p:extLst>
      <p:ext uri="{BB962C8B-B14F-4D97-AF65-F5344CB8AC3E}">
        <p14:creationId xmlns:p14="http://schemas.microsoft.com/office/powerpoint/2010/main" val="418930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F6555-B79E-443F-99E7-9EE351B3A62E}"/>
              </a:ext>
            </a:extLst>
          </p:cNvPr>
          <p:cNvSpPr>
            <a:spLocks noGrp="1"/>
          </p:cNvSpPr>
          <p:nvPr>
            <p:ph type="title"/>
          </p:nvPr>
        </p:nvSpPr>
        <p:spPr/>
        <p:txBody>
          <a:bodyPr/>
          <a:lstStyle/>
          <a:p>
            <a:r>
              <a:rPr lang="en-US" dirty="0"/>
              <a:t>3) Import Tariffs for a Small Country </a:t>
            </a:r>
            <a:br>
              <a:rPr lang="en-US" dirty="0"/>
            </a:br>
            <a:r>
              <a:rPr lang="en-US" dirty="0"/>
              <a:t>(part 4)</a:t>
            </a:r>
            <a:endParaRPr lang="en-IN" dirty="0"/>
          </a:p>
        </p:txBody>
      </p:sp>
      <p:sp>
        <p:nvSpPr>
          <p:cNvPr id="3" name="Content Placeholder 2">
            <a:extLst>
              <a:ext uri="{FF2B5EF4-FFF2-40B4-BE49-F238E27FC236}">
                <a16:creationId xmlns:a16="http://schemas.microsoft.com/office/drawing/2014/main" id="{24283338-5BBB-4ADA-AF85-C64B3B3105BD}"/>
              </a:ext>
            </a:extLst>
          </p:cNvPr>
          <p:cNvSpPr>
            <a:spLocks noGrp="1"/>
          </p:cNvSpPr>
          <p:nvPr>
            <p:ph idx="1"/>
          </p:nvPr>
        </p:nvSpPr>
        <p:spPr>
          <a:xfrm>
            <a:off x="457200" y="1600201"/>
            <a:ext cx="8229600" cy="1308099"/>
          </a:xfrm>
        </p:spPr>
        <p:txBody>
          <a:bodyPr>
            <a:normAutofit/>
          </a:bodyPr>
          <a:lstStyle/>
          <a:p>
            <a:pPr marL="0" indent="0">
              <a:buNone/>
            </a:pPr>
            <a:r>
              <a:rPr lang="en-US" sz="1800" b="1" dirty="0">
                <a:latin typeface="+mn-lt"/>
                <a:cs typeface="Arial" panose="020B0604020202020204" pitchFamily="34" charset="0"/>
              </a:rPr>
              <a:t>Effect of the Tariff on Consumer Surplus, Producer Surplus, Government Revenue; Overall Effect of the Tariff on Welfare; Production Loss; Consumption Loss</a:t>
            </a:r>
          </a:p>
          <a:p>
            <a:pPr marL="0" indent="0">
              <a:buNone/>
            </a:pPr>
            <a:r>
              <a:rPr lang="en-US" sz="1800" dirty="0">
                <a:latin typeface="+mn-lt"/>
              </a:rPr>
              <a:t>FIGURE 5 (2 of 2)</a:t>
            </a:r>
          </a:p>
        </p:txBody>
      </p:sp>
      <p:sp>
        <p:nvSpPr>
          <p:cNvPr id="4" name="Content Placeholder 3">
            <a:extLst>
              <a:ext uri="{FF2B5EF4-FFF2-40B4-BE49-F238E27FC236}">
                <a16:creationId xmlns:a16="http://schemas.microsoft.com/office/drawing/2014/main" id="{3ABA0F11-B1FA-4AB7-87AC-76AF255F97B4}"/>
              </a:ext>
            </a:extLst>
          </p:cNvPr>
          <p:cNvSpPr>
            <a:spLocks noGrp="1"/>
          </p:cNvSpPr>
          <p:nvPr>
            <p:ph sz="quarter" idx="10"/>
          </p:nvPr>
        </p:nvSpPr>
        <p:spPr>
          <a:xfrm>
            <a:off x="457200" y="5105400"/>
            <a:ext cx="4876800" cy="1295400"/>
          </a:xfrm>
        </p:spPr>
        <p:txBody>
          <a:bodyPr>
            <a:normAutofit/>
          </a:bodyPr>
          <a:lstStyle/>
          <a:p>
            <a:pPr marL="0" indent="0">
              <a:spcBef>
                <a:spcPct val="10000"/>
              </a:spcBef>
              <a:spcAft>
                <a:spcPct val="10000"/>
              </a:spcAft>
              <a:buNone/>
            </a:pPr>
            <a:r>
              <a:rPr lang="en-US" sz="1800" b="0" dirty="0">
                <a:latin typeface="Arial" panose="020B0604020202020204" pitchFamily="34" charset="0"/>
                <a:cs typeface="Arial" panose="020B0604020202020204" pitchFamily="34" charset="0"/>
              </a:rPr>
              <a:t>Fall in consumer surplus: −(a + b + c + d)</a:t>
            </a:r>
          </a:p>
          <a:p>
            <a:pPr marL="0" indent="0">
              <a:spcBef>
                <a:spcPct val="10000"/>
              </a:spcBef>
              <a:spcAft>
                <a:spcPct val="10000"/>
              </a:spcAft>
              <a:buNone/>
            </a:pPr>
            <a:r>
              <a:rPr lang="en-US" sz="1800" b="0" dirty="0">
                <a:latin typeface="Arial" panose="020B0604020202020204" pitchFamily="34" charset="0"/>
                <a:cs typeface="Arial" panose="020B0604020202020204" pitchFamily="34" charset="0"/>
              </a:rPr>
              <a:t>Rise in producer surplus: +a</a:t>
            </a:r>
          </a:p>
          <a:p>
            <a:pPr marL="0" indent="0">
              <a:spcBef>
                <a:spcPct val="10000"/>
              </a:spcBef>
              <a:spcAft>
                <a:spcPct val="10000"/>
              </a:spcAft>
              <a:buNone/>
            </a:pPr>
            <a:r>
              <a:rPr lang="en-US" sz="1800" b="0" dirty="0">
                <a:latin typeface="Arial" panose="020B0604020202020204" pitchFamily="34" charset="0"/>
                <a:cs typeface="Arial" panose="020B0604020202020204" pitchFamily="34" charset="0"/>
              </a:rPr>
              <a:t>Rise in government revenue: +c</a:t>
            </a:r>
          </a:p>
          <a:p>
            <a:pPr marL="0" indent="0">
              <a:spcBef>
                <a:spcPct val="10000"/>
              </a:spcBef>
              <a:spcAft>
                <a:spcPct val="10000"/>
              </a:spcAft>
              <a:buNone/>
            </a:pPr>
            <a:r>
              <a:rPr lang="en-US" sz="1800" b="0" dirty="0">
                <a:latin typeface="Arial" panose="020B0604020202020204" pitchFamily="34" charset="0"/>
                <a:cs typeface="Arial" panose="020B0604020202020204" pitchFamily="34" charset="0"/>
              </a:rPr>
              <a:t>Net effect on Home welfare: −(b + d)</a:t>
            </a:r>
          </a:p>
        </p:txBody>
      </p:sp>
      <p:sp>
        <p:nvSpPr>
          <p:cNvPr id="5" name="Content Placeholder 4">
            <a:extLst>
              <a:ext uri="{FF2B5EF4-FFF2-40B4-BE49-F238E27FC236}">
                <a16:creationId xmlns:a16="http://schemas.microsoft.com/office/drawing/2014/main" id="{F4D4AF03-846B-4A22-831D-CC5CA22EFD47}"/>
              </a:ext>
            </a:extLst>
          </p:cNvPr>
          <p:cNvSpPr>
            <a:spLocks noGrp="1"/>
          </p:cNvSpPr>
          <p:nvPr>
            <p:ph sz="quarter" idx="11"/>
          </p:nvPr>
        </p:nvSpPr>
        <p:spPr>
          <a:xfrm>
            <a:off x="5562600" y="2362200"/>
            <a:ext cx="3200400" cy="3962400"/>
          </a:xfrm>
        </p:spPr>
        <p:txBody>
          <a:bodyPr>
            <a:normAutofit/>
          </a:bodyPr>
          <a:lstStyle/>
          <a:p>
            <a:pPr marL="0" indent="0">
              <a:spcBef>
                <a:spcPct val="10000"/>
              </a:spcBef>
              <a:spcAft>
                <a:spcPct val="10000"/>
              </a:spcAft>
              <a:buNone/>
            </a:pPr>
            <a:r>
              <a:rPr lang="en-US" sz="2000" b="0" dirty="0">
                <a:latin typeface="Arial" panose="020B0604020202020204" pitchFamily="34" charset="0"/>
                <a:cs typeface="Arial" panose="020B0604020202020204" pitchFamily="34" charset="0"/>
              </a:rPr>
              <a:t>Therefore, the net loss in welfare, the deadweight loss to Home, is (b + d), which is measured by the two triangles b and d in panel (a) or the single (combined) triangle b + d in panel (b). </a:t>
            </a:r>
          </a:p>
          <a:p>
            <a:pPr marL="0" indent="0">
              <a:spcBef>
                <a:spcPct val="10000"/>
              </a:spcBef>
              <a:spcAft>
                <a:spcPct val="10000"/>
              </a:spcAft>
              <a:buNone/>
            </a:pPr>
            <a:r>
              <a:rPr lang="en-US" sz="2000" b="0" dirty="0">
                <a:latin typeface="Arial" panose="020B0604020202020204" pitchFamily="34" charset="0"/>
                <a:cs typeface="Arial" panose="020B0604020202020204" pitchFamily="34" charset="0"/>
              </a:rPr>
              <a:t>The triangle (b + d) is a deadweight loss, or a loss that is not offset by a gain elsewhere in the economy.</a:t>
            </a:r>
          </a:p>
        </p:txBody>
      </p:sp>
      <p:pic>
        <p:nvPicPr>
          <p:cNvPr id="11" name="Picture Placeholder 10" descr="Two line graphs titled (a) Home Market and (b) Import market illustrate effect of Tariff on welfare. The Y-axis for both the graphs represents Price.&#10;Graph (a) shows Quantity on the X-axis. It has two straight lines S and D. Line S slants positively from the bottom left of the graph to the top right and Line D slants negatively from the top left to the bottom right. These lines intersect at point A. On the Y-axis, prices P superscript W and P superscript W plus t are marked. Horizontal dotted lines parallel to the X-axis is drawn from these two points, intersecting both S, D lines. The Y-axis has quantities S subscript 1, S subscript 2, D subscript 2, and D subscript 1 plotted. Vertical dotted lines from S subscript 1 and S subscript 2 meet line S at P superscript W and P superscript W plus t respectively, and vertical dotted lines from D subscript 2 and D subscript 1 meet line D at P superscript W plus t and P superscript W respectively. The region enclosed by dotted lines from P superscript W and P superscript W plus t and line S is labeled “a.” Triangular area enclosed by dotted lines from S subscript 1, P superscript W, and S subscript 2 and line S is labeled “b.” Rectangular area enclosed by dotted lines from P superscript W, P superscript W plus t, S subscript 2 and D subscript 2 is labeled “c.” Triangular area enclosed by dotted lines from D subscript 1, D subscript 2, P superscript W and line S is labeled “d.” &#10;Graph (b) shows Imports on the X-axis and marks M subscript 1 and M subscript 2 on it. Line X asterisk plus t runs parallel to the horizontal axis. Just below this line is the foreign export supply, X asterisk runs parallel. A line, M, slanting downwards from a high point on the vertical axis to the bottom right of the graph intersects both horizontal lines at Import values M subscript 2 and M subscript 1. Vertical dotted lines are drawn from these marks on the X-axis. The triangular area between dotted lines from M subscript 2 and M subscript 1 and line M is labeled “Deadweight less due to the tariff b plus d.”">
            <a:extLst>
              <a:ext uri="{FF2B5EF4-FFF2-40B4-BE49-F238E27FC236}">
                <a16:creationId xmlns:a16="http://schemas.microsoft.com/office/drawing/2014/main" id="{FD4C3C09-B530-4920-8C0F-2892B030FB6B}"/>
              </a:ext>
            </a:extLst>
          </p:cNvPr>
          <p:cNvPicPr>
            <a:picLocks noGrp="1" noChangeAspect="1"/>
          </p:cNvPicPr>
          <p:nvPr>
            <p:ph type="pic" sz="quarter" idx="12"/>
          </p:nvPr>
        </p:nvPicPr>
        <p:blipFill>
          <a:blip r:embed="rId2"/>
          <a:stretch>
            <a:fillRect/>
          </a:stretch>
        </p:blipFill>
        <p:spPr>
          <a:xfrm>
            <a:off x="516367" y="2932055"/>
            <a:ext cx="4758466" cy="2029795"/>
          </a:xfrm>
          <a:prstGeom prst="rect">
            <a:avLst/>
          </a:prstGeom>
        </p:spPr>
      </p:pic>
      <p:cxnSp>
        <p:nvCxnSpPr>
          <p:cNvPr id="7" name="Straight Connector 15">
            <a:extLst>
              <a:ext uri="{FF2B5EF4-FFF2-40B4-BE49-F238E27FC236}">
                <a16:creationId xmlns:a16="http://schemas.microsoft.com/office/drawing/2014/main" id="{16488F80-7CE1-4276-BC5B-4F299FA135A5}"/>
              </a:ext>
              <a:ext uri="{C183D7F6-B498-43B3-948B-1728B52AA6E4}">
                <adec:decorative xmlns:adec="http://schemas.microsoft.com/office/drawing/2017/decorative" val="1"/>
              </a:ext>
            </a:extLst>
          </p:cNvPr>
          <p:cNvCxnSpPr>
            <a:cxnSpLocks noChangeShapeType="1"/>
          </p:cNvCxnSpPr>
          <p:nvPr/>
        </p:nvCxnSpPr>
        <p:spPr bwMode="auto">
          <a:xfrm>
            <a:off x="495693" y="6019800"/>
            <a:ext cx="4762107" cy="0"/>
          </a:xfrm>
          <a:prstGeom prst="line">
            <a:avLst/>
          </a:prstGeom>
          <a:noFill/>
          <a:ln w="9525" algn="ctr">
            <a:solidFill>
              <a:schemeClr val="tx1"/>
            </a:solidFill>
            <a:round/>
            <a:headEnd/>
            <a:tailEnd/>
          </a:ln>
        </p:spPr>
      </p:cxnSp>
    </p:spTree>
    <p:extLst>
      <p:ext uri="{BB962C8B-B14F-4D97-AF65-F5344CB8AC3E}">
        <p14:creationId xmlns:p14="http://schemas.microsoft.com/office/powerpoint/2010/main" val="13021820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FB4722E9-2D1A-4274-94B4-A1D32DE193CF}"/>
              </a:ext>
            </a:extLst>
          </p:cNvPr>
          <p:cNvSpPr>
            <a:spLocks noGrp="1"/>
          </p:cNvSpPr>
          <p:nvPr>
            <p:ph type="title"/>
          </p:nvPr>
        </p:nvSpPr>
        <p:spPr/>
        <p:txBody>
          <a:bodyPr/>
          <a:lstStyle/>
          <a:p>
            <a:r>
              <a:rPr lang="en-US" dirty="0"/>
              <a:t>3) Import Tariffs for a Small Country </a:t>
            </a:r>
            <a:br>
              <a:rPr lang="en-US" dirty="0"/>
            </a:br>
            <a:r>
              <a:rPr lang="en-US" dirty="0"/>
              <a:t>(part 5)</a:t>
            </a:r>
            <a:endParaRPr lang="en-IN" dirty="0"/>
          </a:p>
        </p:txBody>
      </p:sp>
      <p:sp>
        <p:nvSpPr>
          <p:cNvPr id="12" name="Content Placeholder 11">
            <a:extLst>
              <a:ext uri="{FF2B5EF4-FFF2-40B4-BE49-F238E27FC236}">
                <a16:creationId xmlns:a16="http://schemas.microsoft.com/office/drawing/2014/main" id="{CEF08D71-58FB-477E-9EEA-130E98A1BF1D}"/>
              </a:ext>
            </a:extLst>
          </p:cNvPr>
          <p:cNvSpPr>
            <a:spLocks noGrp="1"/>
          </p:cNvSpPr>
          <p:nvPr>
            <p:ph idx="1"/>
          </p:nvPr>
        </p:nvSpPr>
        <p:spPr/>
        <p:txBody>
          <a:bodyPr>
            <a:normAutofit/>
          </a:bodyPr>
          <a:lstStyle/>
          <a:p>
            <a:pPr marL="0" indent="0">
              <a:buNone/>
            </a:pPr>
            <a:r>
              <a:rPr lang="en-US" sz="2400" dirty="0"/>
              <a:t>Effect of the Tariff on Consumer Surplus, Producer Surplus, Government Revenue; Overall Effect of the Tariff on Welfare; Production Loss; Consumption Loss</a:t>
            </a:r>
          </a:p>
          <a:p>
            <a:pPr marL="0" indent="0">
              <a:buNone/>
            </a:pPr>
            <a:r>
              <a:rPr lang="en-US" sz="2400" b="0" dirty="0"/>
              <a:t>The deadweight loss, triangles (b + d ), has the following interpretation:</a:t>
            </a:r>
          </a:p>
          <a:p>
            <a:r>
              <a:rPr lang="en-US" sz="2400" b="0" dirty="0"/>
              <a:t>The triangle b equals the increase in marginal costs for the extra units produced and can be interpreted as the production loss (or the efficiency loss) due to producing at marginal cost above the world price.</a:t>
            </a:r>
          </a:p>
        </p:txBody>
      </p:sp>
    </p:spTree>
    <p:extLst>
      <p:ext uri="{BB962C8B-B14F-4D97-AF65-F5344CB8AC3E}">
        <p14:creationId xmlns:p14="http://schemas.microsoft.com/office/powerpoint/2010/main" val="39400128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FB4722E9-2D1A-4274-94B4-A1D32DE193CF}"/>
              </a:ext>
            </a:extLst>
          </p:cNvPr>
          <p:cNvSpPr>
            <a:spLocks noGrp="1"/>
          </p:cNvSpPr>
          <p:nvPr>
            <p:ph type="title"/>
          </p:nvPr>
        </p:nvSpPr>
        <p:spPr/>
        <p:txBody>
          <a:bodyPr/>
          <a:lstStyle/>
          <a:p>
            <a:r>
              <a:rPr lang="en-US" dirty="0"/>
              <a:t>3) Import Tariffs for a Small Country </a:t>
            </a:r>
            <a:br>
              <a:rPr lang="en-US" dirty="0"/>
            </a:br>
            <a:r>
              <a:rPr lang="en-US" dirty="0"/>
              <a:t>(part 6)</a:t>
            </a:r>
            <a:endParaRPr lang="en-IN" dirty="0"/>
          </a:p>
        </p:txBody>
      </p:sp>
      <p:sp>
        <p:nvSpPr>
          <p:cNvPr id="12" name="Content Placeholder 11">
            <a:extLst>
              <a:ext uri="{FF2B5EF4-FFF2-40B4-BE49-F238E27FC236}">
                <a16:creationId xmlns:a16="http://schemas.microsoft.com/office/drawing/2014/main" id="{CEF08D71-58FB-477E-9EEA-130E98A1BF1D}"/>
              </a:ext>
            </a:extLst>
          </p:cNvPr>
          <p:cNvSpPr>
            <a:spLocks noGrp="1"/>
          </p:cNvSpPr>
          <p:nvPr>
            <p:ph idx="1"/>
          </p:nvPr>
        </p:nvSpPr>
        <p:spPr/>
        <p:txBody>
          <a:bodyPr>
            <a:normAutofit/>
          </a:bodyPr>
          <a:lstStyle/>
          <a:p>
            <a:pPr marL="0" indent="0">
              <a:buNone/>
            </a:pPr>
            <a:r>
              <a:rPr lang="en-US" sz="2400" dirty="0"/>
              <a:t>Effect of the Tariff on Consumer Surplus, Producer Surplus, Government Revenue; Overall Effect of the Tariff on Welfare; Production Loss; Consumption Loss</a:t>
            </a:r>
          </a:p>
          <a:p>
            <a:r>
              <a:rPr lang="en-US" sz="2400" b="0" dirty="0"/>
              <a:t>The triangle d can be interpreted as the drop in consumer surplus for those individuals who are no longer able to consume the units between D1 and D2 because of the higher price. We refer to this drop in consumer surplus as the consumption loss for the economy.</a:t>
            </a:r>
          </a:p>
        </p:txBody>
      </p:sp>
    </p:spTree>
    <p:extLst>
      <p:ext uri="{BB962C8B-B14F-4D97-AF65-F5344CB8AC3E}">
        <p14:creationId xmlns:p14="http://schemas.microsoft.com/office/powerpoint/2010/main" val="4735096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F5BEBD-1547-4E8A-9678-8284D9C5C7D2}"/>
              </a:ext>
            </a:extLst>
          </p:cNvPr>
          <p:cNvSpPr>
            <a:spLocks noGrp="1"/>
          </p:cNvSpPr>
          <p:nvPr>
            <p:ph type="title"/>
          </p:nvPr>
        </p:nvSpPr>
        <p:spPr/>
        <p:txBody>
          <a:bodyPr/>
          <a:lstStyle/>
          <a:p>
            <a:r>
              <a:rPr lang="en-US" dirty="0"/>
              <a:t>U.S. Tariffs on Steel,  2002-03 (part 1)</a:t>
            </a:r>
            <a:endParaRPr lang="en-IN" dirty="0"/>
          </a:p>
        </p:txBody>
      </p:sp>
      <p:sp>
        <p:nvSpPr>
          <p:cNvPr id="5" name="Content Placeholder 4">
            <a:extLst>
              <a:ext uri="{FF2B5EF4-FFF2-40B4-BE49-F238E27FC236}">
                <a16:creationId xmlns:a16="http://schemas.microsoft.com/office/drawing/2014/main" id="{F1F225CC-692D-44DF-B6F9-D10086BD25E8}"/>
              </a:ext>
            </a:extLst>
          </p:cNvPr>
          <p:cNvSpPr>
            <a:spLocks noGrp="1"/>
          </p:cNvSpPr>
          <p:nvPr>
            <p:ph idx="1"/>
          </p:nvPr>
        </p:nvSpPr>
        <p:spPr>
          <a:xfrm>
            <a:off x="457200" y="1600200"/>
            <a:ext cx="2057400" cy="4419599"/>
          </a:xfrm>
        </p:spPr>
        <p:txBody>
          <a:bodyPr>
            <a:normAutofit fontScale="92500" lnSpcReduction="10000"/>
          </a:bodyPr>
          <a:lstStyle/>
          <a:p>
            <a:pPr marL="0" indent="0">
              <a:buNone/>
            </a:pPr>
            <a:r>
              <a:rPr lang="en-IN" sz="2000" dirty="0"/>
              <a:t>TABLE 1</a:t>
            </a:r>
          </a:p>
          <a:p>
            <a:pPr marL="0" indent="0">
              <a:buNone/>
            </a:pPr>
            <a:r>
              <a:rPr lang="en-US" sz="2000" dirty="0"/>
              <a:t>U.S. ITC Recommended and Actual Tariffs for Steel </a:t>
            </a:r>
            <a:r>
              <a:rPr lang="en-US" sz="2000" b="0" dirty="0"/>
              <a:t>Shown here are the tariffs recommended by the U.S. International Trade Commission for steel imports in 2002, and the actual tariffs that were applied in 2002.</a:t>
            </a:r>
          </a:p>
        </p:txBody>
      </p:sp>
      <p:graphicFrame>
        <p:nvGraphicFramePr>
          <p:cNvPr id="13" name="Table Placeholder 12">
            <a:extLst>
              <a:ext uri="{FF2B5EF4-FFF2-40B4-BE49-F238E27FC236}">
                <a16:creationId xmlns:a16="http://schemas.microsoft.com/office/drawing/2014/main" id="{18901706-04EE-464A-8F55-71FFA799213F}"/>
              </a:ext>
            </a:extLst>
          </p:cNvPr>
          <p:cNvGraphicFramePr>
            <a:graphicFrameLocks noGrp="1"/>
          </p:cNvGraphicFramePr>
          <p:nvPr>
            <p:ph type="tbl" sz="quarter" idx="14"/>
            <p:extLst>
              <p:ext uri="{D42A27DB-BD31-4B8C-83A1-F6EECF244321}">
                <p14:modId xmlns:p14="http://schemas.microsoft.com/office/powerpoint/2010/main" val="1053279928"/>
              </p:ext>
            </p:extLst>
          </p:nvPr>
        </p:nvGraphicFramePr>
        <p:xfrm>
          <a:off x="2679700" y="1687901"/>
          <a:ext cx="6346641" cy="4244196"/>
        </p:xfrm>
        <a:graphic>
          <a:graphicData uri="http://schemas.openxmlformats.org/drawingml/2006/table">
            <a:tbl>
              <a:tblPr firstRow="1" bandRow="1"/>
              <a:tblGrid>
                <a:gridCol w="2852063">
                  <a:extLst>
                    <a:ext uri="{9D8B030D-6E8A-4147-A177-3AD203B41FA5}">
                      <a16:colId xmlns:a16="http://schemas.microsoft.com/office/drawing/2014/main" val="2410370367"/>
                    </a:ext>
                  </a:extLst>
                </a:gridCol>
                <a:gridCol w="2046778">
                  <a:extLst>
                    <a:ext uri="{9D8B030D-6E8A-4147-A177-3AD203B41FA5}">
                      <a16:colId xmlns:a16="http://schemas.microsoft.com/office/drawing/2014/main" val="3031720731"/>
                    </a:ext>
                  </a:extLst>
                </a:gridCol>
                <a:gridCol w="1447800">
                  <a:extLst>
                    <a:ext uri="{9D8B030D-6E8A-4147-A177-3AD203B41FA5}">
                      <a16:colId xmlns:a16="http://schemas.microsoft.com/office/drawing/2014/main" val="2841561568"/>
                    </a:ext>
                  </a:extLst>
                </a:gridCol>
              </a:tblGrid>
              <a:tr h="317500">
                <a:tc>
                  <a:txBody>
                    <a:bodyPr/>
                    <a:lstStyle/>
                    <a:p>
                      <a:pPr algn="ctr"/>
                      <a:r>
                        <a:rPr lang="en-US" sz="1050" b="1" u="none" strike="noStrike" kern="1200" baseline="0" dirty="0">
                          <a:latin typeface="Arial" panose="020B0604020202020204" pitchFamily="34" charset="0"/>
                          <a:cs typeface="Arial" panose="020B0604020202020204" pitchFamily="34" charset="0"/>
                        </a:rPr>
                        <a:t>Product Category</a:t>
                      </a:r>
                      <a:endParaRPr lang="en-US" sz="1050" b="1" dirty="0">
                        <a:latin typeface="Arial" panose="020B0604020202020204" pitchFamily="34" charset="0"/>
                        <a:cs typeface="Arial" panose="020B0604020202020204" pitchFamily="34" charset="0"/>
                      </a:endParaRPr>
                    </a:p>
                  </a:txBody>
                  <a:tcPr/>
                </a:tc>
                <a:tc>
                  <a:txBody>
                    <a:bodyPr/>
                    <a:lstStyle/>
                    <a:p>
                      <a:pPr algn="ctr"/>
                      <a:r>
                        <a:rPr lang="en-US" sz="1050" b="1" u="none" strike="noStrike" kern="1200" baseline="0" dirty="0">
                          <a:latin typeface="Arial" panose="020B0604020202020204" pitchFamily="34" charset="0"/>
                          <a:cs typeface="Arial" panose="020B0604020202020204" pitchFamily="34" charset="0"/>
                        </a:rPr>
                        <a:t>Tariff Recommended by the U.S. ITC (for 2002, %)</a:t>
                      </a:r>
                      <a:endParaRPr lang="en-US" sz="1050" b="1" dirty="0">
                        <a:latin typeface="Arial" panose="020B0604020202020204" pitchFamily="34" charset="0"/>
                        <a:cs typeface="Arial" panose="020B0604020202020204" pitchFamily="34" charset="0"/>
                      </a:endParaRPr>
                    </a:p>
                  </a:txBody>
                  <a:tcPr/>
                </a:tc>
                <a:tc>
                  <a:txBody>
                    <a:bodyPr/>
                    <a:lstStyle/>
                    <a:p>
                      <a:pPr algn="ctr"/>
                      <a:r>
                        <a:rPr lang="en-US" sz="1050" b="1" u="none" strike="noStrike" kern="1200" baseline="0" dirty="0">
                          <a:latin typeface="Arial" panose="020B0604020202020204" pitchFamily="34" charset="0"/>
                          <a:cs typeface="Arial" panose="020B0604020202020204" pitchFamily="34" charset="0"/>
                        </a:rPr>
                        <a:t>Actual U.S. Tariff</a:t>
                      </a:r>
                    </a:p>
                    <a:p>
                      <a:pPr algn="ctr"/>
                      <a:r>
                        <a:rPr lang="en-US" sz="1050" b="1" u="none" strike="noStrike" kern="1200" baseline="0" dirty="0">
                          <a:latin typeface="Arial" panose="020B0604020202020204" pitchFamily="34" charset="0"/>
                          <a:cs typeface="Arial" panose="020B0604020202020204" pitchFamily="34" charset="0"/>
                        </a:rPr>
                        <a:t>(used in 2002, %)</a:t>
                      </a:r>
                      <a:endParaRPr lang="en-US" sz="1050" b="1"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810273503"/>
                  </a:ext>
                </a:extLst>
              </a:tr>
              <a:tr h="230999">
                <a:tc>
                  <a:txBody>
                    <a:bodyPr/>
                    <a:lstStyle/>
                    <a:p>
                      <a:r>
                        <a:rPr lang="en-US" sz="1050" b="1" u="none" strike="noStrike" kern="1200" baseline="0" dirty="0">
                          <a:latin typeface="Arial" panose="020B0604020202020204" pitchFamily="34" charset="0"/>
                          <a:cs typeface="Arial" panose="020B0604020202020204" pitchFamily="34" charset="0"/>
                        </a:rPr>
                        <a:t>Carbon and Alloy Flat Products</a:t>
                      </a:r>
                      <a:endParaRPr lang="en-US" sz="1050" b="1" dirty="0">
                        <a:latin typeface="Arial" panose="020B0604020202020204" pitchFamily="34" charset="0"/>
                        <a:cs typeface="Arial" panose="020B0604020202020204" pitchFamily="34" charset="0"/>
                      </a:endParaRPr>
                    </a:p>
                  </a:txBody>
                  <a:tcPr/>
                </a:tc>
                <a:tc>
                  <a:txBody>
                    <a:bodyPr/>
                    <a:lstStyle/>
                    <a:p>
                      <a:endParaRPr lang="en-US" sz="1050" dirty="0">
                        <a:latin typeface="Arial" panose="020B0604020202020204" pitchFamily="34" charset="0"/>
                        <a:cs typeface="Arial" panose="020B0604020202020204" pitchFamily="34" charset="0"/>
                      </a:endParaRPr>
                    </a:p>
                  </a:txBody>
                  <a:tcPr/>
                </a:tc>
                <a:tc>
                  <a:txBody>
                    <a:bodyPr/>
                    <a:lstStyle/>
                    <a:p>
                      <a:endParaRPr lang="en-US" sz="105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852562088"/>
                  </a:ext>
                </a:extLst>
              </a:tr>
              <a:tr h="230999">
                <a:tc>
                  <a:txBody>
                    <a:bodyPr/>
                    <a:lstStyle/>
                    <a:p>
                      <a:r>
                        <a:rPr lang="en-US" sz="1050" u="none" strike="noStrike" kern="1200" baseline="0" dirty="0">
                          <a:latin typeface="Arial" panose="020B0604020202020204" pitchFamily="34" charset="0"/>
                          <a:cs typeface="Arial" panose="020B0604020202020204" pitchFamily="34" charset="0"/>
                        </a:rPr>
                        <a:t>Slab</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20</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30</a:t>
                      </a:r>
                      <a:endParaRPr lang="en-US" sz="105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139893685"/>
                  </a:ext>
                </a:extLst>
              </a:tr>
              <a:tr h="230999">
                <a:tc>
                  <a:txBody>
                    <a:bodyPr/>
                    <a:lstStyle/>
                    <a:p>
                      <a:r>
                        <a:rPr lang="en-US" sz="1050" u="none" strike="noStrike" kern="1200" baseline="0" dirty="0">
                          <a:latin typeface="Arial" panose="020B0604020202020204" pitchFamily="34" charset="0"/>
                          <a:cs typeface="Arial" panose="020B0604020202020204" pitchFamily="34" charset="0"/>
                        </a:rPr>
                        <a:t>Flat products</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20</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30</a:t>
                      </a:r>
                      <a:endParaRPr lang="en-US" sz="105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88265311"/>
                  </a:ext>
                </a:extLst>
              </a:tr>
              <a:tr h="230999">
                <a:tc>
                  <a:txBody>
                    <a:bodyPr/>
                    <a:lstStyle/>
                    <a:p>
                      <a:r>
                        <a:rPr lang="en-US" sz="1050" u="none" strike="noStrike" kern="1200" baseline="0" dirty="0">
                          <a:latin typeface="Arial" panose="020B0604020202020204" pitchFamily="34" charset="0"/>
                          <a:cs typeface="Arial" panose="020B0604020202020204" pitchFamily="34" charset="0"/>
                        </a:rPr>
                        <a:t>Tin mill products</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U*</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30</a:t>
                      </a:r>
                      <a:endParaRPr lang="en-US" sz="105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015156576"/>
                  </a:ext>
                </a:extLst>
              </a:tr>
              <a:tr h="230999">
                <a:tc>
                  <a:txBody>
                    <a:bodyPr/>
                    <a:lstStyle/>
                    <a:p>
                      <a:r>
                        <a:rPr lang="en-US" sz="1050" b="1" u="none" strike="noStrike" kern="1200" baseline="0" dirty="0">
                          <a:latin typeface="Arial" panose="020B0604020202020204" pitchFamily="34" charset="0"/>
                          <a:cs typeface="Arial" panose="020B0604020202020204" pitchFamily="34" charset="0"/>
                        </a:rPr>
                        <a:t>Carbon and Alloy Long Products</a:t>
                      </a:r>
                      <a:endParaRPr lang="en-US" sz="1050" b="1" dirty="0">
                        <a:latin typeface="Arial" panose="020B0604020202020204" pitchFamily="34" charset="0"/>
                        <a:cs typeface="Arial" panose="020B0604020202020204" pitchFamily="34" charset="0"/>
                      </a:endParaRPr>
                    </a:p>
                  </a:txBody>
                  <a:tcPr/>
                </a:tc>
                <a:tc>
                  <a:txBody>
                    <a:bodyPr/>
                    <a:lstStyle/>
                    <a:p>
                      <a:pPr algn="ctr"/>
                      <a:endParaRPr lang="en-US" sz="1050" dirty="0">
                        <a:latin typeface="Arial" panose="020B0604020202020204" pitchFamily="34" charset="0"/>
                        <a:cs typeface="Arial" panose="020B0604020202020204" pitchFamily="34" charset="0"/>
                      </a:endParaRPr>
                    </a:p>
                  </a:txBody>
                  <a:tcPr/>
                </a:tc>
                <a:tc>
                  <a:txBody>
                    <a:bodyPr/>
                    <a:lstStyle/>
                    <a:p>
                      <a:pPr algn="ctr"/>
                      <a:endParaRPr lang="en-US" sz="105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072298784"/>
                  </a:ext>
                </a:extLst>
              </a:tr>
              <a:tr h="230999">
                <a:tc>
                  <a:txBody>
                    <a:bodyPr/>
                    <a:lstStyle/>
                    <a:p>
                      <a:r>
                        <a:rPr lang="en-US" sz="1050" u="none" strike="noStrike" kern="1200" baseline="0" dirty="0">
                          <a:latin typeface="Arial" panose="020B0604020202020204" pitchFamily="34" charset="0"/>
                          <a:cs typeface="Arial" panose="020B0604020202020204" pitchFamily="34" charset="0"/>
                        </a:rPr>
                        <a:t>Hot-rolled bar</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20</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30</a:t>
                      </a:r>
                      <a:endParaRPr lang="en-US" sz="105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84687423"/>
                  </a:ext>
                </a:extLst>
              </a:tr>
              <a:tr h="230999">
                <a:tc>
                  <a:txBody>
                    <a:bodyPr/>
                    <a:lstStyle/>
                    <a:p>
                      <a:r>
                        <a:rPr lang="en-US" sz="1050" u="none" strike="noStrike" kern="1200" baseline="0" dirty="0">
                          <a:latin typeface="Arial" panose="020B0604020202020204" pitchFamily="34" charset="0"/>
                          <a:cs typeface="Arial" panose="020B0604020202020204" pitchFamily="34" charset="0"/>
                        </a:rPr>
                        <a:t>Cold-finished bar</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20</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30</a:t>
                      </a:r>
                      <a:endParaRPr lang="en-US" sz="105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927493806"/>
                  </a:ext>
                </a:extLst>
              </a:tr>
              <a:tr h="230999">
                <a:tc>
                  <a:txBody>
                    <a:bodyPr/>
                    <a:lstStyle/>
                    <a:p>
                      <a:r>
                        <a:rPr lang="en-US" sz="1050" u="none" strike="noStrike" kern="1200" baseline="0" dirty="0">
                          <a:latin typeface="Arial" panose="020B0604020202020204" pitchFamily="34" charset="0"/>
                          <a:cs typeface="Arial" panose="020B0604020202020204" pitchFamily="34" charset="0"/>
                        </a:rPr>
                        <a:t>Rebar</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10</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15</a:t>
                      </a:r>
                      <a:endParaRPr lang="en-US" sz="105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345046500"/>
                  </a:ext>
                </a:extLst>
              </a:tr>
              <a:tr h="230999">
                <a:tc>
                  <a:txBody>
                    <a:bodyPr/>
                    <a:lstStyle/>
                    <a:p>
                      <a:r>
                        <a:rPr lang="en-US" sz="1050" b="1" u="none" strike="noStrike" kern="1200" baseline="0" dirty="0">
                          <a:latin typeface="Arial" panose="020B0604020202020204" pitchFamily="34" charset="0"/>
                          <a:cs typeface="Arial" panose="020B0604020202020204" pitchFamily="34" charset="0"/>
                        </a:rPr>
                        <a:t>Carbon and Alloy Tubular Products</a:t>
                      </a:r>
                      <a:endParaRPr lang="en-US" sz="1050" b="1" dirty="0">
                        <a:latin typeface="Arial" panose="020B0604020202020204" pitchFamily="34" charset="0"/>
                        <a:cs typeface="Arial" panose="020B0604020202020204" pitchFamily="34" charset="0"/>
                      </a:endParaRPr>
                    </a:p>
                  </a:txBody>
                  <a:tcPr/>
                </a:tc>
                <a:tc>
                  <a:txBody>
                    <a:bodyPr/>
                    <a:lstStyle/>
                    <a:p>
                      <a:pPr algn="ctr"/>
                      <a:endParaRPr lang="en-US" sz="1050" dirty="0">
                        <a:latin typeface="Arial" panose="020B0604020202020204" pitchFamily="34" charset="0"/>
                        <a:cs typeface="Arial" panose="020B0604020202020204" pitchFamily="34" charset="0"/>
                      </a:endParaRPr>
                    </a:p>
                  </a:txBody>
                  <a:tcPr/>
                </a:tc>
                <a:tc>
                  <a:txBody>
                    <a:bodyPr/>
                    <a:lstStyle/>
                    <a:p>
                      <a:pPr algn="ctr"/>
                      <a:endParaRPr lang="en-US" sz="105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51624363"/>
                  </a:ext>
                </a:extLst>
              </a:tr>
              <a:tr h="230999">
                <a:tc>
                  <a:txBody>
                    <a:bodyPr/>
                    <a:lstStyle/>
                    <a:p>
                      <a:r>
                        <a:rPr lang="en-US" sz="1050" u="none" strike="noStrike" kern="1200" baseline="0" dirty="0">
                          <a:latin typeface="Arial" panose="020B0604020202020204" pitchFamily="34" charset="0"/>
                          <a:cs typeface="Arial" panose="020B0604020202020204" pitchFamily="34" charset="0"/>
                        </a:rPr>
                        <a:t>Tubular products</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15</a:t>
                      </a:r>
                      <a:endParaRPr lang="en-US" sz="105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718980469"/>
                  </a:ext>
                </a:extLst>
              </a:tr>
              <a:tr h="230999">
                <a:tc>
                  <a:txBody>
                    <a:bodyPr/>
                    <a:lstStyle/>
                    <a:p>
                      <a:r>
                        <a:rPr lang="en-US" sz="1050" u="none" strike="noStrike" kern="1200" baseline="0" dirty="0">
                          <a:latin typeface="Arial" panose="020B0604020202020204" pitchFamily="34" charset="0"/>
                          <a:cs typeface="Arial" panose="020B0604020202020204" pitchFamily="34" charset="0"/>
                        </a:rPr>
                        <a:t>Alloy fittings and flanges</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13</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13</a:t>
                      </a:r>
                      <a:endParaRPr lang="en-US" sz="105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524024015"/>
                  </a:ext>
                </a:extLst>
              </a:tr>
              <a:tr h="230999">
                <a:tc>
                  <a:txBody>
                    <a:bodyPr/>
                    <a:lstStyle/>
                    <a:p>
                      <a:r>
                        <a:rPr lang="en-US" sz="1050" b="1" u="none" strike="noStrike" kern="1200" baseline="0" dirty="0">
                          <a:latin typeface="Arial" panose="020B0604020202020204" pitchFamily="34" charset="0"/>
                          <a:cs typeface="Arial" panose="020B0604020202020204" pitchFamily="34" charset="0"/>
                        </a:rPr>
                        <a:t>Stainless and Tool Steel Products</a:t>
                      </a:r>
                      <a:endParaRPr lang="en-US" sz="1050" b="1" dirty="0">
                        <a:latin typeface="Arial" panose="020B0604020202020204" pitchFamily="34" charset="0"/>
                        <a:cs typeface="Arial" panose="020B0604020202020204" pitchFamily="34" charset="0"/>
                      </a:endParaRPr>
                    </a:p>
                  </a:txBody>
                  <a:tcPr/>
                </a:tc>
                <a:tc>
                  <a:txBody>
                    <a:bodyPr/>
                    <a:lstStyle/>
                    <a:p>
                      <a:pPr algn="ctr"/>
                      <a:endParaRPr lang="en-US" sz="1050" dirty="0">
                        <a:latin typeface="Arial" panose="020B0604020202020204" pitchFamily="34" charset="0"/>
                        <a:cs typeface="Arial" panose="020B0604020202020204" pitchFamily="34" charset="0"/>
                      </a:endParaRPr>
                    </a:p>
                  </a:txBody>
                  <a:tcPr/>
                </a:tc>
                <a:tc>
                  <a:txBody>
                    <a:bodyPr/>
                    <a:lstStyle/>
                    <a:p>
                      <a:pPr algn="ctr"/>
                      <a:endParaRPr lang="en-US" sz="105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889804047"/>
                  </a:ext>
                </a:extLst>
              </a:tr>
              <a:tr h="230999">
                <a:tc>
                  <a:txBody>
                    <a:bodyPr/>
                    <a:lstStyle/>
                    <a:p>
                      <a:r>
                        <a:rPr lang="en-US" sz="1050" u="none" strike="noStrike" kern="1200" baseline="0" dirty="0">
                          <a:latin typeface="Arial" panose="020B0604020202020204" pitchFamily="34" charset="0"/>
                          <a:cs typeface="Arial" panose="020B0604020202020204" pitchFamily="34" charset="0"/>
                        </a:rPr>
                        <a:t>Stainless steel bar</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15</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15</a:t>
                      </a:r>
                      <a:endParaRPr lang="en-US" sz="105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56672515"/>
                  </a:ext>
                </a:extLst>
              </a:tr>
              <a:tr h="230999">
                <a:tc>
                  <a:txBody>
                    <a:bodyPr/>
                    <a:lstStyle/>
                    <a:p>
                      <a:r>
                        <a:rPr lang="en-US" sz="1050" u="none" strike="noStrike" kern="1200" baseline="0" dirty="0">
                          <a:latin typeface="Arial" panose="020B0604020202020204" pitchFamily="34" charset="0"/>
                          <a:cs typeface="Arial" panose="020B0604020202020204" pitchFamily="34" charset="0"/>
                        </a:rPr>
                        <a:t>Stainless steel rod</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15</a:t>
                      </a:r>
                      <a:endParaRPr lang="en-US" sz="105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313265520"/>
                  </a:ext>
                </a:extLst>
              </a:tr>
              <a:tr h="312276">
                <a:tc>
                  <a:txBody>
                    <a:bodyPr/>
                    <a:lstStyle/>
                    <a:p>
                      <a:r>
                        <a:rPr lang="en-US" sz="1050" u="none" strike="noStrike" kern="1200" baseline="0" dirty="0">
                          <a:latin typeface="Arial" panose="020B0604020202020204" pitchFamily="34" charset="0"/>
                          <a:cs typeface="Arial" panose="020B0604020202020204" pitchFamily="34" charset="0"/>
                        </a:rPr>
                        <a:t>Stainless steel wire</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U*</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8</a:t>
                      </a:r>
                      <a:endParaRPr lang="en-US" sz="105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623651987"/>
                  </a:ext>
                </a:extLst>
              </a:tr>
            </a:tbl>
          </a:graphicData>
        </a:graphic>
      </p:graphicFrame>
    </p:spTree>
    <p:extLst>
      <p:ext uri="{BB962C8B-B14F-4D97-AF65-F5344CB8AC3E}">
        <p14:creationId xmlns:p14="http://schemas.microsoft.com/office/powerpoint/2010/main" val="21685107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7C6A8-D3EE-4F34-BA20-C9F778151A72}"/>
              </a:ext>
            </a:extLst>
          </p:cNvPr>
          <p:cNvSpPr>
            <a:spLocks noGrp="1"/>
          </p:cNvSpPr>
          <p:nvPr>
            <p:ph type="title"/>
          </p:nvPr>
        </p:nvSpPr>
        <p:spPr/>
        <p:txBody>
          <a:bodyPr/>
          <a:lstStyle/>
          <a:p>
            <a:r>
              <a:rPr lang="en-US" dirty="0"/>
              <a:t>U.S. Tariffs on Steel,  2002-03 (part 2)</a:t>
            </a:r>
            <a:endParaRPr lang="en-IN" dirty="0"/>
          </a:p>
        </p:txBody>
      </p:sp>
      <p:sp>
        <p:nvSpPr>
          <p:cNvPr id="3" name="Content Placeholder 2">
            <a:extLst>
              <a:ext uri="{FF2B5EF4-FFF2-40B4-BE49-F238E27FC236}">
                <a16:creationId xmlns:a16="http://schemas.microsoft.com/office/drawing/2014/main" id="{72733C5A-BCDD-47B2-B34B-9C97AF3C3AD3}"/>
              </a:ext>
            </a:extLst>
          </p:cNvPr>
          <p:cNvSpPr>
            <a:spLocks noGrp="1"/>
          </p:cNvSpPr>
          <p:nvPr>
            <p:ph idx="1"/>
          </p:nvPr>
        </p:nvSpPr>
        <p:spPr>
          <a:xfrm>
            <a:off x="457200" y="1600201"/>
            <a:ext cx="2895600" cy="761999"/>
          </a:xfrm>
        </p:spPr>
        <p:txBody>
          <a:bodyPr>
            <a:normAutofit/>
          </a:bodyPr>
          <a:lstStyle/>
          <a:p>
            <a:pPr marL="0" indent="0">
              <a:buNone/>
            </a:pPr>
            <a:r>
              <a:rPr lang="en-US" sz="2000" dirty="0"/>
              <a:t>Deadweight Loss Due to the Steel Tariff</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E7F8FE27-9C31-43E7-A85F-9C36A9D67A0C}"/>
                  </a:ext>
                </a:extLst>
              </p:cNvPr>
              <p:cNvSpPr>
                <a:spLocks noGrp="1"/>
              </p:cNvSpPr>
              <p:nvPr>
                <p:ph sz="quarter" idx="10"/>
              </p:nvPr>
            </p:nvSpPr>
            <p:spPr>
              <a:xfrm>
                <a:off x="2438400" y="2895600"/>
                <a:ext cx="3429000" cy="761999"/>
              </a:xfrm>
            </p:spPr>
            <p:txBody>
              <a:bodyPr>
                <a:normAutofit/>
              </a:bodyPr>
              <a:lstStyle/>
              <a:p>
                <a:pPr marL="0" indent="0">
                  <a:buNone/>
                </a:pPr>
                <a14:m>
                  <m:oMathPara xmlns:m="http://schemas.openxmlformats.org/officeDocument/2006/math">
                    <m:oMathParaPr>
                      <m:jc m:val="centerGroup"/>
                    </m:oMathParaPr>
                    <m:oMath xmlns:m="http://schemas.openxmlformats.org/officeDocument/2006/math">
                      <m:r>
                        <a:rPr lang="en-IN" sz="2000" b="0" i="1" smtClean="0">
                          <a:latin typeface="Cambria Math" panose="02040503050406030204" pitchFamily="18" charset="0"/>
                        </a:rPr>
                        <m:t>𝐷𝑊𝐿</m:t>
                      </m:r>
                      <m:r>
                        <a:rPr lang="en-IN" sz="2000" b="0" i="1" smtClean="0">
                          <a:latin typeface="Cambria Math" panose="02040503050406030204" pitchFamily="18" charset="0"/>
                          <a:ea typeface="Cambria Math" panose="02040503050406030204" pitchFamily="18" charset="0"/>
                        </a:rPr>
                        <m:t>=</m:t>
                      </m:r>
                      <m:f>
                        <m:fPr>
                          <m:ctrlPr>
                            <a:rPr lang="en-IN" sz="2000" b="0" i="1" smtClean="0">
                              <a:latin typeface="Cambria Math" panose="02040503050406030204" pitchFamily="18" charset="0"/>
                              <a:ea typeface="Cambria Math" panose="02040503050406030204" pitchFamily="18" charset="0"/>
                            </a:rPr>
                          </m:ctrlPr>
                        </m:fPr>
                        <m:num>
                          <m:r>
                            <a:rPr lang="en-IN" sz="2000" b="0" i="1" smtClean="0">
                              <a:latin typeface="Cambria Math" panose="02040503050406030204" pitchFamily="18" charset="0"/>
                              <a:ea typeface="Cambria Math" panose="02040503050406030204" pitchFamily="18" charset="0"/>
                            </a:rPr>
                            <m:t>1</m:t>
                          </m:r>
                        </m:num>
                        <m:den>
                          <m:r>
                            <a:rPr lang="en-IN" sz="2000" b="0" i="1" smtClean="0">
                              <a:latin typeface="Cambria Math" panose="02040503050406030204" pitchFamily="18" charset="0"/>
                              <a:ea typeface="Cambria Math" panose="02040503050406030204" pitchFamily="18" charset="0"/>
                            </a:rPr>
                            <m:t>2</m:t>
                          </m:r>
                        </m:den>
                      </m:f>
                      <m:r>
                        <a:rPr lang="en-US" sz="2000" i="1">
                          <a:latin typeface="Cambria Math" panose="02040503050406030204" pitchFamily="18" charset="0"/>
                          <a:ea typeface="Cambria Math" panose="02040503050406030204" pitchFamily="18" charset="0"/>
                        </a:rPr>
                        <m:t>∙</m:t>
                      </m:r>
                      <m:r>
                        <m:rPr>
                          <m:sty m:val="p"/>
                        </m:rPr>
                        <a:rPr lang="en-IN" sz="2000" b="0" i="0" smtClean="0">
                          <a:latin typeface="Cambria Math" panose="02040503050406030204" pitchFamily="18" charset="0"/>
                          <a:ea typeface="Cambria Math" panose="02040503050406030204" pitchFamily="18" charset="0"/>
                        </a:rPr>
                        <m:t>t</m:t>
                      </m:r>
                      <m:r>
                        <a:rPr lang="en-IN" sz="2000" b="0" i="1" smtClean="0">
                          <a:latin typeface="Cambria Math" panose="02040503050406030204" pitchFamily="18" charset="0"/>
                          <a:ea typeface="Cambria Math" panose="02040503050406030204" pitchFamily="18" charset="0"/>
                        </a:rPr>
                        <m:t>∙∆</m:t>
                      </m:r>
                      <m:r>
                        <a:rPr lang="en-IN" sz="2000" b="0" i="1" smtClean="0">
                          <a:latin typeface="Cambria Math" panose="02040503050406030204" pitchFamily="18" charset="0"/>
                          <a:ea typeface="Cambria Math" panose="02040503050406030204" pitchFamily="18" charset="0"/>
                        </a:rPr>
                        <m:t>𝑀</m:t>
                      </m:r>
                    </m:oMath>
                  </m:oMathPara>
                </a14:m>
                <a:endParaRPr lang="en-IN" sz="2000" dirty="0"/>
              </a:p>
            </p:txBody>
          </p:sp>
        </mc:Choice>
        <mc:Fallback xmlns="">
          <p:sp>
            <p:nvSpPr>
              <p:cNvPr id="4" name="Content Placeholder 3">
                <a:extLst>
                  <a:ext uri="{FF2B5EF4-FFF2-40B4-BE49-F238E27FC236}">
                    <a16:creationId xmlns:a16="http://schemas.microsoft.com/office/drawing/2014/main" id="{E7F8FE27-9C31-43E7-A85F-9C36A9D67A0C}"/>
                  </a:ext>
                </a:extLst>
              </p:cNvPr>
              <p:cNvSpPr>
                <a:spLocks noGrp="1" noRot="1" noChangeAspect="1" noMove="1" noResize="1" noEditPoints="1" noAdjustHandles="1" noChangeArrowheads="1" noChangeShapeType="1" noTextEdit="1"/>
              </p:cNvSpPr>
              <p:nvPr>
                <p:ph sz="quarter" idx="10"/>
              </p:nvPr>
            </p:nvSpPr>
            <p:spPr>
              <a:xfrm>
                <a:off x="2438400" y="2895600"/>
                <a:ext cx="3429000" cy="761999"/>
              </a:xfrm>
              <a:blipFill>
                <a:blip r:embed="rId3"/>
                <a:stretch>
                  <a:fillRect/>
                </a:stretch>
              </a:blipFill>
            </p:spPr>
            <p:txBody>
              <a:bodyPr/>
              <a:lstStyle/>
              <a:p>
                <a:r>
                  <a:rPr lang="en-IN">
                    <a:noFill/>
                  </a:rPr>
                  <a:t> </a:t>
                </a:r>
              </a:p>
            </p:txBody>
          </p:sp>
        </mc:Fallback>
      </mc:AlternateContent>
      <p:sp>
        <p:nvSpPr>
          <p:cNvPr id="5" name="Content Placeholder 4">
            <a:extLst>
              <a:ext uri="{FF2B5EF4-FFF2-40B4-BE49-F238E27FC236}">
                <a16:creationId xmlns:a16="http://schemas.microsoft.com/office/drawing/2014/main" id="{BF4351FC-D707-47F8-B528-44BB1305DE73}"/>
              </a:ext>
            </a:extLst>
          </p:cNvPr>
          <p:cNvSpPr>
            <a:spLocks noGrp="1"/>
          </p:cNvSpPr>
          <p:nvPr>
            <p:ph sz="quarter" idx="11"/>
          </p:nvPr>
        </p:nvSpPr>
        <p:spPr>
          <a:xfrm>
            <a:off x="321129" y="3845608"/>
            <a:ext cx="8229600" cy="573992"/>
          </a:xfrm>
        </p:spPr>
        <p:txBody>
          <a:bodyPr>
            <a:normAutofit/>
          </a:bodyPr>
          <a:lstStyle/>
          <a:p>
            <a:pPr marL="0" indent="0">
              <a:buNone/>
            </a:pPr>
            <a:r>
              <a:rPr lang="en-US" sz="2400" b="0" dirty="0"/>
              <a:t>The deadweight loss relative to the value of imports equals:</a:t>
            </a:r>
          </a:p>
        </p:txBody>
      </p:sp>
      <p:pic>
        <p:nvPicPr>
          <p:cNvPr id="11" name="Picture Placeholder 5" descr="A cartoon shows a huge can pouring steel from the top. Three workers in work wear stand with face masks and rods in their hands, watching from the bottom. George Bush says to these workers, “Hi, I'm George Bush and I’m running for re-electi... Oh, never mind.” He hides a card behind him that says, “Tariff Repeal.” A small man walking away from Bush says, “They won’t vote for you anyway.”">
            <a:extLst>
              <a:ext uri="{FF2B5EF4-FFF2-40B4-BE49-F238E27FC236}">
                <a16:creationId xmlns:a16="http://schemas.microsoft.com/office/drawing/2014/main" id="{84C5DC01-FF00-48B8-8D68-C710A726A4AB}"/>
              </a:ext>
            </a:extLst>
          </p:cNvPr>
          <p:cNvPicPr>
            <a:picLocks noGrp="1" noChangeAspect="1"/>
          </p:cNvPicPr>
          <p:nvPr>
            <p:ph type="pic" sz="quarter" idx="12"/>
          </p:nvPr>
        </p:nvPicPr>
        <p:blipFill>
          <a:blip r:embed="rId4" cstate="print">
            <a:extLst>
              <a:ext uri="{28A0092B-C50C-407E-A947-70E740481C1C}">
                <a14:useLocalDpi xmlns:a14="http://schemas.microsoft.com/office/drawing/2010/main" val="0"/>
              </a:ext>
            </a:extLst>
          </a:blip>
          <a:stretch>
            <a:fillRect/>
          </a:stretch>
        </p:blipFill>
        <p:spPr>
          <a:xfrm>
            <a:off x="5727251" y="1563734"/>
            <a:ext cx="2823478" cy="1843209"/>
          </a:xfrm>
          <a:prstGeom prst="rect">
            <a:avLst/>
          </a:prstGeom>
        </p:spPr>
      </p:pic>
      <mc:AlternateContent xmlns:mc="http://schemas.openxmlformats.org/markup-compatibility/2006" xmlns:a14="http://schemas.microsoft.com/office/drawing/2010/main">
        <mc:Choice Requires="a14">
          <p:sp>
            <p:nvSpPr>
              <p:cNvPr id="9" name="Content Placeholder 8">
                <a:extLst>
                  <a:ext uri="{FF2B5EF4-FFF2-40B4-BE49-F238E27FC236}">
                    <a16:creationId xmlns:a16="http://schemas.microsoft.com/office/drawing/2014/main" id="{2482E67C-F5DF-4A33-89BA-C54B0CB46915}"/>
                  </a:ext>
                </a:extLst>
              </p:cNvPr>
              <p:cNvSpPr>
                <a:spLocks noGrp="1"/>
              </p:cNvSpPr>
              <p:nvPr>
                <p:ph sz="quarter" idx="15"/>
              </p:nvPr>
            </p:nvSpPr>
            <p:spPr>
              <a:xfrm>
                <a:off x="2209800" y="4747308"/>
                <a:ext cx="5105400" cy="1003300"/>
              </a:xfrm>
            </p:spPr>
            <p:txBody>
              <a:bodyPr>
                <a:normAutofit fontScale="77500" lnSpcReduction="20000"/>
              </a:bodyPr>
              <a:lstStyle/>
              <a:p>
                <a:pPr marL="0" indent="0">
                  <a:buNone/>
                </a:pPr>
                <a14:m>
                  <m:oMathPara xmlns:m="http://schemas.openxmlformats.org/officeDocument/2006/math">
                    <m:oMathParaPr>
                      <m:jc m:val="centerGroup"/>
                    </m:oMathParaPr>
                    <m:oMath xmlns:m="http://schemas.openxmlformats.org/officeDocument/2006/math">
                      <m:f>
                        <m:fPr>
                          <m:ctrlPr>
                            <a:rPr lang="en-IN" sz="2800" i="1" smtClean="0">
                              <a:latin typeface="Cambria Math" panose="02040503050406030204" pitchFamily="18" charset="0"/>
                            </a:rPr>
                          </m:ctrlPr>
                        </m:fPr>
                        <m:num>
                          <m:r>
                            <a:rPr lang="en-IN" sz="2800" b="0" i="1" smtClean="0">
                              <a:latin typeface="Cambria Math" panose="02040503050406030204" pitchFamily="18" charset="0"/>
                            </a:rPr>
                            <m:t>𝐷𝑊𝐿</m:t>
                          </m:r>
                        </m:num>
                        <m:den>
                          <m:sSup>
                            <m:sSupPr>
                              <m:ctrlPr>
                                <a:rPr lang="en-IN" sz="2800" i="1" smtClean="0">
                                  <a:latin typeface="Cambria Math" panose="02040503050406030204" pitchFamily="18" charset="0"/>
                                </a:rPr>
                              </m:ctrlPr>
                            </m:sSupPr>
                            <m:e>
                              <m:r>
                                <a:rPr lang="en-IN" sz="2800" b="0" i="1" smtClean="0">
                                  <a:latin typeface="Cambria Math" panose="02040503050406030204" pitchFamily="18" charset="0"/>
                                </a:rPr>
                                <m:t>𝑃</m:t>
                              </m:r>
                            </m:e>
                            <m:sup>
                              <m:r>
                                <a:rPr lang="en-IN" sz="2800" b="0" i="1" smtClean="0">
                                  <a:latin typeface="Cambria Math" panose="02040503050406030204" pitchFamily="18" charset="0"/>
                                </a:rPr>
                                <m:t>𝑊</m:t>
                              </m:r>
                            </m:sup>
                          </m:sSup>
                          <m:r>
                            <a:rPr lang="en-IN" sz="2800" i="1" smtClean="0">
                              <a:latin typeface="Cambria Math" panose="02040503050406030204" pitchFamily="18" charset="0"/>
                              <a:ea typeface="Cambria Math" panose="02040503050406030204" pitchFamily="18" charset="0"/>
                            </a:rPr>
                            <m:t>∙</m:t>
                          </m:r>
                          <m:r>
                            <a:rPr lang="en-IN" sz="2800" b="0" i="1" smtClean="0">
                              <a:latin typeface="Cambria Math" panose="02040503050406030204" pitchFamily="18" charset="0"/>
                              <a:ea typeface="Cambria Math" panose="02040503050406030204" pitchFamily="18" charset="0"/>
                            </a:rPr>
                            <m:t>𝑀</m:t>
                          </m:r>
                        </m:den>
                      </m:f>
                      <m:r>
                        <a:rPr lang="en-IN" sz="2800" i="1" smtClean="0">
                          <a:latin typeface="Cambria Math" panose="02040503050406030204" pitchFamily="18" charset="0"/>
                          <a:ea typeface="Cambria Math" panose="02040503050406030204" pitchFamily="18" charset="0"/>
                        </a:rPr>
                        <m:t>=</m:t>
                      </m:r>
                      <m:f>
                        <m:fPr>
                          <m:ctrlPr>
                            <a:rPr lang="en-IN" sz="2800" i="1" smtClean="0">
                              <a:latin typeface="Cambria Math" panose="02040503050406030204" pitchFamily="18" charset="0"/>
                              <a:ea typeface="Cambria Math" panose="02040503050406030204" pitchFamily="18" charset="0"/>
                            </a:rPr>
                          </m:ctrlPr>
                        </m:fPr>
                        <m:num>
                          <m:r>
                            <a:rPr lang="en-IN" sz="2800" b="0" i="1" smtClean="0">
                              <a:latin typeface="Cambria Math" panose="02040503050406030204" pitchFamily="18" charset="0"/>
                              <a:ea typeface="Cambria Math" panose="02040503050406030204" pitchFamily="18" charset="0"/>
                            </a:rPr>
                            <m:t>1</m:t>
                          </m:r>
                        </m:num>
                        <m:den>
                          <m:r>
                            <a:rPr lang="en-IN" sz="2800" b="0" i="1" smtClean="0">
                              <a:latin typeface="Cambria Math" panose="02040503050406030204" pitchFamily="18" charset="0"/>
                              <a:ea typeface="Cambria Math" panose="02040503050406030204" pitchFamily="18" charset="0"/>
                            </a:rPr>
                            <m:t>2</m:t>
                          </m:r>
                        </m:den>
                      </m:f>
                      <m:r>
                        <a:rPr lang="en-IN" sz="2800" i="1" smtClean="0">
                          <a:latin typeface="Cambria Math" panose="02040503050406030204" pitchFamily="18" charset="0"/>
                          <a:ea typeface="Cambria Math" panose="02040503050406030204" pitchFamily="18" charset="0"/>
                        </a:rPr>
                        <m:t>∙</m:t>
                      </m:r>
                      <m:f>
                        <m:fPr>
                          <m:ctrlPr>
                            <a:rPr lang="en-IN" sz="2800" i="1" smtClean="0">
                              <a:latin typeface="Cambria Math" panose="02040503050406030204" pitchFamily="18" charset="0"/>
                              <a:ea typeface="Cambria Math" panose="02040503050406030204" pitchFamily="18" charset="0"/>
                            </a:rPr>
                          </m:ctrlPr>
                        </m:fPr>
                        <m:num>
                          <m:r>
                            <a:rPr lang="en-IN" sz="2800" b="0" i="1" smtClean="0">
                              <a:latin typeface="Cambria Math" panose="02040503050406030204" pitchFamily="18" charset="0"/>
                              <a:ea typeface="Cambria Math" panose="02040503050406030204" pitchFamily="18" charset="0"/>
                            </a:rPr>
                            <m:t>𝑡</m:t>
                          </m:r>
                        </m:num>
                        <m:den>
                          <m:sSup>
                            <m:sSupPr>
                              <m:ctrlPr>
                                <a:rPr lang="en-IN" sz="2800" i="1" smtClean="0">
                                  <a:latin typeface="Cambria Math" panose="02040503050406030204" pitchFamily="18" charset="0"/>
                                </a:rPr>
                              </m:ctrlPr>
                            </m:sSupPr>
                            <m:e>
                              <m:r>
                                <a:rPr lang="en-IN" sz="2800" i="1">
                                  <a:latin typeface="Cambria Math" panose="02040503050406030204" pitchFamily="18" charset="0"/>
                                </a:rPr>
                                <m:t>𝑃</m:t>
                              </m:r>
                            </m:e>
                            <m:sup>
                              <m:r>
                                <a:rPr lang="en-IN" sz="2800" i="1">
                                  <a:latin typeface="Cambria Math" panose="02040503050406030204" pitchFamily="18" charset="0"/>
                                </a:rPr>
                                <m:t>𝑊</m:t>
                              </m:r>
                            </m:sup>
                          </m:sSup>
                          <m:r>
                            <a:rPr lang="en-IN" sz="2800" i="1">
                              <a:latin typeface="Cambria Math" panose="02040503050406030204" pitchFamily="18" charset="0"/>
                              <a:ea typeface="Cambria Math" panose="02040503050406030204" pitchFamily="18" charset="0"/>
                            </a:rPr>
                            <m:t>∙</m:t>
                          </m:r>
                          <m:r>
                            <a:rPr lang="en-IN" sz="2800" i="1">
                              <a:latin typeface="Cambria Math" panose="02040503050406030204" pitchFamily="18" charset="0"/>
                              <a:ea typeface="Cambria Math" panose="02040503050406030204" pitchFamily="18" charset="0"/>
                            </a:rPr>
                            <m:t>𝑀</m:t>
                          </m:r>
                        </m:den>
                      </m:f>
                      <m:r>
                        <a:rPr lang="en-IN" sz="2800" i="1" smtClean="0">
                          <a:latin typeface="Cambria Math" panose="02040503050406030204" pitchFamily="18" charset="0"/>
                          <a:ea typeface="Cambria Math" panose="02040503050406030204" pitchFamily="18" charset="0"/>
                        </a:rPr>
                        <m:t>=</m:t>
                      </m:r>
                      <m:f>
                        <m:fPr>
                          <m:ctrlPr>
                            <a:rPr lang="en-IN" sz="2800" i="1" smtClean="0">
                              <a:latin typeface="Cambria Math" panose="02040503050406030204" pitchFamily="18" charset="0"/>
                              <a:ea typeface="Cambria Math" panose="02040503050406030204" pitchFamily="18" charset="0"/>
                            </a:rPr>
                          </m:ctrlPr>
                        </m:fPr>
                        <m:num>
                          <m:r>
                            <a:rPr lang="en-IN" sz="2800" b="0" i="1" smtClean="0">
                              <a:latin typeface="Cambria Math" panose="02040503050406030204" pitchFamily="18" charset="0"/>
                              <a:ea typeface="Cambria Math" panose="02040503050406030204" pitchFamily="18" charset="0"/>
                            </a:rPr>
                            <m:t>1</m:t>
                          </m:r>
                        </m:num>
                        <m:den>
                          <m:r>
                            <a:rPr lang="en-IN" sz="2800" b="0" i="1" smtClean="0">
                              <a:latin typeface="Cambria Math" panose="02040503050406030204" pitchFamily="18" charset="0"/>
                              <a:ea typeface="Cambria Math" panose="02040503050406030204" pitchFamily="18" charset="0"/>
                            </a:rPr>
                            <m:t>2</m:t>
                          </m:r>
                        </m:den>
                      </m:f>
                      <m:r>
                        <a:rPr lang="en-IN" sz="2800" i="1" smtClean="0">
                          <a:latin typeface="Cambria Math" panose="02040503050406030204" pitchFamily="18" charset="0"/>
                          <a:ea typeface="Cambria Math" panose="02040503050406030204" pitchFamily="18" charset="0"/>
                        </a:rPr>
                        <m:t>∙</m:t>
                      </m:r>
                      <m:d>
                        <m:dPr>
                          <m:ctrlPr>
                            <a:rPr lang="en-IN" sz="2800" i="1" smtClean="0">
                              <a:latin typeface="Cambria Math" panose="02040503050406030204" pitchFamily="18" charset="0"/>
                              <a:ea typeface="Cambria Math" panose="02040503050406030204" pitchFamily="18" charset="0"/>
                            </a:rPr>
                          </m:ctrlPr>
                        </m:dPr>
                        <m:e>
                          <m:f>
                            <m:fPr>
                              <m:ctrlPr>
                                <a:rPr lang="en-IN" sz="2800" i="1" smtClean="0">
                                  <a:latin typeface="Cambria Math" panose="02040503050406030204" pitchFamily="18" charset="0"/>
                                  <a:ea typeface="Cambria Math" panose="02040503050406030204" pitchFamily="18" charset="0"/>
                                </a:rPr>
                              </m:ctrlPr>
                            </m:fPr>
                            <m:num>
                              <m:r>
                                <a:rPr lang="en-IN" sz="2800" b="0" i="1" smtClean="0">
                                  <a:latin typeface="Cambria Math" panose="02040503050406030204" pitchFamily="18" charset="0"/>
                                  <a:ea typeface="Cambria Math" panose="02040503050406030204" pitchFamily="18" charset="0"/>
                                </a:rPr>
                                <m:t>𝑡</m:t>
                              </m:r>
                            </m:num>
                            <m:den>
                              <m:sSup>
                                <m:sSupPr>
                                  <m:ctrlPr>
                                    <a:rPr lang="en-IN" sz="2800" i="1">
                                      <a:latin typeface="Cambria Math" panose="02040503050406030204" pitchFamily="18" charset="0"/>
                                    </a:rPr>
                                  </m:ctrlPr>
                                </m:sSupPr>
                                <m:e>
                                  <m:r>
                                    <a:rPr lang="en-IN" sz="2800" i="1">
                                      <a:latin typeface="Cambria Math" panose="02040503050406030204" pitchFamily="18" charset="0"/>
                                    </a:rPr>
                                    <m:t>𝑃</m:t>
                                  </m:r>
                                </m:e>
                                <m:sup>
                                  <m:r>
                                    <a:rPr lang="en-IN" sz="2800" i="1">
                                      <a:latin typeface="Cambria Math" panose="02040503050406030204" pitchFamily="18" charset="0"/>
                                    </a:rPr>
                                    <m:t>𝑊</m:t>
                                  </m:r>
                                </m:sup>
                              </m:sSup>
                            </m:den>
                          </m:f>
                        </m:e>
                      </m:d>
                      <m:r>
                        <a:rPr lang="en-IN" sz="2800" i="1" smtClean="0">
                          <a:latin typeface="Cambria Math" panose="02040503050406030204" pitchFamily="18" charset="0"/>
                          <a:ea typeface="Cambria Math" panose="02040503050406030204" pitchFamily="18" charset="0"/>
                        </a:rPr>
                        <m:t>∙%∆</m:t>
                      </m:r>
                      <m:r>
                        <a:rPr lang="en-IN" sz="2800" b="0" i="1" smtClean="0">
                          <a:latin typeface="Cambria Math" panose="02040503050406030204" pitchFamily="18" charset="0"/>
                          <a:ea typeface="Cambria Math" panose="02040503050406030204" pitchFamily="18" charset="0"/>
                        </a:rPr>
                        <m:t>𝑀</m:t>
                      </m:r>
                    </m:oMath>
                  </m:oMathPara>
                </a14:m>
                <a:endParaRPr lang="en-IN" dirty="0"/>
              </a:p>
            </p:txBody>
          </p:sp>
        </mc:Choice>
        <mc:Fallback xmlns="">
          <p:sp>
            <p:nvSpPr>
              <p:cNvPr id="9" name="Content Placeholder 8">
                <a:extLst>
                  <a:ext uri="{FF2B5EF4-FFF2-40B4-BE49-F238E27FC236}">
                    <a16:creationId xmlns:a16="http://schemas.microsoft.com/office/drawing/2014/main" id="{2482E67C-F5DF-4A33-89BA-C54B0CB46915}"/>
                  </a:ext>
                </a:extLst>
              </p:cNvPr>
              <p:cNvSpPr>
                <a:spLocks noGrp="1" noRot="1" noChangeAspect="1" noMove="1" noResize="1" noEditPoints="1" noAdjustHandles="1" noChangeArrowheads="1" noChangeShapeType="1" noTextEdit="1"/>
              </p:cNvSpPr>
              <p:nvPr>
                <p:ph sz="quarter" idx="15"/>
              </p:nvPr>
            </p:nvSpPr>
            <p:spPr>
              <a:xfrm>
                <a:off x="2209800" y="4747308"/>
                <a:ext cx="5105400" cy="1003300"/>
              </a:xfrm>
              <a:blipFill>
                <a:blip r:embed="rId5"/>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40018958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BDC27-3797-4A98-ACA8-6C2E72A389D3}"/>
              </a:ext>
            </a:extLst>
          </p:cNvPr>
          <p:cNvSpPr>
            <a:spLocks noGrp="1"/>
          </p:cNvSpPr>
          <p:nvPr>
            <p:ph type="title"/>
          </p:nvPr>
        </p:nvSpPr>
        <p:spPr/>
        <p:txBody>
          <a:bodyPr/>
          <a:lstStyle/>
          <a:p>
            <a:r>
              <a:rPr lang="en-US" dirty="0"/>
              <a:t>U.S. Tariffs on Steel, 2002-03 (part 3)</a:t>
            </a:r>
            <a:endParaRPr lang="en-IN" dirty="0"/>
          </a:p>
        </p:txBody>
      </p:sp>
      <p:sp>
        <p:nvSpPr>
          <p:cNvPr id="3" name="Content Placeholder 2">
            <a:extLst>
              <a:ext uri="{FF2B5EF4-FFF2-40B4-BE49-F238E27FC236}">
                <a16:creationId xmlns:a16="http://schemas.microsoft.com/office/drawing/2014/main" id="{08442E6F-3A28-411B-8D4D-8D1718BB560A}"/>
              </a:ext>
            </a:extLst>
          </p:cNvPr>
          <p:cNvSpPr>
            <a:spLocks noGrp="1"/>
          </p:cNvSpPr>
          <p:nvPr>
            <p:ph idx="1"/>
          </p:nvPr>
        </p:nvSpPr>
        <p:spPr>
          <a:xfrm>
            <a:off x="457200" y="1600201"/>
            <a:ext cx="4800600" cy="1752599"/>
          </a:xfrm>
        </p:spPr>
        <p:txBody>
          <a:bodyPr>
            <a:normAutofit/>
          </a:bodyPr>
          <a:lstStyle/>
          <a:p>
            <a:pPr marL="0" indent="0">
              <a:buNone/>
            </a:pPr>
            <a:r>
              <a:rPr lang="en-US" sz="2000" dirty="0"/>
              <a:t>Response of the European Countries</a:t>
            </a:r>
          </a:p>
          <a:p>
            <a:r>
              <a:rPr lang="en-US" sz="2000" b="0" dirty="0"/>
              <a:t>The WTO has a dispute settlement procedure under which countries can bring their complaint and have it evaluated.</a:t>
            </a:r>
          </a:p>
        </p:txBody>
      </p:sp>
      <p:sp>
        <p:nvSpPr>
          <p:cNvPr id="4" name="Content Placeholder 3">
            <a:extLst>
              <a:ext uri="{FF2B5EF4-FFF2-40B4-BE49-F238E27FC236}">
                <a16:creationId xmlns:a16="http://schemas.microsoft.com/office/drawing/2014/main" id="{A2B902CC-A9A4-40B2-BBC3-5D7225454239}"/>
              </a:ext>
            </a:extLst>
          </p:cNvPr>
          <p:cNvSpPr>
            <a:spLocks noGrp="1"/>
          </p:cNvSpPr>
          <p:nvPr>
            <p:ph sz="quarter" idx="10"/>
          </p:nvPr>
        </p:nvSpPr>
        <p:spPr>
          <a:xfrm>
            <a:off x="381000" y="3321396"/>
            <a:ext cx="8229600" cy="2743200"/>
          </a:xfrm>
        </p:spPr>
        <p:txBody>
          <a:bodyPr>
            <a:normAutofit/>
          </a:bodyPr>
          <a:lstStyle/>
          <a:p>
            <a:r>
              <a:rPr lang="en-US" sz="2000" b="0" dirty="0"/>
              <a:t>The countries in the European Union (EU) took action by bringing the case to the WTO. The WTO ruling entitled the European Union and other countries to retaliate against the United States by imposing tariffs of their own against U.S. exports.</a:t>
            </a:r>
          </a:p>
          <a:p>
            <a:r>
              <a:rPr lang="en-US" sz="2000" b="0" dirty="0"/>
              <a:t>The use of tariffs by an importer can easily lead to a response by exporters and a tariff war.</a:t>
            </a:r>
          </a:p>
        </p:txBody>
      </p:sp>
      <p:pic>
        <p:nvPicPr>
          <p:cNvPr id="11" name="Picture Placeholder 5" descr="A cartoon shows a huge can pouring steel from the top. Three workers in work wear stand with face masks and rods in their hands, watching from the bottom. George Bush says to these workers, “Hi, I'm George Bush and I’m running for re-electi... Oh, never mind.” He hides a card behind him that says, “Tariff Repeal.” A small man walking away from Bush says, “They won’t vote for you anyway.”">
            <a:extLst>
              <a:ext uri="{FF2B5EF4-FFF2-40B4-BE49-F238E27FC236}">
                <a16:creationId xmlns:a16="http://schemas.microsoft.com/office/drawing/2014/main" id="{937BDB07-77A7-4065-8905-4A4B3BEA2350}"/>
              </a:ext>
            </a:extLst>
          </p:cNvPr>
          <p:cNvPicPr>
            <a:picLocks noGrp="1" noChangeAspect="1"/>
          </p:cNvPicPr>
          <p:nvPr>
            <p:ph type="pic" sz="quarter" idx="12"/>
          </p:nvPr>
        </p:nvPicPr>
        <p:blipFill>
          <a:blip r:embed="rId2" cstate="print">
            <a:extLst>
              <a:ext uri="{28A0092B-C50C-407E-A947-70E740481C1C}">
                <a14:useLocalDpi xmlns:a14="http://schemas.microsoft.com/office/drawing/2010/main" val="0"/>
              </a:ext>
            </a:extLst>
          </a:blip>
          <a:stretch>
            <a:fillRect/>
          </a:stretch>
        </p:blipFill>
        <p:spPr>
          <a:xfrm>
            <a:off x="5943600" y="1443416"/>
            <a:ext cx="2566798" cy="1675645"/>
          </a:xfrm>
          <a:prstGeom prst="rect">
            <a:avLst/>
          </a:prstGeom>
        </p:spPr>
      </p:pic>
    </p:spTree>
    <p:extLst>
      <p:ext uri="{BB962C8B-B14F-4D97-AF65-F5344CB8AC3E}">
        <p14:creationId xmlns:p14="http://schemas.microsoft.com/office/powerpoint/2010/main" val="9015307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A949D5C-5083-442F-A861-B79469D380F4}"/>
              </a:ext>
            </a:extLst>
          </p:cNvPr>
          <p:cNvSpPr>
            <a:spLocks noGrp="1"/>
          </p:cNvSpPr>
          <p:nvPr>
            <p:ph type="title"/>
          </p:nvPr>
        </p:nvSpPr>
        <p:spPr/>
        <p:txBody>
          <a:bodyPr/>
          <a:lstStyle/>
          <a:p>
            <a:r>
              <a:rPr lang="en-US" dirty="0"/>
              <a:t>U.S. and Foreign Tariffs Under President Trump, 2018–19 (part 1)</a:t>
            </a:r>
            <a:endParaRPr lang="en-IN" dirty="0"/>
          </a:p>
        </p:txBody>
      </p:sp>
      <p:sp>
        <p:nvSpPr>
          <p:cNvPr id="5" name="Content Placeholder 4">
            <a:extLst>
              <a:ext uri="{FF2B5EF4-FFF2-40B4-BE49-F238E27FC236}">
                <a16:creationId xmlns:a16="http://schemas.microsoft.com/office/drawing/2014/main" id="{815F6072-CAB5-41BA-A0E6-80B5A23CA012}"/>
              </a:ext>
            </a:extLst>
          </p:cNvPr>
          <p:cNvSpPr>
            <a:spLocks noGrp="1"/>
          </p:cNvSpPr>
          <p:nvPr>
            <p:ph idx="1"/>
          </p:nvPr>
        </p:nvSpPr>
        <p:spPr>
          <a:xfrm>
            <a:off x="457200" y="1600200"/>
            <a:ext cx="1600200" cy="4267200"/>
          </a:xfrm>
        </p:spPr>
        <p:txBody>
          <a:bodyPr>
            <a:normAutofit/>
          </a:bodyPr>
          <a:lstStyle/>
          <a:p>
            <a:pPr marL="0" indent="0">
              <a:buNone/>
            </a:pPr>
            <a:r>
              <a:rPr lang="en-IN" sz="1400" dirty="0"/>
              <a:t>TABLE 2</a:t>
            </a:r>
          </a:p>
          <a:p>
            <a:pPr marL="0" indent="0">
              <a:buNone/>
            </a:pPr>
            <a:r>
              <a:rPr lang="en-US" sz="1400" dirty="0"/>
              <a:t>U.S. and Foreign Tariffs, 2018‒19 </a:t>
            </a:r>
            <a:r>
              <a:rPr lang="en-US" sz="1400" b="0" dirty="0"/>
              <a:t>Panel (a) of this table shows the tariffs applied on U.S. imports by the administration of President Trump during 2018‒19. Panel (b) shows the tariffs applied on U.S. exports by foreign countries in retaliation for the U.S. import tariffs.</a:t>
            </a:r>
          </a:p>
        </p:txBody>
      </p:sp>
      <p:graphicFrame>
        <p:nvGraphicFramePr>
          <p:cNvPr id="14" name="Table 10">
            <a:extLst>
              <a:ext uri="{FF2B5EF4-FFF2-40B4-BE49-F238E27FC236}">
                <a16:creationId xmlns:a16="http://schemas.microsoft.com/office/drawing/2014/main" id="{4E6069BE-C061-458D-A6B9-9A5BC330B692}"/>
              </a:ext>
            </a:extLst>
          </p:cNvPr>
          <p:cNvGraphicFramePr>
            <a:graphicFrameLocks noGrp="1"/>
          </p:cNvGraphicFramePr>
          <p:nvPr>
            <p:ph sz="quarter" idx="10"/>
            <p:extLst>
              <p:ext uri="{D42A27DB-BD31-4B8C-83A1-F6EECF244321}">
                <p14:modId xmlns:p14="http://schemas.microsoft.com/office/powerpoint/2010/main" val="1185652644"/>
              </p:ext>
            </p:extLst>
          </p:nvPr>
        </p:nvGraphicFramePr>
        <p:xfrm>
          <a:off x="2068635" y="3563874"/>
          <a:ext cx="6946867" cy="2303526"/>
        </p:xfrm>
        <a:graphic>
          <a:graphicData uri="http://schemas.openxmlformats.org/drawingml/2006/table">
            <a:tbl>
              <a:tblPr firstRow="1" bandRow="1"/>
              <a:tblGrid>
                <a:gridCol w="1285065">
                  <a:extLst>
                    <a:ext uri="{9D8B030D-6E8A-4147-A177-3AD203B41FA5}">
                      <a16:colId xmlns:a16="http://schemas.microsoft.com/office/drawing/2014/main" val="949196034"/>
                    </a:ext>
                  </a:extLst>
                </a:gridCol>
                <a:gridCol w="990600">
                  <a:extLst>
                    <a:ext uri="{9D8B030D-6E8A-4147-A177-3AD203B41FA5}">
                      <a16:colId xmlns:a16="http://schemas.microsoft.com/office/drawing/2014/main" val="2903308668"/>
                    </a:ext>
                  </a:extLst>
                </a:gridCol>
                <a:gridCol w="1851802">
                  <a:extLst>
                    <a:ext uri="{9D8B030D-6E8A-4147-A177-3AD203B41FA5}">
                      <a16:colId xmlns:a16="http://schemas.microsoft.com/office/drawing/2014/main" val="779455412"/>
                    </a:ext>
                  </a:extLst>
                </a:gridCol>
                <a:gridCol w="1295400">
                  <a:extLst>
                    <a:ext uri="{9D8B030D-6E8A-4147-A177-3AD203B41FA5}">
                      <a16:colId xmlns:a16="http://schemas.microsoft.com/office/drawing/2014/main" val="3099616782"/>
                    </a:ext>
                  </a:extLst>
                </a:gridCol>
                <a:gridCol w="1524000">
                  <a:extLst>
                    <a:ext uri="{9D8B030D-6E8A-4147-A177-3AD203B41FA5}">
                      <a16:colId xmlns:a16="http://schemas.microsoft.com/office/drawing/2014/main" val="1356605577"/>
                    </a:ext>
                  </a:extLst>
                </a:gridCol>
              </a:tblGrid>
              <a:tr h="356365">
                <a:tc>
                  <a:txBody>
                    <a:bodyPr/>
                    <a:lstStyle/>
                    <a:p>
                      <a:pPr algn="ctr"/>
                      <a:r>
                        <a:rPr lang="en-US" sz="1000" b="1" u="none" strike="noStrike" kern="1200" baseline="0" dirty="0">
                          <a:latin typeface="Arial" panose="020B0604020202020204" pitchFamily="34" charset="0"/>
                          <a:cs typeface="Arial" panose="020B0604020202020204" pitchFamily="34" charset="0"/>
                        </a:rPr>
                        <a:t>Retaliating Country</a:t>
                      </a:r>
                      <a:endParaRPr lang="en-US" sz="1000" b="1" dirty="0">
                        <a:latin typeface="Arial" panose="020B0604020202020204" pitchFamily="34" charset="0"/>
                        <a:cs typeface="Arial" panose="020B0604020202020204" pitchFamily="34" charset="0"/>
                      </a:endParaRPr>
                    </a:p>
                  </a:txBody>
                  <a:tcPr/>
                </a:tc>
                <a:tc>
                  <a:txBody>
                    <a:bodyPr/>
                    <a:lstStyle/>
                    <a:p>
                      <a:pPr algn="ctr"/>
                      <a:r>
                        <a:rPr lang="en-US" sz="1000" b="1" u="none" strike="noStrike" kern="1200" baseline="0" dirty="0">
                          <a:latin typeface="Arial" panose="020B0604020202020204" pitchFamily="34" charset="0"/>
                          <a:cs typeface="Arial" panose="020B0604020202020204" pitchFamily="34" charset="0"/>
                        </a:rPr>
                        <a:t>2017 Tariff (%)</a:t>
                      </a:r>
                      <a:endParaRPr lang="en-US" sz="1000" b="1" dirty="0">
                        <a:latin typeface="Arial" panose="020B0604020202020204" pitchFamily="34" charset="0"/>
                        <a:cs typeface="Arial" panose="020B0604020202020204" pitchFamily="34" charset="0"/>
                      </a:endParaRPr>
                    </a:p>
                  </a:txBody>
                  <a:tcPr/>
                </a:tc>
                <a:tc>
                  <a:txBody>
                    <a:bodyPr/>
                    <a:lstStyle/>
                    <a:p>
                      <a:pPr algn="ctr"/>
                      <a:r>
                        <a:rPr lang="en-US" sz="1000" b="1" u="none" strike="noStrike" kern="1200" baseline="0" dirty="0">
                          <a:latin typeface="Arial" panose="020B0604020202020204" pitchFamily="34" charset="0"/>
                          <a:cs typeface="Arial" panose="020B0604020202020204" pitchFamily="34" charset="0"/>
                        </a:rPr>
                        <a:t>First Date of Tariff*</a:t>
                      </a:r>
                      <a:endParaRPr lang="en-US" sz="1000" b="1" dirty="0">
                        <a:latin typeface="Arial" panose="020B0604020202020204" pitchFamily="34" charset="0"/>
                        <a:cs typeface="Arial" panose="020B0604020202020204" pitchFamily="34" charset="0"/>
                      </a:endParaRPr>
                    </a:p>
                  </a:txBody>
                  <a:tcPr/>
                </a:tc>
                <a:tc>
                  <a:txBody>
                    <a:bodyPr/>
                    <a:lstStyle/>
                    <a:p>
                      <a:pPr algn="ctr"/>
                      <a:r>
                        <a:rPr lang="en-US" sz="1000" b="1" u="none" strike="noStrike" kern="1200" baseline="0" dirty="0">
                          <a:latin typeface="Arial" panose="020B0604020202020204" pitchFamily="34" charset="0"/>
                          <a:cs typeface="Arial" panose="020B0604020202020204" pitchFamily="34" charset="0"/>
                        </a:rPr>
                        <a:t>2018 or 2019** Tariff (%)</a:t>
                      </a:r>
                      <a:endParaRPr lang="en-US" sz="1000" b="1" dirty="0">
                        <a:latin typeface="Arial" panose="020B0604020202020204" pitchFamily="34" charset="0"/>
                        <a:cs typeface="Arial" panose="020B0604020202020204" pitchFamily="34" charset="0"/>
                      </a:endParaRPr>
                    </a:p>
                  </a:txBody>
                  <a:tcPr/>
                </a:tc>
                <a:tc>
                  <a:txBody>
                    <a:bodyPr/>
                    <a:lstStyle/>
                    <a:p>
                      <a:pPr algn="ctr"/>
                      <a:r>
                        <a:rPr lang="en-US" sz="1000" b="1" u="none" strike="noStrike" kern="1200" baseline="0" dirty="0">
                          <a:latin typeface="Arial" panose="020B0604020202020204" pitchFamily="34" charset="0"/>
                          <a:cs typeface="Arial" panose="020B0604020202020204" pitchFamily="34" charset="0"/>
                        </a:rPr>
                        <a:t>In Response to</a:t>
                      </a:r>
                    </a:p>
                    <a:p>
                      <a:pPr algn="ctr"/>
                      <a:r>
                        <a:rPr lang="en-US" sz="1000" b="1" u="none" strike="noStrike" kern="1200" baseline="0" dirty="0">
                          <a:latin typeface="Arial" panose="020B0604020202020204" pitchFamily="34" charset="0"/>
                          <a:cs typeface="Arial" panose="020B0604020202020204" pitchFamily="34" charset="0"/>
                        </a:rPr>
                        <a:t>U.S. Tariffs on</a:t>
                      </a:r>
                      <a:endParaRPr lang="en-US" sz="1000" b="1"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277751488"/>
                  </a:ext>
                </a:extLst>
              </a:tr>
              <a:tr h="356365">
                <a:tc>
                  <a:txBody>
                    <a:bodyPr/>
                    <a:lstStyle/>
                    <a:p>
                      <a:r>
                        <a:rPr lang="en-US" sz="1000" u="none" strike="noStrike" kern="1200" baseline="0" dirty="0">
                          <a:latin typeface="Arial" panose="020B0604020202020204" pitchFamily="34" charset="0"/>
                          <a:cs typeface="Arial" panose="020B0604020202020204" pitchFamily="34" charset="0"/>
                        </a:rPr>
                        <a:t>China</a:t>
                      </a:r>
                      <a:endParaRPr lang="en-US" sz="1000" dirty="0">
                        <a:latin typeface="Arial" panose="020B0604020202020204" pitchFamily="34" charset="0"/>
                        <a:cs typeface="Arial" panose="020B0604020202020204" pitchFamily="34" charset="0"/>
                      </a:endParaRPr>
                    </a:p>
                  </a:txBody>
                  <a:tcPr/>
                </a:tc>
                <a:tc>
                  <a:txBody>
                    <a:bodyPr/>
                    <a:lstStyle/>
                    <a:p>
                      <a:pPr algn="ctr"/>
                      <a:r>
                        <a:rPr lang="en-US" sz="1000" u="none" strike="noStrike" kern="1200" baseline="0" dirty="0">
                          <a:latin typeface="Arial" panose="020B0604020202020204" pitchFamily="34" charset="0"/>
                          <a:cs typeface="Arial" panose="020B0604020202020204" pitchFamily="34" charset="0"/>
                        </a:rPr>
                        <a:t>7.8</a:t>
                      </a:r>
                      <a:endParaRPr lang="en-US" sz="1000" dirty="0">
                        <a:latin typeface="Arial" panose="020B0604020202020204" pitchFamily="34" charset="0"/>
                        <a:cs typeface="Arial" panose="020B0604020202020204" pitchFamily="34" charset="0"/>
                      </a:endParaRPr>
                    </a:p>
                  </a:txBody>
                  <a:tcPr/>
                </a:tc>
                <a:tc>
                  <a:txBody>
                    <a:bodyPr/>
                    <a:lstStyle/>
                    <a:p>
                      <a:r>
                        <a:rPr lang="en-US" sz="1000" u="none" strike="noStrike" kern="1200" baseline="0" dirty="0">
                          <a:latin typeface="Arial" panose="020B0604020202020204" pitchFamily="34" charset="0"/>
                          <a:cs typeface="Arial" panose="020B0604020202020204" pitchFamily="34" charset="0"/>
                        </a:rPr>
                        <a:t>April 2018–October 2019</a:t>
                      </a:r>
                      <a:endParaRPr lang="en-US" sz="1000" dirty="0">
                        <a:latin typeface="Arial" panose="020B0604020202020204" pitchFamily="34" charset="0"/>
                        <a:cs typeface="Arial" panose="020B0604020202020204" pitchFamily="34" charset="0"/>
                      </a:endParaRPr>
                    </a:p>
                  </a:txBody>
                  <a:tcPr/>
                </a:tc>
                <a:tc>
                  <a:txBody>
                    <a:bodyPr/>
                    <a:lstStyle/>
                    <a:p>
                      <a:pPr algn="ctr"/>
                      <a:r>
                        <a:rPr lang="en-US" sz="1000" u="none" strike="noStrike" kern="1200" baseline="0" dirty="0">
                          <a:latin typeface="Arial" panose="020B0604020202020204" pitchFamily="34" charset="0"/>
                          <a:cs typeface="Arial" panose="020B0604020202020204" pitchFamily="34" charset="0"/>
                        </a:rPr>
                        <a:t>22.7</a:t>
                      </a:r>
                      <a:endParaRPr lang="en-US" sz="1000" dirty="0">
                        <a:latin typeface="Arial" panose="020B0604020202020204" pitchFamily="34" charset="0"/>
                        <a:cs typeface="Arial" panose="020B0604020202020204" pitchFamily="34" charset="0"/>
                      </a:endParaRPr>
                    </a:p>
                  </a:txBody>
                  <a:tcPr/>
                </a:tc>
                <a:tc>
                  <a:txBody>
                    <a:bodyPr/>
                    <a:lstStyle/>
                    <a:p>
                      <a:r>
                        <a:rPr lang="en-US" sz="1000" u="none" strike="noStrike" kern="1200" baseline="0" dirty="0">
                          <a:latin typeface="Arial" panose="020B0604020202020204" pitchFamily="34" charset="0"/>
                          <a:cs typeface="Arial" panose="020B0604020202020204" pitchFamily="34" charset="0"/>
                        </a:rPr>
                        <a:t>Steel, aluminum,</a:t>
                      </a:r>
                    </a:p>
                    <a:p>
                      <a:r>
                        <a:rPr lang="en-US" sz="1000" u="none" strike="noStrike" kern="1200" baseline="0" dirty="0">
                          <a:latin typeface="Arial" panose="020B0604020202020204" pitchFamily="34" charset="0"/>
                          <a:cs typeface="Arial" panose="020B0604020202020204" pitchFamily="34" charset="0"/>
                        </a:rPr>
                        <a:t>other products</a:t>
                      </a:r>
                      <a:endParaRPr lang="en-US" sz="10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831236741"/>
                  </a:ext>
                </a:extLst>
              </a:tr>
              <a:tr h="219301">
                <a:tc>
                  <a:txBody>
                    <a:bodyPr/>
                    <a:lstStyle/>
                    <a:p>
                      <a:r>
                        <a:rPr lang="en-US" sz="1000" u="none" strike="noStrike" kern="1200" baseline="0" dirty="0">
                          <a:latin typeface="Arial" panose="020B0604020202020204" pitchFamily="34" charset="0"/>
                          <a:cs typeface="Arial" panose="020B0604020202020204" pitchFamily="34" charset="0"/>
                        </a:rPr>
                        <a:t>Mexico</a:t>
                      </a:r>
                      <a:endParaRPr lang="en-US" sz="1000" dirty="0">
                        <a:latin typeface="Arial" panose="020B0604020202020204" pitchFamily="34" charset="0"/>
                        <a:cs typeface="Arial" panose="020B0604020202020204" pitchFamily="34" charset="0"/>
                      </a:endParaRPr>
                    </a:p>
                  </a:txBody>
                  <a:tcPr/>
                </a:tc>
                <a:tc>
                  <a:txBody>
                    <a:bodyPr/>
                    <a:lstStyle/>
                    <a:p>
                      <a:pPr algn="ctr"/>
                      <a:r>
                        <a:rPr lang="en-US" sz="1000" u="none" strike="noStrike" kern="1200" baseline="0" dirty="0">
                          <a:latin typeface="Arial" panose="020B0604020202020204" pitchFamily="34" charset="0"/>
                          <a:cs typeface="Arial" panose="020B0604020202020204" pitchFamily="34" charset="0"/>
                        </a:rPr>
                        <a:t>9.6</a:t>
                      </a:r>
                      <a:endParaRPr lang="en-US" sz="1000" dirty="0">
                        <a:latin typeface="Arial" panose="020B0604020202020204" pitchFamily="34" charset="0"/>
                        <a:cs typeface="Arial" panose="020B0604020202020204" pitchFamily="34" charset="0"/>
                      </a:endParaRPr>
                    </a:p>
                  </a:txBody>
                  <a:tcPr/>
                </a:tc>
                <a:tc>
                  <a:txBody>
                    <a:bodyPr/>
                    <a:lstStyle/>
                    <a:p>
                      <a:r>
                        <a:rPr lang="en-US" sz="1000" u="none" strike="noStrike" kern="1200" baseline="0" dirty="0">
                          <a:latin typeface="Arial" panose="020B0604020202020204" pitchFamily="34" charset="0"/>
                          <a:cs typeface="Arial" panose="020B0604020202020204" pitchFamily="34" charset="0"/>
                        </a:rPr>
                        <a:t>June 5, 2018</a:t>
                      </a:r>
                      <a:endParaRPr lang="en-US" sz="1000" dirty="0">
                        <a:latin typeface="Arial" panose="020B0604020202020204" pitchFamily="34" charset="0"/>
                        <a:cs typeface="Arial" panose="020B0604020202020204" pitchFamily="34" charset="0"/>
                      </a:endParaRPr>
                    </a:p>
                  </a:txBody>
                  <a:tcPr/>
                </a:tc>
                <a:tc>
                  <a:txBody>
                    <a:bodyPr/>
                    <a:lstStyle/>
                    <a:p>
                      <a:pPr algn="ctr"/>
                      <a:r>
                        <a:rPr lang="en-US" sz="1000" u="none" strike="noStrike" kern="1200" baseline="0" dirty="0">
                          <a:latin typeface="Arial" panose="020B0604020202020204" pitchFamily="34" charset="0"/>
                          <a:cs typeface="Arial" panose="020B0604020202020204" pitchFamily="34" charset="0"/>
                        </a:rPr>
                        <a:t>28</a:t>
                      </a:r>
                      <a:endParaRPr lang="en-US" sz="1000" dirty="0">
                        <a:latin typeface="Arial" panose="020B0604020202020204" pitchFamily="34" charset="0"/>
                        <a:cs typeface="Arial" panose="020B0604020202020204" pitchFamily="34" charset="0"/>
                      </a:endParaRPr>
                    </a:p>
                  </a:txBody>
                  <a:tcPr/>
                </a:tc>
                <a:tc>
                  <a:txBody>
                    <a:bodyPr/>
                    <a:lstStyle/>
                    <a:p>
                      <a:r>
                        <a:rPr lang="en-US" sz="1000" u="none" strike="noStrike" kern="1200" baseline="0" dirty="0">
                          <a:latin typeface="Arial" panose="020B0604020202020204" pitchFamily="34" charset="0"/>
                          <a:cs typeface="Arial" panose="020B0604020202020204" pitchFamily="34" charset="0"/>
                        </a:rPr>
                        <a:t>Steel, aluminum</a:t>
                      </a:r>
                      <a:endParaRPr lang="en-US" sz="10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326826375"/>
                  </a:ext>
                </a:extLst>
              </a:tr>
              <a:tr h="219301">
                <a:tc>
                  <a:txBody>
                    <a:bodyPr/>
                    <a:lstStyle/>
                    <a:p>
                      <a:r>
                        <a:rPr lang="en-US" sz="1000" u="none" strike="noStrike" kern="1200" baseline="0" dirty="0">
                          <a:latin typeface="Arial" panose="020B0604020202020204" pitchFamily="34" charset="0"/>
                          <a:cs typeface="Arial" panose="020B0604020202020204" pitchFamily="34" charset="0"/>
                        </a:rPr>
                        <a:t>Turkey</a:t>
                      </a:r>
                      <a:endParaRPr lang="en-US" sz="1000" dirty="0">
                        <a:latin typeface="Arial" panose="020B0604020202020204" pitchFamily="34" charset="0"/>
                        <a:cs typeface="Arial" panose="020B0604020202020204" pitchFamily="34" charset="0"/>
                      </a:endParaRPr>
                    </a:p>
                  </a:txBody>
                  <a:tcPr/>
                </a:tc>
                <a:tc>
                  <a:txBody>
                    <a:bodyPr/>
                    <a:lstStyle/>
                    <a:p>
                      <a:pPr algn="ctr"/>
                      <a:r>
                        <a:rPr lang="en-US" sz="1000" u="none" strike="noStrike" kern="1200" baseline="0" dirty="0">
                          <a:latin typeface="Arial" panose="020B0604020202020204" pitchFamily="34" charset="0"/>
                          <a:cs typeface="Arial" panose="020B0604020202020204" pitchFamily="34" charset="0"/>
                        </a:rPr>
                        <a:t>9.7</a:t>
                      </a:r>
                      <a:endParaRPr lang="en-US" sz="1000" dirty="0">
                        <a:latin typeface="Arial" panose="020B0604020202020204" pitchFamily="34" charset="0"/>
                        <a:cs typeface="Arial" panose="020B0604020202020204" pitchFamily="34" charset="0"/>
                      </a:endParaRPr>
                    </a:p>
                  </a:txBody>
                  <a:tcPr/>
                </a:tc>
                <a:tc>
                  <a:txBody>
                    <a:bodyPr/>
                    <a:lstStyle/>
                    <a:p>
                      <a:r>
                        <a:rPr lang="en-US" sz="1000" u="none" strike="noStrike" kern="1200" baseline="0" dirty="0">
                          <a:latin typeface="Arial" panose="020B0604020202020204" pitchFamily="34" charset="0"/>
                          <a:cs typeface="Arial" panose="020B0604020202020204" pitchFamily="34" charset="0"/>
                        </a:rPr>
                        <a:t>June 21, 2018</a:t>
                      </a:r>
                      <a:endParaRPr lang="en-US" sz="1000" dirty="0">
                        <a:latin typeface="Arial" panose="020B0604020202020204" pitchFamily="34" charset="0"/>
                        <a:cs typeface="Arial" panose="020B0604020202020204" pitchFamily="34" charset="0"/>
                      </a:endParaRPr>
                    </a:p>
                  </a:txBody>
                  <a:tcPr/>
                </a:tc>
                <a:tc>
                  <a:txBody>
                    <a:bodyPr/>
                    <a:lstStyle/>
                    <a:p>
                      <a:pPr algn="ctr"/>
                      <a:r>
                        <a:rPr lang="en-US" sz="1000" u="none" strike="noStrike" kern="1200" baseline="0" dirty="0">
                          <a:latin typeface="Arial" panose="020B0604020202020204" pitchFamily="34" charset="0"/>
                          <a:cs typeface="Arial" panose="020B0604020202020204" pitchFamily="34" charset="0"/>
                        </a:rPr>
                        <a:t>31.8</a:t>
                      </a:r>
                      <a:endParaRPr lang="en-US" sz="1000" dirty="0">
                        <a:latin typeface="Arial" panose="020B0604020202020204" pitchFamily="34" charset="0"/>
                        <a:cs typeface="Arial" panose="020B0604020202020204" pitchFamily="34" charset="0"/>
                      </a:endParaRPr>
                    </a:p>
                  </a:txBody>
                  <a:tcPr/>
                </a:tc>
                <a:tc>
                  <a:txBody>
                    <a:bodyPr/>
                    <a:lstStyle/>
                    <a:p>
                      <a:r>
                        <a:rPr lang="en-US" sz="1000" u="none" strike="noStrike" kern="1200" baseline="0" dirty="0">
                          <a:latin typeface="Arial" panose="020B0604020202020204" pitchFamily="34" charset="0"/>
                          <a:cs typeface="Arial" panose="020B0604020202020204" pitchFamily="34" charset="0"/>
                        </a:rPr>
                        <a:t>Steel, aluminum</a:t>
                      </a:r>
                      <a:endParaRPr lang="en-US" sz="10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3575181"/>
                  </a:ext>
                </a:extLst>
              </a:tr>
              <a:tr h="219301">
                <a:tc>
                  <a:txBody>
                    <a:bodyPr/>
                    <a:lstStyle/>
                    <a:p>
                      <a:r>
                        <a:rPr lang="en-US" sz="1000" u="none" strike="noStrike" kern="1200" baseline="0" dirty="0">
                          <a:latin typeface="Arial" panose="020B0604020202020204" pitchFamily="34" charset="0"/>
                          <a:cs typeface="Arial" panose="020B0604020202020204" pitchFamily="34" charset="0"/>
                        </a:rPr>
                        <a:t>European Union</a:t>
                      </a:r>
                      <a:endParaRPr lang="en-US" sz="1000" dirty="0">
                        <a:latin typeface="Arial" panose="020B0604020202020204" pitchFamily="34" charset="0"/>
                        <a:cs typeface="Arial" panose="020B0604020202020204" pitchFamily="34" charset="0"/>
                      </a:endParaRPr>
                    </a:p>
                  </a:txBody>
                  <a:tcPr/>
                </a:tc>
                <a:tc>
                  <a:txBody>
                    <a:bodyPr/>
                    <a:lstStyle/>
                    <a:p>
                      <a:pPr algn="ctr"/>
                      <a:r>
                        <a:rPr lang="en-US" sz="1000" u="none" strike="noStrike" kern="1200" baseline="0" dirty="0">
                          <a:latin typeface="Arial" panose="020B0604020202020204" pitchFamily="34" charset="0"/>
                          <a:cs typeface="Arial" panose="020B0604020202020204" pitchFamily="34" charset="0"/>
                        </a:rPr>
                        <a:t>3.9</a:t>
                      </a:r>
                      <a:endParaRPr lang="en-US" sz="1000" dirty="0">
                        <a:latin typeface="Arial" panose="020B0604020202020204" pitchFamily="34" charset="0"/>
                        <a:cs typeface="Arial" panose="020B0604020202020204" pitchFamily="34" charset="0"/>
                      </a:endParaRPr>
                    </a:p>
                  </a:txBody>
                  <a:tcPr/>
                </a:tc>
                <a:tc>
                  <a:txBody>
                    <a:bodyPr/>
                    <a:lstStyle/>
                    <a:p>
                      <a:r>
                        <a:rPr lang="en-US" sz="1000" u="none" strike="noStrike" kern="1200" baseline="0" dirty="0">
                          <a:latin typeface="Arial" panose="020B0604020202020204" pitchFamily="34" charset="0"/>
                          <a:cs typeface="Arial" panose="020B0604020202020204" pitchFamily="34" charset="0"/>
                        </a:rPr>
                        <a:t>June 22, 2018</a:t>
                      </a:r>
                      <a:endParaRPr lang="en-US" sz="1000" dirty="0">
                        <a:latin typeface="Arial" panose="020B0604020202020204" pitchFamily="34" charset="0"/>
                        <a:cs typeface="Arial" panose="020B0604020202020204" pitchFamily="34" charset="0"/>
                      </a:endParaRPr>
                    </a:p>
                  </a:txBody>
                  <a:tcPr/>
                </a:tc>
                <a:tc>
                  <a:txBody>
                    <a:bodyPr/>
                    <a:lstStyle/>
                    <a:p>
                      <a:pPr algn="ctr"/>
                      <a:r>
                        <a:rPr lang="en-US" sz="1000" u="none" strike="noStrike" kern="1200" baseline="0" dirty="0">
                          <a:latin typeface="Arial" panose="020B0604020202020204" pitchFamily="34" charset="0"/>
                          <a:cs typeface="Arial" panose="020B0604020202020204" pitchFamily="34" charset="0"/>
                        </a:rPr>
                        <a:t>29.2</a:t>
                      </a:r>
                      <a:endParaRPr lang="en-US" sz="1000" dirty="0">
                        <a:latin typeface="Arial" panose="020B0604020202020204" pitchFamily="34" charset="0"/>
                        <a:cs typeface="Arial" panose="020B0604020202020204" pitchFamily="34" charset="0"/>
                      </a:endParaRPr>
                    </a:p>
                  </a:txBody>
                  <a:tcPr/>
                </a:tc>
                <a:tc>
                  <a:txBody>
                    <a:bodyPr/>
                    <a:lstStyle/>
                    <a:p>
                      <a:r>
                        <a:rPr lang="en-US" sz="1000" u="none" strike="noStrike" kern="1200" baseline="0" dirty="0">
                          <a:latin typeface="Arial" panose="020B0604020202020204" pitchFamily="34" charset="0"/>
                          <a:cs typeface="Arial" panose="020B0604020202020204" pitchFamily="34" charset="0"/>
                        </a:rPr>
                        <a:t>Steel, aluminum</a:t>
                      </a:r>
                      <a:endParaRPr lang="en-US" sz="10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44323539"/>
                  </a:ext>
                </a:extLst>
              </a:tr>
              <a:tr h="219301">
                <a:tc>
                  <a:txBody>
                    <a:bodyPr/>
                    <a:lstStyle/>
                    <a:p>
                      <a:r>
                        <a:rPr lang="en-US" sz="1000" u="none" strike="noStrike" kern="1200" baseline="0" dirty="0">
                          <a:latin typeface="Arial" panose="020B0604020202020204" pitchFamily="34" charset="0"/>
                          <a:cs typeface="Arial" panose="020B0604020202020204" pitchFamily="34" charset="0"/>
                        </a:rPr>
                        <a:t>Canada</a:t>
                      </a:r>
                      <a:endParaRPr lang="en-US" sz="1000" dirty="0">
                        <a:latin typeface="Arial" panose="020B0604020202020204" pitchFamily="34" charset="0"/>
                        <a:cs typeface="Arial" panose="020B0604020202020204" pitchFamily="34" charset="0"/>
                      </a:endParaRPr>
                    </a:p>
                  </a:txBody>
                  <a:tcPr/>
                </a:tc>
                <a:tc>
                  <a:txBody>
                    <a:bodyPr/>
                    <a:lstStyle/>
                    <a:p>
                      <a:pPr algn="ctr"/>
                      <a:r>
                        <a:rPr lang="en-US" sz="1000" u="none" strike="noStrike" kern="1200" baseline="0" dirty="0">
                          <a:latin typeface="Arial" panose="020B0604020202020204" pitchFamily="34" charset="0"/>
                          <a:cs typeface="Arial" panose="020B0604020202020204" pitchFamily="34" charset="0"/>
                        </a:rPr>
                        <a:t>2.1</a:t>
                      </a:r>
                      <a:endParaRPr lang="en-US" sz="1000" dirty="0">
                        <a:latin typeface="Arial" panose="020B0604020202020204" pitchFamily="34" charset="0"/>
                        <a:cs typeface="Arial" panose="020B0604020202020204" pitchFamily="34" charset="0"/>
                      </a:endParaRPr>
                    </a:p>
                  </a:txBody>
                  <a:tcPr/>
                </a:tc>
                <a:tc>
                  <a:txBody>
                    <a:bodyPr/>
                    <a:lstStyle/>
                    <a:p>
                      <a:r>
                        <a:rPr lang="en-US" sz="1000" u="none" strike="noStrike" kern="1200" baseline="0" dirty="0">
                          <a:latin typeface="Arial" panose="020B0604020202020204" pitchFamily="34" charset="0"/>
                          <a:cs typeface="Arial" panose="020B0604020202020204" pitchFamily="34" charset="0"/>
                        </a:rPr>
                        <a:t>July 1, 2018</a:t>
                      </a:r>
                      <a:endParaRPr lang="en-US" sz="1000" dirty="0">
                        <a:latin typeface="Arial" panose="020B0604020202020204" pitchFamily="34" charset="0"/>
                        <a:cs typeface="Arial" panose="020B0604020202020204" pitchFamily="34" charset="0"/>
                      </a:endParaRPr>
                    </a:p>
                  </a:txBody>
                  <a:tcPr/>
                </a:tc>
                <a:tc>
                  <a:txBody>
                    <a:bodyPr/>
                    <a:lstStyle/>
                    <a:p>
                      <a:pPr algn="ctr"/>
                      <a:r>
                        <a:rPr lang="en-US" sz="1000" u="none" strike="noStrike" kern="1200" baseline="0" dirty="0">
                          <a:latin typeface="Arial" panose="020B0604020202020204" pitchFamily="34" charset="0"/>
                          <a:cs typeface="Arial" panose="020B0604020202020204" pitchFamily="34" charset="0"/>
                        </a:rPr>
                        <a:t>20.2</a:t>
                      </a:r>
                      <a:endParaRPr lang="en-US" sz="1000" dirty="0">
                        <a:latin typeface="Arial" panose="020B0604020202020204" pitchFamily="34" charset="0"/>
                        <a:cs typeface="Arial" panose="020B0604020202020204" pitchFamily="34" charset="0"/>
                      </a:endParaRPr>
                    </a:p>
                  </a:txBody>
                  <a:tcPr/>
                </a:tc>
                <a:tc>
                  <a:txBody>
                    <a:bodyPr/>
                    <a:lstStyle/>
                    <a:p>
                      <a:r>
                        <a:rPr lang="en-US" sz="1000" u="none" strike="noStrike" kern="1200" baseline="0" dirty="0">
                          <a:latin typeface="Arial" panose="020B0604020202020204" pitchFamily="34" charset="0"/>
                          <a:cs typeface="Arial" panose="020B0604020202020204" pitchFamily="34" charset="0"/>
                        </a:rPr>
                        <a:t>Steel, aluminum</a:t>
                      </a:r>
                      <a:endParaRPr lang="en-US" sz="10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847598555"/>
                  </a:ext>
                </a:extLst>
              </a:tr>
              <a:tr h="219301">
                <a:tc>
                  <a:txBody>
                    <a:bodyPr/>
                    <a:lstStyle/>
                    <a:p>
                      <a:r>
                        <a:rPr lang="en-US" sz="1000" u="none" strike="noStrike" kern="1200" baseline="0" dirty="0">
                          <a:latin typeface="Arial" panose="020B0604020202020204" pitchFamily="34" charset="0"/>
                          <a:cs typeface="Arial" panose="020B0604020202020204" pitchFamily="34" charset="0"/>
                        </a:rPr>
                        <a:t>Russia</a:t>
                      </a:r>
                      <a:endParaRPr lang="en-US" sz="1000" dirty="0">
                        <a:latin typeface="Arial" panose="020B0604020202020204" pitchFamily="34" charset="0"/>
                        <a:cs typeface="Arial" panose="020B0604020202020204" pitchFamily="34" charset="0"/>
                      </a:endParaRPr>
                    </a:p>
                  </a:txBody>
                  <a:tcPr/>
                </a:tc>
                <a:tc>
                  <a:txBody>
                    <a:bodyPr/>
                    <a:lstStyle/>
                    <a:p>
                      <a:pPr algn="ctr"/>
                      <a:r>
                        <a:rPr lang="en-US" sz="1000" u="none" strike="noStrike" kern="1200" baseline="0" dirty="0">
                          <a:latin typeface="Arial" panose="020B0604020202020204" pitchFamily="34" charset="0"/>
                          <a:cs typeface="Arial" panose="020B0604020202020204" pitchFamily="34" charset="0"/>
                        </a:rPr>
                        <a:t>5.2</a:t>
                      </a:r>
                      <a:endParaRPr lang="en-US" sz="1000" dirty="0">
                        <a:latin typeface="Arial" panose="020B0604020202020204" pitchFamily="34" charset="0"/>
                        <a:cs typeface="Arial" panose="020B0604020202020204" pitchFamily="34" charset="0"/>
                      </a:endParaRPr>
                    </a:p>
                  </a:txBody>
                  <a:tcPr/>
                </a:tc>
                <a:tc>
                  <a:txBody>
                    <a:bodyPr/>
                    <a:lstStyle/>
                    <a:p>
                      <a:r>
                        <a:rPr lang="en-US" sz="1000" u="none" strike="noStrike" kern="1200" baseline="0" dirty="0">
                          <a:latin typeface="Arial" panose="020B0604020202020204" pitchFamily="34" charset="0"/>
                          <a:cs typeface="Arial" panose="020B0604020202020204" pitchFamily="34" charset="0"/>
                        </a:rPr>
                        <a:t>August 6, 2018</a:t>
                      </a:r>
                      <a:endParaRPr lang="en-US" sz="1000" dirty="0">
                        <a:latin typeface="Arial" panose="020B0604020202020204" pitchFamily="34" charset="0"/>
                        <a:cs typeface="Arial" panose="020B0604020202020204" pitchFamily="34" charset="0"/>
                      </a:endParaRPr>
                    </a:p>
                  </a:txBody>
                  <a:tcPr/>
                </a:tc>
                <a:tc>
                  <a:txBody>
                    <a:bodyPr/>
                    <a:lstStyle/>
                    <a:p>
                      <a:pPr algn="ctr"/>
                      <a:r>
                        <a:rPr lang="en-US" sz="1000" u="none" strike="noStrike" kern="1200" baseline="0" dirty="0">
                          <a:latin typeface="Arial" panose="020B0604020202020204" pitchFamily="34" charset="0"/>
                          <a:cs typeface="Arial" panose="020B0604020202020204" pitchFamily="34" charset="0"/>
                        </a:rPr>
                        <a:t>36.8</a:t>
                      </a:r>
                      <a:endParaRPr lang="en-US" sz="1000" dirty="0">
                        <a:latin typeface="Arial" panose="020B0604020202020204" pitchFamily="34" charset="0"/>
                        <a:cs typeface="Arial" panose="020B0604020202020204" pitchFamily="34" charset="0"/>
                      </a:endParaRPr>
                    </a:p>
                  </a:txBody>
                  <a:tcPr/>
                </a:tc>
                <a:tc>
                  <a:txBody>
                    <a:bodyPr/>
                    <a:lstStyle/>
                    <a:p>
                      <a:r>
                        <a:rPr lang="en-US" sz="1000" u="none" strike="noStrike" kern="1200" baseline="0" dirty="0">
                          <a:latin typeface="Arial" panose="020B0604020202020204" pitchFamily="34" charset="0"/>
                          <a:cs typeface="Arial" panose="020B0604020202020204" pitchFamily="34" charset="0"/>
                        </a:rPr>
                        <a:t>Steel, aluminum</a:t>
                      </a:r>
                      <a:endParaRPr lang="en-US" sz="10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707374490"/>
                  </a:ext>
                </a:extLst>
              </a:tr>
              <a:tr h="291846">
                <a:tc>
                  <a:txBody>
                    <a:bodyPr/>
                    <a:lstStyle/>
                    <a:p>
                      <a:r>
                        <a:rPr lang="en-US" sz="1000" u="none" strike="noStrike" kern="1200" baseline="0" dirty="0">
                          <a:latin typeface="Arial" panose="020B0604020202020204" pitchFamily="34" charset="0"/>
                          <a:cs typeface="Arial" panose="020B0604020202020204" pitchFamily="34" charset="0"/>
                        </a:rPr>
                        <a:t>India</a:t>
                      </a:r>
                      <a:endParaRPr lang="en-US" sz="1000" dirty="0">
                        <a:latin typeface="Arial" panose="020B0604020202020204" pitchFamily="34" charset="0"/>
                        <a:cs typeface="Arial" panose="020B0604020202020204" pitchFamily="34" charset="0"/>
                      </a:endParaRPr>
                    </a:p>
                  </a:txBody>
                  <a:tcPr/>
                </a:tc>
                <a:tc>
                  <a:txBody>
                    <a:bodyPr/>
                    <a:lstStyle/>
                    <a:p>
                      <a:pPr algn="ctr"/>
                      <a:r>
                        <a:rPr lang="en-US" sz="1000" u="none" strike="noStrike" kern="1200" baseline="0" dirty="0" err="1">
                          <a:latin typeface="Arial" panose="020B0604020202020204" pitchFamily="34" charset="0"/>
                          <a:cs typeface="Arial" panose="020B0604020202020204" pitchFamily="34" charset="0"/>
                        </a:rPr>
                        <a:t>n.a.</a:t>
                      </a:r>
                      <a:endParaRPr lang="en-US" sz="1000" dirty="0">
                        <a:latin typeface="Arial" panose="020B0604020202020204" pitchFamily="34" charset="0"/>
                        <a:cs typeface="Arial" panose="020B0604020202020204" pitchFamily="34" charset="0"/>
                      </a:endParaRPr>
                    </a:p>
                  </a:txBody>
                  <a:tcPr/>
                </a:tc>
                <a:tc>
                  <a:txBody>
                    <a:bodyPr/>
                    <a:lstStyle/>
                    <a:p>
                      <a:r>
                        <a:rPr lang="en-US" sz="1000" u="none" strike="noStrike" kern="1200" baseline="0" dirty="0">
                          <a:latin typeface="Arial" panose="020B0604020202020204" pitchFamily="34" charset="0"/>
                          <a:cs typeface="Arial" panose="020B0604020202020204" pitchFamily="34" charset="0"/>
                        </a:rPr>
                        <a:t>June 15, 2019</a:t>
                      </a:r>
                      <a:endParaRPr lang="en-US" sz="1000" dirty="0">
                        <a:latin typeface="Arial" panose="020B0604020202020204" pitchFamily="34" charset="0"/>
                        <a:cs typeface="Arial" panose="020B0604020202020204" pitchFamily="34" charset="0"/>
                      </a:endParaRPr>
                    </a:p>
                  </a:txBody>
                  <a:tcPr/>
                </a:tc>
                <a:tc>
                  <a:txBody>
                    <a:bodyPr/>
                    <a:lstStyle/>
                    <a:p>
                      <a:pPr algn="ctr"/>
                      <a:r>
                        <a:rPr lang="en-US" sz="1000" u="none" strike="noStrike" kern="1200" baseline="0" dirty="0">
                          <a:latin typeface="Arial" panose="020B0604020202020204" pitchFamily="34" charset="0"/>
                          <a:cs typeface="Arial" panose="020B0604020202020204" pitchFamily="34" charset="0"/>
                        </a:rPr>
                        <a:t>10–70</a:t>
                      </a:r>
                      <a:endParaRPr lang="en-US" sz="1000" dirty="0">
                        <a:latin typeface="Arial" panose="020B0604020202020204" pitchFamily="34" charset="0"/>
                        <a:cs typeface="Arial" panose="020B0604020202020204" pitchFamily="34" charset="0"/>
                      </a:endParaRPr>
                    </a:p>
                  </a:txBody>
                  <a:tcPr/>
                </a:tc>
                <a:tc>
                  <a:txBody>
                    <a:bodyPr/>
                    <a:lstStyle/>
                    <a:p>
                      <a:r>
                        <a:rPr lang="en-US" sz="1000" u="none" strike="noStrike" kern="1200" baseline="0" dirty="0">
                          <a:latin typeface="Arial" panose="020B0604020202020204" pitchFamily="34" charset="0"/>
                          <a:cs typeface="Arial" panose="020B0604020202020204" pitchFamily="34" charset="0"/>
                        </a:rPr>
                        <a:t>Steel, aluminum</a:t>
                      </a:r>
                      <a:endParaRPr lang="en-US" sz="10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812222754"/>
                  </a:ext>
                </a:extLst>
              </a:tr>
            </a:tbl>
          </a:graphicData>
        </a:graphic>
      </p:graphicFrame>
      <p:graphicFrame>
        <p:nvGraphicFramePr>
          <p:cNvPr id="13" name="Table 8">
            <a:extLst>
              <a:ext uri="{FF2B5EF4-FFF2-40B4-BE49-F238E27FC236}">
                <a16:creationId xmlns:a16="http://schemas.microsoft.com/office/drawing/2014/main" id="{8F208F24-87DD-4871-8997-72787B3AB27F}"/>
              </a:ext>
            </a:extLst>
          </p:cNvPr>
          <p:cNvGraphicFramePr>
            <a:graphicFrameLocks noGrp="1"/>
          </p:cNvGraphicFramePr>
          <p:nvPr>
            <p:ph type="tbl" sz="quarter" idx="14"/>
            <p:extLst>
              <p:ext uri="{D42A27DB-BD31-4B8C-83A1-F6EECF244321}">
                <p14:modId xmlns:p14="http://schemas.microsoft.com/office/powerpoint/2010/main" val="3613750102"/>
              </p:ext>
            </p:extLst>
          </p:nvPr>
        </p:nvGraphicFramePr>
        <p:xfrm>
          <a:off x="2057400" y="1627414"/>
          <a:ext cx="6958102" cy="1707844"/>
        </p:xfrm>
        <a:graphic>
          <a:graphicData uri="http://schemas.openxmlformats.org/drawingml/2006/table">
            <a:tbl>
              <a:tblPr firstRow="1" bandRow="1"/>
              <a:tblGrid>
                <a:gridCol w="1762443">
                  <a:extLst>
                    <a:ext uri="{9D8B030D-6E8A-4147-A177-3AD203B41FA5}">
                      <a16:colId xmlns:a16="http://schemas.microsoft.com/office/drawing/2014/main" val="1464569718"/>
                    </a:ext>
                  </a:extLst>
                </a:gridCol>
                <a:gridCol w="776059">
                  <a:extLst>
                    <a:ext uri="{9D8B030D-6E8A-4147-A177-3AD203B41FA5}">
                      <a16:colId xmlns:a16="http://schemas.microsoft.com/office/drawing/2014/main" val="3315003622"/>
                    </a:ext>
                  </a:extLst>
                </a:gridCol>
                <a:gridCol w="1905000">
                  <a:extLst>
                    <a:ext uri="{9D8B030D-6E8A-4147-A177-3AD203B41FA5}">
                      <a16:colId xmlns:a16="http://schemas.microsoft.com/office/drawing/2014/main" val="2387203308"/>
                    </a:ext>
                  </a:extLst>
                </a:gridCol>
                <a:gridCol w="1524000">
                  <a:extLst>
                    <a:ext uri="{9D8B030D-6E8A-4147-A177-3AD203B41FA5}">
                      <a16:colId xmlns:a16="http://schemas.microsoft.com/office/drawing/2014/main" val="3984922573"/>
                    </a:ext>
                  </a:extLst>
                </a:gridCol>
                <a:gridCol w="990600">
                  <a:extLst>
                    <a:ext uri="{9D8B030D-6E8A-4147-A177-3AD203B41FA5}">
                      <a16:colId xmlns:a16="http://schemas.microsoft.com/office/drawing/2014/main" val="3452401501"/>
                    </a:ext>
                  </a:extLst>
                </a:gridCol>
              </a:tblGrid>
              <a:tr h="344774">
                <a:tc>
                  <a:txBody>
                    <a:bodyPr/>
                    <a:lstStyle/>
                    <a:p>
                      <a:pPr algn="ctr"/>
                      <a:r>
                        <a:rPr lang="en-US" sz="1050" b="1" u="none" strike="noStrike" kern="1200" baseline="0" dirty="0">
                          <a:latin typeface="Arial" panose="020B0604020202020204" pitchFamily="34" charset="0"/>
                          <a:cs typeface="Arial" panose="020B0604020202020204" pitchFamily="34" charset="0"/>
                        </a:rPr>
                        <a:t>Product or Country</a:t>
                      </a:r>
                      <a:endParaRPr lang="en-US" sz="1050" b="1" dirty="0">
                        <a:latin typeface="Arial" panose="020B0604020202020204" pitchFamily="34" charset="0"/>
                        <a:cs typeface="Arial" panose="020B0604020202020204" pitchFamily="34" charset="0"/>
                      </a:endParaRPr>
                    </a:p>
                  </a:txBody>
                  <a:tcPr/>
                </a:tc>
                <a:tc>
                  <a:txBody>
                    <a:bodyPr/>
                    <a:lstStyle/>
                    <a:p>
                      <a:pPr algn="ctr"/>
                      <a:r>
                        <a:rPr lang="en-US" sz="1050" b="1" u="none" strike="noStrike" kern="1200" baseline="0" dirty="0">
                          <a:latin typeface="Arial" panose="020B0604020202020204" pitchFamily="34" charset="0"/>
                          <a:cs typeface="Arial" panose="020B0604020202020204" pitchFamily="34" charset="0"/>
                        </a:rPr>
                        <a:t>2017 Tariff (%)</a:t>
                      </a:r>
                      <a:endParaRPr lang="en-US" sz="1050" b="1" dirty="0">
                        <a:latin typeface="Arial" panose="020B0604020202020204" pitchFamily="34" charset="0"/>
                        <a:cs typeface="Arial" panose="020B0604020202020204" pitchFamily="34" charset="0"/>
                      </a:endParaRPr>
                    </a:p>
                  </a:txBody>
                  <a:tcPr/>
                </a:tc>
                <a:tc>
                  <a:txBody>
                    <a:bodyPr/>
                    <a:lstStyle/>
                    <a:p>
                      <a:pPr algn="ctr"/>
                      <a:r>
                        <a:rPr lang="en-US" sz="1050" b="1" u="none" strike="noStrike" kern="1200" baseline="0" dirty="0">
                          <a:latin typeface="Arial" panose="020B0604020202020204" pitchFamily="34" charset="0"/>
                          <a:cs typeface="Arial" panose="020B0604020202020204" pitchFamily="34" charset="0"/>
                        </a:rPr>
                        <a:t>First Date of Tariff*</a:t>
                      </a:r>
                      <a:endParaRPr lang="en-US" sz="1050" b="1" dirty="0">
                        <a:latin typeface="Arial" panose="020B0604020202020204" pitchFamily="34" charset="0"/>
                        <a:cs typeface="Arial" panose="020B0604020202020204" pitchFamily="34" charset="0"/>
                      </a:endParaRPr>
                    </a:p>
                  </a:txBody>
                  <a:tcPr/>
                </a:tc>
                <a:tc>
                  <a:txBody>
                    <a:bodyPr/>
                    <a:lstStyle/>
                    <a:p>
                      <a:pPr algn="ctr"/>
                      <a:r>
                        <a:rPr lang="en-US" sz="1050" b="1" u="none" strike="noStrike" kern="1200" baseline="0" dirty="0">
                          <a:latin typeface="Arial" panose="020B0604020202020204" pitchFamily="34" charset="0"/>
                          <a:cs typeface="Arial" panose="020B0604020202020204" pitchFamily="34" charset="0"/>
                        </a:rPr>
                        <a:t>2018 or 2019 Tariff** (%)</a:t>
                      </a:r>
                      <a:endParaRPr lang="en-US" sz="1050" b="1" dirty="0">
                        <a:latin typeface="Arial" panose="020B0604020202020204" pitchFamily="34" charset="0"/>
                        <a:cs typeface="Arial" panose="020B0604020202020204" pitchFamily="34" charset="0"/>
                      </a:endParaRPr>
                    </a:p>
                  </a:txBody>
                  <a:tcPr/>
                </a:tc>
                <a:tc>
                  <a:txBody>
                    <a:bodyPr/>
                    <a:lstStyle/>
                    <a:p>
                      <a:pPr algn="ctr"/>
                      <a:r>
                        <a:rPr lang="en-US" sz="1050" b="1" u="none" strike="noStrike" kern="1200" baseline="0" dirty="0">
                          <a:latin typeface="Arial" panose="020B0604020202020204" pitchFamily="34" charset="0"/>
                          <a:cs typeface="Arial" panose="020B0604020202020204" pitchFamily="34" charset="0"/>
                        </a:rPr>
                        <a:t>Trade Law</a:t>
                      </a:r>
                      <a:endParaRPr lang="en-US" sz="1050" b="1"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067911395"/>
                  </a:ext>
                </a:extLst>
              </a:tr>
              <a:tr h="220574">
                <a:tc>
                  <a:txBody>
                    <a:bodyPr/>
                    <a:lstStyle/>
                    <a:p>
                      <a:r>
                        <a:rPr lang="en-US" sz="1050" u="none" strike="noStrike" kern="1200" baseline="0" dirty="0">
                          <a:latin typeface="Arial" panose="020B0604020202020204" pitchFamily="34" charset="0"/>
                          <a:cs typeface="Arial" panose="020B0604020202020204" pitchFamily="34" charset="0"/>
                        </a:rPr>
                        <a:t>Washing machines</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1.3</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February 7, 2018</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20–50</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Section 201</a:t>
                      </a:r>
                      <a:endParaRPr lang="en-US" sz="105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235356943"/>
                  </a:ext>
                </a:extLst>
              </a:tr>
              <a:tr h="220574">
                <a:tc>
                  <a:txBody>
                    <a:bodyPr/>
                    <a:lstStyle/>
                    <a:p>
                      <a:r>
                        <a:rPr lang="en-US" sz="1050" u="none" strike="noStrike" kern="1200" baseline="0" dirty="0">
                          <a:latin typeface="Arial" panose="020B0604020202020204" pitchFamily="34" charset="0"/>
                          <a:cs typeface="Arial" panose="020B0604020202020204" pitchFamily="34" charset="0"/>
                        </a:rPr>
                        <a:t>Solar panels</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0</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February 7, 2018</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30</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Section 201</a:t>
                      </a:r>
                      <a:endParaRPr lang="en-US" sz="105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906371699"/>
                  </a:ext>
                </a:extLst>
              </a:tr>
              <a:tr h="220574">
                <a:tc>
                  <a:txBody>
                    <a:bodyPr/>
                    <a:lstStyle/>
                    <a:p>
                      <a:r>
                        <a:rPr lang="en-US" sz="1050" u="none" strike="noStrike" kern="1200" baseline="0" dirty="0">
                          <a:latin typeface="Arial" panose="020B0604020202020204" pitchFamily="34" charset="0"/>
                          <a:cs typeface="Arial" panose="020B0604020202020204" pitchFamily="34" charset="0"/>
                        </a:rPr>
                        <a:t>Steel</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0</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March–June, 2018</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25</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Section 232</a:t>
                      </a:r>
                      <a:endParaRPr lang="en-US" sz="105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729708463"/>
                  </a:ext>
                </a:extLst>
              </a:tr>
              <a:tr h="220574">
                <a:tc>
                  <a:txBody>
                    <a:bodyPr/>
                    <a:lstStyle/>
                    <a:p>
                      <a:r>
                        <a:rPr lang="en-US" sz="1050" u="none" strike="noStrike" kern="1200" baseline="0" dirty="0">
                          <a:latin typeface="Arial" panose="020B0604020202020204" pitchFamily="34" charset="0"/>
                          <a:cs typeface="Arial" panose="020B0604020202020204" pitchFamily="34" charset="0"/>
                        </a:rPr>
                        <a:t>Aluminum</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2</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March–June, 2018</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12</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Section 232</a:t>
                      </a:r>
                      <a:endParaRPr lang="en-US" sz="105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762701387"/>
                  </a:ext>
                </a:extLst>
              </a:tr>
              <a:tr h="290524">
                <a:tc>
                  <a:txBody>
                    <a:bodyPr/>
                    <a:lstStyle/>
                    <a:p>
                      <a:r>
                        <a:rPr lang="en-US" sz="1050" u="none" strike="noStrike" kern="1200" baseline="0" dirty="0">
                          <a:latin typeface="Arial" panose="020B0604020202020204" pitchFamily="34" charset="0"/>
                          <a:cs typeface="Arial" panose="020B0604020202020204" pitchFamily="34" charset="0"/>
                        </a:rPr>
                        <a:t>China (many products)</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1.2–3.4</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July 2018–October 2019</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13.4–26.2</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Section 301</a:t>
                      </a:r>
                      <a:endParaRPr lang="en-US" sz="105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899389711"/>
                  </a:ext>
                </a:extLst>
              </a:tr>
            </a:tbl>
          </a:graphicData>
        </a:graphic>
      </p:graphicFrame>
    </p:spTree>
    <p:extLst>
      <p:ext uri="{BB962C8B-B14F-4D97-AF65-F5344CB8AC3E}">
        <p14:creationId xmlns:p14="http://schemas.microsoft.com/office/powerpoint/2010/main" val="32141864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A949D5C-5083-442F-A861-B79469D380F4}"/>
              </a:ext>
            </a:extLst>
          </p:cNvPr>
          <p:cNvSpPr>
            <a:spLocks noGrp="1"/>
          </p:cNvSpPr>
          <p:nvPr>
            <p:ph type="title"/>
          </p:nvPr>
        </p:nvSpPr>
        <p:spPr/>
        <p:txBody>
          <a:bodyPr/>
          <a:lstStyle/>
          <a:p>
            <a:r>
              <a:rPr lang="en-US" dirty="0"/>
              <a:t>U.S. and Foreign Tariffs Under President Trump, 2018–19 (part 2)</a:t>
            </a:r>
            <a:endParaRPr lang="en-IN" dirty="0"/>
          </a:p>
        </p:txBody>
      </p:sp>
      <p:sp>
        <p:nvSpPr>
          <p:cNvPr id="5" name="Content Placeholder 4">
            <a:extLst>
              <a:ext uri="{FF2B5EF4-FFF2-40B4-BE49-F238E27FC236}">
                <a16:creationId xmlns:a16="http://schemas.microsoft.com/office/drawing/2014/main" id="{815F6072-CAB5-41BA-A0E6-80B5A23CA012}"/>
              </a:ext>
            </a:extLst>
          </p:cNvPr>
          <p:cNvSpPr>
            <a:spLocks noGrp="1"/>
          </p:cNvSpPr>
          <p:nvPr>
            <p:ph idx="1"/>
          </p:nvPr>
        </p:nvSpPr>
        <p:spPr>
          <a:xfrm>
            <a:off x="457200" y="1600200"/>
            <a:ext cx="8458200" cy="1143000"/>
          </a:xfrm>
        </p:spPr>
        <p:txBody>
          <a:bodyPr>
            <a:normAutofit/>
          </a:bodyPr>
          <a:lstStyle/>
          <a:p>
            <a:pPr marL="0" indent="0">
              <a:buNone/>
            </a:pPr>
            <a:r>
              <a:rPr lang="en-IN" sz="1400" dirty="0">
                <a:latin typeface="+mn-lt"/>
              </a:rPr>
              <a:t>TABLE 8-3</a:t>
            </a:r>
          </a:p>
          <a:p>
            <a:pPr marL="0" indent="0">
              <a:spcBef>
                <a:spcPct val="10000"/>
              </a:spcBef>
              <a:spcAft>
                <a:spcPct val="10000"/>
              </a:spcAft>
              <a:buNone/>
            </a:pPr>
            <a:r>
              <a:rPr lang="en-US" sz="1400" b="1" dirty="0">
                <a:latin typeface="+mn-lt"/>
                <a:cs typeface="Arial" panose="020B0604020202020204" pitchFamily="34" charset="0"/>
              </a:rPr>
              <a:t>Welfare Impact of 2018 and 2019 U.S. Tariffs</a:t>
            </a:r>
            <a:r>
              <a:rPr lang="en-US" sz="1400" dirty="0">
                <a:latin typeface="+mn-lt"/>
                <a:cs typeface="Arial" panose="020B0604020202020204" pitchFamily="34" charset="0"/>
              </a:rPr>
              <a:t> </a:t>
            </a:r>
            <a:r>
              <a:rPr lang="en-US" sz="1400" b="0" dirty="0">
                <a:latin typeface="+mn-lt"/>
                <a:cs typeface="Arial" panose="020B0604020202020204" pitchFamily="34" charset="0"/>
              </a:rPr>
              <a:t>Panel (a) shows the welfare impact of the 2018 U.S. tariffs, and the initial 10% tariffs applied to $200 billion of U.S. imports from China in September 2018. Panel (b) extends those results to include the increase in the U.S. tariffs on China during 2019.</a:t>
            </a:r>
          </a:p>
        </p:txBody>
      </p:sp>
      <p:graphicFrame>
        <p:nvGraphicFramePr>
          <p:cNvPr id="11" name="Content Placeholder 10">
            <a:extLst>
              <a:ext uri="{FF2B5EF4-FFF2-40B4-BE49-F238E27FC236}">
                <a16:creationId xmlns:a16="http://schemas.microsoft.com/office/drawing/2014/main" id="{7670F825-EE06-4698-8377-79F631D384F0}"/>
              </a:ext>
            </a:extLst>
          </p:cNvPr>
          <p:cNvGraphicFramePr>
            <a:graphicFrameLocks noGrp="1"/>
          </p:cNvGraphicFramePr>
          <p:nvPr>
            <p:ph sz="quarter" idx="10"/>
            <p:extLst>
              <p:ext uri="{D42A27DB-BD31-4B8C-83A1-F6EECF244321}">
                <p14:modId xmlns:p14="http://schemas.microsoft.com/office/powerpoint/2010/main" val="100521977"/>
              </p:ext>
            </p:extLst>
          </p:nvPr>
        </p:nvGraphicFramePr>
        <p:xfrm>
          <a:off x="1390904" y="4419600"/>
          <a:ext cx="6362193" cy="1280160"/>
        </p:xfrm>
        <a:graphic>
          <a:graphicData uri="http://schemas.openxmlformats.org/drawingml/2006/table">
            <a:tbl>
              <a:tblPr firstRow="1" bandRow="1"/>
              <a:tblGrid>
                <a:gridCol w="2251393">
                  <a:extLst>
                    <a:ext uri="{9D8B030D-6E8A-4147-A177-3AD203B41FA5}">
                      <a16:colId xmlns:a16="http://schemas.microsoft.com/office/drawing/2014/main" val="949196034"/>
                    </a:ext>
                  </a:extLst>
                </a:gridCol>
                <a:gridCol w="1757680">
                  <a:extLst>
                    <a:ext uri="{9D8B030D-6E8A-4147-A177-3AD203B41FA5}">
                      <a16:colId xmlns:a16="http://schemas.microsoft.com/office/drawing/2014/main" val="2903308668"/>
                    </a:ext>
                  </a:extLst>
                </a:gridCol>
                <a:gridCol w="1271715">
                  <a:extLst>
                    <a:ext uri="{9D8B030D-6E8A-4147-A177-3AD203B41FA5}">
                      <a16:colId xmlns:a16="http://schemas.microsoft.com/office/drawing/2014/main" val="779455412"/>
                    </a:ext>
                  </a:extLst>
                </a:gridCol>
                <a:gridCol w="1081405">
                  <a:extLst>
                    <a:ext uri="{9D8B030D-6E8A-4147-A177-3AD203B41FA5}">
                      <a16:colId xmlns:a16="http://schemas.microsoft.com/office/drawing/2014/main" val="3099616782"/>
                    </a:ext>
                  </a:extLst>
                </a:gridCol>
              </a:tblGrid>
              <a:tr h="168162">
                <a:tc>
                  <a:txBody>
                    <a:bodyPr/>
                    <a:lstStyle/>
                    <a:p>
                      <a:pPr algn="ctr"/>
                      <a:endParaRPr lang="en-US" sz="1200" b="1" dirty="0">
                        <a:latin typeface="Arial" panose="020B0604020202020204" pitchFamily="34" charset="0"/>
                        <a:cs typeface="Arial" panose="020B0604020202020204" pitchFamily="34" charset="0"/>
                      </a:endParaRPr>
                    </a:p>
                  </a:txBody>
                  <a:tcPr/>
                </a:tc>
                <a:tc>
                  <a:txBody>
                    <a:bodyPr/>
                    <a:lstStyle/>
                    <a:p>
                      <a:pPr algn="ctr"/>
                      <a:r>
                        <a:rPr lang="en-US" sz="1200" b="1" u="none" strike="noStrike" kern="1200" baseline="0" dirty="0">
                          <a:latin typeface="Arial" panose="020B0604020202020204" pitchFamily="34" charset="0"/>
                          <a:cs typeface="Arial" panose="020B0604020202020204" pitchFamily="34" charset="0"/>
                        </a:rPr>
                        <a:t>(1)</a:t>
                      </a:r>
                    </a:p>
                  </a:txBody>
                  <a:tcPr/>
                </a:tc>
                <a:tc>
                  <a:txBody>
                    <a:bodyPr/>
                    <a:lstStyle/>
                    <a:p>
                      <a:pPr algn="ctr"/>
                      <a:r>
                        <a:rPr lang="en-US" sz="1200" b="1" u="none" strike="noStrike" kern="1200" baseline="0" dirty="0">
                          <a:latin typeface="Arial" panose="020B0604020202020204" pitchFamily="34" charset="0"/>
                          <a:cs typeface="Arial" panose="020B0604020202020204" pitchFamily="34" charset="0"/>
                        </a:rPr>
                        <a:t>(2)</a:t>
                      </a:r>
                      <a:endParaRPr lang="en-US" sz="1200" b="1" dirty="0">
                        <a:latin typeface="Arial" panose="020B0604020202020204" pitchFamily="34" charset="0"/>
                        <a:cs typeface="Arial" panose="020B0604020202020204" pitchFamily="34" charset="0"/>
                      </a:endParaRPr>
                    </a:p>
                  </a:txBody>
                  <a:tcPr/>
                </a:tc>
                <a:tc>
                  <a:txBody>
                    <a:bodyPr/>
                    <a:lstStyle/>
                    <a:p>
                      <a:pPr algn="ctr"/>
                      <a:r>
                        <a:rPr lang="en-US" sz="1200" b="1" u="none" strike="noStrike" kern="1200" baseline="0" dirty="0">
                          <a:latin typeface="Arial" panose="020B0604020202020204" pitchFamily="34" charset="0"/>
                          <a:cs typeface="Arial" panose="020B0604020202020204" pitchFamily="34" charset="0"/>
                        </a:rPr>
                        <a:t>(3)</a:t>
                      </a:r>
                      <a:endParaRPr lang="en-US" sz="1200" b="1"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277751488"/>
                  </a:ext>
                </a:extLst>
              </a:tr>
              <a:tr h="370840">
                <a:tc>
                  <a:txBody>
                    <a:bodyPr/>
                    <a:lstStyle/>
                    <a:p>
                      <a:pPr algn="ctr"/>
                      <a:endParaRPr lang="en-US" sz="1200" b="1" dirty="0">
                        <a:latin typeface="Arial" panose="020B0604020202020204" pitchFamily="34" charset="0"/>
                        <a:cs typeface="Arial" panose="020B0604020202020204" pitchFamily="34" charset="0"/>
                      </a:endParaRPr>
                    </a:p>
                  </a:txBody>
                  <a:tcPr/>
                </a:tc>
                <a:tc>
                  <a:txBody>
                    <a:bodyPr/>
                    <a:lstStyle/>
                    <a:p>
                      <a:pPr algn="ctr"/>
                      <a:r>
                        <a:rPr lang="en-US" sz="1200" b="1" u="none" strike="noStrike" kern="1200" baseline="0" dirty="0">
                          <a:latin typeface="Arial" panose="020B0604020202020204" pitchFamily="34" charset="0"/>
                          <a:cs typeface="Arial" panose="020B0604020202020204" pitchFamily="34" charset="0"/>
                        </a:rPr>
                        <a:t>Consumer Loss from</a:t>
                      </a:r>
                    </a:p>
                    <a:p>
                      <a:pPr algn="ctr"/>
                      <a:r>
                        <a:rPr lang="en-US" sz="1200" b="1" u="none" strike="noStrike" kern="1200" baseline="0" dirty="0">
                          <a:latin typeface="Arial" panose="020B0604020202020204" pitchFamily="34" charset="0"/>
                          <a:cs typeface="Arial" panose="020B0604020202020204" pitchFamily="34" charset="0"/>
                        </a:rPr>
                        <a:t>Higher Import Prices</a:t>
                      </a:r>
                      <a:endParaRPr lang="en-US" sz="1200" b="1" dirty="0">
                        <a:latin typeface="Arial" panose="020B0604020202020204" pitchFamily="34" charset="0"/>
                        <a:cs typeface="Arial" panose="020B0604020202020204" pitchFamily="34" charset="0"/>
                      </a:endParaRPr>
                    </a:p>
                  </a:txBody>
                  <a:tcPr/>
                </a:tc>
                <a:tc>
                  <a:txBody>
                    <a:bodyPr/>
                    <a:lstStyle/>
                    <a:p>
                      <a:pPr algn="ctr"/>
                      <a:r>
                        <a:rPr lang="en-US" sz="1200" b="1" u="none" strike="noStrike" kern="1200" baseline="0" dirty="0">
                          <a:latin typeface="Arial" panose="020B0604020202020204" pitchFamily="34" charset="0"/>
                          <a:cs typeface="Arial" panose="020B0604020202020204" pitchFamily="34" charset="0"/>
                        </a:rPr>
                        <a:t>Tariff Revenue</a:t>
                      </a:r>
                      <a:endParaRPr lang="en-US" sz="1200" b="1" dirty="0">
                        <a:latin typeface="Arial" panose="020B0604020202020204" pitchFamily="34" charset="0"/>
                        <a:cs typeface="Arial" panose="020B0604020202020204" pitchFamily="34" charset="0"/>
                      </a:endParaRPr>
                    </a:p>
                  </a:txBody>
                  <a:tcPr/>
                </a:tc>
                <a:tc>
                  <a:txBody>
                    <a:bodyPr/>
                    <a:lstStyle/>
                    <a:p>
                      <a:pPr algn="ctr"/>
                      <a:r>
                        <a:rPr lang="en-US" sz="1200" b="1" u="none" strike="noStrike" kern="1200" baseline="0" dirty="0">
                          <a:latin typeface="Arial" panose="020B0604020202020204" pitchFamily="34" charset="0"/>
                          <a:cs typeface="Arial" panose="020B0604020202020204" pitchFamily="34" charset="0"/>
                        </a:rPr>
                        <a:t>Deadweight</a:t>
                      </a:r>
                    </a:p>
                    <a:p>
                      <a:pPr algn="ctr"/>
                      <a:r>
                        <a:rPr lang="en-US" sz="1200" b="1" u="none" strike="noStrike" kern="1200" baseline="0" dirty="0">
                          <a:latin typeface="Arial" panose="020B0604020202020204" pitchFamily="34" charset="0"/>
                          <a:cs typeface="Arial" panose="020B0604020202020204" pitchFamily="34" charset="0"/>
                        </a:rPr>
                        <a:t>Loss</a:t>
                      </a:r>
                      <a:endParaRPr lang="en-US" sz="1200" b="1"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831236741"/>
                  </a:ext>
                </a:extLst>
              </a:tr>
              <a:tr h="231951">
                <a:tc>
                  <a:txBody>
                    <a:bodyPr/>
                    <a:lstStyle/>
                    <a:p>
                      <a:r>
                        <a:rPr lang="en-US" sz="1200" u="none" strike="noStrike" kern="1200" baseline="0" dirty="0">
                          <a:latin typeface="Arial" panose="020B0604020202020204" pitchFamily="34" charset="0"/>
                          <a:cs typeface="Arial" panose="020B0604020202020204" pitchFamily="34" charset="0"/>
                        </a:rPr>
                        <a:t>Annual cost ($ billions)</a:t>
                      </a:r>
                      <a:endParaRPr lang="en-US" sz="1200" dirty="0">
                        <a:latin typeface="Arial" panose="020B0604020202020204" pitchFamily="34" charset="0"/>
                        <a:cs typeface="Arial" panose="020B0604020202020204" pitchFamily="34" charset="0"/>
                      </a:endParaRPr>
                    </a:p>
                  </a:txBody>
                  <a:tcPr/>
                </a:tc>
                <a:tc>
                  <a:txBody>
                    <a:bodyPr/>
                    <a:lstStyle/>
                    <a:p>
                      <a:pPr algn="ctr"/>
                      <a:r>
                        <a:rPr lang="en-US" sz="1200" u="none" strike="noStrike" kern="1200" baseline="0" dirty="0">
                          <a:latin typeface="Arial" panose="020B0604020202020204" pitchFamily="34" charset="0"/>
                          <a:cs typeface="Arial" panose="020B0604020202020204" pitchFamily="34" charset="0"/>
                        </a:rPr>
                        <a:t>106</a:t>
                      </a:r>
                      <a:endParaRPr lang="en-US" sz="1200" dirty="0">
                        <a:latin typeface="Arial" panose="020B0604020202020204" pitchFamily="34" charset="0"/>
                        <a:cs typeface="Arial" panose="020B0604020202020204" pitchFamily="34" charset="0"/>
                      </a:endParaRPr>
                    </a:p>
                  </a:txBody>
                  <a:tcPr/>
                </a:tc>
                <a:tc>
                  <a:txBody>
                    <a:bodyPr/>
                    <a:lstStyle/>
                    <a:p>
                      <a:pPr algn="ctr"/>
                      <a:r>
                        <a:rPr lang="en-US" sz="1200" u="none" strike="noStrike" kern="1200" baseline="0" dirty="0">
                          <a:latin typeface="Arial" panose="020B0604020202020204" pitchFamily="34" charset="0"/>
                          <a:cs typeface="Arial" panose="020B0604020202020204" pitchFamily="34" charset="0"/>
                        </a:rPr>
                        <a:t>26.9</a:t>
                      </a:r>
                      <a:endParaRPr lang="en-US" sz="1200" dirty="0">
                        <a:latin typeface="Arial" panose="020B0604020202020204" pitchFamily="34" charset="0"/>
                        <a:cs typeface="Arial" panose="020B0604020202020204" pitchFamily="34" charset="0"/>
                      </a:endParaRPr>
                    </a:p>
                  </a:txBody>
                  <a:tcPr/>
                </a:tc>
                <a:tc>
                  <a:txBody>
                    <a:bodyPr/>
                    <a:lstStyle/>
                    <a:p>
                      <a:pPr algn="ctr"/>
                      <a:r>
                        <a:rPr lang="en-US" sz="1200" u="none" strike="noStrike" kern="1200" baseline="0" dirty="0">
                          <a:latin typeface="Arial" panose="020B0604020202020204" pitchFamily="34" charset="0"/>
                          <a:cs typeface="Arial" panose="020B0604020202020204" pitchFamily="34" charset="0"/>
                        </a:rPr>
                        <a:t>79.1</a:t>
                      </a:r>
                      <a:endParaRPr lang="en-US" sz="1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326826375"/>
                  </a:ext>
                </a:extLst>
              </a:tr>
              <a:tr h="216711">
                <a:tc>
                  <a:txBody>
                    <a:bodyPr/>
                    <a:lstStyle/>
                    <a:p>
                      <a:r>
                        <a:rPr lang="en-US" sz="1200" u="none" strike="noStrike" kern="1200" baseline="0" dirty="0">
                          <a:latin typeface="Arial" panose="020B0604020202020204" pitchFamily="34" charset="0"/>
                          <a:cs typeface="Arial" panose="020B0604020202020204" pitchFamily="34" charset="0"/>
                        </a:rPr>
                        <a:t>Annual cost </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per household ($)</a:t>
                      </a:r>
                      <a:endParaRPr lang="en-US" sz="1200" dirty="0">
                        <a:latin typeface="Arial" panose="020B0604020202020204" pitchFamily="34" charset="0"/>
                        <a:cs typeface="Arial" panose="020B0604020202020204" pitchFamily="34" charset="0"/>
                      </a:endParaRPr>
                    </a:p>
                  </a:txBody>
                  <a:tcPr/>
                </a:tc>
                <a:tc>
                  <a:txBody>
                    <a:bodyPr/>
                    <a:lstStyle/>
                    <a:p>
                      <a:pPr algn="ctr"/>
                      <a:r>
                        <a:rPr lang="en-US" sz="1200" u="none" strike="noStrike" kern="1200" baseline="0" dirty="0">
                          <a:latin typeface="Arial" panose="020B0604020202020204" pitchFamily="34" charset="0"/>
                          <a:cs typeface="Arial" panose="020B0604020202020204" pitchFamily="34" charset="0"/>
                        </a:rPr>
                        <a:t>831</a:t>
                      </a:r>
                      <a:endParaRPr lang="en-US" sz="1200" dirty="0">
                        <a:latin typeface="Arial" panose="020B0604020202020204" pitchFamily="34" charset="0"/>
                        <a:cs typeface="Arial" panose="020B0604020202020204" pitchFamily="34" charset="0"/>
                      </a:endParaRPr>
                    </a:p>
                  </a:txBody>
                  <a:tcPr/>
                </a:tc>
                <a:tc>
                  <a:txBody>
                    <a:bodyPr/>
                    <a:lstStyle/>
                    <a:p>
                      <a:pPr algn="ctr"/>
                      <a:r>
                        <a:rPr lang="en-US" sz="1200" u="none" strike="noStrike" kern="1200" baseline="0" dirty="0">
                          <a:latin typeface="Arial" panose="020B0604020202020204" pitchFamily="34" charset="0"/>
                          <a:cs typeface="Arial" panose="020B0604020202020204" pitchFamily="34" charset="0"/>
                        </a:rPr>
                        <a:t>211</a:t>
                      </a:r>
                      <a:endParaRPr lang="en-US" sz="1200" dirty="0">
                        <a:latin typeface="Arial" panose="020B0604020202020204" pitchFamily="34" charset="0"/>
                        <a:cs typeface="Arial" panose="020B0604020202020204" pitchFamily="34" charset="0"/>
                      </a:endParaRPr>
                    </a:p>
                  </a:txBody>
                  <a:tcPr/>
                </a:tc>
                <a:tc>
                  <a:txBody>
                    <a:bodyPr/>
                    <a:lstStyle/>
                    <a:p>
                      <a:pPr algn="ctr"/>
                      <a:r>
                        <a:rPr lang="en-US" sz="1200" u="none" strike="noStrike" kern="1200" baseline="0" dirty="0">
                          <a:latin typeface="Arial" panose="020B0604020202020204" pitchFamily="34" charset="0"/>
                          <a:cs typeface="Arial" panose="020B0604020202020204" pitchFamily="34" charset="0"/>
                        </a:rPr>
                        <a:t>620</a:t>
                      </a:r>
                      <a:endParaRPr lang="en-US" sz="1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3575181"/>
                  </a:ext>
                </a:extLst>
              </a:tr>
            </a:tbl>
          </a:graphicData>
        </a:graphic>
      </p:graphicFrame>
      <p:graphicFrame>
        <p:nvGraphicFramePr>
          <p:cNvPr id="10" name="Table Placeholder 8">
            <a:extLst>
              <a:ext uri="{FF2B5EF4-FFF2-40B4-BE49-F238E27FC236}">
                <a16:creationId xmlns:a16="http://schemas.microsoft.com/office/drawing/2014/main" id="{438C41D3-0179-48E3-BAB6-271CA2E9EF35}"/>
              </a:ext>
            </a:extLst>
          </p:cNvPr>
          <p:cNvGraphicFramePr>
            <a:graphicFrameLocks noGrp="1"/>
          </p:cNvGraphicFramePr>
          <p:nvPr>
            <p:ph type="tbl" sz="quarter" idx="14"/>
            <p:extLst>
              <p:ext uri="{D42A27DB-BD31-4B8C-83A1-F6EECF244321}">
                <p14:modId xmlns:p14="http://schemas.microsoft.com/office/powerpoint/2010/main" val="2950866851"/>
              </p:ext>
            </p:extLst>
          </p:nvPr>
        </p:nvGraphicFramePr>
        <p:xfrm>
          <a:off x="800101" y="2788920"/>
          <a:ext cx="7543798" cy="1280160"/>
        </p:xfrm>
        <a:graphic>
          <a:graphicData uri="http://schemas.openxmlformats.org/drawingml/2006/table">
            <a:tbl>
              <a:tblPr firstRow="1" bandRow="1"/>
              <a:tblGrid>
                <a:gridCol w="2627565">
                  <a:extLst>
                    <a:ext uri="{9D8B030D-6E8A-4147-A177-3AD203B41FA5}">
                      <a16:colId xmlns:a16="http://schemas.microsoft.com/office/drawing/2014/main" val="1464569718"/>
                    </a:ext>
                  </a:extLst>
                </a:gridCol>
                <a:gridCol w="2070415">
                  <a:extLst>
                    <a:ext uri="{9D8B030D-6E8A-4147-A177-3AD203B41FA5}">
                      <a16:colId xmlns:a16="http://schemas.microsoft.com/office/drawing/2014/main" val="3315003622"/>
                    </a:ext>
                  </a:extLst>
                </a:gridCol>
                <a:gridCol w="1422909">
                  <a:extLst>
                    <a:ext uri="{9D8B030D-6E8A-4147-A177-3AD203B41FA5}">
                      <a16:colId xmlns:a16="http://schemas.microsoft.com/office/drawing/2014/main" val="2387203308"/>
                    </a:ext>
                  </a:extLst>
                </a:gridCol>
                <a:gridCol w="1422909">
                  <a:extLst>
                    <a:ext uri="{9D8B030D-6E8A-4147-A177-3AD203B41FA5}">
                      <a16:colId xmlns:a16="http://schemas.microsoft.com/office/drawing/2014/main" val="3984922573"/>
                    </a:ext>
                  </a:extLst>
                </a:gridCol>
              </a:tblGrid>
              <a:tr h="132252">
                <a:tc>
                  <a:txBody>
                    <a:bodyPr/>
                    <a:lstStyle/>
                    <a:p>
                      <a:endParaRPr lang="en-US" sz="1200" dirty="0">
                        <a:latin typeface="Arial" panose="020B0604020202020204" pitchFamily="34" charset="0"/>
                        <a:cs typeface="Arial" panose="020B0604020202020204" pitchFamily="34" charset="0"/>
                      </a:endParaRPr>
                    </a:p>
                  </a:txBody>
                  <a:tcPr/>
                </a:tc>
                <a:tc>
                  <a:txBody>
                    <a:bodyPr/>
                    <a:lstStyle/>
                    <a:p>
                      <a:pPr algn="ct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(1)</a:t>
                      </a:r>
                      <a:endParaRPr lang="en-US" sz="1200" dirty="0">
                        <a:latin typeface="Arial" panose="020B0604020202020204" pitchFamily="34" charset="0"/>
                        <a:cs typeface="Arial" panose="020B0604020202020204" pitchFamily="34" charset="0"/>
                      </a:endParaRPr>
                    </a:p>
                  </a:txBody>
                  <a:tcPr/>
                </a:tc>
                <a:tc>
                  <a:txBody>
                    <a:bodyPr/>
                    <a:lstStyle/>
                    <a:p>
                      <a:pPr algn="ct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(2)</a:t>
                      </a:r>
                      <a:endParaRPr lang="en-US" sz="1200" dirty="0">
                        <a:latin typeface="Arial" panose="020B0604020202020204" pitchFamily="34" charset="0"/>
                        <a:cs typeface="Arial" panose="020B0604020202020204" pitchFamily="34" charset="0"/>
                      </a:endParaRPr>
                    </a:p>
                  </a:txBody>
                  <a:tcPr/>
                </a:tc>
                <a:tc>
                  <a:txBody>
                    <a:bodyPr/>
                    <a:lstStyle/>
                    <a:p>
                      <a:pPr algn="ct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(3)</a:t>
                      </a:r>
                      <a:endParaRPr lang="en-US" sz="1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067911395"/>
                  </a:ext>
                </a:extLst>
              </a:tr>
              <a:tr h="220561">
                <a:tc>
                  <a:txBody>
                    <a:bodyPr/>
                    <a:lstStyle/>
                    <a:p>
                      <a:pPr algn="ctr"/>
                      <a:endParaRPr lang="en-US" sz="1200" dirty="0">
                        <a:latin typeface="Arial" panose="020B0604020202020204" pitchFamily="34" charset="0"/>
                        <a:cs typeface="Arial" panose="020B0604020202020204" pitchFamily="34" charset="0"/>
                      </a:endParaRPr>
                    </a:p>
                  </a:txBody>
                  <a:tcPr/>
                </a:tc>
                <a:tc>
                  <a:txBody>
                    <a:bodyPr/>
                    <a:lstStyle/>
                    <a:p>
                      <a:pPr algn="ct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Consumer Loss from</a:t>
                      </a:r>
                    </a:p>
                    <a:p>
                      <a:pPr algn="ct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Higher Import Prices</a:t>
                      </a:r>
                      <a:endParaRPr lang="en-US" sz="1200" dirty="0">
                        <a:latin typeface="Arial" panose="020B0604020202020204" pitchFamily="34" charset="0"/>
                        <a:cs typeface="Arial" panose="020B0604020202020204" pitchFamily="34" charset="0"/>
                      </a:endParaRPr>
                    </a:p>
                  </a:txBody>
                  <a:tcPr/>
                </a:tc>
                <a:tc>
                  <a:txBody>
                    <a:bodyPr/>
                    <a:lstStyle/>
                    <a:p>
                      <a:pPr algn="ct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Tariff Revenue</a:t>
                      </a:r>
                      <a:endParaRPr lang="en-US" sz="1200" dirty="0">
                        <a:latin typeface="Arial" panose="020B0604020202020204" pitchFamily="34" charset="0"/>
                        <a:cs typeface="Arial" panose="020B0604020202020204" pitchFamily="34" charset="0"/>
                      </a:endParaRPr>
                    </a:p>
                  </a:txBody>
                  <a:tcPr/>
                </a:tc>
                <a:tc>
                  <a:txBody>
                    <a:bodyPr/>
                    <a:lstStyle/>
                    <a:p>
                      <a:pPr algn="ct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Deadweight</a:t>
                      </a:r>
                    </a:p>
                    <a:p>
                      <a:pPr algn="ct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Loss</a:t>
                      </a:r>
                      <a:endParaRPr lang="en-US" sz="1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235356943"/>
                  </a:ext>
                </a:extLst>
              </a:tr>
              <a:tr h="230721">
                <a:tc>
                  <a:txBody>
                    <a:bodyPr/>
                    <a:lstStyle/>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Annual cost ($ billions)</a:t>
                      </a:r>
                      <a:endParaRPr lang="en-US" sz="1200" dirty="0">
                        <a:latin typeface="Arial" panose="020B0604020202020204" pitchFamily="34" charset="0"/>
                        <a:cs typeface="Arial" panose="020B0604020202020204" pitchFamily="34" charset="0"/>
                      </a:endParaRPr>
                    </a:p>
                  </a:txBody>
                  <a:tcPr/>
                </a:tc>
                <a:tc>
                  <a:txBody>
                    <a:bodyPr/>
                    <a:lstStyle/>
                    <a:p>
                      <a:pPr algn="ct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52.8</a:t>
                      </a:r>
                      <a:endParaRPr lang="en-US" sz="1200" dirty="0">
                        <a:latin typeface="Arial" panose="020B0604020202020204" pitchFamily="34" charset="0"/>
                        <a:cs typeface="Arial" panose="020B0604020202020204" pitchFamily="34" charset="0"/>
                      </a:endParaRPr>
                    </a:p>
                  </a:txBody>
                  <a:tcPr/>
                </a:tc>
                <a:tc>
                  <a:txBody>
                    <a:bodyPr/>
                    <a:lstStyle/>
                    <a:p>
                      <a:pPr algn="ct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36.0</a:t>
                      </a:r>
                      <a:endParaRPr lang="en-US" sz="1200" dirty="0">
                        <a:latin typeface="Arial" panose="020B0604020202020204" pitchFamily="34" charset="0"/>
                        <a:cs typeface="Arial" panose="020B0604020202020204" pitchFamily="34" charset="0"/>
                      </a:endParaRPr>
                    </a:p>
                  </a:txBody>
                  <a:tcPr/>
                </a:tc>
                <a:tc>
                  <a:txBody>
                    <a:bodyPr/>
                    <a:lstStyle/>
                    <a:p>
                      <a:pPr algn="ct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16.8</a:t>
                      </a:r>
                      <a:endParaRPr lang="en-US" sz="1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906371699"/>
                  </a:ext>
                </a:extLst>
              </a:tr>
              <a:tr h="164681">
                <a:tc>
                  <a:txBody>
                    <a:bodyPr/>
                    <a:lstStyle/>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Annual cost per household ($)</a:t>
                      </a:r>
                      <a:endParaRPr lang="en-US" sz="1200" dirty="0">
                        <a:latin typeface="Arial" panose="020B0604020202020204" pitchFamily="34" charset="0"/>
                        <a:cs typeface="Arial" panose="020B0604020202020204" pitchFamily="34" charset="0"/>
                      </a:endParaRPr>
                    </a:p>
                  </a:txBody>
                  <a:tcPr/>
                </a:tc>
                <a:tc>
                  <a:txBody>
                    <a:bodyPr/>
                    <a:lstStyle/>
                    <a:p>
                      <a:pPr algn="ct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414</a:t>
                      </a:r>
                      <a:endParaRPr lang="en-US" sz="1200" dirty="0">
                        <a:latin typeface="Arial" panose="020B0604020202020204" pitchFamily="34" charset="0"/>
                        <a:cs typeface="Arial" panose="020B0604020202020204" pitchFamily="34" charset="0"/>
                      </a:endParaRPr>
                    </a:p>
                  </a:txBody>
                  <a:tcPr/>
                </a:tc>
                <a:tc>
                  <a:txBody>
                    <a:bodyPr/>
                    <a:lstStyle/>
                    <a:p>
                      <a:pPr algn="ct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282</a:t>
                      </a:r>
                      <a:endParaRPr lang="en-US" sz="1200" dirty="0">
                        <a:latin typeface="Arial" panose="020B0604020202020204" pitchFamily="34" charset="0"/>
                        <a:cs typeface="Arial" panose="020B0604020202020204" pitchFamily="34" charset="0"/>
                      </a:endParaRPr>
                    </a:p>
                  </a:txBody>
                  <a:tcPr/>
                </a:tc>
                <a:tc>
                  <a:txBody>
                    <a:bodyPr/>
                    <a:lstStyle/>
                    <a:p>
                      <a:pPr algn="ct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132</a:t>
                      </a:r>
                      <a:endParaRPr lang="en-US" sz="1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729708463"/>
                  </a:ext>
                </a:extLst>
              </a:tr>
            </a:tbl>
          </a:graphicData>
        </a:graphic>
      </p:graphicFrame>
    </p:spTree>
    <p:extLst>
      <p:ext uri="{BB962C8B-B14F-4D97-AF65-F5344CB8AC3E}">
        <p14:creationId xmlns:p14="http://schemas.microsoft.com/office/powerpoint/2010/main" val="24976798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5401E9F7-D300-49E0-A34D-277D6590F691}"/>
              </a:ext>
            </a:extLst>
          </p:cNvPr>
          <p:cNvSpPr>
            <a:spLocks noGrp="1"/>
          </p:cNvSpPr>
          <p:nvPr>
            <p:ph type="title"/>
          </p:nvPr>
        </p:nvSpPr>
        <p:spPr/>
        <p:txBody>
          <a:bodyPr/>
          <a:lstStyle/>
          <a:p>
            <a:r>
              <a:rPr lang="en-US" dirty="0"/>
              <a:t>The Political Economy of Tariffs</a:t>
            </a:r>
            <a:endParaRPr lang="en-IN" dirty="0"/>
          </a:p>
        </p:txBody>
      </p:sp>
      <p:sp>
        <p:nvSpPr>
          <p:cNvPr id="12" name="Content Placeholder 11">
            <a:extLst>
              <a:ext uri="{FF2B5EF4-FFF2-40B4-BE49-F238E27FC236}">
                <a16:creationId xmlns:a16="http://schemas.microsoft.com/office/drawing/2014/main" id="{89C6FF55-60B1-456B-8A82-6CA2570FD1F4}"/>
              </a:ext>
            </a:extLst>
          </p:cNvPr>
          <p:cNvSpPr>
            <a:spLocks noGrp="1"/>
          </p:cNvSpPr>
          <p:nvPr>
            <p:ph idx="1"/>
          </p:nvPr>
        </p:nvSpPr>
        <p:spPr/>
        <p:txBody>
          <a:bodyPr>
            <a:normAutofit fontScale="92500"/>
          </a:bodyPr>
          <a:lstStyle/>
          <a:p>
            <a:pPr>
              <a:lnSpc>
                <a:spcPct val="110000"/>
              </a:lnSpc>
            </a:pPr>
            <a:r>
              <a:rPr lang="en-US" sz="2400" b="0" dirty="0"/>
              <a:t>If a tariff always leads to a deadweight loss of a small importing country, why then do the United States and many other countries use tariffs as part of their trade policies?</a:t>
            </a:r>
          </a:p>
          <a:p>
            <a:pPr>
              <a:lnSpc>
                <a:spcPct val="110000"/>
              </a:lnSpc>
            </a:pPr>
            <a:r>
              <a:rPr lang="en-US" sz="2400" b="0" dirty="0"/>
              <a:t>Politics. The tariff benefits Home producers, so if the government cares more about the producer surplus than consumer surplus, it might decide to use the tariff despite the deadweight loss and consumer costs.</a:t>
            </a:r>
          </a:p>
          <a:p>
            <a:pPr>
              <a:lnSpc>
                <a:spcPct val="110000"/>
              </a:lnSpc>
            </a:pPr>
            <a:r>
              <a:rPr lang="en-US" sz="2400" b="0" dirty="0"/>
              <a:t>Because benefits are concentrated and costs are spread more thinly and widely across the country, the industry has the greater political power to persuade the government to use the tariffs.</a:t>
            </a:r>
          </a:p>
        </p:txBody>
      </p:sp>
    </p:spTree>
    <p:extLst>
      <p:ext uri="{BB962C8B-B14F-4D97-AF65-F5344CB8AC3E}">
        <p14:creationId xmlns:p14="http://schemas.microsoft.com/office/powerpoint/2010/main" val="27417014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90E75-9CDA-4F5A-9C95-A861D25C2026}"/>
              </a:ext>
            </a:extLst>
          </p:cNvPr>
          <p:cNvSpPr>
            <a:spLocks noGrp="1"/>
          </p:cNvSpPr>
          <p:nvPr>
            <p:ph type="title"/>
          </p:nvPr>
        </p:nvSpPr>
        <p:spPr/>
        <p:txBody>
          <a:bodyPr/>
          <a:lstStyle/>
          <a:p>
            <a:r>
              <a:rPr lang="en-US" dirty="0"/>
              <a:t>4) Import Tariffs for a Large Country </a:t>
            </a:r>
            <a:br>
              <a:rPr lang="en-US" dirty="0"/>
            </a:br>
            <a:r>
              <a:rPr lang="en-US" dirty="0"/>
              <a:t>(part 1)</a:t>
            </a:r>
            <a:endParaRPr lang="en-IN" dirty="0"/>
          </a:p>
        </p:txBody>
      </p:sp>
      <p:sp>
        <p:nvSpPr>
          <p:cNvPr id="3" name="Content Placeholder 2">
            <a:extLst>
              <a:ext uri="{FF2B5EF4-FFF2-40B4-BE49-F238E27FC236}">
                <a16:creationId xmlns:a16="http://schemas.microsoft.com/office/drawing/2014/main" id="{6854DFC7-479D-45F7-999C-13242742E059}"/>
              </a:ext>
            </a:extLst>
          </p:cNvPr>
          <p:cNvSpPr>
            <a:spLocks noGrp="1"/>
          </p:cNvSpPr>
          <p:nvPr>
            <p:ph idx="1"/>
          </p:nvPr>
        </p:nvSpPr>
        <p:spPr>
          <a:xfrm>
            <a:off x="457200" y="1600201"/>
            <a:ext cx="8382000" cy="914399"/>
          </a:xfrm>
        </p:spPr>
        <p:txBody>
          <a:bodyPr>
            <a:normAutofit/>
          </a:bodyPr>
          <a:lstStyle/>
          <a:p>
            <a:pPr marL="0" indent="0">
              <a:buNone/>
            </a:pPr>
            <a:r>
              <a:rPr lang="en-US" sz="2000" b="1" dirty="0">
                <a:latin typeface="+mn-lt"/>
                <a:cs typeface="Arial" panose="020B0604020202020204" pitchFamily="34" charset="0"/>
              </a:rPr>
              <a:t>Foreign Export Supply</a:t>
            </a:r>
          </a:p>
          <a:p>
            <a:pPr marL="0" indent="0">
              <a:buNone/>
            </a:pPr>
            <a:r>
              <a:rPr lang="en-US" sz="2000" b="1" dirty="0">
                <a:latin typeface="+mn-lt"/>
                <a:cs typeface="Arial" panose="020B0604020202020204" pitchFamily="34" charset="0"/>
              </a:rPr>
              <a:t>FIGURE 6 (1 of 3)</a:t>
            </a:r>
            <a:r>
              <a:rPr lang="en-US" sz="2000" dirty="0">
                <a:latin typeface="+mn-lt"/>
                <a:cs typeface="Arial" panose="020B0604020202020204" pitchFamily="34" charset="0"/>
              </a:rPr>
              <a:t> </a:t>
            </a:r>
            <a:r>
              <a:rPr lang="en-US" sz="2000" b="0" dirty="0">
                <a:latin typeface="+mn-lt"/>
                <a:cs typeface="Arial" panose="020B0604020202020204" pitchFamily="34" charset="0"/>
              </a:rPr>
              <a:t>Foreign Export Supply</a:t>
            </a:r>
          </a:p>
        </p:txBody>
      </p:sp>
      <p:sp>
        <p:nvSpPr>
          <p:cNvPr id="7" name="Content Placeholder 6">
            <a:extLst>
              <a:ext uri="{FF2B5EF4-FFF2-40B4-BE49-F238E27FC236}">
                <a16:creationId xmlns:a16="http://schemas.microsoft.com/office/drawing/2014/main" id="{8507927E-CAA8-44DA-BA1F-81973897430C}"/>
              </a:ext>
            </a:extLst>
          </p:cNvPr>
          <p:cNvSpPr>
            <a:spLocks noGrp="1"/>
          </p:cNvSpPr>
          <p:nvPr>
            <p:ph sz="quarter" idx="10"/>
          </p:nvPr>
        </p:nvSpPr>
        <p:spPr>
          <a:xfrm>
            <a:off x="5410200" y="2362200"/>
            <a:ext cx="3276600" cy="3962400"/>
          </a:xfrm>
        </p:spPr>
        <p:txBody>
          <a:bodyPr>
            <a:normAutofit/>
          </a:bodyPr>
          <a:lstStyle/>
          <a:p>
            <a:pPr marL="0" indent="0">
              <a:spcBef>
                <a:spcPct val="10000"/>
              </a:spcBef>
              <a:spcAft>
                <a:spcPct val="10000"/>
              </a:spcAft>
              <a:buNone/>
            </a:pPr>
            <a:r>
              <a:rPr lang="en-US" sz="2000" b="0" dirty="0">
                <a:latin typeface="Arial" panose="020B0604020202020204" pitchFamily="34" charset="0"/>
                <a:cs typeface="Arial" panose="020B0604020202020204" pitchFamily="34" charset="0"/>
              </a:rPr>
              <a:t>In panel (a), with Foreign demand of D</a:t>
            </a:r>
            <a:r>
              <a:rPr lang="en-US" sz="2000" b="0" baseline="30000" dirty="0">
                <a:latin typeface="Arial" panose="020B0604020202020204" pitchFamily="34" charset="0"/>
                <a:cs typeface="Arial" panose="020B0604020202020204" pitchFamily="34" charset="0"/>
              </a:rPr>
              <a:t>*</a:t>
            </a:r>
            <a:r>
              <a:rPr lang="en-US" sz="2000" b="0" dirty="0">
                <a:latin typeface="Arial" panose="020B0604020202020204" pitchFamily="34" charset="0"/>
                <a:cs typeface="Arial" panose="020B0604020202020204" pitchFamily="34" charset="0"/>
              </a:rPr>
              <a:t> and Foreign supply of S</a:t>
            </a:r>
            <a:r>
              <a:rPr lang="en-US" sz="2000" b="0" baseline="30000" dirty="0">
                <a:latin typeface="Arial" panose="020B0604020202020204" pitchFamily="34" charset="0"/>
                <a:cs typeface="Arial" panose="020B0604020202020204" pitchFamily="34" charset="0"/>
              </a:rPr>
              <a:t>*</a:t>
            </a:r>
            <a:r>
              <a:rPr lang="en-US" sz="2000" b="0" dirty="0">
                <a:latin typeface="Arial" panose="020B0604020202020204" pitchFamily="34" charset="0"/>
                <a:cs typeface="Arial" panose="020B0604020202020204" pitchFamily="34" charset="0"/>
              </a:rPr>
              <a:t>, the no-trade equilibrium in Foreign is at point A</a:t>
            </a:r>
            <a:r>
              <a:rPr lang="en-US" sz="2000" b="0" baseline="30000" dirty="0">
                <a:latin typeface="Arial" panose="020B0604020202020204" pitchFamily="34" charset="0"/>
                <a:cs typeface="Arial" panose="020B0604020202020204" pitchFamily="34" charset="0"/>
              </a:rPr>
              <a:t>*</a:t>
            </a:r>
            <a:r>
              <a:rPr lang="en-US" sz="2000" b="0" dirty="0">
                <a:latin typeface="Arial" panose="020B0604020202020204" pitchFamily="34" charset="0"/>
                <a:cs typeface="Arial" panose="020B0604020202020204" pitchFamily="34" charset="0"/>
              </a:rPr>
              <a:t>, with the price of P</a:t>
            </a:r>
            <a:r>
              <a:rPr lang="en-US" sz="2000" b="0" baseline="30000" dirty="0">
                <a:latin typeface="Arial" panose="020B0604020202020204" pitchFamily="34" charset="0"/>
                <a:cs typeface="Arial" panose="020B0604020202020204" pitchFamily="34" charset="0"/>
              </a:rPr>
              <a:t>A*</a:t>
            </a:r>
            <a:r>
              <a:rPr lang="en-US" sz="2000" b="0" dirty="0">
                <a:latin typeface="Arial" panose="020B0604020202020204" pitchFamily="34" charset="0"/>
                <a:cs typeface="Arial" panose="020B0604020202020204" pitchFamily="34" charset="0"/>
              </a:rPr>
              <a:t>.</a:t>
            </a:r>
          </a:p>
          <a:p>
            <a:pPr marL="0" indent="0">
              <a:spcBef>
                <a:spcPct val="10000"/>
              </a:spcBef>
              <a:spcAft>
                <a:spcPct val="10000"/>
              </a:spcAft>
              <a:buNone/>
            </a:pPr>
            <a:r>
              <a:rPr lang="en-US" sz="2000" b="0" dirty="0">
                <a:latin typeface="Arial" panose="020B0604020202020204" pitchFamily="34" charset="0"/>
                <a:cs typeface="Arial" panose="020B0604020202020204" pitchFamily="34" charset="0"/>
              </a:rPr>
              <a:t>At this price, the Foreign market is in equilibrium and Foreign exports are zero—point A</a:t>
            </a:r>
            <a:r>
              <a:rPr lang="en-US" sz="2000" b="0" baseline="30000" dirty="0">
                <a:latin typeface="Arial" panose="020B0604020202020204" pitchFamily="34" charset="0"/>
                <a:cs typeface="Arial" panose="020B0604020202020204" pitchFamily="34" charset="0"/>
              </a:rPr>
              <a:t>*</a:t>
            </a:r>
            <a:r>
              <a:rPr lang="en-US" sz="2000" b="0" dirty="0">
                <a:latin typeface="Arial" panose="020B0604020202020204" pitchFamily="34" charset="0"/>
                <a:cs typeface="Arial" panose="020B0604020202020204" pitchFamily="34" charset="0"/>
              </a:rPr>
              <a:t> in panel (a) and point A</a:t>
            </a:r>
            <a:r>
              <a:rPr lang="en-US" sz="2000" b="0" baseline="30000" dirty="0">
                <a:latin typeface="Arial" panose="020B0604020202020204" pitchFamily="34" charset="0"/>
                <a:cs typeface="Arial" panose="020B0604020202020204" pitchFamily="34" charset="0"/>
              </a:rPr>
              <a:t>*</a:t>
            </a:r>
            <a:r>
              <a:rPr lang="en-US" sz="2000" b="0" dirty="0">
                <a:latin typeface="Arial" panose="020B0604020202020204" pitchFamily="34" charset="0"/>
                <a:cs typeface="Arial" panose="020B0604020202020204" pitchFamily="34" charset="0"/>
                <a:sym typeface="Symbol" pitchFamily="18" charset="2"/>
              </a:rPr>
              <a:t></a:t>
            </a:r>
            <a:r>
              <a:rPr lang="en-US" sz="2000" b="0" dirty="0">
                <a:latin typeface="Arial" panose="020B0604020202020204" pitchFamily="34" charset="0"/>
                <a:cs typeface="Arial" panose="020B0604020202020204" pitchFamily="34" charset="0"/>
              </a:rPr>
              <a:t> in panel (b), respectively.</a:t>
            </a:r>
          </a:p>
        </p:txBody>
      </p:sp>
      <p:pic>
        <p:nvPicPr>
          <p:cNvPr id="9" name="Picture Placeholder 5" descr="Two graphs titled (a) Foreign market and (b) World market illustrate foreign export supply. Graph (a) shows the X-axis as Quantity and marks D asterisk, subscript 1 and S asterisk, subscript 1. The Y-axis represents Price and marks P superscript A asterisk and P superscript W. Two straight lines are depicted: S asterisk slanting positively from the bottom left to the top right of the graph and D asterisk slanting negatively from the top left to the bottom right. They intersect at point A asterisk, which occurs at price P superscript A asterisk. The area between quantity D asterisk, subscript 1 and S asterisk, subscript 1 is labeled “foreign exports, X asterisk, subscript 1.” &#10;Graph (b) shows the X-axis as Exports and Y-axis as Price. Foreign export supply, X asterisk is a positive sloping line from point (0, A asterisk prime). Home import demand, M line slants negatively from point (0, p superscript A). Both these lines form an X shape and intersect at point B (X asterisk subscript 1, P superscript W). ">
            <a:extLst>
              <a:ext uri="{FF2B5EF4-FFF2-40B4-BE49-F238E27FC236}">
                <a16:creationId xmlns:a16="http://schemas.microsoft.com/office/drawing/2014/main" id="{403A462A-83C8-4EC9-9EB7-61A7298C8D12}"/>
              </a:ext>
            </a:extLst>
          </p:cNvPr>
          <p:cNvPicPr>
            <a:picLocks noGrp="1" noChangeAspect="1"/>
          </p:cNvPicPr>
          <p:nvPr>
            <p:ph type="pic" sz="quarter" idx="12"/>
          </p:nvPr>
        </p:nvPicPr>
        <p:blipFill>
          <a:blip r:embed="rId2" cstate="print">
            <a:extLst>
              <a:ext uri="{28A0092B-C50C-407E-A947-70E740481C1C}">
                <a14:useLocalDpi xmlns:a14="http://schemas.microsoft.com/office/drawing/2010/main" val="0"/>
              </a:ext>
            </a:extLst>
          </a:blip>
          <a:stretch>
            <a:fillRect/>
          </a:stretch>
        </p:blipFill>
        <p:spPr>
          <a:xfrm>
            <a:off x="457200" y="2514600"/>
            <a:ext cx="4469846" cy="2602458"/>
          </a:xfrm>
          <a:prstGeom prst="rect">
            <a:avLst/>
          </a:prstGeom>
        </p:spPr>
      </p:pic>
    </p:spTree>
    <p:extLst>
      <p:ext uri="{BB962C8B-B14F-4D97-AF65-F5344CB8AC3E}">
        <p14:creationId xmlns:p14="http://schemas.microsoft.com/office/powerpoint/2010/main" val="37774769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90E75-9CDA-4F5A-9C95-A861D25C2026}"/>
              </a:ext>
            </a:extLst>
          </p:cNvPr>
          <p:cNvSpPr>
            <a:spLocks noGrp="1"/>
          </p:cNvSpPr>
          <p:nvPr>
            <p:ph type="title"/>
          </p:nvPr>
        </p:nvSpPr>
        <p:spPr/>
        <p:txBody>
          <a:bodyPr/>
          <a:lstStyle/>
          <a:p>
            <a:r>
              <a:rPr lang="en-US" dirty="0"/>
              <a:t>4) Import Tariffs for a Large Country </a:t>
            </a:r>
            <a:br>
              <a:rPr lang="en-US" dirty="0"/>
            </a:br>
            <a:r>
              <a:rPr lang="en-US" dirty="0"/>
              <a:t>(part 2)</a:t>
            </a:r>
            <a:endParaRPr lang="en-IN" dirty="0"/>
          </a:p>
        </p:txBody>
      </p:sp>
      <p:sp>
        <p:nvSpPr>
          <p:cNvPr id="3" name="Content Placeholder 2">
            <a:extLst>
              <a:ext uri="{FF2B5EF4-FFF2-40B4-BE49-F238E27FC236}">
                <a16:creationId xmlns:a16="http://schemas.microsoft.com/office/drawing/2014/main" id="{6854DFC7-479D-45F7-999C-13242742E059}"/>
              </a:ext>
            </a:extLst>
          </p:cNvPr>
          <p:cNvSpPr>
            <a:spLocks noGrp="1"/>
          </p:cNvSpPr>
          <p:nvPr>
            <p:ph idx="1"/>
          </p:nvPr>
        </p:nvSpPr>
        <p:spPr>
          <a:xfrm>
            <a:off x="457200" y="1600201"/>
            <a:ext cx="8382000" cy="914399"/>
          </a:xfrm>
        </p:spPr>
        <p:txBody>
          <a:bodyPr>
            <a:normAutofit/>
          </a:bodyPr>
          <a:lstStyle/>
          <a:p>
            <a:pPr marL="0" indent="0">
              <a:buNone/>
            </a:pPr>
            <a:r>
              <a:rPr lang="en-US" sz="2000" b="1" dirty="0">
                <a:latin typeface="+mn-lt"/>
                <a:cs typeface="Arial" panose="020B0604020202020204" pitchFamily="34" charset="0"/>
              </a:rPr>
              <a:t>Foreign Export Supply</a:t>
            </a:r>
          </a:p>
          <a:p>
            <a:pPr marL="0" indent="0">
              <a:buNone/>
            </a:pPr>
            <a:r>
              <a:rPr lang="en-US" sz="2000" b="1" dirty="0">
                <a:latin typeface="+mn-lt"/>
                <a:cs typeface="Arial" panose="020B0604020202020204" pitchFamily="34" charset="0"/>
              </a:rPr>
              <a:t>FIGURE 6 (2 of 3)</a:t>
            </a:r>
            <a:r>
              <a:rPr lang="en-US" sz="2000" dirty="0">
                <a:latin typeface="+mn-lt"/>
                <a:cs typeface="Arial" panose="020B0604020202020204" pitchFamily="34" charset="0"/>
              </a:rPr>
              <a:t> </a:t>
            </a:r>
            <a:r>
              <a:rPr lang="en-US" sz="2000" b="0" dirty="0">
                <a:latin typeface="+mn-lt"/>
                <a:cs typeface="Arial" panose="020B0604020202020204" pitchFamily="34" charset="0"/>
              </a:rPr>
              <a:t>Foreign Export Supply</a:t>
            </a:r>
          </a:p>
        </p:txBody>
      </p:sp>
      <p:sp>
        <p:nvSpPr>
          <p:cNvPr id="7" name="Content Placeholder 6">
            <a:extLst>
              <a:ext uri="{FF2B5EF4-FFF2-40B4-BE49-F238E27FC236}">
                <a16:creationId xmlns:a16="http://schemas.microsoft.com/office/drawing/2014/main" id="{8507927E-CAA8-44DA-BA1F-81973897430C}"/>
              </a:ext>
            </a:extLst>
          </p:cNvPr>
          <p:cNvSpPr>
            <a:spLocks noGrp="1"/>
          </p:cNvSpPr>
          <p:nvPr>
            <p:ph sz="quarter" idx="10"/>
          </p:nvPr>
        </p:nvSpPr>
        <p:spPr>
          <a:xfrm>
            <a:off x="6019800" y="2057400"/>
            <a:ext cx="2819400" cy="4267200"/>
          </a:xfrm>
        </p:spPr>
        <p:txBody>
          <a:bodyPr>
            <a:noAutofit/>
          </a:bodyPr>
          <a:lstStyle/>
          <a:p>
            <a:pPr marL="0" indent="0">
              <a:lnSpc>
                <a:spcPct val="120000"/>
              </a:lnSpc>
              <a:spcBef>
                <a:spcPct val="10000"/>
              </a:spcBef>
              <a:spcAft>
                <a:spcPct val="10000"/>
              </a:spcAft>
              <a:buNone/>
            </a:pPr>
            <a:r>
              <a:rPr lang="en-US" sz="1800" b="0" dirty="0">
                <a:latin typeface="Arial" panose="020B0604020202020204" pitchFamily="34" charset="0"/>
                <a:cs typeface="Arial" panose="020B0604020202020204" pitchFamily="34" charset="0"/>
              </a:rPr>
              <a:t>When the world price, P</a:t>
            </a:r>
            <a:r>
              <a:rPr lang="en-US" sz="1800" b="0" baseline="30000" dirty="0">
                <a:latin typeface="Arial" panose="020B0604020202020204" pitchFamily="34" charset="0"/>
                <a:cs typeface="Arial" panose="020B0604020202020204" pitchFamily="34" charset="0"/>
              </a:rPr>
              <a:t>W</a:t>
            </a:r>
            <a:r>
              <a:rPr lang="en-US" sz="1800" b="0" dirty="0">
                <a:latin typeface="Arial" panose="020B0604020202020204" pitchFamily="34" charset="0"/>
                <a:cs typeface="Arial" panose="020B0604020202020204" pitchFamily="34" charset="0"/>
              </a:rPr>
              <a:t>, is higher than </a:t>
            </a:r>
            <a:r>
              <a:rPr lang="en-US" sz="1800" b="0" dirty="0" err="1">
                <a:latin typeface="Arial" panose="020B0604020202020204" pitchFamily="34" charset="0"/>
                <a:cs typeface="Arial" panose="020B0604020202020204" pitchFamily="34" charset="0"/>
              </a:rPr>
              <a:t>Foreign’s</a:t>
            </a:r>
            <a:r>
              <a:rPr lang="en-US" sz="1800" b="0" dirty="0">
                <a:latin typeface="Arial" panose="020B0604020202020204" pitchFamily="34" charset="0"/>
                <a:cs typeface="Arial" panose="020B0604020202020204" pitchFamily="34" charset="0"/>
              </a:rPr>
              <a:t> no-trade price, the quantity supplied by Foreign, S</a:t>
            </a:r>
            <a:r>
              <a:rPr lang="en-US" sz="1800" b="0" baseline="30000" dirty="0">
                <a:latin typeface="Arial" panose="020B0604020202020204" pitchFamily="34" charset="0"/>
                <a:cs typeface="Arial" panose="020B0604020202020204" pitchFamily="34" charset="0"/>
              </a:rPr>
              <a:t>*</a:t>
            </a:r>
            <a:r>
              <a:rPr lang="en-US" sz="1800" b="0" baseline="-25000" dirty="0">
                <a:latin typeface="Arial" panose="020B0604020202020204" pitchFamily="34" charset="0"/>
                <a:cs typeface="Arial" panose="020B0604020202020204" pitchFamily="34" charset="0"/>
              </a:rPr>
              <a:t>1</a:t>
            </a:r>
            <a:r>
              <a:rPr lang="en-US" sz="1800" b="0" dirty="0">
                <a:latin typeface="Arial" panose="020B0604020202020204" pitchFamily="34" charset="0"/>
                <a:cs typeface="Arial" panose="020B0604020202020204" pitchFamily="34" charset="0"/>
              </a:rPr>
              <a:t>, exceeds the quantity demanded by Foreign, D</a:t>
            </a:r>
            <a:r>
              <a:rPr lang="en-US" sz="1800" b="0" baseline="30000" dirty="0">
                <a:latin typeface="Arial" panose="020B0604020202020204" pitchFamily="34" charset="0"/>
                <a:cs typeface="Arial" panose="020B0604020202020204" pitchFamily="34" charset="0"/>
              </a:rPr>
              <a:t>*</a:t>
            </a:r>
            <a:r>
              <a:rPr lang="en-US" sz="1800" b="0" baseline="-25000" dirty="0">
                <a:latin typeface="Arial" panose="020B0604020202020204" pitchFamily="34" charset="0"/>
                <a:cs typeface="Arial" panose="020B0604020202020204" pitchFamily="34" charset="0"/>
              </a:rPr>
              <a:t>1</a:t>
            </a:r>
            <a:r>
              <a:rPr lang="en-US" sz="1800" b="0" dirty="0">
                <a:latin typeface="Arial" panose="020B0604020202020204" pitchFamily="34" charset="0"/>
                <a:cs typeface="Arial" panose="020B0604020202020204" pitchFamily="34" charset="0"/>
              </a:rPr>
              <a:t>, and Foreign exports X</a:t>
            </a:r>
            <a:r>
              <a:rPr lang="en-US" sz="1800" b="0" baseline="30000" dirty="0">
                <a:latin typeface="Arial" panose="020B0604020202020204" pitchFamily="34" charset="0"/>
                <a:cs typeface="Arial" panose="020B0604020202020204" pitchFamily="34" charset="0"/>
              </a:rPr>
              <a:t>*</a:t>
            </a:r>
            <a:r>
              <a:rPr lang="en-US" sz="1800" b="0" baseline="-25000" dirty="0">
                <a:latin typeface="Arial" panose="020B0604020202020204" pitchFamily="34" charset="0"/>
                <a:cs typeface="Arial" panose="020B0604020202020204" pitchFamily="34" charset="0"/>
              </a:rPr>
              <a:t>1</a:t>
            </a:r>
            <a:r>
              <a:rPr lang="en-US" sz="1800" b="0" dirty="0">
                <a:latin typeface="Arial" panose="020B0604020202020204" pitchFamily="34" charset="0"/>
                <a:cs typeface="Arial" panose="020B0604020202020204" pitchFamily="34" charset="0"/>
              </a:rPr>
              <a:t> = S</a:t>
            </a:r>
            <a:r>
              <a:rPr lang="en-US" sz="1800" b="0" baseline="30000" dirty="0">
                <a:latin typeface="Arial" panose="020B0604020202020204" pitchFamily="34" charset="0"/>
                <a:cs typeface="Arial" panose="020B0604020202020204" pitchFamily="34" charset="0"/>
              </a:rPr>
              <a:t>*</a:t>
            </a:r>
            <a:r>
              <a:rPr lang="en-US" sz="1800" b="0" baseline="-25000" dirty="0">
                <a:latin typeface="Arial" panose="020B0604020202020204" pitchFamily="34" charset="0"/>
                <a:cs typeface="Arial" panose="020B0604020202020204" pitchFamily="34" charset="0"/>
              </a:rPr>
              <a:t>1</a:t>
            </a:r>
            <a:r>
              <a:rPr lang="en-US" sz="1800" b="0" dirty="0">
                <a:latin typeface="Arial" panose="020B0604020202020204" pitchFamily="34" charset="0"/>
                <a:cs typeface="Arial" panose="020B0604020202020204" pitchFamily="34" charset="0"/>
              </a:rPr>
              <a:t> – D</a:t>
            </a:r>
            <a:r>
              <a:rPr lang="en-US" sz="1800" b="0" baseline="30000" dirty="0">
                <a:latin typeface="Arial" panose="020B0604020202020204" pitchFamily="34" charset="0"/>
                <a:cs typeface="Arial" panose="020B0604020202020204" pitchFamily="34" charset="0"/>
              </a:rPr>
              <a:t>*</a:t>
            </a:r>
            <a:r>
              <a:rPr lang="en-US" sz="1800" b="0" baseline="-25000" dirty="0">
                <a:latin typeface="Arial" panose="020B0604020202020204" pitchFamily="34" charset="0"/>
                <a:cs typeface="Arial" panose="020B0604020202020204" pitchFamily="34" charset="0"/>
              </a:rPr>
              <a:t>1</a:t>
            </a:r>
            <a:r>
              <a:rPr lang="en-US" sz="1800" b="0" dirty="0">
                <a:latin typeface="Arial" panose="020B0604020202020204" pitchFamily="34" charset="0"/>
                <a:cs typeface="Arial" panose="020B0604020202020204" pitchFamily="34" charset="0"/>
              </a:rPr>
              <a:t>.</a:t>
            </a:r>
          </a:p>
          <a:p>
            <a:pPr marL="0" indent="0">
              <a:lnSpc>
                <a:spcPct val="120000"/>
              </a:lnSpc>
              <a:spcBef>
                <a:spcPct val="10000"/>
              </a:spcBef>
              <a:spcAft>
                <a:spcPct val="10000"/>
              </a:spcAft>
              <a:buNone/>
            </a:pPr>
            <a:r>
              <a:rPr lang="en-US" sz="1800" b="0" dirty="0">
                <a:latin typeface="Arial" panose="020B0604020202020204" pitchFamily="34" charset="0"/>
                <a:cs typeface="Arial" panose="020B0604020202020204" pitchFamily="34" charset="0"/>
              </a:rPr>
              <a:t>In panel (b), joining up points A</a:t>
            </a:r>
            <a:r>
              <a:rPr lang="en-US" sz="1800" b="0" baseline="30000" dirty="0">
                <a:latin typeface="Arial" panose="020B0604020202020204" pitchFamily="34" charset="0"/>
                <a:cs typeface="Arial" panose="020B0604020202020204" pitchFamily="34" charset="0"/>
              </a:rPr>
              <a:t>*</a:t>
            </a:r>
            <a:r>
              <a:rPr lang="en-US" sz="1800" b="0" dirty="0">
                <a:latin typeface="Arial" panose="020B0604020202020204" pitchFamily="34" charset="0"/>
                <a:cs typeface="Arial" panose="020B0604020202020204" pitchFamily="34" charset="0"/>
                <a:sym typeface="Symbol" pitchFamily="18" charset="2"/>
              </a:rPr>
              <a:t></a:t>
            </a:r>
            <a:r>
              <a:rPr lang="en-US" sz="1800" b="0" dirty="0">
                <a:latin typeface="Arial" panose="020B0604020202020204" pitchFamily="34" charset="0"/>
                <a:cs typeface="Arial" panose="020B0604020202020204" pitchFamily="34" charset="0"/>
              </a:rPr>
              <a:t> and B</a:t>
            </a:r>
            <a:r>
              <a:rPr lang="en-US" sz="1800" b="0" baseline="30000" dirty="0">
                <a:latin typeface="Arial" panose="020B0604020202020204" pitchFamily="34" charset="0"/>
                <a:cs typeface="Arial" panose="020B0604020202020204" pitchFamily="34" charset="0"/>
              </a:rPr>
              <a:t>*</a:t>
            </a:r>
            <a:r>
              <a:rPr lang="en-US" sz="1800" b="0" dirty="0">
                <a:latin typeface="Arial" panose="020B0604020202020204" pitchFamily="34" charset="0"/>
                <a:cs typeface="Arial" panose="020B0604020202020204" pitchFamily="34" charset="0"/>
              </a:rPr>
              <a:t>, we obtain the upward-sloping export supply curve X</a:t>
            </a:r>
            <a:r>
              <a:rPr lang="en-US" sz="1800" b="0" baseline="30000" dirty="0">
                <a:latin typeface="Arial" panose="020B0604020202020204" pitchFamily="34" charset="0"/>
                <a:cs typeface="Arial" panose="020B0604020202020204" pitchFamily="34" charset="0"/>
              </a:rPr>
              <a:t>*</a:t>
            </a:r>
            <a:r>
              <a:rPr lang="en-US" sz="1800" b="0" dirty="0">
                <a:latin typeface="Arial" panose="020B0604020202020204" pitchFamily="34" charset="0"/>
                <a:cs typeface="Arial" panose="020B0604020202020204" pitchFamily="34" charset="0"/>
              </a:rPr>
              <a:t>.</a:t>
            </a:r>
          </a:p>
        </p:txBody>
      </p:sp>
      <p:pic>
        <p:nvPicPr>
          <p:cNvPr id="9" name="Picture Placeholder 5" descr="Two graphs titled (a) Foreign market and (b) World market illustrate foreign export supply. Graph (a) shows the X-axis as Quantity and marks D asterisk, subscript 1 and S asterisk, subscript 1. The Y-axis represents Price and marks P superscript A asterisk and P superscript W. Two straight lines are depicted: S asterisk slanting positively from the bottom left to the top right of the graph and D asterisk slanting negatively from the top left to the bottom right. They intersect at point A asterisk, which occurs at price P superscript A asterisk. The area between quantity D asterisk, subscript 1 and S asterisk, subscript 1 is labeled “foreign exports, X asterisk, subscript 1.” &#10;Graph (b) shows the X-axis as Exports and Y-axis as Price. Foreign export supply, X asterisk is a positive sloping line from point (0, A asterisk prime). Home import demand, M line slants negatively from point (0, p superscript A). Both these lines form an X shape and intersect at point B (X asterisk subscript 1, P superscript W). ">
            <a:extLst>
              <a:ext uri="{FF2B5EF4-FFF2-40B4-BE49-F238E27FC236}">
                <a16:creationId xmlns:a16="http://schemas.microsoft.com/office/drawing/2014/main" id="{403A462A-83C8-4EC9-9EB7-61A7298C8D12}"/>
              </a:ext>
            </a:extLst>
          </p:cNvPr>
          <p:cNvPicPr>
            <a:picLocks noGrp="1" noChangeAspect="1"/>
          </p:cNvPicPr>
          <p:nvPr>
            <p:ph type="pic" sz="quarter" idx="12"/>
          </p:nvPr>
        </p:nvPicPr>
        <p:blipFill>
          <a:blip r:embed="rId2" cstate="print">
            <a:extLst>
              <a:ext uri="{28A0092B-C50C-407E-A947-70E740481C1C}">
                <a14:useLocalDpi xmlns:a14="http://schemas.microsoft.com/office/drawing/2010/main" val="0"/>
              </a:ext>
            </a:extLst>
          </a:blip>
          <a:stretch>
            <a:fillRect/>
          </a:stretch>
        </p:blipFill>
        <p:spPr>
          <a:xfrm>
            <a:off x="458527" y="2514414"/>
            <a:ext cx="4488628" cy="2613393"/>
          </a:xfrm>
          <a:prstGeom prst="rect">
            <a:avLst/>
          </a:prstGeom>
        </p:spPr>
      </p:pic>
    </p:spTree>
    <p:extLst>
      <p:ext uri="{BB962C8B-B14F-4D97-AF65-F5344CB8AC3E}">
        <p14:creationId xmlns:p14="http://schemas.microsoft.com/office/powerpoint/2010/main" val="19395331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90E75-9CDA-4F5A-9C95-A861D25C2026}"/>
              </a:ext>
            </a:extLst>
          </p:cNvPr>
          <p:cNvSpPr>
            <a:spLocks noGrp="1"/>
          </p:cNvSpPr>
          <p:nvPr>
            <p:ph type="title"/>
          </p:nvPr>
        </p:nvSpPr>
        <p:spPr/>
        <p:txBody>
          <a:bodyPr/>
          <a:lstStyle/>
          <a:p>
            <a:r>
              <a:rPr lang="en-US" dirty="0"/>
              <a:t>4) Import Tariffs for a Large Country </a:t>
            </a:r>
            <a:br>
              <a:rPr lang="en-US" dirty="0"/>
            </a:br>
            <a:r>
              <a:rPr lang="en-US" dirty="0"/>
              <a:t>(part 3)</a:t>
            </a:r>
            <a:endParaRPr lang="en-IN" dirty="0"/>
          </a:p>
        </p:txBody>
      </p:sp>
      <p:sp>
        <p:nvSpPr>
          <p:cNvPr id="3" name="Content Placeholder 2">
            <a:extLst>
              <a:ext uri="{FF2B5EF4-FFF2-40B4-BE49-F238E27FC236}">
                <a16:creationId xmlns:a16="http://schemas.microsoft.com/office/drawing/2014/main" id="{6854DFC7-479D-45F7-999C-13242742E059}"/>
              </a:ext>
            </a:extLst>
          </p:cNvPr>
          <p:cNvSpPr>
            <a:spLocks noGrp="1"/>
          </p:cNvSpPr>
          <p:nvPr>
            <p:ph idx="1"/>
          </p:nvPr>
        </p:nvSpPr>
        <p:spPr>
          <a:xfrm>
            <a:off x="457200" y="1600201"/>
            <a:ext cx="8382000" cy="914399"/>
          </a:xfrm>
        </p:spPr>
        <p:txBody>
          <a:bodyPr>
            <a:normAutofit/>
          </a:bodyPr>
          <a:lstStyle/>
          <a:p>
            <a:pPr marL="0" indent="0">
              <a:buNone/>
            </a:pPr>
            <a:r>
              <a:rPr lang="en-US" sz="2000" b="1" dirty="0">
                <a:latin typeface="+mn-lt"/>
                <a:cs typeface="Arial" panose="020B0604020202020204" pitchFamily="34" charset="0"/>
              </a:rPr>
              <a:t>Foreign Export Supply</a:t>
            </a:r>
          </a:p>
          <a:p>
            <a:pPr marL="0" indent="0">
              <a:buNone/>
            </a:pPr>
            <a:r>
              <a:rPr lang="en-US" sz="2000" b="1" dirty="0">
                <a:latin typeface="+mn-lt"/>
                <a:cs typeface="Arial" panose="020B0604020202020204" pitchFamily="34" charset="0"/>
              </a:rPr>
              <a:t>FIGURE 6 (3 of 3)</a:t>
            </a:r>
            <a:r>
              <a:rPr lang="en-US" sz="2000" dirty="0">
                <a:latin typeface="+mn-lt"/>
                <a:cs typeface="Arial" panose="020B0604020202020204" pitchFamily="34" charset="0"/>
              </a:rPr>
              <a:t> </a:t>
            </a:r>
            <a:r>
              <a:rPr lang="en-US" sz="2000" b="0" dirty="0">
                <a:latin typeface="+mn-lt"/>
                <a:cs typeface="Arial" panose="020B0604020202020204" pitchFamily="34" charset="0"/>
              </a:rPr>
              <a:t>Foreign Export Supply</a:t>
            </a:r>
          </a:p>
        </p:txBody>
      </p:sp>
      <p:sp>
        <p:nvSpPr>
          <p:cNvPr id="7" name="Content Placeholder 6">
            <a:extLst>
              <a:ext uri="{FF2B5EF4-FFF2-40B4-BE49-F238E27FC236}">
                <a16:creationId xmlns:a16="http://schemas.microsoft.com/office/drawing/2014/main" id="{8507927E-CAA8-44DA-BA1F-81973897430C}"/>
              </a:ext>
            </a:extLst>
          </p:cNvPr>
          <p:cNvSpPr>
            <a:spLocks noGrp="1"/>
          </p:cNvSpPr>
          <p:nvPr>
            <p:ph sz="quarter" idx="10"/>
          </p:nvPr>
        </p:nvSpPr>
        <p:spPr>
          <a:xfrm>
            <a:off x="5410200" y="2362200"/>
            <a:ext cx="3276600" cy="3962400"/>
          </a:xfrm>
        </p:spPr>
        <p:txBody>
          <a:bodyPr>
            <a:normAutofit/>
          </a:bodyPr>
          <a:lstStyle/>
          <a:p>
            <a:pPr marL="0" indent="0">
              <a:spcBef>
                <a:spcPct val="10000"/>
              </a:spcBef>
              <a:spcAft>
                <a:spcPct val="10000"/>
              </a:spcAft>
              <a:buNone/>
            </a:pPr>
            <a:r>
              <a:rPr lang="en-US" sz="2000" b="0" dirty="0">
                <a:latin typeface="Arial" panose="020B0604020202020204" pitchFamily="34" charset="0"/>
                <a:cs typeface="Arial" panose="020B0604020202020204" pitchFamily="34" charset="0"/>
              </a:rPr>
              <a:t>With the Home import demand of M, the world equilibrium is at point B</a:t>
            </a:r>
            <a:r>
              <a:rPr lang="en-US" sz="2000" b="0" baseline="30000" dirty="0">
                <a:latin typeface="Arial" panose="020B0604020202020204" pitchFamily="34" charset="0"/>
                <a:cs typeface="Arial" panose="020B0604020202020204" pitchFamily="34" charset="0"/>
              </a:rPr>
              <a:t>*</a:t>
            </a:r>
            <a:r>
              <a:rPr lang="en-US" sz="2000" b="0" dirty="0">
                <a:latin typeface="Arial" panose="020B0604020202020204" pitchFamily="34" charset="0"/>
                <a:cs typeface="Arial" panose="020B0604020202020204" pitchFamily="34" charset="0"/>
              </a:rPr>
              <a:t>, with the price P</a:t>
            </a:r>
            <a:r>
              <a:rPr lang="en-US" sz="2000" b="0" baseline="30000" dirty="0">
                <a:latin typeface="Arial" panose="020B0604020202020204" pitchFamily="34" charset="0"/>
                <a:cs typeface="Arial" panose="020B0604020202020204" pitchFamily="34" charset="0"/>
              </a:rPr>
              <a:t>W</a:t>
            </a:r>
            <a:r>
              <a:rPr lang="en-US" sz="2000" b="0" dirty="0">
                <a:latin typeface="Arial" panose="020B0604020202020204" pitchFamily="34" charset="0"/>
                <a:cs typeface="Arial" panose="020B0604020202020204" pitchFamily="34" charset="0"/>
              </a:rPr>
              <a:t>.</a:t>
            </a:r>
          </a:p>
        </p:txBody>
      </p:sp>
      <p:pic>
        <p:nvPicPr>
          <p:cNvPr id="9" name="Picture Placeholder 5" descr="Two graphs titled (a) Foreign market and (b) World market illustrate foreign export supply. Graph (a) shows the X-axis as Quantity and marks D asterisk, subscript 1 and S asterisk, subscript 1. The Y-axis represents Price and marks P superscript A asterisk and P superscript W. Two straight lines are depicted: S asterisk slanting positively from the bottom left to the top right of the graph and D asterisk slanting negatively from the top left to the bottom right. They intersect at point A asterisk, which occurs at price P superscript A asterisk. The area between quantity D asterisk, subscript 1 and S asterisk, subscript 1 is labeled “foreign exports, X asterisk, subscript 1.” &#10;Graph (b) shows the X-axis as Exports and Y-axis as Price. Foreign export supply, X asterisk is a positive sloping line from point (0, A asterisk prime). Home import demand, M line slants negatively from point (0, p superscript A). Both these lines form an X shape and intersect at point B (X asterisk subscript 1, P superscript W). ">
            <a:extLst>
              <a:ext uri="{FF2B5EF4-FFF2-40B4-BE49-F238E27FC236}">
                <a16:creationId xmlns:a16="http://schemas.microsoft.com/office/drawing/2014/main" id="{403A462A-83C8-4EC9-9EB7-61A7298C8D12}"/>
              </a:ext>
            </a:extLst>
          </p:cNvPr>
          <p:cNvPicPr>
            <a:picLocks noGrp="1" noChangeAspect="1"/>
          </p:cNvPicPr>
          <p:nvPr>
            <p:ph type="pic" sz="quarter" idx="12"/>
          </p:nvPr>
        </p:nvPicPr>
        <p:blipFill>
          <a:blip r:embed="rId2" cstate="print">
            <a:extLst>
              <a:ext uri="{28A0092B-C50C-407E-A947-70E740481C1C}">
                <a14:useLocalDpi xmlns:a14="http://schemas.microsoft.com/office/drawing/2010/main" val="0"/>
              </a:ext>
            </a:extLst>
          </a:blip>
          <a:stretch>
            <a:fillRect/>
          </a:stretch>
        </p:blipFill>
        <p:spPr>
          <a:xfrm>
            <a:off x="457200" y="2514600"/>
            <a:ext cx="4469846" cy="2602458"/>
          </a:xfrm>
          <a:prstGeom prst="rect">
            <a:avLst/>
          </a:prstGeom>
        </p:spPr>
      </p:pic>
    </p:spTree>
    <p:extLst>
      <p:ext uri="{BB962C8B-B14F-4D97-AF65-F5344CB8AC3E}">
        <p14:creationId xmlns:p14="http://schemas.microsoft.com/office/powerpoint/2010/main" val="19304638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F6555-B79E-443F-99E7-9EE351B3A62E}"/>
              </a:ext>
            </a:extLst>
          </p:cNvPr>
          <p:cNvSpPr>
            <a:spLocks noGrp="1"/>
          </p:cNvSpPr>
          <p:nvPr>
            <p:ph type="title"/>
          </p:nvPr>
        </p:nvSpPr>
        <p:spPr/>
        <p:txBody>
          <a:bodyPr/>
          <a:lstStyle/>
          <a:p>
            <a:r>
              <a:rPr lang="en-US" dirty="0"/>
              <a:t>4) Import Tariffs for a Large Country </a:t>
            </a:r>
            <a:br>
              <a:rPr lang="en-US" dirty="0"/>
            </a:br>
            <a:r>
              <a:rPr lang="en-US" dirty="0"/>
              <a:t>(part 4)</a:t>
            </a:r>
            <a:endParaRPr lang="en-IN" dirty="0"/>
          </a:p>
        </p:txBody>
      </p:sp>
      <p:sp>
        <p:nvSpPr>
          <p:cNvPr id="3" name="Content Placeholder 2">
            <a:extLst>
              <a:ext uri="{FF2B5EF4-FFF2-40B4-BE49-F238E27FC236}">
                <a16:creationId xmlns:a16="http://schemas.microsoft.com/office/drawing/2014/main" id="{24283338-5BBB-4ADA-AF85-C64B3B3105BD}"/>
              </a:ext>
            </a:extLst>
          </p:cNvPr>
          <p:cNvSpPr>
            <a:spLocks noGrp="1"/>
          </p:cNvSpPr>
          <p:nvPr>
            <p:ph idx="1"/>
          </p:nvPr>
        </p:nvSpPr>
        <p:spPr>
          <a:xfrm>
            <a:off x="457200" y="1600202"/>
            <a:ext cx="8229600" cy="1143000"/>
          </a:xfrm>
        </p:spPr>
        <p:txBody>
          <a:bodyPr>
            <a:normAutofit/>
          </a:bodyPr>
          <a:lstStyle/>
          <a:p>
            <a:pPr marL="0" indent="0">
              <a:buNone/>
            </a:pPr>
            <a:r>
              <a:rPr lang="en-US" sz="1800" b="1" dirty="0">
                <a:latin typeface="+mn-lt"/>
                <a:cs typeface="Arial" panose="020B0604020202020204" pitchFamily="34" charset="0"/>
              </a:rPr>
              <a:t>Effect of the Tariff</a:t>
            </a:r>
          </a:p>
          <a:p>
            <a:pPr marL="0" indent="0">
              <a:buNone/>
            </a:pPr>
            <a:r>
              <a:rPr lang="en-US" sz="1800" b="1" dirty="0">
                <a:latin typeface="+mn-lt"/>
                <a:cs typeface="Arial" panose="020B0604020202020204" pitchFamily="34" charset="0"/>
              </a:rPr>
              <a:t>Terms of Trade, Home’s Welfare, Foreign and World Welfare</a:t>
            </a:r>
          </a:p>
          <a:p>
            <a:pPr marL="0" indent="0">
              <a:buNone/>
            </a:pPr>
            <a:r>
              <a:rPr lang="en-US" sz="1800" b="1" dirty="0">
                <a:latin typeface="+mn-lt"/>
                <a:cs typeface="Arial" panose="020B0604020202020204" pitchFamily="34" charset="0"/>
              </a:rPr>
              <a:t>FIGURE 7</a:t>
            </a:r>
          </a:p>
        </p:txBody>
      </p:sp>
      <p:sp>
        <p:nvSpPr>
          <p:cNvPr id="4" name="Content Placeholder 3">
            <a:extLst>
              <a:ext uri="{FF2B5EF4-FFF2-40B4-BE49-F238E27FC236}">
                <a16:creationId xmlns:a16="http://schemas.microsoft.com/office/drawing/2014/main" id="{3ABA0F11-B1FA-4AB7-87AC-76AF255F97B4}"/>
              </a:ext>
            </a:extLst>
          </p:cNvPr>
          <p:cNvSpPr>
            <a:spLocks noGrp="1"/>
          </p:cNvSpPr>
          <p:nvPr>
            <p:ph sz="quarter" idx="10"/>
          </p:nvPr>
        </p:nvSpPr>
        <p:spPr>
          <a:xfrm>
            <a:off x="457200" y="5105400"/>
            <a:ext cx="4876800" cy="1295400"/>
          </a:xfrm>
        </p:spPr>
        <p:txBody>
          <a:bodyPr>
            <a:normAutofit/>
          </a:bodyPr>
          <a:lstStyle/>
          <a:p>
            <a:pPr marL="0" indent="0">
              <a:spcBef>
                <a:spcPct val="10000"/>
              </a:spcBef>
              <a:spcAft>
                <a:spcPct val="10000"/>
              </a:spcAft>
              <a:buNone/>
            </a:pPr>
            <a:r>
              <a:rPr lang="en-US" sz="1800" b="0" dirty="0">
                <a:latin typeface="Arial" panose="020B0604020202020204" pitchFamily="34" charset="0"/>
                <a:cs typeface="Arial" panose="020B0604020202020204" pitchFamily="34" charset="0"/>
              </a:rPr>
              <a:t>Fall in consumer surplus: −(a + b + c + d)</a:t>
            </a:r>
          </a:p>
          <a:p>
            <a:pPr marL="0" indent="0">
              <a:spcBef>
                <a:spcPct val="10000"/>
              </a:spcBef>
              <a:spcAft>
                <a:spcPct val="10000"/>
              </a:spcAft>
              <a:buNone/>
            </a:pPr>
            <a:r>
              <a:rPr lang="en-US" sz="1800" b="0" dirty="0">
                <a:latin typeface="Arial" panose="020B0604020202020204" pitchFamily="34" charset="0"/>
                <a:cs typeface="Arial" panose="020B0604020202020204" pitchFamily="34" charset="0"/>
              </a:rPr>
              <a:t>Rise in producer surplus: +a</a:t>
            </a:r>
          </a:p>
          <a:p>
            <a:pPr marL="0" indent="0">
              <a:spcBef>
                <a:spcPct val="10000"/>
              </a:spcBef>
              <a:spcAft>
                <a:spcPct val="10000"/>
              </a:spcAft>
              <a:buNone/>
            </a:pPr>
            <a:r>
              <a:rPr lang="en-US" sz="1800" b="0" dirty="0">
                <a:latin typeface="Arial" panose="020B0604020202020204" pitchFamily="34" charset="0"/>
                <a:cs typeface="Arial" panose="020B0604020202020204" pitchFamily="34" charset="0"/>
              </a:rPr>
              <a:t>Rise in government revenue: +(c + e)</a:t>
            </a:r>
          </a:p>
          <a:p>
            <a:pPr marL="0" indent="0">
              <a:spcBef>
                <a:spcPct val="10000"/>
              </a:spcBef>
              <a:spcAft>
                <a:spcPct val="10000"/>
              </a:spcAft>
              <a:buNone/>
            </a:pPr>
            <a:r>
              <a:rPr lang="en-US" sz="1800" b="0" dirty="0">
                <a:latin typeface="Arial" panose="020B0604020202020204" pitchFamily="34" charset="0"/>
                <a:cs typeface="Arial" panose="020B0604020202020204" pitchFamily="34" charset="0"/>
              </a:rPr>
              <a:t>Net effect on Home welfare: e − (b + d)</a:t>
            </a:r>
          </a:p>
        </p:txBody>
      </p:sp>
      <p:sp>
        <p:nvSpPr>
          <p:cNvPr id="5" name="Content Placeholder 4">
            <a:extLst>
              <a:ext uri="{FF2B5EF4-FFF2-40B4-BE49-F238E27FC236}">
                <a16:creationId xmlns:a16="http://schemas.microsoft.com/office/drawing/2014/main" id="{F4D4AF03-846B-4A22-831D-CC5CA22EFD47}"/>
              </a:ext>
            </a:extLst>
          </p:cNvPr>
          <p:cNvSpPr>
            <a:spLocks noGrp="1"/>
          </p:cNvSpPr>
          <p:nvPr>
            <p:ph sz="quarter" idx="11"/>
          </p:nvPr>
        </p:nvSpPr>
        <p:spPr>
          <a:xfrm>
            <a:off x="5486400" y="2362200"/>
            <a:ext cx="3200400" cy="3962400"/>
          </a:xfrm>
        </p:spPr>
        <p:txBody>
          <a:bodyPr>
            <a:normAutofit fontScale="85000" lnSpcReduction="10000"/>
          </a:bodyPr>
          <a:lstStyle/>
          <a:p>
            <a:pPr marL="0" indent="0">
              <a:spcBef>
                <a:spcPct val="10000"/>
              </a:spcBef>
              <a:spcAft>
                <a:spcPct val="10000"/>
              </a:spcAft>
              <a:buNone/>
            </a:pPr>
            <a:r>
              <a:rPr lang="en-US" sz="2000" b="1" dirty="0">
                <a:latin typeface="Arial" panose="020B0604020202020204" pitchFamily="34" charset="0"/>
                <a:cs typeface="Arial" panose="020B0604020202020204" pitchFamily="34" charset="0"/>
              </a:rPr>
              <a:t>Tariff for a Large Country</a:t>
            </a:r>
          </a:p>
          <a:p>
            <a:pPr marL="0" indent="0">
              <a:spcBef>
                <a:spcPct val="10000"/>
              </a:spcBef>
              <a:spcAft>
                <a:spcPct val="10000"/>
              </a:spcAft>
              <a:buNone/>
            </a:pPr>
            <a:r>
              <a:rPr lang="en-US" sz="2000" b="0" dirty="0">
                <a:latin typeface="Arial" panose="020B0604020202020204" pitchFamily="34" charset="0"/>
                <a:cs typeface="Arial" panose="020B0604020202020204" pitchFamily="34" charset="0"/>
              </a:rPr>
              <a:t>The tariff shifts up the export supply curve from X</a:t>
            </a:r>
            <a:r>
              <a:rPr lang="en-US" sz="2000" b="0" baseline="30000" dirty="0">
                <a:latin typeface="Arial" panose="020B0604020202020204" pitchFamily="34" charset="0"/>
                <a:cs typeface="Arial" panose="020B0604020202020204" pitchFamily="34" charset="0"/>
              </a:rPr>
              <a:t>*</a:t>
            </a:r>
            <a:r>
              <a:rPr lang="en-US" sz="2000" b="0" dirty="0">
                <a:latin typeface="Arial" panose="020B0604020202020204" pitchFamily="34" charset="0"/>
                <a:cs typeface="Arial" panose="020B0604020202020204" pitchFamily="34" charset="0"/>
              </a:rPr>
              <a:t> to X</a:t>
            </a:r>
            <a:r>
              <a:rPr lang="en-US" sz="2000" b="0" baseline="30000" dirty="0">
                <a:latin typeface="Arial" panose="020B0604020202020204" pitchFamily="34" charset="0"/>
                <a:cs typeface="Arial" panose="020B0604020202020204" pitchFamily="34" charset="0"/>
              </a:rPr>
              <a:t>*</a:t>
            </a:r>
            <a:r>
              <a:rPr lang="en-US" sz="2000" b="0" dirty="0">
                <a:latin typeface="Arial" panose="020B0604020202020204" pitchFamily="34" charset="0"/>
                <a:cs typeface="Arial" panose="020B0604020202020204" pitchFamily="34" charset="0"/>
              </a:rPr>
              <a:t>+ t. </a:t>
            </a:r>
          </a:p>
          <a:p>
            <a:pPr marL="0" indent="0">
              <a:spcBef>
                <a:spcPct val="10000"/>
              </a:spcBef>
              <a:spcAft>
                <a:spcPts val="600"/>
              </a:spcAft>
              <a:buNone/>
            </a:pPr>
            <a:r>
              <a:rPr lang="en-US" sz="2000" b="0" dirty="0">
                <a:latin typeface="Arial" panose="020B0604020202020204" pitchFamily="34" charset="0"/>
                <a:cs typeface="Arial" panose="020B0604020202020204" pitchFamily="34" charset="0"/>
              </a:rPr>
              <a:t>As a result, the Home price increases from P</a:t>
            </a:r>
            <a:r>
              <a:rPr lang="en-US" sz="2000" b="0" baseline="30000" dirty="0">
                <a:latin typeface="Arial" panose="020B0604020202020204" pitchFamily="34" charset="0"/>
                <a:cs typeface="Arial" panose="020B0604020202020204" pitchFamily="34" charset="0"/>
              </a:rPr>
              <a:t>W</a:t>
            </a:r>
            <a:r>
              <a:rPr lang="en-US" sz="2000" b="0" dirty="0">
                <a:latin typeface="Arial" panose="020B0604020202020204" pitchFamily="34" charset="0"/>
                <a:cs typeface="Arial" panose="020B0604020202020204" pitchFamily="34" charset="0"/>
              </a:rPr>
              <a:t> to P</a:t>
            </a:r>
            <a:r>
              <a:rPr lang="en-US" sz="2000" b="0" baseline="30000" dirty="0">
                <a:latin typeface="Arial" panose="020B0604020202020204" pitchFamily="34" charset="0"/>
                <a:cs typeface="Arial" panose="020B0604020202020204" pitchFamily="34" charset="0"/>
              </a:rPr>
              <a:t>*</a:t>
            </a:r>
            <a:r>
              <a:rPr lang="en-US" sz="2000" b="0" dirty="0">
                <a:latin typeface="Arial" panose="020B0604020202020204" pitchFamily="34" charset="0"/>
                <a:cs typeface="Arial" panose="020B0604020202020204" pitchFamily="34" charset="0"/>
              </a:rPr>
              <a:t> + t, and the Foreign price falls from P</a:t>
            </a:r>
            <a:r>
              <a:rPr lang="en-US" sz="2000" b="0" baseline="30000" dirty="0">
                <a:latin typeface="Arial" panose="020B0604020202020204" pitchFamily="34" charset="0"/>
                <a:cs typeface="Arial" panose="020B0604020202020204" pitchFamily="34" charset="0"/>
              </a:rPr>
              <a:t>W</a:t>
            </a:r>
            <a:r>
              <a:rPr lang="en-US" sz="2000" b="0" dirty="0">
                <a:latin typeface="Arial" panose="020B0604020202020204" pitchFamily="34" charset="0"/>
                <a:cs typeface="Arial" panose="020B0604020202020204" pitchFamily="34" charset="0"/>
              </a:rPr>
              <a:t> to P</a:t>
            </a:r>
            <a:r>
              <a:rPr lang="en-US" sz="2000" b="0" baseline="30000" dirty="0">
                <a:latin typeface="Arial" panose="020B0604020202020204" pitchFamily="34" charset="0"/>
                <a:cs typeface="Arial" panose="020B0604020202020204" pitchFamily="34" charset="0"/>
              </a:rPr>
              <a:t>*</a:t>
            </a:r>
            <a:r>
              <a:rPr lang="en-US" sz="2000" b="0" dirty="0">
                <a:latin typeface="Arial" panose="020B0604020202020204" pitchFamily="34" charset="0"/>
                <a:cs typeface="Arial" panose="020B0604020202020204" pitchFamily="34" charset="0"/>
              </a:rPr>
              <a:t>. </a:t>
            </a:r>
          </a:p>
          <a:p>
            <a:pPr marL="0" indent="0">
              <a:spcBef>
                <a:spcPct val="10000"/>
              </a:spcBef>
              <a:spcAft>
                <a:spcPts val="600"/>
              </a:spcAft>
              <a:buNone/>
            </a:pPr>
            <a:r>
              <a:rPr lang="en-US" sz="2000" b="0" dirty="0">
                <a:latin typeface="Arial" panose="020B0604020202020204" pitchFamily="34" charset="0"/>
                <a:cs typeface="Arial" panose="020B0604020202020204" pitchFamily="34" charset="0"/>
              </a:rPr>
              <a:t>The deadweight loss at Home is the area of the triangle (b + d), and Home also has a terms-of-trade gain of area e. </a:t>
            </a:r>
          </a:p>
          <a:p>
            <a:pPr marL="0" indent="0">
              <a:spcBef>
                <a:spcPct val="10000"/>
              </a:spcBef>
              <a:spcAft>
                <a:spcPts val="600"/>
              </a:spcAft>
              <a:buNone/>
            </a:pPr>
            <a:r>
              <a:rPr lang="en-US" sz="2000" b="0" dirty="0">
                <a:latin typeface="Arial" panose="020B0604020202020204" pitchFamily="34" charset="0"/>
                <a:cs typeface="Arial" panose="020B0604020202020204" pitchFamily="34" charset="0"/>
              </a:rPr>
              <a:t>Foreign loses the area (e + f), so the net loss in world welfare is the triangle (b + d + f). Area e is a measure of the terms-of-trade gain for the importer.</a:t>
            </a:r>
          </a:p>
        </p:txBody>
      </p:sp>
      <p:pic>
        <p:nvPicPr>
          <p:cNvPr id="8" name="Picture Placeholder 7" descr="Two graphs titled (a) Home Market and (b) World market illustrate the tariff for a large country. The (a) Home Market graph shows the Y-axis as Price with marks P asterisk, P superscript W, and P asterisk plus t on it. Horizontal dotted lines are drawn from these marks on the Y-axis. The X-axis represents Quantity with marks S subscript 1, S subscript 2, D subscript 1, and D subscript 2. Vertical dotted lines are seen from these marks on the X-axis. Point A shows the no-trade equilibrium where line S, slanting positively from the bottom left to the top right of the graph, intersects with line D, slanting negatively from the top left to the bottom right of the graph. The area between line S and dotted lines from P asterisk plus t and P superscript W is labeled “a.” The triangular area enclosed by the line S and dotted lines from S subscript 2 and P superscript W is labeled “b.” The rectangular area enclosed by dotted lines from P superscript W, P asterisk plus t, S subscript 2, and D subscript 2 is labeled “c.” The triangular area enclosed by the line D, and dotted lines from D subscript 2 and P superscript W is labeled “d.” The rectangular area enclosed by dotted lines from P superscript W, P asterisk, S subscript 2, and D subscript 2 is labeled “e.”&#10;The (b) World Market graph shows the X-axis as Import with marks M subscript 2 and M subscript 1 on it. The Y-axis represents Price with marks P asterisk, P superscript W, and P asterisk plus t on it. A positive sloping line is labeled “X asterisk.” Line X asterisk t is above and parallel to X asterisk line. An arrow labeled t is drawn from line X asterisk to X asterisk plus t. A negative sloping line, labeled “M,” from the vertical axis above the point P asterisk plus t meets the line X asterisk plus t at point C and X asterisk at point B asterisk. Dotted lines are drawn from P asterisk, P superscript W, and P asterisk plus t, parallel to the horizontal axis. Dotted lines are drawn from M subscript 2 and M subscript 1, parallel to the vertical axis. The line from M subscript 2 meets the line from P asterisk at a point C asterisk on the line X asterisk, and continues to meet the line from P asterisk plus t at a point C. The line from M subscript 1 meets the line from P superscript W at the point B asterisk. The rectangular area enclosed by the vertical axis, and the lines from M subscript 2, P asterisk, and P superscript W is labeled “e.” Triangular area enclosed by the lines M and X asterisk, and the line from M subscript 2 is labeled “f.” Triangular area enclosed by the line M and the lines from M subscript 2 and P superscript W is labeled “b plus d.” ">
            <a:extLst>
              <a:ext uri="{FF2B5EF4-FFF2-40B4-BE49-F238E27FC236}">
                <a16:creationId xmlns:a16="http://schemas.microsoft.com/office/drawing/2014/main" id="{38EAAC0F-30D8-4C72-86A9-504744F9B7BD}"/>
              </a:ext>
            </a:extLst>
          </p:cNvPr>
          <p:cNvPicPr>
            <a:picLocks noGrp="1" noChangeAspect="1"/>
          </p:cNvPicPr>
          <p:nvPr>
            <p:ph type="pic" sz="quarter" idx="12"/>
          </p:nvPr>
        </p:nvPicPr>
        <p:blipFill>
          <a:blip r:embed="rId2"/>
          <a:stretch>
            <a:fillRect/>
          </a:stretch>
        </p:blipFill>
        <p:spPr>
          <a:xfrm>
            <a:off x="642399" y="2905749"/>
            <a:ext cx="3881563" cy="1929332"/>
          </a:xfrm>
          <a:prstGeom prst="rect">
            <a:avLst/>
          </a:prstGeom>
        </p:spPr>
      </p:pic>
    </p:spTree>
    <p:extLst>
      <p:ext uri="{BB962C8B-B14F-4D97-AF65-F5344CB8AC3E}">
        <p14:creationId xmlns:p14="http://schemas.microsoft.com/office/powerpoint/2010/main" val="2693296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A21F7-4D26-4711-8204-584F93EDD1B9}"/>
              </a:ext>
            </a:extLst>
          </p:cNvPr>
          <p:cNvSpPr>
            <a:spLocks noGrp="1"/>
          </p:cNvSpPr>
          <p:nvPr>
            <p:ph type="title"/>
          </p:nvPr>
        </p:nvSpPr>
        <p:spPr/>
        <p:txBody>
          <a:bodyPr/>
          <a:lstStyle/>
          <a:p>
            <a:r>
              <a:rPr lang="en-US" dirty="0"/>
              <a:t>4) Import Tariffs for a Large Country </a:t>
            </a:r>
            <a:br>
              <a:rPr lang="en-US" dirty="0"/>
            </a:br>
            <a:r>
              <a:rPr lang="en-US" dirty="0"/>
              <a:t>(part 5)</a:t>
            </a:r>
            <a:endParaRPr lang="en-IN" dirty="0"/>
          </a:p>
        </p:txBody>
      </p:sp>
      <p:sp>
        <p:nvSpPr>
          <p:cNvPr id="3" name="Content Placeholder 2">
            <a:extLst>
              <a:ext uri="{FF2B5EF4-FFF2-40B4-BE49-F238E27FC236}">
                <a16:creationId xmlns:a16="http://schemas.microsoft.com/office/drawing/2014/main" id="{26407A03-A86F-4AD5-BD89-12BFB6639C84}"/>
              </a:ext>
            </a:extLst>
          </p:cNvPr>
          <p:cNvSpPr>
            <a:spLocks noGrp="1"/>
          </p:cNvSpPr>
          <p:nvPr>
            <p:ph idx="1"/>
          </p:nvPr>
        </p:nvSpPr>
        <p:spPr>
          <a:xfrm>
            <a:off x="457200" y="1600201"/>
            <a:ext cx="4953000" cy="1154112"/>
          </a:xfrm>
        </p:spPr>
        <p:txBody>
          <a:bodyPr>
            <a:normAutofit/>
          </a:bodyPr>
          <a:lstStyle/>
          <a:p>
            <a:pPr marL="0" indent="0">
              <a:buNone/>
            </a:pPr>
            <a:r>
              <a:rPr lang="en-IN" sz="1800" dirty="0"/>
              <a:t>Foreign Export Supply</a:t>
            </a:r>
          </a:p>
          <a:p>
            <a:pPr marL="0" indent="0">
              <a:buNone/>
            </a:pPr>
            <a:r>
              <a:rPr lang="en-US" sz="1800" dirty="0"/>
              <a:t>Optimal Tariff for a Large Importing Country</a:t>
            </a:r>
          </a:p>
          <a:p>
            <a:pPr marL="0" indent="0">
              <a:buNone/>
            </a:pPr>
            <a:r>
              <a:rPr lang="en-IN" sz="1800" dirty="0"/>
              <a:t>FIGURE 8</a:t>
            </a:r>
          </a:p>
        </p:txBody>
      </p:sp>
      <p:sp>
        <p:nvSpPr>
          <p:cNvPr id="4" name="Content Placeholder 3">
            <a:extLst>
              <a:ext uri="{FF2B5EF4-FFF2-40B4-BE49-F238E27FC236}">
                <a16:creationId xmlns:a16="http://schemas.microsoft.com/office/drawing/2014/main" id="{81A8314E-EA05-4271-AFAE-D713D7CE3648}"/>
              </a:ext>
            </a:extLst>
          </p:cNvPr>
          <p:cNvSpPr>
            <a:spLocks noGrp="1"/>
          </p:cNvSpPr>
          <p:nvPr>
            <p:ph sz="quarter" idx="10"/>
          </p:nvPr>
        </p:nvSpPr>
        <p:spPr>
          <a:xfrm>
            <a:off x="457200" y="5181600"/>
            <a:ext cx="4800600" cy="1066800"/>
          </a:xfrm>
        </p:spPr>
        <p:txBody>
          <a:bodyPr>
            <a:normAutofit/>
          </a:bodyPr>
          <a:lstStyle/>
          <a:p>
            <a:pPr marL="0" indent="0">
              <a:buNone/>
            </a:pPr>
            <a:r>
              <a:rPr lang="en-US" sz="1800" dirty="0">
                <a:latin typeface="Arial" panose="020B0604020202020204" pitchFamily="34" charset="0"/>
                <a:cs typeface="Arial" panose="020B0604020202020204" pitchFamily="34" charset="0"/>
              </a:rPr>
              <a:t>Optimal Tariff Formula </a:t>
            </a:r>
            <a:r>
              <a:rPr lang="en-US" sz="1800" b="0" dirty="0">
                <a:latin typeface="Arial" panose="020B0604020202020204" pitchFamily="34" charset="0"/>
                <a:cs typeface="Arial" panose="020B0604020202020204" pitchFamily="34" charset="0"/>
              </a:rPr>
              <a:t>The formula depends on the elasticity of Foreign export supply, which we call E*</a:t>
            </a:r>
            <a:r>
              <a:rPr lang="en-US" sz="1800" b="0" baseline="-25000" dirty="0">
                <a:latin typeface="Arial" panose="020B0604020202020204" pitchFamily="34" charset="0"/>
                <a:cs typeface="Arial" panose="020B0604020202020204" pitchFamily="34" charset="0"/>
              </a:rPr>
              <a:t>X</a:t>
            </a:r>
            <a:r>
              <a:rPr lang="en-US" sz="1800" b="0" dirty="0">
                <a:latin typeface="Arial" panose="020B0604020202020204" pitchFamily="34" charset="0"/>
                <a:cs typeface="Arial" panose="020B0604020202020204" pitchFamily="34" charset="0"/>
              </a:rPr>
              <a:t>:</a:t>
            </a:r>
          </a:p>
        </p:txBody>
      </p:sp>
      <p:sp>
        <p:nvSpPr>
          <p:cNvPr id="5" name="Content Placeholder 4">
            <a:extLst>
              <a:ext uri="{FF2B5EF4-FFF2-40B4-BE49-F238E27FC236}">
                <a16:creationId xmlns:a16="http://schemas.microsoft.com/office/drawing/2014/main" id="{E9736485-82CB-46BD-9231-6BBB9376899F}"/>
              </a:ext>
            </a:extLst>
          </p:cNvPr>
          <p:cNvSpPr>
            <a:spLocks noGrp="1"/>
          </p:cNvSpPr>
          <p:nvPr>
            <p:ph sz="quarter" idx="11"/>
          </p:nvPr>
        </p:nvSpPr>
        <p:spPr>
          <a:xfrm>
            <a:off x="5410200" y="1600201"/>
            <a:ext cx="3581400" cy="3809999"/>
          </a:xfrm>
        </p:spPr>
        <p:txBody>
          <a:bodyPr>
            <a:normAutofit/>
          </a:bodyPr>
          <a:lstStyle/>
          <a:p>
            <a:pPr marL="0" indent="0">
              <a:buNone/>
            </a:pPr>
            <a:r>
              <a:rPr lang="en-US" sz="1600" b="0" dirty="0">
                <a:latin typeface="Arial" panose="020B0604020202020204" pitchFamily="34" charset="0"/>
                <a:cs typeface="Arial" panose="020B0604020202020204" pitchFamily="34" charset="0"/>
              </a:rPr>
              <a:t>Tariffs and Welfare for a Large Country For a large importing country, a tariff initially increases the importer’s welfare because the terms-of-trade gain exceeds the deadweight loss. So the importer’s welfare rises from point B. Welfare continues to rise until the tariff is at its optimal level (point C). After that, welfare falls. If the tariff is too large (greater than at B</a:t>
            </a:r>
            <a:r>
              <a:rPr lang="en-US" sz="1600" b="0" dirty="0">
                <a:latin typeface="Arial" panose="020B0604020202020204" pitchFamily="34" charset="0"/>
                <a:cs typeface="Arial" panose="020B0604020202020204" pitchFamily="34" charset="0"/>
                <a:sym typeface="Symbol" pitchFamily="18" charset="2"/>
              </a:rPr>
              <a:t></a:t>
            </a:r>
            <a:r>
              <a:rPr lang="en-US" sz="1600" b="0" dirty="0">
                <a:latin typeface="Arial" panose="020B0604020202020204" pitchFamily="34" charset="0"/>
                <a:cs typeface="Arial" panose="020B0604020202020204" pitchFamily="34" charset="0"/>
              </a:rPr>
              <a:t>), then welfare will fall below the free-trade level. For a prohibitive tariff, with no imports at all, the importer’s welfare will be at the no-trade level, at point A.</a:t>
            </a:r>
          </a:p>
        </p:txBody>
      </p:sp>
      <p:pic>
        <p:nvPicPr>
          <p:cNvPr id="11" name="Picture Placeholder 5" descr="A line graph illustrates tariffs and welfare for a large country. From left to right, optimal tariff and prohibitive tariff are plotted on the X-axis representing Tariffs. From top to bottom, free trade and no trade are plotted on the Y-axis representing Importer’s welfare. A curve is drawn from point B (0, Free trade) through point C (Optimal tariff, value above free trade) and point A (Prohibitive trade, No trade). Point B prime is on the curve between points C and A at a Y-axis value of Free trade. After reaching point A, the curve continues as a horizontal line with No trade.&#10;The section of the curve from point B to B prime is labeled “Terms-of-trade gain exceeds deadweight loss.” The section of the curve from point B prime to A is labeled “Terms-of-trade gain is less than deadweight loss.”">
            <a:extLst>
              <a:ext uri="{FF2B5EF4-FFF2-40B4-BE49-F238E27FC236}">
                <a16:creationId xmlns:a16="http://schemas.microsoft.com/office/drawing/2014/main" id="{ABC5FF5D-3B04-44AF-9EB6-AAC9410C0005}"/>
              </a:ext>
            </a:extLst>
          </p:cNvPr>
          <p:cNvPicPr>
            <a:picLocks noGrp="1" noChangeAspect="1"/>
          </p:cNvPicPr>
          <p:nvPr>
            <p:ph type="pic" sz="quarter" idx="12"/>
          </p:nvPr>
        </p:nvPicPr>
        <p:blipFill>
          <a:blip r:embed="rId2" cstate="print">
            <a:extLst>
              <a:ext uri="{28A0092B-C50C-407E-A947-70E740481C1C}">
                <a14:useLocalDpi xmlns:a14="http://schemas.microsoft.com/office/drawing/2010/main" val="0"/>
              </a:ext>
            </a:extLst>
          </a:blip>
          <a:stretch>
            <a:fillRect/>
          </a:stretch>
        </p:blipFill>
        <p:spPr>
          <a:xfrm>
            <a:off x="1279839" y="2869223"/>
            <a:ext cx="3068237" cy="2007577"/>
          </a:xfrm>
          <a:prstGeom prst="rect">
            <a:avLst/>
          </a:prstGeom>
        </p:spPr>
      </p:pic>
      <mc:AlternateContent xmlns:mc="http://schemas.openxmlformats.org/markup-compatibility/2006" xmlns:a14="http://schemas.microsoft.com/office/drawing/2010/main">
        <mc:Choice Requires="a14">
          <p:sp>
            <p:nvSpPr>
              <p:cNvPr id="10" name="Content Placeholder 9">
                <a:extLst>
                  <a:ext uri="{FF2B5EF4-FFF2-40B4-BE49-F238E27FC236}">
                    <a16:creationId xmlns:a16="http://schemas.microsoft.com/office/drawing/2014/main" id="{0F9BF653-06E3-4036-AE3F-86316E3E77DC}"/>
                  </a:ext>
                </a:extLst>
              </p:cNvPr>
              <p:cNvSpPr>
                <a:spLocks noGrp="1"/>
              </p:cNvSpPr>
              <p:nvPr>
                <p:ph sz="quarter" idx="15"/>
              </p:nvPr>
            </p:nvSpPr>
            <p:spPr>
              <a:xfrm>
                <a:off x="5257800" y="5534587"/>
                <a:ext cx="3733800" cy="795229"/>
              </a:xfrm>
            </p:spPr>
            <p:txBody>
              <a:bodyPr>
                <a:noAutofit/>
              </a:bodyPr>
              <a:lstStyle/>
              <a:p>
                <a:pPr marL="0" indent="0">
                  <a:buNone/>
                </a:pPr>
                <a14:m>
                  <m:oMathPara xmlns:m="http://schemas.openxmlformats.org/officeDocument/2006/math">
                    <m:oMathParaPr>
                      <m:jc m:val="centerGroup"/>
                    </m:oMathParaPr>
                    <m:oMath xmlns:m="http://schemas.openxmlformats.org/officeDocument/2006/math">
                      <m:r>
                        <m:rPr>
                          <m:sty m:val="p"/>
                        </m:rPr>
                        <a:rPr lang="en-IN" sz="1800" b="0" i="0" smtClean="0">
                          <a:latin typeface="Cambria Math" panose="02040503050406030204" pitchFamily="18" charset="0"/>
                        </a:rPr>
                        <m:t>Optimal</m:t>
                      </m:r>
                      <m:r>
                        <a:rPr lang="en-IN" sz="1800" b="0" i="0" smtClean="0">
                          <a:latin typeface="Cambria Math" panose="02040503050406030204" pitchFamily="18" charset="0"/>
                        </a:rPr>
                        <m:t> </m:t>
                      </m:r>
                      <m:r>
                        <m:rPr>
                          <m:sty m:val="p"/>
                        </m:rPr>
                        <a:rPr lang="en-IN" sz="1800" b="0" i="0" smtClean="0">
                          <a:latin typeface="Cambria Math" panose="02040503050406030204" pitchFamily="18" charset="0"/>
                        </a:rPr>
                        <m:t>tariff</m:t>
                      </m:r>
                      <m:r>
                        <a:rPr lang="en-IN" sz="1800" b="0" i="1" smtClean="0">
                          <a:latin typeface="Cambria Math" panose="02040503050406030204" pitchFamily="18" charset="0"/>
                          <a:ea typeface="Cambria Math" panose="02040503050406030204" pitchFamily="18" charset="0"/>
                        </a:rPr>
                        <m:t>=</m:t>
                      </m:r>
                      <m:f>
                        <m:fPr>
                          <m:ctrlPr>
                            <a:rPr lang="en-IN" sz="1800" b="0" i="1" smtClean="0">
                              <a:latin typeface="Cambria Math" panose="02040503050406030204" pitchFamily="18" charset="0"/>
                              <a:ea typeface="Cambria Math" panose="02040503050406030204" pitchFamily="18" charset="0"/>
                            </a:rPr>
                          </m:ctrlPr>
                        </m:fPr>
                        <m:num>
                          <m:r>
                            <a:rPr lang="en-IN" sz="1800" b="0" i="1" smtClean="0">
                              <a:latin typeface="Cambria Math" panose="02040503050406030204" pitchFamily="18" charset="0"/>
                              <a:ea typeface="Cambria Math" panose="02040503050406030204" pitchFamily="18" charset="0"/>
                            </a:rPr>
                            <m:t>1</m:t>
                          </m:r>
                        </m:num>
                        <m:den>
                          <m:sSub>
                            <m:sSubPr>
                              <m:ctrlPr>
                                <a:rPr lang="en-IN" sz="1800" b="0" i="1" smtClean="0">
                                  <a:latin typeface="Cambria Math" panose="02040503050406030204" pitchFamily="18" charset="0"/>
                                  <a:ea typeface="Cambria Math" panose="02040503050406030204" pitchFamily="18" charset="0"/>
                                </a:rPr>
                              </m:ctrlPr>
                            </m:sSubPr>
                            <m:e>
                              <m:sSup>
                                <m:sSupPr>
                                  <m:ctrlPr>
                                    <a:rPr lang="en-IN" sz="1800" b="0" i="1" smtClean="0">
                                      <a:latin typeface="Cambria Math" panose="02040503050406030204" pitchFamily="18" charset="0"/>
                                      <a:ea typeface="Cambria Math" panose="02040503050406030204" pitchFamily="18" charset="0"/>
                                    </a:rPr>
                                  </m:ctrlPr>
                                </m:sSupPr>
                                <m:e>
                                  <m:r>
                                    <a:rPr lang="en-IN" sz="1800" b="0" i="1" smtClean="0">
                                      <a:latin typeface="Cambria Math" panose="02040503050406030204" pitchFamily="18" charset="0"/>
                                      <a:ea typeface="Cambria Math" panose="02040503050406030204" pitchFamily="18" charset="0"/>
                                    </a:rPr>
                                    <m:t>𝐸</m:t>
                                  </m:r>
                                </m:e>
                                <m:sup>
                                  <m:r>
                                    <a:rPr lang="en-IN" sz="1800" b="0" i="1" smtClean="0">
                                      <a:latin typeface="Cambria Math" panose="02040503050406030204" pitchFamily="18" charset="0"/>
                                      <a:ea typeface="Cambria Math" panose="02040503050406030204" pitchFamily="18" charset="0"/>
                                    </a:rPr>
                                    <m:t>∗</m:t>
                                  </m:r>
                                </m:sup>
                              </m:sSup>
                            </m:e>
                            <m:sub>
                              <m:r>
                                <a:rPr lang="en-IN" sz="1800" b="0" i="1" smtClean="0">
                                  <a:latin typeface="Cambria Math" panose="02040503050406030204" pitchFamily="18" charset="0"/>
                                  <a:ea typeface="Cambria Math" panose="02040503050406030204" pitchFamily="18" charset="0"/>
                                </a:rPr>
                                <m:t>𝑋</m:t>
                              </m:r>
                            </m:sub>
                          </m:sSub>
                        </m:den>
                      </m:f>
                    </m:oMath>
                  </m:oMathPara>
                </a14:m>
                <a:endParaRPr lang="en-IN" sz="1800" dirty="0"/>
              </a:p>
            </p:txBody>
          </p:sp>
        </mc:Choice>
        <mc:Fallback xmlns="">
          <p:sp>
            <p:nvSpPr>
              <p:cNvPr id="10" name="Content Placeholder 9">
                <a:extLst>
                  <a:ext uri="{FF2B5EF4-FFF2-40B4-BE49-F238E27FC236}">
                    <a16:creationId xmlns:a16="http://schemas.microsoft.com/office/drawing/2014/main" id="{0F9BF653-06E3-4036-AE3F-86316E3E77DC}"/>
                  </a:ext>
                </a:extLst>
              </p:cNvPr>
              <p:cNvSpPr>
                <a:spLocks noGrp="1" noRot="1" noChangeAspect="1" noMove="1" noResize="1" noEditPoints="1" noAdjustHandles="1" noChangeArrowheads="1" noChangeShapeType="1" noTextEdit="1"/>
              </p:cNvSpPr>
              <p:nvPr>
                <p:ph sz="quarter" idx="16"/>
              </p:nvPr>
            </p:nvSpPr>
            <p:spPr>
              <a:xfrm>
                <a:off x="5257800" y="5534587"/>
                <a:ext cx="3733800" cy="795229"/>
              </a:xfrm>
              <a:blipFill>
                <a:blip r:embed="rId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7351177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E6F37205-0A4F-423A-AE58-57DCF0B630D9}"/>
              </a:ext>
            </a:extLst>
          </p:cNvPr>
          <p:cNvSpPr>
            <a:spLocks noGrp="1"/>
          </p:cNvSpPr>
          <p:nvPr>
            <p:ph type="title"/>
          </p:nvPr>
        </p:nvSpPr>
        <p:spPr/>
        <p:txBody>
          <a:bodyPr/>
          <a:lstStyle/>
          <a:p>
            <a:r>
              <a:rPr lang="en-IN" dirty="0"/>
              <a:t>Conclusions (part 1)</a:t>
            </a:r>
          </a:p>
        </p:txBody>
      </p:sp>
      <p:sp>
        <p:nvSpPr>
          <p:cNvPr id="12" name="Content Placeholder 11">
            <a:extLst>
              <a:ext uri="{FF2B5EF4-FFF2-40B4-BE49-F238E27FC236}">
                <a16:creationId xmlns:a16="http://schemas.microsoft.com/office/drawing/2014/main" id="{35EE4655-E479-41E1-A61D-6F624708B25A}"/>
              </a:ext>
            </a:extLst>
          </p:cNvPr>
          <p:cNvSpPr>
            <a:spLocks noGrp="1"/>
          </p:cNvSpPr>
          <p:nvPr>
            <p:ph idx="1"/>
          </p:nvPr>
        </p:nvSpPr>
        <p:spPr/>
        <p:txBody>
          <a:bodyPr>
            <a:normAutofit/>
          </a:bodyPr>
          <a:lstStyle/>
          <a:p>
            <a:r>
              <a:rPr lang="en-US" b="0" dirty="0"/>
              <a:t>A tariff on imports is the most commonly used trade policy tool.</a:t>
            </a:r>
          </a:p>
          <a:p>
            <a:r>
              <a:rPr lang="en-US" b="0" dirty="0"/>
              <a:t>Assuming a small country, when we add together all the effects of a tariff—the drop in consumer surplus, the gain in producer surplus, and the government revenue collected—we still get a net loss for the importing country, which is a deadweight loss resulting from the tariff.</a:t>
            </a:r>
          </a:p>
          <a:p>
            <a:r>
              <a:rPr lang="en-US" b="0" dirty="0"/>
              <a:t>Why are tariffs used then? </a:t>
            </a:r>
          </a:p>
          <a:p>
            <a:pPr lvl="1"/>
            <a:r>
              <a:rPr lang="en-US" b="0" dirty="0"/>
              <a:t>They are an easy way for governments to raise revenue.</a:t>
            </a:r>
          </a:p>
          <a:p>
            <a:pPr lvl="1"/>
            <a:r>
              <a:rPr lang="en-US" b="0" dirty="0"/>
              <a:t>Politics. The government might care more about protecting firms than avoiding losses for consumers.</a:t>
            </a:r>
          </a:p>
          <a:p>
            <a:pPr lvl="1"/>
            <a:r>
              <a:rPr lang="en-US" b="0" dirty="0"/>
              <a:t>The small-country assumption may not hold in practice.</a:t>
            </a:r>
          </a:p>
        </p:txBody>
      </p:sp>
    </p:spTree>
    <p:extLst>
      <p:ext uri="{BB962C8B-B14F-4D97-AF65-F5344CB8AC3E}">
        <p14:creationId xmlns:p14="http://schemas.microsoft.com/office/powerpoint/2010/main" val="13502753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E6F37205-0A4F-423A-AE58-57DCF0B630D9}"/>
              </a:ext>
            </a:extLst>
          </p:cNvPr>
          <p:cNvSpPr>
            <a:spLocks noGrp="1"/>
          </p:cNvSpPr>
          <p:nvPr>
            <p:ph type="title"/>
          </p:nvPr>
        </p:nvSpPr>
        <p:spPr/>
        <p:txBody>
          <a:bodyPr/>
          <a:lstStyle/>
          <a:p>
            <a:r>
              <a:rPr lang="en-IN" dirty="0"/>
              <a:t>Conclusions (part 2)</a:t>
            </a:r>
          </a:p>
        </p:txBody>
      </p:sp>
      <p:sp>
        <p:nvSpPr>
          <p:cNvPr id="12" name="Content Placeholder 11">
            <a:extLst>
              <a:ext uri="{FF2B5EF4-FFF2-40B4-BE49-F238E27FC236}">
                <a16:creationId xmlns:a16="http://schemas.microsoft.com/office/drawing/2014/main" id="{35EE4655-E479-41E1-A61D-6F624708B25A}"/>
              </a:ext>
            </a:extLst>
          </p:cNvPr>
          <p:cNvSpPr>
            <a:spLocks noGrp="1"/>
          </p:cNvSpPr>
          <p:nvPr>
            <p:ph idx="1"/>
          </p:nvPr>
        </p:nvSpPr>
        <p:spPr/>
        <p:txBody>
          <a:bodyPr>
            <a:normAutofit/>
          </a:bodyPr>
          <a:lstStyle/>
          <a:p>
            <a:r>
              <a:rPr lang="en-US" b="0" dirty="0"/>
              <a:t>For a large country, when we add up the drop in consumer surplus, the gain in producer surplus, and the government revenue collected, it is possible for a small tariff to generate welfare gains for the importing country.</a:t>
            </a:r>
          </a:p>
          <a:p>
            <a:r>
              <a:rPr lang="en-US" b="0" dirty="0"/>
              <a:t>However, in this case, any gain for the importer comes at the expense of the foreign exporters. The drop in the exporter’s welfare due to the tariff is greater than the gain in the importer’s welfare. Therefore, the world loses overall because of the tariff.</a:t>
            </a:r>
          </a:p>
        </p:txBody>
      </p:sp>
    </p:spTree>
    <p:extLst>
      <p:ext uri="{BB962C8B-B14F-4D97-AF65-F5344CB8AC3E}">
        <p14:creationId xmlns:p14="http://schemas.microsoft.com/office/powerpoint/2010/main" val="23854637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w:document xmlns:w="http://schemas.openxmlformats.org/wordprocessingml/2006/main">
  <RequestId>acc95324-c823-436a-b931-6e33ae0488f7</RequestId>
  <RequestDate>12/8/2024 10:23:54 PM</RequestDate>
</w:document>
</file>

<file path=customXml/itemProps1.xml><?xml version="1.0" encoding="utf-8"?>
<ds:datastoreItem xmlns:ds="http://schemas.openxmlformats.org/officeDocument/2006/customXml" ds:itemID="{B96920BB-E6AE-784B-8BCD-4412C708EC33}">
  <ds:schemaRefs>
    <ds:schemaRef ds:uri="http://schemas.openxmlformats.org/wordprocessingml/2006/main"/>
  </ds:schemaRefs>
</ds:datastoreItem>
</file>

<file path=docProps/app.xml><?xml version="1.0" encoding="utf-8"?>
<Properties xmlns="http://schemas.openxmlformats.org/officeDocument/2006/extended-properties" xmlns:vt="http://schemas.openxmlformats.org/officeDocument/2006/docPropsVTypes">
  <Template/>
  <TotalTime>22226</TotalTime>
  <Words>3273</Words>
  <Application>Microsoft Macintosh PowerPoint</Application>
  <PresentationFormat>On-screen Show (4:3)</PresentationFormat>
  <Paragraphs>309</Paragraphs>
  <Slides>30</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Aptos</vt:lpstr>
      <vt:lpstr>Aptos Display</vt:lpstr>
      <vt:lpstr>Arial</vt:lpstr>
      <vt:lpstr>Calibri</vt:lpstr>
      <vt:lpstr>Cambria Math</vt:lpstr>
      <vt:lpstr>Museo Sans W01 500</vt:lpstr>
      <vt:lpstr>Office Theme</vt:lpstr>
      <vt:lpstr>Global Economic Shifts  ECON 220</vt:lpstr>
      <vt:lpstr>Questions to Consider</vt:lpstr>
      <vt:lpstr>Introduction (part 1)</vt:lpstr>
      <vt:lpstr>Introduction (part 2)</vt:lpstr>
      <vt:lpstr>1) A Brief History of the World Trade Organization (part 1)</vt:lpstr>
      <vt:lpstr>1) A Brief History of the World Trade Organization (part 2)</vt:lpstr>
      <vt:lpstr>1) A Brief History of the World Trade Organization (part 3)</vt:lpstr>
      <vt:lpstr>2) The Gains from Trade (part 1)</vt:lpstr>
      <vt:lpstr>2) The Gains from Trade (part 2)</vt:lpstr>
      <vt:lpstr>2) The Gains from Trade (part 3)</vt:lpstr>
      <vt:lpstr>2) The Gains from Trade (part 4)</vt:lpstr>
      <vt:lpstr>3) Import Tariffs for a Small Country  (part 1)</vt:lpstr>
      <vt:lpstr>3) Import Tariffs for a Small Country  (part 2)</vt:lpstr>
      <vt:lpstr>3) Import Tariffs for a Small Country  (part 3)</vt:lpstr>
      <vt:lpstr>3) Import Tariffs for a Small Country  (part 4)</vt:lpstr>
      <vt:lpstr>3) Import Tariffs for a Small Country  (part 5)</vt:lpstr>
      <vt:lpstr>3) Import Tariffs for a Small Country  (part 6)</vt:lpstr>
      <vt:lpstr>U.S. Tariffs on Steel,  2002-03 (part 1)</vt:lpstr>
      <vt:lpstr>U.S. Tariffs on Steel,  2002-03 (part 2)</vt:lpstr>
      <vt:lpstr>U.S. Tariffs on Steel, 2002-03 (part 3)</vt:lpstr>
      <vt:lpstr>U.S. and Foreign Tariffs Under President Trump, 2018–19 (part 1)</vt:lpstr>
      <vt:lpstr>U.S. and Foreign Tariffs Under President Trump, 2018–19 (part 2)</vt:lpstr>
      <vt:lpstr>The Political Economy of Tariffs</vt:lpstr>
      <vt:lpstr>4) Import Tariffs for a Large Country  (part 1)</vt:lpstr>
      <vt:lpstr>4) Import Tariffs for a Large Country  (part 2)</vt:lpstr>
      <vt:lpstr>4) Import Tariffs for a Large Country  (part 3)</vt:lpstr>
      <vt:lpstr>4) Import Tariffs for a Large Country  (part 4)</vt:lpstr>
      <vt:lpstr>4) Import Tariffs for a Large Country  (part 5)</vt:lpstr>
      <vt:lpstr>Conclusions (part 1)</vt:lpstr>
      <vt:lpstr>Conclusions (part 2)</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Hauk, William</dc:creator>
  <cp:keywords/>
  <dc:description/>
  <cp:lastModifiedBy>Muhebullah Karimzada</cp:lastModifiedBy>
  <cp:revision>512</cp:revision>
  <cp:lastPrinted>2020-07-14T14:40:33Z</cp:lastPrinted>
  <dcterms:created xsi:type="dcterms:W3CDTF">2014-04-06T21:35:48Z</dcterms:created>
  <dcterms:modified xsi:type="dcterms:W3CDTF">2025-03-13T20:24:25Z</dcterms:modified>
  <cp:category/>
</cp:coreProperties>
</file>