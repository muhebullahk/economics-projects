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7" r:id="rId2"/>
  </p:sldMasterIdLst>
  <p:notesMasterIdLst>
    <p:notesMasterId r:id="rId37"/>
  </p:notesMasterIdLst>
  <p:handoutMasterIdLst>
    <p:handoutMasterId r:id="rId38"/>
  </p:handoutMasterIdLst>
  <p:sldIdLst>
    <p:sldId id="1405" r:id="rId3"/>
    <p:sldId id="350" r:id="rId4"/>
    <p:sldId id="351" r:id="rId5"/>
    <p:sldId id="352" r:id="rId6"/>
    <p:sldId id="353" r:id="rId7"/>
    <p:sldId id="421" r:id="rId8"/>
    <p:sldId id="422" r:id="rId9"/>
    <p:sldId id="423" r:id="rId10"/>
    <p:sldId id="424" r:id="rId11"/>
    <p:sldId id="425" r:id="rId12"/>
    <p:sldId id="426" r:id="rId13"/>
    <p:sldId id="427" r:id="rId14"/>
    <p:sldId id="428" r:id="rId15"/>
    <p:sldId id="429" r:id="rId16"/>
    <p:sldId id="430" r:id="rId17"/>
    <p:sldId id="365" r:id="rId18"/>
    <p:sldId id="366" r:id="rId19"/>
    <p:sldId id="367" r:id="rId20"/>
    <p:sldId id="441" r:id="rId21"/>
    <p:sldId id="442" r:id="rId22"/>
    <p:sldId id="443" r:id="rId23"/>
    <p:sldId id="444" r:id="rId24"/>
    <p:sldId id="389" r:id="rId25"/>
    <p:sldId id="390" r:id="rId26"/>
    <p:sldId id="392" r:id="rId27"/>
    <p:sldId id="393" r:id="rId28"/>
    <p:sldId id="394" r:id="rId29"/>
    <p:sldId id="445" r:id="rId30"/>
    <p:sldId id="446" r:id="rId31"/>
    <p:sldId id="447" r:id="rId32"/>
    <p:sldId id="448" r:id="rId33"/>
    <p:sldId id="449" r:id="rId34"/>
    <p:sldId id="400" r:id="rId35"/>
    <p:sldId id="40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WM" initials="SWM [4]" lastIdx="1" clrIdx="6"/>
  <p:cmAuthor id="1" name="Jennifer Baker" initials="JB" lastIdx="1" clrIdx="0"/>
  <p:cmAuthor id="8" name="SWM" initials="SWM [5]" lastIdx="1" clrIdx="7"/>
  <p:cmAuthor id="2" name="Hauk, William" initials="HW" lastIdx="8" clrIdx="1"/>
  <p:cmAuthor id="9" name="SWM" initials="SWM [6]" lastIdx="1" clrIdx="8"/>
  <p:cmAuthor id="3" name="Mingzhi Xu" initials="MX" lastIdx="3" clrIdx="2"/>
  <p:cmAuthor id="10" name="Ramazani, Reza" initials="RR" lastIdx="71" clrIdx="9">
    <p:extLst>
      <p:ext uri="{19B8F6BF-5375-455C-9EA6-DF929625EA0E}">
        <p15:presenceInfo xmlns:p15="http://schemas.microsoft.com/office/powerpoint/2012/main" userId="Ramazani, Reza" providerId="None"/>
      </p:ext>
    </p:extLst>
  </p:cmAuthor>
  <p:cmAuthor id="4" name="SWM" initials="SWM" lastIdx="1" clrIdx="3"/>
  <p:cmAuthor id="11" name="PC" initials="P" lastIdx="16" clrIdx="10">
    <p:extLst>
      <p:ext uri="{19B8F6BF-5375-455C-9EA6-DF929625EA0E}">
        <p15:presenceInfo xmlns:p15="http://schemas.microsoft.com/office/powerpoint/2012/main" userId="PC" providerId="None"/>
      </p:ext>
    </p:extLst>
  </p:cmAuthor>
  <p:cmAuthor id="5" name="SWM" initials="SWM [2]" lastIdx="1" clrIdx="4"/>
  <p:cmAuthor id="12" name="Copyeditor" initials="CE" lastIdx="15" clrIdx="11">
    <p:extLst>
      <p:ext uri="{19B8F6BF-5375-455C-9EA6-DF929625EA0E}">
        <p15:presenceInfo xmlns:p15="http://schemas.microsoft.com/office/powerpoint/2012/main" userId="Copyeditor" providerId="None"/>
      </p:ext>
    </p:extLst>
  </p:cmAuthor>
  <p:cmAuthor id="6" name="SWM" initials="SWM [3]"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232"/>
    <a:srgbClr val="414141"/>
    <a:srgbClr val="474747"/>
    <a:srgbClr val="515151"/>
    <a:srgbClr val="6A1441"/>
    <a:srgbClr val="66143F"/>
    <a:srgbClr val="6D1543"/>
    <a:srgbClr val="63133D"/>
    <a:srgbClr val="2D4E77"/>
    <a:srgbClr val="6626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64" autoAdjust="0"/>
    <p:restoredTop sz="85282" autoAdjust="0"/>
  </p:normalViewPr>
  <p:slideViewPr>
    <p:cSldViewPr snapToGrid="0">
      <p:cViewPr varScale="1">
        <p:scale>
          <a:sx n="104" d="100"/>
          <a:sy n="104" d="100"/>
        </p:scale>
        <p:origin x="1464" y="200"/>
      </p:cViewPr>
      <p:guideLst>
        <p:guide orient="horz" pos="2160"/>
        <p:guide pos="2880"/>
      </p:guideLst>
    </p:cSldViewPr>
  </p:slideViewPr>
  <p:outlineViewPr>
    <p:cViewPr>
      <p:scale>
        <a:sx n="33" d="100"/>
        <a:sy n="33" d="100"/>
      </p:scale>
      <p:origin x="0" y="-924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093C52D-3BB2-964B-9FAF-1041F3DC6ED8}" type="datetimeFigureOut">
              <a:rPr lang="en-US" smtClean="0"/>
              <a:t>3/11/25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60C190A-1189-9642-A785-F10A9F2841BF}" type="slidenum">
              <a:rPr lang="en-US" smtClean="0"/>
              <a:t>‹#›</a:t>
            </a:fld>
            <a:endParaRPr lang="en-US"/>
          </a:p>
        </p:txBody>
      </p:sp>
    </p:spTree>
    <p:extLst>
      <p:ext uri="{BB962C8B-B14F-4D97-AF65-F5344CB8AC3E}">
        <p14:creationId xmlns:p14="http://schemas.microsoft.com/office/powerpoint/2010/main" val="30334727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DDB7AB-8332-4113-A0CE-B034A58717D6}" type="datetimeFigureOut">
              <a:rPr lang="en-US" smtClean="0"/>
              <a:t>3/11/25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EE90E9-943E-4074-BE1C-401CE0D4D3B2}" type="slidenum">
              <a:rPr lang="en-US" smtClean="0"/>
              <a:t>‹#›</a:t>
            </a:fld>
            <a:endParaRPr lang="en-US"/>
          </a:p>
        </p:txBody>
      </p:sp>
    </p:spTree>
    <p:extLst>
      <p:ext uri="{BB962C8B-B14F-4D97-AF65-F5344CB8AC3E}">
        <p14:creationId xmlns:p14="http://schemas.microsoft.com/office/powerpoint/2010/main" val="161059759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p:txBody>
      </p:sp>
      <p:sp>
        <p:nvSpPr>
          <p:cNvPr id="4" name="Slide Number Placeholder 3"/>
          <p:cNvSpPr>
            <a:spLocks noGrp="1"/>
          </p:cNvSpPr>
          <p:nvPr>
            <p:ph type="sldNum" sz="quarter" idx="5"/>
          </p:nvPr>
        </p:nvSpPr>
        <p:spPr/>
        <p:txBody>
          <a:bodyPr/>
          <a:lstStyle/>
          <a:p>
            <a:fld id="{7BEE90E9-943E-4074-BE1C-401CE0D4D3B2}" type="slidenum">
              <a:rPr lang="en-US" smtClean="0"/>
              <a:t>15</a:t>
            </a:fld>
            <a:endParaRPr lang="en-US"/>
          </a:p>
        </p:txBody>
      </p:sp>
    </p:spTree>
    <p:extLst>
      <p:ext uri="{BB962C8B-B14F-4D97-AF65-F5344CB8AC3E}">
        <p14:creationId xmlns:p14="http://schemas.microsoft.com/office/powerpoint/2010/main" val="504325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a:p>
            <a:endParaRPr lang="en-US" dirty="0"/>
          </a:p>
        </p:txBody>
      </p:sp>
      <p:sp>
        <p:nvSpPr>
          <p:cNvPr id="4" name="Slide Number Placeholder 3"/>
          <p:cNvSpPr>
            <a:spLocks noGrp="1"/>
          </p:cNvSpPr>
          <p:nvPr>
            <p:ph type="sldNum" sz="quarter" idx="5"/>
          </p:nvPr>
        </p:nvSpPr>
        <p:spPr/>
        <p:txBody>
          <a:bodyPr/>
          <a:lstStyle/>
          <a:p>
            <a:fld id="{7BEE90E9-943E-4074-BE1C-401CE0D4D3B2}" type="slidenum">
              <a:rPr lang="en-US" smtClean="0"/>
              <a:t>16</a:t>
            </a:fld>
            <a:endParaRPr lang="en-US"/>
          </a:p>
        </p:txBody>
      </p:sp>
    </p:spTree>
    <p:extLst>
      <p:ext uri="{BB962C8B-B14F-4D97-AF65-F5344CB8AC3E}">
        <p14:creationId xmlns:p14="http://schemas.microsoft.com/office/powerpoint/2010/main" val="3978678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a:p>
            <a:endParaRPr lang="en-US" dirty="0"/>
          </a:p>
        </p:txBody>
      </p:sp>
      <p:sp>
        <p:nvSpPr>
          <p:cNvPr id="4" name="Slide Number Placeholder 3"/>
          <p:cNvSpPr>
            <a:spLocks noGrp="1"/>
          </p:cNvSpPr>
          <p:nvPr>
            <p:ph type="sldNum" sz="quarter" idx="5"/>
          </p:nvPr>
        </p:nvSpPr>
        <p:spPr/>
        <p:txBody>
          <a:bodyPr/>
          <a:lstStyle/>
          <a:p>
            <a:fld id="{7BEE90E9-943E-4074-BE1C-401CE0D4D3B2}" type="slidenum">
              <a:rPr lang="en-US" smtClean="0"/>
              <a:t>17</a:t>
            </a:fld>
            <a:endParaRPr lang="en-US"/>
          </a:p>
        </p:txBody>
      </p:sp>
    </p:spTree>
    <p:extLst>
      <p:ext uri="{BB962C8B-B14F-4D97-AF65-F5344CB8AC3E}">
        <p14:creationId xmlns:p14="http://schemas.microsoft.com/office/powerpoint/2010/main" val="634002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a:p>
            <a:endParaRPr lang="en-US" dirty="0"/>
          </a:p>
        </p:txBody>
      </p:sp>
      <p:sp>
        <p:nvSpPr>
          <p:cNvPr id="4" name="Slide Number Placeholder 3"/>
          <p:cNvSpPr>
            <a:spLocks noGrp="1"/>
          </p:cNvSpPr>
          <p:nvPr>
            <p:ph type="sldNum" sz="quarter" idx="5"/>
          </p:nvPr>
        </p:nvSpPr>
        <p:spPr/>
        <p:txBody>
          <a:bodyPr/>
          <a:lstStyle/>
          <a:p>
            <a:fld id="{7BEE90E9-943E-4074-BE1C-401CE0D4D3B2}" type="slidenum">
              <a:rPr lang="en-US" smtClean="0"/>
              <a:t>18</a:t>
            </a:fld>
            <a:endParaRPr lang="en-US"/>
          </a:p>
        </p:txBody>
      </p:sp>
    </p:spTree>
    <p:extLst>
      <p:ext uri="{BB962C8B-B14F-4D97-AF65-F5344CB8AC3E}">
        <p14:creationId xmlns:p14="http://schemas.microsoft.com/office/powerpoint/2010/main" val="78556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23</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355832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24</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212800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25</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207743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26</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3576526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27</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1585436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28</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1085089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3EEF-F8E1-CD87-4567-23090B930B8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9A80BA2-D374-17ED-EA73-9C9B35987C7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A244701-D323-61B6-C2DE-10A057636F95}"/>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D8DE1524-D209-A1C0-0066-254970773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EDBB3-59B9-0BB7-4A0A-B24FDADA76B7}"/>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332107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B5D2-A830-EA8B-8E9C-A192B3FD06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F42B7-423B-08E3-AFFB-C42DACB8A6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6E2C3-5D37-98B8-A77C-C443FF85DDA0}"/>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AC5920F1-AAB9-54E4-F015-3B4933B0B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21C2E-0381-168C-430A-FFA23596DD1B}"/>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224322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177E-1E2B-B9A9-FD29-0E5919415A5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3777521-9142-5274-8F91-053E923FC75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F3E31C-A647-D902-3DA8-0B63494C9E2F}"/>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338711C6-266F-1548-5EB4-AC9F82CF1B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71779-FC94-AC50-D751-923F56B62C7D}"/>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97137416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3EB52-3184-B3E9-1F3B-5C72EB550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5D701-B158-9E0E-9145-F2B0B0E5221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4DFAB5-5FAC-D6A5-BB90-1E38F29583D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C8A5D7-DA2D-8E7E-018B-2CF17806E13F}"/>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6" name="Footer Placeholder 5">
            <a:extLst>
              <a:ext uri="{FF2B5EF4-FFF2-40B4-BE49-F238E27FC236}">
                <a16:creationId xmlns:a16="http://schemas.microsoft.com/office/drawing/2014/main" id="{011DA197-E250-492A-CA23-87140683ED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A232C-56D2-D74B-9984-BD14535958EC}"/>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88109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76B9-BC0D-26E8-9B69-E2FD4371829E}"/>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9AB2F1-ACEC-7E4E-92B9-4ABBA4E0A21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CFBCF-20B2-AD7E-3A40-8DFA51B9FF3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4145F7-5203-1226-9587-E3CDD48B6DE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4C0AD-E4C9-D47B-F2A9-98DF82F6FEB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2AB9F-6C83-74A4-69C7-CF189155374E}"/>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8" name="Footer Placeholder 7">
            <a:extLst>
              <a:ext uri="{FF2B5EF4-FFF2-40B4-BE49-F238E27FC236}">
                <a16:creationId xmlns:a16="http://schemas.microsoft.com/office/drawing/2014/main" id="{88E445EF-ED4D-6307-A2D2-7F63DC2C74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6370E7-3438-B0F0-92F5-0D1F80B4557E}"/>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43474185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D8308-9EA7-6A41-723D-9C550208EC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AD1FED-C855-D8AE-FF8A-2CF7B98A4178}"/>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4" name="Footer Placeholder 3">
            <a:extLst>
              <a:ext uri="{FF2B5EF4-FFF2-40B4-BE49-F238E27FC236}">
                <a16:creationId xmlns:a16="http://schemas.microsoft.com/office/drawing/2014/main" id="{19B6D776-E8DA-2A43-274B-38F73D26CF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BF2A74-D732-C1D2-831C-E0FB04027E54}"/>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64892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024676-8691-DBA3-5C34-0F4C29A1F7BA}"/>
              </a:ext>
            </a:extLst>
          </p:cNvPr>
          <p:cNvSpPr>
            <a:spLocks noGrp="1"/>
          </p:cNvSpPr>
          <p:nvPr>
            <p:ph type="dt" sz="half" idx="10"/>
          </p:nvPr>
        </p:nvSpPr>
        <p:spPr/>
        <p:txBody>
          <a:bodyPr/>
          <a:lstStyle/>
          <a:p>
            <a:fld id="{133781FD-0716-4D95-90AA-773D348A488A}" type="datetime1">
              <a:rPr lang="en-US" smtClean="0"/>
              <a:t>3/11/25</a:t>
            </a:fld>
            <a:endParaRPr lang="en-US"/>
          </a:p>
        </p:txBody>
      </p:sp>
      <p:sp>
        <p:nvSpPr>
          <p:cNvPr id="3" name="Footer Placeholder 2">
            <a:extLst>
              <a:ext uri="{FF2B5EF4-FFF2-40B4-BE49-F238E27FC236}">
                <a16:creationId xmlns:a16="http://schemas.microsoft.com/office/drawing/2014/main" id="{0CB510F4-3951-8389-5108-72A52D9F2158}"/>
              </a:ext>
            </a:extLst>
          </p:cNvPr>
          <p:cNvSpPr>
            <a:spLocks noGrp="1"/>
          </p:cNvSpPr>
          <p:nvPr>
            <p:ph type="ftr" sz="quarter" idx="11"/>
          </p:nvPr>
        </p:nvSpPr>
        <p:spPr/>
        <p:txBody>
          <a:bodyPr/>
          <a:lstStyle/>
          <a:p>
            <a:r>
              <a:rPr lang="en-US"/>
              <a:t>© 2021 Worth Publishers International Economics, 5e  |  Feenstra/Taylor</a:t>
            </a:r>
            <a:endParaRPr lang="en-US" dirty="0"/>
          </a:p>
        </p:txBody>
      </p:sp>
      <p:sp>
        <p:nvSpPr>
          <p:cNvPr id="4" name="Slide Number Placeholder 3">
            <a:extLst>
              <a:ext uri="{FF2B5EF4-FFF2-40B4-BE49-F238E27FC236}">
                <a16:creationId xmlns:a16="http://schemas.microsoft.com/office/drawing/2014/main" id="{625D5B13-4B2C-2BEA-573D-342608D019E9}"/>
              </a:ext>
            </a:extLst>
          </p:cNvPr>
          <p:cNvSpPr>
            <a:spLocks noGrp="1"/>
          </p:cNvSpPr>
          <p:nvPr>
            <p:ph type="sldNum" sz="quarter" idx="12"/>
          </p:nvPr>
        </p:nvSpPr>
        <p:spPr/>
        <p:txBody>
          <a:bodyPr/>
          <a:lstStyle/>
          <a:p>
            <a:fld id="{A97AFCAB-344D-4BA8-B9F3-5DB4AD47E82D}" type="slidenum">
              <a:rPr lang="en-US" smtClean="0"/>
              <a:t>‹#›</a:t>
            </a:fld>
            <a:endParaRPr lang="en-US"/>
          </a:p>
        </p:txBody>
      </p:sp>
    </p:spTree>
    <p:extLst>
      <p:ext uri="{BB962C8B-B14F-4D97-AF65-F5344CB8AC3E}">
        <p14:creationId xmlns:p14="http://schemas.microsoft.com/office/powerpoint/2010/main" val="3470128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43F71-4B5D-1C95-105B-93520A3EF16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947658C-1DD5-363D-BE65-56BC29F2051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02ED9-8F62-36E0-5E5F-DC7E13B7C72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CAE501D-7483-DFC7-12A2-4F846F8208B9}"/>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6" name="Footer Placeholder 5">
            <a:extLst>
              <a:ext uri="{FF2B5EF4-FFF2-40B4-BE49-F238E27FC236}">
                <a16:creationId xmlns:a16="http://schemas.microsoft.com/office/drawing/2014/main" id="{6579C645-05C2-161A-C329-DC113C46C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D2773-EB03-1F42-7E2E-D28B93539A2D}"/>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55753746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2BBF-B194-F4B5-1E6C-84A1FD2C8C9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533159C-D3C3-6187-B8C4-9546A9DBAD2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68EAC5A-4821-2C4C-60CC-A397B89E8DA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8C0A65E-D502-6387-D54E-FCB7285ADE06}"/>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6" name="Footer Placeholder 5">
            <a:extLst>
              <a:ext uri="{FF2B5EF4-FFF2-40B4-BE49-F238E27FC236}">
                <a16:creationId xmlns:a16="http://schemas.microsoft.com/office/drawing/2014/main" id="{2CC0E9EA-C80E-FF8B-139A-570825B771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B357A9-1E83-4E5E-940D-F6B423E44C3D}"/>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404413334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E15C-217D-2C25-9DC7-CB52FD619A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8D85CF-D851-3738-1B49-70CAD3F737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24717A-0D75-2D2E-AB2C-B2AC75975BA4}"/>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B79BF6FD-5060-EAA0-9816-AB533E4F8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82DA4-3751-585C-A9DC-837263BFEDC9}"/>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1841509365"/>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662C2C-1F6D-8295-F5EF-2CDEC7153F9B}"/>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644FDB-0276-7E14-503C-323C7E92480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6F1CA-301E-BAD7-C57A-0D18DF99902D}"/>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957F1B04-77E2-2396-6C3A-32ED0BB57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3DB971-7A52-F0E1-F447-E4374611289F}"/>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487448018"/>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3" name="Content Placeholder 2"/>
          <p:cNvSpPr>
            <a:spLocks noGrp="1"/>
          </p:cNvSpPr>
          <p:nvPr>
            <p:ph idx="1"/>
          </p:nvPr>
        </p:nvSpPr>
        <p:spPr>
          <a:xfrm>
            <a:off x="457200" y="1600201"/>
            <a:ext cx="8229600" cy="2535072"/>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sz="2400"/>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1" name="Slide Number Placeholder 5">
            <a:extLst>
              <a:ext uri="{FF2B5EF4-FFF2-40B4-BE49-F238E27FC236}">
                <a16:creationId xmlns:a16="http://schemas.microsoft.com/office/drawing/2014/main" id="{72F768FE-04AA-8D4B-B2F9-216643C09078}"/>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
        <p:nvSpPr>
          <p:cNvPr id="12" name="Footer Placeholder 4">
            <a:extLst>
              <a:ext uri="{FF2B5EF4-FFF2-40B4-BE49-F238E27FC236}">
                <a16:creationId xmlns:a16="http://schemas.microsoft.com/office/drawing/2014/main" id="{4F43220B-9EF2-D04F-82AE-4F5B9040E30E}"/>
              </a:ext>
            </a:extLst>
          </p:cNvPr>
          <p:cNvSpPr txBox="1">
            <a:spLocks/>
          </p:cNvSpPr>
          <p:nvPr/>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Content Placeholder 4">
            <a:extLst>
              <a:ext uri="{FF2B5EF4-FFF2-40B4-BE49-F238E27FC236}">
                <a16:creationId xmlns:a16="http://schemas.microsoft.com/office/drawing/2014/main" id="{1A308420-D552-4753-97E3-BBE649C05346}"/>
              </a:ext>
            </a:extLst>
          </p:cNvPr>
          <p:cNvSpPr>
            <a:spLocks noGrp="1"/>
          </p:cNvSpPr>
          <p:nvPr>
            <p:ph sz="quarter" idx="10"/>
          </p:nvPr>
        </p:nvSpPr>
        <p:spPr>
          <a:xfrm>
            <a:off x="457200" y="4325938"/>
            <a:ext cx="8229600" cy="2093912"/>
          </a:xfrm>
        </p:spPr>
        <p:txBody>
          <a:bodyPr/>
          <a:lstStyle>
            <a:lvl1pPr marL="450850" indent="-450850">
              <a:defRPr/>
            </a:lvl1pPr>
            <a:lvl2pPr marL="900113" indent="-442913">
              <a:defRPr sz="2600"/>
            </a:lvl2pPr>
            <a:lvl3pPr marL="1255713" indent="-341313">
              <a:defRPr sz="2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Picture Placeholder 6">
            <a:extLst>
              <a:ext uri="{FF2B5EF4-FFF2-40B4-BE49-F238E27FC236}">
                <a16:creationId xmlns:a16="http://schemas.microsoft.com/office/drawing/2014/main" id="{34A5BA65-B36A-4C89-9BD0-7A2C8F489202}"/>
              </a:ext>
            </a:extLst>
          </p:cNvPr>
          <p:cNvSpPr>
            <a:spLocks noGrp="1"/>
          </p:cNvSpPr>
          <p:nvPr>
            <p:ph type="pic" sz="quarter" idx="11"/>
          </p:nvPr>
        </p:nvSpPr>
        <p:spPr>
          <a:xfrm>
            <a:off x="5896426" y="3167845"/>
            <a:ext cx="914400" cy="914400"/>
          </a:xfrm>
        </p:spPr>
        <p:txBody>
          <a:bodyPr/>
          <a:lstStyle/>
          <a:p>
            <a:endParaRPr lang="en-IN"/>
          </a:p>
        </p:txBody>
      </p:sp>
      <p:sp>
        <p:nvSpPr>
          <p:cNvPr id="13" name="Picture Placeholder 12">
            <a:extLst>
              <a:ext uri="{FF2B5EF4-FFF2-40B4-BE49-F238E27FC236}">
                <a16:creationId xmlns:a16="http://schemas.microsoft.com/office/drawing/2014/main" id="{D36B6CC3-E073-4236-8DF1-D8B1F165E464}"/>
              </a:ext>
            </a:extLst>
          </p:cNvPr>
          <p:cNvSpPr>
            <a:spLocks noGrp="1"/>
          </p:cNvSpPr>
          <p:nvPr>
            <p:ph type="pic" sz="quarter" idx="12"/>
          </p:nvPr>
        </p:nvSpPr>
        <p:spPr>
          <a:xfrm>
            <a:off x="7162800" y="3161022"/>
            <a:ext cx="914400" cy="914400"/>
          </a:xfrm>
        </p:spPr>
        <p:txBody>
          <a:bodyPr/>
          <a:lstStyle/>
          <a:p>
            <a:endParaRPr lang="en-IN"/>
          </a:p>
        </p:txBody>
      </p:sp>
      <p:sp>
        <p:nvSpPr>
          <p:cNvPr id="16" name="Content Placeholder 15">
            <a:extLst>
              <a:ext uri="{FF2B5EF4-FFF2-40B4-BE49-F238E27FC236}">
                <a16:creationId xmlns:a16="http://schemas.microsoft.com/office/drawing/2014/main" id="{1C3617B9-7E7C-46E0-BCF2-7D0D1C7EB037}"/>
              </a:ext>
            </a:extLst>
          </p:cNvPr>
          <p:cNvSpPr>
            <a:spLocks noGrp="1"/>
          </p:cNvSpPr>
          <p:nvPr>
            <p:ph sz="quarter" idx="13"/>
          </p:nvPr>
        </p:nvSpPr>
        <p:spPr>
          <a:xfrm>
            <a:off x="4967288" y="5607050"/>
            <a:ext cx="1843087" cy="80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a:extLst>
              <a:ext uri="{FF2B5EF4-FFF2-40B4-BE49-F238E27FC236}">
                <a16:creationId xmlns:a16="http://schemas.microsoft.com/office/drawing/2014/main" id="{C56CC46D-F37A-4D89-B8CC-D165A2AA0898}"/>
              </a:ext>
            </a:extLst>
          </p:cNvPr>
          <p:cNvSpPr>
            <a:spLocks noGrp="1"/>
          </p:cNvSpPr>
          <p:nvPr>
            <p:ph sz="quarter" idx="14"/>
          </p:nvPr>
        </p:nvSpPr>
        <p:spPr>
          <a:xfrm>
            <a:off x="7162800" y="5562600"/>
            <a:ext cx="1524000" cy="885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able Placeholder 19">
            <a:extLst>
              <a:ext uri="{FF2B5EF4-FFF2-40B4-BE49-F238E27FC236}">
                <a16:creationId xmlns:a16="http://schemas.microsoft.com/office/drawing/2014/main" id="{ADEDF798-01C7-42DF-9C71-6115B8A30D14}"/>
              </a:ext>
            </a:extLst>
          </p:cNvPr>
          <p:cNvSpPr>
            <a:spLocks noGrp="1"/>
          </p:cNvSpPr>
          <p:nvPr>
            <p:ph type="tbl" sz="quarter" idx="15"/>
          </p:nvPr>
        </p:nvSpPr>
        <p:spPr>
          <a:xfrm>
            <a:off x="5895975" y="4749800"/>
            <a:ext cx="1131888" cy="666750"/>
          </a:xfrm>
        </p:spPr>
        <p:txBody>
          <a:bodyPr/>
          <a:lstStyle/>
          <a:p>
            <a:endParaRPr lang="en-IN"/>
          </a:p>
        </p:txBody>
      </p:sp>
      <p:sp>
        <p:nvSpPr>
          <p:cNvPr id="22" name="Content Placeholder 21">
            <a:extLst>
              <a:ext uri="{FF2B5EF4-FFF2-40B4-BE49-F238E27FC236}">
                <a16:creationId xmlns:a16="http://schemas.microsoft.com/office/drawing/2014/main" id="{B6DEA504-A686-4A85-99C6-4B502F88EEB9}"/>
              </a:ext>
            </a:extLst>
          </p:cNvPr>
          <p:cNvSpPr>
            <a:spLocks noGrp="1"/>
          </p:cNvSpPr>
          <p:nvPr>
            <p:ph sz="quarter" idx="16"/>
          </p:nvPr>
        </p:nvSpPr>
        <p:spPr>
          <a:xfrm>
            <a:off x="7329488" y="4705350"/>
            <a:ext cx="1131887" cy="81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Content Placeholder 23">
            <a:extLst>
              <a:ext uri="{FF2B5EF4-FFF2-40B4-BE49-F238E27FC236}">
                <a16:creationId xmlns:a16="http://schemas.microsoft.com/office/drawing/2014/main" id="{9BFEB5DD-E38F-4010-AF96-B45388F50377}"/>
              </a:ext>
            </a:extLst>
          </p:cNvPr>
          <p:cNvSpPr>
            <a:spLocks noGrp="1"/>
          </p:cNvSpPr>
          <p:nvPr>
            <p:ph sz="quarter" idx="17"/>
          </p:nvPr>
        </p:nvSpPr>
        <p:spPr>
          <a:xfrm>
            <a:off x="8312150" y="3429000"/>
            <a:ext cx="558800" cy="86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Content Placeholder 25">
            <a:extLst>
              <a:ext uri="{FF2B5EF4-FFF2-40B4-BE49-F238E27FC236}">
                <a16:creationId xmlns:a16="http://schemas.microsoft.com/office/drawing/2014/main" id="{DF7B2E13-05C1-4556-A4EF-EA95F05E10AB}"/>
              </a:ext>
            </a:extLst>
          </p:cNvPr>
          <p:cNvSpPr>
            <a:spLocks noGrp="1"/>
          </p:cNvSpPr>
          <p:nvPr>
            <p:ph sz="quarter" idx="18"/>
          </p:nvPr>
        </p:nvSpPr>
        <p:spPr>
          <a:xfrm>
            <a:off x="8461375" y="4676775"/>
            <a:ext cx="682625" cy="885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7709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EFD179-245D-9CA8-29CD-F4E450B5638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99B484-16C5-E121-4277-33242B79F3A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273C5-4DF7-6EA0-2FAA-A7A983DF84E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87DE7CC5-4960-FBFF-C7E9-D54773BB3AA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2DA95F-5276-F0CB-6679-04B4CBFA89B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C2E4E75-4A6D-5249-9BE4-A2433097E7D7}" type="slidenum">
              <a:rPr lang="en-US" smtClean="0"/>
              <a:t>‹#›</a:t>
            </a:fld>
            <a:endParaRPr lang="en-US"/>
          </a:p>
        </p:txBody>
      </p:sp>
    </p:spTree>
    <p:extLst>
      <p:ext uri="{BB962C8B-B14F-4D97-AF65-F5344CB8AC3E}">
        <p14:creationId xmlns:p14="http://schemas.microsoft.com/office/powerpoint/2010/main" val="23996089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2.png"/><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dirty="0"/>
              <a:t>Contemporary Economic Issues</a:t>
            </a:r>
            <a:br>
              <a:rPr lang="en-US" dirty="0"/>
            </a:br>
            <a:r>
              <a:rPr lang="en-US" sz="2800" dirty="0"/>
              <a:t> </a:t>
            </a:r>
            <a:r>
              <a:rPr lang="en-CA" sz="2800" b="0" i="0" dirty="0">
                <a:solidFill>
                  <a:srgbClr val="003E2D"/>
                </a:solidFill>
                <a:effectLst/>
                <a:latin typeface="Museo Sans W01 500"/>
              </a:rPr>
              <a:t>ECON-204</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11314" cy="1981200"/>
          </a:xfrm>
        </p:spPr>
        <p:txBody>
          <a:bodyPr>
            <a:normAutofit/>
          </a:bodyPr>
          <a:lstStyle/>
          <a:p>
            <a:r>
              <a:rPr lang="en-US" altLang="en-US" dirty="0"/>
              <a:t>Trade and Resources: The Heckscher–Ohlin Model</a:t>
            </a:r>
          </a:p>
          <a:p>
            <a:r>
              <a:rPr lang="en-US" dirty="0"/>
              <a:t> </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1081-6CB1-094C-BBF8-C40BB7F8491A}"/>
              </a:ext>
            </a:extLst>
          </p:cNvPr>
          <p:cNvSpPr>
            <a:spLocks noGrp="1"/>
          </p:cNvSpPr>
          <p:nvPr>
            <p:ph type="title"/>
          </p:nvPr>
        </p:nvSpPr>
        <p:spPr/>
        <p:txBody>
          <a:bodyPr/>
          <a:lstStyle/>
          <a:p>
            <a:r>
              <a:rPr lang="en-US" dirty="0"/>
              <a:t>Questions to Consider</a:t>
            </a:r>
          </a:p>
        </p:txBody>
      </p:sp>
      <p:sp>
        <p:nvSpPr>
          <p:cNvPr id="3" name="Content Placeholder 2">
            <a:extLst>
              <a:ext uri="{FF2B5EF4-FFF2-40B4-BE49-F238E27FC236}">
                <a16:creationId xmlns:a16="http://schemas.microsoft.com/office/drawing/2014/main" id="{59B4451E-CD14-1540-B03B-CB2657490E24}"/>
              </a:ext>
            </a:extLst>
          </p:cNvPr>
          <p:cNvSpPr>
            <a:spLocks noGrp="1"/>
          </p:cNvSpPr>
          <p:nvPr>
            <p:ph idx="1"/>
          </p:nvPr>
        </p:nvSpPr>
        <p:spPr/>
        <p:txBody>
          <a:bodyPr/>
          <a:lstStyle/>
          <a:p>
            <a:pPr marL="457200" indent="-457200" fontAlgn="t">
              <a:spcAft>
                <a:spcPts val="600"/>
              </a:spcAft>
              <a:buFont typeface="+mj-lt"/>
              <a:buAutoNum type="arabicPeriod"/>
            </a:pPr>
            <a:r>
              <a:rPr lang="en-US" b="0" dirty="0"/>
              <a:t>Why does the United States export agricultural products and airplanes? </a:t>
            </a:r>
          </a:p>
          <a:p>
            <a:pPr marL="457200" indent="-457200" fontAlgn="t">
              <a:spcAft>
                <a:spcPts val="600"/>
              </a:spcAft>
              <a:buFont typeface="+mj-lt"/>
              <a:buAutoNum type="arabicPeriod"/>
            </a:pPr>
            <a:r>
              <a:rPr lang="en-US" b="0" dirty="0"/>
              <a:t>What country has the most capital (i.e., factories) as compared with its GDP?</a:t>
            </a:r>
          </a:p>
          <a:p>
            <a:pPr marL="457200" indent="-457200" fontAlgn="t">
              <a:spcAft>
                <a:spcPts val="600"/>
              </a:spcAft>
              <a:buFont typeface="+mj-lt"/>
              <a:buAutoNum type="arabicPeriod"/>
            </a:pPr>
            <a:r>
              <a:rPr lang="en-US" b="0" dirty="0"/>
              <a:t>How does trade affect the earnings of labor and capital?</a:t>
            </a:r>
          </a:p>
        </p:txBody>
      </p:sp>
    </p:spTree>
    <p:extLst>
      <p:ext uri="{BB962C8B-B14F-4D97-AF65-F5344CB8AC3E}">
        <p14:creationId xmlns:p14="http://schemas.microsoft.com/office/powerpoint/2010/main" val="3981789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3E56-C967-5F49-94F6-5CEDDC487B46}"/>
              </a:ext>
            </a:extLst>
          </p:cNvPr>
          <p:cNvSpPr>
            <a:spLocks noGrp="1"/>
          </p:cNvSpPr>
          <p:nvPr>
            <p:ph type="title"/>
          </p:nvPr>
        </p:nvSpPr>
        <p:spPr/>
        <p:txBody>
          <a:bodyPr>
            <a:normAutofit/>
          </a:bodyPr>
          <a:lstStyle/>
          <a:p>
            <a:r>
              <a:rPr lang="en-US" sz="3600" dirty="0"/>
              <a:t>Introduction (part 1)</a:t>
            </a:r>
          </a:p>
        </p:txBody>
      </p:sp>
      <p:sp>
        <p:nvSpPr>
          <p:cNvPr id="3" name="Content Placeholder 2">
            <a:extLst>
              <a:ext uri="{FF2B5EF4-FFF2-40B4-BE49-F238E27FC236}">
                <a16:creationId xmlns:a16="http://schemas.microsoft.com/office/drawing/2014/main" id="{ACFEDFD6-72BE-7141-8C9E-53AF8ABF9A6E}"/>
              </a:ext>
            </a:extLst>
          </p:cNvPr>
          <p:cNvSpPr>
            <a:spLocks noGrp="1"/>
          </p:cNvSpPr>
          <p:nvPr>
            <p:ph idx="1"/>
          </p:nvPr>
        </p:nvSpPr>
        <p:spPr/>
        <p:txBody>
          <a:bodyPr>
            <a:normAutofit lnSpcReduction="10000"/>
          </a:bodyPr>
          <a:lstStyle/>
          <a:p>
            <a:pPr>
              <a:lnSpc>
                <a:spcPct val="120000"/>
              </a:lnSpc>
            </a:pPr>
            <a:r>
              <a:rPr lang="en-US" altLang="en-US" b="0" dirty="0"/>
              <a:t>In this </a:t>
            </a:r>
            <a:r>
              <a:rPr lang="en-US" altLang="en-US" dirty="0"/>
              <a:t>lecture</a:t>
            </a:r>
            <a:r>
              <a:rPr lang="en-US" altLang="en-US" b="0" dirty="0"/>
              <a:t>, we outline the </a:t>
            </a:r>
            <a:r>
              <a:rPr lang="en-US" altLang="en-US" dirty="0"/>
              <a:t>Heckscher–Ohlin (HO) model</a:t>
            </a:r>
            <a:r>
              <a:rPr lang="en-US" altLang="en-US" b="0" dirty="0"/>
              <a:t>, a model that assumes that trade occurs because countries have different resources</a:t>
            </a:r>
            <a:r>
              <a:rPr lang="en-US" b="0" dirty="0"/>
              <a:t>. </a:t>
            </a:r>
          </a:p>
          <a:p>
            <a:pPr>
              <a:lnSpc>
                <a:spcPct val="120000"/>
              </a:lnSpc>
            </a:pPr>
            <a:r>
              <a:rPr lang="en-US" b="0" dirty="0"/>
              <a:t>Canada has a large amount of land and therefore exports agricultural and forestry products, as well as petroleum.</a:t>
            </a:r>
          </a:p>
          <a:p>
            <a:pPr>
              <a:lnSpc>
                <a:spcPct val="120000"/>
              </a:lnSpc>
            </a:pPr>
            <a:r>
              <a:rPr lang="en-US" b="0" dirty="0"/>
              <a:t>The United States, Western Europe, and Japan have many highly skilled workers and much capital, and these countries export sophisticated services and manufactured goods.</a:t>
            </a:r>
          </a:p>
          <a:p>
            <a:pPr>
              <a:lnSpc>
                <a:spcPct val="120000"/>
              </a:lnSpc>
            </a:pPr>
            <a:r>
              <a:rPr lang="en-US" b="0" dirty="0"/>
              <a:t>Asian countries have a large number of workers and moderate but growing amounts of capital, and they export less sophisticated manufactured goods.</a:t>
            </a:r>
            <a:endParaRPr lang="en-US" altLang="en-US" b="0" dirty="0"/>
          </a:p>
        </p:txBody>
      </p:sp>
    </p:spTree>
    <p:extLst>
      <p:ext uri="{BB962C8B-B14F-4D97-AF65-F5344CB8AC3E}">
        <p14:creationId xmlns:p14="http://schemas.microsoft.com/office/powerpoint/2010/main" val="2470893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3E56-C967-5F49-94F6-5CEDDC487B46}"/>
              </a:ext>
            </a:extLst>
          </p:cNvPr>
          <p:cNvSpPr>
            <a:spLocks noGrp="1"/>
          </p:cNvSpPr>
          <p:nvPr>
            <p:ph type="title"/>
          </p:nvPr>
        </p:nvSpPr>
        <p:spPr/>
        <p:txBody>
          <a:bodyPr>
            <a:normAutofit/>
          </a:bodyPr>
          <a:lstStyle/>
          <a:p>
            <a:r>
              <a:rPr lang="en-US" sz="3600" dirty="0"/>
              <a:t>Introduction (part 2)</a:t>
            </a:r>
          </a:p>
        </p:txBody>
      </p:sp>
      <p:sp>
        <p:nvSpPr>
          <p:cNvPr id="3" name="Content Placeholder 2">
            <a:extLst>
              <a:ext uri="{FF2B5EF4-FFF2-40B4-BE49-F238E27FC236}">
                <a16:creationId xmlns:a16="http://schemas.microsoft.com/office/drawing/2014/main" id="{ACFEDFD6-72BE-7141-8C9E-53AF8ABF9A6E}"/>
              </a:ext>
            </a:extLst>
          </p:cNvPr>
          <p:cNvSpPr>
            <a:spLocks noGrp="1"/>
          </p:cNvSpPr>
          <p:nvPr>
            <p:ph idx="1"/>
          </p:nvPr>
        </p:nvSpPr>
        <p:spPr/>
        <p:txBody>
          <a:bodyPr>
            <a:normAutofit/>
          </a:bodyPr>
          <a:lstStyle/>
          <a:p>
            <a:r>
              <a:rPr lang="en-US" altLang="en-US" sz="2400" b="0" dirty="0"/>
              <a:t>Our first goal is to describe the Heckscher–Ohlin (HO) model of trade.</a:t>
            </a:r>
          </a:p>
          <a:p>
            <a:pPr lvl="1"/>
            <a:r>
              <a:rPr lang="en-US" altLang="en-US" sz="2000" dirty="0"/>
              <a:t>The specific-factors model that we studied in the previous lecture was a short-run model because </a:t>
            </a:r>
            <a:r>
              <a:rPr lang="en-US" altLang="en-US" sz="2000" i="1" dirty="0"/>
              <a:t>capital and land could not move between the two industries</a:t>
            </a:r>
            <a:r>
              <a:rPr lang="en-US" altLang="en-US" sz="2000" dirty="0"/>
              <a:t>. </a:t>
            </a:r>
            <a:endParaRPr lang="en-US" altLang="en-US" sz="1050" dirty="0"/>
          </a:p>
          <a:p>
            <a:pPr lvl="1"/>
            <a:r>
              <a:rPr lang="en-US" altLang="en-US" sz="2000" dirty="0"/>
              <a:t>In contrast, the HO model is a long-run model because </a:t>
            </a:r>
            <a:r>
              <a:rPr lang="en-US" altLang="en-US" sz="2000" i="1" dirty="0"/>
              <a:t>all factors of production can move between the industries</a:t>
            </a:r>
            <a:r>
              <a:rPr lang="en-US" altLang="en-US" sz="2000" dirty="0"/>
              <a:t>.</a:t>
            </a:r>
          </a:p>
        </p:txBody>
      </p:sp>
    </p:spTree>
    <p:extLst>
      <p:ext uri="{BB962C8B-B14F-4D97-AF65-F5344CB8AC3E}">
        <p14:creationId xmlns:p14="http://schemas.microsoft.com/office/powerpoint/2010/main" val="81215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3E56-C967-5F49-94F6-5CEDDC487B46}"/>
              </a:ext>
            </a:extLst>
          </p:cNvPr>
          <p:cNvSpPr>
            <a:spLocks noGrp="1"/>
          </p:cNvSpPr>
          <p:nvPr>
            <p:ph type="title"/>
          </p:nvPr>
        </p:nvSpPr>
        <p:spPr/>
        <p:txBody>
          <a:bodyPr>
            <a:normAutofit/>
          </a:bodyPr>
          <a:lstStyle/>
          <a:p>
            <a:r>
              <a:rPr lang="en-US" sz="3600" dirty="0"/>
              <a:t>Introduction (part 3)</a:t>
            </a:r>
          </a:p>
        </p:txBody>
      </p:sp>
      <p:sp>
        <p:nvSpPr>
          <p:cNvPr id="3" name="Content Placeholder 2">
            <a:extLst>
              <a:ext uri="{FF2B5EF4-FFF2-40B4-BE49-F238E27FC236}">
                <a16:creationId xmlns:a16="http://schemas.microsoft.com/office/drawing/2014/main" id="{ACFEDFD6-72BE-7141-8C9E-53AF8ABF9A6E}"/>
              </a:ext>
            </a:extLst>
          </p:cNvPr>
          <p:cNvSpPr>
            <a:spLocks noGrp="1"/>
          </p:cNvSpPr>
          <p:nvPr>
            <p:ph idx="1"/>
          </p:nvPr>
        </p:nvSpPr>
        <p:spPr/>
        <p:txBody>
          <a:bodyPr>
            <a:normAutofit fontScale="92500" lnSpcReduction="20000"/>
          </a:bodyPr>
          <a:lstStyle/>
          <a:p>
            <a:pPr>
              <a:lnSpc>
                <a:spcPct val="120000"/>
              </a:lnSpc>
            </a:pPr>
            <a:r>
              <a:rPr lang="en-US" altLang="en-US" sz="2400" b="0" dirty="0"/>
              <a:t>Our second goal is to examine the empirical evidence on the Heckscher–Ohlin model. To obtain better predictions, we extend the model:</a:t>
            </a:r>
            <a:endParaRPr lang="en-US" altLang="en-US" sz="1000" b="0" dirty="0"/>
          </a:p>
          <a:p>
            <a:pPr lvl="1">
              <a:lnSpc>
                <a:spcPct val="120000"/>
              </a:lnSpc>
              <a:buFont typeface="Arial" pitchFamily="34" charset="0"/>
              <a:buChar char="•"/>
            </a:pPr>
            <a:r>
              <a:rPr lang="en-US" altLang="en-US" sz="2200" dirty="0"/>
              <a:t>By allowing for more than two factors of production</a:t>
            </a:r>
          </a:p>
          <a:p>
            <a:pPr lvl="1">
              <a:lnSpc>
                <a:spcPct val="120000"/>
              </a:lnSpc>
              <a:buFont typeface="Arial" pitchFamily="34" charset="0"/>
              <a:buChar char="•"/>
            </a:pPr>
            <a:r>
              <a:rPr lang="en-US" altLang="en-US" sz="2200" dirty="0"/>
              <a:t>By also allowing countries to differ in their technologies, as in the Ricardian model</a:t>
            </a:r>
          </a:p>
          <a:p>
            <a:pPr>
              <a:lnSpc>
                <a:spcPct val="120000"/>
              </a:lnSpc>
            </a:pPr>
            <a:r>
              <a:rPr lang="en-US" altLang="en-US" sz="2400" b="0" dirty="0"/>
              <a:t>Both of these extensions make the predictions from the Heckscher–Ohlin model match more closely the trade patterns in the world economy today.</a:t>
            </a:r>
            <a:endParaRPr lang="en-US" altLang="en-US" sz="800" b="0" dirty="0"/>
          </a:p>
          <a:p>
            <a:pPr>
              <a:lnSpc>
                <a:spcPct val="120000"/>
              </a:lnSpc>
            </a:pPr>
            <a:r>
              <a:rPr lang="en-US" altLang="en-US" sz="2400" b="0" dirty="0"/>
              <a:t>The third goal of the </a:t>
            </a:r>
            <a:r>
              <a:rPr lang="en-US" altLang="en-US" sz="2400" dirty="0"/>
              <a:t>lecture</a:t>
            </a:r>
            <a:r>
              <a:rPr lang="en-US" altLang="en-US" sz="2400" b="0" dirty="0"/>
              <a:t> is to investigate how the opening of trade between two countries affects the payments to labor and to capital in each of them.</a:t>
            </a:r>
          </a:p>
        </p:txBody>
      </p:sp>
    </p:spTree>
    <p:extLst>
      <p:ext uri="{BB962C8B-B14F-4D97-AF65-F5344CB8AC3E}">
        <p14:creationId xmlns:p14="http://schemas.microsoft.com/office/powerpoint/2010/main" val="2641200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55521C-4172-49AB-9805-72BDC5B0CF9A}"/>
              </a:ext>
            </a:extLst>
          </p:cNvPr>
          <p:cNvSpPr>
            <a:spLocks noGrp="1"/>
          </p:cNvSpPr>
          <p:nvPr>
            <p:ph type="title"/>
          </p:nvPr>
        </p:nvSpPr>
        <p:spPr/>
        <p:txBody>
          <a:bodyPr>
            <a:normAutofit/>
          </a:bodyPr>
          <a:lstStyle/>
          <a:p>
            <a:r>
              <a:rPr lang="en-US" altLang="en-US" sz="3600" dirty="0"/>
              <a:t>1) Heckscher–Ohlin Model (part 1)</a:t>
            </a:r>
            <a:endParaRPr lang="en-IN" sz="3600" dirty="0"/>
          </a:p>
        </p:txBody>
      </p:sp>
      <p:sp>
        <p:nvSpPr>
          <p:cNvPr id="5" name="Content Placeholder 4">
            <a:extLst>
              <a:ext uri="{FF2B5EF4-FFF2-40B4-BE49-F238E27FC236}">
                <a16:creationId xmlns:a16="http://schemas.microsoft.com/office/drawing/2014/main" id="{E09B7ECA-CE65-420C-A8C9-4CB3B36FD687}"/>
              </a:ext>
            </a:extLst>
          </p:cNvPr>
          <p:cNvSpPr>
            <a:spLocks noGrp="1"/>
          </p:cNvSpPr>
          <p:nvPr>
            <p:ph idx="1"/>
          </p:nvPr>
        </p:nvSpPr>
        <p:spPr>
          <a:xfrm>
            <a:off x="457200" y="1600201"/>
            <a:ext cx="8229600" cy="2067577"/>
          </a:xfrm>
        </p:spPr>
        <p:txBody>
          <a:bodyPr>
            <a:normAutofit/>
          </a:bodyPr>
          <a:lstStyle/>
          <a:p>
            <a:r>
              <a:rPr lang="en-US" altLang="en-US" sz="2400" dirty="0">
                <a:latin typeface="+mn-lt"/>
              </a:rPr>
              <a:t>Assumptions of the Heckscher–Ohlin Model</a:t>
            </a:r>
          </a:p>
          <a:p>
            <a:pPr marL="461963" indent="0" eaLnBrk="1" hangingPunct="1">
              <a:buNone/>
            </a:pPr>
            <a:r>
              <a:rPr lang="en-US" altLang="en-US" sz="1800" dirty="0">
                <a:latin typeface="+mn-lt"/>
              </a:rPr>
              <a:t>Assumption 1: </a:t>
            </a:r>
            <a:r>
              <a:rPr lang="en-US" altLang="en-US" sz="1800" b="0" dirty="0">
                <a:latin typeface="+mn-lt"/>
              </a:rPr>
              <a:t>Both factors, labor and capital, can move freely between the industries.</a:t>
            </a:r>
          </a:p>
          <a:p>
            <a:pPr marL="461963" indent="0" eaLnBrk="1" hangingPunct="1">
              <a:spcAft>
                <a:spcPts val="1200"/>
              </a:spcAft>
              <a:buNone/>
            </a:pPr>
            <a:r>
              <a:rPr lang="en-US" altLang="en-US" sz="1800" dirty="0">
                <a:latin typeface="+mn-lt"/>
              </a:rPr>
              <a:t>Assumption 2: </a:t>
            </a:r>
            <a:r>
              <a:rPr lang="en-US" altLang="en-US" sz="1800" b="0" dirty="0">
                <a:latin typeface="+mn-lt"/>
              </a:rPr>
              <a:t>Shoe production is </a:t>
            </a:r>
            <a:r>
              <a:rPr lang="en-US" altLang="en-US" sz="1800" dirty="0">
                <a:latin typeface="+mn-lt"/>
              </a:rPr>
              <a:t>labor-intensive</a:t>
            </a:r>
            <a:r>
              <a:rPr lang="en-US" altLang="en-US" sz="1800" b="0" dirty="0">
                <a:latin typeface="+mn-lt"/>
              </a:rPr>
              <a:t>; that is, it requires more labor per unit of capital to produce shoes than computers</a:t>
            </a:r>
            <a:r>
              <a:rPr lang="en-US" altLang="en-US" sz="1800" b="0" i="1" dirty="0">
                <a:latin typeface="+mn-lt"/>
              </a:rPr>
              <a:t>, </a:t>
            </a:r>
            <a:r>
              <a:rPr lang="en-US" altLang="en-US" sz="1800" b="0" dirty="0">
                <a:latin typeface="+mn-lt"/>
              </a:rPr>
              <a:t>so </a:t>
            </a:r>
            <a:r>
              <a:rPr lang="en-US" altLang="en-US" sz="1800" b="0" i="1" dirty="0">
                <a:latin typeface="+mn-lt"/>
              </a:rPr>
              <a:t>L</a:t>
            </a:r>
            <a:r>
              <a:rPr lang="en-US" altLang="en-US" sz="1800" b="0" i="1" baseline="-25000" dirty="0">
                <a:latin typeface="+mn-lt"/>
              </a:rPr>
              <a:t>S</a:t>
            </a:r>
            <a:r>
              <a:rPr lang="en-US" altLang="en-US" sz="1800" b="0" i="1" dirty="0">
                <a:latin typeface="+mn-lt"/>
              </a:rPr>
              <a:t>/K</a:t>
            </a:r>
            <a:r>
              <a:rPr lang="en-US" altLang="en-US" sz="1800" b="0" i="1" baseline="-25000" dirty="0">
                <a:latin typeface="+mn-lt"/>
              </a:rPr>
              <a:t>S</a:t>
            </a:r>
            <a:r>
              <a:rPr lang="en-US" altLang="en-US" sz="1800" b="0" i="1" dirty="0">
                <a:latin typeface="+mn-lt"/>
              </a:rPr>
              <a:t> &gt; L</a:t>
            </a:r>
            <a:r>
              <a:rPr lang="en-US" altLang="en-US" sz="1800" b="0" i="1" baseline="-25000" dirty="0">
                <a:latin typeface="+mn-lt"/>
              </a:rPr>
              <a:t>C</a:t>
            </a:r>
            <a:r>
              <a:rPr lang="en-US" altLang="en-US" sz="1800" b="0" i="1" dirty="0">
                <a:latin typeface="+mn-lt"/>
              </a:rPr>
              <a:t>/K</a:t>
            </a:r>
            <a:r>
              <a:rPr lang="en-US" altLang="en-US" sz="1800" b="0" i="1" baseline="-25000" dirty="0">
                <a:latin typeface="+mn-lt"/>
              </a:rPr>
              <a:t>C</a:t>
            </a:r>
            <a:r>
              <a:rPr lang="en-US" altLang="en-US" sz="1800" b="0" i="1" dirty="0">
                <a:latin typeface="+mn-lt"/>
              </a:rPr>
              <a:t> .</a:t>
            </a:r>
          </a:p>
        </p:txBody>
      </p:sp>
      <p:sp>
        <p:nvSpPr>
          <p:cNvPr id="6" name="Content Placeholder 5">
            <a:extLst>
              <a:ext uri="{FF2B5EF4-FFF2-40B4-BE49-F238E27FC236}">
                <a16:creationId xmlns:a16="http://schemas.microsoft.com/office/drawing/2014/main" id="{8066A2D6-DE5F-4020-AEEB-36334C14D0B2}"/>
              </a:ext>
            </a:extLst>
          </p:cNvPr>
          <p:cNvSpPr>
            <a:spLocks noGrp="1"/>
          </p:cNvSpPr>
          <p:nvPr>
            <p:ph sz="quarter" idx="10"/>
          </p:nvPr>
        </p:nvSpPr>
        <p:spPr>
          <a:xfrm>
            <a:off x="457200" y="3786887"/>
            <a:ext cx="4779818" cy="2093912"/>
          </a:xfrm>
        </p:spPr>
        <p:txBody>
          <a:bodyPr>
            <a:normAutofit lnSpcReduction="10000"/>
          </a:bodyPr>
          <a:lstStyle/>
          <a:p>
            <a:pPr marL="0" indent="0" eaLnBrk="1" hangingPunct="1">
              <a:spcBef>
                <a:spcPct val="10000"/>
              </a:spcBef>
              <a:spcAft>
                <a:spcPct val="10000"/>
              </a:spcAft>
              <a:buNone/>
            </a:pPr>
            <a:r>
              <a:rPr lang="en-US" altLang="en-US" sz="2000" dirty="0">
                <a:latin typeface="+mn-lt"/>
              </a:rPr>
              <a:t>Labor Intensity of Each Industry </a:t>
            </a:r>
          </a:p>
          <a:p>
            <a:pPr marL="0" indent="0" eaLnBrk="1" hangingPunct="1">
              <a:spcBef>
                <a:spcPct val="10000"/>
              </a:spcBef>
              <a:spcAft>
                <a:spcPct val="10000"/>
              </a:spcAft>
              <a:buNone/>
            </a:pPr>
            <a:r>
              <a:rPr lang="en-US" altLang="en-US" sz="2000" b="0" dirty="0">
                <a:latin typeface="+mn-lt"/>
              </a:rPr>
              <a:t>Shoe production being more labor-intensive than computers implies: </a:t>
            </a:r>
          </a:p>
          <a:p>
            <a:pPr marL="0" indent="0" algn="ctr" eaLnBrk="1" hangingPunct="1">
              <a:spcBef>
                <a:spcPct val="10000"/>
              </a:spcBef>
              <a:spcAft>
                <a:spcPct val="10000"/>
              </a:spcAft>
              <a:buNone/>
            </a:pPr>
            <a:r>
              <a:rPr lang="en-US" altLang="en-US" sz="2000" b="0" i="1" dirty="0">
                <a:latin typeface="+mn-lt"/>
              </a:rPr>
              <a:t>L</a:t>
            </a:r>
            <a:r>
              <a:rPr lang="en-US" altLang="en-US" sz="2000" b="0" i="1" baseline="-25000" dirty="0">
                <a:latin typeface="+mn-lt"/>
              </a:rPr>
              <a:t>S</a:t>
            </a:r>
            <a:r>
              <a:rPr lang="en-US" altLang="en-US" sz="2000" b="0" i="1" dirty="0">
                <a:latin typeface="+mn-lt"/>
              </a:rPr>
              <a:t>/K</a:t>
            </a:r>
            <a:r>
              <a:rPr lang="en-US" altLang="en-US" sz="2000" b="0" i="1" baseline="-25000" dirty="0">
                <a:latin typeface="+mn-lt"/>
              </a:rPr>
              <a:t>S</a:t>
            </a:r>
            <a:r>
              <a:rPr lang="en-US" altLang="en-US" sz="2000" b="0" i="1" dirty="0">
                <a:latin typeface="+mn-lt"/>
              </a:rPr>
              <a:t> &gt; L</a:t>
            </a:r>
            <a:r>
              <a:rPr lang="en-US" altLang="en-US" sz="2000" b="0" i="1" baseline="-25000" dirty="0">
                <a:latin typeface="+mn-lt"/>
              </a:rPr>
              <a:t>C</a:t>
            </a:r>
            <a:r>
              <a:rPr lang="en-US" altLang="en-US" sz="2000" b="0" i="1" dirty="0">
                <a:latin typeface="+mn-lt"/>
              </a:rPr>
              <a:t>/K</a:t>
            </a:r>
            <a:r>
              <a:rPr lang="en-US" altLang="en-US" sz="2000" b="0" i="1" baseline="-25000" dirty="0">
                <a:latin typeface="+mn-lt"/>
              </a:rPr>
              <a:t>C</a:t>
            </a:r>
            <a:r>
              <a:rPr lang="en-US" altLang="en-US" sz="2000" b="0" i="1" dirty="0">
                <a:latin typeface="+mn-lt"/>
              </a:rPr>
              <a:t> </a:t>
            </a:r>
          </a:p>
          <a:p>
            <a:pPr marL="0" indent="0" eaLnBrk="1" hangingPunct="1">
              <a:spcBef>
                <a:spcPct val="10000"/>
              </a:spcBef>
              <a:spcAft>
                <a:spcPct val="10000"/>
              </a:spcAft>
              <a:buNone/>
            </a:pPr>
            <a:r>
              <a:rPr lang="en-US" altLang="en-US" sz="2000" b="0" dirty="0">
                <a:latin typeface="+mn-lt"/>
              </a:rPr>
              <a:t>These two curves slope down just like regular demand curves, but in this case, they are </a:t>
            </a:r>
            <a:r>
              <a:rPr lang="en-US" altLang="en-US" sz="2000" b="0" i="1" dirty="0">
                <a:latin typeface="+mn-lt"/>
              </a:rPr>
              <a:t>relative </a:t>
            </a:r>
            <a:r>
              <a:rPr lang="en-US" altLang="en-US" sz="2000" b="0" dirty="0">
                <a:latin typeface="+mn-lt"/>
              </a:rPr>
              <a:t>demand</a:t>
            </a:r>
            <a:r>
              <a:rPr lang="en-US" altLang="en-US" sz="2000" b="0" i="1" dirty="0">
                <a:latin typeface="+mn-lt"/>
              </a:rPr>
              <a:t> </a:t>
            </a:r>
            <a:r>
              <a:rPr lang="en-US" altLang="en-US" sz="2000" b="0" dirty="0">
                <a:latin typeface="+mn-lt"/>
              </a:rPr>
              <a:t>curves for labor.</a:t>
            </a:r>
          </a:p>
        </p:txBody>
      </p:sp>
      <p:pic>
        <p:nvPicPr>
          <p:cNvPr id="13" name="Picture Placeholder 4" descr="A line graph plots wage per rental versus labor per capital in each industry. Two parallel negative curves are plotted on the graph. The curve for relative demand for labor in shoes, L subscript S per K subscript S, lies above the curve for relative demand for labor in computers, L subscript C per K subscript C.">
            <a:extLst>
              <a:ext uri="{FF2B5EF4-FFF2-40B4-BE49-F238E27FC236}">
                <a16:creationId xmlns:a16="http://schemas.microsoft.com/office/drawing/2014/main" id="{4841D937-D417-4B60-9842-B46CD224443C}"/>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rcRect l="19342" r="19342"/>
          <a:stretch>
            <a:fillRect/>
          </a:stretch>
        </p:blipFill>
        <p:spPr>
          <a:xfrm>
            <a:off x="5237018" y="3447535"/>
            <a:ext cx="3027590" cy="3027590"/>
          </a:xfrm>
          <a:prstGeom prst="rect">
            <a:avLst/>
          </a:prstGeom>
        </p:spPr>
      </p:pic>
      <p:sp>
        <p:nvSpPr>
          <p:cNvPr id="9" name="Content Placeholder 8">
            <a:extLst>
              <a:ext uri="{FF2B5EF4-FFF2-40B4-BE49-F238E27FC236}">
                <a16:creationId xmlns:a16="http://schemas.microsoft.com/office/drawing/2014/main" id="{F2543AF3-2803-40BC-99D4-4AC618254856}"/>
              </a:ext>
            </a:extLst>
          </p:cNvPr>
          <p:cNvSpPr>
            <a:spLocks noGrp="1"/>
          </p:cNvSpPr>
          <p:nvPr>
            <p:ph sz="quarter" idx="13"/>
          </p:nvPr>
        </p:nvSpPr>
        <p:spPr>
          <a:xfrm>
            <a:off x="6703703" y="3543455"/>
            <a:ext cx="1560905" cy="486864"/>
          </a:xfrm>
        </p:spPr>
        <p:txBody>
          <a:bodyPr>
            <a:normAutofit/>
          </a:bodyPr>
          <a:lstStyle/>
          <a:p>
            <a:pPr marL="0" indent="0">
              <a:buNone/>
            </a:pPr>
            <a:r>
              <a:rPr lang="en-IN" sz="2000" dirty="0"/>
              <a:t>FIGURE 4-1</a:t>
            </a:r>
          </a:p>
        </p:txBody>
      </p:sp>
    </p:spTree>
    <p:extLst>
      <p:ext uri="{BB962C8B-B14F-4D97-AF65-F5344CB8AC3E}">
        <p14:creationId xmlns:p14="http://schemas.microsoft.com/office/powerpoint/2010/main" val="258126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36FC-4AF5-4DE5-8348-3BE9A89373B6}"/>
              </a:ext>
            </a:extLst>
          </p:cNvPr>
          <p:cNvSpPr>
            <a:spLocks noGrp="1"/>
          </p:cNvSpPr>
          <p:nvPr>
            <p:ph type="title"/>
          </p:nvPr>
        </p:nvSpPr>
        <p:spPr/>
        <p:txBody>
          <a:bodyPr>
            <a:normAutofit/>
          </a:bodyPr>
          <a:lstStyle/>
          <a:p>
            <a:r>
              <a:rPr lang="en-US" altLang="en-US" sz="3600" dirty="0"/>
              <a:t>1) Heckscher–Ohlin Model (part 2)</a:t>
            </a:r>
            <a:endParaRPr lang="en-IN" sz="3600" dirty="0"/>
          </a:p>
        </p:txBody>
      </p:sp>
      <p:sp>
        <p:nvSpPr>
          <p:cNvPr id="3" name="Content Placeholder 2">
            <a:extLst>
              <a:ext uri="{FF2B5EF4-FFF2-40B4-BE49-F238E27FC236}">
                <a16:creationId xmlns:a16="http://schemas.microsoft.com/office/drawing/2014/main" id="{B6C3B63C-4A8B-416E-BA43-CBCC4004EFB7}"/>
              </a:ext>
            </a:extLst>
          </p:cNvPr>
          <p:cNvSpPr>
            <a:spLocks noGrp="1"/>
          </p:cNvSpPr>
          <p:nvPr>
            <p:ph idx="1"/>
          </p:nvPr>
        </p:nvSpPr>
        <p:spPr>
          <a:xfrm>
            <a:off x="457200" y="1600201"/>
            <a:ext cx="8229600" cy="1143000"/>
          </a:xfrm>
        </p:spPr>
        <p:txBody>
          <a:bodyPr>
            <a:normAutofit/>
          </a:bodyPr>
          <a:lstStyle/>
          <a:p>
            <a:pPr marL="339725" indent="-339725"/>
            <a:r>
              <a:rPr lang="en-US" altLang="en-US" sz="1800" dirty="0">
                <a:solidFill>
                  <a:schemeClr val="tx1"/>
                </a:solidFill>
              </a:rPr>
              <a:t>Assumptions of the Heckscher–Ohlin Model</a:t>
            </a:r>
          </a:p>
          <a:p>
            <a:pPr marL="339725" indent="-339725">
              <a:spcBef>
                <a:spcPct val="10000"/>
              </a:spcBef>
              <a:spcAft>
                <a:spcPts val="1200"/>
              </a:spcAft>
            </a:pPr>
            <a:r>
              <a:rPr lang="en-US" altLang="en-US" sz="1800" dirty="0">
                <a:solidFill>
                  <a:schemeClr val="tx1"/>
                </a:solidFill>
              </a:rPr>
              <a:t>Assumption 3: </a:t>
            </a:r>
            <a:r>
              <a:rPr lang="en-US" altLang="en-US" sz="1800" b="0" dirty="0">
                <a:solidFill>
                  <a:schemeClr val="tx1"/>
                </a:solidFill>
              </a:rPr>
              <a:t>Foreign is labor-abundant, by which we mean that the labor–capital ratio in Foreign exceeds that in Home,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D77E44-710E-4929-9F26-F76B1FB2365A}"/>
                  </a:ext>
                </a:extLst>
              </p:cNvPr>
              <p:cNvSpPr>
                <a:spLocks noGrp="1"/>
              </p:cNvSpPr>
              <p:nvPr>
                <p:ph sz="quarter" idx="10"/>
              </p:nvPr>
            </p:nvSpPr>
            <p:spPr>
              <a:xfrm>
                <a:off x="3478877" y="2719586"/>
                <a:ext cx="2186247" cy="423862"/>
              </a:xfrm>
            </p:spPr>
            <p:txBody>
              <a:bodyPr>
                <a:normAutofit/>
              </a:bodyPr>
              <a:lstStyle/>
              <a:p>
                <a14:m>
                  <m:oMath xmlns:m="http://schemas.openxmlformats.org/officeDocument/2006/math">
                    <m:sSup>
                      <m:sSupPr>
                        <m:ctrlPr>
                          <a:rPr lang="en-US" altLang="en-US" sz="1800" b="0" i="1" smtClean="0">
                            <a:solidFill>
                              <a:schemeClr val="tx1"/>
                            </a:solidFill>
                            <a:latin typeface="Cambria Math" panose="02040503050406030204" pitchFamily="18" charset="0"/>
                          </a:rPr>
                        </m:ctrlPr>
                      </m:sSupPr>
                      <m:e>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𝐿</m:t>
                            </m:r>
                          </m:e>
                        </m:acc>
                      </m:e>
                      <m:sup>
                        <m:r>
                          <a:rPr lang="en-US" altLang="en-US" sz="1800" b="0" i="1">
                            <a:solidFill>
                              <a:schemeClr val="tx1"/>
                            </a:solidFill>
                            <a:latin typeface="Cambria Math" panose="02040503050406030204" pitchFamily="18" charset="0"/>
                          </a:rPr>
                          <m:t>∗</m:t>
                        </m:r>
                      </m:sup>
                    </m:sSup>
                  </m:oMath>
                </a14:m>
                <a:r>
                  <a:rPr lang="en-US" altLang="en-US" sz="1800" b="0" dirty="0">
                    <a:solidFill>
                      <a:schemeClr val="tx1"/>
                    </a:solidFill>
                  </a:rPr>
                  <a:t>/</a:t>
                </a:r>
                <a14:m>
                  <m:oMath xmlns:m="http://schemas.openxmlformats.org/officeDocument/2006/math">
                    <m:sSup>
                      <m:sSupPr>
                        <m:ctrlPr>
                          <a:rPr lang="en-US" altLang="en-US" sz="1800" b="0" i="1">
                            <a:solidFill>
                              <a:schemeClr val="tx1"/>
                            </a:solidFill>
                            <a:latin typeface="Cambria Math" panose="02040503050406030204" pitchFamily="18" charset="0"/>
                          </a:rPr>
                        </m:ctrlPr>
                      </m:sSupPr>
                      <m:e>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𝐾</m:t>
                            </m:r>
                          </m:e>
                        </m:acc>
                      </m:e>
                      <m:sup>
                        <m:r>
                          <a:rPr lang="en-US" altLang="en-US" sz="1800" b="0" i="1">
                            <a:solidFill>
                              <a:schemeClr val="tx1"/>
                            </a:solidFill>
                            <a:latin typeface="Cambria Math" panose="02040503050406030204" pitchFamily="18" charset="0"/>
                          </a:rPr>
                          <m:t>∗</m:t>
                        </m:r>
                      </m:sup>
                    </m:sSup>
                    <m:r>
                      <a:rPr lang="en-US" altLang="en-US" sz="1800" b="0" i="1">
                        <a:solidFill>
                          <a:schemeClr val="tx1"/>
                        </a:solidFill>
                        <a:latin typeface="Cambria Math" panose="02040503050406030204" pitchFamily="18" charset="0"/>
                      </a:rPr>
                      <m:t>&gt; </m:t>
                    </m:r>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𝐿</m:t>
                        </m:r>
                      </m:e>
                    </m:acc>
                    <m:r>
                      <a:rPr lang="en-US" altLang="en-US" sz="1800" b="0" i="1">
                        <a:solidFill>
                          <a:schemeClr val="tx1"/>
                        </a:solidFill>
                        <a:latin typeface="Cambria Math" panose="02040503050406030204" pitchFamily="18" charset="0"/>
                      </a:rPr>
                      <m:t>/</m:t>
                    </m:r>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𝐾</m:t>
                        </m:r>
                      </m:e>
                    </m:acc>
                  </m:oMath>
                </a14:m>
                <a:endParaRPr lang="en-IN" sz="1800" dirty="0"/>
              </a:p>
            </p:txBody>
          </p:sp>
        </mc:Choice>
        <mc:Fallback xmlns="">
          <p:sp>
            <p:nvSpPr>
              <p:cNvPr id="4" name="Content Placeholder 3">
                <a:extLst>
                  <a:ext uri="{FF2B5EF4-FFF2-40B4-BE49-F238E27FC236}">
                    <a16:creationId xmlns:a16="http://schemas.microsoft.com/office/drawing/2014/main" id="{01D77E44-710E-4929-9F26-F76B1FB2365A}"/>
                  </a:ext>
                </a:extLst>
              </p:cNvPr>
              <p:cNvSpPr>
                <a:spLocks noGrp="1" noRot="1" noChangeAspect="1" noMove="1" noResize="1" noEditPoints="1" noAdjustHandles="1" noChangeArrowheads="1" noChangeShapeType="1" noTextEdit="1"/>
              </p:cNvSpPr>
              <p:nvPr>
                <p:ph sz="quarter" idx="10"/>
              </p:nvPr>
            </p:nvSpPr>
            <p:spPr>
              <a:xfrm>
                <a:off x="3478877" y="2719586"/>
                <a:ext cx="2186247" cy="423862"/>
              </a:xfrm>
              <a:blipFill>
                <a:blip r:embed="rId2"/>
                <a:stretch>
                  <a:fillRect l="-1955" t="-7143" r="-3352" b="-8571"/>
                </a:stretch>
              </a:blipFill>
            </p:spPr>
            <p:txBody>
              <a:bodyPr/>
              <a:lstStyle/>
              <a:p>
                <a:r>
                  <a:rPr lang="en-IN">
                    <a:noFill/>
                  </a:rPr>
                  <a:t> </a:t>
                </a:r>
              </a:p>
            </p:txBody>
          </p:sp>
        </mc:Fallback>
      </mc:AlternateContent>
      <p:sp>
        <p:nvSpPr>
          <p:cNvPr id="7" name="Content Placeholder 6">
            <a:extLst>
              <a:ext uri="{FF2B5EF4-FFF2-40B4-BE49-F238E27FC236}">
                <a16:creationId xmlns:a16="http://schemas.microsoft.com/office/drawing/2014/main" id="{F311A8A2-5821-469F-8E4E-C3C1493346FF}"/>
              </a:ext>
            </a:extLst>
          </p:cNvPr>
          <p:cNvSpPr>
            <a:spLocks noGrp="1"/>
          </p:cNvSpPr>
          <p:nvPr>
            <p:ph sz="quarter" idx="13"/>
          </p:nvPr>
        </p:nvSpPr>
        <p:spPr>
          <a:xfrm>
            <a:off x="457200" y="3261250"/>
            <a:ext cx="8229600" cy="423862"/>
          </a:xfrm>
        </p:spPr>
        <p:txBody>
          <a:bodyPr>
            <a:normAutofit/>
          </a:bodyPr>
          <a:lstStyle/>
          <a:p>
            <a:pPr marL="339725" indent="-339725"/>
            <a:r>
              <a:rPr lang="en-US" altLang="en-US" sz="1800" b="0" dirty="0">
                <a:solidFill>
                  <a:schemeClr val="tx1"/>
                </a:solidFill>
              </a:rPr>
              <a:t>Equivalently, Home is capital-abundant, so that</a:t>
            </a:r>
            <a:endParaRPr lang="en-IN" sz="1800"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8ED91367-6FD0-4E7F-8F4E-2EE4BF123F6F}"/>
                  </a:ext>
                </a:extLst>
              </p:cNvPr>
              <p:cNvSpPr>
                <a:spLocks noGrp="1"/>
              </p:cNvSpPr>
              <p:nvPr>
                <p:ph sz="quarter" idx="14"/>
              </p:nvPr>
            </p:nvSpPr>
            <p:spPr>
              <a:xfrm>
                <a:off x="5912903" y="3268839"/>
                <a:ext cx="1548940" cy="423863"/>
              </a:xfrm>
            </p:spPr>
            <p:txBody>
              <a:bodyPr>
                <a:normAutofit/>
              </a:bodyPr>
              <a:lstStyle/>
              <a:p>
                <a:pPr marL="0" indent="0">
                  <a:spcBef>
                    <a:spcPct val="10000"/>
                  </a:spcBef>
                  <a:spcAft>
                    <a:spcPts val="1200"/>
                  </a:spcAft>
                  <a:buNone/>
                </a:pPr>
                <a14:m>
                  <m:oMath xmlns:m="http://schemas.openxmlformats.org/officeDocument/2006/math">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𝐾</m:t>
                        </m:r>
                      </m:e>
                    </m:acc>
                    <m:r>
                      <a:rPr lang="en-US" altLang="en-US" sz="1800" b="0" i="1">
                        <a:latin typeface="Cambria Math" panose="02040503050406030204" pitchFamily="18" charset="0"/>
                      </a:rPr>
                      <m:t>/</m:t>
                    </m:r>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𝐿</m:t>
                        </m:r>
                      </m:e>
                    </m:acc>
                  </m:oMath>
                </a14:m>
                <a:r>
                  <a:rPr lang="en-US" altLang="en-US" sz="1800" b="0" dirty="0"/>
                  <a:t> &gt; </a:t>
                </a:r>
                <a14:m>
                  <m:oMath xmlns:m="http://schemas.openxmlformats.org/officeDocument/2006/math">
                    <m:sSup>
                      <m:sSupPr>
                        <m:ctrlPr>
                          <a:rPr lang="en-US" altLang="en-US" sz="1800" b="0" i="1">
                            <a:latin typeface="Cambria Math" panose="02040503050406030204" pitchFamily="18" charset="0"/>
                          </a:rPr>
                        </m:ctrlPr>
                      </m:sSupPr>
                      <m:e>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𝐾</m:t>
                            </m:r>
                          </m:e>
                        </m:acc>
                      </m:e>
                      <m:sup>
                        <m:r>
                          <a:rPr lang="en-US" altLang="en-US" sz="1800" b="0" i="1">
                            <a:latin typeface="Cambria Math" panose="02040503050406030204" pitchFamily="18" charset="0"/>
                          </a:rPr>
                          <m:t>∗</m:t>
                        </m:r>
                      </m:sup>
                    </m:sSup>
                  </m:oMath>
                </a14:m>
                <a:r>
                  <a:rPr lang="en-US" altLang="en-US" sz="1800" b="0" dirty="0"/>
                  <a:t>/</a:t>
                </a:r>
                <a14:m>
                  <m:oMath xmlns:m="http://schemas.openxmlformats.org/officeDocument/2006/math">
                    <m:sSup>
                      <m:sSupPr>
                        <m:ctrlPr>
                          <a:rPr lang="en-US" altLang="en-US" sz="1800" b="0" i="1">
                            <a:latin typeface="Cambria Math" panose="02040503050406030204" pitchFamily="18" charset="0"/>
                          </a:rPr>
                        </m:ctrlPr>
                      </m:sSupPr>
                      <m:e>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𝐿</m:t>
                            </m:r>
                          </m:e>
                        </m:acc>
                      </m:e>
                      <m:sup>
                        <m:r>
                          <a:rPr lang="en-US" altLang="en-US" sz="1800" b="0" i="1">
                            <a:latin typeface="Cambria Math" panose="02040503050406030204" pitchFamily="18" charset="0"/>
                          </a:rPr>
                          <m:t>∗</m:t>
                        </m:r>
                      </m:sup>
                    </m:sSup>
                  </m:oMath>
                </a14:m>
                <a:r>
                  <a:rPr lang="en-US" altLang="en-US" sz="1800" b="0" dirty="0"/>
                  <a:t>.</a:t>
                </a:r>
              </a:p>
            </p:txBody>
          </p:sp>
        </mc:Choice>
        <mc:Fallback xmlns="">
          <p:sp>
            <p:nvSpPr>
              <p:cNvPr id="8" name="Content Placeholder 7">
                <a:extLst>
                  <a:ext uri="{FF2B5EF4-FFF2-40B4-BE49-F238E27FC236}">
                    <a16:creationId xmlns:a16="http://schemas.microsoft.com/office/drawing/2014/main" id="{8ED91367-6FD0-4E7F-8F4E-2EE4BF123F6F}"/>
                  </a:ext>
                </a:extLst>
              </p:cNvPr>
              <p:cNvSpPr>
                <a:spLocks noGrp="1" noRot="1" noChangeAspect="1" noMove="1" noResize="1" noEditPoints="1" noAdjustHandles="1" noChangeArrowheads="1" noChangeShapeType="1" noTextEdit="1"/>
              </p:cNvSpPr>
              <p:nvPr>
                <p:ph sz="quarter" idx="14"/>
              </p:nvPr>
            </p:nvSpPr>
            <p:spPr>
              <a:xfrm>
                <a:off x="5912903" y="3268839"/>
                <a:ext cx="1548940" cy="423863"/>
              </a:xfrm>
              <a:blipFill>
                <a:blip r:embed="rId3"/>
                <a:stretch>
                  <a:fillRect t="-7143" b="-8571"/>
                </a:stretch>
              </a:blipFill>
            </p:spPr>
            <p:txBody>
              <a:bodyPr/>
              <a:lstStyle/>
              <a:p>
                <a:r>
                  <a:rPr lang="en-US">
                    <a:noFill/>
                  </a:rPr>
                  <a:t> </a:t>
                </a:r>
              </a:p>
            </p:txBody>
          </p:sp>
        </mc:Fallback>
      </mc:AlternateContent>
      <p:sp>
        <p:nvSpPr>
          <p:cNvPr id="10" name="Content Placeholder 9">
            <a:extLst>
              <a:ext uri="{FF2B5EF4-FFF2-40B4-BE49-F238E27FC236}">
                <a16:creationId xmlns:a16="http://schemas.microsoft.com/office/drawing/2014/main" id="{4D30039E-D90E-42C3-AB78-AEAD613A125C}"/>
              </a:ext>
            </a:extLst>
          </p:cNvPr>
          <p:cNvSpPr>
            <a:spLocks noGrp="1"/>
          </p:cNvSpPr>
          <p:nvPr>
            <p:ph sz="quarter" idx="16"/>
          </p:nvPr>
        </p:nvSpPr>
        <p:spPr>
          <a:xfrm>
            <a:off x="461076" y="3651223"/>
            <a:ext cx="8600731" cy="2790674"/>
          </a:xfrm>
        </p:spPr>
        <p:txBody>
          <a:bodyPr>
            <a:noAutofit/>
          </a:bodyPr>
          <a:lstStyle/>
          <a:p>
            <a:pPr>
              <a:lnSpc>
                <a:spcPct val="120000"/>
              </a:lnSpc>
              <a:spcBef>
                <a:spcPts val="624"/>
              </a:spcBef>
            </a:pPr>
            <a:r>
              <a:rPr lang="en-US" altLang="en-US" sz="1800" dirty="0">
                <a:solidFill>
                  <a:schemeClr val="tx1"/>
                </a:solidFill>
              </a:rPr>
              <a:t>Assumption 4: </a:t>
            </a:r>
            <a:r>
              <a:rPr lang="en-US" altLang="en-US" sz="1800" b="0" dirty="0">
                <a:solidFill>
                  <a:schemeClr val="tx1"/>
                </a:solidFill>
              </a:rPr>
              <a:t>The final outputs, shoes and computers, can be traded freely (i.e., without any restrictions) between nations, but labor and capital do not move between countries.</a:t>
            </a:r>
            <a:r>
              <a:rPr lang="en-US" altLang="en-US" sz="1800" dirty="0">
                <a:solidFill>
                  <a:schemeClr val="tx1"/>
                </a:solidFill>
              </a:rPr>
              <a:t> </a:t>
            </a:r>
          </a:p>
          <a:p>
            <a:pPr>
              <a:lnSpc>
                <a:spcPct val="120000"/>
              </a:lnSpc>
              <a:spcBef>
                <a:spcPts val="624"/>
              </a:spcBef>
            </a:pPr>
            <a:r>
              <a:rPr lang="en-US" altLang="en-US" sz="1800" dirty="0">
                <a:solidFill>
                  <a:schemeClr val="tx1"/>
                </a:solidFill>
              </a:rPr>
              <a:t>Assumption 5: </a:t>
            </a:r>
            <a:r>
              <a:rPr lang="en-US" altLang="en-US" sz="1800" b="0" dirty="0">
                <a:solidFill>
                  <a:schemeClr val="tx1"/>
                </a:solidFill>
              </a:rPr>
              <a:t>The technologies used to produce the two goods are identical across the countries.</a:t>
            </a:r>
          </a:p>
          <a:p>
            <a:pPr>
              <a:lnSpc>
                <a:spcPct val="120000"/>
              </a:lnSpc>
              <a:spcBef>
                <a:spcPts val="624"/>
              </a:spcBef>
            </a:pPr>
            <a:r>
              <a:rPr lang="en-US" altLang="en-US" sz="1800" dirty="0">
                <a:solidFill>
                  <a:schemeClr val="tx1"/>
                </a:solidFill>
              </a:rPr>
              <a:t>Assumption 6: </a:t>
            </a:r>
            <a:r>
              <a:rPr lang="en-US" altLang="en-US" sz="1800" b="0" dirty="0">
                <a:solidFill>
                  <a:schemeClr val="tx1"/>
                </a:solidFill>
              </a:rPr>
              <a:t>Consumer tastes are the same across countries, and preferences for computers and shoes do not vary with a country’s level of income.</a:t>
            </a:r>
            <a:endParaRPr lang="en-US" altLang="en-US" sz="1800" dirty="0">
              <a:solidFill>
                <a:schemeClr val="tx1"/>
              </a:solidFill>
            </a:endParaRPr>
          </a:p>
        </p:txBody>
      </p:sp>
    </p:spTree>
    <p:extLst>
      <p:ext uri="{BB962C8B-B14F-4D97-AF65-F5344CB8AC3E}">
        <p14:creationId xmlns:p14="http://schemas.microsoft.com/office/powerpoint/2010/main" val="542522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3)</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1143000"/>
          </a:xfrm>
        </p:spPr>
        <p:txBody>
          <a:bodyPr>
            <a:normAutofit/>
          </a:bodyPr>
          <a:lstStyle/>
          <a:p>
            <a:r>
              <a:rPr lang="en-US" sz="2000" dirty="0"/>
              <a:t>No-Trade Equilibrium</a:t>
            </a:r>
          </a:p>
          <a:p>
            <a:r>
              <a:rPr lang="en-US" altLang="en-US" sz="2000" dirty="0"/>
              <a:t>Production Possibilities Frontiers, Indifference Curves, and No-Trade Equilibrium Price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4-2 (1 of 3)</a:t>
            </a:r>
            <a:r>
              <a:rPr lang="en-IN" sz="2000" dirty="0"/>
              <a:t> </a:t>
            </a:r>
            <a:r>
              <a:rPr lang="en-US" sz="1600" b="0" dirty="0"/>
              <a:t>No-Trade Equilibria in Home and Foreign</a:t>
            </a:r>
            <a:endParaRPr lang="en-US" sz="2000" b="0" dirty="0"/>
          </a:p>
        </p:txBody>
      </p:sp>
      <p:pic>
        <p:nvPicPr>
          <p:cNvPr id="11" name="Picture Placeholder 5" descr="Two graphs, a and b, show output of shoes versus output of computers in home; and output of shoes, versus output of computers, in foreign. &quot;Graph a. &#10;A point marked along the horizontal axis is labeled Q subscript C 1 and a point marked along the vertical axis is labeled Q subscript S 1. A concave downward curve labeled Home P P F starts slightly above the point Q subscript S 1 on the vertical axis, and slopes downward. It reaches slightly toward the right of the point Q subscript C 1 on the horizontal axis. A negative sloping curve labeled relative price of computers, slope equals (P subscript C over P subscript S) power A touches the concave downward curve at a point A. The point, A is marked on the graph at ( Q subscript C 1 and Q subscript S 1). Dotted perpendiculars are dropped from the point toward either axis. A concave upward curve labeled U is plotted in the graph just above the negative sloping curve. Both the concave downward curve and the concave upward curve; and the negative sloping curve meet at point A.&#10;Graph b. &#10;A point marked along the horizontal axis is labeled Q asterisk subscript C 1 and a point marked along the vertical axis is labeled Q asterisk subscript S 1. A concave downward curve labeled Foreign P P F starts slightly above the point Q asterisk subscript S 1 on the vertical axis, and slopes downward. It reaches slightly toward the right of the point Q asterisk subscript C 1 on the horizontal axis. A negative sloping curve labeled relative price of computers, slope equals (P asterisk subscript C over P asterisk subscript S) power A asterisk touches the concave downward curve at a point Asterisk. The point, A is marked on the graph at (Q asterisk subscript C 1 and Q asterisk subscript S 1). Dotted perpendiculars are dropped from the point toward either axis. &quot;">
            <a:extLst>
              <a:ext uri="{FF2B5EF4-FFF2-40B4-BE49-F238E27FC236}">
                <a16:creationId xmlns:a16="http://schemas.microsoft.com/office/drawing/2014/main" id="{05CCA226-4304-44AE-9AB2-108181135A3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223074" y="3142471"/>
            <a:ext cx="4697852" cy="2018532"/>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885825"/>
          </a:xfrm>
        </p:spPr>
        <p:txBody>
          <a:bodyPr>
            <a:normAutofit/>
          </a:bodyPr>
          <a:lstStyle/>
          <a:p>
            <a:pPr marL="0" indent="0">
              <a:buNone/>
            </a:pPr>
            <a:r>
              <a:rPr lang="en-US" altLang="en-US" sz="1600" b="0" dirty="0">
                <a:latin typeface="+mn-lt"/>
              </a:rPr>
              <a:t>The</a:t>
            </a:r>
            <a:r>
              <a:rPr lang="es-ES" altLang="en-US" sz="1600" b="0" dirty="0">
                <a:latin typeface="+mn-lt"/>
              </a:rPr>
              <a:t> Home </a:t>
            </a:r>
            <a:r>
              <a:rPr lang="en-US" altLang="en-US" sz="1600" b="0" dirty="0">
                <a:latin typeface="+mn-lt"/>
              </a:rPr>
              <a:t>production possibilities frontier (PPF) is shown in panel (a), and the Foreign PPF is shown in panel (b). </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rmAutofit/>
          </a:bodyPr>
          <a:lstStyle/>
          <a:p>
            <a:pPr marL="0" indent="0">
              <a:buNone/>
            </a:pPr>
            <a:r>
              <a:rPr lang="en-US" altLang="en-US" sz="1600" b="0" dirty="0">
                <a:latin typeface="+mn-lt"/>
              </a:rPr>
              <a:t>Because Home is capital-abundant and computers are capital-intensive, the Home PPF is skewed toward computers.</a:t>
            </a:r>
          </a:p>
        </p:txBody>
      </p:sp>
    </p:spTree>
    <p:extLst>
      <p:ext uri="{BB962C8B-B14F-4D97-AF65-F5344CB8AC3E}">
        <p14:creationId xmlns:p14="http://schemas.microsoft.com/office/powerpoint/2010/main" val="2703829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4)</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1143000"/>
          </a:xfrm>
        </p:spPr>
        <p:txBody>
          <a:bodyPr>
            <a:normAutofit/>
          </a:bodyPr>
          <a:lstStyle/>
          <a:p>
            <a:r>
              <a:rPr lang="en-US" sz="2000" dirty="0"/>
              <a:t>No-Trade Equilibrium</a:t>
            </a:r>
          </a:p>
          <a:p>
            <a:r>
              <a:rPr lang="en-US" altLang="en-US" sz="2000" dirty="0"/>
              <a:t>Production Possibilities Frontiers, Indifference Curves, and No-Trade Equilibrium Price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4-2 (2 of 3)</a:t>
            </a:r>
            <a:r>
              <a:rPr lang="en-IN" sz="2000" dirty="0"/>
              <a:t> </a:t>
            </a:r>
            <a:r>
              <a:rPr lang="en-US" sz="1600" b="0" dirty="0"/>
              <a:t>No-Trade Equilibria in Home and Foreign</a:t>
            </a:r>
            <a:endParaRPr lang="en-US" sz="2000" b="0" dirty="0"/>
          </a:p>
        </p:txBody>
      </p:sp>
      <p:pic>
        <p:nvPicPr>
          <p:cNvPr id="11" name="Picture Placeholder 5" descr="Two graphs, a and b, show output of shoes versus output of computers in home; and output of shoes, versus output of computers, in foreign. &quot;Graph a. &#10;A point marked along the horizontal axis is labeled Q subscript C 1 and a point marked along the vertical axis is labeled Q subscript S 1. A concave downward curve labeled Home P P F starts slightly above the point Q subscript S 1 on the vertical axis, and slopes downward. It reaches slightly toward the right of the point Q subscript C 1 on the horizontal axis. A negative sloping curve labeled relative price of computers, slope equals (P subscript C over P subscript S) power A touches the concave downward curve at a point A. The point, A is marked on the graph at ( Q subscript C 1 and Q subscript S 1). Dotted perpendiculars are dropped from the point toward either axis. A concave upward curve labeled U is plotted in the graph just above the negative sloping curve. Both the concave downward curve and the concave upward curve; and the negative sloping curve meet at point A.&#10;Graph b. &#10;A point marked along the horizontal axis is labeled Q asterisk subscript C 1 and a point marked along the vertical axis is labeled Q asterisk subscript S 1. A concave downward curve labeled Foreign P P F starts slightly above the point Q asterisk subscript S 1 on the vertical axis, and slopes downward. It reaches slightly toward the right of the point Q asterisk subscript C 1 on the horizontal axis. A negative sloping curve labeled relative price of computers, slope equals (P asterisk subscript C over P asterisk subscript S) power A asterisk touches the concave downward curve at a point Asterisk. The point, A is marked on the graph at (Q asterisk subscript C 1 and Q asterisk subscript S 1). Dotted perpendiculars are dropped from the point toward either axis. &quot;">
            <a:extLst>
              <a:ext uri="{FF2B5EF4-FFF2-40B4-BE49-F238E27FC236}">
                <a16:creationId xmlns:a16="http://schemas.microsoft.com/office/drawing/2014/main" id="{05CCA226-4304-44AE-9AB2-108181135A3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337077" y="3150360"/>
            <a:ext cx="4469846" cy="1920563"/>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885825"/>
          </a:xfrm>
        </p:spPr>
        <p:txBody>
          <a:bodyPr>
            <a:normAutofit/>
          </a:bodyPr>
          <a:lstStyle/>
          <a:p>
            <a:pPr marL="0" indent="0" eaLnBrk="1" hangingPunct="1">
              <a:spcBef>
                <a:spcPct val="10000"/>
              </a:spcBef>
              <a:spcAft>
                <a:spcPct val="10000"/>
              </a:spcAft>
              <a:buNone/>
            </a:pPr>
            <a:r>
              <a:rPr lang="en-US" altLang="en-US" sz="1800" b="0" dirty="0">
                <a:latin typeface="+mn-lt"/>
              </a:rPr>
              <a:t>Home preferences are summarized by the indifference curve, </a:t>
            </a:r>
            <a:r>
              <a:rPr lang="en-US" altLang="en-US" sz="1800" b="0" i="1" dirty="0">
                <a:latin typeface="+mn-lt"/>
              </a:rPr>
              <a:t>U.</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1112755"/>
          </a:xfrm>
        </p:spPr>
        <p:txBody>
          <a:bodyPr>
            <a:noAutofit/>
          </a:bodyPr>
          <a:lstStyle/>
          <a:p>
            <a:pPr marL="0" indent="0" eaLnBrk="1" hangingPunct="1">
              <a:spcBef>
                <a:spcPct val="10000"/>
              </a:spcBef>
              <a:spcAft>
                <a:spcPct val="10000"/>
              </a:spcAft>
              <a:buNone/>
            </a:pPr>
            <a:r>
              <a:rPr lang="en-US" altLang="en-US" sz="1600" b="0" dirty="0">
                <a:latin typeface="+mn-lt"/>
              </a:rPr>
              <a:t>The Home no-trade (or autarky)</a:t>
            </a:r>
            <a:r>
              <a:rPr lang="en-US" altLang="en-US" sz="1600" b="0" i="1" dirty="0">
                <a:latin typeface="+mn-lt"/>
              </a:rPr>
              <a:t> </a:t>
            </a:r>
            <a:r>
              <a:rPr lang="en-US" altLang="en-US" sz="1600" b="0" dirty="0">
                <a:latin typeface="+mn-lt"/>
              </a:rPr>
              <a:t>equilibrium is at point </a:t>
            </a:r>
            <a:r>
              <a:rPr lang="en-US" altLang="en-US" sz="1600" b="0" i="1" dirty="0">
                <a:latin typeface="+mn-lt"/>
              </a:rPr>
              <a:t>A.</a:t>
            </a:r>
          </a:p>
          <a:p>
            <a:pPr marL="0" indent="0" eaLnBrk="1" hangingPunct="1">
              <a:spcBef>
                <a:spcPct val="10000"/>
              </a:spcBef>
              <a:spcAft>
                <a:spcPct val="10000"/>
              </a:spcAft>
              <a:buNone/>
            </a:pPr>
            <a:r>
              <a:rPr lang="en-US" altLang="en-US" sz="1600" b="0" dirty="0">
                <a:latin typeface="+mn-lt"/>
              </a:rPr>
              <a:t>The flat slope indicates a low relative price of computers, </a:t>
            </a:r>
            <a:r>
              <a:rPr lang="en-US" altLang="en-US" sz="1600" b="0" i="1" dirty="0">
                <a:latin typeface="+mn-lt"/>
              </a:rPr>
              <a:t>(P</a:t>
            </a:r>
            <a:r>
              <a:rPr lang="en-US" altLang="en-US" sz="1600" b="0" i="1" baseline="-25000" dirty="0">
                <a:latin typeface="+mn-lt"/>
              </a:rPr>
              <a:t>C</a:t>
            </a:r>
            <a:r>
              <a:rPr lang="bg-BG" altLang="en-US" sz="1600" b="0" i="1" dirty="0">
                <a:latin typeface="+mn-lt"/>
              </a:rPr>
              <a:t>/</a:t>
            </a:r>
            <a:r>
              <a:rPr lang="en-US" altLang="en-US" sz="1600" b="0" i="1" dirty="0">
                <a:latin typeface="+mn-lt"/>
              </a:rPr>
              <a:t>P</a:t>
            </a:r>
            <a:r>
              <a:rPr lang="en-US" altLang="en-US" sz="1600" b="0" i="1" baseline="-25000" dirty="0">
                <a:latin typeface="+mn-lt"/>
              </a:rPr>
              <a:t>S</a:t>
            </a:r>
            <a:r>
              <a:rPr lang="en-US" altLang="en-US" sz="1600" b="0" i="1" dirty="0">
                <a:latin typeface="+mn-lt"/>
              </a:rPr>
              <a:t>)</a:t>
            </a:r>
            <a:r>
              <a:rPr lang="en-US" altLang="en-US" sz="1600" b="0" i="1" baseline="30000" dirty="0">
                <a:latin typeface="+mn-lt"/>
              </a:rPr>
              <a:t>A</a:t>
            </a:r>
            <a:r>
              <a:rPr lang="en-US" altLang="en-US" sz="1600" b="0" i="1" dirty="0">
                <a:latin typeface="+mn-lt"/>
              </a:rPr>
              <a:t>.</a:t>
            </a:r>
          </a:p>
        </p:txBody>
      </p:sp>
    </p:spTree>
    <p:extLst>
      <p:ext uri="{BB962C8B-B14F-4D97-AF65-F5344CB8AC3E}">
        <p14:creationId xmlns:p14="http://schemas.microsoft.com/office/powerpoint/2010/main" val="1894488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5)</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1143000"/>
          </a:xfrm>
        </p:spPr>
        <p:txBody>
          <a:bodyPr>
            <a:normAutofit/>
          </a:bodyPr>
          <a:lstStyle/>
          <a:p>
            <a:r>
              <a:rPr lang="en-US" sz="2000" dirty="0"/>
              <a:t>No-Trade Equilibrium</a:t>
            </a:r>
          </a:p>
          <a:p>
            <a:r>
              <a:rPr lang="en-US" altLang="en-US" sz="2000" dirty="0"/>
              <a:t>Production Possibilities Frontiers, Indifference Curves, and No-Trade Equilibrium Price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4-2 (3 of 3)</a:t>
            </a:r>
            <a:r>
              <a:rPr lang="en-IN" sz="2000" dirty="0"/>
              <a:t> </a:t>
            </a:r>
            <a:r>
              <a:rPr lang="en-US" sz="1600" b="0" dirty="0"/>
              <a:t>No-Trade Equilibria in Home and Foreign</a:t>
            </a:r>
            <a:endParaRPr lang="en-US" sz="2000" b="0" dirty="0"/>
          </a:p>
        </p:txBody>
      </p:sp>
      <p:pic>
        <p:nvPicPr>
          <p:cNvPr id="11" name="Picture Placeholder 5" descr="Two graphs, a and b, show output of shoes versus output of computers in home; and output of shoes, versus output of computers, in foreign. &quot;Graph a. &#10;A point marked along the horizontal axis is labeled Q subscript C 1 and a point marked along the vertical axis is labeled Q subscript S 1. A concave downward curve labeled Home P P F starts slightly above the point Q subscript S 1 on the vertical axis, and slopes downward. It reaches slightly toward the right of the point Q subscript C 1 on the horizontal axis. A negative sloping curve labeled relative price of computers, slope equals (P subscript C over P subscript S) power A touches the concave downward curve at a point A. The point, A is marked on the graph at ( Q subscript C 1 and Q subscript S 1). Dotted perpendiculars are dropped from the point toward either axis. A concave upward curve labeled U is plotted in the graph just above the negative sloping curve. Both the concave downward curve and the concave upward curve; and the negative sloping curve meet at point A.&#10;Graph b. &#10;A point marked along the horizontal axis is labeled Q asterisk subscript C 1 and a point marked along the vertical axis is labeled Q asterisk subscript S 1. A concave downward curve labeled Foreign P P F starts slightly above the point Q asterisk subscript S 1 on the vertical axis, and slopes downward. It reaches slightly toward the right of the point Q asterisk subscript C 1 on the horizontal axis. A negative sloping curve labeled relative price of computers, slope equals (P asterisk subscript C over P asterisk subscript S) power A asterisk touches the concave downward curve at a point Asterisk. The point, A is marked on the graph at (Q asterisk subscript C 1 and Q asterisk subscript S 1). Dotted perpendiculars are dropped from the point toward either axis. &quot;">
            <a:extLst>
              <a:ext uri="{FF2B5EF4-FFF2-40B4-BE49-F238E27FC236}">
                <a16:creationId xmlns:a16="http://schemas.microsoft.com/office/drawing/2014/main" id="{05CCA226-4304-44AE-9AB2-108181135A3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113585" y="3157072"/>
            <a:ext cx="4916831" cy="2112619"/>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buNone/>
            </a:pPr>
            <a:r>
              <a:rPr lang="en-US" altLang="en-US" sz="1400" b="0" dirty="0">
                <a:latin typeface="+mn-lt"/>
              </a:rPr>
              <a:t>Foreign is labor-abundant and shoes are labor- intensive, so the Foreign PPF is skewed toward shoes. Foreign preferences are summarized by the indifference curve, </a:t>
            </a:r>
            <a:r>
              <a:rPr lang="en-US" altLang="en-US" sz="1400" b="0" i="1" dirty="0">
                <a:latin typeface="+mn-lt"/>
              </a:rPr>
              <a:t>U*.</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Autofit/>
          </a:bodyPr>
          <a:lstStyle/>
          <a:p>
            <a:pPr marL="0" indent="0" eaLnBrk="1" hangingPunct="1">
              <a:buNone/>
            </a:pPr>
            <a:r>
              <a:rPr lang="en-US" altLang="en-US" sz="1400" b="0" dirty="0">
                <a:latin typeface="+mn-lt"/>
              </a:rPr>
              <a:t>The Foreign no-trade equilibrium is at</a:t>
            </a:r>
            <a:r>
              <a:rPr lang="en-US" altLang="en-US" sz="1400" b="0" i="1" dirty="0">
                <a:latin typeface="+mn-lt"/>
              </a:rPr>
              <a:t> </a:t>
            </a:r>
            <a:r>
              <a:rPr lang="en-US" altLang="en-US" sz="1400" b="0" dirty="0">
                <a:latin typeface="+mn-lt"/>
              </a:rPr>
              <a:t>point </a:t>
            </a:r>
            <a:r>
              <a:rPr lang="en-US" altLang="en-US" sz="1400" b="0" i="1" dirty="0">
                <a:latin typeface="+mn-lt"/>
              </a:rPr>
              <a:t>A*, </a:t>
            </a:r>
            <a:r>
              <a:rPr lang="en-US" altLang="en-US" sz="1400" b="0" dirty="0">
                <a:latin typeface="+mn-lt"/>
              </a:rPr>
              <a:t>with a higher relative price of computers, as indicated by the steeper slope of </a:t>
            </a:r>
            <a:r>
              <a:rPr lang="en-US" altLang="en-US" sz="1400" b="0" i="1" dirty="0">
                <a:latin typeface="+mn-lt"/>
              </a:rPr>
              <a:t>(P*</a:t>
            </a:r>
            <a:r>
              <a:rPr lang="es-ES" altLang="en-US" sz="1400" b="0" i="1" baseline="-25000" dirty="0">
                <a:latin typeface="+mn-lt"/>
              </a:rPr>
              <a:t>C</a:t>
            </a:r>
            <a:r>
              <a:rPr lang="bg-BG" altLang="en-US" sz="1400" b="0" i="1" dirty="0">
                <a:latin typeface="+mn-lt"/>
              </a:rPr>
              <a:t>/</a:t>
            </a:r>
            <a:r>
              <a:rPr lang="es-ES" altLang="en-US" sz="1400" b="0" i="1" dirty="0">
                <a:latin typeface="+mn-lt"/>
              </a:rPr>
              <a:t>P*</a:t>
            </a:r>
            <a:r>
              <a:rPr lang="es-ES" altLang="en-US" sz="1400" b="0" i="1" baseline="-25000" dirty="0">
                <a:latin typeface="+mn-lt"/>
              </a:rPr>
              <a:t>S</a:t>
            </a:r>
            <a:r>
              <a:rPr lang="es-ES" altLang="en-US" sz="1400" b="0" i="1" dirty="0">
                <a:latin typeface="+mn-lt"/>
              </a:rPr>
              <a:t>)</a:t>
            </a:r>
            <a:r>
              <a:rPr lang="es-ES" altLang="en-US" sz="1400" b="0" i="1" baseline="30000" dirty="0">
                <a:latin typeface="+mn-lt"/>
              </a:rPr>
              <a:t>A</a:t>
            </a:r>
            <a:r>
              <a:rPr lang="es-ES" altLang="en-US" sz="1400" b="0" i="1" dirty="0">
                <a:latin typeface="+mn-lt"/>
              </a:rPr>
              <a:t>*.</a:t>
            </a:r>
            <a:endParaRPr lang="en-US" altLang="en-US" sz="1400" b="0" i="1" dirty="0">
              <a:latin typeface="+mn-lt"/>
            </a:endParaRPr>
          </a:p>
        </p:txBody>
      </p:sp>
    </p:spTree>
    <p:extLst>
      <p:ext uri="{BB962C8B-B14F-4D97-AF65-F5344CB8AC3E}">
        <p14:creationId xmlns:p14="http://schemas.microsoft.com/office/powerpoint/2010/main" val="1191728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6)</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Home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4-3 (1 of 2)</a:t>
            </a:r>
            <a:r>
              <a:rPr lang="en-IN" sz="2000" dirty="0"/>
              <a:t> </a:t>
            </a:r>
            <a:r>
              <a:rPr lang="en-US" sz="1600" b="0" dirty="0"/>
              <a:t>International Free-Trade Equilibrium in Home</a:t>
            </a:r>
          </a:p>
        </p:txBody>
      </p:sp>
      <p:pic>
        <p:nvPicPr>
          <p:cNvPr id="10" name="Picture Placeholder 4" descr="Two graphs, a and b, show output of shoes versus output of computers in home country and relative price of computers versus quantity of computers in the international market, respectively. &quot;Graph a plots output of shoes, Q subscript S, versus output of computers, Q subscript C. Two points, Q subscript C 3 and Q subscript C 2, representing computer exports, are marked along the horizontal axis, such that Q subscript C 3 is less than Q subscript C 2. Two points, Q subscript S 3 and Q subscript S 2, representing shoe imports, are marked along the vertical axis, such that Q subscript S 3 is greater than Q subscript S 2. &#10;Two points, C and B are plotted on the graph. Here, C representing home consumption, lies at (Q subscript C 3, Q subscript S 3) and B, representing home production, lies at (Q subscript C 2, Q subscript S 2). A concave down decreasing curve starts from a point slightly below Q subscript S 3, passes through B, and ends at a point slightly a little to the right of Q subscript C 2. A negative slope, representing world price line slope, passes through the points C and B. The slope of the line equals start fraction P subscript C over P subscript S end fraction whole superscript W. Dashed perpendiculars are dropped from the points C and B to either axis. The triangular area, thus formed, between the negative slope and the dashed perpendiculars, is highlighted. A point, A, is marked on the concave down decreasing curve, such that it lies inside the triangular area.&#10;Graph b plots relative price of computers, P subscript C over P subscript S, versus quantity of computers. A positive curve on the graph, representing home export supply curve for computers, passes through two points, A and D, on the graph. Here, A equals (start fraction P subscript C over P subscript S end fraction power A , 0) and D equals (start fraction P subscript C over P subscript S end fraction power W, Q asterisk subscript C 2 minus Q asterisk subscript C 3).&quot;">
            <a:extLst>
              <a:ext uri="{FF2B5EF4-FFF2-40B4-BE49-F238E27FC236}">
                <a16:creationId xmlns:a16="http://schemas.microsoft.com/office/drawing/2014/main" id="{56307EDD-9C36-4C0A-9220-54D93FC0849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486013" y="3209370"/>
            <a:ext cx="4171975" cy="1968797"/>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spcBef>
                <a:spcPct val="10000"/>
              </a:spcBef>
              <a:spcAft>
                <a:spcPct val="10000"/>
              </a:spcAft>
              <a:buNone/>
            </a:pPr>
            <a:r>
              <a:rPr lang="es-ES" altLang="en-US" sz="1400" b="0" dirty="0">
                <a:latin typeface="+mn-lt"/>
              </a:rPr>
              <a:t>At </a:t>
            </a:r>
            <a:r>
              <a:rPr lang="en-US" altLang="en-US" sz="1400" b="0" dirty="0">
                <a:latin typeface="+mn-lt"/>
              </a:rPr>
              <a:t>the</a:t>
            </a:r>
            <a:r>
              <a:rPr lang="es-ES" altLang="en-US" sz="1400" b="0" dirty="0">
                <a:latin typeface="+mn-lt"/>
              </a:rPr>
              <a:t> </a:t>
            </a:r>
            <a:r>
              <a:rPr lang="en-US" altLang="en-US" sz="1400" b="0" dirty="0">
                <a:latin typeface="+mn-lt"/>
              </a:rPr>
              <a:t>free-trade world relative price of computers,</a:t>
            </a:r>
            <a:r>
              <a:rPr lang="en-US" altLang="en-US" sz="1400" b="0" i="1" dirty="0">
                <a:latin typeface="+mn-lt"/>
              </a:rPr>
              <a:t> </a:t>
            </a:r>
            <a:r>
              <a:rPr lang="en-US" altLang="en-US" sz="1400" b="0" dirty="0">
                <a:latin typeface="+mn-lt"/>
              </a:rPr>
              <a:t>(</a:t>
            </a:r>
            <a:r>
              <a:rPr lang="en-US" altLang="en-US" sz="1400" b="0" i="1" dirty="0">
                <a:latin typeface="+mn-lt"/>
              </a:rPr>
              <a:t>P</a:t>
            </a:r>
            <a:r>
              <a:rPr lang="en-US" altLang="en-US" sz="1400" b="0" i="1" baseline="-25000" dirty="0">
                <a:latin typeface="+mn-lt"/>
              </a:rPr>
              <a:t>C</a:t>
            </a:r>
            <a:r>
              <a:rPr lang="bg-BG" altLang="en-US" sz="1400" b="0" i="1"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W</a:t>
            </a:r>
            <a:r>
              <a:rPr lang="en-US" altLang="en-US" sz="1400" b="0" i="1" dirty="0">
                <a:latin typeface="+mn-lt"/>
              </a:rPr>
              <a:t>, </a:t>
            </a:r>
            <a:r>
              <a:rPr lang="en-US" altLang="en-US" sz="1400" b="0" dirty="0">
                <a:latin typeface="+mn-lt"/>
              </a:rPr>
              <a:t>Home</a:t>
            </a:r>
            <a:r>
              <a:rPr lang="en-US" altLang="en-US" sz="1400" b="0" i="1" dirty="0">
                <a:latin typeface="+mn-lt"/>
              </a:rPr>
              <a:t> </a:t>
            </a:r>
            <a:r>
              <a:rPr lang="en-US" altLang="en-US" sz="1400" b="0" dirty="0">
                <a:latin typeface="+mn-lt"/>
              </a:rPr>
              <a:t>produces at point </a:t>
            </a:r>
            <a:r>
              <a:rPr lang="en-US" altLang="en-US" sz="1400" b="0" i="1" dirty="0">
                <a:latin typeface="+mn-lt"/>
              </a:rPr>
              <a:t>B </a:t>
            </a:r>
            <a:r>
              <a:rPr lang="en-US" altLang="en-US" sz="1400" b="0" dirty="0">
                <a:latin typeface="+mn-lt"/>
              </a:rPr>
              <a:t>in panel (a) and consumes at point </a:t>
            </a:r>
            <a:r>
              <a:rPr lang="en-US" altLang="en-US" sz="1400" b="0" i="1" dirty="0">
                <a:latin typeface="+mn-lt"/>
              </a:rPr>
              <a:t>C,</a:t>
            </a:r>
            <a:r>
              <a:rPr lang="en-US" altLang="en-US" sz="1400" b="0" dirty="0">
                <a:latin typeface="+mn-lt"/>
              </a:rPr>
              <a:t>  exporting computers and importing shoes. Point </a:t>
            </a:r>
            <a:r>
              <a:rPr lang="en-US" altLang="en-US" sz="1400" b="0" i="1" dirty="0">
                <a:latin typeface="+mn-lt"/>
              </a:rPr>
              <a:t>A </a:t>
            </a:r>
            <a:r>
              <a:rPr lang="en-US" altLang="en-US" sz="1400" b="0" dirty="0">
                <a:latin typeface="+mn-lt"/>
              </a:rPr>
              <a:t>is the no-trade equilibrium.</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57799"/>
            <a:ext cx="4114799" cy="1059874"/>
          </a:xfrm>
        </p:spPr>
        <p:txBody>
          <a:bodyPr>
            <a:noAutofit/>
          </a:bodyPr>
          <a:lstStyle/>
          <a:p>
            <a:pPr marL="0" indent="0" eaLnBrk="1" hangingPunct="1">
              <a:spcBef>
                <a:spcPct val="10000"/>
              </a:spcBef>
              <a:spcAft>
                <a:spcPct val="10000"/>
              </a:spcAft>
              <a:buNone/>
            </a:pPr>
            <a:r>
              <a:rPr lang="en-US" altLang="en-US" sz="1400" b="0" dirty="0">
                <a:latin typeface="+mn-lt"/>
              </a:rPr>
              <a:t>The “trade triangle” has a base equal to the Home exports of computers (the difference between the amount produced and the amount consumed with trade, </a:t>
            </a:r>
            <a:r>
              <a:rPr lang="en-US" altLang="en-US" sz="1400" b="0" i="1" dirty="0">
                <a:latin typeface="+mn-lt"/>
              </a:rPr>
              <a:t>Q</a:t>
            </a:r>
            <a:r>
              <a:rPr lang="en-US" altLang="en-US" sz="1400" b="0" i="1" baseline="-25000" dirty="0">
                <a:latin typeface="+mn-lt"/>
              </a:rPr>
              <a:t>C</a:t>
            </a:r>
            <a:r>
              <a:rPr lang="en-US" altLang="en-US" sz="1400" b="0" baseline="-25000" dirty="0">
                <a:latin typeface="+mn-lt"/>
              </a:rPr>
              <a:t>2</a:t>
            </a:r>
            <a:r>
              <a:rPr lang="en-US" altLang="en-US" sz="1400" b="0" i="1" dirty="0">
                <a:latin typeface="+mn-lt"/>
              </a:rPr>
              <a:t> − Q</a:t>
            </a:r>
            <a:r>
              <a:rPr lang="en-US" altLang="en-US" sz="1400" b="0" i="1" baseline="-25000" dirty="0">
                <a:latin typeface="+mn-lt"/>
              </a:rPr>
              <a:t>C</a:t>
            </a:r>
            <a:r>
              <a:rPr lang="en-US" altLang="en-US" sz="1400" b="0" baseline="-25000" dirty="0">
                <a:latin typeface="+mn-lt"/>
              </a:rPr>
              <a:t>3</a:t>
            </a:r>
            <a:r>
              <a:rPr lang="en-US" altLang="en-US" sz="1400" b="0" dirty="0">
                <a:latin typeface="+mn-lt"/>
              </a:rPr>
              <a:t>)</a:t>
            </a:r>
            <a:r>
              <a:rPr lang="en-US" altLang="en-US" sz="1400" b="0" i="1" dirty="0">
                <a:latin typeface="+mn-lt"/>
              </a:rPr>
              <a:t>.</a:t>
            </a:r>
            <a:endParaRPr lang="en-US" altLang="en-US" sz="1400" b="0" dirty="0">
              <a:latin typeface="+mn-lt"/>
            </a:endParaRPr>
          </a:p>
        </p:txBody>
      </p:sp>
    </p:spTree>
    <p:extLst>
      <p:ext uri="{BB962C8B-B14F-4D97-AF65-F5344CB8AC3E}">
        <p14:creationId xmlns:p14="http://schemas.microsoft.com/office/powerpoint/2010/main" val="3957125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7)</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Home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4-3 (2 of 2)</a:t>
            </a:r>
            <a:r>
              <a:rPr lang="en-IN" sz="2000" dirty="0"/>
              <a:t> </a:t>
            </a:r>
            <a:r>
              <a:rPr lang="en-US" sz="1600" b="0" dirty="0"/>
              <a:t>International Free-Trade Equilibrium in Home</a:t>
            </a:r>
          </a:p>
        </p:txBody>
      </p:sp>
      <p:pic>
        <p:nvPicPr>
          <p:cNvPr id="10" name="Picture Placeholder 4" descr="Two graphs, a and b, show output of shoes versus output of computers in home country and relative price of computers versus quantity of computers in the international market, respectively. &quot;Graph a plots output of shoes, Q subscript S, versus output of computers, Q subscript C. Two points, Q subscript C 3 and Q subscript C 2, representing computer exports, are marked along the horizontal axis, such that Q subscript C 3 is less than Q subscript C 2. Two points, Q subscript S 3 and Q subscript S 2, representing shoe imports, are marked along the vertical axis, such that Q subscript S 3 is greater than Q subscript S 2. &#10;Two points, C and B are plotted on the graph. Here, C representing home consumption, lies at (Q subscript C 3, Q subscript S 3) and B, representing home production, lies at (Q subscript C 2, Q subscript S 2). A concave down decreasing curve starts from a point slightly below Q subscript S 3, passes through B, and ends at a point slightly a little to the right of Q subscript C 2. A negative slope, representing world price line slope, passes through the points C and B. The slope of the line equals start fraction P subscript C over P subscript S end fraction whole superscript W. Dashed perpendiculars are dropped from the points C and B to either axis. The triangular area, thus formed, between the negative slope and the dashed perpendiculars, is highlighted. A point, A, is marked on the concave down decreasing curve, such that it lies inside the triangular area.&#10;Graph b plots relative price of computers, P subscript C over P subscript S, versus quantity of computers. A positive curve on the graph, representing home export supply curve for computers, passes through two points, A and D, on the graph. Here, A equals (start fraction P subscript C over P subscript S end fraction power A , 0) and D equals (start fraction P subscript C over P subscript S end fraction power W, Q asterisk subscript C 2 minus Q asterisk subscript C 3).&quot;">
            <a:extLst>
              <a:ext uri="{FF2B5EF4-FFF2-40B4-BE49-F238E27FC236}">
                <a16:creationId xmlns:a16="http://schemas.microsoft.com/office/drawing/2014/main" id="{56307EDD-9C36-4C0A-9220-54D93FC0849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547362" y="3238321"/>
            <a:ext cx="4049277" cy="1910895"/>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spcBef>
                <a:spcPct val="10000"/>
              </a:spcBef>
              <a:spcAft>
                <a:spcPct val="10000"/>
              </a:spcAft>
              <a:buNone/>
            </a:pPr>
            <a:r>
              <a:rPr lang="en-US" altLang="en-US" sz="1400" b="0" dirty="0">
                <a:latin typeface="+mn-lt"/>
              </a:rPr>
              <a:t>The height of this triangle is the Home imports of shoes (the difference between the amount consumed of shoes and the amount produced with trade, </a:t>
            </a:r>
            <a:r>
              <a:rPr lang="en-US" altLang="en-US" sz="1400" b="0" i="1" dirty="0">
                <a:latin typeface="+mn-lt"/>
              </a:rPr>
              <a:t>Q</a:t>
            </a:r>
            <a:r>
              <a:rPr lang="en-US" altLang="en-US" sz="1400" b="0" i="1" baseline="-25000" dirty="0">
                <a:latin typeface="+mn-lt"/>
              </a:rPr>
              <a:t>S</a:t>
            </a:r>
            <a:r>
              <a:rPr lang="en-US" altLang="en-US" sz="1400" b="0" baseline="-25000" dirty="0">
                <a:latin typeface="+mn-lt"/>
              </a:rPr>
              <a:t>3</a:t>
            </a:r>
            <a:r>
              <a:rPr lang="en-US" altLang="en-US" sz="1400" b="0" i="1" dirty="0">
                <a:latin typeface="+mn-lt"/>
              </a:rPr>
              <a:t> − Q</a:t>
            </a:r>
            <a:r>
              <a:rPr lang="en-US" altLang="en-US" sz="1400" b="0" i="1" baseline="-25000" dirty="0">
                <a:latin typeface="+mn-lt"/>
              </a:rPr>
              <a:t>S</a:t>
            </a:r>
            <a:r>
              <a:rPr lang="en-US" altLang="en-US" sz="1400" b="0" baseline="-25000" dirty="0">
                <a:latin typeface="+mn-lt"/>
              </a:rPr>
              <a:t>2</a:t>
            </a:r>
            <a:r>
              <a:rPr lang="en-US" altLang="en-US" sz="1400" b="0" dirty="0">
                <a:latin typeface="+mn-lt"/>
              </a:rPr>
              <a:t>).</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Autofit/>
          </a:bodyPr>
          <a:lstStyle/>
          <a:p>
            <a:pPr marL="0" indent="0" eaLnBrk="1" hangingPunct="1">
              <a:spcBef>
                <a:spcPct val="10000"/>
              </a:spcBef>
              <a:spcAft>
                <a:spcPct val="10000"/>
              </a:spcAft>
              <a:buNone/>
            </a:pPr>
            <a:r>
              <a:rPr lang="en-US" altLang="en-US" sz="1400" b="0" dirty="0">
                <a:latin typeface="+mn-lt"/>
              </a:rPr>
              <a:t>In panel (b), we show</a:t>
            </a:r>
            <a:r>
              <a:rPr lang="en-US" altLang="en-US" sz="1400" b="0" i="1" dirty="0">
                <a:latin typeface="+mn-lt"/>
              </a:rPr>
              <a:t> </a:t>
            </a:r>
            <a:r>
              <a:rPr lang="en-US" altLang="en-US" sz="1400" b="0" dirty="0">
                <a:latin typeface="+mn-lt"/>
              </a:rPr>
              <a:t>Home exports of computers equal to zero at the no-trade relative price,</a:t>
            </a:r>
            <a:r>
              <a:rPr lang="en-US" altLang="en-US" sz="1400" b="0" i="1" dirty="0">
                <a:latin typeface="+mn-lt"/>
              </a:rPr>
              <a:t> </a:t>
            </a:r>
            <a:r>
              <a:rPr lang="en-US" altLang="en-US" sz="1400" b="0" dirty="0">
                <a:latin typeface="+mn-lt"/>
              </a:rPr>
              <a:t>(</a:t>
            </a:r>
            <a:r>
              <a:rPr lang="en-US" altLang="en-US" sz="1400" b="0" i="1" dirty="0">
                <a:latin typeface="+mn-lt"/>
              </a:rPr>
              <a:t>P</a:t>
            </a:r>
            <a:r>
              <a:rPr lang="en-US" altLang="en-US" sz="1400" b="0" i="1" baseline="-25000" dirty="0">
                <a:latin typeface="+mn-lt"/>
              </a:rPr>
              <a:t>C</a:t>
            </a:r>
            <a:r>
              <a:rPr lang="bg-BG" altLang="en-US" sz="1400" b="0" i="1" baseline="-25000"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A</a:t>
            </a:r>
            <a:r>
              <a:rPr lang="en-US" altLang="en-US" sz="1400" b="0" dirty="0">
                <a:latin typeface="+mn-lt"/>
              </a:rPr>
              <a:t>,  and equal to</a:t>
            </a:r>
            <a:r>
              <a:rPr lang="en-US" altLang="en-US" sz="1400" b="0" i="1" dirty="0">
                <a:latin typeface="+mn-lt"/>
              </a:rPr>
              <a:t> </a:t>
            </a:r>
            <a:r>
              <a:rPr lang="en-US" altLang="en-US" sz="1400" b="0" dirty="0">
                <a:latin typeface="+mn-lt"/>
              </a:rPr>
              <a:t>(</a:t>
            </a:r>
            <a:r>
              <a:rPr lang="en-US" altLang="en-US" sz="1400" b="0" i="1" dirty="0">
                <a:latin typeface="+mn-lt"/>
              </a:rPr>
              <a:t>Q</a:t>
            </a:r>
            <a:r>
              <a:rPr lang="en-US" altLang="en-US" sz="1400" b="0" i="1" baseline="-25000" dirty="0">
                <a:latin typeface="+mn-lt"/>
              </a:rPr>
              <a:t>C</a:t>
            </a:r>
            <a:r>
              <a:rPr lang="en-US" altLang="en-US" sz="1400" b="0" baseline="-25000" dirty="0">
                <a:latin typeface="+mn-lt"/>
              </a:rPr>
              <a:t>2</a:t>
            </a:r>
            <a:r>
              <a:rPr lang="en-US" altLang="en-US" sz="1400" b="0" i="1" dirty="0">
                <a:latin typeface="+mn-lt"/>
              </a:rPr>
              <a:t> − Q</a:t>
            </a:r>
            <a:r>
              <a:rPr lang="en-US" altLang="en-US" sz="1400" b="0" i="1" baseline="-25000" dirty="0">
                <a:latin typeface="+mn-lt"/>
              </a:rPr>
              <a:t>C</a:t>
            </a:r>
            <a:r>
              <a:rPr lang="en-US" altLang="en-US" sz="1400" b="0" baseline="-25000" dirty="0">
                <a:latin typeface="+mn-lt"/>
              </a:rPr>
              <a:t>3</a:t>
            </a:r>
            <a:r>
              <a:rPr lang="en-US" altLang="en-US" sz="1400" b="0" dirty="0">
                <a:latin typeface="+mn-lt"/>
              </a:rPr>
              <a:t>)</a:t>
            </a:r>
            <a:r>
              <a:rPr lang="en-US" altLang="en-US" sz="1400" b="0" i="1" dirty="0">
                <a:latin typeface="+mn-lt"/>
              </a:rPr>
              <a:t> </a:t>
            </a:r>
            <a:r>
              <a:rPr lang="en-US" altLang="en-US" sz="1400" b="0" dirty="0">
                <a:latin typeface="+mn-lt"/>
              </a:rPr>
              <a:t>at the free-trade relative price</a:t>
            </a:r>
            <a:r>
              <a:rPr lang="es-ES" altLang="en-US" sz="1400" b="0" dirty="0">
                <a:latin typeface="+mn-lt"/>
              </a:rPr>
              <a:t>, (</a:t>
            </a:r>
            <a:r>
              <a:rPr lang="es-ES" altLang="en-US" sz="1400" b="0" i="1" dirty="0">
                <a:latin typeface="+mn-lt"/>
              </a:rPr>
              <a:t>P</a:t>
            </a:r>
            <a:r>
              <a:rPr lang="es-ES" altLang="en-US" sz="1400" b="0" i="1" baseline="-25000" dirty="0">
                <a:latin typeface="+mn-lt"/>
              </a:rPr>
              <a:t>C</a:t>
            </a:r>
            <a:r>
              <a:rPr lang="es-ES" altLang="en-US" sz="1400" b="0" i="1" dirty="0">
                <a:latin typeface="+mn-lt"/>
              </a:rPr>
              <a:t>/P</a:t>
            </a:r>
            <a:r>
              <a:rPr lang="es-ES" altLang="en-US" sz="1400" b="0" i="1" baseline="-25000" dirty="0">
                <a:latin typeface="+mn-lt"/>
              </a:rPr>
              <a:t>S</a:t>
            </a:r>
            <a:r>
              <a:rPr lang="es-ES" altLang="en-US" sz="1400" b="0" dirty="0">
                <a:latin typeface="+mn-lt"/>
              </a:rPr>
              <a:t>)</a:t>
            </a:r>
            <a:r>
              <a:rPr lang="es-ES" altLang="en-US" sz="1400" b="0" i="1" baseline="30000" dirty="0">
                <a:latin typeface="+mn-lt"/>
              </a:rPr>
              <a:t>W</a:t>
            </a:r>
            <a:r>
              <a:rPr lang="es-ES" altLang="en-US" sz="1400" b="0" i="1" dirty="0">
                <a:latin typeface="+mn-lt"/>
              </a:rPr>
              <a:t>.</a:t>
            </a:r>
            <a:endParaRPr lang="en-US" altLang="en-US" sz="1400" b="0" dirty="0">
              <a:latin typeface="+mn-lt"/>
            </a:endParaRPr>
          </a:p>
        </p:txBody>
      </p:sp>
    </p:spTree>
    <p:extLst>
      <p:ext uri="{BB962C8B-B14F-4D97-AF65-F5344CB8AC3E}">
        <p14:creationId xmlns:p14="http://schemas.microsoft.com/office/powerpoint/2010/main" val="2948627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8)</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Foreign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4-4 (1 of 2) </a:t>
            </a:r>
            <a:r>
              <a:rPr lang="en-US" sz="1600" b="0" dirty="0"/>
              <a:t>International Free-Trade Equilibrium in Foreign</a:t>
            </a:r>
          </a:p>
        </p:txBody>
      </p:sp>
      <p:pic>
        <p:nvPicPr>
          <p:cNvPr id="11" name="Picture Placeholder 5" descr="Two graphs, a and b, show output of shoes versus output of computers in a foreign country and relative price of computers versus quantity of computers in the international market, respectively. Graph a plots output of shoes, Q asterisk subscript S, versus output of computers, Q asterisk subscript C. Two points, Q asterisk subscript C 2 and Q asterisk subscript C 3, representing computer imports, are marked along the horizontal axis, such that Q asterisk subscript C 2 is less than Q asterisk subscript C 3. Two points, Q asterisk subscript S 2 and Q asterisk subscript S 3, representing shoe exports, are marked along the vertical axis, such that Q asterisk subscript S 2 is greater than Q asterisk subscript S 3. Two points, B asterisk and C asterisk, are plotted on the graph. Here, B asterisk, representing foreign production, lies at (Q asterisk subscript C 2, Q asterisk subscript S 2) and C asterisk, representing foreign consumption, lies at (Q asterisk subscript C 3, Q asterisk subscript S 3). A concave down decreasing curve starts from a point above Q asterisk subscript S 2, passes through B asterisk, and ends at a point at little to the left of Q asterisk subscript C 3. A negative slope, representing world price line slope, passes through the points B asterisk and C asterisk. The slope of the line equals start fraction P subscript C over P subscript S end fraction asterisk. Dashed perpendiculars are dropped from the points B asterisk and C asterisk to either axis. The triangular area, thus formed, between the negative slope and the dashed perpendiculars, is highlighted. A point A asterisk is marked on the concave down decreasing curve, such that it lies inside the triangular region.&#10;Graph b plots relative price of computers, P subscript C over P subscript S, versus quantity of computers. A negative curve on the graph, representing foreign import demand curve for computers, passes through two points, A asterisk and D asterisk, on the graph. Here, A asterisk equals (start fraction P asterisk subscript C over P asterisk subscript S end fraction power A asterisk, 0) and D asterisk equals (start fraction P asterisk subscript C over P asterisk subscript S end fraction power W, Q asterisk subscript C 3 minus Q asterisk subscript C 2).">
            <a:extLst>
              <a:ext uri="{FF2B5EF4-FFF2-40B4-BE49-F238E27FC236}">
                <a16:creationId xmlns:a16="http://schemas.microsoft.com/office/drawing/2014/main" id="{299BD09A-5E0D-4EBA-BE9D-F7DED337C61D}"/>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634815" y="3179922"/>
            <a:ext cx="3874371" cy="2089334"/>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6"/>
            <a:ext cx="4114800" cy="1153851"/>
          </a:xfrm>
        </p:spPr>
        <p:txBody>
          <a:bodyPr>
            <a:noAutofit/>
          </a:bodyPr>
          <a:lstStyle/>
          <a:p>
            <a:pPr marL="0" indent="0" eaLnBrk="1" hangingPunct="1">
              <a:spcBef>
                <a:spcPct val="10000"/>
              </a:spcBef>
              <a:spcAft>
                <a:spcPct val="10000"/>
              </a:spcAft>
              <a:buNone/>
            </a:pPr>
            <a:r>
              <a:rPr lang="en-US" altLang="en-US" sz="1400" b="0" dirty="0">
                <a:latin typeface="+mn-lt"/>
              </a:rPr>
              <a:t>At the free-trade world relative price of computers, (</a:t>
            </a:r>
            <a:r>
              <a:rPr lang="en-US" altLang="en-US" sz="1400" b="0" i="1" dirty="0">
                <a:latin typeface="+mn-lt"/>
              </a:rPr>
              <a:t>P</a:t>
            </a:r>
            <a:r>
              <a:rPr lang="en-US" altLang="en-US" sz="1400" b="0" i="1" baseline="-25000" dirty="0">
                <a:latin typeface="+mn-lt"/>
              </a:rPr>
              <a:t>C</a:t>
            </a:r>
            <a:r>
              <a:rPr lang="bg-BG" altLang="en-US" sz="1400" b="0" i="1"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W</a:t>
            </a:r>
            <a:r>
              <a:rPr lang="en-US" altLang="en-US" sz="1400" b="0" i="1" dirty="0">
                <a:latin typeface="+mn-lt"/>
              </a:rPr>
              <a:t>, </a:t>
            </a:r>
            <a:r>
              <a:rPr lang="en-US" altLang="en-US" sz="1400" b="0" dirty="0">
                <a:latin typeface="+mn-lt"/>
              </a:rPr>
              <a:t>Foreign produces at point </a:t>
            </a:r>
            <a:r>
              <a:rPr lang="en-US" altLang="en-US" sz="1400" b="0" i="1" dirty="0">
                <a:latin typeface="+mn-lt"/>
              </a:rPr>
              <a:t>B* </a:t>
            </a:r>
            <a:r>
              <a:rPr lang="en-US" altLang="en-US" sz="1400" b="0" dirty="0">
                <a:latin typeface="+mn-lt"/>
              </a:rPr>
              <a:t>in panel (a) and consumes at point </a:t>
            </a:r>
            <a:r>
              <a:rPr lang="en-US" altLang="en-US" sz="1400" b="0" i="1" dirty="0">
                <a:latin typeface="+mn-lt"/>
              </a:rPr>
              <a:t>C*, </a:t>
            </a:r>
            <a:r>
              <a:rPr lang="en-US" altLang="en-US" sz="1400" b="0" dirty="0">
                <a:latin typeface="+mn-lt"/>
              </a:rPr>
              <a:t>importing computers and exporting shoes. Point </a:t>
            </a:r>
            <a:r>
              <a:rPr lang="en-US" altLang="en-US" sz="1400" b="0" i="1" dirty="0">
                <a:latin typeface="+mn-lt"/>
              </a:rPr>
              <a:t>A* </a:t>
            </a:r>
            <a:r>
              <a:rPr lang="en-US" altLang="en-US" sz="1400" b="0" dirty="0">
                <a:latin typeface="+mn-lt"/>
              </a:rPr>
              <a:t>is the no-trade equilibrium.</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1061384"/>
          </a:xfrm>
        </p:spPr>
        <p:txBody>
          <a:bodyPr>
            <a:noAutofit/>
          </a:bodyPr>
          <a:lstStyle/>
          <a:p>
            <a:pPr marL="0" indent="0" eaLnBrk="1" hangingPunct="1">
              <a:spcBef>
                <a:spcPct val="10000"/>
              </a:spcBef>
              <a:spcAft>
                <a:spcPct val="10000"/>
              </a:spcAft>
              <a:buNone/>
            </a:pPr>
            <a:r>
              <a:rPr lang="en-US" altLang="en-US" sz="1400" b="0" dirty="0">
                <a:latin typeface="+mn-lt"/>
              </a:rPr>
              <a:t>The “trade triangle” has a base equal to Foreign imports of computers (the difference between the consumption of computers and the amount produced with trade, </a:t>
            </a:r>
            <a:r>
              <a:rPr lang="en-US" altLang="en-US" sz="1400" b="0" i="1" dirty="0">
                <a:latin typeface="+mn-lt"/>
              </a:rPr>
              <a:t>Q*</a:t>
            </a:r>
            <a:r>
              <a:rPr lang="en-US" altLang="en-US" sz="1400" b="0" i="1" baseline="-25000" dirty="0">
                <a:latin typeface="+mn-lt"/>
              </a:rPr>
              <a:t>C</a:t>
            </a:r>
            <a:r>
              <a:rPr lang="en-US" altLang="en-US" sz="1400" b="0" baseline="-25000" dirty="0">
                <a:latin typeface="+mn-lt"/>
              </a:rPr>
              <a:t>3</a:t>
            </a:r>
            <a:r>
              <a:rPr lang="en-US" altLang="en-US" sz="1400" b="0" i="1" dirty="0">
                <a:latin typeface="+mn-lt"/>
              </a:rPr>
              <a:t> − Q*</a:t>
            </a:r>
            <a:r>
              <a:rPr lang="en-US" altLang="en-US" sz="1400" b="0" i="1" baseline="-25000" dirty="0">
                <a:latin typeface="+mn-lt"/>
              </a:rPr>
              <a:t>C</a:t>
            </a:r>
            <a:r>
              <a:rPr lang="en-US" altLang="en-US" sz="1400" b="0" baseline="-25000" dirty="0">
                <a:latin typeface="+mn-lt"/>
              </a:rPr>
              <a:t>2</a:t>
            </a:r>
            <a:r>
              <a:rPr lang="en-US" altLang="en-US" sz="1400" b="0" dirty="0">
                <a:latin typeface="+mn-lt"/>
              </a:rPr>
              <a:t>).</a:t>
            </a:r>
          </a:p>
        </p:txBody>
      </p:sp>
    </p:spTree>
    <p:extLst>
      <p:ext uri="{BB962C8B-B14F-4D97-AF65-F5344CB8AC3E}">
        <p14:creationId xmlns:p14="http://schemas.microsoft.com/office/powerpoint/2010/main" val="651710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9)</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Foreign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641358"/>
            <a:ext cx="8229600" cy="544383"/>
          </a:xfrm>
        </p:spPr>
        <p:txBody>
          <a:bodyPr>
            <a:normAutofit/>
          </a:bodyPr>
          <a:lstStyle/>
          <a:p>
            <a:pPr marL="0" indent="0">
              <a:buNone/>
            </a:pPr>
            <a:r>
              <a:rPr lang="en-US" sz="2000" dirty="0"/>
              <a:t>FIGURE 4-4 (2 of 2) </a:t>
            </a:r>
            <a:r>
              <a:rPr lang="en-US" sz="1600" b="0" dirty="0"/>
              <a:t>International Free-Trade Equilibrium in Foreign</a:t>
            </a:r>
          </a:p>
        </p:txBody>
      </p:sp>
      <p:pic>
        <p:nvPicPr>
          <p:cNvPr id="11" name="Picture Placeholder 5" descr="Two graphs, a and b, show output of shoes versus output of computers in a foreign country and relative price of computers versus quantity of computers in the international market, respectively. Graph a plots output of shoes, Q asterisk subscript S, versus output of computers, Q asterisk subscript C. Two points, Q asterisk subscript C 2 and Q asterisk subscript C 3, representing computer imports, are marked along the horizontal axis, such that Q asterisk subscript C 2 is less than Q asterisk subscript C 3. Two points, Q asterisk subscript S 2 and Q asterisk subscript S 3, representing shoe exports, are marked along the vertical axis, such that Q asterisk subscript S 2 is greater than Q asterisk subscript S 3. Two points, B asterisk and C asterisk, are plotted on the graph. Here, B asterisk, representing foreign production, lies at (Q asterisk subscript C 2, Q asterisk subscript S 2) and C asterisk, representing foreign consumption, lies at (Q asterisk subscript C 3, Q asterisk subscript S 3). A concave down decreasing curve starts from a point above Q asterisk subscript S 2, passes through B asterisk, and ends at a point at little to the left of Q asterisk subscript C 3. A negative slope, representing world price line slope, passes through the points B asterisk and C asterisk. The slope of the line equals start fraction P subscript C over P subscript S end fraction asterisk. Dashed perpendiculars are dropped from the points B asterisk and C asterisk to either axis. The triangular area, thus formed, between the negative slope and the dashed perpendiculars, is highlighted. A point A asterisk is marked on the concave down decreasing curve, such that it lies inside the triangular region.&#10;Graph b plots relative price of computers, P subscript C over P subscript S, versus quantity of computers. A negative curve on the graph, representing foreign import demand curve for computers, passes through two points, A asterisk and D asterisk, on the graph. Here, A asterisk equals (start fraction P asterisk subscript C over P asterisk subscript S end fraction power A asterisk, 0) and D asterisk equals (start fraction P asterisk subscript C over P asterisk subscript S end fraction power W, Q asterisk subscript C 3 minus Q asterisk subscript C 2).">
            <a:extLst>
              <a:ext uri="{FF2B5EF4-FFF2-40B4-BE49-F238E27FC236}">
                <a16:creationId xmlns:a16="http://schemas.microsoft.com/office/drawing/2014/main" id="{299BD09A-5E0D-4EBA-BE9D-F7DED337C61D}"/>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604146" y="3101739"/>
            <a:ext cx="3935709" cy="2122412"/>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spcBef>
                <a:spcPct val="10000"/>
              </a:spcBef>
              <a:spcAft>
                <a:spcPct val="10000"/>
              </a:spcAft>
              <a:buNone/>
            </a:pPr>
            <a:r>
              <a:rPr lang="en-US" altLang="en-US" sz="1400" b="0" dirty="0">
                <a:latin typeface="+mn-lt"/>
              </a:rPr>
              <a:t>The height of this triangle is Foreign exports of shoes (the difference between the production of shoes and the amount  consumed with trade, </a:t>
            </a:r>
            <a:r>
              <a:rPr lang="en-US" altLang="en-US" sz="1400" b="0" i="1" dirty="0">
                <a:latin typeface="+mn-lt"/>
              </a:rPr>
              <a:t>Q*</a:t>
            </a:r>
            <a:r>
              <a:rPr lang="en-US" altLang="en-US" sz="1400" b="0" i="1" baseline="-25000" dirty="0">
                <a:latin typeface="+mn-lt"/>
              </a:rPr>
              <a:t>S</a:t>
            </a:r>
            <a:r>
              <a:rPr lang="en-US" altLang="en-US" sz="1400" b="0" baseline="-25000" dirty="0">
                <a:latin typeface="+mn-lt"/>
              </a:rPr>
              <a:t>2</a:t>
            </a:r>
            <a:r>
              <a:rPr lang="en-US" altLang="en-US" sz="1400" b="0" i="1" dirty="0">
                <a:latin typeface="+mn-lt"/>
              </a:rPr>
              <a:t> – Q*</a:t>
            </a:r>
            <a:r>
              <a:rPr lang="en-US" altLang="en-US" sz="1400" b="0" i="1" baseline="-25000" dirty="0">
                <a:latin typeface="+mn-lt"/>
              </a:rPr>
              <a:t>S</a:t>
            </a:r>
            <a:r>
              <a:rPr lang="en-US" altLang="en-US" sz="1400" b="0" baseline="-25000" dirty="0">
                <a:latin typeface="+mn-lt"/>
              </a:rPr>
              <a:t>3</a:t>
            </a:r>
            <a:r>
              <a:rPr lang="en-US" altLang="en-US" sz="1400" b="0" dirty="0">
                <a:latin typeface="+mn-lt"/>
              </a:rPr>
              <a:t>).</a:t>
            </a:r>
            <a:endParaRPr lang="en-US" altLang="en-US" sz="1400" b="0" i="1" dirty="0">
              <a:latin typeface="+mn-lt"/>
            </a:endParaRP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Autofit/>
          </a:bodyPr>
          <a:lstStyle/>
          <a:p>
            <a:pPr marL="0" indent="0" eaLnBrk="1" hangingPunct="1">
              <a:spcBef>
                <a:spcPct val="10000"/>
              </a:spcBef>
              <a:spcAft>
                <a:spcPct val="10000"/>
              </a:spcAft>
              <a:buNone/>
            </a:pPr>
            <a:r>
              <a:rPr lang="en-US" altLang="en-US" sz="1400" b="0" dirty="0">
                <a:latin typeface="+mn-lt"/>
              </a:rPr>
              <a:t>In panel (b), we show Foreign imports of computers equal to zero at the no-trade relative price, (</a:t>
            </a:r>
            <a:r>
              <a:rPr lang="en-US" altLang="en-US" sz="1400" b="0" i="1" dirty="0">
                <a:latin typeface="+mn-lt"/>
              </a:rPr>
              <a:t>P*</a:t>
            </a:r>
            <a:r>
              <a:rPr lang="en-US" altLang="en-US" sz="1400" b="0" i="1" baseline="-25000" dirty="0">
                <a:latin typeface="+mn-lt"/>
              </a:rPr>
              <a:t>C</a:t>
            </a:r>
            <a:r>
              <a:rPr lang="bg-BG" altLang="en-US" sz="1400" b="0" i="1"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A</a:t>
            </a:r>
            <a:r>
              <a:rPr lang="en-US" altLang="en-US" sz="1400" b="0" i="1" dirty="0">
                <a:latin typeface="+mn-lt"/>
              </a:rPr>
              <a:t>*, </a:t>
            </a:r>
            <a:r>
              <a:rPr lang="en-US" altLang="en-US" sz="1400" b="0" dirty="0">
                <a:latin typeface="+mn-lt"/>
              </a:rPr>
              <a:t>and equal to (</a:t>
            </a:r>
            <a:r>
              <a:rPr lang="en-US" altLang="en-US" sz="1400" b="0" i="1" dirty="0">
                <a:latin typeface="+mn-lt"/>
              </a:rPr>
              <a:t>Q*</a:t>
            </a:r>
            <a:r>
              <a:rPr lang="en-US" altLang="en-US" sz="1400" b="0" i="1" baseline="-25000" dirty="0">
                <a:latin typeface="+mn-lt"/>
              </a:rPr>
              <a:t>C</a:t>
            </a:r>
            <a:r>
              <a:rPr lang="en-US" altLang="en-US" sz="1400" b="0" baseline="-25000" dirty="0">
                <a:latin typeface="+mn-lt"/>
              </a:rPr>
              <a:t>3</a:t>
            </a:r>
            <a:r>
              <a:rPr lang="en-US" altLang="en-US" sz="1400" b="0" i="1" dirty="0">
                <a:latin typeface="+mn-lt"/>
              </a:rPr>
              <a:t> − Q*</a:t>
            </a:r>
            <a:r>
              <a:rPr lang="en-US" altLang="en-US" sz="1400" b="0" i="1" baseline="-25000" dirty="0">
                <a:latin typeface="+mn-lt"/>
              </a:rPr>
              <a:t>C</a:t>
            </a:r>
            <a:r>
              <a:rPr lang="en-US" altLang="en-US" sz="1400" b="0" baseline="-25000" dirty="0">
                <a:latin typeface="+mn-lt"/>
              </a:rPr>
              <a:t>2</a:t>
            </a:r>
            <a:r>
              <a:rPr lang="en-US" altLang="en-US" sz="1400" b="0" dirty="0">
                <a:latin typeface="+mn-lt"/>
              </a:rPr>
              <a:t>) at the free-trade relative price</a:t>
            </a:r>
            <a:r>
              <a:rPr lang="en-US" altLang="en-US" sz="1400" b="0" i="1" dirty="0">
                <a:latin typeface="+mn-lt"/>
              </a:rPr>
              <a:t>, </a:t>
            </a:r>
            <a:r>
              <a:rPr lang="en-US" altLang="en-US" sz="1400" b="0" dirty="0">
                <a:latin typeface="+mn-lt"/>
              </a:rPr>
              <a:t>(</a:t>
            </a:r>
            <a:r>
              <a:rPr lang="en-US" altLang="en-US" sz="1400" b="0" i="1" dirty="0">
                <a:latin typeface="+mn-lt"/>
              </a:rPr>
              <a:t>P</a:t>
            </a:r>
            <a:r>
              <a:rPr lang="en-US" altLang="en-US" sz="1400" b="0" i="1" baseline="-25000" dirty="0">
                <a:latin typeface="+mn-lt"/>
              </a:rPr>
              <a:t>C</a:t>
            </a:r>
            <a:r>
              <a:rPr lang="en-US" altLang="en-US" sz="1400" b="0" i="1" dirty="0">
                <a:latin typeface="+mn-lt"/>
              </a:rPr>
              <a:t> /P</a:t>
            </a:r>
            <a:r>
              <a:rPr lang="en-US" altLang="en-US" sz="1400" b="0" i="1" baseline="-25000" dirty="0">
                <a:latin typeface="+mn-lt"/>
              </a:rPr>
              <a:t>S</a:t>
            </a:r>
            <a:r>
              <a:rPr lang="en-US" altLang="en-US" sz="1400" b="0" dirty="0">
                <a:latin typeface="+mn-lt"/>
              </a:rPr>
              <a:t>)</a:t>
            </a:r>
            <a:r>
              <a:rPr lang="en-US" altLang="en-US" sz="1400" b="0" i="1" baseline="30000" dirty="0">
                <a:latin typeface="+mn-lt"/>
              </a:rPr>
              <a:t>W</a:t>
            </a:r>
            <a:r>
              <a:rPr lang="en-US" altLang="en-US" sz="1400" b="0" i="1" dirty="0">
                <a:latin typeface="+mn-lt"/>
              </a:rPr>
              <a:t>. </a:t>
            </a:r>
            <a:endParaRPr lang="en-US" altLang="en-US" sz="1400" b="0" dirty="0">
              <a:latin typeface="+mn-lt"/>
            </a:endParaRPr>
          </a:p>
        </p:txBody>
      </p:sp>
    </p:spTree>
    <p:extLst>
      <p:ext uri="{BB962C8B-B14F-4D97-AF65-F5344CB8AC3E}">
        <p14:creationId xmlns:p14="http://schemas.microsoft.com/office/powerpoint/2010/main" val="2342183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10)</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Free Trade Equilibrium</a:t>
            </a:r>
          </a:p>
          <a:p>
            <a:r>
              <a:rPr lang="en-US" sz="2000" dirty="0"/>
              <a:t>Equilibrium Price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387542" cy="467750"/>
          </a:xfrm>
        </p:spPr>
        <p:txBody>
          <a:bodyPr>
            <a:normAutofit/>
          </a:bodyPr>
          <a:lstStyle/>
          <a:p>
            <a:pPr marL="0" indent="0">
              <a:buNone/>
            </a:pPr>
            <a:r>
              <a:rPr lang="en-US" sz="2000" dirty="0"/>
              <a:t>FIGURE 4-5 </a:t>
            </a:r>
            <a:r>
              <a:rPr lang="en-US" sz="1600" b="0" dirty="0"/>
              <a:t>Determination of the Free-Trade World Equilibrium Price</a:t>
            </a:r>
          </a:p>
        </p:txBody>
      </p:sp>
      <p:pic>
        <p:nvPicPr>
          <p:cNvPr id="14" name="Picture Placeholder 4" descr="A graph plots relative price of computers, P subscript C over P subscript S versus quantity of computers. In the graph, a point, Q superscript W equals ( Q subscript C 2 minus Q subscript C 3) equals (Q asterisk subscript C 3 minus Q asterisk subscript C 2) is marked along the horizontal axis. Three points marked along the vertical axis from the top to the bottom are as follows. (P asterisk subscript C over P asterisk subscript S) power A asterisk; (P subscript C over P subscript S) power W; and (P subscript C over P subscript S) power A. &#10;A point D is plotted on the graph. It lies at (Q superscript W, P subscript C over P subscript S power W.) &#10;A negative slope, representing foreign imports, starts from the point (P asterisk subscript C over P asterisk subscript S) power A asterisk on the vertical axis, passes through the point D, and reaches rightward, much beyond the point Q superscript W on the horizontal axis. &#10;A positive slope, representing home exports, begins from the point (P subscript C over P subscript S) power A on the vertical axis, passes through point D, such that it intersects the negative slope at point D; and then moves upward. It reaches almost at the same distance, corresponding to the end point of the negative slope. &#10;Dotted perpendiculars are dropped from the point D to either axis. &#10;(The intersection of positive and the negative slopes appears as if an, &quot;&quot;X,&quot;&quot; pattern on the graph.)&quot;">
            <a:extLst>
              <a:ext uri="{FF2B5EF4-FFF2-40B4-BE49-F238E27FC236}">
                <a16:creationId xmlns:a16="http://schemas.microsoft.com/office/drawing/2014/main" id="{22283B25-ABBA-4026-8BB6-083A4E2E5F7F}"/>
              </a:ext>
            </a:extLst>
          </p:cNvPr>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tretch>
            <a:fillRect/>
          </a:stretch>
        </p:blipFill>
        <p:spPr>
          <a:xfrm>
            <a:off x="563192" y="3446637"/>
            <a:ext cx="3965621" cy="2670801"/>
          </a:xfrm>
          <a:prstGeom prst="rect">
            <a:avLst/>
          </a:prstGeom>
        </p:spPr>
      </p:pic>
      <p:sp>
        <p:nvSpPr>
          <p:cNvPr id="13" name="Content Placeholder 12">
            <a:extLst>
              <a:ext uri="{FF2B5EF4-FFF2-40B4-BE49-F238E27FC236}">
                <a16:creationId xmlns:a16="http://schemas.microsoft.com/office/drawing/2014/main" id="{E30585B9-B12F-4E51-9255-87568E083EF5}"/>
              </a:ext>
            </a:extLst>
          </p:cNvPr>
          <p:cNvSpPr>
            <a:spLocks noGrp="1"/>
          </p:cNvSpPr>
          <p:nvPr>
            <p:ph sz="quarter" idx="13"/>
          </p:nvPr>
        </p:nvSpPr>
        <p:spPr>
          <a:xfrm>
            <a:off x="4867535" y="3242670"/>
            <a:ext cx="3977207" cy="3103396"/>
          </a:xfrm>
        </p:spPr>
        <p:txBody>
          <a:bodyPr>
            <a:normAutofit/>
          </a:bodyPr>
          <a:lstStyle/>
          <a:p>
            <a:pPr marL="0" indent="0" eaLnBrk="1" hangingPunct="1">
              <a:spcBef>
                <a:spcPct val="10000"/>
              </a:spcBef>
              <a:spcAft>
                <a:spcPct val="10000"/>
              </a:spcAft>
              <a:buNone/>
            </a:pPr>
            <a:r>
              <a:rPr lang="en-US" altLang="en-US" sz="1800" b="0" dirty="0">
                <a:latin typeface="+mn-lt"/>
              </a:rPr>
              <a:t>The world relative price of computers in the free-trade equilibrium is determined at the intersection of the Home export supply and Foreign import demand, at point </a:t>
            </a:r>
            <a:r>
              <a:rPr lang="en-US" altLang="en-US" sz="1800" b="0" i="1" dirty="0">
                <a:latin typeface="+mn-lt"/>
              </a:rPr>
              <a:t>D.</a:t>
            </a:r>
          </a:p>
          <a:p>
            <a:pPr marL="0" indent="0" eaLnBrk="1" hangingPunct="1">
              <a:spcBef>
                <a:spcPct val="10000"/>
              </a:spcBef>
              <a:spcAft>
                <a:spcPct val="10000"/>
              </a:spcAft>
              <a:buNone/>
            </a:pPr>
            <a:r>
              <a:rPr lang="en-US" altLang="en-US" sz="1800" b="0" dirty="0">
                <a:latin typeface="+mn-lt"/>
              </a:rPr>
              <a:t>At this relative price, the quantity</a:t>
            </a:r>
            <a:r>
              <a:rPr lang="en-US" altLang="en-US" sz="1800" b="0" i="1" dirty="0">
                <a:latin typeface="+mn-lt"/>
              </a:rPr>
              <a:t> </a:t>
            </a:r>
            <a:r>
              <a:rPr lang="en-US" altLang="en-US" sz="1800" b="0" dirty="0">
                <a:latin typeface="+mn-lt"/>
              </a:rPr>
              <a:t>of computers that Home wants to export, (</a:t>
            </a:r>
            <a:r>
              <a:rPr lang="en-US" altLang="en-US" sz="1800" b="0" i="1" dirty="0">
                <a:latin typeface="+mn-lt"/>
              </a:rPr>
              <a:t>Q</a:t>
            </a:r>
            <a:r>
              <a:rPr lang="en-US" altLang="en-US" sz="1800" b="0" i="1" baseline="-25000" dirty="0">
                <a:latin typeface="+mn-lt"/>
              </a:rPr>
              <a:t>C</a:t>
            </a:r>
            <a:r>
              <a:rPr lang="en-US" altLang="en-US" sz="1800" b="0" baseline="-25000" dirty="0">
                <a:latin typeface="+mn-lt"/>
              </a:rPr>
              <a:t>2</a:t>
            </a:r>
            <a:r>
              <a:rPr lang="en-US" altLang="en-US" sz="1800" b="0" i="1" dirty="0">
                <a:latin typeface="+mn-lt"/>
              </a:rPr>
              <a:t> − Q</a:t>
            </a:r>
            <a:r>
              <a:rPr lang="en-US" altLang="en-US" sz="1800" b="0" i="1" baseline="-25000" dirty="0">
                <a:latin typeface="+mn-lt"/>
              </a:rPr>
              <a:t>C</a:t>
            </a:r>
            <a:r>
              <a:rPr lang="en-US" altLang="en-US" sz="1800" b="0" baseline="-25000" dirty="0">
                <a:latin typeface="+mn-lt"/>
              </a:rPr>
              <a:t>3</a:t>
            </a:r>
            <a:r>
              <a:rPr lang="en-US" altLang="en-US" sz="1800" b="0" dirty="0">
                <a:latin typeface="+mn-lt"/>
              </a:rPr>
              <a:t>)</a:t>
            </a:r>
            <a:r>
              <a:rPr lang="en-US" altLang="en-US" sz="1800" b="0" i="1" dirty="0">
                <a:latin typeface="+mn-lt"/>
              </a:rPr>
              <a:t>, </a:t>
            </a:r>
            <a:r>
              <a:rPr lang="en-US" altLang="en-US" sz="1800" b="0" dirty="0">
                <a:latin typeface="+mn-lt"/>
              </a:rPr>
              <a:t>just equals the quantity of</a:t>
            </a:r>
            <a:r>
              <a:rPr lang="en-US" altLang="en-US" sz="1800" b="0" i="1" dirty="0">
                <a:latin typeface="+mn-lt"/>
              </a:rPr>
              <a:t> </a:t>
            </a:r>
            <a:r>
              <a:rPr lang="en-US" altLang="en-US" sz="1800" b="0" dirty="0">
                <a:latin typeface="+mn-lt"/>
              </a:rPr>
              <a:t>computers that Foreign wants to import, </a:t>
            </a:r>
            <a:r>
              <a:rPr lang="es-ES" altLang="en-US" sz="1800" b="0" dirty="0">
                <a:latin typeface="+mn-lt"/>
              </a:rPr>
              <a:t>(</a:t>
            </a:r>
            <a:r>
              <a:rPr lang="es-ES" altLang="en-US" sz="1800" b="0" i="1" dirty="0">
                <a:latin typeface="+mn-lt"/>
              </a:rPr>
              <a:t>Q*</a:t>
            </a:r>
            <a:r>
              <a:rPr lang="es-ES" altLang="en-US" sz="1800" b="0" i="1" baseline="-25000" dirty="0">
                <a:latin typeface="+mn-lt"/>
              </a:rPr>
              <a:t>C</a:t>
            </a:r>
            <a:r>
              <a:rPr lang="es-ES" altLang="en-US" sz="1800" b="0" baseline="-25000" dirty="0">
                <a:latin typeface="+mn-lt"/>
              </a:rPr>
              <a:t>3</a:t>
            </a:r>
            <a:r>
              <a:rPr lang="es-ES" altLang="en-US" sz="1800" b="0" i="1" dirty="0">
                <a:latin typeface="+mn-lt"/>
              </a:rPr>
              <a:t> − Q*</a:t>
            </a:r>
            <a:r>
              <a:rPr lang="es-ES" altLang="en-US" sz="1800" b="0" i="1" baseline="-25000" dirty="0">
                <a:latin typeface="+mn-lt"/>
              </a:rPr>
              <a:t>C</a:t>
            </a:r>
            <a:r>
              <a:rPr lang="es-ES" altLang="en-US" sz="1800" b="0" baseline="-25000" dirty="0">
                <a:latin typeface="+mn-lt"/>
              </a:rPr>
              <a:t>2</a:t>
            </a:r>
            <a:r>
              <a:rPr lang="es-ES" altLang="en-US" sz="1800" b="0" dirty="0">
                <a:latin typeface="+mn-lt"/>
              </a:rPr>
              <a:t>)</a:t>
            </a:r>
            <a:r>
              <a:rPr lang="es-ES" altLang="en-US" sz="1800" b="0" i="1" dirty="0">
                <a:latin typeface="+mn-lt"/>
              </a:rPr>
              <a:t>.</a:t>
            </a:r>
            <a:endParaRPr lang="en-US" altLang="en-US" sz="1800" b="0" i="1" dirty="0">
              <a:latin typeface="+mn-lt"/>
            </a:endParaRPr>
          </a:p>
        </p:txBody>
      </p:sp>
    </p:spTree>
    <p:extLst>
      <p:ext uri="{BB962C8B-B14F-4D97-AF65-F5344CB8AC3E}">
        <p14:creationId xmlns:p14="http://schemas.microsoft.com/office/powerpoint/2010/main" val="2068823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602A-82AC-B24E-A19F-F4B730D626EB}"/>
              </a:ext>
            </a:extLst>
          </p:cNvPr>
          <p:cNvSpPr>
            <a:spLocks noGrp="1"/>
          </p:cNvSpPr>
          <p:nvPr>
            <p:ph type="title"/>
          </p:nvPr>
        </p:nvSpPr>
        <p:spPr/>
        <p:txBody>
          <a:bodyPr>
            <a:normAutofit/>
          </a:bodyPr>
          <a:lstStyle/>
          <a:p>
            <a:r>
              <a:rPr lang="en-US" altLang="en-US" sz="3600" dirty="0"/>
              <a:t>1) Heckscher–Ohlin Model (part 11)</a:t>
            </a:r>
            <a:endParaRPr lang="en-US" sz="3600" dirty="0"/>
          </a:p>
        </p:txBody>
      </p:sp>
      <p:sp>
        <p:nvSpPr>
          <p:cNvPr id="3" name="Content Placeholder 2">
            <a:extLst>
              <a:ext uri="{FF2B5EF4-FFF2-40B4-BE49-F238E27FC236}">
                <a16:creationId xmlns:a16="http://schemas.microsoft.com/office/drawing/2014/main" id="{97A3CD6E-8383-9647-8080-61BBA853B4A2}"/>
              </a:ext>
            </a:extLst>
          </p:cNvPr>
          <p:cNvSpPr>
            <a:spLocks noGrp="1"/>
          </p:cNvSpPr>
          <p:nvPr>
            <p:ph idx="1"/>
          </p:nvPr>
        </p:nvSpPr>
        <p:spPr/>
        <p:txBody>
          <a:bodyPr>
            <a:normAutofit/>
          </a:bodyPr>
          <a:lstStyle/>
          <a:p>
            <a:r>
              <a:rPr lang="en-US" dirty="0"/>
              <a:t>Free Trade Equilibrium</a:t>
            </a:r>
          </a:p>
          <a:p>
            <a:r>
              <a:rPr lang="en-US" dirty="0"/>
              <a:t>Pattern of Trade</a:t>
            </a:r>
          </a:p>
          <a:p>
            <a:pPr lvl="1"/>
            <a:r>
              <a:rPr lang="en-US" dirty="0"/>
              <a:t>Home exports computers, the good that uses intensively the factor of production (capital) found in abundance at Home.</a:t>
            </a:r>
          </a:p>
          <a:p>
            <a:pPr lvl="1"/>
            <a:r>
              <a:rPr lang="en-US" dirty="0"/>
              <a:t>Foreign exports shoes, the good that uses intensively the factor of production (labor) found in abundance there.</a:t>
            </a:r>
          </a:p>
          <a:p>
            <a:pPr lvl="1"/>
            <a:r>
              <a:rPr lang="en-US" dirty="0"/>
              <a:t>This important result is called the </a:t>
            </a:r>
            <a:r>
              <a:rPr lang="en-US" b="1" dirty="0"/>
              <a:t>Heckscher–Ohlin theorem.</a:t>
            </a:r>
          </a:p>
        </p:txBody>
      </p:sp>
    </p:spTree>
    <p:extLst>
      <p:ext uri="{BB962C8B-B14F-4D97-AF65-F5344CB8AC3E}">
        <p14:creationId xmlns:p14="http://schemas.microsoft.com/office/powerpoint/2010/main" val="219245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602A-82AC-B24E-A19F-F4B730D626EB}"/>
              </a:ext>
            </a:extLst>
          </p:cNvPr>
          <p:cNvSpPr>
            <a:spLocks noGrp="1"/>
          </p:cNvSpPr>
          <p:nvPr>
            <p:ph type="title"/>
          </p:nvPr>
        </p:nvSpPr>
        <p:spPr/>
        <p:txBody>
          <a:bodyPr>
            <a:normAutofit/>
          </a:bodyPr>
          <a:lstStyle/>
          <a:p>
            <a:r>
              <a:rPr lang="en-US" altLang="en-US" sz="3600" dirty="0"/>
              <a:t>1) Heckscher–Ohlin Model (part 12)</a:t>
            </a:r>
            <a:endParaRPr lang="en-US" sz="3600" dirty="0"/>
          </a:p>
        </p:txBody>
      </p:sp>
      <p:sp>
        <p:nvSpPr>
          <p:cNvPr id="3" name="Content Placeholder 2">
            <a:extLst>
              <a:ext uri="{FF2B5EF4-FFF2-40B4-BE49-F238E27FC236}">
                <a16:creationId xmlns:a16="http://schemas.microsoft.com/office/drawing/2014/main" id="{97A3CD6E-8383-9647-8080-61BBA853B4A2}"/>
              </a:ext>
            </a:extLst>
          </p:cNvPr>
          <p:cNvSpPr>
            <a:spLocks noGrp="1"/>
          </p:cNvSpPr>
          <p:nvPr>
            <p:ph idx="1"/>
          </p:nvPr>
        </p:nvSpPr>
        <p:spPr/>
        <p:txBody>
          <a:bodyPr>
            <a:normAutofit/>
          </a:bodyPr>
          <a:lstStyle/>
          <a:p>
            <a:r>
              <a:rPr lang="en-US" altLang="en-US" dirty="0"/>
              <a:t>Heckscher–Ohlin Theorem</a:t>
            </a:r>
          </a:p>
          <a:p>
            <a:pPr lvl="1"/>
            <a:r>
              <a:rPr lang="en-US" altLang="en-US" b="1" dirty="0"/>
              <a:t>Assumption 1:</a:t>
            </a:r>
            <a:r>
              <a:rPr lang="en-US" altLang="en-US" dirty="0"/>
              <a:t> Labor and capital flow freely between the industries.</a:t>
            </a:r>
          </a:p>
          <a:p>
            <a:pPr lvl="1"/>
            <a:r>
              <a:rPr lang="en-US" altLang="en-US" b="1" dirty="0"/>
              <a:t>Assumption 2:</a:t>
            </a:r>
            <a:r>
              <a:rPr lang="en-US" altLang="en-US" dirty="0"/>
              <a:t> The production of shoes is labor-intensive as compared with computer production, which is capital-intensive.</a:t>
            </a:r>
          </a:p>
          <a:p>
            <a:pPr lvl="1"/>
            <a:r>
              <a:rPr lang="en-US" altLang="en-US" b="1" dirty="0"/>
              <a:t>Assumption 3:</a:t>
            </a:r>
            <a:r>
              <a:rPr lang="en-US" altLang="en-US" dirty="0"/>
              <a:t> The amounts of labor and capital found in the two countries differ, with labor abundant in Foreign and capital abundant in Home.</a:t>
            </a:r>
          </a:p>
          <a:p>
            <a:pPr lvl="1"/>
            <a:r>
              <a:rPr lang="en-US" altLang="en-US" b="1" dirty="0"/>
              <a:t>Assumption 4:</a:t>
            </a:r>
            <a:r>
              <a:rPr lang="en-US" altLang="en-US" dirty="0"/>
              <a:t> There is free international trade in goods.</a:t>
            </a:r>
          </a:p>
          <a:p>
            <a:pPr lvl="1"/>
            <a:r>
              <a:rPr lang="en-US" altLang="en-US" b="1" dirty="0"/>
              <a:t>Assumption 5:</a:t>
            </a:r>
            <a:r>
              <a:rPr lang="en-US" altLang="en-US" dirty="0"/>
              <a:t> The technologies for producing shoes and computers are the same across countries.</a:t>
            </a:r>
          </a:p>
          <a:p>
            <a:pPr lvl="1"/>
            <a:r>
              <a:rPr lang="en-US" altLang="en-US" b="1" dirty="0"/>
              <a:t>Assumption 6: </a:t>
            </a:r>
            <a:r>
              <a:rPr lang="en-US" altLang="en-US" dirty="0"/>
              <a:t>Tastes are the same across countries.</a:t>
            </a:r>
          </a:p>
        </p:txBody>
      </p:sp>
    </p:spTree>
    <p:extLst>
      <p:ext uri="{BB962C8B-B14F-4D97-AF65-F5344CB8AC3E}">
        <p14:creationId xmlns:p14="http://schemas.microsoft.com/office/powerpoint/2010/main" val="1988738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602A-82AC-B24E-A19F-F4B730D626EB}"/>
              </a:ext>
            </a:extLst>
          </p:cNvPr>
          <p:cNvSpPr>
            <a:spLocks noGrp="1"/>
          </p:cNvSpPr>
          <p:nvPr>
            <p:ph type="title"/>
          </p:nvPr>
        </p:nvSpPr>
        <p:spPr/>
        <p:txBody>
          <a:bodyPr>
            <a:normAutofit/>
          </a:bodyPr>
          <a:lstStyle/>
          <a:p>
            <a:r>
              <a:rPr lang="en-US" altLang="en-US" sz="3600" dirty="0"/>
              <a:t>1) Heckscher–Ohlin Model (part 13)</a:t>
            </a:r>
            <a:endParaRPr lang="en-US" sz="3600" dirty="0"/>
          </a:p>
        </p:txBody>
      </p:sp>
      <p:sp>
        <p:nvSpPr>
          <p:cNvPr id="3" name="Content Placeholder 2">
            <a:extLst>
              <a:ext uri="{FF2B5EF4-FFF2-40B4-BE49-F238E27FC236}">
                <a16:creationId xmlns:a16="http://schemas.microsoft.com/office/drawing/2014/main" id="{97A3CD6E-8383-9647-8080-61BBA853B4A2}"/>
              </a:ext>
            </a:extLst>
          </p:cNvPr>
          <p:cNvSpPr>
            <a:spLocks noGrp="1"/>
          </p:cNvSpPr>
          <p:nvPr>
            <p:ph idx="1"/>
          </p:nvPr>
        </p:nvSpPr>
        <p:spPr/>
        <p:txBody>
          <a:bodyPr>
            <a:normAutofit/>
          </a:bodyPr>
          <a:lstStyle/>
          <a:p>
            <a:pPr>
              <a:lnSpc>
                <a:spcPct val="120000"/>
              </a:lnSpc>
            </a:pPr>
            <a:r>
              <a:rPr lang="en-US" altLang="en-US" dirty="0"/>
              <a:t>Heckscher–Ohlin Theorem</a:t>
            </a:r>
          </a:p>
          <a:p>
            <a:pPr>
              <a:lnSpc>
                <a:spcPct val="120000"/>
              </a:lnSpc>
            </a:pPr>
            <a:r>
              <a:rPr lang="en-US" altLang="en-US" dirty="0"/>
              <a:t>Conclusions from Assumptions:</a:t>
            </a:r>
          </a:p>
          <a:p>
            <a:pPr lvl="1">
              <a:lnSpc>
                <a:spcPct val="120000"/>
              </a:lnSpc>
            </a:pPr>
            <a:r>
              <a:rPr lang="en-US" altLang="en-US" dirty="0"/>
              <a:t>When Home opens to trade, its relative price of computers rises from the no-trade equilibrium relative price </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bg-BG" altLang="en-US" dirty="0">
                <a:solidFill>
                  <a:prstClr val="black"/>
                </a:solidFill>
                <a:latin typeface="Arial" panose="020B0604020202020204" pitchFamily="34" charset="0"/>
              </a:rPr>
              <a:t>/</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A  </a:t>
            </a:r>
            <a:r>
              <a:rPr lang="en-US" altLang="en-US" dirty="0"/>
              <a:t> to the free-trade equilibrium price </a:t>
            </a:r>
            <a:br>
              <a:rPr lang="en-US" altLang="en-US" dirty="0"/>
            </a:b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en-US" altLang="en-US" dirty="0">
                <a:solidFill>
                  <a:prstClr val="black"/>
                </a:solidFill>
                <a:latin typeface="Arial" panose="020B0604020202020204" pitchFamily="34" charset="0"/>
              </a:rPr>
              <a:t> /P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W</a:t>
            </a:r>
            <a:r>
              <a:rPr lang="en-US" altLang="en-US" dirty="0"/>
              <a:t>, giving Home firms an incentive to export computers.</a:t>
            </a:r>
          </a:p>
          <a:p>
            <a:pPr lvl="1">
              <a:lnSpc>
                <a:spcPct val="120000"/>
              </a:lnSpc>
            </a:pPr>
            <a:r>
              <a:rPr lang="en-US" altLang="en-US" dirty="0"/>
              <a:t>Similarly, when Foreign opens to trade, its relative price of computers falls from the no-trade equilibrium price </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bg-BG" altLang="en-US" dirty="0">
                <a:solidFill>
                  <a:prstClr val="black"/>
                </a:solidFill>
                <a:latin typeface="Arial" panose="020B0604020202020204" pitchFamily="34" charset="0"/>
              </a:rPr>
              <a:t>/</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A</a:t>
            </a:r>
            <a:r>
              <a:rPr lang="en-US" altLang="en-US" dirty="0">
                <a:solidFill>
                  <a:prstClr val="black"/>
                </a:solidFill>
                <a:latin typeface="Arial" panose="020B0604020202020204" pitchFamily="34" charset="0"/>
              </a:rPr>
              <a:t>*</a:t>
            </a:r>
            <a:r>
              <a:rPr lang="en-US" altLang="en-US" dirty="0"/>
              <a:t> to the trade equilibrium price </a:t>
            </a:r>
            <a:br>
              <a:rPr lang="en-US" altLang="en-US" dirty="0"/>
            </a:b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en-US" altLang="en-US" dirty="0">
                <a:solidFill>
                  <a:prstClr val="black"/>
                </a:solidFill>
                <a:latin typeface="Arial" panose="020B0604020202020204" pitchFamily="34" charset="0"/>
              </a:rPr>
              <a:t> /P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W</a:t>
            </a:r>
            <a:r>
              <a:rPr lang="en-US" altLang="en-US" dirty="0"/>
              <a:t> , encouraging Foreign consumers to import computers from Home.</a:t>
            </a:r>
          </a:p>
        </p:txBody>
      </p:sp>
    </p:spTree>
    <p:extLst>
      <p:ext uri="{BB962C8B-B14F-4D97-AF65-F5344CB8AC3E}">
        <p14:creationId xmlns:p14="http://schemas.microsoft.com/office/powerpoint/2010/main" val="1655283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C04E4-A3D6-4CE8-AC02-A0C492FD597C}"/>
              </a:ext>
            </a:extLst>
          </p:cNvPr>
          <p:cNvSpPr>
            <a:spLocks noGrp="1"/>
          </p:cNvSpPr>
          <p:nvPr>
            <p:ph type="title"/>
          </p:nvPr>
        </p:nvSpPr>
        <p:spPr/>
        <p:txBody>
          <a:bodyPr/>
          <a:lstStyle/>
          <a:p>
            <a:r>
              <a:rPr lang="en-US" dirty="0"/>
              <a:t>2)  Effects of Trade on Factor Prices </a:t>
            </a:r>
            <a:br>
              <a:rPr lang="en-US" dirty="0"/>
            </a:br>
            <a:r>
              <a:rPr lang="en-US" dirty="0"/>
              <a:t>(part 1)</a:t>
            </a:r>
            <a:endParaRPr lang="en-IN" dirty="0"/>
          </a:p>
        </p:txBody>
      </p:sp>
      <p:sp>
        <p:nvSpPr>
          <p:cNvPr id="5" name="Content Placeholder 4">
            <a:extLst>
              <a:ext uri="{FF2B5EF4-FFF2-40B4-BE49-F238E27FC236}">
                <a16:creationId xmlns:a16="http://schemas.microsoft.com/office/drawing/2014/main" id="{45E60A67-19B3-4EE8-A994-5F27C14CA30E}"/>
              </a:ext>
            </a:extLst>
          </p:cNvPr>
          <p:cNvSpPr>
            <a:spLocks noGrp="1"/>
          </p:cNvSpPr>
          <p:nvPr>
            <p:ph idx="1"/>
          </p:nvPr>
        </p:nvSpPr>
        <p:spPr>
          <a:xfrm>
            <a:off x="457200" y="1600201"/>
            <a:ext cx="8229600" cy="1209501"/>
          </a:xfrm>
        </p:spPr>
        <p:txBody>
          <a:bodyPr/>
          <a:lstStyle/>
          <a:p>
            <a:pPr marL="0" indent="0">
              <a:buNone/>
            </a:pPr>
            <a:r>
              <a:rPr lang="en-US" sz="2000" dirty="0"/>
              <a:t>Effect of Trade on the Wage and Rental of Home</a:t>
            </a:r>
          </a:p>
          <a:p>
            <a:pPr marL="0" indent="0">
              <a:buNone/>
            </a:pPr>
            <a:r>
              <a:rPr lang="en-US" sz="2000" dirty="0"/>
              <a:t>Economy-Wide Relative Demand for Labor</a:t>
            </a:r>
          </a:p>
          <a:p>
            <a:pPr marL="0" indent="0">
              <a:buNone/>
            </a:pPr>
            <a:r>
              <a:rPr lang="en-US" sz="2000" dirty="0"/>
              <a:t>FIGURE 4-11 </a:t>
            </a:r>
            <a:r>
              <a:rPr lang="en-US" sz="2000" b="0" dirty="0"/>
              <a:t>Determination of Home Wage/Rental</a:t>
            </a:r>
          </a:p>
        </p:txBody>
      </p:sp>
      <p:sp>
        <p:nvSpPr>
          <p:cNvPr id="6" name="Content Placeholder 5">
            <a:extLst>
              <a:ext uri="{FF2B5EF4-FFF2-40B4-BE49-F238E27FC236}">
                <a16:creationId xmlns:a16="http://schemas.microsoft.com/office/drawing/2014/main" id="{2E02CB6E-189F-404E-A223-0AFFB6014C9D}"/>
              </a:ext>
            </a:extLst>
          </p:cNvPr>
          <p:cNvSpPr>
            <a:spLocks noGrp="1"/>
          </p:cNvSpPr>
          <p:nvPr>
            <p:ph sz="quarter" idx="10"/>
          </p:nvPr>
        </p:nvSpPr>
        <p:spPr>
          <a:xfrm>
            <a:off x="4705004" y="2809702"/>
            <a:ext cx="3981796" cy="3610148"/>
          </a:xfrm>
        </p:spPr>
        <p:txBody>
          <a:bodyPr>
            <a:normAutofit/>
          </a:bodyPr>
          <a:lstStyle/>
          <a:p>
            <a:pPr marL="0" indent="0" eaLnBrk="1" hangingPunct="1">
              <a:spcBef>
                <a:spcPct val="10000"/>
              </a:spcBef>
              <a:spcAft>
                <a:spcPct val="10000"/>
              </a:spcAft>
              <a:buNone/>
            </a:pPr>
            <a:r>
              <a:rPr lang="en-US" altLang="en-US" sz="1800" b="0" dirty="0">
                <a:latin typeface="+mn-lt"/>
              </a:rPr>
              <a:t>The economy-wide relative demand for labor, </a:t>
            </a:r>
            <a:r>
              <a:rPr lang="en-US" altLang="en-US" sz="1800" b="0" i="1" dirty="0">
                <a:latin typeface="+mn-lt"/>
              </a:rPr>
              <a:t>RD</a:t>
            </a:r>
            <a:r>
              <a:rPr lang="en-US" altLang="en-US" sz="1800" b="0" dirty="0">
                <a:latin typeface="+mn-lt"/>
              </a:rPr>
              <a:t>, is an average of the </a:t>
            </a:r>
            <a:r>
              <a:rPr lang="en-US" altLang="en-US" sz="1800" b="0" i="1" dirty="0">
                <a:latin typeface="+mn-lt"/>
              </a:rPr>
              <a:t>L</a:t>
            </a:r>
            <a:r>
              <a:rPr lang="en-US" altLang="en-US" sz="1800" b="0" i="1" baseline="-25000" dirty="0">
                <a:latin typeface="+mn-lt"/>
              </a:rPr>
              <a:t>C</a:t>
            </a:r>
            <a:r>
              <a:rPr lang="bg-BG" altLang="en-US" sz="1800" b="0" i="1" dirty="0">
                <a:latin typeface="+mn-lt"/>
              </a:rPr>
              <a:t>/</a:t>
            </a:r>
            <a:r>
              <a:rPr lang="en-US" altLang="en-US" sz="1800" b="0" i="1" dirty="0">
                <a:latin typeface="+mn-lt"/>
              </a:rPr>
              <a:t>K</a:t>
            </a:r>
            <a:r>
              <a:rPr lang="en-US" altLang="en-US" sz="1800" b="0" i="1" baseline="-25000" dirty="0">
                <a:latin typeface="+mn-lt"/>
              </a:rPr>
              <a:t>C</a:t>
            </a:r>
            <a:r>
              <a:rPr lang="en-US" altLang="en-US" sz="1800" b="0" i="1" dirty="0">
                <a:latin typeface="+mn-lt"/>
              </a:rPr>
              <a:t> </a:t>
            </a:r>
            <a:r>
              <a:rPr lang="en-US" altLang="en-US" sz="1800" b="0" dirty="0">
                <a:latin typeface="+mn-lt"/>
              </a:rPr>
              <a:t>and</a:t>
            </a:r>
            <a:r>
              <a:rPr lang="en-US" altLang="en-US" sz="1800" b="0" i="1" dirty="0">
                <a:latin typeface="+mn-lt"/>
              </a:rPr>
              <a:t> L</a:t>
            </a:r>
            <a:r>
              <a:rPr lang="en-US" altLang="en-US" sz="1800" b="0" i="1" baseline="-25000" dirty="0">
                <a:latin typeface="+mn-lt"/>
              </a:rPr>
              <a:t>S</a:t>
            </a:r>
            <a:r>
              <a:rPr lang="bg-BG" altLang="en-US" sz="1800" b="0" i="1" dirty="0">
                <a:latin typeface="+mn-lt"/>
              </a:rPr>
              <a:t>/</a:t>
            </a:r>
            <a:r>
              <a:rPr lang="en-US" altLang="en-US" sz="1800" b="0" i="1" dirty="0">
                <a:latin typeface="+mn-lt"/>
              </a:rPr>
              <a:t>K</a:t>
            </a:r>
            <a:r>
              <a:rPr lang="en-US" altLang="en-US" sz="1800" b="0" i="1" baseline="-25000" dirty="0">
                <a:latin typeface="+mn-lt"/>
              </a:rPr>
              <a:t>S</a:t>
            </a:r>
            <a:r>
              <a:rPr lang="en-US" altLang="en-US" sz="1800" b="0" i="1" dirty="0">
                <a:latin typeface="+mn-lt"/>
              </a:rPr>
              <a:t> </a:t>
            </a:r>
            <a:r>
              <a:rPr lang="en-US" altLang="en-US" sz="1800" b="0" dirty="0">
                <a:latin typeface="+mn-lt"/>
              </a:rPr>
              <a:t>curves and lies between these curves</a:t>
            </a:r>
            <a:r>
              <a:rPr lang="en-US" altLang="en-US" sz="1800" b="0" i="1" dirty="0">
                <a:latin typeface="+mn-lt"/>
              </a:rPr>
              <a:t>. </a:t>
            </a:r>
          </a:p>
          <a:p>
            <a:pPr marL="0" indent="0" eaLnBrk="1" hangingPunct="1">
              <a:spcBef>
                <a:spcPct val="10000"/>
              </a:spcBef>
              <a:spcAft>
                <a:spcPct val="10000"/>
              </a:spcAft>
              <a:buNone/>
            </a:pPr>
            <a:r>
              <a:rPr lang="en-US" altLang="en-US" sz="1800" b="0" dirty="0">
                <a:latin typeface="+mn-lt"/>
              </a:rPr>
              <a:t>The relative supply, </a:t>
            </a:r>
            <a:r>
              <a:rPr lang="en-US" altLang="en-US" sz="1800" b="0" i="1" dirty="0">
                <a:latin typeface="+mn-lt"/>
              </a:rPr>
              <a:t>L/K, </a:t>
            </a:r>
            <a:r>
              <a:rPr lang="en-US" altLang="en-US" sz="1800" b="0" dirty="0">
                <a:latin typeface="+mn-lt"/>
              </a:rPr>
              <a:t>is shown by a vertical line</a:t>
            </a:r>
            <a:r>
              <a:rPr lang="en-US" altLang="en-US" sz="1800" b="0" i="1" dirty="0">
                <a:latin typeface="+mn-lt"/>
              </a:rPr>
              <a:t> </a:t>
            </a:r>
            <a:r>
              <a:rPr lang="en-US" altLang="en-US" sz="1800" b="0" dirty="0">
                <a:latin typeface="+mn-lt"/>
              </a:rPr>
              <a:t>because the total amount of resources in Home is fixed. </a:t>
            </a:r>
          </a:p>
          <a:p>
            <a:pPr marL="0" indent="0" eaLnBrk="1" hangingPunct="1">
              <a:spcBef>
                <a:spcPct val="10000"/>
              </a:spcBef>
              <a:spcAft>
                <a:spcPct val="10000"/>
              </a:spcAft>
              <a:buNone/>
            </a:pPr>
            <a:r>
              <a:rPr lang="en-US" altLang="en-US" sz="1800" b="0" dirty="0">
                <a:latin typeface="+mn-lt"/>
              </a:rPr>
              <a:t>The equilibrium point </a:t>
            </a:r>
            <a:r>
              <a:rPr lang="en-US" altLang="en-US" sz="1800" b="0" i="1" dirty="0">
                <a:latin typeface="+mn-lt"/>
              </a:rPr>
              <a:t>A, </a:t>
            </a:r>
            <a:r>
              <a:rPr lang="en-US" altLang="en-US" sz="1800" b="0" dirty="0">
                <a:latin typeface="+mn-lt"/>
              </a:rPr>
              <a:t>at which relative demand </a:t>
            </a:r>
            <a:r>
              <a:rPr lang="en-US" altLang="en-US" sz="1800" b="0" i="1" dirty="0">
                <a:latin typeface="+mn-lt"/>
              </a:rPr>
              <a:t>RD </a:t>
            </a:r>
            <a:r>
              <a:rPr lang="en-US" altLang="en-US" sz="1800" b="0" dirty="0">
                <a:latin typeface="+mn-lt"/>
              </a:rPr>
              <a:t>intersects relative supply </a:t>
            </a:r>
            <a:r>
              <a:rPr lang="en-US" altLang="en-US" sz="1800" b="0" i="1" dirty="0">
                <a:latin typeface="+mn-lt"/>
              </a:rPr>
              <a:t>L/K, </a:t>
            </a:r>
            <a:r>
              <a:rPr lang="en-US" altLang="en-US" sz="1800" b="0" dirty="0">
                <a:latin typeface="+mn-lt"/>
              </a:rPr>
              <a:t>determines the wage</a:t>
            </a:r>
            <a:r>
              <a:rPr lang="en-US" altLang="en-US" sz="1800" b="0" i="1" dirty="0">
                <a:latin typeface="+mn-lt"/>
              </a:rPr>
              <a:t> </a:t>
            </a:r>
            <a:r>
              <a:rPr lang="en-US" altLang="en-US" sz="1800" b="0" dirty="0">
                <a:latin typeface="+mn-lt"/>
              </a:rPr>
              <a:t>relative to the rental, </a:t>
            </a:r>
            <a:r>
              <a:rPr lang="en-US" altLang="en-US" sz="1800" b="0" i="1" dirty="0">
                <a:latin typeface="+mn-lt"/>
              </a:rPr>
              <a:t>W/R.</a:t>
            </a:r>
            <a:endParaRPr lang="en-US" altLang="en-US" sz="1800" b="0" dirty="0">
              <a:latin typeface="+mn-lt"/>
            </a:endParaRPr>
          </a:p>
        </p:txBody>
      </p:sp>
      <p:pic>
        <p:nvPicPr>
          <p:cNvPr id="7" name="Picture Placeholder 6" descr="A line graph plots wage per rental versus labor per capital. A point on the vertical axis, marked approximately at the middle, is labeled W per R. A vertical line, L bar per K bar is marked almost at the center of the horizontal axis. Three parallel negative curves are plotted on the graph. The curve labeled L subscript S per K subscript S, lies above the curve for economy-wide relative demand for labor, R D. This curve lies above the curve labeled L subscript C per K subscript C. The curves intersect the vertical line, L bar per K bar at three different points. The point of intersection by the curve labeled economy-wide relative demand for labor, R D is labeled A. Dotted horizontal lines from the point A meet the vertical axis at W over R.&#10;An equation to derive an economy-wide relative demand for labor.  The equation reads as follows. Start fraction L bar over K bar end fraction equals start fraction L subscript C plus L subscript S over K bar end fraction equals start fraction L subscript C over K subscript C end fraction times open parenthesis start fraction K subscript C over K bar end fraction close parenthesis plus start fraction L subscript S over K subscript S times open parenthesis start fraction K subscript S over K bar end fraction close parenthesis. The L H S element in the equation, L bar over K bar denotes relative supply. The last element in the R H S of the equation, start fraction L subscript C over K subscript C end fraction times open parenthesis start fraction K subscript C over K bar end fraction close parenthesis plus start fraction L subscript S over K subscript S times open parenthesis start fraction K subscript S over K bar end fraction close parenthesis denotes relative demand.">
            <a:extLst>
              <a:ext uri="{FF2B5EF4-FFF2-40B4-BE49-F238E27FC236}">
                <a16:creationId xmlns:a16="http://schemas.microsoft.com/office/drawing/2014/main" id="{DDEC67FB-6387-4AE3-B2EA-BC245FCFB0B5}"/>
              </a:ext>
            </a:extLst>
          </p:cNvPr>
          <p:cNvPicPr>
            <a:picLocks noGrp="1" noChangeAspect="1"/>
          </p:cNvPicPr>
          <p:nvPr>
            <p:ph type="pic" sz="quarter" idx="11"/>
          </p:nvPr>
        </p:nvPicPr>
        <p:blipFill>
          <a:blip r:embed="rId2"/>
          <a:stretch>
            <a:fillRect/>
          </a:stretch>
        </p:blipFill>
        <p:spPr>
          <a:xfrm>
            <a:off x="706274" y="2890697"/>
            <a:ext cx="3279292" cy="3020560"/>
          </a:xfrm>
          <a:prstGeom prst="rect">
            <a:avLst/>
          </a:prstGeom>
        </p:spPr>
      </p:pic>
    </p:spTree>
    <p:extLst>
      <p:ext uri="{BB962C8B-B14F-4D97-AF65-F5344CB8AC3E}">
        <p14:creationId xmlns:p14="http://schemas.microsoft.com/office/powerpoint/2010/main" val="307192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C04E4-A3D6-4CE8-AC02-A0C492FD597C}"/>
              </a:ext>
            </a:extLst>
          </p:cNvPr>
          <p:cNvSpPr>
            <a:spLocks noGrp="1"/>
          </p:cNvSpPr>
          <p:nvPr>
            <p:ph type="title"/>
          </p:nvPr>
        </p:nvSpPr>
        <p:spPr/>
        <p:txBody>
          <a:bodyPr/>
          <a:lstStyle/>
          <a:p>
            <a:r>
              <a:rPr lang="en-US" dirty="0"/>
              <a:t>2)  Effects of Trade on Factor Prices </a:t>
            </a:r>
            <a:br>
              <a:rPr lang="en-US" dirty="0"/>
            </a:br>
            <a:r>
              <a:rPr lang="en-US" dirty="0"/>
              <a:t>(part 2)</a:t>
            </a:r>
            <a:endParaRPr lang="en-IN" dirty="0"/>
          </a:p>
        </p:txBody>
      </p:sp>
      <p:sp>
        <p:nvSpPr>
          <p:cNvPr id="5" name="Content Placeholder 4">
            <a:extLst>
              <a:ext uri="{FF2B5EF4-FFF2-40B4-BE49-F238E27FC236}">
                <a16:creationId xmlns:a16="http://schemas.microsoft.com/office/drawing/2014/main" id="{45E60A67-19B3-4EE8-A994-5F27C14CA30E}"/>
              </a:ext>
            </a:extLst>
          </p:cNvPr>
          <p:cNvSpPr>
            <a:spLocks noGrp="1"/>
          </p:cNvSpPr>
          <p:nvPr>
            <p:ph idx="1"/>
          </p:nvPr>
        </p:nvSpPr>
        <p:spPr>
          <a:xfrm>
            <a:off x="457200" y="1600201"/>
            <a:ext cx="8229600" cy="1209501"/>
          </a:xfrm>
        </p:spPr>
        <p:txBody>
          <a:bodyPr/>
          <a:lstStyle/>
          <a:p>
            <a:pPr marL="0" indent="0">
              <a:buNone/>
            </a:pPr>
            <a:r>
              <a:rPr lang="en-US" sz="2000" dirty="0"/>
              <a:t>Effect of Trade on the Wage and Rental of Home</a:t>
            </a:r>
          </a:p>
          <a:p>
            <a:pPr marL="0" indent="0">
              <a:buNone/>
            </a:pPr>
            <a:r>
              <a:rPr lang="en-US" sz="2000" dirty="0"/>
              <a:t>Increase in the Relative Price of Computers</a:t>
            </a:r>
          </a:p>
          <a:p>
            <a:pPr marL="0" indent="0">
              <a:buNone/>
            </a:pPr>
            <a:r>
              <a:rPr lang="en-US" sz="2000" dirty="0"/>
              <a:t>FIGURE 4-12 </a:t>
            </a:r>
            <a:r>
              <a:rPr lang="en-US" sz="2000" b="0" dirty="0"/>
              <a:t>Increase in the Price of Computers</a:t>
            </a:r>
          </a:p>
        </p:txBody>
      </p:sp>
      <p:sp>
        <p:nvSpPr>
          <p:cNvPr id="6" name="Content Placeholder 5">
            <a:extLst>
              <a:ext uri="{FF2B5EF4-FFF2-40B4-BE49-F238E27FC236}">
                <a16:creationId xmlns:a16="http://schemas.microsoft.com/office/drawing/2014/main" id="{2E02CB6E-189F-404E-A223-0AFFB6014C9D}"/>
              </a:ext>
            </a:extLst>
          </p:cNvPr>
          <p:cNvSpPr>
            <a:spLocks noGrp="1"/>
          </p:cNvSpPr>
          <p:nvPr>
            <p:ph sz="quarter" idx="10"/>
          </p:nvPr>
        </p:nvSpPr>
        <p:spPr>
          <a:xfrm>
            <a:off x="4705004" y="2809702"/>
            <a:ext cx="3981796" cy="3610148"/>
          </a:xfrm>
        </p:spPr>
        <p:txBody>
          <a:bodyPr>
            <a:normAutofit/>
          </a:bodyPr>
          <a:lstStyle/>
          <a:p>
            <a:pPr marL="0" indent="0" eaLnBrk="1" hangingPunct="1">
              <a:spcBef>
                <a:spcPct val="10000"/>
              </a:spcBef>
              <a:spcAft>
                <a:spcPct val="10000"/>
              </a:spcAft>
              <a:buNone/>
            </a:pPr>
            <a:r>
              <a:rPr lang="en-US" altLang="en-US" sz="2000" b="0" dirty="0">
                <a:latin typeface="+mn-lt"/>
              </a:rPr>
              <a:t>Initially, Home is at a no-trade equilibrium at point </a:t>
            </a:r>
            <a:r>
              <a:rPr lang="en-US" altLang="en-US" sz="2000" b="0" i="1" dirty="0">
                <a:latin typeface="+mn-lt"/>
              </a:rPr>
              <a:t>A </a:t>
            </a:r>
            <a:r>
              <a:rPr lang="en-US" altLang="en-US" sz="2000" b="0" dirty="0">
                <a:latin typeface="+mn-lt"/>
              </a:rPr>
              <a:t>with a</a:t>
            </a:r>
            <a:r>
              <a:rPr lang="en-US" altLang="en-US" sz="2000" b="0" i="1" dirty="0">
                <a:latin typeface="+mn-lt"/>
              </a:rPr>
              <a:t> </a:t>
            </a:r>
            <a:r>
              <a:rPr lang="en-US" altLang="en-US" sz="2000" b="0" dirty="0">
                <a:latin typeface="+mn-lt"/>
              </a:rPr>
              <a:t>relative price of computers of (</a:t>
            </a:r>
            <a:r>
              <a:rPr lang="en-US" altLang="en-US" sz="2000" b="0" i="1" dirty="0">
                <a:latin typeface="+mn-lt"/>
              </a:rPr>
              <a:t>P</a:t>
            </a:r>
            <a:r>
              <a:rPr lang="en-US" altLang="en-US" sz="2000" b="0" i="1" baseline="-25000" dirty="0">
                <a:latin typeface="+mn-lt"/>
              </a:rPr>
              <a:t>C</a:t>
            </a:r>
            <a:r>
              <a:rPr lang="bg-BG" altLang="en-US" sz="2000" b="0" i="1" dirty="0">
                <a:latin typeface="+mn-lt"/>
              </a:rPr>
              <a:t>/</a:t>
            </a:r>
            <a:r>
              <a:rPr lang="en-US" altLang="en-US" sz="2000" b="0" i="1" dirty="0">
                <a:latin typeface="+mn-lt"/>
              </a:rPr>
              <a:t>P</a:t>
            </a:r>
            <a:r>
              <a:rPr lang="en-US" altLang="en-US" sz="2000" b="0" i="1" baseline="-25000" dirty="0">
                <a:latin typeface="+mn-lt"/>
              </a:rPr>
              <a:t>S</a:t>
            </a:r>
            <a:r>
              <a:rPr lang="en-US" altLang="en-US" sz="2000" b="0" dirty="0">
                <a:latin typeface="+mn-lt"/>
              </a:rPr>
              <a:t>)</a:t>
            </a:r>
            <a:r>
              <a:rPr lang="en-US" altLang="en-US" sz="2000" b="0" i="1" baseline="30000" dirty="0">
                <a:latin typeface="+mn-lt"/>
              </a:rPr>
              <a:t>A</a:t>
            </a:r>
            <a:r>
              <a:rPr lang="en-US" altLang="en-US" sz="2000" b="0" i="1" dirty="0">
                <a:latin typeface="+mn-lt"/>
              </a:rPr>
              <a:t>. </a:t>
            </a:r>
          </a:p>
          <a:p>
            <a:pPr marL="0" indent="0" eaLnBrk="1" hangingPunct="1">
              <a:spcBef>
                <a:spcPct val="10000"/>
              </a:spcBef>
              <a:spcAft>
                <a:spcPct val="10000"/>
              </a:spcAft>
              <a:buNone/>
            </a:pPr>
            <a:r>
              <a:rPr lang="en-US" altLang="en-US" sz="2000" b="0" dirty="0">
                <a:latin typeface="+mn-lt"/>
              </a:rPr>
              <a:t>An increase in the relative price of computers to the world price, as illustrated by the steeper world price line, (</a:t>
            </a:r>
            <a:r>
              <a:rPr lang="en-US" altLang="en-US" sz="2000" b="0" i="1" dirty="0">
                <a:latin typeface="+mn-lt"/>
              </a:rPr>
              <a:t>P</a:t>
            </a:r>
            <a:r>
              <a:rPr lang="en-US" altLang="en-US" sz="2000" b="0" i="1" baseline="-25000" dirty="0">
                <a:latin typeface="+mn-lt"/>
              </a:rPr>
              <a:t>C</a:t>
            </a:r>
            <a:r>
              <a:rPr lang="bg-BG" altLang="en-US" sz="2000" b="0" i="1" dirty="0">
                <a:latin typeface="+mn-lt"/>
              </a:rPr>
              <a:t>/</a:t>
            </a:r>
            <a:r>
              <a:rPr lang="en-US" altLang="en-US" sz="2000" b="0" i="1" dirty="0">
                <a:latin typeface="+mn-lt"/>
              </a:rPr>
              <a:t>P</a:t>
            </a:r>
            <a:r>
              <a:rPr lang="en-US" altLang="en-US" sz="2000" b="0" i="1" baseline="-25000" dirty="0">
                <a:latin typeface="+mn-lt"/>
              </a:rPr>
              <a:t>S</a:t>
            </a:r>
            <a:r>
              <a:rPr lang="en-US" altLang="en-US" sz="2000" b="0" dirty="0">
                <a:latin typeface="+mn-lt"/>
              </a:rPr>
              <a:t>)</a:t>
            </a:r>
            <a:r>
              <a:rPr lang="en-US" altLang="en-US" sz="2000" b="0" i="1" baseline="30000" dirty="0">
                <a:latin typeface="+mn-lt"/>
              </a:rPr>
              <a:t>W</a:t>
            </a:r>
            <a:r>
              <a:rPr lang="en-US" altLang="en-US" sz="2000" b="0" i="1" dirty="0">
                <a:latin typeface="+mn-lt"/>
              </a:rPr>
              <a:t>, </a:t>
            </a:r>
            <a:r>
              <a:rPr lang="en-US" altLang="en-US" sz="2000" b="0" dirty="0">
                <a:latin typeface="+mn-lt"/>
              </a:rPr>
              <a:t>shifts production from point </a:t>
            </a:r>
            <a:r>
              <a:rPr lang="en-US" altLang="en-US" sz="2000" b="0" i="1" dirty="0">
                <a:latin typeface="+mn-lt"/>
              </a:rPr>
              <a:t>A </a:t>
            </a:r>
            <a:r>
              <a:rPr lang="en-US" altLang="en-US" sz="2000" b="0" dirty="0">
                <a:latin typeface="+mn-lt"/>
              </a:rPr>
              <a:t>to</a:t>
            </a:r>
            <a:r>
              <a:rPr lang="en-US" altLang="en-US" sz="2000" b="0" i="1" dirty="0">
                <a:latin typeface="+mn-lt"/>
              </a:rPr>
              <a:t> B.</a:t>
            </a:r>
          </a:p>
          <a:p>
            <a:pPr marL="0" indent="0" eaLnBrk="1" hangingPunct="1">
              <a:spcBef>
                <a:spcPct val="10000"/>
              </a:spcBef>
              <a:spcAft>
                <a:spcPct val="10000"/>
              </a:spcAft>
              <a:buNone/>
            </a:pPr>
            <a:r>
              <a:rPr lang="en-US" altLang="en-US" sz="2000" b="0" dirty="0">
                <a:latin typeface="+mn-lt"/>
              </a:rPr>
              <a:t>At point </a:t>
            </a:r>
            <a:r>
              <a:rPr lang="en-US" altLang="en-US" sz="2000" b="0" i="1" dirty="0">
                <a:latin typeface="+mn-lt"/>
              </a:rPr>
              <a:t>B, </a:t>
            </a:r>
            <a:r>
              <a:rPr lang="en-US" altLang="en-US" sz="2000" b="0" dirty="0">
                <a:latin typeface="+mn-lt"/>
              </a:rPr>
              <a:t>there</a:t>
            </a:r>
            <a:r>
              <a:rPr lang="en-US" altLang="en-US" sz="2000" b="0" i="1" dirty="0">
                <a:latin typeface="+mn-lt"/>
              </a:rPr>
              <a:t> </a:t>
            </a:r>
            <a:r>
              <a:rPr lang="en-US" altLang="en-US" sz="2000" b="0" dirty="0">
                <a:latin typeface="+mn-lt"/>
              </a:rPr>
              <a:t>is a higher output of computers and a lower output of shoes, </a:t>
            </a:r>
            <a:r>
              <a:rPr lang="en-US" altLang="en-US" sz="2000" b="0" i="1" dirty="0">
                <a:latin typeface="+mn-lt"/>
              </a:rPr>
              <a:t>Q</a:t>
            </a:r>
            <a:r>
              <a:rPr lang="en-US" altLang="en-US" sz="2000" b="0" i="1" baseline="-25000" dirty="0">
                <a:latin typeface="+mn-lt"/>
              </a:rPr>
              <a:t>C</a:t>
            </a:r>
            <a:r>
              <a:rPr lang="en-US" altLang="en-US" sz="2000" b="0" baseline="-25000" dirty="0">
                <a:latin typeface="+mn-lt"/>
              </a:rPr>
              <a:t>2</a:t>
            </a:r>
            <a:r>
              <a:rPr lang="en-US" altLang="en-US" sz="2000" b="0" i="1" dirty="0">
                <a:latin typeface="+mn-lt"/>
              </a:rPr>
              <a:t> &gt; Q</a:t>
            </a:r>
            <a:r>
              <a:rPr lang="en-US" altLang="en-US" sz="2000" b="0" i="1" baseline="-25000" dirty="0">
                <a:latin typeface="+mn-lt"/>
              </a:rPr>
              <a:t>C</a:t>
            </a:r>
            <a:r>
              <a:rPr lang="en-US" altLang="en-US" sz="2000" b="0" baseline="-25000" dirty="0">
                <a:latin typeface="+mn-lt"/>
              </a:rPr>
              <a:t>1</a:t>
            </a:r>
            <a:r>
              <a:rPr lang="en-US" altLang="en-US" sz="2000" b="0" i="1" dirty="0">
                <a:latin typeface="+mn-lt"/>
              </a:rPr>
              <a:t> </a:t>
            </a:r>
            <a:r>
              <a:rPr lang="en-US" altLang="en-US" sz="2000" b="0" dirty="0">
                <a:latin typeface="+mn-lt"/>
              </a:rPr>
              <a:t>and</a:t>
            </a:r>
            <a:r>
              <a:rPr lang="en-US" altLang="en-US" sz="2000" b="0" i="1" dirty="0">
                <a:latin typeface="+mn-lt"/>
              </a:rPr>
              <a:t> Q</a:t>
            </a:r>
            <a:r>
              <a:rPr lang="en-US" altLang="en-US" sz="2000" b="0" i="1" baseline="-25000" dirty="0">
                <a:latin typeface="+mn-lt"/>
              </a:rPr>
              <a:t>S</a:t>
            </a:r>
            <a:r>
              <a:rPr lang="en-US" altLang="en-US" sz="2000" b="0" baseline="-25000" dirty="0">
                <a:latin typeface="+mn-lt"/>
              </a:rPr>
              <a:t>2</a:t>
            </a:r>
            <a:r>
              <a:rPr lang="en-US" altLang="en-US" sz="2000" b="0" i="1" dirty="0">
                <a:latin typeface="+mn-lt"/>
              </a:rPr>
              <a:t> &lt; Q</a:t>
            </a:r>
            <a:r>
              <a:rPr lang="en-US" altLang="en-US" sz="2000" b="0" i="1" baseline="-25000" dirty="0">
                <a:latin typeface="+mn-lt"/>
              </a:rPr>
              <a:t>S</a:t>
            </a:r>
            <a:r>
              <a:rPr lang="en-US" altLang="en-US" sz="2000" b="0" baseline="-25000" dirty="0">
                <a:latin typeface="+mn-lt"/>
              </a:rPr>
              <a:t>1</a:t>
            </a:r>
            <a:r>
              <a:rPr lang="en-US" altLang="en-US" sz="2000" b="0" i="1" dirty="0">
                <a:latin typeface="+mn-lt"/>
              </a:rPr>
              <a:t>.</a:t>
            </a:r>
            <a:endParaRPr lang="en-US" altLang="en-US" sz="2000" b="0" dirty="0">
              <a:latin typeface="+mn-lt"/>
            </a:endParaRPr>
          </a:p>
        </p:txBody>
      </p:sp>
      <p:pic>
        <p:nvPicPr>
          <p:cNvPr id="8" name="Picture Placeholder 5" descr="&quot;A graph plots output of shoes, Q subscript S versus output of computers, Q subscript C. Two points, Q subscript C 1 and Q subscript C 2 are marked along the horizontal axis, such that Q subscript C 1 is less than Q subscript C 2. Two points, Q subscript S 1 and Q subscript S 2 are marked along the vertical axis, such that Q subscript S 1 is greater than Q subscript S 2. The graph plots two negative sloping curves, labeled slope equals (P subscript C over P subscript S) power A; and (P subscript C over P subscript S) power W, respectively. Both the curves intersect each other at a point, that lies approximately in- between Q subscript S 1 and Q subscript S 2 on the vertical axis and in between Q subscript C 1 and Q subscript C 2 on the horizontal axis and Q subscript S 1 and Q subscript S 2 on the vertical axis. A concave downward curve is plotted on the graph. It touches the negative sloping curve, (P subscript C over P subscript S) power W at two points A and B, respectively. Dashed perpendiculars are dropped from A ( Q subscript C 1, Q subscript S 1) and B ( Q subscript C 2, Q subscript S 2).">
            <a:extLst>
              <a:ext uri="{FF2B5EF4-FFF2-40B4-BE49-F238E27FC236}">
                <a16:creationId xmlns:a16="http://schemas.microsoft.com/office/drawing/2014/main" id="{05F445DC-B381-4AB4-9F8F-93C0482B4F3E}"/>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457200" y="3114393"/>
            <a:ext cx="4083824" cy="2823478"/>
          </a:xfrm>
          <a:prstGeom prst="rect">
            <a:avLst/>
          </a:prstGeom>
        </p:spPr>
      </p:pic>
    </p:spTree>
    <p:extLst>
      <p:ext uri="{BB962C8B-B14F-4D97-AF65-F5344CB8AC3E}">
        <p14:creationId xmlns:p14="http://schemas.microsoft.com/office/powerpoint/2010/main" val="2352509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C04E4-A3D6-4CE8-AC02-A0C492FD597C}"/>
              </a:ext>
            </a:extLst>
          </p:cNvPr>
          <p:cNvSpPr>
            <a:spLocks noGrp="1"/>
          </p:cNvSpPr>
          <p:nvPr>
            <p:ph type="title"/>
          </p:nvPr>
        </p:nvSpPr>
        <p:spPr/>
        <p:txBody>
          <a:bodyPr/>
          <a:lstStyle/>
          <a:p>
            <a:r>
              <a:rPr lang="en-US" dirty="0"/>
              <a:t>2)  Effects of Trade on Factor Prices </a:t>
            </a:r>
            <a:br>
              <a:rPr lang="en-US" dirty="0"/>
            </a:br>
            <a:r>
              <a:rPr lang="en-US" dirty="0"/>
              <a:t>(part 3)</a:t>
            </a:r>
            <a:endParaRPr lang="en-IN" dirty="0"/>
          </a:p>
        </p:txBody>
      </p:sp>
      <p:sp>
        <p:nvSpPr>
          <p:cNvPr id="5" name="Content Placeholder 4">
            <a:extLst>
              <a:ext uri="{FF2B5EF4-FFF2-40B4-BE49-F238E27FC236}">
                <a16:creationId xmlns:a16="http://schemas.microsoft.com/office/drawing/2014/main" id="{45E60A67-19B3-4EE8-A994-5F27C14CA30E}"/>
              </a:ext>
            </a:extLst>
          </p:cNvPr>
          <p:cNvSpPr>
            <a:spLocks noGrp="1"/>
          </p:cNvSpPr>
          <p:nvPr>
            <p:ph idx="1"/>
          </p:nvPr>
        </p:nvSpPr>
        <p:spPr>
          <a:xfrm>
            <a:off x="457200" y="1407561"/>
            <a:ext cx="8229600" cy="1479478"/>
          </a:xfrm>
        </p:spPr>
        <p:txBody>
          <a:bodyPr>
            <a:normAutofit lnSpcReduction="10000"/>
          </a:bodyPr>
          <a:lstStyle/>
          <a:p>
            <a:pPr marL="0" indent="0">
              <a:lnSpc>
                <a:spcPct val="120000"/>
              </a:lnSpc>
              <a:buNone/>
            </a:pPr>
            <a:r>
              <a:rPr lang="en-US" sz="1800" dirty="0"/>
              <a:t>Effect of Trade on the Wage and Rental of Home</a:t>
            </a:r>
          </a:p>
          <a:p>
            <a:pPr marL="0" indent="0">
              <a:lnSpc>
                <a:spcPct val="120000"/>
              </a:lnSpc>
              <a:buNone/>
            </a:pPr>
            <a:r>
              <a:rPr lang="en-US" sz="1800" dirty="0"/>
              <a:t>Increase in the Relative Price of Computers</a:t>
            </a:r>
          </a:p>
          <a:p>
            <a:pPr marL="0" indent="0">
              <a:lnSpc>
                <a:spcPct val="120000"/>
              </a:lnSpc>
              <a:buNone/>
            </a:pPr>
            <a:r>
              <a:rPr lang="en-US" sz="1800" dirty="0"/>
              <a:t>FIGURE 4-13 (1 of 2) </a:t>
            </a:r>
            <a:r>
              <a:rPr lang="en-US" sz="1800" b="0" dirty="0"/>
              <a:t>Effect of a Higher Relative Price of Computers on Wage/Rental</a:t>
            </a:r>
          </a:p>
        </p:txBody>
      </p:sp>
      <p:sp>
        <p:nvSpPr>
          <p:cNvPr id="6" name="Content Placeholder 5">
            <a:extLst>
              <a:ext uri="{FF2B5EF4-FFF2-40B4-BE49-F238E27FC236}">
                <a16:creationId xmlns:a16="http://schemas.microsoft.com/office/drawing/2014/main" id="{2E02CB6E-189F-404E-A223-0AFFB6014C9D}"/>
              </a:ext>
            </a:extLst>
          </p:cNvPr>
          <p:cNvSpPr>
            <a:spLocks noGrp="1"/>
          </p:cNvSpPr>
          <p:nvPr>
            <p:ph sz="quarter" idx="10"/>
          </p:nvPr>
        </p:nvSpPr>
        <p:spPr>
          <a:xfrm>
            <a:off x="4705004" y="2809702"/>
            <a:ext cx="3981796" cy="3610148"/>
          </a:xfrm>
        </p:spPr>
        <p:txBody>
          <a:bodyPr>
            <a:normAutofit/>
          </a:bodyPr>
          <a:lstStyle/>
          <a:p>
            <a:pPr marL="0" indent="0" eaLnBrk="1" hangingPunct="1">
              <a:spcBef>
                <a:spcPct val="10000"/>
              </a:spcBef>
              <a:spcAft>
                <a:spcPct val="10000"/>
              </a:spcAft>
              <a:buNone/>
            </a:pPr>
            <a:r>
              <a:rPr lang="en-US" altLang="en-US" sz="2000" b="0" dirty="0">
                <a:latin typeface="+mn-lt"/>
              </a:rPr>
              <a:t>An increase in the relative price of computers shifts the economy-wide relative demand for labor, </a:t>
            </a:r>
            <a:r>
              <a:rPr lang="en-US" altLang="en-US" sz="2000" b="0" i="1" dirty="0">
                <a:latin typeface="+mn-lt"/>
              </a:rPr>
              <a:t>RD</a:t>
            </a:r>
            <a:r>
              <a:rPr lang="en-US" altLang="en-US" sz="2000" b="0" baseline="-25000" dirty="0">
                <a:latin typeface="+mn-lt"/>
              </a:rPr>
              <a:t>1</a:t>
            </a:r>
            <a:r>
              <a:rPr lang="en-US" altLang="en-US" sz="2000" b="0" i="1" dirty="0">
                <a:latin typeface="+mn-lt"/>
              </a:rPr>
              <a:t>, </a:t>
            </a:r>
            <a:r>
              <a:rPr lang="en-US" altLang="en-US" sz="2000" b="0" dirty="0">
                <a:latin typeface="+mn-lt"/>
              </a:rPr>
              <a:t>toward the relative</a:t>
            </a:r>
            <a:r>
              <a:rPr lang="en-US" altLang="en-US" sz="2000" b="0" i="1" dirty="0">
                <a:latin typeface="+mn-lt"/>
              </a:rPr>
              <a:t> </a:t>
            </a:r>
            <a:r>
              <a:rPr lang="en-US" altLang="en-US" sz="2000" b="0" dirty="0">
                <a:latin typeface="+mn-lt"/>
              </a:rPr>
              <a:t>demand for labor in the computer industry, </a:t>
            </a:r>
            <a:r>
              <a:rPr lang="en-US" altLang="en-US" sz="2000" b="0" i="1" dirty="0">
                <a:latin typeface="+mn-lt"/>
              </a:rPr>
              <a:t>L</a:t>
            </a:r>
            <a:r>
              <a:rPr lang="en-US" altLang="en-US" sz="2000" b="0" i="1" baseline="-25000" dirty="0">
                <a:latin typeface="+mn-lt"/>
              </a:rPr>
              <a:t>C</a:t>
            </a:r>
            <a:r>
              <a:rPr lang="en-US" altLang="en-US" sz="2000" b="0" i="1" dirty="0">
                <a:latin typeface="+mn-lt"/>
              </a:rPr>
              <a:t>/K</a:t>
            </a:r>
            <a:r>
              <a:rPr lang="en-US" altLang="en-US" sz="2000" b="0" i="1" baseline="-25000" dirty="0">
                <a:latin typeface="+mn-lt"/>
              </a:rPr>
              <a:t>C</a:t>
            </a:r>
            <a:r>
              <a:rPr lang="en-US" altLang="en-US" sz="2000" b="0" i="1" dirty="0">
                <a:latin typeface="+mn-lt"/>
              </a:rPr>
              <a:t>. </a:t>
            </a:r>
            <a:r>
              <a:rPr lang="en-US" altLang="en-US" sz="2000" b="0" dirty="0">
                <a:latin typeface="+mn-lt"/>
              </a:rPr>
              <a:t>The new relative demand curve, </a:t>
            </a:r>
            <a:r>
              <a:rPr lang="en-US" altLang="en-US" sz="2000" b="0" i="1" dirty="0">
                <a:latin typeface="+mn-lt"/>
              </a:rPr>
              <a:t>RD</a:t>
            </a:r>
            <a:r>
              <a:rPr lang="en-US" altLang="en-US" sz="2000" b="0" baseline="-25000" dirty="0">
                <a:latin typeface="+mn-lt"/>
              </a:rPr>
              <a:t>2</a:t>
            </a:r>
            <a:r>
              <a:rPr lang="en-US" altLang="en-US" sz="2000" b="0" i="1" dirty="0">
                <a:latin typeface="+mn-lt"/>
              </a:rPr>
              <a:t>, </a:t>
            </a:r>
            <a:r>
              <a:rPr lang="en-US" altLang="en-US" sz="2000" b="0" dirty="0">
                <a:latin typeface="+mn-lt"/>
              </a:rPr>
              <a:t>intersects the relative supply curve for labor at a lower relative wage, (</a:t>
            </a:r>
            <a:r>
              <a:rPr lang="en-US" altLang="en-US" sz="2000" b="0" i="1" dirty="0">
                <a:latin typeface="+mn-lt"/>
              </a:rPr>
              <a:t>W/R)</a:t>
            </a:r>
            <a:r>
              <a:rPr lang="en-US" altLang="en-US" sz="2000" b="0" baseline="-25000" dirty="0">
                <a:latin typeface="+mn-lt"/>
              </a:rPr>
              <a:t>2</a:t>
            </a:r>
            <a:r>
              <a:rPr lang="en-US" altLang="en-US" sz="2000" b="0" i="1" dirty="0">
                <a:latin typeface="+mn-lt"/>
              </a:rPr>
              <a:t>.</a:t>
            </a:r>
          </a:p>
        </p:txBody>
      </p:sp>
      <p:pic>
        <p:nvPicPr>
          <p:cNvPr id="9" name="Picture Placeholder 4" descr="A line graph plots wage per rental versus labor per capital. The points marked along the horizontal axis are as follows: (L subscript C over L subscript C) subscript 1; and (L subscript C over K subscript C) subscript 2. The former is smaller than the latter. These points are followed by a vertical line labeled L bar over K bar. Thereafter, the horizontal axis marks two more points: (L subscript S over K subscript S) subscript 1 and (L subscript S over K subscript S) subscript 2.&#10;The following points are marked along the vertical axis, such that the former is greater than the latter: (W per R) subscript 1; (W per R) subscript 2. &#10;The graph plots four parallel negative sloping curves, from the topmost to the bottom-most: L subscript S over K subscript S, R D subscript 1, R D subscript 2, L subscript C over K subscript C.&#10;The four curves intersect the vertical line labeled L bar over K bar at different points.&#10;The curves R D subscript 1 and R D subscript 2 intersect the vertical line L bar over K bar at the points A and B respectively. &#10;Dotted perpendiculars are drawn from A and B to either axis. &#10;A label pointing at the distance between the second and the third curve from the top reads: 1. An increase in the relative price of computers shifts the relative demand curve from R D 1 to R D 2. &#10;Another label pointing at the gap between the two points along the vertical axis reads: The relative wage decreases from (W per R )1 to (W per R) 2.&#10;A label, pointing at the gap between the points, (L subscript S over K subscript S) subscript 1 and (L subscript S over K subscript S) subscript 2, along the horizontal axis reads: 3. At the new relative wage, the labor–capital ratio in each industry increases.&quot;">
            <a:extLst>
              <a:ext uri="{FF2B5EF4-FFF2-40B4-BE49-F238E27FC236}">
                <a16:creationId xmlns:a16="http://schemas.microsoft.com/office/drawing/2014/main" id="{F250311A-6097-4562-8FB5-2EFB5E715FB6}"/>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508368" y="3044880"/>
            <a:ext cx="4083824" cy="3016505"/>
          </a:xfrm>
          <a:prstGeom prst="rect">
            <a:avLst/>
          </a:prstGeom>
        </p:spPr>
      </p:pic>
    </p:spTree>
    <p:extLst>
      <p:ext uri="{BB962C8B-B14F-4D97-AF65-F5344CB8AC3E}">
        <p14:creationId xmlns:p14="http://schemas.microsoft.com/office/powerpoint/2010/main" val="2133626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8BA6-FBEE-4832-9DF3-2A05FF29B3B1}"/>
              </a:ext>
            </a:extLst>
          </p:cNvPr>
          <p:cNvSpPr>
            <a:spLocks noGrp="1"/>
          </p:cNvSpPr>
          <p:nvPr>
            <p:ph type="title"/>
          </p:nvPr>
        </p:nvSpPr>
        <p:spPr/>
        <p:txBody>
          <a:bodyPr/>
          <a:lstStyle/>
          <a:p>
            <a:r>
              <a:rPr lang="en-US" dirty="0"/>
              <a:t>2)  Effects of Trade on Factor Prices </a:t>
            </a:r>
            <a:br>
              <a:rPr lang="en-US" dirty="0"/>
            </a:br>
            <a:r>
              <a:rPr lang="en-US" dirty="0"/>
              <a:t>(part 4)</a:t>
            </a:r>
            <a:endParaRPr lang="en-IN" dirty="0"/>
          </a:p>
        </p:txBody>
      </p:sp>
      <p:sp>
        <p:nvSpPr>
          <p:cNvPr id="3" name="Content Placeholder 2">
            <a:extLst>
              <a:ext uri="{FF2B5EF4-FFF2-40B4-BE49-F238E27FC236}">
                <a16:creationId xmlns:a16="http://schemas.microsoft.com/office/drawing/2014/main" id="{C7B1F692-7898-4F88-9F2D-DCC95C479FA8}"/>
              </a:ext>
            </a:extLst>
          </p:cNvPr>
          <p:cNvSpPr>
            <a:spLocks noGrp="1"/>
          </p:cNvSpPr>
          <p:nvPr>
            <p:ph idx="1"/>
          </p:nvPr>
        </p:nvSpPr>
        <p:spPr>
          <a:xfrm>
            <a:off x="457200" y="1600201"/>
            <a:ext cx="8229600" cy="1377144"/>
          </a:xfrm>
        </p:spPr>
        <p:txBody>
          <a:bodyPr>
            <a:normAutofit/>
          </a:bodyPr>
          <a:lstStyle/>
          <a:p>
            <a:pPr marL="0" indent="0">
              <a:buNone/>
            </a:pPr>
            <a:r>
              <a:rPr lang="en-US" sz="1800" dirty="0"/>
              <a:t>Effect of Trade on the Wage and Rental of Home</a:t>
            </a:r>
          </a:p>
          <a:p>
            <a:pPr marL="0" indent="0">
              <a:buNone/>
            </a:pPr>
            <a:r>
              <a:rPr lang="en-US" sz="1800" dirty="0"/>
              <a:t>Increase in the Relative Price of Computers</a:t>
            </a:r>
          </a:p>
          <a:p>
            <a:pPr marL="0" indent="0">
              <a:buNone/>
            </a:pPr>
            <a:r>
              <a:rPr lang="en-US" sz="1800" dirty="0"/>
              <a:t>FIGURE 4-13 (2 of 2) </a:t>
            </a:r>
            <a:r>
              <a:rPr lang="en-US" sz="1800" b="0" dirty="0"/>
              <a:t>Effect of a Higher Relative Price of Computers on Wage/Rental</a:t>
            </a:r>
          </a:p>
        </p:txBody>
      </p:sp>
      <p:sp>
        <p:nvSpPr>
          <p:cNvPr id="4" name="Content Placeholder 3">
            <a:extLst>
              <a:ext uri="{FF2B5EF4-FFF2-40B4-BE49-F238E27FC236}">
                <a16:creationId xmlns:a16="http://schemas.microsoft.com/office/drawing/2014/main" id="{23B99F06-4BFD-46BE-97CD-F8ED6026D267}"/>
              </a:ext>
            </a:extLst>
          </p:cNvPr>
          <p:cNvSpPr>
            <a:spLocks noGrp="1"/>
          </p:cNvSpPr>
          <p:nvPr>
            <p:ph sz="quarter" idx="10"/>
          </p:nvPr>
        </p:nvSpPr>
        <p:spPr>
          <a:xfrm>
            <a:off x="4954385" y="2744595"/>
            <a:ext cx="3998422" cy="2649713"/>
          </a:xfrm>
        </p:spPr>
        <p:txBody>
          <a:bodyPr>
            <a:normAutofit/>
          </a:bodyPr>
          <a:lstStyle/>
          <a:p>
            <a:pPr marL="0" indent="0" eaLnBrk="1" hangingPunct="1">
              <a:spcBef>
                <a:spcPct val="10000"/>
              </a:spcBef>
              <a:spcAft>
                <a:spcPct val="10000"/>
              </a:spcAft>
              <a:buNone/>
            </a:pPr>
            <a:r>
              <a:rPr lang="en-US" altLang="en-US" sz="2000" b="0" dirty="0">
                <a:latin typeface="+mn-lt"/>
              </a:rPr>
              <a:t>As a result,</a:t>
            </a:r>
            <a:r>
              <a:rPr lang="en-US" altLang="en-US" sz="2000" b="0" i="1" dirty="0">
                <a:latin typeface="+mn-lt"/>
              </a:rPr>
              <a:t> </a:t>
            </a:r>
            <a:r>
              <a:rPr lang="en-US" altLang="en-US" sz="2000" b="0" dirty="0">
                <a:latin typeface="+mn-lt"/>
              </a:rPr>
              <a:t>the wage relative to the rental falls from (</a:t>
            </a:r>
            <a:r>
              <a:rPr lang="en-US" altLang="en-US" sz="2000" b="0" i="1" dirty="0">
                <a:latin typeface="+mn-lt"/>
              </a:rPr>
              <a:t>W/R)</a:t>
            </a:r>
            <a:r>
              <a:rPr lang="en-US" altLang="en-US" sz="2000" b="0" baseline="-25000" dirty="0">
                <a:latin typeface="+mn-lt"/>
              </a:rPr>
              <a:t>1</a:t>
            </a:r>
            <a:r>
              <a:rPr lang="en-US" altLang="en-US" sz="2000" b="0" i="1" dirty="0">
                <a:latin typeface="+mn-lt"/>
              </a:rPr>
              <a:t> </a:t>
            </a:r>
            <a:r>
              <a:rPr lang="en-US" altLang="en-US" sz="2000" b="0" dirty="0">
                <a:latin typeface="+mn-lt"/>
              </a:rPr>
              <a:t>to (</a:t>
            </a:r>
            <a:r>
              <a:rPr lang="en-US" altLang="en-US" sz="2000" b="0" i="1" dirty="0">
                <a:latin typeface="+mn-lt"/>
              </a:rPr>
              <a:t>W/R)</a:t>
            </a:r>
            <a:r>
              <a:rPr lang="en-US" altLang="en-US" sz="2000" b="0" baseline="-25000" dirty="0">
                <a:latin typeface="+mn-lt"/>
              </a:rPr>
              <a:t>2</a:t>
            </a:r>
            <a:r>
              <a:rPr lang="en-US" altLang="en-US" sz="2000" b="0" i="1" dirty="0">
                <a:latin typeface="+mn-lt"/>
              </a:rPr>
              <a:t>.</a:t>
            </a:r>
          </a:p>
          <a:p>
            <a:pPr marL="0" indent="0" eaLnBrk="1" hangingPunct="1">
              <a:spcBef>
                <a:spcPct val="10000"/>
              </a:spcBef>
              <a:spcAft>
                <a:spcPct val="10000"/>
              </a:spcAft>
              <a:buNone/>
            </a:pPr>
            <a:r>
              <a:rPr lang="en-US" altLang="en-US" sz="2000" b="0" dirty="0">
                <a:latin typeface="+mn-lt"/>
              </a:rPr>
              <a:t>The lower relative wage causes both industries to increase their labor–capital ratios, as illustrated by the increase in both </a:t>
            </a:r>
            <a:r>
              <a:rPr lang="en-US" altLang="en-US" sz="2000" b="0" i="1" dirty="0">
                <a:latin typeface="+mn-lt"/>
              </a:rPr>
              <a:t>L</a:t>
            </a:r>
            <a:r>
              <a:rPr lang="en-US" altLang="en-US" sz="2000" b="0" i="1" baseline="-25000" dirty="0">
                <a:latin typeface="+mn-lt"/>
              </a:rPr>
              <a:t>C</a:t>
            </a:r>
            <a:r>
              <a:rPr lang="en-US" altLang="en-US" sz="2000" b="0" i="1" dirty="0">
                <a:latin typeface="+mn-lt"/>
              </a:rPr>
              <a:t>/K</a:t>
            </a:r>
            <a:r>
              <a:rPr lang="en-US" altLang="en-US" sz="2000" b="0" i="1" baseline="-25000" dirty="0">
                <a:latin typeface="+mn-lt"/>
              </a:rPr>
              <a:t>C</a:t>
            </a:r>
            <a:r>
              <a:rPr lang="en-US" altLang="en-US" sz="2000" b="0" i="1" dirty="0">
                <a:latin typeface="+mn-lt"/>
              </a:rPr>
              <a:t> </a:t>
            </a:r>
            <a:r>
              <a:rPr lang="en-US" altLang="en-US" sz="2000" b="0" dirty="0">
                <a:latin typeface="+mn-lt"/>
              </a:rPr>
              <a:t>and </a:t>
            </a:r>
            <a:r>
              <a:rPr lang="en-US" altLang="en-US" sz="2000" b="0" i="1" dirty="0">
                <a:latin typeface="+mn-lt"/>
              </a:rPr>
              <a:t>L</a:t>
            </a:r>
            <a:r>
              <a:rPr lang="en-US" altLang="en-US" sz="2000" b="0" i="1" baseline="-25000" dirty="0">
                <a:latin typeface="+mn-lt"/>
              </a:rPr>
              <a:t>S</a:t>
            </a:r>
            <a:r>
              <a:rPr lang="en-US" altLang="en-US" sz="2000" b="0" i="1" dirty="0">
                <a:latin typeface="+mn-lt"/>
              </a:rPr>
              <a:t>/K</a:t>
            </a:r>
            <a:r>
              <a:rPr lang="en-US" altLang="en-US" sz="2000" b="0" i="1" baseline="-25000" dirty="0">
                <a:latin typeface="+mn-lt"/>
              </a:rPr>
              <a:t>S</a:t>
            </a:r>
            <a:r>
              <a:rPr lang="en-US" altLang="en-US" sz="2000" b="0" i="1" dirty="0">
                <a:latin typeface="+mn-lt"/>
              </a:rPr>
              <a:t> </a:t>
            </a:r>
            <a:r>
              <a:rPr lang="en-US" altLang="en-US" sz="2000" b="0" dirty="0">
                <a:latin typeface="+mn-lt"/>
              </a:rPr>
              <a:t>at the new relative wage.</a:t>
            </a:r>
          </a:p>
        </p:txBody>
      </p:sp>
      <p:pic>
        <p:nvPicPr>
          <p:cNvPr id="11" name="Picture Placeholder 4" descr="A line graph plots wage per rental versus labor per capital. The points marked along the horizontal axis are as follows: (L subscript C over L subscript C) subscript 1; and (L subscript C over K subscript C) subscript 2. The former is smaller than the latter. These points are followed by a vertical line labeled L bar over K bar. Thereafter, the horizontal axis marks two more points: (L subscript S over K subscript S) subscript 1 and (L subscript S over K subscript S) subscript 2.&#10;The following points are marked along the vertical axis, such that the former is greater than the latter: (W per R) subscript 1; (W per R) subscript 2. &#10;The graph plots four parallel negative sloping curves, from the topmost to the bottom-most: L subscript S over K subscript S, R D subscript 1, R D subscript 2, L subscript C over K subscript C.&#10;The four curves intersect the vertical line labeled L bar over K bar at different points.&#10;The curves R D subscript 1 and R D subscript 2 intersect the vertical line L bar over K bar at the points A and B respectively. &#10;Dotted perpendiculars are drawn from A and B to either axis. &#10;A label pointing at the distance between the second and the third curve from the top reads: 1. An increase in the relative price of computers shifts the relative demand curve from R D 1 to R D 2. &#10;Another label pointing at the gap between the two points along the vertical axis reads: The relative wage decreases from (W per R )1 to (W per R) 2.&#10;A label, pointing at the gap between the points, (L subscript S over K subscript S) subscript 1 and (L subscript S over K subscript S) subscript 2, along the horizontal axis reads: 3. At the new relative wage, the labor–capital ratio in each industry increases.&quot;">
            <a:extLst>
              <a:ext uri="{FF2B5EF4-FFF2-40B4-BE49-F238E27FC236}">
                <a16:creationId xmlns:a16="http://schemas.microsoft.com/office/drawing/2014/main" id="{F313D612-CCC6-427D-A577-CE8CCA23033A}"/>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622838" y="3075839"/>
            <a:ext cx="4165909" cy="3077137"/>
          </a:xfrm>
          <a:prstGeom prst="rect">
            <a:avLst/>
          </a:prstGeom>
        </p:spPr>
      </p:pic>
      <p:pic>
        <p:nvPicPr>
          <p:cNvPr id="12" name="Picture Placeholder 12" descr="An equation for relative supply and relative demand shows that if there is no change in the relative supply, the relative demand also cannot change. The equation reads, &quot;&quot; Start fraction L bar over K bar end fraction equals start fraction L subscript C over K subscript C end fraction times open parenthesis start fraction K subscript C over K bar end fraction close parenthesis plus start fraction L subscript S over K subscript S end fraction times open parenthesis start fraction K subscript S over K bar end fraction close parenthesis.&#10;The L H S is labeled, &quot;&quot;relative supply; no change.&quot;&quot;&#10;The R H S is labeled, &quot;&quot;relative demand; no change in total.">
            <a:extLst>
              <a:ext uri="{FF2B5EF4-FFF2-40B4-BE49-F238E27FC236}">
                <a16:creationId xmlns:a16="http://schemas.microsoft.com/office/drawing/2014/main" id="{F733E1D7-9B6B-45D6-8046-A0066D2943B0}"/>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5826626" y="5470052"/>
            <a:ext cx="2253939" cy="860984"/>
          </a:xfrm>
          <a:prstGeom prst="rect">
            <a:avLst/>
          </a:prstGeom>
        </p:spPr>
      </p:pic>
    </p:spTree>
    <p:extLst>
      <p:ext uri="{BB962C8B-B14F-4D97-AF65-F5344CB8AC3E}">
        <p14:creationId xmlns:p14="http://schemas.microsoft.com/office/powerpoint/2010/main" val="2001810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5)</a:t>
            </a:r>
          </a:p>
        </p:txBody>
      </p:sp>
      <p:sp>
        <p:nvSpPr>
          <p:cNvPr id="11" name="Rectangle 5">
            <a:extLst>
              <a:ext uri="{FF2B5EF4-FFF2-40B4-BE49-F238E27FC236}">
                <a16:creationId xmlns:a16="http://schemas.microsoft.com/office/drawing/2014/main" id="{FC9E1478-7425-8F48-B20C-129E4A698CCF}"/>
              </a:ext>
            </a:extLst>
          </p:cNvPr>
          <p:cNvSpPr>
            <a:spLocks noChangeArrowheads="1"/>
          </p:cNvSpPr>
          <p:nvPr/>
        </p:nvSpPr>
        <p:spPr bwMode="auto">
          <a:xfrm>
            <a:off x="577850" y="1336001"/>
            <a:ext cx="73517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20000"/>
              </a:spcBef>
            </a:pPr>
            <a:r>
              <a:rPr lang="en-US" altLang="en-US" sz="2200" dirty="0"/>
              <a:t>Determination of the Real Wage and Real Rental</a:t>
            </a:r>
          </a:p>
        </p:txBody>
      </p:sp>
      <p:sp>
        <p:nvSpPr>
          <p:cNvPr id="12" name="Rectangle 6">
            <a:extLst>
              <a:ext uri="{FF2B5EF4-FFF2-40B4-BE49-F238E27FC236}">
                <a16:creationId xmlns:a16="http://schemas.microsoft.com/office/drawing/2014/main" id="{76CF435F-B7E8-2A46-AE44-408E97B3B38E}"/>
              </a:ext>
            </a:extLst>
          </p:cNvPr>
          <p:cNvSpPr>
            <a:spLocks noChangeArrowheads="1"/>
          </p:cNvSpPr>
          <p:nvPr/>
        </p:nvSpPr>
        <p:spPr bwMode="auto">
          <a:xfrm>
            <a:off x="566738" y="1700213"/>
            <a:ext cx="79470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10000"/>
              </a:spcBef>
              <a:spcAft>
                <a:spcPct val="10000"/>
              </a:spcAft>
            </a:pPr>
            <a:r>
              <a:rPr lang="en-US" altLang="en-US" sz="2200" dirty="0"/>
              <a:t>Change in the Real Rental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EFB45F-CF8A-0B43-971D-769338ABB999}"/>
                  </a:ext>
                </a:extLst>
              </p:cNvPr>
              <p:cNvSpPr txBox="1"/>
              <p:nvPr/>
            </p:nvSpPr>
            <p:spPr>
              <a:xfrm>
                <a:off x="2563758" y="2565840"/>
                <a:ext cx="401648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𝑅</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𝑀𝑃𝐾</m:t>
                          </m:r>
                        </m:e>
                        <m:sub>
                          <m:r>
                            <a:rPr lang="en-US" sz="2000" b="0" i="1" smtClean="0">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 </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𝑅</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𝑀𝑃𝐾</m:t>
                          </m:r>
                        </m:e>
                        <m:sub>
                          <m:r>
                            <a:rPr lang="en-US" sz="2000" b="0" i="1" smtClean="0">
                              <a:solidFill>
                                <a:schemeClr val="tx1"/>
                              </a:solidFill>
                              <a:latin typeface="Cambria Math" panose="02040503050406030204" pitchFamily="18" charset="0"/>
                              <a:ea typeface="Cambria Math" panose="02040503050406030204" pitchFamily="18" charset="0"/>
                            </a:rPr>
                            <m:t>𝑆</m:t>
                          </m:r>
                        </m:sub>
                      </m:sSub>
                    </m:oMath>
                  </m:oMathPara>
                </a14:m>
                <a:endParaRPr lang="en-US" sz="2000" dirty="0">
                  <a:solidFill>
                    <a:schemeClr val="tx1"/>
                  </a:solidFill>
                </a:endParaRPr>
              </a:p>
            </p:txBody>
          </p:sp>
        </mc:Choice>
        <mc:Fallback xmlns="">
          <p:sp>
            <p:nvSpPr>
              <p:cNvPr id="13" name="TextBox 12">
                <a:extLst>
                  <a:ext uri="{FF2B5EF4-FFF2-40B4-BE49-F238E27FC236}">
                    <a16:creationId xmlns:a16="http://schemas.microsoft.com/office/drawing/2014/main" id="{7DEFB45F-CF8A-0B43-971D-769338ABB999}"/>
                  </a:ext>
                </a:extLst>
              </p:cNvPr>
              <p:cNvSpPr txBox="1">
                <a:spLocks noRot="1" noChangeAspect="1" noMove="1" noResize="1" noEditPoints="1" noAdjustHandles="1" noChangeArrowheads="1" noChangeShapeType="1" noTextEdit="1"/>
              </p:cNvSpPr>
              <p:nvPr/>
            </p:nvSpPr>
            <p:spPr>
              <a:xfrm>
                <a:off x="2563758" y="2565840"/>
                <a:ext cx="4016484" cy="307777"/>
              </a:xfrm>
              <a:prstGeom prst="rect">
                <a:avLst/>
              </a:prstGeom>
              <a:blipFill>
                <a:blip r:embed="rId3"/>
                <a:stretch>
                  <a:fillRect l="-949" t="-8000"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C6EB98C-03D9-2C4F-AD96-98632047F7D5}"/>
                  </a:ext>
                </a:extLst>
              </p:cNvPr>
              <p:cNvSpPr txBox="1"/>
              <p:nvPr/>
            </p:nvSpPr>
            <p:spPr>
              <a:xfrm>
                <a:off x="2576325" y="2945604"/>
                <a:ext cx="3991349" cy="307777"/>
              </a:xfrm>
              <a:prstGeom prst="rect">
                <a:avLst/>
              </a:prstGeom>
              <a:noFill/>
            </p:spPr>
            <p:txBody>
              <a:bodyPr wrap="none" lIns="0" tIns="0" rIns="0" bIns="0" rtlCol="0">
                <a:spAutoFit/>
              </a:bodyPr>
              <a:lstStyle/>
              <a:p>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𝑀𝑃𝐾</m:t>
                        </m:r>
                      </m:e>
                      <m:sub>
                        <m:r>
                          <a:rPr lang="en-US" sz="2000" i="1">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𝑅</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𝑀𝑃𝐾</m:t>
                        </m:r>
                      </m:e>
                      <m:sub>
                        <m:r>
                          <a:rPr lang="en-US" sz="2000" b="0" i="1" smtClean="0">
                            <a:solidFill>
                              <a:schemeClr val="tx1"/>
                            </a:solidFill>
                            <a:latin typeface="Cambria Math" panose="02040503050406030204" pitchFamily="18" charset="0"/>
                            <a:ea typeface="Cambria Math" panose="02040503050406030204" pitchFamily="18" charset="0"/>
                          </a:rPr>
                          <m:t>𝑠</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𝑅</m:t>
                        </m:r>
                        <m:r>
                          <a:rPr lang="en-US" sz="2000" b="0" i="1" smtClean="0">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oMath>
                </a14:m>
                <a:r>
                  <a:rPr lang="en-US" sz="2000" dirty="0">
                    <a:solidFill>
                      <a:schemeClr val="tx1"/>
                    </a:solidFill>
                    <a:ea typeface="Cambria Math" panose="02040503050406030204" pitchFamily="18" charset="0"/>
                  </a:rPr>
                  <a:t>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oMath>
                </a14:m>
                <a:endParaRPr lang="en-US" sz="2000" dirty="0">
                  <a:solidFill>
                    <a:schemeClr val="tx1"/>
                  </a:solidFill>
                </a:endParaRPr>
              </a:p>
            </p:txBody>
          </p:sp>
        </mc:Choice>
        <mc:Fallback xmlns="">
          <p:sp>
            <p:nvSpPr>
              <p:cNvPr id="15" name="TextBox 14">
                <a:extLst>
                  <a:ext uri="{FF2B5EF4-FFF2-40B4-BE49-F238E27FC236}">
                    <a16:creationId xmlns:a16="http://schemas.microsoft.com/office/drawing/2014/main" id="{BC6EB98C-03D9-2C4F-AD96-98632047F7D5}"/>
                  </a:ext>
                </a:extLst>
              </p:cNvPr>
              <p:cNvSpPr txBox="1">
                <a:spLocks noRot="1" noChangeAspect="1" noMove="1" noResize="1" noEditPoints="1" noAdjustHandles="1" noChangeArrowheads="1" noChangeShapeType="1" noTextEdit="1"/>
              </p:cNvSpPr>
              <p:nvPr/>
            </p:nvSpPr>
            <p:spPr>
              <a:xfrm>
                <a:off x="2576325" y="2945604"/>
                <a:ext cx="3991349" cy="307777"/>
              </a:xfrm>
              <a:prstGeom prst="rect">
                <a:avLst/>
              </a:prstGeom>
              <a:blipFill>
                <a:blip r:embed="rId4"/>
                <a:stretch>
                  <a:fillRect l="-2229" t="-7692" r="-1592" b="-34615"/>
                </a:stretch>
              </a:blipFill>
            </p:spPr>
            <p:txBody>
              <a:bodyPr/>
              <a:lstStyle/>
              <a:p>
                <a:r>
                  <a:rPr lang="en-US">
                    <a:noFill/>
                  </a:rPr>
                  <a:t> </a:t>
                </a:r>
              </a:p>
            </p:txBody>
          </p:sp>
        </mc:Fallback>
      </mc:AlternateContent>
      <p:sp>
        <p:nvSpPr>
          <p:cNvPr id="16" name="Rectangle 6">
            <a:extLst>
              <a:ext uri="{FF2B5EF4-FFF2-40B4-BE49-F238E27FC236}">
                <a16:creationId xmlns:a16="http://schemas.microsoft.com/office/drawing/2014/main" id="{D31759D3-556F-8F4B-B9EE-C39457039A57}"/>
              </a:ext>
            </a:extLst>
          </p:cNvPr>
          <p:cNvSpPr>
            <a:spLocks noChangeArrowheads="1"/>
          </p:cNvSpPr>
          <p:nvPr/>
        </p:nvSpPr>
        <p:spPr bwMode="auto">
          <a:xfrm>
            <a:off x="577850" y="3757612"/>
            <a:ext cx="79470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10000"/>
              </a:spcBef>
              <a:spcAft>
                <a:spcPct val="10000"/>
              </a:spcAft>
            </a:pPr>
            <a:r>
              <a:rPr lang="en-US" altLang="en-US" sz="2200" dirty="0"/>
              <a:t>Change in the Real Wage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188EA21-60BF-0D46-BF61-3B4C03729C96}"/>
                  </a:ext>
                </a:extLst>
              </p:cNvPr>
              <p:cNvSpPr txBox="1"/>
              <p:nvPr/>
            </p:nvSpPr>
            <p:spPr>
              <a:xfrm>
                <a:off x="2492487" y="4468158"/>
                <a:ext cx="41590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𝑊</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𝑀𝑃𝐿</m:t>
                          </m:r>
                        </m:e>
                        <m:sub>
                          <m:r>
                            <a:rPr lang="en-US" sz="2000" b="0" i="1" smtClean="0">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 </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𝑊</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m:t>
                          </m:r>
                          <m:r>
                            <a:rPr lang="en-US" sz="2000" b="0" i="1" smtClean="0">
                              <a:solidFill>
                                <a:schemeClr val="tx1"/>
                              </a:solidFill>
                              <a:latin typeface="Cambria Math" panose="02040503050406030204" pitchFamily="18" charset="0"/>
                              <a:ea typeface="Cambria Math" panose="02040503050406030204" pitchFamily="18" charset="0"/>
                            </a:rPr>
                            <m:t>𝐿</m:t>
                          </m:r>
                        </m:e>
                        <m:sub>
                          <m:r>
                            <a:rPr lang="en-US" sz="2000" b="0" i="1" smtClean="0">
                              <a:solidFill>
                                <a:schemeClr val="tx1"/>
                              </a:solidFill>
                              <a:latin typeface="Cambria Math" panose="02040503050406030204" pitchFamily="18" charset="0"/>
                              <a:ea typeface="Cambria Math" panose="02040503050406030204" pitchFamily="18" charset="0"/>
                            </a:rPr>
                            <m:t>𝑆</m:t>
                          </m:r>
                        </m:sub>
                      </m:sSub>
                    </m:oMath>
                  </m:oMathPara>
                </a14:m>
                <a:endParaRPr lang="en-US" sz="2000" dirty="0">
                  <a:solidFill>
                    <a:schemeClr val="tx1"/>
                  </a:solidFill>
                </a:endParaRPr>
              </a:p>
            </p:txBody>
          </p:sp>
        </mc:Choice>
        <mc:Fallback xmlns="">
          <p:sp>
            <p:nvSpPr>
              <p:cNvPr id="17" name="TextBox 16">
                <a:extLst>
                  <a:ext uri="{FF2B5EF4-FFF2-40B4-BE49-F238E27FC236}">
                    <a16:creationId xmlns:a16="http://schemas.microsoft.com/office/drawing/2014/main" id="{C188EA21-60BF-0D46-BF61-3B4C03729C96}"/>
                  </a:ext>
                </a:extLst>
              </p:cNvPr>
              <p:cNvSpPr txBox="1">
                <a:spLocks noRot="1" noChangeAspect="1" noMove="1" noResize="1" noEditPoints="1" noAdjustHandles="1" noChangeArrowheads="1" noChangeShapeType="1" noTextEdit="1"/>
              </p:cNvSpPr>
              <p:nvPr/>
            </p:nvSpPr>
            <p:spPr>
              <a:xfrm>
                <a:off x="2492487" y="4468158"/>
                <a:ext cx="4159023" cy="307777"/>
              </a:xfrm>
              <a:prstGeom prst="rect">
                <a:avLst/>
              </a:prstGeom>
              <a:blipFill>
                <a:blip r:embed="rId5"/>
                <a:stretch>
                  <a:fillRect l="-610" t="-8000"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73F46CA-B271-DB42-80EB-F89D91D09938}"/>
                  </a:ext>
                </a:extLst>
              </p:cNvPr>
              <p:cNvSpPr txBox="1"/>
              <p:nvPr/>
            </p:nvSpPr>
            <p:spPr>
              <a:xfrm>
                <a:off x="2516435" y="4842774"/>
                <a:ext cx="4111125" cy="307777"/>
              </a:xfrm>
              <a:prstGeom prst="rect">
                <a:avLst/>
              </a:prstGeom>
              <a:noFill/>
            </p:spPr>
            <p:txBody>
              <a:bodyPr wrap="none" lIns="0" tIns="0" rIns="0" bIns="0" rtlCol="0">
                <a:spAutoFit/>
              </a:bodyPr>
              <a:lstStyle/>
              <a:p>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m:t>
                        </m:r>
                        <m:r>
                          <a:rPr lang="en-US" sz="2000" b="0" i="1" smtClean="0">
                            <a:solidFill>
                              <a:schemeClr val="tx1"/>
                            </a:solidFill>
                            <a:latin typeface="Cambria Math" panose="02040503050406030204" pitchFamily="18" charset="0"/>
                            <a:ea typeface="Cambria Math" panose="02040503050406030204" pitchFamily="18" charset="0"/>
                          </a:rPr>
                          <m:t>𝐿</m:t>
                        </m:r>
                      </m:e>
                      <m:sub>
                        <m:r>
                          <a:rPr lang="en-US" sz="2000" i="1">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𝑊</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𝑀𝑃𝐿</m:t>
                        </m:r>
                      </m:e>
                      <m:sub>
                        <m:r>
                          <a:rPr lang="en-US" sz="2000" b="0" i="1" smtClean="0">
                            <a:solidFill>
                              <a:schemeClr val="tx1"/>
                            </a:solidFill>
                            <a:latin typeface="Cambria Math" panose="02040503050406030204" pitchFamily="18" charset="0"/>
                            <a:ea typeface="Cambria Math" panose="02040503050406030204" pitchFamily="18" charset="0"/>
                          </a:rPr>
                          <m:t>𝑠</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𝑊</m:t>
                        </m:r>
                        <m:r>
                          <a:rPr lang="en-US" sz="2000" b="0" i="1" smtClean="0">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oMath>
                </a14:m>
                <a:r>
                  <a:rPr lang="en-US" sz="2000" dirty="0">
                    <a:solidFill>
                      <a:schemeClr val="tx1"/>
                    </a:solidFill>
                    <a:ea typeface="Cambria Math" panose="02040503050406030204" pitchFamily="18" charset="0"/>
                  </a:rPr>
                  <a:t>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oMath>
                </a14:m>
                <a:endParaRPr lang="en-US" sz="2000" dirty="0">
                  <a:solidFill>
                    <a:schemeClr val="tx1"/>
                  </a:solidFill>
                </a:endParaRPr>
              </a:p>
            </p:txBody>
          </p:sp>
        </mc:Choice>
        <mc:Fallback xmlns="">
          <p:sp>
            <p:nvSpPr>
              <p:cNvPr id="18" name="TextBox 17">
                <a:extLst>
                  <a:ext uri="{FF2B5EF4-FFF2-40B4-BE49-F238E27FC236}">
                    <a16:creationId xmlns:a16="http://schemas.microsoft.com/office/drawing/2014/main" id="{E73F46CA-B271-DB42-80EB-F89D91D09938}"/>
                  </a:ext>
                </a:extLst>
              </p:cNvPr>
              <p:cNvSpPr txBox="1">
                <a:spLocks noRot="1" noChangeAspect="1" noMove="1" noResize="1" noEditPoints="1" noAdjustHandles="1" noChangeArrowheads="1" noChangeShapeType="1" noTextEdit="1"/>
              </p:cNvSpPr>
              <p:nvPr/>
            </p:nvSpPr>
            <p:spPr>
              <a:xfrm>
                <a:off x="2516435" y="4842774"/>
                <a:ext cx="4111125" cy="307777"/>
              </a:xfrm>
              <a:prstGeom prst="rect">
                <a:avLst/>
              </a:prstGeom>
              <a:blipFill>
                <a:blip r:embed="rId6"/>
                <a:stretch>
                  <a:fillRect l="-2160" t="-8000" r="-1543" b="-40000"/>
                </a:stretch>
              </a:blipFill>
            </p:spPr>
            <p:txBody>
              <a:bodyPr/>
              <a:lstStyle/>
              <a:p>
                <a:r>
                  <a:rPr lang="en-US">
                    <a:noFill/>
                  </a:rPr>
                  <a:t> </a:t>
                </a:r>
              </a:p>
            </p:txBody>
          </p:sp>
        </mc:Fallback>
      </mc:AlternateContent>
    </p:spTree>
    <p:extLst>
      <p:ext uri="{BB962C8B-B14F-4D97-AF65-F5344CB8AC3E}">
        <p14:creationId xmlns:p14="http://schemas.microsoft.com/office/powerpoint/2010/main" val="409674886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6)</a:t>
            </a:r>
          </a:p>
        </p:txBody>
      </p:sp>
      <p:sp>
        <p:nvSpPr>
          <p:cNvPr id="10" name="Rectangle 5">
            <a:extLst>
              <a:ext uri="{FF2B5EF4-FFF2-40B4-BE49-F238E27FC236}">
                <a16:creationId xmlns:a16="http://schemas.microsoft.com/office/drawing/2014/main" id="{866EF320-C770-EA48-A103-0C753A2ED4FB}"/>
              </a:ext>
            </a:extLst>
          </p:cNvPr>
          <p:cNvSpPr>
            <a:spLocks noChangeArrowheads="1"/>
          </p:cNvSpPr>
          <p:nvPr/>
        </p:nvSpPr>
        <p:spPr bwMode="auto">
          <a:xfrm>
            <a:off x="555587" y="1411752"/>
            <a:ext cx="73517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20000"/>
              </a:spcBef>
            </a:pPr>
            <a:r>
              <a:rPr lang="en-US" altLang="en-US" sz="2200" dirty="0"/>
              <a:t>Determination of the Real Wage and Real Rental</a:t>
            </a:r>
          </a:p>
        </p:txBody>
      </p:sp>
      <p:sp>
        <p:nvSpPr>
          <p:cNvPr id="14" name="Rectangle 6">
            <a:extLst>
              <a:ext uri="{FF2B5EF4-FFF2-40B4-BE49-F238E27FC236}">
                <a16:creationId xmlns:a16="http://schemas.microsoft.com/office/drawing/2014/main" id="{0EECFAE2-E56D-5247-B2B1-B09E747F643C}"/>
              </a:ext>
            </a:extLst>
          </p:cNvPr>
          <p:cNvSpPr>
            <a:spLocks noChangeArrowheads="1"/>
          </p:cNvSpPr>
          <p:nvPr/>
        </p:nvSpPr>
        <p:spPr bwMode="auto">
          <a:xfrm>
            <a:off x="555587" y="1857839"/>
            <a:ext cx="7947025" cy="463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10000"/>
              </a:spcBef>
              <a:spcAft>
                <a:spcPct val="10000"/>
              </a:spcAft>
            </a:pPr>
            <a:r>
              <a:rPr lang="en-US" altLang="en-US" sz="2200" dirty="0" err="1"/>
              <a:t>Stolper</a:t>
            </a:r>
            <a:r>
              <a:rPr lang="en-US" altLang="en-US" sz="2200" dirty="0"/>
              <a:t>–Samuelson Theorem</a:t>
            </a:r>
          </a:p>
          <a:p>
            <a:pPr marL="342900" indent="-342900" eaLnBrk="1" hangingPunct="1">
              <a:spcBef>
                <a:spcPct val="10000"/>
              </a:spcBef>
              <a:spcAft>
                <a:spcPct val="10000"/>
              </a:spcAft>
              <a:buFont typeface="Arial" panose="020B0604020202020204" pitchFamily="34" charset="0"/>
              <a:buChar char="•"/>
            </a:pPr>
            <a:r>
              <a:rPr lang="en-US" altLang="en-US" sz="2400" b="0" dirty="0">
                <a:latin typeface="+mn-lt"/>
              </a:rPr>
              <a:t>In the long run, when all factors are mobile, an increase in the relative price of a good will increase the real earnings of the factor used intensively in the production of that good and decrease the real earnings of the other factor.</a:t>
            </a:r>
          </a:p>
          <a:p>
            <a:pPr marL="342900" indent="-342900" eaLnBrk="1" hangingPunct="1">
              <a:spcBef>
                <a:spcPct val="10000"/>
              </a:spcBef>
              <a:spcAft>
                <a:spcPct val="10000"/>
              </a:spcAft>
              <a:buFont typeface="Arial" panose="020B0604020202020204" pitchFamily="34" charset="0"/>
              <a:buChar char="•"/>
            </a:pPr>
            <a:r>
              <a:rPr lang="en-US" altLang="en-US" sz="2400" b="0" dirty="0">
                <a:latin typeface="+mn-lt"/>
              </a:rPr>
              <a:t>For our example, the </a:t>
            </a:r>
            <a:r>
              <a:rPr lang="en-US" altLang="en-US" sz="2400" dirty="0" err="1">
                <a:latin typeface="+mn-lt"/>
              </a:rPr>
              <a:t>Stolper</a:t>
            </a:r>
            <a:r>
              <a:rPr lang="en-US" altLang="en-US" sz="2400" dirty="0">
                <a:latin typeface="+mn-lt"/>
              </a:rPr>
              <a:t>–Samuelson theorem </a:t>
            </a:r>
            <a:r>
              <a:rPr lang="en-US" altLang="en-US" sz="2400" b="0" dirty="0">
                <a:latin typeface="+mn-lt"/>
              </a:rPr>
              <a:t>predicts that when Home opens to trade and faces a higher relative price of computers, the real rental on capital in Home rises and the real wage in Home falls. In Foreign, the changes in real factor prices are just the reverse.</a:t>
            </a:r>
          </a:p>
        </p:txBody>
      </p:sp>
    </p:spTree>
    <p:extLst>
      <p:ext uri="{BB962C8B-B14F-4D97-AF65-F5344CB8AC3E}">
        <p14:creationId xmlns:p14="http://schemas.microsoft.com/office/powerpoint/2010/main" val="177716112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7)</a:t>
            </a:r>
          </a:p>
        </p:txBody>
      </p:sp>
      <p:sp>
        <p:nvSpPr>
          <p:cNvPr id="2" name="Content Placeholder 1">
            <a:extLst>
              <a:ext uri="{FF2B5EF4-FFF2-40B4-BE49-F238E27FC236}">
                <a16:creationId xmlns:a16="http://schemas.microsoft.com/office/drawing/2014/main" id="{015F9050-3FD4-47A0-879C-D8188FE66601}"/>
              </a:ext>
            </a:extLst>
          </p:cNvPr>
          <p:cNvSpPr>
            <a:spLocks noGrp="1"/>
          </p:cNvSpPr>
          <p:nvPr>
            <p:ph idx="1"/>
          </p:nvPr>
        </p:nvSpPr>
        <p:spPr>
          <a:xfrm>
            <a:off x="457200" y="1600200"/>
            <a:ext cx="8229600" cy="4841697"/>
          </a:xfrm>
        </p:spPr>
        <p:txBody>
          <a:bodyPr>
            <a:normAutofit fontScale="77500" lnSpcReduction="20000"/>
          </a:bodyPr>
          <a:lstStyle/>
          <a:p>
            <a:pPr marL="0" indent="0">
              <a:lnSpc>
                <a:spcPct val="120000"/>
              </a:lnSpc>
              <a:buNone/>
            </a:pPr>
            <a:r>
              <a:rPr lang="en-US" altLang="en-US" sz="2800" b="1" dirty="0">
                <a:latin typeface="+mn-lt"/>
              </a:rPr>
              <a:t>Changes in the Real Wage and Rental: A Numerical Example</a:t>
            </a:r>
          </a:p>
          <a:p>
            <a:pPr marL="0" indent="0" fontAlgn="auto">
              <a:lnSpc>
                <a:spcPct val="120000"/>
              </a:lnSpc>
              <a:spcAft>
                <a:spcPts val="0"/>
              </a:spcAft>
              <a:buNone/>
              <a:defRPr/>
            </a:pPr>
            <a:r>
              <a:rPr lang="en-US" sz="2600" b="0" dirty="0">
                <a:latin typeface="+mn-lt"/>
                <a:cs typeface="+mn-cs"/>
              </a:rPr>
              <a:t>To illustrate the </a:t>
            </a:r>
            <a:r>
              <a:rPr lang="en-US" sz="2600" b="0" dirty="0" err="1">
                <a:latin typeface="+mn-lt"/>
                <a:cs typeface="+mn-cs"/>
              </a:rPr>
              <a:t>Stolper</a:t>
            </a:r>
            <a:r>
              <a:rPr lang="en-US" sz="2600" b="0" dirty="0">
                <a:latin typeface="+mn-lt"/>
                <a:cs typeface="+mn-cs"/>
              </a:rPr>
              <a:t>–Samuelson theorem, we use a numerical example to show how much the real wage and rental can change in response to a change in price.</a:t>
            </a:r>
            <a:endParaRPr lang="en-US" sz="2600" b="0" i="1" dirty="0">
              <a:latin typeface="+mn-lt"/>
              <a:cs typeface="+mn-cs"/>
            </a:endParaRPr>
          </a:p>
          <a:p>
            <a:pPr marL="0" indent="0" fontAlgn="auto">
              <a:lnSpc>
                <a:spcPct val="120000"/>
              </a:lnSpc>
              <a:spcAft>
                <a:spcPts val="0"/>
              </a:spcAft>
              <a:buNone/>
              <a:defRPr/>
            </a:pPr>
            <a:r>
              <a:rPr lang="en-US" sz="2600" b="0" i="1" dirty="0">
                <a:latin typeface="+mn-lt"/>
                <a:cs typeface="+mn-cs"/>
              </a:rPr>
              <a:t>Computers: </a:t>
            </a:r>
          </a:p>
          <a:p>
            <a:pPr marL="914400" lvl="2" indent="0" fontAlgn="auto">
              <a:lnSpc>
                <a:spcPct val="120000"/>
              </a:lnSpc>
              <a:spcAft>
                <a:spcPts val="0"/>
              </a:spcAft>
              <a:buNone/>
              <a:defRPr/>
            </a:pPr>
            <a:r>
              <a:rPr lang="en-US" sz="2600" b="0" dirty="0">
                <a:latin typeface="+mn-lt"/>
                <a:cs typeface="+mn-cs"/>
              </a:rPr>
              <a:t>Sales revenue = </a:t>
            </a:r>
            <a:r>
              <a:rPr lang="en-US" sz="2600" b="0" i="1" dirty="0">
                <a:latin typeface="+mn-lt"/>
                <a:cs typeface="+mn-cs"/>
              </a:rPr>
              <a:t>P</a:t>
            </a:r>
            <a:r>
              <a:rPr lang="en-US" sz="2600" b="0" i="1" baseline="-25000" dirty="0">
                <a:latin typeface="+mn-lt"/>
                <a:cs typeface="+mn-cs"/>
              </a:rPr>
              <a:t>c</a:t>
            </a:r>
            <a:r>
              <a:rPr lang="en-US" sz="2600" b="0" i="1" dirty="0">
                <a:latin typeface="+mn-lt"/>
                <a:cs typeface="+mn-cs"/>
              </a:rPr>
              <a:t> </a:t>
            </a:r>
            <a:r>
              <a:rPr lang="en-US" sz="2600" b="0" dirty="0">
                <a:latin typeface="+mn-lt"/>
                <a:cs typeface="+mn-cs"/>
              </a:rPr>
              <a:t>• </a:t>
            </a:r>
            <a:r>
              <a:rPr lang="en-US" sz="2600" b="0" i="1" dirty="0">
                <a:latin typeface="+mn-lt"/>
                <a:cs typeface="+mn-cs"/>
              </a:rPr>
              <a:t>Q</a:t>
            </a:r>
            <a:r>
              <a:rPr lang="en-US" sz="2600" b="0" i="1" baseline="-25000" dirty="0">
                <a:latin typeface="+mn-lt"/>
                <a:cs typeface="+mn-cs"/>
              </a:rPr>
              <a:t>c</a:t>
            </a:r>
            <a:r>
              <a:rPr lang="en-US" sz="2600" b="0" i="1" dirty="0">
                <a:latin typeface="+mn-lt"/>
                <a:cs typeface="+mn-cs"/>
              </a:rPr>
              <a:t> </a:t>
            </a:r>
            <a:r>
              <a:rPr lang="en-US" sz="2600" b="0" dirty="0">
                <a:latin typeface="+mn-lt"/>
                <a:cs typeface="+mn-cs"/>
              </a:rPr>
              <a:t>= 100</a:t>
            </a:r>
          </a:p>
          <a:p>
            <a:pPr marL="914400" lvl="2" indent="0" fontAlgn="auto">
              <a:lnSpc>
                <a:spcPct val="120000"/>
              </a:lnSpc>
              <a:spcAft>
                <a:spcPts val="0"/>
              </a:spcAft>
              <a:buNone/>
              <a:defRPr/>
            </a:pPr>
            <a:r>
              <a:rPr lang="en-US" sz="2600" b="0" dirty="0">
                <a:latin typeface="+mn-lt"/>
                <a:cs typeface="+mn-cs"/>
              </a:rPr>
              <a:t>Earnings of labor = </a:t>
            </a:r>
            <a:r>
              <a:rPr lang="en-US" sz="2600" b="0" i="1" dirty="0">
                <a:latin typeface="+mn-lt"/>
                <a:cs typeface="+mn-cs"/>
              </a:rPr>
              <a:t>W </a:t>
            </a:r>
            <a:r>
              <a:rPr lang="en-US" sz="2600" b="0" dirty="0">
                <a:latin typeface="+mn-lt"/>
                <a:cs typeface="+mn-cs"/>
              </a:rPr>
              <a:t>• </a:t>
            </a:r>
            <a:r>
              <a:rPr lang="en-US" sz="2600" b="0" i="1" dirty="0">
                <a:latin typeface="+mn-lt"/>
                <a:cs typeface="+mn-cs"/>
              </a:rPr>
              <a:t>L</a:t>
            </a:r>
            <a:r>
              <a:rPr lang="en-US" sz="2600" b="0" i="1" baseline="-25000" dirty="0">
                <a:latin typeface="+mn-lt"/>
                <a:cs typeface="+mn-cs"/>
              </a:rPr>
              <a:t>c</a:t>
            </a:r>
            <a:r>
              <a:rPr lang="en-US" sz="2600" b="0" i="1" dirty="0">
                <a:latin typeface="+mn-lt"/>
                <a:cs typeface="+mn-cs"/>
              </a:rPr>
              <a:t> </a:t>
            </a:r>
            <a:r>
              <a:rPr lang="en-US" sz="2600" b="0" dirty="0">
                <a:latin typeface="+mn-lt"/>
                <a:cs typeface="+mn-cs"/>
              </a:rPr>
              <a:t>= 50</a:t>
            </a:r>
          </a:p>
          <a:p>
            <a:pPr marL="914400" lvl="2" indent="0" fontAlgn="auto">
              <a:lnSpc>
                <a:spcPct val="120000"/>
              </a:lnSpc>
              <a:spcAft>
                <a:spcPts val="0"/>
              </a:spcAft>
              <a:buNone/>
              <a:defRPr/>
            </a:pPr>
            <a:r>
              <a:rPr lang="en-US" sz="2600" b="0" dirty="0">
                <a:latin typeface="+mn-lt"/>
                <a:cs typeface="+mn-cs"/>
              </a:rPr>
              <a:t>Earnings of capital = </a:t>
            </a:r>
            <a:r>
              <a:rPr lang="en-US" sz="2600" b="0" i="1" dirty="0">
                <a:latin typeface="+mn-lt"/>
                <a:cs typeface="+mn-cs"/>
              </a:rPr>
              <a:t>R </a:t>
            </a:r>
            <a:r>
              <a:rPr lang="en-US" sz="2600" b="0" dirty="0">
                <a:latin typeface="+mn-lt"/>
                <a:cs typeface="+mn-cs"/>
              </a:rPr>
              <a:t>• </a:t>
            </a:r>
            <a:r>
              <a:rPr lang="en-US" sz="2600" b="0" i="1" dirty="0">
                <a:latin typeface="+mn-lt"/>
                <a:cs typeface="+mn-cs"/>
              </a:rPr>
              <a:t>K</a:t>
            </a:r>
            <a:r>
              <a:rPr lang="en-US" sz="2600" b="0" i="1" baseline="-25000" dirty="0">
                <a:latin typeface="+mn-lt"/>
                <a:cs typeface="+mn-cs"/>
              </a:rPr>
              <a:t>c</a:t>
            </a:r>
            <a:r>
              <a:rPr lang="en-US" sz="2600" b="0" i="1" dirty="0">
                <a:latin typeface="+mn-lt"/>
                <a:cs typeface="+mn-cs"/>
              </a:rPr>
              <a:t> </a:t>
            </a:r>
            <a:r>
              <a:rPr lang="en-US" sz="2600" b="0" dirty="0">
                <a:latin typeface="+mn-lt"/>
                <a:cs typeface="+mn-cs"/>
              </a:rPr>
              <a:t>= 50</a:t>
            </a:r>
          </a:p>
          <a:p>
            <a:pPr marL="0" indent="0" fontAlgn="auto">
              <a:lnSpc>
                <a:spcPct val="120000"/>
              </a:lnSpc>
              <a:spcAft>
                <a:spcPts val="0"/>
              </a:spcAft>
              <a:buNone/>
              <a:defRPr/>
            </a:pPr>
            <a:r>
              <a:rPr lang="en-US" sz="2600" b="0" i="1" dirty="0">
                <a:latin typeface="+mn-lt"/>
                <a:cs typeface="+mn-cs"/>
              </a:rPr>
              <a:t>Shoes: </a:t>
            </a:r>
          </a:p>
          <a:p>
            <a:pPr marL="914400" lvl="2" indent="0" fontAlgn="auto">
              <a:lnSpc>
                <a:spcPct val="120000"/>
              </a:lnSpc>
              <a:spcAft>
                <a:spcPts val="0"/>
              </a:spcAft>
              <a:buNone/>
              <a:defRPr/>
            </a:pPr>
            <a:r>
              <a:rPr lang="en-US" sz="2600" b="0" dirty="0">
                <a:latin typeface="+mn-lt"/>
                <a:cs typeface="+mn-cs"/>
              </a:rPr>
              <a:t>Sales revenue = </a:t>
            </a:r>
            <a:r>
              <a:rPr lang="en-US" sz="2600" b="0" i="1" dirty="0">
                <a:latin typeface="+mn-lt"/>
                <a:cs typeface="+mn-cs"/>
              </a:rPr>
              <a:t>P</a:t>
            </a:r>
            <a:r>
              <a:rPr lang="en-US" sz="2600" b="0" i="1" baseline="-25000" dirty="0">
                <a:latin typeface="+mn-lt"/>
                <a:cs typeface="+mn-cs"/>
              </a:rPr>
              <a:t>s</a:t>
            </a:r>
            <a:r>
              <a:rPr lang="en-US" sz="2600" b="0" i="1" dirty="0">
                <a:latin typeface="+mn-lt"/>
                <a:cs typeface="+mn-cs"/>
              </a:rPr>
              <a:t> </a:t>
            </a:r>
            <a:r>
              <a:rPr lang="en-US" sz="2600" b="0" dirty="0">
                <a:latin typeface="+mn-lt"/>
                <a:cs typeface="+mn-cs"/>
              </a:rPr>
              <a:t>• </a:t>
            </a:r>
            <a:r>
              <a:rPr lang="en-US" sz="2600" b="0" i="1" dirty="0">
                <a:latin typeface="+mn-lt"/>
                <a:cs typeface="+mn-cs"/>
              </a:rPr>
              <a:t>Q</a:t>
            </a:r>
            <a:r>
              <a:rPr lang="en-US" sz="2600" b="0" i="1" baseline="-25000" dirty="0">
                <a:latin typeface="+mn-lt"/>
                <a:cs typeface="+mn-cs"/>
              </a:rPr>
              <a:t>s</a:t>
            </a:r>
            <a:r>
              <a:rPr lang="en-US" sz="2600" b="0" i="1" dirty="0">
                <a:latin typeface="+mn-lt"/>
                <a:cs typeface="+mn-cs"/>
              </a:rPr>
              <a:t> </a:t>
            </a:r>
            <a:r>
              <a:rPr lang="en-US" sz="2600" b="0" dirty="0">
                <a:latin typeface="+mn-lt"/>
                <a:cs typeface="+mn-cs"/>
              </a:rPr>
              <a:t>= 100</a:t>
            </a:r>
          </a:p>
          <a:p>
            <a:pPr marL="914400" lvl="2" indent="0" fontAlgn="auto">
              <a:lnSpc>
                <a:spcPct val="120000"/>
              </a:lnSpc>
              <a:spcAft>
                <a:spcPts val="0"/>
              </a:spcAft>
              <a:buNone/>
              <a:defRPr/>
            </a:pPr>
            <a:r>
              <a:rPr lang="en-US" sz="2600" b="0" dirty="0">
                <a:latin typeface="+mn-lt"/>
                <a:cs typeface="+mn-cs"/>
              </a:rPr>
              <a:t>Earnings of labor = </a:t>
            </a:r>
            <a:r>
              <a:rPr lang="en-US" sz="2600" b="0" i="1" dirty="0">
                <a:latin typeface="+mn-lt"/>
                <a:cs typeface="+mn-cs"/>
              </a:rPr>
              <a:t>W </a:t>
            </a:r>
            <a:r>
              <a:rPr lang="en-US" sz="2600" b="0" dirty="0">
                <a:latin typeface="+mn-lt"/>
                <a:cs typeface="+mn-cs"/>
              </a:rPr>
              <a:t>• </a:t>
            </a:r>
            <a:r>
              <a:rPr lang="en-US" sz="2600" b="0" i="1" dirty="0">
                <a:latin typeface="+mn-lt"/>
                <a:cs typeface="+mn-cs"/>
              </a:rPr>
              <a:t>L</a:t>
            </a:r>
            <a:r>
              <a:rPr lang="en-US" sz="2600" b="0" i="1" baseline="-25000" dirty="0">
                <a:latin typeface="+mn-lt"/>
                <a:cs typeface="+mn-cs"/>
              </a:rPr>
              <a:t>s</a:t>
            </a:r>
            <a:r>
              <a:rPr lang="en-US" sz="2600" b="0" i="1" dirty="0">
                <a:latin typeface="+mn-lt"/>
                <a:cs typeface="+mn-cs"/>
              </a:rPr>
              <a:t> </a:t>
            </a:r>
            <a:r>
              <a:rPr lang="en-US" sz="2600" b="0" dirty="0">
                <a:latin typeface="+mn-lt"/>
                <a:cs typeface="+mn-cs"/>
              </a:rPr>
              <a:t>= 60</a:t>
            </a:r>
          </a:p>
          <a:p>
            <a:pPr marL="914400" lvl="2" indent="0" fontAlgn="auto">
              <a:lnSpc>
                <a:spcPct val="120000"/>
              </a:lnSpc>
              <a:spcAft>
                <a:spcPts val="0"/>
              </a:spcAft>
              <a:buNone/>
              <a:defRPr/>
            </a:pPr>
            <a:r>
              <a:rPr lang="en-US" sz="2600" b="0" dirty="0">
                <a:latin typeface="+mn-lt"/>
                <a:cs typeface="+mn-cs"/>
              </a:rPr>
              <a:t>Earnings of capital = </a:t>
            </a:r>
            <a:r>
              <a:rPr lang="en-US" sz="2600" b="0" i="1" dirty="0">
                <a:latin typeface="+mn-lt"/>
                <a:cs typeface="+mn-cs"/>
              </a:rPr>
              <a:t>R </a:t>
            </a:r>
            <a:r>
              <a:rPr lang="en-US" sz="2600" b="0" dirty="0">
                <a:latin typeface="+mn-lt"/>
                <a:cs typeface="+mn-cs"/>
              </a:rPr>
              <a:t>• </a:t>
            </a:r>
            <a:r>
              <a:rPr lang="en-US" sz="2600" b="0" i="1" dirty="0">
                <a:latin typeface="+mn-lt"/>
                <a:cs typeface="+mn-cs"/>
              </a:rPr>
              <a:t>K</a:t>
            </a:r>
            <a:r>
              <a:rPr lang="en-US" sz="2600" b="0" i="1" baseline="-25000" dirty="0">
                <a:latin typeface="+mn-lt"/>
                <a:cs typeface="+mn-cs"/>
              </a:rPr>
              <a:t>s</a:t>
            </a:r>
            <a:r>
              <a:rPr lang="en-US" sz="2600" b="0" i="1" dirty="0">
                <a:latin typeface="+mn-lt"/>
                <a:cs typeface="+mn-cs"/>
              </a:rPr>
              <a:t> </a:t>
            </a:r>
            <a:r>
              <a:rPr lang="en-US" sz="2600" b="0" dirty="0">
                <a:latin typeface="+mn-lt"/>
                <a:cs typeface="+mn-cs"/>
              </a:rPr>
              <a:t>= 40</a:t>
            </a:r>
            <a:endParaRPr lang="en-US" altLang="en-US" sz="2600" b="0" dirty="0">
              <a:latin typeface="+mn-lt"/>
              <a:cs typeface="+mn-cs"/>
            </a:endParaRPr>
          </a:p>
        </p:txBody>
      </p:sp>
    </p:spTree>
    <p:extLst>
      <p:ext uri="{BB962C8B-B14F-4D97-AF65-F5344CB8AC3E}">
        <p14:creationId xmlns:p14="http://schemas.microsoft.com/office/powerpoint/2010/main" val="94690476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8)</a:t>
            </a:r>
          </a:p>
        </p:txBody>
      </p:sp>
      <p:sp>
        <p:nvSpPr>
          <p:cNvPr id="2" name="Content Placeholder 1">
            <a:extLst>
              <a:ext uri="{FF2B5EF4-FFF2-40B4-BE49-F238E27FC236}">
                <a16:creationId xmlns:a16="http://schemas.microsoft.com/office/drawing/2014/main" id="{74E3395E-C60E-48D2-B816-0E2899C48EFE}"/>
              </a:ext>
            </a:extLst>
          </p:cNvPr>
          <p:cNvSpPr>
            <a:spLocks noGrp="1"/>
          </p:cNvSpPr>
          <p:nvPr>
            <p:ph idx="1"/>
          </p:nvPr>
        </p:nvSpPr>
        <p:spPr/>
        <p:txBody>
          <a:bodyPr>
            <a:normAutofit fontScale="77500" lnSpcReduction="20000"/>
          </a:bodyPr>
          <a:lstStyle/>
          <a:p>
            <a:pPr marL="0" indent="0">
              <a:lnSpc>
                <a:spcPct val="120000"/>
              </a:lnSpc>
              <a:buNone/>
            </a:pPr>
            <a:r>
              <a:rPr lang="en-US" altLang="en-US" sz="2800" b="1" dirty="0">
                <a:latin typeface="+mn-lt"/>
              </a:rPr>
              <a:t>Changes in the Real Wage and Rental: A Numerical Example</a:t>
            </a:r>
          </a:p>
          <a:p>
            <a:pPr marL="0" indent="0" fontAlgn="auto">
              <a:lnSpc>
                <a:spcPct val="120000"/>
              </a:lnSpc>
              <a:spcAft>
                <a:spcPts val="0"/>
              </a:spcAft>
              <a:buNone/>
              <a:defRPr/>
            </a:pPr>
            <a:r>
              <a:rPr lang="en-US" sz="2800" b="0" dirty="0">
                <a:latin typeface="+mn-lt"/>
                <a:cs typeface="+mn-cs"/>
              </a:rPr>
              <a:t>Notice that shoes are more labor-intensive than computers:</a:t>
            </a:r>
            <a:endParaRPr lang="en-US" sz="2800" b="0" strike="sngStrike" dirty="0">
              <a:latin typeface="+mn-lt"/>
              <a:cs typeface="+mn-cs"/>
            </a:endParaRPr>
          </a:p>
          <a:p>
            <a:pPr marL="449263" indent="-449263" fontAlgn="auto">
              <a:lnSpc>
                <a:spcPct val="120000"/>
              </a:lnSpc>
              <a:spcAft>
                <a:spcPts val="0"/>
              </a:spcAft>
              <a:buFont typeface="Arial" panose="020B0604020202020204" pitchFamily="34" charset="0"/>
              <a:buChar char="•"/>
              <a:defRPr/>
            </a:pPr>
            <a:r>
              <a:rPr lang="en-US" sz="2800" b="0" dirty="0">
                <a:latin typeface="+mn-lt"/>
              </a:rPr>
              <a:t>T</a:t>
            </a:r>
            <a:r>
              <a:rPr lang="en-US" sz="2800" b="0" dirty="0">
                <a:latin typeface="+mn-lt"/>
                <a:cs typeface="+mn-cs"/>
              </a:rPr>
              <a:t>he share of total revenue paid to labor in shoes is 60/100 = 60%.</a:t>
            </a:r>
          </a:p>
          <a:p>
            <a:pPr marL="449263" indent="-449263" fontAlgn="auto">
              <a:lnSpc>
                <a:spcPct val="120000"/>
              </a:lnSpc>
              <a:spcAft>
                <a:spcPts val="0"/>
              </a:spcAft>
              <a:buFont typeface="Arial" panose="020B0604020202020204" pitchFamily="34" charset="0"/>
              <a:buChar char="•"/>
              <a:defRPr/>
            </a:pPr>
            <a:r>
              <a:rPr lang="en-US" sz="2800" b="0" dirty="0">
                <a:latin typeface="+mn-lt"/>
              </a:rPr>
              <a:t>This is m</a:t>
            </a:r>
            <a:r>
              <a:rPr lang="en-US" sz="2800" b="0" dirty="0">
                <a:latin typeface="+mn-lt"/>
                <a:cs typeface="+mn-cs"/>
              </a:rPr>
              <a:t>ore than that share in computers: 50/100 = 50%.</a:t>
            </a:r>
          </a:p>
          <a:p>
            <a:pPr marL="0" indent="0" fontAlgn="auto">
              <a:lnSpc>
                <a:spcPct val="120000"/>
              </a:lnSpc>
              <a:spcAft>
                <a:spcPts val="0"/>
              </a:spcAft>
              <a:buNone/>
              <a:defRPr/>
            </a:pPr>
            <a:r>
              <a:rPr lang="en-US" sz="2800" b="0" dirty="0">
                <a:latin typeface="+mn-lt"/>
                <a:cs typeface="+mn-cs"/>
              </a:rPr>
              <a:t>When Home and Foreign undertake trade, the relative price of computers rises in Home. For simplicity:</a:t>
            </a:r>
            <a:endParaRPr lang="en-US" sz="2800" b="0" i="1" dirty="0">
              <a:latin typeface="+mn-lt"/>
              <a:cs typeface="+mn-cs"/>
            </a:endParaRPr>
          </a:p>
          <a:p>
            <a:pPr marL="0" indent="0" fontAlgn="auto">
              <a:lnSpc>
                <a:spcPct val="120000"/>
              </a:lnSpc>
              <a:spcAft>
                <a:spcPts val="0"/>
              </a:spcAft>
              <a:buNone/>
              <a:defRPr/>
            </a:pPr>
            <a:r>
              <a:rPr lang="en-US" sz="2800" b="0" i="1" dirty="0">
                <a:latin typeface="+mn-lt"/>
                <a:cs typeface="+mn-cs"/>
              </a:rPr>
              <a:t>Computers: </a:t>
            </a:r>
            <a:r>
              <a:rPr lang="en-US" sz="2800" b="0" dirty="0">
                <a:latin typeface="+mn-lt"/>
                <a:cs typeface="+mn-cs"/>
              </a:rPr>
              <a:t>Percentage increase in price = Δ</a:t>
            </a:r>
            <a:r>
              <a:rPr lang="en-US" sz="2800" b="0" i="1" dirty="0">
                <a:latin typeface="+mn-lt"/>
                <a:cs typeface="+mn-cs"/>
              </a:rPr>
              <a:t>P</a:t>
            </a:r>
            <a:r>
              <a:rPr lang="en-US" sz="2800" b="0" i="1" baseline="-25000" dirty="0">
                <a:latin typeface="+mn-lt"/>
                <a:cs typeface="+mn-cs"/>
              </a:rPr>
              <a:t>C</a:t>
            </a:r>
            <a:r>
              <a:rPr lang="bg-BG" sz="2800" b="0" i="1" dirty="0">
                <a:latin typeface="+mn-lt"/>
                <a:cs typeface="+mn-cs"/>
              </a:rPr>
              <a:t>/</a:t>
            </a:r>
            <a:r>
              <a:rPr lang="en-US" sz="2800" b="0" i="1" dirty="0">
                <a:latin typeface="+mn-lt"/>
                <a:cs typeface="+mn-cs"/>
              </a:rPr>
              <a:t>P</a:t>
            </a:r>
            <a:r>
              <a:rPr lang="en-US" sz="2800" b="0" i="1" baseline="-25000" dirty="0">
                <a:latin typeface="+mn-lt"/>
                <a:cs typeface="+mn-cs"/>
              </a:rPr>
              <a:t>C</a:t>
            </a:r>
            <a:r>
              <a:rPr lang="en-US" sz="2800" b="0" i="1" dirty="0">
                <a:latin typeface="+mn-lt"/>
                <a:cs typeface="+mn-cs"/>
              </a:rPr>
              <a:t> </a:t>
            </a:r>
            <a:r>
              <a:rPr lang="en-US" sz="2800" b="0" dirty="0">
                <a:latin typeface="+mn-lt"/>
                <a:cs typeface="+mn-cs"/>
              </a:rPr>
              <a:t>= 10%</a:t>
            </a:r>
          </a:p>
          <a:p>
            <a:pPr marL="0" indent="0" fontAlgn="auto">
              <a:lnSpc>
                <a:spcPct val="120000"/>
              </a:lnSpc>
              <a:spcAft>
                <a:spcPts val="0"/>
              </a:spcAft>
              <a:buNone/>
              <a:defRPr/>
            </a:pPr>
            <a:r>
              <a:rPr lang="en-US" sz="2800" b="0" i="1" dirty="0">
                <a:latin typeface="+mn-lt"/>
                <a:cs typeface="+mn-cs"/>
              </a:rPr>
              <a:t>Shoes: </a:t>
            </a:r>
            <a:r>
              <a:rPr lang="en-US" sz="2800" b="0" dirty="0">
                <a:latin typeface="+mn-lt"/>
                <a:cs typeface="+mn-cs"/>
              </a:rPr>
              <a:t>Percentage increase in price = Δ</a:t>
            </a:r>
            <a:r>
              <a:rPr lang="en-US" sz="2800" b="0" i="1" dirty="0">
                <a:latin typeface="+mn-lt"/>
                <a:cs typeface="+mn-cs"/>
              </a:rPr>
              <a:t>P</a:t>
            </a:r>
            <a:r>
              <a:rPr lang="en-US" sz="2800" b="0" i="1" baseline="-25000" dirty="0">
                <a:latin typeface="+mn-lt"/>
                <a:cs typeface="+mn-cs"/>
              </a:rPr>
              <a:t>S</a:t>
            </a:r>
            <a:r>
              <a:rPr lang="en-US" sz="2800" b="0" i="1" dirty="0">
                <a:latin typeface="+mn-lt"/>
                <a:cs typeface="+mn-cs"/>
              </a:rPr>
              <a:t> /P</a:t>
            </a:r>
            <a:r>
              <a:rPr lang="en-US" sz="2800" b="0" i="1" baseline="-25000" dirty="0">
                <a:latin typeface="+mn-lt"/>
                <a:cs typeface="+mn-cs"/>
              </a:rPr>
              <a:t>S</a:t>
            </a:r>
            <a:r>
              <a:rPr lang="en-US" sz="2800" b="0" i="1" dirty="0">
                <a:latin typeface="+mn-lt"/>
                <a:cs typeface="+mn-cs"/>
              </a:rPr>
              <a:t> </a:t>
            </a:r>
            <a:r>
              <a:rPr lang="en-US" sz="2800" b="0" dirty="0">
                <a:latin typeface="+mn-lt"/>
                <a:cs typeface="+mn-cs"/>
              </a:rPr>
              <a:t>= 0%</a:t>
            </a:r>
            <a:endParaRPr lang="en-US" altLang="en-US" sz="2800" b="0" dirty="0">
              <a:latin typeface="+mn-lt"/>
              <a:cs typeface="+mn-cs"/>
            </a:endParaRPr>
          </a:p>
        </p:txBody>
      </p:sp>
    </p:spTree>
    <p:extLst>
      <p:ext uri="{BB962C8B-B14F-4D97-AF65-F5344CB8AC3E}">
        <p14:creationId xmlns:p14="http://schemas.microsoft.com/office/powerpoint/2010/main" val="338676235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9)</a:t>
            </a:r>
          </a:p>
        </p:txBody>
      </p:sp>
      <p:sp>
        <p:nvSpPr>
          <p:cNvPr id="2" name="Content Placeholder 1">
            <a:extLst>
              <a:ext uri="{FF2B5EF4-FFF2-40B4-BE49-F238E27FC236}">
                <a16:creationId xmlns:a16="http://schemas.microsoft.com/office/drawing/2014/main" id="{173270F3-3E3E-42A5-9038-00F4B32F958F}"/>
              </a:ext>
            </a:extLst>
          </p:cNvPr>
          <p:cNvSpPr>
            <a:spLocks noGrp="1"/>
          </p:cNvSpPr>
          <p:nvPr>
            <p:ph idx="1"/>
          </p:nvPr>
        </p:nvSpPr>
        <p:spPr>
          <a:xfrm>
            <a:off x="457200" y="1600200"/>
            <a:ext cx="8229600" cy="2556163"/>
          </a:xfrm>
        </p:spPr>
        <p:txBody>
          <a:bodyPr>
            <a:normAutofit/>
          </a:bodyPr>
          <a:lstStyle/>
          <a:p>
            <a:pPr marL="0" indent="0">
              <a:buNone/>
              <a:defRPr/>
            </a:pPr>
            <a:r>
              <a:rPr lang="en-US" altLang="en-US" sz="2400" b="1" dirty="0">
                <a:latin typeface="+mn-lt"/>
              </a:rPr>
              <a:t>Changes in the Real Wage and Rental: A Numerical Example</a:t>
            </a:r>
            <a:endParaRPr lang="en-US" sz="2400" b="0" dirty="0">
              <a:latin typeface="+mn-lt"/>
              <a:cs typeface="+mn-cs"/>
            </a:endParaRPr>
          </a:p>
          <a:p>
            <a:pPr>
              <a:defRPr/>
            </a:pPr>
            <a:r>
              <a:rPr lang="en-US" sz="2400" b="0" dirty="0">
                <a:latin typeface="+mn-lt"/>
                <a:cs typeface="+mn-cs"/>
              </a:rPr>
              <a:t>The rental on capital can be calculated by taking total sales revenue in each industry, subtracting the payments to labor, and dividing by the amount of capital.</a:t>
            </a:r>
          </a:p>
          <a:p>
            <a:pPr marL="449263" indent="-449263" fontAlgn="auto">
              <a:spcAft>
                <a:spcPts val="0"/>
              </a:spcAft>
              <a:buFont typeface="Arial" panose="020B0604020202020204" pitchFamily="34" charset="0"/>
              <a:buChar char="•"/>
              <a:defRPr/>
            </a:pPr>
            <a:r>
              <a:rPr lang="en-US" sz="2400" b="0" dirty="0">
                <a:latin typeface="+mn-lt"/>
                <a:cs typeface="+mn-cs"/>
              </a:rPr>
              <a:t>This calculation gives us the following formulas for the rental in each industry: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B4F472-EB08-403C-A700-DEE567EB7444}"/>
                  </a:ext>
                </a:extLst>
              </p:cNvPr>
              <p:cNvSpPr>
                <a:spLocks noGrp="1"/>
              </p:cNvSpPr>
              <p:nvPr>
                <p:ph sz="quarter" idx="10"/>
              </p:nvPr>
            </p:nvSpPr>
            <p:spPr>
              <a:xfrm>
                <a:off x="457200" y="4130930"/>
                <a:ext cx="8229600" cy="931861"/>
              </a:xfrm>
            </p:spPr>
            <p:txBody>
              <a:bodyPr/>
              <a:lstStyle/>
              <a:p>
                <a:pPr algn="ctr">
                  <a:buNone/>
                </a:pPr>
                <a14:m>
                  <m:oMath xmlns:m="http://schemas.openxmlformats.org/officeDocument/2006/math">
                    <m:r>
                      <a:rPr lang="en-US" sz="2800" i="1" smtClean="0">
                        <a:latin typeface="Cambria Math" panose="02040503050406030204" pitchFamily="18" charset="0"/>
                      </a:rPr>
                      <m:t>𝑅</m:t>
                    </m:r>
                    <m:r>
                      <a:rPr lang="en-US" sz="2800" i="1">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𝑄</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𝐿</m:t>
                            </m:r>
                          </m:e>
                          <m:sub>
                            <m:r>
                              <a:rPr lang="en-US" sz="2800" i="1">
                                <a:latin typeface="Cambria Math" panose="02040503050406030204" pitchFamily="18" charset="0"/>
                                <a:ea typeface="Cambria Math" panose="02040503050406030204" pitchFamily="18" charset="0"/>
                              </a:rPr>
                              <m:t>𝐶</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𝐾</m:t>
                            </m:r>
                          </m:e>
                          <m:sub>
                            <m:r>
                              <a:rPr lang="en-US" sz="2800" i="1">
                                <a:latin typeface="Cambria Math" panose="02040503050406030204" pitchFamily="18" charset="0"/>
                                <a:ea typeface="Cambria Math" panose="02040503050406030204" pitchFamily="18" charset="0"/>
                              </a:rPr>
                              <m:t>𝐶</m:t>
                            </m:r>
                          </m:sub>
                        </m:sSub>
                      </m:den>
                    </m:f>
                  </m:oMath>
                </a14:m>
                <a:r>
                  <a:rPr lang="en-US" sz="2800" b="0" dirty="0">
                    <a:latin typeface="+mn-lt"/>
                    <a:cs typeface="Arial" panose="020B0604020202020204" pitchFamily="34" charset="0"/>
                  </a:rPr>
                  <a:t>, </a:t>
                </a:r>
                <a:r>
                  <a:rPr lang="en-US" sz="2400" b="0" dirty="0">
                    <a:latin typeface="Arial" panose="020B0604020202020204" pitchFamily="34" charset="0"/>
                    <a:cs typeface="Arial" panose="020B0604020202020204" pitchFamily="34" charset="0"/>
                  </a:rPr>
                  <a:t>for computers</a:t>
                </a:r>
              </a:p>
            </p:txBody>
          </p:sp>
        </mc:Choice>
        <mc:Fallback xmlns="">
          <p:sp>
            <p:nvSpPr>
              <p:cNvPr id="3" name="Content Placeholder 2">
                <a:extLst>
                  <a:ext uri="{FF2B5EF4-FFF2-40B4-BE49-F238E27FC236}">
                    <a16:creationId xmlns:a16="http://schemas.microsoft.com/office/drawing/2014/main" id="{06B4F472-EB08-403C-A700-DEE567EB7444}"/>
                  </a:ext>
                </a:extLst>
              </p:cNvPr>
              <p:cNvSpPr>
                <a:spLocks noGrp="1" noRot="1" noChangeAspect="1" noMove="1" noResize="1" noEditPoints="1" noAdjustHandles="1" noChangeArrowheads="1" noChangeShapeType="1" noTextEdit="1"/>
              </p:cNvSpPr>
              <p:nvPr>
                <p:ph sz="quarter" idx="10"/>
              </p:nvPr>
            </p:nvSpPr>
            <p:spPr>
              <a:xfrm>
                <a:off x="457200" y="4130930"/>
                <a:ext cx="8229600" cy="931861"/>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B0C6B3CC-0F0A-4DC6-A8F5-BF3D6FA83828}"/>
                  </a:ext>
                </a:extLst>
              </p:cNvPr>
              <p:cNvSpPr>
                <a:spLocks noGrp="1"/>
              </p:cNvSpPr>
              <p:nvPr>
                <p:ph sz="quarter" idx="13"/>
              </p:nvPr>
            </p:nvSpPr>
            <p:spPr>
              <a:xfrm>
                <a:off x="1494429" y="5245331"/>
                <a:ext cx="6155141" cy="1027116"/>
              </a:xfrm>
            </p:spPr>
            <p:txBody>
              <a:bodyPr/>
              <a:lstStyle/>
              <a:p>
                <a:pPr algn="ctr">
                  <a:buNone/>
                </a:pPr>
                <a14:m>
                  <m:oMath xmlns:m="http://schemas.openxmlformats.org/officeDocument/2006/math">
                    <m:r>
                      <a:rPr lang="en-US" sz="2800" smtClean="0">
                        <a:latin typeface="Cambria Math" panose="02040503050406030204" pitchFamily="18" charset="0"/>
                        <a:cs typeface="Times New Roman" panose="02020603050405020304" pitchFamily="18" charset="0"/>
                      </a:rPr>
                      <m:t>𝑅</m:t>
                    </m:r>
                    <m:r>
                      <a:rPr lang="en-US" sz="2800">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𝑃</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𝑄</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r>
                          <a:rPr lang="en-US" sz="2800">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𝑊</m:t>
                        </m:r>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𝐿</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num>
                      <m:den>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𝐾</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den>
                    </m:f>
                  </m:oMath>
                </a14:m>
                <a:r>
                  <a:rPr lang="en-US" sz="2400" b="0" dirty="0">
                    <a:latin typeface="Arial" panose="020B0604020202020204" pitchFamily="34" charset="0"/>
                    <a:cs typeface="Arial" panose="020B0604020202020204" pitchFamily="34" charset="0"/>
                  </a:rPr>
                  <a:t>, for shoes</a:t>
                </a:r>
              </a:p>
            </p:txBody>
          </p:sp>
        </mc:Choice>
        <mc:Fallback xmlns="">
          <p:sp>
            <p:nvSpPr>
              <p:cNvPr id="9" name="Content Placeholder 8">
                <a:extLst>
                  <a:ext uri="{FF2B5EF4-FFF2-40B4-BE49-F238E27FC236}">
                    <a16:creationId xmlns:a16="http://schemas.microsoft.com/office/drawing/2014/main" id="{B0C6B3CC-0F0A-4DC6-A8F5-BF3D6FA83828}"/>
                  </a:ext>
                </a:extLst>
              </p:cNvPr>
              <p:cNvSpPr>
                <a:spLocks noGrp="1" noRot="1" noChangeAspect="1" noMove="1" noResize="1" noEditPoints="1" noAdjustHandles="1" noChangeArrowheads="1" noChangeShapeType="1" noTextEdit="1"/>
              </p:cNvSpPr>
              <p:nvPr>
                <p:ph sz="quarter" idx="13"/>
              </p:nvPr>
            </p:nvSpPr>
            <p:spPr>
              <a:xfrm>
                <a:off x="1494429" y="5245331"/>
                <a:ext cx="6155141" cy="1027116"/>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305854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10)</a:t>
            </a:r>
          </a:p>
        </p:txBody>
      </p:sp>
      <p:sp>
        <p:nvSpPr>
          <p:cNvPr id="2" name="Content Placeholder 1">
            <a:extLst>
              <a:ext uri="{FF2B5EF4-FFF2-40B4-BE49-F238E27FC236}">
                <a16:creationId xmlns:a16="http://schemas.microsoft.com/office/drawing/2014/main" id="{173270F3-3E3E-42A5-9038-00F4B32F958F}"/>
              </a:ext>
            </a:extLst>
          </p:cNvPr>
          <p:cNvSpPr>
            <a:spLocks noGrp="1"/>
          </p:cNvSpPr>
          <p:nvPr>
            <p:ph idx="1"/>
          </p:nvPr>
        </p:nvSpPr>
        <p:spPr>
          <a:xfrm>
            <a:off x="457200" y="1600200"/>
            <a:ext cx="8229600" cy="2556163"/>
          </a:xfrm>
        </p:spPr>
        <p:txBody>
          <a:bodyPr>
            <a:normAutofit/>
          </a:bodyPr>
          <a:lstStyle/>
          <a:p>
            <a:pPr marL="0" indent="0">
              <a:buNone/>
              <a:defRPr/>
            </a:pPr>
            <a:r>
              <a:rPr lang="en-US" altLang="en-US" sz="2400" b="1" dirty="0">
                <a:latin typeface="+mn-lt"/>
              </a:rPr>
              <a:t>Changes in the Real Wage and Rental: A Numerical Example</a:t>
            </a:r>
            <a:endParaRPr lang="en-US" sz="2400" b="0" dirty="0">
              <a:latin typeface="+mn-lt"/>
              <a:cs typeface="+mn-cs"/>
            </a:endParaRPr>
          </a:p>
          <a:p>
            <a:pPr marL="449263" indent="-449263">
              <a:buFont typeface="Arial" panose="020B0604020202020204" pitchFamily="34" charset="0"/>
              <a:buChar char="•"/>
            </a:pPr>
            <a:r>
              <a:rPr lang="en-US" sz="2400" b="0" dirty="0">
                <a:latin typeface="+mn-lt"/>
              </a:rPr>
              <a:t>The price of computers has risen, so Δ </a:t>
            </a:r>
            <a:r>
              <a:rPr lang="en-US" sz="2400" b="0" i="1" dirty="0">
                <a:latin typeface="+mn-lt"/>
              </a:rPr>
              <a:t>P</a:t>
            </a:r>
            <a:r>
              <a:rPr lang="en-US" sz="2400" b="0" i="1" baseline="-25000" dirty="0">
                <a:latin typeface="+mn-lt"/>
              </a:rPr>
              <a:t>C</a:t>
            </a:r>
            <a:r>
              <a:rPr lang="en-US" sz="2400" b="0" i="1" dirty="0">
                <a:latin typeface="+mn-lt"/>
              </a:rPr>
              <a:t> </a:t>
            </a:r>
            <a:r>
              <a:rPr lang="en-US" sz="2400" b="0" dirty="0">
                <a:latin typeface="+mn-lt"/>
              </a:rPr>
              <a:t>&gt; 0, holding fixed the price of shoes, Δ </a:t>
            </a:r>
            <a:r>
              <a:rPr lang="en-US" sz="2400" b="0" i="1" dirty="0">
                <a:latin typeface="+mn-lt"/>
              </a:rPr>
              <a:t>P</a:t>
            </a:r>
            <a:r>
              <a:rPr lang="en-US" sz="2400" b="0" i="1" baseline="-25000" dirty="0">
                <a:latin typeface="+mn-lt"/>
              </a:rPr>
              <a:t>S</a:t>
            </a:r>
            <a:r>
              <a:rPr lang="en-US" sz="2400" b="0" i="1" dirty="0">
                <a:latin typeface="+mn-lt"/>
              </a:rPr>
              <a:t> </a:t>
            </a:r>
            <a:r>
              <a:rPr lang="en-US" sz="2400" b="0" dirty="0">
                <a:latin typeface="+mn-lt"/>
              </a:rPr>
              <a:t>= 0.</a:t>
            </a:r>
            <a:endParaRPr lang="en-US" sz="1000" b="0" dirty="0">
              <a:latin typeface="+mn-lt"/>
            </a:endParaRPr>
          </a:p>
          <a:p>
            <a:pPr marL="449263" indent="-449263">
              <a:buFont typeface="Arial" panose="020B0604020202020204" pitchFamily="34" charset="0"/>
              <a:buChar char="•"/>
            </a:pPr>
            <a:r>
              <a:rPr lang="en-US" sz="2400" b="0" dirty="0">
                <a:latin typeface="+mn-lt"/>
              </a:rPr>
              <a:t>We can trace through how this affects the rental by changing </a:t>
            </a:r>
            <a:r>
              <a:rPr lang="en-US" sz="2400" b="0" i="1" dirty="0">
                <a:latin typeface="+mn-lt"/>
              </a:rPr>
              <a:t>P</a:t>
            </a:r>
            <a:r>
              <a:rPr lang="en-US" sz="2400" b="0" i="1" baseline="-25000" dirty="0">
                <a:latin typeface="+mn-lt"/>
              </a:rPr>
              <a:t>C</a:t>
            </a:r>
            <a:r>
              <a:rPr lang="en-US" sz="2400" b="0" i="1" dirty="0">
                <a:latin typeface="+mn-lt"/>
              </a:rPr>
              <a:t> </a:t>
            </a:r>
            <a:r>
              <a:rPr lang="en-US" sz="2400" b="0" dirty="0">
                <a:latin typeface="+mn-lt"/>
              </a:rPr>
              <a:t>and </a:t>
            </a:r>
            <a:r>
              <a:rPr lang="en-US" sz="2400" b="0" i="1" dirty="0">
                <a:latin typeface="+mn-lt"/>
              </a:rPr>
              <a:t>W </a:t>
            </a:r>
            <a:r>
              <a:rPr lang="en-US" sz="2400" b="0" dirty="0">
                <a:latin typeface="+mn-lt"/>
              </a:rPr>
              <a:t>in the previous two equations: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D51E18C-A681-4C6E-BBCF-1DB665BBB8A5}"/>
                  </a:ext>
                </a:extLst>
              </p:cNvPr>
              <p:cNvSpPr>
                <a:spLocks noGrp="1"/>
              </p:cNvSpPr>
              <p:nvPr>
                <p:ph sz="quarter" idx="10"/>
              </p:nvPr>
            </p:nvSpPr>
            <p:spPr>
              <a:xfrm>
                <a:off x="457200" y="4325938"/>
                <a:ext cx="8229600" cy="919393"/>
              </a:xfrm>
            </p:spPr>
            <p:txBody>
              <a:bodyPr/>
              <a:lstStyle/>
              <a:p>
                <a:pPr algn="ctr">
                  <a:buNone/>
                </a:pPr>
                <a14:m>
                  <m:oMath xmlns:m="http://schemas.openxmlformats.org/officeDocument/2006/math">
                    <m:r>
                      <a:rPr lang="en-US" sz="2800" i="1" smtClean="0">
                        <a:latin typeface="Cambria Math" panose="02040503050406030204" pitchFamily="18" charset="0"/>
                      </a:rPr>
                      <m:t>𝑅</m:t>
                    </m:r>
                    <m:r>
                      <a:rPr lang="en-US" sz="2800" i="1">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𝑄</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r>
                          <a:rPr lang="en-US" sz="280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𝐿</m:t>
                            </m:r>
                          </m:e>
                          <m:sub>
                            <m:r>
                              <a:rPr lang="en-US" sz="2800" i="1">
                                <a:latin typeface="Cambria Math" panose="02040503050406030204" pitchFamily="18" charset="0"/>
                                <a:ea typeface="Cambria Math" panose="02040503050406030204" pitchFamily="18" charset="0"/>
                              </a:rPr>
                              <m:t>𝐶</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𝐾</m:t>
                            </m:r>
                          </m:e>
                          <m:sub>
                            <m:r>
                              <a:rPr lang="en-US" sz="2800" i="1">
                                <a:latin typeface="Cambria Math" panose="02040503050406030204" pitchFamily="18" charset="0"/>
                                <a:ea typeface="Cambria Math" panose="02040503050406030204" pitchFamily="18" charset="0"/>
                              </a:rPr>
                              <m:t>𝐶</m:t>
                            </m:r>
                          </m:sub>
                        </m:sSub>
                      </m:den>
                    </m:f>
                  </m:oMath>
                </a14:m>
                <a:r>
                  <a:rPr lang="en-US" sz="2800" b="0" dirty="0">
                    <a:latin typeface="+mn-lt"/>
                    <a:cs typeface="Arial" panose="020B0604020202020204" pitchFamily="34" charset="0"/>
                  </a:rPr>
                  <a:t>, </a:t>
                </a:r>
                <a:r>
                  <a:rPr lang="en-US" sz="2400" b="0" dirty="0">
                    <a:latin typeface="Arial" panose="020B0604020202020204" pitchFamily="34" charset="0"/>
                    <a:cs typeface="Arial" panose="020B0604020202020204" pitchFamily="34" charset="0"/>
                  </a:rPr>
                  <a:t>for computers</a:t>
                </a:r>
              </a:p>
            </p:txBody>
          </p:sp>
        </mc:Choice>
        <mc:Fallback xmlns="">
          <p:sp>
            <p:nvSpPr>
              <p:cNvPr id="5" name="Content Placeholder 4">
                <a:extLst>
                  <a:ext uri="{FF2B5EF4-FFF2-40B4-BE49-F238E27FC236}">
                    <a16:creationId xmlns:a16="http://schemas.microsoft.com/office/drawing/2014/main" id="{2D51E18C-A681-4C6E-BBCF-1DB665BBB8A5}"/>
                  </a:ext>
                </a:extLst>
              </p:cNvPr>
              <p:cNvSpPr>
                <a:spLocks noGrp="1" noRot="1" noChangeAspect="1" noMove="1" noResize="1" noEditPoints="1" noAdjustHandles="1" noChangeArrowheads="1" noChangeShapeType="1" noTextEdit="1"/>
              </p:cNvSpPr>
              <p:nvPr>
                <p:ph sz="quarter" idx="10"/>
              </p:nvPr>
            </p:nvSpPr>
            <p:spPr>
              <a:xfrm>
                <a:off x="457200" y="4325938"/>
                <a:ext cx="8229600" cy="919393"/>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0D627EF8-FD96-4D4C-B80D-F8B554A6BF4A}"/>
                  </a:ext>
                </a:extLst>
              </p:cNvPr>
              <p:cNvSpPr>
                <a:spLocks noGrp="1"/>
              </p:cNvSpPr>
              <p:nvPr>
                <p:ph sz="quarter" idx="13"/>
              </p:nvPr>
            </p:nvSpPr>
            <p:spPr>
              <a:xfrm>
                <a:off x="1263535" y="5328635"/>
                <a:ext cx="5802284" cy="804863"/>
              </a:xfrm>
            </p:spPr>
            <p:txBody>
              <a:bodyPr>
                <a:normAutofit/>
              </a:bodyPr>
              <a:lstStyle/>
              <a:p>
                <a:pPr algn="ctr">
                  <a:buNone/>
                </a:pPr>
                <a14:m>
                  <m:oMath xmlns:m="http://schemas.openxmlformats.org/officeDocument/2006/math">
                    <m:r>
                      <a:rPr lang="en-US" sz="2800" smtClean="0">
                        <a:latin typeface="Cambria Math" panose="02040503050406030204" pitchFamily="18" charset="0"/>
                        <a:cs typeface="Times New Roman" panose="02020603050405020304" pitchFamily="18" charset="0"/>
                      </a:rPr>
                      <m:t>𝑅</m:t>
                    </m:r>
                    <m:r>
                      <a:rPr lang="en-US" sz="2800">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fPr>
                      <m:num>
                        <m:r>
                          <a:rPr lang="en-US" sz="2800" smtClean="0">
                            <a:latin typeface="Cambria Math" panose="02040503050406030204" pitchFamily="18" charset="0"/>
                            <a:ea typeface="Cambria Math" panose="02040503050406030204" pitchFamily="18" charset="0"/>
                            <a:cs typeface="Times New Roman" panose="02020603050405020304" pitchFamily="18" charset="0"/>
                          </a:rPr>
                          <m:t>0</m:t>
                        </m:r>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𝑄</m:t>
                            </m:r>
                          </m:e>
                          <m:sub>
                            <m:r>
                              <a:rPr lang="en-US" sz="2800" smtClean="0">
                                <a:latin typeface="Cambria Math" panose="02040503050406030204" pitchFamily="18" charset="0"/>
                                <a:ea typeface="Cambria Math" panose="02040503050406030204" pitchFamily="18" charset="0"/>
                                <a:cs typeface="Times New Roman" panose="02020603050405020304" pitchFamily="18" charset="0"/>
                              </a:rPr>
                              <m:t>𝐶</m:t>
                            </m:r>
                          </m:sub>
                        </m:sSub>
                        <m:r>
                          <a:rPr lang="en-US" sz="2800">
                            <a:latin typeface="Cambria Math" panose="02040503050406030204" pitchFamily="18" charset="0"/>
                            <a:ea typeface="Cambria Math" panose="02040503050406030204" pitchFamily="18" charset="0"/>
                            <a:cs typeface="Times New Roman" panose="02020603050405020304" pitchFamily="18" charset="0"/>
                          </a:rPr>
                          <m:t>−</m:t>
                        </m:r>
                        <m:r>
                          <a:rPr lang="en-US" sz="2800" smtClean="0">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𝑊</m:t>
                        </m:r>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𝐿</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num>
                      <m:den>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𝐾</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den>
                    </m:f>
                  </m:oMath>
                </a14:m>
                <a:r>
                  <a:rPr lang="en-US" sz="2400" b="0" dirty="0">
                    <a:latin typeface="Arial" panose="020B0604020202020204" pitchFamily="34" charset="0"/>
                    <a:cs typeface="Arial" panose="020B0604020202020204" pitchFamily="34" charset="0"/>
                  </a:rPr>
                  <a:t>, for shoes</a:t>
                </a:r>
              </a:p>
            </p:txBody>
          </p:sp>
        </mc:Choice>
        <mc:Fallback xmlns="">
          <p:sp>
            <p:nvSpPr>
              <p:cNvPr id="7" name="Content Placeholder 6">
                <a:extLst>
                  <a:ext uri="{FF2B5EF4-FFF2-40B4-BE49-F238E27FC236}">
                    <a16:creationId xmlns:a16="http://schemas.microsoft.com/office/drawing/2014/main" id="{0D627EF8-FD96-4D4C-B80D-F8B554A6BF4A}"/>
                  </a:ext>
                </a:extLst>
              </p:cNvPr>
              <p:cNvSpPr>
                <a:spLocks noGrp="1" noRot="1" noChangeAspect="1" noMove="1" noResize="1" noEditPoints="1" noAdjustHandles="1" noChangeArrowheads="1" noChangeShapeType="1" noTextEdit="1"/>
              </p:cNvSpPr>
              <p:nvPr>
                <p:ph sz="quarter" idx="13"/>
              </p:nvPr>
            </p:nvSpPr>
            <p:spPr>
              <a:xfrm>
                <a:off x="1263535" y="5328635"/>
                <a:ext cx="5802284" cy="804863"/>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9007394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54B-A863-4511-82BE-18A58149B7C4}"/>
              </a:ext>
            </a:extLst>
          </p:cNvPr>
          <p:cNvSpPr>
            <a:spLocks noGrp="1"/>
          </p:cNvSpPr>
          <p:nvPr>
            <p:ph type="title"/>
          </p:nvPr>
        </p:nvSpPr>
        <p:spPr/>
        <p:txBody>
          <a:bodyPr/>
          <a:lstStyle/>
          <a:p>
            <a:r>
              <a:rPr lang="en-US" dirty="0"/>
              <a:t>2)  Effects of Trade on Factor Prices </a:t>
            </a:r>
            <a:br>
              <a:rPr lang="en-US" dirty="0"/>
            </a:br>
            <a:r>
              <a:rPr lang="en-US" dirty="0"/>
              <a:t>(part 11)</a:t>
            </a:r>
            <a:endParaRPr lang="en-IN" dirty="0"/>
          </a:p>
        </p:txBody>
      </p:sp>
      <p:sp>
        <p:nvSpPr>
          <p:cNvPr id="3" name="Content Placeholder 2">
            <a:extLst>
              <a:ext uri="{FF2B5EF4-FFF2-40B4-BE49-F238E27FC236}">
                <a16:creationId xmlns:a16="http://schemas.microsoft.com/office/drawing/2014/main" id="{3035EF76-9A05-4A42-A057-892957D4EF42}"/>
              </a:ext>
            </a:extLst>
          </p:cNvPr>
          <p:cNvSpPr>
            <a:spLocks noGrp="1"/>
          </p:cNvSpPr>
          <p:nvPr>
            <p:ph idx="1"/>
          </p:nvPr>
        </p:nvSpPr>
        <p:spPr>
          <a:xfrm>
            <a:off x="457200" y="1600201"/>
            <a:ext cx="8229600" cy="1516371"/>
          </a:xfrm>
        </p:spPr>
        <p:txBody>
          <a:bodyPr>
            <a:normAutofit/>
          </a:bodyPr>
          <a:lstStyle/>
          <a:p>
            <a:pPr marL="0" indent="0">
              <a:buNone/>
            </a:pPr>
            <a:r>
              <a:rPr lang="en-US" sz="2000" dirty="0"/>
              <a:t>Changes in the Real Wage and Rental: A Numerical Example</a:t>
            </a:r>
          </a:p>
          <a:p>
            <a:r>
              <a:rPr lang="en-US" sz="2000" b="0" dirty="0"/>
              <a:t>It is convenient to work with percentage changes in the variables. We can introduce these terms into the preceding formulas by rewriting them as:</a:t>
            </a:r>
          </a:p>
        </p:txBody>
      </p:sp>
      <p:sp>
        <p:nvSpPr>
          <p:cNvPr id="4" name="Content Placeholder 3">
            <a:extLst>
              <a:ext uri="{FF2B5EF4-FFF2-40B4-BE49-F238E27FC236}">
                <a16:creationId xmlns:a16="http://schemas.microsoft.com/office/drawing/2014/main" id="{15406F21-C864-4944-BE7C-62167950D661}"/>
              </a:ext>
            </a:extLst>
          </p:cNvPr>
          <p:cNvSpPr>
            <a:spLocks noGrp="1"/>
          </p:cNvSpPr>
          <p:nvPr>
            <p:ph sz="quarter" idx="10"/>
          </p:nvPr>
        </p:nvSpPr>
        <p:spPr>
          <a:xfrm>
            <a:off x="457200" y="4325938"/>
            <a:ext cx="8229600" cy="423862"/>
          </a:xfrm>
        </p:spPr>
        <p:txBody>
          <a:bodyPr>
            <a:normAutofit/>
          </a:bodyPr>
          <a:lstStyle/>
          <a:p>
            <a:r>
              <a:rPr lang="en-US" sz="2000" b="0" dirty="0"/>
              <a:t>Plug the above data for shoes and computers into these formulas: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06273E8-3074-4BE9-9C47-38EFFB5439C4}"/>
                  </a:ext>
                </a:extLst>
              </p:cNvPr>
              <p:cNvSpPr>
                <a:spLocks noGrp="1"/>
              </p:cNvSpPr>
              <p:nvPr>
                <p:ph sz="quarter" idx="13"/>
              </p:nvPr>
            </p:nvSpPr>
            <p:spPr>
              <a:xfrm>
                <a:off x="1555865" y="2999494"/>
                <a:ext cx="6032269" cy="1027288"/>
              </a:xfrm>
            </p:spPr>
            <p:txBody>
              <a:bodyPr>
                <a:noAutofit/>
              </a:bodyPr>
              <a:lstStyle/>
              <a:p>
                <a:pPr marL="0" indent="0" algn="ctr">
                  <a:spcAft>
                    <a:spcPts val="1200"/>
                  </a:spcAft>
                  <a:buNone/>
                </a:pPr>
                <a14:m>
                  <m:oMath xmlns:m="http://schemas.openxmlformats.org/officeDocument/2006/math">
                    <m:f>
                      <m:fPr>
                        <m:ctrlPr>
                          <a:rPr lang="en-US" sz="2000" i="1" smtClean="0">
                            <a:latin typeface="Cambria Math" panose="02040503050406030204" pitchFamily="18" charset="0"/>
                          </a:rPr>
                        </m:ctrlPr>
                      </m:fPr>
                      <m:num>
                        <m:r>
                          <m:rPr>
                            <m:sty m:val="p"/>
                          </m:rPr>
                          <a:rPr lang="el-GR" sz="2000">
                            <a:latin typeface="Cambria Math" panose="02040503050406030204" pitchFamily="18" charset="0"/>
                          </a:rPr>
                          <m:t>Δ</m:t>
                        </m:r>
                        <m:r>
                          <a:rPr lang="en-US" sz="2000" i="1">
                            <a:latin typeface="Cambria Math" panose="02040503050406030204" pitchFamily="18" charset="0"/>
                          </a:rPr>
                          <m:t>𝑅</m:t>
                        </m:r>
                      </m:num>
                      <m:den>
                        <m:r>
                          <a:rPr lang="en-US" sz="2000" i="1">
                            <a:latin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𝐶</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𝐶</m:t>
                                </m:r>
                              </m:sub>
                            </m:sSub>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sub>
                            </m:sSub>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𝑄</m:t>
                                </m:r>
                              </m:e>
                              <m:sub>
                                <m:r>
                                  <a:rPr lang="en-US" sz="2000" b="0" i="1">
                                    <a:latin typeface="Cambria Math" panose="02040503050406030204" pitchFamily="18" charset="0"/>
                                    <a:ea typeface="Cambria Math" panose="02040503050406030204" pitchFamily="18" charset="0"/>
                                  </a:rPr>
                                  <m:t>𝐶</m:t>
                                </m:r>
                              </m:sub>
                            </m:sSub>
                          </m:num>
                          <m:den>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𝐶</m:t>
                                </m:r>
                              </m:sub>
                            </m:sSub>
                          </m:den>
                        </m:f>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𝑊</m:t>
                            </m:r>
                          </m:num>
                          <m:den>
                            <m:r>
                              <a:rPr lang="en-US" sz="2000" i="1">
                                <a:latin typeface="Cambria Math" panose="02040503050406030204" pitchFamily="18" charset="0"/>
                                <a:ea typeface="Cambria Math" panose="02040503050406030204" pitchFamily="18" charset="0"/>
                              </a:rPr>
                              <m:t>𝑊</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𝑊</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𝐿</m:t>
                                </m:r>
                              </m:e>
                              <m:sub>
                                <m:r>
                                  <a:rPr lang="en-US" sz="2000" i="1">
                                    <a:latin typeface="Cambria Math" panose="02040503050406030204" pitchFamily="18" charset="0"/>
                                    <a:ea typeface="Cambria Math" panose="02040503050406030204" pitchFamily="18" charset="0"/>
                                  </a:rPr>
                                  <m:t>𝐶</m:t>
                                </m:r>
                              </m:sub>
                            </m:sSub>
                          </m:num>
                          <m:den>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𝐶</m:t>
                                </m:r>
                              </m:sub>
                            </m:sSub>
                          </m:den>
                        </m:f>
                      </m:e>
                    </m:d>
                  </m:oMath>
                </a14:m>
                <a:r>
                  <a:rPr lang="en-US" sz="2000" dirty="0">
                    <a:latin typeface="+mn-lt"/>
                  </a:rPr>
                  <a:t>, </a:t>
                </a:r>
                <a:r>
                  <a:rPr lang="en-US" sz="2000" b="0" dirty="0">
                    <a:latin typeface="+mn-lt"/>
                  </a:rPr>
                  <a:t>for computers</a:t>
                </a:r>
              </a:p>
              <a:p>
                <a:pPr marL="0" indent="0" algn="ctr">
                  <a:buNone/>
                </a:pPr>
                <a:r>
                  <a:rPr lang="en-US" sz="2000" dirty="0">
                    <a:latin typeface="+mn-lt"/>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m:t>
                        </m:r>
                      </m:num>
                      <m:den>
                        <m:r>
                          <a:rPr lang="en-US" sz="2000" i="1">
                            <a:latin typeface="Cambria Math" panose="02040503050406030204" pitchFamily="18" charset="0"/>
                            <a:ea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𝑊</m:t>
                            </m:r>
                          </m:num>
                          <m:den>
                            <m:r>
                              <a:rPr lang="en-US" sz="2000" i="1">
                                <a:latin typeface="Cambria Math" panose="02040503050406030204" pitchFamily="18" charset="0"/>
                                <a:ea typeface="Cambria Math" panose="02040503050406030204" pitchFamily="18" charset="0"/>
                              </a:rPr>
                              <m:t>𝑊</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𝑊</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𝐿</m:t>
                                </m:r>
                              </m:e>
                              <m:sub>
                                <m:r>
                                  <a:rPr lang="en-US" sz="2000" i="1">
                                    <a:latin typeface="Cambria Math" panose="02040503050406030204" pitchFamily="18" charset="0"/>
                                    <a:ea typeface="Cambria Math" panose="02040503050406030204" pitchFamily="18" charset="0"/>
                                  </a:rPr>
                                  <m:t>𝑆</m:t>
                                </m:r>
                              </m:sub>
                            </m:sSub>
                          </m:num>
                          <m:den>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𝑆</m:t>
                                </m:r>
                              </m:sub>
                            </m:sSub>
                          </m:den>
                        </m:f>
                        <m:r>
                          <a:rPr lang="en-US" sz="2000" i="1">
                            <a:latin typeface="Cambria Math" panose="02040503050406030204" pitchFamily="18" charset="0"/>
                            <a:ea typeface="Cambria Math" panose="02040503050406030204" pitchFamily="18" charset="0"/>
                          </a:rPr>
                          <m:t> </m:t>
                        </m:r>
                      </m:e>
                    </m:d>
                    <m:r>
                      <a:rPr lang="en-US" sz="2000" i="1">
                        <a:latin typeface="Cambria Math" panose="02040503050406030204" pitchFamily="18" charset="0"/>
                        <a:ea typeface="Cambria Math" panose="02040503050406030204" pitchFamily="18" charset="0"/>
                      </a:rPr>
                      <m:t>, </m:t>
                    </m:r>
                    <m:r>
                      <m:rPr>
                        <m:sty m:val="p"/>
                      </m:rPr>
                      <a:rPr lang="en-US" sz="2000" b="0">
                        <a:latin typeface="Cambria Math" panose="02040503050406030204" pitchFamily="18" charset="0"/>
                        <a:ea typeface="Cambria Math" panose="02040503050406030204" pitchFamily="18" charset="0"/>
                      </a:rPr>
                      <m:t>f</m:t>
                    </m:r>
                    <m:r>
                      <m:rPr>
                        <m:sty m:val="p"/>
                      </m:rPr>
                      <a:rPr lang="en-US" sz="2000">
                        <a:latin typeface="Cambria Math" panose="02040503050406030204" pitchFamily="18" charset="0"/>
                        <a:ea typeface="Cambria Math" panose="02040503050406030204" pitchFamily="18" charset="0"/>
                      </a:rPr>
                      <m:t>or</m:t>
                    </m:r>
                    <m:r>
                      <a:rPr lang="en-US" sz="2000">
                        <a:latin typeface="Cambria Math" panose="02040503050406030204" pitchFamily="18" charset="0"/>
                        <a:ea typeface="Cambria Math" panose="02040503050406030204" pitchFamily="18" charset="0"/>
                      </a:rPr>
                      <m:t> </m:t>
                    </m:r>
                    <m:r>
                      <m:rPr>
                        <m:sty m:val="p"/>
                      </m:rPr>
                      <a:rPr lang="en-US" sz="2000">
                        <a:latin typeface="Cambria Math" panose="02040503050406030204" pitchFamily="18" charset="0"/>
                        <a:ea typeface="Cambria Math" panose="02040503050406030204" pitchFamily="18" charset="0"/>
                      </a:rPr>
                      <m:t>shoes</m:t>
                    </m:r>
                  </m:oMath>
                </a14:m>
                <a:endParaRPr lang="en-US" sz="2000" b="0" dirty="0">
                  <a:latin typeface="+mn-lt"/>
                </a:endParaRPr>
              </a:p>
            </p:txBody>
          </p:sp>
        </mc:Choice>
        <mc:Fallback xmlns="">
          <p:sp>
            <p:nvSpPr>
              <p:cNvPr id="7" name="Content Placeholder 6">
                <a:extLst>
                  <a:ext uri="{FF2B5EF4-FFF2-40B4-BE49-F238E27FC236}">
                    <a16:creationId xmlns:a16="http://schemas.microsoft.com/office/drawing/2014/main" id="{A06273E8-3074-4BE9-9C47-38EFFB5439C4}"/>
                  </a:ext>
                </a:extLst>
              </p:cNvPr>
              <p:cNvSpPr>
                <a:spLocks noGrp="1" noRot="1" noChangeAspect="1" noMove="1" noResize="1" noEditPoints="1" noAdjustHandles="1" noChangeArrowheads="1" noChangeShapeType="1" noTextEdit="1"/>
              </p:cNvSpPr>
              <p:nvPr>
                <p:ph sz="quarter" idx="13"/>
              </p:nvPr>
            </p:nvSpPr>
            <p:spPr>
              <a:xfrm>
                <a:off x="1555865" y="2999494"/>
                <a:ext cx="6032269" cy="1027288"/>
              </a:xfrm>
              <a:blipFill>
                <a:blip r:embed="rId2"/>
                <a:stretch>
                  <a:fillRect b="-23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ADAEC89-4067-47E2-B564-7762866B1BF3}"/>
                  </a:ext>
                </a:extLst>
              </p:cNvPr>
              <p:cNvSpPr>
                <a:spLocks noGrp="1"/>
              </p:cNvSpPr>
              <p:nvPr>
                <p:ph sz="quarter" idx="14"/>
              </p:nvPr>
            </p:nvSpPr>
            <p:spPr>
              <a:xfrm>
                <a:off x="1312024" y="4792070"/>
                <a:ext cx="6519950" cy="1268009"/>
              </a:xfrm>
            </p:spPr>
            <p:txBody>
              <a:bodyPr>
                <a:normAutofit/>
              </a:bodyPr>
              <a:lstStyle/>
              <a:p>
                <a:pPr marL="0" indent="0" algn="ctr">
                  <a:spcAft>
                    <a:spcPts val="1200"/>
                  </a:spcAft>
                  <a:buNone/>
                </a:pPr>
                <a14:m>
                  <m:oMath xmlns:m="http://schemas.openxmlformats.org/officeDocument/2006/math">
                    <m:f>
                      <m:fPr>
                        <m:ctrlPr>
                          <a:rPr lang="en-US" sz="2000" i="1" smtClean="0">
                            <a:latin typeface="Cambria Math" panose="02040503050406030204" pitchFamily="18" charset="0"/>
                          </a:rPr>
                        </m:ctrlPr>
                      </m:fPr>
                      <m:num>
                        <m:r>
                          <m:rPr>
                            <m:sty m:val="p"/>
                          </m:rPr>
                          <a:rPr lang="el-GR" sz="2000">
                            <a:latin typeface="Cambria Math" panose="02040503050406030204" pitchFamily="18" charset="0"/>
                          </a:rPr>
                          <m:t>Δ</m:t>
                        </m:r>
                        <m:r>
                          <a:rPr lang="en-US" sz="2000" i="1">
                            <a:latin typeface="Cambria Math" panose="02040503050406030204" pitchFamily="18" charset="0"/>
                          </a:rPr>
                          <m:t>𝑅</m:t>
                        </m:r>
                      </m:num>
                      <m:den>
                        <m:r>
                          <a:rPr lang="en-US" sz="2000" i="1">
                            <a:latin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=10%∙</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100</m:t>
                            </m:r>
                          </m:num>
                          <m:den>
                            <m:r>
                              <a:rPr lang="en-US" sz="2000" i="1">
                                <a:latin typeface="Cambria Math" panose="02040503050406030204" pitchFamily="18" charset="0"/>
                                <a:ea typeface="Cambria Math" panose="02040503050406030204" pitchFamily="18" charset="0"/>
                              </a:rPr>
                              <m:t>50</m:t>
                            </m:r>
                          </m:den>
                        </m:f>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𝑤</m:t>
                            </m:r>
                          </m:num>
                          <m:den>
                            <m:r>
                              <a:rPr lang="en-US" sz="2000" i="1">
                                <a:latin typeface="Cambria Math" panose="02040503050406030204" pitchFamily="18" charset="0"/>
                                <a:ea typeface="Cambria Math" panose="02040503050406030204" pitchFamily="18" charset="0"/>
                              </a:rPr>
                              <m:t>𝑤</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50</m:t>
                            </m:r>
                          </m:num>
                          <m:den>
                            <m:r>
                              <a:rPr lang="en-US" sz="2000" i="1">
                                <a:latin typeface="Cambria Math" panose="02040503050406030204" pitchFamily="18" charset="0"/>
                                <a:ea typeface="Cambria Math" panose="02040503050406030204" pitchFamily="18" charset="0"/>
                              </a:rPr>
                              <m:t>50</m:t>
                            </m:r>
                          </m:den>
                        </m:f>
                      </m:e>
                    </m:d>
                  </m:oMath>
                </a14:m>
                <a:r>
                  <a:rPr lang="en-US" sz="2000" b="0" dirty="0"/>
                  <a:t>, for computers</a:t>
                </a:r>
              </a:p>
              <a:p>
                <a:pPr marL="0" indent="0" algn="ctr">
                  <a:buNone/>
                </a:pPr>
                <a:r>
                  <a:rPr lang="en-US" sz="2000" dirty="0"/>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m:t>
                        </m:r>
                      </m:num>
                      <m:den>
                        <m:r>
                          <a:rPr lang="en-US" sz="2000" i="1">
                            <a:latin typeface="Cambria Math" panose="02040503050406030204" pitchFamily="18" charset="0"/>
                            <a:ea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𝑊</m:t>
                            </m:r>
                          </m:num>
                          <m:den>
                            <m:r>
                              <a:rPr lang="en-US" sz="2000" i="1">
                                <a:latin typeface="Cambria Math" panose="02040503050406030204" pitchFamily="18" charset="0"/>
                                <a:ea typeface="Cambria Math" panose="02040503050406030204" pitchFamily="18" charset="0"/>
                              </a:rPr>
                              <m:t>𝑊</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60</m:t>
                            </m:r>
                          </m:num>
                          <m:den>
                            <m:r>
                              <a:rPr lang="en-US" sz="2000" i="1">
                                <a:latin typeface="Cambria Math" panose="02040503050406030204" pitchFamily="18" charset="0"/>
                                <a:ea typeface="Cambria Math" panose="02040503050406030204" pitchFamily="18" charset="0"/>
                              </a:rPr>
                              <m:t>40</m:t>
                            </m:r>
                          </m:den>
                        </m:f>
                        <m:r>
                          <a:rPr lang="en-US" sz="2000" i="1">
                            <a:latin typeface="Cambria Math" panose="02040503050406030204" pitchFamily="18" charset="0"/>
                            <a:ea typeface="Cambria Math" panose="02040503050406030204" pitchFamily="18" charset="0"/>
                          </a:rPr>
                          <m:t> </m:t>
                        </m:r>
                      </m:e>
                    </m:d>
                  </m:oMath>
                </a14:m>
                <a:r>
                  <a:rPr lang="en-US" sz="2000" b="0" dirty="0"/>
                  <a:t>, for shoes</a:t>
                </a:r>
                <a:endParaRPr lang="en-IN" sz="2000" b="0" dirty="0"/>
              </a:p>
            </p:txBody>
          </p:sp>
        </mc:Choice>
        <mc:Fallback xmlns="">
          <p:sp>
            <p:nvSpPr>
              <p:cNvPr id="8" name="Content Placeholder 7">
                <a:extLst>
                  <a:ext uri="{FF2B5EF4-FFF2-40B4-BE49-F238E27FC236}">
                    <a16:creationId xmlns:a16="http://schemas.microsoft.com/office/drawing/2014/main" id="{BADAEC89-4067-47E2-B564-7762866B1BF3}"/>
                  </a:ext>
                </a:extLst>
              </p:cNvPr>
              <p:cNvSpPr>
                <a:spLocks noGrp="1" noRot="1" noChangeAspect="1" noMove="1" noResize="1" noEditPoints="1" noAdjustHandles="1" noChangeArrowheads="1" noChangeShapeType="1" noTextEdit="1"/>
              </p:cNvSpPr>
              <p:nvPr>
                <p:ph sz="quarter" idx="14"/>
              </p:nvPr>
            </p:nvSpPr>
            <p:spPr>
              <a:xfrm>
                <a:off x="1312024" y="4792070"/>
                <a:ext cx="6519950" cy="1268009"/>
              </a:xfrm>
              <a:blipFill>
                <a:blip r:embed="rId3"/>
                <a:stretch>
                  <a:fillRect b="-962"/>
                </a:stretch>
              </a:blipFill>
            </p:spPr>
            <p:txBody>
              <a:bodyPr/>
              <a:lstStyle/>
              <a:p>
                <a:r>
                  <a:rPr lang="en-US">
                    <a:noFill/>
                  </a:rPr>
                  <a:t> </a:t>
                </a:r>
              </a:p>
            </p:txBody>
          </p:sp>
        </mc:Fallback>
      </mc:AlternateContent>
    </p:spTree>
    <p:extLst>
      <p:ext uri="{BB962C8B-B14F-4D97-AF65-F5344CB8AC3E}">
        <p14:creationId xmlns:p14="http://schemas.microsoft.com/office/powerpoint/2010/main" val="2930944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54B-A863-4511-82BE-18A58149B7C4}"/>
              </a:ext>
            </a:extLst>
          </p:cNvPr>
          <p:cNvSpPr>
            <a:spLocks noGrp="1"/>
          </p:cNvSpPr>
          <p:nvPr>
            <p:ph type="title"/>
          </p:nvPr>
        </p:nvSpPr>
        <p:spPr/>
        <p:txBody>
          <a:bodyPr/>
          <a:lstStyle/>
          <a:p>
            <a:r>
              <a:rPr lang="en-US" dirty="0"/>
              <a:t>2)  Effects of Trade on Factor Prices </a:t>
            </a:r>
            <a:br>
              <a:rPr lang="en-US" dirty="0"/>
            </a:br>
            <a:r>
              <a:rPr lang="en-US" dirty="0"/>
              <a:t>(part 12)</a:t>
            </a:r>
            <a:endParaRPr lang="en-IN" dirty="0"/>
          </a:p>
        </p:txBody>
      </p:sp>
      <p:sp>
        <p:nvSpPr>
          <p:cNvPr id="3" name="Content Placeholder 2">
            <a:extLst>
              <a:ext uri="{FF2B5EF4-FFF2-40B4-BE49-F238E27FC236}">
                <a16:creationId xmlns:a16="http://schemas.microsoft.com/office/drawing/2014/main" id="{3035EF76-9A05-4A42-A057-892957D4EF42}"/>
              </a:ext>
            </a:extLst>
          </p:cNvPr>
          <p:cNvSpPr>
            <a:spLocks noGrp="1"/>
          </p:cNvSpPr>
          <p:nvPr>
            <p:ph idx="1"/>
          </p:nvPr>
        </p:nvSpPr>
        <p:spPr>
          <a:xfrm>
            <a:off x="457200" y="1600201"/>
            <a:ext cx="8229600" cy="931861"/>
          </a:xfrm>
        </p:spPr>
        <p:txBody>
          <a:bodyPr>
            <a:normAutofit/>
          </a:bodyPr>
          <a:lstStyle/>
          <a:p>
            <a:pPr marL="0" indent="0">
              <a:buNone/>
            </a:pPr>
            <a:r>
              <a:rPr lang="en-US" sz="2000" dirty="0"/>
              <a:t>Changes in the Real Wage and Rental: A Numerical Example</a:t>
            </a:r>
          </a:p>
          <a:p>
            <a:r>
              <a:rPr lang="en-US" sz="2000" b="0" dirty="0"/>
              <a:t>Subtracting one equation from the other, we get</a:t>
            </a:r>
          </a:p>
        </p:txBody>
      </p:sp>
      <p:sp>
        <p:nvSpPr>
          <p:cNvPr id="4" name="Content Placeholder 3">
            <a:extLst>
              <a:ext uri="{FF2B5EF4-FFF2-40B4-BE49-F238E27FC236}">
                <a16:creationId xmlns:a16="http://schemas.microsoft.com/office/drawing/2014/main" id="{15406F21-C864-4944-BE7C-62167950D661}"/>
              </a:ext>
            </a:extLst>
          </p:cNvPr>
          <p:cNvSpPr>
            <a:spLocks noGrp="1"/>
          </p:cNvSpPr>
          <p:nvPr>
            <p:ph sz="quarter" idx="10"/>
          </p:nvPr>
        </p:nvSpPr>
        <p:spPr>
          <a:xfrm>
            <a:off x="6400800" y="2789735"/>
            <a:ext cx="2286000" cy="423862"/>
          </a:xfrm>
        </p:spPr>
        <p:txBody>
          <a:bodyPr>
            <a:normAutofit/>
          </a:bodyPr>
          <a:lstStyle/>
          <a:p>
            <a:pPr marL="0" indent="0">
              <a:buNone/>
            </a:pPr>
            <a:r>
              <a:rPr lang="en-US" sz="2400" b="0" dirty="0"/>
              <a:t>, for computers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1F343E4-CDCD-48E3-81C2-FF909841BCB2}"/>
                  </a:ext>
                </a:extLst>
              </p:cNvPr>
              <p:cNvSpPr>
                <a:spLocks noGrp="1"/>
              </p:cNvSpPr>
              <p:nvPr>
                <p:ph sz="quarter" idx="13"/>
              </p:nvPr>
            </p:nvSpPr>
            <p:spPr>
              <a:xfrm>
                <a:off x="2011681" y="2624136"/>
                <a:ext cx="4828524" cy="804863"/>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𝑅</m:t>
                          </m:r>
                        </m:num>
                        <m:den>
                          <m:r>
                            <a:rPr lang="en-US" sz="2800" i="1">
                              <a:latin typeface="Cambria Math" panose="02040503050406030204" pitchFamily="18" charset="0"/>
                            </a:rPr>
                            <m:t>𝑅</m:t>
                          </m:r>
                        </m:den>
                      </m:f>
                      <m:r>
                        <a:rPr lang="en-US" sz="2800" i="1">
                          <a:latin typeface="Cambria Math" panose="02040503050406030204" pitchFamily="18" charset="0"/>
                          <a:ea typeface="Cambria Math" panose="02040503050406030204" pitchFamily="18" charset="0"/>
                        </a:rPr>
                        <m:t>=10%∙</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100</m:t>
                              </m:r>
                            </m:num>
                            <m:den>
                              <m:r>
                                <a:rPr lang="en-US" sz="2800" i="1">
                                  <a:latin typeface="Cambria Math" panose="02040503050406030204" pitchFamily="18" charset="0"/>
                                  <a:ea typeface="Cambria Math" panose="02040503050406030204" pitchFamily="18" charset="0"/>
                                </a:rPr>
                                <m:t>50</m:t>
                              </m:r>
                            </m:den>
                          </m:f>
                        </m:e>
                      </m:d>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num>
                            <m:den>
                              <m:r>
                                <a:rPr lang="en-US" sz="2800" i="1">
                                  <a:latin typeface="Cambria Math" panose="02040503050406030204" pitchFamily="18" charset="0"/>
                                  <a:ea typeface="Cambria Math" panose="02040503050406030204" pitchFamily="18" charset="0"/>
                                </a:rPr>
                                <m:t>𝑊</m:t>
                              </m:r>
                            </m:den>
                          </m:f>
                        </m:e>
                      </m:d>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50</m:t>
                              </m:r>
                            </m:num>
                            <m:den>
                              <m:r>
                                <a:rPr lang="en-US" sz="2800" i="1">
                                  <a:latin typeface="Cambria Math" panose="02040503050406030204" pitchFamily="18" charset="0"/>
                                  <a:ea typeface="Cambria Math" panose="02040503050406030204" pitchFamily="18" charset="0"/>
                                </a:rPr>
                                <m:t>50</m:t>
                              </m:r>
                            </m:den>
                          </m:f>
                        </m:e>
                      </m:d>
                    </m:oMath>
                  </m:oMathPara>
                </a14:m>
                <a:endParaRPr lang="en-IN" dirty="0"/>
              </a:p>
            </p:txBody>
          </p:sp>
        </mc:Choice>
        <mc:Fallback xmlns="">
          <p:sp>
            <p:nvSpPr>
              <p:cNvPr id="6" name="Content Placeholder 5">
                <a:extLst>
                  <a:ext uri="{FF2B5EF4-FFF2-40B4-BE49-F238E27FC236}">
                    <a16:creationId xmlns:a16="http://schemas.microsoft.com/office/drawing/2014/main" id="{91F343E4-CDCD-48E3-81C2-FF909841BCB2}"/>
                  </a:ext>
                </a:extLst>
              </p:cNvPr>
              <p:cNvSpPr>
                <a:spLocks noGrp="1" noRot="1" noChangeAspect="1" noMove="1" noResize="1" noEditPoints="1" noAdjustHandles="1" noChangeArrowheads="1" noChangeShapeType="1" noTextEdit="1"/>
              </p:cNvSpPr>
              <p:nvPr>
                <p:ph sz="quarter" idx="13"/>
              </p:nvPr>
            </p:nvSpPr>
            <p:spPr>
              <a:xfrm>
                <a:off x="2011681" y="2624136"/>
                <a:ext cx="4828524" cy="804863"/>
              </a:xfrm>
              <a:blipFill>
                <a:blip r:embed="rId2"/>
                <a:stretch>
                  <a:fillRect l="-262" t="-3125"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A179296C-957E-4D41-A74D-40F4BEDDA942}"/>
                  </a:ext>
                </a:extLst>
              </p:cNvPr>
              <p:cNvSpPr>
                <a:spLocks noGrp="1"/>
              </p:cNvSpPr>
              <p:nvPr>
                <p:ph sz="quarter" idx="14"/>
              </p:nvPr>
            </p:nvSpPr>
            <p:spPr>
              <a:xfrm>
                <a:off x="1234256" y="3833033"/>
                <a:ext cx="6130821" cy="1802996"/>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rPr>
                          </m:ctrlPr>
                        </m:fPr>
                        <m:num>
                          <m:r>
                            <a:rPr lang="en-US" sz="2800" i="1">
                              <a:latin typeface="Cambria Math" panose="02040503050406030204" pitchFamily="18" charset="0"/>
                            </a:rPr>
                            <m:t>𝑀𝑖𝑛𝑢𝑠</m:t>
                          </m:r>
                          <m:r>
                            <a:rPr lang="en-US" sz="2800" i="1">
                              <a:latin typeface="Cambria Math" panose="02040503050406030204" pitchFamily="18" charset="0"/>
                            </a:rPr>
                            <m:t>: </m:t>
                          </m:r>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𝑅</m:t>
                                  </m:r>
                                </m:num>
                                <m:den>
                                  <m:r>
                                    <a:rPr lang="en-US" sz="2800" i="1">
                                      <a:latin typeface="Cambria Math" panose="02040503050406030204" pitchFamily="18" charset="0"/>
                                    </a:rPr>
                                    <m:t>𝑅</m:t>
                                  </m:r>
                                </m:den>
                              </m:f>
                            </m:e>
                          </m:d>
                          <m:r>
                            <m:rPr>
                              <m:nor/>
                            </m:rPr>
                            <a:rPr lang="en-US" sz="2800" b="0" dirty="0"/>
                            <m:t>=0</m:t>
                          </m:r>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num>
                                <m:den>
                                  <m:r>
                                    <a:rPr lang="en-US" sz="2800" i="1">
                                      <a:latin typeface="Cambria Math" panose="02040503050406030204" pitchFamily="18" charset="0"/>
                                      <a:ea typeface="Cambria Math" panose="02040503050406030204" pitchFamily="18" charset="0"/>
                                    </a:rPr>
                                    <m:t>𝑊</m:t>
                                  </m:r>
                                </m:den>
                              </m:f>
                            </m:e>
                          </m:d>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60</m:t>
                                  </m:r>
                                </m:num>
                                <m:den>
                                  <m:r>
                                    <a:rPr lang="en-US" sz="2800" i="1">
                                      <a:latin typeface="Cambria Math" panose="02040503050406030204" pitchFamily="18" charset="0"/>
                                      <a:ea typeface="Cambria Math" panose="02040503050406030204" pitchFamily="18" charset="0"/>
                                    </a:rPr>
                                    <m:t>40</m:t>
                                  </m:r>
                                </m:den>
                              </m:f>
                            </m:e>
                          </m:d>
                          <m:r>
                            <a:rPr lang="en-US" sz="2800" i="1">
                              <a:latin typeface="Cambria Math" panose="02040503050406030204" pitchFamily="18" charset="0"/>
                              <a:ea typeface="Cambria Math" panose="02040503050406030204" pitchFamily="18" charset="0"/>
                            </a:rPr>
                            <m:t>,</m:t>
                          </m:r>
                          <m:r>
                            <m:rPr>
                              <m:sty m:val="p"/>
                            </m:rPr>
                            <a:rPr lang="en-US" sz="2800" i="0">
                              <a:latin typeface="Cambria Math" panose="02040503050406030204" pitchFamily="18" charset="0"/>
                              <a:ea typeface="Cambria Math" panose="02040503050406030204" pitchFamily="18" charset="0"/>
                            </a:rPr>
                            <m:t>for</m:t>
                          </m:r>
                          <m:r>
                            <a:rPr lang="en-US" sz="2800" i="0">
                              <a:latin typeface="Cambria Math" panose="02040503050406030204" pitchFamily="18" charset="0"/>
                              <a:ea typeface="Cambria Math" panose="02040503050406030204" pitchFamily="18" charset="0"/>
                            </a:rPr>
                            <m:t> </m:t>
                          </m:r>
                          <m:r>
                            <m:rPr>
                              <m:sty m:val="p"/>
                            </m:rPr>
                            <a:rPr lang="en-US" sz="2800" i="0">
                              <a:latin typeface="Cambria Math" panose="02040503050406030204" pitchFamily="18" charset="0"/>
                              <a:ea typeface="Cambria Math" panose="02040503050406030204" pitchFamily="18" charset="0"/>
                            </a:rPr>
                            <m:t>shoes</m:t>
                          </m:r>
                          <m:r>
                            <m:rPr>
                              <m:nor/>
                            </m:rPr>
                            <a:rPr lang="en-US" sz="2800" dirty="0"/>
                            <m:t> </m:t>
                          </m:r>
                        </m:num>
                        <m:den>
                          <m:r>
                            <a:rPr lang="en-US" sz="2800" i="1">
                              <a:latin typeface="Cambria Math" panose="02040503050406030204" pitchFamily="18" charset="0"/>
                            </a:rPr>
                            <m:t>𝐸𝑞𝑢𝑎𝑙𝑠</m:t>
                          </m:r>
                          <m:r>
                            <a:rPr lang="en-US" sz="2800" i="1">
                              <a:latin typeface="Cambria Math" panose="02040503050406030204" pitchFamily="18" charset="0"/>
                            </a:rPr>
                            <m:t>:0=10%∙</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100</m:t>
                                  </m:r>
                                </m:num>
                                <m:den>
                                  <m:r>
                                    <a:rPr lang="en-US" sz="2800" i="1">
                                      <a:latin typeface="Cambria Math" panose="02040503050406030204" pitchFamily="18" charset="0"/>
                                      <a:ea typeface="Cambria Math" panose="02040503050406030204" pitchFamily="18" charset="0"/>
                                    </a:rPr>
                                    <m:t>50</m:t>
                                  </m:r>
                                </m:den>
                              </m:f>
                            </m:e>
                          </m:d>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𝑤</m:t>
                                  </m:r>
                                </m:num>
                                <m:den>
                                  <m:r>
                                    <a:rPr lang="en-US" sz="2800" i="1">
                                      <a:latin typeface="Cambria Math" panose="02040503050406030204" pitchFamily="18" charset="0"/>
                                      <a:ea typeface="Cambria Math" panose="02040503050406030204" pitchFamily="18" charset="0"/>
                                    </a:rPr>
                                    <m:t>𝑤</m:t>
                                  </m:r>
                                </m:den>
                              </m:f>
                            </m:e>
                          </m:d>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20</m:t>
                                  </m:r>
                                </m:num>
                                <m:den>
                                  <m:r>
                                    <a:rPr lang="en-US" sz="2800" i="1">
                                      <a:latin typeface="Cambria Math" panose="02040503050406030204" pitchFamily="18" charset="0"/>
                                      <a:ea typeface="Cambria Math" panose="02040503050406030204" pitchFamily="18" charset="0"/>
                                    </a:rPr>
                                    <m:t>40</m:t>
                                  </m:r>
                                </m:den>
                              </m:f>
                            </m:e>
                          </m:d>
                        </m:den>
                      </m:f>
                    </m:oMath>
                  </m:oMathPara>
                </a14:m>
                <a:endParaRPr lang="en-IN" dirty="0"/>
              </a:p>
            </p:txBody>
          </p:sp>
        </mc:Choice>
        <mc:Fallback xmlns="">
          <p:sp>
            <p:nvSpPr>
              <p:cNvPr id="12" name="Content Placeholder 11">
                <a:extLst>
                  <a:ext uri="{FF2B5EF4-FFF2-40B4-BE49-F238E27FC236}">
                    <a16:creationId xmlns:a16="http://schemas.microsoft.com/office/drawing/2014/main" id="{A179296C-957E-4D41-A74D-40F4BEDDA942}"/>
                  </a:ext>
                </a:extLst>
              </p:cNvPr>
              <p:cNvSpPr>
                <a:spLocks noGrp="1" noRot="1" noChangeAspect="1" noMove="1" noResize="1" noEditPoints="1" noAdjustHandles="1" noChangeArrowheads="1" noChangeShapeType="1" noTextEdit="1"/>
              </p:cNvSpPr>
              <p:nvPr>
                <p:ph sz="quarter" idx="14"/>
              </p:nvPr>
            </p:nvSpPr>
            <p:spPr>
              <a:xfrm>
                <a:off x="1234256" y="3833033"/>
                <a:ext cx="6130821" cy="1802996"/>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47694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0F645-5982-4384-8BD2-A802A13969A0}"/>
              </a:ext>
            </a:extLst>
          </p:cNvPr>
          <p:cNvSpPr>
            <a:spLocks noGrp="1"/>
          </p:cNvSpPr>
          <p:nvPr>
            <p:ph type="title"/>
          </p:nvPr>
        </p:nvSpPr>
        <p:spPr/>
        <p:txBody>
          <a:bodyPr/>
          <a:lstStyle/>
          <a:p>
            <a:r>
              <a:rPr lang="en-US" dirty="0"/>
              <a:t>2)  Effects of Trade on Factor Prices </a:t>
            </a:r>
            <a:br>
              <a:rPr lang="en-US" dirty="0"/>
            </a:br>
            <a:r>
              <a:rPr lang="en-US" dirty="0"/>
              <a:t>(part 13)</a:t>
            </a:r>
            <a:endParaRPr lang="en-IN" dirty="0"/>
          </a:p>
        </p:txBody>
      </p:sp>
      <p:sp>
        <p:nvSpPr>
          <p:cNvPr id="3" name="Content Placeholder 2">
            <a:extLst>
              <a:ext uri="{FF2B5EF4-FFF2-40B4-BE49-F238E27FC236}">
                <a16:creationId xmlns:a16="http://schemas.microsoft.com/office/drawing/2014/main" id="{6277EC38-C5EA-420F-B1C9-E84E20876438}"/>
              </a:ext>
            </a:extLst>
          </p:cNvPr>
          <p:cNvSpPr>
            <a:spLocks noGrp="1"/>
          </p:cNvSpPr>
          <p:nvPr>
            <p:ph idx="1"/>
          </p:nvPr>
        </p:nvSpPr>
        <p:spPr>
          <a:xfrm>
            <a:off x="457200" y="1600201"/>
            <a:ext cx="8229600" cy="885825"/>
          </a:xfrm>
        </p:spPr>
        <p:txBody>
          <a:bodyPr>
            <a:normAutofit/>
          </a:bodyPr>
          <a:lstStyle/>
          <a:p>
            <a:pPr marL="0" indent="0">
              <a:buNone/>
            </a:pPr>
            <a:r>
              <a:rPr lang="en-US" altLang="en-US" sz="2200" b="1" dirty="0">
                <a:latin typeface="Arial" pitchFamily="34" charset="0"/>
              </a:rPr>
              <a:t>Changes in the Real Wage and Rental: A Numerical Example</a:t>
            </a:r>
          </a:p>
          <a:p>
            <a:r>
              <a:rPr lang="en-US" altLang="en-US" sz="2200" b="0" dirty="0">
                <a:latin typeface="Arial" pitchFamily="34" charset="0"/>
              </a:rPr>
              <a:t>Simplifying the last line, we get </a:t>
            </a:r>
          </a:p>
        </p:txBody>
      </p:sp>
      <mc:AlternateContent xmlns:mc="http://schemas.openxmlformats.org/markup-compatibility/2006" xmlns:a14="http://schemas.microsoft.com/office/drawing/2010/main">
        <mc:Choice Requires="a14">
          <p:sp>
            <p:nvSpPr>
              <p:cNvPr id="19" name="Content Placeholder 18">
                <a:extLst>
                  <a:ext uri="{FF2B5EF4-FFF2-40B4-BE49-F238E27FC236}">
                    <a16:creationId xmlns:a16="http://schemas.microsoft.com/office/drawing/2014/main" id="{8C184AE9-B231-43B5-8759-172C2EC97591}"/>
                  </a:ext>
                </a:extLst>
              </p:cNvPr>
              <p:cNvSpPr>
                <a:spLocks noGrp="1"/>
              </p:cNvSpPr>
              <p:nvPr>
                <p:ph sz="quarter" idx="10"/>
              </p:nvPr>
            </p:nvSpPr>
            <p:spPr>
              <a:xfrm>
                <a:off x="4896643" y="1896269"/>
                <a:ext cx="3827463" cy="885825"/>
              </a:xfrm>
            </p:spPr>
            <p:txBody>
              <a:bodyPr/>
              <a:lstStyle/>
              <a:p>
                <a:pPr marL="0" indent="0">
                  <a:buNone/>
                </a:pPr>
                <a14:m>
                  <m:oMath xmlns:m="http://schemas.openxmlformats.org/officeDocument/2006/math">
                    <m:r>
                      <a:rPr lang="en-US" sz="2800" b="0" i="1" smtClean="0">
                        <a:latin typeface="Cambria Math" panose="02040503050406030204" pitchFamily="18" charset="0"/>
                      </a:rPr>
                      <m:t>0=20%+ </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𝑊</m:t>
                            </m:r>
                          </m:num>
                          <m:den>
                            <m:r>
                              <a:rPr lang="en-US" sz="2800" b="0" i="1" smtClean="0">
                                <a:latin typeface="Cambria Math" panose="02040503050406030204" pitchFamily="18" charset="0"/>
                              </a:rPr>
                              <m:t>𝑊</m:t>
                            </m:r>
                          </m:den>
                        </m:f>
                      </m:e>
                    </m:d>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e>
                    </m:d>
                  </m:oMath>
                </a14:m>
                <a:r>
                  <a:rPr lang="en-US" sz="2800" b="0" dirty="0">
                    <a:latin typeface="+mn-lt"/>
                  </a:rPr>
                  <a:t>.</a:t>
                </a:r>
                <a:endParaRPr lang="en-IN" dirty="0"/>
              </a:p>
            </p:txBody>
          </p:sp>
        </mc:Choice>
        <mc:Fallback xmlns="">
          <p:sp>
            <p:nvSpPr>
              <p:cNvPr id="19" name="Content Placeholder 18">
                <a:extLst>
                  <a:ext uri="{FF2B5EF4-FFF2-40B4-BE49-F238E27FC236}">
                    <a16:creationId xmlns:a16="http://schemas.microsoft.com/office/drawing/2014/main" id="{8C184AE9-B231-43B5-8759-172C2EC97591}"/>
                  </a:ext>
                </a:extLst>
              </p:cNvPr>
              <p:cNvSpPr>
                <a:spLocks noGrp="1" noRot="1" noChangeAspect="1" noMove="1" noResize="1" noEditPoints="1" noAdjustHandles="1" noChangeArrowheads="1" noChangeShapeType="1" noTextEdit="1"/>
              </p:cNvSpPr>
              <p:nvPr>
                <p:ph sz="quarter" idx="10"/>
              </p:nvPr>
            </p:nvSpPr>
            <p:spPr>
              <a:xfrm>
                <a:off x="4896643" y="1896269"/>
                <a:ext cx="3827463" cy="885825"/>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Content Placeholder 21">
                <a:extLst>
                  <a:ext uri="{FF2B5EF4-FFF2-40B4-BE49-F238E27FC236}">
                    <a16:creationId xmlns:a16="http://schemas.microsoft.com/office/drawing/2014/main" id="{50569C52-4DD6-487F-96AD-C80FD26841C9}"/>
                  </a:ext>
                </a:extLst>
              </p:cNvPr>
              <p:cNvSpPr>
                <a:spLocks noGrp="1"/>
              </p:cNvSpPr>
              <p:nvPr>
                <p:ph sz="quarter" idx="13"/>
              </p:nvPr>
            </p:nvSpPr>
            <p:spPr>
              <a:xfrm>
                <a:off x="1116648" y="2668040"/>
                <a:ext cx="4003992" cy="1089313"/>
              </a:xfrm>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d>
                        <m:dPr>
                          <m:ctrlPr>
                            <a:rPr lang="en-US" sz="2800" b="0" i="1" smtClean="0">
                              <a:latin typeface="Cambria Math" panose="02040503050406030204" pitchFamily="18" charset="0"/>
                            </a:rPr>
                          </m:ctrlPr>
                        </m:dPr>
                        <m:e>
                          <m:f>
                            <m:fPr>
                              <m:ctrlPr>
                                <a:rPr lang="en-US" sz="2800" b="0" i="1">
                                  <a:latin typeface="Cambria Math" panose="02040503050406030204" pitchFamily="18" charset="0"/>
                                </a:rPr>
                              </m:ctrlPr>
                            </m:fPr>
                            <m:num>
                              <m:r>
                                <a:rPr lang="en-US" sz="2800" b="0" i="1">
                                  <a:latin typeface="Cambria Math" panose="02040503050406030204" pitchFamily="18" charset="0"/>
                                  <a:ea typeface="Cambria Math" panose="02040503050406030204" pitchFamily="18" charset="0"/>
                                </a:rPr>
                                <m:t>∆</m:t>
                              </m:r>
                              <m:r>
                                <a:rPr lang="en-US" sz="2800" b="0" i="1">
                                  <a:latin typeface="Cambria Math" panose="02040503050406030204" pitchFamily="18" charset="0"/>
                                  <a:ea typeface="Cambria Math" panose="02040503050406030204" pitchFamily="18" charset="0"/>
                                </a:rPr>
                                <m:t>𝑊</m:t>
                              </m:r>
                            </m:num>
                            <m:den>
                              <m:r>
                                <a:rPr lang="en-US" sz="2800" b="0" i="1">
                                  <a:latin typeface="Cambria Math" panose="02040503050406030204" pitchFamily="18" charset="0"/>
                                </a:rPr>
                                <m:t>𝑊</m:t>
                              </m:r>
                            </m:den>
                          </m:f>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−20%</m:t>
                              </m:r>
                            </m:num>
                            <m:den>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den>
                          </m:f>
                        </m:e>
                      </m:d>
                      <m:r>
                        <a:rPr lang="en-US" sz="2800" b="0" i="0" smtClean="0">
                          <a:latin typeface="Cambria Math" panose="02040503050406030204" pitchFamily="18" charset="0"/>
                        </a:rPr>
                        <m:t>=−40%</m:t>
                      </m:r>
                    </m:oMath>
                  </m:oMathPara>
                </a14:m>
                <a:endParaRPr lang="en-IN" dirty="0"/>
              </a:p>
            </p:txBody>
          </p:sp>
        </mc:Choice>
        <mc:Fallback xmlns="">
          <p:sp>
            <p:nvSpPr>
              <p:cNvPr id="22" name="Content Placeholder 21">
                <a:extLst>
                  <a:ext uri="{FF2B5EF4-FFF2-40B4-BE49-F238E27FC236}">
                    <a16:creationId xmlns:a16="http://schemas.microsoft.com/office/drawing/2014/main" id="{50569C52-4DD6-487F-96AD-C80FD26841C9}"/>
                  </a:ext>
                </a:extLst>
              </p:cNvPr>
              <p:cNvSpPr>
                <a:spLocks noGrp="1" noRot="1" noChangeAspect="1" noMove="1" noResize="1" noEditPoints="1" noAdjustHandles="1" noChangeArrowheads="1" noChangeShapeType="1" noTextEdit="1"/>
              </p:cNvSpPr>
              <p:nvPr>
                <p:ph sz="quarter" idx="13"/>
              </p:nvPr>
            </p:nvSpPr>
            <p:spPr>
              <a:xfrm>
                <a:off x="1116648" y="2668040"/>
                <a:ext cx="4003992" cy="1089313"/>
              </a:xfrm>
              <a:blipFill>
                <a:blip r:embed="rId3"/>
                <a:stretch>
                  <a:fillRect t="-4651"/>
                </a:stretch>
              </a:blipFill>
            </p:spPr>
            <p:txBody>
              <a:bodyPr/>
              <a:lstStyle/>
              <a:p>
                <a:r>
                  <a:rPr lang="en-US">
                    <a:noFill/>
                  </a:rPr>
                  <a:t> </a:t>
                </a:r>
              </a:p>
            </p:txBody>
          </p:sp>
        </mc:Fallback>
      </mc:AlternateContent>
      <p:sp>
        <p:nvSpPr>
          <p:cNvPr id="23" name="Content Placeholder 22">
            <a:extLst>
              <a:ext uri="{FF2B5EF4-FFF2-40B4-BE49-F238E27FC236}">
                <a16:creationId xmlns:a16="http://schemas.microsoft.com/office/drawing/2014/main" id="{7909251F-E5EC-40E7-A625-03BADB4D7F76}"/>
              </a:ext>
            </a:extLst>
          </p:cNvPr>
          <p:cNvSpPr>
            <a:spLocks noGrp="1"/>
          </p:cNvSpPr>
          <p:nvPr>
            <p:ph sz="quarter" idx="14"/>
          </p:nvPr>
        </p:nvSpPr>
        <p:spPr>
          <a:xfrm>
            <a:off x="4896643" y="2836203"/>
            <a:ext cx="2471624" cy="525014"/>
          </a:xfrm>
        </p:spPr>
        <p:txBody>
          <a:bodyPr>
            <a:normAutofit/>
          </a:bodyPr>
          <a:lstStyle/>
          <a:p>
            <a:pPr marL="0" indent="0">
              <a:buNone/>
            </a:pPr>
            <a:r>
              <a:rPr lang="en-US" sz="2200" b="0" dirty="0">
                <a:latin typeface="+mn-lt"/>
              </a:rPr>
              <a:t>, change in wages</a:t>
            </a:r>
          </a:p>
        </p:txBody>
      </p:sp>
      <mc:AlternateContent xmlns:mc="http://schemas.openxmlformats.org/markup-compatibility/2006" xmlns:a14="http://schemas.microsoft.com/office/drawing/2010/main">
        <mc:Choice Requires="a14">
          <p:sp>
            <p:nvSpPr>
              <p:cNvPr id="25" name="Content Placeholder 24">
                <a:extLst>
                  <a:ext uri="{FF2B5EF4-FFF2-40B4-BE49-F238E27FC236}">
                    <a16:creationId xmlns:a16="http://schemas.microsoft.com/office/drawing/2014/main" id="{0FBF16DD-B275-4A08-8356-850FDDBAD928}"/>
                  </a:ext>
                </a:extLst>
              </p:cNvPr>
              <p:cNvSpPr>
                <a:spLocks noGrp="1"/>
              </p:cNvSpPr>
              <p:nvPr>
                <p:ph sz="quarter" idx="16"/>
              </p:nvPr>
            </p:nvSpPr>
            <p:spPr>
              <a:xfrm>
                <a:off x="650456" y="5495413"/>
                <a:ext cx="5301457" cy="733840"/>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d>
                        <m:dPr>
                          <m:ctrlPr>
                            <a:rPr lang="en-US" sz="2200" b="0" i="1" smtClean="0">
                              <a:latin typeface="Cambria Math" panose="02040503050406030204" pitchFamily="18" charset="0"/>
                            </a:rPr>
                          </m:ctrlPr>
                        </m:dPr>
                        <m:e>
                          <m:f>
                            <m:fPr>
                              <m:ctrlPr>
                                <a:rPr lang="en-US" sz="2200" b="0" i="1">
                                  <a:latin typeface="Cambria Math" panose="02040503050406030204" pitchFamily="18" charset="0"/>
                                </a:rPr>
                              </m:ctrlPr>
                            </m:fPr>
                            <m:num>
                              <m:r>
                                <a:rPr lang="en-US" sz="2200" b="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𝑅</m:t>
                              </m:r>
                            </m:num>
                            <m:den>
                              <m:r>
                                <a:rPr lang="en-US" sz="2200" b="0" i="1" smtClean="0">
                                  <a:latin typeface="Cambria Math" panose="02040503050406030204" pitchFamily="18" charset="0"/>
                                </a:rPr>
                                <m:t>𝑅</m:t>
                              </m:r>
                            </m:den>
                          </m:f>
                        </m:e>
                      </m:d>
                      <m:r>
                        <a:rPr lang="en-US" sz="2200" b="0" i="1">
                          <a:latin typeface="Cambria Math" panose="02040503050406030204" pitchFamily="18" charset="0"/>
                        </a:rPr>
                        <m:t>=</m:t>
                      </m:r>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f>
                            <m:fPr>
                              <m:ctrlPr>
                                <a:rPr lang="en-US" sz="2200" b="0" i="1">
                                  <a:latin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𝑊</m:t>
                              </m:r>
                            </m:num>
                            <m:den>
                              <m:r>
                                <a:rPr lang="en-US" sz="2200" b="0" i="1" smtClean="0">
                                  <a:latin typeface="Cambria Math" panose="02040503050406030204" pitchFamily="18" charset="0"/>
                                </a:rPr>
                                <m:t>𝑊</m:t>
                              </m:r>
                            </m:den>
                          </m:f>
                        </m:e>
                      </m:d>
                      <m:d>
                        <m:dPr>
                          <m:ctrlPr>
                            <a:rPr lang="en-US" sz="2200" b="0" i="1">
                              <a:latin typeface="Cambria Math" panose="02040503050406030204" pitchFamily="18" charset="0"/>
                            </a:rPr>
                          </m:ctrlPr>
                        </m:dPr>
                        <m:e>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60</m:t>
                              </m:r>
                            </m:num>
                            <m:den>
                              <m:r>
                                <a:rPr lang="en-US" sz="2200" b="0" i="1" smtClean="0">
                                  <a:latin typeface="Cambria Math" panose="02040503050406030204" pitchFamily="18" charset="0"/>
                                </a:rPr>
                                <m:t>40</m:t>
                              </m:r>
                            </m:den>
                          </m:f>
                        </m:e>
                      </m:d>
                      <m:r>
                        <a:rPr lang="en-US" sz="2200" b="0" i="1" smtClean="0">
                          <a:latin typeface="Cambria Math" panose="02040503050406030204" pitchFamily="18" charset="0"/>
                        </a:rPr>
                        <m:t>=40%</m:t>
                      </m:r>
                      <m:r>
                        <a:rPr lang="en-US" sz="2200" b="0" i="1" smtClean="0">
                          <a:latin typeface="Cambria Math" panose="02040503050406030204" pitchFamily="18" charset="0"/>
                          <a:ea typeface="Cambria Math" panose="02040503050406030204" pitchFamily="18" charset="0"/>
                        </a:rPr>
                        <m:t>∙</m:t>
                      </m:r>
                      <m:d>
                        <m:dPr>
                          <m:ctrlPr>
                            <a:rPr lang="en-US" sz="2200" b="0" i="1">
                              <a:latin typeface="Cambria Math" panose="02040503050406030204" pitchFamily="18" charset="0"/>
                            </a:rPr>
                          </m:ctrlPr>
                        </m:dPr>
                        <m:e>
                          <m:f>
                            <m:fPr>
                              <m:ctrlPr>
                                <a:rPr lang="en-US" sz="2200" b="0" i="1">
                                  <a:latin typeface="Cambria Math" panose="02040503050406030204" pitchFamily="18" charset="0"/>
                                </a:rPr>
                              </m:ctrlPr>
                            </m:fPr>
                            <m:num>
                              <m:r>
                                <a:rPr lang="en-US" sz="2200" b="0" i="1">
                                  <a:latin typeface="Cambria Math" panose="02040503050406030204" pitchFamily="18" charset="0"/>
                                </a:rPr>
                                <m:t>60</m:t>
                              </m:r>
                            </m:num>
                            <m:den>
                              <m:r>
                                <a:rPr lang="en-US" sz="2200" b="0" i="1">
                                  <a:latin typeface="Cambria Math" panose="02040503050406030204" pitchFamily="18" charset="0"/>
                                </a:rPr>
                                <m:t>40</m:t>
                              </m:r>
                            </m:den>
                          </m:f>
                        </m:e>
                      </m:d>
                      <m:r>
                        <a:rPr lang="en-US" sz="2200" b="0">
                          <a:latin typeface="Cambria Math" panose="02040503050406030204" pitchFamily="18" charset="0"/>
                        </a:rPr>
                        <m:t>=</m:t>
                      </m:r>
                      <m:r>
                        <a:rPr lang="en-US" sz="2200" b="0" i="0" smtClean="0">
                          <a:latin typeface="Cambria Math" panose="02040503050406030204" pitchFamily="18" charset="0"/>
                        </a:rPr>
                        <m:t>6</m:t>
                      </m:r>
                      <m:r>
                        <a:rPr lang="en-US" sz="2200" b="0">
                          <a:latin typeface="Cambria Math" panose="02040503050406030204" pitchFamily="18" charset="0"/>
                        </a:rPr>
                        <m:t>0</m:t>
                      </m:r>
                      <m:r>
                        <a:rPr lang="en-US" sz="2200" b="0" i="0" smtClean="0">
                          <a:latin typeface="Cambria Math" panose="02040503050406030204" pitchFamily="18" charset="0"/>
                        </a:rPr>
                        <m:t>%</m:t>
                      </m:r>
                    </m:oMath>
                  </m:oMathPara>
                </a14:m>
                <a:endParaRPr lang="en-IN" sz="2200" dirty="0"/>
              </a:p>
            </p:txBody>
          </p:sp>
        </mc:Choice>
        <mc:Fallback xmlns="">
          <p:sp>
            <p:nvSpPr>
              <p:cNvPr id="25" name="Content Placeholder 24">
                <a:extLst>
                  <a:ext uri="{FF2B5EF4-FFF2-40B4-BE49-F238E27FC236}">
                    <a16:creationId xmlns:a16="http://schemas.microsoft.com/office/drawing/2014/main" id="{0FBF16DD-B275-4A08-8356-850FDDBAD928}"/>
                  </a:ext>
                </a:extLst>
              </p:cNvPr>
              <p:cNvSpPr>
                <a:spLocks noGrp="1" noRot="1" noChangeAspect="1" noMove="1" noResize="1" noEditPoints="1" noAdjustHandles="1" noChangeArrowheads="1" noChangeShapeType="1" noTextEdit="1"/>
              </p:cNvSpPr>
              <p:nvPr>
                <p:ph sz="quarter" idx="16"/>
              </p:nvPr>
            </p:nvSpPr>
            <p:spPr>
              <a:xfrm>
                <a:off x="650456" y="5495413"/>
                <a:ext cx="5301457" cy="733840"/>
              </a:xfr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5">
                <a:extLst>
                  <a:ext uri="{FF2B5EF4-FFF2-40B4-BE49-F238E27FC236}">
                    <a16:creationId xmlns:a16="http://schemas.microsoft.com/office/drawing/2014/main" id="{48F2C455-6AF3-42FB-BB0F-EED9E1D82484}"/>
                  </a:ext>
                </a:extLst>
              </p:cNvPr>
              <p:cNvSpPr>
                <a:spLocks noGrp="1"/>
              </p:cNvSpPr>
              <p:nvPr>
                <p:ph sz="quarter" idx="17"/>
              </p:nvPr>
            </p:nvSpPr>
            <p:spPr>
              <a:xfrm>
                <a:off x="5455399" y="5604064"/>
                <a:ext cx="2709949" cy="625189"/>
              </a:xfrm>
            </p:spPr>
            <p:txBody>
              <a:bodyPr>
                <a:normAutofit/>
              </a:bodyPr>
              <a:lstStyle/>
              <a:p>
                <a:pPr marL="0" indent="0">
                  <a:buNone/>
                </a:pPr>
                <a14:m>
                  <m:oMath xmlns:m="http://schemas.openxmlformats.org/officeDocument/2006/math">
                    <m:r>
                      <a:rPr lang="en-US" sz="2200" b="0" i="0" smtClean="0">
                        <a:latin typeface="Cambria Math" panose="02040503050406030204" pitchFamily="18" charset="0"/>
                      </a:rPr>
                      <m:t>,</m:t>
                    </m:r>
                  </m:oMath>
                </a14:m>
                <a:r>
                  <a:rPr lang="en-US" sz="2200" b="0" dirty="0">
                    <a:latin typeface="+mn-lt"/>
                  </a:rPr>
                  <a:t> change in rental</a:t>
                </a:r>
                <a:endParaRPr lang="en-IN" sz="2200" dirty="0">
                  <a:latin typeface="+mn-lt"/>
                </a:endParaRPr>
              </a:p>
            </p:txBody>
          </p:sp>
        </mc:Choice>
        <mc:Fallback xmlns="">
          <p:sp>
            <p:nvSpPr>
              <p:cNvPr id="26" name="Content Placeholder 25">
                <a:extLst>
                  <a:ext uri="{FF2B5EF4-FFF2-40B4-BE49-F238E27FC236}">
                    <a16:creationId xmlns:a16="http://schemas.microsoft.com/office/drawing/2014/main" id="{48F2C455-6AF3-42FB-BB0F-EED9E1D82484}"/>
                  </a:ext>
                </a:extLst>
              </p:cNvPr>
              <p:cNvSpPr>
                <a:spLocks noGrp="1" noRot="1" noChangeAspect="1" noMove="1" noResize="1" noEditPoints="1" noAdjustHandles="1" noChangeArrowheads="1" noChangeShapeType="1" noTextEdit="1"/>
              </p:cNvSpPr>
              <p:nvPr>
                <p:ph sz="quarter" idx="17"/>
              </p:nvPr>
            </p:nvSpPr>
            <p:spPr>
              <a:xfrm>
                <a:off x="5455399" y="5604064"/>
                <a:ext cx="2709949" cy="625189"/>
              </a:xfrm>
              <a:blipFill>
                <a:blip r:embed="rId5"/>
                <a:stretch>
                  <a:fillRect t="-4854"/>
                </a:stretch>
              </a:blipFill>
            </p:spPr>
            <p:txBody>
              <a:bodyPr/>
              <a:lstStyle/>
              <a:p>
                <a:r>
                  <a:rPr lang="en-US">
                    <a:noFill/>
                  </a:rPr>
                  <a:t> </a:t>
                </a:r>
              </a:p>
            </p:txBody>
          </p:sp>
        </mc:Fallback>
      </mc:AlternateContent>
      <p:sp>
        <p:nvSpPr>
          <p:cNvPr id="27" name="Content Placeholder 26">
            <a:extLst>
              <a:ext uri="{FF2B5EF4-FFF2-40B4-BE49-F238E27FC236}">
                <a16:creationId xmlns:a16="http://schemas.microsoft.com/office/drawing/2014/main" id="{11C43AC7-CF7B-49B5-BF0F-1E0D0FD50F5E}"/>
              </a:ext>
            </a:extLst>
          </p:cNvPr>
          <p:cNvSpPr>
            <a:spLocks noGrp="1"/>
          </p:cNvSpPr>
          <p:nvPr>
            <p:ph sz="quarter" idx="18"/>
          </p:nvPr>
        </p:nvSpPr>
        <p:spPr>
          <a:xfrm>
            <a:off x="457200" y="3812252"/>
            <a:ext cx="8229600" cy="1181858"/>
          </a:xfrm>
        </p:spPr>
        <p:txBody>
          <a:bodyPr>
            <a:normAutofit/>
          </a:bodyPr>
          <a:lstStyle/>
          <a:p>
            <a:pPr marL="449263" indent="-449263"/>
            <a:r>
              <a:rPr lang="en-US" sz="2200" b="0" dirty="0">
                <a:latin typeface="+mn-lt"/>
              </a:rPr>
              <a:t>To find the change in the rental paid to capital (Δ</a:t>
            </a:r>
            <a:r>
              <a:rPr lang="en-US" sz="2200" b="0" i="1" dirty="0">
                <a:latin typeface="+mn-lt"/>
              </a:rPr>
              <a:t>R/R</a:t>
            </a:r>
            <a:r>
              <a:rPr lang="en-US" sz="2200" b="0" dirty="0">
                <a:latin typeface="+mn-lt"/>
              </a:rPr>
              <a:t>), we can take our solution for Δ</a:t>
            </a:r>
            <a:r>
              <a:rPr lang="en-US" sz="2200" b="0" i="1" dirty="0">
                <a:latin typeface="+mn-lt"/>
              </a:rPr>
              <a:t>W/W </a:t>
            </a:r>
            <a:r>
              <a:rPr lang="en-US" sz="2200" b="0" dirty="0">
                <a:latin typeface="+mn-lt"/>
              </a:rPr>
              <a:t>= −40% and plug it into the equation for the change in the rental in the shoes sector.</a:t>
            </a:r>
          </a:p>
        </p:txBody>
      </p:sp>
    </p:spTree>
    <p:extLst>
      <p:ext uri="{BB962C8B-B14F-4D97-AF65-F5344CB8AC3E}">
        <p14:creationId xmlns:p14="http://schemas.microsoft.com/office/powerpoint/2010/main" val="2611493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9DA0-CFE5-4FE5-BEDC-0EECA426DD37}"/>
              </a:ext>
            </a:extLst>
          </p:cNvPr>
          <p:cNvSpPr>
            <a:spLocks noGrp="1"/>
          </p:cNvSpPr>
          <p:nvPr>
            <p:ph type="title"/>
          </p:nvPr>
        </p:nvSpPr>
        <p:spPr/>
        <p:txBody>
          <a:bodyPr/>
          <a:lstStyle/>
          <a:p>
            <a:r>
              <a:rPr lang="en-US" dirty="0"/>
              <a:t>2)  Effects of Trade on Factor Prices </a:t>
            </a:r>
            <a:br>
              <a:rPr lang="en-US" dirty="0"/>
            </a:br>
            <a:r>
              <a:rPr lang="en-US" dirty="0"/>
              <a:t>(part 14)</a:t>
            </a:r>
            <a:endParaRPr lang="en-IN" dirty="0"/>
          </a:p>
        </p:txBody>
      </p:sp>
      <p:sp>
        <p:nvSpPr>
          <p:cNvPr id="3" name="Content Placeholder 2">
            <a:extLst>
              <a:ext uri="{FF2B5EF4-FFF2-40B4-BE49-F238E27FC236}">
                <a16:creationId xmlns:a16="http://schemas.microsoft.com/office/drawing/2014/main" id="{3A368097-168F-40A6-AE0A-87CDCD63CF75}"/>
              </a:ext>
            </a:extLst>
          </p:cNvPr>
          <p:cNvSpPr>
            <a:spLocks noGrp="1"/>
          </p:cNvSpPr>
          <p:nvPr>
            <p:ph idx="1"/>
          </p:nvPr>
        </p:nvSpPr>
        <p:spPr>
          <a:xfrm>
            <a:off x="457200" y="1600201"/>
            <a:ext cx="8229600" cy="1523194"/>
          </a:xfrm>
        </p:spPr>
        <p:txBody>
          <a:bodyPr>
            <a:normAutofit/>
          </a:bodyPr>
          <a:lstStyle/>
          <a:p>
            <a:pPr marL="0" indent="0">
              <a:buNone/>
            </a:pPr>
            <a:r>
              <a:rPr lang="en-US" sz="2000" dirty="0"/>
              <a:t>Changes in the Real Wage and Rental: A Numerical Example</a:t>
            </a:r>
          </a:p>
          <a:p>
            <a:pPr marL="0" indent="0">
              <a:buNone/>
            </a:pPr>
            <a:r>
              <a:rPr lang="en-US" sz="2000" dirty="0"/>
              <a:t>General Equation for the Long-Run Change in Factor Prices </a:t>
            </a:r>
          </a:p>
          <a:p>
            <a:pPr marL="0" indent="0">
              <a:buNone/>
            </a:pPr>
            <a:r>
              <a:rPr lang="en-US" sz="2000" b="0" dirty="0"/>
              <a:t>The long-run results of a change in factor prices can be summarized in the following equation: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2B808C-69BA-4507-BC89-F3C04C92FB50}"/>
                  </a:ext>
                </a:extLst>
              </p:cNvPr>
              <p:cNvSpPr>
                <a:spLocks noGrp="1"/>
              </p:cNvSpPr>
              <p:nvPr>
                <p:ph sz="quarter" idx="10"/>
              </p:nvPr>
            </p:nvSpPr>
            <p:spPr>
              <a:xfrm>
                <a:off x="457200" y="3207276"/>
                <a:ext cx="8229600" cy="885825"/>
              </a:xfrm>
            </p:spPr>
            <p:txBody>
              <a:bodyPr>
                <a:normAutofit/>
              </a:bodyPr>
              <a:lstStyle/>
              <a:p>
                <a:pPr marL="0" indent="0" algn="ctr">
                  <a:buNone/>
                </a:pPr>
                <a14:m>
                  <m:oMath xmlns:m="http://schemas.openxmlformats.org/officeDocument/2006/math">
                    <m:limLow>
                      <m:limLowPr>
                        <m:ctrlPr>
                          <a:rPr lang="en-US" sz="1600" i="1" smtClean="0">
                            <a:latin typeface="Cambria Math" panose="02040503050406030204" pitchFamily="18" charset="0"/>
                          </a:rPr>
                        </m:ctrlPr>
                      </m:limLowPr>
                      <m:e>
                        <m:groupChr>
                          <m:groupChrPr>
                            <m:chr m:val="⏟"/>
                            <m:ctrlPr>
                              <a:rPr lang="en-US" sz="1600" i="1">
                                <a:latin typeface="Cambria Math" panose="02040503050406030204" pitchFamily="18" charset="0"/>
                              </a:rPr>
                            </m:ctrlPr>
                          </m:groupChrPr>
                          <m:e>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𝑊</m:t>
                            </m:r>
                            <m:r>
                              <a:rPr lang="en-US" sz="1600" i="1">
                                <a:latin typeface="Cambria Math" panose="02040503050406030204" pitchFamily="18" charset="0"/>
                              </a:rPr>
                              <m:t>/</m:t>
                            </m:r>
                            <m:r>
                              <a:rPr lang="en-US" sz="1600" i="1">
                                <a:latin typeface="Cambria Math" panose="02040503050406030204" pitchFamily="18" charset="0"/>
                              </a:rPr>
                              <m:t>𝑊</m:t>
                            </m:r>
                            <m:r>
                              <a:rPr lang="en-US" sz="1600" i="1" smtClean="0">
                                <a:latin typeface="Cambria Math" panose="02040503050406030204" pitchFamily="18" charset="0"/>
                                <a:ea typeface="Cambria Math" panose="02040503050406030204" pitchFamily="18" charset="0"/>
                              </a:rPr>
                              <m:t>&lt;</m:t>
                            </m:r>
                            <m:r>
                              <a:rPr lang="en-US" sz="1600" b="0" i="1" smtClean="0">
                                <a:latin typeface="Cambria Math" panose="02040503050406030204" pitchFamily="18" charset="0"/>
                                <a:ea typeface="Cambria Math" panose="02040503050406030204" pitchFamily="18" charset="0"/>
                              </a:rPr>
                              <m:t>0</m:t>
                            </m:r>
                          </m:e>
                        </m:groupChr>
                      </m:e>
                      <m:lim>
                        <m:eqArr>
                          <m:eqArrPr>
                            <m:ctrlPr>
                              <a:rPr lang="en-US" sz="1600" i="1">
                                <a:latin typeface="Cambria Math" panose="02040503050406030204" pitchFamily="18" charset="0"/>
                              </a:rPr>
                            </m:ctrlPr>
                          </m:eqArrPr>
                          <m:e/>
                          <m:e>
                            <m:r>
                              <m:rPr>
                                <m:sty m:val="p"/>
                              </m:rPr>
                              <a:rPr lang="en-US" sz="1600" i="0">
                                <a:latin typeface="Cambria Math" panose="02040503050406030204" pitchFamily="18" charset="0"/>
                              </a:rPr>
                              <m:t>Real</m:t>
                            </m:r>
                            <m:r>
                              <a:rPr lang="en-US" sz="1600" i="0">
                                <a:latin typeface="Cambria Math" panose="02040503050406030204" pitchFamily="18" charset="0"/>
                              </a:rPr>
                              <m:t> </m:t>
                            </m:r>
                            <m:r>
                              <m:rPr>
                                <m:sty m:val="p"/>
                              </m:rPr>
                              <a:rPr lang="en-US" sz="1600" i="0">
                                <a:latin typeface="Cambria Math" panose="02040503050406030204" pitchFamily="18" charset="0"/>
                              </a:rPr>
                              <m:t>wage</m:t>
                            </m:r>
                            <m:r>
                              <a:rPr lang="en-US" sz="1600" i="0">
                                <a:latin typeface="Cambria Math" panose="02040503050406030204" pitchFamily="18" charset="0"/>
                              </a:rPr>
                              <m:t>   </m:t>
                            </m:r>
                          </m:e>
                          <m:e>
                            <m:r>
                              <m:rPr>
                                <m:sty m:val="p"/>
                              </m:rPr>
                              <a:rPr lang="en-US" sz="1600" i="0">
                                <a:latin typeface="Cambria Math" panose="02040503050406030204" pitchFamily="18" charset="0"/>
                              </a:rPr>
                              <m:t>falls</m:t>
                            </m:r>
                          </m:e>
                        </m:eqArr>
                      </m:lim>
                    </m:limLow>
                    <m:r>
                      <a:rPr lang="en-US" sz="1600" b="0" i="1" smtClean="0">
                        <a:latin typeface="Cambria Math" panose="02040503050406030204" pitchFamily="18" charset="0"/>
                      </a:rPr>
                      <m:t> </m:t>
                    </m:r>
                    <m:limLow>
                      <m:limLowPr>
                        <m:ctrlPr>
                          <a:rPr lang="en-US" sz="1600" i="1" smtClean="0">
                            <a:latin typeface="Cambria Math" panose="02040503050406030204" pitchFamily="18" charset="0"/>
                            <a:ea typeface="Cambria Math" panose="02040503050406030204" pitchFamily="18" charset="0"/>
                          </a:rPr>
                        </m:ctrlPr>
                      </m:limLowPr>
                      <m:e>
                        <m:groupChr>
                          <m:groupChrPr>
                            <m:chr m:val="⏟"/>
                            <m:ctrlPr>
                              <a:rPr lang="en-US" sz="1600" i="1">
                                <a:latin typeface="Cambria Math" panose="02040503050406030204" pitchFamily="18" charset="0"/>
                                <a:ea typeface="Cambria Math" panose="02040503050406030204" pitchFamily="18" charset="0"/>
                              </a:rPr>
                            </m:ctrlPr>
                          </m:groupChrPr>
                          <m:e>
                            <m:r>
                              <a:rPr lang="en-US" sz="1600" i="1" dirty="0">
                                <a:latin typeface="Cambria Math" panose="02040503050406030204" pitchFamily="18" charset="0"/>
                                <a:ea typeface="Cambria Math" panose="02040503050406030204" pitchFamily="18" charset="0"/>
                              </a:rPr>
                              <m:t>&lt;∆</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𝑃</m:t>
                                </m:r>
                              </m:e>
                              <m:sub>
                                <m:r>
                                  <a:rPr lang="en-US" sz="1600" i="1" dirty="0">
                                    <a:latin typeface="Cambria Math" panose="02040503050406030204" pitchFamily="18" charset="0"/>
                                    <a:ea typeface="Cambria Math" panose="02040503050406030204" pitchFamily="18" charset="0"/>
                                  </a:rPr>
                                  <m:t>𝑐</m:t>
                                </m:r>
                              </m:sub>
                            </m:sSub>
                            <m:r>
                              <a:rPr lang="en-US" sz="1600" i="1" dirty="0">
                                <a:latin typeface="Cambria Math" panose="02040503050406030204" pitchFamily="18" charset="0"/>
                                <a:ea typeface="Cambria Math" panose="02040503050406030204" pitchFamily="18" charset="0"/>
                              </a:rPr>
                              <m:t>/</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𝑃</m:t>
                                </m:r>
                              </m:e>
                              <m:sub>
                                <m:r>
                                  <a:rPr lang="en-US" sz="1600" i="1" dirty="0">
                                    <a:latin typeface="Cambria Math" panose="02040503050406030204" pitchFamily="18" charset="0"/>
                                    <a:ea typeface="Cambria Math" panose="02040503050406030204" pitchFamily="18" charset="0"/>
                                  </a:rPr>
                                  <m:t>𝑐</m:t>
                                </m:r>
                                <m:r>
                                  <a:rPr lang="en-US" sz="1600" i="1" dirty="0">
                                    <a:latin typeface="Cambria Math" panose="02040503050406030204" pitchFamily="18" charset="0"/>
                                    <a:ea typeface="Cambria Math" panose="02040503050406030204" pitchFamily="18" charset="0"/>
                                  </a:rPr>
                                  <m:t>  </m:t>
                                </m:r>
                              </m:sub>
                            </m:sSub>
                            <m:r>
                              <a:rPr lang="en-US" sz="1600" i="1" dirty="0" smtClean="0">
                                <a:latin typeface="Cambria Math" panose="02040503050406030204" pitchFamily="18" charset="0"/>
                                <a:ea typeface="Cambria Math" panose="02040503050406030204" pitchFamily="18" charset="0"/>
                              </a:rPr>
                              <m:t>&lt;∆</m:t>
                            </m:r>
                            <m:f>
                              <m:fPr>
                                <m:type m:val="lin"/>
                                <m:ctrlPr>
                                  <a:rPr lang="en-US" sz="1600" i="1" dirty="0" smtClean="0">
                                    <a:latin typeface="Cambria Math" panose="02040503050406030204" pitchFamily="18" charset="0"/>
                                    <a:ea typeface="Cambria Math" panose="02040503050406030204" pitchFamily="18" charset="0"/>
                                  </a:rPr>
                                </m:ctrlPr>
                              </m:fPr>
                              <m:num>
                                <m:r>
                                  <a:rPr lang="en-US" sz="1600" b="0" i="1" dirty="0" smtClean="0">
                                    <a:latin typeface="Cambria Math" panose="02040503050406030204" pitchFamily="18" charset="0"/>
                                    <a:ea typeface="Cambria Math" panose="02040503050406030204" pitchFamily="18" charset="0"/>
                                  </a:rPr>
                                  <m:t>𝑅</m:t>
                                </m:r>
                              </m:num>
                              <m:den>
                                <m:r>
                                  <a:rPr lang="en-US" sz="1600" b="0" i="1" dirty="0" smtClean="0">
                                    <a:latin typeface="Cambria Math" panose="02040503050406030204" pitchFamily="18" charset="0"/>
                                    <a:ea typeface="Cambria Math" panose="02040503050406030204" pitchFamily="18" charset="0"/>
                                  </a:rPr>
                                  <m:t>𝑅</m:t>
                                </m:r>
                              </m:den>
                            </m:f>
                          </m:e>
                        </m:groupChr>
                      </m:e>
                      <m:lim>
                        <m:eqArr>
                          <m:eqArrPr>
                            <m:ctrlPr>
                              <a:rPr lang="en-US" sz="1600" i="1">
                                <a:latin typeface="Cambria Math" panose="02040503050406030204" pitchFamily="18" charset="0"/>
                                <a:ea typeface="Cambria Math" panose="02040503050406030204" pitchFamily="18" charset="0"/>
                              </a:rPr>
                            </m:ctrlPr>
                          </m:eqArrPr>
                          <m:e/>
                          <m:e>
                            <m:r>
                              <m:rPr>
                                <m:sty m:val="p"/>
                              </m:rPr>
                              <a:rPr lang="en-US" sz="1600" i="0">
                                <a:latin typeface="Cambria Math" panose="02040503050406030204" pitchFamily="18" charset="0"/>
                                <a:ea typeface="Cambria Math" panose="02040503050406030204" pitchFamily="18" charset="0"/>
                              </a:rPr>
                              <m:t>Real</m:t>
                            </m:r>
                            <m:r>
                              <a:rPr lang="en-US" sz="1600" i="0">
                                <a:latin typeface="Cambria Math" panose="02040503050406030204" pitchFamily="18" charset="0"/>
                                <a:ea typeface="Cambria Math" panose="02040503050406030204" pitchFamily="18" charset="0"/>
                              </a:rPr>
                              <m:t> </m:t>
                            </m:r>
                            <m:r>
                              <m:rPr>
                                <m:sty m:val="p"/>
                              </m:rPr>
                              <a:rPr lang="en-US" sz="1600" i="0">
                                <a:latin typeface="Cambria Math" panose="02040503050406030204" pitchFamily="18" charset="0"/>
                                <a:ea typeface="Cambria Math" panose="02040503050406030204" pitchFamily="18" charset="0"/>
                              </a:rPr>
                              <m:t>rental</m:t>
                            </m:r>
                          </m:e>
                          <m:e>
                            <m:r>
                              <m:rPr>
                                <m:sty m:val="p"/>
                              </m:rPr>
                              <a:rPr lang="en-US" sz="1600" i="0">
                                <a:latin typeface="Cambria Math" panose="02040503050406030204" pitchFamily="18" charset="0"/>
                                <a:ea typeface="Cambria Math" panose="02040503050406030204" pitchFamily="18" charset="0"/>
                              </a:rPr>
                              <m:t>increases</m:t>
                            </m:r>
                          </m:e>
                        </m:eqArr>
                      </m:lim>
                    </m:limLow>
                  </m:oMath>
                </a14:m>
                <a:r>
                  <a:rPr lang="en-US" sz="1600" b="0" dirty="0"/>
                  <a:t>,</a:t>
                </a:r>
                <a:r>
                  <a:rPr lang="en-US" sz="1600" dirty="0"/>
                  <a:t> </a:t>
                </a:r>
                <a:r>
                  <a:rPr lang="en-US" sz="1600" b="0" dirty="0"/>
                  <a:t>for an increase in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𝐶</m:t>
                        </m:r>
                      </m:sub>
                    </m:sSub>
                  </m:oMath>
                </a14:m>
                <a:endParaRPr lang="en-IN" sz="1600" dirty="0"/>
              </a:p>
            </p:txBody>
          </p:sp>
        </mc:Choice>
        <mc:Fallback xmlns="">
          <p:sp>
            <p:nvSpPr>
              <p:cNvPr id="4" name="Content Placeholder 3">
                <a:extLst>
                  <a:ext uri="{FF2B5EF4-FFF2-40B4-BE49-F238E27FC236}">
                    <a16:creationId xmlns:a16="http://schemas.microsoft.com/office/drawing/2014/main" id="{8B2B808C-69BA-4507-BC89-F3C04C92FB50}"/>
                  </a:ext>
                </a:extLst>
              </p:cNvPr>
              <p:cNvSpPr>
                <a:spLocks noGrp="1" noRot="1" noChangeAspect="1" noMove="1" noResize="1" noEditPoints="1" noAdjustHandles="1" noChangeArrowheads="1" noChangeShapeType="1" noTextEdit="1"/>
              </p:cNvSpPr>
              <p:nvPr>
                <p:ph sz="quarter" idx="10"/>
              </p:nvPr>
            </p:nvSpPr>
            <p:spPr>
              <a:xfrm>
                <a:off x="457200" y="3207276"/>
                <a:ext cx="8229600" cy="885825"/>
              </a:xfrm>
              <a:blipFill>
                <a:blip r:embed="rId2"/>
                <a:stretch>
                  <a:fillRect t="-38621" b="-2069"/>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3D547462-7D31-4787-A31E-CF43CFA31EF3}"/>
              </a:ext>
            </a:extLst>
          </p:cNvPr>
          <p:cNvSpPr>
            <a:spLocks noGrp="1"/>
          </p:cNvSpPr>
          <p:nvPr>
            <p:ph sz="quarter" idx="13"/>
          </p:nvPr>
        </p:nvSpPr>
        <p:spPr>
          <a:xfrm>
            <a:off x="457200" y="4251411"/>
            <a:ext cx="8229600" cy="1006388"/>
          </a:xfrm>
        </p:spPr>
        <p:txBody>
          <a:bodyPr>
            <a:normAutofit fontScale="62500" lnSpcReduction="20000"/>
          </a:bodyPr>
          <a:lstStyle/>
          <a:p>
            <a:pPr marL="0" indent="0">
              <a:lnSpc>
                <a:spcPct val="120000"/>
              </a:lnSpc>
              <a:spcBef>
                <a:spcPts val="624"/>
              </a:spcBef>
              <a:buNone/>
            </a:pPr>
            <a:r>
              <a:rPr lang="en-US" altLang="en-US" sz="2800" b="0" dirty="0">
                <a:latin typeface="+mn-lt"/>
              </a:rPr>
              <a:t>The relationship between the changes in product prices to changes in factor prices is called the “magnification effect” because it shows how changes in the prices of goods have a </a:t>
            </a:r>
            <a:r>
              <a:rPr lang="en-US" altLang="en-US" sz="2800" b="0" i="1" dirty="0">
                <a:latin typeface="+mn-lt"/>
              </a:rPr>
              <a:t>magnified effect </a:t>
            </a:r>
            <a:r>
              <a:rPr lang="en-US" altLang="en-US" sz="2800" b="0" dirty="0">
                <a:latin typeface="+mn-lt"/>
              </a:rPr>
              <a:t>on the earnings of factors.</a:t>
            </a:r>
            <a:endParaRPr lang="en-US" altLang="en-US" sz="2800" dirty="0">
              <a:latin typeface="+mn-lt"/>
            </a:endParaRP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027779E-55DC-4F7A-9330-5ED3428CDE25}"/>
                  </a:ext>
                </a:extLst>
              </p:cNvPr>
              <p:cNvSpPr>
                <a:spLocks noGrp="1"/>
              </p:cNvSpPr>
              <p:nvPr>
                <p:ph sz="quarter" idx="14"/>
              </p:nvPr>
            </p:nvSpPr>
            <p:spPr>
              <a:xfrm>
                <a:off x="598517" y="5257799"/>
                <a:ext cx="4572000" cy="1070459"/>
              </a:xfrm>
            </p:spPr>
            <p:txBody>
              <a:bodyPr>
                <a:normAutofit/>
              </a:bodyPr>
              <a:lstStyle/>
              <a:p>
                <a:pPr marL="0" indent="0" algn="ctr">
                  <a:buNone/>
                </a:pPr>
                <a14:m>
                  <m:oMath xmlns:m="http://schemas.openxmlformats.org/officeDocument/2006/math">
                    <m:limLow>
                      <m:limLowPr>
                        <m:ctrlPr>
                          <a:rPr lang="en-US" sz="1400" i="1" smtClean="0">
                            <a:latin typeface="Cambria Math" panose="02040503050406030204" pitchFamily="18" charset="0"/>
                            <a:ea typeface="Cambria Math" panose="02040503050406030204" pitchFamily="18" charset="0"/>
                          </a:rPr>
                        </m:ctrlPr>
                      </m:limLowPr>
                      <m:e>
                        <m:groupChr>
                          <m:groupChrPr>
                            <m:chr m:val="⏟"/>
                            <m:ctrlPr>
                              <a:rPr lang="en-US" sz="1400" i="1">
                                <a:latin typeface="Cambria Math" panose="02040503050406030204" pitchFamily="18" charset="0"/>
                                <a:ea typeface="Cambria Math" panose="02040503050406030204" pitchFamily="18" charset="0"/>
                              </a:rPr>
                            </m:ctrlPr>
                          </m:groupChrPr>
                          <m:e>
                            <m:f>
                              <m:fPr>
                                <m:type m:val="lin"/>
                                <m:ctrlPr>
                                  <a:rPr lang="en-U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𝑅</m:t>
                                </m:r>
                              </m:num>
                              <m:den>
                                <m:r>
                                  <a:rPr lang="en-US" sz="1400" i="1">
                                    <a:latin typeface="Cambria Math" panose="02040503050406030204" pitchFamily="18" charset="0"/>
                                  </a:rPr>
                                  <m:t>𝑅</m:t>
                                </m:r>
                                <m:r>
                                  <a:rPr lang="en-US" sz="1400" i="1">
                                    <a:latin typeface="Cambria Math" panose="02040503050406030204" pitchFamily="18" charset="0"/>
                                    <a:ea typeface="Cambria Math" panose="02040503050406030204" pitchFamily="18" charset="0"/>
                                  </a:rPr>
                                  <m:t>&lt; ∆</m:t>
                                </m:r>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𝑃</m:t>
                                    </m:r>
                                  </m:e>
                                  <m:sub>
                                    <m:r>
                                      <a:rPr lang="en-US" sz="1400" i="1">
                                        <a:latin typeface="Cambria Math" panose="02040503050406030204" pitchFamily="18" charset="0"/>
                                        <a:ea typeface="Cambria Math" panose="02040503050406030204" pitchFamily="18" charset="0"/>
                                      </a:rPr>
                                      <m:t>𝐶</m:t>
                                    </m:r>
                                    <m:r>
                                      <a:rPr lang="en-US" sz="1400" i="1">
                                        <a:latin typeface="Cambria Math" panose="02040503050406030204" pitchFamily="18" charset="0"/>
                                        <a:ea typeface="Cambria Math" panose="02040503050406030204" pitchFamily="18" charset="0"/>
                                      </a:rPr>
                                      <m:t> /</m:t>
                                    </m:r>
                                  </m:sub>
                                </m:sSub>
                              </m:den>
                            </m:f>
                          </m:e>
                        </m:groupChr>
                      </m:e>
                      <m:lim>
                        <m:eqArr>
                          <m:eqArrPr>
                            <m:ctrlPr>
                              <a:rPr lang="en-US" sz="1400" i="1">
                                <a:latin typeface="Cambria Math" panose="02040503050406030204" pitchFamily="18" charset="0"/>
                                <a:ea typeface="Cambria Math" panose="02040503050406030204" pitchFamily="18" charset="0"/>
                              </a:rPr>
                            </m:ctrlPr>
                          </m:eqArrPr>
                          <m:e/>
                          <m:e>
                            <m:r>
                              <m:rPr>
                                <m:sty m:val="p"/>
                              </m:rPr>
                              <a:rPr lang="en-US" sz="1400" i="0">
                                <a:latin typeface="Cambria Math" panose="02040503050406030204" pitchFamily="18" charset="0"/>
                                <a:ea typeface="Cambria Math" panose="02040503050406030204" pitchFamily="18" charset="0"/>
                              </a:rPr>
                              <m:t>Real</m:t>
                            </m:r>
                            <m:r>
                              <a:rPr lang="en-US" sz="1400" i="0">
                                <a:latin typeface="Cambria Math" panose="02040503050406030204" pitchFamily="18" charset="0"/>
                                <a:ea typeface="Cambria Math" panose="02040503050406030204" pitchFamily="18" charset="0"/>
                              </a:rPr>
                              <m:t> </m:t>
                            </m:r>
                            <m:r>
                              <m:rPr>
                                <m:sty m:val="p"/>
                              </m:rPr>
                              <a:rPr lang="en-US" sz="1400" i="0">
                                <a:latin typeface="Cambria Math" panose="02040503050406030204" pitchFamily="18" charset="0"/>
                                <a:ea typeface="Cambria Math" panose="02040503050406030204" pitchFamily="18" charset="0"/>
                              </a:rPr>
                              <m:t>rental</m:t>
                            </m:r>
                            <m:r>
                              <a:rPr lang="en-US" sz="1400" i="0">
                                <a:latin typeface="Cambria Math" panose="02040503050406030204" pitchFamily="18" charset="0"/>
                                <a:ea typeface="Cambria Math" panose="02040503050406030204" pitchFamily="18" charset="0"/>
                              </a:rPr>
                              <m:t> </m:t>
                            </m:r>
                          </m:e>
                          <m:e>
                            <m:r>
                              <m:rPr>
                                <m:sty m:val="p"/>
                              </m:rPr>
                              <a:rPr lang="en-US" sz="1400" i="0">
                                <a:latin typeface="Cambria Math" panose="02040503050406030204" pitchFamily="18" charset="0"/>
                                <a:ea typeface="Cambria Math" panose="02040503050406030204" pitchFamily="18" charset="0"/>
                              </a:rPr>
                              <m:t>falls</m:t>
                            </m:r>
                          </m:e>
                        </m:eqArr>
                      </m:lim>
                    </m:limLow>
                    <m:limLow>
                      <m:limLowPr>
                        <m:ctrlPr>
                          <a:rPr lang="en-US" sz="1400" i="1">
                            <a:latin typeface="Cambria Math" panose="02040503050406030204" pitchFamily="18" charset="0"/>
                            <a:ea typeface="Cambria Math" panose="02040503050406030204" pitchFamily="18" charset="0"/>
                          </a:rPr>
                        </m:ctrlPr>
                      </m:limLowPr>
                      <m:e>
                        <m:groupChr>
                          <m:groupChrPr>
                            <m:chr m:val="⏟"/>
                            <m:ctrlPr>
                              <a:rPr lang="en-US" sz="1400" i="1">
                                <a:latin typeface="Cambria Math" panose="02040503050406030204" pitchFamily="18" charset="0"/>
                                <a:ea typeface="Cambria Math" panose="02040503050406030204" pitchFamily="18" charset="0"/>
                              </a:rPr>
                            </m:ctrlPr>
                          </m:groupChrPr>
                          <m:e>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𝑃</m:t>
                                </m:r>
                              </m:e>
                              <m:sub>
                                <m:r>
                                  <a:rPr lang="en-US" sz="1400" i="1">
                                    <a:latin typeface="Cambria Math" panose="02040503050406030204" pitchFamily="18" charset="0"/>
                                    <a:ea typeface="Cambria Math" panose="02040503050406030204" pitchFamily="18" charset="0"/>
                                  </a:rPr>
                                  <m:t>𝐶</m:t>
                                </m:r>
                                <m:r>
                                  <a:rPr lang="en-US" sz="1400" i="1">
                                    <a:latin typeface="Cambria Math" panose="02040503050406030204" pitchFamily="18" charset="0"/>
                                    <a:ea typeface="Cambria Math" panose="02040503050406030204" pitchFamily="18" charset="0"/>
                                  </a:rPr>
                                  <m:t> </m:t>
                                </m:r>
                              </m:sub>
                            </m:sSub>
                            <m:r>
                              <a:rPr lang="en-US" sz="1400" i="1" smtClean="0">
                                <a:latin typeface="Cambria Math" panose="02040503050406030204" pitchFamily="18" charset="0"/>
                                <a:ea typeface="Cambria Math" panose="02040503050406030204" pitchFamily="18" charset="0"/>
                              </a:rPr>
                              <m:t>&lt;</m:t>
                            </m:r>
                            <m:r>
                              <a:rPr lang="en-US" sz="1400" b="0" i="1" smtClean="0">
                                <a:latin typeface="Cambria Math" panose="02040503050406030204" pitchFamily="18" charset="0"/>
                                <a:ea typeface="Cambria Math" panose="02040503050406030204" pitchFamily="18" charset="0"/>
                              </a:rPr>
                              <m:t>0&lt;∆</m:t>
                            </m:r>
                            <m:f>
                              <m:fPr>
                                <m:type m:val="lin"/>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𝑊</m:t>
                                </m:r>
                              </m:num>
                              <m:den>
                                <m:r>
                                  <a:rPr lang="en-US" sz="1400" b="0" i="1" smtClean="0">
                                    <a:latin typeface="Cambria Math" panose="02040503050406030204" pitchFamily="18" charset="0"/>
                                    <a:ea typeface="Cambria Math" panose="02040503050406030204" pitchFamily="18" charset="0"/>
                                  </a:rPr>
                                  <m:t>𝑊</m:t>
                                </m:r>
                              </m:den>
                            </m:f>
                          </m:e>
                        </m:groupChr>
                      </m:e>
                      <m:lim>
                        <m:eqArr>
                          <m:eqArrPr>
                            <m:ctrlPr>
                              <a:rPr lang="en-US" sz="1400" i="1">
                                <a:latin typeface="Cambria Math" panose="02040503050406030204" pitchFamily="18" charset="0"/>
                                <a:ea typeface="Cambria Math" panose="02040503050406030204" pitchFamily="18" charset="0"/>
                              </a:rPr>
                            </m:ctrlPr>
                          </m:eqArrPr>
                          <m:e/>
                          <m:e>
                            <m:r>
                              <m:rPr>
                                <m:sty m:val="p"/>
                              </m:rPr>
                              <a:rPr lang="en-US" sz="1400" i="0">
                                <a:latin typeface="Cambria Math" panose="02040503050406030204" pitchFamily="18" charset="0"/>
                                <a:ea typeface="Cambria Math" panose="02040503050406030204" pitchFamily="18" charset="0"/>
                              </a:rPr>
                              <m:t>Real</m:t>
                            </m:r>
                            <m:r>
                              <a:rPr lang="en-US" sz="1400" i="0">
                                <a:latin typeface="Cambria Math" panose="02040503050406030204" pitchFamily="18" charset="0"/>
                                <a:ea typeface="Cambria Math" panose="02040503050406030204" pitchFamily="18" charset="0"/>
                              </a:rPr>
                              <m:t> </m:t>
                            </m:r>
                            <m:r>
                              <m:rPr>
                                <m:sty m:val="p"/>
                              </m:rPr>
                              <a:rPr lang="en-US" sz="1400" i="0">
                                <a:latin typeface="Cambria Math" panose="02040503050406030204" pitchFamily="18" charset="0"/>
                                <a:ea typeface="Cambria Math" panose="02040503050406030204" pitchFamily="18" charset="0"/>
                              </a:rPr>
                              <m:t>wage</m:t>
                            </m:r>
                            <m:r>
                              <a:rPr lang="en-US" sz="1400" i="0">
                                <a:latin typeface="Cambria Math" panose="02040503050406030204" pitchFamily="18" charset="0"/>
                                <a:ea typeface="Cambria Math" panose="02040503050406030204" pitchFamily="18" charset="0"/>
                              </a:rPr>
                              <m:t> </m:t>
                            </m:r>
                          </m:e>
                          <m:e>
                            <m:r>
                              <m:rPr>
                                <m:sty m:val="p"/>
                              </m:rPr>
                              <a:rPr lang="en-US" sz="1400" i="0">
                                <a:latin typeface="Cambria Math" panose="02040503050406030204" pitchFamily="18" charset="0"/>
                                <a:ea typeface="Cambria Math" panose="02040503050406030204" pitchFamily="18" charset="0"/>
                              </a:rPr>
                              <m:t>increases</m:t>
                            </m:r>
                          </m:e>
                        </m:eqArr>
                      </m:lim>
                    </m:limLow>
                  </m:oMath>
                </a14:m>
                <a:r>
                  <a:rPr lang="en-US" sz="1400" b="0" dirty="0"/>
                  <a:t>,</a:t>
                </a:r>
                <a:r>
                  <a:rPr lang="en-US" sz="1400" dirty="0"/>
                  <a:t> </a:t>
                </a:r>
                <a:r>
                  <a:rPr lang="en-US" sz="1400" b="0" dirty="0"/>
                  <a:t>for a decrease in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𝐶</m:t>
                        </m:r>
                      </m:sub>
                    </m:sSub>
                  </m:oMath>
                </a14:m>
                <a:endParaRPr lang="en-US" sz="1400" dirty="0"/>
              </a:p>
            </p:txBody>
          </p:sp>
        </mc:Choice>
        <mc:Fallback xmlns="">
          <p:sp>
            <p:nvSpPr>
              <p:cNvPr id="8" name="Content Placeholder 7">
                <a:extLst>
                  <a:ext uri="{FF2B5EF4-FFF2-40B4-BE49-F238E27FC236}">
                    <a16:creationId xmlns:a16="http://schemas.microsoft.com/office/drawing/2014/main" id="{5027779E-55DC-4F7A-9330-5ED3428CDE25}"/>
                  </a:ext>
                </a:extLst>
              </p:cNvPr>
              <p:cNvSpPr>
                <a:spLocks noGrp="1" noRot="1" noChangeAspect="1" noMove="1" noResize="1" noEditPoints="1" noAdjustHandles="1" noChangeArrowheads="1" noChangeShapeType="1" noTextEdit="1"/>
              </p:cNvSpPr>
              <p:nvPr>
                <p:ph sz="quarter" idx="14"/>
              </p:nvPr>
            </p:nvSpPr>
            <p:spPr>
              <a:xfrm>
                <a:off x="598517" y="5257799"/>
                <a:ext cx="4572000" cy="1070459"/>
              </a:xfrm>
              <a:blipFill>
                <a:blip r:embed="rId3"/>
                <a:stretch>
                  <a:fillRect t="-26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5E674BDA-DD6B-4332-BA39-53431F6F5341}"/>
                  </a:ext>
                </a:extLst>
              </p:cNvPr>
              <p:cNvSpPr>
                <a:spLocks noGrp="1"/>
              </p:cNvSpPr>
              <p:nvPr>
                <p:ph sz="quarter" idx="16"/>
              </p:nvPr>
            </p:nvSpPr>
            <p:spPr>
              <a:xfrm>
                <a:off x="5020887" y="5257799"/>
                <a:ext cx="3940233" cy="1006388"/>
              </a:xfrm>
            </p:spPr>
            <p:txBody>
              <a:bodyPr>
                <a:normAutofit fontScale="47500" lnSpcReduction="20000"/>
              </a:bodyPr>
              <a:lstStyle/>
              <a:p>
                <a:pPr marL="0" indent="0">
                  <a:buNone/>
                </a:pPr>
                <a14:m>
                  <m:oMathPara xmlns:m="http://schemas.openxmlformats.org/officeDocument/2006/math">
                    <m:oMathParaPr>
                      <m:jc m:val="center"/>
                    </m:oMathParaPr>
                    <m:oMath xmlns:m="http://schemas.openxmlformats.org/officeDocument/2006/math">
                      <m:limLow>
                        <m:limLowPr>
                          <m:ctrlPr>
                            <a:rPr lang="en-US" sz="2800" i="1">
                              <a:latin typeface="Cambria Math" panose="02040503050406030204" pitchFamily="18" charset="0"/>
                            </a:rPr>
                          </m:ctrlPr>
                        </m:limLowPr>
                        <m:e>
                          <m:groupChr>
                            <m:groupChrPr>
                              <m:chr m:val="⏟"/>
                              <m:ctrlPr>
                                <a:rPr lang="en-US" sz="2800" i="1">
                                  <a:latin typeface="Cambria Math" panose="02040503050406030204" pitchFamily="18" charset="0"/>
                                </a:rPr>
                              </m:ctrlPr>
                            </m:groupChrPr>
                            <m:e>
                              <m:f>
                                <m:fPr>
                                  <m:type m:val="lin"/>
                                  <m:ctrlPr>
                                    <a:rPr lang="en-US" sz="2800" i="1">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𝑅</m:t>
                                  </m:r>
                                </m:num>
                                <m:den>
                                  <m:r>
                                    <a:rPr lang="en-US" sz="2800" i="1">
                                      <a:latin typeface="Cambria Math" panose="02040503050406030204" pitchFamily="18" charset="0"/>
                                    </a:rPr>
                                    <m:t>𝑅</m:t>
                                  </m:r>
                                  <m:r>
                                    <a:rPr lang="en-US" sz="2800" i="1">
                                      <a:latin typeface="Cambria Math" panose="02040503050406030204" pitchFamily="18" charset="0"/>
                                    </a:rPr>
                                    <m:t> &lt;0</m:t>
                                  </m:r>
                                </m:den>
                              </m:f>
                            </m:e>
                          </m:groupChr>
                        </m:e>
                        <m:lim>
                          <m:eqArr>
                            <m:eqArrPr>
                              <m:ctrlPr>
                                <a:rPr lang="en-US" sz="2800" i="1">
                                  <a:latin typeface="Cambria Math" panose="02040503050406030204" pitchFamily="18" charset="0"/>
                                </a:rPr>
                              </m:ctrlPr>
                            </m:eqArrPr>
                            <m:e/>
                            <m:e>
                              <m:r>
                                <m:rPr>
                                  <m:sty m:val="p"/>
                                </m:rPr>
                                <a:rPr lang="en-US" sz="2800" i="0">
                                  <a:latin typeface="Cambria Math" panose="02040503050406030204" pitchFamily="18" charset="0"/>
                                </a:rPr>
                                <m:t>Real</m:t>
                              </m:r>
                              <m:r>
                                <a:rPr lang="en-US" sz="2800" i="0">
                                  <a:latin typeface="Cambria Math" panose="02040503050406030204" pitchFamily="18" charset="0"/>
                                </a:rPr>
                                <m:t> </m:t>
                              </m:r>
                              <m:r>
                                <m:rPr>
                                  <m:sty m:val="p"/>
                                </m:rPr>
                                <a:rPr lang="en-US" sz="2800" i="0">
                                  <a:latin typeface="Cambria Math" panose="02040503050406030204" pitchFamily="18" charset="0"/>
                                </a:rPr>
                                <m:t>rental</m:t>
                              </m:r>
                              <m:r>
                                <a:rPr lang="en-US" sz="2800" i="0">
                                  <a:latin typeface="Cambria Math" panose="02040503050406030204" pitchFamily="18" charset="0"/>
                                </a:rPr>
                                <m:t> </m:t>
                              </m:r>
                            </m:e>
                            <m:e>
                              <m:r>
                                <m:rPr>
                                  <m:sty m:val="p"/>
                                </m:rPr>
                                <a:rPr lang="en-US" sz="2800" i="0">
                                  <a:latin typeface="Cambria Math" panose="02040503050406030204" pitchFamily="18" charset="0"/>
                                </a:rPr>
                                <m:t>falls</m:t>
                              </m:r>
                            </m:e>
                          </m:eqArr>
                        </m:lim>
                      </m:limLow>
                      <m:limLow>
                        <m:limLowPr>
                          <m:ctrlPr>
                            <a:rPr lang="en-US" sz="2800" i="1">
                              <a:latin typeface="Cambria Math" panose="02040503050406030204" pitchFamily="18" charset="0"/>
                            </a:rPr>
                          </m:ctrlPr>
                        </m:limLowPr>
                        <m:e>
                          <m:groupChr>
                            <m:groupChrPr>
                              <m:chr m:val="⏟"/>
                              <m:ctrlPr>
                                <a:rPr lang="en-US" sz="2800" i="1">
                                  <a:latin typeface="Cambria Math" panose="02040503050406030204" pitchFamily="18" charset="0"/>
                                </a:rPr>
                              </m:ctrlPr>
                            </m:groupChrPr>
                            <m:e>
                              <m:r>
                                <a:rPr lang="en-US" sz="2800" i="1">
                                  <a:latin typeface="Cambria Math" panose="02040503050406030204" pitchFamily="18" charset="0"/>
                                  <a:ea typeface="Cambria Math" panose="02040503050406030204" pitchFamily="18" charset="0"/>
                                </a:rPr>
                                <m:t>&lt;∆</m:t>
                              </m:r>
                              <m:f>
                                <m:fPr>
                                  <m:type m:val="lin"/>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𝑆</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𝑆</m:t>
                                      </m:r>
                                      <m:r>
                                        <a:rPr lang="en-US" sz="2800" i="1">
                                          <a:latin typeface="Cambria Math" panose="02040503050406030204" pitchFamily="18" charset="0"/>
                                          <a:ea typeface="Cambria Math" panose="02040503050406030204" pitchFamily="18" charset="0"/>
                                        </a:rPr>
                                        <m:t> </m:t>
                                      </m:r>
                                    </m:sub>
                                  </m:sSub>
                                  <m:r>
                                    <a:rPr lang="en-US" sz="2800" i="1" smtClean="0">
                                      <a:latin typeface="Cambria Math" panose="02040503050406030204" pitchFamily="18" charset="0"/>
                                      <a:ea typeface="Cambria Math" panose="02040503050406030204" pitchFamily="18" charset="0"/>
                                    </a:rPr>
                                    <m:t>&lt;∆</m:t>
                                  </m:r>
                                  <m:f>
                                    <m:fPr>
                                      <m:type m:val="lin"/>
                                      <m:ctrlPr>
                                        <a:rPr lang="en-US" sz="280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𝑊</m:t>
                                      </m:r>
                                    </m:num>
                                    <m:den>
                                      <m:r>
                                        <a:rPr lang="en-US" sz="2800" b="0" i="1" smtClean="0">
                                          <a:latin typeface="Cambria Math" panose="02040503050406030204" pitchFamily="18" charset="0"/>
                                          <a:ea typeface="Cambria Math" panose="02040503050406030204" pitchFamily="18" charset="0"/>
                                        </a:rPr>
                                        <m:t>𝑊</m:t>
                                      </m:r>
                                    </m:den>
                                  </m:f>
                                </m:den>
                              </m:f>
                            </m:e>
                          </m:groupChr>
                        </m:e>
                        <m:lim>
                          <m:eqArr>
                            <m:eqArrPr>
                              <m:ctrlPr>
                                <a:rPr lang="en-US" sz="2800" i="1">
                                  <a:latin typeface="Cambria Math" panose="02040503050406030204" pitchFamily="18" charset="0"/>
                                </a:rPr>
                              </m:ctrlPr>
                            </m:eqArrPr>
                            <m:e/>
                            <m:e>
                              <m:r>
                                <m:rPr>
                                  <m:sty m:val="p"/>
                                </m:rPr>
                                <a:rPr lang="en-US" sz="2800" i="0">
                                  <a:latin typeface="Cambria Math" panose="02040503050406030204" pitchFamily="18" charset="0"/>
                                </a:rPr>
                                <m:t>Real</m:t>
                              </m:r>
                              <m:r>
                                <a:rPr lang="en-US" sz="2800" i="0">
                                  <a:latin typeface="Cambria Math" panose="02040503050406030204" pitchFamily="18" charset="0"/>
                                </a:rPr>
                                <m:t> </m:t>
                              </m:r>
                              <m:r>
                                <m:rPr>
                                  <m:sty m:val="p"/>
                                </m:rPr>
                                <a:rPr lang="en-US" sz="2800" i="0">
                                  <a:latin typeface="Cambria Math" panose="02040503050406030204" pitchFamily="18" charset="0"/>
                                </a:rPr>
                                <m:t>wage</m:t>
                              </m:r>
                              <m:r>
                                <a:rPr lang="en-US" sz="2800" i="0">
                                  <a:latin typeface="Cambria Math" panose="02040503050406030204" pitchFamily="18" charset="0"/>
                                </a:rPr>
                                <m:t> </m:t>
                              </m:r>
                            </m:e>
                            <m:e>
                              <m:r>
                                <m:rPr>
                                  <m:sty m:val="p"/>
                                </m:rPr>
                                <a:rPr lang="en-US" sz="2800" i="0">
                                  <a:latin typeface="Cambria Math" panose="02040503050406030204" pitchFamily="18" charset="0"/>
                                </a:rPr>
                                <m:t>increases</m:t>
                              </m:r>
                            </m:e>
                          </m:eqArr>
                        </m:lim>
                      </m:limLow>
                      <m:r>
                        <a:rPr lang="en-US" sz="2800">
                          <a:latin typeface="Cambria Math" panose="02040503050406030204" pitchFamily="18" charset="0"/>
                        </a:rPr>
                        <m:t>  </m:t>
                      </m:r>
                      <m:r>
                        <a:rPr lang="en-US" sz="2800" smtClean="0">
                          <a:latin typeface="Cambria Math" panose="02040503050406030204" pitchFamily="18" charset="0"/>
                        </a:rPr>
                        <m:t>,</m:t>
                      </m:r>
                      <m:r>
                        <a:rPr lang="en-US" sz="2800">
                          <a:latin typeface="Cambria Math" panose="02040503050406030204" pitchFamily="18" charset="0"/>
                        </a:rPr>
                        <m:t> </m:t>
                      </m:r>
                      <m:r>
                        <m:rPr>
                          <m:sty m:val="p"/>
                        </m:rPr>
                        <a:rPr lang="en-US" sz="2800">
                          <a:latin typeface="Cambria Math" panose="02040503050406030204" pitchFamily="18" charset="0"/>
                        </a:rPr>
                        <m:t>for</m:t>
                      </m:r>
                      <m:r>
                        <a:rPr lang="en-US" sz="2800">
                          <a:latin typeface="Cambria Math" panose="02040503050406030204" pitchFamily="18" charset="0"/>
                        </a:rPr>
                        <m:t> </m:t>
                      </m:r>
                      <m:r>
                        <m:rPr>
                          <m:sty m:val="p"/>
                        </m:rPr>
                        <a:rPr lang="en-US" sz="2800">
                          <a:latin typeface="Cambria Math" panose="02040503050406030204" pitchFamily="18" charset="0"/>
                        </a:rPr>
                        <m:t>an</m:t>
                      </m:r>
                      <m:r>
                        <a:rPr lang="en-US" sz="2800">
                          <a:latin typeface="Cambria Math" panose="02040503050406030204" pitchFamily="18" charset="0"/>
                        </a:rPr>
                        <m:t> </m:t>
                      </m:r>
                      <m:r>
                        <m:rPr>
                          <m:sty m:val="p"/>
                        </m:rPr>
                        <a:rPr lang="en-US" sz="2800">
                          <a:latin typeface="Cambria Math" panose="02040503050406030204" pitchFamily="18" charset="0"/>
                        </a:rPr>
                        <m:t>increase</m:t>
                      </m:r>
                      <m:r>
                        <a:rPr lang="en-US" sz="2800">
                          <a:latin typeface="Cambria Math" panose="02040503050406030204" pitchFamily="18" charset="0"/>
                        </a:rPr>
                        <m:t> </m:t>
                      </m:r>
                      <m:r>
                        <m:rPr>
                          <m:sty m:val="p"/>
                        </m:rPr>
                        <a:rPr lang="en-US" sz="2800">
                          <a:latin typeface="Cambria Math" panose="02040503050406030204" pitchFamily="18" charset="0"/>
                        </a:rPr>
                        <m:t>in</m:t>
                      </m:r>
                      <m:r>
                        <a:rPr lang="en-US" sz="2800">
                          <a:latin typeface="Cambria Math" panose="02040503050406030204" pitchFamily="18" charset="0"/>
                        </a:rPr>
                        <m:t> </m:t>
                      </m:r>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𝑆</m:t>
                          </m:r>
                        </m:sub>
                      </m:sSub>
                    </m:oMath>
                  </m:oMathPara>
                </a14:m>
                <a:endParaRPr lang="en-US" sz="2800" dirty="0"/>
              </a:p>
            </p:txBody>
          </p:sp>
        </mc:Choice>
        <mc:Fallback xmlns="">
          <p:sp>
            <p:nvSpPr>
              <p:cNvPr id="12" name="Content Placeholder 11">
                <a:extLst>
                  <a:ext uri="{FF2B5EF4-FFF2-40B4-BE49-F238E27FC236}">
                    <a16:creationId xmlns:a16="http://schemas.microsoft.com/office/drawing/2014/main" id="{5E674BDA-DD6B-4332-BA39-53431F6F5341}"/>
                  </a:ext>
                </a:extLst>
              </p:cNvPr>
              <p:cNvSpPr>
                <a:spLocks noGrp="1" noRot="1" noChangeAspect="1" noMove="1" noResize="1" noEditPoints="1" noAdjustHandles="1" noChangeArrowheads="1" noChangeShapeType="1" noTextEdit="1"/>
              </p:cNvSpPr>
              <p:nvPr>
                <p:ph sz="quarter" idx="18"/>
              </p:nvPr>
            </p:nvSpPr>
            <p:spPr>
              <a:xfrm>
                <a:off x="5020887" y="5257799"/>
                <a:ext cx="3940233" cy="1006388"/>
              </a:xfrm>
              <a:blipFill>
                <a:blip r:embed="rId4"/>
                <a:stretch>
                  <a:fillRect t="-27711" r="-464"/>
                </a:stretch>
              </a:blipFill>
            </p:spPr>
            <p:txBody>
              <a:bodyPr/>
              <a:lstStyle/>
              <a:p>
                <a:r>
                  <a:rPr lang="en-IN">
                    <a:noFill/>
                  </a:rPr>
                  <a:t> </a:t>
                </a:r>
              </a:p>
            </p:txBody>
          </p:sp>
        </mc:Fallback>
      </mc:AlternateContent>
    </p:spTree>
    <p:extLst>
      <p:ext uri="{BB962C8B-B14F-4D97-AF65-F5344CB8AC3E}">
        <p14:creationId xmlns:p14="http://schemas.microsoft.com/office/powerpoint/2010/main" val="2288776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ABB4-A6F3-2B45-B724-5B167F9D164D}"/>
              </a:ext>
            </a:extLst>
          </p:cNvPr>
          <p:cNvSpPr>
            <a:spLocks noGrp="1"/>
          </p:cNvSpPr>
          <p:nvPr>
            <p:ph type="title"/>
          </p:nvPr>
        </p:nvSpPr>
        <p:spPr/>
        <p:txBody>
          <a:bodyPr>
            <a:normAutofit/>
          </a:bodyPr>
          <a:lstStyle/>
          <a:p>
            <a:r>
              <a:rPr lang="en-US" sz="3600" dirty="0"/>
              <a:t>Conclusions (part 1)</a:t>
            </a:r>
          </a:p>
        </p:txBody>
      </p:sp>
      <p:sp>
        <p:nvSpPr>
          <p:cNvPr id="3" name="Content Placeholder 2">
            <a:extLst>
              <a:ext uri="{FF2B5EF4-FFF2-40B4-BE49-F238E27FC236}">
                <a16:creationId xmlns:a16="http://schemas.microsoft.com/office/drawing/2014/main" id="{3523C8A0-98C9-FE4B-8AAB-9C5BCB89A97A}"/>
              </a:ext>
            </a:extLst>
          </p:cNvPr>
          <p:cNvSpPr>
            <a:spLocks noGrp="1"/>
          </p:cNvSpPr>
          <p:nvPr>
            <p:ph idx="1"/>
          </p:nvPr>
        </p:nvSpPr>
        <p:spPr/>
        <p:txBody>
          <a:bodyPr>
            <a:normAutofit fontScale="92500" lnSpcReduction="20000"/>
          </a:bodyPr>
          <a:lstStyle/>
          <a:p>
            <a:pPr>
              <a:lnSpc>
                <a:spcPct val="120000"/>
              </a:lnSpc>
              <a:defRPr/>
            </a:pPr>
            <a:r>
              <a:rPr lang="en-US" altLang="en-US" b="0" dirty="0">
                <a:solidFill>
                  <a:prstClr val="black"/>
                </a:solidFill>
                <a:ea typeface="ＭＳ Ｐゴシック" charset="0"/>
              </a:rPr>
              <a:t>The Heckscher</a:t>
            </a:r>
            <a:r>
              <a:rPr lang="en-US" b="0" dirty="0">
                <a:solidFill>
                  <a:prstClr val="black"/>
                </a:solidFill>
                <a:cs typeface="Arial" charset="0"/>
              </a:rPr>
              <a:t>–</a:t>
            </a:r>
            <a:r>
              <a:rPr lang="en-US" altLang="en-US" b="0" dirty="0">
                <a:solidFill>
                  <a:prstClr val="black"/>
                </a:solidFill>
                <a:ea typeface="ＭＳ Ｐゴシック" charset="0"/>
              </a:rPr>
              <a:t>Ohlin model isolates the effect of different factor endowments across countries and determines the impact of these differences on trade patterns, relative prices of goods between countries, and factor returns.</a:t>
            </a:r>
          </a:p>
          <a:p>
            <a:pPr>
              <a:lnSpc>
                <a:spcPct val="120000"/>
              </a:lnSpc>
              <a:defRPr/>
            </a:pPr>
            <a:r>
              <a:rPr lang="en-US" altLang="en-US" b="0" dirty="0">
                <a:solidFill>
                  <a:prstClr val="black"/>
                </a:solidFill>
                <a:ea typeface="ＭＳ Ｐゴシック" charset="0"/>
              </a:rPr>
              <a:t>The Heckscher‒Ohlin model predicts that countries export goods that use their abundant factor intensively.</a:t>
            </a:r>
          </a:p>
          <a:p>
            <a:pPr>
              <a:lnSpc>
                <a:spcPct val="120000"/>
              </a:lnSpc>
              <a:defRPr/>
            </a:pPr>
            <a:r>
              <a:rPr lang="en-US" altLang="en-US" b="0" dirty="0">
                <a:solidFill>
                  <a:prstClr val="black"/>
                </a:solidFill>
                <a:ea typeface="ＭＳ Ｐゴシック" charset="0"/>
              </a:rPr>
              <a:t>Leontief paradoxically found that the exports from the United States were relatively labor-intensive. This paradox was explained with later research showing that the United States was abundant in effective labor, as measured by productivity, in 1947.</a:t>
            </a:r>
          </a:p>
          <a:p>
            <a:pPr>
              <a:lnSpc>
                <a:spcPct val="120000"/>
              </a:lnSpc>
              <a:defRPr/>
            </a:pPr>
            <a:r>
              <a:rPr lang="en-US" altLang="en-US" b="0" dirty="0">
                <a:solidFill>
                  <a:prstClr val="black"/>
                </a:solidFill>
                <a:ea typeface="ＭＳ Ｐゴシック" charset="0"/>
              </a:rPr>
              <a:t>Adjusting factors of production for their productivity also explains the changing abundancy and scarcity of arable land in the United States and of R&amp;D scientists in China.</a:t>
            </a:r>
          </a:p>
        </p:txBody>
      </p:sp>
    </p:spTree>
    <p:extLst>
      <p:ext uri="{BB962C8B-B14F-4D97-AF65-F5344CB8AC3E}">
        <p14:creationId xmlns:p14="http://schemas.microsoft.com/office/powerpoint/2010/main" val="2539074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ABB4-A6F3-2B45-B724-5B167F9D164D}"/>
              </a:ext>
            </a:extLst>
          </p:cNvPr>
          <p:cNvSpPr>
            <a:spLocks noGrp="1"/>
          </p:cNvSpPr>
          <p:nvPr>
            <p:ph type="title"/>
          </p:nvPr>
        </p:nvSpPr>
        <p:spPr/>
        <p:txBody>
          <a:bodyPr/>
          <a:lstStyle/>
          <a:p>
            <a:r>
              <a:rPr lang="en-US" dirty="0"/>
              <a:t>Conclusions (part 2)</a:t>
            </a:r>
          </a:p>
        </p:txBody>
      </p:sp>
      <p:sp>
        <p:nvSpPr>
          <p:cNvPr id="3" name="Content Placeholder 2">
            <a:extLst>
              <a:ext uri="{FF2B5EF4-FFF2-40B4-BE49-F238E27FC236}">
                <a16:creationId xmlns:a16="http://schemas.microsoft.com/office/drawing/2014/main" id="{3523C8A0-98C9-FE4B-8AAB-9C5BCB89A97A}"/>
              </a:ext>
            </a:extLst>
          </p:cNvPr>
          <p:cNvSpPr>
            <a:spLocks noGrp="1"/>
          </p:cNvSpPr>
          <p:nvPr>
            <p:ph idx="1"/>
          </p:nvPr>
        </p:nvSpPr>
        <p:spPr/>
        <p:txBody>
          <a:bodyPr>
            <a:normAutofit fontScale="92500" lnSpcReduction="20000"/>
          </a:bodyPr>
          <a:lstStyle/>
          <a:p>
            <a:pPr>
              <a:lnSpc>
                <a:spcPct val="120000"/>
              </a:lnSpc>
              <a:defRPr/>
            </a:pPr>
            <a:r>
              <a:rPr lang="en-US" altLang="en-US" b="0" dirty="0">
                <a:solidFill>
                  <a:prstClr val="black"/>
                </a:solidFill>
                <a:ea typeface="ＭＳ Ｐゴシック" charset="0"/>
              </a:rPr>
              <a:t>When firms have differentiated products and increasing returns to scale, the potential exists for gains from trade above and beyond those under perfect competition.</a:t>
            </a:r>
          </a:p>
          <a:p>
            <a:pPr>
              <a:lnSpc>
                <a:spcPct val="120000"/>
              </a:lnSpc>
              <a:defRPr/>
            </a:pPr>
            <a:r>
              <a:rPr lang="en-US" altLang="en-US" b="0" dirty="0">
                <a:solidFill>
                  <a:prstClr val="black"/>
                </a:solidFill>
                <a:ea typeface="ＭＳ Ｐゴシック" charset="0"/>
              </a:rPr>
              <a:t>By focusing on the factor intensities among goods (i.e., the relative amount of labor and capital used in production), the Heckscher‒Ohlin (HO) model also explains who gains and who loses from the opening of trade.</a:t>
            </a:r>
          </a:p>
          <a:p>
            <a:pPr>
              <a:lnSpc>
                <a:spcPct val="120000"/>
              </a:lnSpc>
              <a:defRPr/>
            </a:pPr>
            <a:r>
              <a:rPr lang="en-US" altLang="en-US" b="0" dirty="0">
                <a:solidFill>
                  <a:prstClr val="black"/>
                </a:solidFill>
                <a:ea typeface="ＭＳ Ｐゴシック" charset="0"/>
              </a:rPr>
              <a:t>The HO model predicts real gains for the factor used intensively in the export good, whose relative price goes up with the opening of trade, and real losses for the other factor.</a:t>
            </a:r>
          </a:p>
          <a:p>
            <a:pPr>
              <a:lnSpc>
                <a:spcPct val="120000"/>
              </a:lnSpc>
              <a:defRPr/>
            </a:pPr>
            <a:r>
              <a:rPr lang="en-US" altLang="en-US" b="0" dirty="0">
                <a:solidFill>
                  <a:prstClr val="black"/>
                </a:solidFill>
                <a:ea typeface="ＭＳ Ｐゴシック" charset="0"/>
              </a:rPr>
              <a:t>Having just two factors, both of which are fully mobile between the industries, leads to a clear prediction about who gains and who loses from trade in the long run.</a:t>
            </a:r>
          </a:p>
        </p:txBody>
      </p:sp>
    </p:spTree>
    <p:extLst>
      <p:ext uri="{BB962C8B-B14F-4D97-AF65-F5344CB8AC3E}">
        <p14:creationId xmlns:p14="http://schemas.microsoft.com/office/powerpoint/2010/main" val="4167950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FF72D26B-0826-774E-B6FF-7A1D28EE7CAC}">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
  <TotalTime>5685</TotalTime>
  <Words>3536</Words>
  <Application>Microsoft Macintosh PowerPoint</Application>
  <PresentationFormat>On-screen Show (4:3)</PresentationFormat>
  <Paragraphs>239</Paragraphs>
  <Slides>34</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ＭＳ Ｐゴシック</vt:lpstr>
      <vt:lpstr>Aptos</vt:lpstr>
      <vt:lpstr>Aptos Display</vt:lpstr>
      <vt:lpstr>Arial</vt:lpstr>
      <vt:lpstr>Calibri</vt:lpstr>
      <vt:lpstr>Cambria Math</vt:lpstr>
      <vt:lpstr>Museo Sans W01 500</vt:lpstr>
      <vt:lpstr>Office Theme</vt:lpstr>
      <vt:lpstr>Contemporary Economic Issues  ECON-204</vt:lpstr>
      <vt:lpstr>Questions to Consider</vt:lpstr>
      <vt:lpstr>Introduction (part 1)</vt:lpstr>
      <vt:lpstr>Introduction (part 2)</vt:lpstr>
      <vt:lpstr>Introduction (part 3)</vt:lpstr>
      <vt:lpstr>1) Heckscher–Ohlin Model (part 1)</vt:lpstr>
      <vt:lpstr>1) Heckscher–Ohlin Model (part 2)</vt:lpstr>
      <vt:lpstr>1) Heckscher–Ohlin Model (part 3)</vt:lpstr>
      <vt:lpstr>1) Heckscher–Ohlin Model (part 4)</vt:lpstr>
      <vt:lpstr>1) Heckscher–Ohlin Model (part 5)</vt:lpstr>
      <vt:lpstr>1) Heckscher–Ohlin Model (part 6)</vt:lpstr>
      <vt:lpstr>1) Heckscher–Ohlin Model (part 7)</vt:lpstr>
      <vt:lpstr>1) Heckscher–Ohlin Model (part 8)</vt:lpstr>
      <vt:lpstr>1) Heckscher–Ohlin Model (part 9)</vt:lpstr>
      <vt:lpstr>1) Heckscher–Ohlin Model (part 10)</vt:lpstr>
      <vt:lpstr>1) Heckscher–Ohlin Model (part 11)</vt:lpstr>
      <vt:lpstr>1) Heckscher–Ohlin Model (part 12)</vt:lpstr>
      <vt:lpstr>1) Heckscher–Ohlin Model (part 13)</vt:lpstr>
      <vt:lpstr>2)  Effects of Trade on Factor Prices  (part 1)</vt:lpstr>
      <vt:lpstr>2)  Effects of Trade on Factor Prices  (part 2)</vt:lpstr>
      <vt:lpstr>2)  Effects of Trade on Factor Prices  (part 3)</vt:lpstr>
      <vt:lpstr>2)  Effects of Trade on Factor Prices  (part 4)</vt:lpstr>
      <vt:lpstr>2)  Effects of Trade on Factor Prices  (part 5)</vt:lpstr>
      <vt:lpstr>2)  Effects of Trade on Factor Prices  (part 6)</vt:lpstr>
      <vt:lpstr>2)  Effects of Trade on Factor Prices  (part 7)</vt:lpstr>
      <vt:lpstr>2)  Effects of Trade on Factor Prices  (part 8)</vt:lpstr>
      <vt:lpstr>2)  Effects of Trade on Factor Prices  (part 9)</vt:lpstr>
      <vt:lpstr>2)  Effects of Trade on Factor Prices  (part 10)</vt:lpstr>
      <vt:lpstr>2)  Effects of Trade on Factor Prices  (part 11)</vt:lpstr>
      <vt:lpstr>2)  Effects of Trade on Factor Prices  (part 12)</vt:lpstr>
      <vt:lpstr>2)  Effects of Trade on Factor Prices  (part 13)</vt:lpstr>
      <vt:lpstr>2)  Effects of Trade on Factor Prices  (part 14)</vt:lpstr>
      <vt:lpstr>Conclusions (part 1)</vt:lpstr>
      <vt:lpstr>Conclusions (part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450</cp:revision>
  <dcterms:created xsi:type="dcterms:W3CDTF">2014-04-02T22:56:30Z</dcterms:created>
  <dcterms:modified xsi:type="dcterms:W3CDTF">2025-03-11T20:27:01Z</dcterms:modified>
  <cp:category/>
</cp:coreProperties>
</file>