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4" r:id="rId2"/>
  </p:sldMasterIdLst>
  <p:notesMasterIdLst>
    <p:notesMasterId r:id="rId30"/>
  </p:notesMasterIdLst>
  <p:handoutMasterIdLst>
    <p:handoutMasterId r:id="rId31"/>
  </p:handoutMasterIdLst>
  <p:sldIdLst>
    <p:sldId id="1405" r:id="rId3"/>
    <p:sldId id="333" r:id="rId4"/>
    <p:sldId id="335" r:id="rId5"/>
    <p:sldId id="336" r:id="rId6"/>
    <p:sldId id="337" r:id="rId7"/>
    <p:sldId id="397" r:id="rId8"/>
    <p:sldId id="398" r:id="rId9"/>
    <p:sldId id="399" r:id="rId10"/>
    <p:sldId id="342" r:id="rId11"/>
    <p:sldId id="343" r:id="rId12"/>
    <p:sldId id="400" r:id="rId13"/>
    <p:sldId id="401" r:id="rId14"/>
    <p:sldId id="349" r:id="rId15"/>
    <p:sldId id="402" r:id="rId16"/>
    <p:sldId id="351" r:id="rId17"/>
    <p:sldId id="403" r:id="rId18"/>
    <p:sldId id="353" r:id="rId19"/>
    <p:sldId id="355" r:id="rId20"/>
    <p:sldId id="364" r:id="rId21"/>
    <p:sldId id="365" r:id="rId22"/>
    <p:sldId id="366" r:id="rId23"/>
    <p:sldId id="367" r:id="rId24"/>
    <p:sldId id="368" r:id="rId25"/>
    <p:sldId id="369" r:id="rId26"/>
    <p:sldId id="409" r:id="rId27"/>
    <p:sldId id="376" r:id="rId28"/>
    <p:sldId id="37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Doolan, Edgar" initials="DE" lastIdx="7" clrIdx="6">
    <p:extLst>
      <p:ext uri="{19B8F6BF-5375-455C-9EA6-DF929625EA0E}">
        <p15:presenceInfo xmlns:p15="http://schemas.microsoft.com/office/powerpoint/2012/main" userId="S-1-5-21-4250845945-3731851581-3800177176-16931" providerId="AD"/>
      </p:ext>
    </p:extLst>
  </p:cmAuthor>
  <p:cmAuthor id="1" name="Jennifer Baker" initials="JB" lastIdx="4" clrIdx="0"/>
  <p:cmAuthor id="8" name="Ramazani, Reza" initials="RR" lastIdx="56" clrIdx="7">
    <p:extLst>
      <p:ext uri="{19B8F6BF-5375-455C-9EA6-DF929625EA0E}">
        <p15:presenceInfo xmlns:p15="http://schemas.microsoft.com/office/powerpoint/2012/main" userId="Ramazani, Reza" providerId="None"/>
      </p:ext>
    </p:extLst>
  </p:cmAuthor>
  <p:cmAuthor id="2" name="Hauk, William" initials="HW" lastIdx="8" clrIdx="1"/>
  <p:cmAuthor id="9" name="PC" initials="P" lastIdx="7" clrIdx="8">
    <p:extLst>
      <p:ext uri="{19B8F6BF-5375-455C-9EA6-DF929625EA0E}">
        <p15:presenceInfo xmlns:p15="http://schemas.microsoft.com/office/powerpoint/2012/main" userId="PC" providerId="None"/>
      </p:ext>
    </p:extLst>
  </p:cmAuthor>
  <p:cmAuthor id="3" name="Mingzhi Xu" initials="MX" lastIdx="2" clrIdx="2"/>
  <p:cmAuthor id="10" name="Copyeditor" initials="CE" lastIdx="4" clrIdx="9">
    <p:extLst>
      <p:ext uri="{19B8F6BF-5375-455C-9EA6-DF929625EA0E}">
        <p15:presenceInfo xmlns:p15="http://schemas.microsoft.com/office/powerpoint/2012/main" userId="Copyeditor" providerId="None"/>
      </p:ext>
    </p:extLst>
  </p:cmAuthor>
  <p:cmAuthor id="4" name="Microsoft Office User" initials="Office" lastIdx="1" clrIdx="3"/>
  <p:cmAuthor id="5" name="Microsoft Office User" initials="Office [2]" lastIdx="1" clrIdx="4"/>
  <p:cmAuthor id="6" name="Microsoft Office User" initials="Office [3]"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3F3F"/>
    <a:srgbClr val="792D2B"/>
    <a:srgbClr val="6D1543"/>
    <a:srgbClr val="672B4F"/>
    <a:srgbClr val="491F38"/>
    <a:srgbClr val="5C2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82887" autoAdjust="0"/>
  </p:normalViewPr>
  <p:slideViewPr>
    <p:cSldViewPr snapToGrid="0">
      <p:cViewPr varScale="1">
        <p:scale>
          <a:sx n="101" d="100"/>
          <a:sy n="101" d="100"/>
        </p:scale>
        <p:origin x="1664" y="19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69B182-1D6B-284D-A63C-F72A67E8BE7C}" type="datetimeFigureOut">
              <a:rPr lang="en-US" smtClean="0"/>
              <a:t>3/6/25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93A1AA-2EC0-A64B-8878-BCA07B31E52F}" type="slidenum">
              <a:rPr lang="en-US" smtClean="0"/>
              <a:t>‹#›</a:t>
            </a:fld>
            <a:endParaRPr lang="en-US"/>
          </a:p>
        </p:txBody>
      </p:sp>
    </p:spTree>
    <p:extLst>
      <p:ext uri="{BB962C8B-B14F-4D97-AF65-F5344CB8AC3E}">
        <p14:creationId xmlns:p14="http://schemas.microsoft.com/office/powerpoint/2010/main" val="28425384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3BBBBE-F656-4C94-A562-B71F08EA7B56}" type="datetimeFigureOut">
              <a:rPr lang="en-US" smtClean="0"/>
              <a:t>3/6/25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DEDC10-673E-4DA0-A9A3-29D693D3CF68}" type="slidenum">
              <a:rPr lang="en-US" smtClean="0"/>
              <a:t>‹#›</a:t>
            </a:fld>
            <a:endParaRPr lang="en-US"/>
          </a:p>
        </p:txBody>
      </p:sp>
    </p:spTree>
    <p:extLst>
      <p:ext uri="{BB962C8B-B14F-4D97-AF65-F5344CB8AC3E}">
        <p14:creationId xmlns:p14="http://schemas.microsoft.com/office/powerpoint/2010/main" val="21589543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DEDC10-673E-4DA0-A9A3-29D693D3CF68}" type="slidenum">
              <a:rPr lang="en-US" smtClean="0"/>
              <a:t>13</a:t>
            </a:fld>
            <a:endParaRPr lang="en-US"/>
          </a:p>
        </p:txBody>
      </p:sp>
    </p:spTree>
    <p:extLst>
      <p:ext uri="{BB962C8B-B14F-4D97-AF65-F5344CB8AC3E}">
        <p14:creationId xmlns:p14="http://schemas.microsoft.com/office/powerpoint/2010/main" val="2487133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DEDC10-673E-4DA0-A9A3-29D693D3CF68}" type="slidenum">
              <a:rPr lang="en-US" smtClean="0"/>
              <a:t>15</a:t>
            </a:fld>
            <a:endParaRPr lang="en-US"/>
          </a:p>
        </p:txBody>
      </p:sp>
    </p:spTree>
    <p:extLst>
      <p:ext uri="{BB962C8B-B14F-4D97-AF65-F5344CB8AC3E}">
        <p14:creationId xmlns:p14="http://schemas.microsoft.com/office/powerpoint/2010/main" val="2279231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DEDC10-673E-4DA0-A9A3-29D693D3CF68}" type="slidenum">
              <a:rPr lang="en-US" smtClean="0"/>
              <a:t>17</a:t>
            </a:fld>
            <a:endParaRPr lang="en-US"/>
          </a:p>
        </p:txBody>
      </p:sp>
    </p:spTree>
    <p:extLst>
      <p:ext uri="{BB962C8B-B14F-4D97-AF65-F5344CB8AC3E}">
        <p14:creationId xmlns:p14="http://schemas.microsoft.com/office/powerpoint/2010/main" val="4203135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DEDC10-673E-4DA0-A9A3-29D693D3CF68}" type="slidenum">
              <a:rPr lang="en-US" smtClean="0"/>
              <a:t>18</a:t>
            </a:fld>
            <a:endParaRPr lang="en-US"/>
          </a:p>
        </p:txBody>
      </p:sp>
    </p:spTree>
    <p:extLst>
      <p:ext uri="{BB962C8B-B14F-4D97-AF65-F5344CB8AC3E}">
        <p14:creationId xmlns:p14="http://schemas.microsoft.com/office/powerpoint/2010/main" val="1880906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7D602-F7DF-1776-785F-219CC896EFC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4BEFA3A-1D6B-108D-E765-142602FD7A3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B57746-8962-B84C-C5C5-230F1A902C76}"/>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C7B2C7A7-F2CB-9F32-B4AD-52F6C8E34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DE58BE-151D-ED0F-4B40-6148EBFCE0B2}"/>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380307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897F6-0D80-CB5E-0BF1-E2551A9ED4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F7C98C-CCB6-402B-0611-B11A596E6B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6D021-6F2D-0FC4-6018-4F814806B6B6}"/>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C77B78AC-7921-2D94-CC66-A964FE1ED6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F19E67-D2C5-D03D-4E57-64A40F0437F7}"/>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40205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BA660-AB76-4DC0-05A8-2C55F8AF738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10AC103-E5EB-5159-ACD5-55E9E6949C53}"/>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DBFB93-3B1C-B3EC-8B7B-624DC1400515}"/>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3F70BA99-9188-051D-F4AB-E3CD484FA2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BA918-EDF2-A6C3-2CF5-E7BBBDDE95AC}"/>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13427229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0C60-2A49-C84B-E272-1A72E6CA96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70C368-D5DC-6C79-D4E2-BAE1A2D1836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8071F3-F2C3-D885-7EF3-15C8FCDC0F8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F25E92-8DE6-5D61-7AD9-1162D2DECF34}"/>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6" name="Footer Placeholder 5">
            <a:extLst>
              <a:ext uri="{FF2B5EF4-FFF2-40B4-BE49-F238E27FC236}">
                <a16:creationId xmlns:a16="http://schemas.microsoft.com/office/drawing/2014/main" id="{496E35C6-FFBB-6CA1-E631-EB98A31764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F3CBCE-D82C-5BE0-C425-3938D0C94C5E}"/>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884824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3271B-8EAE-9F29-EAF2-53898BBD4A15}"/>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519B24-FFE9-5086-7D55-FA00C55530B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2ABF4D8-868E-5B15-5D3E-9CE2FFE5423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9A6CAE-E5E6-4109-29D1-72026FF3E6D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1B48B0C-A22D-867A-4291-6C59645F5F7F}"/>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0A3F9B-2E03-2A8E-0B0E-9599B8EE8E23}"/>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8" name="Footer Placeholder 7">
            <a:extLst>
              <a:ext uri="{FF2B5EF4-FFF2-40B4-BE49-F238E27FC236}">
                <a16:creationId xmlns:a16="http://schemas.microsoft.com/office/drawing/2014/main" id="{A20BAA61-D126-0603-B214-8BF747A4A7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F7ABBF-555F-824D-619E-E418AF7A4C37}"/>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821448855"/>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B650-571A-C770-13B0-23AE61FA46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F6A058-CF23-DAE1-0A61-27BA1DE4FB77}"/>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4" name="Footer Placeholder 3">
            <a:extLst>
              <a:ext uri="{FF2B5EF4-FFF2-40B4-BE49-F238E27FC236}">
                <a16:creationId xmlns:a16="http://schemas.microsoft.com/office/drawing/2014/main" id="{68E10D69-C457-798B-0445-3F277A9244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60565F-4E84-8870-DEEC-EEF8CAD774E4}"/>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3310529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B2920E-9AEA-B1A7-7507-F0A7F579395B}"/>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3" name="Footer Placeholder 2">
            <a:extLst>
              <a:ext uri="{FF2B5EF4-FFF2-40B4-BE49-F238E27FC236}">
                <a16:creationId xmlns:a16="http://schemas.microsoft.com/office/drawing/2014/main" id="{5CD57000-A9E3-EF8E-0CBE-1D51585424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B09D03-6DC6-CBF5-7585-DF1FB3916066}"/>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90830262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14DEC-AE97-D394-88E1-5E0B1CBDDBE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5AA7B23-62D0-2ABA-9A1A-8361C34A6CE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84F844-5846-FFC0-2D27-AF2801C9DC4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29BFC95-4D8E-31A2-07AC-4EB876EDD9E1}"/>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6" name="Footer Placeholder 5">
            <a:extLst>
              <a:ext uri="{FF2B5EF4-FFF2-40B4-BE49-F238E27FC236}">
                <a16:creationId xmlns:a16="http://schemas.microsoft.com/office/drawing/2014/main" id="{BCAA013A-310D-C390-18AF-15B31D3C6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EEEE8D-48D5-5704-2D5E-7C12BA75C6F0}"/>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40513550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14BDA-DF7F-AAE8-B6A3-88BF93EE79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2A47B03-F6DE-10A6-BE80-E7D699988B4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D4324F1-1B43-BECA-6365-9B3C4A918B7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4C8AF8C-DC5D-581B-DDF9-71E554E3192D}"/>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6" name="Footer Placeholder 5">
            <a:extLst>
              <a:ext uri="{FF2B5EF4-FFF2-40B4-BE49-F238E27FC236}">
                <a16:creationId xmlns:a16="http://schemas.microsoft.com/office/drawing/2014/main" id="{E221DC9F-9BBA-853C-8AC8-4F5E6F5782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F3088-FC75-E363-4E73-BA206BB67B48}"/>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1953584732"/>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FF2B8-0E7F-750C-8ED2-7A86113C83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C3B077-D858-B0DE-521C-570C53DF80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EF2F92-4398-D821-0204-176A9BD8613A}"/>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779F41E8-8382-402B-85B7-57EAFE1BB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BBFEA-5C6F-A5D7-4660-52C9E8CF92BD}"/>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80026830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BCE01E-94B8-12F8-3B55-70019B37744A}"/>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73CC49-2D7D-EF9C-1A2D-95D840EB0E4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EABA9-3021-9CC5-2A5E-03AECA4F1DC2}"/>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4B6565E9-4B88-666A-859A-21C7FC2683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FF124-8223-0D14-81F3-AFB1251FB90C}"/>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57783585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sp>
        <p:nvSpPr>
          <p:cNvPr id="3" name="Content Placeholder 2"/>
          <p:cNvSpPr>
            <a:spLocks noGrp="1"/>
          </p:cNvSpPr>
          <p:nvPr>
            <p:ph idx="1"/>
          </p:nvPr>
        </p:nvSpPr>
        <p:spPr>
          <a:xfrm>
            <a:off x="457200" y="1600201"/>
            <a:ext cx="8229600" cy="2180230"/>
          </a:xfrm>
        </p:spPr>
        <p:txBody>
          <a:bodyPr/>
          <a:lstStyle>
            <a:lvl1pPr marL="450850" indent="-450850">
              <a:spcBef>
                <a:spcPts val="624"/>
              </a:spcBef>
              <a:defRPr/>
            </a:lvl1pPr>
            <a:lvl2pPr marL="900113" indent="-442913">
              <a:spcBef>
                <a:spcPts val="624"/>
              </a:spcBef>
              <a:defRPr sz="2600"/>
            </a:lvl2pPr>
            <a:lvl3pPr marL="1255713" indent="-341313">
              <a:spcBef>
                <a:spcPts val="624"/>
              </a:spcBef>
              <a:defRPr sz="2400"/>
            </a:lvl3pPr>
            <a:lvl4pPr>
              <a:spcBef>
                <a:spcPts val="624"/>
              </a:spcBef>
              <a:defRPr/>
            </a:lvl4pPr>
            <a:lvl5pPr>
              <a:spcBef>
                <a:spcPts val="624"/>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1" name="Slide Number Placeholder 5">
            <a:extLst>
              <a:ext uri="{FF2B5EF4-FFF2-40B4-BE49-F238E27FC236}">
                <a16:creationId xmlns:a16="http://schemas.microsoft.com/office/drawing/2014/main" id="{72F768FE-04AA-8D4B-B2F9-216643C09078}"/>
              </a:ext>
            </a:extLst>
          </p:cNvPr>
          <p:cNvSpPr txBox="1">
            <a:spLocks/>
          </p:cNvSpPr>
          <p:nvPr/>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
        <p:nvSpPr>
          <p:cNvPr id="12" name="Footer Placeholder 4">
            <a:extLst>
              <a:ext uri="{FF2B5EF4-FFF2-40B4-BE49-F238E27FC236}">
                <a16:creationId xmlns:a16="http://schemas.microsoft.com/office/drawing/2014/main" id="{4F43220B-9EF2-D04F-82AE-4F5B9040E30E}"/>
              </a:ext>
            </a:extLst>
          </p:cNvPr>
          <p:cNvSpPr txBox="1">
            <a:spLocks/>
          </p:cNvSpPr>
          <p:nvPr/>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5" name="Picture Placeholder 4">
            <a:extLst>
              <a:ext uri="{FF2B5EF4-FFF2-40B4-BE49-F238E27FC236}">
                <a16:creationId xmlns:a16="http://schemas.microsoft.com/office/drawing/2014/main" id="{11ED86F7-CDFD-4D3B-AF37-7EAF51796DBA}"/>
              </a:ext>
            </a:extLst>
          </p:cNvPr>
          <p:cNvSpPr>
            <a:spLocks noGrp="1"/>
          </p:cNvSpPr>
          <p:nvPr>
            <p:ph type="pic" sz="quarter" idx="10"/>
          </p:nvPr>
        </p:nvSpPr>
        <p:spPr>
          <a:xfrm>
            <a:off x="5759450" y="3179763"/>
            <a:ext cx="1023938" cy="955675"/>
          </a:xfrm>
        </p:spPr>
        <p:txBody>
          <a:bodyPr/>
          <a:lstStyle/>
          <a:p>
            <a:endParaRPr lang="en-IN"/>
          </a:p>
        </p:txBody>
      </p:sp>
      <p:sp>
        <p:nvSpPr>
          <p:cNvPr id="7" name="Picture Placeholder 6">
            <a:extLst>
              <a:ext uri="{FF2B5EF4-FFF2-40B4-BE49-F238E27FC236}">
                <a16:creationId xmlns:a16="http://schemas.microsoft.com/office/drawing/2014/main" id="{01E659FE-5E78-4BA4-9216-33F16787A5DD}"/>
              </a:ext>
            </a:extLst>
          </p:cNvPr>
          <p:cNvSpPr>
            <a:spLocks noGrp="1"/>
          </p:cNvSpPr>
          <p:nvPr>
            <p:ph type="pic" sz="quarter" idx="11"/>
          </p:nvPr>
        </p:nvSpPr>
        <p:spPr>
          <a:xfrm>
            <a:off x="7000875" y="3151188"/>
            <a:ext cx="887413" cy="933450"/>
          </a:xfrm>
        </p:spPr>
        <p:txBody>
          <a:bodyPr/>
          <a:lstStyle/>
          <a:p>
            <a:endParaRPr lang="en-IN"/>
          </a:p>
        </p:txBody>
      </p:sp>
      <p:sp>
        <p:nvSpPr>
          <p:cNvPr id="13" name="Content Placeholder 12">
            <a:extLst>
              <a:ext uri="{FF2B5EF4-FFF2-40B4-BE49-F238E27FC236}">
                <a16:creationId xmlns:a16="http://schemas.microsoft.com/office/drawing/2014/main" id="{40634E83-1EE9-4372-AF81-7743618D9AD9}"/>
              </a:ext>
            </a:extLst>
          </p:cNvPr>
          <p:cNvSpPr>
            <a:spLocks noGrp="1"/>
          </p:cNvSpPr>
          <p:nvPr>
            <p:ph sz="quarter" idx="12"/>
          </p:nvPr>
        </p:nvSpPr>
        <p:spPr>
          <a:xfrm>
            <a:off x="457200" y="4084638"/>
            <a:ext cx="8229600" cy="2076450"/>
          </a:xfrm>
        </p:spPr>
        <p:txBody>
          <a:bodyPr/>
          <a:lstStyle>
            <a:lvl1pPr marL="450850" indent="-450850">
              <a:defRPr/>
            </a:lvl1pPr>
            <a:lvl2pPr marL="900113" indent="-442913">
              <a:defRPr sz="2600"/>
            </a:lvl2pPr>
            <a:lvl3pPr marL="1255713" indent="-341313">
              <a:defRPr sz="24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Content Placeholder 15">
            <a:extLst>
              <a:ext uri="{FF2B5EF4-FFF2-40B4-BE49-F238E27FC236}">
                <a16:creationId xmlns:a16="http://schemas.microsoft.com/office/drawing/2014/main" id="{0174F274-CDA1-47F2-98FE-6BA5EEF943F7}"/>
              </a:ext>
            </a:extLst>
          </p:cNvPr>
          <p:cNvSpPr>
            <a:spLocks noGrp="1"/>
          </p:cNvSpPr>
          <p:nvPr>
            <p:ph sz="quarter" idx="13"/>
          </p:nvPr>
        </p:nvSpPr>
        <p:spPr>
          <a:xfrm>
            <a:off x="4313238" y="5705475"/>
            <a:ext cx="2687637" cy="455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able Placeholder 17">
            <a:extLst>
              <a:ext uri="{FF2B5EF4-FFF2-40B4-BE49-F238E27FC236}">
                <a16:creationId xmlns:a16="http://schemas.microsoft.com/office/drawing/2014/main" id="{8B0C107B-632F-4690-9C8E-FC8D03FEDD93}"/>
              </a:ext>
            </a:extLst>
          </p:cNvPr>
          <p:cNvSpPr>
            <a:spLocks noGrp="1"/>
          </p:cNvSpPr>
          <p:nvPr>
            <p:ph type="tbl" sz="quarter" idx="14"/>
          </p:nvPr>
        </p:nvSpPr>
        <p:spPr>
          <a:xfrm>
            <a:off x="7888288" y="4859338"/>
            <a:ext cx="798512" cy="846137"/>
          </a:xfrm>
        </p:spPr>
        <p:txBody>
          <a:bodyPr/>
          <a:lstStyle/>
          <a:p>
            <a:endParaRPr lang="en-IN"/>
          </a:p>
        </p:txBody>
      </p:sp>
      <p:sp>
        <p:nvSpPr>
          <p:cNvPr id="20" name="Content Placeholder 19">
            <a:extLst>
              <a:ext uri="{FF2B5EF4-FFF2-40B4-BE49-F238E27FC236}">
                <a16:creationId xmlns:a16="http://schemas.microsoft.com/office/drawing/2014/main" id="{75C9ED24-F664-4674-B6AA-B79E51A8CBF3}"/>
              </a:ext>
            </a:extLst>
          </p:cNvPr>
          <p:cNvSpPr>
            <a:spLocks noGrp="1"/>
          </p:cNvSpPr>
          <p:nvPr>
            <p:ph sz="quarter" idx="15"/>
          </p:nvPr>
        </p:nvSpPr>
        <p:spPr>
          <a:xfrm>
            <a:off x="7124700" y="5705475"/>
            <a:ext cx="1868488" cy="455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a:extLst>
              <a:ext uri="{FF2B5EF4-FFF2-40B4-BE49-F238E27FC236}">
                <a16:creationId xmlns:a16="http://schemas.microsoft.com/office/drawing/2014/main" id="{2E348EBD-04AD-4010-98F7-3EDD1892ED22}"/>
              </a:ext>
            </a:extLst>
          </p:cNvPr>
          <p:cNvSpPr>
            <a:spLocks noGrp="1"/>
          </p:cNvSpPr>
          <p:nvPr>
            <p:ph sz="quarter" idx="16"/>
          </p:nvPr>
        </p:nvSpPr>
        <p:spPr>
          <a:xfrm>
            <a:off x="8243888" y="3548063"/>
            <a:ext cx="900112" cy="1006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38668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51DD5-AF1E-7536-9087-A9BCC71E722A}"/>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BF5A1D-D1B0-D8C8-2F89-620BCDEE73C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BCD7F-24AD-174C-860B-305F1DBA2D1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7C44D1D6-C796-3881-2F37-B6C41333AF9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8E94D8-A5D7-FB56-4CE4-ED2859EA599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1C7111FA-D704-4C42-B5C9-E40F861B5B67}" type="slidenum">
              <a:rPr lang="en-US" smtClean="0"/>
              <a:t>‹#›</a:t>
            </a:fld>
            <a:endParaRPr lang="en-US"/>
          </a:p>
        </p:txBody>
      </p:sp>
    </p:spTree>
    <p:extLst>
      <p:ext uri="{BB962C8B-B14F-4D97-AF65-F5344CB8AC3E}">
        <p14:creationId xmlns:p14="http://schemas.microsoft.com/office/powerpoint/2010/main" val="122202199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7"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normAutofit/>
          </a:bodyPr>
          <a:lstStyle/>
          <a:p>
            <a:r>
              <a:rPr lang="en-US" dirty="0"/>
              <a:t>Contemporary Economic Issues</a:t>
            </a:r>
            <a:br>
              <a:rPr lang="en-US" dirty="0"/>
            </a:br>
            <a:r>
              <a:rPr lang="en-US" sz="2800" dirty="0"/>
              <a:t> </a:t>
            </a:r>
            <a:r>
              <a:rPr lang="en-CA" sz="2800" b="0" i="0" dirty="0">
                <a:solidFill>
                  <a:srgbClr val="003E2D"/>
                </a:solidFill>
                <a:effectLst/>
                <a:latin typeface="Museo Sans W01 500"/>
              </a:rPr>
              <a:t>ECON-204</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6858000" cy="1981200"/>
          </a:xfrm>
        </p:spPr>
        <p:txBody>
          <a:bodyPr>
            <a:normAutofit/>
          </a:bodyPr>
          <a:lstStyle/>
          <a:p>
            <a:r>
              <a:rPr lang="en-US" dirty="0"/>
              <a:t>Gains and Losses from Trade in the Specific-Factors Model</a:t>
            </a:r>
          </a:p>
          <a:p>
            <a:r>
              <a:rPr lang="en-US" dirty="0"/>
              <a:t> </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66FF9-3B4D-9349-B072-E7B710F972E8}"/>
              </a:ext>
            </a:extLst>
          </p:cNvPr>
          <p:cNvSpPr>
            <a:spLocks noGrp="1"/>
          </p:cNvSpPr>
          <p:nvPr>
            <p:ph type="title"/>
          </p:nvPr>
        </p:nvSpPr>
        <p:spPr/>
        <p:txBody>
          <a:bodyPr>
            <a:normAutofit/>
          </a:bodyPr>
          <a:lstStyle/>
          <a:p>
            <a:r>
              <a:rPr lang="en-US" sz="3600" dirty="0"/>
              <a:t>Questions to Consider</a:t>
            </a:r>
          </a:p>
        </p:txBody>
      </p:sp>
      <p:sp>
        <p:nvSpPr>
          <p:cNvPr id="3" name="Content Placeholder 2">
            <a:extLst>
              <a:ext uri="{FF2B5EF4-FFF2-40B4-BE49-F238E27FC236}">
                <a16:creationId xmlns:a16="http://schemas.microsoft.com/office/drawing/2014/main" id="{84A96666-D617-B741-9E72-1DB97B4960A4}"/>
              </a:ext>
            </a:extLst>
          </p:cNvPr>
          <p:cNvSpPr>
            <a:spLocks noGrp="1"/>
          </p:cNvSpPr>
          <p:nvPr>
            <p:ph idx="1"/>
          </p:nvPr>
        </p:nvSpPr>
        <p:spPr/>
        <p:txBody>
          <a:bodyPr/>
          <a:lstStyle/>
          <a:p>
            <a:pPr marL="449263" indent="-449263" fontAlgn="base">
              <a:spcAft>
                <a:spcPts val="600"/>
              </a:spcAft>
              <a:buFont typeface="+mj-lt"/>
              <a:buAutoNum type="arabicPeriod"/>
            </a:pPr>
            <a:r>
              <a:rPr lang="en-US" b="0" dirty="0"/>
              <a:t>Do you personally gain from inexpensive imported goods?</a:t>
            </a:r>
          </a:p>
          <a:p>
            <a:pPr marL="449263" indent="-449263" fontAlgn="base">
              <a:spcAft>
                <a:spcPts val="600"/>
              </a:spcAft>
              <a:buFont typeface="+mj-lt"/>
              <a:buAutoNum type="arabicPeriod"/>
            </a:pPr>
            <a:r>
              <a:rPr lang="en-US" b="0" dirty="0"/>
              <a:t>Besides you, who gains and who loses from trade?</a:t>
            </a:r>
          </a:p>
          <a:p>
            <a:pPr marL="449263" indent="-449263" fontAlgn="base">
              <a:spcAft>
                <a:spcPts val="600"/>
              </a:spcAft>
              <a:buFont typeface="+mj-lt"/>
              <a:buAutoNum type="arabicPeriod"/>
            </a:pPr>
            <a:r>
              <a:rPr lang="en-US" b="0" dirty="0"/>
              <a:t>What government policies can help firms and workers that lose from trade?</a:t>
            </a:r>
          </a:p>
        </p:txBody>
      </p:sp>
    </p:spTree>
    <p:extLst>
      <p:ext uri="{BB962C8B-B14F-4D97-AF65-F5344CB8AC3E}">
        <p14:creationId xmlns:p14="http://schemas.microsoft.com/office/powerpoint/2010/main" val="2516099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8D16B-74F9-E941-9209-D80040140C78}"/>
              </a:ext>
            </a:extLst>
          </p:cNvPr>
          <p:cNvSpPr>
            <a:spLocks noGrp="1"/>
          </p:cNvSpPr>
          <p:nvPr>
            <p:ph type="title"/>
          </p:nvPr>
        </p:nvSpPr>
        <p:spPr/>
        <p:txBody>
          <a:bodyPr>
            <a:normAutofit/>
          </a:bodyPr>
          <a:lstStyle/>
          <a:p>
            <a:r>
              <a:rPr lang="en-US" sz="3600" dirty="0"/>
              <a:t>Introduction </a:t>
            </a:r>
          </a:p>
        </p:txBody>
      </p:sp>
      <p:sp>
        <p:nvSpPr>
          <p:cNvPr id="3" name="Content Placeholder 2">
            <a:extLst>
              <a:ext uri="{FF2B5EF4-FFF2-40B4-BE49-F238E27FC236}">
                <a16:creationId xmlns:a16="http://schemas.microsoft.com/office/drawing/2014/main" id="{A2B2FAE6-669B-5446-9048-F867638534B5}"/>
              </a:ext>
            </a:extLst>
          </p:cNvPr>
          <p:cNvSpPr>
            <a:spLocks noGrp="1"/>
          </p:cNvSpPr>
          <p:nvPr>
            <p:ph idx="1"/>
          </p:nvPr>
        </p:nvSpPr>
        <p:spPr>
          <a:xfrm>
            <a:off x="457200" y="1600200"/>
            <a:ext cx="8229600" cy="4663966"/>
          </a:xfrm>
        </p:spPr>
        <p:txBody>
          <a:bodyPr>
            <a:noAutofit/>
          </a:bodyPr>
          <a:lstStyle/>
          <a:p>
            <a:r>
              <a:rPr lang="en-US" sz="2200" b="0" dirty="0"/>
              <a:t>The argument from the Ricardian model that trade generates gains for </a:t>
            </a:r>
            <a:r>
              <a:rPr lang="en-US" sz="2200" b="0" i="1" dirty="0"/>
              <a:t>all </a:t>
            </a:r>
            <a:r>
              <a:rPr lang="en-US" sz="2200" b="0" dirty="0"/>
              <a:t>workers is too simple because labor is the only factor of production in that model.</a:t>
            </a:r>
            <a:endParaRPr lang="en-US" altLang="en-US" sz="2200" b="0" dirty="0"/>
          </a:p>
          <a:p>
            <a:pPr>
              <a:spcBef>
                <a:spcPct val="10000"/>
              </a:spcBef>
              <a:spcAft>
                <a:spcPct val="10000"/>
              </a:spcAft>
            </a:pPr>
            <a:r>
              <a:rPr lang="en-US" sz="2200" b="0" dirty="0"/>
              <a:t>We relax that assumption with the </a:t>
            </a:r>
            <a:r>
              <a:rPr lang="en-US" altLang="en-US" sz="2200" dirty="0"/>
              <a:t>specific-factors model</a:t>
            </a:r>
            <a:r>
              <a:rPr lang="en-US" altLang="en-US" sz="2200" b="0" dirty="0"/>
              <a:t>,</a:t>
            </a:r>
            <a:r>
              <a:rPr lang="en-US" altLang="en-US" sz="2200" dirty="0"/>
              <a:t> </a:t>
            </a:r>
            <a:r>
              <a:rPr lang="en-US" altLang="en-US" sz="2200" b="0" dirty="0"/>
              <a:t> where land can be used</a:t>
            </a:r>
            <a:r>
              <a:rPr lang="en-US" altLang="en-US" sz="2200" b="0" dirty="0">
                <a:solidFill>
                  <a:srgbClr val="FF0000"/>
                </a:solidFill>
              </a:rPr>
              <a:t> </a:t>
            </a:r>
            <a:r>
              <a:rPr lang="en-US" altLang="en-US" sz="2200" b="0" dirty="0"/>
              <a:t>only</a:t>
            </a:r>
            <a:r>
              <a:rPr lang="en-US" altLang="en-US" sz="2200" b="0" dirty="0">
                <a:solidFill>
                  <a:srgbClr val="FF0000"/>
                </a:solidFill>
              </a:rPr>
              <a:t> </a:t>
            </a:r>
            <a:r>
              <a:rPr lang="en-US" altLang="en-US" sz="2200" b="0" dirty="0"/>
              <a:t>in the agriculture sector and capital can be used only in the manufacturing sector; labor is used in both sectors.</a:t>
            </a:r>
          </a:p>
          <a:p>
            <a:pPr>
              <a:spcBef>
                <a:spcPct val="10000"/>
              </a:spcBef>
              <a:spcAft>
                <a:spcPct val="10000"/>
              </a:spcAft>
            </a:pPr>
            <a:r>
              <a:rPr lang="en-US" altLang="en-US" sz="2200" b="0" dirty="0"/>
              <a:t>From the Ricardian model, we learned that free trade affects relative prices, and this in turn affects the earnings of factors of production.</a:t>
            </a:r>
          </a:p>
          <a:p>
            <a:r>
              <a:rPr lang="en-US" sz="2200" b="0" dirty="0"/>
              <a:t>The question addressed by the </a:t>
            </a:r>
            <a:r>
              <a:rPr lang="en-US" altLang="en-US" sz="2200" b="0" dirty="0"/>
              <a:t>specific-factors model is</a:t>
            </a:r>
            <a:r>
              <a:rPr lang="en-US" sz="2200" b="0" dirty="0"/>
              <a:t> how trade, through changes in </a:t>
            </a:r>
            <a:r>
              <a:rPr lang="en-US" sz="2200" b="0" i="1" dirty="0"/>
              <a:t>relative prices, </a:t>
            </a:r>
            <a:r>
              <a:rPr lang="en-US" sz="2200" b="0" dirty="0"/>
              <a:t>affects the earnings of labor, land, and capital.</a:t>
            </a:r>
            <a:endParaRPr lang="en-US" altLang="en-US" sz="2200" b="0" dirty="0"/>
          </a:p>
        </p:txBody>
      </p:sp>
    </p:spTree>
    <p:extLst>
      <p:ext uri="{BB962C8B-B14F-4D97-AF65-F5344CB8AC3E}">
        <p14:creationId xmlns:p14="http://schemas.microsoft.com/office/powerpoint/2010/main" val="98014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5819-0453-7A4E-B406-A08A14D9BEF2}"/>
              </a:ext>
            </a:extLst>
          </p:cNvPr>
          <p:cNvSpPr>
            <a:spLocks noGrp="1"/>
          </p:cNvSpPr>
          <p:nvPr>
            <p:ph type="title"/>
          </p:nvPr>
        </p:nvSpPr>
        <p:spPr/>
        <p:txBody>
          <a:bodyPr>
            <a:normAutofit/>
          </a:bodyPr>
          <a:lstStyle/>
          <a:p>
            <a:r>
              <a:rPr lang="en-US" sz="3600" dirty="0"/>
              <a:t>1) Specific-Factors Model (part 1)</a:t>
            </a:r>
          </a:p>
        </p:txBody>
      </p:sp>
      <p:sp>
        <p:nvSpPr>
          <p:cNvPr id="3" name="Content Placeholder 2">
            <a:extLst>
              <a:ext uri="{FF2B5EF4-FFF2-40B4-BE49-F238E27FC236}">
                <a16:creationId xmlns:a16="http://schemas.microsoft.com/office/drawing/2014/main" id="{36A0739B-62F8-7347-8350-0B494E98CE9F}"/>
              </a:ext>
            </a:extLst>
          </p:cNvPr>
          <p:cNvSpPr>
            <a:spLocks noGrp="1"/>
          </p:cNvSpPr>
          <p:nvPr>
            <p:ph idx="1"/>
          </p:nvPr>
        </p:nvSpPr>
        <p:spPr/>
        <p:txBody>
          <a:bodyPr>
            <a:normAutofit/>
          </a:bodyPr>
          <a:lstStyle/>
          <a:p>
            <a:r>
              <a:rPr lang="en-US" altLang="en-US" sz="2000" dirty="0"/>
              <a:t>The specific-factors model we will develop has the following features:</a:t>
            </a:r>
          </a:p>
          <a:p>
            <a:pPr lvl="1"/>
            <a:r>
              <a:rPr lang="en-US" altLang="en-US" sz="2000" dirty="0"/>
              <a:t>Once again there are two countries: Home and Foreign.</a:t>
            </a:r>
          </a:p>
          <a:p>
            <a:pPr lvl="1"/>
            <a:r>
              <a:rPr lang="en-US" altLang="en-US" sz="2000" dirty="0"/>
              <a:t>Manufacturing uses labor and capital, and agriculture uses labor and land.</a:t>
            </a:r>
          </a:p>
          <a:p>
            <a:pPr lvl="1"/>
            <a:r>
              <a:rPr lang="en-US" altLang="en-US" sz="2000" dirty="0"/>
              <a:t>In each industry, increases in the amount of labor used are subject to</a:t>
            </a:r>
            <a:r>
              <a:rPr lang="en-US" altLang="en-US" sz="2000" b="1" dirty="0"/>
              <a:t> diminishing returns;</a:t>
            </a:r>
            <a:r>
              <a:rPr lang="en-US" altLang="en-US" sz="2000" dirty="0"/>
              <a:t> that is, the marginal product of labor declines as the amount of labor used in the industry increases.</a:t>
            </a:r>
          </a:p>
          <a:p>
            <a:pPr lvl="1"/>
            <a:r>
              <a:rPr lang="en-US" altLang="en-US" sz="2000" dirty="0"/>
              <a:t>For now let’s focus on the Home country.</a:t>
            </a:r>
          </a:p>
        </p:txBody>
      </p:sp>
    </p:spTree>
    <p:extLst>
      <p:ext uri="{BB962C8B-B14F-4D97-AF65-F5344CB8AC3E}">
        <p14:creationId xmlns:p14="http://schemas.microsoft.com/office/powerpoint/2010/main" val="1588991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5819-0453-7A4E-B406-A08A14D9BEF2}"/>
              </a:ext>
            </a:extLst>
          </p:cNvPr>
          <p:cNvSpPr>
            <a:spLocks noGrp="1"/>
          </p:cNvSpPr>
          <p:nvPr>
            <p:ph type="title"/>
          </p:nvPr>
        </p:nvSpPr>
        <p:spPr/>
        <p:txBody>
          <a:bodyPr>
            <a:normAutofit/>
          </a:bodyPr>
          <a:lstStyle/>
          <a:p>
            <a:r>
              <a:rPr lang="en-US" sz="3600" dirty="0"/>
              <a:t>1) Specific-Factors Model (part 2)</a:t>
            </a:r>
          </a:p>
        </p:txBody>
      </p:sp>
      <p:sp>
        <p:nvSpPr>
          <p:cNvPr id="3" name="Content Placeholder 2">
            <a:extLst>
              <a:ext uri="{FF2B5EF4-FFF2-40B4-BE49-F238E27FC236}">
                <a16:creationId xmlns:a16="http://schemas.microsoft.com/office/drawing/2014/main" id="{36A0739B-62F8-7347-8350-0B494E98CE9F}"/>
              </a:ext>
            </a:extLst>
          </p:cNvPr>
          <p:cNvSpPr>
            <a:spLocks noGrp="1"/>
          </p:cNvSpPr>
          <p:nvPr>
            <p:ph idx="1"/>
          </p:nvPr>
        </p:nvSpPr>
        <p:spPr>
          <a:xfrm>
            <a:off x="457200" y="1600201"/>
            <a:ext cx="4114800" cy="628759"/>
          </a:xfrm>
        </p:spPr>
        <p:txBody>
          <a:bodyPr>
            <a:normAutofit/>
          </a:bodyPr>
          <a:lstStyle/>
          <a:p>
            <a:r>
              <a:rPr lang="en-US" altLang="en-US" dirty="0"/>
              <a:t>The Home Country</a:t>
            </a:r>
          </a:p>
        </p:txBody>
      </p:sp>
      <p:pic>
        <p:nvPicPr>
          <p:cNvPr id="19" name="Picture Placeholder 5" descr="An illustration shows two line graphs, a and b, in two panels. &#10;Graph a. It plots manufacturing output, Q subscript M versus labor in manufacturing, L subscript M. It displays the curve M P L subscript M that rises with increasing steepness. The slope of the curve is equal to 1.&#10;Graph b. It plots marginal product of labor, M P L subscript M versus labor in manufacturing, L subscript M. It displays the curve, M P L subscript M (marginal product of labor) that falls with decreasing steepness.">
            <a:extLst>
              <a:ext uri="{FF2B5EF4-FFF2-40B4-BE49-F238E27FC236}">
                <a16:creationId xmlns:a16="http://schemas.microsoft.com/office/drawing/2014/main" id="{A8A5A39E-4856-4CEB-A477-5B0BFC8B2F66}"/>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567571" y="2533973"/>
            <a:ext cx="6008859" cy="2342151"/>
          </a:xfrm>
          <a:prstGeom prst="rect">
            <a:avLst/>
          </a:prstGeom>
        </p:spPr>
      </p:pic>
      <p:sp>
        <p:nvSpPr>
          <p:cNvPr id="15" name="Content Placeholder 14">
            <a:extLst>
              <a:ext uri="{FF2B5EF4-FFF2-40B4-BE49-F238E27FC236}">
                <a16:creationId xmlns:a16="http://schemas.microsoft.com/office/drawing/2014/main" id="{2B98A631-A7C4-45A4-A3BF-BFAD7BC0B261}"/>
              </a:ext>
            </a:extLst>
          </p:cNvPr>
          <p:cNvSpPr>
            <a:spLocks noGrp="1"/>
          </p:cNvSpPr>
          <p:nvPr>
            <p:ph sz="quarter" idx="12"/>
          </p:nvPr>
        </p:nvSpPr>
        <p:spPr>
          <a:xfrm>
            <a:off x="6376793" y="1842403"/>
            <a:ext cx="1682151" cy="455613"/>
          </a:xfrm>
        </p:spPr>
        <p:txBody>
          <a:bodyPr>
            <a:normAutofit/>
          </a:bodyPr>
          <a:lstStyle/>
          <a:p>
            <a:pPr marL="0" indent="0">
              <a:buNone/>
            </a:pPr>
            <a:r>
              <a:rPr lang="en-IN" sz="2000" dirty="0"/>
              <a:t>FIGURE 3-1</a:t>
            </a:r>
          </a:p>
        </p:txBody>
      </p:sp>
      <p:sp>
        <p:nvSpPr>
          <p:cNvPr id="16" name="Content Placeholder 15">
            <a:extLst>
              <a:ext uri="{FF2B5EF4-FFF2-40B4-BE49-F238E27FC236}">
                <a16:creationId xmlns:a16="http://schemas.microsoft.com/office/drawing/2014/main" id="{1D34E2D8-4319-4C3F-8B55-C9FB1D3C9E60}"/>
              </a:ext>
            </a:extLst>
          </p:cNvPr>
          <p:cNvSpPr>
            <a:spLocks noGrp="1"/>
          </p:cNvSpPr>
          <p:nvPr>
            <p:ph sz="quarter" idx="13"/>
          </p:nvPr>
        </p:nvSpPr>
        <p:spPr>
          <a:xfrm>
            <a:off x="655638" y="5029992"/>
            <a:ext cx="3933645" cy="1188684"/>
          </a:xfrm>
        </p:spPr>
        <p:txBody>
          <a:bodyPr>
            <a:normAutofit/>
          </a:bodyPr>
          <a:lstStyle/>
          <a:p>
            <a:pPr marL="0" indent="0">
              <a:lnSpc>
                <a:spcPct val="110000"/>
              </a:lnSpc>
              <a:buNone/>
            </a:pPr>
            <a:r>
              <a:rPr lang="en-US" altLang="en-US" sz="1600" b="0" dirty="0">
                <a:latin typeface="+mn-lt"/>
              </a:rPr>
              <a:t>Panel (a) </a:t>
            </a:r>
            <a:r>
              <a:rPr lang="en-US" altLang="en-US" sz="1600" dirty="0">
                <a:latin typeface="+mn-lt"/>
              </a:rPr>
              <a:t>Manufacturing Output</a:t>
            </a:r>
            <a:r>
              <a:rPr lang="en-US" altLang="en-US" sz="1600" b="0" dirty="0">
                <a:latin typeface="+mn-lt"/>
              </a:rPr>
              <a:t> As more labor is used, manufacturing output increases, but it does so at a diminishing rate.</a:t>
            </a:r>
          </a:p>
        </p:txBody>
      </p:sp>
      <p:sp>
        <p:nvSpPr>
          <p:cNvPr id="18" name="Content Placeholder 17">
            <a:extLst>
              <a:ext uri="{FF2B5EF4-FFF2-40B4-BE49-F238E27FC236}">
                <a16:creationId xmlns:a16="http://schemas.microsoft.com/office/drawing/2014/main" id="{94062D4C-09D9-4070-89FD-B60FB08A9197}"/>
              </a:ext>
            </a:extLst>
          </p:cNvPr>
          <p:cNvSpPr>
            <a:spLocks noGrp="1"/>
          </p:cNvSpPr>
          <p:nvPr>
            <p:ph sz="quarter" idx="15"/>
          </p:nvPr>
        </p:nvSpPr>
        <p:spPr>
          <a:xfrm>
            <a:off x="4899804" y="5024954"/>
            <a:ext cx="3933645" cy="1188684"/>
          </a:xfrm>
        </p:spPr>
        <p:txBody>
          <a:bodyPr>
            <a:normAutofit/>
          </a:bodyPr>
          <a:lstStyle/>
          <a:p>
            <a:pPr marL="0" indent="0">
              <a:buNone/>
            </a:pPr>
            <a:r>
              <a:rPr lang="en-US" altLang="en-US" sz="1600" b="0" dirty="0">
                <a:latin typeface="+mn-lt"/>
              </a:rPr>
              <a:t>Panel (b) </a:t>
            </a:r>
            <a:r>
              <a:rPr lang="en-US" altLang="en-US" sz="1600" dirty="0">
                <a:latin typeface="+mn-lt"/>
              </a:rPr>
              <a:t>Diminishing Marginal Product of Labor </a:t>
            </a:r>
            <a:r>
              <a:rPr lang="en-US" altLang="en-US" sz="1600" b="0" dirty="0">
                <a:latin typeface="+mn-lt"/>
              </a:rPr>
              <a:t>An increase in the amount of labor used in manufacturing lowers the marginal product of labor.</a:t>
            </a:r>
          </a:p>
        </p:txBody>
      </p:sp>
    </p:spTree>
    <p:extLst>
      <p:ext uri="{BB962C8B-B14F-4D97-AF65-F5344CB8AC3E}">
        <p14:creationId xmlns:p14="http://schemas.microsoft.com/office/powerpoint/2010/main" val="472405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9E1F-4ABF-4AA3-B699-C1A95801EC36}"/>
              </a:ext>
            </a:extLst>
          </p:cNvPr>
          <p:cNvSpPr>
            <a:spLocks noGrp="1"/>
          </p:cNvSpPr>
          <p:nvPr>
            <p:ph type="title"/>
          </p:nvPr>
        </p:nvSpPr>
        <p:spPr/>
        <p:txBody>
          <a:bodyPr>
            <a:normAutofit/>
          </a:bodyPr>
          <a:lstStyle/>
          <a:p>
            <a:r>
              <a:rPr lang="en-US" sz="3600" dirty="0"/>
              <a:t>1) Specific-Factors Model (part 3)</a:t>
            </a:r>
            <a:endParaRPr lang="en-IN" sz="3600" dirty="0"/>
          </a:p>
        </p:txBody>
      </p:sp>
      <p:sp>
        <p:nvSpPr>
          <p:cNvPr id="3" name="Content Placeholder 2">
            <a:extLst>
              <a:ext uri="{FF2B5EF4-FFF2-40B4-BE49-F238E27FC236}">
                <a16:creationId xmlns:a16="http://schemas.microsoft.com/office/drawing/2014/main" id="{0CF6E823-1841-4D5A-AB87-C1928D5915D7}"/>
              </a:ext>
            </a:extLst>
          </p:cNvPr>
          <p:cNvSpPr>
            <a:spLocks noGrp="1"/>
          </p:cNvSpPr>
          <p:nvPr>
            <p:ph idx="1"/>
          </p:nvPr>
        </p:nvSpPr>
        <p:spPr>
          <a:xfrm>
            <a:off x="457200" y="1600201"/>
            <a:ext cx="8229600" cy="1123949"/>
          </a:xfrm>
        </p:spPr>
        <p:txBody>
          <a:bodyPr/>
          <a:lstStyle/>
          <a:p>
            <a:r>
              <a:rPr lang="en-US" altLang="en-US" dirty="0"/>
              <a:t>The Home Country</a:t>
            </a:r>
          </a:p>
          <a:p>
            <a:r>
              <a:rPr lang="en-US" altLang="en-US" b="0" dirty="0"/>
              <a:t>Production Possibilities Frontier</a:t>
            </a:r>
          </a:p>
        </p:txBody>
      </p:sp>
      <p:pic>
        <p:nvPicPr>
          <p:cNvPr id="10" name="Picture Placeholder 4" descr="A graph, that plots agriculture output, Q subscript A versus Manufacturing Output, Q subscript M, displays a downward open curve and a negative slope. The curve represents Production Possibilities Frontier, P P F. The curve and the slope meet at points, A and B. The slope of the curve corresponding to vertical axis is M P L subscript A and its slope corresponding to horizontal axis is M P L subscript M. The slope of the curve is equal to negative M P L subscript A over M P L subscript M.">
            <a:extLst>
              <a:ext uri="{FF2B5EF4-FFF2-40B4-BE49-F238E27FC236}">
                <a16:creationId xmlns:a16="http://schemas.microsoft.com/office/drawing/2014/main" id="{59EA21AC-8CB0-41CD-81F7-990C046FFAB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81057" y="3411782"/>
            <a:ext cx="4628324" cy="2479308"/>
          </a:xfrm>
          <a:prstGeom prst="rect">
            <a:avLst/>
          </a:prstGeom>
        </p:spPr>
      </p:pic>
      <p:sp>
        <p:nvSpPr>
          <p:cNvPr id="6" name="Content Placeholder 5">
            <a:extLst>
              <a:ext uri="{FF2B5EF4-FFF2-40B4-BE49-F238E27FC236}">
                <a16:creationId xmlns:a16="http://schemas.microsoft.com/office/drawing/2014/main" id="{8DB59CB8-3CEC-4263-A982-7539EDDFD9D0}"/>
              </a:ext>
            </a:extLst>
          </p:cNvPr>
          <p:cNvSpPr>
            <a:spLocks noGrp="1"/>
          </p:cNvSpPr>
          <p:nvPr>
            <p:ph sz="quarter" idx="12"/>
          </p:nvPr>
        </p:nvSpPr>
        <p:spPr>
          <a:xfrm>
            <a:off x="457200" y="2669907"/>
            <a:ext cx="1685925" cy="418351"/>
          </a:xfrm>
        </p:spPr>
        <p:txBody>
          <a:bodyPr>
            <a:normAutofit/>
          </a:bodyPr>
          <a:lstStyle/>
          <a:p>
            <a:pPr marL="0" indent="0">
              <a:buNone/>
            </a:pPr>
            <a:r>
              <a:rPr lang="en-IN" sz="2000" dirty="0"/>
              <a:t>FIGURE 3-2</a:t>
            </a:r>
          </a:p>
        </p:txBody>
      </p:sp>
      <p:sp>
        <p:nvSpPr>
          <p:cNvPr id="7" name="Content Placeholder 6">
            <a:extLst>
              <a:ext uri="{FF2B5EF4-FFF2-40B4-BE49-F238E27FC236}">
                <a16:creationId xmlns:a16="http://schemas.microsoft.com/office/drawing/2014/main" id="{078CA7AF-2354-49DB-89B5-E0D35D5A2602}"/>
              </a:ext>
            </a:extLst>
          </p:cNvPr>
          <p:cNvSpPr>
            <a:spLocks noGrp="1"/>
          </p:cNvSpPr>
          <p:nvPr>
            <p:ph sz="quarter" idx="13"/>
          </p:nvPr>
        </p:nvSpPr>
        <p:spPr>
          <a:xfrm>
            <a:off x="5607170" y="3028841"/>
            <a:ext cx="3079630" cy="3130419"/>
          </a:xfrm>
        </p:spPr>
        <p:txBody>
          <a:bodyPr>
            <a:normAutofit/>
          </a:bodyPr>
          <a:lstStyle/>
          <a:p>
            <a:pPr marL="0" indent="0" eaLnBrk="1" hangingPunct="1">
              <a:spcBef>
                <a:spcPct val="10000"/>
              </a:spcBef>
              <a:spcAft>
                <a:spcPct val="10000"/>
              </a:spcAft>
              <a:buNone/>
            </a:pPr>
            <a:r>
              <a:rPr lang="en-US" altLang="en-US" sz="2000" dirty="0">
                <a:latin typeface="+mn-lt"/>
              </a:rPr>
              <a:t>Production Possibilities Frontier</a:t>
            </a:r>
          </a:p>
          <a:p>
            <a:pPr marL="0" indent="0" eaLnBrk="1" hangingPunct="1">
              <a:spcBef>
                <a:spcPct val="10000"/>
              </a:spcBef>
              <a:spcAft>
                <a:spcPct val="10000"/>
              </a:spcAft>
              <a:buNone/>
            </a:pPr>
            <a:r>
              <a:rPr lang="en-US" altLang="en-US" sz="2000" b="0" dirty="0">
                <a:latin typeface="+mn-lt"/>
              </a:rPr>
              <a:t>The production possibilities frontier shows the amount of agricultural and manufacturing outputs that can be produced in the economy with labor.</a:t>
            </a:r>
          </a:p>
        </p:txBody>
      </p:sp>
    </p:spTree>
    <p:extLst>
      <p:ext uri="{BB962C8B-B14F-4D97-AF65-F5344CB8AC3E}">
        <p14:creationId xmlns:p14="http://schemas.microsoft.com/office/powerpoint/2010/main" val="44390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A047AD5-B698-463A-BEF8-F4A8793A6941}"/>
              </a:ext>
            </a:extLst>
          </p:cNvPr>
          <p:cNvSpPr>
            <a:spLocks noGrp="1"/>
          </p:cNvSpPr>
          <p:nvPr>
            <p:ph type="title"/>
          </p:nvPr>
        </p:nvSpPr>
        <p:spPr/>
        <p:txBody>
          <a:bodyPr>
            <a:normAutofit/>
          </a:bodyPr>
          <a:lstStyle/>
          <a:p>
            <a:r>
              <a:rPr lang="en-US" sz="3600" dirty="0"/>
              <a:t>1) Specific-Factors Model (part 4)</a:t>
            </a:r>
            <a:endParaRPr lang="en-IN" sz="3600" dirty="0"/>
          </a:p>
        </p:txBody>
      </p:sp>
      <p:sp>
        <p:nvSpPr>
          <p:cNvPr id="11" name="Content Placeholder 10">
            <a:extLst>
              <a:ext uri="{FF2B5EF4-FFF2-40B4-BE49-F238E27FC236}">
                <a16:creationId xmlns:a16="http://schemas.microsoft.com/office/drawing/2014/main" id="{EEF5D202-569B-4F03-A6AC-407737608772}"/>
              </a:ext>
            </a:extLst>
          </p:cNvPr>
          <p:cNvSpPr>
            <a:spLocks noGrp="1"/>
          </p:cNvSpPr>
          <p:nvPr>
            <p:ph idx="1"/>
          </p:nvPr>
        </p:nvSpPr>
        <p:spPr>
          <a:xfrm>
            <a:off x="457200" y="1600201"/>
            <a:ext cx="8229600" cy="3523890"/>
          </a:xfrm>
        </p:spPr>
        <p:txBody>
          <a:bodyPr>
            <a:normAutofit/>
          </a:bodyPr>
          <a:lstStyle/>
          <a:p>
            <a:r>
              <a:rPr lang="en-US" altLang="en-US" sz="2600" dirty="0"/>
              <a:t>The Home Country</a:t>
            </a:r>
          </a:p>
          <a:p>
            <a:r>
              <a:rPr lang="en-US" altLang="en-US" sz="2600" b="0" dirty="0"/>
              <a:t>Opportunity Cost and Prices</a:t>
            </a:r>
          </a:p>
          <a:p>
            <a:pPr lvl="1"/>
            <a:r>
              <a:rPr lang="en-US" altLang="en-US" sz="2400" dirty="0"/>
              <a:t>As in the Ricardian model, the slope of the PPF equals the opportunity cost or relative price of the good on the horizontal axis; here it is manufacturing.</a:t>
            </a:r>
          </a:p>
          <a:p>
            <a:pPr lvl="1"/>
            <a:r>
              <a:rPr lang="en-US" altLang="en-US" sz="2400" dirty="0"/>
              <a:t>Firms hire labor up to the point where the cost of one more hour of labor (the wage) equals the value of one more hour of labor in production.</a:t>
            </a:r>
          </a:p>
        </p:txBody>
      </p:sp>
      <mc:AlternateContent xmlns:mc="http://schemas.openxmlformats.org/markup-compatibility/2006" xmlns:a14="http://schemas.microsoft.com/office/drawing/2010/main">
        <mc:Choice Requires="a14">
          <p:sp>
            <p:nvSpPr>
              <p:cNvPr id="20" name="Content Placeholder 19">
                <a:extLst>
                  <a:ext uri="{FF2B5EF4-FFF2-40B4-BE49-F238E27FC236}">
                    <a16:creationId xmlns:a16="http://schemas.microsoft.com/office/drawing/2014/main" id="{0C0CAEBB-5A51-4FA6-A83C-8BCE21F58D08}"/>
                  </a:ext>
                </a:extLst>
              </p:cNvPr>
              <p:cNvSpPr txBox="1">
                <a:spLocks noGrp="1"/>
              </p:cNvSpPr>
              <p:nvPr>
                <p:ph sz="quarter" idx="12"/>
              </p:nvPr>
            </p:nvSpPr>
            <p:spPr>
              <a:xfrm>
                <a:off x="457200" y="5137059"/>
                <a:ext cx="8229600" cy="369332"/>
              </a:xfrm>
              <a:prstGeom prst="rect">
                <a:avLst/>
              </a:prstGeom>
              <a:noFill/>
            </p:spPr>
            <p:txBody>
              <a:bodyPr wrap="square" lIns="0" tIns="0" rIns="0" bIns="0" rtlCol="0">
                <a:spAutoFit/>
              </a:bodyPr>
              <a:lstStyle/>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𝑊</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𝑀</m:t>
                          </m:r>
                        </m:sub>
                      </m:sSub>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𝑀𝑃𝐿</m:t>
                          </m:r>
                        </m:e>
                        <m:sub>
                          <m:r>
                            <a:rPr lang="en-US" sz="2400" b="0" i="1" smtClean="0">
                              <a:latin typeface="Cambria Math" panose="02040503050406030204" pitchFamily="18" charset="0"/>
                              <a:ea typeface="Cambria Math" panose="02040503050406030204" pitchFamily="18" charset="0"/>
                            </a:rPr>
                            <m:t>𝑀</m:t>
                          </m:r>
                        </m:sub>
                      </m:sSub>
                    </m:oMath>
                  </m:oMathPara>
                </a14:m>
                <a:endParaRPr lang="en-US" sz="2400" b="0" dirty="0">
                  <a:ea typeface="Cambria Math" panose="02040503050406030204" pitchFamily="18" charset="0"/>
                </a:endParaRPr>
              </a:p>
            </p:txBody>
          </p:sp>
        </mc:Choice>
        <mc:Fallback xmlns="">
          <p:sp>
            <p:nvSpPr>
              <p:cNvPr id="20" name="Content Placeholder 19">
                <a:extLst>
                  <a:ext uri="{FF2B5EF4-FFF2-40B4-BE49-F238E27FC236}">
                    <a16:creationId xmlns:a16="http://schemas.microsoft.com/office/drawing/2014/main" id="{0C0CAEBB-5A51-4FA6-A83C-8BCE21F58D08}"/>
                  </a:ext>
                </a:extLst>
              </p:cNvPr>
              <p:cNvSpPr txBox="1">
                <a:spLocks noGrp="1" noRot="1" noChangeAspect="1" noMove="1" noResize="1" noEditPoints="1" noAdjustHandles="1" noChangeArrowheads="1" noChangeShapeType="1" noTextEdit="1"/>
              </p:cNvSpPr>
              <p:nvPr>
                <p:ph sz="quarter" idx="12"/>
              </p:nvPr>
            </p:nvSpPr>
            <p:spPr>
              <a:xfrm>
                <a:off x="457200" y="5137059"/>
                <a:ext cx="8229600" cy="369332"/>
              </a:xfrm>
              <a:prstGeom prst="rect">
                <a:avLst/>
              </a:prstGeom>
              <a:blipFill>
                <a:blip r:embed="rId2"/>
                <a:stretch>
                  <a:fillRect b="-1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Content Placeholder 20">
                <a:extLst>
                  <a:ext uri="{FF2B5EF4-FFF2-40B4-BE49-F238E27FC236}">
                    <a16:creationId xmlns:a16="http://schemas.microsoft.com/office/drawing/2014/main" id="{FBA44722-45E7-4D20-81A6-B93FFC4FC6EE}"/>
                  </a:ext>
                </a:extLst>
              </p:cNvPr>
              <p:cNvSpPr txBox="1">
                <a:spLocks noGrp="1"/>
              </p:cNvSpPr>
              <p:nvPr>
                <p:ph sz="quarter" idx="13"/>
              </p:nvPr>
            </p:nvSpPr>
            <p:spPr>
              <a:xfrm>
                <a:off x="3071036" y="5705475"/>
                <a:ext cx="2687637" cy="369332"/>
              </a:xfrm>
              <a:prstGeom prst="rect">
                <a:avLst/>
              </a:prstGeom>
              <a:noFill/>
            </p:spPr>
            <p:txBody>
              <a:bodyPr wrap="square" lIns="0" tIns="0" rIns="0" bIns="0" rtlCol="0">
                <a:spAutoFit/>
              </a:bodyPr>
              <a:lstStyle/>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𝑊</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𝑀𝑃𝐿</m:t>
                          </m:r>
                        </m:e>
                        <m:sub>
                          <m:r>
                            <a:rPr lang="en-US" sz="2400" b="0" i="1" smtClean="0">
                              <a:latin typeface="Cambria Math" panose="02040503050406030204" pitchFamily="18" charset="0"/>
                              <a:ea typeface="Cambria Math" panose="02040503050406030204" pitchFamily="18" charset="0"/>
                            </a:rPr>
                            <m:t>𝐴</m:t>
                          </m:r>
                        </m:sub>
                      </m:sSub>
                    </m:oMath>
                  </m:oMathPara>
                </a14:m>
                <a:endParaRPr lang="en-US" sz="2400" b="0" dirty="0">
                  <a:ea typeface="Cambria Math" panose="02040503050406030204" pitchFamily="18" charset="0"/>
                </a:endParaRPr>
              </a:p>
            </p:txBody>
          </p:sp>
        </mc:Choice>
        <mc:Fallback xmlns="">
          <p:sp>
            <p:nvSpPr>
              <p:cNvPr id="21" name="Content Placeholder 20">
                <a:extLst>
                  <a:ext uri="{FF2B5EF4-FFF2-40B4-BE49-F238E27FC236}">
                    <a16:creationId xmlns:a16="http://schemas.microsoft.com/office/drawing/2014/main" id="{FBA44722-45E7-4D20-81A6-B93FFC4FC6EE}"/>
                  </a:ext>
                </a:extLst>
              </p:cNvPr>
              <p:cNvSpPr txBox="1">
                <a:spLocks noGrp="1" noRot="1" noChangeAspect="1" noMove="1" noResize="1" noEditPoints="1" noAdjustHandles="1" noChangeArrowheads="1" noChangeShapeType="1" noTextEdit="1"/>
              </p:cNvSpPr>
              <p:nvPr>
                <p:ph sz="quarter" idx="13"/>
              </p:nvPr>
            </p:nvSpPr>
            <p:spPr>
              <a:xfrm>
                <a:off x="3071036" y="5705475"/>
                <a:ext cx="2687637" cy="369332"/>
              </a:xfrm>
              <a:prstGeom prst="rect">
                <a:avLst/>
              </a:prstGeom>
              <a:blipFill>
                <a:blip r:embed="rId3"/>
                <a:stretch>
                  <a:fillRect b="-16393"/>
                </a:stretch>
              </a:blipFill>
            </p:spPr>
            <p:txBody>
              <a:bodyPr/>
              <a:lstStyle/>
              <a:p>
                <a:r>
                  <a:rPr lang="en-IN">
                    <a:noFill/>
                  </a:rPr>
                  <a:t> </a:t>
                </a:r>
              </a:p>
            </p:txBody>
          </p:sp>
        </mc:Fallback>
      </mc:AlternateContent>
    </p:spTree>
    <p:extLst>
      <p:ext uri="{BB962C8B-B14F-4D97-AF65-F5344CB8AC3E}">
        <p14:creationId xmlns:p14="http://schemas.microsoft.com/office/powerpoint/2010/main" val="3701066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18A74-3E5C-4188-88F6-86B792FA5D8E}"/>
              </a:ext>
            </a:extLst>
          </p:cNvPr>
          <p:cNvSpPr>
            <a:spLocks noGrp="1"/>
          </p:cNvSpPr>
          <p:nvPr>
            <p:ph type="title"/>
          </p:nvPr>
        </p:nvSpPr>
        <p:spPr/>
        <p:txBody>
          <a:bodyPr>
            <a:normAutofit/>
          </a:bodyPr>
          <a:lstStyle/>
          <a:p>
            <a:r>
              <a:rPr lang="en-US" sz="3600" dirty="0"/>
              <a:t>1) Specific-Factors Model (part 5)</a:t>
            </a:r>
            <a:endParaRPr lang="en-IN" sz="3600" dirty="0"/>
          </a:p>
        </p:txBody>
      </p:sp>
      <p:sp>
        <p:nvSpPr>
          <p:cNvPr id="3" name="Content Placeholder 2">
            <a:extLst>
              <a:ext uri="{FF2B5EF4-FFF2-40B4-BE49-F238E27FC236}">
                <a16:creationId xmlns:a16="http://schemas.microsoft.com/office/drawing/2014/main" id="{F049B49F-92B0-4E55-B6FF-2070B9C1179F}"/>
              </a:ext>
            </a:extLst>
          </p:cNvPr>
          <p:cNvSpPr>
            <a:spLocks noGrp="1"/>
          </p:cNvSpPr>
          <p:nvPr>
            <p:ph idx="1"/>
          </p:nvPr>
        </p:nvSpPr>
        <p:spPr>
          <a:xfrm>
            <a:off x="457200" y="1600201"/>
            <a:ext cx="8229600" cy="1095374"/>
          </a:xfrm>
        </p:spPr>
        <p:txBody>
          <a:bodyPr/>
          <a:lstStyle/>
          <a:p>
            <a:r>
              <a:rPr lang="en-US" altLang="en-US" dirty="0"/>
              <a:t>The Home Country</a:t>
            </a:r>
          </a:p>
          <a:p>
            <a:r>
              <a:rPr lang="en-US" altLang="en-US" b="0" dirty="0"/>
              <a:t>Opportunity Cost and Prices</a:t>
            </a:r>
          </a:p>
        </p:txBody>
      </p:sp>
      <p:pic>
        <p:nvPicPr>
          <p:cNvPr id="10" name="Picture Placeholder 5" descr="A graph plots agriculture output, Q subscript A versus manufacturing output, Q subscript M. It displays two upward open curves, a downward open curve, and two negative slopes of varying steepness. From top to bottom, the upward open curves that represent gains from trade are numbered, U subscript 2 and U subscript 1. A slope with higher decreasing steepness and curve U subscript 2 meet at point C. Curves, U 1 and the downward open curve that represent P P F intersect each other at point A through which another slope passes. The first slope meets the P P F curve at point B. The slope of the first line is equal to negative P subscript M over P subscript A. The slope of the second line is equal to negative start fraction P subscript M over P subscript A end fraction to the power W. ">
            <a:extLst>
              <a:ext uri="{FF2B5EF4-FFF2-40B4-BE49-F238E27FC236}">
                <a16:creationId xmlns:a16="http://schemas.microsoft.com/office/drawing/2014/main" id="{958DA15A-9033-4B40-9786-B9E5AE3BF71A}"/>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532182" y="3304617"/>
            <a:ext cx="4083824" cy="2736427"/>
          </a:xfrm>
          <a:prstGeom prst="rect">
            <a:avLst/>
          </a:prstGeom>
        </p:spPr>
      </p:pic>
      <p:sp>
        <p:nvSpPr>
          <p:cNvPr id="6" name="Content Placeholder 5">
            <a:extLst>
              <a:ext uri="{FF2B5EF4-FFF2-40B4-BE49-F238E27FC236}">
                <a16:creationId xmlns:a16="http://schemas.microsoft.com/office/drawing/2014/main" id="{B6EF0270-0361-4E7D-BA70-9DE9821D435A}"/>
              </a:ext>
            </a:extLst>
          </p:cNvPr>
          <p:cNvSpPr>
            <a:spLocks noGrp="1"/>
          </p:cNvSpPr>
          <p:nvPr>
            <p:ph sz="quarter" idx="12"/>
          </p:nvPr>
        </p:nvSpPr>
        <p:spPr>
          <a:xfrm>
            <a:off x="457201" y="2669907"/>
            <a:ext cx="1699404" cy="470109"/>
          </a:xfrm>
        </p:spPr>
        <p:txBody>
          <a:bodyPr>
            <a:normAutofit/>
          </a:bodyPr>
          <a:lstStyle/>
          <a:p>
            <a:pPr marL="0" indent="0">
              <a:buNone/>
            </a:pPr>
            <a:r>
              <a:rPr lang="en-IN" sz="2000" dirty="0"/>
              <a:t>FIGURE 3-3</a:t>
            </a:r>
          </a:p>
        </p:txBody>
      </p:sp>
      <p:sp>
        <p:nvSpPr>
          <p:cNvPr id="7" name="Content Placeholder 6">
            <a:extLst>
              <a:ext uri="{FF2B5EF4-FFF2-40B4-BE49-F238E27FC236}">
                <a16:creationId xmlns:a16="http://schemas.microsoft.com/office/drawing/2014/main" id="{0F14859A-98D5-4661-BDFC-82DEDC3AA1CD}"/>
              </a:ext>
            </a:extLst>
          </p:cNvPr>
          <p:cNvSpPr>
            <a:spLocks noGrp="1"/>
          </p:cNvSpPr>
          <p:nvPr>
            <p:ph sz="quarter" idx="13"/>
          </p:nvPr>
        </p:nvSpPr>
        <p:spPr>
          <a:xfrm>
            <a:off x="4934340" y="2772459"/>
            <a:ext cx="3968120" cy="3524824"/>
          </a:xfrm>
        </p:spPr>
        <p:txBody>
          <a:bodyPr>
            <a:normAutofit/>
          </a:bodyPr>
          <a:lstStyle/>
          <a:p>
            <a:pPr marL="0" indent="0" eaLnBrk="1" hangingPunct="1">
              <a:spcBef>
                <a:spcPct val="10000"/>
              </a:spcBef>
              <a:spcAft>
                <a:spcPct val="10000"/>
              </a:spcAft>
              <a:buNone/>
            </a:pPr>
            <a:r>
              <a:rPr lang="en-US" altLang="en-US" sz="1600" b="0" dirty="0">
                <a:latin typeface="+mn-lt"/>
              </a:rPr>
              <a:t>In the absence of international trade, the economy produces and consumes at point </a:t>
            </a:r>
            <a:r>
              <a:rPr lang="en-US" altLang="en-US" sz="1600" b="0" i="1" dirty="0">
                <a:latin typeface="+mn-lt"/>
              </a:rPr>
              <a:t>A</a:t>
            </a:r>
            <a:r>
              <a:rPr lang="en-US" altLang="en-US" sz="1600" b="0" dirty="0">
                <a:latin typeface="+mn-lt"/>
              </a:rPr>
              <a:t>.</a:t>
            </a:r>
          </a:p>
          <a:p>
            <a:pPr marL="0" indent="0" eaLnBrk="1" hangingPunct="1">
              <a:spcBef>
                <a:spcPct val="10000"/>
              </a:spcBef>
              <a:spcAft>
                <a:spcPct val="10000"/>
              </a:spcAft>
              <a:buNone/>
            </a:pPr>
            <a:r>
              <a:rPr lang="en-US" altLang="en-US" sz="1600" b="0" dirty="0">
                <a:latin typeface="+mn-lt"/>
              </a:rPr>
              <a:t>The relative price of manufactures, </a:t>
            </a:r>
            <a:r>
              <a:rPr lang="en-US" altLang="en-US" sz="1600" b="0" i="1" dirty="0">
                <a:latin typeface="+mn-lt"/>
              </a:rPr>
              <a:t>P</a:t>
            </a:r>
            <a:r>
              <a:rPr lang="en-US" altLang="en-US" sz="1600" b="0" i="1" baseline="-25000" dirty="0">
                <a:latin typeface="+mn-lt"/>
              </a:rPr>
              <a:t>M</a:t>
            </a:r>
            <a:r>
              <a:rPr lang="en-US" altLang="en-US" sz="1600" b="0" dirty="0">
                <a:latin typeface="+mn-lt"/>
              </a:rPr>
              <a:t>/</a:t>
            </a:r>
            <a:r>
              <a:rPr lang="en-US" altLang="en-US" sz="1600" b="0" i="1" dirty="0">
                <a:latin typeface="+mn-lt"/>
              </a:rPr>
              <a:t>P</a:t>
            </a:r>
            <a:r>
              <a:rPr lang="en-US" altLang="en-US" sz="1600" b="0" i="1" baseline="-25000" dirty="0">
                <a:latin typeface="+mn-lt"/>
              </a:rPr>
              <a:t>A</a:t>
            </a:r>
            <a:r>
              <a:rPr lang="en-US" altLang="en-US" sz="1600" b="0" dirty="0">
                <a:latin typeface="+mn-lt"/>
              </a:rPr>
              <a:t>, is the slope of the line tangent to the PPF and indifference curve </a:t>
            </a:r>
            <a:r>
              <a:rPr lang="en-US" altLang="en-US" sz="1600" b="0" i="1" dirty="0">
                <a:latin typeface="+mn-lt"/>
              </a:rPr>
              <a:t>U</a:t>
            </a:r>
            <a:r>
              <a:rPr lang="en-US" altLang="en-US" sz="1600" b="0" baseline="-25000" dirty="0">
                <a:latin typeface="+mn-lt"/>
              </a:rPr>
              <a:t>1</a:t>
            </a:r>
            <a:r>
              <a:rPr lang="en-US" altLang="en-US" sz="1600" b="0" dirty="0">
                <a:latin typeface="+mn-lt"/>
              </a:rPr>
              <a:t>, at point </a:t>
            </a:r>
            <a:r>
              <a:rPr lang="en-US" altLang="en-US" sz="1600" b="0" i="1" dirty="0">
                <a:latin typeface="+mn-lt"/>
              </a:rPr>
              <a:t>A</a:t>
            </a:r>
            <a:r>
              <a:rPr lang="en-US" altLang="en-US" sz="1600" b="0" dirty="0">
                <a:latin typeface="+mn-lt"/>
              </a:rPr>
              <a:t>.</a:t>
            </a:r>
          </a:p>
          <a:p>
            <a:pPr marL="0" indent="0" eaLnBrk="1" hangingPunct="1">
              <a:spcBef>
                <a:spcPct val="10000"/>
              </a:spcBef>
              <a:spcAft>
                <a:spcPct val="10000"/>
              </a:spcAft>
              <a:buNone/>
            </a:pPr>
            <a:r>
              <a:rPr lang="en-US" altLang="en-US" sz="1600" b="0" dirty="0">
                <a:latin typeface="+mn-lt"/>
              </a:rPr>
              <a:t>With international trade, the economy is able to produce at point </a:t>
            </a:r>
            <a:r>
              <a:rPr lang="en-US" altLang="en-US" sz="1600" b="0" i="1" dirty="0">
                <a:latin typeface="+mn-lt"/>
              </a:rPr>
              <a:t>B</a:t>
            </a:r>
            <a:r>
              <a:rPr lang="en-US" altLang="en-US" sz="1600" b="0" dirty="0">
                <a:latin typeface="+mn-lt"/>
              </a:rPr>
              <a:t> and consume at point </a:t>
            </a:r>
            <a:r>
              <a:rPr lang="en-US" altLang="en-US" sz="1600" b="0" i="1" dirty="0">
                <a:latin typeface="+mn-lt"/>
              </a:rPr>
              <a:t>C</a:t>
            </a:r>
            <a:r>
              <a:rPr lang="en-US" altLang="en-US" sz="1600" b="0" dirty="0">
                <a:latin typeface="+mn-lt"/>
              </a:rPr>
              <a:t>.</a:t>
            </a:r>
          </a:p>
          <a:p>
            <a:pPr marL="0" indent="0" eaLnBrk="1" hangingPunct="1">
              <a:spcBef>
                <a:spcPct val="10000"/>
              </a:spcBef>
              <a:spcAft>
                <a:spcPct val="10000"/>
              </a:spcAft>
              <a:buNone/>
            </a:pPr>
            <a:r>
              <a:rPr lang="en-US" altLang="en-US" sz="1600" b="0" dirty="0">
                <a:latin typeface="+mn-lt"/>
              </a:rPr>
              <a:t>The world relative price of manufactures, (</a:t>
            </a:r>
            <a:r>
              <a:rPr lang="en-US" altLang="en-US" sz="1600" b="0" i="1" dirty="0">
                <a:latin typeface="+mn-lt"/>
              </a:rPr>
              <a:t>P</a:t>
            </a:r>
            <a:r>
              <a:rPr lang="en-US" altLang="en-US" sz="1600" b="0" i="1" baseline="-25000" dirty="0">
                <a:latin typeface="+mn-lt"/>
              </a:rPr>
              <a:t>M</a:t>
            </a:r>
            <a:r>
              <a:rPr lang="en-US" altLang="en-US" sz="1600" b="0" dirty="0">
                <a:latin typeface="+mn-lt"/>
              </a:rPr>
              <a:t>/</a:t>
            </a:r>
            <a:r>
              <a:rPr lang="en-US" altLang="en-US" sz="1600" b="0" i="1" dirty="0">
                <a:latin typeface="+mn-lt"/>
              </a:rPr>
              <a:t>P</a:t>
            </a:r>
            <a:r>
              <a:rPr lang="en-US" altLang="en-US" sz="1600" b="0" i="1" baseline="-25000" dirty="0">
                <a:latin typeface="+mn-lt"/>
              </a:rPr>
              <a:t>A</a:t>
            </a:r>
            <a:r>
              <a:rPr lang="en-US" altLang="en-US" sz="1600" b="0" dirty="0">
                <a:latin typeface="+mn-lt"/>
              </a:rPr>
              <a:t>)</a:t>
            </a:r>
            <a:r>
              <a:rPr lang="en-US" altLang="en-US" sz="1600" b="0" i="1" baseline="30000" dirty="0">
                <a:latin typeface="+mn-lt"/>
              </a:rPr>
              <a:t>W</a:t>
            </a:r>
            <a:r>
              <a:rPr lang="en-US" altLang="en-US" sz="1600" b="0" dirty="0">
                <a:latin typeface="+mn-lt"/>
              </a:rPr>
              <a:t>, is the slope of the line </a:t>
            </a:r>
            <a:r>
              <a:rPr lang="en-US" altLang="en-US" sz="1600" b="0" i="1" dirty="0">
                <a:latin typeface="+mn-lt"/>
              </a:rPr>
              <a:t>BC</a:t>
            </a:r>
            <a:r>
              <a:rPr lang="en-US" altLang="en-US" sz="1600" b="0" dirty="0">
                <a:latin typeface="+mn-lt"/>
              </a:rPr>
              <a:t>.</a:t>
            </a:r>
          </a:p>
          <a:p>
            <a:pPr marL="0" indent="0" eaLnBrk="1" hangingPunct="1">
              <a:spcBef>
                <a:spcPct val="10000"/>
              </a:spcBef>
              <a:spcAft>
                <a:spcPct val="10000"/>
              </a:spcAft>
              <a:buNone/>
            </a:pPr>
            <a:r>
              <a:rPr lang="en-US" altLang="en-US" sz="1600" b="0" dirty="0">
                <a:latin typeface="+mn-lt"/>
              </a:rPr>
              <a:t>The rise in utility from </a:t>
            </a:r>
            <a:r>
              <a:rPr lang="en-US" altLang="en-US" sz="1600" b="0" i="1" dirty="0">
                <a:latin typeface="+mn-lt"/>
              </a:rPr>
              <a:t>U</a:t>
            </a:r>
            <a:r>
              <a:rPr lang="en-US" altLang="en-US" sz="1600" b="0" baseline="-25000" dirty="0">
                <a:latin typeface="+mn-lt"/>
              </a:rPr>
              <a:t>1</a:t>
            </a:r>
            <a:r>
              <a:rPr lang="en-US" altLang="en-US" sz="1600" b="0" dirty="0">
                <a:latin typeface="+mn-lt"/>
              </a:rPr>
              <a:t> to </a:t>
            </a:r>
            <a:r>
              <a:rPr lang="en-US" altLang="en-US" sz="1600" b="0" i="1" dirty="0">
                <a:latin typeface="+mn-lt"/>
              </a:rPr>
              <a:t>U</a:t>
            </a:r>
            <a:r>
              <a:rPr lang="en-US" altLang="en-US" sz="1600" b="0" baseline="-25000" dirty="0">
                <a:latin typeface="+mn-lt"/>
              </a:rPr>
              <a:t>2</a:t>
            </a:r>
            <a:r>
              <a:rPr lang="en-US" altLang="en-US" sz="1600" b="0" dirty="0">
                <a:latin typeface="+mn-lt"/>
              </a:rPr>
              <a:t> is a measure of the gains from trade for the economy.</a:t>
            </a:r>
          </a:p>
        </p:txBody>
      </p:sp>
    </p:spTree>
    <p:extLst>
      <p:ext uri="{BB962C8B-B14F-4D97-AF65-F5344CB8AC3E}">
        <p14:creationId xmlns:p14="http://schemas.microsoft.com/office/powerpoint/2010/main" val="880708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5819-0453-7A4E-B406-A08A14D9BEF2}"/>
              </a:ext>
            </a:extLst>
          </p:cNvPr>
          <p:cNvSpPr>
            <a:spLocks noGrp="1"/>
          </p:cNvSpPr>
          <p:nvPr>
            <p:ph type="title"/>
          </p:nvPr>
        </p:nvSpPr>
        <p:spPr/>
        <p:txBody>
          <a:bodyPr>
            <a:normAutofit/>
          </a:bodyPr>
          <a:lstStyle/>
          <a:p>
            <a:r>
              <a:rPr lang="en-US" sz="3600" dirty="0"/>
              <a:t>1) Specific-Factors Model (part 6)</a:t>
            </a:r>
          </a:p>
        </p:txBody>
      </p:sp>
      <p:sp>
        <p:nvSpPr>
          <p:cNvPr id="3" name="Content Placeholder 2">
            <a:extLst>
              <a:ext uri="{FF2B5EF4-FFF2-40B4-BE49-F238E27FC236}">
                <a16:creationId xmlns:a16="http://schemas.microsoft.com/office/drawing/2014/main" id="{36A0739B-62F8-7347-8350-0B494E98CE9F}"/>
              </a:ext>
            </a:extLst>
          </p:cNvPr>
          <p:cNvSpPr>
            <a:spLocks noGrp="1"/>
          </p:cNvSpPr>
          <p:nvPr>
            <p:ph idx="1"/>
          </p:nvPr>
        </p:nvSpPr>
        <p:spPr>
          <a:xfrm>
            <a:off x="457200" y="1600201"/>
            <a:ext cx="8229600" cy="1828799"/>
          </a:xfrm>
        </p:spPr>
        <p:txBody>
          <a:bodyPr>
            <a:normAutofit/>
          </a:bodyPr>
          <a:lstStyle/>
          <a:p>
            <a:r>
              <a:rPr lang="en-US" altLang="en-US" dirty="0"/>
              <a:t>The Foreign Country</a:t>
            </a:r>
          </a:p>
          <a:p>
            <a:pPr lvl="1"/>
            <a:r>
              <a:rPr lang="en-US" altLang="en-US" dirty="0"/>
              <a:t>Let us assume that the Home no-trade relative price of manufacturing is lower than the Foreign relative price.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4BA00C2-EE41-4E51-8344-84C2DFAB8571}"/>
                  </a:ext>
                </a:extLst>
              </p:cNvPr>
              <p:cNvSpPr>
                <a:spLocks noGrp="1"/>
              </p:cNvSpPr>
              <p:nvPr>
                <p:ph sz="quarter" idx="12"/>
              </p:nvPr>
            </p:nvSpPr>
            <p:spPr>
              <a:xfrm>
                <a:off x="457200" y="3486621"/>
                <a:ext cx="8229600" cy="501174"/>
              </a:xfrm>
            </p:spPr>
            <p:txBody>
              <a:bodyPr>
                <a:noAutofit/>
              </a:bodyPr>
              <a:lstStyle/>
              <a:p>
                <a:pPr marL="0" indent="0">
                  <a:buNone/>
                </a:pPr>
                <a14:m>
                  <m:oMathPara xmlns:m="http://schemas.openxmlformats.org/officeDocument/2006/math">
                    <m:oMathParaPr>
                      <m:jc m:val="centerGroup"/>
                    </m:oMathParaPr>
                    <m:oMath xmlns:m="http://schemas.openxmlformats.org/officeDocument/2006/math">
                      <m:d>
                        <m:dPr>
                          <m:ctrlPr>
                            <a:rPr lang="en-US" sz="2600" i="1" smtClean="0">
                              <a:latin typeface="Cambria Math" panose="02040503050406030204" pitchFamily="18" charset="0"/>
                            </a:rPr>
                          </m:ctrlPr>
                        </m:dPr>
                        <m:e>
                          <m:f>
                            <m:fPr>
                              <m:type m:val="lin"/>
                              <m:ctrlPr>
                                <a:rPr lang="en-US" sz="2600" i="1">
                                  <a:latin typeface="Cambria Math" panose="02040503050406030204" pitchFamily="18" charset="0"/>
                                </a:rPr>
                              </m:ctrlPr>
                            </m:fPr>
                            <m:num>
                              <m:sSub>
                                <m:sSubPr>
                                  <m:ctrlPr>
                                    <a:rPr lang="en-US" sz="2600" i="1">
                                      <a:latin typeface="Cambria Math" panose="02040503050406030204" pitchFamily="18" charset="0"/>
                                    </a:rPr>
                                  </m:ctrlPr>
                                </m:sSubPr>
                                <m:e>
                                  <m:r>
                                    <a:rPr lang="en-US" sz="2600" i="1">
                                      <a:latin typeface="Cambria Math" panose="02040503050406030204" pitchFamily="18" charset="0"/>
                                    </a:rPr>
                                    <m:t>𝑃</m:t>
                                  </m:r>
                                </m:e>
                                <m:sub>
                                  <m:r>
                                    <a:rPr lang="en-US" sz="2600" i="1">
                                      <a:latin typeface="Cambria Math" panose="02040503050406030204" pitchFamily="18" charset="0"/>
                                    </a:rPr>
                                    <m:t>𝑀</m:t>
                                  </m:r>
                                </m:sub>
                              </m:sSub>
                            </m:num>
                            <m:den>
                              <m:sSub>
                                <m:sSubPr>
                                  <m:ctrlPr>
                                    <a:rPr lang="en-US" sz="2600" i="1">
                                      <a:latin typeface="Cambria Math" panose="02040503050406030204" pitchFamily="18" charset="0"/>
                                    </a:rPr>
                                  </m:ctrlPr>
                                </m:sSubPr>
                                <m:e>
                                  <m:r>
                                    <a:rPr lang="en-US" sz="2600" i="1">
                                      <a:latin typeface="Cambria Math" panose="02040503050406030204" pitchFamily="18" charset="0"/>
                                    </a:rPr>
                                    <m:t>𝑃</m:t>
                                  </m:r>
                                </m:e>
                                <m:sub>
                                  <m:r>
                                    <a:rPr lang="en-US" sz="2600" i="1">
                                      <a:latin typeface="Cambria Math" panose="02040503050406030204" pitchFamily="18" charset="0"/>
                                    </a:rPr>
                                    <m:t>𝐴</m:t>
                                  </m:r>
                                </m:sub>
                              </m:sSub>
                            </m:den>
                          </m:f>
                        </m:e>
                      </m:d>
                      <m:r>
                        <a:rPr lang="en-US" sz="2600" i="1">
                          <a:latin typeface="Cambria Math" panose="02040503050406030204" pitchFamily="18" charset="0"/>
                          <a:ea typeface="Cambria Math" panose="02040503050406030204" pitchFamily="18" charset="0"/>
                        </a:rPr>
                        <m:t>&lt; </m:t>
                      </m:r>
                      <m:d>
                        <m:dPr>
                          <m:ctrlPr>
                            <a:rPr lang="en-US" sz="2600" i="1">
                              <a:latin typeface="Cambria Math" panose="02040503050406030204" pitchFamily="18" charset="0"/>
                              <a:ea typeface="Cambria Math" panose="02040503050406030204" pitchFamily="18" charset="0"/>
                            </a:rPr>
                          </m:ctrlPr>
                        </m:dPr>
                        <m:e>
                          <m:f>
                            <m:fPr>
                              <m:type m:val="lin"/>
                              <m:ctrlPr>
                                <a:rPr lang="en-US" sz="2600" i="1">
                                  <a:latin typeface="Cambria Math" panose="02040503050406030204" pitchFamily="18" charset="0"/>
                                  <a:ea typeface="Cambria Math" panose="02040503050406030204" pitchFamily="18" charset="0"/>
                                </a:rPr>
                              </m:ctrlPr>
                            </m:fPr>
                            <m:num>
                              <m:sSubSup>
                                <m:sSubSupPr>
                                  <m:ctrlPr>
                                    <a:rPr lang="en-US" sz="2600" i="1">
                                      <a:latin typeface="Cambria Math" panose="02040503050406030204" pitchFamily="18" charset="0"/>
                                      <a:ea typeface="Cambria Math" panose="02040503050406030204" pitchFamily="18" charset="0"/>
                                    </a:rPr>
                                  </m:ctrlPr>
                                </m:sSubSupPr>
                                <m:e>
                                  <m:r>
                                    <a:rPr lang="en-US" sz="2600" i="1">
                                      <a:latin typeface="Cambria Math" panose="02040503050406030204" pitchFamily="18" charset="0"/>
                                      <a:ea typeface="Cambria Math" panose="02040503050406030204" pitchFamily="18" charset="0"/>
                                    </a:rPr>
                                    <m:t>𝑃</m:t>
                                  </m:r>
                                </m:e>
                                <m:sub>
                                  <m:r>
                                    <a:rPr lang="en-US" sz="2600" i="1">
                                      <a:latin typeface="Cambria Math" panose="02040503050406030204" pitchFamily="18" charset="0"/>
                                      <a:ea typeface="Cambria Math" panose="02040503050406030204" pitchFamily="18" charset="0"/>
                                    </a:rPr>
                                    <m:t>  </m:t>
                                  </m:r>
                                  <m:r>
                                    <a:rPr lang="en-US" sz="2600" i="1">
                                      <a:latin typeface="Cambria Math" panose="02040503050406030204" pitchFamily="18" charset="0"/>
                                      <a:ea typeface="Cambria Math" panose="02040503050406030204" pitchFamily="18" charset="0"/>
                                    </a:rPr>
                                    <m:t>𝑀</m:t>
                                  </m:r>
                                </m:sub>
                                <m:sup>
                                  <m:r>
                                    <a:rPr lang="en-US" sz="2600" i="1">
                                      <a:latin typeface="Cambria Math" panose="02040503050406030204" pitchFamily="18" charset="0"/>
                                      <a:ea typeface="Cambria Math" panose="02040503050406030204" pitchFamily="18" charset="0"/>
                                    </a:rPr>
                                    <m:t>∗</m:t>
                                  </m:r>
                                </m:sup>
                              </m:sSubSup>
                            </m:num>
                            <m:den>
                              <m:sSubSup>
                                <m:sSubSupPr>
                                  <m:ctrlPr>
                                    <a:rPr lang="en-US" sz="2600" i="1">
                                      <a:latin typeface="Cambria Math" panose="02040503050406030204" pitchFamily="18" charset="0"/>
                                      <a:ea typeface="Cambria Math" panose="02040503050406030204" pitchFamily="18" charset="0"/>
                                    </a:rPr>
                                  </m:ctrlPr>
                                </m:sSubSupPr>
                                <m:e>
                                  <m:r>
                                    <a:rPr lang="en-US" sz="2600" i="1">
                                      <a:latin typeface="Cambria Math" panose="02040503050406030204" pitchFamily="18" charset="0"/>
                                      <a:ea typeface="Cambria Math" panose="02040503050406030204" pitchFamily="18" charset="0"/>
                                    </a:rPr>
                                    <m:t>𝑃</m:t>
                                  </m:r>
                                </m:e>
                                <m:sub>
                                  <m:r>
                                    <a:rPr lang="en-US" sz="2600" i="1">
                                      <a:latin typeface="Cambria Math" panose="02040503050406030204" pitchFamily="18" charset="0"/>
                                      <a:ea typeface="Cambria Math" panose="02040503050406030204" pitchFamily="18" charset="0"/>
                                    </a:rPr>
                                    <m:t>  </m:t>
                                  </m:r>
                                  <m:r>
                                    <a:rPr lang="en-US" sz="2600" i="1">
                                      <a:latin typeface="Cambria Math" panose="02040503050406030204" pitchFamily="18" charset="0"/>
                                      <a:ea typeface="Cambria Math" panose="02040503050406030204" pitchFamily="18" charset="0"/>
                                    </a:rPr>
                                    <m:t>𝐴</m:t>
                                  </m:r>
                                </m:sub>
                                <m:sup>
                                  <m:r>
                                    <a:rPr lang="en-US" sz="2600" i="1">
                                      <a:latin typeface="Cambria Math" panose="02040503050406030204" pitchFamily="18" charset="0"/>
                                      <a:ea typeface="Cambria Math" panose="02040503050406030204" pitchFamily="18" charset="0"/>
                                    </a:rPr>
                                    <m:t>∗</m:t>
                                  </m:r>
                                </m:sup>
                              </m:sSubSup>
                            </m:den>
                          </m:f>
                        </m:e>
                      </m:d>
                    </m:oMath>
                  </m:oMathPara>
                </a14:m>
                <a:endParaRPr lang="en-IN" sz="2600" dirty="0"/>
              </a:p>
            </p:txBody>
          </p:sp>
        </mc:Choice>
        <mc:Fallback xmlns="">
          <p:sp>
            <p:nvSpPr>
              <p:cNvPr id="6" name="Content Placeholder 5">
                <a:extLst>
                  <a:ext uri="{FF2B5EF4-FFF2-40B4-BE49-F238E27FC236}">
                    <a16:creationId xmlns:a16="http://schemas.microsoft.com/office/drawing/2014/main" id="{04BA00C2-EE41-4E51-8344-84C2DFAB8571}"/>
                  </a:ext>
                </a:extLst>
              </p:cNvPr>
              <p:cNvSpPr>
                <a:spLocks noGrp="1" noRot="1" noChangeAspect="1" noMove="1" noResize="1" noEditPoints="1" noAdjustHandles="1" noChangeArrowheads="1" noChangeShapeType="1" noTextEdit="1"/>
              </p:cNvSpPr>
              <p:nvPr>
                <p:ph sz="quarter" idx="12"/>
              </p:nvPr>
            </p:nvSpPr>
            <p:spPr>
              <a:xfrm>
                <a:off x="457200" y="3486621"/>
                <a:ext cx="8229600" cy="501174"/>
              </a:xfrm>
              <a:blipFill>
                <a:blip r:embed="rId2"/>
                <a:stretch>
                  <a:fillRect/>
                </a:stretch>
              </a:blipFill>
            </p:spPr>
            <p:txBody>
              <a:bodyPr/>
              <a:lstStyle/>
              <a:p>
                <a:r>
                  <a:rPr lang="en-IN">
                    <a:noFill/>
                  </a:rPr>
                  <a:t> </a:t>
                </a:r>
              </a:p>
            </p:txBody>
          </p:sp>
        </mc:Fallback>
      </mc:AlternateContent>
      <p:sp>
        <p:nvSpPr>
          <p:cNvPr id="7" name="Content Placeholder 6">
            <a:extLst>
              <a:ext uri="{FF2B5EF4-FFF2-40B4-BE49-F238E27FC236}">
                <a16:creationId xmlns:a16="http://schemas.microsoft.com/office/drawing/2014/main" id="{9ADBEC1A-73B3-49B6-AAC9-58A5202BF299}"/>
              </a:ext>
            </a:extLst>
          </p:cNvPr>
          <p:cNvSpPr>
            <a:spLocks noGrp="1"/>
          </p:cNvSpPr>
          <p:nvPr>
            <p:ph sz="quarter" idx="13"/>
          </p:nvPr>
        </p:nvSpPr>
        <p:spPr>
          <a:xfrm>
            <a:off x="418379" y="3961497"/>
            <a:ext cx="7893170" cy="2286328"/>
          </a:xfrm>
        </p:spPr>
        <p:txBody>
          <a:bodyPr>
            <a:normAutofit/>
          </a:bodyPr>
          <a:lstStyle/>
          <a:p>
            <a:pPr marL="982663" lvl="1" indent="-525463"/>
            <a:r>
              <a:rPr lang="en-US" altLang="en-US" sz="2600" dirty="0"/>
              <a:t>This means that Home can produce manufactured goods relatively cheaper than Foreign.</a:t>
            </a:r>
          </a:p>
          <a:p>
            <a:pPr marL="982663" lvl="1" indent="-525463"/>
            <a:r>
              <a:rPr lang="en-US" altLang="en-US" sz="2600" dirty="0"/>
              <a:t>Put another way, Home has a comparative advantage in manufacturing.</a:t>
            </a:r>
          </a:p>
        </p:txBody>
      </p:sp>
    </p:spTree>
    <p:extLst>
      <p:ext uri="{BB962C8B-B14F-4D97-AF65-F5344CB8AC3E}">
        <p14:creationId xmlns:p14="http://schemas.microsoft.com/office/powerpoint/2010/main" val="3565489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5819-0453-7A4E-B406-A08A14D9BEF2}"/>
              </a:ext>
            </a:extLst>
          </p:cNvPr>
          <p:cNvSpPr>
            <a:spLocks noGrp="1"/>
          </p:cNvSpPr>
          <p:nvPr>
            <p:ph type="title"/>
          </p:nvPr>
        </p:nvSpPr>
        <p:spPr/>
        <p:txBody>
          <a:bodyPr>
            <a:normAutofit/>
          </a:bodyPr>
          <a:lstStyle/>
          <a:p>
            <a:r>
              <a:rPr lang="en-US" sz="3600" dirty="0"/>
              <a:t>1) Specific-Factors Model (part 7)</a:t>
            </a:r>
          </a:p>
        </p:txBody>
      </p:sp>
      <p:sp>
        <p:nvSpPr>
          <p:cNvPr id="3" name="Content Placeholder 2">
            <a:extLst>
              <a:ext uri="{FF2B5EF4-FFF2-40B4-BE49-F238E27FC236}">
                <a16:creationId xmlns:a16="http://schemas.microsoft.com/office/drawing/2014/main" id="{36A0739B-62F8-7347-8350-0B494E98CE9F}"/>
              </a:ext>
            </a:extLst>
          </p:cNvPr>
          <p:cNvSpPr>
            <a:spLocks noGrp="1"/>
          </p:cNvSpPr>
          <p:nvPr>
            <p:ph idx="1"/>
          </p:nvPr>
        </p:nvSpPr>
        <p:spPr/>
        <p:txBody>
          <a:bodyPr>
            <a:normAutofit/>
          </a:bodyPr>
          <a:lstStyle/>
          <a:p>
            <a:r>
              <a:rPr lang="en-US" altLang="en-US" dirty="0"/>
              <a:t>Overall Gains from Trade</a:t>
            </a:r>
          </a:p>
          <a:p>
            <a:pPr lvl="1"/>
            <a:r>
              <a:rPr lang="en-US" altLang="en-US" dirty="0"/>
              <a:t>The good whose relative price goes up (manufacturing, for Home) is exported. </a:t>
            </a:r>
          </a:p>
          <a:p>
            <a:pPr lvl="1"/>
            <a:r>
              <a:rPr lang="en-US" altLang="en-US" dirty="0"/>
              <a:t>The good whose relative price goes down (agriculture, for Home) is imported. </a:t>
            </a:r>
          </a:p>
          <a:p>
            <a:pPr lvl="1"/>
            <a:r>
              <a:rPr lang="en-US" altLang="en-US" dirty="0"/>
              <a:t>By exporting manufactured goods at a higher price and importing food at a lower price, Home is better off than it was in the absence of trade.</a:t>
            </a:r>
          </a:p>
        </p:txBody>
      </p:sp>
    </p:spTree>
    <p:extLst>
      <p:ext uri="{BB962C8B-B14F-4D97-AF65-F5344CB8AC3E}">
        <p14:creationId xmlns:p14="http://schemas.microsoft.com/office/powerpoint/2010/main" val="297159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AED9-0317-41C5-B5A0-84D0900EA276}"/>
              </a:ext>
            </a:extLst>
          </p:cNvPr>
          <p:cNvSpPr>
            <a:spLocks noGrp="1"/>
          </p:cNvSpPr>
          <p:nvPr>
            <p:ph type="title"/>
          </p:nvPr>
        </p:nvSpPr>
        <p:spPr/>
        <p:txBody>
          <a:bodyPr>
            <a:normAutofit/>
          </a:bodyPr>
          <a:lstStyle/>
          <a:p>
            <a:r>
              <a:rPr lang="en-US" sz="3600" dirty="0"/>
              <a:t>2) Earnings of Labor (part 1)</a:t>
            </a:r>
            <a:endParaRPr lang="en-IN" sz="3600" dirty="0"/>
          </a:p>
        </p:txBody>
      </p:sp>
      <p:sp>
        <p:nvSpPr>
          <p:cNvPr id="3" name="Content Placeholder 2">
            <a:extLst>
              <a:ext uri="{FF2B5EF4-FFF2-40B4-BE49-F238E27FC236}">
                <a16:creationId xmlns:a16="http://schemas.microsoft.com/office/drawing/2014/main" id="{0493DC5D-3E0B-4B23-B5FA-A19933D57D12}"/>
              </a:ext>
            </a:extLst>
          </p:cNvPr>
          <p:cNvSpPr>
            <a:spLocks noGrp="1"/>
          </p:cNvSpPr>
          <p:nvPr>
            <p:ph idx="1"/>
          </p:nvPr>
        </p:nvSpPr>
        <p:spPr>
          <a:xfrm>
            <a:off x="457200" y="1600201"/>
            <a:ext cx="4994694" cy="600184"/>
          </a:xfrm>
        </p:spPr>
        <p:txBody>
          <a:bodyPr/>
          <a:lstStyle/>
          <a:p>
            <a:r>
              <a:rPr lang="en-US" dirty="0"/>
              <a:t>Determination of Wages</a:t>
            </a:r>
          </a:p>
        </p:txBody>
      </p:sp>
      <p:pic>
        <p:nvPicPr>
          <p:cNvPr id="10" name="Picture Placeholder 4" descr="A graph that plots wage versus total labor supply, L bar, displays two upward open curves. The vertical axis marks W and the horizontal axis marks O subscript M, L, and O subscript A. The manufacturing labor, L subscript M moves rightward, and L subscript A moves leftward. M P L subscript A and P subscript M multiplied by M P L subscript M represent value of marginal product of labor in agriculture and value of marginal product of labor in manufacturing, respectively. The curves meet at point, A that lies at (L, W). This represents labor market equilibrium. ">
            <a:extLst>
              <a:ext uri="{FF2B5EF4-FFF2-40B4-BE49-F238E27FC236}">
                <a16:creationId xmlns:a16="http://schemas.microsoft.com/office/drawing/2014/main" id="{F1876249-9799-426E-8571-53017D70F186}"/>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624660" y="2310195"/>
            <a:ext cx="4697852" cy="2846984"/>
          </a:xfrm>
          <a:prstGeom prst="rect">
            <a:avLst/>
          </a:prstGeom>
        </p:spPr>
      </p:pic>
      <p:sp>
        <p:nvSpPr>
          <p:cNvPr id="6" name="Content Placeholder 5">
            <a:extLst>
              <a:ext uri="{FF2B5EF4-FFF2-40B4-BE49-F238E27FC236}">
                <a16:creationId xmlns:a16="http://schemas.microsoft.com/office/drawing/2014/main" id="{8272E151-B359-4B04-AC06-6A643DFBE846}"/>
              </a:ext>
            </a:extLst>
          </p:cNvPr>
          <p:cNvSpPr>
            <a:spLocks noGrp="1"/>
          </p:cNvSpPr>
          <p:nvPr>
            <p:ph sz="quarter" idx="12"/>
          </p:nvPr>
        </p:nvSpPr>
        <p:spPr>
          <a:xfrm>
            <a:off x="6180811" y="1789631"/>
            <a:ext cx="2527540" cy="435604"/>
          </a:xfrm>
        </p:spPr>
        <p:txBody>
          <a:bodyPr>
            <a:normAutofit/>
          </a:bodyPr>
          <a:lstStyle/>
          <a:p>
            <a:pPr marL="0" indent="0">
              <a:buNone/>
            </a:pPr>
            <a:r>
              <a:rPr lang="en-US" sz="2000" dirty="0"/>
              <a:t>FIGURE 3-4 (1 of 2)</a:t>
            </a:r>
          </a:p>
        </p:txBody>
      </p:sp>
      <p:sp>
        <p:nvSpPr>
          <p:cNvPr id="7" name="Content Placeholder 6">
            <a:extLst>
              <a:ext uri="{FF2B5EF4-FFF2-40B4-BE49-F238E27FC236}">
                <a16:creationId xmlns:a16="http://schemas.microsoft.com/office/drawing/2014/main" id="{957E5D86-BBF3-4A84-9712-7AE8464E647C}"/>
              </a:ext>
            </a:extLst>
          </p:cNvPr>
          <p:cNvSpPr>
            <a:spLocks noGrp="1"/>
          </p:cNvSpPr>
          <p:nvPr>
            <p:ph sz="quarter" idx="13"/>
          </p:nvPr>
        </p:nvSpPr>
        <p:spPr>
          <a:xfrm>
            <a:off x="457200" y="5257798"/>
            <a:ext cx="8251151" cy="1022231"/>
          </a:xfrm>
        </p:spPr>
        <p:txBody>
          <a:bodyPr>
            <a:normAutofit/>
          </a:bodyPr>
          <a:lstStyle/>
          <a:p>
            <a:pPr marL="0" indent="0">
              <a:buNone/>
            </a:pPr>
            <a:r>
              <a:rPr lang="en-US" altLang="en-US" sz="2000" b="0" dirty="0">
                <a:latin typeface="+mn-lt"/>
              </a:rPr>
              <a:t>The amount of labor used in manufacturing is measured from left to right along the horizontal axis, and the amount of labor used in agriculture is measured from right to left.</a:t>
            </a:r>
          </a:p>
        </p:txBody>
      </p:sp>
    </p:spTree>
    <p:extLst>
      <p:ext uri="{BB962C8B-B14F-4D97-AF65-F5344CB8AC3E}">
        <p14:creationId xmlns:p14="http://schemas.microsoft.com/office/powerpoint/2010/main" val="872123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AED9-0317-41C5-B5A0-84D0900EA276}"/>
              </a:ext>
            </a:extLst>
          </p:cNvPr>
          <p:cNvSpPr>
            <a:spLocks noGrp="1"/>
          </p:cNvSpPr>
          <p:nvPr>
            <p:ph type="title"/>
          </p:nvPr>
        </p:nvSpPr>
        <p:spPr/>
        <p:txBody>
          <a:bodyPr>
            <a:normAutofit/>
          </a:bodyPr>
          <a:lstStyle/>
          <a:p>
            <a:r>
              <a:rPr lang="en-US" sz="3600" dirty="0"/>
              <a:t>2) Earnings of Labor (part 2)</a:t>
            </a:r>
            <a:endParaRPr lang="en-IN" sz="3600" dirty="0"/>
          </a:p>
        </p:txBody>
      </p:sp>
      <p:sp>
        <p:nvSpPr>
          <p:cNvPr id="3" name="Content Placeholder 2">
            <a:extLst>
              <a:ext uri="{FF2B5EF4-FFF2-40B4-BE49-F238E27FC236}">
                <a16:creationId xmlns:a16="http://schemas.microsoft.com/office/drawing/2014/main" id="{0493DC5D-3E0B-4B23-B5FA-A19933D57D12}"/>
              </a:ext>
            </a:extLst>
          </p:cNvPr>
          <p:cNvSpPr>
            <a:spLocks noGrp="1"/>
          </p:cNvSpPr>
          <p:nvPr>
            <p:ph idx="1"/>
          </p:nvPr>
        </p:nvSpPr>
        <p:spPr>
          <a:xfrm>
            <a:off x="457200" y="1600201"/>
            <a:ext cx="4994694" cy="600184"/>
          </a:xfrm>
        </p:spPr>
        <p:txBody>
          <a:bodyPr/>
          <a:lstStyle/>
          <a:p>
            <a:r>
              <a:rPr lang="en-US" dirty="0"/>
              <a:t>Determination of Wages</a:t>
            </a:r>
          </a:p>
        </p:txBody>
      </p:sp>
      <p:pic>
        <p:nvPicPr>
          <p:cNvPr id="9" name="Picture Placeholder 4" descr="A graph that plots wage versus total labor supply, L bar, displays two upward open curves. The vertical axis marks W and the horizontal axis marks O subscript M, L, and O subscript A. The manufacturing labor, L subscript M moves rightward, and L subscript A moves leftward. M P L subscript A and P subscript M multiplied by M P L subscript M represent value of marginal product of labor in agriculture and value of marginal product of labor in manufacturing, respectively. The curves meet at point, A that lies at (L, W). This represents labor market equilibrium. ">
            <a:extLst>
              <a:ext uri="{FF2B5EF4-FFF2-40B4-BE49-F238E27FC236}">
                <a16:creationId xmlns:a16="http://schemas.microsoft.com/office/drawing/2014/main" id="{CF3AF196-FB30-4E57-9D25-AB7B54ABCB7F}"/>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674499" y="2321997"/>
            <a:ext cx="5095064" cy="3087700"/>
          </a:xfrm>
          <a:prstGeom prst="rect">
            <a:avLst/>
          </a:prstGeom>
        </p:spPr>
      </p:pic>
      <p:sp>
        <p:nvSpPr>
          <p:cNvPr id="6" name="Content Placeholder 5">
            <a:extLst>
              <a:ext uri="{FF2B5EF4-FFF2-40B4-BE49-F238E27FC236}">
                <a16:creationId xmlns:a16="http://schemas.microsoft.com/office/drawing/2014/main" id="{8272E151-B359-4B04-AC06-6A643DFBE846}"/>
              </a:ext>
            </a:extLst>
          </p:cNvPr>
          <p:cNvSpPr>
            <a:spLocks noGrp="1"/>
          </p:cNvSpPr>
          <p:nvPr>
            <p:ph sz="quarter" idx="12"/>
          </p:nvPr>
        </p:nvSpPr>
        <p:spPr>
          <a:xfrm>
            <a:off x="6180811" y="1789631"/>
            <a:ext cx="2527540" cy="435604"/>
          </a:xfrm>
        </p:spPr>
        <p:txBody>
          <a:bodyPr>
            <a:normAutofit/>
          </a:bodyPr>
          <a:lstStyle/>
          <a:p>
            <a:pPr marL="0" indent="0">
              <a:buNone/>
            </a:pPr>
            <a:r>
              <a:rPr lang="en-US" sz="2000" dirty="0"/>
              <a:t>FIGURE 3-4 (2 of 2)</a:t>
            </a:r>
          </a:p>
        </p:txBody>
      </p:sp>
      <p:sp>
        <p:nvSpPr>
          <p:cNvPr id="7" name="Content Placeholder 6">
            <a:extLst>
              <a:ext uri="{FF2B5EF4-FFF2-40B4-BE49-F238E27FC236}">
                <a16:creationId xmlns:a16="http://schemas.microsoft.com/office/drawing/2014/main" id="{957E5D86-BBF3-4A84-9712-7AE8464E647C}"/>
              </a:ext>
            </a:extLst>
          </p:cNvPr>
          <p:cNvSpPr>
            <a:spLocks noGrp="1"/>
          </p:cNvSpPr>
          <p:nvPr>
            <p:ph sz="quarter" idx="13"/>
          </p:nvPr>
        </p:nvSpPr>
        <p:spPr>
          <a:xfrm>
            <a:off x="457200" y="5531309"/>
            <a:ext cx="8251151" cy="748720"/>
          </a:xfrm>
        </p:spPr>
        <p:txBody>
          <a:bodyPr>
            <a:normAutofit/>
          </a:bodyPr>
          <a:lstStyle/>
          <a:p>
            <a:pPr marL="0" indent="0" eaLnBrk="1" hangingPunct="1">
              <a:spcBef>
                <a:spcPct val="10000"/>
              </a:spcBef>
              <a:spcAft>
                <a:spcPct val="10000"/>
              </a:spcAft>
              <a:buNone/>
            </a:pPr>
            <a:r>
              <a:rPr lang="en-US" altLang="en-US" sz="2000" b="0" dirty="0">
                <a:latin typeface="+mn-lt"/>
              </a:rPr>
              <a:t>Labor market equilibrium is at point </a:t>
            </a:r>
            <a:r>
              <a:rPr lang="en-US" altLang="en-US" sz="2000" b="0" i="1" dirty="0">
                <a:latin typeface="+mn-lt"/>
              </a:rPr>
              <a:t>A</a:t>
            </a:r>
            <a:r>
              <a:rPr lang="en-US" altLang="en-US" sz="2000" b="0" dirty="0">
                <a:latin typeface="+mn-lt"/>
              </a:rPr>
              <a:t>. At the equilibrium wage of </a:t>
            </a:r>
            <a:r>
              <a:rPr lang="en-US" altLang="en-US" sz="2000" b="0" i="1" dirty="0">
                <a:latin typeface="+mn-lt"/>
              </a:rPr>
              <a:t>W</a:t>
            </a:r>
            <a:r>
              <a:rPr lang="en-US" altLang="en-US" sz="2000" b="0" dirty="0">
                <a:latin typeface="+mn-lt"/>
              </a:rPr>
              <a:t>, manufacturing uses 0</a:t>
            </a:r>
            <a:r>
              <a:rPr lang="en-US" altLang="en-US" sz="2000" b="0" i="1" baseline="-25000" dirty="0">
                <a:latin typeface="+mn-lt"/>
              </a:rPr>
              <a:t>M</a:t>
            </a:r>
            <a:r>
              <a:rPr lang="en-US" altLang="en-US" sz="2000" b="0" i="1" dirty="0">
                <a:latin typeface="+mn-lt"/>
              </a:rPr>
              <a:t>L</a:t>
            </a:r>
            <a:r>
              <a:rPr lang="en-US" altLang="en-US" sz="2000" b="0" dirty="0">
                <a:latin typeface="+mn-lt"/>
              </a:rPr>
              <a:t> units of labor and agriculture uses 0</a:t>
            </a:r>
            <a:r>
              <a:rPr lang="en-US" altLang="en-US" sz="2000" b="0" i="1" baseline="-25000" dirty="0">
                <a:latin typeface="+mn-lt"/>
              </a:rPr>
              <a:t>A</a:t>
            </a:r>
            <a:r>
              <a:rPr lang="en-US" altLang="en-US" sz="2000" b="0" i="1" dirty="0">
                <a:latin typeface="+mn-lt"/>
              </a:rPr>
              <a:t>L</a:t>
            </a:r>
            <a:r>
              <a:rPr lang="en-US" altLang="en-US" sz="2000" b="0" dirty="0">
                <a:latin typeface="+mn-lt"/>
              </a:rPr>
              <a:t> units.</a:t>
            </a:r>
          </a:p>
        </p:txBody>
      </p:sp>
    </p:spTree>
    <p:extLst>
      <p:ext uri="{BB962C8B-B14F-4D97-AF65-F5344CB8AC3E}">
        <p14:creationId xmlns:p14="http://schemas.microsoft.com/office/powerpoint/2010/main" val="735279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D149F-986A-3540-AD57-F7D3CD35A102}"/>
              </a:ext>
            </a:extLst>
          </p:cNvPr>
          <p:cNvSpPr>
            <a:spLocks noGrp="1"/>
          </p:cNvSpPr>
          <p:nvPr>
            <p:ph type="title"/>
          </p:nvPr>
        </p:nvSpPr>
        <p:spPr/>
        <p:txBody>
          <a:bodyPr>
            <a:normAutofit/>
          </a:bodyPr>
          <a:lstStyle/>
          <a:p>
            <a:r>
              <a:rPr lang="en-US" sz="3600" dirty="0"/>
              <a:t>2) Earnings of Labor (part 3)</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14CBAC8-EE37-C848-A218-11E17D1FB102}"/>
                  </a:ext>
                </a:extLst>
              </p:cNvPr>
              <p:cNvSpPr>
                <a:spLocks noGrp="1"/>
              </p:cNvSpPr>
              <p:nvPr>
                <p:ph idx="1"/>
              </p:nvPr>
            </p:nvSpPr>
            <p:spPr>
              <a:xfrm>
                <a:off x="457200" y="1600200"/>
                <a:ext cx="8229600" cy="4642945"/>
              </a:xfrm>
            </p:spPr>
            <p:txBody>
              <a:bodyPr>
                <a:normAutofit/>
              </a:bodyPr>
              <a:lstStyle/>
              <a:p>
                <a:pPr>
                  <a:lnSpc>
                    <a:spcPct val="110000"/>
                  </a:lnSpc>
                </a:pPr>
                <a:r>
                  <a:rPr lang="en-US" altLang="en-US" dirty="0"/>
                  <a:t>Change in Relative Price of Manufactures</a:t>
                </a:r>
              </a:p>
              <a:p>
                <a:pPr>
                  <a:lnSpc>
                    <a:spcPct val="110000"/>
                  </a:lnSpc>
                  <a:spcBef>
                    <a:spcPct val="10000"/>
                  </a:spcBef>
                  <a:spcAft>
                    <a:spcPct val="10000"/>
                  </a:spcAft>
                </a:pPr>
                <a:r>
                  <a:rPr lang="en-US" altLang="en-US" b="0" dirty="0"/>
                  <a:t>Now consider an increase in the price of the manufactured good (</a:t>
                </a:r>
                <a:r>
                  <a:rPr lang="en-US" altLang="en-US" b="0" i="1" dirty="0"/>
                  <a:t>P</a:t>
                </a:r>
                <a:r>
                  <a:rPr lang="en-US" altLang="en-US" b="0" i="1" baseline="-25000" dirty="0"/>
                  <a:t>M</a:t>
                </a:r>
                <a:r>
                  <a:rPr lang="en-US" altLang="en-US" b="0" dirty="0"/>
                  <a:t>).</a:t>
                </a:r>
                <a:endParaRPr lang="en-US" altLang="en-US" sz="1050" b="0" dirty="0"/>
              </a:p>
              <a:p>
                <a:pPr lvl="1">
                  <a:lnSpc>
                    <a:spcPct val="110000"/>
                  </a:lnSpc>
                  <a:spcBef>
                    <a:spcPct val="10000"/>
                  </a:spcBef>
                  <a:spcAft>
                    <a:spcPct val="10000"/>
                  </a:spcAft>
                </a:pPr>
                <a:r>
                  <a:rPr lang="en-US" altLang="en-US" b="0" dirty="0"/>
                  <a:t>With an increase in the price of the manufactured good the curve </a:t>
                </a:r>
                <a:r>
                  <a:rPr lang="en-US" altLang="en-US" b="0" i="1" dirty="0"/>
                  <a:t>P</a:t>
                </a:r>
                <a:r>
                  <a:rPr lang="en-US" altLang="en-US" b="0" i="1" baseline="-25000" dirty="0"/>
                  <a:t>M</a:t>
                </a:r>
                <a:r>
                  <a:rPr lang="en-US" altLang="en-US" b="0" dirty="0"/>
                  <a:t> • </a:t>
                </a:r>
                <a:r>
                  <a:rPr lang="en-US" altLang="en-US" b="0" i="1" dirty="0"/>
                  <a:t>MPL</a:t>
                </a:r>
                <a:r>
                  <a:rPr lang="en-US" altLang="en-US" b="0" i="1" baseline="-25000" dirty="0"/>
                  <a:t>M</a:t>
                </a:r>
                <a:r>
                  <a:rPr lang="en-US" altLang="en-US" b="0" dirty="0"/>
                  <a:t> shifts up.</a:t>
                </a:r>
                <a:endParaRPr lang="en-US" altLang="en-US" sz="650" b="0" dirty="0"/>
              </a:p>
              <a:p>
                <a:pPr lvl="1">
                  <a:lnSpc>
                    <a:spcPct val="110000"/>
                  </a:lnSpc>
                  <a:spcBef>
                    <a:spcPct val="10000"/>
                  </a:spcBef>
                  <a:spcAft>
                    <a:spcPct val="10000"/>
                  </a:spcAft>
                </a:pPr>
                <a:r>
                  <a:rPr lang="en-US" altLang="en-US" b="0" dirty="0"/>
                  <a:t>Therefore, the labor used in manufacturing rises, and labor used in agriculture falls.</a:t>
                </a:r>
                <a:endParaRPr lang="en-US" altLang="en-US" sz="650" b="0" dirty="0"/>
              </a:p>
              <a:p>
                <a:pPr lvl="1">
                  <a:lnSpc>
                    <a:spcPct val="110000"/>
                  </a:lnSpc>
                  <a:spcBef>
                    <a:spcPct val="10000"/>
                  </a:spcBef>
                  <a:spcAft>
                    <a:spcPct val="10000"/>
                  </a:spcAft>
                </a:pPr>
                <a:r>
                  <a:rPr lang="en-US" altLang="en-US" b="0" dirty="0"/>
                  <a:t>The wages also increase, but this increase is less than the upward shift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rPr>
                          <m:t>𝑀</m:t>
                        </m:r>
                      </m:sub>
                    </m:sSub>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𝑀𝑃</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𝑀</m:t>
                        </m:r>
                      </m:sub>
                    </m:sSub>
                  </m:oMath>
                </a14:m>
                <a:endParaRPr lang="en-IN" dirty="0"/>
              </a:p>
            </p:txBody>
          </p:sp>
        </mc:Choice>
        <mc:Fallback xmlns="">
          <p:sp>
            <p:nvSpPr>
              <p:cNvPr id="4" name="Content Placeholder 3">
                <a:extLst>
                  <a:ext uri="{FF2B5EF4-FFF2-40B4-BE49-F238E27FC236}">
                    <a16:creationId xmlns:a16="http://schemas.microsoft.com/office/drawing/2014/main" id="{214CBAC8-EE37-C848-A218-11E17D1FB102}"/>
                  </a:ext>
                </a:extLst>
              </p:cNvPr>
              <p:cNvSpPr>
                <a:spLocks noGrp="1" noRot="1" noChangeAspect="1" noMove="1" noResize="1" noEditPoints="1" noAdjustHandles="1" noChangeArrowheads="1" noChangeShapeType="1" noTextEdit="1"/>
              </p:cNvSpPr>
              <p:nvPr>
                <p:ph idx="1"/>
              </p:nvPr>
            </p:nvSpPr>
            <p:spPr>
              <a:xfrm>
                <a:off x="457200" y="1600200"/>
                <a:ext cx="8229600" cy="4642945"/>
              </a:xfrm>
              <a:blipFill>
                <a:blip r:embed="rId3"/>
                <a:stretch>
                  <a:fillRect l="-772" t="-273" r="-463"/>
                </a:stretch>
              </a:blipFill>
            </p:spPr>
            <p:txBody>
              <a:bodyPr/>
              <a:lstStyle/>
              <a:p>
                <a:r>
                  <a:rPr lang="en-US">
                    <a:noFill/>
                  </a:rPr>
                  <a:t> </a:t>
                </a:r>
              </a:p>
            </p:txBody>
          </p:sp>
        </mc:Fallback>
      </mc:AlternateContent>
    </p:spTree>
    <p:extLst>
      <p:ext uri="{BB962C8B-B14F-4D97-AF65-F5344CB8AC3E}">
        <p14:creationId xmlns:p14="http://schemas.microsoft.com/office/powerpoint/2010/main" val="3737885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D0FA1-7B41-4E22-98C6-10BBCB861340}"/>
              </a:ext>
            </a:extLst>
          </p:cNvPr>
          <p:cNvSpPr>
            <a:spLocks noGrp="1"/>
          </p:cNvSpPr>
          <p:nvPr>
            <p:ph type="title"/>
          </p:nvPr>
        </p:nvSpPr>
        <p:spPr/>
        <p:txBody>
          <a:bodyPr>
            <a:normAutofit/>
          </a:bodyPr>
          <a:lstStyle/>
          <a:p>
            <a:r>
              <a:rPr lang="en-US" sz="3600" dirty="0"/>
              <a:t>2) Earnings of Labor (part 4)</a:t>
            </a:r>
            <a:endParaRPr lang="en-IN" sz="3600" dirty="0"/>
          </a:p>
        </p:txBody>
      </p:sp>
      <p:sp>
        <p:nvSpPr>
          <p:cNvPr id="3" name="Content Placeholder 2">
            <a:extLst>
              <a:ext uri="{FF2B5EF4-FFF2-40B4-BE49-F238E27FC236}">
                <a16:creationId xmlns:a16="http://schemas.microsoft.com/office/drawing/2014/main" id="{72F6EDFF-9E90-492B-BDAE-63D4F94E9F68}"/>
              </a:ext>
            </a:extLst>
          </p:cNvPr>
          <p:cNvSpPr>
            <a:spLocks noGrp="1"/>
          </p:cNvSpPr>
          <p:nvPr>
            <p:ph idx="1"/>
          </p:nvPr>
        </p:nvSpPr>
        <p:spPr>
          <a:xfrm>
            <a:off x="457200" y="1600201"/>
            <a:ext cx="8229600" cy="628759"/>
          </a:xfrm>
        </p:spPr>
        <p:txBody>
          <a:bodyPr/>
          <a:lstStyle/>
          <a:p>
            <a:r>
              <a:rPr lang="en-US" altLang="en-US" dirty="0"/>
              <a:t>Change in Relative Price of Manufactures</a:t>
            </a:r>
          </a:p>
        </p:txBody>
      </p:sp>
      <p:pic>
        <p:nvPicPr>
          <p:cNvPr id="10" name="Picture Placeholder 5" descr="A graph that plots wage versus total labor supply, L bar, displays three upward open curves. The vertical axis marks W and W dash. The horizontal axis marks O subscript M, L, L dash, and O subscript A. L subscript M moves right, and L subscript A moves left. All the points in the vertical axis make L bar. The first two curves, P subscript A multiplied by M P L subscript A and P subscript M multiplied by M P L subscript M are parallel to each other. The vertical distance between the curves is equal to delta P subscript M multiplied by M P L subscript M. The third curve, P subscript A multiplied by M P L subscript A passes perpendicular to the other two curves and intersects them at two points: A that lies at (L, W) and B that lies at (L dash, W dash).">
            <a:extLst>
              <a:ext uri="{FF2B5EF4-FFF2-40B4-BE49-F238E27FC236}">
                <a16:creationId xmlns:a16="http://schemas.microsoft.com/office/drawing/2014/main" id="{FF603150-94FA-4DA1-ABAE-C75F02411BAC}"/>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545061" y="2898361"/>
            <a:ext cx="3825062" cy="2807645"/>
          </a:xfrm>
          <a:prstGeom prst="rect">
            <a:avLst/>
          </a:prstGeom>
        </p:spPr>
      </p:pic>
      <p:sp>
        <p:nvSpPr>
          <p:cNvPr id="6" name="Content Placeholder 5">
            <a:extLst>
              <a:ext uri="{FF2B5EF4-FFF2-40B4-BE49-F238E27FC236}">
                <a16:creationId xmlns:a16="http://schemas.microsoft.com/office/drawing/2014/main" id="{FA6B150E-4A59-45BE-9B37-D904BFC29204}"/>
              </a:ext>
            </a:extLst>
          </p:cNvPr>
          <p:cNvSpPr>
            <a:spLocks noGrp="1"/>
          </p:cNvSpPr>
          <p:nvPr>
            <p:ph sz="quarter" idx="12"/>
          </p:nvPr>
        </p:nvSpPr>
        <p:spPr>
          <a:xfrm>
            <a:off x="457200" y="2307596"/>
            <a:ext cx="1685925" cy="544403"/>
          </a:xfrm>
        </p:spPr>
        <p:txBody>
          <a:bodyPr>
            <a:normAutofit/>
          </a:bodyPr>
          <a:lstStyle/>
          <a:p>
            <a:pPr marL="0" indent="0">
              <a:buNone/>
            </a:pPr>
            <a:r>
              <a:rPr lang="en-IN" sz="2000" dirty="0"/>
              <a:t>FIGURE 3-5</a:t>
            </a:r>
          </a:p>
        </p:txBody>
      </p:sp>
      <p:sp>
        <p:nvSpPr>
          <p:cNvPr id="7" name="Content Placeholder 6">
            <a:extLst>
              <a:ext uri="{FF2B5EF4-FFF2-40B4-BE49-F238E27FC236}">
                <a16:creationId xmlns:a16="http://schemas.microsoft.com/office/drawing/2014/main" id="{88C5E1A6-9839-43EE-A9DF-0BE655F28F45}"/>
              </a:ext>
            </a:extLst>
          </p:cNvPr>
          <p:cNvSpPr>
            <a:spLocks noGrp="1"/>
          </p:cNvSpPr>
          <p:nvPr>
            <p:ph sz="quarter" idx="13"/>
          </p:nvPr>
        </p:nvSpPr>
        <p:spPr>
          <a:xfrm>
            <a:off x="4692801" y="2533650"/>
            <a:ext cx="4377627" cy="3746379"/>
          </a:xfrm>
        </p:spPr>
        <p:txBody>
          <a:bodyPr>
            <a:noAutofit/>
          </a:bodyPr>
          <a:lstStyle/>
          <a:p>
            <a:pPr marL="0" indent="0" eaLnBrk="1" hangingPunct="1">
              <a:spcBef>
                <a:spcPct val="10000"/>
              </a:spcBef>
              <a:spcAft>
                <a:spcPct val="10000"/>
              </a:spcAft>
              <a:buNone/>
            </a:pPr>
            <a:r>
              <a:rPr lang="en-US" altLang="en-US" sz="1800" dirty="0">
                <a:latin typeface="+mn-lt"/>
              </a:rPr>
              <a:t>Increase in the Price of Manufactured Goods</a:t>
            </a:r>
          </a:p>
          <a:p>
            <a:pPr marL="0" indent="0" eaLnBrk="1" hangingPunct="1">
              <a:spcBef>
                <a:spcPct val="10000"/>
              </a:spcBef>
              <a:spcAft>
                <a:spcPct val="10000"/>
              </a:spcAft>
              <a:buNone/>
            </a:pPr>
            <a:r>
              <a:rPr lang="en-US" altLang="en-US" sz="1800" b="0" dirty="0">
                <a:latin typeface="+mn-lt"/>
              </a:rPr>
              <a:t>With an increase in the price of the manufactured good, the curve </a:t>
            </a:r>
            <a:r>
              <a:rPr lang="en-US" altLang="en-US" sz="1800" b="0" i="1" dirty="0">
                <a:latin typeface="+mn-lt"/>
              </a:rPr>
              <a:t>P</a:t>
            </a:r>
            <a:r>
              <a:rPr lang="en-US" altLang="en-US" sz="1800" b="0" i="1" baseline="-25000" dirty="0">
                <a:latin typeface="+mn-lt"/>
              </a:rPr>
              <a:t>M</a:t>
            </a:r>
            <a:r>
              <a:rPr lang="en-US" altLang="en-US" sz="1800" b="0" dirty="0">
                <a:latin typeface="+mn-lt"/>
              </a:rPr>
              <a:t> • </a:t>
            </a:r>
            <a:r>
              <a:rPr lang="en-US" altLang="en-US" sz="1800" b="0" i="1" dirty="0">
                <a:latin typeface="+mn-lt"/>
              </a:rPr>
              <a:t>MPL</a:t>
            </a:r>
            <a:r>
              <a:rPr lang="en-US" altLang="en-US" sz="1800" b="0" i="1" baseline="-25000" dirty="0">
                <a:latin typeface="+mn-lt"/>
              </a:rPr>
              <a:t>M</a:t>
            </a:r>
            <a:r>
              <a:rPr lang="en-US" altLang="en-US" sz="1800" b="0" dirty="0">
                <a:latin typeface="+mn-lt"/>
              </a:rPr>
              <a:t> shifts up to </a:t>
            </a:r>
            <a:r>
              <a:rPr lang="en-US" altLang="en-US" sz="1800" b="0" i="1" dirty="0">
                <a:latin typeface="+mn-lt"/>
              </a:rPr>
              <a:t>P</a:t>
            </a:r>
            <a:r>
              <a:rPr lang="en-US" altLang="en-US" sz="1800" b="0" i="1" baseline="-25000" dirty="0">
                <a:latin typeface="+mn-lt"/>
              </a:rPr>
              <a:t>M</a:t>
            </a:r>
            <a:r>
              <a:rPr lang="en-US" altLang="en-US" sz="1800" b="0" i="1" dirty="0">
                <a:latin typeface="+mn-lt"/>
                <a:sym typeface="Symbol" pitchFamily="18" charset="2"/>
              </a:rPr>
              <a:t></a:t>
            </a:r>
            <a:r>
              <a:rPr lang="en-US" altLang="en-US" sz="1800" b="0" dirty="0">
                <a:latin typeface="+mn-lt"/>
              </a:rPr>
              <a:t> • </a:t>
            </a:r>
            <a:r>
              <a:rPr lang="en-US" altLang="en-US" sz="1800" b="0" i="1" dirty="0">
                <a:latin typeface="+mn-lt"/>
              </a:rPr>
              <a:t>MPL</a:t>
            </a:r>
            <a:r>
              <a:rPr lang="en-US" altLang="en-US" sz="1800" b="0" i="1" baseline="-25000" dirty="0">
                <a:latin typeface="+mn-lt"/>
              </a:rPr>
              <a:t>M</a:t>
            </a:r>
            <a:r>
              <a:rPr lang="en-US" altLang="en-US" sz="1800" b="0" dirty="0">
                <a:latin typeface="+mn-lt"/>
              </a:rPr>
              <a:t> and the equilibrium shifts from point </a:t>
            </a:r>
            <a:r>
              <a:rPr lang="en-US" altLang="en-US" sz="1800" b="0" i="1" dirty="0">
                <a:latin typeface="+mn-lt"/>
              </a:rPr>
              <a:t>A</a:t>
            </a:r>
            <a:r>
              <a:rPr lang="en-US" altLang="en-US" sz="1800" b="0" dirty="0">
                <a:latin typeface="+mn-lt"/>
              </a:rPr>
              <a:t> to </a:t>
            </a:r>
            <a:r>
              <a:rPr lang="en-US" altLang="en-US" sz="1800" b="0" i="1" dirty="0">
                <a:latin typeface="+mn-lt"/>
              </a:rPr>
              <a:t>B</a:t>
            </a:r>
            <a:r>
              <a:rPr lang="en-US" altLang="en-US" sz="1800" b="0" dirty="0">
                <a:latin typeface="+mn-lt"/>
              </a:rPr>
              <a:t>.</a:t>
            </a:r>
          </a:p>
          <a:p>
            <a:pPr marL="0" indent="0" eaLnBrk="1" hangingPunct="1">
              <a:spcBef>
                <a:spcPct val="10000"/>
              </a:spcBef>
              <a:spcAft>
                <a:spcPct val="10000"/>
              </a:spcAft>
              <a:buNone/>
            </a:pPr>
            <a:r>
              <a:rPr lang="en-US" altLang="en-US" sz="1800" b="0" dirty="0">
                <a:latin typeface="+mn-lt"/>
              </a:rPr>
              <a:t>The labor used in manufacturing rises from 0</a:t>
            </a:r>
            <a:r>
              <a:rPr lang="en-US" altLang="en-US" sz="1800" b="0" i="1" baseline="-25000" dirty="0">
                <a:latin typeface="+mn-lt"/>
              </a:rPr>
              <a:t>M</a:t>
            </a:r>
            <a:r>
              <a:rPr lang="en-US" altLang="en-US" sz="1800" b="0" i="1" dirty="0">
                <a:latin typeface="+mn-lt"/>
              </a:rPr>
              <a:t>L</a:t>
            </a:r>
            <a:r>
              <a:rPr lang="en-US" altLang="en-US" sz="1800" b="0" dirty="0">
                <a:latin typeface="+mn-lt"/>
              </a:rPr>
              <a:t> to 0</a:t>
            </a:r>
            <a:r>
              <a:rPr lang="en-US" altLang="en-US" sz="1800" b="0" i="1" baseline="-25000" dirty="0">
                <a:latin typeface="+mn-lt"/>
              </a:rPr>
              <a:t>M</a:t>
            </a:r>
            <a:r>
              <a:rPr lang="en-US" altLang="en-US" sz="1800" b="0" i="1" dirty="0">
                <a:latin typeface="+mn-lt"/>
              </a:rPr>
              <a:t>L</a:t>
            </a:r>
            <a:r>
              <a:rPr lang="en-US" altLang="en-US" sz="1800" b="0" i="1" dirty="0">
                <a:latin typeface="+mn-lt"/>
                <a:sym typeface="Symbol" pitchFamily="18" charset="2"/>
              </a:rPr>
              <a:t></a:t>
            </a:r>
            <a:r>
              <a:rPr lang="en-US" altLang="en-US" sz="1800" b="0" dirty="0">
                <a:latin typeface="+mn-lt"/>
              </a:rPr>
              <a:t>, and labor used in agriculture falls from 0</a:t>
            </a:r>
            <a:r>
              <a:rPr lang="en-US" altLang="en-US" sz="1800" b="0" i="1" baseline="-25000" dirty="0">
                <a:latin typeface="+mn-lt"/>
              </a:rPr>
              <a:t>A</a:t>
            </a:r>
            <a:r>
              <a:rPr lang="en-US" altLang="en-US" sz="1800" b="0" i="1" dirty="0">
                <a:latin typeface="+mn-lt"/>
              </a:rPr>
              <a:t>L</a:t>
            </a:r>
            <a:r>
              <a:rPr lang="en-US" altLang="en-US" sz="1800" b="0" dirty="0">
                <a:latin typeface="+mn-lt"/>
              </a:rPr>
              <a:t> to 0</a:t>
            </a:r>
            <a:r>
              <a:rPr lang="en-US" altLang="en-US" sz="1800" b="0" i="1" baseline="-25000" dirty="0">
                <a:latin typeface="+mn-lt"/>
              </a:rPr>
              <a:t>A</a:t>
            </a:r>
            <a:r>
              <a:rPr lang="en-US" altLang="en-US" sz="1800" b="0" i="1" dirty="0">
                <a:latin typeface="+mn-lt"/>
              </a:rPr>
              <a:t>L</a:t>
            </a:r>
            <a:r>
              <a:rPr lang="en-US" altLang="en-US" sz="1800" b="0" i="1" dirty="0">
                <a:latin typeface="+mn-lt"/>
                <a:sym typeface="Symbol" pitchFamily="18" charset="2"/>
              </a:rPr>
              <a:t></a:t>
            </a:r>
            <a:r>
              <a:rPr lang="en-US" altLang="en-US" sz="1800" b="0" dirty="0">
                <a:latin typeface="+mn-lt"/>
              </a:rPr>
              <a:t>. </a:t>
            </a:r>
          </a:p>
          <a:p>
            <a:pPr marL="0" indent="0" eaLnBrk="1" hangingPunct="1">
              <a:spcBef>
                <a:spcPct val="10000"/>
              </a:spcBef>
              <a:spcAft>
                <a:spcPct val="10000"/>
              </a:spcAft>
              <a:buNone/>
            </a:pPr>
            <a:r>
              <a:rPr lang="en-US" altLang="en-US" sz="1800" b="0" dirty="0">
                <a:latin typeface="+mn-lt"/>
              </a:rPr>
              <a:t>The wage increases from </a:t>
            </a:r>
            <a:r>
              <a:rPr lang="en-US" altLang="en-US" sz="1800" b="0" i="1" dirty="0">
                <a:latin typeface="+mn-lt"/>
              </a:rPr>
              <a:t>W</a:t>
            </a:r>
            <a:r>
              <a:rPr lang="en-US" altLang="en-US" sz="1800" b="0" dirty="0">
                <a:latin typeface="+mn-lt"/>
              </a:rPr>
              <a:t> to </a:t>
            </a:r>
            <a:r>
              <a:rPr lang="en-US" altLang="en-US" sz="1800" b="0" i="1" dirty="0">
                <a:latin typeface="+mn-lt"/>
              </a:rPr>
              <a:t>W</a:t>
            </a:r>
            <a:r>
              <a:rPr lang="en-US" altLang="en-US" sz="1800" b="0" i="1" dirty="0">
                <a:latin typeface="+mn-lt"/>
                <a:sym typeface="Symbol" pitchFamily="18" charset="2"/>
              </a:rPr>
              <a:t></a:t>
            </a:r>
            <a:r>
              <a:rPr lang="en-US" altLang="en-US" sz="1800" b="0" dirty="0">
                <a:latin typeface="+mn-lt"/>
              </a:rPr>
              <a:t>, but this increase is less than the upward shift </a:t>
            </a:r>
            <a:r>
              <a:rPr lang="en-US" altLang="en-US" sz="1800" b="0" dirty="0">
                <a:latin typeface="+mn-lt"/>
                <a:sym typeface="Symbol" pitchFamily="18" charset="2"/>
              </a:rPr>
              <a:t></a:t>
            </a:r>
            <a:r>
              <a:rPr lang="en-US" altLang="en-US" sz="1800" b="0" i="1" dirty="0">
                <a:latin typeface="+mn-lt"/>
              </a:rPr>
              <a:t>P</a:t>
            </a:r>
            <a:r>
              <a:rPr lang="en-US" altLang="en-US" sz="1800" b="0" i="1" baseline="-25000" dirty="0">
                <a:latin typeface="+mn-lt"/>
              </a:rPr>
              <a:t>M</a:t>
            </a:r>
            <a:r>
              <a:rPr lang="en-US" altLang="en-US" sz="1800" b="0" dirty="0">
                <a:latin typeface="+mn-lt"/>
              </a:rPr>
              <a:t> • </a:t>
            </a:r>
            <a:r>
              <a:rPr lang="en-US" altLang="en-US" sz="1800" b="0" i="1" dirty="0">
                <a:latin typeface="+mn-lt"/>
              </a:rPr>
              <a:t>MPL</a:t>
            </a:r>
            <a:r>
              <a:rPr lang="en-US" altLang="en-US" sz="1800" b="0" i="1" baseline="-25000" dirty="0">
                <a:latin typeface="+mn-lt"/>
              </a:rPr>
              <a:t>M</a:t>
            </a:r>
            <a:r>
              <a:rPr lang="en-US" altLang="en-US" sz="1800" b="0" dirty="0">
                <a:latin typeface="+mn-lt"/>
              </a:rPr>
              <a:t>.</a:t>
            </a:r>
          </a:p>
        </p:txBody>
      </p:sp>
    </p:spTree>
    <p:extLst>
      <p:ext uri="{BB962C8B-B14F-4D97-AF65-F5344CB8AC3E}">
        <p14:creationId xmlns:p14="http://schemas.microsoft.com/office/powerpoint/2010/main" val="1691011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D149F-986A-3540-AD57-F7D3CD35A102}"/>
              </a:ext>
            </a:extLst>
          </p:cNvPr>
          <p:cNvSpPr>
            <a:spLocks noGrp="1"/>
          </p:cNvSpPr>
          <p:nvPr>
            <p:ph type="title"/>
          </p:nvPr>
        </p:nvSpPr>
        <p:spPr/>
        <p:txBody>
          <a:bodyPr>
            <a:normAutofit/>
          </a:bodyPr>
          <a:lstStyle/>
          <a:p>
            <a:r>
              <a:rPr lang="en-US" sz="3600" dirty="0"/>
              <a:t>2) Earnings of Labor (part 5)</a:t>
            </a:r>
          </a:p>
        </p:txBody>
      </p:sp>
      <p:sp>
        <p:nvSpPr>
          <p:cNvPr id="4" name="Content Placeholder 3">
            <a:extLst>
              <a:ext uri="{FF2B5EF4-FFF2-40B4-BE49-F238E27FC236}">
                <a16:creationId xmlns:a16="http://schemas.microsoft.com/office/drawing/2014/main" id="{214CBAC8-EE37-C848-A218-11E17D1FB102}"/>
              </a:ext>
            </a:extLst>
          </p:cNvPr>
          <p:cNvSpPr>
            <a:spLocks noGrp="1"/>
          </p:cNvSpPr>
          <p:nvPr>
            <p:ph idx="1"/>
          </p:nvPr>
        </p:nvSpPr>
        <p:spPr>
          <a:xfrm>
            <a:off x="457199" y="1600200"/>
            <a:ext cx="8487103" cy="4811110"/>
          </a:xfrm>
        </p:spPr>
        <p:txBody>
          <a:bodyPr>
            <a:normAutofit lnSpcReduction="10000"/>
          </a:bodyPr>
          <a:lstStyle/>
          <a:p>
            <a:pPr>
              <a:lnSpc>
                <a:spcPct val="120000"/>
              </a:lnSpc>
            </a:pPr>
            <a:r>
              <a:rPr lang="en-US" altLang="en-US" sz="2400" dirty="0"/>
              <a:t>Change in Relative Price of Manufactures</a:t>
            </a:r>
          </a:p>
          <a:p>
            <a:pPr>
              <a:lnSpc>
                <a:spcPct val="120000"/>
              </a:lnSpc>
            </a:pPr>
            <a:r>
              <a:rPr lang="en-US" altLang="en-US" sz="2400" b="0" dirty="0"/>
              <a:t>Effect on Real Wages</a:t>
            </a:r>
          </a:p>
          <a:p>
            <a:pPr lvl="1">
              <a:lnSpc>
                <a:spcPct val="120000"/>
              </a:lnSpc>
              <a:spcBef>
                <a:spcPct val="10000"/>
              </a:spcBef>
              <a:spcAft>
                <a:spcPct val="10000"/>
              </a:spcAft>
            </a:pPr>
            <a:r>
              <a:rPr lang="en-US" altLang="en-US" sz="2200" b="0" dirty="0"/>
              <a:t>As we can see from Figure 3-5, the increase in the wage from </a:t>
            </a:r>
            <a:r>
              <a:rPr lang="en-US" altLang="en-US" sz="2200" b="0" i="1" dirty="0"/>
              <a:t>W </a:t>
            </a:r>
            <a:r>
              <a:rPr lang="en-US" altLang="en-US" sz="2200" b="0" dirty="0"/>
              <a:t>to </a:t>
            </a:r>
            <a:r>
              <a:rPr lang="en-US" altLang="en-US" sz="2200" b="0" i="1" dirty="0"/>
              <a:t>W</a:t>
            </a:r>
            <a:r>
              <a:rPr lang="en-US" altLang="en-US" sz="2200" b="0" dirty="0"/>
              <a:t>′ is </a:t>
            </a:r>
            <a:r>
              <a:rPr lang="en-US" altLang="en-US" sz="2200" b="0" i="1" dirty="0"/>
              <a:t>less than </a:t>
            </a:r>
            <a:r>
              <a:rPr lang="en-US" altLang="en-US" sz="2200" b="0" dirty="0"/>
              <a:t>the</a:t>
            </a:r>
            <a:r>
              <a:rPr lang="en-US" altLang="en-US" sz="2200" b="0" i="1" dirty="0"/>
              <a:t> </a:t>
            </a:r>
            <a:r>
              <a:rPr lang="en-US" altLang="en-US" sz="2200" b="0" dirty="0"/>
              <a:t>vertical increase Δ</a:t>
            </a:r>
            <a:r>
              <a:rPr lang="en-US" altLang="en-US" sz="2200" b="0" i="1" dirty="0"/>
              <a:t>P</a:t>
            </a:r>
            <a:r>
              <a:rPr lang="en-US" altLang="en-US" sz="2200" b="0" i="1" baseline="-25000" dirty="0"/>
              <a:t>M</a:t>
            </a:r>
            <a:r>
              <a:rPr lang="en-US" altLang="en-US" sz="2200" b="0" i="1" dirty="0"/>
              <a:t>  </a:t>
            </a:r>
            <a:r>
              <a:rPr lang="en-US" altLang="en-US" sz="2200" b="0" dirty="0"/>
              <a:t>• </a:t>
            </a:r>
            <a:r>
              <a:rPr lang="en-US" altLang="en-US" sz="2200" b="0" i="1" dirty="0"/>
              <a:t>MPL</a:t>
            </a:r>
            <a:r>
              <a:rPr lang="en-US" altLang="en-US" sz="2200" b="0" i="1" baseline="-25000" dirty="0"/>
              <a:t>M</a:t>
            </a:r>
            <a:endParaRPr lang="en-US" altLang="en-US" sz="2200" b="0" dirty="0"/>
          </a:p>
          <a:p>
            <a:pPr lvl="1">
              <a:lnSpc>
                <a:spcPct val="120000"/>
              </a:lnSpc>
              <a:spcBef>
                <a:spcPct val="10000"/>
              </a:spcBef>
              <a:spcAft>
                <a:spcPct val="10000"/>
              </a:spcAft>
            </a:pPr>
            <a:r>
              <a:rPr lang="en-US" altLang="en-US" sz="2200" b="0" dirty="0"/>
              <a:t>Since Δ</a:t>
            </a:r>
            <a:r>
              <a:rPr lang="en-US" altLang="en-US" sz="2200" b="0" i="1" dirty="0"/>
              <a:t>W</a:t>
            </a:r>
            <a:r>
              <a:rPr lang="en-US" altLang="en-US" sz="2200" b="0" dirty="0"/>
              <a:t>/</a:t>
            </a:r>
            <a:r>
              <a:rPr lang="en-US" altLang="en-US" sz="2200" b="0" i="1" dirty="0"/>
              <a:t>W </a:t>
            </a:r>
            <a:r>
              <a:rPr lang="en-US" altLang="en-US" sz="2200" b="0" dirty="0"/>
              <a:t>&lt; Δ</a:t>
            </a:r>
            <a:r>
              <a:rPr lang="en-US" altLang="en-US" sz="2200" b="0" i="1" dirty="0"/>
              <a:t>P</a:t>
            </a:r>
            <a:r>
              <a:rPr lang="en-US" altLang="en-US" sz="2200" b="0" i="1" baseline="-25000" dirty="0"/>
              <a:t>M</a:t>
            </a:r>
            <a:r>
              <a:rPr lang="en-US" altLang="en-US" sz="2200" b="0" i="1" dirty="0"/>
              <a:t> </a:t>
            </a:r>
            <a:r>
              <a:rPr lang="en-US" altLang="en-US" sz="2200" b="0" dirty="0"/>
              <a:t>/</a:t>
            </a:r>
            <a:r>
              <a:rPr lang="en-US" altLang="en-US" sz="2200" b="0" i="1" dirty="0"/>
              <a:t>P</a:t>
            </a:r>
            <a:r>
              <a:rPr lang="en-US" altLang="en-US" sz="2200" b="0" i="1" baseline="-25000" dirty="0"/>
              <a:t>M </a:t>
            </a:r>
            <a:r>
              <a:rPr lang="en-US" altLang="en-US" sz="2200" b="0" i="1" dirty="0"/>
              <a:t>, </a:t>
            </a:r>
            <a:r>
              <a:rPr lang="en-US" altLang="en-US" sz="2200" b="0" dirty="0"/>
              <a:t>the percentage increase in the wage is </a:t>
            </a:r>
            <a:r>
              <a:rPr lang="en-US" altLang="en-US" sz="2200" b="0" i="1" dirty="0"/>
              <a:t>less than </a:t>
            </a:r>
            <a:r>
              <a:rPr lang="en-US" altLang="en-US" sz="2200" b="0" dirty="0"/>
              <a:t>the percentage increase in the price of the manufactured good.</a:t>
            </a:r>
          </a:p>
          <a:p>
            <a:pPr lvl="1">
              <a:lnSpc>
                <a:spcPct val="120000"/>
              </a:lnSpc>
              <a:spcBef>
                <a:spcPct val="10000"/>
              </a:spcBef>
              <a:spcAft>
                <a:spcPct val="10000"/>
              </a:spcAft>
            </a:pPr>
            <a:r>
              <a:rPr lang="en-US" altLang="en-US" sz="2200" b="0" dirty="0"/>
              <a:t>This inequality means that the amount of the manufactured good that can be purchased with the wage has fallen.</a:t>
            </a:r>
          </a:p>
          <a:p>
            <a:pPr lvl="1">
              <a:lnSpc>
                <a:spcPct val="120000"/>
              </a:lnSpc>
              <a:spcBef>
                <a:spcPct val="10000"/>
              </a:spcBef>
              <a:spcAft>
                <a:spcPct val="10000"/>
              </a:spcAft>
            </a:pPr>
            <a:r>
              <a:rPr lang="en-US" altLang="en-US" sz="2200" b="0" dirty="0"/>
              <a:t>Therefore, the </a:t>
            </a:r>
            <a:r>
              <a:rPr lang="en-US" altLang="en-US" sz="2200" i="1" dirty="0"/>
              <a:t>real wage </a:t>
            </a:r>
            <a:r>
              <a:rPr lang="en-US" altLang="en-US" sz="2200" b="0" i="1" dirty="0"/>
              <a:t>in terms of the manufactured good W</a:t>
            </a:r>
            <a:r>
              <a:rPr lang="en-US" altLang="en-US" sz="2200" b="0" dirty="0"/>
              <a:t>/</a:t>
            </a:r>
            <a:r>
              <a:rPr lang="en-US" altLang="en-US" sz="2200" b="0" i="1" dirty="0"/>
              <a:t>P</a:t>
            </a:r>
            <a:r>
              <a:rPr lang="en-US" altLang="en-US" sz="2200" b="0" i="1" baseline="-25000" dirty="0"/>
              <a:t>M</a:t>
            </a:r>
            <a:r>
              <a:rPr lang="en-US" altLang="en-US" sz="2200" b="0" i="1" dirty="0"/>
              <a:t> </a:t>
            </a:r>
            <a:r>
              <a:rPr lang="en-US" altLang="en-US" sz="2200" b="0" dirty="0"/>
              <a:t>has decreased.</a:t>
            </a:r>
            <a:endParaRPr lang="en-US" altLang="en-US" sz="2200" b="0" dirty="0">
              <a:solidFill>
                <a:srgbClr val="3D68AF"/>
              </a:solidFill>
            </a:endParaRPr>
          </a:p>
        </p:txBody>
      </p:sp>
    </p:spTree>
    <p:extLst>
      <p:ext uri="{BB962C8B-B14F-4D97-AF65-F5344CB8AC3E}">
        <p14:creationId xmlns:p14="http://schemas.microsoft.com/office/powerpoint/2010/main" val="167064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8F6888-4E60-468A-AD9D-6586A339D0D6}"/>
              </a:ext>
            </a:extLst>
          </p:cNvPr>
          <p:cNvSpPr>
            <a:spLocks noGrp="1"/>
          </p:cNvSpPr>
          <p:nvPr>
            <p:ph type="title"/>
          </p:nvPr>
        </p:nvSpPr>
        <p:spPr/>
        <p:txBody>
          <a:bodyPr>
            <a:normAutofit/>
          </a:bodyPr>
          <a:lstStyle/>
          <a:p>
            <a:r>
              <a:rPr lang="en-US" sz="3600" dirty="0"/>
              <a:t>2) Earnings of Labor (part 6)</a:t>
            </a:r>
            <a:endParaRPr lang="en-IN" sz="3600" dirty="0"/>
          </a:p>
        </p:txBody>
      </p:sp>
      <p:sp>
        <p:nvSpPr>
          <p:cNvPr id="5" name="Content Placeholder 4">
            <a:extLst>
              <a:ext uri="{FF2B5EF4-FFF2-40B4-BE49-F238E27FC236}">
                <a16:creationId xmlns:a16="http://schemas.microsoft.com/office/drawing/2014/main" id="{9F1BA5F2-A353-428B-80D9-A486D34C21F1}"/>
              </a:ext>
            </a:extLst>
          </p:cNvPr>
          <p:cNvSpPr>
            <a:spLocks noGrp="1"/>
          </p:cNvSpPr>
          <p:nvPr>
            <p:ph idx="1"/>
          </p:nvPr>
        </p:nvSpPr>
        <p:spPr>
          <a:xfrm>
            <a:off x="457200" y="1600201"/>
            <a:ext cx="8229600" cy="955675"/>
          </a:xfrm>
        </p:spPr>
        <p:txBody>
          <a:bodyPr>
            <a:normAutofit/>
          </a:bodyPr>
          <a:lstStyle/>
          <a:p>
            <a:r>
              <a:rPr lang="en-US" altLang="en-US" dirty="0"/>
              <a:t>Change in Relative Price of Manufactures</a:t>
            </a:r>
          </a:p>
          <a:p>
            <a:r>
              <a:rPr lang="en-US" altLang="en-US" b="0" dirty="0"/>
              <a:t>Effect on Real Wages</a:t>
            </a:r>
          </a:p>
        </p:txBody>
      </p:sp>
      <p:pic>
        <p:nvPicPr>
          <p:cNvPr id="12" name="Picture Placeholder 5" descr="A graph that plots wage versus total labor supply, L bar, displays three upward open curves. The vertical axis marks W and W dash. The horizontal axis marks O subscript M, L, L dash, and O subscript A. L subscript M moves right, and L subscript A moves left. All the points in the vertical axis make L bar. The first two curves, P subscript A multiplied by M P L subscript A and P subscript M multiplied by M P L subscript M are parallel to each other. The vertical distance between the curves is equal to delta P subscript M multiplied by M P L subscript M. The third curve, P subscript A multiplied by M P L subscript A passes perpendicular to the other two curves and intersects them at two points: A that lies at (L, W) and B that lies at (L dash, W dash).">
            <a:extLst>
              <a:ext uri="{FF2B5EF4-FFF2-40B4-BE49-F238E27FC236}">
                <a16:creationId xmlns:a16="http://schemas.microsoft.com/office/drawing/2014/main" id="{C98994F0-D906-41A3-A08B-4E726789164A}"/>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458611" y="3324157"/>
            <a:ext cx="3940965" cy="2892719"/>
          </a:xfrm>
          <a:prstGeom prst="rect">
            <a:avLst/>
          </a:prstGeom>
        </p:spPr>
      </p:pic>
      <p:sp>
        <p:nvSpPr>
          <p:cNvPr id="8" name="Content Placeholder 7">
            <a:extLst>
              <a:ext uri="{FF2B5EF4-FFF2-40B4-BE49-F238E27FC236}">
                <a16:creationId xmlns:a16="http://schemas.microsoft.com/office/drawing/2014/main" id="{FB6FDE71-4D93-4084-B517-AF6E54A60CCF}"/>
              </a:ext>
            </a:extLst>
          </p:cNvPr>
          <p:cNvSpPr>
            <a:spLocks noGrp="1"/>
          </p:cNvSpPr>
          <p:nvPr>
            <p:ph sz="quarter" idx="12"/>
          </p:nvPr>
        </p:nvSpPr>
        <p:spPr>
          <a:xfrm>
            <a:off x="457200" y="2652653"/>
            <a:ext cx="1685925" cy="470109"/>
          </a:xfrm>
        </p:spPr>
        <p:txBody>
          <a:bodyPr>
            <a:normAutofit/>
          </a:bodyPr>
          <a:lstStyle/>
          <a:p>
            <a:pPr marL="0" indent="0">
              <a:buNone/>
            </a:pPr>
            <a:r>
              <a:rPr lang="en-IN" sz="2000" dirty="0"/>
              <a:t>FIGURE 3-5</a:t>
            </a:r>
          </a:p>
        </p:txBody>
      </p:sp>
      <p:sp>
        <p:nvSpPr>
          <p:cNvPr id="9" name="Content Placeholder 8">
            <a:extLst>
              <a:ext uri="{FF2B5EF4-FFF2-40B4-BE49-F238E27FC236}">
                <a16:creationId xmlns:a16="http://schemas.microsoft.com/office/drawing/2014/main" id="{A98E10C3-5B54-4955-B225-A1381B06E675}"/>
              </a:ext>
            </a:extLst>
          </p:cNvPr>
          <p:cNvSpPr>
            <a:spLocks noGrp="1"/>
          </p:cNvSpPr>
          <p:nvPr>
            <p:ph sz="quarter" idx="13"/>
          </p:nvPr>
        </p:nvSpPr>
        <p:spPr>
          <a:xfrm>
            <a:off x="4572000" y="2492815"/>
            <a:ext cx="4572000" cy="3929007"/>
          </a:xfrm>
        </p:spPr>
        <p:txBody>
          <a:bodyPr>
            <a:noAutofit/>
          </a:bodyPr>
          <a:lstStyle/>
          <a:p>
            <a:pPr marL="0" indent="0" eaLnBrk="1" hangingPunct="1">
              <a:lnSpc>
                <a:spcPct val="120000"/>
              </a:lnSpc>
              <a:spcBef>
                <a:spcPct val="10000"/>
              </a:spcBef>
              <a:spcAft>
                <a:spcPct val="10000"/>
              </a:spcAft>
              <a:buNone/>
            </a:pPr>
            <a:r>
              <a:rPr lang="en-US" altLang="en-US" sz="2000" b="0" dirty="0">
                <a:latin typeface="+mn-lt"/>
              </a:rPr>
              <a:t>Once again, since Δ</a:t>
            </a:r>
            <a:r>
              <a:rPr lang="en-US" altLang="en-US" sz="2000" b="0" i="1" dirty="0">
                <a:latin typeface="+mn-lt"/>
              </a:rPr>
              <a:t>W</a:t>
            </a:r>
            <a:r>
              <a:rPr lang="en-US" altLang="en-US" sz="2000" b="0" dirty="0">
                <a:latin typeface="+mn-lt"/>
              </a:rPr>
              <a:t>/</a:t>
            </a:r>
            <a:r>
              <a:rPr lang="en-US" altLang="en-US" sz="2000" b="0" i="1" dirty="0">
                <a:latin typeface="+mn-lt"/>
              </a:rPr>
              <a:t>W </a:t>
            </a:r>
            <a:r>
              <a:rPr lang="en-US" altLang="en-US" sz="2000" b="0" dirty="0">
                <a:latin typeface="+mn-lt"/>
              </a:rPr>
              <a:t>&lt; Δ</a:t>
            </a:r>
            <a:r>
              <a:rPr lang="en-US" altLang="en-US" sz="2000" b="0" i="1" dirty="0">
                <a:latin typeface="+mn-lt"/>
              </a:rPr>
              <a:t>P</a:t>
            </a:r>
            <a:r>
              <a:rPr lang="en-US" altLang="en-US" sz="2000" b="0" i="1" baseline="-25000" dirty="0">
                <a:latin typeface="+mn-lt"/>
              </a:rPr>
              <a:t>M</a:t>
            </a:r>
            <a:r>
              <a:rPr lang="en-US" altLang="en-US" sz="2000" b="0" i="1" dirty="0">
                <a:latin typeface="+mn-lt"/>
              </a:rPr>
              <a:t> </a:t>
            </a:r>
            <a:r>
              <a:rPr lang="en-US" altLang="en-US" sz="2000" b="0" dirty="0">
                <a:latin typeface="+mn-lt"/>
              </a:rPr>
              <a:t>/</a:t>
            </a:r>
            <a:r>
              <a:rPr lang="en-US" altLang="en-US" sz="2000" b="0" i="1" dirty="0">
                <a:latin typeface="+mn-lt"/>
              </a:rPr>
              <a:t>P</a:t>
            </a:r>
            <a:r>
              <a:rPr lang="en-US" altLang="en-US" sz="2000" b="0" i="1" baseline="-25000" dirty="0">
                <a:latin typeface="+mn-lt"/>
              </a:rPr>
              <a:t>M</a:t>
            </a:r>
            <a:r>
              <a:rPr lang="en-US" altLang="en-US" sz="2000" b="0" i="1" dirty="0">
                <a:latin typeface="+mn-lt"/>
              </a:rPr>
              <a:t>, </a:t>
            </a:r>
            <a:r>
              <a:rPr lang="en-US" altLang="en-US" sz="2000" b="0" dirty="0">
                <a:latin typeface="+mn-lt"/>
              </a:rPr>
              <a:t>the percentage increase in the wage is </a:t>
            </a:r>
            <a:r>
              <a:rPr lang="en-US" altLang="en-US" sz="2000" b="0" i="1" dirty="0">
                <a:latin typeface="+mn-lt"/>
              </a:rPr>
              <a:t>less than </a:t>
            </a:r>
            <a:r>
              <a:rPr lang="en-US" altLang="en-US" sz="2000" b="0" dirty="0">
                <a:latin typeface="+mn-lt"/>
              </a:rPr>
              <a:t>the percentage increase in the price of the manufactured good. </a:t>
            </a:r>
          </a:p>
          <a:p>
            <a:pPr marL="0" indent="0" eaLnBrk="1" hangingPunct="1">
              <a:lnSpc>
                <a:spcPct val="120000"/>
              </a:lnSpc>
              <a:spcBef>
                <a:spcPct val="10000"/>
              </a:spcBef>
              <a:spcAft>
                <a:spcPct val="10000"/>
              </a:spcAft>
              <a:buNone/>
            </a:pPr>
            <a:r>
              <a:rPr lang="en-US" altLang="en-US" sz="2000" b="0" dirty="0">
                <a:latin typeface="+mn-lt"/>
              </a:rPr>
              <a:t>The manufactured good that can be purchased with the wage has fallen.</a:t>
            </a:r>
          </a:p>
          <a:p>
            <a:pPr marL="0" indent="0" eaLnBrk="1" hangingPunct="1">
              <a:lnSpc>
                <a:spcPct val="120000"/>
              </a:lnSpc>
              <a:spcBef>
                <a:spcPct val="10000"/>
              </a:spcBef>
              <a:spcAft>
                <a:spcPct val="10000"/>
              </a:spcAft>
              <a:buNone/>
            </a:pPr>
            <a:r>
              <a:rPr lang="en-US" altLang="en-US" sz="2000" b="0" dirty="0">
                <a:latin typeface="+mn-lt"/>
              </a:rPr>
              <a:t>Therefore, the </a:t>
            </a:r>
            <a:r>
              <a:rPr lang="en-US" altLang="en-US" sz="2000" b="0" i="1" dirty="0">
                <a:latin typeface="+mn-lt"/>
              </a:rPr>
              <a:t>real wage in terms of the manufactured good W</a:t>
            </a:r>
            <a:r>
              <a:rPr lang="en-US" altLang="en-US" sz="2000" b="0" dirty="0">
                <a:latin typeface="+mn-lt"/>
              </a:rPr>
              <a:t>/</a:t>
            </a:r>
            <a:r>
              <a:rPr lang="en-US" altLang="en-US" sz="2000" b="0" i="1" dirty="0">
                <a:latin typeface="+mn-lt"/>
              </a:rPr>
              <a:t>PM </a:t>
            </a:r>
            <a:r>
              <a:rPr lang="en-US" altLang="en-US" sz="2000" b="0" dirty="0">
                <a:latin typeface="+mn-lt"/>
              </a:rPr>
              <a:t>has decreased.</a:t>
            </a:r>
            <a:endParaRPr lang="en-US" altLang="en-US" sz="2000" b="0" dirty="0">
              <a:solidFill>
                <a:srgbClr val="3D68AF"/>
              </a:solidFill>
              <a:latin typeface="+mn-lt"/>
            </a:endParaRPr>
          </a:p>
        </p:txBody>
      </p:sp>
    </p:spTree>
    <p:extLst>
      <p:ext uri="{BB962C8B-B14F-4D97-AF65-F5344CB8AC3E}">
        <p14:creationId xmlns:p14="http://schemas.microsoft.com/office/powerpoint/2010/main" val="4147129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D149F-986A-3540-AD57-F7D3CD35A102}"/>
              </a:ext>
            </a:extLst>
          </p:cNvPr>
          <p:cNvSpPr>
            <a:spLocks noGrp="1"/>
          </p:cNvSpPr>
          <p:nvPr>
            <p:ph type="title"/>
          </p:nvPr>
        </p:nvSpPr>
        <p:spPr/>
        <p:txBody>
          <a:bodyPr>
            <a:normAutofit/>
          </a:bodyPr>
          <a:lstStyle/>
          <a:p>
            <a:r>
              <a:rPr lang="en-US" sz="3600" dirty="0"/>
              <a:t>2) Earnings of Labor (part 7)</a:t>
            </a:r>
          </a:p>
        </p:txBody>
      </p:sp>
      <p:sp>
        <p:nvSpPr>
          <p:cNvPr id="4" name="Content Placeholder 3">
            <a:extLst>
              <a:ext uri="{FF2B5EF4-FFF2-40B4-BE49-F238E27FC236}">
                <a16:creationId xmlns:a16="http://schemas.microsoft.com/office/drawing/2014/main" id="{214CBAC8-EE37-C848-A218-11E17D1FB102}"/>
              </a:ext>
            </a:extLst>
          </p:cNvPr>
          <p:cNvSpPr>
            <a:spLocks noGrp="1"/>
          </p:cNvSpPr>
          <p:nvPr>
            <p:ph idx="1"/>
          </p:nvPr>
        </p:nvSpPr>
        <p:spPr/>
        <p:txBody>
          <a:bodyPr>
            <a:normAutofit fontScale="85000" lnSpcReduction="10000"/>
          </a:bodyPr>
          <a:lstStyle/>
          <a:p>
            <a:pPr>
              <a:lnSpc>
                <a:spcPct val="120000"/>
              </a:lnSpc>
            </a:pPr>
            <a:r>
              <a:rPr lang="en-US" altLang="en-US" sz="2600" dirty="0"/>
              <a:t>Change in Relative Price of Manufactures</a:t>
            </a:r>
          </a:p>
          <a:p>
            <a:pPr>
              <a:lnSpc>
                <a:spcPct val="120000"/>
              </a:lnSpc>
            </a:pPr>
            <a:r>
              <a:rPr lang="en-US" altLang="en-US" sz="2600" b="0" dirty="0"/>
              <a:t>Overall Impact on Labor</a:t>
            </a:r>
          </a:p>
          <a:p>
            <a:pPr lvl="1">
              <a:lnSpc>
                <a:spcPct val="120000"/>
              </a:lnSpc>
            </a:pPr>
            <a:r>
              <a:rPr lang="en-US" altLang="en-US" sz="2400" dirty="0"/>
              <a:t>In the specific-factors model, the increase in the price of the manufactured good has an ambiguous effect on the real wage and therefore an ambiguous effect on the well-being of workers. Although ambiguous, this conclusion is important.</a:t>
            </a:r>
          </a:p>
          <a:p>
            <a:pPr lvl="1">
              <a:lnSpc>
                <a:spcPct val="120000"/>
              </a:lnSpc>
            </a:pPr>
            <a:r>
              <a:rPr lang="en-US" altLang="en-US" sz="2400" dirty="0"/>
              <a:t>The result is different from what was found in the Ricardian model, where labor unambiguously earned a higher real wage.</a:t>
            </a:r>
          </a:p>
          <a:p>
            <a:pPr lvl="1">
              <a:lnSpc>
                <a:spcPct val="120000"/>
              </a:lnSpc>
            </a:pPr>
            <a:r>
              <a:rPr lang="en-US" altLang="en-US" sz="2400" dirty="0"/>
              <a:t>This warns us that one cannot make unqualified statements about the effects of trade on workers.</a:t>
            </a:r>
          </a:p>
          <a:p>
            <a:pPr lvl="1">
              <a:lnSpc>
                <a:spcPct val="120000"/>
              </a:lnSpc>
            </a:pPr>
            <a:r>
              <a:rPr lang="en-US" altLang="en-US" sz="2400" dirty="0"/>
              <a:t>The effect of trade on real wages can be complex.</a:t>
            </a:r>
          </a:p>
        </p:txBody>
      </p:sp>
    </p:spTree>
    <p:extLst>
      <p:ext uri="{BB962C8B-B14F-4D97-AF65-F5344CB8AC3E}">
        <p14:creationId xmlns:p14="http://schemas.microsoft.com/office/powerpoint/2010/main" val="1067303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D149F-986A-3540-AD57-F7D3CD35A102}"/>
              </a:ext>
            </a:extLst>
          </p:cNvPr>
          <p:cNvSpPr>
            <a:spLocks noGrp="1"/>
          </p:cNvSpPr>
          <p:nvPr>
            <p:ph type="title"/>
          </p:nvPr>
        </p:nvSpPr>
        <p:spPr/>
        <p:txBody>
          <a:bodyPr>
            <a:normAutofit/>
          </a:bodyPr>
          <a:lstStyle/>
          <a:p>
            <a:r>
              <a:rPr lang="en-US" sz="3600" dirty="0"/>
              <a:t>2) Earnings of Labor (part 8)</a:t>
            </a:r>
          </a:p>
        </p:txBody>
      </p:sp>
      <p:sp>
        <p:nvSpPr>
          <p:cNvPr id="4" name="Content Placeholder 3">
            <a:extLst>
              <a:ext uri="{FF2B5EF4-FFF2-40B4-BE49-F238E27FC236}">
                <a16:creationId xmlns:a16="http://schemas.microsoft.com/office/drawing/2014/main" id="{214CBAC8-EE37-C848-A218-11E17D1FB102}"/>
              </a:ext>
            </a:extLst>
          </p:cNvPr>
          <p:cNvSpPr>
            <a:spLocks noGrp="1"/>
          </p:cNvSpPr>
          <p:nvPr>
            <p:ph idx="1"/>
          </p:nvPr>
        </p:nvSpPr>
        <p:spPr/>
        <p:txBody>
          <a:bodyPr>
            <a:normAutofit lnSpcReduction="10000"/>
          </a:bodyPr>
          <a:lstStyle/>
          <a:p>
            <a:pPr>
              <a:lnSpc>
                <a:spcPct val="120000"/>
              </a:lnSpc>
            </a:pPr>
            <a:r>
              <a:rPr lang="en-US" altLang="en-US" dirty="0"/>
              <a:t>Change in Relative Price of Manufactures</a:t>
            </a:r>
          </a:p>
          <a:p>
            <a:pPr>
              <a:lnSpc>
                <a:spcPct val="120000"/>
              </a:lnSpc>
            </a:pPr>
            <a:r>
              <a:rPr lang="en-US" altLang="en-US" b="0" dirty="0"/>
              <a:t>Unemployment in the Specific-Factors Model</a:t>
            </a:r>
            <a:endParaRPr lang="en-US" altLang="en-US" dirty="0"/>
          </a:p>
          <a:p>
            <a:pPr lvl="1">
              <a:lnSpc>
                <a:spcPct val="120000"/>
              </a:lnSpc>
            </a:pPr>
            <a:r>
              <a:rPr lang="en-US" altLang="en-US" dirty="0"/>
              <a:t>It is hard to combine business cycle models with international trade models to isolate the effects of trade on workers.</a:t>
            </a:r>
          </a:p>
          <a:p>
            <a:pPr lvl="1">
              <a:lnSpc>
                <a:spcPct val="120000"/>
              </a:lnSpc>
            </a:pPr>
            <a:r>
              <a:rPr lang="en-US" altLang="en-US" dirty="0"/>
              <a:t>Once we recognize that workers can find new jobs—possibly in export industries that are expanding—we still cannot conclude that trade is necessarily good or bad for workers.</a:t>
            </a:r>
          </a:p>
          <a:p>
            <a:pPr lvl="1">
              <a:lnSpc>
                <a:spcPct val="120000"/>
              </a:lnSpc>
            </a:pPr>
            <a:r>
              <a:rPr lang="en-US" altLang="en-US" dirty="0"/>
              <a:t>Next we look at some evidence from the United States on the amount of time it takes to find new jobs and on the wages earned; we also look at attempts by governments to compensate workers who lose their jobs because of import competition. This type of compensation is called </a:t>
            </a:r>
            <a:r>
              <a:rPr lang="en-US" altLang="en-US" b="1" dirty="0"/>
              <a:t>Trade Adjustment Assistance (TAA)</a:t>
            </a:r>
            <a:r>
              <a:rPr lang="en-US" altLang="en-US" dirty="0"/>
              <a:t> in the United States.</a:t>
            </a:r>
          </a:p>
        </p:txBody>
      </p:sp>
    </p:spTree>
    <p:extLst>
      <p:ext uri="{BB962C8B-B14F-4D97-AF65-F5344CB8AC3E}">
        <p14:creationId xmlns:p14="http://schemas.microsoft.com/office/powerpoint/2010/main" val="523995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1)</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p:txBody>
          <a:bodyPr>
            <a:normAutofit/>
          </a:bodyPr>
          <a:lstStyle/>
          <a:p>
            <a:r>
              <a:rPr lang="en-US" dirty="0"/>
              <a:t>Determining the Payments to Capital and Land</a:t>
            </a:r>
          </a:p>
          <a:p>
            <a:pPr>
              <a:spcBef>
                <a:spcPct val="10000"/>
              </a:spcBef>
              <a:spcAft>
                <a:spcPct val="10000"/>
              </a:spcAft>
            </a:pPr>
            <a:r>
              <a:rPr lang="en-US" altLang="en-US" b="0" dirty="0"/>
              <a:t>If </a:t>
            </a:r>
            <a:r>
              <a:rPr lang="en-US" altLang="en-US" b="0" i="1" dirty="0"/>
              <a:t>Q</a:t>
            </a:r>
            <a:r>
              <a:rPr lang="en-US" altLang="en-US" b="0" i="1" baseline="-25000" dirty="0"/>
              <a:t>M</a:t>
            </a:r>
            <a:r>
              <a:rPr lang="en-US" altLang="en-US" b="0" i="1" dirty="0"/>
              <a:t> </a:t>
            </a:r>
            <a:r>
              <a:rPr lang="en-US" altLang="en-US" b="0" dirty="0"/>
              <a:t>is the output in manufacturing and </a:t>
            </a:r>
            <a:r>
              <a:rPr lang="en-US" altLang="en-US" b="0" i="1" dirty="0"/>
              <a:t>Q</a:t>
            </a:r>
            <a:r>
              <a:rPr lang="en-US" altLang="en-US" b="0" i="1" baseline="-25000" dirty="0"/>
              <a:t>A</a:t>
            </a:r>
            <a:r>
              <a:rPr lang="en-US" altLang="en-US" b="0" i="1" dirty="0"/>
              <a:t> </a:t>
            </a:r>
            <a:r>
              <a:rPr lang="en-US" altLang="en-US" b="0" dirty="0"/>
              <a:t>is the output in agriculture, the revenue earned in each industry is </a:t>
            </a:r>
            <a:r>
              <a:rPr lang="en-US" altLang="en-US" b="0" i="1" dirty="0"/>
              <a:t>P</a:t>
            </a:r>
            <a:r>
              <a:rPr lang="en-US" altLang="en-US" b="0" i="1" baseline="-25000" dirty="0"/>
              <a:t>M</a:t>
            </a:r>
            <a:r>
              <a:rPr lang="en-US" altLang="en-US" b="0" i="1" dirty="0"/>
              <a:t> </a:t>
            </a:r>
            <a:r>
              <a:rPr lang="en-US" altLang="en-US" b="0" dirty="0"/>
              <a:t>• </a:t>
            </a:r>
            <a:r>
              <a:rPr lang="en-US" altLang="en-US" b="0" i="1" dirty="0"/>
              <a:t>Q</a:t>
            </a:r>
            <a:r>
              <a:rPr lang="en-US" altLang="en-US" b="0" i="1" baseline="-25000" dirty="0"/>
              <a:t>M</a:t>
            </a:r>
            <a:r>
              <a:rPr lang="en-US" altLang="en-US" b="0" i="1" dirty="0"/>
              <a:t> </a:t>
            </a:r>
            <a:r>
              <a:rPr lang="en-US" altLang="en-US" b="0" dirty="0"/>
              <a:t>and </a:t>
            </a:r>
            <a:r>
              <a:rPr lang="en-US" altLang="en-US" b="0" i="1" dirty="0"/>
              <a:t>P</a:t>
            </a:r>
            <a:r>
              <a:rPr lang="en-US" altLang="en-US" b="0" i="1" baseline="-25000" dirty="0"/>
              <a:t>A</a:t>
            </a:r>
            <a:r>
              <a:rPr lang="en-US" altLang="en-US" b="0" i="1" dirty="0"/>
              <a:t> </a:t>
            </a:r>
            <a:r>
              <a:rPr lang="en-US" altLang="en-US" b="0" dirty="0"/>
              <a:t>• </a:t>
            </a:r>
            <a:r>
              <a:rPr lang="en-US" altLang="en-US" b="0" i="1" dirty="0"/>
              <a:t>Q</a:t>
            </a:r>
            <a:r>
              <a:rPr lang="en-US" altLang="en-US" b="0" i="1" baseline="-25000" dirty="0"/>
              <a:t>A</a:t>
            </a:r>
            <a:r>
              <a:rPr lang="en-US" altLang="en-US" b="0" dirty="0"/>
              <a:t>, and the payments to capital and to land are: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2B673ED-D816-4816-8C7F-0BEA3D3764A2}"/>
                  </a:ext>
                </a:extLst>
              </p:cNvPr>
              <p:cNvSpPr>
                <a:spLocks noGrp="1"/>
              </p:cNvSpPr>
              <p:nvPr>
                <p:ph sz="quarter" idx="12"/>
              </p:nvPr>
            </p:nvSpPr>
            <p:spPr>
              <a:xfrm>
                <a:off x="457200" y="3808590"/>
                <a:ext cx="8229600" cy="694396"/>
              </a:xfrm>
            </p:spPr>
            <p:txBody>
              <a:bodyPr>
                <a:normAutofit/>
              </a:bodyPr>
              <a:lstStyle/>
              <a:p>
                <a14:m>
                  <m:oMath xmlns:m="http://schemas.openxmlformats.org/officeDocument/2006/math">
                    <m:r>
                      <m:rPr>
                        <m:sty m:val="p"/>
                      </m:rPr>
                      <a:rPr lang="en-US" sz="2600" b="0" smtClean="0">
                        <a:latin typeface="Cambria Math" panose="02040503050406030204" pitchFamily="18" charset="0"/>
                      </a:rPr>
                      <m:t>Payment</m:t>
                    </m:r>
                    <m:r>
                      <a:rPr lang="en-US" sz="2600" b="0" smtClean="0">
                        <a:latin typeface="Cambria Math" panose="02040503050406030204" pitchFamily="18" charset="0"/>
                      </a:rPr>
                      <m:t> </m:t>
                    </m:r>
                    <m:r>
                      <m:rPr>
                        <m:sty m:val="p"/>
                      </m:rPr>
                      <a:rPr lang="en-US" sz="2600" b="0" smtClean="0">
                        <a:latin typeface="Cambria Math" panose="02040503050406030204" pitchFamily="18" charset="0"/>
                      </a:rPr>
                      <m:t>to</m:t>
                    </m:r>
                    <m:r>
                      <a:rPr lang="en-US" sz="2600" b="0" smtClean="0">
                        <a:latin typeface="Cambria Math" panose="02040503050406030204" pitchFamily="18" charset="0"/>
                      </a:rPr>
                      <m:t> </m:t>
                    </m:r>
                    <m:r>
                      <m:rPr>
                        <m:sty m:val="p"/>
                      </m:rPr>
                      <a:rPr lang="en-US" sz="2600" b="0" smtClean="0">
                        <a:latin typeface="Cambria Math" panose="02040503050406030204" pitchFamily="18" charset="0"/>
                      </a:rPr>
                      <m:t>capital</m:t>
                    </m:r>
                    <m:r>
                      <a:rPr lang="en-US" sz="2600" b="0" smtClean="0">
                        <a:latin typeface="Cambria Math" panose="02040503050406030204" pitchFamily="18" charset="0"/>
                      </a:rPr>
                      <m:t>=</m:t>
                    </m:r>
                    <m:sSub>
                      <m:sSubPr>
                        <m:ctrlPr>
                          <a:rPr lang="en-US" sz="2600" b="0" i="1">
                            <a:latin typeface="Cambria Math" panose="02040503050406030204" pitchFamily="18" charset="0"/>
                          </a:rPr>
                        </m:ctrlPr>
                      </m:sSubPr>
                      <m:e>
                        <m:r>
                          <a:rPr lang="en-US" sz="2600" b="0" i="1">
                            <a:latin typeface="Cambria Math" panose="02040503050406030204" pitchFamily="18" charset="0"/>
                          </a:rPr>
                          <m:t>𝑃</m:t>
                        </m:r>
                      </m:e>
                      <m:sub>
                        <m:r>
                          <a:rPr lang="en-US" sz="2600" b="0" i="1">
                            <a:latin typeface="Cambria Math" panose="02040503050406030204" pitchFamily="18" charset="0"/>
                          </a:rPr>
                          <m:t>𝑀</m:t>
                        </m:r>
                      </m:sub>
                    </m:sSub>
                    <m:r>
                      <a:rPr lang="en-US" sz="2600" b="0" i="1">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𝑄</m:t>
                        </m:r>
                      </m:e>
                      <m:sub>
                        <m:r>
                          <a:rPr lang="en-US" sz="2600" b="0" i="1">
                            <a:latin typeface="Cambria Math" panose="02040503050406030204" pitchFamily="18" charset="0"/>
                            <a:ea typeface="Cambria Math" panose="02040503050406030204" pitchFamily="18" charset="0"/>
                          </a:rPr>
                          <m:t>𝑀</m:t>
                        </m:r>
                      </m:sub>
                    </m:sSub>
                    <m:r>
                      <a:rPr lang="en-US" sz="2600" b="0" i="1">
                        <a:latin typeface="Cambria Math" panose="02040503050406030204" pitchFamily="18" charset="0"/>
                        <a:ea typeface="Cambria Math" panose="02040503050406030204" pitchFamily="18" charset="0"/>
                      </a:rPr>
                      <m:t>−</m:t>
                    </m:r>
                    <m:r>
                      <a:rPr lang="en-US" sz="2600" b="0" i="1">
                        <a:latin typeface="Cambria Math" panose="02040503050406030204" pitchFamily="18" charset="0"/>
                        <a:ea typeface="Cambria Math" panose="02040503050406030204" pitchFamily="18" charset="0"/>
                      </a:rPr>
                      <m:t>𝑊</m:t>
                    </m:r>
                    <m:r>
                      <a:rPr lang="en-US" sz="2600" b="0" i="1">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𝐿</m:t>
                        </m:r>
                      </m:e>
                      <m:sub>
                        <m:r>
                          <a:rPr lang="en-US" sz="2600" b="0" i="1">
                            <a:latin typeface="Cambria Math" panose="02040503050406030204" pitchFamily="18" charset="0"/>
                            <a:ea typeface="Cambria Math" panose="02040503050406030204" pitchFamily="18" charset="0"/>
                          </a:rPr>
                          <m:t>𝑀</m:t>
                        </m:r>
                      </m:sub>
                    </m:sSub>
                  </m:oMath>
                </a14:m>
                <a:endParaRPr lang="en-IN" sz="2600" dirty="0"/>
              </a:p>
            </p:txBody>
          </p:sp>
        </mc:Choice>
        <mc:Fallback xmlns="">
          <p:sp>
            <p:nvSpPr>
              <p:cNvPr id="6" name="Content Placeholder 5">
                <a:extLst>
                  <a:ext uri="{FF2B5EF4-FFF2-40B4-BE49-F238E27FC236}">
                    <a16:creationId xmlns:a16="http://schemas.microsoft.com/office/drawing/2014/main" id="{02B673ED-D816-4816-8C7F-0BEA3D3764A2}"/>
                  </a:ext>
                </a:extLst>
              </p:cNvPr>
              <p:cNvSpPr>
                <a:spLocks noGrp="1" noRot="1" noChangeAspect="1" noMove="1" noResize="1" noEditPoints="1" noAdjustHandles="1" noChangeArrowheads="1" noChangeShapeType="1" noTextEdit="1"/>
              </p:cNvSpPr>
              <p:nvPr>
                <p:ph sz="quarter" idx="12"/>
              </p:nvPr>
            </p:nvSpPr>
            <p:spPr>
              <a:xfrm>
                <a:off x="457200" y="3808590"/>
                <a:ext cx="8229600" cy="694396"/>
              </a:xfr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8BB2D317-6F50-4FC1-BA1F-95C41F572300}"/>
                  </a:ext>
                </a:extLst>
              </p:cNvPr>
              <p:cNvSpPr>
                <a:spLocks noGrp="1"/>
              </p:cNvSpPr>
              <p:nvPr>
                <p:ph sz="quarter" idx="13"/>
              </p:nvPr>
            </p:nvSpPr>
            <p:spPr>
              <a:xfrm>
                <a:off x="914400" y="4531145"/>
                <a:ext cx="7000875" cy="521900"/>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m:rPr>
                          <m:sty m:val="p"/>
                        </m:rPr>
                        <a:rPr lang="en-US" sz="2600" b="0" smtClean="0">
                          <a:latin typeface="Cambria Math" panose="02040503050406030204" pitchFamily="18" charset="0"/>
                          <a:ea typeface="Cambria Math" panose="02040503050406030204" pitchFamily="18" charset="0"/>
                        </a:rPr>
                        <m:t>Payments</m:t>
                      </m:r>
                      <m:r>
                        <a:rPr lang="en-US" sz="2600" b="0" smtClean="0">
                          <a:latin typeface="Cambria Math" panose="02040503050406030204" pitchFamily="18" charset="0"/>
                          <a:ea typeface="Cambria Math" panose="02040503050406030204" pitchFamily="18" charset="0"/>
                        </a:rPr>
                        <m:t> </m:t>
                      </m:r>
                      <m:r>
                        <m:rPr>
                          <m:sty m:val="p"/>
                        </m:rPr>
                        <a:rPr lang="en-US" sz="2600" b="0" smtClean="0">
                          <a:latin typeface="Cambria Math" panose="02040503050406030204" pitchFamily="18" charset="0"/>
                          <a:ea typeface="Cambria Math" panose="02040503050406030204" pitchFamily="18" charset="0"/>
                        </a:rPr>
                        <m:t>to</m:t>
                      </m:r>
                      <m:r>
                        <a:rPr lang="en-US" sz="2600" b="0" smtClean="0">
                          <a:latin typeface="Cambria Math" panose="02040503050406030204" pitchFamily="18" charset="0"/>
                          <a:ea typeface="Cambria Math" panose="02040503050406030204" pitchFamily="18" charset="0"/>
                        </a:rPr>
                        <m:t> </m:t>
                      </m:r>
                      <m:r>
                        <m:rPr>
                          <m:sty m:val="p"/>
                        </m:rPr>
                        <a:rPr lang="en-US" sz="2600" b="0" smtClean="0">
                          <a:latin typeface="Cambria Math" panose="02040503050406030204" pitchFamily="18" charset="0"/>
                          <a:ea typeface="Cambria Math" panose="02040503050406030204" pitchFamily="18" charset="0"/>
                        </a:rPr>
                        <m:t>land</m:t>
                      </m:r>
                      <m:r>
                        <a:rPr lang="en-US" sz="2600" b="0" smtClean="0">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𝑃</m:t>
                          </m:r>
                        </m:e>
                        <m:sub>
                          <m:r>
                            <a:rPr lang="en-US" sz="2600" b="0" i="1">
                              <a:latin typeface="Cambria Math" panose="02040503050406030204" pitchFamily="18" charset="0"/>
                              <a:ea typeface="Cambria Math" panose="02040503050406030204" pitchFamily="18" charset="0"/>
                            </a:rPr>
                            <m:t>𝐴</m:t>
                          </m:r>
                        </m:sub>
                      </m:sSub>
                      <m:r>
                        <a:rPr lang="en-US" sz="2600" b="0" i="1">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𝑄</m:t>
                          </m:r>
                        </m:e>
                        <m:sub>
                          <m:r>
                            <a:rPr lang="en-US" sz="2600" b="0" i="1">
                              <a:latin typeface="Cambria Math" panose="02040503050406030204" pitchFamily="18" charset="0"/>
                              <a:ea typeface="Cambria Math" panose="02040503050406030204" pitchFamily="18" charset="0"/>
                            </a:rPr>
                            <m:t>𝐴</m:t>
                          </m:r>
                        </m:sub>
                      </m:sSub>
                      <m:r>
                        <a:rPr lang="en-US" sz="2600" b="0" i="1">
                          <a:latin typeface="Cambria Math" panose="02040503050406030204" pitchFamily="18" charset="0"/>
                          <a:ea typeface="Cambria Math" panose="02040503050406030204" pitchFamily="18" charset="0"/>
                        </a:rPr>
                        <m:t>−</m:t>
                      </m:r>
                      <m:r>
                        <a:rPr lang="en-US" sz="2600" b="0" i="1">
                          <a:latin typeface="Cambria Math" panose="02040503050406030204" pitchFamily="18" charset="0"/>
                          <a:ea typeface="Cambria Math" panose="02040503050406030204" pitchFamily="18" charset="0"/>
                        </a:rPr>
                        <m:t>𝑊</m:t>
                      </m:r>
                      <m:r>
                        <a:rPr lang="en-US" sz="2600" b="0" i="1">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𝐿</m:t>
                          </m:r>
                        </m:e>
                        <m:sub>
                          <m:r>
                            <a:rPr lang="en-US" sz="2600" b="0" i="1">
                              <a:latin typeface="Cambria Math" panose="02040503050406030204" pitchFamily="18" charset="0"/>
                              <a:ea typeface="Cambria Math" panose="02040503050406030204" pitchFamily="18" charset="0"/>
                            </a:rPr>
                            <m:t>𝐴</m:t>
                          </m:r>
                        </m:sub>
                      </m:sSub>
                    </m:oMath>
                  </m:oMathPara>
                </a14:m>
                <a:endParaRPr lang="en-IN" sz="2600" dirty="0"/>
              </a:p>
            </p:txBody>
          </p:sp>
        </mc:Choice>
        <mc:Fallback xmlns="">
          <p:sp>
            <p:nvSpPr>
              <p:cNvPr id="7" name="Content Placeholder 6">
                <a:extLst>
                  <a:ext uri="{FF2B5EF4-FFF2-40B4-BE49-F238E27FC236}">
                    <a16:creationId xmlns:a16="http://schemas.microsoft.com/office/drawing/2014/main" id="{8BB2D317-6F50-4FC1-BA1F-95C41F572300}"/>
                  </a:ext>
                </a:extLst>
              </p:cNvPr>
              <p:cNvSpPr>
                <a:spLocks noGrp="1" noRot="1" noChangeAspect="1" noMove="1" noResize="1" noEditPoints="1" noAdjustHandles="1" noChangeArrowheads="1" noChangeShapeType="1" noTextEdit="1"/>
              </p:cNvSpPr>
              <p:nvPr>
                <p:ph sz="quarter" idx="13"/>
              </p:nvPr>
            </p:nvSpPr>
            <p:spPr>
              <a:xfrm>
                <a:off x="914400" y="4531145"/>
                <a:ext cx="7000875" cy="521900"/>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31938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2)</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a:xfrm>
            <a:off x="457200" y="1600201"/>
            <a:ext cx="8229600" cy="1851294"/>
          </a:xfrm>
        </p:spPr>
        <p:txBody>
          <a:bodyPr>
            <a:normAutofit/>
          </a:bodyPr>
          <a:lstStyle/>
          <a:p>
            <a:pPr>
              <a:spcBef>
                <a:spcPct val="10000"/>
              </a:spcBef>
              <a:spcAft>
                <a:spcPct val="10000"/>
              </a:spcAft>
            </a:pPr>
            <a:r>
              <a:rPr lang="en-US" sz="2400" dirty="0"/>
              <a:t>Determining the Payments to Capital and Land</a:t>
            </a:r>
          </a:p>
          <a:p>
            <a:pPr>
              <a:spcBef>
                <a:spcPct val="10000"/>
              </a:spcBef>
              <a:spcAft>
                <a:spcPct val="10000"/>
              </a:spcAft>
            </a:pPr>
            <a:r>
              <a:rPr lang="en-US" altLang="en-US" sz="2400" b="0" dirty="0"/>
              <a:t>The earnings of one unit of capital (a machine, for instance), which we call </a:t>
            </a:r>
            <a:r>
              <a:rPr lang="en-US" altLang="en-US" sz="2400" b="0" i="1" dirty="0"/>
              <a:t>R</a:t>
            </a:r>
            <a:r>
              <a:rPr lang="en-US" altLang="en-US" sz="2400" b="0" i="1" baseline="-25000" dirty="0"/>
              <a:t>K</a:t>
            </a:r>
            <a:r>
              <a:rPr lang="en-US" altLang="en-US" sz="2400" b="0" i="1" dirty="0"/>
              <a:t>, </a:t>
            </a:r>
            <a:r>
              <a:rPr lang="en-US" altLang="en-US" sz="2400" b="0" dirty="0"/>
              <a:t>and the earnings of an acre of land, which we call </a:t>
            </a:r>
            <a:r>
              <a:rPr lang="en-US" altLang="en-US" sz="2400" b="0" i="1" dirty="0"/>
              <a:t>R</a:t>
            </a:r>
            <a:r>
              <a:rPr lang="en-US" altLang="en-US" sz="2400" b="0" i="1" baseline="-25000" dirty="0"/>
              <a:t>T</a:t>
            </a:r>
            <a:r>
              <a:rPr lang="en-US" altLang="en-US" sz="2400" b="0" dirty="0"/>
              <a:t>, are calculated as: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23A87AA-0F22-424F-A416-7ECC6BFE2AA1}"/>
                  </a:ext>
                </a:extLst>
              </p:cNvPr>
              <p:cNvSpPr>
                <a:spLocks noGrp="1"/>
              </p:cNvSpPr>
              <p:nvPr>
                <p:ph sz="quarter" idx="12"/>
              </p:nvPr>
            </p:nvSpPr>
            <p:spPr>
              <a:xfrm>
                <a:off x="457200" y="3394523"/>
                <a:ext cx="8229600" cy="987694"/>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a:latin typeface="Cambria Math" panose="02040503050406030204" pitchFamily="18" charset="0"/>
                            </a:rPr>
                            <m:t>𝑅</m:t>
                          </m:r>
                        </m:e>
                        <m:sub>
                          <m:r>
                            <a:rPr lang="en-US" sz="2400" b="0" i="1">
                              <a:latin typeface="Cambria Math" panose="02040503050406030204" pitchFamily="18" charset="0"/>
                            </a:rPr>
                            <m:t>𝐾</m:t>
                          </m:r>
                        </m:sub>
                      </m:sSub>
                      <m:r>
                        <a:rPr lang="en-US" sz="2400"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 </m:t>
                      </m:r>
                      <m:f>
                        <m:fPr>
                          <m:ctrlPr>
                            <a:rPr lang="en-US" sz="2400" b="0" i="1">
                              <a:latin typeface="Cambria Math" panose="02040503050406030204" pitchFamily="18" charset="0"/>
                              <a:ea typeface="Cambria Math" panose="02040503050406030204" pitchFamily="18" charset="0"/>
                            </a:rPr>
                          </m:ctrlPr>
                        </m:fPr>
                        <m:num>
                          <m:r>
                            <m:rPr>
                              <m:sty m:val="p"/>
                            </m:rPr>
                            <a:rPr lang="en-US" sz="2400" b="0">
                              <a:latin typeface="Cambria Math" panose="02040503050406030204" pitchFamily="18" charset="0"/>
                              <a:ea typeface="Cambria Math" panose="02040503050406030204" pitchFamily="18" charset="0"/>
                            </a:rPr>
                            <m:t>Payments</m:t>
                          </m:r>
                          <m:r>
                            <a:rPr lang="en-US" sz="2400" b="0">
                              <a:latin typeface="Cambria Math" panose="02040503050406030204" pitchFamily="18" charset="0"/>
                              <a:ea typeface="Cambria Math" panose="02040503050406030204" pitchFamily="18" charset="0"/>
                            </a:rPr>
                            <m:t> </m:t>
                          </m:r>
                          <m:r>
                            <m:rPr>
                              <m:sty m:val="p"/>
                            </m:rPr>
                            <a:rPr lang="en-US" sz="2400" b="0">
                              <a:latin typeface="Cambria Math" panose="02040503050406030204" pitchFamily="18" charset="0"/>
                              <a:ea typeface="Cambria Math" panose="02040503050406030204" pitchFamily="18" charset="0"/>
                            </a:rPr>
                            <m:t>to</m:t>
                          </m:r>
                          <m:r>
                            <a:rPr lang="en-US" sz="2400" b="0">
                              <a:latin typeface="Cambria Math" panose="02040503050406030204" pitchFamily="18" charset="0"/>
                              <a:ea typeface="Cambria Math" panose="02040503050406030204" pitchFamily="18" charset="0"/>
                            </a:rPr>
                            <m:t> </m:t>
                          </m:r>
                          <m:r>
                            <m:rPr>
                              <m:sty m:val="p"/>
                            </m:rPr>
                            <a:rPr lang="en-US" sz="2400" b="0">
                              <a:latin typeface="Cambria Math" panose="02040503050406030204" pitchFamily="18" charset="0"/>
                              <a:ea typeface="Cambria Math" panose="02040503050406030204" pitchFamily="18" charset="0"/>
                            </a:rPr>
                            <m:t>capital</m:t>
                          </m:r>
                        </m:num>
                        <m:den>
                          <m:r>
                            <a:rPr lang="en-US" sz="2400" b="0" i="1">
                              <a:latin typeface="Cambria Math" panose="02040503050406030204" pitchFamily="18" charset="0"/>
                              <a:ea typeface="Cambria Math" panose="02040503050406030204" pitchFamily="18" charset="0"/>
                            </a:rPr>
                            <m:t>𝐾</m:t>
                          </m:r>
                        </m:den>
                      </m:f>
                      <m:r>
                        <a:rPr lang="en-US" sz="2400" dirty="0">
                          <a:latin typeface="Cambria Math" panose="02040503050406030204" pitchFamily="18" charset="0"/>
                        </a:rPr>
                        <m:t>=</m:t>
                      </m:r>
                      <m:f>
                        <m:fPr>
                          <m:ctrlPr>
                            <a:rPr lang="en-US" sz="2400" i="1" dirty="0">
                              <a:latin typeface="Cambria Math" panose="02040503050406030204" pitchFamily="18" charset="0"/>
                            </a:rPr>
                          </m:ctrlPr>
                        </m:fPr>
                        <m:num>
                          <m:sSub>
                            <m:sSubPr>
                              <m:ctrlPr>
                                <a:rPr lang="en-US" sz="2400" i="1" dirty="0">
                                  <a:latin typeface="Cambria Math" panose="02040503050406030204" pitchFamily="18" charset="0"/>
                                </a:rPr>
                              </m:ctrlPr>
                            </m:sSubPr>
                            <m:e>
                              <m:r>
                                <a:rPr lang="en-US" sz="2400" b="0" i="1" dirty="0">
                                  <a:latin typeface="Cambria Math" panose="02040503050406030204" pitchFamily="18" charset="0"/>
                                </a:rPr>
                                <m:t>𝑃</m:t>
                              </m:r>
                            </m:e>
                            <m:sub>
                              <m:r>
                                <a:rPr lang="en-US" sz="2400" b="0" i="1" dirty="0">
                                  <a:latin typeface="Cambria Math" panose="02040503050406030204" pitchFamily="18" charset="0"/>
                                </a:rPr>
                                <m:t>𝑀</m:t>
                              </m:r>
                            </m:sub>
                          </m:sSub>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b="0" i="1" dirty="0">
                                  <a:latin typeface="Cambria Math" panose="02040503050406030204" pitchFamily="18" charset="0"/>
                                  <a:ea typeface="Cambria Math" panose="02040503050406030204" pitchFamily="18" charset="0"/>
                                </a:rPr>
                                <m:t>𝑄</m:t>
                              </m:r>
                            </m:e>
                            <m:sub>
                              <m:r>
                                <a:rPr lang="en-US" sz="2400" b="0" i="1" dirty="0">
                                  <a:latin typeface="Cambria Math" panose="02040503050406030204" pitchFamily="18" charset="0"/>
                                  <a:ea typeface="Cambria Math" panose="02040503050406030204" pitchFamily="18" charset="0"/>
                                </a:rPr>
                                <m:t>𝑀</m:t>
                              </m:r>
                            </m:sub>
                          </m:sSub>
                          <m:r>
                            <a:rPr lang="en-US" sz="2400" i="1" dirty="0">
                              <a:latin typeface="Cambria Math" panose="02040503050406030204" pitchFamily="18" charset="0"/>
                              <a:ea typeface="Cambria Math" panose="02040503050406030204" pitchFamily="18" charset="0"/>
                            </a:rPr>
                            <m:t>−</m:t>
                          </m:r>
                          <m:r>
                            <a:rPr lang="en-US" sz="2400" b="0" i="1" dirty="0">
                              <a:latin typeface="Cambria Math" panose="02040503050406030204" pitchFamily="18" charset="0"/>
                              <a:ea typeface="Cambria Math" panose="02040503050406030204" pitchFamily="18" charset="0"/>
                            </a:rPr>
                            <m:t>𝑊</m:t>
                          </m:r>
                          <m:r>
                            <a:rPr lang="en-US" sz="2400" b="0" i="1" dirty="0">
                              <a:latin typeface="Cambria Math" panose="02040503050406030204" pitchFamily="18" charset="0"/>
                              <a:ea typeface="Cambria Math" panose="02040503050406030204" pitchFamily="18" charset="0"/>
                            </a:rPr>
                            <m:t>∙</m:t>
                          </m:r>
                          <m:sSub>
                            <m:sSubPr>
                              <m:ctrlPr>
                                <a:rPr lang="en-US" sz="2400" b="0" i="1" dirty="0">
                                  <a:latin typeface="Cambria Math" panose="02040503050406030204" pitchFamily="18" charset="0"/>
                                  <a:ea typeface="Cambria Math" panose="02040503050406030204" pitchFamily="18" charset="0"/>
                                </a:rPr>
                              </m:ctrlPr>
                            </m:sSubPr>
                            <m:e>
                              <m:r>
                                <a:rPr lang="en-US" sz="2400" b="0" i="1" dirty="0">
                                  <a:latin typeface="Cambria Math" panose="02040503050406030204" pitchFamily="18" charset="0"/>
                                  <a:ea typeface="Cambria Math" panose="02040503050406030204" pitchFamily="18" charset="0"/>
                                </a:rPr>
                                <m:t>𝐿</m:t>
                              </m:r>
                            </m:e>
                            <m:sub>
                              <m:r>
                                <a:rPr lang="en-US" sz="2400" b="0" i="1" dirty="0">
                                  <a:latin typeface="Cambria Math" panose="02040503050406030204" pitchFamily="18" charset="0"/>
                                  <a:ea typeface="Cambria Math" panose="02040503050406030204" pitchFamily="18" charset="0"/>
                                </a:rPr>
                                <m:t>𝑀</m:t>
                              </m:r>
                            </m:sub>
                          </m:sSub>
                        </m:num>
                        <m:den>
                          <m:r>
                            <a:rPr lang="en-US" sz="2400" b="0" i="1" dirty="0">
                              <a:latin typeface="Cambria Math" panose="02040503050406030204" pitchFamily="18" charset="0"/>
                            </a:rPr>
                            <m:t>𝐾</m:t>
                          </m:r>
                        </m:den>
                      </m:f>
                    </m:oMath>
                  </m:oMathPara>
                </a14:m>
                <a:endParaRPr lang="en-IN" sz="2400" dirty="0"/>
              </a:p>
            </p:txBody>
          </p:sp>
        </mc:Choice>
        <mc:Fallback xmlns="">
          <p:sp>
            <p:nvSpPr>
              <p:cNvPr id="6" name="Content Placeholder 5">
                <a:extLst>
                  <a:ext uri="{FF2B5EF4-FFF2-40B4-BE49-F238E27FC236}">
                    <a16:creationId xmlns:a16="http://schemas.microsoft.com/office/drawing/2014/main" id="{423A87AA-0F22-424F-A416-7ECC6BFE2AA1}"/>
                  </a:ext>
                </a:extLst>
              </p:cNvPr>
              <p:cNvSpPr>
                <a:spLocks noGrp="1" noRot="1" noChangeAspect="1" noMove="1" noResize="1" noEditPoints="1" noAdjustHandles="1" noChangeArrowheads="1" noChangeShapeType="1" noTextEdit="1"/>
              </p:cNvSpPr>
              <p:nvPr>
                <p:ph sz="quarter" idx="12"/>
              </p:nvPr>
            </p:nvSpPr>
            <p:spPr>
              <a:xfrm>
                <a:off x="457200" y="3394523"/>
                <a:ext cx="8229600" cy="987694"/>
              </a:xfr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8D008E25-13E9-4D4B-A187-3D448207A6DF}"/>
                  </a:ext>
                </a:extLst>
              </p:cNvPr>
              <p:cNvSpPr>
                <a:spLocks noGrp="1"/>
              </p:cNvSpPr>
              <p:nvPr>
                <p:ph sz="quarter" idx="13"/>
              </p:nvPr>
            </p:nvSpPr>
            <p:spPr>
              <a:xfrm>
                <a:off x="935966" y="4392704"/>
                <a:ext cx="7272067" cy="86509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a:latin typeface="Cambria Math" panose="02040503050406030204" pitchFamily="18" charset="0"/>
                            </a:rPr>
                            <m:t>𝑅</m:t>
                          </m:r>
                        </m:e>
                        <m:sub>
                          <m:r>
                            <a:rPr lang="en-US" sz="2400" b="0" i="1">
                              <a:latin typeface="Cambria Math" panose="02040503050406030204" pitchFamily="18" charset="0"/>
                            </a:rPr>
                            <m:t>𝑇</m:t>
                          </m:r>
                        </m:sub>
                      </m:sSub>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m:rPr>
                              <m:sty m:val="p"/>
                            </m:rPr>
                            <a:rPr lang="en-US" sz="2400" b="0">
                              <a:latin typeface="Cambria Math" panose="02040503050406030204" pitchFamily="18" charset="0"/>
                              <a:ea typeface="Cambria Math" panose="02040503050406030204" pitchFamily="18" charset="0"/>
                            </a:rPr>
                            <m:t>Payments</m:t>
                          </m:r>
                          <m:r>
                            <a:rPr lang="en-US" sz="2400" b="0">
                              <a:latin typeface="Cambria Math" panose="02040503050406030204" pitchFamily="18" charset="0"/>
                              <a:ea typeface="Cambria Math" panose="02040503050406030204" pitchFamily="18" charset="0"/>
                            </a:rPr>
                            <m:t> </m:t>
                          </m:r>
                          <m:r>
                            <m:rPr>
                              <m:sty m:val="p"/>
                            </m:rPr>
                            <a:rPr lang="en-US" sz="2400" b="0">
                              <a:latin typeface="Cambria Math" panose="02040503050406030204" pitchFamily="18" charset="0"/>
                              <a:ea typeface="Cambria Math" panose="02040503050406030204" pitchFamily="18" charset="0"/>
                            </a:rPr>
                            <m:t>to</m:t>
                          </m:r>
                          <m:r>
                            <a:rPr lang="en-US" sz="2400" b="0">
                              <a:latin typeface="Cambria Math" panose="02040503050406030204" pitchFamily="18" charset="0"/>
                              <a:ea typeface="Cambria Math" panose="02040503050406030204" pitchFamily="18" charset="0"/>
                            </a:rPr>
                            <m:t> </m:t>
                          </m:r>
                          <m:r>
                            <m:rPr>
                              <m:sty m:val="p"/>
                            </m:rPr>
                            <a:rPr lang="en-US" sz="2400" b="0">
                              <a:latin typeface="Cambria Math" panose="02040503050406030204" pitchFamily="18" charset="0"/>
                              <a:ea typeface="Cambria Math" panose="02040503050406030204" pitchFamily="18" charset="0"/>
                            </a:rPr>
                            <m:t>land</m:t>
                          </m:r>
                        </m:num>
                        <m:den>
                          <m:r>
                            <a:rPr lang="en-US" sz="2400" b="0" i="1">
                              <a:latin typeface="Cambria Math" panose="02040503050406030204" pitchFamily="18" charset="0"/>
                              <a:ea typeface="Cambria Math" panose="02040503050406030204" pitchFamily="18" charset="0"/>
                            </a:rPr>
                            <m:t>𝑇</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𝑃</m:t>
                              </m:r>
                            </m:e>
                            <m:sub>
                              <m:r>
                                <a:rPr lang="en-US" sz="2400" b="0" i="1">
                                  <a:latin typeface="Cambria Math" panose="02040503050406030204" pitchFamily="18" charset="0"/>
                                  <a:ea typeface="Cambria Math" panose="02040503050406030204" pitchFamily="18" charset="0"/>
                                </a:rPr>
                                <m:t>𝐴</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𝑄</m:t>
                              </m:r>
                            </m:e>
                            <m:sub>
                              <m:r>
                                <a:rPr lang="en-US" sz="2400" b="0" i="1">
                                  <a:latin typeface="Cambria Math" panose="02040503050406030204" pitchFamily="18" charset="0"/>
                                  <a:ea typeface="Cambria Math" panose="02040503050406030204" pitchFamily="18" charset="0"/>
                                </a:rPr>
                                <m:t>𝐴</m:t>
                              </m:r>
                            </m:sub>
                          </m:sSub>
                          <m:r>
                            <a:rPr lang="en-US" sz="2400"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𝑊</m:t>
                          </m:r>
                          <m:r>
                            <a:rPr lang="en-US" sz="2400" b="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𝐿</m:t>
                              </m:r>
                            </m:e>
                            <m:sub>
                              <m:r>
                                <a:rPr lang="en-US" sz="2400" b="0" i="1">
                                  <a:latin typeface="Cambria Math" panose="02040503050406030204" pitchFamily="18" charset="0"/>
                                  <a:ea typeface="Cambria Math" panose="02040503050406030204" pitchFamily="18" charset="0"/>
                                </a:rPr>
                                <m:t>𝐴</m:t>
                              </m:r>
                            </m:sub>
                          </m:sSub>
                        </m:num>
                        <m:den>
                          <m:r>
                            <a:rPr lang="en-US" sz="2400" b="0" i="1">
                              <a:latin typeface="Cambria Math" panose="02040503050406030204" pitchFamily="18" charset="0"/>
                              <a:ea typeface="Cambria Math" panose="02040503050406030204" pitchFamily="18" charset="0"/>
                            </a:rPr>
                            <m:t>𝑇</m:t>
                          </m:r>
                        </m:den>
                      </m:f>
                    </m:oMath>
                  </m:oMathPara>
                </a14:m>
                <a:endParaRPr lang="en-IN" sz="2400" dirty="0"/>
              </a:p>
            </p:txBody>
          </p:sp>
        </mc:Choice>
        <mc:Fallback xmlns="">
          <p:sp>
            <p:nvSpPr>
              <p:cNvPr id="7" name="Content Placeholder 6">
                <a:extLst>
                  <a:ext uri="{FF2B5EF4-FFF2-40B4-BE49-F238E27FC236}">
                    <a16:creationId xmlns:a16="http://schemas.microsoft.com/office/drawing/2014/main" id="{8D008E25-13E9-4D4B-A187-3D448207A6DF}"/>
                  </a:ext>
                </a:extLst>
              </p:cNvPr>
              <p:cNvSpPr>
                <a:spLocks noGrp="1" noRot="1" noChangeAspect="1" noMove="1" noResize="1" noEditPoints="1" noAdjustHandles="1" noChangeArrowheads="1" noChangeShapeType="1" noTextEdit="1"/>
              </p:cNvSpPr>
              <p:nvPr>
                <p:ph sz="quarter" idx="13"/>
              </p:nvPr>
            </p:nvSpPr>
            <p:spPr>
              <a:xfrm>
                <a:off x="935966" y="4392704"/>
                <a:ext cx="7272067" cy="865095"/>
              </a:xfrm>
              <a:blipFill>
                <a:blip r:embed="rId3"/>
                <a:stretch>
                  <a:fillRect/>
                </a:stretch>
              </a:blipFill>
            </p:spPr>
            <p:txBody>
              <a:bodyPr/>
              <a:lstStyle/>
              <a:p>
                <a:r>
                  <a:rPr lang="en-IN">
                    <a:noFill/>
                  </a:rPr>
                  <a:t> </a:t>
                </a:r>
              </a:p>
            </p:txBody>
          </p:sp>
        </mc:Fallback>
      </mc:AlternateContent>
      <p:sp>
        <p:nvSpPr>
          <p:cNvPr id="9" name="Content Placeholder 8">
            <a:extLst>
              <a:ext uri="{FF2B5EF4-FFF2-40B4-BE49-F238E27FC236}">
                <a16:creationId xmlns:a16="http://schemas.microsoft.com/office/drawing/2014/main" id="{90641E3A-67AC-454C-B169-FB16E2D84461}"/>
              </a:ext>
            </a:extLst>
          </p:cNvPr>
          <p:cNvSpPr>
            <a:spLocks noGrp="1"/>
          </p:cNvSpPr>
          <p:nvPr>
            <p:ph sz="quarter" idx="15"/>
          </p:nvPr>
        </p:nvSpPr>
        <p:spPr>
          <a:xfrm>
            <a:off x="461662" y="5446683"/>
            <a:ext cx="8225137" cy="865095"/>
          </a:xfrm>
        </p:spPr>
        <p:txBody>
          <a:bodyPr>
            <a:normAutofit/>
          </a:bodyPr>
          <a:lstStyle/>
          <a:p>
            <a:pPr marL="449263" indent="-449263"/>
            <a:r>
              <a:rPr lang="en-US" altLang="en-US" sz="2400" b="0" dirty="0"/>
              <a:t>Economists call </a:t>
            </a:r>
            <a:r>
              <a:rPr lang="en-US" altLang="en-US" sz="2400" b="0" i="1" dirty="0"/>
              <a:t>R</a:t>
            </a:r>
            <a:r>
              <a:rPr lang="en-US" altLang="en-US" sz="2400" b="0" i="1" baseline="-25000" dirty="0"/>
              <a:t>K</a:t>
            </a:r>
            <a:r>
              <a:rPr lang="en-US" altLang="en-US" sz="2400" b="0" dirty="0"/>
              <a:t> the </a:t>
            </a:r>
            <a:r>
              <a:rPr lang="en-US" altLang="en-US" sz="2400" dirty="0"/>
              <a:t>rental on capital</a:t>
            </a:r>
            <a:r>
              <a:rPr lang="en-US" altLang="en-US" sz="2400" b="0" dirty="0"/>
              <a:t> and </a:t>
            </a:r>
            <a:r>
              <a:rPr lang="en-US" altLang="en-US" sz="2400" b="0" i="1" dirty="0"/>
              <a:t>R</a:t>
            </a:r>
            <a:r>
              <a:rPr lang="en-US" altLang="en-US" sz="2400" b="0" i="1" baseline="-25000" dirty="0"/>
              <a:t>T</a:t>
            </a:r>
            <a:r>
              <a:rPr lang="en-US" altLang="en-US" sz="2400" b="0" dirty="0"/>
              <a:t> the </a:t>
            </a:r>
            <a:r>
              <a:rPr lang="en-US" altLang="en-US" sz="2400" dirty="0"/>
              <a:t>rental on land</a:t>
            </a:r>
            <a:r>
              <a:rPr lang="en-US" altLang="en-US" sz="2400" b="0" dirty="0"/>
              <a:t>.</a:t>
            </a:r>
          </a:p>
        </p:txBody>
      </p:sp>
    </p:spTree>
    <p:extLst>
      <p:ext uri="{BB962C8B-B14F-4D97-AF65-F5344CB8AC3E}">
        <p14:creationId xmlns:p14="http://schemas.microsoft.com/office/powerpoint/2010/main" val="441855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normAutofit/>
          </a:bodyPr>
          <a:lstStyle/>
          <a:p>
            <a:r>
              <a:rPr lang="en-US" sz="3600" dirty="0"/>
              <a:t>3) Earnings of Capital and Land (part 3)</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p:txBody>
          <a:bodyPr>
            <a:normAutofit/>
          </a:bodyPr>
          <a:lstStyle/>
          <a:p>
            <a:pPr>
              <a:lnSpc>
                <a:spcPct val="120000"/>
              </a:lnSpc>
            </a:pPr>
            <a:r>
              <a:rPr lang="en-US" dirty="0"/>
              <a:t>Determining the Payments to Capital and Land</a:t>
            </a:r>
          </a:p>
          <a:p>
            <a:pPr>
              <a:lnSpc>
                <a:spcPct val="120000"/>
              </a:lnSpc>
            </a:pPr>
            <a:r>
              <a:rPr lang="en-US" altLang="en-US" dirty="0"/>
              <a:t>Change in the Real Rental on Capital</a:t>
            </a:r>
          </a:p>
          <a:p>
            <a:pPr lvl="1">
              <a:lnSpc>
                <a:spcPct val="120000"/>
              </a:lnSpc>
              <a:spcBef>
                <a:spcPct val="10000"/>
              </a:spcBef>
              <a:spcAft>
                <a:spcPct val="10000"/>
              </a:spcAft>
              <a:buFont typeface="Arial" charset="0"/>
              <a:buChar char="•"/>
            </a:pPr>
            <a:r>
              <a:rPr lang="en-US" altLang="en-US" b="0" dirty="0"/>
              <a:t>As more labor is used in manufacturing, the marginal product of capital will rise because each machine has more labor to work it.</a:t>
            </a:r>
            <a:endParaRPr lang="en-US" altLang="en-US" sz="650" b="0" dirty="0"/>
          </a:p>
          <a:p>
            <a:pPr lvl="1">
              <a:lnSpc>
                <a:spcPct val="120000"/>
              </a:lnSpc>
              <a:spcBef>
                <a:spcPct val="10000"/>
              </a:spcBef>
              <a:spcAft>
                <a:spcPct val="10000"/>
              </a:spcAft>
              <a:buFont typeface="Arial" charset="0"/>
              <a:buChar char="•"/>
            </a:pPr>
            <a:r>
              <a:rPr lang="en-US" altLang="en-US" b="0" dirty="0"/>
              <a:t>In addition, as labor leaves agriculture, the marginal product of land will fall because each acre of land has fewer laborers to work it.</a:t>
            </a:r>
            <a:endParaRPr lang="en-US" altLang="en-US" sz="650" b="0" dirty="0"/>
          </a:p>
          <a:p>
            <a:pPr lvl="1">
              <a:lnSpc>
                <a:spcPct val="120000"/>
              </a:lnSpc>
              <a:spcBef>
                <a:spcPct val="10000"/>
              </a:spcBef>
              <a:spcAft>
                <a:spcPct val="10000"/>
              </a:spcAft>
              <a:buFont typeface="Arial" charset="0"/>
              <a:buChar char="•"/>
            </a:pPr>
            <a:r>
              <a:rPr lang="en-US" altLang="en-US" b="0" dirty="0"/>
              <a:t>The general conclusion is that </a:t>
            </a:r>
            <a:r>
              <a:rPr lang="en-US" altLang="en-US" b="0" i="1" dirty="0"/>
              <a:t>an increase in the quantity of labor used in an industry will raise the marginal product of the factor specific to that industry, and a decrease in labor will lower the marginal product of the specific factor.</a:t>
            </a:r>
            <a:endParaRPr lang="en-US" altLang="en-US" dirty="0"/>
          </a:p>
        </p:txBody>
      </p:sp>
    </p:spTree>
    <p:extLst>
      <p:ext uri="{BB962C8B-B14F-4D97-AF65-F5344CB8AC3E}">
        <p14:creationId xmlns:p14="http://schemas.microsoft.com/office/powerpoint/2010/main" val="4081042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4)</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p:txBody>
          <a:bodyPr>
            <a:normAutofit/>
          </a:bodyPr>
          <a:lstStyle/>
          <a:p>
            <a:r>
              <a:rPr lang="en-US" dirty="0"/>
              <a:t>Determining the Payments to Capital and Land</a:t>
            </a:r>
          </a:p>
          <a:p>
            <a:pPr>
              <a:spcBef>
                <a:spcPct val="10000"/>
              </a:spcBef>
              <a:spcAft>
                <a:spcPct val="10000"/>
              </a:spcAft>
              <a:buFont typeface="Arial" charset="0"/>
              <a:buChar char="•"/>
            </a:pPr>
            <a:r>
              <a:rPr lang="en-US" altLang="en-US" b="0" dirty="0"/>
              <a:t>With labor leaving agriculture, the marginal product of each acre falls, so </a:t>
            </a:r>
            <a:r>
              <a:rPr lang="en-US" altLang="en-US" b="0" i="1" dirty="0"/>
              <a:t>R</a:t>
            </a:r>
            <a:r>
              <a:rPr lang="en-US" altLang="en-US" b="0" i="1" baseline="-25000" dirty="0"/>
              <a:t>T </a:t>
            </a:r>
            <a:r>
              <a:rPr lang="en-US" altLang="en-US" b="0" dirty="0"/>
              <a:t>/</a:t>
            </a:r>
            <a:r>
              <a:rPr lang="en-US" altLang="en-US" b="0" i="1" dirty="0"/>
              <a:t>P</a:t>
            </a:r>
            <a:r>
              <a:rPr lang="en-US" altLang="en-US" b="0" i="1" baseline="-25000" dirty="0"/>
              <a:t>A</a:t>
            </a:r>
            <a:r>
              <a:rPr lang="en-US" altLang="en-US" b="0" i="1" dirty="0"/>
              <a:t> </a:t>
            </a:r>
            <a:r>
              <a:rPr lang="en-US" altLang="en-US" b="0" dirty="0"/>
              <a:t>also falls.</a:t>
            </a:r>
            <a:endParaRPr lang="en-US" altLang="en-US" sz="900" b="0" dirty="0"/>
          </a:p>
          <a:p>
            <a:pPr>
              <a:spcBef>
                <a:spcPct val="10000"/>
              </a:spcBef>
              <a:spcAft>
                <a:spcPct val="10000"/>
              </a:spcAft>
              <a:buFont typeface="Arial" charset="0"/>
              <a:buChar char="•"/>
            </a:pPr>
            <a:r>
              <a:rPr lang="en-US" altLang="en-US" b="0" dirty="0"/>
              <a:t>The fact that </a:t>
            </a:r>
            <a:r>
              <a:rPr lang="en-US" altLang="en-US" b="0" i="1" dirty="0"/>
              <a:t>R</a:t>
            </a:r>
            <a:r>
              <a:rPr lang="en-US" altLang="en-US" b="0" i="1" baseline="-25000" dirty="0"/>
              <a:t>T</a:t>
            </a:r>
            <a:r>
              <a:rPr lang="en-US" altLang="en-US" sz="3200" b="0" i="1" dirty="0"/>
              <a:t> </a:t>
            </a:r>
            <a:r>
              <a:rPr lang="en-US" altLang="en-US" b="0" dirty="0"/>
              <a:t>/</a:t>
            </a:r>
            <a:r>
              <a:rPr lang="en-US" altLang="en-US" b="0" i="1" dirty="0"/>
              <a:t>P</a:t>
            </a:r>
            <a:r>
              <a:rPr lang="en-US" altLang="en-US" b="0" i="1" baseline="-25000" dirty="0"/>
              <a:t>A</a:t>
            </a:r>
            <a:r>
              <a:rPr lang="en-US" altLang="en-US" b="0" i="1" dirty="0"/>
              <a:t> </a:t>
            </a:r>
            <a:r>
              <a:rPr lang="en-US" altLang="en-US" b="0" dirty="0"/>
              <a:t>falls means that the real rental on land in terms of food has gone down, so landowners cannot afford to buy as much food.</a:t>
            </a:r>
            <a:endParaRPr lang="en-US" altLang="en-US" sz="900" b="0" dirty="0"/>
          </a:p>
          <a:p>
            <a:pPr>
              <a:spcBef>
                <a:spcPct val="10000"/>
              </a:spcBef>
              <a:spcAft>
                <a:spcPct val="10000"/>
              </a:spcAft>
              <a:buFont typeface="Arial" charset="0"/>
              <a:buChar char="•"/>
            </a:pPr>
            <a:r>
              <a:rPr lang="en-US" altLang="en-US" b="0" dirty="0"/>
              <a:t>Thus, landowners are clearly worse off from the rise in the price of the manufactured good because they can afford to buy less of both goods.</a:t>
            </a:r>
            <a:endParaRPr lang="en-US" altLang="en-US" dirty="0"/>
          </a:p>
        </p:txBody>
      </p:sp>
    </p:spTree>
    <p:extLst>
      <p:ext uri="{BB962C8B-B14F-4D97-AF65-F5344CB8AC3E}">
        <p14:creationId xmlns:p14="http://schemas.microsoft.com/office/powerpoint/2010/main" val="1889819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5)</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a:xfrm>
            <a:off x="457200" y="1600200"/>
            <a:ext cx="8229600" cy="4727028"/>
          </a:xfrm>
        </p:spPr>
        <p:txBody>
          <a:bodyPr>
            <a:normAutofit lnSpcReduction="10000"/>
          </a:bodyPr>
          <a:lstStyle/>
          <a:p>
            <a:pPr>
              <a:lnSpc>
                <a:spcPct val="120000"/>
              </a:lnSpc>
            </a:pPr>
            <a:r>
              <a:rPr lang="en-US" dirty="0"/>
              <a:t>Determining the Payments to Capital and Land</a:t>
            </a:r>
          </a:p>
          <a:p>
            <a:pPr>
              <a:lnSpc>
                <a:spcPct val="120000"/>
              </a:lnSpc>
            </a:pPr>
            <a:r>
              <a:rPr lang="en-US" altLang="en-US" dirty="0"/>
              <a:t>Summary</a:t>
            </a:r>
          </a:p>
          <a:p>
            <a:pPr lvl="1">
              <a:lnSpc>
                <a:spcPct val="120000"/>
              </a:lnSpc>
            </a:pPr>
            <a:r>
              <a:rPr lang="en-US" altLang="en-US" dirty="0"/>
              <a:t>An increase in the relative price of an industry’s output will increase the real rental earned by the factor specific to that industry but will decrease the real rental of factors specific to other industries.</a:t>
            </a:r>
          </a:p>
          <a:p>
            <a:pPr lvl="1">
              <a:lnSpc>
                <a:spcPct val="120000"/>
              </a:lnSpc>
            </a:pPr>
            <a:r>
              <a:rPr lang="en-US" altLang="en-US" dirty="0"/>
              <a:t>This conclusion means that:</a:t>
            </a:r>
          </a:p>
          <a:p>
            <a:pPr lvl="2">
              <a:lnSpc>
                <a:spcPct val="120000"/>
              </a:lnSpc>
            </a:pPr>
            <a:r>
              <a:rPr lang="en-US" altLang="en-US" sz="2300" dirty="0"/>
              <a:t>The specific factors used in export industries will generally gain as trade is opened.</a:t>
            </a:r>
          </a:p>
          <a:p>
            <a:pPr lvl="2">
              <a:lnSpc>
                <a:spcPct val="120000"/>
              </a:lnSpc>
            </a:pPr>
            <a:r>
              <a:rPr lang="en-US" altLang="en-US" sz="2300" dirty="0"/>
              <a:t>The relative price of exports rises.</a:t>
            </a:r>
          </a:p>
          <a:p>
            <a:pPr lvl="2">
              <a:lnSpc>
                <a:spcPct val="120000"/>
              </a:lnSpc>
            </a:pPr>
            <a:r>
              <a:rPr lang="en-US" altLang="en-US" sz="2300" dirty="0"/>
              <a:t>The specific factors used in import industries will generally lose as trade is opened and the relative price of imports falls.</a:t>
            </a:r>
          </a:p>
        </p:txBody>
      </p:sp>
    </p:spTree>
    <p:extLst>
      <p:ext uri="{BB962C8B-B14F-4D97-AF65-F5344CB8AC3E}">
        <p14:creationId xmlns:p14="http://schemas.microsoft.com/office/powerpoint/2010/main" val="2240639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6)</a:t>
            </a:r>
          </a:p>
        </p:txBody>
      </p:sp>
      <mc:AlternateContent xmlns:mc="http://schemas.openxmlformats.org/markup-compatibility/2006" xmlns:a14="http://schemas.microsoft.com/office/drawing/2010/main">
        <mc:Choice Requires="a14">
          <p:sp>
            <p:nvSpPr>
              <p:cNvPr id="14" name="Content Placeholder 13">
                <a:extLst>
                  <a:ext uri="{FF2B5EF4-FFF2-40B4-BE49-F238E27FC236}">
                    <a16:creationId xmlns:a16="http://schemas.microsoft.com/office/drawing/2014/main" id="{68158D6E-582B-4C3D-8212-309618CE4CF7}"/>
                  </a:ext>
                </a:extLst>
              </p:cNvPr>
              <p:cNvSpPr>
                <a:spLocks noGrp="1"/>
              </p:cNvSpPr>
              <p:nvPr>
                <p:ph idx="1"/>
              </p:nvPr>
            </p:nvSpPr>
            <p:spPr/>
            <p:txBody>
              <a:bodyPr>
                <a:normAutofit fontScale="77500" lnSpcReduction="20000"/>
              </a:bodyPr>
              <a:lstStyle/>
              <a:p>
                <a:pPr marL="920750" inden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𝑀𝑎𝑛𝑢𝑓𝑎𝑐𝑡𝑢𝑟𝑖𝑛𝑔</m:t>
                      </m:r>
                      <m:r>
                        <a:rPr lang="en-US" i="1">
                          <a:latin typeface="Cambria Math" panose="02040503050406030204" pitchFamily="18" charset="0"/>
                        </a:rPr>
                        <m:t>:</m:t>
                      </m:r>
                      <m:r>
                        <m:rPr>
                          <m:sty m:val="p"/>
                        </m:rPr>
                        <a:rPr lang="en-US">
                          <a:latin typeface="Cambria Math" panose="02040503050406030204" pitchFamily="18" charset="0"/>
                        </a:rPr>
                        <m:t>Sales</m:t>
                      </m:r>
                      <m:r>
                        <a:rPr lang="en-US">
                          <a:latin typeface="Cambria Math" panose="02040503050406030204" pitchFamily="18" charset="0"/>
                        </a:rPr>
                        <m:t> </m:t>
                      </m:r>
                      <m:r>
                        <m:rPr>
                          <m:sty m:val="p"/>
                        </m:rPr>
                        <a:rPr lang="en-US">
                          <a:latin typeface="Cambria Math" panose="02040503050406030204" pitchFamily="18" charset="0"/>
                        </a:rPr>
                        <m:t>revenue</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𝑀</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𝑄</m:t>
                          </m:r>
                        </m:e>
                        <m:sub>
                          <m:r>
                            <a:rPr lang="en-US" i="1">
                              <a:latin typeface="Cambria Math" panose="02040503050406030204" pitchFamily="18" charset="0"/>
                              <a:ea typeface="Cambria Math" panose="02040503050406030204" pitchFamily="18" charset="0"/>
                            </a:rPr>
                            <m:t>𝑀</m:t>
                          </m:r>
                        </m:sub>
                      </m:sSub>
                      <m:r>
                        <a:rPr lang="en-US" i="1">
                          <a:latin typeface="Cambria Math" panose="02040503050406030204" pitchFamily="18" charset="0"/>
                          <a:ea typeface="Cambria Math" panose="02040503050406030204" pitchFamily="18" charset="0"/>
                        </a:rPr>
                        <m:t>=$100</m:t>
                      </m:r>
                    </m:oMath>
                    <m:oMath xmlns:m="http://schemas.openxmlformats.org/officeDocument/2006/math">
                      <m:r>
                        <m:rPr>
                          <m:sty m:val="p"/>
                        </m:rPr>
                        <a:rPr lang="en-US">
                          <a:latin typeface="Cambria Math" panose="02040503050406030204" pitchFamily="18" charset="0"/>
                          <a:ea typeface="Cambria Math" panose="02040503050406030204" pitchFamily="18" charset="0"/>
                        </a:rPr>
                        <m:t>Payments</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to</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labor</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𝑀</m:t>
                          </m:r>
                        </m:sub>
                      </m:sSub>
                      <m:r>
                        <a:rPr lang="en-US" i="1">
                          <a:latin typeface="Cambria Math" panose="02040503050406030204" pitchFamily="18" charset="0"/>
                          <a:ea typeface="Cambria Math" panose="02040503050406030204" pitchFamily="18" charset="0"/>
                        </a:rPr>
                        <m:t>=$60</m:t>
                      </m:r>
                    </m:oMath>
                    <m:oMath xmlns:m="http://schemas.openxmlformats.org/officeDocument/2006/math">
                      <m:r>
                        <m:rPr>
                          <m:sty m:val="p"/>
                        </m:rPr>
                        <a:rPr lang="en-US">
                          <a:latin typeface="Cambria Math" panose="02040503050406030204" pitchFamily="18" charset="0"/>
                          <a:ea typeface="Cambria Math" panose="02040503050406030204" pitchFamily="18" charset="0"/>
                        </a:rPr>
                        <m:t>Payments</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to</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capital</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𝐾</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=$40</m:t>
                      </m:r>
                    </m:oMath>
                  </m:oMathPara>
                </a14:m>
                <a:endParaRPr lang="en-US" dirty="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𝐴𝑔𝑟𝑖𝑐𝑢𝑙𝑡𝑢𝑟𝑒</m:t>
                      </m:r>
                      <m:r>
                        <a:rPr lang="en-US" i="1">
                          <a:latin typeface="Cambria Math" panose="02040503050406030204" pitchFamily="18" charset="0"/>
                        </a:rPr>
                        <m:t>:</m:t>
                      </m:r>
                      <m:r>
                        <a:rPr lang="en-US" b="0">
                          <a:latin typeface="Cambria Math" panose="02040503050406030204" pitchFamily="18" charset="0"/>
                        </a:rPr>
                        <m:t>  </m:t>
                      </m:r>
                      <m:r>
                        <m:rPr>
                          <m:sty m:val="p"/>
                        </m:rPr>
                        <a:rPr lang="en-US">
                          <a:latin typeface="Cambria Math" panose="02040503050406030204" pitchFamily="18" charset="0"/>
                        </a:rPr>
                        <m:t>Sales</m:t>
                      </m:r>
                      <m:r>
                        <a:rPr lang="en-US">
                          <a:latin typeface="Cambria Math" panose="02040503050406030204" pitchFamily="18" charset="0"/>
                        </a:rPr>
                        <m:t> </m:t>
                      </m:r>
                      <m:r>
                        <m:rPr>
                          <m:sty m:val="p"/>
                        </m:rPr>
                        <a:rPr lang="en-US">
                          <a:latin typeface="Cambria Math" panose="02040503050406030204" pitchFamily="18" charset="0"/>
                        </a:rPr>
                        <m:t>revenue</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𝑄</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=$100</m:t>
                      </m:r>
                    </m:oMath>
                    <m:oMath xmlns:m="http://schemas.openxmlformats.org/officeDocument/2006/math">
                      <m:r>
                        <m:rPr>
                          <m:sty m:val="p"/>
                        </m:rPr>
                        <a:rPr lang="en-US">
                          <a:latin typeface="Cambria Math" panose="02040503050406030204" pitchFamily="18" charset="0"/>
                        </a:rPr>
                        <m:t>Payments</m:t>
                      </m:r>
                      <m:r>
                        <a:rPr lang="en-US">
                          <a:latin typeface="Cambria Math" panose="02040503050406030204" pitchFamily="18" charset="0"/>
                        </a:rPr>
                        <m:t> </m:t>
                      </m:r>
                      <m:r>
                        <m:rPr>
                          <m:sty m:val="p"/>
                        </m:rPr>
                        <a:rPr lang="en-US">
                          <a:latin typeface="Cambria Math" panose="02040503050406030204" pitchFamily="18" charset="0"/>
                        </a:rPr>
                        <m:t>to</m:t>
                      </m:r>
                      <m:r>
                        <a:rPr lang="en-US">
                          <a:latin typeface="Cambria Math" panose="02040503050406030204" pitchFamily="18" charset="0"/>
                        </a:rPr>
                        <m:t> </m:t>
                      </m:r>
                      <m:r>
                        <m:rPr>
                          <m:sty m:val="p"/>
                        </m:rPr>
                        <a:rPr lang="en-US">
                          <a:latin typeface="Cambria Math" panose="02040503050406030204" pitchFamily="18" charset="0"/>
                        </a:rPr>
                        <m:t>labor</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=$50</m:t>
                      </m:r>
                    </m:oMath>
                  </m:oMathPara>
                </a14:m>
                <a:endParaRPr lang="en-US" dirty="0"/>
              </a:p>
              <a:p>
                <a:pPr marL="46355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Payments</m:t>
                      </m:r>
                      <m:r>
                        <a:rPr lang="en-US">
                          <a:latin typeface="Cambria Math" panose="02040503050406030204" pitchFamily="18" charset="0"/>
                        </a:rPr>
                        <m:t> </m:t>
                      </m:r>
                      <m:r>
                        <m:rPr>
                          <m:sty m:val="p"/>
                        </m:rPr>
                        <a:rPr lang="en-US">
                          <a:latin typeface="Cambria Math" panose="02040503050406030204" pitchFamily="18" charset="0"/>
                        </a:rPr>
                        <m:t>to</m:t>
                      </m:r>
                      <m:r>
                        <a:rPr lang="en-US">
                          <a:latin typeface="Cambria Math" panose="02040503050406030204" pitchFamily="18" charset="0"/>
                        </a:rPr>
                        <m:t> </m:t>
                      </m:r>
                      <m:r>
                        <m:rPr>
                          <m:sty m:val="p"/>
                        </m:rPr>
                        <a:rPr lang="en-US">
                          <a:latin typeface="Cambria Math" panose="02040503050406030204" pitchFamily="18" charset="0"/>
                        </a:rPr>
                        <m:t>land</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𝑇</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𝑇</m:t>
                      </m:r>
                      <m:r>
                        <a:rPr lang="en-US" i="1">
                          <a:latin typeface="Cambria Math" panose="02040503050406030204" pitchFamily="18" charset="0"/>
                          <a:ea typeface="Cambria Math" panose="02040503050406030204" pitchFamily="18" charset="0"/>
                        </a:rPr>
                        <m:t>=$50</m:t>
                      </m:r>
                    </m:oMath>
                  </m:oMathPara>
                </a14:m>
                <a:endParaRPr lang="en-US" dirty="0">
                  <a:ea typeface="Cambria Math" panose="02040503050406030204" pitchFamily="18" charset="0"/>
                  <a:cs typeface="Times New Roman" panose="02020603050405020304" pitchFamily="18" charset="0"/>
                </a:endParaRPr>
              </a:p>
              <a:p>
                <a:pPr marL="749300" indent="0">
                  <a:buNone/>
                </a:pPr>
                <a14:m>
                  <m:oMathPara xmlns:m="http://schemas.openxmlformats.org/officeDocument/2006/math">
                    <m:oMathParaPr>
                      <m:jc m:val="right"/>
                    </m:oMathParaPr>
                    <m:oMath xmlns:m="http://schemas.openxmlformats.org/officeDocument/2006/math">
                      <m:r>
                        <a:rPr lang="en-US" i="1">
                          <a:latin typeface="Cambria Math" panose="02040503050406030204" pitchFamily="18" charset="0"/>
                        </a:rPr>
                        <m:t>𝑀𝑎𝑛𝑢𝑓𝑎𝑐𝑡𝑢𝑟𝑖𝑛𝑔</m:t>
                      </m:r>
                      <m:r>
                        <a:rPr lang="en-US" i="1">
                          <a:latin typeface="Cambria Math" panose="02040503050406030204" pitchFamily="18" charset="0"/>
                        </a:rPr>
                        <m:t>: </m:t>
                      </m:r>
                      <m:r>
                        <a:rPr lang="en-US" b="0">
                          <a:latin typeface="Cambria Math" panose="02040503050406030204" pitchFamily="18" charset="0"/>
                        </a:rPr>
                        <m:t>  </m:t>
                      </m:r>
                      <m:r>
                        <m:rPr>
                          <m:sty m:val="p"/>
                        </m:rPr>
                        <a:rPr lang="en-US">
                          <a:latin typeface="Cambria Math" panose="02040503050406030204" pitchFamily="18" charset="0"/>
                        </a:rPr>
                        <m:t>Percentage</m:t>
                      </m:r>
                      <m:r>
                        <a:rPr lang="en-US">
                          <a:latin typeface="Cambria Math" panose="02040503050406030204" pitchFamily="18" charset="0"/>
                        </a:rPr>
                        <m:t> </m:t>
                      </m:r>
                      <m:r>
                        <m:rPr>
                          <m:sty m:val="p"/>
                        </m:rPr>
                        <a:rPr lang="en-US">
                          <a:latin typeface="Cambria Math" panose="02040503050406030204" pitchFamily="18" charset="0"/>
                        </a:rPr>
                        <m:t>increase</m:t>
                      </m:r>
                      <m:r>
                        <a:rPr lang="en-US">
                          <a:latin typeface="Cambria Math" panose="02040503050406030204" pitchFamily="18" charset="0"/>
                        </a:rPr>
                        <m:t> </m:t>
                      </m:r>
                      <m:r>
                        <m:rPr>
                          <m:sty m:val="p"/>
                        </m:rPr>
                        <a:rPr lang="en-US">
                          <a:latin typeface="Cambria Math" panose="02040503050406030204" pitchFamily="18" charset="0"/>
                        </a:rPr>
                        <m:t>in</m:t>
                      </m:r>
                      <m:r>
                        <a:rPr lang="en-US">
                          <a:latin typeface="Cambria Math" panose="02040503050406030204" pitchFamily="18" charset="0"/>
                        </a:rPr>
                        <m:t> </m:t>
                      </m:r>
                      <m:r>
                        <m:rPr>
                          <m:sty m:val="p"/>
                        </m:rPr>
                        <a:rPr lang="en-US">
                          <a:latin typeface="Cambria Math" panose="02040503050406030204" pitchFamily="18" charset="0"/>
                        </a:rPr>
                        <m:t>price</m:t>
                      </m:r>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𝑀</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𝑀</m:t>
                              </m:r>
                            </m:sub>
                          </m:sSub>
                          <m:r>
                            <a:rPr lang="en-US" i="1">
                              <a:latin typeface="Cambria Math" panose="02040503050406030204" pitchFamily="18" charset="0"/>
                              <a:ea typeface="Cambria Math" panose="02040503050406030204" pitchFamily="18" charset="0"/>
                            </a:rPr>
                            <m:t>=10%</m:t>
                          </m:r>
                        </m:den>
                      </m:f>
                    </m:oMath>
                    <m:oMath xmlns:m="http://schemas.openxmlformats.org/officeDocument/2006/math">
                      <m:r>
                        <a:rPr lang="en-US" i="1">
                          <a:latin typeface="Cambria Math" panose="02040503050406030204" pitchFamily="18" charset="0"/>
                          <a:ea typeface="Cambria Math" panose="02040503050406030204" pitchFamily="18" charset="0"/>
                        </a:rPr>
                        <m:t>𝐴𝑔𝑟𝑖𝑐𝑢𝑙𝑡𝑢𝑟𝑒</m:t>
                      </m:r>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Percentage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increase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in</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price</m:t>
                      </m:r>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𝐴</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=0%</m:t>
                          </m:r>
                        </m:den>
                      </m:f>
                    </m:oMath>
                    <m:oMath xmlns:m="http://schemas.openxmlformats.org/officeDocument/2006/math">
                      <m:r>
                        <a:rPr lang="en-US" b="0"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𝐵𝑜𝑡h</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𝑖𝑛𝑑𝑢𝑠𝑡𝑟𝑖𝑒𝑠</m:t>
                      </m:r>
                      <m:r>
                        <a:rPr lang="en-US" i="1">
                          <a:latin typeface="Cambria Math" panose="02040503050406030204" pitchFamily="18" charset="0"/>
                          <a:ea typeface="Cambria Math" panose="02040503050406030204" pitchFamily="18" charset="0"/>
                        </a:rPr>
                        <m:t>: </m:t>
                      </m:r>
                      <m:r>
                        <a:rPr lang="en-US" b="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Percentage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increase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in</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the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wage</m:t>
                      </m:r>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num>
                        <m:den>
                          <m:r>
                            <a:rPr lang="en-US" i="1">
                              <a:latin typeface="Cambria Math" panose="02040503050406030204" pitchFamily="18" charset="0"/>
                              <a:ea typeface="Cambria Math" panose="02040503050406030204" pitchFamily="18" charset="0"/>
                            </a:rPr>
                            <m:t>𝑊</m:t>
                          </m:r>
                          <m:r>
                            <a:rPr lang="en-US" i="1">
                              <a:latin typeface="Cambria Math" panose="02040503050406030204" pitchFamily="18" charset="0"/>
                              <a:ea typeface="Cambria Math" panose="02040503050406030204" pitchFamily="18" charset="0"/>
                            </a:rPr>
                            <m:t>=5%</m:t>
                          </m:r>
                        </m:den>
                      </m:f>
                    </m:oMath>
                  </m:oMathPara>
                </a14:m>
                <a:endParaRPr lang="en-US" dirty="0">
                  <a:ea typeface="Cambria Math" panose="02040503050406030204" pitchFamily="18" charset="0"/>
                  <a:cs typeface="Times New Roman" panose="02020603050405020304" pitchFamily="18" charset="0"/>
                </a:endParaRPr>
              </a:p>
            </p:txBody>
          </p:sp>
        </mc:Choice>
        <mc:Fallback xmlns="">
          <p:sp>
            <p:nvSpPr>
              <p:cNvPr id="14" name="Content Placeholder 13">
                <a:extLst>
                  <a:ext uri="{FF2B5EF4-FFF2-40B4-BE49-F238E27FC236}">
                    <a16:creationId xmlns:a16="http://schemas.microsoft.com/office/drawing/2014/main" id="{68158D6E-582B-4C3D-8212-309618CE4CF7}"/>
                  </a:ext>
                </a:extLst>
              </p:cNvPr>
              <p:cNvSpPr>
                <a:spLocks noGrp="1" noRot="1" noChangeAspect="1" noMove="1" noResize="1" noEditPoints="1" noAdjustHandles="1" noChangeArrowheads="1" noChangeShapeType="1" noTextEdit="1"/>
              </p:cNvSpPr>
              <p:nvPr>
                <p:ph idx="1"/>
              </p:nvPr>
            </p:nvSpPr>
            <p:spPr>
              <a:blipFill>
                <a:blip r:embed="rId2"/>
                <a:stretch>
                  <a:fillRect t="-581" b="-22674"/>
                </a:stretch>
              </a:blipFill>
            </p:spPr>
            <p:txBody>
              <a:bodyPr/>
              <a:lstStyle/>
              <a:p>
                <a:r>
                  <a:rPr lang="en-US">
                    <a:noFill/>
                  </a:rPr>
                  <a:t> </a:t>
                </a:r>
              </a:p>
            </p:txBody>
          </p:sp>
        </mc:Fallback>
      </mc:AlternateContent>
      <p:sp>
        <p:nvSpPr>
          <p:cNvPr id="9" name="Content Placeholder 8">
            <a:extLst>
              <a:ext uri="{FF2B5EF4-FFF2-40B4-BE49-F238E27FC236}">
                <a16:creationId xmlns:a16="http://schemas.microsoft.com/office/drawing/2014/main" id="{94C2F3A3-36DF-442A-B4AA-0D0CCC542242}"/>
              </a:ext>
            </a:extLst>
          </p:cNvPr>
          <p:cNvSpPr>
            <a:spLocks noGrp="1"/>
          </p:cNvSpPr>
          <p:nvPr>
            <p:ph sz="quarter" idx="12"/>
          </p:nvPr>
        </p:nvSpPr>
        <p:spPr>
          <a:xfrm>
            <a:off x="457200" y="4084638"/>
            <a:ext cx="3732213" cy="469900"/>
          </a:xfrm>
        </p:spPr>
        <p:txBody>
          <a:bodyPr>
            <a:normAutofit/>
          </a:bodyPr>
          <a:lstStyle/>
          <a:p>
            <a:pPr marL="0" indent="0">
              <a:buNone/>
            </a:pPr>
            <a:r>
              <a:rPr lang="en-US" sz="1800" dirty="0"/>
              <a:t>Change in the Rental on Capital</a:t>
            </a:r>
          </a:p>
        </p:txBody>
      </p:sp>
      <p:sp>
        <p:nvSpPr>
          <p:cNvPr id="10" name="Content Placeholder 9">
            <a:extLst>
              <a:ext uri="{FF2B5EF4-FFF2-40B4-BE49-F238E27FC236}">
                <a16:creationId xmlns:a16="http://schemas.microsoft.com/office/drawing/2014/main" id="{5FE8C737-B230-4A56-AAF1-EAC43D4C834F}"/>
              </a:ext>
            </a:extLst>
          </p:cNvPr>
          <p:cNvSpPr>
            <a:spLocks noGrp="1"/>
          </p:cNvSpPr>
          <p:nvPr>
            <p:ph sz="quarter" idx="13"/>
          </p:nvPr>
        </p:nvSpPr>
        <p:spPr>
          <a:xfrm>
            <a:off x="4399503" y="4091086"/>
            <a:ext cx="4088890" cy="455613"/>
          </a:xfrm>
        </p:spPr>
        <p:txBody>
          <a:bodyPr>
            <a:normAutofit/>
          </a:bodyPr>
          <a:lstStyle/>
          <a:p>
            <a:pPr marL="0" indent="0">
              <a:buNone/>
            </a:pPr>
            <a:r>
              <a:rPr lang="en-US" sz="1800" dirty="0"/>
              <a:t>Change in the Rental on Land</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0BAF3F5B-54B0-4ADB-A3D4-D5B5613DEE83}"/>
                  </a:ext>
                </a:extLst>
              </p:cNvPr>
              <p:cNvSpPr>
                <a:spLocks noGrp="1"/>
              </p:cNvSpPr>
              <p:nvPr>
                <p:ph sz="quarter" idx="15"/>
              </p:nvPr>
            </p:nvSpPr>
            <p:spPr>
              <a:xfrm>
                <a:off x="457200" y="4554538"/>
                <a:ext cx="3732212" cy="1759998"/>
              </a:xfrm>
            </p:spPr>
            <p:txBody>
              <a:bodyPr>
                <a:normAutofit fontScale="62500" lnSpcReduction="20000"/>
              </a:bodyPr>
              <a:lstStyle/>
              <a:p>
                <a:pPr marL="0" indent="0" eaLnBrk="1" hangingPunct="1">
                  <a:spcBef>
                    <a:spcPct val="10000"/>
                  </a:spcBef>
                  <a:spcAft>
                    <a:spcPts val="1200"/>
                  </a:spcAft>
                  <a:buNone/>
                  <a:tabLst>
                    <a:tab pos="0" algn="l"/>
                  </a:tabLst>
                </a:pPr>
                <a14:m>
                  <m:oMathPara xmlns:m="http://schemas.openxmlformats.org/officeDocument/2006/math">
                    <m:oMathParaPr>
                      <m:jc m:val="left"/>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𝐾</m:t>
                          </m:r>
                        </m:sub>
                      </m:sSub>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𝑃</m:t>
                              </m:r>
                            </m:e>
                            <m:sub>
                              <m:r>
                                <a:rPr lang="en-US" b="0" i="1">
                                  <a:solidFill>
                                    <a:schemeClr val="tx1"/>
                                  </a:solidFill>
                                  <a:latin typeface="Cambria Math" panose="02040503050406030204" pitchFamily="18" charset="0"/>
                                  <a:ea typeface="Cambria Math" panose="02040503050406030204" pitchFamily="18" charset="0"/>
                                </a:rPr>
                                <m:t>𝑀</m:t>
                              </m:r>
                            </m:sub>
                          </m:sSub>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𝑄</m:t>
                              </m:r>
                            </m:e>
                            <m:sub>
                              <m:r>
                                <a:rPr lang="en-US" b="0" i="1">
                                  <a:solidFill>
                                    <a:schemeClr val="tx1"/>
                                  </a:solidFill>
                                  <a:latin typeface="Cambria Math" panose="02040503050406030204" pitchFamily="18" charset="0"/>
                                  <a:ea typeface="Cambria Math" panose="02040503050406030204" pitchFamily="18" charset="0"/>
                                </a:rPr>
                                <m:t>𝑀</m:t>
                              </m:r>
                            </m:sub>
                          </m:sSub>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𝑊</m:t>
                          </m:r>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𝐿</m:t>
                              </m:r>
                            </m:e>
                            <m:sub>
                              <m:r>
                                <a:rPr lang="en-US" b="0" i="1">
                                  <a:solidFill>
                                    <a:schemeClr val="tx1"/>
                                  </a:solidFill>
                                  <a:latin typeface="Cambria Math" panose="02040503050406030204" pitchFamily="18" charset="0"/>
                                  <a:ea typeface="Cambria Math" panose="02040503050406030204" pitchFamily="18" charset="0"/>
                                </a:rPr>
                                <m:t>𝑀</m:t>
                              </m:r>
                            </m:sub>
                          </m:sSub>
                        </m:num>
                        <m:den>
                          <m:r>
                            <a:rPr lang="en-US" b="0" i="1">
                              <a:solidFill>
                                <a:schemeClr val="tx1"/>
                              </a:solidFill>
                              <a:latin typeface="Cambria Math" panose="02040503050406030204" pitchFamily="18" charset="0"/>
                              <a:ea typeface="Cambria Math" panose="02040503050406030204" pitchFamily="18" charset="0"/>
                            </a:rPr>
                            <m:t>𝐾</m:t>
                          </m:r>
                        </m:den>
                      </m:f>
                    </m:oMath>
                  </m:oMathPara>
                </a14:m>
                <a:endParaRPr lang="en-US" altLang="en-US" dirty="0">
                  <a:solidFill>
                    <a:schemeClr val="tx1"/>
                  </a:solidFill>
                  <a:latin typeface="+mn-lt"/>
                </a:endParaRPr>
              </a:p>
              <a:p>
                <a:pPr marL="0" indent="0" eaLnBrk="1" hangingPunct="1">
                  <a:spcBef>
                    <a:spcPct val="10000"/>
                  </a:spcBef>
                  <a:spcAft>
                    <a:spcPts val="1200"/>
                  </a:spcAft>
                  <a:buNone/>
                </a:pPr>
                <a14:m>
                  <m:oMathPara xmlns:m="http://schemas.openxmlformats.org/officeDocument/2006/math">
                    <m:oMathParaPr>
                      <m:jc m:val="centerGroup"/>
                    </m:oMathParaPr>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𝐾</m:t>
                              </m:r>
                            </m:sub>
                          </m:sSub>
                        </m:num>
                        <m:den>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𝑅</m:t>
                              </m:r>
                            </m:e>
                            <m:sub>
                              <m:r>
                                <a:rPr lang="en-US" b="0" i="1">
                                  <a:solidFill>
                                    <a:schemeClr val="tx1"/>
                                  </a:solidFill>
                                  <a:latin typeface="Cambria Math" panose="02040503050406030204" pitchFamily="18" charset="0"/>
                                </a:rPr>
                                <m:t>𝐾</m:t>
                              </m:r>
                            </m:sub>
                          </m:sSub>
                        </m:den>
                      </m:f>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𝑃</m:t>
                              </m:r>
                            </m:e>
                            <m:sub>
                              <m:r>
                                <a:rPr lang="en-US" b="0" i="1">
                                  <a:solidFill>
                                    <a:schemeClr val="tx1"/>
                                  </a:solidFill>
                                  <a:latin typeface="Cambria Math" panose="02040503050406030204" pitchFamily="18" charset="0"/>
                                  <a:ea typeface="Cambria Math" panose="02040503050406030204" pitchFamily="18" charset="0"/>
                                </a:rPr>
                                <m:t>𝑀</m:t>
                              </m:r>
                            </m:sub>
                          </m:sSub>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𝑃</m:t>
                              </m:r>
                            </m:e>
                            <m:sub>
                              <m:r>
                                <a:rPr lang="en-US" b="0" i="1">
                                  <a:solidFill>
                                    <a:schemeClr val="tx1"/>
                                  </a:solidFill>
                                  <a:latin typeface="Cambria Math" panose="02040503050406030204" pitchFamily="18" charset="0"/>
                                  <a:ea typeface="Cambria Math" panose="02040503050406030204" pitchFamily="18" charset="0"/>
                                </a:rPr>
                                <m:t>𝑀</m:t>
                              </m:r>
                            </m:sub>
                          </m:sSub>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𝑃</m:t>
                              </m:r>
                            </m:e>
                            <m:sub>
                              <m:r>
                                <a:rPr lang="en-US" b="0" i="1">
                                  <a:solidFill>
                                    <a:schemeClr val="tx1"/>
                                  </a:solidFill>
                                  <a:latin typeface="Cambria Math" panose="02040503050406030204" pitchFamily="18" charset="0"/>
                                  <a:ea typeface="Cambria Math" panose="02040503050406030204" pitchFamily="18" charset="0"/>
                                </a:rPr>
                                <m:t>𝑀</m:t>
                              </m:r>
                            </m:sub>
                          </m:sSub>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𝑄</m:t>
                              </m:r>
                            </m:e>
                            <m:sub>
                              <m:r>
                                <a:rPr lang="en-US" b="0" i="1">
                                  <a:solidFill>
                                    <a:schemeClr val="tx1"/>
                                  </a:solidFill>
                                  <a:latin typeface="Cambria Math" panose="02040503050406030204" pitchFamily="18" charset="0"/>
                                  <a:ea typeface="Cambria Math" panose="02040503050406030204" pitchFamily="18" charset="0"/>
                                </a:rPr>
                                <m:t>𝑀</m:t>
                              </m:r>
                            </m:sub>
                          </m:sSub>
                          <m:r>
                            <a:rPr lang="en-US" b="0" i="1">
                              <a:solidFill>
                                <a:schemeClr val="tx1"/>
                              </a:solidFill>
                              <a:latin typeface="Cambria Math" panose="02040503050406030204" pitchFamily="18" charset="0"/>
                              <a:ea typeface="Cambria Math" panose="02040503050406030204" pitchFamily="18" charset="0"/>
                            </a:rPr>
                            <m:t>−(∆</m:t>
                          </m:r>
                          <m:f>
                            <m:fPr>
                              <m:type m:val="lin"/>
                              <m:ctrlPr>
                                <a:rPr lang="en-US" b="0"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𝑊</m:t>
                              </m:r>
                            </m:num>
                            <m:den>
                              <m:r>
                                <a:rPr lang="en-US" b="0" i="1">
                                  <a:solidFill>
                                    <a:schemeClr val="tx1"/>
                                  </a:solidFill>
                                  <a:latin typeface="Cambria Math" panose="02040503050406030204" pitchFamily="18" charset="0"/>
                                  <a:ea typeface="Cambria Math" panose="02040503050406030204" pitchFamily="18" charset="0"/>
                                </a:rPr>
                                <m:t>𝑊</m:t>
                              </m:r>
                            </m:den>
                          </m:f>
                          <m:r>
                            <a:rPr lang="en-US" b="0"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𝑊</m:t>
                          </m:r>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𝐿</m:t>
                              </m:r>
                            </m:e>
                            <m:sub>
                              <m:r>
                                <a:rPr lang="en-US" b="0" i="1">
                                  <a:solidFill>
                                    <a:schemeClr val="tx1"/>
                                  </a:solidFill>
                                  <a:latin typeface="Cambria Math" panose="02040503050406030204" pitchFamily="18" charset="0"/>
                                  <a:ea typeface="Cambria Math" panose="02040503050406030204" pitchFamily="18" charset="0"/>
                                </a:rPr>
                                <m:t>𝑀</m:t>
                              </m:r>
                            </m:sub>
                          </m:sSub>
                        </m:num>
                        <m:den>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𝐾</m:t>
                              </m:r>
                            </m:sub>
                          </m:sSub>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𝐾</m:t>
                          </m:r>
                        </m:den>
                      </m:f>
                    </m:oMath>
                  </m:oMathPara>
                </a14:m>
                <a:endParaRPr lang="en-US" altLang="en-US" dirty="0">
                  <a:solidFill>
                    <a:schemeClr val="tx1"/>
                  </a:solidFill>
                  <a:latin typeface="+mn-lt"/>
                </a:endParaRPr>
              </a:p>
              <a:p>
                <a:pPr marL="0" indent="0" eaLnBrk="1" hangingPunct="1">
                  <a:spcBef>
                    <a:spcPct val="10000"/>
                  </a:spcBef>
                  <a:spcAft>
                    <a:spcPct val="10000"/>
                  </a:spcAft>
                  <a:buNone/>
                </a:pPr>
                <a14:m>
                  <m:oMathPara xmlns:m="http://schemas.openxmlformats.org/officeDocument/2006/math">
                    <m:oMathParaPr>
                      <m:jc m:val="left"/>
                    </m:oMathParaPr>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𝐾</m:t>
                              </m:r>
                            </m:sub>
                          </m:sSub>
                        </m:num>
                        <m:den>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𝑅</m:t>
                              </m:r>
                            </m:e>
                            <m:sub>
                              <m:r>
                                <a:rPr lang="en-US" b="0" i="1">
                                  <a:solidFill>
                                    <a:schemeClr val="tx1"/>
                                  </a:solidFill>
                                  <a:latin typeface="Cambria Math" panose="02040503050406030204" pitchFamily="18" charset="0"/>
                                </a:rPr>
                                <m:t>𝐾</m:t>
                              </m:r>
                            </m:sub>
                          </m:sSub>
                        </m:den>
                      </m:f>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d>
                            <m:dPr>
                              <m:ctrlPr>
                                <a:rPr lang="en-US" i="1">
                                  <a:solidFill>
                                    <a:schemeClr val="tx1"/>
                                  </a:solidFill>
                                  <a:latin typeface="Cambria Math" panose="02040503050406030204" pitchFamily="18" charset="0"/>
                                  <a:ea typeface="Cambria Math" panose="02040503050406030204" pitchFamily="18" charset="0"/>
                                </a:rPr>
                              </m:ctrlPr>
                            </m:dPr>
                            <m:e>
                              <m:r>
                                <a:rPr lang="en-US" b="0" i="1">
                                  <a:solidFill>
                                    <a:schemeClr val="tx1"/>
                                  </a:solidFill>
                                  <a:latin typeface="Cambria Math" panose="02040503050406030204" pitchFamily="18" charset="0"/>
                                  <a:ea typeface="Cambria Math" panose="02040503050406030204" pitchFamily="18" charset="0"/>
                                </a:rPr>
                                <m:t>10%∙100−5%∙60</m:t>
                              </m:r>
                            </m:e>
                          </m:d>
                        </m:num>
                        <m:den>
                          <m:r>
                            <a:rPr lang="en-US" b="0" i="1">
                              <a:solidFill>
                                <a:schemeClr val="tx1"/>
                              </a:solidFill>
                              <a:latin typeface="Cambria Math" panose="02040503050406030204" pitchFamily="18" charset="0"/>
                              <a:ea typeface="Cambria Math" panose="02040503050406030204" pitchFamily="18" charset="0"/>
                            </a:rPr>
                            <m:t>40</m:t>
                          </m:r>
                        </m:den>
                      </m:f>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17.5%</m:t>
                      </m:r>
                    </m:oMath>
                  </m:oMathPara>
                </a14:m>
                <a:endParaRPr lang="en-US" altLang="en-US" b="0" dirty="0">
                  <a:solidFill>
                    <a:schemeClr val="tx1"/>
                  </a:solidFill>
                  <a:latin typeface="+mn-lt"/>
                </a:endParaRPr>
              </a:p>
            </p:txBody>
          </p:sp>
        </mc:Choice>
        <mc:Fallback xmlns="">
          <p:sp>
            <p:nvSpPr>
              <p:cNvPr id="12" name="Content Placeholder 11">
                <a:extLst>
                  <a:ext uri="{FF2B5EF4-FFF2-40B4-BE49-F238E27FC236}">
                    <a16:creationId xmlns:a16="http://schemas.microsoft.com/office/drawing/2014/main" id="{0BAF3F5B-54B0-4ADB-A3D4-D5B5613DEE83}"/>
                  </a:ext>
                </a:extLst>
              </p:cNvPr>
              <p:cNvSpPr>
                <a:spLocks noGrp="1" noRot="1" noChangeAspect="1" noMove="1" noResize="1" noEditPoints="1" noAdjustHandles="1" noChangeArrowheads="1" noChangeShapeType="1" noTextEdit="1"/>
              </p:cNvSpPr>
              <p:nvPr>
                <p:ph sz="quarter" idx="15"/>
              </p:nvPr>
            </p:nvSpPr>
            <p:spPr>
              <a:xfrm>
                <a:off x="457200" y="4554538"/>
                <a:ext cx="3732212" cy="1759998"/>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Content Placeholder 24">
                <a:extLst>
                  <a:ext uri="{FF2B5EF4-FFF2-40B4-BE49-F238E27FC236}">
                    <a16:creationId xmlns:a16="http://schemas.microsoft.com/office/drawing/2014/main" id="{618540FE-44D1-454C-ADA4-2D200CD83CBB}"/>
                  </a:ext>
                </a:extLst>
              </p:cNvPr>
              <p:cNvSpPr>
                <a:spLocks noGrp="1"/>
              </p:cNvSpPr>
              <p:nvPr>
                <p:ph sz="quarter" idx="16"/>
              </p:nvPr>
            </p:nvSpPr>
            <p:spPr>
              <a:xfrm>
                <a:off x="4571999" y="4525679"/>
                <a:ext cx="4088889" cy="1788857"/>
              </a:xfrm>
            </p:spPr>
            <p:txBody>
              <a:bodyPr>
                <a:normAutofit fontScale="77500" lnSpcReduction="20000"/>
              </a:bodyPr>
              <a:lstStyle/>
              <a:p>
                <a:pPr marL="228600" indent="0" eaLnBrk="1" hangingPunct="1">
                  <a:spcAft>
                    <a:spcPts val="1200"/>
                  </a:spcAft>
                  <a:buNone/>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𝑇</m:t>
                          </m:r>
                        </m:sub>
                      </m:sSub>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0∙</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𝑄</m:t>
                              </m:r>
                            </m:e>
                            <m:sub>
                              <m:r>
                                <a:rPr lang="en-US" b="0" i="1">
                                  <a:solidFill>
                                    <a:schemeClr val="tx1"/>
                                  </a:solidFill>
                                  <a:latin typeface="Cambria Math" panose="02040503050406030204" pitchFamily="18" charset="0"/>
                                  <a:ea typeface="Cambria Math" panose="02040503050406030204" pitchFamily="18" charset="0"/>
                                </a:rPr>
                                <m:t>𝐴</m:t>
                              </m:r>
                            </m:sub>
                          </m:sSub>
                          <m:r>
                            <a:rPr lang="en-US" b="0"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𝑊</m:t>
                          </m:r>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𝐿</m:t>
                              </m:r>
                            </m:e>
                            <m:sub>
                              <m:r>
                                <a:rPr lang="en-US" b="0" i="1">
                                  <a:solidFill>
                                    <a:schemeClr val="tx1"/>
                                  </a:solidFill>
                                  <a:latin typeface="Cambria Math" panose="02040503050406030204" pitchFamily="18" charset="0"/>
                                  <a:ea typeface="Cambria Math" panose="02040503050406030204" pitchFamily="18" charset="0"/>
                                </a:rPr>
                                <m:t>𝐴</m:t>
                              </m:r>
                            </m:sub>
                          </m:sSub>
                        </m:num>
                        <m:den>
                          <m:r>
                            <a:rPr lang="en-US" b="0" i="1">
                              <a:solidFill>
                                <a:schemeClr val="tx1"/>
                              </a:solidFill>
                              <a:latin typeface="Cambria Math" panose="02040503050406030204" pitchFamily="18" charset="0"/>
                              <a:ea typeface="Cambria Math" panose="02040503050406030204" pitchFamily="18" charset="0"/>
                            </a:rPr>
                            <m:t>𝑇</m:t>
                          </m:r>
                        </m:den>
                      </m:f>
                    </m:oMath>
                  </m:oMathPara>
                </a14:m>
                <a:endParaRPr lang="en-US" altLang="en-US" dirty="0">
                  <a:solidFill>
                    <a:schemeClr val="tx1"/>
                  </a:solidFill>
                  <a:latin typeface="+mn-lt"/>
                </a:endParaRPr>
              </a:p>
              <a:p>
                <a:pPr marL="285750" indent="0" eaLnBrk="1" hangingPunct="1">
                  <a:spcBef>
                    <a:spcPct val="10000"/>
                  </a:spcBef>
                  <a:spcAft>
                    <a:spcPts val="1200"/>
                  </a:spcAft>
                  <a:buNone/>
                </a:pPr>
                <a14:m>
                  <m:oMathPara xmlns:m="http://schemas.openxmlformats.org/officeDocument/2006/math">
                    <m:oMathParaPr>
                      <m:jc m:val="centerGroup"/>
                    </m:oMathParaPr>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𝑇</m:t>
                              </m:r>
                            </m:sub>
                          </m:sSub>
                        </m:num>
                        <m:den>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𝑅</m:t>
                              </m:r>
                            </m:e>
                            <m:sub>
                              <m:r>
                                <a:rPr lang="en-US" b="0" i="1">
                                  <a:solidFill>
                                    <a:schemeClr val="tx1"/>
                                  </a:solidFill>
                                  <a:latin typeface="Cambria Math" panose="02040503050406030204" pitchFamily="18" charset="0"/>
                                </a:rPr>
                                <m:t>𝑇</m:t>
                              </m:r>
                            </m:sub>
                          </m:sSub>
                        </m:den>
                      </m:f>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𝑊</m:t>
                          </m:r>
                        </m:num>
                        <m:den>
                          <m:r>
                            <a:rPr lang="en-US" b="0" i="1">
                              <a:solidFill>
                                <a:schemeClr val="tx1"/>
                              </a:solidFill>
                              <a:latin typeface="Cambria Math" panose="02040503050406030204" pitchFamily="18" charset="0"/>
                              <a:ea typeface="Cambria Math" panose="02040503050406030204" pitchFamily="18" charset="0"/>
                            </a:rPr>
                            <m:t>𝑊</m:t>
                          </m:r>
                        </m:den>
                      </m:f>
                      <m:d>
                        <m:dPr>
                          <m:ctrlPr>
                            <a:rPr lang="en-US" i="1">
                              <a:solidFill>
                                <a:schemeClr val="tx1"/>
                              </a:solidFill>
                              <a:latin typeface="Cambria Math" panose="02040503050406030204" pitchFamily="18" charset="0"/>
                              <a:ea typeface="Cambria Math" panose="02040503050406030204" pitchFamily="18" charset="0"/>
                            </a:rPr>
                          </m:ctrlPr>
                        </m:dPr>
                        <m:e>
                          <m:f>
                            <m:fPr>
                              <m:ctrlPr>
                                <a:rPr lang="en-US"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𝑊</m:t>
                              </m:r>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𝐿</m:t>
                                  </m:r>
                                </m:e>
                                <m:sub>
                                  <m:r>
                                    <a:rPr lang="en-US" b="0" i="1">
                                      <a:solidFill>
                                        <a:schemeClr val="tx1"/>
                                      </a:solidFill>
                                      <a:latin typeface="Cambria Math" panose="02040503050406030204" pitchFamily="18" charset="0"/>
                                      <a:ea typeface="Cambria Math" panose="02040503050406030204" pitchFamily="18" charset="0"/>
                                    </a:rPr>
                                    <m:t>𝐴</m:t>
                                  </m:r>
                                </m:sub>
                              </m:sSub>
                            </m:num>
                            <m:den>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𝑇</m:t>
                                  </m:r>
                                </m:sub>
                              </m:sSub>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𝑇</m:t>
                              </m:r>
                            </m:den>
                          </m:f>
                        </m:e>
                      </m:d>
                    </m:oMath>
                  </m:oMathPara>
                </a14:m>
                <a:endParaRPr lang="en-US" altLang="en-US" dirty="0">
                  <a:solidFill>
                    <a:schemeClr val="tx1"/>
                  </a:solidFill>
                  <a:latin typeface="+mn-lt"/>
                </a:endParaRPr>
              </a:p>
              <a:p>
                <a:pPr marL="57150" indent="0" eaLnBrk="1" hangingPunct="1">
                  <a:spcBef>
                    <a:spcPct val="10000"/>
                  </a:spcBef>
                  <a:spcAft>
                    <a:spcPct val="10000"/>
                  </a:spcAft>
                  <a:buNone/>
                </a:pPr>
                <a14:m>
                  <m:oMathPara xmlns:m="http://schemas.openxmlformats.org/officeDocument/2006/math">
                    <m:oMathParaPr>
                      <m:jc m:val="centerGroup"/>
                    </m:oMathParaPr>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𝑇</m:t>
                              </m:r>
                            </m:sub>
                          </m:sSub>
                        </m:num>
                        <m:den>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𝑅</m:t>
                              </m:r>
                            </m:e>
                            <m:sub>
                              <m:r>
                                <a:rPr lang="en-US" b="0" i="1">
                                  <a:solidFill>
                                    <a:schemeClr val="tx1"/>
                                  </a:solidFill>
                                  <a:latin typeface="Cambria Math" panose="02040503050406030204" pitchFamily="18" charset="0"/>
                                </a:rPr>
                                <m:t>𝑇</m:t>
                              </m:r>
                            </m:sub>
                          </m:sSub>
                        </m:den>
                      </m:f>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5%</m:t>
                      </m:r>
                      <m:d>
                        <m:dPr>
                          <m:ctrlPr>
                            <a:rPr lang="en-US" b="0" i="1">
                              <a:solidFill>
                                <a:schemeClr val="tx1"/>
                              </a:solidFill>
                              <a:latin typeface="Cambria Math" panose="02040503050406030204" pitchFamily="18" charset="0"/>
                              <a:ea typeface="Cambria Math" panose="02040503050406030204" pitchFamily="18" charset="0"/>
                            </a:rPr>
                          </m:ctrlPr>
                        </m:dPr>
                        <m:e>
                          <m:f>
                            <m:fPr>
                              <m:ctrlPr>
                                <a:rPr lang="en-US" b="0"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50</m:t>
                              </m:r>
                            </m:num>
                            <m:den>
                              <m:r>
                                <a:rPr lang="en-US" b="0" i="1">
                                  <a:solidFill>
                                    <a:schemeClr val="tx1"/>
                                  </a:solidFill>
                                  <a:latin typeface="Cambria Math" panose="02040503050406030204" pitchFamily="18" charset="0"/>
                                  <a:ea typeface="Cambria Math" panose="02040503050406030204" pitchFamily="18" charset="0"/>
                                </a:rPr>
                                <m:t>50</m:t>
                              </m:r>
                            </m:den>
                          </m:f>
                        </m:e>
                      </m:d>
                      <m:r>
                        <a:rPr lang="en-US" b="0" i="1">
                          <a:solidFill>
                            <a:schemeClr val="tx1"/>
                          </a:solidFill>
                          <a:latin typeface="Cambria Math" panose="02040503050406030204" pitchFamily="18" charset="0"/>
                          <a:ea typeface="Cambria Math" panose="02040503050406030204" pitchFamily="18" charset="0"/>
                        </a:rPr>
                        <m:t>=−5%</m:t>
                      </m:r>
                    </m:oMath>
                  </m:oMathPara>
                </a14:m>
                <a:endParaRPr lang="en-US" altLang="en-US" b="0" dirty="0">
                  <a:solidFill>
                    <a:schemeClr val="tx1"/>
                  </a:solidFill>
                  <a:latin typeface="+mn-lt"/>
                </a:endParaRPr>
              </a:p>
            </p:txBody>
          </p:sp>
        </mc:Choice>
        <mc:Fallback xmlns="">
          <p:sp>
            <p:nvSpPr>
              <p:cNvPr id="25" name="Content Placeholder 24">
                <a:extLst>
                  <a:ext uri="{FF2B5EF4-FFF2-40B4-BE49-F238E27FC236}">
                    <a16:creationId xmlns:a16="http://schemas.microsoft.com/office/drawing/2014/main" id="{618540FE-44D1-454C-ADA4-2D200CD83CBB}"/>
                  </a:ext>
                </a:extLst>
              </p:cNvPr>
              <p:cNvSpPr>
                <a:spLocks noGrp="1" noRot="1" noChangeAspect="1" noMove="1" noResize="1" noEditPoints="1" noAdjustHandles="1" noChangeArrowheads="1" noChangeShapeType="1" noTextEdit="1"/>
              </p:cNvSpPr>
              <p:nvPr>
                <p:ph sz="quarter" idx="16"/>
              </p:nvPr>
            </p:nvSpPr>
            <p:spPr>
              <a:xfrm>
                <a:off x="4571999" y="4525679"/>
                <a:ext cx="4088889" cy="1788857"/>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8912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133CB-43E2-4C5D-959D-8F9C8090EA63}"/>
              </a:ext>
            </a:extLst>
          </p:cNvPr>
          <p:cNvSpPr>
            <a:spLocks noGrp="1"/>
          </p:cNvSpPr>
          <p:nvPr>
            <p:ph type="title"/>
          </p:nvPr>
        </p:nvSpPr>
        <p:spPr/>
        <p:txBody>
          <a:bodyPr>
            <a:normAutofit/>
          </a:bodyPr>
          <a:lstStyle/>
          <a:p>
            <a:r>
              <a:rPr lang="en-US" sz="3600" dirty="0"/>
              <a:t>3) Earnings of Capital and Land (part 7)</a:t>
            </a:r>
            <a:endParaRPr lang="en-IN" sz="3600" dirty="0"/>
          </a:p>
        </p:txBody>
      </p:sp>
      <p:sp>
        <p:nvSpPr>
          <p:cNvPr id="3" name="Content Placeholder 2">
            <a:extLst>
              <a:ext uri="{FF2B5EF4-FFF2-40B4-BE49-F238E27FC236}">
                <a16:creationId xmlns:a16="http://schemas.microsoft.com/office/drawing/2014/main" id="{6317C2E2-7D4A-4AB8-A3CE-B6F8388A7AB0}"/>
              </a:ext>
            </a:extLst>
          </p:cNvPr>
          <p:cNvSpPr>
            <a:spLocks noGrp="1"/>
          </p:cNvSpPr>
          <p:nvPr>
            <p:ph idx="1"/>
          </p:nvPr>
        </p:nvSpPr>
        <p:spPr>
          <a:xfrm>
            <a:off x="457200" y="1418896"/>
            <a:ext cx="8402128" cy="1440791"/>
          </a:xfrm>
        </p:spPr>
        <p:txBody>
          <a:bodyPr>
            <a:normAutofit/>
          </a:bodyPr>
          <a:lstStyle/>
          <a:p>
            <a:pPr marL="0" indent="0">
              <a:buNone/>
            </a:pPr>
            <a:r>
              <a:rPr lang="en-US" altLang="en-US" sz="2000" dirty="0">
                <a:latin typeface="+mn-lt"/>
              </a:rPr>
              <a:t>General Equation for the Change in Factor Prices</a:t>
            </a:r>
            <a:endParaRPr lang="en-US" altLang="en-US" sz="2000" b="0" dirty="0">
              <a:latin typeface="+mn-lt"/>
            </a:endParaRPr>
          </a:p>
          <a:p>
            <a:pPr marL="0" indent="0">
              <a:buNone/>
            </a:pPr>
            <a:r>
              <a:rPr lang="en-US" altLang="en-US" sz="2000" b="0" dirty="0">
                <a:latin typeface="+mn-lt"/>
              </a:rPr>
              <a:t>These equations summarize the response of all three factor prices in the short run, when capital and land are specific to each sector but labor is mobile.</a:t>
            </a:r>
            <a:endParaRPr lang="en-US" altLang="en-US" sz="2000" dirty="0">
              <a:latin typeface="+mn-lt"/>
            </a:endParaRP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2B7DF27C-7E08-4C04-A04F-8355F8980634}"/>
                  </a:ext>
                </a:extLst>
              </p:cNvPr>
              <p:cNvSpPr>
                <a:spLocks noGrp="1"/>
              </p:cNvSpPr>
              <p:nvPr>
                <p:ph sz="quarter" idx="12"/>
              </p:nvPr>
            </p:nvSpPr>
            <p:spPr>
              <a:xfrm>
                <a:off x="457200" y="2859688"/>
                <a:ext cx="8229600" cy="893574"/>
              </a:xfrm>
            </p:spPr>
            <p:txBody>
              <a:bodyPr>
                <a:noAutofit/>
              </a:bodyPr>
              <a:lstStyle/>
              <a:p>
                <a:pPr marL="0" indent="0" algn="ctr">
                  <a:buNone/>
                </a:pPr>
                <a14:m>
                  <m:oMath xmlns:m="http://schemas.openxmlformats.org/officeDocument/2006/math">
                    <m:limLow>
                      <m:limLowPr>
                        <m:ctrlPr>
                          <a:rPr lang="en-US" sz="1600" i="1" smtClean="0">
                            <a:solidFill>
                              <a:schemeClr val="tx1"/>
                            </a:solidFill>
                            <a:latin typeface="Cambria Math" panose="02040503050406030204" pitchFamily="18" charset="0"/>
                          </a:rPr>
                        </m:ctrlPr>
                      </m:limLowPr>
                      <m:e>
                        <m:groupChr>
                          <m:groupChrPr>
                            <m:chr m:val="⏟"/>
                            <m:ctrlPr>
                              <a:rPr lang="en-US" sz="1600" i="1" smtClean="0">
                                <a:solidFill>
                                  <a:schemeClr val="tx1"/>
                                </a:solidFill>
                                <a:latin typeface="Cambria Math" panose="02040503050406030204" pitchFamily="18" charset="0"/>
                              </a:rPr>
                            </m:ctrlPr>
                          </m:groupChrPr>
                          <m:e>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𝑇</m:t>
                                </m:r>
                              </m:sub>
                            </m:sSub>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𝑇</m:t>
                                </m:r>
                              </m:sub>
                            </m:sSub>
                            <m:r>
                              <a:rPr lang="en-US" sz="1600" i="1" smtClean="0">
                                <a:solidFill>
                                  <a:schemeClr val="tx1"/>
                                </a:solidFill>
                                <a:latin typeface="Cambria Math" panose="02040503050406030204" pitchFamily="18" charset="0"/>
                                <a:ea typeface="Cambria Math" panose="02040503050406030204" pitchFamily="18" charset="0"/>
                              </a:rPr>
                              <m:t>&lt;0</m:t>
                            </m:r>
                          </m:e>
                        </m:groupChr>
                      </m:e>
                      <m:lim>
                        <m:eqArr>
                          <m:eqArrPr>
                            <m:ctrlPr>
                              <a:rPr lang="en-US" sz="1600" i="1" smtClean="0">
                                <a:solidFill>
                                  <a:schemeClr val="tx1"/>
                                </a:solidFill>
                                <a:latin typeface="Cambria Math" panose="02040503050406030204" pitchFamily="18" charset="0"/>
                              </a:rPr>
                            </m:ctrlPr>
                          </m:eqArrPr>
                          <m:e/>
                          <m:e>
                            <m:r>
                              <a:rPr lang="en-US" sz="1600" i="1" smtClean="0">
                                <a:solidFill>
                                  <a:schemeClr val="tx1"/>
                                </a:solidFill>
                                <a:latin typeface="Cambria Math" panose="02040503050406030204" pitchFamily="18" charset="0"/>
                              </a:rPr>
                              <m:t>𝑅𝑒𝑎𝑙</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𝑟𝑒𝑛𝑡𝑎𝑙</m:t>
                            </m:r>
                            <m:r>
                              <a:rPr lang="en-US" sz="1600" i="1" smtClean="0">
                                <a:solidFill>
                                  <a:schemeClr val="tx1"/>
                                </a:solidFill>
                                <a:latin typeface="Cambria Math" panose="02040503050406030204" pitchFamily="18" charset="0"/>
                              </a:rPr>
                              <m:t> </m:t>
                            </m:r>
                          </m:e>
                          <m:e>
                            <m:r>
                              <a:rPr lang="en-US" sz="1600" i="1" smtClean="0">
                                <a:solidFill>
                                  <a:schemeClr val="tx1"/>
                                </a:solidFill>
                                <a:latin typeface="Cambria Math" panose="02040503050406030204" pitchFamily="18" charset="0"/>
                              </a:rPr>
                              <m:t>𝑜𝑛</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𝑙𝑎𝑛𝑑</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𝑓𝑎𝑙𝑙𝑠</m:t>
                            </m:r>
                          </m:e>
                        </m:eqArr>
                      </m:lim>
                    </m:limLow>
                  </m:oMath>
                </a14:m>
                <a:r>
                  <a:rPr lang="en-US" sz="1600" dirty="0">
                    <a:solidFill>
                      <a:schemeClr val="tx1"/>
                    </a:solidFill>
                    <a:latin typeface="+mn-lt"/>
                  </a:rPr>
                  <a:t> </a:t>
                </a:r>
                <a14:m>
                  <m:oMath xmlns:m="http://schemas.openxmlformats.org/officeDocument/2006/math">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r>
                                  <a:rPr lang="en-US" sz="1600" i="1" dirty="0" smtClean="0">
                                    <a:solidFill>
                                      <a:schemeClr val="tx1"/>
                                    </a:solidFill>
                                    <a:latin typeface="Cambria Math" panose="02040503050406030204" pitchFamily="18" charset="0"/>
                                    <a:ea typeface="Cambria Math" panose="02040503050406030204" pitchFamily="18" charset="0"/>
                                  </a:rPr>
                                  <m:t>∆</m:t>
                                </m:r>
                                <m:r>
                                  <a:rPr lang="en-US" sz="1600" i="1" dirty="0" smtClean="0">
                                    <a:solidFill>
                                      <a:schemeClr val="tx1"/>
                                    </a:solidFill>
                                    <a:latin typeface="Cambria Math" panose="02040503050406030204" pitchFamily="18" charset="0"/>
                                    <a:ea typeface="Cambria Math" panose="02040503050406030204" pitchFamily="18" charset="0"/>
                                  </a:rPr>
                                  <m:t>𝑊</m:t>
                                </m:r>
                              </m:num>
                              <m:den>
                                <m:r>
                                  <a:rPr lang="en-US" sz="1600" i="1" dirty="0" smtClean="0">
                                    <a:solidFill>
                                      <a:schemeClr val="tx1"/>
                                    </a:solidFill>
                                    <a:latin typeface="Cambria Math" panose="02040503050406030204" pitchFamily="18" charset="0"/>
                                    <a:ea typeface="Cambria Math" panose="02040503050406030204" pitchFamily="18" charset="0"/>
                                  </a:rPr>
                                  <m:t>𝑊</m:t>
                                </m:r>
                                <m:r>
                                  <a:rPr lang="en-US" sz="1600" i="1" dirty="0" smtClean="0">
                                    <a:solidFill>
                                      <a:schemeClr val="tx1"/>
                                    </a:solidFill>
                                    <a:latin typeface="Cambria Math" panose="02040503050406030204" pitchFamily="18" charset="0"/>
                                    <a:ea typeface="Cambria Math" panose="02040503050406030204" pitchFamily="18" charset="0"/>
                                  </a:rPr>
                                  <m:t>&lt;∆</m:t>
                                </m:r>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𝑃</m:t>
                                    </m:r>
                                  </m:e>
                                  <m:sub>
                                    <m:r>
                                      <a:rPr lang="en-US" sz="1600" i="1" dirty="0" smtClean="0">
                                        <a:solidFill>
                                          <a:schemeClr val="tx1"/>
                                        </a:solidFill>
                                        <a:latin typeface="Cambria Math" panose="02040503050406030204" pitchFamily="18" charset="0"/>
                                        <a:ea typeface="Cambria Math" panose="02040503050406030204" pitchFamily="18" charset="0"/>
                                      </a:rPr>
                                      <m:t>𝑀</m:t>
                                    </m:r>
                                  </m:sub>
                                </m:sSub>
                                <m:r>
                                  <a:rPr lang="en-US" sz="1600" i="1" dirty="0" smtClean="0">
                                    <a:solidFill>
                                      <a:schemeClr val="tx1"/>
                                    </a:solidFill>
                                    <a:latin typeface="Cambria Math" panose="02040503050406030204" pitchFamily="18" charset="0"/>
                                    <a:ea typeface="Cambria Math" panose="02040503050406030204" pitchFamily="18" charset="0"/>
                                  </a:rPr>
                                  <m:t>/</m:t>
                                </m:r>
                              </m:den>
                            </m:f>
                          </m:e>
                        </m:groupChr>
                      </m:e>
                      <m:lim>
                        <m:eqArr>
                          <m:eqArrPr>
                            <m:ctrlPr>
                              <a:rPr lang="en-US" sz="1600" i="1" dirty="0" smtClean="0">
                                <a:solidFill>
                                  <a:schemeClr val="tx1"/>
                                </a:solidFill>
                                <a:latin typeface="Cambria Math" panose="02040503050406030204" pitchFamily="18" charset="0"/>
                              </a:rPr>
                            </m:ctrlPr>
                          </m:eqArrPr>
                          <m:e/>
                          <m:e>
                            <m:r>
                              <a:rPr lang="en-US" sz="1600" i="1" dirty="0" smtClean="0">
                                <a:solidFill>
                                  <a:schemeClr val="tx1"/>
                                </a:solidFill>
                                <a:latin typeface="Cambria Math" panose="02040503050406030204" pitchFamily="18" charset="0"/>
                              </a:rPr>
                              <m:t>𝐶h𝑎𝑛𝑔𝑒</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𝑖𝑛</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𝑡h𝑒</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𝑟𝑒𝑎𝑙</m:t>
                            </m:r>
                          </m:e>
                          <m:e>
                            <m:r>
                              <a:rPr lang="en-US" sz="1600" i="1" dirty="0" smtClean="0">
                                <a:solidFill>
                                  <a:schemeClr val="tx1"/>
                                </a:solidFill>
                                <a:latin typeface="Cambria Math" panose="02040503050406030204" pitchFamily="18" charset="0"/>
                              </a:rPr>
                              <m:t>𝑤𝑎𝑔𝑒</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𝑖𝑠</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𝑎𝑚𝑏𝑖𝑔𝑢𝑜𝑢𝑠</m:t>
                            </m:r>
                          </m:e>
                        </m:eqArr>
                      </m:lim>
                    </m:limLow>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sSub>
                              <m:sSubPr>
                                <m:ctrlPr>
                                  <a:rPr lang="en-US" sz="1600" i="1" dirty="0" smtClean="0">
                                    <a:solidFill>
                                      <a:schemeClr val="tx1"/>
                                    </a:solidFill>
                                    <a:latin typeface="Cambria Math" panose="02040503050406030204" pitchFamily="18" charset="0"/>
                                  </a:rPr>
                                </m:ctrlPr>
                              </m:sSubPr>
                              <m:e>
                                <m:r>
                                  <a:rPr lang="en-US" sz="1600" i="1" dirty="0" smtClean="0">
                                    <a:solidFill>
                                      <a:schemeClr val="tx1"/>
                                    </a:solidFill>
                                    <a:latin typeface="Cambria Math" panose="02040503050406030204" pitchFamily="18" charset="0"/>
                                  </a:rPr>
                                  <m:t>𝑃</m:t>
                                </m:r>
                              </m:e>
                              <m:sub>
                                <m:r>
                                  <a:rPr lang="en-US" sz="1600" i="1" dirty="0" smtClean="0">
                                    <a:solidFill>
                                      <a:schemeClr val="tx1"/>
                                    </a:solidFill>
                                    <a:latin typeface="Cambria Math" panose="02040503050406030204" pitchFamily="18" charset="0"/>
                                  </a:rPr>
                                  <m:t>𝑀</m:t>
                                </m:r>
                              </m:sub>
                            </m:sSub>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𝐾</m:t>
                                    </m:r>
                                  </m:sub>
                                </m:sSub>
                              </m:num>
                              <m:den>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𝐾</m:t>
                                    </m:r>
                                  </m:sub>
                                </m:sSub>
                              </m:den>
                            </m:f>
                          </m:e>
                        </m:groupChr>
                      </m:e>
                      <m:lim>
                        <m:eqArr>
                          <m:eqArrPr>
                            <m:ctrlPr>
                              <a:rPr lang="en-US" sz="1600" i="1" dirty="0" smtClean="0">
                                <a:solidFill>
                                  <a:schemeClr val="tx1"/>
                                </a:solidFill>
                                <a:latin typeface="Cambria Math" panose="02040503050406030204" pitchFamily="18" charset="0"/>
                              </a:rPr>
                            </m:ctrlPr>
                          </m:eqArrPr>
                          <m:e/>
                          <m:e>
                            <m:r>
                              <a:rPr lang="en-US" sz="1600" i="1" dirty="0" smtClean="0">
                                <a:solidFill>
                                  <a:schemeClr val="tx1"/>
                                </a:solidFill>
                                <a:latin typeface="Cambria Math" panose="02040503050406030204" pitchFamily="18" charset="0"/>
                              </a:rPr>
                              <m:t>𝑅𝑒𝑎𝑙</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𝑟𝑒𝑛𝑡𝑎𝑙</m:t>
                            </m:r>
                          </m:e>
                          <m:e>
                            <m:r>
                              <a:rPr lang="en-US" sz="1600" i="1" dirty="0" smtClean="0">
                                <a:solidFill>
                                  <a:schemeClr val="tx1"/>
                                </a:solidFill>
                                <a:latin typeface="Cambria Math" panose="02040503050406030204" pitchFamily="18" charset="0"/>
                              </a:rPr>
                              <m:t>𝑜𝑛</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𝑐𝑎𝑝𝑖𝑡𝑎𝑙</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𝑟𝑖𝑠𝑒𝑠</m:t>
                            </m:r>
                          </m:e>
                        </m:eqArr>
                      </m:lim>
                    </m:limLow>
                  </m:oMath>
                </a14:m>
                <a:r>
                  <a:rPr lang="en-US" sz="1600" dirty="0">
                    <a:solidFill>
                      <a:schemeClr val="tx1"/>
                    </a:solidFill>
                    <a:latin typeface="+mn-lt"/>
                  </a:rPr>
                  <a:t>, </a:t>
                </a:r>
                <a:r>
                  <a:rPr lang="en-US" sz="1600" b="0" dirty="0">
                    <a:solidFill>
                      <a:schemeClr val="tx1"/>
                    </a:solidFill>
                    <a:latin typeface="+mn-lt"/>
                  </a:rPr>
                  <a:t>for an increase in </a:t>
                </a:r>
                <a14:m>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i="1" smtClean="0">
                            <a:solidFill>
                              <a:schemeClr val="tx1"/>
                            </a:solidFill>
                            <a:latin typeface="Cambria Math" panose="02040503050406030204" pitchFamily="18" charset="0"/>
                          </a:rPr>
                          <m:t>𝑃</m:t>
                        </m:r>
                      </m:e>
                      <m:sub>
                        <m:r>
                          <a:rPr lang="en-US" sz="1600" i="1" smtClean="0">
                            <a:solidFill>
                              <a:schemeClr val="tx1"/>
                            </a:solidFill>
                            <a:latin typeface="Cambria Math" panose="02040503050406030204" pitchFamily="18" charset="0"/>
                          </a:rPr>
                          <m:t>𝑀</m:t>
                        </m:r>
                      </m:sub>
                    </m:sSub>
                  </m:oMath>
                </a14:m>
                <a:endParaRPr lang="en-IN" sz="1600" dirty="0">
                  <a:latin typeface="+mn-lt"/>
                </a:endParaRPr>
              </a:p>
            </p:txBody>
          </p:sp>
        </mc:Choice>
        <mc:Fallback xmlns="">
          <p:sp>
            <p:nvSpPr>
              <p:cNvPr id="6" name="Content Placeholder 5">
                <a:extLst>
                  <a:ext uri="{FF2B5EF4-FFF2-40B4-BE49-F238E27FC236}">
                    <a16:creationId xmlns:a16="http://schemas.microsoft.com/office/drawing/2014/main" id="{2B7DF27C-7E08-4C04-A04F-8355F8980634}"/>
                  </a:ext>
                </a:extLst>
              </p:cNvPr>
              <p:cNvSpPr>
                <a:spLocks noGrp="1" noRot="1" noChangeAspect="1" noMove="1" noResize="1" noEditPoints="1" noAdjustHandles="1" noChangeArrowheads="1" noChangeShapeType="1" noTextEdit="1"/>
              </p:cNvSpPr>
              <p:nvPr>
                <p:ph sz="quarter" idx="12"/>
              </p:nvPr>
            </p:nvSpPr>
            <p:spPr>
              <a:xfrm>
                <a:off x="457200" y="2859688"/>
                <a:ext cx="8229600" cy="893574"/>
              </a:xfrm>
              <a:blipFill>
                <a:blip r:embed="rId2"/>
                <a:stretch>
                  <a:fillRect t="-38095" b="-3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F5919ACA-C2AA-4AC3-9A7F-1D95D5C3F30A}"/>
                  </a:ext>
                </a:extLst>
              </p:cNvPr>
              <p:cNvSpPr>
                <a:spLocks noGrp="1"/>
              </p:cNvSpPr>
              <p:nvPr>
                <p:ph sz="quarter" idx="13"/>
              </p:nvPr>
            </p:nvSpPr>
            <p:spPr>
              <a:xfrm>
                <a:off x="629729" y="3919996"/>
                <a:ext cx="8229599" cy="893574"/>
              </a:xfrm>
            </p:spPr>
            <p:txBody>
              <a:bodyPr>
                <a:noAutofit/>
              </a:bodyPr>
              <a:lstStyle/>
              <a:p>
                <a:pPr marL="0" indent="0" algn="ctr">
                  <a:buNone/>
                </a:pPr>
                <a14:m>
                  <m:oMath xmlns:m="http://schemas.openxmlformats.org/officeDocument/2006/math">
                    <m:limLow>
                      <m:limLowPr>
                        <m:ctrlPr>
                          <a:rPr lang="en-US" sz="1600" i="1" smtClean="0">
                            <a:solidFill>
                              <a:schemeClr val="tx1"/>
                            </a:solidFill>
                            <a:latin typeface="Cambria Math" panose="02040503050406030204" pitchFamily="18" charset="0"/>
                          </a:rPr>
                        </m:ctrlPr>
                      </m:limLowPr>
                      <m:e>
                        <m:groupChr>
                          <m:groupChrPr>
                            <m:chr m:val="⏟"/>
                            <m:ctrlPr>
                              <a:rPr lang="en-US" sz="1600" i="1" smtClean="0">
                                <a:solidFill>
                                  <a:schemeClr val="tx1"/>
                                </a:solidFill>
                                <a:latin typeface="Cambria Math" panose="02040503050406030204" pitchFamily="18" charset="0"/>
                              </a:rPr>
                            </m:ctrlPr>
                          </m:groupChrPr>
                          <m:e>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𝐾</m:t>
                                </m:r>
                              </m:sub>
                            </m:sSub>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𝐾</m:t>
                                </m:r>
                              </m:sub>
                            </m:sSub>
                            <m:r>
                              <a:rPr lang="en-US" sz="1600" i="1" smtClean="0">
                                <a:solidFill>
                                  <a:schemeClr val="tx1"/>
                                </a:solidFill>
                                <a:latin typeface="Cambria Math" panose="02040503050406030204" pitchFamily="18" charset="0"/>
                                <a:ea typeface="Cambria Math" panose="02040503050406030204" pitchFamily="18" charset="0"/>
                              </a:rPr>
                              <m:t>&lt;∆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𝑃</m:t>
                                </m:r>
                              </m:e>
                              <m:sub>
                                <m:r>
                                  <a:rPr lang="en-US" sz="1600" i="1" smtClean="0">
                                    <a:solidFill>
                                      <a:schemeClr val="tx1"/>
                                    </a:solidFill>
                                    <a:latin typeface="Cambria Math" panose="02040503050406030204" pitchFamily="18" charset="0"/>
                                    <a:ea typeface="Cambria Math" panose="02040503050406030204" pitchFamily="18" charset="0"/>
                                  </a:rPr>
                                  <m:t>𝑀</m:t>
                                </m:r>
                              </m:sub>
                            </m:sSub>
                          </m:e>
                        </m:groupChr>
                      </m:e>
                      <m:lim>
                        <m:eqArr>
                          <m:eqArrPr>
                            <m:ctrlPr>
                              <a:rPr lang="en-US" sz="1600" i="1" smtClean="0">
                                <a:solidFill>
                                  <a:schemeClr val="tx1"/>
                                </a:solidFill>
                                <a:latin typeface="Cambria Math" panose="02040503050406030204" pitchFamily="18" charset="0"/>
                              </a:rPr>
                            </m:ctrlPr>
                          </m:eqArrPr>
                          <m:e/>
                          <m:e>
                            <m:r>
                              <m:rPr>
                                <m:sty m:val="p"/>
                              </m:rPr>
                              <a:rPr lang="en-US" sz="1600" smtClean="0">
                                <a:solidFill>
                                  <a:schemeClr val="tx1"/>
                                </a:solidFill>
                                <a:latin typeface="Cambria Math" panose="02040503050406030204" pitchFamily="18" charset="0"/>
                              </a:rPr>
                              <m:t>Real</m:t>
                            </m:r>
                            <m:r>
                              <a:rPr lang="en-US" sz="1600" smtClean="0">
                                <a:solidFill>
                                  <a:schemeClr val="tx1"/>
                                </a:solidFill>
                                <a:latin typeface="Cambria Math" panose="02040503050406030204" pitchFamily="18" charset="0"/>
                              </a:rPr>
                              <m:t> </m:t>
                            </m:r>
                            <m:r>
                              <m:rPr>
                                <m:sty m:val="p"/>
                              </m:rPr>
                              <a:rPr lang="en-US" sz="1600" smtClean="0">
                                <a:solidFill>
                                  <a:schemeClr val="tx1"/>
                                </a:solidFill>
                                <a:latin typeface="Cambria Math" panose="02040503050406030204" pitchFamily="18" charset="0"/>
                              </a:rPr>
                              <m:t>rental</m:t>
                            </m:r>
                          </m:e>
                          <m:e>
                            <m:r>
                              <m:rPr>
                                <m:sty m:val="p"/>
                              </m:rPr>
                              <a:rPr lang="en-US" sz="1600" smtClean="0">
                                <a:solidFill>
                                  <a:schemeClr val="tx1"/>
                                </a:solidFill>
                                <a:latin typeface="Cambria Math" panose="02040503050406030204" pitchFamily="18" charset="0"/>
                              </a:rPr>
                              <m:t>on</m:t>
                            </m:r>
                            <m:r>
                              <a:rPr lang="en-US" sz="1600" smtClean="0">
                                <a:solidFill>
                                  <a:schemeClr val="tx1"/>
                                </a:solidFill>
                                <a:latin typeface="Cambria Math" panose="02040503050406030204" pitchFamily="18" charset="0"/>
                              </a:rPr>
                              <m:t> </m:t>
                            </m:r>
                            <m:r>
                              <m:rPr>
                                <m:sty m:val="p"/>
                              </m:rPr>
                              <a:rPr lang="en-US" sz="1600" smtClean="0">
                                <a:solidFill>
                                  <a:schemeClr val="tx1"/>
                                </a:solidFill>
                                <a:latin typeface="Cambria Math" panose="02040503050406030204" pitchFamily="18" charset="0"/>
                              </a:rPr>
                              <m:t>capital</m:t>
                            </m:r>
                            <m:r>
                              <a:rPr lang="en-US" sz="1600" smtClean="0">
                                <a:solidFill>
                                  <a:schemeClr val="tx1"/>
                                </a:solidFill>
                                <a:latin typeface="Cambria Math" panose="02040503050406030204" pitchFamily="18" charset="0"/>
                              </a:rPr>
                              <m:t> </m:t>
                            </m:r>
                            <m:r>
                              <m:rPr>
                                <m:sty m:val="p"/>
                              </m:rPr>
                              <a:rPr lang="en-US" sz="1600" smtClean="0">
                                <a:solidFill>
                                  <a:schemeClr val="tx1"/>
                                </a:solidFill>
                                <a:latin typeface="Cambria Math" panose="02040503050406030204" pitchFamily="18" charset="0"/>
                              </a:rPr>
                              <m:t>falls</m:t>
                            </m:r>
                          </m:e>
                        </m:eqArr>
                      </m:lim>
                    </m:limLow>
                  </m:oMath>
                </a14:m>
                <a:r>
                  <a:rPr lang="en-US" sz="1600" dirty="0">
                    <a:solidFill>
                      <a:schemeClr val="tx1"/>
                    </a:solidFill>
                    <a:latin typeface="+mn-lt"/>
                  </a:rPr>
                  <a:t>/</a:t>
                </a:r>
                <a14:m>
                  <m:oMath xmlns:m="http://schemas.openxmlformats.org/officeDocument/2006/math">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sSub>
                              <m:sSubPr>
                                <m:ctrlPr>
                                  <a:rPr lang="en-US" sz="1600" i="1" dirty="0" smtClean="0">
                                    <a:solidFill>
                                      <a:schemeClr val="tx1"/>
                                    </a:solidFill>
                                    <a:latin typeface="Cambria Math" panose="02040503050406030204" pitchFamily="18" charset="0"/>
                                  </a:rPr>
                                </m:ctrlPr>
                              </m:sSubPr>
                              <m:e>
                                <m:r>
                                  <a:rPr lang="en-US" sz="1600" i="1" dirty="0" smtClean="0">
                                    <a:solidFill>
                                      <a:schemeClr val="tx1"/>
                                    </a:solidFill>
                                    <a:latin typeface="Cambria Math" panose="02040503050406030204" pitchFamily="18" charset="0"/>
                                  </a:rPr>
                                  <m:t>𝑃</m:t>
                                </m:r>
                              </m:e>
                              <m:sub>
                                <m:r>
                                  <a:rPr lang="en-US" sz="1600" i="1" dirty="0" smtClean="0">
                                    <a:solidFill>
                                      <a:schemeClr val="tx1"/>
                                    </a:solidFill>
                                    <a:latin typeface="Cambria Math" panose="02040503050406030204" pitchFamily="18" charset="0"/>
                                  </a:rPr>
                                  <m:t>𝑀</m:t>
                                </m:r>
                              </m:sub>
                            </m:sSub>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r>
                                  <a:rPr lang="en-US" sz="1600" i="1" dirty="0" smtClean="0">
                                    <a:solidFill>
                                      <a:schemeClr val="tx1"/>
                                    </a:solidFill>
                                    <a:latin typeface="Cambria Math" panose="02040503050406030204" pitchFamily="18" charset="0"/>
                                    <a:ea typeface="Cambria Math" panose="02040503050406030204" pitchFamily="18" charset="0"/>
                                  </a:rPr>
                                  <m:t>𝑊</m:t>
                                </m:r>
                              </m:num>
                              <m:den>
                                <m:r>
                                  <a:rPr lang="en-US" sz="1600" i="1" dirty="0" smtClean="0">
                                    <a:solidFill>
                                      <a:schemeClr val="tx1"/>
                                    </a:solidFill>
                                    <a:latin typeface="Cambria Math" panose="02040503050406030204" pitchFamily="18" charset="0"/>
                                    <a:ea typeface="Cambria Math" panose="02040503050406030204" pitchFamily="18" charset="0"/>
                                  </a:rPr>
                                  <m:t>𝑊</m:t>
                                </m:r>
                                <m:r>
                                  <a:rPr lang="en-US" sz="1600" i="1" dirty="0" smtClean="0">
                                    <a:solidFill>
                                      <a:schemeClr val="tx1"/>
                                    </a:solidFill>
                                    <a:latin typeface="Cambria Math" panose="02040503050406030204" pitchFamily="18" charset="0"/>
                                    <a:ea typeface="Cambria Math" panose="02040503050406030204" pitchFamily="18" charset="0"/>
                                  </a:rPr>
                                  <m:t>&lt;0</m:t>
                                </m:r>
                              </m:den>
                            </m:f>
                          </m:e>
                        </m:groupChr>
                      </m:e>
                      <m:lim>
                        <m:eqArr>
                          <m:eqArrPr>
                            <m:ctrlPr>
                              <a:rPr lang="en-US" sz="1600" i="1" dirty="0" smtClean="0">
                                <a:solidFill>
                                  <a:schemeClr val="tx1"/>
                                </a:solidFill>
                                <a:latin typeface="Cambria Math" panose="02040503050406030204" pitchFamily="18" charset="0"/>
                              </a:rPr>
                            </m:ctrlPr>
                          </m:eqArrPr>
                          <m:e/>
                          <m:e>
                            <m:r>
                              <m:rPr>
                                <m:sty m:val="p"/>
                              </m:rPr>
                              <a:rPr lang="en-US" sz="1600" dirty="0" smtClean="0">
                                <a:solidFill>
                                  <a:schemeClr val="tx1"/>
                                </a:solidFill>
                                <a:latin typeface="Cambria Math" panose="02040503050406030204" pitchFamily="18" charset="0"/>
                              </a:rPr>
                              <m:t>Change</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in</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the</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real</m:t>
                            </m:r>
                          </m:e>
                          <m:e>
                            <m:r>
                              <m:rPr>
                                <m:sty m:val="p"/>
                              </m:rPr>
                              <a:rPr lang="en-US" sz="1600" dirty="0" smtClean="0">
                                <a:solidFill>
                                  <a:schemeClr val="tx1"/>
                                </a:solidFill>
                                <a:latin typeface="Cambria Math" panose="02040503050406030204" pitchFamily="18" charset="0"/>
                              </a:rPr>
                              <m:t>wage</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is</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ambiguous</m:t>
                            </m:r>
                          </m:e>
                        </m:eqArr>
                      </m:lim>
                    </m:limLow>
                    <m:r>
                      <a:rPr lang="en-US" sz="1600" i="1" dirty="0" smtClean="0">
                        <a:solidFill>
                          <a:schemeClr val="tx1"/>
                        </a:solidFill>
                        <a:latin typeface="Cambria Math" panose="02040503050406030204" pitchFamily="18" charset="0"/>
                      </a:rPr>
                      <m:t> </m:t>
                    </m:r>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𝑇</m:t>
                                    </m:r>
                                  </m:sub>
                                </m:sSub>
                              </m:num>
                              <m:den>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𝑇</m:t>
                                    </m:r>
                                  </m:sub>
                                </m:sSub>
                              </m:den>
                            </m:f>
                          </m:e>
                        </m:groupChr>
                      </m:e>
                      <m:lim>
                        <m:eqArr>
                          <m:eqArrPr>
                            <m:ctrlPr>
                              <a:rPr lang="en-US" sz="1600" i="1" dirty="0" smtClean="0">
                                <a:solidFill>
                                  <a:schemeClr val="tx1"/>
                                </a:solidFill>
                                <a:latin typeface="Cambria Math" panose="02040503050406030204" pitchFamily="18" charset="0"/>
                              </a:rPr>
                            </m:ctrlPr>
                          </m:eqArrPr>
                          <m:e/>
                          <m:e>
                            <m:r>
                              <m:rPr>
                                <m:sty m:val="p"/>
                              </m:rPr>
                              <a:rPr lang="en-US" sz="1600" dirty="0" smtClean="0">
                                <a:solidFill>
                                  <a:schemeClr val="tx1"/>
                                </a:solidFill>
                                <a:latin typeface="Cambria Math" panose="02040503050406030204" pitchFamily="18" charset="0"/>
                              </a:rPr>
                              <m:t>Real</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rental</m:t>
                            </m:r>
                          </m:e>
                          <m:e>
                            <m:r>
                              <m:rPr>
                                <m:sty m:val="p"/>
                              </m:rPr>
                              <a:rPr lang="en-US" sz="1600" dirty="0" smtClean="0">
                                <a:solidFill>
                                  <a:schemeClr val="tx1"/>
                                </a:solidFill>
                                <a:latin typeface="Cambria Math" panose="02040503050406030204" pitchFamily="18" charset="0"/>
                              </a:rPr>
                              <m:t>on</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land</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rises</m:t>
                            </m:r>
                          </m:e>
                        </m:eqArr>
                      </m:lim>
                    </m:limLow>
                    <m:r>
                      <a:rPr lang="en-US" sz="1600" i="1" dirty="0" smtClean="0">
                        <a:solidFill>
                          <a:schemeClr val="tx1"/>
                        </a:solidFill>
                        <a:latin typeface="Cambria Math" panose="02040503050406030204" pitchFamily="18" charset="0"/>
                      </a:rPr>
                      <m:t>,</m:t>
                    </m:r>
                  </m:oMath>
                </a14:m>
                <a:r>
                  <a:rPr lang="en-US" sz="1600" dirty="0">
                    <a:solidFill>
                      <a:schemeClr val="tx1"/>
                    </a:solidFill>
                    <a:latin typeface="+mn-lt"/>
                  </a:rPr>
                  <a:t> </a:t>
                </a:r>
                <a:r>
                  <a:rPr lang="en-US" sz="1600" b="0" dirty="0">
                    <a:solidFill>
                      <a:schemeClr val="tx1"/>
                    </a:solidFill>
                    <a:latin typeface="+mn-lt"/>
                  </a:rPr>
                  <a:t>for a decrease in </a:t>
                </a:r>
                <a14:m>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i="1" smtClean="0">
                            <a:solidFill>
                              <a:schemeClr val="tx1"/>
                            </a:solidFill>
                            <a:latin typeface="Cambria Math" panose="02040503050406030204" pitchFamily="18" charset="0"/>
                          </a:rPr>
                          <m:t>𝑃</m:t>
                        </m:r>
                      </m:e>
                      <m:sub>
                        <m:r>
                          <a:rPr lang="en-US" sz="1600" i="1" smtClean="0">
                            <a:solidFill>
                              <a:schemeClr val="tx1"/>
                            </a:solidFill>
                            <a:latin typeface="Cambria Math" panose="02040503050406030204" pitchFamily="18" charset="0"/>
                          </a:rPr>
                          <m:t>𝑀</m:t>
                        </m:r>
                      </m:sub>
                    </m:sSub>
                  </m:oMath>
                </a14:m>
                <a:endParaRPr lang="en-IN" sz="1600" dirty="0">
                  <a:latin typeface="+mn-lt"/>
                </a:endParaRPr>
              </a:p>
            </p:txBody>
          </p:sp>
        </mc:Choice>
        <mc:Fallback xmlns="">
          <p:sp>
            <p:nvSpPr>
              <p:cNvPr id="7" name="Content Placeholder 6">
                <a:extLst>
                  <a:ext uri="{FF2B5EF4-FFF2-40B4-BE49-F238E27FC236}">
                    <a16:creationId xmlns:a16="http://schemas.microsoft.com/office/drawing/2014/main" id="{F5919ACA-C2AA-4AC3-9A7F-1D95D5C3F30A}"/>
                  </a:ext>
                </a:extLst>
              </p:cNvPr>
              <p:cNvSpPr>
                <a:spLocks noGrp="1" noRot="1" noChangeAspect="1" noMove="1" noResize="1" noEditPoints="1" noAdjustHandles="1" noChangeArrowheads="1" noChangeShapeType="1" noTextEdit="1"/>
              </p:cNvSpPr>
              <p:nvPr>
                <p:ph sz="quarter" idx="13"/>
              </p:nvPr>
            </p:nvSpPr>
            <p:spPr>
              <a:xfrm>
                <a:off x="629729" y="3919996"/>
                <a:ext cx="8229599" cy="893574"/>
              </a:xfrm>
              <a:blipFill>
                <a:blip r:embed="rId3"/>
                <a:stretch>
                  <a:fillRect t="-38095" b="-27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F2216EEF-C5D6-422F-BE35-B84F1B1A3887}"/>
                  </a:ext>
                </a:extLst>
              </p:cNvPr>
              <p:cNvSpPr>
                <a:spLocks noGrp="1"/>
              </p:cNvSpPr>
              <p:nvPr>
                <p:ph sz="quarter" idx="15"/>
              </p:nvPr>
            </p:nvSpPr>
            <p:spPr>
              <a:xfrm>
                <a:off x="861922" y="5149020"/>
                <a:ext cx="7824877" cy="1029549"/>
              </a:xfrm>
            </p:spPr>
            <p:txBody>
              <a:bodyPr>
                <a:normAutofit/>
              </a:bodyPr>
              <a:lstStyle/>
              <a:p>
                <a:pPr marL="0" indent="0" algn="ctr">
                  <a:buNone/>
                </a:pPr>
                <a14:m>
                  <m:oMath xmlns:m="http://schemas.openxmlformats.org/officeDocument/2006/math">
                    <m:limLow>
                      <m:limLowPr>
                        <m:ctrlPr>
                          <a:rPr lang="en-US" sz="1600" i="1" smtClean="0">
                            <a:solidFill>
                              <a:schemeClr val="tx1"/>
                            </a:solidFill>
                            <a:latin typeface="Cambria Math" panose="02040503050406030204" pitchFamily="18" charset="0"/>
                          </a:rPr>
                        </m:ctrlPr>
                      </m:limLowPr>
                      <m:e>
                        <m:groupChr>
                          <m:groupChrPr>
                            <m:chr m:val="⏟"/>
                            <m:ctrlPr>
                              <a:rPr lang="en-US" sz="1600" i="1" smtClean="0">
                                <a:solidFill>
                                  <a:schemeClr val="tx1"/>
                                </a:solidFill>
                                <a:latin typeface="Cambria Math" panose="02040503050406030204" pitchFamily="18" charset="0"/>
                              </a:rPr>
                            </m:ctrlPr>
                          </m:groupChrPr>
                          <m:e>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𝐾</m:t>
                                </m:r>
                              </m:sub>
                            </m:sSub>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𝐾</m:t>
                                </m:r>
                              </m:sub>
                            </m:sSub>
                            <m:r>
                              <a:rPr lang="en-US" sz="1600" i="1" smtClean="0">
                                <a:solidFill>
                                  <a:schemeClr val="tx1"/>
                                </a:solidFill>
                                <a:latin typeface="Cambria Math" panose="02040503050406030204" pitchFamily="18" charset="0"/>
                                <a:ea typeface="Cambria Math" panose="02040503050406030204" pitchFamily="18" charset="0"/>
                              </a:rPr>
                              <m:t>&lt;0</m:t>
                            </m:r>
                          </m:e>
                        </m:groupChr>
                      </m:e>
                      <m:lim>
                        <m:eqArr>
                          <m:eqArrPr>
                            <m:ctrlPr>
                              <a:rPr lang="en-US" sz="1600" i="1" smtClean="0">
                                <a:solidFill>
                                  <a:schemeClr val="tx1"/>
                                </a:solidFill>
                                <a:latin typeface="Cambria Math" panose="02040503050406030204" pitchFamily="18" charset="0"/>
                              </a:rPr>
                            </m:ctrlPr>
                          </m:eqArrPr>
                          <m:e/>
                          <m:e>
                            <m:r>
                              <a:rPr lang="en-US" sz="1600" i="1" smtClean="0">
                                <a:solidFill>
                                  <a:schemeClr val="tx1"/>
                                </a:solidFill>
                                <a:latin typeface="Cambria Math" panose="02040503050406030204" pitchFamily="18" charset="0"/>
                              </a:rPr>
                              <m:t>𝑅𝑒𝑎𝑙</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𝑟𝑒𝑛𝑡𝑎𝑙</m:t>
                            </m:r>
                          </m:e>
                          <m:e>
                            <m:r>
                              <a:rPr lang="en-US" sz="1600" i="1" smtClean="0">
                                <a:solidFill>
                                  <a:schemeClr val="tx1"/>
                                </a:solidFill>
                                <a:latin typeface="Cambria Math" panose="02040503050406030204" pitchFamily="18" charset="0"/>
                              </a:rPr>
                              <m:t>𝑜𝑛</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𝑐𝑎𝑝𝑖𝑡𝑎𝑙</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𝑓𝑎𝑙𝑙𝑠</m:t>
                            </m:r>
                          </m:e>
                        </m:eqArr>
                      </m:lim>
                    </m:limLow>
                    <m:limLow>
                      <m:limLowPr>
                        <m:ctrlPr>
                          <a:rPr lang="en-US" sz="1600" i="1" smtClean="0">
                            <a:solidFill>
                              <a:schemeClr val="tx1"/>
                            </a:solidFill>
                            <a:latin typeface="Cambria Math" panose="02040503050406030204" pitchFamily="18" charset="0"/>
                          </a:rPr>
                        </m:ctrlPr>
                      </m:limLowPr>
                      <m:e>
                        <m:groupChr>
                          <m:groupChrPr>
                            <m:chr m:val="⏟"/>
                            <m:ctrlPr>
                              <a:rPr lang="en-US" sz="1600" i="1" smtClean="0">
                                <a:solidFill>
                                  <a:schemeClr val="tx1"/>
                                </a:solidFill>
                                <a:latin typeface="Cambria Math" panose="02040503050406030204" pitchFamily="18" charset="0"/>
                              </a:rPr>
                            </m:ctrlPr>
                          </m:groupChrPr>
                          <m:e>
                            <m:r>
                              <a:rPr lang="en-US" sz="1600" i="1" smtClean="0">
                                <a:solidFill>
                                  <a:schemeClr val="tx1"/>
                                </a:solidFill>
                                <a:latin typeface="Cambria Math" panose="02040503050406030204" pitchFamily="18" charset="0"/>
                                <a:ea typeface="Cambria Math" panose="02040503050406030204" pitchFamily="18" charset="0"/>
                              </a:rPr>
                              <m:t>&lt;∆</m:t>
                            </m:r>
                            <m:f>
                              <m:fPr>
                                <m:type m:val="lin"/>
                                <m:ctrlPr>
                                  <a:rPr lang="en-US" sz="1600" i="1" smtClean="0">
                                    <a:solidFill>
                                      <a:schemeClr val="tx1"/>
                                    </a:solidFill>
                                    <a:latin typeface="Cambria Math" panose="02040503050406030204" pitchFamily="18" charset="0"/>
                                    <a:ea typeface="Cambria Math" panose="02040503050406030204" pitchFamily="18" charset="0"/>
                                  </a:rPr>
                                </m:ctrlPr>
                              </m:fPr>
                              <m:num>
                                <m:r>
                                  <a:rPr lang="en-US" sz="1600" i="1" smtClean="0">
                                    <a:solidFill>
                                      <a:schemeClr val="tx1"/>
                                    </a:solidFill>
                                    <a:latin typeface="Cambria Math" panose="02040503050406030204" pitchFamily="18" charset="0"/>
                                    <a:ea typeface="Cambria Math" panose="02040503050406030204" pitchFamily="18" charset="0"/>
                                  </a:rPr>
                                  <m:t>𝑊</m:t>
                                </m:r>
                              </m:num>
                              <m:den>
                                <m:r>
                                  <a:rPr lang="en-US" sz="1600" i="1" smtClean="0">
                                    <a:solidFill>
                                      <a:schemeClr val="tx1"/>
                                    </a:solidFill>
                                    <a:latin typeface="Cambria Math" panose="02040503050406030204" pitchFamily="18" charset="0"/>
                                    <a:ea typeface="Cambria Math" panose="02040503050406030204" pitchFamily="18" charset="0"/>
                                  </a:rPr>
                                  <m:t>𝑊</m:t>
                                </m:r>
                                <m:r>
                                  <a:rPr lang="en-US" sz="1600" i="1" smtClean="0">
                                    <a:solidFill>
                                      <a:schemeClr val="tx1"/>
                                    </a:solidFill>
                                    <a:latin typeface="Cambria Math" panose="02040503050406030204" pitchFamily="18" charset="0"/>
                                    <a:ea typeface="Cambria Math" panose="02040503050406030204" pitchFamily="18" charset="0"/>
                                  </a:rPr>
                                  <m:t>&lt;∆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𝑃</m:t>
                                    </m:r>
                                  </m:e>
                                  <m:sub>
                                    <m:r>
                                      <a:rPr lang="en-US" sz="1600" i="1" smtClean="0">
                                        <a:solidFill>
                                          <a:schemeClr val="tx1"/>
                                        </a:solidFill>
                                        <a:latin typeface="Cambria Math" panose="02040503050406030204" pitchFamily="18" charset="0"/>
                                        <a:ea typeface="Cambria Math" panose="02040503050406030204" pitchFamily="18" charset="0"/>
                                      </a:rPr>
                                      <m:t>𝐴</m:t>
                                    </m:r>
                                  </m:sub>
                                </m:sSub>
                                <m:r>
                                  <a:rPr lang="en-US" sz="1600" i="1" smtClean="0">
                                    <a:solidFill>
                                      <a:schemeClr val="tx1"/>
                                    </a:solidFill>
                                    <a:latin typeface="Cambria Math" panose="02040503050406030204" pitchFamily="18" charset="0"/>
                                    <a:ea typeface="Cambria Math" panose="02040503050406030204" pitchFamily="18" charset="0"/>
                                  </a:rPr>
                                  <m:t>/</m:t>
                                </m:r>
                              </m:den>
                            </m:f>
                          </m:e>
                        </m:groupChr>
                      </m:e>
                      <m:lim>
                        <m:eqArr>
                          <m:eqArrPr>
                            <m:ctrlPr>
                              <a:rPr lang="en-US" sz="1600" i="1" smtClean="0">
                                <a:solidFill>
                                  <a:schemeClr val="tx1"/>
                                </a:solidFill>
                                <a:latin typeface="Cambria Math" panose="02040503050406030204" pitchFamily="18" charset="0"/>
                              </a:rPr>
                            </m:ctrlPr>
                          </m:eqArrPr>
                          <m:e/>
                          <m:e>
                            <m:r>
                              <a:rPr lang="en-US" sz="1600" i="1" smtClean="0">
                                <a:solidFill>
                                  <a:schemeClr val="tx1"/>
                                </a:solidFill>
                                <a:latin typeface="Cambria Math" panose="02040503050406030204" pitchFamily="18" charset="0"/>
                              </a:rPr>
                              <m:t>𝐶h𝑎𝑛𝑔𝑒</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𝑖𝑛</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𝑡h𝑒</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𝑟𝑒𝑎𝑙</m:t>
                            </m:r>
                          </m:e>
                          <m:e>
                            <m:r>
                              <a:rPr lang="en-US" sz="1600" i="1" smtClean="0">
                                <a:solidFill>
                                  <a:schemeClr val="tx1"/>
                                </a:solidFill>
                                <a:latin typeface="Cambria Math" panose="02040503050406030204" pitchFamily="18" charset="0"/>
                              </a:rPr>
                              <m:t>𝑤𝑎𝑔𝑒</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𝑖𝑠</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𝑎𝑚𝑏𝑖𝑔𝑢𝑜𝑢𝑠</m:t>
                            </m:r>
                          </m:e>
                        </m:eqArr>
                      </m:lim>
                    </m:limLow>
                  </m:oMath>
                </a14:m>
                <a:r>
                  <a:rPr lang="en-US" sz="1600" dirty="0">
                    <a:solidFill>
                      <a:schemeClr val="tx1"/>
                    </a:solidFill>
                    <a:latin typeface="+mn-lt"/>
                  </a:rPr>
                  <a:t> </a:t>
                </a:r>
                <a14:m>
                  <m:oMath xmlns:m="http://schemas.openxmlformats.org/officeDocument/2006/math">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sSub>
                              <m:sSubPr>
                                <m:ctrlPr>
                                  <a:rPr lang="en-US" sz="1600" i="1" dirty="0" smtClean="0">
                                    <a:solidFill>
                                      <a:schemeClr val="tx1"/>
                                    </a:solidFill>
                                    <a:latin typeface="Cambria Math" panose="02040503050406030204" pitchFamily="18" charset="0"/>
                                  </a:rPr>
                                </m:ctrlPr>
                              </m:sSubPr>
                              <m:e>
                                <m:r>
                                  <a:rPr lang="en-US" sz="1600" i="1" dirty="0" smtClean="0">
                                    <a:solidFill>
                                      <a:schemeClr val="tx1"/>
                                    </a:solidFill>
                                    <a:latin typeface="Cambria Math" panose="02040503050406030204" pitchFamily="18" charset="0"/>
                                  </a:rPr>
                                  <m:t>𝑃</m:t>
                                </m:r>
                              </m:e>
                              <m:sub>
                                <m:r>
                                  <a:rPr lang="en-US" sz="1600" i="1" dirty="0" smtClean="0">
                                    <a:solidFill>
                                      <a:schemeClr val="tx1"/>
                                    </a:solidFill>
                                    <a:latin typeface="Cambria Math" panose="02040503050406030204" pitchFamily="18" charset="0"/>
                                  </a:rPr>
                                  <m:t>𝐴</m:t>
                                </m:r>
                              </m:sub>
                            </m:sSub>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𝑇</m:t>
                                    </m:r>
                                  </m:sub>
                                </m:sSub>
                              </m:num>
                              <m:den>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𝑇</m:t>
                                    </m:r>
                                    <m:r>
                                      <a:rPr lang="en-US" sz="1600" i="1" dirty="0" smtClean="0">
                                        <a:solidFill>
                                          <a:schemeClr val="tx1"/>
                                        </a:solidFill>
                                        <a:latin typeface="Cambria Math" panose="02040503050406030204" pitchFamily="18" charset="0"/>
                                        <a:ea typeface="Cambria Math" panose="02040503050406030204" pitchFamily="18" charset="0"/>
                                      </a:rPr>
                                      <m:t>,</m:t>
                                    </m:r>
                                  </m:sub>
                                </m:sSub>
                              </m:den>
                            </m:f>
                          </m:e>
                        </m:groupChr>
                      </m:e>
                      <m:lim>
                        <m:eqArr>
                          <m:eqArrPr>
                            <m:ctrlPr>
                              <a:rPr lang="en-US" sz="1600" i="1" dirty="0" smtClean="0">
                                <a:solidFill>
                                  <a:schemeClr val="tx1"/>
                                </a:solidFill>
                                <a:latin typeface="Cambria Math" panose="02040503050406030204" pitchFamily="18" charset="0"/>
                                <a:ea typeface="Cambria Math" panose="02040503050406030204" pitchFamily="18" charset="0"/>
                              </a:rPr>
                            </m:ctrlPr>
                          </m:eqArrPr>
                          <m:e/>
                          <m:e>
                            <m:r>
                              <a:rPr lang="en-US" sz="1600" i="1" dirty="0" smtClean="0">
                                <a:solidFill>
                                  <a:schemeClr val="tx1"/>
                                </a:solidFill>
                                <a:latin typeface="Cambria Math" panose="02040503050406030204" pitchFamily="18" charset="0"/>
                                <a:ea typeface="Cambria Math" panose="02040503050406030204" pitchFamily="18" charset="0"/>
                              </a:rPr>
                              <m:t>𝑅𝑒𝑎𝑙</m:t>
                            </m:r>
                            <m:r>
                              <a:rPr lang="en-US" sz="1600" i="1" dirty="0" smtClean="0">
                                <a:solidFill>
                                  <a:schemeClr val="tx1"/>
                                </a:solidFill>
                                <a:latin typeface="Cambria Math" panose="02040503050406030204" pitchFamily="18" charset="0"/>
                                <a:ea typeface="Cambria Math" panose="02040503050406030204" pitchFamily="18" charset="0"/>
                              </a:rPr>
                              <m:t> </m:t>
                            </m:r>
                            <m:r>
                              <a:rPr lang="en-US" sz="1600" i="1" dirty="0" smtClean="0">
                                <a:solidFill>
                                  <a:schemeClr val="tx1"/>
                                </a:solidFill>
                                <a:latin typeface="Cambria Math" panose="02040503050406030204" pitchFamily="18" charset="0"/>
                                <a:ea typeface="Cambria Math" panose="02040503050406030204" pitchFamily="18" charset="0"/>
                              </a:rPr>
                              <m:t>𝑟𝑒𝑛𝑡𝑎𝑙</m:t>
                            </m:r>
                          </m:e>
                          <m:e>
                            <m:r>
                              <a:rPr lang="en-US" sz="1600" i="1" dirty="0" smtClean="0">
                                <a:solidFill>
                                  <a:schemeClr val="tx1"/>
                                </a:solidFill>
                                <a:latin typeface="Cambria Math" panose="02040503050406030204" pitchFamily="18" charset="0"/>
                                <a:ea typeface="Cambria Math" panose="02040503050406030204" pitchFamily="18" charset="0"/>
                              </a:rPr>
                              <m:t>𝑜𝑛</m:t>
                            </m:r>
                            <m:r>
                              <a:rPr lang="en-US" sz="1600" i="1" dirty="0" smtClean="0">
                                <a:solidFill>
                                  <a:schemeClr val="tx1"/>
                                </a:solidFill>
                                <a:latin typeface="Cambria Math" panose="02040503050406030204" pitchFamily="18" charset="0"/>
                                <a:ea typeface="Cambria Math" panose="02040503050406030204" pitchFamily="18" charset="0"/>
                              </a:rPr>
                              <m:t> </m:t>
                            </m:r>
                            <m:r>
                              <a:rPr lang="en-US" sz="1600" i="1" dirty="0" smtClean="0">
                                <a:solidFill>
                                  <a:schemeClr val="tx1"/>
                                </a:solidFill>
                                <a:latin typeface="Cambria Math" panose="02040503050406030204" pitchFamily="18" charset="0"/>
                                <a:ea typeface="Cambria Math" panose="02040503050406030204" pitchFamily="18" charset="0"/>
                              </a:rPr>
                              <m:t>𝑙𝑎𝑛𝑑</m:t>
                            </m:r>
                            <m:r>
                              <a:rPr lang="en-US" sz="1600" i="1" dirty="0" smtClean="0">
                                <a:solidFill>
                                  <a:schemeClr val="tx1"/>
                                </a:solidFill>
                                <a:latin typeface="Cambria Math" panose="02040503050406030204" pitchFamily="18" charset="0"/>
                                <a:ea typeface="Cambria Math" panose="02040503050406030204" pitchFamily="18" charset="0"/>
                              </a:rPr>
                              <m:t> </m:t>
                            </m:r>
                            <m:r>
                              <a:rPr lang="en-US" sz="1600" i="1" dirty="0" smtClean="0">
                                <a:solidFill>
                                  <a:schemeClr val="tx1"/>
                                </a:solidFill>
                                <a:latin typeface="Cambria Math" panose="02040503050406030204" pitchFamily="18" charset="0"/>
                                <a:ea typeface="Cambria Math" panose="02040503050406030204" pitchFamily="18" charset="0"/>
                              </a:rPr>
                              <m:t>𝑟𝑖𝑠𝑒𝑠</m:t>
                            </m:r>
                          </m:e>
                        </m:eqArr>
                      </m:lim>
                    </m:limLow>
                  </m:oMath>
                </a14:m>
                <a:r>
                  <a:rPr lang="en-US" sz="1600" dirty="0">
                    <a:solidFill>
                      <a:schemeClr val="tx1"/>
                    </a:solidFill>
                    <a:latin typeface="+mn-lt"/>
                  </a:rPr>
                  <a:t> </a:t>
                </a:r>
                <a:r>
                  <a:rPr lang="en-US" sz="1600" b="0" dirty="0">
                    <a:solidFill>
                      <a:schemeClr val="tx1"/>
                    </a:solidFill>
                    <a:latin typeface="+mn-lt"/>
                  </a:rPr>
                  <a:t>for an increase in </a:t>
                </a:r>
                <a14:m>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i="1" smtClean="0">
                            <a:solidFill>
                              <a:schemeClr val="tx1"/>
                            </a:solidFill>
                            <a:latin typeface="Cambria Math" panose="02040503050406030204" pitchFamily="18" charset="0"/>
                          </a:rPr>
                          <m:t>𝑃</m:t>
                        </m:r>
                      </m:e>
                      <m:sub>
                        <m:r>
                          <a:rPr lang="en-US" sz="1600" i="1" smtClean="0">
                            <a:solidFill>
                              <a:schemeClr val="tx1"/>
                            </a:solidFill>
                            <a:latin typeface="Cambria Math" panose="02040503050406030204" pitchFamily="18" charset="0"/>
                          </a:rPr>
                          <m:t>𝐴</m:t>
                        </m:r>
                      </m:sub>
                    </m:sSub>
                  </m:oMath>
                </a14:m>
                <a:endParaRPr lang="en-US" sz="1600" dirty="0">
                  <a:solidFill>
                    <a:schemeClr val="tx1"/>
                  </a:solidFill>
                  <a:latin typeface="+mn-lt"/>
                </a:endParaRPr>
              </a:p>
            </p:txBody>
          </p:sp>
        </mc:Choice>
        <mc:Fallback xmlns="">
          <p:sp>
            <p:nvSpPr>
              <p:cNvPr id="9" name="Content Placeholder 8">
                <a:extLst>
                  <a:ext uri="{FF2B5EF4-FFF2-40B4-BE49-F238E27FC236}">
                    <a16:creationId xmlns:a16="http://schemas.microsoft.com/office/drawing/2014/main" id="{F2216EEF-C5D6-422F-BE35-B84F1B1A3887}"/>
                  </a:ext>
                </a:extLst>
              </p:cNvPr>
              <p:cNvSpPr>
                <a:spLocks noGrp="1" noRot="1" noChangeAspect="1" noMove="1" noResize="1" noEditPoints="1" noAdjustHandles="1" noChangeArrowheads="1" noChangeShapeType="1" noTextEdit="1"/>
              </p:cNvSpPr>
              <p:nvPr>
                <p:ph sz="quarter" idx="15"/>
              </p:nvPr>
            </p:nvSpPr>
            <p:spPr>
              <a:xfrm>
                <a:off x="861922" y="5149020"/>
                <a:ext cx="7824877" cy="1029549"/>
              </a:xfrm>
              <a:blipFill>
                <a:blip r:embed="rId4"/>
                <a:stretch>
                  <a:fillRect t="-33136"/>
                </a:stretch>
              </a:blipFill>
            </p:spPr>
            <p:txBody>
              <a:bodyPr/>
              <a:lstStyle/>
              <a:p>
                <a:r>
                  <a:rPr lang="en-US">
                    <a:noFill/>
                  </a:rPr>
                  <a:t> </a:t>
                </a:r>
              </a:p>
            </p:txBody>
          </p:sp>
        </mc:Fallback>
      </mc:AlternateContent>
    </p:spTree>
    <p:extLst>
      <p:ext uri="{BB962C8B-B14F-4D97-AF65-F5344CB8AC3E}">
        <p14:creationId xmlns:p14="http://schemas.microsoft.com/office/powerpoint/2010/main" val="4175642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E3B3-2611-0240-A0D2-179C7B50D2C0}"/>
              </a:ext>
            </a:extLst>
          </p:cNvPr>
          <p:cNvSpPr>
            <a:spLocks noGrp="1"/>
          </p:cNvSpPr>
          <p:nvPr>
            <p:ph type="title"/>
          </p:nvPr>
        </p:nvSpPr>
        <p:spPr/>
        <p:txBody>
          <a:bodyPr>
            <a:normAutofit/>
          </a:bodyPr>
          <a:lstStyle/>
          <a:p>
            <a:r>
              <a:rPr lang="en-US" sz="3600" dirty="0"/>
              <a:t>Conclusions (part 1)</a:t>
            </a:r>
          </a:p>
        </p:txBody>
      </p:sp>
      <p:sp>
        <p:nvSpPr>
          <p:cNvPr id="3" name="Content Placeholder 2">
            <a:extLst>
              <a:ext uri="{FF2B5EF4-FFF2-40B4-BE49-F238E27FC236}">
                <a16:creationId xmlns:a16="http://schemas.microsoft.com/office/drawing/2014/main" id="{19961829-5C37-A849-A1CC-2D731EEC24A0}"/>
              </a:ext>
            </a:extLst>
          </p:cNvPr>
          <p:cNvSpPr>
            <a:spLocks noGrp="1"/>
          </p:cNvSpPr>
          <p:nvPr>
            <p:ph idx="1"/>
          </p:nvPr>
        </p:nvSpPr>
        <p:spPr>
          <a:xfrm>
            <a:off x="457200" y="1600200"/>
            <a:ext cx="8229600" cy="4821621"/>
          </a:xfrm>
        </p:spPr>
        <p:txBody>
          <a:bodyPr>
            <a:noAutofit/>
          </a:bodyPr>
          <a:lstStyle/>
          <a:p>
            <a:r>
              <a:rPr lang="en-US" altLang="en-US" sz="2200" b="0" dirty="0"/>
              <a:t>As long as the relative price with international trade differs from the no-trade relative price, a country will gain from international trade.</a:t>
            </a:r>
          </a:p>
          <a:p>
            <a:r>
              <a:rPr lang="en-US" altLang="en-US" sz="2200" b="0" dirty="0"/>
              <a:t>The change in relative prices due to the opening of trade creates winners and losers. Some factors of production gain in real terms, and other factors of production lose.</a:t>
            </a:r>
          </a:p>
          <a:p>
            <a:r>
              <a:rPr lang="en-US" altLang="en-US" sz="2200" b="0" dirty="0"/>
              <a:t>The factor that is specific to the importing-competing industry will lose. That industry suffers a drop in its relative price due to international trade, which leads to a fall in the real rental on the specific factor in that industry.</a:t>
            </a:r>
          </a:p>
          <a:p>
            <a:r>
              <a:rPr lang="en-US" altLang="en-US" sz="2200" b="0" dirty="0"/>
              <a:t>The specific factor in the export industry, whose relative price rises with the opening of trade, enjoys an increase in real rental.</a:t>
            </a:r>
          </a:p>
        </p:txBody>
      </p:sp>
    </p:spTree>
    <p:extLst>
      <p:ext uri="{BB962C8B-B14F-4D97-AF65-F5344CB8AC3E}">
        <p14:creationId xmlns:p14="http://schemas.microsoft.com/office/powerpoint/2010/main" val="3816603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E3B3-2611-0240-A0D2-179C7B50D2C0}"/>
              </a:ext>
            </a:extLst>
          </p:cNvPr>
          <p:cNvSpPr>
            <a:spLocks noGrp="1"/>
          </p:cNvSpPr>
          <p:nvPr>
            <p:ph type="title"/>
          </p:nvPr>
        </p:nvSpPr>
        <p:spPr/>
        <p:txBody>
          <a:bodyPr>
            <a:normAutofit/>
          </a:bodyPr>
          <a:lstStyle/>
          <a:p>
            <a:r>
              <a:rPr lang="en-US" sz="3600" dirty="0"/>
              <a:t>Conclusions (part 2)</a:t>
            </a:r>
          </a:p>
        </p:txBody>
      </p:sp>
      <p:sp>
        <p:nvSpPr>
          <p:cNvPr id="3" name="Content Placeholder 2">
            <a:extLst>
              <a:ext uri="{FF2B5EF4-FFF2-40B4-BE49-F238E27FC236}">
                <a16:creationId xmlns:a16="http://schemas.microsoft.com/office/drawing/2014/main" id="{19961829-5C37-A849-A1CC-2D731EEC24A0}"/>
              </a:ext>
            </a:extLst>
          </p:cNvPr>
          <p:cNvSpPr>
            <a:spLocks noGrp="1"/>
          </p:cNvSpPr>
          <p:nvPr>
            <p:ph idx="1"/>
          </p:nvPr>
        </p:nvSpPr>
        <p:spPr/>
        <p:txBody>
          <a:bodyPr>
            <a:normAutofit/>
          </a:bodyPr>
          <a:lstStyle/>
          <a:p>
            <a:pPr>
              <a:lnSpc>
                <a:spcPct val="120000"/>
              </a:lnSpc>
            </a:pPr>
            <a:r>
              <a:rPr lang="en-US" altLang="en-US" b="0" dirty="0"/>
              <a:t>Labor is mobile between the two industries, which allows it to avoid such extreme changes in wages. Real wages rise in terms of one good but fall in terms of the other good, so we cannot tell whether workers are better off or worse off after a country opens to trade.</a:t>
            </a:r>
          </a:p>
          <a:p>
            <a:pPr>
              <a:lnSpc>
                <a:spcPct val="120000"/>
              </a:lnSpc>
            </a:pPr>
            <a:r>
              <a:rPr lang="en-US" altLang="en-US" b="0" dirty="0"/>
              <a:t>In theory, the gains of individuals as a result of the opening of trade exceed the losses. That means, in principle, that the government could tax the winners and compensate the losers in such a way that everyone would be better off. This has proven to be very challenging in practice.</a:t>
            </a:r>
          </a:p>
        </p:txBody>
      </p:sp>
    </p:spTree>
    <p:extLst>
      <p:ext uri="{BB962C8B-B14F-4D97-AF65-F5344CB8AC3E}">
        <p14:creationId xmlns:p14="http://schemas.microsoft.com/office/powerpoint/2010/main" val="138296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acc95324-c823-436a-b931-6e33ae0488f7</RequestId>
  <RequestDate>12/8/2024 10:23:54 PM</RequestDate>
</w:document>
</file>

<file path=customXml/itemProps1.xml><?xml version="1.0" encoding="utf-8"?>
<ds:datastoreItem xmlns:ds="http://schemas.openxmlformats.org/officeDocument/2006/customXml" ds:itemID="{AAC0F982-CB02-D744-8105-A5A68575583B}">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
  <TotalTime>3862</TotalTime>
  <Words>2431</Words>
  <Application>Microsoft Macintosh PowerPoint</Application>
  <PresentationFormat>On-screen Show (4:3)</PresentationFormat>
  <Paragraphs>172</Paragraphs>
  <Slides>27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Calibri</vt:lpstr>
      <vt:lpstr>Cambria Math</vt:lpstr>
      <vt:lpstr>Museo Sans W01 500</vt:lpstr>
      <vt:lpstr>Office Theme</vt:lpstr>
      <vt:lpstr>Contemporary Economic Issues  ECON-204</vt:lpstr>
      <vt:lpstr>Questions to Consider</vt:lpstr>
      <vt:lpstr>Introduction </vt:lpstr>
      <vt:lpstr>1) Specific-Factors Model (part 1)</vt:lpstr>
      <vt:lpstr>1) Specific-Factors Model (part 2)</vt:lpstr>
      <vt:lpstr>1) Specific-Factors Model (part 3)</vt:lpstr>
      <vt:lpstr>1) Specific-Factors Model (part 4)</vt:lpstr>
      <vt:lpstr>1) Specific-Factors Model (part 5)</vt:lpstr>
      <vt:lpstr>1) Specific-Factors Model (part 6)</vt:lpstr>
      <vt:lpstr>1) Specific-Factors Model (part 7)</vt:lpstr>
      <vt:lpstr>2) Earnings of Labor (part 1)</vt:lpstr>
      <vt:lpstr>2) Earnings of Labor (part 2)</vt:lpstr>
      <vt:lpstr>2) Earnings of Labor (part 3)</vt:lpstr>
      <vt:lpstr>2) Earnings of Labor (part 4)</vt:lpstr>
      <vt:lpstr>2) Earnings of Labor (part 5)</vt:lpstr>
      <vt:lpstr>2) Earnings of Labor (part 6)</vt:lpstr>
      <vt:lpstr>2) Earnings of Labor (part 7)</vt:lpstr>
      <vt:lpstr>2) Earnings of Labor (part 8)</vt:lpstr>
      <vt:lpstr>3) Earnings of Capital and Land (part 1)</vt:lpstr>
      <vt:lpstr>3) Earnings of Capital and Land (part 2)</vt:lpstr>
      <vt:lpstr>3) Earnings of Capital and Land (part 3)</vt:lpstr>
      <vt:lpstr>3) Earnings of Capital and Land (part 4)</vt:lpstr>
      <vt:lpstr>3) Earnings of Capital and Land (part 5)</vt:lpstr>
      <vt:lpstr>3) Earnings of Capital and Land (part 6)</vt:lpstr>
      <vt:lpstr>3) Earnings of Capital and Land (part 7)</vt:lpstr>
      <vt:lpstr>Conclusions (part 1)</vt:lpstr>
      <vt:lpstr>Conclusions (part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Hauk, William</dc:creator>
  <cp:keywords/>
  <dc:description/>
  <cp:lastModifiedBy>Muhebullah Karimzada</cp:lastModifiedBy>
  <cp:revision>392</cp:revision>
  <dcterms:created xsi:type="dcterms:W3CDTF">2014-03-27T23:14:18Z</dcterms:created>
  <dcterms:modified xsi:type="dcterms:W3CDTF">2025-03-06T22:14:21Z</dcterms:modified>
  <cp:category/>
</cp:coreProperties>
</file>