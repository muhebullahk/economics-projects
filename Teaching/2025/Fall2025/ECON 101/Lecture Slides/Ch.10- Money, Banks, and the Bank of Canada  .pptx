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38"/>
  </p:notesMasterIdLst>
  <p:handoutMasterIdLst>
    <p:handoutMasterId r:id="rId39"/>
  </p:handoutMasterIdLst>
  <p:sldIdLst>
    <p:sldId id="1438" r:id="rId5"/>
    <p:sldId id="1403" r:id="rId6"/>
    <p:sldId id="1463" r:id="rId7"/>
    <p:sldId id="1405" r:id="rId8"/>
    <p:sldId id="1407" r:id="rId9"/>
    <p:sldId id="1408" r:id="rId10"/>
    <p:sldId id="1409" r:id="rId11"/>
    <p:sldId id="1410" r:id="rId12"/>
    <p:sldId id="1464" r:id="rId13"/>
    <p:sldId id="1413" r:id="rId14"/>
    <p:sldId id="1414" r:id="rId15"/>
    <p:sldId id="1415" r:id="rId16"/>
    <p:sldId id="1416" r:id="rId17"/>
    <p:sldId id="1417" r:id="rId18"/>
    <p:sldId id="1465" r:id="rId19"/>
    <p:sldId id="1423" r:id="rId20"/>
    <p:sldId id="1424" r:id="rId21"/>
    <p:sldId id="1425" r:id="rId22"/>
    <p:sldId id="1427" r:id="rId23"/>
    <p:sldId id="1456" r:id="rId24"/>
    <p:sldId id="1428" r:id="rId25"/>
    <p:sldId id="1429" r:id="rId26"/>
    <p:sldId id="1430" r:id="rId27"/>
    <p:sldId id="1431" r:id="rId28"/>
    <p:sldId id="1432" r:id="rId29"/>
    <p:sldId id="1467" r:id="rId30"/>
    <p:sldId id="1450" r:id="rId31"/>
    <p:sldId id="1451" r:id="rId32"/>
    <p:sldId id="1452" r:id="rId33"/>
    <p:sldId id="1453" r:id="rId34"/>
    <p:sldId id="1457" r:id="rId35"/>
    <p:sldId id="1458" r:id="rId36"/>
    <p:sldId id="1454"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36">
          <p15:clr>
            <a:srgbClr val="A4A3A4"/>
          </p15:clr>
        </p15:guide>
        <p15:guide id="4" orient="horz" pos="3984">
          <p15:clr>
            <a:srgbClr val="A4A3A4"/>
          </p15:clr>
        </p15:guide>
        <p15:guide id="5" orient="horz" pos="720">
          <p15:clr>
            <a:srgbClr val="A4A3A4"/>
          </p15:clr>
        </p15:guide>
        <p15:guide id="6" orient="horz" pos="1056">
          <p15:clr>
            <a:srgbClr val="A4A3A4"/>
          </p15:clr>
        </p15:guide>
        <p15:guide id="7" orient="horz" pos="1392">
          <p15:clr>
            <a:srgbClr val="A4A3A4"/>
          </p15:clr>
        </p15:guide>
        <p15:guide id="8" pos="288">
          <p15:clr>
            <a:srgbClr val="A4A3A4"/>
          </p15:clr>
        </p15:guide>
        <p15:guide id="9" pos="547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4" autoAdjust="0"/>
    <p:restoredTop sz="91056" autoAdjust="0"/>
  </p:normalViewPr>
  <p:slideViewPr>
    <p:cSldViewPr>
      <p:cViewPr varScale="1">
        <p:scale>
          <a:sx n="112" d="100"/>
          <a:sy n="112" d="100"/>
        </p:scale>
        <p:origin x="560" y="184"/>
      </p:cViewPr>
      <p:guideLst>
        <p:guide orient="horz" pos="2160"/>
        <p:guide pos="2880"/>
        <p:guide orient="horz" pos="336"/>
        <p:guide orient="horz" pos="3984"/>
        <p:guide orient="horz" pos="720"/>
        <p:guide orient="horz" pos="1056"/>
        <p:guide orient="horz" pos="1392"/>
        <p:guide pos="288"/>
        <p:guide pos="5472"/>
      </p:guideLst>
    </p:cSldViewPr>
  </p:slideViewPr>
  <p:outlineViewPr>
    <p:cViewPr>
      <p:scale>
        <a:sx n="33" d="100"/>
        <a:sy n="33" d="100"/>
      </p:scale>
      <p:origin x="0" y="5466"/>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5" d="100"/>
          <a:sy n="85" d="100"/>
        </p:scale>
        <p:origin x="-377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12/29/24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12/29/24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US" dirty="0"/>
              <a:t>Long Description:</a:t>
            </a:r>
          </a:p>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6</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US" dirty="0"/>
              <a:t>Long Description:</a:t>
            </a:r>
          </a:p>
          <a:p>
            <a:pPr defTabSz="931774">
              <a:defRPr/>
            </a:pPr>
            <a:endParaRPr lang="en-US" dirty="0"/>
          </a:p>
          <a:p>
            <a:r>
              <a:rPr lang="en-US" sz="1200" kern="1200" dirty="0">
                <a:solidFill>
                  <a:schemeClr val="tx1"/>
                </a:solidFill>
                <a:effectLst/>
                <a:latin typeface="+mn-lt"/>
                <a:ea typeface="+mn-ea"/>
                <a:cs typeface="+mn-cs"/>
              </a:rPr>
              <a:t>A comment box pointing to $1000 of reserves and deposits of reads your deposit of $1000 into your </a:t>
            </a:r>
            <a:r>
              <a:rPr lang="en-US" sz="1200" kern="1200" dirty="0" err="1">
                <a:solidFill>
                  <a:schemeClr val="tx1"/>
                </a:solidFill>
                <a:effectLst/>
                <a:latin typeface="+mn-lt"/>
                <a:ea typeface="+mn-ea"/>
                <a:cs typeface="+mn-cs"/>
              </a:rPr>
              <a:t>chequing</a:t>
            </a:r>
            <a:r>
              <a:rPr lang="en-US" sz="1200" kern="1200" dirty="0">
                <a:solidFill>
                  <a:schemeClr val="tx1"/>
                </a:solidFill>
                <a:effectLst/>
                <a:latin typeface="+mn-lt"/>
                <a:ea typeface="+mn-ea"/>
                <a:cs typeface="+mn-cs"/>
              </a:rPr>
              <a:t> account increases bank of Montreal’s assets and liabilities by the same amount.</a:t>
            </a:r>
            <a:endParaRPr lang="en-IN" sz="1200" kern="1200" dirty="0">
              <a:solidFill>
                <a:schemeClr val="tx1"/>
              </a:solidFill>
              <a:effectLst/>
              <a:latin typeface="+mn-lt"/>
              <a:ea typeface="+mn-ea"/>
              <a:cs typeface="+mn-cs"/>
            </a:endParaRPr>
          </a:p>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US" dirty="0"/>
              <a:t>Long Description:</a:t>
            </a:r>
          </a:p>
          <a:p>
            <a:pPr defTabSz="931774">
              <a:defRPr/>
            </a:pPr>
            <a:endParaRPr lang="en-US" dirty="0"/>
          </a:p>
          <a:p>
            <a:r>
              <a:rPr lang="en-US" dirty="0"/>
              <a:t>A comment box pointing at the amount of assets reads when the $900 </a:t>
            </a:r>
            <a:r>
              <a:rPr lang="en-US" dirty="0" err="1"/>
              <a:t>cheque</a:t>
            </a:r>
            <a:r>
              <a:rPr lang="en-US" dirty="0"/>
              <a:t> that was deposited in a Royal Bank account arrives to be cleared, the increase in Bank of Montreal's reserves left parenthesis shown in the previous T-account right parenthesis falls by $900, to $100 ellipses. Another comment box pointing at the amount of deposits reads the increase in the bank of Montreal’s deposits falls by $900 to $1000.</a:t>
            </a:r>
            <a:endParaRPr lang="en-IN" dirty="0"/>
          </a:p>
          <a:p>
            <a:pPr defTabSz="931774">
              <a:defRPr/>
            </a:pPr>
            <a:endParaRPr lang="en-US" dirty="0"/>
          </a:p>
          <a:p>
            <a:pPr defTabSz="931774">
              <a:defRPr/>
            </a:pPr>
            <a:r>
              <a:rPr lang="en-US" dirty="0"/>
              <a:t>The assets are reserves of $1000 and loans of $900, and liabilities are deposits of $1000 and $900. A comment box pointing at the loan of $900 reads that by loaning out $900 in excess reserves, and another comment box pointing at deposits of $900 reads the bank of Montreal has increased the money supply by $900.</a:t>
            </a:r>
            <a:endParaRPr lang="en-IN" dirty="0"/>
          </a:p>
          <a:p>
            <a:pPr defTabSz="931774">
              <a:defRPr/>
            </a:pPr>
            <a:endParaRPr lang="en-US" dirty="0"/>
          </a:p>
          <a:p>
            <a:pPr defTabSz="931774">
              <a:defRPr/>
            </a:pPr>
            <a:r>
              <a:rPr lang="en-US" dirty="0"/>
              <a:t>A comment box pointing $900 of reserves and deposits of $900 reads after the </a:t>
            </a:r>
            <a:r>
              <a:rPr lang="en-US" dirty="0" err="1"/>
              <a:t>cheque</a:t>
            </a:r>
            <a:r>
              <a:rPr lang="en-US" dirty="0"/>
              <a:t> drawn on the account at Bank of Montreal clears Royal Bank's reserves and deposits both increase by $900.</a:t>
            </a:r>
            <a:endParaRPr lang="en-IN" dirty="0"/>
          </a:p>
          <a:p>
            <a:pPr defTabSz="931774">
              <a:defRPr/>
            </a:pPr>
            <a:endParaRPr lang="en-US" dirty="0"/>
          </a:p>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22</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23</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24</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27</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28</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29</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30</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31</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US" dirty="0"/>
              <a:t>.</a:t>
            </a:r>
            <a:endParaRPr lang="en-IN" dirty="0"/>
          </a:p>
          <a:p>
            <a:pPr defTabSz="931774">
              <a:defRPr/>
            </a:pPr>
            <a:endParaRPr lang="en-US" dirty="0"/>
          </a:p>
          <a:p>
            <a:pPr defTabSz="931774">
              <a:defRPr/>
            </a:pPr>
            <a:endParaRPr lang="en-US" dirty="0"/>
          </a:p>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32</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33</a:t>
            </a:fld>
            <a:endParaRPr lang="en-US" dirty="0"/>
          </a:p>
        </p:txBody>
      </p:sp>
    </p:spTree>
    <p:extLst>
      <p:ext uri="{BB962C8B-B14F-4D97-AF65-F5344CB8AC3E}">
        <p14:creationId xmlns:p14="http://schemas.microsoft.com/office/powerpoint/2010/main" val="21249796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C261-EA3E-9972-598F-AB953BC16A5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8A078E3-3699-A357-A877-471F27C49A7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90CD74-D0A1-045C-2F6E-947FEA5FCE0F}"/>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020312C3-C463-004D-9BCC-0A04D0B77DC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93F17A6-3E5B-4F27-08F3-4DCE2F96591F}"/>
              </a:ext>
            </a:extLst>
          </p:cNvPr>
          <p:cNvSpPr>
            <a:spLocks noGrp="1"/>
          </p:cNvSpPr>
          <p:nvPr>
            <p:ph type="sldNum" sz="quarter" idx="12"/>
          </p:nvPr>
        </p:nvSpPr>
        <p:spPr/>
        <p:txBody>
          <a:bodyPr/>
          <a:lstStyle/>
          <a:p>
            <a:fld id="{200B2350-5261-4F5C-9DF5-EF0D264FC8D2}" type="slidenum">
              <a:rPr lang="en-US" smtClean="0"/>
              <a:t>‹#›</a:t>
            </a:fld>
            <a:endParaRPr lang="en-US" dirty="0"/>
          </a:p>
        </p:txBody>
      </p:sp>
      <p:pic>
        <p:nvPicPr>
          <p:cNvPr id="7" name="Picture 6" descr="Pearson Logo">
            <a:extLst>
              <a:ext uri="{FF2B5EF4-FFF2-40B4-BE49-F238E27FC236}">
                <a16:creationId xmlns:a16="http://schemas.microsoft.com/office/drawing/2014/main" id="{374DDD04-DC49-5961-F23B-B674DC24FC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F5A1CC10-8167-13A7-0470-0FFC9BFF0C35}"/>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889239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61DA-8CAF-D0D5-7314-A77CBABDA1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46B1C6-0400-8A8B-4EA2-EF98570E69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A16D8-1564-C540-01F1-521D1299EE69}"/>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B2445723-AECB-6A6B-A63D-EBBE01E11C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2FF04F-E267-AF5E-9AA1-D397B8C34A3A}"/>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44921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DCEF-7EB8-B4A7-B5A6-0E0F54F1FA2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6DF73F8-8F45-8422-0924-D3F0F32A509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368619-7981-782C-6E8B-B50B944B5E15}"/>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5884CC8F-D80E-0EEE-D444-5C20E7E46F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AA67221-1563-83C8-F29D-CF8F290A983B}"/>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685555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04DBE-7E1A-AEFA-B58C-6D4E2C7437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3847F-7831-225B-C3C2-EEA0662A34F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1F20B4-4896-2289-C691-CD7D716A8B4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C3846B-BB20-E3E4-F1A4-8E0CC0BD736F}"/>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15DE7A17-EC17-F99A-0EAA-C72250FBB4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9DDFCB-8E61-199B-9B8E-552A0207C86E}"/>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12855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31B5-1AF8-D03C-397E-4F789FA64C7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308673-F258-0EEB-891B-1A85576F7F1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7D80525-B2F5-15F0-BE47-92A6CA3215D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BED739-681F-3F6D-8CF2-CDBE0CE12E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A237D5D-3EF3-5B57-5811-EA37BEAB863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C8DF7C-7B3F-6975-5D82-C72ED655913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8" name="Footer Placeholder 7">
            <a:extLst>
              <a:ext uri="{FF2B5EF4-FFF2-40B4-BE49-F238E27FC236}">
                <a16:creationId xmlns:a16="http://schemas.microsoft.com/office/drawing/2014/main" id="{31E0EA46-AA31-78CC-E1BF-A63F399052D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8B1AECA-86EB-36F7-F412-8E9E3BA81C96}"/>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56271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4AF1-0A54-DC1C-2212-1C5FBD41C1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ED2F4A-738F-9801-833C-CA79FFF2EAEE}"/>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4" name="Footer Placeholder 3">
            <a:extLst>
              <a:ext uri="{FF2B5EF4-FFF2-40B4-BE49-F238E27FC236}">
                <a16:creationId xmlns:a16="http://schemas.microsoft.com/office/drawing/2014/main" id="{CAB31CB1-E0A1-7BBB-8623-D6A73BA01A9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A3890E7-6EEA-BA8A-30D3-45516A13464A}"/>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27338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DDAE8-AB3B-4759-01A3-413C0129ABD5}"/>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3" name="Footer Placeholder 2">
            <a:extLst>
              <a:ext uri="{FF2B5EF4-FFF2-40B4-BE49-F238E27FC236}">
                <a16:creationId xmlns:a16="http://schemas.microsoft.com/office/drawing/2014/main" id="{30C98B8B-C0C0-1A91-BCD0-09515E2FB7F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636B4E1-86E0-2513-7004-EA4294E6C04D}"/>
              </a:ext>
            </a:extLst>
          </p:cNvPr>
          <p:cNvSpPr>
            <a:spLocks noGrp="1"/>
          </p:cNvSpPr>
          <p:nvPr>
            <p:ph type="sldNum" sz="quarter" idx="12"/>
          </p:nvPr>
        </p:nvSpPr>
        <p:spPr/>
        <p:txBody>
          <a:bodyPr/>
          <a:lstStyle/>
          <a:p>
            <a:fld id="{200B2350-5261-4F5C-9DF5-EF0D264FC8D2}" type="slidenum">
              <a:rPr lang="en-US" smtClean="0"/>
              <a:pPr/>
              <a:t>‹#›</a:t>
            </a:fld>
            <a:endParaRPr lang="en-US" dirty="0"/>
          </a:p>
        </p:txBody>
      </p:sp>
      <p:pic>
        <p:nvPicPr>
          <p:cNvPr id="5" name="Picture 4" descr="Pearson Logo">
            <a:extLst>
              <a:ext uri="{FF2B5EF4-FFF2-40B4-BE49-F238E27FC236}">
                <a16:creationId xmlns:a16="http://schemas.microsoft.com/office/drawing/2014/main" id="{D41E6D94-2DCE-9518-1EAB-FC7A076081B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6" name="TextBox 5">
            <a:extLst>
              <a:ext uri="{FF2B5EF4-FFF2-40B4-BE49-F238E27FC236}">
                <a16:creationId xmlns:a16="http://schemas.microsoft.com/office/drawing/2014/main" id="{027B2255-A6DE-E15F-223A-5E81E123FA9C}"/>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1917806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C9FF-99FF-F578-1F43-1CAD87DB214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6DEF539-889F-BFF8-B369-7B9BCE25A73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7458CC-D689-6858-4D32-9CED858A98F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752ACFF-FD34-9894-47B1-01FBD826A37B}"/>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B3C4D7BD-346D-11F4-CA96-4F06FBE2FB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E2F306-F1A9-5686-6F4E-755C102CFAC3}"/>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1658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CDCA8-0000-4BB8-96A3-CCEA4EC6CB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C907725-A1DB-BA15-C732-804C756B5C9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9036CA0-8BCD-FDF5-8B62-8FEC7EE0871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801F158-6383-C558-AAFC-D3E7A479904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5A4E7832-C0A2-5861-0D25-B1F3E92AFCB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9327C9-F866-DCF7-187F-6033F96AAC12}"/>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252309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77F3C-683A-6F9E-CEAE-4EE48C071D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1E2BD1-1E85-E51B-46A4-FB9A477AA7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9B435-989C-AA3B-6443-CC1F1A4BD5B1}"/>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77299A9B-2E13-B90C-DEF9-7791ABE9DB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4CFC08-8309-E170-1793-48744A90E810}"/>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085194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8636A9-0797-45E8-5B3F-C878E0DE84F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9FC3B6-2BE8-9405-06B0-33563452D0C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6B32E-482B-1C0D-0846-9037D9353C66}"/>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CC0BF214-EE94-DB02-AF0A-539537081A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A6FABF-7C30-FBA5-A3D5-CFF7E38E4B59}"/>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15121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marL="266700" indent="-266700">
              <a:buClr>
                <a:srgbClr val="007FA3"/>
              </a:buClr>
              <a:buSzPct val="100000"/>
              <a:defRPr sz="2600"/>
            </a:lvl1pPr>
            <a:lvl2pPr marL="630238" indent="-285750">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060976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1045030"/>
            <a:ext cx="8229600" cy="402770"/>
          </a:xfrm>
        </p:spPr>
        <p:txBody>
          <a:bodyPr>
            <a:noAutofit/>
          </a:bodyPr>
          <a:lstStyle>
            <a:lvl1pPr marL="0" indent="0">
              <a:spcBef>
                <a:spcPts val="0"/>
              </a:spcBef>
              <a:buNone/>
              <a:defRPr sz="24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5534070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Picture Placeholder 9"/>
          <p:cNvSpPr>
            <a:spLocks noGrp="1"/>
          </p:cNvSpPr>
          <p:nvPr>
            <p:ph type="pic" sz="quarter" idx="16"/>
          </p:nvPr>
        </p:nvSpPr>
        <p:spPr>
          <a:xfrm>
            <a:off x="457200" y="4572000"/>
            <a:ext cx="8229600" cy="228600"/>
          </a:xfrm>
        </p:spPr>
        <p:txBody>
          <a:bodyPr/>
          <a:lstStyle/>
          <a:p>
            <a:endParaRPr lang="en-IN" dirty="0"/>
          </a:p>
        </p:txBody>
      </p:sp>
    </p:spTree>
    <p:extLst>
      <p:ext uri="{BB962C8B-B14F-4D97-AF65-F5344CB8AC3E}">
        <p14:creationId xmlns:p14="http://schemas.microsoft.com/office/powerpoint/2010/main" val="4420221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470428"/>
          </a:xfrm>
        </p:spPr>
        <p:txBody>
          <a:bodyPr/>
          <a:lstStyle/>
          <a:p>
            <a:r>
              <a:rPr lang="en-US" dirty="0"/>
              <a:t>Click to edit Master title style</a:t>
            </a:r>
          </a:p>
        </p:txBody>
      </p:sp>
      <p:sp>
        <p:nvSpPr>
          <p:cNvPr id="3" name="Content Placeholder 2"/>
          <p:cNvSpPr>
            <a:spLocks noGrp="1"/>
          </p:cNvSpPr>
          <p:nvPr>
            <p:ph idx="1"/>
          </p:nvPr>
        </p:nvSpPr>
        <p:spPr>
          <a:xfrm>
            <a:off x="457200" y="914400"/>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085974"/>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2924174"/>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4267199"/>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Picture Placeholder 9"/>
          <p:cNvSpPr>
            <a:spLocks noGrp="1"/>
          </p:cNvSpPr>
          <p:nvPr>
            <p:ph type="pic" sz="quarter" idx="16"/>
          </p:nvPr>
        </p:nvSpPr>
        <p:spPr>
          <a:xfrm>
            <a:off x="457200" y="3809999"/>
            <a:ext cx="8229600" cy="228600"/>
          </a:xfrm>
        </p:spPr>
        <p:txBody>
          <a:bodyPr/>
          <a:lstStyle/>
          <a:p>
            <a:endParaRPr lang="en-IN"/>
          </a:p>
        </p:txBody>
      </p:sp>
      <p:sp>
        <p:nvSpPr>
          <p:cNvPr id="12" name="Content Placeholder 11"/>
          <p:cNvSpPr>
            <a:spLocks noGrp="1"/>
          </p:cNvSpPr>
          <p:nvPr>
            <p:ph sz="quarter" idx="17"/>
          </p:nvPr>
        </p:nvSpPr>
        <p:spPr>
          <a:xfrm>
            <a:off x="457200" y="5257800"/>
            <a:ext cx="8229600" cy="53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6808147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 title 4 content place holder 3 pictur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Picture Placeholder 9"/>
          <p:cNvSpPr>
            <a:spLocks noGrp="1"/>
          </p:cNvSpPr>
          <p:nvPr>
            <p:ph type="pic" sz="quarter" idx="16"/>
          </p:nvPr>
        </p:nvSpPr>
        <p:spPr>
          <a:xfrm>
            <a:off x="457200" y="4572000"/>
            <a:ext cx="8229600" cy="228600"/>
          </a:xfrm>
        </p:spPr>
        <p:txBody>
          <a:bodyPr/>
          <a:lstStyle/>
          <a:p>
            <a:endParaRPr lang="en-IN" dirty="0"/>
          </a:p>
        </p:txBody>
      </p:sp>
      <p:sp>
        <p:nvSpPr>
          <p:cNvPr id="12" name="Picture Placeholder 11"/>
          <p:cNvSpPr>
            <a:spLocks noGrp="1"/>
          </p:cNvSpPr>
          <p:nvPr>
            <p:ph type="pic" sz="quarter" idx="17"/>
          </p:nvPr>
        </p:nvSpPr>
        <p:spPr>
          <a:xfrm>
            <a:off x="457200" y="4953000"/>
            <a:ext cx="8229600" cy="304800"/>
          </a:xfrm>
        </p:spPr>
        <p:txBody>
          <a:bodyPr/>
          <a:lstStyle/>
          <a:p>
            <a:endParaRPr lang="en-IN"/>
          </a:p>
        </p:txBody>
      </p:sp>
      <p:sp>
        <p:nvSpPr>
          <p:cNvPr id="14" name="Picture Placeholder 13"/>
          <p:cNvSpPr>
            <a:spLocks noGrp="1"/>
          </p:cNvSpPr>
          <p:nvPr>
            <p:ph type="pic" sz="quarter" idx="18"/>
          </p:nvPr>
        </p:nvSpPr>
        <p:spPr>
          <a:xfrm>
            <a:off x="457200" y="5334000"/>
            <a:ext cx="8229600" cy="304800"/>
          </a:xfrm>
        </p:spPr>
        <p:txBody>
          <a:bodyPr/>
          <a:lstStyle/>
          <a:p>
            <a:endParaRPr lang="en-IN"/>
          </a:p>
        </p:txBody>
      </p:sp>
    </p:spTree>
    <p:extLst>
      <p:ext uri="{BB962C8B-B14F-4D97-AF65-F5344CB8AC3E}">
        <p14:creationId xmlns:p14="http://schemas.microsoft.com/office/powerpoint/2010/main" val="7919747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 pic">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10" name="Picture Placeholder 9"/>
          <p:cNvSpPr>
            <a:spLocks noGrp="1"/>
          </p:cNvSpPr>
          <p:nvPr>
            <p:ph type="pic" sz="quarter" idx="16"/>
          </p:nvPr>
        </p:nvSpPr>
        <p:spPr>
          <a:xfrm>
            <a:off x="457200" y="3581400"/>
            <a:ext cx="8229600" cy="533400"/>
          </a:xfrm>
        </p:spPr>
        <p:txBody>
          <a:bodyPr/>
          <a:lstStyle/>
          <a:p>
            <a:endParaRPr lang="en-IN"/>
          </a:p>
        </p:txBody>
      </p:sp>
      <p:sp>
        <p:nvSpPr>
          <p:cNvPr id="12" name="Picture Placeholder 11"/>
          <p:cNvSpPr>
            <a:spLocks noGrp="1"/>
          </p:cNvSpPr>
          <p:nvPr>
            <p:ph type="pic" sz="quarter" idx="17"/>
          </p:nvPr>
        </p:nvSpPr>
        <p:spPr>
          <a:xfrm>
            <a:off x="457200" y="4343400"/>
            <a:ext cx="8229600" cy="1066800"/>
          </a:xfrm>
        </p:spPr>
        <p:txBody>
          <a:bodyPr/>
          <a:lstStyle/>
          <a:p>
            <a:endParaRPr lang="en-IN"/>
          </a:p>
        </p:txBody>
      </p:sp>
      <p:sp>
        <p:nvSpPr>
          <p:cNvPr id="14" name="Picture Placeholder 13"/>
          <p:cNvSpPr>
            <a:spLocks noGrp="1"/>
          </p:cNvSpPr>
          <p:nvPr>
            <p:ph type="pic" sz="quarter" idx="18"/>
          </p:nvPr>
        </p:nvSpPr>
        <p:spPr>
          <a:xfrm>
            <a:off x="457200" y="5638800"/>
            <a:ext cx="8229600" cy="609600"/>
          </a:xfrm>
        </p:spPr>
        <p:txBody>
          <a:bodyPr/>
          <a:lstStyle/>
          <a:p>
            <a:endParaRPr lang="en-IN"/>
          </a:p>
        </p:txBody>
      </p:sp>
    </p:spTree>
    <p:extLst>
      <p:ext uri="{BB962C8B-B14F-4D97-AF65-F5344CB8AC3E}">
        <p14:creationId xmlns:p14="http://schemas.microsoft.com/office/powerpoint/2010/main" val="2423818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4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12/29/24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latin typeface="+mj-lt"/>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3" name="TextBox 2">
            <a:extLst>
              <a:ext uri="{FF2B5EF4-FFF2-40B4-BE49-F238E27FC236}">
                <a16:creationId xmlns:a16="http://schemas.microsoft.com/office/drawing/2014/main" id="{7062C120-4DFF-7332-FEF6-4F23B6AB914A}"/>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22037960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2971800"/>
            <a:ext cx="8229600" cy="7620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30480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4495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0580261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3" name="TextBox 2">
            <a:extLst>
              <a:ext uri="{FF2B5EF4-FFF2-40B4-BE49-F238E27FC236}">
                <a16:creationId xmlns:a16="http://schemas.microsoft.com/office/drawing/2014/main" id="{BDB68013-2C92-5E31-6A1E-F7A017B68D27}"/>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3711136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976C3-CCF4-41AE-2756-AF2E0B1C641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745C23-BBA8-99C5-36D5-E3C7D4CF995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E0331-81B0-D7D6-7A4F-9EB7B27F6EB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A91DA835-D6F5-4D98-C381-A1E9AC54284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A993788-E333-3429-8FF8-7583FECFAE2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200B2350-5261-4F5C-9DF5-EF0D264FC8D2}" type="slidenum">
              <a:rPr lang="en-US" smtClean="0"/>
              <a:pPr/>
              <a:t>‹#›</a:t>
            </a:fld>
            <a:endParaRPr lang="en-US" dirty="0"/>
          </a:p>
        </p:txBody>
      </p:sp>
      <p:pic>
        <p:nvPicPr>
          <p:cNvPr id="7" name="Picture 6" descr="Pearson Logo">
            <a:extLst>
              <a:ext uri="{FF2B5EF4-FFF2-40B4-BE49-F238E27FC236}">
                <a16:creationId xmlns:a16="http://schemas.microsoft.com/office/drawing/2014/main" id="{4E556329-6466-D956-09BF-0169C4A9CCC8}"/>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4479A9D0-D58C-868C-66AB-6BB28B5CE36D}"/>
              </a:ext>
            </a:extLst>
          </p:cNvPr>
          <p:cNvSpPr txBox="1"/>
          <p:nvPr userDrawn="1"/>
        </p:nvSpPr>
        <p:spPr>
          <a:xfrm>
            <a:off x="8015565" y="6417105"/>
            <a:ext cx="679994"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10 -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9" name="TextBox 8">
            <a:extLst>
              <a:ext uri="{FF2B5EF4-FFF2-40B4-BE49-F238E27FC236}">
                <a16:creationId xmlns:a16="http://schemas.microsoft.com/office/drawing/2014/main" id="{A91E4867-8E63-77CE-8CFE-CBADF0A4D2D0}"/>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118346375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6" r:id="rId12"/>
    <p:sldLayoutId id="2147483687" r:id="rId13"/>
    <p:sldLayoutId id="2147483688" r:id="rId14"/>
    <p:sldLayoutId id="2147483689" r:id="rId15"/>
    <p:sldLayoutId id="2147483690" r:id="rId16"/>
    <p:sldLayoutId id="2147483691" r:id="rId17"/>
    <p:sldLayoutId id="2147483657" r:id="rId18"/>
    <p:sldLayoutId id="2147483650" r:id="rId19"/>
    <p:sldLayoutId id="2147483658" r:id="rId20"/>
    <p:sldLayoutId id="2147483660" r:id="rId21"/>
    <p:sldLayoutId id="2147483662" r:id="rId22"/>
    <p:sldLayoutId id="2147483661" r:id="rId23"/>
    <p:sldLayoutId id="2147483665" r:id="rId24"/>
    <p:sldLayoutId id="2147483663" r:id="rId25"/>
    <p:sldLayoutId id="2147483654" r:id="rId26"/>
    <p:sldLayoutId id="2147483655" r:id="rId2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image" Target="../media/image8.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9.wmf"/></Relationships>
</file>

<file path=ppt/slides/_rels/slide23.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12.wmf"/><Relationship Id="rId5" Type="http://schemas.openxmlformats.org/officeDocument/2006/relationships/oleObject" Target="../embeddings/oleObject4.bin"/><Relationship Id="rId4" Type="http://schemas.openxmlformats.org/officeDocument/2006/relationships/image" Target="../media/image11.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3.xml"/><Relationship Id="rId1" Type="http://schemas.openxmlformats.org/officeDocument/2006/relationships/slideLayout" Target="../slideLayouts/slideLayout17.xml"/><Relationship Id="rId5" Type="http://schemas.openxmlformats.org/officeDocument/2006/relationships/image" Target="../media/image15.wmf"/><Relationship Id="rId4" Type="http://schemas.openxmlformats.org/officeDocument/2006/relationships/oleObject" Target="../embeddings/oleObject6.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image" Target="../media/image16.wmf"/></Relationships>
</file>

<file path=ppt/slides/_rels/slide29.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image" Target="../media/image18.wmf"/><Relationship Id="rId5" Type="http://schemas.openxmlformats.org/officeDocument/2006/relationships/oleObject" Target="../embeddings/oleObject9.bin"/><Relationship Id="rId4" Type="http://schemas.openxmlformats.org/officeDocument/2006/relationships/image" Target="../media/image17.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media/image20.wmf"/></Relationships>
</file>

<file path=ppt/slides/_rels/slide3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lstStyle/>
          <a:p>
            <a:r>
              <a:rPr lang="en-US" dirty="0"/>
              <a:t>Macroeconomics</a:t>
            </a:r>
            <a:br>
              <a:rPr lang="en-US" dirty="0"/>
            </a:br>
            <a:r>
              <a:rPr lang="en-US" sz="2800" dirty="0"/>
              <a:t>ECON 101</a:t>
            </a:r>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304800" y="3276600"/>
            <a:ext cx="8305800" cy="1981200"/>
          </a:xfrm>
        </p:spPr>
        <p:txBody>
          <a:bodyPr>
            <a:normAutofit/>
          </a:bodyPr>
          <a:lstStyle/>
          <a:p>
            <a:r>
              <a:rPr lang="en-IN" sz="2400" dirty="0"/>
              <a:t>Money, Banks, and the Bank of Canada</a:t>
            </a:r>
          </a:p>
          <a:p>
            <a:r>
              <a:rPr lang="en-US" dirty="0"/>
              <a:t>(Chapter 10)</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spAutoFit/>
          </a:bodyPr>
          <a:lstStyle/>
          <a:p>
            <a:r>
              <a:rPr lang="en-US" sz="3600" dirty="0">
                <a:latin typeface="+mj-lt"/>
              </a:rPr>
              <a:t>Chapter Outline</a:t>
            </a:r>
            <a:endParaRPr lang="en-US" sz="2800" dirty="0">
              <a:latin typeface="+mj-lt"/>
            </a:endParaRPr>
          </a:p>
        </p:txBody>
      </p:sp>
      <p:sp>
        <p:nvSpPr>
          <p:cNvPr id="5" name="Content Placeholder 4">
            <a:extLst>
              <a:ext uri="{FF2B5EF4-FFF2-40B4-BE49-F238E27FC236}">
                <a16:creationId xmlns:a16="http://schemas.microsoft.com/office/drawing/2014/main" id="{6DAF1BDE-8458-190F-5337-F8B39B21930D}"/>
              </a:ext>
            </a:extLst>
          </p:cNvPr>
          <p:cNvSpPr>
            <a:spLocks noGrp="1"/>
          </p:cNvSpPr>
          <p:nvPr>
            <p:ph idx="1"/>
          </p:nvPr>
        </p:nvSpPr>
        <p:spPr/>
        <p:txBody>
          <a:bodyPr/>
          <a:lstStyle/>
          <a:p>
            <a:pPr marL="542925" indent="-542925">
              <a:spcBef>
                <a:spcPts val="1000"/>
              </a:spcBef>
              <a:buNone/>
            </a:pPr>
            <a:r>
              <a:rPr lang="en-US" b="1" dirty="0"/>
              <a:t>10.1 </a:t>
            </a:r>
            <a:r>
              <a:rPr lang="en-US" dirty="0"/>
              <a:t>What Is Money, and Why Do We Need It?</a:t>
            </a:r>
          </a:p>
          <a:p>
            <a:pPr marL="542925" indent="-542925">
              <a:spcBef>
                <a:spcPts val="1000"/>
              </a:spcBef>
              <a:buNone/>
            </a:pPr>
            <a:r>
              <a:rPr lang="en-US" b="1" dirty="0"/>
              <a:t>10.2</a:t>
            </a:r>
            <a:r>
              <a:rPr lang="en-US" dirty="0"/>
              <a:t> How Is Money Measured in Canada Today?</a:t>
            </a:r>
          </a:p>
          <a:p>
            <a:pPr marL="542925" indent="-542925">
              <a:spcBef>
                <a:spcPts val="1000"/>
              </a:spcBef>
              <a:buNone/>
            </a:pPr>
            <a:r>
              <a:rPr lang="en-US" b="1" dirty="0"/>
              <a:t>10.3 </a:t>
            </a:r>
            <a:r>
              <a:rPr lang="en-US" dirty="0"/>
              <a:t>How Do Banks Create Money?</a:t>
            </a:r>
          </a:p>
          <a:p>
            <a:pPr marL="542925" indent="-542925">
              <a:spcBef>
                <a:spcPts val="1000"/>
              </a:spcBef>
              <a:buNone/>
            </a:pPr>
            <a:r>
              <a:rPr lang="en-US" b="1" dirty="0"/>
              <a:t>10.5</a:t>
            </a:r>
            <a:r>
              <a:rPr lang="en-US" dirty="0"/>
              <a:t> The Quantity Theory of Money</a:t>
            </a:r>
          </a:p>
        </p:txBody>
      </p:sp>
    </p:spTree>
    <p:extLst>
      <p:ext uri="{BB962C8B-B14F-4D97-AF65-F5344CB8AC3E}">
        <p14:creationId xmlns:p14="http://schemas.microsoft.com/office/powerpoint/2010/main" val="1037479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36A0C8-8ADC-0324-D05B-D330ED37CAE8}"/>
              </a:ext>
            </a:extLst>
          </p:cNvPr>
          <p:cNvSpPr>
            <a:spLocks noGrp="1"/>
          </p:cNvSpPr>
          <p:nvPr>
            <p:ph type="title"/>
          </p:nvPr>
        </p:nvSpPr>
        <p:spPr/>
        <p:txBody>
          <a:bodyPr/>
          <a:lstStyle/>
          <a:p>
            <a:r>
              <a:rPr lang="en-US" dirty="0">
                <a:latin typeface="+mj-lt"/>
              </a:rPr>
              <a:t>Money</a:t>
            </a:r>
            <a:endParaRPr lang="en-IN" dirty="0"/>
          </a:p>
        </p:txBody>
      </p:sp>
      <p:sp>
        <p:nvSpPr>
          <p:cNvPr id="7" name="Content Placeholder 6">
            <a:extLst>
              <a:ext uri="{FF2B5EF4-FFF2-40B4-BE49-F238E27FC236}">
                <a16:creationId xmlns:a16="http://schemas.microsoft.com/office/drawing/2014/main" id="{185D136E-3C74-9B55-01E7-59AD5A0FA8B1}"/>
              </a:ext>
            </a:extLst>
          </p:cNvPr>
          <p:cNvSpPr>
            <a:spLocks noGrp="1"/>
          </p:cNvSpPr>
          <p:nvPr>
            <p:ph idx="1"/>
          </p:nvPr>
        </p:nvSpPr>
        <p:spPr/>
        <p:txBody>
          <a:bodyPr/>
          <a:lstStyle/>
          <a:p>
            <a:pPr marL="0" indent="0">
              <a:spcBef>
                <a:spcPts val="1000"/>
              </a:spcBef>
              <a:buNone/>
              <a:defRPr/>
            </a:pPr>
            <a:r>
              <a:rPr lang="en-US" sz="2200" dirty="0"/>
              <a:t>Money is one of the most important inventions of mankind.</a:t>
            </a:r>
          </a:p>
          <a:p>
            <a:pPr marL="266700" indent="-266700">
              <a:spcBef>
                <a:spcPts val="1000"/>
              </a:spcBef>
              <a:defRPr/>
            </a:pPr>
            <a:r>
              <a:rPr lang="en-US" sz="2200" dirty="0"/>
              <a:t>Economists consider </a:t>
            </a:r>
            <a:r>
              <a:rPr lang="en-US" sz="2200" b="1" dirty="0"/>
              <a:t>money</a:t>
            </a:r>
            <a:r>
              <a:rPr lang="en-US" sz="2200" dirty="0"/>
              <a:t> to be any asset that people are generally willing to accept in exchange for goods and services, or for payment of debts.</a:t>
            </a:r>
          </a:p>
          <a:p>
            <a:pPr marL="266700" indent="-266700">
              <a:spcBef>
                <a:spcPts val="1000"/>
              </a:spcBef>
              <a:defRPr/>
            </a:pPr>
            <a:r>
              <a:rPr lang="en-US" sz="2200" b="1" dirty="0"/>
              <a:t>Asset:</a:t>
            </a:r>
            <a:r>
              <a:rPr lang="en-US" sz="2200" dirty="0"/>
              <a:t> Anything of value owned by a person or a firm.</a:t>
            </a:r>
          </a:p>
          <a:p>
            <a:pPr marL="0" indent="0">
              <a:spcBef>
                <a:spcPts val="1000"/>
              </a:spcBef>
              <a:buNone/>
              <a:defRPr/>
            </a:pPr>
            <a:r>
              <a:rPr lang="en-US" sz="2200" dirty="0"/>
              <a:t>We will begin by considering what role money serves, and what can be used as money.</a:t>
            </a:r>
          </a:p>
          <a:p>
            <a:pPr marL="266700" indent="-266700">
              <a:spcBef>
                <a:spcPts val="1000"/>
              </a:spcBef>
              <a:defRPr/>
            </a:pPr>
            <a:r>
              <a:rPr lang="en-US" sz="2200" dirty="0"/>
              <a:t>Then we will consider modern forms of money and the roles of banks and the government in creating and managing money.</a:t>
            </a:r>
          </a:p>
          <a:p>
            <a:pPr marL="266700" indent="-266700">
              <a:spcBef>
                <a:spcPts val="1000"/>
              </a:spcBef>
              <a:defRPr/>
            </a:pPr>
            <a:r>
              <a:rPr lang="en-US" sz="2200" dirty="0"/>
              <a:t>Finally, we will create a model that relates prices to the amount of money.</a:t>
            </a:r>
            <a:endParaRPr lang="en-US" sz="2200" b="1" dirty="0"/>
          </a:p>
        </p:txBody>
      </p:sp>
    </p:spTree>
    <p:extLst>
      <p:ext uri="{BB962C8B-B14F-4D97-AF65-F5344CB8AC3E}">
        <p14:creationId xmlns:p14="http://schemas.microsoft.com/office/powerpoint/2010/main" val="3762549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spAutoFit/>
          </a:bodyPr>
          <a:lstStyle/>
          <a:p>
            <a:r>
              <a:rPr lang="en-US" sz="3200" dirty="0">
                <a:latin typeface="+mj-lt"/>
              </a:rPr>
              <a:t>What Is Money, and Why Do We Need It?</a:t>
            </a:r>
          </a:p>
        </p:txBody>
      </p:sp>
      <p:sp>
        <p:nvSpPr>
          <p:cNvPr id="6" name="Text Placeholder 5">
            <a:extLst>
              <a:ext uri="{FF2B5EF4-FFF2-40B4-BE49-F238E27FC236}">
                <a16:creationId xmlns:a16="http://schemas.microsoft.com/office/drawing/2014/main" id="{76994CAE-3415-17AC-1E87-D1BBFC927E14}"/>
              </a:ext>
            </a:extLst>
          </p:cNvPr>
          <p:cNvSpPr>
            <a:spLocks noGrp="1"/>
          </p:cNvSpPr>
          <p:nvPr>
            <p:ph type="body" sz="quarter" idx="13"/>
          </p:nvPr>
        </p:nvSpPr>
        <p:spPr/>
        <p:txBody>
          <a:bodyPr/>
          <a:lstStyle/>
          <a:p>
            <a:r>
              <a:rPr lang="en-US" sz="2400" b="1" dirty="0">
                <a:solidFill>
                  <a:schemeClr val="tx1"/>
                </a:solidFill>
              </a:rPr>
              <a:t>10.1 Learning</a:t>
            </a:r>
            <a:r>
              <a:rPr lang="en-US" sz="2400" dirty="0">
                <a:solidFill>
                  <a:schemeClr val="tx1"/>
                </a:solidFill>
              </a:rPr>
              <a:t> </a:t>
            </a:r>
            <a:r>
              <a:rPr lang="en-US" sz="2400" b="1" dirty="0">
                <a:solidFill>
                  <a:schemeClr val="tx1"/>
                </a:solidFill>
              </a:rPr>
              <a:t>Objective</a:t>
            </a:r>
          </a:p>
        </p:txBody>
      </p:sp>
      <p:sp>
        <p:nvSpPr>
          <p:cNvPr id="3" name="Content Placeholder 2"/>
          <p:cNvSpPr>
            <a:spLocks noGrp="1"/>
          </p:cNvSpPr>
          <p:nvPr>
            <p:ph sz="quarter" idx="14"/>
          </p:nvPr>
        </p:nvSpPr>
        <p:spPr>
          <a:xfrm>
            <a:off x="466725" y="1570751"/>
            <a:ext cx="8229600" cy="369332"/>
          </a:xfrm>
        </p:spPr>
        <p:txBody>
          <a:bodyPr wrap="square" anchor="ctr">
            <a:spAutoFit/>
          </a:bodyPr>
          <a:lstStyle/>
          <a:p>
            <a:pPr marL="0" indent="0">
              <a:buNone/>
            </a:pPr>
            <a:r>
              <a:rPr lang="en-US" sz="2400" dirty="0"/>
              <a:t>Define money and discuss the four functions of money.</a:t>
            </a:r>
          </a:p>
        </p:txBody>
      </p:sp>
      <p:sp>
        <p:nvSpPr>
          <p:cNvPr id="4" name="Content Placeholder 6">
            <a:extLst>
              <a:ext uri="{FF2B5EF4-FFF2-40B4-BE49-F238E27FC236}">
                <a16:creationId xmlns:a16="http://schemas.microsoft.com/office/drawing/2014/main" id="{A119A3D4-6143-06B9-D336-29779630C696}"/>
              </a:ext>
            </a:extLst>
          </p:cNvPr>
          <p:cNvSpPr txBox="1">
            <a:spLocks/>
          </p:cNvSpPr>
          <p:nvPr/>
        </p:nvSpPr>
        <p:spPr>
          <a:xfrm>
            <a:off x="466725" y="2063035"/>
            <a:ext cx="8232128" cy="1518366"/>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spcBef>
                <a:spcPts val="1000"/>
              </a:spcBef>
              <a:buFont typeface="Arial" panose="020B0604020202020204" pitchFamily="34" charset="0"/>
              <a:buNone/>
            </a:pPr>
            <a:r>
              <a:rPr lang="en-US" sz="2000" dirty="0"/>
              <a:t>Suppose you were living before the invention of money.</a:t>
            </a:r>
          </a:p>
          <a:p>
            <a:pPr>
              <a:spcBef>
                <a:spcPts val="1000"/>
              </a:spcBef>
            </a:pPr>
            <a:r>
              <a:rPr lang="en-US" sz="2000" dirty="0"/>
              <a:t>If you wanted to trade, you would have to </a:t>
            </a:r>
            <a:r>
              <a:rPr lang="en-US" sz="2000" b="1" dirty="0"/>
              <a:t>barter,</a:t>
            </a:r>
            <a:r>
              <a:rPr lang="en-US" sz="2000" dirty="0"/>
              <a:t> trading goods and services directly for other goods and services.</a:t>
            </a:r>
          </a:p>
          <a:p>
            <a:pPr>
              <a:spcBef>
                <a:spcPts val="1000"/>
              </a:spcBef>
            </a:pPr>
            <a:r>
              <a:rPr lang="en-US" sz="2000" dirty="0"/>
              <a:t>Trades would require a </a:t>
            </a:r>
            <a:r>
              <a:rPr lang="en-US" sz="2000" b="1" dirty="0"/>
              <a:t>double coincidence of wants.</a:t>
            </a:r>
          </a:p>
        </p:txBody>
      </p:sp>
      <p:sp>
        <p:nvSpPr>
          <p:cNvPr id="5" name="Content Placeholder 7">
            <a:extLst>
              <a:ext uri="{FF2B5EF4-FFF2-40B4-BE49-F238E27FC236}">
                <a16:creationId xmlns:a16="http://schemas.microsoft.com/office/drawing/2014/main" id="{43677BE8-A87E-07BE-ABE2-5FAF9E782B2E}"/>
              </a:ext>
            </a:extLst>
          </p:cNvPr>
          <p:cNvSpPr txBox="1">
            <a:spLocks/>
          </p:cNvSpPr>
          <p:nvPr/>
        </p:nvSpPr>
        <p:spPr>
          <a:xfrm>
            <a:off x="381000" y="3590926"/>
            <a:ext cx="8082116" cy="1819274"/>
          </a:xfrm>
          <a:prstGeom prst="rect">
            <a:avLst/>
          </a:prstGeom>
        </p:spPr>
        <p:txBody>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000" dirty="0"/>
              <a:t>Eventually, societies started using </a:t>
            </a:r>
            <a:r>
              <a:rPr lang="en-US" sz="2000" b="1" dirty="0"/>
              <a:t>commodity money</a:t>
            </a:r>
            <a:r>
              <a:rPr lang="en-US" sz="2000" dirty="0"/>
              <a:t>—goods used as money that also have value independent of their use as money—like animal skins or precious metals.</a:t>
            </a:r>
          </a:p>
          <a:p>
            <a:pPr>
              <a:spcBef>
                <a:spcPts val="1000"/>
              </a:spcBef>
            </a:pPr>
            <a:r>
              <a:rPr lang="en-US" sz="2000" dirty="0"/>
              <a:t>The existence of money makes trading much easier and allows specialization, an important step for developing an economy.</a:t>
            </a:r>
            <a:endParaRPr lang="en-IN" sz="2000" dirty="0"/>
          </a:p>
        </p:txBody>
      </p:sp>
    </p:spTree>
    <p:extLst>
      <p:ext uri="{BB962C8B-B14F-4D97-AF65-F5344CB8AC3E}">
        <p14:creationId xmlns:p14="http://schemas.microsoft.com/office/powerpoint/2010/main" val="3093731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3E98AE-EA68-D326-8205-65D31EF86BD7}"/>
              </a:ext>
            </a:extLst>
          </p:cNvPr>
          <p:cNvSpPr>
            <a:spLocks noGrp="1"/>
          </p:cNvSpPr>
          <p:nvPr>
            <p:ph type="title"/>
          </p:nvPr>
        </p:nvSpPr>
        <p:spPr/>
        <p:txBody>
          <a:bodyPr/>
          <a:lstStyle/>
          <a:p>
            <a:r>
              <a:rPr lang="en-IN" dirty="0">
                <a:latin typeface="+mj-lt"/>
              </a:rPr>
              <a:t>The Functions of Money</a:t>
            </a:r>
            <a:endParaRPr lang="en-IN" dirty="0"/>
          </a:p>
        </p:txBody>
      </p:sp>
      <p:sp>
        <p:nvSpPr>
          <p:cNvPr id="3" name="Content Placeholder 2"/>
          <p:cNvSpPr>
            <a:spLocks noGrp="1"/>
          </p:cNvSpPr>
          <p:nvPr>
            <p:ph idx="1"/>
          </p:nvPr>
        </p:nvSpPr>
        <p:spPr>
          <a:xfrm>
            <a:off x="457200" y="1403534"/>
            <a:ext cx="8229600" cy="4919295"/>
          </a:xfrm>
        </p:spPr>
        <p:txBody>
          <a:bodyPr wrap="square" anchor="ctr">
            <a:spAutoFit/>
          </a:bodyPr>
          <a:lstStyle/>
          <a:p>
            <a:pPr marL="0" indent="0">
              <a:spcBef>
                <a:spcPts val="0"/>
              </a:spcBef>
              <a:spcAft>
                <a:spcPts val="700"/>
              </a:spcAft>
              <a:buNone/>
              <a:defRPr/>
            </a:pPr>
            <a:r>
              <a:rPr lang="en-US" sz="2100" dirty="0"/>
              <a:t>Money fulfills four primary functions:</a:t>
            </a:r>
          </a:p>
          <a:p>
            <a:pPr marL="0" indent="0">
              <a:spcBef>
                <a:spcPts val="0"/>
              </a:spcBef>
              <a:spcAft>
                <a:spcPts val="700"/>
              </a:spcAft>
              <a:buNone/>
              <a:defRPr/>
            </a:pPr>
            <a:r>
              <a:rPr lang="en-US" sz="2100" b="1" i="1" dirty="0"/>
              <a:t>Medium of exchange</a:t>
            </a:r>
          </a:p>
          <a:p>
            <a:pPr marL="0" indent="0">
              <a:spcBef>
                <a:spcPts val="0"/>
              </a:spcBef>
              <a:spcAft>
                <a:spcPts val="700"/>
              </a:spcAft>
              <a:buNone/>
              <a:defRPr/>
            </a:pPr>
            <a:r>
              <a:rPr lang="en-US" sz="2100" dirty="0"/>
              <a:t>Money is acceptable to a wide variety of parties as a form of payment for goods and services.</a:t>
            </a:r>
          </a:p>
          <a:p>
            <a:pPr marL="0" indent="0">
              <a:spcBef>
                <a:spcPts val="0"/>
              </a:spcBef>
              <a:spcAft>
                <a:spcPts val="700"/>
              </a:spcAft>
              <a:buNone/>
              <a:defRPr/>
            </a:pPr>
            <a:r>
              <a:rPr lang="en-US" sz="2100" b="1" i="1" dirty="0"/>
              <a:t>Unit of account</a:t>
            </a:r>
          </a:p>
          <a:p>
            <a:pPr marL="0" indent="0">
              <a:spcBef>
                <a:spcPts val="0"/>
              </a:spcBef>
              <a:spcAft>
                <a:spcPts val="700"/>
              </a:spcAft>
              <a:buNone/>
              <a:defRPr/>
            </a:pPr>
            <a:r>
              <a:rPr lang="en-US" sz="2100" dirty="0"/>
              <a:t>Money allows a way of measuring value in a standard manner.</a:t>
            </a:r>
          </a:p>
          <a:p>
            <a:pPr marL="0" indent="0">
              <a:spcBef>
                <a:spcPts val="0"/>
              </a:spcBef>
              <a:spcAft>
                <a:spcPts val="700"/>
              </a:spcAft>
              <a:buNone/>
              <a:defRPr/>
            </a:pPr>
            <a:r>
              <a:rPr lang="en-US" sz="2100" b="1" i="1" dirty="0"/>
              <a:t>Store of value</a:t>
            </a:r>
          </a:p>
          <a:p>
            <a:pPr marL="0" indent="0">
              <a:spcBef>
                <a:spcPts val="0"/>
              </a:spcBef>
              <a:spcAft>
                <a:spcPts val="700"/>
              </a:spcAft>
              <a:buNone/>
              <a:defRPr/>
            </a:pPr>
            <a:r>
              <a:rPr lang="en-US" sz="2100" dirty="0"/>
              <a:t>Money allows people to defer consumption till a later date by storing value. Other assets can do this too, but money does it particularly well because it is </a:t>
            </a:r>
            <a:r>
              <a:rPr lang="en-US" sz="2100" i="1" dirty="0"/>
              <a:t>liquid</a:t>
            </a:r>
            <a:r>
              <a:rPr lang="en-US" sz="2100" dirty="0"/>
              <a:t>, easily exchanged for goods.</a:t>
            </a:r>
          </a:p>
          <a:p>
            <a:pPr marL="0" indent="0">
              <a:spcBef>
                <a:spcPts val="0"/>
              </a:spcBef>
              <a:spcAft>
                <a:spcPts val="700"/>
              </a:spcAft>
              <a:buNone/>
              <a:defRPr/>
            </a:pPr>
            <a:r>
              <a:rPr lang="en-US" sz="2100" b="1" i="1" dirty="0"/>
              <a:t>Standard of deferred payment</a:t>
            </a:r>
          </a:p>
          <a:p>
            <a:pPr marL="0" indent="0">
              <a:spcBef>
                <a:spcPts val="0"/>
              </a:spcBef>
              <a:spcAft>
                <a:spcPts val="700"/>
              </a:spcAft>
              <a:buNone/>
              <a:defRPr/>
            </a:pPr>
            <a:r>
              <a:rPr lang="en-US" sz="2100" dirty="0"/>
              <a:t>Money facilitates exchanges </a:t>
            </a:r>
            <a:r>
              <a:rPr lang="en-US" sz="2100" i="1" dirty="0"/>
              <a:t>across time</a:t>
            </a:r>
            <a:r>
              <a:rPr lang="en-US" sz="2100" dirty="0"/>
              <a:t> when we anticipate that its value in the future will be predictable.</a:t>
            </a:r>
          </a:p>
        </p:txBody>
      </p:sp>
    </p:spTree>
    <p:extLst>
      <p:ext uri="{BB962C8B-B14F-4D97-AF65-F5344CB8AC3E}">
        <p14:creationId xmlns:p14="http://schemas.microsoft.com/office/powerpoint/2010/main" val="3797993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8B6A0E-3F08-493F-BD97-651367549C0A}"/>
              </a:ext>
            </a:extLst>
          </p:cNvPr>
          <p:cNvSpPr>
            <a:spLocks noGrp="1"/>
          </p:cNvSpPr>
          <p:nvPr>
            <p:ph type="title"/>
          </p:nvPr>
        </p:nvSpPr>
        <p:spPr/>
        <p:txBody>
          <a:bodyPr/>
          <a:lstStyle/>
          <a:p>
            <a:r>
              <a:rPr lang="en-US" dirty="0">
                <a:latin typeface="+mj-lt"/>
              </a:rPr>
              <a:t>What Can Serve as Money?</a:t>
            </a:r>
            <a:endParaRPr lang="en-IN" dirty="0"/>
          </a:p>
        </p:txBody>
      </p:sp>
      <p:sp>
        <p:nvSpPr>
          <p:cNvPr id="3" name="Content Placeholder 2"/>
          <p:cNvSpPr>
            <a:spLocks noGrp="1"/>
          </p:cNvSpPr>
          <p:nvPr>
            <p:ph idx="1"/>
          </p:nvPr>
        </p:nvSpPr>
        <p:spPr>
          <a:xfrm>
            <a:off x="457200" y="1531774"/>
            <a:ext cx="8229600" cy="4662815"/>
          </a:xfrm>
        </p:spPr>
        <p:txBody>
          <a:bodyPr wrap="square" anchor="ctr">
            <a:spAutoFit/>
          </a:bodyPr>
          <a:lstStyle/>
          <a:p>
            <a:pPr marL="0" indent="0">
              <a:spcBef>
                <a:spcPts val="0"/>
              </a:spcBef>
              <a:spcAft>
                <a:spcPts val="1200"/>
              </a:spcAft>
              <a:buNone/>
              <a:defRPr/>
            </a:pPr>
            <a:r>
              <a:rPr lang="en-US" sz="2300" dirty="0"/>
              <a:t>In order to serve as an acceptable medium of exchange (and hence a potential “money”), an asset should have the following characteristics:</a:t>
            </a:r>
          </a:p>
          <a:p>
            <a:pPr marL="347472" indent="-347472">
              <a:spcBef>
                <a:spcPts val="0"/>
              </a:spcBef>
              <a:spcAft>
                <a:spcPts val="1200"/>
              </a:spcAft>
              <a:buAutoNum type="arabicPeriod"/>
              <a:defRPr/>
            </a:pPr>
            <a:r>
              <a:rPr lang="en-US" sz="2300" dirty="0"/>
              <a:t>The asset must be </a:t>
            </a:r>
            <a:r>
              <a:rPr lang="en-US" sz="2300" i="1" dirty="0"/>
              <a:t>acceptable</a:t>
            </a:r>
            <a:r>
              <a:rPr lang="en-US" sz="2300" dirty="0"/>
              <a:t> to most people.</a:t>
            </a:r>
          </a:p>
          <a:p>
            <a:pPr marL="347472" indent="-347472">
              <a:spcBef>
                <a:spcPts val="0"/>
              </a:spcBef>
              <a:spcAft>
                <a:spcPts val="1200"/>
              </a:spcAft>
              <a:buAutoNum type="arabicPeriod"/>
              <a:defRPr/>
            </a:pPr>
            <a:r>
              <a:rPr lang="en-US" sz="2300" dirty="0"/>
              <a:t>It should be of </a:t>
            </a:r>
            <a:r>
              <a:rPr lang="en-US" sz="2300" i="1" dirty="0"/>
              <a:t>standardized quality</a:t>
            </a:r>
            <a:r>
              <a:rPr lang="en-US" sz="2300" dirty="0"/>
              <a:t> so any two units are alike.</a:t>
            </a:r>
          </a:p>
          <a:p>
            <a:pPr marL="347472" indent="-347472">
              <a:spcBef>
                <a:spcPts val="0"/>
              </a:spcBef>
              <a:spcAft>
                <a:spcPts val="1200"/>
              </a:spcAft>
              <a:buAutoNum type="arabicPeriod"/>
              <a:defRPr/>
            </a:pPr>
            <a:r>
              <a:rPr lang="en-US" sz="2300" dirty="0"/>
              <a:t>It should be </a:t>
            </a:r>
            <a:r>
              <a:rPr lang="en-US" sz="2300" i="1" dirty="0"/>
              <a:t>durable</a:t>
            </a:r>
            <a:r>
              <a:rPr lang="en-US" sz="2300" dirty="0"/>
              <a:t> so that value is not lost by wearing out.</a:t>
            </a:r>
          </a:p>
          <a:p>
            <a:pPr marL="347472" indent="-347472">
              <a:spcBef>
                <a:spcPts val="0"/>
              </a:spcBef>
              <a:spcAft>
                <a:spcPts val="1200"/>
              </a:spcAft>
              <a:buAutoNum type="arabicPeriod"/>
              <a:defRPr/>
            </a:pPr>
            <a:r>
              <a:rPr lang="en-US" sz="2300" dirty="0"/>
              <a:t>It should be </a:t>
            </a:r>
            <a:r>
              <a:rPr lang="en-US" sz="2300" i="1" dirty="0"/>
              <a:t>valuable</a:t>
            </a:r>
            <a:r>
              <a:rPr lang="en-US" sz="2300" dirty="0"/>
              <a:t> relative to its weight, so that it can easily be transported even in large quantities.</a:t>
            </a:r>
          </a:p>
          <a:p>
            <a:pPr marL="347472" indent="-347472">
              <a:spcBef>
                <a:spcPts val="0"/>
              </a:spcBef>
              <a:spcAft>
                <a:spcPts val="1200"/>
              </a:spcAft>
              <a:buAutoNum type="arabicPeriod"/>
              <a:defRPr/>
            </a:pPr>
            <a:r>
              <a:rPr lang="en-US" sz="2300" dirty="0"/>
              <a:t>It should be </a:t>
            </a:r>
            <a:r>
              <a:rPr lang="en-US" sz="2300" i="1" dirty="0"/>
              <a:t>divisible</a:t>
            </a:r>
            <a:r>
              <a:rPr lang="en-US" sz="2300" dirty="0"/>
              <a:t> to be used in purchases of both low-priced and high-priced goods.</a:t>
            </a:r>
          </a:p>
        </p:txBody>
      </p:sp>
    </p:spTree>
    <p:extLst>
      <p:ext uri="{BB962C8B-B14F-4D97-AF65-F5344CB8AC3E}">
        <p14:creationId xmlns:p14="http://schemas.microsoft.com/office/powerpoint/2010/main" val="273680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748853E-F029-68C8-CA58-CB1FFAF13DFE}"/>
              </a:ext>
            </a:extLst>
          </p:cNvPr>
          <p:cNvSpPr>
            <a:spLocks noGrp="1"/>
          </p:cNvSpPr>
          <p:nvPr>
            <p:ph type="title"/>
          </p:nvPr>
        </p:nvSpPr>
        <p:spPr/>
        <p:txBody>
          <a:bodyPr/>
          <a:lstStyle/>
          <a:p>
            <a:r>
              <a:rPr lang="en-US" dirty="0">
                <a:latin typeface="+mj-lt"/>
              </a:rPr>
              <a:t>Commodity Money</a:t>
            </a:r>
            <a:endParaRPr lang="en-IN" dirty="0"/>
          </a:p>
        </p:txBody>
      </p:sp>
      <p:sp>
        <p:nvSpPr>
          <p:cNvPr id="3" name="Content Placeholder 2"/>
          <p:cNvSpPr>
            <a:spLocks noGrp="1"/>
          </p:cNvSpPr>
          <p:nvPr>
            <p:ph idx="1"/>
          </p:nvPr>
        </p:nvSpPr>
        <p:spPr>
          <a:xfrm>
            <a:off x="457200" y="2262743"/>
            <a:ext cx="8229600" cy="3200876"/>
          </a:xfrm>
        </p:spPr>
        <p:txBody>
          <a:bodyPr wrap="square" anchor="ctr">
            <a:spAutoFit/>
          </a:bodyPr>
          <a:lstStyle/>
          <a:p>
            <a:pPr marL="0" indent="0">
              <a:spcBef>
                <a:spcPts val="0"/>
              </a:spcBef>
              <a:spcAft>
                <a:spcPts val="1200"/>
              </a:spcAft>
              <a:buNone/>
              <a:defRPr/>
            </a:pPr>
            <a:r>
              <a:rPr lang="en-US" sz="2400" dirty="0"/>
              <a:t>Commodity money has a value independent of its use as money.</a:t>
            </a:r>
          </a:p>
          <a:p>
            <a:pPr>
              <a:spcBef>
                <a:spcPts val="0"/>
              </a:spcBef>
              <a:spcAft>
                <a:spcPts val="1200"/>
              </a:spcAft>
              <a:buNone/>
              <a:defRPr/>
            </a:pPr>
            <a:r>
              <a:rPr lang="en-US" sz="2400" dirty="0"/>
              <a:t>Some important historical and modern commodity moneys:</a:t>
            </a:r>
          </a:p>
          <a:p>
            <a:pPr>
              <a:spcBef>
                <a:spcPts val="0"/>
              </a:spcBef>
              <a:spcAft>
                <a:spcPts val="1200"/>
              </a:spcAft>
              <a:defRPr/>
            </a:pPr>
            <a:r>
              <a:rPr lang="en-US" sz="2400" dirty="0"/>
              <a:t>Precious metals, such as gold or silver</a:t>
            </a:r>
          </a:p>
          <a:p>
            <a:pPr>
              <a:spcBef>
                <a:spcPts val="0"/>
              </a:spcBef>
              <a:spcAft>
                <a:spcPts val="1200"/>
              </a:spcAft>
              <a:defRPr/>
            </a:pPr>
            <a:r>
              <a:rPr lang="en-US" sz="2400" dirty="0"/>
              <a:t>Beaver pelts in early settlers of members of an Indigenous group in Canada</a:t>
            </a:r>
          </a:p>
          <a:p>
            <a:pPr>
              <a:spcBef>
                <a:spcPts val="0"/>
              </a:spcBef>
              <a:spcAft>
                <a:spcPts val="1200"/>
              </a:spcAft>
              <a:defRPr/>
            </a:pPr>
            <a:r>
              <a:rPr lang="en-US" sz="2400" dirty="0"/>
              <a:t>Cigarettes in prisons and prisoner-of-war camps</a:t>
            </a:r>
          </a:p>
        </p:txBody>
      </p:sp>
    </p:spTree>
    <p:extLst>
      <p:ext uri="{BB962C8B-B14F-4D97-AF65-F5344CB8AC3E}">
        <p14:creationId xmlns:p14="http://schemas.microsoft.com/office/powerpoint/2010/main" val="2692052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B5C0342-E8D4-8B38-4F6C-A837FD0CE128}"/>
              </a:ext>
            </a:extLst>
          </p:cNvPr>
          <p:cNvSpPr>
            <a:spLocks noGrp="1"/>
          </p:cNvSpPr>
          <p:nvPr>
            <p:ph type="title"/>
          </p:nvPr>
        </p:nvSpPr>
        <p:spPr/>
        <p:txBody>
          <a:bodyPr/>
          <a:lstStyle/>
          <a:p>
            <a:r>
              <a:rPr lang="en-US" dirty="0">
                <a:latin typeface="+mj-lt"/>
              </a:rPr>
              <a:t>Fiat Money</a:t>
            </a:r>
            <a:r>
              <a:rPr lang="en-US" sz="2000" dirty="0">
                <a:latin typeface="+mj-lt"/>
              </a:rPr>
              <a:t> </a:t>
            </a:r>
            <a:r>
              <a:rPr lang="en-US" sz="2000" b="0" dirty="0">
                <a:latin typeface="+mj-lt"/>
              </a:rPr>
              <a:t>(1 of 2)</a:t>
            </a:r>
            <a:endParaRPr lang="en-IN" sz="2000" dirty="0"/>
          </a:p>
        </p:txBody>
      </p:sp>
      <p:sp>
        <p:nvSpPr>
          <p:cNvPr id="3" name="Content Placeholder 2"/>
          <p:cNvSpPr>
            <a:spLocks noGrp="1" noRot="1" noMove="1" noResize="1" noEditPoints="1" noAdjustHandles="1" noChangeArrowheads="1" noChangeShapeType="1"/>
          </p:cNvSpPr>
          <p:nvPr>
            <p:ph idx="1"/>
          </p:nvPr>
        </p:nvSpPr>
        <p:spPr>
          <a:xfrm>
            <a:off x="457200" y="2119115"/>
            <a:ext cx="8229600" cy="3488134"/>
          </a:xfrm>
        </p:spPr>
        <p:txBody>
          <a:bodyPr wrap="square" anchor="ctr">
            <a:spAutoFit/>
          </a:bodyPr>
          <a:lstStyle/>
          <a:p>
            <a:pPr marL="0" indent="0">
              <a:spcBef>
                <a:spcPts val="1000"/>
              </a:spcBef>
              <a:buNone/>
              <a:defRPr/>
            </a:pPr>
            <a:r>
              <a:rPr lang="en-US" sz="2100" dirty="0"/>
              <a:t>In modern economies, paper money is generally issued by a </a:t>
            </a:r>
            <a:r>
              <a:rPr lang="en-US" sz="2100" i="1" dirty="0"/>
              <a:t>central bank</a:t>
            </a:r>
            <a:r>
              <a:rPr lang="en-US" sz="2100" dirty="0"/>
              <a:t> run by the government.</a:t>
            </a:r>
          </a:p>
          <a:p>
            <a:pPr marL="0" indent="0">
              <a:spcBef>
                <a:spcPts val="1000"/>
              </a:spcBef>
              <a:buNone/>
              <a:defRPr/>
            </a:pPr>
            <a:r>
              <a:rPr lang="en-US" sz="2100" dirty="0"/>
              <a:t>The </a:t>
            </a:r>
            <a:r>
              <a:rPr lang="en-US" sz="2100" b="1" dirty="0"/>
              <a:t>Bank of Canada </a:t>
            </a:r>
            <a:r>
              <a:rPr lang="en-US" sz="2100" dirty="0"/>
              <a:t>is the central bank of Canada. However, money issued by the Bank of Canada is no longer exchangeable for gold; nor is </a:t>
            </a:r>
            <a:r>
              <a:rPr lang="en-US" sz="2100" i="1" dirty="0"/>
              <a:t>any</a:t>
            </a:r>
            <a:r>
              <a:rPr lang="en-US" sz="2100" dirty="0"/>
              <a:t> current world currency. Instead, the Bank of Canada issues currency known as </a:t>
            </a:r>
            <a:r>
              <a:rPr lang="en-US" sz="2100" b="1" dirty="0"/>
              <a:t>fiat money.</a:t>
            </a:r>
            <a:endParaRPr lang="en-US" sz="2100" b="1" i="1" dirty="0"/>
          </a:p>
          <a:p>
            <a:pPr marL="0" indent="0">
              <a:spcBef>
                <a:spcPts val="1000"/>
              </a:spcBef>
              <a:buNone/>
              <a:defRPr/>
            </a:pPr>
            <a:r>
              <a:rPr lang="en-US" sz="2100" b="1" dirty="0"/>
              <a:t>Fiat money </a:t>
            </a:r>
            <a:r>
              <a:rPr lang="en-US" sz="2100" dirty="0"/>
              <a:t>refers to any money, such as paper currency, that is authorized by a central bank or governmental body, and that does not have to be exchanged by the central bank for gold or some other commodity money.</a:t>
            </a:r>
          </a:p>
        </p:txBody>
      </p:sp>
    </p:spTree>
    <p:extLst>
      <p:ext uri="{BB962C8B-B14F-4D97-AF65-F5344CB8AC3E}">
        <p14:creationId xmlns:p14="http://schemas.microsoft.com/office/powerpoint/2010/main" val="3139026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28DE47-3549-85FD-D0D6-2A0798FD8543}"/>
              </a:ext>
            </a:extLst>
          </p:cNvPr>
          <p:cNvSpPr>
            <a:spLocks noGrp="1"/>
          </p:cNvSpPr>
          <p:nvPr>
            <p:ph type="title"/>
          </p:nvPr>
        </p:nvSpPr>
        <p:spPr/>
        <p:txBody>
          <a:bodyPr/>
          <a:lstStyle/>
          <a:p>
            <a:r>
              <a:rPr lang="en-US" dirty="0">
                <a:latin typeface="+mj-lt"/>
              </a:rPr>
              <a:t>Fiat Money</a:t>
            </a:r>
            <a:r>
              <a:rPr lang="en-US" sz="2000" dirty="0">
                <a:latin typeface="+mj-lt"/>
              </a:rPr>
              <a:t> </a:t>
            </a:r>
            <a:r>
              <a:rPr lang="en-US" sz="2000" b="0" dirty="0">
                <a:latin typeface="+mj-lt"/>
              </a:rPr>
              <a:t>(2 of 2)</a:t>
            </a:r>
            <a:endParaRPr lang="en-IN" sz="2000" dirty="0"/>
          </a:p>
        </p:txBody>
      </p:sp>
      <p:sp>
        <p:nvSpPr>
          <p:cNvPr id="9" name="Content Placeholder 8">
            <a:extLst>
              <a:ext uri="{FF2B5EF4-FFF2-40B4-BE49-F238E27FC236}">
                <a16:creationId xmlns:a16="http://schemas.microsoft.com/office/drawing/2014/main" id="{B5B73DB9-BAA7-EDDC-26BD-E2663E8EA68B}"/>
              </a:ext>
            </a:extLst>
          </p:cNvPr>
          <p:cNvSpPr>
            <a:spLocks noGrp="1"/>
          </p:cNvSpPr>
          <p:nvPr>
            <p:ph idx="1"/>
          </p:nvPr>
        </p:nvSpPr>
        <p:spPr/>
        <p:txBody>
          <a:bodyPr/>
          <a:lstStyle/>
          <a:p>
            <a:pPr marL="0" indent="0">
              <a:spcBef>
                <a:spcPts val="1000"/>
              </a:spcBef>
              <a:buNone/>
              <a:defRPr/>
            </a:pPr>
            <a:r>
              <a:rPr lang="en-US" sz="2200" b="1" dirty="0"/>
              <a:t>Fiat money: </a:t>
            </a:r>
            <a:r>
              <a:rPr lang="en-US" sz="2200" dirty="0"/>
              <a:t>Money, such as paper currency, that is authorized by a central bank or governmental body and that does not have to be exchanged by the central bank for gold or another commodity money.</a:t>
            </a:r>
            <a:endParaRPr lang="en-US" sz="2200" b="1" dirty="0"/>
          </a:p>
          <a:p>
            <a:pPr marL="266700" indent="-266700">
              <a:spcBef>
                <a:spcPts val="1000"/>
              </a:spcBef>
              <a:defRPr/>
            </a:pPr>
            <a:r>
              <a:rPr lang="en-US" sz="2200" dirty="0"/>
              <a:t>It is more flexible for central banks to create money.</a:t>
            </a:r>
          </a:p>
          <a:p>
            <a:pPr marL="0" indent="0">
              <a:spcBef>
                <a:spcPts val="1000"/>
              </a:spcBef>
              <a:buNone/>
              <a:defRPr/>
            </a:pPr>
            <a:r>
              <a:rPr lang="en-US" sz="2200" dirty="0"/>
              <a:t>However it also creates a potential problem: fiat money is only acceptable as long as </a:t>
            </a:r>
            <a:r>
              <a:rPr lang="en-US" sz="2200" i="1" dirty="0"/>
              <a:t>households and firms have confidence that if they accept paper dollars in exchange for goods and services, the dollars will not lose much value during the time they hold them.</a:t>
            </a:r>
          </a:p>
          <a:p>
            <a:pPr marL="266700" indent="-266700">
              <a:spcBef>
                <a:spcPts val="1000"/>
              </a:spcBef>
              <a:defRPr/>
            </a:pPr>
            <a:r>
              <a:rPr lang="en-US" sz="2200" dirty="0"/>
              <a:t>If people stop “believing” in the fiat money, it will cease to be useful.</a:t>
            </a:r>
          </a:p>
        </p:txBody>
      </p:sp>
    </p:spTree>
    <p:extLst>
      <p:ext uri="{BB962C8B-B14F-4D97-AF65-F5344CB8AC3E}">
        <p14:creationId xmlns:p14="http://schemas.microsoft.com/office/powerpoint/2010/main" val="3044517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0C4864D-BE7F-9D78-ABA7-D4EF5526F479}"/>
              </a:ext>
            </a:extLst>
          </p:cNvPr>
          <p:cNvSpPr>
            <a:spLocks noGrp="1"/>
          </p:cNvSpPr>
          <p:nvPr>
            <p:ph type="title"/>
          </p:nvPr>
        </p:nvSpPr>
        <p:spPr>
          <a:xfrm>
            <a:off x="457200" y="215371"/>
            <a:ext cx="8229600" cy="1100313"/>
          </a:xfrm>
        </p:spPr>
        <p:txBody>
          <a:bodyPr/>
          <a:lstStyle/>
          <a:p>
            <a:r>
              <a:rPr lang="en-IN" dirty="0">
                <a:latin typeface="+mj-lt"/>
              </a:rPr>
              <a:t>How Is Money Measured in Canada Today?</a:t>
            </a:r>
            <a:endParaRPr lang="en-IN" dirty="0"/>
          </a:p>
        </p:txBody>
      </p:sp>
      <p:sp>
        <p:nvSpPr>
          <p:cNvPr id="5" name="Text Placeholder 4">
            <a:extLst>
              <a:ext uri="{FF2B5EF4-FFF2-40B4-BE49-F238E27FC236}">
                <a16:creationId xmlns:a16="http://schemas.microsoft.com/office/drawing/2014/main" id="{B24295A0-D06E-A418-9284-30A7D43C6056}"/>
              </a:ext>
            </a:extLst>
          </p:cNvPr>
          <p:cNvSpPr>
            <a:spLocks noGrp="1"/>
          </p:cNvSpPr>
          <p:nvPr>
            <p:ph type="body" sz="quarter" idx="13"/>
          </p:nvPr>
        </p:nvSpPr>
        <p:spPr>
          <a:xfrm>
            <a:off x="457200" y="1401796"/>
            <a:ext cx="8229600" cy="402770"/>
          </a:xfrm>
        </p:spPr>
        <p:txBody>
          <a:bodyPr/>
          <a:lstStyle/>
          <a:p>
            <a:r>
              <a:rPr lang="en-US" sz="2400" b="1" dirty="0">
                <a:solidFill>
                  <a:schemeClr val="tx1"/>
                </a:solidFill>
              </a:rPr>
              <a:t>10.2 Learning</a:t>
            </a:r>
            <a:r>
              <a:rPr lang="en-US" sz="2400" dirty="0">
                <a:solidFill>
                  <a:schemeClr val="tx1"/>
                </a:solidFill>
              </a:rPr>
              <a:t> </a:t>
            </a:r>
            <a:r>
              <a:rPr lang="en-US" sz="2400" b="1" dirty="0">
                <a:solidFill>
                  <a:schemeClr val="tx1"/>
                </a:solidFill>
              </a:rPr>
              <a:t>Objective</a:t>
            </a:r>
          </a:p>
        </p:txBody>
      </p:sp>
      <p:sp>
        <p:nvSpPr>
          <p:cNvPr id="3" name="Content Placeholder 2"/>
          <p:cNvSpPr>
            <a:spLocks noGrp="1"/>
          </p:cNvSpPr>
          <p:nvPr>
            <p:ph sz="quarter" idx="14"/>
          </p:nvPr>
        </p:nvSpPr>
        <p:spPr>
          <a:xfrm>
            <a:off x="457200" y="1850448"/>
            <a:ext cx="8229600" cy="738664"/>
          </a:xfrm>
        </p:spPr>
        <p:txBody>
          <a:bodyPr wrap="square" anchor="ctr">
            <a:spAutoFit/>
          </a:bodyPr>
          <a:lstStyle/>
          <a:p>
            <a:pPr marL="0" indent="0">
              <a:buNone/>
            </a:pPr>
            <a:r>
              <a:rPr lang="en-US" sz="2400" dirty="0"/>
              <a:t>Discuss the definitions of the money supply used in Canada today.</a:t>
            </a:r>
          </a:p>
        </p:txBody>
      </p:sp>
      <p:sp>
        <p:nvSpPr>
          <p:cNvPr id="4" name="Content Placeholder 2">
            <a:extLst>
              <a:ext uri="{FF2B5EF4-FFF2-40B4-BE49-F238E27FC236}">
                <a16:creationId xmlns:a16="http://schemas.microsoft.com/office/drawing/2014/main" id="{06DFFBAE-2769-44D9-86A0-88C9859DE8A7}"/>
              </a:ext>
            </a:extLst>
          </p:cNvPr>
          <p:cNvSpPr txBox="1">
            <a:spLocks/>
          </p:cNvSpPr>
          <p:nvPr/>
        </p:nvSpPr>
        <p:spPr>
          <a:xfrm>
            <a:off x="457200" y="2751892"/>
            <a:ext cx="7848600" cy="677108"/>
          </a:xfrm>
          <a:prstGeom prst="rect">
            <a:avLst/>
          </a:prstGeom>
        </p:spPr>
        <p:txBody>
          <a:bodyPr vert="horz" wrap="square" lIns="0" tIns="0" rIns="0" bIns="0" rtlCol="0" anchor="ctr">
            <a:sp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CA" sz="2200" dirty="0"/>
              <a:t>The Bank of Canada has conducted several studies to determine the appropriate measure of money in the economy. </a:t>
            </a:r>
          </a:p>
        </p:txBody>
      </p:sp>
    </p:spTree>
    <p:extLst>
      <p:ext uri="{BB962C8B-B14F-4D97-AF65-F5344CB8AC3E}">
        <p14:creationId xmlns:p14="http://schemas.microsoft.com/office/powerpoint/2010/main" val="920282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0912"/>
            <a:ext cx="8229600" cy="1046440"/>
          </a:xfrm>
        </p:spPr>
        <p:txBody>
          <a:bodyPr wrap="square" anchor="ctr">
            <a:spAutoFit/>
          </a:bodyPr>
          <a:lstStyle/>
          <a:p>
            <a:r>
              <a:rPr lang="en-IN" dirty="0">
                <a:latin typeface="+mj-lt"/>
              </a:rPr>
              <a:t>Figure 10.1 Components of the Money Supply</a:t>
            </a:r>
            <a:r>
              <a:rPr lang="en-IN" sz="2000" dirty="0">
                <a:latin typeface="+mj-lt"/>
              </a:rPr>
              <a:t> </a:t>
            </a:r>
            <a:r>
              <a:rPr lang="en-US" sz="2000" b="0" dirty="0">
                <a:latin typeface="+mj-lt"/>
              </a:rPr>
              <a:t>(1 of 3)</a:t>
            </a:r>
            <a:r>
              <a:rPr lang="en-IN" sz="2000" dirty="0">
                <a:latin typeface="+mj-lt"/>
              </a:rPr>
              <a:t> </a:t>
            </a:r>
            <a:endParaRPr lang="en-US" sz="2000" dirty="0">
              <a:latin typeface="+mj-lt"/>
            </a:endParaRPr>
          </a:p>
        </p:txBody>
      </p:sp>
      <p:sp>
        <p:nvSpPr>
          <p:cNvPr id="3" name="Content Placeholder 2"/>
          <p:cNvSpPr>
            <a:spLocks noGrp="1"/>
          </p:cNvSpPr>
          <p:nvPr>
            <p:ph idx="1"/>
          </p:nvPr>
        </p:nvSpPr>
        <p:spPr>
          <a:xfrm>
            <a:off x="457200" y="1794048"/>
            <a:ext cx="3962400" cy="3154710"/>
          </a:xfrm>
        </p:spPr>
        <p:txBody>
          <a:bodyPr wrap="square" anchor="ctr">
            <a:spAutoFit/>
          </a:bodyPr>
          <a:lstStyle/>
          <a:p>
            <a:pPr marL="0" indent="0">
              <a:buNone/>
            </a:pPr>
            <a:r>
              <a:rPr lang="en-CA" sz="2000" dirty="0"/>
              <a:t>M1+ is the narrowest definition of money it includes:</a:t>
            </a:r>
          </a:p>
          <a:p>
            <a:pPr marL="347472" indent="-347472">
              <a:spcBef>
                <a:spcPts val="1000"/>
              </a:spcBef>
              <a:buAutoNum type="arabicPeriod"/>
            </a:pPr>
            <a:r>
              <a:rPr lang="en-CA" sz="2000" dirty="0"/>
              <a:t>Currency in circulation</a:t>
            </a:r>
          </a:p>
          <a:p>
            <a:pPr marL="347472" indent="-347472">
              <a:spcBef>
                <a:spcPts val="1000"/>
              </a:spcBef>
              <a:buAutoNum type="arabicPeriod"/>
            </a:pPr>
            <a:r>
              <a:rPr lang="en-CA" sz="2000" dirty="0" err="1"/>
              <a:t>Chequable</a:t>
            </a:r>
            <a:r>
              <a:rPr lang="en-CA" sz="2000" dirty="0"/>
              <a:t> deposits at banks, trust and mortgage companies, credit unions and </a:t>
            </a:r>
            <a:r>
              <a:rPr lang="en-CA" sz="2000" dirty="0" err="1"/>
              <a:t>caisses</a:t>
            </a:r>
            <a:r>
              <a:rPr lang="en-CA" sz="2000" dirty="0"/>
              <a:t> </a:t>
            </a:r>
            <a:r>
              <a:rPr lang="en-CA" sz="2000" dirty="0" err="1"/>
              <a:t>populaires</a:t>
            </a:r>
            <a:r>
              <a:rPr lang="en-CA" sz="2000" dirty="0"/>
              <a:t>.</a:t>
            </a:r>
          </a:p>
          <a:p>
            <a:pPr marL="0" indent="0">
              <a:spcBef>
                <a:spcPts val="1000"/>
              </a:spcBef>
              <a:buNone/>
            </a:pPr>
            <a:r>
              <a:rPr lang="en-CA" sz="2000" dirty="0"/>
              <a:t>M1++ includes M1+ and non-</a:t>
            </a:r>
            <a:r>
              <a:rPr lang="en-CA" sz="2000" dirty="0" err="1"/>
              <a:t>chequable</a:t>
            </a:r>
            <a:r>
              <a:rPr lang="en-CA" sz="2000" dirty="0"/>
              <a:t> deposits</a:t>
            </a:r>
            <a:endParaRPr lang="en-US" sz="2000" dirty="0"/>
          </a:p>
        </p:txBody>
      </p:sp>
      <p:sp>
        <p:nvSpPr>
          <p:cNvPr id="6" name="Content Placeholder 5"/>
          <p:cNvSpPr>
            <a:spLocks noGrp="1"/>
          </p:cNvSpPr>
          <p:nvPr>
            <p:ph idx="13"/>
          </p:nvPr>
        </p:nvSpPr>
        <p:spPr>
          <a:xfrm>
            <a:off x="457200" y="5410200"/>
            <a:ext cx="8229600" cy="460237"/>
          </a:xfrm>
        </p:spPr>
        <p:txBody>
          <a:bodyPr>
            <a:normAutofit lnSpcReduction="10000"/>
          </a:bodyPr>
          <a:lstStyle/>
          <a:p>
            <a:pPr marL="0" indent="0">
              <a:buNone/>
            </a:pPr>
            <a:r>
              <a:rPr lang="en-IN" sz="1400" dirty="0"/>
              <a:t>The Bank of Canada uses six different definitions of the money supply: M1+, M1++, M2, M2+, M2++, and M3. M1+ is the narrowest definition of the money supply and M2++ is the broadest.</a:t>
            </a:r>
          </a:p>
        </p:txBody>
      </p:sp>
      <p:pic>
        <p:nvPicPr>
          <p:cNvPr id="16" name="Picture 15" descr="The bank of Canada use six different definitions of the money supply that are as follows: M 1 +, M 1 + +, M 2, M 2 +, M 2 + +, and M 3.&#10;M 1 + is the narrowest definition of the money supply. It includes all chequable deposits at chartered banks, Chequable deposits at trust and mortgage loan companies, and chequable deposits at credit unions and caisses popularizes.&#10;M 1 + + definition of the money supply includes everything that is in M 1 + as well as all non chequable deposits at chartered banks, TMLs, and CUCPs.">
            <a:extLst>
              <a:ext uri="{FF2B5EF4-FFF2-40B4-BE49-F238E27FC236}">
                <a16:creationId xmlns:a16="http://schemas.microsoft.com/office/drawing/2014/main" id="{BF9AFE60-8316-EEDC-A61C-A7DFCF136D5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9170" y="1794048"/>
            <a:ext cx="4096680" cy="2505456"/>
          </a:xfrm>
          <a:prstGeom prst="rect">
            <a:avLst/>
          </a:prstGeom>
        </p:spPr>
      </p:pic>
    </p:spTree>
    <p:extLst>
      <p:ext uri="{BB962C8B-B14F-4D97-AF65-F5344CB8AC3E}">
        <p14:creationId xmlns:p14="http://schemas.microsoft.com/office/powerpoint/2010/main" val="3855419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0E49D39-C309-1C52-1440-74281E0FE1BE}"/>
              </a:ext>
            </a:extLst>
          </p:cNvPr>
          <p:cNvSpPr>
            <a:spLocks noGrp="1"/>
          </p:cNvSpPr>
          <p:nvPr>
            <p:ph type="title"/>
          </p:nvPr>
        </p:nvSpPr>
        <p:spPr>
          <a:xfrm>
            <a:off x="457200" y="150912"/>
            <a:ext cx="8229600" cy="1046440"/>
          </a:xfrm>
        </p:spPr>
        <p:txBody>
          <a:bodyPr wrap="square" anchor="ctr">
            <a:spAutoFit/>
          </a:bodyPr>
          <a:lstStyle/>
          <a:p>
            <a:r>
              <a:rPr lang="en-IN" dirty="0">
                <a:latin typeface="+mj-lt"/>
              </a:rPr>
              <a:t>Figure 10.1 Components of the Money Supply</a:t>
            </a:r>
            <a:r>
              <a:rPr lang="en-IN" sz="2000" dirty="0">
                <a:latin typeface="+mj-lt"/>
              </a:rPr>
              <a:t> </a:t>
            </a:r>
            <a:r>
              <a:rPr lang="en-US" sz="2000" b="0" dirty="0">
                <a:latin typeface="+mj-lt"/>
              </a:rPr>
              <a:t>(2 of 3)</a:t>
            </a:r>
            <a:r>
              <a:rPr lang="en-IN" sz="2000" dirty="0">
                <a:latin typeface="+mj-lt"/>
              </a:rPr>
              <a:t> </a:t>
            </a:r>
            <a:endParaRPr lang="en-US" sz="2000" dirty="0">
              <a:latin typeface="+mj-lt"/>
            </a:endParaRPr>
          </a:p>
        </p:txBody>
      </p:sp>
      <p:sp>
        <p:nvSpPr>
          <p:cNvPr id="3" name="Content Placeholder 2"/>
          <p:cNvSpPr>
            <a:spLocks noGrp="1"/>
          </p:cNvSpPr>
          <p:nvPr>
            <p:ph idx="1"/>
          </p:nvPr>
        </p:nvSpPr>
        <p:spPr>
          <a:xfrm>
            <a:off x="457200" y="1306830"/>
            <a:ext cx="4114800" cy="1969770"/>
          </a:xfrm>
        </p:spPr>
        <p:txBody>
          <a:bodyPr wrap="square" anchor="ctr">
            <a:spAutoFit/>
          </a:bodyPr>
          <a:lstStyle/>
          <a:p>
            <a:pPr marL="0" indent="0">
              <a:buNone/>
            </a:pPr>
            <a:r>
              <a:rPr lang="en-CA" sz="1800" dirty="0"/>
              <a:t>M2 includes </a:t>
            </a:r>
          </a:p>
          <a:p>
            <a:pPr marL="228600" indent="-228600">
              <a:spcBef>
                <a:spcPts val="600"/>
              </a:spcBef>
            </a:pPr>
            <a:r>
              <a:rPr lang="en-CA" sz="1800" dirty="0"/>
              <a:t>Currency</a:t>
            </a:r>
          </a:p>
          <a:p>
            <a:pPr marL="228600" indent="-228600">
              <a:spcBef>
                <a:spcPts val="600"/>
              </a:spcBef>
            </a:pPr>
            <a:r>
              <a:rPr lang="en-CA" sz="1800" dirty="0"/>
              <a:t> personal deposits at banks</a:t>
            </a:r>
          </a:p>
          <a:p>
            <a:pPr marL="228600" indent="-228600">
              <a:spcBef>
                <a:spcPts val="600"/>
              </a:spcBef>
            </a:pPr>
            <a:r>
              <a:rPr lang="en-CA" sz="1800" dirty="0"/>
              <a:t>non-personal demand and notice deposits at banks</a:t>
            </a:r>
          </a:p>
          <a:p>
            <a:pPr marL="228600" indent="-228600">
              <a:spcBef>
                <a:spcPts val="600"/>
              </a:spcBef>
            </a:pPr>
            <a:r>
              <a:rPr lang="en-CA" sz="1800" dirty="0"/>
              <a:t>fixed term deposits.</a:t>
            </a:r>
          </a:p>
        </p:txBody>
      </p:sp>
      <p:sp>
        <p:nvSpPr>
          <p:cNvPr id="4" name="Content Placeholder 3"/>
          <p:cNvSpPr>
            <a:spLocks noGrp="1"/>
          </p:cNvSpPr>
          <p:nvPr>
            <p:ph idx="13"/>
          </p:nvPr>
        </p:nvSpPr>
        <p:spPr>
          <a:xfrm>
            <a:off x="457200" y="3514766"/>
            <a:ext cx="4114800" cy="2276434"/>
          </a:xfrm>
        </p:spPr>
        <p:txBody>
          <a:bodyPr/>
          <a:lstStyle/>
          <a:p>
            <a:pPr>
              <a:buNone/>
            </a:pPr>
            <a:r>
              <a:rPr lang="en-CA" sz="1800" dirty="0"/>
              <a:t>M2+ includes M2 and</a:t>
            </a:r>
          </a:p>
          <a:p>
            <a:pPr marL="228600" indent="-228600">
              <a:spcBef>
                <a:spcPts val="600"/>
              </a:spcBef>
            </a:pPr>
            <a:r>
              <a:rPr lang="en-CA" sz="1800" dirty="0"/>
              <a:t>Deposits at TMLs and CUCPs</a:t>
            </a:r>
          </a:p>
          <a:p>
            <a:pPr marL="228600" indent="-228600">
              <a:spcBef>
                <a:spcPts val="600"/>
              </a:spcBef>
            </a:pPr>
            <a:r>
              <a:rPr lang="en-CA" sz="1800" dirty="0"/>
              <a:t>life insurance companies individual annuities</a:t>
            </a:r>
          </a:p>
          <a:p>
            <a:pPr marL="228600" indent="-228600">
              <a:spcBef>
                <a:spcPts val="600"/>
              </a:spcBef>
            </a:pPr>
            <a:r>
              <a:rPr lang="en-CA" sz="1800" dirty="0"/>
              <a:t>Government owned savings institutions</a:t>
            </a:r>
          </a:p>
          <a:p>
            <a:pPr marL="228600" indent="-228600">
              <a:spcBef>
                <a:spcPts val="600"/>
              </a:spcBef>
            </a:pPr>
            <a:r>
              <a:rPr lang="en-CA" sz="1800" dirty="0"/>
              <a:t>Money market mutual funds.</a:t>
            </a:r>
          </a:p>
        </p:txBody>
      </p:sp>
      <p:sp>
        <p:nvSpPr>
          <p:cNvPr id="6" name="Content Placeholder 5"/>
          <p:cNvSpPr>
            <a:spLocks noGrp="1"/>
          </p:cNvSpPr>
          <p:nvPr>
            <p:ph sz="quarter" idx="14"/>
          </p:nvPr>
        </p:nvSpPr>
        <p:spPr>
          <a:xfrm>
            <a:off x="4642366" y="1275887"/>
            <a:ext cx="4114800" cy="1010113"/>
          </a:xfrm>
        </p:spPr>
        <p:txBody>
          <a:bodyPr>
            <a:normAutofit fontScale="92500"/>
          </a:bodyPr>
          <a:lstStyle/>
          <a:p>
            <a:pPr>
              <a:buNone/>
            </a:pPr>
            <a:r>
              <a:rPr lang="en-CA" sz="1800" dirty="0"/>
              <a:t>M2++ includes (broadest definition) M2+</a:t>
            </a:r>
          </a:p>
          <a:p>
            <a:pPr marL="228600" indent="-228600">
              <a:spcBef>
                <a:spcPts val="600"/>
              </a:spcBef>
            </a:pPr>
            <a:r>
              <a:rPr lang="en-CA" sz="1800" dirty="0"/>
              <a:t>Canada Savings Bonds</a:t>
            </a:r>
          </a:p>
          <a:p>
            <a:pPr marL="228600" indent="-228600">
              <a:spcBef>
                <a:spcPts val="600"/>
              </a:spcBef>
            </a:pPr>
            <a:r>
              <a:rPr lang="en-CA" sz="1800" dirty="0"/>
              <a:t>Non-money market mutual funds.</a:t>
            </a:r>
            <a:endParaRPr lang="en-US" sz="1800" dirty="0"/>
          </a:p>
        </p:txBody>
      </p:sp>
      <p:pic>
        <p:nvPicPr>
          <p:cNvPr id="8" name="Picture 7" descr="M 2 is a monetary aggregate that includes currency outside banks and personal deposits at chartered banks, non-personal demand and notice deposits at chartered banks, and fixed-term deposits. &#10;M 2 + is a broader monetary aggregate that includes everything that is in M 2 as well as deposits at TMLs, deposits at CUCPs, life insurance company individual annuities, personal deposits at government owned savings institutions, and money market mutual funds.&#10;M 2 + + is the broadest definition of the money supply: It includes everything that is in M 2 + as well as Canada Savings Bonds and other retail instruments, and non-money market mutual funds.">
            <a:extLst>
              <a:ext uri="{FF2B5EF4-FFF2-40B4-BE49-F238E27FC236}">
                <a16:creationId xmlns:a16="http://schemas.microsoft.com/office/drawing/2014/main" id="{18B75EEA-9F73-221B-757A-C46111388B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1050" y="2364535"/>
            <a:ext cx="4188793" cy="3426665"/>
          </a:xfrm>
          <a:prstGeom prst="rect">
            <a:avLst/>
          </a:prstGeom>
        </p:spPr>
      </p:pic>
    </p:spTree>
    <p:extLst>
      <p:ext uri="{BB962C8B-B14F-4D97-AF65-F5344CB8AC3E}">
        <p14:creationId xmlns:p14="http://schemas.microsoft.com/office/powerpoint/2010/main" val="2458552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5277C-E6CF-3649-E44B-2B50EC2D753C}"/>
              </a:ext>
            </a:extLst>
          </p:cNvPr>
          <p:cNvSpPr>
            <a:spLocks noGrp="1"/>
          </p:cNvSpPr>
          <p:nvPr>
            <p:ph type="title"/>
          </p:nvPr>
        </p:nvSpPr>
        <p:spPr>
          <a:xfrm>
            <a:off x="457200" y="150912"/>
            <a:ext cx="8229600" cy="1046440"/>
          </a:xfrm>
        </p:spPr>
        <p:txBody>
          <a:bodyPr wrap="square" anchor="ctr">
            <a:spAutoFit/>
          </a:bodyPr>
          <a:lstStyle/>
          <a:p>
            <a:r>
              <a:rPr lang="en-IN" dirty="0">
                <a:latin typeface="+mj-lt"/>
              </a:rPr>
              <a:t>Figure 10.1 Components of the Money Supply</a:t>
            </a:r>
            <a:r>
              <a:rPr lang="en-IN" sz="2000" dirty="0">
                <a:latin typeface="+mj-lt"/>
              </a:rPr>
              <a:t> </a:t>
            </a:r>
            <a:r>
              <a:rPr lang="en-US" sz="2000" b="0" dirty="0">
                <a:latin typeface="+mj-lt"/>
              </a:rPr>
              <a:t>(3 of 3)</a:t>
            </a:r>
            <a:r>
              <a:rPr lang="en-IN" sz="2000" dirty="0">
                <a:latin typeface="+mj-lt"/>
              </a:rPr>
              <a:t> </a:t>
            </a:r>
            <a:endParaRPr lang="en-US" sz="2000" dirty="0">
              <a:latin typeface="+mj-lt"/>
            </a:endParaRPr>
          </a:p>
        </p:txBody>
      </p:sp>
      <p:sp>
        <p:nvSpPr>
          <p:cNvPr id="3" name="Content Placeholder 2"/>
          <p:cNvSpPr>
            <a:spLocks noGrp="1"/>
          </p:cNvSpPr>
          <p:nvPr>
            <p:ph idx="1"/>
          </p:nvPr>
        </p:nvSpPr>
        <p:spPr>
          <a:xfrm>
            <a:off x="451945" y="1517056"/>
            <a:ext cx="3124200" cy="2385268"/>
          </a:xfrm>
        </p:spPr>
        <p:txBody>
          <a:bodyPr wrap="square" anchor="ctr">
            <a:spAutoFit/>
          </a:bodyPr>
          <a:lstStyle/>
          <a:p>
            <a:pPr marL="0" indent="0">
              <a:spcBef>
                <a:spcPts val="600"/>
              </a:spcBef>
              <a:buNone/>
            </a:pPr>
            <a:r>
              <a:rPr lang="en-CA" sz="2000" dirty="0"/>
              <a:t>M3 includes</a:t>
            </a:r>
          </a:p>
          <a:p>
            <a:pPr marL="342900" indent="-342900">
              <a:spcBef>
                <a:spcPts val="600"/>
              </a:spcBef>
            </a:pPr>
            <a:r>
              <a:rPr lang="en-CA" sz="2000" dirty="0"/>
              <a:t>M2</a:t>
            </a:r>
          </a:p>
          <a:p>
            <a:pPr marL="342900" indent="-342900">
              <a:spcBef>
                <a:spcPts val="600"/>
              </a:spcBef>
            </a:pPr>
            <a:r>
              <a:rPr lang="en-CA" sz="2000" dirty="0"/>
              <a:t>Non-personal term deposits at banks</a:t>
            </a:r>
          </a:p>
          <a:p>
            <a:pPr marL="342900" indent="-342900">
              <a:spcBef>
                <a:spcPts val="600"/>
              </a:spcBef>
            </a:pPr>
            <a:r>
              <a:rPr lang="en-CA" sz="2000" dirty="0"/>
              <a:t>Foreign currencies deposits of Canadians at banks</a:t>
            </a:r>
            <a:endParaRPr lang="en-US" sz="2000" dirty="0"/>
          </a:p>
        </p:txBody>
      </p:sp>
      <p:pic>
        <p:nvPicPr>
          <p:cNvPr id="4" name="Picture 3" descr="M 3 is a category within the money supply that includes everything that is in M 2 as well as non-personal term deposits at chartered banks and foreign currency deposits of residents at chartered banks.">
            <a:extLst>
              <a:ext uri="{FF2B5EF4-FFF2-40B4-BE49-F238E27FC236}">
                <a16:creationId xmlns:a16="http://schemas.microsoft.com/office/drawing/2014/main" id="{28550195-9C4F-6CF1-B79F-DE263CA97A87}"/>
              </a:ext>
            </a:extLst>
          </p:cNvPr>
          <p:cNvPicPr>
            <a:picLocks noChangeAspect="1"/>
          </p:cNvPicPr>
          <p:nvPr/>
        </p:nvPicPr>
        <p:blipFill rotWithShape="1">
          <a:blip r:embed="rId3">
            <a:extLst>
              <a:ext uri="{28A0092B-C50C-407E-A947-70E740481C1C}">
                <a14:useLocalDpi xmlns:a14="http://schemas.microsoft.com/office/drawing/2010/main" val="0"/>
              </a:ext>
            </a:extLst>
          </a:blip>
          <a:srcRect t="70000"/>
          <a:stretch/>
        </p:blipFill>
        <p:spPr>
          <a:xfrm>
            <a:off x="4343400" y="1536106"/>
            <a:ext cx="4230816" cy="2559644"/>
          </a:xfrm>
          <a:prstGeom prst="rect">
            <a:avLst/>
          </a:prstGeom>
        </p:spPr>
      </p:pic>
    </p:spTree>
    <p:extLst>
      <p:ext uri="{BB962C8B-B14F-4D97-AF65-F5344CB8AC3E}">
        <p14:creationId xmlns:p14="http://schemas.microsoft.com/office/powerpoint/2010/main" val="3213612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4DCAA7-86CE-06B4-9DAB-838EB853C044}"/>
              </a:ext>
            </a:extLst>
          </p:cNvPr>
          <p:cNvSpPr>
            <a:spLocks noGrp="1"/>
          </p:cNvSpPr>
          <p:nvPr>
            <p:ph type="title"/>
          </p:nvPr>
        </p:nvSpPr>
        <p:spPr/>
        <p:txBody>
          <a:bodyPr/>
          <a:lstStyle/>
          <a:p>
            <a:r>
              <a:rPr lang="en-IN" dirty="0">
                <a:latin typeface="+mj-lt"/>
              </a:rPr>
              <a:t>Which Definition?</a:t>
            </a:r>
            <a:endParaRPr lang="en-IN" dirty="0"/>
          </a:p>
        </p:txBody>
      </p:sp>
      <p:sp>
        <p:nvSpPr>
          <p:cNvPr id="5" name="Content Placeholder 4">
            <a:extLst>
              <a:ext uri="{FF2B5EF4-FFF2-40B4-BE49-F238E27FC236}">
                <a16:creationId xmlns:a16="http://schemas.microsoft.com/office/drawing/2014/main" id="{31F0880B-E644-D6FA-0806-5B98DEE6CFF7}"/>
              </a:ext>
            </a:extLst>
          </p:cNvPr>
          <p:cNvSpPr>
            <a:spLocks noGrp="1"/>
          </p:cNvSpPr>
          <p:nvPr>
            <p:ph idx="1"/>
          </p:nvPr>
        </p:nvSpPr>
        <p:spPr/>
        <p:txBody>
          <a:bodyPr/>
          <a:lstStyle/>
          <a:p>
            <a:pPr marL="0" indent="0">
              <a:spcBef>
                <a:spcPts val="1000"/>
              </a:spcBef>
              <a:buNone/>
              <a:defRPr/>
            </a:pPr>
            <a:r>
              <a:rPr lang="en-US" sz="2400" dirty="0"/>
              <a:t>When we want to talk about the money supply, which definition should we use?</a:t>
            </a:r>
          </a:p>
          <a:p>
            <a:pPr marL="0" indent="0">
              <a:spcBef>
                <a:spcPts val="1000"/>
              </a:spcBef>
              <a:buNone/>
              <a:defRPr/>
            </a:pPr>
            <a:r>
              <a:rPr lang="en-US" sz="2400" dirty="0"/>
              <a:t>Any one of the three might be valid, but we are mostly interested in money’s role as the medium of exchange, so this suggests using M1+.</a:t>
            </a:r>
          </a:p>
          <a:p>
            <a:pPr marL="0" indent="0">
              <a:spcBef>
                <a:spcPts val="1000"/>
              </a:spcBef>
              <a:buNone/>
              <a:defRPr/>
            </a:pPr>
            <a:r>
              <a:rPr lang="en-US" sz="2400" dirty="0"/>
              <a:t>In our discussion of money, we will therefore:</a:t>
            </a:r>
          </a:p>
          <a:p>
            <a:pPr marL="347472" indent="-347472">
              <a:spcBef>
                <a:spcPts val="1000"/>
              </a:spcBef>
              <a:buAutoNum type="arabicPeriod"/>
              <a:defRPr/>
            </a:pPr>
            <a:r>
              <a:rPr lang="en-US" sz="2400" dirty="0"/>
              <a:t>Treat both currency and </a:t>
            </a:r>
            <a:r>
              <a:rPr lang="en-US" sz="2400" dirty="0" err="1"/>
              <a:t>chequing</a:t>
            </a:r>
            <a:r>
              <a:rPr lang="en-US" sz="2400" dirty="0"/>
              <a:t> and non-</a:t>
            </a:r>
            <a:r>
              <a:rPr lang="en-US" sz="2400" dirty="0" err="1"/>
              <a:t>chequing</a:t>
            </a:r>
            <a:r>
              <a:rPr lang="en-US" sz="2400" dirty="0"/>
              <a:t> account balances as “money”, but nothing else.</a:t>
            </a:r>
          </a:p>
          <a:p>
            <a:pPr marL="347472" indent="-347472">
              <a:spcBef>
                <a:spcPts val="1000"/>
              </a:spcBef>
              <a:buAutoNum type="arabicPeriod"/>
              <a:defRPr/>
            </a:pPr>
            <a:r>
              <a:rPr lang="en-US" sz="2400" dirty="0"/>
              <a:t>Realize that banks play an important role in the money supply, since they control what happens to money when it is in an account.</a:t>
            </a:r>
          </a:p>
        </p:txBody>
      </p:sp>
    </p:spTree>
    <p:extLst>
      <p:ext uri="{BB962C8B-B14F-4D97-AF65-F5344CB8AC3E}">
        <p14:creationId xmlns:p14="http://schemas.microsoft.com/office/powerpoint/2010/main" val="3431210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01E8DA-355F-F6F7-3B97-8153BFAE2D02}"/>
              </a:ext>
            </a:extLst>
          </p:cNvPr>
          <p:cNvSpPr>
            <a:spLocks noGrp="1"/>
          </p:cNvSpPr>
          <p:nvPr>
            <p:ph type="title"/>
          </p:nvPr>
        </p:nvSpPr>
        <p:spPr/>
        <p:txBody>
          <a:bodyPr/>
          <a:lstStyle/>
          <a:p>
            <a:r>
              <a:rPr lang="en-IN" dirty="0">
                <a:latin typeface="+mj-lt"/>
              </a:rPr>
              <a:t>How Do Banks Create Money?</a:t>
            </a:r>
            <a:endParaRPr lang="en-IN" dirty="0"/>
          </a:p>
        </p:txBody>
      </p:sp>
      <p:sp>
        <p:nvSpPr>
          <p:cNvPr id="7" name="Text Placeholder 6">
            <a:extLst>
              <a:ext uri="{FF2B5EF4-FFF2-40B4-BE49-F238E27FC236}">
                <a16:creationId xmlns:a16="http://schemas.microsoft.com/office/drawing/2014/main" id="{42A7ACB5-E120-34AB-820B-E52EDD9E3E6F}"/>
              </a:ext>
            </a:extLst>
          </p:cNvPr>
          <p:cNvSpPr>
            <a:spLocks noGrp="1"/>
          </p:cNvSpPr>
          <p:nvPr>
            <p:ph type="body" sz="quarter" idx="13"/>
          </p:nvPr>
        </p:nvSpPr>
        <p:spPr>
          <a:xfrm>
            <a:off x="457200" y="1017815"/>
            <a:ext cx="8229600" cy="402770"/>
          </a:xfrm>
        </p:spPr>
        <p:txBody>
          <a:bodyPr/>
          <a:lstStyle/>
          <a:p>
            <a:pPr>
              <a:tabLst>
                <a:tab pos="2066925" algn="l"/>
              </a:tabLst>
            </a:pPr>
            <a:r>
              <a:rPr lang="en-US" sz="2400" b="1" dirty="0">
                <a:solidFill>
                  <a:schemeClr val="tx1"/>
                </a:solidFill>
              </a:rPr>
              <a:t>10.3 Learning</a:t>
            </a:r>
            <a:r>
              <a:rPr lang="en-US" sz="2400" dirty="0">
                <a:solidFill>
                  <a:schemeClr val="tx1"/>
                </a:solidFill>
              </a:rPr>
              <a:t> </a:t>
            </a:r>
            <a:r>
              <a:rPr lang="en-US" sz="2400" b="1" dirty="0">
                <a:solidFill>
                  <a:schemeClr val="tx1"/>
                </a:solidFill>
              </a:rPr>
              <a:t>Objective</a:t>
            </a:r>
          </a:p>
        </p:txBody>
      </p:sp>
      <p:sp>
        <p:nvSpPr>
          <p:cNvPr id="8" name="Content Placeholder 7">
            <a:extLst>
              <a:ext uri="{FF2B5EF4-FFF2-40B4-BE49-F238E27FC236}">
                <a16:creationId xmlns:a16="http://schemas.microsoft.com/office/drawing/2014/main" id="{F6F84F16-FD7F-A2C3-145E-87D04DC7EC05}"/>
              </a:ext>
            </a:extLst>
          </p:cNvPr>
          <p:cNvSpPr>
            <a:spLocks noGrp="1"/>
          </p:cNvSpPr>
          <p:nvPr>
            <p:ph sz="quarter" idx="14"/>
          </p:nvPr>
        </p:nvSpPr>
        <p:spPr/>
        <p:txBody>
          <a:bodyPr/>
          <a:lstStyle/>
          <a:p>
            <a:pPr marL="0" indent="0">
              <a:spcBef>
                <a:spcPts val="1000"/>
              </a:spcBef>
              <a:buNone/>
            </a:pPr>
            <a:r>
              <a:rPr lang="en-US" sz="2200" dirty="0"/>
              <a:t>Explain how banks create money.</a:t>
            </a:r>
          </a:p>
          <a:p>
            <a:pPr marL="0" indent="0">
              <a:spcBef>
                <a:spcPts val="1000"/>
              </a:spcBef>
              <a:buFont typeface="Arial" panose="020B0604020202020204" pitchFamily="34" charset="0"/>
              <a:buNone/>
              <a:defRPr/>
            </a:pPr>
            <a:r>
              <a:rPr lang="en-US" sz="2200" dirty="0"/>
              <a:t>Banks play a critical role in the money supply.</a:t>
            </a:r>
          </a:p>
          <a:p>
            <a:pPr marL="266700" indent="-266700">
              <a:spcBef>
                <a:spcPts val="1000"/>
              </a:spcBef>
              <a:defRPr/>
            </a:pPr>
            <a:r>
              <a:rPr lang="en-US" sz="2200" dirty="0"/>
              <a:t>Recall that there is more money held in checking accounts than there is actual currency in the economy.</a:t>
            </a:r>
          </a:p>
          <a:p>
            <a:pPr marL="266700" indent="-266700">
              <a:spcBef>
                <a:spcPts val="1000"/>
              </a:spcBef>
              <a:defRPr/>
            </a:pPr>
            <a:r>
              <a:rPr lang="en-US" sz="2200" dirty="0"/>
              <a:t>So money is being </a:t>
            </a:r>
            <a:r>
              <a:rPr lang="en-US" sz="2200" i="1" dirty="0"/>
              <a:t>created</a:t>
            </a:r>
            <a:r>
              <a:rPr lang="en-US" sz="2200" dirty="0"/>
              <a:t> by banks.</a:t>
            </a:r>
          </a:p>
          <a:p>
            <a:pPr marL="0" indent="0">
              <a:spcBef>
                <a:spcPts val="1000"/>
              </a:spcBef>
              <a:buFont typeface="Arial" panose="020B0604020202020204" pitchFamily="34" charset="0"/>
              <a:buNone/>
              <a:defRPr/>
            </a:pPr>
            <a:r>
              <a:rPr lang="en-US" sz="2200" dirty="0"/>
              <a:t>Further, banks are profit-making private firms: among the largest corporations in the country.</a:t>
            </a:r>
          </a:p>
          <a:p>
            <a:pPr marL="266700" indent="-266700">
              <a:spcBef>
                <a:spcPts val="1000"/>
              </a:spcBef>
              <a:defRPr/>
            </a:pPr>
            <a:r>
              <a:rPr lang="en-US" sz="2200" dirty="0"/>
              <a:t>Their activities are designed to allow themselves to make a profit.</a:t>
            </a:r>
          </a:p>
          <a:p>
            <a:pPr marL="0" indent="0">
              <a:spcBef>
                <a:spcPts val="1000"/>
              </a:spcBef>
              <a:spcAft>
                <a:spcPts val="1200"/>
              </a:spcAft>
              <a:buNone/>
              <a:defRPr/>
            </a:pPr>
            <a:r>
              <a:rPr lang="en-US" sz="2200" dirty="0"/>
              <a:t>In order to understand the role that banks play, we will first try to understand how banks operate as a business.</a:t>
            </a:r>
          </a:p>
        </p:txBody>
      </p:sp>
    </p:spTree>
    <p:extLst>
      <p:ext uri="{BB962C8B-B14F-4D97-AF65-F5344CB8AC3E}">
        <p14:creationId xmlns:p14="http://schemas.microsoft.com/office/powerpoint/2010/main" val="686384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8048"/>
            <a:ext cx="8229600" cy="923330"/>
          </a:xfrm>
        </p:spPr>
        <p:txBody>
          <a:bodyPr wrap="square" anchor="ctr">
            <a:spAutoFit/>
          </a:bodyPr>
          <a:lstStyle/>
          <a:p>
            <a:r>
              <a:rPr lang="en-IN" sz="3000" dirty="0">
                <a:latin typeface="+mj-lt"/>
              </a:rPr>
              <a:t>Figure 10.2 Balance Sheet for Royal Bank, September 30, 2021</a:t>
            </a:r>
            <a:r>
              <a:rPr lang="en-IN" sz="2000" dirty="0">
                <a:latin typeface="+mj-lt"/>
              </a:rPr>
              <a:t> </a:t>
            </a:r>
            <a:r>
              <a:rPr lang="en-IN" sz="2000" b="0" dirty="0">
                <a:latin typeface="+mj-lt"/>
              </a:rPr>
              <a:t>(1 of 2)</a:t>
            </a:r>
            <a:endParaRPr lang="en-US" sz="2000" b="0" dirty="0">
              <a:latin typeface="+mj-lt"/>
            </a:endParaRPr>
          </a:p>
        </p:txBody>
      </p:sp>
      <p:sp>
        <p:nvSpPr>
          <p:cNvPr id="22" name="Content Placeholder 5">
            <a:extLst>
              <a:ext uri="{FF2B5EF4-FFF2-40B4-BE49-F238E27FC236}">
                <a16:creationId xmlns:a16="http://schemas.microsoft.com/office/drawing/2014/main" id="{7BF351CA-1BE9-F4A4-E507-01BD80B8B711}"/>
              </a:ext>
            </a:extLst>
          </p:cNvPr>
          <p:cNvSpPr txBox="1">
            <a:spLocks/>
          </p:cNvSpPr>
          <p:nvPr/>
        </p:nvSpPr>
        <p:spPr>
          <a:xfrm>
            <a:off x="438807" y="4163437"/>
            <a:ext cx="8218487" cy="2071807"/>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spcBef>
                <a:spcPts val="1000"/>
              </a:spcBef>
              <a:buFont typeface="Arial" panose="020B0604020202020204" pitchFamily="34" charset="0"/>
              <a:buNone/>
            </a:pPr>
            <a:r>
              <a:rPr lang="en-US" sz="1800" dirty="0"/>
              <a:t>On a balance sheet, a firm’s assets are listed on the left, and its liabilities (and stockholders’ equity, or </a:t>
            </a:r>
            <a:r>
              <a:rPr lang="en-US" sz="1800" b="1" dirty="0"/>
              <a:t>net worth</a:t>
            </a:r>
            <a:r>
              <a:rPr lang="en-US" sz="1800" dirty="0"/>
              <a:t>) are listed on the right. The left and right sides must add to the same amount.</a:t>
            </a:r>
          </a:p>
          <a:p>
            <a:pPr marL="266700" indent="-266700">
              <a:spcBef>
                <a:spcPts val="600"/>
              </a:spcBef>
            </a:pPr>
            <a:r>
              <a:rPr lang="en-US" sz="1800" dirty="0"/>
              <a:t>Banks use money deposited with them to make loans and buy securities (investments).</a:t>
            </a:r>
          </a:p>
          <a:p>
            <a:pPr marL="266700" indent="-266700">
              <a:spcBef>
                <a:spcPts val="600"/>
              </a:spcBef>
            </a:pPr>
            <a:r>
              <a:rPr lang="en-US" sz="1800" dirty="0"/>
              <a:t>Their largest liabilities are their deposit accounts: money they owe to their depositors.</a:t>
            </a:r>
          </a:p>
        </p:txBody>
      </p:sp>
      <p:sp>
        <p:nvSpPr>
          <p:cNvPr id="4" name="TextBox 3">
            <a:extLst>
              <a:ext uri="{FF2B5EF4-FFF2-40B4-BE49-F238E27FC236}">
                <a16:creationId xmlns:a16="http://schemas.microsoft.com/office/drawing/2014/main" id="{4841F18E-AB5B-39DA-0B03-0A23E50B46FE}"/>
              </a:ext>
            </a:extLst>
          </p:cNvPr>
          <p:cNvSpPr txBox="1"/>
          <p:nvPr/>
        </p:nvSpPr>
        <p:spPr>
          <a:xfrm>
            <a:off x="1104900" y="3859918"/>
            <a:ext cx="6934200" cy="276999"/>
          </a:xfrm>
          <a:prstGeom prst="rect">
            <a:avLst/>
          </a:prstGeom>
          <a:noFill/>
        </p:spPr>
        <p:txBody>
          <a:bodyPr wrap="square">
            <a:spAutoFit/>
          </a:bodyPr>
          <a:lstStyle/>
          <a:p>
            <a:r>
              <a:rPr lang="en-US" sz="1200" b="1" i="0" u="none" strike="noStrike" baseline="0" dirty="0">
                <a:latin typeface="+mj-lt"/>
              </a:rPr>
              <a:t>SOURCE:</a:t>
            </a:r>
            <a:r>
              <a:rPr lang="en-US" sz="1200" b="0" i="0" u="none" strike="noStrike" baseline="0" dirty="0">
                <a:latin typeface="+mj-lt"/>
              </a:rPr>
              <a:t> http://www.osfi-bsif.gc.ca/Eng/Pages/default.aspx (accessed on December 9, 2021).</a:t>
            </a:r>
            <a:endParaRPr lang="en-US" sz="1200" dirty="0">
              <a:latin typeface="+mj-lt"/>
            </a:endParaRPr>
          </a:p>
        </p:txBody>
      </p:sp>
      <p:pic>
        <p:nvPicPr>
          <p:cNvPr id="5" name="Picture 4" descr="The assets (in billions) in the balance sheet are as follows.&#10;Reserves, $199.&#10;Loans, 950.&#10;Securities, 282.&#10;Other assets, 302.&#10;Total assets, $1733.&#10;The liabilities and shareholders’ equity (in billions) in the balance sheet are as follows.&#10;Deposits, $1082.&#10;Borrowing, 24.&#10;Other liabilities, 531.&#10;Total liabilities, $1637.&#10;Shareholders’ equity, 96.&#10;Total liabilities and shareholders’ equity, $1733.">
            <a:extLst>
              <a:ext uri="{FF2B5EF4-FFF2-40B4-BE49-F238E27FC236}">
                <a16:creationId xmlns:a16="http://schemas.microsoft.com/office/drawing/2014/main" id="{E76F7A7D-AFBE-E171-C459-CEE3A21247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5712" y="1468150"/>
            <a:ext cx="6132576" cy="2365248"/>
          </a:xfrm>
          <a:prstGeom prst="rect">
            <a:avLst/>
          </a:prstGeom>
        </p:spPr>
      </p:pic>
    </p:spTree>
    <p:extLst>
      <p:ext uri="{BB962C8B-B14F-4D97-AF65-F5344CB8AC3E}">
        <p14:creationId xmlns:p14="http://schemas.microsoft.com/office/powerpoint/2010/main" val="728904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0715065B-9671-9618-9DE2-C48AF02F30C1}"/>
              </a:ext>
            </a:extLst>
          </p:cNvPr>
          <p:cNvSpPr>
            <a:spLocks noGrp="1"/>
          </p:cNvSpPr>
          <p:nvPr>
            <p:ph type="title"/>
          </p:nvPr>
        </p:nvSpPr>
        <p:spPr>
          <a:xfrm>
            <a:off x="457200" y="98048"/>
            <a:ext cx="8229600" cy="923330"/>
          </a:xfrm>
        </p:spPr>
        <p:txBody>
          <a:bodyPr wrap="square" anchor="ctr">
            <a:spAutoFit/>
          </a:bodyPr>
          <a:lstStyle/>
          <a:p>
            <a:r>
              <a:rPr lang="en-IN" sz="3000" dirty="0">
                <a:latin typeface="+mj-lt"/>
              </a:rPr>
              <a:t>Figure 10.2 Balance Sheet for Royal Bank, September 30, 2021</a:t>
            </a:r>
            <a:r>
              <a:rPr lang="en-IN" sz="2000" dirty="0">
                <a:latin typeface="+mj-lt"/>
              </a:rPr>
              <a:t> </a:t>
            </a:r>
            <a:r>
              <a:rPr lang="en-IN" sz="2000" b="0" dirty="0">
                <a:latin typeface="+mj-lt"/>
              </a:rPr>
              <a:t>(2 of 2)</a:t>
            </a:r>
            <a:endParaRPr lang="en-US" sz="2000" b="0" dirty="0">
              <a:latin typeface="+mj-lt"/>
            </a:endParaRPr>
          </a:p>
        </p:txBody>
      </p:sp>
      <p:sp>
        <p:nvSpPr>
          <p:cNvPr id="13" name="Content Placeholder 12"/>
          <p:cNvSpPr>
            <a:spLocks noGrp="1"/>
          </p:cNvSpPr>
          <p:nvPr>
            <p:ph idx="1"/>
          </p:nvPr>
        </p:nvSpPr>
        <p:spPr>
          <a:xfrm>
            <a:off x="457200" y="4419600"/>
            <a:ext cx="8229600" cy="1609003"/>
          </a:xfrm>
        </p:spPr>
        <p:txBody>
          <a:bodyPr>
            <a:normAutofit lnSpcReduction="10000"/>
          </a:bodyPr>
          <a:lstStyle/>
          <a:p>
            <a:pPr marL="0" indent="0">
              <a:spcBef>
                <a:spcPts val="0"/>
              </a:spcBef>
              <a:spcAft>
                <a:spcPts val="1200"/>
              </a:spcAft>
              <a:buNone/>
              <a:defRPr/>
            </a:pPr>
            <a:r>
              <a:rPr lang="en-US" sz="1800" b="1" dirty="0"/>
              <a:t>Reserves</a:t>
            </a:r>
            <a:r>
              <a:rPr lang="en-US" sz="1800" i="1" dirty="0"/>
              <a:t> </a:t>
            </a:r>
            <a:r>
              <a:rPr lang="en-US" sz="1800" dirty="0"/>
              <a:t>are deposits that a bank keeps as cash in its vault or on deposit with the Bank of Canada.</a:t>
            </a:r>
          </a:p>
          <a:p>
            <a:pPr marL="266700" indent="-266700">
              <a:spcBef>
                <a:spcPts val="0"/>
              </a:spcBef>
              <a:spcAft>
                <a:spcPts val="1200"/>
              </a:spcAft>
              <a:defRPr/>
            </a:pPr>
            <a:r>
              <a:rPr lang="en-US" sz="1800" i="1" dirty="0"/>
              <a:t>Notice that the bank does not keep enough deposits on hand to cover all of its deposits. This is a big part of how the bank makes a profit: lending out or investing money deposited with it.</a:t>
            </a:r>
          </a:p>
          <a:p>
            <a:pPr marL="0" indent="0">
              <a:spcBef>
                <a:spcPts val="0"/>
              </a:spcBef>
              <a:spcAft>
                <a:spcPts val="1200"/>
              </a:spcAft>
              <a:buNone/>
              <a:defRPr/>
            </a:pPr>
            <a:endParaRPr lang="en-US" sz="1800" dirty="0"/>
          </a:p>
        </p:txBody>
      </p:sp>
      <p:pic>
        <p:nvPicPr>
          <p:cNvPr id="3" name="Picture 2" descr="The assets (in billions) in the balance sheet are as follows.&#10;Reserves, $199.&#10;Loans, 950.&#10;Securities, 282.&#10;Other assets, 302.&#10;Total assets, $1733.&#10;The liabilities and shareholders’ equity (in billions) in the balance sheet are as follows.&#10;Deposits, $1082.&#10;Borrowing, 24.&#10;Other liabilities, 531.&#10;Total liabilities, $1637.&#10;Shareholders’ equity, 96.&#10;Total liabilities and shareholders’ equity, $1733.">
            <a:extLst>
              <a:ext uri="{FF2B5EF4-FFF2-40B4-BE49-F238E27FC236}">
                <a16:creationId xmlns:a16="http://schemas.microsoft.com/office/drawing/2014/main" id="{01AE97B7-EEFC-42D6-9BB6-C1B8349723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5712" y="1561079"/>
            <a:ext cx="6132576" cy="2365248"/>
          </a:xfrm>
          <a:prstGeom prst="rect">
            <a:avLst/>
          </a:prstGeom>
        </p:spPr>
      </p:pic>
      <p:sp>
        <p:nvSpPr>
          <p:cNvPr id="2" name="TextBox 1">
            <a:extLst>
              <a:ext uri="{FF2B5EF4-FFF2-40B4-BE49-F238E27FC236}">
                <a16:creationId xmlns:a16="http://schemas.microsoft.com/office/drawing/2014/main" id="{B34CB2FF-CFB8-FD9D-4FCB-9F6CC0786614}"/>
              </a:ext>
            </a:extLst>
          </p:cNvPr>
          <p:cNvSpPr txBox="1"/>
          <p:nvPr/>
        </p:nvSpPr>
        <p:spPr>
          <a:xfrm>
            <a:off x="1087892" y="3998418"/>
            <a:ext cx="6705600" cy="276999"/>
          </a:xfrm>
          <a:prstGeom prst="rect">
            <a:avLst/>
          </a:prstGeom>
          <a:noFill/>
        </p:spPr>
        <p:txBody>
          <a:bodyPr wrap="square">
            <a:spAutoFit/>
          </a:bodyPr>
          <a:lstStyle/>
          <a:p>
            <a:r>
              <a:rPr lang="en-US" sz="1200" b="1" i="0" u="none" strike="noStrike" baseline="0" dirty="0">
                <a:latin typeface="+mj-lt"/>
              </a:rPr>
              <a:t>SOURCE:</a:t>
            </a:r>
            <a:r>
              <a:rPr lang="en-US" sz="1200" b="0" i="0" u="none" strike="noStrike" baseline="0" dirty="0">
                <a:latin typeface="+mj-lt"/>
              </a:rPr>
              <a:t> http://www.osfi-bsif.gc.ca/Eng/Pages/default.aspx (accessed on December 9, 2021).</a:t>
            </a:r>
            <a:endParaRPr lang="en-US" sz="1200" dirty="0">
              <a:latin typeface="+mj-lt"/>
            </a:endParaRPr>
          </a:p>
        </p:txBody>
      </p:sp>
    </p:spTree>
    <p:extLst>
      <p:ext uri="{BB962C8B-B14F-4D97-AF65-F5344CB8AC3E}">
        <p14:creationId xmlns:p14="http://schemas.microsoft.com/office/powerpoint/2010/main" val="1347503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704E068-35FF-DACB-CFF1-7BC1E2DC4F35}"/>
              </a:ext>
            </a:extLst>
          </p:cNvPr>
          <p:cNvSpPr>
            <a:spLocks noGrp="1"/>
          </p:cNvSpPr>
          <p:nvPr>
            <p:ph type="title"/>
          </p:nvPr>
        </p:nvSpPr>
        <p:spPr/>
        <p:txBody>
          <a:bodyPr/>
          <a:lstStyle/>
          <a:p>
            <a:r>
              <a:rPr lang="en-IN" dirty="0">
                <a:latin typeface="+mj-lt"/>
              </a:rPr>
              <a:t>Required and Excess Reserves</a:t>
            </a:r>
            <a:endParaRPr lang="en-IN" dirty="0"/>
          </a:p>
        </p:txBody>
      </p:sp>
      <p:sp>
        <p:nvSpPr>
          <p:cNvPr id="3" name="Content Placeholder 2"/>
          <p:cNvSpPr>
            <a:spLocks noGrp="1"/>
          </p:cNvSpPr>
          <p:nvPr>
            <p:ph idx="1"/>
          </p:nvPr>
        </p:nvSpPr>
        <p:spPr>
          <a:xfrm>
            <a:off x="457200" y="1442006"/>
            <a:ext cx="8229600" cy="4842351"/>
          </a:xfrm>
        </p:spPr>
        <p:txBody>
          <a:bodyPr wrap="square" anchor="ctr">
            <a:spAutoFit/>
          </a:bodyPr>
          <a:lstStyle/>
          <a:p>
            <a:pPr marL="0" indent="0">
              <a:spcBef>
                <a:spcPts val="1000"/>
              </a:spcBef>
              <a:buNone/>
              <a:defRPr/>
            </a:pPr>
            <a:r>
              <a:rPr lang="en-US" sz="2100" dirty="0"/>
              <a:t>The bank must keep </a:t>
            </a:r>
            <a:r>
              <a:rPr lang="en-US" sz="2100" i="1" dirty="0"/>
              <a:t>some</a:t>
            </a:r>
            <a:r>
              <a:rPr lang="en-US" sz="2100" dirty="0"/>
              <a:t> cash available for its depositors; it does this through a combination of </a:t>
            </a:r>
            <a:r>
              <a:rPr lang="en-US" sz="2100" i="1" dirty="0"/>
              <a:t>vault cash</a:t>
            </a:r>
            <a:r>
              <a:rPr lang="en-US" sz="2100" dirty="0"/>
              <a:t> and deposits with the Bank of Canada.</a:t>
            </a:r>
          </a:p>
          <a:p>
            <a:pPr marL="0" indent="0">
              <a:spcBef>
                <a:spcPts val="1000"/>
              </a:spcBef>
              <a:buNone/>
              <a:defRPr/>
            </a:pPr>
            <a:r>
              <a:rPr lang="en-US" sz="2100" dirty="0"/>
              <a:t>These funds are </a:t>
            </a:r>
            <a:r>
              <a:rPr lang="en-US" sz="2100" b="1" dirty="0"/>
              <a:t>reserves: </a:t>
            </a:r>
            <a:r>
              <a:rPr lang="en-US" sz="2100" dirty="0"/>
              <a:t>deposits that a bank keeps on hand to meet customers’ withdrawals needs.</a:t>
            </a:r>
          </a:p>
          <a:p>
            <a:pPr marL="0" indent="0">
              <a:spcBef>
                <a:spcPts val="1000"/>
              </a:spcBef>
              <a:buNone/>
              <a:defRPr/>
            </a:pPr>
            <a:r>
              <a:rPr lang="en-US" sz="2100" dirty="0"/>
              <a:t>Banks in Canada are </a:t>
            </a:r>
            <a:r>
              <a:rPr lang="en-US" sz="2100" b="1" dirty="0"/>
              <a:t>NOT </a:t>
            </a:r>
            <a:r>
              <a:rPr lang="en-US" sz="2100" dirty="0"/>
              <a:t>required to hold a specific level of reserves.</a:t>
            </a:r>
          </a:p>
          <a:p>
            <a:pPr marL="0" indent="0">
              <a:spcBef>
                <a:spcPts val="1000"/>
              </a:spcBef>
              <a:buNone/>
              <a:defRPr/>
            </a:pPr>
            <a:r>
              <a:rPr lang="en-US" sz="2100" dirty="0"/>
              <a:t>Banks desire to keep a fraction of their deposits (about 5 percent) on hand as reserves.</a:t>
            </a:r>
          </a:p>
          <a:p>
            <a:pPr marL="0" indent="0">
              <a:spcBef>
                <a:spcPts val="1000"/>
              </a:spcBef>
              <a:buNone/>
              <a:defRPr/>
            </a:pPr>
            <a:r>
              <a:rPr lang="en-US" sz="2100" dirty="0"/>
              <a:t>This 5% is known as the </a:t>
            </a:r>
            <a:r>
              <a:rPr lang="en-US" sz="2100" b="1" dirty="0"/>
              <a:t>desired reserve ratio (</a:t>
            </a:r>
            <a:r>
              <a:rPr lang="en-US" sz="2100" b="1" i="1" dirty="0" err="1"/>
              <a:t>r</a:t>
            </a:r>
            <a:r>
              <a:rPr lang="en-US" sz="2100" b="1" baseline="-25000" dirty="0" err="1"/>
              <a:t>d</a:t>
            </a:r>
            <a:r>
              <a:rPr lang="en-US" sz="2100" b="1" dirty="0"/>
              <a:t>):</a:t>
            </a:r>
            <a:r>
              <a:rPr lang="en-US" sz="2100" dirty="0"/>
              <a:t> the fraction of deposits banks want to keep as reserves.</a:t>
            </a:r>
          </a:p>
          <a:p>
            <a:pPr marL="0" indent="0">
              <a:spcBef>
                <a:spcPts val="1000"/>
              </a:spcBef>
              <a:buNone/>
              <a:defRPr/>
            </a:pPr>
            <a:r>
              <a:rPr lang="en-US" sz="2100" dirty="0"/>
              <a:t>Banks might increase their desired reserve ratio or reduce it depending on the state of the economy or state of financial markets.</a:t>
            </a:r>
          </a:p>
        </p:txBody>
      </p:sp>
    </p:spTree>
    <p:extLst>
      <p:ext uri="{BB962C8B-B14F-4D97-AF65-F5344CB8AC3E}">
        <p14:creationId xmlns:p14="http://schemas.microsoft.com/office/powerpoint/2010/main" val="30498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1620"/>
            <a:ext cx="8229600" cy="1046440"/>
          </a:xfrm>
        </p:spPr>
        <p:txBody>
          <a:bodyPr wrap="square" anchor="ctr">
            <a:spAutoFit/>
          </a:bodyPr>
          <a:lstStyle/>
          <a:p>
            <a:r>
              <a:rPr lang="en-IN" dirty="0">
                <a:latin typeface="+mj-lt"/>
              </a:rPr>
              <a:t>Using T-Accounts to Show Money Creation</a:t>
            </a:r>
            <a:endParaRPr lang="en-US" dirty="0">
              <a:latin typeface="+mj-lt"/>
            </a:endParaRPr>
          </a:p>
        </p:txBody>
      </p:sp>
      <p:sp>
        <p:nvSpPr>
          <p:cNvPr id="4" name="Content Placeholder 3"/>
          <p:cNvSpPr>
            <a:spLocks noGrp="1"/>
          </p:cNvSpPr>
          <p:nvPr>
            <p:ph idx="1"/>
          </p:nvPr>
        </p:nvSpPr>
        <p:spPr>
          <a:xfrm>
            <a:off x="457200" y="1420102"/>
            <a:ext cx="8229600" cy="1427873"/>
          </a:xfrm>
        </p:spPr>
        <p:txBody>
          <a:bodyPr/>
          <a:lstStyle/>
          <a:p>
            <a:pPr marL="0" indent="0">
              <a:spcBef>
                <a:spcPts val="0"/>
              </a:spcBef>
              <a:spcAft>
                <a:spcPts val="1200"/>
              </a:spcAft>
              <a:buNone/>
              <a:defRPr/>
            </a:pPr>
            <a:r>
              <a:rPr lang="en-US" sz="2000" dirty="0"/>
              <a:t>A T-account is a stripped-down version of a balance sheet, showing only how a transaction </a:t>
            </a:r>
            <a:r>
              <a:rPr lang="en-US" sz="2000" i="1" dirty="0"/>
              <a:t>changes</a:t>
            </a:r>
            <a:r>
              <a:rPr lang="en-US" sz="2000" dirty="0"/>
              <a:t> a bank’s balance sheet.</a:t>
            </a:r>
          </a:p>
          <a:p>
            <a:pPr marL="0" indent="0">
              <a:spcBef>
                <a:spcPts val="0"/>
              </a:spcBef>
              <a:spcAft>
                <a:spcPts val="1200"/>
              </a:spcAft>
              <a:buNone/>
              <a:defRPr/>
            </a:pPr>
            <a:r>
              <a:rPr lang="en-US" sz="2000" dirty="0"/>
              <a:t>When you deposit $1,000 in currency at Bank of Montreal (BMO), its reserves increase by $1,000 and so do its deposits:</a:t>
            </a:r>
          </a:p>
        </p:txBody>
      </p:sp>
      <p:sp>
        <p:nvSpPr>
          <p:cNvPr id="7" name="Content Placeholder 6"/>
          <p:cNvSpPr>
            <a:spLocks noGrp="1"/>
          </p:cNvSpPr>
          <p:nvPr>
            <p:ph idx="13"/>
          </p:nvPr>
        </p:nvSpPr>
        <p:spPr>
          <a:xfrm>
            <a:off x="457200" y="5057774"/>
            <a:ext cx="8153400" cy="1257302"/>
          </a:xfrm>
        </p:spPr>
        <p:txBody>
          <a:bodyPr/>
          <a:lstStyle/>
          <a:p>
            <a:pPr marL="0" indent="0">
              <a:buNone/>
            </a:pPr>
            <a:r>
              <a:rPr lang="en-US" sz="2000" kern="0" dirty="0"/>
              <a:t>The currency component of the money supply decreases by the $1,000, since that $1,000 is no longer in circulation; but the checking deposits component increases by $1,000. So there is no net change in the money supply—yet.</a:t>
            </a:r>
            <a:endParaRPr lang="en-US" sz="2000" dirty="0"/>
          </a:p>
        </p:txBody>
      </p:sp>
      <p:pic>
        <p:nvPicPr>
          <p:cNvPr id="9" name="Picture Placeholder 8" descr="A T account shows assets and liabilities of a bank. The assets are reserves of $1000 and liabilities are deposits of $1000.   "/>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a:stretch/>
        </p:blipFill>
        <p:spPr>
          <a:xfrm>
            <a:off x="2244931" y="2988904"/>
            <a:ext cx="4639596" cy="1912504"/>
          </a:xfrm>
        </p:spPr>
      </p:pic>
    </p:spTree>
    <p:extLst>
      <p:ext uri="{BB962C8B-B14F-4D97-AF65-F5344CB8AC3E}">
        <p14:creationId xmlns:p14="http://schemas.microsoft.com/office/powerpoint/2010/main" val="4183021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165B0F9-75B2-94A9-8287-2227A573A3D0}"/>
              </a:ext>
            </a:extLst>
          </p:cNvPr>
          <p:cNvSpPr>
            <a:spLocks noGrp="1"/>
          </p:cNvSpPr>
          <p:nvPr>
            <p:ph type="title"/>
          </p:nvPr>
        </p:nvSpPr>
        <p:spPr>
          <a:xfrm>
            <a:off x="457200" y="215372"/>
            <a:ext cx="8229600" cy="573422"/>
          </a:xfrm>
        </p:spPr>
        <p:txBody>
          <a:bodyPr/>
          <a:lstStyle/>
          <a:p>
            <a:r>
              <a:rPr lang="en-IN" dirty="0">
                <a:latin typeface="+mj-lt"/>
              </a:rPr>
              <a:t>T-Accounts</a:t>
            </a:r>
            <a:endParaRPr lang="en-IN" dirty="0"/>
          </a:p>
        </p:txBody>
      </p:sp>
      <p:sp>
        <p:nvSpPr>
          <p:cNvPr id="4" name="Content Placeholder 3"/>
          <p:cNvSpPr>
            <a:spLocks noGrp="1"/>
          </p:cNvSpPr>
          <p:nvPr>
            <p:ph idx="1"/>
          </p:nvPr>
        </p:nvSpPr>
        <p:spPr>
          <a:xfrm>
            <a:off x="457200" y="895350"/>
            <a:ext cx="4114800" cy="1600199"/>
          </a:xfrm>
        </p:spPr>
        <p:txBody>
          <a:bodyPr>
            <a:noAutofit/>
          </a:bodyPr>
          <a:lstStyle/>
          <a:p>
            <a:pPr marL="0" indent="0">
              <a:buNone/>
            </a:pPr>
            <a:r>
              <a:rPr lang="en-US" sz="2000" dirty="0"/>
              <a:t>But BMO needs to make a profit; so it keeps 10% (for example) of the deposit as reserves, and lends out the rest, creating a $900 checking account deposit.</a:t>
            </a:r>
          </a:p>
        </p:txBody>
      </p:sp>
      <p:sp>
        <p:nvSpPr>
          <p:cNvPr id="7" name="Content Placeholder 6"/>
          <p:cNvSpPr>
            <a:spLocks noGrp="1"/>
          </p:cNvSpPr>
          <p:nvPr>
            <p:ph idx="13"/>
          </p:nvPr>
        </p:nvSpPr>
        <p:spPr>
          <a:xfrm>
            <a:off x="447675" y="2590800"/>
            <a:ext cx="8229600" cy="923330"/>
          </a:xfrm>
        </p:spPr>
        <p:txBody>
          <a:bodyPr>
            <a:noAutofit/>
          </a:bodyPr>
          <a:lstStyle/>
          <a:p>
            <a:pPr marL="0" indent="0">
              <a:buNone/>
            </a:pPr>
            <a:r>
              <a:rPr lang="en-US" sz="2000" dirty="0"/>
              <a:t>The $900 initially appears in a BMO checking account but will soon be spent; and BMO will transfer $900 in currency to the bank at which the $900 check is deposited.</a:t>
            </a:r>
          </a:p>
        </p:txBody>
      </p:sp>
      <p:pic>
        <p:nvPicPr>
          <p:cNvPr id="11" name="Picture Placeholder 10" descr="A T account shows assets and liabilities of a bank. The assets are reserves of $100 and loans of $900, and liabilities are deposits of $1000.   "/>
          <p:cNvPicPr>
            <a:picLocks noGrp="1" noChangeAspect="1"/>
          </p:cNvPicPr>
          <p:nvPr>
            <p:ph type="pic" sz="quarter" idx="16"/>
          </p:nvPr>
        </p:nvPicPr>
        <p:blipFill>
          <a:blip r:embed="rId3" cstate="print">
            <a:extLst>
              <a:ext uri="{28A0092B-C50C-407E-A947-70E740481C1C}">
                <a14:useLocalDpi xmlns:a14="http://schemas.microsoft.com/office/drawing/2010/main" val="0"/>
              </a:ext>
            </a:extLst>
          </a:blip>
          <a:srcRect/>
          <a:stretch/>
        </p:blipFill>
        <p:spPr>
          <a:xfrm>
            <a:off x="4876800" y="838200"/>
            <a:ext cx="3635386" cy="1703194"/>
          </a:xfrm>
          <a:prstGeom prst="rect">
            <a:avLst/>
          </a:prstGeom>
          <a:noFill/>
          <a:ln>
            <a:noFill/>
          </a:ln>
        </p:spPr>
      </p:pic>
      <p:pic>
        <p:nvPicPr>
          <p:cNvPr id="21" name="Picture 20" descr="A T account shows assets and liabilities of a bank.&#10;A T account shows assets and liabilities of a bank. The assets are reserves of $900, and liabilities are deposits of $900.&#10;The assets are reserves of $1000 and loans of $900, and liabilities are deposits of $1000 and $900. &#10;A comment box pointing at the loan of $900 reads that by loaning out $900 in excess reserves, and another comment box pointing at deposits of $900 reads the bank of Montreal has increased the money supply by $900.&#10;A comment box pointing $900 of reserves and deposits of $900 reads after the cheque drawn on the account at Bank of Montreal clears Royal Bank's reserves and deposits both increase by $900.">
            <a:extLst>
              <a:ext uri="{FF2B5EF4-FFF2-40B4-BE49-F238E27FC236}">
                <a16:creationId xmlns:a16="http://schemas.microsoft.com/office/drawing/2014/main" id="{44272FDB-6CF2-89E4-9929-A7DED9179A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5645" y="3733800"/>
            <a:ext cx="7369186" cy="2344582"/>
          </a:xfrm>
          <a:prstGeom prst="rect">
            <a:avLst/>
          </a:prstGeom>
        </p:spPr>
      </p:pic>
    </p:spTree>
    <p:extLst>
      <p:ext uri="{BB962C8B-B14F-4D97-AF65-F5344CB8AC3E}">
        <p14:creationId xmlns:p14="http://schemas.microsoft.com/office/powerpoint/2010/main" val="2134397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5724"/>
            <a:ext cx="8229600" cy="752475"/>
          </a:xfrm>
        </p:spPr>
        <p:txBody>
          <a:bodyPr wrap="square" anchor="b">
            <a:noAutofit/>
          </a:bodyPr>
          <a:lstStyle/>
          <a:p>
            <a:r>
              <a:rPr lang="en-IN" dirty="0">
                <a:latin typeface="+mj-lt"/>
              </a:rPr>
              <a:t>When Will It End?</a:t>
            </a:r>
            <a:endParaRPr lang="en-US" dirty="0">
              <a:latin typeface="+mj-lt"/>
            </a:endParaRPr>
          </a:p>
        </p:txBody>
      </p:sp>
      <p:sp>
        <p:nvSpPr>
          <p:cNvPr id="4" name="Content Placeholder 3"/>
          <p:cNvSpPr>
            <a:spLocks noGrp="1"/>
          </p:cNvSpPr>
          <p:nvPr>
            <p:ph idx="1"/>
          </p:nvPr>
        </p:nvSpPr>
        <p:spPr>
          <a:xfrm>
            <a:off x="457200" y="918419"/>
            <a:ext cx="8229600" cy="1461939"/>
          </a:xfrm>
        </p:spPr>
        <p:txBody>
          <a:bodyPr>
            <a:noAutofit/>
          </a:bodyPr>
          <a:lstStyle/>
          <a:p>
            <a:pPr marL="0" indent="0">
              <a:spcBef>
                <a:spcPts val="0"/>
              </a:spcBef>
              <a:spcAft>
                <a:spcPts val="600"/>
              </a:spcAft>
              <a:buNone/>
              <a:defRPr/>
            </a:pPr>
            <a:r>
              <a:rPr lang="en-US" sz="1800" dirty="0"/>
              <a:t>Each “round”, the additional checking account deposits get smaller and smaller.</a:t>
            </a:r>
          </a:p>
          <a:p>
            <a:pPr marL="266700" indent="-266700">
              <a:spcBef>
                <a:spcPts val="0"/>
              </a:spcBef>
              <a:spcAft>
                <a:spcPts val="600"/>
              </a:spcAft>
              <a:defRPr/>
            </a:pPr>
            <a:r>
              <a:rPr lang="en-US" sz="1800" dirty="0"/>
              <a:t>Every round, 10% of the deposits are kept as reserves. This allows us to tell by how much the checking deposits will eventually increase: the $1,000 in currency will become the 10% required reserves for all of the checking deposits, so a total of $10,000 in checking deposits can be created.</a:t>
            </a:r>
          </a:p>
        </p:txBody>
      </p:sp>
      <p:graphicFrame>
        <p:nvGraphicFramePr>
          <p:cNvPr id="15" name="Table 14"/>
          <p:cNvGraphicFramePr>
            <a:graphicFrameLocks noGrp="1"/>
          </p:cNvGraphicFramePr>
          <p:nvPr>
            <p:extLst>
              <p:ext uri="{D42A27DB-BD31-4B8C-83A1-F6EECF244321}">
                <p14:modId xmlns:p14="http://schemas.microsoft.com/office/powerpoint/2010/main" val="2835080624"/>
              </p:ext>
            </p:extLst>
          </p:nvPr>
        </p:nvGraphicFramePr>
        <p:xfrm>
          <a:off x="533400" y="2590800"/>
          <a:ext cx="8077200" cy="3431215"/>
        </p:xfrm>
        <a:graphic>
          <a:graphicData uri="http://schemas.openxmlformats.org/drawingml/2006/table">
            <a:tbl>
              <a:tblPr firstRow="1" bandRow="1">
                <a:tableStyleId>{3B4B98B0-60AC-42C2-AFA5-B58CD77FA1E5}</a:tableStyleId>
              </a:tblPr>
              <a:tblGrid>
                <a:gridCol w="3581400">
                  <a:extLst>
                    <a:ext uri="{9D8B030D-6E8A-4147-A177-3AD203B41FA5}">
                      <a16:colId xmlns:a16="http://schemas.microsoft.com/office/drawing/2014/main" val="20000"/>
                    </a:ext>
                  </a:extLst>
                </a:gridCol>
                <a:gridCol w="4495800">
                  <a:extLst>
                    <a:ext uri="{9D8B030D-6E8A-4147-A177-3AD203B41FA5}">
                      <a16:colId xmlns:a16="http://schemas.microsoft.com/office/drawing/2014/main" val="20001"/>
                    </a:ext>
                  </a:extLst>
                </a:gridCol>
              </a:tblGrid>
              <a:tr h="304800">
                <a:tc>
                  <a:txBody>
                    <a:bodyPr/>
                    <a:lstStyle/>
                    <a:p>
                      <a:r>
                        <a:rPr lang="en-IN" dirty="0">
                          <a:solidFill>
                            <a:schemeClr val="bg1"/>
                          </a:solidFill>
                        </a:rPr>
                        <a:t>Bank</a:t>
                      </a: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r>
                        <a:rPr lang="en-IN" dirty="0">
                          <a:solidFill>
                            <a:schemeClr val="bg1"/>
                          </a:solidFill>
                        </a:rPr>
                        <a:t>Increase in </a:t>
                      </a:r>
                      <a:r>
                        <a:rPr lang="en-IN" dirty="0" err="1">
                          <a:solidFill>
                            <a:schemeClr val="bg1"/>
                          </a:solidFill>
                        </a:rPr>
                        <a:t>Chequing</a:t>
                      </a:r>
                      <a:r>
                        <a:rPr lang="en-IN" dirty="0">
                          <a:solidFill>
                            <a:schemeClr val="bg1"/>
                          </a:solidFill>
                        </a:rPr>
                        <a:t> Account Deposit</a:t>
                      </a:r>
                    </a:p>
                  </a:txBody>
                  <a:tcPr>
                    <a:lnL>
                      <a:noFill/>
                    </a:lnL>
                    <a:lnR>
                      <a:noFill/>
                    </a:lnR>
                    <a:lnT w="12700" cmpd="sng">
                      <a:noFill/>
                    </a:lnT>
                    <a:lnB w="12700" cmpd="sng">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74785">
                <a:tc>
                  <a:txBody>
                    <a:bodyPr/>
                    <a:lstStyle/>
                    <a:p>
                      <a:r>
                        <a:rPr lang="en-IN" dirty="0"/>
                        <a:t>Bank of Montreal</a:t>
                      </a: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r>
                        <a:rPr lang="en-IN" dirty="0"/>
                        <a:t>$1000 </a:t>
                      </a:r>
                    </a:p>
                  </a:txBody>
                  <a:tcPr>
                    <a:lnL>
                      <a:noFill/>
                    </a:lnL>
                    <a:lnR>
                      <a:noFill/>
                    </a:lnR>
                    <a:lnT w="12700" cmpd="sng">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74785">
                <a:tc>
                  <a:txBody>
                    <a:bodyPr/>
                    <a:lstStyle/>
                    <a:p>
                      <a:r>
                        <a:rPr lang="en-IN" dirty="0"/>
                        <a:t>Royal Bank </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IN" dirty="0"/>
                        <a:t>+ 900 (= 0.9 × $1000) </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74785">
                <a:tc>
                  <a:txBody>
                    <a:bodyPr/>
                    <a:lstStyle/>
                    <a:p>
                      <a:r>
                        <a:rPr lang="en-IN" dirty="0"/>
                        <a:t>Third Bank </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IN" dirty="0"/>
                        <a:t>+ 810 (= 0.9 × $ 900) </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74785">
                <a:tc>
                  <a:txBody>
                    <a:bodyPr/>
                    <a:lstStyle/>
                    <a:p>
                      <a:r>
                        <a:rPr lang="en-IN" dirty="0"/>
                        <a:t>Fourth Bank</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IN" dirty="0"/>
                        <a:t>+ 729 (= 0.9 × $ 810)</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74785">
                <a:tc>
                  <a:txBody>
                    <a:bodyPr/>
                    <a:lstStyle/>
                    <a:p>
                      <a:r>
                        <a:rPr lang="en-IN" dirty="0"/>
                        <a:t>•</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IN" dirty="0"/>
                        <a:t>+ • </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74785">
                <a:tc>
                  <a:txBody>
                    <a:bodyPr/>
                    <a:lstStyle/>
                    <a:p>
                      <a:r>
                        <a:rPr lang="en-IN" dirty="0"/>
                        <a:t>•</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IN" dirty="0"/>
                        <a:t>+ • </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374785">
                <a:tc>
                  <a:txBody>
                    <a:bodyPr/>
                    <a:lstStyle/>
                    <a:p>
                      <a:r>
                        <a:rPr lang="en-IN" dirty="0"/>
                        <a:t>•</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IN" dirty="0"/>
                        <a:t>+ • </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r h="374785">
                <a:tc>
                  <a:txBody>
                    <a:bodyPr/>
                    <a:lstStyle/>
                    <a:p>
                      <a:r>
                        <a:rPr lang="en-IN" dirty="0"/>
                        <a:t>Total change in </a:t>
                      </a:r>
                      <a:r>
                        <a:rPr lang="en-IN" dirty="0" err="1"/>
                        <a:t>chequing</a:t>
                      </a:r>
                      <a:r>
                        <a:rPr lang="en-IN" dirty="0"/>
                        <a:t> account deposits </a:t>
                      </a:r>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r>
                        <a:rPr lang="en-IN" dirty="0"/>
                        <a:t>= $10 000</a:t>
                      </a:r>
                    </a:p>
                    <a:p>
                      <a:endParaRPr lang="en-IN" dirty="0"/>
                    </a:p>
                  </a:txBody>
                  <a:tcPr>
                    <a:lnL>
                      <a:noFill/>
                    </a:lnL>
                    <a:lnR>
                      <a:noFill/>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72398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6A2866-5AC9-90AD-901F-6D62B1A0B60C}"/>
              </a:ext>
            </a:extLst>
          </p:cNvPr>
          <p:cNvSpPr>
            <a:spLocks noGrp="1"/>
          </p:cNvSpPr>
          <p:nvPr>
            <p:ph type="title"/>
          </p:nvPr>
        </p:nvSpPr>
        <p:spPr>
          <a:xfrm>
            <a:off x="457200" y="215371"/>
            <a:ext cx="8229600" cy="889167"/>
          </a:xfrm>
        </p:spPr>
        <p:txBody>
          <a:bodyPr/>
          <a:lstStyle/>
          <a:p>
            <a:r>
              <a:rPr lang="en-IN" dirty="0">
                <a:latin typeface="+mj-lt"/>
              </a:rPr>
              <a:t>Simple Deposit Multiplier</a:t>
            </a:r>
            <a:endParaRPr lang="en-IN" dirty="0"/>
          </a:p>
        </p:txBody>
      </p:sp>
      <p:sp>
        <p:nvSpPr>
          <p:cNvPr id="13" name="Content Placeholder 12"/>
          <p:cNvSpPr>
            <a:spLocks noGrp="1"/>
          </p:cNvSpPr>
          <p:nvPr>
            <p:ph idx="1"/>
          </p:nvPr>
        </p:nvSpPr>
        <p:spPr>
          <a:xfrm>
            <a:off x="457200" y="1222073"/>
            <a:ext cx="8229600" cy="646336"/>
          </a:xfrm>
        </p:spPr>
        <p:txBody>
          <a:bodyPr/>
          <a:lstStyle/>
          <a:p>
            <a:pPr marL="0" indent="0">
              <a:buNone/>
            </a:pPr>
            <a:r>
              <a:rPr lang="en-US" sz="2000" dirty="0"/>
              <a:t>An alternative way to find out how much money the original $1,000 in currency will create is to add up all of the checking account deposits.</a:t>
            </a:r>
          </a:p>
        </p:txBody>
      </p:sp>
      <p:sp>
        <p:nvSpPr>
          <p:cNvPr id="9" name="Content Placeholder 8"/>
          <p:cNvSpPr>
            <a:spLocks noGrp="1"/>
          </p:cNvSpPr>
          <p:nvPr>
            <p:ph idx="13"/>
          </p:nvPr>
        </p:nvSpPr>
        <p:spPr>
          <a:xfrm>
            <a:off x="457200" y="3404400"/>
            <a:ext cx="8229600" cy="309375"/>
          </a:xfrm>
        </p:spPr>
        <p:txBody>
          <a:bodyPr>
            <a:normAutofit fontScale="85000" lnSpcReduction="10000"/>
          </a:bodyPr>
          <a:lstStyle/>
          <a:p>
            <a:r>
              <a:rPr lang="en-US" sz="2000" dirty="0"/>
              <a:t>The expression in the parentheses can be rewritten as:</a:t>
            </a:r>
          </a:p>
        </p:txBody>
      </p:sp>
      <p:sp>
        <p:nvSpPr>
          <p:cNvPr id="12" name="Content Placeholder 11"/>
          <p:cNvSpPr>
            <a:spLocks noGrp="1"/>
          </p:cNvSpPr>
          <p:nvPr>
            <p:ph sz="quarter" idx="14"/>
          </p:nvPr>
        </p:nvSpPr>
        <p:spPr>
          <a:xfrm>
            <a:off x="457200" y="4609738"/>
            <a:ext cx="8229600" cy="1143723"/>
          </a:xfrm>
        </p:spPr>
        <p:txBody>
          <a:bodyPr/>
          <a:lstStyle/>
          <a:p>
            <a:pPr>
              <a:spcBef>
                <a:spcPts val="0"/>
              </a:spcBef>
              <a:spcAft>
                <a:spcPts val="1200"/>
              </a:spcAft>
              <a:defRPr/>
            </a:pPr>
            <a:r>
              <a:rPr lang="en-US" sz="2000" dirty="0"/>
              <a:t>So the total increase in deposits is $1,000(10) = $10,000.</a:t>
            </a:r>
          </a:p>
          <a:p>
            <a:pPr marL="266700" indent="-266700">
              <a:spcBef>
                <a:spcPts val="0"/>
              </a:spcBef>
              <a:spcAft>
                <a:spcPts val="1200"/>
              </a:spcAft>
              <a:defRPr/>
            </a:pPr>
            <a:r>
              <a:rPr lang="en-US" sz="2000" dirty="0"/>
              <a:t>The “10” here is the </a:t>
            </a:r>
            <a:r>
              <a:rPr lang="en-US" sz="2000" b="1" dirty="0"/>
              <a:t>simple deposit multiplier</a:t>
            </a:r>
            <a:r>
              <a:rPr lang="en-US" sz="2000" dirty="0"/>
              <a:t>: the ratio of the amount of deposits created by banks to the amount of new reserves.</a:t>
            </a:r>
          </a:p>
        </p:txBody>
      </p:sp>
      <p:graphicFrame>
        <p:nvGraphicFramePr>
          <p:cNvPr id="14" name="Object 13"/>
          <p:cNvGraphicFramePr>
            <a:graphicFrameLocks noChangeAspect="1"/>
          </p:cNvGraphicFramePr>
          <p:nvPr>
            <p:extLst>
              <p:ext uri="{D42A27DB-BD31-4B8C-83A1-F6EECF244321}">
                <p14:modId xmlns:p14="http://schemas.microsoft.com/office/powerpoint/2010/main" val="358129585"/>
              </p:ext>
            </p:extLst>
          </p:nvPr>
        </p:nvGraphicFramePr>
        <p:xfrm>
          <a:off x="695325" y="2065698"/>
          <a:ext cx="7753350" cy="1141413"/>
        </p:xfrm>
        <a:graphic>
          <a:graphicData uri="http://schemas.openxmlformats.org/presentationml/2006/ole">
            <mc:AlternateContent xmlns:mc="http://schemas.openxmlformats.org/markup-compatibility/2006">
              <mc:Choice xmlns:v="urn:schemas-microsoft-com:vml" Requires="v">
                <p:oleObj name="Equation" r:id="rId3" imgW="5867280" imgH="863280" progId="Equation.DSMT4">
                  <p:embed/>
                </p:oleObj>
              </mc:Choice>
              <mc:Fallback>
                <p:oleObj name="Equation" r:id="rId3" imgW="5867280" imgH="863280" progId="Equation.DSMT4">
                  <p:embed/>
                  <p:pic>
                    <p:nvPicPr>
                      <p:cNvPr id="0" name=""/>
                      <p:cNvPicPr/>
                      <p:nvPr/>
                    </p:nvPicPr>
                    <p:blipFill>
                      <a:blip r:embed="rId4"/>
                      <a:stretch>
                        <a:fillRect/>
                      </a:stretch>
                    </p:blipFill>
                    <p:spPr>
                      <a:xfrm>
                        <a:off x="695325" y="2065698"/>
                        <a:ext cx="7753350" cy="1141413"/>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237383156"/>
              </p:ext>
            </p:extLst>
          </p:nvPr>
        </p:nvGraphicFramePr>
        <p:xfrm>
          <a:off x="3352800" y="3887426"/>
          <a:ext cx="2095500" cy="622300"/>
        </p:xfrm>
        <a:graphic>
          <a:graphicData uri="http://schemas.openxmlformats.org/presentationml/2006/ole">
            <mc:AlternateContent xmlns:mc="http://schemas.openxmlformats.org/markup-compatibility/2006">
              <mc:Choice xmlns:v="urn:schemas-microsoft-com:vml" Requires="v">
                <p:oleObj name="Equation" r:id="rId5" imgW="2095200" imgH="622080" progId="Equation.DSMT4">
                  <p:embed/>
                </p:oleObj>
              </mc:Choice>
              <mc:Fallback>
                <p:oleObj name="Equation" r:id="rId5" imgW="2095200" imgH="622080" progId="Equation.DSMT4">
                  <p:embed/>
                  <p:pic>
                    <p:nvPicPr>
                      <p:cNvPr id="0" name=""/>
                      <p:cNvPicPr/>
                      <p:nvPr/>
                    </p:nvPicPr>
                    <p:blipFill>
                      <a:blip r:embed="rId6"/>
                      <a:stretch>
                        <a:fillRect/>
                      </a:stretch>
                    </p:blipFill>
                    <p:spPr>
                      <a:xfrm>
                        <a:off x="3352800" y="3887426"/>
                        <a:ext cx="2095500" cy="622300"/>
                      </a:xfrm>
                      <a:prstGeom prst="rect">
                        <a:avLst/>
                      </a:prstGeom>
                    </p:spPr>
                  </p:pic>
                </p:oleObj>
              </mc:Fallback>
            </mc:AlternateContent>
          </a:graphicData>
        </a:graphic>
      </p:graphicFrame>
    </p:spTree>
    <p:extLst>
      <p:ext uri="{BB962C8B-B14F-4D97-AF65-F5344CB8AC3E}">
        <p14:creationId xmlns:p14="http://schemas.microsoft.com/office/powerpoint/2010/main" val="2850264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2413"/>
            <a:ext cx="8229600" cy="923330"/>
          </a:xfrm>
        </p:spPr>
        <p:txBody>
          <a:bodyPr wrap="square" anchor="ctr">
            <a:spAutoFit/>
          </a:bodyPr>
          <a:lstStyle/>
          <a:p>
            <a:r>
              <a:rPr lang="en-IN" sz="3000" dirty="0">
                <a:latin typeface="+mj-lt"/>
              </a:rPr>
              <a:t>General Form for the Simple Deposit Multiplier</a:t>
            </a:r>
            <a:endParaRPr lang="en-US" sz="3000" dirty="0">
              <a:latin typeface="+mj-lt"/>
            </a:endParaRPr>
          </a:p>
        </p:txBody>
      </p:sp>
      <p:sp>
        <p:nvSpPr>
          <p:cNvPr id="13" name="Content Placeholder 12"/>
          <p:cNvSpPr>
            <a:spLocks noGrp="1"/>
          </p:cNvSpPr>
          <p:nvPr>
            <p:ph idx="1"/>
          </p:nvPr>
        </p:nvSpPr>
        <p:spPr>
          <a:xfrm>
            <a:off x="447675" y="1049063"/>
            <a:ext cx="8229600" cy="338554"/>
          </a:xfrm>
        </p:spPr>
        <p:txBody>
          <a:bodyPr>
            <a:noAutofit/>
          </a:bodyPr>
          <a:lstStyle/>
          <a:p>
            <a:pPr marL="0" indent="0">
              <a:buNone/>
            </a:pPr>
            <a:r>
              <a:rPr lang="en-IN" sz="2200" dirty="0"/>
              <a:t>In general, we can write the simple deposit multiplier as:</a:t>
            </a:r>
          </a:p>
        </p:txBody>
      </p:sp>
      <p:sp>
        <p:nvSpPr>
          <p:cNvPr id="9" name="Content Placeholder 8"/>
          <p:cNvSpPr>
            <a:spLocks noGrp="1"/>
          </p:cNvSpPr>
          <p:nvPr>
            <p:ph idx="13"/>
          </p:nvPr>
        </p:nvSpPr>
        <p:spPr>
          <a:xfrm>
            <a:off x="457200" y="2209800"/>
            <a:ext cx="8229600" cy="1508105"/>
          </a:xfrm>
        </p:spPr>
        <p:txBody>
          <a:bodyPr>
            <a:noAutofit/>
          </a:bodyPr>
          <a:lstStyle/>
          <a:p>
            <a:pPr marL="0" indent="0">
              <a:spcBef>
                <a:spcPts val="0"/>
              </a:spcBef>
              <a:spcAft>
                <a:spcPts val="1200"/>
              </a:spcAft>
              <a:buNone/>
              <a:defRPr/>
            </a:pPr>
            <a:r>
              <a:rPr lang="en-US" sz="2200" dirty="0"/>
              <a:t>So with a 10% desired required reserve ratio (</a:t>
            </a:r>
            <a:r>
              <a:rPr lang="en-US" sz="2200" i="1" dirty="0" err="1"/>
              <a:t>r</a:t>
            </a:r>
            <a:r>
              <a:rPr lang="en-US" sz="2200" baseline="-25000" dirty="0" err="1"/>
              <a:t>d</a:t>
            </a:r>
            <a:r>
              <a:rPr lang="en-US" sz="2200" dirty="0"/>
              <a:t>), the simple deposit multiplier is 10. </a:t>
            </a:r>
          </a:p>
          <a:p>
            <a:pPr marL="266700" indent="-266700">
              <a:spcBef>
                <a:spcPts val="0"/>
              </a:spcBef>
              <a:spcAft>
                <a:spcPts val="1200"/>
              </a:spcAft>
              <a:defRPr/>
            </a:pPr>
            <a:r>
              <a:rPr lang="en-US" sz="2200" dirty="0"/>
              <a:t>With a 20% desired required reserve ratio, the simple deposit multiplier is 5.</a:t>
            </a:r>
          </a:p>
        </p:txBody>
      </p:sp>
      <p:sp>
        <p:nvSpPr>
          <p:cNvPr id="12" name="Content Placeholder 11"/>
          <p:cNvSpPr>
            <a:spLocks noGrp="1"/>
          </p:cNvSpPr>
          <p:nvPr>
            <p:ph sz="quarter" idx="14"/>
          </p:nvPr>
        </p:nvSpPr>
        <p:spPr>
          <a:xfrm>
            <a:off x="457200" y="4659826"/>
            <a:ext cx="8229600" cy="655124"/>
          </a:xfrm>
        </p:spPr>
        <p:txBody>
          <a:bodyPr>
            <a:normAutofit lnSpcReduction="10000"/>
          </a:bodyPr>
          <a:lstStyle/>
          <a:p>
            <a:pPr marL="0" indent="0">
              <a:spcBef>
                <a:spcPts val="0"/>
              </a:spcBef>
              <a:spcAft>
                <a:spcPts val="1200"/>
              </a:spcAft>
              <a:buNone/>
              <a:defRPr/>
            </a:pPr>
            <a:r>
              <a:rPr lang="en-IN" sz="2200" dirty="0"/>
              <a:t>For example, $100,000 in new deposit, with a 10% desired reserve ratio, results in:</a:t>
            </a:r>
          </a:p>
        </p:txBody>
      </p:sp>
      <p:graphicFrame>
        <p:nvGraphicFramePr>
          <p:cNvPr id="6" name="Object 5"/>
          <p:cNvGraphicFramePr>
            <a:graphicFrameLocks noChangeAspect="1"/>
          </p:cNvGraphicFramePr>
          <p:nvPr>
            <p:extLst>
              <p:ext uri="{D42A27DB-BD31-4B8C-83A1-F6EECF244321}">
                <p14:modId xmlns:p14="http://schemas.microsoft.com/office/powerpoint/2010/main" val="496282680"/>
              </p:ext>
            </p:extLst>
          </p:nvPr>
        </p:nvGraphicFramePr>
        <p:xfrm>
          <a:off x="2743200" y="1457980"/>
          <a:ext cx="3403600" cy="698500"/>
        </p:xfrm>
        <a:graphic>
          <a:graphicData uri="http://schemas.openxmlformats.org/presentationml/2006/ole">
            <mc:AlternateContent xmlns:mc="http://schemas.openxmlformats.org/markup-compatibility/2006">
              <mc:Choice xmlns:v="urn:schemas-microsoft-com:vml" Requires="v">
                <p:oleObj name="Equation" r:id="rId3" imgW="3403440" imgH="698400" progId="Equation.DSMT4">
                  <p:embed/>
                </p:oleObj>
              </mc:Choice>
              <mc:Fallback>
                <p:oleObj name="Equation" r:id="rId3" imgW="3403440" imgH="698400" progId="Equation.DSMT4">
                  <p:embed/>
                  <p:pic>
                    <p:nvPicPr>
                      <p:cNvPr id="0" name=""/>
                      <p:cNvPicPr/>
                      <p:nvPr/>
                    </p:nvPicPr>
                    <p:blipFill>
                      <a:blip r:embed="rId4"/>
                      <a:stretch>
                        <a:fillRect/>
                      </a:stretch>
                    </p:blipFill>
                    <p:spPr>
                      <a:xfrm>
                        <a:off x="2743200" y="1457980"/>
                        <a:ext cx="3403600" cy="698500"/>
                      </a:xfrm>
                      <a:prstGeom prst="rect">
                        <a:avLst/>
                      </a:prstGeom>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2273421651"/>
              </p:ext>
            </p:extLst>
          </p:nvPr>
        </p:nvGraphicFramePr>
        <p:xfrm>
          <a:off x="754063" y="3925888"/>
          <a:ext cx="7615237" cy="671512"/>
        </p:xfrm>
        <a:graphic>
          <a:graphicData uri="http://schemas.openxmlformats.org/presentationml/2006/ole">
            <mc:AlternateContent xmlns:mc="http://schemas.openxmlformats.org/markup-compatibility/2006">
              <mc:Choice xmlns:v="urn:schemas-microsoft-com:vml" Requires="v">
                <p:oleObj name="Equation" r:id="rId5" imgW="7924680" imgH="698400" progId="Equation.DSMT4">
                  <p:embed/>
                </p:oleObj>
              </mc:Choice>
              <mc:Fallback>
                <p:oleObj name="Equation" r:id="rId5" imgW="7924680" imgH="698400" progId="Equation.DSMT4">
                  <p:embed/>
                  <p:pic>
                    <p:nvPicPr>
                      <p:cNvPr id="0" name="Object 5"/>
                      <p:cNvPicPr>
                        <a:picLocks noChangeAspect="1" noChangeArrowheads="1"/>
                      </p:cNvPicPr>
                      <p:nvPr/>
                    </p:nvPicPr>
                    <p:blipFill>
                      <a:blip r:embed="rId6"/>
                      <a:srcRect/>
                      <a:stretch>
                        <a:fillRect/>
                      </a:stretch>
                    </p:blipFill>
                    <p:spPr bwMode="auto">
                      <a:xfrm>
                        <a:off x="754063" y="3925888"/>
                        <a:ext cx="7615237"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844365985"/>
              </p:ext>
            </p:extLst>
          </p:nvPr>
        </p:nvGraphicFramePr>
        <p:xfrm>
          <a:off x="1273682" y="5440144"/>
          <a:ext cx="6595049" cy="816298"/>
        </p:xfrm>
        <a:graphic>
          <a:graphicData uri="http://schemas.openxmlformats.org/presentationml/2006/ole">
            <mc:AlternateContent xmlns:mc="http://schemas.openxmlformats.org/markup-compatibility/2006">
              <mc:Choice xmlns:v="urn:schemas-microsoft-com:vml" Requires="v">
                <p:oleObj name="Equation" r:id="rId7" imgW="7581600" imgH="939600" progId="Equation.DSMT4">
                  <p:embed/>
                </p:oleObj>
              </mc:Choice>
              <mc:Fallback>
                <p:oleObj name="Equation" r:id="rId7" imgW="7581600" imgH="939600" progId="Equation.DSMT4">
                  <p:embed/>
                  <p:pic>
                    <p:nvPicPr>
                      <p:cNvPr id="0" name="Object 2"/>
                      <p:cNvPicPr>
                        <a:picLocks noChangeAspect="1" noChangeArrowheads="1"/>
                      </p:cNvPicPr>
                      <p:nvPr/>
                    </p:nvPicPr>
                    <p:blipFill>
                      <a:blip r:embed="rId8"/>
                      <a:srcRect/>
                      <a:stretch>
                        <a:fillRect/>
                      </a:stretch>
                    </p:blipFill>
                    <p:spPr bwMode="auto">
                      <a:xfrm>
                        <a:off x="1273682" y="5440144"/>
                        <a:ext cx="6595049" cy="816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84115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0D24A6-9E62-8616-9477-39C87B9C4DB2}"/>
              </a:ext>
            </a:extLst>
          </p:cNvPr>
          <p:cNvSpPr>
            <a:spLocks noGrp="1"/>
          </p:cNvSpPr>
          <p:nvPr>
            <p:ph type="title"/>
          </p:nvPr>
        </p:nvSpPr>
        <p:spPr>
          <a:xfrm>
            <a:off x="457200" y="215372"/>
            <a:ext cx="8229600" cy="1232428"/>
          </a:xfrm>
        </p:spPr>
        <p:txBody>
          <a:bodyPr/>
          <a:lstStyle/>
          <a:p>
            <a:r>
              <a:rPr lang="en-IN" dirty="0">
                <a:latin typeface="+mj-lt"/>
              </a:rPr>
              <a:t>The Simple Deposit Multiplier vs Real-World Deposit Multiplier</a:t>
            </a:r>
            <a:endParaRPr lang="en-IN" dirty="0"/>
          </a:p>
        </p:txBody>
      </p:sp>
      <p:sp>
        <p:nvSpPr>
          <p:cNvPr id="13" name="Content Placeholder 12"/>
          <p:cNvSpPr>
            <a:spLocks noGrp="1"/>
          </p:cNvSpPr>
          <p:nvPr>
            <p:ph idx="1"/>
          </p:nvPr>
        </p:nvSpPr>
        <p:spPr>
          <a:xfrm>
            <a:off x="457200" y="1752600"/>
            <a:ext cx="8229600" cy="1110682"/>
          </a:xfrm>
        </p:spPr>
        <p:txBody>
          <a:bodyPr/>
          <a:lstStyle/>
          <a:p>
            <a:pPr marL="0" indent="0">
              <a:spcBef>
                <a:spcPts val="1200"/>
              </a:spcBef>
              <a:spcAft>
                <a:spcPts val="0"/>
              </a:spcAft>
              <a:buNone/>
              <a:defRPr/>
            </a:pPr>
            <a:r>
              <a:rPr lang="en-US" sz="2000" dirty="0"/>
              <a:t>With a 10% desired reserve ratio, the simple deposit multiplier tells us that a currency deposit will be multiplied 10 times.</a:t>
            </a:r>
          </a:p>
          <a:p>
            <a:pPr marL="342900" indent="-342900">
              <a:spcBef>
                <a:spcPts val="1200"/>
              </a:spcBef>
              <a:defRPr/>
            </a:pPr>
            <a:r>
              <a:rPr lang="en-US" sz="2000" dirty="0"/>
              <a:t>But in reality, we do not observe this.</a:t>
            </a:r>
          </a:p>
        </p:txBody>
      </p:sp>
      <p:sp>
        <p:nvSpPr>
          <p:cNvPr id="9" name="Content Placeholder 8"/>
          <p:cNvSpPr>
            <a:spLocks noGrp="1"/>
          </p:cNvSpPr>
          <p:nvPr>
            <p:ph idx="13"/>
          </p:nvPr>
        </p:nvSpPr>
        <p:spPr>
          <a:xfrm>
            <a:off x="457200" y="3048000"/>
            <a:ext cx="8229600" cy="2234040"/>
          </a:xfrm>
        </p:spPr>
        <p:txBody>
          <a:bodyPr/>
          <a:lstStyle/>
          <a:p>
            <a:pPr marL="0" indent="0">
              <a:spcBef>
                <a:spcPts val="1200"/>
              </a:spcBef>
              <a:spcAft>
                <a:spcPts val="0"/>
              </a:spcAft>
              <a:buNone/>
              <a:defRPr/>
            </a:pPr>
            <a:r>
              <a:rPr lang="en-US" sz="2000" dirty="0"/>
              <a:t>Why this difference?</a:t>
            </a:r>
          </a:p>
          <a:p>
            <a:pPr marL="342900" indent="-342900">
              <a:spcBef>
                <a:spcPts val="1200"/>
              </a:spcBef>
              <a:defRPr/>
            </a:pPr>
            <a:r>
              <a:rPr lang="en-US" sz="2000" dirty="0"/>
              <a:t>Banks may not lend out as much as we predict, either because they want to keep </a:t>
            </a:r>
            <a:r>
              <a:rPr lang="en-US" sz="2000" i="1" dirty="0"/>
              <a:t>excess reserves</a:t>
            </a:r>
            <a:r>
              <a:rPr lang="en-US" sz="2000" dirty="0"/>
              <a:t>, or they cannot find credit-worthy borrowers.</a:t>
            </a:r>
          </a:p>
          <a:p>
            <a:pPr marL="342900" indent="-342900">
              <a:spcBef>
                <a:spcPts val="1200"/>
              </a:spcBef>
              <a:defRPr/>
            </a:pPr>
            <a:r>
              <a:rPr lang="en-US" sz="2000" dirty="0"/>
              <a:t>Consumers keep some currency out of the bank; that currency cannot be used as required reserves.</a:t>
            </a:r>
          </a:p>
        </p:txBody>
      </p:sp>
      <p:sp>
        <p:nvSpPr>
          <p:cNvPr id="12" name="Content Placeholder 11"/>
          <p:cNvSpPr>
            <a:spLocks noGrp="1"/>
          </p:cNvSpPr>
          <p:nvPr>
            <p:ph sz="quarter" idx="14"/>
          </p:nvPr>
        </p:nvSpPr>
        <p:spPr>
          <a:xfrm>
            <a:off x="457200" y="5360602"/>
            <a:ext cx="8229600" cy="705442"/>
          </a:xfrm>
        </p:spPr>
        <p:txBody>
          <a:bodyPr/>
          <a:lstStyle/>
          <a:p>
            <a:pPr marL="0" indent="0">
              <a:spcBef>
                <a:spcPts val="0"/>
              </a:spcBef>
              <a:spcAft>
                <a:spcPts val="0"/>
              </a:spcAft>
              <a:buNone/>
              <a:defRPr/>
            </a:pPr>
            <a:r>
              <a:rPr lang="en-US" sz="2000" dirty="0"/>
              <a:t>Note: during the financial crisis of 2007–2009, research suggests that the real-world multiplier fell to close to 1 in the US.</a:t>
            </a:r>
          </a:p>
        </p:txBody>
      </p:sp>
    </p:spTree>
    <p:extLst>
      <p:ext uri="{BB962C8B-B14F-4D97-AF65-F5344CB8AC3E}">
        <p14:creationId xmlns:p14="http://schemas.microsoft.com/office/powerpoint/2010/main" val="40907130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0792"/>
            <a:ext cx="8229600" cy="1046440"/>
          </a:xfrm>
        </p:spPr>
        <p:txBody>
          <a:bodyPr wrap="square" anchor="ctr">
            <a:spAutoFit/>
          </a:bodyPr>
          <a:lstStyle/>
          <a:p>
            <a:r>
              <a:rPr lang="en-IN" dirty="0">
                <a:latin typeface="+mj-lt"/>
              </a:rPr>
              <a:t>Conclusions About Banks and the Money Supply</a:t>
            </a:r>
            <a:endParaRPr lang="en-US" dirty="0">
              <a:latin typeface="+mj-lt"/>
            </a:endParaRPr>
          </a:p>
        </p:txBody>
      </p:sp>
      <p:sp>
        <p:nvSpPr>
          <p:cNvPr id="13" name="Content Placeholder 12"/>
          <p:cNvSpPr>
            <a:spLocks noGrp="1"/>
          </p:cNvSpPr>
          <p:nvPr>
            <p:ph idx="1"/>
          </p:nvPr>
        </p:nvSpPr>
        <p:spPr/>
        <p:txBody>
          <a:bodyPr/>
          <a:lstStyle/>
          <a:p>
            <a:pPr marL="0" indent="0">
              <a:spcBef>
                <a:spcPts val="0"/>
              </a:spcBef>
              <a:spcAft>
                <a:spcPts val="1200"/>
              </a:spcAft>
              <a:buNone/>
              <a:defRPr/>
            </a:pPr>
            <a:r>
              <a:rPr lang="en-US" sz="2400" dirty="0"/>
              <a:t>In general, we can assume that the real-world deposit multiplier is greater than 1. So we conclude that:</a:t>
            </a:r>
          </a:p>
          <a:p>
            <a:pPr marL="347472" indent="-347472">
              <a:spcBef>
                <a:spcPts val="0"/>
              </a:spcBef>
              <a:spcAft>
                <a:spcPts val="1200"/>
              </a:spcAft>
              <a:buAutoNum type="arabicPeriod"/>
              <a:defRPr/>
            </a:pPr>
            <a:r>
              <a:rPr lang="en-US" sz="2400" dirty="0"/>
              <a:t>When banks gain reserves, they make new loans, and the money supply expands.</a:t>
            </a:r>
          </a:p>
          <a:p>
            <a:pPr marL="347472" indent="-347472">
              <a:spcBef>
                <a:spcPts val="0"/>
              </a:spcBef>
              <a:spcAft>
                <a:spcPts val="1200"/>
              </a:spcAft>
              <a:buAutoNum type="arabicPeriod"/>
              <a:defRPr/>
            </a:pPr>
            <a:r>
              <a:rPr lang="en-US" sz="2400" dirty="0"/>
              <a:t>When banks lose reserves, they reduce their loans, and the money supply contracts.</a:t>
            </a:r>
          </a:p>
          <a:p>
            <a:pPr marL="0" indent="0">
              <a:spcBef>
                <a:spcPts val="0"/>
              </a:spcBef>
              <a:spcAft>
                <a:spcPts val="1200"/>
              </a:spcAft>
              <a:buNone/>
              <a:defRPr/>
            </a:pPr>
            <a:r>
              <a:rPr lang="en-US" sz="2400" dirty="0"/>
              <a:t>This is enough to establish the important relationship between banks and the money supply.</a:t>
            </a:r>
          </a:p>
          <a:p>
            <a:pPr marL="347472" indent="-347472">
              <a:spcBef>
                <a:spcPts val="0"/>
              </a:spcBef>
              <a:spcAft>
                <a:spcPts val="1200"/>
              </a:spcAft>
              <a:buAutoNum type="arabicPeriod"/>
              <a:defRPr/>
            </a:pPr>
            <a:endParaRPr lang="en-US" sz="2400" dirty="0"/>
          </a:p>
        </p:txBody>
      </p:sp>
    </p:spTree>
    <p:extLst>
      <p:ext uri="{BB962C8B-B14F-4D97-AF65-F5344CB8AC3E}">
        <p14:creationId xmlns:p14="http://schemas.microsoft.com/office/powerpoint/2010/main" val="3311413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8DFCFB-8374-5A85-2B39-601682AC66F0}"/>
              </a:ext>
            </a:extLst>
          </p:cNvPr>
          <p:cNvSpPr>
            <a:spLocks noGrp="1"/>
          </p:cNvSpPr>
          <p:nvPr>
            <p:ph type="title"/>
          </p:nvPr>
        </p:nvSpPr>
        <p:spPr>
          <a:xfrm>
            <a:off x="457200" y="215372"/>
            <a:ext cx="8229600" cy="829658"/>
          </a:xfrm>
        </p:spPr>
        <p:txBody>
          <a:bodyPr anchor="b"/>
          <a:lstStyle/>
          <a:p>
            <a:r>
              <a:rPr lang="en-IN" sz="3200" dirty="0">
                <a:latin typeface="+mj-lt"/>
              </a:rPr>
              <a:t>The Quantity Theory of Money</a:t>
            </a:r>
            <a:endParaRPr lang="en-IN" dirty="0"/>
          </a:p>
        </p:txBody>
      </p:sp>
      <p:sp>
        <p:nvSpPr>
          <p:cNvPr id="10" name="Text Placeholder 9">
            <a:extLst>
              <a:ext uri="{FF2B5EF4-FFF2-40B4-BE49-F238E27FC236}">
                <a16:creationId xmlns:a16="http://schemas.microsoft.com/office/drawing/2014/main" id="{C593DD9B-7426-2329-5847-F01F22F0CA03}"/>
              </a:ext>
            </a:extLst>
          </p:cNvPr>
          <p:cNvSpPr>
            <a:spLocks noGrp="1"/>
          </p:cNvSpPr>
          <p:nvPr>
            <p:ph type="body" sz="quarter" idx="13"/>
          </p:nvPr>
        </p:nvSpPr>
        <p:spPr>
          <a:xfrm>
            <a:off x="457200" y="1083130"/>
            <a:ext cx="8229600" cy="402770"/>
          </a:xfrm>
        </p:spPr>
        <p:txBody>
          <a:bodyPr/>
          <a:lstStyle/>
          <a:p>
            <a:r>
              <a:rPr lang="en-US" sz="2400" b="1" dirty="0">
                <a:solidFill>
                  <a:schemeClr val="tx1"/>
                </a:solidFill>
              </a:rPr>
              <a:t>10.5 Learning</a:t>
            </a:r>
            <a:r>
              <a:rPr lang="en-US" sz="2400" dirty="0">
                <a:solidFill>
                  <a:schemeClr val="tx1"/>
                </a:solidFill>
              </a:rPr>
              <a:t> </a:t>
            </a:r>
            <a:r>
              <a:rPr lang="en-US" sz="2400" b="1" dirty="0">
                <a:solidFill>
                  <a:schemeClr val="tx1"/>
                </a:solidFill>
              </a:rPr>
              <a:t>Objective</a:t>
            </a:r>
          </a:p>
        </p:txBody>
      </p:sp>
      <p:sp>
        <p:nvSpPr>
          <p:cNvPr id="11" name="Content Placeholder 10">
            <a:extLst>
              <a:ext uri="{FF2B5EF4-FFF2-40B4-BE49-F238E27FC236}">
                <a16:creationId xmlns:a16="http://schemas.microsoft.com/office/drawing/2014/main" id="{C1798814-2047-411E-E2BD-1FDE057E068E}"/>
              </a:ext>
            </a:extLst>
          </p:cNvPr>
          <p:cNvSpPr>
            <a:spLocks noGrp="1"/>
          </p:cNvSpPr>
          <p:nvPr>
            <p:ph sz="quarter" idx="14"/>
          </p:nvPr>
        </p:nvSpPr>
        <p:spPr/>
        <p:txBody>
          <a:bodyPr/>
          <a:lstStyle/>
          <a:p>
            <a:pPr marL="0" indent="0">
              <a:buNone/>
            </a:pPr>
            <a:r>
              <a:rPr lang="en-US" sz="2400" dirty="0"/>
              <a:t>Explain the quantity theory of money and use it to explain how high rates of inflation occur.</a:t>
            </a:r>
          </a:p>
          <a:p>
            <a:pPr marL="0" indent="0">
              <a:spcBef>
                <a:spcPts val="1000"/>
              </a:spcBef>
              <a:spcAft>
                <a:spcPts val="600"/>
              </a:spcAft>
              <a:buFont typeface="Arial" panose="020B0604020202020204" pitchFamily="34" charset="0"/>
              <a:buNone/>
              <a:defRPr/>
            </a:pPr>
            <a:r>
              <a:rPr lang="en-US" sz="2400" dirty="0"/>
              <a:t>Beginning in the 16</a:t>
            </a:r>
            <a:r>
              <a:rPr lang="en-US" sz="2400" baseline="30000" dirty="0"/>
              <a:t>th</a:t>
            </a:r>
            <a:r>
              <a:rPr lang="en-US" sz="2400" dirty="0"/>
              <a:t> century, Spain sent gold and silver from Mexico and Peru back to Spain.</a:t>
            </a:r>
          </a:p>
          <a:p>
            <a:pPr marL="266700" indent="-266700">
              <a:spcBef>
                <a:spcPts val="0"/>
              </a:spcBef>
              <a:spcAft>
                <a:spcPts val="1200"/>
              </a:spcAft>
              <a:defRPr/>
            </a:pPr>
            <a:r>
              <a:rPr lang="en-US" sz="2400" dirty="0"/>
              <a:t>These metals were minted into coins, increasing the money supply.</a:t>
            </a:r>
          </a:p>
          <a:p>
            <a:pPr marL="0" indent="0">
              <a:spcBef>
                <a:spcPts val="0"/>
              </a:spcBef>
              <a:spcAft>
                <a:spcPts val="1200"/>
              </a:spcAft>
              <a:buFont typeface="Arial" panose="020B0604020202020204" pitchFamily="34" charset="0"/>
              <a:buNone/>
              <a:defRPr/>
            </a:pPr>
            <a:r>
              <a:rPr lang="en-US" sz="2400" dirty="0"/>
              <a:t>Prices in Europe rose steadily during those years.</a:t>
            </a:r>
          </a:p>
          <a:p>
            <a:pPr marL="266700" indent="-266700">
              <a:spcBef>
                <a:spcPts val="0"/>
              </a:spcBef>
              <a:spcAft>
                <a:spcPts val="1200"/>
              </a:spcAft>
              <a:defRPr/>
            </a:pPr>
            <a:r>
              <a:rPr lang="en-US" sz="2400" dirty="0"/>
              <a:t>This helped observers make the connection between inflation and the flow of gold and silver into Europe from the Americas.</a:t>
            </a:r>
          </a:p>
        </p:txBody>
      </p:sp>
    </p:spTree>
    <p:extLst>
      <p:ext uri="{BB962C8B-B14F-4D97-AF65-F5344CB8AC3E}">
        <p14:creationId xmlns:p14="http://schemas.microsoft.com/office/powerpoint/2010/main" val="18523678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272EBA-8D35-DEE7-1072-097790D6B47C}"/>
              </a:ext>
            </a:extLst>
          </p:cNvPr>
          <p:cNvSpPr>
            <a:spLocks noGrp="1"/>
          </p:cNvSpPr>
          <p:nvPr>
            <p:ph type="title"/>
          </p:nvPr>
        </p:nvSpPr>
        <p:spPr>
          <a:xfrm>
            <a:off x="457200" y="215372"/>
            <a:ext cx="8229600" cy="716674"/>
          </a:xfrm>
        </p:spPr>
        <p:txBody>
          <a:bodyPr/>
          <a:lstStyle/>
          <a:p>
            <a:r>
              <a:rPr lang="en-IN" dirty="0">
                <a:latin typeface="+mj-lt"/>
              </a:rPr>
              <a:t>The Quantity Equation</a:t>
            </a:r>
            <a:endParaRPr lang="en-IN" dirty="0"/>
          </a:p>
        </p:txBody>
      </p:sp>
      <p:sp>
        <p:nvSpPr>
          <p:cNvPr id="3" name="Content Placeholder 2"/>
          <p:cNvSpPr>
            <a:spLocks noGrp="1"/>
          </p:cNvSpPr>
          <p:nvPr>
            <p:ph idx="1"/>
          </p:nvPr>
        </p:nvSpPr>
        <p:spPr>
          <a:xfrm>
            <a:off x="452368" y="1157373"/>
            <a:ext cx="8229600" cy="716674"/>
          </a:xfrm>
        </p:spPr>
        <p:txBody>
          <a:bodyPr/>
          <a:lstStyle/>
          <a:p>
            <a:pPr marL="0" indent="0">
              <a:spcAft>
                <a:spcPts val="1800"/>
              </a:spcAft>
              <a:buNone/>
            </a:pPr>
            <a:r>
              <a:rPr lang="en-US" sz="2200" dirty="0"/>
              <a:t>In the early 20</a:t>
            </a:r>
            <a:r>
              <a:rPr lang="en-US" sz="2200" baseline="30000" dirty="0"/>
              <a:t>th</a:t>
            </a:r>
            <a:r>
              <a:rPr lang="en-US" sz="2200" dirty="0"/>
              <a:t> century, Irving Fisher formalized the relationship between money and prices by using </a:t>
            </a:r>
            <a:r>
              <a:rPr lang="en-US" sz="2200" i="1" dirty="0"/>
              <a:t>the quantity equation</a:t>
            </a:r>
            <a:r>
              <a:rPr lang="en-US" sz="2200" dirty="0"/>
              <a:t>:</a:t>
            </a:r>
          </a:p>
        </p:txBody>
      </p:sp>
      <p:sp>
        <p:nvSpPr>
          <p:cNvPr id="4" name="Content Placeholder 3"/>
          <p:cNvSpPr>
            <a:spLocks noGrp="1"/>
          </p:cNvSpPr>
          <p:nvPr>
            <p:ph idx="13"/>
          </p:nvPr>
        </p:nvSpPr>
        <p:spPr>
          <a:xfrm>
            <a:off x="452368" y="3623558"/>
            <a:ext cx="8229600" cy="1557293"/>
          </a:xfrm>
        </p:spPr>
        <p:txBody>
          <a:bodyPr/>
          <a:lstStyle/>
          <a:p>
            <a:pPr marL="0" indent="0">
              <a:spcBef>
                <a:spcPts val="1000"/>
              </a:spcBef>
              <a:buNone/>
              <a:defRPr/>
            </a:pPr>
            <a:r>
              <a:rPr lang="en-US" sz="2200" b="1" dirty="0"/>
              <a:t>Velocity of money:</a:t>
            </a:r>
            <a:r>
              <a:rPr lang="en-US" sz="2200" dirty="0"/>
              <a:t> the average number of times per year each dollar in the money supply is used to purchase goods and services included in GDP.</a:t>
            </a:r>
          </a:p>
          <a:p>
            <a:pPr marL="0" indent="0">
              <a:spcBef>
                <a:spcPts val="1000"/>
              </a:spcBef>
              <a:buNone/>
              <a:defRPr/>
            </a:pPr>
            <a:r>
              <a:rPr lang="en-US" sz="2200" dirty="0"/>
              <a:t>Rewriting this equation by dividing through by M, we obtain:</a:t>
            </a:r>
          </a:p>
        </p:txBody>
      </p:sp>
      <p:pic>
        <p:nvPicPr>
          <p:cNvPr id="9" name="Picture Placeholder 8" descr="FPO"/>
          <p:cNvPicPr>
            <a:picLocks noGrp="1" noChangeAspect="1"/>
          </p:cNvPicPr>
          <p:nvPr>
            <p:ph type="pic" sz="quarter" idx="16"/>
          </p:nvPr>
        </p:nvPicPr>
        <p:blipFill>
          <a:blip r:embed="rId3">
            <a:extLst>
              <a:ext uri="{28A0092B-C50C-407E-A947-70E740481C1C}">
                <a14:useLocalDpi xmlns:a14="http://schemas.microsoft.com/office/drawing/2010/main" val="0"/>
              </a:ext>
            </a:extLst>
          </a:blip>
          <a:stretch>
            <a:fillRect/>
          </a:stretch>
        </p:blipFill>
        <p:spPr>
          <a:xfrm>
            <a:off x="1024673" y="1945370"/>
            <a:ext cx="7084990" cy="1614017"/>
          </a:xfrm>
        </p:spPr>
      </p:pic>
      <p:graphicFrame>
        <p:nvGraphicFramePr>
          <p:cNvPr id="10" name="Object 9"/>
          <p:cNvGraphicFramePr>
            <a:graphicFrameLocks noChangeAspect="1"/>
          </p:cNvGraphicFramePr>
          <p:nvPr>
            <p:extLst>
              <p:ext uri="{D42A27DB-BD31-4B8C-83A1-F6EECF244321}">
                <p14:modId xmlns:p14="http://schemas.microsoft.com/office/powerpoint/2010/main" val="2798212523"/>
              </p:ext>
            </p:extLst>
          </p:nvPr>
        </p:nvGraphicFramePr>
        <p:xfrm>
          <a:off x="3838576" y="5308600"/>
          <a:ext cx="1167500" cy="635000"/>
        </p:xfrm>
        <a:graphic>
          <a:graphicData uri="http://schemas.openxmlformats.org/presentationml/2006/ole">
            <mc:AlternateContent xmlns:mc="http://schemas.openxmlformats.org/markup-compatibility/2006">
              <mc:Choice xmlns:v="urn:schemas-microsoft-com:vml" Requires="v">
                <p:oleObj name="Equation" r:id="rId4" imgW="723600" imgH="393480" progId="Equation.DSMT4">
                  <p:embed/>
                </p:oleObj>
              </mc:Choice>
              <mc:Fallback>
                <p:oleObj name="Equation" r:id="rId4" imgW="723600" imgH="393480" progId="Equation.DSMT4">
                  <p:embed/>
                  <p:pic>
                    <p:nvPicPr>
                      <p:cNvPr id="0" name=""/>
                      <p:cNvPicPr/>
                      <p:nvPr/>
                    </p:nvPicPr>
                    <p:blipFill>
                      <a:blip r:embed="rId5"/>
                      <a:stretch>
                        <a:fillRect/>
                      </a:stretch>
                    </p:blipFill>
                    <p:spPr>
                      <a:xfrm>
                        <a:off x="3838576" y="5308600"/>
                        <a:ext cx="1167500" cy="635000"/>
                      </a:xfrm>
                      <a:prstGeom prst="rect">
                        <a:avLst/>
                      </a:prstGeom>
                    </p:spPr>
                  </p:pic>
                </p:oleObj>
              </mc:Fallback>
            </mc:AlternateContent>
          </a:graphicData>
        </a:graphic>
      </p:graphicFrame>
    </p:spTree>
    <p:extLst>
      <p:ext uri="{BB962C8B-B14F-4D97-AF65-F5344CB8AC3E}">
        <p14:creationId xmlns:p14="http://schemas.microsoft.com/office/powerpoint/2010/main" val="3421712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7FAC177-AC9E-02CA-4D47-F1FB5AD2A3FB}"/>
              </a:ext>
            </a:extLst>
          </p:cNvPr>
          <p:cNvSpPr>
            <a:spLocks noGrp="1"/>
          </p:cNvSpPr>
          <p:nvPr>
            <p:ph type="title"/>
          </p:nvPr>
        </p:nvSpPr>
        <p:spPr/>
        <p:txBody>
          <a:bodyPr/>
          <a:lstStyle/>
          <a:p>
            <a:r>
              <a:rPr lang="en-IN" dirty="0">
                <a:latin typeface="+mj-lt"/>
              </a:rPr>
              <a:t>Calculating the Velocity of Money</a:t>
            </a:r>
            <a:endParaRPr lang="en-IN" dirty="0"/>
          </a:p>
        </p:txBody>
      </p:sp>
      <p:sp>
        <p:nvSpPr>
          <p:cNvPr id="5" name="Content Placeholder 4"/>
          <p:cNvSpPr>
            <a:spLocks noGrp="1"/>
          </p:cNvSpPr>
          <p:nvPr>
            <p:ph idx="1"/>
          </p:nvPr>
        </p:nvSpPr>
        <p:spPr>
          <a:xfrm>
            <a:off x="447675" y="1412167"/>
            <a:ext cx="8229600" cy="1704975"/>
          </a:xfrm>
        </p:spPr>
        <p:txBody>
          <a:bodyPr/>
          <a:lstStyle/>
          <a:p>
            <a:pPr marL="0" indent="0">
              <a:spcBef>
                <a:spcPts val="1000"/>
              </a:spcBef>
              <a:spcAft>
                <a:spcPts val="0"/>
              </a:spcAft>
              <a:buNone/>
              <a:defRPr/>
            </a:pPr>
            <a:r>
              <a:rPr lang="en-US" sz="2000" dirty="0"/>
              <a:t>Measuring:</a:t>
            </a:r>
          </a:p>
          <a:p>
            <a:pPr marL="266700" indent="-266700">
              <a:spcBef>
                <a:spcPts val="1000"/>
              </a:spcBef>
              <a:defRPr/>
            </a:pPr>
            <a:r>
              <a:rPr lang="en-US" sz="2000" dirty="0"/>
              <a:t>The money supply (M) with M1+,</a:t>
            </a:r>
          </a:p>
          <a:p>
            <a:pPr marL="266700" indent="-266700">
              <a:spcBef>
                <a:spcPts val="1000"/>
              </a:spcBef>
              <a:defRPr/>
            </a:pPr>
            <a:r>
              <a:rPr lang="en-US" sz="2000" dirty="0"/>
              <a:t>The price level (P) with the GDP deflator, and</a:t>
            </a:r>
          </a:p>
          <a:p>
            <a:pPr marL="266700" indent="-266700">
              <a:spcBef>
                <a:spcPts val="1000"/>
              </a:spcBef>
              <a:defRPr/>
            </a:pPr>
            <a:r>
              <a:rPr lang="en-US" sz="2000" dirty="0"/>
              <a:t>The level of real output (Y) with real GDP,</a:t>
            </a:r>
          </a:p>
        </p:txBody>
      </p:sp>
      <p:sp>
        <p:nvSpPr>
          <p:cNvPr id="6" name="Content Placeholder 5"/>
          <p:cNvSpPr>
            <a:spLocks noGrp="1"/>
          </p:cNvSpPr>
          <p:nvPr>
            <p:ph idx="13"/>
          </p:nvPr>
        </p:nvSpPr>
        <p:spPr>
          <a:xfrm>
            <a:off x="457200" y="4482398"/>
            <a:ext cx="8229600" cy="1360332"/>
          </a:xfrm>
        </p:spPr>
        <p:txBody>
          <a:bodyPr/>
          <a:lstStyle/>
          <a:p>
            <a:pPr marL="0" indent="0">
              <a:spcBef>
                <a:spcPts val="1000"/>
              </a:spcBef>
              <a:spcAft>
                <a:spcPts val="0"/>
              </a:spcAft>
              <a:buNone/>
              <a:defRPr/>
            </a:pPr>
            <a:r>
              <a:rPr lang="en-US" sz="2000" dirty="0"/>
              <a:t>We can always calculate V. But will we always get the same answer? </a:t>
            </a:r>
          </a:p>
          <a:p>
            <a:pPr marL="0" indent="0">
              <a:spcBef>
                <a:spcPts val="1000"/>
              </a:spcBef>
              <a:spcAft>
                <a:spcPts val="0"/>
              </a:spcAft>
              <a:buNone/>
              <a:defRPr/>
            </a:pPr>
            <a:r>
              <a:rPr lang="en-US" sz="2000" dirty="0"/>
              <a:t>The </a:t>
            </a:r>
            <a:r>
              <a:rPr lang="en-US" sz="2000" b="1" dirty="0"/>
              <a:t>quantity theory of money </a:t>
            </a:r>
            <a:r>
              <a:rPr lang="en-US" sz="2000" dirty="0"/>
              <a:t>is a theory about the connection between money and prices that assumes that the velocity of money is constant. </a:t>
            </a:r>
          </a:p>
        </p:txBody>
      </p:sp>
      <p:sp>
        <p:nvSpPr>
          <p:cNvPr id="8" name="Content Placeholder 7"/>
          <p:cNvSpPr>
            <a:spLocks noGrp="1"/>
          </p:cNvSpPr>
          <p:nvPr>
            <p:ph sz="quarter" idx="14"/>
          </p:nvPr>
        </p:nvSpPr>
        <p:spPr>
          <a:xfrm>
            <a:off x="447675" y="3253668"/>
            <a:ext cx="8229600" cy="350663"/>
          </a:xfrm>
        </p:spPr>
        <p:txBody>
          <a:bodyPr>
            <a:normAutofit lnSpcReduction="10000"/>
          </a:bodyPr>
          <a:lstStyle/>
          <a:p>
            <a:pPr marL="0" indent="0">
              <a:spcBef>
                <a:spcPts val="1000"/>
              </a:spcBef>
              <a:spcAft>
                <a:spcPts val="1800"/>
              </a:spcAft>
              <a:buNone/>
              <a:defRPr/>
            </a:pPr>
            <a:r>
              <a:rPr lang="en-US" sz="2000" dirty="0"/>
              <a:t>We obtain the following value for velocity (V) in 2021:</a:t>
            </a:r>
          </a:p>
        </p:txBody>
      </p:sp>
      <p:graphicFrame>
        <p:nvGraphicFramePr>
          <p:cNvPr id="3" name="Object 2">
            <a:extLst>
              <a:ext uri="{FF2B5EF4-FFF2-40B4-BE49-F238E27FC236}">
                <a16:creationId xmlns:a16="http://schemas.microsoft.com/office/drawing/2014/main" id="{924A6281-099C-C288-1891-7BDFB8F6C15E}"/>
              </a:ext>
            </a:extLst>
          </p:cNvPr>
          <p:cNvGraphicFramePr>
            <a:graphicFrameLocks noChangeAspect="1"/>
          </p:cNvGraphicFramePr>
          <p:nvPr>
            <p:extLst>
              <p:ext uri="{D42A27DB-BD31-4B8C-83A1-F6EECF244321}">
                <p14:modId xmlns:p14="http://schemas.microsoft.com/office/powerpoint/2010/main" val="3608377670"/>
              </p:ext>
            </p:extLst>
          </p:nvPr>
        </p:nvGraphicFramePr>
        <p:xfrm>
          <a:off x="3425344" y="3685472"/>
          <a:ext cx="2293312" cy="641350"/>
        </p:xfrm>
        <a:graphic>
          <a:graphicData uri="http://schemas.openxmlformats.org/presentationml/2006/ole">
            <mc:AlternateContent xmlns:mc="http://schemas.openxmlformats.org/markup-compatibility/2006">
              <mc:Choice xmlns:v="urn:schemas-microsoft-com:vml" Requires="v">
                <p:oleObj name="Equation" r:id="rId3" imgW="1498320" imgH="419040" progId="Equation.DSMT4">
                  <p:embed/>
                </p:oleObj>
              </mc:Choice>
              <mc:Fallback>
                <p:oleObj name="Equation" r:id="rId3" imgW="1498320" imgH="419040" progId="Equation.DSMT4">
                  <p:embed/>
                  <p:pic>
                    <p:nvPicPr>
                      <p:cNvPr id="0" name=""/>
                      <p:cNvPicPr/>
                      <p:nvPr/>
                    </p:nvPicPr>
                    <p:blipFill>
                      <a:blip r:embed="rId4"/>
                      <a:stretch>
                        <a:fillRect/>
                      </a:stretch>
                    </p:blipFill>
                    <p:spPr>
                      <a:xfrm>
                        <a:off x="3425344" y="3685472"/>
                        <a:ext cx="2293312" cy="641350"/>
                      </a:xfrm>
                      <a:prstGeom prst="rect">
                        <a:avLst/>
                      </a:prstGeom>
                    </p:spPr>
                  </p:pic>
                </p:oleObj>
              </mc:Fallback>
            </mc:AlternateContent>
          </a:graphicData>
        </a:graphic>
      </p:graphicFrame>
    </p:spTree>
    <p:extLst>
      <p:ext uri="{BB962C8B-B14F-4D97-AF65-F5344CB8AC3E}">
        <p14:creationId xmlns:p14="http://schemas.microsoft.com/office/powerpoint/2010/main" val="19093248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3882"/>
            <a:ext cx="8229600" cy="1046440"/>
          </a:xfrm>
        </p:spPr>
        <p:txBody>
          <a:bodyPr wrap="square" anchor="ctr">
            <a:spAutoFit/>
          </a:bodyPr>
          <a:lstStyle/>
          <a:p>
            <a:r>
              <a:rPr lang="en-IN" dirty="0">
                <a:latin typeface="+mj-lt"/>
              </a:rPr>
              <a:t>The Quantity Theory Explanation of Inflation</a:t>
            </a:r>
            <a:endParaRPr lang="en-US" dirty="0">
              <a:latin typeface="+mj-lt"/>
            </a:endParaRPr>
          </a:p>
        </p:txBody>
      </p:sp>
      <p:sp>
        <p:nvSpPr>
          <p:cNvPr id="5" name="Content Placeholder 4"/>
          <p:cNvSpPr>
            <a:spLocks noGrp="1"/>
          </p:cNvSpPr>
          <p:nvPr>
            <p:ph idx="1"/>
          </p:nvPr>
        </p:nvSpPr>
        <p:spPr>
          <a:xfrm>
            <a:off x="457200" y="1272705"/>
            <a:ext cx="8229600" cy="1137120"/>
          </a:xfrm>
        </p:spPr>
        <p:txBody>
          <a:bodyPr/>
          <a:lstStyle/>
          <a:p>
            <a:pPr marL="0" indent="0">
              <a:spcBef>
                <a:spcPts val="0"/>
              </a:spcBef>
              <a:spcAft>
                <a:spcPts val="1200"/>
              </a:spcAft>
              <a:buNone/>
              <a:defRPr/>
            </a:pPr>
            <a:r>
              <a:rPr lang="en-US" sz="2000" dirty="0"/>
              <a:t>When variables are multiplied together in an equation, we can form the same equation with their </a:t>
            </a:r>
            <a:r>
              <a:rPr lang="en-US" sz="2000" i="1" dirty="0"/>
              <a:t>growth rates</a:t>
            </a:r>
            <a:r>
              <a:rPr lang="en-US" sz="2000" dirty="0"/>
              <a:t> </a:t>
            </a:r>
            <a:r>
              <a:rPr lang="en-US" sz="2000" i="1" dirty="0"/>
              <a:t>added</a:t>
            </a:r>
            <a:r>
              <a:rPr lang="en-US" sz="2000" dirty="0"/>
              <a:t> </a:t>
            </a:r>
            <a:r>
              <a:rPr lang="en-US" sz="2000" i="1" dirty="0"/>
              <a:t>together</a:t>
            </a:r>
            <a:r>
              <a:rPr lang="en-US" sz="2000" dirty="0"/>
              <a:t>.</a:t>
            </a:r>
          </a:p>
          <a:p>
            <a:pPr marL="0" indent="0">
              <a:spcBef>
                <a:spcPts val="0"/>
              </a:spcBef>
              <a:spcAft>
                <a:spcPts val="1200"/>
              </a:spcAft>
              <a:buNone/>
              <a:defRPr/>
            </a:pPr>
            <a:r>
              <a:rPr lang="en-US" sz="2000" dirty="0"/>
              <a:t>So the quantity equation:</a:t>
            </a:r>
          </a:p>
        </p:txBody>
      </p:sp>
      <p:sp>
        <p:nvSpPr>
          <p:cNvPr id="6" name="Content Placeholder 5"/>
          <p:cNvSpPr>
            <a:spLocks noGrp="1"/>
          </p:cNvSpPr>
          <p:nvPr>
            <p:ph idx="13"/>
          </p:nvPr>
        </p:nvSpPr>
        <p:spPr>
          <a:xfrm>
            <a:off x="457200" y="4844521"/>
            <a:ext cx="8229600" cy="641879"/>
          </a:xfrm>
        </p:spPr>
        <p:txBody>
          <a:bodyPr/>
          <a:lstStyle/>
          <a:p>
            <a:pPr marL="0" indent="0">
              <a:spcBef>
                <a:spcPts val="0"/>
              </a:spcBef>
              <a:spcAft>
                <a:spcPts val="1200"/>
              </a:spcAft>
              <a:buNone/>
              <a:defRPr/>
            </a:pPr>
            <a:r>
              <a:rPr lang="en-US" sz="2000" dirty="0"/>
              <a:t>We can rewrite the equation to help understand what determines inflation by assuming that velocity of money is constant, we obtain:</a:t>
            </a:r>
          </a:p>
        </p:txBody>
      </p:sp>
      <p:sp>
        <p:nvSpPr>
          <p:cNvPr id="8" name="Content Placeholder 7"/>
          <p:cNvSpPr>
            <a:spLocks noGrp="1"/>
          </p:cNvSpPr>
          <p:nvPr>
            <p:ph sz="quarter" idx="14"/>
          </p:nvPr>
        </p:nvSpPr>
        <p:spPr>
          <a:xfrm>
            <a:off x="466725" y="3002137"/>
            <a:ext cx="8229600" cy="350663"/>
          </a:xfrm>
        </p:spPr>
        <p:txBody>
          <a:bodyPr>
            <a:normAutofit lnSpcReduction="10000"/>
          </a:bodyPr>
          <a:lstStyle/>
          <a:p>
            <a:pPr marL="0" indent="0">
              <a:spcBef>
                <a:spcPts val="0"/>
              </a:spcBef>
              <a:spcAft>
                <a:spcPts val="1200"/>
              </a:spcAft>
              <a:buNone/>
              <a:defRPr/>
            </a:pPr>
            <a:r>
              <a:rPr lang="en-US" sz="2000" dirty="0"/>
              <a:t>generates:</a:t>
            </a:r>
          </a:p>
        </p:txBody>
      </p:sp>
      <p:graphicFrame>
        <p:nvGraphicFramePr>
          <p:cNvPr id="9" name="Object 8"/>
          <p:cNvGraphicFramePr>
            <a:graphicFrameLocks noChangeAspect="1"/>
          </p:cNvGraphicFramePr>
          <p:nvPr>
            <p:extLst>
              <p:ext uri="{D42A27DB-BD31-4B8C-83A1-F6EECF244321}">
                <p14:modId xmlns:p14="http://schemas.microsoft.com/office/powerpoint/2010/main" val="1908712438"/>
              </p:ext>
            </p:extLst>
          </p:nvPr>
        </p:nvGraphicFramePr>
        <p:xfrm>
          <a:off x="3743325" y="2573338"/>
          <a:ext cx="1619250" cy="287337"/>
        </p:xfrm>
        <a:graphic>
          <a:graphicData uri="http://schemas.openxmlformats.org/presentationml/2006/ole">
            <mc:AlternateContent xmlns:mc="http://schemas.openxmlformats.org/markup-compatibility/2006">
              <mc:Choice xmlns:v="urn:schemas-microsoft-com:vml" Requires="v">
                <p:oleObj name="Equation" r:id="rId3" imgW="927000" imgH="164880" progId="Equation.DSMT4">
                  <p:embed/>
                </p:oleObj>
              </mc:Choice>
              <mc:Fallback>
                <p:oleObj name="Equation" r:id="rId3" imgW="927000" imgH="164880" progId="Equation.DSMT4">
                  <p:embed/>
                  <p:pic>
                    <p:nvPicPr>
                      <p:cNvPr id="0" name=""/>
                      <p:cNvPicPr/>
                      <p:nvPr/>
                    </p:nvPicPr>
                    <p:blipFill>
                      <a:blip r:embed="rId4"/>
                      <a:stretch>
                        <a:fillRect/>
                      </a:stretch>
                    </p:blipFill>
                    <p:spPr>
                      <a:xfrm>
                        <a:off x="3743325" y="2573338"/>
                        <a:ext cx="1619250" cy="287337"/>
                      </a:xfrm>
                      <a:prstGeom prst="rect">
                        <a:avLst/>
                      </a:prstGeom>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1690351548"/>
              </p:ext>
            </p:extLst>
          </p:nvPr>
        </p:nvGraphicFramePr>
        <p:xfrm>
          <a:off x="1571625" y="3598863"/>
          <a:ext cx="5826125" cy="1049337"/>
        </p:xfrm>
        <a:graphic>
          <a:graphicData uri="http://schemas.openxmlformats.org/presentationml/2006/ole">
            <mc:AlternateContent xmlns:mc="http://schemas.openxmlformats.org/markup-compatibility/2006">
              <mc:Choice xmlns:v="urn:schemas-microsoft-com:vml" Requires="v">
                <p:oleObj name="Equation" r:id="rId5" imgW="3873240" imgH="698400" progId="Equation.DSMT4">
                  <p:embed/>
                </p:oleObj>
              </mc:Choice>
              <mc:Fallback>
                <p:oleObj name="Equation" r:id="rId5" imgW="3873240" imgH="698400" progId="Equation.DSMT4">
                  <p:embed/>
                  <p:pic>
                    <p:nvPicPr>
                      <p:cNvPr id="0" name="Object 8"/>
                      <p:cNvPicPr>
                        <a:picLocks noChangeAspect="1" noChangeArrowheads="1"/>
                      </p:cNvPicPr>
                      <p:nvPr/>
                    </p:nvPicPr>
                    <p:blipFill>
                      <a:blip r:embed="rId6"/>
                      <a:srcRect/>
                      <a:stretch>
                        <a:fillRect/>
                      </a:stretch>
                    </p:blipFill>
                    <p:spPr bwMode="auto">
                      <a:xfrm>
                        <a:off x="1571625" y="3598863"/>
                        <a:ext cx="5826125" cy="104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4018281157"/>
              </p:ext>
            </p:extLst>
          </p:nvPr>
        </p:nvGraphicFramePr>
        <p:xfrm>
          <a:off x="1287463" y="5765800"/>
          <a:ext cx="6491287" cy="269875"/>
        </p:xfrm>
        <a:graphic>
          <a:graphicData uri="http://schemas.openxmlformats.org/presentationml/2006/ole">
            <mc:AlternateContent xmlns:mc="http://schemas.openxmlformats.org/markup-compatibility/2006">
              <mc:Choice xmlns:v="urn:schemas-microsoft-com:vml" Requires="v">
                <p:oleObj name="Equation" r:id="rId7" imgW="4876560" imgH="203040" progId="Equation.DSMT4">
                  <p:embed/>
                </p:oleObj>
              </mc:Choice>
              <mc:Fallback>
                <p:oleObj name="Equation" r:id="rId7" imgW="4876560" imgH="203040" progId="Equation.DSMT4">
                  <p:embed/>
                  <p:pic>
                    <p:nvPicPr>
                      <p:cNvPr id="0" name="Object 3"/>
                      <p:cNvPicPr>
                        <a:picLocks noChangeAspect="1" noChangeArrowheads="1"/>
                      </p:cNvPicPr>
                      <p:nvPr/>
                    </p:nvPicPr>
                    <p:blipFill>
                      <a:blip r:embed="rId8"/>
                      <a:srcRect/>
                      <a:stretch>
                        <a:fillRect/>
                      </a:stretch>
                    </p:blipFill>
                    <p:spPr bwMode="auto">
                      <a:xfrm>
                        <a:off x="1287463" y="5765800"/>
                        <a:ext cx="649128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22829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6910"/>
            <a:ext cx="8229600" cy="1046440"/>
          </a:xfrm>
        </p:spPr>
        <p:txBody>
          <a:bodyPr wrap="square" anchor="ctr">
            <a:spAutoFit/>
          </a:bodyPr>
          <a:lstStyle/>
          <a:p>
            <a:r>
              <a:rPr lang="en-IN" dirty="0">
                <a:latin typeface="+mj-lt"/>
              </a:rPr>
              <a:t>The Inflation Rate According to the Quantity Theory</a:t>
            </a:r>
            <a:endParaRPr lang="en-US" dirty="0">
              <a:latin typeface="+mj-lt"/>
            </a:endParaRPr>
          </a:p>
        </p:txBody>
      </p:sp>
      <p:sp>
        <p:nvSpPr>
          <p:cNvPr id="5" name="Content Placeholder 4"/>
          <p:cNvSpPr>
            <a:spLocks noGrp="1"/>
          </p:cNvSpPr>
          <p:nvPr>
            <p:ph idx="1"/>
          </p:nvPr>
        </p:nvSpPr>
        <p:spPr>
          <a:xfrm>
            <a:off x="457200" y="2343150"/>
            <a:ext cx="8229600" cy="2285062"/>
          </a:xfrm>
        </p:spPr>
        <p:txBody>
          <a:bodyPr/>
          <a:lstStyle/>
          <a:p>
            <a:pPr marL="0" indent="0">
              <a:spcBef>
                <a:spcPts val="1200"/>
              </a:spcBef>
              <a:spcAft>
                <a:spcPts val="1200"/>
              </a:spcAft>
              <a:buNone/>
              <a:defRPr/>
            </a:pPr>
            <a:r>
              <a:rPr lang="en-US" sz="2000" dirty="0"/>
              <a:t>This equation provides the following predictions:</a:t>
            </a:r>
          </a:p>
          <a:p>
            <a:pPr marL="347472" indent="-347472">
              <a:spcBef>
                <a:spcPts val="0"/>
              </a:spcBef>
              <a:spcAft>
                <a:spcPts val="1200"/>
              </a:spcAft>
              <a:buAutoNum type="arabicPeriod"/>
              <a:defRPr/>
            </a:pPr>
            <a:r>
              <a:rPr lang="en-US" sz="2000" dirty="0"/>
              <a:t>If the money supply grows faster than real GDP, there will be inflation.</a:t>
            </a:r>
          </a:p>
          <a:p>
            <a:pPr marL="347472" indent="-347472">
              <a:spcBef>
                <a:spcPts val="0"/>
              </a:spcBef>
              <a:spcAft>
                <a:spcPts val="1200"/>
              </a:spcAft>
              <a:buFontTx/>
              <a:buAutoNum type="arabicPeriod"/>
              <a:defRPr/>
            </a:pPr>
            <a:r>
              <a:rPr lang="en-US" sz="2000" dirty="0"/>
              <a:t>If the money supply grows slower than real GDP, there will be </a:t>
            </a:r>
            <a:r>
              <a:rPr lang="en-US" sz="2000" i="1" dirty="0"/>
              <a:t>deflation </a:t>
            </a:r>
            <a:r>
              <a:rPr lang="en-US" sz="2000" dirty="0"/>
              <a:t>(a decline in the price level).</a:t>
            </a:r>
          </a:p>
          <a:p>
            <a:pPr marL="347472" indent="-347472">
              <a:spcBef>
                <a:spcPts val="0"/>
              </a:spcBef>
              <a:spcAft>
                <a:spcPts val="1200"/>
              </a:spcAft>
              <a:buFontTx/>
              <a:buAutoNum type="arabicPeriod"/>
              <a:defRPr/>
            </a:pPr>
            <a:r>
              <a:rPr lang="en-US" sz="2000" dirty="0"/>
              <a:t>If the money supply grows at the same rate as real GDP, there will be neither inflation nor deflation: the price level will be stable.</a:t>
            </a:r>
          </a:p>
        </p:txBody>
      </p:sp>
      <p:sp>
        <p:nvSpPr>
          <p:cNvPr id="6" name="Content Placeholder 5"/>
          <p:cNvSpPr>
            <a:spLocks noGrp="1"/>
          </p:cNvSpPr>
          <p:nvPr>
            <p:ph idx="13"/>
          </p:nvPr>
        </p:nvSpPr>
        <p:spPr>
          <a:xfrm>
            <a:off x="457200" y="4762500"/>
            <a:ext cx="8229600" cy="1556279"/>
          </a:xfrm>
        </p:spPr>
        <p:txBody>
          <a:bodyPr/>
          <a:lstStyle/>
          <a:p>
            <a:pPr marL="0" indent="0">
              <a:spcBef>
                <a:spcPts val="0"/>
              </a:spcBef>
              <a:spcAft>
                <a:spcPts val="1200"/>
              </a:spcAft>
              <a:buNone/>
              <a:defRPr/>
            </a:pPr>
            <a:r>
              <a:rPr lang="en-US" sz="2000" dirty="0"/>
              <a:t>Is velocity truly constant from year to year? The answer is </a:t>
            </a:r>
            <a:r>
              <a:rPr lang="en-US" sz="2000" i="1" dirty="0"/>
              <a:t>no</a:t>
            </a:r>
            <a:r>
              <a:rPr lang="en-US" sz="2000" dirty="0"/>
              <a:t>.</a:t>
            </a:r>
          </a:p>
          <a:p>
            <a:pPr marL="266700" indent="-266700">
              <a:spcBef>
                <a:spcPts val="0"/>
              </a:spcBef>
              <a:spcAft>
                <a:spcPts val="1200"/>
              </a:spcAft>
              <a:defRPr/>
            </a:pPr>
            <a:r>
              <a:rPr lang="en-US" sz="2000" dirty="0"/>
              <a:t>But the quantity theory of money can still provide insight:</a:t>
            </a:r>
          </a:p>
          <a:p>
            <a:pPr marL="266700" indent="-266700">
              <a:spcBef>
                <a:spcPts val="0"/>
              </a:spcBef>
              <a:spcAft>
                <a:spcPts val="1200"/>
              </a:spcAft>
              <a:defRPr/>
            </a:pPr>
            <a:r>
              <a:rPr lang="en-US" sz="2000" dirty="0"/>
              <a:t>In the long run, inflation results from the money supply growing at a faster rate than real GDP.</a:t>
            </a:r>
          </a:p>
        </p:txBody>
      </p:sp>
      <p:graphicFrame>
        <p:nvGraphicFramePr>
          <p:cNvPr id="9" name="Object 8"/>
          <p:cNvGraphicFramePr>
            <a:graphicFrameLocks noChangeAspect="1"/>
          </p:cNvGraphicFramePr>
          <p:nvPr>
            <p:extLst>
              <p:ext uri="{D42A27DB-BD31-4B8C-83A1-F6EECF244321}">
                <p14:modId xmlns:p14="http://schemas.microsoft.com/office/powerpoint/2010/main" val="3141995568"/>
              </p:ext>
            </p:extLst>
          </p:nvPr>
        </p:nvGraphicFramePr>
        <p:xfrm>
          <a:off x="749300" y="1524000"/>
          <a:ext cx="7491413" cy="752475"/>
        </p:xfrm>
        <a:graphic>
          <a:graphicData uri="http://schemas.openxmlformats.org/presentationml/2006/ole">
            <mc:AlternateContent xmlns:mc="http://schemas.openxmlformats.org/markup-compatibility/2006">
              <mc:Choice xmlns:v="urn:schemas-microsoft-com:vml" Requires="v">
                <p:oleObj name="Equation" r:id="rId3" imgW="4292280" imgH="431640" progId="Equation.DSMT4">
                  <p:embed/>
                </p:oleObj>
              </mc:Choice>
              <mc:Fallback>
                <p:oleObj name="Equation" r:id="rId3" imgW="4292280" imgH="431640" progId="Equation.DSMT4">
                  <p:embed/>
                  <p:pic>
                    <p:nvPicPr>
                      <p:cNvPr id="0" name=""/>
                      <p:cNvPicPr/>
                      <p:nvPr/>
                    </p:nvPicPr>
                    <p:blipFill>
                      <a:blip r:embed="rId4"/>
                      <a:stretch>
                        <a:fillRect/>
                      </a:stretch>
                    </p:blipFill>
                    <p:spPr>
                      <a:xfrm>
                        <a:off x="749300" y="1524000"/>
                        <a:ext cx="7491413" cy="752475"/>
                      </a:xfrm>
                      <a:prstGeom prst="rect">
                        <a:avLst/>
                      </a:prstGeom>
                    </p:spPr>
                  </p:pic>
                </p:oleObj>
              </mc:Fallback>
            </mc:AlternateContent>
          </a:graphicData>
        </a:graphic>
      </p:graphicFrame>
    </p:spTree>
    <p:extLst>
      <p:ext uri="{BB962C8B-B14F-4D97-AF65-F5344CB8AC3E}">
        <p14:creationId xmlns:p14="http://schemas.microsoft.com/office/powerpoint/2010/main" val="1218092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0515"/>
            <a:ext cx="8229600" cy="1213485"/>
          </a:xfrm>
        </p:spPr>
        <p:txBody>
          <a:bodyPr wrap="square" anchor="ctr">
            <a:noAutofit/>
          </a:bodyPr>
          <a:lstStyle/>
          <a:p>
            <a:r>
              <a:rPr lang="en-IN" sz="2800" dirty="0">
                <a:latin typeface="+mj-lt"/>
              </a:rPr>
              <a:t>Figure 10.7 The Relationship between Money Growth and Inflation over Time and around the World </a:t>
            </a:r>
            <a:r>
              <a:rPr lang="en-IN" sz="2000" b="0" dirty="0">
                <a:latin typeface="+mj-lt"/>
              </a:rPr>
              <a:t>(1 of 2)</a:t>
            </a:r>
            <a:endParaRPr lang="en-US" sz="2000" b="0" dirty="0">
              <a:latin typeface="+mj-lt"/>
            </a:endParaRPr>
          </a:p>
        </p:txBody>
      </p:sp>
      <p:sp>
        <p:nvSpPr>
          <p:cNvPr id="4" name="Content Placeholder 3"/>
          <p:cNvSpPr>
            <a:spLocks noGrp="1"/>
          </p:cNvSpPr>
          <p:nvPr>
            <p:ph idx="1"/>
          </p:nvPr>
        </p:nvSpPr>
        <p:spPr>
          <a:xfrm>
            <a:off x="447675" y="1781175"/>
            <a:ext cx="3514725" cy="4162425"/>
          </a:xfrm>
        </p:spPr>
        <p:txBody>
          <a:bodyPr>
            <a:noAutofit/>
          </a:bodyPr>
          <a:lstStyle/>
          <a:p>
            <a:pPr marL="0" indent="0">
              <a:spcAft>
                <a:spcPts val="0"/>
              </a:spcAft>
              <a:buNone/>
              <a:defRPr/>
            </a:pPr>
            <a:r>
              <a:rPr lang="en-US" sz="2000" dirty="0"/>
              <a:t>Real GDP growth has been relatively consistent over time.</a:t>
            </a:r>
          </a:p>
          <a:p>
            <a:pPr marL="0" indent="0">
              <a:spcAft>
                <a:spcPts val="0"/>
              </a:spcAft>
              <a:buNone/>
              <a:defRPr/>
            </a:pPr>
            <a:r>
              <a:rPr lang="en-US" sz="2000" dirty="0"/>
              <a:t>So based on the quantity theory of money (QTM), there should be a predictable, positive relationship between the annual rates of inflation and growth rates of the money supply.</a:t>
            </a:r>
          </a:p>
          <a:p>
            <a:pPr marL="0" indent="0">
              <a:spcAft>
                <a:spcPts val="0"/>
              </a:spcAft>
              <a:buNone/>
              <a:defRPr/>
            </a:pPr>
            <a:r>
              <a:rPr lang="en-US" sz="2000" dirty="0"/>
              <a:t>There </a:t>
            </a:r>
            <a:r>
              <a:rPr lang="en-US" sz="2000" i="1" dirty="0"/>
              <a:t>is</a:t>
            </a:r>
            <a:r>
              <a:rPr lang="en-US" sz="2000" dirty="0"/>
              <a:t> a positive relationship, more stronger in the long run.</a:t>
            </a:r>
          </a:p>
        </p:txBody>
      </p:sp>
      <p:sp>
        <p:nvSpPr>
          <p:cNvPr id="5" name="TextBox 4">
            <a:extLst>
              <a:ext uri="{FF2B5EF4-FFF2-40B4-BE49-F238E27FC236}">
                <a16:creationId xmlns:a16="http://schemas.microsoft.com/office/drawing/2014/main" id="{CC6CDD4C-F142-6E8D-D8B4-E6080FBFFB73}"/>
              </a:ext>
            </a:extLst>
          </p:cNvPr>
          <p:cNvSpPr txBox="1"/>
          <p:nvPr/>
        </p:nvSpPr>
        <p:spPr>
          <a:xfrm>
            <a:off x="4343400" y="5191124"/>
            <a:ext cx="4572000" cy="1015663"/>
          </a:xfrm>
          <a:prstGeom prst="rect">
            <a:avLst/>
          </a:prstGeom>
          <a:noFill/>
        </p:spPr>
        <p:txBody>
          <a:bodyPr wrap="square">
            <a:spAutoFit/>
          </a:bodyPr>
          <a:lstStyle/>
          <a:p>
            <a:pPr algn="l"/>
            <a:r>
              <a:rPr lang="en-US" sz="1200" b="1" i="0" u="none" strike="noStrike" baseline="0" dirty="0">
                <a:latin typeface="+mj-lt"/>
              </a:rPr>
              <a:t>SOURCES:</a:t>
            </a:r>
            <a:r>
              <a:rPr lang="en-US" sz="1200" b="0" i="0" u="none" strike="noStrike" baseline="0" dirty="0">
                <a:latin typeface="+mj-lt"/>
              </a:rPr>
              <a:t> Panel (a): Data for 1870 to 1960, M. C. Urquhart, “Canadian Economic Growth 1870–1985,” Institute for Economic Research, Queens University, Kingston, Ontario, Discussion Paper No. 734; and since 1961, Statistics Canada, CANSIM II series V3860248 and V41552796 </a:t>
            </a:r>
            <a:endParaRPr lang="en-US" sz="1200" dirty="0">
              <a:latin typeface="+mj-lt"/>
            </a:endParaRPr>
          </a:p>
        </p:txBody>
      </p:sp>
      <p:pic>
        <p:nvPicPr>
          <p:cNvPr id="6" name="Picture 5" descr="A graph shows the inflation and money supply growth in Canada from the year 1920 to 2010. The horizontal axis shows the average annual rate of growth of the money supply ranges from 0 to 16% in an increment of 2%. The vertical axis shows the average annual rate of inflation ranges from negative 2% to 8% in an increment of 1%. The data from the graph are as follows. 1920 at (1.8%, negative 1.2%), 1930 at (1.7%, negative 1.4%), 1990 at (3.8%, 1.8%), 1950 at (5.2%, 3%), 2000 at (7%, 2.5%), 1960 at (8%, 3.1%), 1940 at (11%, 5%), 1980 at (11.2%, 5.5%), and 1970 at (14%, 8%). A graph shows the inflation and money supply growth in 97 countries from the year 2002 to 2016.">
            <a:extLst>
              <a:ext uri="{FF2B5EF4-FFF2-40B4-BE49-F238E27FC236}">
                <a16:creationId xmlns:a16="http://schemas.microsoft.com/office/drawing/2014/main" id="{1E888228-9E8E-67E3-7DF2-300A60C68B58}"/>
              </a:ext>
            </a:extLst>
          </p:cNvPr>
          <p:cNvPicPr>
            <a:picLocks noChangeAspect="1"/>
          </p:cNvPicPr>
          <p:nvPr/>
        </p:nvPicPr>
        <p:blipFill>
          <a:blip r:embed="rId3">
            <a:extLst>
              <a:ext uri="{28A0092B-C50C-407E-A947-70E740481C1C}">
                <a14:useLocalDpi xmlns:a14="http://schemas.microsoft.com/office/drawing/2010/main" val="0"/>
              </a:ext>
            </a:extLst>
          </a:blip>
          <a:srcRect t="1249" b="1249"/>
          <a:stretch/>
        </p:blipFill>
        <p:spPr>
          <a:xfrm>
            <a:off x="4552950" y="1728787"/>
            <a:ext cx="3675859" cy="3400425"/>
          </a:xfrm>
          <a:prstGeom prst="rect">
            <a:avLst/>
          </a:prstGeom>
        </p:spPr>
      </p:pic>
    </p:spTree>
    <p:extLst>
      <p:ext uri="{BB962C8B-B14F-4D97-AF65-F5344CB8AC3E}">
        <p14:creationId xmlns:p14="http://schemas.microsoft.com/office/powerpoint/2010/main" val="38321349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650BC7F-30D4-36C5-CA25-C660A3E42B95}"/>
              </a:ext>
            </a:extLst>
          </p:cNvPr>
          <p:cNvSpPr>
            <a:spLocks noGrp="1"/>
          </p:cNvSpPr>
          <p:nvPr>
            <p:ph type="title"/>
          </p:nvPr>
        </p:nvSpPr>
        <p:spPr>
          <a:xfrm>
            <a:off x="457200" y="310515"/>
            <a:ext cx="8229600" cy="1213485"/>
          </a:xfrm>
        </p:spPr>
        <p:txBody>
          <a:bodyPr wrap="square" anchor="ctr">
            <a:noAutofit/>
          </a:bodyPr>
          <a:lstStyle/>
          <a:p>
            <a:r>
              <a:rPr lang="en-IN" sz="2800" dirty="0">
                <a:latin typeface="+mj-lt"/>
              </a:rPr>
              <a:t>Figure 10.7 The Relationship between Money Growth and Inflation over Time and around the World </a:t>
            </a:r>
            <a:r>
              <a:rPr lang="en-IN" sz="2000" b="0" dirty="0">
                <a:latin typeface="+mj-lt"/>
              </a:rPr>
              <a:t>(2 of 2)</a:t>
            </a:r>
            <a:endParaRPr lang="en-US" sz="2000" b="0" dirty="0">
              <a:latin typeface="+mj-lt"/>
            </a:endParaRPr>
          </a:p>
        </p:txBody>
      </p:sp>
      <p:sp>
        <p:nvSpPr>
          <p:cNvPr id="4" name="Content Placeholder 3"/>
          <p:cNvSpPr>
            <a:spLocks noGrp="1"/>
          </p:cNvSpPr>
          <p:nvPr>
            <p:ph idx="1"/>
          </p:nvPr>
        </p:nvSpPr>
        <p:spPr>
          <a:xfrm>
            <a:off x="447675" y="1752600"/>
            <a:ext cx="3286125" cy="4267200"/>
          </a:xfrm>
        </p:spPr>
        <p:txBody>
          <a:bodyPr>
            <a:noAutofit/>
          </a:bodyPr>
          <a:lstStyle/>
          <a:p>
            <a:pPr marL="0" indent="0">
              <a:spcBef>
                <a:spcPts val="0"/>
              </a:spcBef>
              <a:spcAft>
                <a:spcPts val="1200"/>
              </a:spcAft>
              <a:buNone/>
              <a:defRPr/>
            </a:pPr>
            <a:r>
              <a:rPr lang="en-US" sz="2200" dirty="0"/>
              <a:t>We see a similar story when we compare average rates of inflation and growth rates of the money supply across different countries.</a:t>
            </a:r>
          </a:p>
          <a:p>
            <a:pPr marL="0" indent="0">
              <a:spcBef>
                <a:spcPts val="0"/>
              </a:spcBef>
              <a:spcAft>
                <a:spcPts val="1200"/>
              </a:spcAft>
              <a:buNone/>
              <a:defRPr/>
            </a:pPr>
            <a:r>
              <a:rPr lang="en-US" sz="2200" dirty="0"/>
              <a:t>Although the relationship is not entirely predictable, countries with higher growth in the money supply do have higher rates of inflation.</a:t>
            </a:r>
          </a:p>
        </p:txBody>
      </p:sp>
      <p:pic>
        <p:nvPicPr>
          <p:cNvPr id="5" name="Picture 4" descr="The horizontal axis shows the M 2 growth rate ranges from 0 to 60% in an increment of 10%, and the vertical axis shows the inflation rate ranges from 0 to 35% in an increment of 5%. The M 2 growth rate and inflation rate of some countries are: Japan (1%, 0%), United States (5%, 2.5%), China (17%, 2.5%), India (15%, 7.5%), Qatar (20%, 5%), Turkey (20%, 13%), Ukraine (25%, 13%), Russian (26%, 11%), Iran (29%, 18%), Belarus (39%, 21%), Federation (40%, 14%), and Angola (54%, 30%). All values are estimated.">
            <a:extLst>
              <a:ext uri="{FF2B5EF4-FFF2-40B4-BE49-F238E27FC236}">
                <a16:creationId xmlns:a16="http://schemas.microsoft.com/office/drawing/2014/main" id="{2E1CB23F-6723-BCF9-C774-9EDF28B0B035}"/>
              </a:ext>
            </a:extLst>
          </p:cNvPr>
          <p:cNvPicPr>
            <a:picLocks noChangeAspect="1"/>
          </p:cNvPicPr>
          <p:nvPr/>
        </p:nvPicPr>
        <p:blipFill>
          <a:blip r:embed="rId3">
            <a:extLst>
              <a:ext uri="{28A0092B-C50C-407E-A947-70E740481C1C}">
                <a14:useLocalDpi xmlns:a14="http://schemas.microsoft.com/office/drawing/2010/main" val="0"/>
              </a:ext>
            </a:extLst>
          </a:blip>
          <a:srcRect t="1023" b="1023"/>
          <a:stretch/>
        </p:blipFill>
        <p:spPr>
          <a:xfrm>
            <a:off x="4876800" y="1752600"/>
            <a:ext cx="3124200" cy="3759567"/>
          </a:xfrm>
          <a:prstGeom prst="rect">
            <a:avLst/>
          </a:prstGeom>
        </p:spPr>
      </p:pic>
      <p:sp>
        <p:nvSpPr>
          <p:cNvPr id="2" name="TextBox 1">
            <a:extLst>
              <a:ext uri="{FF2B5EF4-FFF2-40B4-BE49-F238E27FC236}">
                <a16:creationId xmlns:a16="http://schemas.microsoft.com/office/drawing/2014/main" id="{C89445B6-5E42-0AD1-EAE8-201935F25EB2}"/>
              </a:ext>
            </a:extLst>
          </p:cNvPr>
          <p:cNvSpPr txBox="1"/>
          <p:nvPr/>
        </p:nvSpPr>
        <p:spPr>
          <a:xfrm>
            <a:off x="4343400" y="5558135"/>
            <a:ext cx="4572000" cy="461665"/>
          </a:xfrm>
          <a:prstGeom prst="rect">
            <a:avLst/>
          </a:prstGeom>
          <a:noFill/>
        </p:spPr>
        <p:txBody>
          <a:bodyPr wrap="square">
            <a:spAutoFit/>
          </a:bodyPr>
          <a:lstStyle/>
          <a:p>
            <a:pPr algn="l"/>
            <a:r>
              <a:rPr lang="en-US" sz="1200" b="1" i="0" u="none" strike="noStrike" baseline="0" dirty="0">
                <a:latin typeface="+mj-lt"/>
              </a:rPr>
              <a:t>SOURCES:</a:t>
            </a:r>
            <a:r>
              <a:rPr lang="en-US" sz="1200" b="0" i="0" u="none" strike="noStrike" baseline="0" dirty="0">
                <a:latin typeface="+mj-lt"/>
              </a:rPr>
              <a:t> Panel (b): International Monetary Fund, Money and Financial Statistics.</a:t>
            </a:r>
            <a:endParaRPr lang="en-US" sz="1200" dirty="0">
              <a:latin typeface="+mj-lt"/>
            </a:endParaRPr>
          </a:p>
        </p:txBody>
      </p:sp>
    </p:spTree>
    <p:extLst>
      <p:ext uri="{BB962C8B-B14F-4D97-AF65-F5344CB8AC3E}">
        <p14:creationId xmlns:p14="http://schemas.microsoft.com/office/powerpoint/2010/main" val="3698394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43EE36-851A-2238-E8AA-E9DBF51ACF78}"/>
              </a:ext>
            </a:extLst>
          </p:cNvPr>
          <p:cNvSpPr>
            <a:spLocks noGrp="1"/>
          </p:cNvSpPr>
          <p:nvPr>
            <p:ph type="title"/>
          </p:nvPr>
        </p:nvSpPr>
        <p:spPr/>
        <p:txBody>
          <a:bodyPr/>
          <a:lstStyle/>
          <a:p>
            <a:r>
              <a:rPr lang="en-IN" dirty="0">
                <a:latin typeface="+mj-lt"/>
              </a:rPr>
              <a:t>High Rates of Inflation</a:t>
            </a:r>
            <a:endParaRPr lang="en-IN" dirty="0"/>
          </a:p>
        </p:txBody>
      </p:sp>
      <p:sp>
        <p:nvSpPr>
          <p:cNvPr id="5" name="Content Placeholder 4"/>
          <p:cNvSpPr>
            <a:spLocks noGrp="1"/>
          </p:cNvSpPr>
          <p:nvPr>
            <p:ph idx="1"/>
          </p:nvPr>
        </p:nvSpPr>
        <p:spPr/>
        <p:txBody>
          <a:bodyPr/>
          <a:lstStyle/>
          <a:p>
            <a:pPr marL="0" indent="0">
              <a:spcAft>
                <a:spcPts val="0"/>
              </a:spcAft>
              <a:buNone/>
              <a:defRPr/>
            </a:pPr>
            <a:r>
              <a:rPr lang="en-US" sz="2000" dirty="0"/>
              <a:t>Very high rates of inflation—in excess of 50 percent per month—are known as </a:t>
            </a:r>
            <a:r>
              <a:rPr lang="en-US" sz="2000" i="1" dirty="0"/>
              <a:t>hyperinflation</a:t>
            </a:r>
            <a:r>
              <a:rPr lang="en-US" sz="2000" dirty="0"/>
              <a:t>.</a:t>
            </a:r>
          </a:p>
          <a:p>
            <a:pPr marL="266700" indent="-266700">
              <a:defRPr/>
            </a:pPr>
            <a:r>
              <a:rPr lang="en-US" sz="2000" b="1" dirty="0"/>
              <a:t>Hyperinflation</a:t>
            </a:r>
            <a:r>
              <a:rPr lang="en-US" sz="2000" dirty="0"/>
              <a:t> results when central banks increase the money supply at a rate far in excess of the growth rate of real GDP.</a:t>
            </a:r>
          </a:p>
          <a:p>
            <a:pPr marL="266700" indent="-266700">
              <a:defRPr/>
            </a:pPr>
            <a:r>
              <a:rPr lang="en-US" sz="2000" dirty="0"/>
              <a:t>This might happen when governments want to spend much more than they raise through taxes, so they force their central bank to “buy” government bonds.</a:t>
            </a:r>
          </a:p>
          <a:p>
            <a:pPr marL="0" indent="0">
              <a:spcAft>
                <a:spcPts val="0"/>
              </a:spcAft>
              <a:buNone/>
              <a:defRPr/>
            </a:pPr>
            <a:r>
              <a:rPr lang="en-US" sz="2000" dirty="0"/>
              <a:t>Recently, hyperinflation has occurred in Zimbabwe; the inflation rate became high enough, people stop using paper currency.</a:t>
            </a:r>
            <a:endParaRPr lang="en-US" sz="2000" b="1" i="1" dirty="0"/>
          </a:p>
          <a:p>
            <a:pPr marL="0" indent="0">
              <a:spcAft>
                <a:spcPts val="0"/>
              </a:spcAft>
              <a:buNone/>
              <a:defRPr/>
            </a:pPr>
            <a:r>
              <a:rPr lang="en-US" sz="2000" dirty="0"/>
              <a:t>Hyperinflation tends to be associated with slow growth, if not severe recession.</a:t>
            </a:r>
          </a:p>
        </p:txBody>
      </p:sp>
    </p:spTree>
    <p:extLst>
      <p:ext uri="{BB962C8B-B14F-4D97-AF65-F5344CB8AC3E}">
        <p14:creationId xmlns:p14="http://schemas.microsoft.com/office/powerpoint/2010/main" val="4210543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EB804D4F82C0B4088CBB3A2B255BE33" ma:contentTypeVersion="10" ma:contentTypeDescription="Create a new document." ma:contentTypeScope="" ma:versionID="ba2444f8b87678fbda005eb818e18e7d">
  <xsd:schema xmlns:xsd="http://www.w3.org/2001/XMLSchema" xmlns:xs="http://www.w3.org/2001/XMLSchema" xmlns:p="http://schemas.microsoft.com/office/2006/metadata/properties" xmlns:ns3="d445d462-2029-4cec-993f-47750f9ae382" targetNamespace="http://schemas.microsoft.com/office/2006/metadata/properties" ma:root="true" ma:fieldsID="59dfec31504f62d0b799b89d654e468f" ns3:_="">
    <xsd:import namespace="d445d462-2029-4cec-993f-47750f9ae38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45d462-2029-4cec-993f-47750f9ae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40ED968-9256-4114-AF12-237294F6A362}">
  <ds:schemaRefs>
    <ds:schemaRef ds:uri="http://purl.org/dc/elements/1.1/"/>
    <ds:schemaRef ds:uri="http://www.w3.org/XML/1998/namespace"/>
    <ds:schemaRef ds:uri="http://schemas.microsoft.com/office/2006/documentManagement/types"/>
    <ds:schemaRef ds:uri="d445d462-2029-4cec-993f-47750f9ae382"/>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F2637977-83C3-4D06-8E43-B932C56FB1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45d462-2029-4cec-993f-47750f9ae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BE2AAD-6CC9-4100-8B6B-7A31EE5170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2817</TotalTime>
  <Words>3286</Words>
  <Application>Microsoft Macintosh PowerPoint</Application>
  <PresentationFormat>On-screen Show (4:3)</PresentationFormat>
  <Paragraphs>260</Paragraphs>
  <Slides>33</Slides>
  <Notes>29</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39" baseType="lpstr">
      <vt:lpstr>Aptos</vt:lpstr>
      <vt:lpstr>Aptos Display</vt:lpstr>
      <vt:lpstr>Arial</vt:lpstr>
      <vt:lpstr>Verdana</vt:lpstr>
      <vt:lpstr>Office Theme</vt:lpstr>
      <vt:lpstr>Equation</vt:lpstr>
      <vt:lpstr>Macroeconomics ECON 101</vt:lpstr>
      <vt:lpstr>Chapter Outline</vt:lpstr>
      <vt:lpstr>Money</vt:lpstr>
      <vt:lpstr>What Is Money, and Why Do We Need It?</vt:lpstr>
      <vt:lpstr>The Functions of Money</vt:lpstr>
      <vt:lpstr>What Can Serve as Money?</vt:lpstr>
      <vt:lpstr>Commodity Money</vt:lpstr>
      <vt:lpstr>Fiat Money (1 of 2)</vt:lpstr>
      <vt:lpstr>Fiat Money (2 of 2)</vt:lpstr>
      <vt:lpstr>How Is Money Measured in Canada Today?</vt:lpstr>
      <vt:lpstr>Figure 10.1 Components of the Money Supply (1 of 3) </vt:lpstr>
      <vt:lpstr>Figure 10.1 Components of the Money Supply (2 of 3) </vt:lpstr>
      <vt:lpstr>Figure 10.1 Components of the Money Supply (3 of 3) </vt:lpstr>
      <vt:lpstr>Which Definition?</vt:lpstr>
      <vt:lpstr>How Do Banks Create Money?</vt:lpstr>
      <vt:lpstr>Figure 10.2 Balance Sheet for Royal Bank, September 30, 2021 (1 of 2)</vt:lpstr>
      <vt:lpstr>Figure 10.2 Balance Sheet for Royal Bank, September 30, 2021 (2 of 2)</vt:lpstr>
      <vt:lpstr>Required and Excess Reserves</vt:lpstr>
      <vt:lpstr>Using T-Accounts to Show Money Creation</vt:lpstr>
      <vt:lpstr>T-Accounts</vt:lpstr>
      <vt:lpstr>When Will It End?</vt:lpstr>
      <vt:lpstr>Simple Deposit Multiplier</vt:lpstr>
      <vt:lpstr>General Form for the Simple Deposit Multiplier</vt:lpstr>
      <vt:lpstr>The Simple Deposit Multiplier vs Real-World Deposit Multiplier</vt:lpstr>
      <vt:lpstr>Conclusions About Banks and the Money Supply</vt:lpstr>
      <vt:lpstr>The Quantity Theory of Money</vt:lpstr>
      <vt:lpstr>The Quantity Equation</vt:lpstr>
      <vt:lpstr>Calculating the Velocity of Money</vt:lpstr>
      <vt:lpstr>The Quantity Theory Explanation of Inflation</vt:lpstr>
      <vt:lpstr>The Inflation Rate According to the Quantity Theory</vt:lpstr>
      <vt:lpstr>Figure 10.7 The Relationship between Money Growth and Inflation over Time and around the World (1 of 2)</vt:lpstr>
      <vt:lpstr>Figure 10.7 The Relationship between Money Growth and Inflation over Time and around the World (2 of 2)</vt:lpstr>
      <vt:lpstr>High Rates of Inflation</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Macroeconomics, Third Canadian Edition, Chapter 10  Money, Banks, and the Bank of Canada</dc:title>
  <dc:subject>Economics</dc:subject>
  <dc:creator>Hubbard, Patrick O’Brien, Serletis, Childs</dc:creator>
  <cp:lastModifiedBy>Muhebullah Karimzada</cp:lastModifiedBy>
  <cp:revision>5226</cp:revision>
  <dcterms:created xsi:type="dcterms:W3CDTF">2014-07-14T20:04:21Z</dcterms:created>
  <dcterms:modified xsi:type="dcterms:W3CDTF">2024-12-30T02:37:46Z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0x0101008EB804D4F82C0B4088CBB3A2B255BE33</vt:lpwstr>
  </property>
</Properties>
</file>