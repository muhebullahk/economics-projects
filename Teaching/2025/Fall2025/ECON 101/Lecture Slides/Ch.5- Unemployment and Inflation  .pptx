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5" r:id="rId4"/>
  </p:sldMasterIdLst>
  <p:notesMasterIdLst>
    <p:notesMasterId r:id="rId47"/>
  </p:notesMasterIdLst>
  <p:handoutMasterIdLst>
    <p:handoutMasterId r:id="rId48"/>
  </p:handoutMasterIdLst>
  <p:sldIdLst>
    <p:sldId id="1439" r:id="rId5"/>
    <p:sldId id="1425" r:id="rId6"/>
    <p:sldId id="1359" r:id="rId7"/>
    <p:sldId id="1360" r:id="rId8"/>
    <p:sldId id="1362" r:id="rId9"/>
    <p:sldId id="1428" r:id="rId10"/>
    <p:sldId id="1435" r:id="rId11"/>
    <p:sldId id="1438" r:id="rId12"/>
    <p:sldId id="1364" r:id="rId13"/>
    <p:sldId id="1427" r:id="rId14"/>
    <p:sldId id="1365" r:id="rId15"/>
    <p:sldId id="1366" r:id="rId16"/>
    <p:sldId id="1430" r:id="rId17"/>
    <p:sldId id="1411" r:id="rId18"/>
    <p:sldId id="1367" r:id="rId19"/>
    <p:sldId id="1368" r:id="rId20"/>
    <p:sldId id="1369" r:id="rId21"/>
    <p:sldId id="1370" r:id="rId22"/>
    <p:sldId id="1412" r:id="rId23"/>
    <p:sldId id="1372" r:id="rId24"/>
    <p:sldId id="1373" r:id="rId25"/>
    <p:sldId id="1414" r:id="rId26"/>
    <p:sldId id="1374" r:id="rId27"/>
    <p:sldId id="1375" r:id="rId28"/>
    <p:sldId id="1376" r:id="rId29"/>
    <p:sldId id="1377" r:id="rId30"/>
    <p:sldId id="1404" r:id="rId31"/>
    <p:sldId id="1432" r:id="rId32"/>
    <p:sldId id="1415" r:id="rId33"/>
    <p:sldId id="1416" r:id="rId34"/>
    <p:sldId id="1417" r:id="rId35"/>
    <p:sldId id="1381" r:id="rId36"/>
    <p:sldId id="1382" r:id="rId37"/>
    <p:sldId id="1383" r:id="rId38"/>
    <p:sldId id="1384" r:id="rId39"/>
    <p:sldId id="1385" r:id="rId40"/>
    <p:sldId id="1418" r:id="rId41"/>
    <p:sldId id="1419" r:id="rId42"/>
    <p:sldId id="1420" r:id="rId43"/>
    <p:sldId id="1387" r:id="rId44"/>
    <p:sldId id="1422" r:id="rId45"/>
    <p:sldId id="1423" r:id="rId4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guide id="3" orient="horz" pos="336">
          <p15:clr>
            <a:srgbClr val="A4A3A4"/>
          </p15:clr>
        </p15:guide>
        <p15:guide id="4" orient="horz" pos="3984">
          <p15:clr>
            <a:srgbClr val="A4A3A4"/>
          </p15:clr>
        </p15:guide>
        <p15:guide id="5" orient="horz" pos="720">
          <p15:clr>
            <a:srgbClr val="A4A3A4"/>
          </p15:clr>
        </p15:guide>
        <p15:guide id="6" orient="horz" pos="1056">
          <p15:clr>
            <a:srgbClr val="A4A3A4"/>
          </p15:clr>
        </p15:guide>
        <p15:guide id="7" orient="horz" pos="1392">
          <p15:clr>
            <a:srgbClr val="A4A3A4"/>
          </p15:clr>
        </p15:guide>
        <p15:guide id="8" pos="288">
          <p15:clr>
            <a:srgbClr val="A4A3A4"/>
          </p15:clr>
        </p15:guide>
        <p15:guide id="9" pos="5472">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 Mohanapriya" initials="DM"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4EAE4"/>
    <a:srgbClr val="007FA3"/>
    <a:srgbClr val="99008C"/>
    <a:srgbClr val="001581"/>
    <a:srgbClr val="82007C"/>
    <a:srgbClr val="96008F"/>
    <a:srgbClr val="595375"/>
    <a:srgbClr val="6B638B"/>
    <a:srgbClr val="000000"/>
    <a:srgbClr val="FDB94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646" autoAdjust="0"/>
    <p:restoredTop sz="90141" autoAdjust="0"/>
  </p:normalViewPr>
  <p:slideViewPr>
    <p:cSldViewPr>
      <p:cViewPr varScale="1">
        <p:scale>
          <a:sx n="111" d="100"/>
          <a:sy n="111" d="100"/>
        </p:scale>
        <p:origin x="704" y="192"/>
      </p:cViewPr>
      <p:guideLst>
        <p:guide orient="horz" pos="2160"/>
        <p:guide pos="2880"/>
        <p:guide orient="horz" pos="336"/>
        <p:guide orient="horz" pos="3984"/>
        <p:guide orient="horz" pos="720"/>
        <p:guide orient="horz" pos="1056"/>
        <p:guide orient="horz" pos="1392"/>
        <p:guide pos="288"/>
        <p:guide pos="5472"/>
      </p:guideLst>
    </p:cSldViewPr>
  </p:slideViewPr>
  <p:outlineViewPr>
    <p:cViewPr>
      <p:scale>
        <a:sx n="33" d="100"/>
        <a:sy n="33" d="100"/>
      </p:scale>
      <p:origin x="48" y="25020"/>
    </p:cViewPr>
  </p:outlineViewPr>
  <p:notesTextViewPr>
    <p:cViewPr>
      <p:scale>
        <a:sx n="1" d="1"/>
        <a:sy n="1" d="1"/>
      </p:scale>
      <p:origin x="0" y="0"/>
    </p:cViewPr>
  </p:notesTextViewPr>
  <p:sorterViewPr>
    <p:cViewPr>
      <p:scale>
        <a:sx n="100" d="100"/>
        <a:sy n="100" d="100"/>
      </p:scale>
      <p:origin x="0" y="0"/>
    </p:cViewPr>
  </p:sorterViewPr>
  <p:notesViewPr>
    <p:cSldViewPr>
      <p:cViewPr varScale="1">
        <p:scale>
          <a:sx n="85" d="100"/>
          <a:sy n="85" d="100"/>
        </p:scale>
        <p:origin x="-3786" y="-9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notesMaster" Target="notesMasters/notesMaster1.xml"/><Relationship Id="rId50"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handoutMaster" Target="handoutMasters/handoutMaster1.xml"/><Relationship Id="rId8" Type="http://schemas.openxmlformats.org/officeDocument/2006/relationships/slide" Target="slides/slide4.xml"/><Relationship Id="rId51"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D8D874E-E9D5-433B-A149-BDF6BFDD40A8}" type="datetimeFigureOut">
              <a:rPr lang="en-US" smtClean="0"/>
              <a:t>12/29/24</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0DCAA22-461C-45B4-A301-BFCA580174EF}" type="slidenum">
              <a:rPr lang="en-US" smtClean="0"/>
              <a:t>‹#›</a:t>
            </a:fld>
            <a:endParaRPr lang="en-US" dirty="0"/>
          </a:p>
        </p:txBody>
      </p:sp>
    </p:spTree>
    <p:extLst>
      <p:ext uri="{BB962C8B-B14F-4D97-AF65-F5344CB8AC3E}">
        <p14:creationId xmlns:p14="http://schemas.microsoft.com/office/powerpoint/2010/main" val="4901922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A051F04-9E25-42C3-8BC5-EC2E8469D95E}" type="datetimeFigureOut">
              <a:rPr lang="en-US" smtClean="0"/>
              <a:t>12/29/24</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73D6722-9B4D-4E29-B226-C325925A8118}" type="slidenum">
              <a:rPr lang="en-US" smtClean="0"/>
              <a:t>‹#›</a:t>
            </a:fld>
            <a:endParaRPr lang="en-US" dirty="0"/>
          </a:p>
        </p:txBody>
      </p:sp>
    </p:spTree>
    <p:extLst>
      <p:ext uri="{BB962C8B-B14F-4D97-AF65-F5344CB8AC3E}">
        <p14:creationId xmlns:p14="http://schemas.microsoft.com/office/powerpoint/2010/main" val="3529598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a:t>If this PowerPoint presentation contains mathematical equations, you may need to check that your computer has the following installed:</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a:t>1) </a:t>
            </a:r>
            <a:r>
              <a:rPr lang="en-IN" dirty="0" err="1"/>
              <a:t>MathType</a:t>
            </a:r>
            <a:r>
              <a:rPr lang="en-IN" dirty="0"/>
              <a:t> Plugin</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a:t>2) Math Player (free versions available)</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a:t>3) NVDA Reader (free versions available)</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t>1</a:t>
            </a:fld>
            <a:endParaRPr lang="en-US" dirty="0"/>
          </a:p>
        </p:txBody>
      </p:sp>
    </p:spTree>
    <p:extLst>
      <p:ext uri="{BB962C8B-B14F-4D97-AF65-F5344CB8AC3E}">
        <p14:creationId xmlns:p14="http://schemas.microsoft.com/office/powerpoint/2010/main" val="12795816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31774">
              <a:defRPr/>
            </a:pPr>
            <a:endParaRPr lang="en-US" baseline="0" dirty="0"/>
          </a:p>
          <a:p>
            <a:pPr defTabSz="931774">
              <a:defRPr/>
            </a:pP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t>2</a:t>
            </a:fld>
            <a:endParaRPr lang="en-US" dirty="0"/>
          </a:p>
        </p:txBody>
      </p:sp>
    </p:spTree>
    <p:extLst>
      <p:ext uri="{BB962C8B-B14F-4D97-AF65-F5344CB8AC3E}">
        <p14:creationId xmlns:p14="http://schemas.microsoft.com/office/powerpoint/2010/main" val="21249796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73D6722-9B4D-4E29-B226-C325925A8118}" type="slidenum">
              <a:rPr lang="en-US" smtClean="0"/>
              <a:pPr/>
              <a:t>3</a:t>
            </a:fld>
            <a:endParaRPr lang="en-US" dirty="0"/>
          </a:p>
        </p:txBody>
      </p:sp>
    </p:spTree>
    <p:extLst>
      <p:ext uri="{BB962C8B-B14F-4D97-AF65-F5344CB8AC3E}">
        <p14:creationId xmlns:p14="http://schemas.microsoft.com/office/powerpoint/2010/main" val="11226300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A73D6722-9B4D-4E29-B226-C325925A8118}" type="slidenum">
              <a:rPr lang="en-US" smtClean="0"/>
              <a:t>4</a:t>
            </a:fld>
            <a:endParaRPr lang="en-US" dirty="0"/>
          </a:p>
        </p:txBody>
      </p:sp>
    </p:spTree>
    <p:extLst>
      <p:ext uri="{BB962C8B-B14F-4D97-AF65-F5344CB8AC3E}">
        <p14:creationId xmlns:p14="http://schemas.microsoft.com/office/powerpoint/2010/main" val="39251552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A73D6722-9B4D-4E29-B226-C325925A8118}" type="slidenum">
              <a:rPr lang="en-US" smtClean="0"/>
              <a:t>5</a:t>
            </a:fld>
            <a:endParaRPr lang="en-US" dirty="0"/>
          </a:p>
        </p:txBody>
      </p:sp>
    </p:spTree>
    <p:extLst>
      <p:ext uri="{BB962C8B-B14F-4D97-AF65-F5344CB8AC3E}">
        <p14:creationId xmlns:p14="http://schemas.microsoft.com/office/powerpoint/2010/main" val="15478782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6</a:t>
            </a:fld>
            <a:endParaRPr lang="en-US" dirty="0"/>
          </a:p>
        </p:txBody>
      </p:sp>
    </p:spTree>
    <p:extLst>
      <p:ext uri="{BB962C8B-B14F-4D97-AF65-F5344CB8AC3E}">
        <p14:creationId xmlns:p14="http://schemas.microsoft.com/office/powerpoint/2010/main" val="30846687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7</a:t>
            </a:fld>
            <a:endParaRPr lang="en-US" dirty="0"/>
          </a:p>
        </p:txBody>
      </p:sp>
    </p:spTree>
    <p:extLst>
      <p:ext uri="{BB962C8B-B14F-4D97-AF65-F5344CB8AC3E}">
        <p14:creationId xmlns:p14="http://schemas.microsoft.com/office/powerpoint/2010/main" val="30846687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8</a:t>
            </a:fld>
            <a:endParaRPr lang="en-US" dirty="0"/>
          </a:p>
        </p:txBody>
      </p:sp>
    </p:spTree>
    <p:extLst>
      <p:ext uri="{BB962C8B-B14F-4D97-AF65-F5344CB8AC3E}">
        <p14:creationId xmlns:p14="http://schemas.microsoft.com/office/powerpoint/2010/main" val="23971392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A73D6722-9B4D-4E29-B226-C325925A8118}" type="slidenum">
              <a:rPr lang="en-US" smtClean="0"/>
              <a:t>9</a:t>
            </a:fld>
            <a:endParaRPr lang="en-US" dirty="0"/>
          </a:p>
        </p:txBody>
      </p:sp>
    </p:spTree>
    <p:extLst>
      <p:ext uri="{BB962C8B-B14F-4D97-AF65-F5344CB8AC3E}">
        <p14:creationId xmlns:p14="http://schemas.microsoft.com/office/powerpoint/2010/main" val="2463605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10</a:t>
            </a:fld>
            <a:endParaRPr lang="en-US" dirty="0"/>
          </a:p>
        </p:txBody>
      </p:sp>
    </p:spTree>
    <p:extLst>
      <p:ext uri="{BB962C8B-B14F-4D97-AF65-F5344CB8AC3E}">
        <p14:creationId xmlns:p14="http://schemas.microsoft.com/office/powerpoint/2010/main" val="30846687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A73D6722-9B4D-4E29-B226-C325925A8118}" type="slidenum">
              <a:rPr lang="en-US" smtClean="0"/>
              <a:t>11</a:t>
            </a:fld>
            <a:endParaRPr lang="en-US" dirty="0"/>
          </a:p>
        </p:txBody>
      </p:sp>
    </p:spTree>
    <p:extLst>
      <p:ext uri="{BB962C8B-B14F-4D97-AF65-F5344CB8AC3E}">
        <p14:creationId xmlns:p14="http://schemas.microsoft.com/office/powerpoint/2010/main" val="79100617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A73D6722-9B4D-4E29-B226-C325925A8118}" type="slidenum">
              <a:rPr lang="en-US" smtClean="0"/>
              <a:t>12</a:t>
            </a:fld>
            <a:endParaRPr lang="en-US" dirty="0"/>
          </a:p>
        </p:txBody>
      </p:sp>
    </p:spTree>
    <p:extLst>
      <p:ext uri="{BB962C8B-B14F-4D97-AF65-F5344CB8AC3E}">
        <p14:creationId xmlns:p14="http://schemas.microsoft.com/office/powerpoint/2010/main" val="118796959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t>13</a:t>
            </a:fld>
            <a:endParaRPr lang="en-US" dirty="0"/>
          </a:p>
        </p:txBody>
      </p:sp>
    </p:spTree>
    <p:extLst>
      <p:ext uri="{BB962C8B-B14F-4D97-AF65-F5344CB8AC3E}">
        <p14:creationId xmlns:p14="http://schemas.microsoft.com/office/powerpoint/2010/main" val="83431652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A73D6722-9B4D-4E29-B226-C325925A8118}" type="slidenum">
              <a:rPr lang="en-US" smtClean="0"/>
              <a:t>14</a:t>
            </a:fld>
            <a:endParaRPr lang="en-US" dirty="0"/>
          </a:p>
        </p:txBody>
      </p:sp>
    </p:spTree>
    <p:extLst>
      <p:ext uri="{BB962C8B-B14F-4D97-AF65-F5344CB8AC3E}">
        <p14:creationId xmlns:p14="http://schemas.microsoft.com/office/powerpoint/2010/main" val="315781490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A73D6722-9B4D-4E29-B226-C325925A8118}" type="slidenum">
              <a:rPr lang="en-US" smtClean="0"/>
              <a:t>15</a:t>
            </a:fld>
            <a:endParaRPr lang="en-US" dirty="0"/>
          </a:p>
        </p:txBody>
      </p:sp>
    </p:spTree>
    <p:extLst>
      <p:ext uri="{BB962C8B-B14F-4D97-AF65-F5344CB8AC3E}">
        <p14:creationId xmlns:p14="http://schemas.microsoft.com/office/powerpoint/2010/main" val="236540944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A73D6722-9B4D-4E29-B226-C325925A8118}" type="slidenum">
              <a:rPr lang="en-US" smtClean="0"/>
              <a:t>16</a:t>
            </a:fld>
            <a:endParaRPr lang="en-US" dirty="0"/>
          </a:p>
        </p:txBody>
      </p:sp>
    </p:spTree>
    <p:extLst>
      <p:ext uri="{BB962C8B-B14F-4D97-AF65-F5344CB8AC3E}">
        <p14:creationId xmlns:p14="http://schemas.microsoft.com/office/powerpoint/2010/main" val="19940727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A73D6722-9B4D-4E29-B226-C325925A8118}" type="slidenum">
              <a:rPr lang="en-US" smtClean="0"/>
              <a:t>17</a:t>
            </a:fld>
            <a:endParaRPr lang="en-US" dirty="0"/>
          </a:p>
        </p:txBody>
      </p:sp>
    </p:spTree>
    <p:extLst>
      <p:ext uri="{BB962C8B-B14F-4D97-AF65-F5344CB8AC3E}">
        <p14:creationId xmlns:p14="http://schemas.microsoft.com/office/powerpoint/2010/main" val="325100188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A73D6722-9B4D-4E29-B226-C325925A8118}" type="slidenum">
              <a:rPr lang="en-US" smtClean="0"/>
              <a:t>18</a:t>
            </a:fld>
            <a:endParaRPr lang="en-US" dirty="0"/>
          </a:p>
        </p:txBody>
      </p:sp>
    </p:spTree>
    <p:extLst>
      <p:ext uri="{BB962C8B-B14F-4D97-AF65-F5344CB8AC3E}">
        <p14:creationId xmlns:p14="http://schemas.microsoft.com/office/powerpoint/2010/main" val="115687368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A73D6722-9B4D-4E29-B226-C325925A8118}" type="slidenum">
              <a:rPr lang="en-US" smtClean="0"/>
              <a:t>19</a:t>
            </a:fld>
            <a:endParaRPr lang="en-US" dirty="0"/>
          </a:p>
        </p:txBody>
      </p:sp>
    </p:spTree>
    <p:extLst>
      <p:ext uri="{BB962C8B-B14F-4D97-AF65-F5344CB8AC3E}">
        <p14:creationId xmlns:p14="http://schemas.microsoft.com/office/powerpoint/2010/main" val="324037148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A73D6722-9B4D-4E29-B226-C325925A8118}" type="slidenum">
              <a:rPr lang="en-US" smtClean="0"/>
              <a:t>20</a:t>
            </a:fld>
            <a:endParaRPr lang="en-US" dirty="0"/>
          </a:p>
        </p:txBody>
      </p:sp>
    </p:spTree>
    <p:extLst>
      <p:ext uri="{BB962C8B-B14F-4D97-AF65-F5344CB8AC3E}">
        <p14:creationId xmlns:p14="http://schemas.microsoft.com/office/powerpoint/2010/main" val="264377751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A73D6722-9B4D-4E29-B226-C325925A8118}" type="slidenum">
              <a:rPr lang="en-US" smtClean="0"/>
              <a:t>21</a:t>
            </a:fld>
            <a:endParaRPr lang="en-US" dirty="0"/>
          </a:p>
        </p:txBody>
      </p:sp>
    </p:spTree>
    <p:extLst>
      <p:ext uri="{BB962C8B-B14F-4D97-AF65-F5344CB8AC3E}">
        <p14:creationId xmlns:p14="http://schemas.microsoft.com/office/powerpoint/2010/main" val="30026168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A73D6722-9B4D-4E29-B226-C325925A8118}" type="slidenum">
              <a:rPr lang="en-US" smtClean="0"/>
              <a:t>22</a:t>
            </a:fld>
            <a:endParaRPr lang="en-US" dirty="0"/>
          </a:p>
        </p:txBody>
      </p:sp>
    </p:spTree>
    <p:extLst>
      <p:ext uri="{BB962C8B-B14F-4D97-AF65-F5344CB8AC3E}">
        <p14:creationId xmlns:p14="http://schemas.microsoft.com/office/powerpoint/2010/main" val="38686738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from Government of Canada website</a:t>
            </a:r>
          </a:p>
          <a:p>
            <a:r>
              <a:rPr lang="en-US" dirty="0"/>
              <a:t>http://srv116.services.gc.ca/</a:t>
            </a:r>
            <a:r>
              <a:rPr lang="en-US" dirty="0" err="1"/>
              <a:t>dimt-wid</a:t>
            </a:r>
            <a:r>
              <a:rPr lang="en-US" dirty="0"/>
              <a:t>/</a:t>
            </a:r>
            <a:r>
              <a:rPr lang="en-US" dirty="0" err="1"/>
              <a:t>sm</a:t>
            </a:r>
            <a:r>
              <a:rPr lang="en-US" dirty="0"/>
              <a:t>-mw/rpt1.aspx</a:t>
            </a:r>
          </a:p>
          <a:p>
            <a:r>
              <a:rPr lang="en-US" dirty="0"/>
              <a:t>Which contains scheduled increases as well.</a:t>
            </a:r>
          </a:p>
          <a:p>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t>23</a:t>
            </a:fld>
            <a:endParaRPr lang="en-US" dirty="0"/>
          </a:p>
        </p:txBody>
      </p:sp>
    </p:spTree>
    <p:extLst>
      <p:ext uri="{BB962C8B-B14F-4D97-AF65-F5344CB8AC3E}">
        <p14:creationId xmlns:p14="http://schemas.microsoft.com/office/powerpoint/2010/main" val="290929682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t>24</a:t>
            </a:fld>
            <a:endParaRPr lang="en-US" dirty="0"/>
          </a:p>
        </p:txBody>
      </p:sp>
    </p:spTree>
    <p:extLst>
      <p:ext uri="{BB962C8B-B14F-4D97-AF65-F5344CB8AC3E}">
        <p14:creationId xmlns:p14="http://schemas.microsoft.com/office/powerpoint/2010/main" val="142601067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A73D6722-9B4D-4E29-B226-C325925A8118}" type="slidenum">
              <a:rPr lang="en-US" smtClean="0"/>
              <a:t>25</a:t>
            </a:fld>
            <a:endParaRPr lang="en-US" dirty="0"/>
          </a:p>
        </p:txBody>
      </p:sp>
    </p:spTree>
    <p:extLst>
      <p:ext uri="{BB962C8B-B14F-4D97-AF65-F5344CB8AC3E}">
        <p14:creationId xmlns:p14="http://schemas.microsoft.com/office/powerpoint/2010/main" val="411302844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A73D6722-9B4D-4E29-B226-C325925A8118}" type="slidenum">
              <a:rPr lang="en-US" smtClean="0"/>
              <a:t>26</a:t>
            </a:fld>
            <a:endParaRPr lang="en-US" dirty="0"/>
          </a:p>
        </p:txBody>
      </p:sp>
    </p:spTree>
    <p:extLst>
      <p:ext uri="{BB962C8B-B14F-4D97-AF65-F5344CB8AC3E}">
        <p14:creationId xmlns:p14="http://schemas.microsoft.com/office/powerpoint/2010/main" val="207457335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A73D6722-9B4D-4E29-B226-C325925A8118}" type="slidenum">
              <a:rPr lang="en-US" smtClean="0"/>
              <a:t>27</a:t>
            </a:fld>
            <a:endParaRPr lang="en-US" dirty="0"/>
          </a:p>
        </p:txBody>
      </p:sp>
    </p:spTree>
    <p:extLst>
      <p:ext uri="{BB962C8B-B14F-4D97-AF65-F5344CB8AC3E}">
        <p14:creationId xmlns:p14="http://schemas.microsoft.com/office/powerpoint/2010/main" val="208373327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28</a:t>
            </a:fld>
            <a:endParaRPr lang="en-US" dirty="0"/>
          </a:p>
        </p:txBody>
      </p:sp>
    </p:spTree>
    <p:extLst>
      <p:ext uri="{BB962C8B-B14F-4D97-AF65-F5344CB8AC3E}">
        <p14:creationId xmlns:p14="http://schemas.microsoft.com/office/powerpoint/2010/main" val="308466870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A73D6722-9B4D-4E29-B226-C325925A8118}" type="slidenum">
              <a:rPr lang="en-US" smtClean="0"/>
              <a:t>29</a:t>
            </a:fld>
            <a:endParaRPr lang="en-US" dirty="0"/>
          </a:p>
        </p:txBody>
      </p:sp>
    </p:spTree>
    <p:extLst>
      <p:ext uri="{BB962C8B-B14F-4D97-AF65-F5344CB8AC3E}">
        <p14:creationId xmlns:p14="http://schemas.microsoft.com/office/powerpoint/2010/main" val="108306388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t>30</a:t>
            </a:fld>
            <a:endParaRPr lang="en-US" dirty="0"/>
          </a:p>
        </p:txBody>
      </p:sp>
    </p:spTree>
    <p:extLst>
      <p:ext uri="{BB962C8B-B14F-4D97-AF65-F5344CB8AC3E}">
        <p14:creationId xmlns:p14="http://schemas.microsoft.com/office/powerpoint/2010/main" val="271419657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A73D6722-9B4D-4E29-B226-C325925A8118}" type="slidenum">
              <a:rPr lang="en-US" smtClean="0"/>
              <a:t>31</a:t>
            </a:fld>
            <a:endParaRPr lang="en-US" dirty="0"/>
          </a:p>
        </p:txBody>
      </p:sp>
    </p:spTree>
    <p:extLst>
      <p:ext uri="{BB962C8B-B14F-4D97-AF65-F5344CB8AC3E}">
        <p14:creationId xmlns:p14="http://schemas.microsoft.com/office/powerpoint/2010/main" val="386557552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A73D6722-9B4D-4E29-B226-C325925A8118}" type="slidenum">
              <a:rPr lang="en-US" smtClean="0"/>
              <a:t>32</a:t>
            </a:fld>
            <a:endParaRPr lang="en-US" dirty="0"/>
          </a:p>
        </p:txBody>
      </p:sp>
    </p:spTree>
    <p:extLst>
      <p:ext uri="{BB962C8B-B14F-4D97-AF65-F5344CB8AC3E}">
        <p14:creationId xmlns:p14="http://schemas.microsoft.com/office/powerpoint/2010/main" val="331397556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A73D6722-9B4D-4E29-B226-C325925A8118}" type="slidenum">
              <a:rPr lang="en-US" smtClean="0"/>
              <a:t>33</a:t>
            </a:fld>
            <a:endParaRPr lang="en-US" dirty="0"/>
          </a:p>
        </p:txBody>
      </p:sp>
    </p:spTree>
    <p:extLst>
      <p:ext uri="{BB962C8B-B14F-4D97-AF65-F5344CB8AC3E}">
        <p14:creationId xmlns:p14="http://schemas.microsoft.com/office/powerpoint/2010/main" val="366677165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A73D6722-9B4D-4E29-B226-C325925A8118}" type="slidenum">
              <a:rPr lang="en-US" smtClean="0"/>
              <a:t>34</a:t>
            </a:fld>
            <a:endParaRPr lang="en-US" dirty="0"/>
          </a:p>
        </p:txBody>
      </p:sp>
    </p:spTree>
    <p:extLst>
      <p:ext uri="{BB962C8B-B14F-4D97-AF65-F5344CB8AC3E}">
        <p14:creationId xmlns:p14="http://schemas.microsoft.com/office/powerpoint/2010/main" val="393136324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A73D6722-9B4D-4E29-B226-C325925A8118}" type="slidenum">
              <a:rPr lang="en-US" smtClean="0"/>
              <a:t>35</a:t>
            </a:fld>
            <a:endParaRPr lang="en-US" dirty="0"/>
          </a:p>
        </p:txBody>
      </p:sp>
    </p:spTree>
    <p:extLst>
      <p:ext uri="{BB962C8B-B14F-4D97-AF65-F5344CB8AC3E}">
        <p14:creationId xmlns:p14="http://schemas.microsoft.com/office/powerpoint/2010/main" val="374421208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A73D6722-9B4D-4E29-B226-C325925A8118}" type="slidenum">
              <a:rPr lang="en-US" smtClean="0"/>
              <a:t>36</a:t>
            </a:fld>
            <a:endParaRPr lang="en-US" dirty="0"/>
          </a:p>
        </p:txBody>
      </p:sp>
    </p:spTree>
    <p:extLst>
      <p:ext uri="{BB962C8B-B14F-4D97-AF65-F5344CB8AC3E}">
        <p14:creationId xmlns:p14="http://schemas.microsoft.com/office/powerpoint/2010/main" val="338295341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A73D6722-9B4D-4E29-B226-C325925A8118}" type="slidenum">
              <a:rPr lang="en-US" smtClean="0"/>
              <a:t>37</a:t>
            </a:fld>
            <a:endParaRPr lang="en-US" dirty="0"/>
          </a:p>
        </p:txBody>
      </p:sp>
    </p:spTree>
    <p:extLst>
      <p:ext uri="{BB962C8B-B14F-4D97-AF65-F5344CB8AC3E}">
        <p14:creationId xmlns:p14="http://schemas.microsoft.com/office/powerpoint/2010/main" val="179646192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A73D6722-9B4D-4E29-B226-C325925A8118}" type="slidenum">
              <a:rPr lang="en-US" smtClean="0"/>
              <a:t>38</a:t>
            </a:fld>
            <a:endParaRPr lang="en-US" dirty="0"/>
          </a:p>
        </p:txBody>
      </p:sp>
    </p:spTree>
    <p:extLst>
      <p:ext uri="{BB962C8B-B14F-4D97-AF65-F5344CB8AC3E}">
        <p14:creationId xmlns:p14="http://schemas.microsoft.com/office/powerpoint/2010/main" val="18431814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A73D6722-9B4D-4E29-B226-C325925A8118}" type="slidenum">
              <a:rPr lang="en-US" smtClean="0"/>
              <a:t>39</a:t>
            </a:fld>
            <a:endParaRPr lang="en-US" dirty="0"/>
          </a:p>
        </p:txBody>
      </p:sp>
    </p:spTree>
    <p:extLst>
      <p:ext uri="{BB962C8B-B14F-4D97-AF65-F5344CB8AC3E}">
        <p14:creationId xmlns:p14="http://schemas.microsoft.com/office/powerpoint/2010/main" val="160196770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A73D6722-9B4D-4E29-B226-C325925A8118}" type="slidenum">
              <a:rPr lang="en-US" smtClean="0"/>
              <a:t>40</a:t>
            </a:fld>
            <a:endParaRPr lang="en-US" dirty="0"/>
          </a:p>
        </p:txBody>
      </p:sp>
    </p:spTree>
    <p:extLst>
      <p:ext uri="{BB962C8B-B14F-4D97-AF65-F5344CB8AC3E}">
        <p14:creationId xmlns:p14="http://schemas.microsoft.com/office/powerpoint/2010/main" val="378809988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A73D6722-9B4D-4E29-B226-C325925A8118}" type="slidenum">
              <a:rPr lang="en-US" smtClean="0"/>
              <a:t>41</a:t>
            </a:fld>
            <a:endParaRPr lang="en-US" dirty="0"/>
          </a:p>
        </p:txBody>
      </p:sp>
    </p:spTree>
    <p:extLst>
      <p:ext uri="{BB962C8B-B14F-4D97-AF65-F5344CB8AC3E}">
        <p14:creationId xmlns:p14="http://schemas.microsoft.com/office/powerpoint/2010/main" val="116418128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A73D6722-9B4D-4E29-B226-C325925A8118}" type="slidenum">
              <a:rPr lang="en-US" smtClean="0"/>
              <a:t>42</a:t>
            </a:fld>
            <a:endParaRPr lang="en-US" dirty="0"/>
          </a:p>
        </p:txBody>
      </p:sp>
    </p:spTree>
    <p:extLst>
      <p:ext uri="{BB962C8B-B14F-4D97-AF65-F5344CB8AC3E}">
        <p14:creationId xmlns:p14="http://schemas.microsoft.com/office/powerpoint/2010/main" val="174862723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E4C261-EA3E-9972-598F-AB953BC16A50}"/>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28A078E3-3699-A357-A877-471F27C49A73}"/>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4890CD74-D0A1-045C-2F6E-947FEA5FCE0F}"/>
              </a:ext>
            </a:extLst>
          </p:cNvPr>
          <p:cNvSpPr>
            <a:spLocks noGrp="1"/>
          </p:cNvSpPr>
          <p:nvPr>
            <p:ph type="dt" sz="half" idx="10"/>
          </p:nvPr>
        </p:nvSpPr>
        <p:spPr/>
        <p:txBody>
          <a:bodyPr/>
          <a:lstStyle/>
          <a:p>
            <a:fld id="{A9DF6EFB-3F44-496C-A842-1E0B3D3B975A}" type="datetimeFigureOut">
              <a:rPr lang="en-US" smtClean="0"/>
              <a:t>12/29/24</a:t>
            </a:fld>
            <a:endParaRPr lang="en-US" dirty="0"/>
          </a:p>
        </p:txBody>
      </p:sp>
      <p:sp>
        <p:nvSpPr>
          <p:cNvPr id="5" name="Footer Placeholder 4">
            <a:extLst>
              <a:ext uri="{FF2B5EF4-FFF2-40B4-BE49-F238E27FC236}">
                <a16:creationId xmlns:a16="http://schemas.microsoft.com/office/drawing/2014/main" id="{020312C3-C463-004D-9BCC-0A04D0B77DCB}"/>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193F17A6-3E5B-4F27-08F3-4DCE2F96591F}"/>
              </a:ext>
            </a:extLst>
          </p:cNvPr>
          <p:cNvSpPr>
            <a:spLocks noGrp="1"/>
          </p:cNvSpPr>
          <p:nvPr>
            <p:ph type="sldNum" sz="quarter" idx="12"/>
          </p:nvPr>
        </p:nvSpPr>
        <p:spPr/>
        <p:txBody>
          <a:bodyPr/>
          <a:lstStyle/>
          <a:p>
            <a:fld id="{200B2350-5261-4F5C-9DF5-EF0D264FC8D2}" type="slidenum">
              <a:rPr lang="en-US" smtClean="0"/>
              <a:t>‹#›</a:t>
            </a:fld>
            <a:endParaRPr lang="en-US" dirty="0"/>
          </a:p>
        </p:txBody>
      </p:sp>
      <p:pic>
        <p:nvPicPr>
          <p:cNvPr id="7" name="Picture 6" descr="Pearson Logo">
            <a:extLst>
              <a:ext uri="{FF2B5EF4-FFF2-40B4-BE49-F238E27FC236}">
                <a16:creationId xmlns:a16="http://schemas.microsoft.com/office/drawing/2014/main" id="{17A2D1EC-43CE-23CE-3F32-792CE741D3D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
        <p:nvSpPr>
          <p:cNvPr id="8" name="TextBox 7">
            <a:extLst>
              <a:ext uri="{FF2B5EF4-FFF2-40B4-BE49-F238E27FC236}">
                <a16:creationId xmlns:a16="http://schemas.microsoft.com/office/drawing/2014/main" id="{BDB131D9-A41E-27FA-CC2B-957DBB654CEB}"/>
              </a:ext>
            </a:extLst>
          </p:cNvPr>
          <p:cNvSpPr txBox="1"/>
          <p:nvPr userDrawn="1"/>
        </p:nvSpPr>
        <p:spPr>
          <a:xfrm>
            <a:off x="1502228" y="6429974"/>
            <a:ext cx="6172200" cy="276999"/>
          </a:xfrm>
          <a:prstGeom prst="rect">
            <a:avLst/>
          </a:prstGeom>
          <a:noFill/>
        </p:spPr>
        <p:txBody>
          <a:bodyPr wrap="square" rtlCol="0">
            <a:spAutoFit/>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en-US" sz="1200" b="0" kern="1200" dirty="0">
                <a:solidFill>
                  <a:schemeClr val="tx1"/>
                </a:solidFill>
                <a:latin typeface="Verdana"/>
                <a:ea typeface="Verdana" panose="020B0604030504040204" pitchFamily="34" charset="0"/>
                <a:cs typeface="Verdana" panose="020B0604030504040204" pitchFamily="34" charset="0"/>
              </a:rPr>
              <a:t>Copyright © 2024 Pearson Canada Inc.</a:t>
            </a:r>
          </a:p>
        </p:txBody>
      </p:sp>
      <p:sp>
        <p:nvSpPr>
          <p:cNvPr id="9" name="TextBox 8">
            <a:extLst>
              <a:ext uri="{FF2B5EF4-FFF2-40B4-BE49-F238E27FC236}">
                <a16:creationId xmlns:a16="http://schemas.microsoft.com/office/drawing/2014/main" id="{E52DC1A9-9949-364F-FE48-9D45C32864D9}"/>
              </a:ext>
            </a:extLst>
          </p:cNvPr>
          <p:cNvSpPr txBox="1"/>
          <p:nvPr userDrawn="1"/>
        </p:nvSpPr>
        <p:spPr>
          <a:xfrm>
            <a:off x="8015565" y="6417107"/>
            <a:ext cx="595035" cy="276999"/>
          </a:xfrm>
          <a:prstGeom prst="rect">
            <a:avLst/>
          </a:prstGeom>
          <a:noFill/>
        </p:spPr>
        <p:txBody>
          <a:bodyPr wrap="none">
            <a:spAutoFit/>
          </a:bodyPr>
          <a:lstStyle>
            <a:lvl1pPr>
              <a:defRPr>
                <a:solidFill>
                  <a:schemeClr val="tx1"/>
                </a:solidFill>
                <a:latin typeface="Calibri" charset="0"/>
                <a:ea typeface="ＭＳ Ｐゴシック" charset="0"/>
                <a:cs typeface="Arial" charset="0"/>
              </a:defRPr>
            </a:lvl1pPr>
            <a:lvl2pPr marL="742950" indent="-285750">
              <a:defRPr>
                <a:solidFill>
                  <a:schemeClr val="tx1"/>
                </a:solidFill>
                <a:latin typeface="Calibri" charset="0"/>
                <a:ea typeface="Arial" charset="0"/>
                <a:cs typeface="Arial" charset="0"/>
              </a:defRPr>
            </a:lvl2pPr>
            <a:lvl3pPr marL="1143000" indent="-228600">
              <a:defRPr>
                <a:solidFill>
                  <a:schemeClr val="tx1"/>
                </a:solidFill>
                <a:latin typeface="Calibri" charset="0"/>
                <a:ea typeface="Arial" charset="0"/>
                <a:cs typeface="Arial" charset="0"/>
              </a:defRPr>
            </a:lvl3pPr>
            <a:lvl4pPr marL="1600200" indent="-228600">
              <a:defRPr>
                <a:solidFill>
                  <a:schemeClr val="tx1"/>
                </a:solidFill>
                <a:latin typeface="Calibri" charset="0"/>
                <a:ea typeface="Arial" charset="0"/>
                <a:cs typeface="Arial" charset="0"/>
              </a:defRPr>
            </a:lvl4pPr>
            <a:lvl5pPr marL="2057400" indent="-228600">
              <a:defRPr>
                <a:solidFill>
                  <a:schemeClr val="tx1"/>
                </a:solidFill>
                <a:latin typeface="Calibri" charset="0"/>
                <a:ea typeface="Arial" charset="0"/>
                <a:cs typeface="Arial" charset="0"/>
              </a:defRPr>
            </a:lvl5pPr>
            <a:lvl6pPr marL="2514600" indent="-228600" fontAlgn="base">
              <a:spcBef>
                <a:spcPct val="0"/>
              </a:spcBef>
              <a:spcAft>
                <a:spcPct val="0"/>
              </a:spcAft>
              <a:defRPr>
                <a:solidFill>
                  <a:schemeClr val="tx1"/>
                </a:solidFill>
                <a:latin typeface="Calibri" charset="0"/>
                <a:ea typeface="Arial" charset="0"/>
                <a:cs typeface="Arial" charset="0"/>
              </a:defRPr>
            </a:lvl6pPr>
            <a:lvl7pPr marL="2971800" indent="-228600" fontAlgn="base">
              <a:spcBef>
                <a:spcPct val="0"/>
              </a:spcBef>
              <a:spcAft>
                <a:spcPct val="0"/>
              </a:spcAft>
              <a:defRPr>
                <a:solidFill>
                  <a:schemeClr val="tx1"/>
                </a:solidFill>
                <a:latin typeface="Calibri" charset="0"/>
                <a:ea typeface="Arial" charset="0"/>
                <a:cs typeface="Arial" charset="0"/>
              </a:defRPr>
            </a:lvl7pPr>
            <a:lvl8pPr marL="3429000" indent="-228600" fontAlgn="base">
              <a:spcBef>
                <a:spcPct val="0"/>
              </a:spcBef>
              <a:spcAft>
                <a:spcPct val="0"/>
              </a:spcAft>
              <a:defRPr>
                <a:solidFill>
                  <a:schemeClr val="tx1"/>
                </a:solidFill>
                <a:latin typeface="Calibri" charset="0"/>
                <a:ea typeface="Arial" charset="0"/>
                <a:cs typeface="Arial" charset="0"/>
              </a:defRPr>
            </a:lvl8pPr>
            <a:lvl9pPr marL="3886200" indent="-228600" fontAlgn="base">
              <a:spcBef>
                <a:spcPct val="0"/>
              </a:spcBef>
              <a:spcAft>
                <a:spcPct val="0"/>
              </a:spcAft>
              <a:defRPr>
                <a:solidFill>
                  <a:schemeClr val="tx1"/>
                </a:solidFill>
                <a:latin typeface="Calibri" charset="0"/>
                <a:ea typeface="Arial" charset="0"/>
                <a:cs typeface="Arial" charset="0"/>
              </a:defRPr>
            </a:lvl9pPr>
          </a:lstStyle>
          <a:p>
            <a:r>
              <a:rPr lang="en-US" sz="1200" dirty="0">
                <a:solidFill>
                  <a:srgbClr val="A6A6A6"/>
                </a:solidFill>
                <a:latin typeface="Arial" charset="0"/>
              </a:rPr>
              <a:t>5 - </a:t>
            </a:r>
            <a:fld id="{02DAD016-8EBF-CF47-ACE8-593B4CD31605}" type="slidenum">
              <a:rPr lang="en-US" sz="1200">
                <a:solidFill>
                  <a:srgbClr val="A6A6A6"/>
                </a:solidFill>
                <a:latin typeface="Arial" charset="0"/>
              </a:rPr>
              <a:pPr/>
              <a:t>‹#›</a:t>
            </a:fld>
            <a:endParaRPr lang="en-US" sz="1200" dirty="0">
              <a:solidFill>
                <a:srgbClr val="A6A6A6"/>
              </a:solidFill>
              <a:latin typeface="Arial" charset="0"/>
            </a:endParaRPr>
          </a:p>
        </p:txBody>
      </p:sp>
    </p:spTree>
    <p:extLst>
      <p:ext uri="{BB962C8B-B14F-4D97-AF65-F5344CB8AC3E}">
        <p14:creationId xmlns:p14="http://schemas.microsoft.com/office/powerpoint/2010/main" val="39823427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EF61DA-8CAF-D0D5-7314-A77CBABDA12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D46B1C6-0400-8A8B-4EA2-EF98570E699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0FA16D8-1564-C540-01F1-521D1299EE69}"/>
              </a:ext>
            </a:extLst>
          </p:cNvPr>
          <p:cNvSpPr>
            <a:spLocks noGrp="1"/>
          </p:cNvSpPr>
          <p:nvPr>
            <p:ph type="dt" sz="half" idx="10"/>
          </p:nvPr>
        </p:nvSpPr>
        <p:spPr/>
        <p:txBody>
          <a:bodyPr/>
          <a:lstStyle/>
          <a:p>
            <a:fld id="{A9DF6EFB-3F44-496C-A842-1E0B3D3B975A}" type="datetimeFigureOut">
              <a:rPr lang="en-US" smtClean="0"/>
              <a:pPr/>
              <a:t>12/29/24</a:t>
            </a:fld>
            <a:endParaRPr lang="en-US" dirty="0"/>
          </a:p>
        </p:txBody>
      </p:sp>
      <p:sp>
        <p:nvSpPr>
          <p:cNvPr id="5" name="Footer Placeholder 4">
            <a:extLst>
              <a:ext uri="{FF2B5EF4-FFF2-40B4-BE49-F238E27FC236}">
                <a16:creationId xmlns:a16="http://schemas.microsoft.com/office/drawing/2014/main" id="{B2445723-AECB-6A6B-A63D-EBBE01E11CB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B2FF04F-E267-AF5E-9AA1-D397B8C34A3A}"/>
              </a:ext>
            </a:extLst>
          </p:cNvPr>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35241471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FDDCEF-7EB8-B4A7-B5A6-0E0F54F1FA22}"/>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26DF73F8-8F45-8422-0924-D3F0F32A5090}"/>
              </a:ext>
            </a:extLst>
          </p:cNvPr>
          <p:cNvSpPr>
            <a:spLocks noGrp="1"/>
          </p:cNvSpPr>
          <p:nvPr>
            <p:ph type="body" idx="1"/>
          </p:nvPr>
        </p:nvSpPr>
        <p:spPr>
          <a:xfrm>
            <a:off x="623888" y="4589464"/>
            <a:ext cx="7886700" cy="150018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4368619-7981-782C-6E8B-B50B944B5E15}"/>
              </a:ext>
            </a:extLst>
          </p:cNvPr>
          <p:cNvSpPr>
            <a:spLocks noGrp="1"/>
          </p:cNvSpPr>
          <p:nvPr>
            <p:ph type="dt" sz="half" idx="10"/>
          </p:nvPr>
        </p:nvSpPr>
        <p:spPr/>
        <p:txBody>
          <a:bodyPr/>
          <a:lstStyle/>
          <a:p>
            <a:fld id="{A9DF6EFB-3F44-496C-A842-1E0B3D3B975A}" type="datetimeFigureOut">
              <a:rPr lang="en-US" smtClean="0"/>
              <a:t>12/29/24</a:t>
            </a:fld>
            <a:endParaRPr lang="en-US" dirty="0"/>
          </a:p>
        </p:txBody>
      </p:sp>
      <p:sp>
        <p:nvSpPr>
          <p:cNvPr id="5" name="Footer Placeholder 4">
            <a:extLst>
              <a:ext uri="{FF2B5EF4-FFF2-40B4-BE49-F238E27FC236}">
                <a16:creationId xmlns:a16="http://schemas.microsoft.com/office/drawing/2014/main" id="{5884CC8F-D80E-0EEE-D444-5C20E7E46FD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AA67221-1563-83C8-F29D-CF8F290A983B}"/>
              </a:ext>
            </a:extLst>
          </p:cNvPr>
          <p:cNvSpPr>
            <a:spLocks noGrp="1"/>
          </p:cNvSpPr>
          <p:nvPr>
            <p:ph type="sldNum" sz="quarter" idx="12"/>
          </p:nvPr>
        </p:nvSpPr>
        <p:spPr/>
        <p:txBody>
          <a:bodyPr/>
          <a:lstStyle/>
          <a:p>
            <a:fld id="{200B2350-5261-4F5C-9DF5-EF0D264FC8D2}" type="slidenum">
              <a:rPr lang="en-US" smtClean="0"/>
              <a:t>‹#›</a:t>
            </a:fld>
            <a:endParaRPr lang="en-US" dirty="0"/>
          </a:p>
        </p:txBody>
      </p:sp>
    </p:spTree>
    <p:extLst>
      <p:ext uri="{BB962C8B-B14F-4D97-AF65-F5344CB8AC3E}">
        <p14:creationId xmlns:p14="http://schemas.microsoft.com/office/powerpoint/2010/main" val="26821677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B04DBE-7E1A-AEFA-B58C-6D4E2C74372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2C3847F-7831-225B-C3C2-EEA0662A34FC}"/>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41F20B4-4896-2289-C691-CD7D716A8B4E}"/>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7C3846B-BB20-E3E4-F1A4-8E0CC0BD736F}"/>
              </a:ext>
            </a:extLst>
          </p:cNvPr>
          <p:cNvSpPr>
            <a:spLocks noGrp="1"/>
          </p:cNvSpPr>
          <p:nvPr>
            <p:ph type="dt" sz="half" idx="10"/>
          </p:nvPr>
        </p:nvSpPr>
        <p:spPr/>
        <p:txBody>
          <a:bodyPr/>
          <a:lstStyle/>
          <a:p>
            <a:fld id="{A9DF6EFB-3F44-496C-A842-1E0B3D3B975A}" type="datetimeFigureOut">
              <a:rPr lang="en-US" smtClean="0"/>
              <a:pPr/>
              <a:t>12/29/24</a:t>
            </a:fld>
            <a:endParaRPr lang="en-US" dirty="0"/>
          </a:p>
        </p:txBody>
      </p:sp>
      <p:sp>
        <p:nvSpPr>
          <p:cNvPr id="6" name="Footer Placeholder 5">
            <a:extLst>
              <a:ext uri="{FF2B5EF4-FFF2-40B4-BE49-F238E27FC236}">
                <a16:creationId xmlns:a16="http://schemas.microsoft.com/office/drawing/2014/main" id="{15DE7A17-EC17-F99A-0EAA-C72250FBB4B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A9DDFCB-8E61-199B-9B8E-552A0207C86E}"/>
              </a:ext>
            </a:extLst>
          </p:cNvPr>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5430762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B931B5-1AF8-D03C-397E-4F789FA64C7D}"/>
              </a:ext>
            </a:extLst>
          </p:cNvPr>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F308673-F258-0EEB-891B-1A85576F7F14}"/>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27D80525-B2F5-15F0-BE47-92A6CA3215D4}"/>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5BED739-681F-3F6D-8CF2-CDBE0CE12E3A}"/>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AA237D5D-3EF3-5B57-5811-EA37BEAB863E}"/>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BC8DF7C-7B3F-6975-5D82-C72ED655913E}"/>
              </a:ext>
            </a:extLst>
          </p:cNvPr>
          <p:cNvSpPr>
            <a:spLocks noGrp="1"/>
          </p:cNvSpPr>
          <p:nvPr>
            <p:ph type="dt" sz="half" idx="10"/>
          </p:nvPr>
        </p:nvSpPr>
        <p:spPr/>
        <p:txBody>
          <a:bodyPr/>
          <a:lstStyle/>
          <a:p>
            <a:fld id="{A9DF6EFB-3F44-496C-A842-1E0B3D3B975A}" type="datetimeFigureOut">
              <a:rPr lang="en-US" smtClean="0"/>
              <a:pPr/>
              <a:t>12/29/24</a:t>
            </a:fld>
            <a:endParaRPr lang="en-US" dirty="0"/>
          </a:p>
        </p:txBody>
      </p:sp>
      <p:sp>
        <p:nvSpPr>
          <p:cNvPr id="8" name="Footer Placeholder 7">
            <a:extLst>
              <a:ext uri="{FF2B5EF4-FFF2-40B4-BE49-F238E27FC236}">
                <a16:creationId xmlns:a16="http://schemas.microsoft.com/office/drawing/2014/main" id="{31E0EA46-AA31-78CC-E1BF-A63F399052DA}"/>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28B1AECA-86EB-36F7-F412-8E9E3BA81C96}"/>
              </a:ext>
            </a:extLst>
          </p:cNvPr>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4224202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784AF1-0A54-DC1C-2212-1C5FBD41C14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7ED2F4A-738F-9801-833C-CA79FFF2EAEE}"/>
              </a:ext>
            </a:extLst>
          </p:cNvPr>
          <p:cNvSpPr>
            <a:spLocks noGrp="1"/>
          </p:cNvSpPr>
          <p:nvPr>
            <p:ph type="dt" sz="half" idx="10"/>
          </p:nvPr>
        </p:nvSpPr>
        <p:spPr/>
        <p:txBody>
          <a:bodyPr/>
          <a:lstStyle/>
          <a:p>
            <a:fld id="{A9DF6EFB-3F44-496C-A842-1E0B3D3B975A}" type="datetimeFigureOut">
              <a:rPr lang="en-US" smtClean="0"/>
              <a:t>12/29/24</a:t>
            </a:fld>
            <a:endParaRPr lang="en-US" dirty="0"/>
          </a:p>
        </p:txBody>
      </p:sp>
      <p:sp>
        <p:nvSpPr>
          <p:cNvPr id="4" name="Footer Placeholder 3">
            <a:extLst>
              <a:ext uri="{FF2B5EF4-FFF2-40B4-BE49-F238E27FC236}">
                <a16:creationId xmlns:a16="http://schemas.microsoft.com/office/drawing/2014/main" id="{CAB31CB1-E0A1-7BBB-8623-D6A73BA01A9A}"/>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FA3890E7-6EEA-BA8A-30D3-45516A13464A}"/>
              </a:ext>
            </a:extLst>
          </p:cNvPr>
          <p:cNvSpPr>
            <a:spLocks noGrp="1"/>
          </p:cNvSpPr>
          <p:nvPr>
            <p:ph type="sldNum" sz="quarter" idx="12"/>
          </p:nvPr>
        </p:nvSpPr>
        <p:spPr/>
        <p:txBody>
          <a:bodyPr/>
          <a:lstStyle/>
          <a:p>
            <a:fld id="{200B2350-5261-4F5C-9DF5-EF0D264FC8D2}" type="slidenum">
              <a:rPr lang="en-US" smtClean="0"/>
              <a:t>‹#›</a:t>
            </a:fld>
            <a:endParaRPr lang="en-US" dirty="0"/>
          </a:p>
        </p:txBody>
      </p:sp>
    </p:spTree>
    <p:extLst>
      <p:ext uri="{BB962C8B-B14F-4D97-AF65-F5344CB8AC3E}">
        <p14:creationId xmlns:p14="http://schemas.microsoft.com/office/powerpoint/2010/main" val="4705765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DFDDAE8-AB3B-4759-01A3-413C0129ABD5}"/>
              </a:ext>
            </a:extLst>
          </p:cNvPr>
          <p:cNvSpPr>
            <a:spLocks noGrp="1"/>
          </p:cNvSpPr>
          <p:nvPr>
            <p:ph type="dt" sz="half" idx="10"/>
          </p:nvPr>
        </p:nvSpPr>
        <p:spPr/>
        <p:txBody>
          <a:bodyPr/>
          <a:lstStyle/>
          <a:p>
            <a:fld id="{A9DF6EFB-3F44-496C-A842-1E0B3D3B975A}" type="datetimeFigureOut">
              <a:rPr lang="en-US" smtClean="0"/>
              <a:pPr/>
              <a:t>12/29/24</a:t>
            </a:fld>
            <a:endParaRPr lang="en-US" dirty="0"/>
          </a:p>
        </p:txBody>
      </p:sp>
      <p:sp>
        <p:nvSpPr>
          <p:cNvPr id="3" name="Footer Placeholder 2">
            <a:extLst>
              <a:ext uri="{FF2B5EF4-FFF2-40B4-BE49-F238E27FC236}">
                <a16:creationId xmlns:a16="http://schemas.microsoft.com/office/drawing/2014/main" id="{30C98B8B-C0C0-1A91-BCD0-09515E2FB7F2}"/>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3636B4E1-86E0-2513-7004-EA4294E6C04D}"/>
              </a:ext>
            </a:extLst>
          </p:cNvPr>
          <p:cNvSpPr>
            <a:spLocks noGrp="1"/>
          </p:cNvSpPr>
          <p:nvPr>
            <p:ph type="sldNum" sz="quarter" idx="12"/>
          </p:nvPr>
        </p:nvSpPr>
        <p:spPr/>
        <p:txBody>
          <a:bodyPr/>
          <a:lstStyle/>
          <a:p>
            <a:fld id="{200B2350-5261-4F5C-9DF5-EF0D264FC8D2}" type="slidenum">
              <a:rPr lang="en-US" smtClean="0"/>
              <a:pPr/>
              <a:t>‹#›</a:t>
            </a:fld>
            <a:endParaRPr lang="en-US" dirty="0"/>
          </a:p>
        </p:txBody>
      </p:sp>
      <p:pic>
        <p:nvPicPr>
          <p:cNvPr id="5" name="Picture 4" descr="Pearson Logo">
            <a:extLst>
              <a:ext uri="{FF2B5EF4-FFF2-40B4-BE49-F238E27FC236}">
                <a16:creationId xmlns:a16="http://schemas.microsoft.com/office/drawing/2014/main" id="{EB39E100-22E5-0A6E-96F9-0953EA0E985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Tree>
    <p:extLst>
      <p:ext uri="{BB962C8B-B14F-4D97-AF65-F5344CB8AC3E}">
        <p14:creationId xmlns:p14="http://schemas.microsoft.com/office/powerpoint/2010/main" val="24067106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A5C9FF-99FF-F578-1F43-1CAD87DB214E}"/>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96DEF539-889F-BFF8-B369-7B9BCE25A735}"/>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07458CC-D689-6858-4D32-9CED858A98FA}"/>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3752ACFF-FD34-9894-47B1-01FBD826A37B}"/>
              </a:ext>
            </a:extLst>
          </p:cNvPr>
          <p:cNvSpPr>
            <a:spLocks noGrp="1"/>
          </p:cNvSpPr>
          <p:nvPr>
            <p:ph type="dt" sz="half" idx="10"/>
          </p:nvPr>
        </p:nvSpPr>
        <p:spPr/>
        <p:txBody>
          <a:bodyPr/>
          <a:lstStyle/>
          <a:p>
            <a:fld id="{A9DF6EFB-3F44-496C-A842-1E0B3D3B975A}" type="datetimeFigureOut">
              <a:rPr lang="en-US" smtClean="0"/>
              <a:pPr/>
              <a:t>12/29/24</a:t>
            </a:fld>
            <a:endParaRPr lang="en-US" dirty="0"/>
          </a:p>
        </p:txBody>
      </p:sp>
      <p:sp>
        <p:nvSpPr>
          <p:cNvPr id="6" name="Footer Placeholder 5">
            <a:extLst>
              <a:ext uri="{FF2B5EF4-FFF2-40B4-BE49-F238E27FC236}">
                <a16:creationId xmlns:a16="http://schemas.microsoft.com/office/drawing/2014/main" id="{B3C4D7BD-346D-11F4-CA96-4F06FBE2FB98}"/>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AE2F306-F1A9-5686-6F4E-755C102CFAC3}"/>
              </a:ext>
            </a:extLst>
          </p:cNvPr>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31926154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CDCA8-0000-4BB8-96A3-CCEA4EC6CBA8}"/>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BC907725-A1DB-BA15-C732-804C756B5C9F}"/>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A9036CA0-8BCD-FDF5-8B62-8FEC7EE0871C}"/>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2801F158-6383-C558-AAFC-D3E7A479904E}"/>
              </a:ext>
            </a:extLst>
          </p:cNvPr>
          <p:cNvSpPr>
            <a:spLocks noGrp="1"/>
          </p:cNvSpPr>
          <p:nvPr>
            <p:ph type="dt" sz="half" idx="10"/>
          </p:nvPr>
        </p:nvSpPr>
        <p:spPr/>
        <p:txBody>
          <a:bodyPr/>
          <a:lstStyle/>
          <a:p>
            <a:fld id="{A9DF6EFB-3F44-496C-A842-1E0B3D3B975A}" type="datetimeFigureOut">
              <a:rPr lang="en-US" smtClean="0"/>
              <a:pPr/>
              <a:t>12/29/24</a:t>
            </a:fld>
            <a:endParaRPr lang="en-US" dirty="0"/>
          </a:p>
        </p:txBody>
      </p:sp>
      <p:sp>
        <p:nvSpPr>
          <p:cNvPr id="6" name="Footer Placeholder 5">
            <a:extLst>
              <a:ext uri="{FF2B5EF4-FFF2-40B4-BE49-F238E27FC236}">
                <a16:creationId xmlns:a16="http://schemas.microsoft.com/office/drawing/2014/main" id="{5A4E7832-C0A2-5861-0D25-B1F3E92AFCB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99327C9-F866-DCF7-187F-6033F96AAC12}"/>
              </a:ext>
            </a:extLst>
          </p:cNvPr>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6172776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C77F3C-683A-6F9E-CEAE-4EE48C071DB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F1E2BD1-1E85-E51B-46A4-FB9A477AA7F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3C9B435-989C-AA3B-6443-CC1F1A4BD5B1}"/>
              </a:ext>
            </a:extLst>
          </p:cNvPr>
          <p:cNvSpPr>
            <a:spLocks noGrp="1"/>
          </p:cNvSpPr>
          <p:nvPr>
            <p:ph type="dt" sz="half" idx="10"/>
          </p:nvPr>
        </p:nvSpPr>
        <p:spPr/>
        <p:txBody>
          <a:bodyPr/>
          <a:lstStyle/>
          <a:p>
            <a:fld id="{A9DF6EFB-3F44-496C-A842-1E0B3D3B975A}" type="datetimeFigureOut">
              <a:rPr lang="en-US" smtClean="0"/>
              <a:pPr/>
              <a:t>12/29/24</a:t>
            </a:fld>
            <a:endParaRPr lang="en-US" dirty="0"/>
          </a:p>
        </p:txBody>
      </p:sp>
      <p:sp>
        <p:nvSpPr>
          <p:cNvPr id="5" name="Footer Placeholder 4">
            <a:extLst>
              <a:ext uri="{FF2B5EF4-FFF2-40B4-BE49-F238E27FC236}">
                <a16:creationId xmlns:a16="http://schemas.microsoft.com/office/drawing/2014/main" id="{77299A9B-2E13-B90C-DEF9-7791ABE9DB1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E4CFC08-8309-E170-1793-48744A90E810}"/>
              </a:ext>
            </a:extLst>
          </p:cNvPr>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25640614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18636A9-0797-45E8-5B3F-C878E0DE84FE}"/>
              </a:ext>
            </a:extLst>
          </p:cNvPr>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59FC3B6-2BE8-9405-06B0-33563452D0CA}"/>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E76B32E-482B-1C0D-0846-9037D9353C66}"/>
              </a:ext>
            </a:extLst>
          </p:cNvPr>
          <p:cNvSpPr>
            <a:spLocks noGrp="1"/>
          </p:cNvSpPr>
          <p:nvPr>
            <p:ph type="dt" sz="half" idx="10"/>
          </p:nvPr>
        </p:nvSpPr>
        <p:spPr/>
        <p:txBody>
          <a:bodyPr/>
          <a:lstStyle/>
          <a:p>
            <a:fld id="{A9DF6EFB-3F44-496C-A842-1E0B3D3B975A}" type="datetimeFigureOut">
              <a:rPr lang="en-US" smtClean="0"/>
              <a:pPr/>
              <a:t>12/29/24</a:t>
            </a:fld>
            <a:endParaRPr lang="en-US" dirty="0"/>
          </a:p>
        </p:txBody>
      </p:sp>
      <p:sp>
        <p:nvSpPr>
          <p:cNvPr id="5" name="Footer Placeholder 4">
            <a:extLst>
              <a:ext uri="{FF2B5EF4-FFF2-40B4-BE49-F238E27FC236}">
                <a16:creationId xmlns:a16="http://schemas.microsoft.com/office/drawing/2014/main" id="{CC0BF214-EE94-DB02-AF0A-539537081AD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BA6FABF-7C30-FBA5-A3D5-CFF7E38E4B59}"/>
              </a:ext>
            </a:extLst>
          </p:cNvPr>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90058449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6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t>12/29/24</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5" name="Picture Placeholder 4"/>
          <p:cNvSpPr>
            <a:spLocks noGrp="1"/>
          </p:cNvSpPr>
          <p:nvPr>
            <p:ph type="pic" sz="quarter" idx="14"/>
          </p:nvPr>
        </p:nvSpPr>
        <p:spPr>
          <a:xfrm>
            <a:off x="457200" y="3200400"/>
            <a:ext cx="8229600" cy="1295400"/>
          </a:xfrm>
        </p:spPr>
        <p:txBody>
          <a:bodyPr/>
          <a:lstStyle/>
          <a:p>
            <a:endParaRPr lang="en-IN"/>
          </a:p>
        </p:txBody>
      </p:sp>
    </p:spTree>
    <p:extLst>
      <p:ext uri="{BB962C8B-B14F-4D97-AF65-F5344CB8AC3E}">
        <p14:creationId xmlns:p14="http://schemas.microsoft.com/office/powerpoint/2010/main" val="10607016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4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1"/>
            <a:ext cx="8229600" cy="8382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47675" y="2771775"/>
            <a:ext cx="82296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t>12/29/24</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5" name="Content Placeholder 4"/>
          <p:cNvSpPr>
            <a:spLocks noGrp="1"/>
          </p:cNvSpPr>
          <p:nvPr>
            <p:ph sz="quarter" idx="14"/>
          </p:nvPr>
        </p:nvSpPr>
        <p:spPr>
          <a:xfrm>
            <a:off x="457200" y="3686175"/>
            <a:ext cx="8153400" cy="685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Content Placeholder 8"/>
          <p:cNvSpPr>
            <a:spLocks noGrp="1"/>
          </p:cNvSpPr>
          <p:nvPr>
            <p:ph sz="quarter" idx="15"/>
          </p:nvPr>
        </p:nvSpPr>
        <p:spPr>
          <a:xfrm>
            <a:off x="457200" y="5029200"/>
            <a:ext cx="8153400" cy="76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 name="Picture Placeholder 9"/>
          <p:cNvSpPr>
            <a:spLocks noGrp="1"/>
          </p:cNvSpPr>
          <p:nvPr>
            <p:ph type="pic" sz="quarter" idx="16"/>
          </p:nvPr>
        </p:nvSpPr>
        <p:spPr>
          <a:xfrm>
            <a:off x="457200" y="4419600"/>
            <a:ext cx="8229600" cy="990600"/>
          </a:xfrm>
        </p:spPr>
        <p:txBody>
          <a:bodyPr/>
          <a:lstStyle/>
          <a:p>
            <a:endParaRPr lang="en-IN"/>
          </a:p>
        </p:txBody>
      </p:sp>
    </p:spTree>
    <p:extLst>
      <p:ext uri="{BB962C8B-B14F-4D97-AF65-F5344CB8AC3E}">
        <p14:creationId xmlns:p14="http://schemas.microsoft.com/office/powerpoint/2010/main" val="95254598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1"/>
            <a:ext cx="82296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2362201"/>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t>12/29/24</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9" name="Content Placeholder 2"/>
          <p:cNvSpPr>
            <a:spLocks noGrp="1"/>
          </p:cNvSpPr>
          <p:nvPr>
            <p:ph idx="14"/>
          </p:nvPr>
        </p:nvSpPr>
        <p:spPr>
          <a:xfrm>
            <a:off x="457200" y="3048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idx="15"/>
          </p:nvPr>
        </p:nvSpPr>
        <p:spPr>
          <a:xfrm>
            <a:off x="457200" y="3810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p:cNvSpPr>
            <a:spLocks noGrp="1"/>
          </p:cNvSpPr>
          <p:nvPr>
            <p:ph idx="16"/>
          </p:nvPr>
        </p:nvSpPr>
        <p:spPr>
          <a:xfrm>
            <a:off x="457200" y="46482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p:cNvSpPr>
            <a:spLocks noGrp="1"/>
          </p:cNvSpPr>
          <p:nvPr>
            <p:ph idx="17"/>
          </p:nvPr>
        </p:nvSpPr>
        <p:spPr>
          <a:xfrm>
            <a:off x="609600" y="48006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03752063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itle + Learning Objectives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Learning Objectives Placeholder 6"/>
          <p:cNvSpPr>
            <a:spLocks noGrp="1"/>
          </p:cNvSpPr>
          <p:nvPr>
            <p:ph type="body" sz="quarter" idx="13" hasCustomPrompt="1"/>
          </p:nvPr>
        </p:nvSpPr>
        <p:spPr>
          <a:xfrm>
            <a:off x="457200" y="1092470"/>
            <a:ext cx="8229600" cy="402770"/>
          </a:xfrm>
        </p:spPr>
        <p:txBody>
          <a:bodyPr>
            <a:noAutofit/>
          </a:bodyPr>
          <a:lstStyle>
            <a:lvl1pPr marL="0" indent="0">
              <a:spcBef>
                <a:spcPts val="0"/>
              </a:spcBef>
              <a:buNone/>
              <a:defRPr sz="24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Click to add Learning Objective(s)</a:t>
            </a:r>
          </a:p>
        </p:txBody>
      </p:sp>
      <p:sp>
        <p:nvSpPr>
          <p:cNvPr id="9" name="Content Placeholder 8"/>
          <p:cNvSpPr>
            <a:spLocks noGrp="1"/>
          </p:cNvSpPr>
          <p:nvPr>
            <p:ph sz="quarter" idx="14"/>
          </p:nvPr>
        </p:nvSpPr>
        <p:spPr>
          <a:xfrm>
            <a:off x="457200" y="1600200"/>
            <a:ext cx="8229600" cy="4525963"/>
          </a:xfrm>
        </p:spPr>
        <p:txBody>
          <a:bodyPr/>
          <a:lstStyle>
            <a:lvl5pP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2" name="Footer Placeholder 2"/>
          <p:cNvSpPr>
            <a:spLocks noGrp="1"/>
          </p:cNvSpPr>
          <p:nvPr>
            <p:ph type="ftr" sz="quarter" idx="10"/>
          </p:nvPr>
        </p:nvSpPr>
        <p:spPr>
          <a:xfrm>
            <a:off x="93969" y="6172200"/>
            <a:ext cx="8595360" cy="235463"/>
          </a:xfrm>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12/29/24</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03792720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7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t>12/29/24</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9" name="Content Placeholder 2"/>
          <p:cNvSpPr>
            <a:spLocks noGrp="1"/>
          </p:cNvSpPr>
          <p:nvPr>
            <p:ph idx="14"/>
          </p:nvPr>
        </p:nvSpPr>
        <p:spPr>
          <a:xfrm>
            <a:off x="609600" y="41148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5"/>
          </p:nvPr>
        </p:nvSpPr>
        <p:spPr>
          <a:xfrm>
            <a:off x="609600" y="1371600"/>
            <a:ext cx="8077200" cy="5334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Text Placeholder 11"/>
          <p:cNvSpPr>
            <a:spLocks noGrp="1"/>
          </p:cNvSpPr>
          <p:nvPr>
            <p:ph type="body" sz="quarter" idx="16"/>
          </p:nvPr>
        </p:nvSpPr>
        <p:spPr>
          <a:xfrm>
            <a:off x="685800" y="2133600"/>
            <a:ext cx="7772400" cy="685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4" name="Picture Placeholder 13"/>
          <p:cNvSpPr>
            <a:spLocks noGrp="1"/>
          </p:cNvSpPr>
          <p:nvPr>
            <p:ph type="pic" sz="quarter" idx="17"/>
          </p:nvPr>
        </p:nvSpPr>
        <p:spPr>
          <a:xfrm>
            <a:off x="762000" y="3505200"/>
            <a:ext cx="7467600" cy="685800"/>
          </a:xfrm>
        </p:spPr>
        <p:txBody>
          <a:bodyPr/>
          <a:lstStyle/>
          <a:p>
            <a:endParaRPr lang="en-IN"/>
          </a:p>
        </p:txBody>
      </p:sp>
      <p:sp>
        <p:nvSpPr>
          <p:cNvPr id="16" name="Picture Placeholder 15"/>
          <p:cNvSpPr>
            <a:spLocks noGrp="1"/>
          </p:cNvSpPr>
          <p:nvPr>
            <p:ph type="pic" sz="quarter" idx="18"/>
          </p:nvPr>
        </p:nvSpPr>
        <p:spPr>
          <a:xfrm>
            <a:off x="1066800" y="4648200"/>
            <a:ext cx="7467600" cy="685800"/>
          </a:xfrm>
        </p:spPr>
        <p:txBody>
          <a:bodyPr/>
          <a:lstStyle/>
          <a:p>
            <a:endParaRPr lang="en-IN"/>
          </a:p>
        </p:txBody>
      </p:sp>
    </p:spTree>
    <p:extLst>
      <p:ext uri="{BB962C8B-B14F-4D97-AF65-F5344CB8AC3E}">
        <p14:creationId xmlns:p14="http://schemas.microsoft.com/office/powerpoint/2010/main" val="168166691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t>12/29/24</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Tree>
    <p:extLst>
      <p:ext uri="{BB962C8B-B14F-4D97-AF65-F5344CB8AC3E}">
        <p14:creationId xmlns:p14="http://schemas.microsoft.com/office/powerpoint/2010/main" val="93370786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Learning Objective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lvl1pPr marL="180975" indent="-180975">
              <a:buClr>
                <a:srgbClr val="007FA3"/>
              </a:buClr>
              <a:buSzPct val="100000"/>
              <a:defRPr sz="2600"/>
            </a:lvl1pPr>
            <a:lvl2pPr marL="569913" indent="-285750">
              <a:buClr>
                <a:srgbClr val="007FA3"/>
              </a:buClr>
              <a:defRPr sz="2400"/>
            </a:lvl2pPr>
            <a:lvl3pPr>
              <a:buClr>
                <a:srgbClr val="007FA3"/>
              </a:buClr>
              <a:defRPr sz="2200"/>
            </a:lvl3pPr>
            <a:lvl4pPr>
              <a:buClr>
                <a:srgbClr val="007FA3"/>
              </a:buClr>
              <a:defRPr sz="2000"/>
            </a:lvl4pPr>
            <a:lvl5pPr>
              <a:buClr>
                <a:srgbClr val="007FA3"/>
              </a:buClr>
              <a:defRPr sz="1800"/>
            </a:lvl5pPr>
            <a:lvl6pPr>
              <a:buClr>
                <a:srgbClr val="007FA3"/>
              </a:buClr>
              <a:defRPr sz="1600"/>
            </a:lvl6pPr>
            <a:lvl7pPr>
              <a:buClr>
                <a:srgbClr val="007FA3"/>
              </a:buClr>
              <a:defRPr sz="1600"/>
            </a:lvl7pPr>
            <a:lvl8pPr>
              <a:buClr>
                <a:srgbClr val="007FA3"/>
              </a:buClr>
              <a:defRPr sz="1600"/>
            </a:lvl8pPr>
            <a:lvl9pPr>
              <a:buClr>
                <a:srgbClr val="007FA3"/>
              </a:buCl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0"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t>12/29/24</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Tree>
    <p:extLst>
      <p:ext uri="{BB962C8B-B14F-4D97-AF65-F5344CB8AC3E}">
        <p14:creationId xmlns:p14="http://schemas.microsoft.com/office/powerpoint/2010/main" val="121597285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pic">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t>12/29/24</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5" name="Picture Placeholder 4"/>
          <p:cNvSpPr>
            <a:spLocks noGrp="1"/>
          </p:cNvSpPr>
          <p:nvPr>
            <p:ph type="pic" sz="quarter" idx="14"/>
          </p:nvPr>
        </p:nvSpPr>
        <p:spPr>
          <a:xfrm>
            <a:off x="457200" y="3124200"/>
            <a:ext cx="8229600" cy="609600"/>
          </a:xfrm>
        </p:spPr>
        <p:txBody>
          <a:bodyPr/>
          <a:lstStyle/>
          <a:p>
            <a:endParaRPr lang="en-IN"/>
          </a:p>
        </p:txBody>
      </p:sp>
    </p:spTree>
    <p:extLst>
      <p:ext uri="{BB962C8B-B14F-4D97-AF65-F5344CB8AC3E}">
        <p14:creationId xmlns:p14="http://schemas.microsoft.com/office/powerpoint/2010/main" val="283823111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3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t>12/29/24</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9" name="Content Placeholder 2"/>
          <p:cNvSpPr>
            <a:spLocks noGrp="1"/>
          </p:cNvSpPr>
          <p:nvPr>
            <p:ph idx="14"/>
          </p:nvPr>
        </p:nvSpPr>
        <p:spPr>
          <a:xfrm>
            <a:off x="609600" y="41148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28396189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Chapter Opener">
    <p:spTree>
      <p:nvGrpSpPr>
        <p:cNvPr id="1" name=""/>
        <p:cNvGrpSpPr/>
        <p:nvPr/>
      </p:nvGrpSpPr>
      <p:grpSpPr>
        <a:xfrm>
          <a:off x="0" y="0"/>
          <a:ext cx="0" cy="0"/>
          <a:chOff x="0" y="0"/>
          <a:chExt cx="0" cy="0"/>
        </a:xfrm>
      </p:grpSpPr>
      <p:sp>
        <p:nvSpPr>
          <p:cNvPr id="11" name="Title 10"/>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Text Placeholder 6"/>
          <p:cNvSpPr>
            <a:spLocks noGrp="1"/>
          </p:cNvSpPr>
          <p:nvPr>
            <p:ph type="body" sz="quarter" idx="13" hasCustomPrompt="1"/>
          </p:nvPr>
        </p:nvSpPr>
        <p:spPr>
          <a:xfrm>
            <a:off x="457200" y="816430"/>
            <a:ext cx="8229600" cy="478970"/>
          </a:xfrm>
        </p:spPr>
        <p:txBody>
          <a:bodyPr>
            <a:noAutofit/>
          </a:bodyPr>
          <a:lstStyle>
            <a:lvl1pPr marL="0" indent="0">
              <a:spcBef>
                <a:spcPts val="0"/>
              </a:spcBef>
              <a:buNone/>
              <a:defRPr sz="20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Add edition here</a:t>
            </a:r>
          </a:p>
        </p:txBody>
      </p:sp>
      <p:sp>
        <p:nvSpPr>
          <p:cNvPr id="9" name="Text Placeholder 8"/>
          <p:cNvSpPr>
            <a:spLocks noGrp="1"/>
          </p:cNvSpPr>
          <p:nvPr>
            <p:ph type="body" sz="quarter" idx="14" hasCustomPrompt="1"/>
          </p:nvPr>
        </p:nvSpPr>
        <p:spPr>
          <a:xfrm>
            <a:off x="5029200" y="1600201"/>
            <a:ext cx="3657600" cy="1600199"/>
          </a:xfrm>
        </p:spPr>
        <p:txBody>
          <a:bodyPr anchor="b">
            <a:noAutofit/>
          </a:bodyPr>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a:t>Chapter ##</a:t>
            </a:r>
          </a:p>
        </p:txBody>
      </p:sp>
      <p:sp>
        <p:nvSpPr>
          <p:cNvPr id="10" name="Text Placeholder 8"/>
          <p:cNvSpPr>
            <a:spLocks noGrp="1"/>
          </p:cNvSpPr>
          <p:nvPr>
            <p:ph type="body" sz="quarter" idx="15" hasCustomPrompt="1"/>
          </p:nvPr>
        </p:nvSpPr>
        <p:spPr>
          <a:xfrm>
            <a:off x="5029200" y="3200400"/>
            <a:ext cx="3657600" cy="2925763"/>
          </a:xfrm>
        </p:spPr>
        <p:txBody>
          <a:bodyPr>
            <a:noAutofit/>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a:t>Chapter title</a:t>
            </a:r>
          </a:p>
        </p:txBody>
      </p:sp>
      <p:sp>
        <p:nvSpPr>
          <p:cNvPr id="16" name="Footer Placeholder 2"/>
          <p:cNvSpPr>
            <a:spLocks noGrp="1"/>
          </p:cNvSpPr>
          <p:nvPr>
            <p:ph type="ftr" sz="quarter" idx="10"/>
          </p:nvPr>
        </p:nvSpPr>
        <p:spPr>
          <a:xfrm>
            <a:off x="93969" y="6165337"/>
            <a:ext cx="8595360" cy="235463"/>
          </a:xfrm>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12/29/24</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pic>
        <p:nvPicPr>
          <p:cNvPr id="13" name="Picture 12"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Tree>
    <p:extLst>
      <p:ext uri="{BB962C8B-B14F-4D97-AF65-F5344CB8AC3E}">
        <p14:creationId xmlns:p14="http://schemas.microsoft.com/office/powerpoint/2010/main" val="298106283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lvl1pPr>
              <a:defRPr sz="3400">
                <a:latin typeface="+mj-lt"/>
              </a:defRPr>
            </a:lvl1pPr>
          </a:lstStyle>
          <a:p>
            <a:r>
              <a:rPr lang="en-US" dirty="0"/>
              <a:t>Click to edit Master title style</a:t>
            </a:r>
          </a:p>
        </p:txBody>
      </p:sp>
      <p:sp>
        <p:nvSpPr>
          <p:cNvPr id="3" name="Content Placeholder 2"/>
          <p:cNvSpPr>
            <a:spLocks noGrp="1"/>
          </p:cNvSpPr>
          <p:nvPr>
            <p:ph idx="1"/>
          </p:nvPr>
        </p:nvSpPr>
        <p:spPr/>
        <p:txBody>
          <a:bodyPr/>
          <a:lstStyle>
            <a:lvl1pPr>
              <a:buClr>
                <a:srgbClr val="007FA3"/>
              </a:buClr>
              <a:buSzPct val="100000"/>
              <a:defRPr/>
            </a:lvl1pPr>
            <a:lvl2pPr>
              <a:buClr>
                <a:srgbClr val="007FA3"/>
              </a:buClr>
              <a:defRPr/>
            </a:lvl2pPr>
            <a:lvl3pPr>
              <a:buClr>
                <a:srgbClr val="007FA3"/>
              </a:buClr>
              <a:defRPr/>
            </a:lvl3pPr>
            <a:lvl4pPr>
              <a:buClr>
                <a:srgbClr val="007FA3"/>
              </a:buClr>
              <a:defRPr/>
            </a:lvl4pPr>
            <a:lvl5pPr>
              <a:buClr>
                <a:srgbClr val="007FA3"/>
              </a:buClr>
              <a:defRPr/>
            </a:lvl5pPr>
            <a:lvl6pPr>
              <a:buClr>
                <a:srgbClr val="007FA3"/>
              </a:buClr>
              <a:defRPr/>
            </a:lvl6pPr>
            <a:lvl7pPr>
              <a:buClr>
                <a:srgbClr val="007FA3"/>
              </a:buClr>
              <a:defRPr/>
            </a:lvl7pPr>
            <a:lvl8pPr>
              <a:buClr>
                <a:srgbClr val="007FA3"/>
              </a:buClr>
              <a:defRPr/>
            </a:lvl8pPr>
            <a:lvl9pPr>
              <a:buClr>
                <a:srgbClr val="007FA3"/>
              </a:buCl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6" name="Footer Placeholder 4"/>
          <p:cNvSpPr>
            <a:spLocks noGrp="1"/>
          </p:cNvSpPr>
          <p:nvPr>
            <p:ph type="ftr" sz="quarter" idx="11"/>
          </p:nvPr>
        </p:nvSpPr>
        <p:spPr>
          <a:xfrm>
            <a:off x="93969" y="6172200"/>
            <a:ext cx="8595360" cy="235463"/>
          </a:xfrm>
        </p:spPr>
        <p:txBody>
          <a:bodyPr/>
          <a:lstStyle/>
          <a:p>
            <a:endParaRPr lang="en-US" dirty="0"/>
          </a:p>
        </p:txBody>
      </p:sp>
      <p:sp>
        <p:nvSpPr>
          <p:cNvPr id="9" name="Date Placeholder 3"/>
          <p:cNvSpPr>
            <a:spLocks noGrp="1"/>
          </p:cNvSpPr>
          <p:nvPr>
            <p:ph type="dt" sz="half" idx="10"/>
          </p:nvPr>
        </p:nvSpPr>
        <p:spPr>
          <a:xfrm>
            <a:off x="6335713" y="113072"/>
            <a:ext cx="2133600" cy="182880"/>
          </a:xfrm>
        </p:spPr>
        <p:txBody>
          <a:bodyPr/>
          <a:lstStyle/>
          <a:p>
            <a:fld id="{A9DF6EFB-3F44-496C-A842-1E0B3D3B975A}" type="datetimeFigureOut">
              <a:rPr lang="en-US" smtClean="0"/>
              <a:pPr/>
              <a:t>12/29/24</a:t>
            </a:fld>
            <a:endParaRPr lang="en-US" dirty="0"/>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21090934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Figure + Caption">
    <p:spTree>
      <p:nvGrpSpPr>
        <p:cNvPr id="1" name=""/>
        <p:cNvGrpSpPr/>
        <p:nvPr/>
      </p:nvGrpSpPr>
      <p:grpSpPr>
        <a:xfrm>
          <a:off x="0" y="0"/>
          <a:ext cx="0" cy="0"/>
          <a:chOff x="0" y="0"/>
          <a:chExt cx="0" cy="0"/>
        </a:xfrm>
      </p:grpSpPr>
      <p:sp>
        <p:nvSpPr>
          <p:cNvPr id="8" name="Title 7"/>
          <p:cNvSpPr>
            <a:spLocks noGrp="1"/>
          </p:cNvSpPr>
          <p:nvPr>
            <p:ph type="title" hasCustomPrompt="1"/>
          </p:nvPr>
        </p:nvSpPr>
        <p:spPr>
          <a:xfrm>
            <a:off x="457200" y="228600"/>
            <a:ext cx="8229600" cy="1066800"/>
          </a:xfrm>
        </p:spPr>
        <p:txBody>
          <a:bodyPr anchor="t"/>
          <a:lstStyle>
            <a:lvl1pPr>
              <a:defRPr sz="3400">
                <a:solidFill>
                  <a:srgbClr val="007FA3"/>
                </a:solidFill>
              </a:defRPr>
            </a:lvl1pPr>
          </a:lstStyle>
          <a:p>
            <a:r>
              <a:rPr lang="en-US" dirty="0"/>
              <a:t>Click to add figure number and title</a:t>
            </a:r>
          </a:p>
        </p:txBody>
      </p:sp>
      <p:sp>
        <p:nvSpPr>
          <p:cNvPr id="10" name="Text Placeholder 9"/>
          <p:cNvSpPr>
            <a:spLocks noGrp="1"/>
          </p:cNvSpPr>
          <p:nvPr>
            <p:ph type="body" sz="quarter" idx="13" hasCustomPrompt="1"/>
          </p:nvPr>
        </p:nvSpPr>
        <p:spPr>
          <a:xfrm>
            <a:off x="457200" y="5368160"/>
            <a:ext cx="8229600" cy="916856"/>
          </a:xfrm>
        </p:spPr>
        <p:txBody>
          <a:bodyPr anchor="b"/>
          <a:lstStyle>
            <a:lvl1pPr marL="0" indent="0">
              <a:spcBef>
                <a:spcPts val="0"/>
              </a:spcBef>
              <a:buNone/>
              <a:defRPr sz="800"/>
            </a:lvl1pPr>
            <a:lvl2pPr marL="0" indent="0">
              <a:spcBef>
                <a:spcPts val="0"/>
              </a:spcBef>
              <a:buNone/>
              <a:defRPr sz="1600"/>
            </a:lvl2pPr>
            <a:lvl3pPr marL="0" indent="0">
              <a:spcBef>
                <a:spcPts val="0"/>
              </a:spcBef>
              <a:buNone/>
              <a:defRPr sz="1600"/>
            </a:lvl3pPr>
            <a:lvl4pPr marL="0" indent="0">
              <a:spcBef>
                <a:spcPts val="0"/>
              </a:spcBef>
              <a:buNone/>
              <a:defRPr sz="1600"/>
            </a:lvl4pPr>
            <a:lvl5pPr marL="0" indent="0">
              <a:spcBef>
                <a:spcPts val="0"/>
              </a:spcBef>
              <a:buNone/>
              <a:defRPr sz="1600"/>
            </a:lvl5pPr>
            <a:lvl6pPr marL="0" indent="0">
              <a:spcBef>
                <a:spcPts val="0"/>
              </a:spcBef>
              <a:buNone/>
              <a:defRPr sz="1600"/>
            </a:lvl6pPr>
            <a:lvl7pPr marL="0" indent="0">
              <a:spcBef>
                <a:spcPts val="0"/>
              </a:spcBef>
              <a:buNone/>
              <a:defRPr sz="1600"/>
            </a:lvl7pPr>
            <a:lvl8pPr marL="0" indent="0">
              <a:spcBef>
                <a:spcPts val="0"/>
              </a:spcBef>
              <a:buNone/>
              <a:defRPr sz="1600"/>
            </a:lvl8pPr>
            <a:lvl9pPr marL="0" indent="0">
              <a:spcBef>
                <a:spcPts val="0"/>
              </a:spcBef>
              <a:buNone/>
              <a:defRPr sz="1600"/>
            </a:lvl9pPr>
          </a:lstStyle>
          <a:p>
            <a:pPr lvl="0"/>
            <a:r>
              <a:rPr lang="en-US" dirty="0"/>
              <a:t>Click to add caption</a:t>
            </a:r>
          </a:p>
        </p:txBody>
      </p:sp>
      <p:sp>
        <p:nvSpPr>
          <p:cNvPr id="11" name="Footer Placeholder 2"/>
          <p:cNvSpPr>
            <a:spLocks noGrp="1"/>
          </p:cNvSpPr>
          <p:nvPr>
            <p:ph type="ftr" sz="quarter" idx="11"/>
          </p:nvPr>
        </p:nvSpPr>
        <p:spPr>
          <a:xfrm>
            <a:off x="93969" y="6172200"/>
            <a:ext cx="8595360" cy="235463"/>
          </a:xfr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12/29/24</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13" name="Picture 12"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
        <p:nvSpPr>
          <p:cNvPr id="3" name="TextBox 2">
            <a:extLst>
              <a:ext uri="{FF2B5EF4-FFF2-40B4-BE49-F238E27FC236}">
                <a16:creationId xmlns:a16="http://schemas.microsoft.com/office/drawing/2014/main" id="{20D19820-818F-7B58-8502-AE2301A7F1AC}"/>
              </a:ext>
            </a:extLst>
          </p:cNvPr>
          <p:cNvSpPr txBox="1"/>
          <p:nvPr userDrawn="1"/>
        </p:nvSpPr>
        <p:spPr>
          <a:xfrm>
            <a:off x="1502228" y="6429974"/>
            <a:ext cx="6172200" cy="276999"/>
          </a:xfrm>
          <a:prstGeom prst="rect">
            <a:avLst/>
          </a:prstGeom>
          <a:noFill/>
        </p:spPr>
        <p:txBody>
          <a:bodyPr wrap="square" rtlCol="0">
            <a:spAutoFit/>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en-US" sz="1200" b="0" kern="1200" dirty="0">
                <a:solidFill>
                  <a:schemeClr val="tx1"/>
                </a:solidFill>
                <a:latin typeface="Verdana"/>
                <a:ea typeface="Verdana" panose="020B0604030504040204" pitchFamily="34" charset="0"/>
                <a:cs typeface="Verdana" panose="020B0604030504040204" pitchFamily="34" charset="0"/>
              </a:rPr>
              <a:t>Copyright © 2024 Pearson Canada Inc.</a:t>
            </a:r>
          </a:p>
        </p:txBody>
      </p:sp>
      <p:sp>
        <p:nvSpPr>
          <p:cNvPr id="5" name="TextBox 4">
            <a:extLst>
              <a:ext uri="{FF2B5EF4-FFF2-40B4-BE49-F238E27FC236}">
                <a16:creationId xmlns:a16="http://schemas.microsoft.com/office/drawing/2014/main" id="{9B91BDF6-E41B-564E-D5E8-B4240E21EF06}"/>
              </a:ext>
            </a:extLst>
          </p:cNvPr>
          <p:cNvSpPr txBox="1"/>
          <p:nvPr userDrawn="1"/>
        </p:nvSpPr>
        <p:spPr>
          <a:xfrm>
            <a:off x="8015565" y="6417107"/>
            <a:ext cx="595035" cy="276999"/>
          </a:xfrm>
          <a:prstGeom prst="rect">
            <a:avLst/>
          </a:prstGeom>
          <a:noFill/>
        </p:spPr>
        <p:txBody>
          <a:bodyPr wrap="none">
            <a:spAutoFit/>
          </a:bodyPr>
          <a:lstStyle>
            <a:lvl1pPr>
              <a:defRPr>
                <a:solidFill>
                  <a:schemeClr val="tx1"/>
                </a:solidFill>
                <a:latin typeface="Calibri" charset="0"/>
                <a:ea typeface="ＭＳ Ｐゴシック" charset="0"/>
                <a:cs typeface="Arial" charset="0"/>
              </a:defRPr>
            </a:lvl1pPr>
            <a:lvl2pPr marL="742950" indent="-285750">
              <a:defRPr>
                <a:solidFill>
                  <a:schemeClr val="tx1"/>
                </a:solidFill>
                <a:latin typeface="Calibri" charset="0"/>
                <a:ea typeface="Arial" charset="0"/>
                <a:cs typeface="Arial" charset="0"/>
              </a:defRPr>
            </a:lvl2pPr>
            <a:lvl3pPr marL="1143000" indent="-228600">
              <a:defRPr>
                <a:solidFill>
                  <a:schemeClr val="tx1"/>
                </a:solidFill>
                <a:latin typeface="Calibri" charset="0"/>
                <a:ea typeface="Arial" charset="0"/>
                <a:cs typeface="Arial" charset="0"/>
              </a:defRPr>
            </a:lvl3pPr>
            <a:lvl4pPr marL="1600200" indent="-228600">
              <a:defRPr>
                <a:solidFill>
                  <a:schemeClr val="tx1"/>
                </a:solidFill>
                <a:latin typeface="Calibri" charset="0"/>
                <a:ea typeface="Arial" charset="0"/>
                <a:cs typeface="Arial" charset="0"/>
              </a:defRPr>
            </a:lvl4pPr>
            <a:lvl5pPr marL="2057400" indent="-228600">
              <a:defRPr>
                <a:solidFill>
                  <a:schemeClr val="tx1"/>
                </a:solidFill>
                <a:latin typeface="Calibri" charset="0"/>
                <a:ea typeface="Arial" charset="0"/>
                <a:cs typeface="Arial" charset="0"/>
              </a:defRPr>
            </a:lvl5pPr>
            <a:lvl6pPr marL="2514600" indent="-228600" fontAlgn="base">
              <a:spcBef>
                <a:spcPct val="0"/>
              </a:spcBef>
              <a:spcAft>
                <a:spcPct val="0"/>
              </a:spcAft>
              <a:defRPr>
                <a:solidFill>
                  <a:schemeClr val="tx1"/>
                </a:solidFill>
                <a:latin typeface="Calibri" charset="0"/>
                <a:ea typeface="Arial" charset="0"/>
                <a:cs typeface="Arial" charset="0"/>
              </a:defRPr>
            </a:lvl6pPr>
            <a:lvl7pPr marL="2971800" indent="-228600" fontAlgn="base">
              <a:spcBef>
                <a:spcPct val="0"/>
              </a:spcBef>
              <a:spcAft>
                <a:spcPct val="0"/>
              </a:spcAft>
              <a:defRPr>
                <a:solidFill>
                  <a:schemeClr val="tx1"/>
                </a:solidFill>
                <a:latin typeface="Calibri" charset="0"/>
                <a:ea typeface="Arial" charset="0"/>
                <a:cs typeface="Arial" charset="0"/>
              </a:defRPr>
            </a:lvl7pPr>
            <a:lvl8pPr marL="3429000" indent="-228600" fontAlgn="base">
              <a:spcBef>
                <a:spcPct val="0"/>
              </a:spcBef>
              <a:spcAft>
                <a:spcPct val="0"/>
              </a:spcAft>
              <a:defRPr>
                <a:solidFill>
                  <a:schemeClr val="tx1"/>
                </a:solidFill>
                <a:latin typeface="Calibri" charset="0"/>
                <a:ea typeface="Arial" charset="0"/>
                <a:cs typeface="Arial" charset="0"/>
              </a:defRPr>
            </a:lvl8pPr>
            <a:lvl9pPr marL="3886200" indent="-228600" fontAlgn="base">
              <a:spcBef>
                <a:spcPct val="0"/>
              </a:spcBef>
              <a:spcAft>
                <a:spcPct val="0"/>
              </a:spcAft>
              <a:defRPr>
                <a:solidFill>
                  <a:schemeClr val="tx1"/>
                </a:solidFill>
                <a:latin typeface="Calibri" charset="0"/>
                <a:ea typeface="Arial" charset="0"/>
                <a:cs typeface="Arial" charset="0"/>
              </a:defRPr>
            </a:lvl9pPr>
          </a:lstStyle>
          <a:p>
            <a:r>
              <a:rPr lang="en-US" sz="1200" dirty="0">
                <a:solidFill>
                  <a:srgbClr val="A6A6A6"/>
                </a:solidFill>
                <a:latin typeface="Arial" charset="0"/>
              </a:rPr>
              <a:t>5 - </a:t>
            </a:r>
            <a:fld id="{02DAD016-8EBF-CF47-ACE8-593B4CD31605}" type="slidenum">
              <a:rPr lang="en-US" sz="1200">
                <a:solidFill>
                  <a:srgbClr val="A6A6A6"/>
                </a:solidFill>
                <a:latin typeface="Arial" charset="0"/>
              </a:rPr>
              <a:pPr/>
              <a:t>‹#›</a:t>
            </a:fld>
            <a:endParaRPr lang="en-US" sz="1200" dirty="0">
              <a:solidFill>
                <a:srgbClr val="A6A6A6"/>
              </a:solidFill>
              <a:latin typeface="Arial" charset="0"/>
            </a:endParaRPr>
          </a:p>
        </p:txBody>
      </p:sp>
    </p:spTree>
    <p:extLst>
      <p:ext uri="{BB962C8B-B14F-4D97-AF65-F5344CB8AC3E}">
        <p14:creationId xmlns:p14="http://schemas.microsoft.com/office/powerpoint/2010/main" val="220379609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1"/>
            <a:ext cx="82296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2362201"/>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t>12/29/24</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9" name="Content Placeholder 2"/>
          <p:cNvSpPr>
            <a:spLocks noGrp="1"/>
          </p:cNvSpPr>
          <p:nvPr>
            <p:ph idx="14"/>
          </p:nvPr>
        </p:nvSpPr>
        <p:spPr>
          <a:xfrm>
            <a:off x="457200" y="3048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idx="15"/>
          </p:nvPr>
        </p:nvSpPr>
        <p:spPr>
          <a:xfrm>
            <a:off x="457200" y="3810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p:cNvSpPr>
            <a:spLocks noGrp="1"/>
          </p:cNvSpPr>
          <p:nvPr>
            <p:ph idx="16"/>
          </p:nvPr>
        </p:nvSpPr>
        <p:spPr>
          <a:xfrm>
            <a:off x="457200" y="46482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p:cNvSpPr>
            <a:spLocks noGrp="1"/>
          </p:cNvSpPr>
          <p:nvPr>
            <p:ph idx="17"/>
          </p:nvPr>
        </p:nvSpPr>
        <p:spPr>
          <a:xfrm>
            <a:off x="609600" y="48006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2"/>
          <p:cNvSpPr>
            <a:spLocks noGrp="1"/>
          </p:cNvSpPr>
          <p:nvPr>
            <p:ph idx="18"/>
          </p:nvPr>
        </p:nvSpPr>
        <p:spPr>
          <a:xfrm>
            <a:off x="762000" y="4953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2"/>
          <p:cNvSpPr>
            <a:spLocks noGrp="1"/>
          </p:cNvSpPr>
          <p:nvPr>
            <p:ph idx="19"/>
          </p:nvPr>
        </p:nvSpPr>
        <p:spPr>
          <a:xfrm>
            <a:off x="914400" y="51054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2"/>
          <p:cNvSpPr>
            <a:spLocks noGrp="1"/>
          </p:cNvSpPr>
          <p:nvPr>
            <p:ph idx="20"/>
          </p:nvPr>
        </p:nvSpPr>
        <p:spPr>
          <a:xfrm>
            <a:off x="1066800" y="52578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idx="21"/>
          </p:nvPr>
        </p:nvSpPr>
        <p:spPr>
          <a:xfrm>
            <a:off x="1219200" y="54102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2"/>
          <p:cNvSpPr>
            <a:spLocks noGrp="1"/>
          </p:cNvSpPr>
          <p:nvPr>
            <p:ph idx="22"/>
          </p:nvPr>
        </p:nvSpPr>
        <p:spPr>
          <a:xfrm>
            <a:off x="1371600" y="55626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Content Placeholder 2"/>
          <p:cNvSpPr>
            <a:spLocks noGrp="1"/>
          </p:cNvSpPr>
          <p:nvPr>
            <p:ph idx="23"/>
          </p:nvPr>
        </p:nvSpPr>
        <p:spPr>
          <a:xfrm>
            <a:off x="1524000" y="5715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22596762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4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1"/>
            <a:ext cx="8229600" cy="8382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47675" y="3048000"/>
            <a:ext cx="82296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t>12/29/24</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5" name="Content Placeholder 4"/>
          <p:cNvSpPr>
            <a:spLocks noGrp="1"/>
          </p:cNvSpPr>
          <p:nvPr>
            <p:ph sz="quarter" idx="14"/>
          </p:nvPr>
        </p:nvSpPr>
        <p:spPr>
          <a:xfrm>
            <a:off x="457200" y="4495800"/>
            <a:ext cx="8153400" cy="685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205802611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5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1"/>
            <a:ext cx="8229600" cy="8382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47675" y="2771775"/>
            <a:ext cx="82296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t>12/29/24</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5" name="Content Placeholder 4"/>
          <p:cNvSpPr>
            <a:spLocks noGrp="1"/>
          </p:cNvSpPr>
          <p:nvPr>
            <p:ph sz="quarter" idx="14"/>
          </p:nvPr>
        </p:nvSpPr>
        <p:spPr>
          <a:xfrm>
            <a:off x="457200" y="3686175"/>
            <a:ext cx="8153400" cy="685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Content Placeholder 8"/>
          <p:cNvSpPr>
            <a:spLocks noGrp="1"/>
          </p:cNvSpPr>
          <p:nvPr>
            <p:ph sz="quarter" idx="15"/>
          </p:nvPr>
        </p:nvSpPr>
        <p:spPr>
          <a:xfrm>
            <a:off x="457200" y="5029200"/>
            <a:ext cx="8153400" cy="76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183635170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Click to edit Master title style</a:t>
            </a:r>
          </a:p>
        </p:txBody>
      </p:sp>
      <p:sp>
        <p:nvSpPr>
          <p:cNvPr id="9" name="Footer Placeholder 3"/>
          <p:cNvSpPr>
            <a:spLocks noGrp="1"/>
          </p:cNvSpPr>
          <p:nvPr>
            <p:ph type="ftr" sz="quarter" idx="11"/>
          </p:nvPr>
        </p:nvSpPr>
        <p:spPr>
          <a:xfrm>
            <a:off x="93969" y="6172200"/>
            <a:ext cx="8595360" cy="235463"/>
          </a:xfrm>
        </p:spPr>
        <p:txBody>
          <a:bodyPr/>
          <a:lstStyle/>
          <a:p>
            <a:endParaRPr lang="en-US" dirty="0"/>
          </a:p>
        </p:txBody>
      </p:sp>
      <p:sp>
        <p:nvSpPr>
          <p:cNvPr id="3" name="Date Placeholder 2"/>
          <p:cNvSpPr>
            <a:spLocks noGrp="1"/>
          </p:cNvSpPr>
          <p:nvPr>
            <p:ph type="dt" sz="half" idx="10"/>
          </p:nvPr>
        </p:nvSpPr>
        <p:spPr/>
        <p:txBody>
          <a:bodyPr/>
          <a:lstStyle/>
          <a:p>
            <a:fld id="{A9DF6EFB-3F44-496C-A842-1E0B3D3B975A}" type="datetimeFigureOut">
              <a:rPr lang="en-US" smtClean="0"/>
              <a:t>12/29/24</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t>‹#›</a:t>
            </a:fld>
            <a:endParaRPr lang="en-US" dirty="0"/>
          </a:p>
        </p:txBody>
      </p:sp>
    </p:spTree>
    <p:extLst>
      <p:ext uri="{BB962C8B-B14F-4D97-AF65-F5344CB8AC3E}">
        <p14:creationId xmlns:p14="http://schemas.microsoft.com/office/powerpoint/2010/main" val="185512659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1_Blank">
    <p:spTree>
      <p:nvGrpSpPr>
        <p:cNvPr id="1" name=""/>
        <p:cNvGrpSpPr/>
        <p:nvPr/>
      </p:nvGrpSpPr>
      <p:grpSpPr>
        <a:xfrm>
          <a:off x="0" y="0"/>
          <a:ext cx="0" cy="0"/>
          <a:chOff x="0" y="0"/>
          <a:chExt cx="0" cy="0"/>
        </a:xfrm>
      </p:grpSpPr>
      <p:sp>
        <p:nvSpPr>
          <p:cNvPr id="8" name="Footer Placeholder 2"/>
          <p:cNvSpPr>
            <a:spLocks noGrp="1"/>
          </p:cNvSpPr>
          <p:nvPr>
            <p:ph type="ftr" sz="quarter" idx="11"/>
          </p:nvPr>
        </p:nvSpPr>
        <p:spPr>
          <a:xfrm>
            <a:off x="93969" y="6172200"/>
            <a:ext cx="8595360" cy="235463"/>
          </a:xfr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12/29/24</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11" name="Picture 10"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Tree>
    <p:extLst>
      <p:ext uri="{BB962C8B-B14F-4D97-AF65-F5344CB8AC3E}">
        <p14:creationId xmlns:p14="http://schemas.microsoft.com/office/powerpoint/2010/main" val="371113668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3_Figure + Caption">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14F033AD-BE5C-406D-991C-6AC56003E70C}"/>
              </a:ext>
            </a:extLst>
          </p:cNvPr>
          <p:cNvSpPr>
            <a:spLocks noGrp="1"/>
          </p:cNvSpPr>
          <p:nvPr>
            <p:ph type="title" hasCustomPrompt="1"/>
          </p:nvPr>
        </p:nvSpPr>
        <p:spPr/>
        <p:txBody>
          <a:bodyPr/>
          <a:lstStyle>
            <a:lvl1pPr>
              <a:defRPr sz="3600">
                <a:latin typeface="+mj-lt"/>
              </a:defRPr>
            </a:lvl1pPr>
          </a:lstStyle>
          <a:p>
            <a:r>
              <a:rPr lang="en-US" dirty="0"/>
              <a:t>Click to add figure number and title</a:t>
            </a:r>
          </a:p>
        </p:txBody>
      </p:sp>
      <p:sp>
        <p:nvSpPr>
          <p:cNvPr id="12" name="Content Placeholder 11">
            <a:extLst>
              <a:ext uri="{FF2B5EF4-FFF2-40B4-BE49-F238E27FC236}">
                <a16:creationId xmlns:a16="http://schemas.microsoft.com/office/drawing/2014/main" id="{5CAF3FDC-1BE7-4A19-A3D7-02B55407B90B}"/>
              </a:ext>
            </a:extLst>
          </p:cNvPr>
          <p:cNvSpPr>
            <a:spLocks noGrp="1"/>
          </p:cNvSpPr>
          <p:nvPr>
            <p:ph sz="quarter" idx="15"/>
          </p:nvPr>
        </p:nvSpPr>
        <p:spPr>
          <a:xfrm>
            <a:off x="457200" y="1558412"/>
            <a:ext cx="4360460" cy="3754437"/>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9E6B7D3D-89C9-4133-8D8A-D779EB3D311D}"/>
              </a:ext>
            </a:extLst>
          </p:cNvPr>
          <p:cNvSpPr>
            <a:spLocks noGrp="1"/>
          </p:cNvSpPr>
          <p:nvPr>
            <p:ph sz="quarter" idx="13" hasCustomPrompt="1"/>
          </p:nvPr>
        </p:nvSpPr>
        <p:spPr>
          <a:xfrm>
            <a:off x="5008728" y="1558412"/>
            <a:ext cx="3678072" cy="3754437"/>
          </a:xfrm>
        </p:spPr>
        <p:txBody>
          <a:bodyPr/>
          <a:lstStyle>
            <a:lvl1pPr>
              <a:defRPr/>
            </a:lvl1pPr>
          </a:lstStyle>
          <a:p>
            <a:pPr lvl="0"/>
            <a:r>
              <a:rPr lang="en-US" dirty="0"/>
              <a:t>Figure</a:t>
            </a:r>
          </a:p>
        </p:txBody>
      </p:sp>
      <p:sp>
        <p:nvSpPr>
          <p:cNvPr id="8" name="Content Placeholder 7">
            <a:extLst>
              <a:ext uri="{FF2B5EF4-FFF2-40B4-BE49-F238E27FC236}">
                <a16:creationId xmlns:a16="http://schemas.microsoft.com/office/drawing/2014/main" id="{BF40E849-7663-4A75-9BC8-012C23AC44DF}"/>
              </a:ext>
            </a:extLst>
          </p:cNvPr>
          <p:cNvSpPr>
            <a:spLocks noGrp="1"/>
          </p:cNvSpPr>
          <p:nvPr>
            <p:ph sz="quarter" idx="14" hasCustomPrompt="1"/>
          </p:nvPr>
        </p:nvSpPr>
        <p:spPr>
          <a:xfrm>
            <a:off x="457200" y="5420799"/>
            <a:ext cx="8229600" cy="533400"/>
          </a:xfrm>
        </p:spPr>
        <p:txBody>
          <a:bodyPr/>
          <a:lstStyle>
            <a:lvl1pPr>
              <a:defRPr/>
            </a:lvl1pPr>
          </a:lstStyle>
          <a:p>
            <a:pPr lvl="0"/>
            <a:r>
              <a:rPr lang="en-US" dirty="0"/>
              <a:t>Caption</a:t>
            </a:r>
          </a:p>
        </p:txBody>
      </p:sp>
      <p:sp>
        <p:nvSpPr>
          <p:cNvPr id="3" name="Date Placeholder 2">
            <a:extLst>
              <a:ext uri="{FF2B5EF4-FFF2-40B4-BE49-F238E27FC236}">
                <a16:creationId xmlns:a16="http://schemas.microsoft.com/office/drawing/2014/main" id="{A50D4E5D-00F7-4DC6-9BB0-713B8A0DA354}"/>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18AF4094-2296-458C-908A-D778D0DF5AF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41274926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image" Target="../media/image1.emf"/><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9A976C3-CCF4-41AE-2756-AF2E0B1C641E}"/>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F745C23-BBA8-99C5-36D5-E3C7D4CF9953}"/>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42E0331-81B0-D7D6-7A4F-9EB7B27F6EBB}"/>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82000"/>
                  </a:schemeClr>
                </a:solidFill>
              </a:defRPr>
            </a:lvl1pPr>
          </a:lstStyle>
          <a:p>
            <a:fld id="{A9DF6EFB-3F44-496C-A842-1E0B3D3B975A}" type="datetimeFigureOut">
              <a:rPr lang="en-US" smtClean="0"/>
              <a:pPr/>
              <a:t>12/29/24</a:t>
            </a:fld>
            <a:endParaRPr lang="en-US" dirty="0"/>
          </a:p>
        </p:txBody>
      </p:sp>
      <p:sp>
        <p:nvSpPr>
          <p:cNvPr id="5" name="Footer Placeholder 4">
            <a:extLst>
              <a:ext uri="{FF2B5EF4-FFF2-40B4-BE49-F238E27FC236}">
                <a16:creationId xmlns:a16="http://schemas.microsoft.com/office/drawing/2014/main" id="{A91DA835-D6F5-4D98-C381-A1E9AC542842}"/>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dirty="0"/>
          </a:p>
        </p:txBody>
      </p:sp>
      <p:sp>
        <p:nvSpPr>
          <p:cNvPr id="6" name="Slide Number Placeholder 5">
            <a:extLst>
              <a:ext uri="{FF2B5EF4-FFF2-40B4-BE49-F238E27FC236}">
                <a16:creationId xmlns:a16="http://schemas.microsoft.com/office/drawing/2014/main" id="{9A993788-E333-3429-8FF8-7583FECFAE25}"/>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82000"/>
                  </a:schemeClr>
                </a:solidFill>
              </a:defRPr>
            </a:lvl1pPr>
          </a:lstStyle>
          <a:p>
            <a:fld id="{200B2350-5261-4F5C-9DF5-EF0D264FC8D2}" type="slidenum">
              <a:rPr lang="en-US" smtClean="0"/>
              <a:pPr/>
              <a:t>‹#›</a:t>
            </a:fld>
            <a:endParaRPr lang="en-US" dirty="0"/>
          </a:p>
        </p:txBody>
      </p:sp>
      <p:pic>
        <p:nvPicPr>
          <p:cNvPr id="7" name="Picture 6" descr="Pearson Logo">
            <a:extLst>
              <a:ext uri="{FF2B5EF4-FFF2-40B4-BE49-F238E27FC236}">
                <a16:creationId xmlns:a16="http://schemas.microsoft.com/office/drawing/2014/main" id="{BF088D72-495D-B8ED-C70E-BA4CAFAD17FB}"/>
              </a:ext>
            </a:extLst>
          </p:cNvPr>
          <p:cNvPicPr>
            <a:picLocks noChangeAspect="1"/>
          </p:cNvPicPr>
          <p:nvPr userDrawn="1"/>
        </p:nvPicPr>
        <p:blipFill>
          <a:blip r:embed="rId31"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
        <p:nvSpPr>
          <p:cNvPr id="8" name="TextBox 7">
            <a:extLst>
              <a:ext uri="{FF2B5EF4-FFF2-40B4-BE49-F238E27FC236}">
                <a16:creationId xmlns:a16="http://schemas.microsoft.com/office/drawing/2014/main" id="{044526CC-033C-EC07-2336-462A1C2D8DB2}"/>
              </a:ext>
            </a:extLst>
          </p:cNvPr>
          <p:cNvSpPr txBox="1"/>
          <p:nvPr userDrawn="1"/>
        </p:nvSpPr>
        <p:spPr>
          <a:xfrm>
            <a:off x="8015565" y="6417107"/>
            <a:ext cx="595035" cy="276999"/>
          </a:xfrm>
          <a:prstGeom prst="rect">
            <a:avLst/>
          </a:prstGeom>
          <a:noFill/>
        </p:spPr>
        <p:txBody>
          <a:bodyPr wrap="none">
            <a:spAutoFit/>
          </a:bodyPr>
          <a:lstStyle>
            <a:lvl1pPr>
              <a:defRPr>
                <a:solidFill>
                  <a:schemeClr val="tx1"/>
                </a:solidFill>
                <a:latin typeface="Calibri" charset="0"/>
                <a:ea typeface="ＭＳ Ｐゴシック" charset="0"/>
                <a:cs typeface="Arial" charset="0"/>
              </a:defRPr>
            </a:lvl1pPr>
            <a:lvl2pPr marL="742950" indent="-285750">
              <a:defRPr>
                <a:solidFill>
                  <a:schemeClr val="tx1"/>
                </a:solidFill>
                <a:latin typeface="Calibri" charset="0"/>
                <a:ea typeface="Arial" charset="0"/>
                <a:cs typeface="Arial" charset="0"/>
              </a:defRPr>
            </a:lvl2pPr>
            <a:lvl3pPr marL="1143000" indent="-228600">
              <a:defRPr>
                <a:solidFill>
                  <a:schemeClr val="tx1"/>
                </a:solidFill>
                <a:latin typeface="Calibri" charset="0"/>
                <a:ea typeface="Arial" charset="0"/>
                <a:cs typeface="Arial" charset="0"/>
              </a:defRPr>
            </a:lvl3pPr>
            <a:lvl4pPr marL="1600200" indent="-228600">
              <a:defRPr>
                <a:solidFill>
                  <a:schemeClr val="tx1"/>
                </a:solidFill>
                <a:latin typeface="Calibri" charset="0"/>
                <a:ea typeface="Arial" charset="0"/>
                <a:cs typeface="Arial" charset="0"/>
              </a:defRPr>
            </a:lvl4pPr>
            <a:lvl5pPr marL="2057400" indent="-228600">
              <a:defRPr>
                <a:solidFill>
                  <a:schemeClr val="tx1"/>
                </a:solidFill>
                <a:latin typeface="Calibri" charset="0"/>
                <a:ea typeface="Arial" charset="0"/>
                <a:cs typeface="Arial" charset="0"/>
              </a:defRPr>
            </a:lvl5pPr>
            <a:lvl6pPr marL="2514600" indent="-228600" fontAlgn="base">
              <a:spcBef>
                <a:spcPct val="0"/>
              </a:spcBef>
              <a:spcAft>
                <a:spcPct val="0"/>
              </a:spcAft>
              <a:defRPr>
                <a:solidFill>
                  <a:schemeClr val="tx1"/>
                </a:solidFill>
                <a:latin typeface="Calibri" charset="0"/>
                <a:ea typeface="Arial" charset="0"/>
                <a:cs typeface="Arial" charset="0"/>
              </a:defRPr>
            </a:lvl6pPr>
            <a:lvl7pPr marL="2971800" indent="-228600" fontAlgn="base">
              <a:spcBef>
                <a:spcPct val="0"/>
              </a:spcBef>
              <a:spcAft>
                <a:spcPct val="0"/>
              </a:spcAft>
              <a:defRPr>
                <a:solidFill>
                  <a:schemeClr val="tx1"/>
                </a:solidFill>
                <a:latin typeface="Calibri" charset="0"/>
                <a:ea typeface="Arial" charset="0"/>
                <a:cs typeface="Arial" charset="0"/>
              </a:defRPr>
            </a:lvl7pPr>
            <a:lvl8pPr marL="3429000" indent="-228600" fontAlgn="base">
              <a:spcBef>
                <a:spcPct val="0"/>
              </a:spcBef>
              <a:spcAft>
                <a:spcPct val="0"/>
              </a:spcAft>
              <a:defRPr>
                <a:solidFill>
                  <a:schemeClr val="tx1"/>
                </a:solidFill>
                <a:latin typeface="Calibri" charset="0"/>
                <a:ea typeface="Arial" charset="0"/>
                <a:cs typeface="Arial" charset="0"/>
              </a:defRPr>
            </a:lvl8pPr>
            <a:lvl9pPr marL="3886200" indent="-228600" fontAlgn="base">
              <a:spcBef>
                <a:spcPct val="0"/>
              </a:spcBef>
              <a:spcAft>
                <a:spcPct val="0"/>
              </a:spcAft>
              <a:defRPr>
                <a:solidFill>
                  <a:schemeClr val="tx1"/>
                </a:solidFill>
                <a:latin typeface="Calibri" charset="0"/>
                <a:ea typeface="Arial" charset="0"/>
                <a:cs typeface="Arial" charset="0"/>
              </a:defRPr>
            </a:lvl9pPr>
          </a:lstStyle>
          <a:p>
            <a:r>
              <a:rPr lang="en-US" sz="1200" dirty="0">
                <a:solidFill>
                  <a:srgbClr val="A6A6A6"/>
                </a:solidFill>
                <a:latin typeface="Arial" charset="0"/>
              </a:rPr>
              <a:t>5 - </a:t>
            </a:r>
            <a:fld id="{02DAD016-8EBF-CF47-ACE8-593B4CD31605}" type="slidenum">
              <a:rPr lang="en-US" sz="1200">
                <a:solidFill>
                  <a:srgbClr val="A6A6A6"/>
                </a:solidFill>
                <a:latin typeface="Arial" charset="0"/>
              </a:rPr>
              <a:pPr/>
              <a:t>‹#›</a:t>
            </a:fld>
            <a:endParaRPr lang="en-US" sz="1200" dirty="0">
              <a:solidFill>
                <a:srgbClr val="A6A6A6"/>
              </a:solidFill>
              <a:latin typeface="Arial" charset="0"/>
            </a:endParaRPr>
          </a:p>
        </p:txBody>
      </p:sp>
      <p:sp>
        <p:nvSpPr>
          <p:cNvPr id="9" name="TextBox 8">
            <a:extLst>
              <a:ext uri="{FF2B5EF4-FFF2-40B4-BE49-F238E27FC236}">
                <a16:creationId xmlns:a16="http://schemas.microsoft.com/office/drawing/2014/main" id="{9E2BDEBF-CE30-85A8-FD75-9F6CB7A7ED8E}"/>
              </a:ext>
            </a:extLst>
          </p:cNvPr>
          <p:cNvSpPr txBox="1"/>
          <p:nvPr userDrawn="1"/>
        </p:nvSpPr>
        <p:spPr>
          <a:xfrm>
            <a:off x="1502228" y="6429974"/>
            <a:ext cx="6172200" cy="276999"/>
          </a:xfrm>
          <a:prstGeom prst="rect">
            <a:avLst/>
          </a:prstGeom>
          <a:noFill/>
        </p:spPr>
        <p:txBody>
          <a:bodyPr wrap="square" rtlCol="0">
            <a:spAutoFit/>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en-US" sz="1200" b="0" kern="1200" dirty="0">
                <a:solidFill>
                  <a:schemeClr val="tx1"/>
                </a:solidFill>
                <a:latin typeface="Verdana"/>
                <a:ea typeface="Verdana" panose="020B0604030504040204" pitchFamily="34" charset="0"/>
                <a:cs typeface="Verdana" panose="020B0604030504040204" pitchFamily="34" charset="0"/>
              </a:rPr>
              <a:t>Copyright © 2024 Pearson Canada Inc.</a:t>
            </a:r>
          </a:p>
        </p:txBody>
      </p:sp>
    </p:spTree>
    <p:extLst>
      <p:ext uri="{BB962C8B-B14F-4D97-AF65-F5344CB8AC3E}">
        <p14:creationId xmlns:p14="http://schemas.microsoft.com/office/powerpoint/2010/main" val="2336783288"/>
      </p:ext>
    </p:extLst>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 id="2147483688" r:id="rId12"/>
    <p:sldLayoutId id="2147483689" r:id="rId13"/>
    <p:sldLayoutId id="2147483690" r:id="rId14"/>
    <p:sldLayoutId id="2147483691" r:id="rId15"/>
    <p:sldLayoutId id="2147483692" r:id="rId16"/>
    <p:sldLayoutId id="2147483693" r:id="rId17"/>
    <p:sldLayoutId id="2147483694" r:id="rId18"/>
    <p:sldLayoutId id="2147483695" r:id="rId19"/>
    <p:sldLayoutId id="2147483696" r:id="rId20"/>
    <p:sldLayoutId id="2147483657" r:id="rId21"/>
    <p:sldLayoutId id="2147483650" r:id="rId22"/>
    <p:sldLayoutId id="2147483658" r:id="rId23"/>
    <p:sldLayoutId id="2147483662" r:id="rId24"/>
    <p:sldLayoutId id="2147483665" r:id="rId25"/>
    <p:sldLayoutId id="2147483666" r:id="rId26"/>
    <p:sldLayoutId id="2147483654" r:id="rId27"/>
    <p:sldLayoutId id="2147483655" r:id="rId28"/>
    <p:sldLayoutId id="2147483674" r:id="rId29"/>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7.xml"/><Relationship Id="rId1" Type="http://schemas.openxmlformats.org/officeDocument/2006/relationships/slideLayout" Target="../slideLayouts/slideLayout13.xml"/><Relationship Id="rId6" Type="http://schemas.openxmlformats.org/officeDocument/2006/relationships/image" Target="../media/image4.wmf"/><Relationship Id="rId5" Type="http://schemas.openxmlformats.org/officeDocument/2006/relationships/oleObject" Target="../embeddings/oleObject2.bin"/><Relationship Id="rId4" Type="http://schemas.openxmlformats.org/officeDocument/2006/relationships/image" Target="../media/image3.wmf"/></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8.xml"/><Relationship Id="rId1" Type="http://schemas.openxmlformats.org/officeDocument/2006/relationships/slideLayout" Target="../slideLayouts/slideLayout14.xml"/><Relationship Id="rId5" Type="http://schemas.openxmlformats.org/officeDocument/2006/relationships/image" Target="../media/image6.jpeg"/><Relationship Id="rId4" Type="http://schemas.openxmlformats.org/officeDocument/2006/relationships/image" Target="../media/image5.wmf"/></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3.xml"/><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8.xml"/></Relationships>
</file>

<file path=ppt/slides/_rels/slide30.xml.rels><?xml version="1.0" encoding="UTF-8" standalone="yes"?>
<Relationships xmlns="http://schemas.openxmlformats.org/package/2006/relationships"><Relationship Id="rId8" Type="http://schemas.openxmlformats.org/officeDocument/2006/relationships/oleObject" Target="../embeddings/oleObject6.bin"/><Relationship Id="rId3" Type="http://schemas.openxmlformats.org/officeDocument/2006/relationships/image" Target="../media/image10.jpg"/><Relationship Id="rId7" Type="http://schemas.openxmlformats.org/officeDocument/2006/relationships/image" Target="../media/image12.wmf"/><Relationship Id="rId2" Type="http://schemas.openxmlformats.org/officeDocument/2006/relationships/notesSlide" Target="../notesSlides/notesSlide30.xml"/><Relationship Id="rId1" Type="http://schemas.openxmlformats.org/officeDocument/2006/relationships/slideLayout" Target="../slideLayouts/slideLayout19.xml"/><Relationship Id="rId6" Type="http://schemas.openxmlformats.org/officeDocument/2006/relationships/oleObject" Target="../embeddings/oleObject5.bin"/><Relationship Id="rId5" Type="http://schemas.openxmlformats.org/officeDocument/2006/relationships/image" Target="../media/image11.wmf"/><Relationship Id="rId4" Type="http://schemas.openxmlformats.org/officeDocument/2006/relationships/oleObject" Target="../embeddings/oleObject4.bin"/><Relationship Id="rId9" Type="http://schemas.openxmlformats.org/officeDocument/2006/relationships/image" Target="../media/image13.wmf"/></Relationships>
</file>

<file path=ppt/slides/_rels/slide31.xml.rels><?xml version="1.0" encoding="UTF-8" standalone="yes"?>
<Relationships xmlns="http://schemas.openxmlformats.org/package/2006/relationships"><Relationship Id="rId8" Type="http://schemas.openxmlformats.org/officeDocument/2006/relationships/image" Target="../media/image13.wmf"/><Relationship Id="rId3" Type="http://schemas.openxmlformats.org/officeDocument/2006/relationships/oleObject" Target="../embeddings/oleObject7.bin"/><Relationship Id="rId7" Type="http://schemas.openxmlformats.org/officeDocument/2006/relationships/oleObject" Target="../embeddings/oleObject9.bin"/><Relationship Id="rId2" Type="http://schemas.openxmlformats.org/officeDocument/2006/relationships/notesSlide" Target="../notesSlides/notesSlide31.xml"/><Relationship Id="rId1" Type="http://schemas.openxmlformats.org/officeDocument/2006/relationships/slideLayout" Target="../slideLayouts/slideLayout20.xml"/><Relationship Id="rId6" Type="http://schemas.openxmlformats.org/officeDocument/2006/relationships/image" Target="../media/image12.wmf"/><Relationship Id="rId5" Type="http://schemas.openxmlformats.org/officeDocument/2006/relationships/oleObject" Target="../embeddings/oleObject8.bin"/><Relationship Id="rId10" Type="http://schemas.openxmlformats.org/officeDocument/2006/relationships/image" Target="../media/image15.wmf"/><Relationship Id="rId4" Type="http://schemas.openxmlformats.org/officeDocument/2006/relationships/image" Target="../media/image14.wmf"/><Relationship Id="rId9" Type="http://schemas.openxmlformats.org/officeDocument/2006/relationships/oleObject" Target="../embeddings/oleObject10.bin"/></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5.xml"/></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notesSlide" Target="../notesSlides/notesSlide36.xml"/><Relationship Id="rId1" Type="http://schemas.openxmlformats.org/officeDocument/2006/relationships/slideLayout" Target="../slideLayouts/slideLayout17.xml"/><Relationship Id="rId4" Type="http://schemas.openxmlformats.org/officeDocument/2006/relationships/image" Target="../media/image16.wmf"/></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 name="Title 17">
            <a:extLst>
              <a:ext uri="{FF2B5EF4-FFF2-40B4-BE49-F238E27FC236}">
                <a16:creationId xmlns:a16="http://schemas.microsoft.com/office/drawing/2014/main" id="{5B717E13-2DC1-2D7C-F70D-0D5A20A704A5}"/>
              </a:ext>
            </a:extLst>
          </p:cNvPr>
          <p:cNvSpPr>
            <a:spLocks noGrp="1"/>
          </p:cNvSpPr>
          <p:nvPr>
            <p:ph type="ctrTitle"/>
          </p:nvPr>
        </p:nvSpPr>
        <p:spPr>
          <a:xfrm>
            <a:off x="685800" y="838201"/>
            <a:ext cx="7772400" cy="1828800"/>
          </a:xfrm>
        </p:spPr>
        <p:txBody>
          <a:bodyPr/>
          <a:lstStyle/>
          <a:p>
            <a:r>
              <a:rPr lang="en-US" dirty="0"/>
              <a:t>Macroeconomics</a:t>
            </a:r>
            <a:br>
              <a:rPr lang="en-US" dirty="0"/>
            </a:br>
            <a:r>
              <a:rPr lang="en-US" sz="2800" dirty="0"/>
              <a:t>ECON 101</a:t>
            </a:r>
          </a:p>
        </p:txBody>
      </p:sp>
      <p:sp>
        <p:nvSpPr>
          <p:cNvPr id="19" name="Subtitle 18">
            <a:extLst>
              <a:ext uri="{FF2B5EF4-FFF2-40B4-BE49-F238E27FC236}">
                <a16:creationId xmlns:a16="http://schemas.microsoft.com/office/drawing/2014/main" id="{ACC0129F-CDA1-6FA5-0D96-CB850EA55C5E}"/>
              </a:ext>
            </a:extLst>
          </p:cNvPr>
          <p:cNvSpPr>
            <a:spLocks noGrp="1"/>
          </p:cNvSpPr>
          <p:nvPr>
            <p:ph type="subTitle" idx="1"/>
          </p:nvPr>
        </p:nvSpPr>
        <p:spPr>
          <a:xfrm>
            <a:off x="304800" y="3276600"/>
            <a:ext cx="8305800" cy="1981200"/>
          </a:xfrm>
        </p:spPr>
        <p:txBody>
          <a:bodyPr>
            <a:normAutofit/>
          </a:bodyPr>
          <a:lstStyle/>
          <a:p>
            <a:r>
              <a:rPr lang="en-US" sz="2400" dirty="0"/>
              <a:t>Unemployment and Inflation</a:t>
            </a:r>
          </a:p>
          <a:p>
            <a:r>
              <a:rPr lang="en-US" dirty="0"/>
              <a:t>(Chapter 5)</a:t>
            </a:r>
          </a:p>
          <a:p>
            <a:endParaRPr lang="en-US" dirty="0"/>
          </a:p>
          <a:p>
            <a:r>
              <a:rPr lang="en-US" dirty="0"/>
              <a:t>Instructor: </a:t>
            </a:r>
            <a:r>
              <a:rPr lang="en-US" dirty="0" err="1"/>
              <a:t>Muhebullah</a:t>
            </a:r>
            <a:r>
              <a:rPr lang="en-US" dirty="0"/>
              <a:t> </a:t>
            </a:r>
            <a:r>
              <a:rPr lang="en-US" dirty="0" err="1"/>
              <a:t>Karimzada</a:t>
            </a:r>
            <a:endParaRPr lang="en-US" dirty="0"/>
          </a:p>
        </p:txBody>
      </p:sp>
    </p:spTree>
    <p:extLst>
      <p:ext uri="{BB962C8B-B14F-4D97-AF65-F5344CB8AC3E}">
        <p14:creationId xmlns:p14="http://schemas.microsoft.com/office/powerpoint/2010/main" val="28221911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06533"/>
            <a:ext cx="8229600" cy="523220"/>
          </a:xfrm>
        </p:spPr>
        <p:txBody>
          <a:bodyPr wrap="square">
            <a:spAutoFit/>
          </a:bodyPr>
          <a:lstStyle/>
          <a:p>
            <a:r>
              <a:rPr lang="en-US" dirty="0">
                <a:latin typeface="+mj-lt"/>
              </a:rPr>
              <a:t>Chapter Outline</a:t>
            </a:r>
          </a:p>
        </p:txBody>
      </p:sp>
      <p:sp>
        <p:nvSpPr>
          <p:cNvPr id="3" name="Content Placeholder 2"/>
          <p:cNvSpPr>
            <a:spLocks noGrp="1"/>
          </p:cNvSpPr>
          <p:nvPr>
            <p:ph idx="1"/>
          </p:nvPr>
        </p:nvSpPr>
        <p:spPr>
          <a:xfrm>
            <a:off x="457200" y="914400"/>
            <a:ext cx="3810001" cy="5029200"/>
          </a:xfrm>
        </p:spPr>
        <p:txBody>
          <a:bodyPr wrap="square">
            <a:noAutofit/>
          </a:bodyPr>
          <a:lstStyle/>
          <a:p>
            <a:pPr marL="449263" indent="-449263">
              <a:buNone/>
            </a:pPr>
            <a:r>
              <a:rPr lang="en-US" sz="2000" b="1" dirty="0"/>
              <a:t>5.1 </a:t>
            </a:r>
            <a:r>
              <a:rPr lang="en-US" sz="2000" dirty="0"/>
              <a:t>Measuring the Unemployment Rate and the Labour Force Participation Rate</a:t>
            </a:r>
            <a:endParaRPr lang="en-IN" sz="2000" dirty="0"/>
          </a:p>
          <a:p>
            <a:pPr marL="0" indent="0">
              <a:buNone/>
            </a:pPr>
            <a:r>
              <a:rPr lang="en-US" sz="2000" b="1" dirty="0"/>
              <a:t>5.2 </a:t>
            </a:r>
            <a:r>
              <a:rPr lang="en-US" sz="2000" dirty="0"/>
              <a:t>Types of Unemployment</a:t>
            </a:r>
          </a:p>
          <a:p>
            <a:pPr marL="0" indent="0">
              <a:buNone/>
            </a:pPr>
            <a:r>
              <a:rPr lang="en-US" sz="2000" b="1" dirty="0"/>
              <a:t>5.3 </a:t>
            </a:r>
            <a:r>
              <a:rPr lang="en-US" sz="2000" dirty="0"/>
              <a:t>Explaining </a:t>
            </a:r>
            <a:r>
              <a:rPr lang="en-CA" sz="2000" dirty="0"/>
              <a:t>Unemployment</a:t>
            </a:r>
          </a:p>
          <a:p>
            <a:pPr marL="0" indent="0">
              <a:buNone/>
            </a:pPr>
            <a:r>
              <a:rPr lang="en-US" sz="2000" b="1" dirty="0"/>
              <a:t>5.4 </a:t>
            </a:r>
            <a:r>
              <a:rPr lang="en-US" sz="2000" dirty="0"/>
              <a:t>Measuring Inflation</a:t>
            </a:r>
          </a:p>
          <a:p>
            <a:pPr marL="449263" indent="-449263">
              <a:buNone/>
            </a:pPr>
            <a:r>
              <a:rPr lang="en-US" sz="2000" b="1" dirty="0"/>
              <a:t>5.5 </a:t>
            </a:r>
            <a:r>
              <a:rPr lang="en-US" sz="2000" dirty="0"/>
              <a:t>Using Price Indexes to Adjust for the Effects of Inflation</a:t>
            </a:r>
          </a:p>
          <a:p>
            <a:pPr marL="447675" indent="-447675">
              <a:buNone/>
            </a:pPr>
            <a:r>
              <a:rPr lang="en-US" sz="2000" b="1" dirty="0"/>
              <a:t>5.6 </a:t>
            </a:r>
            <a:r>
              <a:rPr lang="en-US" sz="2000" dirty="0"/>
              <a:t>Real versus Nominal Interest Rates</a:t>
            </a:r>
          </a:p>
          <a:p>
            <a:pPr marL="449263" indent="-449263">
              <a:buNone/>
            </a:pPr>
            <a:r>
              <a:rPr lang="en-US" sz="2000" b="1" dirty="0"/>
              <a:t>5.7 </a:t>
            </a:r>
            <a:r>
              <a:rPr lang="en-US" sz="2000" dirty="0"/>
              <a:t>Does Inflation Impose Costs on the Economy?</a:t>
            </a:r>
          </a:p>
        </p:txBody>
      </p:sp>
    </p:spTree>
    <p:extLst>
      <p:ext uri="{BB962C8B-B14F-4D97-AF65-F5344CB8AC3E}">
        <p14:creationId xmlns:p14="http://schemas.microsoft.com/office/powerpoint/2010/main" val="19025667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Measuring Unemployment and Inflation</a:t>
            </a:r>
          </a:p>
        </p:txBody>
      </p:sp>
      <p:sp>
        <p:nvSpPr>
          <p:cNvPr id="5" name="Content Placeholder 4"/>
          <p:cNvSpPr>
            <a:spLocks noGrp="1"/>
          </p:cNvSpPr>
          <p:nvPr>
            <p:ph idx="1"/>
          </p:nvPr>
        </p:nvSpPr>
        <p:spPr/>
        <p:txBody>
          <a:bodyPr>
            <a:noAutofit/>
          </a:bodyPr>
          <a:lstStyle/>
          <a:p>
            <a:pPr marL="0" indent="0">
              <a:spcBef>
                <a:spcPts val="0"/>
              </a:spcBef>
              <a:spcAft>
                <a:spcPts val="1200"/>
              </a:spcAft>
              <a:buNone/>
            </a:pPr>
            <a:r>
              <a:rPr lang="en-US" sz="2400" dirty="0"/>
              <a:t>In the last chapter, we learned about how to measure total output—a critical first step in understanding the economy.</a:t>
            </a:r>
          </a:p>
          <a:p>
            <a:pPr marL="0" indent="0">
              <a:spcBef>
                <a:spcPts val="0"/>
              </a:spcBef>
              <a:spcAft>
                <a:spcPts val="1200"/>
              </a:spcAft>
              <a:buNone/>
            </a:pPr>
            <a:r>
              <a:rPr lang="en-US" sz="2400" dirty="0"/>
              <a:t>In this chapter we learn how to measure unemployment and inflation.</a:t>
            </a:r>
          </a:p>
          <a:p>
            <a:pPr marL="0" indent="0">
              <a:spcBef>
                <a:spcPts val="0"/>
              </a:spcBef>
              <a:spcAft>
                <a:spcPts val="1200"/>
              </a:spcAft>
              <a:buNone/>
            </a:pPr>
            <a:r>
              <a:rPr lang="en-US" sz="2400" dirty="0"/>
              <a:t>These are very important and commonly-used macroeconomic concepts.</a:t>
            </a:r>
          </a:p>
          <a:p>
            <a:pPr marL="0" indent="0">
              <a:spcBef>
                <a:spcPts val="0"/>
              </a:spcBef>
              <a:spcAft>
                <a:spcPts val="1200"/>
              </a:spcAft>
              <a:buNone/>
            </a:pPr>
            <a:r>
              <a:rPr lang="en-US" sz="2400" dirty="0"/>
              <a:t>If we want to talk intelligently about them, we need to be clear about what they mean.</a:t>
            </a:r>
          </a:p>
        </p:txBody>
      </p:sp>
    </p:spTree>
    <p:extLst>
      <p:ext uri="{BB962C8B-B14F-4D97-AF65-F5344CB8AC3E}">
        <p14:creationId xmlns:p14="http://schemas.microsoft.com/office/powerpoint/2010/main" val="27970752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Measuring Unemployment</a:t>
            </a:r>
          </a:p>
        </p:txBody>
      </p:sp>
      <p:sp>
        <p:nvSpPr>
          <p:cNvPr id="3" name="Content Placeholder 2"/>
          <p:cNvSpPr>
            <a:spLocks noGrp="1"/>
          </p:cNvSpPr>
          <p:nvPr>
            <p:ph idx="1"/>
          </p:nvPr>
        </p:nvSpPr>
        <p:spPr>
          <a:xfrm>
            <a:off x="457200" y="1600200"/>
            <a:ext cx="8229600" cy="4648200"/>
          </a:xfrm>
        </p:spPr>
        <p:txBody>
          <a:bodyPr>
            <a:noAutofit/>
          </a:bodyPr>
          <a:lstStyle/>
          <a:p>
            <a:pPr marL="0" indent="0">
              <a:spcBef>
                <a:spcPts val="1000"/>
              </a:spcBef>
              <a:buNone/>
              <a:tabLst>
                <a:tab pos="0" algn="l"/>
              </a:tabLst>
            </a:pPr>
            <a:r>
              <a:rPr lang="en-US" sz="2400" dirty="0"/>
              <a:t>There are more than 37 million people in Canada, and monitoring and reporting on their activities regularly would be very difficult and costly.</a:t>
            </a:r>
          </a:p>
          <a:p>
            <a:pPr marL="0" indent="0">
              <a:spcBef>
                <a:spcPts val="1000"/>
              </a:spcBef>
              <a:buNone/>
            </a:pPr>
            <a:r>
              <a:rPr lang="en-US" sz="2400" dirty="0"/>
              <a:t>Instead, Statistics Canada reports </a:t>
            </a:r>
            <a:r>
              <a:rPr lang="en-US" sz="2400" i="1" dirty="0"/>
              <a:t>estimates</a:t>
            </a:r>
            <a:r>
              <a:rPr lang="en-US" sz="2400" dirty="0"/>
              <a:t> of </a:t>
            </a:r>
            <a:r>
              <a:rPr lang="en-US" sz="2400" b="1" dirty="0"/>
              <a:t>employment,</a:t>
            </a:r>
            <a:r>
              <a:rPr lang="en-US" sz="2400" dirty="0"/>
              <a:t> </a:t>
            </a:r>
            <a:r>
              <a:rPr lang="en-US" sz="2400" b="1" dirty="0"/>
              <a:t>unemployment,</a:t>
            </a:r>
            <a:r>
              <a:rPr lang="en-US" sz="2400" dirty="0"/>
              <a:t> and other statistics related to the </a:t>
            </a:r>
            <a:r>
              <a:rPr lang="en-US" sz="2400" b="1" dirty="0" err="1"/>
              <a:t>labour</a:t>
            </a:r>
            <a:r>
              <a:rPr lang="en-US" sz="2400" b="1" dirty="0"/>
              <a:t> force </a:t>
            </a:r>
            <a:r>
              <a:rPr lang="en-US" sz="2400" dirty="0"/>
              <a:t>each month.</a:t>
            </a:r>
          </a:p>
          <a:p>
            <a:pPr marL="0" indent="0">
              <a:spcBef>
                <a:spcPts val="1000"/>
              </a:spcBef>
              <a:buNone/>
            </a:pPr>
            <a:r>
              <a:rPr lang="en-US" sz="2400" b="1" dirty="0"/>
              <a:t>Labour force:</a:t>
            </a:r>
            <a:r>
              <a:rPr lang="en-US" sz="2400" dirty="0"/>
              <a:t> The sum of employed and unemployed workers in the economy.</a:t>
            </a:r>
          </a:p>
          <a:p>
            <a:pPr marL="0" indent="0">
              <a:spcBef>
                <a:spcPts val="1000"/>
              </a:spcBef>
              <a:buNone/>
            </a:pPr>
            <a:r>
              <a:rPr lang="en-US" sz="2400" dirty="0"/>
              <a:t>Of these statistics, the most watched is known as the </a:t>
            </a:r>
            <a:r>
              <a:rPr lang="en-US" sz="2400" b="1" dirty="0"/>
              <a:t>unemployment rate:</a:t>
            </a:r>
            <a:r>
              <a:rPr lang="en-US" sz="2400" dirty="0"/>
              <a:t> the percentage of the </a:t>
            </a:r>
            <a:r>
              <a:rPr lang="en-US" sz="2400" dirty="0" err="1"/>
              <a:t>labour</a:t>
            </a:r>
            <a:r>
              <a:rPr lang="en-US" sz="2400" dirty="0"/>
              <a:t> force that is unemployed.</a:t>
            </a:r>
          </a:p>
        </p:txBody>
      </p:sp>
    </p:spTree>
    <p:extLst>
      <p:ext uri="{BB962C8B-B14F-4D97-AF65-F5344CB8AC3E}">
        <p14:creationId xmlns:p14="http://schemas.microsoft.com/office/powerpoint/2010/main" val="32916105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latin typeface="+mj-lt"/>
              </a:rPr>
              <a:t>The </a:t>
            </a:r>
            <a:r>
              <a:rPr lang="en-CA" dirty="0">
                <a:latin typeface="+mj-lt"/>
              </a:rPr>
              <a:t>Labour</a:t>
            </a:r>
            <a:r>
              <a:rPr lang="en-US" dirty="0">
                <a:latin typeface="+mj-lt"/>
              </a:rPr>
              <a:t> Force Survey</a:t>
            </a:r>
          </a:p>
        </p:txBody>
      </p:sp>
      <p:sp>
        <p:nvSpPr>
          <p:cNvPr id="3" name="Content Placeholder 2"/>
          <p:cNvSpPr>
            <a:spLocks noGrp="1"/>
          </p:cNvSpPr>
          <p:nvPr>
            <p:ph idx="1"/>
          </p:nvPr>
        </p:nvSpPr>
        <p:spPr>
          <a:xfrm>
            <a:off x="457200" y="1600200"/>
            <a:ext cx="8229600" cy="4724400"/>
          </a:xfrm>
        </p:spPr>
        <p:txBody>
          <a:bodyPr>
            <a:noAutofit/>
          </a:bodyPr>
          <a:lstStyle/>
          <a:p>
            <a:pPr marL="0" indent="0">
              <a:spcBef>
                <a:spcPts val="1000"/>
              </a:spcBef>
              <a:buNone/>
            </a:pPr>
            <a:r>
              <a:rPr lang="en-CA" sz="2000" dirty="0"/>
              <a:t>Each</a:t>
            </a:r>
            <a:r>
              <a:rPr lang="en-US" sz="2000" dirty="0"/>
              <a:t> month, Statistics Canada conducts the </a:t>
            </a:r>
            <a:r>
              <a:rPr lang="en-CA" sz="2000" i="1" dirty="0"/>
              <a:t>Labour</a:t>
            </a:r>
            <a:r>
              <a:rPr lang="en-US" sz="2000" i="1" dirty="0"/>
              <a:t> Force Survey (LFS</a:t>
            </a:r>
            <a:r>
              <a:rPr lang="en-US" sz="2000" dirty="0"/>
              <a:t>).</a:t>
            </a:r>
          </a:p>
          <a:p>
            <a:pPr marL="269875" indent="-269875">
              <a:spcBef>
                <a:spcPts val="1000"/>
              </a:spcBef>
            </a:pPr>
            <a:r>
              <a:rPr lang="en-US" sz="2000" dirty="0"/>
              <a:t>~56 000 households selected to be “representative”</a:t>
            </a:r>
          </a:p>
          <a:p>
            <a:pPr marL="269875" indent="-269875">
              <a:spcBef>
                <a:spcPts val="1000"/>
              </a:spcBef>
            </a:pPr>
            <a:r>
              <a:rPr lang="en-US" sz="2000" dirty="0"/>
              <a:t>Household members of “working age” (15+ years old)</a:t>
            </a:r>
          </a:p>
          <a:p>
            <a:pPr marL="269875" indent="-269875">
              <a:spcBef>
                <a:spcPts val="1000"/>
              </a:spcBef>
            </a:pPr>
            <a:r>
              <a:rPr lang="en-US" sz="2000" dirty="0"/>
              <a:t>Asked about employment</a:t>
            </a:r>
          </a:p>
          <a:p>
            <a:pPr marL="269875" indent="-269875">
              <a:spcBef>
                <a:spcPts val="1000"/>
              </a:spcBef>
            </a:pPr>
            <a:r>
              <a:rPr lang="en-US" sz="2000" dirty="0"/>
              <a:t>Also asked about recent job-search activities</a:t>
            </a:r>
          </a:p>
          <a:p>
            <a:pPr marL="0" indent="0">
              <a:spcBef>
                <a:spcPts val="1000"/>
              </a:spcBef>
              <a:buNone/>
            </a:pPr>
            <a:r>
              <a:rPr lang="en-US" sz="2000" dirty="0"/>
              <a:t>People are then classified as:</a:t>
            </a:r>
          </a:p>
          <a:p>
            <a:pPr>
              <a:spcBef>
                <a:spcPts val="1000"/>
              </a:spcBef>
            </a:pPr>
            <a:r>
              <a:rPr lang="en-US" sz="2000" b="1" dirty="0"/>
              <a:t>Employed:</a:t>
            </a:r>
            <a:r>
              <a:rPr lang="en-US" sz="2000" dirty="0"/>
              <a:t> did paid work, unpaid work for a family business, or worked for themselves (or were temporarily away from their jobs).</a:t>
            </a:r>
          </a:p>
          <a:p>
            <a:pPr>
              <a:spcBef>
                <a:spcPts val="1000"/>
              </a:spcBef>
            </a:pPr>
            <a:r>
              <a:rPr lang="en-US" sz="2000" b="1" i="1" dirty="0"/>
              <a:t>Unemployed</a:t>
            </a:r>
            <a:r>
              <a:rPr lang="en-US" sz="2000" b="1" dirty="0"/>
              <a:t>:</a:t>
            </a:r>
            <a:r>
              <a:rPr lang="en-US" sz="2000" dirty="0"/>
              <a:t> Someone who is not currently at work but who is available for work and who has actively looked for work during the previous four weeks.</a:t>
            </a:r>
          </a:p>
          <a:p>
            <a:pPr>
              <a:spcBef>
                <a:spcPts val="1000"/>
              </a:spcBef>
            </a:pPr>
            <a:r>
              <a:rPr lang="en-US" sz="2000" b="1" dirty="0"/>
              <a:t>Not in the </a:t>
            </a:r>
            <a:r>
              <a:rPr lang="en-US" sz="2000" b="1" dirty="0" err="1"/>
              <a:t>labour</a:t>
            </a:r>
            <a:r>
              <a:rPr lang="en-US" sz="2000" b="1" dirty="0"/>
              <a:t> force,</a:t>
            </a:r>
            <a:r>
              <a:rPr lang="en-US" sz="2000" dirty="0"/>
              <a:t> if neither of the above apply.</a:t>
            </a:r>
          </a:p>
        </p:txBody>
      </p:sp>
    </p:spTree>
    <p:extLst>
      <p:ext uri="{BB962C8B-B14F-4D97-AF65-F5344CB8AC3E}">
        <p14:creationId xmlns:p14="http://schemas.microsoft.com/office/powerpoint/2010/main" val="20709416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72370"/>
            <a:ext cx="8229600" cy="861774"/>
          </a:xfrm>
        </p:spPr>
        <p:txBody>
          <a:bodyPr>
            <a:noAutofit/>
          </a:bodyPr>
          <a:lstStyle/>
          <a:p>
            <a:r>
              <a:rPr lang="en-US" sz="2800" dirty="0">
                <a:latin typeface="+mj-lt"/>
              </a:rPr>
              <a:t>Figure 5.1 The Employment Status of the Working-Age Population, January 2022 </a:t>
            </a:r>
            <a:r>
              <a:rPr lang="en-US" sz="2000" b="0" dirty="0">
                <a:latin typeface="+mj-lt"/>
              </a:rPr>
              <a:t>(1 of 3)</a:t>
            </a:r>
            <a:endParaRPr lang="en-US" sz="2000" dirty="0">
              <a:latin typeface="+mj-lt"/>
            </a:endParaRPr>
          </a:p>
        </p:txBody>
      </p:sp>
      <p:sp>
        <p:nvSpPr>
          <p:cNvPr id="3" name="Content Placeholder 2"/>
          <p:cNvSpPr>
            <a:spLocks noGrp="1"/>
          </p:cNvSpPr>
          <p:nvPr>
            <p:ph idx="1"/>
          </p:nvPr>
        </p:nvSpPr>
        <p:spPr>
          <a:xfrm>
            <a:off x="457200" y="1371600"/>
            <a:ext cx="8229600" cy="1107996"/>
          </a:xfrm>
        </p:spPr>
        <p:txBody>
          <a:bodyPr>
            <a:noAutofit/>
          </a:bodyPr>
          <a:lstStyle/>
          <a:p>
            <a:pPr marL="0" indent="0">
              <a:buNone/>
            </a:pPr>
            <a:r>
              <a:rPr lang="en-US" sz="2400" dirty="0"/>
              <a:t>Statistics Canada classifies people as employed, unemployed or not in the </a:t>
            </a:r>
            <a:r>
              <a:rPr lang="en-US" sz="2400" dirty="0" err="1"/>
              <a:t>labour</a:t>
            </a:r>
            <a:r>
              <a:rPr lang="en-US" sz="2400" dirty="0"/>
              <a:t> force. The </a:t>
            </a:r>
            <a:r>
              <a:rPr lang="en-US" sz="2400" dirty="0" err="1"/>
              <a:t>labour</a:t>
            </a:r>
            <a:r>
              <a:rPr lang="en-US" sz="2400" dirty="0"/>
              <a:t> force is all people who are employed plus those who are unemployed.</a:t>
            </a:r>
          </a:p>
        </p:txBody>
      </p:sp>
      <p:pic>
        <p:nvPicPr>
          <p:cNvPr id="6" name="Picture 5" descr="A flow chart depicting the employment status of the working age population for January 2022.">
            <a:extLst>
              <a:ext uri="{FF2B5EF4-FFF2-40B4-BE49-F238E27FC236}">
                <a16:creationId xmlns:a16="http://schemas.microsoft.com/office/drawing/2014/main" id="{EE9E6411-ED5D-2044-66D2-A6BC37F50E2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70048" y="2584422"/>
            <a:ext cx="3803904" cy="2949551"/>
          </a:xfrm>
          <a:prstGeom prst="rect">
            <a:avLst/>
          </a:prstGeom>
        </p:spPr>
      </p:pic>
      <p:sp>
        <p:nvSpPr>
          <p:cNvPr id="4" name="TextBox 3">
            <a:extLst>
              <a:ext uri="{FF2B5EF4-FFF2-40B4-BE49-F238E27FC236}">
                <a16:creationId xmlns:a16="http://schemas.microsoft.com/office/drawing/2014/main" id="{BBEA797A-62C4-DC24-EED2-1D72224F5B37}"/>
              </a:ext>
            </a:extLst>
          </p:cNvPr>
          <p:cNvSpPr txBox="1"/>
          <p:nvPr/>
        </p:nvSpPr>
        <p:spPr>
          <a:xfrm>
            <a:off x="464634" y="5638800"/>
            <a:ext cx="7899470" cy="646331"/>
          </a:xfrm>
          <a:prstGeom prst="rect">
            <a:avLst/>
          </a:prstGeom>
          <a:noFill/>
        </p:spPr>
        <p:txBody>
          <a:bodyPr wrap="none" rtlCol="0">
            <a:spAutoFit/>
          </a:bodyPr>
          <a:lstStyle/>
          <a:p>
            <a:r>
              <a:rPr lang="en-US" sz="1200" b="1" dirty="0"/>
              <a:t>SOURCES:</a:t>
            </a:r>
            <a:r>
              <a:rPr lang="en-US" sz="1200" dirty="0"/>
              <a:t> Statistics Canada, “Labour Force Characteristics by Sex and Detailed Age Group, Month, Unadjusted</a:t>
            </a:r>
          </a:p>
          <a:p>
            <a:r>
              <a:rPr lang="en-US" sz="1200" dirty="0"/>
              <a:t>for Seasonality (×1,000),” Table 14-10-0017-01; and “Reason for Not Looking for Work, Monthly, Unadjusted for</a:t>
            </a:r>
          </a:p>
          <a:p>
            <a:r>
              <a:rPr lang="en-US" sz="1200" dirty="0"/>
              <a:t>Seasonality (×1,000),” Table 14-10-0127-01.</a:t>
            </a:r>
          </a:p>
        </p:txBody>
      </p:sp>
    </p:spTree>
    <p:extLst>
      <p:ext uri="{BB962C8B-B14F-4D97-AF65-F5344CB8AC3E}">
        <p14:creationId xmlns:p14="http://schemas.microsoft.com/office/powerpoint/2010/main" val="27973105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 name="Title 1">
            <a:extLst>
              <a:ext uri="{FF2B5EF4-FFF2-40B4-BE49-F238E27FC236}">
                <a16:creationId xmlns:a16="http://schemas.microsoft.com/office/drawing/2014/main" id="{16CA41BF-55EE-71A6-758C-070EC272E5F2}"/>
              </a:ext>
            </a:extLst>
          </p:cNvPr>
          <p:cNvSpPr>
            <a:spLocks noGrp="1"/>
          </p:cNvSpPr>
          <p:nvPr>
            <p:ph type="title"/>
          </p:nvPr>
        </p:nvSpPr>
        <p:spPr>
          <a:xfrm>
            <a:off x="457200" y="172370"/>
            <a:ext cx="8229600" cy="861774"/>
          </a:xfrm>
        </p:spPr>
        <p:txBody>
          <a:bodyPr>
            <a:noAutofit/>
          </a:bodyPr>
          <a:lstStyle/>
          <a:p>
            <a:r>
              <a:rPr lang="en-US" sz="2800" dirty="0">
                <a:latin typeface="+mj-lt"/>
              </a:rPr>
              <a:t>Figure 5.1 The Employment Status of the Working-Age Population, January 2022 </a:t>
            </a:r>
            <a:r>
              <a:rPr lang="en-US" sz="2000" b="0" dirty="0">
                <a:latin typeface="+mj-lt"/>
              </a:rPr>
              <a:t>(2 of 3)</a:t>
            </a:r>
            <a:endParaRPr lang="en-US" sz="2000" dirty="0">
              <a:latin typeface="+mj-lt"/>
            </a:endParaRPr>
          </a:p>
        </p:txBody>
      </p:sp>
      <p:sp>
        <p:nvSpPr>
          <p:cNvPr id="3" name="Content Placeholder 2"/>
          <p:cNvSpPr>
            <a:spLocks noGrp="1"/>
          </p:cNvSpPr>
          <p:nvPr>
            <p:ph idx="1"/>
          </p:nvPr>
        </p:nvSpPr>
        <p:spPr>
          <a:xfrm>
            <a:off x="457200" y="1212208"/>
            <a:ext cx="8229600" cy="1073792"/>
          </a:xfrm>
        </p:spPr>
        <p:txBody>
          <a:bodyPr>
            <a:noAutofit/>
          </a:bodyPr>
          <a:lstStyle/>
          <a:p>
            <a:pPr marL="0" indent="0">
              <a:spcBef>
                <a:spcPts val="0"/>
              </a:spcBef>
              <a:spcAft>
                <a:spcPts val="1200"/>
              </a:spcAft>
              <a:buNone/>
            </a:pPr>
            <a:r>
              <a:rPr lang="en-US" sz="2000" dirty="0"/>
              <a:t>Based on </a:t>
            </a:r>
            <a:r>
              <a:rPr lang="en-US" sz="2000" dirty="0" err="1"/>
              <a:t>StatsCan</a:t>
            </a:r>
            <a:r>
              <a:rPr lang="en-US" sz="2000" dirty="0"/>
              <a:t> estimates, we calculate several important </a:t>
            </a:r>
            <a:r>
              <a:rPr lang="en-US" sz="2000" i="1" dirty="0"/>
              <a:t>macroeconomic indicators</a:t>
            </a:r>
            <a:r>
              <a:rPr lang="en-US" sz="2000" dirty="0"/>
              <a:t>.</a:t>
            </a:r>
          </a:p>
          <a:p>
            <a:pPr marL="342900" indent="-342900">
              <a:spcBef>
                <a:spcPts val="0"/>
              </a:spcBef>
              <a:spcAft>
                <a:spcPts val="1200"/>
              </a:spcAft>
            </a:pPr>
            <a:r>
              <a:rPr lang="en-US" sz="2000" dirty="0"/>
              <a:t>The most-watched is the unemployment rate:</a:t>
            </a:r>
          </a:p>
        </p:txBody>
      </p:sp>
      <p:graphicFrame>
        <p:nvGraphicFramePr>
          <p:cNvPr id="6" name="Object 5">
            <a:extLst>
              <a:ext uri="{FF2B5EF4-FFF2-40B4-BE49-F238E27FC236}">
                <a16:creationId xmlns:a16="http://schemas.microsoft.com/office/drawing/2014/main" id="{DB4D97D0-E623-7FCF-B7D7-17A7245BF6CF}"/>
              </a:ext>
            </a:extLst>
          </p:cNvPr>
          <p:cNvGraphicFramePr>
            <a:graphicFrameLocks noChangeAspect="1"/>
          </p:cNvGraphicFramePr>
          <p:nvPr>
            <p:extLst>
              <p:ext uri="{D42A27DB-BD31-4B8C-83A1-F6EECF244321}">
                <p14:modId xmlns:p14="http://schemas.microsoft.com/office/powerpoint/2010/main" val="3772845170"/>
              </p:ext>
            </p:extLst>
          </p:nvPr>
        </p:nvGraphicFramePr>
        <p:xfrm>
          <a:off x="762000" y="2479206"/>
          <a:ext cx="4832064" cy="1073792"/>
        </p:xfrm>
        <a:graphic>
          <a:graphicData uri="http://schemas.openxmlformats.org/presentationml/2006/ole">
            <mc:AlternateContent xmlns:mc="http://schemas.openxmlformats.org/markup-compatibility/2006">
              <mc:Choice xmlns:v="urn:schemas-microsoft-com:vml" Requires="v">
                <p:oleObj name="Equation" r:id="rId3" imgW="3657600" imgH="812520" progId="Equation.DSMT4">
                  <p:embed/>
                </p:oleObj>
              </mc:Choice>
              <mc:Fallback>
                <p:oleObj name="Equation" r:id="rId3" imgW="3657600" imgH="812520" progId="Equation.DSMT4">
                  <p:embed/>
                  <p:pic>
                    <p:nvPicPr>
                      <p:cNvPr id="0" name=""/>
                      <p:cNvPicPr/>
                      <p:nvPr/>
                    </p:nvPicPr>
                    <p:blipFill>
                      <a:blip r:embed="rId4"/>
                      <a:stretch>
                        <a:fillRect/>
                      </a:stretch>
                    </p:blipFill>
                    <p:spPr>
                      <a:xfrm>
                        <a:off x="762000" y="2479206"/>
                        <a:ext cx="4832064" cy="1073792"/>
                      </a:xfrm>
                      <a:prstGeom prst="rect">
                        <a:avLst/>
                      </a:prstGeom>
                    </p:spPr>
                  </p:pic>
                </p:oleObj>
              </mc:Fallback>
            </mc:AlternateContent>
          </a:graphicData>
        </a:graphic>
      </p:graphicFrame>
      <p:sp>
        <p:nvSpPr>
          <p:cNvPr id="2" name="Content Placeholder 2">
            <a:extLst>
              <a:ext uri="{FF2B5EF4-FFF2-40B4-BE49-F238E27FC236}">
                <a16:creationId xmlns:a16="http://schemas.microsoft.com/office/drawing/2014/main" id="{5448CBCC-7BE7-528E-AD02-95EB16BE9F74}"/>
              </a:ext>
            </a:extLst>
          </p:cNvPr>
          <p:cNvSpPr txBox="1">
            <a:spLocks/>
          </p:cNvSpPr>
          <p:nvPr/>
        </p:nvSpPr>
        <p:spPr>
          <a:xfrm>
            <a:off x="457200" y="3771871"/>
            <a:ext cx="8229600" cy="609600"/>
          </a:xfrm>
          <a:prstGeom prst="rect">
            <a:avLst/>
          </a:prstGeom>
        </p:spPr>
        <p:txBody>
          <a:bodyPr vert="horz" lIns="0" tIns="0" rIns="0" bIns="0" rtlCol="0">
            <a:noAutofit/>
          </a:bodyPr>
          <a:lst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400" kern="1200">
                <a:solidFill>
                  <a:schemeClr val="tx1"/>
                </a:solidFill>
                <a:latin typeface="+mn-lt"/>
                <a:ea typeface="+mn-ea"/>
                <a:cs typeface="+mn-cs"/>
              </a:defRPr>
            </a:lvl9pPr>
          </a:lstStyle>
          <a:p>
            <a:r>
              <a:rPr lang="en-US" sz="1800" dirty="0"/>
              <a:t>Also important are the </a:t>
            </a:r>
            <a:r>
              <a:rPr lang="en-US" sz="1800" b="1" dirty="0" err="1"/>
              <a:t>labour</a:t>
            </a:r>
            <a:r>
              <a:rPr lang="en-US" sz="1800" b="1" dirty="0"/>
              <a:t> force participation rate</a:t>
            </a:r>
            <a:r>
              <a:rPr lang="en-US" sz="1800" dirty="0"/>
              <a:t> (the percentage of the working-age population in the </a:t>
            </a:r>
            <a:r>
              <a:rPr lang="en-US" sz="1800" dirty="0" err="1"/>
              <a:t>labour</a:t>
            </a:r>
            <a:r>
              <a:rPr lang="en-US" sz="1800" dirty="0"/>
              <a:t> force</a:t>
            </a:r>
          </a:p>
        </p:txBody>
      </p:sp>
      <p:graphicFrame>
        <p:nvGraphicFramePr>
          <p:cNvPr id="7" name="Object 6">
            <a:extLst>
              <a:ext uri="{FF2B5EF4-FFF2-40B4-BE49-F238E27FC236}">
                <a16:creationId xmlns:a16="http://schemas.microsoft.com/office/drawing/2014/main" id="{B3C71475-D449-B8EB-87C4-5DAFFE3187A3}"/>
              </a:ext>
            </a:extLst>
          </p:cNvPr>
          <p:cNvGraphicFramePr>
            <a:graphicFrameLocks noChangeAspect="1"/>
          </p:cNvGraphicFramePr>
          <p:nvPr>
            <p:extLst>
              <p:ext uri="{D42A27DB-BD31-4B8C-83A1-F6EECF244321}">
                <p14:modId xmlns:p14="http://schemas.microsoft.com/office/powerpoint/2010/main" val="2964511909"/>
              </p:ext>
            </p:extLst>
          </p:nvPr>
        </p:nvGraphicFramePr>
        <p:xfrm>
          <a:off x="685800" y="4600344"/>
          <a:ext cx="6642602" cy="1214437"/>
        </p:xfrm>
        <a:graphic>
          <a:graphicData uri="http://schemas.openxmlformats.org/presentationml/2006/ole">
            <mc:AlternateContent xmlns:mc="http://schemas.openxmlformats.org/markup-compatibility/2006">
              <mc:Choice xmlns:v="urn:schemas-microsoft-com:vml" Requires="v">
                <p:oleObj name="Equation" r:id="rId5" imgW="4584600" imgH="838080" progId="Equation.DSMT4">
                  <p:embed/>
                </p:oleObj>
              </mc:Choice>
              <mc:Fallback>
                <p:oleObj name="Equation" r:id="rId5" imgW="4584600" imgH="838080" progId="Equation.DSMT4">
                  <p:embed/>
                  <p:pic>
                    <p:nvPicPr>
                      <p:cNvPr id="0" name=""/>
                      <p:cNvPicPr/>
                      <p:nvPr/>
                    </p:nvPicPr>
                    <p:blipFill>
                      <a:blip r:embed="rId6"/>
                      <a:stretch>
                        <a:fillRect/>
                      </a:stretch>
                    </p:blipFill>
                    <p:spPr>
                      <a:xfrm>
                        <a:off x="685800" y="4600344"/>
                        <a:ext cx="6642602" cy="1214437"/>
                      </a:xfrm>
                      <a:prstGeom prst="rect">
                        <a:avLst/>
                      </a:prstGeom>
                    </p:spPr>
                  </p:pic>
                </p:oleObj>
              </mc:Fallback>
            </mc:AlternateContent>
          </a:graphicData>
        </a:graphic>
      </p:graphicFrame>
    </p:spTree>
    <p:extLst>
      <p:ext uri="{BB962C8B-B14F-4D97-AF65-F5344CB8AC3E}">
        <p14:creationId xmlns:p14="http://schemas.microsoft.com/office/powerpoint/2010/main" val="20779002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0" name="Title 1">
            <a:extLst>
              <a:ext uri="{FF2B5EF4-FFF2-40B4-BE49-F238E27FC236}">
                <a16:creationId xmlns:a16="http://schemas.microsoft.com/office/drawing/2014/main" id="{C5CF1A4A-BCF0-B539-C6C1-067B498F0BE3}"/>
              </a:ext>
            </a:extLst>
          </p:cNvPr>
          <p:cNvSpPr>
            <a:spLocks noGrp="1"/>
          </p:cNvSpPr>
          <p:nvPr>
            <p:ph type="title"/>
          </p:nvPr>
        </p:nvSpPr>
        <p:spPr>
          <a:xfrm>
            <a:off x="457200" y="172370"/>
            <a:ext cx="8229600" cy="861774"/>
          </a:xfrm>
        </p:spPr>
        <p:txBody>
          <a:bodyPr>
            <a:noAutofit/>
          </a:bodyPr>
          <a:lstStyle/>
          <a:p>
            <a:r>
              <a:rPr lang="en-US" sz="2800" dirty="0">
                <a:latin typeface="+mj-lt"/>
              </a:rPr>
              <a:t>Figure 5.1 The Employment Status of the Working-Age Population, January 2022 </a:t>
            </a:r>
            <a:r>
              <a:rPr lang="en-US" sz="2000" b="0" dirty="0">
                <a:latin typeface="+mj-lt"/>
              </a:rPr>
              <a:t>(3 of 3)</a:t>
            </a:r>
            <a:endParaRPr lang="en-US" sz="2000" dirty="0">
              <a:latin typeface="+mj-lt"/>
            </a:endParaRPr>
          </a:p>
        </p:txBody>
      </p:sp>
      <p:sp>
        <p:nvSpPr>
          <p:cNvPr id="6" name="Content Placeholder 5"/>
          <p:cNvSpPr>
            <a:spLocks noGrp="1"/>
          </p:cNvSpPr>
          <p:nvPr>
            <p:ph idx="1"/>
          </p:nvPr>
        </p:nvSpPr>
        <p:spPr>
          <a:xfrm>
            <a:off x="457200" y="1295400"/>
            <a:ext cx="7467600" cy="621378"/>
          </a:xfrm>
        </p:spPr>
        <p:txBody>
          <a:bodyPr>
            <a:noAutofit/>
          </a:bodyPr>
          <a:lstStyle/>
          <a:p>
            <a:pPr marL="0" indent="0">
              <a:buNone/>
            </a:pPr>
            <a:r>
              <a:rPr lang="en-US" sz="1800" dirty="0"/>
              <a:t>The employment-population ratio (the percentage of the working-age population that is employed):</a:t>
            </a:r>
          </a:p>
        </p:txBody>
      </p:sp>
      <p:graphicFrame>
        <p:nvGraphicFramePr>
          <p:cNvPr id="3" name="Object 2">
            <a:extLst>
              <a:ext uri="{FF2B5EF4-FFF2-40B4-BE49-F238E27FC236}">
                <a16:creationId xmlns:a16="http://schemas.microsoft.com/office/drawing/2014/main" id="{2FF4DF61-DE60-1E0D-CFC0-6FA76E6905BF}"/>
              </a:ext>
            </a:extLst>
          </p:cNvPr>
          <p:cNvGraphicFramePr>
            <a:graphicFrameLocks noChangeAspect="1"/>
          </p:cNvGraphicFramePr>
          <p:nvPr>
            <p:extLst>
              <p:ext uri="{D42A27DB-BD31-4B8C-83A1-F6EECF244321}">
                <p14:modId xmlns:p14="http://schemas.microsoft.com/office/powerpoint/2010/main" val="2524842758"/>
              </p:ext>
            </p:extLst>
          </p:nvPr>
        </p:nvGraphicFramePr>
        <p:xfrm>
          <a:off x="457200" y="1944362"/>
          <a:ext cx="6172201" cy="1101725"/>
        </p:xfrm>
        <a:graphic>
          <a:graphicData uri="http://schemas.openxmlformats.org/presentationml/2006/ole">
            <mc:AlternateContent xmlns:mc="http://schemas.openxmlformats.org/markup-compatibility/2006">
              <mc:Choice xmlns:v="urn:schemas-microsoft-com:vml" Requires="v">
                <p:oleObj name="Equation" r:id="rId3" imgW="4698720" imgH="838080" progId="Equation.DSMT4">
                  <p:embed/>
                </p:oleObj>
              </mc:Choice>
              <mc:Fallback>
                <p:oleObj name="Equation" r:id="rId3" imgW="4698720" imgH="838080" progId="Equation.DSMT4">
                  <p:embed/>
                  <p:pic>
                    <p:nvPicPr>
                      <p:cNvPr id="0" name=""/>
                      <p:cNvPicPr/>
                      <p:nvPr/>
                    </p:nvPicPr>
                    <p:blipFill>
                      <a:blip r:embed="rId4"/>
                      <a:stretch>
                        <a:fillRect/>
                      </a:stretch>
                    </p:blipFill>
                    <p:spPr>
                      <a:xfrm>
                        <a:off x="457200" y="1944362"/>
                        <a:ext cx="6172201" cy="1101725"/>
                      </a:xfrm>
                      <a:prstGeom prst="rect">
                        <a:avLst/>
                      </a:prstGeom>
                    </p:spPr>
                  </p:pic>
                </p:oleObj>
              </mc:Fallback>
            </mc:AlternateContent>
          </a:graphicData>
        </a:graphic>
      </p:graphicFrame>
      <p:pic>
        <p:nvPicPr>
          <p:cNvPr id="9" name="Picture 8" descr="A flow chart depicting the employment status of the working age population for January 2022.">
            <a:extLst>
              <a:ext uri="{FF2B5EF4-FFF2-40B4-BE49-F238E27FC236}">
                <a16:creationId xmlns:a16="http://schemas.microsoft.com/office/drawing/2014/main" id="{D7F76BCC-87E9-E9D5-F6B4-090269055CA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048000" y="3199177"/>
            <a:ext cx="3048000" cy="2363423"/>
          </a:xfrm>
          <a:prstGeom prst="rect">
            <a:avLst/>
          </a:prstGeom>
        </p:spPr>
      </p:pic>
      <p:sp>
        <p:nvSpPr>
          <p:cNvPr id="2" name="TextBox 1">
            <a:extLst>
              <a:ext uri="{FF2B5EF4-FFF2-40B4-BE49-F238E27FC236}">
                <a16:creationId xmlns:a16="http://schemas.microsoft.com/office/drawing/2014/main" id="{D70D4A37-203B-F0E0-E3FE-58F862C4295F}"/>
              </a:ext>
            </a:extLst>
          </p:cNvPr>
          <p:cNvSpPr txBox="1"/>
          <p:nvPr/>
        </p:nvSpPr>
        <p:spPr>
          <a:xfrm>
            <a:off x="457200" y="5707957"/>
            <a:ext cx="7899470" cy="646331"/>
          </a:xfrm>
          <a:prstGeom prst="rect">
            <a:avLst/>
          </a:prstGeom>
          <a:noFill/>
        </p:spPr>
        <p:txBody>
          <a:bodyPr wrap="none" rtlCol="0">
            <a:spAutoFit/>
          </a:bodyPr>
          <a:lstStyle/>
          <a:p>
            <a:r>
              <a:rPr lang="en-US" sz="1200" b="1" dirty="0"/>
              <a:t>SOURCES:</a:t>
            </a:r>
            <a:r>
              <a:rPr lang="en-US" sz="1200" dirty="0"/>
              <a:t> Statistics Canada, “Labour Force Characteristics by Sex and Detailed Age Group, Month, Unadjusted</a:t>
            </a:r>
          </a:p>
          <a:p>
            <a:r>
              <a:rPr lang="en-US" sz="1200" dirty="0"/>
              <a:t>for Seasonality (×1,000),” Table 14-10-0017-01; and “Reason for Not Looking for Work, Monthly, Unadjusted for</a:t>
            </a:r>
          </a:p>
          <a:p>
            <a:r>
              <a:rPr lang="en-US" sz="1200" dirty="0"/>
              <a:t>Seasonality (×1,000),” Table 14-10-0127-01.</a:t>
            </a:r>
          </a:p>
        </p:txBody>
      </p:sp>
    </p:spTree>
    <p:extLst>
      <p:ext uri="{BB962C8B-B14F-4D97-AF65-F5344CB8AC3E}">
        <p14:creationId xmlns:p14="http://schemas.microsoft.com/office/powerpoint/2010/main" val="26136934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latin typeface="+mj-lt"/>
              </a:rPr>
              <a:t>Problems with Measuring the Unemployment Rate</a:t>
            </a:r>
          </a:p>
        </p:txBody>
      </p:sp>
      <p:sp>
        <p:nvSpPr>
          <p:cNvPr id="3" name="Content Placeholder 2"/>
          <p:cNvSpPr>
            <a:spLocks noGrp="1"/>
          </p:cNvSpPr>
          <p:nvPr>
            <p:ph idx="1"/>
          </p:nvPr>
        </p:nvSpPr>
        <p:spPr>
          <a:xfrm>
            <a:off x="457200" y="1600200"/>
            <a:ext cx="8229600" cy="4495800"/>
          </a:xfrm>
        </p:spPr>
        <p:txBody>
          <a:bodyPr>
            <a:noAutofit/>
          </a:bodyPr>
          <a:lstStyle/>
          <a:p>
            <a:pPr marL="0" indent="0">
              <a:spcBef>
                <a:spcPts val="1000"/>
              </a:spcBef>
              <a:buNone/>
            </a:pPr>
            <a:r>
              <a:rPr lang="en-US" sz="2000" dirty="0"/>
              <a:t>The unemployment rate measured by Statistics Canada is not a perfect measure of joblessness in the economy. Why?</a:t>
            </a:r>
          </a:p>
          <a:p>
            <a:pPr marL="0" indent="0">
              <a:spcBef>
                <a:spcPts val="1000"/>
              </a:spcBef>
              <a:buNone/>
            </a:pPr>
            <a:r>
              <a:rPr lang="en-US" sz="2000" dirty="0"/>
              <a:t>It may </a:t>
            </a:r>
            <a:r>
              <a:rPr lang="en-US" sz="2000" i="1" dirty="0"/>
              <a:t>understate</a:t>
            </a:r>
            <a:r>
              <a:rPr lang="en-US" sz="2000" dirty="0"/>
              <a:t> unemployment:</a:t>
            </a:r>
          </a:p>
          <a:p>
            <a:pPr marL="269875" indent="-269875">
              <a:spcBef>
                <a:spcPts val="1000"/>
              </a:spcBef>
            </a:pPr>
            <a:r>
              <a:rPr lang="en-US" sz="2000" dirty="0"/>
              <a:t>Distinguishing between people who are </a:t>
            </a:r>
            <a:r>
              <a:rPr lang="en-US" sz="2000" i="1" dirty="0"/>
              <a:t>unemployed</a:t>
            </a:r>
            <a:r>
              <a:rPr lang="en-US" sz="2000" dirty="0"/>
              <a:t> and </a:t>
            </a:r>
            <a:r>
              <a:rPr lang="en-US" sz="2000" i="1" dirty="0"/>
              <a:t>not in the </a:t>
            </a:r>
            <a:r>
              <a:rPr lang="en-US" sz="2000" i="1" dirty="0" err="1"/>
              <a:t>labour</a:t>
            </a:r>
            <a:r>
              <a:rPr lang="en-US" sz="2000" i="1" dirty="0"/>
              <a:t> force</a:t>
            </a:r>
            <a:r>
              <a:rPr lang="en-US" sz="2000" dirty="0"/>
              <a:t> requires judgment (should we exclude “discouraged workers”?)</a:t>
            </a:r>
          </a:p>
          <a:p>
            <a:pPr marL="269875" indent="-269875">
              <a:spcBef>
                <a:spcPts val="1000"/>
              </a:spcBef>
            </a:pPr>
            <a:r>
              <a:rPr lang="en-US" sz="2000" dirty="0"/>
              <a:t>It only measures employment, not intensity of employment (full-time vs. part-time; some people are </a:t>
            </a:r>
            <a:r>
              <a:rPr lang="en-US" sz="2000" i="1" dirty="0"/>
              <a:t>underemployed</a:t>
            </a:r>
            <a:r>
              <a:rPr lang="en-US" sz="2000" dirty="0"/>
              <a:t>)</a:t>
            </a:r>
          </a:p>
          <a:p>
            <a:pPr marL="0" indent="0">
              <a:spcBef>
                <a:spcPts val="1000"/>
              </a:spcBef>
              <a:buNone/>
            </a:pPr>
            <a:r>
              <a:rPr lang="en-US" sz="2000" dirty="0"/>
              <a:t>It may </a:t>
            </a:r>
            <a:r>
              <a:rPr lang="en-US" sz="2000" i="1" dirty="0"/>
              <a:t>overstate</a:t>
            </a:r>
            <a:r>
              <a:rPr lang="en-US" sz="2000" dirty="0"/>
              <a:t> unemployment:</a:t>
            </a:r>
          </a:p>
          <a:p>
            <a:pPr marL="269875" indent="-269875">
              <a:spcBef>
                <a:spcPts val="1000"/>
              </a:spcBef>
            </a:pPr>
            <a:r>
              <a:rPr lang="en-US" sz="2000" dirty="0"/>
              <a:t>People might claim falsely to be actively looking for work</a:t>
            </a:r>
          </a:p>
          <a:p>
            <a:pPr marL="269875" indent="-269875">
              <a:spcBef>
                <a:spcPts val="1000"/>
              </a:spcBef>
            </a:pPr>
            <a:r>
              <a:rPr lang="en-US" sz="2000" dirty="0"/>
              <a:t>May claim to be unemployed to evade taxes or keep criminal activity unnoticed</a:t>
            </a:r>
          </a:p>
        </p:txBody>
      </p:sp>
    </p:spTree>
    <p:extLst>
      <p:ext uri="{BB962C8B-B14F-4D97-AF65-F5344CB8AC3E}">
        <p14:creationId xmlns:p14="http://schemas.microsoft.com/office/powerpoint/2010/main" val="34537612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1"/>
            <a:ext cx="8229600" cy="914400"/>
          </a:xfrm>
        </p:spPr>
        <p:txBody>
          <a:bodyPr>
            <a:noAutofit/>
          </a:bodyPr>
          <a:lstStyle/>
          <a:p>
            <a:r>
              <a:rPr lang="en-US" sz="3000" dirty="0">
                <a:latin typeface="+mj-lt"/>
              </a:rPr>
              <a:t>Figure 5.2 Trends in the </a:t>
            </a:r>
            <a:r>
              <a:rPr lang="en-US" sz="3000" dirty="0" err="1">
                <a:latin typeface="+mj-lt"/>
              </a:rPr>
              <a:t>Labour</a:t>
            </a:r>
            <a:r>
              <a:rPr lang="en-US" sz="3000" dirty="0">
                <a:latin typeface="+mj-lt"/>
              </a:rPr>
              <a:t> Force Participation Rate of Men and Women</a:t>
            </a:r>
          </a:p>
        </p:txBody>
      </p:sp>
      <p:sp>
        <p:nvSpPr>
          <p:cNvPr id="3" name="Content Placeholder 2"/>
          <p:cNvSpPr>
            <a:spLocks noGrp="1"/>
          </p:cNvSpPr>
          <p:nvPr>
            <p:ph idx="1"/>
          </p:nvPr>
        </p:nvSpPr>
        <p:spPr>
          <a:xfrm>
            <a:off x="457200" y="1295400"/>
            <a:ext cx="4038600" cy="4988243"/>
          </a:xfrm>
        </p:spPr>
        <p:txBody>
          <a:bodyPr>
            <a:noAutofit/>
          </a:bodyPr>
          <a:lstStyle/>
          <a:p>
            <a:r>
              <a:rPr lang="en-US" sz="2000" dirty="0"/>
              <a:t>Female participation has risen significantly since 1976.</a:t>
            </a:r>
          </a:p>
          <a:p>
            <a:pPr lvl="1"/>
            <a:r>
              <a:rPr lang="en-US" sz="2000" dirty="0"/>
              <a:t>More opportunities for women, improved social attitudes, smaller families.</a:t>
            </a:r>
          </a:p>
          <a:p>
            <a:pPr>
              <a:spcBef>
                <a:spcPts val="600"/>
              </a:spcBef>
            </a:pPr>
            <a:r>
              <a:rPr lang="en-US" sz="2000" dirty="0"/>
              <a:t>Male participation has fallen since 1976</a:t>
            </a:r>
          </a:p>
          <a:p>
            <a:pPr marL="587375" lvl="1"/>
            <a:r>
              <a:rPr lang="en-US" sz="2000" dirty="0"/>
              <a:t>Longer schooling, earlier retirement.</a:t>
            </a:r>
            <a:endParaRPr lang="en-CA" sz="2000" dirty="0">
              <a:effectLst/>
              <a:ea typeface="Malgun Gothic" panose="020B0503020000020004" pitchFamily="34" charset="-127"/>
              <a:cs typeface="Times New Roman" panose="02020603050405020304" pitchFamily="18" charset="0"/>
            </a:endParaRPr>
          </a:p>
          <a:p>
            <a:pPr marL="269875" lvl="0" indent="-269875">
              <a:buFont typeface="Arial" panose="020B0604020202020204" pitchFamily="34" charset="0"/>
              <a:buChar char="•"/>
            </a:pPr>
            <a:r>
              <a:rPr lang="en-US" sz="2000" dirty="0">
                <a:effectLst/>
                <a:ea typeface="Malgun Gothic" panose="020B0503020000020004" pitchFamily="34" charset="-127"/>
                <a:cs typeface="Times New Roman" panose="02020603050405020304" pitchFamily="18" charset="0"/>
              </a:rPr>
              <a:t>In 2020 and 2021, participation rates by both men and women fell relative to 2019 as the Canadian economy dealt with the fallout of the global COVID-19 pandemic.</a:t>
            </a:r>
            <a:endParaRPr lang="en-CA" sz="2000" dirty="0">
              <a:effectLst/>
              <a:ea typeface="Malgun Gothic" panose="020B0503020000020004" pitchFamily="34" charset="-127"/>
              <a:cs typeface="Times New Roman" panose="02020603050405020304" pitchFamily="18" charset="0"/>
            </a:endParaRPr>
          </a:p>
          <a:p>
            <a:pPr marL="457200" lvl="1" indent="0">
              <a:buNone/>
            </a:pPr>
            <a:endParaRPr lang="en-US" sz="2000" dirty="0"/>
          </a:p>
        </p:txBody>
      </p:sp>
      <p:sp>
        <p:nvSpPr>
          <p:cNvPr id="4" name="TextBox 3">
            <a:extLst>
              <a:ext uri="{FF2B5EF4-FFF2-40B4-BE49-F238E27FC236}">
                <a16:creationId xmlns:a16="http://schemas.microsoft.com/office/drawing/2014/main" id="{9628454A-E641-BE4A-2E80-3DE8F6F8CEA8}"/>
              </a:ext>
            </a:extLst>
          </p:cNvPr>
          <p:cNvSpPr txBox="1"/>
          <p:nvPr/>
        </p:nvSpPr>
        <p:spPr>
          <a:xfrm>
            <a:off x="4815444" y="4815840"/>
            <a:ext cx="4038599" cy="1015663"/>
          </a:xfrm>
          <a:prstGeom prst="rect">
            <a:avLst/>
          </a:prstGeom>
          <a:noFill/>
        </p:spPr>
        <p:txBody>
          <a:bodyPr wrap="square" rtlCol="0">
            <a:spAutoFit/>
          </a:bodyPr>
          <a:lstStyle/>
          <a:p>
            <a:r>
              <a:rPr lang="en-US" sz="1200" b="1" dirty="0"/>
              <a:t>SOURCE: </a:t>
            </a:r>
            <a:r>
              <a:rPr lang="en-US" sz="1200" dirty="0"/>
              <a:t>Statistics Canada. Table 14-10-0287-01 Labour force characteristics, monthly, seasonally adjusted and trend-cycle, last 5 months, https://www150.statcan.gc.ca/t1/tbl1/en/tv.action?pid=1410028701</a:t>
            </a:r>
          </a:p>
        </p:txBody>
      </p:sp>
      <p:pic>
        <p:nvPicPr>
          <p:cNvPr id="6" name="Picture 5" descr="The line graph depicts labour force participation of men and women from the year 1976 to the year 2022.">
            <a:extLst>
              <a:ext uri="{FF2B5EF4-FFF2-40B4-BE49-F238E27FC236}">
                <a16:creationId xmlns:a16="http://schemas.microsoft.com/office/drawing/2014/main" id="{EAFA49CA-C985-ED03-A043-B2BB3365564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95800" y="1371600"/>
            <a:ext cx="4260236" cy="3368040"/>
          </a:xfrm>
          <a:prstGeom prst="rect">
            <a:avLst/>
          </a:prstGeom>
        </p:spPr>
      </p:pic>
    </p:spTree>
    <p:extLst>
      <p:ext uri="{BB962C8B-B14F-4D97-AF65-F5344CB8AC3E}">
        <p14:creationId xmlns:p14="http://schemas.microsoft.com/office/powerpoint/2010/main" val="6415915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Job Creation and Job Destruction over Time</a:t>
            </a:r>
            <a:endParaRPr lang="en-US" dirty="0"/>
          </a:p>
        </p:txBody>
      </p:sp>
      <p:sp>
        <p:nvSpPr>
          <p:cNvPr id="3" name="Content Placeholder 2"/>
          <p:cNvSpPr>
            <a:spLocks noGrp="1"/>
          </p:cNvSpPr>
          <p:nvPr>
            <p:ph idx="1"/>
          </p:nvPr>
        </p:nvSpPr>
        <p:spPr/>
        <p:txBody>
          <a:bodyPr>
            <a:noAutofit/>
          </a:bodyPr>
          <a:lstStyle/>
          <a:p>
            <a:pPr marL="0" indent="0">
              <a:spcBef>
                <a:spcPts val="600"/>
              </a:spcBef>
              <a:spcAft>
                <a:spcPts val="0"/>
              </a:spcAft>
              <a:buNone/>
            </a:pPr>
            <a:r>
              <a:rPr lang="en-US" sz="2400" dirty="0"/>
              <a:t>Jobs are continually being created and destroyed in the Canadian economy. </a:t>
            </a:r>
          </a:p>
          <a:p>
            <a:pPr marL="0" indent="0">
              <a:spcBef>
                <a:spcPts val="600"/>
              </a:spcBef>
              <a:spcAft>
                <a:spcPts val="0"/>
              </a:spcAft>
              <a:buNone/>
            </a:pPr>
            <a:r>
              <a:rPr lang="en-US" sz="2400" dirty="0"/>
              <a:t>In January 2022, 890,500 more people had jobs than at the same time in 2021.</a:t>
            </a:r>
          </a:p>
          <a:p>
            <a:pPr marL="0" indent="0">
              <a:spcBef>
                <a:spcPts val="600"/>
              </a:spcBef>
              <a:spcAft>
                <a:spcPts val="0"/>
              </a:spcAft>
              <a:buNone/>
            </a:pPr>
            <a:r>
              <a:rPr lang="en-US" sz="2400" dirty="0"/>
              <a:t>However, the number of jobs created over the year was much larger than 890,500.</a:t>
            </a:r>
          </a:p>
          <a:p>
            <a:pPr marL="0" indent="0">
              <a:spcBef>
                <a:spcPts val="600"/>
              </a:spcBef>
              <a:spcAft>
                <a:spcPts val="0"/>
              </a:spcAft>
              <a:buNone/>
            </a:pPr>
            <a:r>
              <a:rPr lang="en-US" sz="2400" dirty="0"/>
              <a:t>Jobs can be created and destroyed at the same time.</a:t>
            </a:r>
          </a:p>
          <a:p>
            <a:pPr marL="0" indent="0">
              <a:spcBef>
                <a:spcPts val="600"/>
              </a:spcBef>
              <a:spcAft>
                <a:spcPts val="0"/>
              </a:spcAft>
              <a:buNone/>
            </a:pPr>
            <a:r>
              <a:rPr lang="en-US" sz="2400" dirty="0"/>
              <a:t>Between December 2021 and January 2022, the number jobs in Canada fell by just over 200,000 jobs, with Ontario losing 145,700 jobs and Quebec 63,000. </a:t>
            </a:r>
          </a:p>
        </p:txBody>
      </p:sp>
    </p:spTree>
    <p:extLst>
      <p:ext uri="{BB962C8B-B14F-4D97-AF65-F5344CB8AC3E}">
        <p14:creationId xmlns:p14="http://schemas.microsoft.com/office/powerpoint/2010/main" val="15243175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latin typeface="+mj-lt"/>
              </a:rPr>
              <a:t>Types of Unemployment</a:t>
            </a:r>
            <a:endParaRPr lang="en-US" sz="3600" dirty="0">
              <a:latin typeface="+mj-lt"/>
            </a:endParaRPr>
          </a:p>
        </p:txBody>
      </p:sp>
      <p:sp>
        <p:nvSpPr>
          <p:cNvPr id="3" name="Text Placeholder 2">
            <a:extLst>
              <a:ext uri="{FF2B5EF4-FFF2-40B4-BE49-F238E27FC236}">
                <a16:creationId xmlns:a16="http://schemas.microsoft.com/office/drawing/2014/main" id="{FDECB7E1-FD64-4329-D526-C691801D72CE}"/>
              </a:ext>
            </a:extLst>
          </p:cNvPr>
          <p:cNvSpPr>
            <a:spLocks noGrp="1"/>
          </p:cNvSpPr>
          <p:nvPr>
            <p:ph type="body" sz="quarter" idx="13"/>
          </p:nvPr>
        </p:nvSpPr>
        <p:spPr/>
        <p:txBody>
          <a:bodyPr/>
          <a:lstStyle/>
          <a:p>
            <a:r>
              <a:rPr lang="en-US" sz="2400" b="1" dirty="0">
                <a:solidFill>
                  <a:schemeClr val="tx1"/>
                </a:solidFill>
              </a:rPr>
              <a:t>5.2 Learning Objective</a:t>
            </a:r>
          </a:p>
        </p:txBody>
      </p:sp>
      <p:sp>
        <p:nvSpPr>
          <p:cNvPr id="4" name="Content Placeholder 3"/>
          <p:cNvSpPr>
            <a:spLocks noGrp="1"/>
          </p:cNvSpPr>
          <p:nvPr>
            <p:ph sz="quarter" idx="14"/>
          </p:nvPr>
        </p:nvSpPr>
        <p:spPr/>
        <p:txBody>
          <a:bodyPr>
            <a:noAutofit/>
          </a:bodyPr>
          <a:lstStyle/>
          <a:p>
            <a:pPr marL="0" indent="0">
              <a:buNone/>
            </a:pPr>
            <a:r>
              <a:rPr lang="en-US" dirty="0"/>
              <a:t>Identify the three types of unemployment.</a:t>
            </a:r>
          </a:p>
        </p:txBody>
      </p:sp>
    </p:spTree>
    <p:extLst>
      <p:ext uri="{BB962C8B-B14F-4D97-AF65-F5344CB8AC3E}">
        <p14:creationId xmlns:p14="http://schemas.microsoft.com/office/powerpoint/2010/main" val="39186313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3BD7676E-7DFB-2122-0C07-F45241DD9DD2}"/>
              </a:ext>
            </a:extLst>
          </p:cNvPr>
          <p:cNvSpPr>
            <a:spLocks noGrp="1"/>
          </p:cNvSpPr>
          <p:nvPr>
            <p:ph type="title"/>
          </p:nvPr>
        </p:nvSpPr>
        <p:spPr>
          <a:xfrm>
            <a:off x="457200" y="73104"/>
            <a:ext cx="8229600" cy="1069896"/>
          </a:xfrm>
        </p:spPr>
        <p:txBody>
          <a:bodyPr>
            <a:noAutofit/>
          </a:bodyPr>
          <a:lstStyle/>
          <a:p>
            <a:r>
              <a:rPr lang="en-US" dirty="0">
                <a:latin typeface="+mj-lt"/>
              </a:rPr>
              <a:t>Figure 5.3 The Unemployment Rate in Canada, January 1976 to January 2022</a:t>
            </a:r>
          </a:p>
        </p:txBody>
      </p:sp>
      <p:sp>
        <p:nvSpPr>
          <p:cNvPr id="14" name="Content Placeholder 13"/>
          <p:cNvSpPr>
            <a:spLocks noGrp="1"/>
          </p:cNvSpPr>
          <p:nvPr>
            <p:ph idx="1"/>
          </p:nvPr>
        </p:nvSpPr>
        <p:spPr>
          <a:xfrm>
            <a:off x="457200" y="5029867"/>
            <a:ext cx="8153400" cy="1069897"/>
          </a:xfrm>
        </p:spPr>
        <p:txBody>
          <a:bodyPr>
            <a:noAutofit/>
          </a:bodyPr>
          <a:lstStyle/>
          <a:p>
            <a:pPr marL="0" indent="0">
              <a:spcBef>
                <a:spcPts val="600"/>
              </a:spcBef>
              <a:buNone/>
            </a:pPr>
            <a:r>
              <a:rPr lang="en-US" sz="2000" dirty="0"/>
              <a:t>Unemployment rates rise during recessions, and fall during expansions. But they never fall to zero.</a:t>
            </a:r>
          </a:p>
          <a:p>
            <a:pPr marL="269875" indent="-269875">
              <a:spcBef>
                <a:spcPts val="600"/>
              </a:spcBef>
              <a:spcAft>
                <a:spcPts val="1200"/>
              </a:spcAft>
            </a:pPr>
            <a:r>
              <a:rPr lang="en-US" sz="2000" dirty="0"/>
              <a:t>To understand why, we will examine the </a:t>
            </a:r>
            <a:r>
              <a:rPr lang="en-US" sz="2000" i="1" dirty="0"/>
              <a:t>types </a:t>
            </a:r>
            <a:r>
              <a:rPr lang="en-US" sz="2000" dirty="0"/>
              <a:t>of unemployment.</a:t>
            </a:r>
          </a:p>
        </p:txBody>
      </p:sp>
      <p:pic>
        <p:nvPicPr>
          <p:cNvPr id="4" name="Picture 3" descr="A line graph depicts the unemployment rate in Canada from January 1976 to January 2022.">
            <a:extLst>
              <a:ext uri="{FF2B5EF4-FFF2-40B4-BE49-F238E27FC236}">
                <a16:creationId xmlns:a16="http://schemas.microsoft.com/office/drawing/2014/main" id="{5F004FCB-DA6A-A485-9BCA-AD2F55F5BD4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35352" y="1343598"/>
            <a:ext cx="4273296" cy="3096220"/>
          </a:xfrm>
          <a:prstGeom prst="rect">
            <a:avLst/>
          </a:prstGeom>
        </p:spPr>
      </p:pic>
      <p:sp>
        <p:nvSpPr>
          <p:cNvPr id="3" name="TextBox 2">
            <a:extLst>
              <a:ext uri="{FF2B5EF4-FFF2-40B4-BE49-F238E27FC236}">
                <a16:creationId xmlns:a16="http://schemas.microsoft.com/office/drawing/2014/main" id="{43244397-C1A6-4B63-0555-C59328901AD4}"/>
              </a:ext>
            </a:extLst>
          </p:cNvPr>
          <p:cNvSpPr txBox="1"/>
          <p:nvPr/>
        </p:nvSpPr>
        <p:spPr>
          <a:xfrm>
            <a:off x="368859" y="4512432"/>
            <a:ext cx="8153400" cy="461665"/>
          </a:xfrm>
          <a:prstGeom prst="rect">
            <a:avLst/>
          </a:prstGeom>
          <a:noFill/>
        </p:spPr>
        <p:txBody>
          <a:bodyPr wrap="square">
            <a:spAutoFit/>
          </a:bodyPr>
          <a:lstStyle/>
          <a:p>
            <a:r>
              <a:rPr lang="en-US" sz="1200" b="1" i="0" u="none" strike="noStrike" baseline="0" dirty="0">
                <a:latin typeface="+mj-lt"/>
              </a:rPr>
              <a:t>SOURCE:</a:t>
            </a:r>
            <a:r>
              <a:rPr lang="en-US" sz="1200" b="0" i="0" u="none" strike="noStrike" baseline="0" dirty="0">
                <a:latin typeface="+mj-lt"/>
              </a:rPr>
              <a:t> Statistics Canada. Table 14-10-0287-01 Labour force characteristics, monthly, seasonally adjusted and trend-cycle, last 5 months, https://www150.statcan.gc.ca/t1/tbl1/en/tv.action?pid=1410028701</a:t>
            </a:r>
            <a:endParaRPr lang="en-US" sz="1200" dirty="0">
              <a:latin typeface="+mj-lt"/>
            </a:endParaRPr>
          </a:p>
        </p:txBody>
      </p:sp>
    </p:spTree>
    <p:extLst>
      <p:ext uri="{BB962C8B-B14F-4D97-AF65-F5344CB8AC3E}">
        <p14:creationId xmlns:p14="http://schemas.microsoft.com/office/powerpoint/2010/main" val="7183682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latin typeface="+mj-lt"/>
              </a:rPr>
              <a:t>Four Types of Unemployment</a:t>
            </a:r>
          </a:p>
        </p:txBody>
      </p:sp>
      <p:sp>
        <p:nvSpPr>
          <p:cNvPr id="4" name="Content Placeholder 3"/>
          <p:cNvSpPr>
            <a:spLocks noGrp="1"/>
          </p:cNvSpPr>
          <p:nvPr>
            <p:ph idx="1"/>
          </p:nvPr>
        </p:nvSpPr>
        <p:spPr>
          <a:xfrm>
            <a:off x="457200" y="1600200"/>
            <a:ext cx="8229600" cy="3247043"/>
          </a:xfrm>
        </p:spPr>
        <p:txBody>
          <a:bodyPr>
            <a:spAutoFit/>
          </a:bodyPr>
          <a:lstStyle/>
          <a:p>
            <a:pPr marL="0" indent="0">
              <a:spcBef>
                <a:spcPts val="0"/>
              </a:spcBef>
              <a:spcAft>
                <a:spcPts val="1200"/>
              </a:spcAft>
              <a:buNone/>
            </a:pPr>
            <a:r>
              <a:rPr lang="en-US" dirty="0"/>
              <a:t>The four types of unemployment are:</a:t>
            </a:r>
          </a:p>
          <a:p>
            <a:pPr>
              <a:spcBef>
                <a:spcPts val="0"/>
              </a:spcBef>
              <a:spcAft>
                <a:spcPts val="1200"/>
              </a:spcAft>
            </a:pPr>
            <a:r>
              <a:rPr lang="en-US" dirty="0"/>
              <a:t>Frictional unemployment</a:t>
            </a:r>
          </a:p>
          <a:p>
            <a:pPr>
              <a:spcBef>
                <a:spcPts val="0"/>
              </a:spcBef>
              <a:spcAft>
                <a:spcPts val="1200"/>
              </a:spcAft>
            </a:pPr>
            <a:r>
              <a:rPr lang="en-US" dirty="0"/>
              <a:t>Structural unemployment</a:t>
            </a:r>
          </a:p>
          <a:p>
            <a:pPr>
              <a:spcBef>
                <a:spcPts val="0"/>
              </a:spcBef>
              <a:spcAft>
                <a:spcPts val="1200"/>
              </a:spcAft>
            </a:pPr>
            <a:r>
              <a:rPr lang="en-US" dirty="0"/>
              <a:t>Cyclical unemployment</a:t>
            </a:r>
          </a:p>
          <a:p>
            <a:pPr>
              <a:spcBef>
                <a:spcPts val="0"/>
              </a:spcBef>
              <a:spcAft>
                <a:spcPts val="1200"/>
              </a:spcAft>
            </a:pPr>
            <a:r>
              <a:rPr lang="en-US" dirty="0"/>
              <a:t>Seasonal unemployment</a:t>
            </a:r>
          </a:p>
          <a:p>
            <a:pPr marL="0" indent="0">
              <a:spcBef>
                <a:spcPts val="600"/>
              </a:spcBef>
              <a:spcAft>
                <a:spcPts val="1200"/>
              </a:spcAft>
              <a:buNone/>
            </a:pPr>
            <a:r>
              <a:rPr lang="en-US" dirty="0"/>
              <a:t>We will examine each in turn over the coming slides.</a:t>
            </a:r>
          </a:p>
        </p:txBody>
      </p:sp>
    </p:spTree>
    <p:extLst>
      <p:ext uri="{BB962C8B-B14F-4D97-AF65-F5344CB8AC3E}">
        <p14:creationId xmlns:p14="http://schemas.microsoft.com/office/powerpoint/2010/main" val="27073035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t>Frictional Unemployment</a:t>
            </a:r>
          </a:p>
        </p:txBody>
      </p:sp>
      <p:sp>
        <p:nvSpPr>
          <p:cNvPr id="3" name="Content Placeholder 2"/>
          <p:cNvSpPr>
            <a:spLocks noGrp="1"/>
          </p:cNvSpPr>
          <p:nvPr>
            <p:ph idx="1"/>
          </p:nvPr>
        </p:nvSpPr>
        <p:spPr>
          <a:xfrm>
            <a:off x="457200" y="1600200"/>
            <a:ext cx="8229600" cy="4648200"/>
          </a:xfrm>
        </p:spPr>
        <p:txBody>
          <a:bodyPr>
            <a:noAutofit/>
          </a:bodyPr>
          <a:lstStyle/>
          <a:p>
            <a:pPr marL="0" indent="0">
              <a:spcBef>
                <a:spcPts val="1000"/>
              </a:spcBef>
              <a:buNone/>
            </a:pPr>
            <a:r>
              <a:rPr lang="en-IN" sz="2500" b="1" dirty="0"/>
              <a:t>Frictional unemployment:</a:t>
            </a:r>
            <a:r>
              <a:rPr lang="en-IN" sz="2500" dirty="0"/>
              <a:t> Short-term unemployment that arises from the process of matching workers with jobs.</a:t>
            </a:r>
          </a:p>
          <a:p>
            <a:pPr marL="0" indent="0">
              <a:spcBef>
                <a:spcPts val="1000"/>
              </a:spcBef>
              <a:buNone/>
            </a:pPr>
            <a:r>
              <a:rPr lang="en-IN" sz="2500" dirty="0"/>
              <a:t>Frictional unemployment occurs mostly because of </a:t>
            </a:r>
            <a:r>
              <a:rPr lang="en-IN" sz="2500" b="1" i="1" dirty="0"/>
              <a:t>job search</a:t>
            </a:r>
            <a:r>
              <a:rPr lang="en-IN" sz="2500" b="1" dirty="0"/>
              <a:t>:</a:t>
            </a:r>
            <a:r>
              <a:rPr lang="en-IN" sz="2500" dirty="0"/>
              <a:t> people entering or re-entering the labour force, or being between jobs.</a:t>
            </a:r>
          </a:p>
          <a:p>
            <a:pPr marL="0" indent="0">
              <a:spcBef>
                <a:spcPts val="1000"/>
              </a:spcBef>
              <a:buNone/>
            </a:pPr>
            <a:r>
              <a:rPr lang="en-IN" sz="2500" dirty="0"/>
              <a:t>Some frictional unemployment is unavoidable because the process of job search takes time because some workers will always be in the process of finding new jobs.</a:t>
            </a:r>
          </a:p>
          <a:p>
            <a:pPr marL="0" indent="0">
              <a:spcBef>
                <a:spcPts val="1000"/>
              </a:spcBef>
              <a:buNone/>
            </a:pPr>
            <a:r>
              <a:rPr lang="en-IN" sz="2500" dirty="0"/>
              <a:t>Some frictional unemployment actually </a:t>
            </a:r>
            <a:r>
              <a:rPr lang="en-IN" sz="2500" i="1" dirty="0"/>
              <a:t>increases</a:t>
            </a:r>
            <a:r>
              <a:rPr lang="en-IN" sz="2500" dirty="0"/>
              <a:t> economic efficiency by allowing for better job matches.</a:t>
            </a:r>
          </a:p>
        </p:txBody>
      </p:sp>
    </p:spTree>
    <p:extLst>
      <p:ext uri="{BB962C8B-B14F-4D97-AF65-F5344CB8AC3E}">
        <p14:creationId xmlns:p14="http://schemas.microsoft.com/office/powerpoint/2010/main" val="1515952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latin typeface="+mj-lt"/>
              </a:rPr>
              <a:t>Structural Unemployment</a:t>
            </a:r>
          </a:p>
        </p:txBody>
      </p:sp>
      <p:sp>
        <p:nvSpPr>
          <p:cNvPr id="3" name="Content Placeholder 2"/>
          <p:cNvSpPr>
            <a:spLocks noGrp="1"/>
          </p:cNvSpPr>
          <p:nvPr>
            <p:ph idx="1"/>
          </p:nvPr>
        </p:nvSpPr>
        <p:spPr/>
        <p:txBody>
          <a:bodyPr>
            <a:noAutofit/>
          </a:bodyPr>
          <a:lstStyle/>
          <a:p>
            <a:pPr marL="0" indent="0">
              <a:spcBef>
                <a:spcPts val="1000"/>
              </a:spcBef>
              <a:buNone/>
            </a:pPr>
            <a:r>
              <a:rPr lang="en-US" sz="2500" b="1" dirty="0"/>
              <a:t>Structural unemployment:</a:t>
            </a:r>
            <a:r>
              <a:rPr lang="en-US" sz="2500" dirty="0"/>
              <a:t> Unemployment that arises from a persistent mismatch between the skills and attributes of workers and the requirements of jobs.</a:t>
            </a:r>
          </a:p>
          <a:p>
            <a:pPr marL="0" indent="0">
              <a:spcBef>
                <a:spcPts val="1000"/>
              </a:spcBef>
              <a:buNone/>
            </a:pPr>
            <a:r>
              <a:rPr lang="en-US" sz="2500" dirty="0"/>
              <a:t>Structural unemployment is associated with longer unemployment spells.</a:t>
            </a:r>
          </a:p>
          <a:p>
            <a:pPr marL="0" indent="0">
              <a:spcBef>
                <a:spcPts val="1000"/>
              </a:spcBef>
              <a:buNone/>
            </a:pPr>
            <a:r>
              <a:rPr lang="en-US" sz="2500" dirty="0"/>
              <a:t>Workers who are structurally unemployed may require retraining in order to obtain “modern” jobs and during the retraining period, they are unemployed.</a:t>
            </a:r>
          </a:p>
        </p:txBody>
      </p:sp>
    </p:spTree>
    <p:extLst>
      <p:ext uri="{BB962C8B-B14F-4D97-AF65-F5344CB8AC3E}">
        <p14:creationId xmlns:p14="http://schemas.microsoft.com/office/powerpoint/2010/main" val="23960893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t>Cyclical Unemployment</a:t>
            </a:r>
          </a:p>
        </p:txBody>
      </p:sp>
      <p:sp>
        <p:nvSpPr>
          <p:cNvPr id="3" name="Content Placeholder 2"/>
          <p:cNvSpPr>
            <a:spLocks noGrp="1"/>
          </p:cNvSpPr>
          <p:nvPr>
            <p:ph idx="1"/>
          </p:nvPr>
        </p:nvSpPr>
        <p:spPr/>
        <p:txBody>
          <a:bodyPr>
            <a:noAutofit/>
          </a:bodyPr>
          <a:lstStyle/>
          <a:p>
            <a:pPr marL="0" indent="0">
              <a:spcBef>
                <a:spcPts val="0"/>
              </a:spcBef>
              <a:spcAft>
                <a:spcPts val="1200"/>
              </a:spcAft>
              <a:buNone/>
            </a:pPr>
            <a:r>
              <a:rPr lang="en-US" b="1" dirty="0"/>
              <a:t>Cyclical unemployment:</a:t>
            </a:r>
            <a:r>
              <a:rPr lang="en-US" dirty="0"/>
              <a:t> Unemployment caused by a business cycle recession.</a:t>
            </a:r>
          </a:p>
          <a:p>
            <a:pPr marL="0" indent="0">
              <a:spcBef>
                <a:spcPts val="0"/>
              </a:spcBef>
              <a:spcAft>
                <a:spcPts val="1200"/>
              </a:spcAft>
              <a:buNone/>
            </a:pPr>
            <a:r>
              <a:rPr lang="en-US" dirty="0"/>
              <a:t>In February 2009, Chrysler announced to temporarily close its assembly plant in Brampton, Ontario, due to low sales. The laid-off employees experienced cyclical unemployment.</a:t>
            </a:r>
          </a:p>
          <a:p>
            <a:pPr marL="0" indent="0">
              <a:spcBef>
                <a:spcPts val="0"/>
              </a:spcBef>
              <a:spcAft>
                <a:spcPts val="1200"/>
              </a:spcAft>
              <a:buNone/>
            </a:pPr>
            <a:r>
              <a:rPr lang="en-US" dirty="0"/>
              <a:t>In normal recoveries after a recession, unemployment due to cyclical factors will fall.</a:t>
            </a:r>
          </a:p>
        </p:txBody>
      </p:sp>
    </p:spTree>
    <p:extLst>
      <p:ext uri="{BB962C8B-B14F-4D97-AF65-F5344CB8AC3E}">
        <p14:creationId xmlns:p14="http://schemas.microsoft.com/office/powerpoint/2010/main" val="27611275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t>Seasonal Unemployment</a:t>
            </a:r>
          </a:p>
        </p:txBody>
      </p:sp>
      <p:sp>
        <p:nvSpPr>
          <p:cNvPr id="3" name="Content Placeholder 2"/>
          <p:cNvSpPr>
            <a:spLocks noGrp="1"/>
          </p:cNvSpPr>
          <p:nvPr>
            <p:ph idx="1"/>
          </p:nvPr>
        </p:nvSpPr>
        <p:spPr>
          <a:xfrm>
            <a:off x="457200" y="1600200"/>
            <a:ext cx="8229600" cy="4648200"/>
          </a:xfrm>
        </p:spPr>
        <p:txBody>
          <a:bodyPr>
            <a:noAutofit/>
          </a:bodyPr>
          <a:lstStyle/>
          <a:p>
            <a:pPr marL="0" indent="0">
              <a:spcBef>
                <a:spcPts val="1000"/>
              </a:spcBef>
              <a:buNone/>
            </a:pPr>
            <a:r>
              <a:rPr lang="en-US" sz="2500" dirty="0"/>
              <a:t>Seasonal Unemployment is due to seasonal factors, like weather or fluctuations of demand due to the time of the year.</a:t>
            </a:r>
          </a:p>
          <a:p>
            <a:pPr marL="0" indent="0">
              <a:spcBef>
                <a:spcPts val="1000"/>
              </a:spcBef>
              <a:buNone/>
            </a:pPr>
            <a:r>
              <a:rPr lang="en-US" sz="2500" dirty="0"/>
              <a:t>The importance of seasonal unemployment varies by region.</a:t>
            </a:r>
          </a:p>
          <a:p>
            <a:pPr marL="0" indent="0">
              <a:spcBef>
                <a:spcPts val="1000"/>
              </a:spcBef>
              <a:buNone/>
            </a:pPr>
            <a:r>
              <a:rPr lang="en-US" sz="2500" dirty="0"/>
              <a:t>Seasonal unemployment can make the unemployment rate artificially high in winter and artificially low in summer. </a:t>
            </a:r>
          </a:p>
          <a:p>
            <a:pPr marL="0" indent="0">
              <a:spcBef>
                <a:spcPts val="1000"/>
              </a:spcBef>
              <a:buNone/>
            </a:pPr>
            <a:r>
              <a:rPr lang="en-US" sz="2500" dirty="0"/>
              <a:t>Statistics Canada publishes two sets of unemployment figures: one that is seasonally adjusted (seasonal unemployment eliminated) and one that is not seasonally adjusted (seasonal unemployment included).</a:t>
            </a:r>
          </a:p>
        </p:txBody>
      </p:sp>
    </p:spTree>
    <p:extLst>
      <p:ext uri="{BB962C8B-B14F-4D97-AF65-F5344CB8AC3E}">
        <p14:creationId xmlns:p14="http://schemas.microsoft.com/office/powerpoint/2010/main" val="24344365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15372"/>
            <a:ext cx="8229600" cy="927628"/>
          </a:xfrm>
        </p:spPr>
        <p:txBody>
          <a:bodyPr>
            <a:noAutofit/>
          </a:bodyPr>
          <a:lstStyle/>
          <a:p>
            <a:r>
              <a:rPr lang="en-US" dirty="0"/>
              <a:t>Full Employment</a:t>
            </a:r>
          </a:p>
        </p:txBody>
      </p:sp>
      <p:sp>
        <p:nvSpPr>
          <p:cNvPr id="3" name="Content Placeholder 2"/>
          <p:cNvSpPr>
            <a:spLocks noGrp="1"/>
          </p:cNvSpPr>
          <p:nvPr>
            <p:ph idx="1"/>
          </p:nvPr>
        </p:nvSpPr>
        <p:spPr>
          <a:xfrm>
            <a:off x="457200" y="1295400"/>
            <a:ext cx="8229600" cy="4953000"/>
          </a:xfrm>
        </p:spPr>
        <p:txBody>
          <a:bodyPr>
            <a:noAutofit/>
          </a:bodyPr>
          <a:lstStyle/>
          <a:p>
            <a:pPr marL="0" indent="0">
              <a:spcBef>
                <a:spcPts val="0"/>
              </a:spcBef>
              <a:buNone/>
            </a:pPr>
            <a:r>
              <a:rPr lang="en-US" sz="2200" dirty="0"/>
              <a:t>When all unemployment is due to frictional and structural factors, we say that the economy is at </a:t>
            </a:r>
            <a:r>
              <a:rPr lang="en-US" sz="2200" i="1" dirty="0"/>
              <a:t>full employment</a:t>
            </a:r>
            <a:r>
              <a:rPr lang="en-US" sz="2200" dirty="0"/>
              <a:t>. This means there will always be </a:t>
            </a:r>
            <a:r>
              <a:rPr lang="en-US" sz="2200" i="1" dirty="0"/>
              <a:t>some </a:t>
            </a:r>
            <a:r>
              <a:rPr lang="en-US" sz="2200" dirty="0"/>
              <a:t>unemployment in the economy.</a:t>
            </a:r>
          </a:p>
          <a:p>
            <a:pPr marL="269875" indent="-269875">
              <a:spcBef>
                <a:spcPts val="600"/>
              </a:spcBef>
            </a:pPr>
            <a:r>
              <a:rPr lang="en-US" sz="2200" dirty="0"/>
              <a:t>Economists call this the </a:t>
            </a:r>
            <a:r>
              <a:rPr lang="en-US" sz="2200" b="1" dirty="0"/>
              <a:t>natural rate of unemployment:</a:t>
            </a:r>
            <a:r>
              <a:rPr lang="en-US" sz="2200" dirty="0"/>
              <a:t> The normal rate of unemployment, consisting of frictional unemployment and structural unemployment.</a:t>
            </a:r>
          </a:p>
          <a:p>
            <a:pPr marL="269875" indent="-269875">
              <a:spcBef>
                <a:spcPts val="600"/>
              </a:spcBef>
            </a:pPr>
            <a:r>
              <a:rPr lang="en-US" sz="2200" dirty="0"/>
              <a:t>Economists have estimated different natural rates of unemployment for different periods.</a:t>
            </a:r>
          </a:p>
          <a:p>
            <a:pPr marL="269875" indent="-269875">
              <a:spcBef>
                <a:spcPts val="600"/>
              </a:spcBef>
            </a:pPr>
            <a:r>
              <a:rPr lang="en-US" sz="2200" dirty="0"/>
              <a:t>In 2019, economists with the Bank of Canada’s Canadian Economic Analysis Department </a:t>
            </a:r>
            <a:r>
              <a:rPr lang="en-US" sz="2200" dirty="0">
                <a:effectLst/>
                <a:ea typeface="Malgun Gothic" panose="020B0503020000020004" pitchFamily="34" charset="-127"/>
              </a:rPr>
              <a:t>estimated Canada’s natural rate of unemployment from 1989 to 2018.</a:t>
            </a:r>
            <a:r>
              <a:rPr lang="en-CA" sz="2200" dirty="0">
                <a:effectLst/>
              </a:rPr>
              <a:t> </a:t>
            </a:r>
          </a:p>
          <a:p>
            <a:pPr marL="829818" lvl="1" indent="-342900"/>
            <a:r>
              <a:rPr lang="en-CA" sz="2000" dirty="0">
                <a:effectLst/>
              </a:rPr>
              <a:t>They </a:t>
            </a:r>
            <a:r>
              <a:rPr lang="en-US" sz="2000" dirty="0"/>
              <a:t>found that the natural rate of unemployment had been falling over time and estimated the natural rate of unemployment In Canada for 2018 to be between 5.6 and 6.7 percent. </a:t>
            </a:r>
          </a:p>
        </p:txBody>
      </p:sp>
    </p:spTree>
    <p:extLst>
      <p:ext uri="{BB962C8B-B14F-4D97-AF65-F5344CB8AC3E}">
        <p14:creationId xmlns:p14="http://schemas.microsoft.com/office/powerpoint/2010/main" val="6386356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mj-lt"/>
              </a:rPr>
              <a:t>Explaining Unemployment</a:t>
            </a:r>
          </a:p>
        </p:txBody>
      </p:sp>
      <p:sp>
        <p:nvSpPr>
          <p:cNvPr id="4" name="Text Placeholder 3">
            <a:extLst>
              <a:ext uri="{FF2B5EF4-FFF2-40B4-BE49-F238E27FC236}">
                <a16:creationId xmlns:a16="http://schemas.microsoft.com/office/drawing/2014/main" id="{AD8E6B69-38F9-BFA3-21B1-31D2D0857937}"/>
              </a:ext>
            </a:extLst>
          </p:cNvPr>
          <p:cNvSpPr>
            <a:spLocks noGrp="1"/>
          </p:cNvSpPr>
          <p:nvPr>
            <p:ph type="body" sz="quarter" idx="13"/>
          </p:nvPr>
        </p:nvSpPr>
        <p:spPr/>
        <p:txBody>
          <a:bodyPr/>
          <a:lstStyle/>
          <a:p>
            <a:r>
              <a:rPr lang="en-US" sz="2400" b="1" dirty="0">
                <a:solidFill>
                  <a:schemeClr val="tx1"/>
                </a:solidFill>
              </a:rPr>
              <a:t>5.3 Learning Objective</a:t>
            </a:r>
          </a:p>
        </p:txBody>
      </p:sp>
      <p:sp>
        <p:nvSpPr>
          <p:cNvPr id="3" name="Content Placeholder 2"/>
          <p:cNvSpPr>
            <a:spLocks noGrp="1"/>
          </p:cNvSpPr>
          <p:nvPr>
            <p:ph sz="quarter" idx="14"/>
          </p:nvPr>
        </p:nvSpPr>
        <p:spPr>
          <a:xfrm>
            <a:off x="457200" y="1676400"/>
            <a:ext cx="8229600" cy="4449763"/>
          </a:xfrm>
        </p:spPr>
        <p:txBody>
          <a:bodyPr>
            <a:noAutofit/>
          </a:bodyPr>
          <a:lstStyle/>
          <a:p>
            <a:pPr marL="0" indent="0">
              <a:buNone/>
            </a:pPr>
            <a:r>
              <a:rPr lang="en-US" dirty="0"/>
              <a:t>Explain what factors determine the unemployment rate.</a:t>
            </a:r>
          </a:p>
        </p:txBody>
      </p:sp>
    </p:spTree>
    <p:extLst>
      <p:ext uri="{BB962C8B-B14F-4D97-AF65-F5344CB8AC3E}">
        <p14:creationId xmlns:p14="http://schemas.microsoft.com/office/powerpoint/2010/main" val="35164327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96560"/>
            <a:ext cx="8229600" cy="1046440"/>
          </a:xfrm>
        </p:spPr>
        <p:txBody>
          <a:bodyPr>
            <a:noAutofit/>
          </a:bodyPr>
          <a:lstStyle/>
          <a:p>
            <a:r>
              <a:rPr lang="en-US" dirty="0">
                <a:latin typeface="+mj-lt"/>
              </a:rPr>
              <a:t>Government Policies and the Unemployment Rate</a:t>
            </a:r>
            <a:endParaRPr lang="en-US" i="1" dirty="0">
              <a:latin typeface="+mj-lt"/>
            </a:endParaRPr>
          </a:p>
        </p:txBody>
      </p:sp>
      <p:sp>
        <p:nvSpPr>
          <p:cNvPr id="3" name="Content Placeholder 2"/>
          <p:cNvSpPr>
            <a:spLocks noGrp="1"/>
          </p:cNvSpPr>
          <p:nvPr>
            <p:ph idx="1"/>
          </p:nvPr>
        </p:nvSpPr>
        <p:spPr>
          <a:xfrm>
            <a:off x="457200" y="1390650"/>
            <a:ext cx="8229600" cy="4781550"/>
          </a:xfrm>
        </p:spPr>
        <p:txBody>
          <a:bodyPr>
            <a:noAutofit/>
          </a:bodyPr>
          <a:lstStyle/>
          <a:p>
            <a:pPr marL="0" indent="0">
              <a:spcBef>
                <a:spcPts val="0"/>
              </a:spcBef>
              <a:spcAft>
                <a:spcPts val="1200"/>
              </a:spcAft>
              <a:buNone/>
            </a:pPr>
            <a:r>
              <a:rPr lang="en-US" sz="2200" dirty="0"/>
              <a:t>Governments often attempt to directly influence unemployment.</a:t>
            </a:r>
          </a:p>
          <a:p>
            <a:pPr marL="0" indent="0">
              <a:spcBef>
                <a:spcPts val="0"/>
              </a:spcBef>
              <a:spcAft>
                <a:spcPts val="1200"/>
              </a:spcAft>
              <a:buNone/>
            </a:pPr>
            <a:r>
              <a:rPr lang="en-US" sz="2200" i="1" dirty="0"/>
              <a:t>Example: The Ontario government’s “Better Jobs Ontario” program offers support to retrain laid-off workers. This would reduce structural unemployment.</a:t>
            </a:r>
            <a:endParaRPr lang="en-US" sz="2200" dirty="0"/>
          </a:p>
          <a:p>
            <a:pPr marL="0" indent="0">
              <a:spcBef>
                <a:spcPts val="0"/>
              </a:spcBef>
              <a:spcAft>
                <a:spcPts val="1200"/>
              </a:spcAft>
              <a:buNone/>
            </a:pPr>
            <a:r>
              <a:rPr lang="en-US" sz="2200" dirty="0"/>
              <a:t>Other policies try to reduce frictional unemployment, for example, by subsidizing new hires.</a:t>
            </a:r>
          </a:p>
          <a:p>
            <a:pPr marL="0" indent="0">
              <a:spcBef>
                <a:spcPts val="0"/>
              </a:spcBef>
              <a:spcAft>
                <a:spcPts val="1200"/>
              </a:spcAft>
              <a:buNone/>
            </a:pPr>
            <a:r>
              <a:rPr lang="en-US" sz="2200" dirty="0"/>
              <a:t>However, some other government policies probably </a:t>
            </a:r>
            <a:r>
              <a:rPr lang="en-US" sz="2200" i="1" dirty="0"/>
              <a:t>increase</a:t>
            </a:r>
            <a:r>
              <a:rPr lang="en-US" sz="2200" dirty="0"/>
              <a:t> unemployment, like:</a:t>
            </a:r>
          </a:p>
          <a:p>
            <a:pPr marL="342900" indent="-342900">
              <a:spcBef>
                <a:spcPts val="0"/>
              </a:spcBef>
              <a:spcAft>
                <a:spcPts val="1200"/>
              </a:spcAft>
            </a:pPr>
            <a:r>
              <a:rPr lang="en-US" sz="2200" dirty="0"/>
              <a:t>Employment insurance, and</a:t>
            </a:r>
          </a:p>
          <a:p>
            <a:pPr marL="342900" indent="-342900">
              <a:spcBef>
                <a:spcPts val="0"/>
              </a:spcBef>
              <a:spcAft>
                <a:spcPts val="1200"/>
              </a:spcAft>
            </a:pPr>
            <a:r>
              <a:rPr lang="en-US" sz="2200" dirty="0"/>
              <a:t>Minimum wage laws</a:t>
            </a:r>
          </a:p>
          <a:p>
            <a:pPr marL="0" indent="0">
              <a:spcBef>
                <a:spcPts val="0"/>
              </a:spcBef>
              <a:spcAft>
                <a:spcPts val="1200"/>
              </a:spcAft>
              <a:buNone/>
            </a:pPr>
            <a:r>
              <a:rPr lang="en-US" sz="2200" dirty="0"/>
              <a:t>We will examine the effects of each of these on unemployment.</a:t>
            </a:r>
          </a:p>
        </p:txBody>
      </p:sp>
    </p:spTree>
    <p:extLst>
      <p:ext uri="{BB962C8B-B14F-4D97-AF65-F5344CB8AC3E}">
        <p14:creationId xmlns:p14="http://schemas.microsoft.com/office/powerpoint/2010/main" val="29751642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07334"/>
            <a:ext cx="8229600" cy="1021259"/>
          </a:xfrm>
        </p:spPr>
        <p:txBody>
          <a:bodyPr>
            <a:noAutofit/>
          </a:bodyPr>
          <a:lstStyle/>
          <a:p>
            <a:r>
              <a:rPr lang="en-US" dirty="0">
                <a:latin typeface="+mj-lt"/>
              </a:rPr>
              <a:t>Employment Insurance (EI)</a:t>
            </a:r>
            <a:endParaRPr lang="en-US" i="1" dirty="0">
              <a:latin typeface="+mj-lt"/>
            </a:endParaRPr>
          </a:p>
        </p:txBody>
      </p:sp>
      <p:sp>
        <p:nvSpPr>
          <p:cNvPr id="3" name="Content Placeholder 2"/>
          <p:cNvSpPr>
            <a:spLocks noGrp="1"/>
          </p:cNvSpPr>
          <p:nvPr>
            <p:ph idx="1"/>
          </p:nvPr>
        </p:nvSpPr>
        <p:spPr>
          <a:xfrm>
            <a:off x="435543" y="1219200"/>
            <a:ext cx="8229600" cy="1661993"/>
          </a:xfrm>
        </p:spPr>
        <p:txBody>
          <a:bodyPr>
            <a:noAutofit/>
          </a:bodyPr>
          <a:lstStyle/>
          <a:p>
            <a:pPr marL="0" indent="0">
              <a:spcBef>
                <a:spcPts val="0"/>
              </a:spcBef>
              <a:spcAft>
                <a:spcPts val="1200"/>
              </a:spcAft>
              <a:buNone/>
            </a:pPr>
            <a:r>
              <a:rPr lang="en-US" sz="2200" dirty="0"/>
              <a:t>Suppose you have just lost your job. You want to find another, and have two main options:</a:t>
            </a:r>
          </a:p>
          <a:p>
            <a:pPr marL="269875" indent="-269875">
              <a:spcBef>
                <a:spcPts val="0"/>
              </a:spcBef>
              <a:spcAft>
                <a:spcPts val="1200"/>
              </a:spcAft>
            </a:pPr>
            <a:r>
              <a:rPr lang="en-US" sz="2200" dirty="0"/>
              <a:t>Take a new low-paying job immediately, or</a:t>
            </a:r>
          </a:p>
          <a:p>
            <a:pPr marL="269875" indent="-269875">
              <a:spcBef>
                <a:spcPts val="0"/>
              </a:spcBef>
              <a:spcAft>
                <a:spcPts val="1200"/>
              </a:spcAft>
            </a:pPr>
            <a:r>
              <a:rPr lang="en-US" sz="2200" dirty="0"/>
              <a:t>Search for a better job</a:t>
            </a:r>
          </a:p>
        </p:txBody>
      </p:sp>
      <p:sp>
        <p:nvSpPr>
          <p:cNvPr id="4" name="Content Placeholder 3"/>
          <p:cNvSpPr>
            <a:spLocks noGrp="1"/>
          </p:cNvSpPr>
          <p:nvPr>
            <p:ph idx="13"/>
          </p:nvPr>
        </p:nvSpPr>
        <p:spPr>
          <a:xfrm>
            <a:off x="457200" y="2971800"/>
            <a:ext cx="8229600" cy="3346013"/>
          </a:xfrm>
        </p:spPr>
        <p:txBody>
          <a:bodyPr>
            <a:noAutofit/>
          </a:bodyPr>
          <a:lstStyle/>
          <a:p>
            <a:pPr marL="0" indent="0">
              <a:spcBef>
                <a:spcPts val="0"/>
              </a:spcBef>
              <a:spcAft>
                <a:spcPts val="1200"/>
              </a:spcAft>
              <a:buNone/>
            </a:pPr>
            <a:r>
              <a:rPr lang="en-US" sz="2200" dirty="0"/>
              <a:t>If </a:t>
            </a:r>
            <a:r>
              <a:rPr lang="en-US" sz="2200" i="1" dirty="0"/>
              <a:t>employment insurance payments</a:t>
            </a:r>
            <a:r>
              <a:rPr lang="en-US" sz="2200" dirty="0"/>
              <a:t> are available to you, you will be more likely to choose the second option.</a:t>
            </a:r>
          </a:p>
          <a:p>
            <a:pPr marL="0" indent="0">
              <a:spcBef>
                <a:spcPts val="0"/>
              </a:spcBef>
              <a:spcAft>
                <a:spcPts val="1200"/>
              </a:spcAft>
              <a:buNone/>
            </a:pPr>
            <a:r>
              <a:rPr lang="en-US" sz="2200" dirty="0"/>
              <a:t>In Canada, employment insurance will replace 55% of your earnings up to a maximum of $595 per week (in 2021). These benefits are much more generous than in the U.S., but similar to other industrial countries.</a:t>
            </a:r>
          </a:p>
          <a:p>
            <a:pPr marL="269875" indent="-269875">
              <a:spcBef>
                <a:spcPts val="0"/>
              </a:spcBef>
              <a:spcAft>
                <a:spcPts val="1200"/>
              </a:spcAft>
            </a:pPr>
            <a:r>
              <a:rPr lang="en-US" sz="2200" dirty="0"/>
              <a:t>EI helps unemployed people to spend more time searching for a job that suits their skills which makes the economy more productive.</a:t>
            </a:r>
          </a:p>
        </p:txBody>
      </p:sp>
    </p:spTree>
    <p:extLst>
      <p:ext uri="{BB962C8B-B14F-4D97-AF65-F5344CB8AC3E}">
        <p14:creationId xmlns:p14="http://schemas.microsoft.com/office/powerpoint/2010/main" val="11868858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t>Minimum Wage Laws</a:t>
            </a:r>
          </a:p>
        </p:txBody>
      </p:sp>
      <p:sp>
        <p:nvSpPr>
          <p:cNvPr id="3" name="Content Placeholder 2"/>
          <p:cNvSpPr>
            <a:spLocks noGrp="1"/>
          </p:cNvSpPr>
          <p:nvPr>
            <p:ph idx="1"/>
          </p:nvPr>
        </p:nvSpPr>
        <p:spPr>
          <a:xfrm>
            <a:off x="457200" y="1600200"/>
            <a:ext cx="8229600" cy="4648200"/>
          </a:xfrm>
        </p:spPr>
        <p:txBody>
          <a:bodyPr>
            <a:noAutofit/>
          </a:bodyPr>
          <a:lstStyle/>
          <a:p>
            <a:pPr marL="0" indent="0">
              <a:spcBef>
                <a:spcPts val="1000"/>
              </a:spcBef>
              <a:buNone/>
            </a:pPr>
            <a:r>
              <a:rPr lang="en-US" sz="2200" dirty="0"/>
              <a:t>Minimum wage laws are designed to help low-income workers; but raising the wage that firms have to pay will likely result in them hiring fewer workers.</a:t>
            </a:r>
          </a:p>
          <a:p>
            <a:pPr marL="0" indent="0">
              <a:spcBef>
                <a:spcPts val="1000"/>
              </a:spcBef>
              <a:buNone/>
            </a:pPr>
            <a:r>
              <a:rPr lang="en-US" sz="2200" kern="0" dirty="0"/>
              <a:t>As of June 2022, the highest minimum wage was $16/hour in Nunavut, and the lowest was $12.75/hour in New Brunswick.</a:t>
            </a:r>
          </a:p>
          <a:p>
            <a:pPr marL="0" indent="0">
              <a:spcBef>
                <a:spcPts val="1000"/>
              </a:spcBef>
              <a:buNone/>
            </a:pPr>
            <a:r>
              <a:rPr lang="en-US" sz="2200" kern="0" dirty="0"/>
              <a:t>Relatively few full-time adults earn minimum wage. The group most likely to receive minimum wage is teenagers.</a:t>
            </a:r>
          </a:p>
          <a:p>
            <a:pPr marL="0" indent="0">
              <a:spcBef>
                <a:spcPts val="1000"/>
              </a:spcBef>
              <a:buNone/>
            </a:pPr>
            <a:r>
              <a:rPr lang="en-US" sz="2200" kern="0" dirty="0"/>
              <a:t>How much unemployment does the minimum wage really cause? Economists are uncertain, but believe it is relatively small.</a:t>
            </a:r>
          </a:p>
          <a:p>
            <a:pPr marL="0" indent="0">
              <a:spcBef>
                <a:spcPts val="1000"/>
              </a:spcBef>
              <a:buNone/>
            </a:pPr>
            <a:r>
              <a:rPr lang="en-US" sz="2200" kern="0" dirty="0"/>
              <a:t>Studies suggest a 10% increase in the minimum wage would reduce teenage employment by about 2%.</a:t>
            </a:r>
          </a:p>
        </p:txBody>
      </p:sp>
    </p:spTree>
    <p:extLst>
      <p:ext uri="{BB962C8B-B14F-4D97-AF65-F5344CB8AC3E}">
        <p14:creationId xmlns:p14="http://schemas.microsoft.com/office/powerpoint/2010/main" val="40769141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Labour Unions</a:t>
            </a:r>
          </a:p>
        </p:txBody>
      </p:sp>
      <p:sp>
        <p:nvSpPr>
          <p:cNvPr id="3" name="Content Placeholder 2"/>
          <p:cNvSpPr>
            <a:spLocks noGrp="1"/>
          </p:cNvSpPr>
          <p:nvPr>
            <p:ph idx="1"/>
          </p:nvPr>
        </p:nvSpPr>
        <p:spPr>
          <a:xfrm>
            <a:off x="457200" y="1600200"/>
            <a:ext cx="8229600" cy="4724400"/>
          </a:xfrm>
        </p:spPr>
        <p:txBody>
          <a:bodyPr>
            <a:noAutofit/>
          </a:bodyPr>
          <a:lstStyle/>
          <a:p>
            <a:pPr marL="0" indent="0">
              <a:spcBef>
                <a:spcPts val="1000"/>
              </a:spcBef>
              <a:buNone/>
            </a:pPr>
            <a:r>
              <a:rPr lang="en-US" sz="2400" dirty="0"/>
              <a:t>Labour unions are organizations of workers that bargain with employers for higher wages and better working conditions for their members.</a:t>
            </a:r>
          </a:p>
          <a:p>
            <a:pPr marL="0" indent="0">
              <a:spcBef>
                <a:spcPts val="1000"/>
              </a:spcBef>
              <a:buNone/>
            </a:pPr>
            <a:r>
              <a:rPr lang="en-US" sz="2400" dirty="0"/>
              <a:t>Unions are probably not a significant cause of unemployment in Canada. </a:t>
            </a:r>
          </a:p>
          <a:p>
            <a:pPr marL="0" indent="0">
              <a:spcBef>
                <a:spcPts val="1000"/>
              </a:spcBef>
              <a:buNone/>
            </a:pPr>
            <a:r>
              <a:rPr lang="en-US" sz="2400" dirty="0"/>
              <a:t>While they raise the wage, by the end of 2021, about 30.9% of Canadian workers belonged to a union.</a:t>
            </a:r>
          </a:p>
          <a:p>
            <a:pPr marL="0" indent="0">
              <a:spcBef>
                <a:spcPts val="1000"/>
              </a:spcBef>
              <a:buNone/>
            </a:pPr>
            <a:r>
              <a:rPr lang="en-US" sz="2400" dirty="0"/>
              <a:t>The vast majority of government employees, 77.2%, are member of a union.</a:t>
            </a:r>
          </a:p>
          <a:p>
            <a:pPr marL="0" indent="0">
              <a:spcBef>
                <a:spcPts val="1000"/>
              </a:spcBef>
              <a:buNone/>
            </a:pPr>
            <a:r>
              <a:rPr lang="en-US" sz="2400" dirty="0"/>
              <a:t>In the private sector, only 15.3% workers are unionized, limiting the effect that unions have on the wider economy.</a:t>
            </a:r>
          </a:p>
        </p:txBody>
      </p:sp>
    </p:spTree>
    <p:extLst>
      <p:ext uri="{BB962C8B-B14F-4D97-AF65-F5344CB8AC3E}">
        <p14:creationId xmlns:p14="http://schemas.microsoft.com/office/powerpoint/2010/main" val="227028555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t>Efficiency Wages</a:t>
            </a:r>
          </a:p>
        </p:txBody>
      </p:sp>
      <p:sp>
        <p:nvSpPr>
          <p:cNvPr id="3" name="Content Placeholder 2"/>
          <p:cNvSpPr>
            <a:spLocks noGrp="1"/>
          </p:cNvSpPr>
          <p:nvPr>
            <p:ph idx="1"/>
          </p:nvPr>
        </p:nvSpPr>
        <p:spPr/>
        <p:txBody>
          <a:bodyPr>
            <a:noAutofit/>
          </a:bodyPr>
          <a:lstStyle/>
          <a:p>
            <a:pPr marL="0" indent="0">
              <a:spcBef>
                <a:spcPts val="0"/>
              </a:spcBef>
              <a:spcAft>
                <a:spcPts val="1200"/>
              </a:spcAft>
              <a:buNone/>
            </a:pPr>
            <a:r>
              <a:rPr lang="en-US" b="1" dirty="0"/>
              <a:t>Efficiency wage</a:t>
            </a:r>
            <a:r>
              <a:rPr lang="en-US" dirty="0"/>
              <a:t>: An above-market wage that a firm pays to increase workers’ productivity.</a:t>
            </a:r>
          </a:p>
          <a:p>
            <a:pPr marL="0" indent="0">
              <a:spcBef>
                <a:spcPts val="0"/>
              </a:spcBef>
              <a:spcAft>
                <a:spcPts val="1200"/>
              </a:spcAft>
              <a:buNone/>
            </a:pPr>
            <a:r>
              <a:rPr lang="en-US" dirty="0"/>
              <a:t>Firms want to get the best performance they can out of their workers. Sometimes monitoring workers is difficult or costly; an alternative is to pay them a relatively high wage, making them motivated to perform well in order to keep their job.</a:t>
            </a:r>
          </a:p>
          <a:p>
            <a:pPr marL="0" indent="0">
              <a:spcBef>
                <a:spcPts val="0"/>
              </a:spcBef>
              <a:spcAft>
                <a:spcPts val="1200"/>
              </a:spcAft>
              <a:buNone/>
            </a:pPr>
            <a:r>
              <a:rPr lang="en-US" dirty="0"/>
              <a:t>These above-market wages are probably another reason why unemployment exists even when cyclical unemployment is zero.</a:t>
            </a:r>
          </a:p>
        </p:txBody>
      </p:sp>
    </p:spTree>
    <p:extLst>
      <p:ext uri="{BB962C8B-B14F-4D97-AF65-F5344CB8AC3E}">
        <p14:creationId xmlns:p14="http://schemas.microsoft.com/office/powerpoint/2010/main" val="27390320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15372"/>
            <a:ext cx="8229600" cy="775228"/>
          </a:xfrm>
        </p:spPr>
        <p:txBody>
          <a:bodyPr/>
          <a:lstStyle/>
          <a:p>
            <a:r>
              <a:rPr lang="en-US" dirty="0">
                <a:latin typeface="+mj-lt"/>
              </a:rPr>
              <a:t>Measuring Inflation</a:t>
            </a:r>
          </a:p>
        </p:txBody>
      </p:sp>
      <p:sp>
        <p:nvSpPr>
          <p:cNvPr id="4" name="Text Placeholder 3">
            <a:extLst>
              <a:ext uri="{FF2B5EF4-FFF2-40B4-BE49-F238E27FC236}">
                <a16:creationId xmlns:a16="http://schemas.microsoft.com/office/drawing/2014/main" id="{76AA707C-4BBE-F0DB-4BE8-51289B600A8D}"/>
              </a:ext>
            </a:extLst>
          </p:cNvPr>
          <p:cNvSpPr>
            <a:spLocks noGrp="1"/>
          </p:cNvSpPr>
          <p:nvPr>
            <p:ph type="body" sz="quarter" idx="13"/>
          </p:nvPr>
        </p:nvSpPr>
        <p:spPr>
          <a:xfrm>
            <a:off x="457200" y="974558"/>
            <a:ext cx="8229600" cy="402770"/>
          </a:xfrm>
        </p:spPr>
        <p:txBody>
          <a:bodyPr/>
          <a:lstStyle/>
          <a:p>
            <a:r>
              <a:rPr lang="en-US" sz="2400" b="1" dirty="0">
                <a:solidFill>
                  <a:schemeClr val="tx1"/>
                </a:solidFill>
              </a:rPr>
              <a:t>5.4 Learning Objective</a:t>
            </a:r>
          </a:p>
        </p:txBody>
      </p:sp>
      <p:sp>
        <p:nvSpPr>
          <p:cNvPr id="6" name="Content Placeholder 5">
            <a:extLst>
              <a:ext uri="{FF2B5EF4-FFF2-40B4-BE49-F238E27FC236}">
                <a16:creationId xmlns:a16="http://schemas.microsoft.com/office/drawing/2014/main" id="{E0183803-D891-4036-A870-99A47953B04A}"/>
              </a:ext>
            </a:extLst>
          </p:cNvPr>
          <p:cNvSpPr>
            <a:spLocks noGrp="1"/>
          </p:cNvSpPr>
          <p:nvPr>
            <p:ph sz="quarter" idx="14"/>
          </p:nvPr>
        </p:nvSpPr>
        <p:spPr/>
        <p:txBody>
          <a:bodyPr/>
          <a:lstStyle/>
          <a:p>
            <a:pPr marL="0" indent="0">
              <a:buNone/>
            </a:pPr>
            <a:r>
              <a:rPr lang="en-US" dirty="0"/>
              <a:t>Define price level and inflation rate, and understand how they are computed.</a:t>
            </a:r>
          </a:p>
        </p:txBody>
      </p:sp>
    </p:spTree>
    <p:extLst>
      <p:ext uri="{BB962C8B-B14F-4D97-AF65-F5344CB8AC3E}">
        <p14:creationId xmlns:p14="http://schemas.microsoft.com/office/powerpoint/2010/main" val="326726168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latin typeface="+mj-lt"/>
              </a:rPr>
              <a:t>Price Level and Inflation Rate</a:t>
            </a:r>
          </a:p>
        </p:txBody>
      </p:sp>
      <p:sp>
        <p:nvSpPr>
          <p:cNvPr id="3" name="Content Placeholder 2"/>
          <p:cNvSpPr>
            <a:spLocks noGrp="1"/>
          </p:cNvSpPr>
          <p:nvPr>
            <p:ph idx="1"/>
          </p:nvPr>
        </p:nvSpPr>
        <p:spPr/>
        <p:txBody>
          <a:bodyPr>
            <a:noAutofit/>
          </a:bodyPr>
          <a:lstStyle/>
          <a:p>
            <a:pPr marL="0" indent="0">
              <a:spcBef>
                <a:spcPts val="1000"/>
              </a:spcBef>
              <a:buNone/>
            </a:pPr>
            <a:r>
              <a:rPr lang="en-US" sz="2000" dirty="0"/>
              <a:t>In the previous chapter we introduced the idea of the </a:t>
            </a:r>
            <a:r>
              <a:rPr lang="en-US" sz="2000" b="1" dirty="0"/>
              <a:t>price level:</a:t>
            </a:r>
            <a:r>
              <a:rPr lang="en-US" sz="2000" dirty="0"/>
              <a:t> a measure of the average prices of goods and services in the economy.</a:t>
            </a:r>
          </a:p>
          <a:p>
            <a:pPr marL="0" indent="0">
              <a:spcBef>
                <a:spcPts val="1000"/>
              </a:spcBef>
              <a:buNone/>
            </a:pPr>
            <a:r>
              <a:rPr lang="en-US" sz="2000" b="1" dirty="0"/>
              <a:t>Inflation rate</a:t>
            </a:r>
            <a:r>
              <a:rPr lang="en-US" sz="2000" dirty="0"/>
              <a:t> refers to the percentage increase in the price level from one year to the next.</a:t>
            </a:r>
          </a:p>
          <a:p>
            <a:pPr marL="0" indent="0">
              <a:spcBef>
                <a:spcPts val="1000"/>
              </a:spcBef>
              <a:buNone/>
            </a:pPr>
            <a:r>
              <a:rPr lang="en-US" sz="2000" dirty="0"/>
              <a:t>In Chapter 4, we used the </a:t>
            </a:r>
            <a:r>
              <a:rPr lang="en-US" sz="2000" i="1" dirty="0"/>
              <a:t>GDP deflator</a:t>
            </a:r>
            <a:r>
              <a:rPr lang="en-US" sz="2000" dirty="0"/>
              <a:t> to measure changes in the price level. It excludes price of imports and include price of exports. </a:t>
            </a:r>
          </a:p>
          <a:p>
            <a:pPr marL="0" indent="0">
              <a:spcBef>
                <a:spcPts val="1000"/>
              </a:spcBef>
              <a:buNone/>
            </a:pPr>
            <a:r>
              <a:rPr lang="en-US" sz="2000" dirty="0"/>
              <a:t>By measuring changes in the prices of different </a:t>
            </a:r>
            <a:r>
              <a:rPr lang="en-US" sz="2000" i="1" dirty="0"/>
              <a:t>baskets of goods</a:t>
            </a:r>
            <a:r>
              <a:rPr lang="en-US" sz="2000" dirty="0"/>
              <a:t>, we would come up with different measures.</a:t>
            </a:r>
          </a:p>
          <a:p>
            <a:pPr marL="0" indent="0">
              <a:spcBef>
                <a:spcPts val="600"/>
              </a:spcBef>
              <a:spcAft>
                <a:spcPts val="600"/>
              </a:spcAft>
              <a:buNone/>
            </a:pPr>
            <a:r>
              <a:rPr lang="en-US" sz="2000" dirty="0"/>
              <a:t>Two commonly-used measures are:</a:t>
            </a:r>
          </a:p>
          <a:p>
            <a:pPr marL="269875" indent="-269875">
              <a:spcBef>
                <a:spcPts val="0"/>
              </a:spcBef>
              <a:spcAft>
                <a:spcPts val="600"/>
              </a:spcAft>
            </a:pPr>
            <a:r>
              <a:rPr lang="en-US" sz="2000" dirty="0"/>
              <a:t>The consumer price index (CPI)</a:t>
            </a:r>
          </a:p>
          <a:p>
            <a:pPr marL="269875" indent="-269875">
              <a:spcBef>
                <a:spcPts val="0"/>
              </a:spcBef>
              <a:spcAft>
                <a:spcPts val="600"/>
              </a:spcAft>
            </a:pPr>
            <a:r>
              <a:rPr lang="en-US" sz="2000" dirty="0"/>
              <a:t>The producer price index (PPI)</a:t>
            </a:r>
          </a:p>
          <a:p>
            <a:pPr marL="0" indent="0">
              <a:spcBef>
                <a:spcPts val="0"/>
              </a:spcBef>
              <a:spcAft>
                <a:spcPts val="600"/>
              </a:spcAft>
              <a:buNone/>
            </a:pPr>
            <a:r>
              <a:rPr lang="en-US" sz="2000" dirty="0"/>
              <a:t>We will examine each in turn.</a:t>
            </a:r>
          </a:p>
        </p:txBody>
      </p:sp>
    </p:spTree>
    <p:extLst>
      <p:ext uri="{BB962C8B-B14F-4D97-AF65-F5344CB8AC3E}">
        <p14:creationId xmlns:p14="http://schemas.microsoft.com/office/powerpoint/2010/main" val="34206503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1"/>
            <a:ext cx="8229600" cy="601980"/>
          </a:xfrm>
        </p:spPr>
        <p:txBody>
          <a:bodyPr>
            <a:noAutofit/>
          </a:bodyPr>
          <a:lstStyle/>
          <a:p>
            <a:r>
              <a:rPr lang="en-US" dirty="0">
                <a:latin typeface="+mj-lt"/>
              </a:rPr>
              <a:t>Figure 5.4 The CPI Basket, 2021</a:t>
            </a:r>
          </a:p>
        </p:txBody>
      </p:sp>
      <p:sp>
        <p:nvSpPr>
          <p:cNvPr id="3" name="Content Placeholder 2"/>
          <p:cNvSpPr>
            <a:spLocks noGrp="1"/>
          </p:cNvSpPr>
          <p:nvPr>
            <p:ph idx="1"/>
          </p:nvPr>
        </p:nvSpPr>
        <p:spPr>
          <a:xfrm>
            <a:off x="457200" y="1064597"/>
            <a:ext cx="3657600" cy="4955203"/>
          </a:xfrm>
        </p:spPr>
        <p:txBody>
          <a:bodyPr>
            <a:noAutofit/>
          </a:bodyPr>
          <a:lstStyle/>
          <a:p>
            <a:pPr marL="0" indent="0">
              <a:spcBef>
                <a:spcPts val="0"/>
              </a:spcBef>
              <a:spcAft>
                <a:spcPts val="1200"/>
              </a:spcAft>
              <a:buNone/>
            </a:pPr>
            <a:r>
              <a:rPr lang="en-US" sz="2400" dirty="0"/>
              <a:t>The</a:t>
            </a:r>
            <a:r>
              <a:rPr lang="en-US" sz="2400" b="1" dirty="0"/>
              <a:t> consumer price index </a:t>
            </a:r>
            <a:r>
              <a:rPr lang="en-US" sz="2400" dirty="0"/>
              <a:t>is a measure of the average change over time in the prices a typical household pays for the goods and services they purchase.</a:t>
            </a:r>
          </a:p>
          <a:p>
            <a:pPr marL="0" indent="0">
              <a:spcBef>
                <a:spcPts val="0"/>
              </a:spcBef>
              <a:spcAft>
                <a:spcPts val="1200"/>
              </a:spcAft>
              <a:buNone/>
            </a:pPr>
            <a:r>
              <a:rPr lang="en-US" sz="2400" dirty="0"/>
              <a:t>The chart shows the composition of the basket of goods used to create the CPI. </a:t>
            </a:r>
          </a:p>
        </p:txBody>
      </p:sp>
      <p:sp>
        <p:nvSpPr>
          <p:cNvPr id="4" name="TextBox 3">
            <a:extLst>
              <a:ext uri="{FF2B5EF4-FFF2-40B4-BE49-F238E27FC236}">
                <a16:creationId xmlns:a16="http://schemas.microsoft.com/office/drawing/2014/main" id="{C846FC43-38FF-B281-B94C-745C920DC5B4}"/>
              </a:ext>
            </a:extLst>
          </p:cNvPr>
          <p:cNvSpPr txBox="1"/>
          <p:nvPr/>
        </p:nvSpPr>
        <p:spPr>
          <a:xfrm>
            <a:off x="4520082" y="4549061"/>
            <a:ext cx="4166718" cy="646331"/>
          </a:xfrm>
          <a:prstGeom prst="rect">
            <a:avLst/>
          </a:prstGeom>
          <a:noFill/>
        </p:spPr>
        <p:txBody>
          <a:bodyPr wrap="square">
            <a:spAutoFit/>
          </a:bodyPr>
          <a:lstStyle/>
          <a:p>
            <a:r>
              <a:rPr lang="en-US" sz="1200" b="1" i="0" u="none" strike="noStrike" baseline="0" dirty="0">
                <a:latin typeface="+mj-lt"/>
              </a:rPr>
              <a:t>SOURCE: </a:t>
            </a:r>
            <a:r>
              <a:rPr lang="en-US" sz="1200" i="0" u="none" strike="noStrike" baseline="0" dirty="0">
                <a:latin typeface="+mj-lt"/>
              </a:rPr>
              <a:t>Statistics Canada, “Basket Weights of the Consumer Price Index, Canada, Provinces, Whitehorse, Yellowknife and Iqaluit,” Table 18-10-0007-21.</a:t>
            </a:r>
            <a:endParaRPr lang="en-US" sz="1200" dirty="0">
              <a:latin typeface="+mj-lt"/>
            </a:endParaRPr>
          </a:p>
        </p:txBody>
      </p:sp>
      <p:pic>
        <p:nvPicPr>
          <p:cNvPr id="6" name="Picture 5" descr="A pie chart depicts the consumer price index basket for the year 2021.">
            <a:extLst>
              <a:ext uri="{FF2B5EF4-FFF2-40B4-BE49-F238E27FC236}">
                <a16:creationId xmlns:a16="http://schemas.microsoft.com/office/drawing/2014/main" id="{A34BE0F3-B89A-BF2C-EFBF-3BAB3EB19C0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20082" y="1219200"/>
            <a:ext cx="3649008" cy="3264408"/>
          </a:xfrm>
          <a:prstGeom prst="rect">
            <a:avLst/>
          </a:prstGeom>
        </p:spPr>
      </p:pic>
    </p:spTree>
    <p:extLst>
      <p:ext uri="{BB962C8B-B14F-4D97-AF65-F5344CB8AC3E}">
        <p14:creationId xmlns:p14="http://schemas.microsoft.com/office/powerpoint/2010/main" val="6808040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latin typeface="+mj-lt"/>
              </a:rPr>
              <a:t>Calculating the CPI</a:t>
            </a:r>
          </a:p>
        </p:txBody>
      </p:sp>
      <p:sp>
        <p:nvSpPr>
          <p:cNvPr id="3" name="Content Placeholder 2"/>
          <p:cNvSpPr>
            <a:spLocks noGrp="1"/>
          </p:cNvSpPr>
          <p:nvPr>
            <p:ph idx="1"/>
          </p:nvPr>
        </p:nvSpPr>
        <p:spPr>
          <a:xfrm>
            <a:off x="457200" y="1600200"/>
            <a:ext cx="8229600" cy="3570208"/>
          </a:xfrm>
        </p:spPr>
        <p:txBody>
          <a:bodyPr>
            <a:spAutoFit/>
          </a:bodyPr>
          <a:lstStyle/>
          <a:p>
            <a:pPr marL="0" indent="0">
              <a:spcBef>
                <a:spcPts val="0"/>
              </a:spcBef>
              <a:spcAft>
                <a:spcPts val="1200"/>
              </a:spcAft>
              <a:buNone/>
            </a:pPr>
            <a:r>
              <a:rPr lang="en-US" sz="2400" dirty="0"/>
              <a:t>To calculate the CPI in a given year, we need:</a:t>
            </a:r>
          </a:p>
          <a:p>
            <a:pPr marL="269875" indent="-269875">
              <a:spcBef>
                <a:spcPts val="0"/>
              </a:spcBef>
              <a:spcAft>
                <a:spcPts val="1200"/>
              </a:spcAft>
            </a:pPr>
            <a:r>
              <a:rPr lang="en-US" sz="2400" dirty="0"/>
              <a:t>A </a:t>
            </a:r>
            <a:r>
              <a:rPr lang="en-US" sz="2400" i="1" dirty="0"/>
              <a:t>basket of goods</a:t>
            </a:r>
            <a:endParaRPr lang="en-US" sz="2400" dirty="0"/>
          </a:p>
          <a:p>
            <a:pPr marL="269875" indent="-269875">
              <a:spcBef>
                <a:spcPts val="0"/>
              </a:spcBef>
              <a:spcAft>
                <a:spcPts val="1200"/>
              </a:spcAft>
            </a:pPr>
            <a:r>
              <a:rPr lang="en-US" sz="2400" dirty="0"/>
              <a:t>The cost to purchase the basket of goods in a </a:t>
            </a:r>
            <a:r>
              <a:rPr lang="en-US" sz="2400" i="1" dirty="0"/>
              <a:t>base year</a:t>
            </a:r>
          </a:p>
          <a:p>
            <a:pPr marL="269875" indent="-269875">
              <a:spcBef>
                <a:spcPts val="0"/>
              </a:spcBef>
              <a:spcAft>
                <a:spcPts val="1200"/>
              </a:spcAft>
            </a:pPr>
            <a:r>
              <a:rPr lang="en-US" sz="2400" dirty="0"/>
              <a:t>The prices in the current year</a:t>
            </a:r>
          </a:p>
          <a:p>
            <a:pPr marL="0" indent="0">
              <a:spcBef>
                <a:spcPts val="0"/>
              </a:spcBef>
              <a:spcAft>
                <a:spcPts val="1200"/>
              </a:spcAft>
              <a:buNone/>
            </a:pPr>
            <a:r>
              <a:rPr lang="en-US" sz="2400" dirty="0"/>
              <a:t>The CPI in the current year is the cost to purchase the basket of goods this year, divided by the cost in the base year. By convention, we multiply this by 100, so that the CPI in the base year is 100.</a:t>
            </a:r>
          </a:p>
        </p:txBody>
      </p:sp>
    </p:spTree>
    <p:extLst>
      <p:ext uri="{BB962C8B-B14F-4D97-AF65-F5344CB8AC3E}">
        <p14:creationId xmlns:p14="http://schemas.microsoft.com/office/powerpoint/2010/main" val="273192464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64167"/>
            <a:ext cx="8229600" cy="825400"/>
          </a:xfrm>
        </p:spPr>
        <p:txBody>
          <a:bodyPr>
            <a:noAutofit/>
          </a:bodyPr>
          <a:lstStyle/>
          <a:p>
            <a:r>
              <a:rPr lang="en-US" dirty="0">
                <a:latin typeface="+mj-lt"/>
              </a:rPr>
              <a:t>A Simple CPI Calculation</a:t>
            </a:r>
            <a:r>
              <a:rPr lang="en-US" sz="2000" dirty="0">
                <a:latin typeface="+mj-lt"/>
              </a:rPr>
              <a:t> </a:t>
            </a:r>
            <a:r>
              <a:rPr lang="en-US" sz="2000" b="0" dirty="0">
                <a:latin typeface="+mj-lt"/>
              </a:rPr>
              <a:t>(1 of 2)</a:t>
            </a:r>
          </a:p>
        </p:txBody>
      </p:sp>
      <p:sp>
        <p:nvSpPr>
          <p:cNvPr id="3" name="Content Placeholder 2"/>
          <p:cNvSpPr>
            <a:spLocks noGrp="1"/>
          </p:cNvSpPr>
          <p:nvPr>
            <p:ph idx="1"/>
          </p:nvPr>
        </p:nvSpPr>
        <p:spPr>
          <a:xfrm>
            <a:off x="457200" y="3581201"/>
            <a:ext cx="8229600" cy="758385"/>
          </a:xfrm>
        </p:spPr>
        <p:txBody>
          <a:bodyPr>
            <a:noAutofit/>
          </a:bodyPr>
          <a:lstStyle/>
          <a:p>
            <a:pPr marL="0" indent="0">
              <a:buNone/>
            </a:pPr>
            <a:r>
              <a:rPr lang="en-US" sz="2200" dirty="0"/>
              <a:t>The table above gives the information we need to create the CPI in 2022 and 2023, using the basket of goods from 2002.</a:t>
            </a:r>
          </a:p>
        </p:txBody>
      </p:sp>
      <p:pic>
        <p:nvPicPr>
          <p:cNvPr id="6" name="Picture 5" descr="A table shows the data for constructing C P I.">
            <a:extLst>
              <a:ext uri="{FF2B5EF4-FFF2-40B4-BE49-F238E27FC236}">
                <a16:creationId xmlns:a16="http://schemas.microsoft.com/office/drawing/2014/main" id="{D395E31D-86C0-7144-0985-1F8E3E12DD4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3880" y="1453656"/>
            <a:ext cx="7886435" cy="1725389"/>
          </a:xfrm>
          <a:prstGeom prst="rect">
            <a:avLst/>
          </a:prstGeom>
        </p:spPr>
      </p:pic>
      <p:graphicFrame>
        <p:nvGraphicFramePr>
          <p:cNvPr id="8" name="Table 7"/>
          <p:cNvGraphicFramePr>
            <a:graphicFrameLocks noGrp="1"/>
          </p:cNvGraphicFramePr>
          <p:nvPr>
            <p:extLst>
              <p:ext uri="{D42A27DB-BD31-4B8C-83A1-F6EECF244321}">
                <p14:modId xmlns:p14="http://schemas.microsoft.com/office/powerpoint/2010/main" val="1977143409"/>
              </p:ext>
            </p:extLst>
          </p:nvPr>
        </p:nvGraphicFramePr>
        <p:xfrm>
          <a:off x="533400" y="4532092"/>
          <a:ext cx="8077199" cy="1600200"/>
        </p:xfrm>
        <a:graphic>
          <a:graphicData uri="http://schemas.openxmlformats.org/drawingml/2006/table">
            <a:tbl>
              <a:tblPr firstRow="1" bandRow="1">
                <a:tableStyleId>{3B4B98B0-60AC-42C2-AFA5-B58CD77FA1E5}</a:tableStyleId>
              </a:tblPr>
              <a:tblGrid>
                <a:gridCol w="3657600">
                  <a:extLst>
                    <a:ext uri="{9D8B030D-6E8A-4147-A177-3AD203B41FA5}">
                      <a16:colId xmlns:a16="http://schemas.microsoft.com/office/drawing/2014/main" val="20000"/>
                    </a:ext>
                  </a:extLst>
                </a:gridCol>
                <a:gridCol w="2225792">
                  <a:extLst>
                    <a:ext uri="{9D8B030D-6E8A-4147-A177-3AD203B41FA5}">
                      <a16:colId xmlns:a16="http://schemas.microsoft.com/office/drawing/2014/main" val="20001"/>
                    </a:ext>
                  </a:extLst>
                </a:gridCol>
                <a:gridCol w="2193807">
                  <a:extLst>
                    <a:ext uri="{9D8B030D-6E8A-4147-A177-3AD203B41FA5}">
                      <a16:colId xmlns:a16="http://schemas.microsoft.com/office/drawing/2014/main" val="20002"/>
                    </a:ext>
                  </a:extLst>
                </a:gridCol>
              </a:tblGrid>
              <a:tr h="668814">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kern="1200" cap="none" normalizeH="0" baseline="0" dirty="0">
                          <a:ln>
                            <a:noFill/>
                          </a:ln>
                          <a:solidFill>
                            <a:schemeClr val="bg1"/>
                          </a:solidFill>
                          <a:effectLst/>
                          <a:latin typeface="+mn-lt"/>
                          <a:ea typeface="+mn-ea"/>
                          <a:cs typeface="Times New Roman" pitchFamily="18" charset="0"/>
                        </a:rPr>
                        <a:t>Formula</a:t>
                      </a:r>
                      <a:endParaRPr kumimoji="0" lang="en-US" sz="1400" b="1" i="0" u="none" strike="noStrike" kern="1200" cap="none" normalizeH="0" baseline="0" dirty="0">
                        <a:ln>
                          <a:noFill/>
                        </a:ln>
                        <a:solidFill>
                          <a:schemeClr val="bg1"/>
                        </a:solidFill>
                        <a:effectLst/>
                        <a:latin typeface="+mn-lt"/>
                        <a:ea typeface="+mn-ea"/>
                        <a:cs typeface="+mn-cs"/>
                      </a:endParaRPr>
                    </a:p>
                  </a:txBody>
                  <a:tcPr anchor="ctr">
                    <a:lnL>
                      <a:noFill/>
                    </a:lnL>
                    <a:lnR>
                      <a:noFill/>
                    </a:lnR>
                    <a:lnT w="12700" cmpd="sng">
                      <a:noFill/>
                    </a:lnT>
                    <a:lnB w="12700" cmpd="sng">
                      <a:noFill/>
                    </a:lnB>
                    <a:lnTlToBr w="12700" cmpd="sng">
                      <a:noFill/>
                      <a:prstDash val="solid"/>
                    </a:lnTlToBr>
                    <a:lnBlToTr w="12700" cmpd="sng">
                      <a:noFill/>
                      <a:prstDash val="solid"/>
                    </a:lnBlToTr>
                    <a:solidFill>
                      <a:srgbClr val="007FA3"/>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kern="1200" cap="none" normalizeH="0" baseline="0" dirty="0">
                          <a:ln>
                            <a:noFill/>
                          </a:ln>
                          <a:solidFill>
                            <a:schemeClr val="bg1"/>
                          </a:solidFill>
                          <a:effectLst/>
                          <a:latin typeface="+mn-lt"/>
                          <a:ea typeface="+mn-ea"/>
                          <a:cs typeface="Times New Roman" pitchFamily="18" charset="0"/>
                        </a:rPr>
                        <a:t>Applied to 2022</a:t>
                      </a:r>
                      <a:endParaRPr kumimoji="0" lang="en-US" sz="1400" b="1" i="0" u="none" strike="noStrike" kern="1200" cap="none" normalizeH="0" baseline="0" dirty="0">
                        <a:ln>
                          <a:noFill/>
                        </a:ln>
                        <a:solidFill>
                          <a:schemeClr val="bg1"/>
                        </a:solidFill>
                        <a:effectLst/>
                        <a:latin typeface="+mn-lt"/>
                        <a:ea typeface="+mn-ea"/>
                        <a:cs typeface="+mn-cs"/>
                      </a:endParaRPr>
                    </a:p>
                  </a:txBody>
                  <a:tcPr anchor="ctr">
                    <a:lnL>
                      <a:noFill/>
                    </a:lnL>
                    <a:lnR>
                      <a:noFill/>
                    </a:lnR>
                    <a:lnT w="12700" cmpd="sng">
                      <a:noFill/>
                    </a:lnT>
                    <a:lnB w="12700" cmpd="sng">
                      <a:noFill/>
                    </a:lnB>
                    <a:lnTlToBr w="12700" cmpd="sng">
                      <a:noFill/>
                      <a:prstDash val="solid"/>
                    </a:lnTlToBr>
                    <a:lnBlToTr w="12700" cmpd="sng">
                      <a:noFill/>
                      <a:prstDash val="solid"/>
                    </a:lnBlToTr>
                    <a:solidFill>
                      <a:srgbClr val="007FA3"/>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kern="1200" cap="none" normalizeH="0" baseline="0" dirty="0">
                          <a:ln>
                            <a:noFill/>
                          </a:ln>
                          <a:solidFill>
                            <a:schemeClr val="bg1"/>
                          </a:solidFill>
                          <a:effectLst/>
                          <a:latin typeface="+mn-lt"/>
                          <a:ea typeface="+mn-ea"/>
                          <a:cs typeface="Times New Roman" pitchFamily="18" charset="0"/>
                        </a:rPr>
                        <a:t>Applied to 2023</a:t>
                      </a:r>
                      <a:endParaRPr kumimoji="0" lang="en-US" sz="1400" b="1" i="0" u="none" strike="noStrike" kern="1200" cap="none" normalizeH="0" baseline="0" dirty="0">
                        <a:ln>
                          <a:noFill/>
                        </a:ln>
                        <a:solidFill>
                          <a:schemeClr val="bg1"/>
                        </a:solidFill>
                        <a:effectLst/>
                        <a:latin typeface="+mn-lt"/>
                        <a:ea typeface="+mn-ea"/>
                        <a:cs typeface="+mn-cs"/>
                      </a:endParaRPr>
                    </a:p>
                  </a:txBody>
                  <a:tcPr anchor="ctr">
                    <a:lnL>
                      <a:noFill/>
                    </a:lnL>
                    <a:lnR>
                      <a:noFill/>
                    </a:lnR>
                    <a:lnT w="12700" cmpd="sng">
                      <a:noFill/>
                    </a:lnT>
                    <a:lnB w="12700" cmpd="sng">
                      <a:noFill/>
                    </a:lnB>
                    <a:lnTlToBr w="12700" cmpd="sng">
                      <a:noFill/>
                      <a:prstDash val="solid"/>
                    </a:lnTlToBr>
                    <a:lnBlToTr w="12700" cmpd="sng">
                      <a:noFill/>
                      <a:prstDash val="solid"/>
                    </a:lnBlToTr>
                    <a:solidFill>
                      <a:srgbClr val="007FA3"/>
                    </a:solidFill>
                  </a:tcPr>
                </a:tc>
                <a:extLst>
                  <a:ext uri="{0D108BD9-81ED-4DB2-BD59-A6C34878D82A}">
                    <a16:rowId xmlns:a16="http://schemas.microsoft.com/office/drawing/2014/main" val="10000"/>
                  </a:ext>
                </a:extLst>
              </a:tr>
              <a:tr h="931386">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1" u="none" strike="noStrike" cap="none" normalizeH="0" baseline="0" dirty="0">
                        <a:ln>
                          <a:noFill/>
                        </a:ln>
                        <a:solidFill>
                          <a:schemeClr val="tx1"/>
                        </a:solidFill>
                        <a:effectLst/>
                        <a:latin typeface="Arial" charset="0"/>
                      </a:endParaRPr>
                    </a:p>
                  </a:txBody>
                  <a:tcPr>
                    <a:lnL>
                      <a:noFill/>
                    </a:lnL>
                    <a:lnR>
                      <a:noFill/>
                    </a:lnR>
                    <a:lnT w="12700" cmpd="sng">
                      <a:noFill/>
                    </a:lnT>
                    <a:lnB>
                      <a:noFill/>
                    </a:lnB>
                    <a:lnTlToBr w="12700" cmpd="sng">
                      <a:noFill/>
                      <a:prstDash val="solid"/>
                    </a:lnTlToBr>
                    <a:lnBlToTr w="12700" cmpd="sng">
                      <a:noFill/>
                      <a:prstDash val="solid"/>
                    </a:lnBlToTr>
                    <a:solidFill>
                      <a:srgbClr val="D4EAE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1" u="none" strike="noStrike" cap="none" normalizeH="0" baseline="0" dirty="0">
                        <a:ln>
                          <a:noFill/>
                        </a:ln>
                        <a:solidFill>
                          <a:schemeClr val="tx1"/>
                        </a:solidFill>
                        <a:effectLst/>
                        <a:latin typeface="Arial" charset="0"/>
                      </a:endParaRPr>
                    </a:p>
                  </a:txBody>
                  <a:tcPr>
                    <a:lnL>
                      <a:noFill/>
                    </a:lnL>
                    <a:lnR>
                      <a:noFill/>
                    </a:lnR>
                    <a:lnT w="12700" cmpd="sng">
                      <a:noFill/>
                    </a:lnT>
                    <a:lnB>
                      <a:noFill/>
                    </a:lnB>
                    <a:lnTlToBr w="12700" cmpd="sng">
                      <a:noFill/>
                      <a:prstDash val="solid"/>
                    </a:lnTlToBr>
                    <a:lnBlToTr w="12700" cmpd="sng">
                      <a:noFill/>
                      <a:prstDash val="solid"/>
                    </a:lnBlToTr>
                    <a:solidFill>
                      <a:srgbClr val="D4EAE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1" u="none" strike="noStrike" cap="none" normalizeH="0" baseline="0" dirty="0">
                        <a:ln>
                          <a:noFill/>
                        </a:ln>
                        <a:solidFill>
                          <a:schemeClr val="tx1"/>
                        </a:solidFill>
                        <a:effectLst/>
                        <a:latin typeface="Arial" charset="0"/>
                      </a:endParaRPr>
                    </a:p>
                  </a:txBody>
                  <a:tcPr>
                    <a:lnL>
                      <a:noFill/>
                    </a:lnL>
                    <a:lnR>
                      <a:noFill/>
                    </a:lnR>
                    <a:lnT w="12700" cmpd="sng">
                      <a:noFill/>
                    </a:lnT>
                    <a:lnB>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1"/>
                  </a:ext>
                </a:extLst>
              </a:tr>
            </a:tbl>
          </a:graphicData>
        </a:graphic>
      </p:graphicFrame>
      <p:graphicFrame>
        <p:nvGraphicFramePr>
          <p:cNvPr id="7" name="Object 6">
            <a:extLst>
              <a:ext uri="{FF2B5EF4-FFF2-40B4-BE49-F238E27FC236}">
                <a16:creationId xmlns:a16="http://schemas.microsoft.com/office/drawing/2014/main" id="{7068B2BF-8CA6-8854-A954-3100C9B0A8B0}"/>
              </a:ext>
            </a:extLst>
          </p:cNvPr>
          <p:cNvGraphicFramePr>
            <a:graphicFrameLocks noChangeAspect="1"/>
          </p:cNvGraphicFramePr>
          <p:nvPr>
            <p:extLst>
              <p:ext uri="{D42A27DB-BD31-4B8C-83A1-F6EECF244321}">
                <p14:modId xmlns:p14="http://schemas.microsoft.com/office/powerpoint/2010/main" val="2715198730"/>
              </p:ext>
            </p:extLst>
          </p:nvPr>
        </p:nvGraphicFramePr>
        <p:xfrm>
          <a:off x="698500" y="5453063"/>
          <a:ext cx="3048000" cy="419100"/>
        </p:xfrm>
        <a:graphic>
          <a:graphicData uri="http://schemas.openxmlformats.org/presentationml/2006/ole">
            <mc:AlternateContent xmlns:mc="http://schemas.openxmlformats.org/markup-compatibility/2006">
              <mc:Choice xmlns:v="urn:schemas-microsoft-com:vml" Requires="v">
                <p:oleObj name="Equation" r:id="rId4" imgW="3047760" imgH="419040" progId="Equation.DSMT4">
                  <p:embed/>
                </p:oleObj>
              </mc:Choice>
              <mc:Fallback>
                <p:oleObj name="Equation" r:id="rId4" imgW="3047760" imgH="419040" progId="Equation.DSMT4">
                  <p:embed/>
                  <p:pic>
                    <p:nvPicPr>
                      <p:cNvPr id="0" name=""/>
                      <p:cNvPicPr/>
                      <p:nvPr/>
                    </p:nvPicPr>
                    <p:blipFill>
                      <a:blip r:embed="rId5"/>
                      <a:stretch>
                        <a:fillRect/>
                      </a:stretch>
                    </p:blipFill>
                    <p:spPr>
                      <a:xfrm>
                        <a:off x="698500" y="5453063"/>
                        <a:ext cx="3048000" cy="419100"/>
                      </a:xfrm>
                      <a:prstGeom prst="rect">
                        <a:avLst/>
                      </a:prstGeom>
                    </p:spPr>
                  </p:pic>
                </p:oleObj>
              </mc:Fallback>
            </mc:AlternateContent>
          </a:graphicData>
        </a:graphic>
      </p:graphicFrame>
      <p:graphicFrame>
        <p:nvGraphicFramePr>
          <p:cNvPr id="9" name="Object 8">
            <a:extLst>
              <a:ext uri="{FF2B5EF4-FFF2-40B4-BE49-F238E27FC236}">
                <a16:creationId xmlns:a16="http://schemas.microsoft.com/office/drawing/2014/main" id="{459255D7-07CF-B0A1-A4AB-3CF4D423E555}"/>
              </a:ext>
            </a:extLst>
          </p:cNvPr>
          <p:cNvGraphicFramePr>
            <a:graphicFrameLocks noChangeAspect="1"/>
          </p:cNvGraphicFramePr>
          <p:nvPr>
            <p:extLst>
              <p:ext uri="{D42A27DB-BD31-4B8C-83A1-F6EECF244321}">
                <p14:modId xmlns:p14="http://schemas.microsoft.com/office/powerpoint/2010/main" val="3002948139"/>
              </p:ext>
            </p:extLst>
          </p:nvPr>
        </p:nvGraphicFramePr>
        <p:xfrm>
          <a:off x="4571999" y="5353549"/>
          <a:ext cx="1447801" cy="468812"/>
        </p:xfrm>
        <a:graphic>
          <a:graphicData uri="http://schemas.openxmlformats.org/presentationml/2006/ole">
            <mc:AlternateContent xmlns:mc="http://schemas.openxmlformats.org/markup-compatibility/2006">
              <mc:Choice xmlns:v="urn:schemas-microsoft-com:vml" Requires="v">
                <p:oleObj name="Equation" r:id="rId6" imgW="1333440" imgH="431640" progId="Equation.DSMT4">
                  <p:embed/>
                </p:oleObj>
              </mc:Choice>
              <mc:Fallback>
                <p:oleObj name="Equation" r:id="rId6" imgW="1333440" imgH="431640" progId="Equation.DSMT4">
                  <p:embed/>
                  <p:pic>
                    <p:nvPicPr>
                      <p:cNvPr id="0" name=""/>
                      <p:cNvPicPr/>
                      <p:nvPr/>
                    </p:nvPicPr>
                    <p:blipFill>
                      <a:blip r:embed="rId7"/>
                      <a:stretch>
                        <a:fillRect/>
                      </a:stretch>
                    </p:blipFill>
                    <p:spPr>
                      <a:xfrm>
                        <a:off x="4571999" y="5353549"/>
                        <a:ext cx="1447801" cy="468812"/>
                      </a:xfrm>
                      <a:prstGeom prst="rect">
                        <a:avLst/>
                      </a:prstGeom>
                    </p:spPr>
                  </p:pic>
                </p:oleObj>
              </mc:Fallback>
            </mc:AlternateContent>
          </a:graphicData>
        </a:graphic>
      </p:graphicFrame>
      <p:graphicFrame>
        <p:nvGraphicFramePr>
          <p:cNvPr id="10" name="Object 9">
            <a:extLst>
              <a:ext uri="{FF2B5EF4-FFF2-40B4-BE49-F238E27FC236}">
                <a16:creationId xmlns:a16="http://schemas.microsoft.com/office/drawing/2014/main" id="{828B931B-0F95-5587-4F96-9BA7927C38DD}"/>
              </a:ext>
            </a:extLst>
          </p:cNvPr>
          <p:cNvGraphicFramePr>
            <a:graphicFrameLocks noChangeAspect="1"/>
          </p:cNvGraphicFramePr>
          <p:nvPr>
            <p:extLst>
              <p:ext uri="{D42A27DB-BD31-4B8C-83A1-F6EECF244321}">
                <p14:modId xmlns:p14="http://schemas.microsoft.com/office/powerpoint/2010/main" val="19516599"/>
              </p:ext>
            </p:extLst>
          </p:nvPr>
        </p:nvGraphicFramePr>
        <p:xfrm>
          <a:off x="6674116" y="5336403"/>
          <a:ext cx="1333500" cy="431800"/>
        </p:xfrm>
        <a:graphic>
          <a:graphicData uri="http://schemas.openxmlformats.org/presentationml/2006/ole">
            <mc:AlternateContent xmlns:mc="http://schemas.openxmlformats.org/markup-compatibility/2006">
              <mc:Choice xmlns:v="urn:schemas-microsoft-com:vml" Requires="v">
                <p:oleObj name="Equation" r:id="rId8" imgW="1333440" imgH="431640" progId="Equation.DSMT4">
                  <p:embed/>
                </p:oleObj>
              </mc:Choice>
              <mc:Fallback>
                <p:oleObj name="Equation" r:id="rId8" imgW="1333440" imgH="431640" progId="Equation.DSMT4">
                  <p:embed/>
                  <p:pic>
                    <p:nvPicPr>
                      <p:cNvPr id="0" name=""/>
                      <p:cNvPicPr/>
                      <p:nvPr/>
                    </p:nvPicPr>
                    <p:blipFill>
                      <a:blip r:embed="rId9"/>
                      <a:stretch>
                        <a:fillRect/>
                      </a:stretch>
                    </p:blipFill>
                    <p:spPr>
                      <a:xfrm>
                        <a:off x="6674116" y="5336403"/>
                        <a:ext cx="1333500" cy="431800"/>
                      </a:xfrm>
                      <a:prstGeom prst="rect">
                        <a:avLst/>
                      </a:prstGeom>
                    </p:spPr>
                  </p:pic>
                </p:oleObj>
              </mc:Fallback>
            </mc:AlternateContent>
          </a:graphicData>
        </a:graphic>
      </p:graphicFrame>
    </p:spTree>
    <p:extLst>
      <p:ext uri="{BB962C8B-B14F-4D97-AF65-F5344CB8AC3E}">
        <p14:creationId xmlns:p14="http://schemas.microsoft.com/office/powerpoint/2010/main" val="273192464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8002"/>
            <a:ext cx="8229600" cy="553998"/>
          </a:xfrm>
        </p:spPr>
        <p:txBody>
          <a:bodyPr>
            <a:noAutofit/>
          </a:bodyPr>
          <a:lstStyle/>
          <a:p>
            <a:r>
              <a:rPr lang="en-US" dirty="0">
                <a:latin typeface="+mj-lt"/>
              </a:rPr>
              <a:t>A Simple CPI Calculation</a:t>
            </a:r>
            <a:r>
              <a:rPr lang="en-US" sz="2000" dirty="0">
                <a:latin typeface="+mj-lt"/>
              </a:rPr>
              <a:t> </a:t>
            </a:r>
            <a:r>
              <a:rPr lang="en-US" sz="2000" b="0" dirty="0">
                <a:latin typeface="+mj-lt"/>
              </a:rPr>
              <a:t>(2 of 2)</a:t>
            </a:r>
          </a:p>
        </p:txBody>
      </p:sp>
      <p:sp>
        <p:nvSpPr>
          <p:cNvPr id="11" name="Content Placeholder 10"/>
          <p:cNvSpPr>
            <a:spLocks noGrp="1"/>
          </p:cNvSpPr>
          <p:nvPr>
            <p:ph idx="1"/>
          </p:nvPr>
        </p:nvSpPr>
        <p:spPr>
          <a:xfrm>
            <a:off x="457200" y="2971801"/>
            <a:ext cx="8229600" cy="609599"/>
          </a:xfrm>
        </p:spPr>
        <p:txBody>
          <a:bodyPr>
            <a:normAutofit lnSpcReduction="10000"/>
          </a:bodyPr>
          <a:lstStyle/>
          <a:p>
            <a:pPr marL="0" indent="0">
              <a:buNone/>
            </a:pPr>
            <a:r>
              <a:rPr lang="en-US" sz="2000" dirty="0"/>
              <a:t>Based on these data, the inflation rate from 2022 to 2023 is the percentage change in the CPI:</a:t>
            </a:r>
          </a:p>
        </p:txBody>
      </p:sp>
      <p:sp>
        <p:nvSpPr>
          <p:cNvPr id="12" name="Content Placeholder 11"/>
          <p:cNvSpPr>
            <a:spLocks noGrp="1"/>
          </p:cNvSpPr>
          <p:nvPr>
            <p:ph idx="13"/>
          </p:nvPr>
        </p:nvSpPr>
        <p:spPr>
          <a:xfrm>
            <a:off x="457200" y="4867870"/>
            <a:ext cx="8229600" cy="923330"/>
          </a:xfrm>
        </p:spPr>
        <p:txBody>
          <a:bodyPr>
            <a:noAutofit/>
          </a:bodyPr>
          <a:lstStyle/>
          <a:p>
            <a:pPr marL="0" indent="0">
              <a:buNone/>
            </a:pPr>
            <a:r>
              <a:rPr lang="en-US" sz="2000" dirty="0"/>
              <a:t>Since the CPI measures </a:t>
            </a:r>
            <a:r>
              <a:rPr lang="en-US" sz="2000" i="1" dirty="0"/>
              <a:t>consumer</a:t>
            </a:r>
            <a:r>
              <a:rPr lang="en-US" sz="2000" dirty="0"/>
              <a:t> prices, it is often referred to as the </a:t>
            </a:r>
            <a:r>
              <a:rPr lang="en-US" sz="2000" i="1" dirty="0"/>
              <a:t>cost-of-living index</a:t>
            </a:r>
            <a:r>
              <a:rPr lang="en-US" sz="2000" dirty="0"/>
              <a:t>. CPI-inflation is sometimes used to generate “fair” increases in wages for workers, and government benefits.</a:t>
            </a:r>
            <a:endParaRPr lang="en-IN" dirty="0"/>
          </a:p>
        </p:txBody>
      </p:sp>
      <p:graphicFrame>
        <p:nvGraphicFramePr>
          <p:cNvPr id="5" name="Table 4">
            <a:extLst>
              <a:ext uri="{FF2B5EF4-FFF2-40B4-BE49-F238E27FC236}">
                <a16:creationId xmlns:a16="http://schemas.microsoft.com/office/drawing/2014/main" id="{41F7E4E6-19C4-2142-92DE-55FD8AD1B63C}"/>
              </a:ext>
            </a:extLst>
          </p:cNvPr>
          <p:cNvGraphicFramePr>
            <a:graphicFrameLocks noGrp="1"/>
          </p:cNvGraphicFramePr>
          <p:nvPr>
            <p:extLst>
              <p:ext uri="{D42A27DB-BD31-4B8C-83A1-F6EECF244321}">
                <p14:modId xmlns:p14="http://schemas.microsoft.com/office/powerpoint/2010/main" val="2367326325"/>
              </p:ext>
            </p:extLst>
          </p:nvPr>
        </p:nvGraphicFramePr>
        <p:xfrm>
          <a:off x="457200" y="1176894"/>
          <a:ext cx="8077199" cy="1600200"/>
        </p:xfrm>
        <a:graphic>
          <a:graphicData uri="http://schemas.openxmlformats.org/drawingml/2006/table">
            <a:tbl>
              <a:tblPr firstRow="1" bandRow="1">
                <a:tableStyleId>{3B4B98B0-60AC-42C2-AFA5-B58CD77FA1E5}</a:tableStyleId>
              </a:tblPr>
              <a:tblGrid>
                <a:gridCol w="3657600">
                  <a:extLst>
                    <a:ext uri="{9D8B030D-6E8A-4147-A177-3AD203B41FA5}">
                      <a16:colId xmlns:a16="http://schemas.microsoft.com/office/drawing/2014/main" val="20000"/>
                    </a:ext>
                  </a:extLst>
                </a:gridCol>
                <a:gridCol w="2225792">
                  <a:extLst>
                    <a:ext uri="{9D8B030D-6E8A-4147-A177-3AD203B41FA5}">
                      <a16:colId xmlns:a16="http://schemas.microsoft.com/office/drawing/2014/main" val="20001"/>
                    </a:ext>
                  </a:extLst>
                </a:gridCol>
                <a:gridCol w="2193807">
                  <a:extLst>
                    <a:ext uri="{9D8B030D-6E8A-4147-A177-3AD203B41FA5}">
                      <a16:colId xmlns:a16="http://schemas.microsoft.com/office/drawing/2014/main" val="20002"/>
                    </a:ext>
                  </a:extLst>
                </a:gridCol>
              </a:tblGrid>
              <a:tr h="668814">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kern="1200" cap="none" normalizeH="0" baseline="0" dirty="0">
                          <a:ln>
                            <a:noFill/>
                          </a:ln>
                          <a:solidFill>
                            <a:schemeClr val="bg1"/>
                          </a:solidFill>
                          <a:effectLst/>
                          <a:latin typeface="+mn-lt"/>
                          <a:ea typeface="+mn-ea"/>
                          <a:cs typeface="Times New Roman" pitchFamily="18" charset="0"/>
                        </a:rPr>
                        <a:t>Formula</a:t>
                      </a:r>
                      <a:endParaRPr kumimoji="0" lang="en-US" sz="1400" b="1" i="0" u="none" strike="noStrike" kern="1200" cap="none" normalizeH="0" baseline="0" dirty="0">
                        <a:ln>
                          <a:noFill/>
                        </a:ln>
                        <a:solidFill>
                          <a:schemeClr val="bg1"/>
                        </a:solidFill>
                        <a:effectLst/>
                        <a:latin typeface="+mn-lt"/>
                        <a:ea typeface="+mn-ea"/>
                        <a:cs typeface="+mn-cs"/>
                      </a:endParaRPr>
                    </a:p>
                  </a:txBody>
                  <a:tcPr anchor="ctr">
                    <a:lnL>
                      <a:noFill/>
                    </a:lnL>
                    <a:lnR>
                      <a:noFill/>
                    </a:lnR>
                    <a:lnT w="12700" cmpd="sng">
                      <a:noFill/>
                    </a:lnT>
                    <a:lnB w="12700" cmpd="sng">
                      <a:noFill/>
                    </a:lnB>
                    <a:lnTlToBr w="12700" cmpd="sng">
                      <a:noFill/>
                      <a:prstDash val="solid"/>
                    </a:lnTlToBr>
                    <a:lnBlToTr w="12700" cmpd="sng">
                      <a:noFill/>
                      <a:prstDash val="solid"/>
                    </a:lnBlToTr>
                    <a:solidFill>
                      <a:srgbClr val="007FA3"/>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kern="1200" cap="none" normalizeH="0" baseline="0" dirty="0">
                          <a:ln>
                            <a:noFill/>
                          </a:ln>
                          <a:solidFill>
                            <a:schemeClr val="bg1"/>
                          </a:solidFill>
                          <a:effectLst/>
                          <a:latin typeface="+mn-lt"/>
                          <a:ea typeface="+mn-ea"/>
                          <a:cs typeface="Times New Roman" pitchFamily="18" charset="0"/>
                        </a:rPr>
                        <a:t>Applied to 2022</a:t>
                      </a:r>
                      <a:endParaRPr kumimoji="0" lang="en-US" sz="1400" b="1" i="0" u="none" strike="noStrike" kern="1200" cap="none" normalizeH="0" baseline="0" dirty="0">
                        <a:ln>
                          <a:noFill/>
                        </a:ln>
                        <a:solidFill>
                          <a:schemeClr val="bg1"/>
                        </a:solidFill>
                        <a:effectLst/>
                        <a:latin typeface="+mn-lt"/>
                        <a:ea typeface="+mn-ea"/>
                        <a:cs typeface="+mn-cs"/>
                      </a:endParaRPr>
                    </a:p>
                  </a:txBody>
                  <a:tcPr anchor="ctr">
                    <a:lnL>
                      <a:noFill/>
                    </a:lnL>
                    <a:lnR>
                      <a:noFill/>
                    </a:lnR>
                    <a:lnT w="12700" cmpd="sng">
                      <a:noFill/>
                    </a:lnT>
                    <a:lnB w="12700" cmpd="sng">
                      <a:noFill/>
                    </a:lnB>
                    <a:lnTlToBr w="12700" cmpd="sng">
                      <a:noFill/>
                      <a:prstDash val="solid"/>
                    </a:lnTlToBr>
                    <a:lnBlToTr w="12700" cmpd="sng">
                      <a:noFill/>
                      <a:prstDash val="solid"/>
                    </a:lnBlToTr>
                    <a:solidFill>
                      <a:srgbClr val="007FA3"/>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kern="1200" cap="none" normalizeH="0" baseline="0" dirty="0">
                          <a:ln>
                            <a:noFill/>
                          </a:ln>
                          <a:solidFill>
                            <a:schemeClr val="bg1"/>
                          </a:solidFill>
                          <a:effectLst/>
                          <a:latin typeface="+mn-lt"/>
                          <a:ea typeface="+mn-ea"/>
                          <a:cs typeface="Times New Roman" pitchFamily="18" charset="0"/>
                        </a:rPr>
                        <a:t>Applied to 2023</a:t>
                      </a:r>
                      <a:endParaRPr kumimoji="0" lang="en-US" sz="1400" b="1" i="0" u="none" strike="noStrike" kern="1200" cap="none" normalizeH="0" baseline="0" dirty="0">
                        <a:ln>
                          <a:noFill/>
                        </a:ln>
                        <a:solidFill>
                          <a:schemeClr val="bg1"/>
                        </a:solidFill>
                        <a:effectLst/>
                        <a:latin typeface="+mn-lt"/>
                        <a:ea typeface="+mn-ea"/>
                        <a:cs typeface="+mn-cs"/>
                      </a:endParaRPr>
                    </a:p>
                  </a:txBody>
                  <a:tcPr anchor="ctr">
                    <a:lnL>
                      <a:noFill/>
                    </a:lnL>
                    <a:lnR>
                      <a:noFill/>
                    </a:lnR>
                    <a:lnT w="12700" cmpd="sng">
                      <a:noFill/>
                    </a:lnT>
                    <a:lnB w="12700" cmpd="sng">
                      <a:noFill/>
                    </a:lnB>
                    <a:lnTlToBr w="12700" cmpd="sng">
                      <a:noFill/>
                      <a:prstDash val="solid"/>
                    </a:lnTlToBr>
                    <a:lnBlToTr w="12700" cmpd="sng">
                      <a:noFill/>
                      <a:prstDash val="solid"/>
                    </a:lnBlToTr>
                    <a:solidFill>
                      <a:srgbClr val="007FA3"/>
                    </a:solidFill>
                  </a:tcPr>
                </a:tc>
                <a:extLst>
                  <a:ext uri="{0D108BD9-81ED-4DB2-BD59-A6C34878D82A}">
                    <a16:rowId xmlns:a16="http://schemas.microsoft.com/office/drawing/2014/main" val="10000"/>
                  </a:ext>
                </a:extLst>
              </a:tr>
              <a:tr h="931386">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1" u="none" strike="noStrike" cap="none" normalizeH="0" baseline="0" dirty="0">
                        <a:ln>
                          <a:noFill/>
                        </a:ln>
                        <a:solidFill>
                          <a:schemeClr val="tx1"/>
                        </a:solidFill>
                        <a:effectLst/>
                        <a:latin typeface="Arial" charset="0"/>
                      </a:endParaRPr>
                    </a:p>
                  </a:txBody>
                  <a:tcPr>
                    <a:lnL>
                      <a:noFill/>
                    </a:lnL>
                    <a:lnR>
                      <a:noFill/>
                    </a:lnR>
                    <a:lnT w="12700" cmpd="sng">
                      <a:noFill/>
                    </a:lnT>
                    <a:lnB>
                      <a:noFill/>
                    </a:lnB>
                    <a:lnTlToBr w="12700" cmpd="sng">
                      <a:noFill/>
                      <a:prstDash val="solid"/>
                    </a:lnTlToBr>
                    <a:lnBlToTr w="12700" cmpd="sng">
                      <a:noFill/>
                      <a:prstDash val="solid"/>
                    </a:lnBlToTr>
                    <a:solidFill>
                      <a:srgbClr val="D4EAE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1" u="none" strike="noStrike" cap="none" normalizeH="0" baseline="0" dirty="0">
                        <a:ln>
                          <a:noFill/>
                        </a:ln>
                        <a:solidFill>
                          <a:schemeClr val="tx1"/>
                        </a:solidFill>
                        <a:effectLst/>
                        <a:latin typeface="Arial" charset="0"/>
                      </a:endParaRPr>
                    </a:p>
                  </a:txBody>
                  <a:tcPr>
                    <a:lnL>
                      <a:noFill/>
                    </a:lnL>
                    <a:lnR>
                      <a:noFill/>
                    </a:lnR>
                    <a:lnT w="12700" cmpd="sng">
                      <a:noFill/>
                    </a:lnT>
                    <a:lnB>
                      <a:noFill/>
                    </a:lnB>
                    <a:lnTlToBr w="12700" cmpd="sng">
                      <a:noFill/>
                      <a:prstDash val="solid"/>
                    </a:lnTlToBr>
                    <a:lnBlToTr w="12700" cmpd="sng">
                      <a:noFill/>
                      <a:prstDash val="solid"/>
                    </a:lnBlToTr>
                    <a:solidFill>
                      <a:srgbClr val="D4EAE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1" u="none" strike="noStrike" cap="none" normalizeH="0" baseline="0" dirty="0">
                        <a:ln>
                          <a:noFill/>
                        </a:ln>
                        <a:solidFill>
                          <a:schemeClr val="tx1"/>
                        </a:solidFill>
                        <a:effectLst/>
                        <a:latin typeface="Arial" charset="0"/>
                      </a:endParaRPr>
                    </a:p>
                  </a:txBody>
                  <a:tcPr>
                    <a:lnL>
                      <a:noFill/>
                    </a:lnL>
                    <a:lnR>
                      <a:noFill/>
                    </a:lnR>
                    <a:lnT w="12700" cmpd="sng">
                      <a:noFill/>
                    </a:lnT>
                    <a:lnB>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1"/>
                  </a:ext>
                </a:extLst>
              </a:tr>
            </a:tbl>
          </a:graphicData>
        </a:graphic>
      </p:graphicFrame>
      <p:graphicFrame>
        <p:nvGraphicFramePr>
          <p:cNvPr id="6" name="Object 5">
            <a:extLst>
              <a:ext uri="{FF2B5EF4-FFF2-40B4-BE49-F238E27FC236}">
                <a16:creationId xmlns:a16="http://schemas.microsoft.com/office/drawing/2014/main" id="{D795CC53-0710-0DB3-B5C9-516F42E6A4FE}"/>
              </a:ext>
            </a:extLst>
          </p:cNvPr>
          <p:cNvGraphicFramePr>
            <a:graphicFrameLocks noChangeAspect="1"/>
          </p:cNvGraphicFramePr>
          <p:nvPr>
            <p:extLst>
              <p:ext uri="{D42A27DB-BD31-4B8C-83A1-F6EECF244321}">
                <p14:modId xmlns:p14="http://schemas.microsoft.com/office/powerpoint/2010/main" val="2991412548"/>
              </p:ext>
            </p:extLst>
          </p:nvPr>
        </p:nvGraphicFramePr>
        <p:xfrm>
          <a:off x="619125" y="2082800"/>
          <a:ext cx="3048000" cy="419100"/>
        </p:xfrm>
        <a:graphic>
          <a:graphicData uri="http://schemas.openxmlformats.org/presentationml/2006/ole">
            <mc:AlternateContent xmlns:mc="http://schemas.openxmlformats.org/markup-compatibility/2006">
              <mc:Choice xmlns:v="urn:schemas-microsoft-com:vml" Requires="v">
                <p:oleObj name="Equation" r:id="rId3" imgW="3047760" imgH="419040" progId="Equation.DSMT4">
                  <p:embed/>
                </p:oleObj>
              </mc:Choice>
              <mc:Fallback>
                <p:oleObj name="Equation" r:id="rId3" imgW="3047760" imgH="419040" progId="Equation.DSMT4">
                  <p:embed/>
                  <p:pic>
                    <p:nvPicPr>
                      <p:cNvPr id="7" name="Object 6">
                        <a:extLst>
                          <a:ext uri="{FF2B5EF4-FFF2-40B4-BE49-F238E27FC236}">
                            <a16:creationId xmlns:a16="http://schemas.microsoft.com/office/drawing/2014/main" id="{7068B2BF-8CA6-8854-A954-3100C9B0A8B0}"/>
                          </a:ext>
                        </a:extLst>
                      </p:cNvPr>
                      <p:cNvPicPr/>
                      <p:nvPr/>
                    </p:nvPicPr>
                    <p:blipFill>
                      <a:blip r:embed="rId4"/>
                      <a:stretch>
                        <a:fillRect/>
                      </a:stretch>
                    </p:blipFill>
                    <p:spPr>
                      <a:xfrm>
                        <a:off x="619125" y="2082800"/>
                        <a:ext cx="3048000" cy="419100"/>
                      </a:xfrm>
                      <a:prstGeom prst="rect">
                        <a:avLst/>
                      </a:prstGeom>
                    </p:spPr>
                  </p:pic>
                </p:oleObj>
              </mc:Fallback>
            </mc:AlternateContent>
          </a:graphicData>
        </a:graphic>
      </p:graphicFrame>
      <p:graphicFrame>
        <p:nvGraphicFramePr>
          <p:cNvPr id="7" name="Object 6">
            <a:extLst>
              <a:ext uri="{FF2B5EF4-FFF2-40B4-BE49-F238E27FC236}">
                <a16:creationId xmlns:a16="http://schemas.microsoft.com/office/drawing/2014/main" id="{E273BA1B-C8CC-0309-0290-2B5937C19498}"/>
              </a:ext>
            </a:extLst>
          </p:cNvPr>
          <p:cNvGraphicFramePr>
            <a:graphicFrameLocks noChangeAspect="1"/>
          </p:cNvGraphicFramePr>
          <p:nvPr>
            <p:extLst>
              <p:ext uri="{D42A27DB-BD31-4B8C-83A1-F6EECF244321}">
                <p14:modId xmlns:p14="http://schemas.microsoft.com/office/powerpoint/2010/main" val="275063561"/>
              </p:ext>
            </p:extLst>
          </p:nvPr>
        </p:nvGraphicFramePr>
        <p:xfrm>
          <a:off x="4495799" y="1976994"/>
          <a:ext cx="1447801" cy="468812"/>
        </p:xfrm>
        <a:graphic>
          <a:graphicData uri="http://schemas.openxmlformats.org/presentationml/2006/ole">
            <mc:AlternateContent xmlns:mc="http://schemas.openxmlformats.org/markup-compatibility/2006">
              <mc:Choice xmlns:v="urn:schemas-microsoft-com:vml" Requires="v">
                <p:oleObj name="Equation" r:id="rId5" imgW="1333440" imgH="431640" progId="Equation.DSMT4">
                  <p:embed/>
                </p:oleObj>
              </mc:Choice>
              <mc:Fallback>
                <p:oleObj name="Equation" r:id="rId5" imgW="1333440" imgH="431640" progId="Equation.DSMT4">
                  <p:embed/>
                  <p:pic>
                    <p:nvPicPr>
                      <p:cNvPr id="9" name="Object 8">
                        <a:extLst>
                          <a:ext uri="{FF2B5EF4-FFF2-40B4-BE49-F238E27FC236}">
                            <a16:creationId xmlns:a16="http://schemas.microsoft.com/office/drawing/2014/main" id="{459255D7-07CF-B0A1-A4AB-3CF4D423E555}"/>
                          </a:ext>
                        </a:extLst>
                      </p:cNvPr>
                      <p:cNvPicPr/>
                      <p:nvPr/>
                    </p:nvPicPr>
                    <p:blipFill>
                      <a:blip r:embed="rId6"/>
                      <a:stretch>
                        <a:fillRect/>
                      </a:stretch>
                    </p:blipFill>
                    <p:spPr>
                      <a:xfrm>
                        <a:off x="4495799" y="1976994"/>
                        <a:ext cx="1447801" cy="468812"/>
                      </a:xfrm>
                      <a:prstGeom prst="rect">
                        <a:avLst/>
                      </a:prstGeom>
                    </p:spPr>
                  </p:pic>
                </p:oleObj>
              </mc:Fallback>
            </mc:AlternateContent>
          </a:graphicData>
        </a:graphic>
      </p:graphicFrame>
      <p:graphicFrame>
        <p:nvGraphicFramePr>
          <p:cNvPr id="9" name="Object 8">
            <a:extLst>
              <a:ext uri="{FF2B5EF4-FFF2-40B4-BE49-F238E27FC236}">
                <a16:creationId xmlns:a16="http://schemas.microsoft.com/office/drawing/2014/main" id="{79E4089B-1572-A342-1975-4029B4CF012C}"/>
              </a:ext>
            </a:extLst>
          </p:cNvPr>
          <p:cNvGraphicFramePr>
            <a:graphicFrameLocks noChangeAspect="1"/>
          </p:cNvGraphicFramePr>
          <p:nvPr>
            <p:extLst>
              <p:ext uri="{D42A27DB-BD31-4B8C-83A1-F6EECF244321}">
                <p14:modId xmlns:p14="http://schemas.microsoft.com/office/powerpoint/2010/main" val="2299414965"/>
              </p:ext>
            </p:extLst>
          </p:nvPr>
        </p:nvGraphicFramePr>
        <p:xfrm>
          <a:off x="6705600" y="1976994"/>
          <a:ext cx="1333500" cy="431800"/>
        </p:xfrm>
        <a:graphic>
          <a:graphicData uri="http://schemas.openxmlformats.org/presentationml/2006/ole">
            <mc:AlternateContent xmlns:mc="http://schemas.openxmlformats.org/markup-compatibility/2006">
              <mc:Choice xmlns:v="urn:schemas-microsoft-com:vml" Requires="v">
                <p:oleObj name="Equation" r:id="rId7" imgW="1333440" imgH="431640" progId="Equation.DSMT4">
                  <p:embed/>
                </p:oleObj>
              </mc:Choice>
              <mc:Fallback>
                <p:oleObj name="Equation" r:id="rId7" imgW="1333440" imgH="431640" progId="Equation.DSMT4">
                  <p:embed/>
                  <p:pic>
                    <p:nvPicPr>
                      <p:cNvPr id="10" name="Object 9">
                        <a:extLst>
                          <a:ext uri="{FF2B5EF4-FFF2-40B4-BE49-F238E27FC236}">
                            <a16:creationId xmlns:a16="http://schemas.microsoft.com/office/drawing/2014/main" id="{828B931B-0F95-5587-4F96-9BA7927C38DD}"/>
                          </a:ext>
                        </a:extLst>
                      </p:cNvPr>
                      <p:cNvPicPr/>
                      <p:nvPr/>
                    </p:nvPicPr>
                    <p:blipFill>
                      <a:blip r:embed="rId8"/>
                      <a:stretch>
                        <a:fillRect/>
                      </a:stretch>
                    </p:blipFill>
                    <p:spPr>
                      <a:xfrm>
                        <a:off x="6705600" y="1976994"/>
                        <a:ext cx="1333500" cy="431800"/>
                      </a:xfrm>
                      <a:prstGeom prst="rect">
                        <a:avLst/>
                      </a:prstGeom>
                    </p:spPr>
                  </p:pic>
                </p:oleObj>
              </mc:Fallback>
            </mc:AlternateContent>
          </a:graphicData>
        </a:graphic>
      </p:graphicFrame>
      <p:graphicFrame>
        <p:nvGraphicFramePr>
          <p:cNvPr id="4" name="Object 3"/>
          <p:cNvGraphicFramePr>
            <a:graphicFrameLocks noChangeAspect="1"/>
          </p:cNvGraphicFramePr>
          <p:nvPr>
            <p:extLst>
              <p:ext uri="{D42A27DB-BD31-4B8C-83A1-F6EECF244321}">
                <p14:modId xmlns:p14="http://schemas.microsoft.com/office/powerpoint/2010/main" val="634880713"/>
              </p:ext>
            </p:extLst>
          </p:nvPr>
        </p:nvGraphicFramePr>
        <p:xfrm>
          <a:off x="3328987" y="3897430"/>
          <a:ext cx="2486025" cy="581025"/>
        </p:xfrm>
        <a:graphic>
          <a:graphicData uri="http://schemas.openxmlformats.org/presentationml/2006/ole">
            <mc:AlternateContent xmlns:mc="http://schemas.openxmlformats.org/markup-compatibility/2006">
              <mc:Choice xmlns:v="urn:schemas-microsoft-com:vml" Requires="v">
                <p:oleObj name="Equation" r:id="rId9" imgW="2832100" imgH="660400" progId="Equation.DSMT4">
                  <p:embed/>
                </p:oleObj>
              </mc:Choice>
              <mc:Fallback>
                <p:oleObj name="Equation" r:id="rId9" imgW="2832100" imgH="660400" progId="Equation.DSMT4">
                  <p:embed/>
                  <p:pic>
                    <p:nvPicPr>
                      <p:cNvPr id="0" name="Object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328987" y="3897430"/>
                        <a:ext cx="2486025"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65482852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400" dirty="0"/>
              <a:t>Apply the Concept: Prices will Rise</a:t>
            </a:r>
          </a:p>
        </p:txBody>
      </p:sp>
      <p:sp>
        <p:nvSpPr>
          <p:cNvPr id="4" name="Content Placeholder 3"/>
          <p:cNvSpPr>
            <a:spLocks noGrp="1"/>
          </p:cNvSpPr>
          <p:nvPr>
            <p:ph idx="1"/>
          </p:nvPr>
        </p:nvSpPr>
        <p:spPr>
          <a:xfrm>
            <a:off x="457200" y="1600200"/>
            <a:ext cx="8229600" cy="4724400"/>
          </a:xfrm>
        </p:spPr>
        <p:txBody>
          <a:bodyPr>
            <a:noAutofit/>
          </a:bodyPr>
          <a:lstStyle/>
          <a:p>
            <a:pPr marL="0" indent="0">
              <a:spcBef>
                <a:spcPts val="1000"/>
              </a:spcBef>
              <a:buNone/>
            </a:pPr>
            <a:r>
              <a:rPr lang="en-US" sz="2200" dirty="0"/>
              <a:t>Prices rise over time, but this doesn’t mean things really were “cheaper” in the past. </a:t>
            </a:r>
          </a:p>
          <a:p>
            <a:pPr marL="0" indent="0">
              <a:spcBef>
                <a:spcPts val="1000"/>
              </a:spcBef>
              <a:buNone/>
            </a:pPr>
            <a:r>
              <a:rPr lang="en-US" sz="2200" dirty="0"/>
              <a:t>In 1915, a pair of cashmere socks was $0.35.</a:t>
            </a:r>
          </a:p>
          <a:p>
            <a:pPr marL="0" indent="0">
              <a:spcBef>
                <a:spcPts val="1000"/>
              </a:spcBef>
              <a:buNone/>
            </a:pPr>
            <a:r>
              <a:rPr lang="en-US" sz="2200" dirty="0"/>
              <a:t>In 2021, a similar pair of cashmere socks are available for $39.00.</a:t>
            </a:r>
          </a:p>
          <a:p>
            <a:pPr marL="0" indent="0">
              <a:spcBef>
                <a:spcPts val="1000"/>
              </a:spcBef>
              <a:buNone/>
            </a:pPr>
            <a:r>
              <a:rPr lang="en-US" sz="2200" dirty="0"/>
              <a:t>Does this mean that socks are more expensive now than in 1915?</a:t>
            </a:r>
          </a:p>
          <a:p>
            <a:pPr marL="0" indent="0">
              <a:spcBef>
                <a:spcPts val="1000"/>
              </a:spcBef>
              <a:buNone/>
            </a:pPr>
            <a:r>
              <a:rPr lang="en-US" sz="2200" dirty="0"/>
              <a:t>The average income in 1915 would allow you to buy 963 pairs of socks. In 2021, the average income would buy 1733 pairs of socks. Relative to income, socks are cheaper now than they were in the past.</a:t>
            </a:r>
          </a:p>
          <a:p>
            <a:pPr marL="0" indent="0">
              <a:spcBef>
                <a:spcPts val="1000"/>
              </a:spcBef>
              <a:buNone/>
            </a:pPr>
            <a:r>
              <a:rPr lang="en-US" sz="2200" dirty="0"/>
              <a:t>Using the CPI to convert the price of socks in 1915($0.35) into modern-day prices gives a pair of socks costing $8.13 compared to the modern price of $39. </a:t>
            </a:r>
          </a:p>
        </p:txBody>
      </p:sp>
    </p:spTree>
    <p:extLst>
      <p:ext uri="{BB962C8B-B14F-4D97-AF65-F5344CB8AC3E}">
        <p14:creationId xmlns:p14="http://schemas.microsoft.com/office/powerpoint/2010/main" val="352953167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Is the CPI Accurate?</a:t>
            </a:r>
          </a:p>
        </p:txBody>
      </p:sp>
      <p:sp>
        <p:nvSpPr>
          <p:cNvPr id="3" name="Content Placeholder 2"/>
          <p:cNvSpPr>
            <a:spLocks noGrp="1"/>
          </p:cNvSpPr>
          <p:nvPr>
            <p:ph idx="1"/>
          </p:nvPr>
        </p:nvSpPr>
        <p:spPr>
          <a:xfrm>
            <a:off x="457200" y="1600200"/>
            <a:ext cx="8229600" cy="4648200"/>
          </a:xfrm>
        </p:spPr>
        <p:txBody>
          <a:bodyPr>
            <a:noAutofit/>
          </a:bodyPr>
          <a:lstStyle/>
          <a:p>
            <a:pPr marL="0" indent="0">
              <a:buNone/>
            </a:pPr>
            <a:r>
              <a:rPr lang="en-US" sz="1800" dirty="0"/>
              <a:t>There are four biases that cause changes in the CPI to overstate the true rate of inflation experienced by households:</a:t>
            </a:r>
          </a:p>
          <a:p>
            <a:pPr marL="269875" indent="-269875">
              <a:spcBef>
                <a:spcPts val="600"/>
              </a:spcBef>
            </a:pPr>
            <a:r>
              <a:rPr lang="en-US" sz="1800" b="1" dirty="0"/>
              <a:t>Substitution Bias:</a:t>
            </a:r>
            <a:r>
              <a:rPr lang="en-US" sz="1800" dirty="0"/>
              <a:t> Consumers switch to alternate goods once the price of a good rises, the constant basket doesn’t account for this.</a:t>
            </a:r>
          </a:p>
          <a:p>
            <a:pPr marL="269875" indent="-269875">
              <a:spcBef>
                <a:spcPts val="600"/>
              </a:spcBef>
            </a:pPr>
            <a:r>
              <a:rPr lang="en-US" sz="1800" b="1" dirty="0"/>
              <a:t>Increase in Quality Bias:</a:t>
            </a:r>
            <a:r>
              <a:rPr lang="en-US" sz="1800" dirty="0"/>
              <a:t> The quality of most products rise over time. A car today is more fuel efficient, safer, and more reliable than in the past. Increases in the prices partly reflect improved quality.</a:t>
            </a:r>
          </a:p>
          <a:p>
            <a:pPr marL="269875" indent="-269875">
              <a:spcBef>
                <a:spcPts val="600"/>
              </a:spcBef>
            </a:pPr>
            <a:r>
              <a:rPr lang="en-US" sz="1800" b="1" dirty="0"/>
              <a:t>New Product Bias:</a:t>
            </a:r>
            <a:r>
              <a:rPr lang="en-US" sz="1800" dirty="0"/>
              <a:t> New products aren’t included in the CPI basket right away. If a new product is introduced, for example, </a:t>
            </a:r>
            <a:r>
              <a:rPr lang="en-US" sz="1800" dirty="0" err="1"/>
              <a:t>iPads</a:t>
            </a:r>
            <a:r>
              <a:rPr lang="en-US" sz="1800" dirty="0"/>
              <a:t> were not in the basket before, any changes in price of </a:t>
            </a:r>
            <a:r>
              <a:rPr lang="en-US" sz="1800" dirty="0" err="1"/>
              <a:t>iPads</a:t>
            </a:r>
            <a:r>
              <a:rPr lang="en-US" sz="1800" dirty="0"/>
              <a:t> won’t be captured by the CPI.</a:t>
            </a:r>
          </a:p>
          <a:p>
            <a:pPr marL="269875" indent="-269875">
              <a:spcBef>
                <a:spcPts val="600"/>
              </a:spcBef>
            </a:pPr>
            <a:r>
              <a:rPr lang="en-US" sz="1800" b="1" dirty="0"/>
              <a:t>Outlet Bias:</a:t>
            </a:r>
            <a:r>
              <a:rPr lang="en-US" sz="1800" dirty="0"/>
              <a:t> When prices rise, consumers change where they shop, switching from boutiques to warehouse stores with lower prices. The CPI’s constant basket doesn’t consider this change.</a:t>
            </a:r>
          </a:p>
          <a:p>
            <a:pPr marL="0" indent="0">
              <a:spcBef>
                <a:spcPts val="600"/>
              </a:spcBef>
              <a:buNone/>
            </a:pPr>
            <a:r>
              <a:rPr lang="en-US" sz="1800" dirty="0"/>
              <a:t>These biases cause changes in the CPI to overstate the true rate of inflation from 0.5 percentage points to 1 percentage point. </a:t>
            </a:r>
          </a:p>
        </p:txBody>
      </p:sp>
    </p:spTree>
    <p:extLst>
      <p:ext uri="{BB962C8B-B14F-4D97-AF65-F5344CB8AC3E}">
        <p14:creationId xmlns:p14="http://schemas.microsoft.com/office/powerpoint/2010/main" val="150104156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Producer Price Index (PPI)</a:t>
            </a:r>
          </a:p>
        </p:txBody>
      </p:sp>
      <p:sp>
        <p:nvSpPr>
          <p:cNvPr id="3" name="Content Placeholder 2"/>
          <p:cNvSpPr>
            <a:spLocks noGrp="1"/>
          </p:cNvSpPr>
          <p:nvPr>
            <p:ph idx="1"/>
          </p:nvPr>
        </p:nvSpPr>
        <p:spPr/>
        <p:txBody>
          <a:bodyPr>
            <a:noAutofit/>
          </a:bodyPr>
          <a:lstStyle/>
          <a:p>
            <a:pPr marL="0" indent="0">
              <a:spcBef>
                <a:spcPts val="0"/>
              </a:spcBef>
              <a:spcAft>
                <a:spcPts val="1200"/>
              </a:spcAft>
              <a:buNone/>
            </a:pPr>
            <a:r>
              <a:rPr lang="en-US" sz="2400" dirty="0"/>
              <a:t>The </a:t>
            </a:r>
            <a:r>
              <a:rPr lang="en-US" sz="2400" b="1" dirty="0"/>
              <a:t>producer price index </a:t>
            </a:r>
            <a:r>
              <a:rPr lang="en-US" sz="2400" dirty="0"/>
              <a:t>is an average of the prices received by producers of goods and services at all stages of the production process.</a:t>
            </a:r>
          </a:p>
          <a:p>
            <a:pPr marL="0" indent="0">
              <a:spcBef>
                <a:spcPts val="0"/>
              </a:spcBef>
              <a:spcAft>
                <a:spcPts val="1200"/>
              </a:spcAft>
              <a:buNone/>
            </a:pPr>
            <a:r>
              <a:rPr lang="en-US" sz="2400" dirty="0"/>
              <a:t>It is conceptually similar to the CPI, in that it uses a basket of goods, but the goods are those used by producers.</a:t>
            </a:r>
          </a:p>
          <a:p>
            <a:pPr marL="0" indent="0">
              <a:spcBef>
                <a:spcPts val="0"/>
              </a:spcBef>
              <a:spcAft>
                <a:spcPts val="1200"/>
              </a:spcAft>
              <a:buNone/>
            </a:pPr>
            <a:r>
              <a:rPr lang="en-US" sz="2400" dirty="0"/>
              <a:t>PPI includes the prices of intermediate goods and raw materials. If prices of these goods rise, cost of producing final goods and services will rise.</a:t>
            </a:r>
          </a:p>
          <a:p>
            <a:pPr marL="0" indent="0">
              <a:spcBef>
                <a:spcPts val="0"/>
              </a:spcBef>
              <a:spcAft>
                <a:spcPts val="1200"/>
              </a:spcAft>
              <a:buNone/>
            </a:pPr>
            <a:r>
              <a:rPr lang="en-US" sz="2400" dirty="0"/>
              <a:t>The PPI can give early warning of future movements in consumer prices.</a:t>
            </a:r>
          </a:p>
        </p:txBody>
      </p:sp>
    </p:spTree>
    <p:extLst>
      <p:ext uri="{BB962C8B-B14F-4D97-AF65-F5344CB8AC3E}">
        <p14:creationId xmlns:p14="http://schemas.microsoft.com/office/powerpoint/2010/main" val="325697039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15372"/>
            <a:ext cx="8229600" cy="1003828"/>
          </a:xfrm>
        </p:spPr>
        <p:txBody>
          <a:bodyPr/>
          <a:lstStyle/>
          <a:p>
            <a:r>
              <a:rPr lang="en-US" dirty="0">
                <a:latin typeface="+mj-lt"/>
              </a:rPr>
              <a:t>Using Price Indexes to Adjust for the Effects of Inflation</a:t>
            </a:r>
            <a:endParaRPr lang="en-US" sz="2000" dirty="0">
              <a:latin typeface="+mj-lt"/>
            </a:endParaRPr>
          </a:p>
        </p:txBody>
      </p:sp>
      <p:sp>
        <p:nvSpPr>
          <p:cNvPr id="3" name="Text Placeholder 2">
            <a:extLst>
              <a:ext uri="{FF2B5EF4-FFF2-40B4-BE49-F238E27FC236}">
                <a16:creationId xmlns:a16="http://schemas.microsoft.com/office/drawing/2014/main" id="{332FECCE-8A24-B2DF-FF58-A29C3196388F}"/>
              </a:ext>
            </a:extLst>
          </p:cNvPr>
          <p:cNvSpPr>
            <a:spLocks noGrp="1"/>
          </p:cNvSpPr>
          <p:nvPr>
            <p:ph type="body" sz="quarter" idx="13"/>
          </p:nvPr>
        </p:nvSpPr>
        <p:spPr>
          <a:xfrm>
            <a:off x="447575" y="1447800"/>
            <a:ext cx="8229600" cy="402770"/>
          </a:xfrm>
        </p:spPr>
        <p:txBody>
          <a:bodyPr/>
          <a:lstStyle/>
          <a:p>
            <a:r>
              <a:rPr lang="en-US" sz="2400" b="1" dirty="0">
                <a:solidFill>
                  <a:schemeClr val="tx1"/>
                </a:solidFill>
              </a:rPr>
              <a:t>5.5 Learning</a:t>
            </a:r>
            <a:r>
              <a:rPr lang="en-US" sz="2400" dirty="0">
                <a:solidFill>
                  <a:schemeClr val="tx1"/>
                </a:solidFill>
              </a:rPr>
              <a:t> </a:t>
            </a:r>
            <a:r>
              <a:rPr lang="en-US" sz="2400" b="1" dirty="0">
                <a:solidFill>
                  <a:schemeClr val="tx1"/>
                </a:solidFill>
              </a:rPr>
              <a:t>Objective</a:t>
            </a:r>
          </a:p>
        </p:txBody>
      </p:sp>
      <p:sp>
        <p:nvSpPr>
          <p:cNvPr id="4" name="Content Placeholder 3"/>
          <p:cNvSpPr>
            <a:spLocks noGrp="1"/>
          </p:cNvSpPr>
          <p:nvPr>
            <p:ph sz="quarter" idx="14"/>
          </p:nvPr>
        </p:nvSpPr>
        <p:spPr>
          <a:xfrm>
            <a:off x="457200" y="1981200"/>
            <a:ext cx="8229600" cy="4144963"/>
          </a:xfrm>
        </p:spPr>
        <p:txBody>
          <a:bodyPr/>
          <a:lstStyle/>
          <a:p>
            <a:pPr marL="0" indent="0">
              <a:buNone/>
            </a:pPr>
            <a:r>
              <a:rPr lang="en-US" sz="2400" dirty="0"/>
              <a:t>Use price indexes to adjust data for the effects of inflation.</a:t>
            </a:r>
            <a:endParaRPr lang="en-US" sz="2400" dirty="0">
              <a:solidFill>
                <a:srgbClr val="007FA3"/>
              </a:solidFill>
            </a:endParaRPr>
          </a:p>
        </p:txBody>
      </p:sp>
    </p:spTree>
    <p:extLst>
      <p:ext uri="{BB962C8B-B14F-4D97-AF65-F5344CB8AC3E}">
        <p14:creationId xmlns:p14="http://schemas.microsoft.com/office/powerpoint/2010/main" val="105521074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06680"/>
            <a:ext cx="8229600" cy="1036320"/>
          </a:xfrm>
        </p:spPr>
        <p:txBody>
          <a:bodyPr/>
          <a:lstStyle/>
          <a:p>
            <a:r>
              <a:rPr lang="en-US" dirty="0">
                <a:latin typeface="+mj-lt"/>
              </a:rPr>
              <a:t>Using Price Indexes to Adjust Prices</a:t>
            </a:r>
          </a:p>
        </p:txBody>
      </p:sp>
      <p:sp>
        <p:nvSpPr>
          <p:cNvPr id="3" name="Content Placeholder 2"/>
          <p:cNvSpPr>
            <a:spLocks noGrp="1"/>
          </p:cNvSpPr>
          <p:nvPr>
            <p:ph idx="1"/>
          </p:nvPr>
        </p:nvSpPr>
        <p:spPr>
          <a:xfrm>
            <a:off x="457200" y="1436422"/>
            <a:ext cx="8229600" cy="1992578"/>
          </a:xfrm>
        </p:spPr>
        <p:txBody>
          <a:bodyPr>
            <a:noAutofit/>
          </a:bodyPr>
          <a:lstStyle/>
          <a:p>
            <a:pPr marL="0" indent="0">
              <a:spcBef>
                <a:spcPts val="0"/>
              </a:spcBef>
              <a:spcAft>
                <a:spcPts val="1200"/>
              </a:spcAft>
              <a:buNone/>
            </a:pPr>
            <a:r>
              <a:rPr lang="en-US" sz="2400" dirty="0"/>
              <a:t>Suppose your mother received a salary of $30,000 in 1993. This would have bought much more than a salary of $30,000 in 2021.</a:t>
            </a:r>
          </a:p>
          <a:p>
            <a:pPr marL="0" indent="0">
              <a:spcBef>
                <a:spcPts val="0"/>
              </a:spcBef>
              <a:spcAft>
                <a:spcPts val="1200"/>
              </a:spcAft>
              <a:buNone/>
            </a:pPr>
            <a:r>
              <a:rPr lang="en-US" sz="2400" dirty="0"/>
              <a:t>We can use the CPI to estimate the purchasing power of that $30,000 in 2021 dollars:</a:t>
            </a:r>
          </a:p>
        </p:txBody>
      </p:sp>
      <p:sp>
        <p:nvSpPr>
          <p:cNvPr id="6" name="Content Placeholder 5"/>
          <p:cNvSpPr>
            <a:spLocks noGrp="1"/>
          </p:cNvSpPr>
          <p:nvPr>
            <p:ph idx="13"/>
          </p:nvPr>
        </p:nvSpPr>
        <p:spPr>
          <a:xfrm>
            <a:off x="457200" y="5334000"/>
            <a:ext cx="8229600" cy="762000"/>
          </a:xfrm>
        </p:spPr>
        <p:txBody>
          <a:bodyPr>
            <a:noAutofit/>
          </a:bodyPr>
          <a:lstStyle/>
          <a:p>
            <a:pPr marL="0" indent="0">
              <a:buNone/>
            </a:pPr>
            <a:r>
              <a:rPr lang="en-US" sz="2400" dirty="0"/>
              <a:t>So $30,000 in 1993 would have bought about as much as $49,626 in 2021.</a:t>
            </a:r>
          </a:p>
        </p:txBody>
      </p:sp>
      <p:graphicFrame>
        <p:nvGraphicFramePr>
          <p:cNvPr id="5" name="Object 4">
            <a:extLst>
              <a:ext uri="{FF2B5EF4-FFF2-40B4-BE49-F238E27FC236}">
                <a16:creationId xmlns:a16="http://schemas.microsoft.com/office/drawing/2014/main" id="{830D5264-7EE7-9E50-753F-3339894C4A15}"/>
              </a:ext>
            </a:extLst>
          </p:cNvPr>
          <p:cNvGraphicFramePr>
            <a:graphicFrameLocks noChangeAspect="1"/>
          </p:cNvGraphicFramePr>
          <p:nvPr>
            <p:extLst>
              <p:ext uri="{D42A27DB-BD31-4B8C-83A1-F6EECF244321}">
                <p14:modId xmlns:p14="http://schemas.microsoft.com/office/powerpoint/2010/main" val="2509411910"/>
              </p:ext>
            </p:extLst>
          </p:nvPr>
        </p:nvGraphicFramePr>
        <p:xfrm>
          <a:off x="1170828" y="3719214"/>
          <a:ext cx="6802344" cy="1459178"/>
        </p:xfrm>
        <a:graphic>
          <a:graphicData uri="http://schemas.openxmlformats.org/presentationml/2006/ole">
            <mc:AlternateContent xmlns:mc="http://schemas.openxmlformats.org/markup-compatibility/2006">
              <mc:Choice xmlns:v="urn:schemas-microsoft-com:vml" Requires="v">
                <p:oleObj name="Equation" r:id="rId3" imgW="4025880" imgH="863280" progId="Equation.DSMT4">
                  <p:embed/>
                </p:oleObj>
              </mc:Choice>
              <mc:Fallback>
                <p:oleObj name="Equation" r:id="rId3" imgW="4025880" imgH="863280" progId="Equation.DSMT4">
                  <p:embed/>
                  <p:pic>
                    <p:nvPicPr>
                      <p:cNvPr id="0" name=""/>
                      <p:cNvPicPr/>
                      <p:nvPr/>
                    </p:nvPicPr>
                    <p:blipFill>
                      <a:blip r:embed="rId4"/>
                      <a:stretch>
                        <a:fillRect/>
                      </a:stretch>
                    </p:blipFill>
                    <p:spPr>
                      <a:xfrm>
                        <a:off x="1170828" y="3719214"/>
                        <a:ext cx="6802344" cy="1459178"/>
                      </a:xfrm>
                      <a:prstGeom prst="rect">
                        <a:avLst/>
                      </a:prstGeom>
                    </p:spPr>
                  </p:pic>
                </p:oleObj>
              </mc:Fallback>
            </mc:AlternateContent>
          </a:graphicData>
        </a:graphic>
      </p:graphicFrame>
    </p:spTree>
    <p:extLst>
      <p:ext uri="{BB962C8B-B14F-4D97-AF65-F5344CB8AC3E}">
        <p14:creationId xmlns:p14="http://schemas.microsoft.com/office/powerpoint/2010/main" val="180361622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mj-lt"/>
              </a:rPr>
              <a:t>Real versus Nominal Interest Rates</a:t>
            </a:r>
            <a:endParaRPr lang="en-US" sz="2800" dirty="0">
              <a:latin typeface="+mj-lt"/>
            </a:endParaRPr>
          </a:p>
        </p:txBody>
      </p:sp>
      <p:sp>
        <p:nvSpPr>
          <p:cNvPr id="3" name="Text Placeholder 2">
            <a:extLst>
              <a:ext uri="{FF2B5EF4-FFF2-40B4-BE49-F238E27FC236}">
                <a16:creationId xmlns:a16="http://schemas.microsoft.com/office/drawing/2014/main" id="{E20CC904-3647-450A-91D0-D6E05DB437ED}"/>
              </a:ext>
            </a:extLst>
          </p:cNvPr>
          <p:cNvSpPr>
            <a:spLocks noGrp="1"/>
          </p:cNvSpPr>
          <p:nvPr>
            <p:ph type="body" sz="quarter" idx="13"/>
          </p:nvPr>
        </p:nvSpPr>
        <p:spPr/>
        <p:txBody>
          <a:bodyPr/>
          <a:lstStyle/>
          <a:p>
            <a:r>
              <a:rPr lang="en-US" sz="2400" b="1" dirty="0">
                <a:solidFill>
                  <a:schemeClr val="tx1"/>
                </a:solidFill>
              </a:rPr>
              <a:t>5.6 Learning</a:t>
            </a:r>
            <a:r>
              <a:rPr lang="en-US" sz="2400" dirty="0">
                <a:solidFill>
                  <a:schemeClr val="tx1"/>
                </a:solidFill>
              </a:rPr>
              <a:t> </a:t>
            </a:r>
            <a:r>
              <a:rPr lang="en-US" sz="2400" b="1" dirty="0">
                <a:solidFill>
                  <a:schemeClr val="tx1"/>
                </a:solidFill>
              </a:rPr>
              <a:t>Objective</a:t>
            </a:r>
          </a:p>
        </p:txBody>
      </p:sp>
      <p:sp>
        <p:nvSpPr>
          <p:cNvPr id="4" name="Content Placeholder 3"/>
          <p:cNvSpPr>
            <a:spLocks noGrp="1"/>
          </p:cNvSpPr>
          <p:nvPr>
            <p:ph sz="quarter" idx="14"/>
          </p:nvPr>
        </p:nvSpPr>
        <p:spPr/>
        <p:txBody>
          <a:bodyPr>
            <a:noAutofit/>
          </a:bodyPr>
          <a:lstStyle/>
          <a:p>
            <a:pPr marL="0" indent="0">
              <a:buNone/>
            </a:pPr>
            <a:r>
              <a:rPr lang="en-US" dirty="0"/>
              <a:t>Distinguish between the nominal interest rate and the real interest rate.</a:t>
            </a:r>
            <a:endParaRPr lang="en-US" dirty="0">
              <a:solidFill>
                <a:srgbClr val="007FA3"/>
              </a:solidFill>
            </a:endParaRPr>
          </a:p>
        </p:txBody>
      </p:sp>
    </p:spTree>
    <p:extLst>
      <p:ext uri="{BB962C8B-B14F-4D97-AF65-F5344CB8AC3E}">
        <p14:creationId xmlns:p14="http://schemas.microsoft.com/office/powerpoint/2010/main" val="411387499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t>Inflation and Interest Rates</a:t>
            </a:r>
          </a:p>
        </p:txBody>
      </p:sp>
      <p:sp>
        <p:nvSpPr>
          <p:cNvPr id="4" name="Content Placeholder 3"/>
          <p:cNvSpPr>
            <a:spLocks noGrp="1"/>
          </p:cNvSpPr>
          <p:nvPr>
            <p:ph idx="1"/>
          </p:nvPr>
        </p:nvSpPr>
        <p:spPr>
          <a:xfrm>
            <a:off x="457200" y="1447800"/>
            <a:ext cx="8229600" cy="4800600"/>
          </a:xfrm>
        </p:spPr>
        <p:txBody>
          <a:bodyPr>
            <a:noAutofit/>
          </a:bodyPr>
          <a:lstStyle/>
          <a:p>
            <a:pPr marL="0" indent="0">
              <a:spcBef>
                <a:spcPts val="1000"/>
              </a:spcBef>
              <a:buNone/>
            </a:pPr>
            <a:r>
              <a:rPr lang="en-US" sz="2200" dirty="0"/>
              <a:t>When you lend money to someone, they typically agree to pay you back </a:t>
            </a:r>
            <a:r>
              <a:rPr lang="en-US" sz="2200" i="1" dirty="0"/>
              <a:t>with interest</a:t>
            </a:r>
            <a:r>
              <a:rPr lang="en-US" sz="2200" dirty="0"/>
              <a:t>. If the </a:t>
            </a:r>
            <a:r>
              <a:rPr lang="en-US" sz="2200" i="1" dirty="0"/>
              <a:t>interest rate</a:t>
            </a:r>
            <a:r>
              <a:rPr lang="en-US" sz="2200" dirty="0"/>
              <a:t> is 6%, for example, then a $1,000 loan paid back in a year will be paid back with $1,060.</a:t>
            </a:r>
          </a:p>
          <a:p>
            <a:pPr marL="0" indent="0">
              <a:spcBef>
                <a:spcPts val="1000"/>
              </a:spcBef>
              <a:buNone/>
            </a:pPr>
            <a:r>
              <a:rPr lang="en-US" sz="2200" dirty="0"/>
              <a:t>This 6% is the </a:t>
            </a:r>
            <a:r>
              <a:rPr lang="en-US" sz="2200" b="1" dirty="0"/>
              <a:t>nominal interest rate:</a:t>
            </a:r>
            <a:r>
              <a:rPr lang="en-US" sz="2200" dirty="0"/>
              <a:t> the stated interest rate on a loan. But in that year’s time, prices will have risen; so the $1,060 next year is not worth the same as $1,060 this year.</a:t>
            </a:r>
          </a:p>
          <a:p>
            <a:pPr marL="0" indent="0">
              <a:spcBef>
                <a:spcPts val="1000"/>
              </a:spcBef>
              <a:buNone/>
            </a:pPr>
            <a:r>
              <a:rPr lang="en-US" sz="2200" dirty="0"/>
              <a:t>We can adjust for inflation by calculating the </a:t>
            </a:r>
            <a:r>
              <a:rPr lang="en-US" sz="2200" b="1" dirty="0"/>
              <a:t>real interest rate,</a:t>
            </a:r>
            <a:r>
              <a:rPr lang="en-US" sz="2200" dirty="0"/>
              <a:t> equal to the nominal interest rate minus the inflation rate. (Note: this is an approximation, but it is quite accurate for low interest and inflation rates.)</a:t>
            </a:r>
          </a:p>
          <a:p>
            <a:pPr marL="0" indent="0">
              <a:spcBef>
                <a:spcPts val="1000"/>
              </a:spcBef>
              <a:buNone/>
            </a:pPr>
            <a:r>
              <a:rPr lang="en-US" sz="2200" dirty="0"/>
              <a:t>If prices rise by 2% from this year to next, then your real interest rate on the loan is only 4%. This more accurately reflects the cost of borrowing and lending money.</a:t>
            </a:r>
          </a:p>
        </p:txBody>
      </p:sp>
    </p:spTree>
    <p:extLst>
      <p:ext uri="{BB962C8B-B14F-4D97-AF65-F5344CB8AC3E}">
        <p14:creationId xmlns:p14="http://schemas.microsoft.com/office/powerpoint/2010/main" val="250867155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15372"/>
            <a:ext cx="8229600" cy="1080028"/>
          </a:xfrm>
        </p:spPr>
        <p:txBody>
          <a:bodyPr/>
          <a:lstStyle/>
          <a:p>
            <a:r>
              <a:rPr lang="en-US" dirty="0">
                <a:latin typeface="+mj-lt"/>
              </a:rPr>
              <a:t>Does Inflation Impose Costs on the Economy?</a:t>
            </a:r>
          </a:p>
        </p:txBody>
      </p:sp>
      <p:sp>
        <p:nvSpPr>
          <p:cNvPr id="3" name="Text Placeholder 2">
            <a:extLst>
              <a:ext uri="{FF2B5EF4-FFF2-40B4-BE49-F238E27FC236}">
                <a16:creationId xmlns:a16="http://schemas.microsoft.com/office/drawing/2014/main" id="{A07FFE58-E330-61A0-22A5-09F02E9B142F}"/>
              </a:ext>
            </a:extLst>
          </p:cNvPr>
          <p:cNvSpPr>
            <a:spLocks noGrp="1"/>
          </p:cNvSpPr>
          <p:nvPr>
            <p:ph type="body" sz="quarter" idx="13"/>
          </p:nvPr>
        </p:nvSpPr>
        <p:spPr>
          <a:xfrm>
            <a:off x="445971" y="1381043"/>
            <a:ext cx="8229600" cy="402770"/>
          </a:xfrm>
        </p:spPr>
        <p:txBody>
          <a:bodyPr/>
          <a:lstStyle/>
          <a:p>
            <a:r>
              <a:rPr lang="en-US" sz="2400" b="1" dirty="0">
                <a:solidFill>
                  <a:schemeClr val="tx1"/>
                </a:solidFill>
              </a:rPr>
              <a:t>5.7 Learning</a:t>
            </a:r>
            <a:r>
              <a:rPr lang="en-US" sz="2400" dirty="0">
                <a:solidFill>
                  <a:schemeClr val="tx1"/>
                </a:solidFill>
              </a:rPr>
              <a:t> </a:t>
            </a:r>
            <a:r>
              <a:rPr lang="en-US" sz="2400" b="1" dirty="0">
                <a:solidFill>
                  <a:schemeClr val="tx1"/>
                </a:solidFill>
              </a:rPr>
              <a:t>Objective</a:t>
            </a:r>
          </a:p>
          <a:p>
            <a:endParaRPr lang="en-IN" dirty="0"/>
          </a:p>
        </p:txBody>
      </p:sp>
      <p:sp>
        <p:nvSpPr>
          <p:cNvPr id="4" name="Content Placeholder 3"/>
          <p:cNvSpPr>
            <a:spLocks noGrp="1"/>
          </p:cNvSpPr>
          <p:nvPr>
            <p:ph sz="quarter" idx="14"/>
          </p:nvPr>
        </p:nvSpPr>
        <p:spPr>
          <a:xfrm>
            <a:off x="445971" y="1981200"/>
            <a:ext cx="8229600" cy="369332"/>
          </a:xfrm>
        </p:spPr>
        <p:txBody>
          <a:bodyPr>
            <a:spAutoFit/>
          </a:bodyPr>
          <a:lstStyle/>
          <a:p>
            <a:pPr marL="0" indent="0">
              <a:buNone/>
            </a:pPr>
            <a:r>
              <a:rPr lang="en-US" sz="2400" dirty="0"/>
              <a:t>Discuss the problems inflation can cause.</a:t>
            </a:r>
          </a:p>
        </p:txBody>
      </p:sp>
    </p:spTree>
    <p:extLst>
      <p:ext uri="{BB962C8B-B14F-4D97-AF65-F5344CB8AC3E}">
        <p14:creationId xmlns:p14="http://schemas.microsoft.com/office/powerpoint/2010/main" val="247398557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Is Inflation a Problem?</a:t>
            </a:r>
          </a:p>
        </p:txBody>
      </p:sp>
      <p:sp>
        <p:nvSpPr>
          <p:cNvPr id="3" name="Content Placeholder 2"/>
          <p:cNvSpPr>
            <a:spLocks noGrp="1"/>
          </p:cNvSpPr>
          <p:nvPr>
            <p:ph idx="1"/>
          </p:nvPr>
        </p:nvSpPr>
        <p:spPr>
          <a:xfrm>
            <a:off x="457200" y="1447800"/>
            <a:ext cx="8229600" cy="4800600"/>
          </a:xfrm>
        </p:spPr>
        <p:txBody>
          <a:bodyPr>
            <a:noAutofit/>
          </a:bodyPr>
          <a:lstStyle/>
          <a:p>
            <a:pPr marL="0" indent="0">
              <a:spcBef>
                <a:spcPts val="1000"/>
              </a:spcBef>
              <a:buNone/>
            </a:pPr>
            <a:r>
              <a:rPr lang="en-US" sz="2200" dirty="0"/>
              <a:t>Sometimes inflation seems unimportant. After all, if all prices doubled overnight, it seems like nothing much would change: the prices of goods and services would have doubled, but so would your wage; so you could afford exactly as much as before.</a:t>
            </a:r>
          </a:p>
          <a:p>
            <a:pPr marL="0" indent="0">
              <a:spcBef>
                <a:spcPts val="1000"/>
              </a:spcBef>
              <a:buNone/>
            </a:pPr>
            <a:r>
              <a:rPr lang="en-US" sz="2200" dirty="0"/>
              <a:t>But there are some less obvious problems with inflation. For example, inflation affects the distribution of income and wealth.</a:t>
            </a:r>
          </a:p>
          <a:p>
            <a:pPr>
              <a:spcBef>
                <a:spcPts val="1000"/>
              </a:spcBef>
            </a:pPr>
            <a:r>
              <a:rPr lang="en-US" sz="2200" dirty="0"/>
              <a:t>It is unlikely that everyone’s wages would increase at the same rate. Many people have long-term contracts specifying their wage in nominal terms, for example.</a:t>
            </a:r>
          </a:p>
          <a:p>
            <a:pPr>
              <a:spcBef>
                <a:spcPts val="1000"/>
              </a:spcBef>
            </a:pPr>
            <a:r>
              <a:rPr lang="en-US" sz="2200" dirty="0"/>
              <a:t>Also, nominal assets like cash decrease in value when there is significant inflation. If you hold much of your wealth in cash, then inflation causes a significant decrease in real wealth for you.</a:t>
            </a:r>
          </a:p>
        </p:txBody>
      </p:sp>
    </p:spTree>
    <p:extLst>
      <p:ext uri="{BB962C8B-B14F-4D97-AF65-F5344CB8AC3E}">
        <p14:creationId xmlns:p14="http://schemas.microsoft.com/office/powerpoint/2010/main" val="260137724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Problems with Anticipated Inflation</a:t>
            </a:r>
          </a:p>
        </p:txBody>
      </p:sp>
      <p:sp>
        <p:nvSpPr>
          <p:cNvPr id="3" name="Content Placeholder 2"/>
          <p:cNvSpPr>
            <a:spLocks noGrp="1"/>
          </p:cNvSpPr>
          <p:nvPr>
            <p:ph idx="1"/>
          </p:nvPr>
        </p:nvSpPr>
        <p:spPr/>
        <p:txBody>
          <a:bodyPr>
            <a:noAutofit/>
          </a:bodyPr>
          <a:lstStyle/>
          <a:p>
            <a:pPr marL="0" indent="0">
              <a:spcBef>
                <a:spcPts val="1000"/>
              </a:spcBef>
              <a:buNone/>
            </a:pPr>
            <a:r>
              <a:rPr lang="en-US" sz="2400" dirty="0"/>
              <a:t>Inflation is easier to deal with if you see it coming like many other life problems. However, inflation causes problem even if it is anticipated:</a:t>
            </a:r>
          </a:p>
          <a:p>
            <a:pPr marL="269875" indent="-269875">
              <a:spcBef>
                <a:spcPts val="1000"/>
              </a:spcBef>
            </a:pPr>
            <a:r>
              <a:rPr lang="en-US" sz="2400" dirty="0"/>
              <a:t>There will be a redistribution of income, as some people’s incomes do not grow at the same rate as inflation.</a:t>
            </a:r>
          </a:p>
          <a:p>
            <a:pPr marL="269875" indent="-269875">
              <a:spcBef>
                <a:spcPts val="1000"/>
              </a:spcBef>
            </a:pPr>
            <a:r>
              <a:rPr lang="en-US" sz="2400" dirty="0"/>
              <a:t>Purchasing power of cash reduces due to inflation.</a:t>
            </a:r>
          </a:p>
          <a:p>
            <a:pPr marL="269875" indent="-269875">
              <a:spcBef>
                <a:spcPts val="1000"/>
              </a:spcBef>
            </a:pPr>
            <a:r>
              <a:rPr lang="en-US" sz="2400" dirty="0"/>
              <a:t>Firms have </a:t>
            </a:r>
            <a:r>
              <a:rPr lang="en-US" sz="2400" b="1" dirty="0"/>
              <a:t>menu costs:</a:t>
            </a:r>
            <a:r>
              <a:rPr lang="en-US" sz="2400" dirty="0"/>
              <a:t> the cost to firms of changing prices. Frequently changing prices are inconvenient for firms (and consumers too!) to deal with.</a:t>
            </a:r>
          </a:p>
          <a:p>
            <a:pPr marL="269875" indent="-269875">
              <a:spcBef>
                <a:spcPts val="1000"/>
              </a:spcBef>
            </a:pPr>
            <a:r>
              <a:rPr lang="en-US" sz="2400" dirty="0"/>
              <a:t>Investors are taxed on </a:t>
            </a:r>
            <a:r>
              <a:rPr lang="en-US" sz="2400" i="1" dirty="0"/>
              <a:t>nominal</a:t>
            </a:r>
            <a:r>
              <a:rPr lang="en-US" sz="2400" dirty="0"/>
              <a:t> returns, rather than real returns; so this can increase the tax due.</a:t>
            </a:r>
            <a:endParaRPr lang="en-US" sz="2200" dirty="0"/>
          </a:p>
        </p:txBody>
      </p:sp>
    </p:spTree>
    <p:extLst>
      <p:ext uri="{BB962C8B-B14F-4D97-AF65-F5344CB8AC3E}">
        <p14:creationId xmlns:p14="http://schemas.microsoft.com/office/powerpoint/2010/main" val="82847971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latin typeface="+mj-lt"/>
              </a:rPr>
              <a:t>Problems with Unanticipated Inflation</a:t>
            </a:r>
          </a:p>
        </p:txBody>
      </p:sp>
      <p:sp>
        <p:nvSpPr>
          <p:cNvPr id="3" name="Content Placeholder 2"/>
          <p:cNvSpPr>
            <a:spLocks noGrp="1"/>
          </p:cNvSpPr>
          <p:nvPr>
            <p:ph idx="1"/>
          </p:nvPr>
        </p:nvSpPr>
        <p:spPr/>
        <p:txBody>
          <a:bodyPr>
            <a:noAutofit/>
          </a:bodyPr>
          <a:lstStyle/>
          <a:p>
            <a:pPr marL="0" indent="0">
              <a:spcBef>
                <a:spcPts val="0"/>
              </a:spcBef>
              <a:spcAft>
                <a:spcPts val="1200"/>
              </a:spcAft>
              <a:buNone/>
            </a:pPr>
            <a:r>
              <a:rPr lang="en-US" sz="2400" dirty="0"/>
              <a:t>When people cannot predict the rate of inflation, they find it hard to make good borrowing and lending decisions.</a:t>
            </a:r>
          </a:p>
          <a:p>
            <a:pPr marL="269875" indent="-269875">
              <a:spcBef>
                <a:spcPts val="0"/>
              </a:spcBef>
              <a:spcAft>
                <a:spcPts val="1200"/>
              </a:spcAft>
              <a:buSzPct val="100000"/>
            </a:pPr>
            <a:r>
              <a:rPr lang="en-US" sz="2400" dirty="0"/>
              <a:t>For example, in 1980s banks were charging 18% or more on mortgages because the rate of inflation was very high. People who bought homes were locked into high rates even when inflation subsided.</a:t>
            </a:r>
          </a:p>
          <a:p>
            <a:pPr marL="269875" indent="-269875">
              <a:spcBef>
                <a:spcPts val="0"/>
              </a:spcBef>
              <a:spcAft>
                <a:spcPts val="1200"/>
              </a:spcAft>
              <a:buSzPct val="100000"/>
            </a:pPr>
            <a:r>
              <a:rPr lang="en-US" sz="2400" dirty="0"/>
              <a:t>On the other hand, if banks lend money at a low rate and then high inflation takes place, the real interest rate they receive may be zero or negative; thus the risk of inflation makes banks wary of lending.</a:t>
            </a:r>
          </a:p>
          <a:p>
            <a:pPr marL="0" indent="0">
              <a:spcBef>
                <a:spcPts val="0"/>
              </a:spcBef>
              <a:spcAft>
                <a:spcPts val="1200"/>
              </a:spcAft>
              <a:buNone/>
            </a:pPr>
            <a:r>
              <a:rPr lang="en-US" sz="2400" i="1" dirty="0"/>
              <a:t>Unpredictable inflation makes borrowing and lending risky</a:t>
            </a:r>
            <a:r>
              <a:rPr lang="en-US" sz="2400" dirty="0"/>
              <a:t>.</a:t>
            </a:r>
          </a:p>
        </p:txBody>
      </p:sp>
    </p:spTree>
    <p:extLst>
      <p:ext uri="{BB962C8B-B14F-4D97-AF65-F5344CB8AC3E}">
        <p14:creationId xmlns:p14="http://schemas.microsoft.com/office/powerpoint/2010/main" val="8284797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8EB804D4F82C0B4088CBB3A2B255BE33" ma:contentTypeVersion="10" ma:contentTypeDescription="Create a new document." ma:contentTypeScope="" ma:versionID="ba2444f8b87678fbda005eb818e18e7d">
  <xsd:schema xmlns:xsd="http://www.w3.org/2001/XMLSchema" xmlns:xs="http://www.w3.org/2001/XMLSchema" xmlns:p="http://schemas.microsoft.com/office/2006/metadata/properties" xmlns:ns3="d445d462-2029-4cec-993f-47750f9ae382" targetNamespace="http://schemas.microsoft.com/office/2006/metadata/properties" ma:root="true" ma:fieldsID="59dfec31504f62d0b799b89d654e468f" ns3:_="">
    <xsd:import namespace="d445d462-2029-4cec-993f-47750f9ae382"/>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3:MediaServiceDateTaken" minOccurs="0"/>
                <xsd:element ref="ns3:MediaServiceAutoTags" minOccurs="0"/>
                <xsd:element ref="ns3:MediaServiceOCR" minOccurs="0"/>
                <xsd:element ref="ns3:MediaServiceGenerationTime" minOccurs="0"/>
                <xsd:element ref="ns3:MediaServiceEventHashCode"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445d462-2029-4cec-993f-47750f9ae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40ED968-9256-4114-AF12-237294F6A362}">
  <ds:schemaRefs>
    <ds:schemaRef ds:uri="http://purl.org/dc/elements/1.1/"/>
    <ds:schemaRef ds:uri="http://schemas.microsoft.com/office/2006/metadata/properties"/>
    <ds:schemaRef ds:uri="d445d462-2029-4cec-993f-47750f9ae382"/>
    <ds:schemaRef ds:uri="http://schemas.microsoft.com/office/2006/documentManagement/types"/>
    <ds:schemaRef ds:uri="http://purl.org/dc/terms/"/>
    <ds:schemaRef ds:uri="http://schemas.openxmlformats.org/package/2006/metadata/core-properties"/>
    <ds:schemaRef ds:uri="http://purl.org/dc/dcmitype/"/>
    <ds:schemaRef ds:uri="http://schemas.microsoft.com/office/infopath/2007/PartnerControls"/>
    <ds:schemaRef ds:uri="http://www.w3.org/XML/1998/namespace"/>
  </ds:schemaRefs>
</ds:datastoreItem>
</file>

<file path=customXml/itemProps2.xml><?xml version="1.0" encoding="utf-8"?>
<ds:datastoreItem xmlns:ds="http://schemas.openxmlformats.org/officeDocument/2006/customXml" ds:itemID="{A0BE2AAD-6CC9-4100-8B6B-7A31EE5170E5}">
  <ds:schemaRefs>
    <ds:schemaRef ds:uri="http://schemas.microsoft.com/sharepoint/v3/contenttype/forms"/>
  </ds:schemaRefs>
</ds:datastoreItem>
</file>

<file path=customXml/itemProps3.xml><?xml version="1.0" encoding="utf-8"?>
<ds:datastoreItem xmlns:ds="http://schemas.openxmlformats.org/officeDocument/2006/customXml" ds:itemID="{F2637977-83C3-4D06-8E43-B932C56FB14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445d462-2029-4cec-993f-47750f9ae38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1896</TotalTime>
  <Words>3569</Words>
  <Application>Microsoft Macintosh PowerPoint</Application>
  <PresentationFormat>On-screen Show (4:3)</PresentationFormat>
  <Paragraphs>275</Paragraphs>
  <Slides>42</Slides>
  <Notes>42</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42</vt:i4>
      </vt:variant>
    </vt:vector>
  </HeadingPairs>
  <TitlesOfParts>
    <vt:vector size="49" baseType="lpstr">
      <vt:lpstr>Malgun Gothic</vt:lpstr>
      <vt:lpstr>Aptos</vt:lpstr>
      <vt:lpstr>Aptos Display</vt:lpstr>
      <vt:lpstr>Arial</vt:lpstr>
      <vt:lpstr>Verdana</vt:lpstr>
      <vt:lpstr>Office Theme</vt:lpstr>
      <vt:lpstr>Equation</vt:lpstr>
      <vt:lpstr>Macroeconomics ECON 101</vt:lpstr>
      <vt:lpstr>Chapter Outline</vt:lpstr>
      <vt:lpstr>Measuring Unemployment and Inflation</vt:lpstr>
      <vt:lpstr>Measuring Unemployment</vt:lpstr>
      <vt:lpstr>The Labour Force Survey</vt:lpstr>
      <vt:lpstr>Figure 5.1 The Employment Status of the Working-Age Population, January 2022 (1 of 3)</vt:lpstr>
      <vt:lpstr>Figure 5.1 The Employment Status of the Working-Age Population, January 2022 (2 of 3)</vt:lpstr>
      <vt:lpstr>Figure 5.1 The Employment Status of the Working-Age Population, January 2022 (3 of 3)</vt:lpstr>
      <vt:lpstr>Problems with Measuring the Unemployment Rate</vt:lpstr>
      <vt:lpstr>Figure 5.2 Trends in the Labour Force Participation Rate of Men and Women</vt:lpstr>
      <vt:lpstr>Job Creation and Job Destruction over Time</vt:lpstr>
      <vt:lpstr>Types of Unemployment</vt:lpstr>
      <vt:lpstr>Figure 5.3 The Unemployment Rate in Canada, January 1976 to January 2022</vt:lpstr>
      <vt:lpstr>Four Types of Unemployment</vt:lpstr>
      <vt:lpstr>Frictional Unemployment</vt:lpstr>
      <vt:lpstr>Structural Unemployment</vt:lpstr>
      <vt:lpstr>Cyclical Unemployment</vt:lpstr>
      <vt:lpstr>Seasonal Unemployment</vt:lpstr>
      <vt:lpstr>Full Employment</vt:lpstr>
      <vt:lpstr>Explaining Unemployment</vt:lpstr>
      <vt:lpstr>Government Policies and the Unemployment Rate</vt:lpstr>
      <vt:lpstr>Employment Insurance (EI)</vt:lpstr>
      <vt:lpstr>Minimum Wage Laws</vt:lpstr>
      <vt:lpstr>Labour Unions</vt:lpstr>
      <vt:lpstr>Efficiency Wages</vt:lpstr>
      <vt:lpstr>Measuring Inflation</vt:lpstr>
      <vt:lpstr>Price Level and Inflation Rate</vt:lpstr>
      <vt:lpstr>Figure 5.4 The CPI Basket, 2021</vt:lpstr>
      <vt:lpstr>Calculating the CPI</vt:lpstr>
      <vt:lpstr>A Simple CPI Calculation (1 of 2)</vt:lpstr>
      <vt:lpstr>A Simple CPI Calculation (2 of 2)</vt:lpstr>
      <vt:lpstr>Apply the Concept: Prices will Rise</vt:lpstr>
      <vt:lpstr>Is the CPI Accurate?</vt:lpstr>
      <vt:lpstr>Producer Price Index (PPI)</vt:lpstr>
      <vt:lpstr>Using Price Indexes to Adjust for the Effects of Inflation</vt:lpstr>
      <vt:lpstr>Using Price Indexes to Adjust Prices</vt:lpstr>
      <vt:lpstr>Real versus Nominal Interest Rates</vt:lpstr>
      <vt:lpstr>Inflation and Interest Rates</vt:lpstr>
      <vt:lpstr>Does Inflation Impose Costs on the Economy?</vt:lpstr>
      <vt:lpstr>Is Inflation a Problem?</vt:lpstr>
      <vt:lpstr>Problems with Anticipated Inflation</vt:lpstr>
      <vt:lpstr>Problems with Unanticipated Inflation</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Macroeconomics, Third Canadian Edition, Chapter 1  Economics: Foundations and Models</dc:title>
  <dc:subject>Economics</dc:subject>
  <dc:creator>Hubbard, Patrick O’Brien, Serletis, Childs</dc:creator>
  <cp:lastModifiedBy>Muhebullah Karimzada</cp:lastModifiedBy>
  <cp:revision>5302</cp:revision>
  <dcterms:created xsi:type="dcterms:W3CDTF">2014-07-14T20:04:21Z</dcterms:created>
  <dcterms:modified xsi:type="dcterms:W3CDTF">2024-12-30T02:15:46Z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0x0101008EB804D4F82C0B4088CBB3A2B255BE33</vt:lpwstr>
  </property>
</Properties>
</file>