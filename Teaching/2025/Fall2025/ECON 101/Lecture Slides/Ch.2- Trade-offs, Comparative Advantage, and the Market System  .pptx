
<file path=[Content_Types].xml><?xml version="1.0" encoding="utf-8"?>
<Types xmlns="http://schemas.openxmlformats.org/package/2006/content-types">
  <Default Extension="emf" ContentType="image/x-em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29"/>
  </p:notesMasterIdLst>
  <p:handoutMasterIdLst>
    <p:handoutMasterId r:id="rId30"/>
  </p:handoutMasterIdLst>
  <p:sldIdLst>
    <p:sldId id="1438" r:id="rId5"/>
    <p:sldId id="1404" r:id="rId6"/>
    <p:sldId id="1405" r:id="rId7"/>
    <p:sldId id="1406" r:id="rId8"/>
    <p:sldId id="1408" r:id="rId9"/>
    <p:sldId id="1431" r:id="rId10"/>
    <p:sldId id="1411" r:id="rId11"/>
    <p:sldId id="1412" r:id="rId12"/>
    <p:sldId id="1432" r:id="rId13"/>
    <p:sldId id="1414" r:id="rId14"/>
    <p:sldId id="1415" r:id="rId15"/>
    <p:sldId id="1417" r:id="rId16"/>
    <p:sldId id="1418" r:id="rId17"/>
    <p:sldId id="1434" r:id="rId18"/>
    <p:sldId id="1437" r:id="rId19"/>
    <p:sldId id="1420" r:id="rId20"/>
    <p:sldId id="1421" r:id="rId21"/>
    <p:sldId id="1422" r:id="rId22"/>
    <p:sldId id="1423" r:id="rId23"/>
    <p:sldId id="1424" r:id="rId24"/>
    <p:sldId id="1425" r:id="rId25"/>
    <p:sldId id="1435" r:id="rId26"/>
    <p:sldId id="1427" r:id="rId27"/>
    <p:sldId id="143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69" autoAdjust="0"/>
    <p:restoredTop sz="87324" autoAdjust="0"/>
  </p:normalViewPr>
  <p:slideViewPr>
    <p:cSldViewPr>
      <p:cViewPr varScale="1">
        <p:scale>
          <a:sx n="107" d="100"/>
          <a:sy n="107" d="100"/>
        </p:scale>
        <p:origin x="840" y="168"/>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4" d="100"/>
          <a:sy n="84" d="100"/>
        </p:scale>
        <p:origin x="382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12/29/24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12/29/24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116891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902534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902534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2240551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1348724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348724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3698613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829660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85232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85232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2496476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2291933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Long description:</a:t>
            </a:r>
          </a:p>
          <a:p>
            <a:endParaRPr lang="en-IN" dirty="0"/>
          </a:p>
          <a:p>
            <a:r>
              <a:rPr lang="en-US" sz="1200" kern="1200" dirty="0">
                <a:solidFill>
                  <a:schemeClr val="tx1"/>
                </a:solidFill>
                <a:effectLst/>
                <a:latin typeface="+mn-lt"/>
                <a:ea typeface="+mn-ea"/>
                <a:cs typeface="+mn-cs"/>
              </a:rPr>
              <a:t>You: Opportunity cost of apples, 1 kilogram of cherries; opportunity cost of cherries, 1 kilogram of apples.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Your neighbor: Opportunity cost of apples, 2 kilograms of cherries; opportunity cost of cherries, 0.5 kilograms of apples.</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1759438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994967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9949670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sp>
        <p:nvSpPr>
          <p:cNvPr id="7" name="TextBox 6">
            <a:extLst>
              <a:ext uri="{FF2B5EF4-FFF2-40B4-BE49-F238E27FC236}">
                <a16:creationId xmlns:a16="http://schemas.microsoft.com/office/drawing/2014/main" id="{F7535C6A-FD39-4E03-7FCD-DD19AFE7265D}"/>
              </a:ext>
            </a:extLst>
          </p:cNvPr>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8" name="Picture 7" descr="Pearson Logo">
            <a:extLst>
              <a:ext uri="{FF2B5EF4-FFF2-40B4-BE49-F238E27FC236}">
                <a16:creationId xmlns:a16="http://schemas.microsoft.com/office/drawing/2014/main" id="{1FFD4B8D-BAED-1C1D-8647-CCD7221426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853634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31623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813775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902525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50206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3801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TextBox 4">
            <a:extLst>
              <a:ext uri="{FF2B5EF4-FFF2-40B4-BE49-F238E27FC236}">
                <a16:creationId xmlns:a16="http://schemas.microsoft.com/office/drawing/2014/main" id="{B5E01736-CF43-4C6C-D8B5-65E8EDC82053}"/>
              </a:ext>
            </a:extLst>
          </p:cNvPr>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6" name="Picture 5" descr="Pearson Logo">
            <a:extLst>
              <a:ext uri="{FF2B5EF4-FFF2-40B4-BE49-F238E27FC236}">
                <a16:creationId xmlns:a16="http://schemas.microsoft.com/office/drawing/2014/main" id="{B6AFD024-1B19-510D-921C-635589B144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546342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447180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6344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52485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32999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965414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0049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2 content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7620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1"/>
            <a:ext cx="8229600" cy="1219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4724400"/>
            <a:ext cx="8229600" cy="914400"/>
          </a:xfrm>
        </p:spPr>
        <p:txBody>
          <a:bodyPr/>
          <a:lstStyle/>
          <a:p>
            <a:endParaRPr lang="en-US"/>
          </a:p>
        </p:txBody>
      </p:sp>
    </p:spTree>
    <p:extLst>
      <p:ext uri="{BB962C8B-B14F-4D97-AF65-F5344CB8AC3E}">
        <p14:creationId xmlns:p14="http://schemas.microsoft.com/office/powerpoint/2010/main" val="880819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3 content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Picture Placeholder 8"/>
          <p:cNvSpPr>
            <a:spLocks noGrp="1"/>
          </p:cNvSpPr>
          <p:nvPr>
            <p:ph type="pic" sz="quarter" idx="15"/>
          </p:nvPr>
        </p:nvSpPr>
        <p:spPr>
          <a:xfrm>
            <a:off x="457200" y="5410200"/>
            <a:ext cx="8229600" cy="533400"/>
          </a:xfrm>
        </p:spPr>
        <p:txBody>
          <a:bodyPr/>
          <a:lstStyle/>
          <a:p>
            <a:endParaRPr lang="en-US"/>
          </a:p>
        </p:txBody>
      </p:sp>
    </p:spTree>
    <p:extLst>
      <p:ext uri="{BB962C8B-B14F-4D97-AF65-F5344CB8AC3E}">
        <p14:creationId xmlns:p14="http://schemas.microsoft.com/office/powerpoint/2010/main" val="2630672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9071430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072DE1A3-E933-56DC-6546-69E16CCCBB08}"/>
              </a:ext>
            </a:extLst>
          </p:cNvPr>
          <p:cNvSpPr txBox="1"/>
          <p:nvPr userDrawn="1"/>
        </p:nvSpPr>
        <p:spPr>
          <a:xfrm>
            <a:off x="8015565" y="6417103"/>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2 -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a:extLst>
              <a:ext uri="{FF2B5EF4-FFF2-40B4-BE49-F238E27FC236}">
                <a16:creationId xmlns:a16="http://schemas.microsoft.com/office/drawing/2014/main" id="{274BA887-5B9F-5360-FA28-10073E343A50}"/>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349574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371600"/>
          </a:xfrm>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3"/>
          </p:nvPr>
        </p:nvSpPr>
        <p:spPr>
          <a:xfrm>
            <a:off x="457200" y="3810000"/>
            <a:ext cx="8229600" cy="1066800"/>
          </a:xfrm>
        </p:spPr>
        <p:txBody>
          <a:bodyPr/>
          <a:lstStyle/>
          <a:p>
            <a:endParaRPr lang="en-US"/>
          </a:p>
        </p:txBody>
      </p:sp>
    </p:spTree>
    <p:extLst>
      <p:ext uri="{BB962C8B-B14F-4D97-AF65-F5344CB8AC3E}">
        <p14:creationId xmlns:p14="http://schemas.microsoft.com/office/powerpoint/2010/main" val="21622703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5 content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7"/>
          </p:nvPr>
        </p:nvSpPr>
        <p:spPr>
          <a:xfrm>
            <a:off x="457200" y="5486400"/>
            <a:ext cx="8229600" cy="685800"/>
          </a:xfrm>
        </p:spPr>
        <p:txBody>
          <a:bodyPr/>
          <a:lstStyle/>
          <a:p>
            <a:endParaRPr lang="en-IN"/>
          </a:p>
        </p:txBody>
      </p:sp>
    </p:spTree>
    <p:extLst>
      <p:ext uri="{BB962C8B-B14F-4D97-AF65-F5344CB8AC3E}">
        <p14:creationId xmlns:p14="http://schemas.microsoft.com/office/powerpoint/2010/main" val="3221039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3 content 2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Picture Placeholder 8"/>
          <p:cNvSpPr>
            <a:spLocks noGrp="1"/>
          </p:cNvSpPr>
          <p:nvPr>
            <p:ph type="pic" sz="quarter" idx="15"/>
          </p:nvPr>
        </p:nvSpPr>
        <p:spPr>
          <a:xfrm>
            <a:off x="457200" y="5410200"/>
            <a:ext cx="8229600" cy="533400"/>
          </a:xfrm>
        </p:spPr>
        <p:txBody>
          <a:bodyPr/>
          <a:lstStyle/>
          <a:p>
            <a:endParaRPr lang="en-US"/>
          </a:p>
        </p:txBody>
      </p:sp>
      <p:sp>
        <p:nvSpPr>
          <p:cNvPr id="10" name="Picture Placeholder 9"/>
          <p:cNvSpPr>
            <a:spLocks noGrp="1"/>
          </p:cNvSpPr>
          <p:nvPr>
            <p:ph type="pic" sz="quarter" idx="16"/>
          </p:nvPr>
        </p:nvSpPr>
        <p:spPr>
          <a:xfrm>
            <a:off x="457200" y="3810000"/>
            <a:ext cx="8229600" cy="609600"/>
          </a:xfrm>
        </p:spPr>
        <p:txBody>
          <a:bodyPr/>
          <a:lstStyle/>
          <a:p>
            <a:endParaRPr lang="en-US"/>
          </a:p>
        </p:txBody>
      </p:sp>
    </p:spTree>
    <p:extLst>
      <p:ext uri="{BB962C8B-B14F-4D97-AF65-F5344CB8AC3E}">
        <p14:creationId xmlns:p14="http://schemas.microsoft.com/office/powerpoint/2010/main" val="42223869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36351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7" name="TextBox 6"/>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807697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7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807697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807697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dirty="0"/>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629842" y="2505075"/>
            <a:ext cx="386834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629150" y="2505075"/>
            <a:ext cx="3887391"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12/29/24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631372" y="4278084"/>
            <a:ext cx="386834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637312" y="4288972"/>
            <a:ext cx="3887391"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44918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2A6756EA-EC4E-1187-4637-4E98378BFA4C}"/>
              </a:ext>
            </a:extLst>
          </p:cNvPr>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D4ACFAEE-709A-6D53-BBB3-47EA83EEF415}"/>
              </a:ext>
            </a:extLst>
          </p:cNvPr>
          <p:cNvSpPr txBox="1"/>
          <p:nvPr userDrawn="1"/>
        </p:nvSpPr>
        <p:spPr>
          <a:xfrm>
            <a:off x="8015565" y="6417103"/>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2 -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BF5B4BF2-D709-2C3A-CE85-4906B91D5562}"/>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326748342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57" r:id="rId20"/>
    <p:sldLayoutId id="2147483650" r:id="rId21"/>
    <p:sldLayoutId id="2147483660" r:id="rId22"/>
    <p:sldLayoutId id="2147483662" r:id="rId23"/>
    <p:sldLayoutId id="2147483665" r:id="rId24"/>
    <p:sldLayoutId id="2147483675" r:id="rId25"/>
    <p:sldLayoutId id="2147483666" r:id="rId26"/>
    <p:sldLayoutId id="2147483663" r:id="rId27"/>
    <p:sldLayoutId id="2147483654" r:id="rId28"/>
    <p:sldLayoutId id="2147483655" r:id="rId29"/>
    <p:sldLayoutId id="2147483668" r:id="rId30"/>
    <p:sldLayoutId id="2147483669" r:id="rId31"/>
    <p:sldLayoutId id="2147483670" r:id="rId32"/>
    <p:sldLayoutId id="2147483671" r:id="rId3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IN" sz="2400" dirty="0"/>
              <a:t>Trade-offs, Comparative Advantage, and the Market System</a:t>
            </a:r>
          </a:p>
          <a:p>
            <a:r>
              <a:rPr lang="en-US" dirty="0"/>
              <a:t>(Chapter 2)</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15372"/>
            <a:ext cx="8229600" cy="622828"/>
          </a:xfrm>
        </p:spPr>
        <p:txBody>
          <a:bodyPr/>
          <a:lstStyle/>
          <a:p>
            <a:r>
              <a:rPr lang="en-US" dirty="0">
                <a:latin typeface="+mj-lt"/>
              </a:rPr>
              <a:t>Chapter Outline</a:t>
            </a:r>
          </a:p>
        </p:txBody>
      </p:sp>
      <p:sp>
        <p:nvSpPr>
          <p:cNvPr id="10" name="Content Placeholder 9"/>
          <p:cNvSpPr>
            <a:spLocks noGrp="1"/>
          </p:cNvSpPr>
          <p:nvPr>
            <p:ph idx="1"/>
          </p:nvPr>
        </p:nvSpPr>
        <p:spPr>
          <a:xfrm>
            <a:off x="460310" y="977373"/>
            <a:ext cx="8229600" cy="1461027"/>
          </a:xfrm>
        </p:spPr>
        <p:txBody>
          <a:bodyPr/>
          <a:lstStyle/>
          <a:p>
            <a:pPr marL="625475" indent="-625475" defTabSz="714375">
              <a:buNone/>
            </a:pPr>
            <a:r>
              <a:rPr lang="en-US" sz="2400" b="1" dirty="0"/>
              <a:t>2.1</a:t>
            </a:r>
            <a:r>
              <a:rPr lang="en-US" sz="2400" dirty="0"/>
              <a:t>	Production Possibilities Frontiers and Opportunity Costs </a:t>
            </a:r>
          </a:p>
          <a:p>
            <a:pPr marL="0" indent="0" defTabSz="752475">
              <a:spcBef>
                <a:spcPts val="1000"/>
              </a:spcBef>
              <a:buNone/>
              <a:tabLst>
                <a:tab pos="625475" algn="l"/>
              </a:tabLst>
            </a:pPr>
            <a:r>
              <a:rPr lang="en-US" sz="2400" b="1" dirty="0"/>
              <a:t>2.2</a:t>
            </a:r>
            <a:r>
              <a:rPr lang="en-US" sz="2400" dirty="0"/>
              <a:t>	Comparative Advantage and Trade</a:t>
            </a:r>
          </a:p>
          <a:p>
            <a:pPr marL="0" indent="0" defTabSz="752475">
              <a:spcBef>
                <a:spcPts val="1000"/>
              </a:spcBef>
              <a:buNone/>
              <a:tabLst>
                <a:tab pos="625475" algn="l"/>
              </a:tabLst>
            </a:pPr>
            <a:r>
              <a:rPr lang="en-US" sz="2400" b="1" dirty="0"/>
              <a:t>2.3</a:t>
            </a:r>
            <a:r>
              <a:rPr lang="en-US" sz="2400" dirty="0"/>
              <a:t>	The Market System</a:t>
            </a:r>
          </a:p>
        </p:txBody>
      </p:sp>
      <p:pic>
        <p:nvPicPr>
          <p:cNvPr id="4" name="Picture 3" descr="Elon Musk at the launch of his new Tesla car.">
            <a:extLst>
              <a:ext uri="{FF2B5EF4-FFF2-40B4-BE49-F238E27FC236}">
                <a16:creationId xmlns:a16="http://schemas.microsoft.com/office/drawing/2014/main" id="{8F8399BA-C610-F49F-FE5C-409489AFE7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2716746"/>
            <a:ext cx="5123688" cy="3682332"/>
          </a:xfrm>
          <a:prstGeom prst="rect">
            <a:avLst/>
          </a:prstGeom>
        </p:spPr>
      </p:pic>
    </p:spTree>
    <p:extLst>
      <p:ext uri="{BB962C8B-B14F-4D97-AF65-F5344CB8AC3E}">
        <p14:creationId xmlns:p14="http://schemas.microsoft.com/office/powerpoint/2010/main" val="1378846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Scarcity and Trade-offs</a:t>
            </a:r>
          </a:p>
        </p:txBody>
      </p:sp>
      <p:sp>
        <p:nvSpPr>
          <p:cNvPr id="5" name="Content Placeholder 4"/>
          <p:cNvSpPr>
            <a:spLocks noGrp="1"/>
          </p:cNvSpPr>
          <p:nvPr>
            <p:ph idx="1"/>
          </p:nvPr>
        </p:nvSpPr>
        <p:spPr/>
        <p:txBody>
          <a:bodyPr/>
          <a:lstStyle/>
          <a:p>
            <a:pPr marL="347472" indent="-347472"/>
            <a:r>
              <a:rPr lang="en-US" altLang="en-US" sz="2400" kern="0" dirty="0"/>
              <a:t>People continually face decisions about how best to use their </a:t>
            </a:r>
            <a:r>
              <a:rPr lang="en-US" altLang="en-US" sz="2400" b="1" i="1" kern="0" dirty="0"/>
              <a:t>scarce</a:t>
            </a:r>
            <a:r>
              <a:rPr lang="en-US" altLang="en-US" sz="2400" kern="0" dirty="0"/>
              <a:t> resources.</a:t>
            </a:r>
          </a:p>
          <a:p>
            <a:pPr marL="347472" indent="-347472"/>
            <a:r>
              <a:rPr lang="en-US" altLang="en-US" sz="2400" b="1" kern="0" dirty="0"/>
              <a:t>Scarcity:</a:t>
            </a:r>
            <a:r>
              <a:rPr lang="en-US" altLang="en-US" sz="2400" kern="0" dirty="0"/>
              <a:t> a situation in which unlimited wants exceed the limited resources available to fulfill those wants.</a:t>
            </a:r>
          </a:p>
          <a:p>
            <a:pPr marL="347472" indent="-347472"/>
            <a:r>
              <a:rPr lang="en-US" altLang="en-US" sz="2400" kern="0" dirty="0"/>
              <a:t>Scarcity requires trade-offs. Economics gives us tools to help make trade-offs wisely.</a:t>
            </a:r>
          </a:p>
          <a:p>
            <a:pPr marL="347472" indent="-347472"/>
            <a:r>
              <a:rPr lang="en-US" sz="2400" b="1" dirty="0"/>
              <a:t>Example: </a:t>
            </a:r>
            <a:r>
              <a:rPr lang="en-US" sz="2400" dirty="0"/>
              <a:t>When deciding how to use its scarce workers and machinery, if Tesla wants to produce more Model 3s, those resources will not be available to produce other models.</a:t>
            </a:r>
          </a:p>
        </p:txBody>
      </p:sp>
    </p:spTree>
    <p:extLst>
      <p:ext uri="{BB962C8B-B14F-4D97-AF65-F5344CB8AC3E}">
        <p14:creationId xmlns:p14="http://schemas.microsoft.com/office/powerpoint/2010/main" val="304717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156228"/>
          </a:xfrm>
        </p:spPr>
        <p:txBody>
          <a:bodyPr/>
          <a:lstStyle/>
          <a:p>
            <a:r>
              <a:rPr lang="en-US" altLang="en-US" dirty="0">
                <a:latin typeface="+mj-lt"/>
              </a:rPr>
              <a:t>Production Possibilities Frontiers and Opportunity Costs</a:t>
            </a:r>
            <a:endParaRPr lang="en-US" dirty="0">
              <a:latin typeface="+mj-lt"/>
            </a:endParaRPr>
          </a:p>
        </p:txBody>
      </p:sp>
      <p:sp>
        <p:nvSpPr>
          <p:cNvPr id="4" name="Text Placeholder 3">
            <a:extLst>
              <a:ext uri="{FF2B5EF4-FFF2-40B4-BE49-F238E27FC236}">
                <a16:creationId xmlns:a16="http://schemas.microsoft.com/office/drawing/2014/main" id="{E15A4289-D869-295E-3F3A-68A5D8988784}"/>
              </a:ext>
            </a:extLst>
          </p:cNvPr>
          <p:cNvSpPr>
            <a:spLocks noGrp="1"/>
          </p:cNvSpPr>
          <p:nvPr>
            <p:ph type="body" sz="quarter" idx="13"/>
          </p:nvPr>
        </p:nvSpPr>
        <p:spPr>
          <a:xfrm>
            <a:off x="457200" y="1524000"/>
            <a:ext cx="8229600" cy="402770"/>
          </a:xfrm>
        </p:spPr>
        <p:txBody>
          <a:bodyPr/>
          <a:lstStyle/>
          <a:p>
            <a:r>
              <a:rPr lang="en-US" sz="2400" b="1" dirty="0">
                <a:solidFill>
                  <a:schemeClr val="tx1"/>
                </a:solidFill>
              </a:rPr>
              <a:t>2.1</a:t>
            </a:r>
            <a:r>
              <a:rPr lang="en-US" sz="2400" dirty="0">
                <a:solidFill>
                  <a:schemeClr val="tx1"/>
                </a:solidFill>
              </a:rPr>
              <a:t> </a:t>
            </a:r>
            <a:r>
              <a:rPr lang="en-US" sz="2400" b="1" dirty="0">
                <a:solidFill>
                  <a:schemeClr val="tx1"/>
                </a:solidFill>
              </a:rPr>
              <a:t>Learning</a:t>
            </a:r>
            <a:r>
              <a:rPr lang="en-US" sz="2400" dirty="0">
                <a:solidFill>
                  <a:schemeClr val="tx1"/>
                </a:solidFill>
              </a:rPr>
              <a:t> </a:t>
            </a:r>
            <a:r>
              <a:rPr lang="en-US" sz="2400" b="1" dirty="0">
                <a:solidFill>
                  <a:schemeClr val="tx1"/>
                </a:solidFill>
              </a:rPr>
              <a:t>Objective</a:t>
            </a:r>
          </a:p>
        </p:txBody>
      </p:sp>
      <p:sp>
        <p:nvSpPr>
          <p:cNvPr id="3" name="Subtitle 2"/>
          <p:cNvSpPr>
            <a:spLocks noGrp="1"/>
          </p:cNvSpPr>
          <p:nvPr>
            <p:ph sz="quarter" idx="14"/>
          </p:nvPr>
        </p:nvSpPr>
        <p:spPr>
          <a:xfrm>
            <a:off x="457200" y="2015554"/>
            <a:ext cx="8229600" cy="3840163"/>
          </a:xfrm>
        </p:spPr>
        <p:txBody>
          <a:bodyPr/>
          <a:lstStyle/>
          <a:p>
            <a:pPr marL="0" indent="0">
              <a:buNone/>
            </a:pPr>
            <a:r>
              <a:rPr lang="en-US" altLang="en-US" sz="2400" dirty="0">
                <a:cs typeface="Arial" charset="0"/>
              </a:rPr>
              <a:t>Use a production possibilities frontier to analyze opportunity costs and trade-offs.</a:t>
            </a:r>
          </a:p>
          <a:p>
            <a:pPr marL="0" indent="0">
              <a:spcBef>
                <a:spcPts val="1000"/>
              </a:spcBef>
              <a:buSzPts val="2200"/>
              <a:buFont typeface="Arial" panose="020B0604020202020204" pitchFamily="34" charset="0"/>
              <a:buNone/>
            </a:pPr>
            <a:r>
              <a:rPr lang="en-US" sz="2400" dirty="0"/>
              <a:t>A </a:t>
            </a:r>
            <a:r>
              <a:rPr lang="en-US" sz="2400" b="1" dirty="0"/>
              <a:t>production possibilities frontier (</a:t>
            </a:r>
            <a:r>
              <a:rPr lang="en-US" sz="2400" b="1" i="1" dirty="0"/>
              <a:t>PPF</a:t>
            </a:r>
            <a:r>
              <a:rPr lang="en-US" sz="2400" b="1" dirty="0"/>
              <a:t>)</a:t>
            </a:r>
            <a:r>
              <a:rPr lang="en-US" sz="2400" dirty="0"/>
              <a:t> is a curve showing the maximum attainable combinations of two goods that can be produced with available resources and current technology.</a:t>
            </a:r>
          </a:p>
          <a:p>
            <a:pPr marL="0" indent="0">
              <a:buSzPts val="2200"/>
              <a:buFont typeface="Arial" panose="020B0604020202020204" pitchFamily="34" charset="0"/>
              <a:buNone/>
            </a:pPr>
            <a:r>
              <a:rPr lang="en-US" sz="2400" dirty="0"/>
              <a:t>Is the </a:t>
            </a:r>
            <a:r>
              <a:rPr lang="en-US" sz="2400" i="1" dirty="0"/>
              <a:t>PPF </a:t>
            </a:r>
            <a:r>
              <a:rPr lang="en-US" sz="2400" dirty="0"/>
              <a:t>a positive or normative tool?</a:t>
            </a:r>
          </a:p>
          <a:p>
            <a:r>
              <a:rPr lang="en-US" sz="2400" dirty="0"/>
              <a:t>Positive; it shows “what is,” not “what should be.”</a:t>
            </a:r>
            <a:endParaRPr lang="en-US" altLang="en-US" sz="2400" dirty="0">
              <a:cs typeface="Arial" charset="0"/>
            </a:endParaRPr>
          </a:p>
          <a:p>
            <a:pPr marL="0" indent="0">
              <a:buNone/>
            </a:pPr>
            <a:endParaRPr lang="en-US" sz="2400" dirty="0"/>
          </a:p>
        </p:txBody>
      </p:sp>
    </p:spTree>
    <p:extLst>
      <p:ext uri="{BB962C8B-B14F-4D97-AF65-F5344CB8AC3E}">
        <p14:creationId xmlns:p14="http://schemas.microsoft.com/office/powerpoint/2010/main" val="311795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763D4ED-4A61-E285-90CB-9893DAB7375C}"/>
              </a:ext>
            </a:extLst>
          </p:cNvPr>
          <p:cNvSpPr>
            <a:spLocks noGrp="1"/>
          </p:cNvSpPr>
          <p:nvPr>
            <p:ph type="title"/>
          </p:nvPr>
        </p:nvSpPr>
        <p:spPr>
          <a:xfrm>
            <a:off x="457200" y="142875"/>
            <a:ext cx="8305800" cy="996950"/>
          </a:xfrm>
        </p:spPr>
        <p:txBody>
          <a:bodyPr>
            <a:normAutofit fontScale="90000"/>
          </a:bodyPr>
          <a:lstStyle/>
          <a:p>
            <a:r>
              <a:rPr lang="en-US" dirty="0">
                <a:latin typeface="+mj-lt"/>
              </a:rPr>
              <a:t>Figure 2.1 Tesla’s Production Possibilities Frontier</a:t>
            </a:r>
            <a:r>
              <a:rPr lang="en-US" sz="3200" dirty="0">
                <a:latin typeface="+mj-lt"/>
              </a:rPr>
              <a:t> </a:t>
            </a:r>
            <a:r>
              <a:rPr lang="en-US" sz="2000" b="0" dirty="0">
                <a:latin typeface="+mj-lt"/>
              </a:rPr>
              <a:t>(1 of 2)</a:t>
            </a:r>
            <a:endParaRPr lang="en-US" sz="2000" dirty="0">
              <a:latin typeface="+mj-lt"/>
            </a:endParaRPr>
          </a:p>
        </p:txBody>
      </p:sp>
      <p:sp>
        <p:nvSpPr>
          <p:cNvPr id="18" name="Content Placeholder 6">
            <a:extLst>
              <a:ext uri="{FF2B5EF4-FFF2-40B4-BE49-F238E27FC236}">
                <a16:creationId xmlns:a16="http://schemas.microsoft.com/office/drawing/2014/main" id="{ADC0A82F-D865-E1C8-46C9-3F64CF098C86}"/>
              </a:ext>
            </a:extLst>
          </p:cNvPr>
          <p:cNvSpPr txBox="1">
            <a:spLocks/>
          </p:cNvSpPr>
          <p:nvPr/>
        </p:nvSpPr>
        <p:spPr>
          <a:xfrm>
            <a:off x="457200" y="1295400"/>
            <a:ext cx="3505200" cy="4876800"/>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000" dirty="0"/>
              <a:t>Tesla can produce its Model 3 Sedans, or its </a:t>
            </a:r>
            <a:r>
              <a:rPr lang="en-US" sz="2000" dirty="0" err="1"/>
              <a:t>Cybertruck</a:t>
            </a:r>
            <a:r>
              <a:rPr lang="en-US" sz="2000" dirty="0"/>
              <a:t> Pickups.</a:t>
            </a:r>
          </a:p>
          <a:p>
            <a:pPr marL="0" indent="0">
              <a:spcBef>
                <a:spcPts val="1200"/>
              </a:spcBef>
              <a:buSzPts val="2200"/>
              <a:buFont typeface="Arial" panose="020B0604020202020204" pitchFamily="34" charset="0"/>
              <a:buNone/>
            </a:pPr>
            <a:r>
              <a:rPr lang="en-US" sz="2000" dirty="0"/>
              <a:t>Producing more </a:t>
            </a:r>
            <a:r>
              <a:rPr lang="en-US" sz="2000" dirty="0" err="1"/>
              <a:t>Cybertruck</a:t>
            </a:r>
            <a:r>
              <a:rPr lang="en-US" sz="2000" dirty="0"/>
              <a:t> Pickups requires reducing the number of Model 3 Sedans produced.</a:t>
            </a:r>
          </a:p>
          <a:p>
            <a:pPr marL="255600">
              <a:spcBef>
                <a:spcPts val="1000"/>
              </a:spcBef>
            </a:pPr>
            <a:r>
              <a:rPr lang="en-US" sz="2000" dirty="0"/>
              <a:t>Points on the </a:t>
            </a:r>
            <a:r>
              <a:rPr lang="en-US" sz="2000" i="1" dirty="0"/>
              <a:t>P</a:t>
            </a:r>
            <a:r>
              <a:rPr lang="en-US" sz="100" i="1" dirty="0"/>
              <a:t> </a:t>
            </a:r>
            <a:r>
              <a:rPr lang="en-US" sz="2000" i="1" dirty="0"/>
              <a:t>P</a:t>
            </a:r>
            <a:r>
              <a:rPr lang="en-US" sz="100" i="1" dirty="0"/>
              <a:t> </a:t>
            </a:r>
            <a:r>
              <a:rPr lang="en-US" sz="2000" i="1" dirty="0"/>
              <a:t>F </a:t>
            </a:r>
            <a:r>
              <a:rPr lang="en-US" sz="2000" dirty="0"/>
              <a:t>are attainable for Tesla.</a:t>
            </a:r>
          </a:p>
          <a:p>
            <a:pPr marL="255600">
              <a:spcBef>
                <a:spcPts val="1000"/>
              </a:spcBef>
            </a:pPr>
            <a:r>
              <a:rPr lang="en-US" sz="2000" dirty="0"/>
              <a:t>Points below the curve are inefficient.</a:t>
            </a:r>
          </a:p>
          <a:p>
            <a:pPr marL="255600">
              <a:spcBef>
                <a:spcPts val="1000"/>
              </a:spcBef>
            </a:pPr>
            <a:r>
              <a:rPr lang="en-US" sz="2000" dirty="0"/>
              <a:t>Points above the curve are unattainable with current resources.</a:t>
            </a:r>
          </a:p>
        </p:txBody>
      </p:sp>
      <p:pic>
        <p:nvPicPr>
          <p:cNvPr id="3" name="Picture 2" descr="A composite of a table and a graph shows the production possibilities frontier illustrating the trade-off Toyota faces.">
            <a:extLst>
              <a:ext uri="{FF2B5EF4-FFF2-40B4-BE49-F238E27FC236}">
                <a16:creationId xmlns:a16="http://schemas.microsoft.com/office/drawing/2014/main" id="{1A4387A0-AABE-8F9B-2203-0F4BED0D0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4894" y="1295400"/>
            <a:ext cx="3611354" cy="4876800"/>
          </a:xfrm>
          <a:prstGeom prst="rect">
            <a:avLst/>
          </a:prstGeom>
        </p:spPr>
      </p:pic>
    </p:spTree>
    <p:extLst>
      <p:ext uri="{BB962C8B-B14F-4D97-AF65-F5344CB8AC3E}">
        <p14:creationId xmlns:p14="http://schemas.microsoft.com/office/powerpoint/2010/main" val="2799309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997527"/>
          </a:xfrm>
        </p:spPr>
        <p:txBody>
          <a:bodyPr>
            <a:normAutofit fontScale="90000"/>
          </a:bodyPr>
          <a:lstStyle/>
          <a:p>
            <a:r>
              <a:rPr lang="en-US" dirty="0">
                <a:latin typeface="+mj-lt"/>
              </a:rPr>
              <a:t>Figure 2.1 Tesla’s Production Possibilities Frontier</a:t>
            </a:r>
            <a:r>
              <a:rPr lang="en-US" sz="3200" dirty="0">
                <a:latin typeface="+mj-lt"/>
              </a:rPr>
              <a:t> </a:t>
            </a:r>
            <a:r>
              <a:rPr lang="en-US" sz="2000" b="0" dirty="0">
                <a:latin typeface="+mj-lt"/>
              </a:rPr>
              <a:t>(2 of 2)</a:t>
            </a:r>
            <a:endParaRPr lang="en-US" sz="2000" dirty="0">
              <a:latin typeface="+mj-lt"/>
            </a:endParaRPr>
          </a:p>
        </p:txBody>
      </p:sp>
      <p:sp>
        <p:nvSpPr>
          <p:cNvPr id="14" name="Content Placeholder 6">
            <a:extLst>
              <a:ext uri="{FF2B5EF4-FFF2-40B4-BE49-F238E27FC236}">
                <a16:creationId xmlns:a16="http://schemas.microsoft.com/office/drawing/2014/main" id="{1854F6D0-67C2-B778-7214-2144E1414298}"/>
              </a:ext>
            </a:extLst>
          </p:cNvPr>
          <p:cNvSpPr txBox="1">
            <a:spLocks/>
          </p:cNvSpPr>
          <p:nvPr/>
        </p:nvSpPr>
        <p:spPr>
          <a:xfrm>
            <a:off x="457200" y="1438239"/>
            <a:ext cx="3886200" cy="2981361"/>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2000" dirty="0"/>
              <a:t>To produce 200 more </a:t>
            </a:r>
            <a:r>
              <a:rPr lang="en-US" sz="2000" dirty="0" err="1"/>
              <a:t>Cybertruck</a:t>
            </a:r>
            <a:r>
              <a:rPr lang="en-US" sz="2000" dirty="0"/>
              <a:t> Pickups (e.g. moving from point </a:t>
            </a:r>
            <a:r>
              <a:rPr lang="en-US" sz="2000" i="1" dirty="0"/>
              <a:t>A</a:t>
            </a:r>
            <a:r>
              <a:rPr lang="en-US" sz="2000" dirty="0"/>
              <a:t> to </a:t>
            </a:r>
            <a:r>
              <a:rPr lang="en-US" sz="2000" i="1" dirty="0"/>
              <a:t>B</a:t>
            </a:r>
            <a:r>
              <a:rPr lang="en-US" sz="2000" dirty="0"/>
              <a:t>), Tesla must produce 200 fewer Model 3 Sedans.</a:t>
            </a:r>
          </a:p>
          <a:p>
            <a:pPr marL="255600"/>
            <a:r>
              <a:rPr lang="en-US" sz="2000" dirty="0"/>
              <a:t>The 200 fewer Model 3 Sedans is the </a:t>
            </a:r>
            <a:r>
              <a:rPr lang="en-US" sz="2000" b="1" dirty="0"/>
              <a:t>opportunity</a:t>
            </a:r>
            <a:r>
              <a:rPr lang="en-US" sz="2000" i="1" dirty="0"/>
              <a:t> </a:t>
            </a:r>
            <a:r>
              <a:rPr lang="en-US" sz="2000" b="1" dirty="0"/>
              <a:t>cost</a:t>
            </a:r>
            <a:r>
              <a:rPr lang="en-US" sz="2000" dirty="0"/>
              <a:t> of producing 200 more </a:t>
            </a:r>
            <a:r>
              <a:rPr lang="en-US" sz="2000" dirty="0" err="1"/>
              <a:t>Cybertruck</a:t>
            </a:r>
            <a:r>
              <a:rPr lang="en-US" sz="2000" dirty="0"/>
              <a:t> Pickups.</a:t>
            </a:r>
          </a:p>
        </p:txBody>
      </p:sp>
      <p:sp>
        <p:nvSpPr>
          <p:cNvPr id="15" name="Content Placeholder 2">
            <a:extLst>
              <a:ext uri="{FF2B5EF4-FFF2-40B4-BE49-F238E27FC236}">
                <a16:creationId xmlns:a16="http://schemas.microsoft.com/office/drawing/2014/main" id="{3E8C1AEE-7FF6-4FDE-23F3-7983FEDCD502}"/>
              </a:ext>
            </a:extLst>
          </p:cNvPr>
          <p:cNvSpPr txBox="1">
            <a:spLocks/>
          </p:cNvSpPr>
          <p:nvPr/>
        </p:nvSpPr>
        <p:spPr>
          <a:xfrm>
            <a:off x="457200" y="4267200"/>
            <a:ext cx="3746310" cy="10668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000" b="1" dirty="0"/>
              <a:t>Opportunity cost:</a:t>
            </a:r>
            <a:r>
              <a:rPr lang="en-US" sz="2000" dirty="0"/>
              <a:t> The highest-valued alternative that must be given up to engage in an activity.</a:t>
            </a:r>
          </a:p>
        </p:txBody>
      </p:sp>
      <p:pic>
        <p:nvPicPr>
          <p:cNvPr id="3" name="Picture 2" descr="A composite of a table and a graph shows the production possibilities frontier illustrating the trade-off Toyota faces.">
            <a:extLst>
              <a:ext uri="{FF2B5EF4-FFF2-40B4-BE49-F238E27FC236}">
                <a16:creationId xmlns:a16="http://schemas.microsoft.com/office/drawing/2014/main" id="{43A2971F-4483-210B-147C-2D41CE0F6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4894" y="1295400"/>
            <a:ext cx="3611354" cy="4876800"/>
          </a:xfrm>
          <a:prstGeom prst="rect">
            <a:avLst/>
          </a:prstGeom>
        </p:spPr>
      </p:pic>
    </p:spTree>
    <p:extLst>
      <p:ext uri="{BB962C8B-B14F-4D97-AF65-F5344CB8AC3E}">
        <p14:creationId xmlns:p14="http://schemas.microsoft.com/office/powerpoint/2010/main" val="692848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096"/>
            <a:ext cx="8382000" cy="1027753"/>
          </a:xfrm>
        </p:spPr>
        <p:txBody>
          <a:bodyPr/>
          <a:lstStyle/>
          <a:p>
            <a:r>
              <a:rPr lang="en-US" dirty="0">
                <a:latin typeface="+mj-lt"/>
              </a:rPr>
              <a:t>Figure 2.2 Increasing Marginal Opportunity Costs</a:t>
            </a:r>
          </a:p>
        </p:txBody>
      </p:sp>
      <p:sp>
        <p:nvSpPr>
          <p:cNvPr id="13" name="Content Placeholder 5">
            <a:extLst>
              <a:ext uri="{FF2B5EF4-FFF2-40B4-BE49-F238E27FC236}">
                <a16:creationId xmlns:a16="http://schemas.microsoft.com/office/drawing/2014/main" id="{DA29065F-7F55-3874-4FBE-DBA7D4073980}"/>
              </a:ext>
            </a:extLst>
          </p:cNvPr>
          <p:cNvSpPr txBox="1">
            <a:spLocks/>
          </p:cNvSpPr>
          <p:nvPr/>
        </p:nvSpPr>
        <p:spPr>
          <a:xfrm>
            <a:off x="457200" y="1558412"/>
            <a:ext cx="4191000" cy="4537588"/>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000" dirty="0"/>
              <a:t>On the previous slide, opportunity costs were constant.</a:t>
            </a:r>
          </a:p>
          <a:p>
            <a:pPr marL="0" indent="0">
              <a:spcBef>
                <a:spcPts val="1200"/>
              </a:spcBef>
              <a:buSzPts val="2200"/>
              <a:buFont typeface="Arial" panose="020B0604020202020204" pitchFamily="34" charset="0"/>
              <a:buNone/>
            </a:pPr>
            <a:r>
              <a:rPr lang="en-US" sz="2000" dirty="0"/>
              <a:t>But opportunity costs are often increasing.</a:t>
            </a:r>
          </a:p>
          <a:p>
            <a:pPr marL="0" indent="0">
              <a:spcBef>
                <a:spcPts val="1200"/>
              </a:spcBef>
              <a:buSzPts val="2200"/>
              <a:buFont typeface="Arial" panose="020B0604020202020204" pitchFamily="34" charset="0"/>
              <a:buNone/>
            </a:pPr>
            <a:r>
              <a:rPr lang="en-US" sz="2000" dirty="0"/>
              <a:t>Why? Some resources are better suited to one task than another. The first resources to “switch” are the one best suited to switching.</a:t>
            </a:r>
          </a:p>
          <a:p>
            <a:pPr marL="0" indent="0">
              <a:spcBef>
                <a:spcPts val="1200"/>
              </a:spcBef>
              <a:buSzPts val="2200"/>
              <a:buFont typeface="Arial" panose="020B0604020202020204" pitchFamily="34" charset="0"/>
              <a:buNone/>
            </a:pPr>
            <a:r>
              <a:rPr lang="en-US" sz="2000" b="1" dirty="0"/>
              <a:t>The more resources already devoted to an activity, the smaller the payoff to devoting additional resources to that activity.</a:t>
            </a:r>
          </a:p>
        </p:txBody>
      </p:sp>
      <p:pic>
        <p:nvPicPr>
          <p:cNvPr id="4" name="Picture 3" descr="A line graph shows economy experiencing increasing marginal opportunity costs.">
            <a:extLst>
              <a:ext uri="{FF2B5EF4-FFF2-40B4-BE49-F238E27FC236}">
                <a16:creationId xmlns:a16="http://schemas.microsoft.com/office/drawing/2014/main" id="{36B7A9C6-8950-F275-6FF0-FDA7462CE4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0424" y="1600200"/>
            <a:ext cx="4139184" cy="3084576"/>
          </a:xfrm>
          <a:prstGeom prst="rect">
            <a:avLst/>
          </a:prstGeom>
        </p:spPr>
      </p:pic>
    </p:spTree>
    <p:extLst>
      <p:ext uri="{BB962C8B-B14F-4D97-AF65-F5344CB8AC3E}">
        <p14:creationId xmlns:p14="http://schemas.microsoft.com/office/powerpoint/2010/main" val="2324637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446"/>
            <a:ext cx="8229600" cy="693954"/>
          </a:xfrm>
        </p:spPr>
        <p:txBody>
          <a:bodyPr/>
          <a:lstStyle/>
          <a:p>
            <a:r>
              <a:rPr lang="en-US" dirty="0">
                <a:latin typeface="+mj-lt"/>
              </a:rPr>
              <a:t>Figure 2.3 Economic Growth (Panel (a))</a:t>
            </a:r>
          </a:p>
        </p:txBody>
      </p:sp>
      <p:sp>
        <p:nvSpPr>
          <p:cNvPr id="13" name="Content Placeholder 5">
            <a:extLst>
              <a:ext uri="{FF2B5EF4-FFF2-40B4-BE49-F238E27FC236}">
                <a16:creationId xmlns:a16="http://schemas.microsoft.com/office/drawing/2014/main" id="{B815141A-8A0F-1F4D-2621-92A0CF1B4B13}"/>
              </a:ext>
            </a:extLst>
          </p:cNvPr>
          <p:cNvSpPr txBox="1">
            <a:spLocks/>
          </p:cNvSpPr>
          <p:nvPr/>
        </p:nvSpPr>
        <p:spPr>
          <a:xfrm>
            <a:off x="457200" y="1117087"/>
            <a:ext cx="8382000" cy="2921513"/>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400" dirty="0"/>
              <a:t>As more economic resources become available, the economy can move from point </a:t>
            </a:r>
            <a:r>
              <a:rPr lang="en-US" sz="2400" i="1" dirty="0"/>
              <a:t>A</a:t>
            </a:r>
            <a:r>
              <a:rPr lang="en-US" sz="2400" dirty="0"/>
              <a:t> to point </a:t>
            </a:r>
            <a:r>
              <a:rPr lang="en-US" sz="2400" i="1" dirty="0"/>
              <a:t>B</a:t>
            </a:r>
            <a:r>
              <a:rPr lang="en-US" sz="2400" dirty="0"/>
              <a:t>, producing more tanks and more automobiles.</a:t>
            </a:r>
          </a:p>
          <a:p>
            <a:pPr marL="0" indent="0">
              <a:spcBef>
                <a:spcPts val="1000"/>
              </a:spcBef>
              <a:buSzPts val="2200"/>
              <a:buFont typeface="Arial" panose="020B0604020202020204" pitchFamily="34" charset="0"/>
              <a:buNone/>
            </a:pPr>
            <a:r>
              <a:rPr lang="en-US" sz="2400" dirty="0"/>
              <a:t>Shifts in the production possibilities frontier represent </a:t>
            </a:r>
            <a:r>
              <a:rPr lang="en-US" sz="2400" b="1" dirty="0"/>
              <a:t>economic growth.</a:t>
            </a:r>
          </a:p>
          <a:p>
            <a:pPr marL="0" indent="0">
              <a:spcBef>
                <a:spcPts val="1000"/>
              </a:spcBef>
              <a:buSzPts val="2200"/>
              <a:buFont typeface="Arial" panose="020B0604020202020204" pitchFamily="34" charset="0"/>
              <a:buNone/>
            </a:pPr>
            <a:r>
              <a:rPr lang="en-US" sz="2400" b="1" dirty="0"/>
              <a:t>Economic growth:</a:t>
            </a:r>
            <a:r>
              <a:rPr lang="en-US" sz="2400" dirty="0"/>
              <a:t> The ability of the economy to increase the production of goods and services.</a:t>
            </a:r>
          </a:p>
        </p:txBody>
      </p:sp>
      <p:pic>
        <p:nvPicPr>
          <p:cNvPr id="4" name="Picture 3">
            <a:extLst>
              <a:ext uri="{FF2B5EF4-FFF2-40B4-BE49-F238E27FC236}">
                <a16:creationId xmlns:a16="http://schemas.microsoft.com/office/drawing/2014/main" id="{184C9EA4-E7FD-5C65-6904-664AE18C75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41904" y="4114800"/>
            <a:ext cx="3060192" cy="2304288"/>
          </a:xfrm>
          <a:prstGeom prst="rect">
            <a:avLst/>
          </a:prstGeom>
        </p:spPr>
      </p:pic>
    </p:spTree>
    <p:extLst>
      <p:ext uri="{BB962C8B-B14F-4D97-AF65-F5344CB8AC3E}">
        <p14:creationId xmlns:p14="http://schemas.microsoft.com/office/powerpoint/2010/main" val="1608243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385"/>
            <a:ext cx="8229600" cy="787015"/>
          </a:xfrm>
        </p:spPr>
        <p:txBody>
          <a:bodyPr/>
          <a:lstStyle/>
          <a:p>
            <a:r>
              <a:rPr lang="en-US" dirty="0">
                <a:latin typeface="+mj-lt"/>
              </a:rPr>
              <a:t>Figure 2.3 Economic Growth (Panel (b))</a:t>
            </a:r>
          </a:p>
        </p:txBody>
      </p:sp>
      <p:sp>
        <p:nvSpPr>
          <p:cNvPr id="3" name="Content Placeholder 2"/>
          <p:cNvSpPr>
            <a:spLocks noGrp="1"/>
          </p:cNvSpPr>
          <p:nvPr>
            <p:ph idx="1"/>
          </p:nvPr>
        </p:nvSpPr>
        <p:spPr>
          <a:xfrm>
            <a:off x="457200" y="1219200"/>
            <a:ext cx="8229600" cy="2667000"/>
          </a:xfrm>
        </p:spPr>
        <p:txBody>
          <a:bodyPr/>
          <a:lstStyle/>
          <a:p>
            <a:pPr marL="0" indent="0">
              <a:buNone/>
            </a:pPr>
            <a:r>
              <a:rPr lang="en-US" altLang="en-US" sz="2400" dirty="0"/>
              <a:t>This panel shows technological improvement in the automobile industry.</a:t>
            </a:r>
          </a:p>
          <a:p>
            <a:pPr marL="0" indent="0">
              <a:buNone/>
            </a:pPr>
            <a:r>
              <a:rPr lang="en-US" altLang="en-US" sz="2400" dirty="0"/>
              <a:t>The quantity of operations that can be produced remains unchanged.</a:t>
            </a:r>
          </a:p>
          <a:p>
            <a:pPr marL="0" indent="0">
              <a:buNone/>
            </a:pPr>
            <a:r>
              <a:rPr lang="en-US" altLang="en-US" sz="2400" dirty="0"/>
              <a:t>With the improvement in technology in one industry, many previously unattainable combinations are now attainable.</a:t>
            </a:r>
            <a:endParaRPr lang="en-US" sz="2400" dirty="0"/>
          </a:p>
        </p:txBody>
      </p:sp>
      <p:pic>
        <p:nvPicPr>
          <p:cNvPr id="4" name="Picture 3">
            <a:extLst>
              <a:ext uri="{FF2B5EF4-FFF2-40B4-BE49-F238E27FC236}">
                <a16:creationId xmlns:a16="http://schemas.microsoft.com/office/drawing/2014/main" id="{10EC3EBD-0E4D-6EB4-9EE2-FFE2A7E9E5D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56560" y="3951517"/>
            <a:ext cx="3230880" cy="2304288"/>
          </a:xfrm>
          <a:prstGeom prst="rect">
            <a:avLst/>
          </a:prstGeom>
        </p:spPr>
      </p:pic>
    </p:spTree>
    <p:extLst>
      <p:ext uri="{BB962C8B-B14F-4D97-AF65-F5344CB8AC3E}">
        <p14:creationId xmlns:p14="http://schemas.microsoft.com/office/powerpoint/2010/main" val="2992503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511889"/>
          </a:xfrm>
        </p:spPr>
        <p:txBody>
          <a:bodyPr>
            <a:normAutofit fontScale="90000"/>
          </a:bodyPr>
          <a:lstStyle/>
          <a:p>
            <a:r>
              <a:rPr lang="en-US" dirty="0">
                <a:latin typeface="+mj-lt"/>
              </a:rPr>
              <a:t>Comparative Advantage and Trade</a:t>
            </a:r>
          </a:p>
        </p:txBody>
      </p:sp>
      <p:sp>
        <p:nvSpPr>
          <p:cNvPr id="4" name="Content Placeholder 3"/>
          <p:cNvSpPr>
            <a:spLocks noGrp="1"/>
          </p:cNvSpPr>
          <p:nvPr>
            <p:ph idx="1"/>
          </p:nvPr>
        </p:nvSpPr>
        <p:spPr>
          <a:xfrm>
            <a:off x="438150" y="838200"/>
            <a:ext cx="8229600" cy="1295400"/>
          </a:xfrm>
        </p:spPr>
        <p:txBody>
          <a:bodyPr/>
          <a:lstStyle/>
          <a:p>
            <a:pPr marL="0" indent="0">
              <a:buNone/>
            </a:pPr>
            <a:r>
              <a:rPr lang="en-US" sz="2400" b="1" dirty="0"/>
              <a:t>2.2 Learning</a:t>
            </a:r>
            <a:r>
              <a:rPr lang="en-US" sz="2400" dirty="0"/>
              <a:t> </a:t>
            </a:r>
            <a:r>
              <a:rPr lang="en-US" sz="2400" b="1" dirty="0"/>
              <a:t>Objective</a:t>
            </a:r>
          </a:p>
          <a:p>
            <a:pPr marL="0" indent="0">
              <a:buNone/>
            </a:pPr>
            <a:r>
              <a:rPr lang="en-US" altLang="en-US" sz="2400" dirty="0">
                <a:cs typeface="Arial" charset="0"/>
              </a:rPr>
              <a:t>Understand comparative advantage and explain how it serves as the basis for trade.</a:t>
            </a:r>
            <a:endParaRPr lang="en-US" sz="2400" dirty="0"/>
          </a:p>
        </p:txBody>
      </p:sp>
      <p:sp>
        <p:nvSpPr>
          <p:cNvPr id="3" name="Content Placeholder 4">
            <a:extLst>
              <a:ext uri="{FF2B5EF4-FFF2-40B4-BE49-F238E27FC236}">
                <a16:creationId xmlns:a16="http://schemas.microsoft.com/office/drawing/2014/main" id="{2DB08538-1603-776E-1102-04E6557BB9E4}"/>
              </a:ext>
            </a:extLst>
          </p:cNvPr>
          <p:cNvSpPr txBox="1">
            <a:spLocks/>
          </p:cNvSpPr>
          <p:nvPr/>
        </p:nvSpPr>
        <p:spPr>
          <a:xfrm>
            <a:off x="374133" y="2164669"/>
            <a:ext cx="8232128" cy="1718253"/>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400" dirty="0"/>
              <a:t>You and your </a:t>
            </a:r>
            <a:r>
              <a:rPr lang="en-US" sz="2400" dirty="0" err="1"/>
              <a:t>neighbour</a:t>
            </a:r>
            <a:r>
              <a:rPr lang="en-US" sz="2400" dirty="0"/>
              <a:t> each have a limited time to pick apples and/or cherries.</a:t>
            </a:r>
          </a:p>
          <a:p>
            <a:pPr marL="0" indent="0">
              <a:spcBef>
                <a:spcPts val="1000"/>
              </a:spcBef>
              <a:buSzPts val="2200"/>
              <a:buFont typeface="Arial" panose="020B0604020202020204" pitchFamily="34" charset="0"/>
              <a:buNone/>
            </a:pPr>
            <a:r>
              <a:rPr lang="en-US" sz="2400" dirty="0"/>
              <a:t>The table shows the amount of each fruit that you could each pick, by devoting all of your time to that fruit.</a:t>
            </a:r>
          </a:p>
        </p:txBody>
      </p:sp>
      <p:graphicFrame>
        <p:nvGraphicFramePr>
          <p:cNvPr id="6" name="Content Placeholder 7">
            <a:extLst>
              <a:ext uri="{FF2B5EF4-FFF2-40B4-BE49-F238E27FC236}">
                <a16:creationId xmlns:a16="http://schemas.microsoft.com/office/drawing/2014/main" id="{11B3B7A3-4F1D-1C2F-7E30-D4E1185FCF17}"/>
              </a:ext>
            </a:extLst>
          </p:cNvPr>
          <p:cNvGraphicFramePr>
            <a:graphicFrameLocks/>
          </p:cNvGraphicFramePr>
          <p:nvPr>
            <p:extLst>
              <p:ext uri="{D42A27DB-BD31-4B8C-83A1-F6EECF244321}">
                <p14:modId xmlns:p14="http://schemas.microsoft.com/office/powerpoint/2010/main" val="1536658170"/>
              </p:ext>
            </p:extLst>
          </p:nvPr>
        </p:nvGraphicFramePr>
        <p:xfrm>
          <a:off x="457200" y="3931097"/>
          <a:ext cx="8232775" cy="1899920"/>
        </p:xfrm>
        <a:graphic>
          <a:graphicData uri="http://schemas.openxmlformats.org/drawingml/2006/table">
            <a:tbl>
              <a:tblPr firstRow="1" bandRow="1">
                <a:tableStyleId>{2D5ABB26-0587-4C30-8999-92F81FD0307C}</a:tableStyleId>
              </a:tblPr>
              <a:tblGrid>
                <a:gridCol w="1843548">
                  <a:extLst>
                    <a:ext uri="{9D8B030D-6E8A-4147-A177-3AD203B41FA5}">
                      <a16:colId xmlns:a16="http://schemas.microsoft.com/office/drawing/2014/main" val="4185503860"/>
                    </a:ext>
                  </a:extLst>
                </a:gridCol>
                <a:gridCol w="1449562">
                  <a:extLst>
                    <a:ext uri="{9D8B030D-6E8A-4147-A177-3AD203B41FA5}">
                      <a16:colId xmlns:a16="http://schemas.microsoft.com/office/drawing/2014/main" val="3386149288"/>
                    </a:ext>
                  </a:extLst>
                </a:gridCol>
                <a:gridCol w="1646555">
                  <a:extLst>
                    <a:ext uri="{9D8B030D-6E8A-4147-A177-3AD203B41FA5}">
                      <a16:colId xmlns:a16="http://schemas.microsoft.com/office/drawing/2014/main" val="4203699639"/>
                    </a:ext>
                  </a:extLst>
                </a:gridCol>
                <a:gridCol w="1646555">
                  <a:extLst>
                    <a:ext uri="{9D8B030D-6E8A-4147-A177-3AD203B41FA5}">
                      <a16:colId xmlns:a16="http://schemas.microsoft.com/office/drawing/2014/main" val="3617367917"/>
                    </a:ext>
                  </a:extLst>
                </a:gridCol>
                <a:gridCol w="1646555">
                  <a:extLst>
                    <a:ext uri="{9D8B030D-6E8A-4147-A177-3AD203B41FA5}">
                      <a16:colId xmlns:a16="http://schemas.microsoft.com/office/drawing/2014/main" val="16698731"/>
                    </a:ext>
                  </a:extLst>
                </a:gridCol>
              </a:tblGrid>
              <a:tr h="370840">
                <a:tc>
                  <a:txBody>
                    <a:bodyPr/>
                    <a:lstStyle/>
                    <a:p>
                      <a:pPr algn="ctr"/>
                      <a:r>
                        <a:rPr lang="en-AU" sz="100" b="1" dirty="0">
                          <a:solidFill>
                            <a:schemeClr val="tx1"/>
                          </a:solidFill>
                          <a:latin typeface="+mn-lt"/>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You</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You</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Your </a:t>
                      </a:r>
                      <a:r>
                        <a:rPr lang="en-US" sz="1600" b="1" u="none" strike="noStrike" cap="none" dirty="0" err="1">
                          <a:solidFill>
                            <a:schemeClr val="tx1"/>
                          </a:solidFill>
                          <a:latin typeface="+mn-lt"/>
                          <a:ea typeface="Arial"/>
                          <a:cs typeface="Arial"/>
                          <a:sym typeface="Arial"/>
                        </a:rPr>
                        <a:t>Neighbour</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Your </a:t>
                      </a:r>
                      <a:r>
                        <a:rPr lang="en-US" sz="1600" b="1" u="none" strike="noStrike" cap="none" dirty="0" err="1">
                          <a:solidFill>
                            <a:schemeClr val="tx1"/>
                          </a:solidFill>
                          <a:latin typeface="+mn-lt"/>
                          <a:ea typeface="Arial"/>
                          <a:cs typeface="Arial"/>
                          <a:sym typeface="Arial"/>
                        </a:rPr>
                        <a:t>Neighbour</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21853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0" b="1" i="0" u="none" strike="noStrike" cap="none" dirty="0">
                          <a:solidFill>
                            <a:schemeClr val="tx1"/>
                          </a:solidFill>
                          <a:latin typeface="+mn-lt"/>
                          <a:ea typeface="Arial"/>
                          <a:cs typeface="Arial"/>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Apples</a:t>
                      </a:r>
                      <a:endParaRPr lang="en-US" sz="1600" b="1"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Cherries</a:t>
                      </a:r>
                      <a:endParaRPr lang="en-US" sz="1600" b="1"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Apples</a:t>
                      </a:r>
                      <a:endParaRPr lang="en-US" sz="1600" b="1"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cap="none" dirty="0">
                          <a:solidFill>
                            <a:schemeClr val="tx1"/>
                          </a:solidFill>
                          <a:latin typeface="+mn-lt"/>
                          <a:ea typeface="Arial"/>
                          <a:cs typeface="Arial"/>
                          <a:sym typeface="Arial"/>
                        </a:rPr>
                        <a:t>Cherries</a:t>
                      </a:r>
                      <a:endParaRPr lang="en-US" sz="1600" b="1"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1251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Devote all time to picking apples</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20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30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19632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Devote all time to picking cherries</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20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Arial"/>
                          <a:cs typeface="Arial"/>
                          <a:sym typeface="Arial"/>
                        </a:rPr>
                        <a:t>60 kg</a:t>
                      </a:r>
                      <a:endParaRPr lang="en-US" sz="16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248563"/>
                  </a:ext>
                </a:extLst>
              </a:tr>
            </a:tbl>
          </a:graphicData>
        </a:graphic>
      </p:graphicFrame>
    </p:spTree>
    <p:extLst>
      <p:ext uri="{BB962C8B-B14F-4D97-AF65-F5344CB8AC3E}">
        <p14:creationId xmlns:p14="http://schemas.microsoft.com/office/powerpoint/2010/main" val="3180631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3149"/>
            <a:ext cx="8229600" cy="1066051"/>
          </a:xfrm>
        </p:spPr>
        <p:txBody>
          <a:bodyPr/>
          <a:lstStyle/>
          <a:p>
            <a:r>
              <a:rPr lang="en-US" sz="3200" dirty="0">
                <a:latin typeface="+mj-lt"/>
              </a:rPr>
              <a:t>Figure 2.4 Production Possibilities for You and Your </a:t>
            </a:r>
            <a:r>
              <a:rPr lang="en-US" sz="3200" dirty="0" err="1">
                <a:latin typeface="+mj-lt"/>
              </a:rPr>
              <a:t>Neighbour</a:t>
            </a:r>
            <a:r>
              <a:rPr lang="en-US" sz="3200" dirty="0">
                <a:latin typeface="+mj-lt"/>
              </a:rPr>
              <a:t>, Without Trade </a:t>
            </a:r>
            <a:r>
              <a:rPr lang="en-US" sz="2000" b="0" dirty="0">
                <a:latin typeface="+mj-lt"/>
              </a:rPr>
              <a:t>(1 of 2)</a:t>
            </a:r>
            <a:endParaRPr lang="en-US" sz="2000" dirty="0">
              <a:latin typeface="+mj-lt"/>
            </a:endParaRPr>
          </a:p>
        </p:txBody>
      </p:sp>
      <p:sp>
        <p:nvSpPr>
          <p:cNvPr id="12" name="Content Placeholder 5">
            <a:extLst>
              <a:ext uri="{FF2B5EF4-FFF2-40B4-BE49-F238E27FC236}">
                <a16:creationId xmlns:a16="http://schemas.microsoft.com/office/drawing/2014/main" id="{53736279-809B-2001-DB5B-AD579236A21C}"/>
              </a:ext>
            </a:extLst>
          </p:cNvPr>
          <p:cNvSpPr txBox="1">
            <a:spLocks/>
          </p:cNvSpPr>
          <p:nvPr/>
        </p:nvSpPr>
        <p:spPr>
          <a:xfrm>
            <a:off x="474306" y="4267200"/>
            <a:ext cx="8229600" cy="1828799"/>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000" dirty="0"/>
              <a:t>If you spend all of your time picking cherries, you can pick 20 kilograms of cherries; or if you spend all your time picking apples, you can pick 20 kilograms of apples.</a:t>
            </a:r>
          </a:p>
          <a:p>
            <a:pPr marL="0" indent="0">
              <a:buSzPts val="2200"/>
              <a:buFont typeface="Arial" panose="020B0604020202020204" pitchFamily="34" charset="0"/>
              <a:buNone/>
            </a:pPr>
            <a:r>
              <a:rPr lang="en-US" sz="2000" dirty="0"/>
              <a:t>Your </a:t>
            </a:r>
            <a:r>
              <a:rPr lang="en-US" sz="2000" dirty="0" err="1"/>
              <a:t>neighbour</a:t>
            </a:r>
            <a:r>
              <a:rPr lang="en-US" sz="2000" dirty="0"/>
              <a:t> can similarly pick 60 kilograms of cherries or 30 kilograms of apples.</a:t>
            </a:r>
          </a:p>
        </p:txBody>
      </p:sp>
      <p:pic>
        <p:nvPicPr>
          <p:cNvPr id="4" name="Picture 3" descr="A graph depicting production possibilities for you and your neighbour.">
            <a:extLst>
              <a:ext uri="{FF2B5EF4-FFF2-40B4-BE49-F238E27FC236}">
                <a16:creationId xmlns:a16="http://schemas.microsoft.com/office/drawing/2014/main" id="{B4B0AD2D-C81E-6D60-A17F-1539C0FA1DBC}"/>
              </a:ext>
            </a:extLst>
          </p:cNvPr>
          <p:cNvPicPr>
            <a:picLocks noChangeAspect="1"/>
          </p:cNvPicPr>
          <p:nvPr/>
        </p:nvPicPr>
        <p:blipFill rotWithShape="1">
          <a:blip r:embed="rId3">
            <a:extLst>
              <a:ext uri="{28A0092B-C50C-407E-A947-70E740481C1C}">
                <a14:useLocalDpi xmlns:a14="http://schemas.microsoft.com/office/drawing/2010/main" val="0"/>
              </a:ext>
            </a:extLst>
          </a:blip>
          <a:srcRect t="36137"/>
          <a:stretch/>
        </p:blipFill>
        <p:spPr>
          <a:xfrm>
            <a:off x="751027" y="1676400"/>
            <a:ext cx="7641946" cy="2472184"/>
          </a:xfrm>
          <a:prstGeom prst="rect">
            <a:avLst/>
          </a:prstGeom>
        </p:spPr>
      </p:pic>
    </p:spTree>
    <p:extLst>
      <p:ext uri="{BB962C8B-B14F-4D97-AF65-F5344CB8AC3E}">
        <p14:creationId xmlns:p14="http://schemas.microsoft.com/office/powerpoint/2010/main" val="3739457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 and Gains from Trade</a:t>
            </a:r>
          </a:p>
        </p:txBody>
      </p:sp>
      <p:sp>
        <p:nvSpPr>
          <p:cNvPr id="3" name="Content Placeholder 2">
            <a:extLst>
              <a:ext uri="{FF2B5EF4-FFF2-40B4-BE49-F238E27FC236}">
                <a16:creationId xmlns:a16="http://schemas.microsoft.com/office/drawing/2014/main" id="{67B532E3-BDE2-6265-7108-6456A5942276}"/>
              </a:ext>
            </a:extLst>
          </p:cNvPr>
          <p:cNvSpPr>
            <a:spLocks noGrp="1"/>
          </p:cNvSpPr>
          <p:nvPr>
            <p:ph idx="1"/>
          </p:nvPr>
        </p:nvSpPr>
        <p:spPr/>
        <p:txBody>
          <a:bodyPr/>
          <a:lstStyle/>
          <a:p>
            <a:pPr marL="0" indent="0">
              <a:spcBef>
                <a:spcPts val="0"/>
              </a:spcBef>
              <a:buSzPts val="2200"/>
              <a:buFont typeface="Arial" panose="020B0604020202020204" pitchFamily="34" charset="0"/>
              <a:buNone/>
            </a:pPr>
            <a:r>
              <a:rPr lang="en-US" sz="2600" dirty="0"/>
              <a:t>What if you and your </a:t>
            </a:r>
            <a:r>
              <a:rPr lang="en-US" sz="2600" dirty="0" err="1"/>
              <a:t>neighbour</a:t>
            </a:r>
            <a:r>
              <a:rPr lang="en-US" sz="2600" dirty="0"/>
              <a:t> decided to specialize and </a:t>
            </a:r>
            <a:r>
              <a:rPr lang="en-US" sz="2600" b="1" dirty="0"/>
              <a:t>trade?</a:t>
            </a:r>
          </a:p>
          <a:p>
            <a:pPr marL="0" indent="0">
              <a:spcBef>
                <a:spcPts val="1540"/>
              </a:spcBef>
              <a:buSzPts val="2200"/>
              <a:buFont typeface="Arial" panose="020B0604020202020204" pitchFamily="34" charset="0"/>
              <a:buNone/>
            </a:pPr>
            <a:r>
              <a:rPr lang="en-US" sz="2600" b="1" dirty="0"/>
              <a:t>Trade:</a:t>
            </a:r>
            <a:r>
              <a:rPr lang="en-US" sz="2600" dirty="0"/>
              <a:t> The act of buying and selling.</a:t>
            </a:r>
          </a:p>
          <a:p>
            <a:pPr marL="0" indent="0">
              <a:spcBef>
                <a:spcPts val="1540"/>
              </a:spcBef>
              <a:buSzPts val="2200"/>
              <a:buFont typeface="Arial" panose="020B0604020202020204" pitchFamily="34" charset="0"/>
              <a:buNone/>
            </a:pPr>
            <a:r>
              <a:rPr lang="en-US" sz="2600" dirty="0"/>
              <a:t>Could your </a:t>
            </a:r>
            <a:r>
              <a:rPr lang="en-US" sz="2600" dirty="0" err="1"/>
              <a:t>neighbour</a:t>
            </a:r>
            <a:r>
              <a:rPr lang="en-US" sz="2600" dirty="0"/>
              <a:t> benefit from trade? She is better at picking both apples and cherries…</a:t>
            </a:r>
          </a:p>
          <a:p>
            <a:pPr marL="0" indent="0">
              <a:spcBef>
                <a:spcPts val="1540"/>
              </a:spcBef>
              <a:buSzPts val="2200"/>
              <a:buFont typeface="Arial" panose="020B0604020202020204" pitchFamily="34" charset="0"/>
              <a:buNone/>
            </a:pPr>
            <a:r>
              <a:rPr lang="en-US" sz="2600" dirty="0"/>
              <a:t>Both of you can benefit from trade by specializing in what you are </a:t>
            </a:r>
            <a:r>
              <a:rPr lang="en-US" sz="2600" b="1" dirty="0"/>
              <a:t>relatively</a:t>
            </a:r>
            <a:r>
              <a:rPr lang="en-US" sz="2600" dirty="0"/>
              <a:t> good at. Let’s see how…</a:t>
            </a:r>
          </a:p>
        </p:txBody>
      </p:sp>
    </p:spTree>
    <p:extLst>
      <p:ext uri="{BB962C8B-B14F-4D97-AF65-F5344CB8AC3E}">
        <p14:creationId xmlns:p14="http://schemas.microsoft.com/office/powerpoint/2010/main" val="1684584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Figure 2.5 Gains from Trade</a:t>
            </a:r>
            <a:r>
              <a:rPr lang="en-US" sz="3600" dirty="0">
                <a:latin typeface="+mj-lt"/>
              </a:rPr>
              <a:t> </a:t>
            </a:r>
            <a:r>
              <a:rPr lang="en-US" sz="2000" b="0" dirty="0">
                <a:latin typeface="+mj-lt"/>
              </a:rPr>
              <a:t>(1 of 3)</a:t>
            </a:r>
          </a:p>
        </p:txBody>
      </p:sp>
      <p:sp>
        <p:nvSpPr>
          <p:cNvPr id="3" name="Content Placeholder 2"/>
          <p:cNvSpPr>
            <a:spLocks noGrp="1"/>
          </p:cNvSpPr>
          <p:nvPr>
            <p:ph type="body" sz="quarter" idx="13"/>
          </p:nvPr>
        </p:nvSpPr>
        <p:spPr>
          <a:xfrm>
            <a:off x="457200" y="4800600"/>
            <a:ext cx="8065604" cy="1484416"/>
          </a:xfrm>
        </p:spPr>
        <p:txBody>
          <a:bodyPr/>
          <a:lstStyle/>
          <a:p>
            <a:pPr marL="0" indent="0">
              <a:spcBef>
                <a:spcPts val="600"/>
              </a:spcBef>
              <a:spcAft>
                <a:spcPts val="600"/>
              </a:spcAft>
              <a:buNone/>
            </a:pPr>
            <a:r>
              <a:rPr lang="en-US" altLang="en-US" sz="2200" dirty="0"/>
              <a:t>Without trade, you pick and consume 8 kilograms of apples and 12 kilograms of cherries per week—point </a:t>
            </a:r>
            <a:r>
              <a:rPr lang="en-US" altLang="en-US" sz="2200" i="1" dirty="0"/>
              <a:t>A</a:t>
            </a:r>
            <a:r>
              <a:rPr lang="en-US" altLang="en-US" sz="2200" dirty="0"/>
              <a:t> in panel (a). </a:t>
            </a:r>
          </a:p>
          <a:p>
            <a:pPr marL="0" indent="0">
              <a:spcBef>
                <a:spcPts val="600"/>
              </a:spcBef>
              <a:spcAft>
                <a:spcPts val="600"/>
              </a:spcAft>
              <a:buNone/>
            </a:pPr>
            <a:r>
              <a:rPr lang="en-US" altLang="en-US" sz="2200" dirty="0"/>
              <a:t>Your </a:t>
            </a:r>
            <a:r>
              <a:rPr lang="en-US" altLang="en-US" sz="2200" dirty="0" err="1"/>
              <a:t>neighbour</a:t>
            </a:r>
            <a:r>
              <a:rPr lang="en-US" altLang="en-US" sz="2200" dirty="0"/>
              <a:t> picks and consumes 9 kilograms of apples and 42 kilograms of cherries per week—point </a:t>
            </a:r>
            <a:r>
              <a:rPr lang="en-US" altLang="en-US" sz="2200" i="1" dirty="0"/>
              <a:t>C</a:t>
            </a:r>
            <a:r>
              <a:rPr lang="en-US" altLang="en-US" sz="2200" dirty="0"/>
              <a:t> in panel (b).</a:t>
            </a:r>
            <a:endParaRPr lang="en-US" sz="2200" dirty="0"/>
          </a:p>
        </p:txBody>
      </p:sp>
      <p:pic>
        <p:nvPicPr>
          <p:cNvPr id="5" name="Picture 4" descr="Two graphs depicting you and your neighbour’s production and consumption with trade and after trade.">
            <a:extLst>
              <a:ext uri="{FF2B5EF4-FFF2-40B4-BE49-F238E27FC236}">
                <a16:creationId xmlns:a16="http://schemas.microsoft.com/office/drawing/2014/main" id="{B69670C2-3F88-4FC6-7298-930EC099D959}"/>
              </a:ext>
            </a:extLst>
          </p:cNvPr>
          <p:cNvPicPr>
            <a:picLocks noChangeAspect="1"/>
          </p:cNvPicPr>
          <p:nvPr/>
        </p:nvPicPr>
        <p:blipFill rotWithShape="1">
          <a:blip r:embed="rId3">
            <a:extLst>
              <a:ext uri="{28A0092B-C50C-407E-A947-70E740481C1C}">
                <a14:useLocalDpi xmlns:a14="http://schemas.microsoft.com/office/drawing/2010/main" val="0"/>
              </a:ext>
            </a:extLst>
          </a:blip>
          <a:srcRect t="32228"/>
          <a:stretch/>
        </p:blipFill>
        <p:spPr>
          <a:xfrm>
            <a:off x="621195" y="1447800"/>
            <a:ext cx="7901609" cy="2743200"/>
          </a:xfrm>
          <a:prstGeom prst="rect">
            <a:avLst/>
          </a:prstGeom>
        </p:spPr>
      </p:pic>
    </p:spTree>
    <p:extLst>
      <p:ext uri="{BB962C8B-B14F-4D97-AF65-F5344CB8AC3E}">
        <p14:creationId xmlns:p14="http://schemas.microsoft.com/office/powerpoint/2010/main" val="1564910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F3121C6-501D-4F4E-D295-ED8CD146009F}"/>
              </a:ext>
            </a:extLst>
          </p:cNvPr>
          <p:cNvSpPr>
            <a:spLocks noGrp="1"/>
          </p:cNvSpPr>
          <p:nvPr>
            <p:ph type="title"/>
          </p:nvPr>
        </p:nvSpPr>
        <p:spPr>
          <a:xfrm>
            <a:off x="457200" y="228600"/>
            <a:ext cx="8229600" cy="838200"/>
          </a:xfrm>
        </p:spPr>
        <p:txBody>
          <a:bodyPr/>
          <a:lstStyle/>
          <a:p>
            <a:r>
              <a:rPr lang="en-US" dirty="0">
                <a:latin typeface="+mj-lt"/>
              </a:rPr>
              <a:t>Figure 2.5 Gains from Trade</a:t>
            </a:r>
            <a:r>
              <a:rPr lang="en-US" sz="3600" dirty="0">
                <a:latin typeface="+mj-lt"/>
              </a:rPr>
              <a:t> </a:t>
            </a:r>
            <a:r>
              <a:rPr lang="en-US" sz="2000" b="0" dirty="0">
                <a:latin typeface="+mj-lt"/>
              </a:rPr>
              <a:t>(2 of 3)</a:t>
            </a:r>
          </a:p>
        </p:txBody>
      </p:sp>
      <p:sp>
        <p:nvSpPr>
          <p:cNvPr id="3" name="Content Placeholder 2"/>
          <p:cNvSpPr>
            <a:spLocks noGrp="1"/>
          </p:cNvSpPr>
          <p:nvPr>
            <p:ph type="body" sz="quarter" idx="13"/>
          </p:nvPr>
        </p:nvSpPr>
        <p:spPr>
          <a:xfrm>
            <a:off x="457200" y="4495800"/>
            <a:ext cx="8458200" cy="1676400"/>
          </a:xfrm>
        </p:spPr>
        <p:txBody>
          <a:bodyPr/>
          <a:lstStyle/>
          <a:p>
            <a:pPr marL="0" lvl="0" indent="0">
              <a:buSzPts val="2200"/>
              <a:buNone/>
            </a:pPr>
            <a:r>
              <a:rPr lang="en-US" sz="2200" dirty="0"/>
              <a:t>If you specialize in picking apples, you can pick 20 kilograms. If your </a:t>
            </a:r>
            <a:r>
              <a:rPr lang="en-US" sz="2200" dirty="0" err="1"/>
              <a:t>neighbour</a:t>
            </a:r>
            <a:r>
              <a:rPr lang="en-US" sz="2200" dirty="0"/>
              <a:t> specializes in picking cherries, she can pick 60 kilograms.</a:t>
            </a:r>
          </a:p>
          <a:p>
            <a:pPr marL="0" lvl="0" indent="0">
              <a:buSzPts val="2200"/>
              <a:buNone/>
            </a:pPr>
            <a:r>
              <a:rPr lang="en-US" sz="2200" dirty="0"/>
              <a:t>If you trade 10 kilograms of your apples for 15 kilograms of your </a:t>
            </a:r>
            <a:r>
              <a:rPr lang="en-US" sz="2200" dirty="0" err="1"/>
              <a:t>neighbour’s</a:t>
            </a:r>
            <a:r>
              <a:rPr lang="en-US" sz="2200" dirty="0"/>
              <a:t> cherries, you will be able to consume 10 kilograms of apples and 15 kilograms of cherries— point </a:t>
            </a:r>
            <a:r>
              <a:rPr lang="en-US" sz="2200" i="1" dirty="0"/>
              <a:t>B</a:t>
            </a:r>
            <a:r>
              <a:rPr lang="en-US" sz="2200" dirty="0"/>
              <a:t> in panel (a).</a:t>
            </a:r>
          </a:p>
        </p:txBody>
      </p:sp>
      <p:pic>
        <p:nvPicPr>
          <p:cNvPr id="2" name="Picture 1" descr="Two graphs depicting you and your neighbour’s production and consumption with trade and after trade.">
            <a:extLst>
              <a:ext uri="{FF2B5EF4-FFF2-40B4-BE49-F238E27FC236}">
                <a16:creationId xmlns:a16="http://schemas.microsoft.com/office/drawing/2014/main" id="{22FEB80E-A1A2-AEF8-4655-DBF71C3FC919}"/>
              </a:ext>
            </a:extLst>
          </p:cNvPr>
          <p:cNvPicPr>
            <a:picLocks noChangeAspect="1"/>
          </p:cNvPicPr>
          <p:nvPr/>
        </p:nvPicPr>
        <p:blipFill rotWithShape="1">
          <a:blip r:embed="rId3">
            <a:extLst>
              <a:ext uri="{28A0092B-C50C-407E-A947-70E740481C1C}">
                <a14:useLocalDpi xmlns:a14="http://schemas.microsoft.com/office/drawing/2010/main" val="0"/>
              </a:ext>
            </a:extLst>
          </a:blip>
          <a:srcRect t="32228"/>
          <a:stretch/>
        </p:blipFill>
        <p:spPr>
          <a:xfrm>
            <a:off x="621195" y="1459396"/>
            <a:ext cx="7901609" cy="2743200"/>
          </a:xfrm>
          <a:prstGeom prst="rect">
            <a:avLst/>
          </a:prstGeom>
        </p:spPr>
      </p:pic>
    </p:spTree>
    <p:extLst>
      <p:ext uri="{BB962C8B-B14F-4D97-AF65-F5344CB8AC3E}">
        <p14:creationId xmlns:p14="http://schemas.microsoft.com/office/powerpoint/2010/main" val="92014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F3121C6-501D-4F4E-D295-ED8CD146009F}"/>
              </a:ext>
            </a:extLst>
          </p:cNvPr>
          <p:cNvSpPr>
            <a:spLocks noGrp="1"/>
          </p:cNvSpPr>
          <p:nvPr>
            <p:ph type="title"/>
          </p:nvPr>
        </p:nvSpPr>
        <p:spPr>
          <a:xfrm>
            <a:off x="457200" y="228600"/>
            <a:ext cx="8229600" cy="609600"/>
          </a:xfrm>
        </p:spPr>
        <p:txBody>
          <a:bodyPr/>
          <a:lstStyle/>
          <a:p>
            <a:r>
              <a:rPr lang="en-US" dirty="0">
                <a:latin typeface="+mj-lt"/>
              </a:rPr>
              <a:t>Figure 2.5 Gains from Trade</a:t>
            </a:r>
            <a:r>
              <a:rPr lang="en-US" sz="3600" dirty="0">
                <a:latin typeface="+mj-lt"/>
              </a:rPr>
              <a:t> </a:t>
            </a:r>
            <a:r>
              <a:rPr lang="en-US" sz="2000" b="0" dirty="0">
                <a:latin typeface="+mj-lt"/>
              </a:rPr>
              <a:t>(3 of 3)</a:t>
            </a:r>
          </a:p>
        </p:txBody>
      </p:sp>
      <p:sp>
        <p:nvSpPr>
          <p:cNvPr id="3" name="Content Placeholder 2"/>
          <p:cNvSpPr>
            <a:spLocks noGrp="1"/>
          </p:cNvSpPr>
          <p:nvPr>
            <p:ph type="body" sz="quarter" idx="13"/>
          </p:nvPr>
        </p:nvSpPr>
        <p:spPr>
          <a:xfrm>
            <a:off x="457200" y="4572000"/>
            <a:ext cx="8382000" cy="1713016"/>
          </a:xfrm>
        </p:spPr>
        <p:txBody>
          <a:bodyPr/>
          <a:lstStyle/>
          <a:p>
            <a:pPr marL="0" lvl="0" indent="0">
              <a:spcBef>
                <a:spcPts val="600"/>
              </a:spcBef>
              <a:buSzPts val="2200"/>
              <a:buNone/>
            </a:pPr>
            <a:r>
              <a:rPr lang="en-US" sz="2200" dirty="0"/>
              <a:t>Your </a:t>
            </a:r>
            <a:r>
              <a:rPr lang="en-US" sz="2200" dirty="0" err="1"/>
              <a:t>neighbour</a:t>
            </a:r>
            <a:r>
              <a:rPr lang="en-US" sz="2200" dirty="0"/>
              <a:t> can now consume 10 kilograms of apples and 45 kilograms of cherries—point </a:t>
            </a:r>
            <a:r>
              <a:rPr lang="en-US" sz="2200" i="1" dirty="0"/>
              <a:t>D</a:t>
            </a:r>
            <a:r>
              <a:rPr lang="en-US" sz="2200" dirty="0"/>
              <a:t> in panel (b). You and your </a:t>
            </a:r>
            <a:r>
              <a:rPr lang="en-US" sz="2200" dirty="0" err="1"/>
              <a:t>neighbour</a:t>
            </a:r>
            <a:r>
              <a:rPr lang="en-US" sz="2200" dirty="0"/>
              <a:t> are both better off as a result of trade.</a:t>
            </a:r>
          </a:p>
          <a:p>
            <a:pPr marL="0" lvl="0" indent="0">
              <a:spcBef>
                <a:spcPts val="600"/>
              </a:spcBef>
              <a:buSzPts val="2200"/>
              <a:buNone/>
            </a:pPr>
            <a:r>
              <a:rPr lang="en-US" sz="2200" dirty="0"/>
              <a:t>Note that your </a:t>
            </a:r>
            <a:r>
              <a:rPr lang="en-US" sz="2200" dirty="0" err="1"/>
              <a:t>neighbour</a:t>
            </a:r>
            <a:r>
              <a:rPr lang="en-US" sz="2200" dirty="0"/>
              <a:t> benefits from trade </a:t>
            </a:r>
            <a:r>
              <a:rPr lang="en-US" sz="2200" b="1" dirty="0"/>
              <a:t>even though she could produce more of either fruit than you could.</a:t>
            </a:r>
          </a:p>
        </p:txBody>
      </p:sp>
      <p:pic>
        <p:nvPicPr>
          <p:cNvPr id="2" name="Picture 1" descr="Two graphs depicting you and your neighbour’s production and consumption with trade and after trade.">
            <a:extLst>
              <a:ext uri="{FF2B5EF4-FFF2-40B4-BE49-F238E27FC236}">
                <a16:creationId xmlns:a16="http://schemas.microsoft.com/office/drawing/2014/main" id="{C34D1A8A-4490-4FC8-2C35-8B4C752BEC00}"/>
              </a:ext>
            </a:extLst>
          </p:cNvPr>
          <p:cNvPicPr>
            <a:picLocks noChangeAspect="1"/>
          </p:cNvPicPr>
          <p:nvPr/>
        </p:nvPicPr>
        <p:blipFill rotWithShape="1">
          <a:blip r:embed="rId3">
            <a:extLst>
              <a:ext uri="{28A0092B-C50C-407E-A947-70E740481C1C}">
                <a14:useLocalDpi xmlns:a14="http://schemas.microsoft.com/office/drawing/2010/main" val="0"/>
              </a:ext>
            </a:extLst>
          </a:blip>
          <a:srcRect t="32228"/>
          <a:stretch/>
        </p:blipFill>
        <p:spPr>
          <a:xfrm>
            <a:off x="621195" y="1447800"/>
            <a:ext cx="7901609" cy="2743200"/>
          </a:xfrm>
          <a:prstGeom prst="rect">
            <a:avLst/>
          </a:prstGeom>
        </p:spPr>
      </p:pic>
    </p:spTree>
    <p:extLst>
      <p:ext uri="{BB962C8B-B14F-4D97-AF65-F5344CB8AC3E}">
        <p14:creationId xmlns:p14="http://schemas.microsoft.com/office/powerpoint/2010/main" val="4005908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descr="A table shows kilograms of apples and cherries in kilograms for two categories: You, and your neighbor respectively, for conditions on production and consumption."/>
          <p:cNvSpPr>
            <a:spLocks noGrp="1"/>
          </p:cNvSpPr>
          <p:nvPr>
            <p:ph type="title"/>
          </p:nvPr>
        </p:nvSpPr>
        <p:spPr>
          <a:xfrm>
            <a:off x="457200" y="228601"/>
            <a:ext cx="8229600" cy="990600"/>
          </a:xfrm>
        </p:spPr>
        <p:txBody>
          <a:bodyPr>
            <a:normAutofit fontScale="90000"/>
          </a:bodyPr>
          <a:lstStyle/>
          <a:p>
            <a:r>
              <a:rPr lang="en-US" dirty="0">
                <a:latin typeface="+mn-lt"/>
              </a:rPr>
              <a:t>Table 2.1 A Summary of the Gains From Trade</a:t>
            </a:r>
          </a:p>
        </p:txBody>
      </p:sp>
      <p:graphicFrame>
        <p:nvGraphicFramePr>
          <p:cNvPr id="9" name="Content Placeholder 5">
            <a:extLst>
              <a:ext uri="{FF2B5EF4-FFF2-40B4-BE49-F238E27FC236}">
                <a16:creationId xmlns:a16="http://schemas.microsoft.com/office/drawing/2014/main" id="{FF374607-D12B-6EE2-A20B-4C792D024CC3}"/>
              </a:ext>
            </a:extLst>
          </p:cNvPr>
          <p:cNvGraphicFramePr>
            <a:graphicFrameLocks/>
          </p:cNvGraphicFramePr>
          <p:nvPr>
            <p:extLst>
              <p:ext uri="{D42A27DB-BD31-4B8C-83A1-F6EECF244321}">
                <p14:modId xmlns:p14="http://schemas.microsoft.com/office/powerpoint/2010/main" val="1712543714"/>
              </p:ext>
            </p:extLst>
          </p:nvPr>
        </p:nvGraphicFramePr>
        <p:xfrm>
          <a:off x="457200" y="1555750"/>
          <a:ext cx="8229600" cy="2880360"/>
        </p:xfrm>
        <a:graphic>
          <a:graphicData uri="http://schemas.openxmlformats.org/drawingml/2006/table">
            <a:tbl>
              <a:tblPr firstRow="1" bandRow="1">
                <a:tableStyleId>{2D5ABB26-0587-4C30-8999-92F81FD0307C}</a:tableStyleId>
              </a:tblPr>
              <a:tblGrid>
                <a:gridCol w="2256971">
                  <a:extLst>
                    <a:ext uri="{9D8B030D-6E8A-4147-A177-3AD203B41FA5}">
                      <a16:colId xmlns:a16="http://schemas.microsoft.com/office/drawing/2014/main" val="2359000518"/>
                    </a:ext>
                  </a:extLst>
                </a:gridCol>
                <a:gridCol w="1422400">
                  <a:extLst>
                    <a:ext uri="{9D8B030D-6E8A-4147-A177-3AD203B41FA5}">
                      <a16:colId xmlns:a16="http://schemas.microsoft.com/office/drawing/2014/main" val="1828191279"/>
                    </a:ext>
                  </a:extLst>
                </a:gridCol>
                <a:gridCol w="1320800">
                  <a:extLst>
                    <a:ext uri="{9D8B030D-6E8A-4147-A177-3AD203B41FA5}">
                      <a16:colId xmlns:a16="http://schemas.microsoft.com/office/drawing/2014/main" val="2626748290"/>
                    </a:ext>
                  </a:extLst>
                </a:gridCol>
                <a:gridCol w="1625600">
                  <a:extLst>
                    <a:ext uri="{9D8B030D-6E8A-4147-A177-3AD203B41FA5}">
                      <a16:colId xmlns:a16="http://schemas.microsoft.com/office/drawing/2014/main" val="1554311040"/>
                    </a:ext>
                  </a:extLst>
                </a:gridCol>
                <a:gridCol w="1603829">
                  <a:extLst>
                    <a:ext uri="{9D8B030D-6E8A-4147-A177-3AD203B41FA5}">
                      <a16:colId xmlns:a16="http://schemas.microsoft.com/office/drawing/2014/main" val="2591502575"/>
                    </a:ext>
                  </a:extLst>
                </a:gridCol>
              </a:tblGrid>
              <a:tr h="370840">
                <a:tc>
                  <a:txBody>
                    <a:bodyPr/>
                    <a:lstStyle/>
                    <a:p>
                      <a:pPr algn="ctr"/>
                      <a:r>
                        <a:rPr lang="en-AU" sz="100" b="1" dirty="0">
                          <a:solidFill>
                            <a:schemeClr val="tx1"/>
                          </a:solidFill>
                          <a:latin typeface="+mn-lt"/>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u="none" strike="noStrike" cap="none" dirty="0">
                          <a:solidFill>
                            <a:schemeClr val="tx1"/>
                          </a:solidFill>
                          <a:latin typeface="+mn-lt"/>
                          <a:ea typeface="Arial"/>
                          <a:cs typeface="Arial"/>
                          <a:sym typeface="Arial"/>
                        </a:rPr>
                        <a:t>You</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u="none" strike="noStrike" cap="none" dirty="0">
                          <a:solidFill>
                            <a:schemeClr val="tx1"/>
                          </a:solidFill>
                          <a:latin typeface="+mn-lt"/>
                          <a:ea typeface="Arial"/>
                          <a:cs typeface="Arial"/>
                          <a:sym typeface="Arial"/>
                        </a:rPr>
                        <a:t>You</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u="none" strike="noStrike" cap="none" dirty="0">
                          <a:solidFill>
                            <a:schemeClr val="tx1"/>
                          </a:solidFill>
                          <a:latin typeface="+mn-lt"/>
                          <a:ea typeface="Arial"/>
                          <a:cs typeface="Arial"/>
                          <a:sym typeface="Arial"/>
                        </a:rPr>
                        <a:t>Your Neighbor</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u="none" strike="noStrike" cap="none" dirty="0">
                          <a:solidFill>
                            <a:schemeClr val="tx1"/>
                          </a:solidFill>
                          <a:latin typeface="+mn-lt"/>
                          <a:ea typeface="Arial"/>
                          <a:cs typeface="Arial"/>
                          <a:sym typeface="Arial"/>
                        </a:rPr>
                        <a:t>Your Neighbor</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217641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00" b="1" i="0" u="none" strike="noStrike" cap="none" dirty="0">
                          <a:solidFill>
                            <a:schemeClr val="tx1"/>
                          </a:solidFill>
                          <a:latin typeface="+mn-lt"/>
                          <a:ea typeface="Arial"/>
                          <a:cs typeface="Arial"/>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Apples</a:t>
                      </a:r>
                      <a:endParaRPr lang="en-US" sz="1400" u="none" strike="noStrike" cap="none" dirty="0">
                        <a:solidFill>
                          <a:schemeClr val="tx1"/>
                        </a:solidFill>
                        <a:latin typeface="+mn-lt"/>
                      </a:endParaRPr>
                    </a:p>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(kg)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Cherries</a:t>
                      </a:r>
                      <a:endParaRPr lang="en-US" sz="1400" u="none" strike="noStrike" cap="none" dirty="0">
                        <a:solidFill>
                          <a:schemeClr val="tx1"/>
                        </a:solidFill>
                        <a:latin typeface="+mn-lt"/>
                      </a:endParaRPr>
                    </a:p>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(kg)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Apples</a:t>
                      </a:r>
                      <a:endParaRPr lang="en-US" sz="1400" u="none" strike="noStrike" cap="none" dirty="0">
                        <a:solidFill>
                          <a:schemeClr val="tx1"/>
                        </a:solidFill>
                        <a:latin typeface="+mn-lt"/>
                      </a:endParaRPr>
                    </a:p>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(kg)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Cherries</a:t>
                      </a:r>
                      <a:endParaRPr lang="en-US" sz="1400" u="none" strike="noStrike" cap="none" dirty="0">
                        <a:solidFill>
                          <a:schemeClr val="tx1"/>
                        </a:solidFill>
                        <a:latin typeface="+mn-lt"/>
                      </a:endParaRPr>
                    </a:p>
                    <a:p>
                      <a:pPr marL="0" marR="0" lvl="0" indent="0" algn="ctr" rtl="0">
                        <a:lnSpc>
                          <a:spcPct val="100000"/>
                        </a:lnSpc>
                        <a:spcBef>
                          <a:spcPts val="0"/>
                        </a:spcBef>
                        <a:spcAft>
                          <a:spcPts val="0"/>
                        </a:spcAft>
                        <a:buClr>
                          <a:srgbClr val="000000"/>
                        </a:buClr>
                        <a:buSzPts val="1500"/>
                        <a:buFont typeface="Arial"/>
                        <a:buNone/>
                      </a:pPr>
                      <a:r>
                        <a:rPr lang="en-US" sz="1400" b="1" u="none" strike="noStrike" cap="none" dirty="0">
                          <a:solidFill>
                            <a:schemeClr val="tx1"/>
                          </a:solidFill>
                          <a:latin typeface="+mn-lt"/>
                          <a:ea typeface="Arial"/>
                          <a:cs typeface="Arial"/>
                          <a:sym typeface="Arial"/>
                        </a:rPr>
                        <a:t>(kg)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2754202"/>
                  </a:ext>
                </a:extLst>
              </a:tr>
              <a:tr h="370840">
                <a:tc>
                  <a:txBody>
                    <a:bodyPr/>
                    <a:lstStyle/>
                    <a:p>
                      <a:pPr marL="0" marR="0" lvl="0" indent="0" algn="l" rtl="0">
                        <a:lnSpc>
                          <a:spcPct val="100000"/>
                        </a:lnSpc>
                        <a:spcBef>
                          <a:spcPts val="0"/>
                        </a:spcBef>
                        <a:spcAft>
                          <a:spcPts val="0"/>
                        </a:spcAft>
                        <a:buClr>
                          <a:srgbClr val="000000"/>
                        </a:buClr>
                        <a:buSzPts val="1500"/>
                        <a:buFont typeface="Arial"/>
                        <a:buNone/>
                      </a:pPr>
                      <a:r>
                        <a:rPr lang="en-US" sz="1400" u="none" strike="noStrike" cap="none" dirty="0">
                          <a:solidFill>
                            <a:schemeClr val="tx1"/>
                          </a:solidFill>
                          <a:latin typeface="+mn-lt"/>
                          <a:ea typeface="Arial"/>
                          <a:cs typeface="Arial"/>
                          <a:sym typeface="Arial"/>
                        </a:rPr>
                        <a:t>Production </a:t>
                      </a:r>
                      <a:r>
                        <a:rPr lang="en-US" sz="1400" b="1" i="0" u="none" strike="noStrike" cap="none" dirty="0">
                          <a:solidFill>
                            <a:schemeClr val="tx1"/>
                          </a:solidFill>
                          <a:latin typeface="+mn-lt"/>
                          <a:ea typeface="Arial"/>
                          <a:cs typeface="Arial"/>
                          <a:sym typeface="Arial"/>
                        </a:rPr>
                        <a:t>and</a:t>
                      </a:r>
                      <a:r>
                        <a:rPr lang="en-US" sz="1400" u="none" strike="noStrike" cap="none" dirty="0">
                          <a:solidFill>
                            <a:schemeClr val="tx1"/>
                          </a:solidFill>
                          <a:latin typeface="+mn-lt"/>
                          <a:ea typeface="Arial"/>
                          <a:cs typeface="Arial"/>
                          <a:sym typeface="Arial"/>
                        </a:rPr>
                        <a:t> consumption </a:t>
                      </a:r>
                      <a:r>
                        <a:rPr lang="en-US" sz="1400" b="1" i="0" u="none" strike="noStrike" cap="none" dirty="0">
                          <a:solidFill>
                            <a:schemeClr val="tx1"/>
                          </a:solidFill>
                          <a:latin typeface="+mn-lt"/>
                          <a:ea typeface="Arial"/>
                          <a:cs typeface="Arial"/>
                          <a:sym typeface="Arial"/>
                        </a:rPr>
                        <a:t>without</a:t>
                      </a:r>
                      <a:r>
                        <a:rPr lang="en-US" sz="1400" i="1" u="none" strike="noStrike" cap="none" dirty="0">
                          <a:solidFill>
                            <a:schemeClr val="tx1"/>
                          </a:solidFill>
                          <a:latin typeface="+mn-lt"/>
                          <a:ea typeface="Arial"/>
                          <a:cs typeface="Arial"/>
                          <a:sym typeface="Arial"/>
                        </a:rPr>
                        <a:t> </a:t>
                      </a:r>
                      <a:r>
                        <a:rPr lang="en-US" sz="1400" u="none" strike="noStrike" cap="none" dirty="0">
                          <a:solidFill>
                            <a:schemeClr val="tx1"/>
                          </a:solidFill>
                          <a:latin typeface="+mn-lt"/>
                          <a:ea typeface="Arial"/>
                          <a:cs typeface="Arial"/>
                          <a:sym typeface="Arial"/>
                        </a:rPr>
                        <a:t>trade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8</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12</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9</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42</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34597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Production </a:t>
                      </a:r>
                      <a:r>
                        <a:rPr lang="en-US" sz="1400" b="1" i="0" u="none" strike="noStrike" cap="none" dirty="0">
                          <a:solidFill>
                            <a:schemeClr val="tx1"/>
                          </a:solidFill>
                          <a:latin typeface="+mn-lt"/>
                          <a:ea typeface="Arial"/>
                          <a:cs typeface="Arial"/>
                          <a:sym typeface="Arial"/>
                        </a:rPr>
                        <a:t>with </a:t>
                      </a:r>
                      <a:r>
                        <a:rPr lang="en-US" sz="1400" u="none" strike="noStrike" cap="none" dirty="0">
                          <a:solidFill>
                            <a:schemeClr val="tx1"/>
                          </a:solidFill>
                          <a:latin typeface="+mn-lt"/>
                          <a:ea typeface="Arial"/>
                          <a:cs typeface="Arial"/>
                          <a:sym typeface="Arial"/>
                        </a:rPr>
                        <a:t>trade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20</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0</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0</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60</a:t>
                      </a:r>
                      <a:endParaRPr lang="en-US" sz="1400" u="none" strike="noStrike" cap="none"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0135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Consumption </a:t>
                      </a:r>
                      <a:r>
                        <a:rPr lang="en-US" sz="1400" b="1" i="0" u="none" strike="noStrike" cap="none" dirty="0">
                          <a:solidFill>
                            <a:schemeClr val="tx1"/>
                          </a:solidFill>
                          <a:latin typeface="+mn-lt"/>
                          <a:ea typeface="Arial"/>
                          <a:cs typeface="Arial"/>
                          <a:sym typeface="Arial"/>
                        </a:rPr>
                        <a:t>with </a:t>
                      </a:r>
                      <a:r>
                        <a:rPr lang="en-US" sz="1400" u="none" strike="noStrike" cap="none" dirty="0">
                          <a:solidFill>
                            <a:schemeClr val="tx1"/>
                          </a:solidFill>
                          <a:latin typeface="+mn-lt"/>
                          <a:ea typeface="Arial"/>
                          <a:cs typeface="Arial"/>
                          <a:sym typeface="Arial"/>
                        </a:rPr>
                        <a:t>trade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15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45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8839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increased consumption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ea typeface="Arial"/>
                          <a:cs typeface="Arial"/>
                          <a:sym typeface="Arial"/>
                        </a:rPr>
                        <a:t>(Gains from trade)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u="none" strike="noStrike" cap="none" dirty="0">
                          <a:solidFill>
                            <a:schemeClr val="tx1"/>
                          </a:solidFill>
                          <a:latin typeface="+mn-lt"/>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4437354"/>
                  </a:ext>
                </a:extLst>
              </a:tr>
            </a:tbl>
          </a:graphicData>
        </a:graphic>
      </p:graphicFrame>
      <p:sp>
        <p:nvSpPr>
          <p:cNvPr id="10" name="Content Placeholder 4">
            <a:extLst>
              <a:ext uri="{FF2B5EF4-FFF2-40B4-BE49-F238E27FC236}">
                <a16:creationId xmlns:a16="http://schemas.microsoft.com/office/drawing/2014/main" id="{880A53E6-E3D9-D93A-B807-F57FBA5FF01C}"/>
              </a:ext>
            </a:extLst>
          </p:cNvPr>
          <p:cNvSpPr txBox="1">
            <a:spLocks/>
          </p:cNvSpPr>
          <p:nvPr/>
        </p:nvSpPr>
        <p:spPr>
          <a:xfrm>
            <a:off x="457200" y="4679210"/>
            <a:ext cx="8019143" cy="995876"/>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Font typeface="Arial" panose="020B0604020202020204" pitchFamily="34" charset="0"/>
              <a:buNone/>
            </a:pPr>
            <a:r>
              <a:rPr lang="en-US" sz="2400" dirty="0"/>
              <a:t>Both you and your neighbor are able to consume more with trade than without.</a:t>
            </a:r>
          </a:p>
        </p:txBody>
      </p:sp>
    </p:spTree>
    <p:extLst>
      <p:ext uri="{BB962C8B-B14F-4D97-AF65-F5344CB8AC3E}">
        <p14:creationId xmlns:p14="http://schemas.microsoft.com/office/powerpoint/2010/main" val="1823924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Explaining the Gains from Specialization and Trade</a:t>
            </a:r>
          </a:p>
        </p:txBody>
      </p:sp>
      <p:sp>
        <p:nvSpPr>
          <p:cNvPr id="4" name="Content Placeholder 3">
            <a:extLst>
              <a:ext uri="{FF2B5EF4-FFF2-40B4-BE49-F238E27FC236}">
                <a16:creationId xmlns:a16="http://schemas.microsoft.com/office/drawing/2014/main" id="{31AD3EA2-568A-16B8-994C-D21A61DFF496}"/>
              </a:ext>
            </a:extLst>
          </p:cNvPr>
          <p:cNvSpPr>
            <a:spLocks noGrp="1"/>
          </p:cNvSpPr>
          <p:nvPr>
            <p:ph idx="1"/>
          </p:nvPr>
        </p:nvSpPr>
        <p:spPr>
          <a:xfrm>
            <a:off x="457200" y="1600200"/>
            <a:ext cx="8305800" cy="4648200"/>
          </a:xfrm>
        </p:spPr>
        <p:txBody>
          <a:bodyPr/>
          <a:lstStyle/>
          <a:p>
            <a:pPr marL="0" indent="0">
              <a:spcBef>
                <a:spcPts val="0"/>
              </a:spcBef>
              <a:buSzPts val="2200"/>
              <a:buFont typeface="Arial" panose="020B0604020202020204" pitchFamily="34" charset="0"/>
              <a:buNone/>
            </a:pPr>
            <a:r>
              <a:rPr lang="en-US" sz="2400" dirty="0"/>
              <a:t>How could both of you benefit from trade when your </a:t>
            </a:r>
            <a:r>
              <a:rPr lang="en-US" sz="2400" dirty="0" err="1"/>
              <a:t>neighbour</a:t>
            </a:r>
            <a:r>
              <a:rPr lang="en-US" sz="2400" dirty="0"/>
              <a:t> was so much better than you?</a:t>
            </a:r>
          </a:p>
          <a:p>
            <a:pPr marL="0" indent="0">
              <a:spcBef>
                <a:spcPts val="1540"/>
              </a:spcBef>
              <a:buSzPts val="2200"/>
              <a:buFont typeface="Arial" panose="020B0604020202020204" pitchFamily="34" charset="0"/>
              <a:buNone/>
            </a:pPr>
            <a:r>
              <a:rPr lang="en-US" sz="2400" dirty="0"/>
              <a:t>Economists say your </a:t>
            </a:r>
            <a:r>
              <a:rPr lang="en-US" sz="2400" dirty="0" err="1"/>
              <a:t>neighbour</a:t>
            </a:r>
            <a:r>
              <a:rPr lang="en-US" sz="2400" dirty="0"/>
              <a:t> had an </a:t>
            </a:r>
            <a:r>
              <a:rPr lang="en-US" sz="2400" b="1" dirty="0"/>
              <a:t>absolute advantage </a:t>
            </a:r>
            <a:r>
              <a:rPr lang="en-US" sz="2400" dirty="0"/>
              <a:t>in both cherry and apple picking, but you had a </a:t>
            </a:r>
            <a:r>
              <a:rPr lang="en-US" sz="2400" b="1" dirty="0"/>
              <a:t>comparative advantage </a:t>
            </a:r>
            <a:r>
              <a:rPr lang="en-US" sz="2400" dirty="0"/>
              <a:t>in picking apples.</a:t>
            </a:r>
          </a:p>
          <a:p>
            <a:pPr marL="0" indent="0">
              <a:spcBef>
                <a:spcPts val="1540"/>
              </a:spcBef>
              <a:buSzPts val="2200"/>
              <a:buFont typeface="Arial" panose="020B0604020202020204" pitchFamily="34" charset="0"/>
              <a:buNone/>
            </a:pPr>
            <a:r>
              <a:rPr lang="en-US" sz="2400" b="1" dirty="0"/>
              <a:t>Absolute advantage:</a:t>
            </a:r>
            <a:r>
              <a:rPr lang="en-US" sz="2400" dirty="0"/>
              <a:t> The ability of an individual, a firm, or a country to produce more of a good or service than competitors, using the same amount of resources.</a:t>
            </a:r>
          </a:p>
          <a:p>
            <a:pPr marL="0" indent="0">
              <a:spcBef>
                <a:spcPts val="1540"/>
              </a:spcBef>
              <a:buSzPts val="2200"/>
              <a:buFont typeface="Arial" panose="020B0604020202020204" pitchFamily="34" charset="0"/>
              <a:buNone/>
            </a:pPr>
            <a:r>
              <a:rPr lang="en-US" sz="2400" b="1" dirty="0"/>
              <a:t>Comparative advantage:</a:t>
            </a:r>
            <a:r>
              <a:rPr lang="en-US" sz="2400" dirty="0"/>
              <a:t> The ability of an individual, a firm, or a country to produce a good or service at a lower opportunity cost than competitors.</a:t>
            </a:r>
          </a:p>
        </p:txBody>
      </p:sp>
    </p:spTree>
    <p:extLst>
      <p:ext uri="{BB962C8B-B14F-4D97-AF65-F5344CB8AC3E}">
        <p14:creationId xmlns:p14="http://schemas.microsoft.com/office/powerpoint/2010/main" val="1866144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97280"/>
          </a:xfrm>
        </p:spPr>
        <p:txBody>
          <a:bodyPr/>
          <a:lstStyle/>
          <a:p>
            <a:r>
              <a:rPr lang="en-US" dirty="0">
                <a:latin typeface="+mj-lt"/>
              </a:rPr>
              <a:t>Table 2.2 Opportunity Costs of Picking Apples and Cherries</a:t>
            </a:r>
          </a:p>
        </p:txBody>
      </p:sp>
      <p:graphicFrame>
        <p:nvGraphicFramePr>
          <p:cNvPr id="10" name="Content Placeholder 5">
            <a:extLst>
              <a:ext uri="{FF2B5EF4-FFF2-40B4-BE49-F238E27FC236}">
                <a16:creationId xmlns:a16="http://schemas.microsoft.com/office/drawing/2014/main" id="{922D0408-6C0B-8599-3F5B-8627D4DFDA62}"/>
              </a:ext>
            </a:extLst>
          </p:cNvPr>
          <p:cNvGraphicFramePr>
            <a:graphicFrameLocks/>
          </p:cNvGraphicFramePr>
          <p:nvPr>
            <p:extLst>
              <p:ext uri="{D42A27DB-BD31-4B8C-83A1-F6EECF244321}">
                <p14:modId xmlns:p14="http://schemas.microsoft.com/office/powerpoint/2010/main" val="2863534371"/>
              </p:ext>
            </p:extLst>
          </p:nvPr>
        </p:nvGraphicFramePr>
        <p:xfrm>
          <a:off x="457200" y="1564459"/>
          <a:ext cx="7708900" cy="138177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1273354508"/>
                    </a:ext>
                  </a:extLst>
                </a:gridCol>
                <a:gridCol w="2819400">
                  <a:extLst>
                    <a:ext uri="{9D8B030D-6E8A-4147-A177-3AD203B41FA5}">
                      <a16:colId xmlns:a16="http://schemas.microsoft.com/office/drawing/2014/main" val="597062774"/>
                    </a:ext>
                  </a:extLst>
                </a:gridCol>
                <a:gridCol w="2984500">
                  <a:extLst>
                    <a:ext uri="{9D8B030D-6E8A-4147-A177-3AD203B41FA5}">
                      <a16:colId xmlns:a16="http://schemas.microsoft.com/office/drawing/2014/main" val="3016420076"/>
                    </a:ext>
                  </a:extLst>
                </a:gridCol>
              </a:tblGrid>
              <a:tr h="370840">
                <a:tc>
                  <a:txBody>
                    <a:bodyPr/>
                    <a:lstStyle/>
                    <a:p>
                      <a:pPr marL="0" marR="0" lvl="0" indent="0" algn="l" rtl="0">
                        <a:lnSpc>
                          <a:spcPct val="100000"/>
                        </a:lnSpc>
                        <a:spcBef>
                          <a:spcPts val="0"/>
                        </a:spcBef>
                        <a:spcAft>
                          <a:spcPts val="0"/>
                        </a:spcAft>
                        <a:buClr>
                          <a:schemeClr val="lt1"/>
                        </a:buClr>
                        <a:buSzPts val="1800"/>
                        <a:buFont typeface="Arial"/>
                        <a:buNone/>
                      </a:pPr>
                      <a:r>
                        <a:rPr lang="en-US" sz="100" b="1" u="none" strike="noStrike" cap="none" dirty="0">
                          <a:solidFill>
                            <a:schemeClr val="tx1"/>
                          </a:solidFill>
                          <a:latin typeface="+mn-lt"/>
                          <a:ea typeface="Arial"/>
                          <a:cs typeface="Arial"/>
                          <a:sym typeface="Arial"/>
                        </a:rPr>
                        <a:t>Blank</a:t>
                      </a:r>
                      <a:endParaRPr sz="100" b="0" u="none" strike="noStrike" cap="none" dirty="0">
                        <a:solidFill>
                          <a:schemeClr val="tx1"/>
                        </a:solidFill>
                        <a:latin typeface="+mn-lt"/>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latin typeface="+mn-lt"/>
                          <a:ea typeface="Arial"/>
                          <a:cs typeface="Arial"/>
                          <a:sym typeface="Arial"/>
                        </a:rPr>
                        <a:t>Opportunity Cost of Picking 1 kg of Apples </a:t>
                      </a:r>
                      <a:endParaRPr sz="1800" u="none" strike="noStrike" cap="none" dirty="0">
                        <a:latin typeface="+mn-lt"/>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latin typeface="+mn-lt"/>
                          <a:ea typeface="Arial"/>
                          <a:cs typeface="Arial"/>
                          <a:sym typeface="Arial"/>
                        </a:rPr>
                        <a:t>Opportunity Cost of Picking 1 kg of Cherries </a:t>
                      </a:r>
                      <a:endParaRPr sz="1800" u="none" strike="noStrike" cap="none" dirty="0">
                        <a:latin typeface="+mn-lt"/>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1450872"/>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mn-lt"/>
                          <a:ea typeface="Arial"/>
                          <a:cs typeface="Arial"/>
                          <a:sym typeface="Arial"/>
                        </a:rPr>
                        <a:t>You</a:t>
                      </a:r>
                      <a:endParaRPr sz="1800" u="none" strike="noStrike" cap="none" dirty="0">
                        <a:latin typeface="+mn-lt"/>
                      </a:endParaRPr>
                    </a:p>
                  </a:txBody>
                  <a:tcPr marL="91450" marR="91450" marT="45725" marB="457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mn-lt"/>
                          <a:ea typeface="Arial"/>
                          <a:cs typeface="Arial"/>
                          <a:sym typeface="Arial"/>
                        </a:rPr>
                        <a:t>1 kg of cherries</a:t>
                      </a:r>
                      <a:endParaRPr sz="1800" u="none" strike="noStrike" cap="none" dirty="0">
                        <a:latin typeface="+mn-lt"/>
                      </a:endParaRPr>
                    </a:p>
                  </a:txBody>
                  <a:tcPr marL="91450" marR="91450" marT="45725" marB="457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mn-lt"/>
                          <a:ea typeface="Arial"/>
                          <a:cs typeface="Arial"/>
                          <a:sym typeface="Arial"/>
                        </a:rPr>
                        <a:t>1 kg of apples</a:t>
                      </a:r>
                      <a:endParaRPr sz="1800" u="none" strike="noStrike" cap="none" dirty="0">
                        <a:latin typeface="+mn-lt"/>
                      </a:endParaRPr>
                    </a:p>
                  </a:txBody>
                  <a:tcPr marL="91450" marR="91450" marT="45725" marB="457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1013090"/>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solidFill>
                            <a:schemeClr val="dk1"/>
                          </a:solidFill>
                          <a:latin typeface="+mn-lt"/>
                          <a:ea typeface="Arial"/>
                          <a:cs typeface="Arial"/>
                          <a:sym typeface="Arial"/>
                        </a:rPr>
                        <a:t>Yourn</a:t>
                      </a:r>
                      <a:endParaRPr sz="1800" u="none" strike="noStrike" cap="none" dirty="0">
                        <a:latin typeface="+mn-lt"/>
                      </a:endParaRPr>
                    </a:p>
                  </a:txBody>
                  <a:tcPr marL="91450" marR="91450" marT="45725" marB="457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mn-lt"/>
                          <a:ea typeface="Arial"/>
                          <a:cs typeface="Arial"/>
                          <a:sym typeface="Arial"/>
                        </a:rPr>
                        <a:t>2 kg of cherries</a:t>
                      </a:r>
                      <a:endParaRPr sz="1800" u="none" strike="noStrike" cap="none" dirty="0">
                        <a:latin typeface="+mn-lt"/>
                      </a:endParaRPr>
                    </a:p>
                  </a:txBody>
                  <a:tcPr marL="91450" marR="91450" marT="45725" marB="457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mn-lt"/>
                          <a:ea typeface="Arial"/>
                          <a:cs typeface="Arial"/>
                          <a:sym typeface="Arial"/>
                        </a:rPr>
                        <a:t>0.5 kg of apples</a:t>
                      </a:r>
                      <a:endParaRPr sz="1800" u="none" strike="noStrike" cap="none" dirty="0">
                        <a:latin typeface="+mn-lt"/>
                      </a:endParaRPr>
                    </a:p>
                  </a:txBody>
                  <a:tcPr marL="91450" marR="91450" marT="45725" marB="457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6540113"/>
                  </a:ext>
                </a:extLst>
              </a:tr>
            </a:tbl>
          </a:graphicData>
        </a:graphic>
      </p:graphicFrame>
      <p:sp>
        <p:nvSpPr>
          <p:cNvPr id="13" name="Content Placeholder 4">
            <a:extLst>
              <a:ext uri="{FF2B5EF4-FFF2-40B4-BE49-F238E27FC236}">
                <a16:creationId xmlns:a16="http://schemas.microsoft.com/office/drawing/2014/main" id="{14433E60-54A1-3E1B-DA46-C5941A2AAC2D}"/>
              </a:ext>
            </a:extLst>
          </p:cNvPr>
          <p:cNvSpPr txBox="1">
            <a:spLocks/>
          </p:cNvSpPr>
          <p:nvPr/>
        </p:nvSpPr>
        <p:spPr>
          <a:xfrm>
            <a:off x="427653" y="3200400"/>
            <a:ext cx="8229600" cy="262201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400" b="1" dirty="0"/>
              <a:t>The basis for trade is comparative advantage, not absolute advantage.</a:t>
            </a:r>
          </a:p>
          <a:p>
            <a:pPr marL="0" indent="0">
              <a:spcBef>
                <a:spcPts val="1420"/>
              </a:spcBef>
              <a:buSzPts val="2200"/>
              <a:buFont typeface="Arial" panose="020B0604020202020204" pitchFamily="34" charset="0"/>
              <a:buNone/>
            </a:pPr>
            <a:r>
              <a:rPr lang="en-US" sz="2400" dirty="0"/>
              <a:t>Individuals, firms, and countries are better off if they specialize in producing goods and services for which they have a comparative advantage and obtain the other goods and services they need by trading.</a:t>
            </a:r>
          </a:p>
        </p:txBody>
      </p:sp>
    </p:spTree>
    <p:extLst>
      <p:ext uri="{BB962C8B-B14F-4D97-AF65-F5344CB8AC3E}">
        <p14:creationId xmlns:p14="http://schemas.microsoft.com/office/powerpoint/2010/main" val="381695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The Market System</a:t>
            </a:r>
          </a:p>
        </p:txBody>
      </p:sp>
      <p:sp>
        <p:nvSpPr>
          <p:cNvPr id="4" name="Text Placeholder 3">
            <a:extLst>
              <a:ext uri="{FF2B5EF4-FFF2-40B4-BE49-F238E27FC236}">
                <a16:creationId xmlns:a16="http://schemas.microsoft.com/office/drawing/2014/main" id="{B0550396-7FA8-6E3C-FD31-1656BF4712E7}"/>
              </a:ext>
            </a:extLst>
          </p:cNvPr>
          <p:cNvSpPr>
            <a:spLocks noGrp="1"/>
          </p:cNvSpPr>
          <p:nvPr>
            <p:ph type="body" sz="quarter" idx="13"/>
          </p:nvPr>
        </p:nvSpPr>
        <p:spPr>
          <a:xfrm>
            <a:off x="467139" y="1017815"/>
            <a:ext cx="8229600" cy="402770"/>
          </a:xfrm>
        </p:spPr>
        <p:txBody>
          <a:bodyPr/>
          <a:lstStyle/>
          <a:p>
            <a:r>
              <a:rPr lang="en-US" sz="2400" b="1" dirty="0">
                <a:solidFill>
                  <a:schemeClr val="tx1"/>
                </a:solidFill>
              </a:rPr>
              <a:t>2.3 Learning</a:t>
            </a:r>
            <a:r>
              <a:rPr lang="en-US" sz="2400" dirty="0">
                <a:solidFill>
                  <a:schemeClr val="tx1"/>
                </a:solidFill>
              </a:rPr>
              <a:t> </a:t>
            </a:r>
            <a:r>
              <a:rPr lang="en-US" sz="2400" b="1" dirty="0">
                <a:solidFill>
                  <a:schemeClr val="tx1"/>
                </a:solidFill>
              </a:rPr>
              <a:t>Objective</a:t>
            </a:r>
            <a:endParaRPr lang="en-US" altLang="en-US" sz="2400" b="1" dirty="0">
              <a:solidFill>
                <a:schemeClr val="tx1"/>
              </a:solidFill>
              <a:cs typeface="Arial" charset="0"/>
            </a:endParaRPr>
          </a:p>
        </p:txBody>
      </p:sp>
      <p:sp>
        <p:nvSpPr>
          <p:cNvPr id="3" name="Subtitle 2"/>
          <p:cNvSpPr>
            <a:spLocks noGrp="1"/>
          </p:cNvSpPr>
          <p:nvPr>
            <p:ph sz="quarter" idx="14"/>
          </p:nvPr>
        </p:nvSpPr>
        <p:spPr>
          <a:xfrm>
            <a:off x="457200" y="1600200"/>
            <a:ext cx="8229600" cy="4724400"/>
          </a:xfrm>
        </p:spPr>
        <p:txBody>
          <a:bodyPr/>
          <a:lstStyle/>
          <a:p>
            <a:pPr marL="0" indent="0">
              <a:spcBef>
                <a:spcPts val="1000"/>
              </a:spcBef>
              <a:buSzPct val="100000"/>
              <a:buNone/>
            </a:pPr>
            <a:r>
              <a:rPr lang="en-US" altLang="en-US" sz="2200" dirty="0">
                <a:cs typeface="Arial" charset="0"/>
              </a:rPr>
              <a:t>Explain the basic idea of how a market system works.</a:t>
            </a:r>
          </a:p>
          <a:p>
            <a:pPr marL="0" indent="0">
              <a:spcBef>
                <a:spcPts val="1000"/>
              </a:spcBef>
              <a:buSzPts val="2200"/>
              <a:buFont typeface="Arial" panose="020B0604020202020204" pitchFamily="34" charset="0"/>
              <a:buNone/>
            </a:pPr>
            <a:r>
              <a:rPr lang="en-US" sz="2200" dirty="0"/>
              <a:t>A </a:t>
            </a:r>
            <a:r>
              <a:rPr lang="en-US" sz="2200" b="1" dirty="0"/>
              <a:t>market</a:t>
            </a:r>
            <a:r>
              <a:rPr lang="en-US" sz="2200" dirty="0"/>
              <a:t> is a group of buyers and sellers of a good or service, and the institution or arrangement by which they come together to trade.</a:t>
            </a:r>
          </a:p>
          <a:p>
            <a:pPr marL="0" indent="0">
              <a:spcBef>
                <a:spcPts val="1000"/>
              </a:spcBef>
              <a:buSzPts val="2200"/>
              <a:buFont typeface="Arial" panose="020B0604020202020204" pitchFamily="34" charset="0"/>
              <a:buNone/>
            </a:pPr>
            <a:r>
              <a:rPr lang="en-US" sz="2200" dirty="0"/>
              <a:t>Two key groups participate in the modern economy:</a:t>
            </a:r>
          </a:p>
          <a:p>
            <a:pPr marL="0" indent="0">
              <a:spcBef>
                <a:spcPts val="1000"/>
              </a:spcBef>
              <a:buSzPts val="2200"/>
              <a:buFont typeface="Arial" panose="020B0604020202020204" pitchFamily="34" charset="0"/>
              <a:buNone/>
            </a:pPr>
            <a:r>
              <a:rPr lang="en-US" sz="2200" b="1" dirty="0"/>
              <a:t>Households</a:t>
            </a:r>
            <a:r>
              <a:rPr lang="en-US" sz="2200" i="1" dirty="0"/>
              <a:t> </a:t>
            </a:r>
            <a:r>
              <a:rPr lang="en-US" sz="2200" dirty="0"/>
              <a:t>consist of individuals who provide the </a:t>
            </a:r>
            <a:r>
              <a:rPr lang="en-US" sz="2200" b="1" dirty="0"/>
              <a:t>factors of</a:t>
            </a:r>
            <a:r>
              <a:rPr lang="en-US" sz="2200" b="1" u="sng" dirty="0"/>
              <a:t> </a:t>
            </a:r>
            <a:r>
              <a:rPr lang="en-US" sz="2200" b="1" dirty="0"/>
              <a:t>production:</a:t>
            </a:r>
            <a:r>
              <a:rPr lang="en-US" sz="2200" dirty="0"/>
              <a:t> </a:t>
            </a:r>
            <a:r>
              <a:rPr lang="en-US" sz="2200" dirty="0" err="1"/>
              <a:t>labour</a:t>
            </a:r>
            <a:r>
              <a:rPr lang="en-US" sz="2200" dirty="0"/>
              <a:t>, capital, natural resources, and other inputs used to make goods and services.</a:t>
            </a:r>
          </a:p>
          <a:p>
            <a:pPr>
              <a:spcBef>
                <a:spcPts val="1000"/>
              </a:spcBef>
            </a:pPr>
            <a:r>
              <a:rPr lang="en-US" sz="2200" dirty="0"/>
              <a:t>Households receive payments for these factors by selling them to firms in </a:t>
            </a:r>
            <a:r>
              <a:rPr lang="en-US" sz="2200" b="1" dirty="0"/>
              <a:t>factor markets.</a:t>
            </a:r>
          </a:p>
          <a:p>
            <a:pPr marL="0" indent="0">
              <a:spcBef>
                <a:spcPts val="1000"/>
              </a:spcBef>
              <a:buNone/>
            </a:pPr>
            <a:r>
              <a:rPr lang="en-US" sz="2200" b="1" dirty="0"/>
              <a:t>Firms</a:t>
            </a:r>
            <a:r>
              <a:rPr lang="en-US" sz="2200" dirty="0"/>
              <a:t> supply goods and services to </a:t>
            </a:r>
            <a:r>
              <a:rPr lang="en-US" sz="2200" b="1" dirty="0"/>
              <a:t>product markets;</a:t>
            </a:r>
            <a:r>
              <a:rPr lang="en-US" sz="2200" dirty="0"/>
              <a:t> households buy these products from the firms.</a:t>
            </a:r>
          </a:p>
        </p:txBody>
      </p:sp>
    </p:spTree>
    <p:extLst>
      <p:ext uri="{BB962C8B-B14F-4D97-AF65-F5344CB8AC3E}">
        <p14:creationId xmlns:p14="http://schemas.microsoft.com/office/powerpoint/2010/main" val="1596221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mj-lt"/>
              </a:rPr>
              <a:t>The Four Factors of Production</a:t>
            </a:r>
          </a:p>
        </p:txBody>
      </p:sp>
      <p:sp>
        <p:nvSpPr>
          <p:cNvPr id="3" name="Content Placeholder 2">
            <a:extLst>
              <a:ext uri="{FF2B5EF4-FFF2-40B4-BE49-F238E27FC236}">
                <a16:creationId xmlns:a16="http://schemas.microsoft.com/office/drawing/2014/main" id="{6E844221-162E-5A9F-58B9-C8C2EFEF2CBB}"/>
              </a:ext>
            </a:extLst>
          </p:cNvPr>
          <p:cNvSpPr>
            <a:spLocks noGrp="1"/>
          </p:cNvSpPr>
          <p:nvPr>
            <p:ph idx="1"/>
          </p:nvPr>
        </p:nvSpPr>
        <p:spPr/>
        <p:txBody>
          <a:bodyPr>
            <a:normAutofit lnSpcReduction="10000"/>
          </a:bodyPr>
          <a:lstStyle/>
          <a:p>
            <a:pPr>
              <a:spcBef>
                <a:spcPts val="1000"/>
              </a:spcBef>
              <a:buSzPts val="2200"/>
            </a:pPr>
            <a:r>
              <a:rPr lang="en-US" sz="2250" b="1" dirty="0" err="1"/>
              <a:t>Labour</a:t>
            </a:r>
            <a:r>
              <a:rPr lang="en-US" sz="2250" b="1" dirty="0"/>
              <a:t>: </a:t>
            </a:r>
            <a:r>
              <a:rPr lang="en-US" sz="2250" dirty="0"/>
              <a:t>All types of work, from the part-time </a:t>
            </a:r>
            <a:r>
              <a:rPr lang="en-US" sz="2250" dirty="0" err="1"/>
              <a:t>labour</a:t>
            </a:r>
            <a:r>
              <a:rPr lang="en-US" sz="2250" dirty="0"/>
              <a:t> of teenagers working at McDonald’s to the work of CEOs in large corporations.</a:t>
            </a:r>
          </a:p>
          <a:p>
            <a:pPr>
              <a:spcBef>
                <a:spcPts val="1000"/>
              </a:spcBef>
              <a:buSzPts val="2200"/>
            </a:pPr>
            <a:r>
              <a:rPr lang="en-US" sz="2250" b="1" dirty="0"/>
              <a:t>Capital: </a:t>
            </a:r>
            <a:r>
              <a:rPr lang="en-US" sz="2250" dirty="0"/>
              <a:t>Refers to physical capital, such as computers, machines, and buildings that are used to produce other goods.</a:t>
            </a:r>
          </a:p>
          <a:p>
            <a:pPr>
              <a:spcBef>
                <a:spcPts val="1000"/>
              </a:spcBef>
              <a:buSzPts val="2200"/>
            </a:pPr>
            <a:r>
              <a:rPr lang="en-US" sz="2250" b="1" dirty="0"/>
              <a:t>Natural resources: </a:t>
            </a:r>
            <a:r>
              <a:rPr lang="en-US" sz="2250" dirty="0"/>
              <a:t>Land, water, oil, iron ore, and other raw materials (or “gifts of nature”) that are used in producing goods.</a:t>
            </a:r>
          </a:p>
          <a:p>
            <a:pPr>
              <a:spcBef>
                <a:spcPts val="1000"/>
              </a:spcBef>
              <a:buSzPts val="2200"/>
            </a:pPr>
            <a:r>
              <a:rPr lang="en-US" sz="2250" dirty="0"/>
              <a:t>An </a:t>
            </a:r>
            <a:r>
              <a:rPr lang="en-US" sz="2250" b="1" dirty="0"/>
              <a:t>entrepreneur</a:t>
            </a:r>
            <a:r>
              <a:rPr lang="en-US" sz="2250" i="1" dirty="0"/>
              <a:t> </a:t>
            </a:r>
            <a:r>
              <a:rPr lang="en-US" sz="2250" dirty="0"/>
              <a:t>is someone who operates a business. </a:t>
            </a:r>
            <a:r>
              <a:rPr lang="en-US" sz="2250" b="1" dirty="0"/>
              <a:t>Entrepreneurial ability </a:t>
            </a:r>
            <a:r>
              <a:rPr lang="en-US" sz="2250" dirty="0"/>
              <a:t>is the ability to bring together the other factors of production to successfully produce and sell goods and services.</a:t>
            </a:r>
            <a:endParaRPr lang="en-US" sz="2250" i="1" dirty="0"/>
          </a:p>
        </p:txBody>
      </p:sp>
    </p:spTree>
    <p:extLst>
      <p:ext uri="{BB962C8B-B14F-4D97-AF65-F5344CB8AC3E}">
        <p14:creationId xmlns:p14="http://schemas.microsoft.com/office/powerpoint/2010/main" val="1453612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58C1300-B8C3-7BCC-DEA8-11E1D1FEAE22}"/>
              </a:ext>
            </a:extLst>
          </p:cNvPr>
          <p:cNvSpPr>
            <a:spLocks noGrp="1"/>
          </p:cNvSpPr>
          <p:nvPr>
            <p:ph type="title"/>
          </p:nvPr>
        </p:nvSpPr>
        <p:spPr>
          <a:xfrm>
            <a:off x="457200" y="215371"/>
            <a:ext cx="8229600" cy="851429"/>
          </a:xfrm>
        </p:spPr>
        <p:txBody>
          <a:bodyPr/>
          <a:lstStyle/>
          <a:p>
            <a:r>
              <a:rPr lang="en-US" sz="3200" dirty="0">
                <a:latin typeface="+mn-lt"/>
              </a:rPr>
              <a:t>Figure 2.6 The Circular-Flow Diagram</a:t>
            </a:r>
            <a:r>
              <a:rPr lang="en-US" sz="3000" dirty="0">
                <a:latin typeface="+mn-lt"/>
              </a:rPr>
              <a:t> </a:t>
            </a:r>
            <a:r>
              <a:rPr lang="en-US" sz="2000" b="0" dirty="0">
                <a:latin typeface="+mn-lt"/>
              </a:rPr>
              <a:t>(1 of 2)</a:t>
            </a:r>
            <a:endParaRPr lang="en-US" sz="2000" dirty="0">
              <a:latin typeface="+mn-lt"/>
            </a:endParaRPr>
          </a:p>
        </p:txBody>
      </p:sp>
      <p:sp>
        <p:nvSpPr>
          <p:cNvPr id="9" name="Content Placeholder 5">
            <a:extLst>
              <a:ext uri="{FF2B5EF4-FFF2-40B4-BE49-F238E27FC236}">
                <a16:creationId xmlns:a16="http://schemas.microsoft.com/office/drawing/2014/main" id="{C8B5479A-29D6-7814-CEFE-D0D8175ADECB}"/>
              </a:ext>
            </a:extLst>
          </p:cNvPr>
          <p:cNvSpPr txBox="1">
            <a:spLocks/>
          </p:cNvSpPr>
          <p:nvPr/>
        </p:nvSpPr>
        <p:spPr>
          <a:xfrm>
            <a:off x="457200" y="1399188"/>
            <a:ext cx="4085771" cy="4849212"/>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b="1" dirty="0"/>
              <a:t>Circular-flow diagram:</a:t>
            </a:r>
            <a:r>
              <a:rPr lang="en-US" sz="2200" dirty="0"/>
              <a:t> A model that illustrates how participants in markets are linked.</a:t>
            </a:r>
          </a:p>
          <a:p>
            <a:pPr>
              <a:spcBef>
                <a:spcPts val="1000"/>
              </a:spcBef>
            </a:pPr>
            <a:r>
              <a:rPr lang="en-US" sz="2200" dirty="0"/>
              <a:t>Households provide factors of production to firms.</a:t>
            </a:r>
          </a:p>
          <a:p>
            <a:pPr>
              <a:spcBef>
                <a:spcPts val="1000"/>
              </a:spcBef>
            </a:pPr>
            <a:r>
              <a:rPr lang="en-US" sz="2200" dirty="0"/>
              <a:t>Firms provide goods and services to households.</a:t>
            </a:r>
          </a:p>
          <a:p>
            <a:pPr>
              <a:spcBef>
                <a:spcPts val="1000"/>
              </a:spcBef>
            </a:pPr>
            <a:r>
              <a:rPr lang="en-US" sz="2200" dirty="0"/>
              <a:t>Firms pay money to households for the factors of production.</a:t>
            </a:r>
          </a:p>
          <a:p>
            <a:pPr>
              <a:spcBef>
                <a:spcPts val="1000"/>
              </a:spcBef>
            </a:pPr>
            <a:r>
              <a:rPr lang="en-US" sz="2200" dirty="0"/>
              <a:t>Households pay money to firms for the goods and services.</a:t>
            </a:r>
          </a:p>
        </p:txBody>
      </p:sp>
      <p:pic>
        <p:nvPicPr>
          <p:cNvPr id="3" name="Picture 2" descr="The circular flow diagram shows households, factor markets, firms, and product markets are connected to each other. Households and factor markets are connected with bi directional arrows that are labelled, wages and other payments to the factors of production. Factor markets and firms are connected with bi directional arrows that are labelled, labour, capital, natural resources and entrepreneurial ability. Firms and product markets are connected with bi directional arrows that are labelled, spending on goods and services. Product markets and households are connected with bi directional arrows that are labelled, goods and services.">
            <a:extLst>
              <a:ext uri="{FF2B5EF4-FFF2-40B4-BE49-F238E27FC236}">
                <a16:creationId xmlns:a16="http://schemas.microsoft.com/office/drawing/2014/main" id="{9E1A8A0D-1FA5-206B-06ED-F03148942A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1031" y="1524000"/>
            <a:ext cx="4311197" cy="4224103"/>
          </a:xfrm>
          <a:prstGeom prst="rect">
            <a:avLst/>
          </a:prstGeom>
        </p:spPr>
      </p:pic>
    </p:spTree>
    <p:extLst>
      <p:ext uri="{BB962C8B-B14F-4D97-AF65-F5344CB8AC3E}">
        <p14:creationId xmlns:p14="http://schemas.microsoft.com/office/powerpoint/2010/main" val="509258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0910E2A-3380-FDEC-C9B1-0E170B2EA281}"/>
              </a:ext>
            </a:extLst>
          </p:cNvPr>
          <p:cNvSpPr>
            <a:spLocks noGrp="1"/>
          </p:cNvSpPr>
          <p:nvPr>
            <p:ph type="title"/>
          </p:nvPr>
        </p:nvSpPr>
        <p:spPr>
          <a:xfrm>
            <a:off x="457200" y="215371"/>
            <a:ext cx="8229600" cy="851429"/>
          </a:xfrm>
        </p:spPr>
        <p:txBody>
          <a:bodyPr/>
          <a:lstStyle/>
          <a:p>
            <a:r>
              <a:rPr lang="en-US" sz="3200" dirty="0">
                <a:latin typeface="+mn-lt"/>
              </a:rPr>
              <a:t>Figure 2.6 The Circular-Flow Diagram</a:t>
            </a:r>
            <a:r>
              <a:rPr lang="en-US" sz="3000" dirty="0">
                <a:latin typeface="+mn-lt"/>
              </a:rPr>
              <a:t> </a:t>
            </a:r>
            <a:r>
              <a:rPr lang="en-US" sz="2000" b="0" dirty="0">
                <a:latin typeface="+mn-lt"/>
              </a:rPr>
              <a:t>(2 of 2)</a:t>
            </a:r>
            <a:endParaRPr lang="en-US" sz="2000" dirty="0">
              <a:latin typeface="+mn-lt"/>
            </a:endParaRPr>
          </a:p>
        </p:txBody>
      </p:sp>
      <p:sp>
        <p:nvSpPr>
          <p:cNvPr id="3" name="Content Placeholder 2"/>
          <p:cNvSpPr>
            <a:spLocks noGrp="1"/>
          </p:cNvSpPr>
          <p:nvPr>
            <p:ph idx="1"/>
          </p:nvPr>
        </p:nvSpPr>
        <p:spPr>
          <a:xfrm>
            <a:off x="457200" y="1371600"/>
            <a:ext cx="4038600" cy="4191000"/>
          </a:xfrm>
        </p:spPr>
        <p:txBody>
          <a:bodyPr/>
          <a:lstStyle/>
          <a:p>
            <a:pPr marL="0" indent="0">
              <a:spcBef>
                <a:spcPts val="0"/>
              </a:spcBef>
              <a:buNone/>
            </a:pPr>
            <a:r>
              <a:rPr lang="en-US" altLang="en-US" sz="2400" kern="0" dirty="0"/>
              <a:t>Like all economic models, the circular-flow diagram is a simplified version of reality:</a:t>
            </a:r>
          </a:p>
          <a:p>
            <a:pPr marL="342900" indent="-342900"/>
            <a:r>
              <a:rPr lang="en-US" altLang="en-US" sz="2400" kern="0" dirty="0"/>
              <a:t>No government</a:t>
            </a:r>
          </a:p>
          <a:p>
            <a:pPr marL="342900" indent="-342900"/>
            <a:r>
              <a:rPr lang="en-US" altLang="en-US" sz="2400" kern="0" dirty="0"/>
              <a:t>No financial system</a:t>
            </a:r>
          </a:p>
          <a:p>
            <a:pPr marL="342900" indent="-342900"/>
            <a:r>
              <a:rPr lang="en-US" altLang="en-US" sz="2400" kern="0" dirty="0"/>
              <a:t>No foreign buyers and sellers of goods</a:t>
            </a:r>
          </a:p>
          <a:p>
            <a:pPr marL="0" indent="0">
              <a:buNone/>
            </a:pPr>
            <a:r>
              <a:rPr lang="en-US" altLang="en-US" sz="2400" kern="0" dirty="0"/>
              <a:t>We will explore these sectors in later chapters.</a:t>
            </a:r>
            <a:endParaRPr lang="en-IN" sz="2400" dirty="0"/>
          </a:p>
        </p:txBody>
      </p:sp>
      <p:pic>
        <p:nvPicPr>
          <p:cNvPr id="4" name="Picture 3" descr="The circular flow diagram shows households, factor markets, firms, and product markets are connected to each other. Households and factor markets are connected with bi directional arrows that are labelled, wages and other payments to the factors of production. Factor markets and firms are connected with bi directional arrows that are labelled, labour, capital, natural resources and entrepreneurial ability. Firms and product markets are connected with bi directional arrows that are labelled, spending on goods and services. Product markets and households are connected with bi directional arrows that are labelled, goods and services.">
            <a:extLst>
              <a:ext uri="{FF2B5EF4-FFF2-40B4-BE49-F238E27FC236}">
                <a16:creationId xmlns:a16="http://schemas.microsoft.com/office/drawing/2014/main" id="{FD080007-2E35-C94A-003F-AFABE9343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1401417"/>
            <a:ext cx="4124981" cy="4041648"/>
          </a:xfrm>
          <a:prstGeom prst="rect">
            <a:avLst/>
          </a:prstGeom>
        </p:spPr>
      </p:pic>
    </p:spTree>
    <p:extLst>
      <p:ext uri="{BB962C8B-B14F-4D97-AF65-F5344CB8AC3E}">
        <p14:creationId xmlns:p14="http://schemas.microsoft.com/office/powerpoint/2010/main" val="1971959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Gains from Free Markets</a:t>
            </a:r>
          </a:p>
        </p:txBody>
      </p:sp>
      <p:sp>
        <p:nvSpPr>
          <p:cNvPr id="3" name="Content Placeholder 2"/>
          <p:cNvSpPr>
            <a:spLocks noGrp="1"/>
          </p:cNvSpPr>
          <p:nvPr>
            <p:ph idx="1"/>
          </p:nvPr>
        </p:nvSpPr>
        <p:spPr>
          <a:xfrm>
            <a:off x="457200" y="1600200"/>
            <a:ext cx="8229600" cy="4648200"/>
          </a:xfrm>
        </p:spPr>
        <p:txBody>
          <a:bodyPr/>
          <a:lstStyle/>
          <a:p>
            <a:pPr marL="268288" indent="-268288"/>
            <a:r>
              <a:rPr lang="en-US" altLang="en-US" sz="2200" dirty="0"/>
              <a:t>A </a:t>
            </a:r>
            <a:r>
              <a:rPr lang="en-US" altLang="en-US" sz="2200" b="1" i="1" dirty="0"/>
              <a:t>free market</a:t>
            </a:r>
            <a:r>
              <a:rPr lang="en-US" altLang="en-US" sz="2200" dirty="0"/>
              <a:t> is one with few government restrictions on how goods or services can be produced or sold, or on how factors of production can be employed.</a:t>
            </a:r>
          </a:p>
          <a:p>
            <a:pPr marL="268288" indent="-268288"/>
            <a:r>
              <a:rPr lang="en-US" altLang="en-US" sz="2200" dirty="0"/>
              <a:t>Countries that come closest to the free market benchmark have been more successful than those with centrally planned economies in providing their people with rising living standards.</a:t>
            </a:r>
          </a:p>
          <a:p>
            <a:pPr marL="268288" indent="-268288"/>
            <a:r>
              <a:rPr lang="en-US" altLang="en-US" sz="2200" dirty="0"/>
              <a:t>This concept is not new: Adam Smith argued for free markets in his 1776 treatise, </a:t>
            </a:r>
            <a:r>
              <a:rPr lang="en-US" altLang="en-US" sz="2200" i="1" dirty="0"/>
              <a:t>An Inquiry into the Nature and Causes of the Wealth of Nations.</a:t>
            </a:r>
          </a:p>
          <a:p>
            <a:pPr marL="268288" indent="-268288"/>
            <a:r>
              <a:rPr lang="en-US" altLang="en-US" sz="2200" dirty="0"/>
              <a:t>Adam Smith’s “invisible hand” allows </a:t>
            </a:r>
            <a:r>
              <a:rPr lang="en-US" altLang="en-US" sz="2200" i="1" dirty="0"/>
              <a:t>individuals acting in their own self-interest</a:t>
            </a:r>
            <a:r>
              <a:rPr lang="en-US" altLang="en-US" sz="2200" dirty="0"/>
              <a:t> to </a:t>
            </a:r>
            <a:r>
              <a:rPr lang="en-US" altLang="en-US" sz="2200" i="1" dirty="0"/>
              <a:t>collectively</a:t>
            </a:r>
            <a:r>
              <a:rPr lang="en-US" altLang="en-US" sz="2200" dirty="0"/>
              <a:t> end up satisfying the wants of consumers.</a:t>
            </a:r>
            <a:endParaRPr lang="en-US" sz="2200" dirty="0"/>
          </a:p>
        </p:txBody>
      </p:sp>
    </p:spTree>
    <p:extLst>
      <p:ext uri="{BB962C8B-B14F-4D97-AF65-F5344CB8AC3E}">
        <p14:creationId xmlns:p14="http://schemas.microsoft.com/office/powerpoint/2010/main" val="3570538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Things to Remember</a:t>
            </a:r>
          </a:p>
        </p:txBody>
      </p:sp>
      <p:sp>
        <p:nvSpPr>
          <p:cNvPr id="3" name="Content Placeholder 2"/>
          <p:cNvSpPr>
            <a:spLocks noGrp="1"/>
          </p:cNvSpPr>
          <p:nvPr>
            <p:ph idx="1"/>
          </p:nvPr>
        </p:nvSpPr>
        <p:spPr>
          <a:xfrm>
            <a:off x="457200" y="1500810"/>
            <a:ext cx="8229600" cy="4800600"/>
          </a:xfrm>
        </p:spPr>
        <p:txBody>
          <a:bodyPr/>
          <a:lstStyle/>
          <a:p>
            <a:pPr marL="268288" indent="-268288">
              <a:defRPr/>
            </a:pPr>
            <a:r>
              <a:rPr lang="en-US" sz="2300" dirty="0"/>
              <a:t>The production possibilities frontier should never bow inward (why?).</a:t>
            </a:r>
          </a:p>
          <a:p>
            <a:pPr marL="268288" indent="-268288">
              <a:spcBef>
                <a:spcPts val="1000"/>
              </a:spcBef>
              <a:defRPr/>
            </a:pPr>
            <a:r>
              <a:rPr lang="en-US" sz="2300" dirty="0"/>
              <a:t>The PPF tells us what </a:t>
            </a:r>
            <a:r>
              <a:rPr lang="en-US" sz="2300" i="1" dirty="0"/>
              <a:t>can</a:t>
            </a:r>
            <a:r>
              <a:rPr lang="en-US" sz="2300" dirty="0"/>
              <a:t> be produced, not what </a:t>
            </a:r>
            <a:r>
              <a:rPr lang="en-US" sz="2300" i="1" dirty="0"/>
              <a:t>should</a:t>
            </a:r>
            <a:r>
              <a:rPr lang="en-US" sz="2300" dirty="0"/>
              <a:t> be produced.</a:t>
            </a:r>
          </a:p>
          <a:p>
            <a:pPr marL="268288" indent="-268288">
              <a:spcBef>
                <a:spcPts val="1000"/>
              </a:spcBef>
              <a:defRPr/>
            </a:pPr>
            <a:r>
              <a:rPr lang="en-US" sz="2300" dirty="0"/>
              <a:t>Just because someone is better or worse at </a:t>
            </a:r>
            <a:r>
              <a:rPr lang="en-US" sz="2300" i="1" dirty="0"/>
              <a:t>everything</a:t>
            </a:r>
            <a:r>
              <a:rPr lang="en-US" sz="2300" dirty="0"/>
              <a:t>, doesn’t mean trade with them cannot be beneficial.</a:t>
            </a:r>
          </a:p>
          <a:p>
            <a:pPr marL="625475" lvl="1" indent="-168275">
              <a:spcBef>
                <a:spcPts val="1000"/>
              </a:spcBef>
            </a:pPr>
            <a:r>
              <a:rPr lang="en-US" sz="2200" i="1" dirty="0"/>
              <a:t>The basis for trade is comparative advantage, not absolute advantage!</a:t>
            </a:r>
          </a:p>
          <a:p>
            <a:pPr marL="268288" indent="-268288">
              <a:spcBef>
                <a:spcPts val="1000"/>
              </a:spcBef>
              <a:defRPr/>
            </a:pPr>
            <a:r>
              <a:rPr lang="en-US" sz="2300" dirty="0"/>
              <a:t>Free markets raise the standard of living; but that doesn’t mean there is no role for governments.</a:t>
            </a:r>
          </a:p>
          <a:p>
            <a:pPr marL="625475" lvl="1">
              <a:spcBef>
                <a:spcPts val="1000"/>
              </a:spcBef>
            </a:pPr>
            <a:r>
              <a:rPr lang="en-US" sz="2200" i="1" dirty="0"/>
              <a:t>Governments must provide a sound legal environment to allow the market system to succeed.</a:t>
            </a:r>
          </a:p>
        </p:txBody>
      </p:sp>
    </p:spTree>
    <p:extLst>
      <p:ext uri="{BB962C8B-B14F-4D97-AF65-F5344CB8AC3E}">
        <p14:creationId xmlns:p14="http://schemas.microsoft.com/office/powerpoint/2010/main" val="4175727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BE2AAD-6CC9-4100-8B6B-7A31EE5170E5}">
  <ds:schemaRefs>
    <ds:schemaRef ds:uri="http://schemas.microsoft.com/sharepoint/v3/contenttype/forms"/>
  </ds:schemaRefs>
</ds:datastoreItem>
</file>

<file path=customXml/itemProps2.xml><?xml version="1.0" encoding="utf-8"?>
<ds:datastoreItem xmlns:ds="http://schemas.openxmlformats.org/officeDocument/2006/customXml" ds:itemID="{440ED968-9256-4114-AF12-237294F6A362}">
  <ds:schemaRefs>
    <ds:schemaRef ds:uri="http://schemas.microsoft.com/office/2006/documentManagement/types"/>
    <ds:schemaRef ds:uri="http://purl.org/dc/elements/1.1/"/>
    <ds:schemaRef ds:uri="d445d462-2029-4cec-993f-47750f9ae382"/>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1859</TotalTime>
  <Words>1890</Words>
  <Application>Microsoft Macintosh PowerPoint</Application>
  <PresentationFormat>On-screen Show (4:3)</PresentationFormat>
  <Paragraphs>201</Paragraphs>
  <Slides>24</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Verdana</vt:lpstr>
      <vt:lpstr>Office Theme</vt:lpstr>
      <vt:lpstr>Macroeconomics ECON 101</vt:lpstr>
      <vt:lpstr>Chapter Outline</vt:lpstr>
      <vt:lpstr>Scarcity and Trade-offs</vt:lpstr>
      <vt:lpstr>Production Possibilities Frontiers and Opportunity Costs</vt:lpstr>
      <vt:lpstr>Figure 2.1 Tesla’s Production Possibilities Frontier (1 of 2)</vt:lpstr>
      <vt:lpstr>Figure 2.1 Tesla’s Production Possibilities Frontier (2 of 2)</vt:lpstr>
      <vt:lpstr>Figure 2.2 Increasing Marginal Opportunity Costs</vt:lpstr>
      <vt:lpstr>Figure 2.3 Economic Growth (Panel (a))</vt:lpstr>
      <vt:lpstr>Figure 2.3 Economic Growth (Panel (b))</vt:lpstr>
      <vt:lpstr>Comparative Advantage and Trade</vt:lpstr>
      <vt:lpstr>Figure 2.4 Production Possibilities for You and Your Neighbour, Without Trade (1 of 2)</vt:lpstr>
      <vt:lpstr>Specialization and Gains from Trade</vt:lpstr>
      <vt:lpstr>Figure 2.5 Gains from Trade (1 of 3)</vt:lpstr>
      <vt:lpstr>Figure 2.5 Gains from Trade (2 of 3)</vt:lpstr>
      <vt:lpstr>Figure 2.5 Gains from Trade (3 of 3)</vt:lpstr>
      <vt:lpstr>Table 2.1 A Summary of the Gains From Trade</vt:lpstr>
      <vt:lpstr>Explaining the Gains from Specialization and Trade</vt:lpstr>
      <vt:lpstr>Table 2.2 Opportunity Costs of Picking Apples and Cherries</vt:lpstr>
      <vt:lpstr>The Market System</vt:lpstr>
      <vt:lpstr>The Four Factors of Production</vt:lpstr>
      <vt:lpstr>Figure 2.6 The Circular-Flow Diagram (1 of 2)</vt:lpstr>
      <vt:lpstr>Figure 2.6 The Circular-Flow Diagram (2 of 2)</vt:lpstr>
      <vt:lpstr>The Gains from Free Markets</vt:lpstr>
      <vt:lpstr>Things to Remember</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1  Economics: Foundations and Models</dc:title>
  <dc:subject>Economics</dc:subject>
  <dc:creator>Hubbard, Patrick O’Brien, Serletis, Childs</dc:creator>
  <cp:lastModifiedBy>Muhebullah Karimzada</cp:lastModifiedBy>
  <cp:revision>5196</cp:revision>
  <dcterms:created xsi:type="dcterms:W3CDTF">2014-07-14T20:04:21Z</dcterms:created>
  <dcterms:modified xsi:type="dcterms:W3CDTF">2024-12-30T01:07:34Z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