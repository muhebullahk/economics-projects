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Lst>
  <p:notesMasterIdLst>
    <p:notesMasterId r:id="rId33"/>
  </p:notesMasterIdLst>
  <p:handoutMasterIdLst>
    <p:handoutMasterId r:id="rId34"/>
  </p:handoutMasterIdLst>
  <p:sldIdLst>
    <p:sldId id="1438" r:id="rId5"/>
    <p:sldId id="1403" r:id="rId6"/>
    <p:sldId id="1361" r:id="rId7"/>
    <p:sldId id="1448" r:id="rId8"/>
    <p:sldId id="1411" r:id="rId9"/>
    <p:sldId id="1449" r:id="rId10"/>
    <p:sldId id="1450" r:id="rId11"/>
    <p:sldId id="1451" r:id="rId12"/>
    <p:sldId id="1371" r:id="rId13"/>
    <p:sldId id="1454" r:id="rId14"/>
    <p:sldId id="1455" r:id="rId15"/>
    <p:sldId id="1456" r:id="rId16"/>
    <p:sldId id="1457" r:id="rId17"/>
    <p:sldId id="1458" r:id="rId18"/>
    <p:sldId id="1459" r:id="rId19"/>
    <p:sldId id="1460" r:id="rId20"/>
    <p:sldId id="1461" r:id="rId21"/>
    <p:sldId id="1462" r:id="rId22"/>
    <p:sldId id="1463" r:id="rId23"/>
    <p:sldId id="1464" r:id="rId24"/>
    <p:sldId id="1465" r:id="rId25"/>
    <p:sldId id="1474" r:id="rId26"/>
    <p:sldId id="1466" r:id="rId27"/>
    <p:sldId id="1475" r:id="rId28"/>
    <p:sldId id="1468" r:id="rId29"/>
    <p:sldId id="1469" r:id="rId30"/>
    <p:sldId id="1476" r:id="rId31"/>
    <p:sldId id="1477"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99" autoAdjust="0"/>
    <p:restoredTop sz="90704" autoAdjust="0"/>
  </p:normalViewPr>
  <p:slideViewPr>
    <p:cSldViewPr>
      <p:cViewPr varScale="1">
        <p:scale>
          <a:sx n="111" d="100"/>
          <a:sy n="111" d="100"/>
        </p:scale>
        <p:origin x="1840" y="208"/>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33" d="100"/>
        <a:sy n="33" d="100"/>
      </p:scale>
      <p:origin x="48" y="2502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0" d="100"/>
          <a:sy n="80" d="100"/>
        </p:scale>
        <p:origin x="-197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2/13/25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2/13/25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0846687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2/13/25</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sp>
        <p:nvSpPr>
          <p:cNvPr id="7" name="TextBox 6">
            <a:extLst>
              <a:ext uri="{FF2B5EF4-FFF2-40B4-BE49-F238E27FC236}">
                <a16:creationId xmlns:a16="http://schemas.microsoft.com/office/drawing/2014/main" id="{9EF05D14-E40B-8CFF-C1B7-11C2E828DEA2}"/>
              </a:ext>
            </a:extLst>
          </p:cNvPr>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8" name="Picture 7" descr="Pearson Logo">
            <a:extLst>
              <a:ext uri="{FF2B5EF4-FFF2-40B4-BE49-F238E27FC236}">
                <a16:creationId xmlns:a16="http://schemas.microsoft.com/office/drawing/2014/main" id="{A52C73E8-2CF8-765E-30B5-6C35ACB6C92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1087010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34278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211235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87106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440420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13143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pic>
        <p:nvPicPr>
          <p:cNvPr id="5" name="Picture 4" descr="Pearson Logo">
            <a:extLst>
              <a:ext uri="{FF2B5EF4-FFF2-40B4-BE49-F238E27FC236}">
                <a16:creationId xmlns:a16="http://schemas.microsoft.com/office/drawing/2014/main" id="{9114D452-8A52-FC0D-BD0A-D0DC6110278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6" name="TextBox 5">
            <a:extLst>
              <a:ext uri="{FF2B5EF4-FFF2-40B4-BE49-F238E27FC236}">
                <a16:creationId xmlns:a16="http://schemas.microsoft.com/office/drawing/2014/main" id="{C998A179-B53A-221F-DF04-8C36A917AAF8}"/>
              </a:ext>
            </a:extLst>
          </p:cNvPr>
          <p:cNvSpPr txBox="1"/>
          <p:nvPr userDrawn="1"/>
        </p:nvSpPr>
        <p:spPr>
          <a:xfrm>
            <a:off x="8015565" y="6417105"/>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6 -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1984529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471442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908612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5592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2/13/25</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51306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marL="569913" indent="-285750">
              <a:buClr>
                <a:srgbClr val="007FA3"/>
              </a:buClr>
              <a:defRPr sz="2400"/>
            </a:lvl2pPr>
            <a:lvl3pPr marL="982663" indent="-228600">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211059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1045030"/>
            <a:ext cx="8229600" cy="402770"/>
          </a:xfrm>
        </p:spPr>
        <p:txBody>
          <a:bodyPr>
            <a:noAutofit/>
          </a:bodyPr>
          <a:lstStyle>
            <a:lvl1pPr marL="0" indent="0">
              <a:spcBef>
                <a:spcPts val="0"/>
              </a:spcBef>
              <a:buNone/>
              <a:defRPr sz="24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2/13/25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665370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2/13/25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41266D3E-F585-632E-BFCF-8A9B45C51FD7}"/>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5" name="TextBox 4">
            <a:extLst>
              <a:ext uri="{FF2B5EF4-FFF2-40B4-BE49-F238E27FC236}">
                <a16:creationId xmlns:a16="http://schemas.microsoft.com/office/drawing/2014/main" id="{566F90A2-AEF8-FEE3-E7B3-0CF677447346}"/>
              </a:ext>
            </a:extLst>
          </p:cNvPr>
          <p:cNvSpPr txBox="1"/>
          <p:nvPr userDrawn="1"/>
        </p:nvSpPr>
        <p:spPr>
          <a:xfrm>
            <a:off x="8015565" y="6417105"/>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6 -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654935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390525" y="146685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561975" y="24288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47675" y="3352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15"/>
          </p:nvPr>
        </p:nvSpPr>
        <p:spPr>
          <a:xfrm>
            <a:off x="533400" y="4419600"/>
            <a:ext cx="81534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91282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3200400"/>
            <a:ext cx="8229600" cy="1295400"/>
          </a:xfrm>
        </p:spPr>
        <p:txBody>
          <a:bodyPr/>
          <a:lstStyle/>
          <a:p>
            <a:endParaRPr lang="en-IN"/>
          </a:p>
        </p:txBody>
      </p:sp>
    </p:spTree>
    <p:extLst>
      <p:ext uri="{BB962C8B-B14F-4D97-AF65-F5344CB8AC3E}">
        <p14:creationId xmlns:p14="http://schemas.microsoft.com/office/powerpoint/2010/main" val="1385964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7365103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419600"/>
            <a:ext cx="8229600" cy="990600"/>
          </a:xfrm>
        </p:spPr>
        <p:txBody>
          <a:bodyPr/>
          <a:lstStyle/>
          <a:p>
            <a:endParaRPr lang="en-IN"/>
          </a:p>
        </p:txBody>
      </p:sp>
    </p:spTree>
    <p:extLst>
      <p:ext uri="{BB962C8B-B14F-4D97-AF65-F5344CB8AC3E}">
        <p14:creationId xmlns:p14="http://schemas.microsoft.com/office/powerpoint/2010/main" val="29150375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4800" y="57149"/>
            <a:ext cx="7772400" cy="4762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7" name="Content Placeholder 6"/>
          <p:cNvSpPr>
            <a:spLocks noGrp="1"/>
          </p:cNvSpPr>
          <p:nvPr>
            <p:ph sz="quarter" idx="13"/>
          </p:nvPr>
        </p:nvSpPr>
        <p:spPr>
          <a:xfrm>
            <a:off x="609600" y="1524000"/>
            <a:ext cx="66294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p:cNvSpPr>
            <a:spLocks noGrp="1"/>
          </p:cNvSpPr>
          <p:nvPr>
            <p:ph sz="quarter" idx="14"/>
          </p:nvPr>
        </p:nvSpPr>
        <p:spPr>
          <a:xfrm>
            <a:off x="457200" y="838200"/>
            <a:ext cx="63246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Content Placeholder 11"/>
          <p:cNvSpPr>
            <a:spLocks noGrp="1"/>
          </p:cNvSpPr>
          <p:nvPr>
            <p:ph sz="quarter" idx="15"/>
          </p:nvPr>
        </p:nvSpPr>
        <p:spPr>
          <a:xfrm>
            <a:off x="838200" y="2895600"/>
            <a:ext cx="6172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p:cNvSpPr>
            <a:spLocks noGrp="1"/>
          </p:cNvSpPr>
          <p:nvPr>
            <p:ph sz="quarter" idx="16"/>
          </p:nvPr>
        </p:nvSpPr>
        <p:spPr>
          <a:xfrm>
            <a:off x="762000" y="4267200"/>
            <a:ext cx="56388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Picture Placeholder 15"/>
          <p:cNvSpPr>
            <a:spLocks noGrp="1"/>
          </p:cNvSpPr>
          <p:nvPr>
            <p:ph type="pic" sz="quarter" idx="17"/>
          </p:nvPr>
        </p:nvSpPr>
        <p:spPr>
          <a:xfrm>
            <a:off x="914400" y="5715000"/>
            <a:ext cx="6172200" cy="228600"/>
          </a:xfrm>
        </p:spPr>
        <p:txBody>
          <a:bodyPr/>
          <a:lstStyle/>
          <a:p>
            <a:endParaRPr lang="en-IN"/>
          </a:p>
        </p:txBody>
      </p:sp>
    </p:spTree>
    <p:extLst>
      <p:ext uri="{BB962C8B-B14F-4D97-AF65-F5344CB8AC3E}">
        <p14:creationId xmlns:p14="http://schemas.microsoft.com/office/powerpoint/2010/main" val="27677039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2/13/25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2/13/25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2/13/25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2/13/25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Content Placeholder 3"/>
          <p:cNvSpPr>
            <a:spLocks noGrp="1"/>
          </p:cNvSpPr>
          <p:nvPr>
            <p:ph sz="quarter" idx="13"/>
          </p:nvPr>
        </p:nvSpPr>
        <p:spPr>
          <a:xfrm>
            <a:off x="762000" y="1752600"/>
            <a:ext cx="6705600" cy="68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4"/>
          </p:nvPr>
        </p:nvSpPr>
        <p:spPr>
          <a:xfrm>
            <a:off x="1143000" y="3352800"/>
            <a:ext cx="6781800" cy="68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Picture Placeholder 10"/>
          <p:cNvSpPr>
            <a:spLocks noGrp="1"/>
          </p:cNvSpPr>
          <p:nvPr>
            <p:ph type="pic" sz="quarter" idx="15"/>
          </p:nvPr>
        </p:nvSpPr>
        <p:spPr>
          <a:xfrm>
            <a:off x="1066800" y="5029200"/>
            <a:ext cx="6400800" cy="914400"/>
          </a:xfrm>
        </p:spPr>
        <p:txBody>
          <a:bodyPr/>
          <a:lstStyle/>
          <a:p>
            <a:endParaRPr lang="en-IN"/>
          </a:p>
        </p:txBody>
      </p:sp>
    </p:spTree>
    <p:extLst>
      <p:ext uri="{BB962C8B-B14F-4D97-AF65-F5344CB8AC3E}">
        <p14:creationId xmlns:p14="http://schemas.microsoft.com/office/powerpoint/2010/main" val="18551265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2/13/25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8F54DE57-CF50-CC29-5430-AC227A5941E7}"/>
              </a:ext>
            </a:extLst>
          </p:cNvPr>
          <p:cNvSpPr txBox="1"/>
          <p:nvPr userDrawn="1"/>
        </p:nvSpPr>
        <p:spPr>
          <a:xfrm>
            <a:off x="8015565" y="6417105"/>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6 -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2/13/25</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77773A5F-F1AE-1173-F0F9-9A4E159736F9}"/>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15E0BEE0-B01E-3750-34E6-1F552AB7BB4F}"/>
              </a:ext>
            </a:extLst>
          </p:cNvPr>
          <p:cNvSpPr txBox="1"/>
          <p:nvPr userDrawn="1"/>
        </p:nvSpPr>
        <p:spPr>
          <a:xfrm>
            <a:off x="8015565" y="6417105"/>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6 -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F63802CC-2030-90AD-1B9C-898873329FC9}"/>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2837901879"/>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657" r:id="rId20"/>
    <p:sldLayoutId id="2147483650" r:id="rId21"/>
    <p:sldLayoutId id="2147483660" r:id="rId22"/>
    <p:sldLayoutId id="2147483662" r:id="rId23"/>
    <p:sldLayoutId id="2147483663" r:id="rId24"/>
    <p:sldLayoutId id="2147483654" r:id="rId25"/>
    <p:sldLayoutId id="2147483655" r:id="rId2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IN" sz="2400" dirty="0"/>
              <a:t>Economic Growth, the Financial System, and Business Cycles</a:t>
            </a:r>
          </a:p>
          <a:p>
            <a:r>
              <a:rPr lang="en-US" dirty="0"/>
              <a:t>(Chapter 6)</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sz="3600" dirty="0">
                <a:latin typeface="+mj-lt"/>
              </a:rPr>
              <a:t>Chapter Outline</a:t>
            </a:r>
            <a:endParaRPr lang="en-US" sz="2800" dirty="0">
              <a:latin typeface="+mj-lt"/>
            </a:endParaRPr>
          </a:p>
        </p:txBody>
      </p:sp>
      <p:sp>
        <p:nvSpPr>
          <p:cNvPr id="3" name="Content Placeholder 2"/>
          <p:cNvSpPr>
            <a:spLocks noGrp="1"/>
          </p:cNvSpPr>
          <p:nvPr>
            <p:ph idx="1"/>
          </p:nvPr>
        </p:nvSpPr>
        <p:spPr/>
        <p:txBody>
          <a:bodyPr wrap="square">
            <a:noAutofit/>
          </a:bodyPr>
          <a:lstStyle/>
          <a:p>
            <a:pPr marL="542925" indent="-542925">
              <a:buNone/>
            </a:pPr>
            <a:r>
              <a:rPr lang="en-IN" sz="2400" b="1" dirty="0"/>
              <a:t>6.1	</a:t>
            </a:r>
            <a:r>
              <a:rPr lang="en-IN" sz="2400" dirty="0"/>
              <a:t>Long-Run Economic Growth </a:t>
            </a:r>
          </a:p>
          <a:p>
            <a:pPr marL="542925" indent="-542925">
              <a:buNone/>
            </a:pPr>
            <a:r>
              <a:rPr lang="en-IN" sz="2400" b="1" dirty="0"/>
              <a:t>6.2	</a:t>
            </a:r>
            <a:r>
              <a:rPr lang="en-IN" sz="2400" dirty="0"/>
              <a:t>Saving, Investment, and the Financial System</a:t>
            </a:r>
          </a:p>
          <a:p>
            <a:pPr marL="542925" indent="-542925">
              <a:buNone/>
            </a:pPr>
            <a:r>
              <a:rPr lang="en-IN" sz="2400" b="1" dirty="0"/>
              <a:t>6.3	</a:t>
            </a:r>
            <a:r>
              <a:rPr lang="en-IN" sz="2400" dirty="0"/>
              <a:t>The Business Cycle</a:t>
            </a:r>
          </a:p>
        </p:txBody>
      </p:sp>
    </p:spTree>
    <p:extLst>
      <p:ext uri="{BB962C8B-B14F-4D97-AF65-F5344CB8AC3E}">
        <p14:creationId xmlns:p14="http://schemas.microsoft.com/office/powerpoint/2010/main" val="103747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77258"/>
          </a:xfrm>
        </p:spPr>
        <p:txBody>
          <a:bodyPr/>
          <a:lstStyle/>
          <a:p>
            <a:r>
              <a:rPr lang="en-IN" dirty="0">
                <a:latin typeface="+mj-lt"/>
              </a:rPr>
              <a:t>Long-Run Economic Growth </a:t>
            </a:r>
            <a:endParaRPr lang="en-US" dirty="0">
              <a:latin typeface="+mj-lt"/>
            </a:endParaRPr>
          </a:p>
        </p:txBody>
      </p:sp>
      <p:sp>
        <p:nvSpPr>
          <p:cNvPr id="5" name="Text Placeholder 4">
            <a:extLst>
              <a:ext uri="{FF2B5EF4-FFF2-40B4-BE49-F238E27FC236}">
                <a16:creationId xmlns:a16="http://schemas.microsoft.com/office/drawing/2014/main" id="{1C70A27F-BBD6-1F48-F462-7172ADF2CBCB}"/>
              </a:ext>
            </a:extLst>
          </p:cNvPr>
          <p:cNvSpPr>
            <a:spLocks noGrp="1"/>
          </p:cNvSpPr>
          <p:nvPr>
            <p:ph type="body" sz="quarter" idx="13"/>
          </p:nvPr>
        </p:nvSpPr>
        <p:spPr/>
        <p:txBody>
          <a:bodyPr/>
          <a:lstStyle/>
          <a:p>
            <a:r>
              <a:rPr lang="en-US" sz="2400" b="1" dirty="0">
                <a:solidFill>
                  <a:schemeClr val="tx1"/>
                </a:solidFill>
              </a:rPr>
              <a:t>6.1 Learning Objective</a:t>
            </a:r>
          </a:p>
        </p:txBody>
      </p:sp>
      <p:sp>
        <p:nvSpPr>
          <p:cNvPr id="3" name="Subtitle 2"/>
          <p:cNvSpPr>
            <a:spLocks noGrp="1"/>
          </p:cNvSpPr>
          <p:nvPr>
            <p:ph sz="quarter" idx="14"/>
          </p:nvPr>
        </p:nvSpPr>
        <p:spPr/>
        <p:txBody>
          <a:bodyPr>
            <a:noAutofit/>
          </a:bodyPr>
          <a:lstStyle/>
          <a:p>
            <a:pPr marL="0" indent="0">
              <a:spcBef>
                <a:spcPts val="1000"/>
              </a:spcBef>
              <a:buSzPts val="2200"/>
              <a:buFont typeface="Arial" panose="020B0604020202020204" pitchFamily="34" charset="0"/>
              <a:buNone/>
            </a:pPr>
            <a:r>
              <a:rPr lang="en-US" sz="2400" dirty="0"/>
              <a:t>When we speak of </a:t>
            </a:r>
            <a:r>
              <a:rPr lang="en-US" sz="2400" b="1" dirty="0"/>
              <a:t>long-run economic growth,</a:t>
            </a:r>
            <a:r>
              <a:rPr lang="en-US" sz="2400" dirty="0"/>
              <a:t> we mean the process by which rising productivity increases the average standard of living.</a:t>
            </a:r>
          </a:p>
          <a:p>
            <a:pPr marL="255600">
              <a:spcBef>
                <a:spcPts val="1000"/>
              </a:spcBef>
            </a:pPr>
            <a:r>
              <a:rPr lang="en-US" sz="2400" dirty="0"/>
              <a:t>This is in contrast to the short run swings in the economy inherent to the </a:t>
            </a:r>
            <a:r>
              <a:rPr lang="en-US" sz="2400" b="1" dirty="0"/>
              <a:t>business cycle,</a:t>
            </a:r>
            <a:r>
              <a:rPr lang="en-US" sz="2400" dirty="0"/>
              <a:t> the alternating periods of economic expansion and economic recession.</a:t>
            </a:r>
          </a:p>
          <a:p>
            <a:pPr marL="0" indent="0">
              <a:spcBef>
                <a:spcPts val="1000"/>
              </a:spcBef>
              <a:buNone/>
            </a:pPr>
            <a:r>
              <a:rPr lang="en-US" sz="2400" dirty="0"/>
              <a:t>The most commonly used measure of this average standard of living is </a:t>
            </a:r>
            <a:r>
              <a:rPr lang="en-US" sz="2400" b="1" dirty="0"/>
              <a:t>real GDP per capita:</a:t>
            </a:r>
            <a:r>
              <a:rPr lang="en-US" sz="2400" dirty="0"/>
              <a:t> The amount of production in the economy, </a:t>
            </a:r>
            <a:r>
              <a:rPr lang="en-US" sz="2400" b="1" dirty="0"/>
              <a:t>per person,</a:t>
            </a:r>
            <a:r>
              <a:rPr lang="en-US" sz="2400" dirty="0"/>
              <a:t> adjusted for changes in the price level.</a:t>
            </a:r>
          </a:p>
        </p:txBody>
      </p:sp>
    </p:spTree>
    <p:extLst>
      <p:ext uri="{BB962C8B-B14F-4D97-AF65-F5344CB8AC3E}">
        <p14:creationId xmlns:p14="http://schemas.microsoft.com/office/powerpoint/2010/main" val="3355417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621A2E1-D12B-78D3-5D97-A69F340C6CD6}"/>
              </a:ext>
            </a:extLst>
          </p:cNvPr>
          <p:cNvSpPr>
            <a:spLocks noGrp="1"/>
          </p:cNvSpPr>
          <p:nvPr>
            <p:ph type="title"/>
          </p:nvPr>
        </p:nvSpPr>
        <p:spPr>
          <a:xfrm>
            <a:off x="457200" y="228600"/>
            <a:ext cx="8229600" cy="609600"/>
          </a:xfrm>
        </p:spPr>
        <p:txBody>
          <a:bodyPr/>
          <a:lstStyle/>
          <a:p>
            <a:r>
              <a:rPr lang="en-US" sz="3200" dirty="0">
                <a:solidFill>
                  <a:schemeClr val="tx1"/>
                </a:solidFill>
                <a:latin typeface="+mj-lt"/>
              </a:rPr>
              <a:t>Figure 6.1 Real GDP per Capita, 1961–2021</a:t>
            </a:r>
            <a:endParaRPr lang="en-IN" sz="3200" dirty="0">
              <a:solidFill>
                <a:schemeClr val="tx1"/>
              </a:solidFill>
              <a:latin typeface="+mj-lt"/>
            </a:endParaRPr>
          </a:p>
        </p:txBody>
      </p:sp>
      <p:sp>
        <p:nvSpPr>
          <p:cNvPr id="4" name="Content Placeholder 3"/>
          <p:cNvSpPr>
            <a:spLocks noGrp="1"/>
          </p:cNvSpPr>
          <p:nvPr>
            <p:ph type="body" sz="quarter" idx="13"/>
          </p:nvPr>
        </p:nvSpPr>
        <p:spPr/>
        <p:txBody>
          <a:bodyPr>
            <a:noAutofit/>
          </a:bodyPr>
          <a:lstStyle/>
          <a:p>
            <a:pPr marL="0" indent="0">
              <a:buNone/>
            </a:pPr>
            <a:r>
              <a:rPr lang="en-IN" sz="2000" dirty="0"/>
              <a:t>Measured in 2012 dollars, real GDP per capita has risen more than 3 fold since 1961; the average Canadian can buy almost three times as many goods and services in 2021 as the average Canadian could in 1961.</a:t>
            </a:r>
          </a:p>
        </p:txBody>
      </p:sp>
      <p:sp>
        <p:nvSpPr>
          <p:cNvPr id="3" name="TextBox 2">
            <a:extLst>
              <a:ext uri="{FF2B5EF4-FFF2-40B4-BE49-F238E27FC236}">
                <a16:creationId xmlns:a16="http://schemas.microsoft.com/office/drawing/2014/main" id="{88B6B31A-92CD-376F-C6F6-CB12D455C953}"/>
              </a:ext>
            </a:extLst>
          </p:cNvPr>
          <p:cNvSpPr txBox="1"/>
          <p:nvPr/>
        </p:nvSpPr>
        <p:spPr>
          <a:xfrm>
            <a:off x="914400" y="4832816"/>
            <a:ext cx="7315200" cy="461665"/>
          </a:xfrm>
          <a:prstGeom prst="rect">
            <a:avLst/>
          </a:prstGeom>
          <a:noFill/>
        </p:spPr>
        <p:txBody>
          <a:bodyPr wrap="square">
            <a:spAutoFit/>
          </a:bodyPr>
          <a:lstStyle/>
          <a:p>
            <a:pPr algn="l"/>
            <a:r>
              <a:rPr lang="en-US" sz="1200" b="1" i="0" u="none" strike="noStrike" baseline="0" dirty="0">
                <a:latin typeface="+mj-lt"/>
              </a:rPr>
              <a:t>SOURCES: </a:t>
            </a:r>
            <a:r>
              <a:rPr lang="en-US" sz="1200" i="0" u="none" strike="noStrike" baseline="0" dirty="0">
                <a:latin typeface="+mj-lt"/>
              </a:rPr>
              <a:t>Statistics Canada, “Population Estimates, Quarterly,” Table 17-10-0009-01; and “Vintages of Releases of Gross Domestic Product, Expenditure Based (×1,000,000),” Table 36-10-0431-01.</a:t>
            </a:r>
            <a:endParaRPr lang="en-US" sz="1200" dirty="0">
              <a:latin typeface="+mj-lt"/>
            </a:endParaRPr>
          </a:p>
        </p:txBody>
      </p:sp>
      <p:pic>
        <p:nvPicPr>
          <p:cNvPr id="5" name="Picture 4" descr="The vertical axis represents real G D P per capita measured in 2012 dollars ranging from 0 to 60,000 in increments of 10,000 dollars. The horizontal axis represents the years ranging from 1960 to 2020 in increments of 5 years. The curve passes through (1965, 20,000), (1970, 25,000), (1975, 30,000), (1980, 35,000), (1990, 40,000), (1985, 40,000), (1990, 35,000), (1995, 35,000), (2000, 45,000), (2005, 50,000), (2010, 45,000), (2015, 45,000), and (2020, 50,000). All values are estimated.">
            <a:extLst>
              <a:ext uri="{FF2B5EF4-FFF2-40B4-BE49-F238E27FC236}">
                <a16:creationId xmlns:a16="http://schemas.microsoft.com/office/drawing/2014/main" id="{ED2A9052-4892-B72E-D067-3C5CC729B0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6836" y="1012232"/>
            <a:ext cx="4910328" cy="3746905"/>
          </a:xfrm>
          <a:prstGeom prst="rect">
            <a:avLst/>
          </a:prstGeom>
        </p:spPr>
      </p:pic>
    </p:spTree>
    <p:extLst>
      <p:ext uri="{BB962C8B-B14F-4D97-AF65-F5344CB8AC3E}">
        <p14:creationId xmlns:p14="http://schemas.microsoft.com/office/powerpoint/2010/main" val="609719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6560"/>
            <a:ext cx="8229600" cy="1046440"/>
          </a:xfrm>
        </p:spPr>
        <p:txBody>
          <a:bodyPr>
            <a:noAutofit/>
          </a:bodyPr>
          <a:lstStyle/>
          <a:p>
            <a:r>
              <a:rPr lang="en-IN" dirty="0">
                <a:latin typeface="+mj-lt"/>
              </a:rPr>
              <a:t>Calculating Growth Rates and the Rule of 70</a:t>
            </a:r>
            <a:endParaRPr lang="en-US" dirty="0">
              <a:latin typeface="+mj-lt"/>
            </a:endParaRPr>
          </a:p>
        </p:txBody>
      </p:sp>
      <p:sp>
        <p:nvSpPr>
          <p:cNvPr id="6" name="Content Placeholder 5"/>
          <p:cNvSpPr>
            <a:spLocks noGrp="1"/>
          </p:cNvSpPr>
          <p:nvPr>
            <p:ph idx="1"/>
          </p:nvPr>
        </p:nvSpPr>
        <p:spPr>
          <a:xfrm>
            <a:off x="457200" y="1419225"/>
            <a:ext cx="8229600" cy="615553"/>
          </a:xfrm>
        </p:spPr>
        <p:txBody>
          <a:bodyPr>
            <a:noAutofit/>
          </a:bodyPr>
          <a:lstStyle/>
          <a:p>
            <a:pPr marL="0" indent="0">
              <a:buNone/>
            </a:pPr>
            <a:r>
              <a:rPr lang="en-IN" sz="2000" dirty="0"/>
              <a:t>The growth rate of an economic variable like real GDP or real GDP per capita is equal to the percentage change from the previous year.</a:t>
            </a:r>
          </a:p>
        </p:txBody>
      </p:sp>
      <p:sp>
        <p:nvSpPr>
          <p:cNvPr id="3" name="Content Placeholder 2"/>
          <p:cNvSpPr>
            <a:spLocks noGrp="1"/>
          </p:cNvSpPr>
          <p:nvPr>
            <p:ph idx="13"/>
          </p:nvPr>
        </p:nvSpPr>
        <p:spPr>
          <a:xfrm>
            <a:off x="476250" y="3505200"/>
            <a:ext cx="8153400" cy="609600"/>
          </a:xfrm>
        </p:spPr>
        <p:txBody>
          <a:bodyPr>
            <a:noAutofit/>
          </a:bodyPr>
          <a:lstStyle/>
          <a:p>
            <a:pPr marL="0" indent="0">
              <a:buNone/>
            </a:pPr>
            <a:r>
              <a:rPr lang="en-IN" sz="2000" dirty="0"/>
              <a:t>Over periods of a few years, we can average the growth rates to find the approximate annual rate of growth:</a:t>
            </a:r>
          </a:p>
        </p:txBody>
      </p:sp>
      <p:graphicFrame>
        <p:nvGraphicFramePr>
          <p:cNvPr id="2" name="Table 1"/>
          <p:cNvGraphicFramePr>
            <a:graphicFrameLocks noGrp="1"/>
          </p:cNvGraphicFramePr>
          <p:nvPr>
            <p:extLst>
              <p:ext uri="{D42A27DB-BD31-4B8C-83A1-F6EECF244321}">
                <p14:modId xmlns:p14="http://schemas.microsoft.com/office/powerpoint/2010/main" val="3936403071"/>
              </p:ext>
            </p:extLst>
          </p:nvPr>
        </p:nvGraphicFramePr>
        <p:xfrm>
          <a:off x="929640" y="2286000"/>
          <a:ext cx="2346960" cy="1112520"/>
        </p:xfrm>
        <a:graphic>
          <a:graphicData uri="http://schemas.openxmlformats.org/drawingml/2006/table">
            <a:tbl>
              <a:tblPr firstRow="1" bandRow="1">
                <a:tableStyleId>{2D5ABB26-0587-4C30-8999-92F81FD0307C}</a:tableStyleId>
              </a:tblPr>
              <a:tblGrid>
                <a:gridCol w="754380">
                  <a:extLst>
                    <a:ext uri="{9D8B030D-6E8A-4147-A177-3AD203B41FA5}">
                      <a16:colId xmlns:a16="http://schemas.microsoft.com/office/drawing/2014/main" val="20000"/>
                    </a:ext>
                  </a:extLst>
                </a:gridCol>
                <a:gridCol w="1592580">
                  <a:extLst>
                    <a:ext uri="{9D8B030D-6E8A-4147-A177-3AD203B41FA5}">
                      <a16:colId xmlns:a16="http://schemas.microsoft.com/office/drawing/2014/main" val="20001"/>
                    </a:ext>
                  </a:extLst>
                </a:gridCol>
              </a:tblGrid>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u="none" strike="noStrike" kern="1200" cap="none" normalizeH="0" baseline="0" dirty="0">
                          <a:ln>
                            <a:noFill/>
                          </a:ln>
                          <a:solidFill>
                            <a:srgbClr val="007FA3"/>
                          </a:solidFill>
                          <a:effectLst/>
                          <a:latin typeface="+mn-lt"/>
                          <a:ea typeface="+mn-ea"/>
                          <a:cs typeface="+mn-cs"/>
                        </a:rPr>
                        <a:t>Year</a:t>
                      </a:r>
                    </a:p>
                  </a:txBody>
                  <a:tcPr anchor="ctr" horzOverflow="overflow">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u="none" strike="noStrike" kern="1200" cap="none" normalizeH="0" baseline="0" dirty="0">
                          <a:ln>
                            <a:noFill/>
                          </a:ln>
                          <a:solidFill>
                            <a:srgbClr val="007FA3"/>
                          </a:solidFill>
                          <a:effectLst/>
                          <a:latin typeface="+mn-lt"/>
                          <a:ea typeface="+mn-ea"/>
                          <a:cs typeface="+mn-cs"/>
                        </a:rPr>
                        <a:t>Real GDP</a:t>
                      </a:r>
                    </a:p>
                  </a:txBody>
                  <a:tcPr anchor="b" horzOverflow="overflow">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2020</a:t>
                      </a:r>
                    </a:p>
                  </a:txBody>
                  <a:tcPr anchor="ctr" horzOverflow="overflow">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$2058 billion</a:t>
                      </a:r>
                    </a:p>
                  </a:txBody>
                  <a:tcPr anchor="ctr" horzOverflow="overflow">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2021</a:t>
                      </a: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$2125 billion</a:t>
                      </a:r>
                    </a:p>
                  </a:txBody>
                  <a:tcPr anchor="ctr" horzOverflow="overflow"/>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40298894"/>
              </p:ext>
            </p:extLst>
          </p:nvPr>
        </p:nvGraphicFramePr>
        <p:xfrm>
          <a:off x="815276" y="4460240"/>
          <a:ext cx="3070924" cy="1483360"/>
        </p:xfrm>
        <a:graphic>
          <a:graphicData uri="http://schemas.openxmlformats.org/drawingml/2006/table">
            <a:tbl>
              <a:tblPr firstRow="1" bandRow="1">
                <a:tableStyleId>{2D5ABB26-0587-4C30-8999-92F81FD0307C}</a:tableStyleId>
              </a:tblPr>
              <a:tblGrid>
                <a:gridCol w="729044">
                  <a:extLst>
                    <a:ext uri="{9D8B030D-6E8A-4147-A177-3AD203B41FA5}">
                      <a16:colId xmlns:a16="http://schemas.microsoft.com/office/drawing/2014/main" val="20000"/>
                    </a:ext>
                  </a:extLst>
                </a:gridCol>
                <a:gridCol w="2341880">
                  <a:extLst>
                    <a:ext uri="{9D8B030D-6E8A-4147-A177-3AD203B41FA5}">
                      <a16:colId xmlns:a16="http://schemas.microsoft.com/office/drawing/2014/main" val="20001"/>
                    </a:ext>
                  </a:extLst>
                </a:gridCol>
              </a:tblGrid>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u="none" strike="noStrike" kern="1200" cap="none" normalizeH="0" baseline="0" dirty="0">
                          <a:ln>
                            <a:noFill/>
                          </a:ln>
                          <a:solidFill>
                            <a:srgbClr val="007FA3"/>
                          </a:solidFill>
                          <a:effectLst/>
                          <a:latin typeface="+mn-lt"/>
                          <a:ea typeface="+mn-ea"/>
                          <a:cs typeface="+mn-cs"/>
                        </a:rPr>
                        <a:t>Year</a:t>
                      </a:r>
                    </a:p>
                  </a:txBody>
                  <a:tcPr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u="none" strike="noStrike" kern="1200" cap="none" normalizeH="0" baseline="0" dirty="0">
                          <a:ln>
                            <a:noFill/>
                          </a:ln>
                          <a:solidFill>
                            <a:srgbClr val="007FA3"/>
                          </a:solidFill>
                          <a:effectLst/>
                          <a:latin typeface="+mn-lt"/>
                          <a:ea typeface="+mn-ea"/>
                          <a:cs typeface="+mn-cs"/>
                        </a:rPr>
                        <a:t>Growth in real GDP</a:t>
                      </a:r>
                    </a:p>
                  </a:txBody>
                  <a:tcPr anchor="b"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2019</a:t>
                      </a: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1.7%</a:t>
                      </a:r>
                    </a:p>
                  </a:txBody>
                  <a:tcPr anchor="ct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2020</a:t>
                      </a: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−3.1%</a:t>
                      </a:r>
                    </a:p>
                  </a:txBody>
                  <a:tcPr anchor="ct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2021</a:t>
                      </a: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3.3%</a:t>
                      </a:r>
                    </a:p>
                  </a:txBody>
                  <a:tcPr anchor="ctr" horzOverflow="overflow"/>
                </a:tc>
                <a:extLst>
                  <a:ext uri="{0D108BD9-81ED-4DB2-BD59-A6C34878D82A}">
                    <a16:rowId xmlns:a16="http://schemas.microsoft.com/office/drawing/2014/main" val="10003"/>
                  </a:ext>
                </a:extLst>
              </a:tr>
            </a:tbl>
          </a:graphicData>
        </a:graphic>
      </p:graphicFrame>
      <p:graphicFrame>
        <p:nvGraphicFramePr>
          <p:cNvPr id="10" name="Object 9">
            <a:extLst>
              <a:ext uri="{FF2B5EF4-FFF2-40B4-BE49-F238E27FC236}">
                <a16:creationId xmlns:a16="http://schemas.microsoft.com/office/drawing/2014/main" id="{6729A4A0-FB16-E0D6-C70D-79A600C73C70}"/>
              </a:ext>
            </a:extLst>
          </p:cNvPr>
          <p:cNvGraphicFramePr>
            <a:graphicFrameLocks noChangeAspect="1"/>
          </p:cNvGraphicFramePr>
          <p:nvPr>
            <p:extLst>
              <p:ext uri="{D42A27DB-BD31-4B8C-83A1-F6EECF244321}">
                <p14:modId xmlns:p14="http://schemas.microsoft.com/office/powerpoint/2010/main" val="438403953"/>
              </p:ext>
            </p:extLst>
          </p:nvPr>
        </p:nvGraphicFramePr>
        <p:xfrm>
          <a:off x="3657600" y="2279507"/>
          <a:ext cx="4784399" cy="714682"/>
        </p:xfrm>
        <a:graphic>
          <a:graphicData uri="http://schemas.openxmlformats.org/presentationml/2006/ole">
            <mc:AlternateContent xmlns:mc="http://schemas.openxmlformats.org/markup-compatibility/2006">
              <mc:Choice xmlns:v="urn:schemas-microsoft-com:vml" Requires="v">
                <p:oleObj name="Equation" r:id="rId3" imgW="3060360" imgH="457200" progId="Equation.DSMT4">
                  <p:embed/>
                </p:oleObj>
              </mc:Choice>
              <mc:Fallback>
                <p:oleObj name="Equation" r:id="rId3" imgW="3060360" imgH="457200" progId="Equation.DSMT4">
                  <p:embed/>
                  <p:pic>
                    <p:nvPicPr>
                      <p:cNvPr id="0" name=""/>
                      <p:cNvPicPr/>
                      <p:nvPr/>
                    </p:nvPicPr>
                    <p:blipFill>
                      <a:blip r:embed="rId4"/>
                      <a:stretch>
                        <a:fillRect/>
                      </a:stretch>
                    </p:blipFill>
                    <p:spPr>
                      <a:xfrm>
                        <a:off x="3657600" y="2279507"/>
                        <a:ext cx="4784399" cy="714682"/>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C0CFD93-B805-A1C0-B9A8-7204514BA4F6}"/>
              </a:ext>
            </a:extLst>
          </p:cNvPr>
          <p:cNvGraphicFramePr>
            <a:graphicFrameLocks noChangeAspect="1"/>
          </p:cNvGraphicFramePr>
          <p:nvPr>
            <p:extLst>
              <p:ext uri="{D42A27DB-BD31-4B8C-83A1-F6EECF244321}">
                <p14:modId xmlns:p14="http://schemas.microsoft.com/office/powerpoint/2010/main" val="1619219061"/>
              </p:ext>
            </p:extLst>
          </p:nvPr>
        </p:nvGraphicFramePr>
        <p:xfrm>
          <a:off x="4953000" y="4629711"/>
          <a:ext cx="2547937" cy="500208"/>
        </p:xfrm>
        <a:graphic>
          <a:graphicData uri="http://schemas.openxmlformats.org/presentationml/2006/ole">
            <mc:AlternateContent xmlns:mc="http://schemas.openxmlformats.org/markup-compatibility/2006">
              <mc:Choice xmlns:v="urn:schemas-microsoft-com:vml" Requires="v">
                <p:oleObj name="Equation" r:id="rId5" imgW="2070000" imgH="406080" progId="Equation.DSMT4">
                  <p:embed/>
                </p:oleObj>
              </mc:Choice>
              <mc:Fallback>
                <p:oleObj name="Equation" r:id="rId5" imgW="2070000" imgH="406080" progId="Equation.DSMT4">
                  <p:embed/>
                  <p:pic>
                    <p:nvPicPr>
                      <p:cNvPr id="0" name=""/>
                      <p:cNvPicPr/>
                      <p:nvPr/>
                    </p:nvPicPr>
                    <p:blipFill>
                      <a:blip r:embed="rId6"/>
                      <a:stretch>
                        <a:fillRect/>
                      </a:stretch>
                    </p:blipFill>
                    <p:spPr>
                      <a:xfrm>
                        <a:off x="4953000" y="4629711"/>
                        <a:ext cx="2547937" cy="500208"/>
                      </a:xfrm>
                      <a:prstGeom prst="rect">
                        <a:avLst/>
                      </a:prstGeom>
                    </p:spPr>
                  </p:pic>
                </p:oleObj>
              </mc:Fallback>
            </mc:AlternateContent>
          </a:graphicData>
        </a:graphic>
      </p:graphicFrame>
    </p:spTree>
    <p:extLst>
      <p:ext uri="{BB962C8B-B14F-4D97-AF65-F5344CB8AC3E}">
        <p14:creationId xmlns:p14="http://schemas.microsoft.com/office/powerpoint/2010/main" val="3292088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6674"/>
            <a:ext cx="8229600" cy="1005204"/>
          </a:xfrm>
        </p:spPr>
        <p:txBody>
          <a:bodyPr>
            <a:noAutofit/>
          </a:bodyPr>
          <a:lstStyle/>
          <a:p>
            <a:r>
              <a:rPr lang="en-IN" dirty="0">
                <a:latin typeface="+mj-lt"/>
              </a:rPr>
              <a:t>Growth Rates over Longer Periods</a:t>
            </a:r>
            <a:endParaRPr lang="en-US" dirty="0">
              <a:latin typeface="+mj-lt"/>
            </a:endParaRPr>
          </a:p>
        </p:txBody>
      </p:sp>
      <p:sp>
        <p:nvSpPr>
          <p:cNvPr id="6" name="Content Placeholder 5"/>
          <p:cNvSpPr>
            <a:spLocks noGrp="1"/>
          </p:cNvSpPr>
          <p:nvPr>
            <p:ph idx="1"/>
          </p:nvPr>
        </p:nvSpPr>
        <p:spPr>
          <a:xfrm>
            <a:off x="438150" y="1158239"/>
            <a:ext cx="8229600" cy="3181350"/>
          </a:xfrm>
        </p:spPr>
        <p:txBody>
          <a:bodyPr>
            <a:noAutofit/>
          </a:bodyPr>
          <a:lstStyle/>
          <a:p>
            <a:pPr marL="0" indent="0">
              <a:spcBef>
                <a:spcPts val="0"/>
              </a:spcBef>
              <a:spcAft>
                <a:spcPts val="1200"/>
              </a:spcAft>
              <a:buNone/>
            </a:pPr>
            <a:r>
              <a:rPr lang="en-US" sz="2200" dirty="0"/>
              <a:t>For longer time periods, we do not calculate each of the annual growth rates and then take an average in order to find the average annual growth rate; instead we solve for the growth rate g, where:</a:t>
            </a:r>
          </a:p>
          <a:p>
            <a:pPr marL="0" indent="0">
              <a:spcBef>
                <a:spcPts val="0"/>
              </a:spcBef>
              <a:spcAft>
                <a:spcPts val="1200"/>
              </a:spcAft>
              <a:buNone/>
            </a:pPr>
            <a:r>
              <a:rPr lang="en-US" sz="2200" dirty="0"/>
              <a:t>	</a:t>
            </a:r>
            <a:r>
              <a:rPr lang="en-US" sz="2200" i="1" dirty="0"/>
              <a:t>Previous real GDP </a:t>
            </a:r>
            <a:r>
              <a:rPr lang="en-US" sz="2200" dirty="0"/>
              <a:t>× (1+</a:t>
            </a:r>
            <a:r>
              <a:rPr lang="en-US" sz="2200" i="1" dirty="0"/>
              <a:t>g</a:t>
            </a:r>
            <a:r>
              <a:rPr lang="en-US" sz="2200" dirty="0"/>
              <a:t>)</a:t>
            </a:r>
            <a:r>
              <a:rPr lang="en-US" sz="2200" baseline="30000" dirty="0"/>
              <a:t>t</a:t>
            </a:r>
            <a:r>
              <a:rPr lang="en-US" sz="2200" dirty="0"/>
              <a:t> = </a:t>
            </a:r>
            <a:r>
              <a:rPr lang="en-US" sz="2200" i="1" dirty="0"/>
              <a:t>Current real GDP</a:t>
            </a:r>
          </a:p>
          <a:p>
            <a:pPr marL="0" indent="0">
              <a:spcBef>
                <a:spcPts val="0"/>
              </a:spcBef>
              <a:spcAft>
                <a:spcPts val="1200"/>
              </a:spcAft>
              <a:buNone/>
            </a:pPr>
            <a:r>
              <a:rPr lang="en-US" sz="2200" dirty="0"/>
              <a:t>with “t” the number of time periods between the previous and current periods.</a:t>
            </a:r>
          </a:p>
          <a:p>
            <a:pPr marL="0" indent="0">
              <a:spcBef>
                <a:spcPts val="0"/>
              </a:spcBef>
              <a:spcAft>
                <a:spcPts val="1200"/>
              </a:spcAft>
              <a:buNone/>
            </a:pPr>
            <a:r>
              <a:rPr lang="en-US" sz="2200" dirty="0"/>
              <a:t>A useful shortcut called the </a:t>
            </a:r>
            <a:r>
              <a:rPr lang="en-US" sz="2200" b="1" i="1" dirty="0"/>
              <a:t>Rule of 70</a:t>
            </a:r>
            <a:r>
              <a:rPr lang="en-US" sz="2200" b="1" dirty="0"/>
              <a:t> </a:t>
            </a:r>
            <a:r>
              <a:rPr lang="en-US" sz="2200" dirty="0"/>
              <a:t>can help us to determine how long it will take for an economic variable to double:</a:t>
            </a:r>
          </a:p>
        </p:txBody>
      </p:sp>
      <p:sp>
        <p:nvSpPr>
          <p:cNvPr id="3" name="Content Placeholder 2"/>
          <p:cNvSpPr>
            <a:spLocks noGrp="1"/>
          </p:cNvSpPr>
          <p:nvPr>
            <p:ph idx="13"/>
          </p:nvPr>
        </p:nvSpPr>
        <p:spPr>
          <a:xfrm>
            <a:off x="495300" y="5379720"/>
            <a:ext cx="8153400" cy="670560"/>
          </a:xfrm>
        </p:spPr>
        <p:txBody>
          <a:bodyPr>
            <a:noAutofit/>
          </a:bodyPr>
          <a:lstStyle/>
          <a:p>
            <a:pPr marL="0" indent="0">
              <a:buNone/>
            </a:pPr>
            <a:r>
              <a:rPr lang="en-IN" sz="2200" dirty="0"/>
              <a:t>So if the growth rate is 5%, it will take about 14 years for the variable to double.</a:t>
            </a:r>
          </a:p>
        </p:txBody>
      </p:sp>
      <p:graphicFrame>
        <p:nvGraphicFramePr>
          <p:cNvPr id="9" name="Object 8"/>
          <p:cNvGraphicFramePr>
            <a:graphicFrameLocks noChangeAspect="1"/>
          </p:cNvGraphicFramePr>
          <p:nvPr>
            <p:extLst>
              <p:ext uri="{D42A27DB-BD31-4B8C-83A1-F6EECF244321}">
                <p14:modId xmlns:p14="http://schemas.microsoft.com/office/powerpoint/2010/main" val="2582004033"/>
              </p:ext>
            </p:extLst>
          </p:nvPr>
        </p:nvGraphicFramePr>
        <p:xfrm>
          <a:off x="2297113" y="4419600"/>
          <a:ext cx="4548187" cy="615950"/>
        </p:xfrm>
        <a:graphic>
          <a:graphicData uri="http://schemas.openxmlformats.org/presentationml/2006/ole">
            <mc:AlternateContent xmlns:mc="http://schemas.openxmlformats.org/markup-compatibility/2006">
              <mc:Choice xmlns:v="urn:schemas-microsoft-com:vml" Requires="v">
                <p:oleObj name="Equation" r:id="rId3" imgW="4686120" imgH="634680" progId="Equation.DSMT4">
                  <p:embed/>
                </p:oleObj>
              </mc:Choice>
              <mc:Fallback>
                <p:oleObj name="Equation" r:id="rId3" imgW="4686120" imgH="634680" progId="Equation.DSMT4">
                  <p:embed/>
                  <p:pic>
                    <p:nvPicPr>
                      <p:cNvPr id="0" name="Object 4"/>
                      <p:cNvPicPr>
                        <a:picLocks noChangeAspect="1" noChangeArrowheads="1"/>
                      </p:cNvPicPr>
                      <p:nvPr/>
                    </p:nvPicPr>
                    <p:blipFill>
                      <a:blip r:embed="rId4"/>
                      <a:srcRect/>
                      <a:stretch>
                        <a:fillRect/>
                      </a:stretch>
                    </p:blipFill>
                    <p:spPr bwMode="auto">
                      <a:xfrm>
                        <a:off x="2297113" y="4419600"/>
                        <a:ext cx="4548187"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46481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IN" sz="3400" dirty="0">
                <a:latin typeface="+mj-lt"/>
              </a:rPr>
              <a:t>What Determines the Rate of Long-Run Growth?</a:t>
            </a:r>
            <a:endParaRPr lang="en-US" sz="3400" dirty="0">
              <a:latin typeface="+mj-lt"/>
            </a:endParaRPr>
          </a:p>
        </p:txBody>
      </p:sp>
      <p:sp>
        <p:nvSpPr>
          <p:cNvPr id="6" name="Content Placeholder 5"/>
          <p:cNvSpPr>
            <a:spLocks noGrp="1"/>
          </p:cNvSpPr>
          <p:nvPr>
            <p:ph idx="1"/>
          </p:nvPr>
        </p:nvSpPr>
        <p:spPr/>
        <p:txBody>
          <a:bodyPr>
            <a:noAutofit/>
          </a:bodyPr>
          <a:lstStyle/>
          <a:p>
            <a:pPr marL="0" indent="0">
              <a:spcBef>
                <a:spcPts val="0"/>
              </a:spcBef>
              <a:spcAft>
                <a:spcPts val="1200"/>
              </a:spcAft>
              <a:buNone/>
            </a:pPr>
            <a:r>
              <a:rPr lang="en-US" sz="2400" dirty="0"/>
              <a:t>Increases in real GDP per capita rely on increases in </a:t>
            </a:r>
            <a:r>
              <a:rPr lang="en-US" sz="2400" b="1" dirty="0" err="1"/>
              <a:t>labour</a:t>
            </a:r>
            <a:r>
              <a:rPr lang="en-US" sz="2400" b="1" dirty="0"/>
              <a:t> productivity:</a:t>
            </a:r>
            <a:r>
              <a:rPr lang="en-US" sz="2400" dirty="0"/>
              <a:t> the quantity of goods and services that can be produced by one worker or by one hour of work.</a:t>
            </a:r>
            <a:endParaRPr lang="en-US" sz="2400" i="1" dirty="0"/>
          </a:p>
          <a:p>
            <a:pPr marL="0" indent="0">
              <a:spcBef>
                <a:spcPts val="0"/>
              </a:spcBef>
              <a:spcAft>
                <a:spcPts val="1200"/>
              </a:spcAft>
              <a:buNone/>
            </a:pPr>
            <a:r>
              <a:rPr lang="en-US" sz="2400" i="1" dirty="0"/>
              <a:t>Why can the average Canadian consume three times as many goods and services now, than as in 1961?</a:t>
            </a:r>
          </a:p>
          <a:p>
            <a:pPr marL="0" indent="0">
              <a:spcBef>
                <a:spcPts val="0"/>
              </a:spcBef>
              <a:spcAft>
                <a:spcPts val="1200"/>
              </a:spcAft>
              <a:buNone/>
            </a:pPr>
            <a:r>
              <a:rPr lang="en-US" sz="2400" i="1" dirty="0"/>
              <a:t>Because the average Canadian produces three times as many goods and services in an hour now, than as in 1961.</a:t>
            </a:r>
            <a:endParaRPr lang="en-US" sz="2400" dirty="0"/>
          </a:p>
          <a:p>
            <a:pPr marL="0" indent="0">
              <a:spcBef>
                <a:spcPts val="0"/>
              </a:spcBef>
              <a:spcAft>
                <a:spcPts val="1200"/>
              </a:spcAft>
              <a:buNone/>
            </a:pPr>
            <a:r>
              <a:rPr lang="en-US" sz="2400" dirty="0"/>
              <a:t>So if increase in </a:t>
            </a:r>
            <a:r>
              <a:rPr lang="en-US" sz="2400" dirty="0" err="1"/>
              <a:t>labour</a:t>
            </a:r>
            <a:r>
              <a:rPr lang="en-US" sz="2400" dirty="0"/>
              <a:t> productivity are the key to long-run economic growth, what causes </a:t>
            </a:r>
            <a:r>
              <a:rPr lang="en-US" sz="2400" dirty="0" err="1"/>
              <a:t>labour</a:t>
            </a:r>
            <a:r>
              <a:rPr lang="en-US" sz="2400" dirty="0"/>
              <a:t> productivity to grow?</a:t>
            </a:r>
          </a:p>
        </p:txBody>
      </p:sp>
    </p:spTree>
    <p:extLst>
      <p:ext uri="{BB962C8B-B14F-4D97-AF65-F5344CB8AC3E}">
        <p14:creationId xmlns:p14="http://schemas.microsoft.com/office/powerpoint/2010/main" val="190775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IN" sz="3400" dirty="0">
                <a:latin typeface="+mj-lt"/>
              </a:rPr>
              <a:t>Factors Affecting Labour Productivity Growth</a:t>
            </a:r>
            <a:endParaRPr lang="en-US" sz="3400" dirty="0">
              <a:latin typeface="+mj-lt"/>
            </a:endParaRPr>
          </a:p>
        </p:txBody>
      </p:sp>
      <p:sp>
        <p:nvSpPr>
          <p:cNvPr id="6" name="Content Placeholder 5"/>
          <p:cNvSpPr>
            <a:spLocks noGrp="1"/>
          </p:cNvSpPr>
          <p:nvPr>
            <p:ph idx="1"/>
          </p:nvPr>
        </p:nvSpPr>
        <p:spPr/>
        <p:txBody>
          <a:bodyPr>
            <a:noAutofit/>
          </a:bodyPr>
          <a:lstStyle/>
          <a:p>
            <a:pPr marL="0" indent="0">
              <a:spcBef>
                <a:spcPts val="1000"/>
              </a:spcBef>
              <a:buNone/>
            </a:pPr>
            <a:r>
              <a:rPr lang="en-IN" sz="2000" b="1" i="1" dirty="0"/>
              <a:t>Increases in capital per hour worked</a:t>
            </a:r>
          </a:p>
          <a:p>
            <a:pPr marL="0" indent="0">
              <a:spcBef>
                <a:spcPts val="1000"/>
              </a:spcBef>
              <a:buNone/>
            </a:pPr>
            <a:r>
              <a:rPr lang="en-IN" sz="2000" b="1" dirty="0"/>
              <a:t>Capital </a:t>
            </a:r>
            <a:r>
              <a:rPr lang="en-IN" sz="2000" dirty="0"/>
              <a:t>is a durable manufactured good that is used to produce other goods and services.</a:t>
            </a:r>
          </a:p>
          <a:p>
            <a:pPr marL="0" indent="0">
              <a:spcBef>
                <a:spcPts val="1000"/>
              </a:spcBef>
              <a:buNone/>
            </a:pPr>
            <a:r>
              <a:rPr lang="en-IN" sz="2000" dirty="0"/>
              <a:t>The more capital a worker has available to use (including human capital, the accumulated knowledge and skills workers possess), the more productive he or she will be.</a:t>
            </a:r>
          </a:p>
          <a:p>
            <a:pPr marL="0" indent="0">
              <a:spcBef>
                <a:spcPts val="1000"/>
              </a:spcBef>
              <a:buNone/>
            </a:pPr>
            <a:r>
              <a:rPr lang="en-IN" sz="2000" b="1" i="1" dirty="0"/>
              <a:t>Technological change</a:t>
            </a:r>
          </a:p>
          <a:p>
            <a:pPr marL="0" indent="0">
              <a:spcBef>
                <a:spcPts val="1000"/>
              </a:spcBef>
              <a:buNone/>
            </a:pPr>
            <a:r>
              <a:rPr lang="en-IN" sz="2000" i="1" dirty="0"/>
              <a:t>Improvements</a:t>
            </a:r>
            <a:r>
              <a:rPr lang="en-IN" sz="2000" dirty="0"/>
              <a:t> in methods to combine inputs into outputs (i.e. </a:t>
            </a:r>
            <a:r>
              <a:rPr lang="en-IN" sz="2000" i="1" dirty="0"/>
              <a:t>new technologies</a:t>
            </a:r>
            <a:r>
              <a:rPr lang="en-IN" sz="2000" dirty="0"/>
              <a:t>) allow workers to produce more in a given period of time.</a:t>
            </a:r>
          </a:p>
          <a:p>
            <a:pPr marL="0" indent="0">
              <a:spcBef>
                <a:spcPts val="1000"/>
              </a:spcBef>
              <a:buNone/>
            </a:pPr>
            <a:r>
              <a:rPr lang="en-IN" sz="2000" dirty="0"/>
              <a:t>The role of </a:t>
            </a:r>
            <a:r>
              <a:rPr lang="en-IN" sz="2000" i="1" dirty="0"/>
              <a:t>entrepreneurs</a:t>
            </a:r>
            <a:r>
              <a:rPr lang="en-IN" sz="2000" dirty="0"/>
              <a:t> here is critical, in pioneering new ways to bring together the factors of production to produce better or lower-cost products.</a:t>
            </a:r>
          </a:p>
        </p:txBody>
      </p:sp>
    </p:spTree>
    <p:extLst>
      <p:ext uri="{BB962C8B-B14F-4D97-AF65-F5344CB8AC3E}">
        <p14:creationId xmlns:p14="http://schemas.microsoft.com/office/powerpoint/2010/main" val="1452360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400" dirty="0">
                <a:latin typeface="+mj-lt"/>
              </a:rPr>
              <a:t>Potential GDP</a:t>
            </a:r>
            <a:endParaRPr lang="en-US" sz="3400" dirty="0">
              <a:latin typeface="+mj-lt"/>
            </a:endParaRPr>
          </a:p>
        </p:txBody>
      </p:sp>
      <p:sp>
        <p:nvSpPr>
          <p:cNvPr id="3" name="Content Placeholder 2"/>
          <p:cNvSpPr>
            <a:spLocks noGrp="1"/>
          </p:cNvSpPr>
          <p:nvPr>
            <p:ph idx="1"/>
          </p:nvPr>
        </p:nvSpPr>
        <p:spPr/>
        <p:txBody>
          <a:bodyPr>
            <a:noAutofit/>
          </a:bodyPr>
          <a:lstStyle/>
          <a:p>
            <a:pPr marL="0" indent="0">
              <a:spcBef>
                <a:spcPts val="0"/>
              </a:spcBef>
              <a:buNone/>
            </a:pPr>
            <a:r>
              <a:rPr lang="en-US" b="1" dirty="0"/>
              <a:t>Potential GDP </a:t>
            </a:r>
            <a:r>
              <a:rPr lang="en-US" dirty="0"/>
              <a:t>refers to the level of real GDP attained when all firms are operating at capacity. </a:t>
            </a:r>
            <a:r>
              <a:rPr lang="en-US" i="1" dirty="0"/>
              <a:t>Capacity</a:t>
            </a:r>
            <a:r>
              <a:rPr lang="en-US" dirty="0"/>
              <a:t> here refers to “normal” hours and a “normal” sized workforce.</a:t>
            </a:r>
          </a:p>
          <a:p>
            <a:pPr>
              <a:spcBef>
                <a:spcPts val="1000"/>
              </a:spcBef>
            </a:pPr>
            <a:r>
              <a:rPr lang="en-US" dirty="0"/>
              <a:t>Potential GDP rises when the </a:t>
            </a:r>
            <a:r>
              <a:rPr lang="en-US" dirty="0" err="1"/>
              <a:t>labour</a:t>
            </a:r>
            <a:r>
              <a:rPr lang="en-US" dirty="0"/>
              <a:t> force grows, new factories are built, new equipment and machinery are installed and technological change takes place.</a:t>
            </a:r>
          </a:p>
        </p:txBody>
      </p:sp>
    </p:spTree>
    <p:extLst>
      <p:ext uri="{BB962C8B-B14F-4D97-AF65-F5344CB8AC3E}">
        <p14:creationId xmlns:p14="http://schemas.microsoft.com/office/powerpoint/2010/main" val="1141084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47699"/>
          </a:xfrm>
        </p:spPr>
        <p:txBody>
          <a:bodyPr>
            <a:noAutofit/>
          </a:bodyPr>
          <a:lstStyle/>
          <a:p>
            <a:r>
              <a:rPr lang="en-IN" dirty="0">
                <a:solidFill>
                  <a:schemeClr val="tx1"/>
                </a:solidFill>
                <a:latin typeface="+mj-lt"/>
              </a:rPr>
              <a:t>Figure 6.2 The Output Gap</a:t>
            </a:r>
            <a:endParaRPr lang="en-US" dirty="0">
              <a:solidFill>
                <a:schemeClr val="tx1"/>
              </a:solidFill>
              <a:latin typeface="+mj-lt"/>
            </a:endParaRPr>
          </a:p>
        </p:txBody>
      </p:sp>
      <p:sp>
        <p:nvSpPr>
          <p:cNvPr id="3" name="Content Placeholder 2"/>
          <p:cNvSpPr>
            <a:spLocks noGrp="1"/>
          </p:cNvSpPr>
          <p:nvPr>
            <p:ph type="body" sz="quarter" idx="13"/>
          </p:nvPr>
        </p:nvSpPr>
        <p:spPr>
          <a:xfrm>
            <a:off x="457200" y="4605724"/>
            <a:ext cx="8229600" cy="1679292"/>
          </a:xfrm>
        </p:spPr>
        <p:txBody>
          <a:bodyPr>
            <a:noAutofit/>
          </a:bodyPr>
          <a:lstStyle/>
          <a:p>
            <a:pPr marL="0" indent="0">
              <a:buNone/>
            </a:pPr>
            <a:r>
              <a:rPr lang="en-CA" sz="1800" dirty="0"/>
              <a:t>The Bank of Canada measures the “output gap” as the difference between actual GDP and potential GDP.</a:t>
            </a:r>
          </a:p>
          <a:p>
            <a:pPr marL="0" indent="0">
              <a:buNone/>
            </a:pPr>
            <a:r>
              <a:rPr lang="en-CA" sz="1800" dirty="0"/>
              <a:t>When the output gap is positive, actual GDP is above potential – the economy is using resources in an unsustainable way.</a:t>
            </a:r>
          </a:p>
          <a:p>
            <a:pPr marL="0" indent="0">
              <a:buNone/>
            </a:pPr>
            <a:r>
              <a:rPr lang="en-CA" sz="1800" dirty="0"/>
              <a:t>When the output gap is negative, actual GDP is less than potential, and resources are underutilized.</a:t>
            </a:r>
            <a:endParaRPr lang="en-US" sz="1800" dirty="0"/>
          </a:p>
        </p:txBody>
      </p:sp>
      <p:sp>
        <p:nvSpPr>
          <p:cNvPr id="5" name="TextBox 4">
            <a:extLst>
              <a:ext uri="{FF2B5EF4-FFF2-40B4-BE49-F238E27FC236}">
                <a16:creationId xmlns:a16="http://schemas.microsoft.com/office/drawing/2014/main" id="{20718480-291A-DC99-FC47-C46846D97C4C}"/>
              </a:ext>
            </a:extLst>
          </p:cNvPr>
          <p:cNvSpPr txBox="1"/>
          <p:nvPr/>
        </p:nvSpPr>
        <p:spPr>
          <a:xfrm>
            <a:off x="1693623" y="4328725"/>
            <a:ext cx="5715000" cy="276999"/>
          </a:xfrm>
          <a:prstGeom prst="rect">
            <a:avLst/>
          </a:prstGeom>
          <a:noFill/>
        </p:spPr>
        <p:txBody>
          <a:bodyPr wrap="square">
            <a:spAutoFit/>
          </a:bodyPr>
          <a:lstStyle/>
          <a:p>
            <a:r>
              <a:rPr lang="en-US" sz="1200" b="1" i="0" u="none" strike="noStrike" baseline="0" dirty="0">
                <a:latin typeface="+mj-lt"/>
              </a:rPr>
              <a:t>SOURCE:</a:t>
            </a:r>
            <a:r>
              <a:rPr lang="en-US" sz="1200" b="0" i="0" u="none" strike="noStrike" baseline="0" dirty="0">
                <a:latin typeface="+mj-lt"/>
              </a:rPr>
              <a:t> Data from Bank of Canada, https://www.bankofcanada.ca/?p=39818.</a:t>
            </a:r>
            <a:endParaRPr lang="en-US" sz="1200" dirty="0">
              <a:latin typeface="+mj-lt"/>
            </a:endParaRPr>
          </a:p>
        </p:txBody>
      </p:sp>
      <p:pic>
        <p:nvPicPr>
          <p:cNvPr id="6" name="Picture 5" descr="The graph vertical axis represents output gap in percentage of G D P from negative 8 to 4 in the increments of 2 and the horizontal axis represents the years ranging from 1981 to 2017 in the increments of 2 years. The output gap in percentage of G D P curve passes through (1981, 3), (1982, 0), (1983, negative 6), (1984, negative 1), (1985, 0),(1986, 1995, 1), (1996, negative 2), (1997, negative 1), (1998, 0), (1999, 1), (2000, 2), (2001, 0), (2002, 1), (2003, negative 1), (2004, 0), (2005, 1), (2006, 2), (2007, 2), (2008, 0), (2009, negative 4), (2010, negative 1), (2011, 1), (2012, negative 1), (2013, 0), and (2017, 0). All values are estimated.">
            <a:extLst>
              <a:ext uri="{FF2B5EF4-FFF2-40B4-BE49-F238E27FC236}">
                <a16:creationId xmlns:a16="http://schemas.microsoft.com/office/drawing/2014/main" id="{ABB51A11-CE43-E7C6-476B-B45E1AD094C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2222"/>
          <a:stretch/>
        </p:blipFill>
        <p:spPr>
          <a:xfrm>
            <a:off x="2490675" y="989450"/>
            <a:ext cx="4120896" cy="3310700"/>
          </a:xfrm>
          <a:prstGeom prst="rect">
            <a:avLst/>
          </a:prstGeom>
        </p:spPr>
      </p:pic>
    </p:spTree>
    <p:extLst>
      <p:ext uri="{BB962C8B-B14F-4D97-AF65-F5344CB8AC3E}">
        <p14:creationId xmlns:p14="http://schemas.microsoft.com/office/powerpoint/2010/main" val="3664050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400" dirty="0">
                <a:latin typeface="+mj-lt"/>
              </a:rPr>
              <a:t>An Overview of the Financial System</a:t>
            </a:r>
            <a:endParaRPr lang="en-US" sz="3400" dirty="0">
              <a:latin typeface="+mj-lt"/>
            </a:endParaRPr>
          </a:p>
        </p:txBody>
      </p:sp>
      <p:sp>
        <p:nvSpPr>
          <p:cNvPr id="3" name="Content Placeholder 2"/>
          <p:cNvSpPr>
            <a:spLocks noGrp="1"/>
          </p:cNvSpPr>
          <p:nvPr>
            <p:ph idx="1"/>
          </p:nvPr>
        </p:nvSpPr>
        <p:spPr>
          <a:xfrm>
            <a:off x="457200" y="1447800"/>
            <a:ext cx="8229600" cy="4876800"/>
          </a:xfrm>
        </p:spPr>
        <p:txBody>
          <a:bodyPr>
            <a:noAutofit/>
          </a:bodyPr>
          <a:lstStyle/>
          <a:p>
            <a:pPr marL="0" indent="0">
              <a:spcBef>
                <a:spcPts val="1000"/>
              </a:spcBef>
              <a:buNone/>
            </a:pPr>
            <a:r>
              <a:rPr lang="en-US" sz="2100" b="1" dirty="0"/>
              <a:t>Financial markets </a:t>
            </a:r>
            <a:r>
              <a:rPr lang="en-US" sz="2100" dirty="0"/>
              <a:t>are markets where financial securities, such as stocks and bonds, are bought and sold.</a:t>
            </a:r>
          </a:p>
          <a:p>
            <a:pPr marL="0" indent="0">
              <a:spcBef>
                <a:spcPts val="1000"/>
              </a:spcBef>
              <a:buNone/>
            </a:pPr>
            <a:r>
              <a:rPr lang="en-US" sz="2100" dirty="0"/>
              <a:t>A </a:t>
            </a:r>
            <a:r>
              <a:rPr lang="en-US" sz="2100" i="1" dirty="0"/>
              <a:t>financial security </a:t>
            </a:r>
            <a:r>
              <a:rPr lang="en-US" sz="2100" dirty="0"/>
              <a:t>is a document (sometimes electronic) stating the terms under which funds pass from the buyer of the security to the seller.</a:t>
            </a:r>
          </a:p>
          <a:p>
            <a:pPr marL="0" indent="0">
              <a:spcBef>
                <a:spcPts val="1000"/>
              </a:spcBef>
              <a:buNone/>
            </a:pPr>
            <a:r>
              <a:rPr lang="en-US" sz="2100" dirty="0"/>
              <a:t>A </a:t>
            </a:r>
            <a:r>
              <a:rPr lang="en-US" sz="2100" b="1" i="1" dirty="0"/>
              <a:t>stock</a:t>
            </a:r>
            <a:r>
              <a:rPr lang="en-US" sz="2100" dirty="0"/>
              <a:t> is a financial security representing partial ownership of a firm.</a:t>
            </a:r>
          </a:p>
          <a:p>
            <a:pPr marL="0" indent="0">
              <a:spcBef>
                <a:spcPts val="1000"/>
              </a:spcBef>
              <a:buNone/>
            </a:pPr>
            <a:r>
              <a:rPr lang="en-US" sz="2100" dirty="0"/>
              <a:t>A </a:t>
            </a:r>
            <a:r>
              <a:rPr lang="en-US" sz="2100" b="1" i="1" dirty="0"/>
              <a:t>bond</a:t>
            </a:r>
            <a:r>
              <a:rPr lang="en-US" sz="2100" b="1" dirty="0"/>
              <a:t> </a:t>
            </a:r>
            <a:r>
              <a:rPr lang="en-US" sz="2100" dirty="0"/>
              <a:t>is a financial security promising to repay a fixed amount of funds. A bond is essentially a loan from a household to a firm.</a:t>
            </a:r>
          </a:p>
          <a:p>
            <a:pPr marL="0" indent="0">
              <a:spcBef>
                <a:spcPts val="1000"/>
              </a:spcBef>
              <a:buNone/>
            </a:pPr>
            <a:r>
              <a:rPr lang="en-US" sz="2100" b="1" dirty="0"/>
              <a:t>Financial intermediaries </a:t>
            </a:r>
            <a:r>
              <a:rPr lang="en-US" sz="2100" dirty="0"/>
              <a:t>are firms, such as banks, mutual funds, pension funds, and insurance companies, that borrow funds from savers and lend them to borrowers.</a:t>
            </a:r>
          </a:p>
          <a:p>
            <a:pPr marL="0" indent="0">
              <a:spcBef>
                <a:spcPts val="1000"/>
              </a:spcBef>
              <a:buNone/>
            </a:pPr>
            <a:r>
              <a:rPr lang="en-US" sz="2100" dirty="0"/>
              <a:t>Some financial intermediaries, like </a:t>
            </a:r>
            <a:r>
              <a:rPr lang="en-US" sz="2100" i="1" dirty="0"/>
              <a:t>mutual funds</a:t>
            </a:r>
            <a:r>
              <a:rPr lang="en-US" sz="2100" dirty="0"/>
              <a:t>, sell shares to savers then use the funds to buy financial securities.</a:t>
            </a:r>
          </a:p>
        </p:txBody>
      </p:sp>
    </p:spTree>
    <p:extLst>
      <p:ext uri="{BB962C8B-B14F-4D97-AF65-F5344CB8AC3E}">
        <p14:creationId xmlns:p14="http://schemas.microsoft.com/office/powerpoint/2010/main" val="349730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400" dirty="0">
                <a:latin typeface="+mj-lt"/>
              </a:rPr>
              <a:t>Three Key Services of the Financial System</a:t>
            </a:r>
            <a:endParaRPr lang="en-US" sz="3400" dirty="0">
              <a:latin typeface="+mj-lt"/>
            </a:endParaRPr>
          </a:p>
        </p:txBody>
      </p:sp>
      <p:sp>
        <p:nvSpPr>
          <p:cNvPr id="3" name="Content Placeholder 2"/>
          <p:cNvSpPr>
            <a:spLocks noGrp="1"/>
          </p:cNvSpPr>
          <p:nvPr>
            <p:ph idx="1"/>
          </p:nvPr>
        </p:nvSpPr>
        <p:spPr>
          <a:xfrm>
            <a:off x="466725" y="1447800"/>
            <a:ext cx="8229600" cy="4724400"/>
          </a:xfrm>
        </p:spPr>
        <p:txBody>
          <a:bodyPr>
            <a:noAutofit/>
          </a:bodyPr>
          <a:lstStyle/>
          <a:p>
            <a:pPr marL="0" indent="0">
              <a:spcBef>
                <a:spcPts val="1000"/>
              </a:spcBef>
              <a:buNone/>
            </a:pPr>
            <a:r>
              <a:rPr lang="en-US" sz="2000" dirty="0"/>
              <a:t>The financial system provides three key services:</a:t>
            </a:r>
          </a:p>
          <a:p>
            <a:pPr marL="0" indent="0">
              <a:spcBef>
                <a:spcPts val="1000"/>
              </a:spcBef>
              <a:buNone/>
            </a:pPr>
            <a:r>
              <a:rPr lang="en-US" sz="2000" b="1" i="1" dirty="0"/>
              <a:t>Risk-sharing</a:t>
            </a:r>
          </a:p>
          <a:p>
            <a:pPr marL="0" indent="0">
              <a:spcBef>
                <a:spcPts val="1000"/>
              </a:spcBef>
              <a:buNone/>
            </a:pPr>
            <a:r>
              <a:rPr lang="en-US" sz="2000" dirty="0"/>
              <a:t>By allowing investors to spread their money over many different assets, investors can reduce their risk while maintaining a high expected return on their investment</a:t>
            </a:r>
          </a:p>
          <a:p>
            <a:pPr marL="0" indent="0">
              <a:spcBef>
                <a:spcPts val="1000"/>
              </a:spcBef>
              <a:buNone/>
            </a:pPr>
            <a:r>
              <a:rPr lang="en-US" sz="2000" b="1" i="1" dirty="0"/>
              <a:t>Liquidity</a:t>
            </a:r>
          </a:p>
          <a:p>
            <a:pPr marL="0" indent="0">
              <a:spcBef>
                <a:spcPts val="1000"/>
              </a:spcBef>
              <a:buNone/>
            </a:pPr>
            <a:r>
              <a:rPr lang="en-US" sz="2000" dirty="0"/>
              <a:t>The financial system allows savers to quickly convert their investments into cash.</a:t>
            </a:r>
          </a:p>
          <a:p>
            <a:pPr marL="0" indent="0">
              <a:spcBef>
                <a:spcPts val="1000"/>
              </a:spcBef>
              <a:buNone/>
            </a:pPr>
            <a:r>
              <a:rPr lang="en-US" sz="2000" b="1" i="1" dirty="0"/>
              <a:t>Information</a:t>
            </a:r>
          </a:p>
          <a:p>
            <a:pPr marL="0" indent="0">
              <a:spcBef>
                <a:spcPts val="1000"/>
              </a:spcBef>
              <a:buNone/>
            </a:pPr>
            <a:r>
              <a:rPr lang="en-US" sz="2000" dirty="0"/>
              <a:t>The prices of financial securities represent the beliefs of other investors and financial intermediaries about the future revenue stream from holding those securities. Financial system gathers and communicate this information.</a:t>
            </a:r>
          </a:p>
        </p:txBody>
      </p:sp>
    </p:spTree>
    <p:extLst>
      <p:ext uri="{BB962C8B-B14F-4D97-AF65-F5344CB8AC3E}">
        <p14:creationId xmlns:p14="http://schemas.microsoft.com/office/powerpoint/2010/main" val="2424468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104"/>
            <a:ext cx="8229600" cy="1107996"/>
          </a:xfrm>
        </p:spPr>
        <p:txBody>
          <a:bodyPr>
            <a:noAutofit/>
          </a:bodyPr>
          <a:lstStyle/>
          <a:p>
            <a:r>
              <a:rPr lang="en-IN" dirty="0">
                <a:latin typeface="+mj-lt"/>
              </a:rPr>
              <a:t>The Macroeconomics of Saving and Investment</a:t>
            </a:r>
            <a:endParaRPr lang="en-US" dirty="0">
              <a:latin typeface="+mj-lt"/>
            </a:endParaRPr>
          </a:p>
        </p:txBody>
      </p:sp>
      <p:sp>
        <p:nvSpPr>
          <p:cNvPr id="3" name="Content Placeholder 2"/>
          <p:cNvSpPr>
            <a:spLocks noGrp="1"/>
          </p:cNvSpPr>
          <p:nvPr>
            <p:ph idx="1"/>
          </p:nvPr>
        </p:nvSpPr>
        <p:spPr>
          <a:xfrm>
            <a:off x="457200" y="1422202"/>
            <a:ext cx="8229600" cy="4719241"/>
          </a:xfrm>
        </p:spPr>
        <p:txBody>
          <a:bodyPr>
            <a:noAutofit/>
          </a:bodyPr>
          <a:lstStyle/>
          <a:p>
            <a:pPr marL="0" indent="0">
              <a:spcBef>
                <a:spcPts val="0"/>
              </a:spcBef>
              <a:spcAft>
                <a:spcPts val="800"/>
              </a:spcAft>
              <a:buNone/>
            </a:pPr>
            <a:r>
              <a:rPr lang="en-US" sz="2000" dirty="0"/>
              <a:t>We will now derive the result that </a:t>
            </a:r>
            <a:r>
              <a:rPr lang="en-US" sz="2000" i="1" dirty="0"/>
              <a:t>the total value of saving in the economy must equal the total value of investment.</a:t>
            </a:r>
            <a:endParaRPr lang="en-US" sz="2000" dirty="0"/>
          </a:p>
          <a:p>
            <a:pPr marL="0" indent="0">
              <a:spcBef>
                <a:spcPts val="0"/>
              </a:spcBef>
              <a:spcAft>
                <a:spcPts val="800"/>
              </a:spcAft>
              <a:buNone/>
            </a:pPr>
            <a:r>
              <a:rPr lang="en-US" sz="2000" dirty="0"/>
              <a:t>Recall that we can express the GDP of a nation (</a:t>
            </a:r>
            <a:r>
              <a:rPr lang="en-US" sz="2000" i="1" dirty="0"/>
              <a:t>Y</a:t>
            </a:r>
            <a:r>
              <a:rPr lang="en-US" sz="2000" dirty="0"/>
              <a:t>) as the sum of consumption (</a:t>
            </a:r>
            <a:r>
              <a:rPr lang="en-US" sz="2000" i="1" dirty="0"/>
              <a:t>C</a:t>
            </a:r>
            <a:r>
              <a:rPr lang="en-US" sz="2000" dirty="0"/>
              <a:t>), investment (</a:t>
            </a:r>
            <a:r>
              <a:rPr lang="en-US" sz="2000" i="1" dirty="0"/>
              <a:t>I</a:t>
            </a:r>
            <a:r>
              <a:rPr lang="en-US" sz="2000" dirty="0"/>
              <a:t>), government purchases (</a:t>
            </a:r>
            <a:r>
              <a:rPr lang="en-US" sz="2000" i="1" dirty="0"/>
              <a:t>G</a:t>
            </a:r>
            <a:r>
              <a:rPr lang="en-US" sz="2000" dirty="0"/>
              <a:t>), and net exports (</a:t>
            </a:r>
            <a:r>
              <a:rPr lang="en-US" sz="2000" i="1" dirty="0"/>
              <a:t>NX</a:t>
            </a:r>
            <a:r>
              <a:rPr lang="en-US" sz="2000" dirty="0"/>
              <a:t>). That is, </a:t>
            </a:r>
          </a:p>
          <a:p>
            <a:pPr marL="0" indent="0" algn="ctr">
              <a:spcBef>
                <a:spcPts val="0"/>
              </a:spcBef>
              <a:spcAft>
                <a:spcPts val="800"/>
              </a:spcAft>
              <a:buNone/>
            </a:pPr>
            <a:r>
              <a:rPr lang="en-US" sz="2000" i="1" dirty="0"/>
              <a:t>Y = C + I + G + NX</a:t>
            </a:r>
          </a:p>
          <a:p>
            <a:pPr marL="0" indent="0">
              <a:spcBef>
                <a:spcPts val="0"/>
              </a:spcBef>
              <a:spcAft>
                <a:spcPts val="800"/>
              </a:spcAft>
              <a:buNone/>
            </a:pPr>
            <a:r>
              <a:rPr lang="en-US" sz="2000" dirty="0"/>
              <a:t>For the sake of simplicity, we will assume a </a:t>
            </a:r>
            <a:r>
              <a:rPr lang="en-US" sz="2000" i="1" dirty="0"/>
              <a:t>closed economy</a:t>
            </a:r>
            <a:r>
              <a:rPr lang="en-US" sz="2000" dirty="0"/>
              <a:t>, with no exports or imports; so</a:t>
            </a:r>
          </a:p>
          <a:p>
            <a:pPr marL="0" indent="0" algn="ctr">
              <a:spcBef>
                <a:spcPts val="0"/>
              </a:spcBef>
              <a:spcAft>
                <a:spcPts val="800"/>
              </a:spcAft>
              <a:buNone/>
            </a:pPr>
            <a:r>
              <a:rPr lang="en-US" sz="2000" i="1" dirty="0"/>
              <a:t>Y = C + I + G</a:t>
            </a:r>
          </a:p>
          <a:p>
            <a:pPr marL="0" indent="0">
              <a:spcBef>
                <a:spcPts val="0"/>
              </a:spcBef>
              <a:spcAft>
                <a:spcPts val="800"/>
              </a:spcAft>
              <a:buNone/>
            </a:pPr>
            <a:r>
              <a:rPr lang="en-US" sz="2000" dirty="0"/>
              <a:t>We can rearrange this to obtain an expression for investment:</a:t>
            </a:r>
          </a:p>
          <a:p>
            <a:pPr marL="0" indent="0" algn="ctr">
              <a:spcBef>
                <a:spcPts val="0"/>
              </a:spcBef>
              <a:spcAft>
                <a:spcPts val="800"/>
              </a:spcAft>
              <a:buNone/>
            </a:pPr>
            <a:r>
              <a:rPr lang="en-US" sz="2000" i="1" dirty="0"/>
              <a:t>I = Y − C − G</a:t>
            </a:r>
          </a:p>
          <a:p>
            <a:pPr marL="0" indent="0">
              <a:spcBef>
                <a:spcPts val="0"/>
              </a:spcBef>
              <a:spcAft>
                <a:spcPts val="800"/>
              </a:spcAft>
              <a:buNone/>
            </a:pPr>
            <a:r>
              <a:rPr lang="en-US" sz="2000" dirty="0"/>
              <a:t>That is, investment in a closed economy is equal to income minus consumption and government purchases.</a:t>
            </a:r>
          </a:p>
        </p:txBody>
      </p:sp>
    </p:spTree>
    <p:extLst>
      <p:ext uri="{BB962C8B-B14F-4D97-AF65-F5344CB8AC3E}">
        <p14:creationId xmlns:p14="http://schemas.microsoft.com/office/powerpoint/2010/main" val="1926724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742950"/>
          </a:xfrm>
        </p:spPr>
        <p:txBody>
          <a:bodyPr>
            <a:noAutofit/>
          </a:bodyPr>
          <a:lstStyle/>
          <a:p>
            <a:r>
              <a:rPr lang="en-IN" dirty="0">
                <a:latin typeface="+mj-lt"/>
              </a:rPr>
              <a:t>Total Saving</a:t>
            </a:r>
            <a:endParaRPr lang="en-US" dirty="0">
              <a:latin typeface="+mj-lt"/>
            </a:endParaRPr>
          </a:p>
        </p:txBody>
      </p:sp>
      <p:sp>
        <p:nvSpPr>
          <p:cNvPr id="3" name="Content Placeholder 2"/>
          <p:cNvSpPr>
            <a:spLocks noGrp="1"/>
          </p:cNvSpPr>
          <p:nvPr>
            <p:ph idx="1"/>
          </p:nvPr>
        </p:nvSpPr>
        <p:spPr>
          <a:xfrm>
            <a:off x="457200" y="990600"/>
            <a:ext cx="8229600" cy="5257800"/>
          </a:xfrm>
        </p:spPr>
        <p:txBody>
          <a:bodyPr>
            <a:noAutofit/>
          </a:bodyPr>
          <a:lstStyle/>
          <a:p>
            <a:pPr marL="0" indent="0">
              <a:spcBef>
                <a:spcPts val="1000"/>
              </a:spcBef>
              <a:spcAft>
                <a:spcPts val="0"/>
              </a:spcAft>
              <a:buNone/>
            </a:pPr>
            <a:r>
              <a:rPr lang="en-US" sz="2200" dirty="0"/>
              <a:t>Saving is composed of </a:t>
            </a:r>
            <a:r>
              <a:rPr lang="en-US" sz="2200" i="1" dirty="0"/>
              <a:t>private saving</a:t>
            </a:r>
            <a:r>
              <a:rPr lang="en-US" sz="2200" dirty="0"/>
              <a:t> (by households, </a:t>
            </a:r>
            <a:r>
              <a:rPr lang="en-US" sz="2200" i="1" dirty="0" err="1"/>
              <a:t>S</a:t>
            </a:r>
            <a:r>
              <a:rPr lang="en-US" sz="2200" baseline="-25000" dirty="0" err="1"/>
              <a:t>Private</a:t>
            </a:r>
            <a:r>
              <a:rPr lang="en-US" sz="2200" dirty="0"/>
              <a:t>) and public saving (by the government, </a:t>
            </a:r>
            <a:r>
              <a:rPr lang="en-US" sz="2200" i="1" dirty="0" err="1"/>
              <a:t>S</a:t>
            </a:r>
            <a:r>
              <a:rPr lang="en-US" sz="2200" baseline="-25000" dirty="0" err="1"/>
              <a:t>Public</a:t>
            </a:r>
            <a:r>
              <a:rPr lang="en-US" sz="2200" dirty="0"/>
              <a:t>).</a:t>
            </a:r>
          </a:p>
          <a:p>
            <a:pPr marL="0" indent="0">
              <a:spcBef>
                <a:spcPts val="1000"/>
              </a:spcBef>
              <a:spcAft>
                <a:spcPts val="0"/>
              </a:spcAft>
              <a:buNone/>
            </a:pPr>
            <a:r>
              <a:rPr lang="en-US" sz="2200" i="1" dirty="0" err="1"/>
              <a:t>S</a:t>
            </a:r>
            <a:r>
              <a:rPr lang="en-US" sz="2200" baseline="-25000" dirty="0" err="1"/>
              <a:t>Private</a:t>
            </a:r>
            <a:r>
              <a:rPr lang="en-US" sz="2200" dirty="0"/>
              <a:t> is all household income that is not spent. Household incomes are the payments for factors of production (</a:t>
            </a:r>
            <a:r>
              <a:rPr lang="en-US" sz="2200" i="1" dirty="0"/>
              <a:t>Y)</a:t>
            </a:r>
            <a:r>
              <a:rPr lang="en-US" sz="2200" dirty="0"/>
              <a:t> and transfer payments (</a:t>
            </a:r>
            <a:r>
              <a:rPr lang="en-US" sz="2200" i="1" dirty="0"/>
              <a:t>TR</a:t>
            </a:r>
            <a:r>
              <a:rPr lang="en-US" sz="2200" dirty="0"/>
              <a:t>); households spend money on consumption (</a:t>
            </a:r>
            <a:r>
              <a:rPr lang="en-US" sz="2200" i="1" dirty="0"/>
              <a:t>C</a:t>
            </a:r>
            <a:r>
              <a:rPr lang="en-US" sz="2200" dirty="0"/>
              <a:t>) and taxes (</a:t>
            </a:r>
            <a:r>
              <a:rPr lang="en-US" sz="2200" i="1" dirty="0"/>
              <a:t>T</a:t>
            </a:r>
            <a:r>
              <a:rPr lang="en-US" sz="2200" dirty="0"/>
              <a:t>). So</a:t>
            </a:r>
          </a:p>
          <a:p>
            <a:pPr marL="0" indent="0" algn="ctr">
              <a:spcBef>
                <a:spcPts val="1000"/>
              </a:spcBef>
              <a:spcAft>
                <a:spcPts val="0"/>
              </a:spcAft>
              <a:buNone/>
            </a:pPr>
            <a:r>
              <a:rPr lang="en-US" sz="2200" i="1" dirty="0" err="1"/>
              <a:t>S</a:t>
            </a:r>
            <a:r>
              <a:rPr lang="en-US" sz="2200" baseline="-25000" dirty="0" err="1"/>
              <a:t>Private</a:t>
            </a:r>
            <a:r>
              <a:rPr lang="en-US" sz="2200" i="1" dirty="0"/>
              <a:t> = Y + TR − C − T</a:t>
            </a:r>
          </a:p>
          <a:p>
            <a:pPr marL="0" indent="0">
              <a:spcBef>
                <a:spcPts val="1000"/>
              </a:spcBef>
              <a:spcAft>
                <a:spcPts val="0"/>
              </a:spcAft>
              <a:buNone/>
            </a:pPr>
            <a:r>
              <a:rPr lang="en-US" sz="2200" dirty="0"/>
              <a:t>Government “saves” whatever it receives in taxes but does not spend (this may be negative):</a:t>
            </a:r>
          </a:p>
          <a:p>
            <a:pPr marL="0" indent="0" algn="ctr">
              <a:spcBef>
                <a:spcPts val="1000"/>
              </a:spcBef>
              <a:spcAft>
                <a:spcPts val="0"/>
              </a:spcAft>
              <a:buNone/>
            </a:pPr>
            <a:r>
              <a:rPr lang="en-US" sz="2200" i="1" dirty="0" err="1"/>
              <a:t>S</a:t>
            </a:r>
            <a:r>
              <a:rPr lang="en-US" sz="2200" baseline="-25000" dirty="0" err="1"/>
              <a:t>Public</a:t>
            </a:r>
            <a:r>
              <a:rPr lang="en-US" sz="2200" i="1" dirty="0"/>
              <a:t> = T − G − TR</a:t>
            </a:r>
          </a:p>
          <a:p>
            <a:pPr marL="0" indent="0">
              <a:spcBef>
                <a:spcPts val="1000"/>
              </a:spcBef>
              <a:spcAft>
                <a:spcPts val="0"/>
              </a:spcAft>
              <a:buNone/>
            </a:pPr>
            <a:r>
              <a:rPr lang="en-US" sz="2200" dirty="0"/>
              <a:t>So total saving is:</a:t>
            </a:r>
          </a:p>
          <a:p>
            <a:pPr marL="0" indent="0" algn="ctr">
              <a:spcBef>
                <a:spcPts val="1000"/>
              </a:spcBef>
              <a:spcAft>
                <a:spcPts val="0"/>
              </a:spcAft>
              <a:buNone/>
            </a:pPr>
            <a:r>
              <a:rPr lang="en-US" sz="2200" i="1" dirty="0"/>
              <a:t>S = </a:t>
            </a:r>
            <a:r>
              <a:rPr lang="en-US" sz="2200" i="1" dirty="0" err="1"/>
              <a:t>S</a:t>
            </a:r>
            <a:r>
              <a:rPr lang="en-US" sz="2200" baseline="-25000" dirty="0" err="1"/>
              <a:t>Private</a:t>
            </a:r>
            <a:r>
              <a:rPr lang="en-US" sz="2200" i="1" dirty="0"/>
              <a:t> + </a:t>
            </a:r>
            <a:r>
              <a:rPr lang="en-US" sz="2200" i="1" dirty="0" err="1"/>
              <a:t>S</a:t>
            </a:r>
            <a:r>
              <a:rPr lang="en-US" sz="2200" baseline="-25000" dirty="0" err="1"/>
              <a:t>Public</a:t>
            </a:r>
            <a:r>
              <a:rPr lang="en-US" sz="2200" i="1" dirty="0"/>
              <a:t> 	=(Y + TR − C − T) + (T − G − TR)</a:t>
            </a:r>
          </a:p>
          <a:p>
            <a:pPr marL="0" indent="0" algn="ctr">
              <a:spcBef>
                <a:spcPts val="1000"/>
              </a:spcBef>
              <a:spcAft>
                <a:spcPts val="0"/>
              </a:spcAft>
              <a:buNone/>
            </a:pPr>
            <a:r>
              <a:rPr lang="en-US" sz="2200" i="1" dirty="0"/>
              <a:t>         = Y − C − G</a:t>
            </a:r>
            <a:endParaRPr lang="en-US" sz="2200" dirty="0"/>
          </a:p>
        </p:txBody>
      </p:sp>
    </p:spTree>
    <p:extLst>
      <p:ext uri="{BB962C8B-B14F-4D97-AF65-F5344CB8AC3E}">
        <p14:creationId xmlns:p14="http://schemas.microsoft.com/office/powerpoint/2010/main" val="3228053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1104900"/>
          </a:xfrm>
        </p:spPr>
        <p:txBody>
          <a:bodyPr>
            <a:noAutofit/>
          </a:bodyPr>
          <a:lstStyle/>
          <a:p>
            <a:r>
              <a:rPr lang="en-IN" dirty="0">
                <a:latin typeface="+mj-lt"/>
              </a:rPr>
              <a:t>Saving Equals Investment</a:t>
            </a:r>
            <a:endParaRPr lang="en-US" dirty="0">
              <a:latin typeface="+mj-lt"/>
            </a:endParaRPr>
          </a:p>
        </p:txBody>
      </p:sp>
      <p:sp>
        <p:nvSpPr>
          <p:cNvPr id="3" name="Content Placeholder 2"/>
          <p:cNvSpPr>
            <a:spLocks noGrp="1"/>
          </p:cNvSpPr>
          <p:nvPr>
            <p:ph idx="1"/>
          </p:nvPr>
        </p:nvSpPr>
        <p:spPr>
          <a:xfrm>
            <a:off x="485775" y="1371600"/>
            <a:ext cx="8229600" cy="4678204"/>
          </a:xfrm>
        </p:spPr>
        <p:txBody>
          <a:bodyPr>
            <a:noAutofit/>
          </a:bodyPr>
          <a:lstStyle/>
          <a:p>
            <a:pPr marL="0" indent="0">
              <a:spcBef>
                <a:spcPts val="0"/>
              </a:spcBef>
              <a:spcAft>
                <a:spcPts val="1200"/>
              </a:spcAft>
              <a:buNone/>
            </a:pPr>
            <a:r>
              <a:rPr lang="en-US" sz="2400" dirty="0"/>
              <a:t>The two previous slides led us to the same expressions for savings and investment. So we conclude that savings must equal investment:</a:t>
            </a:r>
          </a:p>
          <a:p>
            <a:pPr marL="0" indent="0" algn="ctr">
              <a:spcBef>
                <a:spcPts val="0"/>
              </a:spcBef>
              <a:spcAft>
                <a:spcPts val="1200"/>
              </a:spcAft>
              <a:buNone/>
            </a:pPr>
            <a:r>
              <a:rPr lang="en-US" sz="2400" i="1" dirty="0"/>
              <a:t>S = I</a:t>
            </a:r>
            <a:endParaRPr lang="en-US" sz="2400" dirty="0"/>
          </a:p>
          <a:p>
            <a:pPr marL="0" indent="0">
              <a:spcBef>
                <a:spcPts val="0"/>
              </a:spcBef>
              <a:spcAft>
                <a:spcPts val="1200"/>
              </a:spcAft>
              <a:buNone/>
            </a:pPr>
            <a:r>
              <a:rPr lang="en-US" sz="2400" dirty="0"/>
              <a:t>When </a:t>
            </a:r>
            <a:r>
              <a:rPr lang="en-US" sz="2400" i="1" dirty="0" err="1"/>
              <a:t>S</a:t>
            </a:r>
            <a:r>
              <a:rPr lang="en-US" sz="2400" baseline="-25000" dirty="0" err="1"/>
              <a:t>Public</a:t>
            </a:r>
            <a:r>
              <a:rPr lang="en-US" sz="2400" dirty="0"/>
              <a:t> is zero, the government spends as much as it receives in taxes; this is known as a </a:t>
            </a:r>
            <a:r>
              <a:rPr lang="en-US" sz="2400" b="1" i="1" dirty="0"/>
              <a:t>balanced budget</a:t>
            </a:r>
            <a:r>
              <a:rPr lang="en-US" sz="2400" b="1" dirty="0"/>
              <a:t>. </a:t>
            </a:r>
          </a:p>
          <a:p>
            <a:pPr marL="0" indent="0">
              <a:spcBef>
                <a:spcPts val="0"/>
              </a:spcBef>
              <a:spcAft>
                <a:spcPts val="1200"/>
              </a:spcAft>
              <a:buNone/>
            </a:pPr>
            <a:r>
              <a:rPr lang="en-US" sz="2400" dirty="0"/>
              <a:t>Negative and positive values for </a:t>
            </a:r>
            <a:r>
              <a:rPr lang="en-US" sz="2400" i="1" dirty="0" err="1"/>
              <a:t>S</a:t>
            </a:r>
            <a:r>
              <a:rPr lang="en-US" sz="2400" baseline="-25000" dirty="0" err="1"/>
              <a:t>Public</a:t>
            </a:r>
            <a:r>
              <a:rPr lang="en-US" sz="2400" dirty="0"/>
              <a:t> are known as </a:t>
            </a:r>
            <a:r>
              <a:rPr lang="en-US" sz="2400" b="1" i="1" dirty="0"/>
              <a:t>budget deficits </a:t>
            </a:r>
            <a:r>
              <a:rPr lang="en-US" sz="2400" dirty="0"/>
              <a:t>and </a:t>
            </a:r>
            <a:r>
              <a:rPr lang="en-US" sz="2400" b="1" i="1" dirty="0"/>
              <a:t>budget surpluses</a:t>
            </a:r>
            <a:r>
              <a:rPr lang="en-US" sz="2400" b="1" dirty="0"/>
              <a:t> </a:t>
            </a:r>
            <a:r>
              <a:rPr lang="en-US" sz="2400" dirty="0"/>
              <a:t>respectively.</a:t>
            </a:r>
          </a:p>
          <a:p>
            <a:pPr marL="0" indent="0">
              <a:spcBef>
                <a:spcPts val="0"/>
              </a:spcBef>
              <a:spcAft>
                <a:spcPts val="1200"/>
              </a:spcAft>
              <a:buNone/>
            </a:pPr>
            <a:r>
              <a:rPr lang="en-US" sz="2400" dirty="0"/>
              <a:t>Since the federal government funds its current deficits with borrowing (selling bonds), this takes away from the money available for investment spending.</a:t>
            </a:r>
          </a:p>
        </p:txBody>
      </p:sp>
    </p:spTree>
    <p:extLst>
      <p:ext uri="{BB962C8B-B14F-4D97-AF65-F5344CB8AC3E}">
        <p14:creationId xmlns:p14="http://schemas.microsoft.com/office/powerpoint/2010/main" val="244000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825"/>
            <a:ext cx="8229600" cy="511889"/>
          </a:xfrm>
        </p:spPr>
        <p:txBody>
          <a:bodyPr>
            <a:noAutofit/>
          </a:bodyPr>
          <a:lstStyle/>
          <a:p>
            <a:r>
              <a:rPr lang="en-IN" sz="3600" dirty="0">
                <a:latin typeface="+mj-lt"/>
              </a:rPr>
              <a:t>The Market for Loanable Funds</a:t>
            </a:r>
            <a:endParaRPr lang="en-US" sz="2800" dirty="0">
              <a:latin typeface="+mj-lt"/>
            </a:endParaRPr>
          </a:p>
        </p:txBody>
      </p:sp>
      <p:sp>
        <p:nvSpPr>
          <p:cNvPr id="3" name="Content Placeholder 2"/>
          <p:cNvSpPr>
            <a:spLocks noGrp="1"/>
          </p:cNvSpPr>
          <p:nvPr>
            <p:ph idx="1"/>
          </p:nvPr>
        </p:nvSpPr>
        <p:spPr>
          <a:xfrm>
            <a:off x="457200" y="846137"/>
            <a:ext cx="8229600" cy="5249863"/>
          </a:xfrm>
        </p:spPr>
        <p:txBody>
          <a:bodyPr>
            <a:noAutofit/>
          </a:bodyPr>
          <a:lstStyle/>
          <a:p>
            <a:pPr marL="0" indent="0">
              <a:spcBef>
                <a:spcPts val="1000"/>
              </a:spcBef>
              <a:buNone/>
            </a:pPr>
            <a:r>
              <a:rPr lang="en-US" sz="2400" dirty="0"/>
              <a:t>If saving must equal investment, how exactly does this occur?</a:t>
            </a:r>
          </a:p>
          <a:p>
            <a:pPr marL="0" indent="0">
              <a:spcBef>
                <a:spcPts val="1000"/>
              </a:spcBef>
              <a:buNone/>
            </a:pPr>
            <a:r>
              <a:rPr lang="en-US" sz="2400" dirty="0"/>
              <a:t>The financial system is composed of many different markets—the market for stocks, for bonds, for certificates of deposits at banks, etc.</a:t>
            </a:r>
          </a:p>
          <a:p>
            <a:pPr>
              <a:spcBef>
                <a:spcPts val="1000"/>
              </a:spcBef>
            </a:pPr>
            <a:r>
              <a:rPr lang="en-US" sz="2400" dirty="0"/>
              <a:t>A convenient way to think of all these different markets as making up the </a:t>
            </a:r>
            <a:r>
              <a:rPr lang="en-US" sz="2400" b="1" dirty="0"/>
              <a:t>market for loanable funds,</a:t>
            </a:r>
            <a:r>
              <a:rPr lang="en-US" sz="2400" dirty="0"/>
              <a:t> where an (conceptual) interaction of borrowers and lenders determine the market interest rate and the quantity of loanable funds exchanged.</a:t>
            </a:r>
          </a:p>
          <a:p>
            <a:pPr marL="0" indent="0">
              <a:spcBef>
                <a:spcPts val="1000"/>
              </a:spcBef>
              <a:buNone/>
            </a:pPr>
            <a:r>
              <a:rPr lang="en-US" sz="2400" dirty="0"/>
              <a:t>For now, we will assume that interactions are only between domestic households and firms—there is no interaction from foreign lenders and borrowers.</a:t>
            </a:r>
          </a:p>
        </p:txBody>
      </p:sp>
    </p:spTree>
    <p:extLst>
      <p:ext uri="{BB962C8B-B14F-4D97-AF65-F5344CB8AC3E}">
        <p14:creationId xmlns:p14="http://schemas.microsoft.com/office/powerpoint/2010/main" val="1201754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2820"/>
            <a:ext cx="8229600" cy="512979"/>
          </a:xfrm>
        </p:spPr>
        <p:txBody>
          <a:bodyPr>
            <a:noAutofit/>
          </a:bodyPr>
          <a:lstStyle/>
          <a:p>
            <a:r>
              <a:rPr lang="en-IN" sz="3200" dirty="0">
                <a:latin typeface="+mj-lt"/>
              </a:rPr>
              <a:t>Figure 6.3 The Market for Loanable Funds</a:t>
            </a:r>
            <a:endParaRPr lang="en-US" sz="3200" dirty="0">
              <a:latin typeface="+mj-lt"/>
            </a:endParaRPr>
          </a:p>
        </p:txBody>
      </p:sp>
      <p:sp>
        <p:nvSpPr>
          <p:cNvPr id="3" name="Content Placeholder 2"/>
          <p:cNvSpPr>
            <a:spLocks noGrp="1"/>
          </p:cNvSpPr>
          <p:nvPr>
            <p:ph idx="1"/>
          </p:nvPr>
        </p:nvSpPr>
        <p:spPr>
          <a:xfrm>
            <a:off x="457200" y="990600"/>
            <a:ext cx="4114800" cy="5248274"/>
          </a:xfrm>
        </p:spPr>
        <p:txBody>
          <a:bodyPr>
            <a:noAutofit/>
          </a:bodyPr>
          <a:lstStyle/>
          <a:p>
            <a:pPr marL="0" indent="0">
              <a:spcBef>
                <a:spcPts val="0"/>
              </a:spcBef>
              <a:spcAft>
                <a:spcPts val="1200"/>
              </a:spcAft>
              <a:buNone/>
            </a:pPr>
            <a:r>
              <a:rPr lang="en-US" sz="2200" dirty="0"/>
              <a:t>Firms borrow loanable funds from households. The lower the real interest rate the more they borrow. </a:t>
            </a:r>
          </a:p>
          <a:p>
            <a:pPr marL="0" indent="0">
              <a:spcBef>
                <a:spcPts val="0"/>
              </a:spcBef>
              <a:spcAft>
                <a:spcPts val="1200"/>
              </a:spcAft>
              <a:buNone/>
            </a:pPr>
            <a:r>
              <a:rPr lang="en-US" sz="2200" dirty="0"/>
              <a:t>Households supply loanable funds to firms. The greater the reward for delaying consumption—a higher real interest rate – the more they save.</a:t>
            </a:r>
          </a:p>
          <a:p>
            <a:pPr marL="0" indent="0">
              <a:spcBef>
                <a:spcPts val="0"/>
              </a:spcBef>
              <a:spcAft>
                <a:spcPts val="1200"/>
              </a:spcAft>
              <a:buNone/>
            </a:pPr>
            <a:r>
              <a:rPr lang="en-US" sz="2200" dirty="0"/>
              <a:t>Governments, through their saving or dissaving, affect the quantity of funds that “pass through” to firms.</a:t>
            </a:r>
          </a:p>
        </p:txBody>
      </p:sp>
      <p:pic>
        <p:nvPicPr>
          <p:cNvPr id="5" name="Picture 4" descr="The vertical axis represents interest rate, and the horizontal axis represents loanable funds in dollars per year. The increasing line for supply of loanable funds intersects the decreasing line of demand for loanable funds at a point. The point at the intersection is marked equilibrium of interest rate on the vertical axis, and equilibrium quantity of loanable funds on the horizontal axis.">
            <a:extLst>
              <a:ext uri="{FF2B5EF4-FFF2-40B4-BE49-F238E27FC236}">
                <a16:creationId xmlns:a16="http://schemas.microsoft.com/office/drawing/2014/main" id="{1D4EE2AC-DCB2-99F1-2251-B93385B9E89F}"/>
              </a:ext>
            </a:extLst>
          </p:cNvPr>
          <p:cNvPicPr>
            <a:picLocks noChangeAspect="1"/>
          </p:cNvPicPr>
          <p:nvPr/>
        </p:nvPicPr>
        <p:blipFill rotWithShape="1">
          <a:blip r:embed="rId3">
            <a:extLst>
              <a:ext uri="{28A0092B-C50C-407E-A947-70E740481C1C}">
                <a14:useLocalDpi xmlns:a14="http://schemas.microsoft.com/office/drawing/2010/main" val="0"/>
              </a:ext>
            </a:extLst>
          </a:blip>
          <a:srcRect l="15070" t="23592" r="12575"/>
          <a:stretch/>
        </p:blipFill>
        <p:spPr>
          <a:xfrm>
            <a:off x="4572000" y="952500"/>
            <a:ext cx="4419600" cy="3307080"/>
          </a:xfrm>
          <a:prstGeom prst="rect">
            <a:avLst/>
          </a:prstGeom>
        </p:spPr>
      </p:pic>
    </p:spTree>
    <p:extLst>
      <p:ext uri="{BB962C8B-B14F-4D97-AF65-F5344CB8AC3E}">
        <p14:creationId xmlns:p14="http://schemas.microsoft.com/office/powerpoint/2010/main" val="1264853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1FC82C7-6AE9-EEF5-4586-98B205AA7C1D}"/>
              </a:ext>
            </a:extLst>
          </p:cNvPr>
          <p:cNvSpPr>
            <a:spLocks noGrp="1"/>
          </p:cNvSpPr>
          <p:nvPr>
            <p:ph type="title"/>
          </p:nvPr>
        </p:nvSpPr>
        <p:spPr>
          <a:xfrm>
            <a:off x="457200" y="228600"/>
            <a:ext cx="8229600" cy="1097279"/>
          </a:xfrm>
        </p:spPr>
        <p:txBody>
          <a:bodyPr/>
          <a:lstStyle/>
          <a:p>
            <a:r>
              <a:rPr lang="en-US" dirty="0">
                <a:latin typeface="+mj-lt"/>
              </a:rPr>
              <a:t>Figure 6.4 An Increase in the Demand for Loanable Funds</a:t>
            </a:r>
            <a:endParaRPr lang="en-IN" dirty="0">
              <a:latin typeface="+mj-lt"/>
            </a:endParaRPr>
          </a:p>
        </p:txBody>
      </p:sp>
      <p:sp>
        <p:nvSpPr>
          <p:cNvPr id="8" name="Content Placeholder 5">
            <a:extLst>
              <a:ext uri="{FF2B5EF4-FFF2-40B4-BE49-F238E27FC236}">
                <a16:creationId xmlns:a16="http://schemas.microsoft.com/office/drawing/2014/main" id="{C2B63CFC-579F-C593-ED76-6333550861D0}"/>
              </a:ext>
            </a:extLst>
          </p:cNvPr>
          <p:cNvSpPr txBox="1">
            <a:spLocks/>
          </p:cNvSpPr>
          <p:nvPr/>
        </p:nvSpPr>
        <p:spPr>
          <a:xfrm>
            <a:off x="457200" y="1558412"/>
            <a:ext cx="3505200" cy="446138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200"/>
              <a:buFont typeface="Arial" panose="020B0604020202020204" pitchFamily="34" charset="0"/>
              <a:buNone/>
            </a:pPr>
            <a:r>
              <a:rPr lang="en-US" sz="2400" dirty="0"/>
              <a:t>Suppose that technological change occurs so that investments become more profitable for firms.</a:t>
            </a:r>
          </a:p>
          <a:p>
            <a:pPr marL="0" indent="0">
              <a:buSzPts val="2200"/>
              <a:buFont typeface="Arial" panose="020B0604020202020204" pitchFamily="34" charset="0"/>
              <a:buNone/>
            </a:pPr>
            <a:r>
              <a:rPr lang="en-US" sz="2400" dirty="0"/>
              <a:t>This will increase the demand for loanable funds.</a:t>
            </a:r>
          </a:p>
          <a:p>
            <a:pPr marL="0" lvl="0" indent="0">
              <a:buSzPts val="2200"/>
              <a:buNone/>
            </a:pPr>
            <a:r>
              <a:rPr lang="en-US" sz="2400" dirty="0"/>
              <a:t>The real interest rate will rise, as will the quantity of funds loaned.</a:t>
            </a:r>
          </a:p>
        </p:txBody>
      </p:sp>
      <p:pic>
        <p:nvPicPr>
          <p:cNvPr id="3" name="Picture 2" descr="The vertical axis represents interest rate and the horizontal axis represents loanable funds in dollars per year. The graph shows two decreasing line of demand D subscript 1 and D subscript 2 intersects an increasing line of supply of loanable funds at (L subscript 1, r subscript 1) and (L subscript 1, r subscript 2) respectively. A set of 2 arrows are extending from line D subscript 1 to D subscript 2.">
            <a:extLst>
              <a:ext uri="{FF2B5EF4-FFF2-40B4-BE49-F238E27FC236}">
                <a16:creationId xmlns:a16="http://schemas.microsoft.com/office/drawing/2014/main" id="{6CE4719D-70E0-9D80-3C9C-325B27C3DE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4800" y="1676400"/>
            <a:ext cx="4739537" cy="3889888"/>
          </a:xfrm>
          <a:prstGeom prst="rect">
            <a:avLst/>
          </a:prstGeom>
        </p:spPr>
      </p:pic>
    </p:spTree>
    <p:extLst>
      <p:ext uri="{BB962C8B-B14F-4D97-AF65-F5344CB8AC3E}">
        <p14:creationId xmlns:p14="http://schemas.microsoft.com/office/powerpoint/2010/main" val="1783011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733"/>
            <a:ext cx="8229600" cy="1107996"/>
          </a:xfrm>
        </p:spPr>
        <p:txBody>
          <a:bodyPr>
            <a:noAutofit/>
          </a:bodyPr>
          <a:lstStyle/>
          <a:p>
            <a:r>
              <a:rPr lang="en-IN" dirty="0">
                <a:latin typeface="+mj-lt"/>
              </a:rPr>
              <a:t>Figure 6.5 An Increase in the Supply of Loanable Funds</a:t>
            </a:r>
            <a:endParaRPr lang="en-US" dirty="0">
              <a:latin typeface="+mj-lt"/>
            </a:endParaRPr>
          </a:p>
        </p:txBody>
      </p:sp>
      <p:sp>
        <p:nvSpPr>
          <p:cNvPr id="3" name="Content Placeholder 2"/>
          <p:cNvSpPr>
            <a:spLocks noGrp="1"/>
          </p:cNvSpPr>
          <p:nvPr>
            <p:ph idx="1"/>
          </p:nvPr>
        </p:nvSpPr>
        <p:spPr>
          <a:xfrm>
            <a:off x="457200" y="1485305"/>
            <a:ext cx="4114800" cy="3620095"/>
          </a:xfrm>
        </p:spPr>
        <p:txBody>
          <a:bodyPr>
            <a:noAutofit/>
          </a:bodyPr>
          <a:lstStyle/>
          <a:p>
            <a:pPr>
              <a:spcBef>
                <a:spcPts val="1000"/>
              </a:spcBef>
            </a:pPr>
            <a:r>
              <a:rPr lang="en-US" sz="2400" dirty="0"/>
              <a:t>Suppose household change their beliefs about saving and start saving more at any interest rate.</a:t>
            </a:r>
          </a:p>
          <a:p>
            <a:pPr>
              <a:spcBef>
                <a:spcPts val="1000"/>
              </a:spcBef>
            </a:pPr>
            <a:r>
              <a:rPr lang="en-US" sz="2400" dirty="0"/>
              <a:t>The supply of loanable funds will shift to the right.</a:t>
            </a:r>
          </a:p>
          <a:p>
            <a:pPr>
              <a:spcBef>
                <a:spcPts val="1000"/>
              </a:spcBef>
            </a:pPr>
            <a:r>
              <a:rPr lang="en-US" sz="2400" dirty="0"/>
              <a:t>The real interest rate will fall, and the quantity of funds loaned will increase.</a:t>
            </a:r>
          </a:p>
        </p:txBody>
      </p:sp>
      <p:pic>
        <p:nvPicPr>
          <p:cNvPr id="5" name="Picture 4" descr="The vertical axis represents interest rate and the horizontal axis represents loanable funds in dollars per year. The graph shows a decreasing line of demand for loanable funds intersects two increasing parallel lines of supply, s subscript 1 and s subscript 2 at (L subscript 1, r subscript 1) and (L subscript 2, r subscript 2) respectively. A set of 2 arrows are extending from line S subscript 1 to S subscript 2 in right direction.">
            <a:extLst>
              <a:ext uri="{FF2B5EF4-FFF2-40B4-BE49-F238E27FC236}">
                <a16:creationId xmlns:a16="http://schemas.microsoft.com/office/drawing/2014/main" id="{35AE7209-E414-3E3D-4D8D-78944C6740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1612391"/>
            <a:ext cx="4147482" cy="3365921"/>
          </a:xfrm>
          <a:prstGeom prst="rect">
            <a:avLst/>
          </a:prstGeom>
        </p:spPr>
      </p:pic>
    </p:spTree>
    <p:extLst>
      <p:ext uri="{BB962C8B-B14F-4D97-AF65-F5344CB8AC3E}">
        <p14:creationId xmlns:p14="http://schemas.microsoft.com/office/powerpoint/2010/main" val="3813022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733"/>
            <a:ext cx="8229600" cy="1107996"/>
          </a:xfrm>
        </p:spPr>
        <p:txBody>
          <a:bodyPr>
            <a:noAutofit/>
          </a:bodyPr>
          <a:lstStyle/>
          <a:p>
            <a:r>
              <a:rPr lang="en-IN" dirty="0">
                <a:latin typeface="+mj-lt"/>
              </a:rPr>
              <a:t>Figure 6.6 The Effect of a Budget Deficit on the Market for Loanable Funds</a:t>
            </a:r>
            <a:endParaRPr lang="en-US" dirty="0">
              <a:latin typeface="+mj-lt"/>
            </a:endParaRPr>
          </a:p>
        </p:txBody>
      </p:sp>
      <p:sp>
        <p:nvSpPr>
          <p:cNvPr id="3" name="Content Placeholder 2"/>
          <p:cNvSpPr>
            <a:spLocks noGrp="1"/>
          </p:cNvSpPr>
          <p:nvPr>
            <p:ph idx="1"/>
          </p:nvPr>
        </p:nvSpPr>
        <p:spPr>
          <a:xfrm>
            <a:off x="457200" y="1428750"/>
            <a:ext cx="4267200" cy="4895850"/>
          </a:xfrm>
        </p:spPr>
        <p:txBody>
          <a:bodyPr>
            <a:noAutofit/>
          </a:bodyPr>
          <a:lstStyle/>
          <a:p>
            <a:pPr marL="0" indent="0">
              <a:spcBef>
                <a:spcPts val="1000"/>
              </a:spcBef>
              <a:spcAft>
                <a:spcPts val="0"/>
              </a:spcAft>
              <a:buNone/>
            </a:pPr>
            <a:r>
              <a:rPr lang="en-US" sz="2100" dirty="0"/>
              <a:t>Suppose the government runs a budget deficit.</a:t>
            </a:r>
          </a:p>
          <a:p>
            <a:pPr marL="0" indent="0">
              <a:spcBef>
                <a:spcPts val="1000"/>
              </a:spcBef>
              <a:spcAft>
                <a:spcPts val="0"/>
              </a:spcAft>
              <a:buNone/>
            </a:pPr>
            <a:r>
              <a:rPr lang="en-US" sz="2100" dirty="0"/>
              <a:t>To fund the deficit, it borrows from households, decreasing the supply of funds available to firms.</a:t>
            </a:r>
          </a:p>
          <a:p>
            <a:pPr marL="0" indent="0">
              <a:spcBef>
                <a:spcPts val="1000"/>
              </a:spcBef>
              <a:spcAft>
                <a:spcPts val="0"/>
              </a:spcAft>
              <a:buNone/>
            </a:pPr>
            <a:r>
              <a:rPr lang="en-US" sz="2100" dirty="0"/>
              <a:t>This raises the equilibrium real interest rate, and decreases the funds loaned to firms.</a:t>
            </a:r>
          </a:p>
          <a:p>
            <a:pPr>
              <a:spcBef>
                <a:spcPts val="1000"/>
              </a:spcBef>
            </a:pPr>
            <a:r>
              <a:rPr lang="en-US" sz="2100" dirty="0"/>
              <a:t>This is referred to as </a:t>
            </a:r>
            <a:r>
              <a:rPr lang="en-US" sz="2100" b="1" dirty="0"/>
              <a:t>crowding out:</a:t>
            </a:r>
            <a:r>
              <a:rPr lang="en-US" sz="2100" dirty="0"/>
              <a:t> the decline in private expenditures as a result of an increase in government purchases.</a:t>
            </a:r>
          </a:p>
        </p:txBody>
      </p:sp>
      <p:pic>
        <p:nvPicPr>
          <p:cNvPr id="5" name="Picture 4" descr="The vertical axis represents interest rate and the horizontal axis represents loanable funds in dollars per year. The graph shows a decreasing line of demand for loanable funds intersects two increasing parallel lines supply, s subscript 2 and s subscript 1 at (L subscript 2, r subscript 2) and (L subscript 1, r subscript 1) respectively. A set of 2 arrows are extending from line S subscript 1 to S subscript 2 in left direction.">
            <a:extLst>
              <a:ext uri="{FF2B5EF4-FFF2-40B4-BE49-F238E27FC236}">
                <a16:creationId xmlns:a16="http://schemas.microsoft.com/office/drawing/2014/main" id="{6CEB6EC5-7D11-78B7-197F-7D00B463AB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1463754"/>
            <a:ext cx="4069757" cy="3346704"/>
          </a:xfrm>
          <a:prstGeom prst="rect">
            <a:avLst/>
          </a:prstGeom>
        </p:spPr>
      </p:pic>
    </p:spTree>
    <p:extLst>
      <p:ext uri="{BB962C8B-B14F-4D97-AF65-F5344CB8AC3E}">
        <p14:creationId xmlns:p14="http://schemas.microsoft.com/office/powerpoint/2010/main" val="2488787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400" dirty="0">
                <a:latin typeface="+mj-lt"/>
              </a:rPr>
              <a:t>How Important is Crowding Out?</a:t>
            </a:r>
            <a:endParaRPr lang="en-US" sz="3400" dirty="0">
              <a:latin typeface="+mj-lt"/>
            </a:endParaRPr>
          </a:p>
        </p:txBody>
      </p:sp>
      <p:sp>
        <p:nvSpPr>
          <p:cNvPr id="3" name="Content Placeholder 2"/>
          <p:cNvSpPr>
            <a:spLocks noGrp="1"/>
          </p:cNvSpPr>
          <p:nvPr>
            <p:ph idx="1"/>
          </p:nvPr>
        </p:nvSpPr>
        <p:spPr/>
        <p:txBody>
          <a:bodyPr>
            <a:noAutofit/>
          </a:bodyPr>
          <a:lstStyle/>
          <a:p>
            <a:pPr marL="0" indent="0">
              <a:spcBef>
                <a:spcPts val="1000"/>
              </a:spcBef>
              <a:buNone/>
            </a:pPr>
            <a:r>
              <a:rPr lang="en-US" dirty="0"/>
              <a:t>In practice, the effect of government budget deficits and surpluses on the equilibrium interest rate is relatively small.</a:t>
            </a:r>
          </a:p>
          <a:p>
            <a:pPr marL="0" indent="0">
              <a:spcBef>
                <a:spcPts val="1000"/>
              </a:spcBef>
              <a:buNone/>
            </a:pPr>
            <a:r>
              <a:rPr lang="en-US" dirty="0"/>
              <a:t>Why would the effect be so small?</a:t>
            </a:r>
          </a:p>
          <a:p>
            <a:pPr>
              <a:spcBef>
                <a:spcPts val="1000"/>
              </a:spcBef>
            </a:pPr>
            <a:r>
              <a:rPr lang="en-US" dirty="0"/>
              <a:t>Interest rates are influenced by global saving, so even a several billion dollars is a relatively minor amount.</a:t>
            </a:r>
          </a:p>
          <a:p>
            <a:pPr>
              <a:spcBef>
                <a:spcPts val="1000"/>
              </a:spcBef>
            </a:pPr>
            <a:r>
              <a:rPr lang="en-US" dirty="0"/>
              <a:t>Small, however, does not mean non-existent.</a:t>
            </a:r>
          </a:p>
          <a:p>
            <a:pPr>
              <a:spcBef>
                <a:spcPts val="1000"/>
              </a:spcBef>
            </a:pPr>
            <a:r>
              <a:rPr lang="en-US" dirty="0"/>
              <a:t>Paying off government debt in future may require higher taxes, which can depress economic growth.</a:t>
            </a:r>
          </a:p>
        </p:txBody>
      </p:sp>
    </p:spTree>
    <p:extLst>
      <p:ext uri="{BB962C8B-B14F-4D97-AF65-F5344CB8AC3E}">
        <p14:creationId xmlns:p14="http://schemas.microsoft.com/office/powerpoint/2010/main" val="1994245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775228"/>
          </a:xfrm>
        </p:spPr>
        <p:txBody>
          <a:bodyPr>
            <a:noAutofit/>
          </a:bodyPr>
          <a:lstStyle/>
          <a:p>
            <a:r>
              <a:rPr lang="en-US" dirty="0">
                <a:latin typeface="+mj-lt"/>
              </a:rPr>
              <a:t>The Business Cycle</a:t>
            </a:r>
          </a:p>
        </p:txBody>
      </p:sp>
      <p:sp>
        <p:nvSpPr>
          <p:cNvPr id="5" name="Text Placeholder 4">
            <a:extLst>
              <a:ext uri="{FF2B5EF4-FFF2-40B4-BE49-F238E27FC236}">
                <a16:creationId xmlns:a16="http://schemas.microsoft.com/office/drawing/2014/main" id="{85130C57-B224-B328-2ACC-F516D0A62504}"/>
              </a:ext>
            </a:extLst>
          </p:cNvPr>
          <p:cNvSpPr>
            <a:spLocks noGrp="1"/>
          </p:cNvSpPr>
          <p:nvPr>
            <p:ph type="body" sz="quarter" idx="13"/>
          </p:nvPr>
        </p:nvSpPr>
        <p:spPr>
          <a:xfrm>
            <a:off x="457200" y="1143000"/>
            <a:ext cx="8229600" cy="402770"/>
          </a:xfrm>
        </p:spPr>
        <p:txBody>
          <a:bodyPr/>
          <a:lstStyle/>
          <a:p>
            <a:r>
              <a:rPr lang="en-US" sz="2400" b="1" dirty="0">
                <a:solidFill>
                  <a:schemeClr val="tx1"/>
                </a:solidFill>
              </a:rPr>
              <a:t>6.3 Learning Objective</a:t>
            </a:r>
          </a:p>
        </p:txBody>
      </p:sp>
      <p:sp>
        <p:nvSpPr>
          <p:cNvPr id="3" name="Content Placeholder 2"/>
          <p:cNvSpPr>
            <a:spLocks noGrp="1"/>
          </p:cNvSpPr>
          <p:nvPr>
            <p:ph sz="quarter" idx="14"/>
          </p:nvPr>
        </p:nvSpPr>
        <p:spPr>
          <a:xfrm>
            <a:off x="457200" y="1828800"/>
            <a:ext cx="8229600" cy="4297363"/>
          </a:xfrm>
        </p:spPr>
        <p:txBody>
          <a:bodyPr>
            <a:noAutofit/>
          </a:bodyPr>
          <a:lstStyle/>
          <a:p>
            <a:pPr marL="0" indent="0">
              <a:spcBef>
                <a:spcPts val="1000"/>
              </a:spcBef>
              <a:buNone/>
            </a:pPr>
            <a:r>
              <a:rPr lang="en-IN" dirty="0"/>
              <a:t>Explain what happens during the business cycle.</a:t>
            </a:r>
          </a:p>
          <a:p>
            <a:pPr marL="0" indent="0">
              <a:spcBef>
                <a:spcPts val="1000"/>
              </a:spcBef>
              <a:buNone/>
            </a:pPr>
            <a:r>
              <a:rPr lang="en-US" dirty="0"/>
              <a:t>While real GDP per capita has risen about three-fold since 1961, it has not risen consistently every year.</a:t>
            </a:r>
          </a:p>
        </p:txBody>
      </p:sp>
    </p:spTree>
    <p:extLst>
      <p:ext uri="{BB962C8B-B14F-4D97-AF65-F5344CB8AC3E}">
        <p14:creationId xmlns:p14="http://schemas.microsoft.com/office/powerpoint/2010/main" val="3366841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1802"/>
            <a:ext cx="8229600" cy="553998"/>
          </a:xfrm>
        </p:spPr>
        <p:txBody>
          <a:bodyPr>
            <a:noAutofit/>
          </a:bodyPr>
          <a:lstStyle/>
          <a:p>
            <a:r>
              <a:rPr lang="en-IN" dirty="0">
                <a:solidFill>
                  <a:schemeClr val="tx1"/>
                </a:solidFill>
                <a:latin typeface="+mj-lt"/>
              </a:rPr>
              <a:t>Figure 6.7 The Business Cycle </a:t>
            </a:r>
            <a:r>
              <a:rPr lang="en-US" sz="2000" b="0" dirty="0">
                <a:solidFill>
                  <a:schemeClr val="tx1"/>
                </a:solidFill>
                <a:latin typeface="+mj-lt"/>
              </a:rPr>
              <a:t>(1 of 2)</a:t>
            </a:r>
            <a:endParaRPr lang="en-US" sz="2000" dirty="0">
              <a:solidFill>
                <a:schemeClr val="tx1"/>
              </a:solidFill>
              <a:latin typeface="+mj-lt"/>
            </a:endParaRPr>
          </a:p>
        </p:txBody>
      </p:sp>
      <p:sp>
        <p:nvSpPr>
          <p:cNvPr id="3" name="Content Placeholder 2"/>
          <p:cNvSpPr>
            <a:spLocks noGrp="1"/>
          </p:cNvSpPr>
          <p:nvPr>
            <p:ph sz="quarter" idx="13"/>
          </p:nvPr>
        </p:nvSpPr>
        <p:spPr>
          <a:xfrm>
            <a:off x="457200" y="894576"/>
            <a:ext cx="8229600" cy="2382024"/>
          </a:xfrm>
        </p:spPr>
        <p:txBody>
          <a:bodyPr>
            <a:noAutofit/>
          </a:bodyPr>
          <a:lstStyle/>
          <a:p>
            <a:pPr marL="0" indent="0">
              <a:spcBef>
                <a:spcPts val="600"/>
              </a:spcBef>
              <a:spcAft>
                <a:spcPts val="0"/>
              </a:spcAft>
              <a:buNone/>
            </a:pPr>
            <a:r>
              <a:rPr lang="en-US" sz="2400" dirty="0"/>
              <a:t>The figure shows a typical idealized path for real GDP—rising, falling, then rising again.</a:t>
            </a:r>
          </a:p>
          <a:p>
            <a:pPr marL="0" indent="0">
              <a:spcBef>
                <a:spcPts val="600"/>
              </a:spcBef>
              <a:spcAft>
                <a:spcPts val="0"/>
              </a:spcAft>
              <a:buNone/>
            </a:pPr>
            <a:r>
              <a:rPr lang="en-US" sz="2400" dirty="0"/>
              <a:t>The phases of rising are known as </a:t>
            </a:r>
            <a:r>
              <a:rPr lang="en-US" sz="2400" i="1" dirty="0"/>
              <a:t>expansions</a:t>
            </a:r>
            <a:r>
              <a:rPr lang="en-US" sz="2400" dirty="0"/>
              <a:t>; the periods of falling are </a:t>
            </a:r>
            <a:r>
              <a:rPr lang="en-US" sz="2400" i="1" dirty="0"/>
              <a:t>recessions</a:t>
            </a:r>
            <a:r>
              <a:rPr lang="en-US" sz="2400" dirty="0"/>
              <a:t>.</a:t>
            </a:r>
          </a:p>
          <a:p>
            <a:pPr marL="0" indent="0">
              <a:spcBef>
                <a:spcPts val="600"/>
              </a:spcBef>
              <a:spcAft>
                <a:spcPts val="0"/>
              </a:spcAft>
              <a:buNone/>
            </a:pPr>
            <a:r>
              <a:rPr lang="en-US" sz="2400" dirty="0"/>
              <a:t>We refer to the points at which the economy changes from one phase to the other as </a:t>
            </a:r>
            <a:r>
              <a:rPr lang="en-US" sz="2400" i="1" dirty="0"/>
              <a:t>peaks</a:t>
            </a:r>
            <a:r>
              <a:rPr lang="en-US" sz="2400" dirty="0"/>
              <a:t> or </a:t>
            </a:r>
            <a:r>
              <a:rPr lang="en-US" sz="2400" i="1" dirty="0"/>
              <a:t>troughs</a:t>
            </a:r>
            <a:r>
              <a:rPr lang="en-US" sz="2400" dirty="0"/>
              <a:t>, respectively.</a:t>
            </a:r>
          </a:p>
        </p:txBody>
      </p:sp>
      <p:pic>
        <p:nvPicPr>
          <p:cNvPr id="6" name="Picture 5" descr="The first graph is for an idealized business cycle. The horizontal axis of the graph represents time, and the vertical axis represents real G D P. The curve rises to the peak from left to right, then falls to the trough, and again rises. The range from the starting to the peak is labeled expansion, from peak to trough labeled recession, and from trough to end labeled expansion.">
            <a:extLst>
              <a:ext uri="{FF2B5EF4-FFF2-40B4-BE49-F238E27FC236}">
                <a16:creationId xmlns:a16="http://schemas.microsoft.com/office/drawing/2014/main" id="{7D79503B-0197-380F-26DE-DA7C913890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28323" y="3330476"/>
            <a:ext cx="3087354" cy="2483047"/>
          </a:xfrm>
          <a:prstGeom prst="rect">
            <a:avLst/>
          </a:prstGeom>
        </p:spPr>
      </p:pic>
      <p:sp>
        <p:nvSpPr>
          <p:cNvPr id="5" name="TextBox 4">
            <a:extLst>
              <a:ext uri="{FF2B5EF4-FFF2-40B4-BE49-F238E27FC236}">
                <a16:creationId xmlns:a16="http://schemas.microsoft.com/office/drawing/2014/main" id="{5CD4BFA6-A861-6FCB-ADE3-D6FDD9D11F3C}"/>
              </a:ext>
            </a:extLst>
          </p:cNvPr>
          <p:cNvSpPr txBox="1"/>
          <p:nvPr/>
        </p:nvSpPr>
        <p:spPr>
          <a:xfrm>
            <a:off x="757237" y="5867399"/>
            <a:ext cx="7629525" cy="461665"/>
          </a:xfrm>
          <a:prstGeom prst="rect">
            <a:avLst/>
          </a:prstGeom>
          <a:noFill/>
        </p:spPr>
        <p:txBody>
          <a:bodyPr wrap="square">
            <a:spAutoFit/>
          </a:bodyPr>
          <a:lstStyle/>
          <a:p>
            <a:r>
              <a:rPr lang="en-US" sz="1200" b="1" i="0" u="none" strike="noStrike" baseline="0" dirty="0">
                <a:latin typeface="+mj-lt"/>
              </a:rPr>
              <a:t>SOURCE: </a:t>
            </a:r>
            <a:r>
              <a:rPr lang="en-US" sz="1200" i="0" u="none" strike="noStrike" baseline="0" dirty="0">
                <a:latin typeface="+mj-lt"/>
              </a:rPr>
              <a:t>Statistics Canada, “Gross Domestic Product, Expenditure Based, Canada, Quarterly (×1,000,000),” Table 36-10-0104-01.</a:t>
            </a:r>
            <a:endParaRPr lang="en-US" sz="1200" dirty="0">
              <a:latin typeface="+mj-lt"/>
            </a:endParaRPr>
          </a:p>
        </p:txBody>
      </p:sp>
    </p:spTree>
    <p:extLst>
      <p:ext uri="{BB962C8B-B14F-4D97-AF65-F5344CB8AC3E}">
        <p14:creationId xmlns:p14="http://schemas.microsoft.com/office/powerpoint/2010/main" val="697257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8B7347-44A3-49F1-2F23-7F64330ADE89}"/>
              </a:ext>
            </a:extLst>
          </p:cNvPr>
          <p:cNvSpPr>
            <a:spLocks noGrp="1"/>
          </p:cNvSpPr>
          <p:nvPr>
            <p:ph type="title"/>
          </p:nvPr>
        </p:nvSpPr>
        <p:spPr>
          <a:xfrm>
            <a:off x="457200" y="208002"/>
            <a:ext cx="8229600" cy="553998"/>
          </a:xfrm>
        </p:spPr>
        <p:txBody>
          <a:bodyPr>
            <a:noAutofit/>
          </a:bodyPr>
          <a:lstStyle/>
          <a:p>
            <a:r>
              <a:rPr lang="en-IN" dirty="0">
                <a:solidFill>
                  <a:schemeClr val="tx1"/>
                </a:solidFill>
                <a:latin typeface="+mj-lt"/>
              </a:rPr>
              <a:t>Figure 6.7 The Business Cycle </a:t>
            </a:r>
            <a:r>
              <a:rPr lang="en-US" sz="2000" b="0" dirty="0">
                <a:solidFill>
                  <a:schemeClr val="tx1"/>
                </a:solidFill>
                <a:latin typeface="+mj-lt"/>
              </a:rPr>
              <a:t>(2 of 2)</a:t>
            </a:r>
            <a:endParaRPr lang="en-US" sz="2000" dirty="0">
              <a:solidFill>
                <a:schemeClr val="tx1"/>
              </a:solidFill>
              <a:latin typeface="+mj-lt"/>
            </a:endParaRPr>
          </a:p>
        </p:txBody>
      </p:sp>
      <p:sp>
        <p:nvSpPr>
          <p:cNvPr id="3" name="Content Placeholder 2"/>
          <p:cNvSpPr>
            <a:spLocks noGrp="1"/>
          </p:cNvSpPr>
          <p:nvPr>
            <p:ph sz="quarter" idx="13"/>
          </p:nvPr>
        </p:nvSpPr>
        <p:spPr>
          <a:xfrm>
            <a:off x="457200" y="986909"/>
            <a:ext cx="8229600" cy="2746891"/>
          </a:xfrm>
        </p:spPr>
        <p:txBody>
          <a:bodyPr>
            <a:noAutofit/>
          </a:bodyPr>
          <a:lstStyle/>
          <a:p>
            <a:pPr marL="0" indent="0">
              <a:spcBef>
                <a:spcPts val="600"/>
              </a:spcBef>
              <a:buNone/>
            </a:pPr>
            <a:r>
              <a:rPr lang="en-US" sz="1800" dirty="0"/>
              <a:t>This figure shows the movements in Canadian real GDP from 2006 to 2021.</a:t>
            </a:r>
          </a:p>
          <a:p>
            <a:pPr marL="0" indent="0">
              <a:spcBef>
                <a:spcPts val="600"/>
              </a:spcBef>
              <a:buNone/>
            </a:pPr>
            <a:r>
              <a:rPr lang="en-CA" sz="1800" dirty="0">
                <a:effectLst/>
                <a:ea typeface="Malgun Gothic" panose="020B0503020000020004" pitchFamily="34" charset="-127"/>
                <a:cs typeface="Times New Roman" panose="02020603050405020304" pitchFamily="18" charset="0"/>
              </a:rPr>
              <a:t>After the peak of the business cycle in 2008, the economy entered recession from 2008 to 2009, when the trough of the business cycle was reached and expansion started again.</a:t>
            </a:r>
          </a:p>
          <a:p>
            <a:pPr marL="0" indent="0">
              <a:spcBef>
                <a:spcPts val="600"/>
              </a:spcBef>
              <a:buNone/>
            </a:pPr>
            <a:r>
              <a:rPr lang="en-CA" sz="1800" dirty="0">
                <a:effectLst/>
                <a:ea typeface="Malgun Gothic" panose="020B0503020000020004" pitchFamily="34" charset="-127"/>
                <a:cs typeface="Times New Roman" panose="02020603050405020304" pitchFamily="18" charset="0"/>
              </a:rPr>
              <a:t>After the next peak occurred in 2019, the recession started during the first portion of 2020 due to a blow from the COVID-19 pandemic was particularly deep, with the trough being in between April and June 2020. </a:t>
            </a:r>
          </a:p>
          <a:p>
            <a:pPr marL="0" indent="0">
              <a:spcBef>
                <a:spcPts val="600"/>
              </a:spcBef>
              <a:buNone/>
            </a:pPr>
            <a:r>
              <a:rPr lang="en-CA" sz="1800" dirty="0">
                <a:effectLst/>
                <a:ea typeface="Malgun Gothic" panose="020B0503020000020004" pitchFamily="34" charset="-127"/>
                <a:cs typeface="Times New Roman" panose="02020603050405020304" pitchFamily="18" charset="0"/>
              </a:rPr>
              <a:t>The economy began to recover toward the end of 2020 and had only reached the same level as in 2019 at the end of 2021.</a:t>
            </a:r>
          </a:p>
        </p:txBody>
      </p:sp>
      <p:pic>
        <p:nvPicPr>
          <p:cNvPr id="5" name="Picture 4" descr="The second graph is for actual movements in G D P. The horizontal axis represents the time ranges from 2000 to 20 18 in the increment of 2 years, and the vertical axis represents the real G D P ranges from 1,400,000 to 2,100,000 in the increment of 100,000. The curve moves from left to right and passes through (2001, 1,500,000), peak at (2008, 1,750,000), trough at (2009, 1,700,000), and (2016, 1,900,000). The range between peak and trough labeled recession and rest expansion. All values are estimated.">
            <a:extLst>
              <a:ext uri="{FF2B5EF4-FFF2-40B4-BE49-F238E27FC236}">
                <a16:creationId xmlns:a16="http://schemas.microsoft.com/office/drawing/2014/main" id="{A622F7A5-59A0-26EA-42EA-F6A5901726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20230" y="3811034"/>
            <a:ext cx="2217985" cy="2020924"/>
          </a:xfrm>
          <a:prstGeom prst="rect">
            <a:avLst/>
          </a:prstGeom>
        </p:spPr>
      </p:pic>
      <p:sp>
        <p:nvSpPr>
          <p:cNvPr id="4" name="TextBox 3">
            <a:extLst>
              <a:ext uri="{FF2B5EF4-FFF2-40B4-BE49-F238E27FC236}">
                <a16:creationId xmlns:a16="http://schemas.microsoft.com/office/drawing/2014/main" id="{7A2EDB03-D20C-D66E-9834-F864EB0B2555}"/>
              </a:ext>
            </a:extLst>
          </p:cNvPr>
          <p:cNvSpPr txBox="1"/>
          <p:nvPr/>
        </p:nvSpPr>
        <p:spPr>
          <a:xfrm>
            <a:off x="881123" y="5871091"/>
            <a:ext cx="7696200" cy="461665"/>
          </a:xfrm>
          <a:prstGeom prst="rect">
            <a:avLst/>
          </a:prstGeom>
          <a:noFill/>
        </p:spPr>
        <p:txBody>
          <a:bodyPr wrap="square">
            <a:spAutoFit/>
          </a:bodyPr>
          <a:lstStyle/>
          <a:p>
            <a:r>
              <a:rPr lang="en-US" sz="1200" b="1" i="0" u="none" strike="noStrike" baseline="0" dirty="0">
                <a:latin typeface="+mj-lt"/>
              </a:rPr>
              <a:t>SOURCE: </a:t>
            </a:r>
            <a:r>
              <a:rPr lang="en-US" sz="1200" i="0" u="none" strike="noStrike" baseline="0" dirty="0">
                <a:latin typeface="+mj-lt"/>
              </a:rPr>
              <a:t>Statistics Canada, “Gross Domestic Product, Expenditure Based, Canada, Quarterly (×1,000,000),” Table 36-10-0104-01.</a:t>
            </a:r>
            <a:endParaRPr lang="en-US" sz="1200" dirty="0">
              <a:latin typeface="+mj-lt"/>
            </a:endParaRPr>
          </a:p>
        </p:txBody>
      </p:sp>
    </p:spTree>
    <p:extLst>
      <p:ext uri="{BB962C8B-B14F-4D97-AF65-F5344CB8AC3E}">
        <p14:creationId xmlns:p14="http://schemas.microsoft.com/office/powerpoint/2010/main" val="2296431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400" dirty="0">
                <a:latin typeface="+mj-lt"/>
              </a:rPr>
              <a:t>How Do We Know The Economy Is in a Recession?</a:t>
            </a:r>
            <a:endParaRPr lang="en-US" sz="3400" dirty="0">
              <a:latin typeface="+mj-lt"/>
            </a:endParaRPr>
          </a:p>
        </p:txBody>
      </p:sp>
      <p:sp>
        <p:nvSpPr>
          <p:cNvPr id="3" name="Content Placeholder 2"/>
          <p:cNvSpPr>
            <a:spLocks noGrp="1"/>
          </p:cNvSpPr>
          <p:nvPr>
            <p:ph idx="1"/>
          </p:nvPr>
        </p:nvSpPr>
        <p:spPr/>
        <p:txBody>
          <a:bodyPr>
            <a:noAutofit/>
          </a:bodyPr>
          <a:lstStyle/>
          <a:p>
            <a:pPr marL="0" indent="0">
              <a:spcBef>
                <a:spcPts val="1000"/>
              </a:spcBef>
              <a:buNone/>
            </a:pPr>
            <a:r>
              <a:rPr lang="en-CA" dirty="0"/>
              <a:t>Statistics Canada produces many statistics that make it possible to monitor the economy.</a:t>
            </a:r>
          </a:p>
          <a:p>
            <a:pPr marL="0" indent="0">
              <a:spcBef>
                <a:spcPts val="1000"/>
              </a:spcBef>
              <a:buNone/>
            </a:pPr>
            <a:r>
              <a:rPr lang="en-CA" dirty="0"/>
              <a:t>There is no agency in Canada that defines when a recession begins or ends.</a:t>
            </a:r>
          </a:p>
          <a:p>
            <a:pPr marL="0" indent="0">
              <a:spcBef>
                <a:spcPts val="1000"/>
              </a:spcBef>
              <a:buNone/>
            </a:pPr>
            <a:r>
              <a:rPr lang="en-CA" dirty="0"/>
              <a:t>There is a general agreement that a recession is defined as two consecutive quarters of negative real GDP growth. That is six months of falling real GDP.</a:t>
            </a:r>
            <a:endParaRPr lang="en-US" dirty="0"/>
          </a:p>
        </p:txBody>
      </p:sp>
    </p:spTree>
    <p:extLst>
      <p:ext uri="{BB962C8B-B14F-4D97-AF65-F5344CB8AC3E}">
        <p14:creationId xmlns:p14="http://schemas.microsoft.com/office/powerpoint/2010/main" val="2790869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400" dirty="0">
                <a:latin typeface="+mj-lt"/>
              </a:rPr>
              <a:t>The Effect of the Business Cycle on the Inflation Rate</a:t>
            </a:r>
            <a:endParaRPr lang="en-US" sz="3400" dirty="0">
              <a:latin typeface="+mj-lt"/>
            </a:endParaRPr>
          </a:p>
        </p:txBody>
      </p:sp>
      <p:sp>
        <p:nvSpPr>
          <p:cNvPr id="3" name="Content Placeholder 2"/>
          <p:cNvSpPr>
            <a:spLocks noGrp="1"/>
          </p:cNvSpPr>
          <p:nvPr>
            <p:ph idx="1"/>
          </p:nvPr>
        </p:nvSpPr>
        <p:spPr/>
        <p:txBody>
          <a:bodyPr>
            <a:noAutofit/>
          </a:bodyPr>
          <a:lstStyle/>
          <a:p>
            <a:pPr marL="0" indent="0">
              <a:spcBef>
                <a:spcPts val="600"/>
              </a:spcBef>
              <a:buNone/>
            </a:pPr>
            <a:r>
              <a:rPr lang="en-US" sz="2400" dirty="0"/>
              <a:t>The </a:t>
            </a:r>
            <a:r>
              <a:rPr lang="en-US" sz="2400" i="1" dirty="0"/>
              <a:t>inflation rate</a:t>
            </a:r>
            <a:r>
              <a:rPr lang="en-US" sz="2400" dirty="0"/>
              <a:t> is the percentage increase in the </a:t>
            </a:r>
            <a:r>
              <a:rPr lang="en-US" sz="2400" i="1" dirty="0"/>
              <a:t>price level</a:t>
            </a:r>
            <a:r>
              <a:rPr lang="en-US" sz="2400" dirty="0"/>
              <a:t> from one year to the next.</a:t>
            </a:r>
          </a:p>
          <a:p>
            <a:pPr>
              <a:spcBef>
                <a:spcPts val="600"/>
              </a:spcBef>
            </a:pPr>
            <a:r>
              <a:rPr lang="en-US" sz="2400" dirty="0"/>
              <a:t>During expansions, demand for products is high relative to supply, resulting in prices increasing—high inflation.</a:t>
            </a:r>
          </a:p>
          <a:p>
            <a:pPr>
              <a:spcBef>
                <a:spcPts val="600"/>
              </a:spcBef>
            </a:pPr>
            <a:r>
              <a:rPr lang="en-US" sz="2400" dirty="0"/>
              <a:t>During recessions, demand for products is low relative to supply, resulting in prices increasing more slowly or even decreasing—low inflation or deflation.</a:t>
            </a:r>
          </a:p>
          <a:p>
            <a:pPr marL="0" indent="0">
              <a:spcBef>
                <a:spcPts val="600"/>
              </a:spcBef>
              <a:buNone/>
            </a:pPr>
            <a:r>
              <a:rPr lang="en-US" sz="2400" dirty="0"/>
              <a:t>Figure 6.8 on the next slide shows the movements in the (CPI) inflation rate over the last three recessions Canada has experienced.</a:t>
            </a:r>
          </a:p>
        </p:txBody>
      </p:sp>
    </p:spTree>
    <p:extLst>
      <p:ext uri="{BB962C8B-B14F-4D97-AF65-F5344CB8AC3E}">
        <p14:creationId xmlns:p14="http://schemas.microsoft.com/office/powerpoint/2010/main" val="1385422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127"/>
            <a:ext cx="8229600" cy="1107996"/>
          </a:xfrm>
        </p:spPr>
        <p:txBody>
          <a:bodyPr>
            <a:noAutofit/>
          </a:bodyPr>
          <a:lstStyle/>
          <a:p>
            <a:r>
              <a:rPr lang="en-US" dirty="0">
                <a:solidFill>
                  <a:schemeClr val="tx1"/>
                </a:solidFill>
                <a:latin typeface="+mj-lt"/>
              </a:rPr>
              <a:t>Figure 6.8 The Effect of Recessions on the Inflation Rate</a:t>
            </a:r>
          </a:p>
        </p:txBody>
      </p:sp>
      <p:sp>
        <p:nvSpPr>
          <p:cNvPr id="3" name="Content Placeholder 2"/>
          <p:cNvSpPr>
            <a:spLocks noGrp="1"/>
          </p:cNvSpPr>
          <p:nvPr>
            <p:ph sz="quarter" idx="13"/>
          </p:nvPr>
        </p:nvSpPr>
        <p:spPr>
          <a:xfrm>
            <a:off x="457199" y="1494472"/>
            <a:ext cx="8229599" cy="791528"/>
          </a:xfrm>
        </p:spPr>
        <p:txBody>
          <a:bodyPr>
            <a:noAutofit/>
          </a:bodyPr>
          <a:lstStyle/>
          <a:p>
            <a:pPr marL="0" indent="0">
              <a:spcBef>
                <a:spcPts val="0"/>
              </a:spcBef>
              <a:spcAft>
                <a:spcPts val="1200"/>
              </a:spcAft>
              <a:buNone/>
            </a:pPr>
            <a:r>
              <a:rPr lang="en-IN" sz="2400" dirty="0"/>
              <a:t>Notice that inflation tends to rise during an expansion and fall over the course of each recession.</a:t>
            </a:r>
          </a:p>
        </p:txBody>
      </p:sp>
      <p:pic>
        <p:nvPicPr>
          <p:cNvPr id="6" name="Picture 5" descr="The horizontal axis represents the time ranges from year 1979 to 2021. The vertical axis represents inflation rate ranges from negative 0.02% to 0.14% in the increments of 0.02%. The curve moves from left to right through (1979, 0.086%), (1980, 0.11%), (1982, 0.10%), (1884, 0.38%), (1986, 0.04%), (1988, 0.042%), (1990, 0.05%), (1991, 0.06%), (1993, 0.02%), (1995, 0.03%), (1997, 0.02%), (1999, 0.01%), (2001, 0.038%), (2002, 0.30%), (2004, 0.022%), (2006, 0.05%), (2008, 0.034%), (2009, negative 0.01%), (2010, 0.022%), (2011, 0.04%), (2012, 0.02%), (2013, 0.01%), (2014, 0.02%), (2015, 0.01%), (2017, 0.012%), (2019, 0.02%), and (2017, 0.001%). Moving from 1979 to 2021 there is decrease in inflation during recession and increase in late expansion inflation.">
            <a:extLst>
              <a:ext uri="{FF2B5EF4-FFF2-40B4-BE49-F238E27FC236}">
                <a16:creationId xmlns:a16="http://schemas.microsoft.com/office/drawing/2014/main" id="{761562DC-4634-050A-ACF4-DC8447B0AE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0723" y="2347721"/>
            <a:ext cx="5257802" cy="3557779"/>
          </a:xfrm>
          <a:prstGeom prst="rect">
            <a:avLst/>
          </a:prstGeom>
        </p:spPr>
      </p:pic>
      <p:sp>
        <p:nvSpPr>
          <p:cNvPr id="5" name="TextBox 4">
            <a:extLst>
              <a:ext uri="{FF2B5EF4-FFF2-40B4-BE49-F238E27FC236}">
                <a16:creationId xmlns:a16="http://schemas.microsoft.com/office/drawing/2014/main" id="{5F2BDCE5-877D-FDEF-56B0-E540407DA094}"/>
              </a:ext>
            </a:extLst>
          </p:cNvPr>
          <p:cNvSpPr txBox="1"/>
          <p:nvPr/>
        </p:nvSpPr>
        <p:spPr>
          <a:xfrm>
            <a:off x="466724" y="5943600"/>
            <a:ext cx="8305801" cy="276999"/>
          </a:xfrm>
          <a:prstGeom prst="rect">
            <a:avLst/>
          </a:prstGeom>
          <a:noFill/>
        </p:spPr>
        <p:txBody>
          <a:bodyPr wrap="square">
            <a:spAutoFit/>
          </a:bodyPr>
          <a:lstStyle/>
          <a:p>
            <a:r>
              <a:rPr lang="en-US" sz="1200" b="1" i="0" u="none" strike="noStrike" baseline="0" dirty="0">
                <a:latin typeface="+mj-lt"/>
              </a:rPr>
              <a:t>SOURCE:</a:t>
            </a:r>
            <a:r>
              <a:rPr lang="en-US" sz="1200" b="0" i="0" u="none" strike="noStrike" baseline="0" dirty="0">
                <a:latin typeface="+mj-lt"/>
              </a:rPr>
              <a:t> Statistics Canada, “Consumer Price Index, Monthly, Not Seasonally Adjusted,” Table 18-10-0004-01.</a:t>
            </a:r>
            <a:endParaRPr lang="en-US" sz="1200" dirty="0">
              <a:latin typeface="+mj-lt"/>
            </a:endParaRPr>
          </a:p>
        </p:txBody>
      </p:sp>
    </p:spTree>
    <p:extLst>
      <p:ext uri="{BB962C8B-B14F-4D97-AF65-F5344CB8AC3E}">
        <p14:creationId xmlns:p14="http://schemas.microsoft.com/office/powerpoint/2010/main" val="3840148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127"/>
            <a:ext cx="8229600" cy="1107996"/>
          </a:xfrm>
        </p:spPr>
        <p:txBody>
          <a:bodyPr>
            <a:noAutofit/>
          </a:bodyPr>
          <a:lstStyle/>
          <a:p>
            <a:r>
              <a:rPr lang="en-US" dirty="0">
                <a:solidFill>
                  <a:schemeClr val="tx1"/>
                </a:solidFill>
                <a:latin typeface="+mj-lt"/>
              </a:rPr>
              <a:t>Figure 6.9 How Recessions Affect the Unemployment Rate</a:t>
            </a:r>
          </a:p>
        </p:txBody>
      </p:sp>
      <p:sp>
        <p:nvSpPr>
          <p:cNvPr id="3" name="Content Placeholder 2"/>
          <p:cNvSpPr>
            <a:spLocks noGrp="1"/>
          </p:cNvSpPr>
          <p:nvPr>
            <p:ph sz="quarter" idx="13"/>
          </p:nvPr>
        </p:nvSpPr>
        <p:spPr>
          <a:xfrm>
            <a:off x="457200" y="1371600"/>
            <a:ext cx="3581400" cy="4572000"/>
          </a:xfrm>
        </p:spPr>
        <p:txBody>
          <a:bodyPr>
            <a:noAutofit/>
          </a:bodyPr>
          <a:lstStyle/>
          <a:p>
            <a:pPr marL="0" indent="0">
              <a:spcBef>
                <a:spcPts val="0"/>
              </a:spcBef>
              <a:spcAft>
                <a:spcPts val="1200"/>
              </a:spcAft>
              <a:buNone/>
            </a:pPr>
            <a:r>
              <a:rPr lang="en-IN" sz="2400" dirty="0"/>
              <a:t>As firms see their sales start to fall in a recession, they generally reduce production and lay off workers.</a:t>
            </a:r>
          </a:p>
          <a:p>
            <a:pPr marL="0" indent="0">
              <a:spcBef>
                <a:spcPts val="0"/>
              </a:spcBef>
              <a:spcAft>
                <a:spcPts val="1200"/>
              </a:spcAft>
              <a:buNone/>
            </a:pPr>
            <a:r>
              <a:rPr lang="en-IN" sz="2400" dirty="0"/>
              <a:t>Notice that unemployment often continues to rise during each recession.</a:t>
            </a:r>
          </a:p>
        </p:txBody>
      </p:sp>
      <p:sp>
        <p:nvSpPr>
          <p:cNvPr id="5" name="TextBox 4">
            <a:extLst>
              <a:ext uri="{FF2B5EF4-FFF2-40B4-BE49-F238E27FC236}">
                <a16:creationId xmlns:a16="http://schemas.microsoft.com/office/drawing/2014/main" id="{1A6B27F9-E8FF-417B-5A1F-A1607B560D38}"/>
              </a:ext>
            </a:extLst>
          </p:cNvPr>
          <p:cNvSpPr txBox="1"/>
          <p:nvPr/>
        </p:nvSpPr>
        <p:spPr>
          <a:xfrm>
            <a:off x="4572000" y="4687669"/>
            <a:ext cx="4495800" cy="646331"/>
          </a:xfrm>
          <a:prstGeom prst="rect">
            <a:avLst/>
          </a:prstGeom>
          <a:noFill/>
        </p:spPr>
        <p:txBody>
          <a:bodyPr wrap="square">
            <a:spAutoFit/>
          </a:bodyPr>
          <a:lstStyle/>
          <a:p>
            <a:pPr algn="l"/>
            <a:r>
              <a:rPr lang="en-US" sz="1200" b="1" i="0" u="none" strike="noStrike" baseline="0" dirty="0">
                <a:latin typeface="+mj-lt"/>
              </a:rPr>
              <a:t>SOURCE:</a:t>
            </a:r>
            <a:r>
              <a:rPr lang="en-US" sz="1200" b="0" i="0" u="none" strike="noStrike" baseline="0" dirty="0">
                <a:latin typeface="+mj-lt"/>
              </a:rPr>
              <a:t> Statistics Canada, “Labour Force Characteristics, Monthly, Seasonally Adjusted and Trend-Cycle, Last 5 Months,” Table 14-10-0287-01.</a:t>
            </a:r>
            <a:endParaRPr lang="en-US" sz="1200" dirty="0">
              <a:latin typeface="+mj-lt"/>
            </a:endParaRPr>
          </a:p>
        </p:txBody>
      </p:sp>
      <p:pic>
        <p:nvPicPr>
          <p:cNvPr id="6" name="Picture 5" descr="The horizontal axis represents the time ranges from year 1979 to 2020. The vertical axis represents inflation rate ranges from 0 to 16% in the increments of 2%. The curve moves from left to right through (1979, 8), (1980, 7.8), (1981, 7.2), (1982, 8.4), (1983, 12.2), (1984, 11.4), (1985, 10.4), (1986, 9.8), (1987, 8.1), (1988, 7.8), (1989, 8), (1990, 7.9), (1991, 9.8), (1992, 10), (1993, 12), (1994, 10), (1995, 9.6), (1996, 10), (1997, 9), (1998, 8.4), (1999, 6), (2000, 6.2), (2001, 7.6), (2002, 7.8), (2003, 8), (2004, 7), (2005, 6.4), (2006, 6), (2007, 6.2), (2008, 9.8), (2009, 9), (2010, 8), (2011, 7.9), (2012, 8), (2013, 7.9), (2014, 8.2), (2015, 7.8), (2016, 8.2), (2017, 6.4), (2019, 6.0), and (2020, 14). All values are estimated. Three vertical bars at the rising peak shows that the unemployment rises during the recessions.">
            <a:extLst>
              <a:ext uri="{FF2B5EF4-FFF2-40B4-BE49-F238E27FC236}">
                <a16:creationId xmlns:a16="http://schemas.microsoft.com/office/drawing/2014/main" id="{BD96ED10-3EC0-B9E7-5458-5D3CDBDD5F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1447800"/>
            <a:ext cx="4713111" cy="3048000"/>
          </a:xfrm>
          <a:prstGeom prst="rect">
            <a:avLst/>
          </a:prstGeom>
        </p:spPr>
      </p:pic>
    </p:spTree>
    <p:extLst>
      <p:ext uri="{BB962C8B-B14F-4D97-AF65-F5344CB8AC3E}">
        <p14:creationId xmlns:p14="http://schemas.microsoft.com/office/powerpoint/2010/main" val="968118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0ED968-9256-4114-AF12-237294F6A362}">
  <ds:schemaRefs>
    <ds:schemaRef ds:uri="http://schemas.microsoft.com/office/infopath/2007/PartnerControls"/>
    <ds:schemaRef ds:uri="http://purl.org/dc/elements/1.1/"/>
    <ds:schemaRef ds:uri="http://schemas.microsoft.com/office/2006/documentManagement/types"/>
    <ds:schemaRef ds:uri="d445d462-2029-4cec-993f-47750f9ae382"/>
    <ds:schemaRef ds:uri="http://purl.org/dc/terms/"/>
    <ds:schemaRef ds:uri="http://purl.org/dc/dcmitype/"/>
    <ds:schemaRef ds:uri="http://www.w3.org/XML/1998/namespace"/>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BE2AAD-6CC9-4100-8B6B-7A31EE5170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1755</TotalTime>
  <Words>2446</Words>
  <Application>Microsoft Macintosh PowerPoint</Application>
  <PresentationFormat>On-screen Show (4:3)</PresentationFormat>
  <Paragraphs>178</Paragraphs>
  <Slides>28</Slides>
  <Notes>16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5" baseType="lpstr">
      <vt:lpstr>Malgun Gothic</vt:lpstr>
      <vt:lpstr>Aptos</vt:lpstr>
      <vt:lpstr>Aptos Display</vt:lpstr>
      <vt:lpstr>Arial</vt:lpstr>
      <vt:lpstr>Verdana</vt:lpstr>
      <vt:lpstr>Office Theme</vt:lpstr>
      <vt:lpstr>Equation</vt:lpstr>
      <vt:lpstr>Macroeconomics ECON 101</vt:lpstr>
      <vt:lpstr>Chapter Outline</vt:lpstr>
      <vt:lpstr>Long-Run Economic Growth </vt:lpstr>
      <vt:lpstr>Figure 6.1 Real GDP per Capita, 1961–2021</vt:lpstr>
      <vt:lpstr>Calculating Growth Rates and the Rule of 70</vt:lpstr>
      <vt:lpstr>Growth Rates over Longer Periods</vt:lpstr>
      <vt:lpstr>What Determines the Rate of Long-Run Growth?</vt:lpstr>
      <vt:lpstr>Factors Affecting Labour Productivity Growth</vt:lpstr>
      <vt:lpstr>Potential GDP</vt:lpstr>
      <vt:lpstr>Figure 6.2 The Output Gap</vt:lpstr>
      <vt:lpstr>An Overview of the Financial System</vt:lpstr>
      <vt:lpstr>Three Key Services of the Financial System</vt:lpstr>
      <vt:lpstr>The Macroeconomics of Saving and Investment</vt:lpstr>
      <vt:lpstr>Total Saving</vt:lpstr>
      <vt:lpstr>Saving Equals Investment</vt:lpstr>
      <vt:lpstr>The Market for Loanable Funds</vt:lpstr>
      <vt:lpstr>Figure 6.3 The Market for Loanable Funds</vt:lpstr>
      <vt:lpstr>Figure 6.4 An Increase in the Demand for Loanable Funds</vt:lpstr>
      <vt:lpstr>Figure 6.5 An Increase in the Supply of Loanable Funds</vt:lpstr>
      <vt:lpstr>Figure 6.6 The Effect of a Budget Deficit on the Market for Loanable Funds</vt:lpstr>
      <vt:lpstr>How Important is Crowding Out?</vt:lpstr>
      <vt:lpstr>The Business Cycle</vt:lpstr>
      <vt:lpstr>Figure 6.7 The Business Cycle (1 of 2)</vt:lpstr>
      <vt:lpstr>Figure 6.7 The Business Cycle (2 of 2)</vt:lpstr>
      <vt:lpstr>How Do We Know The Economy Is in a Recession?</vt:lpstr>
      <vt:lpstr>The Effect of the Business Cycle on the Inflation Rate</vt:lpstr>
      <vt:lpstr>Figure 6.8 The Effect of Recessions on the Inflation Rate</vt:lpstr>
      <vt:lpstr>Figure 6.9 How Recessions Affect the Unemployment Rate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6  Economic Growth, the Financial System, and Business Cycles</dc:title>
  <dc:subject>Economics</dc:subject>
  <dc:creator>Hubbard, Patrick O’Brien, Serletis, Childs</dc:creator>
  <cp:lastModifiedBy>Muhebullah Karimzada</cp:lastModifiedBy>
  <cp:revision>5573</cp:revision>
  <dcterms:created xsi:type="dcterms:W3CDTF">2014-07-14T20:04:21Z</dcterms:created>
  <dcterms:modified xsi:type="dcterms:W3CDTF">2025-02-13T17:49:24Z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