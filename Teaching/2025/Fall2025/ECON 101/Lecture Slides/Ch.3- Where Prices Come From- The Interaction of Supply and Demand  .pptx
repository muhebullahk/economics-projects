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4"/>
  </p:sldMasterIdLst>
  <p:notesMasterIdLst>
    <p:notesMasterId r:id="rId50"/>
  </p:notesMasterIdLst>
  <p:handoutMasterIdLst>
    <p:handoutMasterId r:id="rId51"/>
  </p:handoutMasterIdLst>
  <p:sldIdLst>
    <p:sldId id="1438" r:id="rId5"/>
    <p:sldId id="1404" r:id="rId6"/>
    <p:sldId id="1361" r:id="rId7"/>
    <p:sldId id="1407" r:id="rId8"/>
    <p:sldId id="1448" r:id="rId9"/>
    <p:sldId id="1447" r:id="rId10"/>
    <p:sldId id="1450" r:id="rId11"/>
    <p:sldId id="1499" r:id="rId12"/>
    <p:sldId id="1451" r:id="rId13"/>
    <p:sldId id="1453" r:id="rId14"/>
    <p:sldId id="1454" r:id="rId15"/>
    <p:sldId id="1500" r:id="rId16"/>
    <p:sldId id="1457" r:id="rId17"/>
    <p:sldId id="1456" r:id="rId18"/>
    <p:sldId id="1501" r:id="rId19"/>
    <p:sldId id="1502" r:id="rId20"/>
    <p:sldId id="1503" r:id="rId21"/>
    <p:sldId id="1460" r:id="rId22"/>
    <p:sldId id="1461" r:id="rId23"/>
    <p:sldId id="1494" r:id="rId24"/>
    <p:sldId id="1463" r:id="rId25"/>
    <p:sldId id="1464" r:id="rId26"/>
    <p:sldId id="1465" r:id="rId27"/>
    <p:sldId id="1466" r:id="rId28"/>
    <p:sldId id="1467" r:id="rId29"/>
    <p:sldId id="1468" r:id="rId30"/>
    <p:sldId id="1469" r:id="rId31"/>
    <p:sldId id="1470" r:id="rId32"/>
    <p:sldId id="1471" r:id="rId33"/>
    <p:sldId id="1492" r:id="rId34"/>
    <p:sldId id="1495" r:id="rId35"/>
    <p:sldId id="1474" r:id="rId36"/>
    <p:sldId id="1476" r:id="rId37"/>
    <p:sldId id="1477" r:id="rId38"/>
    <p:sldId id="1478" r:id="rId39"/>
    <p:sldId id="1496" r:id="rId40"/>
    <p:sldId id="1482" r:id="rId41"/>
    <p:sldId id="1483" r:id="rId42"/>
    <p:sldId id="447" r:id="rId43"/>
    <p:sldId id="1488" r:id="rId44"/>
    <p:sldId id="1485" r:id="rId45"/>
    <p:sldId id="1486" r:id="rId46"/>
    <p:sldId id="1487" r:id="rId47"/>
    <p:sldId id="1489" r:id="rId48"/>
    <p:sldId id="1490"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336">
          <p15:clr>
            <a:srgbClr val="A4A3A4"/>
          </p15:clr>
        </p15:guide>
        <p15:guide id="4" orient="horz" pos="3984">
          <p15:clr>
            <a:srgbClr val="A4A3A4"/>
          </p15:clr>
        </p15:guide>
        <p15:guide id="5" orient="horz" pos="720">
          <p15:clr>
            <a:srgbClr val="A4A3A4"/>
          </p15:clr>
        </p15:guide>
        <p15:guide id="6" orient="horz" pos="1056">
          <p15:clr>
            <a:srgbClr val="A4A3A4"/>
          </p15:clr>
        </p15:guide>
        <p15:guide id="7" orient="horz" pos="1392">
          <p15:clr>
            <a:srgbClr val="A4A3A4"/>
          </p15:clr>
        </p15:guide>
        <p15:guide id="8" pos="288">
          <p15:clr>
            <a:srgbClr val="A4A3A4"/>
          </p15:clr>
        </p15:guide>
        <p15:guide id="9" pos="547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99008C"/>
    <a:srgbClr val="001581"/>
    <a:srgbClr val="82007C"/>
    <a:srgbClr val="96008F"/>
    <a:srgbClr val="595375"/>
    <a:srgbClr val="6B638B"/>
    <a:srgbClr val="000000"/>
    <a:srgbClr val="FDB9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639" autoAdjust="0"/>
    <p:restoredTop sz="90000" autoAdjust="0"/>
  </p:normalViewPr>
  <p:slideViewPr>
    <p:cSldViewPr>
      <p:cViewPr varScale="1">
        <p:scale>
          <a:sx n="98" d="100"/>
          <a:sy n="98" d="100"/>
        </p:scale>
        <p:origin x="208" y="456"/>
      </p:cViewPr>
      <p:guideLst>
        <p:guide orient="horz" pos="2160"/>
        <p:guide pos="2880"/>
        <p:guide orient="horz" pos="336"/>
        <p:guide orient="horz" pos="3984"/>
        <p:guide orient="horz" pos="720"/>
        <p:guide orient="horz" pos="1056"/>
        <p:guide orient="horz" pos="1392"/>
        <p:guide pos="288"/>
        <p:guide pos="5472"/>
      </p:guideLst>
    </p:cSldViewPr>
  </p:slideViewPr>
  <p:outlineViewPr>
    <p:cViewPr>
      <p:scale>
        <a:sx n="66" d="100"/>
        <a:sy n="66" d="100"/>
      </p:scale>
      <p:origin x="0" y="70212"/>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5" d="100"/>
          <a:sy n="85" d="100"/>
        </p:scale>
        <p:origin x="-377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t>12/29/24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t>12/29/24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31774">
              <a:defRPr/>
            </a:pP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2</a:t>
            </a:fld>
            <a:endParaRPr lang="en-US" dirty="0"/>
          </a:p>
        </p:txBody>
      </p:sp>
    </p:spTree>
    <p:extLst>
      <p:ext uri="{BB962C8B-B14F-4D97-AF65-F5344CB8AC3E}">
        <p14:creationId xmlns:p14="http://schemas.microsoft.com/office/powerpoint/2010/main" val="2124979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a:t>
            </a:fld>
            <a:endParaRPr lang="en-US" dirty="0"/>
          </a:p>
        </p:txBody>
      </p:sp>
    </p:spTree>
    <p:extLst>
      <p:ext uri="{BB962C8B-B14F-4D97-AF65-F5344CB8AC3E}">
        <p14:creationId xmlns:p14="http://schemas.microsoft.com/office/powerpoint/2010/main" val="929013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46227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r>
              <a:rPr lang="en-US" dirty="0"/>
              <a:t>The line graph with the x-axis labeled quantity and the y-axis labeled price. Two lines labeled D1 and D2 lie parallel to each other forming downward slopes. The line D2 lie outwards the line D1. Two arrows flow from the line D1 to D2.</a:t>
            </a:r>
            <a:endParaRPr lang="en-IN" dirty="0"/>
          </a:p>
          <a:p>
            <a:endParaRPr lang="en-US" dirty="0"/>
          </a:p>
          <a:p>
            <a:r>
              <a:rPr lang="en-US" dirty="0"/>
              <a:t>Long Description:</a:t>
            </a:r>
          </a:p>
          <a:p>
            <a:endParaRPr lang="en-US" dirty="0"/>
          </a:p>
          <a:p>
            <a:r>
              <a:rPr lang="en-US" dirty="0"/>
              <a:t>The line graph with the x-axis labeled quantity and the y-axis labeled price. Two lines labeled D1 and D2 lie parallel to each other forming downward slopes. The line D2 lie outwards the line D1. Two arrows flow from the line D2 to D1.</a:t>
            </a:r>
            <a:endParaRPr lang="en-IN"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12</a:t>
            </a:fld>
            <a:endParaRPr lang="en-US" dirty="0"/>
          </a:p>
        </p:txBody>
      </p:sp>
    </p:spTree>
    <p:extLst>
      <p:ext uri="{BB962C8B-B14F-4D97-AF65-F5344CB8AC3E}">
        <p14:creationId xmlns:p14="http://schemas.microsoft.com/office/powerpoint/2010/main" val="3310855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a good is inferior or normal can also change over time as tastes and preferences change and as new products enter the market.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r>
              <a:rPr lang="en-US" dirty="0"/>
              <a:t>The line graph with the x-axis labeled quantity and the y-axis labeled price. Two lines labeled D1 and D2 lie parallel to each other forming downward slopes. The line D2 lie outwards the line D1. Two arrows flow from the line D1 to D2.</a:t>
            </a:r>
            <a:endParaRPr lang="en-IN" dirty="0"/>
          </a:p>
          <a:p>
            <a:endParaRPr lang="en-US" dirty="0"/>
          </a:p>
          <a:p>
            <a:r>
              <a:rPr lang="en-US" dirty="0"/>
              <a:t>Long Description:</a:t>
            </a:r>
          </a:p>
          <a:p>
            <a:endParaRPr lang="en-US" dirty="0"/>
          </a:p>
          <a:p>
            <a:r>
              <a:rPr lang="en-US" dirty="0"/>
              <a:t>The line graph with the x-axis labeled quantity and the y-axis labeled price. Two lines labeled D1 and D2 lie parallel to each other forming downward slopes. The line D2 lie outwards the line D1. Two arrows flow from the line D2 to D1.</a:t>
            </a:r>
            <a:endParaRPr lang="en-IN" dirty="0"/>
          </a:p>
          <a:p>
            <a:endParaRPr lang="en-US" dirty="0"/>
          </a:p>
        </p:txBody>
      </p:sp>
      <p:sp>
        <p:nvSpPr>
          <p:cNvPr id="4" name="Slide Number Placeholder 3"/>
          <p:cNvSpPr>
            <a:spLocks noGrp="1"/>
          </p:cNvSpPr>
          <p:nvPr>
            <p:ph type="sldNum" sz="quarter" idx="5"/>
          </p:nvPr>
        </p:nvSpPr>
        <p:spPr/>
        <p:txBody>
          <a:bodyPr/>
          <a:lstStyle/>
          <a:p>
            <a:fld id="{A73D6722-9B4D-4E29-B226-C325925A8118}" type="slidenum">
              <a:rPr lang="en-US" smtClean="0"/>
              <a:t>15</a:t>
            </a:fld>
            <a:endParaRPr lang="en-US" dirty="0"/>
          </a:p>
        </p:txBody>
      </p:sp>
    </p:spTree>
    <p:extLst>
      <p:ext uri="{BB962C8B-B14F-4D97-AF65-F5344CB8AC3E}">
        <p14:creationId xmlns:p14="http://schemas.microsoft.com/office/powerpoint/2010/main" val="2264737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r>
              <a:rPr lang="en-US" dirty="0"/>
              <a:t>The line graph with the x-axis labeled quantity and the y-axis labeled price. Two lines labeled D1 and D2 lie parallel to each other forming downward slopes. The line D2 lie outwards the line D1. Two arrows flow from the line D1 to D2.</a:t>
            </a:r>
            <a:endParaRPr lang="en-IN"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dirty="0"/>
          </a:p>
        </p:txBody>
      </p:sp>
    </p:spTree>
    <p:extLst>
      <p:ext uri="{BB962C8B-B14F-4D97-AF65-F5344CB8AC3E}">
        <p14:creationId xmlns:p14="http://schemas.microsoft.com/office/powerpoint/2010/main" val="9290137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dirty="0"/>
          </a:p>
        </p:txBody>
      </p:sp>
    </p:spTree>
    <p:extLst>
      <p:ext uri="{BB962C8B-B14F-4D97-AF65-F5344CB8AC3E}">
        <p14:creationId xmlns:p14="http://schemas.microsoft.com/office/powerpoint/2010/main" val="24886467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r>
              <a:rPr lang="en-US" dirty="0"/>
              <a:t>The line graph shows the x-axis labeled quantity and y-axis labeled price. Two lines labeled S1 and S2 form upward slopes. The line S2 lies towards the left of S1. An arrow flows from the line S1 to the line S2.</a:t>
            </a:r>
            <a:endParaRPr lang="en-IN" dirty="0"/>
          </a:p>
          <a:p>
            <a:endParaRPr lang="en-US" dirty="0"/>
          </a:p>
          <a:p>
            <a:r>
              <a:rPr lang="en-US" dirty="0"/>
              <a:t>Long Description:</a:t>
            </a:r>
          </a:p>
          <a:p>
            <a:endParaRPr lang="en-US" dirty="0"/>
          </a:p>
          <a:p>
            <a:r>
              <a:rPr lang="en-US" dirty="0"/>
              <a:t>The line graph shows the x-axis labeled quantity and y-axis labeled price. Two lines labeled S1 and S2 form upward slopes. The line S2 lies towards the right of S1. An arrow flows from the line S1 to the line S2.</a:t>
            </a:r>
            <a:endParaRPr lang="en-IN"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r>
              <a:rPr lang="en-US" dirty="0"/>
              <a:t>The line graph shows the x-axis labeled quantity and y-axis labeled price. Two lines labeled S1 and S2 form upward slopes. The line S2 lies towards the right of S1. An arrow flows from the line S1 to the line S2.</a:t>
            </a:r>
            <a:endParaRPr lang="en-IN" dirty="0"/>
          </a:p>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endParaRPr lang="en-US" dirty="0"/>
          </a:p>
          <a:p>
            <a:r>
              <a:rPr lang="en-US" dirty="0"/>
              <a:t>The line graph shows the x-axis labeled quantity and y-axis labeled price. Two lines labeled S1 and S2 form upward slopes. The line S2 lies towards the left of S1. An arrow flows from the line S1 to the line S2.</a:t>
            </a:r>
            <a:endParaRPr lang="en-IN" dirty="0"/>
          </a:p>
          <a:p>
            <a:endParaRPr lang="en-US" dirty="0"/>
          </a:p>
          <a:p>
            <a:r>
              <a:rPr lang="en-US" dirty="0"/>
              <a:t>Long Description:</a:t>
            </a:r>
          </a:p>
          <a:p>
            <a:endParaRPr lang="en-US" dirty="0"/>
          </a:p>
          <a:p>
            <a:r>
              <a:rPr lang="en-US" dirty="0"/>
              <a:t>The line graph shows the x-axis labeled quantity and y-axis labeled price. Two lines labeled S1 and S2 form upward slopes. The line S2 lies towards the right of the line S1. An arrow flows from the line S1 to the line S2.</a:t>
            </a:r>
            <a:endParaRPr lang="en-IN" dirty="0"/>
          </a:p>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Description:</a:t>
            </a:r>
          </a:p>
          <a:p>
            <a:r>
              <a:rPr lang="en-US" sz="1200" kern="1200" dirty="0">
                <a:solidFill>
                  <a:schemeClr val="tx1"/>
                </a:solidFill>
                <a:effectLst/>
                <a:latin typeface="+mn-lt"/>
                <a:ea typeface="+mn-ea"/>
                <a:cs typeface="+mn-cs"/>
              </a:rPr>
              <a:t>The line graph shows the x-axis labeled quantity and y-axis labeled price. Two lines labeled S1 and S2 form upward slopes. The line S2 lies towards the left of S1. An arrow flows from the line S1 to the line S2.</a:t>
            </a:r>
            <a:endParaRPr lang="en-IN" sz="120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dirty="0"/>
          </a:p>
        </p:txBody>
      </p:sp>
    </p:spTree>
    <p:extLst>
      <p:ext uri="{BB962C8B-B14F-4D97-AF65-F5344CB8AC3E}">
        <p14:creationId xmlns:p14="http://schemas.microsoft.com/office/powerpoint/2010/main" val="9290137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73D6722-9B4D-4E29-B226-C325925A8118}" type="slidenum">
              <a:rPr lang="en-US" smtClean="0"/>
              <a:t>35</a:t>
            </a:fld>
            <a:endParaRPr lang="en-US" dirty="0"/>
          </a:p>
        </p:txBody>
      </p:sp>
    </p:spTree>
    <p:extLst>
      <p:ext uri="{BB962C8B-B14F-4D97-AF65-F5344CB8AC3E}">
        <p14:creationId xmlns:p14="http://schemas.microsoft.com/office/powerpoint/2010/main" val="27753206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73D6722-9B4D-4E29-B226-C325925A8118}" type="slidenum">
              <a:rPr lang="en-US" smtClean="0"/>
              <a:t>36</a:t>
            </a:fld>
            <a:endParaRPr lang="en-US" dirty="0"/>
          </a:p>
        </p:txBody>
      </p:sp>
    </p:spTree>
    <p:extLst>
      <p:ext uri="{BB962C8B-B14F-4D97-AF65-F5344CB8AC3E}">
        <p14:creationId xmlns:p14="http://schemas.microsoft.com/office/powerpoint/2010/main" val="9290137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AU" sz="1200" b="0" i="0" u="none" strike="noStrike" kern="1200" cap="none" dirty="0">
              <a:solidFill>
                <a:schemeClr val="dk1"/>
              </a:solidFill>
              <a:effectLst/>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264043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308466870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30846687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4C261-EA3E-9972-598F-AB953BC16A5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8A078E3-3699-A357-A877-471F27C49A7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4890CD74-D0A1-045C-2F6E-947FEA5FCE0F}"/>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020312C3-C463-004D-9BCC-0A04D0B77DC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93F17A6-3E5B-4F27-08F3-4DCE2F96591F}"/>
              </a:ext>
            </a:extLst>
          </p:cNvPr>
          <p:cNvSpPr>
            <a:spLocks noGrp="1"/>
          </p:cNvSpPr>
          <p:nvPr>
            <p:ph type="sldNum" sz="quarter" idx="12"/>
          </p:nvPr>
        </p:nvSpPr>
        <p:spPr/>
        <p:txBody>
          <a:bodyPr/>
          <a:lstStyle/>
          <a:p>
            <a:fld id="{200B2350-5261-4F5C-9DF5-EF0D264FC8D2}" type="slidenum">
              <a:rPr lang="en-US" smtClean="0"/>
              <a:t>‹#›</a:t>
            </a:fld>
            <a:endParaRPr lang="en-US" dirty="0"/>
          </a:p>
        </p:txBody>
      </p:sp>
      <p:pic>
        <p:nvPicPr>
          <p:cNvPr id="7" name="Picture 6" descr="Pearson Logo">
            <a:extLst>
              <a:ext uri="{FF2B5EF4-FFF2-40B4-BE49-F238E27FC236}">
                <a16:creationId xmlns:a16="http://schemas.microsoft.com/office/drawing/2014/main" id="{62F12DBB-EADA-10F1-5674-386DC90783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5015C377-9F11-FFD5-9545-3833700A43AC}"/>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
        <p:nvSpPr>
          <p:cNvPr id="9" name="TextBox 8">
            <a:extLst>
              <a:ext uri="{FF2B5EF4-FFF2-40B4-BE49-F238E27FC236}">
                <a16:creationId xmlns:a16="http://schemas.microsoft.com/office/drawing/2014/main" id="{EDAC802B-D006-9BBE-99DD-F6F65C3BFAED}"/>
              </a:ext>
            </a:extLst>
          </p:cNvPr>
          <p:cNvSpPr txBox="1"/>
          <p:nvPr userDrawn="1"/>
        </p:nvSpPr>
        <p:spPr>
          <a:xfrm>
            <a:off x="8015565" y="6418052"/>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3 -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1054131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F61DA-8CAF-D0D5-7314-A77CBABDA1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46B1C6-0400-8A8B-4EA2-EF98570E69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FA16D8-1564-C540-01F1-521D1299EE69}"/>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B2445723-AECB-6A6B-A63D-EBBE01E11CB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2FF04F-E267-AF5E-9AA1-D397B8C34A3A}"/>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911335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DDCEF-7EB8-B4A7-B5A6-0E0F54F1FA22}"/>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26DF73F8-8F45-8422-0924-D3F0F32A5090}"/>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368619-7981-782C-6E8B-B50B944B5E15}"/>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Footer Placeholder 4">
            <a:extLst>
              <a:ext uri="{FF2B5EF4-FFF2-40B4-BE49-F238E27FC236}">
                <a16:creationId xmlns:a16="http://schemas.microsoft.com/office/drawing/2014/main" id="{5884CC8F-D80E-0EEE-D444-5C20E7E46F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AA67221-1563-83C8-F29D-CF8F290A983B}"/>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053777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04DBE-7E1A-AEFA-B58C-6D4E2C743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C3847F-7831-225B-C3C2-EEA0662A34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1F20B4-4896-2289-C691-CD7D716A8B4E}"/>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C3846B-BB20-E3E4-F1A4-8E0CC0BD736F}"/>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15DE7A17-EC17-F99A-0EAA-C72250FBB4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9DDFCB-8E61-199B-9B8E-552A0207C86E}"/>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862241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931B5-1AF8-D03C-397E-4F789FA64C7D}"/>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308673-F258-0EEB-891B-1A85576F7F1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7D80525-B2F5-15F0-BE47-92A6CA3215D4}"/>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BED739-681F-3F6D-8CF2-CDBE0CE12E3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A237D5D-3EF3-5B57-5811-EA37BEAB863E}"/>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C8DF7C-7B3F-6975-5D82-C72ED655913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8" name="Footer Placeholder 7">
            <a:extLst>
              <a:ext uri="{FF2B5EF4-FFF2-40B4-BE49-F238E27FC236}">
                <a16:creationId xmlns:a16="http://schemas.microsoft.com/office/drawing/2014/main" id="{31E0EA46-AA31-78CC-E1BF-A63F399052D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8B1AECA-86EB-36F7-F412-8E9E3BA81C96}"/>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414155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4AF1-0A54-DC1C-2212-1C5FBD41C1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ED2F4A-738F-9801-833C-CA79FFF2EAEE}"/>
              </a:ext>
            </a:extLst>
          </p:cNvPr>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4" name="Footer Placeholder 3">
            <a:extLst>
              <a:ext uri="{FF2B5EF4-FFF2-40B4-BE49-F238E27FC236}">
                <a16:creationId xmlns:a16="http://schemas.microsoft.com/office/drawing/2014/main" id="{CAB31CB1-E0A1-7BBB-8623-D6A73BA01A9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A3890E7-6EEA-BA8A-30D3-45516A13464A}"/>
              </a:ext>
            </a:extLst>
          </p:cNvPr>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4209224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DDAE8-AB3B-4759-01A3-413C0129ABD5}"/>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3" name="Footer Placeholder 2">
            <a:extLst>
              <a:ext uri="{FF2B5EF4-FFF2-40B4-BE49-F238E27FC236}">
                <a16:creationId xmlns:a16="http://schemas.microsoft.com/office/drawing/2014/main" id="{30C98B8B-C0C0-1A91-BCD0-09515E2FB7F2}"/>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636B4E1-86E0-2513-7004-EA4294E6C04D}"/>
              </a:ext>
            </a:extLst>
          </p:cNvPr>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TextBox 4">
            <a:extLst>
              <a:ext uri="{FF2B5EF4-FFF2-40B4-BE49-F238E27FC236}">
                <a16:creationId xmlns:a16="http://schemas.microsoft.com/office/drawing/2014/main" id="{7649B768-5C34-2C5C-2D86-B5818DA64A38}"/>
              </a:ext>
            </a:extLst>
          </p:cNvPr>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6" name="Picture 5" descr="Pearson Logo">
            <a:extLst>
              <a:ext uri="{FF2B5EF4-FFF2-40B4-BE49-F238E27FC236}">
                <a16:creationId xmlns:a16="http://schemas.microsoft.com/office/drawing/2014/main" id="{6357FD34-0513-177D-CD45-D33770B437B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98618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5C9FF-99FF-F578-1F43-1CAD87DB214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6DEF539-889F-BFF8-B369-7B9BCE25A7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07458CC-D689-6858-4D32-9CED858A98F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752ACFF-FD34-9894-47B1-01FBD826A37B}"/>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B3C4D7BD-346D-11F4-CA96-4F06FBE2FB9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2F306-F1A9-5686-6F4E-755C102CFAC3}"/>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30359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CDCA8-0000-4BB8-96A3-CCEA4EC6CBA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907725-A1DB-BA15-C732-804C756B5C9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A9036CA0-8BCD-FDF5-8B62-8FEC7EE0871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801F158-6383-C558-AAFC-D3E7A479904E}"/>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6" name="Footer Placeholder 5">
            <a:extLst>
              <a:ext uri="{FF2B5EF4-FFF2-40B4-BE49-F238E27FC236}">
                <a16:creationId xmlns:a16="http://schemas.microsoft.com/office/drawing/2014/main" id="{5A4E7832-C0A2-5861-0D25-B1F3E92AFCB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99327C9-F866-DCF7-187F-6033F96AAC12}"/>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356552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77F3C-683A-6F9E-CEAE-4EE48C071DB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1E2BD1-1E85-E51B-46A4-FB9A477AA7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C9B435-989C-AA3B-6443-CC1F1A4BD5B1}"/>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77299A9B-2E13-B90C-DEF9-7791ABE9DB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4CFC08-8309-E170-1793-48744A90E810}"/>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5292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8636A9-0797-45E8-5B3F-C878E0DE84FE}"/>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9FC3B6-2BE8-9405-06B0-33563452D0C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6B32E-482B-1C0D-0846-9037D9353C66}"/>
              </a:ext>
            </a:extLst>
          </p:cNvPr>
          <p:cNvSpPr>
            <a:spLocks noGrp="1"/>
          </p:cNvSpPr>
          <p:nvPr>
            <p:ph type="dt" sz="half" idx="10"/>
          </p:nvPr>
        </p:nvSpPr>
        <p:spPr/>
        <p:txBody>
          <a:body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CC0BF214-EE94-DB02-AF0A-539537081A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BA6FABF-7C30-FBA5-A3D5-CFF7E38E4B59}"/>
              </a:ext>
            </a:extLst>
          </p:cNvPr>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528607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34367312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019065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3" name="TextBox 2">
            <a:extLst>
              <a:ext uri="{FF2B5EF4-FFF2-40B4-BE49-F238E27FC236}">
                <a16:creationId xmlns:a16="http://schemas.microsoft.com/office/drawing/2014/main" id="{01481079-A94E-0398-3BCB-329A1465E767}"/>
              </a:ext>
            </a:extLst>
          </p:cNvPr>
          <p:cNvSpPr txBox="1"/>
          <p:nvPr userDrawn="1"/>
        </p:nvSpPr>
        <p:spPr>
          <a:xfrm>
            <a:off x="8015565" y="6418052"/>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3 -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5" name="TextBox 4">
            <a:extLst>
              <a:ext uri="{FF2B5EF4-FFF2-40B4-BE49-F238E27FC236}">
                <a16:creationId xmlns:a16="http://schemas.microsoft.com/office/drawing/2014/main" id="{B98E73F1-1EA0-94F4-7E15-27306DF42D80}"/>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459832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6501683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8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2848938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43_1Title and 3 Two Content 2 picture placeholder">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7619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60786" y="243840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429000"/>
            <a:ext cx="82296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5"/>
          </p:nvPr>
        </p:nvSpPr>
        <p:spPr>
          <a:xfrm>
            <a:off x="457200" y="4191000"/>
            <a:ext cx="8229600" cy="762000"/>
          </a:xfrm>
        </p:spPr>
        <p:txBody>
          <a:bodyPr/>
          <a:lstStyle/>
          <a:p>
            <a:endParaRPr lang="en-US"/>
          </a:p>
        </p:txBody>
      </p:sp>
      <p:sp>
        <p:nvSpPr>
          <p:cNvPr id="13" name="Picture Placeholder 12"/>
          <p:cNvSpPr>
            <a:spLocks noGrp="1"/>
          </p:cNvSpPr>
          <p:nvPr>
            <p:ph type="pic" sz="quarter" idx="16"/>
          </p:nvPr>
        </p:nvSpPr>
        <p:spPr>
          <a:xfrm>
            <a:off x="457200" y="5257800"/>
            <a:ext cx="8229600" cy="609600"/>
          </a:xfrm>
        </p:spPr>
        <p:txBody>
          <a:bodyPr/>
          <a:lstStyle/>
          <a:p>
            <a:endParaRPr lang="en-US"/>
          </a:p>
        </p:txBody>
      </p:sp>
    </p:spTree>
    <p:extLst>
      <p:ext uri="{BB962C8B-B14F-4D97-AF65-F5344CB8AC3E}">
        <p14:creationId xmlns:p14="http://schemas.microsoft.com/office/powerpoint/2010/main" val="1896907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6"/>
          </p:nvPr>
        </p:nvSpPr>
        <p:spPr>
          <a:xfrm>
            <a:off x="457200" y="4419600"/>
            <a:ext cx="8229600" cy="990600"/>
          </a:xfrm>
        </p:spPr>
        <p:txBody>
          <a:bodyPr/>
          <a:lstStyle/>
          <a:p>
            <a:endParaRPr lang="en-IN"/>
          </a:p>
        </p:txBody>
      </p:sp>
    </p:spTree>
    <p:extLst>
      <p:ext uri="{BB962C8B-B14F-4D97-AF65-F5344CB8AC3E}">
        <p14:creationId xmlns:p14="http://schemas.microsoft.com/office/powerpoint/2010/main" val="241738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2771775"/>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686175"/>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5"/>
          </p:nvPr>
        </p:nvSpPr>
        <p:spPr>
          <a:xfrm>
            <a:off x="457200" y="5029200"/>
            <a:ext cx="8153400" cy="76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499872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675618314"/>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47675" y="3048000"/>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4495800"/>
            <a:ext cx="8153400" cy="685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6917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2" name="TextBox 1">
            <a:extLst>
              <a:ext uri="{FF2B5EF4-FFF2-40B4-BE49-F238E27FC236}">
                <a16:creationId xmlns:a16="http://schemas.microsoft.com/office/drawing/2014/main" id="{5CF6B91B-AFEF-31AE-3766-53239354DE36}"/>
              </a:ext>
            </a:extLst>
          </p:cNvPr>
          <p:cNvSpPr txBox="1"/>
          <p:nvPr userDrawn="1"/>
        </p:nvSpPr>
        <p:spPr>
          <a:xfrm>
            <a:off x="8015565" y="6418052"/>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3 -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lvl1pPr>
              <a:defRPr sz="34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600"/>
            </a:lvl1pPr>
            <a:lvl2pPr>
              <a:buClr>
                <a:srgbClr val="007FA3"/>
              </a:buClr>
              <a:defRPr sz="2400"/>
            </a:lvl2pPr>
            <a:lvl3pPr>
              <a:buClr>
                <a:srgbClr val="007FA3"/>
              </a:buClr>
              <a:defRPr sz="2200"/>
            </a:lvl3pPr>
            <a:lvl4pPr>
              <a:buClr>
                <a:srgbClr val="007FA3"/>
              </a:buClr>
              <a:defRPr sz="2000"/>
            </a:lvl4pPr>
            <a:lvl5pPr>
              <a:buClr>
                <a:srgbClr val="007FA3"/>
              </a:buClr>
              <a:defRPr sz="1800"/>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12/29/24</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547999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362201"/>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457200" y="3048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idx="15"/>
          </p:nvPr>
        </p:nvSpPr>
        <p:spPr>
          <a:xfrm>
            <a:off x="457200" y="3810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p:cNvSpPr>
            <a:spLocks noGrp="1"/>
          </p:cNvSpPr>
          <p:nvPr>
            <p:ph idx="16"/>
          </p:nvPr>
        </p:nvSpPr>
        <p:spPr>
          <a:xfrm>
            <a:off x="457200" y="4648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7"/>
          </p:nvPr>
        </p:nvSpPr>
        <p:spPr>
          <a:xfrm>
            <a:off x="609600" y="4800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762000" y="4953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914400" y="51054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20"/>
          </p:nvPr>
        </p:nvSpPr>
        <p:spPr>
          <a:xfrm>
            <a:off x="1066800" y="52578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21"/>
          </p:nvPr>
        </p:nvSpPr>
        <p:spPr>
          <a:xfrm>
            <a:off x="1219200" y="54102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2"/>
          <p:cNvSpPr>
            <a:spLocks noGrp="1"/>
          </p:cNvSpPr>
          <p:nvPr>
            <p:ph idx="22"/>
          </p:nvPr>
        </p:nvSpPr>
        <p:spPr>
          <a:xfrm>
            <a:off x="1371600" y="55626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p:cNvSpPr>
            <a:spLocks noGrp="1"/>
          </p:cNvSpPr>
          <p:nvPr>
            <p:ph idx="23"/>
          </p:nvPr>
        </p:nvSpPr>
        <p:spPr>
          <a:xfrm>
            <a:off x="1524000" y="5715000"/>
            <a:ext cx="8229600" cy="533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2596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23021397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9" name="Content Placeholder 2"/>
          <p:cNvSpPr>
            <a:spLocks noGrp="1"/>
          </p:cNvSpPr>
          <p:nvPr>
            <p:ph idx="14"/>
          </p:nvPr>
        </p:nvSpPr>
        <p:spPr>
          <a:xfrm>
            <a:off x="609600" y="41148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837902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12/29/24</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sp>
        <p:nvSpPr>
          <p:cNvPr id="7" name="TextBox 6"/>
          <p:cNvSpPr txBox="1"/>
          <p:nvPr userDrawn="1"/>
        </p:nvSpPr>
        <p:spPr>
          <a:xfrm>
            <a:off x="1533525" y="6374626"/>
            <a:ext cx="7162800" cy="276999"/>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dirty="0">
                <a:latin typeface="Verdana" panose="020B0604030504040204" pitchFamily="34" charset="0"/>
              </a:rPr>
              <a:t>Copyright © 2023 by Pearson Education, Inc. All Rights Reserved</a:t>
            </a:r>
          </a:p>
        </p:txBody>
      </p:sp>
      <p:pic>
        <p:nvPicPr>
          <p:cNvPr id="11" name="Picture 10"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Picture Placeholder 4"/>
          <p:cNvSpPr>
            <a:spLocks noGrp="1"/>
          </p:cNvSpPr>
          <p:nvPr>
            <p:ph type="pic" sz="quarter" idx="14"/>
          </p:nvPr>
        </p:nvSpPr>
        <p:spPr>
          <a:xfrm>
            <a:off x="457200" y="3200400"/>
            <a:ext cx="8229600" cy="1295400"/>
          </a:xfrm>
        </p:spPr>
        <p:txBody>
          <a:bodyPr/>
          <a:lstStyle/>
          <a:p>
            <a:endParaRPr lang="en-IN"/>
          </a:p>
        </p:txBody>
      </p:sp>
    </p:spTree>
    <p:extLst>
      <p:ext uri="{BB962C8B-B14F-4D97-AF65-F5344CB8AC3E}">
        <p14:creationId xmlns:p14="http://schemas.microsoft.com/office/powerpoint/2010/main" val="4808003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Tree>
    <p:extLst>
      <p:ext uri="{BB962C8B-B14F-4D97-AF65-F5344CB8AC3E}">
        <p14:creationId xmlns:p14="http://schemas.microsoft.com/office/powerpoint/2010/main" val="9020566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4_1Title and 3 Two Content 3 picture placeholder">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7619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60786" y="243840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t>12/29/24</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dirty="0"/>
          </a:p>
        </p:txBody>
      </p:sp>
      <p:sp>
        <p:nvSpPr>
          <p:cNvPr id="5" name="Content Placeholder 4"/>
          <p:cNvSpPr>
            <a:spLocks noGrp="1"/>
          </p:cNvSpPr>
          <p:nvPr>
            <p:ph sz="quarter" idx="14"/>
          </p:nvPr>
        </p:nvSpPr>
        <p:spPr>
          <a:xfrm>
            <a:off x="457200" y="3429000"/>
            <a:ext cx="8229600" cy="53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p:cNvSpPr>
            <a:spLocks noGrp="1"/>
          </p:cNvSpPr>
          <p:nvPr>
            <p:ph type="pic" sz="quarter" idx="15"/>
          </p:nvPr>
        </p:nvSpPr>
        <p:spPr>
          <a:xfrm>
            <a:off x="457200" y="4191000"/>
            <a:ext cx="8229600" cy="762000"/>
          </a:xfrm>
        </p:spPr>
        <p:txBody>
          <a:bodyPr/>
          <a:lstStyle/>
          <a:p>
            <a:endParaRPr lang="en-US"/>
          </a:p>
        </p:txBody>
      </p:sp>
      <p:sp>
        <p:nvSpPr>
          <p:cNvPr id="13" name="Picture Placeholder 12"/>
          <p:cNvSpPr>
            <a:spLocks noGrp="1"/>
          </p:cNvSpPr>
          <p:nvPr>
            <p:ph type="pic" sz="quarter" idx="16"/>
          </p:nvPr>
        </p:nvSpPr>
        <p:spPr>
          <a:xfrm>
            <a:off x="457200" y="5257800"/>
            <a:ext cx="8229600" cy="609600"/>
          </a:xfrm>
        </p:spPr>
        <p:txBody>
          <a:bodyPr/>
          <a:lstStyle/>
          <a:p>
            <a:endParaRPr lang="en-US"/>
          </a:p>
        </p:txBody>
      </p:sp>
      <p:sp>
        <p:nvSpPr>
          <p:cNvPr id="9" name="Picture Placeholder 8"/>
          <p:cNvSpPr>
            <a:spLocks noGrp="1"/>
          </p:cNvSpPr>
          <p:nvPr>
            <p:ph type="pic" sz="quarter" idx="17"/>
          </p:nvPr>
        </p:nvSpPr>
        <p:spPr>
          <a:xfrm>
            <a:off x="609600" y="1447800"/>
            <a:ext cx="6858000" cy="304800"/>
          </a:xfrm>
        </p:spPr>
        <p:txBody>
          <a:bodyPr/>
          <a:lstStyle/>
          <a:p>
            <a:endParaRPr lang="en-IN"/>
          </a:p>
        </p:txBody>
      </p:sp>
    </p:spTree>
    <p:extLst>
      <p:ext uri="{BB962C8B-B14F-4D97-AF65-F5344CB8AC3E}">
        <p14:creationId xmlns:p14="http://schemas.microsoft.com/office/powerpoint/2010/main" val="30050638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976C3-CCF4-41AE-2756-AF2E0B1C641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745C23-BBA8-99C5-36D5-E3C7D4CF995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2E0331-81B0-D7D6-7A4F-9EB7B27F6EB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A9DF6EFB-3F44-496C-A842-1E0B3D3B975A}" type="datetimeFigureOut">
              <a:rPr lang="en-US" smtClean="0"/>
              <a:pPr/>
              <a:t>12/29/24</a:t>
            </a:fld>
            <a:endParaRPr lang="en-US" dirty="0"/>
          </a:p>
        </p:txBody>
      </p:sp>
      <p:sp>
        <p:nvSpPr>
          <p:cNvPr id="5" name="Footer Placeholder 4">
            <a:extLst>
              <a:ext uri="{FF2B5EF4-FFF2-40B4-BE49-F238E27FC236}">
                <a16:creationId xmlns:a16="http://schemas.microsoft.com/office/drawing/2014/main" id="{A91DA835-D6F5-4D98-C381-A1E9AC54284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9A993788-E333-3429-8FF8-7583FECFAE25}"/>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200B2350-5261-4F5C-9DF5-EF0D264FC8D2}" type="slidenum">
              <a:rPr lang="en-US" smtClean="0"/>
              <a:pPr/>
              <a:t>‹#›</a:t>
            </a:fld>
            <a:endParaRPr lang="en-US" dirty="0"/>
          </a:p>
        </p:txBody>
      </p:sp>
      <p:pic>
        <p:nvPicPr>
          <p:cNvPr id="7" name="Picture 6" descr="Pearson Logo">
            <a:extLst>
              <a:ext uri="{FF2B5EF4-FFF2-40B4-BE49-F238E27FC236}">
                <a16:creationId xmlns:a16="http://schemas.microsoft.com/office/drawing/2014/main" id="{82A4B29A-B47B-97C0-1444-D3AF1D27DEEC}"/>
              </a:ext>
            </a:extLst>
          </p:cNvPr>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a:extLst>
              <a:ext uri="{FF2B5EF4-FFF2-40B4-BE49-F238E27FC236}">
                <a16:creationId xmlns:a16="http://schemas.microsoft.com/office/drawing/2014/main" id="{3C71D009-96BF-C845-AF6A-A7B77BFC3D56}"/>
              </a:ext>
            </a:extLst>
          </p:cNvPr>
          <p:cNvSpPr txBox="1"/>
          <p:nvPr userDrawn="1"/>
        </p:nvSpPr>
        <p:spPr>
          <a:xfrm>
            <a:off x="8015565" y="6418052"/>
            <a:ext cx="595035" cy="276999"/>
          </a:xfrm>
          <a:prstGeom prst="rect">
            <a:avLst/>
          </a:prstGeom>
          <a:noFill/>
        </p:spPr>
        <p:txBody>
          <a:bodyPr wrap="none">
            <a:spAutoFit/>
          </a:bodyPr>
          <a:lstStyle>
            <a:lvl1pPr>
              <a:defRPr>
                <a:solidFill>
                  <a:schemeClr val="tx1"/>
                </a:solidFill>
                <a:latin typeface="Calibri" charset="0"/>
                <a:ea typeface="ＭＳ Ｐゴシック" charset="0"/>
                <a:cs typeface="Arial" charset="0"/>
              </a:defRPr>
            </a:lvl1pPr>
            <a:lvl2pPr marL="742950" indent="-285750">
              <a:defRPr>
                <a:solidFill>
                  <a:schemeClr val="tx1"/>
                </a:solidFill>
                <a:latin typeface="Calibri" charset="0"/>
                <a:ea typeface="Arial" charset="0"/>
                <a:cs typeface="Arial" charset="0"/>
              </a:defRPr>
            </a:lvl2pPr>
            <a:lvl3pPr marL="1143000" indent="-228600">
              <a:defRPr>
                <a:solidFill>
                  <a:schemeClr val="tx1"/>
                </a:solidFill>
                <a:latin typeface="Calibri" charset="0"/>
                <a:ea typeface="Arial" charset="0"/>
                <a:cs typeface="Arial" charset="0"/>
              </a:defRPr>
            </a:lvl3pPr>
            <a:lvl4pPr marL="1600200" indent="-228600">
              <a:defRPr>
                <a:solidFill>
                  <a:schemeClr val="tx1"/>
                </a:solidFill>
                <a:latin typeface="Calibri" charset="0"/>
                <a:ea typeface="Arial" charset="0"/>
                <a:cs typeface="Arial" charset="0"/>
              </a:defRPr>
            </a:lvl4pPr>
            <a:lvl5pPr marL="2057400" indent="-228600">
              <a:defRPr>
                <a:solidFill>
                  <a:schemeClr val="tx1"/>
                </a:solidFill>
                <a:latin typeface="Calibri" charset="0"/>
                <a:ea typeface="Arial" charset="0"/>
                <a:cs typeface="Arial" charset="0"/>
              </a:defRPr>
            </a:lvl5pPr>
            <a:lvl6pPr marL="2514600" indent="-228600" fontAlgn="base">
              <a:spcBef>
                <a:spcPct val="0"/>
              </a:spcBef>
              <a:spcAft>
                <a:spcPct val="0"/>
              </a:spcAft>
              <a:defRPr>
                <a:solidFill>
                  <a:schemeClr val="tx1"/>
                </a:solidFill>
                <a:latin typeface="Calibri" charset="0"/>
                <a:ea typeface="Arial" charset="0"/>
                <a:cs typeface="Arial" charset="0"/>
              </a:defRPr>
            </a:lvl6pPr>
            <a:lvl7pPr marL="2971800" indent="-228600" fontAlgn="base">
              <a:spcBef>
                <a:spcPct val="0"/>
              </a:spcBef>
              <a:spcAft>
                <a:spcPct val="0"/>
              </a:spcAft>
              <a:defRPr>
                <a:solidFill>
                  <a:schemeClr val="tx1"/>
                </a:solidFill>
                <a:latin typeface="Calibri" charset="0"/>
                <a:ea typeface="Arial" charset="0"/>
                <a:cs typeface="Arial" charset="0"/>
              </a:defRPr>
            </a:lvl7pPr>
            <a:lvl8pPr marL="3429000" indent="-228600" fontAlgn="base">
              <a:spcBef>
                <a:spcPct val="0"/>
              </a:spcBef>
              <a:spcAft>
                <a:spcPct val="0"/>
              </a:spcAft>
              <a:defRPr>
                <a:solidFill>
                  <a:schemeClr val="tx1"/>
                </a:solidFill>
                <a:latin typeface="Calibri" charset="0"/>
                <a:ea typeface="Arial" charset="0"/>
                <a:cs typeface="Arial" charset="0"/>
              </a:defRPr>
            </a:lvl8pPr>
            <a:lvl9pPr marL="3886200" indent="-228600" fontAlgn="base">
              <a:spcBef>
                <a:spcPct val="0"/>
              </a:spcBef>
              <a:spcAft>
                <a:spcPct val="0"/>
              </a:spcAft>
              <a:defRPr>
                <a:solidFill>
                  <a:schemeClr val="tx1"/>
                </a:solidFill>
                <a:latin typeface="Calibri" charset="0"/>
                <a:ea typeface="Arial" charset="0"/>
                <a:cs typeface="Arial" charset="0"/>
              </a:defRPr>
            </a:lvl9pPr>
          </a:lstStyle>
          <a:p>
            <a:r>
              <a:rPr lang="en-US" sz="1200" dirty="0">
                <a:solidFill>
                  <a:srgbClr val="A6A6A6"/>
                </a:solidFill>
                <a:latin typeface="Arial" charset="0"/>
              </a:rPr>
              <a:t>3 - </a:t>
            </a:r>
            <a:fld id="{02DAD016-8EBF-CF47-ACE8-593B4CD31605}" type="slidenum">
              <a:rPr lang="en-US" sz="1200">
                <a:solidFill>
                  <a:srgbClr val="A6A6A6"/>
                </a:solidFill>
                <a:latin typeface="Arial" charset="0"/>
              </a:rPr>
              <a:pPr/>
              <a:t>‹#›</a:t>
            </a:fld>
            <a:endParaRPr lang="en-US" sz="1200" dirty="0">
              <a:solidFill>
                <a:srgbClr val="A6A6A6"/>
              </a:solidFill>
              <a:latin typeface="Arial" charset="0"/>
            </a:endParaRPr>
          </a:p>
        </p:txBody>
      </p:sp>
      <p:sp>
        <p:nvSpPr>
          <p:cNvPr id="9" name="TextBox 8">
            <a:extLst>
              <a:ext uri="{FF2B5EF4-FFF2-40B4-BE49-F238E27FC236}">
                <a16:creationId xmlns:a16="http://schemas.microsoft.com/office/drawing/2014/main" id="{C5BCCD9B-898A-E802-3BAE-D2456BF22CDC}"/>
              </a:ext>
            </a:extLst>
          </p:cNvPr>
          <p:cNvSpPr txBox="1"/>
          <p:nvPr userDrawn="1"/>
        </p:nvSpPr>
        <p:spPr>
          <a:xfrm>
            <a:off x="1502228" y="6429974"/>
            <a:ext cx="6172200" cy="276999"/>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en-US" sz="1200" b="0" kern="1200" dirty="0">
                <a:solidFill>
                  <a:schemeClr val="tx1"/>
                </a:solidFill>
                <a:latin typeface="Verdana"/>
                <a:ea typeface="Verdana" panose="020B0604030504040204" pitchFamily="34" charset="0"/>
                <a:cs typeface="Verdana" panose="020B0604030504040204" pitchFamily="34" charset="0"/>
              </a:rPr>
              <a:t>Copyright © 2024 Pearson Canada Inc.</a:t>
            </a:r>
          </a:p>
        </p:txBody>
      </p:sp>
    </p:spTree>
    <p:extLst>
      <p:ext uri="{BB962C8B-B14F-4D97-AF65-F5344CB8AC3E}">
        <p14:creationId xmlns:p14="http://schemas.microsoft.com/office/powerpoint/2010/main" val="4268596629"/>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2" r:id="rId12"/>
    <p:sldLayoutId id="2147483723" r:id="rId13"/>
    <p:sldLayoutId id="2147483724" r:id="rId14"/>
    <p:sldLayoutId id="2147483725" r:id="rId15"/>
    <p:sldLayoutId id="2147483726" r:id="rId16"/>
    <p:sldLayoutId id="2147483727" r:id="rId17"/>
    <p:sldLayoutId id="2147483728" r:id="rId18"/>
    <p:sldLayoutId id="2147483729" r:id="rId19"/>
    <p:sldLayoutId id="2147483730" r:id="rId20"/>
    <p:sldLayoutId id="2147483731" r:id="rId21"/>
    <p:sldLayoutId id="2147483657" r:id="rId22"/>
    <p:sldLayoutId id="2147483650" r:id="rId23"/>
    <p:sldLayoutId id="2147483660" r:id="rId24"/>
    <p:sldLayoutId id="2147483662" r:id="rId25"/>
    <p:sldLayoutId id="2147483661" r:id="rId26"/>
    <p:sldLayoutId id="2147483663" r:id="rId27"/>
    <p:sldLayoutId id="2147483654" r:id="rId28"/>
    <p:sldLayoutId id="2147483655" r:id="rId29"/>
    <p:sldLayoutId id="2147483668" r:id="rId30"/>
    <p:sldLayoutId id="2147483675" r:id="rId31"/>
    <p:sldLayoutId id="2147483706" r:id="rId3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7.xml"/><Relationship Id="rId1" Type="http://schemas.openxmlformats.org/officeDocument/2006/relationships/slideLayout" Target="../slideLayouts/slideLayout17.xml"/><Relationship Id="rId5" Type="http://schemas.openxmlformats.org/officeDocument/2006/relationships/image" Target="../media/image16.png"/><Relationship Id="rId4" Type="http://schemas.openxmlformats.org/officeDocument/2006/relationships/image" Target="../media/image15.wmf"/></Relationships>
</file>

<file path=ppt/slides/_rels/slide3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35.xml"/><Relationship Id="rId1" Type="http://schemas.openxmlformats.org/officeDocument/2006/relationships/slideLayout" Target="../slideLayouts/slideLayout17.xml"/><Relationship Id="rId6" Type="http://schemas.openxmlformats.org/officeDocument/2006/relationships/image" Target="../media/image21.wmf"/><Relationship Id="rId5" Type="http://schemas.openxmlformats.org/officeDocument/2006/relationships/oleObject" Target="../embeddings/oleObject3.bin"/><Relationship Id="rId4" Type="http://schemas.openxmlformats.org/officeDocument/2006/relationships/image" Target="../media/image20.wmf"/><Relationship Id="rId9" Type="http://schemas.openxmlformats.org/officeDocument/2006/relationships/image" Target="../media/image23.jpg"/></Relationships>
</file>

<file path=ppt/slides/_rels/slide3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37.xml"/><Relationship Id="rId1" Type="http://schemas.openxmlformats.org/officeDocument/2006/relationships/slideLayout" Target="../slideLayouts/slideLayout20.xml"/><Relationship Id="rId6" Type="http://schemas.openxmlformats.org/officeDocument/2006/relationships/image" Target="../media/image25.wmf"/><Relationship Id="rId5" Type="http://schemas.openxmlformats.org/officeDocument/2006/relationships/oleObject" Target="../embeddings/oleObject6.bin"/><Relationship Id="rId4" Type="http://schemas.openxmlformats.org/officeDocument/2006/relationships/image" Target="../media/image24.wmf"/><Relationship Id="rId9" Type="http://schemas.openxmlformats.org/officeDocument/2006/relationships/image" Target="../media/image27.jp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9.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40.xml"/><Relationship Id="rId1" Type="http://schemas.openxmlformats.org/officeDocument/2006/relationships/slideLayout" Target="../slideLayouts/slideLayout17.xml"/><Relationship Id="rId5" Type="http://schemas.openxmlformats.org/officeDocument/2006/relationships/image" Target="../media/image28.jpg"/><Relationship Id="rId4" Type="http://schemas.openxmlformats.org/officeDocument/2006/relationships/image" Target="../media/image29.wmf"/></Relationships>
</file>

<file path=ppt/slides/_rels/slide4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lstStyle/>
          <a:p>
            <a:r>
              <a:rPr lang="en-US"/>
              <a:t>Macroeconomics</a:t>
            </a:r>
            <a:br>
              <a:rPr lang="en-US"/>
            </a:br>
            <a:r>
              <a:rPr lang="en-US" sz="2800"/>
              <a:t>ECON 101</a:t>
            </a:r>
            <a:endParaRPr lang="en-US" sz="28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304800" y="3276600"/>
            <a:ext cx="8763000" cy="1981200"/>
          </a:xfrm>
        </p:spPr>
        <p:txBody>
          <a:bodyPr>
            <a:normAutofit/>
          </a:bodyPr>
          <a:lstStyle/>
          <a:p>
            <a:r>
              <a:rPr lang="en-IN" sz="2200"/>
              <a:t>Where Prices Come From: The Interaction of Supply and Demand</a:t>
            </a:r>
          </a:p>
          <a:p>
            <a:r>
              <a:rPr lang="en-US"/>
              <a:t>(Chapter 3)</a:t>
            </a:r>
          </a:p>
          <a:p>
            <a:endParaRPr lang="en-US"/>
          </a:p>
          <a:p>
            <a:r>
              <a:rPr lang="en-US"/>
              <a:t>Instructor: Muhebullah Karimzada</a:t>
            </a:r>
            <a:endParaRPr lang="en-US"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spAutoFit/>
          </a:bodyPr>
          <a:lstStyle/>
          <a:p>
            <a:r>
              <a:rPr lang="en-US" sz="3600" dirty="0">
                <a:latin typeface="+mj-lt"/>
              </a:rPr>
              <a:t>Chapter Outline</a:t>
            </a:r>
            <a:endParaRPr lang="en-US" sz="2800" dirty="0">
              <a:latin typeface="+mj-lt"/>
            </a:endParaRPr>
          </a:p>
        </p:txBody>
      </p:sp>
      <p:sp>
        <p:nvSpPr>
          <p:cNvPr id="3" name="Content Placeholder 2"/>
          <p:cNvSpPr>
            <a:spLocks noGrp="1"/>
          </p:cNvSpPr>
          <p:nvPr>
            <p:ph idx="1"/>
          </p:nvPr>
        </p:nvSpPr>
        <p:spPr>
          <a:xfrm>
            <a:off x="457200" y="1456426"/>
            <a:ext cx="8229600" cy="2133600"/>
          </a:xfrm>
        </p:spPr>
        <p:txBody>
          <a:bodyPr wrap="square">
            <a:noAutofit/>
          </a:bodyPr>
          <a:lstStyle/>
          <a:p>
            <a:pPr marL="715963" indent="-715963">
              <a:buNone/>
              <a:tabLst>
                <a:tab pos="715963" algn="l"/>
              </a:tabLst>
            </a:pPr>
            <a:r>
              <a:rPr lang="en-US" sz="2400" b="1" dirty="0"/>
              <a:t>3.1</a:t>
            </a:r>
            <a:r>
              <a:rPr lang="en-US" sz="2400" dirty="0"/>
              <a:t> The Demand Side of the Market</a:t>
            </a:r>
          </a:p>
          <a:p>
            <a:pPr marL="715963" indent="-715963">
              <a:buNone/>
              <a:tabLst>
                <a:tab pos="715963" algn="l"/>
              </a:tabLst>
            </a:pPr>
            <a:r>
              <a:rPr lang="en-US" sz="2400" b="1" dirty="0"/>
              <a:t>3.2</a:t>
            </a:r>
            <a:r>
              <a:rPr lang="en-US" sz="2400" dirty="0"/>
              <a:t> The Supply Side of the Market</a:t>
            </a:r>
          </a:p>
          <a:p>
            <a:pPr marL="715963" indent="-715963">
              <a:buNone/>
              <a:tabLst>
                <a:tab pos="715963" algn="l"/>
              </a:tabLst>
            </a:pPr>
            <a:r>
              <a:rPr lang="en-US" sz="2400" b="1" dirty="0"/>
              <a:t>3.3</a:t>
            </a:r>
            <a:r>
              <a:rPr lang="en-US" sz="2400" dirty="0"/>
              <a:t> Market Equilibrium: Putting Buyers and Sellers Together</a:t>
            </a:r>
          </a:p>
          <a:p>
            <a:pPr marL="715963" indent="-715963">
              <a:buNone/>
              <a:tabLst>
                <a:tab pos="715963" algn="l"/>
              </a:tabLst>
            </a:pPr>
            <a:r>
              <a:rPr lang="en-US" sz="2400" b="1" dirty="0"/>
              <a:t>3.4</a:t>
            </a:r>
            <a:r>
              <a:rPr lang="en-US" sz="2400" dirty="0"/>
              <a:t> The Effect of Demand and Supply Shifts on Equilibrium</a:t>
            </a:r>
          </a:p>
        </p:txBody>
      </p:sp>
    </p:spTree>
    <p:extLst>
      <p:ext uri="{BB962C8B-B14F-4D97-AF65-F5344CB8AC3E}">
        <p14:creationId xmlns:p14="http://schemas.microsoft.com/office/powerpoint/2010/main" val="4119397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j-lt"/>
              </a:rPr>
              <a:t>The Demand Side of the Market</a:t>
            </a:r>
          </a:p>
        </p:txBody>
      </p:sp>
      <p:sp>
        <p:nvSpPr>
          <p:cNvPr id="5" name="Text Placeholder 4">
            <a:extLst>
              <a:ext uri="{FF2B5EF4-FFF2-40B4-BE49-F238E27FC236}">
                <a16:creationId xmlns:a16="http://schemas.microsoft.com/office/drawing/2014/main" id="{6B5E155D-F1FF-B0A8-3745-2CBF96795649}"/>
              </a:ext>
            </a:extLst>
          </p:cNvPr>
          <p:cNvSpPr>
            <a:spLocks noGrp="1"/>
          </p:cNvSpPr>
          <p:nvPr>
            <p:ph type="body" sz="quarter" idx="13"/>
          </p:nvPr>
        </p:nvSpPr>
        <p:spPr>
          <a:xfrm>
            <a:off x="457200" y="995356"/>
            <a:ext cx="8229600" cy="402770"/>
          </a:xfrm>
        </p:spPr>
        <p:txBody>
          <a:bodyPr/>
          <a:lstStyle/>
          <a:p>
            <a:r>
              <a:rPr lang="en-US" sz="2400" b="1" dirty="0">
                <a:solidFill>
                  <a:schemeClr val="tx1"/>
                </a:solidFill>
              </a:rPr>
              <a:t>3.1 Learning Objective</a:t>
            </a:r>
          </a:p>
        </p:txBody>
      </p:sp>
      <p:sp>
        <p:nvSpPr>
          <p:cNvPr id="4" name="Content Placeholder 3"/>
          <p:cNvSpPr>
            <a:spLocks noGrp="1"/>
          </p:cNvSpPr>
          <p:nvPr>
            <p:ph sz="quarter" idx="14"/>
          </p:nvPr>
        </p:nvSpPr>
        <p:spPr/>
        <p:txBody>
          <a:bodyPr>
            <a:noAutofit/>
          </a:bodyPr>
          <a:lstStyle/>
          <a:p>
            <a:pPr marL="0" indent="0">
              <a:buNone/>
            </a:pPr>
            <a:r>
              <a:rPr lang="en-US" sz="2600" dirty="0"/>
              <a:t>Discuss the variables that influence demand.</a:t>
            </a:r>
          </a:p>
          <a:p>
            <a:pPr marL="0" indent="0">
              <a:spcBef>
                <a:spcPts val="1000"/>
              </a:spcBef>
              <a:buSzPts val="2200"/>
              <a:buFont typeface="Arial" panose="020B0604020202020204" pitchFamily="34" charset="0"/>
              <a:buNone/>
            </a:pPr>
            <a:r>
              <a:rPr lang="en-US" sz="2600" dirty="0"/>
              <a:t>We begin our analysis of where prices come from by investigating how buyers behave.</a:t>
            </a:r>
          </a:p>
          <a:p>
            <a:pPr marL="255600"/>
            <a:r>
              <a:rPr lang="en-US" sz="2600" dirty="0"/>
              <a:t>We refer to this as </a:t>
            </a:r>
            <a:r>
              <a:rPr lang="en-US" sz="2600" b="1" dirty="0"/>
              <a:t>market demand,</a:t>
            </a:r>
            <a:r>
              <a:rPr lang="en-US" sz="2600" dirty="0"/>
              <a:t> the demand by all the consumers of a given good or service.</a:t>
            </a:r>
          </a:p>
        </p:txBody>
      </p:sp>
    </p:spTree>
    <p:extLst>
      <p:ext uri="{BB962C8B-B14F-4D97-AF65-F5344CB8AC3E}">
        <p14:creationId xmlns:p14="http://schemas.microsoft.com/office/powerpoint/2010/main" val="3355417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solidFill>
                  <a:schemeClr val="tx1"/>
                </a:solidFill>
                <a:latin typeface="+mj-lt"/>
              </a:rPr>
              <a:t>Figure 3.1 A Demand Schedule and Demand Curve</a:t>
            </a:r>
            <a:r>
              <a:rPr lang="en-US" sz="3200" dirty="0">
                <a:solidFill>
                  <a:schemeClr val="tx1"/>
                </a:solidFill>
                <a:latin typeface="+mj-lt"/>
              </a:rPr>
              <a:t> </a:t>
            </a:r>
            <a:r>
              <a:rPr lang="en-US" sz="2000" b="0" dirty="0">
                <a:solidFill>
                  <a:schemeClr val="tx1"/>
                </a:solidFill>
                <a:latin typeface="+mj-lt"/>
              </a:rPr>
              <a:t>(1 of 3)</a:t>
            </a:r>
            <a:endParaRPr lang="en-US" sz="2000" dirty="0">
              <a:solidFill>
                <a:schemeClr val="tx1"/>
              </a:solidFill>
              <a:latin typeface="+mj-lt"/>
            </a:endParaRPr>
          </a:p>
        </p:txBody>
      </p:sp>
      <p:sp>
        <p:nvSpPr>
          <p:cNvPr id="13" name="Content Placeholder 8">
            <a:extLst>
              <a:ext uri="{FF2B5EF4-FFF2-40B4-BE49-F238E27FC236}">
                <a16:creationId xmlns:a16="http://schemas.microsoft.com/office/drawing/2014/main" id="{25669828-03BB-85F2-8648-4D4094EA3A5A}"/>
              </a:ext>
            </a:extLst>
          </p:cNvPr>
          <p:cNvSpPr txBox="1">
            <a:spLocks/>
          </p:cNvSpPr>
          <p:nvPr/>
        </p:nvSpPr>
        <p:spPr>
          <a:xfrm>
            <a:off x="468313" y="1371600"/>
            <a:ext cx="8218487" cy="160410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b="1" dirty="0"/>
              <a:t>Demand schedule:</a:t>
            </a:r>
            <a:r>
              <a:rPr lang="en-US" sz="2200" dirty="0"/>
              <a:t> A table that shows the relationship between the price of a product and the quantity of the product demanded.</a:t>
            </a:r>
          </a:p>
          <a:p>
            <a:pPr marL="0" indent="0">
              <a:spcBef>
                <a:spcPts val="1000"/>
              </a:spcBef>
              <a:buSzPts val="2200"/>
              <a:buFont typeface="Arial" panose="020B0604020202020204" pitchFamily="34" charset="0"/>
              <a:buNone/>
            </a:pPr>
            <a:r>
              <a:rPr lang="en-US" sz="2200" b="1" dirty="0"/>
              <a:t>Demand curve:</a:t>
            </a:r>
            <a:r>
              <a:rPr lang="en-US" sz="2200" dirty="0"/>
              <a:t> A curve that shows the relationship between the price of a product and the quantity of the product demanded.</a:t>
            </a:r>
          </a:p>
        </p:txBody>
      </p:sp>
      <p:pic>
        <p:nvPicPr>
          <p:cNvPr id="5" name="Picture 4" descr="A composite of a table and a graph representing demand schedule.">
            <a:extLst>
              <a:ext uri="{FF2B5EF4-FFF2-40B4-BE49-F238E27FC236}">
                <a16:creationId xmlns:a16="http://schemas.microsoft.com/office/drawing/2014/main" id="{7E2015C6-E386-7D7B-A696-6C9AABBF4F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9616" y="3200400"/>
            <a:ext cx="6144768" cy="2852928"/>
          </a:xfrm>
          <a:prstGeom prst="rect">
            <a:avLst/>
          </a:prstGeom>
        </p:spPr>
      </p:pic>
    </p:spTree>
    <p:extLst>
      <p:ext uri="{BB962C8B-B14F-4D97-AF65-F5344CB8AC3E}">
        <p14:creationId xmlns:p14="http://schemas.microsoft.com/office/powerpoint/2010/main" val="218561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0052D22E-371A-2204-76AD-9A97CED50199}"/>
              </a:ext>
            </a:extLst>
          </p:cNvPr>
          <p:cNvSpPr>
            <a:spLocks noGrp="1"/>
          </p:cNvSpPr>
          <p:nvPr>
            <p:ph type="title"/>
          </p:nvPr>
        </p:nvSpPr>
        <p:spPr/>
        <p:txBody>
          <a:bodyPr>
            <a:noAutofit/>
          </a:bodyPr>
          <a:lstStyle/>
          <a:p>
            <a:r>
              <a:rPr lang="en-US" dirty="0">
                <a:solidFill>
                  <a:schemeClr val="tx1"/>
                </a:solidFill>
                <a:latin typeface="+mj-lt"/>
              </a:rPr>
              <a:t>Figure 3.1 A Demand Schedule and Demand Curve</a:t>
            </a:r>
            <a:r>
              <a:rPr lang="en-US" sz="3200" dirty="0">
                <a:solidFill>
                  <a:schemeClr val="tx1"/>
                </a:solidFill>
                <a:latin typeface="+mj-lt"/>
              </a:rPr>
              <a:t> </a:t>
            </a:r>
            <a:r>
              <a:rPr lang="en-US" sz="2000" b="0" dirty="0">
                <a:solidFill>
                  <a:schemeClr val="tx1"/>
                </a:solidFill>
                <a:latin typeface="+mj-lt"/>
              </a:rPr>
              <a:t>(2 of 3)</a:t>
            </a:r>
            <a:endParaRPr lang="en-US" sz="2000" dirty="0">
              <a:solidFill>
                <a:schemeClr val="tx1"/>
              </a:solidFill>
              <a:latin typeface="+mj-lt"/>
            </a:endParaRPr>
          </a:p>
        </p:txBody>
      </p:sp>
      <p:sp>
        <p:nvSpPr>
          <p:cNvPr id="17" name="Content Placeholder 8">
            <a:extLst>
              <a:ext uri="{FF2B5EF4-FFF2-40B4-BE49-F238E27FC236}">
                <a16:creationId xmlns:a16="http://schemas.microsoft.com/office/drawing/2014/main" id="{E0E84215-0807-7708-8FCE-CDC3C0FB2460}"/>
              </a:ext>
            </a:extLst>
          </p:cNvPr>
          <p:cNvSpPr txBox="1">
            <a:spLocks/>
          </p:cNvSpPr>
          <p:nvPr/>
        </p:nvSpPr>
        <p:spPr>
          <a:xfrm>
            <a:off x="468313" y="1367693"/>
            <a:ext cx="8218487" cy="190890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dirty="0"/>
              <a:t>When drawing the demand curve, we assume </a:t>
            </a:r>
            <a:r>
              <a:rPr lang="en-US" sz="2200" b="1" dirty="0"/>
              <a:t>ceteris paribus.</a:t>
            </a:r>
          </a:p>
          <a:p>
            <a:pPr marL="0" indent="0">
              <a:spcBef>
                <a:spcPts val="1000"/>
              </a:spcBef>
              <a:buSzPts val="2200"/>
              <a:buFont typeface="Arial" panose="020B0604020202020204" pitchFamily="34" charset="0"/>
              <a:buNone/>
            </a:pPr>
            <a:r>
              <a:rPr lang="en-US" sz="2200" b="1" dirty="0"/>
              <a:t>Ceteris paribus (“all else equal”) condition: </a:t>
            </a:r>
            <a:r>
              <a:rPr lang="en-US" sz="2200" dirty="0"/>
              <a:t>The requirement that when analyzing the relationship between two variables—such as price and quantity demanded—other variables must be held constant.</a:t>
            </a:r>
          </a:p>
        </p:txBody>
      </p:sp>
      <p:pic>
        <p:nvPicPr>
          <p:cNvPr id="3" name="Picture 2" descr="A composite of a table and a graph representing demand schedule.">
            <a:extLst>
              <a:ext uri="{FF2B5EF4-FFF2-40B4-BE49-F238E27FC236}">
                <a16:creationId xmlns:a16="http://schemas.microsoft.com/office/drawing/2014/main" id="{A00A369E-7DAE-F8BF-A1D9-9E6202A68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9616" y="3384186"/>
            <a:ext cx="6144768" cy="2852928"/>
          </a:xfrm>
          <a:prstGeom prst="rect">
            <a:avLst/>
          </a:prstGeom>
        </p:spPr>
      </p:pic>
    </p:spTree>
    <p:extLst>
      <p:ext uri="{BB962C8B-B14F-4D97-AF65-F5344CB8AC3E}">
        <p14:creationId xmlns:p14="http://schemas.microsoft.com/office/powerpoint/2010/main" val="133875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D7E10EE-029B-7748-66C2-7ADABC513A71}"/>
              </a:ext>
            </a:extLst>
          </p:cNvPr>
          <p:cNvSpPr>
            <a:spLocks noGrp="1"/>
          </p:cNvSpPr>
          <p:nvPr>
            <p:ph type="title"/>
          </p:nvPr>
        </p:nvSpPr>
        <p:spPr/>
        <p:txBody>
          <a:bodyPr>
            <a:noAutofit/>
          </a:bodyPr>
          <a:lstStyle/>
          <a:p>
            <a:r>
              <a:rPr lang="en-US" dirty="0">
                <a:solidFill>
                  <a:schemeClr val="tx1"/>
                </a:solidFill>
                <a:latin typeface="+mj-lt"/>
              </a:rPr>
              <a:t>Figure 3.1 A Demand Schedule and Demand Curve</a:t>
            </a:r>
            <a:r>
              <a:rPr lang="en-US" sz="3200" dirty="0">
                <a:solidFill>
                  <a:schemeClr val="tx1"/>
                </a:solidFill>
                <a:latin typeface="+mj-lt"/>
              </a:rPr>
              <a:t> </a:t>
            </a:r>
            <a:r>
              <a:rPr lang="en-US" sz="2000" b="0" dirty="0">
                <a:solidFill>
                  <a:schemeClr val="tx1"/>
                </a:solidFill>
                <a:latin typeface="+mj-lt"/>
              </a:rPr>
              <a:t>(3 of 3)</a:t>
            </a:r>
            <a:endParaRPr lang="en-US" sz="2000" dirty="0">
              <a:solidFill>
                <a:schemeClr val="tx1"/>
              </a:solidFill>
              <a:latin typeface="+mj-lt"/>
            </a:endParaRPr>
          </a:p>
        </p:txBody>
      </p:sp>
      <p:sp>
        <p:nvSpPr>
          <p:cNvPr id="16" name="Content Placeholder 8">
            <a:extLst>
              <a:ext uri="{FF2B5EF4-FFF2-40B4-BE49-F238E27FC236}">
                <a16:creationId xmlns:a16="http://schemas.microsoft.com/office/drawing/2014/main" id="{3E20DE98-71A5-C96B-7836-304D270CD49A}"/>
              </a:ext>
            </a:extLst>
          </p:cNvPr>
          <p:cNvSpPr txBox="1">
            <a:spLocks/>
          </p:cNvSpPr>
          <p:nvPr/>
        </p:nvSpPr>
        <p:spPr>
          <a:xfrm>
            <a:off x="468313" y="1371600"/>
            <a:ext cx="8218487" cy="219475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000"/>
              <a:buFont typeface="Arial" panose="020B0604020202020204" pitchFamily="34" charset="0"/>
              <a:buNone/>
            </a:pPr>
            <a:r>
              <a:rPr lang="en-US" sz="2200" b="1" dirty="0"/>
              <a:t>Quantity demanded:</a:t>
            </a:r>
            <a:r>
              <a:rPr lang="en-US" sz="2200" dirty="0"/>
              <a:t> The amount of a good or service that a consumer is willing and able to purchase at a given price.</a:t>
            </a:r>
            <a:endParaRPr lang="en-US" sz="2200" b="1" u="sng" dirty="0"/>
          </a:p>
          <a:p>
            <a:pPr marL="0" indent="0">
              <a:spcBef>
                <a:spcPts val="600"/>
              </a:spcBef>
              <a:buSzPts val="2000"/>
              <a:buFont typeface="Arial" panose="020B0604020202020204" pitchFamily="34" charset="0"/>
              <a:buNone/>
            </a:pPr>
            <a:r>
              <a:rPr lang="en-US" sz="2200" b="1" dirty="0"/>
              <a:t>Law of demand:</a:t>
            </a:r>
            <a:r>
              <a:rPr lang="en-US" sz="2200" dirty="0"/>
              <a:t> A rule that states that, holding everything else constant, when the price of a product falls, the quantity demanded of the product will increase, and when the price of a product rises, the quantity demanded of the product will decrease.</a:t>
            </a:r>
            <a:endParaRPr lang="en-US" sz="2200" i="1" dirty="0"/>
          </a:p>
        </p:txBody>
      </p:sp>
      <p:pic>
        <p:nvPicPr>
          <p:cNvPr id="3" name="Picture 2" descr="A composite of a table and a graph representing demand schedule.">
            <a:extLst>
              <a:ext uri="{FF2B5EF4-FFF2-40B4-BE49-F238E27FC236}">
                <a16:creationId xmlns:a16="http://schemas.microsoft.com/office/drawing/2014/main" id="{4804572D-49D9-A242-2B8D-51D2F065F5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9616" y="3566350"/>
            <a:ext cx="6144768" cy="2852928"/>
          </a:xfrm>
          <a:prstGeom prst="rect">
            <a:avLst/>
          </a:prstGeom>
        </p:spPr>
      </p:pic>
    </p:spTree>
    <p:extLst>
      <p:ext uri="{BB962C8B-B14F-4D97-AF65-F5344CB8AC3E}">
        <p14:creationId xmlns:p14="http://schemas.microsoft.com/office/powerpoint/2010/main" val="29326036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378594" y="228600"/>
            <a:ext cx="8229600" cy="914400"/>
          </a:xfrm>
        </p:spPr>
        <p:txBody>
          <a:bodyPr>
            <a:noAutofit/>
          </a:bodyPr>
          <a:lstStyle/>
          <a:p>
            <a:r>
              <a:rPr lang="en-US" sz="3600" dirty="0">
                <a:latin typeface="+mj-lt"/>
              </a:rPr>
              <a:t>What Explains the Law of Demand?</a:t>
            </a:r>
          </a:p>
        </p:txBody>
      </p:sp>
      <p:sp>
        <p:nvSpPr>
          <p:cNvPr id="8" name="Content Placeholder 3">
            <a:extLst>
              <a:ext uri="{FF2B5EF4-FFF2-40B4-BE49-F238E27FC236}">
                <a16:creationId xmlns:a16="http://schemas.microsoft.com/office/drawing/2014/main" id="{57D6FE03-8B95-930F-2FFD-0E5218307C24}"/>
              </a:ext>
            </a:extLst>
          </p:cNvPr>
          <p:cNvSpPr txBox="1">
            <a:spLocks/>
          </p:cNvSpPr>
          <p:nvPr/>
        </p:nvSpPr>
        <p:spPr>
          <a:xfrm>
            <a:off x="381000" y="1351002"/>
            <a:ext cx="8229600" cy="18288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2200" dirty="0"/>
              <a:t>When the price of a good falls, two effects take place:</a:t>
            </a:r>
          </a:p>
          <a:p>
            <a:pPr marL="355600" indent="-355600">
              <a:buFont typeface="+mj-lt"/>
              <a:buAutoNum type="arabicPeriod"/>
            </a:pPr>
            <a:r>
              <a:rPr lang="en-US" sz="2200" dirty="0"/>
              <a:t>Consumers </a:t>
            </a:r>
            <a:r>
              <a:rPr lang="en-US" sz="2200" b="1" dirty="0"/>
              <a:t>substitute </a:t>
            </a:r>
            <a:r>
              <a:rPr lang="en-US" sz="2200" dirty="0"/>
              <a:t>toward the good whose price has fallen.</a:t>
            </a:r>
          </a:p>
          <a:p>
            <a:pPr marL="355600" indent="-355600">
              <a:buFont typeface="+mj-lt"/>
              <a:buAutoNum type="arabicPeriod"/>
            </a:pPr>
            <a:r>
              <a:rPr lang="en-US" sz="2200" dirty="0"/>
              <a:t>Consumers have more purchasing power, which is like an increase in </a:t>
            </a:r>
            <a:r>
              <a:rPr lang="en-US" sz="2200" b="1" dirty="0"/>
              <a:t>income.</a:t>
            </a:r>
          </a:p>
        </p:txBody>
      </p:sp>
      <p:sp>
        <p:nvSpPr>
          <p:cNvPr id="12" name="Content Placeholder 4">
            <a:extLst>
              <a:ext uri="{FF2B5EF4-FFF2-40B4-BE49-F238E27FC236}">
                <a16:creationId xmlns:a16="http://schemas.microsoft.com/office/drawing/2014/main" id="{77292E9B-82F9-75AE-1685-BA7EE97B725E}"/>
              </a:ext>
            </a:extLst>
          </p:cNvPr>
          <p:cNvSpPr txBox="1">
            <a:spLocks/>
          </p:cNvSpPr>
          <p:nvPr/>
        </p:nvSpPr>
        <p:spPr>
          <a:xfrm>
            <a:off x="381000" y="3231120"/>
            <a:ext cx="8229600" cy="286488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2200" dirty="0"/>
              <a:t>We call these the </a:t>
            </a:r>
            <a:r>
              <a:rPr lang="en-US" sz="2200" b="1" dirty="0"/>
              <a:t>substitution effect </a:t>
            </a:r>
            <a:r>
              <a:rPr lang="en-US" sz="2200" dirty="0"/>
              <a:t>and the </a:t>
            </a:r>
            <a:r>
              <a:rPr lang="en-US" sz="2200" b="1" dirty="0"/>
              <a:t>income effect:</a:t>
            </a:r>
          </a:p>
          <a:p>
            <a:pPr>
              <a:spcBef>
                <a:spcPts val="600"/>
              </a:spcBef>
              <a:buSzPts val="2200"/>
            </a:pPr>
            <a:r>
              <a:rPr lang="en-US" sz="2200" b="1" dirty="0"/>
              <a:t>Substitution effect:</a:t>
            </a:r>
            <a:r>
              <a:rPr lang="en-US" sz="2200" dirty="0"/>
              <a:t> The change in the quantity demanded of a good that results from a change in price, making the good more or less expensive relative to other goods, holding constant the effect of the price change on consumer purchasing power.</a:t>
            </a:r>
          </a:p>
          <a:p>
            <a:pPr>
              <a:spcBef>
                <a:spcPts val="600"/>
              </a:spcBef>
              <a:buSzPts val="2200"/>
            </a:pPr>
            <a:r>
              <a:rPr lang="en-US" sz="2200" b="1" dirty="0"/>
              <a:t>Income effect:</a:t>
            </a:r>
            <a:r>
              <a:rPr lang="en-US" sz="2200" dirty="0"/>
              <a:t> The change in the quantity demanded of a good that results from the effect of a change in the good’s price on a consumers’ purchasing power, holding all other factors constant.</a:t>
            </a:r>
          </a:p>
        </p:txBody>
      </p:sp>
    </p:spTree>
    <p:extLst>
      <p:ext uri="{BB962C8B-B14F-4D97-AF65-F5344CB8AC3E}">
        <p14:creationId xmlns:p14="http://schemas.microsoft.com/office/powerpoint/2010/main" val="2282638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Autofit/>
          </a:bodyPr>
          <a:lstStyle/>
          <a:p>
            <a:r>
              <a:rPr lang="en-CA" dirty="0">
                <a:latin typeface="+mn-lt"/>
              </a:rPr>
              <a:t>Figure</a:t>
            </a:r>
            <a:r>
              <a:rPr lang="en-US" dirty="0">
                <a:latin typeface="+mn-lt"/>
              </a:rPr>
              <a:t> </a:t>
            </a:r>
            <a:r>
              <a:rPr lang="en-CA" dirty="0">
                <a:latin typeface="+mn-lt"/>
              </a:rPr>
              <a:t>3.2</a:t>
            </a:r>
            <a:r>
              <a:rPr lang="en-US" dirty="0">
                <a:latin typeface="+mn-lt"/>
              </a:rPr>
              <a:t> </a:t>
            </a:r>
            <a:r>
              <a:rPr lang="en-CA" dirty="0">
                <a:latin typeface="+mn-lt"/>
              </a:rPr>
              <a:t>Shifting</a:t>
            </a:r>
            <a:r>
              <a:rPr lang="en-US" dirty="0">
                <a:latin typeface="+mn-lt"/>
              </a:rPr>
              <a:t> </a:t>
            </a:r>
            <a:r>
              <a:rPr lang="en-CA" dirty="0">
                <a:latin typeface="+mn-lt"/>
              </a:rPr>
              <a:t>the</a:t>
            </a:r>
            <a:r>
              <a:rPr lang="en-US" dirty="0">
                <a:latin typeface="+mn-lt"/>
              </a:rPr>
              <a:t> </a:t>
            </a:r>
            <a:r>
              <a:rPr lang="en-CA" dirty="0">
                <a:latin typeface="+mn-lt"/>
              </a:rPr>
              <a:t>Demand</a:t>
            </a:r>
            <a:r>
              <a:rPr lang="en-US" dirty="0">
                <a:latin typeface="+mn-lt"/>
              </a:rPr>
              <a:t> </a:t>
            </a:r>
            <a:r>
              <a:rPr lang="en-CA" dirty="0">
                <a:latin typeface="+mn-lt"/>
              </a:rPr>
              <a:t>Curve</a:t>
            </a:r>
            <a:br>
              <a:rPr lang="en-CA" sz="3200" dirty="0">
                <a:latin typeface="+mn-lt"/>
              </a:rPr>
            </a:br>
            <a:r>
              <a:rPr lang="en-US" sz="2000" b="0" dirty="0">
                <a:latin typeface="+mn-lt"/>
              </a:rPr>
              <a:t>(1 of 2)</a:t>
            </a:r>
            <a:endParaRPr lang="en-US" sz="2000" dirty="0">
              <a:latin typeface="+mn-lt"/>
            </a:endParaRPr>
          </a:p>
        </p:txBody>
      </p:sp>
      <p:sp>
        <p:nvSpPr>
          <p:cNvPr id="3" name="Content Placeholder 2"/>
          <p:cNvSpPr>
            <a:spLocks noGrp="1"/>
          </p:cNvSpPr>
          <p:nvPr>
            <p:ph idx="1"/>
          </p:nvPr>
        </p:nvSpPr>
        <p:spPr>
          <a:xfrm>
            <a:off x="457199" y="1340584"/>
            <a:ext cx="3733801" cy="4298216"/>
          </a:xfrm>
        </p:spPr>
        <p:txBody>
          <a:bodyPr>
            <a:noAutofit/>
          </a:bodyPr>
          <a:lstStyle/>
          <a:p>
            <a:pPr marL="0" indent="0">
              <a:spcBef>
                <a:spcPts val="600"/>
              </a:spcBef>
              <a:spcAft>
                <a:spcPts val="600"/>
              </a:spcAft>
              <a:buNone/>
            </a:pPr>
            <a:r>
              <a:rPr lang="en-US" sz="2400" dirty="0"/>
              <a:t>A change in something other than price that affects demand causes the entire demand curve to shift.</a:t>
            </a:r>
            <a:br>
              <a:rPr lang="en-US" sz="2400" dirty="0"/>
            </a:br>
            <a:r>
              <a:rPr lang="en-US" sz="2400" dirty="0"/>
              <a:t>is a </a:t>
            </a:r>
            <a:r>
              <a:rPr lang="en-US" sz="2400" b="1" dirty="0"/>
              <a:t>decrease in demand.</a:t>
            </a:r>
          </a:p>
          <a:p>
            <a:pPr marL="0" indent="0">
              <a:spcBef>
                <a:spcPts val="600"/>
              </a:spcBef>
              <a:spcAft>
                <a:spcPts val="600"/>
              </a:spcAft>
              <a:buFont typeface="Arial" panose="020B0604020202020204" pitchFamily="34" charset="0"/>
              <a:buNone/>
            </a:pPr>
            <a:r>
              <a:rPr lang="en-US" sz="2400" dirty="0"/>
              <a:t>A shift to the right (</a:t>
            </a:r>
            <a:r>
              <a:rPr lang="en-US" sz="2400" i="1" dirty="0"/>
              <a:t>D</a:t>
            </a:r>
            <a:r>
              <a:rPr lang="en-US" sz="2400" baseline="-25000" dirty="0"/>
              <a:t>1</a:t>
            </a:r>
            <a:r>
              <a:rPr lang="en-US" sz="2400" dirty="0"/>
              <a:t> to </a:t>
            </a:r>
            <a:r>
              <a:rPr lang="en-US" sz="2400" i="1" dirty="0"/>
              <a:t>D</a:t>
            </a:r>
            <a:r>
              <a:rPr lang="en-US" sz="2400" baseline="-25000" dirty="0"/>
              <a:t>2</a:t>
            </a:r>
            <a:r>
              <a:rPr lang="en-US" sz="2400" dirty="0"/>
              <a:t>) is an </a:t>
            </a:r>
            <a:r>
              <a:rPr lang="en-US" sz="2400" b="1" dirty="0"/>
              <a:t>increase in demand.</a:t>
            </a:r>
          </a:p>
          <a:p>
            <a:pPr marL="0" indent="0">
              <a:spcBef>
                <a:spcPts val="600"/>
              </a:spcBef>
              <a:spcAft>
                <a:spcPts val="600"/>
              </a:spcAft>
              <a:buFont typeface="Arial" panose="020B0604020202020204" pitchFamily="34" charset="0"/>
              <a:buNone/>
            </a:pPr>
            <a:r>
              <a:rPr lang="en-US" sz="2400" dirty="0"/>
              <a:t>A shift to the left (</a:t>
            </a:r>
            <a:r>
              <a:rPr lang="en-US" sz="2400" i="1" dirty="0"/>
              <a:t>D</a:t>
            </a:r>
            <a:r>
              <a:rPr lang="en-US" sz="2400" baseline="-25000" dirty="0"/>
              <a:t>1</a:t>
            </a:r>
            <a:r>
              <a:rPr lang="en-US" sz="2400" dirty="0"/>
              <a:t> to </a:t>
            </a:r>
            <a:r>
              <a:rPr lang="en-US" sz="2400" i="1" dirty="0"/>
              <a:t>D</a:t>
            </a:r>
            <a:r>
              <a:rPr lang="en-US" sz="2400" baseline="-25000" dirty="0"/>
              <a:t>3</a:t>
            </a:r>
            <a:r>
              <a:rPr lang="en-US" sz="2400" dirty="0"/>
              <a:t>) is a </a:t>
            </a:r>
            <a:r>
              <a:rPr lang="en-US" sz="2400" b="1" dirty="0"/>
              <a:t>decrease in demand.</a:t>
            </a:r>
          </a:p>
        </p:txBody>
      </p:sp>
      <p:pic>
        <p:nvPicPr>
          <p:cNvPr id="5" name="Picture 4" descr="A line graph with the x-axis labelled quantity in millions of pairs of shoes per week and the y-axis labelled price in dollars per pair of shoes. Three lines labelled demand, D1 on the middle, demand D2 on the right, and demand, D3 on the left form downward slopes. An arrow labelled increase in demand flows from the line demand, D1 to the line demand, D2. An arrow labelled decrease in demand flows from the line demand, D1 to the line demand, D3.">
            <a:extLst>
              <a:ext uri="{FF2B5EF4-FFF2-40B4-BE49-F238E27FC236}">
                <a16:creationId xmlns:a16="http://schemas.microsoft.com/office/drawing/2014/main" id="{69F42E25-5606-D1CB-CBA2-F27EC29C67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1447800"/>
            <a:ext cx="4443060" cy="3380232"/>
          </a:xfrm>
          <a:prstGeom prst="rect">
            <a:avLst/>
          </a:prstGeom>
        </p:spPr>
      </p:pic>
    </p:spTree>
    <p:extLst>
      <p:ext uri="{BB962C8B-B14F-4D97-AF65-F5344CB8AC3E}">
        <p14:creationId xmlns:p14="http://schemas.microsoft.com/office/powerpoint/2010/main" val="3059792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noAutofit/>
          </a:bodyPr>
          <a:lstStyle/>
          <a:p>
            <a:r>
              <a:rPr lang="en-CA" dirty="0">
                <a:latin typeface="+mn-lt"/>
              </a:rPr>
              <a:t>Figure</a:t>
            </a:r>
            <a:r>
              <a:rPr lang="en-US" dirty="0">
                <a:latin typeface="+mn-lt"/>
              </a:rPr>
              <a:t> </a:t>
            </a:r>
            <a:r>
              <a:rPr lang="en-CA" dirty="0">
                <a:latin typeface="+mn-lt"/>
              </a:rPr>
              <a:t>3.2</a:t>
            </a:r>
            <a:r>
              <a:rPr lang="en-US" dirty="0">
                <a:latin typeface="+mn-lt"/>
              </a:rPr>
              <a:t> </a:t>
            </a:r>
            <a:r>
              <a:rPr lang="en-CA" dirty="0">
                <a:latin typeface="+mn-lt"/>
              </a:rPr>
              <a:t>Shifting</a:t>
            </a:r>
            <a:r>
              <a:rPr lang="en-US" dirty="0">
                <a:latin typeface="+mn-lt"/>
              </a:rPr>
              <a:t> </a:t>
            </a:r>
            <a:r>
              <a:rPr lang="en-CA" dirty="0">
                <a:latin typeface="+mn-lt"/>
              </a:rPr>
              <a:t>the</a:t>
            </a:r>
            <a:r>
              <a:rPr lang="en-US" dirty="0">
                <a:latin typeface="+mn-lt"/>
              </a:rPr>
              <a:t> </a:t>
            </a:r>
            <a:r>
              <a:rPr lang="en-CA" dirty="0">
                <a:latin typeface="+mn-lt"/>
              </a:rPr>
              <a:t>Demand</a:t>
            </a:r>
            <a:r>
              <a:rPr lang="en-US" dirty="0">
                <a:latin typeface="+mn-lt"/>
              </a:rPr>
              <a:t> </a:t>
            </a:r>
            <a:r>
              <a:rPr lang="en-CA" dirty="0">
                <a:latin typeface="+mn-lt"/>
              </a:rPr>
              <a:t>Curve</a:t>
            </a:r>
            <a:br>
              <a:rPr lang="en-CA" sz="3200" dirty="0">
                <a:latin typeface="+mn-lt"/>
              </a:rPr>
            </a:br>
            <a:r>
              <a:rPr lang="en-US" sz="2000" b="0" dirty="0">
                <a:latin typeface="+mn-lt"/>
              </a:rPr>
              <a:t>(2 of 2)</a:t>
            </a:r>
            <a:endParaRPr lang="en-US" sz="2000" dirty="0">
              <a:latin typeface="+mn-lt"/>
            </a:endParaRPr>
          </a:p>
        </p:txBody>
      </p:sp>
      <p:sp>
        <p:nvSpPr>
          <p:cNvPr id="14" name="Content Placeholder 3">
            <a:extLst>
              <a:ext uri="{FF2B5EF4-FFF2-40B4-BE49-F238E27FC236}">
                <a16:creationId xmlns:a16="http://schemas.microsoft.com/office/drawing/2014/main" id="{34905CFB-4B40-6768-1410-DBDA4236A8EB}"/>
              </a:ext>
            </a:extLst>
          </p:cNvPr>
          <p:cNvSpPr txBox="1">
            <a:spLocks/>
          </p:cNvSpPr>
          <p:nvPr/>
        </p:nvSpPr>
        <p:spPr>
          <a:xfrm>
            <a:off x="457200" y="1371600"/>
            <a:ext cx="3532909" cy="3889169"/>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400" dirty="0"/>
              <a:t>As the demand curve shifts, the quantity demanded will change, </a:t>
            </a:r>
            <a:r>
              <a:rPr lang="en-US" sz="2400" b="1" dirty="0"/>
              <a:t>even if the price doesn’t change.</a:t>
            </a:r>
          </a:p>
          <a:p>
            <a:pPr marL="0" indent="0">
              <a:buSzPts val="2200"/>
              <a:buFont typeface="Arial" panose="020B0604020202020204" pitchFamily="34" charset="0"/>
              <a:buNone/>
            </a:pPr>
            <a:r>
              <a:rPr lang="en-US" sz="2400" dirty="0"/>
              <a:t>The quantity demanded changes at every possible price.</a:t>
            </a:r>
          </a:p>
        </p:txBody>
      </p:sp>
      <p:pic>
        <p:nvPicPr>
          <p:cNvPr id="3" name="Picture 2" descr="A line graph with the x-axis labelled quantity in millions of pairs of shoes per week and the y-axis labelled price in dollars per pair of shoes. Three lines labelled demand, D1 on the middle, demand D2 on the right, and demand, D3 on the left form downward slopes. An arrow labelled increase in demand flows from the line demand, D1 to the line demand, D2. An arrow labelled decrease in demand flows from the line demand, D1 to the line demand, D3.">
            <a:extLst>
              <a:ext uri="{FF2B5EF4-FFF2-40B4-BE49-F238E27FC236}">
                <a16:creationId xmlns:a16="http://schemas.microsoft.com/office/drawing/2014/main" id="{3FA76D0E-F629-B24E-6CEA-FF9DC83597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1447800"/>
            <a:ext cx="4443060" cy="3380232"/>
          </a:xfrm>
          <a:prstGeom prst="rect">
            <a:avLst/>
          </a:prstGeom>
        </p:spPr>
      </p:pic>
    </p:spTree>
    <p:extLst>
      <p:ext uri="{BB962C8B-B14F-4D97-AF65-F5344CB8AC3E}">
        <p14:creationId xmlns:p14="http://schemas.microsoft.com/office/powerpoint/2010/main" val="2274656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D294615-620E-033F-F113-D886B023FDF8}"/>
              </a:ext>
            </a:extLst>
          </p:cNvPr>
          <p:cNvSpPr>
            <a:spLocks noGrp="1"/>
          </p:cNvSpPr>
          <p:nvPr>
            <p:ph type="title"/>
          </p:nvPr>
        </p:nvSpPr>
        <p:spPr>
          <a:xfrm>
            <a:off x="457200" y="215372"/>
            <a:ext cx="8229600" cy="851428"/>
          </a:xfrm>
        </p:spPr>
        <p:txBody>
          <a:bodyPr/>
          <a:lstStyle/>
          <a:p>
            <a:r>
              <a:rPr lang="en-US" sz="3400" dirty="0">
                <a:latin typeface="+mj-lt"/>
              </a:rPr>
              <a:t>Variables That Shift Market Demand</a:t>
            </a:r>
            <a:endParaRPr lang="en-IN" sz="3400" dirty="0">
              <a:latin typeface="+mj-lt"/>
            </a:endParaRPr>
          </a:p>
        </p:txBody>
      </p:sp>
      <p:sp>
        <p:nvSpPr>
          <p:cNvPr id="3" name="Content Placeholder 2"/>
          <p:cNvSpPr>
            <a:spLocks noGrp="1"/>
          </p:cNvSpPr>
          <p:nvPr>
            <p:ph idx="1"/>
          </p:nvPr>
        </p:nvSpPr>
        <p:spPr>
          <a:xfrm>
            <a:off x="457200" y="1295400"/>
            <a:ext cx="8229600" cy="4830763"/>
          </a:xfrm>
        </p:spPr>
        <p:txBody>
          <a:bodyPr>
            <a:noAutofit/>
          </a:bodyPr>
          <a:lstStyle/>
          <a:p>
            <a:pPr>
              <a:spcBef>
                <a:spcPts val="1000"/>
              </a:spcBef>
            </a:pPr>
            <a:r>
              <a:rPr lang="en-US" sz="2400" b="1" kern="0" dirty="0"/>
              <a:t>Income of consumers</a:t>
            </a:r>
          </a:p>
          <a:p>
            <a:pPr lvl="1">
              <a:spcBef>
                <a:spcPts val="1000"/>
              </a:spcBef>
            </a:pPr>
            <a:r>
              <a:rPr lang="en-US" sz="2200" kern="0" dirty="0"/>
              <a:t>Increase in income increases demand if the product is </a:t>
            </a:r>
            <a:r>
              <a:rPr lang="en-US" sz="2200" b="1" kern="0" dirty="0"/>
              <a:t>normal</a:t>
            </a:r>
            <a:r>
              <a:rPr lang="en-US" sz="2200" kern="0" dirty="0"/>
              <a:t>, decreases demand if the product is </a:t>
            </a:r>
            <a:r>
              <a:rPr lang="en-US" sz="2200" b="1" kern="0" dirty="0"/>
              <a:t>inferior.</a:t>
            </a:r>
            <a:endParaRPr lang="en-US" sz="2200" b="1" dirty="0"/>
          </a:p>
          <a:p>
            <a:pPr>
              <a:spcBef>
                <a:spcPts val="1000"/>
              </a:spcBef>
            </a:pPr>
            <a:r>
              <a:rPr lang="en-US" sz="2400" b="1" kern="0" dirty="0"/>
              <a:t>Prices of related goods</a:t>
            </a:r>
          </a:p>
          <a:p>
            <a:pPr lvl="1">
              <a:spcBef>
                <a:spcPts val="1000"/>
              </a:spcBef>
            </a:pPr>
            <a:r>
              <a:rPr lang="en-US" sz="2200" kern="0" dirty="0"/>
              <a:t>Increase in price of related good increases demand if products are </a:t>
            </a:r>
            <a:r>
              <a:rPr lang="en-US" sz="2200" b="1" kern="0" dirty="0"/>
              <a:t>substitutes,</a:t>
            </a:r>
            <a:r>
              <a:rPr lang="en-US" sz="2200" kern="0" dirty="0"/>
              <a:t> decreases demand if products are </a:t>
            </a:r>
            <a:r>
              <a:rPr lang="en-US" sz="2200" b="1" kern="0" dirty="0"/>
              <a:t>complements</a:t>
            </a:r>
            <a:endParaRPr lang="en-US" sz="2200" dirty="0"/>
          </a:p>
          <a:p>
            <a:pPr>
              <a:spcBef>
                <a:spcPts val="1000"/>
              </a:spcBef>
            </a:pPr>
            <a:r>
              <a:rPr lang="en-US" sz="2400" b="1" kern="0" dirty="0"/>
              <a:t>Tastes</a:t>
            </a:r>
          </a:p>
          <a:p>
            <a:pPr>
              <a:spcBef>
                <a:spcPts val="1000"/>
              </a:spcBef>
            </a:pPr>
            <a:r>
              <a:rPr lang="en-US" sz="2400" b="1" kern="0" dirty="0"/>
              <a:t>Population and demographics</a:t>
            </a:r>
            <a:endParaRPr lang="en-US" sz="2400" kern="0" dirty="0"/>
          </a:p>
          <a:p>
            <a:pPr>
              <a:spcBef>
                <a:spcPts val="1000"/>
              </a:spcBef>
            </a:pPr>
            <a:r>
              <a:rPr lang="en-US" sz="2400" b="1" kern="0" dirty="0"/>
              <a:t>Expectations</a:t>
            </a:r>
          </a:p>
          <a:p>
            <a:pPr marL="0" indent="0">
              <a:spcBef>
                <a:spcPts val="1000"/>
              </a:spcBef>
              <a:buNone/>
            </a:pPr>
            <a:r>
              <a:rPr lang="en-US" sz="2400" i="1" kern="0" dirty="0"/>
              <a:t>We will discuss how each of these affects demand.</a:t>
            </a:r>
            <a:endParaRPr lang="en-IN" sz="2400" dirty="0"/>
          </a:p>
        </p:txBody>
      </p:sp>
    </p:spTree>
    <p:extLst>
      <p:ext uri="{BB962C8B-B14F-4D97-AF65-F5344CB8AC3E}">
        <p14:creationId xmlns:p14="http://schemas.microsoft.com/office/powerpoint/2010/main" val="1487747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 name="Title 1">
            <a:extLst>
              <a:ext uri="{FF2B5EF4-FFF2-40B4-BE49-F238E27FC236}">
                <a16:creationId xmlns:a16="http://schemas.microsoft.com/office/drawing/2014/main" id="{ECB2F1A8-69CE-AFDA-A6BD-3C769402678B}"/>
              </a:ext>
            </a:extLst>
          </p:cNvPr>
          <p:cNvSpPr>
            <a:spLocks noGrp="1"/>
          </p:cNvSpPr>
          <p:nvPr>
            <p:ph type="title"/>
          </p:nvPr>
        </p:nvSpPr>
        <p:spPr>
          <a:xfrm>
            <a:off x="457200" y="215372"/>
            <a:ext cx="8229600" cy="834366"/>
          </a:xfrm>
        </p:spPr>
        <p:txBody>
          <a:bodyPr/>
          <a:lstStyle/>
          <a:p>
            <a:r>
              <a:rPr lang="en-US" dirty="0">
                <a:latin typeface="+mj-lt"/>
              </a:rPr>
              <a:t>Changes in Income of Consumers</a:t>
            </a:r>
            <a:endParaRPr lang="en-IN" dirty="0">
              <a:latin typeface="+mj-lt"/>
            </a:endParaRPr>
          </a:p>
        </p:txBody>
      </p:sp>
      <p:sp>
        <p:nvSpPr>
          <p:cNvPr id="24" name="Content Placeholder 3">
            <a:extLst>
              <a:ext uri="{FF2B5EF4-FFF2-40B4-BE49-F238E27FC236}">
                <a16:creationId xmlns:a16="http://schemas.microsoft.com/office/drawing/2014/main" id="{4500AD1D-100B-EB6F-6AFC-83B4527C2DF7}"/>
              </a:ext>
            </a:extLst>
          </p:cNvPr>
          <p:cNvSpPr txBox="1">
            <a:spLocks/>
          </p:cNvSpPr>
          <p:nvPr/>
        </p:nvSpPr>
        <p:spPr>
          <a:xfrm>
            <a:off x="457200" y="1429361"/>
            <a:ext cx="8229600" cy="834365"/>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432" indent="0">
              <a:buFont typeface="Arial" panose="020B0604020202020204" pitchFamily="34" charset="0"/>
              <a:buNone/>
            </a:pPr>
            <a:r>
              <a:rPr lang="en-US" sz="2200" b="1" dirty="0"/>
              <a:t>Normal goods:</a:t>
            </a:r>
            <a:r>
              <a:rPr lang="en-US" sz="2200" dirty="0"/>
              <a:t> Goods for which the demand increases as income rises and decreases as income falls.</a:t>
            </a:r>
          </a:p>
        </p:txBody>
      </p:sp>
      <p:sp>
        <p:nvSpPr>
          <p:cNvPr id="25" name="Content Placeholder 4">
            <a:extLst>
              <a:ext uri="{FF2B5EF4-FFF2-40B4-BE49-F238E27FC236}">
                <a16:creationId xmlns:a16="http://schemas.microsoft.com/office/drawing/2014/main" id="{9768CA28-5806-BA64-C296-13E38FDF5181}"/>
              </a:ext>
            </a:extLst>
          </p:cNvPr>
          <p:cNvSpPr txBox="1">
            <a:spLocks/>
          </p:cNvSpPr>
          <p:nvPr/>
        </p:nvSpPr>
        <p:spPr>
          <a:xfrm>
            <a:off x="457200" y="2505694"/>
            <a:ext cx="1704109" cy="51063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200" b="1" dirty="0"/>
              <a:t>Examples:</a:t>
            </a:r>
            <a:endParaRPr lang="en-IN" sz="2200" b="1" dirty="0"/>
          </a:p>
        </p:txBody>
      </p:sp>
      <p:sp>
        <p:nvSpPr>
          <p:cNvPr id="26" name="Content Placeholder 5">
            <a:extLst>
              <a:ext uri="{FF2B5EF4-FFF2-40B4-BE49-F238E27FC236}">
                <a16:creationId xmlns:a16="http://schemas.microsoft.com/office/drawing/2014/main" id="{F4ABA492-EF67-AECF-30D1-95996902D0C0}"/>
              </a:ext>
            </a:extLst>
          </p:cNvPr>
          <p:cNvSpPr txBox="1">
            <a:spLocks/>
          </p:cNvSpPr>
          <p:nvPr/>
        </p:nvSpPr>
        <p:spPr>
          <a:xfrm>
            <a:off x="2327564" y="2505696"/>
            <a:ext cx="3051958" cy="137832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2200" dirty="0"/>
              <a:t>New clothes</a:t>
            </a:r>
          </a:p>
          <a:p>
            <a:pPr marL="0" indent="0">
              <a:spcBef>
                <a:spcPts val="600"/>
              </a:spcBef>
              <a:buSzPts val="2200"/>
              <a:buFont typeface="Arial" panose="020B0604020202020204" pitchFamily="34" charset="0"/>
              <a:buNone/>
            </a:pPr>
            <a:r>
              <a:rPr lang="en-US" sz="2200" dirty="0"/>
              <a:t>Restaurant meals</a:t>
            </a:r>
          </a:p>
          <a:p>
            <a:pPr marL="0" indent="0">
              <a:spcBef>
                <a:spcPts val="600"/>
              </a:spcBef>
              <a:buSzPts val="2200"/>
              <a:buFont typeface="Arial" panose="020B0604020202020204" pitchFamily="34" charset="0"/>
              <a:buNone/>
            </a:pPr>
            <a:r>
              <a:rPr lang="en-US" sz="2200" dirty="0"/>
              <a:t>Vacations</a:t>
            </a:r>
          </a:p>
        </p:txBody>
      </p:sp>
      <p:sp>
        <p:nvSpPr>
          <p:cNvPr id="27" name="Content Placeholder 6">
            <a:extLst>
              <a:ext uri="{FF2B5EF4-FFF2-40B4-BE49-F238E27FC236}">
                <a16:creationId xmlns:a16="http://schemas.microsoft.com/office/drawing/2014/main" id="{A0E3BBD1-A745-32A8-EE8C-05E9820E7801}"/>
              </a:ext>
            </a:extLst>
          </p:cNvPr>
          <p:cNvSpPr txBox="1">
            <a:spLocks/>
          </p:cNvSpPr>
          <p:nvPr/>
        </p:nvSpPr>
        <p:spPr>
          <a:xfrm>
            <a:off x="457200" y="4026972"/>
            <a:ext cx="8229600" cy="84383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200" b="1" dirty="0"/>
              <a:t>Inferior goods:</a:t>
            </a:r>
            <a:r>
              <a:rPr lang="en-US" sz="2200" dirty="0"/>
              <a:t> Goods for which the demand increases as income falls and decreases as income rises.</a:t>
            </a:r>
          </a:p>
        </p:txBody>
      </p:sp>
      <p:sp>
        <p:nvSpPr>
          <p:cNvPr id="28" name="Content Placeholder 7">
            <a:extLst>
              <a:ext uri="{FF2B5EF4-FFF2-40B4-BE49-F238E27FC236}">
                <a16:creationId xmlns:a16="http://schemas.microsoft.com/office/drawing/2014/main" id="{64D58C01-1C41-E345-432C-F755817E6CCF}"/>
              </a:ext>
            </a:extLst>
          </p:cNvPr>
          <p:cNvSpPr txBox="1">
            <a:spLocks/>
          </p:cNvSpPr>
          <p:nvPr/>
        </p:nvSpPr>
        <p:spPr>
          <a:xfrm>
            <a:off x="457200" y="5013764"/>
            <a:ext cx="1704109" cy="501927"/>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200" b="1"/>
              <a:t>Examples:</a:t>
            </a:r>
            <a:endParaRPr lang="en-IN" sz="2200" b="1" dirty="0"/>
          </a:p>
        </p:txBody>
      </p:sp>
      <p:sp>
        <p:nvSpPr>
          <p:cNvPr id="29" name="Content Placeholder 8">
            <a:extLst>
              <a:ext uri="{FF2B5EF4-FFF2-40B4-BE49-F238E27FC236}">
                <a16:creationId xmlns:a16="http://schemas.microsoft.com/office/drawing/2014/main" id="{F03F09B0-012E-D7BE-7A15-69337E455723}"/>
              </a:ext>
            </a:extLst>
          </p:cNvPr>
          <p:cNvSpPr txBox="1">
            <a:spLocks/>
          </p:cNvSpPr>
          <p:nvPr/>
        </p:nvSpPr>
        <p:spPr>
          <a:xfrm>
            <a:off x="2327564" y="5013765"/>
            <a:ext cx="3360717" cy="905688"/>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2200" dirty="0"/>
              <a:t>Second-hand clothes</a:t>
            </a:r>
          </a:p>
          <a:p>
            <a:pPr marL="0" indent="0">
              <a:spcBef>
                <a:spcPts val="600"/>
              </a:spcBef>
              <a:buSzPts val="2200"/>
              <a:buFont typeface="Arial" panose="020B0604020202020204" pitchFamily="34" charset="0"/>
              <a:buNone/>
            </a:pPr>
            <a:r>
              <a:rPr lang="en-US" sz="2200" dirty="0"/>
              <a:t>Instant noodles</a:t>
            </a:r>
          </a:p>
        </p:txBody>
      </p:sp>
    </p:spTree>
    <p:extLst>
      <p:ext uri="{BB962C8B-B14F-4D97-AF65-F5344CB8AC3E}">
        <p14:creationId xmlns:p14="http://schemas.microsoft.com/office/powerpoint/2010/main" val="1209565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F067324-A20A-7415-ED6A-C1E6277911D9}"/>
              </a:ext>
            </a:extLst>
          </p:cNvPr>
          <p:cNvSpPr>
            <a:spLocks noGrp="1"/>
          </p:cNvSpPr>
          <p:nvPr>
            <p:ph type="title"/>
          </p:nvPr>
        </p:nvSpPr>
        <p:spPr>
          <a:xfrm>
            <a:off x="457200" y="215371"/>
            <a:ext cx="8229600" cy="851429"/>
          </a:xfrm>
        </p:spPr>
        <p:txBody>
          <a:bodyPr/>
          <a:lstStyle/>
          <a:p>
            <a:r>
              <a:rPr lang="en-US" dirty="0">
                <a:latin typeface="+mj-lt"/>
              </a:rPr>
              <a:t>Effects of Changes in Income</a:t>
            </a:r>
            <a:endParaRPr lang="en-IN" dirty="0">
              <a:latin typeface="+mj-lt"/>
            </a:endParaRPr>
          </a:p>
        </p:txBody>
      </p:sp>
      <p:sp>
        <p:nvSpPr>
          <p:cNvPr id="9" name="Content Placeholder 4">
            <a:extLst>
              <a:ext uri="{FF2B5EF4-FFF2-40B4-BE49-F238E27FC236}">
                <a16:creationId xmlns:a16="http://schemas.microsoft.com/office/drawing/2014/main" id="{2AB0205E-BA3C-1885-39BC-EBC09301C1A7}"/>
              </a:ext>
            </a:extLst>
          </p:cNvPr>
          <p:cNvSpPr txBox="1">
            <a:spLocks/>
          </p:cNvSpPr>
          <p:nvPr/>
        </p:nvSpPr>
        <p:spPr>
          <a:xfrm>
            <a:off x="457199" y="1447800"/>
            <a:ext cx="4208585" cy="40386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400" dirty="0">
                <a:latin typeface="+mj-lt"/>
              </a:rPr>
              <a:t>An increase in income would increase the demand for new clothes, </a:t>
            </a:r>
            <a:r>
              <a:rPr lang="en-US" sz="2400" b="1" dirty="0">
                <a:latin typeface="+mj-lt"/>
              </a:rPr>
              <a:t>ceteris paribus.</a:t>
            </a:r>
          </a:p>
          <a:p>
            <a:pPr marL="432" indent="0">
              <a:buNone/>
            </a:pPr>
            <a:r>
              <a:rPr lang="en-US" sz="2400" dirty="0">
                <a:latin typeface="+mj-lt"/>
              </a:rPr>
              <a:t>However, the same increase in income would likely </a:t>
            </a:r>
            <a:r>
              <a:rPr lang="en-US" sz="2400" b="1" dirty="0">
                <a:latin typeface="+mj-lt"/>
              </a:rPr>
              <a:t>decrease</a:t>
            </a:r>
            <a:r>
              <a:rPr lang="en-US" sz="2400" dirty="0">
                <a:latin typeface="+mj-lt"/>
              </a:rPr>
              <a:t> the demand for second-hand clothes.</a:t>
            </a:r>
          </a:p>
        </p:txBody>
      </p:sp>
      <p:pic>
        <p:nvPicPr>
          <p:cNvPr id="5" name="Content Placeholder 6" descr="On a graph, the X axis represents quantity, and the Y axis represents price. For long description in Notes pane, press F6.">
            <a:extLst>
              <a:ext uri="{FF2B5EF4-FFF2-40B4-BE49-F238E27FC236}">
                <a16:creationId xmlns:a16="http://schemas.microsoft.com/office/drawing/2014/main" id="{313CFEEF-05C7-C2A0-5A8A-10F3947314F5}"/>
              </a:ext>
            </a:extLst>
          </p:cNvPr>
          <p:cNvPicPr>
            <a:picLocks noChangeAspect="1"/>
          </p:cNvPicPr>
          <p:nvPr/>
        </p:nvPicPr>
        <p:blipFill>
          <a:blip r:embed="rId3"/>
          <a:stretch>
            <a:fillRect/>
          </a:stretch>
        </p:blipFill>
        <p:spPr>
          <a:xfrm>
            <a:off x="5360037" y="1385526"/>
            <a:ext cx="3307797" cy="4710474"/>
          </a:xfrm>
          <a:prstGeom prst="rect">
            <a:avLst/>
          </a:prstGeom>
        </p:spPr>
      </p:pic>
    </p:spTree>
    <p:extLst>
      <p:ext uri="{BB962C8B-B14F-4D97-AF65-F5344CB8AC3E}">
        <p14:creationId xmlns:p14="http://schemas.microsoft.com/office/powerpoint/2010/main" val="3560679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2370"/>
            <a:ext cx="8229600" cy="966546"/>
          </a:xfrm>
        </p:spPr>
        <p:txBody>
          <a:bodyPr>
            <a:noAutofit/>
          </a:bodyPr>
          <a:lstStyle/>
          <a:p>
            <a:r>
              <a:rPr lang="en-US" dirty="0">
                <a:latin typeface="+mj-lt"/>
              </a:rPr>
              <a:t>Apply the Concept: The Transformation of Lobster from Inferior to Normal Good</a:t>
            </a:r>
          </a:p>
        </p:txBody>
      </p:sp>
      <p:sp>
        <p:nvSpPr>
          <p:cNvPr id="3" name="Content Placeholder 2"/>
          <p:cNvSpPr>
            <a:spLocks noGrp="1"/>
          </p:cNvSpPr>
          <p:nvPr>
            <p:ph idx="1"/>
          </p:nvPr>
        </p:nvSpPr>
        <p:spPr>
          <a:xfrm>
            <a:off x="457200" y="1219200"/>
            <a:ext cx="4114800" cy="5072742"/>
          </a:xfrm>
        </p:spPr>
        <p:txBody>
          <a:bodyPr>
            <a:noAutofit/>
          </a:bodyPr>
          <a:lstStyle/>
          <a:p>
            <a:pPr marL="0" indent="0">
              <a:buNone/>
            </a:pPr>
            <a:r>
              <a:rPr lang="en-US" sz="2000" dirty="0"/>
              <a:t>Describing a good as normal or inferior only tells us about how consumers behave.</a:t>
            </a:r>
          </a:p>
          <a:p>
            <a:pPr marL="0" indent="0">
              <a:buNone/>
            </a:pPr>
            <a:r>
              <a:rPr lang="en-US" sz="2000" dirty="0"/>
              <a:t>Do people buy more or less when their incomes rise?</a:t>
            </a:r>
          </a:p>
          <a:p>
            <a:pPr marL="0" indent="0">
              <a:buNone/>
            </a:pPr>
            <a:r>
              <a:rPr lang="en-US" sz="2000" dirty="0"/>
              <a:t>In some parts of the Maritimes, lobster is an inferior good – people eat less of it when their incomes rise.</a:t>
            </a:r>
          </a:p>
          <a:p>
            <a:pPr marL="0" indent="0">
              <a:buNone/>
            </a:pPr>
            <a:r>
              <a:rPr lang="en-US" sz="2000" dirty="0"/>
              <a:t>In Toronto or Calgary, lobster is a normal good – people eat more when their incomes rise.</a:t>
            </a:r>
          </a:p>
          <a:p>
            <a:pPr marL="0" indent="0">
              <a:buNone/>
            </a:pPr>
            <a:r>
              <a:rPr lang="en-US" sz="2000" dirty="0"/>
              <a:t>Goods can be normal in one place and inferior in another.</a:t>
            </a:r>
          </a:p>
        </p:txBody>
      </p:sp>
      <p:sp>
        <p:nvSpPr>
          <p:cNvPr id="8" name="Content Placeholder 7"/>
          <p:cNvSpPr>
            <a:spLocks noGrp="1"/>
          </p:cNvSpPr>
          <p:nvPr>
            <p:ph idx="13"/>
          </p:nvPr>
        </p:nvSpPr>
        <p:spPr>
          <a:xfrm>
            <a:off x="4717754" y="1219200"/>
            <a:ext cx="3733800" cy="966546"/>
          </a:xfrm>
        </p:spPr>
        <p:txBody>
          <a:bodyPr>
            <a:noAutofit/>
          </a:bodyPr>
          <a:lstStyle/>
          <a:p>
            <a:pPr marL="0" indent="0">
              <a:buNone/>
            </a:pPr>
            <a:r>
              <a:rPr lang="en-US" sz="2000" dirty="0"/>
              <a:t>Despite its high cost in many restaurants, lobster can still be an inferior good.</a:t>
            </a:r>
            <a:endParaRPr lang="en-IN" sz="2000" dirty="0"/>
          </a:p>
        </p:txBody>
      </p:sp>
      <p:pic>
        <p:nvPicPr>
          <p:cNvPr id="10" name="Picture 9" descr="A photo shows a cooked lobster on a plate.">
            <a:extLst>
              <a:ext uri="{FF2B5EF4-FFF2-40B4-BE49-F238E27FC236}">
                <a16:creationId xmlns:a16="http://schemas.microsoft.com/office/drawing/2014/main" id="{7ED0094C-8B26-49E4-4173-A2E6DB8242CB}"/>
              </a:ext>
            </a:extLst>
          </p:cNvPr>
          <p:cNvPicPr>
            <a:picLocks noChangeAspect="1"/>
          </p:cNvPicPr>
          <p:nvPr/>
        </p:nvPicPr>
        <p:blipFill>
          <a:blip r:embed="rId3"/>
          <a:stretch>
            <a:fillRect/>
          </a:stretch>
        </p:blipFill>
        <p:spPr>
          <a:xfrm>
            <a:off x="5181600" y="2266030"/>
            <a:ext cx="2566638" cy="4060288"/>
          </a:xfrm>
          <a:prstGeom prst="rect">
            <a:avLst/>
          </a:prstGeom>
        </p:spPr>
      </p:pic>
    </p:spTree>
    <p:extLst>
      <p:ext uri="{BB962C8B-B14F-4D97-AF65-F5344CB8AC3E}">
        <p14:creationId xmlns:p14="http://schemas.microsoft.com/office/powerpoint/2010/main" val="1060724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Change in the Price of Related Goods</a:t>
            </a:r>
            <a:endParaRPr lang="en-US" sz="2600" dirty="0">
              <a:latin typeface="+mj-lt"/>
            </a:endParaRPr>
          </a:p>
        </p:txBody>
      </p:sp>
      <p:sp>
        <p:nvSpPr>
          <p:cNvPr id="15" name="Content Placeholder 3">
            <a:extLst>
              <a:ext uri="{FF2B5EF4-FFF2-40B4-BE49-F238E27FC236}">
                <a16:creationId xmlns:a16="http://schemas.microsoft.com/office/drawing/2014/main" id="{B3E96772-0446-1FB0-7C46-F9D0C353B3C2}"/>
              </a:ext>
            </a:extLst>
          </p:cNvPr>
          <p:cNvSpPr txBox="1">
            <a:spLocks/>
          </p:cNvSpPr>
          <p:nvPr/>
        </p:nvSpPr>
        <p:spPr>
          <a:xfrm>
            <a:off x="457200" y="1552575"/>
            <a:ext cx="8229600" cy="744452"/>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200" b="1" dirty="0"/>
              <a:t>Substitutes:</a:t>
            </a:r>
            <a:r>
              <a:rPr lang="en-US" sz="2200" dirty="0"/>
              <a:t> Goods and services that can be used for the same purpose.</a:t>
            </a:r>
          </a:p>
        </p:txBody>
      </p:sp>
      <p:sp>
        <p:nvSpPr>
          <p:cNvPr id="16" name="Content Placeholder 4">
            <a:extLst>
              <a:ext uri="{FF2B5EF4-FFF2-40B4-BE49-F238E27FC236}">
                <a16:creationId xmlns:a16="http://schemas.microsoft.com/office/drawing/2014/main" id="{7FF75595-853E-50F7-AAD9-79C8F5BF961F}"/>
              </a:ext>
            </a:extLst>
          </p:cNvPr>
          <p:cNvSpPr txBox="1">
            <a:spLocks/>
          </p:cNvSpPr>
          <p:nvPr/>
        </p:nvSpPr>
        <p:spPr>
          <a:xfrm>
            <a:off x="457200" y="2505694"/>
            <a:ext cx="1704109" cy="51063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200" b="1" dirty="0"/>
              <a:t>Examples:</a:t>
            </a:r>
            <a:endParaRPr lang="en-IN" sz="2200" b="1" dirty="0"/>
          </a:p>
        </p:txBody>
      </p:sp>
      <p:sp>
        <p:nvSpPr>
          <p:cNvPr id="17" name="Content Placeholder 5">
            <a:extLst>
              <a:ext uri="{FF2B5EF4-FFF2-40B4-BE49-F238E27FC236}">
                <a16:creationId xmlns:a16="http://schemas.microsoft.com/office/drawing/2014/main" id="{953E0170-37B5-C849-18AB-C22278CA25DB}"/>
              </a:ext>
            </a:extLst>
          </p:cNvPr>
          <p:cNvSpPr txBox="1">
            <a:spLocks/>
          </p:cNvSpPr>
          <p:nvPr/>
        </p:nvSpPr>
        <p:spPr>
          <a:xfrm>
            <a:off x="2327563" y="2505696"/>
            <a:ext cx="4239491" cy="1404454"/>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2200" b="1" dirty="0"/>
              <a:t>Big Mac and Whopper</a:t>
            </a:r>
          </a:p>
          <a:p>
            <a:pPr marL="0" indent="0">
              <a:spcBef>
                <a:spcPts val="600"/>
              </a:spcBef>
              <a:buSzPts val="2200"/>
              <a:buFont typeface="Arial" panose="020B0604020202020204" pitchFamily="34" charset="0"/>
              <a:buNone/>
            </a:pPr>
            <a:r>
              <a:rPr lang="en-US" sz="2200" b="1" dirty="0"/>
              <a:t>Ford F-150 and Dodge Ram</a:t>
            </a:r>
          </a:p>
          <a:p>
            <a:pPr marL="0" indent="0">
              <a:spcBef>
                <a:spcPts val="600"/>
              </a:spcBef>
              <a:buSzPts val="2200"/>
              <a:buFont typeface="Arial" panose="020B0604020202020204" pitchFamily="34" charset="0"/>
              <a:buNone/>
            </a:pPr>
            <a:r>
              <a:rPr lang="en-US" sz="2200" b="1" dirty="0"/>
              <a:t>Jeans and Khakis</a:t>
            </a:r>
          </a:p>
        </p:txBody>
      </p:sp>
      <p:sp>
        <p:nvSpPr>
          <p:cNvPr id="18" name="Content Placeholder 6">
            <a:extLst>
              <a:ext uri="{FF2B5EF4-FFF2-40B4-BE49-F238E27FC236}">
                <a16:creationId xmlns:a16="http://schemas.microsoft.com/office/drawing/2014/main" id="{193E85D4-D354-91C5-7B0E-45564A7737BB}"/>
              </a:ext>
            </a:extLst>
          </p:cNvPr>
          <p:cNvSpPr txBox="1">
            <a:spLocks/>
          </p:cNvSpPr>
          <p:nvPr/>
        </p:nvSpPr>
        <p:spPr>
          <a:xfrm>
            <a:off x="457200" y="3979473"/>
            <a:ext cx="8229600" cy="571942"/>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2000"/>
              </a:spcBef>
              <a:buSzPts val="2200"/>
              <a:buFont typeface="Arial" panose="020B0604020202020204" pitchFamily="34" charset="0"/>
              <a:buNone/>
            </a:pPr>
            <a:r>
              <a:rPr lang="en-US" sz="2200" b="1" dirty="0"/>
              <a:t>Complements:</a:t>
            </a:r>
            <a:r>
              <a:rPr lang="en-US" sz="2200" dirty="0"/>
              <a:t> Goods and services that are used together.</a:t>
            </a:r>
          </a:p>
        </p:txBody>
      </p:sp>
      <p:sp>
        <p:nvSpPr>
          <p:cNvPr id="19" name="Content Placeholder 7">
            <a:extLst>
              <a:ext uri="{FF2B5EF4-FFF2-40B4-BE49-F238E27FC236}">
                <a16:creationId xmlns:a16="http://schemas.microsoft.com/office/drawing/2014/main" id="{304EF4CB-B5C5-3448-4B2D-4E1F79DD8CAE}"/>
              </a:ext>
            </a:extLst>
          </p:cNvPr>
          <p:cNvSpPr txBox="1">
            <a:spLocks/>
          </p:cNvSpPr>
          <p:nvPr/>
        </p:nvSpPr>
        <p:spPr>
          <a:xfrm>
            <a:off x="457200" y="4760083"/>
            <a:ext cx="1704109" cy="524439"/>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200" b="1"/>
              <a:t>Examples:</a:t>
            </a:r>
            <a:endParaRPr lang="en-IN" sz="2200" b="1" dirty="0"/>
          </a:p>
        </p:txBody>
      </p:sp>
      <p:sp>
        <p:nvSpPr>
          <p:cNvPr id="20" name="Content Placeholder 8">
            <a:extLst>
              <a:ext uri="{FF2B5EF4-FFF2-40B4-BE49-F238E27FC236}">
                <a16:creationId xmlns:a16="http://schemas.microsoft.com/office/drawing/2014/main" id="{700FA269-BD1B-08C0-5982-3DA5DCB491CA}"/>
              </a:ext>
            </a:extLst>
          </p:cNvPr>
          <p:cNvSpPr txBox="1">
            <a:spLocks/>
          </p:cNvSpPr>
          <p:nvPr/>
        </p:nvSpPr>
        <p:spPr>
          <a:xfrm>
            <a:off x="2327564" y="4760083"/>
            <a:ext cx="4512623" cy="1370751"/>
          </a:xfrm>
          <a:prstGeom prst="rect">
            <a:avLst/>
          </a:prstGeom>
        </p:spPr>
        <p:txBody>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2200" b="1" dirty="0"/>
              <a:t>Big Mac and McDonald’s fries</a:t>
            </a:r>
          </a:p>
          <a:p>
            <a:pPr marL="0" indent="0">
              <a:spcBef>
                <a:spcPts val="600"/>
              </a:spcBef>
              <a:buSzPts val="2200"/>
              <a:buFont typeface="Arial" panose="020B0604020202020204" pitchFamily="34" charset="0"/>
              <a:buNone/>
            </a:pPr>
            <a:r>
              <a:rPr lang="en-US" sz="2200" b="1" dirty="0"/>
              <a:t>Hot dogs and hot dog buns</a:t>
            </a:r>
          </a:p>
          <a:p>
            <a:pPr marL="0" indent="0">
              <a:spcBef>
                <a:spcPts val="600"/>
              </a:spcBef>
              <a:buSzPts val="2200"/>
              <a:buFont typeface="Arial" panose="020B0604020202020204" pitchFamily="34" charset="0"/>
              <a:buNone/>
            </a:pPr>
            <a:r>
              <a:rPr lang="en-US" sz="2200" b="1" dirty="0"/>
              <a:t>Left shoes and right shoes</a:t>
            </a:r>
          </a:p>
        </p:txBody>
      </p:sp>
    </p:spTree>
    <p:extLst>
      <p:ext uri="{BB962C8B-B14F-4D97-AF65-F5344CB8AC3E}">
        <p14:creationId xmlns:p14="http://schemas.microsoft.com/office/powerpoint/2010/main" val="1300736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1FA4226-1540-42C2-2612-48365E4D2226}"/>
              </a:ext>
            </a:extLst>
          </p:cNvPr>
          <p:cNvSpPr>
            <a:spLocks noGrp="1"/>
          </p:cNvSpPr>
          <p:nvPr>
            <p:ph type="title"/>
          </p:nvPr>
        </p:nvSpPr>
        <p:spPr/>
        <p:txBody>
          <a:bodyPr/>
          <a:lstStyle/>
          <a:p>
            <a:r>
              <a:rPr lang="en-US" dirty="0">
                <a:latin typeface="+mj-lt"/>
              </a:rPr>
              <a:t>Effects of Changes in the Price of Related Goods</a:t>
            </a:r>
            <a:endParaRPr lang="en-IN" dirty="0">
              <a:latin typeface="+mj-lt"/>
            </a:endParaRPr>
          </a:p>
        </p:txBody>
      </p:sp>
      <p:sp>
        <p:nvSpPr>
          <p:cNvPr id="9" name="Content Placeholder 4">
            <a:extLst>
              <a:ext uri="{FF2B5EF4-FFF2-40B4-BE49-F238E27FC236}">
                <a16:creationId xmlns:a16="http://schemas.microsoft.com/office/drawing/2014/main" id="{65513A81-2352-9B1E-DDAE-67DA80806EB9}"/>
              </a:ext>
            </a:extLst>
          </p:cNvPr>
          <p:cNvSpPr txBox="1">
            <a:spLocks/>
          </p:cNvSpPr>
          <p:nvPr/>
        </p:nvSpPr>
        <p:spPr>
          <a:xfrm>
            <a:off x="457200" y="1684007"/>
            <a:ext cx="4150426" cy="1363993"/>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400" dirty="0"/>
              <a:t>An increase in the price of a Big Mac would increase the demand for Whoppers.</a:t>
            </a:r>
          </a:p>
        </p:txBody>
      </p:sp>
      <p:sp>
        <p:nvSpPr>
          <p:cNvPr id="10" name="Content Placeholder 5">
            <a:extLst>
              <a:ext uri="{FF2B5EF4-FFF2-40B4-BE49-F238E27FC236}">
                <a16:creationId xmlns:a16="http://schemas.microsoft.com/office/drawing/2014/main" id="{FE756D0E-CE6C-D4E5-FD62-230214D4B351}"/>
              </a:ext>
            </a:extLst>
          </p:cNvPr>
          <p:cNvSpPr txBox="1">
            <a:spLocks/>
          </p:cNvSpPr>
          <p:nvPr/>
        </p:nvSpPr>
        <p:spPr>
          <a:xfrm>
            <a:off x="457200" y="3200400"/>
            <a:ext cx="3892062" cy="225158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400" dirty="0"/>
              <a:t>However, the same increase in the price of a Big Mac would decrease the demand for McDonald’s fries.</a:t>
            </a:r>
          </a:p>
        </p:txBody>
      </p:sp>
      <p:pic>
        <p:nvPicPr>
          <p:cNvPr id="4" name="Content Placeholder 6" descr="On a graph, the X axis represents quantity, and the Y axis represents price. For long description in Notes pane, press F6.">
            <a:extLst>
              <a:ext uri="{FF2B5EF4-FFF2-40B4-BE49-F238E27FC236}">
                <a16:creationId xmlns:a16="http://schemas.microsoft.com/office/drawing/2014/main" id="{3AFE83D8-4D87-7679-28F7-BE9F5EBA9579}"/>
              </a:ext>
            </a:extLst>
          </p:cNvPr>
          <p:cNvPicPr>
            <a:picLocks noChangeAspect="1"/>
          </p:cNvPicPr>
          <p:nvPr/>
        </p:nvPicPr>
        <p:blipFill>
          <a:blip r:embed="rId3"/>
          <a:stretch>
            <a:fillRect/>
          </a:stretch>
        </p:blipFill>
        <p:spPr>
          <a:xfrm>
            <a:off x="5360037" y="1385526"/>
            <a:ext cx="3307797" cy="4710474"/>
          </a:xfrm>
          <a:prstGeom prst="rect">
            <a:avLst/>
          </a:prstGeom>
        </p:spPr>
      </p:pic>
    </p:spTree>
    <p:extLst>
      <p:ext uri="{BB962C8B-B14F-4D97-AF65-F5344CB8AC3E}">
        <p14:creationId xmlns:p14="http://schemas.microsoft.com/office/powerpoint/2010/main" val="3408900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7D89672-5B10-714D-B462-CE72BFF654FC}"/>
              </a:ext>
            </a:extLst>
          </p:cNvPr>
          <p:cNvSpPr>
            <a:spLocks noGrp="1"/>
          </p:cNvSpPr>
          <p:nvPr>
            <p:ph type="title"/>
          </p:nvPr>
        </p:nvSpPr>
        <p:spPr/>
        <p:txBody>
          <a:bodyPr/>
          <a:lstStyle/>
          <a:p>
            <a:r>
              <a:rPr lang="en-US" dirty="0">
                <a:latin typeface="+mj-lt"/>
              </a:rPr>
              <a:t>Changes in Tastes</a:t>
            </a:r>
            <a:endParaRPr lang="en-IN" dirty="0">
              <a:latin typeface="+mj-lt"/>
            </a:endParaRPr>
          </a:p>
        </p:txBody>
      </p:sp>
      <p:sp>
        <p:nvSpPr>
          <p:cNvPr id="9" name="Content Placeholder 5">
            <a:extLst>
              <a:ext uri="{FF2B5EF4-FFF2-40B4-BE49-F238E27FC236}">
                <a16:creationId xmlns:a16="http://schemas.microsoft.com/office/drawing/2014/main" id="{5F684D73-D42B-3DC8-9985-EA5442F4F53C}"/>
              </a:ext>
            </a:extLst>
          </p:cNvPr>
          <p:cNvSpPr txBox="1">
            <a:spLocks/>
          </p:cNvSpPr>
          <p:nvPr/>
        </p:nvSpPr>
        <p:spPr>
          <a:xfrm>
            <a:off x="457200" y="1371600"/>
            <a:ext cx="8437418" cy="2117691"/>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400" b="1" dirty="0">
                <a:latin typeface="+mj-lt"/>
              </a:rPr>
              <a:t>Tastes</a:t>
            </a:r>
          </a:p>
          <a:p>
            <a:pPr marL="0" indent="0">
              <a:spcBef>
                <a:spcPts val="1000"/>
              </a:spcBef>
              <a:buSzPts val="2200"/>
              <a:buFont typeface="Arial" panose="020B0604020202020204" pitchFamily="34" charset="0"/>
              <a:buNone/>
            </a:pPr>
            <a:r>
              <a:rPr lang="en-US" sz="2400" dirty="0">
                <a:latin typeface="+mj-lt"/>
              </a:rPr>
              <a:t>If consumers’ tastes change, they may buy more or less of the product.</a:t>
            </a:r>
          </a:p>
          <a:p>
            <a:pPr marL="0" indent="0">
              <a:spcBef>
                <a:spcPts val="1000"/>
              </a:spcBef>
              <a:buSzPts val="2200"/>
              <a:buFont typeface="Arial" panose="020B0604020202020204" pitchFamily="34" charset="0"/>
              <a:buNone/>
            </a:pPr>
            <a:r>
              <a:rPr lang="en-US" sz="2400" b="1" dirty="0">
                <a:latin typeface="+mj-lt"/>
              </a:rPr>
              <a:t>Example: </a:t>
            </a:r>
            <a:r>
              <a:rPr lang="en-US" sz="2400" dirty="0">
                <a:latin typeface="+mj-lt"/>
              </a:rPr>
              <a:t>If consumers become more concerned about eating healthy, they might decrease their demand for fast food.</a:t>
            </a:r>
          </a:p>
        </p:txBody>
      </p:sp>
      <p:pic>
        <p:nvPicPr>
          <p:cNvPr id="10" name="Content Placeholder 6" descr="On a graph, the X axis represents quantity, and the Y axis represents price. D sub 1 falls through the graph, and a decrease shifts down D sub 2.">
            <a:extLst>
              <a:ext uri="{FF2B5EF4-FFF2-40B4-BE49-F238E27FC236}">
                <a16:creationId xmlns:a16="http://schemas.microsoft.com/office/drawing/2014/main" id="{88BD7F0D-C6A2-AA59-0205-29DE668B68A5}"/>
              </a:ext>
            </a:extLst>
          </p:cNvPr>
          <p:cNvPicPr>
            <a:picLocks noChangeAspect="1"/>
          </p:cNvPicPr>
          <p:nvPr/>
        </p:nvPicPr>
        <p:blipFill>
          <a:blip r:embed="rId2"/>
          <a:stretch>
            <a:fillRect/>
          </a:stretch>
        </p:blipFill>
        <p:spPr>
          <a:xfrm>
            <a:off x="2982313" y="3810000"/>
            <a:ext cx="3179374" cy="2117691"/>
          </a:xfrm>
          <a:prstGeom prst="rect">
            <a:avLst/>
          </a:prstGeom>
        </p:spPr>
      </p:pic>
    </p:spTree>
    <p:extLst>
      <p:ext uri="{BB962C8B-B14F-4D97-AF65-F5344CB8AC3E}">
        <p14:creationId xmlns:p14="http://schemas.microsoft.com/office/powerpoint/2010/main" val="1101734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2765CDC-6880-8A48-7472-3A92F8BA730C}"/>
              </a:ext>
            </a:extLst>
          </p:cNvPr>
          <p:cNvSpPr>
            <a:spLocks noGrp="1"/>
          </p:cNvSpPr>
          <p:nvPr>
            <p:ph type="title"/>
          </p:nvPr>
        </p:nvSpPr>
        <p:spPr/>
        <p:txBody>
          <a:bodyPr/>
          <a:lstStyle/>
          <a:p>
            <a:r>
              <a:rPr lang="en-US" dirty="0">
                <a:latin typeface="+mj-lt"/>
              </a:rPr>
              <a:t>Changes in Population and Demographics</a:t>
            </a:r>
            <a:endParaRPr lang="en-IN" dirty="0">
              <a:latin typeface="+mj-lt"/>
            </a:endParaRPr>
          </a:p>
        </p:txBody>
      </p:sp>
      <p:sp>
        <p:nvSpPr>
          <p:cNvPr id="9" name="Content Placeholder 5">
            <a:extLst>
              <a:ext uri="{FF2B5EF4-FFF2-40B4-BE49-F238E27FC236}">
                <a16:creationId xmlns:a16="http://schemas.microsoft.com/office/drawing/2014/main" id="{38C9F686-66C7-35A0-C895-1FAA606789A9}"/>
              </a:ext>
            </a:extLst>
          </p:cNvPr>
          <p:cNvSpPr txBox="1">
            <a:spLocks/>
          </p:cNvSpPr>
          <p:nvPr/>
        </p:nvSpPr>
        <p:spPr>
          <a:xfrm>
            <a:off x="457200" y="1448303"/>
            <a:ext cx="8128660" cy="245544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b="1" dirty="0">
                <a:latin typeface="+mj-lt"/>
              </a:rPr>
              <a:t>Demographics:</a:t>
            </a:r>
            <a:r>
              <a:rPr lang="en-US" sz="2200" dirty="0">
                <a:latin typeface="+mj-lt"/>
              </a:rPr>
              <a:t> The characteristics of a population with respect to age, race, and gender.</a:t>
            </a:r>
          </a:p>
          <a:p>
            <a:pPr marL="0" indent="0">
              <a:spcBef>
                <a:spcPts val="1000"/>
              </a:spcBef>
              <a:buSzPts val="2200"/>
              <a:buFont typeface="Arial" panose="020B0604020202020204" pitchFamily="34" charset="0"/>
              <a:buNone/>
            </a:pPr>
            <a:r>
              <a:rPr lang="en-US" sz="2200" dirty="0">
                <a:latin typeface="+mj-lt"/>
              </a:rPr>
              <a:t>Increases in the number of people buying something will increase the amount demanded.</a:t>
            </a:r>
          </a:p>
          <a:p>
            <a:pPr marL="0" indent="0">
              <a:spcBef>
                <a:spcPts val="1000"/>
              </a:spcBef>
              <a:buSzPts val="2200"/>
              <a:buFont typeface="Arial" panose="020B0604020202020204" pitchFamily="34" charset="0"/>
              <a:buNone/>
            </a:pPr>
            <a:r>
              <a:rPr lang="en-US" sz="2200" b="1" dirty="0">
                <a:latin typeface="+mj-lt"/>
              </a:rPr>
              <a:t>Example: An increase in the elderly population increases the demand for medical care.</a:t>
            </a:r>
          </a:p>
        </p:txBody>
      </p:sp>
      <p:pic>
        <p:nvPicPr>
          <p:cNvPr id="10" name="Content Placeholder 6" descr="On a graph, the X axis represents quantity, and the Y axis represents price. D sub 1 falls through the graph, and an increase shifts up D sub 2.">
            <a:extLst>
              <a:ext uri="{FF2B5EF4-FFF2-40B4-BE49-F238E27FC236}">
                <a16:creationId xmlns:a16="http://schemas.microsoft.com/office/drawing/2014/main" id="{EB5495B7-DDE3-C70B-E905-1F05A28C3E22}"/>
              </a:ext>
            </a:extLst>
          </p:cNvPr>
          <p:cNvPicPr>
            <a:picLocks noChangeAspect="1"/>
          </p:cNvPicPr>
          <p:nvPr/>
        </p:nvPicPr>
        <p:blipFill>
          <a:blip r:embed="rId2"/>
          <a:stretch>
            <a:fillRect/>
          </a:stretch>
        </p:blipFill>
        <p:spPr>
          <a:xfrm>
            <a:off x="2961302" y="4114800"/>
            <a:ext cx="3221395" cy="2176462"/>
          </a:xfrm>
          <a:prstGeom prst="rect">
            <a:avLst/>
          </a:prstGeom>
        </p:spPr>
      </p:pic>
    </p:spTree>
    <p:extLst>
      <p:ext uri="{BB962C8B-B14F-4D97-AF65-F5344CB8AC3E}">
        <p14:creationId xmlns:p14="http://schemas.microsoft.com/office/powerpoint/2010/main" val="1228244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CBF3A7A-218D-0C27-6318-AC96008CC078}"/>
              </a:ext>
            </a:extLst>
          </p:cNvPr>
          <p:cNvSpPr>
            <a:spLocks noGrp="1"/>
          </p:cNvSpPr>
          <p:nvPr>
            <p:ph type="title"/>
          </p:nvPr>
        </p:nvSpPr>
        <p:spPr/>
        <p:txBody>
          <a:bodyPr/>
          <a:lstStyle/>
          <a:p>
            <a:r>
              <a:rPr lang="en-US" dirty="0">
                <a:latin typeface="+mj-lt"/>
              </a:rPr>
              <a:t>Changes in Expectations About Future Prices</a:t>
            </a:r>
            <a:endParaRPr lang="en-IN" dirty="0">
              <a:latin typeface="+mj-lt"/>
            </a:endParaRPr>
          </a:p>
        </p:txBody>
      </p:sp>
      <p:sp>
        <p:nvSpPr>
          <p:cNvPr id="18" name="Content Placeholder 4">
            <a:extLst>
              <a:ext uri="{FF2B5EF4-FFF2-40B4-BE49-F238E27FC236}">
                <a16:creationId xmlns:a16="http://schemas.microsoft.com/office/drawing/2014/main" id="{19598C83-5D1F-A2F7-E8FC-8B3FF3D49584}"/>
              </a:ext>
            </a:extLst>
          </p:cNvPr>
          <p:cNvSpPr txBox="1">
            <a:spLocks/>
          </p:cNvSpPr>
          <p:nvPr/>
        </p:nvSpPr>
        <p:spPr>
          <a:xfrm>
            <a:off x="457200" y="1709739"/>
            <a:ext cx="4572000" cy="2938461"/>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000" dirty="0">
                <a:latin typeface="+mj-lt"/>
              </a:rPr>
              <a:t>Consumers decide </a:t>
            </a:r>
            <a:r>
              <a:rPr lang="en-US" sz="2000" b="1" dirty="0">
                <a:latin typeface="+mj-lt"/>
              </a:rPr>
              <a:t>which</a:t>
            </a:r>
            <a:r>
              <a:rPr lang="en-US" sz="2000" dirty="0">
                <a:latin typeface="+mj-lt"/>
              </a:rPr>
              <a:t> products to buy and also </a:t>
            </a:r>
            <a:r>
              <a:rPr lang="en-US" sz="2000" b="1" dirty="0">
                <a:latin typeface="+mj-lt"/>
              </a:rPr>
              <a:t>when</a:t>
            </a:r>
            <a:r>
              <a:rPr lang="en-US" sz="2000" dirty="0">
                <a:latin typeface="+mj-lt"/>
              </a:rPr>
              <a:t> to buy them.</a:t>
            </a:r>
          </a:p>
          <a:p>
            <a:pPr>
              <a:spcBef>
                <a:spcPts val="1000"/>
              </a:spcBef>
            </a:pPr>
            <a:r>
              <a:rPr lang="en-US" sz="2000" dirty="0">
                <a:latin typeface="+mj-lt"/>
              </a:rPr>
              <a:t>Future products are </a:t>
            </a:r>
            <a:r>
              <a:rPr lang="en-US" sz="2000" b="1" dirty="0">
                <a:latin typeface="+mj-lt"/>
              </a:rPr>
              <a:t>substitutes</a:t>
            </a:r>
            <a:r>
              <a:rPr lang="en-US" sz="2000" dirty="0">
                <a:latin typeface="+mj-lt"/>
              </a:rPr>
              <a:t> for current products.</a:t>
            </a:r>
          </a:p>
          <a:p>
            <a:pPr>
              <a:spcBef>
                <a:spcPts val="1000"/>
              </a:spcBef>
            </a:pPr>
            <a:r>
              <a:rPr lang="en-US" sz="2000" dirty="0">
                <a:latin typeface="+mj-lt"/>
              </a:rPr>
              <a:t>An expected</a:t>
            </a:r>
            <a:r>
              <a:rPr lang="en-US" sz="2000" b="1" dirty="0">
                <a:latin typeface="+mj-lt"/>
              </a:rPr>
              <a:t> increase </a:t>
            </a:r>
            <a:r>
              <a:rPr lang="en-US" sz="2000" dirty="0">
                <a:latin typeface="+mj-lt"/>
              </a:rPr>
              <a:t>in the price tomorrow </a:t>
            </a:r>
            <a:r>
              <a:rPr lang="en-US" sz="2000" b="1" dirty="0">
                <a:latin typeface="+mj-lt"/>
              </a:rPr>
              <a:t>increases demand today.</a:t>
            </a:r>
          </a:p>
          <a:p>
            <a:pPr>
              <a:spcBef>
                <a:spcPts val="1000"/>
              </a:spcBef>
            </a:pPr>
            <a:r>
              <a:rPr lang="en-US" sz="2000" dirty="0">
                <a:latin typeface="+mj-lt"/>
              </a:rPr>
              <a:t>An expected</a:t>
            </a:r>
            <a:r>
              <a:rPr lang="en-US" sz="2000" b="1" dirty="0">
                <a:latin typeface="+mj-lt"/>
              </a:rPr>
              <a:t> decrease </a:t>
            </a:r>
            <a:r>
              <a:rPr lang="en-US" sz="2000" dirty="0">
                <a:latin typeface="+mj-lt"/>
              </a:rPr>
              <a:t>in the price tomorrow </a:t>
            </a:r>
            <a:r>
              <a:rPr lang="en-US" sz="2000" b="1" dirty="0">
                <a:latin typeface="+mj-lt"/>
              </a:rPr>
              <a:t>decreases demand today.</a:t>
            </a:r>
          </a:p>
        </p:txBody>
      </p:sp>
      <p:sp>
        <p:nvSpPr>
          <p:cNvPr id="19" name="Content Placeholder 5">
            <a:extLst>
              <a:ext uri="{FF2B5EF4-FFF2-40B4-BE49-F238E27FC236}">
                <a16:creationId xmlns:a16="http://schemas.microsoft.com/office/drawing/2014/main" id="{A4941F00-FBF1-89F2-7B22-A6A67F17C0C9}"/>
              </a:ext>
            </a:extLst>
          </p:cNvPr>
          <p:cNvSpPr txBox="1">
            <a:spLocks/>
          </p:cNvSpPr>
          <p:nvPr/>
        </p:nvSpPr>
        <p:spPr>
          <a:xfrm>
            <a:off x="482866" y="4648200"/>
            <a:ext cx="4470133" cy="12954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000" b="1" dirty="0">
                <a:latin typeface="+mj-lt"/>
              </a:rPr>
              <a:t>Example: If you found out the price of gasoline would go up tomorrow, you would increase your demand today.</a:t>
            </a:r>
          </a:p>
        </p:txBody>
      </p:sp>
      <p:pic>
        <p:nvPicPr>
          <p:cNvPr id="20" name="Content Placeholder 6" descr="On a graph, the X axis represents quantity, and the Y axis represents price. D sub 1 falls through the graph, and an increase shifts up D sub 2.">
            <a:extLst>
              <a:ext uri="{FF2B5EF4-FFF2-40B4-BE49-F238E27FC236}">
                <a16:creationId xmlns:a16="http://schemas.microsoft.com/office/drawing/2014/main" id="{AEED6606-789F-051D-EDB7-3C2B32CDB66F}"/>
              </a:ext>
            </a:extLst>
          </p:cNvPr>
          <p:cNvPicPr>
            <a:picLocks noChangeAspect="1"/>
          </p:cNvPicPr>
          <p:nvPr/>
        </p:nvPicPr>
        <p:blipFill>
          <a:blip r:embed="rId3"/>
          <a:stretch>
            <a:fillRect/>
          </a:stretch>
        </p:blipFill>
        <p:spPr>
          <a:xfrm>
            <a:off x="5335155" y="1752600"/>
            <a:ext cx="3334801" cy="2213040"/>
          </a:xfrm>
          <a:prstGeom prst="rect">
            <a:avLst/>
          </a:prstGeom>
        </p:spPr>
      </p:pic>
    </p:spTree>
    <p:extLst>
      <p:ext uri="{BB962C8B-B14F-4D97-AF65-F5344CB8AC3E}">
        <p14:creationId xmlns:p14="http://schemas.microsoft.com/office/powerpoint/2010/main" val="119306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8FCEA1BE-2680-DD9F-935F-B83B681CA2F5}"/>
              </a:ext>
            </a:extLst>
          </p:cNvPr>
          <p:cNvSpPr>
            <a:spLocks noGrp="1"/>
          </p:cNvSpPr>
          <p:nvPr>
            <p:ph type="title"/>
          </p:nvPr>
        </p:nvSpPr>
        <p:spPr/>
        <p:txBody>
          <a:bodyPr/>
          <a:lstStyle/>
          <a:p>
            <a:r>
              <a:rPr lang="en-US" dirty="0">
                <a:latin typeface="+mj-lt"/>
              </a:rPr>
              <a:t>Figure 3.3 A Change in Demand vs a Change in Quantity</a:t>
            </a:r>
            <a:endParaRPr lang="en-IN" dirty="0">
              <a:solidFill>
                <a:schemeClr val="tx2"/>
              </a:solidFill>
            </a:endParaRPr>
          </a:p>
        </p:txBody>
      </p:sp>
      <p:sp>
        <p:nvSpPr>
          <p:cNvPr id="18" name="Content Placeholder 4">
            <a:extLst>
              <a:ext uri="{FF2B5EF4-FFF2-40B4-BE49-F238E27FC236}">
                <a16:creationId xmlns:a16="http://schemas.microsoft.com/office/drawing/2014/main" id="{B34A673D-F956-DA61-19AF-557F8CC0820C}"/>
              </a:ext>
            </a:extLst>
          </p:cNvPr>
          <p:cNvSpPr txBox="1">
            <a:spLocks/>
          </p:cNvSpPr>
          <p:nvPr/>
        </p:nvSpPr>
        <p:spPr>
          <a:xfrm>
            <a:off x="457200" y="1558412"/>
            <a:ext cx="3295403" cy="255638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dirty="0"/>
              <a:t>A change in the price of the product being examined causes a movement along the demand curve.</a:t>
            </a:r>
          </a:p>
          <a:p>
            <a:pPr>
              <a:spcBef>
                <a:spcPts val="1000"/>
              </a:spcBef>
            </a:pPr>
            <a:r>
              <a:rPr lang="en-US" sz="2200" dirty="0"/>
              <a:t>This is a </a:t>
            </a:r>
            <a:r>
              <a:rPr lang="en-US" sz="2200" b="1" dirty="0"/>
              <a:t>change in quantity demanded.</a:t>
            </a:r>
          </a:p>
        </p:txBody>
      </p:sp>
      <p:sp>
        <p:nvSpPr>
          <p:cNvPr id="19" name="Content Placeholder 5">
            <a:extLst>
              <a:ext uri="{FF2B5EF4-FFF2-40B4-BE49-F238E27FC236}">
                <a16:creationId xmlns:a16="http://schemas.microsoft.com/office/drawing/2014/main" id="{B482DDB2-6E67-6359-2E25-AB30DEFD5BC7}"/>
              </a:ext>
            </a:extLst>
          </p:cNvPr>
          <p:cNvSpPr txBox="1">
            <a:spLocks/>
          </p:cNvSpPr>
          <p:nvPr/>
        </p:nvSpPr>
        <p:spPr>
          <a:xfrm>
            <a:off x="457200" y="4114800"/>
            <a:ext cx="3295403" cy="22098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dirty="0"/>
              <a:t>Any other change affecting demand causes the entire demand curve to shift.</a:t>
            </a:r>
          </a:p>
          <a:p>
            <a:pPr>
              <a:spcBef>
                <a:spcPts val="1000"/>
              </a:spcBef>
            </a:pPr>
            <a:r>
              <a:rPr lang="en-US" sz="2200" dirty="0"/>
              <a:t>This is a </a:t>
            </a:r>
            <a:r>
              <a:rPr lang="en-US" sz="2200" b="1" dirty="0"/>
              <a:t>change in demand.</a:t>
            </a:r>
          </a:p>
        </p:txBody>
      </p:sp>
      <p:pic>
        <p:nvPicPr>
          <p:cNvPr id="3" name="Picture 2" descr="A line graph with the x-axis labelled quantity in millions of pairs of shoes per week and y-axis labelled price in dollars per pair of shoes. Two lines labelled demand D1 and demand D2 form downward slopes lying parallel to each other. The line demand D2 lies right to the line demand D1. The points marked on the line demand D1 are A (8, 150) and B (9, 125). The point marked on the line demand D2 is C (10, 150). An arrow flows from the point A (8, 150) to the point B (9, 125) with a note that reads, a movement along the demand curve is a change in quantity demanded. An arrow flows from the line demand D1 to demand D2 with a note that reads, a shift in the demand curve is a change in demand.">
            <a:extLst>
              <a:ext uri="{FF2B5EF4-FFF2-40B4-BE49-F238E27FC236}">
                <a16:creationId xmlns:a16="http://schemas.microsoft.com/office/drawing/2014/main" id="{34743B91-96FD-7518-9BDB-681CAB803A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52603" y="1558412"/>
            <a:ext cx="5145024" cy="3486912"/>
          </a:xfrm>
          <a:prstGeom prst="rect">
            <a:avLst/>
          </a:prstGeom>
        </p:spPr>
      </p:pic>
    </p:spTree>
    <p:extLst>
      <p:ext uri="{BB962C8B-B14F-4D97-AF65-F5344CB8AC3E}">
        <p14:creationId xmlns:p14="http://schemas.microsoft.com/office/powerpoint/2010/main" val="2697067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2"/>
            <a:ext cx="8229600" cy="720798"/>
          </a:xfrm>
        </p:spPr>
        <p:txBody>
          <a:bodyPr/>
          <a:lstStyle/>
          <a:p>
            <a:r>
              <a:rPr lang="en-IN" dirty="0">
                <a:latin typeface="+mj-lt"/>
              </a:rPr>
              <a:t>The Supply Side of the Market</a:t>
            </a:r>
            <a:endParaRPr lang="en-US" dirty="0">
              <a:latin typeface="+mj-lt"/>
            </a:endParaRPr>
          </a:p>
        </p:txBody>
      </p:sp>
      <p:sp>
        <p:nvSpPr>
          <p:cNvPr id="5" name="Text Placeholder 4">
            <a:extLst>
              <a:ext uri="{FF2B5EF4-FFF2-40B4-BE49-F238E27FC236}">
                <a16:creationId xmlns:a16="http://schemas.microsoft.com/office/drawing/2014/main" id="{8FA4C9CE-D0FA-09A8-A47A-2D3BDCC9027A}"/>
              </a:ext>
            </a:extLst>
          </p:cNvPr>
          <p:cNvSpPr>
            <a:spLocks noGrp="1"/>
          </p:cNvSpPr>
          <p:nvPr>
            <p:ph type="body" sz="quarter" idx="13"/>
          </p:nvPr>
        </p:nvSpPr>
        <p:spPr>
          <a:xfrm>
            <a:off x="457200" y="1066800"/>
            <a:ext cx="8229600" cy="402770"/>
          </a:xfrm>
        </p:spPr>
        <p:txBody>
          <a:bodyPr/>
          <a:lstStyle/>
          <a:p>
            <a:r>
              <a:rPr lang="en-US" sz="2600" b="1" dirty="0">
                <a:solidFill>
                  <a:schemeClr val="tx1"/>
                </a:solidFill>
              </a:rPr>
              <a:t>3.2 Learning Objective</a:t>
            </a:r>
          </a:p>
        </p:txBody>
      </p:sp>
      <p:sp>
        <p:nvSpPr>
          <p:cNvPr id="4" name="Content Placeholder 3"/>
          <p:cNvSpPr>
            <a:spLocks noGrp="1"/>
          </p:cNvSpPr>
          <p:nvPr>
            <p:ph sz="quarter" idx="14"/>
          </p:nvPr>
        </p:nvSpPr>
        <p:spPr/>
        <p:txBody>
          <a:bodyPr>
            <a:noAutofit/>
          </a:bodyPr>
          <a:lstStyle/>
          <a:p>
            <a:pPr marL="0" indent="0">
              <a:spcBef>
                <a:spcPts val="600"/>
              </a:spcBef>
              <a:buNone/>
            </a:pPr>
            <a:r>
              <a:rPr lang="en-US" sz="2600" dirty="0"/>
              <a:t>Discuss the variables that influence supply.</a:t>
            </a:r>
          </a:p>
          <a:p>
            <a:pPr marL="0" indent="0">
              <a:spcBef>
                <a:spcPts val="1000"/>
              </a:spcBef>
              <a:buSzPts val="2200"/>
              <a:buFont typeface="Arial" panose="020B0604020202020204" pitchFamily="34" charset="0"/>
              <a:buNone/>
            </a:pPr>
            <a:r>
              <a:rPr lang="en-US" sz="2600" dirty="0"/>
              <a:t>There are some similarities, and some important differences, between the demand and supply sides of the market.</a:t>
            </a:r>
          </a:p>
          <a:p>
            <a:pPr marL="0" indent="0">
              <a:buSzPts val="2200"/>
              <a:buFont typeface="Arial" panose="020B0604020202020204" pitchFamily="34" charset="0"/>
              <a:buNone/>
            </a:pPr>
            <a:r>
              <a:rPr lang="en-US" sz="2600" dirty="0"/>
              <a:t>In this section, we examine the </a:t>
            </a:r>
            <a:r>
              <a:rPr lang="en-US" sz="2600" b="1" dirty="0"/>
              <a:t>market supply,</a:t>
            </a:r>
            <a:r>
              <a:rPr lang="en-US" sz="2600" dirty="0"/>
              <a:t> i.e., the decisions of (generally) firms about how much of a product to provide at various prices.</a:t>
            </a:r>
          </a:p>
        </p:txBody>
      </p:sp>
    </p:spTree>
    <p:extLst>
      <p:ext uri="{BB962C8B-B14F-4D97-AF65-F5344CB8AC3E}">
        <p14:creationId xmlns:p14="http://schemas.microsoft.com/office/powerpoint/2010/main" val="4008302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6771695-A5EA-95E3-BC84-70D8CBBBCB56}"/>
              </a:ext>
            </a:extLst>
          </p:cNvPr>
          <p:cNvSpPr>
            <a:spLocks noGrp="1"/>
          </p:cNvSpPr>
          <p:nvPr>
            <p:ph type="title"/>
          </p:nvPr>
        </p:nvSpPr>
        <p:spPr/>
        <p:txBody>
          <a:bodyPr/>
          <a:lstStyle/>
          <a:p>
            <a:r>
              <a:rPr lang="en-US" dirty="0">
                <a:solidFill>
                  <a:schemeClr val="tx1"/>
                </a:solidFill>
                <a:latin typeface="+mj-lt"/>
              </a:rPr>
              <a:t>Figure 3.4 A Supply Schedule and Supply Curve</a:t>
            </a:r>
            <a:r>
              <a:rPr lang="en-US" sz="3000" dirty="0">
                <a:solidFill>
                  <a:schemeClr val="tx1"/>
                </a:solidFill>
                <a:latin typeface="+mj-lt"/>
              </a:rPr>
              <a:t> </a:t>
            </a:r>
            <a:r>
              <a:rPr lang="en-US" sz="2000" b="0" dirty="0">
                <a:solidFill>
                  <a:schemeClr val="tx1"/>
                </a:solidFill>
                <a:latin typeface="+mj-lt"/>
              </a:rPr>
              <a:t>(1 of 2)</a:t>
            </a:r>
            <a:endParaRPr lang="en-IN" sz="2000" dirty="0">
              <a:solidFill>
                <a:schemeClr val="tx1"/>
              </a:solidFill>
              <a:latin typeface="+mj-lt"/>
            </a:endParaRPr>
          </a:p>
        </p:txBody>
      </p:sp>
      <p:sp>
        <p:nvSpPr>
          <p:cNvPr id="3" name="Content Placeholder 8">
            <a:extLst>
              <a:ext uri="{FF2B5EF4-FFF2-40B4-BE49-F238E27FC236}">
                <a16:creationId xmlns:a16="http://schemas.microsoft.com/office/drawing/2014/main" id="{3CD95F02-6336-4B1B-28C6-0BB929B59DA0}"/>
              </a:ext>
            </a:extLst>
          </p:cNvPr>
          <p:cNvSpPr txBox="1">
            <a:spLocks/>
          </p:cNvSpPr>
          <p:nvPr/>
        </p:nvSpPr>
        <p:spPr>
          <a:xfrm>
            <a:off x="457200" y="4726379"/>
            <a:ext cx="8022674" cy="1582346"/>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000" b="1" dirty="0"/>
              <a:t>Supply schedule:</a:t>
            </a:r>
            <a:r>
              <a:rPr lang="en-US" sz="2000" dirty="0"/>
              <a:t> A table that shows the relationship between the price of a product and the quantity of the product supplied.</a:t>
            </a:r>
          </a:p>
          <a:p>
            <a:pPr marL="0" indent="0">
              <a:buSzPts val="2200"/>
              <a:buFont typeface="Arial" panose="020B0604020202020204" pitchFamily="34" charset="0"/>
              <a:buNone/>
            </a:pPr>
            <a:r>
              <a:rPr lang="en-US" sz="2000" b="1" dirty="0"/>
              <a:t>Supply curve:</a:t>
            </a:r>
            <a:r>
              <a:rPr lang="en-US" sz="2000" dirty="0"/>
              <a:t> A curve that shows the relationship between the price of a product and the quantity of the product supplied.</a:t>
            </a:r>
          </a:p>
        </p:txBody>
      </p:sp>
      <p:pic>
        <p:nvPicPr>
          <p:cNvPr id="5" name="Picture 4" descr="A composite of a table and a graph representing the supply schedule.">
            <a:extLst>
              <a:ext uri="{FF2B5EF4-FFF2-40B4-BE49-F238E27FC236}">
                <a16:creationId xmlns:a16="http://schemas.microsoft.com/office/drawing/2014/main" id="{3734811F-EB08-149A-50F6-66903B49CD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9616" y="1828800"/>
            <a:ext cx="6144768" cy="2572512"/>
          </a:xfrm>
          <a:prstGeom prst="rect">
            <a:avLst/>
          </a:prstGeom>
        </p:spPr>
      </p:pic>
    </p:spTree>
    <p:extLst>
      <p:ext uri="{BB962C8B-B14F-4D97-AF65-F5344CB8AC3E}">
        <p14:creationId xmlns:p14="http://schemas.microsoft.com/office/powerpoint/2010/main" val="1481824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0F26591-697A-DD6B-DF2D-873338E22667}"/>
              </a:ext>
            </a:extLst>
          </p:cNvPr>
          <p:cNvSpPr>
            <a:spLocks noGrp="1"/>
          </p:cNvSpPr>
          <p:nvPr>
            <p:ph type="title"/>
          </p:nvPr>
        </p:nvSpPr>
        <p:spPr/>
        <p:txBody>
          <a:bodyPr/>
          <a:lstStyle/>
          <a:p>
            <a:r>
              <a:rPr lang="en-US" dirty="0">
                <a:solidFill>
                  <a:schemeClr val="tx1"/>
                </a:solidFill>
                <a:latin typeface="+mj-lt"/>
              </a:rPr>
              <a:t>Figure 3.4 A Supply Schedule and Supply Curve</a:t>
            </a:r>
            <a:r>
              <a:rPr lang="en-US" sz="3000" dirty="0">
                <a:solidFill>
                  <a:schemeClr val="tx1"/>
                </a:solidFill>
                <a:latin typeface="+mj-lt"/>
              </a:rPr>
              <a:t> </a:t>
            </a:r>
            <a:r>
              <a:rPr lang="en-US" sz="2000" b="0" dirty="0">
                <a:solidFill>
                  <a:schemeClr val="tx1"/>
                </a:solidFill>
                <a:latin typeface="+mj-lt"/>
              </a:rPr>
              <a:t>(2 of 2)</a:t>
            </a:r>
            <a:endParaRPr lang="en-IN" sz="2000" dirty="0">
              <a:solidFill>
                <a:schemeClr val="tx1"/>
              </a:solidFill>
              <a:latin typeface="+mj-lt"/>
            </a:endParaRPr>
          </a:p>
        </p:txBody>
      </p:sp>
      <p:sp>
        <p:nvSpPr>
          <p:cNvPr id="16" name="Content Placeholder 8">
            <a:extLst>
              <a:ext uri="{FF2B5EF4-FFF2-40B4-BE49-F238E27FC236}">
                <a16:creationId xmlns:a16="http://schemas.microsoft.com/office/drawing/2014/main" id="{DE319E12-018F-90B4-7895-160F8CEA0C6D}"/>
              </a:ext>
            </a:extLst>
          </p:cNvPr>
          <p:cNvSpPr txBox="1">
            <a:spLocks/>
          </p:cNvSpPr>
          <p:nvPr/>
        </p:nvSpPr>
        <p:spPr>
          <a:xfrm>
            <a:off x="457200" y="4684481"/>
            <a:ext cx="8022674" cy="1621016"/>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600"/>
              </a:spcBef>
              <a:buSzPts val="2200"/>
              <a:buFont typeface="Arial" panose="020B0604020202020204" pitchFamily="34" charset="0"/>
              <a:buNone/>
            </a:pPr>
            <a:r>
              <a:rPr lang="en-US" sz="1800" b="1" dirty="0">
                <a:latin typeface="+mj-lt"/>
              </a:rPr>
              <a:t>Quantity supplied:</a:t>
            </a:r>
            <a:r>
              <a:rPr lang="en-US" sz="1800" dirty="0">
                <a:latin typeface="+mj-lt"/>
              </a:rPr>
              <a:t> The amount of a good or service that a firm is willing and able to supply at a given price.</a:t>
            </a:r>
          </a:p>
          <a:p>
            <a:pPr marL="0" indent="0">
              <a:spcBef>
                <a:spcPts val="600"/>
              </a:spcBef>
              <a:buSzPts val="2200"/>
              <a:buFont typeface="Arial" panose="020B0604020202020204" pitchFamily="34" charset="0"/>
              <a:buNone/>
            </a:pPr>
            <a:r>
              <a:rPr lang="en-US" sz="1800" b="1" dirty="0">
                <a:latin typeface="+mj-lt"/>
              </a:rPr>
              <a:t>Law of supply: </a:t>
            </a:r>
            <a:r>
              <a:rPr lang="en-US" sz="1800" dirty="0">
                <a:latin typeface="+mj-lt"/>
              </a:rPr>
              <a:t>A rule that states that, holding everything else constant, increases in price cause increases in the quantity supplied, and decreases in price cause decreases in the quantity supplied.</a:t>
            </a:r>
          </a:p>
        </p:txBody>
      </p:sp>
      <p:pic>
        <p:nvPicPr>
          <p:cNvPr id="3" name="Picture 2" descr="A composite of a table and a graph representing the supply schedule.">
            <a:extLst>
              <a:ext uri="{FF2B5EF4-FFF2-40B4-BE49-F238E27FC236}">
                <a16:creationId xmlns:a16="http://schemas.microsoft.com/office/drawing/2014/main" id="{37DD5333-DC17-8E94-36DE-64C8B1ABB3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9616" y="1828800"/>
            <a:ext cx="6144768" cy="2572512"/>
          </a:xfrm>
          <a:prstGeom prst="rect">
            <a:avLst/>
          </a:prstGeom>
        </p:spPr>
      </p:pic>
    </p:spTree>
    <p:extLst>
      <p:ext uri="{BB962C8B-B14F-4D97-AF65-F5344CB8AC3E}">
        <p14:creationId xmlns:p14="http://schemas.microsoft.com/office/powerpoint/2010/main" val="1731593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F0D29F0-38B4-172D-60CC-ADBF86EDAF30}"/>
              </a:ext>
            </a:extLst>
          </p:cNvPr>
          <p:cNvSpPr>
            <a:spLocks noGrp="1"/>
          </p:cNvSpPr>
          <p:nvPr>
            <p:ph type="title"/>
          </p:nvPr>
        </p:nvSpPr>
        <p:spPr>
          <a:xfrm>
            <a:off x="457200" y="304800"/>
            <a:ext cx="8229600" cy="838199"/>
          </a:xfrm>
        </p:spPr>
        <p:txBody>
          <a:bodyPr/>
          <a:lstStyle/>
          <a:p>
            <a:r>
              <a:rPr lang="en-US" dirty="0">
                <a:latin typeface="+mj-lt"/>
              </a:rPr>
              <a:t>Figure 3.5 Shifting the Supply Curve</a:t>
            </a:r>
            <a:br>
              <a:rPr lang="en-US" sz="3200" dirty="0">
                <a:latin typeface="+mj-lt"/>
              </a:rPr>
            </a:br>
            <a:r>
              <a:rPr lang="en-US" sz="2000" b="0" dirty="0">
                <a:latin typeface="+mj-lt"/>
              </a:rPr>
              <a:t>(1 of 2)</a:t>
            </a:r>
            <a:endParaRPr lang="en-IN" sz="2000" dirty="0">
              <a:latin typeface="+mj-lt"/>
            </a:endParaRPr>
          </a:p>
        </p:txBody>
      </p:sp>
      <p:sp>
        <p:nvSpPr>
          <p:cNvPr id="3" name="Content Placeholder 2"/>
          <p:cNvSpPr>
            <a:spLocks noGrp="1"/>
          </p:cNvSpPr>
          <p:nvPr>
            <p:ph idx="1"/>
          </p:nvPr>
        </p:nvSpPr>
        <p:spPr>
          <a:xfrm>
            <a:off x="457199" y="1490752"/>
            <a:ext cx="4045399" cy="4452848"/>
          </a:xfrm>
        </p:spPr>
        <p:txBody>
          <a:bodyPr>
            <a:noAutofit/>
          </a:bodyPr>
          <a:lstStyle/>
          <a:p>
            <a:pPr marL="0" indent="0">
              <a:buNone/>
            </a:pPr>
            <a:r>
              <a:rPr lang="en-US" sz="2400" dirty="0"/>
              <a:t>A change in something other than price that affects supply causes the entire supply curve to shift.</a:t>
            </a:r>
          </a:p>
          <a:p>
            <a:pPr marL="269875" indent="-269875"/>
            <a:r>
              <a:rPr lang="en-US" sz="2400" dirty="0"/>
              <a:t>A shift to the right (</a:t>
            </a:r>
            <a:r>
              <a:rPr lang="en-US" sz="2400" i="1" dirty="0"/>
              <a:t>S</a:t>
            </a:r>
            <a:r>
              <a:rPr lang="en-US" sz="2400" baseline="-25000" dirty="0"/>
              <a:t>1</a:t>
            </a:r>
            <a:r>
              <a:rPr lang="en-US" sz="2400" dirty="0"/>
              <a:t> to </a:t>
            </a:r>
            <a:r>
              <a:rPr lang="en-US" sz="2400" i="1" dirty="0"/>
              <a:t>S</a:t>
            </a:r>
            <a:r>
              <a:rPr lang="en-US" sz="2400" baseline="-25000" dirty="0"/>
              <a:t>3</a:t>
            </a:r>
            <a:r>
              <a:rPr lang="en-US" sz="2400" dirty="0"/>
              <a:t>) is an </a:t>
            </a:r>
            <a:r>
              <a:rPr lang="en-US" sz="2400" b="1" dirty="0"/>
              <a:t>increase in supply.</a:t>
            </a:r>
          </a:p>
          <a:p>
            <a:pPr marL="269875" indent="-269875"/>
            <a:r>
              <a:rPr lang="en-US" sz="2400" dirty="0"/>
              <a:t>A shift to the left (</a:t>
            </a:r>
            <a:r>
              <a:rPr lang="en-US" sz="2400" i="1" dirty="0"/>
              <a:t>S</a:t>
            </a:r>
            <a:r>
              <a:rPr lang="en-US" sz="2400" baseline="-25000" dirty="0"/>
              <a:t>1</a:t>
            </a:r>
            <a:r>
              <a:rPr lang="en-US" sz="2400" dirty="0"/>
              <a:t> to </a:t>
            </a:r>
            <a:r>
              <a:rPr lang="en-US" sz="2400" i="1" dirty="0"/>
              <a:t>S</a:t>
            </a:r>
            <a:r>
              <a:rPr lang="en-US" sz="2400" baseline="-25000" dirty="0"/>
              <a:t>2</a:t>
            </a:r>
            <a:r>
              <a:rPr lang="en-US" sz="2400" dirty="0"/>
              <a:t>) is a </a:t>
            </a:r>
            <a:r>
              <a:rPr lang="en-US" sz="2400" b="1" dirty="0"/>
              <a:t>decrease in supply.</a:t>
            </a:r>
          </a:p>
        </p:txBody>
      </p:sp>
      <p:pic>
        <p:nvPicPr>
          <p:cNvPr id="4" name="Picture 3" descr="The line graph shows the x-axis labelled quantity in millions of pairs of shoes per week, and the y-axis labelled price in dollars per pair of shoes. Three lines labelled supply, S1 in the centre, supply, S2 on the left and supply, S3 on the right form upward slopes. An arrow labelled Increase in supply flows from the line supply, S1 to the line supply, S3. An arrow labelled decrease in supply flows from the line supply, S1 to the line supply, S2.">
            <a:extLst>
              <a:ext uri="{FF2B5EF4-FFF2-40B4-BE49-F238E27FC236}">
                <a16:creationId xmlns:a16="http://schemas.microsoft.com/office/drawing/2014/main" id="{4C4060D6-9C9D-1751-2F9C-F32994B6B5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2599" y="1600200"/>
            <a:ext cx="4184201" cy="3256107"/>
          </a:xfrm>
          <a:prstGeom prst="rect">
            <a:avLst/>
          </a:prstGeom>
        </p:spPr>
      </p:pic>
    </p:spTree>
    <p:extLst>
      <p:ext uri="{BB962C8B-B14F-4D97-AF65-F5344CB8AC3E}">
        <p14:creationId xmlns:p14="http://schemas.microsoft.com/office/powerpoint/2010/main" val="4661056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D18D35D8-1095-2085-4D96-AC4F6F3FEC29}"/>
              </a:ext>
            </a:extLst>
          </p:cNvPr>
          <p:cNvSpPr>
            <a:spLocks noGrp="1"/>
          </p:cNvSpPr>
          <p:nvPr>
            <p:ph type="title"/>
          </p:nvPr>
        </p:nvSpPr>
        <p:spPr>
          <a:xfrm>
            <a:off x="447168" y="291571"/>
            <a:ext cx="8229600" cy="851429"/>
          </a:xfrm>
        </p:spPr>
        <p:txBody>
          <a:bodyPr/>
          <a:lstStyle/>
          <a:p>
            <a:r>
              <a:rPr lang="en-US" dirty="0">
                <a:latin typeface="+mj-lt"/>
              </a:rPr>
              <a:t>Figure 3.5 Shifting the Supply Curve</a:t>
            </a:r>
            <a:br>
              <a:rPr lang="en-US" sz="3200" dirty="0">
                <a:latin typeface="+mj-lt"/>
              </a:rPr>
            </a:br>
            <a:r>
              <a:rPr lang="en-US" sz="2000" b="0" dirty="0">
                <a:latin typeface="+mj-lt"/>
              </a:rPr>
              <a:t>(2 of 2)</a:t>
            </a:r>
            <a:endParaRPr lang="en-IN" sz="2000" dirty="0">
              <a:latin typeface="+mj-lt"/>
            </a:endParaRPr>
          </a:p>
        </p:txBody>
      </p:sp>
      <p:sp>
        <p:nvSpPr>
          <p:cNvPr id="18" name="Content Placeholder 5">
            <a:extLst>
              <a:ext uri="{FF2B5EF4-FFF2-40B4-BE49-F238E27FC236}">
                <a16:creationId xmlns:a16="http://schemas.microsoft.com/office/drawing/2014/main" id="{15C67B05-F7BD-8129-90F7-E2810E4CC8CB}"/>
              </a:ext>
            </a:extLst>
          </p:cNvPr>
          <p:cNvSpPr txBox="1">
            <a:spLocks/>
          </p:cNvSpPr>
          <p:nvPr/>
        </p:nvSpPr>
        <p:spPr>
          <a:xfrm>
            <a:off x="457200" y="1558411"/>
            <a:ext cx="3889169" cy="3044611"/>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400" dirty="0"/>
              <a:t>As the supply curve shifts, the quantity supplied will change, </a:t>
            </a:r>
            <a:r>
              <a:rPr lang="en-US" sz="2400" b="1" dirty="0"/>
              <a:t>even if the price doesn’t change.</a:t>
            </a:r>
          </a:p>
          <a:p>
            <a:pPr marL="0" indent="0">
              <a:buSzPts val="2200"/>
              <a:buFont typeface="Arial" panose="020B0604020202020204" pitchFamily="34" charset="0"/>
              <a:buNone/>
            </a:pPr>
            <a:r>
              <a:rPr lang="en-US" sz="2400" dirty="0"/>
              <a:t>The quantity supplied changes at every possible price.</a:t>
            </a:r>
          </a:p>
        </p:txBody>
      </p:sp>
      <p:pic>
        <p:nvPicPr>
          <p:cNvPr id="2" name="Picture 1" descr="The line graph shows the x-axis labelled quantity in millions of pairs of shoes per week, and the y-axis labelled price in dollars per pair of shoes. Three lines labelled supply, S1 in the centre, supply, S2 on the left and supply, S3 on the right form upward slopes. An arrow labelled Increase in supply flows from the line supply, S1 to the line supply, S3. An arrow labelled decrease in supply flows from the line supply, S1 to the line supply, S2.">
            <a:extLst>
              <a:ext uri="{FF2B5EF4-FFF2-40B4-BE49-F238E27FC236}">
                <a16:creationId xmlns:a16="http://schemas.microsoft.com/office/drawing/2014/main" id="{4A7ADCE5-8A81-C5B1-4F88-4995D6CA95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2599" y="1600200"/>
            <a:ext cx="4184201" cy="3256107"/>
          </a:xfrm>
          <a:prstGeom prst="rect">
            <a:avLst/>
          </a:prstGeom>
        </p:spPr>
      </p:pic>
    </p:spTree>
    <p:extLst>
      <p:ext uri="{BB962C8B-B14F-4D97-AF65-F5344CB8AC3E}">
        <p14:creationId xmlns:p14="http://schemas.microsoft.com/office/powerpoint/2010/main" val="3844462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4FA363E-A2CB-AD46-FD2A-F9401A4228B4}"/>
              </a:ext>
            </a:extLst>
          </p:cNvPr>
          <p:cNvSpPr>
            <a:spLocks noGrp="1"/>
          </p:cNvSpPr>
          <p:nvPr>
            <p:ph type="title"/>
          </p:nvPr>
        </p:nvSpPr>
        <p:spPr/>
        <p:txBody>
          <a:bodyPr/>
          <a:lstStyle/>
          <a:p>
            <a:r>
              <a:rPr lang="en-US" dirty="0">
                <a:latin typeface="+mj-lt"/>
              </a:rPr>
              <a:t>What Variables Shift Market Supply?</a:t>
            </a:r>
            <a:endParaRPr lang="en-IN" dirty="0">
              <a:latin typeface="+mj-lt"/>
            </a:endParaRPr>
          </a:p>
        </p:txBody>
      </p:sp>
      <p:sp>
        <p:nvSpPr>
          <p:cNvPr id="2" name="Content Placeholder 1">
            <a:extLst>
              <a:ext uri="{FF2B5EF4-FFF2-40B4-BE49-F238E27FC236}">
                <a16:creationId xmlns:a16="http://schemas.microsoft.com/office/drawing/2014/main" id="{91AE330A-B80E-3CD8-9DB2-A45934A1F376}"/>
              </a:ext>
            </a:extLst>
          </p:cNvPr>
          <p:cNvSpPr>
            <a:spLocks noGrp="1"/>
          </p:cNvSpPr>
          <p:nvPr>
            <p:ph idx="1"/>
          </p:nvPr>
        </p:nvSpPr>
        <p:spPr/>
        <p:txBody>
          <a:bodyPr/>
          <a:lstStyle/>
          <a:p>
            <a:pPr marL="0" indent="0">
              <a:spcBef>
                <a:spcPts val="0"/>
              </a:spcBef>
              <a:buSzPts val="2200"/>
              <a:buFont typeface="Arial" panose="020B0604020202020204" pitchFamily="34" charset="0"/>
              <a:buNone/>
            </a:pPr>
            <a:r>
              <a:rPr lang="en-US" sz="2600" b="1" dirty="0">
                <a:latin typeface="+mj-lt"/>
              </a:rPr>
              <a:t>Prices of inputs</a:t>
            </a:r>
          </a:p>
          <a:p>
            <a:pPr marL="0" indent="0">
              <a:spcBef>
                <a:spcPts val="600"/>
              </a:spcBef>
              <a:buSzPts val="2200"/>
              <a:buFont typeface="Arial" panose="020B0604020202020204" pitchFamily="34" charset="0"/>
              <a:buNone/>
            </a:pPr>
            <a:r>
              <a:rPr lang="en-US" sz="2600" b="1" dirty="0">
                <a:latin typeface="+mj-lt"/>
              </a:rPr>
              <a:t>Technological change</a:t>
            </a:r>
          </a:p>
          <a:p>
            <a:pPr marL="0" indent="0">
              <a:spcBef>
                <a:spcPts val="600"/>
              </a:spcBef>
              <a:buSzPts val="2200"/>
              <a:buFont typeface="Arial" panose="020B0604020202020204" pitchFamily="34" charset="0"/>
              <a:buNone/>
            </a:pPr>
            <a:r>
              <a:rPr lang="en-US" sz="2600" b="1" dirty="0">
                <a:latin typeface="+mj-lt"/>
              </a:rPr>
              <a:t>Prices of substitutes in production</a:t>
            </a:r>
          </a:p>
          <a:p>
            <a:pPr marL="0" indent="0">
              <a:spcBef>
                <a:spcPts val="600"/>
              </a:spcBef>
              <a:buSzPts val="2200"/>
              <a:buFont typeface="Arial" panose="020B0604020202020204" pitchFamily="34" charset="0"/>
              <a:buNone/>
            </a:pPr>
            <a:r>
              <a:rPr lang="en-US" sz="2600" b="1" dirty="0">
                <a:latin typeface="+mj-lt"/>
              </a:rPr>
              <a:t>Number of firms in the market</a:t>
            </a:r>
          </a:p>
          <a:p>
            <a:pPr marL="0" indent="0">
              <a:spcBef>
                <a:spcPts val="600"/>
              </a:spcBef>
              <a:buSzPts val="2200"/>
              <a:buFont typeface="Arial" panose="020B0604020202020204" pitchFamily="34" charset="0"/>
              <a:buNone/>
            </a:pPr>
            <a:r>
              <a:rPr lang="en-US" sz="2600" b="1" dirty="0">
                <a:latin typeface="+mj-lt"/>
              </a:rPr>
              <a:t>Expected future prices</a:t>
            </a:r>
          </a:p>
          <a:p>
            <a:pPr marL="0" indent="0">
              <a:buSzPts val="2200"/>
              <a:buNone/>
            </a:pPr>
            <a:r>
              <a:rPr lang="en-US" sz="2600" dirty="0">
                <a:latin typeface="+mj-lt"/>
              </a:rPr>
              <a:t>We will discuss how each of these affect supply.</a:t>
            </a:r>
          </a:p>
        </p:txBody>
      </p:sp>
    </p:spTree>
    <p:extLst>
      <p:ext uri="{BB962C8B-B14F-4D97-AF65-F5344CB8AC3E}">
        <p14:creationId xmlns:p14="http://schemas.microsoft.com/office/powerpoint/2010/main" val="3390307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AC0A1D85-A90A-2777-53B5-7ED658962FC1}"/>
              </a:ext>
            </a:extLst>
          </p:cNvPr>
          <p:cNvSpPr>
            <a:spLocks noGrp="1"/>
          </p:cNvSpPr>
          <p:nvPr>
            <p:ph type="title"/>
          </p:nvPr>
        </p:nvSpPr>
        <p:spPr>
          <a:xfrm>
            <a:off x="457200" y="215371"/>
            <a:ext cx="8229600" cy="851429"/>
          </a:xfrm>
        </p:spPr>
        <p:txBody>
          <a:bodyPr/>
          <a:lstStyle/>
          <a:p>
            <a:r>
              <a:rPr lang="en-US" dirty="0">
                <a:latin typeface="+mj-lt"/>
              </a:rPr>
              <a:t>Change in Prices of Inputs</a:t>
            </a:r>
            <a:endParaRPr lang="en-IN" dirty="0">
              <a:latin typeface="+mj-lt"/>
            </a:endParaRPr>
          </a:p>
        </p:txBody>
      </p:sp>
      <p:sp>
        <p:nvSpPr>
          <p:cNvPr id="21" name="Content Placeholder 5">
            <a:extLst>
              <a:ext uri="{FF2B5EF4-FFF2-40B4-BE49-F238E27FC236}">
                <a16:creationId xmlns:a16="http://schemas.microsoft.com/office/drawing/2014/main" id="{4A517621-F19F-D34A-63B9-1B2432FA97C1}"/>
              </a:ext>
            </a:extLst>
          </p:cNvPr>
          <p:cNvSpPr txBox="1">
            <a:spLocks/>
          </p:cNvSpPr>
          <p:nvPr/>
        </p:nvSpPr>
        <p:spPr>
          <a:xfrm>
            <a:off x="457200" y="1558412"/>
            <a:ext cx="3853543" cy="4750313"/>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2000" b="1" dirty="0"/>
              <a:t>Inputs </a:t>
            </a:r>
            <a:r>
              <a:rPr lang="en-US" sz="2000" dirty="0"/>
              <a:t>are anything used in the production of a good or service.</a:t>
            </a:r>
          </a:p>
          <a:p>
            <a:pPr marL="0" indent="0">
              <a:buSzPts val="2200"/>
              <a:buFont typeface="Arial" panose="020B0604020202020204" pitchFamily="34" charset="0"/>
              <a:buNone/>
            </a:pPr>
            <a:r>
              <a:rPr lang="en-US" sz="2000" dirty="0"/>
              <a:t>For an athletic shoe, inputs include the rubber, plastic, and labor.</a:t>
            </a:r>
          </a:p>
          <a:p>
            <a:pPr marL="0" indent="0">
              <a:buSzPts val="2200"/>
              <a:buFont typeface="Arial" panose="020B0604020202020204" pitchFamily="34" charset="0"/>
              <a:buNone/>
            </a:pPr>
            <a:r>
              <a:rPr lang="en-US" sz="2000" dirty="0"/>
              <a:t>An </a:t>
            </a:r>
            <a:r>
              <a:rPr lang="en-US" sz="2000" b="1" dirty="0"/>
              <a:t>increase in the price of an input </a:t>
            </a:r>
            <a:r>
              <a:rPr lang="en-US" sz="2000" dirty="0"/>
              <a:t>decreases the profitability of selling the good, causing a </a:t>
            </a:r>
            <a:r>
              <a:rPr lang="en-US" sz="2000" b="1" dirty="0"/>
              <a:t>decrease in supply.</a:t>
            </a:r>
          </a:p>
          <a:p>
            <a:pPr marL="0" indent="0">
              <a:buSzPts val="2200"/>
              <a:buFont typeface="Arial" panose="020B0604020202020204" pitchFamily="34" charset="0"/>
              <a:buNone/>
            </a:pPr>
            <a:r>
              <a:rPr lang="en-US" sz="2000" dirty="0"/>
              <a:t>A </a:t>
            </a:r>
            <a:r>
              <a:rPr lang="en-US" sz="2000" b="1" dirty="0"/>
              <a:t>decrease in the price of an input </a:t>
            </a:r>
            <a:r>
              <a:rPr lang="en-US" sz="2000" dirty="0"/>
              <a:t>increases the profitability of selling the good, causing an </a:t>
            </a:r>
            <a:r>
              <a:rPr lang="en-US" sz="2000" b="1" dirty="0"/>
              <a:t>increase in supply.</a:t>
            </a:r>
          </a:p>
        </p:txBody>
      </p:sp>
      <p:pic>
        <p:nvPicPr>
          <p:cNvPr id="22" name="Content Placeholder 6" descr="On a graph, the X axis represents quantity, and the Y axis represents price. For long description in Notes pane, press F6.">
            <a:extLst>
              <a:ext uri="{FF2B5EF4-FFF2-40B4-BE49-F238E27FC236}">
                <a16:creationId xmlns:a16="http://schemas.microsoft.com/office/drawing/2014/main" id="{CC51A352-F373-0E75-C649-426284EB888E}"/>
              </a:ext>
            </a:extLst>
          </p:cNvPr>
          <p:cNvPicPr>
            <a:picLocks noChangeAspect="1"/>
          </p:cNvPicPr>
          <p:nvPr/>
        </p:nvPicPr>
        <p:blipFill>
          <a:blip r:embed="rId3"/>
          <a:stretch>
            <a:fillRect/>
          </a:stretch>
        </p:blipFill>
        <p:spPr>
          <a:xfrm>
            <a:off x="5493300" y="1567135"/>
            <a:ext cx="3182388" cy="4651651"/>
          </a:xfrm>
          <a:prstGeom prst="rect">
            <a:avLst/>
          </a:prstGeom>
        </p:spPr>
      </p:pic>
    </p:spTree>
    <p:extLst>
      <p:ext uri="{BB962C8B-B14F-4D97-AF65-F5344CB8AC3E}">
        <p14:creationId xmlns:p14="http://schemas.microsoft.com/office/powerpoint/2010/main" val="11815243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C7CEFDB-F74D-02F0-B463-0AB3F8D8D485}"/>
              </a:ext>
            </a:extLst>
          </p:cNvPr>
          <p:cNvSpPr>
            <a:spLocks noGrp="1"/>
          </p:cNvSpPr>
          <p:nvPr>
            <p:ph type="title"/>
          </p:nvPr>
        </p:nvSpPr>
        <p:spPr>
          <a:xfrm>
            <a:off x="457200" y="215371"/>
            <a:ext cx="8229600" cy="927629"/>
          </a:xfrm>
        </p:spPr>
        <p:txBody>
          <a:bodyPr/>
          <a:lstStyle/>
          <a:p>
            <a:r>
              <a:rPr lang="en-US" dirty="0">
                <a:latin typeface="+mj-lt"/>
              </a:rPr>
              <a:t>Technological Change</a:t>
            </a:r>
            <a:endParaRPr lang="en-IN" dirty="0">
              <a:latin typeface="+mj-lt"/>
            </a:endParaRPr>
          </a:p>
        </p:txBody>
      </p:sp>
      <p:sp>
        <p:nvSpPr>
          <p:cNvPr id="15" name="Content Placeholder 5">
            <a:extLst>
              <a:ext uri="{FF2B5EF4-FFF2-40B4-BE49-F238E27FC236}">
                <a16:creationId xmlns:a16="http://schemas.microsoft.com/office/drawing/2014/main" id="{D6C41D5A-2931-3261-4FB6-1BE644E73D54}"/>
              </a:ext>
            </a:extLst>
          </p:cNvPr>
          <p:cNvSpPr txBox="1">
            <a:spLocks/>
          </p:cNvSpPr>
          <p:nvPr/>
        </p:nvSpPr>
        <p:spPr>
          <a:xfrm>
            <a:off x="457200" y="1558412"/>
            <a:ext cx="4360460" cy="4750313"/>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2000" dirty="0"/>
              <a:t>A firm may experience a positive or negative change in its ability to produce a given level of output with a given quantity of inputs. We call this a </a:t>
            </a:r>
            <a:r>
              <a:rPr lang="en-US" sz="2000" b="1" dirty="0"/>
              <a:t>technological change.</a:t>
            </a:r>
          </a:p>
          <a:p>
            <a:pPr marL="0" indent="0">
              <a:buSzPts val="2200"/>
              <a:buFont typeface="Arial" panose="020B0604020202020204" pitchFamily="34" charset="0"/>
              <a:buNone/>
            </a:pPr>
            <a:r>
              <a:rPr lang="en-US" sz="2000" b="1" dirty="0"/>
              <a:t>Examples:</a:t>
            </a:r>
          </a:p>
          <a:p>
            <a:pPr marL="255600"/>
            <a:r>
              <a:rPr lang="en-US" sz="2000" b="1" dirty="0"/>
              <a:t>A new, more efficient way of producing shoes would increase their supply.</a:t>
            </a:r>
          </a:p>
          <a:p>
            <a:pPr marL="255600"/>
            <a:r>
              <a:rPr lang="en-US" sz="2000" b="1" dirty="0"/>
              <a:t>Governmental restrictions on how much workers are allowed to work might decrease the supply of athletic shoes.</a:t>
            </a:r>
          </a:p>
        </p:txBody>
      </p:sp>
      <p:pic>
        <p:nvPicPr>
          <p:cNvPr id="16" name="Content Placeholder 6" descr="On a graph, the X axis represents quantity, and the Y axis represents price. For long description in Notes pane, press F6.">
            <a:extLst>
              <a:ext uri="{FF2B5EF4-FFF2-40B4-BE49-F238E27FC236}">
                <a16:creationId xmlns:a16="http://schemas.microsoft.com/office/drawing/2014/main" id="{5847F6B8-9B7E-E5A3-9CA5-1DF9305C41E9}"/>
              </a:ext>
            </a:extLst>
          </p:cNvPr>
          <p:cNvPicPr>
            <a:picLocks noChangeAspect="1"/>
          </p:cNvPicPr>
          <p:nvPr/>
        </p:nvPicPr>
        <p:blipFill>
          <a:blip r:embed="rId3"/>
          <a:stretch>
            <a:fillRect/>
          </a:stretch>
        </p:blipFill>
        <p:spPr>
          <a:xfrm>
            <a:off x="5383563" y="1565759"/>
            <a:ext cx="3292125" cy="4718713"/>
          </a:xfrm>
          <a:prstGeom prst="rect">
            <a:avLst/>
          </a:prstGeom>
        </p:spPr>
      </p:pic>
    </p:spTree>
    <p:extLst>
      <p:ext uri="{BB962C8B-B14F-4D97-AF65-F5344CB8AC3E}">
        <p14:creationId xmlns:p14="http://schemas.microsoft.com/office/powerpoint/2010/main" val="150915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Title 5">
            <a:extLst>
              <a:ext uri="{FF2B5EF4-FFF2-40B4-BE49-F238E27FC236}">
                <a16:creationId xmlns:a16="http://schemas.microsoft.com/office/drawing/2014/main" id="{AB83309D-84A7-45F3-0D58-8D6FB70E2651}"/>
              </a:ext>
            </a:extLst>
          </p:cNvPr>
          <p:cNvSpPr>
            <a:spLocks noGrp="1"/>
          </p:cNvSpPr>
          <p:nvPr>
            <p:ph type="title"/>
          </p:nvPr>
        </p:nvSpPr>
        <p:spPr>
          <a:xfrm>
            <a:off x="457200" y="215371"/>
            <a:ext cx="8229600" cy="927629"/>
          </a:xfrm>
        </p:spPr>
        <p:txBody>
          <a:bodyPr/>
          <a:lstStyle/>
          <a:p>
            <a:r>
              <a:rPr lang="en-US" sz="3200" dirty="0">
                <a:latin typeface="+mj-lt"/>
              </a:rPr>
              <a:t>Prices of Substitutes in Production</a:t>
            </a:r>
            <a:endParaRPr lang="en-IN" sz="3200" dirty="0">
              <a:latin typeface="+mj-lt"/>
            </a:endParaRPr>
          </a:p>
        </p:txBody>
      </p:sp>
      <p:sp>
        <p:nvSpPr>
          <p:cNvPr id="21" name="Content Placeholder 9">
            <a:extLst>
              <a:ext uri="{FF2B5EF4-FFF2-40B4-BE49-F238E27FC236}">
                <a16:creationId xmlns:a16="http://schemas.microsoft.com/office/drawing/2014/main" id="{30779695-7302-B6E6-FAA6-13A3CE5C86F0}"/>
              </a:ext>
            </a:extLst>
          </p:cNvPr>
          <p:cNvSpPr txBox="1">
            <a:spLocks/>
          </p:cNvSpPr>
          <p:nvPr/>
        </p:nvSpPr>
        <p:spPr>
          <a:xfrm>
            <a:off x="457200" y="1558412"/>
            <a:ext cx="4494810" cy="4658563"/>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200"/>
              <a:buFont typeface="Arial" panose="020B0604020202020204" pitchFamily="34" charset="0"/>
              <a:buNone/>
            </a:pPr>
            <a:r>
              <a:rPr lang="en-US" sz="1800" dirty="0"/>
              <a:t>Many firms can produce and sell alternative products: </a:t>
            </a:r>
            <a:r>
              <a:rPr lang="en-US" sz="1800" b="1" dirty="0"/>
              <a:t>substitutes in production.</a:t>
            </a:r>
          </a:p>
          <a:p>
            <a:pPr marL="0" indent="0">
              <a:buSzPts val="2200"/>
              <a:buFont typeface="Arial" panose="020B0604020202020204" pitchFamily="34" charset="0"/>
              <a:buNone/>
            </a:pPr>
            <a:r>
              <a:rPr lang="en-US" sz="1800" b="1" dirty="0"/>
              <a:t>Example: An Ontario farmer can plant either corn or soybeans. If the price of soybeans rises, that farmer will plant (supply) less corn.</a:t>
            </a:r>
          </a:p>
          <a:p>
            <a:pPr marL="0" indent="0">
              <a:buSzPts val="2200"/>
              <a:buFont typeface="Arial" panose="020B0604020202020204" pitchFamily="34" charset="0"/>
              <a:buNone/>
            </a:pPr>
            <a:r>
              <a:rPr lang="en-US" sz="1800" dirty="0"/>
              <a:t>Sometimes, two products are necessarily produced together: </a:t>
            </a:r>
            <a:r>
              <a:rPr lang="en-US" sz="1800" b="1" dirty="0"/>
              <a:t>complements in production</a:t>
            </a:r>
          </a:p>
          <a:p>
            <a:pPr marL="0" indent="0">
              <a:buSzPts val="2200"/>
              <a:buFont typeface="Arial" panose="020B0604020202020204" pitchFamily="34" charset="0"/>
              <a:buNone/>
            </a:pPr>
            <a:r>
              <a:rPr lang="en-US" sz="1800" b="1" dirty="0"/>
              <a:t>Example: Cattle provide both beef and leather. An increase in the price of beef encourages more cattle farming, which increases the supply of leather.</a:t>
            </a:r>
          </a:p>
        </p:txBody>
      </p:sp>
      <p:pic>
        <p:nvPicPr>
          <p:cNvPr id="22" name="Content Placeholder 10" descr="On a graph, the X axis represents quantity, and the Y axis represents price. For long description in Notes pane, press F6.">
            <a:extLst>
              <a:ext uri="{FF2B5EF4-FFF2-40B4-BE49-F238E27FC236}">
                <a16:creationId xmlns:a16="http://schemas.microsoft.com/office/drawing/2014/main" id="{BB699D7D-5E68-8166-6322-BC1CB8389D32}"/>
              </a:ext>
            </a:extLst>
          </p:cNvPr>
          <p:cNvPicPr>
            <a:picLocks noChangeAspect="1"/>
          </p:cNvPicPr>
          <p:nvPr/>
        </p:nvPicPr>
        <p:blipFill>
          <a:blip r:embed="rId3"/>
          <a:stretch>
            <a:fillRect/>
          </a:stretch>
        </p:blipFill>
        <p:spPr>
          <a:xfrm>
            <a:off x="5507896" y="1571628"/>
            <a:ext cx="3170195" cy="4566300"/>
          </a:xfrm>
          <a:prstGeom prst="rect">
            <a:avLst/>
          </a:prstGeom>
        </p:spPr>
      </p:pic>
    </p:spTree>
    <p:extLst>
      <p:ext uri="{BB962C8B-B14F-4D97-AF65-F5344CB8AC3E}">
        <p14:creationId xmlns:p14="http://schemas.microsoft.com/office/powerpoint/2010/main" val="27231433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4A43CBB1-78C8-D40F-9546-73B1E2104B66}"/>
              </a:ext>
            </a:extLst>
          </p:cNvPr>
          <p:cNvSpPr>
            <a:spLocks noGrp="1"/>
          </p:cNvSpPr>
          <p:nvPr>
            <p:ph type="title"/>
          </p:nvPr>
        </p:nvSpPr>
        <p:spPr>
          <a:xfrm>
            <a:off x="457200" y="327061"/>
            <a:ext cx="8229600" cy="815939"/>
          </a:xfrm>
        </p:spPr>
        <p:txBody>
          <a:bodyPr>
            <a:normAutofit fontScale="90000"/>
          </a:bodyPr>
          <a:lstStyle/>
          <a:p>
            <a:r>
              <a:rPr lang="en-US" sz="3200" dirty="0">
                <a:latin typeface="+mj-lt"/>
              </a:rPr>
              <a:t>Number of Firms in the Market and Expected Future Prices</a:t>
            </a:r>
            <a:endParaRPr lang="en-IN" sz="3200" dirty="0">
              <a:latin typeface="+mj-lt"/>
            </a:endParaRPr>
          </a:p>
        </p:txBody>
      </p:sp>
      <p:sp>
        <p:nvSpPr>
          <p:cNvPr id="15" name="Content Placeholder 3">
            <a:extLst>
              <a:ext uri="{FF2B5EF4-FFF2-40B4-BE49-F238E27FC236}">
                <a16:creationId xmlns:a16="http://schemas.microsoft.com/office/drawing/2014/main" id="{E60442B0-C7B8-E38F-A01D-7824F3511547}"/>
              </a:ext>
            </a:extLst>
          </p:cNvPr>
          <p:cNvSpPr txBox="1">
            <a:spLocks/>
          </p:cNvSpPr>
          <p:nvPr/>
        </p:nvSpPr>
        <p:spPr>
          <a:xfrm>
            <a:off x="457200" y="1558412"/>
            <a:ext cx="4360460" cy="1689613"/>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400" dirty="0"/>
              <a:t>More firms in the market will result in more product available at a given price (greater supply).</a:t>
            </a:r>
            <a:endParaRPr lang="en-US" sz="2400" b="1" dirty="0"/>
          </a:p>
        </p:txBody>
      </p:sp>
      <p:graphicFrame>
        <p:nvGraphicFramePr>
          <p:cNvPr id="16" name="Object 15" descr="Fewer firms leads to supply decreases.">
            <a:extLst>
              <a:ext uri="{FF2B5EF4-FFF2-40B4-BE49-F238E27FC236}">
                <a16:creationId xmlns:a16="http://schemas.microsoft.com/office/drawing/2014/main" id="{917EA221-2EB7-4461-C8C6-03FC14CD6293}"/>
              </a:ext>
            </a:extLst>
          </p:cNvPr>
          <p:cNvGraphicFramePr>
            <a:graphicFrameLocks noChangeAspect="1"/>
          </p:cNvGraphicFramePr>
          <p:nvPr>
            <p:extLst>
              <p:ext uri="{D42A27DB-BD31-4B8C-83A1-F6EECF244321}">
                <p14:modId xmlns:p14="http://schemas.microsoft.com/office/powerpoint/2010/main" val="848193609"/>
              </p:ext>
            </p:extLst>
          </p:nvPr>
        </p:nvGraphicFramePr>
        <p:xfrm>
          <a:off x="468313" y="3313586"/>
          <a:ext cx="4430018" cy="395980"/>
        </p:xfrm>
        <a:graphic>
          <a:graphicData uri="http://schemas.openxmlformats.org/presentationml/2006/ole">
            <mc:AlternateContent xmlns:mc="http://schemas.openxmlformats.org/markup-compatibility/2006">
              <mc:Choice xmlns:v="urn:schemas-microsoft-com:vml" Requires="v">
                <p:oleObj name="Equation" r:id="rId3" imgW="2273040" imgH="203040" progId="Equation.DSMT4">
                  <p:embed/>
                </p:oleObj>
              </mc:Choice>
              <mc:Fallback>
                <p:oleObj name="Equation" r:id="rId3" imgW="2273040" imgH="203040" progId="Equation.DSMT4">
                  <p:embed/>
                  <p:pic>
                    <p:nvPicPr>
                      <p:cNvPr id="11" name="Object 10" descr="Fewer firms leads to supply decreases."/>
                      <p:cNvPicPr/>
                      <p:nvPr/>
                    </p:nvPicPr>
                    <p:blipFill>
                      <a:blip r:embed="rId4"/>
                      <a:stretch>
                        <a:fillRect/>
                      </a:stretch>
                    </p:blipFill>
                    <p:spPr>
                      <a:xfrm>
                        <a:off x="468313" y="3313586"/>
                        <a:ext cx="4430018" cy="395980"/>
                      </a:xfrm>
                      <a:prstGeom prst="rect">
                        <a:avLst/>
                      </a:prstGeom>
                    </p:spPr>
                  </p:pic>
                </p:oleObj>
              </mc:Fallback>
            </mc:AlternateContent>
          </a:graphicData>
        </a:graphic>
      </p:graphicFrame>
      <p:sp>
        <p:nvSpPr>
          <p:cNvPr id="17" name="Content Placeholder 4">
            <a:extLst>
              <a:ext uri="{FF2B5EF4-FFF2-40B4-BE49-F238E27FC236}">
                <a16:creationId xmlns:a16="http://schemas.microsoft.com/office/drawing/2014/main" id="{1C353136-58DF-057A-DE86-5543DF1BDC61}"/>
              </a:ext>
            </a:extLst>
          </p:cNvPr>
          <p:cNvSpPr txBox="1">
            <a:spLocks/>
          </p:cNvSpPr>
          <p:nvPr/>
        </p:nvSpPr>
        <p:spPr>
          <a:xfrm>
            <a:off x="457201" y="3775127"/>
            <a:ext cx="4150426" cy="2423792"/>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432" indent="0">
              <a:buFont typeface="Arial" panose="020B0604020202020204" pitchFamily="34" charset="0"/>
              <a:buNone/>
            </a:pPr>
            <a:r>
              <a:rPr lang="en-US" sz="2400" dirty="0"/>
              <a:t>If a firm anticipates that the price of its product will be higher in the future, it might decrease its supply today in order to increase it in the future.</a:t>
            </a:r>
          </a:p>
        </p:txBody>
      </p:sp>
      <p:pic>
        <p:nvPicPr>
          <p:cNvPr id="18" name="Content Placeholder 11" descr="On a graph, the X axis represents quantity, and the Y axis represents price. For long description in Notes pane, press F6.">
            <a:extLst>
              <a:ext uri="{FF2B5EF4-FFF2-40B4-BE49-F238E27FC236}">
                <a16:creationId xmlns:a16="http://schemas.microsoft.com/office/drawing/2014/main" id="{8B0E1FE6-33A2-9298-69D3-98B262037D02}"/>
              </a:ext>
            </a:extLst>
          </p:cNvPr>
          <p:cNvPicPr>
            <a:picLocks noChangeAspect="1"/>
          </p:cNvPicPr>
          <p:nvPr/>
        </p:nvPicPr>
        <p:blipFill>
          <a:blip r:embed="rId5"/>
          <a:stretch>
            <a:fillRect/>
          </a:stretch>
        </p:blipFill>
        <p:spPr>
          <a:xfrm>
            <a:off x="5568391" y="1569956"/>
            <a:ext cx="3109229" cy="4505334"/>
          </a:xfrm>
          <a:prstGeom prst="rect">
            <a:avLst/>
          </a:prstGeom>
        </p:spPr>
      </p:pic>
    </p:spTree>
    <p:extLst>
      <p:ext uri="{BB962C8B-B14F-4D97-AF65-F5344CB8AC3E}">
        <p14:creationId xmlns:p14="http://schemas.microsoft.com/office/powerpoint/2010/main" val="3753206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5">
            <a:extLst>
              <a:ext uri="{FF2B5EF4-FFF2-40B4-BE49-F238E27FC236}">
                <a16:creationId xmlns:a16="http://schemas.microsoft.com/office/drawing/2014/main" id="{8FC2B26C-DC0F-A685-141A-1D83D4093F8D}"/>
              </a:ext>
            </a:extLst>
          </p:cNvPr>
          <p:cNvSpPr>
            <a:spLocks noGrp="1"/>
          </p:cNvSpPr>
          <p:nvPr>
            <p:ph type="title"/>
          </p:nvPr>
        </p:nvSpPr>
        <p:spPr/>
        <p:txBody>
          <a:bodyPr/>
          <a:lstStyle/>
          <a:p>
            <a:r>
              <a:rPr lang="en-US" dirty="0">
                <a:latin typeface="+mj-lt"/>
              </a:rPr>
              <a:t>Figure 3.6 A Change in Supply Versus a Change in Quantity Supplied</a:t>
            </a:r>
            <a:endParaRPr lang="en-IN" dirty="0">
              <a:latin typeface="+mj-lt"/>
            </a:endParaRPr>
          </a:p>
        </p:txBody>
      </p:sp>
      <p:sp>
        <p:nvSpPr>
          <p:cNvPr id="18" name="Content Placeholder 2">
            <a:extLst>
              <a:ext uri="{FF2B5EF4-FFF2-40B4-BE49-F238E27FC236}">
                <a16:creationId xmlns:a16="http://schemas.microsoft.com/office/drawing/2014/main" id="{4A281BA2-294D-05B0-AE7E-566BEC42BED9}"/>
              </a:ext>
            </a:extLst>
          </p:cNvPr>
          <p:cNvSpPr txBox="1">
            <a:spLocks/>
          </p:cNvSpPr>
          <p:nvPr/>
        </p:nvSpPr>
        <p:spPr>
          <a:xfrm>
            <a:off x="457200" y="1551941"/>
            <a:ext cx="3581400" cy="4239259"/>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dirty="0">
                <a:latin typeface="+mj-lt"/>
              </a:rPr>
              <a:t>A change in the price of the product being examined causes a movement along the supply curve.</a:t>
            </a:r>
          </a:p>
          <a:p>
            <a:pPr>
              <a:spcBef>
                <a:spcPts val="1000"/>
              </a:spcBef>
            </a:pPr>
            <a:r>
              <a:rPr lang="en-US" sz="2200" dirty="0">
                <a:latin typeface="+mj-lt"/>
              </a:rPr>
              <a:t>This is a</a:t>
            </a:r>
            <a:r>
              <a:rPr lang="en-US" sz="2200" b="1" dirty="0">
                <a:latin typeface="+mj-lt"/>
              </a:rPr>
              <a:t> change in quantity supplied.</a:t>
            </a:r>
          </a:p>
          <a:p>
            <a:pPr marL="0" indent="0">
              <a:spcBef>
                <a:spcPts val="1000"/>
              </a:spcBef>
              <a:buSzPts val="2200"/>
              <a:buFont typeface="Arial" panose="020B0604020202020204" pitchFamily="34" charset="0"/>
              <a:buNone/>
            </a:pPr>
            <a:r>
              <a:rPr lang="en-US" sz="2200" dirty="0">
                <a:latin typeface="+mj-lt"/>
              </a:rPr>
              <a:t>Any other change affecting supply causes the entire supply curve to shift.</a:t>
            </a:r>
          </a:p>
          <a:p>
            <a:pPr>
              <a:spcBef>
                <a:spcPts val="1000"/>
              </a:spcBef>
            </a:pPr>
            <a:r>
              <a:rPr lang="en-US" sz="2200" dirty="0">
                <a:latin typeface="+mj-lt"/>
              </a:rPr>
              <a:t>This is a </a:t>
            </a:r>
            <a:r>
              <a:rPr lang="en-US" sz="2200" b="1" dirty="0">
                <a:latin typeface="+mj-lt"/>
              </a:rPr>
              <a:t>change in supply.</a:t>
            </a:r>
          </a:p>
        </p:txBody>
      </p:sp>
      <p:pic>
        <p:nvPicPr>
          <p:cNvPr id="3" name="Picture 2" descr="The line graph shows the x-axis labelled quantity in millions of pairs of shoes per week, and the y-axis labelled price in dollars per pair of shoes. Two lines labelled supply, S1 and supply, S2 form upward slopes. The line supply, S2 lies towards the right of the line supply, S1. The points marked on the line supply, S1 are A (11, 125) and B (12, 150). An arrow flows from the point A to the point B with a note that reads, a movement along the supply curve is a change in quantity supplied. The point C (14, 150) is marked on the line supply, S2. An arrow flows from the line supply, S1 to the line supply, S2. A note to this point reads, a shift in the supply curve is a change in supply.">
            <a:extLst>
              <a:ext uri="{FF2B5EF4-FFF2-40B4-BE49-F238E27FC236}">
                <a16:creationId xmlns:a16="http://schemas.microsoft.com/office/drawing/2014/main" id="{8AB169C3-8671-70CA-9480-9622C33EA0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2688" y="1587234"/>
            <a:ext cx="4628123" cy="3172459"/>
          </a:xfrm>
          <a:prstGeom prst="rect">
            <a:avLst/>
          </a:prstGeom>
        </p:spPr>
      </p:pic>
    </p:spTree>
    <p:extLst>
      <p:ext uri="{BB962C8B-B14F-4D97-AF65-F5344CB8AC3E}">
        <p14:creationId xmlns:p14="http://schemas.microsoft.com/office/powerpoint/2010/main" val="475730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lstStyle/>
          <a:p>
            <a:r>
              <a:rPr lang="en-IN" dirty="0">
                <a:latin typeface="+mj-lt"/>
              </a:rPr>
              <a:t>Market Equilibrium: Putting Buyers and Seller Together</a:t>
            </a:r>
            <a:endParaRPr lang="en-US" dirty="0">
              <a:latin typeface="+mj-lt"/>
            </a:endParaRPr>
          </a:p>
        </p:txBody>
      </p:sp>
      <p:sp>
        <p:nvSpPr>
          <p:cNvPr id="4" name="Content Placeholder 3"/>
          <p:cNvSpPr>
            <a:spLocks noGrp="1"/>
          </p:cNvSpPr>
          <p:nvPr>
            <p:ph idx="1"/>
          </p:nvPr>
        </p:nvSpPr>
        <p:spPr>
          <a:xfrm>
            <a:off x="457199" y="1524000"/>
            <a:ext cx="8229601" cy="815608"/>
          </a:xfrm>
        </p:spPr>
        <p:txBody>
          <a:bodyPr>
            <a:noAutofit/>
          </a:bodyPr>
          <a:lstStyle/>
          <a:p>
            <a:pPr marL="0" indent="0">
              <a:buNone/>
            </a:pPr>
            <a:r>
              <a:rPr lang="en-US" sz="2400" b="1" dirty="0"/>
              <a:t>3.3 Learning Objective</a:t>
            </a:r>
          </a:p>
          <a:p>
            <a:pPr marL="0" indent="0">
              <a:spcBef>
                <a:spcPts val="600"/>
              </a:spcBef>
              <a:buNone/>
            </a:pPr>
            <a:r>
              <a:rPr lang="en-US" sz="2400" dirty="0"/>
              <a:t>Use a graph to illustrate market equilibrium.</a:t>
            </a:r>
          </a:p>
        </p:txBody>
      </p:sp>
      <p:sp>
        <p:nvSpPr>
          <p:cNvPr id="3" name="Content Placeholder 2">
            <a:extLst>
              <a:ext uri="{FF2B5EF4-FFF2-40B4-BE49-F238E27FC236}">
                <a16:creationId xmlns:a16="http://schemas.microsoft.com/office/drawing/2014/main" id="{474AB226-B6E2-023F-F640-1D69B7BC9479}"/>
              </a:ext>
            </a:extLst>
          </p:cNvPr>
          <p:cNvSpPr txBox="1">
            <a:spLocks/>
          </p:cNvSpPr>
          <p:nvPr/>
        </p:nvSpPr>
        <p:spPr>
          <a:xfrm>
            <a:off x="457200" y="2514599"/>
            <a:ext cx="8229600" cy="3562351"/>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400" b="1" dirty="0"/>
              <a:t>Market equilibrium</a:t>
            </a:r>
            <a:r>
              <a:rPr lang="en-US" sz="2400" dirty="0"/>
              <a:t> is a situation in which quantity demanded equals quantity supplied.</a:t>
            </a:r>
          </a:p>
          <a:p>
            <a:pPr marL="0" indent="0">
              <a:buSzPts val="2200"/>
              <a:buFont typeface="Arial" panose="020B0604020202020204" pitchFamily="34" charset="0"/>
              <a:buNone/>
            </a:pPr>
            <a:r>
              <a:rPr lang="en-US" sz="2400" dirty="0"/>
              <a:t>Recall that markets with many buyers and sellers are perfectly competitive markets; a market equilibrium in one of these markets is called a </a:t>
            </a:r>
            <a:r>
              <a:rPr lang="en-US" sz="2400" b="1" dirty="0"/>
              <a:t>competitive market equilibrium.</a:t>
            </a:r>
          </a:p>
          <a:p>
            <a:pPr marL="0" indent="0">
              <a:buSzPts val="2200"/>
              <a:buFont typeface="Arial" panose="020B0604020202020204" pitchFamily="34" charset="0"/>
              <a:buNone/>
            </a:pPr>
            <a:r>
              <a:rPr lang="en-US" sz="2400" dirty="0"/>
              <a:t>There are ~35 firms selling athletic shoes; we will assume this is enough to generate competitive </a:t>
            </a:r>
            <a:r>
              <a:rPr lang="en-US" sz="2400" dirty="0" err="1"/>
              <a:t>behaviour</a:t>
            </a:r>
            <a:r>
              <a:rPr lang="en-US" sz="2400" dirty="0"/>
              <a:t> in the market for athletic shoes.</a:t>
            </a:r>
          </a:p>
        </p:txBody>
      </p:sp>
    </p:spTree>
    <p:extLst>
      <p:ext uri="{BB962C8B-B14F-4D97-AF65-F5344CB8AC3E}">
        <p14:creationId xmlns:p14="http://schemas.microsoft.com/office/powerpoint/2010/main" val="181647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5">
            <a:extLst>
              <a:ext uri="{FF2B5EF4-FFF2-40B4-BE49-F238E27FC236}">
                <a16:creationId xmlns:a16="http://schemas.microsoft.com/office/drawing/2014/main" id="{F7AF6640-8CC1-4022-A814-3D99CCF78E22}"/>
              </a:ext>
            </a:extLst>
          </p:cNvPr>
          <p:cNvSpPr>
            <a:spLocks noGrp="1"/>
          </p:cNvSpPr>
          <p:nvPr>
            <p:ph type="title"/>
          </p:nvPr>
        </p:nvSpPr>
        <p:spPr>
          <a:xfrm>
            <a:off x="457200" y="215371"/>
            <a:ext cx="8229600" cy="927629"/>
          </a:xfrm>
        </p:spPr>
        <p:txBody>
          <a:bodyPr/>
          <a:lstStyle/>
          <a:p>
            <a:r>
              <a:rPr lang="en-US" dirty="0">
                <a:latin typeface="+mj-lt"/>
              </a:rPr>
              <a:t>Figure 3.7 Market Equilibrium</a:t>
            </a:r>
            <a:endParaRPr lang="en-IN" dirty="0">
              <a:latin typeface="+mj-lt"/>
            </a:endParaRPr>
          </a:p>
        </p:txBody>
      </p:sp>
      <p:sp>
        <p:nvSpPr>
          <p:cNvPr id="18" name="Content Placeholder 2">
            <a:extLst>
              <a:ext uri="{FF2B5EF4-FFF2-40B4-BE49-F238E27FC236}">
                <a16:creationId xmlns:a16="http://schemas.microsoft.com/office/drawing/2014/main" id="{720AFDCE-1962-6253-4A66-8BDC7EC98619}"/>
              </a:ext>
            </a:extLst>
          </p:cNvPr>
          <p:cNvSpPr txBox="1">
            <a:spLocks/>
          </p:cNvSpPr>
          <p:nvPr/>
        </p:nvSpPr>
        <p:spPr>
          <a:xfrm>
            <a:off x="457200" y="1557300"/>
            <a:ext cx="4345038" cy="23289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dirty="0">
                <a:latin typeface="+mj-lt"/>
              </a:rPr>
              <a:t>At a price of $100,</a:t>
            </a:r>
          </a:p>
          <a:p>
            <a:pPr>
              <a:spcBef>
                <a:spcPts val="1000"/>
              </a:spcBef>
            </a:pPr>
            <a:r>
              <a:rPr lang="en-US" sz="2200" dirty="0">
                <a:latin typeface="+mj-lt"/>
              </a:rPr>
              <a:t>consumers want to buy 10 million pairs of shoes per week, and</a:t>
            </a:r>
          </a:p>
          <a:p>
            <a:pPr>
              <a:spcBef>
                <a:spcPts val="1000"/>
              </a:spcBef>
            </a:pPr>
            <a:r>
              <a:rPr lang="en-US" sz="2200" dirty="0">
                <a:latin typeface="+mj-lt"/>
              </a:rPr>
              <a:t>producers want to sell 10 million pairs of shoes per week.</a:t>
            </a:r>
          </a:p>
        </p:txBody>
      </p:sp>
      <p:sp>
        <p:nvSpPr>
          <p:cNvPr id="19" name="Content Placeholder 3">
            <a:extLst>
              <a:ext uri="{FF2B5EF4-FFF2-40B4-BE49-F238E27FC236}">
                <a16:creationId xmlns:a16="http://schemas.microsoft.com/office/drawing/2014/main" id="{40B1F9E0-A868-85BA-7A63-55A76754616D}"/>
              </a:ext>
            </a:extLst>
          </p:cNvPr>
          <p:cNvSpPr txBox="1">
            <a:spLocks/>
          </p:cNvSpPr>
          <p:nvPr/>
        </p:nvSpPr>
        <p:spPr>
          <a:xfrm>
            <a:off x="475487" y="3962400"/>
            <a:ext cx="4345039" cy="23289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000" dirty="0">
                <a:latin typeface="+mj-lt"/>
              </a:rPr>
              <a:t>We say the </a:t>
            </a:r>
            <a:r>
              <a:rPr lang="en-US" sz="2000" b="1" dirty="0">
                <a:latin typeface="+mj-lt"/>
              </a:rPr>
              <a:t>equilibrium price</a:t>
            </a:r>
            <a:r>
              <a:rPr lang="en-US" sz="2000" dirty="0">
                <a:latin typeface="+mj-lt"/>
              </a:rPr>
              <a:t> in this market is $100, and the </a:t>
            </a:r>
            <a:r>
              <a:rPr lang="en-US" sz="2000" b="1" dirty="0">
                <a:latin typeface="+mj-lt"/>
              </a:rPr>
              <a:t>equilibrium quantity </a:t>
            </a:r>
            <a:r>
              <a:rPr lang="en-US" sz="2000" dirty="0">
                <a:latin typeface="+mj-lt"/>
              </a:rPr>
              <a:t>is 10 million pairs of shoes per week.</a:t>
            </a:r>
          </a:p>
          <a:p>
            <a:pPr marL="0" indent="0">
              <a:spcBef>
                <a:spcPts val="1000"/>
              </a:spcBef>
              <a:buSzPts val="2200"/>
              <a:buFont typeface="Arial" panose="020B0604020202020204" pitchFamily="34" charset="0"/>
              <a:buNone/>
            </a:pPr>
            <a:r>
              <a:rPr lang="en-US" sz="2000" dirty="0">
                <a:latin typeface="+mj-lt"/>
              </a:rPr>
              <a:t>Since buyers and sellers want to trade the same quantity at the price of $100, we do not expect the price to change.</a:t>
            </a:r>
          </a:p>
        </p:txBody>
      </p:sp>
      <p:pic>
        <p:nvPicPr>
          <p:cNvPr id="3" name="Picture 2" descr="The line graph with the x-axis labelled quantity in millions of pairs of shoes per week, and the y-axis labelled price in dollars per pair of shoes. A line labelled supply forms an upward slope, and a line labelled demand forms a downward slope. Two lines intersect at a point market equilibrium (10, 100). The point (0, 100) is marked equilibrium price point (10, 0) is marked equilibrium quantity.">
            <a:extLst>
              <a:ext uri="{FF2B5EF4-FFF2-40B4-BE49-F238E27FC236}">
                <a16:creationId xmlns:a16="http://schemas.microsoft.com/office/drawing/2014/main" id="{CEFC0853-64DC-894A-6E2C-2EEC5B59E6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76800" y="1676400"/>
            <a:ext cx="4031471" cy="2916708"/>
          </a:xfrm>
          <a:prstGeom prst="rect">
            <a:avLst/>
          </a:prstGeom>
        </p:spPr>
      </p:pic>
    </p:spTree>
    <p:extLst>
      <p:ext uri="{BB962C8B-B14F-4D97-AF65-F5344CB8AC3E}">
        <p14:creationId xmlns:p14="http://schemas.microsoft.com/office/powerpoint/2010/main" val="4077329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5">
            <a:extLst>
              <a:ext uri="{FF2B5EF4-FFF2-40B4-BE49-F238E27FC236}">
                <a16:creationId xmlns:a16="http://schemas.microsoft.com/office/drawing/2014/main" id="{8112E344-DA37-738B-FB86-69885BC67186}"/>
              </a:ext>
            </a:extLst>
          </p:cNvPr>
          <p:cNvSpPr>
            <a:spLocks noGrp="1"/>
          </p:cNvSpPr>
          <p:nvPr>
            <p:ph type="title"/>
          </p:nvPr>
        </p:nvSpPr>
        <p:spPr/>
        <p:txBody>
          <a:bodyPr/>
          <a:lstStyle/>
          <a:p>
            <a:r>
              <a:rPr lang="en-US" dirty="0">
                <a:latin typeface="+mj-lt"/>
              </a:rPr>
              <a:t>Figure 3.8 The Effect of Surpluses and Shortages on the Market Price</a:t>
            </a:r>
            <a:r>
              <a:rPr lang="en-US" sz="3200" dirty="0">
                <a:latin typeface="+mj-lt"/>
              </a:rPr>
              <a:t> </a:t>
            </a:r>
            <a:r>
              <a:rPr lang="en-US" sz="2000" b="0" dirty="0">
                <a:latin typeface="+mj-lt"/>
              </a:rPr>
              <a:t>(1 of 2)</a:t>
            </a:r>
            <a:endParaRPr lang="en-IN" sz="2000" dirty="0">
              <a:latin typeface="+mj-lt"/>
            </a:endParaRPr>
          </a:p>
        </p:txBody>
      </p:sp>
      <p:sp>
        <p:nvSpPr>
          <p:cNvPr id="19" name="Content Placeholder 2">
            <a:extLst>
              <a:ext uri="{FF2B5EF4-FFF2-40B4-BE49-F238E27FC236}">
                <a16:creationId xmlns:a16="http://schemas.microsoft.com/office/drawing/2014/main" id="{78257B53-5EE2-3466-5E6A-E92335C799ED}"/>
              </a:ext>
            </a:extLst>
          </p:cNvPr>
          <p:cNvSpPr txBox="1">
            <a:spLocks/>
          </p:cNvSpPr>
          <p:nvPr/>
        </p:nvSpPr>
        <p:spPr>
          <a:xfrm>
            <a:off x="457200" y="1555560"/>
            <a:ext cx="3782291" cy="2435156"/>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000"/>
              <a:buFont typeface="Arial" panose="020B0604020202020204" pitchFamily="34" charset="0"/>
              <a:buNone/>
            </a:pPr>
            <a:r>
              <a:rPr lang="en-US" sz="2000" dirty="0">
                <a:latin typeface="+mj-lt"/>
              </a:rPr>
              <a:t>What if the price were $125 instead?</a:t>
            </a:r>
          </a:p>
          <a:p>
            <a:pPr marL="0" indent="0">
              <a:spcBef>
                <a:spcPts val="600"/>
              </a:spcBef>
              <a:buSzPts val="2000"/>
              <a:buFont typeface="Arial" panose="020B0604020202020204" pitchFamily="34" charset="0"/>
              <a:buNone/>
            </a:pPr>
            <a:r>
              <a:rPr lang="en-US" sz="2000" dirty="0">
                <a:latin typeface="+mj-lt"/>
              </a:rPr>
              <a:t>At a price of $125,</a:t>
            </a:r>
          </a:p>
          <a:p>
            <a:pPr>
              <a:spcBef>
                <a:spcPts val="600"/>
              </a:spcBef>
            </a:pPr>
            <a:r>
              <a:rPr lang="en-US" sz="2000" dirty="0">
                <a:latin typeface="+mj-lt"/>
              </a:rPr>
              <a:t>consumers want to buy 9 million pairs of shoes, while</a:t>
            </a:r>
          </a:p>
          <a:p>
            <a:pPr>
              <a:spcBef>
                <a:spcPts val="600"/>
              </a:spcBef>
            </a:pPr>
            <a:r>
              <a:rPr lang="en-US" sz="2000" dirty="0">
                <a:latin typeface="+mj-lt"/>
              </a:rPr>
              <a:t>producers want to sell 11 million pairs.</a:t>
            </a:r>
          </a:p>
        </p:txBody>
      </p:sp>
      <p:sp>
        <p:nvSpPr>
          <p:cNvPr id="20" name="Content Placeholder 3">
            <a:extLst>
              <a:ext uri="{FF2B5EF4-FFF2-40B4-BE49-F238E27FC236}">
                <a16:creationId xmlns:a16="http://schemas.microsoft.com/office/drawing/2014/main" id="{50ABB10A-566B-5A72-BB13-C6B0C97F2DEE}"/>
              </a:ext>
            </a:extLst>
          </p:cNvPr>
          <p:cNvSpPr txBox="1">
            <a:spLocks/>
          </p:cNvSpPr>
          <p:nvPr/>
        </p:nvSpPr>
        <p:spPr>
          <a:xfrm>
            <a:off x="457199" y="3990716"/>
            <a:ext cx="3675413" cy="2312944"/>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000"/>
              <a:buFont typeface="Arial" panose="020B0604020202020204" pitchFamily="34" charset="0"/>
              <a:buNone/>
            </a:pPr>
            <a:r>
              <a:rPr lang="en-US" sz="2000" dirty="0">
                <a:latin typeface="+mj-lt"/>
              </a:rPr>
              <a:t>This gives a </a:t>
            </a:r>
            <a:r>
              <a:rPr lang="en-US" sz="2000" b="1" dirty="0">
                <a:latin typeface="+mj-lt"/>
              </a:rPr>
              <a:t>surplus</a:t>
            </a:r>
            <a:r>
              <a:rPr lang="en-US" sz="2000" dirty="0">
                <a:latin typeface="+mj-lt"/>
              </a:rPr>
              <a:t> of 2 million pairs; a situation in which quantity supplied is greater than quantity demanded.</a:t>
            </a:r>
          </a:p>
          <a:p>
            <a:pPr marL="0" indent="0">
              <a:buSzPts val="2000"/>
              <a:buFont typeface="Arial" panose="020B0604020202020204" pitchFamily="34" charset="0"/>
              <a:buNone/>
            </a:pPr>
            <a:r>
              <a:rPr lang="en-US" sz="2000" dirty="0">
                <a:latin typeface="+mj-lt"/>
              </a:rPr>
              <a:t>Prediction: Sellers will compete among themselves, driving the price down.</a:t>
            </a:r>
          </a:p>
        </p:txBody>
      </p:sp>
      <p:pic>
        <p:nvPicPr>
          <p:cNvPr id="3" name="Picture 2" descr="The line graph with the x-axis labelled quantity in millions of pairs of shoes per week, and the y-axis labelled price in dollars per pair of shoes. A line labelled supply forms an upward slope with the points (8, 50) and (11, 125) marked on it. A line labelled demand forms a downward slope with the points (9, 125) and (12, 50) marked on it. The two lines intersect each other at (10, 100). The horizontal distance between the points (9, 125) and (11, 125) reads, surplus of 40 million bottles resulting from price above equilibrium. The horizontal distance between the points (8, 50) and (12, 50) reads, shortage of 60 million bottles resulting from price below equilibrium.">
            <a:extLst>
              <a:ext uri="{FF2B5EF4-FFF2-40B4-BE49-F238E27FC236}">
                <a16:creationId xmlns:a16="http://schemas.microsoft.com/office/drawing/2014/main" id="{AA5F391B-F6BB-BF1C-9CD2-3F61D6D703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9600" y="1676400"/>
            <a:ext cx="4354265" cy="3056933"/>
          </a:xfrm>
          <a:prstGeom prst="rect">
            <a:avLst/>
          </a:prstGeom>
        </p:spPr>
      </p:pic>
    </p:spTree>
    <p:extLst>
      <p:ext uri="{BB962C8B-B14F-4D97-AF65-F5344CB8AC3E}">
        <p14:creationId xmlns:p14="http://schemas.microsoft.com/office/powerpoint/2010/main" val="38683376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itle 5">
            <a:extLst>
              <a:ext uri="{FF2B5EF4-FFF2-40B4-BE49-F238E27FC236}">
                <a16:creationId xmlns:a16="http://schemas.microsoft.com/office/drawing/2014/main" id="{FD5B5B98-7892-EA48-C75C-AA23300B505C}"/>
              </a:ext>
            </a:extLst>
          </p:cNvPr>
          <p:cNvSpPr>
            <a:spLocks noGrp="1"/>
          </p:cNvSpPr>
          <p:nvPr>
            <p:ph type="title"/>
          </p:nvPr>
        </p:nvSpPr>
        <p:spPr/>
        <p:txBody>
          <a:bodyPr/>
          <a:lstStyle/>
          <a:p>
            <a:r>
              <a:rPr lang="en-US" dirty="0">
                <a:latin typeface="+mj-lt"/>
              </a:rPr>
              <a:t>Figure 3.8 The Effect of Surpluses and Shortages on the Market Price</a:t>
            </a:r>
            <a:r>
              <a:rPr lang="en-US" sz="3200" dirty="0">
                <a:latin typeface="+mj-lt"/>
              </a:rPr>
              <a:t> </a:t>
            </a:r>
            <a:r>
              <a:rPr lang="en-US" sz="2000" b="0" dirty="0">
                <a:latin typeface="+mj-lt"/>
              </a:rPr>
              <a:t>(2 of 2)</a:t>
            </a:r>
            <a:endParaRPr lang="en-IN" sz="2000" dirty="0">
              <a:latin typeface="+mj-lt"/>
            </a:endParaRPr>
          </a:p>
        </p:txBody>
      </p:sp>
      <p:sp>
        <p:nvSpPr>
          <p:cNvPr id="18" name="Content Placeholder 2">
            <a:extLst>
              <a:ext uri="{FF2B5EF4-FFF2-40B4-BE49-F238E27FC236}">
                <a16:creationId xmlns:a16="http://schemas.microsoft.com/office/drawing/2014/main" id="{6B9AF594-306C-6429-CB2D-91118195B91E}"/>
              </a:ext>
            </a:extLst>
          </p:cNvPr>
          <p:cNvSpPr txBox="1">
            <a:spLocks/>
          </p:cNvSpPr>
          <p:nvPr/>
        </p:nvSpPr>
        <p:spPr>
          <a:xfrm>
            <a:off x="457200" y="1557339"/>
            <a:ext cx="3809999" cy="1871662"/>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000"/>
              <a:buFont typeface="Arial" panose="020B0604020202020204" pitchFamily="34" charset="0"/>
              <a:buNone/>
            </a:pPr>
            <a:r>
              <a:rPr lang="en-US" sz="2000" dirty="0">
                <a:latin typeface="+mj-lt"/>
              </a:rPr>
              <a:t>Now what if the price were $50?</a:t>
            </a:r>
          </a:p>
          <a:p>
            <a:pPr marL="0" indent="0">
              <a:spcBef>
                <a:spcPts val="600"/>
              </a:spcBef>
              <a:buSzPts val="2000"/>
              <a:buFont typeface="Arial" panose="020B0604020202020204" pitchFamily="34" charset="0"/>
              <a:buNone/>
            </a:pPr>
            <a:r>
              <a:rPr lang="en-US" sz="2000" dirty="0">
                <a:latin typeface="+mj-lt"/>
              </a:rPr>
              <a:t>At a price of $50,</a:t>
            </a:r>
          </a:p>
          <a:p>
            <a:pPr>
              <a:spcBef>
                <a:spcPts val="600"/>
              </a:spcBef>
            </a:pPr>
            <a:r>
              <a:rPr lang="en-US" sz="2000" dirty="0">
                <a:latin typeface="+mj-lt"/>
              </a:rPr>
              <a:t>consumers want to buy 12 million pairs of shoes, while</a:t>
            </a:r>
          </a:p>
          <a:p>
            <a:pPr>
              <a:spcBef>
                <a:spcPts val="600"/>
              </a:spcBef>
            </a:pPr>
            <a:r>
              <a:rPr lang="en-US" sz="2000" dirty="0">
                <a:latin typeface="+mj-lt"/>
              </a:rPr>
              <a:t>producers want to sell 8 million.</a:t>
            </a:r>
          </a:p>
        </p:txBody>
      </p:sp>
      <p:sp>
        <p:nvSpPr>
          <p:cNvPr id="19" name="Content Placeholder 3">
            <a:extLst>
              <a:ext uri="{FF2B5EF4-FFF2-40B4-BE49-F238E27FC236}">
                <a16:creationId xmlns:a16="http://schemas.microsoft.com/office/drawing/2014/main" id="{9193AE8F-A2C1-05F1-D2F7-BCD58D981D1B}"/>
              </a:ext>
            </a:extLst>
          </p:cNvPr>
          <p:cNvSpPr txBox="1">
            <a:spLocks/>
          </p:cNvSpPr>
          <p:nvPr/>
        </p:nvSpPr>
        <p:spPr>
          <a:xfrm>
            <a:off x="457199" y="3533516"/>
            <a:ext cx="3866275" cy="2714884"/>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buSzPts val="2000"/>
              <a:buFont typeface="Arial" panose="020B0604020202020204" pitchFamily="34" charset="0"/>
              <a:buNone/>
            </a:pPr>
            <a:r>
              <a:rPr lang="en-US" sz="2000" dirty="0">
                <a:latin typeface="+mj-lt"/>
              </a:rPr>
              <a:t>This gives a </a:t>
            </a:r>
            <a:r>
              <a:rPr lang="en-US" sz="2000" b="1" dirty="0">
                <a:latin typeface="+mj-lt"/>
              </a:rPr>
              <a:t>shortage </a:t>
            </a:r>
            <a:r>
              <a:rPr lang="en-US" sz="2000" dirty="0">
                <a:latin typeface="+mj-lt"/>
              </a:rPr>
              <a:t>of 4 million pairs of shoes; a situation in which quantity demanded is greater than quantity supplied.</a:t>
            </a:r>
          </a:p>
          <a:p>
            <a:pPr marL="0" indent="0">
              <a:buSzPts val="2000"/>
              <a:buFont typeface="Arial" panose="020B0604020202020204" pitchFamily="34" charset="0"/>
              <a:buNone/>
            </a:pPr>
            <a:r>
              <a:rPr lang="en-US" sz="2000" dirty="0">
                <a:latin typeface="+mj-lt"/>
              </a:rPr>
              <a:t>Prediction: Sellers will realize they can increase the price and still sell as many pairs of shoes, so the price will rise.</a:t>
            </a:r>
          </a:p>
        </p:txBody>
      </p:sp>
      <p:pic>
        <p:nvPicPr>
          <p:cNvPr id="2" name="Picture 1" descr="The line graph with the x-axis labelled quantity in millions of pairs of shoes per week, and the y-axis labelled price in dollars per pair of shoes. A line labelled supply forms an upward slope with the points (8, 50) and (11, 125) marked on it. A line labelled demand forms a downward slope with the points (9, 125) and (12, 50) marked on it. The two lines intersect each other at (10, 100). The horizontal distance between the points (9, 125) and (11, 125) reads, surplus of 40 million bottles resulting from price above equilibrium. The horizontal distance between the points (8, 50) and (12, 50) reads, shortage of 60 million bottles resulting from price below equilibrium.">
            <a:extLst>
              <a:ext uri="{FF2B5EF4-FFF2-40B4-BE49-F238E27FC236}">
                <a16:creationId xmlns:a16="http://schemas.microsoft.com/office/drawing/2014/main" id="{86E88C72-3E06-7457-5617-C67DADE116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1676400"/>
            <a:ext cx="4354265" cy="3056933"/>
          </a:xfrm>
          <a:prstGeom prst="rect">
            <a:avLst/>
          </a:prstGeom>
        </p:spPr>
      </p:pic>
    </p:spTree>
    <p:extLst>
      <p:ext uri="{BB962C8B-B14F-4D97-AF65-F5344CB8AC3E}">
        <p14:creationId xmlns:p14="http://schemas.microsoft.com/office/powerpoint/2010/main" val="1095405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6C8CE280-998D-4B8B-62DA-A5BC9E0E57D4}"/>
              </a:ext>
            </a:extLst>
          </p:cNvPr>
          <p:cNvSpPr>
            <a:spLocks noGrp="1"/>
          </p:cNvSpPr>
          <p:nvPr>
            <p:ph type="title"/>
          </p:nvPr>
        </p:nvSpPr>
        <p:spPr/>
        <p:txBody>
          <a:bodyPr/>
          <a:lstStyle/>
          <a:p>
            <a:r>
              <a:rPr lang="en-US" dirty="0">
                <a:latin typeface="+mj-lt"/>
              </a:rPr>
              <a:t>Demand and Supply Both Count</a:t>
            </a:r>
            <a:endParaRPr lang="en-IN" dirty="0">
              <a:latin typeface="+mj-lt"/>
            </a:endParaRPr>
          </a:p>
        </p:txBody>
      </p:sp>
      <p:sp>
        <p:nvSpPr>
          <p:cNvPr id="2" name="Content Placeholder 1">
            <a:extLst>
              <a:ext uri="{FF2B5EF4-FFF2-40B4-BE49-F238E27FC236}">
                <a16:creationId xmlns:a16="http://schemas.microsoft.com/office/drawing/2014/main" id="{509A2A02-F8AB-433E-E0F3-0238D1D8A1FE}"/>
              </a:ext>
            </a:extLst>
          </p:cNvPr>
          <p:cNvSpPr>
            <a:spLocks noGrp="1"/>
          </p:cNvSpPr>
          <p:nvPr>
            <p:ph idx="1"/>
          </p:nvPr>
        </p:nvSpPr>
        <p:spPr/>
        <p:txBody>
          <a:bodyPr/>
          <a:lstStyle/>
          <a:p>
            <a:pPr marL="0" indent="0">
              <a:spcBef>
                <a:spcPts val="600"/>
              </a:spcBef>
              <a:buSzPts val="2200"/>
              <a:buFont typeface="Arial" panose="020B0604020202020204" pitchFamily="34" charset="0"/>
              <a:buNone/>
            </a:pPr>
            <a:r>
              <a:rPr lang="en-US" dirty="0"/>
              <a:t>Price is determined by the </a:t>
            </a:r>
            <a:r>
              <a:rPr lang="en-US" b="1" dirty="0"/>
              <a:t>interaction</a:t>
            </a:r>
            <a:r>
              <a:rPr lang="en-US" dirty="0"/>
              <a:t> of buyers and sellers.</a:t>
            </a:r>
          </a:p>
          <a:p>
            <a:pPr marL="0" indent="0">
              <a:spcBef>
                <a:spcPts val="600"/>
              </a:spcBef>
              <a:buSzPts val="2200"/>
              <a:buFont typeface="Arial" panose="020B0604020202020204" pitchFamily="34" charset="0"/>
              <a:buNone/>
            </a:pPr>
            <a:r>
              <a:rPr lang="en-US" dirty="0"/>
              <a:t>Neither group can dictate price in a competitive market (i.e. one with many buyers and sellers).</a:t>
            </a:r>
          </a:p>
          <a:p>
            <a:pPr marL="0" indent="0">
              <a:spcBef>
                <a:spcPts val="600"/>
              </a:spcBef>
              <a:buSzPts val="2200"/>
              <a:buFont typeface="Arial" panose="020B0604020202020204" pitchFamily="34" charset="0"/>
              <a:buNone/>
            </a:pPr>
            <a:r>
              <a:rPr lang="en-US" dirty="0"/>
              <a:t>However, </a:t>
            </a:r>
            <a:r>
              <a:rPr lang="en-US" b="1" dirty="0"/>
              <a:t>changes in supply and/or demand </a:t>
            </a:r>
            <a:r>
              <a:rPr lang="en-US" dirty="0"/>
              <a:t>will affect the price and quantity traded.</a:t>
            </a:r>
          </a:p>
        </p:txBody>
      </p:sp>
    </p:spTree>
    <p:extLst>
      <p:ext uri="{BB962C8B-B14F-4D97-AF65-F5344CB8AC3E}">
        <p14:creationId xmlns:p14="http://schemas.microsoft.com/office/powerpoint/2010/main" val="3638630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B9E60C-4951-D0B7-650B-69E635992589}"/>
              </a:ext>
            </a:extLst>
          </p:cNvPr>
          <p:cNvSpPr>
            <a:spLocks noGrp="1"/>
          </p:cNvSpPr>
          <p:nvPr>
            <p:ph type="title"/>
          </p:nvPr>
        </p:nvSpPr>
        <p:spPr>
          <a:xfrm>
            <a:off x="457200" y="215372"/>
            <a:ext cx="8229600" cy="1003828"/>
          </a:xfrm>
        </p:spPr>
        <p:txBody>
          <a:bodyPr/>
          <a:lstStyle/>
          <a:p>
            <a:r>
              <a:rPr lang="en-US" dirty="0">
                <a:latin typeface="+mj-lt"/>
              </a:rPr>
              <a:t>The Effect of Demand and Supply Shifts on Equilibrium</a:t>
            </a:r>
            <a:endParaRPr lang="en-IN" dirty="0">
              <a:latin typeface="+mj-lt"/>
            </a:endParaRPr>
          </a:p>
        </p:txBody>
      </p:sp>
      <p:sp>
        <p:nvSpPr>
          <p:cNvPr id="2" name="Text Placeholder 1">
            <a:extLst>
              <a:ext uri="{FF2B5EF4-FFF2-40B4-BE49-F238E27FC236}">
                <a16:creationId xmlns:a16="http://schemas.microsoft.com/office/drawing/2014/main" id="{A1879908-74BC-6A15-8F61-6F2555D4BFCF}"/>
              </a:ext>
            </a:extLst>
          </p:cNvPr>
          <p:cNvSpPr>
            <a:spLocks noGrp="1"/>
          </p:cNvSpPr>
          <p:nvPr>
            <p:ph type="body" sz="quarter" idx="13"/>
          </p:nvPr>
        </p:nvSpPr>
        <p:spPr>
          <a:xfrm>
            <a:off x="468429" y="1371600"/>
            <a:ext cx="8229600" cy="402770"/>
          </a:xfrm>
        </p:spPr>
        <p:txBody>
          <a:bodyPr/>
          <a:lstStyle/>
          <a:p>
            <a:r>
              <a:rPr lang="en-US" sz="2600" b="1" dirty="0">
                <a:solidFill>
                  <a:schemeClr val="tx1"/>
                </a:solidFill>
              </a:rPr>
              <a:t>3.4 Learning Objective</a:t>
            </a:r>
          </a:p>
        </p:txBody>
      </p:sp>
      <p:sp>
        <p:nvSpPr>
          <p:cNvPr id="4" name="Content Placeholder 3"/>
          <p:cNvSpPr>
            <a:spLocks noGrp="1"/>
          </p:cNvSpPr>
          <p:nvPr>
            <p:ph sz="quarter" idx="14"/>
          </p:nvPr>
        </p:nvSpPr>
        <p:spPr>
          <a:xfrm>
            <a:off x="457200" y="1828800"/>
            <a:ext cx="8229600" cy="4297363"/>
          </a:xfrm>
        </p:spPr>
        <p:txBody>
          <a:bodyPr>
            <a:noAutofit/>
          </a:bodyPr>
          <a:lstStyle/>
          <a:p>
            <a:pPr marL="0" indent="0">
              <a:spcBef>
                <a:spcPts val="600"/>
              </a:spcBef>
              <a:buNone/>
            </a:pPr>
            <a:r>
              <a:rPr lang="en-IN" sz="2600" dirty="0"/>
              <a:t>Use demand and supply graphs to predict changes in prices and quantities.</a:t>
            </a:r>
          </a:p>
          <a:p>
            <a:pPr marL="0" indent="0">
              <a:spcBef>
                <a:spcPts val="1000"/>
              </a:spcBef>
              <a:buSzPts val="2200"/>
              <a:buFont typeface="Arial" panose="020B0604020202020204" pitchFamily="34" charset="0"/>
              <a:buNone/>
            </a:pPr>
            <a:r>
              <a:rPr lang="en-US" sz="2600" dirty="0"/>
              <a:t>Predictions about price and quantity in our model require us to know demand and supply curves.</a:t>
            </a:r>
          </a:p>
          <a:p>
            <a:r>
              <a:rPr lang="en-US" sz="2600" dirty="0"/>
              <a:t>Typically, we know price and quantity but </a:t>
            </a:r>
            <a:r>
              <a:rPr lang="en-US" sz="2600" b="1" dirty="0"/>
              <a:t>do not know </a:t>
            </a:r>
            <a:r>
              <a:rPr lang="en-US" sz="2600" dirty="0"/>
              <a:t>the curves that generate them.</a:t>
            </a:r>
          </a:p>
          <a:p>
            <a:pPr marL="0" indent="0">
              <a:buNone/>
            </a:pPr>
            <a:r>
              <a:rPr lang="en-US" sz="2600" dirty="0"/>
              <a:t>The power of the demand and supply model is in its ability to predict </a:t>
            </a:r>
            <a:r>
              <a:rPr lang="en-US" sz="2600" i="1" dirty="0"/>
              <a:t>directional</a:t>
            </a:r>
            <a:r>
              <a:rPr lang="en-US" sz="2600" dirty="0"/>
              <a:t> </a:t>
            </a:r>
            <a:r>
              <a:rPr lang="en-US" sz="2600" i="1" dirty="0"/>
              <a:t>changes</a:t>
            </a:r>
            <a:r>
              <a:rPr lang="en-US" sz="2600" dirty="0"/>
              <a:t> in price and quantity traded.</a:t>
            </a:r>
          </a:p>
        </p:txBody>
      </p:sp>
    </p:spTree>
    <p:extLst>
      <p:ext uri="{BB962C8B-B14F-4D97-AF65-F5344CB8AC3E}">
        <p14:creationId xmlns:p14="http://schemas.microsoft.com/office/powerpoint/2010/main" val="2091598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4C18137C-A5F7-0512-4880-09D17B7CF3BE}"/>
              </a:ext>
            </a:extLst>
          </p:cNvPr>
          <p:cNvSpPr>
            <a:spLocks noGrp="1"/>
          </p:cNvSpPr>
          <p:nvPr>
            <p:ph type="title"/>
          </p:nvPr>
        </p:nvSpPr>
        <p:spPr/>
        <p:txBody>
          <a:bodyPr/>
          <a:lstStyle/>
          <a:p>
            <a:r>
              <a:rPr lang="en-US" dirty="0">
                <a:latin typeface="+mj-lt"/>
              </a:rPr>
              <a:t>Figure 3.9 The Effect of an Increase in Supply on Equilibrium</a:t>
            </a:r>
            <a:r>
              <a:rPr lang="en-US" sz="3200" dirty="0">
                <a:latin typeface="+mj-lt"/>
              </a:rPr>
              <a:t> </a:t>
            </a:r>
            <a:r>
              <a:rPr lang="en-US" sz="2000" b="0" dirty="0">
                <a:latin typeface="+mj-lt"/>
              </a:rPr>
              <a:t>(1 of 2)</a:t>
            </a:r>
            <a:endParaRPr lang="en-IN" sz="2000" dirty="0">
              <a:latin typeface="+mj-lt"/>
            </a:endParaRPr>
          </a:p>
        </p:txBody>
      </p:sp>
      <p:sp>
        <p:nvSpPr>
          <p:cNvPr id="15" name="Content Placeholder 1">
            <a:extLst>
              <a:ext uri="{FF2B5EF4-FFF2-40B4-BE49-F238E27FC236}">
                <a16:creationId xmlns:a16="http://schemas.microsoft.com/office/drawing/2014/main" id="{4E2AE087-E48A-CFC5-F7A8-3D0A352BEB5C}"/>
              </a:ext>
            </a:extLst>
          </p:cNvPr>
          <p:cNvSpPr txBox="1">
            <a:spLocks/>
          </p:cNvSpPr>
          <p:nvPr/>
        </p:nvSpPr>
        <p:spPr>
          <a:xfrm>
            <a:off x="457201" y="1552574"/>
            <a:ext cx="3657599" cy="266858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buSzPts val="2200"/>
              <a:buFont typeface="Arial" panose="020B0604020202020204" pitchFamily="34" charset="0"/>
              <a:buNone/>
            </a:pPr>
            <a:r>
              <a:rPr lang="en-US" sz="2000" dirty="0"/>
              <a:t>The graph shows the market for athletic shoes as a new shoemaker, </a:t>
            </a:r>
            <a:r>
              <a:rPr lang="en-US" sz="2000" dirty="0" err="1"/>
              <a:t>Allbirds</a:t>
            </a:r>
            <a:r>
              <a:rPr lang="en-US" sz="2000" dirty="0"/>
              <a:t>, enters the market.</a:t>
            </a:r>
          </a:p>
          <a:p>
            <a:pPr marL="0" indent="0">
              <a:buSzPts val="2200"/>
              <a:buFont typeface="Arial" panose="020B0604020202020204" pitchFamily="34" charset="0"/>
              <a:buNone/>
            </a:pPr>
            <a:r>
              <a:rPr lang="en-US" sz="2000" dirty="0"/>
              <a:t>When </a:t>
            </a:r>
            <a:r>
              <a:rPr lang="en-US" sz="2000" dirty="0" err="1"/>
              <a:t>Allbirds</a:t>
            </a:r>
            <a:r>
              <a:rPr lang="en-US" sz="2000" dirty="0"/>
              <a:t> enters, more shoes are supplied at any given price—an increase in supply from</a:t>
            </a:r>
            <a:endParaRPr lang="en-IN" sz="2000" dirty="0"/>
          </a:p>
        </p:txBody>
      </p:sp>
      <p:graphicFrame>
        <p:nvGraphicFramePr>
          <p:cNvPr id="16" name="Object 15" descr=" S sub 1 to S sub 2. ">
            <a:extLst>
              <a:ext uri="{FF2B5EF4-FFF2-40B4-BE49-F238E27FC236}">
                <a16:creationId xmlns:a16="http://schemas.microsoft.com/office/drawing/2014/main" id="{3B6D9BD1-8E76-FC21-065D-5A1E91D6662E}"/>
              </a:ext>
            </a:extLst>
          </p:cNvPr>
          <p:cNvGraphicFramePr>
            <a:graphicFrameLocks noChangeAspect="1"/>
          </p:cNvGraphicFramePr>
          <p:nvPr>
            <p:extLst>
              <p:ext uri="{D42A27DB-BD31-4B8C-83A1-F6EECF244321}">
                <p14:modId xmlns:p14="http://schemas.microsoft.com/office/powerpoint/2010/main" val="17235740"/>
              </p:ext>
            </p:extLst>
          </p:nvPr>
        </p:nvGraphicFramePr>
        <p:xfrm>
          <a:off x="1014413" y="3886200"/>
          <a:ext cx="890587" cy="334962"/>
        </p:xfrm>
        <a:graphic>
          <a:graphicData uri="http://schemas.openxmlformats.org/presentationml/2006/ole">
            <mc:AlternateContent xmlns:mc="http://schemas.openxmlformats.org/markup-compatibility/2006">
              <mc:Choice xmlns:v="urn:schemas-microsoft-com:vml" Requires="v">
                <p:oleObj name="Equation" r:id="rId3" imgW="609480" imgH="228600" progId="Equation.DSMT4">
                  <p:embed/>
                </p:oleObj>
              </mc:Choice>
              <mc:Fallback>
                <p:oleObj name="Equation" r:id="rId3" imgW="609480" imgH="228600" progId="Equation.DSMT4">
                  <p:embed/>
                  <p:pic>
                    <p:nvPicPr>
                      <p:cNvPr id="18" name="Object 17" descr=" S sub 1 to S sub 2. "/>
                      <p:cNvPicPr/>
                      <p:nvPr/>
                    </p:nvPicPr>
                    <p:blipFill>
                      <a:blip r:embed="rId4"/>
                      <a:stretch>
                        <a:fillRect/>
                      </a:stretch>
                    </p:blipFill>
                    <p:spPr>
                      <a:xfrm>
                        <a:off x="1014413" y="3886200"/>
                        <a:ext cx="890587" cy="334962"/>
                      </a:xfrm>
                      <a:prstGeom prst="rect">
                        <a:avLst/>
                      </a:prstGeom>
                    </p:spPr>
                  </p:pic>
                </p:oleObj>
              </mc:Fallback>
            </mc:AlternateContent>
          </a:graphicData>
        </a:graphic>
      </p:graphicFrame>
      <p:sp>
        <p:nvSpPr>
          <p:cNvPr id="17" name="Content Placeholder 2">
            <a:extLst>
              <a:ext uri="{FF2B5EF4-FFF2-40B4-BE49-F238E27FC236}">
                <a16:creationId xmlns:a16="http://schemas.microsoft.com/office/drawing/2014/main" id="{DA577958-1188-507F-AC8B-50C2B26B3EFA}"/>
              </a:ext>
            </a:extLst>
          </p:cNvPr>
          <p:cNvSpPr txBox="1">
            <a:spLocks/>
          </p:cNvSpPr>
          <p:nvPr/>
        </p:nvSpPr>
        <p:spPr>
          <a:xfrm>
            <a:off x="457200" y="4419600"/>
            <a:ext cx="3380874" cy="36300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r>
              <a:rPr lang="en-US" sz="2000" dirty="0"/>
              <a:t>Equilibrium price falls from</a:t>
            </a:r>
            <a:endParaRPr lang="en-IN" sz="2000" dirty="0"/>
          </a:p>
        </p:txBody>
      </p:sp>
      <p:graphicFrame>
        <p:nvGraphicFramePr>
          <p:cNvPr id="18" name="Object 17" descr=" P sub 1 to P sub 2 ">
            <a:extLst>
              <a:ext uri="{FF2B5EF4-FFF2-40B4-BE49-F238E27FC236}">
                <a16:creationId xmlns:a16="http://schemas.microsoft.com/office/drawing/2014/main" id="{252C21D4-4AC9-9A81-1301-C07FDC317135}"/>
              </a:ext>
            </a:extLst>
          </p:cNvPr>
          <p:cNvGraphicFramePr>
            <a:graphicFrameLocks noChangeAspect="1"/>
          </p:cNvGraphicFramePr>
          <p:nvPr>
            <p:extLst>
              <p:ext uri="{D42A27DB-BD31-4B8C-83A1-F6EECF244321}">
                <p14:modId xmlns:p14="http://schemas.microsoft.com/office/powerpoint/2010/main" val="2784993780"/>
              </p:ext>
            </p:extLst>
          </p:nvPr>
        </p:nvGraphicFramePr>
        <p:xfrm>
          <a:off x="757238" y="4899025"/>
          <a:ext cx="852487" cy="341313"/>
        </p:xfrm>
        <a:graphic>
          <a:graphicData uri="http://schemas.openxmlformats.org/presentationml/2006/ole">
            <mc:AlternateContent xmlns:mc="http://schemas.openxmlformats.org/markup-compatibility/2006">
              <mc:Choice xmlns:v="urn:schemas-microsoft-com:vml" Requires="v">
                <p:oleObj name="Equation" r:id="rId5" imgW="571320" imgH="228600" progId="Equation.DSMT4">
                  <p:embed/>
                </p:oleObj>
              </mc:Choice>
              <mc:Fallback>
                <p:oleObj name="Equation" r:id="rId5" imgW="571320" imgH="228600" progId="Equation.DSMT4">
                  <p:embed/>
                  <p:pic>
                    <p:nvPicPr>
                      <p:cNvPr id="19" name="Object 18" descr=" P sub 1 to P sub 2 "/>
                      <p:cNvPicPr/>
                      <p:nvPr/>
                    </p:nvPicPr>
                    <p:blipFill>
                      <a:blip r:embed="rId6"/>
                      <a:stretch>
                        <a:fillRect/>
                      </a:stretch>
                    </p:blipFill>
                    <p:spPr>
                      <a:xfrm>
                        <a:off x="757238" y="4899025"/>
                        <a:ext cx="852487" cy="341313"/>
                      </a:xfrm>
                      <a:prstGeom prst="rect">
                        <a:avLst/>
                      </a:prstGeom>
                    </p:spPr>
                  </p:pic>
                </p:oleObj>
              </mc:Fallback>
            </mc:AlternateContent>
          </a:graphicData>
        </a:graphic>
      </p:graphicFrame>
      <p:sp>
        <p:nvSpPr>
          <p:cNvPr id="19" name="Content Placeholder 3">
            <a:extLst>
              <a:ext uri="{FF2B5EF4-FFF2-40B4-BE49-F238E27FC236}">
                <a16:creationId xmlns:a16="http://schemas.microsoft.com/office/drawing/2014/main" id="{44C6F946-7841-BAF8-514C-B6CF699E5C45}"/>
              </a:ext>
            </a:extLst>
          </p:cNvPr>
          <p:cNvSpPr txBox="1">
            <a:spLocks/>
          </p:cNvSpPr>
          <p:nvPr/>
        </p:nvSpPr>
        <p:spPr>
          <a:xfrm>
            <a:off x="457200" y="5322322"/>
            <a:ext cx="3224463" cy="368616"/>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r>
              <a:rPr lang="en-US" sz="2000" dirty="0"/>
              <a:t>Equilibrium quantity rises</a:t>
            </a:r>
            <a:endParaRPr lang="en-IN" sz="2000" dirty="0"/>
          </a:p>
        </p:txBody>
      </p:sp>
      <p:graphicFrame>
        <p:nvGraphicFramePr>
          <p:cNvPr id="20" name="Object 19" descr=" Q sub 1 to Q sub 2">
            <a:extLst>
              <a:ext uri="{FF2B5EF4-FFF2-40B4-BE49-F238E27FC236}">
                <a16:creationId xmlns:a16="http://schemas.microsoft.com/office/drawing/2014/main" id="{38EF9FAF-37D4-DE39-EBD1-21CDBB3142EA}"/>
              </a:ext>
            </a:extLst>
          </p:cNvPr>
          <p:cNvGraphicFramePr>
            <a:graphicFrameLocks noChangeAspect="1"/>
          </p:cNvGraphicFramePr>
          <p:nvPr>
            <p:extLst>
              <p:ext uri="{D42A27DB-BD31-4B8C-83A1-F6EECF244321}">
                <p14:modId xmlns:p14="http://schemas.microsoft.com/office/powerpoint/2010/main" val="3989387361"/>
              </p:ext>
            </p:extLst>
          </p:nvPr>
        </p:nvGraphicFramePr>
        <p:xfrm>
          <a:off x="757238" y="5746750"/>
          <a:ext cx="908050" cy="341313"/>
        </p:xfrm>
        <a:graphic>
          <a:graphicData uri="http://schemas.openxmlformats.org/presentationml/2006/ole">
            <mc:AlternateContent xmlns:mc="http://schemas.openxmlformats.org/markup-compatibility/2006">
              <mc:Choice xmlns:v="urn:schemas-microsoft-com:vml" Requires="v">
                <p:oleObj name="Equation" r:id="rId7" imgW="609480" imgH="228600" progId="Equation.DSMT4">
                  <p:embed/>
                </p:oleObj>
              </mc:Choice>
              <mc:Fallback>
                <p:oleObj name="Equation" r:id="rId7" imgW="609480" imgH="228600" progId="Equation.DSMT4">
                  <p:embed/>
                  <p:pic>
                    <p:nvPicPr>
                      <p:cNvPr id="20" name="Object 19" descr=" Q sub 1 to Q sub 2"/>
                      <p:cNvPicPr/>
                      <p:nvPr/>
                    </p:nvPicPr>
                    <p:blipFill>
                      <a:blip r:embed="rId8"/>
                      <a:stretch>
                        <a:fillRect/>
                      </a:stretch>
                    </p:blipFill>
                    <p:spPr>
                      <a:xfrm>
                        <a:off x="757238" y="5746750"/>
                        <a:ext cx="908050" cy="341313"/>
                      </a:xfrm>
                      <a:prstGeom prst="rect">
                        <a:avLst/>
                      </a:prstGeom>
                    </p:spPr>
                  </p:pic>
                </p:oleObj>
              </mc:Fallback>
            </mc:AlternateContent>
          </a:graphicData>
        </a:graphic>
      </p:graphicFrame>
      <p:pic>
        <p:nvPicPr>
          <p:cNvPr id="3" name="Picture 2" descr="The line graph with the x-axis labelled quantity in millions of pairs of shoes per week and the y-axis labelled price in dollars per pair of shoes shows the lines labelled S1 and S2 forming upward slopes lying parallel to each other. An arrow flows from the line S1 to S2 with a note that reads as follows. 1. As Allbirds enters the market for athletic shoes, the market supply curve shifts to the right ellipsis. A line forms a slope downwards intersecting the line S1 at a point (Q1, P1) and the line S2 at a point (Q2, P2). An arrow flows from P1 to P2 with a note that reads as follows. 2. Ellipsis decreasing the equilibrium price. An arrow flows from Q1 to Q2 with a note that reads as follows. 3. Ellipsis and increasing the equilibrium quantity.">
            <a:extLst>
              <a:ext uri="{FF2B5EF4-FFF2-40B4-BE49-F238E27FC236}">
                <a16:creationId xmlns:a16="http://schemas.microsoft.com/office/drawing/2014/main" id="{1CC2A0A5-4F83-351F-22A1-3E8C004028C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95286" y="1588669"/>
            <a:ext cx="4443914" cy="3167634"/>
          </a:xfrm>
          <a:prstGeom prst="rect">
            <a:avLst/>
          </a:prstGeom>
        </p:spPr>
      </p:pic>
    </p:spTree>
    <p:extLst>
      <p:ext uri="{BB962C8B-B14F-4D97-AF65-F5344CB8AC3E}">
        <p14:creationId xmlns:p14="http://schemas.microsoft.com/office/powerpoint/2010/main" val="16817765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7A6F065E-79C3-B91E-68EC-655299EAA62B}"/>
              </a:ext>
            </a:extLst>
          </p:cNvPr>
          <p:cNvSpPr>
            <a:spLocks noGrp="1"/>
          </p:cNvSpPr>
          <p:nvPr>
            <p:ph type="title"/>
          </p:nvPr>
        </p:nvSpPr>
        <p:spPr/>
        <p:txBody>
          <a:bodyPr/>
          <a:lstStyle/>
          <a:p>
            <a:r>
              <a:rPr lang="en-US" dirty="0">
                <a:latin typeface="+mj-lt"/>
              </a:rPr>
              <a:t>Figure 3.9 The Effect of an Increase in Supply on Equilibrium</a:t>
            </a:r>
            <a:r>
              <a:rPr lang="en-US" sz="3200" dirty="0">
                <a:latin typeface="+mj-lt"/>
              </a:rPr>
              <a:t> </a:t>
            </a:r>
            <a:r>
              <a:rPr lang="en-US" sz="2000" b="0" dirty="0">
                <a:latin typeface="+mj-lt"/>
              </a:rPr>
              <a:t>(2 of 2)</a:t>
            </a:r>
            <a:endParaRPr lang="en-IN" sz="2000" dirty="0">
              <a:latin typeface="+mj-lt"/>
            </a:endParaRPr>
          </a:p>
        </p:txBody>
      </p:sp>
      <p:sp>
        <p:nvSpPr>
          <p:cNvPr id="15" name="Content Placeholder 1">
            <a:extLst>
              <a:ext uri="{FF2B5EF4-FFF2-40B4-BE49-F238E27FC236}">
                <a16:creationId xmlns:a16="http://schemas.microsoft.com/office/drawing/2014/main" id="{892C97E1-442C-4F94-EDF2-AC9F4A073DBE}"/>
              </a:ext>
            </a:extLst>
          </p:cNvPr>
          <p:cNvSpPr txBox="1">
            <a:spLocks/>
          </p:cNvSpPr>
          <p:nvPr/>
        </p:nvSpPr>
        <p:spPr>
          <a:xfrm>
            <a:off x="457202" y="1552574"/>
            <a:ext cx="3390404" cy="407633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9pPr>
          </a:lstStyle>
          <a:p>
            <a:pPr marL="0" indent="0">
              <a:buSzPts val="2200"/>
              <a:buFont typeface="Arial" panose="020B0604020202020204" pitchFamily="34" charset="0"/>
              <a:buNone/>
            </a:pPr>
            <a:r>
              <a:rPr lang="en-US" sz="2200" dirty="0"/>
              <a:t>By how much will price fall? By how much will quantity rise?</a:t>
            </a:r>
          </a:p>
          <a:p>
            <a:pPr marL="0" indent="0">
              <a:buSzPts val="2200"/>
              <a:buFont typeface="Arial" panose="020B0604020202020204" pitchFamily="34" charset="0"/>
              <a:buNone/>
            </a:pPr>
            <a:r>
              <a:rPr lang="en-US" sz="2200" dirty="0"/>
              <a:t>We cannot say, without knowing more information.</a:t>
            </a:r>
          </a:p>
          <a:p>
            <a:pPr marL="0" indent="0">
              <a:buSzPts val="2200"/>
              <a:buFont typeface="Arial" panose="020B0604020202020204" pitchFamily="34" charset="0"/>
              <a:buNone/>
            </a:pPr>
            <a:r>
              <a:rPr lang="en-US" sz="2200" dirty="0"/>
              <a:t>For now, we can only predict that price will fall and quantity will rise.</a:t>
            </a:r>
          </a:p>
        </p:txBody>
      </p:sp>
      <p:pic>
        <p:nvPicPr>
          <p:cNvPr id="2" name="Picture 1" descr="The line graph with the x-axis labelled quantity in millions of pairs of shoes per week and the y-axis labelled price in dollars per pair of shoes shows the lines labelled S1 and S2 forming upward slopes lying parallel to each other. An arrow flows from the line S1 to S2 with a note that reads as follows. 1. As Allbirds enters the market for athletic shoes, the market supply curve shifts to the right ellipsis. A line forms a slope downwards intersecting the line S1 at a point (Q1, P1) and the line S2 at a point (Q2, P2). An arrow flows from P1 to P2 with a note that reads as follows. 2. Ellipsis decreasing the equilibrium price. An arrow flows from Q1 to Q2 with a note that reads as follows. 3. Ellipsis and increasing the equilibrium quantity.">
            <a:extLst>
              <a:ext uri="{FF2B5EF4-FFF2-40B4-BE49-F238E27FC236}">
                <a16:creationId xmlns:a16="http://schemas.microsoft.com/office/drawing/2014/main" id="{73BB0F70-B4ED-9B80-F666-2B9A497CAE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5286" y="1588669"/>
            <a:ext cx="4443914" cy="3167634"/>
          </a:xfrm>
          <a:prstGeom prst="rect">
            <a:avLst/>
          </a:prstGeom>
        </p:spPr>
      </p:pic>
    </p:spTree>
    <p:extLst>
      <p:ext uri="{BB962C8B-B14F-4D97-AF65-F5344CB8AC3E}">
        <p14:creationId xmlns:p14="http://schemas.microsoft.com/office/powerpoint/2010/main" val="1513911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sz="3400" dirty="0">
                <a:solidFill>
                  <a:schemeClr val="tx1"/>
                </a:solidFill>
              </a:rPr>
              <a:t>Figure 3.10 The Effect of an Increase in Demand on Equilibrium</a:t>
            </a:r>
            <a:endParaRPr lang="en-IN" sz="3400" dirty="0">
              <a:solidFill>
                <a:schemeClr val="tx1"/>
              </a:solidFill>
            </a:endParaRPr>
          </a:p>
        </p:txBody>
      </p:sp>
      <p:sp>
        <p:nvSpPr>
          <p:cNvPr id="2" name="Content Placeholder 1"/>
          <p:cNvSpPr>
            <a:spLocks noGrp="1"/>
          </p:cNvSpPr>
          <p:nvPr>
            <p:ph sz="quarter" idx="13"/>
          </p:nvPr>
        </p:nvSpPr>
        <p:spPr>
          <a:xfrm>
            <a:off x="457201" y="1552574"/>
            <a:ext cx="3770416" cy="2485036"/>
          </a:xfrm>
        </p:spPr>
        <p:txBody>
          <a:bodyPr/>
          <a:lstStyle/>
          <a:p>
            <a:pPr marL="0" lvl="0" indent="0">
              <a:buSzPts val="2200"/>
              <a:buNone/>
            </a:pPr>
            <a:r>
              <a:rPr lang="en-US" sz="2000" dirty="0"/>
              <a:t>Suppose incomes increase. What happens to the equilibrium in the athletic shoe market?</a:t>
            </a:r>
          </a:p>
          <a:p>
            <a:pPr marL="0" lvl="0" indent="0">
              <a:buSzPts val="2200"/>
              <a:buNone/>
            </a:pPr>
            <a:r>
              <a:rPr lang="en-US" sz="2000" dirty="0"/>
              <a:t>Athletic shoes are a </a:t>
            </a:r>
            <a:r>
              <a:rPr lang="en-US" sz="2000" b="1" dirty="0"/>
              <a:t>normal good,</a:t>
            </a:r>
            <a:r>
              <a:rPr lang="en-US" sz="2000" dirty="0"/>
              <a:t> so as income rises, demand shifts to the right</a:t>
            </a:r>
            <a:endParaRPr lang="en-IN" sz="2000" dirty="0"/>
          </a:p>
        </p:txBody>
      </p:sp>
      <p:sp>
        <p:nvSpPr>
          <p:cNvPr id="3" name="Content Placeholder 2"/>
          <p:cNvSpPr>
            <a:spLocks noGrp="1"/>
          </p:cNvSpPr>
          <p:nvPr>
            <p:ph sz="quarter" idx="14"/>
          </p:nvPr>
        </p:nvSpPr>
        <p:spPr>
          <a:xfrm>
            <a:off x="457200" y="4132800"/>
            <a:ext cx="2899611" cy="363000"/>
          </a:xfrm>
        </p:spPr>
        <p:txBody>
          <a:bodyPr lIns="0" tIns="0" rIns="0" bIns="0"/>
          <a:lstStyle/>
          <a:p>
            <a:r>
              <a:rPr lang="en-US" sz="2000" dirty="0"/>
              <a:t>Equilibrium price rises</a:t>
            </a:r>
            <a:endParaRPr lang="en-IN" sz="2000" dirty="0"/>
          </a:p>
        </p:txBody>
      </p:sp>
      <p:sp>
        <p:nvSpPr>
          <p:cNvPr id="4" name="Content Placeholder 3"/>
          <p:cNvSpPr>
            <a:spLocks noGrp="1"/>
          </p:cNvSpPr>
          <p:nvPr>
            <p:ph sz="quarter" idx="15"/>
          </p:nvPr>
        </p:nvSpPr>
        <p:spPr>
          <a:xfrm>
            <a:off x="457200" y="5029200"/>
            <a:ext cx="3224463" cy="368616"/>
          </a:xfrm>
        </p:spPr>
        <p:txBody>
          <a:bodyPr lIns="0" tIns="0" rIns="0" bIns="0"/>
          <a:lstStyle/>
          <a:p>
            <a:r>
              <a:rPr lang="en-US" sz="2000" dirty="0"/>
              <a:t>Equilibrium quantity rises</a:t>
            </a:r>
            <a:endParaRPr lang="en-IN" sz="2000" dirty="0"/>
          </a:p>
        </p:txBody>
      </p:sp>
      <p:graphicFrame>
        <p:nvGraphicFramePr>
          <p:cNvPr id="18" name="Object 17" descr="Left parentheses D sub 1 to D sub 2 right parentheses"/>
          <p:cNvGraphicFramePr>
            <a:graphicFrameLocks noChangeAspect="1"/>
          </p:cNvGraphicFramePr>
          <p:nvPr>
            <p:extLst>
              <p:ext uri="{D42A27DB-BD31-4B8C-83A1-F6EECF244321}">
                <p14:modId xmlns:p14="http://schemas.microsoft.com/office/powerpoint/2010/main" val="1355138692"/>
              </p:ext>
            </p:extLst>
          </p:nvPr>
        </p:nvGraphicFramePr>
        <p:xfrm>
          <a:off x="629302" y="3657600"/>
          <a:ext cx="1057459" cy="334555"/>
        </p:xfrm>
        <a:graphic>
          <a:graphicData uri="http://schemas.openxmlformats.org/presentationml/2006/ole">
            <mc:AlternateContent xmlns:mc="http://schemas.openxmlformats.org/markup-compatibility/2006">
              <mc:Choice xmlns:v="urn:schemas-microsoft-com:vml" Requires="v">
                <p:oleObj name="Equation" r:id="rId3" imgW="723600" imgH="228600" progId="Equation.DSMT4">
                  <p:embed/>
                </p:oleObj>
              </mc:Choice>
              <mc:Fallback>
                <p:oleObj name="Equation" r:id="rId3" imgW="723600" imgH="228600" progId="Equation.DSMT4">
                  <p:embed/>
                  <p:pic>
                    <p:nvPicPr>
                      <p:cNvPr id="18" name="Object 17" descr="Left parentheses D sub 1 to D sub 2 right parentheses"/>
                      <p:cNvPicPr/>
                      <p:nvPr/>
                    </p:nvPicPr>
                    <p:blipFill>
                      <a:blip r:embed="rId4"/>
                      <a:stretch>
                        <a:fillRect/>
                      </a:stretch>
                    </p:blipFill>
                    <p:spPr>
                      <a:xfrm>
                        <a:off x="629302" y="3657600"/>
                        <a:ext cx="1057459" cy="334555"/>
                      </a:xfrm>
                      <a:prstGeom prst="rect">
                        <a:avLst/>
                      </a:prstGeom>
                    </p:spPr>
                  </p:pic>
                </p:oleObj>
              </mc:Fallback>
            </mc:AlternateContent>
          </a:graphicData>
        </a:graphic>
      </p:graphicFrame>
      <p:graphicFrame>
        <p:nvGraphicFramePr>
          <p:cNvPr id="19" name="Object 18" descr="Left parentheses P sub 1 to P sub 2 right parentheses"/>
          <p:cNvGraphicFramePr>
            <a:graphicFrameLocks noChangeAspect="1"/>
          </p:cNvGraphicFramePr>
          <p:nvPr>
            <p:extLst>
              <p:ext uri="{D42A27DB-BD31-4B8C-83A1-F6EECF244321}">
                <p14:modId xmlns:p14="http://schemas.microsoft.com/office/powerpoint/2010/main" val="141361006"/>
              </p:ext>
            </p:extLst>
          </p:nvPr>
        </p:nvGraphicFramePr>
        <p:xfrm>
          <a:off x="673624" y="4590990"/>
          <a:ext cx="1021846" cy="341695"/>
        </p:xfrm>
        <a:graphic>
          <a:graphicData uri="http://schemas.openxmlformats.org/presentationml/2006/ole">
            <mc:AlternateContent xmlns:mc="http://schemas.openxmlformats.org/markup-compatibility/2006">
              <mc:Choice xmlns:v="urn:schemas-microsoft-com:vml" Requires="v">
                <p:oleObj name="Equation" r:id="rId5" imgW="685800" imgH="228600" progId="Equation.DSMT4">
                  <p:embed/>
                </p:oleObj>
              </mc:Choice>
              <mc:Fallback>
                <p:oleObj name="Equation" r:id="rId5" imgW="685800" imgH="228600" progId="Equation.DSMT4">
                  <p:embed/>
                  <p:pic>
                    <p:nvPicPr>
                      <p:cNvPr id="19" name="Object 18" descr="Left parentheses P sub 1 to P sub 2 right parentheses"/>
                      <p:cNvPicPr/>
                      <p:nvPr/>
                    </p:nvPicPr>
                    <p:blipFill>
                      <a:blip r:embed="rId6"/>
                      <a:stretch>
                        <a:fillRect/>
                      </a:stretch>
                    </p:blipFill>
                    <p:spPr>
                      <a:xfrm>
                        <a:off x="673624" y="4590990"/>
                        <a:ext cx="1021846" cy="341695"/>
                      </a:xfrm>
                      <a:prstGeom prst="rect">
                        <a:avLst/>
                      </a:prstGeom>
                    </p:spPr>
                  </p:pic>
                </p:oleObj>
              </mc:Fallback>
            </mc:AlternateContent>
          </a:graphicData>
        </a:graphic>
      </p:graphicFrame>
      <p:graphicFrame>
        <p:nvGraphicFramePr>
          <p:cNvPr id="20" name="Object 19" descr="Left parentheses Q sub 1 to Q sub 2 right parentheses"/>
          <p:cNvGraphicFramePr>
            <a:graphicFrameLocks noChangeAspect="1"/>
          </p:cNvGraphicFramePr>
          <p:nvPr>
            <p:extLst>
              <p:ext uri="{D42A27DB-BD31-4B8C-83A1-F6EECF244321}">
                <p14:modId xmlns:p14="http://schemas.microsoft.com/office/powerpoint/2010/main" val="3218457148"/>
              </p:ext>
            </p:extLst>
          </p:nvPr>
        </p:nvGraphicFramePr>
        <p:xfrm>
          <a:off x="673624" y="5466085"/>
          <a:ext cx="1077913" cy="341313"/>
        </p:xfrm>
        <a:graphic>
          <a:graphicData uri="http://schemas.openxmlformats.org/presentationml/2006/ole">
            <mc:AlternateContent xmlns:mc="http://schemas.openxmlformats.org/markup-compatibility/2006">
              <mc:Choice xmlns:v="urn:schemas-microsoft-com:vml" Requires="v">
                <p:oleObj name="Equation" r:id="rId7" imgW="723600" imgH="228600" progId="Equation.DSMT4">
                  <p:embed/>
                </p:oleObj>
              </mc:Choice>
              <mc:Fallback>
                <p:oleObj name="Equation" r:id="rId7" imgW="723600" imgH="228600" progId="Equation.DSMT4">
                  <p:embed/>
                  <p:pic>
                    <p:nvPicPr>
                      <p:cNvPr id="20" name="Object 19" descr="Left parentheses Q sub 1 to Q sub 2 right parentheses"/>
                      <p:cNvPicPr/>
                      <p:nvPr/>
                    </p:nvPicPr>
                    <p:blipFill>
                      <a:blip r:embed="rId8"/>
                      <a:stretch>
                        <a:fillRect/>
                      </a:stretch>
                    </p:blipFill>
                    <p:spPr>
                      <a:xfrm>
                        <a:off x="673624" y="5466085"/>
                        <a:ext cx="1077913" cy="341313"/>
                      </a:xfrm>
                      <a:prstGeom prst="rect">
                        <a:avLst/>
                      </a:prstGeom>
                    </p:spPr>
                  </p:pic>
                </p:oleObj>
              </mc:Fallback>
            </mc:AlternateContent>
          </a:graphicData>
        </a:graphic>
      </p:graphicFrame>
      <p:pic>
        <p:nvPicPr>
          <p:cNvPr id="7" name="Picture 6" descr="The line graph with the x-axis labelled quantity in millions of pairs of shoes per week and the y-axis labelled price in dollars per pair of shoes shows the line labelled D1 and D2 lying parallel to each other form downward slopes intersecting the line labelled supply that forms an upward slope at the points (Q1, P1) and (Q2, P2). An arrows flows from the line D1 to the line D2 with a note that reads as follows. 1. As income grows, demand shifts to the right ellipsis. An arrow flows from P1 to P2 with a note that reads as follows. 2. Ellipsis increasing the equilibrium price. An arrows flows from the line Q1 to the line Q2 with a note that reads as follows. 3. Ellipsis and also increasing the equilibrium quantity. ">
            <a:extLst>
              <a:ext uri="{FF2B5EF4-FFF2-40B4-BE49-F238E27FC236}">
                <a16:creationId xmlns:a16="http://schemas.microsoft.com/office/drawing/2014/main" id="{901C7759-B309-C8DF-CE9E-1DFFB578A52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31860" y="1530096"/>
            <a:ext cx="4389052" cy="2965704"/>
          </a:xfrm>
          <a:prstGeom prst="rect">
            <a:avLst/>
          </a:prstGeom>
        </p:spPr>
      </p:pic>
    </p:spTree>
    <p:extLst>
      <p:ext uri="{BB962C8B-B14F-4D97-AF65-F5344CB8AC3E}">
        <p14:creationId xmlns:p14="http://schemas.microsoft.com/office/powerpoint/2010/main" val="1153383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53270E0B-6E67-A932-9D27-E2E974E49B6B}"/>
              </a:ext>
            </a:extLst>
          </p:cNvPr>
          <p:cNvSpPr>
            <a:spLocks noGrp="1"/>
          </p:cNvSpPr>
          <p:nvPr>
            <p:ph type="title"/>
          </p:nvPr>
        </p:nvSpPr>
        <p:spPr>
          <a:xfrm>
            <a:off x="457200" y="215371"/>
            <a:ext cx="8229600" cy="1232429"/>
          </a:xfrm>
        </p:spPr>
        <p:txBody>
          <a:bodyPr/>
          <a:lstStyle/>
          <a:p>
            <a:r>
              <a:rPr lang="en-US" sz="3000" dirty="0">
                <a:latin typeface="+mj-lt"/>
              </a:rPr>
              <a:t>Table 3.3 How Shifts in Demand and Supply Affect Equilibrium Price (</a:t>
            </a:r>
            <a:r>
              <a:rPr lang="en-US" sz="3000" i="1" dirty="0">
                <a:latin typeface="+mj-lt"/>
              </a:rPr>
              <a:t>P</a:t>
            </a:r>
            <a:r>
              <a:rPr lang="en-US" sz="3000" dirty="0">
                <a:latin typeface="+mj-lt"/>
              </a:rPr>
              <a:t>) and Quantity (</a:t>
            </a:r>
            <a:r>
              <a:rPr lang="en-US" sz="3000" i="1" dirty="0">
                <a:latin typeface="+mj-lt"/>
              </a:rPr>
              <a:t>Q</a:t>
            </a:r>
            <a:r>
              <a:rPr lang="en-US" sz="3000" dirty="0">
                <a:latin typeface="+mj-lt"/>
              </a:rPr>
              <a:t>)</a:t>
            </a:r>
            <a:r>
              <a:rPr lang="en-US" sz="2600" dirty="0">
                <a:latin typeface="+mj-lt"/>
              </a:rPr>
              <a:t> </a:t>
            </a:r>
            <a:r>
              <a:rPr lang="en-US" sz="2000" b="0" dirty="0">
                <a:latin typeface="+mj-lt"/>
              </a:rPr>
              <a:t>(1 of 2)</a:t>
            </a:r>
            <a:endParaRPr lang="en-IN" sz="2000" dirty="0">
              <a:latin typeface="+mj-lt"/>
            </a:endParaRPr>
          </a:p>
        </p:txBody>
      </p:sp>
      <p:graphicFrame>
        <p:nvGraphicFramePr>
          <p:cNvPr id="13" name="Content Placeholder 3">
            <a:extLst>
              <a:ext uri="{FF2B5EF4-FFF2-40B4-BE49-F238E27FC236}">
                <a16:creationId xmlns:a16="http://schemas.microsoft.com/office/drawing/2014/main" id="{53BB1DD0-2D23-E363-1F88-61006B70EDF3}"/>
              </a:ext>
            </a:extLst>
          </p:cNvPr>
          <p:cNvGraphicFramePr>
            <a:graphicFrameLocks/>
          </p:cNvGraphicFramePr>
          <p:nvPr>
            <p:extLst>
              <p:ext uri="{D42A27DB-BD31-4B8C-83A1-F6EECF244321}">
                <p14:modId xmlns:p14="http://schemas.microsoft.com/office/powerpoint/2010/main" val="1983626421"/>
              </p:ext>
            </p:extLst>
          </p:nvPr>
        </p:nvGraphicFramePr>
        <p:xfrm>
          <a:off x="520264" y="1681875"/>
          <a:ext cx="8229600" cy="3909336"/>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774528482"/>
                    </a:ext>
                  </a:extLst>
                </a:gridCol>
                <a:gridCol w="2057400">
                  <a:extLst>
                    <a:ext uri="{9D8B030D-6E8A-4147-A177-3AD203B41FA5}">
                      <a16:colId xmlns:a16="http://schemas.microsoft.com/office/drawing/2014/main" val="2788503937"/>
                    </a:ext>
                  </a:extLst>
                </a:gridCol>
                <a:gridCol w="2057400">
                  <a:extLst>
                    <a:ext uri="{9D8B030D-6E8A-4147-A177-3AD203B41FA5}">
                      <a16:colId xmlns:a16="http://schemas.microsoft.com/office/drawing/2014/main" val="1894819426"/>
                    </a:ext>
                  </a:extLst>
                </a:gridCol>
                <a:gridCol w="2057400">
                  <a:extLst>
                    <a:ext uri="{9D8B030D-6E8A-4147-A177-3AD203B41FA5}">
                      <a16:colId xmlns:a16="http://schemas.microsoft.com/office/drawing/2014/main" val="1789292777"/>
                    </a:ext>
                  </a:extLst>
                </a:gridCol>
              </a:tblGrid>
              <a:tr h="765938">
                <a:tc>
                  <a:txBody>
                    <a:bodyPr/>
                    <a:lstStyle/>
                    <a:p>
                      <a:pPr marL="0" marR="0" lvl="0" indent="0" algn="l" rtl="0">
                        <a:lnSpc>
                          <a:spcPct val="100000"/>
                        </a:lnSpc>
                        <a:spcBef>
                          <a:spcPts val="0"/>
                        </a:spcBef>
                        <a:spcAft>
                          <a:spcPts val="0"/>
                        </a:spcAft>
                        <a:buClr>
                          <a:schemeClr val="lt1"/>
                        </a:buClr>
                        <a:buSzPts val="1400"/>
                        <a:buFont typeface="Arial"/>
                        <a:buNone/>
                      </a:pPr>
                      <a:r>
                        <a:rPr lang="en-US" sz="100" b="1" u="none" strike="noStrike" cap="none" dirty="0">
                          <a:solidFill>
                            <a:schemeClr val="tx1"/>
                          </a:solidFill>
                          <a:latin typeface="+mn-lt"/>
                          <a:ea typeface="Arial"/>
                          <a:cs typeface="Arial"/>
                          <a:sym typeface="Arial"/>
                        </a:rPr>
                        <a:t>Blank</a:t>
                      </a:r>
                      <a:endParaRPr sz="1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Supply Curve Unchanged</a:t>
                      </a:r>
                      <a:endParaRPr sz="16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Supply Curve Shifts to the Right</a:t>
                      </a:r>
                      <a:endParaRPr sz="16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Supply Curve Shifts</a:t>
                      </a:r>
                      <a:r>
                        <a:rPr lang="en-US" sz="1600" b="1" u="none" strike="noStrike" cap="none" baseline="0" dirty="0">
                          <a:solidFill>
                            <a:schemeClr val="tx1"/>
                          </a:solidFill>
                          <a:latin typeface="+mn-lt"/>
                          <a:ea typeface="Arial"/>
                          <a:cs typeface="Arial"/>
                          <a:sym typeface="Arial"/>
                        </a:rPr>
                        <a:t> </a:t>
                      </a:r>
                      <a:r>
                        <a:rPr lang="en-US" sz="1600" b="1" u="none" strike="noStrike" cap="none" dirty="0">
                          <a:solidFill>
                            <a:schemeClr val="tx1"/>
                          </a:solidFill>
                          <a:latin typeface="+mn-lt"/>
                          <a:ea typeface="Arial"/>
                          <a:cs typeface="Arial"/>
                          <a:sym typeface="Arial"/>
                        </a:rPr>
                        <a:t>to the Left</a:t>
                      </a:r>
                      <a:endParaRPr sz="16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2779425"/>
                  </a:ext>
                </a:extLst>
              </a:tr>
              <a:tr h="765938">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Demand Curve Unchanged</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unchanged</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unchanged</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6718728"/>
                  </a:ext>
                </a:extLst>
              </a:tr>
              <a:tr h="765938">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Demand Curve Shifts to the Right</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endParaRPr lang="en-US" sz="1600" i="1" u="none" strike="noStrike" cap="none" dirty="0">
                        <a:solidFill>
                          <a:schemeClr val="tx1"/>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increases</a:t>
                      </a:r>
                    </a:p>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endParaRPr lang="en-US" sz="1600" u="none" strike="noStrike" cap="none" dirty="0">
                        <a:solidFill>
                          <a:schemeClr val="tx1"/>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P</a:t>
                      </a:r>
                      <a:r>
                        <a:rPr lang="en-US" sz="1600" b="0" u="none" strike="noStrike" cap="none" dirty="0">
                          <a:solidFill>
                            <a:schemeClr val="tx1"/>
                          </a:solidFill>
                          <a:latin typeface="+mn-lt"/>
                        </a:rPr>
                        <a:t> increases or decreases</a:t>
                      </a:r>
                      <a:endParaRPr sz="1600" b="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Q</a:t>
                      </a:r>
                      <a:r>
                        <a:rPr lang="en-US" sz="1600" b="0" u="none" strike="noStrike" cap="none" dirty="0">
                          <a:solidFill>
                            <a:schemeClr val="tx1"/>
                          </a:solidFill>
                          <a:latin typeface="+mn-lt"/>
                        </a:rPr>
                        <a:t> increases or  decreases</a:t>
                      </a:r>
                    </a:p>
                    <a:p>
                      <a:pPr marL="0" marR="0" lvl="0" indent="0" algn="l" rtl="0">
                        <a:lnSpc>
                          <a:spcPct val="100000"/>
                        </a:lnSpc>
                        <a:spcBef>
                          <a:spcPts val="0"/>
                        </a:spcBef>
                        <a:spcAft>
                          <a:spcPts val="0"/>
                        </a:spcAft>
                        <a:buClr>
                          <a:schemeClr val="lt1"/>
                        </a:buClr>
                        <a:buSzPts val="1400"/>
                        <a:buFont typeface="Arial"/>
                        <a:buNone/>
                      </a:pPr>
                      <a:endParaRPr lang="en-US" sz="1600" b="0" u="none" strike="noStrike" cap="none" dirty="0">
                        <a:solidFill>
                          <a:schemeClr val="tx1"/>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P</a:t>
                      </a:r>
                      <a:r>
                        <a:rPr lang="en-US" sz="1600" b="0" u="none" strike="noStrike" cap="none" dirty="0">
                          <a:solidFill>
                            <a:schemeClr val="tx1"/>
                          </a:solidFill>
                          <a:latin typeface="+mn-lt"/>
                        </a:rPr>
                        <a:t> increases</a:t>
                      </a:r>
                      <a:endParaRPr sz="1600" b="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629078"/>
                  </a:ext>
                </a:extLst>
              </a:tr>
              <a:tr h="765938">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Demand Curve Shifts to the Left</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endParaRPr lang="en-US" sz="1600" i="1" u="none" strike="noStrike" cap="none" dirty="0">
                        <a:solidFill>
                          <a:schemeClr val="tx1"/>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Q</a:t>
                      </a:r>
                      <a:r>
                        <a:rPr lang="en-US" sz="1600" b="0" u="none" strike="noStrike" cap="none" dirty="0">
                          <a:solidFill>
                            <a:schemeClr val="tx1"/>
                          </a:solidFill>
                          <a:latin typeface="+mn-lt"/>
                        </a:rPr>
                        <a:t> increases or decreases</a:t>
                      </a:r>
                    </a:p>
                    <a:p>
                      <a:pPr marL="0" marR="0" lvl="0" indent="0" algn="l" rtl="0">
                        <a:lnSpc>
                          <a:spcPct val="100000"/>
                        </a:lnSpc>
                        <a:spcBef>
                          <a:spcPts val="0"/>
                        </a:spcBef>
                        <a:spcAft>
                          <a:spcPts val="0"/>
                        </a:spcAft>
                        <a:buClr>
                          <a:schemeClr val="lt1"/>
                        </a:buClr>
                        <a:buSzPts val="1400"/>
                        <a:buFont typeface="Arial"/>
                        <a:buNone/>
                      </a:pPr>
                      <a:endParaRPr lang="en-US" sz="1600" b="0" u="none" strike="noStrike" cap="none" dirty="0">
                        <a:solidFill>
                          <a:schemeClr val="tx1"/>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P</a:t>
                      </a:r>
                      <a:r>
                        <a:rPr lang="en-US" sz="1600" b="0" u="none" strike="noStrike" cap="none" dirty="0">
                          <a:solidFill>
                            <a:schemeClr val="tx1"/>
                          </a:solidFill>
                          <a:latin typeface="+mn-lt"/>
                        </a:rPr>
                        <a:t> decreases</a:t>
                      </a:r>
                    </a:p>
                    <a:p>
                      <a:pPr marL="0" marR="0" lvl="0" indent="0" algn="l" rtl="0">
                        <a:lnSpc>
                          <a:spcPct val="100000"/>
                        </a:lnSpc>
                        <a:spcBef>
                          <a:spcPts val="0"/>
                        </a:spcBef>
                        <a:spcAft>
                          <a:spcPts val="0"/>
                        </a:spcAft>
                        <a:buClr>
                          <a:schemeClr val="lt1"/>
                        </a:buClr>
                        <a:buSzPts val="1400"/>
                        <a:buFont typeface="Arial"/>
                        <a:buNone/>
                      </a:pPr>
                      <a:endParaRPr sz="1600" b="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r>
                        <a:rPr lang="en-US" sz="1600" i="1" u="none" strike="noStrike" cap="none" dirty="0">
                          <a:solidFill>
                            <a:schemeClr val="tx1"/>
                          </a:solidFill>
                          <a:latin typeface="+mn-lt"/>
                          <a:ea typeface="Arial"/>
                          <a:cs typeface="Arial"/>
                          <a:sym typeface="Arial"/>
                        </a:rPr>
                        <a:t>Q de</a:t>
                      </a:r>
                      <a:r>
                        <a:rPr lang="en-US" sz="1600" u="none" strike="noStrike" cap="none" dirty="0">
                          <a:solidFill>
                            <a:schemeClr val="tx1"/>
                          </a:solidFill>
                          <a:latin typeface="+mn-lt"/>
                          <a:ea typeface="Arial"/>
                          <a:cs typeface="Arial"/>
                          <a:sym typeface="Arial"/>
                        </a:rPr>
                        <a:t>creases</a:t>
                      </a:r>
                    </a:p>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endParaRPr lang="en-US" sz="1600" u="none" strike="noStrike" cap="none" dirty="0">
                        <a:solidFill>
                          <a:schemeClr val="tx1"/>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P</a:t>
                      </a:r>
                      <a:r>
                        <a:rPr lang="en-US" sz="1600" b="0" u="none" strike="noStrike" cap="none" dirty="0">
                          <a:solidFill>
                            <a:schemeClr val="tx1"/>
                          </a:solidFill>
                          <a:latin typeface="+mn-lt"/>
                        </a:rPr>
                        <a:t> increases or  decreases</a:t>
                      </a:r>
                      <a:endParaRPr sz="1600" b="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501533"/>
                  </a:ext>
                </a:extLst>
              </a:tr>
            </a:tbl>
          </a:graphicData>
        </a:graphic>
      </p:graphicFrame>
    </p:spTree>
    <p:extLst>
      <p:ext uri="{BB962C8B-B14F-4D97-AF65-F5344CB8AC3E}">
        <p14:creationId xmlns:p14="http://schemas.microsoft.com/office/powerpoint/2010/main" val="139388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0DB6FD4B-0A39-DCDF-996E-C14DE7121F5D}"/>
              </a:ext>
            </a:extLst>
          </p:cNvPr>
          <p:cNvSpPr>
            <a:spLocks noGrp="1"/>
          </p:cNvSpPr>
          <p:nvPr>
            <p:ph type="title"/>
          </p:nvPr>
        </p:nvSpPr>
        <p:spPr/>
        <p:txBody>
          <a:bodyPr/>
          <a:lstStyle/>
          <a:p>
            <a:r>
              <a:rPr lang="en-US" dirty="0">
                <a:latin typeface="+mj-lt"/>
              </a:rPr>
              <a:t>Figure 3.11 Shifts in Demand and Supply Over Time</a:t>
            </a:r>
            <a:r>
              <a:rPr lang="en-US" sz="3200" dirty="0">
                <a:latin typeface="+mj-lt"/>
              </a:rPr>
              <a:t> </a:t>
            </a:r>
            <a:r>
              <a:rPr lang="en-US" sz="2000" b="0" dirty="0">
                <a:latin typeface="+mj-lt"/>
              </a:rPr>
              <a:t>(1 of 3)</a:t>
            </a:r>
            <a:endParaRPr lang="en-IN" sz="2000" dirty="0">
              <a:latin typeface="+mj-lt"/>
            </a:endParaRPr>
          </a:p>
        </p:txBody>
      </p:sp>
      <p:sp>
        <p:nvSpPr>
          <p:cNvPr id="15" name="Content Placeholder 3">
            <a:extLst>
              <a:ext uri="{FF2B5EF4-FFF2-40B4-BE49-F238E27FC236}">
                <a16:creationId xmlns:a16="http://schemas.microsoft.com/office/drawing/2014/main" id="{D21C03F3-ACFA-0BF2-A853-C8FB6FA3B617}"/>
              </a:ext>
            </a:extLst>
          </p:cNvPr>
          <p:cNvSpPr txBox="1">
            <a:spLocks/>
          </p:cNvSpPr>
          <p:nvPr/>
        </p:nvSpPr>
        <p:spPr>
          <a:xfrm>
            <a:off x="457200" y="1558413"/>
            <a:ext cx="8229600" cy="2099188"/>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200" dirty="0"/>
              <a:t>Over time, it is likely that </a:t>
            </a:r>
            <a:r>
              <a:rPr lang="en-US" sz="2200" b="1" dirty="0"/>
              <a:t>both </a:t>
            </a:r>
            <a:r>
              <a:rPr lang="en-US" sz="2200" dirty="0"/>
              <a:t>demand and supply will change.</a:t>
            </a:r>
          </a:p>
          <a:p>
            <a:pPr marL="0" indent="0">
              <a:spcBef>
                <a:spcPts val="1000"/>
              </a:spcBef>
              <a:buSzPts val="2200"/>
              <a:buFont typeface="Arial" panose="020B0604020202020204" pitchFamily="34" charset="0"/>
              <a:buNone/>
            </a:pPr>
            <a:r>
              <a:rPr lang="en-US" sz="2200" dirty="0"/>
              <a:t>For example, as new firms enter the market for athletic shoes </a:t>
            </a:r>
            <a:r>
              <a:rPr lang="en-US" sz="2200" b="1" dirty="0"/>
              <a:t>and </a:t>
            </a:r>
            <a:r>
              <a:rPr lang="en-US" sz="2200" dirty="0"/>
              <a:t>incomes increase, we expect:</a:t>
            </a:r>
          </a:p>
          <a:p>
            <a:pPr marL="255600">
              <a:spcBef>
                <a:spcPts val="1000"/>
              </a:spcBef>
            </a:pPr>
            <a:r>
              <a:rPr lang="en-US" sz="2200" dirty="0"/>
              <a:t>The supply curve will shift to the right, </a:t>
            </a:r>
            <a:r>
              <a:rPr lang="en-US" sz="2200" b="1" dirty="0"/>
              <a:t>and</a:t>
            </a:r>
          </a:p>
          <a:p>
            <a:pPr marL="255600">
              <a:spcBef>
                <a:spcPts val="1000"/>
              </a:spcBef>
            </a:pPr>
            <a:r>
              <a:rPr lang="en-US" sz="2200" dirty="0"/>
              <a:t>The demand curve will shift to the right.</a:t>
            </a:r>
          </a:p>
        </p:txBody>
      </p:sp>
      <p:pic>
        <p:nvPicPr>
          <p:cNvPr id="3" name="Picture 2">
            <a:extLst>
              <a:ext uri="{FF2B5EF4-FFF2-40B4-BE49-F238E27FC236}">
                <a16:creationId xmlns:a16="http://schemas.microsoft.com/office/drawing/2014/main" id="{2C4653E2-462E-E1C5-3AE2-1C9B8E8DCD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85901" y="3771760"/>
            <a:ext cx="2972198" cy="2553809"/>
          </a:xfrm>
          <a:prstGeom prst="rect">
            <a:avLst/>
          </a:prstGeom>
        </p:spPr>
      </p:pic>
    </p:spTree>
    <p:extLst>
      <p:ext uri="{BB962C8B-B14F-4D97-AF65-F5344CB8AC3E}">
        <p14:creationId xmlns:p14="http://schemas.microsoft.com/office/powerpoint/2010/main" val="341256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E1A89D28-587B-608C-8087-D7851685F24D}"/>
              </a:ext>
            </a:extLst>
          </p:cNvPr>
          <p:cNvSpPr>
            <a:spLocks noGrp="1"/>
          </p:cNvSpPr>
          <p:nvPr>
            <p:ph type="title"/>
          </p:nvPr>
        </p:nvSpPr>
        <p:spPr/>
        <p:txBody>
          <a:bodyPr/>
          <a:lstStyle/>
          <a:p>
            <a:r>
              <a:rPr lang="en-US" dirty="0">
                <a:latin typeface="+mj-lt"/>
              </a:rPr>
              <a:t>Figure 3.11 Shifts in Demand and Supply Over Time </a:t>
            </a:r>
            <a:r>
              <a:rPr lang="en-US" sz="2000" b="0" dirty="0">
                <a:latin typeface="+mj-lt"/>
              </a:rPr>
              <a:t>(2 of 3)</a:t>
            </a:r>
            <a:endParaRPr lang="en-IN" sz="2000" dirty="0">
              <a:latin typeface="+mj-lt"/>
            </a:endParaRPr>
          </a:p>
        </p:txBody>
      </p:sp>
      <p:sp>
        <p:nvSpPr>
          <p:cNvPr id="15" name="Content Placeholder 3">
            <a:extLst>
              <a:ext uri="{FF2B5EF4-FFF2-40B4-BE49-F238E27FC236}">
                <a16:creationId xmlns:a16="http://schemas.microsoft.com/office/drawing/2014/main" id="{B124293E-88CB-3F6A-2034-AFE31EB99B35}"/>
              </a:ext>
            </a:extLst>
          </p:cNvPr>
          <p:cNvSpPr txBox="1">
            <a:spLocks/>
          </p:cNvSpPr>
          <p:nvPr/>
        </p:nvSpPr>
        <p:spPr>
          <a:xfrm>
            <a:off x="457200" y="1558413"/>
            <a:ext cx="8229600" cy="34658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0"/>
              </a:spcBef>
              <a:buSzPts val="2200"/>
              <a:buFont typeface="Arial" panose="020B0604020202020204" pitchFamily="34" charset="0"/>
              <a:buNone/>
            </a:pPr>
            <a:r>
              <a:rPr lang="en-US" sz="2000" dirty="0"/>
              <a:t>What does our model predict?</a:t>
            </a:r>
          </a:p>
        </p:txBody>
      </p:sp>
      <p:graphicFrame>
        <p:nvGraphicFramePr>
          <p:cNvPr id="16" name="Object 15" descr="Increase in supply leads to decrease in price and increase in quantity. Increase in demand leads to increase in price and increase in quantity.">
            <a:extLst>
              <a:ext uri="{FF2B5EF4-FFF2-40B4-BE49-F238E27FC236}">
                <a16:creationId xmlns:a16="http://schemas.microsoft.com/office/drawing/2014/main" id="{03712A7D-6FD4-BE96-3B04-D10F2398AF92}"/>
              </a:ext>
            </a:extLst>
          </p:cNvPr>
          <p:cNvGraphicFramePr>
            <a:graphicFrameLocks noChangeAspect="1"/>
          </p:cNvGraphicFramePr>
          <p:nvPr>
            <p:extLst>
              <p:ext uri="{D42A27DB-BD31-4B8C-83A1-F6EECF244321}">
                <p14:modId xmlns:p14="http://schemas.microsoft.com/office/powerpoint/2010/main" val="2351330537"/>
              </p:ext>
            </p:extLst>
          </p:nvPr>
        </p:nvGraphicFramePr>
        <p:xfrm>
          <a:off x="474846" y="1905000"/>
          <a:ext cx="2352675" cy="735013"/>
        </p:xfrm>
        <a:graphic>
          <a:graphicData uri="http://schemas.openxmlformats.org/presentationml/2006/ole">
            <mc:AlternateContent xmlns:mc="http://schemas.openxmlformats.org/markup-compatibility/2006">
              <mc:Choice xmlns:v="urn:schemas-microsoft-com:vml" Requires="v">
                <p:oleObj name="Equation" r:id="rId3" imgW="1460160" imgH="457200" progId="Equation.DSMT4">
                  <p:embed/>
                </p:oleObj>
              </mc:Choice>
              <mc:Fallback>
                <p:oleObj name="Equation" r:id="rId3" imgW="1460160" imgH="457200" progId="Equation.DSMT4">
                  <p:embed/>
                  <p:pic>
                    <p:nvPicPr>
                      <p:cNvPr id="8" name="Object 7" descr="Increase in supply leads to decrease in price and increase in quantity. Increase in demand leads to increase in price and increase in quantity."/>
                      <p:cNvPicPr/>
                      <p:nvPr/>
                    </p:nvPicPr>
                    <p:blipFill>
                      <a:blip r:embed="rId4"/>
                      <a:stretch>
                        <a:fillRect/>
                      </a:stretch>
                    </p:blipFill>
                    <p:spPr>
                      <a:xfrm>
                        <a:off x="474846" y="1905000"/>
                        <a:ext cx="2352675" cy="735013"/>
                      </a:xfrm>
                      <a:prstGeom prst="rect">
                        <a:avLst/>
                      </a:prstGeom>
                    </p:spPr>
                  </p:pic>
                </p:oleObj>
              </mc:Fallback>
            </mc:AlternateContent>
          </a:graphicData>
        </a:graphic>
      </p:graphicFrame>
      <p:sp>
        <p:nvSpPr>
          <p:cNvPr id="17" name="Content Placeholder 1">
            <a:extLst>
              <a:ext uri="{FF2B5EF4-FFF2-40B4-BE49-F238E27FC236}">
                <a16:creationId xmlns:a16="http://schemas.microsoft.com/office/drawing/2014/main" id="{46051369-6277-91A3-A0DA-7B16E06928CD}"/>
              </a:ext>
            </a:extLst>
          </p:cNvPr>
          <p:cNvSpPr txBox="1">
            <a:spLocks/>
          </p:cNvSpPr>
          <p:nvPr/>
        </p:nvSpPr>
        <p:spPr>
          <a:xfrm>
            <a:off x="511041" y="2707077"/>
            <a:ext cx="8229600" cy="1443845"/>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000" dirty="0"/>
              <a:t>So we can be sure equilibrium quantity will rise, but the effect on equilibrium price is not clear.</a:t>
            </a:r>
          </a:p>
          <a:p>
            <a:pPr marL="0" indent="0">
              <a:spcBef>
                <a:spcPts val="1000"/>
              </a:spcBef>
              <a:buSzPts val="2200"/>
              <a:buFont typeface="Arial" panose="020B0604020202020204" pitchFamily="34" charset="0"/>
              <a:buNone/>
            </a:pPr>
            <a:r>
              <a:rPr lang="en-US" sz="2000" dirty="0"/>
              <a:t>This panel shows demand shifting more than supply: equilibrium price and quantity both rise.</a:t>
            </a:r>
          </a:p>
        </p:txBody>
      </p:sp>
      <p:pic>
        <p:nvPicPr>
          <p:cNvPr id="3" name="Picture 2">
            <a:extLst>
              <a:ext uri="{FF2B5EF4-FFF2-40B4-BE49-F238E27FC236}">
                <a16:creationId xmlns:a16="http://schemas.microsoft.com/office/drawing/2014/main" id="{4FB7EDB9-2FE9-E0AA-4D53-1344B8C2DBA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3257450" y="4150922"/>
            <a:ext cx="2629099" cy="2259007"/>
          </a:xfrm>
          <a:prstGeom prst="rect">
            <a:avLst/>
          </a:prstGeom>
        </p:spPr>
      </p:pic>
    </p:spTree>
    <p:extLst>
      <p:ext uri="{BB962C8B-B14F-4D97-AF65-F5344CB8AC3E}">
        <p14:creationId xmlns:p14="http://schemas.microsoft.com/office/powerpoint/2010/main" val="2156941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Title 5">
            <a:extLst>
              <a:ext uri="{FF2B5EF4-FFF2-40B4-BE49-F238E27FC236}">
                <a16:creationId xmlns:a16="http://schemas.microsoft.com/office/drawing/2014/main" id="{2E075AE7-DAC5-5F61-CDA7-7FFF5A66EC14}"/>
              </a:ext>
            </a:extLst>
          </p:cNvPr>
          <p:cNvSpPr>
            <a:spLocks noGrp="1"/>
          </p:cNvSpPr>
          <p:nvPr>
            <p:ph type="title"/>
          </p:nvPr>
        </p:nvSpPr>
        <p:spPr/>
        <p:txBody>
          <a:bodyPr/>
          <a:lstStyle/>
          <a:p>
            <a:r>
              <a:rPr lang="en-US" dirty="0">
                <a:latin typeface="+mj-lt"/>
              </a:rPr>
              <a:t>Figure 3.11 Shifts in Demand and Supply Over Time</a:t>
            </a:r>
            <a:r>
              <a:rPr lang="en-US" sz="3200" dirty="0">
                <a:latin typeface="+mj-lt"/>
              </a:rPr>
              <a:t> </a:t>
            </a:r>
            <a:r>
              <a:rPr lang="en-US" sz="2000" b="0" dirty="0">
                <a:latin typeface="+mj-lt"/>
              </a:rPr>
              <a:t>(3 of 3)</a:t>
            </a:r>
            <a:endParaRPr lang="en-IN" sz="2000" dirty="0">
              <a:latin typeface="+mj-lt"/>
            </a:endParaRPr>
          </a:p>
        </p:txBody>
      </p:sp>
      <p:sp>
        <p:nvSpPr>
          <p:cNvPr id="15" name="Content Placeholder 3">
            <a:extLst>
              <a:ext uri="{FF2B5EF4-FFF2-40B4-BE49-F238E27FC236}">
                <a16:creationId xmlns:a16="http://schemas.microsoft.com/office/drawing/2014/main" id="{BE1F9D38-1BF9-EBC1-17B8-514EF3A01372}"/>
              </a:ext>
            </a:extLst>
          </p:cNvPr>
          <p:cNvSpPr txBox="1">
            <a:spLocks/>
          </p:cNvSpPr>
          <p:nvPr/>
        </p:nvSpPr>
        <p:spPr>
          <a:xfrm>
            <a:off x="457200" y="1558413"/>
            <a:ext cx="8382000" cy="1870587"/>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000"/>
              </a:spcBef>
              <a:buSzPts val="2200"/>
              <a:buFont typeface="Arial" panose="020B0604020202020204" pitchFamily="34" charset="0"/>
              <a:buNone/>
            </a:pPr>
            <a:r>
              <a:rPr lang="en-US" sz="2000" dirty="0"/>
              <a:t>This panel shows supply shifting more than demand: quantity rises, but equilibrium price falls.</a:t>
            </a:r>
          </a:p>
          <a:p>
            <a:pPr marL="0" indent="0">
              <a:spcBef>
                <a:spcPts val="1000"/>
              </a:spcBef>
              <a:buSzPts val="2200"/>
              <a:buFont typeface="Arial" panose="020B0604020202020204" pitchFamily="34" charset="0"/>
              <a:buNone/>
            </a:pPr>
            <a:r>
              <a:rPr lang="en-US" sz="2000" dirty="0"/>
              <a:t>Without knowing the relative size of the changes, the effect on equilibrium price is ambiguous.</a:t>
            </a:r>
          </a:p>
          <a:p>
            <a:pPr marL="0" indent="0">
              <a:spcBef>
                <a:spcPts val="1000"/>
              </a:spcBef>
              <a:buSzPts val="2200"/>
              <a:buFont typeface="Arial" panose="020B0604020202020204" pitchFamily="34" charset="0"/>
              <a:buNone/>
            </a:pPr>
            <a:r>
              <a:rPr lang="en-US" sz="2000" dirty="0"/>
              <a:t>It is possible, but unlikely, that the equilibrium price will remain unchanged.</a:t>
            </a:r>
          </a:p>
        </p:txBody>
      </p:sp>
      <p:pic>
        <p:nvPicPr>
          <p:cNvPr id="2" name="Picture 1">
            <a:extLst>
              <a:ext uri="{FF2B5EF4-FFF2-40B4-BE49-F238E27FC236}">
                <a16:creationId xmlns:a16="http://schemas.microsoft.com/office/drawing/2014/main" id="{CC4A3882-9969-FDA1-3900-04B4CCCFB250}"/>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053412" y="3528733"/>
            <a:ext cx="3037174" cy="2643467"/>
          </a:xfrm>
          <a:prstGeom prst="rect">
            <a:avLst/>
          </a:prstGeom>
        </p:spPr>
      </p:pic>
    </p:spTree>
    <p:extLst>
      <p:ext uri="{BB962C8B-B14F-4D97-AF65-F5344CB8AC3E}">
        <p14:creationId xmlns:p14="http://schemas.microsoft.com/office/powerpoint/2010/main" val="23198489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itle 5">
            <a:extLst>
              <a:ext uri="{FF2B5EF4-FFF2-40B4-BE49-F238E27FC236}">
                <a16:creationId xmlns:a16="http://schemas.microsoft.com/office/drawing/2014/main" id="{D79E0C70-AAC4-4FBF-8D66-9475B9347021}"/>
              </a:ext>
            </a:extLst>
          </p:cNvPr>
          <p:cNvSpPr>
            <a:spLocks noGrp="1"/>
          </p:cNvSpPr>
          <p:nvPr>
            <p:ph type="title"/>
          </p:nvPr>
        </p:nvSpPr>
        <p:spPr>
          <a:xfrm>
            <a:off x="457200" y="215371"/>
            <a:ext cx="8229600" cy="1156229"/>
          </a:xfrm>
        </p:spPr>
        <p:txBody>
          <a:bodyPr/>
          <a:lstStyle/>
          <a:p>
            <a:r>
              <a:rPr lang="en-US" sz="3000" dirty="0">
                <a:latin typeface="+mj-lt"/>
              </a:rPr>
              <a:t>Table 3.3 How Shifts in Demand and Supply Affect Equilibrium Price (</a:t>
            </a:r>
            <a:r>
              <a:rPr lang="en-US" sz="3000" i="1" dirty="0">
                <a:latin typeface="+mj-lt"/>
              </a:rPr>
              <a:t>P</a:t>
            </a:r>
            <a:r>
              <a:rPr lang="en-US" sz="3000" dirty="0">
                <a:latin typeface="+mj-lt"/>
              </a:rPr>
              <a:t>) and Quantity (</a:t>
            </a:r>
            <a:r>
              <a:rPr lang="en-US" sz="3000" i="1" dirty="0">
                <a:latin typeface="+mj-lt"/>
              </a:rPr>
              <a:t>Q</a:t>
            </a:r>
            <a:r>
              <a:rPr lang="en-US" sz="3000" dirty="0">
                <a:latin typeface="+mj-lt"/>
              </a:rPr>
              <a:t>)</a:t>
            </a:r>
            <a:r>
              <a:rPr lang="en-US" sz="2600" dirty="0">
                <a:latin typeface="+mj-lt"/>
              </a:rPr>
              <a:t> </a:t>
            </a:r>
            <a:r>
              <a:rPr lang="en-US" sz="2000" b="0" dirty="0">
                <a:latin typeface="+mj-lt"/>
              </a:rPr>
              <a:t>(2 of 2)</a:t>
            </a:r>
            <a:endParaRPr lang="en-IN" sz="2000" dirty="0">
              <a:latin typeface="+mj-lt"/>
            </a:endParaRPr>
          </a:p>
        </p:txBody>
      </p:sp>
      <p:sp>
        <p:nvSpPr>
          <p:cNvPr id="14" name="Content Placeholder 8">
            <a:extLst>
              <a:ext uri="{FF2B5EF4-FFF2-40B4-BE49-F238E27FC236}">
                <a16:creationId xmlns:a16="http://schemas.microsoft.com/office/drawing/2014/main" id="{C5B1CCF1-AF2F-50A2-6C18-583F6C629B91}"/>
              </a:ext>
            </a:extLst>
          </p:cNvPr>
          <p:cNvSpPr txBox="1">
            <a:spLocks/>
          </p:cNvSpPr>
          <p:nvPr/>
        </p:nvSpPr>
        <p:spPr>
          <a:xfrm>
            <a:off x="457200" y="5788560"/>
            <a:ext cx="8229600" cy="383640"/>
          </a:xfrm>
          <a:prstGeom prst="rect">
            <a:avLst/>
          </a:prstGeom>
        </p:spPr>
        <p:txBody>
          <a:bodyPr vert="horz" lIns="0" tIns="0" rIns="0" bIns="0" rtlCol="0">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spcBef>
                <a:spcPts val="1200"/>
              </a:spcBef>
              <a:buSzPts val="2200"/>
              <a:buFont typeface="Arial" panose="020B0604020202020204" pitchFamily="34" charset="0"/>
              <a:buNone/>
            </a:pPr>
            <a:r>
              <a:rPr lang="en-US" sz="2000" dirty="0"/>
              <a:t>The cell in red is the example that we just did.</a:t>
            </a:r>
          </a:p>
        </p:txBody>
      </p:sp>
      <p:graphicFrame>
        <p:nvGraphicFramePr>
          <p:cNvPr id="16" name="Content Placeholder 3">
            <a:extLst>
              <a:ext uri="{FF2B5EF4-FFF2-40B4-BE49-F238E27FC236}">
                <a16:creationId xmlns:a16="http://schemas.microsoft.com/office/drawing/2014/main" id="{4124C9CB-0783-BECE-8AA3-888786AC7C78}"/>
              </a:ext>
            </a:extLst>
          </p:cNvPr>
          <p:cNvGraphicFramePr>
            <a:graphicFrameLocks/>
          </p:cNvGraphicFramePr>
          <p:nvPr>
            <p:extLst>
              <p:ext uri="{D42A27DB-BD31-4B8C-83A1-F6EECF244321}">
                <p14:modId xmlns:p14="http://schemas.microsoft.com/office/powerpoint/2010/main" val="3726433504"/>
              </p:ext>
            </p:extLst>
          </p:nvPr>
        </p:nvGraphicFramePr>
        <p:xfrm>
          <a:off x="520264" y="1681875"/>
          <a:ext cx="8229600" cy="3909336"/>
        </p:xfrm>
        <a:graphic>
          <a:graphicData uri="http://schemas.openxmlformats.org/drawingml/2006/table">
            <a:tbl>
              <a:tblPr firstRow="1" bandRow="1">
                <a:tableStyleId>{2D5ABB26-0587-4C30-8999-92F81FD0307C}</a:tableStyleId>
              </a:tblPr>
              <a:tblGrid>
                <a:gridCol w="2057400">
                  <a:extLst>
                    <a:ext uri="{9D8B030D-6E8A-4147-A177-3AD203B41FA5}">
                      <a16:colId xmlns:a16="http://schemas.microsoft.com/office/drawing/2014/main" val="774528482"/>
                    </a:ext>
                  </a:extLst>
                </a:gridCol>
                <a:gridCol w="2057400">
                  <a:extLst>
                    <a:ext uri="{9D8B030D-6E8A-4147-A177-3AD203B41FA5}">
                      <a16:colId xmlns:a16="http://schemas.microsoft.com/office/drawing/2014/main" val="2788503937"/>
                    </a:ext>
                  </a:extLst>
                </a:gridCol>
                <a:gridCol w="2057400">
                  <a:extLst>
                    <a:ext uri="{9D8B030D-6E8A-4147-A177-3AD203B41FA5}">
                      <a16:colId xmlns:a16="http://schemas.microsoft.com/office/drawing/2014/main" val="1894819426"/>
                    </a:ext>
                  </a:extLst>
                </a:gridCol>
                <a:gridCol w="2057400">
                  <a:extLst>
                    <a:ext uri="{9D8B030D-6E8A-4147-A177-3AD203B41FA5}">
                      <a16:colId xmlns:a16="http://schemas.microsoft.com/office/drawing/2014/main" val="1789292777"/>
                    </a:ext>
                  </a:extLst>
                </a:gridCol>
              </a:tblGrid>
              <a:tr h="765938">
                <a:tc>
                  <a:txBody>
                    <a:bodyPr/>
                    <a:lstStyle/>
                    <a:p>
                      <a:pPr marL="0" marR="0" lvl="0" indent="0" algn="l" rtl="0">
                        <a:lnSpc>
                          <a:spcPct val="100000"/>
                        </a:lnSpc>
                        <a:spcBef>
                          <a:spcPts val="0"/>
                        </a:spcBef>
                        <a:spcAft>
                          <a:spcPts val="0"/>
                        </a:spcAft>
                        <a:buClr>
                          <a:schemeClr val="lt1"/>
                        </a:buClr>
                        <a:buSzPts val="1400"/>
                        <a:buFont typeface="Arial"/>
                        <a:buNone/>
                      </a:pPr>
                      <a:r>
                        <a:rPr lang="en-US" sz="100" b="1" u="none" strike="noStrike" cap="none" dirty="0">
                          <a:solidFill>
                            <a:schemeClr val="tx1"/>
                          </a:solidFill>
                          <a:latin typeface="+mn-lt"/>
                          <a:ea typeface="Arial"/>
                          <a:cs typeface="Arial"/>
                          <a:sym typeface="Arial"/>
                        </a:rPr>
                        <a:t>Blank</a:t>
                      </a:r>
                      <a:endParaRPr sz="1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Supply Curve Unchanged</a:t>
                      </a:r>
                      <a:endParaRPr sz="16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Supply Curve Shifts to the Right</a:t>
                      </a:r>
                      <a:endParaRPr sz="16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Supply Curve Shifts</a:t>
                      </a:r>
                      <a:r>
                        <a:rPr lang="en-US" sz="1600" b="1" u="none" strike="noStrike" cap="none" baseline="0" dirty="0">
                          <a:solidFill>
                            <a:schemeClr val="tx1"/>
                          </a:solidFill>
                          <a:latin typeface="+mn-lt"/>
                          <a:ea typeface="Arial"/>
                          <a:cs typeface="Arial"/>
                          <a:sym typeface="Arial"/>
                        </a:rPr>
                        <a:t> </a:t>
                      </a:r>
                      <a:r>
                        <a:rPr lang="en-US" sz="1600" b="1" u="none" strike="noStrike" cap="none" dirty="0">
                          <a:solidFill>
                            <a:schemeClr val="tx1"/>
                          </a:solidFill>
                          <a:latin typeface="+mn-lt"/>
                          <a:ea typeface="Arial"/>
                          <a:cs typeface="Arial"/>
                          <a:sym typeface="Arial"/>
                        </a:rPr>
                        <a:t>to the Left</a:t>
                      </a:r>
                      <a:endParaRPr sz="1600" b="1"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2779425"/>
                  </a:ext>
                </a:extLst>
              </a:tr>
              <a:tr h="765938">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Demand Curve Unchanged</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unchanged</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unchanged</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6718728"/>
                  </a:ext>
                </a:extLst>
              </a:tr>
              <a:tr h="765938">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Demand Curve Shifts to the Right</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endParaRPr lang="en-US" sz="1600" i="1" u="none" strike="noStrike" cap="none" dirty="0">
                        <a:solidFill>
                          <a:schemeClr val="tx1"/>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increases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r>
                        <a:rPr lang="en-US" sz="1600" i="1" u="none" strike="noStrike" cap="none" dirty="0">
                          <a:solidFill>
                            <a:srgbClr val="C00000"/>
                          </a:solidFill>
                          <a:latin typeface="+mn-lt"/>
                          <a:ea typeface="Arial"/>
                          <a:cs typeface="Arial"/>
                          <a:sym typeface="Arial"/>
                        </a:rPr>
                        <a:t>Q </a:t>
                      </a:r>
                      <a:r>
                        <a:rPr lang="en-US" sz="1600" u="none" strike="noStrike" cap="none" dirty="0">
                          <a:solidFill>
                            <a:srgbClr val="C00000"/>
                          </a:solidFill>
                          <a:latin typeface="+mn-lt"/>
                          <a:ea typeface="Arial"/>
                          <a:cs typeface="Arial"/>
                          <a:sym typeface="Arial"/>
                        </a:rPr>
                        <a:t>increases</a:t>
                      </a:r>
                    </a:p>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endParaRPr lang="en-US" sz="1600" u="none" strike="noStrike" cap="none" dirty="0">
                        <a:solidFill>
                          <a:srgbClr val="FF0000"/>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rgbClr val="C00000"/>
                          </a:solidFill>
                          <a:latin typeface="+mn-lt"/>
                        </a:rPr>
                        <a:t>P</a:t>
                      </a:r>
                      <a:r>
                        <a:rPr lang="en-US" sz="1600" b="0" u="none" strike="noStrike" cap="none" dirty="0">
                          <a:solidFill>
                            <a:srgbClr val="C00000"/>
                          </a:solidFill>
                          <a:latin typeface="+mn-lt"/>
                        </a:rPr>
                        <a:t> increases or decreases</a:t>
                      </a:r>
                      <a:endParaRPr sz="1600" b="0" u="none" strike="noStrike" cap="none" dirty="0">
                        <a:solidFill>
                          <a:srgbClr val="C00000"/>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Q</a:t>
                      </a:r>
                      <a:r>
                        <a:rPr lang="en-US" sz="1600" b="0" u="none" strike="noStrike" cap="none" dirty="0">
                          <a:solidFill>
                            <a:schemeClr val="tx1"/>
                          </a:solidFill>
                          <a:latin typeface="+mn-lt"/>
                        </a:rPr>
                        <a:t> increases or  decreases</a:t>
                      </a:r>
                    </a:p>
                    <a:p>
                      <a:pPr marL="0" marR="0" lvl="0" indent="0" algn="l" rtl="0">
                        <a:lnSpc>
                          <a:spcPct val="100000"/>
                        </a:lnSpc>
                        <a:spcBef>
                          <a:spcPts val="0"/>
                        </a:spcBef>
                        <a:spcAft>
                          <a:spcPts val="0"/>
                        </a:spcAft>
                        <a:buClr>
                          <a:schemeClr val="lt1"/>
                        </a:buClr>
                        <a:buSzPts val="1400"/>
                        <a:buFont typeface="Arial"/>
                        <a:buNone/>
                      </a:pPr>
                      <a:endParaRPr lang="en-US" sz="1600" b="0" u="none" strike="noStrike" cap="none" dirty="0">
                        <a:solidFill>
                          <a:schemeClr val="tx1"/>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P</a:t>
                      </a:r>
                      <a:r>
                        <a:rPr lang="en-US" sz="1600" b="0" u="none" strike="noStrike" cap="none" dirty="0">
                          <a:solidFill>
                            <a:schemeClr val="tx1"/>
                          </a:solidFill>
                          <a:latin typeface="+mn-lt"/>
                        </a:rPr>
                        <a:t> increases</a:t>
                      </a:r>
                      <a:endParaRPr sz="1600" b="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8629078"/>
                  </a:ext>
                </a:extLst>
              </a:tr>
              <a:tr h="765938">
                <a:tc>
                  <a:txBody>
                    <a:bodyPr/>
                    <a:lstStyle/>
                    <a:p>
                      <a:pPr marL="0" marR="0" lvl="0" indent="0" algn="l" rtl="0">
                        <a:lnSpc>
                          <a:spcPct val="100000"/>
                        </a:lnSpc>
                        <a:spcBef>
                          <a:spcPts val="0"/>
                        </a:spcBef>
                        <a:spcAft>
                          <a:spcPts val="0"/>
                        </a:spcAft>
                        <a:buClr>
                          <a:srgbClr val="000000"/>
                        </a:buClr>
                        <a:buSzPts val="1400"/>
                        <a:buFont typeface="Arial"/>
                        <a:buNone/>
                      </a:pPr>
                      <a:r>
                        <a:rPr lang="en-US" sz="1600" b="1" u="none" strike="noStrike" cap="none" dirty="0">
                          <a:solidFill>
                            <a:schemeClr val="tx1"/>
                          </a:solidFill>
                          <a:latin typeface="+mn-lt"/>
                          <a:ea typeface="Arial"/>
                          <a:cs typeface="Arial"/>
                          <a:sym typeface="Arial"/>
                        </a:rPr>
                        <a:t>Demand Curve Shifts to the Left</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Q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p>
                      <a:pPr marL="0" marR="0" lvl="0" indent="0" algn="l" rtl="0">
                        <a:lnSpc>
                          <a:spcPct val="100000"/>
                        </a:lnSpc>
                        <a:spcBef>
                          <a:spcPts val="0"/>
                        </a:spcBef>
                        <a:spcAft>
                          <a:spcPts val="0"/>
                        </a:spcAft>
                        <a:buClr>
                          <a:srgbClr val="000000"/>
                        </a:buClr>
                        <a:buSzPts val="1400"/>
                        <a:buFont typeface="Arial"/>
                        <a:buNone/>
                      </a:pPr>
                      <a:endParaRPr lang="en-US" sz="1600" i="1" u="none" strike="noStrike" cap="none" dirty="0">
                        <a:solidFill>
                          <a:schemeClr val="tx1"/>
                        </a:solidFill>
                        <a:latin typeface="+mn-lt"/>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600" i="1" u="none" strike="noStrike" cap="none" dirty="0">
                          <a:solidFill>
                            <a:schemeClr val="tx1"/>
                          </a:solidFill>
                          <a:latin typeface="+mn-lt"/>
                          <a:ea typeface="Arial"/>
                          <a:cs typeface="Arial"/>
                          <a:sym typeface="Arial"/>
                        </a:rPr>
                        <a:t>P </a:t>
                      </a:r>
                      <a:r>
                        <a:rPr lang="en-US" sz="1600" u="none" strike="noStrike" cap="none" dirty="0">
                          <a:solidFill>
                            <a:schemeClr val="tx1"/>
                          </a:solidFill>
                          <a:latin typeface="+mn-lt"/>
                          <a:ea typeface="Arial"/>
                          <a:cs typeface="Arial"/>
                          <a:sym typeface="Arial"/>
                        </a:rPr>
                        <a:t>decreases</a:t>
                      </a:r>
                      <a:endParaRPr sz="160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Q</a:t>
                      </a:r>
                      <a:r>
                        <a:rPr lang="en-US" sz="1600" b="0" u="none" strike="noStrike" cap="none" dirty="0">
                          <a:solidFill>
                            <a:schemeClr val="tx1"/>
                          </a:solidFill>
                          <a:latin typeface="+mn-lt"/>
                        </a:rPr>
                        <a:t> increases or decreases</a:t>
                      </a:r>
                    </a:p>
                    <a:p>
                      <a:pPr marL="0" marR="0" lvl="0" indent="0" algn="l" rtl="0">
                        <a:lnSpc>
                          <a:spcPct val="100000"/>
                        </a:lnSpc>
                        <a:spcBef>
                          <a:spcPts val="0"/>
                        </a:spcBef>
                        <a:spcAft>
                          <a:spcPts val="0"/>
                        </a:spcAft>
                        <a:buClr>
                          <a:schemeClr val="lt1"/>
                        </a:buClr>
                        <a:buSzPts val="1400"/>
                        <a:buFont typeface="Arial"/>
                        <a:buNone/>
                      </a:pPr>
                      <a:endParaRPr lang="en-US" sz="1600" b="0" u="none" strike="noStrike" cap="none" dirty="0">
                        <a:solidFill>
                          <a:schemeClr val="tx1"/>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P</a:t>
                      </a:r>
                      <a:r>
                        <a:rPr lang="en-US" sz="1600" b="0" u="none" strike="noStrike" cap="none" dirty="0">
                          <a:solidFill>
                            <a:schemeClr val="tx1"/>
                          </a:solidFill>
                          <a:latin typeface="+mn-lt"/>
                        </a:rPr>
                        <a:t> decreases</a:t>
                      </a:r>
                    </a:p>
                    <a:p>
                      <a:pPr marL="0" marR="0" lvl="0" indent="0" algn="l" rtl="0">
                        <a:lnSpc>
                          <a:spcPct val="100000"/>
                        </a:lnSpc>
                        <a:spcBef>
                          <a:spcPts val="0"/>
                        </a:spcBef>
                        <a:spcAft>
                          <a:spcPts val="0"/>
                        </a:spcAft>
                        <a:buClr>
                          <a:schemeClr val="lt1"/>
                        </a:buClr>
                        <a:buSzPts val="1400"/>
                        <a:buFont typeface="Arial"/>
                        <a:buNone/>
                      </a:pPr>
                      <a:endParaRPr sz="1600" b="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r>
                        <a:rPr lang="en-US" sz="1600" i="1" u="none" strike="noStrike" cap="none" dirty="0">
                          <a:solidFill>
                            <a:schemeClr val="tx1"/>
                          </a:solidFill>
                          <a:latin typeface="+mn-lt"/>
                          <a:ea typeface="Arial"/>
                          <a:cs typeface="Arial"/>
                          <a:sym typeface="Arial"/>
                        </a:rPr>
                        <a:t>Q de</a:t>
                      </a:r>
                      <a:r>
                        <a:rPr lang="en-US" sz="1600" u="none" strike="noStrike" cap="none" dirty="0">
                          <a:solidFill>
                            <a:schemeClr val="tx1"/>
                          </a:solidFill>
                          <a:latin typeface="+mn-lt"/>
                          <a:ea typeface="Arial"/>
                          <a:cs typeface="Arial"/>
                          <a:sym typeface="Arial"/>
                        </a:rPr>
                        <a:t>creases</a:t>
                      </a:r>
                    </a:p>
                    <a:p>
                      <a:pPr marL="0" marR="0" lvl="0" indent="0" algn="l" defTabSz="914400" rtl="0" eaLnBrk="1" fontAlgn="auto" latinLnBrk="0" hangingPunct="1">
                        <a:lnSpc>
                          <a:spcPct val="100000"/>
                        </a:lnSpc>
                        <a:spcBef>
                          <a:spcPts val="0"/>
                        </a:spcBef>
                        <a:spcAft>
                          <a:spcPts val="0"/>
                        </a:spcAft>
                        <a:buClr>
                          <a:schemeClr val="lt1"/>
                        </a:buClr>
                        <a:buSzPts val="1400"/>
                        <a:buFont typeface="Arial"/>
                        <a:buNone/>
                        <a:tabLst/>
                        <a:defRPr/>
                      </a:pPr>
                      <a:endParaRPr lang="en-US" sz="1600" u="none" strike="noStrike" cap="none" dirty="0">
                        <a:solidFill>
                          <a:schemeClr val="tx1"/>
                        </a:solidFill>
                        <a:latin typeface="+mn-lt"/>
                      </a:endParaRPr>
                    </a:p>
                    <a:p>
                      <a:pPr marL="0" marR="0" lvl="0" indent="0" algn="l" rtl="0">
                        <a:lnSpc>
                          <a:spcPct val="100000"/>
                        </a:lnSpc>
                        <a:spcBef>
                          <a:spcPts val="0"/>
                        </a:spcBef>
                        <a:spcAft>
                          <a:spcPts val="0"/>
                        </a:spcAft>
                        <a:buClr>
                          <a:schemeClr val="lt1"/>
                        </a:buClr>
                        <a:buSzPts val="1400"/>
                        <a:buFont typeface="Arial"/>
                        <a:buNone/>
                      </a:pPr>
                      <a:r>
                        <a:rPr lang="en-US" sz="1600" b="0" i="1" u="none" strike="noStrike" cap="none" dirty="0">
                          <a:solidFill>
                            <a:schemeClr val="tx1"/>
                          </a:solidFill>
                          <a:latin typeface="+mn-lt"/>
                        </a:rPr>
                        <a:t>P</a:t>
                      </a:r>
                      <a:r>
                        <a:rPr lang="en-US" sz="1600" b="0" u="none" strike="noStrike" cap="none" dirty="0">
                          <a:solidFill>
                            <a:schemeClr val="tx1"/>
                          </a:solidFill>
                          <a:latin typeface="+mn-lt"/>
                        </a:rPr>
                        <a:t> increases or  decreases</a:t>
                      </a:r>
                      <a:endParaRPr sz="1600" b="0" u="none" strike="noStrike" cap="none" dirty="0">
                        <a:solidFill>
                          <a:schemeClr val="tx1"/>
                        </a:solidFill>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501533"/>
                  </a:ext>
                </a:extLst>
              </a:tr>
            </a:tbl>
          </a:graphicData>
        </a:graphic>
      </p:graphicFrame>
    </p:spTree>
    <p:extLst>
      <p:ext uri="{BB962C8B-B14F-4D97-AF65-F5344CB8AC3E}">
        <p14:creationId xmlns:p14="http://schemas.microsoft.com/office/powerpoint/2010/main" val="40547927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mj-lt"/>
              </a:rPr>
              <a:t>Shifts of a Curve vs. Movements Along a Curve</a:t>
            </a:r>
          </a:p>
        </p:txBody>
      </p:sp>
      <p:sp>
        <p:nvSpPr>
          <p:cNvPr id="3" name="Content Placeholder 2"/>
          <p:cNvSpPr>
            <a:spLocks noGrp="1"/>
          </p:cNvSpPr>
          <p:nvPr>
            <p:ph idx="1"/>
          </p:nvPr>
        </p:nvSpPr>
        <p:spPr>
          <a:xfrm>
            <a:off x="457200" y="1600200"/>
            <a:ext cx="8382000" cy="4525963"/>
          </a:xfrm>
        </p:spPr>
        <p:txBody>
          <a:bodyPr>
            <a:noAutofit/>
          </a:bodyPr>
          <a:lstStyle/>
          <a:p>
            <a:pPr marL="0" indent="0">
              <a:spcBef>
                <a:spcPts val="1000"/>
              </a:spcBef>
              <a:buNone/>
            </a:pPr>
            <a:r>
              <a:rPr lang="en-US" sz="2200" dirty="0"/>
              <a:t>Suppose an increase in supply occurs. We now know:</a:t>
            </a:r>
          </a:p>
          <a:p>
            <a:pPr marL="342900" indent="-342900">
              <a:spcBef>
                <a:spcPts val="1000"/>
              </a:spcBef>
            </a:pPr>
            <a:r>
              <a:rPr lang="en-US" sz="2200" dirty="0"/>
              <a:t>Equilibrium quantity will increase, and</a:t>
            </a:r>
          </a:p>
          <a:p>
            <a:pPr marL="342900" indent="-342900">
              <a:spcBef>
                <a:spcPts val="1000"/>
              </a:spcBef>
            </a:pPr>
            <a:r>
              <a:rPr lang="en-US" sz="2200" dirty="0"/>
              <a:t>Equilibrium price will decrease</a:t>
            </a:r>
          </a:p>
          <a:p>
            <a:pPr marL="0" indent="0">
              <a:spcBef>
                <a:spcPts val="1000"/>
              </a:spcBef>
              <a:buNone/>
            </a:pPr>
            <a:r>
              <a:rPr lang="en-US" sz="2200" dirty="0"/>
              <a:t>It is tempting to believe the decrease in price will cause an increase in demand. But this is incorrect.</a:t>
            </a:r>
          </a:p>
          <a:p>
            <a:pPr marL="342900" indent="-342900">
              <a:spcBef>
                <a:spcPts val="1000"/>
              </a:spcBef>
            </a:pPr>
            <a:r>
              <a:rPr lang="en-US" sz="2200" dirty="0"/>
              <a:t>The decrease in price will cause a movement along with demand curve, but </a:t>
            </a:r>
            <a:r>
              <a:rPr lang="en-US" sz="2200" i="1" dirty="0"/>
              <a:t>not</a:t>
            </a:r>
            <a:r>
              <a:rPr lang="en-US" sz="2200" dirty="0"/>
              <a:t> an increase in demand.</a:t>
            </a:r>
          </a:p>
          <a:p>
            <a:pPr marL="342900" indent="-342900">
              <a:spcBef>
                <a:spcPts val="1000"/>
              </a:spcBef>
            </a:pPr>
            <a:r>
              <a:rPr lang="en-US" sz="2200" dirty="0"/>
              <a:t>Why? The demand curve </a:t>
            </a:r>
            <a:r>
              <a:rPr lang="en-US" sz="2200" i="1" dirty="0"/>
              <a:t>already</a:t>
            </a:r>
            <a:r>
              <a:rPr lang="en-US" sz="2200" dirty="0"/>
              <a:t> describes how much of the good consumers want to buy, </a:t>
            </a:r>
            <a:r>
              <a:rPr lang="en-US" sz="2200" i="1" dirty="0"/>
              <a:t>at any given price</a:t>
            </a:r>
            <a:r>
              <a:rPr lang="en-US" sz="2200" dirty="0"/>
              <a:t>.</a:t>
            </a:r>
          </a:p>
          <a:p>
            <a:pPr marL="342900" indent="-342900">
              <a:spcBef>
                <a:spcPts val="1000"/>
              </a:spcBef>
            </a:pPr>
            <a:r>
              <a:rPr lang="en-US" sz="2200" dirty="0"/>
              <a:t>When the price change occurs, we just look at the demand curve to see what happens to how much consumers want to buy.</a:t>
            </a:r>
          </a:p>
        </p:txBody>
      </p:sp>
    </p:spTree>
    <p:extLst>
      <p:ext uri="{BB962C8B-B14F-4D97-AF65-F5344CB8AC3E}">
        <p14:creationId xmlns:p14="http://schemas.microsoft.com/office/powerpoint/2010/main" val="3248931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EB804D4F82C0B4088CBB3A2B255BE33" ma:contentTypeVersion="10" ma:contentTypeDescription="Create a new document." ma:contentTypeScope="" ma:versionID="ba2444f8b87678fbda005eb818e18e7d">
  <xsd:schema xmlns:xsd="http://www.w3.org/2001/XMLSchema" xmlns:xs="http://www.w3.org/2001/XMLSchema" xmlns:p="http://schemas.microsoft.com/office/2006/metadata/properties" xmlns:ns3="d445d462-2029-4cec-993f-47750f9ae382" targetNamespace="http://schemas.microsoft.com/office/2006/metadata/properties" ma:root="true" ma:fieldsID="59dfec31504f62d0b799b89d654e468f" ns3:_="">
    <xsd:import namespace="d445d462-2029-4cec-993f-47750f9ae382"/>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45d462-2029-4cec-993f-47750f9ae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BE2AAD-6CC9-4100-8B6B-7A31EE5170E5}">
  <ds:schemaRefs>
    <ds:schemaRef ds:uri="http://schemas.microsoft.com/sharepoint/v3/contenttype/forms"/>
  </ds:schemaRefs>
</ds:datastoreItem>
</file>

<file path=customXml/itemProps2.xml><?xml version="1.0" encoding="utf-8"?>
<ds:datastoreItem xmlns:ds="http://schemas.openxmlformats.org/officeDocument/2006/customXml" ds:itemID="{440ED968-9256-4114-AF12-237294F6A362}">
  <ds:schemaRefs>
    <ds:schemaRef ds:uri="d445d462-2029-4cec-993f-47750f9ae382"/>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F2637977-83C3-4D06-8E43-B932C56FB1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45d462-2029-4cec-993f-47750f9ae38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1795</TotalTime>
  <Words>3668</Words>
  <Application>Microsoft Macintosh PowerPoint</Application>
  <PresentationFormat>On-screen Show (4:3)</PresentationFormat>
  <Paragraphs>370</Paragraphs>
  <Slides>45</Slides>
  <Notes>43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2" baseType="lpstr">
      <vt:lpstr>Aptos</vt:lpstr>
      <vt:lpstr>Aptos Display</vt:lpstr>
      <vt:lpstr>Arial</vt:lpstr>
      <vt:lpstr>Times New Roman</vt:lpstr>
      <vt:lpstr>Verdana</vt:lpstr>
      <vt:lpstr>Office Theme</vt:lpstr>
      <vt:lpstr>Equation</vt:lpstr>
      <vt:lpstr>Macroeconomics ECON 101</vt:lpstr>
      <vt:lpstr>Chapter Outline</vt:lpstr>
      <vt:lpstr>The Demand Side of the Market</vt:lpstr>
      <vt:lpstr>Figure 3.1 A Demand Schedule and Demand Curve (1 of 3)</vt:lpstr>
      <vt:lpstr>Figure 3.1 A Demand Schedule and Demand Curve (2 of 3)</vt:lpstr>
      <vt:lpstr>Figure 3.1 A Demand Schedule and Demand Curve (3 of 3)</vt:lpstr>
      <vt:lpstr>What Explains the Law of Demand?</vt:lpstr>
      <vt:lpstr>Figure 3.2 Shifting the Demand Curve (1 of 2)</vt:lpstr>
      <vt:lpstr>Figure 3.2 Shifting the Demand Curve (2 of 2)</vt:lpstr>
      <vt:lpstr>Variables That Shift Market Demand</vt:lpstr>
      <vt:lpstr>Changes in Income of Consumers</vt:lpstr>
      <vt:lpstr>Effects of Changes in Income</vt:lpstr>
      <vt:lpstr>Apply the Concept: The Transformation of Lobster from Inferior to Normal Good</vt:lpstr>
      <vt:lpstr>Change in the Price of Related Goods</vt:lpstr>
      <vt:lpstr>Effects of Changes in the Price of Related Goods</vt:lpstr>
      <vt:lpstr>Changes in Tastes</vt:lpstr>
      <vt:lpstr>Changes in Population and Demographics</vt:lpstr>
      <vt:lpstr>Changes in Expectations About Future Prices</vt:lpstr>
      <vt:lpstr>Figure 3.3 A Change in Demand vs a Change in Quantity</vt:lpstr>
      <vt:lpstr>The Supply Side of the Market</vt:lpstr>
      <vt:lpstr>Figure 3.4 A Supply Schedule and Supply Curve (1 of 2)</vt:lpstr>
      <vt:lpstr>Figure 3.4 A Supply Schedule and Supply Curve (2 of 2)</vt:lpstr>
      <vt:lpstr>Figure 3.5 Shifting the Supply Curve (1 of 2)</vt:lpstr>
      <vt:lpstr>Figure 3.5 Shifting the Supply Curve (2 of 2)</vt:lpstr>
      <vt:lpstr>What Variables Shift Market Supply?</vt:lpstr>
      <vt:lpstr>Change in Prices of Inputs</vt:lpstr>
      <vt:lpstr>Technological Change</vt:lpstr>
      <vt:lpstr>Prices of Substitutes in Production</vt:lpstr>
      <vt:lpstr>Number of Firms in the Market and Expected Future Prices</vt:lpstr>
      <vt:lpstr>Figure 3.6 A Change in Supply Versus a Change in Quantity Supplied</vt:lpstr>
      <vt:lpstr>Market Equilibrium: Putting Buyers and Seller Together</vt:lpstr>
      <vt:lpstr>Figure 3.7 Market Equilibrium</vt:lpstr>
      <vt:lpstr>Figure 3.8 The Effect of Surpluses and Shortages on the Market Price (1 of 2)</vt:lpstr>
      <vt:lpstr>Figure 3.8 The Effect of Surpluses and Shortages on the Market Price (2 of 2)</vt:lpstr>
      <vt:lpstr>Demand and Supply Both Count</vt:lpstr>
      <vt:lpstr>The Effect of Demand and Supply Shifts on Equilibrium</vt:lpstr>
      <vt:lpstr>Figure 3.9 The Effect of an Increase in Supply on Equilibrium (1 of 2)</vt:lpstr>
      <vt:lpstr>Figure 3.9 The Effect of an Increase in Supply on Equilibrium (2 of 2)</vt:lpstr>
      <vt:lpstr>Figure 3.10 The Effect of an Increase in Demand on Equilibrium</vt:lpstr>
      <vt:lpstr>Table 3.3 How Shifts in Demand and Supply Affect Equilibrium Price (P) and Quantity (Q) (1 of 2)</vt:lpstr>
      <vt:lpstr>Figure 3.11 Shifts in Demand and Supply Over Time (1 of 3)</vt:lpstr>
      <vt:lpstr>Figure 3.11 Shifts in Demand and Supply Over Time (2 of 3)</vt:lpstr>
      <vt:lpstr>Figure 3.11 Shifts in Demand and Supply Over Time (3 of 3)</vt:lpstr>
      <vt:lpstr>Table 3.3 How Shifts in Demand and Supply Affect Equilibrium Price (P) and Quantity (Q) (2 of 2)</vt:lpstr>
      <vt:lpstr>Shifts of a Curve vs. Movements Along a Curve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Macroeconomics, Third Canadian Edition, Chapter 1  Economics: Foundations and Models</dc:title>
  <dc:subject>Economics</dc:subject>
  <dc:creator>Hubbard, Patrick O’Brien, Serletis, Childs</dc:creator>
  <cp:lastModifiedBy>Muhebullah Karimzada</cp:lastModifiedBy>
  <cp:revision>5409</cp:revision>
  <dcterms:created xsi:type="dcterms:W3CDTF">2014-07-14T20:04:21Z</dcterms:created>
  <dcterms:modified xsi:type="dcterms:W3CDTF">2024-12-30T02:00:14Z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0x0101008EB804D4F82C0B4088CBB3A2B255BE33</vt:lpwstr>
  </property>
</Properties>
</file>