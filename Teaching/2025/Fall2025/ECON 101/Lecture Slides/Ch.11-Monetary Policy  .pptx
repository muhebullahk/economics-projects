
<file path=[Content_Types].xml><?xml version="1.0" encoding="utf-8"?>
<Types xmlns="http://schemas.openxmlformats.org/package/2006/content-types">
  <Default Extension="emf" ContentType="image/x-emf"/>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32"/>
  </p:notesMasterIdLst>
  <p:handoutMasterIdLst>
    <p:handoutMasterId r:id="rId33"/>
  </p:handoutMasterIdLst>
  <p:sldIdLst>
    <p:sldId id="1467" r:id="rId5"/>
    <p:sldId id="1403" r:id="rId6"/>
    <p:sldId id="1405" r:id="rId7"/>
    <p:sldId id="1406" r:id="rId8"/>
    <p:sldId id="1407" r:id="rId9"/>
    <p:sldId id="1460" r:id="rId10"/>
    <p:sldId id="1414" r:id="rId11"/>
    <p:sldId id="1415" r:id="rId12"/>
    <p:sldId id="1416" r:id="rId13"/>
    <p:sldId id="1417" r:id="rId14"/>
    <p:sldId id="1418" r:id="rId15"/>
    <p:sldId id="1419" r:id="rId16"/>
    <p:sldId id="1420" r:id="rId17"/>
    <p:sldId id="1421" r:id="rId18"/>
    <p:sldId id="1461" r:id="rId19"/>
    <p:sldId id="1462" r:id="rId20"/>
    <p:sldId id="1424" r:id="rId21"/>
    <p:sldId id="1425" r:id="rId22"/>
    <p:sldId id="1463" r:id="rId23"/>
    <p:sldId id="1429" r:id="rId24"/>
    <p:sldId id="1430" r:id="rId25"/>
    <p:sldId id="1465" r:id="rId26"/>
    <p:sldId id="1466" r:id="rId27"/>
    <p:sldId id="1438" r:id="rId28"/>
    <p:sldId id="1439" r:id="rId29"/>
    <p:sldId id="1440" r:id="rId30"/>
    <p:sldId id="1441"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36">
          <p15:clr>
            <a:srgbClr val="A4A3A4"/>
          </p15:clr>
        </p15:guide>
        <p15:guide id="4" orient="horz" pos="3984">
          <p15:clr>
            <a:srgbClr val="A4A3A4"/>
          </p15:clr>
        </p15:guide>
        <p15:guide id="5" orient="horz" pos="720">
          <p15:clr>
            <a:srgbClr val="A4A3A4"/>
          </p15:clr>
        </p15:guide>
        <p15:guide id="6" orient="horz" pos="1056">
          <p15:clr>
            <a:srgbClr val="A4A3A4"/>
          </p15:clr>
        </p15:guide>
        <p15:guide id="7" orient="horz" pos="1392">
          <p15:clr>
            <a:srgbClr val="A4A3A4"/>
          </p15:clr>
        </p15:guide>
        <p15:guide id="8" pos="288">
          <p15:clr>
            <a:srgbClr val="A4A3A4"/>
          </p15:clr>
        </p15:guide>
        <p15:guide id="9" pos="54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90775" autoAdjust="0"/>
  </p:normalViewPr>
  <p:slideViewPr>
    <p:cSldViewPr>
      <p:cViewPr varScale="1">
        <p:scale>
          <a:sx n="111" d="100"/>
          <a:sy n="111" d="100"/>
        </p:scale>
        <p:origin x="840" y="208"/>
      </p:cViewPr>
      <p:guideLst>
        <p:guide orient="horz" pos="2160"/>
        <p:guide pos="2880"/>
        <p:guide orient="horz" pos="336"/>
        <p:guide orient="horz" pos="3984"/>
        <p:guide orient="horz" pos="720"/>
        <p:guide orient="horz" pos="1056"/>
        <p:guide orient="horz" pos="1392"/>
        <p:guide pos="288"/>
        <p:guide pos="5472"/>
      </p:guideLst>
    </p:cSldViewPr>
  </p:slideViewPr>
  <p:outlineViewPr>
    <p:cViewPr>
      <p:scale>
        <a:sx n="33" d="100"/>
        <a:sy n="33" d="100"/>
      </p:scale>
      <p:origin x="0" y="4075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0" d="100"/>
          <a:sy n="80" d="100"/>
        </p:scale>
        <p:origin x="-197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12/1/25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12/1/25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Note: We use BoC for Bank of Canada.</a:t>
            </a: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21249796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C261-EA3E-9972-598F-AB953BC16A5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8A078E3-3699-A357-A877-471F27C49A7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90CD74-D0A1-045C-2F6E-947FEA5FCE0F}"/>
              </a:ext>
            </a:extLst>
          </p:cNvPr>
          <p:cNvSpPr>
            <a:spLocks noGrp="1"/>
          </p:cNvSpPr>
          <p:nvPr>
            <p:ph type="dt" sz="half" idx="10"/>
          </p:nvPr>
        </p:nvSpPr>
        <p:spPr/>
        <p:txBody>
          <a:bodyPr/>
          <a:lstStyle/>
          <a:p>
            <a:fld id="{A9DF6EFB-3F44-496C-A842-1E0B3D3B975A}" type="datetimeFigureOut">
              <a:rPr lang="en-US" smtClean="0"/>
              <a:t>12/1/25</a:t>
            </a:fld>
            <a:endParaRPr lang="en-US" dirty="0"/>
          </a:p>
        </p:txBody>
      </p:sp>
      <p:sp>
        <p:nvSpPr>
          <p:cNvPr id="5" name="Footer Placeholder 4">
            <a:extLst>
              <a:ext uri="{FF2B5EF4-FFF2-40B4-BE49-F238E27FC236}">
                <a16:creationId xmlns:a16="http://schemas.microsoft.com/office/drawing/2014/main" id="{020312C3-C463-004D-9BCC-0A04D0B77D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3F17A6-3E5B-4F27-08F3-4DCE2F96591F}"/>
              </a:ext>
            </a:extLst>
          </p:cNvPr>
          <p:cNvSpPr>
            <a:spLocks noGrp="1"/>
          </p:cNvSpPr>
          <p:nvPr>
            <p:ph type="sldNum" sz="quarter" idx="12"/>
          </p:nvPr>
        </p:nvSpPr>
        <p:spPr/>
        <p:txBody>
          <a:bodyPr/>
          <a:lstStyle/>
          <a:p>
            <a:fld id="{200B2350-5261-4F5C-9DF5-EF0D264FC8D2}" type="slidenum">
              <a:rPr lang="en-US" smtClean="0"/>
              <a:t>‹#›</a:t>
            </a:fld>
            <a:endParaRPr lang="en-US" dirty="0"/>
          </a:p>
        </p:txBody>
      </p:sp>
      <p:pic>
        <p:nvPicPr>
          <p:cNvPr id="7" name="Picture 6" descr="Pearson Logo">
            <a:extLst>
              <a:ext uri="{FF2B5EF4-FFF2-40B4-BE49-F238E27FC236}">
                <a16:creationId xmlns:a16="http://schemas.microsoft.com/office/drawing/2014/main" id="{8445FC3D-1785-526E-E013-A2AF2A221E2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7BF42848-B34C-5203-9477-6C3F03D36136}"/>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
        <p:nvSpPr>
          <p:cNvPr id="9" name="TextBox 8">
            <a:extLst>
              <a:ext uri="{FF2B5EF4-FFF2-40B4-BE49-F238E27FC236}">
                <a16:creationId xmlns:a16="http://schemas.microsoft.com/office/drawing/2014/main" id="{22D2FAB4-EE94-F4F7-9AAE-8F88FC0563B3}"/>
              </a:ext>
            </a:extLst>
          </p:cNvPr>
          <p:cNvSpPr txBox="1"/>
          <p:nvPr userDrawn="1"/>
        </p:nvSpPr>
        <p:spPr>
          <a:xfrm>
            <a:off x="8015565" y="6417105"/>
            <a:ext cx="668581"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2015364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61DA-8CAF-D0D5-7314-A77CBABDA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46B1C6-0400-8A8B-4EA2-EF98570E69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A16D8-1564-C540-01F1-521D1299EE69}"/>
              </a:ext>
            </a:extLst>
          </p:cNvPr>
          <p:cNvSpPr>
            <a:spLocks noGrp="1"/>
          </p:cNvSpPr>
          <p:nvPr>
            <p:ph type="dt" sz="half" idx="10"/>
          </p:nvPr>
        </p:nvSpPr>
        <p:spPr/>
        <p:txBody>
          <a:bodyPr/>
          <a:lstStyle/>
          <a:p>
            <a:fld id="{A9DF6EFB-3F44-496C-A842-1E0B3D3B975A}" type="datetimeFigureOut">
              <a:rPr lang="en-US" smtClean="0"/>
              <a:pPr/>
              <a:t>12/1/25</a:t>
            </a:fld>
            <a:endParaRPr lang="en-US" dirty="0"/>
          </a:p>
        </p:txBody>
      </p:sp>
      <p:sp>
        <p:nvSpPr>
          <p:cNvPr id="5" name="Footer Placeholder 4">
            <a:extLst>
              <a:ext uri="{FF2B5EF4-FFF2-40B4-BE49-F238E27FC236}">
                <a16:creationId xmlns:a16="http://schemas.microsoft.com/office/drawing/2014/main" id="{B2445723-AECB-6A6B-A63D-EBBE01E11C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2FF04F-E267-AF5E-9AA1-D397B8C34A3A}"/>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063836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DCEF-7EB8-B4A7-B5A6-0E0F54F1FA2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6DF73F8-8F45-8422-0924-D3F0F32A509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368619-7981-782C-6E8B-B50B944B5E15}"/>
              </a:ext>
            </a:extLst>
          </p:cNvPr>
          <p:cNvSpPr>
            <a:spLocks noGrp="1"/>
          </p:cNvSpPr>
          <p:nvPr>
            <p:ph type="dt" sz="half" idx="10"/>
          </p:nvPr>
        </p:nvSpPr>
        <p:spPr/>
        <p:txBody>
          <a:bodyPr/>
          <a:lstStyle/>
          <a:p>
            <a:fld id="{A9DF6EFB-3F44-496C-A842-1E0B3D3B975A}" type="datetimeFigureOut">
              <a:rPr lang="en-US" smtClean="0"/>
              <a:t>12/1/25</a:t>
            </a:fld>
            <a:endParaRPr lang="en-US" dirty="0"/>
          </a:p>
        </p:txBody>
      </p:sp>
      <p:sp>
        <p:nvSpPr>
          <p:cNvPr id="5" name="Footer Placeholder 4">
            <a:extLst>
              <a:ext uri="{FF2B5EF4-FFF2-40B4-BE49-F238E27FC236}">
                <a16:creationId xmlns:a16="http://schemas.microsoft.com/office/drawing/2014/main" id="{5884CC8F-D80E-0EEE-D444-5C20E7E46F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AA67221-1563-83C8-F29D-CF8F290A983B}"/>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81824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4DBE-7E1A-AEFA-B58C-6D4E2C743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3847F-7831-225B-C3C2-EEA0662A34F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1F20B4-4896-2289-C691-CD7D716A8B4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C3846B-BB20-E3E4-F1A4-8E0CC0BD736F}"/>
              </a:ext>
            </a:extLst>
          </p:cNvPr>
          <p:cNvSpPr>
            <a:spLocks noGrp="1"/>
          </p:cNvSpPr>
          <p:nvPr>
            <p:ph type="dt" sz="half" idx="10"/>
          </p:nvPr>
        </p:nvSpPr>
        <p:spPr/>
        <p:txBody>
          <a:bodyPr/>
          <a:lstStyle/>
          <a:p>
            <a:fld id="{A9DF6EFB-3F44-496C-A842-1E0B3D3B975A}" type="datetimeFigureOut">
              <a:rPr lang="en-US" smtClean="0"/>
              <a:pPr/>
              <a:t>12/1/25</a:t>
            </a:fld>
            <a:endParaRPr lang="en-US" dirty="0"/>
          </a:p>
        </p:txBody>
      </p:sp>
      <p:sp>
        <p:nvSpPr>
          <p:cNvPr id="6" name="Footer Placeholder 5">
            <a:extLst>
              <a:ext uri="{FF2B5EF4-FFF2-40B4-BE49-F238E27FC236}">
                <a16:creationId xmlns:a16="http://schemas.microsoft.com/office/drawing/2014/main" id="{15DE7A17-EC17-F99A-0EAA-C72250FBB4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9DDFCB-8E61-199B-9B8E-552A0207C86E}"/>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258566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31B5-1AF8-D03C-397E-4F789FA64C7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308673-F258-0EEB-891B-1A85576F7F1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7D80525-B2F5-15F0-BE47-92A6CA3215D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BED739-681F-3F6D-8CF2-CDBE0CE12E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A237D5D-3EF3-5B57-5811-EA37BEAB863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C8DF7C-7B3F-6975-5D82-C72ED655913E}"/>
              </a:ext>
            </a:extLst>
          </p:cNvPr>
          <p:cNvSpPr>
            <a:spLocks noGrp="1"/>
          </p:cNvSpPr>
          <p:nvPr>
            <p:ph type="dt" sz="half" idx="10"/>
          </p:nvPr>
        </p:nvSpPr>
        <p:spPr/>
        <p:txBody>
          <a:bodyPr/>
          <a:lstStyle/>
          <a:p>
            <a:fld id="{A9DF6EFB-3F44-496C-A842-1E0B3D3B975A}" type="datetimeFigureOut">
              <a:rPr lang="en-US" smtClean="0"/>
              <a:pPr/>
              <a:t>12/1/25</a:t>
            </a:fld>
            <a:endParaRPr lang="en-US" dirty="0"/>
          </a:p>
        </p:txBody>
      </p:sp>
      <p:sp>
        <p:nvSpPr>
          <p:cNvPr id="8" name="Footer Placeholder 7">
            <a:extLst>
              <a:ext uri="{FF2B5EF4-FFF2-40B4-BE49-F238E27FC236}">
                <a16:creationId xmlns:a16="http://schemas.microsoft.com/office/drawing/2014/main" id="{31E0EA46-AA31-78CC-E1BF-A63F399052D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8B1AECA-86EB-36F7-F412-8E9E3BA81C96}"/>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964189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4AF1-0A54-DC1C-2212-1C5FBD41C1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ED2F4A-738F-9801-833C-CA79FFF2EAEE}"/>
              </a:ext>
            </a:extLst>
          </p:cNvPr>
          <p:cNvSpPr>
            <a:spLocks noGrp="1"/>
          </p:cNvSpPr>
          <p:nvPr>
            <p:ph type="dt" sz="half" idx="10"/>
          </p:nvPr>
        </p:nvSpPr>
        <p:spPr/>
        <p:txBody>
          <a:bodyPr/>
          <a:lstStyle/>
          <a:p>
            <a:fld id="{A9DF6EFB-3F44-496C-A842-1E0B3D3B975A}" type="datetimeFigureOut">
              <a:rPr lang="en-US" smtClean="0"/>
              <a:t>12/1/25</a:t>
            </a:fld>
            <a:endParaRPr lang="en-US" dirty="0"/>
          </a:p>
        </p:txBody>
      </p:sp>
      <p:sp>
        <p:nvSpPr>
          <p:cNvPr id="4" name="Footer Placeholder 3">
            <a:extLst>
              <a:ext uri="{FF2B5EF4-FFF2-40B4-BE49-F238E27FC236}">
                <a16:creationId xmlns:a16="http://schemas.microsoft.com/office/drawing/2014/main" id="{CAB31CB1-E0A1-7BBB-8623-D6A73BA01A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3890E7-6EEA-BA8A-30D3-45516A13464A}"/>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36812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DDAE8-AB3B-4759-01A3-413C0129ABD5}"/>
              </a:ext>
            </a:extLst>
          </p:cNvPr>
          <p:cNvSpPr>
            <a:spLocks noGrp="1"/>
          </p:cNvSpPr>
          <p:nvPr>
            <p:ph type="dt" sz="half" idx="10"/>
          </p:nvPr>
        </p:nvSpPr>
        <p:spPr/>
        <p:txBody>
          <a:bodyPr/>
          <a:lstStyle/>
          <a:p>
            <a:fld id="{A9DF6EFB-3F44-496C-A842-1E0B3D3B975A}" type="datetimeFigureOut">
              <a:rPr lang="en-US" smtClean="0"/>
              <a:pPr/>
              <a:t>12/1/25</a:t>
            </a:fld>
            <a:endParaRPr lang="en-US" dirty="0"/>
          </a:p>
        </p:txBody>
      </p:sp>
      <p:sp>
        <p:nvSpPr>
          <p:cNvPr id="3" name="Footer Placeholder 2">
            <a:extLst>
              <a:ext uri="{FF2B5EF4-FFF2-40B4-BE49-F238E27FC236}">
                <a16:creationId xmlns:a16="http://schemas.microsoft.com/office/drawing/2014/main" id="{30C98B8B-C0C0-1A91-BCD0-09515E2FB7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36B4E1-86E0-2513-7004-EA4294E6C04D}"/>
              </a:ext>
            </a:extLst>
          </p:cNvPr>
          <p:cNvSpPr>
            <a:spLocks noGrp="1"/>
          </p:cNvSpPr>
          <p:nvPr>
            <p:ph type="sldNum" sz="quarter" idx="12"/>
          </p:nvPr>
        </p:nvSpPr>
        <p:spPr/>
        <p:txBody>
          <a:bodyPr/>
          <a:lstStyle/>
          <a:p>
            <a:fld id="{200B2350-5261-4F5C-9DF5-EF0D264FC8D2}" type="slidenum">
              <a:rPr lang="en-US" smtClean="0"/>
              <a:pPr/>
              <a:t>‹#›</a:t>
            </a:fld>
            <a:endParaRPr lang="en-US" dirty="0"/>
          </a:p>
        </p:txBody>
      </p:sp>
      <p:pic>
        <p:nvPicPr>
          <p:cNvPr id="5" name="Picture 4" descr="Pearson Logo">
            <a:extLst>
              <a:ext uri="{FF2B5EF4-FFF2-40B4-BE49-F238E27FC236}">
                <a16:creationId xmlns:a16="http://schemas.microsoft.com/office/drawing/2014/main" id="{5EA036FF-7F36-5724-B030-75D0B7E308C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02596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C9FF-99FF-F578-1F43-1CAD87DB214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6DEF539-889F-BFF8-B369-7B9BCE25A73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7458CC-D689-6858-4D32-9CED858A98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52ACFF-FD34-9894-47B1-01FBD826A37B}"/>
              </a:ext>
            </a:extLst>
          </p:cNvPr>
          <p:cNvSpPr>
            <a:spLocks noGrp="1"/>
          </p:cNvSpPr>
          <p:nvPr>
            <p:ph type="dt" sz="half" idx="10"/>
          </p:nvPr>
        </p:nvSpPr>
        <p:spPr/>
        <p:txBody>
          <a:bodyPr/>
          <a:lstStyle/>
          <a:p>
            <a:fld id="{A9DF6EFB-3F44-496C-A842-1E0B3D3B975A}" type="datetimeFigureOut">
              <a:rPr lang="en-US" smtClean="0"/>
              <a:pPr/>
              <a:t>12/1/25</a:t>
            </a:fld>
            <a:endParaRPr lang="en-US" dirty="0"/>
          </a:p>
        </p:txBody>
      </p:sp>
      <p:sp>
        <p:nvSpPr>
          <p:cNvPr id="6" name="Footer Placeholder 5">
            <a:extLst>
              <a:ext uri="{FF2B5EF4-FFF2-40B4-BE49-F238E27FC236}">
                <a16:creationId xmlns:a16="http://schemas.microsoft.com/office/drawing/2014/main" id="{B3C4D7BD-346D-11F4-CA96-4F06FBE2FB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E2F306-F1A9-5686-6F4E-755C102CFAC3}"/>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519529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DCA8-0000-4BB8-96A3-CCEA4EC6CB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907725-A1DB-BA15-C732-804C756B5C9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9036CA0-8BCD-FDF5-8B62-8FEC7EE087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801F158-6383-C558-AAFC-D3E7A479904E}"/>
              </a:ext>
            </a:extLst>
          </p:cNvPr>
          <p:cNvSpPr>
            <a:spLocks noGrp="1"/>
          </p:cNvSpPr>
          <p:nvPr>
            <p:ph type="dt" sz="half" idx="10"/>
          </p:nvPr>
        </p:nvSpPr>
        <p:spPr/>
        <p:txBody>
          <a:bodyPr/>
          <a:lstStyle/>
          <a:p>
            <a:fld id="{A9DF6EFB-3F44-496C-A842-1E0B3D3B975A}" type="datetimeFigureOut">
              <a:rPr lang="en-US" smtClean="0"/>
              <a:pPr/>
              <a:t>12/1/25</a:t>
            </a:fld>
            <a:endParaRPr lang="en-US" dirty="0"/>
          </a:p>
        </p:txBody>
      </p:sp>
      <p:sp>
        <p:nvSpPr>
          <p:cNvPr id="6" name="Footer Placeholder 5">
            <a:extLst>
              <a:ext uri="{FF2B5EF4-FFF2-40B4-BE49-F238E27FC236}">
                <a16:creationId xmlns:a16="http://schemas.microsoft.com/office/drawing/2014/main" id="{5A4E7832-C0A2-5861-0D25-B1F3E92AFCB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9327C9-F866-DCF7-187F-6033F96AAC12}"/>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02563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7F3C-683A-6F9E-CEAE-4EE48C071D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1E2BD1-1E85-E51B-46A4-FB9A477AA7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9B435-989C-AA3B-6443-CC1F1A4BD5B1}"/>
              </a:ext>
            </a:extLst>
          </p:cNvPr>
          <p:cNvSpPr>
            <a:spLocks noGrp="1"/>
          </p:cNvSpPr>
          <p:nvPr>
            <p:ph type="dt" sz="half" idx="10"/>
          </p:nvPr>
        </p:nvSpPr>
        <p:spPr/>
        <p:txBody>
          <a:bodyPr/>
          <a:lstStyle/>
          <a:p>
            <a:fld id="{A9DF6EFB-3F44-496C-A842-1E0B3D3B975A}" type="datetimeFigureOut">
              <a:rPr lang="en-US" smtClean="0"/>
              <a:pPr/>
              <a:t>12/1/25</a:t>
            </a:fld>
            <a:endParaRPr lang="en-US" dirty="0"/>
          </a:p>
        </p:txBody>
      </p:sp>
      <p:sp>
        <p:nvSpPr>
          <p:cNvPr id="5" name="Footer Placeholder 4">
            <a:extLst>
              <a:ext uri="{FF2B5EF4-FFF2-40B4-BE49-F238E27FC236}">
                <a16:creationId xmlns:a16="http://schemas.microsoft.com/office/drawing/2014/main" id="{77299A9B-2E13-B90C-DEF9-7791ABE9DB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4CFC08-8309-E170-1793-48744A90E810}"/>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5220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636A9-0797-45E8-5B3F-C878E0DE84F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9FC3B6-2BE8-9405-06B0-33563452D0C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6B32E-482B-1C0D-0846-9037D9353C66}"/>
              </a:ext>
            </a:extLst>
          </p:cNvPr>
          <p:cNvSpPr>
            <a:spLocks noGrp="1"/>
          </p:cNvSpPr>
          <p:nvPr>
            <p:ph type="dt" sz="half" idx="10"/>
          </p:nvPr>
        </p:nvSpPr>
        <p:spPr/>
        <p:txBody>
          <a:bodyPr/>
          <a:lstStyle/>
          <a:p>
            <a:fld id="{A9DF6EFB-3F44-496C-A842-1E0B3D3B975A}" type="datetimeFigureOut">
              <a:rPr lang="en-US" smtClean="0"/>
              <a:pPr/>
              <a:t>12/1/25</a:t>
            </a:fld>
            <a:endParaRPr lang="en-US" dirty="0"/>
          </a:p>
        </p:txBody>
      </p:sp>
      <p:sp>
        <p:nvSpPr>
          <p:cNvPr id="5" name="Footer Placeholder 4">
            <a:extLst>
              <a:ext uri="{FF2B5EF4-FFF2-40B4-BE49-F238E27FC236}">
                <a16:creationId xmlns:a16="http://schemas.microsoft.com/office/drawing/2014/main" id="{CC0BF214-EE94-DB02-AF0A-539537081A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A6FABF-7C30-FBA5-A3D5-CFF7E38E4B59}"/>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920163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marL="180975" indent="-180975">
              <a:buClr>
                <a:srgbClr val="007FA3"/>
              </a:buClr>
              <a:buSzPct val="100000"/>
              <a:defRPr sz="2600"/>
            </a:lvl1pPr>
            <a:lvl2pPr marL="569913" indent="-285750">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994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lvl1pPr>
              <a:defRPr>
                <a:latin typeface="+mj-lt"/>
              </a:defRPr>
            </a:lvl1pPr>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1003438"/>
            <a:ext cx="8229600" cy="402770"/>
          </a:xfrm>
        </p:spPr>
        <p:txBody>
          <a:bodyPr>
            <a:noAutofit/>
          </a:bodyPr>
          <a:lstStyle>
            <a:lvl1pPr marL="0" indent="0">
              <a:spcBef>
                <a:spcPts val="0"/>
              </a:spcBef>
              <a:buNone/>
              <a:defRPr sz="24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631962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conent + figure title+source">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99028"/>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Content Placeholder 6"/>
          <p:cNvSpPr>
            <a:spLocks noGrp="1"/>
          </p:cNvSpPr>
          <p:nvPr>
            <p:ph sz="quarter" idx="13"/>
          </p:nvPr>
        </p:nvSpPr>
        <p:spPr>
          <a:xfrm>
            <a:off x="457200" y="1143000"/>
            <a:ext cx="4114800" cy="167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Content Placeholder 8"/>
          <p:cNvSpPr>
            <a:spLocks noGrp="1"/>
          </p:cNvSpPr>
          <p:nvPr>
            <p:ph sz="quarter" idx="14"/>
          </p:nvPr>
        </p:nvSpPr>
        <p:spPr>
          <a:xfrm>
            <a:off x="457200" y="3429000"/>
            <a:ext cx="4114800" cy="152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p:cNvSpPr>
            <a:spLocks noGrp="1"/>
          </p:cNvSpPr>
          <p:nvPr>
            <p:ph sz="quarter" idx="15"/>
          </p:nvPr>
        </p:nvSpPr>
        <p:spPr>
          <a:xfrm>
            <a:off x="4876800" y="1143000"/>
            <a:ext cx="34290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Picture Placeholder 12"/>
          <p:cNvSpPr>
            <a:spLocks noGrp="1"/>
          </p:cNvSpPr>
          <p:nvPr>
            <p:ph type="pic" sz="quarter" idx="16"/>
          </p:nvPr>
        </p:nvSpPr>
        <p:spPr>
          <a:xfrm>
            <a:off x="4953000" y="2819400"/>
            <a:ext cx="3657600" cy="990600"/>
          </a:xfrm>
        </p:spPr>
        <p:txBody>
          <a:bodyPr/>
          <a:lstStyle/>
          <a:p>
            <a:endParaRPr lang="en-IN"/>
          </a:p>
        </p:txBody>
      </p:sp>
      <p:sp>
        <p:nvSpPr>
          <p:cNvPr id="15" name="Content Placeholder 14"/>
          <p:cNvSpPr>
            <a:spLocks noGrp="1"/>
          </p:cNvSpPr>
          <p:nvPr>
            <p:ph sz="quarter" idx="17"/>
          </p:nvPr>
        </p:nvSpPr>
        <p:spPr>
          <a:xfrm>
            <a:off x="5181600" y="4419600"/>
            <a:ext cx="3505200" cy="121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04959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ext and figure">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681325"/>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Text Placeholder 6"/>
          <p:cNvSpPr>
            <a:spLocks noGrp="1"/>
          </p:cNvSpPr>
          <p:nvPr>
            <p:ph type="body" sz="quarter" idx="13"/>
          </p:nvPr>
        </p:nvSpPr>
        <p:spPr>
          <a:xfrm>
            <a:off x="685800" y="1143000"/>
            <a:ext cx="2622205" cy="4743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Picture Placeholder 8"/>
          <p:cNvSpPr>
            <a:spLocks noGrp="1"/>
          </p:cNvSpPr>
          <p:nvPr>
            <p:ph type="pic" sz="quarter" idx="14"/>
          </p:nvPr>
        </p:nvSpPr>
        <p:spPr>
          <a:xfrm>
            <a:off x="5292963" y="1143000"/>
            <a:ext cx="2860437" cy="2231288"/>
          </a:xfrm>
        </p:spPr>
        <p:txBody>
          <a:bodyPr/>
          <a:lstStyle/>
          <a:p>
            <a:endParaRPr lang="en-IN"/>
          </a:p>
        </p:txBody>
      </p:sp>
      <p:sp>
        <p:nvSpPr>
          <p:cNvPr id="11" name="Text Placeholder 10"/>
          <p:cNvSpPr>
            <a:spLocks noGrp="1"/>
          </p:cNvSpPr>
          <p:nvPr>
            <p:ph type="body" sz="quarter" idx="15"/>
          </p:nvPr>
        </p:nvSpPr>
        <p:spPr>
          <a:xfrm>
            <a:off x="5029200" y="4267200"/>
            <a:ext cx="3200400" cy="30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16"/>
          </p:nvPr>
        </p:nvSpPr>
        <p:spPr>
          <a:xfrm>
            <a:off x="4876800" y="3581400"/>
            <a:ext cx="3505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173613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latin typeface="+mj-lt"/>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12/1/25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F55EB5A7-8B5F-345C-4E2F-A3ED926E4C0A}"/>
              </a:ext>
            </a:extLst>
          </p:cNvPr>
          <p:cNvSpPr txBox="1"/>
          <p:nvPr userDrawn="1"/>
        </p:nvSpPr>
        <p:spPr>
          <a:xfrm>
            <a:off x="8015565" y="6417105"/>
            <a:ext cx="668581"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a:extLst>
              <a:ext uri="{FF2B5EF4-FFF2-40B4-BE49-F238E27FC236}">
                <a16:creationId xmlns:a16="http://schemas.microsoft.com/office/drawing/2014/main" id="{7A1A4B6E-881F-01A7-2CD3-B1F5CF8E5ABB}"/>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133866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i pic">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marL="180975" indent="-180975">
              <a:buClr>
                <a:srgbClr val="007FA3"/>
              </a:buClr>
              <a:buSzPct val="100000"/>
              <a:defRPr sz="2600"/>
            </a:lvl1pPr>
            <a:lvl2pPr marL="569913" indent="-285750">
              <a:buClr>
                <a:srgbClr val="007FA3"/>
              </a:buClr>
              <a:defRPr sz="2400"/>
            </a:lvl2pPr>
            <a:lvl3pPr>
              <a:buClr>
                <a:srgbClr val="007FA3"/>
              </a:buClr>
              <a:defRPr sz="2200"/>
            </a:lvl3pPr>
            <a:lvl4pPr>
              <a:buClr>
                <a:srgbClr val="007FA3"/>
              </a:buClr>
              <a:defRPr sz="20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a:extLst>
              <a:ext uri="{FF2B5EF4-FFF2-40B4-BE49-F238E27FC236}">
                <a16:creationId xmlns:a16="http://schemas.microsoft.com/office/drawing/2014/main" id="{BFFCA0D9-7F1A-467C-BAA6-6A789CB71252}"/>
              </a:ext>
            </a:extLst>
          </p:cNvPr>
          <p:cNvSpPr>
            <a:spLocks noGrp="1"/>
          </p:cNvSpPr>
          <p:nvPr>
            <p:ph type="pic" sz="quarter" idx="13"/>
          </p:nvPr>
        </p:nvSpPr>
        <p:spPr>
          <a:xfrm>
            <a:off x="457200" y="2971800"/>
            <a:ext cx="8229600" cy="1600200"/>
          </a:xfrm>
        </p:spPr>
        <p:txBody>
          <a:bodyPr/>
          <a:lstStyle/>
          <a:p>
            <a:endParaRPr lang="en-IN" dirty="0"/>
          </a:p>
        </p:txBody>
      </p:sp>
    </p:spTree>
    <p:extLst>
      <p:ext uri="{BB962C8B-B14F-4D97-AF65-F5344CB8AC3E}">
        <p14:creationId xmlns:p14="http://schemas.microsoft.com/office/powerpoint/2010/main" val="5619932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12/1/25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3021397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0580261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8363517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12/1/25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12/1/25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7307422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ext and figure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681325"/>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Text Placeholder 6"/>
          <p:cNvSpPr>
            <a:spLocks noGrp="1"/>
          </p:cNvSpPr>
          <p:nvPr>
            <p:ph type="body" sz="quarter" idx="13"/>
          </p:nvPr>
        </p:nvSpPr>
        <p:spPr>
          <a:xfrm>
            <a:off x="685800" y="1143001"/>
            <a:ext cx="3810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Picture Placeholder 8"/>
          <p:cNvSpPr>
            <a:spLocks noGrp="1"/>
          </p:cNvSpPr>
          <p:nvPr>
            <p:ph type="pic" sz="quarter" idx="14"/>
          </p:nvPr>
        </p:nvSpPr>
        <p:spPr>
          <a:xfrm>
            <a:off x="5292963" y="1143000"/>
            <a:ext cx="2860437" cy="2231288"/>
          </a:xfrm>
        </p:spPr>
        <p:txBody>
          <a:bodyPr/>
          <a:lstStyle/>
          <a:p>
            <a:endParaRPr lang="en-IN"/>
          </a:p>
        </p:txBody>
      </p:sp>
      <p:sp>
        <p:nvSpPr>
          <p:cNvPr id="11" name="Text Placeholder 10"/>
          <p:cNvSpPr>
            <a:spLocks noGrp="1"/>
          </p:cNvSpPr>
          <p:nvPr>
            <p:ph type="body" sz="quarter" idx="15"/>
          </p:nvPr>
        </p:nvSpPr>
        <p:spPr>
          <a:xfrm>
            <a:off x="5029200" y="4267200"/>
            <a:ext cx="32004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 Placeholder 7"/>
          <p:cNvSpPr>
            <a:spLocks noGrp="1"/>
          </p:cNvSpPr>
          <p:nvPr>
            <p:ph type="body" sz="quarter" idx="16"/>
          </p:nvPr>
        </p:nvSpPr>
        <p:spPr>
          <a:xfrm>
            <a:off x="685800" y="4038600"/>
            <a:ext cx="38862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8154336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19386"/>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Content Placeholder 6"/>
          <p:cNvSpPr>
            <a:spLocks noGrp="1"/>
          </p:cNvSpPr>
          <p:nvPr>
            <p:ph sz="quarter" idx="13"/>
          </p:nvPr>
        </p:nvSpPr>
        <p:spPr>
          <a:xfrm>
            <a:off x="457200" y="1143000"/>
            <a:ext cx="82296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Content Placeholder 8"/>
          <p:cNvSpPr>
            <a:spLocks noGrp="1"/>
          </p:cNvSpPr>
          <p:nvPr>
            <p:ph sz="quarter" idx="14"/>
          </p:nvPr>
        </p:nvSpPr>
        <p:spPr>
          <a:xfrm>
            <a:off x="381000" y="2743200"/>
            <a:ext cx="83058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p:cNvSpPr>
            <a:spLocks noGrp="1"/>
          </p:cNvSpPr>
          <p:nvPr>
            <p:ph sz="quarter" idx="15"/>
          </p:nvPr>
        </p:nvSpPr>
        <p:spPr>
          <a:xfrm>
            <a:off x="457200" y="4343400"/>
            <a:ext cx="82296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3901908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text and figure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681325"/>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Text Placeholder 6"/>
          <p:cNvSpPr>
            <a:spLocks noGrp="1"/>
          </p:cNvSpPr>
          <p:nvPr>
            <p:ph type="body" sz="quarter" idx="13"/>
          </p:nvPr>
        </p:nvSpPr>
        <p:spPr>
          <a:xfrm>
            <a:off x="685800" y="1143001"/>
            <a:ext cx="3810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 Placeholder 7"/>
          <p:cNvSpPr>
            <a:spLocks noGrp="1"/>
          </p:cNvSpPr>
          <p:nvPr>
            <p:ph type="body" sz="quarter" idx="16"/>
          </p:nvPr>
        </p:nvSpPr>
        <p:spPr>
          <a:xfrm>
            <a:off x="685800" y="4038600"/>
            <a:ext cx="38862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Content Placeholder 9"/>
          <p:cNvSpPr>
            <a:spLocks noGrp="1"/>
          </p:cNvSpPr>
          <p:nvPr>
            <p:ph sz="quarter" idx="17"/>
          </p:nvPr>
        </p:nvSpPr>
        <p:spPr>
          <a:xfrm>
            <a:off x="4876800" y="1143000"/>
            <a:ext cx="34290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Picture Placeholder 12"/>
          <p:cNvSpPr>
            <a:spLocks noGrp="1"/>
          </p:cNvSpPr>
          <p:nvPr>
            <p:ph type="pic" sz="quarter" idx="18"/>
          </p:nvPr>
        </p:nvSpPr>
        <p:spPr>
          <a:xfrm>
            <a:off x="4953000" y="2667000"/>
            <a:ext cx="3505200" cy="685800"/>
          </a:xfrm>
        </p:spPr>
        <p:txBody>
          <a:bodyPr/>
          <a:lstStyle/>
          <a:p>
            <a:endParaRPr lang="en-IN"/>
          </a:p>
        </p:txBody>
      </p:sp>
      <p:sp>
        <p:nvSpPr>
          <p:cNvPr id="15" name="Content Placeholder 14"/>
          <p:cNvSpPr>
            <a:spLocks noGrp="1"/>
          </p:cNvSpPr>
          <p:nvPr>
            <p:ph sz="quarter" idx="19"/>
          </p:nvPr>
        </p:nvSpPr>
        <p:spPr>
          <a:xfrm>
            <a:off x="4876800" y="3810000"/>
            <a:ext cx="36576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Content Placeholder 16"/>
          <p:cNvSpPr>
            <a:spLocks noGrp="1"/>
          </p:cNvSpPr>
          <p:nvPr>
            <p:ph sz="quarter" idx="20"/>
          </p:nvPr>
        </p:nvSpPr>
        <p:spPr>
          <a:xfrm>
            <a:off x="5029200" y="5105400"/>
            <a:ext cx="35052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121907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text and figure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681325"/>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Text Placeholder 6"/>
          <p:cNvSpPr>
            <a:spLocks noGrp="1"/>
          </p:cNvSpPr>
          <p:nvPr>
            <p:ph type="body" sz="quarter" idx="13"/>
          </p:nvPr>
        </p:nvSpPr>
        <p:spPr>
          <a:xfrm>
            <a:off x="685800" y="1143001"/>
            <a:ext cx="3810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Picture Placeholder 12"/>
          <p:cNvSpPr>
            <a:spLocks noGrp="1"/>
          </p:cNvSpPr>
          <p:nvPr>
            <p:ph type="pic" sz="quarter" idx="18"/>
          </p:nvPr>
        </p:nvSpPr>
        <p:spPr>
          <a:xfrm>
            <a:off x="609600" y="3733800"/>
            <a:ext cx="3505200" cy="685800"/>
          </a:xfrm>
        </p:spPr>
        <p:txBody>
          <a:bodyPr/>
          <a:lstStyle/>
          <a:p>
            <a:endParaRPr lang="en-IN"/>
          </a:p>
        </p:txBody>
      </p:sp>
      <p:sp>
        <p:nvSpPr>
          <p:cNvPr id="9" name="Picture Placeholder 8"/>
          <p:cNvSpPr>
            <a:spLocks noGrp="1"/>
          </p:cNvSpPr>
          <p:nvPr>
            <p:ph type="pic" sz="quarter" idx="19"/>
          </p:nvPr>
        </p:nvSpPr>
        <p:spPr>
          <a:xfrm>
            <a:off x="4800600" y="1295400"/>
            <a:ext cx="3886200" cy="1066800"/>
          </a:xfrm>
        </p:spPr>
        <p:txBody>
          <a:bodyPr/>
          <a:lstStyle/>
          <a:p>
            <a:endParaRPr lang="en-IN"/>
          </a:p>
        </p:txBody>
      </p:sp>
      <p:sp>
        <p:nvSpPr>
          <p:cNvPr id="12" name="Content Placeholder 11"/>
          <p:cNvSpPr>
            <a:spLocks noGrp="1"/>
          </p:cNvSpPr>
          <p:nvPr>
            <p:ph sz="quarter" idx="20"/>
          </p:nvPr>
        </p:nvSpPr>
        <p:spPr>
          <a:xfrm>
            <a:off x="5029200" y="2819400"/>
            <a:ext cx="35814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290731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600">
                <a:latin typeface="+mn-lt"/>
              </a:defRPr>
            </a:lvl1pPr>
            <a:lvl2pPr indent="-284400">
              <a:defRPr sz="2400">
                <a:latin typeface="+mn-lt"/>
              </a:defRPr>
            </a:lvl2pPr>
            <a:lvl3pPr indent="-230400">
              <a:defRPr sz="2200">
                <a:latin typeface="+mn-lt"/>
              </a:defRPr>
            </a:lvl3pPr>
            <a:lvl4pPr indent="-230400">
              <a:defRPr sz="2000">
                <a:latin typeface="+mn-lt"/>
              </a:defRPr>
            </a:lvl4pPr>
            <a:lvl5pPr indent="-2304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7754841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976C3-CCF4-41AE-2756-AF2E0B1C641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745C23-BBA8-99C5-36D5-E3C7D4CF995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E0331-81B0-D7D6-7A4F-9EB7B27F6E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A9DF6EFB-3F44-496C-A842-1E0B3D3B975A}" type="datetimeFigureOut">
              <a:rPr lang="en-US" smtClean="0"/>
              <a:pPr/>
              <a:t>12/1/25</a:t>
            </a:fld>
            <a:endParaRPr lang="en-US" dirty="0"/>
          </a:p>
        </p:txBody>
      </p:sp>
      <p:sp>
        <p:nvSpPr>
          <p:cNvPr id="5" name="Footer Placeholder 4">
            <a:extLst>
              <a:ext uri="{FF2B5EF4-FFF2-40B4-BE49-F238E27FC236}">
                <a16:creationId xmlns:a16="http://schemas.microsoft.com/office/drawing/2014/main" id="{A91DA835-D6F5-4D98-C381-A1E9AC54284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A993788-E333-3429-8FF8-7583FECFAE2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00B2350-5261-4F5C-9DF5-EF0D264FC8D2}" type="slidenum">
              <a:rPr lang="en-US" smtClean="0"/>
              <a:pPr/>
              <a:t>‹#›</a:t>
            </a:fld>
            <a:endParaRPr lang="en-US" dirty="0"/>
          </a:p>
        </p:txBody>
      </p:sp>
      <p:pic>
        <p:nvPicPr>
          <p:cNvPr id="7" name="Picture 6" descr="Pearson Logo">
            <a:extLst>
              <a:ext uri="{FF2B5EF4-FFF2-40B4-BE49-F238E27FC236}">
                <a16:creationId xmlns:a16="http://schemas.microsoft.com/office/drawing/2014/main" id="{D16B2AEC-93D9-980C-848C-34F8BADD3AC6}"/>
              </a:ext>
            </a:extLst>
          </p:cNvPr>
          <p:cNvPicPr>
            <a:picLocks noChangeAspect="1"/>
          </p:cNvPicPr>
          <p:nvPr userDrawn="1"/>
        </p:nvPicPr>
        <p:blipFill>
          <a:blip r:embed="rId35"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0D4F7EEF-6728-6067-5A72-53E62B7575E0}"/>
              </a:ext>
            </a:extLst>
          </p:cNvPr>
          <p:cNvSpPr txBox="1"/>
          <p:nvPr userDrawn="1"/>
        </p:nvSpPr>
        <p:spPr>
          <a:xfrm>
            <a:off x="8015565" y="6417105"/>
            <a:ext cx="668581"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9" name="TextBox 8">
            <a:extLst>
              <a:ext uri="{FF2B5EF4-FFF2-40B4-BE49-F238E27FC236}">
                <a16:creationId xmlns:a16="http://schemas.microsoft.com/office/drawing/2014/main" id="{9B3549DC-E4A7-5DB2-6554-1044B52164C0}"/>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101642465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4" r:id="rId15"/>
    <p:sldLayoutId id="2147483695" r:id="rId16"/>
    <p:sldLayoutId id="2147483696" r:id="rId17"/>
    <p:sldLayoutId id="2147483657" r:id="rId18"/>
    <p:sldLayoutId id="2147483650" r:id="rId19"/>
    <p:sldLayoutId id="2147483660" r:id="rId20"/>
    <p:sldLayoutId id="2147483662" r:id="rId21"/>
    <p:sldLayoutId id="2147483661" r:id="rId22"/>
    <p:sldLayoutId id="2147483665" r:id="rId23"/>
    <p:sldLayoutId id="2147483666" r:id="rId24"/>
    <p:sldLayoutId id="2147483663" r:id="rId25"/>
    <p:sldLayoutId id="2147483654" r:id="rId26"/>
    <p:sldLayoutId id="2147483655" r:id="rId27"/>
    <p:sldLayoutId id="2147483669" r:id="rId28"/>
    <p:sldLayoutId id="2147483670" r:id="rId29"/>
    <p:sldLayoutId id="2147483672" r:id="rId30"/>
    <p:sldLayoutId id="2147483673" r:id="rId31"/>
    <p:sldLayoutId id="2147483674" r:id="rId32"/>
    <p:sldLayoutId id="2147483677" r:id="rId3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lstStyle/>
          <a:p>
            <a:r>
              <a:rPr lang="en-US" dirty="0"/>
              <a:t>Macroeconomics</a:t>
            </a:r>
            <a:br>
              <a:rPr lang="en-US" dirty="0"/>
            </a:br>
            <a:r>
              <a:rPr lang="en-US" sz="2800" dirty="0"/>
              <a:t>ECON 101</a:t>
            </a:r>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304800" y="3276600"/>
            <a:ext cx="8305800" cy="1981200"/>
          </a:xfrm>
        </p:spPr>
        <p:txBody>
          <a:bodyPr>
            <a:normAutofit/>
          </a:bodyPr>
          <a:lstStyle/>
          <a:p>
            <a:r>
              <a:rPr lang="en-US" sz="2400" dirty="0"/>
              <a:t>Monetary Policy</a:t>
            </a:r>
          </a:p>
          <a:p>
            <a:r>
              <a:rPr lang="en-US" dirty="0"/>
              <a:t>(Chapter 11)</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1FF130-6E6A-D8BD-D982-18EC2E5F73C7}"/>
              </a:ext>
            </a:extLst>
          </p:cNvPr>
          <p:cNvSpPr>
            <a:spLocks noGrp="1"/>
          </p:cNvSpPr>
          <p:nvPr>
            <p:ph type="title"/>
          </p:nvPr>
        </p:nvSpPr>
        <p:spPr/>
        <p:txBody>
          <a:bodyPr/>
          <a:lstStyle/>
          <a:p>
            <a:r>
              <a:rPr lang="en-US" dirty="0">
                <a:latin typeface="+mj-lt"/>
              </a:rPr>
              <a:t>Chapter Outline</a:t>
            </a:r>
            <a:r>
              <a:rPr lang="en-US" sz="2000" b="0" dirty="0">
                <a:latin typeface="+mj-lt"/>
              </a:rPr>
              <a:t> </a:t>
            </a:r>
            <a:endParaRPr lang="en-IN" sz="2000" b="0" dirty="0"/>
          </a:p>
        </p:txBody>
      </p:sp>
      <p:sp>
        <p:nvSpPr>
          <p:cNvPr id="3" name="Content Placeholder 2"/>
          <p:cNvSpPr>
            <a:spLocks noGrp="1"/>
          </p:cNvSpPr>
          <p:nvPr>
            <p:ph idx="1"/>
          </p:nvPr>
        </p:nvSpPr>
        <p:spPr>
          <a:xfrm>
            <a:off x="457200" y="1600200"/>
            <a:ext cx="8229600" cy="2307170"/>
          </a:xfrm>
        </p:spPr>
        <p:txBody>
          <a:bodyPr wrap="square">
            <a:spAutoFit/>
          </a:bodyPr>
          <a:lstStyle/>
          <a:p>
            <a:pPr marL="715963" indent="-715963">
              <a:spcBef>
                <a:spcPts val="1000"/>
              </a:spcBef>
              <a:buNone/>
              <a:tabLst>
                <a:tab pos="715963" algn="l"/>
              </a:tabLst>
            </a:pPr>
            <a:r>
              <a:rPr lang="en-IN" sz="2200" b="1" dirty="0"/>
              <a:t>11.1	</a:t>
            </a:r>
            <a:r>
              <a:rPr lang="en-IN" sz="2200" dirty="0"/>
              <a:t>What is Monetary Policy?</a:t>
            </a:r>
          </a:p>
          <a:p>
            <a:pPr marL="715963" indent="-715963">
              <a:spcBef>
                <a:spcPts val="1000"/>
              </a:spcBef>
              <a:buNone/>
              <a:tabLst>
                <a:tab pos="715963" algn="l"/>
              </a:tabLst>
            </a:pPr>
            <a:r>
              <a:rPr lang="en-IN" sz="2200" b="1" dirty="0"/>
              <a:t>11.2	</a:t>
            </a:r>
            <a:r>
              <a:rPr lang="en-IN" sz="2200" dirty="0"/>
              <a:t>The Money Market and the Bank of Canada’s Choice of Monetary Policy Targets</a:t>
            </a:r>
          </a:p>
          <a:p>
            <a:pPr marL="715963" indent="-715963">
              <a:spcBef>
                <a:spcPts val="1000"/>
              </a:spcBef>
              <a:buNone/>
              <a:tabLst>
                <a:tab pos="715963" algn="l"/>
              </a:tabLst>
            </a:pPr>
            <a:r>
              <a:rPr lang="en-IN" sz="2200" b="1" dirty="0"/>
              <a:t>11.3	</a:t>
            </a:r>
            <a:r>
              <a:rPr lang="en-IN" sz="2200" dirty="0"/>
              <a:t>Monetary Policy and Economic Activity</a:t>
            </a:r>
          </a:p>
          <a:p>
            <a:pPr marL="715963" indent="-715963">
              <a:spcBef>
                <a:spcPts val="1000"/>
              </a:spcBef>
              <a:buNone/>
              <a:tabLst>
                <a:tab pos="715963" algn="l"/>
              </a:tabLst>
            </a:pPr>
            <a:r>
              <a:rPr lang="en-IN" sz="2200" b="1" dirty="0"/>
              <a:t>11.5</a:t>
            </a:r>
            <a:r>
              <a:rPr lang="en-IN" sz="2200" b="1" dirty="0">
                <a:solidFill>
                  <a:srgbClr val="007FA3"/>
                </a:solidFill>
              </a:rPr>
              <a:t>	</a:t>
            </a:r>
            <a:r>
              <a:rPr lang="en-IN" sz="2200" dirty="0"/>
              <a:t>A Closer Look at the Bank of Canada’s Setting of Monetary Policy Targets</a:t>
            </a:r>
          </a:p>
        </p:txBody>
      </p:sp>
    </p:spTree>
    <p:extLst>
      <p:ext uri="{BB962C8B-B14F-4D97-AF65-F5344CB8AC3E}">
        <p14:creationId xmlns:p14="http://schemas.microsoft.com/office/powerpoint/2010/main" val="1037479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What is Monetary Policy?</a:t>
            </a:r>
            <a:endParaRPr lang="en-US" dirty="0"/>
          </a:p>
        </p:txBody>
      </p:sp>
      <p:sp>
        <p:nvSpPr>
          <p:cNvPr id="3" name="Text Placeholder 2">
            <a:extLst>
              <a:ext uri="{FF2B5EF4-FFF2-40B4-BE49-F238E27FC236}">
                <a16:creationId xmlns:a16="http://schemas.microsoft.com/office/drawing/2014/main" id="{A4A6DE50-EAC5-52AA-53D2-FCB514038094}"/>
              </a:ext>
            </a:extLst>
          </p:cNvPr>
          <p:cNvSpPr>
            <a:spLocks noGrp="1"/>
          </p:cNvSpPr>
          <p:nvPr>
            <p:ph type="body" sz="quarter" idx="13"/>
          </p:nvPr>
        </p:nvSpPr>
        <p:spPr/>
        <p:txBody>
          <a:bodyPr/>
          <a:lstStyle/>
          <a:p>
            <a:r>
              <a:rPr lang="en-IN" sz="2400" b="1" dirty="0">
                <a:solidFill>
                  <a:schemeClr val="tx1"/>
                </a:solidFill>
              </a:rPr>
              <a:t>11.1 Learning Objective</a:t>
            </a:r>
          </a:p>
        </p:txBody>
      </p:sp>
      <p:sp>
        <p:nvSpPr>
          <p:cNvPr id="5" name="Content Placeholder 4"/>
          <p:cNvSpPr>
            <a:spLocks noGrp="1"/>
          </p:cNvSpPr>
          <p:nvPr>
            <p:ph sz="quarter" idx="14"/>
          </p:nvPr>
        </p:nvSpPr>
        <p:spPr/>
        <p:txBody>
          <a:bodyPr/>
          <a:lstStyle/>
          <a:p>
            <a:pPr marL="0" indent="0">
              <a:buNone/>
            </a:pPr>
            <a:r>
              <a:rPr lang="en-IN" sz="2400" dirty="0"/>
              <a:t>Define monetary policy and describe the Bank of Canada’s monetary policy goals.</a:t>
            </a:r>
          </a:p>
          <a:p>
            <a:pPr marL="432" indent="0">
              <a:spcBef>
                <a:spcPts val="1000"/>
              </a:spcBef>
              <a:buFont typeface="Arial" panose="020B0604020202020204" pitchFamily="34" charset="0"/>
              <a:buNone/>
            </a:pPr>
            <a:r>
              <a:rPr lang="en-US" sz="2200" dirty="0"/>
              <a:t>In the last chapter, we introduced the monetary policy tools that the Bank of Canada can use to influence the money supply. In this chapter, </a:t>
            </a:r>
          </a:p>
          <a:p>
            <a:r>
              <a:rPr lang="en-US" sz="2200" dirty="0"/>
              <a:t>We’ll address how and why the Bank of Canada takes the actions that it does.</a:t>
            </a:r>
          </a:p>
          <a:p>
            <a:r>
              <a:rPr lang="en-US" sz="2200" dirty="0"/>
              <a:t>We’ll pay special attention to the unique circumstances surrounding the recessions of 2007–2009 and 2020 and the Bank of Canada’s responses to those circumstances.</a:t>
            </a:r>
          </a:p>
        </p:txBody>
      </p:sp>
    </p:spTree>
    <p:extLst>
      <p:ext uri="{BB962C8B-B14F-4D97-AF65-F5344CB8AC3E}">
        <p14:creationId xmlns:p14="http://schemas.microsoft.com/office/powerpoint/2010/main" val="4174397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What is the Role of the Bank of Canada?</a:t>
            </a:r>
            <a:endParaRPr lang="en-US" dirty="0"/>
          </a:p>
        </p:txBody>
      </p:sp>
      <p:sp>
        <p:nvSpPr>
          <p:cNvPr id="5" name="Content Placeholder 4"/>
          <p:cNvSpPr>
            <a:spLocks noGrp="1"/>
          </p:cNvSpPr>
          <p:nvPr>
            <p:ph idx="1"/>
          </p:nvPr>
        </p:nvSpPr>
        <p:spPr/>
        <p:txBody>
          <a:bodyPr>
            <a:noAutofit/>
          </a:bodyPr>
          <a:lstStyle/>
          <a:p>
            <a:pPr marL="0" indent="0">
              <a:buNone/>
            </a:pPr>
            <a:r>
              <a:rPr lang="en-IN" sz="2400" dirty="0"/>
              <a:t>Since its creation in 1934, the main responsibility of the Bank of Canada is to conduct monetary policy “in the best interests of the economic life of the nation.”</a:t>
            </a:r>
          </a:p>
          <a:p>
            <a:pPr marL="0" indent="0">
              <a:buNone/>
            </a:pPr>
            <a:r>
              <a:rPr lang="en-IN" sz="2400" dirty="0"/>
              <a:t>Since World War II, the Bank of Canada has carried out an active </a:t>
            </a:r>
            <a:r>
              <a:rPr lang="en-IN" sz="2400" b="1" i="1" dirty="0"/>
              <a:t>monetary policy</a:t>
            </a:r>
            <a:r>
              <a:rPr lang="en-IN" sz="2400" b="1" dirty="0"/>
              <a:t>.</a:t>
            </a:r>
          </a:p>
          <a:p>
            <a:pPr marL="0" indent="0">
              <a:buNone/>
            </a:pPr>
            <a:r>
              <a:rPr lang="en-IN" sz="2400" b="1" dirty="0"/>
              <a:t>Monetary policy </a:t>
            </a:r>
            <a:r>
              <a:rPr lang="en-IN" sz="2400" dirty="0"/>
              <a:t>refers to the actions the Bank of Canada takes to manage the money supply and interest rates to pursue macroeconomic policy goals.</a:t>
            </a:r>
          </a:p>
        </p:txBody>
      </p:sp>
    </p:spTree>
    <p:extLst>
      <p:ext uri="{BB962C8B-B14F-4D97-AF65-F5344CB8AC3E}">
        <p14:creationId xmlns:p14="http://schemas.microsoft.com/office/powerpoint/2010/main" val="2068234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IN" dirty="0">
                <a:latin typeface="+mj-lt"/>
              </a:rPr>
              <a:t>The Goals of Monetary Policy</a:t>
            </a:r>
            <a:endParaRPr lang="en-US" dirty="0">
              <a:latin typeface="+mj-lt"/>
            </a:endParaRPr>
          </a:p>
        </p:txBody>
      </p:sp>
      <p:sp>
        <p:nvSpPr>
          <p:cNvPr id="5" name="Content Placeholder 4"/>
          <p:cNvSpPr>
            <a:spLocks noGrp="1"/>
          </p:cNvSpPr>
          <p:nvPr>
            <p:ph idx="1"/>
          </p:nvPr>
        </p:nvSpPr>
        <p:spPr/>
        <p:txBody>
          <a:bodyPr>
            <a:noAutofit/>
          </a:bodyPr>
          <a:lstStyle/>
          <a:p>
            <a:pPr marL="0" indent="0">
              <a:spcBef>
                <a:spcPts val="1000"/>
              </a:spcBef>
              <a:buNone/>
            </a:pPr>
            <a:r>
              <a:rPr lang="en-IN" dirty="0"/>
              <a:t>The Bank of Canada pursues four main </a:t>
            </a:r>
            <a:r>
              <a:rPr lang="en-IN" i="1" dirty="0"/>
              <a:t>monetary policy </a:t>
            </a:r>
            <a:r>
              <a:rPr lang="en-IN" dirty="0"/>
              <a:t>goals:</a:t>
            </a:r>
          </a:p>
          <a:p>
            <a:pPr marL="361950" indent="-361950">
              <a:spcBef>
                <a:spcPts val="1000"/>
              </a:spcBef>
              <a:buFont typeface="+mj-lt"/>
              <a:buAutoNum type="arabicPeriod"/>
            </a:pPr>
            <a:r>
              <a:rPr lang="en-IN" dirty="0"/>
              <a:t>Price stability</a:t>
            </a:r>
          </a:p>
          <a:p>
            <a:pPr marL="361950" indent="-361950">
              <a:spcBef>
                <a:spcPts val="1000"/>
              </a:spcBef>
              <a:buFont typeface="+mj-lt"/>
              <a:buAutoNum type="arabicPeriod"/>
            </a:pPr>
            <a:r>
              <a:rPr lang="en-IN" dirty="0"/>
              <a:t>High employment</a:t>
            </a:r>
          </a:p>
          <a:p>
            <a:pPr marL="361950" indent="-361950">
              <a:spcBef>
                <a:spcPts val="1000"/>
              </a:spcBef>
              <a:buFont typeface="+mj-lt"/>
              <a:buAutoNum type="arabicPeriod"/>
            </a:pPr>
            <a:r>
              <a:rPr lang="en-IN" dirty="0"/>
              <a:t>Stability of financial markets and institutions</a:t>
            </a:r>
          </a:p>
          <a:p>
            <a:pPr marL="361950" indent="-361950">
              <a:spcBef>
                <a:spcPts val="1000"/>
              </a:spcBef>
              <a:buFont typeface="+mj-lt"/>
              <a:buAutoNum type="arabicPeriod"/>
            </a:pPr>
            <a:r>
              <a:rPr lang="en-IN" dirty="0"/>
              <a:t>Economic growth</a:t>
            </a:r>
          </a:p>
          <a:p>
            <a:pPr marL="0" indent="0">
              <a:spcBef>
                <a:spcPts val="1000"/>
              </a:spcBef>
              <a:buNone/>
            </a:pPr>
            <a:r>
              <a:rPr lang="en-IN" dirty="0"/>
              <a:t>We will briefly consider each of these goals.</a:t>
            </a:r>
          </a:p>
        </p:txBody>
      </p:sp>
    </p:spTree>
    <p:extLst>
      <p:ext uri="{BB962C8B-B14F-4D97-AF65-F5344CB8AC3E}">
        <p14:creationId xmlns:p14="http://schemas.microsoft.com/office/powerpoint/2010/main" val="4041010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DA69C8-AD38-A9BF-225E-1AE7B55780FB}"/>
              </a:ext>
            </a:extLst>
          </p:cNvPr>
          <p:cNvSpPr>
            <a:spLocks noGrp="1"/>
          </p:cNvSpPr>
          <p:nvPr>
            <p:ph type="title"/>
          </p:nvPr>
        </p:nvSpPr>
        <p:spPr>
          <a:xfrm>
            <a:off x="457200" y="215372"/>
            <a:ext cx="8229600" cy="927628"/>
          </a:xfrm>
        </p:spPr>
        <p:txBody>
          <a:bodyPr/>
          <a:lstStyle/>
          <a:p>
            <a:r>
              <a:rPr lang="en-IN" sz="3000" dirty="0"/>
              <a:t>The Money Market and the Bank of Canada’s Choice of Monetary Policy Targets</a:t>
            </a:r>
          </a:p>
        </p:txBody>
      </p:sp>
      <p:sp>
        <p:nvSpPr>
          <p:cNvPr id="5" name="Text Placeholder 4">
            <a:extLst>
              <a:ext uri="{FF2B5EF4-FFF2-40B4-BE49-F238E27FC236}">
                <a16:creationId xmlns:a16="http://schemas.microsoft.com/office/drawing/2014/main" id="{4DF7BBAD-8CAA-6B4D-1B79-89C400A35A4C}"/>
              </a:ext>
            </a:extLst>
          </p:cNvPr>
          <p:cNvSpPr>
            <a:spLocks noGrp="1"/>
          </p:cNvSpPr>
          <p:nvPr>
            <p:ph type="body" sz="quarter" idx="13"/>
          </p:nvPr>
        </p:nvSpPr>
        <p:spPr>
          <a:xfrm>
            <a:off x="457200" y="1219200"/>
            <a:ext cx="8229600" cy="402770"/>
          </a:xfrm>
        </p:spPr>
        <p:txBody>
          <a:bodyPr/>
          <a:lstStyle/>
          <a:p>
            <a:r>
              <a:rPr lang="en-IN" sz="2400" b="1" dirty="0">
                <a:solidFill>
                  <a:schemeClr val="tx1"/>
                </a:solidFill>
              </a:rPr>
              <a:t>11.2 Learning Objective</a:t>
            </a:r>
          </a:p>
        </p:txBody>
      </p:sp>
      <p:sp>
        <p:nvSpPr>
          <p:cNvPr id="6" name="Content Placeholder 5">
            <a:extLst>
              <a:ext uri="{FF2B5EF4-FFF2-40B4-BE49-F238E27FC236}">
                <a16:creationId xmlns:a16="http://schemas.microsoft.com/office/drawing/2014/main" id="{6420A7E5-A6CF-135F-7226-5D2D516907C7}"/>
              </a:ext>
            </a:extLst>
          </p:cNvPr>
          <p:cNvSpPr>
            <a:spLocks noGrp="1"/>
          </p:cNvSpPr>
          <p:nvPr>
            <p:ph sz="quarter" idx="14"/>
          </p:nvPr>
        </p:nvSpPr>
        <p:spPr>
          <a:xfrm>
            <a:off x="457200" y="1698170"/>
            <a:ext cx="8229600" cy="4427993"/>
          </a:xfrm>
        </p:spPr>
        <p:txBody>
          <a:bodyPr/>
          <a:lstStyle/>
          <a:p>
            <a:pPr marL="0" indent="0">
              <a:buNone/>
            </a:pPr>
            <a:r>
              <a:rPr lang="en-IN" sz="2000" dirty="0"/>
              <a:t>Describe the Bank of Canada’s monetary policy targets and explain how expansionary and contractionary monetary policies affect the interest rate.</a:t>
            </a:r>
          </a:p>
          <a:p>
            <a:pPr marL="0" indent="0">
              <a:spcBef>
                <a:spcPts val="600"/>
              </a:spcBef>
              <a:buFont typeface="Arial" panose="020B0604020202020204" pitchFamily="34" charset="0"/>
              <a:buNone/>
            </a:pPr>
            <a:r>
              <a:rPr lang="en-IN" sz="2000" dirty="0"/>
              <a:t>The Bank of Canada has </a:t>
            </a:r>
            <a:r>
              <a:rPr lang="en-IN" sz="2000" b="1" i="1" dirty="0"/>
              <a:t>two monetary policy tools</a:t>
            </a:r>
            <a:r>
              <a:rPr lang="en-IN" sz="2000" dirty="0"/>
              <a:t> at its disposal:</a:t>
            </a:r>
          </a:p>
          <a:p>
            <a:pPr>
              <a:spcBef>
                <a:spcPts val="600"/>
              </a:spcBef>
            </a:pPr>
            <a:r>
              <a:rPr lang="en-IN" sz="1800" dirty="0"/>
              <a:t>Open market operations</a:t>
            </a:r>
          </a:p>
          <a:p>
            <a:pPr>
              <a:spcBef>
                <a:spcPts val="600"/>
              </a:spcBef>
            </a:pPr>
            <a:r>
              <a:rPr lang="en-IN" sz="1800" dirty="0"/>
              <a:t>Lending to financial institutions</a:t>
            </a:r>
          </a:p>
          <a:p>
            <a:pPr marL="0" indent="0">
              <a:spcBef>
                <a:spcPts val="600"/>
              </a:spcBef>
              <a:buFont typeface="Arial" panose="020B0604020202020204" pitchFamily="34" charset="0"/>
              <a:buNone/>
            </a:pPr>
            <a:r>
              <a:rPr lang="en-IN" sz="2000" dirty="0"/>
              <a:t>It uses these tools to try to influence the inflation rate (and the unemployment rate). However, the Bank of Canada cannot directly influence prices.</a:t>
            </a:r>
          </a:p>
          <a:p>
            <a:pPr marL="0" indent="0">
              <a:spcBef>
                <a:spcPts val="600"/>
              </a:spcBef>
              <a:buFont typeface="Arial" panose="020B0604020202020204" pitchFamily="34" charset="0"/>
              <a:buNone/>
            </a:pPr>
            <a:r>
              <a:rPr lang="en-IN" sz="2000" dirty="0"/>
              <a:t>Instead it influences its </a:t>
            </a:r>
            <a:r>
              <a:rPr lang="en-IN" sz="2000" b="1" i="1" dirty="0"/>
              <a:t>monetary policy targets</a:t>
            </a:r>
            <a:r>
              <a:rPr lang="en-IN" sz="2000" b="1" dirty="0"/>
              <a:t>:</a:t>
            </a:r>
          </a:p>
          <a:p>
            <a:pPr>
              <a:spcBef>
                <a:spcPts val="600"/>
              </a:spcBef>
            </a:pPr>
            <a:r>
              <a:rPr lang="en-IN" sz="1800" dirty="0"/>
              <a:t>The money supply</a:t>
            </a:r>
          </a:p>
          <a:p>
            <a:pPr>
              <a:spcBef>
                <a:spcPts val="600"/>
              </a:spcBef>
            </a:pPr>
            <a:r>
              <a:rPr lang="en-IN" sz="1800" dirty="0"/>
              <a:t>The interest rate (primary monetary policy target of the Bank of Canada)</a:t>
            </a:r>
          </a:p>
          <a:p>
            <a:pPr marL="0" indent="0">
              <a:buNone/>
            </a:pPr>
            <a:endParaRPr lang="en-IN" dirty="0"/>
          </a:p>
        </p:txBody>
      </p:sp>
    </p:spTree>
    <p:extLst>
      <p:ext uri="{BB962C8B-B14F-4D97-AF65-F5344CB8AC3E}">
        <p14:creationId xmlns:p14="http://schemas.microsoft.com/office/powerpoint/2010/main" val="1455296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8780"/>
            <a:ext cx="8229600" cy="523220"/>
          </a:xfrm>
        </p:spPr>
        <p:txBody>
          <a:bodyPr wrap="square">
            <a:spAutoFit/>
          </a:bodyPr>
          <a:lstStyle/>
          <a:p>
            <a:r>
              <a:rPr lang="en-IN" dirty="0">
                <a:latin typeface="+mj-lt"/>
              </a:rPr>
              <a:t>Figure 11.2 The Demand for Money</a:t>
            </a:r>
            <a:endParaRPr lang="en-US" dirty="0">
              <a:latin typeface="+mj-lt"/>
            </a:endParaRPr>
          </a:p>
        </p:txBody>
      </p:sp>
      <p:sp>
        <p:nvSpPr>
          <p:cNvPr id="3" name="Content Placeholder 2"/>
          <p:cNvSpPr>
            <a:spLocks noGrp="1"/>
          </p:cNvSpPr>
          <p:nvPr>
            <p:ph sz="quarter" idx="13"/>
          </p:nvPr>
        </p:nvSpPr>
        <p:spPr>
          <a:xfrm>
            <a:off x="457200" y="1090910"/>
            <a:ext cx="3581400" cy="4885953"/>
          </a:xfrm>
        </p:spPr>
        <p:txBody>
          <a:bodyPr wrap="square">
            <a:spAutoFit/>
          </a:bodyPr>
          <a:lstStyle/>
          <a:p>
            <a:pPr marL="0" indent="0">
              <a:buNone/>
              <a:tabLst>
                <a:tab pos="0" algn="l"/>
              </a:tabLst>
            </a:pPr>
            <a:r>
              <a:rPr lang="en-IN" sz="2000" dirty="0"/>
              <a:t>The </a:t>
            </a:r>
            <a:r>
              <a:rPr lang="en-IN" sz="2000" dirty="0" err="1"/>
              <a:t>BoC’s</a:t>
            </a:r>
            <a:r>
              <a:rPr lang="en-IN" sz="2000" dirty="0"/>
              <a:t> two monetary policy targets are related in an important way:</a:t>
            </a:r>
          </a:p>
          <a:p>
            <a:pPr>
              <a:tabLst>
                <a:tab pos="0" algn="l"/>
              </a:tabLst>
            </a:pPr>
            <a:r>
              <a:rPr lang="en-IN" sz="2000" dirty="0"/>
              <a:t>Higher interest rates result in a lower quantity of money demanded.</a:t>
            </a:r>
          </a:p>
          <a:p>
            <a:pPr marL="0" indent="0">
              <a:buNone/>
            </a:pPr>
            <a:r>
              <a:rPr lang="en-IN" sz="2000" dirty="0"/>
              <a:t>Why? When the interest rate is high, alternatives to holding money begin to look attractive—such as Canada bonds.</a:t>
            </a:r>
          </a:p>
          <a:p>
            <a:r>
              <a:rPr lang="en-IN" sz="2000" dirty="0"/>
              <a:t>So the </a:t>
            </a:r>
            <a:r>
              <a:rPr lang="en-IN" sz="2000" i="1" dirty="0"/>
              <a:t>opportunity cost </a:t>
            </a:r>
            <a:r>
              <a:rPr lang="en-IN" sz="2000" dirty="0"/>
              <a:t>of holding money is higher when the interest rate is high.</a:t>
            </a:r>
          </a:p>
        </p:txBody>
      </p:sp>
      <p:pic>
        <p:nvPicPr>
          <p:cNvPr id="5" name="Picture 4" descr="The x-axis represents quantity of money, M in billions of dollars and is marked $0, $90, and $95 from the left to the right. The y-axis represents interest rate, i and is marked 0%, 3% and 4% from the bottom to the top. The line passes through ($90, 4%) and ($95, 3%). The interest rate decreases from 4% to 3% with the increase of the money quantity from $90 to $95.">
            <a:extLst>
              <a:ext uri="{FF2B5EF4-FFF2-40B4-BE49-F238E27FC236}">
                <a16:creationId xmlns:a16="http://schemas.microsoft.com/office/drawing/2014/main" id="{BAA2FEE7-F61B-F26C-E885-C37E5B4CC0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2135" y="1219200"/>
            <a:ext cx="4364665" cy="2971800"/>
          </a:xfrm>
          <a:prstGeom prst="rect">
            <a:avLst/>
          </a:prstGeom>
        </p:spPr>
      </p:pic>
    </p:spTree>
    <p:extLst>
      <p:ext uri="{BB962C8B-B14F-4D97-AF65-F5344CB8AC3E}">
        <p14:creationId xmlns:p14="http://schemas.microsoft.com/office/powerpoint/2010/main" val="2685452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960"/>
            <a:ext cx="8229600" cy="1046440"/>
          </a:xfrm>
        </p:spPr>
        <p:txBody>
          <a:bodyPr wrap="square">
            <a:spAutoFit/>
          </a:bodyPr>
          <a:lstStyle/>
          <a:p>
            <a:r>
              <a:rPr lang="en-IN" dirty="0">
                <a:latin typeface="+mj-lt"/>
              </a:rPr>
              <a:t>Figure 11.3 Shifts in the Money Demand Curve</a:t>
            </a:r>
            <a:endParaRPr lang="en-US" dirty="0">
              <a:latin typeface="+mj-lt"/>
            </a:endParaRPr>
          </a:p>
        </p:txBody>
      </p:sp>
      <p:sp>
        <p:nvSpPr>
          <p:cNvPr id="3" name="Content Placeholder 2"/>
          <p:cNvSpPr>
            <a:spLocks noGrp="1"/>
          </p:cNvSpPr>
          <p:nvPr>
            <p:ph sz="quarter" idx="13"/>
          </p:nvPr>
        </p:nvSpPr>
        <p:spPr>
          <a:xfrm>
            <a:off x="457200" y="1661532"/>
            <a:ext cx="3854074" cy="3901068"/>
          </a:xfrm>
        </p:spPr>
        <p:txBody>
          <a:bodyPr wrap="square">
            <a:spAutoFit/>
          </a:bodyPr>
          <a:lstStyle/>
          <a:p>
            <a:pPr marL="0" indent="0">
              <a:buNone/>
              <a:tabLst>
                <a:tab pos="0" algn="l"/>
              </a:tabLst>
            </a:pPr>
            <a:r>
              <a:rPr lang="en-IN" sz="1800" dirty="0"/>
              <a:t>What could cause the money demand curve to shift?</a:t>
            </a:r>
          </a:p>
          <a:p>
            <a:pPr>
              <a:tabLst>
                <a:tab pos="0" algn="l"/>
              </a:tabLst>
            </a:pPr>
            <a:r>
              <a:rPr lang="en-IN" sz="1800" dirty="0"/>
              <a:t>A change in the </a:t>
            </a:r>
            <a:r>
              <a:rPr lang="en-IN" sz="1800" i="1" dirty="0"/>
              <a:t>need</a:t>
            </a:r>
            <a:r>
              <a:rPr lang="en-IN" sz="1800" dirty="0"/>
              <a:t> to hold money to pay for goods and services (consumption).</a:t>
            </a:r>
          </a:p>
          <a:p>
            <a:pPr marL="0" indent="0">
              <a:buNone/>
            </a:pPr>
            <a:r>
              <a:rPr lang="en-IN" sz="1800" dirty="0"/>
              <a:t>If more transactions are taking place (higher real </a:t>
            </a:r>
            <a:r>
              <a:rPr lang="en-IN" sz="1800" spc="-300" dirty="0"/>
              <a:t>G D </a:t>
            </a:r>
            <a:r>
              <a:rPr lang="en-IN" sz="1800" dirty="0"/>
              <a:t>P) or more money is needed for each transaction (higher price level), the demand for money will be higher.</a:t>
            </a:r>
          </a:p>
          <a:p>
            <a:pPr marL="0" indent="0">
              <a:buNone/>
            </a:pPr>
            <a:r>
              <a:rPr lang="en-IN" sz="1800" dirty="0"/>
              <a:t>Decreases in real </a:t>
            </a:r>
            <a:r>
              <a:rPr lang="en-IN" sz="1800" spc="-300" dirty="0"/>
              <a:t>G D </a:t>
            </a:r>
            <a:r>
              <a:rPr lang="en-IN" sz="1800" dirty="0"/>
              <a:t>P or the price level decrease money demand.</a:t>
            </a:r>
          </a:p>
        </p:txBody>
      </p:sp>
      <p:pic>
        <p:nvPicPr>
          <p:cNvPr id="5" name="Picture 4" descr="The x-axis represents quantity of money, M in billions of dollars. The y-axis represents the interest rate. The money demand curve at the extreme right is labeled M D subscript 2. The money demand curve in the middle is labeled M D subscript 1. The money demand curvesat the extreme left is labeled M D subscript 3. An arrow extending from the line for M D subscript 1 to the line for M D subscript 2 is labeled an increase in real O D P or an increase in the price level will shift the money demand curve to the right. Another arrow extends from the line for M D subscript 1 to M D subscript 3 is labeled a decrease in real G D P or a decrease in the price level will shift the money demand curve to the left.">
            <a:extLst>
              <a:ext uri="{FF2B5EF4-FFF2-40B4-BE49-F238E27FC236}">
                <a16:creationId xmlns:a16="http://schemas.microsoft.com/office/drawing/2014/main" id="{CE911886-42BA-D390-B3E3-73382F1098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7949" y="1699632"/>
            <a:ext cx="4613915" cy="3084948"/>
          </a:xfrm>
          <a:prstGeom prst="rect">
            <a:avLst/>
          </a:prstGeom>
        </p:spPr>
      </p:pic>
    </p:spTree>
    <p:extLst>
      <p:ext uri="{BB962C8B-B14F-4D97-AF65-F5344CB8AC3E}">
        <p14:creationId xmlns:p14="http://schemas.microsoft.com/office/powerpoint/2010/main" val="3868803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How the </a:t>
            </a:r>
            <a:r>
              <a:rPr lang="en-IN" dirty="0" err="1"/>
              <a:t>BoC</a:t>
            </a:r>
            <a:r>
              <a:rPr lang="en-IN" dirty="0"/>
              <a:t> Manages the Money Supply?</a:t>
            </a:r>
            <a:endParaRPr lang="en-US" dirty="0"/>
          </a:p>
        </p:txBody>
      </p:sp>
      <p:sp>
        <p:nvSpPr>
          <p:cNvPr id="5" name="Content Placeholder 4"/>
          <p:cNvSpPr>
            <a:spLocks noGrp="1"/>
          </p:cNvSpPr>
          <p:nvPr>
            <p:ph idx="1"/>
          </p:nvPr>
        </p:nvSpPr>
        <p:spPr/>
        <p:txBody>
          <a:bodyPr/>
          <a:lstStyle/>
          <a:p>
            <a:pPr marL="0" indent="0">
              <a:spcBef>
                <a:spcPts val="0"/>
              </a:spcBef>
              <a:spcAft>
                <a:spcPts val="1200"/>
              </a:spcAft>
              <a:buNone/>
              <a:defRPr/>
            </a:pPr>
            <a:r>
              <a:rPr lang="en-IN" sz="2400" dirty="0"/>
              <a:t>We saw in the previous chapter that the Bank of Canada alters the money supply by buying and selling government securities.</a:t>
            </a:r>
          </a:p>
          <a:p>
            <a:pPr>
              <a:spcBef>
                <a:spcPts val="0"/>
              </a:spcBef>
              <a:spcAft>
                <a:spcPts val="1200"/>
              </a:spcAft>
              <a:defRPr/>
            </a:pPr>
            <a:r>
              <a:rPr lang="en-IN" sz="2400" dirty="0"/>
              <a:t>To increase the money supply, the Bank of Canada </a:t>
            </a:r>
            <a:r>
              <a:rPr lang="en-IN" sz="2400" i="1" dirty="0"/>
              <a:t>buys</a:t>
            </a:r>
            <a:r>
              <a:rPr lang="en-IN" sz="2400" dirty="0"/>
              <a:t> those securities, the sellers deposit the sale proceeds in a checking account, and the money gets loaned out—increasing the money supply.</a:t>
            </a:r>
          </a:p>
          <a:p>
            <a:pPr>
              <a:spcBef>
                <a:spcPts val="0"/>
              </a:spcBef>
              <a:spcAft>
                <a:spcPts val="1200"/>
              </a:spcAft>
              <a:defRPr/>
            </a:pPr>
            <a:r>
              <a:rPr lang="en-IN" sz="2400" dirty="0"/>
              <a:t>To decrease the money supply, the Bank of Canada sells securities, which decreases bank reserves and contracts the money supply.</a:t>
            </a:r>
          </a:p>
        </p:txBody>
      </p:sp>
    </p:spTree>
    <p:extLst>
      <p:ext uri="{BB962C8B-B14F-4D97-AF65-F5344CB8AC3E}">
        <p14:creationId xmlns:p14="http://schemas.microsoft.com/office/powerpoint/2010/main" val="2219450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315"/>
            <a:ext cx="8229600" cy="984885"/>
          </a:xfrm>
        </p:spPr>
        <p:txBody>
          <a:bodyPr wrap="square">
            <a:noAutofit/>
          </a:bodyPr>
          <a:lstStyle/>
          <a:p>
            <a:r>
              <a:rPr lang="en-IN" sz="2800" dirty="0">
                <a:latin typeface="+mj-lt"/>
              </a:rPr>
              <a:t>Figure 11.4 The Effect on the Interest Rate When the Bank of Canada Increases the Money Supply</a:t>
            </a:r>
            <a:endParaRPr lang="en-US" sz="2000" b="0" dirty="0">
              <a:latin typeface="+mj-lt"/>
            </a:endParaRPr>
          </a:p>
        </p:txBody>
      </p:sp>
      <p:sp>
        <p:nvSpPr>
          <p:cNvPr id="3" name="Content Placeholder 2"/>
          <p:cNvSpPr>
            <a:spLocks noGrp="1"/>
          </p:cNvSpPr>
          <p:nvPr>
            <p:ph sz="quarter" idx="13"/>
          </p:nvPr>
        </p:nvSpPr>
        <p:spPr>
          <a:xfrm>
            <a:off x="457200" y="1581769"/>
            <a:ext cx="3854074" cy="4178067"/>
          </a:xfrm>
        </p:spPr>
        <p:txBody>
          <a:bodyPr wrap="square">
            <a:spAutoFit/>
          </a:bodyPr>
          <a:lstStyle/>
          <a:p>
            <a:pPr marL="0" indent="0">
              <a:buNone/>
              <a:tabLst>
                <a:tab pos="0" algn="l"/>
              </a:tabLst>
            </a:pPr>
            <a:r>
              <a:rPr lang="en-IN" sz="1800" dirty="0"/>
              <a:t>For simplicity, we assume the </a:t>
            </a:r>
            <a:r>
              <a:rPr lang="en-IN" sz="1800" dirty="0" err="1"/>
              <a:t>BoC</a:t>
            </a:r>
            <a:r>
              <a:rPr lang="en-IN" sz="1800" dirty="0"/>
              <a:t> can completely control the money supply.</a:t>
            </a:r>
          </a:p>
          <a:p>
            <a:pPr>
              <a:tabLst>
                <a:tab pos="0" algn="l"/>
              </a:tabLst>
            </a:pPr>
            <a:r>
              <a:rPr lang="en-IN" sz="1800" dirty="0"/>
              <a:t>Then the money supply curve is a vertical line—it does not depend on the interest rate.</a:t>
            </a:r>
          </a:p>
          <a:p>
            <a:pPr marL="0" indent="0">
              <a:buNone/>
            </a:pPr>
            <a:r>
              <a:rPr lang="en-IN" sz="1800" dirty="0"/>
              <a:t>Equilibrium occurs in the money market where the two curves cross.</a:t>
            </a:r>
          </a:p>
          <a:p>
            <a:pPr marL="0" indent="0">
              <a:buNone/>
            </a:pPr>
            <a:r>
              <a:rPr lang="en-IN" sz="1800" i="1" dirty="0"/>
              <a:t>When the BoC increases the money supply, the short-term interest rate must fall until it reaches a level at which households and firms are willing to hold the additional money.</a:t>
            </a:r>
          </a:p>
        </p:txBody>
      </p:sp>
      <p:pic>
        <p:nvPicPr>
          <p:cNvPr id="5" name="Picture 4" descr="The x-axis represents quantity of money, M in billions of dollars and is marked $0, $90, and $95 from the left to the right. The y-axis represents interest rate, i and is marked 0%, 3% and 4% from the bottom to the top. The decreasing line passes through ($90, 4%) and ($95, 3%). The interest rate decreases from 4% to 3% is labeled ellipses the equilibrium interest rate falls. The vertical line are at x = $90 which is labeled money supply M S subscript 1 and x = $95 which is labeled M S subscript 2. An arrow extends from the line for M S subscript 1 to the line for M S subscript 2 is labeled when the bank of Canada increases the money supply from M S subscript 1 to M S subscript 2 ellipses.">
            <a:extLst>
              <a:ext uri="{FF2B5EF4-FFF2-40B4-BE49-F238E27FC236}">
                <a16:creationId xmlns:a16="http://schemas.microsoft.com/office/drawing/2014/main" id="{D605231D-B480-70F7-D104-FE6849B4E3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800" y="1581769"/>
            <a:ext cx="4435497" cy="3523631"/>
          </a:xfrm>
          <a:prstGeom prst="rect">
            <a:avLst/>
          </a:prstGeom>
        </p:spPr>
      </p:pic>
    </p:spTree>
    <p:extLst>
      <p:ext uri="{BB962C8B-B14F-4D97-AF65-F5344CB8AC3E}">
        <p14:creationId xmlns:p14="http://schemas.microsoft.com/office/powerpoint/2010/main" val="1344406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8461773-5EF8-C17F-0D02-523BE248F57A}"/>
              </a:ext>
            </a:extLst>
          </p:cNvPr>
          <p:cNvSpPr>
            <a:spLocks noGrp="1"/>
          </p:cNvSpPr>
          <p:nvPr>
            <p:ph type="title"/>
          </p:nvPr>
        </p:nvSpPr>
        <p:spPr>
          <a:xfrm>
            <a:off x="457200" y="386715"/>
            <a:ext cx="8229600" cy="984885"/>
          </a:xfrm>
        </p:spPr>
        <p:txBody>
          <a:bodyPr wrap="square">
            <a:noAutofit/>
          </a:bodyPr>
          <a:lstStyle/>
          <a:p>
            <a:r>
              <a:rPr lang="en-IN" sz="2800" dirty="0">
                <a:latin typeface="+mj-lt"/>
              </a:rPr>
              <a:t>Figure 11.5 The Effect on the Interest Rate When the Bank of Canada Decreases the Money Supply</a:t>
            </a:r>
            <a:endParaRPr lang="en-US" sz="2000" b="0" dirty="0">
              <a:latin typeface="+mj-lt"/>
            </a:endParaRPr>
          </a:p>
        </p:txBody>
      </p:sp>
      <p:sp>
        <p:nvSpPr>
          <p:cNvPr id="3" name="Content Placeholder 2"/>
          <p:cNvSpPr>
            <a:spLocks noGrp="1"/>
          </p:cNvSpPr>
          <p:nvPr>
            <p:ph type="body" sz="quarter" idx="13"/>
          </p:nvPr>
        </p:nvSpPr>
        <p:spPr>
          <a:xfrm>
            <a:off x="443838" y="1722090"/>
            <a:ext cx="3594762" cy="3708708"/>
          </a:xfrm>
        </p:spPr>
        <p:txBody>
          <a:bodyPr wrap="square">
            <a:spAutoFit/>
          </a:bodyPr>
          <a:lstStyle/>
          <a:p>
            <a:pPr marL="0" indent="0">
              <a:buNone/>
              <a:tabLst>
                <a:tab pos="0" algn="l"/>
              </a:tabLst>
            </a:pPr>
            <a:r>
              <a:rPr lang="en-IN" sz="1800" dirty="0"/>
              <a:t>Alternatively, the Bank of Canada may decide to lower the money supply, by selling Canada bonds.</a:t>
            </a:r>
          </a:p>
          <a:p>
            <a:pPr>
              <a:tabLst>
                <a:tab pos="0" algn="l"/>
              </a:tabLst>
            </a:pPr>
            <a:r>
              <a:rPr lang="en-IN" sz="1800" dirty="0"/>
              <a:t>Now firms and households (who bought the securities with money) hold less money than they want, relative to other financial assets.</a:t>
            </a:r>
          </a:p>
          <a:p>
            <a:pPr>
              <a:tabLst>
                <a:tab pos="0" algn="l"/>
              </a:tabLst>
            </a:pPr>
            <a:r>
              <a:rPr lang="en-IN" sz="1800" dirty="0"/>
              <a:t>In order to retain depositors, banks are forced to offer a higher interest rate on interest-bearing accounts.</a:t>
            </a:r>
          </a:p>
        </p:txBody>
      </p:sp>
      <p:pic>
        <p:nvPicPr>
          <p:cNvPr id="4" name="Picture 3" descr="The x-axis represents quantity of money, M in billions of dollars and is marked $0, $85, and $90 from the left to the right. The y-axis represents interest rate, i and is marked 0%, 4% and 5% from the bottom to the top. The decreasing line passes through ($85, 5%) and ($90, 4%). The line is labeled M D. The interest rate increase from 4% to 5% is labeled ellipses the equilibrium interest rate rises. The vertical line are at x = $85 which is labeled money supply M S subscript 2 and x = $90 which is labeled M S subscript 1. An arrow extends from the line for M S subscript 1 to the line for M S subscript 2 is labeled when the bank of Canada decrease the money supply from M S subscript 1 to M S subscript 2 ellipses.">
            <a:extLst>
              <a:ext uri="{FF2B5EF4-FFF2-40B4-BE49-F238E27FC236}">
                <a16:creationId xmlns:a16="http://schemas.microsoft.com/office/drawing/2014/main" id="{335BD3FC-7DF0-AB9F-1171-709778CD95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1722090"/>
            <a:ext cx="4588344" cy="3962400"/>
          </a:xfrm>
          <a:prstGeom prst="rect">
            <a:avLst/>
          </a:prstGeom>
        </p:spPr>
      </p:pic>
    </p:spTree>
    <p:extLst>
      <p:ext uri="{BB962C8B-B14F-4D97-AF65-F5344CB8AC3E}">
        <p14:creationId xmlns:p14="http://schemas.microsoft.com/office/powerpoint/2010/main" val="3655264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E67FCA4-4581-4EB0-EC6A-EFE2F62011E4}"/>
              </a:ext>
            </a:extLst>
          </p:cNvPr>
          <p:cNvSpPr>
            <a:spLocks noGrp="1"/>
          </p:cNvSpPr>
          <p:nvPr>
            <p:ph type="title"/>
          </p:nvPr>
        </p:nvSpPr>
        <p:spPr/>
        <p:txBody>
          <a:bodyPr/>
          <a:lstStyle/>
          <a:p>
            <a:r>
              <a:rPr lang="en-IN" dirty="0">
                <a:latin typeface="+mj-lt"/>
              </a:rPr>
              <a:t>A Tale of Two Interest Rates</a:t>
            </a:r>
            <a:endParaRPr lang="en-IN" dirty="0"/>
          </a:p>
        </p:txBody>
      </p:sp>
      <p:sp>
        <p:nvSpPr>
          <p:cNvPr id="10" name="Content Placeholder 9">
            <a:extLst>
              <a:ext uri="{FF2B5EF4-FFF2-40B4-BE49-F238E27FC236}">
                <a16:creationId xmlns:a16="http://schemas.microsoft.com/office/drawing/2014/main" id="{5FB07CFF-45EB-DDFB-D841-23C53CFBC742}"/>
              </a:ext>
            </a:extLst>
          </p:cNvPr>
          <p:cNvSpPr>
            <a:spLocks noGrp="1"/>
          </p:cNvSpPr>
          <p:nvPr>
            <p:ph idx="1"/>
          </p:nvPr>
        </p:nvSpPr>
        <p:spPr/>
        <p:txBody>
          <a:bodyPr/>
          <a:lstStyle/>
          <a:p>
            <a:pPr marL="0" indent="0">
              <a:buNone/>
              <a:tabLst>
                <a:tab pos="0" algn="l"/>
              </a:tabLst>
            </a:pPr>
            <a:r>
              <a:rPr lang="en-IN" sz="2000" dirty="0"/>
              <a:t>We now have two models of the interest rate:</a:t>
            </a:r>
          </a:p>
          <a:p>
            <a:pPr marL="0" indent="0">
              <a:spcBef>
                <a:spcPts val="1000"/>
              </a:spcBef>
              <a:buNone/>
              <a:tabLst>
                <a:tab pos="0" algn="l"/>
              </a:tabLst>
            </a:pPr>
            <a:r>
              <a:rPr lang="en-IN" sz="2000" b="1" i="1" dirty="0"/>
              <a:t>The loanable funds model (chapter 6)</a:t>
            </a:r>
          </a:p>
          <a:p>
            <a:pPr>
              <a:spcBef>
                <a:spcPts val="1000"/>
              </a:spcBef>
              <a:tabLst>
                <a:tab pos="0" algn="l"/>
              </a:tabLst>
            </a:pPr>
            <a:r>
              <a:rPr lang="en-IN" sz="2000" dirty="0"/>
              <a:t>Concerned with long-term real rate of interest</a:t>
            </a:r>
          </a:p>
          <a:p>
            <a:pPr>
              <a:spcBef>
                <a:spcPts val="1000"/>
              </a:spcBef>
              <a:tabLst>
                <a:tab pos="0" algn="l"/>
              </a:tabLst>
            </a:pPr>
            <a:r>
              <a:rPr lang="en-IN" sz="2000" dirty="0"/>
              <a:t>Relevant for long-term investors (firms making capital investments, households building new homes, etc.)</a:t>
            </a:r>
          </a:p>
          <a:p>
            <a:pPr marL="0" indent="0">
              <a:spcBef>
                <a:spcPts val="1000"/>
              </a:spcBef>
              <a:buNone/>
            </a:pPr>
            <a:r>
              <a:rPr lang="en-IN" sz="2000" b="1" i="1" dirty="0"/>
              <a:t>The money market model (this chapter)</a:t>
            </a:r>
          </a:p>
          <a:p>
            <a:pPr>
              <a:spcBef>
                <a:spcPts val="1000"/>
              </a:spcBef>
            </a:pPr>
            <a:r>
              <a:rPr lang="en-IN" sz="2000" dirty="0"/>
              <a:t>Concerned with short-term nominal rate of interest</a:t>
            </a:r>
          </a:p>
          <a:p>
            <a:pPr>
              <a:spcBef>
                <a:spcPts val="1000"/>
              </a:spcBef>
            </a:pPr>
            <a:r>
              <a:rPr lang="en-IN" sz="2000" dirty="0"/>
              <a:t>Most relevant for the Bank of Canada: changes in money supply directly affect this interest rate.</a:t>
            </a:r>
          </a:p>
          <a:p>
            <a:pPr marL="0" indent="0">
              <a:spcBef>
                <a:spcPts val="1000"/>
              </a:spcBef>
              <a:buNone/>
              <a:tabLst>
                <a:tab pos="0" algn="l"/>
              </a:tabLst>
            </a:pPr>
            <a:r>
              <a:rPr lang="en-US" sz="2000" dirty="0"/>
              <a:t>Usually, the two interest rates are closely related; an increase in one results in the other increasing also.</a:t>
            </a:r>
          </a:p>
        </p:txBody>
      </p:sp>
    </p:spTree>
    <p:extLst>
      <p:ext uri="{BB962C8B-B14F-4D97-AF65-F5344CB8AC3E}">
        <p14:creationId xmlns:p14="http://schemas.microsoft.com/office/powerpoint/2010/main" val="2253714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8DE05A-BBAB-E798-2748-625DFF4CEEDE}"/>
              </a:ext>
            </a:extLst>
          </p:cNvPr>
          <p:cNvSpPr>
            <a:spLocks noGrp="1"/>
          </p:cNvSpPr>
          <p:nvPr>
            <p:ph type="title"/>
          </p:nvPr>
        </p:nvSpPr>
        <p:spPr/>
        <p:txBody>
          <a:bodyPr/>
          <a:lstStyle/>
          <a:p>
            <a:r>
              <a:rPr lang="en-IN" dirty="0">
                <a:latin typeface="+mj-lt"/>
              </a:rPr>
              <a:t>Choosing a Monetary Policy Target</a:t>
            </a:r>
            <a:endParaRPr lang="en-IN" dirty="0"/>
          </a:p>
        </p:txBody>
      </p:sp>
      <p:sp>
        <p:nvSpPr>
          <p:cNvPr id="7" name="Content Placeholder 6">
            <a:extLst>
              <a:ext uri="{FF2B5EF4-FFF2-40B4-BE49-F238E27FC236}">
                <a16:creationId xmlns:a16="http://schemas.microsoft.com/office/drawing/2014/main" id="{E37375D4-1E03-A39D-A689-1644B209EF01}"/>
              </a:ext>
            </a:extLst>
          </p:cNvPr>
          <p:cNvSpPr>
            <a:spLocks noGrp="1"/>
          </p:cNvSpPr>
          <p:nvPr>
            <p:ph idx="1"/>
          </p:nvPr>
        </p:nvSpPr>
        <p:spPr/>
        <p:txBody>
          <a:bodyPr/>
          <a:lstStyle/>
          <a:p>
            <a:pPr marL="0" indent="0">
              <a:spcBef>
                <a:spcPts val="1000"/>
              </a:spcBef>
              <a:buNone/>
              <a:tabLst>
                <a:tab pos="0" algn="l"/>
              </a:tabLst>
            </a:pPr>
            <a:r>
              <a:rPr lang="en-IN" sz="2200" dirty="0"/>
              <a:t>The Bank of Canada can choose to target a particular level of the money supply, or a particular short-term nominal interest rate.</a:t>
            </a:r>
          </a:p>
          <a:p>
            <a:pPr marL="0" indent="0">
              <a:spcBef>
                <a:spcPts val="1000"/>
              </a:spcBef>
              <a:buNone/>
              <a:tabLst>
                <a:tab pos="0" algn="l"/>
              </a:tabLst>
            </a:pPr>
            <a:r>
              <a:rPr lang="en-IN" sz="2200" dirty="0"/>
              <a:t>It focuses on the interest rate more than on the money supply.</a:t>
            </a:r>
          </a:p>
          <a:p>
            <a:pPr marL="0" indent="0">
              <a:spcBef>
                <a:spcPts val="1000"/>
              </a:spcBef>
              <a:buNone/>
              <a:tabLst>
                <a:tab pos="0" algn="l"/>
              </a:tabLst>
            </a:pPr>
            <a:r>
              <a:rPr lang="en-IN" sz="2200" dirty="0"/>
              <a:t>There are many different interest rates in the economy; the Bank of Canada targets the </a:t>
            </a:r>
            <a:r>
              <a:rPr lang="en-IN" sz="2200" b="1" dirty="0"/>
              <a:t>overnight rate:</a:t>
            </a:r>
            <a:r>
              <a:rPr lang="en-IN" sz="2200" dirty="0"/>
              <a:t> the interest rate banks charge each other for overnight loans.</a:t>
            </a:r>
          </a:p>
          <a:p>
            <a:pPr>
              <a:spcBef>
                <a:spcPts val="1000"/>
              </a:spcBef>
              <a:tabLst>
                <a:tab pos="0" algn="l"/>
              </a:tabLst>
            </a:pPr>
            <a:r>
              <a:rPr lang="en-IN" sz="2200" dirty="0"/>
              <a:t>The Bank of Canada announces the target for the overnight interest rate on eight “fixed” dates throughout the year. Bank uses open market operations to set a target for overnight interest rate and usually comes very close to reaching it.</a:t>
            </a:r>
          </a:p>
        </p:txBody>
      </p:sp>
    </p:spTree>
    <p:extLst>
      <p:ext uri="{BB962C8B-B14F-4D97-AF65-F5344CB8AC3E}">
        <p14:creationId xmlns:p14="http://schemas.microsoft.com/office/powerpoint/2010/main" val="131558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2416"/>
            <a:ext cx="8229600" cy="984885"/>
          </a:xfrm>
        </p:spPr>
        <p:txBody>
          <a:bodyPr wrap="square">
            <a:spAutoFit/>
          </a:bodyPr>
          <a:lstStyle/>
          <a:p>
            <a:r>
              <a:rPr lang="en-US" sz="3200" dirty="0">
                <a:latin typeface="+mj-lt"/>
              </a:rPr>
              <a:t>Figure 11.6 Overnight Interest Rate Targeting, July 1960–September 2022</a:t>
            </a:r>
          </a:p>
        </p:txBody>
      </p:sp>
      <p:sp>
        <p:nvSpPr>
          <p:cNvPr id="3" name="Content Placeholder 2"/>
          <p:cNvSpPr>
            <a:spLocks noGrp="1"/>
          </p:cNvSpPr>
          <p:nvPr>
            <p:ph sz="quarter" idx="13"/>
          </p:nvPr>
        </p:nvSpPr>
        <p:spPr>
          <a:xfrm>
            <a:off x="457200" y="1524000"/>
            <a:ext cx="3657600" cy="4078039"/>
          </a:xfrm>
        </p:spPr>
        <p:txBody>
          <a:bodyPr wrap="square">
            <a:spAutoFit/>
          </a:bodyPr>
          <a:lstStyle/>
          <a:p>
            <a:pPr marL="0" indent="0">
              <a:buNone/>
              <a:tabLst>
                <a:tab pos="0" algn="l"/>
              </a:tabLst>
            </a:pPr>
            <a:r>
              <a:rPr lang="en-IN" sz="2000" dirty="0"/>
              <a:t>Over the years, the Bank of Canada has pushed the overnight rate up and down to achieve its policy goals.</a:t>
            </a:r>
          </a:p>
          <a:p>
            <a:pPr marL="0" indent="0">
              <a:buNone/>
              <a:tabLst>
                <a:tab pos="0" algn="l"/>
              </a:tabLst>
            </a:pPr>
            <a:r>
              <a:rPr lang="en-IN" sz="2000" dirty="0"/>
              <a:t>In response to the financial crisis in 2007– 2009 and the COVID-19 pandemic in 2020, BoC cut the target overnight rate several times. </a:t>
            </a:r>
          </a:p>
          <a:p>
            <a:pPr marL="0" indent="0">
              <a:buNone/>
              <a:tabLst>
                <a:tab pos="0" algn="l"/>
              </a:tabLst>
            </a:pPr>
            <a:r>
              <a:rPr lang="en-IN" sz="2000" dirty="0"/>
              <a:t>A change in overnight rate has a greater effect on short-term than long-term rates.</a:t>
            </a:r>
          </a:p>
        </p:txBody>
      </p:sp>
      <p:sp>
        <p:nvSpPr>
          <p:cNvPr id="5" name="TextBox 4">
            <a:extLst>
              <a:ext uri="{FF2B5EF4-FFF2-40B4-BE49-F238E27FC236}">
                <a16:creationId xmlns:a16="http://schemas.microsoft.com/office/drawing/2014/main" id="{57AF99E2-103A-1125-A484-CB2D4344325B}"/>
              </a:ext>
            </a:extLst>
          </p:cNvPr>
          <p:cNvSpPr txBox="1"/>
          <p:nvPr/>
        </p:nvSpPr>
        <p:spPr>
          <a:xfrm>
            <a:off x="4591050" y="5422275"/>
            <a:ext cx="4288161" cy="276999"/>
          </a:xfrm>
          <a:prstGeom prst="rect">
            <a:avLst/>
          </a:prstGeom>
          <a:noFill/>
        </p:spPr>
        <p:txBody>
          <a:bodyPr wrap="square">
            <a:spAutoFit/>
          </a:bodyPr>
          <a:lstStyle/>
          <a:p>
            <a:r>
              <a:rPr lang="en-US" sz="1200" b="1" i="0" u="none" strike="noStrike" baseline="0" dirty="0">
                <a:latin typeface="+mj-lt"/>
              </a:rPr>
              <a:t>SOURCE</a:t>
            </a:r>
            <a:r>
              <a:rPr lang="en-US" sz="1200" b="0" i="0" u="none" strike="noStrike" baseline="0" dirty="0">
                <a:latin typeface="+mj-lt"/>
              </a:rPr>
              <a:t>: Bank for International Settlements, www.bis.org.</a:t>
            </a:r>
            <a:endParaRPr lang="en-US" sz="1200" dirty="0">
              <a:latin typeface="+mj-lt"/>
            </a:endParaRPr>
          </a:p>
        </p:txBody>
      </p:sp>
      <p:pic>
        <p:nvPicPr>
          <p:cNvPr id="6" name="Picture 5" descr="The x-axis represents years and ranges from 1960 to 2025 in the increments of 5. The y-axis represents Bank of Canada policy rate and ranges from 0 to 25 in the increments of 5. The curve passes through (1960, 3), (1965, 4), (1970, 8), (1975, 9), (1980, 11), (1985, 12), (1990, 13), (1995, 9), (2000, 6), (2005, 2), (2010, 0.5), (2015, 1), and (2018, 2.5). The shaded areas show the rate which is 25% for the years 1960 to 1962, 1972 to 1974, 1978 to 1980, 1981 to 1982, 1989 to 1992, and 2008 to 2009.All values are estimated. ">
            <a:extLst>
              <a:ext uri="{FF2B5EF4-FFF2-40B4-BE49-F238E27FC236}">
                <a16:creationId xmlns:a16="http://schemas.microsoft.com/office/drawing/2014/main" id="{8D424DBA-78F4-1823-95CD-C944984333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1568196"/>
            <a:ext cx="4703439" cy="3721608"/>
          </a:xfrm>
          <a:prstGeom prst="rect">
            <a:avLst/>
          </a:prstGeom>
        </p:spPr>
      </p:pic>
    </p:spTree>
    <p:extLst>
      <p:ext uri="{BB962C8B-B14F-4D97-AF65-F5344CB8AC3E}">
        <p14:creationId xmlns:p14="http://schemas.microsoft.com/office/powerpoint/2010/main" val="2472011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A4E29AA-E0D5-25EB-A5C1-4845E34A1DA0}"/>
              </a:ext>
            </a:extLst>
          </p:cNvPr>
          <p:cNvSpPr>
            <a:spLocks noGrp="1"/>
          </p:cNvSpPr>
          <p:nvPr>
            <p:ph type="title"/>
          </p:nvPr>
        </p:nvSpPr>
        <p:spPr/>
        <p:txBody>
          <a:bodyPr/>
          <a:lstStyle/>
          <a:p>
            <a:r>
              <a:rPr lang="en-IN" sz="3200" dirty="0">
                <a:latin typeface="+mj-lt"/>
              </a:rPr>
              <a:t>Monetary Policy and Economic Activity</a:t>
            </a:r>
            <a:endParaRPr lang="en-IN" dirty="0"/>
          </a:p>
        </p:txBody>
      </p:sp>
      <p:sp>
        <p:nvSpPr>
          <p:cNvPr id="9" name="Text Placeholder 8">
            <a:extLst>
              <a:ext uri="{FF2B5EF4-FFF2-40B4-BE49-F238E27FC236}">
                <a16:creationId xmlns:a16="http://schemas.microsoft.com/office/drawing/2014/main" id="{E791206B-90A0-B07D-270E-911849FD97C5}"/>
              </a:ext>
            </a:extLst>
          </p:cNvPr>
          <p:cNvSpPr>
            <a:spLocks noGrp="1"/>
          </p:cNvSpPr>
          <p:nvPr>
            <p:ph type="body" sz="quarter" idx="13"/>
          </p:nvPr>
        </p:nvSpPr>
        <p:spPr/>
        <p:txBody>
          <a:bodyPr/>
          <a:lstStyle/>
          <a:p>
            <a:r>
              <a:rPr lang="en-IN" sz="2400" b="1" dirty="0">
                <a:solidFill>
                  <a:schemeClr val="tx1"/>
                </a:solidFill>
              </a:rPr>
              <a:t>11.3 Learning Objective</a:t>
            </a:r>
          </a:p>
        </p:txBody>
      </p:sp>
      <p:sp>
        <p:nvSpPr>
          <p:cNvPr id="10" name="Content Placeholder 9">
            <a:extLst>
              <a:ext uri="{FF2B5EF4-FFF2-40B4-BE49-F238E27FC236}">
                <a16:creationId xmlns:a16="http://schemas.microsoft.com/office/drawing/2014/main" id="{1A4B433A-E5F5-9597-306D-B23BFD3E0A2B}"/>
              </a:ext>
            </a:extLst>
          </p:cNvPr>
          <p:cNvSpPr>
            <a:spLocks noGrp="1"/>
          </p:cNvSpPr>
          <p:nvPr>
            <p:ph sz="quarter" idx="14"/>
          </p:nvPr>
        </p:nvSpPr>
        <p:spPr/>
        <p:txBody>
          <a:bodyPr/>
          <a:lstStyle/>
          <a:p>
            <a:pPr marL="0" indent="0">
              <a:buNone/>
            </a:pPr>
            <a:r>
              <a:rPr lang="en-IN" sz="2400" dirty="0"/>
              <a:t>Use aggregate demand and aggregate supply graphs to show the effects of monetary policy on real </a:t>
            </a:r>
            <a:r>
              <a:rPr lang="en-IN" sz="2400" spc="-300" dirty="0"/>
              <a:t>G D </a:t>
            </a:r>
            <a:r>
              <a:rPr lang="en-IN" sz="2400" dirty="0"/>
              <a:t>P and the price level.</a:t>
            </a:r>
          </a:p>
          <a:p>
            <a:pPr marL="432" indent="0">
              <a:spcBef>
                <a:spcPts val="1000"/>
              </a:spcBef>
              <a:buNone/>
            </a:pPr>
            <a:r>
              <a:rPr lang="en-US" sz="2200" dirty="0"/>
              <a:t>The ability of the Bank of Canada to affect economic variables such as real GDP depends on its ability to affect long-term real interest rates.</a:t>
            </a:r>
          </a:p>
          <a:p>
            <a:pPr>
              <a:spcBef>
                <a:spcPts val="1000"/>
              </a:spcBef>
            </a:pPr>
            <a:r>
              <a:rPr lang="en-US" sz="2200" dirty="0"/>
              <a:t>It uses the overnight interest rate (a short-term nominal interest rate) for this—an imperfect tool.</a:t>
            </a:r>
          </a:p>
          <a:p>
            <a:pPr>
              <a:spcBef>
                <a:spcPts val="1000"/>
              </a:spcBef>
            </a:pPr>
            <a:r>
              <a:rPr lang="en-US" sz="2200" dirty="0"/>
              <a:t>We will assume in this section that the Bank of Canada </a:t>
            </a:r>
            <a:r>
              <a:rPr lang="en-US" sz="2200" b="1" dirty="0"/>
              <a:t>can</a:t>
            </a:r>
            <a:r>
              <a:rPr lang="en-US" sz="2200" dirty="0"/>
              <a:t> affect long-term real interest rates using the overnight interest rate.</a:t>
            </a:r>
            <a:endParaRPr lang="en-IN" sz="2200" dirty="0"/>
          </a:p>
        </p:txBody>
      </p:sp>
    </p:spTree>
    <p:extLst>
      <p:ext uri="{BB962C8B-B14F-4D97-AF65-F5344CB8AC3E}">
        <p14:creationId xmlns:p14="http://schemas.microsoft.com/office/powerpoint/2010/main" val="1530641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B4582C5-2ABF-9E70-B4C0-FE6B16FF66E8}"/>
              </a:ext>
            </a:extLst>
          </p:cNvPr>
          <p:cNvSpPr>
            <a:spLocks noGrp="1"/>
          </p:cNvSpPr>
          <p:nvPr>
            <p:ph type="title"/>
          </p:nvPr>
        </p:nvSpPr>
        <p:spPr/>
        <p:txBody>
          <a:bodyPr/>
          <a:lstStyle/>
          <a:p>
            <a:r>
              <a:rPr lang="en-IN" dirty="0">
                <a:latin typeface="+mj-lt"/>
              </a:rPr>
              <a:t>How Interest Rates Affect Aggregate Demand</a:t>
            </a:r>
            <a:endParaRPr lang="en-IN" dirty="0"/>
          </a:p>
        </p:txBody>
      </p:sp>
      <p:sp>
        <p:nvSpPr>
          <p:cNvPr id="9" name="Content Placeholder 8">
            <a:extLst>
              <a:ext uri="{FF2B5EF4-FFF2-40B4-BE49-F238E27FC236}">
                <a16:creationId xmlns:a16="http://schemas.microsoft.com/office/drawing/2014/main" id="{D00556F2-EB72-B094-F0BC-FD69C23D7B06}"/>
              </a:ext>
            </a:extLst>
          </p:cNvPr>
          <p:cNvSpPr>
            <a:spLocks noGrp="1"/>
          </p:cNvSpPr>
          <p:nvPr>
            <p:ph idx="1"/>
          </p:nvPr>
        </p:nvSpPr>
        <p:spPr>
          <a:xfrm>
            <a:off x="457200" y="1600200"/>
            <a:ext cx="8229600" cy="4724400"/>
          </a:xfrm>
        </p:spPr>
        <p:txBody>
          <a:bodyPr/>
          <a:lstStyle/>
          <a:p>
            <a:pPr marL="0" indent="0">
              <a:spcBef>
                <a:spcPts val="600"/>
              </a:spcBef>
              <a:buNone/>
              <a:tabLst>
                <a:tab pos="0" algn="l"/>
              </a:tabLst>
            </a:pPr>
            <a:r>
              <a:rPr lang="en-IN" sz="2000" dirty="0"/>
              <a:t>Interest rates affect aggregate demand through:</a:t>
            </a:r>
          </a:p>
          <a:p>
            <a:pPr marL="0" indent="0">
              <a:spcBef>
                <a:spcPts val="600"/>
              </a:spcBef>
              <a:buNone/>
              <a:tabLst>
                <a:tab pos="0" algn="l"/>
              </a:tabLst>
            </a:pPr>
            <a:r>
              <a:rPr lang="en-IN" sz="2000" b="1" i="1" dirty="0"/>
              <a:t>Consumption</a:t>
            </a:r>
          </a:p>
          <a:p>
            <a:pPr marL="0" indent="0">
              <a:spcBef>
                <a:spcPts val="600"/>
              </a:spcBef>
              <a:buNone/>
              <a:tabLst>
                <a:tab pos="0" algn="l"/>
              </a:tabLst>
            </a:pPr>
            <a:r>
              <a:rPr lang="en-IN" sz="2000" dirty="0"/>
              <a:t>Lower interest rates encourage buying on credit, which typically affects the sale of durables. Lower rates also discourage saving.</a:t>
            </a:r>
          </a:p>
          <a:p>
            <a:pPr marL="0" indent="0">
              <a:spcBef>
                <a:spcPts val="600"/>
              </a:spcBef>
              <a:buNone/>
              <a:tabLst>
                <a:tab pos="0" algn="l"/>
              </a:tabLst>
            </a:pPr>
            <a:r>
              <a:rPr lang="en-IN" sz="2000" b="1" i="1" dirty="0"/>
              <a:t>Investment</a:t>
            </a:r>
          </a:p>
          <a:p>
            <a:pPr marL="0" indent="0">
              <a:spcBef>
                <a:spcPts val="600"/>
              </a:spcBef>
              <a:buNone/>
              <a:tabLst>
                <a:tab pos="0" algn="l"/>
              </a:tabLst>
            </a:pPr>
            <a:r>
              <a:rPr lang="en-IN" sz="2000" dirty="0"/>
              <a:t>Lower interest rates encourage capital investment by firms:</a:t>
            </a:r>
          </a:p>
          <a:p>
            <a:pPr>
              <a:spcBef>
                <a:spcPts val="600"/>
              </a:spcBef>
              <a:tabLst>
                <a:tab pos="0" algn="l"/>
              </a:tabLst>
            </a:pPr>
            <a:r>
              <a:rPr lang="en-IN" sz="2000" dirty="0"/>
              <a:t>By making it cheaper to borrow (sell corporate bonds).</a:t>
            </a:r>
          </a:p>
          <a:p>
            <a:pPr>
              <a:spcBef>
                <a:spcPts val="600"/>
              </a:spcBef>
              <a:tabLst>
                <a:tab pos="0" algn="l"/>
              </a:tabLst>
            </a:pPr>
            <a:r>
              <a:rPr lang="en-IN" sz="2000" dirty="0"/>
              <a:t>By making stocks more attractive for households to purchase, allowing firms to raise funds by selling additional stock.</a:t>
            </a:r>
          </a:p>
          <a:p>
            <a:pPr marL="0" indent="0">
              <a:spcBef>
                <a:spcPts val="600"/>
              </a:spcBef>
              <a:buNone/>
            </a:pPr>
            <a:r>
              <a:rPr lang="en-IN" sz="2000" dirty="0"/>
              <a:t>Lower rates also encourage new residential investment.</a:t>
            </a:r>
          </a:p>
          <a:p>
            <a:pPr marL="0" indent="0">
              <a:spcBef>
                <a:spcPts val="600"/>
              </a:spcBef>
              <a:buNone/>
            </a:pPr>
            <a:r>
              <a:rPr lang="en-IN" sz="2000" b="1" i="1" dirty="0"/>
              <a:t>Net exports</a:t>
            </a:r>
          </a:p>
          <a:p>
            <a:pPr marL="0" indent="0">
              <a:spcBef>
                <a:spcPts val="600"/>
              </a:spcBef>
              <a:buNone/>
            </a:pPr>
            <a:r>
              <a:rPr lang="en-IN" sz="2000" dirty="0"/>
              <a:t>High Canadian interest rates attract foreign funds, raising the Canadian dollar exchange rate, causing net exports to fall, and vice versa.</a:t>
            </a:r>
          </a:p>
        </p:txBody>
      </p:sp>
    </p:spTree>
    <p:extLst>
      <p:ext uri="{BB962C8B-B14F-4D97-AF65-F5344CB8AC3E}">
        <p14:creationId xmlns:p14="http://schemas.microsoft.com/office/powerpoint/2010/main" val="69808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5579"/>
            <a:ext cx="8229600" cy="523220"/>
          </a:xfrm>
        </p:spPr>
        <p:txBody>
          <a:bodyPr wrap="square">
            <a:spAutoFit/>
          </a:bodyPr>
          <a:lstStyle/>
          <a:p>
            <a:r>
              <a:rPr lang="en-IN" dirty="0">
                <a:latin typeface="+mj-lt"/>
              </a:rPr>
              <a:t>Figure 11.7 Monetary Policy</a:t>
            </a:r>
            <a:r>
              <a:rPr lang="en-IN" sz="2000" dirty="0">
                <a:latin typeface="+mj-lt"/>
              </a:rPr>
              <a:t> </a:t>
            </a:r>
            <a:r>
              <a:rPr lang="en-IN" sz="2000" b="0" dirty="0">
                <a:latin typeface="+mj-lt"/>
              </a:rPr>
              <a:t>(1 of 2)</a:t>
            </a:r>
            <a:r>
              <a:rPr lang="en-IN" sz="2000" dirty="0">
                <a:latin typeface="+mj-lt"/>
              </a:rPr>
              <a:t> </a:t>
            </a:r>
            <a:endParaRPr lang="en-US" sz="2000" dirty="0">
              <a:latin typeface="+mj-lt"/>
            </a:endParaRPr>
          </a:p>
        </p:txBody>
      </p:sp>
      <p:sp>
        <p:nvSpPr>
          <p:cNvPr id="3" name="Content Placeholder 2"/>
          <p:cNvSpPr>
            <a:spLocks noGrp="1"/>
          </p:cNvSpPr>
          <p:nvPr>
            <p:ph sz="quarter" idx="13"/>
          </p:nvPr>
        </p:nvSpPr>
        <p:spPr>
          <a:xfrm>
            <a:off x="474403" y="1272838"/>
            <a:ext cx="3945197" cy="4847481"/>
          </a:xfrm>
        </p:spPr>
        <p:txBody>
          <a:bodyPr wrap="square">
            <a:spAutoFit/>
          </a:bodyPr>
          <a:lstStyle/>
          <a:p>
            <a:pPr marL="0" indent="0">
              <a:spcBef>
                <a:spcPts val="600"/>
              </a:spcBef>
              <a:buNone/>
              <a:tabLst>
                <a:tab pos="0" algn="l"/>
              </a:tabLst>
            </a:pPr>
            <a:r>
              <a:rPr lang="en-IN" sz="2000" dirty="0"/>
              <a:t>The BoC conducts </a:t>
            </a:r>
            <a:r>
              <a:rPr lang="en-IN" sz="2000" b="1" dirty="0"/>
              <a:t>expansionary monetary policy</a:t>
            </a:r>
            <a:r>
              <a:rPr lang="en-IN" sz="2000" dirty="0"/>
              <a:t> when it takes actions to decrease interest rates to increase real GDP.</a:t>
            </a:r>
          </a:p>
          <a:p>
            <a:pPr>
              <a:spcBef>
                <a:spcPts val="600"/>
              </a:spcBef>
              <a:tabLst>
                <a:tab pos="0" algn="l"/>
              </a:tabLst>
            </a:pPr>
            <a:r>
              <a:rPr lang="en-IN" sz="2000" dirty="0"/>
              <a:t>This works because decreases in interest rates raise consumption, investment, </a:t>
            </a:r>
            <a:r>
              <a:rPr lang="en-IN" sz="2000" i="1" dirty="0"/>
              <a:t>and</a:t>
            </a:r>
            <a:r>
              <a:rPr lang="en-IN" sz="2000" dirty="0"/>
              <a:t> net exports.</a:t>
            </a:r>
          </a:p>
          <a:p>
            <a:pPr marL="0" indent="0">
              <a:spcBef>
                <a:spcPts val="600"/>
              </a:spcBef>
              <a:buNone/>
            </a:pPr>
            <a:r>
              <a:rPr lang="en-IN" sz="2000" dirty="0"/>
              <a:t>The BoC would take this action when short-run equilibrium real GDP was below potential real GDP.</a:t>
            </a:r>
          </a:p>
          <a:p>
            <a:pPr>
              <a:spcBef>
                <a:spcPts val="600"/>
              </a:spcBef>
            </a:pPr>
            <a:r>
              <a:rPr lang="en-IN" sz="2000" dirty="0"/>
              <a:t>The increase in aggregate demand encourages employment.</a:t>
            </a:r>
          </a:p>
        </p:txBody>
      </p:sp>
      <p:pic>
        <p:nvPicPr>
          <p:cNvPr id="6" name="Picture 5" descr="The first graph shows two parallel decreasing lines, an increasing line, and a vertical line. The x-axis represents Real G D P in trillions of 2012 dollars and is marked $0, $1.8, and $2.0 from the left to the right. The y-axis represents price level left parenthesis C P I, 2012 = 100 right parenthesis and is marked 0, 113 and 115 from the bottom to the top. The first decreasing line which is labeled aggregate demand A D subscript 1, passes through ($1.8, 113) and the second decreasing line which is labeled A D subscript 2, passes through ($2.0, 115). An arrow extends from the line of A D subscript 1 to the line for A D subscript 2 is labeled bank of Canada policy causes the A D curve to shift to the right. The vertical line is at x = 1.4 and intersects the increasing line and line for A D subscript 2 at point B. The vertical line is labeled long, run aggregate supply, L R A S. The increasing line is labeled short – run aggregate supply, S R A S and intersects the line for A D subscript 2 at point A.">
            <a:extLst>
              <a:ext uri="{FF2B5EF4-FFF2-40B4-BE49-F238E27FC236}">
                <a16:creationId xmlns:a16="http://schemas.microsoft.com/office/drawing/2014/main" id="{D07F2E62-02DB-050D-3E2C-6BD505B2E1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2" y="1371600"/>
            <a:ext cx="3947886" cy="3657600"/>
          </a:xfrm>
          <a:prstGeom prst="rect">
            <a:avLst/>
          </a:prstGeom>
        </p:spPr>
      </p:pic>
    </p:spTree>
    <p:extLst>
      <p:ext uri="{BB962C8B-B14F-4D97-AF65-F5344CB8AC3E}">
        <p14:creationId xmlns:p14="http://schemas.microsoft.com/office/powerpoint/2010/main" val="1268670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8608413-D777-0386-66F6-5809F941F4C9}"/>
              </a:ext>
            </a:extLst>
          </p:cNvPr>
          <p:cNvSpPr>
            <a:spLocks noGrp="1"/>
          </p:cNvSpPr>
          <p:nvPr>
            <p:ph type="title"/>
          </p:nvPr>
        </p:nvSpPr>
        <p:spPr>
          <a:xfrm>
            <a:off x="457200" y="335579"/>
            <a:ext cx="8229600" cy="523220"/>
          </a:xfrm>
        </p:spPr>
        <p:txBody>
          <a:bodyPr wrap="square">
            <a:spAutoFit/>
          </a:bodyPr>
          <a:lstStyle/>
          <a:p>
            <a:r>
              <a:rPr lang="en-IN" dirty="0">
                <a:latin typeface="+mj-lt"/>
              </a:rPr>
              <a:t>Figure 11.7 Monetary Policy</a:t>
            </a:r>
            <a:r>
              <a:rPr lang="en-IN" sz="2000" dirty="0">
                <a:latin typeface="+mj-lt"/>
              </a:rPr>
              <a:t> </a:t>
            </a:r>
            <a:r>
              <a:rPr lang="en-IN" sz="2000" b="0" dirty="0">
                <a:latin typeface="+mj-lt"/>
              </a:rPr>
              <a:t>(2 of 2)</a:t>
            </a:r>
            <a:r>
              <a:rPr lang="en-IN" sz="2000" dirty="0">
                <a:latin typeface="+mj-lt"/>
              </a:rPr>
              <a:t> </a:t>
            </a:r>
            <a:endParaRPr lang="en-US" sz="2000" dirty="0">
              <a:latin typeface="+mj-lt"/>
            </a:endParaRPr>
          </a:p>
        </p:txBody>
      </p:sp>
      <p:sp>
        <p:nvSpPr>
          <p:cNvPr id="3" name="Content Placeholder 2"/>
          <p:cNvSpPr>
            <a:spLocks noGrp="1"/>
          </p:cNvSpPr>
          <p:nvPr>
            <p:ph sz="quarter" idx="13"/>
          </p:nvPr>
        </p:nvSpPr>
        <p:spPr>
          <a:xfrm>
            <a:off x="474403" y="1295400"/>
            <a:ext cx="3970856" cy="4847481"/>
          </a:xfrm>
        </p:spPr>
        <p:txBody>
          <a:bodyPr wrap="square">
            <a:spAutoFit/>
          </a:bodyPr>
          <a:lstStyle/>
          <a:p>
            <a:pPr marL="0" indent="0">
              <a:spcBef>
                <a:spcPts val="600"/>
              </a:spcBef>
              <a:buNone/>
              <a:tabLst>
                <a:tab pos="0" algn="l"/>
              </a:tabLst>
            </a:pPr>
            <a:r>
              <a:rPr lang="en-IN" sz="2000" dirty="0"/>
              <a:t>Sometimes the economy may be producing </a:t>
            </a:r>
            <a:r>
              <a:rPr lang="en-IN" sz="2000" i="1" dirty="0"/>
              <a:t>above</a:t>
            </a:r>
            <a:r>
              <a:rPr lang="en-IN" sz="2000" dirty="0"/>
              <a:t> potential </a:t>
            </a:r>
            <a:r>
              <a:rPr lang="en-IN" sz="2000" spc="-300" dirty="0"/>
              <a:t>G D </a:t>
            </a:r>
            <a:r>
              <a:rPr lang="en-IN" sz="2000" dirty="0"/>
              <a:t>P.</a:t>
            </a:r>
          </a:p>
          <a:p>
            <a:pPr>
              <a:spcBef>
                <a:spcPts val="600"/>
              </a:spcBef>
              <a:tabLst>
                <a:tab pos="0" algn="l"/>
              </a:tabLst>
            </a:pPr>
            <a:r>
              <a:rPr lang="en-IN" sz="2000" dirty="0"/>
              <a:t>In that case, the BoC may perform </a:t>
            </a:r>
            <a:r>
              <a:rPr lang="en-IN" sz="2000" b="1" dirty="0"/>
              <a:t>contractionary monetary policy:</a:t>
            </a:r>
            <a:r>
              <a:rPr lang="en-IN" sz="2000" dirty="0"/>
              <a:t> increasing interest rates to reduce inflation.</a:t>
            </a:r>
          </a:p>
          <a:p>
            <a:pPr marL="0" indent="0">
              <a:spcBef>
                <a:spcPts val="600"/>
              </a:spcBef>
              <a:buNone/>
            </a:pPr>
            <a:r>
              <a:rPr lang="en-IN" sz="2000" dirty="0"/>
              <a:t>Why would the BoC intentionally reduce real </a:t>
            </a:r>
            <a:r>
              <a:rPr lang="en-IN" sz="2000" spc="-300" dirty="0"/>
              <a:t>G D </a:t>
            </a:r>
            <a:r>
              <a:rPr lang="en-IN" sz="2000" dirty="0"/>
              <a:t>P?</a:t>
            </a:r>
          </a:p>
          <a:p>
            <a:pPr>
              <a:spcBef>
                <a:spcPts val="600"/>
              </a:spcBef>
            </a:pPr>
            <a:r>
              <a:rPr lang="en-IN" sz="2000" dirty="0"/>
              <a:t>The BoC is mostly concerned with </a:t>
            </a:r>
            <a:r>
              <a:rPr lang="en-IN" sz="2000" i="1" dirty="0"/>
              <a:t>long-run</a:t>
            </a:r>
            <a:r>
              <a:rPr lang="en-IN" sz="2000" dirty="0"/>
              <a:t> growth. If it determines that inflation is a problem for long-run growth, it can contract the money supply to discourage inflation, i.e. encourage </a:t>
            </a:r>
            <a:r>
              <a:rPr lang="en-IN" sz="2000" i="1" dirty="0"/>
              <a:t>price stability</a:t>
            </a:r>
            <a:r>
              <a:rPr lang="en-IN" sz="2000" dirty="0"/>
              <a:t>.</a:t>
            </a:r>
          </a:p>
        </p:txBody>
      </p:sp>
      <p:pic>
        <p:nvPicPr>
          <p:cNvPr id="4" name="Picture 3" descr="The second graph shows two parallel decreasing lines, an increasing line, and a vertical line. The x-axis represents Real G D P in trillions of 2012 dollars and is marked 0, $2.0, and $2.2 from the left to the right. The y-axis represents price level left parenthesis C P I, 2012 = 100 right parenthesis and is marked 0, 115, and 117 from the bottom to the top. The first decreasing line which is labeled aggregate demand A D subscript 2, passes through ($2.0, 115) and the second decreasing line which is labeled aggregate demand A D subscript 1, passes through ($2.2, 117). An arrow extends from the line of A D subscript 1 to the line for A D subscript 2 is labeled bank of Canada policy causes the A D curve to shift to the left. The vertical line is at x = $1.4 and intersects the increasing line and line for A D subscript 2 at point B. The vertical line is labeled long – run aggregate supply, L R A S. The increasing line is labeled short, run aggregate supply, S R A S and intersects the line for A D subscript 1 at point B.">
            <a:extLst>
              <a:ext uri="{FF2B5EF4-FFF2-40B4-BE49-F238E27FC236}">
                <a16:creationId xmlns:a16="http://schemas.microsoft.com/office/drawing/2014/main" id="{6F1D66C1-2B10-1CF2-A6DD-0284D52C6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371600"/>
            <a:ext cx="4204498" cy="3886200"/>
          </a:xfrm>
          <a:prstGeom prst="rect">
            <a:avLst/>
          </a:prstGeom>
        </p:spPr>
      </p:pic>
    </p:spTree>
    <p:extLst>
      <p:ext uri="{BB962C8B-B14F-4D97-AF65-F5344CB8AC3E}">
        <p14:creationId xmlns:p14="http://schemas.microsoft.com/office/powerpoint/2010/main" val="38936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D6C003C-3D5E-174E-CC02-F8C774E187FA}"/>
              </a:ext>
            </a:extLst>
          </p:cNvPr>
          <p:cNvSpPr>
            <a:spLocks noGrp="1"/>
          </p:cNvSpPr>
          <p:nvPr>
            <p:ph type="title"/>
          </p:nvPr>
        </p:nvSpPr>
        <p:spPr/>
        <p:txBody>
          <a:bodyPr/>
          <a:lstStyle/>
          <a:p>
            <a:r>
              <a:rPr lang="en-IN" dirty="0">
                <a:latin typeface="+mj-lt"/>
              </a:rPr>
              <a:t>Can the Bank of Canada Eliminate Recessions?</a:t>
            </a:r>
            <a:endParaRPr lang="en-IN" dirty="0"/>
          </a:p>
        </p:txBody>
      </p:sp>
      <p:sp>
        <p:nvSpPr>
          <p:cNvPr id="10" name="Content Placeholder 9">
            <a:extLst>
              <a:ext uri="{FF2B5EF4-FFF2-40B4-BE49-F238E27FC236}">
                <a16:creationId xmlns:a16="http://schemas.microsoft.com/office/drawing/2014/main" id="{174BE732-7442-FE4A-0549-DFDE0B87F905}"/>
              </a:ext>
            </a:extLst>
          </p:cNvPr>
          <p:cNvSpPr>
            <a:spLocks noGrp="1"/>
          </p:cNvSpPr>
          <p:nvPr>
            <p:ph idx="1"/>
          </p:nvPr>
        </p:nvSpPr>
        <p:spPr/>
        <p:txBody>
          <a:bodyPr/>
          <a:lstStyle/>
          <a:p>
            <a:pPr marL="0" indent="0">
              <a:spcBef>
                <a:spcPts val="1000"/>
              </a:spcBef>
              <a:buNone/>
            </a:pPr>
            <a:r>
              <a:rPr lang="en-IN" sz="2000" dirty="0"/>
              <a:t>In our demonstration of monetary policy, the Bank of Canada</a:t>
            </a:r>
          </a:p>
          <a:p>
            <a:pPr>
              <a:spcBef>
                <a:spcPts val="1000"/>
              </a:spcBef>
            </a:pPr>
            <a:r>
              <a:rPr lang="en-IN" sz="2000" dirty="0"/>
              <a:t>Knew how far to shift aggregate demand, and</a:t>
            </a:r>
          </a:p>
          <a:p>
            <a:pPr>
              <a:spcBef>
                <a:spcPts val="1000"/>
              </a:spcBef>
            </a:pPr>
            <a:r>
              <a:rPr lang="en-IN" sz="2000" dirty="0"/>
              <a:t>Was able to shift aggregate demand exactly this far.</a:t>
            </a:r>
          </a:p>
          <a:p>
            <a:pPr marL="0" indent="0">
              <a:spcBef>
                <a:spcPts val="1000"/>
              </a:spcBef>
              <a:buNone/>
            </a:pPr>
            <a:r>
              <a:rPr lang="en-IN" sz="2000" dirty="0"/>
              <a:t>In practice, monetary policy is </a:t>
            </a:r>
            <a:r>
              <a:rPr lang="en-IN" sz="2000" i="1" dirty="0"/>
              <a:t>much</a:t>
            </a:r>
            <a:r>
              <a:rPr lang="en-IN" sz="2000" dirty="0"/>
              <a:t> harder to get right than the Figure 11.7a makes it appear.</a:t>
            </a:r>
          </a:p>
          <a:p>
            <a:pPr>
              <a:spcBef>
                <a:spcPts val="1000"/>
              </a:spcBef>
            </a:pPr>
            <a:r>
              <a:rPr lang="en-IN" sz="2000" dirty="0"/>
              <a:t>Completely offsetting a recession is not realistic; the best the Bank of Canada can hope for is to make recessions milder and shorter.</a:t>
            </a:r>
          </a:p>
          <a:p>
            <a:pPr marL="0" indent="0">
              <a:spcBef>
                <a:spcPts val="1000"/>
              </a:spcBef>
              <a:buNone/>
            </a:pPr>
            <a:r>
              <a:rPr lang="en-IN" sz="2000" dirty="0"/>
              <a:t>Another complicating factor is that </a:t>
            </a:r>
            <a:r>
              <a:rPr lang="en-IN" sz="2000" i="1" dirty="0"/>
              <a:t>current</a:t>
            </a:r>
            <a:r>
              <a:rPr lang="en-IN" sz="2000" dirty="0"/>
              <a:t> economic variables are rarely known; we usually can only know them for the past—i.e. with a </a:t>
            </a:r>
            <a:r>
              <a:rPr lang="en-IN" sz="2000" i="1" dirty="0"/>
              <a:t>lag</a:t>
            </a:r>
            <a:r>
              <a:rPr lang="en-IN" sz="2000" dirty="0"/>
              <a:t>. </a:t>
            </a:r>
          </a:p>
          <a:p>
            <a:pPr marL="0" indent="0">
              <a:spcBef>
                <a:spcPts val="1000"/>
              </a:spcBef>
              <a:buNone/>
            </a:pPr>
            <a:r>
              <a:rPr lang="en-IN" sz="2000" i="1" dirty="0"/>
              <a:t>For example, Statistics Canada will only publish </a:t>
            </a:r>
            <a:r>
              <a:rPr lang="en-IN" sz="2000" i="1" spc="-300" dirty="0"/>
              <a:t>G D </a:t>
            </a:r>
            <a:r>
              <a:rPr lang="en-IN" sz="2000" i="1" dirty="0"/>
              <a:t>P numbers for the 4</a:t>
            </a:r>
            <a:r>
              <a:rPr lang="en-IN" sz="2000" i="1" baseline="30000" dirty="0"/>
              <a:t>th</a:t>
            </a:r>
            <a:r>
              <a:rPr lang="en-IN" sz="2000" i="1" dirty="0"/>
              <a:t> quarter of 2024 (October through December) in March, 2025.</a:t>
            </a:r>
          </a:p>
        </p:txBody>
      </p:sp>
    </p:spTree>
    <p:extLst>
      <p:ext uri="{BB962C8B-B14F-4D97-AF65-F5344CB8AC3E}">
        <p14:creationId xmlns:p14="http://schemas.microsoft.com/office/powerpoint/2010/main" val="4041180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28600"/>
            <a:ext cx="8229600" cy="984885"/>
          </a:xfrm>
        </p:spPr>
        <p:txBody>
          <a:bodyPr wrap="square">
            <a:spAutoFit/>
          </a:bodyPr>
          <a:lstStyle/>
          <a:p>
            <a:r>
              <a:rPr lang="en-IN" sz="3200" dirty="0">
                <a:latin typeface="+mj-lt"/>
              </a:rPr>
              <a:t>Figure 11.8 The Effect of a Poorly Timed Monetary Policy on the Economy</a:t>
            </a:r>
            <a:endParaRPr lang="en-US" sz="3200" dirty="0">
              <a:latin typeface="+mj-lt"/>
            </a:endParaRPr>
          </a:p>
        </p:txBody>
      </p:sp>
      <p:sp>
        <p:nvSpPr>
          <p:cNvPr id="3" name="Content Placeholder 2"/>
          <p:cNvSpPr>
            <a:spLocks noGrp="1"/>
          </p:cNvSpPr>
          <p:nvPr>
            <p:ph sz="quarter" idx="13"/>
          </p:nvPr>
        </p:nvSpPr>
        <p:spPr>
          <a:xfrm>
            <a:off x="457199" y="1447800"/>
            <a:ext cx="3657601" cy="4262705"/>
          </a:xfrm>
        </p:spPr>
        <p:txBody>
          <a:bodyPr wrap="square">
            <a:spAutoFit/>
          </a:bodyPr>
          <a:lstStyle/>
          <a:p>
            <a:pPr marL="0" indent="0">
              <a:spcBef>
                <a:spcPts val="600"/>
              </a:spcBef>
              <a:buNone/>
              <a:tabLst>
                <a:tab pos="0" algn="l"/>
              </a:tabLst>
            </a:pPr>
            <a:r>
              <a:rPr lang="en-IN" sz="1800" dirty="0"/>
              <a:t>Suppose a recession begins in August 2024. </a:t>
            </a:r>
          </a:p>
          <a:p>
            <a:pPr marL="180975" indent="-180975">
              <a:spcBef>
                <a:spcPts val="600"/>
              </a:spcBef>
            </a:pPr>
            <a:r>
              <a:rPr lang="en-IN" sz="1800" dirty="0"/>
              <a:t>The </a:t>
            </a:r>
            <a:r>
              <a:rPr lang="en-IN" sz="1800" dirty="0" err="1"/>
              <a:t>BoC</a:t>
            </a:r>
            <a:r>
              <a:rPr lang="en-IN" sz="1800" dirty="0"/>
              <a:t> finds out about the recession with a lag.</a:t>
            </a:r>
          </a:p>
          <a:p>
            <a:pPr marL="180975" indent="-180975">
              <a:spcBef>
                <a:spcPts val="600"/>
              </a:spcBef>
            </a:pPr>
            <a:r>
              <a:rPr lang="en-IN" sz="1800" dirty="0"/>
              <a:t>In June 2025, the BoC starts expansionary monetary policy, but the recession has already ended.</a:t>
            </a:r>
          </a:p>
          <a:p>
            <a:pPr marL="0" indent="0">
              <a:spcBef>
                <a:spcPts val="600"/>
              </a:spcBef>
              <a:buNone/>
            </a:pPr>
            <a:r>
              <a:rPr lang="en-IN" sz="1800" dirty="0"/>
              <a:t>By keeping interest rates low for too long, the BoC encourages real </a:t>
            </a:r>
            <a:r>
              <a:rPr lang="en-IN" sz="1800" spc="-300" dirty="0"/>
              <a:t>G D </a:t>
            </a:r>
            <a:r>
              <a:rPr lang="en-IN" sz="1800" dirty="0"/>
              <a:t>P to go far beyond potential </a:t>
            </a:r>
            <a:r>
              <a:rPr lang="en-IN" sz="1800" spc="-300" dirty="0"/>
              <a:t>G D </a:t>
            </a:r>
            <a:r>
              <a:rPr lang="en-IN" sz="1800" dirty="0"/>
              <a:t>P. The result is:</a:t>
            </a:r>
          </a:p>
          <a:p>
            <a:pPr marL="180975" indent="-180975">
              <a:spcBef>
                <a:spcPts val="600"/>
              </a:spcBef>
            </a:pPr>
            <a:r>
              <a:rPr lang="en-IN" sz="1800" dirty="0"/>
              <a:t>High inflation, and</a:t>
            </a:r>
          </a:p>
          <a:p>
            <a:pPr marL="180975" indent="-180975">
              <a:spcBef>
                <a:spcPts val="600"/>
              </a:spcBef>
            </a:pPr>
            <a:r>
              <a:rPr lang="en-IN" sz="1800" dirty="0"/>
              <a:t>The next recession will be more severe</a:t>
            </a:r>
          </a:p>
        </p:txBody>
      </p:sp>
      <p:pic>
        <p:nvPicPr>
          <p:cNvPr id="7" name="Picture 6" descr="A graph shows an increasing straight line and two curved lines.">
            <a:extLst>
              <a:ext uri="{FF2B5EF4-FFF2-40B4-BE49-F238E27FC236}">
                <a16:creationId xmlns:a16="http://schemas.microsoft.com/office/drawing/2014/main" id="{4C9A7CC2-C9DD-A835-00D9-C90BA9F85D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1447800"/>
            <a:ext cx="4590288" cy="3346704"/>
          </a:xfrm>
          <a:prstGeom prst="rect">
            <a:avLst/>
          </a:prstGeom>
        </p:spPr>
      </p:pic>
    </p:spTree>
    <p:extLst>
      <p:ext uri="{BB962C8B-B14F-4D97-AF65-F5344CB8AC3E}">
        <p14:creationId xmlns:p14="http://schemas.microsoft.com/office/powerpoint/2010/main" val="364894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46440"/>
          </a:xfrm>
        </p:spPr>
        <p:txBody>
          <a:bodyPr wrap="square">
            <a:spAutoFit/>
          </a:bodyPr>
          <a:lstStyle/>
          <a:p>
            <a:pPr marL="0" indent="0">
              <a:spcBef>
                <a:spcPts val="600"/>
              </a:spcBef>
              <a:buNone/>
            </a:pPr>
            <a:r>
              <a:rPr lang="en-US" b="1" dirty="0">
                <a:solidFill>
                  <a:schemeClr val="tx1"/>
                </a:solidFill>
                <a:latin typeface="+mj-lt"/>
              </a:rPr>
              <a:t>Figure 11.9 </a:t>
            </a:r>
            <a:r>
              <a:rPr lang="en-IN" dirty="0">
                <a:solidFill>
                  <a:schemeClr val="tx1"/>
                </a:solidFill>
                <a:latin typeface="+mj-lt"/>
              </a:rPr>
              <a:t>Expansionary and Contractionary Monetary Policies</a:t>
            </a:r>
            <a:endParaRPr lang="en-US" dirty="0">
              <a:solidFill>
                <a:schemeClr val="tx1"/>
              </a:solidFill>
              <a:latin typeface="+mj-lt"/>
            </a:endParaRPr>
          </a:p>
        </p:txBody>
      </p:sp>
      <p:pic>
        <p:nvPicPr>
          <p:cNvPr id="5" name="Picture 4" descr="The first table data are as follows:&#10;The Bank of Canada's governing council orders an expansionary policy. Leads to the money supply increases and interest rates fall. Leads to the investment, consumption, and net exports all increase. Leads to the A D curve shifts to the right. Leads to real G D P and the price.&#10;The second table data are as follows.&#10;The Bank of Canada's governing council orders a contractionary policy. Leads to the money supply decreases and interest rates rise. Leads to the investment, consumption, and net exports all decrease. Leads to the AD curve shifts to the left. Leads to the Real G D P and the price level fall.">
            <a:extLst>
              <a:ext uri="{FF2B5EF4-FFF2-40B4-BE49-F238E27FC236}">
                <a16:creationId xmlns:a16="http://schemas.microsoft.com/office/drawing/2014/main" id="{C772186F-0464-8D4E-69A2-7726326E4D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874" y="2133600"/>
            <a:ext cx="7190251" cy="2258568"/>
          </a:xfrm>
          <a:prstGeom prst="rect">
            <a:avLst/>
          </a:prstGeom>
        </p:spPr>
      </p:pic>
    </p:spTree>
    <p:extLst>
      <p:ext uri="{BB962C8B-B14F-4D97-AF65-F5344CB8AC3E}">
        <p14:creationId xmlns:p14="http://schemas.microsoft.com/office/powerpoint/2010/main" val="359652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23C790C-5F3F-D94F-5E60-DBE1C6B9C82D}"/>
              </a:ext>
            </a:extLst>
          </p:cNvPr>
          <p:cNvSpPr>
            <a:spLocks noGrp="1"/>
          </p:cNvSpPr>
          <p:nvPr>
            <p:ph type="title"/>
          </p:nvPr>
        </p:nvSpPr>
        <p:spPr>
          <a:xfrm>
            <a:off x="457200" y="215372"/>
            <a:ext cx="8229600" cy="1003828"/>
          </a:xfrm>
        </p:spPr>
        <p:txBody>
          <a:bodyPr/>
          <a:lstStyle/>
          <a:p>
            <a:r>
              <a:rPr lang="en-IN" sz="3200" dirty="0">
                <a:latin typeface="+mj-lt"/>
              </a:rPr>
              <a:t>A Closer Look at the Bank of Canada’s Setting of Monetary Policy Targets</a:t>
            </a:r>
            <a:endParaRPr lang="en-IN" dirty="0"/>
          </a:p>
        </p:txBody>
      </p:sp>
      <p:sp>
        <p:nvSpPr>
          <p:cNvPr id="9" name="Text Placeholder 8">
            <a:extLst>
              <a:ext uri="{FF2B5EF4-FFF2-40B4-BE49-F238E27FC236}">
                <a16:creationId xmlns:a16="http://schemas.microsoft.com/office/drawing/2014/main" id="{919F5981-0522-552D-4351-CCD42EA25F76}"/>
              </a:ext>
            </a:extLst>
          </p:cNvPr>
          <p:cNvSpPr>
            <a:spLocks noGrp="1"/>
          </p:cNvSpPr>
          <p:nvPr>
            <p:ph type="body" sz="quarter" idx="13"/>
          </p:nvPr>
        </p:nvSpPr>
        <p:spPr>
          <a:xfrm>
            <a:off x="457200" y="1295400"/>
            <a:ext cx="8229600" cy="402770"/>
          </a:xfrm>
        </p:spPr>
        <p:txBody>
          <a:bodyPr/>
          <a:lstStyle/>
          <a:p>
            <a:r>
              <a:rPr lang="en-IN" sz="2400" b="1" dirty="0">
                <a:solidFill>
                  <a:schemeClr val="tx1"/>
                </a:solidFill>
              </a:rPr>
              <a:t>11.5 Learning Objective</a:t>
            </a:r>
          </a:p>
        </p:txBody>
      </p:sp>
      <p:sp>
        <p:nvSpPr>
          <p:cNvPr id="10" name="Content Placeholder 9">
            <a:extLst>
              <a:ext uri="{FF2B5EF4-FFF2-40B4-BE49-F238E27FC236}">
                <a16:creationId xmlns:a16="http://schemas.microsoft.com/office/drawing/2014/main" id="{0B7993D4-5FA4-5E38-C2B9-8B75A6544AA8}"/>
              </a:ext>
            </a:extLst>
          </p:cNvPr>
          <p:cNvSpPr>
            <a:spLocks noGrp="1"/>
          </p:cNvSpPr>
          <p:nvPr>
            <p:ph sz="quarter" idx="14"/>
          </p:nvPr>
        </p:nvSpPr>
        <p:spPr>
          <a:xfrm>
            <a:off x="457200" y="1774370"/>
            <a:ext cx="8229600" cy="4221163"/>
          </a:xfrm>
        </p:spPr>
        <p:txBody>
          <a:bodyPr/>
          <a:lstStyle/>
          <a:p>
            <a:pPr marL="0" indent="0">
              <a:buNone/>
            </a:pPr>
            <a:r>
              <a:rPr lang="en-IN" dirty="0"/>
              <a:t>Discuss the Bank of Canada’s setting of monetary policy targets.</a:t>
            </a:r>
          </a:p>
          <a:p>
            <a:pPr marL="0" indent="0">
              <a:buNone/>
            </a:pPr>
            <a:endParaRPr lang="en-IN" dirty="0"/>
          </a:p>
        </p:txBody>
      </p:sp>
    </p:spTree>
    <p:extLst>
      <p:ext uri="{BB962C8B-B14F-4D97-AF65-F5344CB8AC3E}">
        <p14:creationId xmlns:p14="http://schemas.microsoft.com/office/powerpoint/2010/main" val="3033672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3A7A601-CEFD-6BBE-FF50-81CE1180F4A6}"/>
              </a:ext>
            </a:extLst>
          </p:cNvPr>
          <p:cNvSpPr>
            <a:spLocks noGrp="1"/>
          </p:cNvSpPr>
          <p:nvPr>
            <p:ph type="title"/>
          </p:nvPr>
        </p:nvSpPr>
        <p:spPr/>
        <p:txBody>
          <a:bodyPr/>
          <a:lstStyle/>
          <a:p>
            <a:r>
              <a:rPr lang="en-IN" dirty="0">
                <a:latin typeface="+mj-lt"/>
              </a:rPr>
              <a:t>Should the BoC Target the Money Supply?</a:t>
            </a:r>
            <a:endParaRPr lang="en-IN" dirty="0"/>
          </a:p>
        </p:txBody>
      </p:sp>
      <p:sp>
        <p:nvSpPr>
          <p:cNvPr id="7" name="Content Placeholder 6">
            <a:extLst>
              <a:ext uri="{FF2B5EF4-FFF2-40B4-BE49-F238E27FC236}">
                <a16:creationId xmlns:a16="http://schemas.microsoft.com/office/drawing/2014/main" id="{936AFD07-86D2-EC60-1319-5AAFF88F83FC}"/>
              </a:ext>
            </a:extLst>
          </p:cNvPr>
          <p:cNvSpPr>
            <a:spLocks noGrp="1"/>
          </p:cNvSpPr>
          <p:nvPr>
            <p:ph idx="1"/>
          </p:nvPr>
        </p:nvSpPr>
        <p:spPr/>
        <p:txBody>
          <a:bodyPr>
            <a:normAutofit lnSpcReduction="10000"/>
          </a:bodyPr>
          <a:lstStyle/>
          <a:p>
            <a:pPr marL="0" indent="0">
              <a:spcBef>
                <a:spcPts val="600"/>
              </a:spcBef>
              <a:buNone/>
            </a:pPr>
            <a:r>
              <a:rPr lang="en-IN" sz="2000" dirty="0"/>
              <a:t>In normal times, the BoC targets the overnight rate.</a:t>
            </a:r>
          </a:p>
          <a:p>
            <a:pPr>
              <a:spcBef>
                <a:spcPts val="600"/>
              </a:spcBef>
            </a:pPr>
            <a:r>
              <a:rPr lang="en-IN" sz="2000" dirty="0"/>
              <a:t>Should it use the money supply as its monetary policy target instead?</a:t>
            </a:r>
          </a:p>
          <a:p>
            <a:pPr marL="0" indent="0">
              <a:spcBef>
                <a:spcPts val="600"/>
              </a:spcBef>
              <a:buNone/>
            </a:pPr>
            <a:r>
              <a:rPr lang="en-IN" sz="2000" i="1" dirty="0"/>
              <a:t>Monetarists</a:t>
            </a:r>
            <a:r>
              <a:rPr lang="en-IN" sz="2000" dirty="0"/>
              <a:t>, led by Nobel Laureate Milton Friedman, said “yes”.</a:t>
            </a:r>
          </a:p>
          <a:p>
            <a:pPr>
              <a:spcBef>
                <a:spcPts val="600"/>
              </a:spcBef>
            </a:pPr>
            <a:r>
              <a:rPr lang="en-IN" sz="2000" dirty="0"/>
              <a:t>Friedman advocated a </a:t>
            </a:r>
            <a:r>
              <a:rPr lang="en-IN" sz="2000" i="1" dirty="0"/>
              <a:t>monetary growth rule</a:t>
            </a:r>
            <a:r>
              <a:rPr lang="en-IN" sz="2000" dirty="0"/>
              <a:t>, increasing the money supply at about the long-run rate of real </a:t>
            </a:r>
            <a:r>
              <a:rPr lang="en-IN" sz="2000" spc="-300" dirty="0"/>
              <a:t>G D </a:t>
            </a:r>
            <a:r>
              <a:rPr lang="en-IN" sz="2000" dirty="0"/>
              <a:t>P growth.</a:t>
            </a:r>
          </a:p>
          <a:p>
            <a:pPr>
              <a:spcBef>
                <a:spcPts val="600"/>
              </a:spcBef>
            </a:pPr>
            <a:r>
              <a:rPr lang="en-IN" sz="2000" dirty="0"/>
              <a:t>He argued that an active </a:t>
            </a:r>
            <a:r>
              <a:rPr lang="en-IN" sz="2000" i="1" dirty="0"/>
              <a:t>countercyclical</a:t>
            </a:r>
            <a:r>
              <a:rPr lang="en-IN" sz="2000" dirty="0"/>
              <a:t> monetary policy would serve to destabilize the economy; the monetary growth rule would provide stability instead.</a:t>
            </a:r>
          </a:p>
          <a:p>
            <a:pPr marL="0" indent="0">
              <a:spcBef>
                <a:spcPts val="1000"/>
              </a:spcBef>
              <a:buNone/>
              <a:defRPr/>
            </a:pPr>
            <a:r>
              <a:rPr lang="en-US" sz="2000" dirty="0"/>
              <a:t>Monetarism was popular in the 1970s. but since the 1980s, the link between the money supply and real </a:t>
            </a:r>
            <a:r>
              <a:rPr lang="en-US" sz="2000" spc="-300" dirty="0"/>
              <a:t>G D </a:t>
            </a:r>
            <a:r>
              <a:rPr lang="en-US" sz="2000" dirty="0"/>
              <a:t>P seems to have broken down. M1+ seems to change “wildly”, but real </a:t>
            </a:r>
            <a:r>
              <a:rPr lang="en-US" sz="2000" spc="-300" dirty="0"/>
              <a:t>G D </a:t>
            </a:r>
            <a:r>
              <a:rPr lang="en-US" sz="2000" dirty="0"/>
              <a:t>P and inflation do not react in the same way.</a:t>
            </a:r>
          </a:p>
          <a:p>
            <a:pPr marL="247650" indent="-247650">
              <a:spcBef>
                <a:spcPts val="1000"/>
              </a:spcBef>
              <a:defRPr/>
            </a:pPr>
            <a:r>
              <a:rPr lang="en-US" sz="2000" dirty="0"/>
              <a:t>As a result, support for following a monetary growth rule has declined.</a:t>
            </a:r>
            <a:endParaRPr lang="en-IN" sz="2000" dirty="0"/>
          </a:p>
          <a:p>
            <a:pPr>
              <a:spcBef>
                <a:spcPts val="600"/>
              </a:spcBef>
            </a:pPr>
            <a:endParaRPr lang="en-IN" sz="2000" dirty="0"/>
          </a:p>
        </p:txBody>
      </p:sp>
    </p:spTree>
    <p:extLst>
      <p:ext uri="{BB962C8B-B14F-4D97-AF65-F5344CB8AC3E}">
        <p14:creationId xmlns:p14="http://schemas.microsoft.com/office/powerpoint/2010/main" val="932902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9072"/>
            <a:ext cx="8229600" cy="1477328"/>
          </a:xfrm>
        </p:spPr>
        <p:txBody>
          <a:bodyPr wrap="square">
            <a:spAutoFit/>
          </a:bodyPr>
          <a:lstStyle/>
          <a:p>
            <a:r>
              <a:rPr lang="en-IN" sz="3200" dirty="0">
                <a:latin typeface="+mj-lt"/>
              </a:rPr>
              <a:t>Figure 11.12 The Bank of Canada Can’t Target Both the Money Supply and the Interest Rate</a:t>
            </a:r>
            <a:endParaRPr lang="en-US" sz="3200" dirty="0">
              <a:latin typeface="+mj-lt"/>
            </a:endParaRPr>
          </a:p>
        </p:txBody>
      </p:sp>
      <p:sp>
        <p:nvSpPr>
          <p:cNvPr id="7" name="Content Placeholder 6"/>
          <p:cNvSpPr>
            <a:spLocks noGrp="1"/>
          </p:cNvSpPr>
          <p:nvPr>
            <p:ph sz="quarter" idx="13"/>
          </p:nvPr>
        </p:nvSpPr>
        <p:spPr>
          <a:xfrm>
            <a:off x="457200" y="1988938"/>
            <a:ext cx="3352800" cy="3802262"/>
          </a:xfrm>
        </p:spPr>
        <p:txBody>
          <a:bodyPr/>
          <a:lstStyle/>
          <a:p>
            <a:pPr marL="0" indent="0">
              <a:spcBef>
                <a:spcPts val="600"/>
              </a:spcBef>
              <a:buNone/>
            </a:pPr>
            <a:r>
              <a:rPr lang="en-IN" sz="1800" dirty="0"/>
              <a:t>It might seem that the </a:t>
            </a:r>
            <a:r>
              <a:rPr lang="en-IN" sz="1800" dirty="0" err="1"/>
              <a:t>BoC</a:t>
            </a:r>
            <a:r>
              <a:rPr lang="en-IN" sz="1800" dirty="0"/>
              <a:t> could “get the best of both worlds” by targeting both interest rates and the money supply.</a:t>
            </a:r>
          </a:p>
          <a:p>
            <a:pPr>
              <a:spcBef>
                <a:spcPts val="600"/>
              </a:spcBef>
            </a:pPr>
            <a:r>
              <a:rPr lang="en-IN" sz="1800" dirty="0"/>
              <a:t>But this is impossible: the two are linked through the money demand curve.</a:t>
            </a:r>
          </a:p>
          <a:p>
            <a:pPr>
              <a:spcBef>
                <a:spcPts val="600"/>
              </a:spcBef>
            </a:pPr>
            <a:r>
              <a:rPr lang="en-IN" sz="1800" dirty="0"/>
              <a:t>So a decrease in the money supply will increase interest rates; an increase in the money supply will decrease interest rates.</a:t>
            </a:r>
          </a:p>
        </p:txBody>
      </p:sp>
      <p:pic>
        <p:nvPicPr>
          <p:cNvPr id="4" name="Picture 3" descr="An interest rate versus quality of money plots a decreasing line which is a money demand curve and two vertical lines.">
            <a:extLst>
              <a:ext uri="{FF2B5EF4-FFF2-40B4-BE49-F238E27FC236}">
                <a16:creationId xmlns:a16="http://schemas.microsoft.com/office/drawing/2014/main" id="{9EFBE730-6E52-338B-0418-609A099D4F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6176" y="1988938"/>
            <a:ext cx="4230624" cy="3407664"/>
          </a:xfrm>
          <a:prstGeom prst="rect">
            <a:avLst/>
          </a:prstGeom>
        </p:spPr>
      </p:pic>
    </p:spTree>
    <p:extLst>
      <p:ext uri="{BB962C8B-B14F-4D97-AF65-F5344CB8AC3E}">
        <p14:creationId xmlns:p14="http://schemas.microsoft.com/office/powerpoint/2010/main" val="602304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6E6EF8-055E-3775-BEA4-220449D8FE72}"/>
              </a:ext>
            </a:extLst>
          </p:cNvPr>
          <p:cNvSpPr>
            <a:spLocks noGrp="1"/>
          </p:cNvSpPr>
          <p:nvPr>
            <p:ph type="title"/>
          </p:nvPr>
        </p:nvSpPr>
        <p:spPr>
          <a:xfrm>
            <a:off x="457200" y="215372"/>
            <a:ext cx="8229600" cy="1003828"/>
          </a:xfrm>
        </p:spPr>
        <p:txBody>
          <a:bodyPr/>
          <a:lstStyle/>
          <a:p>
            <a:r>
              <a:rPr lang="en-IN" dirty="0">
                <a:latin typeface="+mj-lt"/>
              </a:rPr>
              <a:t>The Taylor Rule</a:t>
            </a:r>
            <a:r>
              <a:rPr lang="en-IN" sz="2000" dirty="0">
                <a:latin typeface="+mj-lt"/>
              </a:rPr>
              <a:t> </a:t>
            </a:r>
            <a:r>
              <a:rPr lang="en-IN" sz="2000" b="0" dirty="0">
                <a:latin typeface="+mj-lt"/>
              </a:rPr>
              <a:t>(1 of 2)</a:t>
            </a:r>
            <a:endParaRPr lang="en-IN" sz="2000" dirty="0"/>
          </a:p>
        </p:txBody>
      </p:sp>
      <p:sp>
        <p:nvSpPr>
          <p:cNvPr id="5" name="Content Placeholder 4">
            <a:extLst>
              <a:ext uri="{FF2B5EF4-FFF2-40B4-BE49-F238E27FC236}">
                <a16:creationId xmlns:a16="http://schemas.microsoft.com/office/drawing/2014/main" id="{F7A9AB2D-DE90-4AC2-96F9-DD30FF5C7071}"/>
              </a:ext>
            </a:extLst>
          </p:cNvPr>
          <p:cNvSpPr>
            <a:spLocks noGrp="1"/>
          </p:cNvSpPr>
          <p:nvPr>
            <p:ph idx="1"/>
          </p:nvPr>
        </p:nvSpPr>
        <p:spPr>
          <a:xfrm>
            <a:off x="457200" y="1315974"/>
            <a:ext cx="8229600" cy="1198626"/>
          </a:xfrm>
        </p:spPr>
        <p:txBody>
          <a:bodyPr/>
          <a:lstStyle/>
          <a:p>
            <a:pPr marL="0" indent="0">
              <a:buNone/>
            </a:pPr>
            <a:r>
              <a:rPr lang="en-US" sz="2400" dirty="0"/>
              <a:t>The </a:t>
            </a:r>
            <a:r>
              <a:rPr lang="en-US" sz="2400" b="1" dirty="0"/>
              <a:t>Taylor rule </a:t>
            </a:r>
            <a:r>
              <a:rPr lang="en-US" sz="2400" dirty="0"/>
              <a:t>is a rule developed by John Taylor of Stanford University, that links a central bank’s target for the overnight rate to economic variables. Taylor estimates that:</a:t>
            </a:r>
          </a:p>
        </p:txBody>
      </p:sp>
      <p:pic>
        <p:nvPicPr>
          <p:cNvPr id="6" name="Picture Placeholder 6" descr="A formula to determine overnight rate target.">
            <a:extLst>
              <a:ext uri="{FF2B5EF4-FFF2-40B4-BE49-F238E27FC236}">
                <a16:creationId xmlns:a16="http://schemas.microsoft.com/office/drawing/2014/main" id="{00A6ED52-71F6-E553-DDD0-C61122FAB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148" y="2514600"/>
            <a:ext cx="7689704" cy="3635504"/>
          </a:xfrm>
          <a:prstGeom prst="rect">
            <a:avLst/>
          </a:prstGeom>
        </p:spPr>
      </p:pic>
    </p:spTree>
    <p:extLst>
      <p:ext uri="{BB962C8B-B14F-4D97-AF65-F5344CB8AC3E}">
        <p14:creationId xmlns:p14="http://schemas.microsoft.com/office/powerpoint/2010/main" val="1042832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a:latin typeface="+mj-lt"/>
              </a:rPr>
              <a:t>The Taylor Rule</a:t>
            </a:r>
            <a:r>
              <a:rPr lang="en-IN" sz="2000" dirty="0">
                <a:latin typeface="+mj-lt"/>
              </a:rPr>
              <a:t> </a:t>
            </a:r>
            <a:r>
              <a:rPr lang="en-IN" sz="2000" b="0" dirty="0">
                <a:latin typeface="+mj-lt"/>
              </a:rPr>
              <a:t>(2 of 2)</a:t>
            </a:r>
          </a:p>
        </p:txBody>
      </p:sp>
      <p:sp>
        <p:nvSpPr>
          <p:cNvPr id="9" name="Content Placeholder 8"/>
          <p:cNvSpPr>
            <a:spLocks noGrp="1"/>
          </p:cNvSpPr>
          <p:nvPr>
            <p:ph idx="1"/>
          </p:nvPr>
        </p:nvSpPr>
        <p:spPr/>
        <p:txBody>
          <a:bodyPr>
            <a:normAutofit lnSpcReduction="10000"/>
          </a:bodyPr>
          <a:lstStyle/>
          <a:p>
            <a:pPr marL="0" indent="0">
              <a:spcBef>
                <a:spcPts val="1000"/>
              </a:spcBef>
              <a:buNone/>
            </a:pPr>
            <a:r>
              <a:rPr lang="en-US" sz="2200" dirty="0"/>
              <a:t>The </a:t>
            </a:r>
            <a:r>
              <a:rPr lang="en-US" sz="2200" i="1" dirty="0"/>
              <a:t>weights</a:t>
            </a:r>
            <a:r>
              <a:rPr lang="en-US" sz="2200" dirty="0"/>
              <a:t> of (1/2) would be different if the Bank of Canada was more or less concerned about the inflation gap or the output gap.</a:t>
            </a:r>
          </a:p>
          <a:p>
            <a:pPr marL="0" indent="0">
              <a:spcBef>
                <a:spcPts val="1000"/>
              </a:spcBef>
              <a:buNone/>
            </a:pPr>
            <a:r>
              <a:rPr lang="en-IN" sz="2200" dirty="0"/>
              <a:t>In the Taylor rule, the inflation gap coefficient is greater than zero which means that increasing inflation rate by 1%, overnight interest rate should increase more than 1% to ensure an increase in the real interest rate. This is known as </a:t>
            </a:r>
            <a:r>
              <a:rPr lang="en-IN" sz="2200" b="1" i="1" dirty="0"/>
              <a:t>Taylor principle</a:t>
            </a:r>
            <a:r>
              <a:rPr lang="en-IN" sz="2200" b="1" dirty="0"/>
              <a:t>.</a:t>
            </a:r>
          </a:p>
          <a:p>
            <a:pPr marL="0" indent="0">
              <a:spcBef>
                <a:spcPts val="1000"/>
              </a:spcBef>
              <a:buNone/>
            </a:pPr>
            <a:r>
              <a:rPr lang="en-IN" sz="2200" dirty="0"/>
              <a:t>Taylor principle is critical to the success of monetary policy as it ensures that monetary policy is stabilizing.</a:t>
            </a:r>
          </a:p>
          <a:p>
            <a:pPr marL="0" indent="0">
              <a:spcBef>
                <a:spcPts val="1000"/>
              </a:spcBef>
              <a:buNone/>
            </a:pPr>
            <a:r>
              <a:rPr lang="en-IN" sz="2200" dirty="0"/>
              <a:t>Although the Taylor rule does not account for changes in inflation rate or interest rate, many economists view it as a convenient tool for </a:t>
            </a:r>
            <a:r>
              <a:rPr lang="en-IN" sz="2200" dirty="0" err="1"/>
              <a:t>analyzing</a:t>
            </a:r>
            <a:r>
              <a:rPr lang="en-IN" sz="2200" dirty="0"/>
              <a:t> the overnight funds target.</a:t>
            </a:r>
          </a:p>
        </p:txBody>
      </p:sp>
    </p:spTree>
    <p:extLst>
      <p:ext uri="{BB962C8B-B14F-4D97-AF65-F5344CB8AC3E}">
        <p14:creationId xmlns:p14="http://schemas.microsoft.com/office/powerpoint/2010/main" val="3045805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a:latin typeface="+mj-lt"/>
              </a:rPr>
              <a:t>Inflation Targeting</a:t>
            </a:r>
          </a:p>
        </p:txBody>
      </p:sp>
      <p:sp>
        <p:nvSpPr>
          <p:cNvPr id="4" name="Content Placeholder 3"/>
          <p:cNvSpPr>
            <a:spLocks noGrp="1"/>
          </p:cNvSpPr>
          <p:nvPr>
            <p:ph idx="1"/>
          </p:nvPr>
        </p:nvSpPr>
        <p:spPr>
          <a:xfrm>
            <a:off x="457200" y="1524000"/>
            <a:ext cx="8229600" cy="4525963"/>
          </a:xfrm>
        </p:spPr>
        <p:txBody>
          <a:bodyPr/>
          <a:lstStyle/>
          <a:p>
            <a:pPr marL="0" indent="0">
              <a:spcBef>
                <a:spcPts val="600"/>
              </a:spcBef>
              <a:buNone/>
            </a:pPr>
            <a:r>
              <a:rPr lang="en-IN" sz="2000" b="1" dirty="0"/>
              <a:t>Inflation targeting: </a:t>
            </a:r>
            <a:r>
              <a:rPr lang="en-IN" sz="2000" dirty="0"/>
              <a:t>is known as a framework for conducting monetary policy that involves the central bank announcing its target level of inflation.</a:t>
            </a:r>
          </a:p>
          <a:p>
            <a:pPr marL="0" indent="0">
              <a:spcBef>
                <a:spcPts val="600"/>
              </a:spcBef>
              <a:buNone/>
            </a:pPr>
            <a:r>
              <a:rPr lang="en-IN" sz="2000" dirty="0"/>
              <a:t>In 1980s, inflation targeting was adopted by many central banks.</a:t>
            </a:r>
          </a:p>
          <a:p>
            <a:pPr marL="0" indent="0">
              <a:spcBef>
                <a:spcPts val="600"/>
              </a:spcBef>
              <a:buNone/>
            </a:pPr>
            <a:r>
              <a:rPr lang="en-IN" sz="2000" dirty="0"/>
              <a:t>In 2012 Fed also announced to attempt to maintain an average inflation rate of 2 </a:t>
            </a:r>
            <a:r>
              <a:rPr lang="en-IN" sz="2000" dirty="0" err="1"/>
              <a:t>percent</a:t>
            </a:r>
            <a:r>
              <a:rPr lang="en-IN" sz="2000" dirty="0"/>
              <a:t> per year.</a:t>
            </a:r>
          </a:p>
          <a:p>
            <a:pPr>
              <a:spcBef>
                <a:spcPts val="600"/>
              </a:spcBef>
            </a:pPr>
            <a:r>
              <a:rPr lang="en-IN" sz="2000" dirty="0"/>
              <a:t>Inflation target informs the public about </a:t>
            </a:r>
            <a:r>
              <a:rPr lang="en-IN" sz="2000" dirty="0" err="1"/>
              <a:t>BoC’s</a:t>
            </a:r>
            <a:r>
              <a:rPr lang="en-IN" sz="2000" dirty="0"/>
              <a:t> capability. </a:t>
            </a:r>
          </a:p>
          <a:p>
            <a:pPr>
              <a:spcBef>
                <a:spcPts val="600"/>
              </a:spcBef>
            </a:pPr>
            <a:r>
              <a:rPr lang="en-IN" sz="2000" dirty="0"/>
              <a:t>It also provides an anchor for inflationary expectations.</a:t>
            </a:r>
          </a:p>
          <a:p>
            <a:pPr>
              <a:spcBef>
                <a:spcPts val="600"/>
              </a:spcBef>
            </a:pPr>
            <a:r>
              <a:rPr lang="en-IN" sz="2000" dirty="0"/>
              <a:t>It provides accountability for the central bank for achieving the target.</a:t>
            </a:r>
          </a:p>
          <a:p>
            <a:pPr marL="0" indent="0">
              <a:spcBef>
                <a:spcPts val="600"/>
              </a:spcBef>
              <a:buNone/>
            </a:pPr>
            <a:r>
              <a:rPr lang="en-IN" sz="2000" dirty="0"/>
              <a:t>Economists and policymakers continue to debate whether inflation targets improve economic policy.</a:t>
            </a:r>
          </a:p>
          <a:p>
            <a:pPr marL="0" indent="0">
              <a:spcBef>
                <a:spcPts val="600"/>
              </a:spcBef>
              <a:buNone/>
            </a:pPr>
            <a:r>
              <a:rPr lang="en-IN" sz="2000" dirty="0"/>
              <a:t>In 2021, central banks around the world had adopted inflation targeting—but no central bank had yet adopted nominal GDP targeting. </a:t>
            </a:r>
          </a:p>
        </p:txBody>
      </p:sp>
    </p:spTree>
    <p:extLst>
      <p:ext uri="{BB962C8B-B14F-4D97-AF65-F5344CB8AC3E}">
        <p14:creationId xmlns:p14="http://schemas.microsoft.com/office/powerpoint/2010/main" val="2505092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EB804D4F82C0B4088CBB3A2B255BE33" ma:contentTypeVersion="10" ma:contentTypeDescription="Create a new document." ma:contentTypeScope="" ma:versionID="ba2444f8b87678fbda005eb818e18e7d">
  <xsd:schema xmlns:xsd="http://www.w3.org/2001/XMLSchema" xmlns:xs="http://www.w3.org/2001/XMLSchema" xmlns:p="http://schemas.microsoft.com/office/2006/metadata/properties" xmlns:ns3="d445d462-2029-4cec-993f-47750f9ae382" targetNamespace="http://schemas.microsoft.com/office/2006/metadata/properties" ma:root="true" ma:fieldsID="59dfec31504f62d0b799b89d654e468f" ns3:_="">
    <xsd:import namespace="d445d462-2029-4cec-993f-47750f9ae38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45d462-2029-4cec-993f-47750f9ae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0ED968-9256-4114-AF12-237294F6A362}">
  <ds:schemaRefs>
    <ds:schemaRef ds:uri="http://purl.org/dc/elements/1.1/"/>
    <ds:schemaRef ds:uri="d445d462-2029-4cec-993f-47750f9ae382"/>
    <ds:schemaRef ds:uri="http://schemas.openxmlformats.org/package/2006/metadata/core-properties"/>
    <ds:schemaRef ds:uri="http://purl.org/dc/terms/"/>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F2637977-83C3-4D06-8E43-B932C56FB1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45d462-2029-4cec-993f-47750f9ae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BE2AAD-6CC9-4100-8B6B-7A31EE5170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399</TotalTime>
  <Words>2347</Words>
  <Application>Microsoft Macintosh PowerPoint</Application>
  <PresentationFormat>On-screen Show (4:3)</PresentationFormat>
  <Paragraphs>177</Paragraphs>
  <Slides>27</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Times New Roman</vt:lpstr>
      <vt:lpstr>Verdana</vt:lpstr>
      <vt:lpstr>Office Theme</vt:lpstr>
      <vt:lpstr>Macroeconomics ECON 101</vt:lpstr>
      <vt:lpstr>Chapter Outline </vt:lpstr>
      <vt:lpstr>What is Monetary Policy?</vt:lpstr>
      <vt:lpstr>What is the Role of the Bank of Canada?</vt:lpstr>
      <vt:lpstr>The Goals of Monetary Policy</vt:lpstr>
      <vt:lpstr>The Money Market and the Bank of Canada’s Choice of Monetary Policy Targets</vt:lpstr>
      <vt:lpstr>Figure 11.2 The Demand for Money</vt:lpstr>
      <vt:lpstr>Figure 11.3 Shifts in the Money Demand Curve</vt:lpstr>
      <vt:lpstr>How the BoC Manages the Money Supply?</vt:lpstr>
      <vt:lpstr>Figure 11.4 The Effect on the Interest Rate When the Bank of Canada Increases the Money Supply</vt:lpstr>
      <vt:lpstr>Figure 11.5 The Effect on the Interest Rate When the Bank of Canada Decreases the Money Supply</vt:lpstr>
      <vt:lpstr>A Tale of Two Interest Rates</vt:lpstr>
      <vt:lpstr>Choosing a Monetary Policy Target</vt:lpstr>
      <vt:lpstr>Figure 11.6 Overnight Interest Rate Targeting, July 1960–September 2022</vt:lpstr>
      <vt:lpstr>Monetary Policy and Economic Activity</vt:lpstr>
      <vt:lpstr>How Interest Rates Affect Aggregate Demand</vt:lpstr>
      <vt:lpstr>Figure 11.7 Monetary Policy (1 of 2) </vt:lpstr>
      <vt:lpstr>Figure 11.7 Monetary Policy (2 of 2) </vt:lpstr>
      <vt:lpstr>Can the Bank of Canada Eliminate Recessions?</vt:lpstr>
      <vt:lpstr>Figure 11.8 The Effect of a Poorly Timed Monetary Policy on the Economy</vt:lpstr>
      <vt:lpstr>Figure 11.9 Expansionary and Contractionary Monetary Policies</vt:lpstr>
      <vt:lpstr>A Closer Look at the Bank of Canada’s Setting of Monetary Policy Targets</vt:lpstr>
      <vt:lpstr>Should the BoC Target the Money Supply?</vt:lpstr>
      <vt:lpstr>Figure 11.12 The Bank of Canada Can’t Target Both the Money Supply and the Interest Rate</vt:lpstr>
      <vt:lpstr>The Taylor Rule (1 of 2)</vt:lpstr>
      <vt:lpstr>The Taylor Rule (2 of 2)</vt:lpstr>
      <vt:lpstr>Inflation Targeting</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Macroeconomics, Third Canadian Edition, Chapter 1  Economics: Foundations and Models</dc:title>
  <dc:subject>Economics</dc:subject>
  <dc:creator>Hubbard, Patrick O’Brien, Serletis, Childs</dc:creator>
  <cp:lastModifiedBy>Muhebullah Karimzada</cp:lastModifiedBy>
  <cp:revision>5208</cp:revision>
  <dcterms:created xsi:type="dcterms:W3CDTF">2014-07-14T20:04:21Z</dcterms:created>
  <dcterms:modified xsi:type="dcterms:W3CDTF">2025-12-01T22:12:26Z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0x0101008EB804D4F82C0B4088CBB3A2B255BE33</vt:lpwstr>
  </property>
</Properties>
</file>