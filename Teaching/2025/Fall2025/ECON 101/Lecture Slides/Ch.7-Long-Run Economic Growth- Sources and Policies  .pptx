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30"/>
  </p:notesMasterIdLst>
  <p:handoutMasterIdLst>
    <p:handoutMasterId r:id="rId31"/>
  </p:handoutMasterIdLst>
  <p:sldIdLst>
    <p:sldId id="1438" r:id="rId5"/>
    <p:sldId id="1359" r:id="rId6"/>
    <p:sldId id="1448" r:id="rId7"/>
    <p:sldId id="1511" r:id="rId8"/>
    <p:sldId id="1518" r:id="rId9"/>
    <p:sldId id="1476" r:id="rId10"/>
    <p:sldId id="1379" r:id="rId11"/>
    <p:sldId id="1519" r:id="rId12"/>
    <p:sldId id="1461" r:id="rId13"/>
    <p:sldId id="1479" r:id="rId14"/>
    <p:sldId id="1513" r:id="rId15"/>
    <p:sldId id="1481" r:id="rId16"/>
    <p:sldId id="1482" r:id="rId17"/>
    <p:sldId id="1483" r:id="rId18"/>
    <p:sldId id="1484" r:id="rId19"/>
    <p:sldId id="1485" r:id="rId20"/>
    <p:sldId id="1521" r:id="rId21"/>
    <p:sldId id="1492" r:id="rId22"/>
    <p:sldId id="1493" r:id="rId23"/>
    <p:sldId id="1494" r:id="rId24"/>
    <p:sldId id="1495" r:id="rId25"/>
    <p:sldId id="1500" r:id="rId26"/>
    <p:sldId id="1497" r:id="rId27"/>
    <p:sldId id="1498" r:id="rId28"/>
    <p:sldId id="1501"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guide id="10" orient="horz" pos="249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11" autoAdjust="0"/>
    <p:restoredTop sz="90986" autoAdjust="0"/>
  </p:normalViewPr>
  <p:slideViewPr>
    <p:cSldViewPr>
      <p:cViewPr varScale="1">
        <p:scale>
          <a:sx n="112" d="100"/>
          <a:sy n="112" d="100"/>
        </p:scale>
        <p:origin x="664" y="184"/>
      </p:cViewPr>
      <p:guideLst>
        <p:guide orient="horz" pos="2160"/>
        <p:guide pos="2880"/>
        <p:guide orient="horz" pos="336"/>
        <p:guide orient="horz" pos="3984"/>
        <p:guide orient="horz" pos="720"/>
        <p:guide orient="horz" pos="1056"/>
        <p:guide orient="horz" pos="1392"/>
        <p:guide pos="288"/>
        <p:guide pos="5472"/>
        <p:guide orient="horz" pos="2496"/>
      </p:guideLst>
    </p:cSldViewPr>
  </p:slideViewPr>
  <p:outlineViewPr>
    <p:cViewPr>
      <p:scale>
        <a:sx n="33" d="100"/>
        <a:sy n="33" d="100"/>
      </p:scale>
      <p:origin x="0" y="3821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0" d="100"/>
          <a:sy n="80" d="100"/>
        </p:scale>
        <p:origin x="-197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885372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411229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Given</a:t>
            </a:r>
            <a:r>
              <a:rPr lang="en-CA" baseline="0" dirty="0"/>
              <a:t> the history presented in the Chapter, another approach to take would be to ask “Why isn’t the whole world poor?”</a:t>
            </a:r>
            <a:endParaRPr lang="en-CA" dirty="0"/>
          </a:p>
          <a:p>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647869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Vicious Cycle of Poverty: Households have low incomes, they save very little. Because households save very little, few funds are available for firms to borrow. Lacking funds, firms do not invest in the new factories, machinery, and equipment needed for economic</a:t>
            </a:r>
          </a:p>
          <a:p>
            <a:r>
              <a:rPr lang="en-US" sz="1200" b="0" i="0" u="none" strike="noStrike" kern="1200" baseline="0" dirty="0">
                <a:solidFill>
                  <a:schemeClr val="tx1"/>
                </a:solidFill>
                <a:latin typeface="+mn-lt"/>
                <a:ea typeface="+mn-ea"/>
                <a:cs typeface="+mn-cs"/>
              </a:rPr>
              <a:t>growth. Because the economy does not grow, household incomes remain low, as do</a:t>
            </a:r>
          </a:p>
          <a:p>
            <a:r>
              <a:rPr lang="en-US" sz="1200" b="0" i="0" u="none" strike="noStrike" kern="1200" baseline="0" dirty="0">
                <a:solidFill>
                  <a:schemeClr val="tx1"/>
                </a:solidFill>
                <a:latin typeface="+mn-lt"/>
                <a:ea typeface="+mn-ea"/>
                <a:cs typeface="+mn-cs"/>
              </a:rPr>
              <a:t>their savings, and so on.</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11991282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4ED96BF9-0D30-BB34-1F98-F8F7B56775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7166A601-6DA0-0040-8B3C-5961C002465C}"/>
              </a:ext>
            </a:extLst>
          </p:cNvPr>
          <p:cNvSpPr txBox="1"/>
          <p:nvPr userDrawn="1"/>
        </p:nvSpPr>
        <p:spPr>
          <a:xfrm>
            <a:off x="8015565" y="6409251"/>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7 -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20265B1F-2442-F5C8-5B09-56F11F474116}"/>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943959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63937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150771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71301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25852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367530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TextBox 4">
            <a:extLst>
              <a:ext uri="{FF2B5EF4-FFF2-40B4-BE49-F238E27FC236}">
                <a16:creationId xmlns:a16="http://schemas.microsoft.com/office/drawing/2014/main" id="{592FB2E6-1AE7-038F-677F-4FEE06E2A216}"/>
              </a:ext>
            </a:extLst>
          </p:cNvPr>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6" name="Picture 5" descr="Pearson Logo">
            <a:extLst>
              <a:ext uri="{FF2B5EF4-FFF2-40B4-BE49-F238E27FC236}">
                <a16:creationId xmlns:a16="http://schemas.microsoft.com/office/drawing/2014/main" id="{01E33859-DF4B-C03E-0EC8-E349E0ECC2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37873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31123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42008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979485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61215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61654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940500"/>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600"/>
            </a:lvl1pPr>
            <a:lvl2pPr>
              <a:defRPr sz="2400"/>
            </a:lvl2pPr>
            <a:lvl3pPr>
              <a:defRPr sz="2200"/>
            </a:lvl3pPr>
            <a:lvl4pPr>
              <a:defRPr sz="2000"/>
            </a:lvl4pPr>
            <a:lvl5pPr>
              <a:defRPr sz="1800"/>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313561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3906130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C02E8224-CD55-71B2-69B9-EF0EEEC03128}"/>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5" name="TextBox 4">
            <a:extLst>
              <a:ext uri="{FF2B5EF4-FFF2-40B4-BE49-F238E27FC236}">
                <a16:creationId xmlns:a16="http://schemas.microsoft.com/office/drawing/2014/main" id="{0D0FA7D0-95E5-2381-3CFB-88B727D3D61F}"/>
              </a:ext>
            </a:extLst>
          </p:cNvPr>
          <p:cNvSpPr txBox="1"/>
          <p:nvPr userDrawn="1"/>
        </p:nvSpPr>
        <p:spPr>
          <a:xfrm>
            <a:off x="8015565" y="6417103"/>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7 -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3045113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514773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2" name="TextBox 1">
            <a:extLst>
              <a:ext uri="{FF2B5EF4-FFF2-40B4-BE49-F238E27FC236}">
                <a16:creationId xmlns:a16="http://schemas.microsoft.com/office/drawing/2014/main" id="{AE6ED4E0-745A-96C1-3168-F6CC55F5BF13}"/>
              </a:ext>
            </a:extLst>
          </p:cNvPr>
          <p:cNvSpPr txBox="1"/>
          <p:nvPr userDrawn="1"/>
        </p:nvSpPr>
        <p:spPr>
          <a:xfrm>
            <a:off x="8015565" y="6409251"/>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7 -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266700" indent="-266700">
              <a:buClr>
                <a:srgbClr val="007FA3"/>
              </a:buClr>
              <a:buSzPct val="100000"/>
              <a:defRPr sz="2600"/>
            </a:lvl1pPr>
            <a:lvl2pPr marL="715963" indent="-285750">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3200400"/>
            <a:ext cx="8229600" cy="12954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7" name="TextBox 6"/>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896BB2AB-1402-328D-3EEE-DE1D1B1B33D7}"/>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7C42279C-AE98-6420-0FAB-D1C79645B15E}"/>
              </a:ext>
            </a:extLst>
          </p:cNvPr>
          <p:cNvSpPr txBox="1"/>
          <p:nvPr userDrawn="1"/>
        </p:nvSpPr>
        <p:spPr>
          <a:xfrm>
            <a:off x="8015565" y="6417103"/>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7 -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BFEEABDD-1C18-AD20-FECF-35A4E1586943}"/>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356030647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2" r:id="rId12"/>
    <p:sldLayoutId id="2147483683" r:id="rId13"/>
    <p:sldLayoutId id="2147483684" r:id="rId14"/>
    <p:sldLayoutId id="2147483685" r:id="rId15"/>
    <p:sldLayoutId id="2147483686" r:id="rId16"/>
    <p:sldLayoutId id="2147483657" r:id="rId17"/>
    <p:sldLayoutId id="2147483650" r:id="rId18"/>
    <p:sldLayoutId id="2147483659" r:id="rId19"/>
    <p:sldLayoutId id="2147483662" r:id="rId20"/>
    <p:sldLayoutId id="2147483661" r:id="rId21"/>
    <p:sldLayoutId id="2147483665" r:id="rId22"/>
    <p:sldLayoutId id="2147483663" r:id="rId23"/>
    <p:sldLayoutId id="2147483654" r:id="rId24"/>
    <p:sldLayoutId id="2147483655" r:id="rId2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US" sz="2400" dirty="0"/>
              <a:t>Long-Run Economic Growth: Sources and Policies</a:t>
            </a:r>
          </a:p>
          <a:p>
            <a:r>
              <a:rPr lang="en-US" dirty="0"/>
              <a:t>(Chapter 7)</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IN" dirty="0">
                <a:latin typeface="+mj-lt"/>
              </a:rPr>
              <a:t>Obtaining Economic Growth</a:t>
            </a:r>
            <a:endParaRPr lang="en-US" dirty="0">
              <a:latin typeface="+mj-lt"/>
            </a:endParaRPr>
          </a:p>
        </p:txBody>
      </p:sp>
      <p:sp>
        <p:nvSpPr>
          <p:cNvPr id="6" name="Content Placeholder 5"/>
          <p:cNvSpPr>
            <a:spLocks noGrp="1"/>
          </p:cNvSpPr>
          <p:nvPr>
            <p:ph idx="1"/>
          </p:nvPr>
        </p:nvSpPr>
        <p:spPr>
          <a:xfrm>
            <a:off x="457200" y="1600200"/>
            <a:ext cx="8229600" cy="4572000"/>
          </a:xfrm>
        </p:spPr>
        <p:txBody>
          <a:bodyPr>
            <a:noAutofit/>
          </a:bodyPr>
          <a:lstStyle/>
          <a:p>
            <a:pPr marL="0" indent="0">
              <a:spcBef>
                <a:spcPts val="1000"/>
              </a:spcBef>
              <a:buNone/>
            </a:pPr>
            <a:r>
              <a:rPr lang="en-US" sz="2200" dirty="0"/>
              <a:t>In the previous chapter, we looked at ways to measure economic growth in the long and short terms.</a:t>
            </a:r>
          </a:p>
          <a:p>
            <a:pPr marL="0" indent="0">
              <a:spcBef>
                <a:spcPts val="1000"/>
              </a:spcBef>
              <a:buNone/>
            </a:pPr>
            <a:r>
              <a:rPr lang="en-US" sz="2200" dirty="0"/>
              <a:t>In this chapter, we will consider the effects of different government policies on long-term economic growth.</a:t>
            </a:r>
          </a:p>
          <a:p>
            <a:pPr marL="342900" indent="-342900">
              <a:spcBef>
                <a:spcPts val="1000"/>
              </a:spcBef>
              <a:buSzPct val="100000"/>
            </a:pPr>
            <a:r>
              <a:rPr lang="en-US" sz="2200" dirty="0"/>
              <a:t>Economic growth is not inevitable; history has seen long periods of stagnation with no sustained increases in output per capita.</a:t>
            </a:r>
          </a:p>
          <a:p>
            <a:pPr marL="0" indent="0">
              <a:spcBef>
                <a:spcPts val="1000"/>
              </a:spcBef>
              <a:buNone/>
            </a:pPr>
            <a:r>
              <a:rPr lang="en-US" sz="2200" dirty="0"/>
              <a:t>Why have some countries been able to achieve rapidly increasing real GDP per capita, while other countries have failed to keep pace?</a:t>
            </a:r>
          </a:p>
          <a:p>
            <a:pPr marL="342900" indent="-342900">
              <a:spcBef>
                <a:spcPts val="1000"/>
              </a:spcBef>
              <a:buSzPct val="100000"/>
            </a:pPr>
            <a:r>
              <a:rPr lang="en-US" sz="2200" dirty="0"/>
              <a:t>Our goal in this chapter is to develop a </a:t>
            </a:r>
            <a:r>
              <a:rPr lang="en-US" sz="2200" i="1" dirty="0"/>
              <a:t>model of economic growth</a:t>
            </a:r>
            <a:r>
              <a:rPr lang="en-US" sz="2200" dirty="0"/>
              <a:t> to help answer questions such as this.</a:t>
            </a:r>
          </a:p>
        </p:txBody>
      </p:sp>
    </p:spTree>
    <p:extLst>
      <p:ext uri="{BB962C8B-B14F-4D97-AF65-F5344CB8AC3E}">
        <p14:creationId xmlns:p14="http://schemas.microsoft.com/office/powerpoint/2010/main" val="2797075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The Industrial Revolution</a:t>
            </a:r>
            <a:endParaRPr lang="en-US" dirty="0">
              <a:latin typeface="+mj-lt"/>
            </a:endParaRPr>
          </a:p>
        </p:txBody>
      </p:sp>
      <p:sp>
        <p:nvSpPr>
          <p:cNvPr id="3" name="Content Placeholder 2"/>
          <p:cNvSpPr>
            <a:spLocks noGrp="1"/>
          </p:cNvSpPr>
          <p:nvPr>
            <p:ph idx="1"/>
          </p:nvPr>
        </p:nvSpPr>
        <p:spPr/>
        <p:txBody>
          <a:bodyPr>
            <a:noAutofit/>
          </a:bodyPr>
          <a:lstStyle/>
          <a:p>
            <a:pPr marL="0" indent="0">
              <a:spcBef>
                <a:spcPts val="0"/>
              </a:spcBef>
              <a:spcAft>
                <a:spcPts val="1200"/>
              </a:spcAft>
              <a:buNone/>
            </a:pPr>
            <a:r>
              <a:rPr lang="en-US" dirty="0"/>
              <a:t>Sustained economic growth did not really begin until the </a:t>
            </a:r>
            <a:r>
              <a:rPr lang="en-US" b="1" dirty="0"/>
              <a:t>Industrial Revolution,</a:t>
            </a:r>
            <a:r>
              <a:rPr lang="en-US" dirty="0"/>
              <a:t> the application of mechanical power to the production of goods and services which began in England around the year 1750.</a:t>
            </a:r>
          </a:p>
          <a:p>
            <a:pPr marL="342900" indent="-342900">
              <a:spcBef>
                <a:spcPts val="0"/>
              </a:spcBef>
              <a:spcAft>
                <a:spcPts val="1200"/>
              </a:spcAft>
              <a:buSzPct val="100000"/>
            </a:pPr>
            <a:r>
              <a:rPr lang="en-US" dirty="0"/>
              <a:t>Before this, production of most goods had relied on human or animal power.</a:t>
            </a:r>
          </a:p>
          <a:p>
            <a:pPr marL="0" indent="0">
              <a:spcBef>
                <a:spcPts val="0"/>
              </a:spcBef>
              <a:spcAft>
                <a:spcPts val="1200"/>
              </a:spcAft>
              <a:buSzPct val="100000"/>
              <a:buNone/>
            </a:pPr>
            <a:r>
              <a:rPr lang="en-US" dirty="0"/>
              <a:t>The use of mechanical power allowed England and other countries—like the United States, France, and Germany—to begin to experience </a:t>
            </a:r>
            <a:r>
              <a:rPr lang="en-US" i="1" dirty="0"/>
              <a:t>long-run economic growth</a:t>
            </a:r>
            <a:r>
              <a:rPr lang="en-US" dirty="0"/>
              <a:t>.</a:t>
            </a:r>
          </a:p>
        </p:txBody>
      </p:sp>
    </p:spTree>
    <p:extLst>
      <p:ext uri="{BB962C8B-B14F-4D97-AF65-F5344CB8AC3E}">
        <p14:creationId xmlns:p14="http://schemas.microsoft.com/office/powerpoint/2010/main" val="609719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F5E9BED-E75A-735F-A667-401EE62380C1}"/>
              </a:ext>
            </a:extLst>
          </p:cNvPr>
          <p:cNvSpPr>
            <a:spLocks noGrp="1"/>
          </p:cNvSpPr>
          <p:nvPr>
            <p:ph type="title"/>
          </p:nvPr>
        </p:nvSpPr>
        <p:spPr/>
        <p:txBody>
          <a:bodyPr/>
          <a:lstStyle/>
          <a:p>
            <a:r>
              <a:rPr lang="en-US" sz="3400" dirty="0">
                <a:latin typeface="+mj-lt"/>
              </a:rPr>
              <a:t>Table 7.1 The Effects of Different Growth Rates on Living Standards</a:t>
            </a:r>
            <a:endParaRPr lang="en-AU" sz="3400" dirty="0">
              <a:latin typeface="+mj-lt"/>
            </a:endParaRPr>
          </a:p>
        </p:txBody>
      </p:sp>
      <p:graphicFrame>
        <p:nvGraphicFramePr>
          <p:cNvPr id="10" name="Table 61">
            <a:extLst>
              <a:ext uri="{FF2B5EF4-FFF2-40B4-BE49-F238E27FC236}">
                <a16:creationId xmlns:a16="http://schemas.microsoft.com/office/drawing/2014/main" id="{54C56614-630E-9697-4E63-CB4A40AF387B}"/>
              </a:ext>
            </a:extLst>
          </p:cNvPr>
          <p:cNvGraphicFramePr>
            <a:graphicFrameLocks/>
          </p:cNvGraphicFramePr>
          <p:nvPr>
            <p:extLst>
              <p:ext uri="{D42A27DB-BD31-4B8C-83A1-F6EECF244321}">
                <p14:modId xmlns:p14="http://schemas.microsoft.com/office/powerpoint/2010/main" val="1436642432"/>
              </p:ext>
            </p:extLst>
          </p:nvPr>
        </p:nvGraphicFramePr>
        <p:xfrm>
          <a:off x="457200" y="1663700"/>
          <a:ext cx="8229600" cy="1630680"/>
        </p:xfrm>
        <a:graphic>
          <a:graphicData uri="http://schemas.openxmlformats.org/drawingml/2006/table">
            <a:tbl>
              <a:tblPr firstRow="1" bandRow="1"/>
              <a:tblGrid>
                <a:gridCol w="1168400">
                  <a:extLst>
                    <a:ext uri="{9D8B030D-6E8A-4147-A177-3AD203B41FA5}">
                      <a16:colId xmlns:a16="http://schemas.microsoft.com/office/drawing/2014/main" val="3475353176"/>
                    </a:ext>
                  </a:extLst>
                </a:gridCol>
                <a:gridCol w="2247900">
                  <a:extLst>
                    <a:ext uri="{9D8B030D-6E8A-4147-A177-3AD203B41FA5}">
                      <a16:colId xmlns:a16="http://schemas.microsoft.com/office/drawing/2014/main" val="3706581996"/>
                    </a:ext>
                  </a:extLst>
                </a:gridCol>
                <a:gridCol w="2476500">
                  <a:extLst>
                    <a:ext uri="{9D8B030D-6E8A-4147-A177-3AD203B41FA5}">
                      <a16:colId xmlns:a16="http://schemas.microsoft.com/office/drawing/2014/main" val="1393146926"/>
                    </a:ext>
                  </a:extLst>
                </a:gridCol>
                <a:gridCol w="2336800">
                  <a:extLst>
                    <a:ext uri="{9D8B030D-6E8A-4147-A177-3AD203B41FA5}">
                      <a16:colId xmlns:a16="http://schemas.microsoft.com/office/drawing/2014/main" val="3398370908"/>
                    </a:ext>
                  </a:extLst>
                </a:gridCol>
              </a:tblGrid>
              <a:tr h="370840">
                <a:tc>
                  <a:txBody>
                    <a:bodyPr/>
                    <a:lstStyle/>
                    <a:p>
                      <a:r>
                        <a:rPr lang="en-AU" sz="1400" b="1" i="0" u="none" strike="noStrike" cap="none" baseline="0" dirty="0">
                          <a:solidFill>
                            <a:schemeClr val="tx1"/>
                          </a:solidFill>
                          <a:latin typeface="+mn-lt"/>
                          <a:ea typeface="Arial"/>
                          <a:cs typeface="Arial"/>
                          <a:sym typeface="Arial"/>
                        </a:rPr>
                        <a:t>Country</a:t>
                      </a:r>
                      <a:endParaRPr lang="en-AU" dirty="0">
                        <a:solidFill>
                          <a:schemeClr val="tx1"/>
                        </a:solidFill>
                        <a:latin typeface="+mn-lt"/>
                      </a:endParaRPr>
                    </a:p>
                  </a:txBody>
                  <a:tcPr anchor="b">
                    <a:lnL w="9525" cap="flat" cmpd="sng">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1" i="0" u="none" strike="noStrike" cap="none" baseline="0" dirty="0">
                          <a:solidFill>
                            <a:schemeClr val="tx1"/>
                          </a:solidFill>
                          <a:latin typeface="+mn-lt"/>
                          <a:ea typeface="Arial"/>
                          <a:cs typeface="Arial"/>
                          <a:sym typeface="Arial"/>
                        </a:rPr>
                        <a:t>Real G</a:t>
                      </a:r>
                      <a:r>
                        <a:rPr lang="en-AU" sz="100" b="1" i="0" u="none" strike="noStrike" cap="none" baseline="0" dirty="0">
                          <a:solidFill>
                            <a:schemeClr val="tx1"/>
                          </a:solidFill>
                          <a:latin typeface="+mn-lt"/>
                          <a:ea typeface="Arial"/>
                          <a:cs typeface="Arial"/>
                          <a:sym typeface="Arial"/>
                        </a:rPr>
                        <a:t> </a:t>
                      </a:r>
                      <a:r>
                        <a:rPr lang="en-AU" sz="1400" b="1" i="0" u="none" strike="noStrike" cap="none" baseline="0" dirty="0">
                          <a:solidFill>
                            <a:schemeClr val="tx1"/>
                          </a:solidFill>
                          <a:latin typeface="+mn-lt"/>
                          <a:ea typeface="Arial"/>
                          <a:cs typeface="Arial"/>
                          <a:sym typeface="Arial"/>
                        </a:rPr>
                        <a:t>D</a:t>
                      </a:r>
                      <a:r>
                        <a:rPr lang="en-AU" sz="100" b="1" i="0" u="none" strike="noStrike" cap="none" baseline="0" dirty="0">
                          <a:solidFill>
                            <a:schemeClr val="tx1"/>
                          </a:solidFill>
                          <a:latin typeface="+mn-lt"/>
                          <a:ea typeface="Arial"/>
                          <a:cs typeface="Arial"/>
                          <a:sym typeface="Arial"/>
                        </a:rPr>
                        <a:t> </a:t>
                      </a:r>
                      <a:r>
                        <a:rPr lang="en-AU" sz="1400" b="1" i="0" u="none" strike="noStrike" cap="none" baseline="0" dirty="0">
                          <a:solidFill>
                            <a:schemeClr val="tx1"/>
                          </a:solidFill>
                          <a:latin typeface="+mn-lt"/>
                          <a:ea typeface="Arial"/>
                          <a:cs typeface="Arial"/>
                          <a:sym typeface="Arial"/>
                        </a:rPr>
                        <a:t>P per Capita, 1960 (2017 U.S. dollars)</a:t>
                      </a:r>
                      <a:endParaRPr lang="en-AU" dirty="0">
                        <a:solidFill>
                          <a:schemeClr val="tx1"/>
                        </a:solidFill>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1" i="0" u="none" strike="noStrike" cap="none" baseline="0" dirty="0">
                          <a:solidFill>
                            <a:schemeClr val="tx1"/>
                          </a:solidFill>
                          <a:latin typeface="+mn-lt"/>
                          <a:ea typeface="Arial"/>
                          <a:cs typeface="Arial"/>
                          <a:sym typeface="Arial"/>
                        </a:rPr>
                        <a:t>Growth in Real G</a:t>
                      </a:r>
                      <a:r>
                        <a:rPr lang="en-AU" sz="100" b="1" i="0" u="none" strike="noStrike" cap="none" baseline="0" dirty="0">
                          <a:solidFill>
                            <a:schemeClr val="tx1"/>
                          </a:solidFill>
                          <a:latin typeface="+mn-lt"/>
                          <a:ea typeface="Arial"/>
                          <a:cs typeface="Arial"/>
                          <a:sym typeface="Arial"/>
                        </a:rPr>
                        <a:t> </a:t>
                      </a:r>
                      <a:r>
                        <a:rPr lang="en-AU" sz="1400" b="1" i="0" u="none" strike="noStrike" cap="none" baseline="0" dirty="0">
                          <a:solidFill>
                            <a:schemeClr val="tx1"/>
                          </a:solidFill>
                          <a:latin typeface="+mn-lt"/>
                          <a:ea typeface="Arial"/>
                          <a:cs typeface="Arial"/>
                          <a:sym typeface="Arial"/>
                        </a:rPr>
                        <a:t>D</a:t>
                      </a:r>
                      <a:r>
                        <a:rPr lang="en-AU" sz="100" b="1" i="0" u="none" strike="noStrike" cap="none" baseline="0" dirty="0">
                          <a:solidFill>
                            <a:schemeClr val="tx1"/>
                          </a:solidFill>
                          <a:latin typeface="+mn-lt"/>
                          <a:ea typeface="Arial"/>
                          <a:cs typeface="Arial"/>
                          <a:sym typeface="Arial"/>
                        </a:rPr>
                        <a:t> </a:t>
                      </a:r>
                      <a:r>
                        <a:rPr lang="en-AU" sz="1400" b="1" i="0" u="none" strike="noStrike" cap="none" baseline="0" dirty="0">
                          <a:solidFill>
                            <a:schemeClr val="tx1"/>
                          </a:solidFill>
                          <a:latin typeface="+mn-lt"/>
                          <a:ea typeface="Arial"/>
                          <a:cs typeface="Arial"/>
                          <a:sym typeface="Arial"/>
                        </a:rPr>
                        <a:t>P per Capita, 1960–2019</a:t>
                      </a:r>
                      <a:endParaRPr lang="en-AU" dirty="0">
                        <a:solidFill>
                          <a:schemeClr val="tx1"/>
                        </a:solidFill>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1" i="0" u="none" strike="noStrike" cap="none" baseline="0" dirty="0">
                          <a:solidFill>
                            <a:schemeClr val="tx1"/>
                          </a:solidFill>
                          <a:latin typeface="+mn-lt"/>
                          <a:ea typeface="Arial"/>
                          <a:cs typeface="Arial"/>
                          <a:sym typeface="Arial"/>
                        </a:rPr>
                        <a:t>Real G</a:t>
                      </a:r>
                      <a:r>
                        <a:rPr lang="en-AU" sz="100" b="1" i="0" u="none" strike="noStrike" cap="none" baseline="0" dirty="0">
                          <a:solidFill>
                            <a:schemeClr val="tx1"/>
                          </a:solidFill>
                          <a:latin typeface="+mn-lt"/>
                          <a:ea typeface="Arial"/>
                          <a:cs typeface="Arial"/>
                          <a:sym typeface="Arial"/>
                        </a:rPr>
                        <a:t> </a:t>
                      </a:r>
                      <a:r>
                        <a:rPr lang="en-AU" sz="1400" b="1" i="0" u="none" strike="noStrike" cap="none" baseline="0" dirty="0">
                          <a:solidFill>
                            <a:schemeClr val="tx1"/>
                          </a:solidFill>
                          <a:latin typeface="+mn-lt"/>
                          <a:ea typeface="Arial"/>
                          <a:cs typeface="Arial"/>
                          <a:sym typeface="Arial"/>
                        </a:rPr>
                        <a:t>D</a:t>
                      </a:r>
                      <a:r>
                        <a:rPr lang="en-AU" sz="100" b="1" i="0" u="none" strike="noStrike" cap="none" baseline="0" dirty="0">
                          <a:solidFill>
                            <a:schemeClr val="tx1"/>
                          </a:solidFill>
                          <a:latin typeface="+mn-lt"/>
                          <a:ea typeface="Arial"/>
                          <a:cs typeface="Arial"/>
                          <a:sym typeface="Arial"/>
                        </a:rPr>
                        <a:t> </a:t>
                      </a:r>
                      <a:r>
                        <a:rPr lang="en-AU" sz="1400" b="1" i="0" u="none" strike="noStrike" cap="none" baseline="0" dirty="0">
                          <a:solidFill>
                            <a:schemeClr val="tx1"/>
                          </a:solidFill>
                          <a:latin typeface="+mn-lt"/>
                          <a:ea typeface="Arial"/>
                          <a:cs typeface="Arial"/>
                          <a:sym typeface="Arial"/>
                        </a:rPr>
                        <a:t>P per Capita, 2019 (2017 U.S. dollars) </a:t>
                      </a:r>
                      <a:endParaRPr lang="en-AU" dirty="0">
                        <a:solidFill>
                          <a:schemeClr val="tx1"/>
                        </a:solidFill>
                        <a:latin typeface="+mn-lt"/>
                      </a:endParaRPr>
                    </a:p>
                  </a:txBody>
                  <a:tcPr anchor="b">
                    <a:lnL w="12700" cap="flat" cmpd="sng" algn="ctr">
                      <a:solidFill>
                        <a:schemeClr val="tx1"/>
                      </a:solid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829152"/>
                  </a:ext>
                </a:extLst>
              </a:tr>
              <a:tr h="370840">
                <a:tc>
                  <a:txBody>
                    <a:bodyPr/>
                    <a:lstStyle/>
                    <a:p>
                      <a:r>
                        <a:rPr lang="en-AU" sz="1400" b="0" i="0" u="none" strike="noStrike" cap="none" baseline="0" dirty="0">
                          <a:solidFill>
                            <a:schemeClr val="tx1"/>
                          </a:solidFill>
                          <a:latin typeface="+mn-lt"/>
                          <a:cs typeface="Arial"/>
                          <a:sym typeface="Arial"/>
                        </a:rPr>
                        <a:t>Ghana</a:t>
                      </a:r>
                      <a:endParaRPr lang="en-AU" dirty="0">
                        <a:solidFill>
                          <a:schemeClr val="tx1"/>
                        </a:solidFill>
                        <a:latin typeface="+mn-lt"/>
                      </a:endParaRPr>
                    </a:p>
                  </a:txBody>
                  <a:tcPr>
                    <a:lnL w="9525" cap="flat" cmpd="sng">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$4,408</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0.4%</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$5,546</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8036634"/>
                  </a:ext>
                </a:extLst>
              </a:tr>
              <a:tr h="370840">
                <a:tc>
                  <a:txBody>
                    <a:bodyPr/>
                    <a:lstStyle/>
                    <a:p>
                      <a:r>
                        <a:rPr lang="en-AU" sz="1400" b="0" i="0" u="none" strike="noStrike" cap="none" baseline="0" dirty="0">
                          <a:solidFill>
                            <a:schemeClr val="tx1"/>
                          </a:solidFill>
                          <a:latin typeface="+mn-lt"/>
                          <a:cs typeface="Arial"/>
                          <a:sym typeface="Arial"/>
                        </a:rPr>
                        <a:t>Mexico</a:t>
                      </a:r>
                      <a:endParaRPr lang="en-AU" dirty="0">
                        <a:solidFill>
                          <a:schemeClr val="tx1"/>
                        </a:solidFill>
                        <a:latin typeface="+mn-lt"/>
                      </a:endParaRPr>
                    </a:p>
                  </a:txBody>
                  <a:tcPr>
                    <a:lnL w="9525" cap="flat" cmpd="sng">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6,072</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1.9</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19,308</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9827512"/>
                  </a:ext>
                </a:extLst>
              </a:tr>
              <a:tr h="370840">
                <a:tc>
                  <a:txBody>
                    <a:bodyPr/>
                    <a:lstStyle/>
                    <a:p>
                      <a:r>
                        <a:rPr lang="en-AU" sz="1400" b="0" i="0" u="none" strike="noStrike" cap="none" baseline="0" dirty="0">
                          <a:solidFill>
                            <a:schemeClr val="tx1"/>
                          </a:solidFill>
                          <a:latin typeface="+mn-lt"/>
                          <a:ea typeface="Arial"/>
                          <a:cs typeface="Arial"/>
                          <a:sym typeface="Arial"/>
                        </a:rPr>
                        <a:t>Turkey</a:t>
                      </a:r>
                      <a:endParaRPr lang="en-AU" dirty="0">
                        <a:solidFill>
                          <a:schemeClr val="tx1"/>
                        </a:solidFill>
                        <a:latin typeface="+mn-lt"/>
                      </a:endParaRPr>
                    </a:p>
                  </a:txBody>
                  <a:tcPr>
                    <a:lnL w="9525" cap="flat" cmpd="sng">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5,051</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2.9</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1400" b="0" i="0" u="none" strike="noStrike" cap="none" baseline="0" dirty="0">
                          <a:solidFill>
                            <a:schemeClr val="tx1"/>
                          </a:solidFill>
                          <a:latin typeface="+mn-lt"/>
                          <a:ea typeface="Arial"/>
                          <a:cs typeface="Arial"/>
                          <a:sym typeface="Arial"/>
                        </a:rPr>
                        <a:t>26,700</a:t>
                      </a:r>
                      <a:endParaRPr lang="en-AU" dirty="0">
                        <a:solidFill>
                          <a:schemeClr val="tx1"/>
                        </a:solidFill>
                        <a:latin typeface="+mn-lt"/>
                      </a:endParaRPr>
                    </a:p>
                  </a:txBody>
                  <a:tcPr>
                    <a:lnL w="12700" cap="flat" cmpd="sng" algn="ctr">
                      <a:solidFill>
                        <a:schemeClr val="tx1"/>
                      </a:solid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900066"/>
                  </a:ext>
                </a:extLst>
              </a:tr>
            </a:tbl>
          </a:graphicData>
        </a:graphic>
      </p:graphicFrame>
      <p:sp>
        <p:nvSpPr>
          <p:cNvPr id="11" name="Content Placeholder 56">
            <a:extLst>
              <a:ext uri="{FF2B5EF4-FFF2-40B4-BE49-F238E27FC236}">
                <a16:creationId xmlns:a16="http://schemas.microsoft.com/office/drawing/2014/main" id="{C48BAC01-D084-3FE3-AEB8-40DA615FF9F4}"/>
              </a:ext>
            </a:extLst>
          </p:cNvPr>
          <p:cNvSpPr txBox="1">
            <a:spLocks/>
          </p:cNvSpPr>
          <p:nvPr/>
        </p:nvSpPr>
        <p:spPr>
          <a:xfrm>
            <a:off x="460374" y="3505200"/>
            <a:ext cx="8493126" cy="609599"/>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200" b="1" dirty="0"/>
              <a:t>SOURCES: </a:t>
            </a:r>
            <a:r>
              <a:rPr lang="en-US" sz="1200" dirty="0"/>
              <a:t>Authors’ calculation from data in Robert C. </a:t>
            </a:r>
            <a:r>
              <a:rPr lang="en-US" sz="1200" dirty="0" err="1"/>
              <a:t>Feenstra</a:t>
            </a:r>
            <a:r>
              <a:rPr lang="en-US" sz="1200" dirty="0"/>
              <a:t>, Robert </a:t>
            </a:r>
            <a:r>
              <a:rPr lang="en-US" sz="1200" dirty="0" err="1"/>
              <a:t>Inklaar</a:t>
            </a:r>
            <a:r>
              <a:rPr lang="en-US" sz="1200" dirty="0"/>
              <a:t>, and Marcel P. Timmer, “The Next Generation of the Penn World Table,” </a:t>
            </a:r>
            <a:r>
              <a:rPr lang="en-US" sz="1200" i="1" dirty="0"/>
              <a:t>American Economic Review</a:t>
            </a:r>
            <a:r>
              <a:rPr lang="en-US" sz="1200" dirty="0"/>
              <a:t>, October 2015, Vol. 105, </a:t>
            </a:r>
            <a:r>
              <a:rPr lang="en-AU" sz="1200" dirty="0"/>
              <a:t>No. 10, p </a:t>
            </a:r>
            <a:r>
              <a:rPr lang="en-AU" sz="1200" dirty="0" err="1"/>
              <a:t>p</a:t>
            </a:r>
            <a:r>
              <a:rPr lang="en-AU" sz="1200" dirty="0"/>
              <a:t>. 3150–3182 (data available at www.ggdc.net/pwt.)</a:t>
            </a:r>
          </a:p>
        </p:txBody>
      </p:sp>
      <p:sp>
        <p:nvSpPr>
          <p:cNvPr id="13" name="Content Placeholder 59">
            <a:extLst>
              <a:ext uri="{FF2B5EF4-FFF2-40B4-BE49-F238E27FC236}">
                <a16:creationId xmlns:a16="http://schemas.microsoft.com/office/drawing/2014/main" id="{F73BE3E1-CEC6-E859-83BB-AA4E91684BA6}"/>
              </a:ext>
            </a:extLst>
          </p:cNvPr>
          <p:cNvSpPr txBox="1">
            <a:spLocks/>
          </p:cNvSpPr>
          <p:nvPr/>
        </p:nvSpPr>
        <p:spPr>
          <a:xfrm>
            <a:off x="454025" y="4361043"/>
            <a:ext cx="8229600" cy="812205"/>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400" dirty="0"/>
              <a:t>Small annual differences in growth rates result in dramatic differences in living standards even after just ~50 years.</a:t>
            </a:r>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2254989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F7AB0CE-BF8B-6B1F-FBA5-52C06E9B7806}"/>
              </a:ext>
            </a:extLst>
          </p:cNvPr>
          <p:cNvSpPr>
            <a:spLocks noGrp="1"/>
          </p:cNvSpPr>
          <p:nvPr>
            <p:ph type="title"/>
          </p:nvPr>
        </p:nvSpPr>
        <p:spPr/>
        <p:txBody>
          <a:bodyPr/>
          <a:lstStyle/>
          <a:p>
            <a:r>
              <a:rPr lang="en-US" dirty="0">
                <a:latin typeface="+mj-lt"/>
              </a:rPr>
              <a:t>Why Do Growth Rates Matter?</a:t>
            </a:r>
            <a:endParaRPr lang="en-IN" dirty="0"/>
          </a:p>
        </p:txBody>
      </p:sp>
      <p:sp>
        <p:nvSpPr>
          <p:cNvPr id="10" name="Content Placeholder 9">
            <a:extLst>
              <a:ext uri="{FF2B5EF4-FFF2-40B4-BE49-F238E27FC236}">
                <a16:creationId xmlns:a16="http://schemas.microsoft.com/office/drawing/2014/main" id="{7D8E7C65-53DA-8022-A3FD-5497D291EDCD}"/>
              </a:ext>
            </a:extLst>
          </p:cNvPr>
          <p:cNvSpPr>
            <a:spLocks noGrp="1"/>
          </p:cNvSpPr>
          <p:nvPr>
            <p:ph idx="1"/>
          </p:nvPr>
        </p:nvSpPr>
        <p:spPr/>
        <p:txBody>
          <a:bodyPr/>
          <a:lstStyle/>
          <a:p>
            <a:pPr marL="0" indent="0">
              <a:spcBef>
                <a:spcPts val="1000"/>
              </a:spcBef>
              <a:buSzPts val="2200"/>
              <a:buFont typeface="Arial" panose="020B0604020202020204" pitchFamily="34" charset="0"/>
              <a:buNone/>
            </a:pPr>
            <a:r>
              <a:rPr lang="en-US" sz="2500" dirty="0"/>
              <a:t>A country that grows too slowly fails to raise living standards.</a:t>
            </a:r>
          </a:p>
          <a:p>
            <a:pPr marL="255588" indent="-255588">
              <a:spcBef>
                <a:spcPts val="1000"/>
              </a:spcBef>
            </a:pPr>
            <a:r>
              <a:rPr lang="en-US" sz="2500" dirty="0"/>
              <a:t>This doesn’t just mean iPhones and flat-screen TVs.</a:t>
            </a:r>
          </a:p>
          <a:p>
            <a:pPr marL="0" indent="0">
              <a:spcBef>
                <a:spcPts val="1000"/>
              </a:spcBef>
              <a:buNone/>
            </a:pPr>
            <a:r>
              <a:rPr lang="en-US" sz="2500" dirty="0"/>
              <a:t>In high-income countries, 6 or fewer out of 1,000 babies die before age one. In the poorest countries, the rate is more than 50 out of 1,000.</a:t>
            </a:r>
          </a:p>
          <a:p>
            <a:pPr marL="0" indent="0">
              <a:spcBef>
                <a:spcPts val="1000"/>
              </a:spcBef>
              <a:buNone/>
            </a:pPr>
            <a:r>
              <a:rPr lang="en-US" sz="2500" dirty="0"/>
              <a:t>Poor growth has resulted in previously rich countries like Argentina lagging behind, with higher rates of poverty, lower life expectancy, and higher infant mortality than their prior peers.</a:t>
            </a:r>
          </a:p>
        </p:txBody>
      </p:sp>
    </p:spTree>
    <p:extLst>
      <p:ext uri="{BB962C8B-B14F-4D97-AF65-F5344CB8AC3E}">
        <p14:creationId xmlns:p14="http://schemas.microsoft.com/office/powerpoint/2010/main" val="2068431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latin typeface="+mj-lt"/>
              </a:rPr>
              <a:t>Differences in Incomes Across Countries</a:t>
            </a:r>
            <a:endParaRPr lang="en-US" sz="3600" dirty="0">
              <a:latin typeface="+mj-lt"/>
            </a:endParaRPr>
          </a:p>
        </p:txBody>
      </p:sp>
      <p:sp>
        <p:nvSpPr>
          <p:cNvPr id="3" name="Content Placeholder 2"/>
          <p:cNvSpPr>
            <a:spLocks noGrp="1"/>
          </p:cNvSpPr>
          <p:nvPr>
            <p:ph idx="1"/>
          </p:nvPr>
        </p:nvSpPr>
        <p:spPr>
          <a:xfrm>
            <a:off x="457200" y="1600200"/>
            <a:ext cx="8229600" cy="4648200"/>
          </a:xfrm>
        </p:spPr>
        <p:txBody>
          <a:bodyPr>
            <a:noAutofit/>
          </a:bodyPr>
          <a:lstStyle/>
          <a:p>
            <a:pPr marL="0" indent="0">
              <a:spcBef>
                <a:spcPts val="1000"/>
              </a:spcBef>
              <a:buNone/>
            </a:pPr>
            <a:r>
              <a:rPr lang="en-IN" sz="2050" dirty="0"/>
              <a:t>Economists often divided the world economies into two groups:</a:t>
            </a:r>
          </a:p>
          <a:p>
            <a:pPr marL="457200" indent="-457200">
              <a:spcBef>
                <a:spcPts val="1000"/>
              </a:spcBef>
              <a:buFont typeface="+mj-lt"/>
              <a:buAutoNum type="arabicPeriod"/>
            </a:pPr>
            <a:r>
              <a:rPr lang="en-IN" sz="2050" dirty="0"/>
              <a:t>The </a:t>
            </a:r>
            <a:r>
              <a:rPr lang="en-IN" sz="2050" i="1" dirty="0"/>
              <a:t>high-income countries</a:t>
            </a:r>
            <a:r>
              <a:rPr lang="en-IN" sz="2050" dirty="0"/>
              <a:t>, sometimes also referred to as the </a:t>
            </a:r>
            <a:r>
              <a:rPr lang="en-IN" sz="2050" i="1" dirty="0"/>
              <a:t>industrial countries</a:t>
            </a:r>
            <a:r>
              <a:rPr lang="en-IN" sz="2050" dirty="0"/>
              <a:t> </a:t>
            </a:r>
            <a:r>
              <a:rPr lang="en-IN" sz="2050" i="1" dirty="0"/>
              <a:t>including</a:t>
            </a:r>
            <a:r>
              <a:rPr lang="en-IN" sz="2050" dirty="0"/>
              <a:t> Australia, Canada, Japan, New Zealand, the United States, and the countries of Western Europe.</a:t>
            </a:r>
          </a:p>
          <a:p>
            <a:pPr marL="457200" indent="-457200">
              <a:spcBef>
                <a:spcPts val="1000"/>
              </a:spcBef>
              <a:buFont typeface="+mj-lt"/>
              <a:buAutoNum type="arabicPeriod"/>
            </a:pPr>
            <a:r>
              <a:rPr lang="en-IN" sz="2050" dirty="0"/>
              <a:t>The lower-income countries, or developing countries, including most of the countries in Africa, Asia and Latin America.</a:t>
            </a:r>
          </a:p>
          <a:p>
            <a:pPr marL="0" indent="0">
              <a:spcBef>
                <a:spcPts val="1000"/>
              </a:spcBef>
              <a:buNone/>
            </a:pPr>
            <a:r>
              <a:rPr lang="en-IN" sz="2050" dirty="0"/>
              <a:t>The 1980s and 1990s have seen a small group of countries like Singapore, South Korea, and Taiwan began to experience high growth rates; these are often referred to as </a:t>
            </a:r>
            <a:r>
              <a:rPr lang="en-IN" sz="2050" i="1" dirty="0"/>
              <a:t>newly industrializing countries.</a:t>
            </a:r>
          </a:p>
          <a:p>
            <a:pPr marL="0" indent="0">
              <a:spcBef>
                <a:spcPts val="1000"/>
              </a:spcBef>
              <a:buNone/>
            </a:pPr>
            <a:r>
              <a:rPr lang="en-IN" sz="2050" dirty="0"/>
              <a:t>Real GDP per capita is markedly different across the world, even after correcting for cost of living differences. In 2020, it ranged from a high of $173,688 in the European country of Monaco to a low of $238 in the African country of Burundi. </a:t>
            </a:r>
          </a:p>
        </p:txBody>
      </p:sp>
    </p:spTree>
    <p:extLst>
      <p:ext uri="{BB962C8B-B14F-4D97-AF65-F5344CB8AC3E}">
        <p14:creationId xmlns:p14="http://schemas.microsoft.com/office/powerpoint/2010/main" val="1591569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20158"/>
          </a:xfrm>
        </p:spPr>
        <p:txBody>
          <a:bodyPr>
            <a:noAutofit/>
          </a:bodyPr>
          <a:lstStyle/>
          <a:p>
            <a:r>
              <a:rPr lang="en-IN" dirty="0">
                <a:latin typeface="+mj-lt"/>
              </a:rPr>
              <a:t>What Determines How Fast Economies Grow?</a:t>
            </a:r>
            <a:endParaRPr lang="en-US" dirty="0">
              <a:latin typeface="+mj-lt"/>
            </a:endParaRPr>
          </a:p>
        </p:txBody>
      </p:sp>
      <p:sp>
        <p:nvSpPr>
          <p:cNvPr id="6" name="Text Placeholder 5">
            <a:extLst>
              <a:ext uri="{FF2B5EF4-FFF2-40B4-BE49-F238E27FC236}">
                <a16:creationId xmlns:a16="http://schemas.microsoft.com/office/drawing/2014/main" id="{D0F1B8F1-6FA0-219A-E086-3CF876EBFC67}"/>
              </a:ext>
            </a:extLst>
          </p:cNvPr>
          <p:cNvSpPr>
            <a:spLocks noGrp="1"/>
          </p:cNvSpPr>
          <p:nvPr>
            <p:ph type="body" sz="quarter" idx="13"/>
          </p:nvPr>
        </p:nvSpPr>
        <p:spPr>
          <a:xfrm>
            <a:off x="438150" y="1235530"/>
            <a:ext cx="8229600" cy="402770"/>
          </a:xfrm>
        </p:spPr>
        <p:txBody>
          <a:bodyPr/>
          <a:lstStyle/>
          <a:p>
            <a:r>
              <a:rPr lang="en-US" sz="2400" b="1" dirty="0">
                <a:solidFill>
                  <a:schemeClr val="tx1"/>
                </a:solidFill>
              </a:rPr>
              <a:t>7.2 Learning Objective</a:t>
            </a:r>
          </a:p>
        </p:txBody>
      </p:sp>
      <p:sp>
        <p:nvSpPr>
          <p:cNvPr id="3" name="Subtitle 2"/>
          <p:cNvSpPr>
            <a:spLocks noGrp="1"/>
          </p:cNvSpPr>
          <p:nvPr>
            <p:ph sz="quarter" idx="14"/>
          </p:nvPr>
        </p:nvSpPr>
        <p:spPr>
          <a:xfrm>
            <a:off x="457200" y="1638300"/>
            <a:ext cx="8229600" cy="4686300"/>
          </a:xfrm>
        </p:spPr>
        <p:txBody>
          <a:bodyPr>
            <a:noAutofit/>
          </a:bodyPr>
          <a:lstStyle/>
          <a:p>
            <a:pPr marL="0" indent="0">
              <a:spcBef>
                <a:spcPts val="600"/>
              </a:spcBef>
              <a:buNone/>
            </a:pPr>
            <a:r>
              <a:rPr lang="en-IN" sz="2100" dirty="0"/>
              <a:t>Use the economic growth model to explain why growth rates differ across countries.</a:t>
            </a:r>
          </a:p>
          <a:p>
            <a:pPr marL="0" indent="0">
              <a:spcBef>
                <a:spcPts val="600"/>
              </a:spcBef>
              <a:buSzPts val="2200"/>
              <a:buFont typeface="Arial" panose="020B0604020202020204" pitchFamily="34" charset="0"/>
              <a:buNone/>
            </a:pPr>
            <a:r>
              <a:rPr lang="en-US" sz="2100" dirty="0"/>
              <a:t>An </a:t>
            </a:r>
            <a:r>
              <a:rPr lang="en-US" sz="2100" b="1" dirty="0"/>
              <a:t>economic growth model</a:t>
            </a:r>
            <a:r>
              <a:rPr lang="en-US" sz="2100" dirty="0"/>
              <a:t> explains growth rates in real GDP per capita over the long run.</a:t>
            </a:r>
          </a:p>
          <a:p>
            <a:pPr marL="0" indent="0">
              <a:spcBef>
                <a:spcPts val="600"/>
              </a:spcBef>
              <a:buSzPts val="2200"/>
              <a:buFont typeface="Arial" panose="020B0604020202020204" pitchFamily="34" charset="0"/>
              <a:buNone/>
            </a:pPr>
            <a:r>
              <a:rPr lang="en-US" sz="2100" dirty="0"/>
              <a:t>As we saw in the last chapter, the key to this is </a:t>
            </a:r>
            <a:r>
              <a:rPr lang="en-US" sz="2100" b="1" dirty="0" err="1"/>
              <a:t>labour</a:t>
            </a:r>
            <a:r>
              <a:rPr lang="en-US" sz="2100" b="1" dirty="0"/>
              <a:t> productivity:</a:t>
            </a:r>
            <a:r>
              <a:rPr lang="en-US" sz="2100" dirty="0"/>
              <a:t> The quantity of goods and services that can be produced by one worker or by one hour of work.</a:t>
            </a:r>
          </a:p>
          <a:p>
            <a:pPr marL="0" indent="0">
              <a:spcBef>
                <a:spcPts val="600"/>
              </a:spcBef>
              <a:buSzPts val="2200"/>
              <a:buFont typeface="Arial" panose="020B0604020202020204" pitchFamily="34" charset="0"/>
              <a:buNone/>
            </a:pPr>
            <a:r>
              <a:rPr lang="en-US" sz="2100" dirty="0"/>
              <a:t>Two main factors affect </a:t>
            </a:r>
            <a:r>
              <a:rPr lang="en-US" sz="2100" dirty="0" err="1"/>
              <a:t>labour</a:t>
            </a:r>
            <a:r>
              <a:rPr lang="en-US" sz="2100" dirty="0"/>
              <a:t> productivity:</a:t>
            </a:r>
          </a:p>
          <a:p>
            <a:pPr marL="361950" indent="-361950">
              <a:spcBef>
                <a:spcPts val="600"/>
              </a:spcBef>
              <a:buFont typeface="Arial"/>
              <a:buAutoNum type="arabicPeriod"/>
            </a:pPr>
            <a:r>
              <a:rPr lang="en-US" sz="2100" dirty="0"/>
              <a:t>The </a:t>
            </a:r>
            <a:r>
              <a:rPr lang="en-US" sz="2100" b="1" dirty="0"/>
              <a:t>quantity of capital available to workers </a:t>
            </a:r>
            <a:r>
              <a:rPr lang="en-US" sz="2100" dirty="0"/>
              <a:t>and</a:t>
            </a:r>
          </a:p>
          <a:p>
            <a:pPr marL="361950" indent="-361950">
              <a:spcBef>
                <a:spcPts val="600"/>
              </a:spcBef>
              <a:buFont typeface="Arial"/>
              <a:buAutoNum type="arabicPeriod"/>
            </a:pPr>
            <a:r>
              <a:rPr lang="en-US" sz="2100" dirty="0"/>
              <a:t>The </a:t>
            </a:r>
            <a:r>
              <a:rPr lang="en-US" sz="2100" b="1" dirty="0"/>
              <a:t>level of technology.</a:t>
            </a:r>
          </a:p>
          <a:p>
            <a:pPr marL="0" indent="0">
              <a:spcBef>
                <a:spcPts val="600"/>
              </a:spcBef>
              <a:buNone/>
            </a:pPr>
            <a:r>
              <a:rPr lang="en-US" sz="2100" dirty="0"/>
              <a:t>So, our model will concentrate on changes in the quantity of capital and </a:t>
            </a:r>
            <a:r>
              <a:rPr lang="en-US" sz="2100" b="1" dirty="0"/>
              <a:t>technological change:</a:t>
            </a:r>
            <a:r>
              <a:rPr lang="en-US" sz="2100" dirty="0"/>
              <a:t> A change in the quantity of output a firm can produce using a given quantity of inputs.</a:t>
            </a:r>
            <a:endParaRPr lang="en-US" sz="2100" b="1" dirty="0"/>
          </a:p>
        </p:txBody>
      </p:sp>
    </p:spTree>
    <p:extLst>
      <p:ext uri="{BB962C8B-B14F-4D97-AF65-F5344CB8AC3E}">
        <p14:creationId xmlns:p14="http://schemas.microsoft.com/office/powerpoint/2010/main" val="3185004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68CB58C-A739-FCD6-469F-E55131F8B205}"/>
              </a:ext>
            </a:extLst>
          </p:cNvPr>
          <p:cNvSpPr>
            <a:spLocks noGrp="1"/>
          </p:cNvSpPr>
          <p:nvPr>
            <p:ph type="title"/>
          </p:nvPr>
        </p:nvSpPr>
        <p:spPr/>
        <p:txBody>
          <a:bodyPr/>
          <a:lstStyle/>
          <a:p>
            <a:r>
              <a:rPr lang="en-IN" dirty="0">
                <a:latin typeface="+mj-lt"/>
              </a:rPr>
              <a:t>Sources of Technological Change</a:t>
            </a:r>
            <a:endParaRPr lang="en-IN" sz="2000" dirty="0"/>
          </a:p>
        </p:txBody>
      </p:sp>
      <p:sp>
        <p:nvSpPr>
          <p:cNvPr id="10" name="Content Placeholder 9">
            <a:extLst>
              <a:ext uri="{FF2B5EF4-FFF2-40B4-BE49-F238E27FC236}">
                <a16:creationId xmlns:a16="http://schemas.microsoft.com/office/drawing/2014/main" id="{7323AEC4-34BD-B4CB-4A32-7C1AA2DAFF40}"/>
              </a:ext>
            </a:extLst>
          </p:cNvPr>
          <p:cNvSpPr>
            <a:spLocks noGrp="1"/>
          </p:cNvSpPr>
          <p:nvPr>
            <p:ph idx="1"/>
          </p:nvPr>
        </p:nvSpPr>
        <p:spPr/>
        <p:txBody>
          <a:bodyPr/>
          <a:lstStyle/>
          <a:p>
            <a:pPr marL="0" indent="0">
              <a:spcBef>
                <a:spcPts val="1000"/>
              </a:spcBef>
              <a:buNone/>
            </a:pPr>
            <a:r>
              <a:rPr lang="en-US" sz="2000" dirty="0"/>
              <a:t>There are three main sources of technological change:</a:t>
            </a:r>
          </a:p>
          <a:p>
            <a:pPr marL="361950" indent="-361950">
              <a:spcBef>
                <a:spcPts val="1000"/>
              </a:spcBef>
              <a:buSzPct val="100000"/>
              <a:buFont typeface="+mj-lt"/>
              <a:buAutoNum type="arabicPeriod"/>
            </a:pPr>
            <a:r>
              <a:rPr lang="en-US" sz="2000" b="1" i="1" dirty="0"/>
              <a:t>Better machinery and equipment.</a:t>
            </a:r>
          </a:p>
          <a:p>
            <a:pPr marL="0" indent="0">
              <a:spcBef>
                <a:spcPts val="1000"/>
              </a:spcBef>
              <a:buNone/>
            </a:pPr>
            <a:r>
              <a:rPr lang="en-US" sz="2000" dirty="0"/>
              <a:t>Inventions like the steam engine, machine tools, electric generators, and computers have allowed faster economic growth.</a:t>
            </a:r>
          </a:p>
          <a:p>
            <a:pPr marL="361950" indent="-361950">
              <a:spcBef>
                <a:spcPts val="1000"/>
              </a:spcBef>
              <a:buSzPct val="100000"/>
              <a:buFont typeface="+mj-lt"/>
              <a:buAutoNum type="arabicPeriod" startAt="2"/>
            </a:pPr>
            <a:r>
              <a:rPr lang="en-US" sz="2000" b="1" i="1" dirty="0"/>
              <a:t>Increases in human capital</a:t>
            </a:r>
          </a:p>
          <a:p>
            <a:pPr marL="0" indent="0">
              <a:spcBef>
                <a:spcPts val="1000"/>
              </a:spcBef>
              <a:buNone/>
            </a:pPr>
            <a:r>
              <a:rPr lang="en-US" sz="2000" b="1" dirty="0"/>
              <a:t>Human capital </a:t>
            </a:r>
            <a:r>
              <a:rPr lang="en-US" sz="2000" dirty="0"/>
              <a:t>is the accumulated knowledge and skills that workers acquire from education and training or from their life experiences.</a:t>
            </a:r>
            <a:endParaRPr lang="en-US" sz="2000" i="1" dirty="0"/>
          </a:p>
          <a:p>
            <a:pPr marL="361950" indent="-361950">
              <a:spcBef>
                <a:spcPts val="1000"/>
              </a:spcBef>
              <a:buSzPct val="100000"/>
              <a:buFont typeface="+mj-lt"/>
              <a:buAutoNum type="arabicPeriod" startAt="3"/>
            </a:pPr>
            <a:r>
              <a:rPr lang="en-US" sz="2000" b="1" i="1" dirty="0"/>
              <a:t>Better means of organizing and managing production</a:t>
            </a:r>
          </a:p>
          <a:p>
            <a:pPr marL="0" indent="0">
              <a:spcBef>
                <a:spcPts val="1000"/>
              </a:spcBef>
              <a:buNone/>
            </a:pPr>
            <a:r>
              <a:rPr lang="en-US" sz="2000" dirty="0"/>
              <a:t>If managers can do a better job of organizing production, then </a:t>
            </a:r>
            <a:r>
              <a:rPr lang="en-US" sz="2000" dirty="0" err="1"/>
              <a:t>labour</a:t>
            </a:r>
            <a:r>
              <a:rPr lang="en-US" sz="2000" dirty="0"/>
              <a:t> productivity can increase. </a:t>
            </a:r>
          </a:p>
        </p:txBody>
      </p:sp>
    </p:spTree>
    <p:extLst>
      <p:ext uri="{BB962C8B-B14F-4D97-AF65-F5344CB8AC3E}">
        <p14:creationId xmlns:p14="http://schemas.microsoft.com/office/powerpoint/2010/main" val="1109264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A8E8780-8FC4-53C2-4EE6-271E0436C98D}"/>
              </a:ext>
            </a:extLst>
          </p:cNvPr>
          <p:cNvSpPr>
            <a:spLocks noGrp="1"/>
          </p:cNvSpPr>
          <p:nvPr>
            <p:ph type="title"/>
          </p:nvPr>
        </p:nvSpPr>
        <p:spPr>
          <a:xfrm>
            <a:off x="457200" y="215371"/>
            <a:ext cx="8229600" cy="877079"/>
          </a:xfrm>
        </p:spPr>
        <p:txBody>
          <a:bodyPr/>
          <a:lstStyle/>
          <a:p>
            <a:r>
              <a:rPr lang="en-US" sz="3200" dirty="0">
                <a:latin typeface="+mj-lt"/>
              </a:rPr>
              <a:t>Figure 7.3 The Per-Worker Production Function</a:t>
            </a:r>
            <a:endParaRPr lang="en-IN" sz="3200" dirty="0">
              <a:latin typeface="+mj-lt"/>
            </a:endParaRPr>
          </a:p>
        </p:txBody>
      </p:sp>
      <p:sp>
        <p:nvSpPr>
          <p:cNvPr id="3" name="Content Placeholder 2"/>
          <p:cNvSpPr>
            <a:spLocks noGrp="1"/>
          </p:cNvSpPr>
          <p:nvPr>
            <p:ph idx="1"/>
          </p:nvPr>
        </p:nvSpPr>
        <p:spPr>
          <a:xfrm>
            <a:off x="457200" y="1295400"/>
            <a:ext cx="3886200" cy="4800600"/>
          </a:xfrm>
        </p:spPr>
        <p:txBody>
          <a:bodyPr>
            <a:noAutofit/>
          </a:bodyPr>
          <a:lstStyle/>
          <a:p>
            <a:pPr marL="0" indent="0">
              <a:spcBef>
                <a:spcPts val="1200"/>
              </a:spcBef>
              <a:spcAft>
                <a:spcPts val="0"/>
              </a:spcAft>
              <a:buNone/>
            </a:pPr>
            <a:r>
              <a:rPr lang="en-US" sz="1800" dirty="0"/>
              <a:t>Suppose we wanted to describe a </a:t>
            </a:r>
            <a:r>
              <a:rPr lang="en-US" sz="1800" b="1" dirty="0"/>
              <a:t>per-worker production function:</a:t>
            </a:r>
            <a:r>
              <a:rPr lang="en-US" sz="1800" dirty="0"/>
              <a:t> the relationship between real GDP per hour worked, and capital per hour worked, holding the level of technology constant.</a:t>
            </a:r>
          </a:p>
          <a:p>
            <a:pPr marL="266700" indent="-266700">
              <a:spcBef>
                <a:spcPts val="1200"/>
              </a:spcBef>
              <a:buSzPct val="100000"/>
            </a:pPr>
            <a:r>
              <a:rPr lang="en-US" sz="1800" dirty="0"/>
              <a:t>The first units of capital would be the most effective, allowing output per hour to increase the most.</a:t>
            </a:r>
          </a:p>
          <a:p>
            <a:pPr marL="266700" indent="-266700">
              <a:spcBef>
                <a:spcPts val="1200"/>
              </a:spcBef>
              <a:buSzPct val="100000"/>
            </a:pPr>
            <a:r>
              <a:rPr lang="en-US" sz="1800" dirty="0"/>
              <a:t>Subsequent increases would result in </a:t>
            </a:r>
            <a:r>
              <a:rPr lang="en-US" sz="1800" i="1" dirty="0"/>
              <a:t>diminishing returns</a:t>
            </a:r>
            <a:r>
              <a:rPr lang="en-US" sz="1800" dirty="0"/>
              <a:t>: smaller increases in output resulting from increasing one factor of production progressively higher while keeping the other factors of production constant.</a:t>
            </a:r>
          </a:p>
        </p:txBody>
      </p:sp>
      <p:pic>
        <p:nvPicPr>
          <p:cNvPr id="4" name="Picture 3" descr="The horizontal axis represents capital per hour worked, K slash L, and is marked as 75, 100, 125, and 150. The vertical axis represents real G D P per hour worked, K slash L, and is marked as 48, 53, 57, and 60. The curve passes through (75, 48), (100, 53), (125, 57), and (150, 60). The graph has an equal increase in capital per hour worked and a diminishing increase in output per hour worked.">
            <a:extLst>
              <a:ext uri="{FF2B5EF4-FFF2-40B4-BE49-F238E27FC236}">
                <a16:creationId xmlns:a16="http://schemas.microsoft.com/office/drawing/2014/main" id="{271A62CE-54E8-9E0F-BAEA-8588433FFD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5624" y="1295400"/>
            <a:ext cx="3932601" cy="3084576"/>
          </a:xfrm>
          <a:prstGeom prst="rect">
            <a:avLst/>
          </a:prstGeom>
        </p:spPr>
      </p:pic>
    </p:spTree>
    <p:extLst>
      <p:ext uri="{BB962C8B-B14F-4D97-AF65-F5344CB8AC3E}">
        <p14:creationId xmlns:p14="http://schemas.microsoft.com/office/powerpoint/2010/main" val="1264853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E7DF818-2528-075A-C69A-B4A809802957}"/>
              </a:ext>
            </a:extLst>
          </p:cNvPr>
          <p:cNvSpPr>
            <a:spLocks noGrp="1"/>
          </p:cNvSpPr>
          <p:nvPr>
            <p:ph type="title"/>
          </p:nvPr>
        </p:nvSpPr>
        <p:spPr/>
        <p:txBody>
          <a:bodyPr/>
          <a:lstStyle/>
          <a:p>
            <a:r>
              <a:rPr lang="en-US" sz="3200" dirty="0">
                <a:latin typeface="+mj-lt"/>
              </a:rPr>
              <a:t>Figure 7.4 Technological Change Increases Output per Hour Worked </a:t>
            </a:r>
            <a:r>
              <a:rPr lang="en-US" sz="2000" b="0" dirty="0">
                <a:latin typeface="+mj-lt"/>
              </a:rPr>
              <a:t>(1 of 2)</a:t>
            </a:r>
            <a:endParaRPr lang="en-IN" sz="2000" dirty="0">
              <a:latin typeface="+mj-lt"/>
            </a:endParaRPr>
          </a:p>
        </p:txBody>
      </p:sp>
      <p:sp>
        <p:nvSpPr>
          <p:cNvPr id="15" name="Content Placeholder 5">
            <a:extLst>
              <a:ext uri="{FF2B5EF4-FFF2-40B4-BE49-F238E27FC236}">
                <a16:creationId xmlns:a16="http://schemas.microsoft.com/office/drawing/2014/main" id="{22319159-3B7E-C50F-08E3-89B43B62CB24}"/>
              </a:ext>
            </a:extLst>
          </p:cNvPr>
          <p:cNvSpPr txBox="1">
            <a:spLocks/>
          </p:cNvSpPr>
          <p:nvPr/>
        </p:nvSpPr>
        <p:spPr>
          <a:xfrm>
            <a:off x="457200" y="1558413"/>
            <a:ext cx="3449782" cy="438518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000" dirty="0"/>
              <a:t>If a country is relatively lacking in capital—like many of the developing countries—increases in capital will be very effective at increasing real G</a:t>
            </a:r>
            <a:r>
              <a:rPr lang="en-US" sz="100" dirty="0"/>
              <a:t> </a:t>
            </a:r>
            <a:r>
              <a:rPr lang="en-US" sz="2000" dirty="0"/>
              <a:t>D</a:t>
            </a:r>
            <a:r>
              <a:rPr lang="en-US" sz="100" dirty="0"/>
              <a:t> </a:t>
            </a:r>
            <a:r>
              <a:rPr lang="en-US" sz="2000" dirty="0"/>
              <a:t>P per capita.</a:t>
            </a:r>
          </a:p>
          <a:p>
            <a:pPr marL="0" indent="0">
              <a:buSzPts val="2200"/>
              <a:buFont typeface="Arial" panose="020B0604020202020204" pitchFamily="34" charset="0"/>
              <a:buNone/>
            </a:pPr>
            <a:r>
              <a:rPr lang="en-US" sz="2000" dirty="0"/>
              <a:t>In countries where the amount of capital is already relatively high, technological change becomes a more effective way to increase output per hour.</a:t>
            </a:r>
          </a:p>
        </p:txBody>
      </p:sp>
      <p:pic>
        <p:nvPicPr>
          <p:cNvPr id="3" name="Picture 2" descr="The horizontal axis represents capital per hour worked, K slash L, is marked as 150. The vertical axis represents real G D P per hour worked, in dollars, is marked as 60, 65, 70, and 75. The production function 1 curve rises from the origin and passes through (150, 60). The production function 2 curve rises from the origin and passes through (150, 65). The production function 3 curve rises from the origin and passes through (150, 70). The production function 4 curve rises from the origin and passes through (150, 75). The graph also represents a technological change that causes the per-worker production function to shift up.">
            <a:extLst>
              <a:ext uri="{FF2B5EF4-FFF2-40B4-BE49-F238E27FC236}">
                <a16:creationId xmlns:a16="http://schemas.microsoft.com/office/drawing/2014/main" id="{027A0EA5-FC3D-326A-8A71-4240B75C18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558413"/>
            <a:ext cx="4733403" cy="3901440"/>
          </a:xfrm>
          <a:prstGeom prst="rect">
            <a:avLst/>
          </a:prstGeom>
        </p:spPr>
      </p:pic>
    </p:spTree>
    <p:extLst>
      <p:ext uri="{BB962C8B-B14F-4D97-AF65-F5344CB8AC3E}">
        <p14:creationId xmlns:p14="http://schemas.microsoft.com/office/powerpoint/2010/main" val="2194195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E752761-9DCF-106B-8744-FC3BB4E51F0C}"/>
              </a:ext>
            </a:extLst>
          </p:cNvPr>
          <p:cNvSpPr>
            <a:spLocks noGrp="1"/>
          </p:cNvSpPr>
          <p:nvPr>
            <p:ph type="title"/>
          </p:nvPr>
        </p:nvSpPr>
        <p:spPr/>
        <p:txBody>
          <a:bodyPr/>
          <a:lstStyle/>
          <a:p>
            <a:r>
              <a:rPr lang="en-US" sz="3200" dirty="0">
                <a:latin typeface="+mj-lt"/>
              </a:rPr>
              <a:t>Figure 7.4 Technological Change Increases Output per Hour Worked </a:t>
            </a:r>
            <a:r>
              <a:rPr lang="en-US" sz="2000" b="0" dirty="0">
                <a:latin typeface="+mj-lt"/>
              </a:rPr>
              <a:t>(2 of 2)</a:t>
            </a:r>
            <a:endParaRPr lang="en-IN" sz="2000" dirty="0">
              <a:latin typeface="+mj-lt"/>
            </a:endParaRPr>
          </a:p>
        </p:txBody>
      </p:sp>
      <p:sp>
        <p:nvSpPr>
          <p:cNvPr id="5" name="Content Placeholder 5">
            <a:extLst>
              <a:ext uri="{FF2B5EF4-FFF2-40B4-BE49-F238E27FC236}">
                <a16:creationId xmlns:a16="http://schemas.microsoft.com/office/drawing/2014/main" id="{AD7E7C8F-35CB-5FB9-F15B-601192ADE025}"/>
              </a:ext>
            </a:extLst>
          </p:cNvPr>
          <p:cNvSpPr txBox="1">
            <a:spLocks/>
          </p:cNvSpPr>
          <p:nvPr/>
        </p:nvSpPr>
        <p:spPr>
          <a:xfrm>
            <a:off x="457200" y="1558413"/>
            <a:ext cx="3449782" cy="438518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000" dirty="0"/>
              <a:t>While growth through improving capital per hour can be effective, it is necessarily limited by diminishing returns.</a:t>
            </a:r>
          </a:p>
          <a:p>
            <a:pPr marL="0" indent="0">
              <a:buSzPts val="2200"/>
              <a:buFont typeface="Arial" panose="020B0604020202020204" pitchFamily="34" charset="0"/>
              <a:buNone/>
            </a:pPr>
            <a:r>
              <a:rPr lang="en-US" sz="2000" dirty="0"/>
              <a:t>Technological change does not have this limitation.</a:t>
            </a:r>
          </a:p>
          <a:p>
            <a:pPr marL="0" indent="0">
              <a:spcAft>
                <a:spcPts val="600"/>
              </a:spcAft>
              <a:buSzPts val="2200"/>
              <a:buFont typeface="Arial" panose="020B0604020202020204" pitchFamily="34" charset="0"/>
              <a:buNone/>
            </a:pPr>
            <a:r>
              <a:rPr lang="en-US" sz="2000" b="1" dirty="0"/>
              <a:t>In the long run, a country will experience an increasing standard of living only if it experiences continuing technological change.</a:t>
            </a:r>
          </a:p>
        </p:txBody>
      </p:sp>
      <p:pic>
        <p:nvPicPr>
          <p:cNvPr id="2" name="Picture 1" descr="The horizontal axis represents capital per hour worked, K slash L, is marked as 150. The vertical axis represents real G D P per hour worked, in dollars, is marked as 60, 65, 70, and 75. The production function 1 curve rises from the origin and passes through (150, 60). The production function 2 curve rises from the origin and passes through (150, 65). The production function 3 curve rises from the origin and passes through (150, 70). The production function 4 curve rises from the origin and passes through (150, 75). The graph also represents a technological change that causes the per-worker production function to shift up.">
            <a:extLst>
              <a:ext uri="{FF2B5EF4-FFF2-40B4-BE49-F238E27FC236}">
                <a16:creationId xmlns:a16="http://schemas.microsoft.com/office/drawing/2014/main" id="{4CB60B5E-16AF-7B96-3C4A-97100C462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558413"/>
            <a:ext cx="4733403" cy="3901440"/>
          </a:xfrm>
          <a:prstGeom prst="rect">
            <a:avLst/>
          </a:prstGeom>
        </p:spPr>
      </p:pic>
    </p:spTree>
    <p:extLst>
      <p:ext uri="{BB962C8B-B14F-4D97-AF65-F5344CB8AC3E}">
        <p14:creationId xmlns:p14="http://schemas.microsoft.com/office/powerpoint/2010/main" val="1718163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New Growth Theory</a:t>
            </a:r>
            <a:endParaRPr lang="en-US" dirty="0">
              <a:latin typeface="+mj-lt"/>
            </a:endParaRPr>
          </a:p>
        </p:txBody>
      </p:sp>
      <p:sp>
        <p:nvSpPr>
          <p:cNvPr id="3" name="Content Placeholder 2"/>
          <p:cNvSpPr>
            <a:spLocks noGrp="1"/>
          </p:cNvSpPr>
          <p:nvPr>
            <p:ph idx="1"/>
          </p:nvPr>
        </p:nvSpPr>
        <p:spPr/>
        <p:txBody>
          <a:bodyPr>
            <a:noAutofit/>
          </a:bodyPr>
          <a:lstStyle/>
          <a:p>
            <a:pPr marL="0" indent="0">
              <a:spcBef>
                <a:spcPts val="1000"/>
              </a:spcBef>
              <a:buNone/>
            </a:pPr>
            <a:r>
              <a:rPr lang="en-US" sz="2400" dirty="0"/>
              <a:t>The model of economic growth we have been using was first developed by Nobel Laureate Robert Solow in the 1950s.</a:t>
            </a:r>
          </a:p>
          <a:p>
            <a:pPr marL="342900" indent="-342900">
              <a:spcBef>
                <a:spcPts val="1000"/>
              </a:spcBef>
              <a:buSzPct val="100000"/>
            </a:pPr>
            <a:r>
              <a:rPr lang="en-US" sz="2400" dirty="0"/>
              <a:t>According to Solow, productivity growth is the key factor in explaining long-run growth in real GDP per capita but the model didn’t explain what determines productivity growth. </a:t>
            </a:r>
          </a:p>
          <a:p>
            <a:pPr marL="342900" indent="-342900">
              <a:spcBef>
                <a:spcPts val="1000"/>
              </a:spcBef>
              <a:buSzPct val="100000"/>
            </a:pPr>
            <a:r>
              <a:rPr lang="en-US" sz="2400" dirty="0"/>
              <a:t>Solow did not </a:t>
            </a:r>
            <a:r>
              <a:rPr lang="en-US" sz="2400" i="1" dirty="0"/>
              <a:t>explain</a:t>
            </a:r>
            <a:r>
              <a:rPr lang="en-US" sz="2400" dirty="0"/>
              <a:t> technological change, instead treating it as the result of chance scientific discoveries.</a:t>
            </a:r>
          </a:p>
          <a:p>
            <a:pPr marL="0" indent="0">
              <a:spcBef>
                <a:spcPts val="1000"/>
              </a:spcBef>
              <a:buSzPct val="100000"/>
              <a:buNone/>
            </a:pPr>
            <a:r>
              <a:rPr lang="en-US" sz="2400" dirty="0"/>
              <a:t>Paul Romer developed the </a:t>
            </a:r>
            <a:r>
              <a:rPr lang="en-US" sz="2400" b="1" dirty="0"/>
              <a:t>new growth theory,</a:t>
            </a:r>
            <a:r>
              <a:rPr lang="en-US" sz="2400" dirty="0"/>
              <a:t> a model of long-run economic growth that emphasizes that technological change is influenced by economic incentives and so is determined by the working of the market system.</a:t>
            </a:r>
          </a:p>
        </p:txBody>
      </p:sp>
    </p:spTree>
    <p:extLst>
      <p:ext uri="{BB962C8B-B14F-4D97-AF65-F5344CB8AC3E}">
        <p14:creationId xmlns:p14="http://schemas.microsoft.com/office/powerpoint/2010/main" val="1916155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New Growth Theory and Knowledge Capital</a:t>
            </a:r>
            <a:endParaRPr lang="en-US" dirty="0">
              <a:latin typeface="+mj-lt"/>
            </a:endParaRPr>
          </a:p>
        </p:txBody>
      </p:sp>
      <p:sp>
        <p:nvSpPr>
          <p:cNvPr id="3" name="Content Placeholder 2">
            <a:extLst>
              <a:ext uri="{FF2B5EF4-FFF2-40B4-BE49-F238E27FC236}">
                <a16:creationId xmlns:a16="http://schemas.microsoft.com/office/drawing/2014/main" id="{C806D73D-7ED2-BC7D-8774-DC79510AB4E3}"/>
              </a:ext>
            </a:extLst>
          </p:cNvPr>
          <p:cNvSpPr>
            <a:spLocks noGrp="1"/>
          </p:cNvSpPr>
          <p:nvPr>
            <p:ph idx="1"/>
          </p:nvPr>
        </p:nvSpPr>
        <p:spPr>
          <a:xfrm>
            <a:off x="457200" y="1600200"/>
            <a:ext cx="8305800" cy="4525963"/>
          </a:xfrm>
        </p:spPr>
        <p:txBody>
          <a:bodyPr/>
          <a:lstStyle/>
          <a:p>
            <a:pPr marL="0" indent="0">
              <a:spcBef>
                <a:spcPts val="1000"/>
              </a:spcBef>
              <a:buSzPts val="2200"/>
              <a:buFont typeface="Arial" panose="020B0604020202020204" pitchFamily="34" charset="0"/>
              <a:buNone/>
            </a:pPr>
            <a:r>
              <a:rPr lang="en-US" dirty="0"/>
              <a:t>Romer argues that the accumulation of </a:t>
            </a:r>
            <a:r>
              <a:rPr lang="en-US" b="1" dirty="0"/>
              <a:t>knowledge capital </a:t>
            </a:r>
            <a:r>
              <a:rPr lang="en-US" dirty="0"/>
              <a:t>is a key determinant of economic growth. Increases in knowledge capital result from research and development and other technological advances.</a:t>
            </a:r>
          </a:p>
          <a:p>
            <a:pPr marL="0" indent="0">
              <a:spcBef>
                <a:spcPts val="1000"/>
              </a:spcBef>
              <a:buSzPts val="2200"/>
              <a:buFont typeface="Arial" panose="020B0604020202020204" pitchFamily="34" charset="0"/>
              <a:buNone/>
            </a:pPr>
            <a:r>
              <a:rPr lang="en-US" dirty="0"/>
              <a:t>Physical capital is </a:t>
            </a:r>
            <a:r>
              <a:rPr lang="en-US" b="1" dirty="0"/>
              <a:t>rival </a:t>
            </a:r>
            <a:r>
              <a:rPr lang="en-US" dirty="0"/>
              <a:t>and </a:t>
            </a:r>
            <a:r>
              <a:rPr lang="en-US" b="1" dirty="0"/>
              <a:t>excludable</a:t>
            </a:r>
            <a:r>
              <a:rPr lang="en-US" dirty="0"/>
              <a:t>—a </a:t>
            </a:r>
            <a:r>
              <a:rPr lang="en-US" b="1" dirty="0"/>
              <a:t>private good</a:t>
            </a:r>
            <a:r>
              <a:rPr lang="en-US" dirty="0"/>
              <a:t>—and this results in its diminishing returns.</a:t>
            </a:r>
          </a:p>
          <a:p>
            <a:pPr marL="255588" indent="-255588">
              <a:spcBef>
                <a:spcPts val="1000"/>
              </a:spcBef>
            </a:pPr>
            <a:r>
              <a:rPr lang="en-US" dirty="0"/>
              <a:t>But knowledge capital is nonrival and nonexcludable—a </a:t>
            </a:r>
            <a:r>
              <a:rPr lang="en-US" b="1" dirty="0"/>
              <a:t>public good</a:t>
            </a:r>
            <a:r>
              <a:rPr lang="en-US" dirty="0"/>
              <a:t>—and so results in </a:t>
            </a:r>
            <a:r>
              <a:rPr lang="en-US" b="1" dirty="0"/>
              <a:t>increasing returns</a:t>
            </a:r>
            <a:r>
              <a:rPr lang="en-US" dirty="0"/>
              <a:t>—not at the </a:t>
            </a:r>
            <a:r>
              <a:rPr lang="en-US" b="1" dirty="0"/>
              <a:t>firm level </a:t>
            </a:r>
            <a:r>
              <a:rPr lang="en-US" dirty="0"/>
              <a:t>but at the </a:t>
            </a:r>
            <a:r>
              <a:rPr lang="en-US" b="1" dirty="0"/>
              <a:t>economy level.</a:t>
            </a:r>
          </a:p>
        </p:txBody>
      </p:sp>
    </p:spTree>
    <p:extLst>
      <p:ext uri="{BB962C8B-B14F-4D97-AF65-F5344CB8AC3E}">
        <p14:creationId xmlns:p14="http://schemas.microsoft.com/office/powerpoint/2010/main" val="3072821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Government’s Role in Knowledge Capital Generation</a:t>
            </a:r>
            <a:endParaRPr lang="en-US" dirty="0">
              <a:latin typeface="+mj-lt"/>
            </a:endParaRPr>
          </a:p>
        </p:txBody>
      </p:sp>
      <p:sp>
        <p:nvSpPr>
          <p:cNvPr id="3" name="Content Placeholder 2"/>
          <p:cNvSpPr>
            <a:spLocks noGrp="1"/>
          </p:cNvSpPr>
          <p:nvPr>
            <p:ph idx="1"/>
          </p:nvPr>
        </p:nvSpPr>
        <p:spPr>
          <a:xfrm>
            <a:off x="457200" y="1600200"/>
            <a:ext cx="8229600" cy="4648200"/>
          </a:xfrm>
        </p:spPr>
        <p:txBody>
          <a:bodyPr>
            <a:noAutofit/>
          </a:bodyPr>
          <a:lstStyle/>
          <a:p>
            <a:pPr marL="0" indent="0">
              <a:spcBef>
                <a:spcPts val="1000"/>
              </a:spcBef>
              <a:buNone/>
            </a:pPr>
            <a:r>
              <a:rPr lang="en-US" sz="2000" dirty="0"/>
              <a:t>Public goods, such as knowledge capital can be affected by the </a:t>
            </a:r>
            <a:r>
              <a:rPr lang="en-US" sz="2000" i="1" dirty="0"/>
              <a:t>free-rider problem</a:t>
            </a:r>
            <a:r>
              <a:rPr lang="en-US" sz="2000" dirty="0"/>
              <a:t>: a person receiving benefits from goods and services without having to pay for it.</a:t>
            </a:r>
          </a:p>
          <a:p>
            <a:pPr marL="0" indent="0">
              <a:spcBef>
                <a:spcPts val="1000"/>
              </a:spcBef>
              <a:buNone/>
            </a:pPr>
            <a:r>
              <a:rPr lang="en-US" sz="2000" b="1" i="1" dirty="0"/>
              <a:t>Example: </a:t>
            </a:r>
            <a:r>
              <a:rPr lang="en-US" sz="2000" i="1" dirty="0"/>
              <a:t>Bell Labs’ development of transistor technology resulted in immense profits </a:t>
            </a:r>
            <a:r>
              <a:rPr lang="en-US" sz="2000" dirty="0"/>
              <a:t>for other firms</a:t>
            </a:r>
            <a:r>
              <a:rPr lang="en-US" sz="2000" i="1" dirty="0"/>
              <a:t>.</a:t>
            </a:r>
          </a:p>
          <a:p>
            <a:pPr marL="0" indent="0">
              <a:spcBef>
                <a:spcPts val="1000"/>
              </a:spcBef>
              <a:buNone/>
            </a:pPr>
            <a:r>
              <a:rPr lang="en-US" sz="2000" dirty="0"/>
              <a:t>Because firms do not enjoy the entire benefit of their knowledge capital, they do not produce enough of it.</a:t>
            </a:r>
          </a:p>
          <a:p>
            <a:pPr marL="0" indent="0">
              <a:spcBef>
                <a:spcPts val="1000"/>
              </a:spcBef>
              <a:buNone/>
            </a:pPr>
            <a:r>
              <a:rPr lang="en-US" sz="2000" dirty="0"/>
              <a:t>The public good nature of knowledge capital leads to a role for government policy in three ways:</a:t>
            </a:r>
          </a:p>
          <a:p>
            <a:pPr marL="361950" indent="-361950">
              <a:spcBef>
                <a:spcPts val="1000"/>
              </a:spcBef>
              <a:buSzPct val="100000"/>
              <a:buFont typeface="+mj-lt"/>
              <a:buAutoNum type="arabicPeriod"/>
            </a:pPr>
            <a:r>
              <a:rPr lang="en-US" sz="2000" dirty="0"/>
              <a:t>Protecting intellectual property with patents and copyrights</a:t>
            </a:r>
          </a:p>
          <a:p>
            <a:pPr marL="361950" indent="-361950">
              <a:spcBef>
                <a:spcPts val="1000"/>
              </a:spcBef>
              <a:buSzPct val="100000"/>
              <a:buFont typeface="+mj-lt"/>
              <a:buAutoNum type="arabicPeriod"/>
            </a:pPr>
            <a:r>
              <a:rPr lang="en-US" sz="2000" dirty="0"/>
              <a:t>Supporting research and development</a:t>
            </a:r>
          </a:p>
          <a:p>
            <a:pPr marL="361950" indent="-361950">
              <a:spcBef>
                <a:spcPts val="1000"/>
              </a:spcBef>
              <a:buSzPct val="100000"/>
              <a:buFont typeface="+mj-lt"/>
              <a:buAutoNum type="arabicPeriod"/>
            </a:pPr>
            <a:r>
              <a:rPr lang="en-US" sz="2000" dirty="0"/>
              <a:t>Subsidizing education</a:t>
            </a:r>
          </a:p>
        </p:txBody>
      </p:sp>
    </p:spTree>
    <p:extLst>
      <p:ext uri="{BB962C8B-B14F-4D97-AF65-F5344CB8AC3E}">
        <p14:creationId xmlns:p14="http://schemas.microsoft.com/office/powerpoint/2010/main" val="456657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Protecting Intellectual Property</a:t>
            </a:r>
            <a:endParaRPr lang="en-US" dirty="0">
              <a:latin typeface="+mj-lt"/>
            </a:endParaRPr>
          </a:p>
        </p:txBody>
      </p:sp>
      <p:sp>
        <p:nvSpPr>
          <p:cNvPr id="3" name="Content Placeholder 2"/>
          <p:cNvSpPr>
            <a:spLocks noGrp="1"/>
          </p:cNvSpPr>
          <p:nvPr>
            <p:ph idx="1"/>
          </p:nvPr>
        </p:nvSpPr>
        <p:spPr/>
        <p:txBody>
          <a:bodyPr>
            <a:noAutofit/>
          </a:bodyPr>
          <a:lstStyle/>
          <a:p>
            <a:pPr marL="0" indent="0">
              <a:spcBef>
                <a:spcPts val="1000"/>
              </a:spcBef>
              <a:buNone/>
            </a:pPr>
            <a:r>
              <a:rPr lang="en-US" sz="2300" dirty="0"/>
              <a:t>Governments seek to protect intellectual property through the use of patents and copyrights.</a:t>
            </a:r>
          </a:p>
          <a:p>
            <a:pPr marL="342900" indent="-342900">
              <a:spcBef>
                <a:spcPts val="1000"/>
              </a:spcBef>
              <a:buSzPct val="100000"/>
            </a:pPr>
            <a:r>
              <a:rPr lang="en-US" sz="2300" dirty="0"/>
              <a:t>Allowing firms to benefit from their own research and development increases their incentive to perform it.</a:t>
            </a:r>
          </a:p>
          <a:p>
            <a:pPr marL="0" indent="0">
              <a:spcBef>
                <a:spcPts val="1000"/>
              </a:spcBef>
              <a:buNone/>
            </a:pPr>
            <a:r>
              <a:rPr lang="en-US" sz="2300" b="1" dirty="0"/>
              <a:t>Patents</a:t>
            </a:r>
            <a:r>
              <a:rPr lang="en-US" sz="2300" dirty="0"/>
              <a:t> are the exclusive right to produce a product for a period of 20 years from the date the patent is filed. This period of time is designed to balance the chance for firm to benefit from its invention against the need of society to benefit from it.</a:t>
            </a:r>
          </a:p>
          <a:p>
            <a:pPr marL="0" indent="0">
              <a:spcBef>
                <a:spcPts val="1000"/>
              </a:spcBef>
              <a:buNone/>
            </a:pPr>
            <a:r>
              <a:rPr lang="en-US" sz="2300" b="1" dirty="0"/>
              <a:t>Copyrights</a:t>
            </a:r>
            <a:r>
              <a:rPr lang="en-US" sz="2300" dirty="0"/>
              <a:t> act similarly for creative works like books and films, granting the exclusive right to use the creation during and 70 years after the creator’s lifetime.</a:t>
            </a:r>
          </a:p>
        </p:txBody>
      </p:sp>
    </p:spTree>
    <p:extLst>
      <p:ext uri="{BB962C8B-B14F-4D97-AF65-F5344CB8AC3E}">
        <p14:creationId xmlns:p14="http://schemas.microsoft.com/office/powerpoint/2010/main" val="609248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Supporting R&amp;D and Subsidizing Education</a:t>
            </a:r>
            <a:endParaRPr lang="en-US" dirty="0">
              <a:latin typeface="+mj-lt"/>
            </a:endParaRPr>
          </a:p>
        </p:txBody>
      </p:sp>
      <p:sp>
        <p:nvSpPr>
          <p:cNvPr id="3" name="Content Placeholder 2"/>
          <p:cNvSpPr>
            <a:spLocks noGrp="1"/>
          </p:cNvSpPr>
          <p:nvPr>
            <p:ph idx="1"/>
          </p:nvPr>
        </p:nvSpPr>
        <p:spPr>
          <a:xfrm>
            <a:off x="457200" y="1600200"/>
            <a:ext cx="8229600" cy="4724400"/>
          </a:xfrm>
        </p:spPr>
        <p:txBody>
          <a:bodyPr>
            <a:noAutofit/>
          </a:bodyPr>
          <a:lstStyle/>
          <a:p>
            <a:pPr marL="0" indent="0">
              <a:spcBef>
                <a:spcPts val="0"/>
              </a:spcBef>
              <a:spcAft>
                <a:spcPts val="1200"/>
              </a:spcAft>
              <a:buNone/>
            </a:pPr>
            <a:r>
              <a:rPr lang="en-US" sz="2200" b="1" i="1" dirty="0"/>
              <a:t>Supporting research and development</a:t>
            </a:r>
          </a:p>
          <a:p>
            <a:pPr marL="0" indent="0">
              <a:spcBef>
                <a:spcPts val="0"/>
              </a:spcBef>
              <a:spcAft>
                <a:spcPts val="1200"/>
              </a:spcAft>
              <a:buNone/>
            </a:pPr>
            <a:r>
              <a:rPr lang="en-US" sz="2200" dirty="0"/>
              <a:t>Governments might perform research directly or subsidize researchers at institutions by providing grants and other payments through agencies. The governments also provide tax-incentives to firms performing R&amp;D.</a:t>
            </a:r>
          </a:p>
          <a:p>
            <a:pPr marL="0" indent="0">
              <a:spcBef>
                <a:spcPts val="0"/>
              </a:spcBef>
              <a:spcAft>
                <a:spcPts val="1200"/>
              </a:spcAft>
              <a:buNone/>
            </a:pPr>
            <a:r>
              <a:rPr lang="en-US" sz="2200" b="1" i="1" dirty="0"/>
              <a:t>Subsidizing education</a:t>
            </a:r>
          </a:p>
          <a:p>
            <a:pPr marL="0" indent="0">
              <a:spcBef>
                <a:spcPts val="0"/>
              </a:spcBef>
              <a:spcAft>
                <a:spcPts val="1200"/>
              </a:spcAft>
              <a:buNone/>
            </a:pPr>
            <a:r>
              <a:rPr lang="en-US" sz="2200" dirty="0"/>
              <a:t>In order to perform research and development, workers need to be technically trained. If firms provide this training, they recoup the cost by paying workers lower wages, decreasing the incentive for workers to take such jobs.</a:t>
            </a:r>
          </a:p>
          <a:p>
            <a:pPr marL="0" indent="0">
              <a:spcBef>
                <a:spcPts val="0"/>
              </a:spcBef>
              <a:spcAft>
                <a:spcPts val="1200"/>
              </a:spcAft>
              <a:buNone/>
            </a:pPr>
            <a:r>
              <a:rPr lang="en-US" sz="2200" dirty="0"/>
              <a:t>A solution to this is to have the government subsidize education, as it does in all high-income countries.</a:t>
            </a:r>
          </a:p>
        </p:txBody>
      </p:sp>
    </p:spTree>
    <p:extLst>
      <p:ext uri="{BB962C8B-B14F-4D97-AF65-F5344CB8AC3E}">
        <p14:creationId xmlns:p14="http://schemas.microsoft.com/office/powerpoint/2010/main" val="152024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B5334-B009-535C-7A2F-E6B2B4E94DBA}"/>
              </a:ext>
            </a:extLst>
          </p:cNvPr>
          <p:cNvSpPr>
            <a:spLocks noGrp="1"/>
          </p:cNvSpPr>
          <p:nvPr>
            <p:ph type="title"/>
          </p:nvPr>
        </p:nvSpPr>
        <p:spPr/>
        <p:txBody>
          <a:bodyPr/>
          <a:lstStyle/>
          <a:p>
            <a:r>
              <a:rPr lang="en-IN" dirty="0">
                <a:latin typeface="+mj-lt"/>
              </a:rPr>
              <a:t>Why Isn’t the Whole World Rich?</a:t>
            </a:r>
            <a:endParaRPr lang="en-IN" dirty="0"/>
          </a:p>
        </p:txBody>
      </p:sp>
      <p:sp>
        <p:nvSpPr>
          <p:cNvPr id="3" name="Text Placeholder 2">
            <a:extLst>
              <a:ext uri="{FF2B5EF4-FFF2-40B4-BE49-F238E27FC236}">
                <a16:creationId xmlns:a16="http://schemas.microsoft.com/office/drawing/2014/main" id="{93398BFC-417F-D19F-1DE8-8E266EC0A425}"/>
              </a:ext>
            </a:extLst>
          </p:cNvPr>
          <p:cNvSpPr>
            <a:spLocks noGrp="1"/>
          </p:cNvSpPr>
          <p:nvPr>
            <p:ph type="body" sz="quarter" idx="13"/>
          </p:nvPr>
        </p:nvSpPr>
        <p:spPr/>
        <p:txBody>
          <a:bodyPr/>
          <a:lstStyle/>
          <a:p>
            <a:r>
              <a:rPr lang="en-US" sz="2400" b="1" dirty="0">
                <a:solidFill>
                  <a:schemeClr val="tx1"/>
                </a:solidFill>
              </a:rPr>
              <a:t>7.4 Learning Objective</a:t>
            </a:r>
          </a:p>
        </p:txBody>
      </p:sp>
      <p:sp>
        <p:nvSpPr>
          <p:cNvPr id="4" name="Content Placeholder 3">
            <a:extLst>
              <a:ext uri="{FF2B5EF4-FFF2-40B4-BE49-F238E27FC236}">
                <a16:creationId xmlns:a16="http://schemas.microsoft.com/office/drawing/2014/main" id="{3F62430D-B53B-AF1D-00C6-31BF63580078}"/>
              </a:ext>
            </a:extLst>
          </p:cNvPr>
          <p:cNvSpPr>
            <a:spLocks noGrp="1"/>
          </p:cNvSpPr>
          <p:nvPr>
            <p:ph sz="quarter" idx="14"/>
          </p:nvPr>
        </p:nvSpPr>
        <p:spPr/>
        <p:txBody>
          <a:bodyPr/>
          <a:lstStyle/>
          <a:p>
            <a:pPr marL="0" indent="0">
              <a:spcBef>
                <a:spcPts val="1000"/>
              </a:spcBef>
              <a:buNone/>
            </a:pPr>
            <a:r>
              <a:rPr lang="en-IN" dirty="0"/>
              <a:t>Explain economic catch-up and discuss why many poor countries have not experienced rapid economic growth.</a:t>
            </a:r>
          </a:p>
          <a:p>
            <a:pPr marL="0" indent="0">
              <a:spcBef>
                <a:spcPts val="1000"/>
              </a:spcBef>
              <a:buSzPts val="2200"/>
              <a:buFont typeface="Arial" panose="020B0604020202020204" pitchFamily="34" charset="0"/>
              <a:buNone/>
            </a:pPr>
            <a:r>
              <a:rPr lang="en-US" dirty="0"/>
              <a:t>The economic growth model predicts that poor countries will grow faster than rich countries.</a:t>
            </a:r>
          </a:p>
          <a:p>
            <a:pPr marL="0" indent="0">
              <a:spcBef>
                <a:spcPts val="1000"/>
              </a:spcBef>
              <a:buSzPts val="2200"/>
              <a:buFont typeface="Arial" panose="020B0604020202020204" pitchFamily="34" charset="0"/>
              <a:buNone/>
            </a:pPr>
            <a:r>
              <a:rPr lang="en-US" dirty="0"/>
              <a:t>This is because:</a:t>
            </a:r>
          </a:p>
          <a:p>
            <a:pPr marL="255600">
              <a:spcBef>
                <a:spcPts val="1000"/>
              </a:spcBef>
            </a:pPr>
            <a:r>
              <a:rPr lang="en-US" dirty="0"/>
              <a:t>The effect of additional capital is greater for countries with smaller capital stocks.</a:t>
            </a:r>
          </a:p>
          <a:p>
            <a:pPr marL="255600">
              <a:spcBef>
                <a:spcPts val="1000"/>
              </a:spcBef>
            </a:pPr>
            <a:r>
              <a:rPr lang="en-US" dirty="0"/>
              <a:t>There are greater advances in technology immediately available to poorer countries.</a:t>
            </a:r>
            <a:endParaRPr lang="en-IN" dirty="0"/>
          </a:p>
        </p:txBody>
      </p:sp>
    </p:spTree>
    <p:extLst>
      <p:ext uri="{BB962C8B-B14F-4D97-AF65-F5344CB8AC3E}">
        <p14:creationId xmlns:p14="http://schemas.microsoft.com/office/powerpoint/2010/main" val="2873371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368F8F7-74CC-C8C6-6D0F-2F8D7ECB3D1C}"/>
              </a:ext>
            </a:extLst>
          </p:cNvPr>
          <p:cNvSpPr>
            <a:spLocks noGrp="1"/>
          </p:cNvSpPr>
          <p:nvPr>
            <p:ph type="title"/>
          </p:nvPr>
        </p:nvSpPr>
        <p:spPr/>
        <p:txBody>
          <a:bodyPr/>
          <a:lstStyle/>
          <a:p>
            <a:r>
              <a:rPr lang="en-US" sz="3200" dirty="0">
                <a:latin typeface="+mj-lt"/>
              </a:rPr>
              <a:t>Figure 7.6 The Catch-Up Predicted by the Economic Growth Model</a:t>
            </a:r>
            <a:endParaRPr lang="en-IN" sz="3200" dirty="0">
              <a:latin typeface="+mj-lt"/>
            </a:endParaRPr>
          </a:p>
        </p:txBody>
      </p:sp>
      <p:sp>
        <p:nvSpPr>
          <p:cNvPr id="18" name="Content Placeholder 5">
            <a:extLst>
              <a:ext uri="{FF2B5EF4-FFF2-40B4-BE49-F238E27FC236}">
                <a16:creationId xmlns:a16="http://schemas.microsoft.com/office/drawing/2014/main" id="{9F46A6CA-FA37-D55E-1D3F-EBC1184957D8}"/>
              </a:ext>
            </a:extLst>
          </p:cNvPr>
          <p:cNvSpPr txBox="1">
            <a:spLocks/>
          </p:cNvSpPr>
          <p:nvPr/>
        </p:nvSpPr>
        <p:spPr>
          <a:xfrm>
            <a:off x="454378" y="1581535"/>
            <a:ext cx="3580410" cy="4189245"/>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200" dirty="0"/>
              <a:t>If poorer countries grow faster than richer ones, they will start to catch up to, or converge to, the richer countries.</a:t>
            </a:r>
          </a:p>
          <a:p>
            <a:pPr marL="0" indent="0">
              <a:buSzPts val="2200"/>
              <a:buFont typeface="Arial" panose="020B0604020202020204" pitchFamily="34" charset="0"/>
              <a:buNone/>
            </a:pPr>
            <a:r>
              <a:rPr lang="en-US" sz="2200" b="1" dirty="0"/>
              <a:t>Catch-up:</a:t>
            </a:r>
            <a:r>
              <a:rPr lang="en-US" sz="2200" dirty="0"/>
              <a:t> The prediction that the level of GDP per capita (or income per capita) in poor countries will grow faster than in rich countries.</a:t>
            </a:r>
          </a:p>
        </p:txBody>
      </p:sp>
      <p:pic>
        <p:nvPicPr>
          <p:cNvPr id="3" name="Picture 2" descr="The line at the top is labeled poorer countries should grow faster and be on this section of the line and at the bottom is labeled richer countries should grow more slowly and be on this section of the line.">
            <a:extLst>
              <a:ext uri="{FF2B5EF4-FFF2-40B4-BE49-F238E27FC236}">
                <a16:creationId xmlns:a16="http://schemas.microsoft.com/office/drawing/2014/main" id="{73AD11BA-371B-8D87-1B76-B3B4086DB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676400"/>
            <a:ext cx="4155440" cy="3739896"/>
          </a:xfrm>
          <a:prstGeom prst="rect">
            <a:avLst/>
          </a:prstGeom>
        </p:spPr>
      </p:pic>
    </p:spTree>
    <p:extLst>
      <p:ext uri="{BB962C8B-B14F-4D97-AF65-F5344CB8AC3E}">
        <p14:creationId xmlns:p14="http://schemas.microsoft.com/office/powerpoint/2010/main" val="2868472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3B618216-03B9-9B28-DF68-1DFBCC28489A}"/>
              </a:ext>
            </a:extLst>
          </p:cNvPr>
          <p:cNvSpPr>
            <a:spLocks noGrp="1"/>
          </p:cNvSpPr>
          <p:nvPr>
            <p:ph type="title"/>
          </p:nvPr>
        </p:nvSpPr>
        <p:spPr>
          <a:xfrm>
            <a:off x="457200" y="228600"/>
            <a:ext cx="8229600" cy="1097279"/>
          </a:xfrm>
        </p:spPr>
        <p:txBody>
          <a:bodyPr/>
          <a:lstStyle/>
          <a:p>
            <a:r>
              <a:rPr lang="en-US" sz="3200" dirty="0">
                <a:latin typeface="+mj-lt"/>
              </a:rPr>
              <a:t>Figure 7.7 There Has Been Catch-Up Among High-Income Countries</a:t>
            </a:r>
            <a:endParaRPr lang="en-IN" sz="3200" dirty="0">
              <a:latin typeface="+mj-lt"/>
            </a:endParaRPr>
          </a:p>
        </p:txBody>
      </p:sp>
      <p:sp>
        <p:nvSpPr>
          <p:cNvPr id="22" name="Content Placeholder 5">
            <a:extLst>
              <a:ext uri="{FF2B5EF4-FFF2-40B4-BE49-F238E27FC236}">
                <a16:creationId xmlns:a16="http://schemas.microsoft.com/office/drawing/2014/main" id="{E20A3E2D-C2FD-9DC3-8262-D96E3A5C440A}"/>
              </a:ext>
            </a:extLst>
          </p:cNvPr>
          <p:cNvSpPr txBox="1">
            <a:spLocks/>
          </p:cNvSpPr>
          <p:nvPr/>
        </p:nvSpPr>
        <p:spPr>
          <a:xfrm>
            <a:off x="457200" y="1611738"/>
            <a:ext cx="3352800" cy="4560461"/>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dirty="0"/>
              <a:t>Examining high-income countries, we appear to see strong evidence of the catch-up hypothesis.</a:t>
            </a:r>
          </a:p>
          <a:p>
            <a:pPr marL="0" indent="0">
              <a:spcBef>
                <a:spcPts val="600"/>
              </a:spcBef>
              <a:spcAft>
                <a:spcPts val="600"/>
              </a:spcAft>
              <a:buSzPts val="2200"/>
              <a:buFont typeface="Arial" panose="020B0604020202020204" pitchFamily="34" charset="0"/>
              <a:buNone/>
            </a:pPr>
            <a:r>
              <a:rPr lang="en-US" sz="2200" dirty="0"/>
              <a:t>Countries that were richer in 1960, like the U.S. and Switzerland, experienced lower growth rates over the next decades than countries that were initially poorer, like Hong Kong and Korea.</a:t>
            </a:r>
          </a:p>
        </p:txBody>
      </p:sp>
      <p:sp>
        <p:nvSpPr>
          <p:cNvPr id="3" name="TextBox 2">
            <a:extLst>
              <a:ext uri="{FF2B5EF4-FFF2-40B4-BE49-F238E27FC236}">
                <a16:creationId xmlns:a16="http://schemas.microsoft.com/office/drawing/2014/main" id="{61FD1727-2ECE-2B42-0CF6-36CBC9B33481}"/>
              </a:ext>
            </a:extLst>
          </p:cNvPr>
          <p:cNvSpPr txBox="1"/>
          <p:nvPr/>
        </p:nvSpPr>
        <p:spPr>
          <a:xfrm>
            <a:off x="4196661" y="4267200"/>
            <a:ext cx="4572000" cy="1015663"/>
          </a:xfrm>
          <a:prstGeom prst="rect">
            <a:avLst/>
          </a:prstGeom>
          <a:noFill/>
        </p:spPr>
        <p:txBody>
          <a:bodyPr wrap="square">
            <a:spAutoFit/>
          </a:bodyPr>
          <a:lstStyle/>
          <a:p>
            <a:pPr algn="l"/>
            <a:r>
              <a:rPr lang="en-US" sz="1200" b="1" i="0" u="none" strike="noStrike" baseline="0" dirty="0">
                <a:latin typeface="+mj-lt"/>
              </a:rPr>
              <a:t>SOURCE</a:t>
            </a:r>
            <a:r>
              <a:rPr lang="en-US" sz="1200" b="0" i="0" u="none" strike="noStrike" baseline="0" dirty="0">
                <a:latin typeface="+mj-lt"/>
              </a:rPr>
              <a:t>: Authors’ calculations from data in Robert C. </a:t>
            </a:r>
            <a:r>
              <a:rPr lang="en-US" sz="1200" b="0" i="0" u="none" strike="noStrike" baseline="0" dirty="0" err="1">
                <a:latin typeface="+mj-lt"/>
              </a:rPr>
              <a:t>Feenstra</a:t>
            </a:r>
            <a:r>
              <a:rPr lang="en-US" sz="1200" b="0" i="0" u="none" strike="noStrike" baseline="0" dirty="0">
                <a:latin typeface="+mj-lt"/>
              </a:rPr>
              <a:t>, Robert </a:t>
            </a:r>
            <a:r>
              <a:rPr lang="en-US" sz="1200" b="0" i="0" u="none" strike="noStrike" baseline="0" dirty="0" err="1">
                <a:latin typeface="+mj-lt"/>
              </a:rPr>
              <a:t>Inklaar</a:t>
            </a:r>
            <a:r>
              <a:rPr lang="en-US" sz="1200" b="0" i="0" u="none" strike="noStrike" baseline="0" dirty="0">
                <a:latin typeface="+mj-lt"/>
              </a:rPr>
              <a:t>, and Marcel P. Timmer, “The Next Generation of the Penn World Table,” </a:t>
            </a:r>
            <a:r>
              <a:rPr lang="en-US" sz="1200" b="0" i="1" u="none" strike="noStrike" baseline="0" dirty="0">
                <a:latin typeface="+mj-lt"/>
              </a:rPr>
              <a:t>American Economic Review </a:t>
            </a:r>
            <a:r>
              <a:rPr lang="en-US" sz="1200" b="0" i="0" u="none" strike="noStrike" baseline="0" dirty="0">
                <a:latin typeface="+mj-lt"/>
              </a:rPr>
              <a:t>105, no. 10 (October 2015): 3150–3182 (data available at www.ggdc.net/pwt).</a:t>
            </a:r>
            <a:endParaRPr lang="en-US" sz="1200" dirty="0">
              <a:latin typeface="+mj-lt"/>
            </a:endParaRPr>
          </a:p>
        </p:txBody>
      </p:sp>
      <p:pic>
        <p:nvPicPr>
          <p:cNvPr id="4" name="Picture 3" descr="The horizontal axis represents real G D P per capita in 1960, in dollars, in the range of 0 to 25 000, in the increments of 5000. The vertical axis represents the annual growth rate of real G D P per capita between 1960 and 2019, in %, in the range of 0 to 7, in the increment of 1. The data are as follow. Korea (1,300, 6.5), Singapore (3,000, 6.3), Taiwan (2,500, 5.5), Malaysia (3,500, 4.0), Hong Kong (4,000, 5), Norway (11,500, 3.0), New Zealand (15,000, 1.8), United States (19,500, 2.5), and Switzerland (23,000, 2.5). The data in the graph represents a decreasing line. All values are estimated.">
            <a:extLst>
              <a:ext uri="{FF2B5EF4-FFF2-40B4-BE49-F238E27FC236}">
                <a16:creationId xmlns:a16="http://schemas.microsoft.com/office/drawing/2014/main" id="{696A176E-1148-D32C-8FA3-EFFC575847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0" y="1752600"/>
            <a:ext cx="4653861" cy="2438400"/>
          </a:xfrm>
          <a:prstGeom prst="rect">
            <a:avLst/>
          </a:prstGeom>
        </p:spPr>
      </p:pic>
    </p:spTree>
    <p:extLst>
      <p:ext uri="{BB962C8B-B14F-4D97-AF65-F5344CB8AC3E}">
        <p14:creationId xmlns:p14="http://schemas.microsoft.com/office/powerpoint/2010/main" val="1728086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7DA2FE8-5D7B-C2AE-49CC-3CE6B7CC77EC}"/>
              </a:ext>
            </a:extLst>
          </p:cNvPr>
          <p:cNvSpPr>
            <a:spLocks noGrp="1"/>
          </p:cNvSpPr>
          <p:nvPr>
            <p:ph type="title"/>
          </p:nvPr>
        </p:nvSpPr>
        <p:spPr/>
        <p:txBody>
          <a:bodyPr/>
          <a:lstStyle/>
          <a:p>
            <a:r>
              <a:rPr lang="en-US" sz="3200" dirty="0">
                <a:solidFill>
                  <a:schemeClr val="tx1"/>
                </a:solidFill>
                <a:latin typeface="+mj-lt"/>
              </a:rPr>
              <a:t>Figure 7.8 Most of the World Hasn’t Been Catching Up</a:t>
            </a:r>
            <a:endParaRPr lang="en-IN" sz="3200" dirty="0">
              <a:solidFill>
                <a:schemeClr val="tx1"/>
              </a:solidFill>
              <a:latin typeface="+mj-lt"/>
            </a:endParaRPr>
          </a:p>
        </p:txBody>
      </p:sp>
      <p:sp>
        <p:nvSpPr>
          <p:cNvPr id="3" name="Content Placeholder 2"/>
          <p:cNvSpPr>
            <a:spLocks noGrp="1"/>
          </p:cNvSpPr>
          <p:nvPr>
            <p:ph type="body" sz="quarter" idx="13"/>
          </p:nvPr>
        </p:nvSpPr>
        <p:spPr>
          <a:xfrm>
            <a:off x="457200" y="5257800"/>
            <a:ext cx="8229600" cy="1027216"/>
          </a:xfrm>
        </p:spPr>
        <p:txBody>
          <a:bodyPr>
            <a:noAutofit/>
          </a:bodyPr>
          <a:lstStyle/>
          <a:p>
            <a:pPr marL="0" indent="0">
              <a:spcBef>
                <a:spcPts val="600"/>
              </a:spcBef>
              <a:buNone/>
            </a:pPr>
            <a:r>
              <a:rPr lang="en-IN" sz="2000" dirty="0"/>
              <a:t>However, if we extend the set of countries to all countries for which statistics are available, our catch-up model appears to be worthless.</a:t>
            </a:r>
          </a:p>
          <a:p>
            <a:pPr marL="0" indent="0">
              <a:spcBef>
                <a:spcPts val="600"/>
              </a:spcBef>
              <a:buNone/>
            </a:pPr>
            <a:r>
              <a:rPr lang="en-IN" sz="2000" dirty="0"/>
              <a:t>We need to address the failures of the catch-up model.</a:t>
            </a:r>
          </a:p>
        </p:txBody>
      </p:sp>
      <p:sp>
        <p:nvSpPr>
          <p:cNvPr id="4" name="TextBox 3">
            <a:extLst>
              <a:ext uri="{FF2B5EF4-FFF2-40B4-BE49-F238E27FC236}">
                <a16:creationId xmlns:a16="http://schemas.microsoft.com/office/drawing/2014/main" id="{26C2C7A5-286A-748A-20BF-8C06E7E1F016}"/>
              </a:ext>
            </a:extLst>
          </p:cNvPr>
          <p:cNvSpPr txBox="1"/>
          <p:nvPr/>
        </p:nvSpPr>
        <p:spPr>
          <a:xfrm>
            <a:off x="457200" y="4611469"/>
            <a:ext cx="8229600" cy="646331"/>
          </a:xfrm>
          <a:prstGeom prst="rect">
            <a:avLst/>
          </a:prstGeom>
          <a:noFill/>
        </p:spPr>
        <p:txBody>
          <a:bodyPr wrap="square">
            <a:spAutoFit/>
          </a:bodyPr>
          <a:lstStyle/>
          <a:p>
            <a:pPr algn="l"/>
            <a:r>
              <a:rPr lang="en-US" sz="1200" b="1" i="0" u="none" strike="noStrike" baseline="0" dirty="0">
                <a:latin typeface="+mj-lt"/>
              </a:rPr>
              <a:t>SOURCE:</a:t>
            </a:r>
            <a:r>
              <a:rPr lang="en-US" sz="1200" b="0" i="0" u="none" strike="noStrike" baseline="0" dirty="0">
                <a:latin typeface="+mj-lt"/>
              </a:rPr>
              <a:t> Authors’ calculations from data in Robert C. </a:t>
            </a:r>
            <a:r>
              <a:rPr lang="en-US" sz="1200" b="0" i="0" u="none" strike="noStrike" baseline="0" dirty="0" err="1">
                <a:latin typeface="+mj-lt"/>
              </a:rPr>
              <a:t>Feenstra</a:t>
            </a:r>
            <a:r>
              <a:rPr lang="en-US" sz="1200" b="0" i="0" u="none" strike="noStrike" baseline="0" dirty="0">
                <a:latin typeface="+mj-lt"/>
              </a:rPr>
              <a:t>, Robert </a:t>
            </a:r>
            <a:r>
              <a:rPr lang="en-US" sz="1200" b="0" i="0" u="none" strike="noStrike" baseline="0" dirty="0" err="1">
                <a:latin typeface="+mj-lt"/>
              </a:rPr>
              <a:t>Inklaar</a:t>
            </a:r>
            <a:r>
              <a:rPr lang="en-US" sz="1200" b="0" i="0" u="none" strike="noStrike" baseline="0" dirty="0">
                <a:latin typeface="+mj-lt"/>
              </a:rPr>
              <a:t>, and Marcel P. Timmer, “The Next Generation of the Penn World Table,” </a:t>
            </a:r>
            <a:r>
              <a:rPr lang="en-US" sz="1200" b="0" i="1" u="none" strike="noStrike" baseline="0" dirty="0">
                <a:latin typeface="+mj-lt"/>
              </a:rPr>
              <a:t>American Economic Review </a:t>
            </a:r>
            <a:r>
              <a:rPr lang="en-US" sz="1200" b="0" i="0" u="none" strike="noStrike" baseline="0" dirty="0">
                <a:latin typeface="+mj-lt"/>
              </a:rPr>
              <a:t>105, no. 10 (October 2015): 3150–3182. Federal Reserve Bank of St. Louis.</a:t>
            </a:r>
            <a:endParaRPr lang="en-US" sz="1200" dirty="0">
              <a:latin typeface="+mj-lt"/>
            </a:endParaRPr>
          </a:p>
        </p:txBody>
      </p:sp>
      <p:pic>
        <p:nvPicPr>
          <p:cNvPr id="5" name="Picture 4" descr="The horizontal axis represents real G D P per capita in 1960, in the range of 0 to 22,000, in the increments of 2,000. The vertical axis represents the average annual growth rate of real G D P per capita, 1960 to 2019, in the range of negative 6 to 7, in the increments of 1. The data is as follows. China (1,100, 4.6), Korea (2,000, 6.1), Singapore (2,500, 6.0), Hong Kong (3,800, 4.8), Ecuador (4,000, 2.8), Jamaica (5,700, 0.8), Democratic Republic of Congo (2,400, negative 1.8), Mexico (6,000, 2.0), Ireland (6,500, 4.8), Italy (7,800, 3), Norway (12,000, 3), United Kingdom (13,700, 2.6), and United States (19,500, 2.2). All values are estimated.">
            <a:extLst>
              <a:ext uri="{FF2B5EF4-FFF2-40B4-BE49-F238E27FC236}">
                <a16:creationId xmlns:a16="http://schemas.microsoft.com/office/drawing/2014/main" id="{67161FEF-5393-6088-E432-4C0B7B8D7F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5352" y="1503748"/>
            <a:ext cx="4273296" cy="2942689"/>
          </a:xfrm>
          <a:prstGeom prst="rect">
            <a:avLst/>
          </a:prstGeom>
        </p:spPr>
      </p:pic>
    </p:spTree>
    <p:extLst>
      <p:ext uri="{BB962C8B-B14F-4D97-AF65-F5344CB8AC3E}">
        <p14:creationId xmlns:p14="http://schemas.microsoft.com/office/powerpoint/2010/main" val="1069280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F527829-03D4-44DF-7E51-D00672581812}"/>
              </a:ext>
            </a:extLst>
          </p:cNvPr>
          <p:cNvSpPr>
            <a:spLocks noGrp="1"/>
          </p:cNvSpPr>
          <p:nvPr>
            <p:ph type="title"/>
          </p:nvPr>
        </p:nvSpPr>
        <p:spPr/>
        <p:txBody>
          <a:bodyPr/>
          <a:lstStyle/>
          <a:p>
            <a:r>
              <a:rPr lang="en-US" sz="2800" dirty="0">
                <a:solidFill>
                  <a:schemeClr val="tx1"/>
                </a:solidFill>
                <a:latin typeface="+mj-lt"/>
              </a:rPr>
              <a:t>Figure 7.9 Other High-Income Countries Have Stopped Catching up to the United States</a:t>
            </a:r>
            <a:endParaRPr lang="en-IN" sz="2800" dirty="0">
              <a:solidFill>
                <a:schemeClr val="tx1"/>
              </a:solidFill>
              <a:latin typeface="+mj-lt"/>
            </a:endParaRPr>
          </a:p>
        </p:txBody>
      </p:sp>
      <p:sp>
        <p:nvSpPr>
          <p:cNvPr id="19" name="Content Placeholder 5">
            <a:extLst>
              <a:ext uri="{FF2B5EF4-FFF2-40B4-BE49-F238E27FC236}">
                <a16:creationId xmlns:a16="http://schemas.microsoft.com/office/drawing/2014/main" id="{581ACA1C-A84A-B377-C5F3-BC7A8E3404E3}"/>
              </a:ext>
            </a:extLst>
          </p:cNvPr>
          <p:cNvSpPr txBox="1">
            <a:spLocks/>
          </p:cNvSpPr>
          <p:nvPr/>
        </p:nvSpPr>
        <p:spPr>
          <a:xfrm>
            <a:off x="468313" y="5029200"/>
            <a:ext cx="7913687" cy="1279524"/>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1800" dirty="0"/>
              <a:t>The blue bars show real G</a:t>
            </a:r>
            <a:r>
              <a:rPr lang="en-US" sz="100" dirty="0"/>
              <a:t> </a:t>
            </a:r>
            <a:r>
              <a:rPr lang="en-US" sz="1800" dirty="0"/>
              <a:t>D</a:t>
            </a:r>
            <a:r>
              <a:rPr lang="en-US" sz="100" dirty="0"/>
              <a:t> </a:t>
            </a:r>
            <a:r>
              <a:rPr lang="en-US" sz="1800" dirty="0"/>
              <a:t>P per capita in 1990 relative to the United States.</a:t>
            </a:r>
          </a:p>
          <a:p>
            <a:pPr marL="0" indent="0">
              <a:spcBef>
                <a:spcPts val="600"/>
              </a:spcBef>
              <a:buSzPts val="2200"/>
              <a:buFont typeface="Arial" panose="020B0604020202020204" pitchFamily="34" charset="0"/>
              <a:buNone/>
            </a:pPr>
            <a:r>
              <a:rPr lang="en-US" sz="1800" dirty="0"/>
              <a:t>The red bars show real G</a:t>
            </a:r>
            <a:r>
              <a:rPr lang="en-US" sz="100" dirty="0"/>
              <a:t> </a:t>
            </a:r>
            <a:r>
              <a:rPr lang="en-US" sz="1800" dirty="0"/>
              <a:t>D</a:t>
            </a:r>
            <a:r>
              <a:rPr lang="en-US" sz="100" dirty="0"/>
              <a:t> </a:t>
            </a:r>
            <a:r>
              <a:rPr lang="en-US" sz="1800" dirty="0"/>
              <a:t>P per capita in 2019 relative to the United States.</a:t>
            </a:r>
          </a:p>
          <a:p>
            <a:pPr marL="255600">
              <a:spcBef>
                <a:spcPts val="600"/>
              </a:spcBef>
            </a:pPr>
            <a:r>
              <a:rPr lang="en-US" sz="1800" dirty="0"/>
              <a:t>In each case, the red bar is equal or lower; these countries are not catching up to the United States. Why?</a:t>
            </a:r>
          </a:p>
        </p:txBody>
      </p:sp>
      <p:sp>
        <p:nvSpPr>
          <p:cNvPr id="3" name="TextBox 2">
            <a:extLst>
              <a:ext uri="{FF2B5EF4-FFF2-40B4-BE49-F238E27FC236}">
                <a16:creationId xmlns:a16="http://schemas.microsoft.com/office/drawing/2014/main" id="{12BC1483-F5F3-DC82-0F68-E653FC8F60FB}"/>
              </a:ext>
            </a:extLst>
          </p:cNvPr>
          <p:cNvSpPr txBox="1"/>
          <p:nvPr/>
        </p:nvSpPr>
        <p:spPr>
          <a:xfrm>
            <a:off x="457200" y="4624000"/>
            <a:ext cx="8218487"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Authors’ calculations from data in </a:t>
            </a:r>
            <a:r>
              <a:rPr lang="en-US" sz="1200" b="0" i="0" u="none" strike="noStrike" baseline="0" dirty="0" err="1">
                <a:latin typeface="+mj-lt"/>
              </a:rPr>
              <a:t>Organisation</a:t>
            </a:r>
            <a:r>
              <a:rPr lang="en-US" sz="1200" b="0" i="0" u="none" strike="noStrike" baseline="0" dirty="0">
                <a:latin typeface="+mj-lt"/>
              </a:rPr>
              <a:t> for Economic Co-operation and Development, stat.oecd.org.</a:t>
            </a:r>
            <a:endParaRPr lang="en-US" sz="1200" dirty="0">
              <a:latin typeface="+mj-lt"/>
            </a:endParaRPr>
          </a:p>
        </p:txBody>
      </p:sp>
      <p:pic>
        <p:nvPicPr>
          <p:cNvPr id="5" name="Picture 4" descr="The horizontal axis represents countries which are United Kingdom, France, Germany, Italy, Spain, Japan, and Canada. The vertical axis represents real G D P per capita relative to US real G D P per capita, in %, in the range of 0 to 100, in the increments of 10. The data is as follows. United Kingdom, 78% in 1990 and 71% in 2019. France, 80% in 1990 and 70% in 2019. Germany, 83% in 1990 and 82% in 2019. Italy, 80% in 1990 and 62% in 2019. Spain, 60% in 1990 and 60% in 2019. Japan, 90% in 1990 and 70% in 2019. Canada, 85% in 1990 and 80% in 2019. The values used in the description are approximate.">
            <a:extLst>
              <a:ext uri="{FF2B5EF4-FFF2-40B4-BE49-F238E27FC236}">
                <a16:creationId xmlns:a16="http://schemas.microsoft.com/office/drawing/2014/main" id="{4B66ACD2-6F81-6C74-3933-73055F593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220" y="1524000"/>
            <a:ext cx="6691559" cy="2971800"/>
          </a:xfrm>
          <a:prstGeom prst="rect">
            <a:avLst/>
          </a:prstGeom>
        </p:spPr>
      </p:pic>
    </p:spTree>
    <p:extLst>
      <p:ext uri="{BB962C8B-B14F-4D97-AF65-F5344CB8AC3E}">
        <p14:creationId xmlns:p14="http://schemas.microsoft.com/office/powerpoint/2010/main" val="2298812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Why are High-Income Countries Not Catching Up to the U.S.?</a:t>
            </a:r>
            <a:endParaRPr lang="en-US" dirty="0">
              <a:latin typeface="+mj-lt"/>
            </a:endParaRPr>
          </a:p>
        </p:txBody>
      </p:sp>
      <p:sp>
        <p:nvSpPr>
          <p:cNvPr id="3" name="Content Placeholder 2">
            <a:extLst>
              <a:ext uri="{FF2B5EF4-FFF2-40B4-BE49-F238E27FC236}">
                <a16:creationId xmlns:a16="http://schemas.microsoft.com/office/drawing/2014/main" id="{297000CF-E414-EA26-22CE-89C86014FCDC}"/>
              </a:ext>
            </a:extLst>
          </p:cNvPr>
          <p:cNvSpPr>
            <a:spLocks noGrp="1"/>
          </p:cNvSpPr>
          <p:nvPr>
            <p:ph idx="1"/>
          </p:nvPr>
        </p:nvSpPr>
        <p:spPr>
          <a:xfrm>
            <a:off x="457200" y="1600200"/>
            <a:ext cx="8229600" cy="4648200"/>
          </a:xfrm>
        </p:spPr>
        <p:txBody>
          <a:bodyPr/>
          <a:lstStyle/>
          <a:p>
            <a:pPr marL="0" indent="0">
              <a:spcBef>
                <a:spcPts val="1000"/>
              </a:spcBef>
              <a:buSzPts val="2200"/>
              <a:buFont typeface="Arial" panose="020B0604020202020204" pitchFamily="34" charset="0"/>
              <a:buNone/>
            </a:pPr>
            <a:r>
              <a:rPr lang="en-US" sz="2500" dirty="0"/>
              <a:t>A combination of reasons explain this:</a:t>
            </a:r>
          </a:p>
          <a:p>
            <a:pPr marL="255588" indent="-255588">
              <a:spcBef>
                <a:spcPts val="1000"/>
              </a:spcBef>
            </a:pPr>
            <a:r>
              <a:rPr lang="en-US" sz="2500" dirty="0"/>
              <a:t>U.S. </a:t>
            </a:r>
            <a:r>
              <a:rPr lang="en-US" sz="2500" dirty="0" err="1"/>
              <a:t>labour</a:t>
            </a:r>
            <a:r>
              <a:rPr lang="en-US" sz="2500" dirty="0"/>
              <a:t> markets are relatively flexible; hiring and firing workers is relatively unrestricted by government regulation.</a:t>
            </a:r>
          </a:p>
          <a:p>
            <a:pPr marL="628650" lvl="1">
              <a:spcBef>
                <a:spcPts val="1000"/>
              </a:spcBef>
            </a:pPr>
            <a:r>
              <a:rPr lang="en-US" dirty="0"/>
              <a:t>Similarly, U.S. workers tend to enter the work force sooner and retire later than do workers in Europe.</a:t>
            </a:r>
          </a:p>
          <a:p>
            <a:pPr marL="255588" indent="-255588">
              <a:spcBef>
                <a:spcPts val="1000"/>
              </a:spcBef>
            </a:pPr>
            <a:r>
              <a:rPr lang="en-US" sz="2500" dirty="0"/>
              <a:t>The U.S. financial system is relatively efficient, and the high volume of trading ensures high </a:t>
            </a:r>
            <a:r>
              <a:rPr lang="en-US" sz="2500" b="1" dirty="0"/>
              <a:t>liquidity,</a:t>
            </a:r>
            <a:r>
              <a:rPr lang="en-US" sz="2500" dirty="0"/>
              <a:t> making the U.S. an attractive place to invest.</a:t>
            </a:r>
          </a:p>
          <a:p>
            <a:pPr marL="628650" lvl="1" indent="-314325">
              <a:spcBef>
                <a:spcPts val="1000"/>
              </a:spcBef>
            </a:pPr>
            <a:r>
              <a:rPr lang="en-US" dirty="0"/>
              <a:t>Small firms find obtaining capital relatively easy in the U.S. due to the advent of venture capital firms.</a:t>
            </a:r>
          </a:p>
        </p:txBody>
      </p:sp>
    </p:spTree>
    <p:extLst>
      <p:ext uri="{BB962C8B-B14F-4D97-AF65-F5344CB8AC3E}">
        <p14:creationId xmlns:p14="http://schemas.microsoft.com/office/powerpoint/2010/main" val="3857544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The Lack of Growth in Many Low-Income Countries</a:t>
            </a:r>
            <a:endParaRPr lang="en-US" dirty="0">
              <a:latin typeface="+mj-lt"/>
            </a:endParaRPr>
          </a:p>
        </p:txBody>
      </p:sp>
      <p:sp>
        <p:nvSpPr>
          <p:cNvPr id="3" name="Content Placeholder 2"/>
          <p:cNvSpPr>
            <a:spLocks noGrp="1"/>
          </p:cNvSpPr>
          <p:nvPr>
            <p:ph idx="1"/>
          </p:nvPr>
        </p:nvSpPr>
        <p:spPr/>
        <p:txBody>
          <a:bodyPr>
            <a:noAutofit/>
          </a:bodyPr>
          <a:lstStyle/>
          <a:p>
            <a:pPr marL="0" indent="0">
              <a:spcBef>
                <a:spcPts val="0"/>
              </a:spcBef>
              <a:spcAft>
                <a:spcPts val="1200"/>
              </a:spcAft>
              <a:buNone/>
              <a:defRPr/>
            </a:pPr>
            <a:r>
              <a:rPr lang="en-US" dirty="0"/>
              <a:t>Economists point to four key factors in explaining why many low-income countries are growing so slowly:</a:t>
            </a:r>
          </a:p>
          <a:p>
            <a:pPr marL="457200" indent="-457200">
              <a:spcBef>
                <a:spcPts val="0"/>
              </a:spcBef>
              <a:spcAft>
                <a:spcPts val="1200"/>
              </a:spcAft>
              <a:buFont typeface="+mj-lt"/>
              <a:buAutoNum type="arabicPeriod"/>
              <a:defRPr/>
            </a:pPr>
            <a:r>
              <a:rPr lang="en-US" dirty="0"/>
              <a:t>Failure to enforce the rule of law</a:t>
            </a:r>
          </a:p>
          <a:p>
            <a:pPr marL="457200" indent="-457200">
              <a:spcBef>
                <a:spcPts val="0"/>
              </a:spcBef>
              <a:spcAft>
                <a:spcPts val="1200"/>
              </a:spcAft>
              <a:buFont typeface="+mj-lt"/>
              <a:buAutoNum type="arabicPeriod"/>
              <a:defRPr/>
            </a:pPr>
            <a:r>
              <a:rPr lang="en-US" dirty="0"/>
              <a:t>Wars and revolutions</a:t>
            </a:r>
          </a:p>
          <a:p>
            <a:pPr marL="457200" indent="-457200">
              <a:spcBef>
                <a:spcPts val="0"/>
              </a:spcBef>
              <a:spcAft>
                <a:spcPts val="1200"/>
              </a:spcAft>
              <a:buFont typeface="+mj-lt"/>
              <a:buAutoNum type="arabicPeriod"/>
              <a:defRPr/>
            </a:pPr>
            <a:r>
              <a:rPr lang="en-US" dirty="0"/>
              <a:t>Poor public education and health</a:t>
            </a:r>
          </a:p>
          <a:p>
            <a:pPr marL="457200" indent="-457200">
              <a:spcBef>
                <a:spcPts val="0"/>
              </a:spcBef>
              <a:spcAft>
                <a:spcPts val="1200"/>
              </a:spcAft>
              <a:buFont typeface="+mj-lt"/>
              <a:buAutoNum type="arabicPeriod"/>
              <a:defRPr/>
            </a:pPr>
            <a:r>
              <a:rPr lang="en-US" dirty="0"/>
              <a:t>Low rates of saving and investment</a:t>
            </a:r>
          </a:p>
          <a:p>
            <a:pPr marL="0" indent="0">
              <a:spcBef>
                <a:spcPts val="0"/>
              </a:spcBef>
              <a:spcAft>
                <a:spcPts val="1200"/>
              </a:spcAft>
              <a:buNone/>
              <a:defRPr/>
            </a:pPr>
            <a:r>
              <a:rPr lang="en-IN" dirty="0"/>
              <a:t>We will address each of these over the following slides.</a:t>
            </a:r>
          </a:p>
        </p:txBody>
      </p:sp>
    </p:spTree>
    <p:extLst>
      <p:ext uri="{BB962C8B-B14F-4D97-AF65-F5344CB8AC3E}">
        <p14:creationId xmlns:p14="http://schemas.microsoft.com/office/powerpoint/2010/main" val="162472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Failure to Enforce the Rule of Law</a:t>
            </a:r>
            <a:endParaRPr lang="en-US" dirty="0">
              <a:latin typeface="+mj-lt"/>
            </a:endParaRPr>
          </a:p>
        </p:txBody>
      </p:sp>
      <p:sp>
        <p:nvSpPr>
          <p:cNvPr id="3" name="Content Placeholder 2"/>
          <p:cNvSpPr>
            <a:spLocks noGrp="1"/>
          </p:cNvSpPr>
          <p:nvPr>
            <p:ph idx="1"/>
          </p:nvPr>
        </p:nvSpPr>
        <p:spPr/>
        <p:txBody>
          <a:bodyPr>
            <a:noAutofit/>
          </a:bodyPr>
          <a:lstStyle/>
          <a:p>
            <a:pPr marL="0" indent="0">
              <a:spcBef>
                <a:spcPts val="0"/>
              </a:spcBef>
              <a:buNone/>
              <a:defRPr/>
            </a:pPr>
            <a:r>
              <a:rPr lang="en-US" sz="2400" dirty="0"/>
              <a:t>The </a:t>
            </a:r>
            <a:r>
              <a:rPr lang="en-US" sz="2400" b="1" dirty="0"/>
              <a:t>rule of law </a:t>
            </a:r>
            <a:r>
              <a:rPr lang="en-US" sz="2400" dirty="0"/>
              <a:t>refers to the ability of a government to enforce the laws of the country, particularly with respect to protecting private property and enforcing contracts. </a:t>
            </a:r>
          </a:p>
          <a:p>
            <a:pPr marL="0" indent="0">
              <a:spcBef>
                <a:spcPts val="1000"/>
              </a:spcBef>
              <a:spcAft>
                <a:spcPts val="1200"/>
              </a:spcAft>
              <a:buNone/>
              <a:defRPr/>
            </a:pPr>
            <a:r>
              <a:rPr lang="en-US" sz="2400" dirty="0"/>
              <a:t>For entrepreneurs in a market economy to succeed, the government must guarantee </a:t>
            </a:r>
            <a:r>
              <a:rPr lang="en-US" sz="2400" b="1" dirty="0"/>
              <a:t>property rights</a:t>
            </a:r>
            <a:r>
              <a:rPr lang="en-US" sz="2400" dirty="0"/>
              <a:t>: the rights of individuals or firms mean they have the exclusive use of their property, including the right to buy or sell it.</a:t>
            </a:r>
          </a:p>
          <a:p>
            <a:pPr marL="342900" indent="-342900">
              <a:spcBef>
                <a:spcPts val="1000"/>
              </a:spcBef>
              <a:defRPr/>
            </a:pPr>
            <a:r>
              <a:rPr lang="en-US" sz="2400" dirty="0"/>
              <a:t>Otherwise, entrepreneurs will not risk starting a business.</a:t>
            </a:r>
          </a:p>
          <a:p>
            <a:pPr marL="0" indent="0">
              <a:spcBef>
                <a:spcPts val="1000"/>
              </a:spcBef>
              <a:spcAft>
                <a:spcPts val="1200"/>
              </a:spcAft>
              <a:buNone/>
              <a:defRPr/>
            </a:pPr>
            <a:r>
              <a:rPr lang="en-IN" sz="2400" dirty="0"/>
              <a:t>Also important is an independent court system to enforce contracts.</a:t>
            </a:r>
          </a:p>
        </p:txBody>
      </p:sp>
    </p:spTree>
    <p:extLst>
      <p:ext uri="{BB962C8B-B14F-4D97-AF65-F5344CB8AC3E}">
        <p14:creationId xmlns:p14="http://schemas.microsoft.com/office/powerpoint/2010/main" val="370649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127"/>
            <a:ext cx="8229600" cy="1107996"/>
          </a:xfrm>
        </p:spPr>
        <p:txBody>
          <a:bodyPr>
            <a:noAutofit/>
          </a:bodyPr>
          <a:lstStyle/>
          <a:p>
            <a:r>
              <a:rPr lang="en-IN" sz="3200" dirty="0">
                <a:latin typeface="+mj-lt"/>
              </a:rPr>
              <a:t>Other Reasons for Lack of Growth in Poor Countries</a:t>
            </a:r>
            <a:endParaRPr lang="en-US" sz="3200" dirty="0">
              <a:latin typeface="+mj-lt"/>
            </a:endParaRPr>
          </a:p>
        </p:txBody>
      </p:sp>
      <p:sp>
        <p:nvSpPr>
          <p:cNvPr id="3" name="Content Placeholder 2"/>
          <p:cNvSpPr>
            <a:spLocks noGrp="1"/>
          </p:cNvSpPr>
          <p:nvPr>
            <p:ph idx="1"/>
          </p:nvPr>
        </p:nvSpPr>
        <p:spPr>
          <a:xfrm>
            <a:off x="457200" y="1295400"/>
            <a:ext cx="8229600" cy="4953000"/>
          </a:xfrm>
        </p:spPr>
        <p:txBody>
          <a:bodyPr>
            <a:noAutofit/>
          </a:bodyPr>
          <a:lstStyle/>
          <a:p>
            <a:pPr marL="0" lvl="0" indent="0">
              <a:spcBef>
                <a:spcPts val="600"/>
              </a:spcBef>
              <a:buSzPts val="2200"/>
              <a:buNone/>
            </a:pPr>
            <a:r>
              <a:rPr lang="en-US" sz="2200" b="1" dirty="0"/>
              <a:t>Wars and revolutions</a:t>
            </a:r>
          </a:p>
          <a:p>
            <a:pPr marL="255600" lvl="0">
              <a:spcBef>
                <a:spcPts val="600"/>
              </a:spcBef>
            </a:pPr>
            <a:r>
              <a:rPr lang="en-US" sz="2000" dirty="0"/>
              <a:t>Wars and revolutions make investment and technological growth difficult.</a:t>
            </a:r>
          </a:p>
          <a:p>
            <a:pPr marL="255600" lvl="0">
              <a:spcBef>
                <a:spcPts val="600"/>
              </a:spcBef>
            </a:pPr>
            <a:r>
              <a:rPr lang="en-US" sz="2000" b="1" dirty="0"/>
              <a:t>Example: </a:t>
            </a:r>
            <a:r>
              <a:rPr lang="en-US" sz="2000" dirty="0"/>
              <a:t>Sri Lanka’s real GDP per capita was the same in 1991 that it was in 1969 due to a civil war between the government and the Tamil minority.</a:t>
            </a:r>
          </a:p>
          <a:p>
            <a:pPr marL="255600" lvl="0">
              <a:spcBef>
                <a:spcPts val="600"/>
              </a:spcBef>
            </a:pPr>
            <a:r>
              <a:rPr lang="en-US" sz="2000" dirty="0"/>
              <a:t>When it returned to peace, it experienced growth: 4.5 percent per year, from 2009 to 2019.</a:t>
            </a:r>
          </a:p>
          <a:p>
            <a:pPr marL="0" lvl="0" indent="0">
              <a:spcBef>
                <a:spcPts val="600"/>
              </a:spcBef>
              <a:buSzPts val="2200"/>
              <a:buNone/>
            </a:pPr>
            <a:r>
              <a:rPr lang="en-US" sz="2200" b="1" dirty="0"/>
              <a:t>Poor public education and health</a:t>
            </a:r>
          </a:p>
          <a:p>
            <a:pPr marL="255600" lvl="0">
              <a:spcBef>
                <a:spcPts val="600"/>
              </a:spcBef>
            </a:pPr>
            <a:r>
              <a:rPr lang="en-US" sz="2000" dirty="0"/>
              <a:t>With weak public schools and poor health care, workers are less productive.</a:t>
            </a:r>
          </a:p>
          <a:p>
            <a:pPr marL="0" lvl="0" indent="0">
              <a:spcBef>
                <a:spcPts val="600"/>
              </a:spcBef>
              <a:buSzPts val="2200"/>
              <a:buNone/>
            </a:pPr>
            <a:r>
              <a:rPr lang="en-US" sz="2200" b="1" dirty="0"/>
              <a:t>Low rates of saving and investment</a:t>
            </a:r>
          </a:p>
          <a:p>
            <a:pPr lvl="0">
              <a:spcBef>
                <a:spcPts val="600"/>
              </a:spcBef>
            </a:pPr>
            <a:r>
              <a:rPr lang="en-US" sz="2000" dirty="0"/>
              <a:t>Undeveloped and insecure financial systems create a “vicious cycle” of low savings and investment, preventing growth.</a:t>
            </a:r>
          </a:p>
        </p:txBody>
      </p:sp>
    </p:spTree>
    <p:extLst>
      <p:ext uri="{BB962C8B-B14F-4D97-AF65-F5344CB8AC3E}">
        <p14:creationId xmlns:p14="http://schemas.microsoft.com/office/powerpoint/2010/main" val="2594650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0ED968-9256-4114-AF12-237294F6A362}">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dcmitype/"/>
    <ds:schemaRef ds:uri="d445d462-2029-4cec-993f-47750f9ae382"/>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0BE2AAD-6CC9-4100-8B6B-7A31EE517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2008</TotalTime>
  <Words>2553</Words>
  <Application>Microsoft Macintosh PowerPoint</Application>
  <PresentationFormat>On-screen Show (4:3)</PresentationFormat>
  <Paragraphs>173</Paragraphs>
  <Slides>25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Verdana</vt:lpstr>
      <vt:lpstr>Office Theme</vt:lpstr>
      <vt:lpstr>Macroeconomics ECON 101</vt:lpstr>
      <vt:lpstr>Obtaining Economic Growth</vt:lpstr>
      <vt:lpstr>The Industrial Revolution</vt:lpstr>
      <vt:lpstr>Table 7.1 The Effects of Different Growth Rates on Living Standards</vt:lpstr>
      <vt:lpstr>Why Do Growth Rates Matter?</vt:lpstr>
      <vt:lpstr>Differences in Incomes Across Countries</vt:lpstr>
      <vt:lpstr>What Determines How Fast Economies Grow?</vt:lpstr>
      <vt:lpstr>Sources of Technological Change</vt:lpstr>
      <vt:lpstr>Figure 7.3 The Per-Worker Production Function</vt:lpstr>
      <vt:lpstr>Figure 7.4 Technological Change Increases Output per Hour Worked (1 of 2)</vt:lpstr>
      <vt:lpstr>Figure 7.4 Technological Change Increases Output per Hour Worked (2 of 2)</vt:lpstr>
      <vt:lpstr>New Growth Theory</vt:lpstr>
      <vt:lpstr>New Growth Theory and Knowledge Capital</vt:lpstr>
      <vt:lpstr>Government’s Role in Knowledge Capital Generation</vt:lpstr>
      <vt:lpstr>Protecting Intellectual Property</vt:lpstr>
      <vt:lpstr>Supporting R&amp;D and Subsidizing Education</vt:lpstr>
      <vt:lpstr>Why Isn’t the Whole World Rich?</vt:lpstr>
      <vt:lpstr>Figure 7.6 The Catch-Up Predicted by the Economic Growth Model</vt:lpstr>
      <vt:lpstr>Figure 7.7 There Has Been Catch-Up Among High-Income Countries</vt:lpstr>
      <vt:lpstr>Figure 7.8 Most of the World Hasn’t Been Catching Up</vt:lpstr>
      <vt:lpstr>Figure 7.9 Other High-Income Countries Have Stopped Catching up to the United States</vt:lpstr>
      <vt:lpstr>Why are High-Income Countries Not Catching Up to the U.S.?</vt:lpstr>
      <vt:lpstr>The Lack of Growth in Many Low-Income Countries</vt:lpstr>
      <vt:lpstr>Failure to Enforce the Rule of Law</vt:lpstr>
      <vt:lpstr>Other Reasons for Lack of Growth in Poor Countries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7  Long-Run Economic Growth: Sources and Policies</dc:title>
  <dc:subject>Economics</dc:subject>
  <dc:creator>Hubbard, Patrick O’Brien, Serletis, Childs</dc:creator>
  <cp:lastModifiedBy>Muhebullah Karimzada</cp:lastModifiedBy>
  <cp:revision>5792</cp:revision>
  <dcterms:created xsi:type="dcterms:W3CDTF">2014-07-14T20:04:21Z</dcterms:created>
  <dcterms:modified xsi:type="dcterms:W3CDTF">2024-12-30T02:25:34Z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