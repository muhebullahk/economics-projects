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87" r:id="rId2"/>
  </p:sldMasterIdLst>
  <p:notesMasterIdLst>
    <p:notesMasterId r:id="rId41"/>
  </p:notesMasterIdLst>
  <p:handoutMasterIdLst>
    <p:handoutMasterId r:id="rId42"/>
  </p:handoutMasterIdLst>
  <p:sldIdLst>
    <p:sldId id="1405" r:id="rId3"/>
    <p:sldId id="555" r:id="rId4"/>
    <p:sldId id="556" r:id="rId5"/>
    <p:sldId id="557" r:id="rId6"/>
    <p:sldId id="558" r:id="rId7"/>
    <p:sldId id="559" r:id="rId8"/>
    <p:sldId id="560" r:id="rId9"/>
    <p:sldId id="561" r:id="rId10"/>
    <p:sldId id="562" r:id="rId11"/>
    <p:sldId id="563" r:id="rId12"/>
    <p:sldId id="564" r:id="rId13"/>
    <p:sldId id="565" r:id="rId14"/>
    <p:sldId id="566" r:id="rId15"/>
    <p:sldId id="567" r:id="rId16"/>
    <p:sldId id="568" r:id="rId17"/>
    <p:sldId id="569" r:id="rId18"/>
    <p:sldId id="570" r:id="rId19"/>
    <p:sldId id="571" r:id="rId20"/>
    <p:sldId id="572" r:id="rId21"/>
    <p:sldId id="573" r:id="rId22"/>
    <p:sldId id="574" r:id="rId23"/>
    <p:sldId id="575" r:id="rId24"/>
    <p:sldId id="576" r:id="rId25"/>
    <p:sldId id="577" r:id="rId26"/>
    <p:sldId id="578" r:id="rId27"/>
    <p:sldId id="579" r:id="rId28"/>
    <p:sldId id="580" r:id="rId29"/>
    <p:sldId id="581" r:id="rId30"/>
    <p:sldId id="582" r:id="rId31"/>
    <p:sldId id="583" r:id="rId32"/>
    <p:sldId id="584" r:id="rId33"/>
    <p:sldId id="585" r:id="rId34"/>
    <p:sldId id="586" r:id="rId35"/>
    <p:sldId id="600" r:id="rId36"/>
    <p:sldId id="601" r:id="rId37"/>
    <p:sldId id="602" r:id="rId38"/>
    <p:sldId id="603" r:id="rId39"/>
    <p:sldId id="604" r:id="rId40"/>
  </p:sldIdLst>
  <p:sldSz cx="9144000" cy="6858000" type="screen4x3"/>
  <p:notesSz cx="6858000" cy="9144000"/>
  <p:embeddedFontLst>
    <p:embeddedFont>
      <p:font typeface="Noto Sans Symbols" panose="020B0604020202020204" pitchFamily="34" charset="0"/>
      <p:regular r:id="rId43"/>
      <p:bold r:id="rId44"/>
      <p:italic r:id="rId45"/>
      <p:boldItalic r:id="rId46"/>
    </p:embeddedFont>
    <p:embeddedFont>
      <p:font typeface="Verdana" panose="020B060403050404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363" userDrawn="1">
          <p15:clr>
            <a:srgbClr val="A4A3A4"/>
          </p15:clr>
        </p15:guide>
        <p15:guide id="3" orient="horz" pos="4156"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205063" initials="SP" lastIdx="1" clrIdx="7">
    <p:extLst>
      <p:ext uri="{19B8F6BF-5375-455C-9EA6-DF929625EA0E}">
        <p15:presenceInfo xmlns:p15="http://schemas.microsoft.com/office/powerpoint/2012/main" userId="205063" providerId="None"/>
      </p:ext>
    </p:extLst>
  </p:cmAuthor>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64" autoAdjust="0"/>
    <p:restoredTop sz="76549" autoAdjust="0"/>
  </p:normalViewPr>
  <p:slideViewPr>
    <p:cSldViewPr snapToGrid="0" snapToObjects="1">
      <p:cViewPr varScale="1">
        <p:scale>
          <a:sx n="93" d="100"/>
          <a:sy n="93" d="100"/>
        </p:scale>
        <p:origin x="1784" y="192"/>
      </p:cViewPr>
      <p:guideLst>
        <p:guide orient="horz" pos="3974"/>
        <p:guide pos="363"/>
        <p:guide orient="horz" pos="4156"/>
        <p:guide orient="horz" pos="119"/>
        <p:guide orient="horz" pos="709"/>
        <p:guide orient="horz" pos="10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9/11/25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9248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F asterisk P asterisk falls steeply from the ratio L asterisk over, ay asterisk, sub L W on the y-axis to point L asterisk over, ay asterisk, sub L C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36866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cap="none" dirty="0">
                <a:solidFill>
                  <a:schemeClr val="dk1"/>
                </a:solidFill>
                <a:effectLst/>
                <a:latin typeface="Arial"/>
                <a:ea typeface="Arial"/>
                <a:cs typeface="Arial"/>
                <a:sym typeface="Arial"/>
              </a:rPr>
              <a:t>Start fraction P sub C over P sub W end fraction is less than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3984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P sub C over P sub W end fraction = a sub start expression L C end expression over a sub start expression L W end expression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36514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P sub C over P sub W end fraction is less than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531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P sub C over P sub W end fraction  = start fraction a to the asterisk power sub start expression L C end expression over a to the asterisk power sub start expression L W end expression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224326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 is less than Start fraction P sub C over P sub W end fraction,</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37127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 S curve extends horizontally from the ratio ay sub L C over, ay sub L W on the y-axis, which is one-half in the example. It then rises vertically from the x-value, ratio L over ay, sub L C over, L asterisk over, ay asterisk, sub L W to the y-value, ay asterisk, sub L C over ay asterisk, sub L W. The R S curve then continues horizontally to the right at ay asterisk sub L C over ay asterisk sub L W, which is 2 in the example. The plots for R D and R D prime are parallel and fall with decreasing steepness; R D is higher than R D prime. R D crosses the R S graph at point 1, the ratio L over ay, sub L C over, L asterisk over, ay asterisk, sub L W on the x-axis; point 1 is roughly midway between ay asterisk sub L C, over ay asterisk, sub L W, and ay sub L C over ay sub L W. R D prime crosses the R S graph at point 2, where x = Q prime, to the left of point 1, and where y = ay sub L C over ay sub L W on the y-axis.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3856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falling line P F, beginning at P on the y-axis, ends at point F on the x-axis. A second line, T F, begins above point P on the y-axis at point T, and falls more steeply than P F to point F on the x-axis. The second graph, b, foreign, plots the quantity of wine, Q asterisk, sub W on the y-axis versus quantity of cheese, Q asterisk, sub C on the x-axis. Two falling lines begin at point F asterisk on the y-axis. Line F asterisk P asterisk falls more steeply than line F asterisk T asterisk, with T asterisk to the right of P asterisk on the x-axis.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0342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200" b="0" i="0" u="none" strike="noStrike" kern="1200" cap="none" dirty="0">
                <a:solidFill>
                  <a:schemeClr val="dk1"/>
                </a:solidFill>
                <a:effectLst/>
                <a:latin typeface="Arial"/>
                <a:ea typeface="Arial"/>
                <a:cs typeface="Arial"/>
                <a:sym typeface="Arial"/>
              </a:rPr>
              <a:t>1 half = Start fraction a sub start expression L C end expression over a sub start expression L W end expression end fraction is less than start fraction a to the asterisk power sub start expression L C end expression over a to the asterisk power sub start expression L W end expression end fraction = 2</a:t>
            </a:r>
            <a:endParaRPr lang="en-US"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39058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 of best fit rises from (0, 0) through (120, 120). The Philippines, China, Mexico, and Brazil are clustered below point (20, 20). Korea and Japan are near the mid-point of the line, at approximately (50, 60). The U S is plotted on the line at (100, 100). All values estimated.</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74479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forms a pattern closely following a steeply rising line that extends from (0.7, 0.130) through (1, 2) and (6, 5). Most data points are clustered at the intersection of a dashed horizontal line, y = 1, and dashed vertical line, x = 2, and the rising line at point (2,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10259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372B1-175B-85BD-79BE-5B4162C7B58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F4659319-6613-1DC2-F4DC-907F418A6CA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D3A750A-3C11-1235-1EE3-892C38E38384}"/>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4D72BB3D-833E-B06C-ECDE-E56CD795DB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F0DA0-0ECF-67EB-5FED-6C0B8B61AE0A}"/>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80509606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E590-4FE3-C1BF-5355-DF33783DC1F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D195AB6-788A-F224-4E22-79A01E1DDC0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BA668C96-CFB6-639D-E206-2178EB4495EB}"/>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CE935DFE-4B11-FEBC-836D-2127034407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F3B6B5-8DE3-FF67-692D-8F055C065E71}"/>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51557518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6EB6-95C7-D064-3412-374E2CFDAE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F6A632-A6DD-B687-6E38-BF576B7288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65CF-EC89-4BE8-C35D-FE305C4F6B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5A17D48C-0497-2FB2-99D4-28A8F54A3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F06ACA-3740-432F-61B4-8F92E6CA01BF}"/>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9294805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971EB-F241-EE9D-33CD-288D977813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EE6CA65-CA3C-D95C-C849-FE07BB169BEE}"/>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27BCF8-7407-033D-C85A-D7BD56F6C2B5}"/>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39955700-B617-C0ED-2F6F-F43166B30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64977D-753C-B059-CB15-DD88398EBCD7}"/>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6224057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6161D-4100-19F0-380F-C944DCE494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36ACA4-F95B-3954-2DF1-912D40CBF8B5}"/>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0DB327-86AB-424A-18BA-BA0ACAB1A0B6}"/>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A6ED2E-48F3-E002-4C06-25A936D7AB60}"/>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5C70D40C-3D08-3237-C3D6-0619D79B0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0298E2-A437-7182-E575-9FEA50189014}"/>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62550259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B7A2-2E6B-A0B7-A03C-38396DACFA5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B15CDD-AA24-BB65-2383-9DDE5F6E6BA5}"/>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8C77CFA-67FB-4EF5-A8CE-143C4F11557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C28D75-7D80-7BAF-711C-7D35AF0328D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B1313E48-49E6-F2A7-CDDF-44BC9B33000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BE999C-8531-3468-F158-F3F6C0DBFD14}"/>
              </a:ext>
            </a:extLst>
          </p:cNvPr>
          <p:cNvSpPr>
            <a:spLocks noGrp="1"/>
          </p:cNvSpPr>
          <p:nvPr>
            <p:ph type="dt" sz="half" idx="10"/>
          </p:nvPr>
        </p:nvSpPr>
        <p:spPr/>
        <p:txBody>
          <a:bodyPr/>
          <a:lstStyle/>
          <a:p>
            <a:pPr>
              <a:defRPr/>
            </a:pPr>
            <a:endParaRPr lang="en-US" dirty="0">
              <a:solidFill>
                <a:schemeClr val="tx1"/>
              </a:solidFill>
            </a:endParaRPr>
          </a:p>
        </p:txBody>
      </p:sp>
      <p:sp>
        <p:nvSpPr>
          <p:cNvPr id="8" name="Footer Placeholder 7">
            <a:extLst>
              <a:ext uri="{FF2B5EF4-FFF2-40B4-BE49-F238E27FC236}">
                <a16:creationId xmlns:a16="http://schemas.microsoft.com/office/drawing/2014/main" id="{D1D6B3F7-EAE9-D9A8-241A-D18D59D212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5E8330-0494-32DA-07A7-D2C7C73CD59E}"/>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2569790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7EE34-F314-52C4-479B-344D1A8FF8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BCD1B1-A272-29CB-E629-DAE36153A6C4}"/>
              </a:ext>
            </a:extLst>
          </p:cNvPr>
          <p:cNvSpPr>
            <a:spLocks noGrp="1"/>
          </p:cNvSpPr>
          <p:nvPr>
            <p:ph type="dt" sz="half" idx="10"/>
          </p:nvPr>
        </p:nvSpPr>
        <p:spPr/>
        <p:txBody>
          <a:bodyPr/>
          <a:lstStyle/>
          <a:p>
            <a:pPr>
              <a:defRPr/>
            </a:pPr>
            <a:endParaRPr lang="en-US" dirty="0">
              <a:solidFill>
                <a:schemeClr val="tx1"/>
              </a:solidFill>
            </a:endParaRPr>
          </a:p>
        </p:txBody>
      </p:sp>
      <p:sp>
        <p:nvSpPr>
          <p:cNvPr id="4" name="Footer Placeholder 3">
            <a:extLst>
              <a:ext uri="{FF2B5EF4-FFF2-40B4-BE49-F238E27FC236}">
                <a16:creationId xmlns:a16="http://schemas.microsoft.com/office/drawing/2014/main" id="{1A7DCF14-694B-D960-FF0A-5A2059053C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97AFCD-802E-DC0D-8F58-01ECB97A026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42451336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46E5D-B4BC-F88A-6D76-950150D8D696}"/>
              </a:ext>
            </a:extLst>
          </p:cNvPr>
          <p:cNvSpPr>
            <a:spLocks noGrp="1"/>
          </p:cNvSpPr>
          <p:nvPr>
            <p:ph type="dt" sz="half" idx="10"/>
          </p:nvPr>
        </p:nvSpPr>
        <p:spPr/>
        <p:txBody>
          <a:bodyPr/>
          <a:lstStyle/>
          <a:p>
            <a:pPr>
              <a:defRPr/>
            </a:pPr>
            <a:endParaRPr lang="en-US" dirty="0">
              <a:solidFill>
                <a:schemeClr val="tx1"/>
              </a:solidFill>
            </a:endParaRPr>
          </a:p>
        </p:txBody>
      </p:sp>
      <p:sp>
        <p:nvSpPr>
          <p:cNvPr id="3" name="Footer Placeholder 2">
            <a:extLst>
              <a:ext uri="{FF2B5EF4-FFF2-40B4-BE49-F238E27FC236}">
                <a16:creationId xmlns:a16="http://schemas.microsoft.com/office/drawing/2014/main" id="{CEF84013-6ED3-1163-DD40-82BD598EC0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7BA3C16-51C2-90E2-F44E-8720D796EAEB}"/>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7838449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485E-9649-0CCB-F74E-26830C63483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25D0B7E-7286-9365-CEAE-1A54CF7FDC3A}"/>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E7FE75-95A0-8666-0B14-1AC3BC48F84E}"/>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5F79847-6150-4A44-FC36-6F3738B84B8C}"/>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2DEF1CA7-09F4-89DB-4A4C-9066A03B9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D2B0E-870C-08FA-B3F6-0BB60C7FFA32}"/>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1573525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E175-4611-E758-D929-27BD8D1BA843}"/>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0563BE42-9AE3-C07E-DDD9-18C5ED8C6AD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F0A21FE-4FA5-8273-523F-3E01D84B23E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5C3CD7B-503F-6273-E094-F23902F58D4D}"/>
              </a:ext>
            </a:extLst>
          </p:cNvPr>
          <p:cNvSpPr>
            <a:spLocks noGrp="1"/>
          </p:cNvSpPr>
          <p:nvPr>
            <p:ph type="dt" sz="half" idx="10"/>
          </p:nvPr>
        </p:nvSpPr>
        <p:spPr/>
        <p:txBody>
          <a:bodyPr/>
          <a:lstStyle/>
          <a:p>
            <a:pPr>
              <a:defRPr/>
            </a:pPr>
            <a:endParaRPr lang="en-US" dirty="0">
              <a:solidFill>
                <a:schemeClr val="tx1"/>
              </a:solidFill>
            </a:endParaRPr>
          </a:p>
        </p:txBody>
      </p:sp>
      <p:sp>
        <p:nvSpPr>
          <p:cNvPr id="6" name="Footer Placeholder 5">
            <a:extLst>
              <a:ext uri="{FF2B5EF4-FFF2-40B4-BE49-F238E27FC236}">
                <a16:creationId xmlns:a16="http://schemas.microsoft.com/office/drawing/2014/main" id="{E942710C-F41B-76DF-5093-5DB94C0A2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A90FF-8D2C-2B4D-62BB-0B4CDBB3A660}"/>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25099037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AAEA7-A116-F6F5-A81C-665702D27A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05345A-B21B-48E6-0ED8-9C45DBD5D8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EBBE64-97CD-1802-0CCD-26168F61C597}"/>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E4ED1AE3-4965-8038-AF2E-EA4B2B75B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BE322-BEE5-0AA7-55EB-21347994BA05}"/>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7972957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1E9606-BAD7-1218-BBFC-88C33F5DF7EA}"/>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F81414-A323-EE94-033B-16AF5DFFDAFC}"/>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55B967-3A1E-59D0-4F62-C886582EC930}"/>
              </a:ext>
            </a:extLst>
          </p:cNvPr>
          <p:cNvSpPr>
            <a:spLocks noGrp="1"/>
          </p:cNvSpPr>
          <p:nvPr>
            <p:ph type="dt" sz="half" idx="10"/>
          </p:nvPr>
        </p:nvSpPr>
        <p:spPr/>
        <p:txBody>
          <a:body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94E5C2D9-9761-0932-4C97-159251E0D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B47619-E41A-34F9-EC1D-F5B5257DE289}"/>
              </a:ext>
            </a:extLst>
          </p:cNvPr>
          <p:cNvSpPr>
            <a:spLocks noGrp="1"/>
          </p:cNvSpPr>
          <p:nvPr>
            <p:ph type="sldNum" sz="quarter" idx="12"/>
          </p:nvPr>
        </p:nvSpPr>
        <p:spPr/>
        <p:txBody>
          <a:body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13742196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8002515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526989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38260515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098537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65711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94621622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823077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606731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5703808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0557245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Title and 1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3519577"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3519577"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3519577"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3519577"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3519577"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3519577"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3519577"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0"/>
          </p:nvPr>
        </p:nvSpPr>
        <p:spPr>
          <a:xfrm>
            <a:off x="431799" y="6019800"/>
            <a:ext cx="3544977"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21"/>
          </p:nvPr>
        </p:nvSpPr>
        <p:spPr>
          <a:xfrm>
            <a:off x="431798" y="6705600"/>
            <a:ext cx="3683001" cy="53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5" name="Content Placeholder 14"/>
          <p:cNvSpPr>
            <a:spLocks noGrp="1"/>
          </p:cNvSpPr>
          <p:nvPr>
            <p:ph sz="quarter" idx="22"/>
          </p:nvPr>
        </p:nvSpPr>
        <p:spPr>
          <a:xfrm>
            <a:off x="4267200" y="1600200"/>
            <a:ext cx="4343400" cy="55065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8" name="Content Placeholder 17"/>
          <p:cNvSpPr>
            <a:spLocks noGrp="1"/>
          </p:cNvSpPr>
          <p:nvPr>
            <p:ph sz="quarter" idx="23"/>
          </p:nvPr>
        </p:nvSpPr>
        <p:spPr>
          <a:xfrm>
            <a:off x="4267200" y="23622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0" name="Content Placeholder 19"/>
          <p:cNvSpPr>
            <a:spLocks noGrp="1"/>
          </p:cNvSpPr>
          <p:nvPr>
            <p:ph sz="quarter" idx="24"/>
          </p:nvPr>
        </p:nvSpPr>
        <p:spPr>
          <a:xfrm>
            <a:off x="4267200" y="3048000"/>
            <a:ext cx="4419600" cy="5161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21"/>
          <p:cNvSpPr>
            <a:spLocks noGrp="1"/>
          </p:cNvSpPr>
          <p:nvPr>
            <p:ph sz="quarter" idx="25"/>
          </p:nvPr>
        </p:nvSpPr>
        <p:spPr>
          <a:xfrm>
            <a:off x="4267200" y="3733800"/>
            <a:ext cx="44196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53817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7997057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304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133601"/>
            <a:ext cx="8229600" cy="322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2666999"/>
            <a:ext cx="8229600" cy="3810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2593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792746"/>
            <a:ext cx="8229600" cy="322054"/>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7"/>
          </p:nvPr>
        </p:nvSpPr>
        <p:spPr>
          <a:xfrm>
            <a:off x="457200" y="4267200"/>
            <a:ext cx="8229600" cy="381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p:cNvSpPr>
            <a:spLocks noGrp="1"/>
          </p:cNvSpPr>
          <p:nvPr>
            <p:ph sz="quarter" idx="18"/>
          </p:nvPr>
        </p:nvSpPr>
        <p:spPr>
          <a:xfrm>
            <a:off x="457200" y="4800600"/>
            <a:ext cx="8229600" cy="457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9"/>
          </p:nvPr>
        </p:nvSpPr>
        <p:spPr>
          <a:xfrm>
            <a:off x="457200" y="5410200"/>
            <a:ext cx="8229600" cy="457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769074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78002803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5193002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_Title and 5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1970710"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3518943"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5125048" y="1552575"/>
            <a:ext cx="1284551"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F19255CD-6EFD-4E9E-82B1-C1B0817A905E}"/>
              </a:ext>
            </a:extLst>
          </p:cNvPr>
          <p:cNvSpPr>
            <a:spLocks noGrp="1"/>
          </p:cNvSpPr>
          <p:nvPr>
            <p:ph sz="quarter" idx="17"/>
          </p:nvPr>
        </p:nvSpPr>
        <p:spPr>
          <a:xfrm>
            <a:off x="6731152" y="1552575"/>
            <a:ext cx="1463723" cy="4438650"/>
          </a:xfrm>
        </p:spPr>
        <p:txBody>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2976593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5.xml"/><Relationship Id="rId18" Type="http://schemas.openxmlformats.org/officeDocument/2006/relationships/slideLayout" Target="../slideLayouts/slideLayout20.xml"/><Relationship Id="rId26" Type="http://schemas.openxmlformats.org/officeDocument/2006/relationships/slideLayout" Target="../slideLayouts/slideLayout28.xml"/><Relationship Id="rId3" Type="http://schemas.openxmlformats.org/officeDocument/2006/relationships/slideLayout" Target="../slideLayouts/slideLayout5.xml"/><Relationship Id="rId21" Type="http://schemas.openxmlformats.org/officeDocument/2006/relationships/slideLayout" Target="../slideLayouts/slideLayout23.xml"/><Relationship Id="rId34" Type="http://schemas.openxmlformats.org/officeDocument/2006/relationships/slideLayout" Target="../slideLayouts/slideLayout36.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5" Type="http://schemas.openxmlformats.org/officeDocument/2006/relationships/slideLayout" Target="../slideLayouts/slideLayout27.xml"/><Relationship Id="rId33" Type="http://schemas.openxmlformats.org/officeDocument/2006/relationships/slideLayout" Target="../slideLayouts/slideLayout35.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29" Type="http://schemas.openxmlformats.org/officeDocument/2006/relationships/slideLayout" Target="../slideLayouts/slideLayout31.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slideLayout" Target="../slideLayouts/slideLayout26.xml"/><Relationship Id="rId32" Type="http://schemas.openxmlformats.org/officeDocument/2006/relationships/slideLayout" Target="../slideLayouts/slideLayout34.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28" Type="http://schemas.openxmlformats.org/officeDocument/2006/relationships/slideLayout" Target="../slideLayouts/slideLayout30.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31" Type="http://schemas.openxmlformats.org/officeDocument/2006/relationships/slideLayout" Target="../slideLayouts/slideLayout33.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 Id="rId27" Type="http://schemas.openxmlformats.org/officeDocument/2006/relationships/slideLayout" Target="../slideLayouts/slideLayout29.xml"/><Relationship Id="rId30" Type="http://schemas.openxmlformats.org/officeDocument/2006/relationships/slideLayout" Target="../slideLayouts/slideLayout32.xml"/><Relationship Id="rId35" Type="http://schemas.openxmlformats.org/officeDocument/2006/relationships/theme" Target="../theme/theme2.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B6E02-46D5-5392-BCE2-786CFEF547D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E449DF5-C4E9-9A69-121B-D5AC5E70406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778F12-BD4A-AC77-2E57-BAC57C4CA843}"/>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dirty="0">
              <a:solidFill>
                <a:schemeClr val="tx1"/>
              </a:solidFill>
            </a:endParaRPr>
          </a:p>
        </p:txBody>
      </p:sp>
      <p:sp>
        <p:nvSpPr>
          <p:cNvPr id="5" name="Footer Placeholder 4">
            <a:extLst>
              <a:ext uri="{FF2B5EF4-FFF2-40B4-BE49-F238E27FC236}">
                <a16:creationId xmlns:a16="http://schemas.microsoft.com/office/drawing/2014/main" id="{567700EB-19B8-40CB-9ADF-7E8CD1CB514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B5D886E-ECFC-E79C-4C46-A5F68B9F3FF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81286106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3" r:id="rId15"/>
    <p:sldLayoutId id="2147483704" r:id="rId16"/>
    <p:sldLayoutId id="2147483705" r:id="rId17"/>
    <p:sldLayoutId id="2147483706" r:id="rId18"/>
    <p:sldLayoutId id="2147483664" r:id="rId19"/>
    <p:sldLayoutId id="2147483676" r:id="rId20"/>
    <p:sldLayoutId id="2147483677" r:id="rId21"/>
    <p:sldLayoutId id="2147483671" r:id="rId22"/>
    <p:sldLayoutId id="2147483673" r:id="rId23"/>
    <p:sldLayoutId id="2147483670" r:id="rId24"/>
    <p:sldLayoutId id="2147483669" r:id="rId25"/>
    <p:sldLayoutId id="2147483720" r:id="rId26"/>
    <p:sldLayoutId id="2147483721" r:id="rId27"/>
    <p:sldLayoutId id="2147483722" r:id="rId28"/>
    <p:sldLayoutId id="2147483723" r:id="rId29"/>
    <p:sldLayoutId id="2147483724" r:id="rId30"/>
    <p:sldLayoutId id="2147483725" r:id="rId31"/>
    <p:sldLayoutId id="2147483726" r:id="rId32"/>
    <p:sldLayoutId id="2147483727" r:id="rId33"/>
    <p:sldLayoutId id="2147483728" r:id="rId3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8.x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4.wmf"/><Relationship Id="rId2" Type="http://schemas.openxmlformats.org/officeDocument/2006/relationships/oleObject" Target="../embeddings/oleObject11.bin"/><Relationship Id="rId1" Type="http://schemas.openxmlformats.org/officeDocument/2006/relationships/slideLayout" Target="../slideLayouts/slideLayout16.xml"/><Relationship Id="rId6" Type="http://schemas.openxmlformats.org/officeDocument/2006/relationships/oleObject" Target="../embeddings/oleObject13.bin"/><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19.wmf"/><Relationship Id="rId12" Type="http://schemas.openxmlformats.org/officeDocument/2006/relationships/oleObject" Target="../embeddings/oleObject19.bin"/><Relationship Id="rId2" Type="http://schemas.openxmlformats.org/officeDocument/2006/relationships/oleObject" Target="../embeddings/oleObject14.bin"/><Relationship Id="rId1" Type="http://schemas.openxmlformats.org/officeDocument/2006/relationships/slideLayout" Target="../slideLayouts/slideLayout19.xml"/><Relationship Id="rId6" Type="http://schemas.openxmlformats.org/officeDocument/2006/relationships/oleObject" Target="../embeddings/oleObject16.bin"/><Relationship Id="rId11" Type="http://schemas.openxmlformats.org/officeDocument/2006/relationships/image" Target="../media/image21.wmf"/><Relationship Id="rId5" Type="http://schemas.openxmlformats.org/officeDocument/2006/relationships/image" Target="../media/image18.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2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23.wmf"/></Relationships>
</file>

<file path=ppt/slides/_rels/slide2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1.bin"/><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5.wmf"/><Relationship Id="rId7" Type="http://schemas.openxmlformats.org/officeDocument/2006/relationships/image" Target="../media/image27.wmf"/><Relationship Id="rId2" Type="http://schemas.openxmlformats.org/officeDocument/2006/relationships/oleObject" Target="../embeddings/oleObject22.bin"/><Relationship Id="rId1" Type="http://schemas.openxmlformats.org/officeDocument/2006/relationships/slideLayout" Target="../slideLayouts/slideLayout18.xml"/><Relationship Id="rId6" Type="http://schemas.openxmlformats.org/officeDocument/2006/relationships/oleObject" Target="../embeddings/oleObject24.bin"/><Relationship Id="rId5" Type="http://schemas.openxmlformats.org/officeDocument/2006/relationships/image" Target="../media/image26.wmf"/><Relationship Id="rId4" Type="http://schemas.openxmlformats.org/officeDocument/2006/relationships/oleObject" Target="../embeddings/oleObject23.bin"/></Relationships>
</file>

<file path=ppt/slides/_rels/slide2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5.bin"/><Relationship Id="rId1" Type="http://schemas.openxmlformats.org/officeDocument/2006/relationships/slideLayout" Target="../slideLayouts/slideLayout18.xml"/><Relationship Id="rId5" Type="http://schemas.openxmlformats.org/officeDocument/2006/relationships/image" Target="../media/image29.wmf"/><Relationship Id="rId4" Type="http://schemas.openxmlformats.org/officeDocument/2006/relationships/oleObject" Target="../embeddings/oleObject2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7.bin"/><Relationship Id="rId1" Type="http://schemas.openxmlformats.org/officeDocument/2006/relationships/slideLayout" Target="../slideLayouts/slideLayout18.xml"/><Relationship Id="rId6" Type="http://schemas.openxmlformats.org/officeDocument/2006/relationships/oleObject" Target="../embeddings/oleObject29.bin"/><Relationship Id="rId5" Type="http://schemas.openxmlformats.org/officeDocument/2006/relationships/image" Target="../media/image31.wmf"/><Relationship Id="rId4" Type="http://schemas.openxmlformats.org/officeDocument/2006/relationships/oleObject" Target="../embeddings/oleObject28.bin"/><Relationship Id="rId9" Type="http://schemas.openxmlformats.org/officeDocument/2006/relationships/image" Target="../media/image33.wmf"/></Relationships>
</file>

<file path=ppt/slides/_rels/slide28.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oleObject" Target="../embeddings/oleObject31.bin"/><Relationship Id="rId1" Type="http://schemas.openxmlformats.org/officeDocument/2006/relationships/slideLayout" Target="../slideLayouts/slideLayout18.xml"/><Relationship Id="rId5" Type="http://schemas.openxmlformats.org/officeDocument/2006/relationships/image" Target="../media/image35.wmf"/><Relationship Id="rId4" Type="http://schemas.openxmlformats.org/officeDocument/2006/relationships/oleObject" Target="../embeddings/oleObject32.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6.bin"/><Relationship Id="rId3" Type="http://schemas.openxmlformats.org/officeDocument/2006/relationships/image" Target="../media/image36.wmf"/><Relationship Id="rId7" Type="http://schemas.openxmlformats.org/officeDocument/2006/relationships/image" Target="../media/image38.wmf"/><Relationship Id="rId2" Type="http://schemas.openxmlformats.org/officeDocument/2006/relationships/oleObject" Target="../embeddings/oleObject33.bin"/><Relationship Id="rId1" Type="http://schemas.openxmlformats.org/officeDocument/2006/relationships/slideLayout" Target="../slideLayouts/slideLayout18.xml"/><Relationship Id="rId6" Type="http://schemas.openxmlformats.org/officeDocument/2006/relationships/oleObject" Target="../embeddings/oleObject35.bin"/><Relationship Id="rId5" Type="http://schemas.openxmlformats.org/officeDocument/2006/relationships/image" Target="../media/image37.wmf"/><Relationship Id="rId4" Type="http://schemas.openxmlformats.org/officeDocument/2006/relationships/oleObject" Target="../embeddings/oleObject34.bin"/><Relationship Id="rId9" Type="http://schemas.openxmlformats.org/officeDocument/2006/relationships/image" Target="../media/image39.wmf"/></Relationships>
</file>

<file path=ppt/slides/_rels/slide30.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7.bin"/><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1259442"/>
            <a:ext cx="7772400" cy="1828800"/>
          </a:xfrm>
        </p:spPr>
        <p:txBody>
          <a:bodyPr>
            <a:normAutofit/>
          </a:bodyPr>
          <a:lstStyle/>
          <a:p>
            <a:r>
              <a:rPr lang="en-US" dirty="0"/>
              <a:t>International Economic Relations</a:t>
            </a:r>
            <a:br>
              <a:rPr lang="en-US" dirty="0"/>
            </a:br>
            <a:r>
              <a:rPr lang="en-US" sz="2800" dirty="0"/>
              <a:t> </a:t>
            </a:r>
            <a:r>
              <a:rPr lang="en-CA" sz="2800" b="0" i="0" dirty="0">
                <a:solidFill>
                  <a:srgbClr val="003E2D"/>
                </a:solidFill>
                <a:effectLst/>
                <a:latin typeface="Museo Sans W01 500"/>
              </a:rPr>
              <a:t>ECON 308</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3000" y="3276600"/>
            <a:ext cx="7142018" cy="1981200"/>
          </a:xfrm>
        </p:spPr>
        <p:txBody>
          <a:bodyPr>
            <a:normAutofit/>
          </a:bodyPr>
          <a:lstStyle/>
          <a:p>
            <a:r>
              <a:rPr lang="en-US" altLang="en-US" dirty="0">
                <a:ea typeface="ヒラギノ角ゴ Pro W3" pitchFamily="-84" charset="-128"/>
              </a:rPr>
              <a:t>Labor Productivity and Comparative Advantage: The Ricardian Model</a:t>
            </a:r>
            <a:endParaRPr lang="en-US" dirty="0">
              <a:ea typeface="Verdana" panose="020B0604030504040204" pitchFamily="34" charset="0"/>
              <a:cs typeface="Verdana" panose="020B0604030504040204" pitchFamily="34" charset="0"/>
            </a:endParaRPr>
          </a:p>
          <a:p>
            <a:r>
              <a:rPr lang="en-US" dirty="0"/>
              <a:t> (Chapter 3 Part 2)</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Trade in the Ricardian Model </a:t>
            </a:r>
            <a:r>
              <a:rPr lang="en-US" altLang="en-US" sz="2000" b="0" dirty="0">
                <a:latin typeface="+mj-lt"/>
                <a:ea typeface="ヒラギノ角ゴ Pro W3" pitchFamily="-84" charset="-128"/>
              </a:rPr>
              <a:t>(1 of 4)</a:t>
            </a:r>
            <a:endParaRPr lang="en-US" sz="2000" dirty="0">
              <a:latin typeface="+mj-lt"/>
            </a:endParaRPr>
          </a:p>
        </p:txBody>
      </p:sp>
      <p:sp>
        <p:nvSpPr>
          <p:cNvPr id="3" name="Content Placeholder 2"/>
          <p:cNvSpPr>
            <a:spLocks noGrp="1"/>
          </p:cNvSpPr>
          <p:nvPr>
            <p:ph idx="1"/>
          </p:nvPr>
        </p:nvSpPr>
        <p:spPr>
          <a:xfrm>
            <a:off x="457200" y="1600202"/>
            <a:ext cx="297180" cy="441958"/>
          </a:xfrm>
        </p:spPr>
        <p:txBody>
          <a:bodyPr/>
          <a:lstStyle/>
          <a:p>
            <a:pPr marL="0" indent="0">
              <a:spcBef>
                <a:spcPts val="0"/>
              </a:spcBef>
            </a:pPr>
            <a:r>
              <a:rPr lang="en-US" sz="2000" dirty="0">
                <a:latin typeface="+mn-lt"/>
              </a:rPr>
              <a:t> </a:t>
            </a:r>
            <a:r>
              <a:rPr lang="en-US" sz="100" dirty="0">
                <a:latin typeface="+mn-lt"/>
              </a:rPr>
              <a:t> </a:t>
            </a:r>
          </a:p>
        </p:txBody>
      </p:sp>
      <p:sp>
        <p:nvSpPr>
          <p:cNvPr id="4" name="Content Placeholder 3"/>
          <p:cNvSpPr>
            <a:spLocks noGrp="1"/>
          </p:cNvSpPr>
          <p:nvPr>
            <p:ph idx="13"/>
          </p:nvPr>
        </p:nvSpPr>
        <p:spPr>
          <a:xfrm>
            <a:off x="1887517" y="1659148"/>
            <a:ext cx="4592320" cy="339304"/>
          </a:xfrm>
        </p:spPr>
        <p:txBody>
          <a:bodyPr tIns="0" bIns="0"/>
          <a:lstStyle/>
          <a:p>
            <a:pPr marL="0" lvl="1" indent="0">
              <a:spcBef>
                <a:spcPts val="1500"/>
              </a:spcBef>
              <a:buSzPct val="100000"/>
              <a:buNone/>
            </a:pPr>
            <a:r>
              <a:rPr lang="en-US" altLang="ja-JP" sz="2000" dirty="0">
                <a:latin typeface="+mn-lt"/>
                <a:ea typeface="ヒラギノ角ゴ Pro W3" pitchFamily="-84" charset="-128"/>
              </a:rPr>
              <a:t>to indicate foreign country variables.</a:t>
            </a:r>
            <a:endParaRPr lang="en-US" altLang="en-US" sz="2000" dirty="0">
              <a:latin typeface="+mn-lt"/>
              <a:ea typeface="ヒラギノ角ゴ Pro W3" pitchFamily="-84" charset="-128"/>
            </a:endParaRPr>
          </a:p>
        </p:txBody>
      </p:sp>
      <p:sp>
        <p:nvSpPr>
          <p:cNvPr id="5" name="Content Placeholder 4"/>
          <p:cNvSpPr>
            <a:spLocks noGrp="1"/>
          </p:cNvSpPr>
          <p:nvPr>
            <p:ph idx="14"/>
          </p:nvPr>
        </p:nvSpPr>
        <p:spPr>
          <a:xfrm>
            <a:off x="457200" y="2117175"/>
            <a:ext cx="7391400" cy="1078766"/>
          </a:xfrm>
        </p:spPr>
        <p:txBody>
          <a:bodyPr/>
          <a:lstStyle/>
          <a:p>
            <a:pPr indent="-255600"/>
            <a:r>
              <a:rPr lang="en-US" sz="2000" dirty="0">
                <a:latin typeface="+mn-lt"/>
              </a:rPr>
              <a:t>When one country can produce a unit of a good with less labor than another country, we say that the first country has an </a:t>
            </a:r>
            <a:r>
              <a:rPr lang="en-US" sz="2000" b="1" dirty="0">
                <a:latin typeface="+mn-lt"/>
              </a:rPr>
              <a:t>absolute advantage </a:t>
            </a:r>
            <a:r>
              <a:rPr lang="en-US" sz="2000" dirty="0">
                <a:latin typeface="+mn-lt"/>
              </a:rPr>
              <a:t>in producing that good.</a:t>
            </a:r>
          </a:p>
        </p:txBody>
      </p:sp>
      <p:sp>
        <p:nvSpPr>
          <p:cNvPr id="6" name="Content Placeholder 5"/>
          <p:cNvSpPr>
            <a:spLocks noGrp="1"/>
          </p:cNvSpPr>
          <p:nvPr>
            <p:ph idx="15"/>
          </p:nvPr>
        </p:nvSpPr>
        <p:spPr>
          <a:xfrm>
            <a:off x="457200" y="3276599"/>
            <a:ext cx="609600" cy="462279"/>
          </a:xfrm>
        </p:spPr>
        <p:txBody>
          <a:bodyPr/>
          <a:lstStyle/>
          <a:p>
            <a:pPr indent="-255600"/>
            <a:r>
              <a:rPr lang="en-US" sz="2000" dirty="0">
                <a:latin typeface="+mn-lt"/>
              </a:rPr>
              <a:t>If</a:t>
            </a:r>
          </a:p>
        </p:txBody>
      </p:sp>
      <p:sp>
        <p:nvSpPr>
          <p:cNvPr id="7" name="Content Placeholder 6"/>
          <p:cNvSpPr>
            <a:spLocks noGrp="1"/>
          </p:cNvSpPr>
          <p:nvPr>
            <p:ph idx="16"/>
          </p:nvPr>
        </p:nvSpPr>
        <p:spPr>
          <a:xfrm>
            <a:off x="2471141" y="3357880"/>
            <a:ext cx="5180928" cy="380999"/>
          </a:xfrm>
        </p:spPr>
        <p:txBody>
          <a:bodyPr tIns="0" bIns="0"/>
          <a:lstStyle/>
          <a:p>
            <a:pPr marL="0" lvl="1" indent="0">
              <a:buNone/>
            </a:pPr>
            <a:r>
              <a:rPr lang="en-US" sz="2000" dirty="0">
                <a:latin typeface="+mn-lt"/>
              </a:rPr>
              <a:t>Home labor is more efficient than Foreign in</a:t>
            </a:r>
          </a:p>
        </p:txBody>
      </p:sp>
      <p:sp>
        <p:nvSpPr>
          <p:cNvPr id="8" name="Content Placeholder 7"/>
          <p:cNvSpPr>
            <a:spLocks noGrp="1"/>
          </p:cNvSpPr>
          <p:nvPr>
            <p:ph sz="quarter" idx="17"/>
          </p:nvPr>
        </p:nvSpPr>
        <p:spPr>
          <a:xfrm>
            <a:off x="457200" y="3815080"/>
            <a:ext cx="2733040" cy="353060"/>
          </a:xfrm>
        </p:spPr>
        <p:txBody>
          <a:bodyPr tIns="0" bIns="0"/>
          <a:lstStyle/>
          <a:p>
            <a:pPr marL="255600" indent="0">
              <a:buNone/>
            </a:pPr>
            <a:r>
              <a:rPr lang="en-US" sz="2000" dirty="0">
                <a:latin typeface="+mn-lt"/>
              </a:rPr>
              <a:t>producing cheese.</a:t>
            </a:r>
          </a:p>
        </p:txBody>
      </p:sp>
      <p:sp>
        <p:nvSpPr>
          <p:cNvPr id="9" name="Content Placeholder 8"/>
          <p:cNvSpPr>
            <a:spLocks noGrp="1"/>
          </p:cNvSpPr>
          <p:nvPr>
            <p:ph sz="quarter" idx="18"/>
          </p:nvPr>
        </p:nvSpPr>
        <p:spPr>
          <a:xfrm>
            <a:off x="457200" y="4250055"/>
            <a:ext cx="7391400" cy="426720"/>
          </a:xfrm>
        </p:spPr>
        <p:txBody>
          <a:bodyPr/>
          <a:lstStyle/>
          <a:p>
            <a:pPr indent="-255600"/>
            <a:r>
              <a:rPr lang="en-US" sz="2000" dirty="0">
                <a:latin typeface="+mn-lt"/>
              </a:rPr>
              <a:t>Does that guarantee that Home should export cheese?</a:t>
            </a:r>
          </a:p>
        </p:txBody>
      </p:sp>
      <p:graphicFrame>
        <p:nvGraphicFramePr>
          <p:cNvPr id="11" name="Object 10" descr="Use asterisk symbol"/>
          <p:cNvGraphicFramePr>
            <a:graphicFrameLocks noChangeAspect="1"/>
          </p:cNvGraphicFramePr>
          <p:nvPr>
            <p:extLst>
              <p:ext uri="{D42A27DB-BD31-4B8C-83A1-F6EECF244321}">
                <p14:modId xmlns:p14="http://schemas.microsoft.com/office/powerpoint/2010/main" val="1254389462"/>
              </p:ext>
            </p:extLst>
          </p:nvPr>
        </p:nvGraphicFramePr>
        <p:xfrm>
          <a:off x="868487" y="1676321"/>
          <a:ext cx="967423" cy="316071"/>
        </p:xfrm>
        <a:graphic>
          <a:graphicData uri="http://schemas.openxmlformats.org/presentationml/2006/ole">
            <mc:AlternateContent xmlns:mc="http://schemas.openxmlformats.org/markup-compatibility/2006">
              <mc:Choice xmlns:v="urn:schemas-microsoft-com:vml" Requires="v">
                <p:oleObj name="Equation" r:id="rId2" imgW="545760" imgH="177480" progId="Equation.DSMT4">
                  <p:embed/>
                </p:oleObj>
              </mc:Choice>
              <mc:Fallback>
                <p:oleObj name="Equation" r:id="rId2" imgW="545760" imgH="177480" progId="Equation.DSMT4">
                  <p:embed/>
                  <p:pic>
                    <p:nvPicPr>
                      <p:cNvPr id="11" name="Object 10"/>
                      <p:cNvPicPr/>
                      <p:nvPr/>
                    </p:nvPicPr>
                    <p:blipFill>
                      <a:blip r:embed="rId3"/>
                      <a:stretch>
                        <a:fillRect/>
                      </a:stretch>
                    </p:blipFill>
                    <p:spPr>
                      <a:xfrm>
                        <a:off x="868487" y="1676321"/>
                        <a:ext cx="967423" cy="316071"/>
                      </a:xfrm>
                      <a:prstGeom prst="rect">
                        <a:avLst/>
                      </a:prstGeom>
                    </p:spPr>
                  </p:pic>
                </p:oleObj>
              </mc:Fallback>
            </mc:AlternateContent>
          </a:graphicData>
        </a:graphic>
      </p:graphicFrame>
      <p:graphicFrame>
        <p:nvGraphicFramePr>
          <p:cNvPr id="12" name="Object 11" descr="a sub start expression L C end expression is less than a to the asterisk power sub start expression L C end expression,"/>
          <p:cNvGraphicFramePr>
            <a:graphicFrameLocks noChangeAspect="1"/>
          </p:cNvGraphicFramePr>
          <p:nvPr>
            <p:extLst>
              <p:ext uri="{D42A27DB-BD31-4B8C-83A1-F6EECF244321}">
                <p14:modId xmlns:p14="http://schemas.microsoft.com/office/powerpoint/2010/main" val="259880308"/>
              </p:ext>
            </p:extLst>
          </p:nvPr>
        </p:nvGraphicFramePr>
        <p:xfrm>
          <a:off x="1206500" y="3298901"/>
          <a:ext cx="1124941" cy="388616"/>
        </p:xfrm>
        <a:graphic>
          <a:graphicData uri="http://schemas.openxmlformats.org/presentationml/2006/ole">
            <mc:AlternateContent xmlns:mc="http://schemas.openxmlformats.org/markup-compatibility/2006">
              <mc:Choice xmlns:v="urn:schemas-microsoft-com:vml" Requires="v">
                <p:oleObj name="Equation" r:id="rId4" imgW="698400" imgH="241200" progId="Equation.DSMT4">
                  <p:embed/>
                </p:oleObj>
              </mc:Choice>
              <mc:Fallback>
                <p:oleObj name="Equation" r:id="rId4" imgW="698400" imgH="241200" progId="Equation.DSMT4">
                  <p:embed/>
                  <p:pic>
                    <p:nvPicPr>
                      <p:cNvPr id="12" name="Object 11"/>
                      <p:cNvPicPr/>
                      <p:nvPr/>
                    </p:nvPicPr>
                    <p:blipFill>
                      <a:blip r:embed="rId5"/>
                      <a:stretch>
                        <a:fillRect/>
                      </a:stretch>
                    </p:blipFill>
                    <p:spPr>
                      <a:xfrm>
                        <a:off x="1206500" y="3298901"/>
                        <a:ext cx="1124941" cy="388616"/>
                      </a:xfrm>
                      <a:prstGeom prst="rect">
                        <a:avLst/>
                      </a:prstGeom>
                    </p:spPr>
                  </p:pic>
                </p:oleObj>
              </mc:Fallback>
            </mc:AlternateContent>
          </a:graphicData>
        </a:graphic>
      </p:graphicFrame>
    </p:spTree>
    <p:extLst>
      <p:ext uri="{BB962C8B-B14F-4D97-AF65-F5344CB8AC3E}">
        <p14:creationId xmlns:p14="http://schemas.microsoft.com/office/powerpoint/2010/main" val="2483684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Trade in the Ricardian Model </a:t>
            </a:r>
            <a:r>
              <a:rPr lang="en-US" altLang="en-US" sz="2000" b="0" dirty="0">
                <a:solidFill>
                  <a:schemeClr val="tx1"/>
                </a:solidFill>
                <a:latin typeface="+mj-lt"/>
                <a:ea typeface="ヒラギノ角ゴ Pro W3" pitchFamily="-84" charset="-128"/>
              </a:rPr>
              <a:t>(2 of 4)</a:t>
            </a:r>
            <a:endParaRPr lang="en-IN" dirty="0">
              <a:solidFill>
                <a:schemeClr val="tx1"/>
              </a:solidFill>
            </a:endParaRPr>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229600" cy="1961573"/>
          </a:xfrm>
        </p:spPr>
        <p:txBody>
          <a:bodyPr/>
          <a:lstStyle/>
          <a:p>
            <a:pPr>
              <a:spcBef>
                <a:spcPct val="25000"/>
              </a:spcBef>
            </a:pPr>
            <a:r>
              <a:rPr lang="en-US" sz="2200" dirty="0"/>
              <a:t>Comparative advantage, not absolute advantage, determines the pattern of trade (more about this distinction later).</a:t>
            </a:r>
          </a:p>
          <a:p>
            <a:pPr>
              <a:spcBef>
                <a:spcPct val="25000"/>
              </a:spcBef>
            </a:pPr>
            <a:r>
              <a:rPr lang="en-US" altLang="en-US" sz="2200" dirty="0">
                <a:ea typeface="ヒラギノ角ゴ Pro W3" pitchFamily="-84" charset="-128"/>
              </a:rPr>
              <a:t>Suppose that the home country has a comparative advantage in cheese production: its opportunity cost of producing cheese is lower than the foreign country.</a:t>
            </a:r>
            <a:endParaRPr lang="en-US" sz="2200" dirty="0"/>
          </a:p>
        </p:txBody>
      </p:sp>
      <p:sp>
        <p:nvSpPr>
          <p:cNvPr id="4" name="Content Placeholder 3">
            <a:extLst>
              <a:ext uri="{FF2B5EF4-FFF2-40B4-BE49-F238E27FC236}">
                <a16:creationId xmlns:a16="http://schemas.microsoft.com/office/drawing/2014/main" id="{1EC0433B-4FEE-44C5-A644-4C7BCC599C47}"/>
              </a:ext>
            </a:extLst>
          </p:cNvPr>
          <p:cNvSpPr>
            <a:spLocks noGrp="1"/>
          </p:cNvSpPr>
          <p:nvPr>
            <p:ph sz="quarter" idx="14"/>
          </p:nvPr>
        </p:nvSpPr>
        <p:spPr>
          <a:xfrm>
            <a:off x="457199" y="4650105"/>
            <a:ext cx="8494889" cy="1138555"/>
          </a:xfrm>
        </p:spPr>
        <p:txBody>
          <a:bodyPr/>
          <a:lstStyle/>
          <a:p>
            <a:pPr lvl="1"/>
            <a:r>
              <a:rPr lang="en-US" altLang="en-US" sz="2200" dirty="0">
                <a:ea typeface="ヒラギノ角ゴ Pro W3" pitchFamily="-84" charset="-128"/>
              </a:rPr>
              <a:t>When the home country increases cheese production, it reduces wine production less than the foreign country would.</a:t>
            </a:r>
            <a:endParaRPr lang="en-US" sz="2200" dirty="0"/>
          </a:p>
        </p:txBody>
      </p:sp>
      <p:graphicFrame>
        <p:nvGraphicFramePr>
          <p:cNvPr id="5" name="Object 4" descr="A formula. For long description in Notes pane, press F6.">
            <a:extLst>
              <a:ext uri="{FF2B5EF4-FFF2-40B4-BE49-F238E27FC236}">
                <a16:creationId xmlns:a16="http://schemas.microsoft.com/office/drawing/2014/main" id="{EFA7FA1A-CA96-40E3-A8E6-0678C188C293}"/>
              </a:ext>
            </a:extLst>
          </p:cNvPr>
          <p:cNvGraphicFramePr>
            <a:graphicFrameLocks noChangeAspect="1"/>
          </p:cNvGraphicFramePr>
          <p:nvPr>
            <p:extLst>
              <p:ext uri="{D42A27DB-BD31-4B8C-83A1-F6EECF244321}">
                <p14:modId xmlns:p14="http://schemas.microsoft.com/office/powerpoint/2010/main" val="602255613"/>
              </p:ext>
            </p:extLst>
          </p:nvPr>
        </p:nvGraphicFramePr>
        <p:xfrm>
          <a:off x="3866357" y="3619337"/>
          <a:ext cx="1411287" cy="890587"/>
        </p:xfrm>
        <a:graphic>
          <a:graphicData uri="http://schemas.openxmlformats.org/presentationml/2006/ole">
            <mc:AlternateContent xmlns:mc="http://schemas.openxmlformats.org/markup-compatibility/2006">
              <mc:Choice xmlns:v="urn:schemas-microsoft-com:vml" Requires="v">
                <p:oleObj name="Equation" r:id="rId3" imgW="1411266" imgH="890114" progId="Equation.DSMT4">
                  <p:embed/>
                </p:oleObj>
              </mc:Choice>
              <mc:Fallback>
                <p:oleObj name="Equation" r:id="rId3" imgW="1411266" imgH="890114" progId="Equation.DSMT4">
                  <p:embed/>
                  <p:pic>
                    <p:nvPicPr>
                      <p:cNvPr id="0" name=""/>
                      <p:cNvPicPr/>
                      <p:nvPr/>
                    </p:nvPicPr>
                    <p:blipFill>
                      <a:blip r:embed="rId4"/>
                      <a:stretch>
                        <a:fillRect/>
                      </a:stretch>
                    </p:blipFill>
                    <p:spPr>
                      <a:xfrm>
                        <a:off x="3866357" y="3619337"/>
                        <a:ext cx="1411287" cy="890587"/>
                      </a:xfrm>
                      <a:prstGeom prst="rect">
                        <a:avLst/>
                      </a:prstGeom>
                    </p:spPr>
                  </p:pic>
                </p:oleObj>
              </mc:Fallback>
            </mc:AlternateContent>
          </a:graphicData>
        </a:graphic>
      </p:graphicFrame>
    </p:spTree>
    <p:extLst>
      <p:ext uri="{BB962C8B-B14F-4D97-AF65-F5344CB8AC3E}">
        <p14:creationId xmlns:p14="http://schemas.microsoft.com/office/powerpoint/2010/main" val="2214903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Trade in the Ricardian Model </a:t>
            </a:r>
            <a:r>
              <a:rPr lang="en-US" altLang="en-US" sz="2000" b="0" dirty="0">
                <a:solidFill>
                  <a:schemeClr val="tx1"/>
                </a:solidFill>
                <a:latin typeface="+mj-lt"/>
                <a:ea typeface="ヒラギノ角ゴ Pro W3" pitchFamily="-84" charset="-128"/>
              </a:rPr>
              <a:t>(3 of 4)</a:t>
            </a:r>
            <a:endParaRPr lang="en-IN" dirty="0">
              <a:solidFill>
                <a:schemeClr val="tx1"/>
              </a:solidFill>
            </a:endParaRPr>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404578" cy="2619433"/>
          </a:xfrm>
        </p:spPr>
        <p:txBody>
          <a:bodyPr/>
          <a:lstStyle/>
          <a:p>
            <a:r>
              <a:rPr lang="en-US" altLang="en-US" sz="2400" dirty="0">
                <a:ea typeface="ヒラギノ角ゴ Pro W3" pitchFamily="-84" charset="-128"/>
              </a:rPr>
              <a:t>Since the slope of the P</a:t>
            </a:r>
            <a:r>
              <a:rPr lang="en-US" altLang="en-US" sz="100" dirty="0">
                <a:ea typeface="ヒラギノ角ゴ Pro W3" pitchFamily="-84" charset="-128"/>
              </a:rPr>
              <a:t> </a:t>
            </a:r>
            <a:r>
              <a:rPr lang="en-US" altLang="en-US" sz="2400" dirty="0">
                <a:ea typeface="ヒラギノ角ゴ Pro W3" pitchFamily="-84" charset="-128"/>
              </a:rPr>
              <a:t>P</a:t>
            </a:r>
            <a:r>
              <a:rPr lang="en-US" altLang="en-US" sz="100" dirty="0">
                <a:ea typeface="ヒラギノ角ゴ Pro W3" pitchFamily="-84" charset="-128"/>
              </a:rPr>
              <a:t> </a:t>
            </a:r>
            <a:r>
              <a:rPr lang="en-US" altLang="en-US" sz="2400" dirty="0">
                <a:ea typeface="ヒラギノ角ゴ Pro W3" pitchFamily="-84" charset="-128"/>
              </a:rPr>
              <a:t>F indicates the opportunity cost of cheese in terms of wine, Foreign’</a:t>
            </a:r>
            <a:r>
              <a:rPr lang="en-US" altLang="ja-JP" sz="2400" dirty="0">
                <a:ea typeface="ヒラギノ角ゴ Pro W3" pitchFamily="-84" charset="-128"/>
              </a:rPr>
              <a:t>s P</a:t>
            </a:r>
            <a:r>
              <a:rPr lang="en-US" altLang="ja-JP" sz="100" dirty="0">
                <a:ea typeface="ヒラギノ角ゴ Pro W3" pitchFamily="-84" charset="-128"/>
              </a:rPr>
              <a:t> </a:t>
            </a:r>
            <a:r>
              <a:rPr lang="en-US" altLang="ja-JP" sz="2400" dirty="0">
                <a:ea typeface="ヒラギノ角ゴ Pro W3" pitchFamily="-84" charset="-128"/>
              </a:rPr>
              <a:t>P</a:t>
            </a:r>
            <a:r>
              <a:rPr lang="en-US" altLang="ja-JP" sz="100" dirty="0">
                <a:ea typeface="ヒラギノ角ゴ Pro W3" pitchFamily="-84" charset="-128"/>
              </a:rPr>
              <a:t> </a:t>
            </a:r>
            <a:r>
              <a:rPr lang="en-US" altLang="ja-JP" sz="2400" dirty="0">
                <a:ea typeface="ヒラギノ角ゴ Pro W3" pitchFamily="-84" charset="-128"/>
              </a:rPr>
              <a:t>F is steeper than Home’s.</a:t>
            </a:r>
          </a:p>
          <a:p>
            <a:pPr lvl="1"/>
            <a:r>
              <a:rPr lang="en-US" altLang="en-US" sz="2400" dirty="0">
                <a:ea typeface="ヒラギノ角ゴ Pro W3" pitchFamily="-84" charset="-128"/>
              </a:rPr>
              <a:t>To produce one pound of cheese, must stop producing more gallons of wine in Foreign than in Home.</a:t>
            </a:r>
          </a:p>
        </p:txBody>
      </p:sp>
    </p:spTree>
    <p:extLst>
      <p:ext uri="{BB962C8B-B14F-4D97-AF65-F5344CB8AC3E}">
        <p14:creationId xmlns:p14="http://schemas.microsoft.com/office/powerpoint/2010/main" val="668515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FB3B-8ED0-48C6-B138-6BA34B978A91}"/>
              </a:ext>
            </a:extLst>
          </p:cNvPr>
          <p:cNvSpPr>
            <a:spLocks noGrp="1"/>
          </p:cNvSpPr>
          <p:nvPr>
            <p:ph type="title"/>
          </p:nvPr>
        </p:nvSpPr>
        <p:spPr/>
        <p:txBody>
          <a:bodyPr>
            <a:normAutofit fontScale="90000"/>
          </a:bodyPr>
          <a:lstStyle/>
          <a:p>
            <a:r>
              <a:rPr lang="en-US" altLang="en-US" sz="3200" dirty="0">
                <a:solidFill>
                  <a:schemeClr val="tx1"/>
                </a:solidFill>
                <a:ea typeface="ヒラギノ角ゴ Pro W3" pitchFamily="-84" charset="-128"/>
              </a:rPr>
              <a:t>Figure 3.2 Foreign</a:t>
            </a:r>
            <a:r>
              <a:rPr lang="en-US" altLang="ja-JP" sz="3200" dirty="0">
                <a:solidFill>
                  <a:schemeClr val="tx1"/>
                </a:solidFill>
                <a:ea typeface="ヒラギノ角ゴ Pro W3" pitchFamily="-84" charset="-128"/>
              </a:rPr>
              <a:t>’s Production Possibility Frontier</a:t>
            </a:r>
            <a:endParaRPr lang="en-IN" sz="3200" dirty="0">
              <a:solidFill>
                <a:schemeClr val="tx1"/>
              </a:solidFill>
            </a:endParaRPr>
          </a:p>
        </p:txBody>
      </p:sp>
      <p:pic>
        <p:nvPicPr>
          <p:cNvPr id="6" name="Content Placeholder 5" descr="A graph plots foreign wine production in gallons, Q asterisk sub w, versus foreign cheese production in pounds, Q asterisk sub c. For long description in Notes pane, press F6.">
            <a:extLst>
              <a:ext uri="{FF2B5EF4-FFF2-40B4-BE49-F238E27FC236}">
                <a16:creationId xmlns:a16="http://schemas.microsoft.com/office/drawing/2014/main" id="{27BDE974-661D-4A6C-8C59-0202BF0E918C}"/>
              </a:ext>
            </a:extLst>
          </p:cNvPr>
          <p:cNvPicPr>
            <a:picLocks noGrp="1" noChangeAspect="1"/>
          </p:cNvPicPr>
          <p:nvPr>
            <p:ph sz="quarter" idx="13"/>
          </p:nvPr>
        </p:nvPicPr>
        <p:blipFill>
          <a:blip r:embed="rId3"/>
          <a:stretch>
            <a:fillRect/>
          </a:stretch>
        </p:blipFill>
        <p:spPr>
          <a:xfrm>
            <a:off x="2123011" y="1597313"/>
            <a:ext cx="4097680" cy="3795747"/>
          </a:xfrm>
        </p:spPr>
      </p:pic>
      <p:sp>
        <p:nvSpPr>
          <p:cNvPr id="4" name="Content Placeholder 3">
            <a:extLst>
              <a:ext uri="{FF2B5EF4-FFF2-40B4-BE49-F238E27FC236}">
                <a16:creationId xmlns:a16="http://schemas.microsoft.com/office/drawing/2014/main" id="{BCDE9583-2678-47F3-87E7-5241CC49E993}"/>
              </a:ext>
            </a:extLst>
          </p:cNvPr>
          <p:cNvSpPr>
            <a:spLocks noGrp="1"/>
          </p:cNvSpPr>
          <p:nvPr>
            <p:ph sz="quarter" idx="14"/>
          </p:nvPr>
        </p:nvSpPr>
        <p:spPr>
          <a:xfrm>
            <a:off x="457200" y="5422677"/>
            <a:ext cx="7704667" cy="894526"/>
          </a:xfrm>
        </p:spPr>
        <p:txBody>
          <a:bodyPr/>
          <a:lstStyle/>
          <a:p>
            <a:pPr marL="432" indent="0">
              <a:buNone/>
            </a:pPr>
            <a:r>
              <a:rPr lang="en-US" sz="1600" dirty="0"/>
              <a:t>Because Foreign’s relative unit labor requirement in cheese is higher than Home’s (it needs to give up many more units of wine to produce one more unit of cheese), its production possibility frontier is steeper.</a:t>
            </a:r>
          </a:p>
        </p:txBody>
      </p:sp>
    </p:spTree>
    <p:extLst>
      <p:ext uri="{BB962C8B-B14F-4D97-AF65-F5344CB8AC3E}">
        <p14:creationId xmlns:p14="http://schemas.microsoft.com/office/powerpoint/2010/main" val="1094944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0CAD-CADE-4894-96E6-922C44F36ED9}"/>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Trade in the Ricardian Model </a:t>
            </a:r>
            <a:r>
              <a:rPr lang="en-US" altLang="en-US" sz="2000" b="0" dirty="0">
                <a:solidFill>
                  <a:schemeClr val="tx1"/>
                </a:solidFill>
                <a:latin typeface="+mj-lt"/>
                <a:ea typeface="ヒラギノ角ゴ Pro W3" pitchFamily="-84" charset="-128"/>
              </a:rPr>
              <a:t>(4 of 4)</a:t>
            </a:r>
            <a:endParaRPr lang="en-IN" dirty="0">
              <a:solidFill>
                <a:schemeClr val="tx1"/>
              </a:solidFill>
            </a:endParaRPr>
          </a:p>
        </p:txBody>
      </p:sp>
      <p:sp>
        <p:nvSpPr>
          <p:cNvPr id="3" name="Content Placeholder 2">
            <a:extLst>
              <a:ext uri="{FF2B5EF4-FFF2-40B4-BE49-F238E27FC236}">
                <a16:creationId xmlns:a16="http://schemas.microsoft.com/office/drawing/2014/main" id="{4FBC6AD5-6FAD-484F-9D62-26B0A973E9D0}"/>
              </a:ext>
            </a:extLst>
          </p:cNvPr>
          <p:cNvSpPr>
            <a:spLocks noGrp="1"/>
          </p:cNvSpPr>
          <p:nvPr>
            <p:ph sz="quarter" idx="13"/>
          </p:nvPr>
        </p:nvSpPr>
        <p:spPr>
          <a:xfrm>
            <a:off x="457200" y="1556327"/>
            <a:ext cx="8229600" cy="3917373"/>
          </a:xfrm>
        </p:spPr>
        <p:txBody>
          <a:bodyPr/>
          <a:lstStyle/>
          <a:p>
            <a:r>
              <a:rPr lang="en-US" altLang="en-US" sz="2400" dirty="0">
                <a:ea typeface="ヒラギノ角ゴ Pro W3" pitchFamily="-84" charset="-128"/>
              </a:rPr>
              <a:t>Before any trade occurs, the relative price of cheese to wine reflects the opportunity cost of cheese in terms of wine in each country.</a:t>
            </a:r>
          </a:p>
          <a:p>
            <a:r>
              <a:rPr lang="en-US" altLang="en-US" sz="2400" dirty="0">
                <a:ea typeface="ヒラギノ角ゴ Pro W3" pitchFamily="-84" charset="-128"/>
              </a:rPr>
              <a:t>In the absence of any trade, the relative price of cheese to wine will be higher in Foreign than in Home if Foreign has the higher opportunity cost of cheese.</a:t>
            </a:r>
          </a:p>
          <a:p>
            <a:r>
              <a:rPr lang="en-US" altLang="en-US" sz="2400" dirty="0">
                <a:ea typeface="ヒラギノ角ゴ Pro W3" pitchFamily="-84" charset="-128"/>
              </a:rPr>
              <a:t>It will be profitable to ship cheese from Home to Foreign (and wine from Foreign to Home)</a:t>
            </a:r>
            <a:r>
              <a:rPr lang="en-US" altLang="en-US" sz="2400" dirty="0">
                <a:ea typeface="ヒラギノ角ゴ Pro W3" pitchFamily="-84" charset="-128"/>
                <a:cs typeface="Times New Roman" panose="02020603050405020304" pitchFamily="18" charset="0"/>
              </a:rPr>
              <a:t>—</a:t>
            </a:r>
            <a:r>
              <a:rPr lang="en-US" altLang="en-US" sz="2400" dirty="0">
                <a:ea typeface="ヒラギノ角ゴ Pro W3" pitchFamily="-84" charset="-128"/>
              </a:rPr>
              <a:t>where does the relative price of cheese to wine settle?</a:t>
            </a:r>
            <a:endParaRPr lang="en-US" altLang="en-US" sz="2000" dirty="0">
              <a:ea typeface="ヒラギノ角ゴ Pro W3" pitchFamily="-84" charset="-128"/>
            </a:endParaRPr>
          </a:p>
        </p:txBody>
      </p:sp>
    </p:spTree>
    <p:extLst>
      <p:ext uri="{BB962C8B-B14F-4D97-AF65-F5344CB8AC3E}">
        <p14:creationId xmlns:p14="http://schemas.microsoft.com/office/powerpoint/2010/main" val="636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(1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2258928"/>
          </a:xfrm>
        </p:spPr>
        <p:txBody>
          <a:bodyPr/>
          <a:lstStyle/>
          <a:p>
            <a:pPr>
              <a:spcBef>
                <a:spcPct val="50000"/>
              </a:spcBef>
            </a:pPr>
            <a:r>
              <a:rPr lang="en-US" altLang="en-US" sz="2400" dirty="0">
                <a:ea typeface="ヒラギノ角ゴ Pro W3" pitchFamily="-84" charset="-128"/>
              </a:rPr>
              <a:t>To see how all countries can benefit from trade, need to find relative prices when trade exists.</a:t>
            </a:r>
          </a:p>
          <a:p>
            <a:pPr>
              <a:spcBef>
                <a:spcPct val="50000"/>
              </a:spcBef>
            </a:pPr>
            <a:r>
              <a:rPr lang="en-US" altLang="en-US" sz="2400" dirty="0">
                <a:ea typeface="ヒラギノ角ゴ Pro W3" pitchFamily="-84" charset="-128"/>
              </a:rPr>
              <a:t>First calculate the world </a:t>
            </a:r>
            <a:r>
              <a:rPr lang="en-US" altLang="en-US" sz="2400" b="1" dirty="0">
                <a:ea typeface="ヒラギノ角ゴ Pro W3" pitchFamily="-84" charset="-128"/>
              </a:rPr>
              <a:t>relative supply </a:t>
            </a:r>
            <a:r>
              <a:rPr lang="en-US" altLang="en-US" sz="2400" dirty="0">
                <a:ea typeface="ヒラギノ角ゴ Pro W3" pitchFamily="-84" charset="-128"/>
              </a:rPr>
              <a:t>of cheese: the quantity of cheese supplied by all countries relative to the quantity of wine supplied by all countries:</a:t>
            </a:r>
            <a:endParaRPr lang="en-US" altLang="en-US" sz="2000" dirty="0">
              <a:ea typeface="ヒラギノ角ゴ Pro W3" pitchFamily="-84" charset="-128"/>
            </a:endParaRPr>
          </a:p>
        </p:txBody>
      </p:sp>
      <p:graphicFrame>
        <p:nvGraphicFramePr>
          <p:cNvPr id="6" name="Object 5" descr="R S = start fraction Q sub C + Q to the asterisk power sub C over Q sub W + Q to the asterisk power sub W end fraction ">
            <a:extLst>
              <a:ext uri="{FF2B5EF4-FFF2-40B4-BE49-F238E27FC236}">
                <a16:creationId xmlns:a16="http://schemas.microsoft.com/office/drawing/2014/main" id="{0BFE23E1-A626-404D-B492-CC439F19B939}"/>
              </a:ext>
            </a:extLst>
          </p:cNvPr>
          <p:cNvGraphicFramePr>
            <a:graphicFrameLocks noChangeAspect="1"/>
          </p:cNvGraphicFramePr>
          <p:nvPr>
            <p:extLst>
              <p:ext uri="{D42A27DB-BD31-4B8C-83A1-F6EECF244321}">
                <p14:modId xmlns:p14="http://schemas.microsoft.com/office/powerpoint/2010/main" val="392550516"/>
              </p:ext>
            </p:extLst>
          </p:nvPr>
        </p:nvGraphicFramePr>
        <p:xfrm>
          <a:off x="3676909" y="4050792"/>
          <a:ext cx="1790183" cy="826239"/>
        </p:xfrm>
        <a:graphic>
          <a:graphicData uri="http://schemas.openxmlformats.org/presentationml/2006/ole">
            <mc:AlternateContent xmlns:mc="http://schemas.openxmlformats.org/markup-compatibility/2006">
              <mc:Choice xmlns:v="urn:schemas-microsoft-com:vml" Requires="v">
                <p:oleObj name="Equation" r:id="rId2" imgW="990360" imgH="457200" progId="Equation.DSMT4">
                  <p:embed/>
                </p:oleObj>
              </mc:Choice>
              <mc:Fallback>
                <p:oleObj name="Equation" r:id="rId2" imgW="990360" imgH="457200" progId="Equation.DSMT4">
                  <p:embed/>
                  <p:pic>
                    <p:nvPicPr>
                      <p:cNvPr id="0" name=""/>
                      <p:cNvPicPr/>
                      <p:nvPr/>
                    </p:nvPicPr>
                    <p:blipFill>
                      <a:blip r:embed="rId3"/>
                      <a:stretch>
                        <a:fillRect/>
                      </a:stretch>
                    </p:blipFill>
                    <p:spPr>
                      <a:xfrm>
                        <a:off x="3676909" y="4050792"/>
                        <a:ext cx="1790183" cy="826239"/>
                      </a:xfrm>
                      <a:prstGeom prst="rect">
                        <a:avLst/>
                      </a:prstGeom>
                    </p:spPr>
                  </p:pic>
                </p:oleObj>
              </mc:Fallback>
            </mc:AlternateContent>
          </a:graphicData>
        </a:graphic>
      </p:graphicFrame>
    </p:spTree>
    <p:extLst>
      <p:ext uri="{BB962C8B-B14F-4D97-AF65-F5344CB8AC3E}">
        <p14:creationId xmlns:p14="http://schemas.microsoft.com/office/powerpoint/2010/main" val="3590174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(2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8"/>
            <a:ext cx="8229600" cy="951742"/>
          </a:xfrm>
        </p:spPr>
        <p:txBody>
          <a:bodyPr/>
          <a:lstStyle/>
          <a:p>
            <a:r>
              <a:rPr lang="en-US" altLang="en-US" sz="2400" dirty="0">
                <a:ea typeface="ヒラギノ角ゴ Pro W3" pitchFamily="-84" charset="-128"/>
              </a:rPr>
              <a:t>If the relative price of cheese falls below the opportunity cost of cheese in both countries</a:t>
            </a:r>
            <a:endParaRPr lang="en-US" sz="24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540423"/>
            <a:ext cx="8229600" cy="1513564"/>
          </a:xfrm>
        </p:spPr>
        <p:txBody>
          <a:bodyPr/>
          <a:lstStyle/>
          <a:p>
            <a:pPr lvl="1"/>
            <a:r>
              <a:rPr lang="en-US" altLang="en-US" sz="2400" dirty="0">
                <a:ea typeface="ヒラギノ角ゴ Pro W3" pitchFamily="-84" charset="-128"/>
              </a:rPr>
              <a:t>No cheese would be produced. </a:t>
            </a:r>
          </a:p>
          <a:p>
            <a:pPr lvl="1"/>
            <a:r>
              <a:rPr lang="en-US" altLang="en-US" sz="2400" dirty="0">
                <a:ea typeface="ヒラギノ角ゴ Pro W3" pitchFamily="-84" charset="-128"/>
              </a:rPr>
              <a:t>Domestic and foreign workers would be willing to produce only wine (where wage is higher).</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CF8BD67C-79F8-4446-8F27-F6C94E33DF91}"/>
              </a:ext>
            </a:extLst>
          </p:cNvPr>
          <p:cNvGraphicFramePr>
            <a:graphicFrameLocks noChangeAspect="1"/>
          </p:cNvGraphicFramePr>
          <p:nvPr>
            <p:extLst>
              <p:ext uri="{D42A27DB-BD31-4B8C-83A1-F6EECF244321}">
                <p14:modId xmlns:p14="http://schemas.microsoft.com/office/powerpoint/2010/main" val="1228453517"/>
              </p:ext>
            </p:extLst>
          </p:nvPr>
        </p:nvGraphicFramePr>
        <p:xfrm>
          <a:off x="3144959" y="2579025"/>
          <a:ext cx="2200852" cy="890443"/>
        </p:xfrm>
        <a:graphic>
          <a:graphicData uri="http://schemas.openxmlformats.org/presentationml/2006/ole">
            <mc:AlternateContent xmlns:mc="http://schemas.openxmlformats.org/markup-compatibility/2006">
              <mc:Choice xmlns:v="urn:schemas-microsoft-com:vml" Requires="v">
                <p:oleObj name="Equation" r:id="rId3" imgW="2420239" imgH="980243" progId="Equation.DSMT4">
                  <p:embed/>
                </p:oleObj>
              </mc:Choice>
              <mc:Fallback>
                <p:oleObj name="Equation" r:id="rId3" imgW="2420239" imgH="980243" progId="Equation.DSMT4">
                  <p:embed/>
                  <p:pic>
                    <p:nvPicPr>
                      <p:cNvPr id="0" name=""/>
                      <p:cNvPicPr/>
                      <p:nvPr/>
                    </p:nvPicPr>
                    <p:blipFill>
                      <a:blip r:embed="rId4"/>
                      <a:stretch>
                        <a:fillRect/>
                      </a:stretch>
                    </p:blipFill>
                    <p:spPr>
                      <a:xfrm>
                        <a:off x="3144959" y="2579025"/>
                        <a:ext cx="2200852" cy="890443"/>
                      </a:xfrm>
                      <a:prstGeom prst="rect">
                        <a:avLst/>
                      </a:prstGeom>
                    </p:spPr>
                  </p:pic>
                </p:oleObj>
              </mc:Fallback>
            </mc:AlternateContent>
          </a:graphicData>
        </a:graphic>
      </p:graphicFrame>
    </p:spTree>
    <p:extLst>
      <p:ext uri="{BB962C8B-B14F-4D97-AF65-F5344CB8AC3E}">
        <p14:creationId xmlns:p14="http://schemas.microsoft.com/office/powerpoint/2010/main" val="4223320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(3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938679"/>
          </a:xfrm>
        </p:spPr>
        <p:txBody>
          <a:bodyPr/>
          <a:lstStyle/>
          <a:p>
            <a:r>
              <a:rPr lang="en-US" altLang="en-US" sz="2400" dirty="0">
                <a:ea typeface="ヒラギノ角ゴ Pro W3" pitchFamily="-84" charset="-128"/>
              </a:rPr>
              <a:t>When the relative price of cheese equals the opportunity cost in the home country</a:t>
            </a:r>
            <a:endParaRPr lang="en-US" sz="24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840876"/>
            <a:ext cx="8229600" cy="1799903"/>
          </a:xfrm>
        </p:spPr>
        <p:txBody>
          <a:bodyPr/>
          <a:lstStyle/>
          <a:p>
            <a:pPr lvl="1"/>
            <a:r>
              <a:rPr lang="en-US" altLang="en-US" sz="2400" dirty="0">
                <a:ea typeface="ヒラギノ角ゴ Pro W3" pitchFamily="-84" charset="-128"/>
              </a:rPr>
              <a:t>Domestic workers are indifferent about producing wine or cheese (wage when producing wine same as wage when producing cheese).</a:t>
            </a:r>
          </a:p>
          <a:p>
            <a:pPr lvl="1"/>
            <a:r>
              <a:rPr lang="en-US" altLang="en-US" sz="2400" dirty="0">
                <a:ea typeface="ヒラギノ角ゴ Pro W3" pitchFamily="-84" charset="-128"/>
              </a:rPr>
              <a:t>Foreign workers produce only wine.</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CF8BD67C-79F8-4446-8F27-F6C94E33DF91}"/>
              </a:ext>
            </a:extLst>
          </p:cNvPr>
          <p:cNvGraphicFramePr>
            <a:graphicFrameLocks noChangeAspect="1"/>
          </p:cNvGraphicFramePr>
          <p:nvPr>
            <p:extLst>
              <p:ext uri="{D42A27DB-BD31-4B8C-83A1-F6EECF244321}">
                <p14:modId xmlns:p14="http://schemas.microsoft.com/office/powerpoint/2010/main" val="3754636855"/>
              </p:ext>
            </p:extLst>
          </p:nvPr>
        </p:nvGraphicFramePr>
        <p:xfrm>
          <a:off x="3143658" y="2722464"/>
          <a:ext cx="2202635" cy="890954"/>
        </p:xfrm>
        <a:graphic>
          <a:graphicData uri="http://schemas.openxmlformats.org/presentationml/2006/ole">
            <mc:AlternateContent xmlns:mc="http://schemas.openxmlformats.org/markup-compatibility/2006">
              <mc:Choice xmlns:v="urn:schemas-microsoft-com:vml" Requires="v">
                <p:oleObj name="Equation" r:id="rId3" imgW="1130040" imgH="457200" progId="Equation.DSMT4">
                  <p:embed/>
                </p:oleObj>
              </mc:Choice>
              <mc:Fallback>
                <p:oleObj name="Equation" r:id="rId3" imgW="1130040" imgH="457200" progId="Equation.DSMT4">
                  <p:embed/>
                  <p:pic>
                    <p:nvPicPr>
                      <p:cNvPr id="5" name="Object 4">
                        <a:extLst>
                          <a:ext uri="{FF2B5EF4-FFF2-40B4-BE49-F238E27FC236}">
                            <a16:creationId xmlns:a16="http://schemas.microsoft.com/office/drawing/2014/main" id="{CF8BD67C-79F8-4446-8F27-F6C94E33DF91}"/>
                          </a:ext>
                        </a:extLst>
                      </p:cNvPr>
                      <p:cNvPicPr/>
                      <p:nvPr/>
                    </p:nvPicPr>
                    <p:blipFill>
                      <a:blip r:embed="rId4"/>
                      <a:stretch>
                        <a:fillRect/>
                      </a:stretch>
                    </p:blipFill>
                    <p:spPr>
                      <a:xfrm>
                        <a:off x="3143658" y="2722464"/>
                        <a:ext cx="2202635" cy="890954"/>
                      </a:xfrm>
                      <a:prstGeom prst="rect">
                        <a:avLst/>
                      </a:prstGeom>
                    </p:spPr>
                  </p:pic>
                </p:oleObj>
              </mc:Fallback>
            </mc:AlternateContent>
          </a:graphicData>
        </a:graphic>
      </p:graphicFrame>
    </p:spTree>
    <p:extLst>
      <p:ext uri="{BB962C8B-B14F-4D97-AF65-F5344CB8AC3E}">
        <p14:creationId xmlns:p14="http://schemas.microsoft.com/office/powerpoint/2010/main" val="4186493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(4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713907"/>
          </a:xfrm>
        </p:spPr>
        <p:txBody>
          <a:bodyPr/>
          <a:lstStyle/>
          <a:p>
            <a:r>
              <a:rPr lang="en-US" altLang="en-US" sz="1800" dirty="0">
                <a:ea typeface="ヒラギノ角ゴ Pro W3" pitchFamily="-84" charset="-128"/>
              </a:rPr>
              <a:t>When the relative price of cheese settles strictly in between the opportunity costs of cheese</a:t>
            </a:r>
            <a:endParaRPr lang="en-US" sz="18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267731"/>
            <a:ext cx="8229600" cy="1524984"/>
          </a:xfrm>
        </p:spPr>
        <p:txBody>
          <a:bodyPr/>
          <a:lstStyle/>
          <a:p>
            <a:pPr lvl="1"/>
            <a:r>
              <a:rPr lang="en-US" altLang="en-US" sz="1800" dirty="0">
                <a:ea typeface="ヒラギノ角ゴ Pro W3" pitchFamily="-84" charset="-128"/>
              </a:rPr>
              <a:t>Domestic workers produce only cheese (where their wages are higher).</a:t>
            </a:r>
          </a:p>
          <a:p>
            <a:pPr lvl="1"/>
            <a:r>
              <a:rPr lang="en-US" altLang="en-US" sz="1800" dirty="0">
                <a:ea typeface="ヒラギノ角ゴ Pro W3" pitchFamily="-84" charset="-128"/>
              </a:rPr>
              <a:t>Foreign workers still produce only wine (where their wages are higher).</a:t>
            </a:r>
          </a:p>
          <a:p>
            <a:pPr lvl="1"/>
            <a:r>
              <a:rPr lang="en-US" altLang="en-US" sz="1800" dirty="0">
                <a:ea typeface="ヒラギノ角ゴ Pro W3" pitchFamily="-84" charset="-128"/>
              </a:rPr>
              <a:t>World relative supply of cheese equals Home’s maximum cheese production divided by Foreign’s maximum wine production</a:t>
            </a:r>
            <a:endParaRPr lang="en-US" sz="1800" dirty="0"/>
          </a:p>
        </p:txBody>
      </p:sp>
      <p:graphicFrame>
        <p:nvGraphicFramePr>
          <p:cNvPr id="6" name="Object 5" descr="A formula. For long description in Notes pane, press F6.">
            <a:extLst>
              <a:ext uri="{FF2B5EF4-FFF2-40B4-BE49-F238E27FC236}">
                <a16:creationId xmlns:a16="http://schemas.microsoft.com/office/drawing/2014/main" id="{747CDD4C-AFBB-4E38-A550-14D6A93455BA}"/>
              </a:ext>
            </a:extLst>
          </p:cNvPr>
          <p:cNvGraphicFramePr>
            <a:graphicFrameLocks noChangeAspect="1"/>
          </p:cNvGraphicFramePr>
          <p:nvPr>
            <p:extLst>
              <p:ext uri="{D42A27DB-BD31-4B8C-83A1-F6EECF244321}">
                <p14:modId xmlns:p14="http://schemas.microsoft.com/office/powerpoint/2010/main" val="201897515"/>
              </p:ext>
            </p:extLst>
          </p:nvPr>
        </p:nvGraphicFramePr>
        <p:xfrm>
          <a:off x="3560047" y="2349698"/>
          <a:ext cx="2023904" cy="810260"/>
        </p:xfrm>
        <a:graphic>
          <a:graphicData uri="http://schemas.openxmlformats.org/presentationml/2006/ole">
            <mc:AlternateContent xmlns:mc="http://schemas.openxmlformats.org/markup-compatibility/2006">
              <mc:Choice xmlns:v="urn:schemas-microsoft-com:vml" Requires="v">
                <p:oleObj name="Equation" r:id="rId3" imgW="1143000" imgH="457200" progId="Equation.DSMT4">
                  <p:embed/>
                </p:oleObj>
              </mc:Choice>
              <mc:Fallback>
                <p:oleObj name="Equation" r:id="rId3" imgW="1143000" imgH="457200" progId="Equation.DSMT4">
                  <p:embed/>
                  <p:pic>
                    <p:nvPicPr>
                      <p:cNvPr id="11" name="Object 10"/>
                      <p:cNvPicPr/>
                      <p:nvPr/>
                    </p:nvPicPr>
                    <p:blipFill>
                      <a:blip r:embed="rId4"/>
                      <a:stretch>
                        <a:fillRect/>
                      </a:stretch>
                    </p:blipFill>
                    <p:spPr>
                      <a:xfrm>
                        <a:off x="3560047" y="2349698"/>
                        <a:ext cx="2023904" cy="810260"/>
                      </a:xfrm>
                      <a:prstGeom prst="rect">
                        <a:avLst/>
                      </a:prstGeom>
                    </p:spPr>
                  </p:pic>
                </p:oleObj>
              </mc:Fallback>
            </mc:AlternateContent>
          </a:graphicData>
        </a:graphic>
      </p:graphicFrame>
      <p:graphicFrame>
        <p:nvGraphicFramePr>
          <p:cNvPr id="7" name="Object 6" descr="Start fraction start fraction L over a sub start expression L C end expression end fraction over start fraction L to the asterisk power over a to the asterisk power sub start expression L W end expression end fraction">
            <a:extLst>
              <a:ext uri="{FF2B5EF4-FFF2-40B4-BE49-F238E27FC236}">
                <a16:creationId xmlns:a16="http://schemas.microsoft.com/office/drawing/2014/main" id="{D067B0A1-7B54-400C-9F79-3327EE5A0929}"/>
              </a:ext>
            </a:extLst>
          </p:cNvPr>
          <p:cNvGraphicFramePr>
            <a:graphicFrameLocks noChangeAspect="1"/>
          </p:cNvGraphicFramePr>
          <p:nvPr>
            <p:extLst>
              <p:ext uri="{D42A27DB-BD31-4B8C-83A1-F6EECF244321}">
                <p14:modId xmlns:p14="http://schemas.microsoft.com/office/powerpoint/2010/main" val="4280164687"/>
              </p:ext>
            </p:extLst>
          </p:nvPr>
        </p:nvGraphicFramePr>
        <p:xfrm>
          <a:off x="4325661" y="4943187"/>
          <a:ext cx="734579" cy="1105477"/>
        </p:xfrm>
        <a:graphic>
          <a:graphicData uri="http://schemas.openxmlformats.org/presentationml/2006/ole">
            <mc:AlternateContent xmlns:mc="http://schemas.openxmlformats.org/markup-compatibility/2006">
              <mc:Choice xmlns:v="urn:schemas-microsoft-com:vml" Requires="v">
                <p:oleObj name="Equation" r:id="rId5" imgW="457200" imgH="685800" progId="Equation.DSMT4">
                  <p:embed/>
                </p:oleObj>
              </mc:Choice>
              <mc:Fallback>
                <p:oleObj name="Equation" r:id="rId5" imgW="457200" imgH="685800" progId="Equation.DSMT4">
                  <p:embed/>
                  <p:pic>
                    <p:nvPicPr>
                      <p:cNvPr id="12" name="Object 11"/>
                      <p:cNvPicPr/>
                      <p:nvPr/>
                    </p:nvPicPr>
                    <p:blipFill>
                      <a:blip r:embed="rId6"/>
                      <a:stretch>
                        <a:fillRect/>
                      </a:stretch>
                    </p:blipFill>
                    <p:spPr>
                      <a:xfrm>
                        <a:off x="4325661" y="4943187"/>
                        <a:ext cx="734579" cy="1105477"/>
                      </a:xfrm>
                      <a:prstGeom prst="rect">
                        <a:avLst/>
                      </a:prstGeom>
                    </p:spPr>
                  </p:pic>
                </p:oleObj>
              </mc:Fallback>
            </mc:AlternateContent>
          </a:graphicData>
        </a:graphic>
      </p:graphicFrame>
    </p:spTree>
    <p:extLst>
      <p:ext uri="{BB962C8B-B14F-4D97-AF65-F5344CB8AC3E}">
        <p14:creationId xmlns:p14="http://schemas.microsoft.com/office/powerpoint/2010/main" val="3905580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(5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871543"/>
          </a:xfrm>
        </p:spPr>
        <p:txBody>
          <a:bodyPr/>
          <a:lstStyle/>
          <a:p>
            <a:r>
              <a:rPr lang="en-US" altLang="en-US" dirty="0">
                <a:ea typeface="ヒラギノ角ゴ Pro W3" pitchFamily="-84" charset="-128"/>
              </a:rPr>
              <a:t>When the relative price of cheese equals the opportunity cost in the foreign country</a:t>
            </a:r>
            <a:endParaRPr lang="en-US"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646101"/>
            <a:ext cx="8229600" cy="1808767"/>
          </a:xfrm>
        </p:spPr>
        <p:txBody>
          <a:bodyPr/>
          <a:lstStyle/>
          <a:p>
            <a:pPr lvl="1"/>
            <a:r>
              <a:rPr lang="en-US" altLang="en-US" dirty="0">
                <a:ea typeface="ヒラギノ角ゴ Pro W3" pitchFamily="-84" charset="-128"/>
              </a:rPr>
              <a:t>Foreign workers are indifferent about producing wine or cheese (wage when producing wine same as wage when producing cheese).</a:t>
            </a:r>
          </a:p>
          <a:p>
            <a:pPr lvl="1"/>
            <a:r>
              <a:rPr lang="en-US" altLang="en-US" dirty="0">
                <a:ea typeface="ヒラギノ角ゴ Pro W3" pitchFamily="-84" charset="-128"/>
              </a:rPr>
              <a:t>Domestic workers produce only cheese.</a:t>
            </a:r>
            <a:endParaRPr lang="en-US" dirty="0"/>
          </a:p>
        </p:txBody>
      </p:sp>
      <p:graphicFrame>
        <p:nvGraphicFramePr>
          <p:cNvPr id="5" name="Object 4" descr="A formula. For long description in Notes pane, press F6.">
            <a:extLst>
              <a:ext uri="{FF2B5EF4-FFF2-40B4-BE49-F238E27FC236}">
                <a16:creationId xmlns:a16="http://schemas.microsoft.com/office/drawing/2014/main" id="{43D90661-D52C-4059-BF83-F5E5AD2D7208}"/>
              </a:ext>
            </a:extLst>
          </p:cNvPr>
          <p:cNvGraphicFramePr>
            <a:graphicFrameLocks noChangeAspect="1"/>
          </p:cNvGraphicFramePr>
          <p:nvPr>
            <p:extLst>
              <p:ext uri="{D42A27DB-BD31-4B8C-83A1-F6EECF244321}">
                <p14:modId xmlns:p14="http://schemas.microsoft.com/office/powerpoint/2010/main" val="1929465784"/>
              </p:ext>
            </p:extLst>
          </p:nvPr>
        </p:nvGraphicFramePr>
        <p:xfrm>
          <a:off x="3557508" y="2634717"/>
          <a:ext cx="2027396" cy="810260"/>
        </p:xfrm>
        <a:graphic>
          <a:graphicData uri="http://schemas.openxmlformats.org/presentationml/2006/ole">
            <mc:AlternateContent xmlns:mc="http://schemas.openxmlformats.org/markup-compatibility/2006">
              <mc:Choice xmlns:v="urn:schemas-microsoft-com:vml" Requires="v">
                <p:oleObj name="Equation" r:id="rId3" imgW="1842706" imgH="736174" progId="Equation.DSMT4">
                  <p:embed/>
                </p:oleObj>
              </mc:Choice>
              <mc:Fallback>
                <p:oleObj name="Equation" r:id="rId3" imgW="1842706" imgH="736174" progId="Equation.DSMT4">
                  <p:embed/>
                  <p:pic>
                    <p:nvPicPr>
                      <p:cNvPr id="0" name=""/>
                      <p:cNvPicPr/>
                      <p:nvPr/>
                    </p:nvPicPr>
                    <p:blipFill>
                      <a:blip r:embed="rId4"/>
                      <a:stretch>
                        <a:fillRect/>
                      </a:stretch>
                    </p:blipFill>
                    <p:spPr>
                      <a:xfrm>
                        <a:off x="3557508" y="2634717"/>
                        <a:ext cx="2027396" cy="810260"/>
                      </a:xfrm>
                      <a:prstGeom prst="rect">
                        <a:avLst/>
                      </a:prstGeom>
                    </p:spPr>
                  </p:pic>
                </p:oleObj>
              </mc:Fallback>
            </mc:AlternateContent>
          </a:graphicData>
        </a:graphic>
      </p:graphicFrame>
    </p:spTree>
    <p:extLst>
      <p:ext uri="{BB962C8B-B14F-4D97-AF65-F5344CB8AC3E}">
        <p14:creationId xmlns:p14="http://schemas.microsoft.com/office/powerpoint/2010/main" val="3149089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8520B-613F-453A-BC80-D6C1B249A223}"/>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(6 of 8)</a:t>
            </a:r>
            <a:endParaRPr lang="en-IN" dirty="0">
              <a:solidFill>
                <a:schemeClr val="tx1"/>
              </a:solidFill>
            </a:endParaRPr>
          </a:p>
        </p:txBody>
      </p:sp>
      <p:sp>
        <p:nvSpPr>
          <p:cNvPr id="3" name="Content Placeholder 2">
            <a:extLst>
              <a:ext uri="{FF2B5EF4-FFF2-40B4-BE49-F238E27FC236}">
                <a16:creationId xmlns:a16="http://schemas.microsoft.com/office/drawing/2014/main" id="{2C9C969A-85CA-4F80-A4BF-DEA06DF7CA52}"/>
              </a:ext>
            </a:extLst>
          </p:cNvPr>
          <p:cNvSpPr>
            <a:spLocks noGrp="1"/>
          </p:cNvSpPr>
          <p:nvPr>
            <p:ph sz="quarter" idx="13"/>
          </p:nvPr>
        </p:nvSpPr>
        <p:spPr>
          <a:xfrm>
            <a:off x="457200" y="1556327"/>
            <a:ext cx="8229600" cy="871543"/>
          </a:xfrm>
        </p:spPr>
        <p:txBody>
          <a:bodyPr/>
          <a:lstStyle/>
          <a:p>
            <a:r>
              <a:rPr lang="en-US" altLang="en-US" sz="2400" dirty="0">
                <a:ea typeface="ヒラギノ角ゴ Pro W3" pitchFamily="-84" charset="-128"/>
              </a:rPr>
              <a:t>If the relative price of cheese rises above the opportunity cost of cheese in both countries</a:t>
            </a:r>
            <a:endParaRPr lang="en-US" sz="2400" dirty="0"/>
          </a:p>
        </p:txBody>
      </p:sp>
      <p:sp>
        <p:nvSpPr>
          <p:cNvPr id="4" name="Content Placeholder 3">
            <a:extLst>
              <a:ext uri="{FF2B5EF4-FFF2-40B4-BE49-F238E27FC236}">
                <a16:creationId xmlns:a16="http://schemas.microsoft.com/office/drawing/2014/main" id="{0FF27083-2337-4C5A-82FF-36D0CA3956BB}"/>
              </a:ext>
            </a:extLst>
          </p:cNvPr>
          <p:cNvSpPr>
            <a:spLocks noGrp="1"/>
          </p:cNvSpPr>
          <p:nvPr>
            <p:ph sz="quarter" idx="14"/>
          </p:nvPr>
        </p:nvSpPr>
        <p:spPr>
          <a:xfrm>
            <a:off x="457200" y="3646101"/>
            <a:ext cx="8229600" cy="1472437"/>
          </a:xfrm>
        </p:spPr>
        <p:txBody>
          <a:bodyPr/>
          <a:lstStyle/>
          <a:p>
            <a:pPr lvl="1"/>
            <a:r>
              <a:rPr lang="en-US" altLang="en-US" sz="2400" dirty="0">
                <a:ea typeface="ヒラギノ角ゴ Pro W3" pitchFamily="-84" charset="-128"/>
              </a:rPr>
              <a:t>No wine is produced.</a:t>
            </a:r>
          </a:p>
          <a:p>
            <a:pPr lvl="1"/>
            <a:r>
              <a:rPr lang="en-US" altLang="en-US" sz="2400" dirty="0">
                <a:ea typeface="ヒラギノ角ゴ Pro W3" pitchFamily="-84" charset="-128"/>
              </a:rPr>
              <a:t>Domestic and foreign workers are willing to produce only cheese (where wage is higher).</a:t>
            </a:r>
            <a:endParaRPr lang="en-US" sz="2400" dirty="0"/>
          </a:p>
        </p:txBody>
      </p:sp>
      <p:graphicFrame>
        <p:nvGraphicFramePr>
          <p:cNvPr id="6" name="Object 5" descr="A formula. For long description in Notes pane, press F6.">
            <a:extLst>
              <a:ext uri="{FF2B5EF4-FFF2-40B4-BE49-F238E27FC236}">
                <a16:creationId xmlns:a16="http://schemas.microsoft.com/office/drawing/2014/main" id="{90342FBC-0D78-48DF-B348-1E8389401D9F}"/>
              </a:ext>
            </a:extLst>
          </p:cNvPr>
          <p:cNvGraphicFramePr>
            <a:graphicFrameLocks noChangeAspect="1"/>
          </p:cNvGraphicFramePr>
          <p:nvPr>
            <p:extLst>
              <p:ext uri="{D42A27DB-BD31-4B8C-83A1-F6EECF244321}">
                <p14:modId xmlns:p14="http://schemas.microsoft.com/office/powerpoint/2010/main" val="3577066884"/>
              </p:ext>
            </p:extLst>
          </p:nvPr>
        </p:nvGraphicFramePr>
        <p:xfrm>
          <a:off x="3557508" y="2567622"/>
          <a:ext cx="2027396" cy="810260"/>
        </p:xfrm>
        <a:graphic>
          <a:graphicData uri="http://schemas.openxmlformats.org/presentationml/2006/ole">
            <mc:AlternateContent xmlns:mc="http://schemas.openxmlformats.org/markup-compatibility/2006">
              <mc:Choice xmlns:v="urn:schemas-microsoft-com:vml" Requires="v">
                <p:oleObj name="Equation" r:id="rId3" imgW="1842706" imgH="736174" progId="Equation.DSMT4">
                  <p:embed/>
                </p:oleObj>
              </mc:Choice>
              <mc:Fallback>
                <p:oleObj name="Equation" r:id="rId3" imgW="1842706" imgH="736174" progId="Equation.DSMT4">
                  <p:embed/>
                  <p:pic>
                    <p:nvPicPr>
                      <p:cNvPr id="0" name=""/>
                      <p:cNvPicPr/>
                      <p:nvPr/>
                    </p:nvPicPr>
                    <p:blipFill>
                      <a:blip r:embed="rId4"/>
                      <a:stretch>
                        <a:fillRect/>
                      </a:stretch>
                    </p:blipFill>
                    <p:spPr>
                      <a:xfrm>
                        <a:off x="3557508" y="2567622"/>
                        <a:ext cx="2027396" cy="810260"/>
                      </a:xfrm>
                      <a:prstGeom prst="rect">
                        <a:avLst/>
                      </a:prstGeom>
                    </p:spPr>
                  </p:pic>
                </p:oleObj>
              </mc:Fallback>
            </mc:AlternateContent>
          </a:graphicData>
        </a:graphic>
      </p:graphicFrame>
    </p:spTree>
    <p:extLst>
      <p:ext uri="{BB962C8B-B14F-4D97-AF65-F5344CB8AC3E}">
        <p14:creationId xmlns:p14="http://schemas.microsoft.com/office/powerpoint/2010/main" val="3748619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776B-F05A-4E91-AE4D-3027F88B7BE7}"/>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(7 of 8)</a:t>
            </a:r>
            <a:endParaRPr lang="en-IN" sz="2000" dirty="0">
              <a:solidFill>
                <a:schemeClr val="tx1"/>
              </a:solidFill>
            </a:endParaRPr>
          </a:p>
        </p:txBody>
      </p:sp>
      <p:sp>
        <p:nvSpPr>
          <p:cNvPr id="3" name="Content Placeholder 2">
            <a:extLst>
              <a:ext uri="{FF2B5EF4-FFF2-40B4-BE49-F238E27FC236}">
                <a16:creationId xmlns:a16="http://schemas.microsoft.com/office/drawing/2014/main" id="{5C3709AE-A128-4C29-BA7A-788789E10A2C}"/>
              </a:ext>
            </a:extLst>
          </p:cNvPr>
          <p:cNvSpPr>
            <a:spLocks noGrp="1"/>
          </p:cNvSpPr>
          <p:nvPr>
            <p:ph sz="quarter" idx="13"/>
          </p:nvPr>
        </p:nvSpPr>
        <p:spPr>
          <a:xfrm>
            <a:off x="457200" y="1593309"/>
            <a:ext cx="4473615" cy="413291"/>
          </a:xfrm>
        </p:spPr>
        <p:txBody>
          <a:bodyPr/>
          <a:lstStyle/>
          <a:p>
            <a:r>
              <a:rPr lang="en-US" altLang="en-US" sz="1800" dirty="0">
                <a:ea typeface="ヒラギノ角ゴ Pro W3" pitchFamily="-84" charset="-128"/>
              </a:rPr>
              <a:t>World relative supply is a step function:</a:t>
            </a:r>
          </a:p>
        </p:txBody>
      </p:sp>
      <p:sp>
        <p:nvSpPr>
          <p:cNvPr id="4" name="Content Placeholder 3">
            <a:extLst>
              <a:ext uri="{FF2B5EF4-FFF2-40B4-BE49-F238E27FC236}">
                <a16:creationId xmlns:a16="http://schemas.microsoft.com/office/drawing/2014/main" id="{3873E4F7-3AE0-4E32-B3A0-9275CEA26E41}"/>
              </a:ext>
            </a:extLst>
          </p:cNvPr>
          <p:cNvSpPr>
            <a:spLocks noGrp="1"/>
          </p:cNvSpPr>
          <p:nvPr>
            <p:ph sz="quarter" idx="14"/>
          </p:nvPr>
        </p:nvSpPr>
        <p:spPr>
          <a:xfrm>
            <a:off x="457200" y="2063852"/>
            <a:ext cx="6591782" cy="438048"/>
          </a:xfrm>
        </p:spPr>
        <p:txBody>
          <a:bodyPr/>
          <a:lstStyle/>
          <a:p>
            <a:pPr lvl="1"/>
            <a:r>
              <a:rPr lang="en-US" altLang="en-US" sz="1800" dirty="0">
                <a:ea typeface="ヒラギノ角ゴ Pro W3" pitchFamily="-84" charset="-128"/>
              </a:rPr>
              <a:t>First step at relative price of cheese equal to Home’</a:t>
            </a:r>
            <a:r>
              <a:rPr lang="en-US" altLang="ja-JP" sz="1800" dirty="0">
                <a:ea typeface="ヒラギノ角ゴ Pro W3" pitchFamily="-84" charset="-128"/>
              </a:rPr>
              <a:t>s</a:t>
            </a:r>
            <a:endParaRPr lang="en-US" sz="1800" dirty="0"/>
          </a:p>
        </p:txBody>
      </p:sp>
      <p:sp>
        <p:nvSpPr>
          <p:cNvPr id="5" name="Content Placeholder 4">
            <a:extLst>
              <a:ext uri="{FF2B5EF4-FFF2-40B4-BE49-F238E27FC236}">
                <a16:creationId xmlns:a16="http://schemas.microsoft.com/office/drawing/2014/main" id="{003D5EB6-F77F-4700-8461-6393562C52D3}"/>
              </a:ext>
            </a:extLst>
          </p:cNvPr>
          <p:cNvSpPr>
            <a:spLocks noGrp="1"/>
          </p:cNvSpPr>
          <p:nvPr>
            <p:ph sz="quarter" idx="15"/>
          </p:nvPr>
        </p:nvSpPr>
        <p:spPr>
          <a:xfrm>
            <a:off x="457201" y="2565282"/>
            <a:ext cx="2552218" cy="447404"/>
          </a:xfrm>
        </p:spPr>
        <p:txBody>
          <a:bodyPr/>
          <a:lstStyle/>
          <a:p>
            <a:pPr marL="741600" lvl="1" indent="0">
              <a:buNone/>
            </a:pPr>
            <a:r>
              <a:rPr lang="en-US" altLang="ja-JP" sz="1800" dirty="0">
                <a:ea typeface="ヒラギノ角ゴ Pro W3" pitchFamily="-84" charset="-128"/>
              </a:rPr>
              <a:t>opportunity cost</a:t>
            </a:r>
          </a:p>
        </p:txBody>
      </p:sp>
      <p:sp>
        <p:nvSpPr>
          <p:cNvPr id="6" name="Content Placeholder 5">
            <a:extLst>
              <a:ext uri="{FF2B5EF4-FFF2-40B4-BE49-F238E27FC236}">
                <a16:creationId xmlns:a16="http://schemas.microsoft.com/office/drawing/2014/main" id="{549C7C3C-7FCD-462A-B7A9-6EE208567C7E}"/>
              </a:ext>
            </a:extLst>
          </p:cNvPr>
          <p:cNvSpPr>
            <a:spLocks noGrp="1"/>
          </p:cNvSpPr>
          <p:nvPr>
            <p:ph sz="quarter" idx="16"/>
          </p:nvPr>
        </p:nvSpPr>
        <p:spPr>
          <a:xfrm>
            <a:off x="5103857" y="2591626"/>
            <a:ext cx="1776714" cy="394716"/>
          </a:xfrm>
        </p:spPr>
        <p:txBody>
          <a:bodyPr/>
          <a:lstStyle/>
          <a:p>
            <a:pPr marL="0" lvl="1" indent="0">
              <a:buNone/>
            </a:pPr>
            <a:r>
              <a:rPr lang="en-US" altLang="ja-JP" dirty="0">
                <a:ea typeface="ヒラギノ角ゴ Pro W3" pitchFamily="-84" charset="-128"/>
              </a:rPr>
              <a:t>in the example.</a:t>
            </a:r>
            <a:endParaRPr lang="en-US" dirty="0"/>
          </a:p>
        </p:txBody>
      </p:sp>
      <p:sp>
        <p:nvSpPr>
          <p:cNvPr id="7" name="Content Placeholder 6">
            <a:extLst>
              <a:ext uri="{FF2B5EF4-FFF2-40B4-BE49-F238E27FC236}">
                <a16:creationId xmlns:a16="http://schemas.microsoft.com/office/drawing/2014/main" id="{7C390957-4593-4556-87F7-BE424C1CC471}"/>
              </a:ext>
            </a:extLst>
          </p:cNvPr>
          <p:cNvSpPr>
            <a:spLocks noGrp="1"/>
          </p:cNvSpPr>
          <p:nvPr>
            <p:ph sz="quarter" idx="17"/>
          </p:nvPr>
        </p:nvSpPr>
        <p:spPr>
          <a:xfrm>
            <a:off x="457200" y="3192356"/>
            <a:ext cx="7239000" cy="696732"/>
          </a:xfrm>
        </p:spPr>
        <p:txBody>
          <a:bodyPr/>
          <a:lstStyle/>
          <a:p>
            <a:pPr lvl="1"/>
            <a:r>
              <a:rPr lang="en-US" altLang="en-US" sz="1800" dirty="0">
                <a:ea typeface="ヒラギノ角ゴ Pro W3" pitchFamily="-84" charset="-128"/>
              </a:rPr>
              <a:t>Jumps when world relative supply of cheese equals Home’</a:t>
            </a:r>
            <a:r>
              <a:rPr lang="en-US" altLang="ja-JP" sz="1800" dirty="0">
                <a:ea typeface="ヒラギノ角ゴ Pro W3" pitchFamily="-84" charset="-128"/>
              </a:rPr>
              <a:t>s maximum cheese production divided by Foreign’s</a:t>
            </a:r>
            <a:endParaRPr lang="en-US" sz="1800" dirty="0"/>
          </a:p>
        </p:txBody>
      </p:sp>
      <p:sp>
        <p:nvSpPr>
          <p:cNvPr id="8" name="Content Placeholder 7">
            <a:extLst>
              <a:ext uri="{FF2B5EF4-FFF2-40B4-BE49-F238E27FC236}">
                <a16:creationId xmlns:a16="http://schemas.microsoft.com/office/drawing/2014/main" id="{721BDE6C-8C86-4887-9CA3-127BE94AA83A}"/>
              </a:ext>
            </a:extLst>
          </p:cNvPr>
          <p:cNvSpPr>
            <a:spLocks noGrp="1"/>
          </p:cNvSpPr>
          <p:nvPr>
            <p:ph sz="quarter" idx="18"/>
          </p:nvPr>
        </p:nvSpPr>
        <p:spPr>
          <a:xfrm>
            <a:off x="457199" y="3972464"/>
            <a:ext cx="3605516" cy="425083"/>
          </a:xfrm>
        </p:spPr>
        <p:txBody>
          <a:bodyPr/>
          <a:lstStyle/>
          <a:p>
            <a:pPr marL="741600" lvl="1" indent="0">
              <a:buNone/>
            </a:pPr>
            <a:r>
              <a:rPr lang="en-US" altLang="ja-JP" sz="1800" dirty="0">
                <a:ea typeface="ヒラギノ角ゴ Pro W3" pitchFamily="-84" charset="-128"/>
              </a:rPr>
              <a:t>maximum wine production</a:t>
            </a:r>
            <a:endParaRPr lang="en-IN" dirty="0"/>
          </a:p>
        </p:txBody>
      </p:sp>
      <p:sp>
        <p:nvSpPr>
          <p:cNvPr id="9" name="Content Placeholder 8">
            <a:extLst>
              <a:ext uri="{FF2B5EF4-FFF2-40B4-BE49-F238E27FC236}">
                <a16:creationId xmlns:a16="http://schemas.microsoft.com/office/drawing/2014/main" id="{4379F203-1256-4127-B4EF-A8278398F4D0}"/>
              </a:ext>
            </a:extLst>
          </p:cNvPr>
          <p:cNvSpPr>
            <a:spLocks noGrp="1"/>
          </p:cNvSpPr>
          <p:nvPr>
            <p:ph sz="quarter" idx="19"/>
          </p:nvPr>
        </p:nvSpPr>
        <p:spPr>
          <a:xfrm>
            <a:off x="4762826" y="4001773"/>
            <a:ext cx="2714263" cy="395774"/>
          </a:xfrm>
        </p:spPr>
        <p:txBody>
          <a:bodyPr/>
          <a:lstStyle/>
          <a:p>
            <a:pPr marL="0" lvl="1" indent="0">
              <a:buNone/>
            </a:pPr>
            <a:r>
              <a:rPr lang="en-US" altLang="ja-JP" dirty="0">
                <a:ea typeface="ヒラギノ角ゴ Pro W3" pitchFamily="-84" charset="-128"/>
              </a:rPr>
              <a:t>which equals 1 in the</a:t>
            </a:r>
            <a:endParaRPr lang="en-IN" dirty="0"/>
          </a:p>
        </p:txBody>
      </p:sp>
      <p:sp>
        <p:nvSpPr>
          <p:cNvPr id="10" name="Content Placeholder 9">
            <a:extLst>
              <a:ext uri="{FF2B5EF4-FFF2-40B4-BE49-F238E27FC236}">
                <a16:creationId xmlns:a16="http://schemas.microsoft.com/office/drawing/2014/main" id="{3B2C4E2D-26AD-4D0D-BBCF-3DC4D6D456F7}"/>
              </a:ext>
            </a:extLst>
          </p:cNvPr>
          <p:cNvSpPr>
            <a:spLocks noGrp="1"/>
          </p:cNvSpPr>
          <p:nvPr>
            <p:ph sz="quarter" idx="20"/>
          </p:nvPr>
        </p:nvSpPr>
        <p:spPr>
          <a:xfrm>
            <a:off x="495301" y="4457370"/>
            <a:ext cx="2066081" cy="425083"/>
          </a:xfrm>
        </p:spPr>
        <p:txBody>
          <a:bodyPr/>
          <a:lstStyle/>
          <a:p>
            <a:pPr marL="741600" lvl="1" indent="0">
              <a:buNone/>
            </a:pPr>
            <a:r>
              <a:rPr lang="en-US" altLang="ja-JP" dirty="0">
                <a:ea typeface="ヒラギノ角ゴ Pro W3" pitchFamily="-84" charset="-128"/>
              </a:rPr>
              <a:t>example.</a:t>
            </a:r>
            <a:endParaRPr lang="en-IN" dirty="0"/>
          </a:p>
        </p:txBody>
      </p:sp>
      <p:sp>
        <p:nvSpPr>
          <p:cNvPr id="11" name="Content Placeholder 10">
            <a:extLst>
              <a:ext uri="{FF2B5EF4-FFF2-40B4-BE49-F238E27FC236}">
                <a16:creationId xmlns:a16="http://schemas.microsoft.com/office/drawing/2014/main" id="{F4CA822D-FCDC-4FD3-B64E-6941A9CA8F0D}"/>
              </a:ext>
            </a:extLst>
          </p:cNvPr>
          <p:cNvSpPr>
            <a:spLocks noGrp="1"/>
          </p:cNvSpPr>
          <p:nvPr>
            <p:ph sz="quarter" idx="21"/>
          </p:nvPr>
        </p:nvSpPr>
        <p:spPr>
          <a:xfrm>
            <a:off x="457199" y="4982749"/>
            <a:ext cx="6950597" cy="413439"/>
          </a:xfrm>
        </p:spPr>
        <p:txBody>
          <a:bodyPr/>
          <a:lstStyle/>
          <a:p>
            <a:pPr lvl="1"/>
            <a:r>
              <a:rPr lang="en-US" altLang="en-US" sz="1800" dirty="0">
                <a:ea typeface="ヒラギノ角ゴ Pro W3" pitchFamily="-84" charset="-128"/>
              </a:rPr>
              <a:t>Second step at relative price of cheese equal to Foreign’</a:t>
            </a:r>
            <a:r>
              <a:rPr lang="en-US" altLang="ja-JP" sz="1800" dirty="0">
                <a:ea typeface="ヒラギノ角ゴ Pro W3" pitchFamily="-84" charset="-128"/>
              </a:rPr>
              <a:t>s</a:t>
            </a:r>
            <a:endParaRPr lang="en-IN" dirty="0"/>
          </a:p>
        </p:txBody>
      </p:sp>
      <p:sp>
        <p:nvSpPr>
          <p:cNvPr id="12" name="Content Placeholder 11">
            <a:extLst>
              <a:ext uri="{FF2B5EF4-FFF2-40B4-BE49-F238E27FC236}">
                <a16:creationId xmlns:a16="http://schemas.microsoft.com/office/drawing/2014/main" id="{54D858DE-2E61-4BA2-903A-7E4CB9690109}"/>
              </a:ext>
            </a:extLst>
          </p:cNvPr>
          <p:cNvSpPr>
            <a:spLocks noGrp="1"/>
          </p:cNvSpPr>
          <p:nvPr>
            <p:ph sz="quarter" idx="22"/>
          </p:nvPr>
        </p:nvSpPr>
        <p:spPr>
          <a:xfrm>
            <a:off x="457201" y="5562649"/>
            <a:ext cx="2578099" cy="423557"/>
          </a:xfrm>
        </p:spPr>
        <p:txBody>
          <a:bodyPr/>
          <a:lstStyle/>
          <a:p>
            <a:pPr marL="741600" lvl="1" indent="0">
              <a:buNone/>
            </a:pPr>
            <a:r>
              <a:rPr lang="en-US" altLang="ja-JP" dirty="0">
                <a:ea typeface="ヒラギノ角ゴ Pro W3" pitchFamily="-84" charset="-128"/>
              </a:rPr>
              <a:t>opportunity cost</a:t>
            </a:r>
            <a:endParaRPr lang="en-IN" dirty="0"/>
          </a:p>
        </p:txBody>
      </p:sp>
      <p:sp>
        <p:nvSpPr>
          <p:cNvPr id="27" name="Content Placeholder 26">
            <a:extLst>
              <a:ext uri="{FF2B5EF4-FFF2-40B4-BE49-F238E27FC236}">
                <a16:creationId xmlns:a16="http://schemas.microsoft.com/office/drawing/2014/main" id="{F3E621F8-4EA4-40F0-81C0-7B7CAEE95030}"/>
              </a:ext>
            </a:extLst>
          </p:cNvPr>
          <p:cNvSpPr>
            <a:spLocks noGrp="1"/>
          </p:cNvSpPr>
          <p:nvPr>
            <p:ph sz="quarter" idx="23"/>
          </p:nvPr>
        </p:nvSpPr>
        <p:spPr>
          <a:xfrm>
            <a:off x="3727653" y="5561763"/>
            <a:ext cx="3524047" cy="417275"/>
          </a:xfrm>
        </p:spPr>
        <p:txBody>
          <a:bodyPr/>
          <a:lstStyle/>
          <a:p>
            <a:pPr marL="0" lvl="1" indent="0">
              <a:spcBef>
                <a:spcPts val="1500"/>
              </a:spcBef>
              <a:buNone/>
            </a:pPr>
            <a:r>
              <a:rPr lang="en-US" altLang="ja-JP" sz="1800" dirty="0">
                <a:ea typeface="ヒラギノ角ゴ Pro W3" pitchFamily="-84" charset="-128"/>
              </a:rPr>
              <a:t>which equals 2 in the example.</a:t>
            </a:r>
            <a:endParaRPr lang="en-US" sz="1800" dirty="0"/>
          </a:p>
        </p:txBody>
      </p:sp>
      <p:graphicFrame>
        <p:nvGraphicFramePr>
          <p:cNvPr id="44" name="Object 43" descr="Start fraction a sub start expression L C end expression over a sub start expression L W end expression end fraction, which equals 1 half">
            <a:extLst>
              <a:ext uri="{FF2B5EF4-FFF2-40B4-BE49-F238E27FC236}">
                <a16:creationId xmlns:a16="http://schemas.microsoft.com/office/drawing/2014/main" id="{98A10306-34E1-4D0C-A1BF-24E4551EB46D}"/>
              </a:ext>
            </a:extLst>
          </p:cNvPr>
          <p:cNvGraphicFramePr>
            <a:graphicFrameLocks noChangeAspect="1"/>
          </p:cNvGraphicFramePr>
          <p:nvPr>
            <p:extLst>
              <p:ext uri="{D42A27DB-BD31-4B8C-83A1-F6EECF244321}">
                <p14:modId xmlns:p14="http://schemas.microsoft.com/office/powerpoint/2010/main" val="2193935009"/>
              </p:ext>
            </p:extLst>
          </p:nvPr>
        </p:nvGraphicFramePr>
        <p:xfrm>
          <a:off x="3100168" y="2541936"/>
          <a:ext cx="1910118" cy="591630"/>
        </p:xfrm>
        <a:graphic>
          <a:graphicData uri="http://schemas.openxmlformats.org/presentationml/2006/ole">
            <mc:AlternateContent xmlns:mc="http://schemas.openxmlformats.org/markup-compatibility/2006">
              <mc:Choice xmlns:v="urn:schemas-microsoft-com:vml" Requires="v">
                <p:oleObj name="Equation" r:id="rId2" imgW="1434960" imgH="444240" progId="Equation.DSMT4">
                  <p:embed/>
                </p:oleObj>
              </mc:Choice>
              <mc:Fallback>
                <p:oleObj name="Equation" r:id="rId2" imgW="1434960" imgH="444240" progId="Equation.DSMT4">
                  <p:embed/>
                  <p:pic>
                    <p:nvPicPr>
                      <p:cNvPr id="17" name="Object 16"/>
                      <p:cNvPicPr/>
                      <p:nvPr/>
                    </p:nvPicPr>
                    <p:blipFill>
                      <a:blip r:embed="rId3"/>
                      <a:stretch>
                        <a:fillRect/>
                      </a:stretch>
                    </p:blipFill>
                    <p:spPr>
                      <a:xfrm>
                        <a:off x="3100168" y="2541936"/>
                        <a:ext cx="1910118" cy="591630"/>
                      </a:xfrm>
                      <a:prstGeom prst="rect">
                        <a:avLst/>
                      </a:prstGeom>
                    </p:spPr>
                  </p:pic>
                </p:oleObj>
              </mc:Fallback>
            </mc:AlternateContent>
          </a:graphicData>
        </a:graphic>
      </p:graphicFrame>
      <p:graphicFrame>
        <p:nvGraphicFramePr>
          <p:cNvPr id="45" name="Object 44" descr="Start fraction start fraction L over a sub start expression L C end expression end fraction over start fraction L to the asterisk power over a to the asterisk power sub start expression L W end expression end fraction,">
            <a:extLst>
              <a:ext uri="{FF2B5EF4-FFF2-40B4-BE49-F238E27FC236}">
                <a16:creationId xmlns:a16="http://schemas.microsoft.com/office/drawing/2014/main" id="{0D582B75-098C-42D6-ACD2-CF1B95990930}"/>
              </a:ext>
            </a:extLst>
          </p:cNvPr>
          <p:cNvGraphicFramePr>
            <a:graphicFrameLocks noChangeAspect="1"/>
          </p:cNvGraphicFramePr>
          <p:nvPr>
            <p:extLst>
              <p:ext uri="{D42A27DB-BD31-4B8C-83A1-F6EECF244321}">
                <p14:modId xmlns:p14="http://schemas.microsoft.com/office/powerpoint/2010/main" val="2520971445"/>
              </p:ext>
            </p:extLst>
          </p:nvPr>
        </p:nvGraphicFramePr>
        <p:xfrm>
          <a:off x="4133850" y="3957638"/>
          <a:ext cx="558800" cy="754062"/>
        </p:xfrm>
        <a:graphic>
          <a:graphicData uri="http://schemas.openxmlformats.org/presentationml/2006/ole">
            <mc:AlternateContent xmlns:mc="http://schemas.openxmlformats.org/markup-compatibility/2006">
              <mc:Choice xmlns:v="urn:schemas-microsoft-com:vml" Requires="v">
                <p:oleObj name="Equation" r:id="rId4" imgW="507960" imgH="685800" progId="Equation.DSMT4">
                  <p:embed/>
                </p:oleObj>
              </mc:Choice>
              <mc:Fallback>
                <p:oleObj name="Equation" r:id="rId4" imgW="507960" imgH="685800" progId="Equation.DSMT4">
                  <p:embed/>
                  <p:pic>
                    <p:nvPicPr>
                      <p:cNvPr id="18" name="Object 17"/>
                      <p:cNvPicPr/>
                      <p:nvPr/>
                    </p:nvPicPr>
                    <p:blipFill>
                      <a:blip r:embed="rId5"/>
                      <a:stretch>
                        <a:fillRect/>
                      </a:stretch>
                    </p:blipFill>
                    <p:spPr>
                      <a:xfrm>
                        <a:off x="4133850" y="3957638"/>
                        <a:ext cx="558800" cy="754062"/>
                      </a:xfrm>
                      <a:prstGeom prst="rect">
                        <a:avLst/>
                      </a:prstGeom>
                    </p:spPr>
                  </p:pic>
                </p:oleObj>
              </mc:Fallback>
            </mc:AlternateContent>
          </a:graphicData>
        </a:graphic>
      </p:graphicFrame>
      <p:graphicFrame>
        <p:nvGraphicFramePr>
          <p:cNvPr id="46" name="Object 45" descr="start fraction a to the asterisk power sub start expression L C end expression over a to the asterisk power sub start expression L W end expression end fraction,">
            <a:extLst>
              <a:ext uri="{FF2B5EF4-FFF2-40B4-BE49-F238E27FC236}">
                <a16:creationId xmlns:a16="http://schemas.microsoft.com/office/drawing/2014/main" id="{26D3BC36-B89C-451F-9CDE-D4EEE73A1224}"/>
              </a:ext>
            </a:extLst>
          </p:cNvPr>
          <p:cNvGraphicFramePr>
            <a:graphicFrameLocks noChangeAspect="1"/>
          </p:cNvGraphicFramePr>
          <p:nvPr>
            <p:extLst>
              <p:ext uri="{D42A27DB-BD31-4B8C-83A1-F6EECF244321}">
                <p14:modId xmlns:p14="http://schemas.microsoft.com/office/powerpoint/2010/main" val="2049645404"/>
              </p:ext>
            </p:extLst>
          </p:nvPr>
        </p:nvGraphicFramePr>
        <p:xfrm>
          <a:off x="3106839" y="5470417"/>
          <a:ext cx="490537" cy="608012"/>
        </p:xfrm>
        <a:graphic>
          <a:graphicData uri="http://schemas.openxmlformats.org/presentationml/2006/ole">
            <mc:AlternateContent xmlns:mc="http://schemas.openxmlformats.org/markup-compatibility/2006">
              <mc:Choice xmlns:v="urn:schemas-microsoft-com:vml" Requires="v">
                <p:oleObj name="Equation" r:id="rId6" imgW="368280" imgH="457200" progId="Equation.DSMT4">
                  <p:embed/>
                </p:oleObj>
              </mc:Choice>
              <mc:Fallback>
                <p:oleObj name="Equation" r:id="rId6" imgW="368280" imgH="457200" progId="Equation.DSMT4">
                  <p:embed/>
                  <p:pic>
                    <p:nvPicPr>
                      <p:cNvPr id="19" name="Object 18"/>
                      <p:cNvPicPr/>
                      <p:nvPr/>
                    </p:nvPicPr>
                    <p:blipFill>
                      <a:blip r:embed="rId7"/>
                      <a:stretch>
                        <a:fillRect/>
                      </a:stretch>
                    </p:blipFill>
                    <p:spPr>
                      <a:xfrm>
                        <a:off x="3106839" y="5470417"/>
                        <a:ext cx="490537" cy="608012"/>
                      </a:xfrm>
                      <a:prstGeom prst="rect">
                        <a:avLst/>
                      </a:prstGeom>
                    </p:spPr>
                  </p:pic>
                </p:oleObj>
              </mc:Fallback>
            </mc:AlternateContent>
          </a:graphicData>
        </a:graphic>
      </p:graphicFrame>
    </p:spTree>
    <p:extLst>
      <p:ext uri="{BB962C8B-B14F-4D97-AF65-F5344CB8AC3E}">
        <p14:creationId xmlns:p14="http://schemas.microsoft.com/office/powerpoint/2010/main" val="3688088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178B2-8C76-40E9-AC62-36005F374FF7}"/>
              </a:ext>
            </a:extLst>
          </p:cNvPr>
          <p:cNvSpPr>
            <a:spLocks noGrp="1"/>
          </p:cNvSpPr>
          <p:nvPr>
            <p:ph type="title"/>
          </p:nvPr>
        </p:nvSpPr>
        <p:spPr/>
        <p:txBody>
          <a:bodyPr/>
          <a:lstStyle/>
          <a:p>
            <a:r>
              <a:rPr lang="en-US" sz="3200" dirty="0">
                <a:solidFill>
                  <a:schemeClr val="tx1"/>
                </a:solidFill>
              </a:rPr>
              <a:t>Determining the Relative Price after Trade </a:t>
            </a:r>
            <a:r>
              <a:rPr lang="en-US" altLang="en-US" sz="2000" b="0" dirty="0">
                <a:solidFill>
                  <a:schemeClr val="tx1"/>
                </a:solidFill>
                <a:ea typeface="ヒラギノ角ゴ Pro W3" pitchFamily="-84" charset="-128"/>
              </a:rPr>
              <a:t>(8 of 8)</a:t>
            </a:r>
            <a:endParaRPr lang="en-IN" sz="2000" dirty="0">
              <a:solidFill>
                <a:schemeClr val="tx1"/>
              </a:solidFill>
            </a:endParaRPr>
          </a:p>
        </p:txBody>
      </p:sp>
      <p:sp>
        <p:nvSpPr>
          <p:cNvPr id="3" name="Content Placeholder 2">
            <a:extLst>
              <a:ext uri="{FF2B5EF4-FFF2-40B4-BE49-F238E27FC236}">
                <a16:creationId xmlns:a16="http://schemas.microsoft.com/office/drawing/2014/main" id="{94684B0A-908C-46AB-BBF5-D1E5B03BFA25}"/>
              </a:ext>
            </a:extLst>
          </p:cNvPr>
          <p:cNvSpPr>
            <a:spLocks noGrp="1"/>
          </p:cNvSpPr>
          <p:nvPr>
            <p:ph sz="quarter" idx="13"/>
          </p:nvPr>
        </p:nvSpPr>
        <p:spPr/>
        <p:txBody>
          <a:bodyPr/>
          <a:lstStyle/>
          <a:p>
            <a:pPr>
              <a:spcBef>
                <a:spcPct val="50000"/>
              </a:spcBef>
            </a:pPr>
            <a:r>
              <a:rPr lang="en-US" altLang="en-US" sz="2400" dirty="0">
                <a:ea typeface="ヒラギノ角ゴ Pro W3" pitchFamily="-84" charset="-128"/>
              </a:rPr>
              <a:t>Relative demand of cheese is the quantity of cheese demanded in all countries relative to the quantity of wine demanded in all countries.</a:t>
            </a:r>
          </a:p>
          <a:p>
            <a:pPr>
              <a:spcBef>
                <a:spcPct val="50000"/>
              </a:spcBef>
            </a:pPr>
            <a:r>
              <a:rPr lang="en-US" altLang="en-US" sz="2400" dirty="0">
                <a:ea typeface="ヒラギノ角ゴ Pro W3" pitchFamily="-84" charset="-128"/>
              </a:rPr>
              <a:t>As the price of cheese relative to the price of wine rises, consumers in all countries will tend to purchase less cheese and more wine so that the relative quantity demanded of cheese falls.</a:t>
            </a:r>
            <a:endParaRPr lang="en-US" sz="2400" dirty="0"/>
          </a:p>
        </p:txBody>
      </p:sp>
    </p:spTree>
    <p:extLst>
      <p:ext uri="{BB962C8B-B14F-4D97-AF65-F5344CB8AC3E}">
        <p14:creationId xmlns:p14="http://schemas.microsoft.com/office/powerpoint/2010/main" val="3994440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6077D-A54D-4017-83B3-8C866D9E6CDF}"/>
              </a:ext>
            </a:extLst>
          </p:cNvPr>
          <p:cNvSpPr>
            <a:spLocks noGrp="1"/>
          </p:cNvSpPr>
          <p:nvPr>
            <p:ph type="title"/>
          </p:nvPr>
        </p:nvSpPr>
        <p:spPr/>
        <p:txBody>
          <a:bodyPr/>
          <a:lstStyle/>
          <a:p>
            <a:r>
              <a:rPr lang="en-US" altLang="en-US" sz="3200" dirty="0">
                <a:solidFill>
                  <a:schemeClr val="tx1"/>
                </a:solidFill>
                <a:ea typeface="ヒラギノ角ゴ Pro W3" pitchFamily="-84" charset="-128"/>
              </a:rPr>
              <a:t>Figure 3.3 World Relative Supply and Demand</a:t>
            </a:r>
            <a:endParaRPr lang="en-IN" sz="3200" dirty="0">
              <a:solidFill>
                <a:schemeClr val="tx1"/>
              </a:solidFill>
            </a:endParaRPr>
          </a:p>
        </p:txBody>
      </p:sp>
      <p:pic>
        <p:nvPicPr>
          <p:cNvPr id="6" name="Content Placeholder 5" descr="A graph plots the relative price of cheese, P sub C over P sub W, versus the relative quantity of cheese, ratio, Q sub c + Q asterisk sub C, over Q sub W + Q asterisk sub W. For long description in Notes pane, press F6.">
            <a:extLst>
              <a:ext uri="{FF2B5EF4-FFF2-40B4-BE49-F238E27FC236}">
                <a16:creationId xmlns:a16="http://schemas.microsoft.com/office/drawing/2014/main" id="{4014F134-0D5F-46EB-9C1A-F88E64270BAC}"/>
              </a:ext>
            </a:extLst>
          </p:cNvPr>
          <p:cNvPicPr>
            <a:picLocks noGrp="1" noChangeAspect="1"/>
          </p:cNvPicPr>
          <p:nvPr>
            <p:ph sz="quarter" idx="13"/>
          </p:nvPr>
        </p:nvPicPr>
        <p:blipFill>
          <a:blip r:embed="rId3"/>
          <a:stretch>
            <a:fillRect/>
          </a:stretch>
        </p:blipFill>
        <p:spPr>
          <a:xfrm>
            <a:off x="2536075" y="1486476"/>
            <a:ext cx="3933998" cy="3465045"/>
          </a:xfrm>
        </p:spPr>
      </p:pic>
      <p:sp>
        <p:nvSpPr>
          <p:cNvPr id="4" name="Content Placeholder 3">
            <a:extLst>
              <a:ext uri="{FF2B5EF4-FFF2-40B4-BE49-F238E27FC236}">
                <a16:creationId xmlns:a16="http://schemas.microsoft.com/office/drawing/2014/main" id="{6CDCA609-8080-4D7C-A42E-3AD78D6387A8}"/>
              </a:ext>
            </a:extLst>
          </p:cNvPr>
          <p:cNvSpPr>
            <a:spLocks noGrp="1"/>
          </p:cNvSpPr>
          <p:nvPr>
            <p:ph sz="quarter" idx="14"/>
          </p:nvPr>
        </p:nvSpPr>
        <p:spPr>
          <a:xfrm>
            <a:off x="457200" y="5083095"/>
            <a:ext cx="8407400" cy="1236683"/>
          </a:xfrm>
        </p:spPr>
        <p:txBody>
          <a:bodyPr/>
          <a:lstStyle/>
          <a:p>
            <a:pPr marL="432" indent="0">
              <a:buNone/>
            </a:pPr>
            <a:r>
              <a:rPr lang="en-US" sz="1800" dirty="0"/>
              <a:t>The </a:t>
            </a:r>
            <a:r>
              <a:rPr lang="en-US" sz="1800" i="1" dirty="0"/>
              <a:t>R</a:t>
            </a:r>
            <a:r>
              <a:rPr lang="en-US" sz="100" i="1" dirty="0"/>
              <a:t> </a:t>
            </a:r>
            <a:r>
              <a:rPr lang="en-US" sz="1800" i="1" dirty="0"/>
              <a:t>D </a:t>
            </a:r>
            <a:r>
              <a:rPr lang="en-US" sz="1800" dirty="0"/>
              <a:t>and </a:t>
            </a:r>
            <a:r>
              <a:rPr lang="en-US" sz="1800" i="1" dirty="0"/>
              <a:t>R</a:t>
            </a:r>
            <a:r>
              <a:rPr lang="en-US" sz="100" i="1" dirty="0"/>
              <a:t> </a:t>
            </a:r>
            <a:r>
              <a:rPr lang="en-US" sz="1800" i="1" dirty="0"/>
              <a:t>D</a:t>
            </a:r>
            <a:r>
              <a:rPr lang="en-US" sz="1800" dirty="0"/>
              <a:t>′ curves show that the demand for cheese relative to wine is a decreasing function of the price of cheese relative to that of wine, while the </a:t>
            </a:r>
            <a:r>
              <a:rPr lang="en-US" sz="1800" i="1" dirty="0"/>
              <a:t>R</a:t>
            </a:r>
            <a:r>
              <a:rPr lang="en-US" sz="100" i="1" dirty="0"/>
              <a:t> </a:t>
            </a:r>
            <a:r>
              <a:rPr lang="en-US" sz="1800" i="1" dirty="0"/>
              <a:t>S </a:t>
            </a:r>
            <a:r>
              <a:rPr lang="en-US" sz="1800" dirty="0"/>
              <a:t>curve shows that the supply of cheese relative to wine is an increasing function of the same relative price.</a:t>
            </a:r>
          </a:p>
        </p:txBody>
      </p:sp>
    </p:spTree>
    <p:extLst>
      <p:ext uri="{BB962C8B-B14F-4D97-AF65-F5344CB8AC3E}">
        <p14:creationId xmlns:p14="http://schemas.microsoft.com/office/powerpoint/2010/main" val="2623897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solidFill>
                  <a:schemeClr val="tx1"/>
                </a:solidFill>
                <a:ea typeface="ヒラギノ角ゴ Pro W3" pitchFamily="-84" charset="-128"/>
              </a:rPr>
              <a:t>The Gains from Trade </a:t>
            </a:r>
            <a:r>
              <a:rPr lang="en-US" altLang="en-US" sz="2000" b="0" dirty="0">
                <a:solidFill>
                  <a:schemeClr val="tx1"/>
                </a:solidFill>
                <a:ea typeface="ヒラギノ角ゴ Pro W3" pitchFamily="-84" charset="-128"/>
              </a:rPr>
              <a:t>(1 of 4)</a:t>
            </a:r>
            <a:endParaRPr lang="en-IN" dirty="0">
              <a:solidFill>
                <a:schemeClr val="tx1"/>
              </a:solidFill>
            </a:endParaRPr>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407400" cy="4586896"/>
          </a:xfrm>
        </p:spPr>
        <p:txBody>
          <a:bodyPr/>
          <a:lstStyle/>
          <a:p>
            <a:pPr>
              <a:spcBef>
                <a:spcPct val="50000"/>
              </a:spcBef>
            </a:pPr>
            <a:r>
              <a:rPr lang="en-US" altLang="en-US" sz="2400" dirty="0">
                <a:ea typeface="ヒラギノ角ゴ Pro W3" pitchFamily="-84" charset="-128"/>
              </a:rPr>
              <a:t>Gains from trade come from specializing in the type of production that uses resources most efficiently, and using the income generated from that production to buy the goods and services that countries desire.</a:t>
            </a:r>
          </a:p>
          <a:p>
            <a:pPr lvl="1"/>
            <a:r>
              <a:rPr lang="en-US" altLang="ja-JP" sz="2400" dirty="0">
                <a:ea typeface="ヒラギノ角ゴ Pro W3" pitchFamily="-84" charset="-128"/>
              </a:rPr>
              <a:t>“Using resources most efficiently” means producing a good in which a country has a comparative advantage.</a:t>
            </a:r>
            <a:endParaRPr lang="en-US" sz="2400" dirty="0"/>
          </a:p>
        </p:txBody>
      </p:sp>
    </p:spTree>
    <p:extLst>
      <p:ext uri="{BB962C8B-B14F-4D97-AF65-F5344CB8AC3E}">
        <p14:creationId xmlns:p14="http://schemas.microsoft.com/office/powerpoint/2010/main" val="2019447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solidFill>
                  <a:schemeClr val="tx1"/>
                </a:solidFill>
                <a:ea typeface="ヒラギノ角ゴ Pro W3" pitchFamily="-84" charset="-128"/>
              </a:rPr>
              <a:t>The Gains from Trade </a:t>
            </a:r>
            <a:r>
              <a:rPr lang="en-US" altLang="en-US" sz="2000" b="0" dirty="0">
                <a:solidFill>
                  <a:schemeClr val="tx1"/>
                </a:solidFill>
                <a:ea typeface="ヒラギノ角ゴ Pro W3" pitchFamily="-84" charset="-128"/>
              </a:rPr>
              <a:t>(2 of 4)</a:t>
            </a:r>
            <a:endParaRPr lang="en-IN" dirty="0">
              <a:solidFill>
                <a:schemeClr val="tx1"/>
              </a:solidFill>
            </a:endParaRPr>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407400" cy="3108270"/>
          </a:xfrm>
        </p:spPr>
        <p:txBody>
          <a:bodyPr/>
          <a:lstStyle/>
          <a:p>
            <a:r>
              <a:rPr lang="en-US" altLang="en-US" sz="2400" dirty="0">
                <a:ea typeface="ヒラギノ角ゴ Pro W3" pitchFamily="-84" charset="-128"/>
              </a:rPr>
              <a:t>Domestic workers earn a higher income from cheese production because the relative price of cheese increases with trade.</a:t>
            </a:r>
          </a:p>
          <a:p>
            <a:r>
              <a:rPr lang="en-US" altLang="en-US" sz="2400" dirty="0">
                <a:ea typeface="ヒラギノ角ゴ Pro W3" pitchFamily="-84" charset="-128"/>
              </a:rPr>
              <a:t>Foreign workers earn a higher income from wine production because the relative price of cheese decreases with trade (making cheese cheaper), and the relative price of wine increases with trade.</a:t>
            </a:r>
            <a:endParaRPr lang="en-US" sz="2400" dirty="0"/>
          </a:p>
        </p:txBody>
      </p:sp>
    </p:spTree>
    <p:extLst>
      <p:ext uri="{BB962C8B-B14F-4D97-AF65-F5344CB8AC3E}">
        <p14:creationId xmlns:p14="http://schemas.microsoft.com/office/powerpoint/2010/main" val="4178001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solidFill>
                  <a:schemeClr val="tx1"/>
                </a:solidFill>
                <a:ea typeface="ヒラギノ角ゴ Pro W3" pitchFamily="-84" charset="-128"/>
              </a:rPr>
              <a:t>The Gains from Trade </a:t>
            </a:r>
            <a:r>
              <a:rPr lang="en-US" altLang="en-US" sz="2000" b="0" dirty="0">
                <a:solidFill>
                  <a:schemeClr val="tx1"/>
                </a:solidFill>
                <a:ea typeface="ヒラギノ角ゴ Pro W3" pitchFamily="-84" charset="-128"/>
              </a:rPr>
              <a:t>(3 of 4)</a:t>
            </a:r>
            <a:endParaRPr lang="en-IN" dirty="0">
              <a:solidFill>
                <a:schemeClr val="tx1"/>
              </a:solidFill>
            </a:endParaRPr>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229600" cy="3108270"/>
          </a:xfrm>
        </p:spPr>
        <p:txBody>
          <a:bodyPr/>
          <a:lstStyle/>
          <a:p>
            <a:r>
              <a:rPr lang="en-US" altLang="en-US" sz="2400" dirty="0">
                <a:ea typeface="ヒラギノ角ゴ Pro W3" pitchFamily="-84" charset="-128"/>
              </a:rPr>
              <a:t>Think of trade as an indirect method of production that converts cheese into wine or vice versa.</a:t>
            </a:r>
          </a:p>
          <a:p>
            <a:r>
              <a:rPr lang="en-US" altLang="en-US" sz="2400" dirty="0">
                <a:ea typeface="ヒラギノ角ゴ Pro W3" pitchFamily="-84" charset="-128"/>
              </a:rPr>
              <a:t>Without trade, a country has to allocate resources to produce all of the goods that it wants to consume.</a:t>
            </a:r>
          </a:p>
          <a:p>
            <a:r>
              <a:rPr lang="en-US" altLang="en-US" sz="2400" dirty="0">
                <a:ea typeface="ヒラギノ角ゴ Pro W3" pitchFamily="-84" charset="-128"/>
              </a:rPr>
              <a:t>With trade, a country can specialize its production and exchange for the mix of goods that it wants to consume.</a:t>
            </a:r>
          </a:p>
        </p:txBody>
      </p:sp>
    </p:spTree>
    <p:extLst>
      <p:ext uri="{BB962C8B-B14F-4D97-AF65-F5344CB8AC3E}">
        <p14:creationId xmlns:p14="http://schemas.microsoft.com/office/powerpoint/2010/main" val="1539668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3C3A-14B0-44A7-B3AA-1A2516DC5C94}"/>
              </a:ext>
            </a:extLst>
          </p:cNvPr>
          <p:cNvSpPr>
            <a:spLocks noGrp="1"/>
          </p:cNvSpPr>
          <p:nvPr>
            <p:ph type="title"/>
          </p:nvPr>
        </p:nvSpPr>
        <p:spPr/>
        <p:txBody>
          <a:bodyPr/>
          <a:lstStyle/>
          <a:p>
            <a:r>
              <a:rPr lang="en-US" altLang="en-US" sz="3600" dirty="0">
                <a:solidFill>
                  <a:schemeClr val="tx1"/>
                </a:solidFill>
                <a:ea typeface="ヒラギノ角ゴ Pro W3" pitchFamily="-84" charset="-128"/>
              </a:rPr>
              <a:t>The Gains from Trade </a:t>
            </a:r>
            <a:r>
              <a:rPr lang="en-US" altLang="en-US" sz="2000" b="0" dirty="0">
                <a:solidFill>
                  <a:schemeClr val="tx1"/>
                </a:solidFill>
                <a:ea typeface="ヒラギノ角ゴ Pro W3" pitchFamily="-84" charset="-128"/>
              </a:rPr>
              <a:t>(4 of 4)</a:t>
            </a:r>
            <a:endParaRPr lang="en-IN" dirty="0">
              <a:solidFill>
                <a:schemeClr val="tx1"/>
              </a:solidFill>
            </a:endParaRPr>
          </a:p>
        </p:txBody>
      </p:sp>
      <p:sp>
        <p:nvSpPr>
          <p:cNvPr id="3" name="Content Placeholder 2">
            <a:extLst>
              <a:ext uri="{FF2B5EF4-FFF2-40B4-BE49-F238E27FC236}">
                <a16:creationId xmlns:a16="http://schemas.microsoft.com/office/drawing/2014/main" id="{286D712C-8B6A-4C20-A92D-9D1CC96FABAD}"/>
              </a:ext>
            </a:extLst>
          </p:cNvPr>
          <p:cNvSpPr>
            <a:spLocks noGrp="1"/>
          </p:cNvSpPr>
          <p:nvPr>
            <p:ph sz="quarter" idx="13"/>
          </p:nvPr>
        </p:nvSpPr>
        <p:spPr>
          <a:xfrm>
            <a:off x="457200" y="1556327"/>
            <a:ext cx="8229600" cy="3108270"/>
          </a:xfrm>
        </p:spPr>
        <p:txBody>
          <a:bodyPr/>
          <a:lstStyle/>
          <a:p>
            <a:r>
              <a:rPr lang="en-US" altLang="en-US" sz="2400" dirty="0">
                <a:ea typeface="ヒラギノ角ゴ Pro W3" pitchFamily="-84" charset="-128"/>
              </a:rPr>
              <a:t>Consumption possibilities expand beyond the production possibility frontier when trade is allowed.</a:t>
            </a:r>
          </a:p>
          <a:p>
            <a:r>
              <a:rPr lang="en-US" altLang="en-US" sz="2400" dirty="0">
                <a:ea typeface="ヒラギノ角ゴ Pro W3" pitchFamily="-84" charset="-128"/>
              </a:rPr>
              <a:t>With trade, consumption in each country is expanded because world production is expanded when each country specializes in producing the good in which it has a comparative advantage.</a:t>
            </a:r>
          </a:p>
        </p:txBody>
      </p:sp>
    </p:spTree>
    <p:extLst>
      <p:ext uri="{BB962C8B-B14F-4D97-AF65-F5344CB8AC3E}">
        <p14:creationId xmlns:p14="http://schemas.microsoft.com/office/powerpoint/2010/main" val="2440103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76BAE-0938-4C81-B1EF-892841028054}"/>
              </a:ext>
            </a:extLst>
          </p:cNvPr>
          <p:cNvSpPr>
            <a:spLocks noGrp="1"/>
          </p:cNvSpPr>
          <p:nvPr>
            <p:ph type="title"/>
          </p:nvPr>
        </p:nvSpPr>
        <p:spPr/>
        <p:txBody>
          <a:bodyPr>
            <a:normAutofit fontScale="90000"/>
          </a:bodyPr>
          <a:lstStyle/>
          <a:p>
            <a:r>
              <a:rPr lang="en-US" altLang="en-US" sz="3200" dirty="0">
                <a:solidFill>
                  <a:schemeClr val="tx1"/>
                </a:solidFill>
                <a:ea typeface="ヒラギノ角ゴ Pro W3" pitchFamily="-84" charset="-128"/>
              </a:rPr>
              <a:t>Figure 3.4 Trade Expands Consumption Possibilities</a:t>
            </a:r>
            <a:endParaRPr lang="en-IN" sz="3200" dirty="0">
              <a:solidFill>
                <a:schemeClr val="tx1"/>
              </a:solidFill>
            </a:endParaRPr>
          </a:p>
        </p:txBody>
      </p:sp>
      <p:pic>
        <p:nvPicPr>
          <p:cNvPr id="6" name="Content Placeholder 5" descr="The first graph for ay, home, shows the quantity of wine, Q sub W versus quantity of cheese, Q sub C. For long description in Notes pane, press F6.">
            <a:extLst>
              <a:ext uri="{FF2B5EF4-FFF2-40B4-BE49-F238E27FC236}">
                <a16:creationId xmlns:a16="http://schemas.microsoft.com/office/drawing/2014/main" id="{672242A1-1E19-4D85-A893-1D219A4D1D6C}"/>
              </a:ext>
            </a:extLst>
          </p:cNvPr>
          <p:cNvPicPr>
            <a:picLocks noGrp="1" noChangeAspect="1"/>
          </p:cNvPicPr>
          <p:nvPr>
            <p:ph sz="quarter" idx="13"/>
          </p:nvPr>
        </p:nvPicPr>
        <p:blipFill>
          <a:blip r:embed="rId3"/>
          <a:stretch>
            <a:fillRect/>
          </a:stretch>
        </p:blipFill>
        <p:spPr>
          <a:xfrm>
            <a:off x="1613145" y="1583458"/>
            <a:ext cx="5674345" cy="3558039"/>
          </a:xfrm>
        </p:spPr>
      </p:pic>
      <p:sp>
        <p:nvSpPr>
          <p:cNvPr id="4" name="Content Placeholder 3">
            <a:extLst>
              <a:ext uri="{FF2B5EF4-FFF2-40B4-BE49-F238E27FC236}">
                <a16:creationId xmlns:a16="http://schemas.microsoft.com/office/drawing/2014/main" id="{99E9FC78-C9DA-47AD-ABE0-A11AAFD113A8}"/>
              </a:ext>
            </a:extLst>
          </p:cNvPr>
          <p:cNvSpPr>
            <a:spLocks noGrp="1"/>
          </p:cNvSpPr>
          <p:nvPr>
            <p:ph sz="quarter" idx="14"/>
          </p:nvPr>
        </p:nvSpPr>
        <p:spPr>
          <a:xfrm>
            <a:off x="457199" y="5483252"/>
            <a:ext cx="8516983" cy="800235"/>
          </a:xfrm>
        </p:spPr>
        <p:txBody>
          <a:bodyPr/>
          <a:lstStyle/>
          <a:p>
            <a:pPr marL="432" indent="0">
              <a:buNone/>
            </a:pPr>
            <a:r>
              <a:rPr lang="en-US" sz="2000" dirty="0"/>
              <a:t>International trade allows Home and Foreign to consume anywhere within the outer lines, which lie outside the countries’ production frontiers.</a:t>
            </a:r>
          </a:p>
        </p:txBody>
      </p:sp>
    </p:spTree>
    <p:extLst>
      <p:ext uri="{BB962C8B-B14F-4D97-AF65-F5344CB8AC3E}">
        <p14:creationId xmlns:p14="http://schemas.microsoft.com/office/powerpoint/2010/main" val="2040873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ACE7C-17D9-4DE5-A388-C6856D375F45}"/>
              </a:ext>
            </a:extLst>
          </p:cNvPr>
          <p:cNvSpPr>
            <a:spLocks noGrp="1"/>
          </p:cNvSpPr>
          <p:nvPr>
            <p:ph type="title"/>
          </p:nvPr>
        </p:nvSpPr>
        <p:spPr/>
        <p:txBody>
          <a:bodyPr/>
          <a:lstStyle/>
          <a:p>
            <a:r>
              <a:rPr lang="en-US" altLang="en-US" sz="3600" dirty="0">
                <a:solidFill>
                  <a:schemeClr val="tx1"/>
                </a:solidFill>
              </a:rPr>
              <a:t>A Numerical Example </a:t>
            </a:r>
            <a:r>
              <a:rPr lang="en-US" altLang="en-US" sz="2000" b="0" dirty="0">
                <a:solidFill>
                  <a:schemeClr val="tx1"/>
                </a:solidFill>
              </a:rPr>
              <a:t>(1 of 5)</a:t>
            </a:r>
            <a:endParaRPr lang="en-IN" dirty="0">
              <a:solidFill>
                <a:schemeClr val="tx1"/>
              </a:solidFill>
            </a:endParaRPr>
          </a:p>
        </p:txBody>
      </p:sp>
      <p:graphicFrame>
        <p:nvGraphicFramePr>
          <p:cNvPr id="17" name="Table 17">
            <a:extLst>
              <a:ext uri="{FF2B5EF4-FFF2-40B4-BE49-F238E27FC236}">
                <a16:creationId xmlns:a16="http://schemas.microsoft.com/office/drawing/2014/main" id="{3F3B2C6A-B8C8-4416-89B9-C97EA0A88858}"/>
              </a:ext>
            </a:extLst>
          </p:cNvPr>
          <p:cNvGraphicFramePr>
            <a:graphicFrameLocks noGrp="1"/>
          </p:cNvGraphicFramePr>
          <p:nvPr>
            <p:ph sz="quarter" idx="13"/>
            <p:extLst>
              <p:ext uri="{D42A27DB-BD31-4B8C-83A1-F6EECF244321}">
                <p14:modId xmlns:p14="http://schemas.microsoft.com/office/powerpoint/2010/main" val="1076524819"/>
              </p:ext>
            </p:extLst>
          </p:nvPr>
        </p:nvGraphicFramePr>
        <p:xfrm>
          <a:off x="457200" y="1552575"/>
          <a:ext cx="8229600" cy="1876425"/>
        </p:xfrm>
        <a:graphic>
          <a:graphicData uri="http://schemas.openxmlformats.org/drawingml/2006/table">
            <a:tbl>
              <a:tblPr firstRow="1" firstCol="1" bandRow="1">
                <a:tableStyleId>{2D5ABB26-0587-4C30-8999-92F81FD0307C}</a:tableStyleId>
              </a:tblPr>
              <a:tblGrid>
                <a:gridCol w="2042932">
                  <a:extLst>
                    <a:ext uri="{9D8B030D-6E8A-4147-A177-3AD203B41FA5}">
                      <a16:colId xmlns:a16="http://schemas.microsoft.com/office/drawing/2014/main" val="1075311575"/>
                    </a:ext>
                  </a:extLst>
                </a:gridCol>
                <a:gridCol w="3443468">
                  <a:extLst>
                    <a:ext uri="{9D8B030D-6E8A-4147-A177-3AD203B41FA5}">
                      <a16:colId xmlns:a16="http://schemas.microsoft.com/office/drawing/2014/main" val="382023241"/>
                    </a:ext>
                  </a:extLst>
                </a:gridCol>
                <a:gridCol w="2743200">
                  <a:extLst>
                    <a:ext uri="{9D8B030D-6E8A-4147-A177-3AD203B41FA5}">
                      <a16:colId xmlns:a16="http://schemas.microsoft.com/office/drawing/2014/main" val="2522880782"/>
                    </a:ext>
                  </a:extLst>
                </a:gridCol>
              </a:tblGrid>
              <a:tr h="7717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1" noProof="0" dirty="0"/>
                        <a:t>Unit labor requirements </a:t>
                      </a:r>
                      <a:endParaRPr kumimoji="0" lang="en-US" sz="1800" b="1" i="0" u="none" strike="noStrike" cap="none" normalizeH="0" baseline="0" noProof="0" dirty="0">
                        <a:ln>
                          <a:noFill/>
                        </a:ln>
                        <a:solidFill>
                          <a:schemeClr val="tx1"/>
                        </a:solidFill>
                        <a:effectLst/>
                        <a:latin typeface="+mn-lt"/>
                        <a:ea typeface="ＭＳ Ｐゴシック" charset="0"/>
                        <a:cs typeface="ＭＳ Ｐゴシック" charset="0"/>
                        <a:sym typeface="Arial"/>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800" b="1" u="none" strike="noStrike" cap="none" normalizeH="0" baseline="0" noProof="0" dirty="0">
                          <a:ln>
                            <a:noFill/>
                          </a:ln>
                          <a:effectLst/>
                        </a:rPr>
                        <a:t>Cheese</a:t>
                      </a:r>
                      <a:endParaRPr lang="en-US" sz="1800" b="1" noProof="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800" b="1" u="none" strike="noStrike" cap="none" normalizeH="0" baseline="0" noProof="0" dirty="0">
                          <a:ln>
                            <a:noFill/>
                          </a:ln>
                          <a:effectLst/>
                        </a:rPr>
                        <a:t>Wine</a:t>
                      </a:r>
                      <a:endParaRPr lang="en-US" sz="1800" b="1" noProof="0" dirty="0"/>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4212707"/>
                  </a:ext>
                </a:extLst>
              </a:tr>
              <a:tr h="552335">
                <a:tc>
                  <a:txBody>
                    <a:bodyPr/>
                    <a:lstStyle/>
                    <a:p>
                      <a:r>
                        <a:rPr kumimoji="0" lang="en-US" sz="1800" b="1" u="none" strike="noStrike" cap="none" normalizeH="0" baseline="0" noProof="0" dirty="0">
                          <a:ln>
                            <a:noFill/>
                          </a:ln>
                          <a:effectLst/>
                        </a:rPr>
                        <a:t>Home</a:t>
                      </a:r>
                      <a:endParaRPr lang="en-US" sz="18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sub start expression L C end expression = 1 hour per pound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sub start expression L W end expression = 2 hours per gallon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2280801"/>
                  </a:ext>
                </a:extLst>
              </a:tr>
              <a:tr h="552335">
                <a:tc>
                  <a:txBody>
                    <a:bodyPr/>
                    <a:lstStyle/>
                    <a:p>
                      <a:r>
                        <a:rPr kumimoji="0" lang="en-US" sz="1800" b="1" u="none" strike="noStrike" cap="none" normalizeH="0" baseline="0" noProof="0" dirty="0">
                          <a:ln>
                            <a:noFill/>
                          </a:ln>
                          <a:effectLst/>
                        </a:rPr>
                        <a:t>Foreign</a:t>
                      </a:r>
                      <a:endParaRPr lang="en-US" sz="1800" b="1" noProof="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to the asterisk power sub start expression L C end expression = 6 hours per pound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 noProof="0" dirty="0"/>
                        <a:t>a to the asterisk power sub start expression L W end expression = 3 hours per gallon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1333161"/>
                  </a:ext>
                </a:extLst>
              </a:tr>
            </a:tbl>
          </a:graphicData>
        </a:graphic>
      </p:graphicFrame>
      <p:sp>
        <p:nvSpPr>
          <p:cNvPr id="4" name="Content Placeholder 3">
            <a:extLst>
              <a:ext uri="{FF2B5EF4-FFF2-40B4-BE49-F238E27FC236}">
                <a16:creationId xmlns:a16="http://schemas.microsoft.com/office/drawing/2014/main" id="{E424D6B6-809D-4C43-BA5D-7896A930574C}"/>
              </a:ext>
            </a:extLst>
          </p:cNvPr>
          <p:cNvSpPr>
            <a:spLocks noGrp="1"/>
          </p:cNvSpPr>
          <p:nvPr>
            <p:ph sz="quarter" idx="14"/>
          </p:nvPr>
        </p:nvSpPr>
        <p:spPr>
          <a:xfrm>
            <a:off x="457200" y="3767780"/>
            <a:ext cx="8229600" cy="524820"/>
          </a:xfrm>
        </p:spPr>
        <p:txBody>
          <a:bodyPr/>
          <a:lstStyle/>
          <a:p>
            <a:r>
              <a:rPr lang="en-US" altLang="en-US" sz="2400" dirty="0"/>
              <a:t>What is the home country</a:t>
            </a:r>
            <a:r>
              <a:rPr lang="en-US" altLang="ja-JP" sz="2400" dirty="0"/>
              <a:t>’s opportunity cost of producing</a:t>
            </a:r>
            <a:endParaRPr lang="en-US" sz="2400" dirty="0"/>
          </a:p>
        </p:txBody>
      </p:sp>
      <p:sp>
        <p:nvSpPr>
          <p:cNvPr id="5" name="Content Placeholder 4">
            <a:extLst>
              <a:ext uri="{FF2B5EF4-FFF2-40B4-BE49-F238E27FC236}">
                <a16:creationId xmlns:a16="http://schemas.microsoft.com/office/drawing/2014/main" id="{EAAA360B-48F9-41B9-89D2-DB5C18C3EB39}"/>
              </a:ext>
            </a:extLst>
          </p:cNvPr>
          <p:cNvSpPr>
            <a:spLocks noGrp="1"/>
          </p:cNvSpPr>
          <p:nvPr>
            <p:ph sz="quarter" idx="15"/>
          </p:nvPr>
        </p:nvSpPr>
        <p:spPr>
          <a:xfrm>
            <a:off x="457200" y="4452147"/>
            <a:ext cx="1749049" cy="525368"/>
          </a:xfrm>
        </p:spPr>
        <p:txBody>
          <a:bodyPr/>
          <a:lstStyle/>
          <a:p>
            <a:pPr marL="255600" lvl="1" indent="0">
              <a:buNone/>
            </a:pPr>
            <a:r>
              <a:rPr lang="en-US" altLang="ja-JP" sz="2400" dirty="0"/>
              <a:t>cheese?</a:t>
            </a:r>
            <a:endParaRPr lang="en-IN" dirty="0"/>
          </a:p>
        </p:txBody>
      </p:sp>
      <p:sp>
        <p:nvSpPr>
          <p:cNvPr id="6" name="Content Placeholder 5">
            <a:extLst>
              <a:ext uri="{FF2B5EF4-FFF2-40B4-BE49-F238E27FC236}">
                <a16:creationId xmlns:a16="http://schemas.microsoft.com/office/drawing/2014/main" id="{AFB45EBA-E503-4811-9590-D55DC54DEEB9}"/>
              </a:ext>
            </a:extLst>
          </p:cNvPr>
          <p:cNvSpPr>
            <a:spLocks noGrp="1"/>
          </p:cNvSpPr>
          <p:nvPr>
            <p:ph sz="quarter" idx="16"/>
          </p:nvPr>
        </p:nvSpPr>
        <p:spPr>
          <a:xfrm>
            <a:off x="3574005" y="4446596"/>
            <a:ext cx="3617089" cy="525368"/>
          </a:xfrm>
        </p:spPr>
        <p:txBody>
          <a:bodyPr/>
          <a:lstStyle/>
          <a:p>
            <a:pPr marL="0" lvl="1" indent="0">
              <a:buNone/>
            </a:pPr>
            <a:r>
              <a:rPr lang="en-US" altLang="ja-JP" dirty="0"/>
              <a:t>to produce one pound of</a:t>
            </a:r>
            <a:endParaRPr lang="en-US" dirty="0"/>
          </a:p>
        </p:txBody>
      </p:sp>
      <p:sp>
        <p:nvSpPr>
          <p:cNvPr id="7" name="Content Placeholder 6">
            <a:extLst>
              <a:ext uri="{FF2B5EF4-FFF2-40B4-BE49-F238E27FC236}">
                <a16:creationId xmlns:a16="http://schemas.microsoft.com/office/drawing/2014/main" id="{3383D929-B2EB-4990-BC0F-E8FE7EEB8364}"/>
              </a:ext>
            </a:extLst>
          </p:cNvPr>
          <p:cNvSpPr>
            <a:spLocks noGrp="1"/>
          </p:cNvSpPr>
          <p:nvPr>
            <p:ph sz="quarter" idx="17"/>
          </p:nvPr>
        </p:nvSpPr>
        <p:spPr>
          <a:xfrm>
            <a:off x="443966" y="5244366"/>
            <a:ext cx="3671740" cy="496868"/>
          </a:xfrm>
        </p:spPr>
        <p:txBody>
          <a:bodyPr/>
          <a:lstStyle/>
          <a:p>
            <a:pPr marL="255600" indent="0">
              <a:buNone/>
            </a:pPr>
            <a:r>
              <a:rPr lang="en-US" altLang="ja-JP" sz="2400" dirty="0"/>
              <a:t>cheese, stop producing</a:t>
            </a:r>
            <a:endParaRPr lang="en-IN" dirty="0"/>
          </a:p>
        </p:txBody>
      </p:sp>
      <p:graphicFrame>
        <p:nvGraphicFramePr>
          <p:cNvPr id="18" name="Object 17">
            <a:extLst>
              <a:ext uri="{FF2B5EF4-FFF2-40B4-BE49-F238E27FC236}">
                <a16:creationId xmlns:a16="http://schemas.microsoft.com/office/drawing/2014/main" id="{A4753FCC-8503-49B6-B1F1-48047DD5B5D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782086830"/>
              </p:ext>
            </p:extLst>
          </p:nvPr>
        </p:nvGraphicFramePr>
        <p:xfrm>
          <a:off x="3206555" y="2412519"/>
          <a:ext cx="1709387" cy="405689"/>
        </p:xfrm>
        <a:graphic>
          <a:graphicData uri="http://schemas.openxmlformats.org/presentationml/2006/ole">
            <mc:AlternateContent xmlns:mc="http://schemas.openxmlformats.org/markup-compatibility/2006">
              <mc:Choice xmlns:v="urn:schemas-microsoft-com:vml" Requires="v">
                <p:oleObj name="Equation" r:id="rId2" imgW="965160" imgH="228600" progId="Equation.DSMT4">
                  <p:embed/>
                </p:oleObj>
              </mc:Choice>
              <mc:Fallback>
                <p:oleObj name="Equation" r:id="rId2" imgW="965160" imgH="228600" progId="Equation.DSMT4">
                  <p:embed/>
                  <p:pic>
                    <p:nvPicPr>
                      <p:cNvPr id="46" name="Object 45">
                        <a:extLst>
                          <a:ext uri="{FF2B5EF4-FFF2-40B4-BE49-F238E27FC236}">
                            <a16:creationId xmlns:a16="http://schemas.microsoft.com/office/drawing/2014/main" id="{26D3BC36-B89C-451F-9CDE-D4EEE73A1224}"/>
                          </a:ext>
                        </a:extLst>
                      </p:cNvPr>
                      <p:cNvPicPr/>
                      <p:nvPr/>
                    </p:nvPicPr>
                    <p:blipFill>
                      <a:blip r:embed="rId3"/>
                      <a:stretch>
                        <a:fillRect/>
                      </a:stretch>
                    </p:blipFill>
                    <p:spPr>
                      <a:xfrm>
                        <a:off x="3206555" y="2412519"/>
                        <a:ext cx="1709387" cy="405689"/>
                      </a:xfrm>
                      <a:prstGeom prst="rect">
                        <a:avLst/>
                      </a:prstGeom>
                      <a:solidFill>
                        <a:schemeClr val="lt1"/>
                      </a:solidFill>
                    </p:spPr>
                  </p:pic>
                </p:oleObj>
              </mc:Fallback>
            </mc:AlternateContent>
          </a:graphicData>
        </a:graphic>
      </p:graphicFrame>
      <p:graphicFrame>
        <p:nvGraphicFramePr>
          <p:cNvPr id="19" name="Object 18">
            <a:extLst>
              <a:ext uri="{FF2B5EF4-FFF2-40B4-BE49-F238E27FC236}">
                <a16:creationId xmlns:a16="http://schemas.microsoft.com/office/drawing/2014/main" id="{BC5762DB-1885-4437-A26F-88549C4CDD6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4154228"/>
              </p:ext>
            </p:extLst>
          </p:nvPr>
        </p:nvGraphicFramePr>
        <p:xfrm>
          <a:off x="6225184" y="2436081"/>
          <a:ext cx="2249883" cy="368163"/>
        </p:xfrm>
        <a:graphic>
          <a:graphicData uri="http://schemas.openxmlformats.org/presentationml/2006/ole">
            <mc:AlternateContent xmlns:mc="http://schemas.openxmlformats.org/markup-compatibility/2006">
              <mc:Choice xmlns:v="urn:schemas-microsoft-com:vml" Requires="v">
                <p:oleObj name="Equation" r:id="rId4" imgW="1396800" imgH="228600" progId="Equation.DSMT4">
                  <p:embed/>
                </p:oleObj>
              </mc:Choice>
              <mc:Fallback>
                <p:oleObj name="Equation" r:id="rId4" imgW="1396800" imgH="228600" progId="Equation.DSMT4">
                  <p:embed/>
                  <p:pic>
                    <p:nvPicPr>
                      <p:cNvPr id="0" name=""/>
                      <p:cNvPicPr/>
                      <p:nvPr/>
                    </p:nvPicPr>
                    <p:blipFill>
                      <a:blip r:embed="rId5"/>
                      <a:stretch>
                        <a:fillRect/>
                      </a:stretch>
                    </p:blipFill>
                    <p:spPr>
                      <a:xfrm>
                        <a:off x="6225184" y="2436081"/>
                        <a:ext cx="2249883" cy="368163"/>
                      </a:xfrm>
                      <a:prstGeom prst="rect">
                        <a:avLst/>
                      </a:prstGeom>
                      <a:solidFill>
                        <a:schemeClr val="lt1"/>
                      </a:solidFill>
                    </p:spPr>
                  </p:pic>
                </p:oleObj>
              </mc:Fallback>
            </mc:AlternateContent>
          </a:graphicData>
        </a:graphic>
      </p:graphicFrame>
      <p:graphicFrame>
        <p:nvGraphicFramePr>
          <p:cNvPr id="20" name="Object 19">
            <a:extLst>
              <a:ext uri="{FF2B5EF4-FFF2-40B4-BE49-F238E27FC236}">
                <a16:creationId xmlns:a16="http://schemas.microsoft.com/office/drawing/2014/main" id="{DA6DA1A8-CF97-4890-B4E5-84A49E46E307}"/>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961060887"/>
              </p:ext>
            </p:extLst>
          </p:nvPr>
        </p:nvGraphicFramePr>
        <p:xfrm>
          <a:off x="3198604" y="2964016"/>
          <a:ext cx="1718092" cy="388616"/>
        </p:xfrm>
        <a:graphic>
          <a:graphicData uri="http://schemas.openxmlformats.org/presentationml/2006/ole">
            <mc:AlternateContent xmlns:mc="http://schemas.openxmlformats.org/markup-compatibility/2006">
              <mc:Choice xmlns:v="urn:schemas-microsoft-com:vml" Requires="v">
                <p:oleObj name="Equation" r:id="rId6" imgW="1066680" imgH="241200" progId="Equation.DSMT4">
                  <p:embed/>
                </p:oleObj>
              </mc:Choice>
              <mc:Fallback>
                <p:oleObj name="Equation" r:id="rId6" imgW="1066680" imgH="241200" progId="Equation.DSMT4">
                  <p:embed/>
                  <p:pic>
                    <p:nvPicPr>
                      <p:cNvPr id="0" name=""/>
                      <p:cNvPicPr/>
                      <p:nvPr/>
                    </p:nvPicPr>
                    <p:blipFill>
                      <a:blip r:embed="rId7"/>
                      <a:stretch>
                        <a:fillRect/>
                      </a:stretch>
                    </p:blipFill>
                    <p:spPr>
                      <a:xfrm>
                        <a:off x="3198604" y="2964016"/>
                        <a:ext cx="1718092" cy="388616"/>
                      </a:xfrm>
                      <a:prstGeom prst="rect">
                        <a:avLst/>
                      </a:prstGeom>
                      <a:solidFill>
                        <a:schemeClr val="lt1"/>
                      </a:solidFill>
                    </p:spPr>
                  </p:pic>
                </p:oleObj>
              </mc:Fallback>
            </mc:AlternateContent>
          </a:graphicData>
        </a:graphic>
      </p:graphicFrame>
      <p:graphicFrame>
        <p:nvGraphicFramePr>
          <p:cNvPr id="21" name="Object 20">
            <a:extLst>
              <a:ext uri="{FF2B5EF4-FFF2-40B4-BE49-F238E27FC236}">
                <a16:creationId xmlns:a16="http://schemas.microsoft.com/office/drawing/2014/main" id="{D2358179-6001-447B-B020-500A7D6E2C0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025238801"/>
              </p:ext>
            </p:extLst>
          </p:nvPr>
        </p:nvGraphicFramePr>
        <p:xfrm>
          <a:off x="6126978" y="2916935"/>
          <a:ext cx="2474871" cy="427478"/>
        </p:xfrm>
        <a:graphic>
          <a:graphicData uri="http://schemas.openxmlformats.org/presentationml/2006/ole">
            <mc:AlternateContent xmlns:mc="http://schemas.openxmlformats.org/markup-compatibility/2006">
              <mc:Choice xmlns:v="urn:schemas-microsoft-com:vml" Requires="v">
                <p:oleObj name="Equation" r:id="rId8" imgW="1396800" imgH="241200" progId="Equation.DSMT4">
                  <p:embed/>
                </p:oleObj>
              </mc:Choice>
              <mc:Fallback>
                <p:oleObj name="Equation" r:id="rId8" imgW="1396800" imgH="241200" progId="Equation.DSMT4">
                  <p:embed/>
                  <p:pic>
                    <p:nvPicPr>
                      <p:cNvPr id="0" name=""/>
                      <p:cNvPicPr/>
                      <p:nvPr/>
                    </p:nvPicPr>
                    <p:blipFill>
                      <a:blip r:embed="rId9"/>
                      <a:stretch>
                        <a:fillRect/>
                      </a:stretch>
                    </p:blipFill>
                    <p:spPr>
                      <a:xfrm>
                        <a:off x="6126978" y="2916935"/>
                        <a:ext cx="2474871" cy="427478"/>
                      </a:xfrm>
                      <a:prstGeom prst="rect">
                        <a:avLst/>
                      </a:prstGeom>
                      <a:solidFill>
                        <a:schemeClr val="lt1"/>
                      </a:solidFill>
                    </p:spPr>
                  </p:pic>
                </p:oleObj>
              </mc:Fallback>
            </mc:AlternateContent>
          </a:graphicData>
        </a:graphic>
      </p:graphicFrame>
      <p:graphicFrame>
        <p:nvGraphicFramePr>
          <p:cNvPr id="22" name="Object 21" descr="Start fraction a sub start expression L C end expression over a sub start expression L W end expression end fraction = 1 half,">
            <a:extLst>
              <a:ext uri="{FF2B5EF4-FFF2-40B4-BE49-F238E27FC236}">
                <a16:creationId xmlns:a16="http://schemas.microsoft.com/office/drawing/2014/main" id="{3D4D5630-DE5E-4493-9076-0CED3F5FA3EE}"/>
              </a:ext>
            </a:extLst>
          </p:cNvPr>
          <p:cNvGraphicFramePr>
            <a:graphicFrameLocks noChangeAspect="1"/>
          </p:cNvGraphicFramePr>
          <p:nvPr>
            <p:extLst>
              <p:ext uri="{D42A27DB-BD31-4B8C-83A1-F6EECF244321}">
                <p14:modId xmlns:p14="http://schemas.microsoft.com/office/powerpoint/2010/main" val="4149623262"/>
              </p:ext>
            </p:extLst>
          </p:nvPr>
        </p:nvGraphicFramePr>
        <p:xfrm>
          <a:off x="2323588" y="4356719"/>
          <a:ext cx="1102442" cy="787459"/>
        </p:xfrm>
        <a:graphic>
          <a:graphicData uri="http://schemas.openxmlformats.org/presentationml/2006/ole">
            <mc:AlternateContent xmlns:mc="http://schemas.openxmlformats.org/markup-compatibility/2006">
              <mc:Choice xmlns:v="urn:schemas-microsoft-com:vml" Requires="v">
                <p:oleObj name="Equation" r:id="rId10" imgW="622080" imgH="444240" progId="Equation.DSMT4">
                  <p:embed/>
                </p:oleObj>
              </mc:Choice>
              <mc:Fallback>
                <p:oleObj name="Equation" r:id="rId10" imgW="622080" imgH="444240" progId="Equation.DSMT4">
                  <p:embed/>
                  <p:pic>
                    <p:nvPicPr>
                      <p:cNvPr id="0" name=""/>
                      <p:cNvPicPr/>
                      <p:nvPr/>
                    </p:nvPicPr>
                    <p:blipFill>
                      <a:blip r:embed="rId11"/>
                      <a:stretch>
                        <a:fillRect/>
                      </a:stretch>
                    </p:blipFill>
                    <p:spPr>
                      <a:xfrm>
                        <a:off x="2323588" y="4356719"/>
                        <a:ext cx="1102442" cy="787459"/>
                      </a:xfrm>
                      <a:prstGeom prst="rect">
                        <a:avLst/>
                      </a:prstGeom>
                      <a:noFill/>
                    </p:spPr>
                  </p:pic>
                </p:oleObj>
              </mc:Fallback>
            </mc:AlternateContent>
          </a:graphicData>
        </a:graphic>
      </p:graphicFrame>
      <p:graphicFrame>
        <p:nvGraphicFramePr>
          <p:cNvPr id="23" name="Object 22" descr="1 half gallon of wine.">
            <a:extLst>
              <a:ext uri="{FF2B5EF4-FFF2-40B4-BE49-F238E27FC236}">
                <a16:creationId xmlns:a16="http://schemas.microsoft.com/office/drawing/2014/main" id="{63E8BE70-64C1-47D9-AEAA-2C7E9DD783BC}"/>
              </a:ext>
            </a:extLst>
          </p:cNvPr>
          <p:cNvGraphicFramePr>
            <a:graphicFrameLocks noChangeAspect="1"/>
          </p:cNvGraphicFramePr>
          <p:nvPr>
            <p:extLst>
              <p:ext uri="{D42A27DB-BD31-4B8C-83A1-F6EECF244321}">
                <p14:modId xmlns:p14="http://schemas.microsoft.com/office/powerpoint/2010/main" val="1993002105"/>
              </p:ext>
            </p:extLst>
          </p:nvPr>
        </p:nvGraphicFramePr>
        <p:xfrm>
          <a:off x="4191421" y="5134594"/>
          <a:ext cx="2326379" cy="767212"/>
        </p:xfrm>
        <a:graphic>
          <a:graphicData uri="http://schemas.openxmlformats.org/presentationml/2006/ole">
            <mc:AlternateContent xmlns:mc="http://schemas.openxmlformats.org/markup-compatibility/2006">
              <mc:Choice xmlns:v="urn:schemas-microsoft-com:vml" Requires="v">
                <p:oleObj name="Equation" r:id="rId12" imgW="1193760" imgH="393480" progId="Equation.DSMT4">
                  <p:embed/>
                </p:oleObj>
              </mc:Choice>
              <mc:Fallback>
                <p:oleObj name="Equation" r:id="rId12" imgW="1193760" imgH="393480" progId="Equation.DSMT4">
                  <p:embed/>
                  <p:pic>
                    <p:nvPicPr>
                      <p:cNvPr id="0" name=""/>
                      <p:cNvPicPr/>
                      <p:nvPr/>
                    </p:nvPicPr>
                    <p:blipFill>
                      <a:blip r:embed="rId13"/>
                      <a:stretch>
                        <a:fillRect/>
                      </a:stretch>
                    </p:blipFill>
                    <p:spPr>
                      <a:xfrm>
                        <a:off x="4191421" y="5134594"/>
                        <a:ext cx="2326379" cy="767212"/>
                      </a:xfrm>
                      <a:prstGeom prst="rect">
                        <a:avLst/>
                      </a:prstGeom>
                    </p:spPr>
                  </p:pic>
                </p:oleObj>
              </mc:Fallback>
            </mc:AlternateContent>
          </a:graphicData>
        </a:graphic>
      </p:graphicFrame>
    </p:spTree>
    <p:extLst>
      <p:ext uri="{BB962C8B-B14F-4D97-AF65-F5344CB8AC3E}">
        <p14:creationId xmlns:p14="http://schemas.microsoft.com/office/powerpoint/2010/main" val="3888843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037C0-DFD7-43A4-B409-386863C43860}"/>
              </a:ext>
            </a:extLst>
          </p:cNvPr>
          <p:cNvSpPr>
            <a:spLocks noGrp="1"/>
          </p:cNvSpPr>
          <p:nvPr>
            <p:ph type="title"/>
          </p:nvPr>
        </p:nvSpPr>
        <p:spPr/>
        <p:txBody>
          <a:bodyPr/>
          <a:lstStyle/>
          <a:p>
            <a:r>
              <a:rPr lang="en-US" altLang="en-US" sz="3600" dirty="0">
                <a:solidFill>
                  <a:schemeClr val="tx1"/>
                </a:solidFill>
              </a:rPr>
              <a:t>A Numerical Example </a:t>
            </a:r>
            <a:r>
              <a:rPr lang="en-US" altLang="en-US" sz="2000" b="0" dirty="0">
                <a:solidFill>
                  <a:schemeClr val="tx1"/>
                </a:solidFill>
              </a:rPr>
              <a:t>(2 of 5)</a:t>
            </a:r>
            <a:endParaRPr lang="en-IN" dirty="0">
              <a:solidFill>
                <a:schemeClr val="tx1"/>
              </a:solidFill>
            </a:endParaRPr>
          </a:p>
        </p:txBody>
      </p:sp>
      <p:sp>
        <p:nvSpPr>
          <p:cNvPr id="3" name="Content Placeholder 2">
            <a:extLst>
              <a:ext uri="{FF2B5EF4-FFF2-40B4-BE49-F238E27FC236}">
                <a16:creationId xmlns:a16="http://schemas.microsoft.com/office/drawing/2014/main" id="{FA621008-FF0D-4DE1-841B-B618B2F9A1B4}"/>
              </a:ext>
            </a:extLst>
          </p:cNvPr>
          <p:cNvSpPr>
            <a:spLocks noGrp="1"/>
          </p:cNvSpPr>
          <p:nvPr>
            <p:ph sz="quarter" idx="13"/>
          </p:nvPr>
        </p:nvSpPr>
        <p:spPr>
          <a:xfrm>
            <a:off x="457200" y="1556327"/>
            <a:ext cx="8229600" cy="932230"/>
          </a:xfrm>
        </p:spPr>
        <p:txBody>
          <a:bodyPr/>
          <a:lstStyle/>
          <a:p>
            <a:r>
              <a:rPr lang="en-US" altLang="en-US" sz="2400" dirty="0">
                <a:ea typeface="ヒラギノ角ゴ Pro W3" pitchFamily="-84" charset="-128"/>
              </a:rPr>
              <a:t>The home country is more efficient in both industries, but has a comparative advantage only in cheese production.</a:t>
            </a:r>
            <a:endParaRPr lang="en-US" sz="2400" dirty="0"/>
          </a:p>
        </p:txBody>
      </p:sp>
      <p:sp>
        <p:nvSpPr>
          <p:cNvPr id="4" name="Content Placeholder 3">
            <a:extLst>
              <a:ext uri="{FF2B5EF4-FFF2-40B4-BE49-F238E27FC236}">
                <a16:creationId xmlns:a16="http://schemas.microsoft.com/office/drawing/2014/main" id="{4E15923D-E4EA-4A41-8123-2EA30ABF687E}"/>
              </a:ext>
            </a:extLst>
          </p:cNvPr>
          <p:cNvSpPr>
            <a:spLocks noGrp="1"/>
          </p:cNvSpPr>
          <p:nvPr>
            <p:ph sz="quarter" idx="14"/>
          </p:nvPr>
        </p:nvSpPr>
        <p:spPr>
          <a:xfrm>
            <a:off x="457200" y="3971925"/>
            <a:ext cx="8229600" cy="932231"/>
          </a:xfrm>
        </p:spPr>
        <p:txBody>
          <a:bodyPr/>
          <a:lstStyle/>
          <a:p>
            <a:r>
              <a:rPr lang="en-US" altLang="en-US" sz="2400" dirty="0">
                <a:ea typeface="ヒラギノ角ゴ Pro W3" pitchFamily="-84" charset="-128"/>
              </a:rPr>
              <a:t>The foreign country is less efficient in both industries, but has a comparative advantage in wine production.</a:t>
            </a:r>
            <a:endParaRPr lang="en-US" sz="2400" dirty="0"/>
          </a:p>
        </p:txBody>
      </p:sp>
      <p:graphicFrame>
        <p:nvGraphicFramePr>
          <p:cNvPr id="5" name="Object 4" descr="A formula. For long description in Notes pane, press F6.">
            <a:extLst>
              <a:ext uri="{FF2B5EF4-FFF2-40B4-BE49-F238E27FC236}">
                <a16:creationId xmlns:a16="http://schemas.microsoft.com/office/drawing/2014/main" id="{02A73443-CA39-4CA8-9548-FD5A273A0B93}"/>
              </a:ext>
            </a:extLst>
          </p:cNvPr>
          <p:cNvGraphicFramePr>
            <a:graphicFrameLocks noChangeAspect="1"/>
          </p:cNvGraphicFramePr>
          <p:nvPr>
            <p:extLst>
              <p:ext uri="{D42A27DB-BD31-4B8C-83A1-F6EECF244321}">
                <p14:modId xmlns:p14="http://schemas.microsoft.com/office/powerpoint/2010/main" val="1461846057"/>
              </p:ext>
            </p:extLst>
          </p:nvPr>
        </p:nvGraphicFramePr>
        <p:xfrm>
          <a:off x="3074766" y="2796018"/>
          <a:ext cx="2427288" cy="892175"/>
        </p:xfrm>
        <a:graphic>
          <a:graphicData uri="http://schemas.openxmlformats.org/presentationml/2006/ole">
            <mc:AlternateContent xmlns:mc="http://schemas.openxmlformats.org/markup-compatibility/2006">
              <mc:Choice xmlns:v="urn:schemas-microsoft-com:vml" Requires="v">
                <p:oleObj name="Equation" r:id="rId3" imgW="1244520" imgH="457200" progId="Equation.DSMT4">
                  <p:embed/>
                </p:oleObj>
              </mc:Choice>
              <mc:Fallback>
                <p:oleObj name="Equation" r:id="rId3" imgW="1244520" imgH="457200" progId="Equation.DSMT4">
                  <p:embed/>
                  <p:pic>
                    <p:nvPicPr>
                      <p:cNvPr id="23" name="Object 22">
                        <a:extLst>
                          <a:ext uri="{FF2B5EF4-FFF2-40B4-BE49-F238E27FC236}">
                            <a16:creationId xmlns:a16="http://schemas.microsoft.com/office/drawing/2014/main" id="{63E8BE70-64C1-47D9-AEAA-2C7E9DD783BC}"/>
                          </a:ext>
                        </a:extLst>
                      </p:cNvPr>
                      <p:cNvPicPr/>
                      <p:nvPr/>
                    </p:nvPicPr>
                    <p:blipFill>
                      <a:blip r:embed="rId4"/>
                      <a:stretch>
                        <a:fillRect/>
                      </a:stretch>
                    </p:blipFill>
                    <p:spPr>
                      <a:xfrm>
                        <a:off x="3074766" y="2796018"/>
                        <a:ext cx="2427288" cy="892175"/>
                      </a:xfrm>
                      <a:prstGeom prst="rect">
                        <a:avLst/>
                      </a:prstGeom>
                    </p:spPr>
                  </p:pic>
                </p:oleObj>
              </mc:Fallback>
            </mc:AlternateContent>
          </a:graphicData>
        </a:graphic>
      </p:graphicFrame>
    </p:spTree>
    <p:extLst>
      <p:ext uri="{BB962C8B-B14F-4D97-AF65-F5344CB8AC3E}">
        <p14:creationId xmlns:p14="http://schemas.microsoft.com/office/powerpoint/2010/main" val="42397604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BD4E-058B-4F50-A056-5CCE50774B1B}"/>
              </a:ext>
            </a:extLst>
          </p:cNvPr>
          <p:cNvSpPr>
            <a:spLocks noGrp="1"/>
          </p:cNvSpPr>
          <p:nvPr>
            <p:ph type="title"/>
          </p:nvPr>
        </p:nvSpPr>
        <p:spPr/>
        <p:txBody>
          <a:bodyPr/>
          <a:lstStyle/>
          <a:p>
            <a:r>
              <a:rPr lang="en-US" altLang="en-US" sz="3600" dirty="0">
                <a:solidFill>
                  <a:schemeClr val="tx1"/>
                </a:solidFill>
              </a:rPr>
              <a:t>A Numerical Example </a:t>
            </a:r>
            <a:r>
              <a:rPr lang="en-US" altLang="en-US" sz="2000" b="0" dirty="0">
                <a:solidFill>
                  <a:schemeClr val="tx1"/>
                </a:solidFill>
              </a:rPr>
              <a:t>(3 of 5)</a:t>
            </a:r>
            <a:endParaRPr lang="en-IN" dirty="0">
              <a:solidFill>
                <a:schemeClr val="tx1"/>
              </a:solidFill>
            </a:endParaRPr>
          </a:p>
        </p:txBody>
      </p:sp>
      <p:sp>
        <p:nvSpPr>
          <p:cNvPr id="3" name="Content Placeholder 2">
            <a:extLst>
              <a:ext uri="{FF2B5EF4-FFF2-40B4-BE49-F238E27FC236}">
                <a16:creationId xmlns:a16="http://schemas.microsoft.com/office/drawing/2014/main" id="{C7F493C8-3E27-4C4C-8D8E-C7F0C34BA5EB}"/>
              </a:ext>
            </a:extLst>
          </p:cNvPr>
          <p:cNvSpPr>
            <a:spLocks noGrp="1"/>
          </p:cNvSpPr>
          <p:nvPr>
            <p:ph sz="quarter" idx="13"/>
          </p:nvPr>
        </p:nvSpPr>
        <p:spPr>
          <a:xfrm>
            <a:off x="457199" y="1552575"/>
            <a:ext cx="8399417" cy="1444625"/>
          </a:xfrm>
        </p:spPr>
        <p:txBody>
          <a:bodyPr/>
          <a:lstStyle/>
          <a:p>
            <a:r>
              <a:rPr lang="en-US" altLang="en-US" sz="2400" dirty="0">
                <a:ea typeface="ヒラギノ角ゴ Pro W3" pitchFamily="-84" charset="-128"/>
              </a:rPr>
              <a:t>With trade, the equilibrium relative price of cheese to wine settles between the two opportunity costs of cheese.</a:t>
            </a:r>
          </a:p>
          <a:p>
            <a:r>
              <a:rPr lang="en-US" altLang="en-US" sz="2400" dirty="0">
                <a:ea typeface="ヒラギノ角ゴ Pro W3" pitchFamily="-84" charset="-128"/>
              </a:rPr>
              <a:t>Suppose the intersection of R</a:t>
            </a:r>
            <a:r>
              <a:rPr lang="en-US" altLang="en-US" sz="100" dirty="0">
                <a:ea typeface="ヒラギノ角ゴ Pro W3" pitchFamily="-84" charset="-128"/>
              </a:rPr>
              <a:t> </a:t>
            </a:r>
            <a:r>
              <a:rPr lang="en-US" altLang="en-US" sz="2400" dirty="0">
                <a:ea typeface="ヒラギノ角ゴ Pro W3" pitchFamily="-84" charset="-128"/>
              </a:rPr>
              <a:t>S and R</a:t>
            </a:r>
            <a:r>
              <a:rPr lang="en-US" altLang="en-US" sz="100" dirty="0">
                <a:ea typeface="ヒラギノ角ゴ Pro W3" pitchFamily="-84" charset="-128"/>
              </a:rPr>
              <a:t> </a:t>
            </a:r>
            <a:r>
              <a:rPr lang="en-US" altLang="en-US" sz="2400" dirty="0">
                <a:ea typeface="ヒラギノ角ゴ Pro W3" pitchFamily="-84" charset="-128"/>
              </a:rPr>
              <a:t>D occurs at</a:t>
            </a:r>
            <a:endParaRPr lang="en-US" sz="2400" dirty="0"/>
          </a:p>
        </p:txBody>
      </p:sp>
      <p:sp>
        <p:nvSpPr>
          <p:cNvPr id="4" name="Content Placeholder 3">
            <a:extLst>
              <a:ext uri="{FF2B5EF4-FFF2-40B4-BE49-F238E27FC236}">
                <a16:creationId xmlns:a16="http://schemas.microsoft.com/office/drawing/2014/main" id="{96147625-E1CF-40F3-B6F7-E80F4B00D230}"/>
              </a:ext>
            </a:extLst>
          </p:cNvPr>
          <p:cNvSpPr>
            <a:spLocks noGrp="1"/>
          </p:cNvSpPr>
          <p:nvPr>
            <p:ph sz="quarter" idx="14"/>
          </p:nvPr>
        </p:nvSpPr>
        <p:spPr>
          <a:xfrm>
            <a:off x="1913198" y="3219974"/>
            <a:ext cx="6695224" cy="559806"/>
          </a:xfrm>
        </p:spPr>
        <p:txBody>
          <a:bodyPr/>
          <a:lstStyle/>
          <a:p>
            <a:pPr marL="0" lvl="1" indent="0">
              <a:buNone/>
            </a:pPr>
            <a:r>
              <a:rPr lang="en-US" altLang="en-US" dirty="0">
                <a:ea typeface="ヒラギノ角ゴ Pro W3" pitchFamily="-84" charset="-128"/>
              </a:rPr>
              <a:t>so one pound of cheese trades for one gallon of</a:t>
            </a:r>
            <a:endParaRPr lang="en-IN" dirty="0"/>
          </a:p>
        </p:txBody>
      </p:sp>
      <p:sp>
        <p:nvSpPr>
          <p:cNvPr id="5" name="Content Placeholder 4">
            <a:extLst>
              <a:ext uri="{FF2B5EF4-FFF2-40B4-BE49-F238E27FC236}">
                <a16:creationId xmlns:a16="http://schemas.microsoft.com/office/drawing/2014/main" id="{CD886E52-E298-46CF-A9AD-F4B2BFE45759}"/>
              </a:ext>
            </a:extLst>
          </p:cNvPr>
          <p:cNvSpPr>
            <a:spLocks noGrp="1"/>
          </p:cNvSpPr>
          <p:nvPr>
            <p:ph sz="quarter" idx="15"/>
          </p:nvPr>
        </p:nvSpPr>
        <p:spPr>
          <a:xfrm>
            <a:off x="509453" y="4044083"/>
            <a:ext cx="1244278" cy="559806"/>
          </a:xfrm>
        </p:spPr>
        <p:txBody>
          <a:bodyPr/>
          <a:lstStyle/>
          <a:p>
            <a:pPr marL="255600" indent="0">
              <a:buNone/>
            </a:pPr>
            <a:r>
              <a:rPr lang="en-US" altLang="en-US" sz="2400" dirty="0">
                <a:ea typeface="ヒラギノ角ゴ Pro W3" pitchFamily="-84" charset="-128"/>
              </a:rPr>
              <a:t>wine.</a:t>
            </a:r>
            <a:endParaRPr lang="en-IN" dirty="0"/>
          </a:p>
        </p:txBody>
      </p:sp>
      <p:sp>
        <p:nvSpPr>
          <p:cNvPr id="6" name="Content Placeholder 5">
            <a:extLst>
              <a:ext uri="{FF2B5EF4-FFF2-40B4-BE49-F238E27FC236}">
                <a16:creationId xmlns:a16="http://schemas.microsoft.com/office/drawing/2014/main" id="{1B9822D8-B135-43A2-B2C9-402B5A3EA53C}"/>
              </a:ext>
            </a:extLst>
          </p:cNvPr>
          <p:cNvSpPr>
            <a:spLocks noGrp="1"/>
          </p:cNvSpPr>
          <p:nvPr>
            <p:ph sz="quarter" idx="16"/>
          </p:nvPr>
        </p:nvSpPr>
        <p:spPr>
          <a:xfrm>
            <a:off x="483773" y="4715864"/>
            <a:ext cx="8255279" cy="897528"/>
          </a:xfrm>
        </p:spPr>
        <p:txBody>
          <a:bodyPr/>
          <a:lstStyle/>
          <a:p>
            <a:r>
              <a:rPr lang="en-US" altLang="en-US" sz="2400" dirty="0">
                <a:ea typeface="ヒラギノ角ゴ Pro W3" pitchFamily="-84" charset="-128"/>
              </a:rPr>
              <a:t>Trade causes the relative price of cheese to rise in the home country and fall in foreign.</a:t>
            </a:r>
            <a:endParaRPr lang="en-US" sz="2400" dirty="0"/>
          </a:p>
        </p:txBody>
      </p:sp>
      <p:graphicFrame>
        <p:nvGraphicFramePr>
          <p:cNvPr id="7" name="Object 6" descr="Start fraction P sub C over P sub W end fraction = 1,">
            <a:extLst>
              <a:ext uri="{FF2B5EF4-FFF2-40B4-BE49-F238E27FC236}">
                <a16:creationId xmlns:a16="http://schemas.microsoft.com/office/drawing/2014/main" id="{28BF7250-9250-40BF-898C-A3037F3D21FE}"/>
              </a:ext>
            </a:extLst>
          </p:cNvPr>
          <p:cNvGraphicFramePr>
            <a:graphicFrameLocks noChangeAspect="1"/>
          </p:cNvGraphicFramePr>
          <p:nvPr>
            <p:extLst>
              <p:ext uri="{D42A27DB-BD31-4B8C-83A1-F6EECF244321}">
                <p14:modId xmlns:p14="http://schemas.microsoft.com/office/powerpoint/2010/main" val="2471177864"/>
              </p:ext>
            </p:extLst>
          </p:nvPr>
        </p:nvGraphicFramePr>
        <p:xfrm>
          <a:off x="827088" y="3073558"/>
          <a:ext cx="917575" cy="868362"/>
        </p:xfrm>
        <a:graphic>
          <a:graphicData uri="http://schemas.openxmlformats.org/presentationml/2006/ole">
            <mc:AlternateContent xmlns:mc="http://schemas.openxmlformats.org/markup-compatibility/2006">
              <mc:Choice xmlns:v="urn:schemas-microsoft-com:vml" Requires="v">
                <p:oleObj name="Equation" r:id="rId2" imgW="469800" imgH="444240" progId="Equation.DSMT4">
                  <p:embed/>
                </p:oleObj>
              </mc:Choice>
              <mc:Fallback>
                <p:oleObj name="Equation" r:id="rId2" imgW="469800" imgH="444240" progId="Equation.DSMT4">
                  <p:embed/>
                  <p:pic>
                    <p:nvPicPr>
                      <p:cNvPr id="5" name="Object 4">
                        <a:extLst>
                          <a:ext uri="{FF2B5EF4-FFF2-40B4-BE49-F238E27FC236}">
                            <a16:creationId xmlns:a16="http://schemas.microsoft.com/office/drawing/2014/main" id="{02A73443-CA39-4CA8-9548-FD5A273A0B93}"/>
                          </a:ext>
                        </a:extLst>
                      </p:cNvPr>
                      <p:cNvPicPr/>
                      <p:nvPr/>
                    </p:nvPicPr>
                    <p:blipFill>
                      <a:blip r:embed="rId3"/>
                      <a:stretch>
                        <a:fillRect/>
                      </a:stretch>
                    </p:blipFill>
                    <p:spPr>
                      <a:xfrm>
                        <a:off x="827088" y="3073558"/>
                        <a:ext cx="917575" cy="868362"/>
                      </a:xfrm>
                      <a:prstGeom prst="rect">
                        <a:avLst/>
                      </a:prstGeom>
                    </p:spPr>
                  </p:pic>
                </p:oleObj>
              </mc:Fallback>
            </mc:AlternateContent>
          </a:graphicData>
        </a:graphic>
      </p:graphicFrame>
    </p:spTree>
    <p:extLst>
      <p:ext uri="{BB962C8B-B14F-4D97-AF65-F5344CB8AC3E}">
        <p14:creationId xmlns:p14="http://schemas.microsoft.com/office/powerpoint/2010/main" val="3657278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A Numerical Example </a:t>
            </a:r>
            <a:r>
              <a:rPr lang="en-US" altLang="en-US" sz="2000" b="0" dirty="0">
                <a:latin typeface="+mj-lt"/>
              </a:rPr>
              <a:t>(4 of 5)</a:t>
            </a:r>
            <a:endParaRPr lang="en-IN" sz="2000" dirty="0">
              <a:latin typeface="+mj-lt"/>
            </a:endParaRPr>
          </a:p>
        </p:txBody>
      </p:sp>
      <p:sp>
        <p:nvSpPr>
          <p:cNvPr id="3" name="Content Placeholder 2"/>
          <p:cNvSpPr>
            <a:spLocks noGrp="1"/>
          </p:cNvSpPr>
          <p:nvPr>
            <p:ph idx="1"/>
          </p:nvPr>
        </p:nvSpPr>
        <p:spPr>
          <a:xfrm>
            <a:off x="457200" y="1600201"/>
            <a:ext cx="7848600" cy="483242"/>
          </a:xfrm>
        </p:spPr>
        <p:txBody>
          <a:bodyPr/>
          <a:lstStyle/>
          <a:p>
            <a:pPr indent="-255600"/>
            <a:r>
              <a:rPr lang="en-US" altLang="en-US" sz="2000" dirty="0">
                <a:latin typeface="+mn-lt"/>
                <a:ea typeface="ヒラギノ角ゴ Pro W3" pitchFamily="-84" charset="-128"/>
              </a:rPr>
              <a:t>With trade, the foreign country can buy one pound of cheese for</a:t>
            </a:r>
            <a:endParaRPr lang="en-US" sz="2000" dirty="0">
              <a:latin typeface="+mn-lt"/>
            </a:endParaRPr>
          </a:p>
        </p:txBody>
      </p:sp>
      <p:sp>
        <p:nvSpPr>
          <p:cNvPr id="4" name="Content Placeholder 3"/>
          <p:cNvSpPr>
            <a:spLocks noGrp="1"/>
          </p:cNvSpPr>
          <p:nvPr>
            <p:ph idx="13"/>
          </p:nvPr>
        </p:nvSpPr>
        <p:spPr>
          <a:xfrm>
            <a:off x="457200" y="2963903"/>
            <a:ext cx="4632960" cy="492342"/>
          </a:xfrm>
        </p:spPr>
        <p:txBody>
          <a:bodyPr/>
          <a:lstStyle/>
          <a:p>
            <a:pPr lvl="1" indent="-284400"/>
            <a:r>
              <a:rPr lang="en-US" altLang="en-US" sz="2000" dirty="0">
                <a:latin typeface="+mn-lt"/>
                <a:ea typeface="ヒラギノ角ゴ Pro W3" pitchFamily="-84" charset="-128"/>
              </a:rPr>
              <a:t>instead of stopping production of</a:t>
            </a:r>
            <a:endParaRPr lang="en-US" sz="2000" dirty="0">
              <a:latin typeface="+mn-lt"/>
            </a:endParaRPr>
          </a:p>
        </p:txBody>
      </p:sp>
      <p:sp>
        <p:nvSpPr>
          <p:cNvPr id="5" name="Content Placeholder 4"/>
          <p:cNvSpPr>
            <a:spLocks noGrp="1"/>
          </p:cNvSpPr>
          <p:nvPr>
            <p:ph idx="14"/>
          </p:nvPr>
        </p:nvSpPr>
        <p:spPr>
          <a:xfrm>
            <a:off x="457199" y="3666825"/>
            <a:ext cx="8229601" cy="735358"/>
          </a:xfrm>
        </p:spPr>
        <p:txBody>
          <a:bodyPr/>
          <a:lstStyle/>
          <a:p>
            <a:pPr marL="741600" lvl="1" indent="0">
              <a:spcBef>
                <a:spcPts val="1500"/>
              </a:spcBef>
              <a:buNone/>
            </a:pPr>
            <a:r>
              <a:rPr lang="en-US" altLang="en-US" sz="2000" dirty="0">
                <a:latin typeface="+mn-lt"/>
                <a:ea typeface="ヒラギノ角ゴ Pro W3" pitchFamily="-84" charset="-128"/>
              </a:rPr>
              <a:t>of wine to free up enough labor to produce one pound of cheese in the absence</a:t>
            </a:r>
            <a:r>
              <a:rPr lang="en-US" altLang="en-US" sz="2000" dirty="0">
                <a:latin typeface="+mn-lt"/>
              </a:rPr>
              <a:t> </a:t>
            </a:r>
            <a:r>
              <a:rPr lang="en-US" altLang="en-US" sz="2000" dirty="0">
                <a:latin typeface="+mn-lt"/>
                <a:ea typeface="ヒラギノ角ゴ Pro W3" pitchFamily="-84" charset="-128"/>
              </a:rPr>
              <a:t>of trade.</a:t>
            </a:r>
            <a:endParaRPr lang="en-US" sz="2000" dirty="0">
              <a:latin typeface="+mn-lt"/>
            </a:endParaRPr>
          </a:p>
        </p:txBody>
      </p:sp>
      <p:sp>
        <p:nvSpPr>
          <p:cNvPr id="7" name="Content Placeholder 6"/>
          <p:cNvSpPr>
            <a:spLocks noGrp="1"/>
          </p:cNvSpPr>
          <p:nvPr>
            <p:ph idx="15"/>
          </p:nvPr>
        </p:nvSpPr>
        <p:spPr>
          <a:xfrm>
            <a:off x="457200" y="4510955"/>
            <a:ext cx="1969008" cy="437252"/>
          </a:xfrm>
        </p:spPr>
        <p:txBody>
          <a:bodyPr/>
          <a:lstStyle/>
          <a:p>
            <a:pPr lvl="1" indent="-284400"/>
            <a:r>
              <a:rPr lang="en-US" altLang="en-US" sz="2000" dirty="0">
                <a:latin typeface="+mn-lt"/>
                <a:ea typeface="ヒラギノ角ゴ Pro W3" pitchFamily="-84" charset="-128"/>
              </a:rPr>
              <a:t>Suppose</a:t>
            </a:r>
            <a:endParaRPr lang="en-IN" sz="2000" dirty="0">
              <a:latin typeface="+mn-lt"/>
            </a:endParaRPr>
          </a:p>
        </p:txBody>
      </p:sp>
      <p:sp>
        <p:nvSpPr>
          <p:cNvPr id="8" name="Content Placeholder 7"/>
          <p:cNvSpPr>
            <a:spLocks noGrp="1"/>
          </p:cNvSpPr>
          <p:nvPr>
            <p:ph idx="16"/>
          </p:nvPr>
        </p:nvSpPr>
        <p:spPr>
          <a:xfrm>
            <a:off x="3780092" y="4536355"/>
            <a:ext cx="4665408" cy="426805"/>
          </a:xfrm>
        </p:spPr>
        <p:txBody>
          <a:bodyPr/>
          <a:lstStyle/>
          <a:p>
            <a:pPr marL="0" lvl="1" indent="0">
              <a:buNone/>
            </a:pPr>
            <a:r>
              <a:rPr lang="en-US" altLang="en-US" sz="2000" dirty="0">
                <a:latin typeface="+mn-lt"/>
                <a:ea typeface="ヒラギノ角ゴ Pro W3" pitchFamily="-84" charset="-128"/>
              </a:rPr>
              <a:t>The foreign country can trade its 1,000</a:t>
            </a:r>
            <a:endParaRPr lang="en-IN" sz="2000" dirty="0">
              <a:latin typeface="+mn-lt"/>
            </a:endParaRPr>
          </a:p>
        </p:txBody>
      </p:sp>
      <p:sp>
        <p:nvSpPr>
          <p:cNvPr id="9" name="Content Placeholder 8"/>
          <p:cNvSpPr>
            <a:spLocks noGrp="1"/>
          </p:cNvSpPr>
          <p:nvPr>
            <p:ph sz="quarter" idx="17"/>
          </p:nvPr>
        </p:nvSpPr>
        <p:spPr>
          <a:xfrm>
            <a:off x="457199" y="5037301"/>
            <a:ext cx="8325557" cy="778216"/>
          </a:xfrm>
        </p:spPr>
        <p:txBody>
          <a:bodyPr/>
          <a:lstStyle/>
          <a:p>
            <a:pPr marL="741600" lvl="1" indent="6350">
              <a:buNone/>
            </a:pPr>
            <a:r>
              <a:rPr lang="en-US" altLang="en-US" sz="2000" dirty="0">
                <a:latin typeface="+mn-lt"/>
                <a:ea typeface="ヒラギノ角ゴ Pro W3" pitchFamily="-84" charset="-128"/>
              </a:rPr>
              <a:t>gallons maximum production of wine for 1,000 pounds of cheese, instead of the 500 pounds of cheese it could produce itself.</a:t>
            </a:r>
            <a:endParaRPr lang="en-US" sz="2000" dirty="0">
              <a:latin typeface="+mn-lt"/>
            </a:endParaRPr>
          </a:p>
        </p:txBody>
      </p:sp>
      <p:graphicFrame>
        <p:nvGraphicFramePr>
          <p:cNvPr id="11" name="Object 10" descr="Start fraction P sub C over P sub W end fraction = one gallon of wine,"/>
          <p:cNvGraphicFramePr>
            <a:graphicFrameLocks noChangeAspect="1"/>
          </p:cNvGraphicFramePr>
          <p:nvPr>
            <p:extLst>
              <p:ext uri="{D42A27DB-BD31-4B8C-83A1-F6EECF244321}">
                <p14:modId xmlns:p14="http://schemas.microsoft.com/office/powerpoint/2010/main" val="3626844465"/>
              </p:ext>
            </p:extLst>
          </p:nvPr>
        </p:nvGraphicFramePr>
        <p:xfrm>
          <a:off x="796332" y="2139888"/>
          <a:ext cx="2720312" cy="715872"/>
        </p:xfrm>
        <a:graphic>
          <a:graphicData uri="http://schemas.openxmlformats.org/presentationml/2006/ole">
            <mc:AlternateContent xmlns:mc="http://schemas.openxmlformats.org/markup-compatibility/2006">
              <mc:Choice xmlns:v="urn:schemas-microsoft-com:vml" Requires="v">
                <p:oleObj name="Equation" r:id="rId2" imgW="1688760" imgH="444240" progId="Equation.DSMT4">
                  <p:embed/>
                </p:oleObj>
              </mc:Choice>
              <mc:Fallback>
                <p:oleObj name="Equation" r:id="rId2" imgW="1688760" imgH="444240" progId="Equation.DSMT4">
                  <p:embed/>
                  <p:pic>
                    <p:nvPicPr>
                      <p:cNvPr id="11" name="Object 10"/>
                      <p:cNvPicPr/>
                      <p:nvPr/>
                    </p:nvPicPr>
                    <p:blipFill>
                      <a:blip r:embed="rId3"/>
                      <a:stretch>
                        <a:fillRect/>
                      </a:stretch>
                    </p:blipFill>
                    <p:spPr>
                      <a:xfrm>
                        <a:off x="796332" y="2139888"/>
                        <a:ext cx="2720312" cy="715872"/>
                      </a:xfrm>
                      <a:prstGeom prst="rect">
                        <a:avLst/>
                      </a:prstGeom>
                    </p:spPr>
                  </p:pic>
                </p:oleObj>
              </mc:Fallback>
            </mc:AlternateContent>
          </a:graphicData>
        </a:graphic>
      </p:graphicFrame>
      <p:graphicFrame>
        <p:nvGraphicFramePr>
          <p:cNvPr id="12" name="Object 11" descr="start fraction a to the asterisk power sub start expression L C end expression over a to the asterisk power sub start expression L W end expression end fraction = 2 gallons"/>
          <p:cNvGraphicFramePr>
            <a:graphicFrameLocks noChangeAspect="1"/>
          </p:cNvGraphicFramePr>
          <p:nvPr>
            <p:extLst>
              <p:ext uri="{D42A27DB-BD31-4B8C-83A1-F6EECF244321}">
                <p14:modId xmlns:p14="http://schemas.microsoft.com/office/powerpoint/2010/main" val="3747681222"/>
              </p:ext>
            </p:extLst>
          </p:nvPr>
        </p:nvGraphicFramePr>
        <p:xfrm>
          <a:off x="5184108" y="2851043"/>
          <a:ext cx="1717675" cy="736600"/>
        </p:xfrm>
        <a:graphic>
          <a:graphicData uri="http://schemas.openxmlformats.org/presentationml/2006/ole">
            <mc:AlternateContent xmlns:mc="http://schemas.openxmlformats.org/markup-compatibility/2006">
              <mc:Choice xmlns:v="urn:schemas-microsoft-com:vml" Requires="v">
                <p:oleObj name="Equation" r:id="rId4" imgW="1066680" imgH="457200" progId="Equation.DSMT4">
                  <p:embed/>
                </p:oleObj>
              </mc:Choice>
              <mc:Fallback>
                <p:oleObj name="Equation" r:id="rId4" imgW="1066680" imgH="457200" progId="Equation.DSMT4">
                  <p:embed/>
                  <p:pic>
                    <p:nvPicPr>
                      <p:cNvPr id="12" name="Object 11"/>
                      <p:cNvPicPr/>
                      <p:nvPr/>
                    </p:nvPicPr>
                    <p:blipFill>
                      <a:blip r:embed="rId5"/>
                      <a:stretch>
                        <a:fillRect/>
                      </a:stretch>
                    </p:blipFill>
                    <p:spPr>
                      <a:xfrm>
                        <a:off x="5184108" y="2851043"/>
                        <a:ext cx="1717675" cy="736600"/>
                      </a:xfrm>
                      <a:prstGeom prst="rect">
                        <a:avLst/>
                      </a:prstGeom>
                    </p:spPr>
                  </p:pic>
                </p:oleObj>
              </mc:Fallback>
            </mc:AlternateContent>
          </a:graphicData>
        </a:graphic>
      </p:graphicFrame>
      <p:graphicFrame>
        <p:nvGraphicFramePr>
          <p:cNvPr id="13" name="Object 12" descr="L to the asterisk power = 3,000."/>
          <p:cNvGraphicFramePr>
            <a:graphicFrameLocks noChangeAspect="1"/>
          </p:cNvGraphicFramePr>
          <p:nvPr>
            <p:extLst>
              <p:ext uri="{D42A27DB-BD31-4B8C-83A1-F6EECF244321}">
                <p14:modId xmlns:p14="http://schemas.microsoft.com/office/powerpoint/2010/main" val="4116757815"/>
              </p:ext>
            </p:extLst>
          </p:nvPr>
        </p:nvGraphicFramePr>
        <p:xfrm>
          <a:off x="2554625" y="4614334"/>
          <a:ext cx="1097050" cy="316099"/>
        </p:xfrm>
        <a:graphic>
          <a:graphicData uri="http://schemas.openxmlformats.org/presentationml/2006/ole">
            <mc:AlternateContent xmlns:mc="http://schemas.openxmlformats.org/markup-compatibility/2006">
              <mc:Choice xmlns:v="urn:schemas-microsoft-com:vml" Requires="v">
                <p:oleObj name="Equation" r:id="rId6" imgW="749160" imgH="215640" progId="Equation.DSMT4">
                  <p:embed/>
                </p:oleObj>
              </mc:Choice>
              <mc:Fallback>
                <p:oleObj name="Equation" r:id="rId6" imgW="749160" imgH="215640" progId="Equation.DSMT4">
                  <p:embed/>
                  <p:pic>
                    <p:nvPicPr>
                      <p:cNvPr id="13" name="Object 12"/>
                      <p:cNvPicPr/>
                      <p:nvPr/>
                    </p:nvPicPr>
                    <p:blipFill>
                      <a:blip r:embed="rId7"/>
                      <a:stretch>
                        <a:fillRect/>
                      </a:stretch>
                    </p:blipFill>
                    <p:spPr>
                      <a:xfrm>
                        <a:off x="2554625" y="4614334"/>
                        <a:ext cx="1097050" cy="316099"/>
                      </a:xfrm>
                      <a:prstGeom prst="rect">
                        <a:avLst/>
                      </a:prstGeom>
                    </p:spPr>
                  </p:pic>
                </p:oleObj>
              </mc:Fallback>
            </mc:AlternateContent>
          </a:graphicData>
        </a:graphic>
      </p:graphicFrame>
    </p:spTree>
    <p:extLst>
      <p:ext uri="{BB962C8B-B14F-4D97-AF65-F5344CB8AC3E}">
        <p14:creationId xmlns:p14="http://schemas.microsoft.com/office/powerpoint/2010/main" val="2746029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rPr>
              <a:t>A Numerical Example </a:t>
            </a:r>
            <a:r>
              <a:rPr lang="en-US" altLang="en-US" sz="2000" b="0" dirty="0">
                <a:latin typeface="+mj-lt"/>
              </a:rPr>
              <a:t>(5 of 5)</a:t>
            </a:r>
            <a:endParaRPr lang="en-IN" sz="2000" dirty="0">
              <a:latin typeface="+mj-lt"/>
            </a:endParaRPr>
          </a:p>
        </p:txBody>
      </p:sp>
      <p:sp>
        <p:nvSpPr>
          <p:cNvPr id="3" name="Content Placeholder 2"/>
          <p:cNvSpPr>
            <a:spLocks noGrp="1"/>
          </p:cNvSpPr>
          <p:nvPr>
            <p:ph idx="1"/>
          </p:nvPr>
        </p:nvSpPr>
        <p:spPr>
          <a:xfrm>
            <a:off x="457200" y="1614669"/>
            <a:ext cx="7953022" cy="552798"/>
          </a:xfrm>
        </p:spPr>
        <p:txBody>
          <a:bodyPr tIns="0"/>
          <a:lstStyle/>
          <a:p>
            <a:pPr indent="-255600">
              <a:lnSpc>
                <a:spcPct val="150000"/>
              </a:lnSpc>
            </a:pPr>
            <a:r>
              <a:rPr lang="en-US" altLang="en-US" sz="2000" dirty="0">
                <a:latin typeface="+mn-lt"/>
                <a:ea typeface="ヒラギノ角ゴ Pro W3" pitchFamily="-84" charset="-128"/>
              </a:rPr>
              <a:t>With trade, the home country can buy one gallon of wine for</a:t>
            </a:r>
            <a:endParaRPr lang="en-US" sz="2000" dirty="0">
              <a:latin typeface="+mn-lt"/>
            </a:endParaRPr>
          </a:p>
        </p:txBody>
      </p:sp>
      <p:sp>
        <p:nvSpPr>
          <p:cNvPr id="4" name="Content Placeholder 3"/>
          <p:cNvSpPr>
            <a:spLocks noGrp="1"/>
          </p:cNvSpPr>
          <p:nvPr>
            <p:ph idx="13"/>
          </p:nvPr>
        </p:nvSpPr>
        <p:spPr>
          <a:xfrm>
            <a:off x="457200" y="3081470"/>
            <a:ext cx="4634090" cy="483242"/>
          </a:xfrm>
        </p:spPr>
        <p:txBody>
          <a:bodyPr/>
          <a:lstStyle/>
          <a:p>
            <a:pPr lvl="1" indent="-284400"/>
            <a:r>
              <a:rPr lang="en-US" altLang="en-US" sz="2000" dirty="0">
                <a:latin typeface="+mn-lt"/>
                <a:ea typeface="ヒラギノ角ゴ Pro W3" pitchFamily="-84" charset="-128"/>
              </a:rPr>
              <a:t>instead of stopping production of</a:t>
            </a:r>
            <a:endParaRPr lang="en-US" sz="2000" dirty="0">
              <a:latin typeface="+mn-lt"/>
            </a:endParaRPr>
          </a:p>
        </p:txBody>
      </p:sp>
      <p:sp>
        <p:nvSpPr>
          <p:cNvPr id="5" name="Content Placeholder 4"/>
          <p:cNvSpPr>
            <a:spLocks noGrp="1"/>
          </p:cNvSpPr>
          <p:nvPr>
            <p:ph idx="14"/>
          </p:nvPr>
        </p:nvSpPr>
        <p:spPr>
          <a:xfrm>
            <a:off x="457200" y="3762958"/>
            <a:ext cx="8085971" cy="832204"/>
          </a:xfrm>
        </p:spPr>
        <p:txBody>
          <a:bodyPr/>
          <a:lstStyle/>
          <a:p>
            <a:pPr marL="741600" lvl="1" indent="0">
              <a:buNone/>
            </a:pPr>
            <a:r>
              <a:rPr lang="en-US" altLang="en-US" sz="2000" dirty="0">
                <a:latin typeface="+mn-lt"/>
                <a:ea typeface="ヒラギノ角ゴ Pro W3" pitchFamily="-84" charset="-128"/>
              </a:rPr>
              <a:t>of cheese to free up enough labor to produce one gallon of wine in the absence of trade.</a:t>
            </a:r>
            <a:endParaRPr lang="en-US" sz="2000" dirty="0">
              <a:latin typeface="+mn-lt"/>
            </a:endParaRPr>
          </a:p>
        </p:txBody>
      </p:sp>
      <p:sp>
        <p:nvSpPr>
          <p:cNvPr id="16" name="Content Placeholder 15">
            <a:extLst>
              <a:ext uri="{FF2B5EF4-FFF2-40B4-BE49-F238E27FC236}">
                <a16:creationId xmlns:a16="http://schemas.microsoft.com/office/drawing/2014/main" id="{0FBF5AA7-279F-4DBC-A217-D225313AE0D1}"/>
              </a:ext>
            </a:extLst>
          </p:cNvPr>
          <p:cNvSpPr>
            <a:spLocks noGrp="1"/>
          </p:cNvSpPr>
          <p:nvPr>
            <p:ph idx="15"/>
          </p:nvPr>
        </p:nvSpPr>
        <p:spPr>
          <a:xfrm>
            <a:off x="457200" y="4689575"/>
            <a:ext cx="8229600" cy="1207007"/>
          </a:xfrm>
        </p:spPr>
        <p:txBody>
          <a:bodyPr/>
          <a:lstStyle/>
          <a:p>
            <a:pPr indent="-255600"/>
            <a:r>
              <a:rPr lang="en-US" altLang="en-US" sz="2000" dirty="0">
                <a:latin typeface="+mn-lt"/>
                <a:ea typeface="ヒラギノ角ゴ Pro W3" pitchFamily="-84" charset="-128"/>
              </a:rPr>
              <a:t>The home country can trade its 1,000 pounds maximum production of cheese for 1,000 gallons of wine, instead of the 500 gallons of wine it could produce itself.</a:t>
            </a:r>
            <a:endParaRPr lang="en-US" sz="2000" dirty="0">
              <a:latin typeface="+mn-lt"/>
            </a:endParaRPr>
          </a:p>
        </p:txBody>
      </p:sp>
      <p:graphicFrame>
        <p:nvGraphicFramePr>
          <p:cNvPr id="11" name="Object 10" descr="Start fraction P sub C over P sub W end fraction = one gallon of cheese,"/>
          <p:cNvGraphicFramePr>
            <a:graphicFrameLocks noChangeAspect="1"/>
          </p:cNvGraphicFramePr>
          <p:nvPr>
            <p:extLst>
              <p:ext uri="{D42A27DB-BD31-4B8C-83A1-F6EECF244321}">
                <p14:modId xmlns:p14="http://schemas.microsoft.com/office/powerpoint/2010/main" val="2421208375"/>
              </p:ext>
            </p:extLst>
          </p:nvPr>
        </p:nvGraphicFramePr>
        <p:xfrm>
          <a:off x="827088" y="2262779"/>
          <a:ext cx="3046413" cy="715962"/>
        </p:xfrm>
        <a:graphic>
          <a:graphicData uri="http://schemas.openxmlformats.org/presentationml/2006/ole">
            <mc:AlternateContent xmlns:mc="http://schemas.openxmlformats.org/markup-compatibility/2006">
              <mc:Choice xmlns:v="urn:schemas-microsoft-com:vml" Requires="v">
                <p:oleObj name="Equation" r:id="rId2" imgW="1892160" imgH="444240" progId="Equation.DSMT4">
                  <p:embed/>
                </p:oleObj>
              </mc:Choice>
              <mc:Fallback>
                <p:oleObj name="Equation" r:id="rId2" imgW="1892160" imgH="444240" progId="Equation.DSMT4">
                  <p:embed/>
                  <p:pic>
                    <p:nvPicPr>
                      <p:cNvPr id="11" name="Object 10"/>
                      <p:cNvPicPr/>
                      <p:nvPr/>
                    </p:nvPicPr>
                    <p:blipFill>
                      <a:blip r:embed="rId3"/>
                      <a:stretch>
                        <a:fillRect/>
                      </a:stretch>
                    </p:blipFill>
                    <p:spPr>
                      <a:xfrm>
                        <a:off x="827088" y="2262779"/>
                        <a:ext cx="3046413" cy="715962"/>
                      </a:xfrm>
                      <a:prstGeom prst="rect">
                        <a:avLst/>
                      </a:prstGeom>
                    </p:spPr>
                  </p:pic>
                </p:oleObj>
              </mc:Fallback>
            </mc:AlternateContent>
          </a:graphicData>
        </a:graphic>
      </p:graphicFrame>
      <p:graphicFrame>
        <p:nvGraphicFramePr>
          <p:cNvPr id="12" name="Object 11" descr="start fraction a sub start expression L C end expression over a sub start expression L W end expression end fraction = 2 pounds"/>
          <p:cNvGraphicFramePr>
            <a:graphicFrameLocks noChangeAspect="1"/>
          </p:cNvGraphicFramePr>
          <p:nvPr>
            <p:extLst>
              <p:ext uri="{D42A27DB-BD31-4B8C-83A1-F6EECF244321}">
                <p14:modId xmlns:p14="http://schemas.microsoft.com/office/powerpoint/2010/main" val="3749757617"/>
              </p:ext>
            </p:extLst>
          </p:nvPr>
        </p:nvGraphicFramePr>
        <p:xfrm>
          <a:off x="5188841" y="3002377"/>
          <a:ext cx="1738312" cy="695325"/>
        </p:xfrm>
        <a:graphic>
          <a:graphicData uri="http://schemas.openxmlformats.org/presentationml/2006/ole">
            <mc:AlternateContent xmlns:mc="http://schemas.openxmlformats.org/markup-compatibility/2006">
              <mc:Choice xmlns:v="urn:schemas-microsoft-com:vml" Requires="v">
                <p:oleObj name="Equation" r:id="rId4" imgW="1079280" imgH="431640" progId="Equation.DSMT4">
                  <p:embed/>
                </p:oleObj>
              </mc:Choice>
              <mc:Fallback>
                <p:oleObj name="Equation" r:id="rId4" imgW="1079280" imgH="431640" progId="Equation.DSMT4">
                  <p:embed/>
                  <p:pic>
                    <p:nvPicPr>
                      <p:cNvPr id="12" name="Object 11"/>
                      <p:cNvPicPr/>
                      <p:nvPr/>
                    </p:nvPicPr>
                    <p:blipFill>
                      <a:blip r:embed="rId5"/>
                      <a:stretch>
                        <a:fillRect/>
                      </a:stretch>
                    </p:blipFill>
                    <p:spPr>
                      <a:xfrm>
                        <a:off x="5188841" y="3002377"/>
                        <a:ext cx="1738312" cy="695325"/>
                      </a:xfrm>
                      <a:prstGeom prst="rect">
                        <a:avLst/>
                      </a:prstGeom>
                    </p:spPr>
                  </p:pic>
                </p:oleObj>
              </mc:Fallback>
            </mc:AlternateContent>
          </a:graphicData>
        </a:graphic>
      </p:graphicFrame>
    </p:spTree>
    <p:extLst>
      <p:ext uri="{BB962C8B-B14F-4D97-AF65-F5344CB8AC3E}">
        <p14:creationId xmlns:p14="http://schemas.microsoft.com/office/powerpoint/2010/main" val="16086772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1978-190B-44B8-BD63-52E3E6413CB7}"/>
              </a:ext>
            </a:extLst>
          </p:cNvPr>
          <p:cNvSpPr>
            <a:spLocks noGrp="1"/>
          </p:cNvSpPr>
          <p:nvPr>
            <p:ph type="title"/>
          </p:nvPr>
        </p:nvSpPr>
        <p:spPr/>
        <p:txBody>
          <a:bodyPr/>
          <a:lstStyle/>
          <a:p>
            <a:r>
              <a:rPr lang="en-US" altLang="en-US" sz="3600" dirty="0">
                <a:solidFill>
                  <a:schemeClr val="tx1"/>
                </a:solidFill>
                <a:ea typeface="ヒラギノ角ゴ Pro W3" pitchFamily="-84" charset="-128"/>
              </a:rPr>
              <a:t>Relative Wages </a:t>
            </a:r>
            <a:r>
              <a:rPr lang="en-US" altLang="en-US" sz="2000" b="0" dirty="0">
                <a:solidFill>
                  <a:schemeClr val="tx1"/>
                </a:solidFill>
                <a:ea typeface="ヒラギノ角ゴ Pro W3" pitchFamily="-84" charset="-128"/>
              </a:rPr>
              <a:t>(1 of 5)</a:t>
            </a:r>
            <a:endParaRPr lang="en-IN" dirty="0">
              <a:solidFill>
                <a:schemeClr val="tx1"/>
              </a:solidFill>
            </a:endParaRPr>
          </a:p>
        </p:txBody>
      </p:sp>
      <p:sp>
        <p:nvSpPr>
          <p:cNvPr id="3" name="Content Placeholder 2">
            <a:extLst>
              <a:ext uri="{FF2B5EF4-FFF2-40B4-BE49-F238E27FC236}">
                <a16:creationId xmlns:a16="http://schemas.microsoft.com/office/drawing/2014/main" id="{CDCA56F2-336A-43EF-90C9-366F468972A4}"/>
              </a:ext>
            </a:extLst>
          </p:cNvPr>
          <p:cNvSpPr>
            <a:spLocks noGrp="1"/>
          </p:cNvSpPr>
          <p:nvPr>
            <p:ph sz="quarter" idx="13"/>
          </p:nvPr>
        </p:nvSpPr>
        <p:spPr/>
        <p:txBody>
          <a:bodyPr/>
          <a:lstStyle/>
          <a:p>
            <a:r>
              <a:rPr lang="en-US" altLang="en-US" sz="2200" b="1" dirty="0">
                <a:ea typeface="ヒラギノ角ゴ Pro W3" pitchFamily="-84" charset="-128"/>
              </a:rPr>
              <a:t>Relative wages</a:t>
            </a:r>
            <a:r>
              <a:rPr lang="en-US" altLang="en-US" sz="2200" dirty="0">
                <a:ea typeface="ヒラギノ角ゴ Pro W3" pitchFamily="-84" charset="-128"/>
              </a:rPr>
              <a:t> are the wages of the home country relative to the wages in the foreign country.</a:t>
            </a:r>
          </a:p>
          <a:p>
            <a:r>
              <a:rPr lang="en-US" altLang="en-US" sz="2200" dirty="0">
                <a:ea typeface="ヒラギノ角ゴ Pro W3" pitchFamily="-84" charset="-128"/>
              </a:rPr>
              <a:t>Productivity (technological) differences determine relative wage differences across countries.</a:t>
            </a:r>
          </a:p>
          <a:p>
            <a:r>
              <a:rPr lang="en-US" altLang="en-US" sz="2200" dirty="0">
                <a:ea typeface="ヒラギノ角ゴ Pro W3" pitchFamily="-84" charset="-128"/>
              </a:rPr>
              <a:t>The home wage relative to the foreign wage will settle in between the ratio of how much better Home is at making cheese, and how much better it is at making wine compared to Foreign.</a:t>
            </a:r>
          </a:p>
          <a:p>
            <a:r>
              <a:rPr lang="en-US" altLang="en-US" sz="2200" dirty="0">
                <a:ea typeface="ヒラギノ角ゴ Pro W3" pitchFamily="-84" charset="-128"/>
              </a:rPr>
              <a:t>Relative wages cause Home to have a cost advantage in only cheese, and Foreign to have a cost advantage in only wine.</a:t>
            </a:r>
            <a:endParaRPr lang="en-US" sz="2200" dirty="0"/>
          </a:p>
        </p:txBody>
      </p:sp>
    </p:spTree>
    <p:extLst>
      <p:ext uri="{BB962C8B-B14F-4D97-AF65-F5344CB8AC3E}">
        <p14:creationId xmlns:p14="http://schemas.microsoft.com/office/powerpoint/2010/main" val="780883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n-lt"/>
                <a:ea typeface="ヒラギノ角ゴ Pro W3" pitchFamily="-84" charset="-128"/>
              </a:rPr>
              <a:t>Relative Wages </a:t>
            </a:r>
            <a:r>
              <a:rPr lang="en-US" altLang="en-US" sz="2000" b="0" dirty="0">
                <a:latin typeface="+mn-lt"/>
                <a:ea typeface="ヒラギノ角ゴ Pro W3" pitchFamily="-84" charset="-128"/>
              </a:rPr>
              <a:t>(2 of 5)</a:t>
            </a:r>
            <a:endParaRPr lang="en-IN" sz="2000" dirty="0">
              <a:latin typeface="+mn-lt"/>
            </a:endParaRPr>
          </a:p>
        </p:txBody>
      </p:sp>
      <p:sp>
        <p:nvSpPr>
          <p:cNvPr id="3" name="Content Placeholder 2"/>
          <p:cNvSpPr>
            <a:spLocks noGrp="1"/>
          </p:cNvSpPr>
          <p:nvPr>
            <p:ph idx="1"/>
          </p:nvPr>
        </p:nvSpPr>
        <p:spPr>
          <a:xfrm>
            <a:off x="457199" y="1600201"/>
            <a:ext cx="1958623" cy="450668"/>
          </a:xfrm>
        </p:spPr>
        <p:txBody>
          <a:bodyPr/>
          <a:lstStyle/>
          <a:p>
            <a:pPr indent="-255600"/>
            <a:r>
              <a:rPr lang="en-US" altLang="en-US" sz="2000" dirty="0">
                <a:latin typeface="+mn-lt"/>
                <a:ea typeface="ヒラギノ角ゴ Pro W3" pitchFamily="-84" charset="-128"/>
              </a:rPr>
              <a:t>Suppose that</a:t>
            </a:r>
            <a:endParaRPr lang="en-IN" sz="2000" dirty="0">
              <a:latin typeface="+mn-lt"/>
            </a:endParaRPr>
          </a:p>
        </p:txBody>
      </p:sp>
      <p:sp>
        <p:nvSpPr>
          <p:cNvPr id="4" name="Content Placeholder 3"/>
          <p:cNvSpPr>
            <a:spLocks noGrp="1"/>
          </p:cNvSpPr>
          <p:nvPr>
            <p:ph idx="13"/>
          </p:nvPr>
        </p:nvSpPr>
        <p:spPr>
          <a:xfrm>
            <a:off x="457200" y="2133600"/>
            <a:ext cx="8229600" cy="814262"/>
          </a:xfrm>
        </p:spPr>
        <p:txBody>
          <a:bodyPr/>
          <a:lstStyle/>
          <a:p>
            <a:pPr indent="-255600"/>
            <a:r>
              <a:rPr lang="en-US" altLang="en-US" sz="2000" dirty="0">
                <a:latin typeface="+mn-lt"/>
                <a:ea typeface="ヒラギノ角ゴ Pro W3" pitchFamily="-84" charset="-128"/>
              </a:rPr>
              <a:t>Since domestic workers specialize in cheese production after trade, their hourly wages will be</a:t>
            </a:r>
            <a:endParaRPr lang="en-US" sz="2000" dirty="0">
              <a:latin typeface="+mn-lt"/>
            </a:endParaRPr>
          </a:p>
        </p:txBody>
      </p:sp>
      <p:sp>
        <p:nvSpPr>
          <p:cNvPr id="5" name="Content Placeholder 4"/>
          <p:cNvSpPr>
            <a:spLocks noGrp="1"/>
          </p:cNvSpPr>
          <p:nvPr>
            <p:ph idx="14"/>
          </p:nvPr>
        </p:nvSpPr>
        <p:spPr>
          <a:xfrm>
            <a:off x="457200" y="3762295"/>
            <a:ext cx="8229600" cy="757489"/>
          </a:xfrm>
        </p:spPr>
        <p:txBody>
          <a:bodyPr/>
          <a:lstStyle/>
          <a:p>
            <a:pPr indent="-255600"/>
            <a:r>
              <a:rPr lang="en-US" altLang="en-US" sz="2000" dirty="0">
                <a:latin typeface="+mn-lt"/>
                <a:ea typeface="ヒラギノ角ゴ Pro W3" pitchFamily="-84" charset="-128"/>
              </a:rPr>
              <a:t>Since foreign workers specialize in wine production after trade, their hourly wages will be</a:t>
            </a:r>
            <a:endParaRPr lang="en-US" sz="2000" dirty="0">
              <a:latin typeface="+mn-lt"/>
            </a:endParaRPr>
          </a:p>
        </p:txBody>
      </p:sp>
      <p:sp>
        <p:nvSpPr>
          <p:cNvPr id="6" name="Content Placeholder 5"/>
          <p:cNvSpPr>
            <a:spLocks noGrp="1"/>
          </p:cNvSpPr>
          <p:nvPr>
            <p:ph idx="15"/>
          </p:nvPr>
        </p:nvSpPr>
        <p:spPr>
          <a:xfrm>
            <a:off x="457201" y="5427483"/>
            <a:ext cx="6209818" cy="445227"/>
          </a:xfrm>
        </p:spPr>
        <p:txBody>
          <a:bodyPr/>
          <a:lstStyle/>
          <a:p>
            <a:pPr indent="-255600"/>
            <a:r>
              <a:rPr lang="en-US" altLang="en-US" sz="2000" dirty="0">
                <a:latin typeface="+mn-lt"/>
                <a:ea typeface="ヒラギノ角ゴ Pro W3" pitchFamily="-84" charset="-128"/>
              </a:rPr>
              <a:t>The relative wage of domestic workers is therefore</a:t>
            </a:r>
            <a:endParaRPr lang="en-US" sz="2000" dirty="0">
              <a:latin typeface="+mn-lt"/>
            </a:endParaRPr>
          </a:p>
        </p:txBody>
      </p:sp>
      <p:graphicFrame>
        <p:nvGraphicFramePr>
          <p:cNvPr id="11" name="Object 10" descr="P sub C = $12 per pound, and P sub W = $12 per gallon. "/>
          <p:cNvGraphicFramePr>
            <a:graphicFrameLocks noChangeAspect="1"/>
          </p:cNvGraphicFramePr>
          <p:nvPr>
            <p:extLst>
              <p:ext uri="{D42A27DB-BD31-4B8C-83A1-F6EECF244321}">
                <p14:modId xmlns:p14="http://schemas.microsoft.com/office/powerpoint/2010/main" val="3623397450"/>
              </p:ext>
            </p:extLst>
          </p:nvPr>
        </p:nvGraphicFramePr>
        <p:xfrm>
          <a:off x="2525553" y="1688092"/>
          <a:ext cx="4356591" cy="368163"/>
        </p:xfrm>
        <a:graphic>
          <a:graphicData uri="http://schemas.openxmlformats.org/presentationml/2006/ole">
            <mc:AlternateContent xmlns:mc="http://schemas.openxmlformats.org/markup-compatibility/2006">
              <mc:Choice xmlns:v="urn:schemas-microsoft-com:vml" Requires="v">
                <p:oleObj name="Equation" r:id="rId2" imgW="2705040" imgH="228600" progId="Equation.DSMT4">
                  <p:embed/>
                </p:oleObj>
              </mc:Choice>
              <mc:Fallback>
                <p:oleObj name="Equation" r:id="rId2" imgW="2705040" imgH="228600" progId="Equation.DSMT4">
                  <p:embed/>
                  <p:pic>
                    <p:nvPicPr>
                      <p:cNvPr id="11" name="Object 10"/>
                      <p:cNvPicPr/>
                      <p:nvPr/>
                    </p:nvPicPr>
                    <p:blipFill>
                      <a:blip r:embed="rId3"/>
                      <a:stretch>
                        <a:fillRect/>
                      </a:stretch>
                    </p:blipFill>
                    <p:spPr>
                      <a:xfrm>
                        <a:off x="2525553" y="1688092"/>
                        <a:ext cx="4356591" cy="368163"/>
                      </a:xfrm>
                      <a:prstGeom prst="rect">
                        <a:avLst/>
                      </a:prstGeom>
                    </p:spPr>
                  </p:pic>
                </p:oleObj>
              </mc:Fallback>
            </mc:AlternateContent>
          </a:graphicData>
        </a:graphic>
      </p:graphicFrame>
      <p:graphicFrame>
        <p:nvGraphicFramePr>
          <p:cNvPr id="12" name="Object 11" descr="Start fraction P sub C over a sub start expression L C end expression end fraction = start fraction $12 over 1 end fraction = $12."/>
          <p:cNvGraphicFramePr>
            <a:graphicFrameLocks noChangeAspect="1"/>
          </p:cNvGraphicFramePr>
          <p:nvPr>
            <p:extLst>
              <p:ext uri="{D42A27DB-BD31-4B8C-83A1-F6EECF244321}">
                <p14:modId xmlns:p14="http://schemas.microsoft.com/office/powerpoint/2010/main" val="1838017562"/>
              </p:ext>
            </p:extLst>
          </p:nvPr>
        </p:nvGraphicFramePr>
        <p:xfrm>
          <a:off x="3996073" y="3022047"/>
          <a:ext cx="1710654" cy="650793"/>
        </p:xfrm>
        <a:graphic>
          <a:graphicData uri="http://schemas.openxmlformats.org/presentationml/2006/ole">
            <mc:AlternateContent xmlns:mc="http://schemas.openxmlformats.org/markup-compatibility/2006">
              <mc:Choice xmlns:v="urn:schemas-microsoft-com:vml" Requires="v">
                <p:oleObj name="Equation" r:id="rId4" imgW="1168200" imgH="444240" progId="Equation.DSMT4">
                  <p:embed/>
                </p:oleObj>
              </mc:Choice>
              <mc:Fallback>
                <p:oleObj name="Equation" r:id="rId4" imgW="1168200" imgH="444240" progId="Equation.DSMT4">
                  <p:embed/>
                  <p:pic>
                    <p:nvPicPr>
                      <p:cNvPr id="12" name="Object 11"/>
                      <p:cNvPicPr/>
                      <p:nvPr/>
                    </p:nvPicPr>
                    <p:blipFill>
                      <a:blip r:embed="rId5"/>
                      <a:stretch>
                        <a:fillRect/>
                      </a:stretch>
                    </p:blipFill>
                    <p:spPr>
                      <a:xfrm>
                        <a:off x="3996073" y="3022047"/>
                        <a:ext cx="1710654" cy="650793"/>
                      </a:xfrm>
                      <a:prstGeom prst="rect">
                        <a:avLst/>
                      </a:prstGeom>
                    </p:spPr>
                  </p:pic>
                </p:oleObj>
              </mc:Fallback>
            </mc:AlternateContent>
          </a:graphicData>
        </a:graphic>
      </p:graphicFrame>
      <p:graphicFrame>
        <p:nvGraphicFramePr>
          <p:cNvPr id="13" name="Object 12" descr="Start fraction P sub W over a to the asterisk power sub start expression L W end expression end fraction = start fraction $12 over 3 end fraction = $4."/>
          <p:cNvGraphicFramePr>
            <a:graphicFrameLocks noChangeAspect="1"/>
          </p:cNvGraphicFramePr>
          <p:nvPr>
            <p:extLst>
              <p:ext uri="{D42A27DB-BD31-4B8C-83A1-F6EECF244321}">
                <p14:modId xmlns:p14="http://schemas.microsoft.com/office/powerpoint/2010/main" val="3751159679"/>
              </p:ext>
            </p:extLst>
          </p:nvPr>
        </p:nvGraphicFramePr>
        <p:xfrm>
          <a:off x="3996073" y="4638317"/>
          <a:ext cx="1636713" cy="650875"/>
        </p:xfrm>
        <a:graphic>
          <a:graphicData uri="http://schemas.openxmlformats.org/presentationml/2006/ole">
            <mc:AlternateContent xmlns:mc="http://schemas.openxmlformats.org/markup-compatibility/2006">
              <mc:Choice xmlns:v="urn:schemas-microsoft-com:vml" Requires="v">
                <p:oleObj name="Equation" r:id="rId6" imgW="1117440" imgH="444240" progId="Equation.DSMT4">
                  <p:embed/>
                </p:oleObj>
              </mc:Choice>
              <mc:Fallback>
                <p:oleObj name="Equation" r:id="rId6" imgW="1117440" imgH="444240" progId="Equation.DSMT4">
                  <p:embed/>
                  <p:pic>
                    <p:nvPicPr>
                      <p:cNvPr id="13" name="Object 12"/>
                      <p:cNvPicPr/>
                      <p:nvPr/>
                    </p:nvPicPr>
                    <p:blipFill>
                      <a:blip r:embed="rId7"/>
                      <a:stretch>
                        <a:fillRect/>
                      </a:stretch>
                    </p:blipFill>
                    <p:spPr>
                      <a:xfrm>
                        <a:off x="3996073" y="4638317"/>
                        <a:ext cx="1636713" cy="650875"/>
                      </a:xfrm>
                      <a:prstGeom prst="rect">
                        <a:avLst/>
                      </a:prstGeom>
                    </p:spPr>
                  </p:pic>
                </p:oleObj>
              </mc:Fallback>
            </mc:AlternateContent>
          </a:graphicData>
        </a:graphic>
      </p:graphicFrame>
      <p:graphicFrame>
        <p:nvGraphicFramePr>
          <p:cNvPr id="14" name="Object 13" descr="Start fraction$12 over $4 end fraction = 3."/>
          <p:cNvGraphicFramePr>
            <a:graphicFrameLocks noChangeAspect="1"/>
          </p:cNvGraphicFramePr>
          <p:nvPr>
            <p:extLst>
              <p:ext uri="{D42A27DB-BD31-4B8C-83A1-F6EECF244321}">
                <p14:modId xmlns:p14="http://schemas.microsoft.com/office/powerpoint/2010/main" val="1035569767"/>
              </p:ext>
            </p:extLst>
          </p:nvPr>
        </p:nvGraphicFramePr>
        <p:xfrm>
          <a:off x="6833549" y="5352591"/>
          <a:ext cx="873921" cy="595010"/>
        </p:xfrm>
        <a:graphic>
          <a:graphicData uri="http://schemas.openxmlformats.org/presentationml/2006/ole">
            <mc:AlternateContent xmlns:mc="http://schemas.openxmlformats.org/markup-compatibility/2006">
              <mc:Choice xmlns:v="urn:schemas-microsoft-com:vml" Requires="v">
                <p:oleObj name="Equation" r:id="rId8" imgW="596880" imgH="406080" progId="Equation.DSMT4">
                  <p:embed/>
                </p:oleObj>
              </mc:Choice>
              <mc:Fallback>
                <p:oleObj name="Equation" r:id="rId8" imgW="596880" imgH="406080" progId="Equation.DSMT4">
                  <p:embed/>
                  <p:pic>
                    <p:nvPicPr>
                      <p:cNvPr id="14" name="Object 13"/>
                      <p:cNvPicPr/>
                      <p:nvPr/>
                    </p:nvPicPr>
                    <p:blipFill>
                      <a:blip r:embed="rId9"/>
                      <a:stretch>
                        <a:fillRect/>
                      </a:stretch>
                    </p:blipFill>
                    <p:spPr>
                      <a:xfrm>
                        <a:off x="6833549" y="5352591"/>
                        <a:ext cx="873921" cy="595010"/>
                      </a:xfrm>
                      <a:prstGeom prst="rect">
                        <a:avLst/>
                      </a:prstGeom>
                    </p:spPr>
                  </p:pic>
                </p:oleObj>
              </mc:Fallback>
            </mc:AlternateContent>
          </a:graphicData>
        </a:graphic>
      </p:graphicFrame>
    </p:spTree>
    <p:extLst>
      <p:ext uri="{BB962C8B-B14F-4D97-AF65-F5344CB8AC3E}">
        <p14:creationId xmlns:p14="http://schemas.microsoft.com/office/powerpoint/2010/main" val="3593685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Relative Wages </a:t>
            </a:r>
            <a:r>
              <a:rPr lang="en-US" altLang="en-US" sz="2000" b="0" dirty="0">
                <a:latin typeface="+mj-lt"/>
                <a:ea typeface="ヒラギノ角ゴ Pro W3" pitchFamily="-84" charset="-128"/>
                <a:cs typeface="Times New Roman" panose="02020603050405020304" pitchFamily="18" charset="0"/>
              </a:rPr>
              <a:t>(3 of 5)</a:t>
            </a:r>
            <a:endParaRPr lang="en-US" sz="2000" dirty="0">
              <a:latin typeface="+mj-lt"/>
              <a:cs typeface="Times New Roman" panose="02020603050405020304" pitchFamily="18" charset="0"/>
            </a:endParaRPr>
          </a:p>
        </p:txBody>
      </p:sp>
      <p:sp>
        <p:nvSpPr>
          <p:cNvPr id="3" name="Content Placeholder 2"/>
          <p:cNvSpPr>
            <a:spLocks noGrp="1"/>
          </p:cNvSpPr>
          <p:nvPr>
            <p:ph idx="1"/>
          </p:nvPr>
        </p:nvSpPr>
        <p:spPr>
          <a:xfrm>
            <a:off x="457201" y="1600201"/>
            <a:ext cx="8229600" cy="894805"/>
          </a:xfrm>
        </p:spPr>
        <p:txBody>
          <a:bodyPr/>
          <a:lstStyle/>
          <a:p>
            <a:pPr indent="-255600"/>
            <a:r>
              <a:rPr lang="en-US" altLang="en-US" sz="2400" dirty="0">
                <a:latin typeface="+mn-lt"/>
                <a:ea typeface="ヒラギノ角ゴ Pro W3" pitchFamily="-84" charset="-128"/>
              </a:rPr>
              <a:t>The relative wage lies between the ratio of the productivities in each industry.</a:t>
            </a:r>
            <a:endParaRPr lang="en-US" sz="2400" dirty="0">
              <a:latin typeface="+mn-lt"/>
            </a:endParaRPr>
          </a:p>
        </p:txBody>
      </p:sp>
      <p:sp>
        <p:nvSpPr>
          <p:cNvPr id="4" name="Content Placeholder 3"/>
          <p:cNvSpPr>
            <a:spLocks noGrp="1"/>
          </p:cNvSpPr>
          <p:nvPr>
            <p:ph idx="13"/>
          </p:nvPr>
        </p:nvSpPr>
        <p:spPr>
          <a:xfrm>
            <a:off x="457200" y="2667000"/>
            <a:ext cx="3722135" cy="533400"/>
          </a:xfrm>
        </p:spPr>
        <p:txBody>
          <a:bodyPr/>
          <a:lstStyle/>
          <a:p>
            <a:pPr lvl="1" indent="-284400"/>
            <a:r>
              <a:rPr lang="en-US" altLang="en-US" sz="2400" dirty="0">
                <a:latin typeface="+mn-lt"/>
                <a:ea typeface="ヒラギノ角ゴ Pro W3" pitchFamily="-84" charset="-128"/>
              </a:rPr>
              <a:t>The home country is</a:t>
            </a:r>
            <a:endParaRPr lang="en-US" sz="2400" dirty="0">
              <a:latin typeface="+mn-lt"/>
            </a:endParaRPr>
          </a:p>
        </p:txBody>
      </p:sp>
      <p:sp>
        <p:nvSpPr>
          <p:cNvPr id="5" name="Content Placeholder 4"/>
          <p:cNvSpPr>
            <a:spLocks noGrp="1"/>
          </p:cNvSpPr>
          <p:nvPr>
            <p:ph idx="14"/>
          </p:nvPr>
        </p:nvSpPr>
        <p:spPr>
          <a:xfrm>
            <a:off x="5173396" y="2629060"/>
            <a:ext cx="3210560" cy="533400"/>
          </a:xfrm>
        </p:spPr>
        <p:txBody>
          <a:bodyPr/>
          <a:lstStyle/>
          <a:p>
            <a:pPr marL="0" lvl="1" indent="0">
              <a:buNone/>
            </a:pPr>
            <a:r>
              <a:rPr lang="en-US" altLang="en-US" sz="2400" dirty="0">
                <a:latin typeface="+mn-lt"/>
                <a:ea typeface="ヒラギノ角ゴ Pro W3" pitchFamily="-84" charset="-128"/>
              </a:rPr>
              <a:t>times as productive in</a:t>
            </a:r>
            <a:endParaRPr lang="en-US" sz="2400" dirty="0">
              <a:latin typeface="+mn-lt"/>
            </a:endParaRPr>
          </a:p>
        </p:txBody>
      </p:sp>
      <p:sp>
        <p:nvSpPr>
          <p:cNvPr id="6" name="Content Placeholder 5"/>
          <p:cNvSpPr>
            <a:spLocks noGrp="1"/>
          </p:cNvSpPr>
          <p:nvPr>
            <p:ph idx="15"/>
          </p:nvPr>
        </p:nvSpPr>
        <p:spPr>
          <a:xfrm>
            <a:off x="457202" y="3338076"/>
            <a:ext cx="4670384" cy="531602"/>
          </a:xfrm>
        </p:spPr>
        <p:txBody>
          <a:bodyPr/>
          <a:lstStyle/>
          <a:p>
            <a:pPr marL="741600" lvl="1" indent="0">
              <a:buNone/>
            </a:pPr>
            <a:r>
              <a:rPr lang="en-US" altLang="en-US" sz="2400" dirty="0">
                <a:latin typeface="+mn-lt"/>
                <a:ea typeface="ヒラギノ角ゴ Pro W3" pitchFamily="-84" charset="-128"/>
              </a:rPr>
              <a:t>cheese</a:t>
            </a:r>
            <a:r>
              <a:rPr lang="en-US" altLang="en-US" sz="2400" dirty="0">
                <a:latin typeface="+mn-lt"/>
              </a:rPr>
              <a:t> </a:t>
            </a:r>
            <a:r>
              <a:rPr lang="en-US" altLang="en-US" sz="2400" dirty="0">
                <a:latin typeface="+mn-lt"/>
                <a:ea typeface="ヒラギノ角ゴ Pro W3" pitchFamily="-84" charset="-128"/>
              </a:rPr>
              <a:t>production, but only</a:t>
            </a:r>
            <a:endParaRPr lang="en-US" sz="2400" dirty="0">
              <a:latin typeface="+mn-lt"/>
            </a:endParaRPr>
          </a:p>
        </p:txBody>
      </p:sp>
      <p:sp>
        <p:nvSpPr>
          <p:cNvPr id="7" name="Content Placeholder 6"/>
          <p:cNvSpPr>
            <a:spLocks noGrp="1"/>
          </p:cNvSpPr>
          <p:nvPr>
            <p:ph idx="16"/>
          </p:nvPr>
        </p:nvSpPr>
        <p:spPr>
          <a:xfrm>
            <a:off x="6273063" y="3319026"/>
            <a:ext cx="1431844" cy="550652"/>
          </a:xfrm>
        </p:spPr>
        <p:txBody>
          <a:bodyPr/>
          <a:lstStyle/>
          <a:p>
            <a:pPr marL="0" lvl="1" indent="0">
              <a:buNone/>
            </a:pPr>
            <a:r>
              <a:rPr lang="en-US" altLang="en-US" sz="2400" dirty="0">
                <a:latin typeface="+mn-lt"/>
                <a:ea typeface="ヒラギノ角ゴ Pro W3" pitchFamily="-84" charset="-128"/>
              </a:rPr>
              <a:t>times as</a:t>
            </a:r>
            <a:endParaRPr lang="en-US" sz="2400" dirty="0">
              <a:latin typeface="+mn-lt"/>
            </a:endParaRPr>
          </a:p>
        </p:txBody>
      </p:sp>
      <p:sp>
        <p:nvSpPr>
          <p:cNvPr id="8" name="Content Placeholder 7"/>
          <p:cNvSpPr>
            <a:spLocks noGrp="1"/>
          </p:cNvSpPr>
          <p:nvPr>
            <p:ph sz="quarter" idx="17"/>
          </p:nvPr>
        </p:nvSpPr>
        <p:spPr>
          <a:xfrm>
            <a:off x="457201" y="4077061"/>
            <a:ext cx="5075498" cy="533400"/>
          </a:xfrm>
        </p:spPr>
        <p:txBody>
          <a:bodyPr/>
          <a:lstStyle/>
          <a:p>
            <a:pPr marL="741600" lvl="1" indent="0">
              <a:buNone/>
            </a:pPr>
            <a:r>
              <a:rPr lang="en-US" altLang="en-US" sz="2400" dirty="0">
                <a:latin typeface="+mn-lt"/>
                <a:ea typeface="ヒラギノ角ゴ Pro W3" pitchFamily="-84" charset="-128"/>
              </a:rPr>
              <a:t>productive in wine</a:t>
            </a:r>
            <a:r>
              <a:rPr lang="en-US" altLang="en-US" sz="2400" dirty="0">
                <a:latin typeface="+mn-lt"/>
              </a:rPr>
              <a:t> </a:t>
            </a:r>
            <a:r>
              <a:rPr lang="en-US" altLang="en-US" sz="2400" dirty="0">
                <a:latin typeface="+mn-lt"/>
                <a:ea typeface="ヒラギノ角ゴ Pro W3" pitchFamily="-84" charset="-128"/>
              </a:rPr>
              <a:t>production.</a:t>
            </a:r>
            <a:endParaRPr lang="en-US" sz="2400" dirty="0">
              <a:latin typeface="+mn-lt"/>
            </a:endParaRPr>
          </a:p>
        </p:txBody>
      </p:sp>
      <p:sp>
        <p:nvSpPr>
          <p:cNvPr id="9" name="Content Placeholder 8"/>
          <p:cNvSpPr>
            <a:spLocks noGrp="1"/>
          </p:cNvSpPr>
          <p:nvPr>
            <p:ph sz="quarter" idx="18"/>
          </p:nvPr>
        </p:nvSpPr>
        <p:spPr>
          <a:xfrm>
            <a:off x="457200" y="4771735"/>
            <a:ext cx="8229600" cy="855452"/>
          </a:xfrm>
        </p:spPr>
        <p:txBody>
          <a:bodyPr/>
          <a:lstStyle/>
          <a:p>
            <a:pPr lvl="1" indent="-284400"/>
            <a:r>
              <a:rPr lang="en-US" altLang="en-US" sz="2400" dirty="0">
                <a:latin typeface="+mn-lt"/>
                <a:ea typeface="ヒラギノ角ゴ Pro W3" pitchFamily="-84" charset="-128"/>
              </a:rPr>
              <a:t>The home country has a wage three times higher than the foreign country.</a:t>
            </a:r>
            <a:endParaRPr lang="en-US" sz="2400" dirty="0">
              <a:latin typeface="+mn-lt"/>
            </a:endParaRPr>
          </a:p>
        </p:txBody>
      </p:sp>
      <p:graphicFrame>
        <p:nvGraphicFramePr>
          <p:cNvPr id="11" name="Object 10" descr="Start fraction 6 over 1 end fraction = 6"/>
          <p:cNvGraphicFramePr>
            <a:graphicFrameLocks noChangeAspect="1"/>
          </p:cNvGraphicFramePr>
          <p:nvPr>
            <p:extLst>
              <p:ext uri="{D42A27DB-BD31-4B8C-83A1-F6EECF244321}">
                <p14:modId xmlns:p14="http://schemas.microsoft.com/office/powerpoint/2010/main" val="4244932555"/>
              </p:ext>
            </p:extLst>
          </p:nvPr>
        </p:nvGraphicFramePr>
        <p:xfrm>
          <a:off x="4331735" y="2561883"/>
          <a:ext cx="697465" cy="697465"/>
        </p:xfrm>
        <a:graphic>
          <a:graphicData uri="http://schemas.openxmlformats.org/presentationml/2006/ole">
            <mc:AlternateContent xmlns:mc="http://schemas.openxmlformats.org/markup-compatibility/2006">
              <mc:Choice xmlns:v="urn:schemas-microsoft-com:vml" Requires="v">
                <p:oleObj name="Equation" r:id="rId2" imgW="393480" imgH="393480" progId="Equation.DSMT4">
                  <p:embed/>
                </p:oleObj>
              </mc:Choice>
              <mc:Fallback>
                <p:oleObj name="Equation" r:id="rId2" imgW="393480" imgH="393480" progId="Equation.DSMT4">
                  <p:embed/>
                  <p:pic>
                    <p:nvPicPr>
                      <p:cNvPr id="11" name="Object 10"/>
                      <p:cNvPicPr/>
                      <p:nvPr/>
                    </p:nvPicPr>
                    <p:blipFill>
                      <a:blip r:embed="rId3"/>
                      <a:stretch>
                        <a:fillRect/>
                      </a:stretch>
                    </p:blipFill>
                    <p:spPr>
                      <a:xfrm>
                        <a:off x="4331735" y="2561883"/>
                        <a:ext cx="697465" cy="697465"/>
                      </a:xfrm>
                      <a:prstGeom prst="rect">
                        <a:avLst/>
                      </a:prstGeom>
                    </p:spPr>
                  </p:pic>
                </p:oleObj>
              </mc:Fallback>
            </mc:AlternateContent>
          </a:graphicData>
        </a:graphic>
      </p:graphicFrame>
      <p:graphicFrame>
        <p:nvGraphicFramePr>
          <p:cNvPr id="12" name="Object 11" descr="3 halves = 1.5"/>
          <p:cNvGraphicFramePr>
            <a:graphicFrameLocks noChangeAspect="1"/>
          </p:cNvGraphicFramePr>
          <p:nvPr>
            <p:extLst>
              <p:ext uri="{D42A27DB-BD31-4B8C-83A1-F6EECF244321}">
                <p14:modId xmlns:p14="http://schemas.microsoft.com/office/powerpoint/2010/main" val="3538918031"/>
              </p:ext>
            </p:extLst>
          </p:nvPr>
        </p:nvGraphicFramePr>
        <p:xfrm>
          <a:off x="5241068" y="3263512"/>
          <a:ext cx="899953" cy="697465"/>
        </p:xfrm>
        <a:graphic>
          <a:graphicData uri="http://schemas.openxmlformats.org/presentationml/2006/ole">
            <mc:AlternateContent xmlns:mc="http://schemas.openxmlformats.org/markup-compatibility/2006">
              <mc:Choice xmlns:v="urn:schemas-microsoft-com:vml" Requires="v">
                <p:oleObj name="Equation" r:id="rId4" imgW="507960" imgH="393480" progId="Equation.DSMT4">
                  <p:embed/>
                </p:oleObj>
              </mc:Choice>
              <mc:Fallback>
                <p:oleObj name="Equation" r:id="rId4" imgW="507960" imgH="393480" progId="Equation.DSMT4">
                  <p:embed/>
                  <p:pic>
                    <p:nvPicPr>
                      <p:cNvPr id="12" name="Object 11"/>
                      <p:cNvPicPr/>
                      <p:nvPr/>
                    </p:nvPicPr>
                    <p:blipFill>
                      <a:blip r:embed="rId5"/>
                      <a:stretch>
                        <a:fillRect/>
                      </a:stretch>
                    </p:blipFill>
                    <p:spPr>
                      <a:xfrm>
                        <a:off x="5241068" y="3263512"/>
                        <a:ext cx="899953" cy="697465"/>
                      </a:xfrm>
                      <a:prstGeom prst="rect">
                        <a:avLst/>
                      </a:prstGeom>
                    </p:spPr>
                  </p:pic>
                </p:oleObj>
              </mc:Fallback>
            </mc:AlternateContent>
          </a:graphicData>
        </a:graphic>
      </p:graphicFrame>
    </p:spTree>
    <p:extLst>
      <p:ext uri="{BB962C8B-B14F-4D97-AF65-F5344CB8AC3E}">
        <p14:creationId xmlns:p14="http://schemas.microsoft.com/office/powerpoint/2010/main" val="3130113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latin typeface="+mj-lt"/>
                <a:ea typeface="ヒラギノ角ゴ Pro W3" pitchFamily="-84" charset="-128"/>
              </a:rPr>
              <a:t>Relative Wages </a:t>
            </a:r>
            <a:r>
              <a:rPr lang="en-US" altLang="en-US" sz="2000" b="0" dirty="0">
                <a:latin typeface="+mj-lt"/>
                <a:ea typeface="ヒラギノ角ゴ Pro W3" pitchFamily="-84" charset="-128"/>
              </a:rPr>
              <a:t>(4 of 5)</a:t>
            </a:r>
            <a:endParaRPr lang="en-IN" sz="2000" dirty="0">
              <a:latin typeface="+mj-lt"/>
            </a:endParaRPr>
          </a:p>
        </p:txBody>
      </p:sp>
      <p:sp>
        <p:nvSpPr>
          <p:cNvPr id="3" name="Content Placeholder 2"/>
          <p:cNvSpPr>
            <a:spLocks noGrp="1"/>
          </p:cNvSpPr>
          <p:nvPr>
            <p:ph idx="1"/>
          </p:nvPr>
        </p:nvSpPr>
        <p:spPr>
          <a:xfrm>
            <a:off x="457200" y="1600201"/>
            <a:ext cx="6722533" cy="1523999"/>
          </a:xfrm>
        </p:spPr>
        <p:txBody>
          <a:bodyPr/>
          <a:lstStyle/>
          <a:p>
            <a:pPr indent="-255600"/>
            <a:r>
              <a:rPr lang="en-US" altLang="en-US" sz="2000" dirty="0">
                <a:latin typeface="+mn-lt"/>
                <a:ea typeface="ヒラギノ角ゴ Pro W3" pitchFamily="-84" charset="-128"/>
              </a:rPr>
              <a:t>These relationships imply that both countries have a </a:t>
            </a:r>
            <a:r>
              <a:rPr lang="en-US" altLang="en-US" sz="2000" b="1" dirty="0">
                <a:latin typeface="+mn-lt"/>
                <a:ea typeface="ヒラギノ角ゴ Pro W3" pitchFamily="-84" charset="-128"/>
              </a:rPr>
              <a:t>cost advantage</a:t>
            </a:r>
            <a:r>
              <a:rPr lang="en-US" altLang="en-US" sz="2000" dirty="0">
                <a:latin typeface="+mn-lt"/>
                <a:ea typeface="ヒラギノ角ゴ Pro W3" pitchFamily="-84" charset="-128"/>
              </a:rPr>
              <a:t> in production.</a:t>
            </a:r>
          </a:p>
          <a:p>
            <a:pPr lvl="1" indent="-284400"/>
            <a:r>
              <a:rPr lang="en-US" altLang="en-US" sz="2000" dirty="0">
                <a:latin typeface="+mn-lt"/>
                <a:ea typeface="ヒラギノ角ゴ Pro W3" pitchFamily="-84" charset="-128"/>
              </a:rPr>
              <a:t>High wages can be offset by high productivity.</a:t>
            </a:r>
          </a:p>
          <a:p>
            <a:pPr lvl="1" indent="-284400"/>
            <a:r>
              <a:rPr lang="en-US" altLang="en-US" sz="2000" dirty="0">
                <a:latin typeface="+mn-lt"/>
                <a:ea typeface="ヒラギノ角ゴ Pro W3" pitchFamily="-84" charset="-128"/>
              </a:rPr>
              <a:t>Low productivity can be offset by low wages.</a:t>
            </a:r>
          </a:p>
        </p:txBody>
      </p:sp>
      <p:sp>
        <p:nvSpPr>
          <p:cNvPr id="4" name="Content Placeholder 3"/>
          <p:cNvSpPr>
            <a:spLocks noGrp="1"/>
          </p:cNvSpPr>
          <p:nvPr>
            <p:ph idx="13"/>
          </p:nvPr>
        </p:nvSpPr>
        <p:spPr>
          <a:xfrm>
            <a:off x="457199" y="3225799"/>
            <a:ext cx="7413585" cy="440803"/>
          </a:xfrm>
        </p:spPr>
        <p:txBody>
          <a:bodyPr/>
          <a:lstStyle/>
          <a:p>
            <a:pPr indent="-255600"/>
            <a:r>
              <a:rPr lang="en-US" altLang="en-US" sz="2000" dirty="0">
                <a:latin typeface="+mn-lt"/>
                <a:ea typeface="ヒラギノ角ゴ Pro W3" pitchFamily="-84" charset="-128"/>
              </a:rPr>
              <a:t>In the home economy, producing one pound of cheese costs</a:t>
            </a:r>
            <a:endParaRPr lang="en-IN" sz="2000" dirty="0">
              <a:latin typeface="+mn-lt"/>
            </a:endParaRPr>
          </a:p>
        </p:txBody>
      </p:sp>
      <p:sp>
        <p:nvSpPr>
          <p:cNvPr id="5" name="Content Placeholder 4"/>
          <p:cNvSpPr>
            <a:spLocks noGrp="1"/>
          </p:cNvSpPr>
          <p:nvPr>
            <p:ph idx="14"/>
          </p:nvPr>
        </p:nvSpPr>
        <p:spPr>
          <a:xfrm>
            <a:off x="4542970" y="3738366"/>
            <a:ext cx="2438400" cy="448280"/>
          </a:xfrm>
        </p:spPr>
        <p:txBody>
          <a:bodyPr/>
          <a:lstStyle/>
          <a:p>
            <a:pPr marL="0" indent="0">
              <a:buNone/>
            </a:pPr>
            <a:r>
              <a:rPr lang="en-US" altLang="en-US" sz="2000" dirty="0">
                <a:latin typeface="+mn-lt"/>
                <a:ea typeface="ヒラギノ角ゴ Pro W3" pitchFamily="-84" charset="-128"/>
              </a:rPr>
              <a:t>but would have cost</a:t>
            </a:r>
            <a:endParaRPr lang="en-IN" sz="2000" dirty="0">
              <a:latin typeface="+mn-lt"/>
            </a:endParaRPr>
          </a:p>
        </p:txBody>
      </p:sp>
      <p:sp>
        <p:nvSpPr>
          <p:cNvPr id="6" name="Content Placeholder 5"/>
          <p:cNvSpPr>
            <a:spLocks noGrp="1"/>
          </p:cNvSpPr>
          <p:nvPr>
            <p:ph idx="15"/>
          </p:nvPr>
        </p:nvSpPr>
        <p:spPr>
          <a:xfrm>
            <a:off x="3338050" y="4273497"/>
            <a:ext cx="1551490" cy="366055"/>
          </a:xfrm>
        </p:spPr>
        <p:txBody>
          <a:bodyPr tIns="0" bIns="0"/>
          <a:lstStyle/>
          <a:p>
            <a:pPr marL="0" indent="0">
              <a:buNone/>
            </a:pPr>
            <a:r>
              <a:rPr lang="en-US" altLang="en-US" sz="2000" dirty="0">
                <a:latin typeface="+mn-lt"/>
                <a:ea typeface="ヒラギノ角ゴ Pro W3" pitchFamily="-84" charset="-128"/>
              </a:rPr>
              <a:t>in Foreign.</a:t>
            </a:r>
            <a:endParaRPr lang="en-IN" sz="2000" dirty="0">
              <a:latin typeface="+mn-lt"/>
            </a:endParaRPr>
          </a:p>
        </p:txBody>
      </p:sp>
      <p:sp>
        <p:nvSpPr>
          <p:cNvPr id="7" name="Content Placeholder 6"/>
          <p:cNvSpPr>
            <a:spLocks noGrp="1"/>
          </p:cNvSpPr>
          <p:nvPr>
            <p:ph idx="16"/>
          </p:nvPr>
        </p:nvSpPr>
        <p:spPr>
          <a:xfrm>
            <a:off x="381000" y="4836719"/>
            <a:ext cx="7413584" cy="436185"/>
          </a:xfrm>
        </p:spPr>
        <p:txBody>
          <a:bodyPr/>
          <a:lstStyle/>
          <a:p>
            <a:pPr indent="-255600"/>
            <a:r>
              <a:rPr lang="en-US" altLang="en-US" sz="2000" dirty="0">
                <a:latin typeface="+mn-lt"/>
                <a:ea typeface="ヒラギノ角ゴ Pro W3" pitchFamily="-84" charset="-128"/>
              </a:rPr>
              <a:t>In the foreign economy, producing one gallon of wine costs</a:t>
            </a:r>
            <a:endParaRPr lang="en-IN" sz="2000" dirty="0">
              <a:latin typeface="+mn-lt"/>
            </a:endParaRPr>
          </a:p>
        </p:txBody>
      </p:sp>
      <p:sp>
        <p:nvSpPr>
          <p:cNvPr id="8" name="Content Placeholder 7"/>
          <p:cNvSpPr>
            <a:spLocks noGrp="1"/>
          </p:cNvSpPr>
          <p:nvPr>
            <p:ph sz="quarter" idx="17"/>
          </p:nvPr>
        </p:nvSpPr>
        <p:spPr>
          <a:xfrm>
            <a:off x="4664600" y="5387375"/>
            <a:ext cx="3048000" cy="374246"/>
          </a:xfrm>
        </p:spPr>
        <p:txBody>
          <a:bodyPr tIns="0" bIns="0"/>
          <a:lstStyle/>
          <a:p>
            <a:pPr marL="0" indent="0">
              <a:buNone/>
            </a:pPr>
            <a:r>
              <a:rPr lang="en-US" altLang="en-US" sz="2000" dirty="0">
                <a:latin typeface="+mn-lt"/>
                <a:ea typeface="ヒラギノ角ゴ Pro W3" pitchFamily="-84" charset="-128"/>
              </a:rPr>
              <a:t>but would have cost $24</a:t>
            </a:r>
            <a:endParaRPr lang="en-IN" sz="2000" dirty="0">
              <a:latin typeface="+mn-lt"/>
            </a:endParaRPr>
          </a:p>
        </p:txBody>
      </p:sp>
      <p:sp>
        <p:nvSpPr>
          <p:cNvPr id="9" name="Content Placeholder 8"/>
          <p:cNvSpPr>
            <a:spLocks noGrp="1"/>
          </p:cNvSpPr>
          <p:nvPr>
            <p:ph sz="quarter" idx="18"/>
          </p:nvPr>
        </p:nvSpPr>
        <p:spPr>
          <a:xfrm>
            <a:off x="3034535" y="5854786"/>
            <a:ext cx="1481015" cy="381398"/>
          </a:xfrm>
        </p:spPr>
        <p:txBody>
          <a:bodyPr tIns="0" bIns="0"/>
          <a:lstStyle/>
          <a:p>
            <a:pPr marL="0" indent="0">
              <a:buNone/>
            </a:pPr>
            <a:r>
              <a:rPr lang="en-US" altLang="en-US" sz="2000" dirty="0">
                <a:latin typeface="+mn-lt"/>
                <a:ea typeface="ヒラギノ角ゴ Pro W3" pitchFamily="-84" charset="-128"/>
              </a:rPr>
              <a:t>in Home.</a:t>
            </a:r>
            <a:endParaRPr lang="en-IN" sz="2000" dirty="0">
              <a:latin typeface="+mn-lt"/>
            </a:endParaRPr>
          </a:p>
        </p:txBody>
      </p:sp>
      <p:graphicFrame>
        <p:nvGraphicFramePr>
          <p:cNvPr id="11" name="Object 10" descr="$12 left parenthesis one worker paid $12 per hour right parenthesis,"/>
          <p:cNvGraphicFramePr>
            <a:graphicFrameLocks noChangeAspect="1"/>
          </p:cNvGraphicFramePr>
          <p:nvPr>
            <p:extLst>
              <p:ext uri="{D42A27DB-BD31-4B8C-83A1-F6EECF244321}">
                <p14:modId xmlns:p14="http://schemas.microsoft.com/office/powerpoint/2010/main" val="3413984915"/>
              </p:ext>
            </p:extLst>
          </p:nvPr>
        </p:nvGraphicFramePr>
        <p:xfrm>
          <a:off x="801550" y="3802055"/>
          <a:ext cx="3667308" cy="359982"/>
        </p:xfrm>
        <a:graphic>
          <a:graphicData uri="http://schemas.openxmlformats.org/presentationml/2006/ole">
            <mc:AlternateContent xmlns:mc="http://schemas.openxmlformats.org/markup-compatibility/2006">
              <mc:Choice xmlns:v="urn:schemas-microsoft-com:vml" Requires="v">
                <p:oleObj name="Equation" r:id="rId2" imgW="2070000" imgH="203040" progId="Equation.DSMT4">
                  <p:embed/>
                </p:oleObj>
              </mc:Choice>
              <mc:Fallback>
                <p:oleObj name="Equation" r:id="rId2" imgW="2070000" imgH="203040" progId="Equation.DSMT4">
                  <p:embed/>
                  <p:pic>
                    <p:nvPicPr>
                      <p:cNvPr id="11" name="Object 10"/>
                      <p:cNvPicPr/>
                      <p:nvPr/>
                    </p:nvPicPr>
                    <p:blipFill>
                      <a:blip r:embed="rId3"/>
                      <a:stretch>
                        <a:fillRect/>
                      </a:stretch>
                    </p:blipFill>
                    <p:spPr>
                      <a:xfrm>
                        <a:off x="801550" y="3802055"/>
                        <a:ext cx="3667308" cy="359982"/>
                      </a:xfrm>
                      <a:prstGeom prst="rect">
                        <a:avLst/>
                      </a:prstGeom>
                    </p:spPr>
                  </p:pic>
                </p:oleObj>
              </mc:Fallback>
            </mc:AlternateContent>
          </a:graphicData>
        </a:graphic>
      </p:graphicFrame>
      <p:graphicFrame>
        <p:nvGraphicFramePr>
          <p:cNvPr id="12" name="Object 11" descr="$24 left parenthesis six paid $4 per hour right parenthesis"/>
          <p:cNvGraphicFramePr>
            <a:graphicFrameLocks noChangeAspect="1"/>
          </p:cNvGraphicFramePr>
          <p:nvPr>
            <p:extLst>
              <p:ext uri="{D42A27DB-BD31-4B8C-83A1-F6EECF244321}">
                <p14:modId xmlns:p14="http://schemas.microsoft.com/office/powerpoint/2010/main" val="2011733102"/>
              </p:ext>
            </p:extLst>
          </p:nvPr>
        </p:nvGraphicFramePr>
        <p:xfrm>
          <a:off x="801550" y="4220195"/>
          <a:ext cx="2452371" cy="449976"/>
        </p:xfrm>
        <a:graphic>
          <a:graphicData uri="http://schemas.openxmlformats.org/presentationml/2006/ole">
            <mc:AlternateContent xmlns:mc="http://schemas.openxmlformats.org/markup-compatibility/2006">
              <mc:Choice xmlns:v="urn:schemas-microsoft-com:vml" Requires="v">
                <p:oleObj name="Equation" r:id="rId4" imgW="1384200" imgH="253800" progId="Equation.DSMT4">
                  <p:embed/>
                </p:oleObj>
              </mc:Choice>
              <mc:Fallback>
                <p:oleObj name="Equation" r:id="rId4" imgW="1384200" imgH="253800" progId="Equation.DSMT4">
                  <p:embed/>
                  <p:pic>
                    <p:nvPicPr>
                      <p:cNvPr id="12" name="Object 11"/>
                      <p:cNvPicPr/>
                      <p:nvPr/>
                    </p:nvPicPr>
                    <p:blipFill>
                      <a:blip r:embed="rId5"/>
                      <a:stretch>
                        <a:fillRect/>
                      </a:stretch>
                    </p:blipFill>
                    <p:spPr>
                      <a:xfrm>
                        <a:off x="801550" y="4220195"/>
                        <a:ext cx="2452371" cy="449976"/>
                      </a:xfrm>
                      <a:prstGeom prst="rect">
                        <a:avLst/>
                      </a:prstGeom>
                    </p:spPr>
                  </p:pic>
                </p:oleObj>
              </mc:Fallback>
            </mc:AlternateContent>
          </a:graphicData>
        </a:graphic>
      </p:graphicFrame>
      <p:graphicFrame>
        <p:nvGraphicFramePr>
          <p:cNvPr id="13" name="Object 12" descr="$12 left parenthesis three workers paid $4 per hour right parenthesis, "/>
          <p:cNvGraphicFramePr>
            <a:graphicFrameLocks noChangeAspect="1"/>
          </p:cNvGraphicFramePr>
          <p:nvPr>
            <p:extLst>
              <p:ext uri="{D42A27DB-BD31-4B8C-83A1-F6EECF244321}">
                <p14:modId xmlns:p14="http://schemas.microsoft.com/office/powerpoint/2010/main" val="188463127"/>
              </p:ext>
            </p:extLst>
          </p:nvPr>
        </p:nvGraphicFramePr>
        <p:xfrm>
          <a:off x="754896" y="5371011"/>
          <a:ext cx="3757304" cy="359982"/>
        </p:xfrm>
        <a:graphic>
          <a:graphicData uri="http://schemas.openxmlformats.org/presentationml/2006/ole">
            <mc:AlternateContent xmlns:mc="http://schemas.openxmlformats.org/markup-compatibility/2006">
              <mc:Choice xmlns:v="urn:schemas-microsoft-com:vml" Requires="v">
                <p:oleObj name="Equation" r:id="rId6" imgW="2120760" imgH="203040" progId="Equation.DSMT4">
                  <p:embed/>
                </p:oleObj>
              </mc:Choice>
              <mc:Fallback>
                <p:oleObj name="Equation" r:id="rId6" imgW="2120760" imgH="203040" progId="Equation.DSMT4">
                  <p:embed/>
                  <p:pic>
                    <p:nvPicPr>
                      <p:cNvPr id="13" name="Object 12"/>
                      <p:cNvPicPr/>
                      <p:nvPr/>
                    </p:nvPicPr>
                    <p:blipFill>
                      <a:blip r:embed="rId7"/>
                      <a:stretch>
                        <a:fillRect/>
                      </a:stretch>
                    </p:blipFill>
                    <p:spPr>
                      <a:xfrm>
                        <a:off x="754896" y="5371011"/>
                        <a:ext cx="3757304" cy="359982"/>
                      </a:xfrm>
                      <a:prstGeom prst="rect">
                        <a:avLst/>
                      </a:prstGeom>
                    </p:spPr>
                  </p:pic>
                </p:oleObj>
              </mc:Fallback>
            </mc:AlternateContent>
          </a:graphicData>
        </a:graphic>
      </p:graphicFrame>
      <p:graphicFrame>
        <p:nvGraphicFramePr>
          <p:cNvPr id="14" name="Object 13" descr="left parenthesis two paid $12 per hour right parenthesis"/>
          <p:cNvGraphicFramePr>
            <a:graphicFrameLocks noChangeAspect="1"/>
          </p:cNvGraphicFramePr>
          <p:nvPr>
            <p:extLst>
              <p:ext uri="{D42A27DB-BD31-4B8C-83A1-F6EECF244321}">
                <p14:modId xmlns:p14="http://schemas.microsoft.com/office/powerpoint/2010/main" val="1658693532"/>
              </p:ext>
            </p:extLst>
          </p:nvPr>
        </p:nvGraphicFramePr>
        <p:xfrm>
          <a:off x="778400" y="5797386"/>
          <a:ext cx="2182387" cy="449976"/>
        </p:xfrm>
        <a:graphic>
          <a:graphicData uri="http://schemas.openxmlformats.org/presentationml/2006/ole">
            <mc:AlternateContent xmlns:mc="http://schemas.openxmlformats.org/markup-compatibility/2006">
              <mc:Choice xmlns:v="urn:schemas-microsoft-com:vml" Requires="v">
                <p:oleObj name="Equation" r:id="rId8" imgW="1231560" imgH="253800" progId="Equation.DSMT4">
                  <p:embed/>
                </p:oleObj>
              </mc:Choice>
              <mc:Fallback>
                <p:oleObj name="Equation" r:id="rId8" imgW="1231560" imgH="253800" progId="Equation.DSMT4">
                  <p:embed/>
                  <p:pic>
                    <p:nvPicPr>
                      <p:cNvPr id="14" name="Object 13"/>
                      <p:cNvPicPr/>
                      <p:nvPr/>
                    </p:nvPicPr>
                    <p:blipFill>
                      <a:blip r:embed="rId9"/>
                      <a:stretch>
                        <a:fillRect/>
                      </a:stretch>
                    </p:blipFill>
                    <p:spPr>
                      <a:xfrm>
                        <a:off x="778400" y="5797386"/>
                        <a:ext cx="2182387" cy="449976"/>
                      </a:xfrm>
                      <a:prstGeom prst="rect">
                        <a:avLst/>
                      </a:prstGeom>
                    </p:spPr>
                  </p:pic>
                </p:oleObj>
              </mc:Fallback>
            </mc:AlternateContent>
          </a:graphicData>
        </a:graphic>
      </p:graphicFrame>
    </p:spTree>
    <p:extLst>
      <p:ext uri="{BB962C8B-B14F-4D97-AF65-F5344CB8AC3E}">
        <p14:creationId xmlns:p14="http://schemas.microsoft.com/office/powerpoint/2010/main" val="1017158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6CA2-CC2B-45F7-9DC5-458FDBFD6E6D}"/>
              </a:ext>
            </a:extLst>
          </p:cNvPr>
          <p:cNvSpPr>
            <a:spLocks noGrp="1"/>
          </p:cNvSpPr>
          <p:nvPr>
            <p:ph type="title"/>
          </p:nvPr>
        </p:nvSpPr>
        <p:spPr/>
        <p:txBody>
          <a:bodyPr/>
          <a:lstStyle/>
          <a:p>
            <a:r>
              <a:rPr lang="en-US" altLang="en-US" sz="3600" dirty="0">
                <a:solidFill>
                  <a:schemeClr val="tx1"/>
                </a:solidFill>
                <a:latin typeface="+mj-lt"/>
                <a:ea typeface="ヒラギノ角ゴ Pro W3" pitchFamily="-84" charset="-128"/>
              </a:rPr>
              <a:t>Relative Wages </a:t>
            </a:r>
            <a:r>
              <a:rPr lang="en-US" altLang="en-US" sz="2000" b="0" dirty="0">
                <a:solidFill>
                  <a:schemeClr val="tx1"/>
                </a:solidFill>
                <a:latin typeface="+mj-lt"/>
                <a:ea typeface="ヒラギノ角ゴ Pro W3" pitchFamily="-84" charset="-128"/>
              </a:rPr>
              <a:t>(5 of 5)</a:t>
            </a:r>
            <a:endParaRPr lang="en-IN" dirty="0">
              <a:solidFill>
                <a:schemeClr val="tx1"/>
              </a:solidFill>
            </a:endParaRPr>
          </a:p>
        </p:txBody>
      </p:sp>
      <p:sp>
        <p:nvSpPr>
          <p:cNvPr id="3" name="Content Placeholder 2">
            <a:extLst>
              <a:ext uri="{FF2B5EF4-FFF2-40B4-BE49-F238E27FC236}">
                <a16:creationId xmlns:a16="http://schemas.microsoft.com/office/drawing/2014/main" id="{52F2CCC2-9A61-4ED3-9262-1585DDC2496A}"/>
              </a:ext>
            </a:extLst>
          </p:cNvPr>
          <p:cNvSpPr>
            <a:spLocks noGrp="1"/>
          </p:cNvSpPr>
          <p:nvPr>
            <p:ph sz="quarter" idx="13"/>
          </p:nvPr>
        </p:nvSpPr>
        <p:spPr>
          <a:xfrm>
            <a:off x="466602" y="1552575"/>
            <a:ext cx="7184929" cy="591535"/>
          </a:xfrm>
        </p:spPr>
        <p:txBody>
          <a:bodyPr/>
          <a:lstStyle/>
          <a:p>
            <a:r>
              <a:rPr lang="en-US" altLang="en-US" sz="2400" dirty="0">
                <a:ea typeface="ヒラギノ角ゴ Pro W3" pitchFamily="-84" charset="-128"/>
              </a:rPr>
              <a:t>Because foreign workers have a wage that is only</a:t>
            </a:r>
            <a:endParaRPr lang="en-US" sz="2400" dirty="0"/>
          </a:p>
        </p:txBody>
      </p:sp>
      <p:sp>
        <p:nvSpPr>
          <p:cNvPr id="4" name="Content Placeholder 3">
            <a:extLst>
              <a:ext uri="{FF2B5EF4-FFF2-40B4-BE49-F238E27FC236}">
                <a16:creationId xmlns:a16="http://schemas.microsoft.com/office/drawing/2014/main" id="{B2FAE4F3-818C-4499-BAC0-24334F56AC31}"/>
              </a:ext>
            </a:extLst>
          </p:cNvPr>
          <p:cNvSpPr>
            <a:spLocks noGrp="1"/>
          </p:cNvSpPr>
          <p:nvPr>
            <p:ph sz="quarter" idx="14"/>
          </p:nvPr>
        </p:nvSpPr>
        <p:spPr>
          <a:xfrm>
            <a:off x="457200" y="2341181"/>
            <a:ext cx="8229599" cy="1274376"/>
          </a:xfrm>
        </p:spPr>
        <p:txBody>
          <a:bodyPr/>
          <a:lstStyle/>
          <a:p>
            <a:pPr marL="255600" indent="0">
              <a:spcBef>
                <a:spcPct val="60000"/>
              </a:spcBef>
              <a:buNone/>
            </a:pPr>
            <a:r>
              <a:rPr lang="en-US" altLang="en-US" sz="2400" dirty="0">
                <a:ea typeface="ヒラギノ角ゴ Pro W3" pitchFamily="-84" charset="-128"/>
              </a:rPr>
              <a:t>the wage of domestic workers, they are able to attain a cost advantage in wine production, despite low productivity.</a:t>
            </a:r>
          </a:p>
        </p:txBody>
      </p:sp>
      <p:sp>
        <p:nvSpPr>
          <p:cNvPr id="5" name="Content Placeholder 4">
            <a:extLst>
              <a:ext uri="{FF2B5EF4-FFF2-40B4-BE49-F238E27FC236}">
                <a16:creationId xmlns:a16="http://schemas.microsoft.com/office/drawing/2014/main" id="{18CA67EB-4FE5-4F57-8E14-112006BFE6FC}"/>
              </a:ext>
            </a:extLst>
          </p:cNvPr>
          <p:cNvSpPr>
            <a:spLocks noGrp="1"/>
          </p:cNvSpPr>
          <p:nvPr>
            <p:ph sz="quarter" idx="15"/>
          </p:nvPr>
        </p:nvSpPr>
        <p:spPr>
          <a:xfrm>
            <a:off x="466602" y="3740034"/>
            <a:ext cx="8220197" cy="1751948"/>
          </a:xfrm>
        </p:spPr>
        <p:txBody>
          <a:bodyPr/>
          <a:lstStyle/>
          <a:p>
            <a:r>
              <a:rPr lang="en-US" altLang="en-US" sz="2400" dirty="0">
                <a:ea typeface="ヒラギノ角ゴ Pro W3" pitchFamily="-84" charset="-128"/>
              </a:rPr>
              <a:t>Because domestic workers have a productivity that is six times that of foreign workers in cheese production, they are able to attain a cost advantage in cheese production, despite high wages.</a:t>
            </a:r>
            <a:endParaRPr lang="en-IN" dirty="0"/>
          </a:p>
        </p:txBody>
      </p:sp>
      <p:graphicFrame>
        <p:nvGraphicFramePr>
          <p:cNvPr id="6" name="Object 5" descr="1 third">
            <a:extLst>
              <a:ext uri="{FF2B5EF4-FFF2-40B4-BE49-F238E27FC236}">
                <a16:creationId xmlns:a16="http://schemas.microsoft.com/office/drawing/2014/main" id="{CD468291-A9F9-4FE0-9EB3-0F7A2D1970E4}"/>
              </a:ext>
            </a:extLst>
          </p:cNvPr>
          <p:cNvGraphicFramePr>
            <a:graphicFrameLocks noChangeAspect="1"/>
          </p:cNvGraphicFramePr>
          <p:nvPr>
            <p:extLst>
              <p:ext uri="{D42A27DB-BD31-4B8C-83A1-F6EECF244321}">
                <p14:modId xmlns:p14="http://schemas.microsoft.com/office/powerpoint/2010/main" val="928502182"/>
              </p:ext>
            </p:extLst>
          </p:nvPr>
        </p:nvGraphicFramePr>
        <p:xfrm>
          <a:off x="7706270" y="1489075"/>
          <a:ext cx="269875" cy="695325"/>
        </p:xfrm>
        <a:graphic>
          <a:graphicData uri="http://schemas.openxmlformats.org/presentationml/2006/ole">
            <mc:AlternateContent xmlns:mc="http://schemas.openxmlformats.org/markup-compatibility/2006">
              <mc:Choice xmlns:v="urn:schemas-microsoft-com:vml" Requires="v">
                <p:oleObj name="Equation" r:id="rId2" imgW="152280" imgH="393480" progId="Equation.DSMT4">
                  <p:embed/>
                </p:oleObj>
              </mc:Choice>
              <mc:Fallback>
                <p:oleObj name="Equation" r:id="rId2" imgW="152280" imgH="393480" progId="Equation.DSMT4">
                  <p:embed/>
                  <p:pic>
                    <p:nvPicPr>
                      <p:cNvPr id="14" name="Object 13"/>
                      <p:cNvPicPr/>
                      <p:nvPr/>
                    </p:nvPicPr>
                    <p:blipFill>
                      <a:blip r:embed="rId3"/>
                      <a:stretch>
                        <a:fillRect/>
                      </a:stretch>
                    </p:blipFill>
                    <p:spPr>
                      <a:xfrm>
                        <a:off x="7706270" y="1489075"/>
                        <a:ext cx="269875" cy="695325"/>
                      </a:xfrm>
                      <a:prstGeom prst="rect">
                        <a:avLst/>
                      </a:prstGeom>
                    </p:spPr>
                  </p:pic>
                </p:oleObj>
              </mc:Fallback>
            </mc:AlternateContent>
          </a:graphicData>
        </a:graphic>
      </p:graphicFrame>
    </p:spTree>
    <p:extLst>
      <p:ext uri="{BB962C8B-B14F-4D97-AF65-F5344CB8AC3E}">
        <p14:creationId xmlns:p14="http://schemas.microsoft.com/office/powerpoint/2010/main" val="5099676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2674E-063B-4893-A04F-367A26E56455}"/>
              </a:ext>
            </a:extLst>
          </p:cNvPr>
          <p:cNvSpPr>
            <a:spLocks noGrp="1"/>
          </p:cNvSpPr>
          <p:nvPr>
            <p:ph type="title"/>
          </p:nvPr>
        </p:nvSpPr>
        <p:spPr/>
        <p:txBody>
          <a:bodyPr/>
          <a:lstStyle/>
          <a:p>
            <a:r>
              <a:rPr lang="en-US" altLang="en-US" sz="3600" dirty="0">
                <a:solidFill>
                  <a:schemeClr val="tx1"/>
                </a:solidFill>
                <a:ea typeface="ヒラギノ角ゴ Pro W3" pitchFamily="-84" charset="-128"/>
              </a:rPr>
              <a:t>Do Wages Reflect Productivity? </a:t>
            </a:r>
            <a:r>
              <a:rPr lang="en-US" altLang="en-US" sz="2000" b="0" dirty="0">
                <a:solidFill>
                  <a:schemeClr val="tx1"/>
                </a:solidFill>
                <a:ea typeface="ヒラギノ角ゴ Pro W3" pitchFamily="-84" charset="-128"/>
              </a:rPr>
              <a:t>(1 of 2)</a:t>
            </a:r>
            <a:endParaRPr lang="en-IN" dirty="0">
              <a:solidFill>
                <a:schemeClr val="tx1"/>
              </a:solidFill>
            </a:endParaRPr>
          </a:p>
        </p:txBody>
      </p:sp>
      <p:sp>
        <p:nvSpPr>
          <p:cNvPr id="3" name="Content Placeholder 2">
            <a:extLst>
              <a:ext uri="{FF2B5EF4-FFF2-40B4-BE49-F238E27FC236}">
                <a16:creationId xmlns:a16="http://schemas.microsoft.com/office/drawing/2014/main" id="{8244E01E-852B-42BE-A3AF-696E711AEF07}"/>
              </a:ext>
            </a:extLst>
          </p:cNvPr>
          <p:cNvSpPr>
            <a:spLocks noGrp="1"/>
          </p:cNvSpPr>
          <p:nvPr>
            <p:ph sz="quarter" idx="13"/>
          </p:nvPr>
        </p:nvSpPr>
        <p:spPr>
          <a:xfrm>
            <a:off x="457199" y="1556327"/>
            <a:ext cx="8449733" cy="4586896"/>
          </a:xfrm>
        </p:spPr>
        <p:txBody>
          <a:bodyPr/>
          <a:lstStyle/>
          <a:p>
            <a:pPr>
              <a:spcBef>
                <a:spcPct val="60000"/>
              </a:spcBef>
            </a:pPr>
            <a:r>
              <a:rPr lang="en-US" altLang="en-US" sz="2400" dirty="0">
                <a:ea typeface="ヒラギノ角ゴ Pro W3" pitchFamily="-84" charset="-128"/>
              </a:rPr>
              <a:t>Do relative wages reflect relative productivities of the two countries?</a:t>
            </a:r>
          </a:p>
          <a:p>
            <a:r>
              <a:rPr lang="en-US" altLang="en-US" sz="2400" dirty="0">
                <a:ea typeface="ヒラギノ角ゴ Pro W3" pitchFamily="-84" charset="-128"/>
              </a:rPr>
              <a:t>Evidence shows that low wages are associated with low productivity.</a:t>
            </a:r>
          </a:p>
          <a:p>
            <a:pPr lvl="1"/>
            <a:r>
              <a:rPr lang="en-US" altLang="en-US" sz="2400" dirty="0">
                <a:ea typeface="ヒラギノ角ゴ Pro W3" pitchFamily="-84" charset="-128"/>
              </a:rPr>
              <a:t>Wage of most countries relative to the United States is similar to their productivity relative to the United States.</a:t>
            </a:r>
            <a:endParaRPr lang="en-US" sz="2400" dirty="0"/>
          </a:p>
        </p:txBody>
      </p:sp>
    </p:spTree>
    <p:extLst>
      <p:ext uri="{BB962C8B-B14F-4D97-AF65-F5344CB8AC3E}">
        <p14:creationId xmlns:p14="http://schemas.microsoft.com/office/powerpoint/2010/main" val="2681542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A1ED8-F57C-4BAA-8EC1-BDA20F3B4CED}"/>
              </a:ext>
            </a:extLst>
          </p:cNvPr>
          <p:cNvSpPr>
            <a:spLocks noGrp="1"/>
          </p:cNvSpPr>
          <p:nvPr>
            <p:ph type="title"/>
          </p:nvPr>
        </p:nvSpPr>
        <p:spPr/>
        <p:txBody>
          <a:bodyPr/>
          <a:lstStyle/>
          <a:p>
            <a:r>
              <a:rPr lang="en-US" altLang="en-US" sz="3600" dirty="0">
                <a:solidFill>
                  <a:schemeClr val="tx1"/>
                </a:solidFill>
                <a:ea typeface="ヒラギノ角ゴ Pro W3" pitchFamily="-84" charset="-128"/>
              </a:rPr>
              <a:t>Productivity and Wages</a:t>
            </a:r>
            <a:endParaRPr lang="en-IN" dirty="0">
              <a:solidFill>
                <a:schemeClr val="tx1"/>
              </a:solidFill>
            </a:endParaRPr>
          </a:p>
        </p:txBody>
      </p:sp>
      <p:pic>
        <p:nvPicPr>
          <p:cNvPr id="8" name="Content Placeholder 7" descr="A scatter diagram plots hourly wage, as a percentage of U S, versus productivity, as a percentage of U 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tretch/>
        </p:blipFill>
        <p:spPr>
          <a:xfrm>
            <a:off x="1636284" y="1312649"/>
            <a:ext cx="4958479" cy="4146771"/>
          </a:xfrm>
        </p:spPr>
      </p:pic>
      <p:sp>
        <p:nvSpPr>
          <p:cNvPr id="4" name="Content Placeholder 3">
            <a:extLst>
              <a:ext uri="{FF2B5EF4-FFF2-40B4-BE49-F238E27FC236}">
                <a16:creationId xmlns:a16="http://schemas.microsoft.com/office/drawing/2014/main" id="{FA2EDD7F-19D2-4FE5-AFB4-9AD51B0AFEE3}"/>
              </a:ext>
            </a:extLst>
          </p:cNvPr>
          <p:cNvSpPr>
            <a:spLocks noGrp="1"/>
          </p:cNvSpPr>
          <p:nvPr>
            <p:ph sz="quarter" idx="14"/>
          </p:nvPr>
        </p:nvSpPr>
        <p:spPr>
          <a:xfrm>
            <a:off x="457200" y="5549456"/>
            <a:ext cx="8229600" cy="798790"/>
          </a:xfrm>
        </p:spPr>
        <p:txBody>
          <a:bodyPr/>
          <a:lstStyle/>
          <a:p>
            <a:pPr marL="0" indent="0">
              <a:spcBef>
                <a:spcPts val="600"/>
              </a:spcBef>
              <a:buNone/>
            </a:pPr>
            <a:r>
              <a:rPr lang="en-US" sz="1800" dirty="0"/>
              <a:t>A country’s wage rate is roughly proportional to the country’s productivity</a:t>
            </a:r>
          </a:p>
          <a:p>
            <a:pPr marL="0" indent="0">
              <a:spcBef>
                <a:spcPts val="600"/>
              </a:spcBef>
              <a:buNone/>
            </a:pPr>
            <a:r>
              <a:rPr lang="en-US" sz="1600" b="1" dirty="0"/>
              <a:t>Source: </a:t>
            </a:r>
            <a:r>
              <a:rPr lang="en-US" sz="1600" dirty="0"/>
              <a:t>International Monetary Fund and The Conference Board.</a:t>
            </a:r>
          </a:p>
        </p:txBody>
      </p:sp>
    </p:spTree>
    <p:extLst>
      <p:ext uri="{BB962C8B-B14F-4D97-AF65-F5344CB8AC3E}">
        <p14:creationId xmlns:p14="http://schemas.microsoft.com/office/powerpoint/2010/main" val="41882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98274-3E1D-4DB7-94F3-0746A857308D}"/>
              </a:ext>
            </a:extLst>
          </p:cNvPr>
          <p:cNvSpPr>
            <a:spLocks noGrp="1"/>
          </p:cNvSpPr>
          <p:nvPr>
            <p:ph type="title"/>
          </p:nvPr>
        </p:nvSpPr>
        <p:spPr/>
        <p:txBody>
          <a:bodyPr/>
          <a:lstStyle/>
          <a:p>
            <a:r>
              <a:rPr lang="en-US" altLang="en-US" sz="3600" dirty="0">
                <a:solidFill>
                  <a:schemeClr val="tx1"/>
                </a:solidFill>
                <a:ea typeface="ヒラギノ角ゴ Pro W3" pitchFamily="-84" charset="-128"/>
              </a:rPr>
              <a:t>Do Wages Reflect Productivity? </a:t>
            </a:r>
            <a:r>
              <a:rPr lang="en-US" altLang="en-US" sz="2000" b="0" dirty="0">
                <a:solidFill>
                  <a:schemeClr val="tx1"/>
                </a:solidFill>
                <a:ea typeface="ヒラギノ角ゴ Pro W3" pitchFamily="-84" charset="-128"/>
              </a:rPr>
              <a:t>(2 of 2)</a:t>
            </a:r>
            <a:endParaRPr lang="en-IN" dirty="0">
              <a:solidFill>
                <a:schemeClr val="tx1"/>
              </a:solidFill>
            </a:endParaRPr>
          </a:p>
        </p:txBody>
      </p:sp>
      <p:sp>
        <p:nvSpPr>
          <p:cNvPr id="3" name="Content Placeholder 2">
            <a:extLst>
              <a:ext uri="{FF2B5EF4-FFF2-40B4-BE49-F238E27FC236}">
                <a16:creationId xmlns:a16="http://schemas.microsoft.com/office/drawing/2014/main" id="{7EBCA4B5-1C95-46A5-9F57-A7E65599E696}"/>
              </a:ext>
            </a:extLst>
          </p:cNvPr>
          <p:cNvSpPr>
            <a:spLocks noGrp="1"/>
          </p:cNvSpPr>
          <p:nvPr>
            <p:ph sz="quarter" idx="13"/>
          </p:nvPr>
        </p:nvSpPr>
        <p:spPr>
          <a:xfrm>
            <a:off x="457200" y="1556327"/>
            <a:ext cx="8394700" cy="3288942"/>
          </a:xfrm>
        </p:spPr>
        <p:txBody>
          <a:bodyPr/>
          <a:lstStyle/>
          <a:p>
            <a:pPr>
              <a:spcBef>
                <a:spcPct val="60000"/>
              </a:spcBef>
            </a:pPr>
            <a:r>
              <a:rPr lang="en-US" altLang="en-US" sz="2400" dirty="0">
                <a:ea typeface="ヒラギノ角ゴ Pro W3" pitchFamily="-84" charset="-128"/>
              </a:rPr>
              <a:t>Other evidence shows that wages rise as productivity rises.</a:t>
            </a:r>
          </a:p>
          <a:p>
            <a:pPr lvl="1">
              <a:spcBef>
                <a:spcPct val="60000"/>
              </a:spcBef>
            </a:pPr>
            <a:r>
              <a:rPr lang="en-US" altLang="en-US" dirty="0">
                <a:ea typeface="ヒラギノ角ゴ Pro W3" pitchFamily="-84" charset="-128"/>
              </a:rPr>
              <a:t>As recently as 1975, wages in South Korea were only 5 percent of those of the United States.</a:t>
            </a:r>
          </a:p>
          <a:p>
            <a:pPr lvl="1">
              <a:spcBef>
                <a:spcPct val="60000"/>
              </a:spcBef>
            </a:pPr>
            <a:r>
              <a:rPr lang="en-US" altLang="en-US" dirty="0">
                <a:ea typeface="ヒラギノ角ゴ Pro W3" pitchFamily="-84" charset="-128"/>
              </a:rPr>
              <a:t>As South Korea’s labor productivity rose (to about half of the U.S. level by 2007), so did its wages.</a:t>
            </a:r>
          </a:p>
        </p:txBody>
      </p:sp>
    </p:spTree>
    <p:extLst>
      <p:ext uri="{BB962C8B-B14F-4D97-AF65-F5344CB8AC3E}">
        <p14:creationId xmlns:p14="http://schemas.microsoft.com/office/powerpoint/2010/main" val="2312402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7E0F-C3C0-47EF-9A9F-B3711E6679CF}"/>
              </a:ext>
            </a:extLst>
          </p:cNvPr>
          <p:cNvSpPr>
            <a:spLocks noGrp="1"/>
          </p:cNvSpPr>
          <p:nvPr>
            <p:ph type="title"/>
          </p:nvPr>
        </p:nvSpPr>
        <p:spPr/>
        <p:txBody>
          <a:bodyPr/>
          <a:lstStyle/>
          <a:p>
            <a:r>
              <a:rPr lang="en-US" altLang="en-US" dirty="0">
                <a:solidFill>
                  <a:schemeClr val="tx1"/>
                </a:solidFill>
                <a:ea typeface="ヒラギノ角ゴ Pro W3" pitchFamily="-84" charset="-128"/>
              </a:rPr>
              <a:t>Empirical Evidence </a:t>
            </a:r>
            <a:r>
              <a:rPr lang="en-US" altLang="en-US" sz="2000" b="0" dirty="0">
                <a:solidFill>
                  <a:schemeClr val="tx1"/>
                </a:solidFill>
                <a:ea typeface="ヒラギノ角ゴ Pro W3" pitchFamily="-84" charset="-128"/>
              </a:rPr>
              <a:t>(1 of 3)</a:t>
            </a:r>
            <a:endParaRPr lang="en-IN" sz="2000" dirty="0">
              <a:solidFill>
                <a:schemeClr val="tx1"/>
              </a:solidFill>
            </a:endParaRPr>
          </a:p>
        </p:txBody>
      </p:sp>
      <p:sp>
        <p:nvSpPr>
          <p:cNvPr id="3" name="Content Placeholder 2">
            <a:extLst>
              <a:ext uri="{FF2B5EF4-FFF2-40B4-BE49-F238E27FC236}">
                <a16:creationId xmlns:a16="http://schemas.microsoft.com/office/drawing/2014/main" id="{CAA4038E-C642-4731-8476-7F1BB1B33DCB}"/>
              </a:ext>
            </a:extLst>
          </p:cNvPr>
          <p:cNvSpPr>
            <a:spLocks noGrp="1"/>
          </p:cNvSpPr>
          <p:nvPr>
            <p:ph sz="quarter" idx="13"/>
          </p:nvPr>
        </p:nvSpPr>
        <p:spPr>
          <a:xfrm>
            <a:off x="457200" y="1556327"/>
            <a:ext cx="8347166" cy="3585828"/>
          </a:xfrm>
        </p:spPr>
        <p:txBody>
          <a:bodyPr/>
          <a:lstStyle/>
          <a:p>
            <a:r>
              <a:rPr lang="en-US" altLang="en-US" dirty="0">
                <a:ea typeface="ヒラギノ角ゴ Pro W3" pitchFamily="-84" charset="-128"/>
              </a:rPr>
              <a:t>Do countries export those goods in which their productivity is relatively high?</a:t>
            </a:r>
          </a:p>
          <a:p>
            <a:r>
              <a:rPr lang="en-US" altLang="en-US" dirty="0">
                <a:ea typeface="ヒラギノ角ゴ Pro W3" pitchFamily="-84" charset="-128"/>
              </a:rPr>
              <a:t>The ratio of U.S. to British exports in 1951 compared to the ratio of U.S. to British labor productivity in 26 manufacturing industries suggests yes.</a:t>
            </a:r>
          </a:p>
          <a:p>
            <a:r>
              <a:rPr lang="en-US" altLang="en-US" dirty="0">
                <a:ea typeface="ヒラギノ角ゴ Pro W3" pitchFamily="-84" charset="-128"/>
              </a:rPr>
              <a:t>At this time, the United States had an absolute advantage in </a:t>
            </a:r>
            <a:r>
              <a:rPr lang="en-US" altLang="en-US" b="1" dirty="0">
                <a:ea typeface="ヒラギノ角ゴ Pro W3" pitchFamily="-84" charset="-128"/>
              </a:rPr>
              <a:t>all</a:t>
            </a:r>
            <a:r>
              <a:rPr lang="en-US" altLang="en-US" dirty="0">
                <a:ea typeface="ヒラギノ角ゴ Pro W3" pitchFamily="-84" charset="-128"/>
              </a:rPr>
              <a:t> 26 industries, yet the ratio of exports was low in the least productive sectors of the United States.</a:t>
            </a:r>
            <a:endParaRPr lang="en-US" dirty="0"/>
          </a:p>
        </p:txBody>
      </p:sp>
    </p:spTree>
    <p:extLst>
      <p:ext uri="{BB962C8B-B14F-4D97-AF65-F5344CB8AC3E}">
        <p14:creationId xmlns:p14="http://schemas.microsoft.com/office/powerpoint/2010/main" val="2194908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D185F-BF3B-4990-87A2-230C9EE5D6BF}"/>
              </a:ext>
            </a:extLst>
          </p:cNvPr>
          <p:cNvSpPr>
            <a:spLocks noGrp="1"/>
          </p:cNvSpPr>
          <p:nvPr>
            <p:ph type="title"/>
          </p:nvPr>
        </p:nvSpPr>
        <p:spPr/>
        <p:txBody>
          <a:bodyPr/>
          <a:lstStyle/>
          <a:p>
            <a:r>
              <a:rPr lang="en-US" altLang="en-US" sz="3600" dirty="0">
                <a:solidFill>
                  <a:schemeClr val="tx1"/>
                </a:solidFill>
                <a:ea typeface="ヒラギノ角ゴ Pro W3" pitchFamily="-84" charset="-128"/>
              </a:rPr>
              <a:t>Figure 3.6 Productivity and Exports</a:t>
            </a:r>
            <a:endParaRPr lang="en-IN" dirty="0">
              <a:solidFill>
                <a:schemeClr val="tx1"/>
              </a:solidFill>
            </a:endParaRPr>
          </a:p>
        </p:txBody>
      </p:sp>
      <p:pic>
        <p:nvPicPr>
          <p:cNvPr id="6" name="Content Placeholder 5" descr="A scatter diagram plots the ratio of U S to British exports versus the ratio of U S to British productivity. For long description in Notes pane, press F6.">
            <a:extLst>
              <a:ext uri="{FF2B5EF4-FFF2-40B4-BE49-F238E27FC236}">
                <a16:creationId xmlns:a16="http://schemas.microsoft.com/office/drawing/2014/main" id="{5B09CD23-CD35-4D19-90EB-CB5F451FAFD6}"/>
              </a:ext>
            </a:extLst>
          </p:cNvPr>
          <p:cNvPicPr>
            <a:picLocks noGrp="1" noChangeAspect="1"/>
          </p:cNvPicPr>
          <p:nvPr>
            <p:ph sz="quarter" idx="13"/>
          </p:nvPr>
        </p:nvPicPr>
        <p:blipFill>
          <a:blip r:embed="rId3"/>
          <a:stretch>
            <a:fillRect/>
          </a:stretch>
        </p:blipFill>
        <p:spPr>
          <a:xfrm>
            <a:off x="1989707" y="1500331"/>
            <a:ext cx="3427420" cy="3579751"/>
          </a:xfrm>
        </p:spPr>
      </p:pic>
      <p:sp>
        <p:nvSpPr>
          <p:cNvPr id="4" name="Content Placeholder 3">
            <a:extLst>
              <a:ext uri="{FF2B5EF4-FFF2-40B4-BE49-F238E27FC236}">
                <a16:creationId xmlns:a16="http://schemas.microsoft.com/office/drawing/2014/main" id="{E7D9B654-51F0-4245-8081-1D5A2509ED08}"/>
              </a:ext>
            </a:extLst>
          </p:cNvPr>
          <p:cNvSpPr>
            <a:spLocks noGrp="1"/>
          </p:cNvSpPr>
          <p:nvPr>
            <p:ph sz="quarter" idx="14"/>
          </p:nvPr>
        </p:nvSpPr>
        <p:spPr>
          <a:xfrm>
            <a:off x="457200" y="5202619"/>
            <a:ext cx="8229600" cy="1105557"/>
          </a:xfrm>
        </p:spPr>
        <p:txBody>
          <a:bodyPr/>
          <a:lstStyle/>
          <a:p>
            <a:pPr marL="432" indent="0">
              <a:buNone/>
            </a:pPr>
            <a:r>
              <a:rPr lang="en-US" sz="2000" dirty="0"/>
              <a:t>A comparative study showed that U.S. exports were high relative to British exports in industries in which the United States had high relative labor productivity. Each dot represents a different industry.</a:t>
            </a:r>
          </a:p>
        </p:txBody>
      </p:sp>
    </p:spTree>
    <p:extLst>
      <p:ext uri="{BB962C8B-B14F-4D97-AF65-F5344CB8AC3E}">
        <p14:creationId xmlns:p14="http://schemas.microsoft.com/office/powerpoint/2010/main" val="2235243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6A0F6-C722-4423-90CB-339A5C886756}"/>
              </a:ext>
            </a:extLst>
          </p:cNvPr>
          <p:cNvSpPr>
            <a:spLocks noGrp="1"/>
          </p:cNvSpPr>
          <p:nvPr>
            <p:ph type="title"/>
          </p:nvPr>
        </p:nvSpPr>
        <p:spPr/>
        <p:txBody>
          <a:bodyPr/>
          <a:lstStyle/>
          <a:p>
            <a:r>
              <a:rPr lang="en-US" altLang="en-US" dirty="0">
                <a:solidFill>
                  <a:schemeClr val="tx1"/>
                </a:solidFill>
                <a:ea typeface="ヒラギノ角ゴ Pro W3" pitchFamily="-84" charset="-128"/>
              </a:rPr>
              <a:t>Empirical Evidence </a:t>
            </a:r>
            <a:r>
              <a:rPr lang="en-US" altLang="en-US" sz="2000" b="0" dirty="0">
                <a:solidFill>
                  <a:schemeClr val="tx1"/>
                </a:solidFill>
                <a:ea typeface="ヒラギノ角ゴ Pro W3" pitchFamily="-84" charset="-128"/>
              </a:rPr>
              <a:t>(2 of 3)</a:t>
            </a:r>
            <a:endParaRPr lang="en-IN" sz="2000" dirty="0">
              <a:solidFill>
                <a:schemeClr val="tx1"/>
              </a:solidFill>
            </a:endParaRPr>
          </a:p>
        </p:txBody>
      </p:sp>
      <p:sp>
        <p:nvSpPr>
          <p:cNvPr id="3" name="Content Placeholder 2">
            <a:extLst>
              <a:ext uri="{FF2B5EF4-FFF2-40B4-BE49-F238E27FC236}">
                <a16:creationId xmlns:a16="http://schemas.microsoft.com/office/drawing/2014/main" id="{B9419CF5-14E1-403A-A08A-21C90881FB00}"/>
              </a:ext>
            </a:extLst>
          </p:cNvPr>
          <p:cNvSpPr>
            <a:spLocks noGrp="1"/>
          </p:cNvSpPr>
          <p:nvPr>
            <p:ph sz="quarter" idx="13"/>
          </p:nvPr>
        </p:nvSpPr>
        <p:spPr>
          <a:xfrm>
            <a:off x="457199" y="1556327"/>
            <a:ext cx="8449733" cy="4150790"/>
          </a:xfrm>
        </p:spPr>
        <p:txBody>
          <a:bodyPr/>
          <a:lstStyle/>
          <a:p>
            <a:r>
              <a:rPr lang="en-US" altLang="en-US" sz="2400" dirty="0">
                <a:ea typeface="ヒラギノ角ゴ Pro W3" pitchFamily="-84" charset="-128"/>
              </a:rPr>
              <a:t>A very poor country like Bangladesh can have comparative advantage in clothing despite being less productive in clothing than other countries such as China because it is even less productive compared to China in other sectors.</a:t>
            </a:r>
          </a:p>
          <a:p>
            <a:pPr lvl="1"/>
            <a:r>
              <a:rPr lang="en-US" altLang="en-US" sz="2400" dirty="0">
                <a:ea typeface="ヒラギノ角ゴ Pro W3" pitchFamily="-84" charset="-128"/>
              </a:rPr>
              <a:t>Productivity (output per worker) in Bangladesh is only 28 percent of China’</a:t>
            </a:r>
            <a:r>
              <a:rPr lang="en-US" altLang="ja-JP" sz="2400" dirty="0">
                <a:ea typeface="ヒラギノ角ゴ Pro W3" pitchFamily="-84" charset="-128"/>
              </a:rPr>
              <a:t>s on average.</a:t>
            </a:r>
          </a:p>
          <a:p>
            <a:pPr lvl="1"/>
            <a:r>
              <a:rPr lang="en-US" altLang="en-US" sz="2400" dirty="0">
                <a:ea typeface="ヒラギノ角ゴ Pro W3" pitchFamily="-84" charset="-128"/>
              </a:rPr>
              <a:t>In apparel, productivity in Bangladesh was about 77 percent of China’</a:t>
            </a:r>
            <a:r>
              <a:rPr lang="en-US" altLang="ja-JP" sz="2400" dirty="0">
                <a:ea typeface="ヒラギノ角ゴ Pro W3" pitchFamily="-84" charset="-128"/>
              </a:rPr>
              <a:t>s, creating strong comparative advantage in apparel for Bangladesh.</a:t>
            </a:r>
            <a:endParaRPr lang="en-US" sz="2400" dirty="0"/>
          </a:p>
        </p:txBody>
      </p:sp>
    </p:spTree>
    <p:extLst>
      <p:ext uri="{BB962C8B-B14F-4D97-AF65-F5344CB8AC3E}">
        <p14:creationId xmlns:p14="http://schemas.microsoft.com/office/powerpoint/2010/main" val="23514057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9F783-261B-488A-8CAE-4868EB60A487}"/>
              </a:ext>
            </a:extLst>
          </p:cNvPr>
          <p:cNvSpPr>
            <a:spLocks noGrp="1"/>
          </p:cNvSpPr>
          <p:nvPr>
            <p:ph type="title"/>
          </p:nvPr>
        </p:nvSpPr>
        <p:spPr/>
        <p:txBody>
          <a:bodyPr/>
          <a:lstStyle/>
          <a:p>
            <a:r>
              <a:rPr lang="en-US" altLang="en-US" sz="3200" dirty="0">
                <a:solidFill>
                  <a:schemeClr val="tx1"/>
                </a:solidFill>
                <a:ea typeface="ヒラギノ角ゴ Pro W3" pitchFamily="-84" charset="-128"/>
              </a:rPr>
              <a:t>Table 3.3 Bangladesh Versus China, 2011</a:t>
            </a:r>
            <a:endParaRPr lang="en-IN" sz="3200" dirty="0">
              <a:solidFill>
                <a:schemeClr val="tx1"/>
              </a:solidFill>
            </a:endParaRPr>
          </a:p>
        </p:txBody>
      </p:sp>
      <p:graphicFrame>
        <p:nvGraphicFramePr>
          <p:cNvPr id="5" name="Table 5">
            <a:extLst>
              <a:ext uri="{FF2B5EF4-FFF2-40B4-BE49-F238E27FC236}">
                <a16:creationId xmlns:a16="http://schemas.microsoft.com/office/drawing/2014/main" id="{2B49B8CE-56C5-42C3-B589-C361CA4433BE}"/>
              </a:ext>
            </a:extLst>
          </p:cNvPr>
          <p:cNvGraphicFramePr>
            <a:graphicFrameLocks noGrp="1"/>
          </p:cNvGraphicFramePr>
          <p:nvPr>
            <p:ph sz="quarter" idx="13"/>
            <p:extLst>
              <p:ext uri="{D42A27DB-BD31-4B8C-83A1-F6EECF244321}">
                <p14:modId xmlns:p14="http://schemas.microsoft.com/office/powerpoint/2010/main" val="2953427623"/>
              </p:ext>
            </p:extLst>
          </p:nvPr>
        </p:nvGraphicFramePr>
        <p:xfrm>
          <a:off x="457200" y="1797444"/>
          <a:ext cx="8229600" cy="1381760"/>
        </p:xfrm>
        <a:graphic>
          <a:graphicData uri="http://schemas.openxmlformats.org/drawingml/2006/table">
            <a:tbl>
              <a:tblPr firstRow="1" bandRow="1">
                <a:tableStyleId>{2D5ABB26-0587-4C30-8999-92F81FD0307C}</a:tableStyleId>
              </a:tblPr>
              <a:tblGrid>
                <a:gridCol w="1960179">
                  <a:extLst>
                    <a:ext uri="{9D8B030D-6E8A-4147-A177-3AD203B41FA5}">
                      <a16:colId xmlns:a16="http://schemas.microsoft.com/office/drawing/2014/main" val="3642105133"/>
                    </a:ext>
                  </a:extLst>
                </a:gridCol>
                <a:gridCol w="2837793">
                  <a:extLst>
                    <a:ext uri="{9D8B030D-6E8A-4147-A177-3AD203B41FA5}">
                      <a16:colId xmlns:a16="http://schemas.microsoft.com/office/drawing/2014/main" val="955795650"/>
                    </a:ext>
                  </a:extLst>
                </a:gridCol>
                <a:gridCol w="3431628">
                  <a:extLst>
                    <a:ext uri="{9D8B030D-6E8A-4147-A177-3AD203B41FA5}">
                      <a16:colId xmlns:a16="http://schemas.microsoft.com/office/drawing/2014/main" val="3892337293"/>
                    </a:ext>
                  </a:extLst>
                </a:gridCol>
              </a:tblGrid>
              <a:tr h="276466">
                <a:tc>
                  <a:txBody>
                    <a:bodyPr/>
                    <a:lstStyle/>
                    <a:p>
                      <a:r>
                        <a:rPr lang="en-US" sz="100" noProof="0" dirty="0"/>
                        <a:t>Blank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noProof="0" dirty="0"/>
                        <a:t>Bangladeshi Output per Worker as % of China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noProof="0" dirty="0"/>
                        <a:t>Bangladeshi exports</a:t>
                      </a:r>
                    </a:p>
                    <a:p>
                      <a:pPr algn="ctr"/>
                      <a:r>
                        <a:rPr lang="en-US" sz="1800" b="1" noProof="0" dirty="0"/>
                        <a:t>as % of China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999065"/>
                  </a:ext>
                </a:extLst>
              </a:tr>
              <a:tr h="370840">
                <a:tc>
                  <a:txBody>
                    <a:bodyPr/>
                    <a:lstStyle/>
                    <a:p>
                      <a:r>
                        <a:rPr lang="en-US" sz="1800" b="0" noProof="0" dirty="0"/>
                        <a:t>All industries</a:t>
                      </a:r>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28.5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1.0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871675"/>
                  </a:ext>
                </a:extLst>
              </a:tr>
              <a:tr h="370840">
                <a:tc>
                  <a:txBody>
                    <a:bodyPr/>
                    <a:lstStyle/>
                    <a:p>
                      <a:r>
                        <a:rPr lang="en-US" sz="1800" b="0" noProof="0" dirty="0"/>
                        <a:t>Apparel</a:t>
                      </a:r>
                      <a:endParaRPr lang="en-US" sz="1800" noProof="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77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noProof="0" dirty="0"/>
                        <a:t>15.5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634701"/>
                  </a:ext>
                </a:extLst>
              </a:tr>
            </a:tbl>
          </a:graphicData>
        </a:graphic>
      </p:graphicFrame>
      <p:sp>
        <p:nvSpPr>
          <p:cNvPr id="4" name="Content Placeholder 3">
            <a:extLst>
              <a:ext uri="{FF2B5EF4-FFF2-40B4-BE49-F238E27FC236}">
                <a16:creationId xmlns:a16="http://schemas.microsoft.com/office/drawing/2014/main" id="{17EB3AFD-76B8-4BD7-8F1A-ADB744CFF9F6}"/>
              </a:ext>
            </a:extLst>
          </p:cNvPr>
          <p:cNvSpPr>
            <a:spLocks noGrp="1"/>
          </p:cNvSpPr>
          <p:nvPr>
            <p:ph sz="quarter" idx="14"/>
          </p:nvPr>
        </p:nvSpPr>
        <p:spPr>
          <a:xfrm>
            <a:off x="457200" y="3415560"/>
            <a:ext cx="8229600" cy="699239"/>
          </a:xfrm>
        </p:spPr>
        <p:txBody>
          <a:bodyPr/>
          <a:lstStyle/>
          <a:p>
            <a:pPr marL="432" indent="0">
              <a:buNone/>
            </a:pPr>
            <a:r>
              <a:rPr lang="en-US" sz="1600" b="1" dirty="0"/>
              <a:t>Source: </a:t>
            </a:r>
            <a:r>
              <a:rPr lang="en-US" sz="1600" dirty="0"/>
              <a:t>McKinsey and Company, “Bangladesh’s ready-made garments industry: The challenge of growth,” 2012; U</a:t>
            </a:r>
            <a:r>
              <a:rPr lang="en-US" sz="100" dirty="0"/>
              <a:t> </a:t>
            </a:r>
            <a:r>
              <a:rPr lang="en-US" sz="1600" dirty="0"/>
              <a:t>N Monthly Bulletin of Statistics.</a:t>
            </a:r>
          </a:p>
        </p:txBody>
      </p:sp>
    </p:spTree>
    <p:extLst>
      <p:ext uri="{BB962C8B-B14F-4D97-AF65-F5344CB8AC3E}">
        <p14:creationId xmlns:p14="http://schemas.microsoft.com/office/powerpoint/2010/main" val="2008229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7F1B9-2C9B-4DFB-B233-DD4C7027FF46}"/>
              </a:ext>
            </a:extLst>
          </p:cNvPr>
          <p:cNvSpPr>
            <a:spLocks noGrp="1"/>
          </p:cNvSpPr>
          <p:nvPr>
            <p:ph type="title"/>
          </p:nvPr>
        </p:nvSpPr>
        <p:spPr/>
        <p:txBody>
          <a:bodyPr/>
          <a:lstStyle/>
          <a:p>
            <a:r>
              <a:rPr lang="en-US" altLang="en-US" sz="3600" dirty="0">
                <a:solidFill>
                  <a:schemeClr val="tx1"/>
                </a:solidFill>
                <a:ea typeface="ヒラギノ角ゴ Pro W3" pitchFamily="-84" charset="-128"/>
              </a:rPr>
              <a:t>Empirical Evidence </a:t>
            </a:r>
            <a:r>
              <a:rPr lang="en-US" altLang="en-US" sz="2000" b="0" dirty="0">
                <a:solidFill>
                  <a:schemeClr val="tx1"/>
                </a:solidFill>
                <a:ea typeface="ヒラギノ角ゴ Pro W3" pitchFamily="-84" charset="-128"/>
              </a:rPr>
              <a:t>(3 of 3)</a:t>
            </a:r>
            <a:endParaRPr lang="en-IN" dirty="0">
              <a:solidFill>
                <a:schemeClr val="tx1"/>
              </a:solidFill>
            </a:endParaRPr>
          </a:p>
        </p:txBody>
      </p:sp>
      <p:sp>
        <p:nvSpPr>
          <p:cNvPr id="3" name="Content Placeholder 2">
            <a:extLst>
              <a:ext uri="{FF2B5EF4-FFF2-40B4-BE49-F238E27FC236}">
                <a16:creationId xmlns:a16="http://schemas.microsoft.com/office/drawing/2014/main" id="{6A93E23E-BA73-449D-B258-17F07EA7DBBD}"/>
              </a:ext>
            </a:extLst>
          </p:cNvPr>
          <p:cNvSpPr>
            <a:spLocks noGrp="1"/>
          </p:cNvSpPr>
          <p:nvPr>
            <p:ph sz="quarter" idx="13"/>
          </p:nvPr>
        </p:nvSpPr>
        <p:spPr>
          <a:xfrm>
            <a:off x="457200" y="1556327"/>
            <a:ext cx="8229600" cy="2679342"/>
          </a:xfrm>
        </p:spPr>
        <p:txBody>
          <a:bodyPr/>
          <a:lstStyle/>
          <a:p>
            <a:r>
              <a:rPr lang="en-US" altLang="en-US" sz="2400" dirty="0">
                <a:ea typeface="ヒラギノ角ゴ Pro W3" pitchFamily="-84" charset="-128"/>
              </a:rPr>
              <a:t>The main implications of the Ricardian model are well supported by empirical evidence:</a:t>
            </a:r>
          </a:p>
          <a:p>
            <a:pPr lvl="1"/>
            <a:r>
              <a:rPr lang="en-US" altLang="en-US" sz="2400" dirty="0">
                <a:ea typeface="ヒラギノ角ゴ Pro W3" pitchFamily="-84" charset="-128"/>
              </a:rPr>
              <a:t>productivity differences play an important role in international trade</a:t>
            </a:r>
          </a:p>
          <a:p>
            <a:pPr lvl="1"/>
            <a:r>
              <a:rPr lang="en-US" altLang="en-US" sz="2400" dirty="0">
                <a:ea typeface="ヒラギノ角ゴ Pro W3" pitchFamily="-84" charset="-128"/>
              </a:rPr>
              <a:t>comparative advantage (not absolute advantage) matters for trade</a:t>
            </a:r>
            <a:endParaRPr lang="en-US" sz="2400" dirty="0"/>
          </a:p>
        </p:txBody>
      </p:sp>
    </p:spTree>
    <p:extLst>
      <p:ext uri="{BB962C8B-B14F-4D97-AF65-F5344CB8AC3E}">
        <p14:creationId xmlns:p14="http://schemas.microsoft.com/office/powerpoint/2010/main" val="389981937"/>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149796</TotalTime>
  <Words>3391</Words>
  <Application>Microsoft Macintosh PowerPoint</Application>
  <PresentationFormat>On-screen Show (4:3)</PresentationFormat>
  <Paragraphs>215</Paragraphs>
  <Slides>38</Slides>
  <Notes>13</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38</vt:i4>
      </vt:variant>
    </vt:vector>
  </HeadingPairs>
  <TitlesOfParts>
    <vt:vector size="49" baseType="lpstr">
      <vt:lpstr>Verdana</vt:lpstr>
      <vt:lpstr>Aptos Display</vt:lpstr>
      <vt:lpstr>Aptos</vt:lpstr>
      <vt:lpstr>Noto Sans Symbols</vt:lpstr>
      <vt:lpstr>Arial</vt:lpstr>
      <vt:lpstr>Museo Sans W01 500</vt:lpstr>
      <vt:lpstr>Times New Roman</vt:lpstr>
      <vt:lpstr>ヒラギノ角ゴ Pro W3</vt:lpstr>
      <vt:lpstr>USHE</vt:lpstr>
      <vt:lpstr>Office Theme</vt:lpstr>
      <vt:lpstr>Equation</vt:lpstr>
      <vt:lpstr>International Economic Relations  ECON 308</vt:lpstr>
      <vt:lpstr>Trade in the Ricardian Model (1 of 4)</vt:lpstr>
      <vt:lpstr>Trade in the Ricardian Model (2 of 4)</vt:lpstr>
      <vt:lpstr>Trade in the Ricardian Model (3 of 4)</vt:lpstr>
      <vt:lpstr>Figure 3.2 Foreign’s Production Possibility Frontier</vt:lpstr>
      <vt:lpstr>Trade in the Ricardian Model (4 of 4)</vt:lpstr>
      <vt:lpstr>Determining the Relative Price after Trade (1 of 8)</vt:lpstr>
      <vt:lpstr>Determining the Relative Price after Trade (2 of 8)</vt:lpstr>
      <vt:lpstr>Determining the Relative Price after Trade (3 of 8)</vt:lpstr>
      <vt:lpstr>Determining the Relative Price after Trade (4 of 8)</vt:lpstr>
      <vt:lpstr>Determining the Relative Price after Trade (5 of 8)</vt:lpstr>
      <vt:lpstr>Determining the Relative Price after Trade (6 of 8)</vt:lpstr>
      <vt:lpstr>Determining the Relative Price after Trade (7 of 8)</vt:lpstr>
      <vt:lpstr>Determining the Relative Price after Trade (8 of 8)</vt:lpstr>
      <vt:lpstr>Figure 3.3 World Relative Supply and Demand</vt:lpstr>
      <vt:lpstr>The Gains from Trade (1 of 4)</vt:lpstr>
      <vt:lpstr>The Gains from Trade (2 of 4)</vt:lpstr>
      <vt:lpstr>The Gains from Trade (3 of 4)</vt:lpstr>
      <vt:lpstr>The Gains from Trade (4 of 4)</vt:lpstr>
      <vt:lpstr>Figure 3.4 Trade Expands Consumption Possibilities</vt:lpstr>
      <vt:lpstr>A Numerical Example (1 of 5)</vt:lpstr>
      <vt:lpstr>A Numerical Example (2 of 5)</vt:lpstr>
      <vt:lpstr>A Numerical Example (3 of 5)</vt:lpstr>
      <vt:lpstr>A Numerical Example (4 of 5)</vt:lpstr>
      <vt:lpstr>A Numerical Example (5 of 5)</vt:lpstr>
      <vt:lpstr>Relative Wages (1 of 5)</vt:lpstr>
      <vt:lpstr>Relative Wages (2 of 5)</vt:lpstr>
      <vt:lpstr>Relative Wages (3 of 5)</vt:lpstr>
      <vt:lpstr>Relative Wages (4 of 5)</vt:lpstr>
      <vt:lpstr>Relative Wages (5 of 5)</vt:lpstr>
      <vt:lpstr>Do Wages Reflect Productivity? (1 of 2)</vt:lpstr>
      <vt:lpstr>Productivity and Wages</vt:lpstr>
      <vt:lpstr>Do Wages Reflect Productivity? (2 of 2)</vt:lpstr>
      <vt:lpstr>Empirical Evidence (1 of 3)</vt:lpstr>
      <vt:lpstr>Figure 3.6 Productivity and Exports</vt:lpstr>
      <vt:lpstr>Empirical Evidence (2 of 3)</vt:lpstr>
      <vt:lpstr>Table 3.3 Bangladesh Versus China, 2011</vt:lpstr>
      <vt:lpstr>Empirical Evidence (3 of 3)</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3, Labor Productivity and Comparative Advantage: The Ricardian Model</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experience._x000d_
</dc:description>
  <cp:lastModifiedBy>Muhebullah Karimzada</cp:lastModifiedBy>
  <cp:revision>1128</cp:revision>
  <dcterms:modified xsi:type="dcterms:W3CDTF">2025-09-11T21:32:35Z</dcterms:modified>
</cp:coreProperties>
</file>