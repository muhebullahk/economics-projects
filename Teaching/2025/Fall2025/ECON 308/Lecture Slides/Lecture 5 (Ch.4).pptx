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74"/>
  </p:notesMasterIdLst>
  <p:handoutMasterIdLst>
    <p:handoutMasterId r:id="rId75"/>
  </p:handoutMasterIdLst>
  <p:sldIdLst>
    <p:sldId id="330" r:id="rId3"/>
    <p:sldId id="331" r:id="rId4"/>
    <p:sldId id="334" r:id="rId5"/>
    <p:sldId id="333" r:id="rId6"/>
    <p:sldId id="332" r:id="rId7"/>
    <p:sldId id="336" r:id="rId8"/>
    <p:sldId id="337" r:id="rId9"/>
    <p:sldId id="338" r:id="rId10"/>
    <p:sldId id="339" r:id="rId11"/>
    <p:sldId id="340" r:id="rId12"/>
    <p:sldId id="335" r:id="rId13"/>
    <p:sldId id="342" r:id="rId14"/>
    <p:sldId id="343" r:id="rId15"/>
    <p:sldId id="344" r:id="rId16"/>
    <p:sldId id="345" r:id="rId17"/>
    <p:sldId id="346" r:id="rId18"/>
    <p:sldId id="347" r:id="rId19"/>
    <p:sldId id="348" r:id="rId20"/>
    <p:sldId id="349" r:id="rId21"/>
    <p:sldId id="350" r:id="rId22"/>
    <p:sldId id="351" r:id="rId23"/>
    <p:sldId id="352" r:id="rId24"/>
    <p:sldId id="353" r:id="rId25"/>
    <p:sldId id="522" r:id="rId26"/>
    <p:sldId id="524" r:id="rId27"/>
    <p:sldId id="525" r:id="rId28"/>
    <p:sldId id="526" r:id="rId29"/>
    <p:sldId id="527" r:id="rId30"/>
    <p:sldId id="528" r:id="rId31"/>
    <p:sldId id="529" r:id="rId32"/>
    <p:sldId id="530" r:id="rId33"/>
    <p:sldId id="531" r:id="rId34"/>
    <p:sldId id="532" r:id="rId35"/>
    <p:sldId id="533" r:id="rId36"/>
    <p:sldId id="534" r:id="rId37"/>
    <p:sldId id="535" r:id="rId38"/>
    <p:sldId id="536" r:id="rId39"/>
    <p:sldId id="537" r:id="rId40"/>
    <p:sldId id="538" r:id="rId41"/>
    <p:sldId id="540" r:id="rId42"/>
    <p:sldId id="541" r:id="rId43"/>
    <p:sldId id="542" r:id="rId44"/>
    <p:sldId id="543" r:id="rId45"/>
    <p:sldId id="544" r:id="rId46"/>
    <p:sldId id="545" r:id="rId47"/>
    <p:sldId id="546" r:id="rId48"/>
    <p:sldId id="547" r:id="rId49"/>
    <p:sldId id="548" r:id="rId50"/>
    <p:sldId id="549" r:id="rId51"/>
    <p:sldId id="550" r:id="rId52"/>
    <p:sldId id="551" r:id="rId53"/>
    <p:sldId id="552" r:id="rId54"/>
    <p:sldId id="553" r:id="rId55"/>
    <p:sldId id="554" r:id="rId56"/>
    <p:sldId id="555" r:id="rId57"/>
    <p:sldId id="556" r:id="rId58"/>
    <p:sldId id="557" r:id="rId59"/>
    <p:sldId id="558" r:id="rId60"/>
    <p:sldId id="559" r:id="rId61"/>
    <p:sldId id="560" r:id="rId62"/>
    <p:sldId id="561" r:id="rId63"/>
    <p:sldId id="562" r:id="rId64"/>
    <p:sldId id="563" r:id="rId65"/>
    <p:sldId id="564" r:id="rId66"/>
    <p:sldId id="565" r:id="rId67"/>
    <p:sldId id="566" r:id="rId68"/>
    <p:sldId id="567" r:id="rId69"/>
    <p:sldId id="568" r:id="rId70"/>
    <p:sldId id="569" r:id="rId71"/>
    <p:sldId id="570" r:id="rId72"/>
    <p:sldId id="571" r:id="rId73"/>
  </p:sldIdLst>
  <p:sldSz cx="9144000" cy="6858000" type="screen4x3"/>
  <p:notesSz cx="6858000" cy="9144000"/>
  <p:embeddedFontLst>
    <p:embeddedFont>
      <p:font typeface="Noto Sans Symbols" panose="020B0604020202020204" pitchFamily="34" charset="0"/>
      <p:regular r:id="rId76"/>
      <p:bold r:id="rId77"/>
      <p:italic r:id="rId78"/>
      <p:boldItalic r:id="rId79"/>
    </p:embeddedFont>
    <p:embeddedFont>
      <p:font typeface="Times" panose="02020603050405020304" pitchFamily="18" charset="0"/>
      <p:regular r:id="rId80"/>
      <p:bold r:id="rId81"/>
      <p:italic r:id="rId82"/>
      <p:boldItalic r:id="rId83"/>
    </p:embeddedFont>
    <p:embeddedFont>
      <p:font typeface="Verdana" panose="020B0604030504040204" pitchFamily="34" charset="0"/>
      <p:regular r:id="rId84"/>
      <p:bold r:id="rId85"/>
      <p:italic r:id="rId86"/>
      <p:boldItalic r:id="rId8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360"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Ramkumar P" initials="RP" lastIdx="8" clrIdx="7">
    <p:extLst>
      <p:ext uri="{19B8F6BF-5375-455C-9EA6-DF929625EA0E}">
        <p15:presenceInfo xmlns:p15="http://schemas.microsoft.com/office/powerpoint/2012/main" userId="S-1-5-21-2752970185-40930380-1894245210-1593" providerId="AD"/>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20" autoAdjust="0"/>
    <p:restoredTop sz="53832" autoAdjust="0"/>
  </p:normalViewPr>
  <p:slideViewPr>
    <p:cSldViewPr snapToGrid="0" snapToObjects="1">
      <p:cViewPr varScale="1">
        <p:scale>
          <a:sx n="124" d="100"/>
          <a:sy n="124" d="100"/>
        </p:scale>
        <p:origin x="1256" y="168"/>
      </p:cViewPr>
      <p:guideLst>
        <p:guide orient="horz" pos="3997"/>
        <p:guide pos="360"/>
        <p:guide orient="horz" pos="4178"/>
        <p:guide orient="horz" pos="119"/>
        <p:guide orient="horz" pos="709"/>
        <p:guide orient="horz" pos="1071"/>
        <p:guide pos="635"/>
      </p:guideLst>
    </p:cSldViewPr>
  </p:slideViewPr>
  <p:outlineViewPr>
    <p:cViewPr>
      <p:scale>
        <a:sx n="33" d="100"/>
        <a:sy n="33" d="100"/>
      </p:scale>
      <p:origin x="0" y="-40518"/>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9.fntdata"/><Relationship Id="rId89"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3.xml"/><Relationship Id="rId90" Type="http://schemas.openxmlformats.org/officeDocument/2006/relationships/viewProps" Target="viewProp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1.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12.fntdata"/><Relationship Id="rId61" Type="http://schemas.openxmlformats.org/officeDocument/2006/relationships/slide" Target="slides/slide59.xml"/><Relationship Id="rId82" Type="http://schemas.openxmlformats.org/officeDocument/2006/relationships/font" Target="fonts/font7.fntdata"/><Relationship Id="rId19"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9/17/25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72590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 of the graph is the intersection of the labor input in food and the output of cloth, on the x-axis, versus the output of food down to the labor input in cloth, on the y-axis. The upper left quadrant is production function of food, Q sub F = Q sub F (T, L sub F). The y-axis is the output of food, Q sub F, which increases upward from the origin, versus the labor input of food, L sub F, which increases leftward from the origin. The plot rises to the left with decreasing steepness from the origin through 3 points. The upper right quadrant is the economy’s production possibility frontier, P P; the y-axis is output of food, Q sub F, which increase upward from the origin, and the x-axis is output of cloth, Q sub C, which increases rightward from the origin. The plot falls with increasing steepness from the y-axis to the x-axis through 3 points, 1 prime, 2 prime, and 3 prime. The lower left quadrant is the economy’s allocation of labor, A </a:t>
            </a:r>
            <a:r>
              <a:rPr lang="en-US" dirty="0" err="1"/>
              <a:t>A</a:t>
            </a:r>
            <a:r>
              <a:rPr lang="en-US" dirty="0"/>
              <a:t>. It has an upper x-axis of labor input of food, L sub F, which increases leftward from the origin, and a y-axis at the right for labor input in cloth, L sub C., which increases downward from the origin. The plot is a straight line that extends downward from point L on the x-axis to point L on the y-axis, through points 1, 2, and 3. The lower right quadrant is the production function for cloth, Q sub C = Q sub C, left parenthesis K comma L sub C right parenthesis. The quadrant has an upper x-axis of output of cloth, Q sub C, which increases rightward from the origin, and a y-axis at the left for labor input in cloth, L sub C, which increases downward from the origin. The plot falls from the origin with increasing steepness through 3 points. Additional points are placed on each axis as follows: L squared sub F, on the axis for L sub F where A </a:t>
            </a:r>
            <a:r>
              <a:rPr lang="en-US" dirty="0" err="1"/>
              <a:t>A</a:t>
            </a:r>
            <a:r>
              <a:rPr lang="en-US" dirty="0"/>
              <a:t> = 2; Q squared sub F, on the Q sub F axis where P P = 2 prime; Q squared sub C, on the Q sub C axis where P P = 2 prime; and L squared sub C, on the L sub C axis where A </a:t>
            </a:r>
            <a:r>
              <a:rPr lang="en-US" dirty="0" err="1"/>
              <a:t>A</a:t>
            </a:r>
            <a:r>
              <a:rPr lang="en-US" dirty="0"/>
              <a:t> = 2.</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95692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15598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51341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13641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622344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75039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451645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total labor supply is divided into two equal parts, labor used in cloth or L sub C, and labor used in food or L sub F. These parts are labeled L super 1 sub C, on the left, and L super 1 sub F, on the right, and decrease toward the center of the x-axis, increasing outward in opposite directions. The demand curve for labor in cloth, P sub C times M P L sub C, falls with decreasing steepness from left to right. The demand curve for labor in food, P sub F times M P L sub F, rises with increasing steepness from left to right. The two curves intersect at point 1, where y = w super 1, and the labor used in cloth is equal to the labor used in food.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84778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46540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falls with increasing steepness from y-axis to x-axis. The slope = negative, left parenthesis, P sub C, over P sub F, right parenthesis, super 1, where y = Q super 1 sub F and x = Q super 1 sub F, which intersect at point 1 on the curve.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684779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394671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432975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shows wage rate versus labor supply, which is divided into 2 equal parts, labor used in cloth or L sub C, and labor used in food or L sub F. Labor used in cloth increases to the left and labor used in food increases to the right. The plot for P sub C super 1 times M P L sub C falls with decreasing steepness from left to right. The plot for P sub F super 1 times M P L sub F rises from left to right with increasing steepness. The two plots intersect at point 1, where y = w 1. With a 10% wage increase to y = W super 2, both the P sub C and P sub F increase by 10%; the plots also rise or fall with greater steepness. The plot for P sub C super 2 times M P L sub C falls from left to right with decreasing steepness, and the plot for P sub F super 2 times M P L sub F rises with increasing steepness. The plots intersect at point 2, where y = w super 2, at the same x-value as point 1.</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17068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837673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Labor used in cloth increases to the left and labor used in food increases to the right. Horizontal lines are drawn at y = w super 1, and y = w super 2, which indicated a wage rate rise by less than 7%. A dotted line at y = w super 2 prime indicates is above y = W super 2. The plot for P sub F super 1 times M P L sub F rises with increasing steepness through point 1, where y = w super 1, and through point 2, where y = w super 2. The plot for P sub C super 1 times M P L sub C falls with decreasing steepness through point 1, where y = w 1. With a P sub C increase of 7%, the plot for P sub C super 2 times M P L sub C falls with decreasing steepness through point 2, where y = w super 2. The dotted line for y = w super 2 intersected this plot in line with point 1 on the x-axis. Point 2 is shifted to the right of point 1.</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273296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P P falls with increasing steepness from the y-axis to the x-axis, through points 1 and 2. At point 1, where y = Q sub F super 1 and x = Q sub C super 1, the plot = negative, left parenthesis, P sub C over P sub F, right parenthesis, super 1. At point 2, where y = Q sub F super 2 and x = Q sub C super 2, the slope is more steep, labeled as negative, left parenthesis, P sub C over P sub F, right parenthesis, super 2.</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034265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 S curve rises with increasing steepness and intersects the R D curve, which falls with decreasing steepness. Their intersection is the equilibrium, point 1. At point 1, y = P sub C over P sub F, super 1, and x = Q sub C over Q sub F, super 1.</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510618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425567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37276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60287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 S curves, R S and R S super world, rise with increasing steepness. One R D curve for the world falls with decreasing steepness. The plot for R S world intersects R D super world at point 2, where y = P sub C over P sub F, super 2. This intersection is to the left of the intersection of R S and R D super world, which occurs at point 1, where y = P sub C over P sub F, super 1.</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574080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323096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787844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P P falls with increasing steepness from y-axis to x-axis, through points 1 and 2. Point 1 is higher on the plot, and forms the lower left vertex of the colored rectangular region. Point 2 is lower, where y = Q sub F super 1 and x = Q sub C super 1. The slope at point 2 indicates budget constraint with trade slope, = negative P sub C over P sub F, super 2.</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38317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475364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272775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361563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725154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800511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312384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766398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depicts percentages for both imports as a percent of G D P and unemployment as a percent of the workforce, versus years 19 60 to 20 20. Recessions are highlighted, with corresponding spikes in unemployment and dips in imports. The plot for imports generally rises from (19 60, 4.3) through (19 90, 9.8) to (20 12, 17), and then falls to (20 20, 14). A significant dip occurs at (2009, 13). The plot for unemployment rises and falls inconsistently, through points (19 60, 5), (19 82, 11), (19 90, 5), (2009, 9), and (20 20, 3.5). The shaded areas for U S recessions, by years, are as follows. 19 60 to 19 61, 19 70, 19 73 to 19 75, 19 80, 19 81 to 19 83, 19 90 to 19 91, 2001, 2008 to 2009. All values are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845988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787155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082508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depicts percentages of U S manufacturing employment, versus years 19 60 to 20 20. Manufacturing employment fell from 28% in 19 60 to 10% in 20 20, and closely followed the predicted employment. Imports from China rose gradually from (19 72, 0.1%) to (19 85, 0.5%) and then rose steeply from (19 90, 0.25%) to (20 17, 7.5%). All values are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843455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753287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253428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057694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852993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628497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versus total world labor force, which is split between home employment, O, on the left and foreign employment, O asterisk, on the right. The graph plots two curves, M P L for home labor, and M P L asterisk for foreign labor. The marginal product of home labor falls with decreasing steepness from left to right. The marginal product of foreign labor rises with increasing steepness from left to right. The plots intersect at point Ay, where x = L super 2. To the right of point Ay, rising on the M P L asterisk, is point B, where x = L super 1. Point C, falling on the M P L curve, is directly below point B, where x = L super 1. The triangular area between points Ay, B, and C is shaded and represents the migration of labor from home to foreign, the difference between L super 2 and L super 1.</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413024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797281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55726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all manufacturing workers rises from (1997, 14) through (2008, 27) to (2015, 27). Below it, the plot for McDonald’s is a straight line that rises from (2007, 18) to (2011, 22). All values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358406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420151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graph depicts percentage of the foreign born population in the U S versus decades, 18 50 to 20 10, and 2018. From 18 50 to 19 10, the foreign born population as a percentage of the U S population generally grew from 10% to 14.5%. From 19 20 to 19 70 the percentage declined each decade from 13.5% to 5%. In 19 80, it started to rise again each decade, from 7% to 13% in 20 18. All values are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306208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890208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graph depicts foreign born and total U S population, in millions, by 7 levels of education, and is overlaid with a curve of the percentage of foreign born in the U S population. The following list provides number of workers, in millions, for foreign born then total U S population, by education level. 0 to 8 years, 6 million, 12 million. 9 to 12 years, 4 million, 16 million. High school graduate, 8 million, 64 million. 12 to 15 years, 5 million, 54 million. Bachelor degree, 8 million, 52 million. Master degree, 4 million, 22 million. Professional and doctorate degree, 1 million, 8 million. The plot for fraction of foreign born in the total U S population falls steeply from (0 to 8 years, 69%) to (9 to 12 years, 29%), then continues to fall through (high school graduate, 13%), and (Some college, 12%). The plot then rises through (bachelor degree, 18%), (master degree, 19%), and (professional and doctorate degrees, 22%). All values are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577897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14291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533832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9463802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9139924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curve are 5 rectangles formed by dotted lines, beginning at the y-axis, each the same width, d L sub C, along the x-axis. The upper right vertex of each rectangle is a point along the M P L sub C curve.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9289962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for M P L sub C falls with decreasing steepness from the y-axis. Roughly midway along the curve, a point forms the upper right vertex of a rectangle under the curve, where y = w over P sub C, super 1. The shaded rectangle, below this line, represents wages. A roughly triangular, shaded area above this line, between the y-axis and M P L sub C curve, represents the income of capitalists.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4850669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for M L P sub C falls with decreasing steepness from the y-axis. Dotted lines intersect the curve at x = L sub C super 1, and to the right at L sub C super 2. At x = L sub C super 1, y = w over P sub C, super 1; at x = L sub C super 2, y = w over P sub C, super 2. The area between the 2 intersections and the y-axis is shaded, and represents the increase in capitalists’ income.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357623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plot for M P L sub F falls with decreasing steepness.   Dotted lines intersect the curve at x = L sub F super 2, and to the right at L sub F super 1. At x = L sub F super 2, y = w over P sub F, super 2; at x = L sub F super 1, y = w over P sub F, super 1. The area between the 2 intersections and the y-axis is shaded, and represents the decline in landowners’ income.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8087937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71</a:t>
            </a:fld>
            <a:endParaRPr lang="en-US" dirty="0"/>
          </a:p>
        </p:txBody>
      </p:sp>
    </p:spTree>
    <p:extLst>
      <p:ext uri="{BB962C8B-B14F-4D97-AF65-F5344CB8AC3E}">
        <p14:creationId xmlns:p14="http://schemas.microsoft.com/office/powerpoint/2010/main" val="4093245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Two Content_5">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88207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19413"/>
            <a:ext cx="8229600" cy="882074"/>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174AAF22-7E52-4BB8-A19A-B8136D7E604E}"/>
              </a:ext>
            </a:extLst>
          </p:cNvPr>
          <p:cNvSpPr>
            <a:spLocks noGrp="1"/>
          </p:cNvSpPr>
          <p:nvPr>
            <p:ph sz="quarter" idx="15"/>
          </p:nvPr>
        </p:nvSpPr>
        <p:spPr>
          <a:xfrm>
            <a:off x="457200" y="4156075"/>
            <a:ext cx="8229600" cy="10398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6C83B4D9-DE07-4E83-8378-A2C310A8B3D1}"/>
              </a:ext>
            </a:extLst>
          </p:cNvPr>
          <p:cNvSpPr>
            <a:spLocks noGrp="1"/>
          </p:cNvSpPr>
          <p:nvPr>
            <p:ph sz="quarter" idx="16"/>
          </p:nvPr>
        </p:nvSpPr>
        <p:spPr>
          <a:xfrm>
            <a:off x="457200" y="5549900"/>
            <a:ext cx="8229600" cy="754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EBA90310-CB6B-49A6-9445-8C566ACD43CA}"/>
              </a:ext>
            </a:extLst>
          </p:cNvPr>
          <p:cNvSpPr>
            <a:spLocks noGrp="1"/>
          </p:cNvSpPr>
          <p:nvPr>
            <p:ph sz="quarter" idx="17"/>
          </p:nvPr>
        </p:nvSpPr>
        <p:spPr>
          <a:xfrm>
            <a:off x="595313" y="6483350"/>
            <a:ext cx="8091487" cy="638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5838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_1">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701964"/>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525348"/>
            <a:ext cx="8229600" cy="5919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F053872F-BA18-402C-9D97-50510F81EABD}"/>
              </a:ext>
            </a:extLst>
          </p:cNvPr>
          <p:cNvSpPr>
            <a:spLocks noGrp="1"/>
          </p:cNvSpPr>
          <p:nvPr>
            <p:ph sz="quarter" idx="15"/>
          </p:nvPr>
        </p:nvSpPr>
        <p:spPr>
          <a:xfrm>
            <a:off x="457200" y="3227388"/>
            <a:ext cx="8229600" cy="513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0EE83C8D-0F22-41E2-ACD5-80F91A191294}"/>
              </a:ext>
            </a:extLst>
          </p:cNvPr>
          <p:cNvSpPr>
            <a:spLocks noGrp="1"/>
          </p:cNvSpPr>
          <p:nvPr>
            <p:ph sz="quarter" idx="16"/>
          </p:nvPr>
        </p:nvSpPr>
        <p:spPr>
          <a:xfrm>
            <a:off x="457200" y="3989388"/>
            <a:ext cx="8229600" cy="513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1321ED12-B362-438C-859F-FE5720E1A9D6}"/>
              </a:ext>
            </a:extLst>
          </p:cNvPr>
          <p:cNvSpPr>
            <a:spLocks noGrp="1"/>
          </p:cNvSpPr>
          <p:nvPr>
            <p:ph sz="quarter" idx="17"/>
          </p:nvPr>
        </p:nvSpPr>
        <p:spPr>
          <a:xfrm>
            <a:off x="457200" y="4737967"/>
            <a:ext cx="8229600" cy="563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6FC96A21-DAFB-4ED2-A2EB-105BDC411856}"/>
              </a:ext>
            </a:extLst>
          </p:cNvPr>
          <p:cNvSpPr>
            <a:spLocks noGrp="1"/>
          </p:cNvSpPr>
          <p:nvPr>
            <p:ph sz="quarter" idx="18"/>
          </p:nvPr>
        </p:nvSpPr>
        <p:spPr>
          <a:xfrm>
            <a:off x="457200" y="5486400"/>
            <a:ext cx="8229600" cy="77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a:extLst>
              <a:ext uri="{FF2B5EF4-FFF2-40B4-BE49-F238E27FC236}">
                <a16:creationId xmlns:a16="http://schemas.microsoft.com/office/drawing/2014/main" id="{B23C4FAB-A7AB-4E6D-B5ED-0B0DF610851B}"/>
              </a:ext>
            </a:extLst>
          </p:cNvPr>
          <p:cNvSpPr>
            <a:spLocks noGrp="1"/>
          </p:cNvSpPr>
          <p:nvPr>
            <p:ph sz="quarter" idx="19"/>
          </p:nvPr>
        </p:nvSpPr>
        <p:spPr>
          <a:xfrm>
            <a:off x="457200" y="6386513"/>
            <a:ext cx="8229600" cy="471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01436023-CACB-4C2B-A51A-8EF87B2F5208}"/>
              </a:ext>
            </a:extLst>
          </p:cNvPr>
          <p:cNvSpPr>
            <a:spLocks noGrp="1"/>
          </p:cNvSpPr>
          <p:nvPr>
            <p:ph sz="quarter" idx="20"/>
          </p:nvPr>
        </p:nvSpPr>
        <p:spPr>
          <a:xfrm>
            <a:off x="457200" y="7037388"/>
            <a:ext cx="8229600" cy="67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4473BEC7-659D-41CA-98BA-DC8EE7B83CCD}"/>
              </a:ext>
            </a:extLst>
          </p:cNvPr>
          <p:cNvSpPr>
            <a:spLocks noGrp="1"/>
          </p:cNvSpPr>
          <p:nvPr>
            <p:ph sz="quarter" idx="21"/>
          </p:nvPr>
        </p:nvSpPr>
        <p:spPr>
          <a:xfrm>
            <a:off x="457200" y="7896225"/>
            <a:ext cx="8382000" cy="67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4574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image" Target="../media/image1.jp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8"/>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84" r:id="rId4"/>
    <p:sldLayoutId id="2147483683" r:id="rId5"/>
    <p:sldLayoutId id="2147483676" r:id="rId6"/>
    <p:sldLayoutId id="2147483677" r:id="rId7"/>
    <p:sldLayoutId id="2147483678" r:id="rId8"/>
    <p:sldLayoutId id="2147483679" r:id="rId9"/>
    <p:sldLayoutId id="2147483680" r:id="rId10"/>
    <p:sldLayoutId id="2147483681" r:id="rId11"/>
    <p:sldLayoutId id="2147483671" r:id="rId12"/>
    <p:sldLayoutId id="2147483673" r:id="rId13"/>
    <p:sldLayoutId id="2147483670" r:id="rId14"/>
    <p:sldLayoutId id="2147483669" r:id="rId15"/>
    <p:sldLayoutId id="214748365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8.wmf"/><Relationship Id="rId2" Type="http://schemas.openxmlformats.org/officeDocument/2006/relationships/oleObject" Target="../embeddings/oleObject4.bin"/><Relationship Id="rId1" Type="http://schemas.openxmlformats.org/officeDocument/2006/relationships/slideLayout" Target="../slideLayouts/slideLayout6.xml"/><Relationship Id="rId6" Type="http://schemas.openxmlformats.org/officeDocument/2006/relationships/oleObject" Target="../embeddings/oleObject6.bin"/><Relationship Id="rId5" Type="http://schemas.openxmlformats.org/officeDocument/2006/relationships/image" Target="../media/image7.wmf"/><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7.bin"/><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4.emf"/><Relationship Id="rId5" Type="http://schemas.openxmlformats.org/officeDocument/2006/relationships/oleObject" Target="../embeddings/oleObject9.bin"/><Relationship Id="rId10" Type="http://schemas.openxmlformats.org/officeDocument/2006/relationships/image" Target="../media/image16.emf"/><Relationship Id="rId4" Type="http://schemas.openxmlformats.org/officeDocument/2006/relationships/image" Target="../media/image13.emf"/><Relationship Id="rId9" Type="http://schemas.openxmlformats.org/officeDocument/2006/relationships/oleObject" Target="../embeddings/oleObject11.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8.emf"/><Relationship Id="rId5" Type="http://schemas.openxmlformats.org/officeDocument/2006/relationships/oleObject" Target="../embeddings/oleObject13.bin"/><Relationship Id="rId4" Type="http://schemas.openxmlformats.org/officeDocument/2006/relationships/image" Target="../media/image17.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20.emf"/><Relationship Id="rId5" Type="http://schemas.openxmlformats.org/officeDocument/2006/relationships/oleObject" Target="../embeddings/oleObject15.bin"/><Relationship Id="rId4" Type="http://schemas.openxmlformats.org/officeDocument/2006/relationships/image" Target="../media/image19.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22.emf"/><Relationship Id="rId4" Type="http://schemas.openxmlformats.org/officeDocument/2006/relationships/oleObject" Target="../embeddings/oleObject16.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3.emf"/></Relationships>
</file>

<file path=ppt/slides/_rels/slide2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25.jpg"/><Relationship Id="rId7" Type="http://schemas.openxmlformats.org/officeDocument/2006/relationships/image" Target="../media/image27.wmf"/><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oleObject" Target="../embeddings/oleObject19.bin"/><Relationship Id="rId5" Type="http://schemas.openxmlformats.org/officeDocument/2006/relationships/image" Target="../media/image26.emf"/><Relationship Id="rId4" Type="http://schemas.openxmlformats.org/officeDocument/2006/relationships/oleObject" Target="../embeddings/oleObject18.bin"/><Relationship Id="rId9" Type="http://schemas.openxmlformats.org/officeDocument/2006/relationships/image" Target="../media/image28.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30.wmf"/><Relationship Id="rId5" Type="http://schemas.openxmlformats.org/officeDocument/2006/relationships/oleObject" Target="../embeddings/oleObject22.bin"/><Relationship Id="rId4" Type="http://schemas.openxmlformats.org/officeDocument/2006/relationships/image" Target="../media/image29.wmf"/></Relationships>
</file>

<file path=ppt/slides/_rels/slide2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32.wmf"/><Relationship Id="rId4" Type="http://schemas.openxmlformats.org/officeDocument/2006/relationships/oleObject" Target="../embeddings/oleObject23.bin"/></Relationships>
</file>

<file path=ppt/slides/_rels/slide3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34.emf"/><Relationship Id="rId4" Type="http://schemas.openxmlformats.org/officeDocument/2006/relationships/oleObject" Target="../embeddings/oleObject24.bin"/></Relationships>
</file>

<file path=ppt/slides/_rels/slide31.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30.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37.wmf"/><Relationship Id="rId4" Type="http://schemas.openxmlformats.org/officeDocument/2006/relationships/oleObject" Target="../embeddings/oleObject25.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38.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39.emf"/></Relationships>
</file>

<file path=ppt/slides/_rels/slide38.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41.xml"/><Relationship Id="rId1" Type="http://schemas.openxmlformats.org/officeDocument/2006/relationships/slideLayout" Target="../slideLayouts/slideLayout6.xml"/><Relationship Id="rId6" Type="http://schemas.openxmlformats.org/officeDocument/2006/relationships/image" Target="../media/image44.emf"/><Relationship Id="rId5" Type="http://schemas.openxmlformats.org/officeDocument/2006/relationships/oleObject" Target="../embeddings/oleObject29.bin"/><Relationship Id="rId4" Type="http://schemas.openxmlformats.org/officeDocument/2006/relationships/image" Target="../media/image43.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42.xml"/><Relationship Id="rId1" Type="http://schemas.openxmlformats.org/officeDocument/2006/relationships/slideLayout" Target="../slideLayouts/slideLayout6.xml"/><Relationship Id="rId6" Type="http://schemas.openxmlformats.org/officeDocument/2006/relationships/image" Target="../media/image46.emf"/><Relationship Id="rId5" Type="http://schemas.openxmlformats.org/officeDocument/2006/relationships/oleObject" Target="../embeddings/oleObject31.bin"/><Relationship Id="rId4" Type="http://schemas.openxmlformats.org/officeDocument/2006/relationships/image" Target="../media/image45.wmf"/></Relationships>
</file>

<file path=ppt/slides/_rels/slide55.xml.rels><?xml version="1.0" encoding="UTF-8" standalone="yes"?>
<Relationships xmlns="http://schemas.openxmlformats.org/package/2006/relationships"><Relationship Id="rId8" Type="http://schemas.openxmlformats.org/officeDocument/2006/relationships/image" Target="../media/image49.e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notesSlide" Target="../notesSlides/notesSlide43.xml"/><Relationship Id="rId1" Type="http://schemas.openxmlformats.org/officeDocument/2006/relationships/slideLayout" Target="../slideLayouts/slideLayout6.xml"/><Relationship Id="rId6" Type="http://schemas.openxmlformats.org/officeDocument/2006/relationships/image" Target="../media/image48.wmf"/><Relationship Id="rId11" Type="http://schemas.openxmlformats.org/officeDocument/2006/relationships/image" Target="../media/image51.jpg"/><Relationship Id="rId5" Type="http://schemas.openxmlformats.org/officeDocument/2006/relationships/oleObject" Target="../embeddings/oleObject33.bin"/><Relationship Id="rId10" Type="http://schemas.openxmlformats.org/officeDocument/2006/relationships/image" Target="../media/image50.emf"/><Relationship Id="rId4" Type="http://schemas.openxmlformats.org/officeDocument/2006/relationships/image" Target="../media/image47.wmf"/><Relationship Id="rId9" Type="http://schemas.openxmlformats.org/officeDocument/2006/relationships/oleObject" Target="../embeddings/oleObject35.bin"/></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notesSlide" Target="../notesSlides/notesSlide57.xml"/><Relationship Id="rId1" Type="http://schemas.openxmlformats.org/officeDocument/2006/relationships/slideLayout" Target="../slideLayouts/slideLayout4.xml"/><Relationship Id="rId5" Type="http://schemas.openxmlformats.org/officeDocument/2006/relationships/image" Target="../media/image58.jpg"/><Relationship Id="rId4" Type="http://schemas.openxmlformats.org/officeDocument/2006/relationships/image" Target="../media/image57.w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notesSlide" Target="../notesSlides/notesSlide58.xml"/><Relationship Id="rId1" Type="http://schemas.openxmlformats.org/officeDocument/2006/relationships/slideLayout" Target="../slideLayouts/slideLayout4.xml"/><Relationship Id="rId5" Type="http://schemas.openxmlformats.org/officeDocument/2006/relationships/image" Target="../media/image59.jpg"/><Relationship Id="rId4" Type="http://schemas.openxmlformats.org/officeDocument/2006/relationships/image" Target="../media/image57.wmf"/></Relationships>
</file>

<file path=ppt/slides/_rels/slide7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6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t>Twelfth</a:t>
            </a:r>
            <a:r>
              <a:rPr lang="en-US" dirty="0">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4</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200" y="3252789"/>
            <a:ext cx="3657600" cy="1786139"/>
          </a:xfrm>
        </p:spPr>
        <p:txBody>
          <a:bodyPr/>
          <a:lstStyle/>
          <a:p>
            <a:pPr algn="ctr"/>
            <a:r>
              <a:rPr lang="en-US" altLang="en-US" dirty="0"/>
              <a:t>Specific Factors and Income Distribution</a:t>
            </a:r>
            <a:endParaRPr lang="en-US" dirty="0">
              <a:ea typeface="Verdana" panose="020B0604030504040204" pitchFamily="34" charset="0"/>
              <a:cs typeface="Verdana" panose="020B0604030504040204" pitchFamily="34" charset="0"/>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cs typeface="Verdana" panose="020B0604030504040204" pitchFamily="34" charset="0"/>
              </a:rPr>
              <a:t>Copyright © </a:t>
            </a:r>
            <a:r>
              <a:rPr lang="en-US" dirty="0"/>
              <a:t>2022, 2018, 2015 </a:t>
            </a:r>
            <a:r>
              <a:rPr lang="en-US" altLang="en-US" sz="1200" b="0" dirty="0">
                <a:latin typeface="Verdana"/>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Learning Objectives</a:t>
            </a:r>
            <a:endParaRPr lang="en-US" dirty="0"/>
          </a:p>
        </p:txBody>
      </p:sp>
      <p:sp>
        <p:nvSpPr>
          <p:cNvPr id="4" name="Content Placeholder 3"/>
          <p:cNvSpPr>
            <a:spLocks noGrp="1"/>
          </p:cNvSpPr>
          <p:nvPr>
            <p:ph sz="quarter" idx="13"/>
          </p:nvPr>
        </p:nvSpPr>
        <p:spPr>
          <a:xfrm>
            <a:off x="457200" y="1556326"/>
            <a:ext cx="8229600" cy="4641273"/>
          </a:xfrm>
        </p:spPr>
        <p:txBody>
          <a:bodyPr/>
          <a:lstStyle/>
          <a:p>
            <a:pPr marL="0" indent="0">
              <a:buNone/>
            </a:pPr>
            <a:r>
              <a:rPr lang="en-US" b="1" dirty="0">
                <a:solidFill>
                  <a:srgbClr val="007FA3"/>
                </a:solidFill>
                <a:ea typeface="Verdana" panose="020B0604030504040204" pitchFamily="34" charset="0"/>
                <a:cs typeface="Verdana" panose="020B0604030504040204" pitchFamily="34" charset="0"/>
              </a:rPr>
              <a:t>4.1</a:t>
            </a:r>
            <a:r>
              <a:rPr lang="en-US" sz="2400" b="1" dirty="0">
                <a:solidFill>
                  <a:schemeClr val="accent1"/>
                </a:solidFill>
                <a:ea typeface="Verdana" panose="020B0604030504040204" pitchFamily="34" charset="0"/>
                <a:cs typeface="Verdana" panose="020B0604030504040204" pitchFamily="34" charset="0"/>
              </a:rPr>
              <a:t> </a:t>
            </a:r>
            <a:r>
              <a:rPr lang="en-US" sz="2400" dirty="0"/>
              <a:t>Understand how a mobile factor will respond to price changes by moving across sectors.</a:t>
            </a:r>
          </a:p>
          <a:p>
            <a:pPr marL="0" indent="0">
              <a:buNone/>
            </a:pPr>
            <a:r>
              <a:rPr lang="en-US" sz="2400" b="1" dirty="0">
                <a:solidFill>
                  <a:srgbClr val="007FA3"/>
                </a:solidFill>
                <a:ea typeface="Verdana" panose="020B0604030504040204" pitchFamily="34" charset="0"/>
                <a:cs typeface="Verdana" panose="020B0604030504040204" pitchFamily="34" charset="0"/>
              </a:rPr>
              <a:t>4.2 </a:t>
            </a:r>
            <a:r>
              <a:rPr lang="en-US" sz="2400" dirty="0"/>
              <a:t>Explain why trade will generate both winners and losers in the short run.</a:t>
            </a:r>
          </a:p>
          <a:p>
            <a:pPr marL="0" indent="0">
              <a:buNone/>
            </a:pPr>
            <a:r>
              <a:rPr lang="en-US" sz="2400" b="1" dirty="0">
                <a:solidFill>
                  <a:srgbClr val="007FA3"/>
                </a:solidFill>
                <a:ea typeface="Verdana" panose="020B0604030504040204" pitchFamily="34" charset="0"/>
                <a:cs typeface="Verdana" panose="020B0604030504040204" pitchFamily="34" charset="0"/>
              </a:rPr>
              <a:t>4.3 </a:t>
            </a:r>
            <a:r>
              <a:rPr lang="en-US" sz="2400" dirty="0"/>
              <a:t>Understand the meaning of gains from trade when there are losers.</a:t>
            </a:r>
          </a:p>
          <a:p>
            <a:pPr marL="0" indent="0">
              <a:buNone/>
            </a:pPr>
            <a:r>
              <a:rPr lang="en-US" sz="2400" b="1" dirty="0">
                <a:solidFill>
                  <a:srgbClr val="007FA3"/>
                </a:solidFill>
                <a:ea typeface="Verdana" panose="020B0604030504040204" pitchFamily="34" charset="0"/>
                <a:cs typeface="Verdana" panose="020B0604030504040204" pitchFamily="34" charset="0"/>
              </a:rPr>
              <a:t>4.4 </a:t>
            </a:r>
            <a:r>
              <a:rPr lang="en-US" sz="2400" dirty="0"/>
              <a:t>Discuss the reasons why trade is a politically contentious issue.</a:t>
            </a:r>
          </a:p>
          <a:p>
            <a:pPr marL="0" indent="0">
              <a:buNone/>
            </a:pPr>
            <a:r>
              <a:rPr lang="en-US" sz="2400" b="1" dirty="0">
                <a:solidFill>
                  <a:srgbClr val="007FA3"/>
                </a:solidFill>
                <a:ea typeface="Verdana" panose="020B0604030504040204" pitchFamily="34" charset="0"/>
                <a:cs typeface="Verdana" panose="020B0604030504040204" pitchFamily="34" charset="0"/>
              </a:rPr>
              <a:t>4.5 </a:t>
            </a:r>
            <a:r>
              <a:rPr lang="en-US" sz="2400" dirty="0"/>
              <a:t>Explain the arguments in favor of free trade despite the existence of losers.</a:t>
            </a:r>
            <a:endParaRPr lang="en-US" dirty="0"/>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Preview</a:t>
            </a:r>
            <a:endParaRPr lang="en-IN" dirty="0"/>
          </a:p>
        </p:txBody>
      </p:sp>
      <p:sp>
        <p:nvSpPr>
          <p:cNvPr id="7" name="Content Placeholder 6"/>
          <p:cNvSpPr>
            <a:spLocks noGrp="1"/>
          </p:cNvSpPr>
          <p:nvPr>
            <p:ph sz="quarter" idx="13"/>
          </p:nvPr>
        </p:nvSpPr>
        <p:spPr>
          <a:xfrm>
            <a:off x="457200" y="1556327"/>
            <a:ext cx="8229600" cy="4126016"/>
          </a:xfrm>
        </p:spPr>
        <p:txBody>
          <a:bodyPr/>
          <a:lstStyle/>
          <a:p>
            <a:pPr marL="255600" indent="-255600">
              <a:buSzPct val="100000"/>
            </a:pPr>
            <a:r>
              <a:rPr lang="en-US" altLang="en-US" sz="2400" dirty="0"/>
              <a:t>Introduction</a:t>
            </a:r>
          </a:p>
          <a:p>
            <a:pPr marL="255600" indent="-255600">
              <a:buSzPct val="100000"/>
            </a:pPr>
            <a:r>
              <a:rPr lang="en-US" altLang="en-US" sz="2400" dirty="0"/>
              <a:t>The Specific Factors Model</a:t>
            </a:r>
          </a:p>
          <a:p>
            <a:pPr marL="255600" indent="-255600">
              <a:buSzPct val="100000"/>
            </a:pPr>
            <a:r>
              <a:rPr lang="en-US" altLang="en-US" sz="2400" dirty="0"/>
              <a:t>International Trade in the Specific Factors Model</a:t>
            </a:r>
          </a:p>
          <a:p>
            <a:pPr marL="255600" indent="-255600">
              <a:buSzPct val="100000"/>
            </a:pPr>
            <a:r>
              <a:rPr lang="en-US" altLang="en-US" sz="2400" dirty="0"/>
              <a:t>Income Distribution and the Gains from Trade</a:t>
            </a:r>
          </a:p>
          <a:p>
            <a:pPr marL="255600" indent="-255600">
              <a:buSzPct val="100000"/>
            </a:pPr>
            <a:r>
              <a:rPr lang="en-US" altLang="en-US" sz="2400" dirty="0"/>
              <a:t>Politics of Trade Protection</a:t>
            </a:r>
          </a:p>
          <a:p>
            <a:pPr marL="255600" indent="-255600">
              <a:buSzPct val="100000"/>
            </a:pPr>
            <a:r>
              <a:rPr lang="en-US" altLang="en-US" sz="2400" dirty="0"/>
              <a:t>International Labor Mobility</a:t>
            </a:r>
          </a:p>
          <a:p>
            <a:pPr marL="255600" indent="-255600">
              <a:buSzPct val="100000"/>
            </a:pPr>
            <a:r>
              <a:rPr lang="en-US" altLang="en-US" sz="2400" dirty="0"/>
              <a:t>Summary</a:t>
            </a:r>
            <a:endParaRPr lang="en-IN" sz="2400" dirty="0"/>
          </a:p>
        </p:txBody>
      </p:sp>
    </p:spTree>
    <p:extLst>
      <p:ext uri="{BB962C8B-B14F-4D97-AF65-F5344CB8AC3E}">
        <p14:creationId xmlns:p14="http://schemas.microsoft.com/office/powerpoint/2010/main" val="134895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Introduction</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pPr marL="255600" indent="-255600">
              <a:buSzPct val="100000"/>
            </a:pPr>
            <a:r>
              <a:rPr lang="en-US" altLang="en-US" sz="2400" dirty="0"/>
              <a:t>If trade is so good for the economy, why is there such opposition?</a:t>
            </a:r>
          </a:p>
          <a:p>
            <a:pPr marL="255600" indent="-255600">
              <a:buSzPct val="100000"/>
            </a:pPr>
            <a:r>
              <a:rPr lang="en-US" altLang="en-US" sz="2400" dirty="0"/>
              <a:t>Two main reasons why international trade has strong effects on the distribution of income within a country:</a:t>
            </a:r>
          </a:p>
          <a:p>
            <a:pPr marL="741600" lvl="1"/>
            <a:r>
              <a:rPr lang="en-US" altLang="en-US" sz="2400" dirty="0"/>
              <a:t>Resources cannot move immediately or costlessly from one industry to another.</a:t>
            </a:r>
          </a:p>
          <a:p>
            <a:pPr marL="741600" lvl="1"/>
            <a:r>
              <a:rPr lang="en-US" altLang="en-US" sz="2400" dirty="0"/>
              <a:t>Industries differ in the factors of production they demand.</a:t>
            </a:r>
          </a:p>
        </p:txBody>
      </p:sp>
    </p:spTree>
    <p:extLst>
      <p:ext uri="{BB962C8B-B14F-4D97-AF65-F5344CB8AC3E}">
        <p14:creationId xmlns:p14="http://schemas.microsoft.com/office/powerpoint/2010/main" val="4092937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The Specific Factors Model </a:t>
            </a:r>
            <a:r>
              <a:rPr lang="en-US" altLang="en-US" sz="2000" b="0" dirty="0"/>
              <a:t>(1 of 4)</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p:txBody>
          <a:bodyPr/>
          <a:lstStyle/>
          <a:p>
            <a:r>
              <a:rPr lang="en-US" altLang="en-US" sz="2400" dirty="0"/>
              <a:t>The </a:t>
            </a:r>
            <a:r>
              <a:rPr lang="en-US" altLang="en-US" sz="2400" b="1" dirty="0"/>
              <a:t>specific factors model</a:t>
            </a:r>
            <a:r>
              <a:rPr lang="en-US" altLang="en-US" sz="2400" dirty="0"/>
              <a:t> allows trade to affect income distribution.</a:t>
            </a:r>
          </a:p>
          <a:p>
            <a:r>
              <a:rPr lang="en-US" altLang="en-US" sz="2400" dirty="0"/>
              <a:t>Assumptions of the model:</a:t>
            </a:r>
          </a:p>
          <a:p>
            <a:pPr lvl="1"/>
            <a:r>
              <a:rPr lang="en-US" altLang="en-US" sz="2400" dirty="0"/>
              <a:t>Two goods, cloth and food.</a:t>
            </a:r>
          </a:p>
          <a:p>
            <a:pPr lvl="1"/>
            <a:r>
              <a:rPr lang="en-US" altLang="en-US" sz="2400" dirty="0"/>
              <a:t>Three factors of production: labor (</a:t>
            </a:r>
            <a:r>
              <a:rPr lang="en-US" altLang="en-US" sz="2400" i="1" dirty="0"/>
              <a:t>L</a:t>
            </a:r>
            <a:r>
              <a:rPr lang="en-US" altLang="en-US" sz="2400" dirty="0"/>
              <a:t>), capital (</a:t>
            </a:r>
            <a:r>
              <a:rPr lang="en-US" altLang="en-US" sz="2400" i="1" dirty="0"/>
              <a:t>K</a:t>
            </a:r>
            <a:r>
              <a:rPr lang="en-US" altLang="en-US" sz="2400" dirty="0"/>
              <a:t>), and land (</a:t>
            </a:r>
            <a:r>
              <a:rPr lang="en-US" altLang="en-US" sz="2400" i="1" dirty="0"/>
              <a:t>T</a:t>
            </a:r>
            <a:r>
              <a:rPr lang="en-US" altLang="en-US" sz="2400" dirty="0"/>
              <a:t> for terrain).</a:t>
            </a:r>
          </a:p>
          <a:p>
            <a:pPr lvl="1"/>
            <a:r>
              <a:rPr lang="en-US" altLang="en-US" sz="2400" dirty="0"/>
              <a:t>Perfect competition prevails in all markets.</a:t>
            </a:r>
            <a:endParaRPr lang="en-IN" sz="2400" dirty="0"/>
          </a:p>
        </p:txBody>
      </p:sp>
    </p:spTree>
    <p:extLst>
      <p:ext uri="{BB962C8B-B14F-4D97-AF65-F5344CB8AC3E}">
        <p14:creationId xmlns:p14="http://schemas.microsoft.com/office/powerpoint/2010/main" val="174719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The Specific Factors Model </a:t>
            </a:r>
            <a:r>
              <a:rPr lang="en-US" altLang="en-US" sz="2000" b="0" dirty="0"/>
              <a:t>(2 of 4)</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199" y="1556327"/>
            <a:ext cx="8373291" cy="3094050"/>
          </a:xfrm>
        </p:spPr>
        <p:txBody>
          <a:bodyPr/>
          <a:lstStyle/>
          <a:p>
            <a:pPr lvl="1"/>
            <a:r>
              <a:rPr lang="en-US" altLang="en-US" sz="2400" dirty="0"/>
              <a:t>Cloth produced using capital and labor (but not land).</a:t>
            </a:r>
          </a:p>
          <a:p>
            <a:pPr lvl="1"/>
            <a:r>
              <a:rPr lang="en-US" altLang="en-US" sz="2400" dirty="0"/>
              <a:t>Food produced using land and labor (but not capital). </a:t>
            </a:r>
          </a:p>
          <a:p>
            <a:pPr lvl="1"/>
            <a:r>
              <a:rPr lang="en-US" altLang="en-US" sz="2400" dirty="0"/>
              <a:t>Labor is a mobile factor that can move between sectors.</a:t>
            </a:r>
          </a:p>
          <a:p>
            <a:pPr lvl="1"/>
            <a:r>
              <a:rPr lang="en-US" altLang="en-US" sz="2400" dirty="0"/>
              <a:t>Land and capital are both specific factors used only in the production of one good.</a:t>
            </a:r>
            <a:endParaRPr lang="en-IN" sz="2400" dirty="0"/>
          </a:p>
        </p:txBody>
      </p:sp>
    </p:spTree>
    <p:extLst>
      <p:ext uri="{BB962C8B-B14F-4D97-AF65-F5344CB8AC3E}">
        <p14:creationId xmlns:p14="http://schemas.microsoft.com/office/powerpoint/2010/main" val="1213776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The Specific Factors Model </a:t>
            </a:r>
            <a:r>
              <a:rPr lang="en-US" altLang="en-US" sz="2000" b="0" dirty="0"/>
              <a:t>(3 of 4)</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7"/>
            <a:ext cx="8404578" cy="1491674"/>
          </a:xfrm>
        </p:spPr>
        <p:txBody>
          <a:bodyPr/>
          <a:lstStyle/>
          <a:p>
            <a:pPr marL="255600"/>
            <a:r>
              <a:rPr lang="en-US" altLang="en-US" sz="2400" dirty="0"/>
              <a:t>How much of each good does the economy produce?</a:t>
            </a:r>
          </a:p>
          <a:p>
            <a:pPr marL="255600"/>
            <a:r>
              <a:rPr lang="en-US" altLang="en-US" sz="2400" dirty="0"/>
              <a:t>The production function for cloth gives the quantity of cloth that can be produced given any input of capital and labor:</a:t>
            </a:r>
            <a:endParaRPr lang="en-IN" sz="2400" dirty="0"/>
          </a:p>
        </p:txBody>
      </p:sp>
      <p:graphicFrame>
        <p:nvGraphicFramePr>
          <p:cNvPr id="7" name="Object 6" descr="Q sub C = Q sub C left parenthesis K, L sub C right parenthesis">
            <a:extLst>
              <a:ext uri="{FF2B5EF4-FFF2-40B4-BE49-F238E27FC236}">
                <a16:creationId xmlns:a16="http://schemas.microsoft.com/office/drawing/2014/main" id="{D9D3F823-CCA7-426C-BBD9-DDD874C08793}"/>
              </a:ext>
            </a:extLst>
          </p:cNvPr>
          <p:cNvGraphicFramePr>
            <a:graphicFrameLocks noChangeAspect="1"/>
          </p:cNvGraphicFramePr>
          <p:nvPr>
            <p:extLst>
              <p:ext uri="{D42A27DB-BD31-4B8C-83A1-F6EECF244321}">
                <p14:modId xmlns:p14="http://schemas.microsoft.com/office/powerpoint/2010/main" val="2183137220"/>
              </p:ext>
            </p:extLst>
          </p:nvPr>
        </p:nvGraphicFramePr>
        <p:xfrm>
          <a:off x="3557304" y="3138528"/>
          <a:ext cx="2029392" cy="494974"/>
        </p:xfrm>
        <a:graphic>
          <a:graphicData uri="http://schemas.openxmlformats.org/presentationml/2006/ole">
            <mc:AlternateContent xmlns:mc="http://schemas.openxmlformats.org/markup-compatibility/2006">
              <mc:Choice xmlns:v="urn:schemas-microsoft-com:vml" Requires="v">
                <p:oleObj name="Equation" r:id="rId3" imgW="1041120" imgH="253800" progId="Equation.DSMT4">
                  <p:embed/>
                </p:oleObj>
              </mc:Choice>
              <mc:Fallback>
                <p:oleObj name="Equation" r:id="rId3" imgW="1041120" imgH="253800" progId="Equation.DSMT4">
                  <p:embed/>
                  <p:pic>
                    <p:nvPicPr>
                      <p:cNvPr id="0" name=""/>
                      <p:cNvPicPr/>
                      <p:nvPr/>
                    </p:nvPicPr>
                    <p:blipFill>
                      <a:blip r:embed="rId4"/>
                      <a:stretch>
                        <a:fillRect/>
                      </a:stretch>
                    </p:blipFill>
                    <p:spPr>
                      <a:xfrm>
                        <a:off x="3557304" y="3138528"/>
                        <a:ext cx="2029392" cy="494974"/>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6FD0C745-1267-44A6-8E0F-0BFFA36226D0}"/>
              </a:ext>
            </a:extLst>
          </p:cNvPr>
          <p:cNvSpPr>
            <a:spLocks noGrp="1"/>
          </p:cNvSpPr>
          <p:nvPr>
            <p:ph sz="quarter" idx="14"/>
          </p:nvPr>
        </p:nvSpPr>
        <p:spPr>
          <a:xfrm>
            <a:off x="919163" y="3705919"/>
            <a:ext cx="433388" cy="491551"/>
          </a:xfrm>
        </p:spPr>
        <p:txBody>
          <a:bodyPr/>
          <a:lstStyle/>
          <a:p>
            <a:pPr marL="0" lvl="1" indent="0"/>
            <a:r>
              <a:rPr lang="en-US" altLang="en-US" sz="2400" i="1" dirty="0"/>
              <a:t> </a:t>
            </a:r>
            <a:r>
              <a:rPr lang="en-US" altLang="en-US" sz="100" i="1" dirty="0"/>
              <a:t> </a:t>
            </a:r>
            <a:endParaRPr lang="en-US" altLang="en-US" sz="100" dirty="0"/>
          </a:p>
        </p:txBody>
      </p:sp>
      <p:graphicFrame>
        <p:nvGraphicFramePr>
          <p:cNvPr id="9" name="Object 8" descr="Q sub C">
            <a:extLst>
              <a:ext uri="{FF2B5EF4-FFF2-40B4-BE49-F238E27FC236}">
                <a16:creationId xmlns:a16="http://schemas.microsoft.com/office/drawing/2014/main" id="{647AF9E9-4919-49D6-8DE3-5EAC8D9908F4}"/>
              </a:ext>
            </a:extLst>
          </p:cNvPr>
          <p:cNvGraphicFramePr>
            <a:graphicFrameLocks noChangeAspect="1"/>
          </p:cNvGraphicFramePr>
          <p:nvPr>
            <p:extLst>
              <p:ext uri="{D42A27DB-BD31-4B8C-83A1-F6EECF244321}">
                <p14:modId xmlns:p14="http://schemas.microsoft.com/office/powerpoint/2010/main" val="3228867782"/>
              </p:ext>
            </p:extLst>
          </p:nvPr>
        </p:nvGraphicFramePr>
        <p:xfrm>
          <a:off x="1404943" y="3794335"/>
          <a:ext cx="398597" cy="421156"/>
        </p:xfrm>
        <a:graphic>
          <a:graphicData uri="http://schemas.openxmlformats.org/presentationml/2006/ole">
            <mc:AlternateContent xmlns:mc="http://schemas.openxmlformats.org/markup-compatibility/2006">
              <mc:Choice xmlns:v="urn:schemas-microsoft-com:vml" Requires="v">
                <p:oleObj name="Equation" r:id="rId5" imgW="215640" imgH="228600" progId="Equation.DSMT4">
                  <p:embed/>
                </p:oleObj>
              </mc:Choice>
              <mc:Fallback>
                <p:oleObj name="Equation" r:id="rId5" imgW="215640" imgH="228600" progId="Equation.DSMT4">
                  <p:embed/>
                  <p:pic>
                    <p:nvPicPr>
                      <p:cNvPr id="0" name=""/>
                      <p:cNvPicPr/>
                      <p:nvPr/>
                    </p:nvPicPr>
                    <p:blipFill>
                      <a:blip r:embed="rId6"/>
                      <a:stretch>
                        <a:fillRect/>
                      </a:stretch>
                    </p:blipFill>
                    <p:spPr>
                      <a:xfrm>
                        <a:off x="1404943" y="3794335"/>
                        <a:ext cx="398597" cy="421156"/>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3F7838DE-6717-4930-9174-F2E7FF7AEA6D}"/>
              </a:ext>
            </a:extLst>
          </p:cNvPr>
          <p:cNvSpPr>
            <a:spLocks noGrp="1"/>
          </p:cNvSpPr>
          <p:nvPr>
            <p:ph sz="quarter" idx="15"/>
          </p:nvPr>
        </p:nvSpPr>
        <p:spPr>
          <a:xfrm>
            <a:off x="1868518" y="3738591"/>
            <a:ext cx="3110459" cy="513340"/>
          </a:xfrm>
        </p:spPr>
        <p:txBody>
          <a:bodyPr/>
          <a:lstStyle/>
          <a:p>
            <a:pPr marL="0" lvl="1" indent="0">
              <a:buNone/>
            </a:pPr>
            <a:r>
              <a:rPr lang="en-US" altLang="en-US" sz="2400" dirty="0">
                <a:latin typeface="+mn-lt"/>
              </a:rPr>
              <a:t>is the output of cloth</a:t>
            </a:r>
          </a:p>
        </p:txBody>
      </p:sp>
      <p:sp>
        <p:nvSpPr>
          <p:cNvPr id="10" name="Content Placeholder 9">
            <a:extLst>
              <a:ext uri="{FF2B5EF4-FFF2-40B4-BE49-F238E27FC236}">
                <a16:creationId xmlns:a16="http://schemas.microsoft.com/office/drawing/2014/main" id="{006B15A1-3118-46D2-9270-BC6558367AAC}"/>
              </a:ext>
            </a:extLst>
          </p:cNvPr>
          <p:cNvSpPr>
            <a:spLocks noGrp="1"/>
          </p:cNvSpPr>
          <p:nvPr>
            <p:ph sz="quarter" idx="16"/>
          </p:nvPr>
        </p:nvSpPr>
        <p:spPr>
          <a:xfrm>
            <a:off x="457200" y="4355838"/>
            <a:ext cx="8229600" cy="513340"/>
          </a:xfrm>
        </p:spPr>
        <p:txBody>
          <a:bodyPr/>
          <a:lstStyle/>
          <a:p>
            <a:pPr lvl="1" indent="-284400"/>
            <a:r>
              <a:rPr lang="en-US" altLang="en-US" sz="2400" i="1" dirty="0">
                <a:latin typeface="+mn-lt"/>
              </a:rPr>
              <a:t>K</a:t>
            </a:r>
            <a:r>
              <a:rPr lang="en-US" altLang="en-US" sz="2400" dirty="0">
                <a:latin typeface="+mn-lt"/>
              </a:rPr>
              <a:t> is the capital stock</a:t>
            </a:r>
            <a:endParaRPr lang="en-US" sz="2400" dirty="0">
              <a:latin typeface="+mn-lt"/>
            </a:endParaRPr>
          </a:p>
        </p:txBody>
      </p:sp>
      <p:sp>
        <p:nvSpPr>
          <p:cNvPr id="11" name="Content Placeholder 10">
            <a:extLst>
              <a:ext uri="{FF2B5EF4-FFF2-40B4-BE49-F238E27FC236}">
                <a16:creationId xmlns:a16="http://schemas.microsoft.com/office/drawing/2014/main" id="{3A0DB96B-6698-4259-92A0-A61447406BAB}"/>
              </a:ext>
            </a:extLst>
          </p:cNvPr>
          <p:cNvSpPr>
            <a:spLocks noGrp="1"/>
          </p:cNvSpPr>
          <p:nvPr>
            <p:ph sz="quarter" idx="17"/>
          </p:nvPr>
        </p:nvSpPr>
        <p:spPr>
          <a:xfrm>
            <a:off x="919164" y="5019423"/>
            <a:ext cx="394402" cy="490441"/>
          </a:xfrm>
        </p:spPr>
        <p:txBody>
          <a:bodyPr/>
          <a:lstStyle/>
          <a:p>
            <a:pPr marL="0" lvl="1" indent="0"/>
            <a:r>
              <a:rPr lang="en-US" sz="2400" i="1" dirty="0">
                <a:latin typeface="+mn-lt"/>
              </a:rPr>
              <a:t> </a:t>
            </a:r>
            <a:r>
              <a:rPr lang="en-US" sz="100" i="1" dirty="0">
                <a:latin typeface="+mn-lt"/>
              </a:rPr>
              <a:t> </a:t>
            </a:r>
          </a:p>
        </p:txBody>
      </p:sp>
      <p:graphicFrame>
        <p:nvGraphicFramePr>
          <p:cNvPr id="5" name="Object 4" descr="L sub C">
            <a:extLst>
              <a:ext uri="{FF2B5EF4-FFF2-40B4-BE49-F238E27FC236}">
                <a16:creationId xmlns:a16="http://schemas.microsoft.com/office/drawing/2014/main" id="{4574F869-B80F-4FF9-9D82-43B97D4A5500}"/>
              </a:ext>
            </a:extLst>
          </p:cNvPr>
          <p:cNvGraphicFramePr>
            <a:graphicFrameLocks noChangeAspect="1"/>
          </p:cNvGraphicFramePr>
          <p:nvPr>
            <p:extLst>
              <p:ext uri="{D42A27DB-BD31-4B8C-83A1-F6EECF244321}">
                <p14:modId xmlns:p14="http://schemas.microsoft.com/office/powerpoint/2010/main" val="850466454"/>
              </p:ext>
            </p:extLst>
          </p:nvPr>
        </p:nvGraphicFramePr>
        <p:xfrm>
          <a:off x="1365251" y="5013071"/>
          <a:ext cx="408354" cy="490025"/>
        </p:xfrm>
        <a:graphic>
          <a:graphicData uri="http://schemas.openxmlformats.org/presentationml/2006/ole">
            <mc:AlternateContent xmlns:mc="http://schemas.openxmlformats.org/markup-compatibility/2006">
              <mc:Choice xmlns:v="urn:schemas-microsoft-com:vml" Requires="v">
                <p:oleObj name="Equation" r:id="rId7" imgW="190440" imgH="228600" progId="Equation.DSMT4">
                  <p:embed/>
                </p:oleObj>
              </mc:Choice>
              <mc:Fallback>
                <p:oleObj name="Equation" r:id="rId7" imgW="190440" imgH="228600" progId="Equation.DSMT4">
                  <p:embed/>
                  <p:pic>
                    <p:nvPicPr>
                      <p:cNvPr id="0" name=""/>
                      <p:cNvPicPr/>
                      <p:nvPr/>
                    </p:nvPicPr>
                    <p:blipFill>
                      <a:blip r:embed="rId8"/>
                      <a:stretch>
                        <a:fillRect/>
                      </a:stretch>
                    </p:blipFill>
                    <p:spPr>
                      <a:xfrm>
                        <a:off x="1365251" y="5013071"/>
                        <a:ext cx="408354" cy="490025"/>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8BF8213C-2AE4-405D-96A0-86507961B831}"/>
              </a:ext>
            </a:extLst>
          </p:cNvPr>
          <p:cNvSpPr>
            <a:spLocks noGrp="1"/>
          </p:cNvSpPr>
          <p:nvPr>
            <p:ph sz="quarter" idx="18"/>
          </p:nvPr>
        </p:nvSpPr>
        <p:spPr>
          <a:xfrm>
            <a:off x="1874145" y="4989445"/>
            <a:ext cx="5076000" cy="537279"/>
          </a:xfrm>
        </p:spPr>
        <p:txBody>
          <a:bodyPr/>
          <a:lstStyle/>
          <a:p>
            <a:pPr marL="0" lvl="1" indent="0">
              <a:buNone/>
            </a:pPr>
            <a:r>
              <a:rPr lang="en-US" altLang="en-US" sz="2400" dirty="0">
                <a:latin typeface="+mn-lt"/>
              </a:rPr>
              <a:t>is the labor force employed in cloth</a:t>
            </a:r>
            <a:endParaRPr lang="en-US" sz="2400" dirty="0">
              <a:latin typeface="+mn-lt"/>
            </a:endParaRPr>
          </a:p>
        </p:txBody>
      </p:sp>
    </p:spTree>
    <p:extLst>
      <p:ext uri="{BB962C8B-B14F-4D97-AF65-F5344CB8AC3E}">
        <p14:creationId xmlns:p14="http://schemas.microsoft.com/office/powerpoint/2010/main" val="2225823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The Specific Factors Model </a:t>
            </a:r>
            <a:r>
              <a:rPr lang="en-US" altLang="en-US" sz="2000" b="0" dirty="0"/>
              <a:t>(4 of 4)</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7"/>
            <a:ext cx="8294914" cy="884548"/>
          </a:xfrm>
        </p:spPr>
        <p:txBody>
          <a:bodyPr/>
          <a:lstStyle/>
          <a:p>
            <a:pPr>
              <a:spcBef>
                <a:spcPct val="40000"/>
              </a:spcBef>
            </a:pPr>
            <a:r>
              <a:rPr lang="en-US" altLang="en-US" sz="2400" dirty="0"/>
              <a:t>The production function for food gives the quantity of food that can be produced given any input of land and labor:</a:t>
            </a:r>
          </a:p>
        </p:txBody>
      </p:sp>
      <p:graphicFrame>
        <p:nvGraphicFramePr>
          <p:cNvPr id="8" name="Object 7" descr="Q sub F = Q sub F left parenthesis T, L sub F right parenthesis ">
            <a:extLst>
              <a:ext uri="{FF2B5EF4-FFF2-40B4-BE49-F238E27FC236}">
                <a16:creationId xmlns:a16="http://schemas.microsoft.com/office/drawing/2014/main" id="{054F7483-1C48-4CCB-8193-25181970D312}"/>
              </a:ext>
            </a:extLst>
          </p:cNvPr>
          <p:cNvGraphicFramePr>
            <a:graphicFrameLocks noChangeAspect="1"/>
          </p:cNvGraphicFramePr>
          <p:nvPr>
            <p:extLst>
              <p:ext uri="{D42A27DB-BD31-4B8C-83A1-F6EECF244321}">
                <p14:modId xmlns:p14="http://schemas.microsoft.com/office/powerpoint/2010/main" val="3673964527"/>
              </p:ext>
            </p:extLst>
          </p:nvPr>
        </p:nvGraphicFramePr>
        <p:xfrm>
          <a:off x="3606800" y="2648817"/>
          <a:ext cx="1930400" cy="494974"/>
        </p:xfrm>
        <a:graphic>
          <a:graphicData uri="http://schemas.openxmlformats.org/presentationml/2006/ole">
            <mc:AlternateContent xmlns:mc="http://schemas.openxmlformats.org/markup-compatibility/2006">
              <mc:Choice xmlns:v="urn:schemas-microsoft-com:vml" Requires="v">
                <p:oleObj name="Equation" r:id="rId2" imgW="990360" imgH="253800" progId="Equation.DSMT4">
                  <p:embed/>
                </p:oleObj>
              </mc:Choice>
              <mc:Fallback>
                <p:oleObj name="Equation" r:id="rId2" imgW="990360" imgH="253800" progId="Equation.DSMT4">
                  <p:embed/>
                  <p:pic>
                    <p:nvPicPr>
                      <p:cNvPr id="0" name=""/>
                      <p:cNvPicPr/>
                      <p:nvPr/>
                    </p:nvPicPr>
                    <p:blipFill>
                      <a:blip r:embed="rId3"/>
                      <a:stretch>
                        <a:fillRect/>
                      </a:stretch>
                    </p:blipFill>
                    <p:spPr>
                      <a:xfrm>
                        <a:off x="3606800" y="2648817"/>
                        <a:ext cx="1930400" cy="494974"/>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6FD0C745-1267-44A6-8E0F-0BFFA36226D0}"/>
              </a:ext>
            </a:extLst>
          </p:cNvPr>
          <p:cNvSpPr>
            <a:spLocks noGrp="1"/>
          </p:cNvSpPr>
          <p:nvPr>
            <p:ph sz="quarter" idx="14"/>
          </p:nvPr>
        </p:nvSpPr>
        <p:spPr>
          <a:xfrm>
            <a:off x="920750" y="3301562"/>
            <a:ext cx="406400" cy="491551"/>
          </a:xfrm>
        </p:spPr>
        <p:txBody>
          <a:bodyPr/>
          <a:lstStyle/>
          <a:p>
            <a:pPr marL="0" lvl="1" indent="0"/>
            <a:r>
              <a:rPr lang="en-US" altLang="en-US" i="1" dirty="0"/>
              <a:t> </a:t>
            </a:r>
            <a:r>
              <a:rPr lang="en-US" altLang="en-US" sz="100" i="1" dirty="0"/>
              <a:t>  </a:t>
            </a:r>
            <a:endParaRPr lang="en-US" altLang="en-US" sz="100" dirty="0"/>
          </a:p>
        </p:txBody>
      </p:sp>
      <p:graphicFrame>
        <p:nvGraphicFramePr>
          <p:cNvPr id="9" name="Object 8" descr="Q sub F">
            <a:extLst>
              <a:ext uri="{FF2B5EF4-FFF2-40B4-BE49-F238E27FC236}">
                <a16:creationId xmlns:a16="http://schemas.microsoft.com/office/drawing/2014/main" id="{647AF9E9-4919-49D6-8DE3-5EAC8D9908F4}"/>
              </a:ext>
            </a:extLst>
          </p:cNvPr>
          <p:cNvGraphicFramePr>
            <a:graphicFrameLocks noChangeAspect="1"/>
          </p:cNvGraphicFramePr>
          <p:nvPr>
            <p:extLst>
              <p:ext uri="{D42A27DB-BD31-4B8C-83A1-F6EECF244321}">
                <p14:modId xmlns:p14="http://schemas.microsoft.com/office/powerpoint/2010/main" val="2228397126"/>
              </p:ext>
            </p:extLst>
          </p:nvPr>
        </p:nvGraphicFramePr>
        <p:xfrm>
          <a:off x="1390948" y="3371957"/>
          <a:ext cx="398597" cy="421156"/>
        </p:xfrm>
        <a:graphic>
          <a:graphicData uri="http://schemas.openxmlformats.org/presentationml/2006/ole">
            <mc:AlternateContent xmlns:mc="http://schemas.openxmlformats.org/markup-compatibility/2006">
              <mc:Choice xmlns:v="urn:schemas-microsoft-com:vml" Requires="v">
                <p:oleObj name="Equation" r:id="rId4" imgW="215640" imgH="228600" progId="Equation.DSMT4">
                  <p:embed/>
                </p:oleObj>
              </mc:Choice>
              <mc:Fallback>
                <p:oleObj name="Equation" r:id="rId4" imgW="215640" imgH="228600" progId="Equation.DSMT4">
                  <p:embed/>
                  <p:pic>
                    <p:nvPicPr>
                      <p:cNvPr id="9" name="Object 8">
                        <a:extLst>
                          <a:ext uri="{FF2B5EF4-FFF2-40B4-BE49-F238E27FC236}">
                            <a16:creationId xmlns:a16="http://schemas.microsoft.com/office/drawing/2014/main" id="{647AF9E9-4919-49D6-8DE3-5EAC8D9908F4}"/>
                          </a:ext>
                        </a:extLst>
                      </p:cNvPr>
                      <p:cNvPicPr/>
                      <p:nvPr/>
                    </p:nvPicPr>
                    <p:blipFill>
                      <a:blip r:embed="rId5"/>
                      <a:stretch>
                        <a:fillRect/>
                      </a:stretch>
                    </p:blipFill>
                    <p:spPr>
                      <a:xfrm>
                        <a:off x="1390948" y="3371957"/>
                        <a:ext cx="398597" cy="421156"/>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3F7838DE-6717-4930-9174-F2E7FF7AEA6D}"/>
              </a:ext>
            </a:extLst>
          </p:cNvPr>
          <p:cNvSpPr>
            <a:spLocks noGrp="1"/>
          </p:cNvSpPr>
          <p:nvPr>
            <p:ph sz="quarter" idx="15"/>
          </p:nvPr>
        </p:nvSpPr>
        <p:spPr>
          <a:xfrm>
            <a:off x="1877523" y="3309974"/>
            <a:ext cx="3110459" cy="513340"/>
          </a:xfrm>
        </p:spPr>
        <p:txBody>
          <a:bodyPr/>
          <a:lstStyle/>
          <a:p>
            <a:pPr marL="486918" lvl="1" indent="-886968">
              <a:buNone/>
            </a:pPr>
            <a:r>
              <a:rPr lang="en-US" altLang="en-US" sz="2400" dirty="0">
                <a:latin typeface="+mn-lt"/>
              </a:rPr>
              <a:t>is the output of food</a:t>
            </a:r>
          </a:p>
        </p:txBody>
      </p:sp>
      <p:sp>
        <p:nvSpPr>
          <p:cNvPr id="10" name="Content Placeholder 9">
            <a:extLst>
              <a:ext uri="{FF2B5EF4-FFF2-40B4-BE49-F238E27FC236}">
                <a16:creationId xmlns:a16="http://schemas.microsoft.com/office/drawing/2014/main" id="{006B15A1-3118-46D2-9270-BC6558367AAC}"/>
              </a:ext>
            </a:extLst>
          </p:cNvPr>
          <p:cNvSpPr>
            <a:spLocks noGrp="1"/>
          </p:cNvSpPr>
          <p:nvPr>
            <p:ph sz="quarter" idx="16"/>
          </p:nvPr>
        </p:nvSpPr>
        <p:spPr>
          <a:xfrm>
            <a:off x="457200" y="3951481"/>
            <a:ext cx="4114800" cy="513340"/>
          </a:xfrm>
        </p:spPr>
        <p:txBody>
          <a:bodyPr/>
          <a:lstStyle/>
          <a:p>
            <a:pPr lvl="1" indent="-280800">
              <a:spcBef>
                <a:spcPct val="40000"/>
              </a:spcBef>
            </a:pPr>
            <a:r>
              <a:rPr lang="en-US" altLang="en-US" sz="2400" i="1" dirty="0">
                <a:latin typeface="+mn-lt"/>
              </a:rPr>
              <a:t>T</a:t>
            </a:r>
            <a:r>
              <a:rPr lang="en-US" altLang="en-US" sz="2400" dirty="0">
                <a:latin typeface="+mn-lt"/>
              </a:rPr>
              <a:t> is the supply of land</a:t>
            </a:r>
          </a:p>
        </p:txBody>
      </p:sp>
      <p:sp>
        <p:nvSpPr>
          <p:cNvPr id="11" name="Content Placeholder 10">
            <a:extLst>
              <a:ext uri="{FF2B5EF4-FFF2-40B4-BE49-F238E27FC236}">
                <a16:creationId xmlns:a16="http://schemas.microsoft.com/office/drawing/2014/main" id="{3A0DB96B-6698-4259-92A0-A61447406BAB}"/>
              </a:ext>
            </a:extLst>
          </p:cNvPr>
          <p:cNvSpPr>
            <a:spLocks noGrp="1"/>
          </p:cNvSpPr>
          <p:nvPr>
            <p:ph sz="quarter" idx="17"/>
          </p:nvPr>
        </p:nvSpPr>
        <p:spPr>
          <a:xfrm>
            <a:off x="920749" y="4653167"/>
            <a:ext cx="392815" cy="507300"/>
          </a:xfrm>
        </p:spPr>
        <p:txBody>
          <a:bodyPr/>
          <a:lstStyle/>
          <a:p>
            <a:pPr marL="0" lvl="1" indent="0">
              <a:spcBef>
                <a:spcPts val="0"/>
              </a:spcBef>
            </a:pPr>
            <a:r>
              <a:rPr lang="en-US" sz="2400" i="1" dirty="0">
                <a:latin typeface="+mn-lt"/>
              </a:rPr>
              <a:t> </a:t>
            </a:r>
            <a:r>
              <a:rPr lang="en-US" sz="100" i="1" dirty="0">
                <a:latin typeface="+mn-lt"/>
              </a:rPr>
              <a:t> </a:t>
            </a:r>
          </a:p>
        </p:txBody>
      </p:sp>
      <p:graphicFrame>
        <p:nvGraphicFramePr>
          <p:cNvPr id="5" name="Object 4" descr="L sub F">
            <a:extLst>
              <a:ext uri="{FF2B5EF4-FFF2-40B4-BE49-F238E27FC236}">
                <a16:creationId xmlns:a16="http://schemas.microsoft.com/office/drawing/2014/main" id="{4574F869-B80F-4FF9-9D82-43B97D4A5500}"/>
              </a:ext>
            </a:extLst>
          </p:cNvPr>
          <p:cNvGraphicFramePr>
            <a:graphicFrameLocks noChangeAspect="1"/>
          </p:cNvGraphicFramePr>
          <p:nvPr>
            <p:extLst>
              <p:ext uri="{D42A27DB-BD31-4B8C-83A1-F6EECF244321}">
                <p14:modId xmlns:p14="http://schemas.microsoft.com/office/powerpoint/2010/main" val="4039041814"/>
              </p:ext>
            </p:extLst>
          </p:nvPr>
        </p:nvGraphicFramePr>
        <p:xfrm>
          <a:off x="1390948" y="4661804"/>
          <a:ext cx="408354" cy="490025"/>
        </p:xfrm>
        <a:graphic>
          <a:graphicData uri="http://schemas.openxmlformats.org/presentationml/2006/ole">
            <mc:AlternateContent xmlns:mc="http://schemas.openxmlformats.org/markup-compatibility/2006">
              <mc:Choice xmlns:v="urn:schemas-microsoft-com:vml" Requires="v">
                <p:oleObj name="Equation" r:id="rId6" imgW="190440" imgH="228600" progId="Equation.DSMT4">
                  <p:embed/>
                </p:oleObj>
              </mc:Choice>
              <mc:Fallback>
                <p:oleObj name="Equation" r:id="rId6" imgW="190440" imgH="228600" progId="Equation.DSMT4">
                  <p:embed/>
                  <p:pic>
                    <p:nvPicPr>
                      <p:cNvPr id="5" name="Object 4">
                        <a:extLst>
                          <a:ext uri="{FF2B5EF4-FFF2-40B4-BE49-F238E27FC236}">
                            <a16:creationId xmlns:a16="http://schemas.microsoft.com/office/drawing/2014/main" id="{4574F869-B80F-4FF9-9D82-43B97D4A5500}"/>
                          </a:ext>
                        </a:extLst>
                      </p:cNvPr>
                      <p:cNvPicPr/>
                      <p:nvPr/>
                    </p:nvPicPr>
                    <p:blipFill>
                      <a:blip r:embed="rId7"/>
                      <a:stretch>
                        <a:fillRect/>
                      </a:stretch>
                    </p:blipFill>
                    <p:spPr>
                      <a:xfrm>
                        <a:off x="1390948" y="4661804"/>
                        <a:ext cx="408354" cy="490025"/>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8BF8213C-2AE4-405D-96A0-86507961B831}"/>
              </a:ext>
            </a:extLst>
          </p:cNvPr>
          <p:cNvSpPr>
            <a:spLocks noGrp="1"/>
          </p:cNvSpPr>
          <p:nvPr>
            <p:ph sz="quarter" idx="18"/>
          </p:nvPr>
        </p:nvSpPr>
        <p:spPr>
          <a:xfrm>
            <a:off x="1883035" y="4623188"/>
            <a:ext cx="5076000" cy="537279"/>
          </a:xfrm>
        </p:spPr>
        <p:txBody>
          <a:bodyPr/>
          <a:lstStyle/>
          <a:p>
            <a:pPr marL="486918" lvl="1" indent="-486918">
              <a:buNone/>
            </a:pPr>
            <a:r>
              <a:rPr lang="en-US" altLang="en-US" sz="2400" dirty="0">
                <a:latin typeface="+mn-lt"/>
              </a:rPr>
              <a:t>is the labor force employed in food</a:t>
            </a:r>
            <a:endParaRPr lang="en-US" sz="2400" dirty="0">
              <a:latin typeface="+mn-lt"/>
            </a:endParaRPr>
          </a:p>
        </p:txBody>
      </p:sp>
    </p:spTree>
    <p:extLst>
      <p:ext uri="{BB962C8B-B14F-4D97-AF65-F5344CB8AC3E}">
        <p14:creationId xmlns:p14="http://schemas.microsoft.com/office/powerpoint/2010/main" val="3251563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Production Possibilities </a:t>
            </a:r>
            <a:r>
              <a:rPr lang="en-US" altLang="en-US" sz="2000" b="0" dirty="0"/>
              <a:t>(1 of 6)</a:t>
            </a:r>
            <a:endParaRPr lang="en-US"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p:txBody>
          <a:bodyPr/>
          <a:lstStyle/>
          <a:p>
            <a:r>
              <a:rPr lang="en-US" altLang="en-US" sz="2400" dirty="0"/>
              <a:t>How does the economy</a:t>
            </a:r>
            <a:r>
              <a:rPr lang="en-US" altLang="ja-JP" sz="2400" dirty="0"/>
              <a:t>’s mix of output change as labor is shifted from one sector to the other?</a:t>
            </a:r>
          </a:p>
          <a:p>
            <a:r>
              <a:rPr lang="en-US" altLang="en-US" sz="2400" dirty="0"/>
              <a:t>When labor moves from food to cloth, food production falls while output of cloth rises.</a:t>
            </a:r>
          </a:p>
          <a:p>
            <a:r>
              <a:rPr lang="en-US" altLang="en-US" sz="2400" dirty="0"/>
              <a:t>Figure 4.1 illustrates the production function for cloth.</a:t>
            </a:r>
            <a:endParaRPr lang="en-US" sz="2400" dirty="0"/>
          </a:p>
        </p:txBody>
      </p:sp>
    </p:spTree>
    <p:extLst>
      <p:ext uri="{BB962C8B-B14F-4D97-AF65-F5344CB8AC3E}">
        <p14:creationId xmlns:p14="http://schemas.microsoft.com/office/powerpoint/2010/main" val="431757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8229600" cy="1113232"/>
          </a:xfrm>
        </p:spPr>
        <p:txBody>
          <a:bodyPr/>
          <a:lstStyle/>
          <a:p>
            <a:r>
              <a:rPr lang="en-US" altLang="en-US" sz="3200" dirty="0"/>
              <a:t>Figure 4.1 The Production Function for Cloth</a:t>
            </a:r>
            <a:endParaRPr lang="en-IN" sz="3200" dirty="0"/>
          </a:p>
        </p:txBody>
      </p:sp>
      <p:pic>
        <p:nvPicPr>
          <p:cNvPr id="5" name="Content Placeholder 4" descr="A graph plots output, Q sub C, versus labor, L sub C. The graph of Q sub C = Q sub C (K, L sub C), rises from the origin with decreasing steepness.">
            <a:extLst>
              <a:ext uri="{FF2B5EF4-FFF2-40B4-BE49-F238E27FC236}">
                <a16:creationId xmlns:a16="http://schemas.microsoft.com/office/drawing/2014/main" id="{C1320493-D862-4273-9E8F-6DAFF2D6340B}"/>
              </a:ext>
            </a:extLst>
          </p:cNvPr>
          <p:cNvPicPr>
            <a:picLocks noGrp="1" noChangeAspect="1"/>
          </p:cNvPicPr>
          <p:nvPr>
            <p:ph sz="quarter" idx="13"/>
          </p:nvPr>
        </p:nvPicPr>
        <p:blipFill>
          <a:blip r:embed="rId2"/>
          <a:stretch>
            <a:fillRect/>
          </a:stretch>
        </p:blipFill>
        <p:spPr>
          <a:xfrm>
            <a:off x="3076306" y="1700765"/>
            <a:ext cx="2991388" cy="2788388"/>
          </a:xfrm>
        </p:spPr>
      </p:pic>
      <p:sp>
        <p:nvSpPr>
          <p:cNvPr id="3" name="Content Placeholder 2">
            <a:extLst>
              <a:ext uri="{FF2B5EF4-FFF2-40B4-BE49-F238E27FC236}">
                <a16:creationId xmlns:a16="http://schemas.microsoft.com/office/drawing/2014/main" id="{6E52533B-D8DF-4127-93D5-4B94003C4611}"/>
              </a:ext>
            </a:extLst>
          </p:cNvPr>
          <p:cNvSpPr>
            <a:spLocks noGrp="1"/>
          </p:cNvSpPr>
          <p:nvPr>
            <p:ph sz="quarter" idx="14"/>
          </p:nvPr>
        </p:nvSpPr>
        <p:spPr>
          <a:xfrm>
            <a:off x="457200" y="4590450"/>
            <a:ext cx="8229600" cy="1671458"/>
          </a:xfrm>
        </p:spPr>
        <p:txBody>
          <a:bodyPr/>
          <a:lstStyle/>
          <a:p>
            <a:pPr marL="432" indent="0">
              <a:buNone/>
            </a:pPr>
            <a:r>
              <a:rPr lang="en-US" sz="2000" dirty="0"/>
              <a:t>The more labor employed in the production of cloth, the larger the output. As a result of diminishing returns, however, each successive person-hour increases output by less than the previous one; this is shown by the fact that the curve relating labor input to output gets flatter at higher levels of employment.</a:t>
            </a:r>
          </a:p>
        </p:txBody>
      </p:sp>
    </p:spTree>
    <p:extLst>
      <p:ext uri="{BB962C8B-B14F-4D97-AF65-F5344CB8AC3E}">
        <p14:creationId xmlns:p14="http://schemas.microsoft.com/office/powerpoint/2010/main" val="2820753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Production Possibilities </a:t>
            </a:r>
            <a:r>
              <a:rPr lang="en-US" altLang="en-US" sz="2000" b="0" dirty="0"/>
              <a:t>(2 of 6)</a:t>
            </a:r>
            <a:endParaRPr lang="en-IN" dirty="0"/>
          </a:p>
        </p:txBody>
      </p:sp>
      <p:sp>
        <p:nvSpPr>
          <p:cNvPr id="2" name="Content Placeholder 1">
            <a:extLst>
              <a:ext uri="{FF2B5EF4-FFF2-40B4-BE49-F238E27FC236}">
                <a16:creationId xmlns:a16="http://schemas.microsoft.com/office/drawing/2014/main" id="{63459D08-06AF-42C8-A223-7D419B1884ED}"/>
              </a:ext>
            </a:extLst>
          </p:cNvPr>
          <p:cNvSpPr>
            <a:spLocks noGrp="1"/>
          </p:cNvSpPr>
          <p:nvPr>
            <p:ph sz="quarter" idx="13"/>
          </p:nvPr>
        </p:nvSpPr>
        <p:spPr>
          <a:xfrm>
            <a:off x="457200" y="1556326"/>
            <a:ext cx="8229600" cy="4484709"/>
          </a:xfrm>
        </p:spPr>
        <p:txBody>
          <a:bodyPr/>
          <a:lstStyle/>
          <a:p>
            <a:r>
              <a:rPr lang="en-US" altLang="en-US" sz="2400" dirty="0"/>
              <a:t>The shape of the production function reflects the law of </a:t>
            </a:r>
            <a:r>
              <a:rPr lang="en-US" altLang="en-US" sz="2400" b="1" dirty="0"/>
              <a:t>diminishing marginal returns</a:t>
            </a:r>
            <a:r>
              <a:rPr lang="en-US" altLang="en-US" sz="2400" dirty="0"/>
              <a:t>.</a:t>
            </a:r>
          </a:p>
          <a:p>
            <a:pPr lvl="1">
              <a:buFontTx/>
              <a:buChar char="–"/>
            </a:pPr>
            <a:r>
              <a:rPr lang="en-US" altLang="en-US" sz="2400" dirty="0"/>
              <a:t>Adding one worker to the production process (without increasing the amount of capital) means that each worker has less capital to work with.</a:t>
            </a:r>
          </a:p>
          <a:p>
            <a:pPr lvl="1">
              <a:buFontTx/>
              <a:buChar char="–"/>
            </a:pPr>
            <a:r>
              <a:rPr lang="en-US" altLang="en-US" sz="2400" dirty="0"/>
              <a:t>Therefore, each additional unit of labor adds less output than the last.</a:t>
            </a:r>
          </a:p>
          <a:p>
            <a:r>
              <a:rPr lang="en-US" altLang="en-US" sz="2400" dirty="0"/>
              <a:t>Figure 4.2 shows the </a:t>
            </a:r>
            <a:r>
              <a:rPr lang="en-US" altLang="en-US" sz="2400" b="1" dirty="0"/>
              <a:t>marginal product of labor,</a:t>
            </a:r>
            <a:r>
              <a:rPr lang="en-US" altLang="en-US" sz="2400" dirty="0"/>
              <a:t> which is the increase in output that corresponds to an extra unit of labor.</a:t>
            </a:r>
            <a:endParaRPr lang="en-US" dirty="0"/>
          </a:p>
        </p:txBody>
      </p:sp>
    </p:spTree>
    <p:extLst>
      <p:ext uri="{BB962C8B-B14F-4D97-AF65-F5344CB8AC3E}">
        <p14:creationId xmlns:p14="http://schemas.microsoft.com/office/powerpoint/2010/main" val="289842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8229600" cy="1113232"/>
          </a:xfrm>
        </p:spPr>
        <p:txBody>
          <a:bodyPr/>
          <a:lstStyle/>
          <a:p>
            <a:r>
              <a:rPr lang="en-US" altLang="en-US" sz="3200" dirty="0"/>
              <a:t>Figure 4.2 The Marginal Product of Labor</a:t>
            </a:r>
            <a:endParaRPr lang="en-IN" sz="3200" dirty="0"/>
          </a:p>
        </p:txBody>
      </p:sp>
      <p:pic>
        <p:nvPicPr>
          <p:cNvPr id="8" name="Content Placeholder 7" descr="A graph plots marginal product of labor, M P L sub C, versus labor input, L sub C. The graph falls with decreasing steepness from an unknown y value.">
            <a:extLst>
              <a:ext uri="{FF2B5EF4-FFF2-40B4-BE49-F238E27FC236}">
                <a16:creationId xmlns:a16="http://schemas.microsoft.com/office/drawing/2014/main" id="{CBF32055-DBF3-41FE-A35B-7C26D06FA329}"/>
              </a:ext>
            </a:extLst>
          </p:cNvPr>
          <p:cNvPicPr>
            <a:picLocks noGrp="1" noChangeAspect="1"/>
          </p:cNvPicPr>
          <p:nvPr>
            <p:ph sz="quarter" idx="13"/>
          </p:nvPr>
        </p:nvPicPr>
        <p:blipFill>
          <a:blip r:embed="rId2"/>
          <a:stretch>
            <a:fillRect/>
          </a:stretch>
        </p:blipFill>
        <p:spPr>
          <a:xfrm>
            <a:off x="2908119" y="1708867"/>
            <a:ext cx="3327760" cy="3340543"/>
          </a:xfrm>
        </p:spPr>
      </p:pic>
      <p:sp>
        <p:nvSpPr>
          <p:cNvPr id="3" name="Content Placeholder 2">
            <a:extLst>
              <a:ext uri="{FF2B5EF4-FFF2-40B4-BE49-F238E27FC236}">
                <a16:creationId xmlns:a16="http://schemas.microsoft.com/office/drawing/2014/main" id="{6E52533B-D8DF-4127-93D5-4B94003C4611}"/>
              </a:ext>
            </a:extLst>
          </p:cNvPr>
          <p:cNvSpPr>
            <a:spLocks noGrp="1"/>
          </p:cNvSpPr>
          <p:nvPr>
            <p:ph sz="quarter" idx="14"/>
          </p:nvPr>
        </p:nvSpPr>
        <p:spPr>
          <a:xfrm>
            <a:off x="457200" y="5192236"/>
            <a:ext cx="8229600" cy="1113233"/>
          </a:xfrm>
        </p:spPr>
        <p:txBody>
          <a:bodyPr/>
          <a:lstStyle/>
          <a:p>
            <a:pPr marL="0" indent="0">
              <a:buNone/>
            </a:pPr>
            <a:r>
              <a:rPr lang="en-US" sz="2000" dirty="0"/>
              <a:t>The marginal product of labor in the cloth sector, equal to the slope of the production function shown in Figure 4.1, is lower the more labor the sector employs.</a:t>
            </a:r>
            <a:endParaRPr lang="en-IN" sz="2000" dirty="0"/>
          </a:p>
        </p:txBody>
      </p:sp>
    </p:spTree>
    <p:extLst>
      <p:ext uri="{BB962C8B-B14F-4D97-AF65-F5344CB8AC3E}">
        <p14:creationId xmlns:p14="http://schemas.microsoft.com/office/powerpoint/2010/main" val="1691290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8229600" cy="1113232"/>
          </a:xfrm>
        </p:spPr>
        <p:txBody>
          <a:bodyPr/>
          <a:lstStyle/>
          <a:p>
            <a:r>
              <a:rPr lang="en-US" altLang="en-US" dirty="0"/>
              <a:t>Production Possibilities </a:t>
            </a:r>
            <a:r>
              <a:rPr lang="en-US" altLang="en-US" sz="2000" b="0" dirty="0"/>
              <a:t>(3 of 6)</a:t>
            </a:r>
            <a:endParaRPr lang="en-IN" sz="2000" dirty="0"/>
          </a:p>
        </p:txBody>
      </p:sp>
      <p:sp>
        <p:nvSpPr>
          <p:cNvPr id="4" name="Content Placeholder 3">
            <a:extLst>
              <a:ext uri="{FF2B5EF4-FFF2-40B4-BE49-F238E27FC236}">
                <a16:creationId xmlns:a16="http://schemas.microsoft.com/office/drawing/2014/main" id="{CAF08868-5EA6-45EB-8053-F6A0B6E63CDD}"/>
              </a:ext>
            </a:extLst>
          </p:cNvPr>
          <p:cNvSpPr>
            <a:spLocks noGrp="1"/>
          </p:cNvSpPr>
          <p:nvPr>
            <p:ph sz="quarter" idx="13"/>
          </p:nvPr>
        </p:nvSpPr>
        <p:spPr>
          <a:xfrm>
            <a:off x="457200" y="1556327"/>
            <a:ext cx="8229600" cy="887070"/>
          </a:xfrm>
        </p:spPr>
        <p:txBody>
          <a:bodyPr/>
          <a:lstStyle/>
          <a:p>
            <a:r>
              <a:rPr lang="en-US" altLang="en-US" sz="2400" dirty="0"/>
              <a:t>For the economy as a whole, the total labor employed in cloth and food must equal the total labor supply:</a:t>
            </a:r>
          </a:p>
        </p:txBody>
      </p:sp>
      <p:graphicFrame>
        <p:nvGraphicFramePr>
          <p:cNvPr id="5" name="Object 4" descr="L sub C + L sub F = L ">
            <a:extLst>
              <a:ext uri="{FF2B5EF4-FFF2-40B4-BE49-F238E27FC236}">
                <a16:creationId xmlns:a16="http://schemas.microsoft.com/office/drawing/2014/main" id="{5220BD1C-736E-49B4-ACAE-626FDC1ABFB3}"/>
              </a:ext>
            </a:extLst>
          </p:cNvPr>
          <p:cNvGraphicFramePr>
            <a:graphicFrameLocks noChangeAspect="1"/>
          </p:cNvGraphicFramePr>
          <p:nvPr>
            <p:extLst>
              <p:ext uri="{D42A27DB-BD31-4B8C-83A1-F6EECF244321}">
                <p14:modId xmlns:p14="http://schemas.microsoft.com/office/powerpoint/2010/main" val="365209642"/>
              </p:ext>
            </p:extLst>
          </p:nvPr>
        </p:nvGraphicFramePr>
        <p:xfrm>
          <a:off x="3704431" y="2656957"/>
          <a:ext cx="1735137" cy="539750"/>
        </p:xfrm>
        <a:graphic>
          <a:graphicData uri="http://schemas.openxmlformats.org/presentationml/2006/ole">
            <mc:AlternateContent xmlns:mc="http://schemas.openxmlformats.org/markup-compatibility/2006">
              <mc:Choice xmlns:v="urn:schemas-microsoft-com:vml" Requires="v">
                <p:oleObj name="Equation" r:id="rId2" imgW="1735836" imgH="539693" progId="Equation.DSMT4">
                  <p:embed/>
                </p:oleObj>
              </mc:Choice>
              <mc:Fallback>
                <p:oleObj name="Equation" r:id="rId2" imgW="1735836" imgH="539693" progId="Equation.DSMT4">
                  <p:embed/>
                  <p:pic>
                    <p:nvPicPr>
                      <p:cNvPr id="0" name=""/>
                      <p:cNvPicPr/>
                      <p:nvPr/>
                    </p:nvPicPr>
                    <p:blipFill>
                      <a:blip r:embed="rId3"/>
                      <a:stretch>
                        <a:fillRect/>
                      </a:stretch>
                    </p:blipFill>
                    <p:spPr>
                      <a:xfrm>
                        <a:off x="3704431" y="2656957"/>
                        <a:ext cx="1735137" cy="539750"/>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6E52533B-D8DF-4127-93D5-4B94003C4611}"/>
              </a:ext>
            </a:extLst>
          </p:cNvPr>
          <p:cNvSpPr>
            <a:spLocks noGrp="1"/>
          </p:cNvSpPr>
          <p:nvPr>
            <p:ph sz="quarter" idx="14"/>
          </p:nvPr>
        </p:nvSpPr>
        <p:spPr>
          <a:xfrm>
            <a:off x="457200" y="3338885"/>
            <a:ext cx="8229600" cy="887070"/>
          </a:xfrm>
        </p:spPr>
        <p:txBody>
          <a:bodyPr/>
          <a:lstStyle/>
          <a:p>
            <a:r>
              <a:rPr lang="en-US" altLang="en-US" dirty="0"/>
              <a:t>Use these equations to derive the </a:t>
            </a:r>
            <a:r>
              <a:rPr lang="en-US" altLang="en-US" b="1" dirty="0"/>
              <a:t>production possibilities frontier</a:t>
            </a:r>
            <a:r>
              <a:rPr lang="en-US" altLang="en-US" dirty="0"/>
              <a:t> of the economy.</a:t>
            </a:r>
            <a:endParaRPr lang="en-IN" dirty="0"/>
          </a:p>
        </p:txBody>
      </p:sp>
    </p:spTree>
    <p:extLst>
      <p:ext uri="{BB962C8B-B14F-4D97-AF65-F5344CB8AC3E}">
        <p14:creationId xmlns:p14="http://schemas.microsoft.com/office/powerpoint/2010/main" val="292350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Production Possibilities </a:t>
            </a:r>
            <a:r>
              <a:rPr lang="en-US" altLang="en-US" sz="2000" b="0" dirty="0"/>
              <a:t>(4 of 6)</a:t>
            </a:r>
            <a:endParaRPr lang="en-IN" dirty="0"/>
          </a:p>
        </p:txBody>
      </p:sp>
      <p:sp>
        <p:nvSpPr>
          <p:cNvPr id="2" name="Content Placeholder 1">
            <a:extLst>
              <a:ext uri="{FF2B5EF4-FFF2-40B4-BE49-F238E27FC236}">
                <a16:creationId xmlns:a16="http://schemas.microsoft.com/office/drawing/2014/main" id="{63459D08-06AF-42C8-A223-7D419B1884ED}"/>
              </a:ext>
            </a:extLst>
          </p:cNvPr>
          <p:cNvSpPr>
            <a:spLocks noGrp="1"/>
          </p:cNvSpPr>
          <p:nvPr>
            <p:ph sz="quarter" idx="13"/>
          </p:nvPr>
        </p:nvSpPr>
        <p:spPr>
          <a:xfrm>
            <a:off x="457200" y="1556326"/>
            <a:ext cx="8229600" cy="3867729"/>
          </a:xfrm>
        </p:spPr>
        <p:txBody>
          <a:bodyPr/>
          <a:lstStyle/>
          <a:p>
            <a:r>
              <a:rPr lang="en-US" altLang="en-US" sz="2400" dirty="0"/>
              <a:t>Use a four-quadrant diagram to construct production possibilities frontier in Figure 4.3.</a:t>
            </a:r>
          </a:p>
          <a:p>
            <a:pPr lvl="1"/>
            <a:r>
              <a:rPr lang="en-US" altLang="en-US" sz="2400" dirty="0"/>
              <a:t>Lower left quadrant indicates the allocation of labor.</a:t>
            </a:r>
          </a:p>
          <a:p>
            <a:pPr lvl="1"/>
            <a:r>
              <a:rPr lang="en-US" altLang="en-US" sz="2400" dirty="0"/>
              <a:t>Lower right quadrant shows the production function for cloth from Figure 4.1.</a:t>
            </a:r>
          </a:p>
          <a:p>
            <a:pPr lvl="1"/>
            <a:r>
              <a:rPr lang="en-US" altLang="en-US" sz="2400" dirty="0"/>
              <a:t>Upper left quadrant shows the corresponding production function for food.</a:t>
            </a:r>
          </a:p>
          <a:p>
            <a:pPr lvl="1"/>
            <a:r>
              <a:rPr lang="en-US" altLang="en-US" sz="2400" dirty="0"/>
              <a:t>Upper right quadrant indicates the combinations of cloth and food that can be produced.</a:t>
            </a:r>
            <a:endParaRPr lang="en-IN" sz="2400" dirty="0"/>
          </a:p>
        </p:txBody>
      </p:sp>
    </p:spTree>
    <p:extLst>
      <p:ext uri="{BB962C8B-B14F-4D97-AF65-F5344CB8AC3E}">
        <p14:creationId xmlns:p14="http://schemas.microsoft.com/office/powerpoint/2010/main" val="2956332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4.3 The Production Possibility Frontier in the Specific Factors Model</a:t>
            </a:r>
            <a:endParaRPr lang="en-IN" sz="3200" dirty="0"/>
          </a:p>
        </p:txBody>
      </p:sp>
      <p:pic>
        <p:nvPicPr>
          <p:cNvPr id="11" name="Content Placeholder 10" descr="The graph is divided in 4 quadrants. For long description in Notes pane, press F6.">
            <a:extLst>
              <a:ext uri="{FF2B5EF4-FFF2-40B4-BE49-F238E27FC236}">
                <a16:creationId xmlns:a16="http://schemas.microsoft.com/office/drawing/2014/main" id="{4C13E26B-C8CB-4D25-9635-63F07FB5DBDF}"/>
              </a:ext>
            </a:extLst>
          </p:cNvPr>
          <p:cNvPicPr>
            <a:picLocks noGrp="1" noChangeAspect="1"/>
          </p:cNvPicPr>
          <p:nvPr>
            <p:ph sz="quarter" idx="13"/>
          </p:nvPr>
        </p:nvPicPr>
        <p:blipFill>
          <a:blip r:embed="rId3"/>
          <a:stretch>
            <a:fillRect/>
          </a:stretch>
        </p:blipFill>
        <p:spPr>
          <a:xfrm>
            <a:off x="2349642" y="1702789"/>
            <a:ext cx="4444714" cy="3398681"/>
          </a:xfrm>
        </p:spPr>
      </p:pic>
      <p:sp>
        <p:nvSpPr>
          <p:cNvPr id="3" name="Content Placeholder 2">
            <a:extLst>
              <a:ext uri="{FF2B5EF4-FFF2-40B4-BE49-F238E27FC236}">
                <a16:creationId xmlns:a16="http://schemas.microsoft.com/office/drawing/2014/main" id="{C34C52BF-D63F-4EB6-A7EE-10EF54C3AD50}"/>
              </a:ext>
            </a:extLst>
          </p:cNvPr>
          <p:cNvSpPr>
            <a:spLocks noGrp="1"/>
          </p:cNvSpPr>
          <p:nvPr>
            <p:ph sz="quarter" idx="14"/>
          </p:nvPr>
        </p:nvSpPr>
        <p:spPr>
          <a:xfrm>
            <a:off x="457200" y="5224730"/>
            <a:ext cx="8229601" cy="1120508"/>
          </a:xfrm>
        </p:spPr>
        <p:txBody>
          <a:bodyPr/>
          <a:lstStyle/>
          <a:p>
            <a:pPr marL="432" indent="0">
              <a:buNone/>
            </a:pPr>
            <a:r>
              <a:rPr lang="en-US" sz="2000" i="1" dirty="0"/>
              <a:t>P</a:t>
            </a:r>
            <a:r>
              <a:rPr lang="en-US" sz="100" i="1" dirty="0"/>
              <a:t> </a:t>
            </a:r>
            <a:r>
              <a:rPr lang="en-US" sz="2000" i="1" dirty="0"/>
              <a:t>P </a:t>
            </a:r>
            <a:r>
              <a:rPr lang="en-US" sz="2000" dirty="0"/>
              <a:t>in the upper-right quadrant shows the economy’s production possibilities for given supplies of land, labor, and capital. Due to diminishing returns, </a:t>
            </a:r>
            <a:r>
              <a:rPr lang="en-US" sz="2000" i="1" dirty="0"/>
              <a:t>P</a:t>
            </a:r>
            <a:r>
              <a:rPr lang="en-US" sz="100" i="1" dirty="0"/>
              <a:t> </a:t>
            </a:r>
            <a:r>
              <a:rPr lang="en-US" sz="2000" i="1" dirty="0"/>
              <a:t>P </a:t>
            </a:r>
            <a:r>
              <a:rPr lang="en-US" sz="2000" dirty="0"/>
              <a:t>is a bowed-out curve instead of a straight line.</a:t>
            </a:r>
          </a:p>
        </p:txBody>
      </p:sp>
    </p:spTree>
    <p:extLst>
      <p:ext uri="{BB962C8B-B14F-4D97-AF65-F5344CB8AC3E}">
        <p14:creationId xmlns:p14="http://schemas.microsoft.com/office/powerpoint/2010/main" val="519582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Production Possibilities </a:t>
            </a:r>
            <a:r>
              <a:rPr lang="en-US" altLang="en-US" sz="2000" b="0" dirty="0"/>
              <a:t>(5 of 6)</a:t>
            </a:r>
            <a:endParaRPr lang="en-IN" sz="2000" dirty="0"/>
          </a:p>
        </p:txBody>
      </p:sp>
      <p:sp>
        <p:nvSpPr>
          <p:cNvPr id="4" name="Content Placeholder 3">
            <a:extLst>
              <a:ext uri="{FF2B5EF4-FFF2-40B4-BE49-F238E27FC236}">
                <a16:creationId xmlns:a16="http://schemas.microsoft.com/office/drawing/2014/main" id="{07F15DEE-E860-4244-AF78-8DC127718275}"/>
              </a:ext>
            </a:extLst>
          </p:cNvPr>
          <p:cNvSpPr>
            <a:spLocks noGrp="1"/>
          </p:cNvSpPr>
          <p:nvPr>
            <p:ph sz="quarter" idx="13"/>
          </p:nvPr>
        </p:nvSpPr>
        <p:spPr>
          <a:xfrm>
            <a:off x="457200" y="1556327"/>
            <a:ext cx="8229600" cy="3498752"/>
          </a:xfrm>
        </p:spPr>
        <p:txBody>
          <a:bodyPr/>
          <a:lstStyle/>
          <a:p>
            <a:r>
              <a:rPr lang="en-US" altLang="en-US" sz="2400" dirty="0"/>
              <a:t>Why is the production possibilities frontier curved?</a:t>
            </a:r>
          </a:p>
          <a:p>
            <a:pPr lvl="1"/>
            <a:r>
              <a:rPr lang="en-US" altLang="en-US" sz="2400" dirty="0"/>
              <a:t>Diminishing returns to labor in each sector cause the opportunity cost to rise when an economy produces more of a good.</a:t>
            </a:r>
          </a:p>
          <a:p>
            <a:pPr lvl="1"/>
            <a:r>
              <a:rPr lang="en-US" altLang="en-US" sz="2400" dirty="0"/>
              <a:t>Opportunity cost of cloth in terms of food is the slope of the production possibilities frontier—the slope becomes steeper as an economy produces more cloth.</a:t>
            </a:r>
            <a:endParaRPr lang="en-IN" sz="2400" dirty="0"/>
          </a:p>
        </p:txBody>
      </p:sp>
    </p:spTree>
    <p:extLst>
      <p:ext uri="{BB962C8B-B14F-4D97-AF65-F5344CB8AC3E}">
        <p14:creationId xmlns:p14="http://schemas.microsoft.com/office/powerpoint/2010/main" val="610635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C183D7F6-B498-43B3-948B-1728B52AA6E4}">
                <adec:decorative xmlns:adec="http://schemas.microsoft.com/office/drawing/2017/decorative" val="1"/>
              </a:ext>
            </a:extLst>
          </p:cNvPr>
          <p:cNvSpPr>
            <a:spLocks noGrp="1"/>
          </p:cNvSpPr>
          <p:nvPr>
            <p:ph type="title"/>
          </p:nvPr>
        </p:nvSpPr>
        <p:spPr/>
        <p:txBody>
          <a:bodyPr/>
          <a:lstStyle/>
          <a:p>
            <a:r>
              <a:rPr lang="en-US" altLang="en-US" sz="3600" dirty="0"/>
              <a:t>Production Possibilities </a:t>
            </a:r>
            <a:r>
              <a:rPr lang="en-US" altLang="en-US" sz="2000" b="0" dirty="0"/>
              <a:t>(6 of 6)</a:t>
            </a:r>
            <a:endParaRPr lang="en-IN" sz="2000" dirty="0"/>
          </a:p>
        </p:txBody>
      </p:sp>
      <p:sp>
        <p:nvSpPr>
          <p:cNvPr id="34" name="Content Placeholder 33">
            <a:extLst>
              <a:ext uri="{FF2B5EF4-FFF2-40B4-BE49-F238E27FC236}">
                <a16:creationId xmlns:a16="http://schemas.microsoft.com/office/drawing/2014/main" id="{76404373-DFA3-4E46-8F8D-6BEBF189C378}"/>
              </a:ext>
              <a:ext uri="{C183D7F6-B498-43B3-948B-1728B52AA6E4}">
                <adec:decorative xmlns:adec="http://schemas.microsoft.com/office/drawing/2017/decorative" val="1"/>
              </a:ext>
            </a:extLst>
          </p:cNvPr>
          <p:cNvSpPr>
            <a:spLocks noGrp="1"/>
          </p:cNvSpPr>
          <p:nvPr>
            <p:ph sz="quarter" idx="13"/>
          </p:nvPr>
        </p:nvSpPr>
        <p:spPr>
          <a:xfrm>
            <a:off x="457201" y="1556328"/>
            <a:ext cx="6064370" cy="440308"/>
          </a:xfrm>
        </p:spPr>
        <p:txBody>
          <a:bodyPr/>
          <a:lstStyle/>
          <a:p>
            <a:r>
              <a:rPr lang="en-US" altLang="en-US" sz="1800" dirty="0"/>
              <a:t>Opportunity cost of producing one more yard of cloth is</a:t>
            </a:r>
            <a:endParaRPr lang="en-US" sz="1800" dirty="0"/>
          </a:p>
        </p:txBody>
      </p:sp>
      <p:graphicFrame>
        <p:nvGraphicFramePr>
          <p:cNvPr id="43" name="Object 42" descr="Start fraction M P L sub F over M P L sub C end fraction ">
            <a:extLst>
              <a:ext uri="{FF2B5EF4-FFF2-40B4-BE49-F238E27FC236}">
                <a16:creationId xmlns:a16="http://schemas.microsoft.com/office/drawing/2014/main" id="{B6B473EF-D406-4E6D-A1B7-1376F7A19B61}"/>
              </a:ext>
            </a:extLst>
          </p:cNvPr>
          <p:cNvGraphicFramePr>
            <a:graphicFrameLocks noChangeAspect="1"/>
          </p:cNvGraphicFramePr>
          <p:nvPr>
            <p:extLst>
              <p:ext uri="{D42A27DB-BD31-4B8C-83A1-F6EECF244321}">
                <p14:modId xmlns:p14="http://schemas.microsoft.com/office/powerpoint/2010/main" val="1660162567"/>
              </p:ext>
            </p:extLst>
          </p:nvPr>
        </p:nvGraphicFramePr>
        <p:xfrm>
          <a:off x="6589636" y="1526369"/>
          <a:ext cx="690465" cy="652558"/>
        </p:xfrm>
        <a:graphic>
          <a:graphicData uri="http://schemas.openxmlformats.org/presentationml/2006/ole">
            <mc:AlternateContent xmlns:mc="http://schemas.openxmlformats.org/markup-compatibility/2006">
              <mc:Choice xmlns:v="urn:schemas-microsoft-com:vml" Requires="v">
                <p:oleObj name="Equation" r:id="rId3" imgW="809265" imgH="765015" progId="Equation.DSMT4">
                  <p:embed/>
                </p:oleObj>
              </mc:Choice>
              <mc:Fallback>
                <p:oleObj name="Equation" r:id="rId3" imgW="809265" imgH="765015" progId="Equation.DSMT4">
                  <p:embed/>
                  <p:pic>
                    <p:nvPicPr>
                      <p:cNvPr id="0" name=""/>
                      <p:cNvPicPr/>
                      <p:nvPr/>
                    </p:nvPicPr>
                    <p:blipFill>
                      <a:blip r:embed="rId4"/>
                      <a:stretch>
                        <a:fillRect/>
                      </a:stretch>
                    </p:blipFill>
                    <p:spPr>
                      <a:xfrm>
                        <a:off x="6589636" y="1526369"/>
                        <a:ext cx="690465" cy="652558"/>
                      </a:xfrm>
                      <a:prstGeom prst="rect">
                        <a:avLst/>
                      </a:prstGeom>
                    </p:spPr>
                  </p:pic>
                </p:oleObj>
              </mc:Fallback>
            </mc:AlternateContent>
          </a:graphicData>
        </a:graphic>
      </p:graphicFrame>
      <p:sp>
        <p:nvSpPr>
          <p:cNvPr id="35" name="Content Placeholder 34">
            <a:extLst>
              <a:ext uri="{FF2B5EF4-FFF2-40B4-BE49-F238E27FC236}">
                <a16:creationId xmlns:a16="http://schemas.microsoft.com/office/drawing/2014/main" id="{36B0BD4F-672B-4DE7-A53B-734DE39B81D5}"/>
              </a:ext>
              <a:ext uri="{C183D7F6-B498-43B3-948B-1728B52AA6E4}">
                <adec:decorative xmlns:adec="http://schemas.microsoft.com/office/drawing/2017/decorative" val="1"/>
              </a:ext>
            </a:extLst>
          </p:cNvPr>
          <p:cNvSpPr>
            <a:spLocks noGrp="1"/>
          </p:cNvSpPr>
          <p:nvPr>
            <p:ph sz="quarter" idx="14"/>
          </p:nvPr>
        </p:nvSpPr>
        <p:spPr>
          <a:xfrm>
            <a:off x="482600" y="2058547"/>
            <a:ext cx="2424023" cy="410333"/>
          </a:xfrm>
        </p:spPr>
        <p:txBody>
          <a:bodyPr/>
          <a:lstStyle/>
          <a:p>
            <a:pPr marL="255600" indent="0">
              <a:buNone/>
            </a:pPr>
            <a:r>
              <a:rPr lang="en-US" altLang="en-US" sz="1800" dirty="0"/>
              <a:t>pounds of food.</a:t>
            </a:r>
            <a:endParaRPr lang="en-IN" sz="1800" dirty="0"/>
          </a:p>
        </p:txBody>
      </p:sp>
      <p:sp>
        <p:nvSpPr>
          <p:cNvPr id="36" name="Content Placeholder 35">
            <a:extLst>
              <a:ext uri="{FF2B5EF4-FFF2-40B4-BE49-F238E27FC236}">
                <a16:creationId xmlns:a16="http://schemas.microsoft.com/office/drawing/2014/main" id="{D1D2CB3F-6F82-437B-B4F1-B84BE891BA15}"/>
              </a:ext>
            </a:extLst>
          </p:cNvPr>
          <p:cNvSpPr>
            <a:spLocks noGrp="1"/>
          </p:cNvSpPr>
          <p:nvPr>
            <p:ph sz="quarter" idx="15"/>
          </p:nvPr>
        </p:nvSpPr>
        <p:spPr>
          <a:xfrm>
            <a:off x="457200" y="2544066"/>
            <a:ext cx="5549462" cy="432000"/>
          </a:xfrm>
        </p:spPr>
        <p:txBody>
          <a:bodyPr/>
          <a:lstStyle/>
          <a:p>
            <a:pPr lvl="1" indent="-284400"/>
            <a:r>
              <a:rPr lang="en-US" altLang="en-US" sz="1800" dirty="0">
                <a:latin typeface="+mn-lt"/>
              </a:rPr>
              <a:t>To produce one more yard of cloth, you need</a:t>
            </a:r>
          </a:p>
        </p:txBody>
      </p:sp>
      <p:graphicFrame>
        <p:nvGraphicFramePr>
          <p:cNvPr id="44" name="Object 43" descr="Start fraction 1 over M P L sub C end fraction ">
            <a:extLst>
              <a:ext uri="{FF2B5EF4-FFF2-40B4-BE49-F238E27FC236}">
                <a16:creationId xmlns:a16="http://schemas.microsoft.com/office/drawing/2014/main" id="{D1A8370F-5B60-4AA0-8EA3-D6B988E2309B}"/>
              </a:ext>
            </a:extLst>
          </p:cNvPr>
          <p:cNvGraphicFramePr>
            <a:graphicFrameLocks noChangeAspect="1"/>
          </p:cNvGraphicFramePr>
          <p:nvPr>
            <p:extLst>
              <p:ext uri="{D42A27DB-BD31-4B8C-83A1-F6EECF244321}">
                <p14:modId xmlns:p14="http://schemas.microsoft.com/office/powerpoint/2010/main" val="300538024"/>
              </p:ext>
            </p:extLst>
          </p:nvPr>
        </p:nvGraphicFramePr>
        <p:xfrm>
          <a:off x="6069386" y="2445317"/>
          <a:ext cx="750781" cy="639700"/>
        </p:xfrm>
        <a:graphic>
          <a:graphicData uri="http://schemas.openxmlformats.org/presentationml/2006/ole">
            <mc:AlternateContent xmlns:mc="http://schemas.openxmlformats.org/markup-compatibility/2006">
              <mc:Choice xmlns:v="urn:schemas-microsoft-com:vml" Requires="v">
                <p:oleObj name="Equation" r:id="rId5" imgW="811064" imgH="765015" progId="Equation.DSMT4">
                  <p:embed/>
                </p:oleObj>
              </mc:Choice>
              <mc:Fallback>
                <p:oleObj name="Equation" r:id="rId5" imgW="811064" imgH="765015" progId="Equation.DSMT4">
                  <p:embed/>
                  <p:pic>
                    <p:nvPicPr>
                      <p:cNvPr id="0" name=""/>
                      <p:cNvPicPr/>
                      <p:nvPr/>
                    </p:nvPicPr>
                    <p:blipFill>
                      <a:blip r:embed="rId6"/>
                      <a:stretch>
                        <a:fillRect/>
                      </a:stretch>
                    </p:blipFill>
                    <p:spPr>
                      <a:xfrm>
                        <a:off x="6069386" y="2445317"/>
                        <a:ext cx="750781" cy="639700"/>
                      </a:xfrm>
                      <a:prstGeom prst="rect">
                        <a:avLst/>
                      </a:prstGeom>
                    </p:spPr>
                  </p:pic>
                </p:oleObj>
              </mc:Fallback>
            </mc:AlternateContent>
          </a:graphicData>
        </a:graphic>
      </p:graphicFrame>
      <p:sp>
        <p:nvSpPr>
          <p:cNvPr id="37" name="Content Placeholder 36">
            <a:extLst>
              <a:ext uri="{FF2B5EF4-FFF2-40B4-BE49-F238E27FC236}">
                <a16:creationId xmlns:a16="http://schemas.microsoft.com/office/drawing/2014/main" id="{D184976A-36FA-48C7-93FC-01D23AB8397C}"/>
              </a:ext>
              <a:ext uri="{C183D7F6-B498-43B3-948B-1728B52AA6E4}">
                <adec:decorative xmlns:adec="http://schemas.microsoft.com/office/drawing/2017/decorative" val="1"/>
              </a:ext>
            </a:extLst>
          </p:cNvPr>
          <p:cNvSpPr>
            <a:spLocks noGrp="1"/>
          </p:cNvSpPr>
          <p:nvPr>
            <p:ph sz="quarter" idx="16"/>
          </p:nvPr>
        </p:nvSpPr>
        <p:spPr>
          <a:xfrm>
            <a:off x="6913371" y="2522078"/>
            <a:ext cx="1693728" cy="432000"/>
          </a:xfrm>
        </p:spPr>
        <p:txBody>
          <a:bodyPr/>
          <a:lstStyle/>
          <a:p>
            <a:pPr marL="0" lvl="1" indent="0">
              <a:buNone/>
            </a:pPr>
            <a:r>
              <a:rPr lang="en-US" altLang="en-US" sz="1800" dirty="0">
                <a:latin typeface="+mn-lt"/>
              </a:rPr>
              <a:t>hours of labor.</a:t>
            </a:r>
            <a:endParaRPr lang="en-IN" sz="1800" dirty="0">
              <a:latin typeface="+mn-lt"/>
            </a:endParaRPr>
          </a:p>
        </p:txBody>
      </p:sp>
      <p:sp>
        <p:nvSpPr>
          <p:cNvPr id="38" name="Content Placeholder 37">
            <a:extLst>
              <a:ext uri="{FF2B5EF4-FFF2-40B4-BE49-F238E27FC236}">
                <a16:creationId xmlns:a16="http://schemas.microsoft.com/office/drawing/2014/main" id="{4B25C58B-B2AB-470E-A592-C60445DAFC30}"/>
              </a:ext>
            </a:extLst>
          </p:cNvPr>
          <p:cNvSpPr>
            <a:spLocks noGrp="1"/>
          </p:cNvSpPr>
          <p:nvPr>
            <p:ph sz="quarter" idx="17"/>
          </p:nvPr>
        </p:nvSpPr>
        <p:spPr>
          <a:xfrm>
            <a:off x="457200" y="3146074"/>
            <a:ext cx="7362497" cy="442946"/>
          </a:xfrm>
        </p:spPr>
        <p:txBody>
          <a:bodyPr/>
          <a:lstStyle/>
          <a:p>
            <a:pPr lvl="1" indent="-284400"/>
            <a:r>
              <a:rPr lang="en-US" altLang="en-US" sz="1800" dirty="0">
                <a:latin typeface="+mn-lt"/>
              </a:rPr>
              <a:t>To free up one hour of labor, you must reduce output of food by</a:t>
            </a:r>
            <a:endParaRPr lang="en-US" sz="1800" dirty="0">
              <a:latin typeface="+mn-lt"/>
            </a:endParaRPr>
          </a:p>
        </p:txBody>
      </p:sp>
      <p:graphicFrame>
        <p:nvGraphicFramePr>
          <p:cNvPr id="45" name="Object 44" descr="M P L sub F ">
            <a:extLst>
              <a:ext uri="{FF2B5EF4-FFF2-40B4-BE49-F238E27FC236}">
                <a16:creationId xmlns:a16="http://schemas.microsoft.com/office/drawing/2014/main" id="{98446168-631B-4D1F-8ECD-6A2A3B8E9445}"/>
              </a:ext>
            </a:extLst>
          </p:cNvPr>
          <p:cNvGraphicFramePr>
            <a:graphicFrameLocks noChangeAspect="1"/>
          </p:cNvGraphicFramePr>
          <p:nvPr>
            <p:extLst>
              <p:ext uri="{D42A27DB-BD31-4B8C-83A1-F6EECF244321}">
                <p14:modId xmlns:p14="http://schemas.microsoft.com/office/powerpoint/2010/main" val="4107418242"/>
              </p:ext>
            </p:extLst>
          </p:nvPr>
        </p:nvGraphicFramePr>
        <p:xfrm>
          <a:off x="1306438" y="3666215"/>
          <a:ext cx="725545" cy="394472"/>
        </p:xfrm>
        <a:graphic>
          <a:graphicData uri="http://schemas.openxmlformats.org/presentationml/2006/ole">
            <mc:AlternateContent xmlns:mc="http://schemas.openxmlformats.org/markup-compatibility/2006">
              <mc:Choice xmlns:v="urn:schemas-microsoft-com:vml" Requires="v">
                <p:oleObj name="Equation" r:id="rId7" imgW="816822" imgH="445237" progId="Equation.DSMT4">
                  <p:embed/>
                </p:oleObj>
              </mc:Choice>
              <mc:Fallback>
                <p:oleObj name="Equation" r:id="rId7" imgW="816822" imgH="445237" progId="Equation.DSMT4">
                  <p:embed/>
                  <p:pic>
                    <p:nvPicPr>
                      <p:cNvPr id="0" name=""/>
                      <p:cNvPicPr/>
                      <p:nvPr/>
                    </p:nvPicPr>
                    <p:blipFill>
                      <a:blip r:embed="rId8"/>
                      <a:stretch>
                        <a:fillRect/>
                      </a:stretch>
                    </p:blipFill>
                    <p:spPr>
                      <a:xfrm>
                        <a:off x="1306438" y="3666215"/>
                        <a:ext cx="725545" cy="394472"/>
                      </a:xfrm>
                      <a:prstGeom prst="rect">
                        <a:avLst/>
                      </a:prstGeom>
                    </p:spPr>
                  </p:pic>
                </p:oleObj>
              </mc:Fallback>
            </mc:AlternateContent>
          </a:graphicData>
        </a:graphic>
      </p:graphicFrame>
      <p:sp>
        <p:nvSpPr>
          <p:cNvPr id="39" name="Content Placeholder 38">
            <a:extLst>
              <a:ext uri="{FF2B5EF4-FFF2-40B4-BE49-F238E27FC236}">
                <a16:creationId xmlns:a16="http://schemas.microsoft.com/office/drawing/2014/main" id="{5F348152-129B-428F-A82F-8B6A41D8B481}"/>
              </a:ext>
              <a:ext uri="{C183D7F6-B498-43B3-948B-1728B52AA6E4}">
                <adec:decorative xmlns:adec="http://schemas.microsoft.com/office/drawing/2017/decorative" val="1"/>
              </a:ext>
            </a:extLst>
          </p:cNvPr>
          <p:cNvSpPr>
            <a:spLocks noGrp="1"/>
          </p:cNvSpPr>
          <p:nvPr>
            <p:ph sz="quarter" idx="18"/>
          </p:nvPr>
        </p:nvSpPr>
        <p:spPr>
          <a:xfrm>
            <a:off x="2124999" y="3686575"/>
            <a:ext cx="1015492" cy="347414"/>
          </a:xfrm>
        </p:spPr>
        <p:txBody>
          <a:bodyPr tIns="0"/>
          <a:lstStyle/>
          <a:p>
            <a:pPr marL="0" lvl="1" indent="0">
              <a:buNone/>
            </a:pPr>
            <a:r>
              <a:rPr lang="en-US" altLang="en-US" sz="1800" dirty="0">
                <a:latin typeface="+mn-lt"/>
              </a:rPr>
              <a:t>pounds.</a:t>
            </a:r>
            <a:endParaRPr lang="en-US" sz="1800" dirty="0">
              <a:latin typeface="+mn-lt"/>
            </a:endParaRPr>
          </a:p>
        </p:txBody>
      </p:sp>
      <p:sp>
        <p:nvSpPr>
          <p:cNvPr id="40" name="Content Placeholder 39">
            <a:extLst>
              <a:ext uri="{FF2B5EF4-FFF2-40B4-BE49-F238E27FC236}">
                <a16:creationId xmlns:a16="http://schemas.microsoft.com/office/drawing/2014/main" id="{3AE9CC8D-DAF6-442D-91FB-BFC0EE67C31C}"/>
              </a:ext>
              <a:ext uri="{C183D7F6-B498-43B3-948B-1728B52AA6E4}">
                <adec:decorative xmlns:adec="http://schemas.microsoft.com/office/drawing/2017/decorative" val="1"/>
              </a:ext>
            </a:extLst>
          </p:cNvPr>
          <p:cNvSpPr>
            <a:spLocks noGrp="1"/>
          </p:cNvSpPr>
          <p:nvPr>
            <p:ph sz="quarter" idx="19"/>
          </p:nvPr>
        </p:nvSpPr>
        <p:spPr>
          <a:xfrm>
            <a:off x="457200" y="4147812"/>
            <a:ext cx="8229600" cy="1044000"/>
          </a:xfrm>
        </p:spPr>
        <p:txBody>
          <a:bodyPr/>
          <a:lstStyle/>
          <a:p>
            <a:pPr lvl="1" indent="-284400"/>
            <a:r>
              <a:rPr lang="en-US" altLang="en-US" sz="1800" dirty="0">
                <a:latin typeface="+mn-lt"/>
              </a:rPr>
              <a:t>To produce less food and more cloth, employ less in food and more in cloth.</a:t>
            </a:r>
          </a:p>
          <a:p>
            <a:pPr lvl="1" indent="-284400"/>
            <a:r>
              <a:rPr lang="en-US" altLang="en-US" sz="1800" dirty="0">
                <a:latin typeface="+mn-lt"/>
              </a:rPr>
              <a:t>The marginal product of labor in food rises and the marginal product of</a:t>
            </a:r>
            <a:endParaRPr lang="en-US" sz="1800" dirty="0">
              <a:latin typeface="+mn-lt"/>
            </a:endParaRPr>
          </a:p>
        </p:txBody>
      </p:sp>
      <p:sp>
        <p:nvSpPr>
          <p:cNvPr id="41" name="Content Placeholder 40">
            <a:extLst>
              <a:ext uri="{FF2B5EF4-FFF2-40B4-BE49-F238E27FC236}">
                <a16:creationId xmlns:a16="http://schemas.microsoft.com/office/drawing/2014/main" id="{9B6D7561-E245-46E8-990C-45DD309D4736}"/>
              </a:ext>
              <a:ext uri="{C183D7F6-B498-43B3-948B-1728B52AA6E4}">
                <adec:decorative xmlns:adec="http://schemas.microsoft.com/office/drawing/2017/decorative" val="1"/>
              </a:ext>
            </a:extLst>
          </p:cNvPr>
          <p:cNvSpPr>
            <a:spLocks noGrp="1"/>
          </p:cNvSpPr>
          <p:nvPr>
            <p:ph sz="quarter" idx="20"/>
          </p:nvPr>
        </p:nvSpPr>
        <p:spPr>
          <a:xfrm>
            <a:off x="1193800" y="5258423"/>
            <a:ext cx="2359400" cy="405659"/>
          </a:xfrm>
        </p:spPr>
        <p:txBody>
          <a:bodyPr/>
          <a:lstStyle/>
          <a:p>
            <a:pPr marL="0" lvl="1" indent="0">
              <a:buNone/>
            </a:pPr>
            <a:r>
              <a:rPr lang="en-US" altLang="en-US" sz="1800" dirty="0">
                <a:latin typeface="+mn-lt"/>
              </a:rPr>
              <a:t>labor in cloth falls, so</a:t>
            </a:r>
            <a:endParaRPr lang="en-IN" sz="1800" dirty="0">
              <a:latin typeface="+mn-lt"/>
            </a:endParaRPr>
          </a:p>
        </p:txBody>
      </p:sp>
      <p:graphicFrame>
        <p:nvGraphicFramePr>
          <p:cNvPr id="46" name="Object 45" descr="Start fraction M P L sub F over M P L sub C end fraction">
            <a:extLst>
              <a:ext uri="{FF2B5EF4-FFF2-40B4-BE49-F238E27FC236}">
                <a16:creationId xmlns:a16="http://schemas.microsoft.com/office/drawing/2014/main" id="{FF2E9D44-B30B-4A4C-8FE7-F6297C5A5D86}"/>
              </a:ext>
            </a:extLst>
          </p:cNvPr>
          <p:cNvGraphicFramePr>
            <a:graphicFrameLocks noChangeAspect="1"/>
          </p:cNvGraphicFramePr>
          <p:nvPr>
            <p:extLst>
              <p:ext uri="{D42A27DB-BD31-4B8C-83A1-F6EECF244321}">
                <p14:modId xmlns:p14="http://schemas.microsoft.com/office/powerpoint/2010/main" val="3698118399"/>
              </p:ext>
            </p:extLst>
          </p:nvPr>
        </p:nvGraphicFramePr>
        <p:xfrm>
          <a:off x="3610352" y="5258423"/>
          <a:ext cx="608284" cy="574888"/>
        </p:xfrm>
        <a:graphic>
          <a:graphicData uri="http://schemas.openxmlformats.org/presentationml/2006/ole">
            <mc:AlternateContent xmlns:mc="http://schemas.openxmlformats.org/markup-compatibility/2006">
              <mc:Choice xmlns:v="urn:schemas-microsoft-com:vml" Requires="v">
                <p:oleObj name="Equation" r:id="rId9" imgW="809265" imgH="765015" progId="Equation.DSMT4">
                  <p:embed/>
                </p:oleObj>
              </mc:Choice>
              <mc:Fallback>
                <p:oleObj name="Equation" r:id="rId9" imgW="809265" imgH="765015" progId="Equation.DSMT4">
                  <p:embed/>
                  <p:pic>
                    <p:nvPicPr>
                      <p:cNvPr id="0" name=""/>
                      <p:cNvPicPr/>
                      <p:nvPr/>
                    </p:nvPicPr>
                    <p:blipFill>
                      <a:blip r:embed="rId10"/>
                      <a:stretch>
                        <a:fillRect/>
                      </a:stretch>
                    </p:blipFill>
                    <p:spPr>
                      <a:xfrm>
                        <a:off x="3610352" y="5258423"/>
                        <a:ext cx="608284" cy="574888"/>
                      </a:xfrm>
                      <a:prstGeom prst="rect">
                        <a:avLst/>
                      </a:prstGeom>
                    </p:spPr>
                  </p:pic>
                </p:oleObj>
              </mc:Fallback>
            </mc:AlternateContent>
          </a:graphicData>
        </a:graphic>
      </p:graphicFrame>
      <p:sp>
        <p:nvSpPr>
          <p:cNvPr id="42" name="Content Placeholder 41">
            <a:extLst>
              <a:ext uri="{FF2B5EF4-FFF2-40B4-BE49-F238E27FC236}">
                <a16:creationId xmlns:a16="http://schemas.microsoft.com/office/drawing/2014/main" id="{F8DFA1F7-B22C-4BEC-B0D0-CA73B23731D4}"/>
              </a:ext>
            </a:extLst>
          </p:cNvPr>
          <p:cNvSpPr>
            <a:spLocks noGrp="1"/>
          </p:cNvSpPr>
          <p:nvPr>
            <p:ph sz="quarter" idx="21"/>
          </p:nvPr>
        </p:nvSpPr>
        <p:spPr>
          <a:xfrm>
            <a:off x="4297185" y="5258423"/>
            <a:ext cx="851340" cy="396000"/>
          </a:xfrm>
        </p:spPr>
        <p:txBody>
          <a:bodyPr/>
          <a:lstStyle/>
          <a:p>
            <a:pPr marL="0" lvl="1" indent="0">
              <a:buNone/>
            </a:pPr>
            <a:r>
              <a:rPr lang="en-US" altLang="en-US" sz="1800" dirty="0">
                <a:latin typeface="+mn-lt"/>
              </a:rPr>
              <a:t>rises.</a:t>
            </a:r>
            <a:endParaRPr lang="en-IN" sz="1800" dirty="0">
              <a:latin typeface="+mn-lt"/>
            </a:endParaRPr>
          </a:p>
        </p:txBody>
      </p:sp>
    </p:spTree>
    <p:extLst>
      <p:ext uri="{BB962C8B-B14F-4D97-AF65-F5344CB8AC3E}">
        <p14:creationId xmlns:p14="http://schemas.microsoft.com/office/powerpoint/2010/main" val="2147808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(1 of 10)</a:t>
            </a:r>
            <a:endParaRPr lang="en-IN" sz="1800" dirty="0"/>
          </a:p>
        </p:txBody>
      </p:sp>
      <p:sp>
        <p:nvSpPr>
          <p:cNvPr id="4" name="Content Placeholder 3">
            <a:extLst>
              <a:ext uri="{FF2B5EF4-FFF2-40B4-BE49-F238E27FC236}">
                <a16:creationId xmlns:a16="http://schemas.microsoft.com/office/drawing/2014/main" id="{07F15DEE-E860-4244-AF78-8DC127718275}"/>
              </a:ext>
            </a:extLst>
          </p:cNvPr>
          <p:cNvSpPr>
            <a:spLocks noGrp="1"/>
          </p:cNvSpPr>
          <p:nvPr>
            <p:ph sz="quarter" idx="13"/>
          </p:nvPr>
        </p:nvSpPr>
        <p:spPr>
          <a:xfrm>
            <a:off x="457200" y="1556327"/>
            <a:ext cx="8229600" cy="3498752"/>
          </a:xfrm>
        </p:spPr>
        <p:txBody>
          <a:bodyPr/>
          <a:lstStyle/>
          <a:p>
            <a:r>
              <a:rPr lang="en-US" altLang="en-US" sz="2400" dirty="0"/>
              <a:t>How much labor is employed in each sector?</a:t>
            </a:r>
          </a:p>
          <a:p>
            <a:pPr lvl="1"/>
            <a:r>
              <a:rPr lang="en-US" altLang="en-US" sz="2400" dirty="0"/>
              <a:t>Need to look at supply and demand in the labor market.</a:t>
            </a:r>
          </a:p>
          <a:p>
            <a:r>
              <a:rPr lang="en-US" altLang="en-US" sz="2400" dirty="0"/>
              <a:t>Demand for labor:</a:t>
            </a:r>
          </a:p>
          <a:p>
            <a:pPr lvl="1"/>
            <a:r>
              <a:rPr lang="en-US" altLang="en-US" sz="2400" dirty="0"/>
              <a:t>In each sector, employers will maximize profits by demanding labor up to the point where the value produced by an additional hour equals the marginal cost of employing a worker for that hour.</a:t>
            </a:r>
            <a:endParaRPr lang="en-IN" sz="2400" dirty="0"/>
          </a:p>
        </p:txBody>
      </p:sp>
    </p:spTree>
    <p:extLst>
      <p:ext uri="{BB962C8B-B14F-4D97-AF65-F5344CB8AC3E}">
        <p14:creationId xmlns:p14="http://schemas.microsoft.com/office/powerpoint/2010/main" val="3784234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(2 of 10)</a:t>
            </a:r>
            <a:endParaRPr lang="en-IN" sz="1800" dirty="0"/>
          </a:p>
        </p:txBody>
      </p:sp>
      <p:sp>
        <p:nvSpPr>
          <p:cNvPr id="2" name="Content Placeholder 1">
            <a:extLst>
              <a:ext uri="{FF2B5EF4-FFF2-40B4-BE49-F238E27FC236}">
                <a16:creationId xmlns:a16="http://schemas.microsoft.com/office/drawing/2014/main" id="{8FAC151B-93D1-4AA2-8C85-935C1C082939}"/>
              </a:ext>
            </a:extLst>
          </p:cNvPr>
          <p:cNvSpPr>
            <a:spLocks noGrp="1"/>
          </p:cNvSpPr>
          <p:nvPr>
            <p:ph sz="quarter" idx="13"/>
          </p:nvPr>
        </p:nvSpPr>
        <p:spPr>
          <a:xfrm>
            <a:off x="457200" y="1556327"/>
            <a:ext cx="8229600" cy="504000"/>
          </a:xfrm>
        </p:spPr>
        <p:txBody>
          <a:bodyPr/>
          <a:lstStyle/>
          <a:p>
            <a:r>
              <a:rPr lang="en-US" altLang="en-US" sz="2400" dirty="0"/>
              <a:t>The demand curve for labor in the cloth sector:</a:t>
            </a:r>
            <a:endParaRPr lang="en-IN" sz="2400" dirty="0"/>
          </a:p>
        </p:txBody>
      </p:sp>
      <p:graphicFrame>
        <p:nvGraphicFramePr>
          <p:cNvPr id="8" name="Object 7" descr="M P L sub C times P sub C = W ">
            <a:extLst>
              <a:ext uri="{FF2B5EF4-FFF2-40B4-BE49-F238E27FC236}">
                <a16:creationId xmlns:a16="http://schemas.microsoft.com/office/drawing/2014/main" id="{9A94AB26-B05C-491E-8308-E134A10DDE64}"/>
              </a:ext>
            </a:extLst>
          </p:cNvPr>
          <p:cNvGraphicFramePr>
            <a:graphicFrameLocks noChangeAspect="1"/>
          </p:cNvGraphicFramePr>
          <p:nvPr>
            <p:extLst>
              <p:ext uri="{D42A27DB-BD31-4B8C-83A1-F6EECF244321}">
                <p14:modId xmlns:p14="http://schemas.microsoft.com/office/powerpoint/2010/main" val="2367476258"/>
              </p:ext>
            </p:extLst>
          </p:nvPr>
        </p:nvGraphicFramePr>
        <p:xfrm>
          <a:off x="3569493" y="2251751"/>
          <a:ext cx="2005013" cy="444500"/>
        </p:xfrm>
        <a:graphic>
          <a:graphicData uri="http://schemas.openxmlformats.org/presentationml/2006/ole">
            <mc:AlternateContent xmlns:mc="http://schemas.openxmlformats.org/markup-compatibility/2006">
              <mc:Choice xmlns:v="urn:schemas-microsoft-com:vml" Requires="v">
                <p:oleObj name="Equation" r:id="rId3" imgW="2004272" imgH="445237" progId="Equation.DSMT4">
                  <p:embed/>
                </p:oleObj>
              </mc:Choice>
              <mc:Fallback>
                <p:oleObj name="Equation" r:id="rId3" imgW="2004272" imgH="445237" progId="Equation.DSMT4">
                  <p:embed/>
                  <p:pic>
                    <p:nvPicPr>
                      <p:cNvPr id="0" name=""/>
                      <p:cNvPicPr/>
                      <p:nvPr/>
                    </p:nvPicPr>
                    <p:blipFill>
                      <a:blip r:embed="rId4"/>
                      <a:stretch>
                        <a:fillRect/>
                      </a:stretch>
                    </p:blipFill>
                    <p:spPr>
                      <a:xfrm>
                        <a:off x="3569493" y="2251751"/>
                        <a:ext cx="2005013" cy="444500"/>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1EC3ED2F-FA1B-4FEF-BF48-EA61FA20CC25}"/>
              </a:ext>
            </a:extLst>
          </p:cNvPr>
          <p:cNvSpPr>
            <a:spLocks noGrp="1"/>
          </p:cNvSpPr>
          <p:nvPr>
            <p:ph sz="quarter" idx="14"/>
          </p:nvPr>
        </p:nvSpPr>
        <p:spPr>
          <a:xfrm>
            <a:off x="457200" y="2806523"/>
            <a:ext cx="8229600" cy="882074"/>
          </a:xfrm>
        </p:spPr>
        <p:txBody>
          <a:bodyPr/>
          <a:lstStyle/>
          <a:p>
            <a:pPr lvl="1"/>
            <a:r>
              <a:rPr lang="en-US" altLang="en-US" dirty="0"/>
              <a:t>The wage equals the value of the marginal product of labor in manufacturing.</a:t>
            </a:r>
            <a:endParaRPr lang="en-US" dirty="0"/>
          </a:p>
        </p:txBody>
      </p:sp>
      <p:sp>
        <p:nvSpPr>
          <p:cNvPr id="5" name="Content Placeholder 4">
            <a:extLst>
              <a:ext uri="{FF2B5EF4-FFF2-40B4-BE49-F238E27FC236}">
                <a16:creationId xmlns:a16="http://schemas.microsoft.com/office/drawing/2014/main" id="{D93432CC-2109-4745-9708-F3574D3568B2}"/>
              </a:ext>
            </a:extLst>
          </p:cNvPr>
          <p:cNvSpPr>
            <a:spLocks noGrp="1"/>
          </p:cNvSpPr>
          <p:nvPr>
            <p:ph sz="quarter" idx="15"/>
          </p:nvPr>
        </p:nvSpPr>
        <p:spPr>
          <a:xfrm>
            <a:off x="457200" y="3817795"/>
            <a:ext cx="8229600" cy="504498"/>
          </a:xfrm>
        </p:spPr>
        <p:txBody>
          <a:bodyPr/>
          <a:lstStyle/>
          <a:p>
            <a:pPr indent="-255600"/>
            <a:r>
              <a:rPr lang="en-US" altLang="en-US" sz="2400" dirty="0">
                <a:latin typeface="+mn-lt"/>
              </a:rPr>
              <a:t>The demand curve for labor in the food sector:</a:t>
            </a:r>
            <a:endParaRPr lang="en-US" sz="2400" dirty="0">
              <a:latin typeface="+mn-lt"/>
            </a:endParaRPr>
          </a:p>
        </p:txBody>
      </p:sp>
      <p:graphicFrame>
        <p:nvGraphicFramePr>
          <p:cNvPr id="9" name="Object 8" descr="M P L sub F times P sub F = W">
            <a:extLst>
              <a:ext uri="{FF2B5EF4-FFF2-40B4-BE49-F238E27FC236}">
                <a16:creationId xmlns:a16="http://schemas.microsoft.com/office/drawing/2014/main" id="{EDF1E3C6-04AF-4474-B1DF-939782AEF65C}"/>
              </a:ext>
            </a:extLst>
          </p:cNvPr>
          <p:cNvGraphicFramePr>
            <a:graphicFrameLocks noChangeAspect="1"/>
          </p:cNvGraphicFramePr>
          <p:nvPr>
            <p:extLst>
              <p:ext uri="{D42A27DB-BD31-4B8C-83A1-F6EECF244321}">
                <p14:modId xmlns:p14="http://schemas.microsoft.com/office/powerpoint/2010/main" val="202732625"/>
              </p:ext>
            </p:extLst>
          </p:nvPr>
        </p:nvGraphicFramePr>
        <p:xfrm>
          <a:off x="3569494" y="4430626"/>
          <a:ext cx="2005013" cy="444500"/>
        </p:xfrm>
        <a:graphic>
          <a:graphicData uri="http://schemas.openxmlformats.org/presentationml/2006/ole">
            <mc:AlternateContent xmlns:mc="http://schemas.openxmlformats.org/markup-compatibility/2006">
              <mc:Choice xmlns:v="urn:schemas-microsoft-com:vml" Requires="v">
                <p:oleObj name="Equation" r:id="rId5" imgW="2004272" imgH="445237" progId="Equation.DSMT4">
                  <p:embed/>
                </p:oleObj>
              </mc:Choice>
              <mc:Fallback>
                <p:oleObj name="Equation" r:id="rId5" imgW="2004272" imgH="445237" progId="Equation.DSMT4">
                  <p:embed/>
                  <p:pic>
                    <p:nvPicPr>
                      <p:cNvPr id="0" name=""/>
                      <p:cNvPicPr/>
                      <p:nvPr/>
                    </p:nvPicPr>
                    <p:blipFill>
                      <a:blip r:embed="rId6"/>
                      <a:stretch>
                        <a:fillRect/>
                      </a:stretch>
                    </p:blipFill>
                    <p:spPr>
                      <a:xfrm>
                        <a:off x="3569494" y="4430626"/>
                        <a:ext cx="2005013" cy="4445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213A06DF-608B-4B43-A068-395AC58B0393}"/>
              </a:ext>
            </a:extLst>
          </p:cNvPr>
          <p:cNvSpPr>
            <a:spLocks noGrp="1"/>
          </p:cNvSpPr>
          <p:nvPr>
            <p:ph sz="quarter" idx="16"/>
          </p:nvPr>
        </p:nvSpPr>
        <p:spPr>
          <a:xfrm>
            <a:off x="457200" y="4976885"/>
            <a:ext cx="8229600" cy="864000"/>
          </a:xfrm>
        </p:spPr>
        <p:txBody>
          <a:bodyPr/>
          <a:lstStyle/>
          <a:p>
            <a:pPr lvl="1" indent="-284400"/>
            <a:r>
              <a:rPr lang="en-US" altLang="en-US" sz="2400" dirty="0">
                <a:latin typeface="+mn-lt"/>
              </a:rPr>
              <a:t>The wage equals the value of the marginal product of labor in food.</a:t>
            </a:r>
            <a:endParaRPr lang="en-US" dirty="0"/>
          </a:p>
        </p:txBody>
      </p:sp>
    </p:spTree>
    <p:extLst>
      <p:ext uri="{BB962C8B-B14F-4D97-AF65-F5344CB8AC3E}">
        <p14:creationId xmlns:p14="http://schemas.microsoft.com/office/powerpoint/2010/main" val="3416746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(3 of 10)</a:t>
            </a:r>
            <a:endParaRPr lang="en-IN" sz="1800" dirty="0"/>
          </a:p>
        </p:txBody>
      </p:sp>
      <p:sp>
        <p:nvSpPr>
          <p:cNvPr id="2" name="Content Placeholder 1">
            <a:extLst>
              <a:ext uri="{FF2B5EF4-FFF2-40B4-BE49-F238E27FC236}">
                <a16:creationId xmlns:a16="http://schemas.microsoft.com/office/drawing/2014/main" id="{8FAC151B-93D1-4AA2-8C85-935C1C082939}"/>
              </a:ext>
            </a:extLst>
          </p:cNvPr>
          <p:cNvSpPr>
            <a:spLocks noGrp="1"/>
          </p:cNvSpPr>
          <p:nvPr>
            <p:ph sz="quarter" idx="13"/>
          </p:nvPr>
        </p:nvSpPr>
        <p:spPr>
          <a:xfrm>
            <a:off x="457200" y="1556327"/>
            <a:ext cx="8229600" cy="504000"/>
          </a:xfrm>
        </p:spPr>
        <p:txBody>
          <a:bodyPr/>
          <a:lstStyle/>
          <a:p>
            <a:r>
              <a:rPr lang="en-US" altLang="en-US" sz="2400" dirty="0"/>
              <a:t>Figure 4.4 represents labor demand in the two sectors.</a:t>
            </a:r>
          </a:p>
        </p:txBody>
      </p:sp>
      <p:sp>
        <p:nvSpPr>
          <p:cNvPr id="3" name="Content Placeholder 2">
            <a:extLst>
              <a:ext uri="{FF2B5EF4-FFF2-40B4-BE49-F238E27FC236}">
                <a16:creationId xmlns:a16="http://schemas.microsoft.com/office/drawing/2014/main" id="{1EC3ED2F-FA1B-4FEF-BF48-EA61FA20CC25}"/>
              </a:ext>
            </a:extLst>
          </p:cNvPr>
          <p:cNvSpPr>
            <a:spLocks noGrp="1"/>
          </p:cNvSpPr>
          <p:nvPr>
            <p:ph sz="quarter" idx="14"/>
          </p:nvPr>
        </p:nvSpPr>
        <p:spPr>
          <a:xfrm>
            <a:off x="457200" y="2275275"/>
            <a:ext cx="6148552" cy="504000"/>
          </a:xfrm>
        </p:spPr>
        <p:txBody>
          <a:bodyPr/>
          <a:lstStyle/>
          <a:p>
            <a:r>
              <a:rPr lang="en-US" altLang="en-US" sz="2400" dirty="0"/>
              <a:t>The demand for labor in the cloth sector is</a:t>
            </a:r>
            <a:endParaRPr lang="en-IN" sz="2400" i="1" baseline="-25000" dirty="0"/>
          </a:p>
        </p:txBody>
      </p:sp>
      <p:graphicFrame>
        <p:nvGraphicFramePr>
          <p:cNvPr id="4" name="Object 3" descr="M P L sub C">
            <a:extLst>
              <a:ext uri="{FF2B5EF4-FFF2-40B4-BE49-F238E27FC236}">
                <a16:creationId xmlns:a16="http://schemas.microsoft.com/office/drawing/2014/main" id="{7D16A474-3BE9-4204-B26E-B30A239D5C88}"/>
              </a:ext>
            </a:extLst>
          </p:cNvPr>
          <p:cNvGraphicFramePr>
            <a:graphicFrameLocks noChangeAspect="1"/>
          </p:cNvGraphicFramePr>
          <p:nvPr>
            <p:extLst>
              <p:ext uri="{D42A27DB-BD31-4B8C-83A1-F6EECF244321}">
                <p14:modId xmlns:p14="http://schemas.microsoft.com/office/powerpoint/2010/main" val="609139029"/>
              </p:ext>
            </p:extLst>
          </p:nvPr>
        </p:nvGraphicFramePr>
        <p:xfrm>
          <a:off x="6728575" y="2388362"/>
          <a:ext cx="797394" cy="432511"/>
        </p:xfrm>
        <a:graphic>
          <a:graphicData uri="http://schemas.openxmlformats.org/presentationml/2006/ole">
            <mc:AlternateContent xmlns:mc="http://schemas.openxmlformats.org/markup-compatibility/2006">
              <mc:Choice xmlns:v="urn:schemas-microsoft-com:vml" Requires="v">
                <p:oleObj name="Equation" r:id="rId3" imgW="899224" imgH="487778" progId="Equation.DSMT4">
                  <p:embed/>
                </p:oleObj>
              </mc:Choice>
              <mc:Fallback>
                <p:oleObj name="Equation" r:id="rId3" imgW="899224" imgH="487778" progId="Equation.DSMT4">
                  <p:embed/>
                  <p:pic>
                    <p:nvPicPr>
                      <p:cNvPr id="0" name=""/>
                      <p:cNvPicPr/>
                      <p:nvPr/>
                    </p:nvPicPr>
                    <p:blipFill>
                      <a:blip r:embed="rId4"/>
                      <a:stretch>
                        <a:fillRect/>
                      </a:stretch>
                    </p:blipFill>
                    <p:spPr>
                      <a:xfrm>
                        <a:off x="6728575" y="2388362"/>
                        <a:ext cx="797394" cy="432511"/>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D93432CC-2109-4745-9708-F3574D3568B2}"/>
              </a:ext>
            </a:extLst>
          </p:cNvPr>
          <p:cNvSpPr>
            <a:spLocks noGrp="1"/>
          </p:cNvSpPr>
          <p:nvPr>
            <p:ph sz="quarter" idx="15"/>
          </p:nvPr>
        </p:nvSpPr>
        <p:spPr>
          <a:xfrm>
            <a:off x="491066" y="2847180"/>
            <a:ext cx="4320000" cy="503999"/>
          </a:xfrm>
        </p:spPr>
        <p:txBody>
          <a:bodyPr/>
          <a:lstStyle/>
          <a:p>
            <a:pPr marL="255600" indent="0">
              <a:buNone/>
            </a:pPr>
            <a:r>
              <a:rPr lang="en-US" altLang="en-US" sz="2400" dirty="0"/>
              <a:t>from Figure 4.2 multiplied by</a:t>
            </a:r>
            <a:endParaRPr lang="en-US" sz="2400" dirty="0">
              <a:latin typeface="+mn-lt"/>
            </a:endParaRPr>
          </a:p>
        </p:txBody>
      </p:sp>
      <p:graphicFrame>
        <p:nvGraphicFramePr>
          <p:cNvPr id="10" name="Object 9" descr="P sub C ">
            <a:extLst>
              <a:ext uri="{FF2B5EF4-FFF2-40B4-BE49-F238E27FC236}">
                <a16:creationId xmlns:a16="http://schemas.microsoft.com/office/drawing/2014/main" id="{1FA008FD-E53E-4D95-8B61-51D9A333BD80}"/>
              </a:ext>
            </a:extLst>
          </p:cNvPr>
          <p:cNvGraphicFramePr>
            <a:graphicFrameLocks noChangeAspect="1"/>
          </p:cNvGraphicFramePr>
          <p:nvPr>
            <p:extLst>
              <p:ext uri="{D42A27DB-BD31-4B8C-83A1-F6EECF244321}">
                <p14:modId xmlns:p14="http://schemas.microsoft.com/office/powerpoint/2010/main" val="3243611427"/>
              </p:ext>
            </p:extLst>
          </p:nvPr>
        </p:nvGraphicFramePr>
        <p:xfrm>
          <a:off x="4964896" y="2945548"/>
          <a:ext cx="369381" cy="442613"/>
        </p:xfrm>
        <a:graphic>
          <a:graphicData uri="http://schemas.openxmlformats.org/presentationml/2006/ole">
            <mc:AlternateContent xmlns:mc="http://schemas.openxmlformats.org/markup-compatibility/2006">
              <mc:Choice xmlns:v="urn:schemas-microsoft-com:vml" Requires="v">
                <p:oleObj name="Equation" r:id="rId5" imgW="544068" imgH="652534" progId="Equation.DSMT4">
                  <p:embed/>
                </p:oleObj>
              </mc:Choice>
              <mc:Fallback>
                <p:oleObj name="Equation" r:id="rId5" imgW="544068" imgH="652534" progId="Equation.DSMT4">
                  <p:embed/>
                  <p:pic>
                    <p:nvPicPr>
                      <p:cNvPr id="0" name=""/>
                      <p:cNvPicPr/>
                      <p:nvPr/>
                    </p:nvPicPr>
                    <p:blipFill>
                      <a:blip r:embed="rId6"/>
                      <a:stretch>
                        <a:fillRect/>
                      </a:stretch>
                    </p:blipFill>
                    <p:spPr>
                      <a:xfrm>
                        <a:off x="4964896" y="2945548"/>
                        <a:ext cx="369381" cy="442613"/>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213A06DF-608B-4B43-A068-395AC58B0393}"/>
              </a:ext>
            </a:extLst>
          </p:cNvPr>
          <p:cNvSpPr>
            <a:spLocks noGrp="1"/>
          </p:cNvSpPr>
          <p:nvPr>
            <p:ph sz="quarter" idx="16"/>
          </p:nvPr>
        </p:nvSpPr>
        <p:spPr>
          <a:xfrm>
            <a:off x="457200" y="3552899"/>
            <a:ext cx="8229600" cy="1441364"/>
          </a:xfrm>
        </p:spPr>
        <p:txBody>
          <a:bodyPr/>
          <a:lstStyle/>
          <a:p>
            <a:pPr indent="-255600"/>
            <a:r>
              <a:rPr lang="en-US" altLang="en-US" sz="2400" dirty="0"/>
              <a:t>The demand for labor in the food sector is measured from the right.</a:t>
            </a:r>
          </a:p>
          <a:p>
            <a:pPr indent="-255600"/>
            <a:r>
              <a:rPr lang="en-US" altLang="en-US" sz="2400" dirty="0"/>
              <a:t>The horizontal axis represents the total labor supply </a:t>
            </a:r>
            <a:r>
              <a:rPr lang="en-US" altLang="en-US" sz="2400" i="1" dirty="0"/>
              <a:t>L</a:t>
            </a:r>
            <a:r>
              <a:rPr lang="en-US" altLang="en-US" sz="2400" dirty="0"/>
              <a:t>.</a:t>
            </a:r>
            <a:endParaRPr lang="en-IN" sz="2400" dirty="0"/>
          </a:p>
        </p:txBody>
      </p:sp>
    </p:spTree>
    <p:extLst>
      <p:ext uri="{BB962C8B-B14F-4D97-AF65-F5344CB8AC3E}">
        <p14:creationId xmlns:p14="http://schemas.microsoft.com/office/powerpoint/2010/main" val="2733271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(4 of 10)</a:t>
            </a:r>
            <a:endParaRPr lang="en-IN" sz="1800" dirty="0"/>
          </a:p>
        </p:txBody>
      </p:sp>
      <p:sp>
        <p:nvSpPr>
          <p:cNvPr id="4" name="Content Placeholder 3">
            <a:extLst>
              <a:ext uri="{FF2B5EF4-FFF2-40B4-BE49-F238E27FC236}">
                <a16:creationId xmlns:a16="http://schemas.microsoft.com/office/drawing/2014/main" id="{07F15DEE-E860-4244-AF78-8DC127718275}"/>
              </a:ext>
            </a:extLst>
          </p:cNvPr>
          <p:cNvSpPr>
            <a:spLocks noGrp="1"/>
          </p:cNvSpPr>
          <p:nvPr>
            <p:ph sz="quarter" idx="13"/>
          </p:nvPr>
        </p:nvSpPr>
        <p:spPr>
          <a:xfrm>
            <a:off x="457200" y="1556326"/>
            <a:ext cx="8229600" cy="4466101"/>
          </a:xfrm>
        </p:spPr>
        <p:txBody>
          <a:bodyPr/>
          <a:lstStyle/>
          <a:p>
            <a:r>
              <a:rPr lang="en-US" altLang="en-US" sz="2400" dirty="0"/>
              <a:t>The two sectors must pay the same wage because labor can move between sectors.</a:t>
            </a:r>
          </a:p>
          <a:p>
            <a:r>
              <a:rPr lang="en-US" altLang="en-US" sz="2400" dirty="0"/>
              <a:t>If the wage were higher in the cloth sector, workers would move from making food to making cloth until the wages become equal.</a:t>
            </a:r>
          </a:p>
          <a:p>
            <a:pPr lvl="1"/>
            <a:r>
              <a:rPr lang="en-US" altLang="en-US" sz="2400" dirty="0"/>
              <a:t>Or if the wage were higher in the food sector, workers would move in the other direction.</a:t>
            </a:r>
          </a:p>
          <a:p>
            <a:r>
              <a:rPr lang="en-US" altLang="en-US" sz="2400" dirty="0"/>
              <a:t>Where the labor demand curves intersect gives the equilibrium wage and allocation of labor between the two sectors.</a:t>
            </a:r>
            <a:endParaRPr lang="en-IN" dirty="0"/>
          </a:p>
        </p:txBody>
      </p:sp>
    </p:spTree>
    <p:extLst>
      <p:ext uri="{BB962C8B-B14F-4D97-AF65-F5344CB8AC3E}">
        <p14:creationId xmlns:p14="http://schemas.microsoft.com/office/powerpoint/2010/main" val="2897351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Figure 4.4 The Allocation of Labor</a:t>
            </a:r>
            <a:endParaRPr lang="en-IN" dirty="0"/>
          </a:p>
        </p:txBody>
      </p:sp>
      <p:pic>
        <p:nvPicPr>
          <p:cNvPr id="11" name="Content Placeholder 10" descr="A graph plots the value of labor’s marginal product, wage rate, versus total labor supply, L. For long description in Notes pane, press F6.">
            <a:extLst>
              <a:ext uri="{FF2B5EF4-FFF2-40B4-BE49-F238E27FC236}">
                <a16:creationId xmlns:a16="http://schemas.microsoft.com/office/drawing/2014/main" id="{16D75FC2-7B43-4F67-888C-DDDF19314399}"/>
              </a:ext>
            </a:extLst>
          </p:cNvPr>
          <p:cNvPicPr>
            <a:picLocks noGrp="1" noChangeAspect="1"/>
          </p:cNvPicPr>
          <p:nvPr>
            <p:ph sz="quarter" idx="13"/>
          </p:nvPr>
        </p:nvPicPr>
        <p:blipFill>
          <a:blip r:embed="rId3"/>
          <a:stretch>
            <a:fillRect/>
          </a:stretch>
        </p:blipFill>
        <p:spPr>
          <a:xfrm>
            <a:off x="2864278" y="1702412"/>
            <a:ext cx="3415444" cy="3346525"/>
          </a:xfrm>
        </p:spPr>
      </p:pic>
      <p:sp>
        <p:nvSpPr>
          <p:cNvPr id="5" name="Content Placeholder 4">
            <a:extLst>
              <a:ext uri="{FF2B5EF4-FFF2-40B4-BE49-F238E27FC236}">
                <a16:creationId xmlns:a16="http://schemas.microsoft.com/office/drawing/2014/main" id="{F2F630E4-72DC-47EE-8A9D-0327F268969B}"/>
              </a:ext>
            </a:extLst>
          </p:cNvPr>
          <p:cNvSpPr>
            <a:spLocks noGrp="1"/>
          </p:cNvSpPr>
          <p:nvPr>
            <p:ph sz="quarter" idx="14"/>
          </p:nvPr>
        </p:nvSpPr>
        <p:spPr>
          <a:xfrm>
            <a:off x="457199" y="5171712"/>
            <a:ext cx="6696000" cy="360000"/>
          </a:xfrm>
        </p:spPr>
        <p:txBody>
          <a:bodyPr tIns="0"/>
          <a:lstStyle/>
          <a:p>
            <a:pPr marL="432" indent="0">
              <a:buNone/>
            </a:pPr>
            <a:r>
              <a:rPr lang="en-US" sz="2000" dirty="0"/>
              <a:t>Labor is allocated so that the value of its marginal product</a:t>
            </a:r>
          </a:p>
        </p:txBody>
      </p:sp>
      <p:graphicFrame>
        <p:nvGraphicFramePr>
          <p:cNvPr id="9" name="Object 8" descr="left parenthesis P times M P L right parenthesis ">
            <a:extLst>
              <a:ext uri="{FF2B5EF4-FFF2-40B4-BE49-F238E27FC236}">
                <a16:creationId xmlns:a16="http://schemas.microsoft.com/office/drawing/2014/main" id="{D9342F50-EB11-4E28-9A38-64BF0AA4706A}"/>
              </a:ext>
            </a:extLst>
          </p:cNvPr>
          <p:cNvGraphicFramePr>
            <a:graphicFrameLocks noChangeAspect="1"/>
          </p:cNvGraphicFramePr>
          <p:nvPr>
            <p:extLst>
              <p:ext uri="{D42A27DB-BD31-4B8C-83A1-F6EECF244321}">
                <p14:modId xmlns:p14="http://schemas.microsoft.com/office/powerpoint/2010/main" val="1400487023"/>
              </p:ext>
            </p:extLst>
          </p:nvPr>
        </p:nvGraphicFramePr>
        <p:xfrm>
          <a:off x="7246314" y="5177484"/>
          <a:ext cx="1138256" cy="344632"/>
        </p:xfrm>
        <a:graphic>
          <a:graphicData uri="http://schemas.openxmlformats.org/presentationml/2006/ole">
            <mc:AlternateContent xmlns:mc="http://schemas.openxmlformats.org/markup-compatibility/2006">
              <mc:Choice xmlns:v="urn:schemas-microsoft-com:vml" Requires="v">
                <p:oleObj name="Equation" r:id="rId4" imgW="1746631" imgH="527435" progId="Equation.DSMT4">
                  <p:embed/>
                </p:oleObj>
              </mc:Choice>
              <mc:Fallback>
                <p:oleObj name="Equation" r:id="rId4" imgW="1746631" imgH="527435" progId="Equation.DSMT4">
                  <p:embed/>
                  <p:pic>
                    <p:nvPicPr>
                      <p:cNvPr id="0" name=""/>
                      <p:cNvPicPr/>
                      <p:nvPr/>
                    </p:nvPicPr>
                    <p:blipFill>
                      <a:blip r:embed="rId5"/>
                      <a:stretch>
                        <a:fillRect/>
                      </a:stretch>
                    </p:blipFill>
                    <p:spPr>
                      <a:xfrm>
                        <a:off x="7246314" y="5177484"/>
                        <a:ext cx="1138256" cy="344632"/>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DB1602D5-3B7F-497B-8434-1CCDD5140439}"/>
              </a:ext>
            </a:extLst>
          </p:cNvPr>
          <p:cNvSpPr>
            <a:spLocks noGrp="1"/>
          </p:cNvSpPr>
          <p:nvPr>
            <p:ph sz="quarter" idx="15"/>
          </p:nvPr>
        </p:nvSpPr>
        <p:spPr>
          <a:xfrm>
            <a:off x="457198" y="5626832"/>
            <a:ext cx="8229601" cy="674179"/>
          </a:xfrm>
        </p:spPr>
        <p:txBody>
          <a:bodyPr tIns="0"/>
          <a:lstStyle/>
          <a:p>
            <a:pPr marL="0" indent="0">
              <a:buNone/>
            </a:pPr>
            <a:r>
              <a:rPr lang="en-US" sz="2000" dirty="0"/>
              <a:t>is the same in the cloth and food sectors. In equilibrium, the wage rate is equal to the value of labor’s marginal product.</a:t>
            </a:r>
            <a:endParaRPr lang="en-US" sz="2000" dirty="0">
              <a:latin typeface="+mn-lt"/>
            </a:endParaRPr>
          </a:p>
        </p:txBody>
      </p:sp>
    </p:spTree>
    <p:extLst>
      <p:ext uri="{BB962C8B-B14F-4D97-AF65-F5344CB8AC3E}">
        <p14:creationId xmlns:p14="http://schemas.microsoft.com/office/powerpoint/2010/main" val="1238829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(5 of 10)</a:t>
            </a:r>
            <a:endParaRPr lang="en-IN" sz="1800" dirty="0"/>
          </a:p>
        </p:txBody>
      </p:sp>
      <p:sp>
        <p:nvSpPr>
          <p:cNvPr id="4" name="Content Placeholder 3">
            <a:extLst>
              <a:ext uri="{FF2B5EF4-FFF2-40B4-BE49-F238E27FC236}">
                <a16:creationId xmlns:a16="http://schemas.microsoft.com/office/drawing/2014/main" id="{07F15DEE-E860-4244-AF78-8DC127718275}"/>
              </a:ext>
            </a:extLst>
          </p:cNvPr>
          <p:cNvSpPr>
            <a:spLocks noGrp="1"/>
          </p:cNvSpPr>
          <p:nvPr>
            <p:ph sz="quarter" idx="13"/>
          </p:nvPr>
        </p:nvSpPr>
        <p:spPr>
          <a:xfrm>
            <a:off x="457200" y="1556327"/>
            <a:ext cx="8119241" cy="1872674"/>
          </a:xfrm>
        </p:spPr>
        <p:txBody>
          <a:bodyPr/>
          <a:lstStyle/>
          <a:p>
            <a:r>
              <a:rPr lang="en-US" altLang="en-US" sz="2400" dirty="0"/>
              <a:t>At the production point, the production possibility frontier must be tangent to a line whose slope is minus the price of cloth divided by that of food.</a:t>
            </a:r>
          </a:p>
          <a:p>
            <a:r>
              <a:rPr lang="en-US" altLang="en-US" sz="2400" dirty="0"/>
              <a:t>Relationship between relative prices and output:</a:t>
            </a:r>
          </a:p>
        </p:txBody>
      </p:sp>
      <p:graphicFrame>
        <p:nvGraphicFramePr>
          <p:cNvPr id="2" name="Object 1" descr="negative start fraction M P L sub F over M P L sub C end fraction = negative start fraction P sub C over P sub F end fraction">
            <a:extLst>
              <a:ext uri="{FF2B5EF4-FFF2-40B4-BE49-F238E27FC236}">
                <a16:creationId xmlns:a16="http://schemas.microsoft.com/office/drawing/2014/main" id="{9AFA0AD3-C91A-4361-92A1-5F60EBEC2E59}"/>
              </a:ext>
            </a:extLst>
          </p:cNvPr>
          <p:cNvGraphicFramePr>
            <a:graphicFrameLocks noChangeAspect="1"/>
          </p:cNvGraphicFramePr>
          <p:nvPr>
            <p:extLst>
              <p:ext uri="{D42A27DB-BD31-4B8C-83A1-F6EECF244321}">
                <p14:modId xmlns:p14="http://schemas.microsoft.com/office/powerpoint/2010/main" val="718855448"/>
              </p:ext>
            </p:extLst>
          </p:nvPr>
        </p:nvGraphicFramePr>
        <p:xfrm>
          <a:off x="3569494" y="3810275"/>
          <a:ext cx="2005013" cy="842963"/>
        </p:xfrm>
        <a:graphic>
          <a:graphicData uri="http://schemas.openxmlformats.org/presentationml/2006/ole">
            <mc:AlternateContent xmlns:mc="http://schemas.openxmlformats.org/markup-compatibility/2006">
              <mc:Choice xmlns:v="urn:schemas-microsoft-com:vml" Requires="v">
                <p:oleObj name="Equation" r:id="rId3" imgW="2004272" imgH="842887" progId="Equation.DSMT4">
                  <p:embed/>
                </p:oleObj>
              </mc:Choice>
              <mc:Fallback>
                <p:oleObj name="Equation" r:id="rId3" imgW="2004272" imgH="842887" progId="Equation.DSMT4">
                  <p:embed/>
                  <p:pic>
                    <p:nvPicPr>
                      <p:cNvPr id="0" name=""/>
                      <p:cNvPicPr/>
                      <p:nvPr/>
                    </p:nvPicPr>
                    <p:blipFill>
                      <a:blip r:embed="rId4"/>
                      <a:stretch>
                        <a:fillRect/>
                      </a:stretch>
                    </p:blipFill>
                    <p:spPr>
                      <a:xfrm>
                        <a:off x="3569494" y="3810275"/>
                        <a:ext cx="2005013" cy="842963"/>
                      </a:xfrm>
                      <a:prstGeom prst="rect">
                        <a:avLst/>
                      </a:prstGeom>
                    </p:spPr>
                  </p:pic>
                </p:oleObj>
              </mc:Fallback>
            </mc:AlternateContent>
          </a:graphicData>
        </a:graphic>
      </p:graphicFrame>
    </p:spTree>
    <p:extLst>
      <p:ext uri="{BB962C8B-B14F-4D97-AF65-F5344CB8AC3E}">
        <p14:creationId xmlns:p14="http://schemas.microsoft.com/office/powerpoint/2010/main" val="611322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4.5 Production in the Specific Factors Model</a:t>
            </a:r>
            <a:endParaRPr lang="en-IN" sz="3200" dirty="0"/>
          </a:p>
        </p:txBody>
      </p:sp>
      <p:pic>
        <p:nvPicPr>
          <p:cNvPr id="10" name="Content Placeholder 9" descr="A graph of the production possibility frontier plots the output of food, Q sub F, versus the output of cloth, Q sub C. For long description in Notes pane, press F6.">
            <a:extLst>
              <a:ext uri="{FF2B5EF4-FFF2-40B4-BE49-F238E27FC236}">
                <a16:creationId xmlns:a16="http://schemas.microsoft.com/office/drawing/2014/main" id="{4BF05B26-4C94-4442-AF70-5D9E280136D2}"/>
              </a:ext>
            </a:extLst>
          </p:cNvPr>
          <p:cNvPicPr>
            <a:picLocks noGrp="1" noChangeAspect="1"/>
          </p:cNvPicPr>
          <p:nvPr>
            <p:ph sz="quarter" idx="13"/>
          </p:nvPr>
        </p:nvPicPr>
        <p:blipFill>
          <a:blip r:embed="rId3"/>
          <a:stretch>
            <a:fillRect/>
          </a:stretch>
        </p:blipFill>
        <p:spPr>
          <a:xfrm>
            <a:off x="2983912" y="1735583"/>
            <a:ext cx="3176176" cy="3176176"/>
          </a:xfrm>
        </p:spPr>
      </p:pic>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5015229"/>
            <a:ext cx="8229600" cy="1283709"/>
          </a:xfrm>
        </p:spPr>
        <p:txBody>
          <a:bodyPr/>
          <a:lstStyle/>
          <a:p>
            <a:pPr marL="432" indent="0">
              <a:buNone/>
            </a:pPr>
            <a:r>
              <a:rPr lang="en-US" sz="2400" dirty="0"/>
              <a:t>The economy produces at the point on its production possibility frontier (</a:t>
            </a:r>
            <a:r>
              <a:rPr lang="en-US" sz="2400" i="1" dirty="0"/>
              <a:t>P</a:t>
            </a:r>
            <a:r>
              <a:rPr lang="en-US" sz="100" i="1" dirty="0"/>
              <a:t> </a:t>
            </a:r>
            <a:r>
              <a:rPr lang="en-US" sz="2400" i="1" dirty="0"/>
              <a:t>P</a:t>
            </a:r>
            <a:r>
              <a:rPr lang="en-US" sz="2400" dirty="0"/>
              <a:t>) where the slope of that frontier equals minus the relative price of cloth.</a:t>
            </a:r>
            <a:endParaRPr lang="en-US" dirty="0"/>
          </a:p>
        </p:txBody>
      </p:sp>
    </p:spTree>
    <p:extLst>
      <p:ext uri="{BB962C8B-B14F-4D97-AF65-F5344CB8AC3E}">
        <p14:creationId xmlns:p14="http://schemas.microsoft.com/office/powerpoint/2010/main" val="2032134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(6 of 10)</a:t>
            </a:r>
            <a:endParaRPr lang="en-IN" sz="32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3"/>
          </p:nvPr>
        </p:nvSpPr>
        <p:spPr>
          <a:xfrm>
            <a:off x="457200" y="1556327"/>
            <a:ext cx="8427156" cy="1435229"/>
          </a:xfrm>
        </p:spPr>
        <p:txBody>
          <a:bodyPr/>
          <a:lstStyle/>
          <a:p>
            <a:pPr marL="255600" indent="-255600"/>
            <a:r>
              <a:rPr lang="en-US" altLang="en-US" sz="2400" dirty="0"/>
              <a:t>What happens to the allocation of labor and the distribution of income when the prices of food and cloth change?</a:t>
            </a:r>
          </a:p>
          <a:p>
            <a:pPr marL="255600" indent="-255600"/>
            <a:r>
              <a:rPr lang="en-US" altLang="en-US" sz="2400" dirty="0"/>
              <a:t>Two cases:</a:t>
            </a:r>
            <a:endParaRPr lang="en-IN" sz="2400" dirty="0"/>
          </a:p>
        </p:txBody>
      </p:sp>
      <p:sp>
        <p:nvSpPr>
          <p:cNvPr id="2" name="Content Placeholder 1">
            <a:extLst>
              <a:ext uri="{FF2B5EF4-FFF2-40B4-BE49-F238E27FC236}">
                <a16:creationId xmlns:a16="http://schemas.microsoft.com/office/drawing/2014/main" id="{A8C1AAC8-9485-48F7-B3C4-81380CC65A82}"/>
              </a:ext>
            </a:extLst>
          </p:cNvPr>
          <p:cNvSpPr>
            <a:spLocks noGrp="1"/>
          </p:cNvSpPr>
          <p:nvPr>
            <p:ph sz="quarter" idx="14"/>
          </p:nvPr>
        </p:nvSpPr>
        <p:spPr>
          <a:xfrm>
            <a:off x="457200" y="3094708"/>
            <a:ext cx="8229600" cy="1097280"/>
          </a:xfrm>
        </p:spPr>
        <p:txBody>
          <a:bodyPr/>
          <a:lstStyle/>
          <a:p>
            <a:pPr marL="741600" lvl="1" indent="-429768">
              <a:buFont typeface="Times" pitchFamily="-1" charset="0"/>
              <a:buAutoNum type="arabicPeriod"/>
            </a:pPr>
            <a:r>
              <a:rPr lang="en-US" altLang="en-US" dirty="0"/>
              <a:t>An equal proportional change in prices</a:t>
            </a:r>
          </a:p>
          <a:p>
            <a:pPr marL="741600" lvl="1" indent="-429768">
              <a:buFont typeface="Times" pitchFamily="-1" charset="0"/>
              <a:buAutoNum type="arabicPeriod"/>
            </a:pPr>
            <a:r>
              <a:rPr lang="en-US" altLang="en-US" sz="2400" dirty="0"/>
              <a:t>A change in relative prices</a:t>
            </a:r>
            <a:endParaRPr lang="en-US" dirty="0"/>
          </a:p>
        </p:txBody>
      </p:sp>
    </p:spTree>
    <p:extLst>
      <p:ext uri="{BB962C8B-B14F-4D97-AF65-F5344CB8AC3E}">
        <p14:creationId xmlns:p14="http://schemas.microsoft.com/office/powerpoint/2010/main" val="28444266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(7 of 10)</a:t>
            </a:r>
            <a:endParaRPr lang="en-IN" sz="32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1547968"/>
            <a:ext cx="8229600" cy="3068690"/>
          </a:xfrm>
        </p:spPr>
        <p:txBody>
          <a:bodyPr/>
          <a:lstStyle/>
          <a:p>
            <a:r>
              <a:rPr lang="en-US" altLang="en-US" sz="2400" dirty="0"/>
              <a:t>When both prices change in the same proportion, no real changes occur.</a:t>
            </a:r>
          </a:p>
          <a:p>
            <a:pPr lvl="1"/>
            <a:r>
              <a:rPr lang="en-US" altLang="en-US" sz="2400" dirty="0"/>
              <a:t>The wage rate (</a:t>
            </a:r>
            <a:r>
              <a:rPr lang="en-US" altLang="en-US" sz="2400" i="1" dirty="0"/>
              <a:t>w</a:t>
            </a:r>
            <a:r>
              <a:rPr lang="en-US" altLang="en-US" sz="2400" dirty="0"/>
              <a:t>) rises in the same proportion as the prices, so real wages (i.e., the ratios of the wage rate to the prices of goods) are unaffected. </a:t>
            </a:r>
          </a:p>
          <a:p>
            <a:pPr lvl="1"/>
            <a:r>
              <a:rPr lang="en-US" altLang="en-US" sz="2400" dirty="0"/>
              <a:t>The real incomes of capital owners and landowners also remain the same.</a:t>
            </a:r>
            <a:endParaRPr lang="en-IN" sz="2400" dirty="0"/>
          </a:p>
        </p:txBody>
      </p:sp>
    </p:spTree>
    <p:extLst>
      <p:ext uri="{BB962C8B-B14F-4D97-AF65-F5344CB8AC3E}">
        <p14:creationId xmlns:p14="http://schemas.microsoft.com/office/powerpoint/2010/main" val="565173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4.6 An Equal-Proportional Increase in the Prices of Cloth and Food</a:t>
            </a:r>
            <a:endParaRPr lang="en-IN" sz="3200" dirty="0"/>
          </a:p>
        </p:txBody>
      </p:sp>
      <p:pic>
        <p:nvPicPr>
          <p:cNvPr id="17" name="Content Placeholder 16" descr="The labor demand curves for both cloth and food are plotted at two different wage rates. For long description in Notes pane, press F6.">
            <a:extLst>
              <a:ext uri="{FF2B5EF4-FFF2-40B4-BE49-F238E27FC236}">
                <a16:creationId xmlns:a16="http://schemas.microsoft.com/office/drawing/2014/main" id="{86421E3A-F1AB-4610-B9C9-16E328E3D0D8}"/>
              </a:ext>
            </a:extLst>
          </p:cNvPr>
          <p:cNvPicPr>
            <a:picLocks noGrp="1" noChangeAspect="1"/>
          </p:cNvPicPr>
          <p:nvPr>
            <p:ph sz="quarter" idx="13"/>
          </p:nvPr>
        </p:nvPicPr>
        <p:blipFill>
          <a:blip r:embed="rId3"/>
          <a:stretch>
            <a:fillRect/>
          </a:stretch>
        </p:blipFill>
        <p:spPr>
          <a:xfrm>
            <a:off x="3075034" y="1604288"/>
            <a:ext cx="2993933" cy="2858529"/>
          </a:xfrm>
        </p:spPr>
      </p:pic>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70833" y="4566736"/>
            <a:ext cx="8229600" cy="348164"/>
          </a:xfrm>
        </p:spPr>
        <p:txBody>
          <a:bodyPr tIns="0"/>
          <a:lstStyle/>
          <a:p>
            <a:pPr marL="432" indent="0">
              <a:buNone/>
            </a:pPr>
            <a:r>
              <a:rPr lang="en-US" sz="2000" dirty="0"/>
              <a:t>The labor demand curves in cloth and food both shift up in proportion to</a:t>
            </a:r>
            <a:endParaRPr lang="en-IN" sz="2000" dirty="0"/>
          </a:p>
        </p:txBody>
      </p:sp>
      <p:sp>
        <p:nvSpPr>
          <p:cNvPr id="3" name="Content Placeholder 2">
            <a:extLst>
              <a:ext uri="{FF2B5EF4-FFF2-40B4-BE49-F238E27FC236}">
                <a16:creationId xmlns:a16="http://schemas.microsoft.com/office/drawing/2014/main" id="{41AB0322-6399-4917-879F-C71C17239E1C}"/>
              </a:ext>
            </a:extLst>
          </p:cNvPr>
          <p:cNvSpPr>
            <a:spLocks noGrp="1"/>
          </p:cNvSpPr>
          <p:nvPr>
            <p:ph sz="quarter" idx="15"/>
          </p:nvPr>
        </p:nvSpPr>
        <p:spPr>
          <a:xfrm>
            <a:off x="457199" y="4970230"/>
            <a:ext cx="1332000" cy="432000"/>
          </a:xfrm>
        </p:spPr>
        <p:txBody>
          <a:bodyPr/>
          <a:lstStyle/>
          <a:p>
            <a:pPr marL="0" indent="0">
              <a:buNone/>
            </a:pPr>
            <a:r>
              <a:rPr lang="en-US" sz="2000" dirty="0">
                <a:latin typeface="+mn-lt"/>
              </a:rPr>
              <a:t>the rise in</a:t>
            </a:r>
          </a:p>
        </p:txBody>
      </p:sp>
      <p:graphicFrame>
        <p:nvGraphicFramePr>
          <p:cNvPr id="15" name="Object 14" descr="P sub C from P to the first power sub C to P squared sub C ">
            <a:extLst>
              <a:ext uri="{FF2B5EF4-FFF2-40B4-BE49-F238E27FC236}">
                <a16:creationId xmlns:a16="http://schemas.microsoft.com/office/drawing/2014/main" id="{63EB5D65-226F-492E-99D5-2BDAD43DC0DE}"/>
              </a:ext>
            </a:extLst>
          </p:cNvPr>
          <p:cNvGraphicFramePr>
            <a:graphicFrameLocks noChangeAspect="1"/>
          </p:cNvGraphicFramePr>
          <p:nvPr>
            <p:extLst>
              <p:ext uri="{D42A27DB-BD31-4B8C-83A1-F6EECF244321}">
                <p14:modId xmlns:p14="http://schemas.microsoft.com/office/powerpoint/2010/main" val="616369340"/>
              </p:ext>
            </p:extLst>
          </p:nvPr>
        </p:nvGraphicFramePr>
        <p:xfrm>
          <a:off x="1878761" y="5035541"/>
          <a:ext cx="2015792" cy="394361"/>
        </p:xfrm>
        <a:graphic>
          <a:graphicData uri="http://schemas.openxmlformats.org/presentationml/2006/ole">
            <mc:AlternateContent xmlns:mc="http://schemas.openxmlformats.org/markup-compatibility/2006">
              <mc:Choice xmlns:v="urn:schemas-microsoft-com:vml" Requires="v">
                <p:oleObj name="Equation" r:id="rId4" imgW="2182389" imgH="426851" progId="Equation.DSMT4">
                  <p:embed/>
                </p:oleObj>
              </mc:Choice>
              <mc:Fallback>
                <p:oleObj name="Equation" r:id="rId4" imgW="2182389" imgH="426851" progId="Equation.DSMT4">
                  <p:embed/>
                  <p:pic>
                    <p:nvPicPr>
                      <p:cNvPr id="14" name="Object 13">
                        <a:extLst>
                          <a:ext uri="{FF2B5EF4-FFF2-40B4-BE49-F238E27FC236}">
                            <a16:creationId xmlns:a16="http://schemas.microsoft.com/office/drawing/2014/main" id="{473EF8C8-67A8-4DA6-8739-70B5725A4AB8}"/>
                          </a:ext>
                        </a:extLst>
                      </p:cNvPr>
                      <p:cNvPicPr/>
                      <p:nvPr/>
                    </p:nvPicPr>
                    <p:blipFill>
                      <a:blip r:embed="rId5"/>
                      <a:stretch>
                        <a:fillRect/>
                      </a:stretch>
                    </p:blipFill>
                    <p:spPr>
                      <a:xfrm>
                        <a:off x="1878761" y="5035541"/>
                        <a:ext cx="2015792" cy="394361"/>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721AE04-1AE3-4F85-AFB8-5D6EBABFA85D}"/>
              </a:ext>
            </a:extLst>
          </p:cNvPr>
          <p:cNvSpPr>
            <a:spLocks noGrp="1"/>
          </p:cNvSpPr>
          <p:nvPr>
            <p:ph sz="quarter" idx="16"/>
          </p:nvPr>
        </p:nvSpPr>
        <p:spPr>
          <a:xfrm>
            <a:off x="4026019" y="5051336"/>
            <a:ext cx="1800000" cy="358864"/>
          </a:xfrm>
        </p:spPr>
        <p:txBody>
          <a:bodyPr tIns="0"/>
          <a:lstStyle/>
          <a:p>
            <a:pPr marL="0" indent="0">
              <a:buNone/>
            </a:pPr>
            <a:r>
              <a:rPr lang="en-US" sz="2000" dirty="0">
                <a:latin typeface="+mn-lt"/>
              </a:rPr>
              <a:t>and the rise in</a:t>
            </a:r>
          </a:p>
        </p:txBody>
      </p:sp>
      <p:graphicFrame>
        <p:nvGraphicFramePr>
          <p:cNvPr id="14" name="Object 13" descr="P sub F from P to the first power sub F to P squared sub F.">
            <a:extLst>
              <a:ext uri="{FF2B5EF4-FFF2-40B4-BE49-F238E27FC236}">
                <a16:creationId xmlns:a16="http://schemas.microsoft.com/office/drawing/2014/main" id="{473EF8C8-67A8-4DA6-8739-70B5725A4AB8}"/>
              </a:ext>
            </a:extLst>
          </p:cNvPr>
          <p:cNvGraphicFramePr>
            <a:graphicFrameLocks noChangeAspect="1"/>
          </p:cNvGraphicFramePr>
          <p:nvPr>
            <p:extLst>
              <p:ext uri="{D42A27DB-BD31-4B8C-83A1-F6EECF244321}">
                <p14:modId xmlns:p14="http://schemas.microsoft.com/office/powerpoint/2010/main" val="2541331271"/>
              </p:ext>
            </p:extLst>
          </p:nvPr>
        </p:nvGraphicFramePr>
        <p:xfrm>
          <a:off x="5931501" y="5048943"/>
          <a:ext cx="1859407" cy="353287"/>
        </p:xfrm>
        <a:graphic>
          <a:graphicData uri="http://schemas.openxmlformats.org/presentationml/2006/ole">
            <mc:AlternateContent xmlns:mc="http://schemas.openxmlformats.org/markup-compatibility/2006">
              <mc:Choice xmlns:v="urn:schemas-microsoft-com:vml" Requires="v">
                <p:oleObj name="Equation" r:id="rId6" imgW="1269720" imgH="241200" progId="Equation.DSMT4">
                  <p:embed/>
                </p:oleObj>
              </mc:Choice>
              <mc:Fallback>
                <p:oleObj name="Equation" r:id="rId6" imgW="1269720" imgH="241200" progId="Equation.DSMT4">
                  <p:embed/>
                  <p:pic>
                    <p:nvPicPr>
                      <p:cNvPr id="0" name=""/>
                      <p:cNvPicPr/>
                      <p:nvPr/>
                    </p:nvPicPr>
                    <p:blipFill>
                      <a:blip r:embed="rId7"/>
                      <a:stretch>
                        <a:fillRect/>
                      </a:stretch>
                    </p:blipFill>
                    <p:spPr>
                      <a:xfrm>
                        <a:off x="5931501" y="5048943"/>
                        <a:ext cx="1859407" cy="353287"/>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57F61FF-918B-4D4E-9F92-2B3B13C22EA6}"/>
              </a:ext>
            </a:extLst>
          </p:cNvPr>
          <p:cNvSpPr>
            <a:spLocks noGrp="1"/>
          </p:cNvSpPr>
          <p:nvPr>
            <p:ph sz="quarter" idx="17"/>
          </p:nvPr>
        </p:nvSpPr>
        <p:spPr>
          <a:xfrm>
            <a:off x="457198" y="5515395"/>
            <a:ext cx="5676901" cy="360000"/>
          </a:xfrm>
        </p:spPr>
        <p:txBody>
          <a:bodyPr tIns="0"/>
          <a:lstStyle/>
          <a:p>
            <a:pPr marL="0" indent="0">
              <a:buNone/>
            </a:pPr>
            <a:r>
              <a:rPr lang="en-US" sz="2000" dirty="0">
                <a:latin typeface="+mn-lt"/>
              </a:rPr>
              <a:t>The wage rate rises in the same proportion, from</a:t>
            </a:r>
            <a:endParaRPr lang="en-IN" sz="2000" dirty="0">
              <a:latin typeface="+mn-lt"/>
            </a:endParaRPr>
          </a:p>
        </p:txBody>
      </p:sp>
      <p:graphicFrame>
        <p:nvGraphicFramePr>
          <p:cNvPr id="13" name="Object 12" descr="W to the first power to W squared ">
            <a:extLst>
              <a:ext uri="{FF2B5EF4-FFF2-40B4-BE49-F238E27FC236}">
                <a16:creationId xmlns:a16="http://schemas.microsoft.com/office/drawing/2014/main" id="{21F42683-4CCB-4704-86F6-E4B04D724208}"/>
              </a:ext>
            </a:extLst>
          </p:cNvPr>
          <p:cNvGraphicFramePr>
            <a:graphicFrameLocks noChangeAspect="1"/>
          </p:cNvGraphicFramePr>
          <p:nvPr>
            <p:extLst>
              <p:ext uri="{D42A27DB-BD31-4B8C-83A1-F6EECF244321}">
                <p14:modId xmlns:p14="http://schemas.microsoft.com/office/powerpoint/2010/main" val="3437724861"/>
              </p:ext>
            </p:extLst>
          </p:nvPr>
        </p:nvGraphicFramePr>
        <p:xfrm>
          <a:off x="6239311" y="5490220"/>
          <a:ext cx="1086589" cy="399712"/>
        </p:xfrm>
        <a:graphic>
          <a:graphicData uri="http://schemas.openxmlformats.org/presentationml/2006/ole">
            <mc:AlternateContent xmlns:mc="http://schemas.openxmlformats.org/markup-compatibility/2006">
              <mc:Choice xmlns:v="urn:schemas-microsoft-com:vml" Requires="v">
                <p:oleObj name="Equation" r:id="rId8" imgW="1333542" imgH="491023" progId="Equation.DSMT4">
                  <p:embed/>
                </p:oleObj>
              </mc:Choice>
              <mc:Fallback>
                <p:oleObj name="Equation" r:id="rId8" imgW="1333542" imgH="491023" progId="Equation.DSMT4">
                  <p:embed/>
                  <p:pic>
                    <p:nvPicPr>
                      <p:cNvPr id="0" name=""/>
                      <p:cNvPicPr/>
                      <p:nvPr/>
                    </p:nvPicPr>
                    <p:blipFill>
                      <a:blip r:embed="rId9"/>
                      <a:stretch>
                        <a:fillRect/>
                      </a:stretch>
                    </p:blipFill>
                    <p:spPr>
                      <a:xfrm>
                        <a:off x="6239311" y="5490220"/>
                        <a:ext cx="1086589" cy="399712"/>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11B2677B-E12B-4CC8-A0C2-D499D75C7F09}"/>
              </a:ext>
            </a:extLst>
          </p:cNvPr>
          <p:cNvSpPr>
            <a:spLocks noGrp="1"/>
          </p:cNvSpPr>
          <p:nvPr>
            <p:ph sz="quarter" idx="18"/>
          </p:nvPr>
        </p:nvSpPr>
        <p:spPr>
          <a:xfrm>
            <a:off x="457200" y="5955864"/>
            <a:ext cx="8100000" cy="360000"/>
          </a:xfrm>
        </p:spPr>
        <p:txBody>
          <a:bodyPr tIns="0"/>
          <a:lstStyle/>
          <a:p>
            <a:pPr marL="0" indent="0">
              <a:buNone/>
            </a:pPr>
            <a:r>
              <a:rPr lang="en-US" sz="2000" dirty="0">
                <a:latin typeface="+mn-lt"/>
              </a:rPr>
              <a:t>but the allocation of labor between the two sectors does not change.</a:t>
            </a:r>
          </a:p>
        </p:txBody>
      </p:sp>
    </p:spTree>
    <p:extLst>
      <p:ext uri="{BB962C8B-B14F-4D97-AF65-F5344CB8AC3E}">
        <p14:creationId xmlns:p14="http://schemas.microsoft.com/office/powerpoint/2010/main" val="1958298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(8 of 10)</a:t>
            </a:r>
            <a:endParaRPr lang="en-IN" sz="3200" dirty="0"/>
          </a:p>
        </p:txBody>
      </p:sp>
      <p:sp>
        <p:nvSpPr>
          <p:cNvPr id="7" name="Content Placeholder 6">
            <a:extLst>
              <a:ext uri="{FF2B5EF4-FFF2-40B4-BE49-F238E27FC236}">
                <a16:creationId xmlns:a16="http://schemas.microsoft.com/office/drawing/2014/main" id="{034D47A9-799D-4C50-908F-4C85C69F044A}"/>
              </a:ext>
            </a:extLst>
          </p:cNvPr>
          <p:cNvSpPr>
            <a:spLocks noGrp="1"/>
          </p:cNvSpPr>
          <p:nvPr>
            <p:ph sz="quarter" idx="13"/>
          </p:nvPr>
        </p:nvSpPr>
        <p:spPr>
          <a:xfrm>
            <a:off x="457200" y="1574722"/>
            <a:ext cx="1919288" cy="504000"/>
          </a:xfrm>
        </p:spPr>
        <p:txBody>
          <a:bodyPr/>
          <a:lstStyle/>
          <a:p>
            <a:r>
              <a:rPr lang="en-US" altLang="en-US" sz="2400" dirty="0"/>
              <a:t>When only</a:t>
            </a:r>
            <a:endParaRPr lang="en-US" dirty="0"/>
          </a:p>
        </p:txBody>
      </p:sp>
      <p:graphicFrame>
        <p:nvGraphicFramePr>
          <p:cNvPr id="11" name="Object 10" descr="P sub C ">
            <a:extLst>
              <a:ext uri="{FF2B5EF4-FFF2-40B4-BE49-F238E27FC236}">
                <a16:creationId xmlns:a16="http://schemas.microsoft.com/office/drawing/2014/main" id="{FA3CD77D-C93F-4129-8997-BC5518F17BB9}"/>
              </a:ext>
            </a:extLst>
          </p:cNvPr>
          <p:cNvGraphicFramePr>
            <a:graphicFrameLocks noChangeAspect="1"/>
          </p:cNvGraphicFramePr>
          <p:nvPr>
            <p:extLst>
              <p:ext uri="{D42A27DB-BD31-4B8C-83A1-F6EECF244321}">
                <p14:modId xmlns:p14="http://schemas.microsoft.com/office/powerpoint/2010/main" val="2684220012"/>
              </p:ext>
            </p:extLst>
          </p:nvPr>
        </p:nvGraphicFramePr>
        <p:xfrm>
          <a:off x="2444150" y="1652832"/>
          <a:ext cx="384689" cy="461627"/>
        </p:xfrm>
        <a:graphic>
          <a:graphicData uri="http://schemas.openxmlformats.org/presentationml/2006/ole">
            <mc:AlternateContent xmlns:mc="http://schemas.openxmlformats.org/markup-compatibility/2006">
              <mc:Choice xmlns:v="urn:schemas-microsoft-com:vml" Requires="v">
                <p:oleObj name="Equation" r:id="rId3" imgW="190440" imgH="228600" progId="Equation.DSMT4">
                  <p:embed/>
                </p:oleObj>
              </mc:Choice>
              <mc:Fallback>
                <p:oleObj name="Equation" r:id="rId3" imgW="190440" imgH="228600" progId="Equation.DSMT4">
                  <p:embed/>
                  <p:pic>
                    <p:nvPicPr>
                      <p:cNvPr id="0" name=""/>
                      <p:cNvPicPr/>
                      <p:nvPr/>
                    </p:nvPicPr>
                    <p:blipFill>
                      <a:blip r:embed="rId4"/>
                      <a:stretch>
                        <a:fillRect/>
                      </a:stretch>
                    </p:blipFill>
                    <p:spPr>
                      <a:xfrm>
                        <a:off x="2444150" y="1652832"/>
                        <a:ext cx="384689" cy="461627"/>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2956430" y="1677574"/>
            <a:ext cx="5328248" cy="427037"/>
          </a:xfrm>
        </p:spPr>
        <p:txBody>
          <a:bodyPr tIns="0"/>
          <a:lstStyle/>
          <a:p>
            <a:pPr marL="432" indent="0">
              <a:buNone/>
            </a:pPr>
            <a:r>
              <a:rPr lang="en-US" altLang="en-US" dirty="0"/>
              <a:t>rises, labor shifts from the food sector</a:t>
            </a:r>
            <a:endParaRPr lang="en-IN" dirty="0"/>
          </a:p>
        </p:txBody>
      </p:sp>
      <p:sp>
        <p:nvSpPr>
          <p:cNvPr id="3" name="Content Placeholder 2">
            <a:extLst>
              <a:ext uri="{FF2B5EF4-FFF2-40B4-BE49-F238E27FC236}">
                <a16:creationId xmlns:a16="http://schemas.microsoft.com/office/drawing/2014/main" id="{41AB0322-6399-4917-879F-C71C17239E1C}"/>
              </a:ext>
            </a:extLst>
          </p:cNvPr>
          <p:cNvSpPr>
            <a:spLocks noGrp="1"/>
          </p:cNvSpPr>
          <p:nvPr>
            <p:ph sz="quarter" idx="15"/>
          </p:nvPr>
        </p:nvSpPr>
        <p:spPr>
          <a:xfrm>
            <a:off x="457200" y="2193256"/>
            <a:ext cx="8229603" cy="797594"/>
          </a:xfrm>
        </p:spPr>
        <p:txBody>
          <a:bodyPr tIns="0"/>
          <a:lstStyle/>
          <a:p>
            <a:pPr marL="255600" indent="0">
              <a:buNone/>
            </a:pPr>
            <a:r>
              <a:rPr lang="en-US" altLang="en-US" sz="2400" dirty="0">
                <a:latin typeface="+mn-lt"/>
              </a:rPr>
              <a:t>to the cloth sector and the output of cloth rises while that of food falls.</a:t>
            </a:r>
          </a:p>
        </p:txBody>
      </p:sp>
      <p:sp>
        <p:nvSpPr>
          <p:cNvPr id="4" name="Content Placeholder 3">
            <a:extLst>
              <a:ext uri="{FF2B5EF4-FFF2-40B4-BE49-F238E27FC236}">
                <a16:creationId xmlns:a16="http://schemas.microsoft.com/office/drawing/2014/main" id="{1721AE04-1AE3-4F85-AFB8-5D6EBABFA85D}"/>
              </a:ext>
            </a:extLst>
          </p:cNvPr>
          <p:cNvSpPr>
            <a:spLocks noGrp="1"/>
          </p:cNvSpPr>
          <p:nvPr>
            <p:ph sz="quarter" idx="16"/>
          </p:nvPr>
        </p:nvSpPr>
        <p:spPr>
          <a:xfrm>
            <a:off x="457200" y="3048208"/>
            <a:ext cx="6400802" cy="415942"/>
          </a:xfrm>
        </p:spPr>
        <p:txBody>
          <a:bodyPr tIns="0"/>
          <a:lstStyle/>
          <a:p>
            <a:pPr indent="-255600"/>
            <a:r>
              <a:rPr lang="en-US" altLang="en-US" sz="2400" dirty="0">
                <a:latin typeface="+mn-lt"/>
              </a:rPr>
              <a:t>The wage rate (</a:t>
            </a:r>
            <a:r>
              <a:rPr lang="en-US" altLang="en-US" sz="2400" i="1" dirty="0">
                <a:latin typeface="+mn-lt"/>
              </a:rPr>
              <a:t>w</a:t>
            </a:r>
            <a:r>
              <a:rPr lang="en-US" altLang="en-US" sz="2400" dirty="0">
                <a:latin typeface="+mn-lt"/>
              </a:rPr>
              <a:t>) does not rise as much as</a:t>
            </a:r>
          </a:p>
        </p:txBody>
      </p:sp>
      <p:graphicFrame>
        <p:nvGraphicFramePr>
          <p:cNvPr id="15" name="Object 14" descr="P sub C ">
            <a:extLst>
              <a:ext uri="{FF2B5EF4-FFF2-40B4-BE49-F238E27FC236}">
                <a16:creationId xmlns:a16="http://schemas.microsoft.com/office/drawing/2014/main" id="{63EB5D65-226F-492E-99D5-2BDAD43DC0DE}"/>
              </a:ext>
            </a:extLst>
          </p:cNvPr>
          <p:cNvGraphicFramePr>
            <a:graphicFrameLocks noChangeAspect="1"/>
          </p:cNvGraphicFramePr>
          <p:nvPr>
            <p:extLst>
              <p:ext uri="{D42A27DB-BD31-4B8C-83A1-F6EECF244321}">
                <p14:modId xmlns:p14="http://schemas.microsoft.com/office/powerpoint/2010/main" val="3418572262"/>
              </p:ext>
            </p:extLst>
          </p:nvPr>
        </p:nvGraphicFramePr>
        <p:xfrm>
          <a:off x="6972089" y="3044322"/>
          <a:ext cx="367555" cy="441066"/>
        </p:xfrm>
        <a:graphic>
          <a:graphicData uri="http://schemas.openxmlformats.org/presentationml/2006/ole">
            <mc:AlternateContent xmlns:mc="http://schemas.openxmlformats.org/markup-compatibility/2006">
              <mc:Choice xmlns:v="urn:schemas-microsoft-com:vml" Requires="v">
                <p:oleObj name="Equation" r:id="rId5" imgW="190440" imgH="228600" progId="Equation.DSMT4">
                  <p:embed/>
                </p:oleObj>
              </mc:Choice>
              <mc:Fallback>
                <p:oleObj name="Equation" r:id="rId5" imgW="190440" imgH="228600" progId="Equation.DSMT4">
                  <p:embed/>
                  <p:pic>
                    <p:nvPicPr>
                      <p:cNvPr id="15" name="Object 14">
                        <a:extLst>
                          <a:ext uri="{FF2B5EF4-FFF2-40B4-BE49-F238E27FC236}">
                            <a16:creationId xmlns:a16="http://schemas.microsoft.com/office/drawing/2014/main" id="{63EB5D65-226F-492E-99D5-2BDAD43DC0DE}"/>
                          </a:ext>
                        </a:extLst>
                      </p:cNvPr>
                      <p:cNvPicPr/>
                      <p:nvPr/>
                    </p:nvPicPr>
                    <p:blipFill>
                      <a:blip r:embed="rId6"/>
                      <a:stretch>
                        <a:fillRect/>
                      </a:stretch>
                    </p:blipFill>
                    <p:spPr>
                      <a:xfrm>
                        <a:off x="6972089" y="3044322"/>
                        <a:ext cx="367555" cy="441066"/>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57F61FF-918B-4D4E-9F92-2B3B13C22EA6}"/>
              </a:ext>
            </a:extLst>
          </p:cNvPr>
          <p:cNvSpPr>
            <a:spLocks noGrp="1"/>
          </p:cNvSpPr>
          <p:nvPr>
            <p:ph sz="quarter" idx="17"/>
          </p:nvPr>
        </p:nvSpPr>
        <p:spPr>
          <a:xfrm>
            <a:off x="7494292" y="3069240"/>
            <a:ext cx="938508" cy="391509"/>
          </a:xfrm>
        </p:spPr>
        <p:txBody>
          <a:bodyPr tIns="0"/>
          <a:lstStyle/>
          <a:p>
            <a:pPr marL="0" indent="0">
              <a:buNone/>
            </a:pPr>
            <a:r>
              <a:rPr lang="en-US" altLang="en-US" sz="2400" dirty="0">
                <a:latin typeface="+mn-lt"/>
              </a:rPr>
              <a:t>since</a:t>
            </a:r>
            <a:endParaRPr lang="en-IN" sz="2400" dirty="0">
              <a:latin typeface="+mn-lt"/>
            </a:endParaRPr>
          </a:p>
        </p:txBody>
      </p:sp>
      <p:sp>
        <p:nvSpPr>
          <p:cNvPr id="9" name="Content Placeholder 8">
            <a:extLst>
              <a:ext uri="{FF2B5EF4-FFF2-40B4-BE49-F238E27FC236}">
                <a16:creationId xmlns:a16="http://schemas.microsoft.com/office/drawing/2014/main" id="{11B2677B-E12B-4CC8-A0C2-D499D75C7F09}"/>
              </a:ext>
            </a:extLst>
          </p:cNvPr>
          <p:cNvSpPr>
            <a:spLocks noGrp="1"/>
          </p:cNvSpPr>
          <p:nvPr>
            <p:ph sz="quarter" idx="18"/>
          </p:nvPr>
        </p:nvSpPr>
        <p:spPr>
          <a:xfrm>
            <a:off x="457199" y="3557539"/>
            <a:ext cx="8229603" cy="808681"/>
          </a:xfrm>
        </p:spPr>
        <p:txBody>
          <a:bodyPr tIns="0"/>
          <a:lstStyle/>
          <a:p>
            <a:pPr marL="255600" indent="0">
              <a:buNone/>
            </a:pPr>
            <a:r>
              <a:rPr lang="en-US" altLang="en-US" sz="2400" dirty="0">
                <a:latin typeface="+mn-lt"/>
              </a:rPr>
              <a:t>cloth employment increases and thus the marginal product of labor in that sector falls.</a:t>
            </a:r>
            <a:endParaRPr lang="en-US" sz="2400" dirty="0">
              <a:latin typeface="+mn-lt"/>
            </a:endParaRPr>
          </a:p>
        </p:txBody>
      </p:sp>
    </p:spTree>
    <p:extLst>
      <p:ext uri="{BB962C8B-B14F-4D97-AF65-F5344CB8AC3E}">
        <p14:creationId xmlns:p14="http://schemas.microsoft.com/office/powerpoint/2010/main" val="70208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400" dirty="0"/>
              <a:t>Figure 4.7 A Rise in the Price of Cloth</a:t>
            </a:r>
            <a:endParaRPr lang="en-IN" sz="3400" dirty="0"/>
          </a:p>
        </p:txBody>
      </p:sp>
      <p:pic>
        <p:nvPicPr>
          <p:cNvPr id="13" name="Content Placeholder 12" descr="A graph plots wage rate, w, versus labor, which divides into 2 equal parts, labor used in cloth or L sub C, and labor used in food or L sub F. For long description in Notes pane, press F6.">
            <a:extLst>
              <a:ext uri="{FF2B5EF4-FFF2-40B4-BE49-F238E27FC236}">
                <a16:creationId xmlns:a16="http://schemas.microsoft.com/office/drawing/2014/main" id="{7EBB5D0F-4095-4D3E-B6ED-8337BD05ACF8}"/>
              </a:ext>
            </a:extLst>
          </p:cNvPr>
          <p:cNvPicPr>
            <a:picLocks noGrp="1" noChangeAspect="1"/>
          </p:cNvPicPr>
          <p:nvPr>
            <p:ph sz="quarter" idx="13"/>
          </p:nvPr>
        </p:nvPicPr>
        <p:blipFill>
          <a:blip r:embed="rId3"/>
          <a:stretch>
            <a:fillRect/>
          </a:stretch>
        </p:blipFill>
        <p:spPr>
          <a:xfrm>
            <a:off x="2102835" y="1662338"/>
            <a:ext cx="4952730" cy="2981328"/>
          </a:xfrm>
        </p:spPr>
      </p:pic>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4759507"/>
            <a:ext cx="8229600" cy="360000"/>
          </a:xfrm>
        </p:spPr>
        <p:txBody>
          <a:bodyPr tIns="0"/>
          <a:lstStyle/>
          <a:p>
            <a:pPr marL="432" indent="0">
              <a:buNone/>
            </a:pPr>
            <a:r>
              <a:rPr lang="en-US" sz="2000" dirty="0"/>
              <a:t>The cloth labor demand curve rises in proportion to the 7 percent</a:t>
            </a:r>
            <a:endParaRPr lang="en-IN" sz="2000" dirty="0"/>
          </a:p>
        </p:txBody>
      </p:sp>
      <p:sp>
        <p:nvSpPr>
          <p:cNvPr id="3" name="Content Placeholder 2">
            <a:extLst>
              <a:ext uri="{FF2B5EF4-FFF2-40B4-BE49-F238E27FC236}">
                <a16:creationId xmlns:a16="http://schemas.microsoft.com/office/drawing/2014/main" id="{0564DC74-5A29-4A35-B6DB-5CC6D93790CC}"/>
              </a:ext>
            </a:extLst>
          </p:cNvPr>
          <p:cNvSpPr>
            <a:spLocks noGrp="1"/>
          </p:cNvSpPr>
          <p:nvPr>
            <p:ph sz="quarter" idx="15"/>
          </p:nvPr>
        </p:nvSpPr>
        <p:spPr>
          <a:xfrm>
            <a:off x="457200" y="5213339"/>
            <a:ext cx="1440000" cy="360000"/>
          </a:xfrm>
        </p:spPr>
        <p:txBody>
          <a:bodyPr tIns="0"/>
          <a:lstStyle/>
          <a:p>
            <a:pPr marL="0" indent="0">
              <a:buNone/>
            </a:pPr>
            <a:r>
              <a:rPr lang="en-US" sz="2000" dirty="0">
                <a:latin typeface="+mn-lt"/>
              </a:rPr>
              <a:t>increase in</a:t>
            </a:r>
          </a:p>
        </p:txBody>
      </p:sp>
      <p:graphicFrame>
        <p:nvGraphicFramePr>
          <p:cNvPr id="9" name="Object 8" descr="P sub C,">
            <a:extLst>
              <a:ext uri="{FF2B5EF4-FFF2-40B4-BE49-F238E27FC236}">
                <a16:creationId xmlns:a16="http://schemas.microsoft.com/office/drawing/2014/main" id="{C553718A-FBAB-46DC-98E7-7B45F51535A0}"/>
              </a:ext>
            </a:extLst>
          </p:cNvPr>
          <p:cNvGraphicFramePr>
            <a:graphicFrameLocks noChangeAspect="1"/>
          </p:cNvGraphicFramePr>
          <p:nvPr>
            <p:extLst>
              <p:ext uri="{D42A27DB-BD31-4B8C-83A1-F6EECF244321}">
                <p14:modId xmlns:p14="http://schemas.microsoft.com/office/powerpoint/2010/main" val="2941917243"/>
              </p:ext>
            </p:extLst>
          </p:nvPr>
        </p:nvGraphicFramePr>
        <p:xfrm>
          <a:off x="2011363" y="5201173"/>
          <a:ext cx="422275" cy="398463"/>
        </p:xfrm>
        <a:graphic>
          <a:graphicData uri="http://schemas.openxmlformats.org/presentationml/2006/ole">
            <mc:AlternateContent xmlns:mc="http://schemas.openxmlformats.org/markup-compatibility/2006">
              <mc:Choice xmlns:v="urn:schemas-microsoft-com:vml" Requires="v">
                <p:oleObj name="Equation" r:id="rId4" imgW="241200" imgH="228600" progId="Equation.DSMT4">
                  <p:embed/>
                </p:oleObj>
              </mc:Choice>
              <mc:Fallback>
                <p:oleObj name="Equation" r:id="rId4" imgW="241200" imgH="228600" progId="Equation.DSMT4">
                  <p:embed/>
                  <p:pic>
                    <p:nvPicPr>
                      <p:cNvPr id="15" name="Object 14">
                        <a:extLst>
                          <a:ext uri="{FF2B5EF4-FFF2-40B4-BE49-F238E27FC236}">
                            <a16:creationId xmlns:a16="http://schemas.microsoft.com/office/drawing/2014/main" id="{63EB5D65-226F-492E-99D5-2BDAD43DC0DE}"/>
                          </a:ext>
                        </a:extLst>
                      </p:cNvPr>
                      <p:cNvPicPr/>
                      <p:nvPr/>
                    </p:nvPicPr>
                    <p:blipFill>
                      <a:blip r:embed="rId5"/>
                      <a:stretch>
                        <a:fillRect/>
                      </a:stretch>
                    </p:blipFill>
                    <p:spPr>
                      <a:xfrm>
                        <a:off x="2011363" y="5201173"/>
                        <a:ext cx="422275" cy="398463"/>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A3ABB66-4B72-403E-A91A-A6476F59DB87}"/>
              </a:ext>
            </a:extLst>
          </p:cNvPr>
          <p:cNvSpPr>
            <a:spLocks noGrp="1"/>
          </p:cNvSpPr>
          <p:nvPr>
            <p:ph sz="quarter" idx="16"/>
          </p:nvPr>
        </p:nvSpPr>
        <p:spPr>
          <a:xfrm>
            <a:off x="2546562" y="5233878"/>
            <a:ext cx="5652000" cy="339461"/>
          </a:xfrm>
        </p:spPr>
        <p:txBody>
          <a:bodyPr lIns="0" tIns="0"/>
          <a:lstStyle/>
          <a:p>
            <a:pPr marL="0" indent="0">
              <a:buNone/>
            </a:pPr>
            <a:r>
              <a:rPr lang="en-US" sz="2000" dirty="0">
                <a:latin typeface="+mn-lt"/>
              </a:rPr>
              <a:t>but the wage rate rises less than proportionately.</a:t>
            </a:r>
          </a:p>
        </p:txBody>
      </p:sp>
      <p:sp>
        <p:nvSpPr>
          <p:cNvPr id="8" name="Content Placeholder 7">
            <a:extLst>
              <a:ext uri="{FF2B5EF4-FFF2-40B4-BE49-F238E27FC236}">
                <a16:creationId xmlns:a16="http://schemas.microsoft.com/office/drawing/2014/main" id="{27FC5644-0EC5-412D-A7A0-B31E478B9672}"/>
              </a:ext>
            </a:extLst>
          </p:cNvPr>
          <p:cNvSpPr>
            <a:spLocks noGrp="1"/>
          </p:cNvSpPr>
          <p:nvPr>
            <p:ph sz="quarter" idx="17"/>
          </p:nvPr>
        </p:nvSpPr>
        <p:spPr>
          <a:xfrm>
            <a:off x="457200" y="5710637"/>
            <a:ext cx="7741362" cy="648000"/>
          </a:xfrm>
        </p:spPr>
        <p:txBody>
          <a:bodyPr lIns="90000" tIns="0"/>
          <a:lstStyle/>
          <a:p>
            <a:pPr marL="0" indent="0">
              <a:buNone/>
            </a:pPr>
            <a:r>
              <a:rPr lang="en-US" sz="2000" dirty="0">
                <a:latin typeface="+mn-lt"/>
              </a:rPr>
              <a:t>Labor moves from the food sector to the cloth sector. Output of cloth rises; output of food falls.</a:t>
            </a:r>
          </a:p>
        </p:txBody>
      </p:sp>
    </p:spTree>
    <p:extLst>
      <p:ext uri="{BB962C8B-B14F-4D97-AF65-F5344CB8AC3E}">
        <p14:creationId xmlns:p14="http://schemas.microsoft.com/office/powerpoint/2010/main" val="1677840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4.8 The Response of Output to a Change in the Relative Price of Cloth</a:t>
            </a:r>
            <a:endParaRPr lang="en-IN" sz="3400" dirty="0"/>
          </a:p>
        </p:txBody>
      </p:sp>
      <p:pic>
        <p:nvPicPr>
          <p:cNvPr id="11" name="Content Placeholder 10" descr="A graph plots output of food versus the output of cloth. For long description in Notes pane, press F6.">
            <a:extLst>
              <a:ext uri="{FF2B5EF4-FFF2-40B4-BE49-F238E27FC236}">
                <a16:creationId xmlns:a16="http://schemas.microsoft.com/office/drawing/2014/main" id="{E6ACB501-A1FA-4733-9F17-8B76218AAECF}"/>
              </a:ext>
            </a:extLst>
          </p:cNvPr>
          <p:cNvPicPr>
            <a:picLocks noGrp="1" noChangeAspect="1"/>
          </p:cNvPicPr>
          <p:nvPr>
            <p:ph sz="quarter" idx="13"/>
          </p:nvPr>
        </p:nvPicPr>
        <p:blipFill>
          <a:blip r:embed="rId3"/>
          <a:stretch>
            <a:fillRect/>
          </a:stretch>
        </p:blipFill>
        <p:spPr>
          <a:xfrm>
            <a:off x="3142419" y="1711644"/>
            <a:ext cx="2873449" cy="2609067"/>
          </a:xfrm>
        </p:spPr>
      </p:pic>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4444807"/>
            <a:ext cx="8244000" cy="647999"/>
          </a:xfrm>
        </p:spPr>
        <p:txBody>
          <a:bodyPr tIns="0"/>
          <a:lstStyle/>
          <a:p>
            <a:pPr marL="432" indent="0">
              <a:buNone/>
            </a:pPr>
            <a:r>
              <a:rPr lang="en-US" sz="2000" dirty="0"/>
              <a:t>The economy always produces at the point on its production possibility frontier (</a:t>
            </a:r>
            <a:r>
              <a:rPr lang="en-US" sz="2000" i="1" dirty="0"/>
              <a:t>P</a:t>
            </a:r>
            <a:r>
              <a:rPr lang="en-US" sz="100" i="1" dirty="0"/>
              <a:t> </a:t>
            </a:r>
            <a:r>
              <a:rPr lang="en-US" sz="2000" i="1" dirty="0"/>
              <a:t>P</a:t>
            </a:r>
            <a:r>
              <a:rPr lang="en-US" sz="2000" dirty="0"/>
              <a:t>) where the slope of </a:t>
            </a:r>
            <a:r>
              <a:rPr lang="en-US" sz="2000" i="1" dirty="0"/>
              <a:t>P</a:t>
            </a:r>
            <a:r>
              <a:rPr lang="en-US" sz="100" i="1" dirty="0"/>
              <a:t> </a:t>
            </a:r>
            <a:r>
              <a:rPr lang="en-US" sz="2000" i="1" dirty="0"/>
              <a:t>P </a:t>
            </a:r>
            <a:r>
              <a:rPr lang="en-US" sz="2000" dirty="0"/>
              <a:t>equals minus the relative price of</a:t>
            </a:r>
            <a:endParaRPr lang="en-IN" sz="2000" dirty="0"/>
          </a:p>
        </p:txBody>
      </p:sp>
      <p:sp>
        <p:nvSpPr>
          <p:cNvPr id="3" name="Content Placeholder 2">
            <a:extLst>
              <a:ext uri="{FF2B5EF4-FFF2-40B4-BE49-F238E27FC236}">
                <a16:creationId xmlns:a16="http://schemas.microsoft.com/office/drawing/2014/main" id="{0564DC74-5A29-4A35-B6DB-5CC6D93790CC}"/>
              </a:ext>
            </a:extLst>
          </p:cNvPr>
          <p:cNvSpPr>
            <a:spLocks noGrp="1"/>
          </p:cNvSpPr>
          <p:nvPr>
            <p:ph sz="quarter" idx="15"/>
          </p:nvPr>
        </p:nvSpPr>
        <p:spPr>
          <a:xfrm>
            <a:off x="457200" y="5169905"/>
            <a:ext cx="3174840" cy="360000"/>
          </a:xfrm>
        </p:spPr>
        <p:txBody>
          <a:bodyPr tIns="0"/>
          <a:lstStyle/>
          <a:p>
            <a:pPr marL="0" indent="0">
              <a:buNone/>
            </a:pPr>
            <a:r>
              <a:rPr lang="en-US" sz="2000" dirty="0">
                <a:latin typeface="+mn-lt"/>
              </a:rPr>
              <a:t>cloth. Thus, an increase in</a:t>
            </a:r>
          </a:p>
        </p:txBody>
      </p:sp>
      <p:graphicFrame>
        <p:nvGraphicFramePr>
          <p:cNvPr id="12" name="Object 11" descr="P sub C is greater than P sub F ">
            <a:extLst>
              <a:ext uri="{FF2B5EF4-FFF2-40B4-BE49-F238E27FC236}">
                <a16:creationId xmlns:a16="http://schemas.microsoft.com/office/drawing/2014/main" id="{3182025F-186B-4249-954E-CB48B77813C8}"/>
              </a:ext>
            </a:extLst>
          </p:cNvPr>
          <p:cNvGraphicFramePr>
            <a:graphicFrameLocks noChangeAspect="1"/>
          </p:cNvGraphicFramePr>
          <p:nvPr>
            <p:extLst>
              <p:ext uri="{D42A27DB-BD31-4B8C-83A1-F6EECF244321}">
                <p14:modId xmlns:p14="http://schemas.microsoft.com/office/powerpoint/2010/main" val="3766534054"/>
              </p:ext>
            </p:extLst>
          </p:nvPr>
        </p:nvGraphicFramePr>
        <p:xfrm>
          <a:off x="3722382" y="5184790"/>
          <a:ext cx="791891" cy="375703"/>
        </p:xfrm>
        <a:graphic>
          <a:graphicData uri="http://schemas.openxmlformats.org/presentationml/2006/ole">
            <mc:AlternateContent xmlns:mc="http://schemas.openxmlformats.org/markup-compatibility/2006">
              <mc:Choice xmlns:v="urn:schemas-microsoft-com:vml" Requires="v">
                <p:oleObj name="Equation" r:id="rId4" imgW="775801" imgH="368808" progId="Equation.DSMT4">
                  <p:embed/>
                </p:oleObj>
              </mc:Choice>
              <mc:Fallback>
                <p:oleObj name="Equation" r:id="rId4" imgW="775801" imgH="368808" progId="Equation.DSMT4">
                  <p:embed/>
                  <p:pic>
                    <p:nvPicPr>
                      <p:cNvPr id="0" name=""/>
                      <p:cNvPicPr/>
                      <p:nvPr/>
                    </p:nvPicPr>
                    <p:blipFill>
                      <a:blip r:embed="rId5"/>
                      <a:stretch>
                        <a:fillRect/>
                      </a:stretch>
                    </p:blipFill>
                    <p:spPr>
                      <a:xfrm>
                        <a:off x="3722382" y="5184790"/>
                        <a:ext cx="791891" cy="375703"/>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A3ABB66-4B72-403E-A91A-A6476F59DB87}"/>
              </a:ext>
            </a:extLst>
          </p:cNvPr>
          <p:cNvSpPr>
            <a:spLocks noGrp="1"/>
          </p:cNvSpPr>
          <p:nvPr>
            <p:ph sz="quarter" idx="16"/>
          </p:nvPr>
        </p:nvSpPr>
        <p:spPr>
          <a:xfrm>
            <a:off x="4623667" y="5176961"/>
            <a:ext cx="3825008" cy="351992"/>
          </a:xfrm>
        </p:spPr>
        <p:txBody>
          <a:bodyPr lIns="0" tIns="0"/>
          <a:lstStyle/>
          <a:p>
            <a:pPr marL="0" indent="0">
              <a:buNone/>
            </a:pPr>
            <a:r>
              <a:rPr lang="en-US" sz="2000" dirty="0">
                <a:latin typeface="+mn-lt"/>
              </a:rPr>
              <a:t>causes production to move down</a:t>
            </a:r>
            <a:endParaRPr lang="en-IN" sz="2000" dirty="0">
              <a:latin typeface="+mn-lt"/>
            </a:endParaRPr>
          </a:p>
        </p:txBody>
      </p:sp>
      <p:sp>
        <p:nvSpPr>
          <p:cNvPr id="8" name="Content Placeholder 7">
            <a:extLst>
              <a:ext uri="{FF2B5EF4-FFF2-40B4-BE49-F238E27FC236}">
                <a16:creationId xmlns:a16="http://schemas.microsoft.com/office/drawing/2014/main" id="{27FC5644-0EC5-412D-A7A0-B31E478B9672}"/>
              </a:ext>
            </a:extLst>
          </p:cNvPr>
          <p:cNvSpPr>
            <a:spLocks noGrp="1"/>
          </p:cNvSpPr>
          <p:nvPr>
            <p:ph sz="quarter" idx="17"/>
          </p:nvPr>
        </p:nvSpPr>
        <p:spPr>
          <a:xfrm>
            <a:off x="457200" y="5613337"/>
            <a:ext cx="8229600" cy="648000"/>
          </a:xfrm>
        </p:spPr>
        <p:txBody>
          <a:bodyPr lIns="90000" tIns="0"/>
          <a:lstStyle/>
          <a:p>
            <a:pPr marL="0" indent="0">
              <a:buNone/>
            </a:pPr>
            <a:r>
              <a:rPr lang="en-US" sz="2000" dirty="0">
                <a:latin typeface="+mn-lt"/>
              </a:rPr>
              <a:t>and to the right along the production possibility frontier corresponding to higher output of cloth and lower output of food.</a:t>
            </a:r>
            <a:endParaRPr lang="en-IN" sz="2000" dirty="0">
              <a:latin typeface="+mn-lt"/>
            </a:endParaRPr>
          </a:p>
        </p:txBody>
      </p:sp>
    </p:spTree>
    <p:extLst>
      <p:ext uri="{BB962C8B-B14F-4D97-AF65-F5344CB8AC3E}">
        <p14:creationId xmlns:p14="http://schemas.microsoft.com/office/powerpoint/2010/main" val="24852105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8516319" cy="1097279"/>
          </a:xfrm>
        </p:spPr>
        <p:txBody>
          <a:bodyPr/>
          <a:lstStyle/>
          <a:p>
            <a:r>
              <a:rPr lang="en-US" altLang="en-US" sz="3200" dirty="0"/>
              <a:t>Figure 4.9 Determination of Relative Prices</a:t>
            </a:r>
            <a:endParaRPr lang="en-IN" sz="3400" dirty="0"/>
          </a:p>
        </p:txBody>
      </p:sp>
      <p:pic>
        <p:nvPicPr>
          <p:cNvPr id="10" name="Content Placeholder 9" descr="The graph plots relative price of cloth to food, P sub C over P sub F, versus the relative quantity of cloth to food, Q sub C over Q sub F. For long description in Notes pane, press F6.">
            <a:extLst>
              <a:ext uri="{FF2B5EF4-FFF2-40B4-BE49-F238E27FC236}">
                <a16:creationId xmlns:a16="http://schemas.microsoft.com/office/drawing/2014/main" id="{A17614B4-E122-4951-9358-DDF899796532}"/>
              </a:ext>
            </a:extLst>
          </p:cNvPr>
          <p:cNvPicPr>
            <a:picLocks noGrp="1" noChangeAspect="1"/>
          </p:cNvPicPr>
          <p:nvPr>
            <p:ph sz="quarter" idx="13"/>
          </p:nvPr>
        </p:nvPicPr>
        <p:blipFill>
          <a:blip r:embed="rId3"/>
          <a:stretch>
            <a:fillRect/>
          </a:stretch>
        </p:blipFill>
        <p:spPr>
          <a:xfrm>
            <a:off x="2965986" y="1539649"/>
            <a:ext cx="3212029" cy="3059863"/>
          </a:xfrm>
        </p:spPr>
      </p:pic>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4764152"/>
            <a:ext cx="7950200" cy="1598547"/>
          </a:xfrm>
        </p:spPr>
        <p:txBody>
          <a:bodyPr tIns="0"/>
          <a:lstStyle/>
          <a:p>
            <a:pPr marL="0" indent="0">
              <a:buNone/>
            </a:pPr>
            <a:r>
              <a:rPr lang="en-US" sz="2000" dirty="0"/>
              <a:t>In the specific factors model, a higher relative price of cloth will lead to an increase in the output of cloth relative to that of food. Thus, the relative supply curve </a:t>
            </a:r>
            <a:r>
              <a:rPr lang="en-US" sz="2000" i="1" dirty="0"/>
              <a:t>R</a:t>
            </a:r>
            <a:r>
              <a:rPr lang="en-US" sz="100" i="1" dirty="0"/>
              <a:t> </a:t>
            </a:r>
            <a:r>
              <a:rPr lang="en-US" sz="2000" i="1" dirty="0"/>
              <a:t>S </a:t>
            </a:r>
            <a:r>
              <a:rPr lang="en-US" sz="2000" dirty="0"/>
              <a:t>is upward sloping. Equilibrium relative quantities and prices are determined by the intersection of </a:t>
            </a:r>
            <a:r>
              <a:rPr lang="en-US" sz="2000" i="1" dirty="0"/>
              <a:t>R</a:t>
            </a:r>
            <a:r>
              <a:rPr lang="en-US" sz="100" i="1" dirty="0"/>
              <a:t> </a:t>
            </a:r>
            <a:r>
              <a:rPr lang="en-US" sz="2000" i="1" dirty="0"/>
              <a:t>S </a:t>
            </a:r>
            <a:r>
              <a:rPr lang="en-US" sz="2000" dirty="0"/>
              <a:t>with the relative demand curve </a:t>
            </a:r>
            <a:r>
              <a:rPr lang="en-US" sz="2000" i="1" dirty="0"/>
              <a:t>R</a:t>
            </a:r>
            <a:r>
              <a:rPr lang="en-US" sz="100" i="1" dirty="0"/>
              <a:t> </a:t>
            </a:r>
            <a:r>
              <a:rPr lang="en-US" sz="2000" i="1" dirty="0"/>
              <a:t>D.</a:t>
            </a:r>
            <a:endParaRPr lang="en-IN" sz="2000" dirty="0"/>
          </a:p>
        </p:txBody>
      </p:sp>
    </p:spTree>
    <p:extLst>
      <p:ext uri="{BB962C8B-B14F-4D97-AF65-F5344CB8AC3E}">
        <p14:creationId xmlns:p14="http://schemas.microsoft.com/office/powerpoint/2010/main" val="2323178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(9 of 10)</a:t>
            </a:r>
            <a:endParaRPr lang="en-IN" sz="3400" dirty="0"/>
          </a:p>
        </p:txBody>
      </p:sp>
      <p:sp>
        <p:nvSpPr>
          <p:cNvPr id="4" name="Content Placeholder 3">
            <a:extLst>
              <a:ext uri="{FF2B5EF4-FFF2-40B4-BE49-F238E27FC236}">
                <a16:creationId xmlns:a16="http://schemas.microsoft.com/office/drawing/2014/main" id="{6D073E9B-A175-423F-A4A7-70A138F82369}"/>
              </a:ext>
            </a:extLst>
          </p:cNvPr>
          <p:cNvSpPr>
            <a:spLocks noGrp="1"/>
          </p:cNvSpPr>
          <p:nvPr>
            <p:ph sz="quarter" idx="13"/>
          </p:nvPr>
        </p:nvSpPr>
        <p:spPr>
          <a:xfrm>
            <a:off x="457200" y="1646638"/>
            <a:ext cx="8229600" cy="396000"/>
          </a:xfrm>
        </p:spPr>
        <p:txBody>
          <a:bodyPr tIns="0"/>
          <a:lstStyle/>
          <a:p>
            <a:r>
              <a:rPr lang="en-US" altLang="en-US" sz="2400" dirty="0"/>
              <a:t>Relative Prices and the Distribution of Income</a:t>
            </a:r>
            <a:endParaRPr lang="en-US" dirty="0"/>
          </a:p>
        </p:txBody>
      </p:sp>
      <p:sp>
        <p:nvSpPr>
          <p:cNvPr id="7" name="Content Placeholder 6">
            <a:extLst>
              <a:ext uri="{FF2B5EF4-FFF2-40B4-BE49-F238E27FC236}">
                <a16:creationId xmlns:a16="http://schemas.microsoft.com/office/drawing/2014/main" id="{CD4A4590-439A-46FA-8664-2E3EEC49532E}"/>
              </a:ext>
            </a:extLst>
          </p:cNvPr>
          <p:cNvSpPr>
            <a:spLocks noGrp="1"/>
          </p:cNvSpPr>
          <p:nvPr>
            <p:ph sz="quarter" idx="14"/>
          </p:nvPr>
        </p:nvSpPr>
        <p:spPr>
          <a:xfrm>
            <a:off x="457199" y="2158014"/>
            <a:ext cx="2752725" cy="396000"/>
          </a:xfrm>
        </p:spPr>
        <p:txBody>
          <a:bodyPr tIns="0"/>
          <a:lstStyle/>
          <a:p>
            <a:pPr lvl="1"/>
            <a:r>
              <a:rPr lang="en-US" altLang="en-US" sz="2400" dirty="0"/>
              <a:t>Suppose that</a:t>
            </a:r>
            <a:endParaRPr lang="en-US" dirty="0"/>
          </a:p>
        </p:txBody>
      </p:sp>
      <p:graphicFrame>
        <p:nvGraphicFramePr>
          <p:cNvPr id="12" name="Object 11" descr="P sub C">
            <a:extLst>
              <a:ext uri="{FF2B5EF4-FFF2-40B4-BE49-F238E27FC236}">
                <a16:creationId xmlns:a16="http://schemas.microsoft.com/office/drawing/2014/main" id="{6D185366-A2ED-4E80-B51F-AEBCDCD1C992}"/>
              </a:ext>
            </a:extLst>
          </p:cNvPr>
          <p:cNvGraphicFramePr>
            <a:graphicFrameLocks noChangeAspect="1"/>
          </p:cNvGraphicFramePr>
          <p:nvPr>
            <p:extLst>
              <p:ext uri="{D42A27DB-BD31-4B8C-83A1-F6EECF244321}">
                <p14:modId xmlns:p14="http://schemas.microsoft.com/office/powerpoint/2010/main" val="1613109214"/>
              </p:ext>
            </p:extLst>
          </p:nvPr>
        </p:nvGraphicFramePr>
        <p:xfrm>
          <a:off x="3271072" y="2170640"/>
          <a:ext cx="355255" cy="426301"/>
        </p:xfrm>
        <a:graphic>
          <a:graphicData uri="http://schemas.openxmlformats.org/presentationml/2006/ole">
            <mc:AlternateContent xmlns:mc="http://schemas.openxmlformats.org/markup-compatibility/2006">
              <mc:Choice xmlns:v="urn:schemas-microsoft-com:vml" Requires="v">
                <p:oleObj name="Equation" r:id="rId3" imgW="190440" imgH="228600" progId="Equation.DSMT4">
                  <p:embed/>
                </p:oleObj>
              </mc:Choice>
              <mc:Fallback>
                <p:oleObj name="Equation" r:id="rId3" imgW="190440" imgH="228600" progId="Equation.DSMT4">
                  <p:embed/>
                  <p:pic>
                    <p:nvPicPr>
                      <p:cNvPr id="9" name="Object 8">
                        <a:extLst>
                          <a:ext uri="{FF2B5EF4-FFF2-40B4-BE49-F238E27FC236}">
                            <a16:creationId xmlns:a16="http://schemas.microsoft.com/office/drawing/2014/main" id="{C553718A-FBAB-46DC-98E7-7B45F51535A0}"/>
                          </a:ext>
                        </a:extLst>
                      </p:cNvPr>
                      <p:cNvPicPr/>
                      <p:nvPr/>
                    </p:nvPicPr>
                    <p:blipFill>
                      <a:blip r:embed="rId4"/>
                      <a:stretch>
                        <a:fillRect/>
                      </a:stretch>
                    </p:blipFill>
                    <p:spPr>
                      <a:xfrm>
                        <a:off x="3271072" y="2170640"/>
                        <a:ext cx="355255" cy="426301"/>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0FF544E0-A114-4D0E-974F-9A13DE00FDF2}"/>
              </a:ext>
            </a:extLst>
          </p:cNvPr>
          <p:cNvSpPr>
            <a:spLocks noGrp="1"/>
          </p:cNvSpPr>
          <p:nvPr>
            <p:ph sz="quarter" idx="15"/>
          </p:nvPr>
        </p:nvSpPr>
        <p:spPr>
          <a:xfrm>
            <a:off x="3711302" y="2170643"/>
            <a:ext cx="4769758" cy="407245"/>
          </a:xfrm>
        </p:spPr>
        <p:txBody>
          <a:bodyPr tIns="0"/>
          <a:lstStyle/>
          <a:p>
            <a:pPr marL="0" lvl="1" indent="0">
              <a:buNone/>
            </a:pPr>
            <a:r>
              <a:rPr lang="en-US" altLang="en-US" sz="2400" dirty="0">
                <a:latin typeface="+mn-lt"/>
              </a:rPr>
              <a:t>increases by 10%. Then, the</a:t>
            </a:r>
            <a:endParaRPr lang="en-US" sz="2400" dirty="0">
              <a:latin typeface="+mn-lt"/>
            </a:endParaRPr>
          </a:p>
        </p:txBody>
      </p:sp>
      <p:sp>
        <p:nvSpPr>
          <p:cNvPr id="9" name="Content Placeholder 8">
            <a:extLst>
              <a:ext uri="{FF2B5EF4-FFF2-40B4-BE49-F238E27FC236}">
                <a16:creationId xmlns:a16="http://schemas.microsoft.com/office/drawing/2014/main" id="{01CBAE87-6C23-452F-9A49-F23A63EC3E3B}"/>
              </a:ext>
            </a:extLst>
          </p:cNvPr>
          <p:cNvSpPr>
            <a:spLocks noGrp="1"/>
          </p:cNvSpPr>
          <p:nvPr>
            <p:ph sz="quarter" idx="16"/>
          </p:nvPr>
        </p:nvSpPr>
        <p:spPr>
          <a:xfrm>
            <a:off x="457200" y="2670590"/>
            <a:ext cx="8229600" cy="2303252"/>
          </a:xfrm>
        </p:spPr>
        <p:txBody>
          <a:bodyPr/>
          <a:lstStyle/>
          <a:p>
            <a:pPr marL="741600" lvl="1" indent="0">
              <a:buNone/>
            </a:pPr>
            <a:r>
              <a:rPr lang="en-US" altLang="en-US" sz="2400" dirty="0">
                <a:latin typeface="+mn-lt"/>
              </a:rPr>
              <a:t>wage would rise by less than 10%.</a:t>
            </a:r>
          </a:p>
          <a:p>
            <a:pPr indent="-255600"/>
            <a:r>
              <a:rPr lang="en-US" altLang="en-US" sz="2400" dirty="0">
                <a:latin typeface="+mn-lt"/>
              </a:rPr>
              <a:t>What is the economic effect of this price increase on the incomes of the following three groups?</a:t>
            </a:r>
          </a:p>
          <a:p>
            <a:pPr lvl="1" indent="-284400"/>
            <a:r>
              <a:rPr lang="en-US" altLang="en-US" sz="2400" dirty="0">
                <a:latin typeface="+mn-lt"/>
              </a:rPr>
              <a:t>Workers, owners of capital, and owners of land</a:t>
            </a:r>
            <a:endParaRPr lang="en-US" dirty="0">
              <a:latin typeface="+mn-lt"/>
            </a:endParaRPr>
          </a:p>
        </p:txBody>
      </p:sp>
    </p:spTree>
    <p:extLst>
      <p:ext uri="{BB962C8B-B14F-4D97-AF65-F5344CB8AC3E}">
        <p14:creationId xmlns:p14="http://schemas.microsoft.com/office/powerpoint/2010/main" val="3993049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8339959" cy="1097279"/>
          </a:xfrm>
        </p:spPr>
        <p:txBody>
          <a:bodyPr/>
          <a:lstStyle/>
          <a:p>
            <a:r>
              <a:rPr lang="en-US" altLang="en-US" sz="3200" dirty="0"/>
              <a:t>Prices, Wages, and Labor Allocation </a:t>
            </a:r>
            <a:r>
              <a:rPr lang="en-US" altLang="en-US" sz="1800" b="0" dirty="0"/>
              <a:t>(10 of 10)</a:t>
            </a:r>
            <a:endParaRPr lang="en-US" sz="32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1558127"/>
            <a:ext cx="8229600" cy="3068690"/>
          </a:xfrm>
        </p:spPr>
        <p:txBody>
          <a:bodyPr/>
          <a:lstStyle/>
          <a:p>
            <a:r>
              <a:rPr lang="en-US" altLang="en-US" sz="2400" dirty="0"/>
              <a:t>Owners of capital are definitely better off.</a:t>
            </a:r>
          </a:p>
          <a:p>
            <a:r>
              <a:rPr lang="en-US" altLang="en-US" sz="2400" dirty="0"/>
              <a:t>Landowners are definitely worse off.</a:t>
            </a:r>
          </a:p>
          <a:p>
            <a:r>
              <a:rPr lang="en-US" altLang="en-US" sz="2400" dirty="0"/>
              <a:t>Workers: cannot say whether workers are better or worse off: </a:t>
            </a:r>
          </a:p>
          <a:p>
            <a:pPr lvl="1"/>
            <a:r>
              <a:rPr lang="en-US" altLang="en-US" sz="2400" dirty="0"/>
              <a:t>Depends on the relative importance of cloth and food in workers</a:t>
            </a:r>
            <a:r>
              <a:rPr lang="en-US" altLang="ja-JP" sz="2400" dirty="0"/>
              <a:t>’ consumption.</a:t>
            </a:r>
            <a:endParaRPr lang="en-US" sz="2400" dirty="0"/>
          </a:p>
        </p:txBody>
      </p:sp>
    </p:spTree>
    <p:extLst>
      <p:ext uri="{BB962C8B-B14F-4D97-AF65-F5344CB8AC3E}">
        <p14:creationId xmlns:p14="http://schemas.microsoft.com/office/powerpoint/2010/main" val="29573691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7973879" cy="1097279"/>
          </a:xfrm>
        </p:spPr>
        <p:txBody>
          <a:bodyPr/>
          <a:lstStyle/>
          <a:p>
            <a:r>
              <a:rPr lang="en-US" altLang="en-US" sz="3200" dirty="0"/>
              <a:t>International Trade in the Specific Factors Model </a:t>
            </a:r>
            <a:r>
              <a:rPr lang="en-US" altLang="en-US" sz="1800" b="0" dirty="0"/>
              <a:t>(1 of 3)</a:t>
            </a:r>
            <a:endParaRPr lang="en-US" sz="32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1545063"/>
            <a:ext cx="8229600" cy="4262501"/>
          </a:xfrm>
        </p:spPr>
        <p:txBody>
          <a:bodyPr/>
          <a:lstStyle/>
          <a:p>
            <a:r>
              <a:rPr lang="en-US" altLang="en-US" sz="2400" dirty="0"/>
              <a:t>Trade and Relative Prices</a:t>
            </a:r>
          </a:p>
          <a:p>
            <a:pPr lvl="1"/>
            <a:r>
              <a:rPr lang="en-US" altLang="en-US" sz="2400" dirty="0"/>
              <a:t>The relative price of cloth prior to trade is determined by the intersection of the economy</a:t>
            </a:r>
            <a:r>
              <a:rPr lang="en-US" altLang="ja-JP" sz="2400" dirty="0"/>
              <a:t>’s relative supply of cloth and its relative demand.</a:t>
            </a:r>
          </a:p>
          <a:p>
            <a:pPr lvl="1"/>
            <a:r>
              <a:rPr lang="en-US" altLang="en-US" sz="2400" dirty="0"/>
              <a:t>Free trade relative price of cloth is determined by the intersection of world relative supply of cloth and world relative demand.</a:t>
            </a:r>
          </a:p>
          <a:p>
            <a:pPr lvl="1"/>
            <a:r>
              <a:rPr lang="en-US" altLang="en-US" sz="2400" dirty="0"/>
              <a:t>Opening up to trade increases the relative price of cloth in an economy whose relative supply of cloth is larger than for the world as a whole.</a:t>
            </a:r>
            <a:endParaRPr lang="en-US" sz="2400" dirty="0"/>
          </a:p>
        </p:txBody>
      </p:sp>
    </p:spTree>
    <p:extLst>
      <p:ext uri="{BB962C8B-B14F-4D97-AF65-F5344CB8AC3E}">
        <p14:creationId xmlns:p14="http://schemas.microsoft.com/office/powerpoint/2010/main" val="21063631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400" dirty="0"/>
              <a:t>Figure 4.10 Trade and Relative Prices</a:t>
            </a:r>
            <a:endParaRPr lang="en-IN" sz="3400" dirty="0"/>
          </a:p>
        </p:txBody>
      </p:sp>
      <p:pic>
        <p:nvPicPr>
          <p:cNvPr id="17" name="Content Placeholder 16" descr="The graph plots relative price of cloth to food, P sub C over P sub F, versus the relative quantity of cloth to food, Q sub C over Q sub F. For long description in Notes pane, press F6.">
            <a:extLst>
              <a:ext uri="{FF2B5EF4-FFF2-40B4-BE49-F238E27FC236}">
                <a16:creationId xmlns:a16="http://schemas.microsoft.com/office/drawing/2014/main" id="{FDE7855A-B029-46F9-83AE-90713854CCE8}"/>
              </a:ext>
            </a:extLst>
          </p:cNvPr>
          <p:cNvPicPr>
            <a:picLocks noGrp="1" noChangeAspect="1"/>
          </p:cNvPicPr>
          <p:nvPr>
            <p:ph sz="quarter" idx="13"/>
          </p:nvPr>
        </p:nvPicPr>
        <p:blipFill>
          <a:blip r:embed="rId3"/>
          <a:stretch>
            <a:fillRect/>
          </a:stretch>
        </p:blipFill>
        <p:spPr>
          <a:xfrm>
            <a:off x="2962551" y="1643645"/>
            <a:ext cx="3108537" cy="3156972"/>
          </a:xfrm>
        </p:spPr>
      </p:pic>
      <p:sp>
        <p:nvSpPr>
          <p:cNvPr id="12" name="Content Placeholder 11">
            <a:extLst>
              <a:ext uri="{FF2B5EF4-FFF2-40B4-BE49-F238E27FC236}">
                <a16:creationId xmlns:a16="http://schemas.microsoft.com/office/drawing/2014/main" id="{5071711C-C21A-4D43-872A-C8B77E462436}"/>
              </a:ext>
            </a:extLst>
          </p:cNvPr>
          <p:cNvSpPr>
            <a:spLocks noGrp="1"/>
          </p:cNvSpPr>
          <p:nvPr>
            <p:ph sz="quarter" idx="14"/>
          </p:nvPr>
        </p:nvSpPr>
        <p:spPr>
          <a:xfrm>
            <a:off x="457200" y="4910615"/>
            <a:ext cx="8119241" cy="1008000"/>
          </a:xfrm>
        </p:spPr>
        <p:txBody>
          <a:bodyPr tIns="0"/>
          <a:lstStyle/>
          <a:p>
            <a:pPr marL="432" indent="0">
              <a:buNone/>
            </a:pPr>
            <a:r>
              <a:rPr lang="en-US" sz="1600" dirty="0"/>
              <a:t>The figure shows the relative supply curve for the specific factors economy along with the world relative supply curve. The differences between the two relative supply curves can be due to either technology or resource differences across countries. There are no differences in relative demand across countries. Opening up to trade induces an</a:t>
            </a:r>
          </a:p>
        </p:txBody>
      </p:sp>
      <p:sp>
        <p:nvSpPr>
          <p:cNvPr id="13" name="Content Placeholder 12">
            <a:extLst>
              <a:ext uri="{FF2B5EF4-FFF2-40B4-BE49-F238E27FC236}">
                <a16:creationId xmlns:a16="http://schemas.microsoft.com/office/drawing/2014/main" id="{2D43FB29-EE3C-46F0-8A1C-0AA5922F5C5B}"/>
              </a:ext>
            </a:extLst>
          </p:cNvPr>
          <p:cNvSpPr>
            <a:spLocks noGrp="1"/>
          </p:cNvSpPr>
          <p:nvPr>
            <p:ph sz="quarter" idx="15"/>
          </p:nvPr>
        </p:nvSpPr>
        <p:spPr>
          <a:xfrm>
            <a:off x="457199" y="6008268"/>
            <a:ext cx="3204000" cy="288000"/>
          </a:xfrm>
        </p:spPr>
        <p:txBody>
          <a:bodyPr tIns="0"/>
          <a:lstStyle/>
          <a:p>
            <a:pPr marL="0" indent="0">
              <a:buNone/>
            </a:pPr>
            <a:r>
              <a:rPr lang="en-US" dirty="0">
                <a:latin typeface="+mn-lt"/>
              </a:rPr>
              <a:t>increase in the relative price from</a:t>
            </a:r>
          </a:p>
        </p:txBody>
      </p:sp>
      <p:graphicFrame>
        <p:nvGraphicFramePr>
          <p:cNvPr id="4" name="Object 3" descr="Left parenthesis P sub C is greater than P sub F right parenthesis to the first power to left parenthesis P sub C is greater than P sub F right parenthesis squared. ">
            <a:extLst>
              <a:ext uri="{FF2B5EF4-FFF2-40B4-BE49-F238E27FC236}">
                <a16:creationId xmlns:a16="http://schemas.microsoft.com/office/drawing/2014/main" id="{CDF5CAAF-B968-4C75-A96A-80CC6EE2B811}"/>
              </a:ext>
            </a:extLst>
          </p:cNvPr>
          <p:cNvGraphicFramePr>
            <a:graphicFrameLocks noChangeAspect="1"/>
          </p:cNvGraphicFramePr>
          <p:nvPr>
            <p:extLst>
              <p:ext uri="{D42A27DB-BD31-4B8C-83A1-F6EECF244321}">
                <p14:modId xmlns:p14="http://schemas.microsoft.com/office/powerpoint/2010/main" val="1816511153"/>
              </p:ext>
            </p:extLst>
          </p:nvPr>
        </p:nvGraphicFramePr>
        <p:xfrm>
          <a:off x="3695807" y="5971685"/>
          <a:ext cx="2163674" cy="371881"/>
        </p:xfrm>
        <a:graphic>
          <a:graphicData uri="http://schemas.openxmlformats.org/presentationml/2006/ole">
            <mc:AlternateContent xmlns:mc="http://schemas.openxmlformats.org/markup-compatibility/2006">
              <mc:Choice xmlns:v="urn:schemas-microsoft-com:vml" Requires="v">
                <p:oleObj name="Equation" r:id="rId4" imgW="1625400" imgH="279360" progId="Equation.DSMT4">
                  <p:embed/>
                </p:oleObj>
              </mc:Choice>
              <mc:Fallback>
                <p:oleObj name="Equation" r:id="rId4" imgW="1625400" imgH="279360" progId="Equation.DSMT4">
                  <p:embed/>
                  <p:pic>
                    <p:nvPicPr>
                      <p:cNvPr id="0" name=""/>
                      <p:cNvPicPr/>
                      <p:nvPr/>
                    </p:nvPicPr>
                    <p:blipFill>
                      <a:blip r:embed="rId5"/>
                      <a:stretch>
                        <a:fillRect/>
                      </a:stretch>
                    </p:blipFill>
                    <p:spPr>
                      <a:xfrm>
                        <a:off x="3695807" y="5971685"/>
                        <a:ext cx="2163674" cy="371881"/>
                      </a:xfrm>
                      <a:prstGeom prst="rect">
                        <a:avLst/>
                      </a:prstGeom>
                    </p:spPr>
                  </p:pic>
                </p:oleObj>
              </mc:Fallback>
            </mc:AlternateContent>
          </a:graphicData>
        </a:graphic>
      </p:graphicFrame>
    </p:spTree>
    <p:extLst>
      <p:ext uri="{BB962C8B-B14F-4D97-AF65-F5344CB8AC3E}">
        <p14:creationId xmlns:p14="http://schemas.microsoft.com/office/powerpoint/2010/main" val="8802561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8020374" cy="1097279"/>
          </a:xfrm>
        </p:spPr>
        <p:txBody>
          <a:bodyPr/>
          <a:lstStyle/>
          <a:p>
            <a:r>
              <a:rPr lang="en-US" altLang="en-US" sz="3200" dirty="0"/>
              <a:t>International Trade in the Specific Factors Model </a:t>
            </a:r>
            <a:r>
              <a:rPr lang="en-US" altLang="en-US" sz="1800" b="0" dirty="0"/>
              <a:t>(2 of 3)</a:t>
            </a:r>
            <a:endParaRPr lang="en-IN" sz="32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1545063"/>
            <a:ext cx="8339958" cy="2607123"/>
          </a:xfrm>
        </p:spPr>
        <p:txBody>
          <a:bodyPr/>
          <a:lstStyle/>
          <a:p>
            <a:r>
              <a:rPr lang="en-US" altLang="en-US" sz="2400" dirty="0"/>
              <a:t>Gains from trade</a:t>
            </a:r>
          </a:p>
          <a:p>
            <a:pPr lvl="1"/>
            <a:r>
              <a:rPr lang="en-US" altLang="en-US" sz="2400" dirty="0"/>
              <a:t>Without trade, the economy’</a:t>
            </a:r>
            <a:r>
              <a:rPr lang="en-US" altLang="ja-JP" sz="2400" dirty="0"/>
              <a:t>s output of a good must equal its consumption. </a:t>
            </a:r>
          </a:p>
          <a:p>
            <a:pPr lvl="1"/>
            <a:r>
              <a:rPr lang="en-US" altLang="en-US" sz="2400" dirty="0"/>
              <a:t>International trade allows the mix of cloth and food consumed to differ from the mix produced. </a:t>
            </a:r>
          </a:p>
          <a:p>
            <a:pPr lvl="1"/>
            <a:r>
              <a:rPr lang="en-US" altLang="en-US" sz="2400" dirty="0"/>
              <a:t>The country cannot spend more than it earns: </a:t>
            </a:r>
            <a:endParaRPr lang="en-IN" sz="2400" dirty="0"/>
          </a:p>
        </p:txBody>
      </p:sp>
      <p:graphicFrame>
        <p:nvGraphicFramePr>
          <p:cNvPr id="3" name="Object 2" descr="P sub C D sub C + P sub F D sub F = P sub C + Q sub C + P sub F Q sub F ">
            <a:extLst>
              <a:ext uri="{FF2B5EF4-FFF2-40B4-BE49-F238E27FC236}">
                <a16:creationId xmlns:a16="http://schemas.microsoft.com/office/drawing/2014/main" id="{5DB908C0-ED24-4084-8539-DD1C5AE1B919}"/>
              </a:ext>
            </a:extLst>
          </p:cNvPr>
          <p:cNvGraphicFramePr>
            <a:graphicFrameLocks noChangeAspect="1"/>
          </p:cNvGraphicFramePr>
          <p:nvPr>
            <p:extLst>
              <p:ext uri="{D42A27DB-BD31-4B8C-83A1-F6EECF244321}">
                <p14:modId xmlns:p14="http://schemas.microsoft.com/office/powerpoint/2010/main" val="1146341197"/>
              </p:ext>
            </p:extLst>
          </p:nvPr>
        </p:nvGraphicFramePr>
        <p:xfrm>
          <a:off x="2625725" y="4443134"/>
          <a:ext cx="3892550" cy="490537"/>
        </p:xfrm>
        <a:graphic>
          <a:graphicData uri="http://schemas.openxmlformats.org/presentationml/2006/ole">
            <mc:AlternateContent xmlns:mc="http://schemas.openxmlformats.org/markup-compatibility/2006">
              <mc:Choice xmlns:v="urn:schemas-microsoft-com:vml" Requires="v">
                <p:oleObj name="Equation" r:id="rId3" imgW="3892317" imgH="491023" progId="Equation.DSMT4">
                  <p:embed/>
                </p:oleObj>
              </mc:Choice>
              <mc:Fallback>
                <p:oleObj name="Equation" r:id="rId3" imgW="3892317" imgH="491023" progId="Equation.DSMT4">
                  <p:embed/>
                  <p:pic>
                    <p:nvPicPr>
                      <p:cNvPr id="0" name=""/>
                      <p:cNvPicPr/>
                      <p:nvPr/>
                    </p:nvPicPr>
                    <p:blipFill>
                      <a:blip r:embed="rId4"/>
                      <a:stretch>
                        <a:fillRect/>
                      </a:stretch>
                    </p:blipFill>
                    <p:spPr>
                      <a:xfrm>
                        <a:off x="2625725" y="4443134"/>
                        <a:ext cx="3892550" cy="490537"/>
                      </a:xfrm>
                      <a:prstGeom prst="rect">
                        <a:avLst/>
                      </a:prstGeom>
                    </p:spPr>
                  </p:pic>
                </p:oleObj>
              </mc:Fallback>
            </mc:AlternateContent>
          </a:graphicData>
        </a:graphic>
      </p:graphicFrame>
    </p:spTree>
    <p:extLst>
      <p:ext uri="{BB962C8B-B14F-4D97-AF65-F5344CB8AC3E}">
        <p14:creationId xmlns:p14="http://schemas.microsoft.com/office/powerpoint/2010/main" val="25920600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International Trade in the Specific Factors Model </a:t>
            </a:r>
            <a:r>
              <a:rPr lang="en-US" altLang="en-US" sz="1800" b="0" dirty="0"/>
              <a:t>(3 of 3)</a:t>
            </a:r>
            <a:endParaRPr lang="en-IN" sz="32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3"/>
          </p:nvPr>
        </p:nvSpPr>
        <p:spPr>
          <a:xfrm>
            <a:off x="457200" y="1556327"/>
            <a:ext cx="8125097" cy="1328763"/>
          </a:xfrm>
        </p:spPr>
        <p:txBody>
          <a:bodyPr/>
          <a:lstStyle/>
          <a:p>
            <a:r>
              <a:rPr lang="en-US" altLang="en-US" sz="2400" dirty="0"/>
              <a:t>The economy as a whole gains from trade. </a:t>
            </a:r>
          </a:p>
          <a:p>
            <a:pPr lvl="1"/>
            <a:r>
              <a:rPr lang="en-US" altLang="en-US" sz="2400" dirty="0"/>
              <a:t>It imports an amount of food equal to the relative price of cloth times the amount of cloth exported:</a:t>
            </a:r>
            <a:endParaRPr lang="en-IN" sz="2400" dirty="0"/>
          </a:p>
        </p:txBody>
      </p:sp>
      <p:graphicFrame>
        <p:nvGraphicFramePr>
          <p:cNvPr id="2" name="Object 1" descr="D sub F minus Q sub F = left parenthesis start fraction P sub C over P sub F right parenthesis times left parenthesis Q sub C minus D sub C right parenthesis ">
            <a:extLst>
              <a:ext uri="{FF2B5EF4-FFF2-40B4-BE49-F238E27FC236}">
                <a16:creationId xmlns:a16="http://schemas.microsoft.com/office/drawing/2014/main" id="{82776878-3B83-4CBE-AFA1-4CB242AEF0A4}"/>
              </a:ext>
            </a:extLst>
          </p:cNvPr>
          <p:cNvGraphicFramePr>
            <a:graphicFrameLocks noChangeAspect="1"/>
          </p:cNvGraphicFramePr>
          <p:nvPr>
            <p:extLst>
              <p:ext uri="{D42A27DB-BD31-4B8C-83A1-F6EECF244321}">
                <p14:modId xmlns:p14="http://schemas.microsoft.com/office/powerpoint/2010/main" val="3466133308"/>
              </p:ext>
            </p:extLst>
          </p:nvPr>
        </p:nvGraphicFramePr>
        <p:xfrm>
          <a:off x="2814637" y="3056931"/>
          <a:ext cx="3514725" cy="939800"/>
        </p:xfrm>
        <a:graphic>
          <a:graphicData uri="http://schemas.openxmlformats.org/presentationml/2006/ole">
            <mc:AlternateContent xmlns:mc="http://schemas.openxmlformats.org/markup-compatibility/2006">
              <mc:Choice xmlns:v="urn:schemas-microsoft-com:vml" Requires="v">
                <p:oleObj name="Equation" r:id="rId3" imgW="3514492" imgH="940587" progId="Equation.DSMT4">
                  <p:embed/>
                </p:oleObj>
              </mc:Choice>
              <mc:Fallback>
                <p:oleObj name="Equation" r:id="rId3" imgW="3514492" imgH="940587" progId="Equation.DSMT4">
                  <p:embed/>
                  <p:pic>
                    <p:nvPicPr>
                      <p:cNvPr id="0" name=""/>
                      <p:cNvPicPr/>
                      <p:nvPr/>
                    </p:nvPicPr>
                    <p:blipFill>
                      <a:blip r:embed="rId4"/>
                      <a:stretch>
                        <a:fillRect/>
                      </a:stretch>
                    </p:blipFill>
                    <p:spPr>
                      <a:xfrm>
                        <a:off x="2814637" y="3056931"/>
                        <a:ext cx="3514725" cy="93980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6C4BDC79-2B12-42FB-BF79-5259A18F5A20}"/>
              </a:ext>
            </a:extLst>
          </p:cNvPr>
          <p:cNvSpPr>
            <a:spLocks noGrp="1"/>
          </p:cNvSpPr>
          <p:nvPr>
            <p:ph sz="quarter" idx="14"/>
          </p:nvPr>
        </p:nvSpPr>
        <p:spPr>
          <a:xfrm>
            <a:off x="457200" y="4141235"/>
            <a:ext cx="8229600" cy="1750958"/>
          </a:xfrm>
        </p:spPr>
        <p:txBody>
          <a:bodyPr/>
          <a:lstStyle/>
          <a:p>
            <a:pPr lvl="1"/>
            <a:r>
              <a:rPr lang="en-US" altLang="en-US" sz="2400" dirty="0"/>
              <a:t>It is able to afford amounts of cloth and food that the country is not able to produce itself.</a:t>
            </a:r>
          </a:p>
          <a:p>
            <a:pPr lvl="1"/>
            <a:r>
              <a:rPr lang="en-US" altLang="en-US" sz="2400" dirty="0"/>
              <a:t>The budget constraint with trade lies above the production possibilities frontier in Figure 4.11.</a:t>
            </a:r>
            <a:endParaRPr lang="en-US" dirty="0"/>
          </a:p>
        </p:txBody>
      </p:sp>
    </p:spTree>
    <p:extLst>
      <p:ext uri="{BB962C8B-B14F-4D97-AF65-F5344CB8AC3E}">
        <p14:creationId xmlns:p14="http://schemas.microsoft.com/office/powerpoint/2010/main" val="14874187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4.11 Budget Constraint for a Trading Economy and Gains from Trade</a:t>
            </a:r>
            <a:endParaRPr lang="en-IN" sz="32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1" y="1556327"/>
            <a:ext cx="4114800" cy="4400336"/>
          </a:xfrm>
        </p:spPr>
        <p:txBody>
          <a:bodyPr/>
          <a:lstStyle/>
          <a:p>
            <a:pPr marL="432" indent="0">
              <a:buNone/>
            </a:pPr>
            <a:r>
              <a:rPr lang="en-US" sz="1800" dirty="0"/>
              <a:t>Point 2 represents the economy’s production. The economy can choose its consumption point along its budget constraint (a line that passes through point 2 and has a slope equal to minus the relative price of cloth). Before trade, the economy must consume what it produces, such as point 1 on the production possibility frontier (</a:t>
            </a:r>
            <a:r>
              <a:rPr lang="en-US" sz="1800" i="1" dirty="0"/>
              <a:t>P</a:t>
            </a:r>
            <a:r>
              <a:rPr lang="en-US" sz="100" i="1" dirty="0"/>
              <a:t> </a:t>
            </a:r>
            <a:r>
              <a:rPr lang="en-US" sz="1800" i="1" dirty="0"/>
              <a:t>P</a:t>
            </a:r>
            <a:r>
              <a:rPr lang="en-US" sz="1800" dirty="0"/>
              <a:t>). The portion of the budget constraint in the colored region consists of feasible post-trade consumption choices, with consumption of both goods higher than at pretrade point 1.</a:t>
            </a:r>
          </a:p>
        </p:txBody>
      </p:sp>
      <p:pic>
        <p:nvPicPr>
          <p:cNvPr id="8" name="Content Placeholder 7" descr="The graph plots consumption and output of food versus the consumption and output of cloth. For long description in Notes pane, press F6.">
            <a:extLst>
              <a:ext uri="{FF2B5EF4-FFF2-40B4-BE49-F238E27FC236}">
                <a16:creationId xmlns:a16="http://schemas.microsoft.com/office/drawing/2014/main" id="{96A8C523-DBCA-4349-98A8-97222F791E38}"/>
              </a:ext>
            </a:extLst>
          </p:cNvPr>
          <p:cNvPicPr>
            <a:picLocks noGrp="1" noChangeAspect="1"/>
          </p:cNvPicPr>
          <p:nvPr>
            <p:ph sz="quarter" idx="14"/>
          </p:nvPr>
        </p:nvPicPr>
        <p:blipFill>
          <a:blip r:embed="rId3"/>
          <a:stretch>
            <a:fillRect/>
          </a:stretch>
        </p:blipFill>
        <p:spPr>
          <a:xfrm>
            <a:off x="5097106" y="1708705"/>
            <a:ext cx="3722579" cy="3752226"/>
          </a:xfrm>
        </p:spPr>
      </p:pic>
    </p:spTree>
    <p:extLst>
      <p:ext uri="{BB962C8B-B14F-4D97-AF65-F5344CB8AC3E}">
        <p14:creationId xmlns:p14="http://schemas.microsoft.com/office/powerpoint/2010/main" val="37382371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Politics of Trade Protection </a:t>
            </a:r>
            <a:r>
              <a:rPr lang="en-US" altLang="en-US" sz="2000" b="0" dirty="0"/>
              <a:t>(1 of 4)</a:t>
            </a:r>
            <a:endParaRPr lang="en-IN"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229600" cy="3630528"/>
          </a:xfrm>
        </p:spPr>
        <p:txBody>
          <a:bodyPr/>
          <a:lstStyle/>
          <a:p>
            <a:r>
              <a:rPr lang="en-US" altLang="en-US" dirty="0"/>
              <a:t>International trade shifts the relative price of cloth to food, so factor prices change. </a:t>
            </a:r>
          </a:p>
          <a:p>
            <a:r>
              <a:rPr lang="en-US" altLang="en-US" dirty="0"/>
              <a:t>Trade benefits the factor that is specific to the export sector of each country, but hurts the factor that is specific to the import-competing sectors.</a:t>
            </a:r>
          </a:p>
          <a:p>
            <a:r>
              <a:rPr lang="en-US" altLang="en-US" dirty="0"/>
              <a:t>Trade has ambiguous effects on mobile factors.</a:t>
            </a:r>
            <a:endParaRPr lang="en-IN" dirty="0"/>
          </a:p>
        </p:txBody>
      </p:sp>
    </p:spTree>
    <p:extLst>
      <p:ext uri="{BB962C8B-B14F-4D97-AF65-F5344CB8AC3E}">
        <p14:creationId xmlns:p14="http://schemas.microsoft.com/office/powerpoint/2010/main" val="4327859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Politics of Trade Protection </a:t>
            </a:r>
            <a:r>
              <a:rPr lang="en-US" altLang="en-US" sz="2000" b="0" dirty="0"/>
              <a:t>(2 of 4)</a:t>
            </a:r>
            <a:endParaRPr lang="en-IN"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229600" cy="3630528"/>
          </a:xfrm>
        </p:spPr>
        <p:txBody>
          <a:bodyPr/>
          <a:lstStyle/>
          <a:p>
            <a:r>
              <a:rPr lang="en-US" altLang="en-US" sz="2400" dirty="0"/>
              <a:t>Trade benefits a country by expanding choices.</a:t>
            </a:r>
          </a:p>
          <a:p>
            <a:pPr lvl="1"/>
            <a:r>
              <a:rPr lang="en-US" altLang="en-US" sz="2400" dirty="0"/>
              <a:t>Possible to redistribute income so that everyone gains from trade.</a:t>
            </a:r>
          </a:p>
          <a:p>
            <a:pPr lvl="1"/>
            <a:r>
              <a:rPr lang="en-US" altLang="en-US" sz="2400" dirty="0"/>
              <a:t>Those who gain from trade could compensate those who lose and still be better off themselves.</a:t>
            </a:r>
          </a:p>
          <a:p>
            <a:pPr lvl="1"/>
            <a:r>
              <a:rPr lang="en-US" altLang="en-US" sz="2400" dirty="0"/>
              <a:t>That everyone could gain from trade does not mean that they actually do—redistribution usually hard to implement.</a:t>
            </a:r>
            <a:endParaRPr lang="en-IN" sz="2400" dirty="0"/>
          </a:p>
        </p:txBody>
      </p:sp>
    </p:spTree>
    <p:extLst>
      <p:ext uri="{BB962C8B-B14F-4D97-AF65-F5344CB8AC3E}">
        <p14:creationId xmlns:p14="http://schemas.microsoft.com/office/powerpoint/2010/main" val="3667252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Politics of Trade Protection </a:t>
            </a:r>
            <a:r>
              <a:rPr lang="en-US" altLang="en-US" sz="2000" b="0" dirty="0"/>
              <a:t>(3 of 4)</a:t>
            </a:r>
            <a:endParaRPr lang="en-US"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229600" cy="3630528"/>
          </a:xfrm>
        </p:spPr>
        <p:txBody>
          <a:bodyPr/>
          <a:lstStyle/>
          <a:p>
            <a:r>
              <a:rPr lang="en-US" altLang="en-US" sz="2400" dirty="0"/>
              <a:t>Trade often produces losers as well as winners.</a:t>
            </a:r>
          </a:p>
          <a:p>
            <a:r>
              <a:rPr lang="en-US" altLang="en-US" sz="2400" dirty="0"/>
              <a:t>Optimal trade policy must weigh one group</a:t>
            </a:r>
            <a:r>
              <a:rPr lang="en-US" altLang="ja-JP" sz="2400" dirty="0"/>
              <a:t>’s gain against another’s loss.</a:t>
            </a:r>
          </a:p>
          <a:p>
            <a:pPr lvl="1"/>
            <a:r>
              <a:rPr lang="en-US" altLang="en-US" sz="2400" dirty="0"/>
              <a:t>Some groups may need special treatment because they are already relatively poor (e.g., shoe and garment workers in the United States).</a:t>
            </a:r>
          </a:p>
          <a:p>
            <a:r>
              <a:rPr lang="en-US" altLang="en-US" sz="2400" dirty="0"/>
              <a:t>Most economists strongly favor free trade.</a:t>
            </a:r>
            <a:endParaRPr lang="en-US" sz="2400" dirty="0"/>
          </a:p>
        </p:txBody>
      </p:sp>
    </p:spTree>
    <p:extLst>
      <p:ext uri="{BB962C8B-B14F-4D97-AF65-F5344CB8AC3E}">
        <p14:creationId xmlns:p14="http://schemas.microsoft.com/office/powerpoint/2010/main" val="27293740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Politics of Trade Protection </a:t>
            </a:r>
            <a:r>
              <a:rPr lang="en-US" altLang="en-US" sz="2000" b="0" dirty="0"/>
              <a:t>(4 of 4)</a:t>
            </a:r>
            <a:endParaRPr lang="en-US"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229600" cy="3630528"/>
          </a:xfrm>
        </p:spPr>
        <p:txBody>
          <a:bodyPr/>
          <a:lstStyle/>
          <a:p>
            <a:r>
              <a:rPr lang="en-US" altLang="en-US" sz="2400" dirty="0"/>
              <a:t>Typically, those who gain from trade are a much less concentrated, informed, and organized group than those who lose.</a:t>
            </a:r>
          </a:p>
          <a:p>
            <a:pPr lvl="1"/>
            <a:r>
              <a:rPr lang="en-US" altLang="en-US" sz="2400" dirty="0"/>
              <a:t>Example: Consumers and producers in the U.S. sugar industry, respectively </a:t>
            </a:r>
          </a:p>
          <a:p>
            <a:r>
              <a:rPr lang="en-US" altLang="en-US" sz="2400" dirty="0"/>
              <a:t>Governments usually provide a “</a:t>
            </a:r>
            <a:r>
              <a:rPr lang="en-US" altLang="ja-JP" sz="2400" dirty="0"/>
              <a:t>safety net” of income support to cushion the losses to groups hurt by trade (or other changes).</a:t>
            </a:r>
            <a:endParaRPr lang="en-US" sz="2400" dirty="0"/>
          </a:p>
        </p:txBody>
      </p:sp>
    </p:spTree>
    <p:extLst>
      <p:ext uri="{BB962C8B-B14F-4D97-AF65-F5344CB8AC3E}">
        <p14:creationId xmlns:p14="http://schemas.microsoft.com/office/powerpoint/2010/main" val="19299808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Trade and Unemployment </a:t>
            </a:r>
            <a:r>
              <a:rPr lang="en-US" altLang="en-US" sz="2000" b="0" dirty="0"/>
              <a:t>(1 of 3)</a:t>
            </a:r>
            <a:endParaRPr lang="en-IN"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229600" cy="3630528"/>
          </a:xfrm>
        </p:spPr>
        <p:txBody>
          <a:bodyPr/>
          <a:lstStyle/>
          <a:p>
            <a:r>
              <a:rPr lang="en-US" altLang="en-US" sz="2400" dirty="0"/>
              <a:t>Trade shifts jobs from import-competing to export sector.</a:t>
            </a:r>
          </a:p>
          <a:p>
            <a:pPr lvl="1"/>
            <a:r>
              <a:rPr lang="en-US" altLang="en-US" sz="2400" dirty="0"/>
              <a:t>Process not instantaneous—some workers will be unemployed as they look for new jobs.</a:t>
            </a:r>
          </a:p>
          <a:p>
            <a:r>
              <a:rPr lang="en-US" altLang="en-US" sz="2400" dirty="0"/>
              <a:t>How much unemployment can be traced back to trade?</a:t>
            </a:r>
          </a:p>
          <a:p>
            <a:pPr lvl="1"/>
            <a:r>
              <a:rPr lang="en-US" altLang="en-US" sz="2400" dirty="0"/>
              <a:t>From 2001 to 2010, only about 2% of involuntary displacements stemmed from import competition or plants moved overseas.</a:t>
            </a:r>
            <a:endParaRPr lang="en-IN" sz="2400" dirty="0"/>
          </a:p>
        </p:txBody>
      </p:sp>
    </p:spTree>
    <p:extLst>
      <p:ext uri="{BB962C8B-B14F-4D97-AF65-F5344CB8AC3E}">
        <p14:creationId xmlns:p14="http://schemas.microsoft.com/office/powerpoint/2010/main" val="19198654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Trade and Unemployment </a:t>
            </a:r>
            <a:r>
              <a:rPr lang="en-US" altLang="en-US" sz="2000" b="0" dirty="0"/>
              <a:t>(2 of 3)</a:t>
            </a:r>
            <a:endParaRPr lang="en-IN"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438444" cy="3630528"/>
          </a:xfrm>
        </p:spPr>
        <p:txBody>
          <a:bodyPr/>
          <a:lstStyle/>
          <a:p>
            <a:pPr marL="255600" indent="-255600"/>
            <a:r>
              <a:rPr lang="en-US" sz="2400" b="1" dirty="0"/>
              <a:t>U.S. Trade Adjustment Assistance program </a:t>
            </a:r>
            <a:r>
              <a:rPr lang="en-US" sz="2400" dirty="0"/>
              <a:t>provides extended unemployment coverage (for an additional year) and tuition reimbursement (for new job skill acquisitions) to workers who are displaced by a plant closure.</a:t>
            </a:r>
          </a:p>
          <a:p>
            <a:pPr marL="741600" lvl="1"/>
            <a:r>
              <a:rPr lang="en-US" sz="2400" dirty="0"/>
              <a:t>To qualify, the plant closure must be due to import competition or an overseas relocation to a country receiving preferential access to the United States.</a:t>
            </a:r>
            <a:endParaRPr lang="en-IN" sz="2400" dirty="0"/>
          </a:p>
        </p:txBody>
      </p:sp>
    </p:spTree>
    <p:extLst>
      <p:ext uri="{BB962C8B-B14F-4D97-AF65-F5344CB8AC3E}">
        <p14:creationId xmlns:p14="http://schemas.microsoft.com/office/powerpoint/2010/main" val="9989131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Trade and Unemployment </a:t>
            </a:r>
            <a:r>
              <a:rPr lang="en-US" altLang="en-US" sz="2000" b="0" dirty="0"/>
              <a:t>(3 of 3)</a:t>
            </a:r>
            <a:endParaRPr lang="en-IN"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629298"/>
            <a:ext cx="8229600" cy="4732315"/>
          </a:xfrm>
        </p:spPr>
        <p:txBody>
          <a:bodyPr tIns="0"/>
          <a:lstStyle/>
          <a:p>
            <a:r>
              <a:rPr lang="en-US" altLang="en-US" sz="2400" dirty="0"/>
              <a:t>Figure 4.12 shows that there </a:t>
            </a:r>
            <a:r>
              <a:rPr lang="en-US" sz="2400" dirty="0"/>
              <a:t>no evidence of a positive correlation between unemployment and imports (relative to U.S. </a:t>
            </a:r>
            <a:r>
              <a:rPr lang="en-US" dirty="0"/>
              <a:t>G</a:t>
            </a:r>
            <a:r>
              <a:rPr lang="en-US" sz="100" dirty="0"/>
              <a:t> </a:t>
            </a:r>
            <a:r>
              <a:rPr lang="en-US" dirty="0"/>
              <a:t>D</a:t>
            </a:r>
            <a:r>
              <a:rPr lang="en-US" sz="100" dirty="0"/>
              <a:t> </a:t>
            </a:r>
            <a:r>
              <a:rPr lang="en-US" dirty="0"/>
              <a:t>P</a:t>
            </a:r>
            <a:r>
              <a:rPr lang="en-US" sz="2400" dirty="0"/>
              <a:t>)</a:t>
            </a:r>
            <a:r>
              <a:rPr lang="en-US" altLang="en-US" sz="2400" dirty="0"/>
              <a:t> for the United States.</a:t>
            </a:r>
          </a:p>
          <a:p>
            <a:pPr marL="741600" lvl="1"/>
            <a:r>
              <a:rPr lang="en-US" dirty="0"/>
              <a:t>After 2012, both imports and unemployment do drop significantly; However, the drop in imports was driven by falling oil prices. Non-oil imports as a share of U.S. G</a:t>
            </a:r>
            <a:r>
              <a:rPr lang="en-US" sz="100" dirty="0"/>
              <a:t> </a:t>
            </a:r>
            <a:r>
              <a:rPr lang="en-US" dirty="0"/>
              <a:t>D</a:t>
            </a:r>
            <a:r>
              <a:rPr lang="en-US" sz="100" dirty="0"/>
              <a:t> </a:t>
            </a:r>
            <a:r>
              <a:rPr lang="en-US" dirty="0"/>
              <a:t>P remained stable in those years.</a:t>
            </a:r>
            <a:endParaRPr lang="en-US" altLang="en-US" dirty="0"/>
          </a:p>
          <a:p>
            <a:pPr>
              <a:spcBef>
                <a:spcPts val="600"/>
              </a:spcBef>
            </a:pPr>
            <a:r>
              <a:rPr lang="en-US" altLang="en-US" sz="2400" dirty="0"/>
              <a:t>Unemployment is primarily a macroeconomic problem that rises during recessions.</a:t>
            </a:r>
          </a:p>
          <a:p>
            <a:pPr marL="741600" lvl="1"/>
            <a:r>
              <a:rPr lang="en-US" altLang="en-US" dirty="0"/>
              <a:t>The best way to reduce unemployment is by adopting macroeconomic policies to help the economy recover, not by adopting trade protection.</a:t>
            </a:r>
            <a:endParaRPr lang="en-IN" dirty="0"/>
          </a:p>
        </p:txBody>
      </p:sp>
    </p:spTree>
    <p:extLst>
      <p:ext uri="{BB962C8B-B14F-4D97-AF65-F5344CB8AC3E}">
        <p14:creationId xmlns:p14="http://schemas.microsoft.com/office/powerpoint/2010/main" val="38579872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4.12 Unemployment and Import Penetration in the United States</a:t>
            </a:r>
            <a:endParaRPr lang="en-IN" sz="3200" dirty="0"/>
          </a:p>
        </p:txBody>
      </p:sp>
      <p:pic>
        <p:nvPicPr>
          <p:cNvPr id="8" name="Content Placeholder 7" descr="A double graph depicts the unemployment and import penetration in the U S. For long description in Notes pane, press F6.">
            <a:extLst>
              <a:ext uri="{FF2B5EF4-FFF2-40B4-BE49-F238E27FC236}">
                <a16:creationId xmlns:a16="http://schemas.microsoft.com/office/drawing/2014/main" id="{12218199-D0D7-44BA-98F5-B83DB264370F}"/>
              </a:ext>
            </a:extLst>
          </p:cNvPr>
          <p:cNvPicPr>
            <a:picLocks noGrp="1" noChangeAspect="1"/>
          </p:cNvPicPr>
          <p:nvPr>
            <p:ph sz="quarter" idx="13"/>
          </p:nvPr>
        </p:nvPicPr>
        <p:blipFill>
          <a:blip r:embed="rId3"/>
          <a:stretch>
            <a:fillRect/>
          </a:stretch>
        </p:blipFill>
        <p:spPr>
          <a:xfrm>
            <a:off x="1976211" y="1586618"/>
            <a:ext cx="5191578" cy="3128876"/>
          </a:xfrm>
        </p:spPr>
      </p:pic>
      <p:sp>
        <p:nvSpPr>
          <p:cNvPr id="2" name="Content Placeholder 1">
            <a:extLst>
              <a:ext uri="{FF2B5EF4-FFF2-40B4-BE49-F238E27FC236}">
                <a16:creationId xmlns:a16="http://schemas.microsoft.com/office/drawing/2014/main" id="{0245A923-8073-42E8-BF4E-E3489CF0943A}"/>
              </a:ext>
            </a:extLst>
          </p:cNvPr>
          <p:cNvSpPr>
            <a:spLocks noGrp="1"/>
          </p:cNvSpPr>
          <p:nvPr>
            <p:ph sz="quarter" idx="14"/>
          </p:nvPr>
        </p:nvSpPr>
        <p:spPr>
          <a:xfrm>
            <a:off x="457200" y="4824616"/>
            <a:ext cx="8229600" cy="1497809"/>
          </a:xfrm>
        </p:spPr>
        <p:txBody>
          <a:bodyPr/>
          <a:lstStyle/>
          <a:p>
            <a:pPr marL="0" indent="0">
              <a:buNone/>
            </a:pPr>
            <a:r>
              <a:rPr lang="en-US" sz="2000" dirty="0"/>
              <a:t>The highlighted years are recession years, as determined by the National Bureau of Economic Research.</a:t>
            </a:r>
          </a:p>
          <a:p>
            <a:pPr marL="0" indent="0">
              <a:buNone/>
            </a:pPr>
            <a:r>
              <a:rPr lang="en-US" sz="1800" b="1" dirty="0"/>
              <a:t>Source:</a:t>
            </a:r>
            <a:r>
              <a:rPr lang="en-US" sz="1800" dirty="0"/>
              <a:t> U.S. Bureau of Economic Analysis for imports and U.S. Bureau of Labor Studies for unemployment.</a:t>
            </a:r>
          </a:p>
        </p:txBody>
      </p:sp>
    </p:spTree>
    <p:extLst>
      <p:ext uri="{BB962C8B-B14F-4D97-AF65-F5344CB8AC3E}">
        <p14:creationId xmlns:p14="http://schemas.microsoft.com/office/powerpoint/2010/main" val="3747333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Manufacturing Employment and Chinese Import Competition </a:t>
            </a:r>
            <a:r>
              <a:rPr lang="en-US" altLang="en-US" sz="2000" b="0" dirty="0"/>
              <a:t>(1 of 2)</a:t>
            </a:r>
            <a:endParaRPr lang="en-IN"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640908"/>
            <a:ext cx="8382000" cy="4585721"/>
          </a:xfrm>
        </p:spPr>
        <p:txBody>
          <a:bodyPr tIns="0"/>
          <a:lstStyle/>
          <a:p>
            <a:pPr marL="255600" indent="-255600"/>
            <a:r>
              <a:rPr lang="en-US" sz="2200" dirty="0"/>
              <a:t>Is import competition from developing countries—especially from China—at fault for declines in manufacturing employment in the United States?</a:t>
            </a:r>
          </a:p>
          <a:p>
            <a:pPr marL="741600" lvl="1"/>
            <a:r>
              <a:rPr lang="en-US" sz="2200" dirty="0"/>
              <a:t>Would closing off the United States from trade with China increase the share of employment in U.S. manufacturing?</a:t>
            </a:r>
          </a:p>
          <a:p>
            <a:pPr marL="255600" indent="-255600"/>
            <a:r>
              <a:rPr lang="en-US" sz="2200" dirty="0"/>
              <a:t>Some workers in sectors that compete with Chinese imports may lose their jobs and take time to find new jobs.</a:t>
            </a:r>
          </a:p>
          <a:p>
            <a:pPr marL="741600" lvl="1"/>
            <a:r>
              <a:rPr lang="en-US" sz="2200" dirty="0"/>
              <a:t>Meanwhile, jobs are opening up in the export sectors of the economy.</a:t>
            </a:r>
          </a:p>
          <a:p>
            <a:pPr marL="741600" lvl="1"/>
            <a:r>
              <a:rPr lang="en-US" sz="2200" dirty="0"/>
              <a:t>What is the net effect of increase import competition on manufacturing employment?</a:t>
            </a:r>
            <a:endParaRPr lang="en-IN" sz="2200" dirty="0"/>
          </a:p>
        </p:txBody>
      </p:sp>
    </p:spTree>
    <p:extLst>
      <p:ext uri="{BB962C8B-B14F-4D97-AF65-F5344CB8AC3E}">
        <p14:creationId xmlns:p14="http://schemas.microsoft.com/office/powerpoint/2010/main" val="41717832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Manufacturing Employment and Chinese Import Competition </a:t>
            </a:r>
            <a:r>
              <a:rPr lang="en-US" altLang="en-US" sz="2000" b="0" dirty="0"/>
              <a:t>(2 of 2)</a:t>
            </a:r>
            <a:endParaRPr lang="en-IN"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629298"/>
            <a:ext cx="8229600" cy="4667000"/>
          </a:xfrm>
        </p:spPr>
        <p:txBody>
          <a:bodyPr tIns="0"/>
          <a:lstStyle/>
          <a:p>
            <a:pPr marL="255600" indent="-255600"/>
            <a:r>
              <a:rPr lang="en-US" sz="2400" dirty="0"/>
              <a:t>Figure 4.13 shows that this manufacturing employment share has been steadily decreasing over the last half-century. </a:t>
            </a:r>
          </a:p>
          <a:p>
            <a:pPr marL="255600" indent="-255600"/>
            <a:r>
              <a:rPr lang="en-US" sz="2400" dirty="0"/>
              <a:t>U.S. manufacturing was still producing the same quantity of goods, but was using fewer and fewer workers (due to increase productivity).</a:t>
            </a:r>
          </a:p>
          <a:p>
            <a:pPr marL="255600" indent="-255600"/>
            <a:r>
              <a:rPr lang="en-US" altLang="en-US" sz="2400" dirty="0"/>
              <a:t>Estimate share of manufacturing employment using data from before China became a major source of U.S. imports.</a:t>
            </a:r>
          </a:p>
          <a:p>
            <a:pPr marL="741600" lvl="1"/>
            <a:r>
              <a:rPr lang="en-US" altLang="en-US" dirty="0"/>
              <a:t>Accurate fit to manufacturing employment now.</a:t>
            </a:r>
          </a:p>
          <a:p>
            <a:pPr marL="741600" lvl="1"/>
            <a:r>
              <a:rPr lang="en-US" altLang="en-US" dirty="0"/>
              <a:t>China appears to have little, if any, effect.</a:t>
            </a:r>
            <a:endParaRPr lang="en-IN" dirty="0"/>
          </a:p>
        </p:txBody>
      </p:sp>
    </p:spTree>
    <p:extLst>
      <p:ext uri="{BB962C8B-B14F-4D97-AF65-F5344CB8AC3E}">
        <p14:creationId xmlns:p14="http://schemas.microsoft.com/office/powerpoint/2010/main" val="7006258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4.13 U.S. Manufacturing Employment and Imports from China</a:t>
            </a:r>
            <a:endParaRPr lang="en-IN" sz="2000" dirty="0"/>
          </a:p>
        </p:txBody>
      </p:sp>
      <p:pic>
        <p:nvPicPr>
          <p:cNvPr id="8" name="Content Placeholder 7" descr="A double graph depicts the U S manufacturing employment and imports from China. For long description in Notes pane, press F6.">
            <a:extLst>
              <a:ext uri="{FF2B5EF4-FFF2-40B4-BE49-F238E27FC236}">
                <a16:creationId xmlns:a16="http://schemas.microsoft.com/office/drawing/2014/main" id="{0F3B4856-6161-4EBA-A50B-C2744E2A9E7B}"/>
              </a:ext>
            </a:extLst>
          </p:cNvPr>
          <p:cNvPicPr>
            <a:picLocks noGrp="1" noChangeAspect="1"/>
          </p:cNvPicPr>
          <p:nvPr>
            <p:ph sz="quarter" idx="13"/>
          </p:nvPr>
        </p:nvPicPr>
        <p:blipFill rotWithShape="1">
          <a:blip r:embed="rId3"/>
          <a:srcRect t="748"/>
          <a:stretch/>
        </p:blipFill>
        <p:spPr>
          <a:xfrm>
            <a:off x="2235973" y="1710101"/>
            <a:ext cx="4672055" cy="3416023"/>
          </a:xfrm>
        </p:spPr>
      </p:pic>
      <p:sp>
        <p:nvSpPr>
          <p:cNvPr id="3" name="Content Placeholder 2">
            <a:extLst>
              <a:ext uri="{FF2B5EF4-FFF2-40B4-BE49-F238E27FC236}">
                <a16:creationId xmlns:a16="http://schemas.microsoft.com/office/drawing/2014/main" id="{607E4143-57D6-4359-9D99-27C98D5EA83F}"/>
              </a:ext>
            </a:extLst>
          </p:cNvPr>
          <p:cNvSpPr>
            <a:spLocks noGrp="1"/>
          </p:cNvSpPr>
          <p:nvPr>
            <p:ph sz="quarter" idx="14"/>
          </p:nvPr>
        </p:nvSpPr>
        <p:spPr>
          <a:xfrm>
            <a:off x="457200" y="5221562"/>
            <a:ext cx="8072846" cy="1097279"/>
          </a:xfrm>
        </p:spPr>
        <p:txBody>
          <a:bodyPr/>
          <a:lstStyle/>
          <a:p>
            <a:pPr marL="432" indent="0">
              <a:buNone/>
            </a:pPr>
            <a:r>
              <a:rPr lang="en-US" sz="2000" dirty="0"/>
              <a:t>Manufacturing employment is measured as a percent of total U.S. non-farm employment. Imports from China are measured as a percent of the U.S. manufacturing production.</a:t>
            </a:r>
          </a:p>
        </p:txBody>
      </p:sp>
    </p:spTree>
    <p:extLst>
      <p:ext uri="{BB962C8B-B14F-4D97-AF65-F5344CB8AC3E}">
        <p14:creationId xmlns:p14="http://schemas.microsoft.com/office/powerpoint/2010/main" val="31727341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The Trump Trade War</a:t>
            </a:r>
            <a:endParaRPr lang="en-US"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627923"/>
            <a:ext cx="8229600" cy="4555617"/>
          </a:xfrm>
        </p:spPr>
        <p:txBody>
          <a:bodyPr tIns="0"/>
          <a:lstStyle/>
          <a:p>
            <a:r>
              <a:rPr lang="en-US" sz="2200" dirty="0"/>
              <a:t>Substantial political pressure to protect import-competing sectors, even if leads to aggregate losses.</a:t>
            </a:r>
          </a:p>
          <a:p>
            <a:pPr lvl="1"/>
            <a:r>
              <a:rPr lang="en-US" sz="2200" dirty="0"/>
              <a:t>Trade protection usually limited to a few hard-hit sectors.</a:t>
            </a:r>
          </a:p>
          <a:p>
            <a:r>
              <a:rPr lang="en-US" sz="2200" dirty="0"/>
              <a:t>The Trump administration enacted a vast set of tariffs on solar panels, washing machines, steel, aluminium, and an expanding list of manufactured good produced in China.</a:t>
            </a:r>
          </a:p>
          <a:p>
            <a:pPr lvl="1"/>
            <a:r>
              <a:rPr lang="en-US" sz="2200" dirty="0"/>
              <a:t>Many of the protected sectors contained a high proportion of intermediate goods imported by U.S. producers, harming jobs in these downstream sectors.</a:t>
            </a:r>
          </a:p>
          <a:p>
            <a:pPr lvl="1"/>
            <a:r>
              <a:rPr lang="en-US" sz="2200" dirty="0"/>
              <a:t>Retaliation by trading partners had a negative impact on employment by U.S. exporters.</a:t>
            </a:r>
          </a:p>
        </p:txBody>
      </p:sp>
    </p:spTree>
    <p:extLst>
      <p:ext uri="{BB962C8B-B14F-4D97-AF65-F5344CB8AC3E}">
        <p14:creationId xmlns:p14="http://schemas.microsoft.com/office/powerpoint/2010/main" val="3588681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International Labor Mobility </a:t>
            </a:r>
            <a:r>
              <a:rPr lang="en-US" altLang="en-US" sz="2000" b="0" dirty="0"/>
              <a:t>(1 of 6)</a:t>
            </a:r>
            <a:endParaRPr lang="en-IN"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631271"/>
            <a:ext cx="7694023" cy="4601173"/>
          </a:xfrm>
        </p:spPr>
        <p:txBody>
          <a:bodyPr tIns="0"/>
          <a:lstStyle/>
          <a:p>
            <a:r>
              <a:rPr lang="en-US" altLang="en-US" sz="2400" dirty="0"/>
              <a:t>Movements in factors of production include </a:t>
            </a:r>
          </a:p>
          <a:p>
            <a:pPr lvl="1"/>
            <a:r>
              <a:rPr lang="en-US" altLang="en-US" sz="2400" dirty="0"/>
              <a:t>Labor migration </a:t>
            </a:r>
          </a:p>
          <a:p>
            <a:pPr lvl="1"/>
            <a:r>
              <a:rPr lang="en-US" altLang="en-US" sz="2400" dirty="0"/>
              <a:t>The transfer of financial assets through international borrowing and lending</a:t>
            </a:r>
          </a:p>
          <a:p>
            <a:pPr lvl="1"/>
            <a:r>
              <a:rPr lang="en-US" altLang="en-US" sz="2400" dirty="0"/>
              <a:t>Transactions of multinational corporations involving direct ownership of foreign firms</a:t>
            </a:r>
          </a:p>
          <a:p>
            <a:r>
              <a:rPr lang="en-US" altLang="en-US" sz="2400" dirty="0"/>
              <a:t>Like movements of goods and services (trade), movements of factors of production are politically sensitive and are often restricted.</a:t>
            </a:r>
            <a:endParaRPr lang="en-IN" sz="2400" dirty="0"/>
          </a:p>
        </p:txBody>
      </p:sp>
    </p:spTree>
    <p:extLst>
      <p:ext uri="{BB962C8B-B14F-4D97-AF65-F5344CB8AC3E}">
        <p14:creationId xmlns:p14="http://schemas.microsoft.com/office/powerpoint/2010/main" val="10757392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8339959" cy="1097279"/>
          </a:xfrm>
        </p:spPr>
        <p:txBody>
          <a:bodyPr/>
          <a:lstStyle/>
          <a:p>
            <a:r>
              <a:rPr lang="en-US" altLang="en-US" dirty="0"/>
              <a:t>International Labor Mobility </a:t>
            </a:r>
            <a:r>
              <a:rPr lang="en-US" altLang="en-US" sz="2000" b="0" dirty="0"/>
              <a:t>(2 of 6)</a:t>
            </a:r>
            <a:endParaRPr lang="en-IN" sz="20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1571190"/>
            <a:ext cx="8339958" cy="3899894"/>
          </a:xfrm>
        </p:spPr>
        <p:txBody>
          <a:bodyPr/>
          <a:lstStyle/>
          <a:p>
            <a:pPr>
              <a:spcBef>
                <a:spcPct val="50000"/>
              </a:spcBef>
            </a:pPr>
            <a:r>
              <a:rPr lang="en-US" altLang="en-US" sz="2400" dirty="0"/>
              <a:t>Why does labor migrate and what effects does labor migration cause?</a:t>
            </a:r>
          </a:p>
          <a:p>
            <a:pPr>
              <a:spcBef>
                <a:spcPct val="50000"/>
              </a:spcBef>
            </a:pPr>
            <a:r>
              <a:rPr lang="en-US" altLang="en-US" sz="2400" dirty="0"/>
              <a:t>Workers migrate to wherever wages are highest.</a:t>
            </a:r>
          </a:p>
          <a:p>
            <a:pPr>
              <a:spcBef>
                <a:spcPct val="50000"/>
              </a:spcBef>
            </a:pPr>
            <a:r>
              <a:rPr lang="en-US" altLang="en-US" sz="2400" dirty="0"/>
              <a:t>Consider movement of labor across countries instead of across sectors.</a:t>
            </a:r>
          </a:p>
          <a:p>
            <a:pPr>
              <a:spcBef>
                <a:spcPct val="50000"/>
              </a:spcBef>
            </a:pPr>
            <a:r>
              <a:rPr lang="en-US" altLang="en-US" sz="2400" dirty="0"/>
              <a:t>Suppose two countries produce one non-traded good (food) using two factors of production: </a:t>
            </a:r>
          </a:p>
          <a:p>
            <a:pPr lvl="1"/>
            <a:r>
              <a:rPr lang="en-US" altLang="en-US" sz="2400" dirty="0"/>
              <a:t>Land cannot move across countries but labor can.</a:t>
            </a:r>
            <a:endParaRPr lang="en-IN" sz="2400" dirty="0"/>
          </a:p>
        </p:txBody>
      </p:sp>
    </p:spTree>
    <p:extLst>
      <p:ext uri="{BB962C8B-B14F-4D97-AF65-F5344CB8AC3E}">
        <p14:creationId xmlns:p14="http://schemas.microsoft.com/office/powerpoint/2010/main" val="22670243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International Labor Mobility </a:t>
            </a:r>
            <a:r>
              <a:rPr lang="en-US" altLang="en-US" sz="2000" b="0" dirty="0"/>
              <a:t>(3 of 6)</a:t>
            </a:r>
            <a:endParaRPr lang="en-IN" sz="20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3"/>
          </p:nvPr>
        </p:nvSpPr>
        <p:spPr>
          <a:xfrm>
            <a:off x="457200" y="1556327"/>
            <a:ext cx="8020050" cy="1440000"/>
          </a:xfrm>
        </p:spPr>
        <p:txBody>
          <a:bodyPr/>
          <a:lstStyle/>
          <a:p>
            <a:r>
              <a:rPr lang="en-US" altLang="en-US" sz="2000" dirty="0"/>
              <a:t>Figure 4.13 finds the equilibrium wage and labor allocation with migration across countries.</a:t>
            </a:r>
          </a:p>
          <a:p>
            <a:pPr lvl="1"/>
            <a:r>
              <a:rPr lang="en-US" altLang="en-US" sz="2000" dirty="0"/>
              <a:t>Similar to how Figure 4.4 determined the equilibrium allocation of labor between sectors.</a:t>
            </a:r>
          </a:p>
        </p:txBody>
      </p:sp>
      <p:sp>
        <p:nvSpPr>
          <p:cNvPr id="3" name="Content Placeholder 2">
            <a:extLst>
              <a:ext uri="{FF2B5EF4-FFF2-40B4-BE49-F238E27FC236}">
                <a16:creationId xmlns:a16="http://schemas.microsoft.com/office/drawing/2014/main" id="{1C520D38-3CDD-479A-8789-0AEDF42C394E}"/>
              </a:ext>
            </a:extLst>
          </p:cNvPr>
          <p:cNvSpPr>
            <a:spLocks noGrp="1"/>
          </p:cNvSpPr>
          <p:nvPr>
            <p:ph sz="quarter" idx="15"/>
          </p:nvPr>
        </p:nvSpPr>
        <p:spPr>
          <a:xfrm>
            <a:off x="457199" y="3126837"/>
            <a:ext cx="1512000" cy="333817"/>
          </a:xfrm>
        </p:spPr>
        <p:txBody>
          <a:bodyPr tIns="0"/>
          <a:lstStyle/>
          <a:p>
            <a:pPr indent="-255600"/>
            <a:r>
              <a:rPr lang="en-US" altLang="en-US" sz="2000" dirty="0">
                <a:latin typeface="+mn-lt"/>
              </a:rPr>
              <a:t>Start with</a:t>
            </a:r>
            <a:endParaRPr lang="en-US" sz="2000" dirty="0">
              <a:latin typeface="+mn-lt"/>
            </a:endParaRPr>
          </a:p>
        </p:txBody>
      </p:sp>
      <p:graphicFrame>
        <p:nvGraphicFramePr>
          <p:cNvPr id="12" name="Object 11" descr="O L to the first power ">
            <a:extLst>
              <a:ext uri="{FF2B5EF4-FFF2-40B4-BE49-F238E27FC236}">
                <a16:creationId xmlns:a16="http://schemas.microsoft.com/office/drawing/2014/main" id="{5ACE51E3-FB9F-41C8-9320-ED0A12041374}"/>
              </a:ext>
            </a:extLst>
          </p:cNvPr>
          <p:cNvGraphicFramePr>
            <a:graphicFrameLocks noChangeAspect="1"/>
          </p:cNvGraphicFramePr>
          <p:nvPr>
            <p:extLst>
              <p:ext uri="{D42A27DB-BD31-4B8C-83A1-F6EECF244321}">
                <p14:modId xmlns:p14="http://schemas.microsoft.com/office/powerpoint/2010/main" val="4267102841"/>
              </p:ext>
            </p:extLst>
          </p:nvPr>
        </p:nvGraphicFramePr>
        <p:xfrm>
          <a:off x="2044091" y="3111658"/>
          <a:ext cx="427047" cy="341911"/>
        </p:xfrm>
        <a:graphic>
          <a:graphicData uri="http://schemas.openxmlformats.org/presentationml/2006/ole">
            <mc:AlternateContent xmlns:mc="http://schemas.openxmlformats.org/markup-compatibility/2006">
              <mc:Choice xmlns:v="urn:schemas-microsoft-com:vml" Requires="v">
                <p:oleObj name="Equation" r:id="rId3" imgW="494051" imgH="394765" progId="Equation.DSMT4">
                  <p:embed/>
                </p:oleObj>
              </mc:Choice>
              <mc:Fallback>
                <p:oleObj name="Equation" r:id="rId3" imgW="494051" imgH="394765" progId="Equation.DSMT4">
                  <p:embed/>
                  <p:pic>
                    <p:nvPicPr>
                      <p:cNvPr id="0" name=""/>
                      <p:cNvPicPr/>
                      <p:nvPr/>
                    </p:nvPicPr>
                    <p:blipFill>
                      <a:blip r:embed="rId4"/>
                      <a:stretch>
                        <a:fillRect/>
                      </a:stretch>
                    </p:blipFill>
                    <p:spPr>
                      <a:xfrm>
                        <a:off x="2044091" y="3111658"/>
                        <a:ext cx="427047" cy="341911"/>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90DE621C-273E-4473-B1FC-F72061A9BF76}"/>
              </a:ext>
            </a:extLst>
          </p:cNvPr>
          <p:cNvSpPr>
            <a:spLocks noGrp="1"/>
          </p:cNvSpPr>
          <p:nvPr>
            <p:ph sz="quarter" idx="16"/>
          </p:nvPr>
        </p:nvSpPr>
        <p:spPr>
          <a:xfrm>
            <a:off x="2598092" y="3127550"/>
            <a:ext cx="5364000" cy="360000"/>
          </a:xfrm>
        </p:spPr>
        <p:txBody>
          <a:bodyPr tIns="0"/>
          <a:lstStyle/>
          <a:p>
            <a:pPr marL="0" indent="0">
              <a:buNone/>
            </a:pPr>
            <a:r>
              <a:rPr lang="en-US" altLang="en-US" sz="2000" dirty="0">
                <a:latin typeface="+mn-lt"/>
              </a:rPr>
              <a:t>workers in Home earning a lower real wage</a:t>
            </a:r>
            <a:endParaRPr lang="en-IN" sz="2000" dirty="0">
              <a:latin typeface="+mn-lt"/>
            </a:endParaRPr>
          </a:p>
        </p:txBody>
      </p:sp>
      <p:sp>
        <p:nvSpPr>
          <p:cNvPr id="7" name="Content Placeholder 6">
            <a:extLst>
              <a:ext uri="{FF2B5EF4-FFF2-40B4-BE49-F238E27FC236}">
                <a16:creationId xmlns:a16="http://schemas.microsoft.com/office/drawing/2014/main" id="{1D4C61C1-30B4-46F3-A882-8F9B58026843}"/>
              </a:ext>
            </a:extLst>
          </p:cNvPr>
          <p:cNvSpPr>
            <a:spLocks noGrp="1"/>
          </p:cNvSpPr>
          <p:nvPr>
            <p:ph sz="quarter" idx="17"/>
          </p:nvPr>
        </p:nvSpPr>
        <p:spPr>
          <a:xfrm>
            <a:off x="457200" y="3586417"/>
            <a:ext cx="2412000" cy="350873"/>
          </a:xfrm>
        </p:spPr>
        <p:txBody>
          <a:bodyPr tIns="0"/>
          <a:lstStyle/>
          <a:p>
            <a:pPr marL="255600" indent="0">
              <a:buNone/>
            </a:pPr>
            <a:r>
              <a:rPr lang="en-US" altLang="en-US" sz="2000" dirty="0">
                <a:latin typeface="+mn-lt"/>
              </a:rPr>
              <a:t>(point </a:t>
            </a:r>
            <a:r>
              <a:rPr lang="en-US" altLang="en-US" sz="2000" i="1" dirty="0">
                <a:latin typeface="+mn-lt"/>
              </a:rPr>
              <a:t>C</a:t>
            </a:r>
            <a:r>
              <a:rPr lang="en-US" altLang="en-US" sz="2000" dirty="0">
                <a:latin typeface="+mn-lt"/>
              </a:rPr>
              <a:t>) than the</a:t>
            </a:r>
            <a:endParaRPr lang="en-IN" sz="2000" dirty="0">
              <a:latin typeface="+mn-lt"/>
            </a:endParaRPr>
          </a:p>
        </p:txBody>
      </p:sp>
      <p:graphicFrame>
        <p:nvGraphicFramePr>
          <p:cNvPr id="13" name="Object 12" descr="L to the first power O asterisk ">
            <a:extLst>
              <a:ext uri="{FF2B5EF4-FFF2-40B4-BE49-F238E27FC236}">
                <a16:creationId xmlns:a16="http://schemas.microsoft.com/office/drawing/2014/main" id="{A4D63EBA-9D89-427B-8897-12E78A40A4D1}"/>
              </a:ext>
            </a:extLst>
          </p:cNvPr>
          <p:cNvGraphicFramePr>
            <a:graphicFrameLocks noChangeAspect="1"/>
          </p:cNvGraphicFramePr>
          <p:nvPr>
            <p:extLst>
              <p:ext uri="{D42A27DB-BD31-4B8C-83A1-F6EECF244321}">
                <p14:modId xmlns:p14="http://schemas.microsoft.com/office/powerpoint/2010/main" val="3475790766"/>
              </p:ext>
            </p:extLst>
          </p:nvPr>
        </p:nvGraphicFramePr>
        <p:xfrm>
          <a:off x="2946271" y="3580613"/>
          <a:ext cx="501328" cy="335112"/>
        </p:xfrm>
        <a:graphic>
          <a:graphicData uri="http://schemas.openxmlformats.org/presentationml/2006/ole">
            <mc:AlternateContent xmlns:mc="http://schemas.openxmlformats.org/markup-compatibility/2006">
              <mc:Choice xmlns:v="urn:schemas-microsoft-com:vml" Requires="v">
                <p:oleObj name="Equation" r:id="rId5" imgW="593005" imgH="396207" progId="Equation.DSMT4">
                  <p:embed/>
                </p:oleObj>
              </mc:Choice>
              <mc:Fallback>
                <p:oleObj name="Equation" r:id="rId5" imgW="593005" imgH="396207" progId="Equation.DSMT4">
                  <p:embed/>
                  <p:pic>
                    <p:nvPicPr>
                      <p:cNvPr id="0" name=""/>
                      <p:cNvPicPr/>
                      <p:nvPr/>
                    </p:nvPicPr>
                    <p:blipFill>
                      <a:blip r:embed="rId6"/>
                      <a:stretch>
                        <a:fillRect/>
                      </a:stretch>
                    </p:blipFill>
                    <p:spPr>
                      <a:xfrm>
                        <a:off x="2946271" y="3580613"/>
                        <a:ext cx="501328" cy="335112"/>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94212184-A00F-4B1A-8E4D-48D8B94B1C9D}"/>
              </a:ext>
            </a:extLst>
          </p:cNvPr>
          <p:cNvSpPr>
            <a:spLocks noGrp="1"/>
          </p:cNvSpPr>
          <p:nvPr>
            <p:ph sz="quarter" idx="18"/>
          </p:nvPr>
        </p:nvSpPr>
        <p:spPr>
          <a:xfrm>
            <a:off x="3553247" y="3575648"/>
            <a:ext cx="3420000" cy="360000"/>
          </a:xfrm>
        </p:spPr>
        <p:txBody>
          <a:bodyPr tIns="0"/>
          <a:lstStyle/>
          <a:p>
            <a:pPr marL="0" indent="0">
              <a:buNone/>
            </a:pPr>
            <a:r>
              <a:rPr lang="en-US" altLang="en-US" sz="2000" dirty="0">
                <a:latin typeface="+mn-lt"/>
              </a:rPr>
              <a:t>workers in Foreign (point </a:t>
            </a:r>
            <a:r>
              <a:rPr lang="en-US" altLang="en-US" sz="2000" i="1" dirty="0">
                <a:latin typeface="+mn-lt"/>
              </a:rPr>
              <a:t>B</a:t>
            </a:r>
            <a:r>
              <a:rPr lang="en-US" altLang="en-US" sz="2000" dirty="0">
                <a:latin typeface="+mn-lt"/>
              </a:rPr>
              <a:t>).</a:t>
            </a:r>
            <a:endParaRPr lang="en-US" sz="2000" dirty="0">
              <a:latin typeface="+mn-lt"/>
            </a:endParaRPr>
          </a:p>
        </p:txBody>
      </p:sp>
      <p:sp>
        <p:nvSpPr>
          <p:cNvPr id="9" name="Content Placeholder 8">
            <a:extLst>
              <a:ext uri="{FF2B5EF4-FFF2-40B4-BE49-F238E27FC236}">
                <a16:creationId xmlns:a16="http://schemas.microsoft.com/office/drawing/2014/main" id="{C5C6970F-F27E-4085-8A89-E498705879AD}"/>
              </a:ext>
            </a:extLst>
          </p:cNvPr>
          <p:cNvSpPr>
            <a:spLocks noGrp="1"/>
          </p:cNvSpPr>
          <p:nvPr>
            <p:ph sz="quarter" idx="19"/>
          </p:nvPr>
        </p:nvSpPr>
        <p:spPr>
          <a:xfrm>
            <a:off x="457198" y="4031085"/>
            <a:ext cx="8244001" cy="1440000"/>
          </a:xfrm>
        </p:spPr>
        <p:txBody>
          <a:bodyPr/>
          <a:lstStyle/>
          <a:p>
            <a:pPr lvl="1" indent="-284400"/>
            <a:r>
              <a:rPr lang="en-US" altLang="en-US" sz="2000" dirty="0">
                <a:latin typeface="+mn-lt"/>
              </a:rPr>
              <a:t>Lower wage due to less land per worker (lower productivity).</a:t>
            </a:r>
          </a:p>
          <a:p>
            <a:pPr indent="-255600"/>
            <a:r>
              <a:rPr lang="en-US" altLang="en-US" sz="2000" dirty="0">
                <a:latin typeface="+mn-lt"/>
              </a:rPr>
              <a:t>Workers in the home country want to migrate to the foreign country where they can earn more.</a:t>
            </a:r>
            <a:endParaRPr lang="en-IN" sz="2000" dirty="0">
              <a:latin typeface="+mn-lt"/>
            </a:endParaRPr>
          </a:p>
        </p:txBody>
      </p:sp>
    </p:spTree>
    <p:extLst>
      <p:ext uri="{BB962C8B-B14F-4D97-AF65-F5344CB8AC3E}">
        <p14:creationId xmlns:p14="http://schemas.microsoft.com/office/powerpoint/2010/main" val="25209676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International Labor Mobility </a:t>
            </a:r>
            <a:r>
              <a:rPr lang="en-US" altLang="en-US" sz="2000" b="0" dirty="0"/>
              <a:t>(4 of 6)</a:t>
            </a:r>
            <a:endParaRPr lang="en-IN" sz="20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3"/>
          </p:nvPr>
        </p:nvSpPr>
        <p:spPr>
          <a:xfrm>
            <a:off x="457200" y="1556327"/>
            <a:ext cx="8503920" cy="744208"/>
          </a:xfrm>
        </p:spPr>
        <p:txBody>
          <a:bodyPr/>
          <a:lstStyle/>
          <a:p>
            <a:pPr marL="255600"/>
            <a:r>
              <a:rPr lang="en-US" altLang="en-US" sz="2000" dirty="0"/>
              <a:t>If no obstacles to labor migration, workers move from Home to Foreign until the purchasing power of wages is equal across countries (point </a:t>
            </a:r>
            <a:r>
              <a:rPr lang="en-US" altLang="en-US" sz="2000" i="1" dirty="0"/>
              <a:t>A</a:t>
            </a:r>
            <a:r>
              <a:rPr lang="en-US" altLang="en-US" sz="2000" dirty="0"/>
              <a:t>),</a:t>
            </a:r>
            <a:endParaRPr lang="en-IN" sz="2000" dirty="0"/>
          </a:p>
        </p:txBody>
      </p:sp>
      <p:sp>
        <p:nvSpPr>
          <p:cNvPr id="3" name="Content Placeholder 2">
            <a:extLst>
              <a:ext uri="{FF2B5EF4-FFF2-40B4-BE49-F238E27FC236}">
                <a16:creationId xmlns:a16="http://schemas.microsoft.com/office/drawing/2014/main" id="{1C520D38-3CDD-479A-8789-0AEDF42C394E}"/>
              </a:ext>
            </a:extLst>
          </p:cNvPr>
          <p:cNvSpPr>
            <a:spLocks noGrp="1"/>
          </p:cNvSpPr>
          <p:nvPr>
            <p:ph sz="quarter" idx="15"/>
          </p:nvPr>
        </p:nvSpPr>
        <p:spPr>
          <a:xfrm>
            <a:off x="720724" y="2361992"/>
            <a:ext cx="648000" cy="350728"/>
          </a:xfrm>
        </p:spPr>
        <p:txBody>
          <a:bodyPr tIns="0"/>
          <a:lstStyle/>
          <a:p>
            <a:pPr marL="432" indent="0">
              <a:buNone/>
            </a:pPr>
            <a:r>
              <a:rPr lang="en-US" altLang="en-US" sz="2000" dirty="0">
                <a:latin typeface="+mn-lt"/>
              </a:rPr>
              <a:t>with</a:t>
            </a:r>
            <a:endParaRPr lang="en-US" sz="2000" dirty="0">
              <a:latin typeface="+mn-lt"/>
            </a:endParaRPr>
          </a:p>
        </p:txBody>
      </p:sp>
      <p:graphicFrame>
        <p:nvGraphicFramePr>
          <p:cNvPr id="12" name="Object 11" descr="O L squared ">
            <a:extLst>
              <a:ext uri="{FF2B5EF4-FFF2-40B4-BE49-F238E27FC236}">
                <a16:creationId xmlns:a16="http://schemas.microsoft.com/office/drawing/2014/main" id="{5ACE51E3-FB9F-41C8-9320-ED0A12041374}"/>
              </a:ext>
            </a:extLst>
          </p:cNvPr>
          <p:cNvGraphicFramePr>
            <a:graphicFrameLocks noChangeAspect="1"/>
          </p:cNvGraphicFramePr>
          <p:nvPr>
            <p:extLst>
              <p:ext uri="{D42A27DB-BD31-4B8C-83A1-F6EECF244321}">
                <p14:modId xmlns:p14="http://schemas.microsoft.com/office/powerpoint/2010/main" val="3792202596"/>
              </p:ext>
            </p:extLst>
          </p:nvPr>
        </p:nvGraphicFramePr>
        <p:xfrm>
          <a:off x="1442002" y="2338115"/>
          <a:ext cx="470951" cy="341440"/>
        </p:xfrm>
        <a:graphic>
          <a:graphicData uri="http://schemas.openxmlformats.org/presentationml/2006/ole">
            <mc:AlternateContent xmlns:mc="http://schemas.openxmlformats.org/markup-compatibility/2006">
              <mc:Choice xmlns:v="urn:schemas-microsoft-com:vml" Requires="v">
                <p:oleObj name="Equation" r:id="rId3" imgW="279360" imgH="203040" progId="Equation.DSMT4">
                  <p:embed/>
                </p:oleObj>
              </mc:Choice>
              <mc:Fallback>
                <p:oleObj name="Equation" r:id="rId3" imgW="279360" imgH="203040" progId="Equation.DSMT4">
                  <p:embed/>
                  <p:pic>
                    <p:nvPicPr>
                      <p:cNvPr id="12" name="Object 11">
                        <a:extLst>
                          <a:ext uri="{FF2B5EF4-FFF2-40B4-BE49-F238E27FC236}">
                            <a16:creationId xmlns:a16="http://schemas.microsoft.com/office/drawing/2014/main" id="{5ACE51E3-FB9F-41C8-9320-ED0A12041374}"/>
                          </a:ext>
                        </a:extLst>
                      </p:cNvPr>
                      <p:cNvPicPr/>
                      <p:nvPr/>
                    </p:nvPicPr>
                    <p:blipFill>
                      <a:blip r:embed="rId4"/>
                      <a:stretch>
                        <a:fillRect/>
                      </a:stretch>
                    </p:blipFill>
                    <p:spPr>
                      <a:xfrm>
                        <a:off x="1442002" y="2338115"/>
                        <a:ext cx="470951" cy="34144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90DE621C-273E-4473-B1FC-F72061A9BF76}"/>
              </a:ext>
            </a:extLst>
          </p:cNvPr>
          <p:cNvSpPr>
            <a:spLocks noGrp="1"/>
          </p:cNvSpPr>
          <p:nvPr>
            <p:ph sz="quarter" idx="16"/>
          </p:nvPr>
        </p:nvSpPr>
        <p:spPr>
          <a:xfrm>
            <a:off x="2017902" y="2381032"/>
            <a:ext cx="2618980" cy="331688"/>
          </a:xfrm>
        </p:spPr>
        <p:txBody>
          <a:bodyPr tIns="0"/>
          <a:lstStyle/>
          <a:p>
            <a:pPr marL="0" indent="0">
              <a:buNone/>
            </a:pPr>
            <a:r>
              <a:rPr lang="en-US" altLang="en-US" sz="2000" dirty="0">
                <a:latin typeface="+mn-lt"/>
              </a:rPr>
              <a:t>workers in Home and</a:t>
            </a:r>
            <a:endParaRPr lang="en-IN" sz="2000" dirty="0">
              <a:latin typeface="+mn-lt"/>
            </a:endParaRPr>
          </a:p>
        </p:txBody>
      </p:sp>
      <p:graphicFrame>
        <p:nvGraphicFramePr>
          <p:cNvPr id="2" name="Object 1" descr="L squared O asterisk ">
            <a:extLst>
              <a:ext uri="{FF2B5EF4-FFF2-40B4-BE49-F238E27FC236}">
                <a16:creationId xmlns:a16="http://schemas.microsoft.com/office/drawing/2014/main" id="{F06CC576-0096-4C91-8617-90F549E58368}"/>
              </a:ext>
            </a:extLst>
          </p:cNvPr>
          <p:cNvGraphicFramePr>
            <a:graphicFrameLocks noChangeAspect="1"/>
          </p:cNvGraphicFramePr>
          <p:nvPr>
            <p:extLst>
              <p:ext uri="{D42A27DB-BD31-4B8C-83A1-F6EECF244321}">
                <p14:modId xmlns:p14="http://schemas.microsoft.com/office/powerpoint/2010/main" val="3055550064"/>
              </p:ext>
            </p:extLst>
          </p:nvPr>
        </p:nvGraphicFramePr>
        <p:xfrm>
          <a:off x="4697964" y="2353942"/>
          <a:ext cx="520700" cy="331787"/>
        </p:xfrm>
        <a:graphic>
          <a:graphicData uri="http://schemas.openxmlformats.org/presentationml/2006/ole">
            <mc:AlternateContent xmlns:mc="http://schemas.openxmlformats.org/markup-compatibility/2006">
              <mc:Choice xmlns:v="urn:schemas-microsoft-com:vml" Requires="v">
                <p:oleObj name="Equation" r:id="rId5" imgW="519959" imgH="332396" progId="Equation.DSMT4">
                  <p:embed/>
                </p:oleObj>
              </mc:Choice>
              <mc:Fallback>
                <p:oleObj name="Equation" r:id="rId5" imgW="519959" imgH="332396" progId="Equation.DSMT4">
                  <p:embed/>
                  <p:pic>
                    <p:nvPicPr>
                      <p:cNvPr id="0" name=""/>
                      <p:cNvPicPr/>
                      <p:nvPr/>
                    </p:nvPicPr>
                    <p:blipFill>
                      <a:blip r:embed="rId6"/>
                      <a:stretch>
                        <a:fillRect/>
                      </a:stretch>
                    </p:blipFill>
                    <p:spPr>
                      <a:xfrm>
                        <a:off x="4697964" y="2353942"/>
                        <a:ext cx="520700" cy="331787"/>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1D4C61C1-30B4-46F3-A882-8F9B58026843}"/>
              </a:ext>
            </a:extLst>
          </p:cNvPr>
          <p:cNvSpPr>
            <a:spLocks noGrp="1"/>
          </p:cNvSpPr>
          <p:nvPr>
            <p:ph sz="quarter" idx="17"/>
          </p:nvPr>
        </p:nvSpPr>
        <p:spPr>
          <a:xfrm>
            <a:off x="5303931" y="2358242"/>
            <a:ext cx="2412000" cy="350873"/>
          </a:xfrm>
        </p:spPr>
        <p:txBody>
          <a:bodyPr tIns="0"/>
          <a:lstStyle/>
          <a:p>
            <a:pPr marL="0" indent="0">
              <a:buNone/>
            </a:pPr>
            <a:r>
              <a:rPr lang="en-US" altLang="en-US" sz="2000" dirty="0"/>
              <a:t>workers in Foreign.</a:t>
            </a:r>
            <a:endParaRPr lang="en-IN" sz="2000" dirty="0"/>
          </a:p>
        </p:txBody>
      </p:sp>
      <p:sp>
        <p:nvSpPr>
          <p:cNvPr id="9" name="Content Placeholder 8">
            <a:extLst>
              <a:ext uri="{FF2B5EF4-FFF2-40B4-BE49-F238E27FC236}">
                <a16:creationId xmlns:a16="http://schemas.microsoft.com/office/drawing/2014/main" id="{C5C6970F-F27E-4085-8A89-E498705879AD}"/>
              </a:ext>
            </a:extLst>
          </p:cNvPr>
          <p:cNvSpPr>
            <a:spLocks noGrp="1"/>
          </p:cNvSpPr>
          <p:nvPr>
            <p:ph sz="quarter" idx="19"/>
          </p:nvPr>
        </p:nvSpPr>
        <p:spPr>
          <a:xfrm>
            <a:off x="457200" y="2812636"/>
            <a:ext cx="8229600" cy="2853853"/>
          </a:xfrm>
        </p:spPr>
        <p:txBody>
          <a:bodyPr/>
          <a:lstStyle/>
          <a:p>
            <a:pPr lvl="1" indent="-284400"/>
            <a:r>
              <a:rPr lang="en-US" altLang="en-US" sz="2000" dirty="0">
                <a:latin typeface="+mn-lt"/>
              </a:rPr>
              <a:t>Emigration from Home decreases the supply of labor and raises real wage of the workers who remain there.</a:t>
            </a:r>
          </a:p>
          <a:p>
            <a:pPr marL="1144800" lvl="2" indent="-230400"/>
            <a:r>
              <a:rPr lang="en-US" altLang="en-US" sz="2000" dirty="0">
                <a:latin typeface="+mn-lt"/>
              </a:rPr>
              <a:t>Workers who start in the Home country earn more due to emigration regardless if they are among those who leave.</a:t>
            </a:r>
          </a:p>
          <a:p>
            <a:pPr lvl="1" indent="-284400"/>
            <a:r>
              <a:rPr lang="en-US" altLang="en-US" sz="2000" dirty="0">
                <a:latin typeface="+mn-lt"/>
              </a:rPr>
              <a:t>Immigration into Foreign increases the supply of labor and decreases the real wage there.</a:t>
            </a:r>
          </a:p>
          <a:p>
            <a:pPr indent="-255600">
              <a:spcBef>
                <a:spcPts val="600"/>
              </a:spcBef>
            </a:pPr>
            <a:r>
              <a:rPr lang="en-US" altLang="en-US" sz="2000" dirty="0">
                <a:latin typeface="+mn-lt"/>
              </a:rPr>
              <a:t>Wages do not actually equalize, due to barriers to migration such as policies restricting immigration and natural reluctance to move.</a:t>
            </a:r>
            <a:endParaRPr lang="en-IN" sz="2000" dirty="0">
              <a:latin typeface="+mn-lt"/>
            </a:endParaRPr>
          </a:p>
        </p:txBody>
      </p:sp>
    </p:spTree>
    <p:extLst>
      <p:ext uri="{BB962C8B-B14F-4D97-AF65-F5344CB8AC3E}">
        <p14:creationId xmlns:p14="http://schemas.microsoft.com/office/powerpoint/2010/main" val="38344534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4.14 Causes and Effects of International Labor Mobility</a:t>
            </a:r>
            <a:endParaRPr lang="en-IN" sz="32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3"/>
          </p:nvPr>
        </p:nvSpPr>
        <p:spPr>
          <a:xfrm>
            <a:off x="457198" y="1540684"/>
            <a:ext cx="1051562" cy="432000"/>
          </a:xfrm>
        </p:spPr>
        <p:txBody>
          <a:bodyPr/>
          <a:lstStyle/>
          <a:p>
            <a:pPr marL="0" indent="0">
              <a:buNone/>
            </a:pPr>
            <a:r>
              <a:rPr lang="en-US" sz="2000" dirty="0"/>
              <a:t>Initially,</a:t>
            </a:r>
            <a:endParaRPr lang="en-IN" sz="2000" dirty="0"/>
          </a:p>
        </p:txBody>
      </p:sp>
      <p:graphicFrame>
        <p:nvGraphicFramePr>
          <p:cNvPr id="12" name="Object 11" descr="O L to the first power ">
            <a:extLst>
              <a:ext uri="{FF2B5EF4-FFF2-40B4-BE49-F238E27FC236}">
                <a16:creationId xmlns:a16="http://schemas.microsoft.com/office/drawing/2014/main" id="{5ACE51E3-FB9F-41C8-9320-ED0A12041374}"/>
              </a:ext>
            </a:extLst>
          </p:cNvPr>
          <p:cNvGraphicFramePr>
            <a:graphicFrameLocks noChangeAspect="1"/>
          </p:cNvGraphicFramePr>
          <p:nvPr>
            <p:extLst>
              <p:ext uri="{D42A27DB-BD31-4B8C-83A1-F6EECF244321}">
                <p14:modId xmlns:p14="http://schemas.microsoft.com/office/powerpoint/2010/main" val="3237381761"/>
              </p:ext>
            </p:extLst>
          </p:nvPr>
        </p:nvGraphicFramePr>
        <p:xfrm>
          <a:off x="1599377" y="1624113"/>
          <a:ext cx="430068" cy="342034"/>
        </p:xfrm>
        <a:graphic>
          <a:graphicData uri="http://schemas.openxmlformats.org/presentationml/2006/ole">
            <mc:AlternateContent xmlns:mc="http://schemas.openxmlformats.org/markup-compatibility/2006">
              <mc:Choice xmlns:v="urn:schemas-microsoft-com:vml" Requires="v">
                <p:oleObj name="Equation" r:id="rId3" imgW="253800" imgH="203040" progId="Equation.DSMT4">
                  <p:embed/>
                </p:oleObj>
              </mc:Choice>
              <mc:Fallback>
                <p:oleObj name="Equation" r:id="rId3" imgW="253800" imgH="203040" progId="Equation.DSMT4">
                  <p:embed/>
                  <p:pic>
                    <p:nvPicPr>
                      <p:cNvPr id="12" name="Object 11">
                        <a:extLst>
                          <a:ext uri="{FF2B5EF4-FFF2-40B4-BE49-F238E27FC236}">
                            <a16:creationId xmlns:a16="http://schemas.microsoft.com/office/drawing/2014/main" id="{5ACE51E3-FB9F-41C8-9320-ED0A12041374}"/>
                          </a:ext>
                        </a:extLst>
                      </p:cNvPr>
                      <p:cNvPicPr/>
                      <p:nvPr/>
                    </p:nvPicPr>
                    <p:blipFill>
                      <a:blip r:embed="rId4"/>
                      <a:stretch>
                        <a:fillRect/>
                      </a:stretch>
                    </p:blipFill>
                    <p:spPr>
                      <a:xfrm>
                        <a:off x="1599377" y="1624113"/>
                        <a:ext cx="430068" cy="342034"/>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1C520D38-3CDD-479A-8789-0AEDF42C394E}"/>
              </a:ext>
            </a:extLst>
          </p:cNvPr>
          <p:cNvSpPr>
            <a:spLocks noGrp="1"/>
          </p:cNvSpPr>
          <p:nvPr>
            <p:ph sz="quarter" idx="15"/>
          </p:nvPr>
        </p:nvSpPr>
        <p:spPr>
          <a:xfrm>
            <a:off x="2175795" y="1640977"/>
            <a:ext cx="4428000" cy="360000"/>
          </a:xfrm>
        </p:spPr>
        <p:txBody>
          <a:bodyPr tIns="0"/>
          <a:lstStyle/>
          <a:p>
            <a:pPr marL="0" indent="0">
              <a:buNone/>
            </a:pPr>
            <a:r>
              <a:rPr lang="en-US" sz="2000" dirty="0">
                <a:latin typeface="+mn-lt"/>
              </a:rPr>
              <a:t>workers are </a:t>
            </a:r>
            <a:r>
              <a:rPr lang="en-US" sz="2000" dirty="0"/>
              <a:t>employed in Home, while</a:t>
            </a:r>
            <a:endParaRPr lang="en-IN" sz="2000" dirty="0">
              <a:latin typeface="+mn-lt"/>
            </a:endParaRPr>
          </a:p>
        </p:txBody>
      </p:sp>
      <p:graphicFrame>
        <p:nvGraphicFramePr>
          <p:cNvPr id="2" name="Object 1" descr="L to the first power O asterisk ">
            <a:extLst>
              <a:ext uri="{FF2B5EF4-FFF2-40B4-BE49-F238E27FC236}">
                <a16:creationId xmlns:a16="http://schemas.microsoft.com/office/drawing/2014/main" id="{F06CC576-0096-4C91-8617-90F549E58368}"/>
              </a:ext>
            </a:extLst>
          </p:cNvPr>
          <p:cNvGraphicFramePr>
            <a:graphicFrameLocks noChangeAspect="1"/>
          </p:cNvGraphicFramePr>
          <p:nvPr>
            <p:extLst>
              <p:ext uri="{D42A27DB-BD31-4B8C-83A1-F6EECF244321}">
                <p14:modId xmlns:p14="http://schemas.microsoft.com/office/powerpoint/2010/main" val="730363651"/>
              </p:ext>
            </p:extLst>
          </p:nvPr>
        </p:nvGraphicFramePr>
        <p:xfrm>
          <a:off x="6670951" y="1628657"/>
          <a:ext cx="490884" cy="327256"/>
        </p:xfrm>
        <a:graphic>
          <a:graphicData uri="http://schemas.openxmlformats.org/presentationml/2006/ole">
            <mc:AlternateContent xmlns:mc="http://schemas.openxmlformats.org/markup-compatibility/2006">
              <mc:Choice xmlns:v="urn:schemas-microsoft-com:vml" Requires="v">
                <p:oleObj name="Equation" r:id="rId5" imgW="304560" imgH="203040" progId="Equation.DSMT4">
                  <p:embed/>
                </p:oleObj>
              </mc:Choice>
              <mc:Fallback>
                <p:oleObj name="Equation" r:id="rId5" imgW="304560" imgH="203040" progId="Equation.DSMT4">
                  <p:embed/>
                  <p:pic>
                    <p:nvPicPr>
                      <p:cNvPr id="2" name="Object 1">
                        <a:extLst>
                          <a:ext uri="{FF2B5EF4-FFF2-40B4-BE49-F238E27FC236}">
                            <a16:creationId xmlns:a16="http://schemas.microsoft.com/office/drawing/2014/main" id="{F06CC576-0096-4C91-8617-90F549E58368}"/>
                          </a:ext>
                        </a:extLst>
                      </p:cNvPr>
                      <p:cNvPicPr/>
                      <p:nvPr/>
                    </p:nvPicPr>
                    <p:blipFill>
                      <a:blip r:embed="rId6"/>
                      <a:stretch>
                        <a:fillRect/>
                      </a:stretch>
                    </p:blipFill>
                    <p:spPr>
                      <a:xfrm>
                        <a:off x="6670951" y="1628657"/>
                        <a:ext cx="490884" cy="327256"/>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90DE621C-273E-4473-B1FC-F72061A9BF76}"/>
              </a:ext>
            </a:extLst>
          </p:cNvPr>
          <p:cNvSpPr>
            <a:spLocks noGrp="1"/>
          </p:cNvSpPr>
          <p:nvPr>
            <p:ph sz="quarter" idx="16"/>
          </p:nvPr>
        </p:nvSpPr>
        <p:spPr>
          <a:xfrm>
            <a:off x="459512" y="2064180"/>
            <a:ext cx="7444968" cy="360000"/>
          </a:xfrm>
        </p:spPr>
        <p:txBody>
          <a:bodyPr tIns="0"/>
          <a:lstStyle/>
          <a:p>
            <a:pPr marL="0" indent="0">
              <a:buNone/>
            </a:pPr>
            <a:r>
              <a:rPr lang="en-US" sz="2000" dirty="0"/>
              <a:t>workers are employed in Foreign. Labor migrates from Home to</a:t>
            </a:r>
            <a:endParaRPr lang="en-IN" sz="2000" dirty="0"/>
          </a:p>
        </p:txBody>
      </p:sp>
      <p:sp>
        <p:nvSpPr>
          <p:cNvPr id="7" name="Content Placeholder 6">
            <a:extLst>
              <a:ext uri="{FF2B5EF4-FFF2-40B4-BE49-F238E27FC236}">
                <a16:creationId xmlns:a16="http://schemas.microsoft.com/office/drawing/2014/main" id="{1D4C61C1-30B4-46F3-A882-8F9B58026843}"/>
              </a:ext>
            </a:extLst>
          </p:cNvPr>
          <p:cNvSpPr>
            <a:spLocks noGrp="1"/>
          </p:cNvSpPr>
          <p:nvPr>
            <p:ph sz="quarter" idx="17"/>
          </p:nvPr>
        </p:nvSpPr>
        <p:spPr>
          <a:xfrm>
            <a:off x="459512" y="2492184"/>
            <a:ext cx="1584369" cy="341002"/>
          </a:xfrm>
        </p:spPr>
        <p:txBody>
          <a:bodyPr tIns="0"/>
          <a:lstStyle/>
          <a:p>
            <a:pPr marL="0" indent="0">
              <a:buNone/>
            </a:pPr>
            <a:r>
              <a:rPr lang="en-US" sz="2000" dirty="0"/>
              <a:t>Foreign until</a:t>
            </a:r>
          </a:p>
        </p:txBody>
      </p:sp>
      <p:graphicFrame>
        <p:nvGraphicFramePr>
          <p:cNvPr id="16" name="Object 15" descr="O L squared ">
            <a:extLst>
              <a:ext uri="{FF2B5EF4-FFF2-40B4-BE49-F238E27FC236}">
                <a16:creationId xmlns:a16="http://schemas.microsoft.com/office/drawing/2014/main" id="{F14FCADF-6236-4803-8E3B-41F577A9802C}"/>
              </a:ext>
            </a:extLst>
          </p:cNvPr>
          <p:cNvGraphicFramePr>
            <a:graphicFrameLocks noChangeAspect="1"/>
          </p:cNvGraphicFramePr>
          <p:nvPr>
            <p:extLst>
              <p:ext uri="{D42A27DB-BD31-4B8C-83A1-F6EECF244321}">
                <p14:modId xmlns:p14="http://schemas.microsoft.com/office/powerpoint/2010/main" val="3335368919"/>
              </p:ext>
            </p:extLst>
          </p:nvPr>
        </p:nvGraphicFramePr>
        <p:xfrm>
          <a:off x="2132618" y="2453710"/>
          <a:ext cx="480734" cy="349764"/>
        </p:xfrm>
        <a:graphic>
          <a:graphicData uri="http://schemas.openxmlformats.org/presentationml/2006/ole">
            <mc:AlternateContent xmlns:mc="http://schemas.openxmlformats.org/markup-compatibility/2006">
              <mc:Choice xmlns:v="urn:schemas-microsoft-com:vml" Requires="v">
                <p:oleObj name="Equation" r:id="rId7" imgW="495490" imgH="359795" progId="Equation.DSMT4">
                  <p:embed/>
                </p:oleObj>
              </mc:Choice>
              <mc:Fallback>
                <p:oleObj name="Equation" r:id="rId7" imgW="495490" imgH="359795" progId="Equation.DSMT4">
                  <p:embed/>
                  <p:pic>
                    <p:nvPicPr>
                      <p:cNvPr id="0" name=""/>
                      <p:cNvPicPr/>
                      <p:nvPr/>
                    </p:nvPicPr>
                    <p:blipFill>
                      <a:blip r:embed="rId8"/>
                      <a:stretch>
                        <a:fillRect/>
                      </a:stretch>
                    </p:blipFill>
                    <p:spPr>
                      <a:xfrm>
                        <a:off x="2132618" y="2453710"/>
                        <a:ext cx="480734" cy="349764"/>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6714AECC-E9CF-4704-B513-CBF6957C59AD}"/>
              </a:ext>
            </a:extLst>
          </p:cNvPr>
          <p:cNvSpPr>
            <a:spLocks noGrp="1"/>
          </p:cNvSpPr>
          <p:nvPr>
            <p:ph sz="quarter" idx="18"/>
          </p:nvPr>
        </p:nvSpPr>
        <p:spPr>
          <a:xfrm>
            <a:off x="2723498" y="2480999"/>
            <a:ext cx="3780000" cy="333639"/>
          </a:xfrm>
        </p:spPr>
        <p:txBody>
          <a:bodyPr tIns="0"/>
          <a:lstStyle/>
          <a:p>
            <a:pPr marL="0" indent="0">
              <a:buNone/>
            </a:pPr>
            <a:r>
              <a:rPr lang="en-US" sz="2000" dirty="0"/>
              <a:t>workers are employed in Home,</a:t>
            </a:r>
            <a:endParaRPr lang="en-IN" sz="2000" dirty="0"/>
          </a:p>
        </p:txBody>
      </p:sp>
      <p:graphicFrame>
        <p:nvGraphicFramePr>
          <p:cNvPr id="17" name="Object 16" descr="L squared O asterisk ">
            <a:extLst>
              <a:ext uri="{FF2B5EF4-FFF2-40B4-BE49-F238E27FC236}">
                <a16:creationId xmlns:a16="http://schemas.microsoft.com/office/drawing/2014/main" id="{42AC0F91-0214-47DC-AEB3-8A6980A28906}"/>
              </a:ext>
            </a:extLst>
          </p:cNvPr>
          <p:cNvGraphicFramePr>
            <a:graphicFrameLocks noChangeAspect="1"/>
          </p:cNvGraphicFramePr>
          <p:nvPr>
            <p:extLst>
              <p:ext uri="{D42A27DB-BD31-4B8C-83A1-F6EECF244321}">
                <p14:modId xmlns:p14="http://schemas.microsoft.com/office/powerpoint/2010/main" val="1634976938"/>
              </p:ext>
            </p:extLst>
          </p:nvPr>
        </p:nvGraphicFramePr>
        <p:xfrm>
          <a:off x="6606166" y="2480041"/>
          <a:ext cx="585787" cy="360363"/>
        </p:xfrm>
        <a:graphic>
          <a:graphicData uri="http://schemas.openxmlformats.org/presentationml/2006/ole">
            <mc:AlternateContent xmlns:mc="http://schemas.openxmlformats.org/markup-compatibility/2006">
              <mc:Choice xmlns:v="urn:schemas-microsoft-com:vml" Requires="v">
                <p:oleObj name="Equation" r:id="rId9" imgW="585449" imgH="359795" progId="Equation.DSMT4">
                  <p:embed/>
                </p:oleObj>
              </mc:Choice>
              <mc:Fallback>
                <p:oleObj name="Equation" r:id="rId9" imgW="585449" imgH="359795" progId="Equation.DSMT4">
                  <p:embed/>
                  <p:pic>
                    <p:nvPicPr>
                      <p:cNvPr id="0" name=""/>
                      <p:cNvPicPr/>
                      <p:nvPr/>
                    </p:nvPicPr>
                    <p:blipFill>
                      <a:blip r:embed="rId10"/>
                      <a:stretch>
                        <a:fillRect/>
                      </a:stretch>
                    </p:blipFill>
                    <p:spPr>
                      <a:xfrm>
                        <a:off x="6606166" y="2480041"/>
                        <a:ext cx="585787" cy="360363"/>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C5C6970F-F27E-4085-8A89-E498705879AD}"/>
              </a:ext>
            </a:extLst>
          </p:cNvPr>
          <p:cNvSpPr>
            <a:spLocks noGrp="1"/>
          </p:cNvSpPr>
          <p:nvPr>
            <p:ph sz="quarter" idx="19"/>
          </p:nvPr>
        </p:nvSpPr>
        <p:spPr>
          <a:xfrm>
            <a:off x="460914" y="2904678"/>
            <a:ext cx="4392000" cy="360000"/>
          </a:xfrm>
        </p:spPr>
        <p:txBody>
          <a:bodyPr tIns="0"/>
          <a:lstStyle/>
          <a:p>
            <a:pPr marL="0" indent="0">
              <a:buNone/>
            </a:pPr>
            <a:r>
              <a:rPr lang="en-US" sz="2000" dirty="0"/>
              <a:t>in Foreign, and wages are equalized.</a:t>
            </a:r>
            <a:endParaRPr lang="en-IN" sz="2000" dirty="0"/>
          </a:p>
        </p:txBody>
      </p:sp>
      <p:pic>
        <p:nvPicPr>
          <p:cNvPr id="19" name="Content Placeholder 18" descr="A graph plots M P L on the left y-axis and M P L asterisk on the right y-axis, For long description in Notes pane, press F6.">
            <a:extLst>
              <a:ext uri="{FF2B5EF4-FFF2-40B4-BE49-F238E27FC236}">
                <a16:creationId xmlns:a16="http://schemas.microsoft.com/office/drawing/2014/main" id="{06FCA789-E1ED-4313-9FA7-991C67063D9E}"/>
              </a:ext>
            </a:extLst>
          </p:cNvPr>
          <p:cNvPicPr>
            <a:picLocks noGrp="1" noChangeAspect="1"/>
          </p:cNvPicPr>
          <p:nvPr>
            <p:ph sz="quarter" idx="20"/>
          </p:nvPr>
        </p:nvPicPr>
        <p:blipFill>
          <a:blip r:embed="rId11"/>
          <a:stretch>
            <a:fillRect/>
          </a:stretch>
        </p:blipFill>
        <p:spPr>
          <a:xfrm>
            <a:off x="5388608" y="2957500"/>
            <a:ext cx="3014234" cy="3385697"/>
          </a:xfrm>
        </p:spPr>
      </p:pic>
    </p:spTree>
    <p:extLst>
      <p:ext uri="{BB962C8B-B14F-4D97-AF65-F5344CB8AC3E}">
        <p14:creationId xmlns:p14="http://schemas.microsoft.com/office/powerpoint/2010/main" val="37547315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8339959" cy="1097279"/>
          </a:xfrm>
        </p:spPr>
        <p:txBody>
          <a:bodyPr/>
          <a:lstStyle/>
          <a:p>
            <a:r>
              <a:rPr lang="en-US" altLang="en-US" sz="3600" dirty="0"/>
              <a:t>International Labor Mobility </a:t>
            </a:r>
            <a:r>
              <a:rPr lang="en-US" altLang="en-US" sz="2000" b="0" dirty="0"/>
              <a:t>(5 of 6)</a:t>
            </a:r>
            <a:endParaRPr lang="en-IN" sz="20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199" y="1545064"/>
            <a:ext cx="8464731" cy="3899894"/>
          </a:xfrm>
        </p:spPr>
        <p:txBody>
          <a:bodyPr/>
          <a:lstStyle/>
          <a:p>
            <a:pPr>
              <a:spcBef>
                <a:spcPct val="50000"/>
              </a:spcBef>
            </a:pPr>
            <a:r>
              <a:rPr lang="en-US" altLang="en-US" sz="2400" dirty="0"/>
              <a:t>Workers initially in Home benefit while workers in Foreign are hurt by inflows of other workers.</a:t>
            </a:r>
            <a:endParaRPr lang="en-US" altLang="en-US" sz="2400" i="1" dirty="0"/>
          </a:p>
          <a:p>
            <a:pPr lvl="1"/>
            <a:r>
              <a:rPr lang="en-US" altLang="en-US" sz="2400" dirty="0"/>
              <a:t>Landowners in Foreign gain from the inflow of workers decreasing real wages and increasing output.</a:t>
            </a:r>
          </a:p>
          <a:p>
            <a:pPr lvl="1"/>
            <a:r>
              <a:rPr lang="en-US" altLang="en-US" sz="2400" dirty="0"/>
              <a:t>Landowners in Home are hurt by the outflow of workers increasing real wages and decreasing output.</a:t>
            </a:r>
            <a:endParaRPr lang="en-IN" sz="2400" dirty="0"/>
          </a:p>
        </p:txBody>
      </p:sp>
    </p:spTree>
    <p:extLst>
      <p:ext uri="{BB962C8B-B14F-4D97-AF65-F5344CB8AC3E}">
        <p14:creationId xmlns:p14="http://schemas.microsoft.com/office/powerpoint/2010/main" val="38051804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8339959" cy="1097279"/>
          </a:xfrm>
        </p:spPr>
        <p:txBody>
          <a:bodyPr/>
          <a:lstStyle/>
          <a:p>
            <a:r>
              <a:rPr lang="en-US" altLang="en-US" sz="3600" dirty="0"/>
              <a:t>International Labor Mobility </a:t>
            </a:r>
            <a:r>
              <a:rPr lang="en-US" altLang="en-US" sz="2000" b="0" dirty="0"/>
              <a:t>(6 of 6)</a:t>
            </a:r>
            <a:endParaRPr lang="en-IN" sz="20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1571190"/>
            <a:ext cx="8190411" cy="4594478"/>
          </a:xfrm>
        </p:spPr>
        <p:txBody>
          <a:bodyPr/>
          <a:lstStyle/>
          <a:p>
            <a:r>
              <a:rPr lang="en-US" sz="2400" dirty="0"/>
              <a:t>Due to higher wages in Western Europe relative to its new E</a:t>
            </a:r>
            <a:r>
              <a:rPr lang="en-US" sz="100" dirty="0"/>
              <a:t> </a:t>
            </a:r>
            <a:r>
              <a:rPr lang="en-US" sz="2400" dirty="0"/>
              <a:t>U partners in Eastern Europe, there have been substantial east-to-west migration flows. </a:t>
            </a:r>
          </a:p>
          <a:p>
            <a:pPr lvl="1"/>
            <a:r>
              <a:rPr lang="en-US" sz="2400" dirty="0"/>
              <a:t>Has this process been associated with wage convergence as predicted by our model of labor mobility? Yes, it has. </a:t>
            </a:r>
          </a:p>
          <a:p>
            <a:r>
              <a:rPr lang="en-US" sz="2400" dirty="0"/>
              <a:t>Figure 4.15 plots the relative wage of manufacturing workers from the new 2004 member countries relative to Western Europe.</a:t>
            </a:r>
          </a:p>
          <a:p>
            <a:pPr lvl="1"/>
            <a:r>
              <a:rPr lang="en-US" sz="2400" dirty="0"/>
              <a:t>Large compensation differentials still persist, but the trend is toward convergence.</a:t>
            </a:r>
            <a:endParaRPr lang="en-IN" sz="2400" dirty="0"/>
          </a:p>
        </p:txBody>
      </p:sp>
    </p:spTree>
    <p:extLst>
      <p:ext uri="{BB962C8B-B14F-4D97-AF65-F5344CB8AC3E}">
        <p14:creationId xmlns:p14="http://schemas.microsoft.com/office/powerpoint/2010/main" val="38711082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4.15 </a:t>
            </a:r>
            <a:r>
              <a:rPr lang="en-US" sz="3200" dirty="0"/>
              <a:t>Eastern–Western Europe Relative Compensation 1997–2015</a:t>
            </a:r>
            <a:endParaRPr lang="en-IN" sz="3200" dirty="0"/>
          </a:p>
        </p:txBody>
      </p:sp>
      <p:pic>
        <p:nvPicPr>
          <p:cNvPr id="7" name="Content Placeholder 6" descr="A graph of all manufacturing workers and McDonald’s workers for Eastern and Western Europe shows percentages versus years 1996 to 2016. For long description in Notes pane, press F6.">
            <a:extLst>
              <a:ext uri="{FF2B5EF4-FFF2-40B4-BE49-F238E27FC236}">
                <a16:creationId xmlns:a16="http://schemas.microsoft.com/office/drawing/2014/main" id="{08F7CC5F-B207-479F-842B-AF2A788268D5}"/>
              </a:ext>
            </a:extLst>
          </p:cNvPr>
          <p:cNvPicPr>
            <a:picLocks noGrp="1" noChangeAspect="1"/>
          </p:cNvPicPr>
          <p:nvPr>
            <p:ph sz="quarter" idx="13"/>
          </p:nvPr>
        </p:nvPicPr>
        <p:blipFill>
          <a:blip r:embed="rId3"/>
          <a:stretch>
            <a:fillRect/>
          </a:stretch>
        </p:blipFill>
        <p:spPr>
          <a:xfrm>
            <a:off x="1970616" y="1561449"/>
            <a:ext cx="5202768" cy="3160167"/>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199" y="4868584"/>
            <a:ext cx="8556171" cy="1405216"/>
          </a:xfrm>
        </p:spPr>
        <p:txBody>
          <a:bodyPr/>
          <a:lstStyle/>
          <a:p>
            <a:pPr marL="0" indent="0">
              <a:spcBef>
                <a:spcPts val="600"/>
              </a:spcBef>
              <a:buNone/>
            </a:pPr>
            <a:r>
              <a:rPr lang="en-US" sz="1600" dirty="0"/>
              <a:t>Western Europe includes: Austria, Belgium, Denmark, Finland, France, Germany, Greece, Ireland, Italy, Netherlands, Norway, Portugal, Spain, Sweden, Switzerland, and the United Kingdom. Eastern Europe includes: the Czech Republic, Estonia, Hungary, Poland, Slovakia.</a:t>
            </a:r>
          </a:p>
          <a:p>
            <a:pPr marL="0" indent="0">
              <a:spcBef>
                <a:spcPts val="600"/>
              </a:spcBef>
              <a:buNone/>
            </a:pPr>
            <a:r>
              <a:rPr lang="en-US" sz="1400" b="1" dirty="0"/>
              <a:t>Source: </a:t>
            </a:r>
            <a:r>
              <a:rPr lang="en-US" sz="1400" dirty="0"/>
              <a:t>The Conference Board International Labor Comparisons, 2016; and Orley Ashenfelter and Stepan Jurajda, "Comparing Real Wage Rates using McWages", mimeo, 2020.</a:t>
            </a:r>
          </a:p>
        </p:txBody>
      </p:sp>
    </p:spTree>
    <p:extLst>
      <p:ext uri="{BB962C8B-B14F-4D97-AF65-F5344CB8AC3E}">
        <p14:creationId xmlns:p14="http://schemas.microsoft.com/office/powerpoint/2010/main" val="10184253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Immigration and the U.S. Economy </a:t>
            </a:r>
            <a:r>
              <a:rPr lang="en-US" altLang="en-US" sz="1800" b="0" dirty="0"/>
              <a:t>(1 of 2) </a:t>
            </a:r>
            <a:endParaRPr lang="en-IN" sz="3200" dirty="0"/>
          </a:p>
        </p:txBody>
      </p:sp>
      <p:sp>
        <p:nvSpPr>
          <p:cNvPr id="4" name="Content Placeholder 3">
            <a:extLst>
              <a:ext uri="{FF2B5EF4-FFF2-40B4-BE49-F238E27FC236}">
                <a16:creationId xmlns:a16="http://schemas.microsoft.com/office/drawing/2014/main" id="{59A06178-3FDE-45A7-A831-A6F9C1957428}"/>
              </a:ext>
            </a:extLst>
          </p:cNvPr>
          <p:cNvSpPr>
            <a:spLocks noGrp="1"/>
          </p:cNvSpPr>
          <p:nvPr>
            <p:ph sz="quarter" idx="13"/>
          </p:nvPr>
        </p:nvSpPr>
        <p:spPr>
          <a:xfrm>
            <a:off x="457200" y="1556326"/>
            <a:ext cx="8229600" cy="4450335"/>
          </a:xfrm>
        </p:spPr>
        <p:txBody>
          <a:bodyPr/>
          <a:lstStyle/>
          <a:p>
            <a:pPr marL="255600" indent="-255600"/>
            <a:r>
              <a:rPr lang="en-US" altLang="en-US" sz="2400" dirty="0"/>
              <a:t>In the early 20th century, share of immigrants in the United States increased dramatically.</a:t>
            </a:r>
          </a:p>
          <a:p>
            <a:pPr marL="741600" lvl="1"/>
            <a:r>
              <a:rPr lang="en-US" altLang="en-US" sz="2400" dirty="0"/>
              <a:t>Vast immigration from Eastern and Southern Europe.</a:t>
            </a:r>
          </a:p>
          <a:p>
            <a:pPr marL="255600" indent="-255600"/>
            <a:r>
              <a:rPr lang="en-US" altLang="en-US" sz="2400" dirty="0"/>
              <a:t>Tight restrictions on immigration imposed in the 1920s.</a:t>
            </a:r>
          </a:p>
          <a:p>
            <a:pPr marL="741600" lvl="1"/>
            <a:r>
              <a:rPr lang="en-US" altLang="en-US" sz="2400" dirty="0"/>
              <a:t>Immigrants were a minor force in the United States by the 1960s.</a:t>
            </a:r>
          </a:p>
          <a:p>
            <a:pPr marL="255600" indent="-255600"/>
            <a:r>
              <a:rPr lang="en-US" altLang="en-US" sz="2400" dirty="0"/>
              <a:t>New wave of immigration began around 1970.</a:t>
            </a:r>
          </a:p>
          <a:p>
            <a:pPr marL="741600" lvl="1"/>
            <a:r>
              <a:rPr lang="en-US" altLang="en-US" sz="2400" dirty="0"/>
              <a:t>Mostly from Latin America and Asia.</a:t>
            </a:r>
          </a:p>
          <a:p>
            <a:pPr marL="255600" indent="-255600"/>
            <a:r>
              <a:rPr lang="en-US" altLang="en-US" sz="2400" dirty="0"/>
              <a:t>As of 2014, 16.7% of the U.S. labor force is foreign-born.</a:t>
            </a:r>
            <a:endParaRPr lang="en-US" dirty="0"/>
          </a:p>
        </p:txBody>
      </p:sp>
    </p:spTree>
    <p:extLst>
      <p:ext uri="{BB962C8B-B14F-4D97-AF65-F5344CB8AC3E}">
        <p14:creationId xmlns:p14="http://schemas.microsoft.com/office/powerpoint/2010/main" val="6228746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4.16 Foreign-Born Population as a Percentage of the U.S. Population</a:t>
            </a:r>
            <a:endParaRPr lang="en-IN" sz="3200" dirty="0"/>
          </a:p>
        </p:txBody>
      </p:sp>
      <p:pic>
        <p:nvPicPr>
          <p:cNvPr id="8" name="Content Placeholder 7" descr="A bar graph depicts the foreign born population in the U S. For long description in Notes pane, press F6.">
            <a:extLst>
              <a:ext uri="{FF2B5EF4-FFF2-40B4-BE49-F238E27FC236}">
                <a16:creationId xmlns:a16="http://schemas.microsoft.com/office/drawing/2014/main" id="{31381639-61CB-424F-8758-A36B974E786C}"/>
              </a:ext>
            </a:extLst>
          </p:cNvPr>
          <p:cNvPicPr>
            <a:picLocks noGrp="1" noChangeAspect="1"/>
          </p:cNvPicPr>
          <p:nvPr>
            <p:ph sz="quarter" idx="13"/>
          </p:nvPr>
        </p:nvPicPr>
        <p:blipFill>
          <a:blip r:embed="rId3"/>
          <a:stretch>
            <a:fillRect/>
          </a:stretch>
        </p:blipFill>
        <p:spPr>
          <a:xfrm>
            <a:off x="1567219" y="1675679"/>
            <a:ext cx="6009561" cy="2989529"/>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4774681"/>
            <a:ext cx="8229600" cy="1560806"/>
          </a:xfrm>
        </p:spPr>
        <p:txBody>
          <a:bodyPr/>
          <a:lstStyle/>
          <a:p>
            <a:pPr marL="0" indent="0">
              <a:buNone/>
            </a:pPr>
            <a:r>
              <a:rPr lang="en-US" sz="2000" dirty="0"/>
              <a:t>Restrictions on immigration in the 1920s led to a sharp decline in the foreign-born population in the mid-20th century, but immigration has risen sharply again in recent decades. </a:t>
            </a:r>
          </a:p>
          <a:p>
            <a:pPr marL="0" indent="0">
              <a:buNone/>
            </a:pPr>
            <a:r>
              <a:rPr lang="en-US" sz="1800" b="1" dirty="0"/>
              <a:t>Source: </a:t>
            </a:r>
            <a:r>
              <a:rPr lang="en-US" sz="1800" dirty="0"/>
              <a:t>U.S. Census Bureau.</a:t>
            </a:r>
            <a:endParaRPr lang="en-IN" sz="1800" dirty="0"/>
          </a:p>
        </p:txBody>
      </p:sp>
    </p:spTree>
    <p:extLst>
      <p:ext uri="{BB962C8B-B14F-4D97-AF65-F5344CB8AC3E}">
        <p14:creationId xmlns:p14="http://schemas.microsoft.com/office/powerpoint/2010/main" val="34508127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Immigration and the U.S. Economy </a:t>
            </a:r>
            <a:r>
              <a:rPr lang="en-US" altLang="en-US" sz="1800" b="0" dirty="0"/>
              <a:t>(2 of 2) </a:t>
            </a:r>
            <a:endParaRPr lang="en-IN" sz="3200" dirty="0"/>
          </a:p>
        </p:txBody>
      </p:sp>
      <p:sp>
        <p:nvSpPr>
          <p:cNvPr id="4" name="Content Placeholder 3">
            <a:extLst>
              <a:ext uri="{FF2B5EF4-FFF2-40B4-BE49-F238E27FC236}">
                <a16:creationId xmlns:a16="http://schemas.microsoft.com/office/drawing/2014/main" id="{59A06178-3FDE-45A7-A831-A6F9C1957428}"/>
              </a:ext>
            </a:extLst>
          </p:cNvPr>
          <p:cNvSpPr>
            <a:spLocks noGrp="1"/>
          </p:cNvSpPr>
          <p:nvPr>
            <p:ph sz="quarter" idx="13"/>
          </p:nvPr>
        </p:nvSpPr>
        <p:spPr>
          <a:xfrm>
            <a:off x="457200" y="1556326"/>
            <a:ext cx="8355724" cy="4450335"/>
          </a:xfrm>
        </p:spPr>
        <p:txBody>
          <a:bodyPr/>
          <a:lstStyle/>
          <a:p>
            <a:pPr>
              <a:spcBef>
                <a:spcPct val="50000"/>
              </a:spcBef>
            </a:pPr>
            <a:r>
              <a:rPr lang="en-US" altLang="en-US" sz="2400" dirty="0"/>
              <a:t>The largest increase in recent immigration occurred among workers with the lowest education levels, making less educated workers more abundant.</a:t>
            </a:r>
          </a:p>
          <a:p>
            <a:pPr lvl="1">
              <a:spcBef>
                <a:spcPts val="1500"/>
              </a:spcBef>
            </a:pPr>
            <a:r>
              <a:rPr lang="en-US" altLang="en-US" sz="2400" dirty="0"/>
              <a:t>Possibly reduced wages for native-born workers with low education levels while raising wages for the more educated</a:t>
            </a:r>
          </a:p>
          <a:p>
            <a:pPr lvl="1">
              <a:spcBef>
                <a:spcPts val="1500"/>
              </a:spcBef>
            </a:pPr>
            <a:r>
              <a:rPr lang="en-US" altLang="en-US" sz="2400" dirty="0"/>
              <a:t>Widening wage gap between less educated workers and highly educated workers.</a:t>
            </a:r>
            <a:endParaRPr lang="en-IN" sz="2400" dirty="0"/>
          </a:p>
        </p:txBody>
      </p:sp>
    </p:spTree>
    <p:extLst>
      <p:ext uri="{BB962C8B-B14F-4D97-AF65-F5344CB8AC3E}">
        <p14:creationId xmlns:p14="http://schemas.microsoft.com/office/powerpoint/2010/main" val="14253700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8294914" cy="1097279"/>
          </a:xfrm>
        </p:spPr>
        <p:txBody>
          <a:bodyPr/>
          <a:lstStyle/>
          <a:p>
            <a:r>
              <a:rPr lang="en-US" altLang="en-US" sz="2600" dirty="0"/>
              <a:t>Figure 4.17 Foreign-Born and Total U.S. Population Over 25 Years Old by Educational Attainment</a:t>
            </a:r>
            <a:endParaRPr lang="en-IN" sz="2600" dirty="0"/>
          </a:p>
        </p:txBody>
      </p:sp>
      <p:pic>
        <p:nvPicPr>
          <p:cNvPr id="8" name="Content Placeholder 7" descr="A bar graph depicts educational attainment by foreign born relative to the total U S population. For long description in Notes pane, press F6.">
            <a:extLst>
              <a:ext uri="{FF2B5EF4-FFF2-40B4-BE49-F238E27FC236}">
                <a16:creationId xmlns:a16="http://schemas.microsoft.com/office/drawing/2014/main" id="{C40A1A8D-4FC9-4EA9-84EB-CB01C69EDF6B}"/>
              </a:ext>
            </a:extLst>
          </p:cNvPr>
          <p:cNvPicPr>
            <a:picLocks noGrp="1" noChangeAspect="1"/>
          </p:cNvPicPr>
          <p:nvPr>
            <p:ph sz="quarter" idx="13"/>
          </p:nvPr>
        </p:nvPicPr>
        <p:blipFill>
          <a:blip r:embed="rId3"/>
          <a:stretch>
            <a:fillRect/>
          </a:stretch>
        </p:blipFill>
        <p:spPr>
          <a:xfrm>
            <a:off x="2675607" y="1719061"/>
            <a:ext cx="3792786" cy="3321366"/>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5189427"/>
            <a:ext cx="8229600" cy="1158337"/>
          </a:xfrm>
        </p:spPr>
        <p:txBody>
          <a:bodyPr/>
          <a:lstStyle/>
          <a:p>
            <a:pPr marL="0" indent="0">
              <a:spcBef>
                <a:spcPts val="1000"/>
              </a:spcBef>
              <a:buNone/>
            </a:pPr>
            <a:r>
              <a:rPr lang="en-US" sz="2000" dirty="0"/>
              <a:t>Relative to native-born workers, foreign-born workers are concentrated in both the highest and lowest educational groups.</a:t>
            </a:r>
          </a:p>
          <a:p>
            <a:pPr marL="0" indent="0">
              <a:spcBef>
                <a:spcPts val="1000"/>
              </a:spcBef>
              <a:buNone/>
            </a:pPr>
            <a:r>
              <a:rPr lang="en-US" sz="1800" b="1" dirty="0"/>
              <a:t>Source: </a:t>
            </a:r>
            <a:r>
              <a:rPr lang="en-US" sz="1800" dirty="0"/>
              <a:t>U.S. Census Bureau.</a:t>
            </a:r>
            <a:endParaRPr lang="en-IN" sz="1800" dirty="0"/>
          </a:p>
        </p:txBody>
      </p:sp>
    </p:spTree>
    <p:extLst>
      <p:ext uri="{BB962C8B-B14F-4D97-AF65-F5344CB8AC3E}">
        <p14:creationId xmlns:p14="http://schemas.microsoft.com/office/powerpoint/2010/main" val="2362356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Summary </a:t>
            </a:r>
            <a:r>
              <a:rPr lang="en-US" altLang="en-US" sz="2000" b="0" dirty="0"/>
              <a:t>(1 of 4)</a:t>
            </a:r>
            <a:endParaRPr lang="en-US" sz="2000" dirty="0"/>
          </a:p>
        </p:txBody>
      </p:sp>
      <p:sp>
        <p:nvSpPr>
          <p:cNvPr id="4" name="Content Placeholder 3">
            <a:extLst>
              <a:ext uri="{FF2B5EF4-FFF2-40B4-BE49-F238E27FC236}">
                <a16:creationId xmlns:a16="http://schemas.microsoft.com/office/drawing/2014/main" id="{58AF3B09-FF71-4C67-81FF-C637AB3FCF13}"/>
              </a:ext>
            </a:extLst>
          </p:cNvPr>
          <p:cNvSpPr>
            <a:spLocks noGrp="1"/>
          </p:cNvSpPr>
          <p:nvPr>
            <p:ph sz="quarter" idx="13"/>
          </p:nvPr>
        </p:nvSpPr>
        <p:spPr>
          <a:xfrm>
            <a:off x="457200" y="1556327"/>
            <a:ext cx="7994469" cy="1853079"/>
          </a:xfrm>
        </p:spPr>
        <p:txBody>
          <a:bodyPr/>
          <a:lstStyle/>
          <a:p>
            <a:pPr marL="432000" indent="-432000">
              <a:buFont typeface="Times" pitchFamily="-1" charset="0"/>
              <a:buAutoNum type="arabicPeriod"/>
            </a:pPr>
            <a:r>
              <a:rPr lang="en-US" altLang="en-US" sz="2400" dirty="0"/>
              <a:t>International trade often has strong effects on the distribution of income within countries—produces losers as well as winners. </a:t>
            </a:r>
          </a:p>
          <a:p>
            <a:pPr marL="432000" indent="-432000">
              <a:buFont typeface="Times" pitchFamily="-1" charset="0"/>
              <a:buAutoNum type="arabicPeriod"/>
            </a:pPr>
            <a:r>
              <a:rPr lang="en-US" altLang="en-US" sz="2400" dirty="0"/>
              <a:t>Income distribution effects arise for two reasons:</a:t>
            </a:r>
          </a:p>
        </p:txBody>
      </p:sp>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3500210"/>
            <a:ext cx="7524206" cy="2105025"/>
          </a:xfrm>
        </p:spPr>
        <p:txBody>
          <a:bodyPr/>
          <a:lstStyle/>
          <a:p>
            <a:pPr marL="741600" lvl="1"/>
            <a:r>
              <a:rPr lang="en-US" altLang="en-US" sz="2400" dirty="0"/>
              <a:t>Factors of production cannot move costlessly and quickly from one industry to another.</a:t>
            </a:r>
          </a:p>
          <a:p>
            <a:pPr marL="741600" lvl="1"/>
            <a:r>
              <a:rPr lang="en-US" altLang="en-US" sz="2400" dirty="0"/>
              <a:t>Changes in an economy</a:t>
            </a:r>
            <a:r>
              <a:rPr lang="en-US" altLang="ja-JP" sz="2400" dirty="0"/>
              <a:t>’s output mix have differential effects on the demand for different factors of production.</a:t>
            </a:r>
            <a:endParaRPr lang="en-US" sz="2400" dirty="0"/>
          </a:p>
        </p:txBody>
      </p:sp>
    </p:spTree>
    <p:extLst>
      <p:ext uri="{BB962C8B-B14F-4D97-AF65-F5344CB8AC3E}">
        <p14:creationId xmlns:p14="http://schemas.microsoft.com/office/powerpoint/2010/main" val="23961055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Summary </a:t>
            </a:r>
            <a:r>
              <a:rPr lang="en-US" altLang="en-US" sz="2000" b="0" dirty="0"/>
              <a:t>(2 of 4)</a:t>
            </a:r>
            <a:endParaRPr lang="en-IN" sz="2000" dirty="0"/>
          </a:p>
        </p:txBody>
      </p:sp>
      <p:sp>
        <p:nvSpPr>
          <p:cNvPr id="2" name="Content Placeholder 1">
            <a:extLst>
              <a:ext uri="{FF2B5EF4-FFF2-40B4-BE49-F238E27FC236}">
                <a16:creationId xmlns:a16="http://schemas.microsoft.com/office/drawing/2014/main" id="{353529E6-5FB5-40A9-9881-992AC90B5D33}"/>
              </a:ext>
            </a:extLst>
          </p:cNvPr>
          <p:cNvSpPr>
            <a:spLocks noGrp="1"/>
          </p:cNvSpPr>
          <p:nvPr>
            <p:ph sz="quarter" idx="13"/>
          </p:nvPr>
        </p:nvSpPr>
        <p:spPr>
          <a:xfrm>
            <a:off x="457200" y="1556327"/>
            <a:ext cx="8229600" cy="902393"/>
          </a:xfrm>
        </p:spPr>
        <p:txBody>
          <a:bodyPr/>
          <a:lstStyle/>
          <a:p>
            <a:pPr marL="457632" indent="-457200">
              <a:buFont typeface="+mj-lt"/>
              <a:buAutoNum type="arabicPeriod" startAt="3"/>
            </a:pPr>
            <a:r>
              <a:rPr lang="en-US" altLang="en-US" sz="2400" dirty="0"/>
              <a:t>International trade affects the distribution of income in the specific factors model.</a:t>
            </a:r>
          </a:p>
        </p:txBody>
      </p:sp>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2565490"/>
            <a:ext cx="8229600" cy="2105025"/>
          </a:xfrm>
        </p:spPr>
        <p:txBody>
          <a:bodyPr/>
          <a:lstStyle/>
          <a:p>
            <a:pPr marL="741600" lvl="1"/>
            <a:r>
              <a:rPr lang="en-US" altLang="en-US" sz="2400" dirty="0"/>
              <a:t>Factors specific to export sectors in each country gain from trade, while factors specific to import-competing sectors lose. </a:t>
            </a:r>
          </a:p>
          <a:p>
            <a:pPr marL="741600" lvl="1"/>
            <a:r>
              <a:rPr lang="en-US" altLang="en-US" sz="2400" dirty="0"/>
              <a:t>Mobile factors that can work in either sector may either gain or lose.</a:t>
            </a:r>
            <a:endParaRPr lang="en-IN" sz="2400" dirty="0"/>
          </a:p>
        </p:txBody>
      </p:sp>
    </p:spTree>
    <p:extLst>
      <p:ext uri="{BB962C8B-B14F-4D97-AF65-F5344CB8AC3E}">
        <p14:creationId xmlns:p14="http://schemas.microsoft.com/office/powerpoint/2010/main" val="38776983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Summary </a:t>
            </a:r>
            <a:r>
              <a:rPr lang="en-US" altLang="en-US" sz="2000" b="0" dirty="0"/>
              <a:t>(3 of 4)</a:t>
            </a:r>
            <a:endParaRPr lang="en-IN" sz="2000" dirty="0"/>
          </a:p>
        </p:txBody>
      </p:sp>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1595902"/>
            <a:ext cx="8339959" cy="3953560"/>
          </a:xfrm>
        </p:spPr>
        <p:txBody>
          <a:bodyPr/>
          <a:lstStyle/>
          <a:p>
            <a:pPr marL="432000" indent="-432000">
              <a:buFont typeface="Times" pitchFamily="-1" charset="0"/>
              <a:buAutoNum type="arabicPeriod" startAt="4"/>
            </a:pPr>
            <a:r>
              <a:rPr lang="en-US" altLang="en-US" sz="2400" dirty="0"/>
              <a:t>Trade nonetheless produces overall gains in the sense that those who gain could in principle compensate those who lose while still remaining better off than before.</a:t>
            </a:r>
          </a:p>
          <a:p>
            <a:pPr marL="432000" indent="-432000">
              <a:buFont typeface="Times" pitchFamily="-1" charset="0"/>
              <a:buAutoNum type="arabicPeriod" startAt="4"/>
            </a:pPr>
            <a:r>
              <a:rPr lang="en-US" altLang="en-US" sz="2400" dirty="0"/>
              <a:t>Most economists would prefer to address the problem of income distribution directly, rather than by restricting trade.</a:t>
            </a:r>
          </a:p>
          <a:p>
            <a:pPr marL="432000" indent="-432000">
              <a:buFont typeface="Times" pitchFamily="-1" charset="0"/>
              <a:buAutoNum type="arabicPeriod" startAt="4"/>
            </a:pPr>
            <a:r>
              <a:rPr lang="en-US" altLang="en-US" sz="2400" dirty="0"/>
              <a:t>Those hurt by trade are often better organized than those who gain, causing trade restrictions to be adopted.</a:t>
            </a:r>
            <a:endParaRPr lang="en-IN" sz="2400" dirty="0"/>
          </a:p>
        </p:txBody>
      </p:sp>
    </p:spTree>
    <p:extLst>
      <p:ext uri="{BB962C8B-B14F-4D97-AF65-F5344CB8AC3E}">
        <p14:creationId xmlns:p14="http://schemas.microsoft.com/office/powerpoint/2010/main" val="26904777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Summary </a:t>
            </a:r>
            <a:r>
              <a:rPr lang="en-US" altLang="en-US" sz="2000" b="0" dirty="0"/>
              <a:t>(4 of 4)</a:t>
            </a:r>
            <a:endParaRPr lang="en-IN" sz="2000" dirty="0"/>
          </a:p>
        </p:txBody>
      </p:sp>
      <p:sp>
        <p:nvSpPr>
          <p:cNvPr id="3" name="Content Placeholder 2">
            <a:extLst>
              <a:ext uri="{FF2B5EF4-FFF2-40B4-BE49-F238E27FC236}">
                <a16:creationId xmlns:a16="http://schemas.microsoft.com/office/drawing/2014/main" id="{24F2C3E9-BCB8-4288-BEE6-D6F6002B315B}"/>
              </a:ext>
            </a:extLst>
          </p:cNvPr>
          <p:cNvSpPr>
            <a:spLocks noGrp="1"/>
          </p:cNvSpPr>
          <p:nvPr>
            <p:ph sz="quarter" idx="13"/>
          </p:nvPr>
        </p:nvSpPr>
        <p:spPr>
          <a:xfrm>
            <a:off x="466602" y="1552576"/>
            <a:ext cx="8442267" cy="942430"/>
          </a:xfrm>
        </p:spPr>
        <p:txBody>
          <a:bodyPr/>
          <a:lstStyle/>
          <a:p>
            <a:pPr marL="432000" indent="-432000">
              <a:buFont typeface="Times" pitchFamily="-1" charset="0"/>
              <a:buAutoNum type="arabicPeriod" startAt="7"/>
            </a:pPr>
            <a:r>
              <a:rPr lang="en-US" altLang="en-US" sz="2400" dirty="0"/>
              <a:t>Labor migrates to countries with higher labor productivity and higher real wages, where labor is scarce.</a:t>
            </a:r>
            <a:endParaRPr lang="en-IN" sz="2400" dirty="0"/>
          </a:p>
        </p:txBody>
      </p:sp>
      <p:sp>
        <p:nvSpPr>
          <p:cNvPr id="2" name="Content Placeholder 1">
            <a:extLst>
              <a:ext uri="{FF2B5EF4-FFF2-40B4-BE49-F238E27FC236}">
                <a16:creationId xmlns:a16="http://schemas.microsoft.com/office/drawing/2014/main" id="{4486EF7E-6DF0-4430-9930-D8A8E9F00226}"/>
              </a:ext>
            </a:extLst>
          </p:cNvPr>
          <p:cNvSpPr>
            <a:spLocks noGrp="1"/>
          </p:cNvSpPr>
          <p:nvPr>
            <p:ph sz="quarter" idx="14"/>
          </p:nvPr>
        </p:nvSpPr>
        <p:spPr>
          <a:xfrm>
            <a:off x="480510" y="2619372"/>
            <a:ext cx="8104690" cy="1351734"/>
          </a:xfrm>
        </p:spPr>
        <p:txBody>
          <a:bodyPr/>
          <a:lstStyle/>
          <a:p>
            <a:pPr lvl="1"/>
            <a:r>
              <a:rPr lang="en-US" altLang="en-US" sz="2400" dirty="0"/>
              <a:t>Real wages fall due to immigration and rise due to emigration.</a:t>
            </a:r>
          </a:p>
          <a:p>
            <a:pPr lvl="1"/>
            <a:r>
              <a:rPr lang="en-US" altLang="en-US" sz="2400" dirty="0"/>
              <a:t>World output increases.</a:t>
            </a:r>
            <a:endParaRPr lang="en-IN" dirty="0"/>
          </a:p>
        </p:txBody>
      </p:sp>
      <p:sp>
        <p:nvSpPr>
          <p:cNvPr id="4" name="Content Placeholder 3">
            <a:extLst>
              <a:ext uri="{FF2B5EF4-FFF2-40B4-BE49-F238E27FC236}">
                <a16:creationId xmlns:a16="http://schemas.microsoft.com/office/drawing/2014/main" id="{42C4A0A3-1DC1-45CD-A8FE-22BA46CDC068}"/>
              </a:ext>
            </a:extLst>
          </p:cNvPr>
          <p:cNvSpPr>
            <a:spLocks noGrp="1"/>
          </p:cNvSpPr>
          <p:nvPr>
            <p:ph sz="quarter" idx="15"/>
          </p:nvPr>
        </p:nvSpPr>
        <p:spPr>
          <a:xfrm>
            <a:off x="480510" y="4096732"/>
            <a:ext cx="8467547" cy="1324353"/>
          </a:xfrm>
        </p:spPr>
        <p:txBody>
          <a:bodyPr/>
          <a:lstStyle/>
          <a:p>
            <a:pPr marL="457632" indent="-457200">
              <a:buFont typeface="+mj-lt"/>
              <a:buAutoNum type="arabicPeriod" startAt="8"/>
            </a:pPr>
            <a:r>
              <a:rPr lang="en-US" altLang="en-US" sz="2400" dirty="0"/>
              <a:t>Real wages across countries are far from equal due to differences in technology and due to immigration barriers.</a:t>
            </a:r>
            <a:endParaRPr lang="en-IN" sz="2400" dirty="0"/>
          </a:p>
        </p:txBody>
      </p:sp>
    </p:spTree>
    <p:extLst>
      <p:ext uri="{BB962C8B-B14F-4D97-AF65-F5344CB8AC3E}">
        <p14:creationId xmlns:p14="http://schemas.microsoft.com/office/powerpoint/2010/main" val="38678504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t>Figure 4A.1 Showing That Output Is Equal to the Area under the Marginal Product Curve</a:t>
            </a:r>
            <a:endParaRPr lang="en-IN" sz="2600" dirty="0"/>
          </a:p>
        </p:txBody>
      </p:sp>
      <p:pic>
        <p:nvPicPr>
          <p:cNvPr id="9" name="Content Placeholder 8" descr="The marginal product curve of labor, M P L sub C, falls with decreasing steepness along labor input, L sub C, on the x-axis. For long description in Notes pane, press F6.">
            <a:extLst>
              <a:ext uri="{FF2B5EF4-FFF2-40B4-BE49-F238E27FC236}">
                <a16:creationId xmlns:a16="http://schemas.microsoft.com/office/drawing/2014/main" id="{D11C8FEA-3D4C-4AA2-8120-01F0E6298DF4}"/>
              </a:ext>
            </a:extLst>
          </p:cNvPr>
          <p:cNvPicPr>
            <a:picLocks noGrp="1" noChangeAspect="1"/>
          </p:cNvPicPr>
          <p:nvPr>
            <p:ph sz="quarter" idx="13"/>
          </p:nvPr>
        </p:nvPicPr>
        <p:blipFill>
          <a:blip r:embed="rId3"/>
          <a:stretch>
            <a:fillRect/>
          </a:stretch>
        </p:blipFill>
        <p:spPr>
          <a:xfrm>
            <a:off x="2968366" y="1708006"/>
            <a:ext cx="3077666" cy="3476183"/>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5300798"/>
            <a:ext cx="8100000" cy="1044000"/>
          </a:xfrm>
        </p:spPr>
        <p:txBody>
          <a:bodyPr/>
          <a:lstStyle/>
          <a:p>
            <a:pPr marL="0" indent="0">
              <a:buNone/>
            </a:pPr>
            <a:r>
              <a:rPr lang="en-US" sz="2000" dirty="0"/>
              <a:t>By approximating the marginal product curve with a series of thin rectangles, one can show that the total output of cloth is equal to the area under the curve.</a:t>
            </a:r>
            <a:endParaRPr lang="en-IN" sz="2000" dirty="0"/>
          </a:p>
        </p:txBody>
      </p:sp>
    </p:spTree>
    <p:extLst>
      <p:ext uri="{BB962C8B-B14F-4D97-AF65-F5344CB8AC3E}">
        <p14:creationId xmlns:p14="http://schemas.microsoft.com/office/powerpoint/2010/main" val="5089954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000" dirty="0"/>
              <a:t>Figure 4A.2 The Distribution of Income within the Cloth Sector</a:t>
            </a:r>
            <a:endParaRPr lang="en-IN" sz="3000" dirty="0"/>
          </a:p>
        </p:txBody>
      </p:sp>
      <p:pic>
        <p:nvPicPr>
          <p:cNvPr id="7" name="Content Placeholder 6" descr="The graph plots marginal product of labor versus labor input. For long description in Notes pane, press F6.">
            <a:extLst>
              <a:ext uri="{FF2B5EF4-FFF2-40B4-BE49-F238E27FC236}">
                <a16:creationId xmlns:a16="http://schemas.microsoft.com/office/drawing/2014/main" id="{2FE1708B-A3FE-4686-B15D-59A05FB4FD0C}"/>
              </a:ext>
            </a:extLst>
          </p:cNvPr>
          <p:cNvPicPr>
            <a:picLocks noGrp="1" noChangeAspect="1"/>
          </p:cNvPicPr>
          <p:nvPr>
            <p:ph sz="quarter" idx="13"/>
          </p:nvPr>
        </p:nvPicPr>
        <p:blipFill>
          <a:blip r:embed="rId3"/>
          <a:stretch>
            <a:fillRect/>
          </a:stretch>
        </p:blipFill>
        <p:spPr>
          <a:xfrm>
            <a:off x="2731413" y="1694884"/>
            <a:ext cx="3681175" cy="3742599"/>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5581567"/>
            <a:ext cx="8229600" cy="761279"/>
          </a:xfrm>
        </p:spPr>
        <p:txBody>
          <a:bodyPr/>
          <a:lstStyle/>
          <a:p>
            <a:pPr marL="0" indent="0">
              <a:buNone/>
            </a:pPr>
            <a:r>
              <a:rPr lang="en-US" sz="2000" dirty="0"/>
              <a:t>Labor income is equal to the real wage times employment. The rest of output accrues as income to the owners of capital.</a:t>
            </a:r>
            <a:endParaRPr lang="en-IN" sz="2000" dirty="0"/>
          </a:p>
        </p:txBody>
      </p:sp>
    </p:spTree>
    <p:extLst>
      <p:ext uri="{BB962C8B-B14F-4D97-AF65-F5344CB8AC3E}">
        <p14:creationId xmlns:p14="http://schemas.microsoft.com/office/powerpoint/2010/main" val="37837219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t>Figure 4A.3 A Rise in </a:t>
            </a:r>
            <a:r>
              <a:rPr lang="en-US" altLang="en-US" sz="900" i="1" dirty="0"/>
              <a:t>P</a:t>
            </a:r>
            <a:r>
              <a:rPr lang="en-US" altLang="en-US" sz="900" dirty="0"/>
              <a:t> Sub </a:t>
            </a:r>
            <a:r>
              <a:rPr lang="en-US" altLang="en-US" sz="900" i="1" dirty="0"/>
              <a:t>C</a:t>
            </a:r>
            <a:r>
              <a:rPr lang="en-US" altLang="en-US" sz="2800" dirty="0"/>
              <a:t> Benefits the Owners of Capital</a:t>
            </a:r>
            <a:endParaRPr lang="en-IN" sz="2600" dirty="0"/>
          </a:p>
        </p:txBody>
      </p:sp>
      <p:graphicFrame>
        <p:nvGraphicFramePr>
          <p:cNvPr id="2" name="Object 1">
            <a:extLst>
              <a:ext uri="{FF2B5EF4-FFF2-40B4-BE49-F238E27FC236}">
                <a16:creationId xmlns:a16="http://schemas.microsoft.com/office/drawing/2014/main" id="{91FFC9C4-BA83-4532-A61E-82C3C6392E8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53873527"/>
              </p:ext>
            </p:extLst>
          </p:nvPr>
        </p:nvGraphicFramePr>
        <p:xfrm>
          <a:off x="4191000" y="368300"/>
          <a:ext cx="479425" cy="539750"/>
        </p:xfrm>
        <a:graphic>
          <a:graphicData uri="http://schemas.openxmlformats.org/presentationml/2006/ole">
            <mc:AlternateContent xmlns:mc="http://schemas.openxmlformats.org/markup-compatibility/2006">
              <mc:Choice xmlns:v="urn:schemas-microsoft-com:vml" Requires="v">
                <p:oleObj name="Equation" r:id="rId3" imgW="203040" imgH="228600" progId="Equation.DSMT4">
                  <p:embed/>
                </p:oleObj>
              </mc:Choice>
              <mc:Fallback>
                <p:oleObj name="Equation" r:id="rId3" imgW="203040" imgH="228600" progId="Equation.DSMT4">
                  <p:embed/>
                  <p:pic>
                    <p:nvPicPr>
                      <p:cNvPr id="0" name=""/>
                      <p:cNvPicPr/>
                      <p:nvPr/>
                    </p:nvPicPr>
                    <p:blipFill>
                      <a:blip r:embed="rId4"/>
                      <a:stretch>
                        <a:fillRect/>
                      </a:stretch>
                    </p:blipFill>
                    <p:spPr>
                      <a:xfrm>
                        <a:off x="4191000" y="368300"/>
                        <a:ext cx="479425" cy="539750"/>
                      </a:xfrm>
                      <a:prstGeom prst="rect">
                        <a:avLst/>
                      </a:prstGeom>
                      <a:solidFill>
                        <a:schemeClr val="bg1"/>
                      </a:solidFill>
                    </p:spPr>
                  </p:pic>
                </p:oleObj>
              </mc:Fallback>
            </mc:AlternateContent>
          </a:graphicData>
        </a:graphic>
      </p:graphicFrame>
      <p:pic>
        <p:nvPicPr>
          <p:cNvPr id="8" name="Content Placeholder 7" descr="The graph plots y the marginal product of labor for cloth, M L P sub C, versus labor input, L sub C. For long description in Notes pane, press F6.">
            <a:extLst>
              <a:ext uri="{FF2B5EF4-FFF2-40B4-BE49-F238E27FC236}">
                <a16:creationId xmlns:a16="http://schemas.microsoft.com/office/drawing/2014/main" id="{7CE6EC8F-E672-4DC7-A1AD-7A5B7D8A984B}"/>
              </a:ext>
            </a:extLst>
          </p:cNvPr>
          <p:cNvPicPr>
            <a:picLocks noGrp="1" noChangeAspect="1"/>
          </p:cNvPicPr>
          <p:nvPr>
            <p:ph sz="quarter" idx="13"/>
          </p:nvPr>
        </p:nvPicPr>
        <p:blipFill>
          <a:blip r:embed="rId5"/>
          <a:stretch>
            <a:fillRect/>
          </a:stretch>
        </p:blipFill>
        <p:spPr>
          <a:xfrm>
            <a:off x="2818469" y="1671370"/>
            <a:ext cx="3507063" cy="3653503"/>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5550749"/>
            <a:ext cx="8100000" cy="793793"/>
          </a:xfrm>
        </p:spPr>
        <p:txBody>
          <a:bodyPr/>
          <a:lstStyle/>
          <a:p>
            <a:pPr marL="0" indent="0">
              <a:buNone/>
            </a:pPr>
            <a:r>
              <a:rPr lang="en-US" sz="2000" dirty="0"/>
              <a:t>The real wage in terms of cloth falls, leading to a rise in the income of capital owners.</a:t>
            </a:r>
            <a:endParaRPr lang="en-IN" sz="2000" dirty="0"/>
          </a:p>
        </p:txBody>
      </p:sp>
    </p:spTree>
    <p:extLst>
      <p:ext uri="{BB962C8B-B14F-4D97-AF65-F5344CB8AC3E}">
        <p14:creationId xmlns:p14="http://schemas.microsoft.com/office/powerpoint/2010/main" val="26508762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000" dirty="0"/>
              <a:t>Figure 4A.4 A Rise in </a:t>
            </a:r>
            <a:r>
              <a:rPr lang="en-US" altLang="en-US" sz="900" i="1" dirty="0"/>
              <a:t>P</a:t>
            </a:r>
            <a:r>
              <a:rPr lang="en-US" altLang="en-US" sz="900" dirty="0"/>
              <a:t> Sub </a:t>
            </a:r>
            <a:r>
              <a:rPr lang="en-US" altLang="en-US" sz="900" i="1" dirty="0"/>
              <a:t>C</a:t>
            </a:r>
            <a:r>
              <a:rPr lang="en-US" altLang="en-US" sz="3000" dirty="0"/>
              <a:t> Hurts Landowners</a:t>
            </a:r>
            <a:endParaRPr lang="en-IN" sz="3000" dirty="0"/>
          </a:p>
        </p:txBody>
      </p:sp>
      <p:graphicFrame>
        <p:nvGraphicFramePr>
          <p:cNvPr id="2" name="Object 1">
            <a:extLst>
              <a:ext uri="{FF2B5EF4-FFF2-40B4-BE49-F238E27FC236}">
                <a16:creationId xmlns:a16="http://schemas.microsoft.com/office/drawing/2014/main" id="{91FFC9C4-BA83-4532-A61E-82C3C6392E8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707789136"/>
              </p:ext>
            </p:extLst>
          </p:nvPr>
        </p:nvGraphicFramePr>
        <p:xfrm>
          <a:off x="4456801" y="762807"/>
          <a:ext cx="479136" cy="539028"/>
        </p:xfrm>
        <a:graphic>
          <a:graphicData uri="http://schemas.openxmlformats.org/presentationml/2006/ole">
            <mc:AlternateContent xmlns:mc="http://schemas.openxmlformats.org/markup-compatibility/2006">
              <mc:Choice xmlns:v="urn:schemas-microsoft-com:vml" Requires="v">
                <p:oleObj name="Equation" r:id="rId3" imgW="203040" imgH="228600" progId="Equation.DSMT4">
                  <p:embed/>
                </p:oleObj>
              </mc:Choice>
              <mc:Fallback>
                <p:oleObj name="Equation" r:id="rId3" imgW="203040" imgH="228600" progId="Equation.DSMT4">
                  <p:embed/>
                  <p:pic>
                    <p:nvPicPr>
                      <p:cNvPr id="2" name="Object 1">
                        <a:extLst>
                          <a:ext uri="{FF2B5EF4-FFF2-40B4-BE49-F238E27FC236}">
                            <a16:creationId xmlns:a16="http://schemas.microsoft.com/office/drawing/2014/main" id="{91FFC9C4-BA83-4532-A61E-82C3C6392E80}"/>
                          </a:ext>
                        </a:extLst>
                      </p:cNvPr>
                      <p:cNvPicPr/>
                      <p:nvPr/>
                    </p:nvPicPr>
                    <p:blipFill>
                      <a:blip r:embed="rId4"/>
                      <a:stretch>
                        <a:fillRect/>
                      </a:stretch>
                    </p:blipFill>
                    <p:spPr>
                      <a:xfrm>
                        <a:off x="4456801" y="762807"/>
                        <a:ext cx="479136" cy="539028"/>
                      </a:xfrm>
                      <a:prstGeom prst="rect">
                        <a:avLst/>
                      </a:prstGeom>
                      <a:solidFill>
                        <a:schemeClr val="lt1"/>
                      </a:solidFill>
                    </p:spPr>
                  </p:pic>
                </p:oleObj>
              </mc:Fallback>
            </mc:AlternateContent>
          </a:graphicData>
        </a:graphic>
      </p:graphicFrame>
      <p:pic>
        <p:nvPicPr>
          <p:cNvPr id="9" name="Content Placeholder 8" descr="They graph plots marginal product of labor for food, M P L sub F, versus labor input, L sub F. ">
            <a:extLst>
              <a:ext uri="{FF2B5EF4-FFF2-40B4-BE49-F238E27FC236}">
                <a16:creationId xmlns:a16="http://schemas.microsoft.com/office/drawing/2014/main" id="{0B027C99-F8E2-4510-A2E7-7499C24589A5}"/>
              </a:ext>
            </a:extLst>
          </p:cNvPr>
          <p:cNvPicPr>
            <a:picLocks noGrp="1" noChangeAspect="1"/>
          </p:cNvPicPr>
          <p:nvPr>
            <p:ph sz="quarter" idx="13"/>
          </p:nvPr>
        </p:nvPicPr>
        <p:blipFill>
          <a:blip r:embed="rId5"/>
          <a:stretch>
            <a:fillRect/>
          </a:stretch>
        </p:blipFill>
        <p:spPr>
          <a:xfrm>
            <a:off x="2641751" y="1713558"/>
            <a:ext cx="3860498" cy="3962412"/>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5828969"/>
            <a:ext cx="8100000" cy="437851"/>
          </a:xfrm>
        </p:spPr>
        <p:txBody>
          <a:bodyPr/>
          <a:lstStyle/>
          <a:p>
            <a:pPr marL="0" indent="0">
              <a:buNone/>
            </a:pPr>
            <a:r>
              <a:rPr lang="en-US" sz="2000" dirty="0"/>
              <a:t>The real wage in terms of food rises, reducing the income of land.</a:t>
            </a:r>
            <a:endParaRPr lang="en-IN" sz="2000" dirty="0"/>
          </a:p>
        </p:txBody>
      </p:sp>
    </p:spTree>
    <p:extLst>
      <p:ext uri="{BB962C8B-B14F-4D97-AF65-F5344CB8AC3E}">
        <p14:creationId xmlns:p14="http://schemas.microsoft.com/office/powerpoint/2010/main" val="38480395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6" name="Graphic 5" descr="Warning">
            <a:extLst>
              <a:ext uri="{FF2B5EF4-FFF2-40B4-BE49-F238E27FC236}">
                <a16:creationId xmlns:a16="http://schemas.microsoft.com/office/drawing/2014/main" id="{93E78281-A98C-4107-B2E1-58F103A5C4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4054175042"/>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149660</TotalTime>
  <Words>7328</Words>
  <Application>Microsoft Macintosh PowerPoint</Application>
  <PresentationFormat>On-screen Show (4:3)</PresentationFormat>
  <Paragraphs>415</Paragraphs>
  <Slides>71</Slides>
  <Notes>59</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71</vt:i4>
      </vt:variant>
    </vt:vector>
  </HeadingPairs>
  <TitlesOfParts>
    <vt:vector size="79" baseType="lpstr">
      <vt:lpstr>Noto Sans Symbols</vt:lpstr>
      <vt:lpstr>Times</vt:lpstr>
      <vt:lpstr>Verdana</vt:lpstr>
      <vt:lpstr>Arial</vt:lpstr>
      <vt:lpstr>Times New Roman</vt:lpstr>
      <vt:lpstr>USHE</vt:lpstr>
      <vt:lpstr>USHE_slide options</vt:lpstr>
      <vt:lpstr>Equation</vt:lpstr>
      <vt:lpstr>International Economics: Theory and Policy</vt:lpstr>
      <vt:lpstr>Learning Objectives</vt:lpstr>
      <vt:lpstr>Preview</vt:lpstr>
      <vt:lpstr>Introduction</vt:lpstr>
      <vt:lpstr>The Specific Factors Model (1 of 4)</vt:lpstr>
      <vt:lpstr>The Specific Factors Model (2 of 4)</vt:lpstr>
      <vt:lpstr>The Specific Factors Model (3 of 4)</vt:lpstr>
      <vt:lpstr>The Specific Factors Model (4 of 4)</vt:lpstr>
      <vt:lpstr>Production Possibilities (1 of 6)</vt:lpstr>
      <vt:lpstr>Figure 4.1 The Production Function for Cloth</vt:lpstr>
      <vt:lpstr>Production Possibilities (2 of 6)</vt:lpstr>
      <vt:lpstr>Figure 4.2 The Marginal Product of Labor</vt:lpstr>
      <vt:lpstr>Production Possibilities (3 of 6)</vt:lpstr>
      <vt:lpstr>Production Possibilities (4 of 6)</vt:lpstr>
      <vt:lpstr>Figure 4.3 The Production Possibility Frontier in the Specific Factors Model</vt:lpstr>
      <vt:lpstr>Production Possibilities (5 of 6)</vt:lpstr>
      <vt:lpstr>Production Possibilities (6 of 6)</vt:lpstr>
      <vt:lpstr>Prices, Wages, and Labor Allocation (1 of 10)</vt:lpstr>
      <vt:lpstr>Prices, Wages, and Labor Allocation (2 of 10)</vt:lpstr>
      <vt:lpstr>Prices, Wages, and Labor Allocation (3 of 10)</vt:lpstr>
      <vt:lpstr>Prices, Wages, and Labor Allocation (4 of 10)</vt:lpstr>
      <vt:lpstr>Figure 4.4 The Allocation of Labor</vt:lpstr>
      <vt:lpstr>Prices, Wages, and Labor Allocation (5 of 10)</vt:lpstr>
      <vt:lpstr>Figure 4.5 Production in the Specific Factors Model</vt:lpstr>
      <vt:lpstr>Prices, Wages, and Labor Allocation (6 of 10)</vt:lpstr>
      <vt:lpstr>Prices, Wages, and Labor Allocation (7 of 10)</vt:lpstr>
      <vt:lpstr>Figure 4.6 An Equal-Proportional Increase in the Prices of Cloth and Food</vt:lpstr>
      <vt:lpstr>Prices, Wages, and Labor Allocation (8 of 10)</vt:lpstr>
      <vt:lpstr>Figure 4.7 A Rise in the Price of Cloth</vt:lpstr>
      <vt:lpstr>Figure 4.8 The Response of Output to a Change in the Relative Price of Cloth</vt:lpstr>
      <vt:lpstr>Figure 4.9 Determination of Relative Prices</vt:lpstr>
      <vt:lpstr>Prices, Wages, and Labor Allocation (9 of 10)</vt:lpstr>
      <vt:lpstr>Prices, Wages, and Labor Allocation (10 of 10)</vt:lpstr>
      <vt:lpstr>International Trade in the Specific Factors Model (1 of 3)</vt:lpstr>
      <vt:lpstr>Figure 4.10 Trade and Relative Prices</vt:lpstr>
      <vt:lpstr>International Trade in the Specific Factors Model (2 of 3)</vt:lpstr>
      <vt:lpstr>International Trade in the Specific Factors Model (3 of 3)</vt:lpstr>
      <vt:lpstr>Figure 4.11 Budget Constraint for a Trading Economy and Gains from Trade</vt:lpstr>
      <vt:lpstr>Politics of Trade Protection (1 of 4)</vt:lpstr>
      <vt:lpstr>Politics of Trade Protection (2 of 4)</vt:lpstr>
      <vt:lpstr>Politics of Trade Protection (3 of 4)</vt:lpstr>
      <vt:lpstr>Politics of Trade Protection (4 of 4)</vt:lpstr>
      <vt:lpstr>Trade and Unemployment (1 of 3)</vt:lpstr>
      <vt:lpstr>Trade and Unemployment (2 of 3)</vt:lpstr>
      <vt:lpstr>Trade and Unemployment (3 of 3)</vt:lpstr>
      <vt:lpstr>Figure 4.12 Unemployment and Import Penetration in the United States</vt:lpstr>
      <vt:lpstr>Manufacturing Employment and Chinese Import Competition (1 of 2)</vt:lpstr>
      <vt:lpstr>Manufacturing Employment and Chinese Import Competition (2 of 2)</vt:lpstr>
      <vt:lpstr>Figure 4.13 U.S. Manufacturing Employment and Imports from China</vt:lpstr>
      <vt:lpstr>The Trump Trade War</vt:lpstr>
      <vt:lpstr>International Labor Mobility (1 of 6)</vt:lpstr>
      <vt:lpstr>International Labor Mobility (2 of 6)</vt:lpstr>
      <vt:lpstr>International Labor Mobility (3 of 6)</vt:lpstr>
      <vt:lpstr>International Labor Mobility (4 of 6)</vt:lpstr>
      <vt:lpstr>Figure 4.14 Causes and Effects of International Labor Mobility</vt:lpstr>
      <vt:lpstr>International Labor Mobility (5 of 6)</vt:lpstr>
      <vt:lpstr>International Labor Mobility (6 of 6)</vt:lpstr>
      <vt:lpstr>Figure 4.15 Eastern–Western Europe Relative Compensation 1997–2015</vt:lpstr>
      <vt:lpstr>Immigration and the U.S. Economy (1 of 2) </vt:lpstr>
      <vt:lpstr>Figure 4.16 Foreign-Born Population as a Percentage of the U.S. Population</vt:lpstr>
      <vt:lpstr>Immigration and the U.S. Economy (2 of 2) </vt:lpstr>
      <vt:lpstr>Figure 4.17 Foreign-Born and Total U.S. Population Over 25 Years Old by Educational Attainment</vt:lpstr>
      <vt:lpstr>Summary (1 of 4)</vt:lpstr>
      <vt:lpstr>Summary (2 of 4)</vt:lpstr>
      <vt:lpstr>Summary (3 of 4)</vt:lpstr>
      <vt:lpstr>Summary (4 of 4)</vt:lpstr>
      <vt:lpstr>Figure 4A.1 Showing That Output Is Equal to the Area under the Marginal Product Curve</vt:lpstr>
      <vt:lpstr>Figure 4A.2 The Distribution of Income within the Cloth Sector</vt:lpstr>
      <vt:lpstr>Figure 4A.3 A Rise in P Sub C Benefits the Owners of Capital</vt:lpstr>
      <vt:lpstr>Figure 4A.4 A Rise in P Sub C Hurts Landowners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4, Specific Factors and Income Distribution</dc:title>
  <dc:subject>Business</dc:subject>
  <dc:creator>Krugman/Obstfeld/Melitz</dc:creator>
  <cp:keywords>International Economics</cp:keywords>
  <dc:description>Long description alt-text is inserted in the notes pane; Alt text for math equations within the title have been placed behind the title intentionally to provide a better screen reader user experience. </dc:description>
  <cp:lastModifiedBy>Muhebullah Karimzada</cp:lastModifiedBy>
  <cp:revision>1775</cp:revision>
  <dcterms:modified xsi:type="dcterms:W3CDTF">2025-09-18T00:29:06Z</dcterms:modified>
</cp:coreProperties>
</file>