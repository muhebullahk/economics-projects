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87" r:id="rId2"/>
  </p:sldMasterIdLst>
  <p:notesMasterIdLst>
    <p:notesMasterId r:id="rId31"/>
  </p:notesMasterIdLst>
  <p:handoutMasterIdLst>
    <p:handoutMasterId r:id="rId32"/>
  </p:handoutMasterIdLst>
  <p:sldIdLst>
    <p:sldId id="1405" r:id="rId3"/>
    <p:sldId id="331" r:id="rId4"/>
    <p:sldId id="357" r:id="rId5"/>
    <p:sldId id="358" r:id="rId6"/>
    <p:sldId id="360" r:id="rId7"/>
    <p:sldId id="361" r:id="rId8"/>
    <p:sldId id="362" r:id="rId9"/>
    <p:sldId id="363" r:id="rId10"/>
    <p:sldId id="364" r:id="rId11"/>
    <p:sldId id="365" r:id="rId12"/>
    <p:sldId id="366" r:id="rId13"/>
    <p:sldId id="367" r:id="rId14"/>
    <p:sldId id="368" r:id="rId15"/>
    <p:sldId id="541" r:id="rId16"/>
    <p:sldId id="542" r:id="rId17"/>
    <p:sldId id="543" r:id="rId18"/>
    <p:sldId id="544" r:id="rId19"/>
    <p:sldId id="545" r:id="rId20"/>
    <p:sldId id="546" r:id="rId21"/>
    <p:sldId id="547" r:id="rId22"/>
    <p:sldId id="476" r:id="rId23"/>
    <p:sldId id="548" r:id="rId24"/>
    <p:sldId id="549" r:id="rId25"/>
    <p:sldId id="550" r:id="rId26"/>
    <p:sldId id="551" r:id="rId27"/>
    <p:sldId id="552" r:id="rId28"/>
    <p:sldId id="607" r:id="rId29"/>
    <p:sldId id="554" r:id="rId30"/>
  </p:sldIdLst>
  <p:sldSz cx="9144000" cy="6858000" type="screen4x3"/>
  <p:notesSz cx="6858000" cy="9144000"/>
  <p:embeddedFontLst>
    <p:embeddedFont>
      <p:font typeface="Noto Sans Symbols" panose="020B0604020202020204" pitchFamily="34" charset="0"/>
      <p:regular r:id="rId33"/>
      <p:bold r:id="rId34"/>
      <p:italic r:id="rId35"/>
      <p:boldItalic r:id="rId36"/>
    </p:embeddedFont>
    <p:embeddedFont>
      <p:font typeface="Times" panose="02020603050405020304" pitchFamily="18" charset="0"/>
      <p:regular r:id="rId37"/>
      <p:bold r:id="rId38"/>
      <p:italic r:id="rId39"/>
      <p:boldItalic r:id="rId40"/>
    </p:embeddedFont>
    <p:embeddedFont>
      <p:font typeface="Verdana" panose="020B060403050404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74" userDrawn="1">
          <p15:clr>
            <a:srgbClr val="A4A3A4"/>
          </p15:clr>
        </p15:guide>
        <p15:guide id="2" pos="363" userDrawn="1">
          <p15:clr>
            <a:srgbClr val="A4A3A4"/>
          </p15:clr>
        </p15:guide>
        <p15:guide id="3" orient="horz" pos="4156"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205063" initials="SP" lastIdx="1" clrIdx="7">
    <p:extLst>
      <p:ext uri="{19B8F6BF-5375-455C-9EA6-DF929625EA0E}">
        <p15:presenceInfo xmlns:p15="http://schemas.microsoft.com/office/powerpoint/2012/main" userId="205063" providerId="Non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72" autoAdjust="0"/>
    <p:restoredTop sz="76549" autoAdjust="0"/>
  </p:normalViewPr>
  <p:slideViewPr>
    <p:cSldViewPr snapToGrid="0" snapToObjects="1">
      <p:cViewPr varScale="1">
        <p:scale>
          <a:sx n="93" d="100"/>
          <a:sy n="93" d="100"/>
        </p:scale>
        <p:origin x="712" y="192"/>
      </p:cViewPr>
      <p:guideLst>
        <p:guide orient="horz" pos="3974"/>
        <p:guide pos="363"/>
        <p:guide orient="horz" pos="4156"/>
        <p:guide orient="horz" pos="119"/>
        <p:guide orient="horz" pos="709"/>
        <p:guide orient="horz" pos="10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7.fntdata"/><Relationship Id="rId21" Type="http://schemas.openxmlformats.org/officeDocument/2006/relationships/slide" Target="slides/slide19.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4" Type="http://schemas.openxmlformats.org/officeDocument/2006/relationships/font" Target="fonts/font1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9/9/25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3592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9253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P F, shows the maximum amount of cheese, home can produce given any production of wine, and vice versa. This line falls from point P on the y-axis at ratio L over a, sub L W, 500 gallons in the example, to point F on the x-axis, ration L over a sub L C, 1,000 pounds. The absolute value of the slope equals the opportunity cost of cheese in terms of wine.</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39169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12237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Start fraction 1 hour over left parenthesis a sub start expression L W end expression hours per gallon of wine right parenthesis end fraction = left parenthesis start fraction 1 over a sub start expression L W end expression end fraction right parenthesis gallons of wine </a:t>
            </a:r>
            <a:endParaRPr lang="en-US"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 </a:t>
            </a:r>
          </a:p>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39259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523529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95096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372B1-175B-85BD-79BE-5B4162C7B58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4659319-6613-1DC2-F4DC-907F418A6CA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D3A750A-3C11-1235-1EE3-892C38E38384}"/>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4D72BB3D-833E-B06C-ECDE-E56CD795DB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F0DA0-0ECF-67EB-5FED-6C0B8B61AE0A}"/>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80509606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8E590-4FE3-C1BF-5355-DF33783DC1F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6D195AB6-788A-F224-4E22-79A01E1DDC0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BA668C96-CFB6-639D-E206-2178EB4495EB}"/>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CE935DFE-4B11-FEBC-836D-2127034407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F3B6B5-8DE3-FF67-692D-8F055C065E71}"/>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51557518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6EB6-95C7-D064-3412-374E2CFDAE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F6A632-A6DD-B687-6E38-BF576B7288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65CF-EC89-4BE8-C35D-FE305C4F6BB5}"/>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5A17D48C-0497-2FB2-99D4-28A8F54A3E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F06ACA-3740-432F-61B4-8F92E6CA01BF}"/>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92948053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971EB-F241-EE9D-33CD-288D977813F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0EE6CA65-CA3C-D95C-C849-FE07BB169BEE}"/>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27BCF8-7407-033D-C85A-D7BD56F6C2B5}"/>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39955700-B617-C0ED-2F6F-F43166B30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64977D-753C-B059-CB15-DD88398EBCD7}"/>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6224057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6161D-4100-19F0-380F-C944DCE494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36ACA4-F95B-3954-2DF1-912D40CBF8B5}"/>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0DB327-86AB-424A-18BA-BA0ACAB1A0B6}"/>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A6ED2E-48F3-E002-4C06-25A936D7AB60}"/>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5C70D40C-3D08-3237-C3D6-0619D79B0A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0298E2-A437-7182-E575-9FEA50189014}"/>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62550259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BB7A2-2E6B-A0B7-A03C-38396DACFA5B}"/>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B15CDD-AA24-BB65-2383-9DDE5F6E6BA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8C77CFA-67FB-4EF5-A8CE-143C4F11557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C28D75-7D80-7BAF-711C-7D35AF0328D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1313E48-49E6-F2A7-CDDF-44BC9B330001}"/>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BE999C-8531-3468-F158-F3F6C0DBFD14}"/>
              </a:ext>
            </a:extLst>
          </p:cNvPr>
          <p:cNvSpPr>
            <a:spLocks noGrp="1"/>
          </p:cNvSpPr>
          <p:nvPr>
            <p:ph type="dt" sz="half" idx="10"/>
          </p:nvPr>
        </p:nvSpPr>
        <p:spPr/>
        <p:txBody>
          <a:bodyPr/>
          <a:lstStyle/>
          <a:p>
            <a:pPr>
              <a:defRPr/>
            </a:pPr>
            <a:endParaRPr lang="en-US" dirty="0">
              <a:solidFill>
                <a:schemeClr val="tx1"/>
              </a:solidFill>
            </a:endParaRPr>
          </a:p>
        </p:txBody>
      </p:sp>
      <p:sp>
        <p:nvSpPr>
          <p:cNvPr id="8" name="Footer Placeholder 7">
            <a:extLst>
              <a:ext uri="{FF2B5EF4-FFF2-40B4-BE49-F238E27FC236}">
                <a16:creationId xmlns:a16="http://schemas.microsoft.com/office/drawing/2014/main" id="{D1D6B3F7-EAE9-D9A8-241A-D18D59D212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35E8330-0494-32DA-07A7-D2C7C73CD59E}"/>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5697909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7EE34-F314-52C4-479B-344D1A8FF8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BCD1B1-A272-29CB-E629-DAE36153A6C4}"/>
              </a:ext>
            </a:extLst>
          </p:cNvPr>
          <p:cNvSpPr>
            <a:spLocks noGrp="1"/>
          </p:cNvSpPr>
          <p:nvPr>
            <p:ph type="dt" sz="half" idx="10"/>
          </p:nvPr>
        </p:nvSpPr>
        <p:spPr/>
        <p:txBody>
          <a:bodyPr/>
          <a:lstStyle/>
          <a:p>
            <a:pPr>
              <a:defRPr/>
            </a:pPr>
            <a:endParaRPr lang="en-US" dirty="0">
              <a:solidFill>
                <a:schemeClr val="tx1"/>
              </a:solidFill>
            </a:endParaRPr>
          </a:p>
        </p:txBody>
      </p:sp>
      <p:sp>
        <p:nvSpPr>
          <p:cNvPr id="4" name="Footer Placeholder 3">
            <a:extLst>
              <a:ext uri="{FF2B5EF4-FFF2-40B4-BE49-F238E27FC236}">
                <a16:creationId xmlns:a16="http://schemas.microsoft.com/office/drawing/2014/main" id="{1A7DCF14-694B-D960-FF0A-5A2059053C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97AFCD-802E-DC0D-8F58-01ECB97A0262}"/>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24513368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746E5D-B4BC-F88A-6D76-950150D8D696}"/>
              </a:ext>
            </a:extLst>
          </p:cNvPr>
          <p:cNvSpPr>
            <a:spLocks noGrp="1"/>
          </p:cNvSpPr>
          <p:nvPr>
            <p:ph type="dt" sz="half" idx="10"/>
          </p:nvPr>
        </p:nvSpPr>
        <p:spPr/>
        <p:txBody>
          <a:bodyPr/>
          <a:lstStyle/>
          <a:p>
            <a:pPr>
              <a:defRPr/>
            </a:pPr>
            <a:endParaRPr lang="en-US" dirty="0">
              <a:solidFill>
                <a:schemeClr val="tx1"/>
              </a:solidFill>
            </a:endParaRPr>
          </a:p>
        </p:txBody>
      </p:sp>
      <p:sp>
        <p:nvSpPr>
          <p:cNvPr id="3" name="Footer Placeholder 2">
            <a:extLst>
              <a:ext uri="{FF2B5EF4-FFF2-40B4-BE49-F238E27FC236}">
                <a16:creationId xmlns:a16="http://schemas.microsoft.com/office/drawing/2014/main" id="{CEF84013-6ED3-1163-DD40-82BD598EC0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BA3C16-51C2-90E2-F44E-8720D796EAEB}"/>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78384492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F485E-9649-0CCB-F74E-26830C63483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525D0B7E-7286-9365-CEAE-1A54CF7FDC3A}"/>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E7FE75-95A0-8666-0B14-1AC3BC48F84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5F79847-6150-4A44-FC36-6F3738B84B8C}"/>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2DEF1CA7-09F4-89DB-4A4C-9066A03B9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5D2B0E-870C-08FA-B3F6-0BB60C7FFA32}"/>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15735250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7E175-4611-E758-D929-27BD8D1BA84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0563BE42-9AE3-C07E-DDD9-18C5ED8C6AD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F0A21FE-4FA5-8273-523F-3E01D84B23E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5C3CD7B-503F-6273-E094-F23902F58D4D}"/>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E942710C-F41B-76DF-5093-5DB94C0A2F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6A90FF-8D2C-2B4D-62BB-0B4CDBB3A660}"/>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25099037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AAEA7-A116-F6F5-A81C-665702D27A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05345A-B21B-48E6-0ED8-9C45DBD5D8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EBBE64-97CD-1802-0CCD-26168F61C597}"/>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E4ED1AE3-4965-8038-AF2E-EA4B2B75BE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3BE322-BEE5-0AA7-55EB-21347994BA05}"/>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79729573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1E9606-BAD7-1218-BBFC-88C33F5DF7EA}"/>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F81414-A323-EE94-033B-16AF5DFFDAFC}"/>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55B967-3A1E-59D0-4F62-C886582EC930}"/>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94E5C2D9-9761-0932-4C97-159251E0D1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B47619-E41A-34F9-EC1D-F5B5257DE289}"/>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37421964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8002515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5269891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382605150"/>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Title and 1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3519577" cy="304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33601"/>
            <a:ext cx="3519577" cy="322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2666999"/>
            <a:ext cx="3519577" cy="3810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259346"/>
            <a:ext cx="3519577"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3792746"/>
            <a:ext cx="3519577"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7"/>
          </p:nvPr>
        </p:nvSpPr>
        <p:spPr>
          <a:xfrm>
            <a:off x="457200" y="4267200"/>
            <a:ext cx="3519577" cy="38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8"/>
          </p:nvPr>
        </p:nvSpPr>
        <p:spPr>
          <a:xfrm>
            <a:off x="457200" y="4800600"/>
            <a:ext cx="3519577"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9"/>
          </p:nvPr>
        </p:nvSpPr>
        <p:spPr>
          <a:xfrm>
            <a:off x="457200" y="5410200"/>
            <a:ext cx="3519577" cy="457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0"/>
          </p:nvPr>
        </p:nvSpPr>
        <p:spPr>
          <a:xfrm>
            <a:off x="431799" y="6019800"/>
            <a:ext cx="3544977" cy="533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21"/>
          </p:nvPr>
        </p:nvSpPr>
        <p:spPr>
          <a:xfrm>
            <a:off x="431798" y="6705600"/>
            <a:ext cx="3683001" cy="533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ontent Placeholder 14"/>
          <p:cNvSpPr>
            <a:spLocks noGrp="1"/>
          </p:cNvSpPr>
          <p:nvPr>
            <p:ph sz="quarter" idx="22"/>
          </p:nvPr>
        </p:nvSpPr>
        <p:spPr>
          <a:xfrm>
            <a:off x="4267200" y="1600200"/>
            <a:ext cx="4343400" cy="5506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Content Placeholder 17"/>
          <p:cNvSpPr>
            <a:spLocks noGrp="1"/>
          </p:cNvSpPr>
          <p:nvPr>
            <p:ph sz="quarter" idx="23"/>
          </p:nvPr>
        </p:nvSpPr>
        <p:spPr>
          <a:xfrm>
            <a:off x="4267200" y="2362200"/>
            <a:ext cx="44196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Content Placeholder 19"/>
          <p:cNvSpPr>
            <a:spLocks noGrp="1"/>
          </p:cNvSpPr>
          <p:nvPr>
            <p:ph sz="quarter" idx="24"/>
          </p:nvPr>
        </p:nvSpPr>
        <p:spPr>
          <a:xfrm>
            <a:off x="4267200" y="3048000"/>
            <a:ext cx="4419600" cy="5161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Content Placeholder 21"/>
          <p:cNvSpPr>
            <a:spLocks noGrp="1"/>
          </p:cNvSpPr>
          <p:nvPr>
            <p:ph sz="quarter" idx="25"/>
          </p:nvPr>
        </p:nvSpPr>
        <p:spPr>
          <a:xfrm>
            <a:off x="4267200" y="3733800"/>
            <a:ext cx="44196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4779928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0985377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304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33601"/>
            <a:ext cx="8229600" cy="322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2666999"/>
            <a:ext cx="8229600" cy="3810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259346"/>
            <a:ext cx="8229600"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3792746"/>
            <a:ext cx="8229600"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7"/>
          </p:nvPr>
        </p:nvSpPr>
        <p:spPr>
          <a:xfrm>
            <a:off x="457200" y="4267200"/>
            <a:ext cx="8229600" cy="38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8"/>
          </p:nvPr>
        </p:nvSpPr>
        <p:spPr>
          <a:xfrm>
            <a:off x="457200" y="4800600"/>
            <a:ext cx="8229600"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9"/>
          </p:nvPr>
        </p:nvSpPr>
        <p:spPr>
          <a:xfrm>
            <a:off x="457200" y="5410200"/>
            <a:ext cx="8229600" cy="457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657118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94621622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3606731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5703808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05572454"/>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Title and 1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3519577" cy="304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33601"/>
            <a:ext cx="3519577" cy="322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2666999"/>
            <a:ext cx="3519577" cy="3810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259346"/>
            <a:ext cx="3519577"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3792746"/>
            <a:ext cx="3519577"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7"/>
          </p:nvPr>
        </p:nvSpPr>
        <p:spPr>
          <a:xfrm>
            <a:off x="457200" y="4267200"/>
            <a:ext cx="3519577" cy="38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8"/>
          </p:nvPr>
        </p:nvSpPr>
        <p:spPr>
          <a:xfrm>
            <a:off x="457200" y="4800600"/>
            <a:ext cx="3519577"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9"/>
          </p:nvPr>
        </p:nvSpPr>
        <p:spPr>
          <a:xfrm>
            <a:off x="457200" y="5410200"/>
            <a:ext cx="3519577" cy="457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0"/>
          </p:nvPr>
        </p:nvSpPr>
        <p:spPr>
          <a:xfrm>
            <a:off x="431799" y="6019800"/>
            <a:ext cx="3544977" cy="533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21"/>
          </p:nvPr>
        </p:nvSpPr>
        <p:spPr>
          <a:xfrm>
            <a:off x="431798" y="6705600"/>
            <a:ext cx="3683001" cy="533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ontent Placeholder 14"/>
          <p:cNvSpPr>
            <a:spLocks noGrp="1"/>
          </p:cNvSpPr>
          <p:nvPr>
            <p:ph sz="quarter" idx="22"/>
          </p:nvPr>
        </p:nvSpPr>
        <p:spPr>
          <a:xfrm>
            <a:off x="4267200" y="1600200"/>
            <a:ext cx="4343400" cy="5506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Content Placeholder 17"/>
          <p:cNvSpPr>
            <a:spLocks noGrp="1"/>
          </p:cNvSpPr>
          <p:nvPr>
            <p:ph sz="quarter" idx="23"/>
          </p:nvPr>
        </p:nvSpPr>
        <p:spPr>
          <a:xfrm>
            <a:off x="4267200" y="2362200"/>
            <a:ext cx="44196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Content Placeholder 19"/>
          <p:cNvSpPr>
            <a:spLocks noGrp="1"/>
          </p:cNvSpPr>
          <p:nvPr>
            <p:ph sz="quarter" idx="24"/>
          </p:nvPr>
        </p:nvSpPr>
        <p:spPr>
          <a:xfrm>
            <a:off x="4267200" y="3048000"/>
            <a:ext cx="4419600" cy="5161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Content Placeholder 21"/>
          <p:cNvSpPr>
            <a:spLocks noGrp="1"/>
          </p:cNvSpPr>
          <p:nvPr>
            <p:ph sz="quarter" idx="25"/>
          </p:nvPr>
        </p:nvSpPr>
        <p:spPr>
          <a:xfrm>
            <a:off x="4267200" y="3733800"/>
            <a:ext cx="44196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1538179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7997057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304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33601"/>
            <a:ext cx="8229600" cy="322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2666999"/>
            <a:ext cx="8229600" cy="3810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259346"/>
            <a:ext cx="8229600"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3792746"/>
            <a:ext cx="8229600"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7"/>
          </p:nvPr>
        </p:nvSpPr>
        <p:spPr>
          <a:xfrm>
            <a:off x="457200" y="4267200"/>
            <a:ext cx="8229600" cy="38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8"/>
          </p:nvPr>
        </p:nvSpPr>
        <p:spPr>
          <a:xfrm>
            <a:off x="457200" y="4800600"/>
            <a:ext cx="8229600"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9"/>
          </p:nvPr>
        </p:nvSpPr>
        <p:spPr>
          <a:xfrm>
            <a:off x="457200" y="5410200"/>
            <a:ext cx="8229600" cy="457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769074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780028037"/>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5193002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_Title and 5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1970710"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3518943"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5125048"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F19255CD-6EFD-4E9E-82B1-C1B0817A905E}"/>
              </a:ext>
            </a:extLst>
          </p:cNvPr>
          <p:cNvSpPr>
            <a:spLocks noGrp="1"/>
          </p:cNvSpPr>
          <p:nvPr>
            <p:ph sz="quarter" idx="17"/>
          </p:nvPr>
        </p:nvSpPr>
        <p:spPr>
          <a:xfrm>
            <a:off x="6731152" y="1552575"/>
            <a:ext cx="1463723" cy="4438650"/>
          </a:xfrm>
        </p:spPr>
        <p:txBody>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2976593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5.xml"/><Relationship Id="rId18" Type="http://schemas.openxmlformats.org/officeDocument/2006/relationships/slideLayout" Target="../slideLayouts/slideLayout20.xml"/><Relationship Id="rId26" Type="http://schemas.openxmlformats.org/officeDocument/2006/relationships/slideLayout" Target="../slideLayouts/slideLayout28.xml"/><Relationship Id="rId3" Type="http://schemas.openxmlformats.org/officeDocument/2006/relationships/slideLayout" Target="../slideLayouts/slideLayout5.xml"/><Relationship Id="rId21" Type="http://schemas.openxmlformats.org/officeDocument/2006/relationships/slideLayout" Target="../slideLayouts/slideLayout23.xml"/><Relationship Id="rId34" Type="http://schemas.openxmlformats.org/officeDocument/2006/relationships/slideLayout" Target="../slideLayouts/slideLayout36.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5" Type="http://schemas.openxmlformats.org/officeDocument/2006/relationships/slideLayout" Target="../slideLayouts/slideLayout27.xml"/><Relationship Id="rId33" Type="http://schemas.openxmlformats.org/officeDocument/2006/relationships/slideLayout" Target="../slideLayouts/slideLayout35.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29" Type="http://schemas.openxmlformats.org/officeDocument/2006/relationships/slideLayout" Target="../slideLayouts/slideLayout31.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24" Type="http://schemas.openxmlformats.org/officeDocument/2006/relationships/slideLayout" Target="../slideLayouts/slideLayout26.xml"/><Relationship Id="rId32" Type="http://schemas.openxmlformats.org/officeDocument/2006/relationships/slideLayout" Target="../slideLayouts/slideLayout34.xml"/><Relationship Id="rId5" Type="http://schemas.openxmlformats.org/officeDocument/2006/relationships/slideLayout" Target="../slideLayouts/slideLayout7.xml"/><Relationship Id="rId15" Type="http://schemas.openxmlformats.org/officeDocument/2006/relationships/slideLayout" Target="../slideLayouts/slideLayout17.xml"/><Relationship Id="rId23" Type="http://schemas.openxmlformats.org/officeDocument/2006/relationships/slideLayout" Target="../slideLayouts/slideLayout25.xml"/><Relationship Id="rId28" Type="http://schemas.openxmlformats.org/officeDocument/2006/relationships/slideLayout" Target="../slideLayouts/slideLayout30.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31" Type="http://schemas.openxmlformats.org/officeDocument/2006/relationships/slideLayout" Target="../slideLayouts/slideLayout33.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 Id="rId22" Type="http://schemas.openxmlformats.org/officeDocument/2006/relationships/slideLayout" Target="../slideLayouts/slideLayout24.xml"/><Relationship Id="rId27" Type="http://schemas.openxmlformats.org/officeDocument/2006/relationships/slideLayout" Target="../slideLayouts/slideLayout29.xml"/><Relationship Id="rId30" Type="http://schemas.openxmlformats.org/officeDocument/2006/relationships/slideLayout" Target="../slideLayouts/slideLayout32.xml"/><Relationship Id="rId35" Type="http://schemas.openxmlformats.org/officeDocument/2006/relationships/theme" Target="../theme/theme2.xml"/><Relationship Id="rId8"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86"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9B6E02-46D5-5392-BCE2-786CFEF547D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449DF5-C4E9-9A69-121B-D5AC5E70406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778F12-BD4A-AC77-2E57-BAC57C4CA84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567700EB-19B8-40CB-9ADF-7E8CD1CB514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B5D886E-ECFC-E79C-4C46-A5F68B9F3FF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81286106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664" r:id="rId19"/>
    <p:sldLayoutId id="2147483676" r:id="rId20"/>
    <p:sldLayoutId id="2147483677" r:id="rId21"/>
    <p:sldLayoutId id="2147483671" r:id="rId22"/>
    <p:sldLayoutId id="2147483673" r:id="rId23"/>
    <p:sldLayoutId id="2147483670" r:id="rId24"/>
    <p:sldLayoutId id="2147483669" r:id="rId25"/>
    <p:sldLayoutId id="2147483720" r:id="rId26"/>
    <p:sldLayoutId id="2147483721" r:id="rId27"/>
    <p:sldLayoutId id="2147483722" r:id="rId28"/>
    <p:sldLayoutId id="2147483723" r:id="rId29"/>
    <p:sldLayoutId id="2147483724" r:id="rId30"/>
    <p:sldLayoutId id="2147483725" r:id="rId31"/>
    <p:sldLayoutId id="2147483726" r:id="rId32"/>
    <p:sldLayoutId id="2147483727" r:id="rId33"/>
    <p:sldLayoutId id="2147483728" r:id="rId34"/>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4.x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16.xml"/><Relationship Id="rId6" Type="http://schemas.openxmlformats.org/officeDocument/2006/relationships/oleObject" Target="../embeddings/oleObject6.bin"/><Relationship Id="rId5" Type="http://schemas.openxmlformats.org/officeDocument/2006/relationships/image" Target="../media/image5.wmf"/><Relationship Id="rId4" Type="http://schemas.openxmlformats.org/officeDocument/2006/relationships/oleObject" Target="../embeddings/oleObject5.bin"/><Relationship Id="rId9" Type="http://schemas.openxmlformats.org/officeDocument/2006/relationships/image" Target="../media/image7.wmf"/></Relationships>
</file>

<file path=ppt/slides/_rels/slide14.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9.wmf"/><Relationship Id="rId5" Type="http://schemas.openxmlformats.org/officeDocument/2006/relationships/oleObject" Target="../embeddings/oleObject9.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2.bin"/><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3.bin"/><Relationship Id="rId1" Type="http://schemas.openxmlformats.org/officeDocument/2006/relationships/slideLayout" Target="../slideLayouts/slideLayout18.xml"/><Relationship Id="rId5" Type="http://schemas.openxmlformats.org/officeDocument/2006/relationships/image" Target="../media/image14.wmf"/><Relationship Id="rId4" Type="http://schemas.openxmlformats.org/officeDocument/2006/relationships/oleObject" Target="../embeddings/oleObject14.bin"/></Relationships>
</file>

<file path=ppt/slides/_rels/slide17.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image" Target="../media/image16.wmf"/><Relationship Id="rId5" Type="http://schemas.openxmlformats.org/officeDocument/2006/relationships/oleObject" Target="../embeddings/oleObject16.bin"/><Relationship Id="rId4" Type="http://schemas.openxmlformats.org/officeDocument/2006/relationships/image" Target="../media/image15.wmf"/></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20.wmf"/><Relationship Id="rId5" Type="http://schemas.openxmlformats.org/officeDocument/2006/relationships/oleObject" Target="../embeddings/oleObject19.bin"/><Relationship Id="rId4" Type="http://schemas.openxmlformats.org/officeDocument/2006/relationships/image" Target="../media/image19.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image" Target="../media/image22.wmf"/><Relationship Id="rId5" Type="http://schemas.openxmlformats.org/officeDocument/2006/relationships/oleObject" Target="../embeddings/oleObject21.bin"/><Relationship Id="rId4" Type="http://schemas.openxmlformats.org/officeDocument/2006/relationships/image" Target="../media/image21.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image" Target="../media/image24.wmf"/><Relationship Id="rId5" Type="http://schemas.openxmlformats.org/officeDocument/2006/relationships/oleObject" Target="../embeddings/oleObject23.bin"/><Relationship Id="rId4" Type="http://schemas.openxmlformats.org/officeDocument/2006/relationships/image" Target="../media/image23.wmf"/></Relationships>
</file>

<file path=ppt/slides/_rels/slide22.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29.bin"/><Relationship Id="rId3" Type="http://schemas.openxmlformats.org/officeDocument/2006/relationships/oleObject" Target="../embeddings/oleObject24.bin"/><Relationship Id="rId7" Type="http://schemas.openxmlformats.org/officeDocument/2006/relationships/oleObject" Target="../embeddings/oleObject26.bin"/><Relationship Id="rId12" Type="http://schemas.openxmlformats.org/officeDocument/2006/relationships/image" Target="../media/image29.wmf"/><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image" Target="../media/image26.wmf"/><Relationship Id="rId11" Type="http://schemas.openxmlformats.org/officeDocument/2006/relationships/oleObject" Target="../embeddings/oleObject28.bin"/><Relationship Id="rId5" Type="http://schemas.openxmlformats.org/officeDocument/2006/relationships/oleObject" Target="../embeddings/oleObject25.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27.bin"/><Relationship Id="rId14" Type="http://schemas.openxmlformats.org/officeDocument/2006/relationships/image" Target="../media/image30.wmf"/></Relationships>
</file>

<file path=ppt/slides/_rels/slide23.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30.bin"/><Relationship Id="rId1" Type="http://schemas.openxmlformats.org/officeDocument/2006/relationships/slideLayout" Target="../slideLayouts/slideLayout17.xml"/><Relationship Id="rId5" Type="http://schemas.openxmlformats.org/officeDocument/2006/relationships/image" Target="../media/image32.wmf"/><Relationship Id="rId4" Type="http://schemas.openxmlformats.org/officeDocument/2006/relationships/oleObject" Target="../embeddings/oleObject31.bin"/></Relationships>
</file>

<file path=ppt/slides/_rels/slide24.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32.bin"/><Relationship Id="rId1" Type="http://schemas.openxmlformats.org/officeDocument/2006/relationships/slideLayout" Target="../slideLayouts/slideLayout17.xml"/><Relationship Id="rId5" Type="http://schemas.openxmlformats.org/officeDocument/2006/relationships/image" Target="../media/image34.wmf"/><Relationship Id="rId4" Type="http://schemas.openxmlformats.org/officeDocument/2006/relationships/oleObject" Target="../embeddings/oleObject33.bin"/></Relationships>
</file>

<file path=ppt/slides/_rels/slide25.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34.bin"/><Relationship Id="rId1" Type="http://schemas.openxmlformats.org/officeDocument/2006/relationships/slideLayout" Target="../slideLayouts/slideLayout19.xml"/><Relationship Id="rId5" Type="http://schemas.openxmlformats.org/officeDocument/2006/relationships/image" Target="../media/image36.wmf"/><Relationship Id="rId4" Type="http://schemas.openxmlformats.org/officeDocument/2006/relationships/oleObject" Target="../embeddings/oleObject35.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42.wmf"/><Relationship Id="rId3" Type="http://schemas.openxmlformats.org/officeDocument/2006/relationships/image" Target="../media/image37.wmf"/><Relationship Id="rId7" Type="http://schemas.openxmlformats.org/officeDocument/2006/relationships/image" Target="../media/image39.wmf"/><Relationship Id="rId12" Type="http://schemas.openxmlformats.org/officeDocument/2006/relationships/oleObject" Target="../embeddings/oleObject41.bin"/><Relationship Id="rId2" Type="http://schemas.openxmlformats.org/officeDocument/2006/relationships/oleObject" Target="../embeddings/oleObject36.bin"/><Relationship Id="rId1" Type="http://schemas.openxmlformats.org/officeDocument/2006/relationships/slideLayout" Target="../slideLayouts/slideLayout19.xml"/><Relationship Id="rId6" Type="http://schemas.openxmlformats.org/officeDocument/2006/relationships/oleObject" Target="../embeddings/oleObject38.bin"/><Relationship Id="rId11" Type="http://schemas.openxmlformats.org/officeDocument/2006/relationships/image" Target="../media/image41.wmf"/><Relationship Id="rId5" Type="http://schemas.openxmlformats.org/officeDocument/2006/relationships/image" Target="../media/image38.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40.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48.wmf"/><Relationship Id="rId3" Type="http://schemas.openxmlformats.org/officeDocument/2006/relationships/image" Target="../media/image43.wmf"/><Relationship Id="rId7" Type="http://schemas.openxmlformats.org/officeDocument/2006/relationships/image" Target="../media/image45.wmf"/><Relationship Id="rId12" Type="http://schemas.openxmlformats.org/officeDocument/2006/relationships/oleObject" Target="../embeddings/oleObject47.bin"/><Relationship Id="rId2" Type="http://schemas.openxmlformats.org/officeDocument/2006/relationships/oleObject" Target="../embeddings/oleObject42.bin"/><Relationship Id="rId1" Type="http://schemas.openxmlformats.org/officeDocument/2006/relationships/slideLayout" Target="../slideLayouts/slideLayout17.xml"/><Relationship Id="rId6" Type="http://schemas.openxmlformats.org/officeDocument/2006/relationships/oleObject" Target="../embeddings/oleObject44.bin"/><Relationship Id="rId11" Type="http://schemas.openxmlformats.org/officeDocument/2006/relationships/image" Target="../media/image47.wmf"/><Relationship Id="rId5" Type="http://schemas.openxmlformats.org/officeDocument/2006/relationships/image" Target="../media/image44.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46.wmf"/></Relationships>
</file>

<file path=ppt/slides/_rels/slide28.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48.bin"/><Relationship Id="rId1" Type="http://schemas.openxmlformats.org/officeDocument/2006/relationships/slideLayout" Target="../slideLayouts/slideLayout20.xml"/><Relationship Id="rId5" Type="http://schemas.openxmlformats.org/officeDocument/2006/relationships/image" Target="../media/image50.wmf"/><Relationship Id="rId4" Type="http://schemas.openxmlformats.org/officeDocument/2006/relationships/oleObject" Target="../embeddings/oleObject4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1259442"/>
            <a:ext cx="7772400" cy="1828800"/>
          </a:xfrm>
        </p:spPr>
        <p:txBody>
          <a:bodyPr>
            <a:normAutofit/>
          </a:bodyPr>
          <a:lstStyle/>
          <a:p>
            <a:r>
              <a:rPr lang="en-US" dirty="0"/>
              <a:t>International Economic Relations</a:t>
            </a:r>
            <a:br>
              <a:rPr lang="en-US" dirty="0"/>
            </a:br>
            <a:r>
              <a:rPr lang="en-US" sz="2800" dirty="0"/>
              <a:t> </a:t>
            </a:r>
            <a:r>
              <a:rPr lang="en-CA" sz="2800" b="0" i="0" dirty="0">
                <a:solidFill>
                  <a:srgbClr val="003E2D"/>
                </a:solidFill>
                <a:effectLst/>
                <a:latin typeface="Museo Sans W01 500"/>
              </a:rPr>
              <a:t>ECON 308</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7142018" cy="1981200"/>
          </a:xfrm>
        </p:spPr>
        <p:txBody>
          <a:bodyPr>
            <a:normAutofit/>
          </a:bodyPr>
          <a:lstStyle/>
          <a:p>
            <a:r>
              <a:rPr lang="en-US" altLang="en-US" dirty="0">
                <a:ea typeface="ヒラギノ角ゴ Pro W3" pitchFamily="-84" charset="-128"/>
              </a:rPr>
              <a:t>Labor Productivity and Comparative Advantage: The Ricardian Model</a:t>
            </a:r>
            <a:endParaRPr lang="en-US" dirty="0">
              <a:ea typeface="Verdana" panose="020B0604030504040204" pitchFamily="34" charset="0"/>
              <a:cs typeface="Verdana" panose="020B0604030504040204" pitchFamily="34" charset="0"/>
            </a:endParaRPr>
          </a:p>
          <a:p>
            <a:r>
              <a:rPr lang="en-US" dirty="0"/>
              <a:t> (Chapter 3 Part 1)</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chemeClr val="tx1"/>
                </a:solidFill>
              </a:rPr>
              <a:t>Learning Objectives</a:t>
            </a:r>
            <a:endParaRPr lang="en-US" dirty="0">
              <a:solidFill>
                <a:schemeClr val="tx1"/>
              </a:solidFill>
            </a:endParaRPr>
          </a:p>
        </p:txBody>
      </p:sp>
      <p:sp>
        <p:nvSpPr>
          <p:cNvPr id="4" name="Content Placeholder 3"/>
          <p:cNvSpPr>
            <a:spLocks noGrp="1"/>
          </p:cNvSpPr>
          <p:nvPr>
            <p:ph sz="quarter" idx="13"/>
          </p:nvPr>
        </p:nvSpPr>
        <p:spPr/>
        <p:txBody>
          <a:bodyPr/>
          <a:lstStyle/>
          <a:p>
            <a:pPr marL="0" indent="0">
              <a:buNone/>
              <a:defRPr/>
            </a:pPr>
            <a:r>
              <a:rPr lang="en-US" sz="2400" b="1" dirty="0">
                <a:solidFill>
                  <a:schemeClr val="tx1"/>
                </a:solidFill>
              </a:rPr>
              <a:t>3.1 </a:t>
            </a:r>
            <a:r>
              <a:rPr lang="en-US" sz="2400" dirty="0">
                <a:solidFill>
                  <a:schemeClr val="tx1"/>
                </a:solidFill>
              </a:rPr>
              <a:t>Explain how the </a:t>
            </a:r>
            <a:r>
              <a:rPr lang="en-US" sz="2400" b="1" dirty="0">
                <a:solidFill>
                  <a:schemeClr val="tx1"/>
                </a:solidFill>
              </a:rPr>
              <a:t>Ricardian model</a:t>
            </a:r>
            <a:r>
              <a:rPr lang="en-US" sz="2400" dirty="0">
                <a:solidFill>
                  <a:schemeClr val="tx1"/>
                </a:solidFill>
              </a:rPr>
              <a:t>, the most basic model of international trade, works and how it illustrates the principle of </a:t>
            </a:r>
            <a:r>
              <a:rPr lang="en-US" sz="2400" b="1" dirty="0">
                <a:solidFill>
                  <a:schemeClr val="tx1"/>
                </a:solidFill>
              </a:rPr>
              <a:t>comparative advantage</a:t>
            </a:r>
            <a:r>
              <a:rPr lang="en-US" sz="2400" dirty="0">
                <a:solidFill>
                  <a:schemeClr val="tx1"/>
                </a:solidFill>
              </a:rPr>
              <a:t>.</a:t>
            </a:r>
          </a:p>
          <a:p>
            <a:pPr marL="0" indent="0">
              <a:buNone/>
              <a:defRPr/>
            </a:pPr>
            <a:r>
              <a:rPr lang="en-US" sz="2400" b="1" dirty="0">
                <a:solidFill>
                  <a:schemeClr val="tx1"/>
                </a:solidFill>
              </a:rPr>
              <a:t>3.2 </a:t>
            </a:r>
            <a:r>
              <a:rPr lang="en-US" sz="2400" dirty="0">
                <a:solidFill>
                  <a:schemeClr val="tx1"/>
                </a:solidFill>
              </a:rPr>
              <a:t>Demonstrate </a:t>
            </a:r>
            <a:r>
              <a:rPr lang="en-US" sz="2400" b="1" dirty="0">
                <a:solidFill>
                  <a:schemeClr val="tx1"/>
                </a:solidFill>
              </a:rPr>
              <a:t>gains from trade</a:t>
            </a:r>
            <a:r>
              <a:rPr lang="en-US" sz="2400" i="1" dirty="0">
                <a:solidFill>
                  <a:schemeClr val="tx1"/>
                </a:solidFill>
              </a:rPr>
              <a:t> </a:t>
            </a:r>
            <a:r>
              <a:rPr lang="en-US" sz="2400" dirty="0">
                <a:solidFill>
                  <a:schemeClr val="tx1"/>
                </a:solidFill>
              </a:rPr>
              <a:t>and refute common fallacies about international trade.</a:t>
            </a:r>
          </a:p>
          <a:p>
            <a:pPr marL="0" indent="0">
              <a:buNone/>
              <a:defRPr/>
            </a:pPr>
            <a:r>
              <a:rPr lang="en-US" sz="2400" b="1" dirty="0">
                <a:solidFill>
                  <a:schemeClr val="tx1"/>
                </a:solidFill>
              </a:rPr>
              <a:t>3.3 </a:t>
            </a:r>
            <a:r>
              <a:rPr lang="en-US" sz="2400" dirty="0">
                <a:solidFill>
                  <a:schemeClr val="tx1"/>
                </a:solidFill>
              </a:rPr>
              <a:t>Describe the empirical evidence that wages reflect productivity and that trade patterns reflect relative productivity.</a:t>
            </a:r>
            <a:endParaRPr lang="en-US" sz="2400" b="1" dirty="0">
              <a:solidFill>
                <a:schemeClr val="tx1"/>
              </a:solidFill>
            </a:endParaRP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7B1BD-97AB-4D88-A458-B6DBE4F9971E}"/>
              </a:ext>
            </a:extLst>
          </p:cNvPr>
          <p:cNvSpPr>
            <a:spLocks noGrp="1"/>
          </p:cNvSpPr>
          <p:nvPr>
            <p:ph type="title"/>
          </p:nvPr>
        </p:nvSpPr>
        <p:spPr/>
        <p:txBody>
          <a:bodyPr/>
          <a:lstStyle/>
          <a:p>
            <a:r>
              <a:rPr lang="en-US" altLang="en-US" sz="3600" dirty="0">
                <a:solidFill>
                  <a:schemeClr val="tx1"/>
                </a:solidFill>
                <a:ea typeface="ヒラギノ角ゴ Pro W3" pitchFamily="-84" charset="-128"/>
              </a:rPr>
              <a:t>Introduction</a:t>
            </a:r>
            <a:endParaRPr lang="en-IN" dirty="0">
              <a:solidFill>
                <a:schemeClr val="tx1"/>
              </a:solidFill>
            </a:endParaRPr>
          </a:p>
        </p:txBody>
      </p:sp>
      <p:sp>
        <p:nvSpPr>
          <p:cNvPr id="3" name="Content Placeholder 2">
            <a:extLst>
              <a:ext uri="{FF2B5EF4-FFF2-40B4-BE49-F238E27FC236}">
                <a16:creationId xmlns:a16="http://schemas.microsoft.com/office/drawing/2014/main" id="{A7C3D1E5-2962-42A2-8108-754BAD04EC10}"/>
              </a:ext>
            </a:extLst>
          </p:cNvPr>
          <p:cNvSpPr>
            <a:spLocks noGrp="1"/>
          </p:cNvSpPr>
          <p:nvPr>
            <p:ph sz="quarter" idx="13"/>
          </p:nvPr>
        </p:nvSpPr>
        <p:spPr/>
        <p:txBody>
          <a:bodyPr/>
          <a:lstStyle/>
          <a:p>
            <a:r>
              <a:rPr lang="en-US" altLang="en-US" sz="2200" dirty="0">
                <a:ea typeface="ヒラギノ角ゴ Pro W3" pitchFamily="-84" charset="-128"/>
              </a:rPr>
              <a:t>Differences across countries are a key reason why trade occurs:</a:t>
            </a:r>
          </a:p>
          <a:p>
            <a:pPr lvl="1"/>
            <a:r>
              <a:rPr lang="en-US" altLang="en-US" sz="2200" dirty="0">
                <a:ea typeface="ヒラギノ角ゴ Pro W3" pitchFamily="-84" charset="-128"/>
              </a:rPr>
              <a:t>The Ricardian model examines differences in the</a:t>
            </a:r>
            <a:r>
              <a:rPr lang="en-US" altLang="en-US" sz="2200" i="1" dirty="0">
                <a:ea typeface="ヒラギノ角ゴ Pro W3" pitchFamily="-84" charset="-128"/>
              </a:rPr>
              <a:t> </a:t>
            </a:r>
            <a:r>
              <a:rPr lang="en-US" altLang="en-US" sz="2200" b="1" dirty="0">
                <a:ea typeface="ヒラギノ角ゴ Pro W3" pitchFamily="-84" charset="-128"/>
              </a:rPr>
              <a:t>productivity of labor</a:t>
            </a:r>
            <a:r>
              <a:rPr lang="en-US" altLang="en-US" sz="2200" i="1" dirty="0">
                <a:ea typeface="ヒラギノ角ゴ Pro W3" pitchFamily="-84" charset="-128"/>
              </a:rPr>
              <a:t> </a:t>
            </a:r>
            <a:r>
              <a:rPr lang="en-US" altLang="en-US" sz="2200" dirty="0">
                <a:ea typeface="ヒラギノ角ゴ Pro W3" pitchFamily="-84" charset="-128"/>
              </a:rPr>
              <a:t>(due to differences in </a:t>
            </a:r>
            <a:r>
              <a:rPr lang="en-US" altLang="en-US" sz="2200" b="1" dirty="0">
                <a:ea typeface="ヒラギノ角ゴ Pro W3" pitchFamily="-84" charset="-128"/>
              </a:rPr>
              <a:t>technology</a:t>
            </a:r>
            <a:r>
              <a:rPr lang="en-US" altLang="en-US" sz="2200" dirty="0">
                <a:ea typeface="ヒラギノ角ゴ Pro W3" pitchFamily="-84" charset="-128"/>
              </a:rPr>
              <a:t>)</a:t>
            </a:r>
            <a:r>
              <a:rPr lang="en-US" altLang="en-US" sz="2200" i="1" dirty="0">
                <a:ea typeface="ヒラギノ角ゴ Pro W3" pitchFamily="-84" charset="-128"/>
              </a:rPr>
              <a:t> </a:t>
            </a:r>
            <a:r>
              <a:rPr lang="en-US" altLang="en-US" sz="2200" dirty="0">
                <a:ea typeface="ヒラギノ角ゴ Pro W3" pitchFamily="-84" charset="-128"/>
              </a:rPr>
              <a:t>between countries.</a:t>
            </a:r>
          </a:p>
          <a:p>
            <a:pPr lvl="1"/>
            <a:r>
              <a:rPr lang="en-US" altLang="en-US" sz="2200" dirty="0">
                <a:ea typeface="ヒラギノ角ゴ Pro W3" pitchFamily="-84" charset="-128"/>
              </a:rPr>
              <a:t>The Specific Factors model and the Heckscher-Ohlin model examine differences in </a:t>
            </a:r>
            <a:r>
              <a:rPr lang="en-US" altLang="en-US" sz="2200" b="1" dirty="0">
                <a:ea typeface="ヒラギノ角ゴ Pro W3" pitchFamily="-84" charset="-128"/>
              </a:rPr>
              <a:t>labor, labor skills, physical capital, land, or other factors of production</a:t>
            </a:r>
            <a:r>
              <a:rPr lang="en-US" altLang="en-US" sz="2200" dirty="0">
                <a:ea typeface="ヒラギノ角ゴ Pro W3" pitchFamily="-84" charset="-128"/>
              </a:rPr>
              <a:t> between countries.</a:t>
            </a:r>
          </a:p>
          <a:p>
            <a:pPr>
              <a:spcBef>
                <a:spcPts val="1200"/>
              </a:spcBef>
            </a:pPr>
            <a:r>
              <a:rPr lang="en-US" altLang="en-US" sz="2200" dirty="0">
                <a:ea typeface="ヒラギノ角ゴ Pro W3" pitchFamily="-84" charset="-128"/>
              </a:rPr>
              <a:t>Trade may also arise due to economies of scale (larger</a:t>
            </a:r>
            <a:r>
              <a:rPr lang="en-US" altLang="en-US" sz="2200" dirty="0">
                <a:solidFill>
                  <a:srgbClr val="FF0000"/>
                </a:solidFill>
                <a:ea typeface="ヒラギノ角ゴ Pro W3" pitchFamily="-84" charset="-128"/>
              </a:rPr>
              <a:t> </a:t>
            </a:r>
            <a:r>
              <a:rPr lang="en-US" altLang="en-US" sz="2200" dirty="0">
                <a:ea typeface="ヒラギノ角ゴ Pro W3" pitchFamily="-84" charset="-128"/>
              </a:rPr>
              <a:t>scale of production is more efficient).</a:t>
            </a:r>
          </a:p>
        </p:txBody>
      </p:sp>
    </p:spTree>
    <p:extLst>
      <p:ext uri="{BB962C8B-B14F-4D97-AF65-F5344CB8AC3E}">
        <p14:creationId xmlns:p14="http://schemas.microsoft.com/office/powerpoint/2010/main" val="1902285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solidFill>
                  <a:schemeClr val="tx1"/>
                </a:solidFill>
                <a:ea typeface="ヒラギノ角ゴ Pro W3" pitchFamily="-84" charset="-128"/>
              </a:rPr>
              <a:t>The Concept of Comparative Advantage </a:t>
            </a:r>
            <a:r>
              <a:rPr lang="en-US" altLang="en-US" sz="2000" b="0" dirty="0">
                <a:solidFill>
                  <a:schemeClr val="tx1"/>
                </a:solidFill>
                <a:ea typeface="ヒラギノ角ゴ Pro W3" pitchFamily="-84" charset="-128"/>
              </a:rPr>
              <a:t>(1 of 6)</a:t>
            </a:r>
            <a:endParaRPr lang="en-IN" dirty="0">
              <a:solidFill>
                <a:schemeClr val="tx1"/>
              </a:solidFill>
            </a:endParaRPr>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The opportunity cost of producing something</a:t>
            </a:r>
            <a:r>
              <a:rPr lang="en-US" altLang="en-US" sz="2400" i="1" dirty="0">
                <a:ea typeface="ヒラギノ角ゴ Pro W3" pitchFamily="-84" charset="-128"/>
              </a:rPr>
              <a:t> </a:t>
            </a:r>
            <a:r>
              <a:rPr lang="en-US" altLang="en-US" sz="2400" dirty="0">
                <a:ea typeface="ヒラギノ角ゴ Pro W3" pitchFamily="-84" charset="-128"/>
              </a:rPr>
              <a:t>measures the cost of not being able to produce something else with the resources used.</a:t>
            </a:r>
          </a:p>
          <a:p>
            <a:pPr>
              <a:spcBef>
                <a:spcPct val="50000"/>
              </a:spcBef>
            </a:pPr>
            <a:r>
              <a:rPr lang="en-US" altLang="en-US" sz="2400" dirty="0">
                <a:ea typeface="ヒラギノ角ゴ Pro W3" pitchFamily="-84" charset="-128"/>
              </a:rPr>
              <a:t>Comparative advantage will be determined by comparing opportunity costs across countries.</a:t>
            </a:r>
          </a:p>
        </p:txBody>
      </p:sp>
    </p:spTree>
    <p:extLst>
      <p:ext uri="{BB962C8B-B14F-4D97-AF65-F5344CB8AC3E}">
        <p14:creationId xmlns:p14="http://schemas.microsoft.com/office/powerpoint/2010/main" val="1781458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solidFill>
                  <a:schemeClr val="tx1"/>
                </a:solidFill>
                <a:ea typeface="ヒラギノ角ゴ Pro W3" pitchFamily="-84" charset="-128"/>
              </a:rPr>
              <a:t>The Concept of Comparative Advantage </a:t>
            </a:r>
            <a:r>
              <a:rPr lang="en-US" altLang="en-US" sz="2000" b="0" dirty="0">
                <a:solidFill>
                  <a:schemeClr val="tx1"/>
                </a:solidFill>
                <a:ea typeface="ヒラギノ角ゴ Pro W3" pitchFamily="-84" charset="-128"/>
              </a:rPr>
              <a:t>(2 of 6)</a:t>
            </a:r>
            <a:endParaRPr lang="en-IN" dirty="0">
              <a:solidFill>
                <a:schemeClr val="tx1"/>
              </a:solidFill>
            </a:endParaRPr>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A simple example with roses and computers explains the intuition behind the concepts of opportunity cost and comparative advantage in the Ricardian model.</a:t>
            </a:r>
          </a:p>
          <a:p>
            <a:pPr>
              <a:spcBef>
                <a:spcPct val="50000"/>
              </a:spcBef>
            </a:pPr>
            <a:r>
              <a:rPr lang="en-US" altLang="en-US" sz="2400" dirty="0">
                <a:ea typeface="ヒラギノ角ゴ Pro W3" pitchFamily="-84" charset="-128"/>
              </a:rPr>
              <a:t>For example, suppose a limited number of workers could produce either roses or computers.</a:t>
            </a:r>
          </a:p>
          <a:p>
            <a:pPr lvl="1"/>
            <a:r>
              <a:rPr lang="en-US" altLang="en-US" sz="2400" dirty="0">
                <a:ea typeface="ヒラギノ角ゴ Pro W3" pitchFamily="-84" charset="-128"/>
              </a:rPr>
              <a:t>The opportunity cost of producing computers is the amount of roses not produced.</a:t>
            </a:r>
          </a:p>
          <a:p>
            <a:pPr lvl="1"/>
            <a:r>
              <a:rPr lang="en-US" altLang="en-US" sz="2400" dirty="0">
                <a:ea typeface="ヒラギノ角ゴ Pro W3" pitchFamily="-84" charset="-128"/>
              </a:rPr>
              <a:t>The opportunity cost of producing roses is the amount of computers not produced.</a:t>
            </a:r>
          </a:p>
        </p:txBody>
      </p:sp>
    </p:spTree>
    <p:extLst>
      <p:ext uri="{BB962C8B-B14F-4D97-AF65-F5344CB8AC3E}">
        <p14:creationId xmlns:p14="http://schemas.microsoft.com/office/powerpoint/2010/main" val="4190301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solidFill>
                  <a:schemeClr val="tx1"/>
                </a:solidFill>
                <a:ea typeface="ヒラギノ角ゴ Pro W3" pitchFamily="-84" charset="-128"/>
              </a:rPr>
              <a:t>The Concept of Comparative Advantage </a:t>
            </a:r>
            <a:r>
              <a:rPr lang="en-US" altLang="en-US" sz="2000" b="0" dirty="0">
                <a:solidFill>
                  <a:schemeClr val="tx1"/>
                </a:solidFill>
                <a:ea typeface="ヒラギノ角ゴ Pro W3" pitchFamily="-84" charset="-128"/>
              </a:rPr>
              <a:t>(3 of 6)</a:t>
            </a:r>
            <a:endParaRPr lang="en-IN" dirty="0">
              <a:solidFill>
                <a:schemeClr val="tx1"/>
              </a:solidFill>
            </a:endParaRPr>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Suppose that in the United States, 10 million roses could be produced with the same resources as 100,000 computers.</a:t>
            </a:r>
          </a:p>
          <a:p>
            <a:pPr>
              <a:spcBef>
                <a:spcPct val="50000"/>
              </a:spcBef>
            </a:pPr>
            <a:r>
              <a:rPr lang="en-US" altLang="en-US" sz="2400" dirty="0">
                <a:ea typeface="ヒラギノ角ゴ Pro W3" pitchFamily="-84" charset="-128"/>
              </a:rPr>
              <a:t>Suppose that in Colombia, 10 million roses could be produced with the same resources as 30,000 computers.</a:t>
            </a:r>
          </a:p>
          <a:p>
            <a:pPr>
              <a:spcBef>
                <a:spcPct val="50000"/>
              </a:spcBef>
            </a:pPr>
            <a:r>
              <a:rPr lang="en-US" altLang="en-US" sz="2400" dirty="0">
                <a:ea typeface="ヒラギノ角ゴ Pro W3" pitchFamily="-84" charset="-128"/>
              </a:rPr>
              <a:t>Colombia has a lower opportunity cost of producing roses: has to start producing fewer computers in order to free up resources to make a rose.</a:t>
            </a:r>
          </a:p>
        </p:txBody>
      </p:sp>
    </p:spTree>
    <p:extLst>
      <p:ext uri="{BB962C8B-B14F-4D97-AF65-F5344CB8AC3E}">
        <p14:creationId xmlns:p14="http://schemas.microsoft.com/office/powerpoint/2010/main" val="2426227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solidFill>
                  <a:schemeClr val="tx1"/>
                </a:solidFill>
                <a:ea typeface="ヒラギノ角ゴ Pro W3" pitchFamily="-84" charset="-128"/>
              </a:rPr>
              <a:t>The Concept of Comparative Advantage </a:t>
            </a:r>
            <a:r>
              <a:rPr lang="en-US" altLang="en-US" sz="2000" b="0" dirty="0">
                <a:solidFill>
                  <a:schemeClr val="tx1"/>
                </a:solidFill>
                <a:ea typeface="ヒラギノ角ゴ Pro W3" pitchFamily="-84" charset="-128"/>
              </a:rPr>
              <a:t>(4 of 6)</a:t>
            </a:r>
            <a:endParaRPr lang="en-IN" dirty="0">
              <a:solidFill>
                <a:schemeClr val="tx1"/>
              </a:solidFill>
            </a:endParaRPr>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A country has a </a:t>
            </a:r>
            <a:r>
              <a:rPr lang="en-US" altLang="en-US" sz="2400" b="1" dirty="0">
                <a:ea typeface="ヒラギノ角ゴ Pro W3" pitchFamily="-84" charset="-128"/>
              </a:rPr>
              <a:t>comparative advantage</a:t>
            </a:r>
            <a:r>
              <a:rPr lang="en-US" altLang="en-US" sz="2400" dirty="0">
                <a:ea typeface="ヒラギノ角ゴ Pro W3" pitchFamily="-84" charset="-128"/>
              </a:rPr>
              <a:t> in producing a good if the opportunity cost of producing that good is lower in the country than in other countries.</a:t>
            </a:r>
          </a:p>
          <a:p>
            <a:pPr lvl="1"/>
            <a:r>
              <a:rPr lang="en-US" altLang="en-US" sz="2400" dirty="0">
                <a:ea typeface="ヒラギノ角ゴ Pro W3" pitchFamily="-84" charset="-128"/>
              </a:rPr>
              <a:t>The United States has a comparative advantage in computer production.</a:t>
            </a:r>
          </a:p>
          <a:p>
            <a:pPr lvl="1"/>
            <a:r>
              <a:rPr lang="en-US" altLang="en-US" sz="2400" dirty="0">
                <a:ea typeface="ヒラギノ角ゴ Pro W3" pitchFamily="-84" charset="-128"/>
              </a:rPr>
              <a:t>Colombia has a comparative advantage in rose production.</a:t>
            </a:r>
          </a:p>
        </p:txBody>
      </p:sp>
    </p:spTree>
    <p:extLst>
      <p:ext uri="{BB962C8B-B14F-4D97-AF65-F5344CB8AC3E}">
        <p14:creationId xmlns:p14="http://schemas.microsoft.com/office/powerpoint/2010/main" val="1276398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solidFill>
                  <a:schemeClr val="tx1"/>
                </a:solidFill>
                <a:ea typeface="ヒラギノ角ゴ Pro W3" pitchFamily="-84" charset="-128"/>
              </a:rPr>
              <a:t>The Concept of Comparative Advantage </a:t>
            </a:r>
            <a:r>
              <a:rPr lang="en-US" altLang="en-US" sz="2000" b="0" dirty="0">
                <a:solidFill>
                  <a:schemeClr val="tx1"/>
                </a:solidFill>
                <a:ea typeface="ヒラギノ角ゴ Pro W3" pitchFamily="-84" charset="-128"/>
              </a:rPr>
              <a:t>(5 of 6)</a:t>
            </a:r>
            <a:endParaRPr lang="en-IN" dirty="0">
              <a:solidFill>
                <a:schemeClr val="tx1"/>
              </a:solidFill>
            </a:endParaRPr>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a:xfrm>
            <a:off x="457199" y="1556327"/>
            <a:ext cx="8425543" cy="2179332"/>
          </a:xfrm>
        </p:spPr>
        <p:txBody>
          <a:bodyPr/>
          <a:lstStyle/>
          <a:p>
            <a:r>
              <a:rPr lang="en-US" altLang="en-US" sz="2400" dirty="0">
                <a:ea typeface="ヒラギノ角ゴ Pro W3" pitchFamily="-84" charset="-128"/>
              </a:rPr>
              <a:t>Suppose initially that Colombia produces computers and the United States produces roses, and that both countries want to consume computers and roses.</a:t>
            </a:r>
          </a:p>
          <a:p>
            <a:r>
              <a:rPr lang="en-US" altLang="en-US" sz="2400" dirty="0">
                <a:ea typeface="ヒラギノ角ゴ Pro W3" pitchFamily="-84" charset="-128"/>
              </a:rPr>
              <a:t>Can both countries be made better off?</a:t>
            </a:r>
          </a:p>
        </p:txBody>
      </p:sp>
    </p:spTree>
    <p:extLst>
      <p:ext uri="{BB962C8B-B14F-4D97-AF65-F5344CB8AC3E}">
        <p14:creationId xmlns:p14="http://schemas.microsoft.com/office/powerpoint/2010/main" val="475459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AD5EE-9519-47D5-A322-89E2BF1DE5A4}"/>
              </a:ext>
            </a:extLst>
          </p:cNvPr>
          <p:cNvSpPr>
            <a:spLocks noGrp="1"/>
          </p:cNvSpPr>
          <p:nvPr>
            <p:ph type="title"/>
          </p:nvPr>
        </p:nvSpPr>
        <p:spPr/>
        <p:txBody>
          <a:bodyPr/>
          <a:lstStyle/>
          <a:p>
            <a:r>
              <a:rPr lang="en-US" altLang="en-US" sz="3200" dirty="0">
                <a:solidFill>
                  <a:schemeClr val="tx1"/>
                </a:solidFill>
                <a:ea typeface="ヒラギノ角ゴ Pro W3" pitchFamily="-84" charset="-128"/>
              </a:rPr>
              <a:t>Table 3.1 Hypothetical Changes in Production</a:t>
            </a:r>
            <a:endParaRPr lang="en-IN" sz="3200" dirty="0">
              <a:solidFill>
                <a:schemeClr val="tx1"/>
              </a:solidFill>
            </a:endParaRPr>
          </a:p>
        </p:txBody>
      </p:sp>
      <p:graphicFrame>
        <p:nvGraphicFramePr>
          <p:cNvPr id="4" name="Table 4">
            <a:extLst>
              <a:ext uri="{FF2B5EF4-FFF2-40B4-BE49-F238E27FC236}">
                <a16:creationId xmlns:a16="http://schemas.microsoft.com/office/drawing/2014/main" id="{B4FB68AE-A169-45B4-9D9C-04100A9A848A}"/>
              </a:ext>
            </a:extLst>
          </p:cNvPr>
          <p:cNvGraphicFramePr>
            <a:graphicFrameLocks noGrp="1"/>
          </p:cNvGraphicFramePr>
          <p:nvPr>
            <p:ph sz="quarter" idx="13"/>
            <p:extLst>
              <p:ext uri="{D42A27DB-BD31-4B8C-83A1-F6EECF244321}">
                <p14:modId xmlns:p14="http://schemas.microsoft.com/office/powerpoint/2010/main" val="1721763141"/>
              </p:ext>
            </p:extLst>
          </p:nvPr>
        </p:nvGraphicFramePr>
        <p:xfrm>
          <a:off x="576263" y="1714546"/>
          <a:ext cx="8229600" cy="1538837"/>
        </p:xfrm>
        <a:graphic>
          <a:graphicData uri="http://schemas.openxmlformats.org/drawingml/2006/table">
            <a:tbl>
              <a:tblPr firstRow="1" firstCol="1" bandRow="1">
                <a:tableStyleId>{2D5ABB26-0587-4C30-8999-92F81FD0307C}</a:tableStyleId>
              </a:tblPr>
              <a:tblGrid>
                <a:gridCol w="2743200">
                  <a:extLst>
                    <a:ext uri="{9D8B030D-6E8A-4147-A177-3AD203B41FA5}">
                      <a16:colId xmlns:a16="http://schemas.microsoft.com/office/drawing/2014/main" val="1790513011"/>
                    </a:ext>
                  </a:extLst>
                </a:gridCol>
                <a:gridCol w="2743200">
                  <a:extLst>
                    <a:ext uri="{9D8B030D-6E8A-4147-A177-3AD203B41FA5}">
                      <a16:colId xmlns:a16="http://schemas.microsoft.com/office/drawing/2014/main" val="74828762"/>
                    </a:ext>
                  </a:extLst>
                </a:gridCol>
                <a:gridCol w="2743200">
                  <a:extLst>
                    <a:ext uri="{9D8B030D-6E8A-4147-A177-3AD203B41FA5}">
                      <a16:colId xmlns:a16="http://schemas.microsoft.com/office/drawing/2014/main" val="1114762537"/>
                    </a:ext>
                  </a:extLst>
                </a:gridCol>
              </a:tblGrid>
              <a:tr h="370840">
                <a:tc>
                  <a:txBody>
                    <a:bodyPr/>
                    <a:lstStyle/>
                    <a:p>
                      <a:r>
                        <a:rPr lang="en-US" sz="100" noProof="0" dirty="0"/>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noProof="0" dirty="0"/>
                        <a:t>Million Roses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noProof="0" dirty="0"/>
                        <a:t>Thousand Computers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8391796"/>
                  </a:ext>
                </a:extLst>
              </a:tr>
              <a:tr h="426317">
                <a:tc>
                  <a:txBody>
                    <a:bodyPr/>
                    <a:lstStyle/>
                    <a:p>
                      <a:r>
                        <a:rPr lang="en-US" sz="1600" noProof="0" dirty="0"/>
                        <a:t>United States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00" noProof="0" dirty="0"/>
                        <a:t>negative 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noProof="0" dirty="0"/>
                        <a:t>+100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5270937"/>
                  </a:ext>
                </a:extLst>
              </a:tr>
              <a:tr h="370840">
                <a:tc>
                  <a:txBody>
                    <a:bodyPr/>
                    <a:lstStyle/>
                    <a:p>
                      <a:r>
                        <a:rPr lang="en-US" sz="1600" noProof="0" dirty="0"/>
                        <a:t>Columbia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noProof="0" dirty="0"/>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00" noProof="0" dirty="0"/>
                        <a:t>negative 30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8069977"/>
                  </a:ext>
                </a:extLst>
              </a:tr>
              <a:tr h="370840">
                <a:tc>
                  <a:txBody>
                    <a:bodyPr/>
                    <a:lstStyle/>
                    <a:p>
                      <a:r>
                        <a:rPr lang="en-US" sz="1600" b="1" noProof="0" dirty="0"/>
                        <a:t>Total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noProof="0"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noProof="0" dirty="0"/>
                        <a:t>+70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248659"/>
                  </a:ext>
                </a:extLst>
              </a:tr>
            </a:tbl>
          </a:graphicData>
        </a:graphic>
      </p:graphicFrame>
      <p:graphicFrame>
        <p:nvGraphicFramePr>
          <p:cNvPr id="5" name="Object 4">
            <a:extLst>
              <a:ext uri="{FF2B5EF4-FFF2-40B4-BE49-F238E27FC236}">
                <a16:creationId xmlns:a16="http://schemas.microsoft.com/office/drawing/2014/main" id="{F21B6E9D-7314-487F-80B7-3E2DF7FA3CA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61722969"/>
              </p:ext>
            </p:extLst>
          </p:nvPr>
        </p:nvGraphicFramePr>
        <p:xfrm>
          <a:off x="4489451" y="2132920"/>
          <a:ext cx="404812" cy="236538"/>
        </p:xfrm>
        <a:graphic>
          <a:graphicData uri="http://schemas.openxmlformats.org/presentationml/2006/ole">
            <mc:AlternateContent xmlns:mc="http://schemas.openxmlformats.org/markup-compatibility/2006">
              <mc:Choice xmlns:v="urn:schemas-microsoft-com:vml" Requires="v">
                <p:oleObj name="Equation" r:id="rId2" imgW="304560" imgH="177480" progId="Equation.DSMT4">
                  <p:embed/>
                </p:oleObj>
              </mc:Choice>
              <mc:Fallback>
                <p:oleObj name="Equation" r:id="rId2" imgW="304560" imgH="177480" progId="Equation.DSMT4">
                  <p:embed/>
                  <p:pic>
                    <p:nvPicPr>
                      <p:cNvPr id="0" name=""/>
                      <p:cNvPicPr/>
                      <p:nvPr/>
                    </p:nvPicPr>
                    <p:blipFill>
                      <a:blip r:embed="rId3"/>
                      <a:stretch>
                        <a:fillRect/>
                      </a:stretch>
                    </p:blipFill>
                    <p:spPr>
                      <a:xfrm>
                        <a:off x="4489451" y="2132920"/>
                        <a:ext cx="404812" cy="236538"/>
                      </a:xfrm>
                      <a:prstGeom prst="rect">
                        <a:avLst/>
                      </a:prstGeom>
                      <a:solidFill>
                        <a:schemeClr val="bg1"/>
                      </a:solidFill>
                    </p:spPr>
                  </p:pic>
                </p:oleObj>
              </mc:Fallback>
            </mc:AlternateContent>
          </a:graphicData>
        </a:graphic>
      </p:graphicFrame>
      <p:graphicFrame>
        <p:nvGraphicFramePr>
          <p:cNvPr id="6" name="Object 5">
            <a:extLst>
              <a:ext uri="{FF2B5EF4-FFF2-40B4-BE49-F238E27FC236}">
                <a16:creationId xmlns:a16="http://schemas.microsoft.com/office/drawing/2014/main" id="{64DCC796-1D1D-4937-B257-10A38A60220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65278422"/>
              </p:ext>
            </p:extLst>
          </p:nvPr>
        </p:nvGraphicFramePr>
        <p:xfrm>
          <a:off x="7243763" y="2551159"/>
          <a:ext cx="404813" cy="236537"/>
        </p:xfrm>
        <a:graphic>
          <a:graphicData uri="http://schemas.openxmlformats.org/presentationml/2006/ole">
            <mc:AlternateContent xmlns:mc="http://schemas.openxmlformats.org/markup-compatibility/2006">
              <mc:Choice xmlns:v="urn:schemas-microsoft-com:vml" Requires="v">
                <p:oleObj name="Equation" r:id="rId4" imgW="304560" imgH="177480" progId="Equation.DSMT4">
                  <p:embed/>
                </p:oleObj>
              </mc:Choice>
              <mc:Fallback>
                <p:oleObj name="Equation" r:id="rId4" imgW="304560" imgH="177480" progId="Equation.DSMT4">
                  <p:embed/>
                  <p:pic>
                    <p:nvPicPr>
                      <p:cNvPr id="0" name=""/>
                      <p:cNvPicPr/>
                      <p:nvPr/>
                    </p:nvPicPr>
                    <p:blipFill>
                      <a:blip r:embed="rId5"/>
                      <a:stretch>
                        <a:fillRect/>
                      </a:stretch>
                    </p:blipFill>
                    <p:spPr>
                      <a:xfrm>
                        <a:off x="7243763" y="2551159"/>
                        <a:ext cx="404813" cy="236537"/>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558415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solidFill>
                  <a:schemeClr val="tx1"/>
                </a:solidFill>
                <a:ea typeface="ヒラギノ角ゴ Pro W3" pitchFamily="-84" charset="-128"/>
              </a:rPr>
              <a:t>The Concept of Comparative Advantage </a:t>
            </a:r>
            <a:r>
              <a:rPr lang="en-US" altLang="en-US" sz="2000" b="0" dirty="0">
                <a:solidFill>
                  <a:schemeClr val="tx1"/>
                </a:solidFill>
                <a:ea typeface="ヒラギノ角ゴ Pro W3" pitchFamily="-84" charset="-128"/>
              </a:rPr>
              <a:t>(6 of 6)</a:t>
            </a:r>
            <a:endParaRPr lang="en-IN" dirty="0">
              <a:solidFill>
                <a:schemeClr val="tx1"/>
              </a:solidFill>
            </a:endParaRPr>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a:xfrm>
            <a:off x="466603" y="1552575"/>
            <a:ext cx="8119836" cy="3058614"/>
          </a:xfrm>
        </p:spPr>
        <p:txBody>
          <a:bodyPr/>
          <a:lstStyle/>
          <a:p>
            <a:pPr>
              <a:spcBef>
                <a:spcPct val="50000"/>
              </a:spcBef>
            </a:pPr>
            <a:r>
              <a:rPr lang="en-US" altLang="en-US" sz="2000" dirty="0">
                <a:ea typeface="ヒラギノ角ゴ Pro W3" pitchFamily="-84" charset="-128"/>
              </a:rPr>
              <a:t>When countries specialize in production in which they have a comparative advantage, more goods and services can be produced and consumed.</a:t>
            </a:r>
          </a:p>
          <a:p>
            <a:pPr lvl="1"/>
            <a:r>
              <a:rPr lang="en-US" altLang="en-US" sz="2000" dirty="0">
                <a:ea typeface="ヒラギノ角ゴ Pro W3" pitchFamily="-84" charset="-128"/>
              </a:rPr>
              <a:t>Have the United States stop growing roses and use those resources to make 100,000 computers instead. Have Colombia stop making 30,000 computers and grow roses instead.</a:t>
            </a:r>
          </a:p>
          <a:p>
            <a:pPr lvl="1"/>
            <a:r>
              <a:rPr lang="en-US" altLang="en-US" sz="2000" dirty="0">
                <a:ea typeface="ヒラギノ角ゴ Pro W3" pitchFamily="-84" charset="-128"/>
              </a:rPr>
              <a:t>If produce goods in which have a comparative advantage (the United States produces computers and Colombia produces roses), they could still consume the same 10 million roses, but</a:t>
            </a:r>
          </a:p>
        </p:txBody>
      </p:sp>
      <p:sp>
        <p:nvSpPr>
          <p:cNvPr id="6" name="Content Placeholder 5">
            <a:extLst>
              <a:ext uri="{FF2B5EF4-FFF2-40B4-BE49-F238E27FC236}">
                <a16:creationId xmlns:a16="http://schemas.microsoft.com/office/drawing/2014/main" id="{08CC9D79-28BC-433C-9D12-768F393B5865}"/>
              </a:ext>
            </a:extLst>
          </p:cNvPr>
          <p:cNvSpPr>
            <a:spLocks noGrp="1"/>
          </p:cNvSpPr>
          <p:nvPr>
            <p:ph sz="quarter" idx="14"/>
          </p:nvPr>
        </p:nvSpPr>
        <p:spPr>
          <a:xfrm>
            <a:off x="535578" y="4677459"/>
            <a:ext cx="2547257" cy="404990"/>
          </a:xfrm>
        </p:spPr>
        <p:txBody>
          <a:bodyPr lIns="0" tIns="0" rIns="0" bIns="0"/>
          <a:lstStyle/>
          <a:p>
            <a:pPr marL="741600" lvl="1" indent="0">
              <a:buNone/>
            </a:pPr>
            <a:r>
              <a:rPr lang="en-US" altLang="en-US" sz="2000" dirty="0">
                <a:ea typeface="ヒラギノ角ゴ Pro W3" pitchFamily="-84" charset="-128"/>
              </a:rPr>
              <a:t>could consume</a:t>
            </a:r>
            <a:endParaRPr lang="en-IN" sz="2000" dirty="0"/>
          </a:p>
        </p:txBody>
      </p:sp>
      <p:sp>
        <p:nvSpPr>
          <p:cNvPr id="7" name="Content Placeholder 6">
            <a:extLst>
              <a:ext uri="{FF2B5EF4-FFF2-40B4-BE49-F238E27FC236}">
                <a16:creationId xmlns:a16="http://schemas.microsoft.com/office/drawing/2014/main" id="{C7E39194-41C6-4E73-A13A-7D0EC0EAC3E3}"/>
              </a:ext>
            </a:extLst>
          </p:cNvPr>
          <p:cNvSpPr>
            <a:spLocks noGrp="1"/>
          </p:cNvSpPr>
          <p:nvPr>
            <p:ph sz="quarter" idx="15"/>
          </p:nvPr>
        </p:nvSpPr>
        <p:spPr>
          <a:xfrm>
            <a:off x="6381535" y="4677628"/>
            <a:ext cx="2230245" cy="350204"/>
          </a:xfrm>
        </p:spPr>
        <p:txBody>
          <a:bodyPr lIns="0" tIns="0" rIns="0" bIns="0"/>
          <a:lstStyle/>
          <a:p>
            <a:pPr marL="0" lvl="1" indent="0">
              <a:buNone/>
            </a:pPr>
            <a:r>
              <a:rPr lang="en-US" altLang="en-US" sz="2000" dirty="0">
                <a:ea typeface="ヒラギノ角ゴ Pro W3" pitchFamily="-84" charset="-128"/>
              </a:rPr>
              <a:t>more computers.</a:t>
            </a:r>
            <a:endParaRPr lang="en-IN" sz="2000" dirty="0"/>
          </a:p>
        </p:txBody>
      </p:sp>
      <p:graphicFrame>
        <p:nvGraphicFramePr>
          <p:cNvPr id="8" name="Object 7" descr="100,000 minus 30,000 = 70,000">
            <a:extLst>
              <a:ext uri="{FF2B5EF4-FFF2-40B4-BE49-F238E27FC236}">
                <a16:creationId xmlns:a16="http://schemas.microsoft.com/office/drawing/2014/main" id="{C1FBFC3F-AD30-4229-8638-B06045A9DDD8}"/>
              </a:ext>
            </a:extLst>
          </p:cNvPr>
          <p:cNvGraphicFramePr>
            <a:graphicFrameLocks noChangeAspect="1"/>
          </p:cNvGraphicFramePr>
          <p:nvPr>
            <p:extLst>
              <p:ext uri="{D42A27DB-BD31-4B8C-83A1-F6EECF244321}">
                <p14:modId xmlns:p14="http://schemas.microsoft.com/office/powerpoint/2010/main" val="2243097790"/>
              </p:ext>
            </p:extLst>
          </p:nvPr>
        </p:nvGraphicFramePr>
        <p:xfrm>
          <a:off x="3248025" y="4707572"/>
          <a:ext cx="2982913" cy="309562"/>
        </p:xfrm>
        <a:graphic>
          <a:graphicData uri="http://schemas.openxmlformats.org/presentationml/2006/ole">
            <mc:AlternateContent xmlns:mc="http://schemas.openxmlformats.org/markup-compatibility/2006">
              <mc:Choice xmlns:v="urn:schemas-microsoft-com:vml" Requires="v">
                <p:oleObj name="Equation" r:id="rId2" imgW="1854000" imgH="190440" progId="Equation.DSMT4">
                  <p:embed/>
                </p:oleObj>
              </mc:Choice>
              <mc:Fallback>
                <p:oleObj name="Equation" r:id="rId2" imgW="1854000" imgH="190440" progId="Equation.DSMT4">
                  <p:embed/>
                  <p:pic>
                    <p:nvPicPr>
                      <p:cNvPr id="6" name="Object 5">
                        <a:extLst>
                          <a:ext uri="{FF2B5EF4-FFF2-40B4-BE49-F238E27FC236}">
                            <a16:creationId xmlns:a16="http://schemas.microsoft.com/office/drawing/2014/main" id="{64DCC796-1D1D-4937-B257-10A38A602205}"/>
                          </a:ext>
                        </a:extLst>
                      </p:cNvPr>
                      <p:cNvPicPr/>
                      <p:nvPr/>
                    </p:nvPicPr>
                    <p:blipFill>
                      <a:blip r:embed="rId3"/>
                      <a:stretch>
                        <a:fillRect/>
                      </a:stretch>
                    </p:blipFill>
                    <p:spPr>
                      <a:xfrm>
                        <a:off x="3248025" y="4707572"/>
                        <a:ext cx="2982913" cy="309562"/>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369653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6EA6A-11A0-4998-8E2C-B382BB06AD3D}"/>
              </a:ext>
            </a:extLst>
          </p:cNvPr>
          <p:cNvSpPr>
            <a:spLocks noGrp="1"/>
          </p:cNvSpPr>
          <p:nvPr>
            <p:ph type="title"/>
          </p:nvPr>
        </p:nvSpPr>
        <p:spPr/>
        <p:txBody>
          <a:bodyPr/>
          <a:lstStyle/>
          <a:p>
            <a:r>
              <a:rPr lang="en-US" altLang="en-US" sz="3600" dirty="0">
                <a:solidFill>
                  <a:schemeClr val="tx1"/>
                </a:solidFill>
                <a:ea typeface="ヒラギノ角ゴ Pro W3" pitchFamily="-84" charset="-128"/>
              </a:rPr>
              <a:t>A One-Factor Economy </a:t>
            </a:r>
            <a:r>
              <a:rPr lang="en-US" altLang="en-US" sz="2000" b="0" dirty="0">
                <a:solidFill>
                  <a:schemeClr val="tx1"/>
                </a:solidFill>
                <a:ea typeface="ヒラギノ角ゴ Pro W3" pitchFamily="-84" charset="-128"/>
              </a:rPr>
              <a:t>(1 of 4)</a:t>
            </a:r>
            <a:endParaRPr lang="en-IN" dirty="0">
              <a:solidFill>
                <a:schemeClr val="tx1"/>
              </a:solidFill>
            </a:endParaRPr>
          </a:p>
        </p:txBody>
      </p:sp>
      <p:sp>
        <p:nvSpPr>
          <p:cNvPr id="3" name="Content Placeholder 2">
            <a:extLst>
              <a:ext uri="{FF2B5EF4-FFF2-40B4-BE49-F238E27FC236}">
                <a16:creationId xmlns:a16="http://schemas.microsoft.com/office/drawing/2014/main" id="{E537BC73-7560-4B1A-88FE-F100D0EA0721}"/>
              </a:ext>
            </a:extLst>
          </p:cNvPr>
          <p:cNvSpPr>
            <a:spLocks noGrp="1"/>
          </p:cNvSpPr>
          <p:nvPr>
            <p:ph sz="quarter" idx="13"/>
          </p:nvPr>
        </p:nvSpPr>
        <p:spPr/>
        <p:txBody>
          <a:bodyPr/>
          <a:lstStyle/>
          <a:p>
            <a:r>
              <a:rPr lang="en-US" altLang="en-US" sz="2400" dirty="0">
                <a:ea typeface="ヒラギノ角ゴ Pro W3" pitchFamily="-84" charset="-128"/>
              </a:rPr>
              <a:t>We formalize these ideas by constructing a one-factor Ricardian model using the following assumptions:</a:t>
            </a:r>
          </a:p>
        </p:txBody>
      </p:sp>
    </p:spTree>
    <p:extLst>
      <p:ext uri="{BB962C8B-B14F-4D97-AF65-F5344CB8AC3E}">
        <p14:creationId xmlns:p14="http://schemas.microsoft.com/office/powerpoint/2010/main" val="4019207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6EA6A-11A0-4998-8E2C-B382BB06AD3D}"/>
              </a:ext>
            </a:extLst>
          </p:cNvPr>
          <p:cNvSpPr>
            <a:spLocks noGrp="1"/>
          </p:cNvSpPr>
          <p:nvPr>
            <p:ph type="title"/>
          </p:nvPr>
        </p:nvSpPr>
        <p:spPr/>
        <p:txBody>
          <a:bodyPr/>
          <a:lstStyle/>
          <a:p>
            <a:r>
              <a:rPr lang="en-US" altLang="en-US" sz="3600" dirty="0">
                <a:solidFill>
                  <a:schemeClr val="tx1"/>
                </a:solidFill>
                <a:ea typeface="ヒラギノ角ゴ Pro W3" pitchFamily="-84" charset="-128"/>
              </a:rPr>
              <a:t>A One-Factor Economy </a:t>
            </a:r>
            <a:r>
              <a:rPr lang="en-US" altLang="en-US" sz="2000" b="0" dirty="0">
                <a:solidFill>
                  <a:schemeClr val="tx1"/>
                </a:solidFill>
                <a:ea typeface="ヒラギノ角ゴ Pro W3" pitchFamily="-84" charset="-128"/>
              </a:rPr>
              <a:t>(2 of 4)</a:t>
            </a:r>
            <a:endParaRPr lang="en-IN" dirty="0">
              <a:solidFill>
                <a:schemeClr val="tx1"/>
              </a:solidFill>
            </a:endParaRPr>
          </a:p>
        </p:txBody>
      </p:sp>
      <p:sp>
        <p:nvSpPr>
          <p:cNvPr id="3" name="Content Placeholder 2">
            <a:extLst>
              <a:ext uri="{FF2B5EF4-FFF2-40B4-BE49-F238E27FC236}">
                <a16:creationId xmlns:a16="http://schemas.microsoft.com/office/drawing/2014/main" id="{E537BC73-7560-4B1A-88FE-F100D0EA0721}"/>
              </a:ext>
            </a:extLst>
          </p:cNvPr>
          <p:cNvSpPr>
            <a:spLocks noGrp="1"/>
          </p:cNvSpPr>
          <p:nvPr>
            <p:ph sz="quarter" idx="13"/>
          </p:nvPr>
        </p:nvSpPr>
        <p:spPr>
          <a:ln>
            <a:solidFill>
              <a:schemeClr val="tx1"/>
            </a:solidFill>
          </a:ln>
        </p:spPr>
        <p:txBody>
          <a:bodyPr/>
          <a:lstStyle/>
          <a:p>
            <a:pPr marL="432000" indent="-432000">
              <a:spcBef>
                <a:spcPts val="600"/>
              </a:spcBef>
              <a:buFont typeface="Times" pitchFamily="-84" charset="0"/>
              <a:buAutoNum type="arabicPeriod"/>
            </a:pPr>
            <a:r>
              <a:rPr lang="en-US" altLang="en-US" sz="2400" dirty="0">
                <a:solidFill>
                  <a:schemeClr val="tx1"/>
                </a:solidFill>
                <a:ea typeface="ヒラギノ角ゴ Pro W3" pitchFamily="-84" charset="-128"/>
              </a:rPr>
              <a:t>Labor is the only factor of production.</a:t>
            </a:r>
          </a:p>
          <a:p>
            <a:pPr marL="432000" indent="-432000">
              <a:spcBef>
                <a:spcPts val="600"/>
              </a:spcBef>
              <a:buFont typeface="Times" pitchFamily="-84" charset="0"/>
              <a:buAutoNum type="arabicPeriod"/>
            </a:pPr>
            <a:r>
              <a:rPr lang="en-US" altLang="en-US" sz="2400" dirty="0">
                <a:solidFill>
                  <a:schemeClr val="tx1"/>
                </a:solidFill>
                <a:ea typeface="ヒラギノ角ゴ Pro W3" pitchFamily="-84" charset="-128"/>
              </a:rPr>
              <a:t>Labor productivity varies across countries due to differences in technology, but labor productivity in each country is constant.</a:t>
            </a:r>
          </a:p>
          <a:p>
            <a:pPr marL="432000" indent="-432000">
              <a:spcBef>
                <a:spcPts val="600"/>
              </a:spcBef>
              <a:buFont typeface="Times" pitchFamily="-84" charset="0"/>
              <a:buAutoNum type="arabicPeriod"/>
            </a:pPr>
            <a:r>
              <a:rPr lang="en-US" altLang="en-US" sz="2400" dirty="0">
                <a:solidFill>
                  <a:schemeClr val="tx1"/>
                </a:solidFill>
                <a:ea typeface="ヒラギノ角ゴ Pro W3" pitchFamily="-84" charset="-128"/>
              </a:rPr>
              <a:t>The supply of labor in each country is constant.</a:t>
            </a:r>
          </a:p>
          <a:p>
            <a:pPr marL="432000" indent="-432000">
              <a:spcBef>
                <a:spcPts val="600"/>
              </a:spcBef>
              <a:buFont typeface="Times" pitchFamily="-84" charset="0"/>
              <a:buAutoNum type="arabicPeriod"/>
            </a:pPr>
            <a:r>
              <a:rPr lang="en-US" altLang="en-US" sz="2400" dirty="0">
                <a:solidFill>
                  <a:schemeClr val="tx1"/>
                </a:solidFill>
                <a:ea typeface="ヒラギノ角ゴ Pro W3" pitchFamily="-84" charset="-128"/>
              </a:rPr>
              <a:t>Two goods: wine and cheese.</a:t>
            </a:r>
          </a:p>
          <a:p>
            <a:pPr marL="432000" indent="-432000">
              <a:spcBef>
                <a:spcPts val="600"/>
              </a:spcBef>
              <a:buFont typeface="Times" pitchFamily="-84" charset="0"/>
              <a:buAutoNum type="arabicPeriod"/>
            </a:pPr>
            <a:r>
              <a:rPr lang="en-US" altLang="en-US" sz="2400" dirty="0">
                <a:solidFill>
                  <a:schemeClr val="tx1"/>
                </a:solidFill>
                <a:ea typeface="ヒラギノ角ゴ Pro W3" pitchFamily="-84" charset="-128"/>
              </a:rPr>
              <a:t>Competition allows workers to be paid a wage equal to the value of what they produce, and allows them to work in the industry that pays the higher wage.</a:t>
            </a:r>
          </a:p>
          <a:p>
            <a:pPr marL="432000" indent="-432000">
              <a:spcBef>
                <a:spcPts val="600"/>
              </a:spcBef>
              <a:buFont typeface="Times" pitchFamily="-84" charset="0"/>
              <a:buAutoNum type="arabicPeriod"/>
            </a:pPr>
            <a:r>
              <a:rPr lang="en-US" altLang="en-US" sz="2400" dirty="0">
                <a:solidFill>
                  <a:schemeClr val="tx1"/>
                </a:solidFill>
                <a:ea typeface="ヒラギノ角ゴ Pro W3" pitchFamily="-84" charset="-128"/>
              </a:rPr>
              <a:t>Two countries: home and foreign.</a:t>
            </a:r>
          </a:p>
        </p:txBody>
      </p:sp>
    </p:spTree>
    <p:extLst>
      <p:ext uri="{BB962C8B-B14F-4D97-AF65-F5344CB8AC3E}">
        <p14:creationId xmlns:p14="http://schemas.microsoft.com/office/powerpoint/2010/main" val="817628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6EA6A-11A0-4998-8E2C-B382BB06AD3D}"/>
              </a:ext>
            </a:extLst>
          </p:cNvPr>
          <p:cNvSpPr>
            <a:spLocks noGrp="1"/>
          </p:cNvSpPr>
          <p:nvPr>
            <p:ph type="title"/>
          </p:nvPr>
        </p:nvSpPr>
        <p:spPr/>
        <p:txBody>
          <a:bodyPr/>
          <a:lstStyle/>
          <a:p>
            <a:r>
              <a:rPr lang="en-US" altLang="en-US" sz="3600" dirty="0">
                <a:solidFill>
                  <a:schemeClr val="tx1"/>
                </a:solidFill>
                <a:ea typeface="ヒラギノ角ゴ Pro W3" pitchFamily="-84" charset="-128"/>
              </a:rPr>
              <a:t>A One-Factor Economy </a:t>
            </a:r>
            <a:r>
              <a:rPr lang="en-US" altLang="en-US" sz="2000" b="0" dirty="0">
                <a:solidFill>
                  <a:schemeClr val="tx1"/>
                </a:solidFill>
                <a:ea typeface="ヒラギノ角ゴ Pro W3" pitchFamily="-84" charset="-128"/>
              </a:rPr>
              <a:t>(3 of 4)</a:t>
            </a:r>
            <a:endParaRPr lang="en-US" dirty="0">
              <a:solidFill>
                <a:schemeClr val="tx1"/>
              </a:solidFill>
            </a:endParaRPr>
          </a:p>
        </p:txBody>
      </p:sp>
      <p:sp>
        <p:nvSpPr>
          <p:cNvPr id="3" name="Content Placeholder 2">
            <a:extLst>
              <a:ext uri="{FF2B5EF4-FFF2-40B4-BE49-F238E27FC236}">
                <a16:creationId xmlns:a16="http://schemas.microsoft.com/office/drawing/2014/main" id="{E537BC73-7560-4B1A-88FE-F100D0EA0721}"/>
              </a:ext>
            </a:extLst>
          </p:cNvPr>
          <p:cNvSpPr>
            <a:spLocks noGrp="1"/>
          </p:cNvSpPr>
          <p:nvPr>
            <p:ph sz="quarter" idx="13"/>
          </p:nvPr>
        </p:nvSpPr>
        <p:spPr>
          <a:xfrm>
            <a:off x="457200" y="1593309"/>
            <a:ext cx="8229600" cy="799436"/>
          </a:xfrm>
        </p:spPr>
        <p:txBody>
          <a:bodyPr/>
          <a:lstStyle/>
          <a:p>
            <a:r>
              <a:rPr lang="en-US" altLang="en-US" sz="2200" dirty="0">
                <a:ea typeface="ヒラギノ角ゴ Pro W3" pitchFamily="-84" charset="-128"/>
              </a:rPr>
              <a:t>A </a:t>
            </a:r>
            <a:r>
              <a:rPr lang="en-US" altLang="en-US" sz="2200" b="1" dirty="0">
                <a:ea typeface="ヒラギノ角ゴ Pro W3" pitchFamily="-84" charset="-128"/>
              </a:rPr>
              <a:t>unit labor requirement</a:t>
            </a:r>
            <a:r>
              <a:rPr lang="en-US" altLang="en-US" sz="2200" dirty="0">
                <a:ea typeface="ヒラギノ角ゴ Pro W3" pitchFamily="-84" charset="-128"/>
              </a:rPr>
              <a:t> indicates the constant number of hours of labor required to produce one unit of output.</a:t>
            </a:r>
          </a:p>
        </p:txBody>
      </p:sp>
      <p:sp>
        <p:nvSpPr>
          <p:cNvPr id="51" name="Content Placeholder 50">
            <a:extLst>
              <a:ext uri="{FF2B5EF4-FFF2-40B4-BE49-F238E27FC236}">
                <a16:creationId xmlns:a16="http://schemas.microsoft.com/office/drawing/2014/main" id="{5E31409F-41AA-4B8F-944E-615CECF23EC1}"/>
              </a:ext>
            </a:extLst>
          </p:cNvPr>
          <p:cNvSpPr>
            <a:spLocks noGrp="1"/>
          </p:cNvSpPr>
          <p:nvPr>
            <p:ph sz="quarter" idx="14"/>
          </p:nvPr>
        </p:nvSpPr>
        <p:spPr>
          <a:xfrm>
            <a:off x="948944" y="2441412"/>
            <a:ext cx="397256" cy="454187"/>
          </a:xfrm>
        </p:spPr>
        <p:txBody>
          <a:bodyPr/>
          <a:lstStyle/>
          <a:p>
            <a:pPr marL="0" lvl="1" indent="0">
              <a:spcBef>
                <a:spcPts val="0"/>
              </a:spcBef>
            </a:pPr>
            <a:r>
              <a:rPr lang="en-US" sz="2200" dirty="0"/>
              <a:t> </a:t>
            </a:r>
            <a:r>
              <a:rPr lang="en-US" sz="100" dirty="0"/>
              <a:t> </a:t>
            </a:r>
          </a:p>
        </p:txBody>
      </p:sp>
      <p:sp>
        <p:nvSpPr>
          <p:cNvPr id="52" name="Content Placeholder 51">
            <a:extLst>
              <a:ext uri="{FF2B5EF4-FFF2-40B4-BE49-F238E27FC236}">
                <a16:creationId xmlns:a16="http://schemas.microsoft.com/office/drawing/2014/main" id="{76C2BB0C-FFED-4651-AD9F-7A65613BFAC8}"/>
              </a:ext>
            </a:extLst>
          </p:cNvPr>
          <p:cNvSpPr>
            <a:spLocks noGrp="1"/>
          </p:cNvSpPr>
          <p:nvPr>
            <p:ph sz="quarter" idx="15"/>
          </p:nvPr>
        </p:nvSpPr>
        <p:spPr>
          <a:xfrm>
            <a:off x="1897888" y="2502877"/>
            <a:ext cx="6532880" cy="372382"/>
          </a:xfrm>
        </p:spPr>
        <p:txBody>
          <a:bodyPr lIns="0" tIns="0" rIns="0" bIns="0"/>
          <a:lstStyle/>
          <a:p>
            <a:pPr marL="0" lvl="1" indent="0">
              <a:buNone/>
            </a:pPr>
            <a:r>
              <a:rPr lang="en-US" altLang="en-US" sz="2200" dirty="0">
                <a:ea typeface="ヒラギノ角ゴ Pro W3" pitchFamily="-84" charset="-128"/>
              </a:rPr>
              <a:t>is the unit labor requirement for cheese in the home</a:t>
            </a:r>
            <a:endParaRPr lang="en-US" sz="2200" dirty="0"/>
          </a:p>
        </p:txBody>
      </p:sp>
      <p:sp>
        <p:nvSpPr>
          <p:cNvPr id="53" name="Content Placeholder 52">
            <a:extLst>
              <a:ext uri="{FF2B5EF4-FFF2-40B4-BE49-F238E27FC236}">
                <a16:creationId xmlns:a16="http://schemas.microsoft.com/office/drawing/2014/main" id="{75B55F28-8B6D-486D-AE63-907FEC10B339}"/>
              </a:ext>
            </a:extLst>
          </p:cNvPr>
          <p:cNvSpPr>
            <a:spLocks noGrp="1"/>
          </p:cNvSpPr>
          <p:nvPr>
            <p:ph sz="quarter" idx="16"/>
          </p:nvPr>
        </p:nvSpPr>
        <p:spPr>
          <a:xfrm>
            <a:off x="541892" y="2943293"/>
            <a:ext cx="1843058" cy="379027"/>
          </a:xfrm>
        </p:spPr>
        <p:txBody>
          <a:bodyPr lIns="0" tIns="0" rIns="0" bIns="0"/>
          <a:lstStyle/>
          <a:p>
            <a:pPr marL="741600" lvl="1" indent="0">
              <a:buNone/>
            </a:pPr>
            <a:r>
              <a:rPr lang="en-US" altLang="en-US" sz="2200" dirty="0">
                <a:ea typeface="ヒラギノ角ゴ Pro W3" pitchFamily="-84" charset="-128"/>
              </a:rPr>
              <a:t>country.</a:t>
            </a:r>
            <a:endParaRPr lang="en-US" sz="2200" dirty="0"/>
          </a:p>
        </p:txBody>
      </p:sp>
      <p:sp>
        <p:nvSpPr>
          <p:cNvPr id="54" name="Content Placeholder 53">
            <a:extLst>
              <a:ext uri="{FF2B5EF4-FFF2-40B4-BE49-F238E27FC236}">
                <a16:creationId xmlns:a16="http://schemas.microsoft.com/office/drawing/2014/main" id="{FB8EC605-25D8-4580-B1CD-6ED6690AECA8}"/>
              </a:ext>
            </a:extLst>
          </p:cNvPr>
          <p:cNvSpPr>
            <a:spLocks noGrp="1"/>
          </p:cNvSpPr>
          <p:nvPr>
            <p:ph sz="quarter" idx="17"/>
          </p:nvPr>
        </p:nvSpPr>
        <p:spPr>
          <a:xfrm>
            <a:off x="3105998" y="2945260"/>
            <a:ext cx="5695101" cy="372382"/>
          </a:xfrm>
        </p:spPr>
        <p:txBody>
          <a:bodyPr lIns="0" tIns="0" rIns="0" bIns="0"/>
          <a:lstStyle/>
          <a:p>
            <a:pPr marL="0" lvl="1" indent="0">
              <a:buNone/>
            </a:pPr>
            <a:r>
              <a:rPr lang="en-US" altLang="en-US" sz="2200" dirty="0">
                <a:ea typeface="ヒラギノ角ゴ Pro W3" pitchFamily="-84" charset="-128"/>
              </a:rPr>
              <a:t>hours of labor produce one pound of cheese</a:t>
            </a:r>
            <a:endParaRPr lang="en-US" sz="2200" dirty="0"/>
          </a:p>
        </p:txBody>
      </p:sp>
      <p:sp>
        <p:nvSpPr>
          <p:cNvPr id="55" name="Content Placeholder 54">
            <a:extLst>
              <a:ext uri="{FF2B5EF4-FFF2-40B4-BE49-F238E27FC236}">
                <a16:creationId xmlns:a16="http://schemas.microsoft.com/office/drawing/2014/main" id="{65A932C1-D97F-4FE5-9738-6A83FEAC79C4}"/>
              </a:ext>
            </a:extLst>
          </p:cNvPr>
          <p:cNvSpPr>
            <a:spLocks noGrp="1"/>
          </p:cNvSpPr>
          <p:nvPr>
            <p:ph sz="quarter" idx="18"/>
          </p:nvPr>
        </p:nvSpPr>
        <p:spPr>
          <a:xfrm>
            <a:off x="541892" y="3373391"/>
            <a:ext cx="3390028" cy="365280"/>
          </a:xfrm>
        </p:spPr>
        <p:txBody>
          <a:bodyPr lIns="0" tIns="0" rIns="0" bIns="0"/>
          <a:lstStyle/>
          <a:p>
            <a:pPr marL="741600" lvl="1" indent="0">
              <a:buNone/>
            </a:pPr>
            <a:r>
              <a:rPr lang="en-US" altLang="en-US" sz="2200" dirty="0">
                <a:ea typeface="ヒラギノ角ゴ Pro W3" pitchFamily="-84" charset="-128"/>
              </a:rPr>
              <a:t>in the home country.</a:t>
            </a:r>
          </a:p>
        </p:txBody>
      </p:sp>
      <p:sp>
        <p:nvSpPr>
          <p:cNvPr id="56" name="Content Placeholder 55">
            <a:extLst>
              <a:ext uri="{FF2B5EF4-FFF2-40B4-BE49-F238E27FC236}">
                <a16:creationId xmlns:a16="http://schemas.microsoft.com/office/drawing/2014/main" id="{11E82E35-C12A-459C-ADEE-3073E1514DD9}"/>
              </a:ext>
            </a:extLst>
          </p:cNvPr>
          <p:cNvSpPr>
            <a:spLocks noGrp="1"/>
          </p:cNvSpPr>
          <p:nvPr>
            <p:ph sz="quarter" idx="19"/>
          </p:nvPr>
        </p:nvSpPr>
        <p:spPr>
          <a:xfrm>
            <a:off x="937260" y="3776945"/>
            <a:ext cx="396240" cy="470349"/>
          </a:xfrm>
        </p:spPr>
        <p:txBody>
          <a:bodyPr/>
          <a:lstStyle/>
          <a:p>
            <a:pPr marL="0" lvl="1" indent="0">
              <a:spcBef>
                <a:spcPts val="0"/>
              </a:spcBef>
            </a:pPr>
            <a:r>
              <a:rPr lang="en-US" sz="2200" dirty="0"/>
              <a:t> </a:t>
            </a:r>
            <a:r>
              <a:rPr lang="en-US" sz="100" dirty="0"/>
              <a:t> </a:t>
            </a:r>
          </a:p>
        </p:txBody>
      </p:sp>
      <p:sp>
        <p:nvSpPr>
          <p:cNvPr id="57" name="Content Placeholder 56">
            <a:extLst>
              <a:ext uri="{FF2B5EF4-FFF2-40B4-BE49-F238E27FC236}">
                <a16:creationId xmlns:a16="http://schemas.microsoft.com/office/drawing/2014/main" id="{EB9FD3D6-DAB3-4A4C-B700-557C6061571F}"/>
              </a:ext>
            </a:extLst>
          </p:cNvPr>
          <p:cNvSpPr>
            <a:spLocks noGrp="1"/>
          </p:cNvSpPr>
          <p:nvPr>
            <p:ph sz="quarter" idx="20"/>
          </p:nvPr>
        </p:nvSpPr>
        <p:spPr>
          <a:xfrm>
            <a:off x="1969494" y="3851086"/>
            <a:ext cx="6197599" cy="361443"/>
          </a:xfrm>
        </p:spPr>
        <p:txBody>
          <a:bodyPr lIns="0" tIns="0" rIns="0" bIns="0"/>
          <a:lstStyle/>
          <a:p>
            <a:pPr marL="0" lvl="1" indent="0">
              <a:buNone/>
            </a:pPr>
            <a:r>
              <a:rPr lang="en-US" altLang="en-US" sz="2200" dirty="0">
                <a:ea typeface="ヒラギノ角ゴ Pro W3" pitchFamily="-84" charset="-128"/>
              </a:rPr>
              <a:t>is the unit labor requirement for wine in the home</a:t>
            </a:r>
            <a:endParaRPr lang="en-US" sz="2200" dirty="0"/>
          </a:p>
        </p:txBody>
      </p:sp>
      <p:sp>
        <p:nvSpPr>
          <p:cNvPr id="58" name="Content Placeholder 57">
            <a:extLst>
              <a:ext uri="{FF2B5EF4-FFF2-40B4-BE49-F238E27FC236}">
                <a16:creationId xmlns:a16="http://schemas.microsoft.com/office/drawing/2014/main" id="{104E9CE8-E350-4B0C-9580-5CFC1EC0110D}"/>
              </a:ext>
            </a:extLst>
          </p:cNvPr>
          <p:cNvSpPr>
            <a:spLocks noGrp="1"/>
          </p:cNvSpPr>
          <p:nvPr>
            <p:ph sz="quarter" idx="21"/>
          </p:nvPr>
        </p:nvSpPr>
        <p:spPr>
          <a:xfrm>
            <a:off x="552450" y="4300159"/>
            <a:ext cx="1832500" cy="378521"/>
          </a:xfrm>
        </p:spPr>
        <p:txBody>
          <a:bodyPr lIns="0" tIns="0" rIns="0" bIns="0"/>
          <a:lstStyle/>
          <a:p>
            <a:pPr marL="741600" lvl="1" indent="0">
              <a:buNone/>
            </a:pPr>
            <a:r>
              <a:rPr lang="en-US" altLang="en-US" sz="2200" dirty="0">
                <a:ea typeface="ヒラギノ角ゴ Pro W3" pitchFamily="-84" charset="-128"/>
              </a:rPr>
              <a:t>country.</a:t>
            </a:r>
            <a:endParaRPr lang="en-US" sz="2200" dirty="0"/>
          </a:p>
        </p:txBody>
      </p:sp>
      <p:sp>
        <p:nvSpPr>
          <p:cNvPr id="59" name="Content Placeholder 58">
            <a:extLst>
              <a:ext uri="{FF2B5EF4-FFF2-40B4-BE49-F238E27FC236}">
                <a16:creationId xmlns:a16="http://schemas.microsoft.com/office/drawing/2014/main" id="{919CADC7-2D18-4C25-A476-727DAF76FC22}"/>
              </a:ext>
            </a:extLst>
          </p:cNvPr>
          <p:cNvSpPr>
            <a:spLocks noGrp="1"/>
          </p:cNvSpPr>
          <p:nvPr>
            <p:ph sz="quarter" idx="22"/>
          </p:nvPr>
        </p:nvSpPr>
        <p:spPr>
          <a:xfrm>
            <a:off x="3018027" y="4296251"/>
            <a:ext cx="5323841" cy="370387"/>
          </a:xfrm>
        </p:spPr>
        <p:txBody>
          <a:bodyPr lIns="0" tIns="0" rIns="0" bIns="0"/>
          <a:lstStyle/>
          <a:p>
            <a:pPr marL="0" lvl="1" indent="0">
              <a:buNone/>
            </a:pPr>
            <a:r>
              <a:rPr lang="en-US" altLang="en-US" sz="2200" dirty="0">
                <a:ea typeface="ヒラギノ角ゴ Pro W3" pitchFamily="-84" charset="-128"/>
              </a:rPr>
              <a:t>hours of labor produce one gallon of wine</a:t>
            </a:r>
          </a:p>
        </p:txBody>
      </p:sp>
      <p:sp>
        <p:nvSpPr>
          <p:cNvPr id="60" name="Content Placeholder 59">
            <a:extLst>
              <a:ext uri="{FF2B5EF4-FFF2-40B4-BE49-F238E27FC236}">
                <a16:creationId xmlns:a16="http://schemas.microsoft.com/office/drawing/2014/main" id="{4B6412AD-5AB1-4D0C-9CCF-09852DC6FDCB}"/>
              </a:ext>
            </a:extLst>
          </p:cNvPr>
          <p:cNvSpPr>
            <a:spLocks noGrp="1"/>
          </p:cNvSpPr>
          <p:nvPr>
            <p:ph sz="quarter" idx="23"/>
          </p:nvPr>
        </p:nvSpPr>
        <p:spPr>
          <a:xfrm>
            <a:off x="558212" y="4742736"/>
            <a:ext cx="3373708" cy="372190"/>
          </a:xfrm>
        </p:spPr>
        <p:txBody>
          <a:bodyPr lIns="0" tIns="0" rIns="0" bIns="0"/>
          <a:lstStyle/>
          <a:p>
            <a:pPr marL="741600" lvl="1" indent="0">
              <a:buNone/>
            </a:pPr>
            <a:r>
              <a:rPr lang="en-US" altLang="en-US" sz="2200" dirty="0">
                <a:ea typeface="ヒラギノ角ゴ Pro W3" pitchFamily="-84" charset="-128"/>
              </a:rPr>
              <a:t>in the home country.</a:t>
            </a:r>
            <a:endParaRPr lang="en-US" sz="2200" dirty="0"/>
          </a:p>
        </p:txBody>
      </p:sp>
      <p:sp>
        <p:nvSpPr>
          <p:cNvPr id="61" name="Content Placeholder 60">
            <a:extLst>
              <a:ext uri="{FF2B5EF4-FFF2-40B4-BE49-F238E27FC236}">
                <a16:creationId xmlns:a16="http://schemas.microsoft.com/office/drawing/2014/main" id="{74431F91-C3FF-4A75-B575-3AA1D8AC492D}"/>
              </a:ext>
            </a:extLst>
          </p:cNvPr>
          <p:cNvSpPr>
            <a:spLocks noGrp="1"/>
          </p:cNvSpPr>
          <p:nvPr>
            <p:ph sz="quarter" idx="24"/>
          </p:nvPr>
        </p:nvSpPr>
        <p:spPr>
          <a:xfrm>
            <a:off x="457201" y="5181948"/>
            <a:ext cx="8229600" cy="1145739"/>
          </a:xfrm>
        </p:spPr>
        <p:txBody>
          <a:bodyPr tIns="0" bIns="0"/>
          <a:lstStyle/>
          <a:p>
            <a:r>
              <a:rPr lang="en-US" altLang="en-US" sz="2200" dirty="0">
                <a:ea typeface="ヒラギノ角ゴ Pro W3" pitchFamily="-84" charset="-128"/>
              </a:rPr>
              <a:t>A high unit labor requirement means low labor productivity.</a:t>
            </a:r>
          </a:p>
          <a:p>
            <a:pPr lvl="1"/>
            <a:r>
              <a:rPr lang="en-US" altLang="en-US" sz="2200" dirty="0">
                <a:ea typeface="ヒラギノ角ゴ Pro W3" pitchFamily="-84" charset="-128"/>
              </a:rPr>
              <a:t>Labor productivity is how much output one hour of labor creates.</a:t>
            </a:r>
            <a:endParaRPr lang="en-US" dirty="0"/>
          </a:p>
        </p:txBody>
      </p:sp>
      <p:graphicFrame>
        <p:nvGraphicFramePr>
          <p:cNvPr id="27" name="Object 26" descr="a sub start expression L C end expression">
            <a:extLst>
              <a:ext uri="{FF2B5EF4-FFF2-40B4-BE49-F238E27FC236}">
                <a16:creationId xmlns:a16="http://schemas.microsoft.com/office/drawing/2014/main" id="{C0A65163-C001-4A62-96FB-A507C3D139C6}"/>
              </a:ext>
            </a:extLst>
          </p:cNvPr>
          <p:cNvGraphicFramePr>
            <a:graphicFrameLocks noChangeAspect="1"/>
          </p:cNvGraphicFramePr>
          <p:nvPr>
            <p:extLst>
              <p:ext uri="{D42A27DB-BD31-4B8C-83A1-F6EECF244321}">
                <p14:modId xmlns:p14="http://schemas.microsoft.com/office/powerpoint/2010/main" val="974137174"/>
              </p:ext>
            </p:extLst>
          </p:nvPr>
        </p:nvGraphicFramePr>
        <p:xfrm>
          <a:off x="1392062" y="2482903"/>
          <a:ext cx="426435" cy="407226"/>
        </p:xfrm>
        <a:graphic>
          <a:graphicData uri="http://schemas.openxmlformats.org/presentationml/2006/ole">
            <mc:AlternateContent xmlns:mc="http://schemas.openxmlformats.org/markup-compatibility/2006">
              <mc:Choice xmlns:v="urn:schemas-microsoft-com:vml" Requires="v">
                <p:oleObj name="Equation" r:id="rId2" imgW="241200" imgH="228600" progId="Equation.DSMT4">
                  <p:embed/>
                </p:oleObj>
              </mc:Choice>
              <mc:Fallback>
                <p:oleObj name="Equation" r:id="rId2" imgW="241200" imgH="228600" progId="Equation.DSMT4">
                  <p:embed/>
                  <p:pic>
                    <p:nvPicPr>
                      <p:cNvPr id="8" name="Object 7">
                        <a:extLst>
                          <a:ext uri="{FF2B5EF4-FFF2-40B4-BE49-F238E27FC236}">
                            <a16:creationId xmlns:a16="http://schemas.microsoft.com/office/drawing/2014/main" id="{C1FBFC3F-AD30-4229-8638-B06045A9DDD8}"/>
                          </a:ext>
                        </a:extLst>
                      </p:cNvPr>
                      <p:cNvPicPr/>
                      <p:nvPr/>
                    </p:nvPicPr>
                    <p:blipFill>
                      <a:blip r:embed="rId3"/>
                      <a:stretch>
                        <a:fillRect/>
                      </a:stretch>
                    </p:blipFill>
                    <p:spPr>
                      <a:xfrm>
                        <a:off x="1392062" y="2482903"/>
                        <a:ext cx="426435" cy="407226"/>
                      </a:xfrm>
                      <a:prstGeom prst="rect">
                        <a:avLst/>
                      </a:prstGeom>
                      <a:noFill/>
                    </p:spPr>
                  </p:pic>
                </p:oleObj>
              </mc:Fallback>
            </mc:AlternateContent>
          </a:graphicData>
        </a:graphic>
      </p:graphicFrame>
      <p:graphicFrame>
        <p:nvGraphicFramePr>
          <p:cNvPr id="28" name="Object 27" descr="a sub start expression L C end expression">
            <a:extLst>
              <a:ext uri="{FF2B5EF4-FFF2-40B4-BE49-F238E27FC236}">
                <a16:creationId xmlns:a16="http://schemas.microsoft.com/office/drawing/2014/main" id="{6923FE68-F20C-4BDC-A1D9-30482BB6AD18}"/>
              </a:ext>
            </a:extLst>
          </p:cNvPr>
          <p:cNvGraphicFramePr>
            <a:graphicFrameLocks noChangeAspect="1"/>
          </p:cNvGraphicFramePr>
          <p:nvPr>
            <p:extLst>
              <p:ext uri="{D42A27DB-BD31-4B8C-83A1-F6EECF244321}">
                <p14:modId xmlns:p14="http://schemas.microsoft.com/office/powerpoint/2010/main" val="1340130527"/>
              </p:ext>
            </p:extLst>
          </p:nvPr>
        </p:nvGraphicFramePr>
        <p:xfrm>
          <a:off x="2504442" y="2940119"/>
          <a:ext cx="388616" cy="368163"/>
        </p:xfrm>
        <a:graphic>
          <a:graphicData uri="http://schemas.openxmlformats.org/presentationml/2006/ole">
            <mc:AlternateContent xmlns:mc="http://schemas.openxmlformats.org/markup-compatibility/2006">
              <mc:Choice xmlns:v="urn:schemas-microsoft-com:vml" Requires="v">
                <p:oleObj name="Equation" r:id="rId4" imgW="241200" imgH="228600" progId="Equation.DSMT4">
                  <p:embed/>
                </p:oleObj>
              </mc:Choice>
              <mc:Fallback>
                <p:oleObj name="Equation" r:id="rId4" imgW="241200" imgH="228600" progId="Equation.DSMT4">
                  <p:embed/>
                  <p:pic>
                    <p:nvPicPr>
                      <p:cNvPr id="0" name=""/>
                      <p:cNvPicPr/>
                      <p:nvPr/>
                    </p:nvPicPr>
                    <p:blipFill>
                      <a:blip r:embed="rId5"/>
                      <a:stretch>
                        <a:fillRect/>
                      </a:stretch>
                    </p:blipFill>
                    <p:spPr>
                      <a:xfrm>
                        <a:off x="2504442" y="2940119"/>
                        <a:ext cx="388616" cy="368163"/>
                      </a:xfrm>
                      <a:prstGeom prst="rect">
                        <a:avLst/>
                      </a:prstGeom>
                    </p:spPr>
                  </p:pic>
                </p:oleObj>
              </mc:Fallback>
            </mc:AlternateContent>
          </a:graphicData>
        </a:graphic>
      </p:graphicFrame>
      <p:graphicFrame>
        <p:nvGraphicFramePr>
          <p:cNvPr id="29" name="Object 28" descr="a sub start expression L W end expression">
            <a:extLst>
              <a:ext uri="{FF2B5EF4-FFF2-40B4-BE49-F238E27FC236}">
                <a16:creationId xmlns:a16="http://schemas.microsoft.com/office/drawing/2014/main" id="{B69C7E75-5701-4B78-9D7B-DA98EFBB7D07}"/>
              </a:ext>
            </a:extLst>
          </p:cNvPr>
          <p:cNvGraphicFramePr>
            <a:graphicFrameLocks noChangeAspect="1"/>
          </p:cNvGraphicFramePr>
          <p:nvPr>
            <p:extLst>
              <p:ext uri="{D42A27DB-BD31-4B8C-83A1-F6EECF244321}">
                <p14:modId xmlns:p14="http://schemas.microsoft.com/office/powerpoint/2010/main" val="4130043756"/>
              </p:ext>
            </p:extLst>
          </p:nvPr>
        </p:nvGraphicFramePr>
        <p:xfrm>
          <a:off x="1380648" y="3849359"/>
          <a:ext cx="449262" cy="368300"/>
        </p:xfrm>
        <a:graphic>
          <a:graphicData uri="http://schemas.openxmlformats.org/presentationml/2006/ole">
            <mc:AlternateContent xmlns:mc="http://schemas.openxmlformats.org/markup-compatibility/2006">
              <mc:Choice xmlns:v="urn:schemas-microsoft-com:vml" Requires="v">
                <p:oleObj name="Equation" r:id="rId6" imgW="279360" imgH="228600" progId="Equation.DSMT4">
                  <p:embed/>
                </p:oleObj>
              </mc:Choice>
              <mc:Fallback>
                <p:oleObj name="Equation" r:id="rId6" imgW="279360" imgH="228600" progId="Equation.DSMT4">
                  <p:embed/>
                  <p:pic>
                    <p:nvPicPr>
                      <p:cNvPr id="0" name=""/>
                      <p:cNvPicPr/>
                      <p:nvPr/>
                    </p:nvPicPr>
                    <p:blipFill>
                      <a:blip r:embed="rId7"/>
                      <a:stretch>
                        <a:fillRect/>
                      </a:stretch>
                    </p:blipFill>
                    <p:spPr>
                      <a:xfrm>
                        <a:off x="1380648" y="3849359"/>
                        <a:ext cx="449262" cy="368300"/>
                      </a:xfrm>
                      <a:prstGeom prst="rect">
                        <a:avLst/>
                      </a:prstGeom>
                    </p:spPr>
                  </p:pic>
                </p:oleObj>
              </mc:Fallback>
            </mc:AlternateContent>
          </a:graphicData>
        </a:graphic>
      </p:graphicFrame>
      <p:graphicFrame>
        <p:nvGraphicFramePr>
          <p:cNvPr id="30" name="Object 29" descr="a sub start expression L W end expression">
            <a:extLst>
              <a:ext uri="{FF2B5EF4-FFF2-40B4-BE49-F238E27FC236}">
                <a16:creationId xmlns:a16="http://schemas.microsoft.com/office/drawing/2014/main" id="{9BF451AD-B823-492C-B148-63BB48732AA4}"/>
              </a:ext>
            </a:extLst>
          </p:cNvPr>
          <p:cNvGraphicFramePr>
            <a:graphicFrameLocks noChangeAspect="1"/>
          </p:cNvGraphicFramePr>
          <p:nvPr>
            <p:extLst>
              <p:ext uri="{D42A27DB-BD31-4B8C-83A1-F6EECF244321}">
                <p14:modId xmlns:p14="http://schemas.microsoft.com/office/powerpoint/2010/main" val="2814450141"/>
              </p:ext>
            </p:extLst>
          </p:nvPr>
        </p:nvGraphicFramePr>
        <p:xfrm>
          <a:off x="2452929" y="4289494"/>
          <a:ext cx="449976" cy="368163"/>
        </p:xfrm>
        <a:graphic>
          <a:graphicData uri="http://schemas.openxmlformats.org/presentationml/2006/ole">
            <mc:AlternateContent xmlns:mc="http://schemas.openxmlformats.org/markup-compatibility/2006">
              <mc:Choice xmlns:v="urn:schemas-microsoft-com:vml" Requires="v">
                <p:oleObj name="Equation" r:id="rId8" imgW="279360" imgH="228600" progId="Equation.DSMT4">
                  <p:embed/>
                </p:oleObj>
              </mc:Choice>
              <mc:Fallback>
                <p:oleObj name="Equation" r:id="rId8" imgW="279360" imgH="228600" progId="Equation.DSMT4">
                  <p:embed/>
                  <p:pic>
                    <p:nvPicPr>
                      <p:cNvPr id="0" name=""/>
                      <p:cNvPicPr/>
                      <p:nvPr/>
                    </p:nvPicPr>
                    <p:blipFill>
                      <a:blip r:embed="rId9"/>
                      <a:stretch>
                        <a:fillRect/>
                      </a:stretch>
                    </p:blipFill>
                    <p:spPr>
                      <a:xfrm>
                        <a:off x="2452929" y="4289494"/>
                        <a:ext cx="449976" cy="368163"/>
                      </a:xfrm>
                      <a:prstGeom prst="rect">
                        <a:avLst/>
                      </a:prstGeom>
                    </p:spPr>
                  </p:pic>
                </p:oleObj>
              </mc:Fallback>
            </mc:AlternateContent>
          </a:graphicData>
        </a:graphic>
      </p:graphicFrame>
    </p:spTree>
    <p:extLst>
      <p:ext uri="{BB962C8B-B14F-4D97-AF65-F5344CB8AC3E}">
        <p14:creationId xmlns:p14="http://schemas.microsoft.com/office/powerpoint/2010/main" val="291286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A One-Factor Economy </a:t>
            </a:r>
            <a:r>
              <a:rPr lang="en-US" altLang="en-US" sz="2000" b="0" dirty="0">
                <a:latin typeface="+mj-lt"/>
                <a:ea typeface="ヒラギノ角ゴ Pro W3" pitchFamily="-84" charset="-128"/>
                <a:cs typeface="Times New Roman" panose="02020603050405020304" pitchFamily="18" charset="0"/>
              </a:rPr>
              <a:t>(4 of 4)</a:t>
            </a:r>
            <a:endParaRPr lang="en-US" sz="2000" dirty="0">
              <a:latin typeface="+mj-lt"/>
              <a:cs typeface="Times New Roman" panose="02020603050405020304" pitchFamily="18" charset="0"/>
            </a:endParaRPr>
          </a:p>
        </p:txBody>
      </p:sp>
      <p:sp>
        <p:nvSpPr>
          <p:cNvPr id="3" name="Content Placeholder 2"/>
          <p:cNvSpPr>
            <a:spLocks noGrp="1"/>
          </p:cNvSpPr>
          <p:nvPr>
            <p:ph idx="1"/>
          </p:nvPr>
        </p:nvSpPr>
        <p:spPr>
          <a:xfrm>
            <a:off x="457200" y="1600201"/>
            <a:ext cx="8153400" cy="735624"/>
          </a:xfrm>
        </p:spPr>
        <p:txBody>
          <a:bodyPr/>
          <a:lstStyle/>
          <a:p>
            <a:pPr indent="-255600"/>
            <a:r>
              <a:rPr lang="en-US" altLang="en-US" sz="2000" dirty="0">
                <a:latin typeface="+mn-lt"/>
                <a:ea typeface="ヒラギノ角ゴ Pro W3" pitchFamily="-84" charset="-128"/>
              </a:rPr>
              <a:t>Labor supply </a:t>
            </a:r>
            <a:r>
              <a:rPr lang="en-US" altLang="en-US" sz="2000" i="1" dirty="0">
                <a:latin typeface="+mn-lt"/>
                <a:ea typeface="ヒラギノ角ゴ Pro W3" pitchFamily="-84" charset="-128"/>
              </a:rPr>
              <a:t>L</a:t>
            </a:r>
            <a:r>
              <a:rPr lang="en-US" altLang="en-US" sz="2000" dirty="0">
                <a:latin typeface="+mn-lt"/>
                <a:ea typeface="ヒラギノ角ゴ Pro W3" pitchFamily="-84" charset="-128"/>
              </a:rPr>
              <a:t> indicates the total amount of labor resources</a:t>
            </a:r>
            <a:r>
              <a:rPr lang="en-US" altLang="en-US" sz="2000" dirty="0">
                <a:latin typeface="+mn-lt"/>
                <a:ea typeface="ヒラギノ角ゴ Pro W3" pitchFamily="-84" charset="-128"/>
                <a:cs typeface="Times New Roman" panose="02020603050405020304" pitchFamily="18" charset="0"/>
              </a:rPr>
              <a:t>—</a:t>
            </a:r>
            <a:r>
              <a:rPr lang="en-US" altLang="en-US" sz="2000" dirty="0">
                <a:latin typeface="+mn-lt"/>
                <a:ea typeface="ヒラギノ角ゴ Pro W3" pitchFamily="-84" charset="-128"/>
              </a:rPr>
              <a:t>the number of hours worked (a constant parameter).</a:t>
            </a:r>
          </a:p>
        </p:txBody>
      </p:sp>
      <p:sp>
        <p:nvSpPr>
          <p:cNvPr id="4" name="Content Placeholder 3"/>
          <p:cNvSpPr>
            <a:spLocks noGrp="1"/>
          </p:cNvSpPr>
          <p:nvPr>
            <p:ph idx="13"/>
          </p:nvPr>
        </p:nvSpPr>
        <p:spPr>
          <a:xfrm>
            <a:off x="457201" y="2405675"/>
            <a:ext cx="304799" cy="417832"/>
          </a:xfrm>
        </p:spPr>
        <p:txBody>
          <a:bodyPr/>
          <a:lstStyle/>
          <a:p>
            <a:pPr marL="0" indent="0">
              <a:spcBef>
                <a:spcPts val="0"/>
              </a:spcBef>
            </a:pPr>
            <a:r>
              <a:rPr lang="en-US" sz="2000" dirty="0">
                <a:latin typeface="+mn-lt"/>
              </a:rPr>
              <a:t> </a:t>
            </a:r>
            <a:r>
              <a:rPr lang="en-US" sz="100" dirty="0">
                <a:latin typeface="+mn-lt"/>
              </a:rPr>
              <a:t> </a:t>
            </a:r>
          </a:p>
        </p:txBody>
      </p:sp>
      <p:sp>
        <p:nvSpPr>
          <p:cNvPr id="5" name="Content Placeholder 4"/>
          <p:cNvSpPr>
            <a:spLocks noGrp="1"/>
          </p:cNvSpPr>
          <p:nvPr>
            <p:ph idx="14"/>
          </p:nvPr>
        </p:nvSpPr>
        <p:spPr>
          <a:xfrm>
            <a:off x="1318260" y="2456815"/>
            <a:ext cx="6840166" cy="337820"/>
          </a:xfrm>
        </p:spPr>
        <p:txBody>
          <a:bodyPr tIns="0"/>
          <a:lstStyle/>
          <a:p>
            <a:pPr marL="0" indent="0">
              <a:buNone/>
            </a:pPr>
            <a:r>
              <a:rPr lang="en-US" altLang="en-US" sz="2000" dirty="0">
                <a:latin typeface="+mn-lt"/>
                <a:ea typeface="ヒラギノ角ゴ Pro W3" pitchFamily="-84" charset="-128"/>
              </a:rPr>
              <a:t>indicates the </a:t>
            </a:r>
            <a:r>
              <a:rPr lang="en-US" altLang="en-US" sz="2000" dirty="0">
                <a:latin typeface="+mn-lt"/>
              </a:rPr>
              <a:t>amount of labor required for each pound of</a:t>
            </a:r>
            <a:endParaRPr lang="en-US" sz="2000" dirty="0">
              <a:latin typeface="+mn-lt"/>
            </a:endParaRPr>
          </a:p>
        </p:txBody>
      </p:sp>
      <p:sp>
        <p:nvSpPr>
          <p:cNvPr id="6" name="Content Placeholder 5"/>
          <p:cNvSpPr>
            <a:spLocks noGrp="1"/>
          </p:cNvSpPr>
          <p:nvPr>
            <p:ph idx="15"/>
          </p:nvPr>
        </p:nvSpPr>
        <p:spPr>
          <a:xfrm>
            <a:off x="457201" y="2894043"/>
            <a:ext cx="4280169" cy="344457"/>
          </a:xfrm>
        </p:spPr>
        <p:txBody>
          <a:bodyPr tIns="0"/>
          <a:lstStyle/>
          <a:p>
            <a:pPr marL="255600" indent="0">
              <a:buNone/>
            </a:pPr>
            <a:r>
              <a:rPr lang="en-US" altLang="en-US" sz="2000" dirty="0">
                <a:latin typeface="+mn-lt"/>
              </a:rPr>
              <a:t>cheese produced (a constant)</a:t>
            </a:r>
            <a:r>
              <a:rPr lang="en-US" altLang="en-US" sz="2000" dirty="0">
                <a:latin typeface="+mn-lt"/>
                <a:ea typeface="ヒラギノ角ゴ Pro W3" pitchFamily="-84" charset="-128"/>
              </a:rPr>
              <a:t>.</a:t>
            </a:r>
          </a:p>
        </p:txBody>
      </p:sp>
      <p:sp>
        <p:nvSpPr>
          <p:cNvPr id="7" name="Content Placeholder 6"/>
          <p:cNvSpPr>
            <a:spLocks noGrp="1"/>
          </p:cNvSpPr>
          <p:nvPr>
            <p:ph idx="16"/>
          </p:nvPr>
        </p:nvSpPr>
        <p:spPr>
          <a:xfrm>
            <a:off x="457199" y="3389122"/>
            <a:ext cx="2575561" cy="341102"/>
          </a:xfrm>
        </p:spPr>
        <p:txBody>
          <a:bodyPr tIns="0"/>
          <a:lstStyle/>
          <a:p>
            <a:pPr indent="-255600"/>
            <a:r>
              <a:rPr lang="en-US" altLang="en-US" sz="2000" dirty="0">
                <a:latin typeface="+mn-lt"/>
                <a:ea typeface="ヒラギノ角ゴ Pro W3" pitchFamily="-84" charset="-128"/>
              </a:rPr>
              <a:t>Cheese production</a:t>
            </a:r>
            <a:endParaRPr lang="en-US" sz="2000" dirty="0">
              <a:latin typeface="+mn-lt"/>
            </a:endParaRPr>
          </a:p>
        </p:txBody>
      </p:sp>
      <p:sp>
        <p:nvSpPr>
          <p:cNvPr id="8" name="Content Placeholder 7"/>
          <p:cNvSpPr>
            <a:spLocks noGrp="1"/>
          </p:cNvSpPr>
          <p:nvPr>
            <p:ph sz="quarter" idx="17"/>
          </p:nvPr>
        </p:nvSpPr>
        <p:spPr>
          <a:xfrm>
            <a:off x="3505200" y="3394572"/>
            <a:ext cx="5105400" cy="339228"/>
          </a:xfrm>
        </p:spPr>
        <p:txBody>
          <a:bodyPr tIns="0"/>
          <a:lstStyle/>
          <a:p>
            <a:pPr marL="0" indent="-486918">
              <a:buNone/>
            </a:pPr>
            <a:r>
              <a:rPr lang="en-US" altLang="en-US" sz="2000" dirty="0">
                <a:latin typeface="+mn-lt"/>
                <a:ea typeface="ヒラギノ角ゴ Pro W3" pitchFamily="-84" charset="-128"/>
              </a:rPr>
              <a:t>indicates how many total pounds of cheese</a:t>
            </a:r>
            <a:endParaRPr lang="en-US" sz="2000" dirty="0">
              <a:latin typeface="+mn-lt"/>
            </a:endParaRPr>
          </a:p>
        </p:txBody>
      </p:sp>
      <p:sp>
        <p:nvSpPr>
          <p:cNvPr id="9" name="Content Placeholder 8"/>
          <p:cNvSpPr>
            <a:spLocks noGrp="1"/>
          </p:cNvSpPr>
          <p:nvPr>
            <p:ph sz="quarter" idx="18"/>
          </p:nvPr>
        </p:nvSpPr>
        <p:spPr>
          <a:xfrm>
            <a:off x="457201" y="3827135"/>
            <a:ext cx="4850822" cy="361050"/>
          </a:xfrm>
        </p:spPr>
        <p:txBody>
          <a:bodyPr tIns="0"/>
          <a:lstStyle/>
          <a:p>
            <a:pPr marL="255600" indent="0">
              <a:buNone/>
            </a:pPr>
            <a:r>
              <a:rPr lang="en-US" altLang="en-US" sz="2000" dirty="0">
                <a:latin typeface="+mn-lt"/>
                <a:ea typeface="ヒラギノ角ゴ Pro W3" pitchFamily="-84" charset="-128"/>
              </a:rPr>
              <a:t>that the home country produces.</a:t>
            </a:r>
            <a:endParaRPr lang="en-US" sz="2000" dirty="0">
              <a:latin typeface="+mn-lt"/>
            </a:endParaRPr>
          </a:p>
        </p:txBody>
      </p:sp>
      <p:sp>
        <p:nvSpPr>
          <p:cNvPr id="10" name="Content Placeholder 9"/>
          <p:cNvSpPr>
            <a:spLocks noGrp="1"/>
          </p:cNvSpPr>
          <p:nvPr>
            <p:ph sz="quarter" idx="19"/>
          </p:nvPr>
        </p:nvSpPr>
        <p:spPr>
          <a:xfrm>
            <a:off x="457201" y="4246372"/>
            <a:ext cx="304799" cy="407670"/>
          </a:xfrm>
        </p:spPr>
        <p:txBody>
          <a:bodyPr/>
          <a:lstStyle/>
          <a:p>
            <a:pPr marL="0" indent="0">
              <a:spcBef>
                <a:spcPts val="0"/>
              </a:spcBef>
            </a:pPr>
            <a:r>
              <a:rPr lang="en-US" sz="2000" dirty="0">
                <a:latin typeface="+mn-lt"/>
              </a:rPr>
              <a:t> </a:t>
            </a:r>
            <a:r>
              <a:rPr lang="en-US" sz="100" dirty="0">
                <a:latin typeface="+mn-lt"/>
              </a:rPr>
              <a:t> </a:t>
            </a:r>
          </a:p>
        </p:txBody>
      </p:sp>
      <p:sp>
        <p:nvSpPr>
          <p:cNvPr id="11" name="Content Placeholder 10"/>
          <p:cNvSpPr>
            <a:spLocks noGrp="1"/>
          </p:cNvSpPr>
          <p:nvPr>
            <p:ph sz="quarter" idx="20"/>
          </p:nvPr>
        </p:nvSpPr>
        <p:spPr>
          <a:xfrm>
            <a:off x="1375789" y="4299712"/>
            <a:ext cx="7158611" cy="334694"/>
          </a:xfrm>
        </p:spPr>
        <p:txBody>
          <a:bodyPr tIns="0"/>
          <a:lstStyle/>
          <a:p>
            <a:pPr marL="0" indent="-486918">
              <a:buNone/>
            </a:pPr>
            <a:r>
              <a:rPr lang="en-US" altLang="en-US" sz="2000" dirty="0">
                <a:latin typeface="+mn-lt"/>
                <a:ea typeface="ヒラギノ角ゴ Pro W3" pitchFamily="-84" charset="-128"/>
              </a:rPr>
              <a:t>indicates the </a:t>
            </a:r>
            <a:r>
              <a:rPr lang="en-US" altLang="en-US" sz="2000" dirty="0">
                <a:latin typeface="+mn-lt"/>
              </a:rPr>
              <a:t>amount of labor required for each gallon of wine</a:t>
            </a:r>
            <a:endParaRPr lang="en-US" sz="2000" dirty="0">
              <a:latin typeface="+mn-lt"/>
            </a:endParaRPr>
          </a:p>
        </p:txBody>
      </p:sp>
      <p:sp>
        <p:nvSpPr>
          <p:cNvPr id="15" name="Content Placeholder 14"/>
          <p:cNvSpPr>
            <a:spLocks noGrp="1"/>
          </p:cNvSpPr>
          <p:nvPr>
            <p:ph sz="quarter" idx="21"/>
          </p:nvPr>
        </p:nvSpPr>
        <p:spPr>
          <a:xfrm>
            <a:off x="769620" y="4720082"/>
            <a:ext cx="2761413" cy="344698"/>
          </a:xfrm>
        </p:spPr>
        <p:txBody>
          <a:bodyPr tIns="0"/>
          <a:lstStyle/>
          <a:p>
            <a:pPr marL="0" indent="0">
              <a:buNone/>
            </a:pPr>
            <a:r>
              <a:rPr lang="en-US" altLang="en-US" sz="2000" dirty="0">
                <a:latin typeface="+mn-lt"/>
              </a:rPr>
              <a:t>produced (a constant)</a:t>
            </a:r>
            <a:r>
              <a:rPr lang="en-US" altLang="en-US" sz="2000" dirty="0">
                <a:latin typeface="+mn-lt"/>
                <a:ea typeface="ヒラギノ角ゴ Pro W3" pitchFamily="-84" charset="-128"/>
              </a:rPr>
              <a:t>.</a:t>
            </a:r>
          </a:p>
        </p:txBody>
      </p:sp>
      <p:sp>
        <p:nvSpPr>
          <p:cNvPr id="16" name="Content Placeholder 15"/>
          <p:cNvSpPr>
            <a:spLocks noGrp="1"/>
          </p:cNvSpPr>
          <p:nvPr>
            <p:ph sz="quarter" idx="22"/>
          </p:nvPr>
        </p:nvSpPr>
        <p:spPr>
          <a:xfrm>
            <a:off x="457200" y="5122672"/>
            <a:ext cx="2286000" cy="445008"/>
          </a:xfrm>
        </p:spPr>
        <p:txBody>
          <a:bodyPr/>
          <a:lstStyle/>
          <a:p>
            <a:pPr indent="-255600"/>
            <a:r>
              <a:rPr lang="en-US" altLang="en-US" sz="2000" dirty="0">
                <a:latin typeface="+mn-lt"/>
                <a:ea typeface="ヒラギノ角ゴ Pro W3" pitchFamily="-84" charset="-128"/>
              </a:rPr>
              <a:t>Wine production</a:t>
            </a:r>
            <a:endParaRPr lang="en-US" sz="2000" dirty="0">
              <a:latin typeface="+mn-lt"/>
            </a:endParaRPr>
          </a:p>
        </p:txBody>
      </p:sp>
      <p:sp>
        <p:nvSpPr>
          <p:cNvPr id="17" name="Content Placeholder 16"/>
          <p:cNvSpPr>
            <a:spLocks noGrp="1"/>
          </p:cNvSpPr>
          <p:nvPr>
            <p:ph sz="quarter" idx="23"/>
          </p:nvPr>
        </p:nvSpPr>
        <p:spPr>
          <a:xfrm>
            <a:off x="3326823" y="5180036"/>
            <a:ext cx="4250505" cy="353989"/>
          </a:xfrm>
        </p:spPr>
        <p:txBody>
          <a:bodyPr tIns="0"/>
          <a:lstStyle/>
          <a:p>
            <a:pPr marL="0" indent="-486918">
              <a:buNone/>
            </a:pPr>
            <a:r>
              <a:rPr lang="en-US" altLang="en-US" sz="2000" dirty="0">
                <a:latin typeface="+mn-lt"/>
                <a:ea typeface="ヒラギノ角ゴ Pro W3" pitchFamily="-84" charset="-128"/>
              </a:rPr>
              <a:t>indicates how many total gallons of</a:t>
            </a:r>
            <a:endParaRPr lang="en-US" sz="2000" dirty="0">
              <a:latin typeface="+mn-lt"/>
            </a:endParaRPr>
          </a:p>
        </p:txBody>
      </p:sp>
      <p:sp>
        <p:nvSpPr>
          <p:cNvPr id="18" name="Content Placeholder 17"/>
          <p:cNvSpPr>
            <a:spLocks noGrp="1"/>
          </p:cNvSpPr>
          <p:nvPr>
            <p:ph sz="quarter" idx="24"/>
          </p:nvPr>
        </p:nvSpPr>
        <p:spPr>
          <a:xfrm>
            <a:off x="457201" y="5650257"/>
            <a:ext cx="4698422" cy="360411"/>
          </a:xfrm>
        </p:spPr>
        <p:txBody>
          <a:bodyPr tIns="0"/>
          <a:lstStyle/>
          <a:p>
            <a:pPr marL="255600" indent="0">
              <a:buNone/>
            </a:pPr>
            <a:r>
              <a:rPr lang="en-US" altLang="en-US" sz="2000" dirty="0">
                <a:latin typeface="+mn-lt"/>
                <a:ea typeface="ヒラギノ角ゴ Pro W3" pitchFamily="-84" charset="-128"/>
              </a:rPr>
              <a:t>wine that the home country produces.</a:t>
            </a:r>
          </a:p>
        </p:txBody>
      </p:sp>
      <p:graphicFrame>
        <p:nvGraphicFramePr>
          <p:cNvPr id="12" name="Object 11" descr="a sub start expression L C end expression"/>
          <p:cNvGraphicFramePr>
            <a:graphicFrameLocks noChangeAspect="1"/>
          </p:cNvGraphicFramePr>
          <p:nvPr>
            <p:extLst>
              <p:ext uri="{D42A27DB-BD31-4B8C-83A1-F6EECF244321}">
                <p14:modId xmlns:p14="http://schemas.microsoft.com/office/powerpoint/2010/main" val="1270133848"/>
              </p:ext>
            </p:extLst>
          </p:nvPr>
        </p:nvGraphicFramePr>
        <p:xfrm>
          <a:off x="814582" y="2411095"/>
          <a:ext cx="427478" cy="404979"/>
        </p:xfrm>
        <a:graphic>
          <a:graphicData uri="http://schemas.openxmlformats.org/presentationml/2006/ole">
            <mc:AlternateContent xmlns:mc="http://schemas.openxmlformats.org/markup-compatibility/2006">
              <mc:Choice xmlns:v="urn:schemas-microsoft-com:vml" Requires="v">
                <p:oleObj name="Equation" r:id="rId3" imgW="241200" imgH="228600" progId="Equation.DSMT4">
                  <p:embed/>
                </p:oleObj>
              </mc:Choice>
              <mc:Fallback>
                <p:oleObj name="Equation" r:id="rId3" imgW="241200" imgH="228600" progId="Equation.DSMT4">
                  <p:embed/>
                  <p:pic>
                    <p:nvPicPr>
                      <p:cNvPr id="12" name="Object 11"/>
                      <p:cNvPicPr/>
                      <p:nvPr/>
                    </p:nvPicPr>
                    <p:blipFill>
                      <a:blip r:embed="rId4"/>
                      <a:stretch>
                        <a:fillRect/>
                      </a:stretch>
                    </p:blipFill>
                    <p:spPr>
                      <a:xfrm>
                        <a:off x="814582" y="2411095"/>
                        <a:ext cx="427478" cy="404979"/>
                      </a:xfrm>
                      <a:prstGeom prst="rect">
                        <a:avLst/>
                      </a:prstGeom>
                    </p:spPr>
                  </p:pic>
                </p:oleObj>
              </mc:Fallback>
            </mc:AlternateContent>
          </a:graphicData>
        </a:graphic>
      </p:graphicFrame>
      <p:graphicFrame>
        <p:nvGraphicFramePr>
          <p:cNvPr id="13" name="Object 12" descr="Q sub C"/>
          <p:cNvGraphicFramePr>
            <a:graphicFrameLocks noChangeAspect="1"/>
          </p:cNvGraphicFramePr>
          <p:nvPr>
            <p:extLst>
              <p:ext uri="{D42A27DB-BD31-4B8C-83A1-F6EECF244321}">
                <p14:modId xmlns:p14="http://schemas.microsoft.com/office/powerpoint/2010/main" val="535940597"/>
              </p:ext>
            </p:extLst>
          </p:nvPr>
        </p:nvGraphicFramePr>
        <p:xfrm>
          <a:off x="3112901" y="3416378"/>
          <a:ext cx="316099" cy="334694"/>
        </p:xfrm>
        <a:graphic>
          <a:graphicData uri="http://schemas.openxmlformats.org/presentationml/2006/ole">
            <mc:AlternateContent xmlns:mc="http://schemas.openxmlformats.org/markup-compatibility/2006">
              <mc:Choice xmlns:v="urn:schemas-microsoft-com:vml" Requires="v">
                <p:oleObj name="Equation" r:id="rId5" imgW="215640" imgH="228600" progId="Equation.DSMT4">
                  <p:embed/>
                </p:oleObj>
              </mc:Choice>
              <mc:Fallback>
                <p:oleObj name="Equation" r:id="rId5" imgW="215640" imgH="228600" progId="Equation.DSMT4">
                  <p:embed/>
                  <p:pic>
                    <p:nvPicPr>
                      <p:cNvPr id="13" name="Object 12"/>
                      <p:cNvPicPr/>
                      <p:nvPr/>
                    </p:nvPicPr>
                    <p:blipFill>
                      <a:blip r:embed="rId6"/>
                      <a:stretch>
                        <a:fillRect/>
                      </a:stretch>
                    </p:blipFill>
                    <p:spPr>
                      <a:xfrm>
                        <a:off x="3112901" y="3416378"/>
                        <a:ext cx="316099" cy="334694"/>
                      </a:xfrm>
                      <a:prstGeom prst="rect">
                        <a:avLst/>
                      </a:prstGeom>
                    </p:spPr>
                  </p:pic>
                </p:oleObj>
              </mc:Fallback>
            </mc:AlternateContent>
          </a:graphicData>
        </a:graphic>
      </p:graphicFrame>
      <p:graphicFrame>
        <p:nvGraphicFramePr>
          <p:cNvPr id="14" name="Object 13" descr="a sub start expression L W end expression"/>
          <p:cNvGraphicFramePr>
            <a:graphicFrameLocks noChangeAspect="1"/>
          </p:cNvGraphicFramePr>
          <p:nvPr>
            <p:extLst>
              <p:ext uri="{D42A27DB-BD31-4B8C-83A1-F6EECF244321}">
                <p14:modId xmlns:p14="http://schemas.microsoft.com/office/powerpoint/2010/main" val="2146061949"/>
              </p:ext>
            </p:extLst>
          </p:nvPr>
        </p:nvGraphicFramePr>
        <p:xfrm>
          <a:off x="855851" y="4284472"/>
          <a:ext cx="409069" cy="334694"/>
        </p:xfrm>
        <a:graphic>
          <a:graphicData uri="http://schemas.openxmlformats.org/presentationml/2006/ole">
            <mc:AlternateContent xmlns:mc="http://schemas.openxmlformats.org/markup-compatibility/2006">
              <mc:Choice xmlns:v="urn:schemas-microsoft-com:vml" Requires="v">
                <p:oleObj name="Equation" r:id="rId7" imgW="279360" imgH="228600" progId="Equation.DSMT4">
                  <p:embed/>
                </p:oleObj>
              </mc:Choice>
              <mc:Fallback>
                <p:oleObj name="Equation" r:id="rId7" imgW="279360" imgH="228600" progId="Equation.DSMT4">
                  <p:embed/>
                  <p:pic>
                    <p:nvPicPr>
                      <p:cNvPr id="14" name="Object 13"/>
                      <p:cNvPicPr/>
                      <p:nvPr/>
                    </p:nvPicPr>
                    <p:blipFill>
                      <a:blip r:embed="rId8"/>
                      <a:stretch>
                        <a:fillRect/>
                      </a:stretch>
                    </p:blipFill>
                    <p:spPr>
                      <a:xfrm>
                        <a:off x="855851" y="4284472"/>
                        <a:ext cx="409069" cy="334694"/>
                      </a:xfrm>
                      <a:prstGeom prst="rect">
                        <a:avLst/>
                      </a:prstGeom>
                    </p:spPr>
                  </p:pic>
                </p:oleObj>
              </mc:Fallback>
            </mc:AlternateContent>
          </a:graphicData>
        </a:graphic>
      </p:graphicFrame>
      <p:graphicFrame>
        <p:nvGraphicFramePr>
          <p:cNvPr id="20" name="Object 19" descr="Q sub W"/>
          <p:cNvGraphicFramePr>
            <a:graphicFrameLocks noChangeAspect="1"/>
          </p:cNvGraphicFramePr>
          <p:nvPr>
            <p:extLst>
              <p:ext uri="{D42A27DB-BD31-4B8C-83A1-F6EECF244321}">
                <p14:modId xmlns:p14="http://schemas.microsoft.com/office/powerpoint/2010/main" val="1297037194"/>
              </p:ext>
            </p:extLst>
          </p:nvPr>
        </p:nvGraphicFramePr>
        <p:xfrm>
          <a:off x="2840254" y="5190404"/>
          <a:ext cx="353580" cy="334818"/>
        </p:xfrm>
        <a:graphic>
          <a:graphicData uri="http://schemas.openxmlformats.org/presentationml/2006/ole">
            <mc:AlternateContent xmlns:mc="http://schemas.openxmlformats.org/markup-compatibility/2006">
              <mc:Choice xmlns:v="urn:schemas-microsoft-com:vml" Requires="v">
                <p:oleObj name="Equation" r:id="rId9" imgW="241200" imgH="228600" progId="Equation.DSMT4">
                  <p:embed/>
                </p:oleObj>
              </mc:Choice>
              <mc:Fallback>
                <p:oleObj name="Equation" r:id="rId9" imgW="241200" imgH="228600" progId="Equation.DSMT4">
                  <p:embed/>
                  <p:pic>
                    <p:nvPicPr>
                      <p:cNvPr id="20" name="Object 19"/>
                      <p:cNvPicPr/>
                      <p:nvPr/>
                    </p:nvPicPr>
                    <p:blipFill>
                      <a:blip r:embed="rId10"/>
                      <a:stretch>
                        <a:fillRect/>
                      </a:stretch>
                    </p:blipFill>
                    <p:spPr>
                      <a:xfrm>
                        <a:off x="2840254" y="5190404"/>
                        <a:ext cx="353580" cy="334818"/>
                      </a:xfrm>
                      <a:prstGeom prst="rect">
                        <a:avLst/>
                      </a:prstGeom>
                    </p:spPr>
                  </p:pic>
                </p:oleObj>
              </mc:Fallback>
            </mc:AlternateContent>
          </a:graphicData>
        </a:graphic>
      </p:graphicFrame>
    </p:spTree>
    <p:extLst>
      <p:ext uri="{BB962C8B-B14F-4D97-AF65-F5344CB8AC3E}">
        <p14:creationId xmlns:p14="http://schemas.microsoft.com/office/powerpoint/2010/main" val="3076719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68154-3EFB-49DB-864A-FE27C1F0E630}"/>
              </a:ext>
            </a:extLst>
          </p:cNvPr>
          <p:cNvSpPr>
            <a:spLocks noGrp="1"/>
          </p:cNvSpPr>
          <p:nvPr>
            <p:ph type="title"/>
          </p:nvPr>
        </p:nvSpPr>
        <p:spPr/>
        <p:txBody>
          <a:bodyPr/>
          <a:lstStyle/>
          <a:p>
            <a:r>
              <a:rPr lang="en-US" altLang="en-US" sz="3600" dirty="0">
                <a:solidFill>
                  <a:schemeClr val="tx1"/>
                </a:solidFill>
                <a:ea typeface="ヒラギノ角ゴ Pro W3" pitchFamily="-84" charset="-128"/>
              </a:rPr>
              <a:t>Production Possibilities </a:t>
            </a:r>
            <a:r>
              <a:rPr lang="en-US" altLang="en-US" sz="2000" b="0" dirty="0">
                <a:solidFill>
                  <a:schemeClr val="tx1"/>
                </a:solidFill>
                <a:ea typeface="ヒラギノ角ゴ Pro W3" pitchFamily="-84" charset="-128"/>
              </a:rPr>
              <a:t>(1 of 6)</a:t>
            </a:r>
            <a:endParaRPr lang="en-IN" dirty="0">
              <a:solidFill>
                <a:schemeClr val="tx1"/>
              </a:solidFill>
            </a:endParaRPr>
          </a:p>
        </p:txBody>
      </p:sp>
      <p:sp>
        <p:nvSpPr>
          <p:cNvPr id="3" name="Content Placeholder 2">
            <a:extLst>
              <a:ext uri="{FF2B5EF4-FFF2-40B4-BE49-F238E27FC236}">
                <a16:creationId xmlns:a16="http://schemas.microsoft.com/office/drawing/2014/main" id="{41B8F563-290B-4B1F-A8D7-BA9655C5FAF8}"/>
              </a:ext>
            </a:extLst>
          </p:cNvPr>
          <p:cNvSpPr>
            <a:spLocks noGrp="1"/>
          </p:cNvSpPr>
          <p:nvPr>
            <p:ph sz="quarter" idx="13"/>
          </p:nvPr>
        </p:nvSpPr>
        <p:spPr>
          <a:xfrm>
            <a:off x="457200" y="1556327"/>
            <a:ext cx="8229600" cy="1847273"/>
          </a:xfrm>
        </p:spPr>
        <p:txBody>
          <a:bodyPr/>
          <a:lstStyle/>
          <a:p>
            <a:r>
              <a:rPr lang="en-US" altLang="en-US" sz="2400" dirty="0">
                <a:ea typeface="ヒラギノ角ゴ Pro W3" pitchFamily="-84" charset="-128"/>
              </a:rPr>
              <a:t>The </a:t>
            </a:r>
            <a:r>
              <a:rPr lang="en-US" altLang="en-US" sz="2400" b="1" dirty="0">
                <a:ea typeface="ヒラギノ角ゴ Pro W3" pitchFamily="-84" charset="-128"/>
              </a:rPr>
              <a:t>production possibility frontier</a:t>
            </a:r>
            <a:r>
              <a:rPr lang="en-US" altLang="en-US" sz="2400" dirty="0">
                <a:ea typeface="ヒラギノ角ゴ Pro W3" pitchFamily="-84" charset="-128"/>
              </a:rPr>
              <a:t>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of an economy shows the </a:t>
            </a:r>
            <a:r>
              <a:rPr lang="en-US" altLang="en-US" sz="2400" b="1" dirty="0">
                <a:ea typeface="ヒラギノ角ゴ Pro W3" pitchFamily="-84" charset="-128"/>
              </a:rPr>
              <a:t>maximum</a:t>
            </a:r>
            <a:r>
              <a:rPr lang="en-US" altLang="en-US" sz="2400" dirty="0">
                <a:ea typeface="ヒラギノ角ゴ Pro W3" pitchFamily="-84" charset="-128"/>
              </a:rPr>
              <a:t> amount of a goods that can be produced for a fixed amount of resources.</a:t>
            </a:r>
          </a:p>
          <a:p>
            <a:r>
              <a:rPr lang="en-US" altLang="en-US" sz="2400" dirty="0">
                <a:ea typeface="ヒラギノ角ゴ Pro W3" pitchFamily="-84" charset="-128"/>
              </a:rPr>
              <a:t>The PPF of the home economy is</a:t>
            </a:r>
            <a:endParaRPr lang="en-IN" dirty="0"/>
          </a:p>
        </p:txBody>
      </p:sp>
      <p:graphicFrame>
        <p:nvGraphicFramePr>
          <p:cNvPr id="4" name="Object 3" descr="a sub start expression L C end expression Q sub C + a sub start expression L W end expression Q sub W is less than or equal to L ">
            <a:extLst>
              <a:ext uri="{FF2B5EF4-FFF2-40B4-BE49-F238E27FC236}">
                <a16:creationId xmlns:a16="http://schemas.microsoft.com/office/drawing/2014/main" id="{4FC16E51-AAB5-465F-AB6B-B6EA4918A59B}"/>
              </a:ext>
            </a:extLst>
          </p:cNvPr>
          <p:cNvGraphicFramePr>
            <a:graphicFrameLocks noChangeAspect="1"/>
          </p:cNvGraphicFramePr>
          <p:nvPr>
            <p:extLst>
              <p:ext uri="{D42A27DB-BD31-4B8C-83A1-F6EECF244321}">
                <p14:modId xmlns:p14="http://schemas.microsoft.com/office/powerpoint/2010/main" val="1537489985"/>
              </p:ext>
            </p:extLst>
          </p:nvPr>
        </p:nvGraphicFramePr>
        <p:xfrm>
          <a:off x="3024188" y="3773488"/>
          <a:ext cx="2349500" cy="447675"/>
        </p:xfrm>
        <a:graphic>
          <a:graphicData uri="http://schemas.openxmlformats.org/presentationml/2006/ole">
            <mc:AlternateContent xmlns:mc="http://schemas.openxmlformats.org/markup-compatibility/2006">
              <mc:Choice xmlns:v="urn:schemas-microsoft-com:vml" Requires="v">
                <p:oleObj name="Equation" r:id="rId2" imgW="1206360" imgH="228600" progId="Equation.DSMT4">
                  <p:embed/>
                </p:oleObj>
              </mc:Choice>
              <mc:Fallback>
                <p:oleObj name="Equation" r:id="rId2" imgW="1206360" imgH="228600" progId="Equation.DSMT4">
                  <p:embed/>
                  <p:pic>
                    <p:nvPicPr>
                      <p:cNvPr id="12" name="Object 11"/>
                      <p:cNvPicPr/>
                      <p:nvPr/>
                    </p:nvPicPr>
                    <p:blipFill>
                      <a:blip r:embed="rId3"/>
                      <a:stretch>
                        <a:fillRect/>
                      </a:stretch>
                    </p:blipFill>
                    <p:spPr>
                      <a:xfrm>
                        <a:off x="3024188" y="3773488"/>
                        <a:ext cx="2349500" cy="447675"/>
                      </a:xfrm>
                      <a:prstGeom prst="rect">
                        <a:avLst/>
                      </a:prstGeom>
                    </p:spPr>
                  </p:pic>
                </p:oleObj>
              </mc:Fallback>
            </mc:AlternateContent>
          </a:graphicData>
        </a:graphic>
      </p:graphicFrame>
    </p:spTree>
    <p:extLst>
      <p:ext uri="{BB962C8B-B14F-4D97-AF65-F5344CB8AC3E}">
        <p14:creationId xmlns:p14="http://schemas.microsoft.com/office/powerpoint/2010/main" val="429980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68154-3EFB-49DB-864A-FE27C1F0E630}"/>
              </a:ext>
            </a:extLst>
          </p:cNvPr>
          <p:cNvSpPr>
            <a:spLocks noGrp="1"/>
          </p:cNvSpPr>
          <p:nvPr>
            <p:ph type="title"/>
          </p:nvPr>
        </p:nvSpPr>
        <p:spPr/>
        <p:txBody>
          <a:bodyPr/>
          <a:lstStyle/>
          <a:p>
            <a:r>
              <a:rPr lang="en-US" altLang="en-US" sz="3600" dirty="0">
                <a:solidFill>
                  <a:schemeClr val="tx1"/>
                </a:solidFill>
                <a:ea typeface="ヒラギノ角ゴ Pro W3" pitchFamily="-84" charset="-128"/>
              </a:rPr>
              <a:t>Production Possibilities </a:t>
            </a:r>
            <a:r>
              <a:rPr lang="en-US" altLang="en-US" sz="2000" b="0" dirty="0">
                <a:solidFill>
                  <a:schemeClr val="tx1"/>
                </a:solidFill>
                <a:ea typeface="ヒラギノ角ゴ Pro W3" pitchFamily="-84" charset="-128"/>
              </a:rPr>
              <a:t>(2 of 6)</a:t>
            </a:r>
            <a:endParaRPr lang="en-IN" dirty="0">
              <a:solidFill>
                <a:schemeClr val="tx1"/>
              </a:solidFill>
            </a:endParaRPr>
          </a:p>
        </p:txBody>
      </p:sp>
      <p:sp>
        <p:nvSpPr>
          <p:cNvPr id="3" name="Content Placeholder 2">
            <a:extLst>
              <a:ext uri="{FF2B5EF4-FFF2-40B4-BE49-F238E27FC236}">
                <a16:creationId xmlns:a16="http://schemas.microsoft.com/office/drawing/2014/main" id="{41B8F563-290B-4B1F-A8D7-BA9655C5FAF8}"/>
              </a:ext>
            </a:extLst>
          </p:cNvPr>
          <p:cNvSpPr>
            <a:spLocks noGrp="1"/>
          </p:cNvSpPr>
          <p:nvPr>
            <p:ph sz="quarter" idx="13"/>
          </p:nvPr>
        </p:nvSpPr>
        <p:spPr>
          <a:xfrm>
            <a:off x="457200" y="1556327"/>
            <a:ext cx="5557520" cy="516313"/>
          </a:xfrm>
        </p:spPr>
        <p:txBody>
          <a:bodyPr/>
          <a:lstStyle/>
          <a:p>
            <a:r>
              <a:rPr lang="en-US" altLang="en-US" sz="2400" dirty="0">
                <a:ea typeface="ヒラギノ角ゴ Pro W3" pitchFamily="-84" charset="-128"/>
              </a:rPr>
              <a:t>Maximum home cheese production is</a:t>
            </a:r>
            <a:endParaRPr lang="en-US" sz="2400" dirty="0"/>
          </a:p>
        </p:txBody>
      </p:sp>
      <p:sp>
        <p:nvSpPr>
          <p:cNvPr id="5" name="Content Placeholder 4">
            <a:extLst>
              <a:ext uri="{FF2B5EF4-FFF2-40B4-BE49-F238E27FC236}">
                <a16:creationId xmlns:a16="http://schemas.microsoft.com/office/drawing/2014/main" id="{CC6B9E7E-5511-4B9F-BC0E-A654F3CFD670}"/>
              </a:ext>
            </a:extLst>
          </p:cNvPr>
          <p:cNvSpPr>
            <a:spLocks noGrp="1"/>
          </p:cNvSpPr>
          <p:nvPr>
            <p:ph sz="quarter" idx="14"/>
          </p:nvPr>
        </p:nvSpPr>
        <p:spPr>
          <a:xfrm>
            <a:off x="457200" y="3382645"/>
            <a:ext cx="5201920" cy="498475"/>
          </a:xfrm>
        </p:spPr>
        <p:txBody>
          <a:bodyPr/>
          <a:lstStyle/>
          <a:p>
            <a:r>
              <a:rPr lang="en-US" altLang="en-US" sz="2400" dirty="0">
                <a:ea typeface="ヒラギノ角ゴ Pro W3" pitchFamily="-84" charset="-128"/>
              </a:rPr>
              <a:t>Maximum home wine production is</a:t>
            </a:r>
            <a:endParaRPr lang="en-US" sz="2400" dirty="0"/>
          </a:p>
        </p:txBody>
      </p:sp>
      <p:graphicFrame>
        <p:nvGraphicFramePr>
          <p:cNvPr id="4" name="Object 3" descr="Q sub C = start fraction L over a sub start expression L C end expression end fraction when Q sub W = 0.">
            <a:extLst>
              <a:ext uri="{FF2B5EF4-FFF2-40B4-BE49-F238E27FC236}">
                <a16:creationId xmlns:a16="http://schemas.microsoft.com/office/drawing/2014/main" id="{4FC16E51-AAB5-465F-AB6B-B6EA4918A59B}"/>
              </a:ext>
            </a:extLst>
          </p:cNvPr>
          <p:cNvGraphicFramePr>
            <a:graphicFrameLocks noChangeAspect="1"/>
          </p:cNvGraphicFramePr>
          <p:nvPr>
            <p:extLst>
              <p:ext uri="{D42A27DB-BD31-4B8C-83A1-F6EECF244321}">
                <p14:modId xmlns:p14="http://schemas.microsoft.com/office/powerpoint/2010/main" val="2768318087"/>
              </p:ext>
            </p:extLst>
          </p:nvPr>
        </p:nvGraphicFramePr>
        <p:xfrm>
          <a:off x="2718955" y="2405352"/>
          <a:ext cx="2785341" cy="767773"/>
        </p:xfrm>
        <a:graphic>
          <a:graphicData uri="http://schemas.openxmlformats.org/presentationml/2006/ole">
            <mc:AlternateContent xmlns:mc="http://schemas.openxmlformats.org/markup-compatibility/2006">
              <mc:Choice xmlns:v="urn:schemas-microsoft-com:vml" Requires="v">
                <p:oleObj name="Equation" r:id="rId2" imgW="1574640" imgH="431640" progId="Equation.DSMT4">
                  <p:embed/>
                </p:oleObj>
              </mc:Choice>
              <mc:Fallback>
                <p:oleObj name="Equation" r:id="rId2" imgW="1574640" imgH="431640" progId="Equation.DSMT4">
                  <p:embed/>
                  <p:pic>
                    <p:nvPicPr>
                      <p:cNvPr id="4" name="Object 3">
                        <a:extLst>
                          <a:ext uri="{FF2B5EF4-FFF2-40B4-BE49-F238E27FC236}">
                            <a16:creationId xmlns:a16="http://schemas.microsoft.com/office/drawing/2014/main" id="{4FC16E51-AAB5-465F-AB6B-B6EA4918A59B}"/>
                          </a:ext>
                        </a:extLst>
                      </p:cNvPr>
                      <p:cNvPicPr/>
                      <p:nvPr/>
                    </p:nvPicPr>
                    <p:blipFill>
                      <a:blip r:embed="rId3"/>
                      <a:stretch>
                        <a:fillRect/>
                      </a:stretch>
                    </p:blipFill>
                    <p:spPr>
                      <a:xfrm>
                        <a:off x="2718955" y="2405352"/>
                        <a:ext cx="2785341" cy="767773"/>
                      </a:xfrm>
                      <a:prstGeom prst="rect">
                        <a:avLst/>
                      </a:prstGeom>
                    </p:spPr>
                  </p:pic>
                </p:oleObj>
              </mc:Fallback>
            </mc:AlternateContent>
          </a:graphicData>
        </a:graphic>
      </p:graphicFrame>
      <p:graphicFrame>
        <p:nvGraphicFramePr>
          <p:cNvPr id="6" name="Object 5" descr="Q sub W = start fraction L over a sub start expression L W end expression end fraction when Q sub C = 0.">
            <a:extLst>
              <a:ext uri="{FF2B5EF4-FFF2-40B4-BE49-F238E27FC236}">
                <a16:creationId xmlns:a16="http://schemas.microsoft.com/office/drawing/2014/main" id="{18C238A1-A057-48A3-B232-7F8C92DC9E9C}"/>
              </a:ext>
            </a:extLst>
          </p:cNvPr>
          <p:cNvGraphicFramePr>
            <a:graphicFrameLocks noChangeAspect="1"/>
          </p:cNvGraphicFramePr>
          <p:nvPr>
            <p:extLst>
              <p:ext uri="{D42A27DB-BD31-4B8C-83A1-F6EECF244321}">
                <p14:modId xmlns:p14="http://schemas.microsoft.com/office/powerpoint/2010/main" val="293979824"/>
              </p:ext>
            </p:extLst>
          </p:nvPr>
        </p:nvGraphicFramePr>
        <p:xfrm>
          <a:off x="2487996" y="4102021"/>
          <a:ext cx="3193891" cy="839947"/>
        </p:xfrm>
        <a:graphic>
          <a:graphicData uri="http://schemas.openxmlformats.org/presentationml/2006/ole">
            <mc:AlternateContent xmlns:mc="http://schemas.openxmlformats.org/markup-compatibility/2006">
              <mc:Choice xmlns:v="urn:schemas-microsoft-com:vml" Requires="v">
                <p:oleObj name="Equation" r:id="rId4" imgW="1638000" imgH="431640" progId="Equation.DSMT4">
                  <p:embed/>
                </p:oleObj>
              </mc:Choice>
              <mc:Fallback>
                <p:oleObj name="Equation" r:id="rId4" imgW="1638000" imgH="431640" progId="Equation.DSMT4">
                  <p:embed/>
                  <p:pic>
                    <p:nvPicPr>
                      <p:cNvPr id="0" name=""/>
                      <p:cNvPicPr/>
                      <p:nvPr/>
                    </p:nvPicPr>
                    <p:blipFill>
                      <a:blip r:embed="rId5"/>
                      <a:stretch>
                        <a:fillRect/>
                      </a:stretch>
                    </p:blipFill>
                    <p:spPr>
                      <a:xfrm>
                        <a:off x="2487996" y="4102021"/>
                        <a:ext cx="3193891" cy="839947"/>
                      </a:xfrm>
                      <a:prstGeom prst="rect">
                        <a:avLst/>
                      </a:prstGeom>
                    </p:spPr>
                  </p:pic>
                </p:oleObj>
              </mc:Fallback>
            </mc:AlternateContent>
          </a:graphicData>
        </a:graphic>
      </p:graphicFrame>
    </p:spTree>
    <p:extLst>
      <p:ext uri="{BB962C8B-B14F-4D97-AF65-F5344CB8AC3E}">
        <p14:creationId xmlns:p14="http://schemas.microsoft.com/office/powerpoint/2010/main" val="1766563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75868-6491-401B-A010-93E901C6D223}"/>
              </a:ext>
            </a:extLst>
          </p:cNvPr>
          <p:cNvSpPr>
            <a:spLocks noGrp="1"/>
          </p:cNvSpPr>
          <p:nvPr>
            <p:ph type="title"/>
          </p:nvPr>
        </p:nvSpPr>
        <p:spPr/>
        <p:txBody>
          <a:bodyPr/>
          <a:lstStyle/>
          <a:p>
            <a:r>
              <a:rPr lang="en-US" altLang="en-US" sz="3600" dirty="0">
                <a:solidFill>
                  <a:schemeClr val="tx1"/>
                </a:solidFill>
                <a:ea typeface="ヒラギノ角ゴ Pro W3" pitchFamily="-84" charset="-128"/>
              </a:rPr>
              <a:t>Production Possibilities </a:t>
            </a:r>
            <a:r>
              <a:rPr lang="en-US" altLang="en-US" sz="2000" b="0" dirty="0">
                <a:solidFill>
                  <a:schemeClr val="tx1"/>
                </a:solidFill>
                <a:ea typeface="ヒラギノ角ゴ Pro W3" pitchFamily="-84" charset="-128"/>
              </a:rPr>
              <a:t>(3 of 6)</a:t>
            </a:r>
            <a:endParaRPr lang="en-US" dirty="0">
              <a:solidFill>
                <a:schemeClr val="tx1"/>
              </a:solidFill>
            </a:endParaRPr>
          </a:p>
        </p:txBody>
      </p:sp>
      <p:sp>
        <p:nvSpPr>
          <p:cNvPr id="3" name="Content Placeholder 2">
            <a:extLst>
              <a:ext uri="{FF2B5EF4-FFF2-40B4-BE49-F238E27FC236}">
                <a16:creationId xmlns:a16="http://schemas.microsoft.com/office/drawing/2014/main" id="{CF83A61B-AA0C-4387-A760-619D294F1659}"/>
              </a:ext>
            </a:extLst>
          </p:cNvPr>
          <p:cNvSpPr>
            <a:spLocks noGrp="1"/>
          </p:cNvSpPr>
          <p:nvPr>
            <p:ph sz="quarter" idx="13"/>
          </p:nvPr>
        </p:nvSpPr>
        <p:spPr>
          <a:xfrm>
            <a:off x="457200" y="1552575"/>
            <a:ext cx="8229600" cy="743585"/>
          </a:xfrm>
        </p:spPr>
        <p:txBody>
          <a:bodyPr/>
          <a:lstStyle/>
          <a:p>
            <a:r>
              <a:rPr lang="en-US" altLang="en-US" sz="2000" dirty="0">
                <a:ea typeface="ヒラギノ角ゴ Pro W3" pitchFamily="-84" charset="-128"/>
              </a:rPr>
              <a:t>For example, suppose that the home economy’</a:t>
            </a:r>
            <a:r>
              <a:rPr lang="en-US" altLang="ja-JP" sz="2000" dirty="0">
                <a:ea typeface="ヒラギノ角ゴ Pro W3" pitchFamily="-84" charset="-128"/>
              </a:rPr>
              <a:t>s labor supply is 1,000 hours.</a:t>
            </a:r>
          </a:p>
        </p:txBody>
      </p:sp>
      <p:sp>
        <p:nvSpPr>
          <p:cNvPr id="4" name="Content Placeholder 3">
            <a:extLst>
              <a:ext uri="{FF2B5EF4-FFF2-40B4-BE49-F238E27FC236}">
                <a16:creationId xmlns:a16="http://schemas.microsoft.com/office/drawing/2014/main" id="{3B7FFCF3-5FEB-4E4A-B4FD-FB4E5AF7B332}"/>
              </a:ext>
            </a:extLst>
          </p:cNvPr>
          <p:cNvSpPr>
            <a:spLocks noGrp="1"/>
          </p:cNvSpPr>
          <p:nvPr>
            <p:ph sz="quarter" idx="14"/>
          </p:nvPr>
        </p:nvSpPr>
        <p:spPr>
          <a:xfrm>
            <a:off x="944880" y="2403772"/>
            <a:ext cx="365760" cy="414867"/>
          </a:xfrm>
        </p:spPr>
        <p:txBody>
          <a:bodyPr/>
          <a:lstStyle/>
          <a:p>
            <a:pPr marL="0" lvl="1" indent="0">
              <a:spcBef>
                <a:spcPts val="0"/>
              </a:spcBef>
            </a:pPr>
            <a:r>
              <a:rPr lang="en-US" sz="2000" dirty="0"/>
              <a:t> </a:t>
            </a:r>
            <a:r>
              <a:rPr lang="en-US" sz="100" dirty="0"/>
              <a:t> </a:t>
            </a:r>
          </a:p>
        </p:txBody>
      </p:sp>
      <p:sp>
        <p:nvSpPr>
          <p:cNvPr id="5" name="Content Placeholder 4">
            <a:extLst>
              <a:ext uri="{FF2B5EF4-FFF2-40B4-BE49-F238E27FC236}">
                <a16:creationId xmlns:a16="http://schemas.microsoft.com/office/drawing/2014/main" id="{2930773F-901E-4BAB-8877-AD36CA83AA8D}"/>
              </a:ext>
            </a:extLst>
          </p:cNvPr>
          <p:cNvSpPr>
            <a:spLocks noGrp="1"/>
          </p:cNvSpPr>
          <p:nvPr>
            <p:ph sz="quarter" idx="15"/>
          </p:nvPr>
        </p:nvSpPr>
        <p:spPr>
          <a:xfrm>
            <a:off x="3321216" y="2398740"/>
            <a:ext cx="5261081" cy="434188"/>
          </a:xfrm>
        </p:spPr>
        <p:txBody>
          <a:bodyPr/>
          <a:lstStyle/>
          <a:p>
            <a:pPr marL="0" lvl="1" indent="0">
              <a:buNone/>
            </a:pPr>
            <a:r>
              <a:rPr lang="en-US" altLang="en-US" sz="2000" dirty="0">
                <a:ea typeface="ヒラギノ角ゴ Pro W3" pitchFamily="-84" charset="-128"/>
              </a:rPr>
              <a:t>so one hour of labor produces one pound of</a:t>
            </a:r>
            <a:endParaRPr lang="en-US" sz="2000" dirty="0"/>
          </a:p>
        </p:txBody>
      </p:sp>
      <p:sp>
        <p:nvSpPr>
          <p:cNvPr id="6" name="Content Placeholder 5">
            <a:extLst>
              <a:ext uri="{FF2B5EF4-FFF2-40B4-BE49-F238E27FC236}">
                <a16:creationId xmlns:a16="http://schemas.microsoft.com/office/drawing/2014/main" id="{F7FF5E49-088C-4DDA-85F7-23C684E068FB}"/>
              </a:ext>
            </a:extLst>
          </p:cNvPr>
          <p:cNvSpPr>
            <a:spLocks noGrp="1"/>
          </p:cNvSpPr>
          <p:nvPr>
            <p:ph sz="quarter" idx="16"/>
          </p:nvPr>
        </p:nvSpPr>
        <p:spPr>
          <a:xfrm>
            <a:off x="457199" y="2945865"/>
            <a:ext cx="4466813" cy="477607"/>
          </a:xfrm>
        </p:spPr>
        <p:txBody>
          <a:bodyPr/>
          <a:lstStyle/>
          <a:p>
            <a:pPr marL="741600" lvl="1" indent="0">
              <a:buNone/>
            </a:pPr>
            <a:r>
              <a:rPr lang="en-US" altLang="en-US" sz="2000" dirty="0">
                <a:ea typeface="ヒラギノ角ゴ Pro W3" pitchFamily="-84" charset="-128"/>
              </a:rPr>
              <a:t>cheese in the home country.</a:t>
            </a:r>
          </a:p>
        </p:txBody>
      </p:sp>
      <p:sp>
        <p:nvSpPr>
          <p:cNvPr id="7" name="Content Placeholder 6">
            <a:extLst>
              <a:ext uri="{FF2B5EF4-FFF2-40B4-BE49-F238E27FC236}">
                <a16:creationId xmlns:a16="http://schemas.microsoft.com/office/drawing/2014/main" id="{ACAF24B4-F237-4345-A78C-AC34F7AEC745}"/>
              </a:ext>
            </a:extLst>
          </p:cNvPr>
          <p:cNvSpPr>
            <a:spLocks noGrp="1"/>
          </p:cNvSpPr>
          <p:nvPr>
            <p:ph sz="quarter" idx="17"/>
          </p:nvPr>
        </p:nvSpPr>
        <p:spPr>
          <a:xfrm>
            <a:off x="944880" y="3485204"/>
            <a:ext cx="365760" cy="444171"/>
          </a:xfrm>
        </p:spPr>
        <p:txBody>
          <a:bodyPr/>
          <a:lstStyle/>
          <a:p>
            <a:pPr marL="0" lvl="1" indent="0">
              <a:spcBef>
                <a:spcPts val="0"/>
              </a:spcBef>
            </a:pPr>
            <a:r>
              <a:rPr lang="en-US" sz="2000" dirty="0"/>
              <a:t> </a:t>
            </a:r>
            <a:r>
              <a:rPr lang="en-US" sz="100" dirty="0"/>
              <a:t> </a:t>
            </a:r>
          </a:p>
        </p:txBody>
      </p:sp>
      <p:sp>
        <p:nvSpPr>
          <p:cNvPr id="8" name="Content Placeholder 7">
            <a:extLst>
              <a:ext uri="{FF2B5EF4-FFF2-40B4-BE49-F238E27FC236}">
                <a16:creationId xmlns:a16="http://schemas.microsoft.com/office/drawing/2014/main" id="{F3A19E83-0DDE-4378-8B74-D5AE58A0BA38}"/>
              </a:ext>
            </a:extLst>
          </p:cNvPr>
          <p:cNvSpPr>
            <a:spLocks noGrp="1"/>
          </p:cNvSpPr>
          <p:nvPr>
            <p:ph sz="quarter" idx="18"/>
          </p:nvPr>
        </p:nvSpPr>
        <p:spPr>
          <a:xfrm>
            <a:off x="3814405" y="3485204"/>
            <a:ext cx="4175449" cy="464944"/>
          </a:xfrm>
        </p:spPr>
        <p:txBody>
          <a:bodyPr/>
          <a:lstStyle/>
          <a:p>
            <a:pPr marL="0" lvl="1" indent="0">
              <a:buNone/>
            </a:pPr>
            <a:r>
              <a:rPr lang="en-US" altLang="en-US" sz="2000" dirty="0">
                <a:ea typeface="ヒラギノ角ゴ Pro W3" pitchFamily="-84" charset="-128"/>
              </a:rPr>
              <a:t>so two hours of labor produces one</a:t>
            </a:r>
            <a:endParaRPr lang="en-US" sz="2000" dirty="0"/>
          </a:p>
        </p:txBody>
      </p:sp>
      <p:sp>
        <p:nvSpPr>
          <p:cNvPr id="9" name="Content Placeholder 8">
            <a:extLst>
              <a:ext uri="{FF2B5EF4-FFF2-40B4-BE49-F238E27FC236}">
                <a16:creationId xmlns:a16="http://schemas.microsoft.com/office/drawing/2014/main" id="{763ACECB-5E77-44DD-9DA3-BFB40C96E06C}"/>
              </a:ext>
            </a:extLst>
          </p:cNvPr>
          <p:cNvSpPr>
            <a:spLocks noGrp="1"/>
          </p:cNvSpPr>
          <p:nvPr>
            <p:ph sz="quarter" idx="19"/>
          </p:nvPr>
        </p:nvSpPr>
        <p:spPr>
          <a:xfrm>
            <a:off x="457201" y="4017759"/>
            <a:ext cx="5180075" cy="478888"/>
          </a:xfrm>
        </p:spPr>
        <p:txBody>
          <a:bodyPr/>
          <a:lstStyle/>
          <a:p>
            <a:pPr marL="741600" lvl="1" indent="0">
              <a:buNone/>
            </a:pPr>
            <a:r>
              <a:rPr lang="en-US" altLang="en-US" sz="2000" dirty="0">
                <a:ea typeface="ヒラギノ角ゴ Pro W3" pitchFamily="-84" charset="-128"/>
              </a:rPr>
              <a:t>gallon of wine in the home country.</a:t>
            </a:r>
          </a:p>
        </p:txBody>
      </p:sp>
      <p:sp>
        <p:nvSpPr>
          <p:cNvPr id="10" name="Content Placeholder 9">
            <a:extLst>
              <a:ext uri="{FF2B5EF4-FFF2-40B4-BE49-F238E27FC236}">
                <a16:creationId xmlns:a16="http://schemas.microsoft.com/office/drawing/2014/main" id="{370279AF-2F2C-4773-A622-1C14C05A4B5E}"/>
              </a:ext>
            </a:extLst>
          </p:cNvPr>
          <p:cNvSpPr>
            <a:spLocks noGrp="1"/>
          </p:cNvSpPr>
          <p:nvPr>
            <p:ph sz="quarter" idx="20"/>
          </p:nvPr>
        </p:nvSpPr>
        <p:spPr>
          <a:xfrm>
            <a:off x="457201" y="4646206"/>
            <a:ext cx="2560319" cy="440397"/>
          </a:xfrm>
        </p:spPr>
        <p:txBody>
          <a:bodyPr/>
          <a:lstStyle/>
          <a:p>
            <a:r>
              <a:rPr lang="en-US" altLang="en-US" sz="2000" dirty="0">
                <a:ea typeface="ヒラギノ角ゴ Pro W3" pitchFamily="-84" charset="-128"/>
              </a:rPr>
              <a:t>The P</a:t>
            </a:r>
            <a:r>
              <a:rPr lang="en-US" altLang="en-US" sz="100" dirty="0">
                <a:ea typeface="ヒラギノ角ゴ Pro W3" pitchFamily="-84" charset="-128"/>
              </a:rPr>
              <a:t> </a:t>
            </a:r>
            <a:r>
              <a:rPr lang="en-US" altLang="en-US" sz="2000" dirty="0">
                <a:ea typeface="ヒラギノ角ゴ Pro W3" pitchFamily="-84" charset="-128"/>
              </a:rPr>
              <a:t>P</a:t>
            </a:r>
            <a:r>
              <a:rPr lang="en-US" altLang="en-US" sz="100" dirty="0">
                <a:ea typeface="ヒラギノ角ゴ Pro W3" pitchFamily="-84" charset="-128"/>
              </a:rPr>
              <a:t> </a:t>
            </a:r>
            <a:r>
              <a:rPr lang="en-US" altLang="en-US" sz="2000" dirty="0">
                <a:ea typeface="ヒラギノ角ゴ Pro W3" pitchFamily="-84" charset="-128"/>
              </a:rPr>
              <a:t>F equation</a:t>
            </a:r>
            <a:endParaRPr lang="en-US" sz="2000" dirty="0"/>
          </a:p>
        </p:txBody>
      </p:sp>
      <p:sp>
        <p:nvSpPr>
          <p:cNvPr id="11" name="Content Placeholder 10">
            <a:extLst>
              <a:ext uri="{FF2B5EF4-FFF2-40B4-BE49-F238E27FC236}">
                <a16:creationId xmlns:a16="http://schemas.microsoft.com/office/drawing/2014/main" id="{AD239BBB-35CF-4155-B473-B593C99CAB61}"/>
              </a:ext>
            </a:extLst>
          </p:cNvPr>
          <p:cNvSpPr>
            <a:spLocks noGrp="1"/>
          </p:cNvSpPr>
          <p:nvPr>
            <p:ph sz="quarter" idx="21"/>
          </p:nvPr>
        </p:nvSpPr>
        <p:spPr>
          <a:xfrm>
            <a:off x="457200" y="5247091"/>
            <a:ext cx="8229600" cy="995192"/>
          </a:xfrm>
        </p:spPr>
        <p:txBody>
          <a:bodyPr/>
          <a:lstStyle/>
          <a:p>
            <a:r>
              <a:rPr lang="en-US" altLang="en-US" sz="2000" dirty="0">
                <a:ea typeface="ヒラギノ角ゴ Pro W3" pitchFamily="-84" charset="-128"/>
              </a:rPr>
              <a:t>Maximum cheese production is 1,000 pounds.</a:t>
            </a:r>
          </a:p>
          <a:p>
            <a:r>
              <a:rPr lang="en-US" altLang="en-US" sz="2000" dirty="0">
                <a:ea typeface="ヒラギノ角ゴ Pro W3" pitchFamily="-84" charset="-128"/>
              </a:rPr>
              <a:t>Maximum wine production is 500 gallons.</a:t>
            </a:r>
            <a:endParaRPr lang="en-US" sz="2000" dirty="0"/>
          </a:p>
        </p:txBody>
      </p:sp>
      <p:graphicFrame>
        <p:nvGraphicFramePr>
          <p:cNvPr id="27" name="Object 26" descr="a sub start expression L C end expression = 1 hour per pound,">
            <a:extLst>
              <a:ext uri="{FF2B5EF4-FFF2-40B4-BE49-F238E27FC236}">
                <a16:creationId xmlns:a16="http://schemas.microsoft.com/office/drawing/2014/main" id="{5DFC3288-5D54-477D-937A-53134448C332}"/>
              </a:ext>
            </a:extLst>
          </p:cNvPr>
          <p:cNvGraphicFramePr>
            <a:graphicFrameLocks noChangeAspect="1"/>
          </p:cNvGraphicFramePr>
          <p:nvPr>
            <p:extLst>
              <p:ext uri="{D42A27DB-BD31-4B8C-83A1-F6EECF244321}">
                <p14:modId xmlns:p14="http://schemas.microsoft.com/office/powerpoint/2010/main" val="3883464247"/>
              </p:ext>
            </p:extLst>
          </p:nvPr>
        </p:nvGraphicFramePr>
        <p:xfrm>
          <a:off x="1376221" y="2476501"/>
          <a:ext cx="1820359" cy="368163"/>
        </p:xfrm>
        <a:graphic>
          <a:graphicData uri="http://schemas.openxmlformats.org/presentationml/2006/ole">
            <mc:AlternateContent xmlns:mc="http://schemas.openxmlformats.org/markup-compatibility/2006">
              <mc:Choice xmlns:v="urn:schemas-microsoft-com:vml" Requires="v">
                <p:oleObj name="Equation" r:id="rId3" imgW="1130040" imgH="228600" progId="Equation.DSMT4">
                  <p:embed/>
                </p:oleObj>
              </mc:Choice>
              <mc:Fallback>
                <p:oleObj name="Equation" r:id="rId3" imgW="1130040" imgH="228600" progId="Equation.DSMT4">
                  <p:embed/>
                  <p:pic>
                    <p:nvPicPr>
                      <p:cNvPr id="17" name="Object 16"/>
                      <p:cNvPicPr/>
                      <p:nvPr/>
                    </p:nvPicPr>
                    <p:blipFill>
                      <a:blip r:embed="rId4"/>
                      <a:stretch>
                        <a:fillRect/>
                      </a:stretch>
                    </p:blipFill>
                    <p:spPr>
                      <a:xfrm>
                        <a:off x="1376221" y="2476501"/>
                        <a:ext cx="1820359" cy="368163"/>
                      </a:xfrm>
                      <a:prstGeom prst="rect">
                        <a:avLst/>
                      </a:prstGeom>
                    </p:spPr>
                  </p:pic>
                </p:oleObj>
              </mc:Fallback>
            </mc:AlternateContent>
          </a:graphicData>
        </a:graphic>
      </p:graphicFrame>
      <p:graphicFrame>
        <p:nvGraphicFramePr>
          <p:cNvPr id="28" name="Object 27" descr="a sub start expression L W end expression = 2 hours per gallon,">
            <a:extLst>
              <a:ext uri="{FF2B5EF4-FFF2-40B4-BE49-F238E27FC236}">
                <a16:creationId xmlns:a16="http://schemas.microsoft.com/office/drawing/2014/main" id="{67062A89-E497-431F-8846-CC2FD09C93C1}"/>
              </a:ext>
            </a:extLst>
          </p:cNvPr>
          <p:cNvGraphicFramePr>
            <a:graphicFrameLocks noChangeAspect="1"/>
          </p:cNvGraphicFramePr>
          <p:nvPr>
            <p:extLst>
              <p:ext uri="{D42A27DB-BD31-4B8C-83A1-F6EECF244321}">
                <p14:modId xmlns:p14="http://schemas.microsoft.com/office/powerpoint/2010/main" val="1055081851"/>
              </p:ext>
            </p:extLst>
          </p:nvPr>
        </p:nvGraphicFramePr>
        <p:xfrm>
          <a:off x="1376221" y="3561212"/>
          <a:ext cx="2372603" cy="368163"/>
        </p:xfrm>
        <a:graphic>
          <a:graphicData uri="http://schemas.openxmlformats.org/presentationml/2006/ole">
            <mc:AlternateContent xmlns:mc="http://schemas.openxmlformats.org/markup-compatibility/2006">
              <mc:Choice xmlns:v="urn:schemas-microsoft-com:vml" Requires="v">
                <p:oleObj name="Equation" r:id="rId5" imgW="1473120" imgH="228600" progId="Equation.DSMT4">
                  <p:embed/>
                </p:oleObj>
              </mc:Choice>
              <mc:Fallback>
                <p:oleObj name="Equation" r:id="rId5" imgW="1473120" imgH="228600" progId="Equation.DSMT4">
                  <p:embed/>
                  <p:pic>
                    <p:nvPicPr>
                      <p:cNvPr id="18" name="Object 17"/>
                      <p:cNvPicPr/>
                      <p:nvPr/>
                    </p:nvPicPr>
                    <p:blipFill>
                      <a:blip r:embed="rId6"/>
                      <a:stretch>
                        <a:fillRect/>
                      </a:stretch>
                    </p:blipFill>
                    <p:spPr>
                      <a:xfrm>
                        <a:off x="1376221" y="3561212"/>
                        <a:ext cx="2372603" cy="368163"/>
                      </a:xfrm>
                      <a:prstGeom prst="rect">
                        <a:avLst/>
                      </a:prstGeom>
                    </p:spPr>
                  </p:pic>
                </p:oleObj>
              </mc:Fallback>
            </mc:AlternateContent>
          </a:graphicData>
        </a:graphic>
      </p:graphicFrame>
      <p:graphicFrame>
        <p:nvGraphicFramePr>
          <p:cNvPr id="29" name="Object 28" descr="a sub start expression L C end expression Q sub C + a sub start expression L W end expression Q sub W is less than or equal to L becomes Q sub C + 2 Q sub W is less than or equal to 1,000.">
            <a:extLst>
              <a:ext uri="{FF2B5EF4-FFF2-40B4-BE49-F238E27FC236}">
                <a16:creationId xmlns:a16="http://schemas.microsoft.com/office/drawing/2014/main" id="{1F62A488-ACF3-47D8-9F4A-3222AA224D02}"/>
              </a:ext>
            </a:extLst>
          </p:cNvPr>
          <p:cNvGraphicFramePr>
            <a:graphicFrameLocks noChangeAspect="1"/>
          </p:cNvGraphicFramePr>
          <p:nvPr>
            <p:extLst>
              <p:ext uri="{D42A27DB-BD31-4B8C-83A1-F6EECF244321}">
                <p14:modId xmlns:p14="http://schemas.microsoft.com/office/powerpoint/2010/main" val="484842100"/>
              </p:ext>
            </p:extLst>
          </p:nvPr>
        </p:nvGraphicFramePr>
        <p:xfrm>
          <a:off x="3119120" y="4726247"/>
          <a:ext cx="5052009" cy="368163"/>
        </p:xfrm>
        <a:graphic>
          <a:graphicData uri="http://schemas.openxmlformats.org/presentationml/2006/ole">
            <mc:AlternateContent xmlns:mc="http://schemas.openxmlformats.org/markup-compatibility/2006">
              <mc:Choice xmlns:v="urn:schemas-microsoft-com:vml" Requires="v">
                <p:oleObj name="Equation" r:id="rId7" imgW="3136680" imgH="228600" progId="Equation.DSMT4">
                  <p:embed/>
                </p:oleObj>
              </mc:Choice>
              <mc:Fallback>
                <p:oleObj name="Equation" r:id="rId7" imgW="3136680" imgH="228600" progId="Equation.DSMT4">
                  <p:embed/>
                  <p:pic>
                    <p:nvPicPr>
                      <p:cNvPr id="19" name="Object 18"/>
                      <p:cNvPicPr/>
                      <p:nvPr/>
                    </p:nvPicPr>
                    <p:blipFill>
                      <a:blip r:embed="rId8"/>
                      <a:stretch>
                        <a:fillRect/>
                      </a:stretch>
                    </p:blipFill>
                    <p:spPr>
                      <a:xfrm>
                        <a:off x="3119120" y="4726247"/>
                        <a:ext cx="5052009" cy="368163"/>
                      </a:xfrm>
                      <a:prstGeom prst="rect">
                        <a:avLst/>
                      </a:prstGeom>
                    </p:spPr>
                  </p:pic>
                </p:oleObj>
              </mc:Fallback>
            </mc:AlternateContent>
          </a:graphicData>
        </a:graphic>
      </p:graphicFrame>
    </p:spTree>
    <p:extLst>
      <p:ext uri="{BB962C8B-B14F-4D97-AF65-F5344CB8AC3E}">
        <p14:creationId xmlns:p14="http://schemas.microsoft.com/office/powerpoint/2010/main" val="1277371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6243-0863-43B1-9B28-31CB557F6CE6}"/>
              </a:ext>
            </a:extLst>
          </p:cNvPr>
          <p:cNvSpPr>
            <a:spLocks noGrp="1"/>
          </p:cNvSpPr>
          <p:nvPr>
            <p:ph type="title"/>
          </p:nvPr>
        </p:nvSpPr>
        <p:spPr/>
        <p:txBody>
          <a:bodyPr>
            <a:normAutofit fontScale="90000"/>
          </a:bodyPr>
          <a:lstStyle/>
          <a:p>
            <a:r>
              <a:rPr lang="en-US" altLang="en-US" sz="3200" dirty="0">
                <a:solidFill>
                  <a:schemeClr val="tx1"/>
                </a:solidFill>
                <a:ea typeface="ヒラギノ角ゴ Pro W3" pitchFamily="-84" charset="-128"/>
              </a:rPr>
              <a:t>Figure 3.1 Home’</a:t>
            </a:r>
            <a:r>
              <a:rPr lang="en-US" altLang="ja-JP" sz="3200" dirty="0">
                <a:solidFill>
                  <a:schemeClr val="tx1"/>
                </a:solidFill>
                <a:ea typeface="ヒラギノ角ゴ Pro W3" pitchFamily="-84" charset="-128"/>
              </a:rPr>
              <a:t>s Production Possibility Frontier</a:t>
            </a:r>
            <a:endParaRPr lang="en-IN" sz="3200" dirty="0">
              <a:solidFill>
                <a:schemeClr val="tx1"/>
              </a:solidFill>
            </a:endParaRPr>
          </a:p>
        </p:txBody>
      </p:sp>
      <p:pic>
        <p:nvPicPr>
          <p:cNvPr id="6" name="Content Placeholder 5" descr="A graph plots home wine production in gallons, Q sub w, versus home cheese production in pounds, Q sub c. For long description in Notes pane, press F6.">
            <a:extLst>
              <a:ext uri="{FF2B5EF4-FFF2-40B4-BE49-F238E27FC236}">
                <a16:creationId xmlns:a16="http://schemas.microsoft.com/office/drawing/2014/main" id="{32D60F2C-325E-4684-9E6A-8B7EB0B9CE19}"/>
              </a:ext>
            </a:extLst>
          </p:cNvPr>
          <p:cNvPicPr>
            <a:picLocks noGrp="1" noChangeAspect="1"/>
          </p:cNvPicPr>
          <p:nvPr>
            <p:ph sz="quarter" idx="13"/>
          </p:nvPr>
        </p:nvPicPr>
        <p:blipFill>
          <a:blip r:embed="rId3"/>
          <a:stretch>
            <a:fillRect/>
          </a:stretch>
        </p:blipFill>
        <p:spPr>
          <a:xfrm>
            <a:off x="2049154" y="1312650"/>
            <a:ext cx="4310674" cy="3938223"/>
          </a:xfrm>
        </p:spPr>
      </p:pic>
      <p:sp>
        <p:nvSpPr>
          <p:cNvPr id="4" name="Content Placeholder 3">
            <a:extLst>
              <a:ext uri="{FF2B5EF4-FFF2-40B4-BE49-F238E27FC236}">
                <a16:creationId xmlns:a16="http://schemas.microsoft.com/office/drawing/2014/main" id="{DFF10311-7FE5-4422-99BF-FB77E196BE0F}"/>
              </a:ext>
            </a:extLst>
          </p:cNvPr>
          <p:cNvSpPr>
            <a:spLocks noGrp="1"/>
          </p:cNvSpPr>
          <p:nvPr>
            <p:ph sz="quarter" idx="14"/>
          </p:nvPr>
        </p:nvSpPr>
        <p:spPr>
          <a:xfrm>
            <a:off x="457200" y="5451123"/>
            <a:ext cx="8382000" cy="878840"/>
          </a:xfrm>
        </p:spPr>
        <p:txBody>
          <a:bodyPr/>
          <a:lstStyle/>
          <a:p>
            <a:pPr marL="432" indent="0">
              <a:buNone/>
            </a:pPr>
            <a:r>
              <a:rPr lang="en-US" sz="2400" dirty="0"/>
              <a:t>The line </a:t>
            </a:r>
            <a:r>
              <a:rPr lang="en-US" sz="2400" i="1" dirty="0"/>
              <a:t>P</a:t>
            </a:r>
            <a:r>
              <a:rPr lang="en-US" sz="100" i="1" dirty="0"/>
              <a:t> </a:t>
            </a:r>
            <a:r>
              <a:rPr lang="en-US" sz="2400" i="1" dirty="0"/>
              <a:t>F </a:t>
            </a:r>
            <a:r>
              <a:rPr lang="en-US" sz="2400" dirty="0"/>
              <a:t>shows the maximum amount of cheese Home can produce given any production of wine, and vice versa.</a:t>
            </a:r>
          </a:p>
        </p:txBody>
      </p:sp>
    </p:spTree>
    <p:extLst>
      <p:ext uri="{BB962C8B-B14F-4D97-AF65-F5344CB8AC3E}">
        <p14:creationId xmlns:p14="http://schemas.microsoft.com/office/powerpoint/2010/main" val="2685473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Production Possibilities </a:t>
            </a:r>
            <a:r>
              <a:rPr lang="en-US" altLang="en-US" sz="2000" b="0" dirty="0">
                <a:latin typeface="+mj-lt"/>
                <a:ea typeface="ヒラギノ角ゴ Pro W3" pitchFamily="-84" charset="-128"/>
              </a:rPr>
              <a:t>(4 of 6)</a:t>
            </a:r>
            <a:endParaRPr lang="en-IN" sz="2000" dirty="0">
              <a:latin typeface="+mj-lt"/>
            </a:endParaRPr>
          </a:p>
        </p:txBody>
      </p:sp>
      <p:sp>
        <p:nvSpPr>
          <p:cNvPr id="3" name="Content Placeholder 2"/>
          <p:cNvSpPr>
            <a:spLocks noGrp="1"/>
          </p:cNvSpPr>
          <p:nvPr>
            <p:ph idx="1"/>
          </p:nvPr>
        </p:nvSpPr>
        <p:spPr>
          <a:xfrm>
            <a:off x="457200" y="1600201"/>
            <a:ext cx="8229600" cy="792803"/>
          </a:xfrm>
        </p:spPr>
        <p:txBody>
          <a:bodyPr/>
          <a:lstStyle/>
          <a:p>
            <a:pPr indent="-255600"/>
            <a:r>
              <a:rPr lang="en-US" altLang="en-US" sz="2000" dirty="0">
                <a:latin typeface="+mn-lt"/>
                <a:ea typeface="ヒラギノ角ゴ Pro W3" pitchFamily="-84" charset="-128"/>
              </a:rPr>
              <a:t>The opportunity cost of cheese is how many gallons of wine Home must stop producing in order to make one more pound of cheese:</a:t>
            </a:r>
            <a:endParaRPr lang="en-US" sz="2000" dirty="0">
              <a:latin typeface="+mn-lt"/>
            </a:endParaRPr>
          </a:p>
        </p:txBody>
      </p:sp>
      <p:sp>
        <p:nvSpPr>
          <p:cNvPr id="4" name="Content Placeholder 3"/>
          <p:cNvSpPr>
            <a:spLocks noGrp="1"/>
          </p:cNvSpPr>
          <p:nvPr>
            <p:ph idx="13"/>
          </p:nvPr>
        </p:nvSpPr>
        <p:spPr>
          <a:xfrm>
            <a:off x="457200" y="3388596"/>
            <a:ext cx="8229600" cy="1468412"/>
          </a:xfrm>
        </p:spPr>
        <p:txBody>
          <a:bodyPr/>
          <a:lstStyle/>
          <a:p>
            <a:pPr lvl="1" indent="-284400"/>
            <a:r>
              <a:rPr lang="en-US" altLang="en-US" sz="2000" dirty="0">
                <a:latin typeface="+mn-lt"/>
                <a:ea typeface="ヒラギノ角ゴ Pro W3" pitchFamily="-84" charset="-128"/>
              </a:rPr>
              <a:t>The opportunity cost is constant because the unit labor requirements are both constant.</a:t>
            </a:r>
          </a:p>
          <a:p>
            <a:pPr lvl="1" indent="-284400"/>
            <a:r>
              <a:rPr lang="en-US" altLang="en-US" sz="2000" dirty="0">
                <a:latin typeface="+mn-lt"/>
                <a:ea typeface="ヒラギノ角ゴ Pro W3" pitchFamily="-84" charset="-128"/>
              </a:rPr>
              <a:t>The opportunity cost of cheese appears as the absolute value of the slope of the P</a:t>
            </a:r>
            <a:r>
              <a:rPr lang="en-US" altLang="en-US" sz="100" dirty="0">
                <a:latin typeface="+mn-lt"/>
                <a:ea typeface="ヒラギノ角ゴ Pro W3" pitchFamily="-84" charset="-128"/>
              </a:rPr>
              <a:t> </a:t>
            </a:r>
            <a:r>
              <a:rPr lang="en-US" altLang="en-US" sz="2000" dirty="0">
                <a:latin typeface="+mn-lt"/>
                <a:ea typeface="ヒラギノ角ゴ Pro W3" pitchFamily="-84" charset="-128"/>
              </a:rPr>
              <a:t>P</a:t>
            </a:r>
            <a:r>
              <a:rPr lang="en-US" altLang="en-US" sz="100" dirty="0">
                <a:latin typeface="+mn-lt"/>
                <a:ea typeface="ヒラギノ角ゴ Pro W3" pitchFamily="-84" charset="-128"/>
              </a:rPr>
              <a:t> </a:t>
            </a:r>
            <a:r>
              <a:rPr lang="en-US" altLang="en-US" sz="2000" dirty="0">
                <a:latin typeface="+mn-lt"/>
                <a:ea typeface="ヒラギノ角ゴ Pro W3" pitchFamily="-84" charset="-128"/>
              </a:rPr>
              <a:t>F.</a:t>
            </a:r>
            <a:endParaRPr lang="en-US" sz="2000" dirty="0">
              <a:latin typeface="+mn-lt"/>
            </a:endParaRPr>
          </a:p>
        </p:txBody>
      </p:sp>
      <p:graphicFrame>
        <p:nvGraphicFramePr>
          <p:cNvPr id="11" name="Object 10" descr="start fraction a sub start expression L C end expression over a sub start expression L W end expression end fraction"/>
          <p:cNvGraphicFramePr>
            <a:graphicFrameLocks noChangeAspect="1"/>
          </p:cNvGraphicFramePr>
          <p:nvPr>
            <p:extLst>
              <p:ext uri="{D42A27DB-BD31-4B8C-83A1-F6EECF244321}">
                <p14:modId xmlns:p14="http://schemas.microsoft.com/office/powerpoint/2010/main" val="1977912674"/>
              </p:ext>
            </p:extLst>
          </p:nvPr>
        </p:nvGraphicFramePr>
        <p:xfrm>
          <a:off x="4290765" y="2497070"/>
          <a:ext cx="562471" cy="787459"/>
        </p:xfrm>
        <a:graphic>
          <a:graphicData uri="http://schemas.openxmlformats.org/presentationml/2006/ole">
            <mc:AlternateContent xmlns:mc="http://schemas.openxmlformats.org/markup-compatibility/2006">
              <mc:Choice xmlns:v="urn:schemas-microsoft-com:vml" Requires="v">
                <p:oleObj name="Equation" r:id="rId3" imgW="317160" imgH="444240" progId="Equation.DSMT4">
                  <p:embed/>
                </p:oleObj>
              </mc:Choice>
              <mc:Fallback>
                <p:oleObj name="Equation" r:id="rId3" imgW="317160" imgH="444240" progId="Equation.DSMT4">
                  <p:embed/>
                  <p:pic>
                    <p:nvPicPr>
                      <p:cNvPr id="11" name="Object 10"/>
                      <p:cNvPicPr/>
                      <p:nvPr/>
                    </p:nvPicPr>
                    <p:blipFill>
                      <a:blip r:embed="rId4"/>
                      <a:stretch>
                        <a:fillRect/>
                      </a:stretch>
                    </p:blipFill>
                    <p:spPr>
                      <a:xfrm>
                        <a:off x="4290765" y="2497070"/>
                        <a:ext cx="562471" cy="787459"/>
                      </a:xfrm>
                      <a:prstGeom prst="rect">
                        <a:avLst/>
                      </a:prstGeom>
                    </p:spPr>
                  </p:pic>
                </p:oleObj>
              </mc:Fallback>
            </mc:AlternateContent>
          </a:graphicData>
        </a:graphic>
      </p:graphicFrame>
      <p:graphicFrame>
        <p:nvGraphicFramePr>
          <p:cNvPr id="12" name="Object 11" descr="Q sub W = start fraction L over a sub start expression L W end expression end fraction minus left parenthesis start fraction a sub start expression L C end expression over a sub start expression L W end expression end fraction right parenthesis Q sub C "/>
          <p:cNvGraphicFramePr>
            <a:graphicFrameLocks noChangeAspect="1"/>
          </p:cNvGraphicFramePr>
          <p:nvPr>
            <p:extLst>
              <p:ext uri="{D42A27DB-BD31-4B8C-83A1-F6EECF244321}">
                <p14:modId xmlns:p14="http://schemas.microsoft.com/office/powerpoint/2010/main" val="214897013"/>
              </p:ext>
            </p:extLst>
          </p:nvPr>
        </p:nvGraphicFramePr>
        <p:xfrm>
          <a:off x="3521102" y="4961075"/>
          <a:ext cx="2101797" cy="707159"/>
        </p:xfrm>
        <a:graphic>
          <a:graphicData uri="http://schemas.openxmlformats.org/presentationml/2006/ole">
            <mc:AlternateContent xmlns:mc="http://schemas.openxmlformats.org/markup-compatibility/2006">
              <mc:Choice xmlns:v="urn:schemas-microsoft-com:vml" Requires="v">
                <p:oleObj name="Equation" r:id="rId5" imgW="1434960" imgH="482400" progId="Equation.DSMT4">
                  <p:embed/>
                </p:oleObj>
              </mc:Choice>
              <mc:Fallback>
                <p:oleObj name="Equation" r:id="rId5" imgW="1434960" imgH="482400" progId="Equation.DSMT4">
                  <p:embed/>
                  <p:pic>
                    <p:nvPicPr>
                      <p:cNvPr id="12" name="Object 11"/>
                      <p:cNvPicPr/>
                      <p:nvPr/>
                    </p:nvPicPr>
                    <p:blipFill>
                      <a:blip r:embed="rId6"/>
                      <a:stretch>
                        <a:fillRect/>
                      </a:stretch>
                    </p:blipFill>
                    <p:spPr>
                      <a:xfrm>
                        <a:off x="3521102" y="4961075"/>
                        <a:ext cx="2101797" cy="707159"/>
                      </a:xfrm>
                      <a:prstGeom prst="rect">
                        <a:avLst/>
                      </a:prstGeom>
                    </p:spPr>
                  </p:pic>
                </p:oleObj>
              </mc:Fallback>
            </mc:AlternateContent>
          </a:graphicData>
        </a:graphic>
      </p:graphicFrame>
    </p:spTree>
    <p:extLst>
      <p:ext uri="{BB962C8B-B14F-4D97-AF65-F5344CB8AC3E}">
        <p14:creationId xmlns:p14="http://schemas.microsoft.com/office/powerpoint/2010/main" val="4010729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Production Possibilities </a:t>
            </a:r>
            <a:r>
              <a:rPr lang="en-US" altLang="en-US" sz="2000" b="0" dirty="0">
                <a:latin typeface="+mj-lt"/>
                <a:ea typeface="ヒラギノ角ゴ Pro W3" pitchFamily="-84" charset="-128"/>
              </a:rPr>
              <a:t>(5 of 6)</a:t>
            </a:r>
            <a:endParaRPr lang="en-IN" sz="2000" dirty="0"/>
          </a:p>
        </p:txBody>
      </p:sp>
      <p:sp>
        <p:nvSpPr>
          <p:cNvPr id="3" name="Content Placeholder 2"/>
          <p:cNvSpPr>
            <a:spLocks noGrp="1"/>
          </p:cNvSpPr>
          <p:nvPr>
            <p:ph idx="1"/>
          </p:nvPr>
        </p:nvSpPr>
        <p:spPr>
          <a:xfrm>
            <a:off x="457199" y="1600201"/>
            <a:ext cx="7227651" cy="502919"/>
          </a:xfrm>
        </p:spPr>
        <p:txBody>
          <a:bodyPr/>
          <a:lstStyle/>
          <a:p>
            <a:pPr indent="-255600"/>
            <a:r>
              <a:rPr lang="en-US" altLang="en-US" sz="2400" dirty="0">
                <a:latin typeface="+mn-lt"/>
                <a:ea typeface="ヒラギノ角ゴ Pro W3" pitchFamily="-84" charset="-128"/>
              </a:rPr>
              <a:t>Producing an additional pound of cheese requires</a:t>
            </a:r>
            <a:endParaRPr lang="en-US" sz="2400" dirty="0">
              <a:latin typeface="+mn-lt"/>
            </a:endParaRPr>
          </a:p>
        </p:txBody>
      </p:sp>
      <p:sp>
        <p:nvSpPr>
          <p:cNvPr id="12" name="Content Placeholder 11"/>
          <p:cNvSpPr>
            <a:spLocks noGrp="1"/>
          </p:cNvSpPr>
          <p:nvPr>
            <p:ph idx="13"/>
          </p:nvPr>
        </p:nvSpPr>
        <p:spPr>
          <a:xfrm>
            <a:off x="457200" y="2165773"/>
            <a:ext cx="2438400" cy="502918"/>
          </a:xfrm>
        </p:spPr>
        <p:txBody>
          <a:bodyPr/>
          <a:lstStyle/>
          <a:p>
            <a:pPr marL="255600" indent="0">
              <a:buNone/>
            </a:pPr>
            <a:r>
              <a:rPr lang="en-US" altLang="en-US" sz="2400" dirty="0">
                <a:latin typeface="+mn-lt"/>
                <a:ea typeface="ヒラギノ角ゴ Pro W3" pitchFamily="-84" charset="-128"/>
              </a:rPr>
              <a:t>hours of labor.</a:t>
            </a:r>
          </a:p>
        </p:txBody>
      </p:sp>
      <p:sp>
        <p:nvSpPr>
          <p:cNvPr id="13" name="Content Placeholder 12"/>
          <p:cNvSpPr>
            <a:spLocks noGrp="1"/>
          </p:cNvSpPr>
          <p:nvPr>
            <p:ph idx="14"/>
          </p:nvPr>
        </p:nvSpPr>
        <p:spPr>
          <a:xfrm>
            <a:off x="457200" y="2736718"/>
            <a:ext cx="8321040" cy="888350"/>
          </a:xfrm>
        </p:spPr>
        <p:txBody>
          <a:bodyPr/>
          <a:lstStyle/>
          <a:p>
            <a:pPr indent="-255600"/>
            <a:r>
              <a:rPr lang="en-US" altLang="en-US" sz="2400" b="1" dirty="0">
                <a:latin typeface="+mn-lt"/>
                <a:ea typeface="ヒラギノ角ゴ Pro W3" pitchFamily="-84" charset="-128"/>
              </a:rPr>
              <a:t>Each</a:t>
            </a:r>
            <a:r>
              <a:rPr lang="en-US" altLang="en-US" sz="2400" dirty="0">
                <a:latin typeface="+mn-lt"/>
                <a:ea typeface="ヒラギノ角ゴ Pro W3" pitchFamily="-84" charset="-128"/>
              </a:rPr>
              <a:t> hour devoted to cheese production could have been used instead to produce an amount of wine equal to</a:t>
            </a:r>
            <a:endParaRPr lang="en-IN" sz="2400" dirty="0">
              <a:latin typeface="+mn-lt"/>
            </a:endParaRPr>
          </a:p>
        </p:txBody>
      </p:sp>
      <p:graphicFrame>
        <p:nvGraphicFramePr>
          <p:cNvPr id="19" name="Object 18" descr="a sub start expression L C end expression"/>
          <p:cNvGraphicFramePr>
            <a:graphicFrameLocks noChangeAspect="1"/>
          </p:cNvGraphicFramePr>
          <p:nvPr>
            <p:extLst>
              <p:ext uri="{D42A27DB-BD31-4B8C-83A1-F6EECF244321}">
                <p14:modId xmlns:p14="http://schemas.microsoft.com/office/powerpoint/2010/main" val="924814154"/>
              </p:ext>
            </p:extLst>
          </p:nvPr>
        </p:nvGraphicFramePr>
        <p:xfrm>
          <a:off x="7830711" y="1668296"/>
          <a:ext cx="470226" cy="445477"/>
        </p:xfrm>
        <a:graphic>
          <a:graphicData uri="http://schemas.openxmlformats.org/presentationml/2006/ole">
            <mc:AlternateContent xmlns:mc="http://schemas.openxmlformats.org/markup-compatibility/2006">
              <mc:Choice xmlns:v="urn:schemas-microsoft-com:vml" Requires="v">
                <p:oleObj name="Equation" r:id="rId3" imgW="241200" imgH="228600" progId="Equation.DSMT4">
                  <p:embed/>
                </p:oleObj>
              </mc:Choice>
              <mc:Fallback>
                <p:oleObj name="Equation" r:id="rId3" imgW="241200" imgH="228600" progId="Equation.DSMT4">
                  <p:embed/>
                  <p:pic>
                    <p:nvPicPr>
                      <p:cNvPr id="19" name="Object 18"/>
                      <p:cNvPicPr/>
                      <p:nvPr/>
                    </p:nvPicPr>
                    <p:blipFill>
                      <a:blip r:embed="rId4"/>
                      <a:stretch>
                        <a:fillRect/>
                      </a:stretch>
                    </p:blipFill>
                    <p:spPr>
                      <a:xfrm>
                        <a:off x="7830711" y="1668296"/>
                        <a:ext cx="470226" cy="445477"/>
                      </a:xfrm>
                      <a:prstGeom prst="rect">
                        <a:avLst/>
                      </a:prstGeom>
                    </p:spPr>
                  </p:pic>
                </p:oleObj>
              </mc:Fallback>
            </mc:AlternateContent>
          </a:graphicData>
        </a:graphic>
      </p:graphicFrame>
      <p:graphicFrame>
        <p:nvGraphicFramePr>
          <p:cNvPr id="11" name="Object 10" descr="An expression. For long description in Notes pane, press F6."/>
          <p:cNvGraphicFramePr>
            <a:graphicFrameLocks noChangeAspect="1"/>
          </p:cNvGraphicFramePr>
          <p:nvPr>
            <p:extLst>
              <p:ext uri="{D42A27DB-BD31-4B8C-83A1-F6EECF244321}">
                <p14:modId xmlns:p14="http://schemas.microsoft.com/office/powerpoint/2010/main" val="1113292017"/>
              </p:ext>
            </p:extLst>
          </p:nvPr>
        </p:nvGraphicFramePr>
        <p:xfrm>
          <a:off x="2203212" y="3948668"/>
          <a:ext cx="4737576" cy="1524476"/>
        </p:xfrm>
        <a:graphic>
          <a:graphicData uri="http://schemas.openxmlformats.org/presentationml/2006/ole">
            <mc:AlternateContent xmlns:mc="http://schemas.openxmlformats.org/markup-compatibility/2006">
              <mc:Choice xmlns:v="urn:schemas-microsoft-com:vml" Requires="v">
                <p:oleObj name="Equation" r:id="rId5" imgW="2209680" imgH="711000" progId="Equation.DSMT4">
                  <p:embed/>
                </p:oleObj>
              </mc:Choice>
              <mc:Fallback>
                <p:oleObj name="Equation" r:id="rId5" imgW="2209680" imgH="711000" progId="Equation.DSMT4">
                  <p:embed/>
                  <p:pic>
                    <p:nvPicPr>
                      <p:cNvPr id="11" name="Object 10"/>
                      <p:cNvPicPr/>
                      <p:nvPr/>
                    </p:nvPicPr>
                    <p:blipFill>
                      <a:blip r:embed="rId6"/>
                      <a:stretch>
                        <a:fillRect/>
                      </a:stretch>
                    </p:blipFill>
                    <p:spPr>
                      <a:xfrm>
                        <a:off x="2203212" y="3948668"/>
                        <a:ext cx="4737576" cy="1524476"/>
                      </a:xfrm>
                      <a:prstGeom prst="rect">
                        <a:avLst/>
                      </a:prstGeom>
                    </p:spPr>
                  </p:pic>
                </p:oleObj>
              </mc:Fallback>
            </mc:AlternateContent>
          </a:graphicData>
        </a:graphic>
      </p:graphicFrame>
    </p:spTree>
    <p:extLst>
      <p:ext uri="{BB962C8B-B14F-4D97-AF65-F5344CB8AC3E}">
        <p14:creationId xmlns:p14="http://schemas.microsoft.com/office/powerpoint/2010/main" val="2885063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Production Possibilities </a:t>
            </a:r>
            <a:r>
              <a:rPr lang="en-US" altLang="en-US" sz="2000" b="0" dirty="0">
                <a:latin typeface="+mj-lt"/>
                <a:ea typeface="ヒラギノ角ゴ Pro W3" pitchFamily="-84" charset="-128"/>
              </a:rPr>
              <a:t>(6 of 6)</a:t>
            </a:r>
            <a:endParaRPr lang="en-US" sz="2000" b="0" dirty="0"/>
          </a:p>
        </p:txBody>
      </p:sp>
      <p:sp>
        <p:nvSpPr>
          <p:cNvPr id="4" name="Content Placeholder 3"/>
          <p:cNvSpPr>
            <a:spLocks noGrp="1"/>
          </p:cNvSpPr>
          <p:nvPr>
            <p:ph idx="1"/>
          </p:nvPr>
        </p:nvSpPr>
        <p:spPr>
          <a:xfrm>
            <a:off x="457200" y="1600201"/>
            <a:ext cx="8229600" cy="890080"/>
          </a:xfrm>
        </p:spPr>
        <p:txBody>
          <a:bodyPr/>
          <a:lstStyle/>
          <a:p>
            <a:pPr indent="-255600"/>
            <a:r>
              <a:rPr lang="en-US" altLang="en-US" sz="2400" dirty="0">
                <a:latin typeface="+mn-lt"/>
                <a:ea typeface="ヒラギノ角ゴ Pro W3" pitchFamily="-84" charset="-128"/>
              </a:rPr>
              <a:t>For example, if one hour of labor is moved to cheese production, that additional hour could have produced</a:t>
            </a:r>
            <a:endParaRPr lang="en-US" sz="2400" dirty="0">
              <a:latin typeface="+mn-lt"/>
            </a:endParaRPr>
          </a:p>
        </p:txBody>
      </p:sp>
      <p:sp>
        <p:nvSpPr>
          <p:cNvPr id="5" name="Content Placeholder 4"/>
          <p:cNvSpPr>
            <a:spLocks noGrp="1"/>
          </p:cNvSpPr>
          <p:nvPr>
            <p:ph idx="13"/>
          </p:nvPr>
        </p:nvSpPr>
        <p:spPr>
          <a:xfrm>
            <a:off x="457200" y="3687365"/>
            <a:ext cx="7879404" cy="550651"/>
          </a:xfrm>
        </p:spPr>
        <p:txBody>
          <a:bodyPr/>
          <a:lstStyle/>
          <a:p>
            <a:pPr indent="-255600"/>
            <a:r>
              <a:rPr lang="en-US" altLang="en-US" sz="2400" dirty="0">
                <a:latin typeface="+mn-lt"/>
                <a:ea typeface="ヒラギノ角ゴ Pro W3" pitchFamily="-84" charset="-128"/>
              </a:rPr>
              <a:t>Opportunity cost of producing one pound of cheese is</a:t>
            </a:r>
            <a:endParaRPr lang="en-US" sz="2400" dirty="0">
              <a:latin typeface="+mn-lt"/>
            </a:endParaRPr>
          </a:p>
        </p:txBody>
      </p:sp>
      <p:sp>
        <p:nvSpPr>
          <p:cNvPr id="6" name="Content Placeholder 5"/>
          <p:cNvSpPr>
            <a:spLocks noGrp="1"/>
          </p:cNvSpPr>
          <p:nvPr>
            <p:ph idx="14"/>
          </p:nvPr>
        </p:nvSpPr>
        <p:spPr>
          <a:xfrm>
            <a:off x="1309244" y="4416526"/>
            <a:ext cx="4086029" cy="550651"/>
          </a:xfrm>
        </p:spPr>
        <p:txBody>
          <a:bodyPr/>
          <a:lstStyle/>
          <a:p>
            <a:pPr marL="0" indent="-486918">
              <a:buNone/>
            </a:pPr>
            <a:r>
              <a:rPr lang="en-US" altLang="en-US" sz="2400" dirty="0">
                <a:latin typeface="+mn-lt"/>
                <a:ea typeface="ヒラギノ角ゴ Pro W3" pitchFamily="-84" charset="-128"/>
              </a:rPr>
              <a:t>gallon of wine not produced.</a:t>
            </a:r>
            <a:endParaRPr lang="en-US" sz="2400" dirty="0">
              <a:latin typeface="+mn-lt"/>
            </a:endParaRPr>
          </a:p>
        </p:txBody>
      </p:sp>
      <p:graphicFrame>
        <p:nvGraphicFramePr>
          <p:cNvPr id="8" name="Object 7" descr="Start fraction 1 hour over left parenthesis 2 hours per gallon of wine right parenthesis end fraction = left parenthesis 1 half right parenthesis gallons of wine."/>
          <p:cNvGraphicFramePr>
            <a:graphicFrameLocks noChangeAspect="1"/>
          </p:cNvGraphicFramePr>
          <p:nvPr>
            <p:extLst>
              <p:ext uri="{D42A27DB-BD31-4B8C-83A1-F6EECF244321}">
                <p14:modId xmlns:p14="http://schemas.microsoft.com/office/powerpoint/2010/main" val="4283361964"/>
              </p:ext>
            </p:extLst>
          </p:nvPr>
        </p:nvGraphicFramePr>
        <p:xfrm>
          <a:off x="972344" y="2712217"/>
          <a:ext cx="6589712" cy="800100"/>
        </p:xfrm>
        <a:graphic>
          <a:graphicData uri="http://schemas.openxmlformats.org/presentationml/2006/ole">
            <mc:AlternateContent xmlns:mc="http://schemas.openxmlformats.org/markup-compatibility/2006">
              <mc:Choice xmlns:v="urn:schemas-microsoft-com:vml" Requires="v">
                <p:oleObj name="Equation" r:id="rId3" imgW="3555720" imgH="431640" progId="Equation.DSMT4">
                  <p:embed/>
                </p:oleObj>
              </mc:Choice>
              <mc:Fallback>
                <p:oleObj name="Equation" r:id="rId3" imgW="3555720" imgH="431640" progId="Equation.DSMT4">
                  <p:embed/>
                  <p:pic>
                    <p:nvPicPr>
                      <p:cNvPr id="8" name="Object 7"/>
                      <p:cNvPicPr/>
                      <p:nvPr/>
                    </p:nvPicPr>
                    <p:blipFill>
                      <a:blip r:embed="rId4"/>
                      <a:stretch>
                        <a:fillRect/>
                      </a:stretch>
                    </p:blipFill>
                    <p:spPr>
                      <a:xfrm>
                        <a:off x="972344" y="2712217"/>
                        <a:ext cx="6589712" cy="800100"/>
                      </a:xfrm>
                      <a:prstGeom prst="rect">
                        <a:avLst/>
                      </a:prstGeom>
                    </p:spPr>
                  </p:pic>
                </p:oleObj>
              </mc:Fallback>
            </mc:AlternateContent>
          </a:graphicData>
        </a:graphic>
      </p:graphicFrame>
      <p:graphicFrame>
        <p:nvGraphicFramePr>
          <p:cNvPr id="10" name="Object 9" descr="1 half"/>
          <p:cNvGraphicFramePr>
            <a:graphicFrameLocks noChangeAspect="1"/>
          </p:cNvGraphicFramePr>
          <p:nvPr>
            <p:extLst>
              <p:ext uri="{D42A27DB-BD31-4B8C-83A1-F6EECF244321}">
                <p14:modId xmlns:p14="http://schemas.microsoft.com/office/powerpoint/2010/main" val="1777096668"/>
              </p:ext>
            </p:extLst>
          </p:nvPr>
        </p:nvGraphicFramePr>
        <p:xfrm>
          <a:off x="827088" y="4377614"/>
          <a:ext cx="280987" cy="728663"/>
        </p:xfrm>
        <a:graphic>
          <a:graphicData uri="http://schemas.openxmlformats.org/presentationml/2006/ole">
            <mc:AlternateContent xmlns:mc="http://schemas.openxmlformats.org/markup-compatibility/2006">
              <mc:Choice xmlns:v="urn:schemas-microsoft-com:vml" Requires="v">
                <p:oleObj name="Equation" r:id="rId5" imgW="152280" imgH="393480" progId="Equation.DSMT4">
                  <p:embed/>
                </p:oleObj>
              </mc:Choice>
              <mc:Fallback>
                <p:oleObj name="Equation" r:id="rId5" imgW="152280" imgH="393480" progId="Equation.DSMT4">
                  <p:embed/>
                  <p:pic>
                    <p:nvPicPr>
                      <p:cNvPr id="10" name="Object 9"/>
                      <p:cNvPicPr/>
                      <p:nvPr/>
                    </p:nvPicPr>
                    <p:blipFill>
                      <a:blip r:embed="rId6"/>
                      <a:stretch>
                        <a:fillRect/>
                      </a:stretch>
                    </p:blipFill>
                    <p:spPr>
                      <a:xfrm>
                        <a:off x="827088" y="4377614"/>
                        <a:ext cx="280987" cy="728663"/>
                      </a:xfrm>
                      <a:prstGeom prst="rect">
                        <a:avLst/>
                      </a:prstGeom>
                    </p:spPr>
                  </p:pic>
                </p:oleObj>
              </mc:Fallback>
            </mc:AlternateContent>
          </a:graphicData>
        </a:graphic>
      </p:graphicFrame>
    </p:spTree>
    <p:extLst>
      <p:ext uri="{BB962C8B-B14F-4D97-AF65-F5344CB8AC3E}">
        <p14:creationId xmlns:p14="http://schemas.microsoft.com/office/powerpoint/2010/main" val="4191771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(1 of 7)</a:t>
            </a:r>
            <a:endParaRPr lang="en-US" sz="2000" dirty="0">
              <a:latin typeface="+mj-lt"/>
              <a:cs typeface="Times New Roman" panose="02020603050405020304" pitchFamily="18" charset="0"/>
            </a:endParaRPr>
          </a:p>
        </p:txBody>
      </p:sp>
      <p:sp>
        <p:nvSpPr>
          <p:cNvPr id="29" name="Content Placeholder 28"/>
          <p:cNvSpPr>
            <a:spLocks noGrp="1"/>
          </p:cNvSpPr>
          <p:nvPr>
            <p:ph idx="1"/>
          </p:nvPr>
        </p:nvSpPr>
        <p:spPr>
          <a:xfrm>
            <a:off x="457201" y="1600201"/>
            <a:ext cx="297179" cy="435823"/>
          </a:xfrm>
        </p:spPr>
        <p:txBody>
          <a:bodyPr/>
          <a:lstStyle/>
          <a:p>
            <a:pPr marL="0" indent="0">
              <a:spcBef>
                <a:spcPts val="0"/>
              </a:spcBef>
            </a:pPr>
            <a:r>
              <a:rPr lang="en-US" sz="2000" dirty="0">
                <a:latin typeface="+mn-lt"/>
              </a:rPr>
              <a:t> </a:t>
            </a:r>
            <a:r>
              <a:rPr lang="en-US" sz="100" dirty="0">
                <a:latin typeface="+mn-lt"/>
              </a:rPr>
              <a:t> </a:t>
            </a:r>
          </a:p>
        </p:txBody>
      </p:sp>
      <p:sp>
        <p:nvSpPr>
          <p:cNvPr id="30" name="Content Placeholder 29"/>
          <p:cNvSpPr>
            <a:spLocks noGrp="1"/>
          </p:cNvSpPr>
          <p:nvPr>
            <p:ph idx="13"/>
          </p:nvPr>
        </p:nvSpPr>
        <p:spPr>
          <a:xfrm>
            <a:off x="1236291" y="1641711"/>
            <a:ext cx="2655477" cy="362349"/>
          </a:xfrm>
        </p:spPr>
        <p:txBody>
          <a:bodyPr tIns="0" bIns="0"/>
          <a:lstStyle/>
          <a:p>
            <a:pPr marL="0" indent="-486918">
              <a:buNone/>
            </a:pPr>
            <a:r>
              <a:rPr lang="en-US" altLang="en-US" sz="2000" dirty="0">
                <a:latin typeface="+mn-lt"/>
                <a:ea typeface="ヒラギノ角ゴ Pro W3" pitchFamily="-84" charset="-128"/>
              </a:rPr>
              <a:t>is the price of cheese;</a:t>
            </a:r>
            <a:endParaRPr lang="en-US" sz="2000" dirty="0">
              <a:latin typeface="+mn-lt"/>
            </a:endParaRPr>
          </a:p>
        </p:txBody>
      </p:sp>
      <p:sp>
        <p:nvSpPr>
          <p:cNvPr id="31" name="Content Placeholder 30"/>
          <p:cNvSpPr>
            <a:spLocks noGrp="1"/>
          </p:cNvSpPr>
          <p:nvPr>
            <p:ph idx="14"/>
          </p:nvPr>
        </p:nvSpPr>
        <p:spPr>
          <a:xfrm>
            <a:off x="4343494" y="1641711"/>
            <a:ext cx="2413216" cy="333609"/>
          </a:xfrm>
        </p:spPr>
        <p:txBody>
          <a:bodyPr tIns="0" bIns="0"/>
          <a:lstStyle/>
          <a:p>
            <a:pPr marL="0" indent="-486918">
              <a:buNone/>
            </a:pPr>
            <a:r>
              <a:rPr lang="en-US" altLang="en-US" sz="2000" dirty="0">
                <a:latin typeface="+mn-lt"/>
                <a:ea typeface="ヒラギノ角ゴ Pro W3" pitchFamily="-84" charset="-128"/>
              </a:rPr>
              <a:t>is the price of wine.</a:t>
            </a:r>
            <a:endParaRPr lang="en-US" sz="2000" dirty="0">
              <a:latin typeface="+mn-lt"/>
            </a:endParaRPr>
          </a:p>
        </p:txBody>
      </p:sp>
      <p:sp>
        <p:nvSpPr>
          <p:cNvPr id="32" name="Content Placeholder 31"/>
          <p:cNvSpPr>
            <a:spLocks noGrp="1"/>
          </p:cNvSpPr>
          <p:nvPr>
            <p:ph idx="15"/>
          </p:nvPr>
        </p:nvSpPr>
        <p:spPr>
          <a:xfrm>
            <a:off x="457202" y="2103120"/>
            <a:ext cx="336286" cy="447824"/>
          </a:xfrm>
        </p:spPr>
        <p:txBody>
          <a:bodyPr/>
          <a:lstStyle/>
          <a:p>
            <a:pPr marL="0" indent="0">
              <a:spcBef>
                <a:spcPts val="0"/>
              </a:spcBef>
            </a:pPr>
            <a:r>
              <a:rPr lang="en-US" sz="2000" dirty="0">
                <a:latin typeface="+mn-lt"/>
              </a:rPr>
              <a:t> </a:t>
            </a:r>
            <a:r>
              <a:rPr lang="en-US" sz="100" dirty="0">
                <a:latin typeface="+mn-lt"/>
              </a:rPr>
              <a:t> </a:t>
            </a:r>
          </a:p>
        </p:txBody>
      </p:sp>
      <p:sp>
        <p:nvSpPr>
          <p:cNvPr id="33" name="Content Placeholder 32"/>
          <p:cNvSpPr>
            <a:spLocks noGrp="1"/>
          </p:cNvSpPr>
          <p:nvPr>
            <p:ph idx="16"/>
          </p:nvPr>
        </p:nvSpPr>
        <p:spPr>
          <a:xfrm>
            <a:off x="1346585" y="2227786"/>
            <a:ext cx="5957083" cy="345297"/>
          </a:xfrm>
        </p:spPr>
        <p:txBody>
          <a:bodyPr tIns="0" bIns="0"/>
          <a:lstStyle/>
          <a:p>
            <a:pPr marL="0" indent="-486918">
              <a:buNone/>
            </a:pPr>
            <a:r>
              <a:rPr lang="en-US" altLang="en-US" sz="2000" dirty="0">
                <a:latin typeface="+mn-lt"/>
                <a:ea typeface="ヒラギノ角ゴ Pro W3" pitchFamily="-84" charset="-128"/>
              </a:rPr>
              <a:t>is the wage paid to workers who make cheese, and</a:t>
            </a:r>
            <a:endParaRPr lang="en-US" sz="2000" dirty="0">
              <a:latin typeface="+mn-lt"/>
            </a:endParaRPr>
          </a:p>
        </p:txBody>
      </p:sp>
      <p:sp>
        <p:nvSpPr>
          <p:cNvPr id="34" name="Content Placeholder 33"/>
          <p:cNvSpPr>
            <a:spLocks noGrp="1"/>
          </p:cNvSpPr>
          <p:nvPr>
            <p:ph sz="quarter" idx="17"/>
          </p:nvPr>
        </p:nvSpPr>
        <p:spPr>
          <a:xfrm>
            <a:off x="457201" y="2649168"/>
            <a:ext cx="5516879" cy="337872"/>
          </a:xfrm>
        </p:spPr>
        <p:txBody>
          <a:bodyPr tIns="0" bIns="0"/>
          <a:lstStyle/>
          <a:p>
            <a:pPr marL="255600" indent="0">
              <a:buNone/>
            </a:pPr>
            <a:r>
              <a:rPr lang="en-US" altLang="en-US" sz="2000" dirty="0">
                <a:latin typeface="+mn-lt"/>
                <a:ea typeface="ヒラギノ角ゴ Pro W3" pitchFamily="-84" charset="-128"/>
              </a:rPr>
              <a:t>is the wage paid to workers who make wine.</a:t>
            </a:r>
            <a:endParaRPr lang="en-US" sz="2000" dirty="0">
              <a:latin typeface="+mn-lt"/>
            </a:endParaRPr>
          </a:p>
        </p:txBody>
      </p:sp>
      <p:sp>
        <p:nvSpPr>
          <p:cNvPr id="35" name="Content Placeholder 34"/>
          <p:cNvSpPr>
            <a:spLocks noGrp="1"/>
          </p:cNvSpPr>
          <p:nvPr>
            <p:ph sz="quarter" idx="18"/>
          </p:nvPr>
        </p:nvSpPr>
        <p:spPr>
          <a:xfrm>
            <a:off x="457200" y="3079173"/>
            <a:ext cx="6217920" cy="340302"/>
          </a:xfrm>
        </p:spPr>
        <p:txBody>
          <a:bodyPr tIns="0" bIns="0"/>
          <a:lstStyle/>
          <a:p>
            <a:pPr indent="-255600"/>
            <a:r>
              <a:rPr lang="en-US" altLang="en-US" sz="2000" dirty="0">
                <a:latin typeface="+mn-lt"/>
                <a:ea typeface="ヒラギノ角ゴ Pro W3" pitchFamily="-84" charset="-128"/>
              </a:rPr>
              <a:t>Due to competition in the labor and goods markets:</a:t>
            </a:r>
          </a:p>
        </p:txBody>
      </p:sp>
      <p:sp>
        <p:nvSpPr>
          <p:cNvPr id="36" name="Content Placeholder 35"/>
          <p:cNvSpPr>
            <a:spLocks noGrp="1"/>
          </p:cNvSpPr>
          <p:nvPr>
            <p:ph sz="quarter" idx="19"/>
          </p:nvPr>
        </p:nvSpPr>
        <p:spPr>
          <a:xfrm>
            <a:off x="457200" y="3481443"/>
            <a:ext cx="7635240" cy="642882"/>
          </a:xfrm>
        </p:spPr>
        <p:txBody>
          <a:bodyPr tIns="0" bIns="0"/>
          <a:lstStyle/>
          <a:p>
            <a:pPr lvl="1" indent="-284400"/>
            <a:r>
              <a:rPr lang="en-US" altLang="en-US" sz="2000" dirty="0">
                <a:latin typeface="+mn-lt"/>
                <a:ea typeface="ヒラギノ角ゴ Pro W3" pitchFamily="-84" charset="-128"/>
              </a:rPr>
              <a:t>Hourly wages of cheese makers will equal the value of the cheese produced in an hour:</a:t>
            </a:r>
            <a:endParaRPr lang="en-US" sz="2000" dirty="0">
              <a:latin typeface="+mn-lt"/>
            </a:endParaRPr>
          </a:p>
        </p:txBody>
      </p:sp>
      <p:sp>
        <p:nvSpPr>
          <p:cNvPr id="37" name="Content Placeholder 36"/>
          <p:cNvSpPr>
            <a:spLocks noGrp="1"/>
          </p:cNvSpPr>
          <p:nvPr>
            <p:ph sz="quarter" idx="20"/>
          </p:nvPr>
        </p:nvSpPr>
        <p:spPr>
          <a:xfrm>
            <a:off x="431799" y="4946391"/>
            <a:ext cx="8178801" cy="659041"/>
          </a:xfrm>
        </p:spPr>
        <p:txBody>
          <a:bodyPr tIns="0" bIns="0"/>
          <a:lstStyle/>
          <a:p>
            <a:pPr lvl="1" indent="-284400"/>
            <a:r>
              <a:rPr lang="en-US" altLang="en-US" sz="2000" dirty="0">
                <a:latin typeface="+mn-lt"/>
                <a:ea typeface="ヒラギノ角ゴ Pro W3" pitchFamily="-84" charset="-128"/>
              </a:rPr>
              <a:t>Hourly wages of wine makers will equal the value of the wine produced in an hour:</a:t>
            </a:r>
            <a:endParaRPr lang="en-US" sz="2000" dirty="0">
              <a:latin typeface="+mn-lt"/>
            </a:endParaRPr>
          </a:p>
        </p:txBody>
      </p:sp>
      <p:graphicFrame>
        <p:nvGraphicFramePr>
          <p:cNvPr id="17" name="Object 16" descr="P sub C"/>
          <p:cNvGraphicFramePr>
            <a:graphicFrameLocks noChangeAspect="1"/>
          </p:cNvGraphicFramePr>
          <p:nvPr>
            <p:extLst>
              <p:ext uri="{D42A27DB-BD31-4B8C-83A1-F6EECF244321}">
                <p14:modId xmlns:p14="http://schemas.microsoft.com/office/powerpoint/2010/main" val="586688505"/>
              </p:ext>
            </p:extLst>
          </p:nvPr>
        </p:nvGraphicFramePr>
        <p:xfrm>
          <a:off x="793487" y="1629772"/>
          <a:ext cx="306803" cy="368163"/>
        </p:xfrm>
        <a:graphic>
          <a:graphicData uri="http://schemas.openxmlformats.org/presentationml/2006/ole">
            <mc:AlternateContent xmlns:mc="http://schemas.openxmlformats.org/markup-compatibility/2006">
              <mc:Choice xmlns:v="urn:schemas-microsoft-com:vml" Requires="v">
                <p:oleObj name="Equation" r:id="rId3" imgW="190440" imgH="228600" progId="Equation.DSMT4">
                  <p:embed/>
                </p:oleObj>
              </mc:Choice>
              <mc:Fallback>
                <p:oleObj name="Equation" r:id="rId3" imgW="190440" imgH="228600" progId="Equation.DSMT4">
                  <p:embed/>
                  <p:pic>
                    <p:nvPicPr>
                      <p:cNvPr id="17" name="Object 16"/>
                      <p:cNvPicPr/>
                      <p:nvPr/>
                    </p:nvPicPr>
                    <p:blipFill>
                      <a:blip r:embed="rId4"/>
                      <a:stretch>
                        <a:fillRect/>
                      </a:stretch>
                    </p:blipFill>
                    <p:spPr>
                      <a:xfrm>
                        <a:off x="793487" y="1629772"/>
                        <a:ext cx="306803" cy="368163"/>
                      </a:xfrm>
                      <a:prstGeom prst="rect">
                        <a:avLst/>
                      </a:prstGeom>
                    </p:spPr>
                  </p:pic>
                </p:oleObj>
              </mc:Fallback>
            </mc:AlternateContent>
          </a:graphicData>
        </a:graphic>
      </p:graphicFrame>
      <p:graphicFrame>
        <p:nvGraphicFramePr>
          <p:cNvPr id="18" name="Object 17" descr="P sub W"/>
          <p:cNvGraphicFramePr>
            <a:graphicFrameLocks noChangeAspect="1"/>
          </p:cNvGraphicFramePr>
          <p:nvPr>
            <p:extLst>
              <p:ext uri="{D42A27DB-BD31-4B8C-83A1-F6EECF244321}">
                <p14:modId xmlns:p14="http://schemas.microsoft.com/office/powerpoint/2010/main" val="1594232753"/>
              </p:ext>
            </p:extLst>
          </p:nvPr>
        </p:nvGraphicFramePr>
        <p:xfrm>
          <a:off x="3957808" y="1662570"/>
          <a:ext cx="304267" cy="304267"/>
        </p:xfrm>
        <a:graphic>
          <a:graphicData uri="http://schemas.openxmlformats.org/presentationml/2006/ole">
            <mc:AlternateContent xmlns:mc="http://schemas.openxmlformats.org/markup-compatibility/2006">
              <mc:Choice xmlns:v="urn:schemas-microsoft-com:vml" Requires="v">
                <p:oleObj name="Equation" r:id="rId5" imgW="228600" imgH="228600" progId="Equation.DSMT4">
                  <p:embed/>
                </p:oleObj>
              </mc:Choice>
              <mc:Fallback>
                <p:oleObj name="Equation" r:id="rId5" imgW="228600" imgH="228600" progId="Equation.DSMT4">
                  <p:embed/>
                  <p:pic>
                    <p:nvPicPr>
                      <p:cNvPr id="18" name="Object 17"/>
                      <p:cNvPicPr/>
                      <p:nvPr/>
                    </p:nvPicPr>
                    <p:blipFill>
                      <a:blip r:embed="rId6"/>
                      <a:stretch>
                        <a:fillRect/>
                      </a:stretch>
                    </p:blipFill>
                    <p:spPr>
                      <a:xfrm>
                        <a:off x="3957808" y="1662570"/>
                        <a:ext cx="304267" cy="304267"/>
                      </a:xfrm>
                      <a:prstGeom prst="rect">
                        <a:avLst/>
                      </a:prstGeom>
                    </p:spPr>
                  </p:pic>
                </p:oleObj>
              </mc:Fallback>
            </mc:AlternateContent>
          </a:graphicData>
        </a:graphic>
      </p:graphicFrame>
      <p:graphicFrame>
        <p:nvGraphicFramePr>
          <p:cNvPr id="19" name="Object 18" descr="W sub C"/>
          <p:cNvGraphicFramePr>
            <a:graphicFrameLocks noChangeAspect="1"/>
          </p:cNvGraphicFramePr>
          <p:nvPr>
            <p:extLst>
              <p:ext uri="{D42A27DB-BD31-4B8C-83A1-F6EECF244321}">
                <p14:modId xmlns:p14="http://schemas.microsoft.com/office/powerpoint/2010/main" val="2501673202"/>
              </p:ext>
            </p:extLst>
          </p:nvPr>
        </p:nvGraphicFramePr>
        <p:xfrm>
          <a:off x="840783" y="2163425"/>
          <a:ext cx="404979" cy="404979"/>
        </p:xfrm>
        <a:graphic>
          <a:graphicData uri="http://schemas.openxmlformats.org/presentationml/2006/ole">
            <mc:AlternateContent xmlns:mc="http://schemas.openxmlformats.org/markup-compatibility/2006">
              <mc:Choice xmlns:v="urn:schemas-microsoft-com:vml" Requires="v">
                <p:oleObj name="Equation" r:id="rId7" imgW="228600" imgH="228600" progId="Equation.DSMT4">
                  <p:embed/>
                </p:oleObj>
              </mc:Choice>
              <mc:Fallback>
                <p:oleObj name="Equation" r:id="rId7" imgW="228600" imgH="228600" progId="Equation.DSMT4">
                  <p:embed/>
                  <p:pic>
                    <p:nvPicPr>
                      <p:cNvPr id="19" name="Object 18"/>
                      <p:cNvPicPr/>
                      <p:nvPr/>
                    </p:nvPicPr>
                    <p:blipFill>
                      <a:blip r:embed="rId8"/>
                      <a:stretch>
                        <a:fillRect/>
                      </a:stretch>
                    </p:blipFill>
                    <p:spPr>
                      <a:xfrm>
                        <a:off x="840783" y="2163425"/>
                        <a:ext cx="404979" cy="404979"/>
                      </a:xfrm>
                      <a:prstGeom prst="rect">
                        <a:avLst/>
                      </a:prstGeom>
                    </p:spPr>
                  </p:pic>
                </p:oleObj>
              </mc:Fallback>
            </mc:AlternateContent>
          </a:graphicData>
        </a:graphic>
      </p:graphicFrame>
      <p:graphicFrame>
        <p:nvGraphicFramePr>
          <p:cNvPr id="20" name="Object 19" descr="W sub W"/>
          <p:cNvGraphicFramePr>
            <a:graphicFrameLocks noChangeAspect="1"/>
          </p:cNvGraphicFramePr>
          <p:nvPr>
            <p:extLst>
              <p:ext uri="{D42A27DB-BD31-4B8C-83A1-F6EECF244321}">
                <p14:modId xmlns:p14="http://schemas.microsoft.com/office/powerpoint/2010/main" val="3323831670"/>
              </p:ext>
            </p:extLst>
          </p:nvPr>
        </p:nvGraphicFramePr>
        <p:xfrm>
          <a:off x="7366974" y="2204920"/>
          <a:ext cx="409069" cy="368163"/>
        </p:xfrm>
        <a:graphic>
          <a:graphicData uri="http://schemas.openxmlformats.org/presentationml/2006/ole">
            <mc:AlternateContent xmlns:mc="http://schemas.openxmlformats.org/markup-compatibility/2006">
              <mc:Choice xmlns:v="urn:schemas-microsoft-com:vml" Requires="v">
                <p:oleObj name="Equation" r:id="rId9" imgW="253800" imgH="228600" progId="Equation.DSMT4">
                  <p:embed/>
                </p:oleObj>
              </mc:Choice>
              <mc:Fallback>
                <p:oleObj name="Equation" r:id="rId9" imgW="253800" imgH="228600" progId="Equation.DSMT4">
                  <p:embed/>
                  <p:pic>
                    <p:nvPicPr>
                      <p:cNvPr id="20" name="Object 19"/>
                      <p:cNvPicPr/>
                      <p:nvPr/>
                    </p:nvPicPr>
                    <p:blipFill>
                      <a:blip r:embed="rId10"/>
                      <a:stretch>
                        <a:fillRect/>
                      </a:stretch>
                    </p:blipFill>
                    <p:spPr>
                      <a:xfrm>
                        <a:off x="7366974" y="2204920"/>
                        <a:ext cx="409069" cy="368163"/>
                      </a:xfrm>
                      <a:prstGeom prst="rect">
                        <a:avLst/>
                      </a:prstGeom>
                    </p:spPr>
                  </p:pic>
                </p:oleObj>
              </mc:Fallback>
            </mc:AlternateContent>
          </a:graphicData>
        </a:graphic>
      </p:graphicFrame>
      <p:graphicFrame>
        <p:nvGraphicFramePr>
          <p:cNvPr id="21" name="Object 20" descr="W sub C = start fraction  P sub C over a sub start expression L C end expression end fraction"/>
          <p:cNvGraphicFramePr>
            <a:graphicFrameLocks noChangeAspect="1"/>
          </p:cNvGraphicFramePr>
          <p:nvPr>
            <p:extLst>
              <p:ext uri="{D42A27DB-BD31-4B8C-83A1-F6EECF244321}">
                <p14:modId xmlns:p14="http://schemas.microsoft.com/office/powerpoint/2010/main" val="135396974"/>
              </p:ext>
            </p:extLst>
          </p:nvPr>
        </p:nvGraphicFramePr>
        <p:xfrm>
          <a:off x="4097851" y="4229510"/>
          <a:ext cx="948298" cy="632199"/>
        </p:xfrm>
        <a:graphic>
          <a:graphicData uri="http://schemas.openxmlformats.org/presentationml/2006/ole">
            <mc:AlternateContent xmlns:mc="http://schemas.openxmlformats.org/markup-compatibility/2006">
              <mc:Choice xmlns:v="urn:schemas-microsoft-com:vml" Requires="v">
                <p:oleObj name="Equation" r:id="rId11" imgW="647640" imgH="431640" progId="Equation.DSMT4">
                  <p:embed/>
                </p:oleObj>
              </mc:Choice>
              <mc:Fallback>
                <p:oleObj name="Equation" r:id="rId11" imgW="647640" imgH="431640" progId="Equation.DSMT4">
                  <p:embed/>
                  <p:pic>
                    <p:nvPicPr>
                      <p:cNvPr id="21" name="Object 20"/>
                      <p:cNvPicPr/>
                      <p:nvPr/>
                    </p:nvPicPr>
                    <p:blipFill>
                      <a:blip r:embed="rId12"/>
                      <a:stretch>
                        <a:fillRect/>
                      </a:stretch>
                    </p:blipFill>
                    <p:spPr>
                      <a:xfrm>
                        <a:off x="4097851" y="4229510"/>
                        <a:ext cx="948298" cy="632199"/>
                      </a:xfrm>
                      <a:prstGeom prst="rect">
                        <a:avLst/>
                      </a:prstGeom>
                    </p:spPr>
                  </p:pic>
                </p:oleObj>
              </mc:Fallback>
            </mc:AlternateContent>
          </a:graphicData>
        </a:graphic>
      </p:graphicFrame>
      <p:graphicFrame>
        <p:nvGraphicFramePr>
          <p:cNvPr id="22" name="Object 21" descr="W sub W = start fraction  P sub W over a sub start expression L W end expression end fraction"/>
          <p:cNvGraphicFramePr>
            <a:graphicFrameLocks noChangeAspect="1"/>
          </p:cNvGraphicFramePr>
          <p:nvPr>
            <p:extLst>
              <p:ext uri="{D42A27DB-BD31-4B8C-83A1-F6EECF244321}">
                <p14:modId xmlns:p14="http://schemas.microsoft.com/office/powerpoint/2010/main" val="29326598"/>
              </p:ext>
            </p:extLst>
          </p:nvPr>
        </p:nvGraphicFramePr>
        <p:xfrm>
          <a:off x="4060663" y="5692401"/>
          <a:ext cx="1022674" cy="632199"/>
        </p:xfrm>
        <a:graphic>
          <a:graphicData uri="http://schemas.openxmlformats.org/presentationml/2006/ole">
            <mc:AlternateContent xmlns:mc="http://schemas.openxmlformats.org/markup-compatibility/2006">
              <mc:Choice xmlns:v="urn:schemas-microsoft-com:vml" Requires="v">
                <p:oleObj name="Equation" r:id="rId13" imgW="698400" imgH="431640" progId="Equation.DSMT4">
                  <p:embed/>
                </p:oleObj>
              </mc:Choice>
              <mc:Fallback>
                <p:oleObj name="Equation" r:id="rId13" imgW="698400" imgH="431640" progId="Equation.DSMT4">
                  <p:embed/>
                  <p:pic>
                    <p:nvPicPr>
                      <p:cNvPr id="22" name="Object 21"/>
                      <p:cNvPicPr/>
                      <p:nvPr/>
                    </p:nvPicPr>
                    <p:blipFill>
                      <a:blip r:embed="rId14"/>
                      <a:stretch>
                        <a:fillRect/>
                      </a:stretch>
                    </p:blipFill>
                    <p:spPr>
                      <a:xfrm>
                        <a:off x="4060663" y="5692401"/>
                        <a:ext cx="1022674" cy="632199"/>
                      </a:xfrm>
                      <a:prstGeom prst="rect">
                        <a:avLst/>
                      </a:prstGeom>
                    </p:spPr>
                  </p:pic>
                </p:oleObj>
              </mc:Fallback>
            </mc:AlternateContent>
          </a:graphicData>
        </a:graphic>
      </p:graphicFrame>
    </p:spTree>
    <p:extLst>
      <p:ext uri="{BB962C8B-B14F-4D97-AF65-F5344CB8AC3E}">
        <p14:creationId xmlns:p14="http://schemas.microsoft.com/office/powerpoint/2010/main" val="3708592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(2 of 7)</a:t>
            </a:r>
            <a:endParaRPr lang="en-IN" sz="2000" dirty="0"/>
          </a:p>
        </p:txBody>
      </p:sp>
      <p:sp>
        <p:nvSpPr>
          <p:cNvPr id="3" name="Content Placeholder 2"/>
          <p:cNvSpPr>
            <a:spLocks noGrp="1"/>
          </p:cNvSpPr>
          <p:nvPr>
            <p:ph idx="1"/>
          </p:nvPr>
        </p:nvSpPr>
        <p:spPr>
          <a:xfrm>
            <a:off x="457199" y="1600201"/>
            <a:ext cx="8375515" cy="1247502"/>
          </a:xfrm>
        </p:spPr>
        <p:txBody>
          <a:bodyPr/>
          <a:lstStyle/>
          <a:p>
            <a:pPr indent="-255600"/>
            <a:r>
              <a:rPr lang="en-US" altLang="en-US" sz="2000" dirty="0">
                <a:latin typeface="+mn-lt"/>
                <a:ea typeface="ヒラギノ角ゴ Pro W3" pitchFamily="-84" charset="-128"/>
              </a:rPr>
              <a:t>Workers will choose to work in the industry that pays the higher wage.</a:t>
            </a:r>
          </a:p>
          <a:p>
            <a:pPr indent="-255600"/>
            <a:r>
              <a:rPr lang="en-US" altLang="en-US" sz="2000" dirty="0">
                <a:latin typeface="+mn-lt"/>
                <a:ea typeface="ヒラギノ角ゴ Pro W3" pitchFamily="-84" charset="-128"/>
              </a:rPr>
              <a:t>If the price of cheese relative to the price of wine exceeds the opportunity cost of producing cheese</a:t>
            </a:r>
            <a:endParaRPr lang="en-US" sz="2000" dirty="0">
              <a:latin typeface="+mn-lt"/>
            </a:endParaRPr>
          </a:p>
        </p:txBody>
      </p:sp>
      <p:sp>
        <p:nvSpPr>
          <p:cNvPr id="4" name="Content Placeholder 3"/>
          <p:cNvSpPr>
            <a:spLocks noGrp="1"/>
          </p:cNvSpPr>
          <p:nvPr>
            <p:ph idx="13"/>
          </p:nvPr>
        </p:nvSpPr>
        <p:spPr>
          <a:xfrm>
            <a:off x="457200" y="3810000"/>
            <a:ext cx="8153400" cy="761999"/>
          </a:xfrm>
        </p:spPr>
        <p:txBody>
          <a:bodyPr/>
          <a:lstStyle/>
          <a:p>
            <a:pPr lvl="1" indent="-284400"/>
            <a:r>
              <a:rPr lang="en-US" altLang="en-US" sz="2000" dirty="0">
                <a:latin typeface="+mn-lt"/>
                <a:ea typeface="ヒラギノ角ゴ Pro W3" pitchFamily="-84" charset="-128"/>
              </a:rPr>
              <a:t>Then the wage paid when making cheese will exceed the wage in wine</a:t>
            </a:r>
            <a:endParaRPr lang="en-US" sz="2000" dirty="0">
              <a:latin typeface="+mn-lt"/>
            </a:endParaRPr>
          </a:p>
        </p:txBody>
      </p:sp>
      <p:sp>
        <p:nvSpPr>
          <p:cNvPr id="5" name="Content Placeholder 4"/>
          <p:cNvSpPr>
            <a:spLocks noGrp="1"/>
          </p:cNvSpPr>
          <p:nvPr>
            <p:ph idx="14"/>
          </p:nvPr>
        </p:nvSpPr>
        <p:spPr>
          <a:xfrm>
            <a:off x="457200" y="5477692"/>
            <a:ext cx="8153400" cy="762001"/>
          </a:xfrm>
        </p:spPr>
        <p:txBody>
          <a:bodyPr/>
          <a:lstStyle/>
          <a:p>
            <a:pPr lvl="1" indent="-284400"/>
            <a:r>
              <a:rPr lang="en-US" altLang="en-US" sz="2000" dirty="0">
                <a:latin typeface="+mn-lt"/>
                <a:ea typeface="ヒラギノ角ゴ Pro W3" pitchFamily="-84" charset="-128"/>
              </a:rPr>
              <a:t>So workers will make only cheese (the economy specializes in cheese production).</a:t>
            </a:r>
            <a:endParaRPr lang="en-US" sz="2000" dirty="0">
              <a:latin typeface="+mn-lt"/>
            </a:endParaRPr>
          </a:p>
        </p:txBody>
      </p:sp>
      <p:graphicFrame>
        <p:nvGraphicFramePr>
          <p:cNvPr id="17" name="Object 16" descr="Start fraction P sub C over P sub W end fraction is greater than start fraction a sub start expression L C end expression over a sub start expression L W end expression end fraction,"/>
          <p:cNvGraphicFramePr>
            <a:graphicFrameLocks noChangeAspect="1"/>
          </p:cNvGraphicFramePr>
          <p:nvPr>
            <p:extLst>
              <p:ext uri="{D42A27DB-BD31-4B8C-83A1-F6EECF244321}">
                <p14:modId xmlns:p14="http://schemas.microsoft.com/office/powerpoint/2010/main" val="874244169"/>
              </p:ext>
            </p:extLst>
          </p:nvPr>
        </p:nvGraphicFramePr>
        <p:xfrm>
          <a:off x="3919534" y="2905935"/>
          <a:ext cx="1304933" cy="787459"/>
        </p:xfrm>
        <a:graphic>
          <a:graphicData uri="http://schemas.openxmlformats.org/presentationml/2006/ole">
            <mc:AlternateContent xmlns:mc="http://schemas.openxmlformats.org/markup-compatibility/2006">
              <mc:Choice xmlns:v="urn:schemas-microsoft-com:vml" Requires="v">
                <p:oleObj name="Equation" r:id="rId2" imgW="736560" imgH="444240" progId="Equation.DSMT4">
                  <p:embed/>
                </p:oleObj>
              </mc:Choice>
              <mc:Fallback>
                <p:oleObj name="Equation" r:id="rId2" imgW="736560" imgH="444240" progId="Equation.DSMT4">
                  <p:embed/>
                  <p:pic>
                    <p:nvPicPr>
                      <p:cNvPr id="17" name="Object 16"/>
                      <p:cNvPicPr/>
                      <p:nvPr/>
                    </p:nvPicPr>
                    <p:blipFill>
                      <a:blip r:embed="rId3"/>
                      <a:stretch>
                        <a:fillRect/>
                      </a:stretch>
                    </p:blipFill>
                    <p:spPr>
                      <a:xfrm>
                        <a:off x="3919534" y="2905935"/>
                        <a:ext cx="1304933" cy="787459"/>
                      </a:xfrm>
                      <a:prstGeom prst="rect">
                        <a:avLst/>
                      </a:prstGeom>
                    </p:spPr>
                  </p:pic>
                </p:oleObj>
              </mc:Fallback>
            </mc:AlternateContent>
          </a:graphicData>
        </a:graphic>
      </p:graphicFrame>
      <p:graphicFrame>
        <p:nvGraphicFramePr>
          <p:cNvPr id="18" name="Object 17" descr="W sub C = Start fraction P sub C over a sub start expression L C end expression end fraction is greater than start fraction P sub W over a sub start expression L W end expression end fraction = W sub W."/>
          <p:cNvGraphicFramePr>
            <a:graphicFrameLocks noChangeAspect="1"/>
          </p:cNvGraphicFramePr>
          <p:nvPr>
            <p:extLst>
              <p:ext uri="{D42A27DB-BD31-4B8C-83A1-F6EECF244321}">
                <p14:modId xmlns:p14="http://schemas.microsoft.com/office/powerpoint/2010/main" val="3831135668"/>
              </p:ext>
            </p:extLst>
          </p:nvPr>
        </p:nvGraphicFramePr>
        <p:xfrm>
          <a:off x="3380469" y="4671640"/>
          <a:ext cx="2433963" cy="715872"/>
        </p:xfrm>
        <a:graphic>
          <a:graphicData uri="http://schemas.openxmlformats.org/presentationml/2006/ole">
            <mc:AlternateContent xmlns:mc="http://schemas.openxmlformats.org/markup-compatibility/2006">
              <mc:Choice xmlns:v="urn:schemas-microsoft-com:vml" Requires="v">
                <p:oleObj name="Equation" r:id="rId4" imgW="1511280" imgH="444240" progId="Equation.DSMT4">
                  <p:embed/>
                </p:oleObj>
              </mc:Choice>
              <mc:Fallback>
                <p:oleObj name="Equation" r:id="rId4" imgW="1511280" imgH="444240" progId="Equation.DSMT4">
                  <p:embed/>
                  <p:pic>
                    <p:nvPicPr>
                      <p:cNvPr id="18" name="Object 17"/>
                      <p:cNvPicPr/>
                      <p:nvPr/>
                    </p:nvPicPr>
                    <p:blipFill>
                      <a:blip r:embed="rId5"/>
                      <a:stretch>
                        <a:fillRect/>
                      </a:stretch>
                    </p:blipFill>
                    <p:spPr>
                      <a:xfrm>
                        <a:off x="3380469" y="4671640"/>
                        <a:ext cx="2433963" cy="715872"/>
                      </a:xfrm>
                      <a:prstGeom prst="rect">
                        <a:avLst/>
                      </a:prstGeom>
                    </p:spPr>
                  </p:pic>
                </p:oleObj>
              </mc:Fallback>
            </mc:AlternateContent>
          </a:graphicData>
        </a:graphic>
      </p:graphicFrame>
    </p:spTree>
    <p:extLst>
      <p:ext uri="{BB962C8B-B14F-4D97-AF65-F5344CB8AC3E}">
        <p14:creationId xmlns:p14="http://schemas.microsoft.com/office/powerpoint/2010/main" val="2785103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(3 of 7)</a:t>
            </a:r>
            <a:endParaRPr lang="en-IN" sz="2000" dirty="0"/>
          </a:p>
        </p:txBody>
      </p:sp>
      <p:sp>
        <p:nvSpPr>
          <p:cNvPr id="3" name="Content Placeholder 2"/>
          <p:cNvSpPr>
            <a:spLocks noGrp="1"/>
          </p:cNvSpPr>
          <p:nvPr>
            <p:ph idx="1"/>
          </p:nvPr>
        </p:nvSpPr>
        <p:spPr>
          <a:xfrm>
            <a:off x="457199" y="1600201"/>
            <a:ext cx="8375515" cy="792803"/>
          </a:xfrm>
        </p:spPr>
        <p:txBody>
          <a:bodyPr/>
          <a:lstStyle/>
          <a:p>
            <a:pPr indent="-255600">
              <a:spcBef>
                <a:spcPct val="50000"/>
              </a:spcBef>
            </a:pPr>
            <a:r>
              <a:rPr lang="en-US" altLang="en-US" sz="2000" dirty="0">
                <a:latin typeface="+mn-lt"/>
                <a:ea typeface="ヒラギノ角ゴ Pro W3" pitchFamily="-84" charset="-128"/>
              </a:rPr>
              <a:t>If the price of cheese relative to the price of wine is less than the opportunity cost of producing cheese</a:t>
            </a:r>
            <a:endParaRPr lang="en-US" sz="2000" dirty="0">
              <a:latin typeface="+mn-lt"/>
            </a:endParaRPr>
          </a:p>
        </p:txBody>
      </p:sp>
      <p:sp>
        <p:nvSpPr>
          <p:cNvPr id="4" name="Content Placeholder 3"/>
          <p:cNvSpPr>
            <a:spLocks noGrp="1"/>
          </p:cNvSpPr>
          <p:nvPr>
            <p:ph idx="13"/>
          </p:nvPr>
        </p:nvSpPr>
        <p:spPr>
          <a:xfrm>
            <a:off x="457200" y="3483426"/>
            <a:ext cx="8153400" cy="443644"/>
          </a:xfrm>
        </p:spPr>
        <p:txBody>
          <a:bodyPr/>
          <a:lstStyle/>
          <a:p>
            <a:pPr lvl="1" indent="-284400"/>
            <a:r>
              <a:rPr lang="en-US" altLang="en-US" sz="2000" dirty="0">
                <a:latin typeface="+mn-lt"/>
                <a:ea typeface="ヒラギノ角ゴ Pro W3" pitchFamily="-84" charset="-128"/>
              </a:rPr>
              <a:t>Then the wage in cheese will be less than the wage in wine</a:t>
            </a:r>
            <a:endParaRPr lang="en-US" sz="2000" dirty="0">
              <a:latin typeface="+mn-lt"/>
            </a:endParaRPr>
          </a:p>
        </p:txBody>
      </p:sp>
      <p:sp>
        <p:nvSpPr>
          <p:cNvPr id="5" name="Content Placeholder 4"/>
          <p:cNvSpPr>
            <a:spLocks noGrp="1"/>
          </p:cNvSpPr>
          <p:nvPr>
            <p:ph idx="14"/>
          </p:nvPr>
        </p:nvSpPr>
        <p:spPr>
          <a:xfrm>
            <a:off x="457200" y="4994361"/>
            <a:ext cx="8153400" cy="762001"/>
          </a:xfrm>
        </p:spPr>
        <p:txBody>
          <a:bodyPr/>
          <a:lstStyle/>
          <a:p>
            <a:pPr lvl="1" indent="-284400"/>
            <a:r>
              <a:rPr lang="en-US" altLang="en-US" sz="2000" dirty="0">
                <a:latin typeface="+mn-lt"/>
                <a:ea typeface="ヒラギノ角ゴ Pro W3" pitchFamily="-84" charset="-128"/>
              </a:rPr>
              <a:t>So workers will make only wine (the economy specializes in wine production).</a:t>
            </a:r>
            <a:endParaRPr lang="en-US" sz="2000" dirty="0">
              <a:latin typeface="+mn-lt"/>
            </a:endParaRPr>
          </a:p>
        </p:txBody>
      </p:sp>
      <p:graphicFrame>
        <p:nvGraphicFramePr>
          <p:cNvPr id="17" name="Object 16" descr="Start fraction P sub C over P sub W end fraction is lesser than start fraction a sub start expression L C end expression over a sub start expression L W end expression end fraction,"/>
          <p:cNvGraphicFramePr>
            <a:graphicFrameLocks noChangeAspect="1"/>
          </p:cNvGraphicFramePr>
          <p:nvPr>
            <p:extLst>
              <p:ext uri="{D42A27DB-BD31-4B8C-83A1-F6EECF244321}">
                <p14:modId xmlns:p14="http://schemas.microsoft.com/office/powerpoint/2010/main" val="3404283892"/>
              </p:ext>
            </p:extLst>
          </p:nvPr>
        </p:nvGraphicFramePr>
        <p:xfrm>
          <a:off x="3930650" y="2546765"/>
          <a:ext cx="1282700" cy="787400"/>
        </p:xfrm>
        <a:graphic>
          <a:graphicData uri="http://schemas.openxmlformats.org/presentationml/2006/ole">
            <mc:AlternateContent xmlns:mc="http://schemas.openxmlformats.org/markup-compatibility/2006">
              <mc:Choice xmlns:v="urn:schemas-microsoft-com:vml" Requires="v">
                <p:oleObj name="Equation" r:id="rId2" imgW="723600" imgH="444240" progId="Equation.DSMT4">
                  <p:embed/>
                </p:oleObj>
              </mc:Choice>
              <mc:Fallback>
                <p:oleObj name="Equation" r:id="rId2" imgW="723600" imgH="444240" progId="Equation.DSMT4">
                  <p:embed/>
                  <p:pic>
                    <p:nvPicPr>
                      <p:cNvPr id="17" name="Object 16"/>
                      <p:cNvPicPr/>
                      <p:nvPr/>
                    </p:nvPicPr>
                    <p:blipFill>
                      <a:blip r:embed="rId3"/>
                      <a:stretch>
                        <a:fillRect/>
                      </a:stretch>
                    </p:blipFill>
                    <p:spPr>
                      <a:xfrm>
                        <a:off x="3930650" y="2546765"/>
                        <a:ext cx="1282700" cy="787400"/>
                      </a:xfrm>
                      <a:prstGeom prst="rect">
                        <a:avLst/>
                      </a:prstGeom>
                    </p:spPr>
                  </p:pic>
                </p:oleObj>
              </mc:Fallback>
            </mc:AlternateContent>
          </a:graphicData>
        </a:graphic>
      </p:graphicFrame>
      <p:graphicFrame>
        <p:nvGraphicFramePr>
          <p:cNvPr id="18" name="Object 17" descr="W sub C = Start fraction P sub C over a sub start expression L C end expression end fraction is lesser than start fraction P sub W over a sub start expression L W end expression end fraction = W sub W."/>
          <p:cNvGraphicFramePr>
            <a:graphicFrameLocks noChangeAspect="1"/>
          </p:cNvGraphicFramePr>
          <p:nvPr>
            <p:extLst>
              <p:ext uri="{D42A27DB-BD31-4B8C-83A1-F6EECF244321}">
                <p14:modId xmlns:p14="http://schemas.microsoft.com/office/powerpoint/2010/main" val="184570323"/>
              </p:ext>
            </p:extLst>
          </p:nvPr>
        </p:nvGraphicFramePr>
        <p:xfrm>
          <a:off x="3364730" y="4129431"/>
          <a:ext cx="2414540" cy="716486"/>
        </p:xfrm>
        <a:graphic>
          <a:graphicData uri="http://schemas.openxmlformats.org/presentationml/2006/ole">
            <mc:AlternateContent xmlns:mc="http://schemas.openxmlformats.org/markup-compatibility/2006">
              <mc:Choice xmlns:v="urn:schemas-microsoft-com:vml" Requires="v">
                <p:oleObj name="Equation" r:id="rId4" imgW="1498320" imgH="444240" progId="Equation.DSMT4">
                  <p:embed/>
                </p:oleObj>
              </mc:Choice>
              <mc:Fallback>
                <p:oleObj name="Equation" r:id="rId4" imgW="1498320" imgH="444240" progId="Equation.DSMT4">
                  <p:embed/>
                  <p:pic>
                    <p:nvPicPr>
                      <p:cNvPr id="18" name="Object 17"/>
                      <p:cNvPicPr/>
                      <p:nvPr/>
                    </p:nvPicPr>
                    <p:blipFill>
                      <a:blip r:embed="rId5"/>
                      <a:stretch>
                        <a:fillRect/>
                      </a:stretch>
                    </p:blipFill>
                    <p:spPr>
                      <a:xfrm>
                        <a:off x="3364730" y="4129431"/>
                        <a:ext cx="2414540" cy="716486"/>
                      </a:xfrm>
                      <a:prstGeom prst="rect">
                        <a:avLst/>
                      </a:prstGeom>
                    </p:spPr>
                  </p:pic>
                </p:oleObj>
              </mc:Fallback>
            </mc:AlternateContent>
          </a:graphicData>
        </a:graphic>
      </p:graphicFrame>
    </p:spTree>
    <p:extLst>
      <p:ext uri="{BB962C8B-B14F-4D97-AF65-F5344CB8AC3E}">
        <p14:creationId xmlns:p14="http://schemas.microsoft.com/office/powerpoint/2010/main" val="3035055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(4 of 7)</a:t>
            </a:r>
            <a:endParaRPr lang="en-IN" sz="2000" dirty="0"/>
          </a:p>
        </p:txBody>
      </p:sp>
      <p:sp>
        <p:nvSpPr>
          <p:cNvPr id="3" name="Content Placeholder 2"/>
          <p:cNvSpPr>
            <a:spLocks noGrp="1"/>
          </p:cNvSpPr>
          <p:nvPr>
            <p:ph idx="1"/>
          </p:nvPr>
        </p:nvSpPr>
        <p:spPr>
          <a:xfrm>
            <a:off x="457200" y="1600201"/>
            <a:ext cx="8229600" cy="761999"/>
          </a:xfrm>
        </p:spPr>
        <p:txBody>
          <a:bodyPr/>
          <a:lstStyle/>
          <a:p>
            <a:pPr indent="-255600"/>
            <a:r>
              <a:rPr lang="en-US" altLang="en-US" sz="2000" dirty="0">
                <a:latin typeface="+mn-lt"/>
                <a:ea typeface="ヒラギノ角ゴ Pro W3" pitchFamily="-84" charset="-128"/>
              </a:rPr>
              <a:t>If the price of cheese relative to the price of wine equals the opportunity cost of producing cheese</a:t>
            </a:r>
            <a:endParaRPr lang="en-US" sz="2000" dirty="0">
              <a:latin typeface="+mn-lt"/>
            </a:endParaRPr>
          </a:p>
        </p:txBody>
      </p:sp>
      <p:sp>
        <p:nvSpPr>
          <p:cNvPr id="4" name="Content Placeholder 3"/>
          <p:cNvSpPr>
            <a:spLocks noGrp="1"/>
          </p:cNvSpPr>
          <p:nvPr>
            <p:ph idx="13"/>
          </p:nvPr>
        </p:nvSpPr>
        <p:spPr>
          <a:xfrm>
            <a:off x="457200" y="3501010"/>
            <a:ext cx="8229600" cy="496223"/>
          </a:xfrm>
        </p:spPr>
        <p:txBody>
          <a:bodyPr/>
          <a:lstStyle/>
          <a:p>
            <a:pPr lvl="1" indent="-284400"/>
            <a:r>
              <a:rPr lang="en-US" altLang="en-US" sz="2000" dirty="0">
                <a:latin typeface="+mn-lt"/>
                <a:ea typeface="ヒラギノ角ゴ Pro W3" pitchFamily="-84" charset="-128"/>
              </a:rPr>
              <a:t>Then the wage in cheese will equal the wage in wine</a:t>
            </a:r>
            <a:endParaRPr lang="en-US" sz="2000" dirty="0">
              <a:latin typeface="+mn-lt"/>
            </a:endParaRPr>
          </a:p>
        </p:txBody>
      </p:sp>
      <p:sp>
        <p:nvSpPr>
          <p:cNvPr id="5" name="Content Placeholder 4"/>
          <p:cNvSpPr>
            <a:spLocks noGrp="1"/>
          </p:cNvSpPr>
          <p:nvPr>
            <p:ph idx="14"/>
          </p:nvPr>
        </p:nvSpPr>
        <p:spPr>
          <a:xfrm>
            <a:off x="457200" y="5154840"/>
            <a:ext cx="8229600" cy="535260"/>
          </a:xfrm>
        </p:spPr>
        <p:txBody>
          <a:bodyPr/>
          <a:lstStyle/>
          <a:p>
            <a:pPr lvl="1" indent="-284400"/>
            <a:r>
              <a:rPr lang="en-US" altLang="en-US" sz="2000" dirty="0">
                <a:latin typeface="+mn-lt"/>
                <a:ea typeface="ヒラギノ角ゴ Pro W3" pitchFamily="-84" charset="-128"/>
              </a:rPr>
              <a:t>So workers will be willing to make both wine and cheese.</a:t>
            </a:r>
            <a:endParaRPr lang="en-US" sz="2000" dirty="0">
              <a:latin typeface="+mn-lt"/>
            </a:endParaRPr>
          </a:p>
        </p:txBody>
      </p:sp>
      <p:graphicFrame>
        <p:nvGraphicFramePr>
          <p:cNvPr id="11" name="Object 10" descr="Start fraction P sub C over P sub W end fraction = start fraction a sub start expression L C end expression over a sub start expression L W end expression end fraction,"/>
          <p:cNvGraphicFramePr>
            <a:graphicFrameLocks noChangeAspect="1"/>
          </p:cNvGraphicFramePr>
          <p:nvPr>
            <p:extLst>
              <p:ext uri="{D42A27DB-BD31-4B8C-83A1-F6EECF244321}">
                <p14:modId xmlns:p14="http://schemas.microsoft.com/office/powerpoint/2010/main" val="2879656357"/>
              </p:ext>
            </p:extLst>
          </p:nvPr>
        </p:nvGraphicFramePr>
        <p:xfrm>
          <a:off x="3978849" y="2560728"/>
          <a:ext cx="1186303" cy="715872"/>
        </p:xfrm>
        <a:graphic>
          <a:graphicData uri="http://schemas.openxmlformats.org/presentationml/2006/ole">
            <mc:AlternateContent xmlns:mc="http://schemas.openxmlformats.org/markup-compatibility/2006">
              <mc:Choice xmlns:v="urn:schemas-microsoft-com:vml" Requires="v">
                <p:oleObj name="Equation" r:id="rId2" imgW="736560" imgH="444240" progId="Equation.DSMT4">
                  <p:embed/>
                </p:oleObj>
              </mc:Choice>
              <mc:Fallback>
                <p:oleObj name="Equation" r:id="rId2" imgW="736560" imgH="444240" progId="Equation.DSMT4">
                  <p:embed/>
                  <p:pic>
                    <p:nvPicPr>
                      <p:cNvPr id="11" name="Object 10"/>
                      <p:cNvPicPr/>
                      <p:nvPr/>
                    </p:nvPicPr>
                    <p:blipFill>
                      <a:blip r:embed="rId3"/>
                      <a:stretch>
                        <a:fillRect/>
                      </a:stretch>
                    </p:blipFill>
                    <p:spPr>
                      <a:xfrm>
                        <a:off x="3978849" y="2560728"/>
                        <a:ext cx="1186303" cy="715872"/>
                      </a:xfrm>
                      <a:prstGeom prst="rect">
                        <a:avLst/>
                      </a:prstGeom>
                    </p:spPr>
                  </p:pic>
                </p:oleObj>
              </mc:Fallback>
            </mc:AlternateContent>
          </a:graphicData>
        </a:graphic>
      </p:graphicFrame>
      <p:graphicFrame>
        <p:nvGraphicFramePr>
          <p:cNvPr id="12" name="Object 11" descr="W sub C = Start fraction P sub C over a sub start expression L C end expression end fraction = start fraction P sub W over a sub start expression L W end expression end fraction = W sub W."/>
          <p:cNvGraphicFramePr>
            <a:graphicFrameLocks noChangeAspect="1"/>
          </p:cNvGraphicFramePr>
          <p:nvPr>
            <p:extLst>
              <p:ext uri="{D42A27DB-BD31-4B8C-83A1-F6EECF244321}">
                <p14:modId xmlns:p14="http://schemas.microsoft.com/office/powerpoint/2010/main" val="309928743"/>
              </p:ext>
            </p:extLst>
          </p:nvPr>
        </p:nvGraphicFramePr>
        <p:xfrm>
          <a:off x="3355019" y="4220414"/>
          <a:ext cx="2433963" cy="715872"/>
        </p:xfrm>
        <a:graphic>
          <a:graphicData uri="http://schemas.openxmlformats.org/presentationml/2006/ole">
            <mc:AlternateContent xmlns:mc="http://schemas.openxmlformats.org/markup-compatibility/2006">
              <mc:Choice xmlns:v="urn:schemas-microsoft-com:vml" Requires="v">
                <p:oleObj name="Equation" r:id="rId4" imgW="1511280" imgH="444240" progId="Equation.DSMT4">
                  <p:embed/>
                </p:oleObj>
              </mc:Choice>
              <mc:Fallback>
                <p:oleObj name="Equation" r:id="rId4" imgW="1511280" imgH="444240" progId="Equation.DSMT4">
                  <p:embed/>
                  <p:pic>
                    <p:nvPicPr>
                      <p:cNvPr id="12" name="Object 11"/>
                      <p:cNvPicPr/>
                      <p:nvPr/>
                    </p:nvPicPr>
                    <p:blipFill>
                      <a:blip r:embed="rId5"/>
                      <a:stretch>
                        <a:fillRect/>
                      </a:stretch>
                    </p:blipFill>
                    <p:spPr>
                      <a:xfrm>
                        <a:off x="3355019" y="4220414"/>
                        <a:ext cx="2433963" cy="715872"/>
                      </a:xfrm>
                      <a:prstGeom prst="rect">
                        <a:avLst/>
                      </a:prstGeom>
                    </p:spPr>
                  </p:pic>
                </p:oleObj>
              </mc:Fallback>
            </mc:AlternateContent>
          </a:graphicData>
        </a:graphic>
      </p:graphicFrame>
    </p:spTree>
    <p:extLst>
      <p:ext uri="{BB962C8B-B14F-4D97-AF65-F5344CB8AC3E}">
        <p14:creationId xmlns:p14="http://schemas.microsoft.com/office/powerpoint/2010/main" val="7098450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(5 of 7)</a:t>
            </a:r>
            <a:endParaRPr lang="en-IN" sz="2000" dirty="0"/>
          </a:p>
        </p:txBody>
      </p:sp>
      <p:sp>
        <p:nvSpPr>
          <p:cNvPr id="3" name="Content Placeholder 2"/>
          <p:cNvSpPr>
            <a:spLocks noGrp="1"/>
          </p:cNvSpPr>
          <p:nvPr>
            <p:ph idx="1"/>
          </p:nvPr>
        </p:nvSpPr>
        <p:spPr>
          <a:xfrm>
            <a:off x="457200" y="1600201"/>
            <a:ext cx="4854102" cy="434339"/>
          </a:xfrm>
        </p:spPr>
        <p:txBody>
          <a:bodyPr/>
          <a:lstStyle/>
          <a:p>
            <a:pPr indent="-255600"/>
            <a:r>
              <a:rPr lang="en-US" altLang="en-US" sz="2000" dirty="0">
                <a:latin typeface="+mn-lt"/>
                <a:ea typeface="ヒラギノ角ゴ Pro W3" pitchFamily="-84" charset="-128"/>
              </a:rPr>
              <a:t>For example, suppose cheese sells for</a:t>
            </a:r>
            <a:endParaRPr lang="en-IN" sz="2000" dirty="0">
              <a:latin typeface="+mn-lt"/>
            </a:endParaRPr>
          </a:p>
        </p:txBody>
      </p:sp>
      <p:sp>
        <p:nvSpPr>
          <p:cNvPr id="4" name="Content Placeholder 3"/>
          <p:cNvSpPr>
            <a:spLocks noGrp="1"/>
          </p:cNvSpPr>
          <p:nvPr>
            <p:ph idx="13"/>
          </p:nvPr>
        </p:nvSpPr>
        <p:spPr>
          <a:xfrm>
            <a:off x="457201" y="2129610"/>
            <a:ext cx="2456976" cy="329881"/>
          </a:xfrm>
        </p:spPr>
        <p:txBody>
          <a:bodyPr tIns="0" bIns="0"/>
          <a:lstStyle/>
          <a:p>
            <a:pPr marL="255600" indent="0">
              <a:buNone/>
            </a:pPr>
            <a:r>
              <a:rPr lang="en-US" altLang="en-US" sz="2000" dirty="0">
                <a:latin typeface="+mn-lt"/>
                <a:ea typeface="ヒラギノ角ゴ Pro W3" pitchFamily="-84" charset="-128"/>
              </a:rPr>
              <a:t>and wine sells for</a:t>
            </a:r>
            <a:endParaRPr lang="en-IN" sz="2000" dirty="0">
              <a:latin typeface="+mn-lt"/>
            </a:endParaRPr>
          </a:p>
        </p:txBody>
      </p:sp>
      <p:sp>
        <p:nvSpPr>
          <p:cNvPr id="5" name="Content Placeholder 4"/>
          <p:cNvSpPr>
            <a:spLocks noGrp="1"/>
          </p:cNvSpPr>
          <p:nvPr>
            <p:ph idx="14"/>
          </p:nvPr>
        </p:nvSpPr>
        <p:spPr>
          <a:xfrm>
            <a:off x="457200" y="2553843"/>
            <a:ext cx="4572000" cy="381001"/>
          </a:xfrm>
        </p:spPr>
        <p:txBody>
          <a:bodyPr tIns="0"/>
          <a:lstStyle/>
          <a:p>
            <a:pPr lvl="1" indent="-284400"/>
            <a:r>
              <a:rPr lang="en-US" altLang="en-US" sz="2000" dirty="0">
                <a:latin typeface="+mn-lt"/>
                <a:ea typeface="ヒラギノ角ゴ Pro W3" pitchFamily="-84" charset="-128"/>
              </a:rPr>
              <a:t>Wage paid producing cheese is</a:t>
            </a:r>
            <a:endParaRPr lang="en-IN" sz="2000" dirty="0">
              <a:latin typeface="+mn-lt"/>
            </a:endParaRPr>
          </a:p>
        </p:txBody>
      </p:sp>
      <p:sp>
        <p:nvSpPr>
          <p:cNvPr id="6" name="Content Placeholder 5"/>
          <p:cNvSpPr>
            <a:spLocks noGrp="1"/>
          </p:cNvSpPr>
          <p:nvPr>
            <p:ph idx="15"/>
          </p:nvPr>
        </p:nvSpPr>
        <p:spPr>
          <a:xfrm>
            <a:off x="457200" y="3785235"/>
            <a:ext cx="4191000" cy="381816"/>
          </a:xfrm>
        </p:spPr>
        <p:txBody>
          <a:bodyPr tIns="0"/>
          <a:lstStyle/>
          <a:p>
            <a:pPr lvl="1" indent="-284400"/>
            <a:r>
              <a:rPr lang="en-US" altLang="en-US" sz="2000" dirty="0">
                <a:latin typeface="+mn-lt"/>
                <a:ea typeface="ヒラギノ角ゴ Pro W3" pitchFamily="-84" charset="-128"/>
              </a:rPr>
              <a:t>Wage paid producing wine is</a:t>
            </a:r>
            <a:endParaRPr lang="en-US" sz="2000" dirty="0">
              <a:latin typeface="+mn-lt"/>
            </a:endParaRPr>
          </a:p>
        </p:txBody>
      </p:sp>
      <p:sp>
        <p:nvSpPr>
          <p:cNvPr id="7" name="Content Placeholder 6"/>
          <p:cNvSpPr>
            <a:spLocks noGrp="1"/>
          </p:cNvSpPr>
          <p:nvPr>
            <p:ph idx="16"/>
          </p:nvPr>
        </p:nvSpPr>
        <p:spPr>
          <a:xfrm>
            <a:off x="457200" y="5076825"/>
            <a:ext cx="8229600" cy="356236"/>
          </a:xfrm>
        </p:spPr>
        <p:txBody>
          <a:bodyPr tIns="0"/>
          <a:lstStyle/>
          <a:p>
            <a:pPr lvl="1" indent="-284400"/>
            <a:r>
              <a:rPr lang="en-US" altLang="en-US" sz="2000" dirty="0">
                <a:latin typeface="+mn-lt"/>
                <a:ea typeface="ヒラギノ角ゴ Pro W3" pitchFamily="-84" charset="-128"/>
              </a:rPr>
              <a:t>Workers would be willing to make only cheese (the relative price</a:t>
            </a:r>
            <a:endParaRPr lang="en-IN" sz="2000" dirty="0">
              <a:latin typeface="+mn-lt"/>
            </a:endParaRPr>
          </a:p>
        </p:txBody>
      </p:sp>
      <p:sp>
        <p:nvSpPr>
          <p:cNvPr id="8" name="Content Placeholder 7"/>
          <p:cNvSpPr>
            <a:spLocks noGrp="1"/>
          </p:cNvSpPr>
          <p:nvPr>
            <p:ph sz="quarter" idx="17"/>
          </p:nvPr>
        </p:nvSpPr>
        <p:spPr>
          <a:xfrm>
            <a:off x="457200" y="5507842"/>
            <a:ext cx="2056757" cy="359557"/>
          </a:xfrm>
        </p:spPr>
        <p:txBody>
          <a:bodyPr tIns="0" bIns="0"/>
          <a:lstStyle/>
          <a:p>
            <a:pPr marL="741600" lvl="1" indent="0">
              <a:buNone/>
            </a:pPr>
            <a:r>
              <a:rPr lang="en-US" altLang="en-US" sz="2000" dirty="0">
                <a:latin typeface="+mn-lt"/>
                <a:ea typeface="ヒラギノ角ゴ Pro W3" pitchFamily="-84" charset="-128"/>
              </a:rPr>
              <a:t>of cheese</a:t>
            </a:r>
            <a:endParaRPr lang="en-IN" sz="2000" dirty="0">
              <a:latin typeface="+mn-lt"/>
            </a:endParaRPr>
          </a:p>
        </p:txBody>
      </p:sp>
      <p:sp>
        <p:nvSpPr>
          <p:cNvPr id="9" name="Content Placeholder 8"/>
          <p:cNvSpPr>
            <a:spLocks noGrp="1"/>
          </p:cNvSpPr>
          <p:nvPr>
            <p:ph sz="quarter" idx="18"/>
          </p:nvPr>
        </p:nvSpPr>
        <p:spPr>
          <a:xfrm>
            <a:off x="3184847" y="5498512"/>
            <a:ext cx="4582273" cy="334731"/>
          </a:xfrm>
        </p:spPr>
        <p:txBody>
          <a:bodyPr tIns="0" bIns="0"/>
          <a:lstStyle/>
          <a:p>
            <a:pPr marL="0" lvl="1" indent="0">
              <a:buNone/>
            </a:pPr>
            <a:r>
              <a:rPr lang="en-US" altLang="en-US" sz="2000" dirty="0">
                <a:latin typeface="+mn-lt"/>
                <a:ea typeface="ヒラギノ角ゴ Pro W3" pitchFamily="-84" charset="-128"/>
              </a:rPr>
              <a:t>exceeds the opportunity cost of cheese</a:t>
            </a:r>
            <a:endParaRPr lang="en-IN" sz="2000" dirty="0">
              <a:latin typeface="+mn-lt"/>
            </a:endParaRPr>
          </a:p>
        </p:txBody>
      </p:sp>
      <p:graphicFrame>
        <p:nvGraphicFramePr>
          <p:cNvPr id="11" name="Object 10" descr="P sub C = $4 per pound,"/>
          <p:cNvGraphicFramePr>
            <a:graphicFrameLocks noChangeAspect="1"/>
          </p:cNvGraphicFramePr>
          <p:nvPr>
            <p:extLst>
              <p:ext uri="{D42A27DB-BD31-4B8C-83A1-F6EECF244321}">
                <p14:modId xmlns:p14="http://schemas.microsoft.com/office/powerpoint/2010/main" val="1562722368"/>
              </p:ext>
            </p:extLst>
          </p:nvPr>
        </p:nvGraphicFramePr>
        <p:xfrm>
          <a:off x="5418641" y="1676241"/>
          <a:ext cx="1820359" cy="368163"/>
        </p:xfrm>
        <a:graphic>
          <a:graphicData uri="http://schemas.openxmlformats.org/presentationml/2006/ole">
            <mc:AlternateContent xmlns:mc="http://schemas.openxmlformats.org/markup-compatibility/2006">
              <mc:Choice xmlns:v="urn:schemas-microsoft-com:vml" Requires="v">
                <p:oleObj name="Equation" r:id="rId2" imgW="1130040" imgH="228600" progId="Equation.DSMT4">
                  <p:embed/>
                </p:oleObj>
              </mc:Choice>
              <mc:Fallback>
                <p:oleObj name="Equation" r:id="rId2" imgW="1130040" imgH="228600" progId="Equation.DSMT4">
                  <p:embed/>
                  <p:pic>
                    <p:nvPicPr>
                      <p:cNvPr id="11" name="Object 10"/>
                      <p:cNvPicPr/>
                      <p:nvPr/>
                    </p:nvPicPr>
                    <p:blipFill>
                      <a:blip r:embed="rId3"/>
                      <a:stretch>
                        <a:fillRect/>
                      </a:stretch>
                    </p:blipFill>
                    <p:spPr>
                      <a:xfrm>
                        <a:off x="5418641" y="1676241"/>
                        <a:ext cx="1820359" cy="368163"/>
                      </a:xfrm>
                      <a:prstGeom prst="rect">
                        <a:avLst/>
                      </a:prstGeom>
                    </p:spPr>
                  </p:pic>
                </p:oleObj>
              </mc:Fallback>
            </mc:AlternateContent>
          </a:graphicData>
        </a:graphic>
      </p:graphicFrame>
      <p:graphicFrame>
        <p:nvGraphicFramePr>
          <p:cNvPr id="12" name="Object 11" descr="P sub W = $7 per gallon."/>
          <p:cNvGraphicFramePr>
            <a:graphicFrameLocks noChangeAspect="1"/>
          </p:cNvGraphicFramePr>
          <p:nvPr>
            <p:extLst>
              <p:ext uri="{D42A27DB-BD31-4B8C-83A1-F6EECF244321}">
                <p14:modId xmlns:p14="http://schemas.microsoft.com/office/powerpoint/2010/main" val="3271028937"/>
              </p:ext>
            </p:extLst>
          </p:nvPr>
        </p:nvGraphicFramePr>
        <p:xfrm>
          <a:off x="3015533" y="2126628"/>
          <a:ext cx="1861267" cy="368163"/>
        </p:xfrm>
        <a:graphic>
          <a:graphicData uri="http://schemas.openxmlformats.org/presentationml/2006/ole">
            <mc:AlternateContent xmlns:mc="http://schemas.openxmlformats.org/markup-compatibility/2006">
              <mc:Choice xmlns:v="urn:schemas-microsoft-com:vml" Requires="v">
                <p:oleObj name="Equation" r:id="rId4" imgW="1155600" imgH="228600" progId="Equation.DSMT4">
                  <p:embed/>
                </p:oleObj>
              </mc:Choice>
              <mc:Fallback>
                <p:oleObj name="Equation" r:id="rId4" imgW="1155600" imgH="228600" progId="Equation.DSMT4">
                  <p:embed/>
                  <p:pic>
                    <p:nvPicPr>
                      <p:cNvPr id="12" name="Object 11"/>
                      <p:cNvPicPr/>
                      <p:nvPr/>
                    </p:nvPicPr>
                    <p:blipFill>
                      <a:blip r:embed="rId5"/>
                      <a:stretch>
                        <a:fillRect/>
                      </a:stretch>
                    </p:blipFill>
                    <p:spPr>
                      <a:xfrm>
                        <a:off x="3015533" y="2126628"/>
                        <a:ext cx="1861267" cy="368163"/>
                      </a:xfrm>
                      <a:prstGeom prst="rect">
                        <a:avLst/>
                      </a:prstGeom>
                    </p:spPr>
                  </p:pic>
                </p:oleObj>
              </mc:Fallback>
            </mc:AlternateContent>
          </a:graphicData>
        </a:graphic>
      </p:graphicFrame>
      <p:graphicFrame>
        <p:nvGraphicFramePr>
          <p:cNvPr id="13" name="Object 12" descr="Start fraction P sub C over a sub start expression L C end expression end fraction = left parenthesis $4 per pound right parenthesis left parenthesis 1 pound per hour right parenthesis = $4 per hour."/>
          <p:cNvGraphicFramePr>
            <a:graphicFrameLocks noChangeAspect="1"/>
          </p:cNvGraphicFramePr>
          <p:nvPr>
            <p:extLst>
              <p:ext uri="{D42A27DB-BD31-4B8C-83A1-F6EECF244321}">
                <p14:modId xmlns:p14="http://schemas.microsoft.com/office/powerpoint/2010/main" val="3754343385"/>
              </p:ext>
            </p:extLst>
          </p:nvPr>
        </p:nvGraphicFramePr>
        <p:xfrm>
          <a:off x="2366303" y="3004597"/>
          <a:ext cx="4970195" cy="695419"/>
        </p:xfrm>
        <a:graphic>
          <a:graphicData uri="http://schemas.openxmlformats.org/presentationml/2006/ole">
            <mc:AlternateContent xmlns:mc="http://schemas.openxmlformats.org/markup-compatibility/2006">
              <mc:Choice xmlns:v="urn:schemas-microsoft-com:vml" Requires="v">
                <p:oleObj name="Equation" r:id="rId6" imgW="3085920" imgH="431640" progId="Equation.DSMT4">
                  <p:embed/>
                </p:oleObj>
              </mc:Choice>
              <mc:Fallback>
                <p:oleObj name="Equation" r:id="rId6" imgW="3085920" imgH="431640" progId="Equation.DSMT4">
                  <p:embed/>
                  <p:pic>
                    <p:nvPicPr>
                      <p:cNvPr id="13" name="Object 12"/>
                      <p:cNvPicPr/>
                      <p:nvPr/>
                    </p:nvPicPr>
                    <p:blipFill>
                      <a:blip r:embed="rId7"/>
                      <a:stretch>
                        <a:fillRect/>
                      </a:stretch>
                    </p:blipFill>
                    <p:spPr>
                      <a:xfrm>
                        <a:off x="2366303" y="3004597"/>
                        <a:ext cx="4970195" cy="695419"/>
                      </a:xfrm>
                      <a:prstGeom prst="rect">
                        <a:avLst/>
                      </a:prstGeom>
                    </p:spPr>
                  </p:pic>
                </p:oleObj>
              </mc:Fallback>
            </mc:AlternateContent>
          </a:graphicData>
        </a:graphic>
      </p:graphicFrame>
      <p:graphicFrame>
        <p:nvGraphicFramePr>
          <p:cNvPr id="14" name="Object 13" descr="Start fraction P sub W over a sub start expression L W end expression end fraction = left parenthesis $7per gallon right parenthesis left parenthesis 1 half gallon per hour right parenthesis = $3.50 per hour."/>
          <p:cNvGraphicFramePr>
            <a:graphicFrameLocks noChangeAspect="1"/>
          </p:cNvGraphicFramePr>
          <p:nvPr>
            <p:extLst>
              <p:ext uri="{D42A27DB-BD31-4B8C-83A1-F6EECF244321}">
                <p14:modId xmlns:p14="http://schemas.microsoft.com/office/powerpoint/2010/main" val="2995560105"/>
              </p:ext>
            </p:extLst>
          </p:nvPr>
        </p:nvGraphicFramePr>
        <p:xfrm>
          <a:off x="2110634" y="4288280"/>
          <a:ext cx="5481532" cy="695419"/>
        </p:xfrm>
        <a:graphic>
          <a:graphicData uri="http://schemas.openxmlformats.org/presentationml/2006/ole">
            <mc:AlternateContent xmlns:mc="http://schemas.openxmlformats.org/markup-compatibility/2006">
              <mc:Choice xmlns:v="urn:schemas-microsoft-com:vml" Requires="v">
                <p:oleObj name="Equation" r:id="rId8" imgW="3403440" imgH="431640" progId="Equation.DSMT4">
                  <p:embed/>
                </p:oleObj>
              </mc:Choice>
              <mc:Fallback>
                <p:oleObj name="Equation" r:id="rId8" imgW="3403440" imgH="431640" progId="Equation.DSMT4">
                  <p:embed/>
                  <p:pic>
                    <p:nvPicPr>
                      <p:cNvPr id="14" name="Object 13"/>
                      <p:cNvPicPr/>
                      <p:nvPr/>
                    </p:nvPicPr>
                    <p:blipFill>
                      <a:blip r:embed="rId9"/>
                      <a:stretch>
                        <a:fillRect/>
                      </a:stretch>
                    </p:blipFill>
                    <p:spPr>
                      <a:xfrm>
                        <a:off x="2110634" y="4288280"/>
                        <a:ext cx="5481532" cy="695419"/>
                      </a:xfrm>
                      <a:prstGeom prst="rect">
                        <a:avLst/>
                      </a:prstGeom>
                    </p:spPr>
                  </p:pic>
                </p:oleObj>
              </mc:Fallback>
            </mc:AlternateContent>
          </a:graphicData>
        </a:graphic>
      </p:graphicFrame>
      <p:graphicFrame>
        <p:nvGraphicFramePr>
          <p:cNvPr id="15" name="Object 14" descr="4 sevenths"/>
          <p:cNvGraphicFramePr>
            <a:graphicFrameLocks noChangeAspect="1"/>
          </p:cNvGraphicFramePr>
          <p:nvPr>
            <p:extLst>
              <p:ext uri="{D42A27DB-BD31-4B8C-83A1-F6EECF244321}">
                <p14:modId xmlns:p14="http://schemas.microsoft.com/office/powerpoint/2010/main" val="793775450"/>
              </p:ext>
            </p:extLst>
          </p:nvPr>
        </p:nvGraphicFramePr>
        <p:xfrm>
          <a:off x="2608217" y="5533035"/>
          <a:ext cx="483727" cy="270886"/>
        </p:xfrm>
        <a:graphic>
          <a:graphicData uri="http://schemas.openxmlformats.org/presentationml/2006/ole">
            <mc:AlternateContent xmlns:mc="http://schemas.openxmlformats.org/markup-compatibility/2006">
              <mc:Choice xmlns:v="urn:schemas-microsoft-com:vml" Requires="v">
                <p:oleObj name="Equation" r:id="rId10" imgW="317160" imgH="177480" progId="Equation.DSMT4">
                  <p:embed/>
                </p:oleObj>
              </mc:Choice>
              <mc:Fallback>
                <p:oleObj name="Equation" r:id="rId10" imgW="317160" imgH="177480" progId="Equation.DSMT4">
                  <p:embed/>
                  <p:pic>
                    <p:nvPicPr>
                      <p:cNvPr id="15" name="Object 14"/>
                      <p:cNvPicPr/>
                      <p:nvPr/>
                    </p:nvPicPr>
                    <p:blipFill>
                      <a:blip r:embed="rId11"/>
                      <a:stretch>
                        <a:fillRect/>
                      </a:stretch>
                    </p:blipFill>
                    <p:spPr>
                      <a:xfrm>
                        <a:off x="2608217" y="5533035"/>
                        <a:ext cx="483727" cy="270886"/>
                      </a:xfrm>
                      <a:prstGeom prst="rect">
                        <a:avLst/>
                      </a:prstGeom>
                    </p:spPr>
                  </p:pic>
                </p:oleObj>
              </mc:Fallback>
            </mc:AlternateContent>
          </a:graphicData>
        </a:graphic>
      </p:graphicFrame>
      <p:graphicFrame>
        <p:nvGraphicFramePr>
          <p:cNvPr id="16" name="Object 15" descr="1 half right parenthesis."/>
          <p:cNvGraphicFramePr>
            <a:graphicFrameLocks noChangeAspect="1"/>
          </p:cNvGraphicFramePr>
          <p:nvPr>
            <p:extLst>
              <p:ext uri="{D42A27DB-BD31-4B8C-83A1-F6EECF244321}">
                <p14:modId xmlns:p14="http://schemas.microsoft.com/office/powerpoint/2010/main" val="1640895190"/>
              </p:ext>
            </p:extLst>
          </p:nvPr>
        </p:nvGraphicFramePr>
        <p:xfrm>
          <a:off x="7860023" y="5507843"/>
          <a:ext cx="409069" cy="327256"/>
        </p:xfrm>
        <a:graphic>
          <a:graphicData uri="http://schemas.openxmlformats.org/presentationml/2006/ole">
            <mc:AlternateContent xmlns:mc="http://schemas.openxmlformats.org/markup-compatibility/2006">
              <mc:Choice xmlns:v="urn:schemas-microsoft-com:vml" Requires="v">
                <p:oleObj name="Equation" r:id="rId12" imgW="253800" imgH="203040" progId="Equation.DSMT4">
                  <p:embed/>
                </p:oleObj>
              </mc:Choice>
              <mc:Fallback>
                <p:oleObj name="Equation" r:id="rId12" imgW="253800" imgH="203040" progId="Equation.DSMT4">
                  <p:embed/>
                  <p:pic>
                    <p:nvPicPr>
                      <p:cNvPr id="16" name="Object 15"/>
                      <p:cNvPicPr/>
                      <p:nvPr/>
                    </p:nvPicPr>
                    <p:blipFill>
                      <a:blip r:embed="rId13"/>
                      <a:stretch>
                        <a:fillRect/>
                      </a:stretch>
                    </p:blipFill>
                    <p:spPr>
                      <a:xfrm>
                        <a:off x="7860023" y="5507843"/>
                        <a:ext cx="409069" cy="327256"/>
                      </a:xfrm>
                      <a:prstGeom prst="rect">
                        <a:avLst/>
                      </a:prstGeom>
                    </p:spPr>
                  </p:pic>
                </p:oleObj>
              </mc:Fallback>
            </mc:AlternateContent>
          </a:graphicData>
        </a:graphic>
      </p:graphicFrame>
    </p:spTree>
    <p:extLst>
      <p:ext uri="{BB962C8B-B14F-4D97-AF65-F5344CB8AC3E}">
        <p14:creationId xmlns:p14="http://schemas.microsoft.com/office/powerpoint/2010/main" val="3252694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(6 of 7)</a:t>
            </a:r>
            <a:endParaRPr lang="en-IN" sz="2000" dirty="0"/>
          </a:p>
        </p:txBody>
      </p:sp>
      <p:sp>
        <p:nvSpPr>
          <p:cNvPr id="3" name="Content Placeholder 2"/>
          <p:cNvSpPr>
            <a:spLocks noGrp="1"/>
          </p:cNvSpPr>
          <p:nvPr>
            <p:ph idx="1"/>
          </p:nvPr>
        </p:nvSpPr>
        <p:spPr>
          <a:xfrm>
            <a:off x="457200" y="1600201"/>
            <a:ext cx="3850849" cy="430160"/>
          </a:xfrm>
        </p:spPr>
        <p:txBody>
          <a:bodyPr/>
          <a:lstStyle/>
          <a:p>
            <a:pPr indent="-255600"/>
            <a:r>
              <a:rPr lang="en-US" altLang="en-US" sz="2000" dirty="0">
                <a:latin typeface="+mn-lt"/>
                <a:ea typeface="ヒラギノ角ゴ Pro W3" pitchFamily="-84" charset="-128"/>
              </a:rPr>
              <a:t>If the price of cheese drops to</a:t>
            </a:r>
            <a:endParaRPr lang="en-IN" sz="2000" dirty="0">
              <a:latin typeface="+mn-lt"/>
            </a:endParaRPr>
          </a:p>
        </p:txBody>
      </p:sp>
      <p:sp>
        <p:nvSpPr>
          <p:cNvPr id="4" name="Content Placeholder 3"/>
          <p:cNvSpPr>
            <a:spLocks noGrp="1"/>
          </p:cNvSpPr>
          <p:nvPr>
            <p:ph idx="13"/>
          </p:nvPr>
        </p:nvSpPr>
        <p:spPr>
          <a:xfrm>
            <a:off x="457200" y="2108583"/>
            <a:ext cx="5217736" cy="428651"/>
          </a:xfrm>
        </p:spPr>
        <p:txBody>
          <a:bodyPr/>
          <a:lstStyle/>
          <a:p>
            <a:pPr lvl="1" indent="-284400"/>
            <a:r>
              <a:rPr lang="en-US" altLang="en-US" sz="2000" dirty="0">
                <a:latin typeface="+mn-lt"/>
                <a:ea typeface="ヒラギノ角ゴ Pro W3" pitchFamily="-84" charset="-128"/>
              </a:rPr>
              <a:t>Wage paid producing cheese drops to</a:t>
            </a:r>
            <a:endParaRPr lang="en-US" sz="2000" dirty="0">
              <a:latin typeface="+mn-lt"/>
            </a:endParaRPr>
          </a:p>
        </p:txBody>
      </p:sp>
      <p:sp>
        <p:nvSpPr>
          <p:cNvPr id="5" name="Content Placeholder 4"/>
          <p:cNvSpPr>
            <a:spLocks noGrp="1"/>
          </p:cNvSpPr>
          <p:nvPr>
            <p:ph idx="14"/>
          </p:nvPr>
        </p:nvSpPr>
        <p:spPr>
          <a:xfrm>
            <a:off x="457200" y="3418853"/>
            <a:ext cx="4675358" cy="461011"/>
          </a:xfrm>
        </p:spPr>
        <p:txBody>
          <a:bodyPr/>
          <a:lstStyle/>
          <a:p>
            <a:pPr lvl="1" indent="-284400"/>
            <a:r>
              <a:rPr lang="en-US" altLang="en-US" sz="2000" dirty="0">
                <a:latin typeface="+mn-lt"/>
                <a:ea typeface="ヒラギノ角ゴ Pro W3" pitchFamily="-84" charset="-128"/>
              </a:rPr>
              <a:t>Wage paid producing wine is still</a:t>
            </a:r>
            <a:endParaRPr lang="en-IN" sz="2000" dirty="0">
              <a:latin typeface="+mn-lt"/>
            </a:endParaRPr>
          </a:p>
        </p:txBody>
      </p:sp>
      <p:sp>
        <p:nvSpPr>
          <p:cNvPr id="6" name="Content Placeholder 5"/>
          <p:cNvSpPr>
            <a:spLocks noGrp="1"/>
          </p:cNvSpPr>
          <p:nvPr>
            <p:ph idx="15"/>
          </p:nvPr>
        </p:nvSpPr>
        <p:spPr>
          <a:xfrm>
            <a:off x="6824875" y="3486892"/>
            <a:ext cx="1233577" cy="348508"/>
          </a:xfrm>
        </p:spPr>
        <p:txBody>
          <a:bodyPr tIns="0" bIns="0"/>
          <a:lstStyle/>
          <a:p>
            <a:pPr marL="0" lvl="1" indent="0">
              <a:buNone/>
            </a:pPr>
            <a:r>
              <a:rPr lang="en-US" altLang="en-US" sz="2000" dirty="0">
                <a:latin typeface="+mn-lt"/>
                <a:ea typeface="ヒラギノ角ゴ Pro W3" pitchFamily="-84" charset="-128"/>
              </a:rPr>
              <a:t>if price of</a:t>
            </a:r>
            <a:endParaRPr lang="en-IN" sz="2000" dirty="0">
              <a:latin typeface="+mn-lt"/>
            </a:endParaRPr>
          </a:p>
        </p:txBody>
      </p:sp>
      <p:sp>
        <p:nvSpPr>
          <p:cNvPr id="7" name="Content Placeholder 6"/>
          <p:cNvSpPr>
            <a:spLocks noGrp="1"/>
          </p:cNvSpPr>
          <p:nvPr>
            <p:ph idx="16"/>
          </p:nvPr>
        </p:nvSpPr>
        <p:spPr>
          <a:xfrm>
            <a:off x="457200" y="4028187"/>
            <a:ext cx="2238865" cy="322054"/>
          </a:xfrm>
        </p:spPr>
        <p:txBody>
          <a:bodyPr tIns="0" bIns="0"/>
          <a:lstStyle/>
          <a:p>
            <a:pPr marL="741600" lvl="1" indent="0">
              <a:buNone/>
            </a:pPr>
            <a:r>
              <a:rPr lang="en-US" altLang="en-US" sz="2000" dirty="0">
                <a:latin typeface="+mn-lt"/>
                <a:ea typeface="ヒラギノ角ゴ Pro W3" pitchFamily="-84" charset="-128"/>
              </a:rPr>
              <a:t>wine is still</a:t>
            </a:r>
            <a:endParaRPr lang="en-IN" sz="2000" dirty="0">
              <a:latin typeface="+mn-lt"/>
            </a:endParaRPr>
          </a:p>
        </p:txBody>
      </p:sp>
      <p:sp>
        <p:nvSpPr>
          <p:cNvPr id="8" name="Content Placeholder 7"/>
          <p:cNvSpPr>
            <a:spLocks noGrp="1"/>
          </p:cNvSpPr>
          <p:nvPr>
            <p:ph sz="quarter" idx="17"/>
          </p:nvPr>
        </p:nvSpPr>
        <p:spPr>
          <a:xfrm>
            <a:off x="457200" y="4504666"/>
            <a:ext cx="7781827" cy="443372"/>
          </a:xfrm>
        </p:spPr>
        <p:txBody>
          <a:bodyPr/>
          <a:lstStyle/>
          <a:p>
            <a:pPr lvl="1" indent="-284400"/>
            <a:r>
              <a:rPr lang="en-US" altLang="en-US" sz="2000" dirty="0">
                <a:latin typeface="+mn-lt"/>
                <a:ea typeface="ヒラギノ角ゴ Pro W3" pitchFamily="-84" charset="-128"/>
              </a:rPr>
              <a:t>Now workers would be willing to make only wine (the relative</a:t>
            </a:r>
            <a:endParaRPr lang="en-US" sz="2000" dirty="0">
              <a:latin typeface="+mn-lt"/>
            </a:endParaRPr>
          </a:p>
        </p:txBody>
      </p:sp>
      <p:sp>
        <p:nvSpPr>
          <p:cNvPr id="9" name="Content Placeholder 8"/>
          <p:cNvSpPr>
            <a:spLocks noGrp="1"/>
          </p:cNvSpPr>
          <p:nvPr>
            <p:ph sz="quarter" idx="18"/>
          </p:nvPr>
        </p:nvSpPr>
        <p:spPr>
          <a:xfrm>
            <a:off x="457201" y="5175069"/>
            <a:ext cx="2735972" cy="347029"/>
          </a:xfrm>
        </p:spPr>
        <p:txBody>
          <a:bodyPr tIns="0" bIns="0"/>
          <a:lstStyle/>
          <a:p>
            <a:pPr marL="741600" lvl="1" indent="0">
              <a:buNone/>
            </a:pPr>
            <a:r>
              <a:rPr lang="en-US" altLang="en-US" sz="2000" dirty="0">
                <a:latin typeface="+mn-lt"/>
                <a:ea typeface="ヒラギノ角ゴ Pro W3" pitchFamily="-84" charset="-128"/>
              </a:rPr>
              <a:t>price</a:t>
            </a:r>
            <a:r>
              <a:rPr lang="en-US" altLang="en-US" sz="2000" dirty="0">
                <a:latin typeface="+mn-lt"/>
              </a:rPr>
              <a:t> </a:t>
            </a:r>
            <a:r>
              <a:rPr lang="en-US" altLang="en-US" sz="2000" dirty="0">
                <a:latin typeface="+mn-lt"/>
                <a:ea typeface="ヒラギノ角ゴ Pro W3" pitchFamily="-84" charset="-128"/>
              </a:rPr>
              <a:t>of cheese</a:t>
            </a:r>
            <a:endParaRPr lang="en-US" sz="2000" dirty="0">
              <a:latin typeface="+mn-lt"/>
            </a:endParaRPr>
          </a:p>
        </p:txBody>
      </p:sp>
      <p:sp>
        <p:nvSpPr>
          <p:cNvPr id="18" name="Content Placeholder 17"/>
          <p:cNvSpPr>
            <a:spLocks noGrp="1"/>
          </p:cNvSpPr>
          <p:nvPr>
            <p:ph sz="quarter" idx="19"/>
          </p:nvPr>
        </p:nvSpPr>
        <p:spPr>
          <a:xfrm>
            <a:off x="3733014" y="5209824"/>
            <a:ext cx="4609708" cy="378175"/>
          </a:xfrm>
        </p:spPr>
        <p:txBody>
          <a:bodyPr tIns="0" bIns="0"/>
          <a:lstStyle/>
          <a:p>
            <a:pPr marL="0" lvl="1" indent="0">
              <a:buNone/>
            </a:pPr>
            <a:r>
              <a:rPr lang="en-US" altLang="en-US" sz="2000" dirty="0">
                <a:latin typeface="+mn-lt"/>
                <a:ea typeface="ヒラギノ角ゴ Pro W3" pitchFamily="-84" charset="-128"/>
              </a:rPr>
              <a:t>is now less than the opportunity cost of</a:t>
            </a:r>
            <a:endParaRPr lang="en-IN" sz="2000" dirty="0">
              <a:latin typeface="+mn-lt"/>
            </a:endParaRPr>
          </a:p>
        </p:txBody>
      </p:sp>
      <p:sp>
        <p:nvSpPr>
          <p:cNvPr id="16" name="Content Placeholder 15"/>
          <p:cNvSpPr>
            <a:spLocks noGrp="1"/>
          </p:cNvSpPr>
          <p:nvPr>
            <p:ph sz="quarter" idx="20"/>
          </p:nvPr>
        </p:nvSpPr>
        <p:spPr>
          <a:xfrm>
            <a:off x="447775" y="5596502"/>
            <a:ext cx="1767524" cy="464347"/>
          </a:xfrm>
        </p:spPr>
        <p:txBody>
          <a:bodyPr/>
          <a:lstStyle/>
          <a:p>
            <a:pPr marL="741600" lvl="1" indent="0">
              <a:buNone/>
            </a:pPr>
            <a:r>
              <a:rPr lang="en-US" altLang="en-US" sz="2000" dirty="0">
                <a:latin typeface="+mn-lt"/>
                <a:ea typeface="ヒラギノ角ゴ Pro W3" pitchFamily="-84" charset="-128"/>
              </a:rPr>
              <a:t>cheese</a:t>
            </a:r>
            <a:endParaRPr lang="en-US" sz="2000" dirty="0">
              <a:latin typeface="+mn-lt"/>
            </a:endParaRPr>
          </a:p>
        </p:txBody>
      </p:sp>
      <p:graphicFrame>
        <p:nvGraphicFramePr>
          <p:cNvPr id="11" name="Object 10" descr="P sub C = $3 per pound."/>
          <p:cNvGraphicFramePr>
            <a:graphicFrameLocks noChangeAspect="1"/>
          </p:cNvGraphicFramePr>
          <p:nvPr>
            <p:extLst>
              <p:ext uri="{D42A27DB-BD31-4B8C-83A1-F6EECF244321}">
                <p14:modId xmlns:p14="http://schemas.microsoft.com/office/powerpoint/2010/main" val="3121132376"/>
              </p:ext>
            </p:extLst>
          </p:nvPr>
        </p:nvGraphicFramePr>
        <p:xfrm>
          <a:off x="4387133" y="1679896"/>
          <a:ext cx="1861267" cy="368163"/>
        </p:xfrm>
        <a:graphic>
          <a:graphicData uri="http://schemas.openxmlformats.org/presentationml/2006/ole">
            <mc:AlternateContent xmlns:mc="http://schemas.openxmlformats.org/markup-compatibility/2006">
              <mc:Choice xmlns:v="urn:schemas-microsoft-com:vml" Requires="v">
                <p:oleObj name="Equation" r:id="rId2" imgW="1155600" imgH="228600" progId="Equation.DSMT4">
                  <p:embed/>
                </p:oleObj>
              </mc:Choice>
              <mc:Fallback>
                <p:oleObj name="Equation" r:id="rId2" imgW="1155600" imgH="228600" progId="Equation.DSMT4">
                  <p:embed/>
                  <p:pic>
                    <p:nvPicPr>
                      <p:cNvPr id="11" name="Object 10"/>
                      <p:cNvPicPr/>
                      <p:nvPr/>
                    </p:nvPicPr>
                    <p:blipFill>
                      <a:blip r:embed="rId3"/>
                      <a:stretch>
                        <a:fillRect/>
                      </a:stretch>
                    </p:blipFill>
                    <p:spPr>
                      <a:xfrm>
                        <a:off x="4387133" y="1679896"/>
                        <a:ext cx="1861267" cy="368163"/>
                      </a:xfrm>
                      <a:prstGeom prst="rect">
                        <a:avLst/>
                      </a:prstGeom>
                    </p:spPr>
                  </p:pic>
                </p:oleObj>
              </mc:Fallback>
            </mc:AlternateContent>
          </a:graphicData>
        </a:graphic>
      </p:graphicFrame>
      <p:graphicFrame>
        <p:nvGraphicFramePr>
          <p:cNvPr id="12" name="Object 11" descr="Start fraction P sub C over a sub start expression L C end expression end fraction = left parenthesis $3 per pound right parenthesis left parenthesis 1 pound per hour right parenthesis = $3 per hour."/>
          <p:cNvGraphicFramePr>
            <a:graphicFrameLocks noChangeAspect="1"/>
          </p:cNvGraphicFramePr>
          <p:nvPr>
            <p:extLst>
              <p:ext uri="{D42A27DB-BD31-4B8C-83A1-F6EECF244321}">
                <p14:modId xmlns:p14="http://schemas.microsoft.com/office/powerpoint/2010/main" val="3048285843"/>
              </p:ext>
            </p:extLst>
          </p:nvPr>
        </p:nvGraphicFramePr>
        <p:xfrm>
          <a:off x="2407210" y="2640161"/>
          <a:ext cx="4888380" cy="695419"/>
        </p:xfrm>
        <a:graphic>
          <a:graphicData uri="http://schemas.openxmlformats.org/presentationml/2006/ole">
            <mc:AlternateContent xmlns:mc="http://schemas.openxmlformats.org/markup-compatibility/2006">
              <mc:Choice xmlns:v="urn:schemas-microsoft-com:vml" Requires="v">
                <p:oleObj name="Equation" r:id="rId4" imgW="3035160" imgH="431640" progId="Equation.DSMT4">
                  <p:embed/>
                </p:oleObj>
              </mc:Choice>
              <mc:Fallback>
                <p:oleObj name="Equation" r:id="rId4" imgW="3035160" imgH="431640" progId="Equation.DSMT4">
                  <p:embed/>
                  <p:pic>
                    <p:nvPicPr>
                      <p:cNvPr id="12" name="Object 11"/>
                      <p:cNvPicPr/>
                      <p:nvPr/>
                    </p:nvPicPr>
                    <p:blipFill>
                      <a:blip r:embed="rId5"/>
                      <a:stretch>
                        <a:fillRect/>
                      </a:stretch>
                    </p:blipFill>
                    <p:spPr>
                      <a:xfrm>
                        <a:off x="2407210" y="2640161"/>
                        <a:ext cx="4888380" cy="695419"/>
                      </a:xfrm>
                      <a:prstGeom prst="rect">
                        <a:avLst/>
                      </a:prstGeom>
                    </p:spPr>
                  </p:pic>
                </p:oleObj>
              </mc:Fallback>
            </mc:AlternateContent>
          </a:graphicData>
        </a:graphic>
      </p:graphicFrame>
      <p:graphicFrame>
        <p:nvGraphicFramePr>
          <p:cNvPr id="13" name="Object 12" descr="$3.50 per hour"/>
          <p:cNvGraphicFramePr>
            <a:graphicFrameLocks noChangeAspect="1"/>
          </p:cNvGraphicFramePr>
          <p:nvPr>
            <p:extLst>
              <p:ext uri="{D42A27DB-BD31-4B8C-83A1-F6EECF244321}">
                <p14:modId xmlns:p14="http://schemas.microsoft.com/office/powerpoint/2010/main" val="1821614267"/>
              </p:ext>
            </p:extLst>
          </p:nvPr>
        </p:nvGraphicFramePr>
        <p:xfrm>
          <a:off x="5243606" y="3504654"/>
          <a:ext cx="1470220" cy="334142"/>
        </p:xfrm>
        <a:graphic>
          <a:graphicData uri="http://schemas.openxmlformats.org/presentationml/2006/ole">
            <mc:AlternateContent xmlns:mc="http://schemas.openxmlformats.org/markup-compatibility/2006">
              <mc:Choice xmlns:v="urn:schemas-microsoft-com:vml" Requires="v">
                <p:oleObj name="Equation" r:id="rId6" imgW="838080" imgH="190440" progId="Equation.DSMT4">
                  <p:embed/>
                </p:oleObj>
              </mc:Choice>
              <mc:Fallback>
                <p:oleObj name="Equation" r:id="rId6" imgW="838080" imgH="190440" progId="Equation.DSMT4">
                  <p:embed/>
                  <p:pic>
                    <p:nvPicPr>
                      <p:cNvPr id="13" name="Object 12"/>
                      <p:cNvPicPr/>
                      <p:nvPr/>
                    </p:nvPicPr>
                    <p:blipFill>
                      <a:blip r:embed="rId7"/>
                      <a:stretch>
                        <a:fillRect/>
                      </a:stretch>
                    </p:blipFill>
                    <p:spPr>
                      <a:xfrm>
                        <a:off x="5243606" y="3504654"/>
                        <a:ext cx="1470220" cy="334142"/>
                      </a:xfrm>
                      <a:prstGeom prst="rect">
                        <a:avLst/>
                      </a:prstGeom>
                    </p:spPr>
                  </p:pic>
                </p:oleObj>
              </mc:Fallback>
            </mc:AlternateContent>
          </a:graphicData>
        </a:graphic>
      </p:graphicFrame>
      <p:graphicFrame>
        <p:nvGraphicFramePr>
          <p:cNvPr id="14" name="Object 13" descr="$7 per gallon."/>
          <p:cNvGraphicFramePr>
            <a:graphicFrameLocks noChangeAspect="1"/>
          </p:cNvGraphicFramePr>
          <p:nvPr>
            <p:extLst>
              <p:ext uri="{D42A27DB-BD31-4B8C-83A1-F6EECF244321}">
                <p14:modId xmlns:p14="http://schemas.microsoft.com/office/powerpoint/2010/main" val="2176066011"/>
              </p:ext>
            </p:extLst>
          </p:nvPr>
        </p:nvGraphicFramePr>
        <p:xfrm>
          <a:off x="2826957" y="4025010"/>
          <a:ext cx="1227208" cy="327256"/>
        </p:xfrm>
        <a:graphic>
          <a:graphicData uri="http://schemas.openxmlformats.org/presentationml/2006/ole">
            <mc:AlternateContent xmlns:mc="http://schemas.openxmlformats.org/markup-compatibility/2006">
              <mc:Choice xmlns:v="urn:schemas-microsoft-com:vml" Requires="v">
                <p:oleObj name="Equation" r:id="rId8" imgW="761760" imgH="203040" progId="Equation.DSMT4">
                  <p:embed/>
                </p:oleObj>
              </mc:Choice>
              <mc:Fallback>
                <p:oleObj name="Equation" r:id="rId8" imgW="761760" imgH="203040" progId="Equation.DSMT4">
                  <p:embed/>
                  <p:pic>
                    <p:nvPicPr>
                      <p:cNvPr id="14" name="Object 13"/>
                      <p:cNvPicPr/>
                      <p:nvPr/>
                    </p:nvPicPr>
                    <p:blipFill>
                      <a:blip r:embed="rId9"/>
                      <a:stretch>
                        <a:fillRect/>
                      </a:stretch>
                    </p:blipFill>
                    <p:spPr>
                      <a:xfrm>
                        <a:off x="2826957" y="4025010"/>
                        <a:ext cx="1227208" cy="327256"/>
                      </a:xfrm>
                      <a:prstGeom prst="rect">
                        <a:avLst/>
                      </a:prstGeom>
                    </p:spPr>
                  </p:pic>
                </p:oleObj>
              </mc:Fallback>
            </mc:AlternateContent>
          </a:graphicData>
        </a:graphic>
      </p:graphicFrame>
      <p:graphicFrame>
        <p:nvGraphicFramePr>
          <p:cNvPr id="10" name="Object 9" descr="3 sevenths "/>
          <p:cNvGraphicFramePr>
            <a:graphicFrameLocks noChangeAspect="1"/>
          </p:cNvGraphicFramePr>
          <p:nvPr>
            <p:extLst>
              <p:ext uri="{D42A27DB-BD31-4B8C-83A1-F6EECF244321}">
                <p14:modId xmlns:p14="http://schemas.microsoft.com/office/powerpoint/2010/main" val="348621079"/>
              </p:ext>
            </p:extLst>
          </p:nvPr>
        </p:nvGraphicFramePr>
        <p:xfrm>
          <a:off x="3341762" y="5046726"/>
          <a:ext cx="227613" cy="588003"/>
        </p:xfrm>
        <a:graphic>
          <a:graphicData uri="http://schemas.openxmlformats.org/presentationml/2006/ole">
            <mc:AlternateContent xmlns:mc="http://schemas.openxmlformats.org/markup-compatibility/2006">
              <mc:Choice xmlns:v="urn:schemas-microsoft-com:vml" Requires="v">
                <p:oleObj name="Equation" r:id="rId10" imgW="152280" imgH="393480" progId="Equation.DSMT4">
                  <p:embed/>
                </p:oleObj>
              </mc:Choice>
              <mc:Fallback>
                <p:oleObj name="Equation" r:id="rId10" imgW="152280" imgH="393480" progId="Equation.DSMT4">
                  <p:embed/>
                  <p:pic>
                    <p:nvPicPr>
                      <p:cNvPr id="10" name="Object 9"/>
                      <p:cNvPicPr/>
                      <p:nvPr/>
                    </p:nvPicPr>
                    <p:blipFill>
                      <a:blip r:embed="rId11"/>
                      <a:stretch>
                        <a:fillRect/>
                      </a:stretch>
                    </p:blipFill>
                    <p:spPr>
                      <a:xfrm>
                        <a:off x="3341762" y="5046726"/>
                        <a:ext cx="227613" cy="588003"/>
                      </a:xfrm>
                      <a:prstGeom prst="rect">
                        <a:avLst/>
                      </a:prstGeom>
                    </p:spPr>
                  </p:pic>
                </p:oleObj>
              </mc:Fallback>
            </mc:AlternateContent>
          </a:graphicData>
        </a:graphic>
      </p:graphicFrame>
      <p:graphicFrame>
        <p:nvGraphicFramePr>
          <p:cNvPr id="15" name="Object 14" descr="1 half right parenthesis."/>
          <p:cNvGraphicFramePr>
            <a:graphicFrameLocks noChangeAspect="1"/>
          </p:cNvGraphicFramePr>
          <p:nvPr>
            <p:extLst>
              <p:ext uri="{D42A27DB-BD31-4B8C-83A1-F6EECF244321}">
                <p14:modId xmlns:p14="http://schemas.microsoft.com/office/powerpoint/2010/main" val="336848926"/>
              </p:ext>
            </p:extLst>
          </p:nvPr>
        </p:nvGraphicFramePr>
        <p:xfrm>
          <a:off x="2303702" y="5687447"/>
          <a:ext cx="494974" cy="395980"/>
        </p:xfrm>
        <a:graphic>
          <a:graphicData uri="http://schemas.openxmlformats.org/presentationml/2006/ole">
            <mc:AlternateContent xmlns:mc="http://schemas.openxmlformats.org/markup-compatibility/2006">
              <mc:Choice xmlns:v="urn:schemas-microsoft-com:vml" Requires="v">
                <p:oleObj name="Equation" r:id="rId12" imgW="253800" imgH="203040" progId="Equation.DSMT4">
                  <p:embed/>
                </p:oleObj>
              </mc:Choice>
              <mc:Fallback>
                <p:oleObj name="Equation" r:id="rId12" imgW="253800" imgH="203040" progId="Equation.DSMT4">
                  <p:embed/>
                  <p:pic>
                    <p:nvPicPr>
                      <p:cNvPr id="15" name="Object 14"/>
                      <p:cNvPicPr/>
                      <p:nvPr/>
                    </p:nvPicPr>
                    <p:blipFill>
                      <a:blip r:embed="rId13"/>
                      <a:stretch>
                        <a:fillRect/>
                      </a:stretch>
                    </p:blipFill>
                    <p:spPr>
                      <a:xfrm>
                        <a:off x="2303702" y="5687447"/>
                        <a:ext cx="494974" cy="395980"/>
                      </a:xfrm>
                      <a:prstGeom prst="rect">
                        <a:avLst/>
                      </a:prstGeom>
                    </p:spPr>
                  </p:pic>
                </p:oleObj>
              </mc:Fallback>
            </mc:AlternateContent>
          </a:graphicData>
        </a:graphic>
      </p:graphicFrame>
    </p:spTree>
    <p:extLst>
      <p:ext uri="{BB962C8B-B14F-4D97-AF65-F5344CB8AC3E}">
        <p14:creationId xmlns:p14="http://schemas.microsoft.com/office/powerpoint/2010/main" val="20481028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1F56B-5938-4EBF-8A60-E48DC3FE90B7}"/>
              </a:ext>
            </a:extLst>
          </p:cNvPr>
          <p:cNvSpPr>
            <a:spLocks noGrp="1"/>
          </p:cNvSpPr>
          <p:nvPr>
            <p:ph type="title"/>
          </p:nvPr>
        </p:nvSpPr>
        <p:spPr/>
        <p:txBody>
          <a:bodyPr/>
          <a:lstStyle/>
          <a:p>
            <a:r>
              <a:rPr lang="en-US" altLang="en-US" sz="3600" dirty="0">
                <a:solidFill>
                  <a:schemeClr val="tx1"/>
                </a:solidFill>
                <a:ea typeface="ヒラギノ角ゴ Pro W3" pitchFamily="-84" charset="-128"/>
                <a:cs typeface="Times New Roman" panose="02020603050405020304" pitchFamily="18" charset="0"/>
              </a:rPr>
              <a:t>Relative Prices and Supply </a:t>
            </a:r>
            <a:r>
              <a:rPr lang="en-US" altLang="en-US" sz="2000" b="0" dirty="0">
                <a:solidFill>
                  <a:schemeClr val="tx1"/>
                </a:solidFill>
                <a:ea typeface="ヒラギノ角ゴ Pro W3" pitchFamily="-84" charset="-128"/>
                <a:cs typeface="Times New Roman" panose="02020603050405020304" pitchFamily="18" charset="0"/>
              </a:rPr>
              <a:t>(7 of 7)</a:t>
            </a:r>
            <a:endParaRPr lang="en-US" sz="2000" dirty="0">
              <a:solidFill>
                <a:schemeClr val="tx1"/>
              </a:solidFill>
            </a:endParaRPr>
          </a:p>
        </p:txBody>
      </p:sp>
      <p:sp>
        <p:nvSpPr>
          <p:cNvPr id="3" name="Content Placeholder 2">
            <a:extLst>
              <a:ext uri="{FF2B5EF4-FFF2-40B4-BE49-F238E27FC236}">
                <a16:creationId xmlns:a16="http://schemas.microsoft.com/office/drawing/2014/main" id="{C42E05EB-AC7C-4B11-AAD7-473CA4D41EEB}"/>
              </a:ext>
            </a:extLst>
          </p:cNvPr>
          <p:cNvSpPr>
            <a:spLocks noGrp="1"/>
          </p:cNvSpPr>
          <p:nvPr>
            <p:ph sz="quarter" idx="13"/>
          </p:nvPr>
        </p:nvSpPr>
        <p:spPr>
          <a:xfrm>
            <a:off x="457200" y="1552575"/>
            <a:ext cx="8229600" cy="1089026"/>
          </a:xfrm>
        </p:spPr>
        <p:txBody>
          <a:bodyPr/>
          <a:lstStyle/>
          <a:p>
            <a:r>
              <a:rPr lang="en-US" altLang="en-US" sz="2000" dirty="0">
                <a:ea typeface="ヒラギノ角ゴ Pro W3" pitchFamily="-84" charset="-128"/>
              </a:rPr>
              <a:t>If the home country wants to consume both wine and cheese (in the absence of international trade), relative prices must adjust so that wages are equal in the wine and cheese industries.</a:t>
            </a:r>
            <a:endParaRPr lang="en-US" sz="2000" dirty="0"/>
          </a:p>
        </p:txBody>
      </p:sp>
      <p:sp>
        <p:nvSpPr>
          <p:cNvPr id="4" name="Content Placeholder 3">
            <a:extLst>
              <a:ext uri="{FF2B5EF4-FFF2-40B4-BE49-F238E27FC236}">
                <a16:creationId xmlns:a16="http://schemas.microsoft.com/office/drawing/2014/main" id="{D678822F-8464-43FA-B992-B4D14F59BF9F}"/>
              </a:ext>
            </a:extLst>
          </p:cNvPr>
          <p:cNvSpPr>
            <a:spLocks noGrp="1"/>
          </p:cNvSpPr>
          <p:nvPr>
            <p:ph sz="quarter" idx="14"/>
          </p:nvPr>
        </p:nvSpPr>
        <p:spPr>
          <a:xfrm>
            <a:off x="457200" y="2775572"/>
            <a:ext cx="1117600" cy="475628"/>
          </a:xfrm>
        </p:spPr>
        <p:txBody>
          <a:bodyPr/>
          <a:lstStyle/>
          <a:p>
            <a:pPr lvl="1"/>
            <a:r>
              <a:rPr lang="en-US" sz="2000" dirty="0"/>
              <a:t>If</a:t>
            </a:r>
          </a:p>
        </p:txBody>
      </p:sp>
      <p:sp>
        <p:nvSpPr>
          <p:cNvPr id="5" name="Content Placeholder 4">
            <a:extLst>
              <a:ext uri="{FF2B5EF4-FFF2-40B4-BE49-F238E27FC236}">
                <a16:creationId xmlns:a16="http://schemas.microsoft.com/office/drawing/2014/main" id="{0945A407-809C-4E5B-9358-D523F31150DC}"/>
              </a:ext>
            </a:extLst>
          </p:cNvPr>
          <p:cNvSpPr>
            <a:spLocks noGrp="1"/>
          </p:cNvSpPr>
          <p:nvPr>
            <p:ph sz="quarter" idx="15"/>
          </p:nvPr>
        </p:nvSpPr>
        <p:spPr>
          <a:xfrm>
            <a:off x="3048000" y="2819993"/>
            <a:ext cx="5435600" cy="470443"/>
          </a:xfrm>
        </p:spPr>
        <p:txBody>
          <a:bodyPr/>
          <a:lstStyle/>
          <a:p>
            <a:pPr marL="0" lvl="1" indent="0">
              <a:buNone/>
            </a:pPr>
            <a:r>
              <a:rPr lang="en-US" altLang="en-US" sz="2000" dirty="0">
                <a:ea typeface="ヒラギノ角ゴ Pro W3" pitchFamily="-84" charset="-128"/>
              </a:rPr>
              <a:t>workers will not care whether they work in the</a:t>
            </a:r>
            <a:endParaRPr lang="en-US" sz="2000" dirty="0"/>
          </a:p>
        </p:txBody>
      </p:sp>
      <p:sp>
        <p:nvSpPr>
          <p:cNvPr id="6" name="Content Placeholder 5">
            <a:extLst>
              <a:ext uri="{FF2B5EF4-FFF2-40B4-BE49-F238E27FC236}">
                <a16:creationId xmlns:a16="http://schemas.microsoft.com/office/drawing/2014/main" id="{9270A5A7-1549-43EC-BD6C-E2510F6813B0}"/>
              </a:ext>
            </a:extLst>
          </p:cNvPr>
          <p:cNvSpPr>
            <a:spLocks noGrp="1"/>
          </p:cNvSpPr>
          <p:nvPr>
            <p:ph sz="quarter" idx="16"/>
          </p:nvPr>
        </p:nvSpPr>
        <p:spPr>
          <a:xfrm>
            <a:off x="457200" y="3450443"/>
            <a:ext cx="8178800" cy="802017"/>
          </a:xfrm>
        </p:spPr>
        <p:txBody>
          <a:bodyPr/>
          <a:lstStyle/>
          <a:p>
            <a:pPr marL="741600" lvl="1" indent="0">
              <a:buNone/>
            </a:pPr>
            <a:r>
              <a:rPr lang="en-US" altLang="en-US" sz="2000" dirty="0">
                <a:ea typeface="ヒラギノ角ゴ Pro W3" pitchFamily="-84" charset="-128"/>
              </a:rPr>
              <a:t>cheese industry or the wine industry, so that production of both goods can occur.</a:t>
            </a:r>
            <a:endParaRPr lang="en-US" sz="2000" dirty="0"/>
          </a:p>
        </p:txBody>
      </p:sp>
      <p:sp>
        <p:nvSpPr>
          <p:cNvPr id="7" name="Content Placeholder 6">
            <a:extLst>
              <a:ext uri="{FF2B5EF4-FFF2-40B4-BE49-F238E27FC236}">
                <a16:creationId xmlns:a16="http://schemas.microsoft.com/office/drawing/2014/main" id="{28F4426D-540F-4B72-8725-28DEE1F763ED}"/>
              </a:ext>
            </a:extLst>
          </p:cNvPr>
          <p:cNvSpPr>
            <a:spLocks noGrp="1"/>
          </p:cNvSpPr>
          <p:nvPr>
            <p:ph sz="quarter" idx="17"/>
          </p:nvPr>
        </p:nvSpPr>
        <p:spPr>
          <a:xfrm>
            <a:off x="457200" y="4373244"/>
            <a:ext cx="8229600" cy="1072515"/>
          </a:xfrm>
        </p:spPr>
        <p:txBody>
          <a:bodyPr/>
          <a:lstStyle/>
          <a:p>
            <a:pPr lvl="1"/>
            <a:r>
              <a:rPr lang="en-US" altLang="en-US" sz="2000" dirty="0">
                <a:ea typeface="ヒラギノ角ゴ Pro W3" pitchFamily="-84" charset="-128"/>
              </a:rPr>
              <a:t>Production (and consumption) of both goods occurs when the relative price of a good equals the opportunity cost of producing that good:</a:t>
            </a:r>
            <a:endParaRPr lang="en-US" sz="2000" dirty="0"/>
          </a:p>
        </p:txBody>
      </p:sp>
      <p:graphicFrame>
        <p:nvGraphicFramePr>
          <p:cNvPr id="17" name="Object 16" descr="Start fraction P sub C over a sub start expression L C end expression end fraction = Start fraction P sub W over a sub start expression L W end expression end fraction,">
            <a:extLst>
              <a:ext uri="{FF2B5EF4-FFF2-40B4-BE49-F238E27FC236}">
                <a16:creationId xmlns:a16="http://schemas.microsoft.com/office/drawing/2014/main" id="{597478AC-52FF-4673-8CFA-F3C1E8484A42}"/>
              </a:ext>
            </a:extLst>
          </p:cNvPr>
          <p:cNvGraphicFramePr>
            <a:graphicFrameLocks noChangeAspect="1"/>
          </p:cNvGraphicFramePr>
          <p:nvPr>
            <p:extLst>
              <p:ext uri="{D42A27DB-BD31-4B8C-83A1-F6EECF244321}">
                <p14:modId xmlns:p14="http://schemas.microsoft.com/office/powerpoint/2010/main" val="2996476378"/>
              </p:ext>
            </p:extLst>
          </p:nvPr>
        </p:nvGraphicFramePr>
        <p:xfrm>
          <a:off x="1748155" y="2724772"/>
          <a:ext cx="1096645" cy="651352"/>
        </p:xfrm>
        <a:graphic>
          <a:graphicData uri="http://schemas.openxmlformats.org/presentationml/2006/ole">
            <mc:AlternateContent xmlns:mc="http://schemas.openxmlformats.org/markup-compatibility/2006">
              <mc:Choice xmlns:v="urn:schemas-microsoft-com:vml" Requires="v">
                <p:oleObj name="Equation" r:id="rId2" imgW="749160" imgH="444240" progId="Equation.DSMT4">
                  <p:embed/>
                </p:oleObj>
              </mc:Choice>
              <mc:Fallback>
                <p:oleObj name="Equation" r:id="rId2" imgW="749160" imgH="444240" progId="Equation.DSMT4">
                  <p:embed/>
                  <p:pic>
                    <p:nvPicPr>
                      <p:cNvPr id="11" name="Object 10"/>
                      <p:cNvPicPr/>
                      <p:nvPr/>
                    </p:nvPicPr>
                    <p:blipFill>
                      <a:blip r:embed="rId3"/>
                      <a:stretch>
                        <a:fillRect/>
                      </a:stretch>
                    </p:blipFill>
                    <p:spPr>
                      <a:xfrm>
                        <a:off x="1748155" y="2724772"/>
                        <a:ext cx="1096645" cy="651352"/>
                      </a:xfrm>
                      <a:prstGeom prst="rect">
                        <a:avLst/>
                      </a:prstGeom>
                    </p:spPr>
                  </p:pic>
                </p:oleObj>
              </mc:Fallback>
            </mc:AlternateContent>
          </a:graphicData>
        </a:graphic>
      </p:graphicFrame>
      <p:graphicFrame>
        <p:nvGraphicFramePr>
          <p:cNvPr id="18" name="Object 17" descr="Start fraction P sub C over P sub W end fraction = start fraction a sub start expression L C end expression end fraction over a sub start expression L W end expression end fraction">
            <a:extLst>
              <a:ext uri="{FF2B5EF4-FFF2-40B4-BE49-F238E27FC236}">
                <a16:creationId xmlns:a16="http://schemas.microsoft.com/office/drawing/2014/main" id="{CD409FE9-0DC7-446E-96F9-E0841D7F512E}"/>
              </a:ext>
            </a:extLst>
          </p:cNvPr>
          <p:cNvGraphicFramePr>
            <a:graphicFrameLocks noChangeAspect="1"/>
          </p:cNvGraphicFramePr>
          <p:nvPr>
            <p:extLst>
              <p:ext uri="{D42A27DB-BD31-4B8C-83A1-F6EECF244321}">
                <p14:modId xmlns:p14="http://schemas.microsoft.com/office/powerpoint/2010/main" val="1114596828"/>
              </p:ext>
            </p:extLst>
          </p:nvPr>
        </p:nvGraphicFramePr>
        <p:xfrm>
          <a:off x="4019756" y="5578859"/>
          <a:ext cx="1104488" cy="715872"/>
        </p:xfrm>
        <a:graphic>
          <a:graphicData uri="http://schemas.openxmlformats.org/presentationml/2006/ole">
            <mc:AlternateContent xmlns:mc="http://schemas.openxmlformats.org/markup-compatibility/2006">
              <mc:Choice xmlns:v="urn:schemas-microsoft-com:vml" Requires="v">
                <p:oleObj name="Equation" r:id="rId4" imgW="685800" imgH="444240" progId="Equation.DSMT4">
                  <p:embed/>
                </p:oleObj>
              </mc:Choice>
              <mc:Fallback>
                <p:oleObj name="Equation" r:id="rId4" imgW="685800" imgH="444240" progId="Equation.DSMT4">
                  <p:embed/>
                  <p:pic>
                    <p:nvPicPr>
                      <p:cNvPr id="13" name="Object 12"/>
                      <p:cNvPicPr/>
                      <p:nvPr/>
                    </p:nvPicPr>
                    <p:blipFill>
                      <a:blip r:embed="rId5"/>
                      <a:stretch>
                        <a:fillRect/>
                      </a:stretch>
                    </p:blipFill>
                    <p:spPr>
                      <a:xfrm>
                        <a:off x="4019756" y="5578859"/>
                        <a:ext cx="1104488" cy="715872"/>
                      </a:xfrm>
                      <a:prstGeom prst="rect">
                        <a:avLst/>
                      </a:prstGeom>
                    </p:spPr>
                  </p:pic>
                </p:oleObj>
              </mc:Fallback>
            </mc:AlternateContent>
          </a:graphicData>
        </a:graphic>
      </p:graphicFrame>
    </p:spTree>
    <p:extLst>
      <p:ext uri="{BB962C8B-B14F-4D97-AF65-F5344CB8AC3E}">
        <p14:creationId xmlns:p14="http://schemas.microsoft.com/office/powerpoint/2010/main" val="2779756852"/>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149655</TotalTime>
  <Words>1850</Words>
  <Application>Microsoft Macintosh PowerPoint</Application>
  <PresentationFormat>On-screen Show (4:3)</PresentationFormat>
  <Paragraphs>182</Paragraphs>
  <Slides>28</Slides>
  <Notes>8</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40" baseType="lpstr">
      <vt:lpstr>Times</vt:lpstr>
      <vt:lpstr>Noto Sans Symbols</vt:lpstr>
      <vt:lpstr>ヒラギノ角ゴ Pro W3</vt:lpstr>
      <vt:lpstr>Aptos Display</vt:lpstr>
      <vt:lpstr>Verdana</vt:lpstr>
      <vt:lpstr>Aptos</vt:lpstr>
      <vt:lpstr>Arial</vt:lpstr>
      <vt:lpstr>Times New Roman</vt:lpstr>
      <vt:lpstr>Museo Sans W01 500</vt:lpstr>
      <vt:lpstr>USHE</vt:lpstr>
      <vt:lpstr>Office Theme</vt:lpstr>
      <vt:lpstr>Equation</vt:lpstr>
      <vt:lpstr>International Economic Relations  ECON 308</vt:lpstr>
      <vt:lpstr>Learning Objectives</vt:lpstr>
      <vt:lpstr>Introduction</vt:lpstr>
      <vt:lpstr>The Concept of Comparative Advantage (1 of 6)</vt:lpstr>
      <vt:lpstr>The Concept of Comparative Advantage (2 of 6)</vt:lpstr>
      <vt:lpstr>The Concept of Comparative Advantage (3 of 6)</vt:lpstr>
      <vt:lpstr>The Concept of Comparative Advantage (4 of 6)</vt:lpstr>
      <vt:lpstr>The Concept of Comparative Advantage (5 of 6)</vt:lpstr>
      <vt:lpstr>Table 3.1 Hypothetical Changes in Production</vt:lpstr>
      <vt:lpstr>The Concept of Comparative Advantage (6 of 6)</vt:lpstr>
      <vt:lpstr>A One-Factor Economy (1 of 4)</vt:lpstr>
      <vt:lpstr>A One-Factor Economy (2 of 4)</vt:lpstr>
      <vt:lpstr>A One-Factor Economy (3 of 4)</vt:lpstr>
      <vt:lpstr>A One-Factor Economy (4 of 4)</vt:lpstr>
      <vt:lpstr>Production Possibilities (1 of 6)</vt:lpstr>
      <vt:lpstr>Production Possibilities (2 of 6)</vt:lpstr>
      <vt:lpstr>Production Possibilities (3 of 6)</vt:lpstr>
      <vt:lpstr>Figure 3.1 Home’s Production Possibility Frontier</vt:lpstr>
      <vt:lpstr>Production Possibilities (4 of 6)</vt:lpstr>
      <vt:lpstr>Production Possibilities (5 of 6)</vt:lpstr>
      <vt:lpstr>Production Possibilities (6 of 6)</vt:lpstr>
      <vt:lpstr>Relative Prices and Supply (1 of 7)</vt:lpstr>
      <vt:lpstr>Relative Prices and Supply (2 of 7)</vt:lpstr>
      <vt:lpstr>Relative Prices and Supply (3 of 7)</vt:lpstr>
      <vt:lpstr>Relative Prices and Supply (4 of 7)</vt:lpstr>
      <vt:lpstr>Relative Prices and Supply (5 of 7)</vt:lpstr>
      <vt:lpstr>Relative Prices and Supply (6 of 7)</vt:lpstr>
      <vt:lpstr>Relative Prices and Supply (7 of 7)</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3, Labor Productivity and Comparative Advantage: The Ricardian Model</dc:title>
  <dc:subject>Business</dc:subject>
  <dc:creator>Krugman/Obstfeld/Melitz</dc:creator>
  <cp:keywords>International Economics</cp:keywords>
  <dc:description>Long description alt-text is inserted in the notes pane; Alt text for images/math equations within table cells have been placed behind the object intentionally to provide a better screen reader user experience._x000d_
</dc:description>
  <cp:lastModifiedBy>Muhebullah Karimzada</cp:lastModifiedBy>
  <cp:revision>1126</cp:revision>
  <dcterms:modified xsi:type="dcterms:W3CDTF">2025-09-09T21:53:04Z</dcterms:modified>
</cp:coreProperties>
</file>