
<file path=[Content_Types].xml><?xml version="1.0" encoding="utf-8"?>
<Types xmlns="http://schemas.openxmlformats.org/package/2006/content-types">
  <Default Extension="PNG" ContentType="image/png"/>
  <Default Extension="bin" ContentType="application/vnd.openxmlformats-officedocument.oleObject"/>
  <Default Extension="svg" ContentType="image/svg+xml"/>
  <Default Extension="jpeg" ContentType="image/jpeg"/>
  <Default Extension="wmf" ContentType="image/x-wmf"/>
  <Default Extension="rels" ContentType="application/vnd.openxmlformats-package.relationships+xml"/>
  <Default Extension="xml" ContentType="application/xml"/>
  <Default Extension="fntdata" ContentType="application/x-fontdata"/>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3" r:id="rId1"/>
    <p:sldMasterId id="2147483659" r:id="rId2"/>
  </p:sldMasterIdLst>
  <p:notesMasterIdLst>
    <p:notesMasterId r:id="rId37"/>
  </p:notesMasterIdLst>
  <p:handoutMasterIdLst>
    <p:handoutMasterId r:id="rId38"/>
  </p:handoutMasterIdLst>
  <p:sldIdLst>
    <p:sldId id="330" r:id="rId3"/>
    <p:sldId id="331" r:id="rId4"/>
    <p:sldId id="332" r:id="rId5"/>
    <p:sldId id="333" r:id="rId6"/>
    <p:sldId id="334" r:id="rId7"/>
    <p:sldId id="335" r:id="rId8"/>
    <p:sldId id="336" r:id="rId9"/>
    <p:sldId id="337" r:id="rId10"/>
    <p:sldId id="338" r:id="rId11"/>
    <p:sldId id="339" r:id="rId12"/>
    <p:sldId id="340" r:id="rId13"/>
    <p:sldId id="341" r:id="rId14"/>
    <p:sldId id="342" r:id="rId15"/>
    <p:sldId id="343" r:id="rId16"/>
    <p:sldId id="344" r:id="rId17"/>
    <p:sldId id="345" r:id="rId18"/>
    <p:sldId id="346" r:id="rId19"/>
    <p:sldId id="347" r:id="rId20"/>
    <p:sldId id="348" r:id="rId21"/>
    <p:sldId id="349" r:id="rId22"/>
    <p:sldId id="350" r:id="rId23"/>
    <p:sldId id="351" r:id="rId24"/>
    <p:sldId id="352" r:id="rId25"/>
    <p:sldId id="353" r:id="rId26"/>
    <p:sldId id="354" r:id="rId27"/>
    <p:sldId id="355" r:id="rId28"/>
    <p:sldId id="356" r:id="rId29"/>
    <p:sldId id="357" r:id="rId30"/>
    <p:sldId id="358" r:id="rId31"/>
    <p:sldId id="359" r:id="rId32"/>
    <p:sldId id="360" r:id="rId33"/>
    <p:sldId id="361" r:id="rId34"/>
    <p:sldId id="362" r:id="rId35"/>
    <p:sldId id="298" r:id="rId36"/>
  </p:sldIdLst>
  <p:sldSz cx="9144000" cy="6858000" type="screen4x3"/>
  <p:notesSz cx="6858000" cy="9144000"/>
  <p:embeddedFontLst>
    <p:embeddedFont>
      <p:font typeface="Noto Sans Symbols" panose="020B0604020202020204" charset="0"/>
      <p:regular r:id="rId39"/>
      <p:bold r:id="rId40"/>
      <p:italic r:id="rId41"/>
      <p:boldItalic r:id="rId42"/>
    </p:embeddedFont>
    <p:embeddedFont>
      <p:font typeface="Verdana" panose="020B0604030504040204" pitchFamily="34" charset="0"/>
      <p:regular r:id="rId43"/>
      <p:bold r:id="rId44"/>
      <p:italic r:id="rId45"/>
      <p:boldItalic r:id="rId46"/>
    </p:embeddedFont>
    <p:embeddedFont>
      <p:font typeface="Times" panose="02020603050405020304" pitchFamily="18" charset="0"/>
      <p:regular r:id="rId47"/>
      <p:bold r:id="rId48"/>
      <p:italic r:id="rId49"/>
      <p:boldItalic r:id="rId5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3997" userDrawn="1">
          <p15:clr>
            <a:srgbClr val="A4A3A4"/>
          </p15:clr>
        </p15:guide>
        <p15:guide id="2" pos="340" userDrawn="1">
          <p15:clr>
            <a:srgbClr val="A4A3A4"/>
          </p15:clr>
        </p15:guide>
        <p15:guide id="3" orient="horz" pos="4178" userDrawn="1">
          <p15:clr>
            <a:srgbClr val="A4A3A4"/>
          </p15:clr>
        </p15:guide>
        <p15:guide id="4" orient="horz" pos="119" userDrawn="1">
          <p15:clr>
            <a:srgbClr val="A4A3A4"/>
          </p15:clr>
        </p15:guide>
        <p15:guide id="5" orient="horz" pos="709" userDrawn="1">
          <p15:clr>
            <a:srgbClr val="A4A3A4"/>
          </p15:clr>
        </p15:guide>
        <p15:guide id="6" orient="horz" pos="1071"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Jeffrey Holcomb" initials="" lastIdx="3" clrIdx="0"/>
  <p:cmAuthor id="1" name="Ruchi Sachdev" initials="" lastIdx="8" clrIdx="1"/>
  <p:cmAuthor id="2" name="Sarah Reusché" initials="" lastIdx="13" clrIdx="2"/>
  <p:cmAuthor id="3" name="Nitin Shankar" initials="" lastIdx="6" clrIdx="3"/>
  <p:cmAuthor id="4" name="Kristen Flathman" initials="" lastIdx="1" clrIdx="4"/>
  <p:cmAuthor id="5" name="Ben Schroeter" initials="" lastIdx="0" clrIdx="5"/>
  <p:cmAuthor id="6" name="AnnMarie Short" initials="AS" lastIdx="35" clrIdx="6">
    <p:extLst>
      <p:ext uri="{19B8F6BF-5375-455C-9EA6-DF929625EA0E}">
        <p15:presenceInfo xmlns:p15="http://schemas.microsoft.com/office/powerpoint/2012/main" userId="5a9a73d1263ca8f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FA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0F9630F-82C1-40B7-BC3A-925EFCFF5E92}">
  <a:tblStyle styleId="{40F9630F-82C1-40B7-BC3A-925EFCFF5E92}" styleName="Table_0">
    <a:wholeTbl>
      <a:tcTxStyle b="off" i="off">
        <a:font>
          <a:latin typeface="Arial"/>
          <a:ea typeface="Arial"/>
          <a:cs typeface="Arial"/>
        </a:font>
        <a:schemeClr val="dk1"/>
      </a:tcTxStyle>
      <a:tcStyle>
        <a:tcBdr>
          <a:left>
            <a:ln w="9525" cap="flat" cmpd="sng">
              <a:solidFill>
                <a:srgbClr val="000000">
                  <a:alpha val="0"/>
                </a:srgbClr>
              </a:solidFill>
              <a:prstDash val="solid"/>
              <a:round/>
              <a:headEnd type="none" w="med" len="med"/>
              <a:tailEnd type="none" w="med" len="med"/>
            </a:ln>
          </a:left>
          <a:right>
            <a:ln w="9525" cap="flat" cmpd="sng">
              <a:solidFill>
                <a:srgbClr val="000000">
                  <a:alpha val="0"/>
                </a:srgbClr>
              </a:solidFill>
              <a:prstDash val="solid"/>
              <a:round/>
              <a:headEnd type="none" w="med" len="med"/>
              <a:tailEnd type="none" w="med" len="med"/>
            </a:ln>
          </a:right>
          <a:top>
            <a:ln w="12700" cap="flat" cmpd="sng">
              <a:solidFill>
                <a:schemeClr val="accent1"/>
              </a:solidFill>
              <a:prstDash val="solid"/>
              <a:round/>
              <a:headEnd type="none" w="med" len="med"/>
              <a:tailEnd type="none" w="med" len="med"/>
            </a:ln>
          </a:top>
          <a:bottom>
            <a:ln w="12700" cap="flat" cmpd="sng">
              <a:solidFill>
                <a:schemeClr val="accent1"/>
              </a:solidFill>
              <a:prstDash val="solid"/>
              <a:round/>
              <a:headEnd type="none" w="med" len="med"/>
              <a:tailEnd type="none" w="med" len="med"/>
            </a:ln>
          </a:bottom>
          <a:insideH>
            <a:ln w="9525" cap="flat" cmpd="sng">
              <a:solidFill>
                <a:srgbClr val="000000">
                  <a:alpha val="0"/>
                </a:srgbClr>
              </a:solidFill>
              <a:prstDash val="solid"/>
              <a:round/>
              <a:headEnd type="none" w="med" len="med"/>
              <a:tailEnd type="none" w="med" len="med"/>
            </a:ln>
          </a:insideH>
          <a:insideV>
            <a:ln w="9525" cap="flat" cmpd="sng">
              <a:solidFill>
                <a:srgbClr val="000000">
                  <a:alpha val="0"/>
                </a:srgbClr>
              </a:solidFill>
              <a:prstDash val="solid"/>
              <a:round/>
              <a:headEnd type="none" w="med" len="med"/>
              <a:tailEnd type="none" w="med" len="med"/>
            </a:ln>
          </a:insideV>
        </a:tcBdr>
        <a:fill>
          <a:solidFill>
            <a:srgbClr val="FFFFFF">
              <a:alpha val="0"/>
            </a:srgbClr>
          </a:solid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i="off"/>
      <a:tcStyle>
        <a:tcBdr/>
      </a:tcStyle>
    </a:lastCol>
    <a:firstCol>
      <a:tcTxStyle b="on" i="off"/>
      <a:tcStyle>
        <a:tcBdr/>
      </a:tcStyle>
    </a:firstCol>
    <a:lastRow>
      <a:tcTxStyle b="on" i="off"/>
      <a:tcStyle>
        <a:tcBdr>
          <a:top>
            <a:ln w="12700" cap="flat" cmpd="sng">
              <a:solidFill>
                <a:schemeClr val="accent1"/>
              </a:solidFill>
              <a:prstDash val="solid"/>
              <a:round/>
              <a:headEnd type="none" w="med" len="med"/>
              <a:tailEnd type="none" w="med" len="med"/>
            </a:ln>
          </a:top>
        </a:tcBdr>
        <a:fill>
          <a:solidFill>
            <a:srgbClr val="FFFFFF">
              <a:alpha val="0"/>
            </a:srgbClr>
          </a:solidFill>
        </a:fill>
      </a:tcStyle>
    </a:lastRow>
    <a:firstRow>
      <a:tcTxStyle b="on" i="off"/>
      <a:tcStyle>
        <a:tcBdr>
          <a:bottom>
            <a:ln w="12700" cap="flat" cmpd="sng">
              <a:solidFill>
                <a:schemeClr val="accent1"/>
              </a:solidFill>
              <a:prstDash val="solid"/>
              <a:round/>
              <a:headEnd type="none" w="med" len="med"/>
              <a:tailEnd type="none" w="med" len="med"/>
            </a:ln>
          </a:bottom>
        </a:tcBdr>
        <a:fill>
          <a:solidFill>
            <a:srgbClr val="FFFFFF">
              <a:alpha val="0"/>
            </a:srgb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1393" autoAdjust="0"/>
    <p:restoredTop sz="95110" autoAdjust="0"/>
  </p:normalViewPr>
  <p:slideViewPr>
    <p:cSldViewPr snapToGrid="0" snapToObjects="1">
      <p:cViewPr varScale="1">
        <p:scale>
          <a:sx n="73" d="100"/>
          <a:sy n="73" d="100"/>
        </p:scale>
        <p:origin x="1056" y="72"/>
      </p:cViewPr>
      <p:guideLst>
        <p:guide orient="horz" pos="3997"/>
        <p:guide pos="340"/>
        <p:guide orient="horz" pos="4178"/>
        <p:guide orient="horz" pos="119"/>
        <p:guide orient="horz" pos="709"/>
        <p:guide orient="horz" pos="1071"/>
      </p:guideLst>
    </p:cSldViewPr>
  </p:slideViewPr>
  <p:outlineViewPr>
    <p:cViewPr>
      <p:scale>
        <a:sx n="33" d="100"/>
        <a:sy n="33" d="100"/>
      </p:scale>
      <p:origin x="0" y="-24408"/>
    </p:cViewPr>
  </p:outlineViewPr>
  <p:notesTextViewPr>
    <p:cViewPr>
      <p:scale>
        <a:sx n="100" d="100"/>
        <a:sy n="100" d="100"/>
      </p:scale>
      <p:origin x="0" y="0"/>
    </p:cViewPr>
  </p:notesTextViewPr>
  <p:sorterViewPr>
    <p:cViewPr>
      <p:scale>
        <a:sx n="100" d="100"/>
        <a:sy n="100" d="100"/>
      </p:scale>
      <p:origin x="0" y="-3346"/>
    </p:cViewPr>
  </p:sorterViewPr>
  <p:notesViewPr>
    <p:cSldViewPr snapToGrid="0" snapToObjects="1">
      <p:cViewPr varScale="1">
        <p:scale>
          <a:sx n="68" d="100"/>
          <a:sy n="68" d="100"/>
        </p:scale>
        <p:origin x="3060" y="7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font" Target="fonts/font1.fntdata"/><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font" Target="fonts/font4.fntdata"/><Relationship Id="rId47" Type="http://schemas.openxmlformats.org/officeDocument/2006/relationships/font" Target="fonts/font9.fntdata"/><Relationship Id="rId50" Type="http://schemas.openxmlformats.org/officeDocument/2006/relationships/font" Target="fonts/font12.fntdata"/><Relationship Id="rId55"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notesMaster" Target="notesMasters/notesMaster1.xml"/><Relationship Id="rId40" Type="http://schemas.openxmlformats.org/officeDocument/2006/relationships/font" Target="fonts/font2.fntdata"/><Relationship Id="rId45" Type="http://schemas.openxmlformats.org/officeDocument/2006/relationships/font" Target="fonts/font7.fntdata"/><Relationship Id="rId53" Type="http://schemas.openxmlformats.org/officeDocument/2006/relationships/viewProps" Target="viewProps.xml"/><Relationship Id="rId5" Type="http://schemas.openxmlformats.org/officeDocument/2006/relationships/slide" Target="slides/slide3.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font" Target="fonts/font6.fntdata"/><Relationship Id="rId52"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font" Target="fonts/font5.fntdata"/><Relationship Id="rId48" Type="http://schemas.openxmlformats.org/officeDocument/2006/relationships/font" Target="fonts/font10.fntdata"/><Relationship Id="rId8" Type="http://schemas.openxmlformats.org/officeDocument/2006/relationships/slide" Target="slides/slide6.xml"/><Relationship Id="rId51" Type="http://schemas.openxmlformats.org/officeDocument/2006/relationships/commentAuthors" Target="commentAuthor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handoutMaster" Target="handoutMasters/handoutMaster1.xml"/><Relationship Id="rId46" Type="http://schemas.openxmlformats.org/officeDocument/2006/relationships/font" Target="fonts/font8.fntdata"/><Relationship Id="rId20" Type="http://schemas.openxmlformats.org/officeDocument/2006/relationships/slide" Target="slides/slide18.xml"/><Relationship Id="rId41" Type="http://schemas.openxmlformats.org/officeDocument/2006/relationships/font" Target="fonts/font3.fntdata"/><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font" Target="fonts/font11.fntdata"/></Relationships>
</file>

<file path=ppt/drawings/_rels/vmlDrawing1.v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image" Target="../media/image6.wmf"/><Relationship Id="rId1" Type="http://schemas.openxmlformats.org/officeDocument/2006/relationships/image" Target="../media/image5.wmf"/><Relationship Id="rId6" Type="http://schemas.openxmlformats.org/officeDocument/2006/relationships/image" Target="../media/image10.wmf"/><Relationship Id="rId5" Type="http://schemas.openxmlformats.org/officeDocument/2006/relationships/image" Target="../media/image9.wmf"/><Relationship Id="rId4" Type="http://schemas.openxmlformats.org/officeDocument/2006/relationships/image" Target="../media/image8.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3.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885CB01-6679-D646-ACB3-8B04B786C15F}" type="datetimeFigureOut">
              <a:rPr lang="en-US" smtClean="0"/>
              <a:t>11/15/2021</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82AC0F4D-8A6F-1C4A-B6BF-1558431E4F79}" type="slidenum">
              <a:rPr lang="en-US" smtClean="0"/>
              <a:t>‹#›</a:t>
            </a:fld>
            <a:endParaRPr lang="en-US" dirty="0"/>
          </a:p>
        </p:txBody>
      </p:sp>
    </p:spTree>
    <p:extLst>
      <p:ext uri="{BB962C8B-B14F-4D97-AF65-F5344CB8AC3E}">
        <p14:creationId xmlns:p14="http://schemas.microsoft.com/office/powerpoint/2010/main" val="35540630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Shape 3"/>
          <p:cNvSpPr txBox="1">
            <a:spLocks noGrp="1"/>
          </p:cNvSpPr>
          <p:nvPr>
            <p:ph type="hdr" idx="2"/>
          </p:nvPr>
        </p:nvSpPr>
        <p:spPr>
          <a:xfrm>
            <a:off x="0" y="0"/>
            <a:ext cx="2971799" cy="4572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4" name="Shape 4"/>
          <p:cNvSpPr txBox="1">
            <a:spLocks noGrp="1"/>
          </p:cNvSpPr>
          <p:nvPr>
            <p:ph type="dt" idx="10"/>
          </p:nvPr>
        </p:nvSpPr>
        <p:spPr>
          <a:xfrm>
            <a:off x="3884612" y="0"/>
            <a:ext cx="2971799" cy="457200"/>
          </a:xfrm>
          <a:prstGeom prst="rect">
            <a:avLst/>
          </a:prstGeom>
          <a:noFill/>
          <a:ln>
            <a:noFill/>
          </a:ln>
        </p:spPr>
        <p:txBody>
          <a:bodyPr lIns="91425" tIns="91425" rIns="91425" bIns="91425" anchor="t" anchorCtr="0"/>
          <a:lstStyle>
            <a:lvl1pPr marL="0" marR="0" lvl="0" indent="0" algn="r"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5" name="Shape 5"/>
          <p:cNvSpPr>
            <a:spLocks noGrp="1" noRot="1" noChangeAspect="1"/>
          </p:cNvSpPr>
          <p:nvPr>
            <p:ph type="sldImg" idx="3"/>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6" name="Shape 6"/>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200" b="0" i="0" u="none" strike="noStrike" cap="none">
                <a:solidFill>
                  <a:schemeClr val="dk1"/>
                </a:solidFill>
                <a:latin typeface="Arial"/>
                <a:ea typeface="Arial"/>
                <a:cs typeface="Arial"/>
                <a:sym typeface="Arial"/>
              </a:defRPr>
            </a:lvl2pPr>
            <a:lvl3pPr marL="914400" marR="0" lvl="2" indent="0" algn="l" rtl="0">
              <a:spcBef>
                <a:spcPts val="0"/>
              </a:spcBef>
              <a:buNone/>
              <a:defRPr sz="1200" b="0" i="0" u="none" strike="noStrike" cap="none">
                <a:solidFill>
                  <a:schemeClr val="dk1"/>
                </a:solidFill>
                <a:latin typeface="Arial"/>
                <a:ea typeface="Arial"/>
                <a:cs typeface="Arial"/>
                <a:sym typeface="Arial"/>
              </a:defRPr>
            </a:lvl3pPr>
            <a:lvl4pPr marL="1371600" marR="0" lvl="3" indent="0" algn="l" rtl="0">
              <a:spcBef>
                <a:spcPts val="0"/>
              </a:spcBef>
              <a:buNone/>
              <a:defRPr sz="1200" b="0" i="0" u="none" strike="noStrike" cap="none">
                <a:solidFill>
                  <a:schemeClr val="dk1"/>
                </a:solidFill>
                <a:latin typeface="Arial"/>
                <a:ea typeface="Arial"/>
                <a:cs typeface="Arial"/>
                <a:sym typeface="Arial"/>
              </a:defRPr>
            </a:lvl4pPr>
            <a:lvl5pPr marL="1828800" marR="0" lvl="4" indent="0" algn="l" rtl="0">
              <a:spcBef>
                <a:spcPts val="0"/>
              </a:spcBef>
              <a:buNone/>
              <a:defRPr sz="1200" b="0" i="0" u="none" strike="noStrike" cap="none">
                <a:solidFill>
                  <a:schemeClr val="dk1"/>
                </a:solidFill>
                <a:latin typeface="Arial"/>
                <a:ea typeface="Arial"/>
                <a:cs typeface="Arial"/>
                <a:sym typeface="Arial"/>
              </a:defRPr>
            </a:lvl5pPr>
            <a:lvl6pPr marL="2286000" marR="0" lvl="5" indent="0" algn="l" rtl="0">
              <a:spcBef>
                <a:spcPts val="0"/>
              </a:spcBef>
              <a:buNone/>
              <a:defRPr sz="1200" b="0" i="0" u="none" strike="noStrike" cap="none">
                <a:solidFill>
                  <a:schemeClr val="dk1"/>
                </a:solidFill>
                <a:latin typeface="Arial"/>
                <a:ea typeface="Arial"/>
                <a:cs typeface="Arial"/>
                <a:sym typeface="Arial"/>
              </a:defRPr>
            </a:lvl6pPr>
            <a:lvl7pPr marL="2743200" marR="0" lvl="6" indent="0" algn="l" rtl="0">
              <a:spcBef>
                <a:spcPts val="0"/>
              </a:spcBef>
              <a:buNone/>
              <a:defRPr sz="1200" b="0" i="0" u="none" strike="noStrike" cap="none">
                <a:solidFill>
                  <a:schemeClr val="dk1"/>
                </a:solidFill>
                <a:latin typeface="Arial"/>
                <a:ea typeface="Arial"/>
                <a:cs typeface="Arial"/>
                <a:sym typeface="Arial"/>
              </a:defRPr>
            </a:lvl7pPr>
            <a:lvl8pPr marL="3200400" marR="0" lvl="7" indent="0" algn="l" rtl="0">
              <a:spcBef>
                <a:spcPts val="0"/>
              </a:spcBef>
              <a:buNone/>
              <a:defRPr sz="1200" b="0" i="0" u="none" strike="noStrike" cap="none">
                <a:solidFill>
                  <a:schemeClr val="dk1"/>
                </a:solidFill>
                <a:latin typeface="Arial"/>
                <a:ea typeface="Arial"/>
                <a:cs typeface="Arial"/>
                <a:sym typeface="Arial"/>
              </a:defRPr>
            </a:lvl8pPr>
            <a:lvl9pPr marL="3657600" marR="0" lvl="8" indent="0" algn="l" rtl="0">
              <a:spcBef>
                <a:spcPts val="0"/>
              </a:spcBef>
              <a:buNone/>
              <a:defRPr sz="1200" b="0" i="0" u="none" strike="noStrike" cap="none">
                <a:solidFill>
                  <a:schemeClr val="dk1"/>
                </a:solidFill>
                <a:latin typeface="Arial"/>
                <a:ea typeface="Arial"/>
                <a:cs typeface="Arial"/>
                <a:sym typeface="Arial"/>
              </a:defRPr>
            </a:lvl9pPr>
          </a:lstStyle>
          <a:p>
            <a:endParaRPr/>
          </a:p>
        </p:txBody>
      </p:sp>
      <p:sp>
        <p:nvSpPr>
          <p:cNvPr id="7" name="Shape 7"/>
          <p:cNvSpPr txBox="1">
            <a:spLocks noGrp="1"/>
          </p:cNvSpPr>
          <p:nvPr>
            <p:ph type="ftr" idx="11"/>
          </p:nvPr>
        </p:nvSpPr>
        <p:spPr>
          <a:xfrm>
            <a:off x="0" y="8685213"/>
            <a:ext cx="2971799" cy="457200"/>
          </a:xfrm>
          <a:prstGeom prst="rect">
            <a:avLst/>
          </a:prstGeom>
          <a:noFill/>
          <a:ln>
            <a:noFill/>
          </a:ln>
        </p:spPr>
        <p:txBody>
          <a:bodyPr lIns="91425" tIns="91425" rIns="91425" bIns="91425" anchor="b"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8" name="Shape 8"/>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457102709"/>
      </p:ext>
    </p:extLst>
  </p:cSld>
  <p:clrMap bg1="lt1" tx1="dk1" bg2="dk2" tx2="lt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cap="none" dirty="0">
                <a:solidFill>
                  <a:schemeClr val="dk1"/>
                </a:solidFill>
                <a:latin typeface="Arial"/>
                <a:ea typeface="Arial"/>
                <a:cs typeface="Arial"/>
                <a:sym typeface="Arial"/>
              </a:rPr>
              <a:t>If this PowerPoint presentation contains mathematical equations, you may need to check that your computer has the following installed:</a:t>
            </a:r>
          </a:p>
          <a:p>
            <a:r>
              <a:rPr lang="en-US" sz="1200" b="0" i="0" u="none" strike="noStrike" kern="1200" cap="none" dirty="0">
                <a:solidFill>
                  <a:schemeClr val="dk1"/>
                </a:solidFill>
                <a:latin typeface="Arial"/>
                <a:ea typeface="Arial"/>
                <a:cs typeface="Arial"/>
                <a:sym typeface="Arial"/>
              </a:rPr>
              <a:t>1) MathType Plugin</a:t>
            </a:r>
          </a:p>
          <a:p>
            <a:r>
              <a:rPr lang="en-US" sz="1200" b="0" i="0" u="none" strike="noStrike" kern="1200" cap="none" dirty="0">
                <a:solidFill>
                  <a:schemeClr val="dk1"/>
                </a:solidFill>
                <a:latin typeface="Arial"/>
                <a:ea typeface="Arial"/>
                <a:cs typeface="Arial"/>
                <a:sym typeface="Arial"/>
              </a:rPr>
              <a:t>2) Math Player (free versions available)</a:t>
            </a:r>
          </a:p>
          <a:p>
            <a:r>
              <a:rPr lang="en-US" sz="1200" b="0" i="0" u="none" strike="noStrike" kern="1200" cap="none" dirty="0">
                <a:solidFill>
                  <a:schemeClr val="dk1"/>
                </a:solidFill>
                <a:latin typeface="Arial"/>
                <a:ea typeface="Arial"/>
                <a:cs typeface="Arial"/>
                <a:sym typeface="Arial"/>
              </a:rPr>
              <a:t>3) NVDA Reader (free versions available)</a:t>
            </a:r>
            <a:endParaRPr 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606026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cap="none" dirty="0" smtClean="0">
                <a:solidFill>
                  <a:schemeClr val="dk1"/>
                </a:solidFill>
                <a:effectLst/>
                <a:latin typeface="Arial"/>
                <a:ea typeface="Arial"/>
                <a:cs typeface="Arial"/>
                <a:sym typeface="Arial"/>
              </a:rPr>
              <a:t>The horizontal bar graph lists countries versus total trade in billions of dollars. The list provides total trade, in billions of dollars, for each country as follows. China, 620. Canada, 610. Mexico, 570. Japan, 240. Germany, 19 0. South Korea, 165. United Kingdom, 160. France, 100. India, 90. Taiwan, 80. Netherlands, 78. Italy, 75. Vietnam, 70. Brazil, 65. Ireland, 60. All values are estimated.</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5</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7800619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0" i="0" u="none" strike="noStrike" kern="1200" cap="none" dirty="0" smtClean="0">
                <a:solidFill>
                  <a:schemeClr val="dk1"/>
                </a:solidFill>
                <a:effectLst/>
                <a:latin typeface="Arial"/>
                <a:ea typeface="Arial"/>
                <a:cs typeface="Arial"/>
                <a:sym typeface="Arial"/>
              </a:rPr>
              <a:t>A scatter diagram plots the percent of U S trade with the E U versus the percent of E U G D P. A line of best fit rises within the data from (0, 0) through (25, 25), with 10 countries plotted around the line. Austria and Sweden are clustered below the line at approximately points (3, 2). Ireland, Belgium and the Netherlands are above the line at (2, 8), (3, 6) and (9, 9), respectively. Spain, Italy, and France are below the line at (7, 3), (12, 8), and (16, 10) respectively. The highest points are the United Kingdom, (16, 15), and Germany, just above the line, at (22, 21). All values are estimated.</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7</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4036679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9</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411891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0" i="0" u="none" strike="noStrike" kern="1200" cap="none" dirty="0" smtClean="0">
                <a:solidFill>
                  <a:schemeClr val="dk1"/>
                </a:solidFill>
                <a:effectLst/>
                <a:latin typeface="Arial"/>
                <a:ea typeface="Arial"/>
                <a:cs typeface="Arial"/>
                <a:sym typeface="Arial"/>
              </a:rPr>
              <a:t>The scatter diagram plots the percent of U S trade with the E U versus the percent of E U G D P. A line of best fit rises within the data from (0, 0) through (25, 25), with 12 countries, including Mexico and Canada, plotted way above the line. European countries listed are below 20% of U S trade with E U, with the exception of Germany, which has the highest percentages at (22, 25). Mexico and Canada are above the line at points, (7, 75) and (10, 70), respectively. All values are estimated.</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14</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1741807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cap="none" dirty="0" smtClean="0">
                <a:solidFill>
                  <a:schemeClr val="dk1"/>
                </a:solidFill>
                <a:effectLst/>
                <a:latin typeface="Arial"/>
                <a:ea typeface="Arial"/>
                <a:cs typeface="Arial"/>
                <a:sym typeface="Arial"/>
              </a:rPr>
              <a:t>The following list provides the 6 Canadian provinces that trade with British Columbia, from east to west as follows. Alberta, Saskatchewan, Manitoba, Ontario, Quebec, and New Brunswick. The 6 U S states that trade with New Brunswick are as follows. In the northwest, Washington and Montana. On the west coast, California. In central east U S, Ohio. In the northeast, New York, and Maine.</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16</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7338037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0" i="0" u="none" strike="noStrike" kern="1200" cap="none" dirty="0" smtClean="0">
                <a:solidFill>
                  <a:schemeClr val="dk1"/>
                </a:solidFill>
                <a:effectLst/>
                <a:latin typeface="Arial"/>
                <a:ea typeface="Arial"/>
                <a:cs typeface="Arial"/>
                <a:sym typeface="Arial"/>
              </a:rPr>
              <a:t>The graph plots ratio of manufactures trade to production versus year. The plot generally rises from (18 27, 7%) to (20 14, 22%). A significant drop occurs from (18 39, 8%) to (18 40, 4.5%), before a rise to (18 60, 8.5%). The plot then significantly drops from (19 10, 13%), to (19 50, 4%), before a rise back to (19 55, 8%). The graph displays fluctuating behavior with high and lows in the intermediate points. All values are estimated.</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58565399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cap="none" dirty="0" smtClean="0">
                <a:solidFill>
                  <a:schemeClr val="dk1"/>
                </a:solidFill>
                <a:effectLst/>
                <a:latin typeface="Arial"/>
                <a:ea typeface="Arial"/>
                <a:cs typeface="Arial"/>
                <a:sym typeface="Arial"/>
              </a:rPr>
              <a:t>The graph plots the percent of exports versus year, from 19 60 to 20 01. The plot for manufactures rises gradually from (19 60, 12) to (19 80, 18) and then rises steeply to (20 01, 68). The plot for agricultural falls steeply from (19 60, 58) to (19 80, 14) and then falls less steeply to (20 01, 10). The graphs intersect at (19 79, 18). All values are estimated.</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27</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6807365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cap="none" dirty="0" smtClean="0">
                <a:solidFill>
                  <a:schemeClr val="dk1"/>
                </a:solidFill>
                <a:effectLst/>
                <a:latin typeface="Arial"/>
                <a:ea typeface="Arial"/>
                <a:cs typeface="Arial"/>
                <a:sym typeface="Arial"/>
              </a:rPr>
              <a:t>The pie chart has 10 sections of industries with percentages as follows. Non tradable, 60. Professional services, 14. Manufacturing, 12. Retail and wholesale, 7. Public administration, 2. Personal services, 2. Agriculture, 1. Mining, utilities, construction, 1. Other services, 1. Education and health, 0.</a:t>
            </a:r>
            <a:endParaRPr lang="en-US" sz="1200" b="0" i="0" u="none" strike="noStrike" kern="1200" cap="none" dirty="0">
              <a:solidFill>
                <a:schemeClr val="dk1"/>
              </a:solidFill>
              <a:effectLst/>
              <a:latin typeface="Arial"/>
              <a:ea typeface="Arial"/>
              <a:cs typeface="Arial"/>
              <a:sym typeface="Arial"/>
            </a:endParaRP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30</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57362405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Shape 381"/>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382" name="Shape 382"/>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a:spcBef>
                <a:spcPts val="0"/>
              </a:spcBef>
              <a:buNone/>
            </a:pPr>
            <a:endParaRPr dirty="0"/>
          </a:p>
        </p:txBody>
      </p:sp>
      <p:sp>
        <p:nvSpPr>
          <p:cNvPr id="383" name="Shape 383"/>
          <p:cNvSpPr txBox="1">
            <a:spLocks noGrp="1"/>
          </p:cNvSpPr>
          <p:nvPr>
            <p:ph type="sldNum" idx="12"/>
          </p:nvPr>
        </p:nvSpPr>
        <p:spPr>
          <a:xfrm>
            <a:off x="3884612" y="8685213"/>
            <a:ext cx="2971800" cy="457200"/>
          </a:xfrm>
          <a:prstGeom prst="rect">
            <a:avLst/>
          </a:prstGeom>
        </p:spPr>
        <p:txBody>
          <a:bodyPr lIns="91425" tIns="45700" rIns="91425" bIns="45700" anchor="b" anchorCtr="0">
            <a:noAutofit/>
          </a:bodyPr>
          <a:lstStyle/>
          <a:p>
            <a:pPr lvl="0">
              <a:spcBef>
                <a:spcPts val="0"/>
              </a:spcBef>
              <a:buClr>
                <a:srgbClr val="000000"/>
              </a:buClr>
              <a:buSzPct val="25000"/>
              <a:buFont typeface="Arial"/>
              <a:buNone/>
            </a:pPr>
            <a:fld id="{00000000-1234-1234-1234-123412341234}" type="slidenum">
              <a:rPr lang="en-US"/>
              <a:t>34</a:t>
            </a:fld>
            <a:endParaRPr lang="en-US" dirty="0"/>
          </a:p>
        </p:txBody>
      </p:sp>
    </p:spTree>
    <p:extLst>
      <p:ext uri="{BB962C8B-B14F-4D97-AF65-F5344CB8AC3E}">
        <p14:creationId xmlns:p14="http://schemas.microsoft.com/office/powerpoint/2010/main" val="1244032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hapter Opener-add copyright">
    <p:spTree>
      <p:nvGrpSpPr>
        <p:cNvPr id="1" name="Shape 37"/>
        <p:cNvGrpSpPr/>
        <p:nvPr/>
      </p:nvGrpSpPr>
      <p:grpSpPr>
        <a:xfrm>
          <a:off x="0" y="0"/>
          <a:ext cx="0" cy="0"/>
          <a:chOff x="0" y="0"/>
          <a:chExt cx="0" cy="0"/>
        </a:xfrm>
      </p:grpSpPr>
      <p:sp>
        <p:nvSpPr>
          <p:cNvPr id="38" name="Title Placeholder"/>
          <p:cNvSpPr txBox="1">
            <a:spLocks noGrp="1"/>
          </p:cNvSpPr>
          <p:nvPr>
            <p:ph type="title"/>
          </p:nvPr>
        </p:nvSpPr>
        <p:spPr>
          <a:xfrm>
            <a:off x="457200" y="215371"/>
            <a:ext cx="8229600" cy="622828"/>
          </a:xfrm>
          <a:prstGeom prst="rect">
            <a:avLst/>
          </a:prstGeom>
          <a:noFill/>
          <a:ln>
            <a:noFill/>
          </a:ln>
        </p:spPr>
        <p:txBody>
          <a:bodyPr lIns="91425" tIns="91425" rIns="91425" bIns="91425" anchor="ctr"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Content Placeholder"/>
          <p:cNvSpPr txBox="1">
            <a:spLocks noGrp="1"/>
          </p:cNvSpPr>
          <p:nvPr>
            <p:ph type="body" idx="1"/>
          </p:nvPr>
        </p:nvSpPr>
        <p:spPr>
          <a:xfrm>
            <a:off x="457200" y="958098"/>
            <a:ext cx="8229600" cy="478970"/>
          </a:xfrm>
          <a:prstGeom prst="rect">
            <a:avLst/>
          </a:prstGeom>
          <a:noFill/>
          <a:ln>
            <a:noFill/>
          </a:ln>
        </p:spPr>
        <p:txBody>
          <a:bodyPr lIns="91425" tIns="91425" rIns="91425" bIns="91425" anchor="ctr" anchorCtr="0"/>
          <a:lstStyle>
            <a:lvl1pPr marL="0" marR="0" lvl="0" indent="0" algn="l" rtl="0">
              <a:spcBef>
                <a:spcPts val="0"/>
              </a:spcBef>
              <a:buClr>
                <a:srgbClr val="007FA3"/>
              </a:buClr>
              <a:buFont typeface="Arial"/>
              <a:buNone/>
              <a:defRPr sz="2000" b="0" i="0" u="none" strike="noStrike" cap="none">
                <a:solidFill>
                  <a:srgbClr val="007FA3"/>
                </a:solidFill>
                <a:latin typeface="+mn-lt"/>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dirty="0"/>
          </a:p>
        </p:txBody>
      </p:sp>
      <p:sp>
        <p:nvSpPr>
          <p:cNvPr id="4" name="Content Placeholder 3">
            <a:extLst>
              <a:ext uri="{FF2B5EF4-FFF2-40B4-BE49-F238E27FC236}">
                <a16:creationId xmlns:a16="http://schemas.microsoft.com/office/drawing/2014/main" id="{6EE677B9-EC76-47FA-B8D6-49D033518C61}"/>
              </a:ext>
            </a:extLst>
          </p:cNvPr>
          <p:cNvSpPr>
            <a:spLocks noGrp="1"/>
          </p:cNvSpPr>
          <p:nvPr>
            <p:ph sz="quarter" idx="13" hasCustomPrompt="1"/>
          </p:nvPr>
        </p:nvSpPr>
        <p:spPr>
          <a:xfrm>
            <a:off x="457200" y="1600200"/>
            <a:ext cx="4397375" cy="4525963"/>
          </a:xfrm>
        </p:spPr>
        <p:txBody>
          <a:bodyPr/>
          <a:lstStyle>
            <a:lvl1pPr marL="101600" indent="0">
              <a:buNone/>
              <a:defRPr/>
            </a:lvl1pPr>
          </a:lstStyle>
          <a:p>
            <a:pPr lvl="0"/>
            <a:r>
              <a:rPr lang="en-US" dirty="0"/>
              <a:t>Image of front cover</a:t>
            </a:r>
          </a:p>
        </p:txBody>
      </p:sp>
      <p:sp>
        <p:nvSpPr>
          <p:cNvPr id="6" name="Content Placeholder 5">
            <a:extLst>
              <a:ext uri="{FF2B5EF4-FFF2-40B4-BE49-F238E27FC236}">
                <a16:creationId xmlns:a16="http://schemas.microsoft.com/office/drawing/2014/main" id="{F4ED3915-2147-4382-A599-2376CC8854D1}"/>
              </a:ext>
            </a:extLst>
          </p:cNvPr>
          <p:cNvSpPr>
            <a:spLocks noGrp="1"/>
          </p:cNvSpPr>
          <p:nvPr>
            <p:ph sz="quarter" idx="14" hasCustomPrompt="1"/>
          </p:nvPr>
        </p:nvSpPr>
        <p:spPr>
          <a:xfrm>
            <a:off x="5029200" y="1600200"/>
            <a:ext cx="3657600" cy="1492250"/>
          </a:xfrm>
        </p:spPr>
        <p:txBody>
          <a:bodyPr anchor="b"/>
          <a:lstStyle>
            <a:lvl1pPr marL="101600" indent="0" algn="ctr">
              <a:buNone/>
              <a:defRPr sz="3000" b="1">
                <a:latin typeface="+mn-lt"/>
              </a:defRPr>
            </a:lvl1pPr>
            <a:lvl2pPr marL="558800" indent="0">
              <a:buNone/>
              <a:defRPr/>
            </a:lvl2pPr>
          </a:lstStyle>
          <a:p>
            <a:pPr lvl="0"/>
            <a:r>
              <a:rPr lang="en-US" dirty="0"/>
              <a:t>Chapter #</a:t>
            </a:r>
          </a:p>
        </p:txBody>
      </p:sp>
      <p:sp>
        <p:nvSpPr>
          <p:cNvPr id="8" name="Content Placeholder 7">
            <a:extLst>
              <a:ext uri="{FF2B5EF4-FFF2-40B4-BE49-F238E27FC236}">
                <a16:creationId xmlns:a16="http://schemas.microsoft.com/office/drawing/2014/main" id="{3B38FD8D-0DB0-4A1A-A3F1-E26B606AC837}"/>
              </a:ext>
            </a:extLst>
          </p:cNvPr>
          <p:cNvSpPr>
            <a:spLocks noGrp="1"/>
          </p:cNvSpPr>
          <p:nvPr>
            <p:ph sz="quarter" idx="15" hasCustomPrompt="1"/>
          </p:nvPr>
        </p:nvSpPr>
        <p:spPr>
          <a:xfrm>
            <a:off x="5029200" y="3252788"/>
            <a:ext cx="3657600" cy="2873375"/>
          </a:xfrm>
        </p:spPr>
        <p:txBody>
          <a:bodyPr/>
          <a:lstStyle>
            <a:lvl1pPr marL="0" indent="0" algn="ctr">
              <a:buNone/>
              <a:defRPr sz="2200">
                <a:latin typeface="+mn-lt"/>
              </a:defRPr>
            </a:lvl1pPr>
          </a:lstStyle>
          <a:p>
            <a:pPr lvl="0"/>
            <a:r>
              <a:rPr lang="en-US" dirty="0"/>
              <a:t>Chapter name</a:t>
            </a:r>
          </a:p>
        </p:txBody>
      </p:sp>
      <p:sp>
        <p:nvSpPr>
          <p:cNvPr id="12" name="Shape 13">
            <a:extLst>
              <a:ext uri="{FF2B5EF4-FFF2-40B4-BE49-F238E27FC236}">
                <a16:creationId xmlns:a16="http://schemas.microsoft.com/office/drawing/2014/main" id="{C5328E6C-2B17-49B8-8712-6C0E107A1D99}"/>
              </a:ext>
            </a:extLst>
          </p:cNvPr>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3" name="Shape 14">
            <a:extLst>
              <a:ext uri="{FF2B5EF4-FFF2-40B4-BE49-F238E27FC236}">
                <a16:creationId xmlns:a16="http://schemas.microsoft.com/office/drawing/2014/main" id="{CE0B5B1C-8858-43DC-BD75-C546F4738779}"/>
              </a:ext>
            </a:extLst>
          </p:cNvPr>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
        <p:nvSpPr>
          <p:cNvPr id="9" name="Picture Placeholder 8">
            <a:extLst>
              <a:ext uri="{FF2B5EF4-FFF2-40B4-BE49-F238E27FC236}">
                <a16:creationId xmlns:a16="http://schemas.microsoft.com/office/drawing/2014/main" id="{51B8939D-A957-42F9-A1B5-556D29D235AB}"/>
              </a:ext>
            </a:extLst>
          </p:cNvPr>
          <p:cNvSpPr>
            <a:spLocks noGrp="1"/>
          </p:cNvSpPr>
          <p:nvPr>
            <p:ph type="pic" sz="quarter" idx="16" hasCustomPrompt="1"/>
          </p:nvPr>
        </p:nvSpPr>
        <p:spPr>
          <a:xfrm>
            <a:off x="457200" y="6400801"/>
            <a:ext cx="1001713" cy="228600"/>
          </a:xfrm>
        </p:spPr>
        <p:txBody>
          <a:bodyPr anchor="ctr"/>
          <a:lstStyle>
            <a:lvl1pPr>
              <a:buNone/>
              <a:defRPr sz="1200">
                <a:latin typeface="Verdana" panose="020B0604030504040204" pitchFamily="34" charset="0"/>
                <a:ea typeface="Verdana" panose="020B0604030504040204" pitchFamily="34" charset="0"/>
              </a:defRPr>
            </a:lvl1pPr>
          </a:lstStyle>
          <a:p>
            <a:r>
              <a:rPr lang="en-US" dirty="0"/>
              <a:t>Logo</a:t>
            </a:r>
          </a:p>
        </p:txBody>
      </p:sp>
      <p:sp>
        <p:nvSpPr>
          <p:cNvPr id="18" name="Content Placeholder 17">
            <a:extLst>
              <a:ext uri="{FF2B5EF4-FFF2-40B4-BE49-F238E27FC236}">
                <a16:creationId xmlns:a16="http://schemas.microsoft.com/office/drawing/2014/main" id="{0CF87F15-2C58-4DFC-BACB-0E2C6507BCDE}"/>
              </a:ext>
            </a:extLst>
          </p:cNvPr>
          <p:cNvSpPr>
            <a:spLocks noGrp="1"/>
          </p:cNvSpPr>
          <p:nvPr>
            <p:ph sz="quarter" idx="17" hasCustomPrompt="1"/>
          </p:nvPr>
        </p:nvSpPr>
        <p:spPr>
          <a:xfrm>
            <a:off x="2097088" y="6400800"/>
            <a:ext cx="6589712" cy="228600"/>
          </a:xfrm>
        </p:spPr>
        <p:txBody>
          <a:bodyPr anchor="ctr"/>
          <a:lstStyle>
            <a:lvl1pPr algn="r">
              <a:buNone/>
              <a:defRPr sz="1200">
                <a:latin typeface="Verdana" panose="020B0604030504040204" pitchFamily="34" charset="0"/>
                <a:ea typeface="Verdana" panose="020B0604030504040204" pitchFamily="34" charset="0"/>
              </a:defRPr>
            </a:lvl1pPr>
          </a:lstStyle>
          <a:p>
            <a:pPr lvl="0"/>
            <a:r>
              <a:rPr lang="en-US" dirty="0"/>
              <a:t>Copyright Information</a:t>
            </a:r>
          </a:p>
        </p:txBody>
      </p:sp>
    </p:spTree>
    <p:extLst>
      <p:ext uri="{BB962C8B-B14F-4D97-AF65-F5344CB8AC3E}">
        <p14:creationId xmlns:p14="http://schemas.microsoft.com/office/powerpoint/2010/main" val="839355990"/>
      </p:ext>
    </p:extLst>
  </p:cSld>
  <p:clrMapOvr>
    <a:masterClrMapping/>
  </p:clrMapOvr>
  <p:extLst>
    <p:ext uri="{DCECCB84-F9BA-43D5-87BE-67443E8EF086}">
      <p15:sldGuideLst xmlns:p15="http://schemas.microsoft.com/office/powerpoint/2012/main">
        <p15:guide id="1" orient="horz" pos="4176" userDrawn="1">
          <p15:clr>
            <a:srgbClr val="FBAE40"/>
          </p15:clr>
        </p15:guide>
        <p15:guide id="2"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add copyright">
    <p:spTree>
      <p:nvGrpSpPr>
        <p:cNvPr id="1" name="Shape 17"/>
        <p:cNvGrpSpPr/>
        <p:nvPr/>
      </p:nvGrpSpPr>
      <p:grpSpPr>
        <a:xfrm>
          <a:off x="0" y="0"/>
          <a:ext cx="0" cy="0"/>
          <a:chOff x="0" y="0"/>
          <a:chExt cx="0" cy="0"/>
        </a:xfrm>
      </p:grpSpPr>
      <p:sp>
        <p:nvSpPr>
          <p:cNvPr id="18" name="Shape 18"/>
          <p:cNvSpPr/>
          <p:nvPr/>
        </p:nvSpPr>
        <p:spPr>
          <a:xfrm>
            <a:off x="0" y="0"/>
            <a:ext cx="9144000" cy="3886200"/>
          </a:xfrm>
          <a:prstGeom prst="rect">
            <a:avLst/>
          </a:prstGeom>
          <a:solidFill>
            <a:srgbClr val="007FA3"/>
          </a:solidFill>
          <a:ln w="25400" cap="flat" cmpd="sng">
            <a:solidFill>
              <a:srgbClr val="007FA3"/>
            </a:solidFill>
            <a:prstDash val="solid"/>
            <a:round/>
            <a:headEnd type="none" w="med" len="med"/>
            <a:tailEnd type="none" w="med" len="med"/>
          </a:ln>
        </p:spPr>
        <p:txBody>
          <a:bodyPr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dirty="0">
              <a:ln>
                <a:noFill/>
              </a:ln>
              <a:solidFill>
                <a:srgbClr val="FFFFFF"/>
              </a:solidFill>
              <a:effectLst/>
              <a:uLnTx/>
              <a:uFillTx/>
              <a:latin typeface="Arial"/>
              <a:ea typeface="Arial"/>
              <a:cs typeface="Arial"/>
              <a:sym typeface="Arial"/>
            </a:endParaRPr>
          </a:p>
        </p:txBody>
      </p:sp>
      <p:sp>
        <p:nvSpPr>
          <p:cNvPr id="19" name="Title Placeholder"/>
          <p:cNvSpPr txBox="1">
            <a:spLocks noGrp="1"/>
          </p:cNvSpPr>
          <p:nvPr>
            <p:ph type="ctrTitle"/>
          </p:nvPr>
        </p:nvSpPr>
        <p:spPr>
          <a:xfrm>
            <a:off x="685800" y="762000"/>
            <a:ext cx="7772400" cy="2838451"/>
          </a:xfrm>
          <a:prstGeom prst="rect">
            <a:avLst/>
          </a:prstGeom>
          <a:noFill/>
          <a:ln>
            <a:noFill/>
          </a:ln>
        </p:spPr>
        <p:txBody>
          <a:bodyPr lIns="91425" tIns="91425" rIns="91425" bIns="91425" anchor="b" anchorCtr="0"/>
          <a:lstStyle>
            <a:lvl1pPr marL="0" marR="0" lvl="0" indent="0" algn="l" rtl="0">
              <a:lnSpc>
                <a:spcPct val="100000"/>
              </a:lnSpc>
              <a:spcBef>
                <a:spcPts val="0"/>
              </a:spcBef>
              <a:buClr>
                <a:schemeClr val="lt1"/>
              </a:buClr>
              <a:buFont typeface="Times New Roman"/>
              <a:buNone/>
              <a:defRPr sz="3600" b="1" i="0" u="none" strike="noStrike" cap="none">
                <a:solidFill>
                  <a:schemeClr val="lt1"/>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0" name="Content Placeholder"/>
          <p:cNvSpPr txBox="1">
            <a:spLocks noGrp="1"/>
          </p:cNvSpPr>
          <p:nvPr>
            <p:ph type="subTitle" idx="1"/>
          </p:nvPr>
        </p:nvSpPr>
        <p:spPr>
          <a:xfrm>
            <a:off x="674687" y="3962400"/>
            <a:ext cx="7794625"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400" b="0" i="0" u="none" strike="noStrike" cap="none">
                <a:solidFill>
                  <a:schemeClr val="dk1"/>
                </a:solidFill>
                <a:latin typeface="+mn-lt"/>
                <a:ea typeface="Arial"/>
                <a:cs typeface="Arial"/>
                <a:sym typeface="Arial"/>
              </a:defRPr>
            </a:lvl1pPr>
            <a:lvl2pPr marL="457200" marR="0" lvl="1"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4pPr>
            <a:lvl5pPr marL="1828800" marR="0" lvl="4"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5pPr>
            <a:lvl6pPr marL="2286000" marR="0" lvl="5"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6pPr>
            <a:lvl7pPr marL="2743200" marR="0" lvl="6"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7pPr>
            <a:lvl8pPr marL="3200400" marR="0" lvl="7"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8pPr>
            <a:lvl9pPr marL="3657600" marR="0" lvl="8"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9pPr>
          </a:lstStyle>
          <a:p>
            <a:endParaRPr dirty="0"/>
          </a:p>
        </p:txBody>
      </p:sp>
      <p:sp>
        <p:nvSpPr>
          <p:cNvPr id="22" name="Shape 2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sz="900" b="0" i="0" u="none" strike="noStrike" kern="0" cap="none" spc="0" normalizeH="0" baseline="0" noProof="0" dirty="0">
              <a:ln>
                <a:noFill/>
              </a:ln>
              <a:solidFill>
                <a:srgbClr val="FFFFFF"/>
              </a:solidFill>
              <a:effectLst/>
              <a:uLnTx/>
              <a:uFillTx/>
              <a:latin typeface="Arial"/>
              <a:cs typeface="Arial"/>
              <a:sym typeface="Arial"/>
            </a:endParaRPr>
          </a:p>
        </p:txBody>
      </p:sp>
      <p:sp>
        <p:nvSpPr>
          <p:cNvPr id="23" name="Shape 2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Tx/>
              <a:buSzPct val="25000"/>
              <a:buFontTx/>
              <a:buNone/>
              <a:tabLst/>
              <a:defRPr/>
            </a:pPr>
            <a:fld id="{00000000-1234-1234-1234-123412341234}" type="slidenum">
              <a:rPr kumimoji="0" lang="en-US" sz="900" b="0" i="0" u="none" strike="noStrike" kern="0" cap="none" spc="0" normalizeH="0" baseline="0" noProof="0">
                <a:ln>
                  <a:noFill/>
                </a:ln>
                <a:solidFill>
                  <a:srgbClr val="FFFFFF"/>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Tx/>
                <a:buSzPct val="25000"/>
                <a:buFontTx/>
                <a:buNone/>
                <a:tabLst/>
                <a:defRPr/>
              </a:pPr>
              <a:t>‹#›</a:t>
            </a:fld>
            <a:endParaRPr kumimoji="0" lang="en-US" sz="900" b="0" i="0" u="none" strike="noStrike" kern="0" cap="none" spc="0" normalizeH="0" baseline="0" noProof="0" dirty="0">
              <a:ln>
                <a:noFill/>
              </a:ln>
              <a:solidFill>
                <a:srgbClr val="FFFFFF"/>
              </a:solidFill>
              <a:effectLst/>
              <a:uLnTx/>
              <a:uFillTx/>
              <a:latin typeface="Arial"/>
              <a:ea typeface="Arial"/>
              <a:cs typeface="Arial"/>
              <a:sym typeface="Arial"/>
            </a:endParaRPr>
          </a:p>
        </p:txBody>
      </p:sp>
    </p:spTree>
    <p:extLst>
      <p:ext uri="{BB962C8B-B14F-4D97-AF65-F5344CB8AC3E}">
        <p14:creationId xmlns:p14="http://schemas.microsoft.com/office/powerpoint/2010/main" val="42159409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and one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7"/>
            <a:ext cx="8229600" cy="4586896"/>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648757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Title and Two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7"/>
            <a:ext cx="8229600" cy="226752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57200" y="3971925"/>
            <a:ext cx="8229600" cy="210502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Three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61030" y="1556326"/>
            <a:ext cx="3631545" cy="4520623"/>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234542" y="1563574"/>
            <a:ext cx="4452258" cy="210502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2">
            <a:extLst>
              <a:ext uri="{FF2B5EF4-FFF2-40B4-BE49-F238E27FC236}">
                <a16:creationId xmlns:a16="http://schemas.microsoft.com/office/drawing/2014/main" id="{6F503D41-401A-43DB-9BC0-38F51965B892}"/>
              </a:ext>
            </a:extLst>
          </p:cNvPr>
          <p:cNvSpPr>
            <a:spLocks noGrp="1"/>
          </p:cNvSpPr>
          <p:nvPr>
            <p:ph sz="quarter" idx="15"/>
          </p:nvPr>
        </p:nvSpPr>
        <p:spPr>
          <a:xfrm>
            <a:off x="4243595" y="3977558"/>
            <a:ext cx="4443205" cy="2112272"/>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7690625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Two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399197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694830" y="1552575"/>
            <a:ext cx="399197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41261101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Three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66603" y="1552575"/>
            <a:ext cx="2595602"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3290555" y="1552575"/>
            <a:ext cx="2595603"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6091197" y="1552575"/>
            <a:ext cx="2595603"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41644338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Four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2572593"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687986"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6803378"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30112147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Title and Ten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4011769" cy="46940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57200" y="2216772"/>
            <a:ext cx="4011769" cy="552186"/>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57200" y="2953477"/>
            <a:ext cx="4011769" cy="52536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457200" y="3640944"/>
            <a:ext cx="4011769" cy="52536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3" name="Content Placeholder 2"/>
          <p:cNvSpPr>
            <a:spLocks noGrp="1"/>
          </p:cNvSpPr>
          <p:nvPr>
            <p:ph sz="quarter" idx="17"/>
          </p:nvPr>
        </p:nvSpPr>
        <p:spPr>
          <a:xfrm>
            <a:off x="457200" y="4352925"/>
            <a:ext cx="4011769" cy="4762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p:cNvSpPr>
            <a:spLocks noGrp="1"/>
          </p:cNvSpPr>
          <p:nvPr>
            <p:ph sz="quarter" idx="18"/>
          </p:nvPr>
        </p:nvSpPr>
        <p:spPr>
          <a:xfrm>
            <a:off x="457200" y="5010150"/>
            <a:ext cx="4011769" cy="5143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9"/>
          </p:nvPr>
        </p:nvSpPr>
        <p:spPr>
          <a:xfrm>
            <a:off x="457200" y="5692775"/>
            <a:ext cx="4011769" cy="56673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0" name="Content Placeholder 9"/>
          <p:cNvSpPr>
            <a:spLocks noGrp="1"/>
          </p:cNvSpPr>
          <p:nvPr>
            <p:ph sz="quarter" idx="20"/>
          </p:nvPr>
        </p:nvSpPr>
        <p:spPr>
          <a:xfrm>
            <a:off x="4622801" y="1557338"/>
            <a:ext cx="4064000" cy="465137"/>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2" name="Content Placeholder 11"/>
          <p:cNvSpPr>
            <a:spLocks noGrp="1"/>
          </p:cNvSpPr>
          <p:nvPr>
            <p:ph sz="quarter" idx="21"/>
          </p:nvPr>
        </p:nvSpPr>
        <p:spPr>
          <a:xfrm>
            <a:off x="4622800" y="2216150"/>
            <a:ext cx="4064000" cy="5524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4" name="Content Placeholder 13"/>
          <p:cNvSpPr>
            <a:spLocks noGrp="1"/>
          </p:cNvSpPr>
          <p:nvPr>
            <p:ph sz="quarter" idx="22"/>
          </p:nvPr>
        </p:nvSpPr>
        <p:spPr>
          <a:xfrm>
            <a:off x="4622800" y="2952750"/>
            <a:ext cx="4064000" cy="525463"/>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9" name="Content Placeholder 18"/>
          <p:cNvSpPr>
            <a:spLocks noGrp="1"/>
          </p:cNvSpPr>
          <p:nvPr>
            <p:ph sz="quarter" idx="23"/>
          </p:nvPr>
        </p:nvSpPr>
        <p:spPr>
          <a:xfrm>
            <a:off x="4622800" y="3641725"/>
            <a:ext cx="4064000" cy="52387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1" name="Content Placeholder 20"/>
          <p:cNvSpPr>
            <a:spLocks noGrp="1"/>
          </p:cNvSpPr>
          <p:nvPr>
            <p:ph sz="quarter" idx="24"/>
          </p:nvPr>
        </p:nvSpPr>
        <p:spPr>
          <a:xfrm>
            <a:off x="4622800" y="4352925"/>
            <a:ext cx="4064000" cy="4762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3" name="Content Placeholder 22"/>
          <p:cNvSpPr>
            <a:spLocks noGrp="1"/>
          </p:cNvSpPr>
          <p:nvPr>
            <p:ph sz="quarter" idx="25"/>
          </p:nvPr>
        </p:nvSpPr>
        <p:spPr>
          <a:xfrm>
            <a:off x="4713288" y="5010150"/>
            <a:ext cx="3973512" cy="5143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5" name="Content Placeholder 24"/>
          <p:cNvSpPr>
            <a:spLocks noGrp="1"/>
          </p:cNvSpPr>
          <p:nvPr>
            <p:ph sz="quarter" idx="26"/>
          </p:nvPr>
        </p:nvSpPr>
        <p:spPr>
          <a:xfrm>
            <a:off x="4713288" y="5692775"/>
            <a:ext cx="3973512" cy="56673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447121803"/>
      </p:ext>
    </p:extLst>
  </p:cSld>
  <p:clrMapOvr>
    <a:masterClrMapping/>
  </p:clrMapOvr>
  <p:extLst>
    <p:ext uri="{DCECCB84-F9BA-43D5-87BE-67443E8EF086}">
      <p15:sldGuideLst xmlns:p15="http://schemas.microsoft.com/office/powerpoint/2012/main">
        <p15:guide id="1" orient="horz" pos="981"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Title and 20_Content_4_Tex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93309"/>
            <a:ext cx="8229600" cy="387941"/>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57200" y="2063853"/>
            <a:ext cx="8229600" cy="342864"/>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57200" y="2495832"/>
            <a:ext cx="8229600" cy="358833"/>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457200" y="2946415"/>
            <a:ext cx="8229600" cy="394716"/>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3" name="Content Placeholder 2"/>
          <p:cNvSpPr>
            <a:spLocks noGrp="1"/>
          </p:cNvSpPr>
          <p:nvPr>
            <p:ph sz="quarter" idx="17"/>
          </p:nvPr>
        </p:nvSpPr>
        <p:spPr>
          <a:xfrm>
            <a:off x="457200" y="3423855"/>
            <a:ext cx="8229600" cy="32528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p:cNvSpPr>
            <a:spLocks noGrp="1"/>
          </p:cNvSpPr>
          <p:nvPr>
            <p:ph sz="quarter" idx="18"/>
          </p:nvPr>
        </p:nvSpPr>
        <p:spPr>
          <a:xfrm>
            <a:off x="457200" y="3857050"/>
            <a:ext cx="8229600" cy="425083"/>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9"/>
          </p:nvPr>
        </p:nvSpPr>
        <p:spPr>
          <a:xfrm>
            <a:off x="457200" y="4338157"/>
            <a:ext cx="8229600" cy="395774"/>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0" name="Content Placeholder 9"/>
          <p:cNvSpPr>
            <a:spLocks noGrp="1"/>
          </p:cNvSpPr>
          <p:nvPr>
            <p:ph sz="quarter" idx="20"/>
          </p:nvPr>
        </p:nvSpPr>
        <p:spPr>
          <a:xfrm>
            <a:off x="457201" y="4837386"/>
            <a:ext cx="8229600" cy="238689"/>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2" name="Content Placeholder 11"/>
          <p:cNvSpPr>
            <a:spLocks noGrp="1"/>
          </p:cNvSpPr>
          <p:nvPr>
            <p:ph sz="quarter" idx="21"/>
          </p:nvPr>
        </p:nvSpPr>
        <p:spPr>
          <a:xfrm>
            <a:off x="457200" y="5211857"/>
            <a:ext cx="8229600" cy="28349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4" name="Content Placeholder 13"/>
          <p:cNvSpPr>
            <a:spLocks noGrp="1"/>
          </p:cNvSpPr>
          <p:nvPr>
            <p:ph sz="quarter" idx="22"/>
          </p:nvPr>
        </p:nvSpPr>
        <p:spPr>
          <a:xfrm>
            <a:off x="457200" y="5606853"/>
            <a:ext cx="8229600" cy="26964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9" name="Content Placeholder 18"/>
          <p:cNvSpPr>
            <a:spLocks noGrp="1"/>
          </p:cNvSpPr>
          <p:nvPr>
            <p:ph sz="quarter" idx="23"/>
          </p:nvPr>
        </p:nvSpPr>
        <p:spPr>
          <a:xfrm>
            <a:off x="457200" y="5983525"/>
            <a:ext cx="8229600" cy="268831"/>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1" name="Content Placeholder 20"/>
          <p:cNvSpPr>
            <a:spLocks noGrp="1"/>
          </p:cNvSpPr>
          <p:nvPr>
            <p:ph sz="quarter" idx="24"/>
          </p:nvPr>
        </p:nvSpPr>
        <p:spPr>
          <a:xfrm>
            <a:off x="457201" y="6331844"/>
            <a:ext cx="8229600" cy="244392"/>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3" name="Content Placeholder 22"/>
          <p:cNvSpPr>
            <a:spLocks noGrp="1"/>
          </p:cNvSpPr>
          <p:nvPr>
            <p:ph sz="quarter" idx="25"/>
          </p:nvPr>
        </p:nvSpPr>
        <p:spPr>
          <a:xfrm>
            <a:off x="457201" y="6654233"/>
            <a:ext cx="8046362" cy="263943"/>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5" name="Content Placeholder 24"/>
          <p:cNvSpPr>
            <a:spLocks noGrp="1"/>
          </p:cNvSpPr>
          <p:nvPr>
            <p:ph sz="quarter" idx="26"/>
          </p:nvPr>
        </p:nvSpPr>
        <p:spPr>
          <a:xfrm>
            <a:off x="457201" y="7063805"/>
            <a:ext cx="8046362" cy="29082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Content Placeholder 3"/>
          <p:cNvSpPr>
            <a:spLocks noGrp="1"/>
          </p:cNvSpPr>
          <p:nvPr>
            <p:ph sz="quarter" idx="27"/>
          </p:nvPr>
        </p:nvSpPr>
        <p:spPr>
          <a:xfrm>
            <a:off x="457200" y="7483231"/>
            <a:ext cx="8012113" cy="21907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Content Placeholder 8"/>
          <p:cNvSpPr>
            <a:spLocks noGrp="1"/>
          </p:cNvSpPr>
          <p:nvPr>
            <p:ph sz="quarter" idx="28"/>
          </p:nvPr>
        </p:nvSpPr>
        <p:spPr>
          <a:xfrm>
            <a:off x="457200" y="7832725"/>
            <a:ext cx="8012113" cy="293688"/>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3" name="Content Placeholder 12"/>
          <p:cNvSpPr>
            <a:spLocks noGrp="1"/>
          </p:cNvSpPr>
          <p:nvPr>
            <p:ph sz="quarter" idx="29"/>
          </p:nvPr>
        </p:nvSpPr>
        <p:spPr>
          <a:xfrm>
            <a:off x="457200" y="8258175"/>
            <a:ext cx="8047038" cy="32702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0" name="Content Placeholder 19"/>
          <p:cNvSpPr>
            <a:spLocks noGrp="1"/>
          </p:cNvSpPr>
          <p:nvPr>
            <p:ph sz="quarter" idx="30"/>
          </p:nvPr>
        </p:nvSpPr>
        <p:spPr>
          <a:xfrm>
            <a:off x="457200" y="8609013"/>
            <a:ext cx="8012113" cy="323850"/>
          </a:xfrm>
        </p:spPr>
        <p:txBody>
          <a:bodyPr/>
          <a:lstStyle>
            <a:lvl1pPr indent="-255600">
              <a:defRPr>
                <a:latin typeface="+mn-lt"/>
              </a:defRPr>
            </a:lvl1pPr>
            <a:lvl2pPr>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4" name="Content Placeholder 23"/>
          <p:cNvSpPr>
            <a:spLocks noGrp="1"/>
          </p:cNvSpPr>
          <p:nvPr>
            <p:ph sz="quarter" idx="31"/>
          </p:nvPr>
        </p:nvSpPr>
        <p:spPr>
          <a:xfrm>
            <a:off x="457200" y="9036050"/>
            <a:ext cx="8047038" cy="239713"/>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7" name="Content Placeholder 26"/>
          <p:cNvSpPr>
            <a:spLocks noGrp="1"/>
          </p:cNvSpPr>
          <p:nvPr>
            <p:ph sz="quarter" idx="32"/>
          </p:nvPr>
        </p:nvSpPr>
        <p:spPr>
          <a:xfrm>
            <a:off x="457200" y="9466263"/>
            <a:ext cx="8047038" cy="150812"/>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9" name="Text Placeholder 28"/>
          <p:cNvSpPr>
            <a:spLocks noGrp="1"/>
          </p:cNvSpPr>
          <p:nvPr>
            <p:ph type="body" sz="quarter" idx="33"/>
          </p:nvPr>
        </p:nvSpPr>
        <p:spPr>
          <a:xfrm>
            <a:off x="457200" y="9807575"/>
            <a:ext cx="8047038" cy="26352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32" name="Text Placeholder 31"/>
          <p:cNvSpPr>
            <a:spLocks noGrp="1"/>
          </p:cNvSpPr>
          <p:nvPr>
            <p:ph type="body" sz="quarter" idx="34"/>
          </p:nvPr>
        </p:nvSpPr>
        <p:spPr>
          <a:xfrm>
            <a:off x="457200" y="10174288"/>
            <a:ext cx="8012113" cy="322262"/>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34" name="Text Placeholder 33"/>
          <p:cNvSpPr>
            <a:spLocks noGrp="1"/>
          </p:cNvSpPr>
          <p:nvPr>
            <p:ph type="body" sz="quarter" idx="35"/>
          </p:nvPr>
        </p:nvSpPr>
        <p:spPr>
          <a:xfrm>
            <a:off x="457200" y="10663977"/>
            <a:ext cx="8047038" cy="25717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38" name="Text Placeholder 37"/>
          <p:cNvSpPr>
            <a:spLocks noGrp="1"/>
          </p:cNvSpPr>
          <p:nvPr>
            <p:ph type="body" sz="quarter" idx="36"/>
          </p:nvPr>
        </p:nvSpPr>
        <p:spPr>
          <a:xfrm>
            <a:off x="457200" y="11063288"/>
            <a:ext cx="8047038" cy="29527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1484240011"/>
      </p:ext>
    </p:extLst>
  </p:cSld>
  <p:clrMapOvr>
    <a:masterClrMapping/>
  </p:clrMapOvr>
  <p:extLst>
    <p:ext uri="{DCECCB84-F9BA-43D5-87BE-67443E8EF086}">
      <p15:sldGuideLst xmlns:p15="http://schemas.microsoft.com/office/powerpoint/2012/main">
        <p15:guide id="1" orient="horz" pos="98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Figure + Caption">
    <p:spTree>
      <p:nvGrpSpPr>
        <p:cNvPr id="1" name="Shape 53"/>
        <p:cNvGrpSpPr/>
        <p:nvPr/>
      </p:nvGrpSpPr>
      <p:grpSpPr>
        <a:xfrm>
          <a:off x="0" y="0"/>
          <a:ext cx="0" cy="0"/>
          <a:chOff x="0" y="0"/>
          <a:chExt cx="0" cy="0"/>
        </a:xfrm>
      </p:grpSpPr>
      <p:sp>
        <p:nvSpPr>
          <p:cNvPr id="54" name="Tile Placeholder"/>
          <p:cNvSpPr txBox="1">
            <a:spLocks noGrp="1"/>
          </p:cNvSpPr>
          <p:nvPr>
            <p:ph type="title" hasCustomPrompt="1"/>
          </p:nvPr>
        </p:nvSpPr>
        <p:spPr>
          <a:xfrm>
            <a:off x="457200" y="241479"/>
            <a:ext cx="8229600" cy="106679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dirty="0"/>
              <a:t>Click to add figure number and title</a:t>
            </a:r>
            <a:endParaRPr dirty="0"/>
          </a:p>
        </p:txBody>
      </p:sp>
      <p:sp>
        <p:nvSpPr>
          <p:cNvPr id="3" name="Picture Placeholder 2">
            <a:extLst>
              <a:ext uri="{FF2B5EF4-FFF2-40B4-BE49-F238E27FC236}">
                <a16:creationId xmlns:a16="http://schemas.microsoft.com/office/drawing/2014/main" id="{AD3CB993-AC2C-41C5-BFB7-F2499EC1A14C}"/>
              </a:ext>
            </a:extLst>
          </p:cNvPr>
          <p:cNvSpPr>
            <a:spLocks noGrp="1"/>
          </p:cNvSpPr>
          <p:nvPr>
            <p:ph type="pic" sz="quarter" idx="13"/>
          </p:nvPr>
        </p:nvSpPr>
        <p:spPr>
          <a:xfrm>
            <a:off x="457200" y="1564404"/>
            <a:ext cx="8232775" cy="3417887"/>
          </a:xfrm>
        </p:spPr>
        <p:txBody>
          <a:bodyPr/>
          <a:lstStyle/>
          <a:p>
            <a:endParaRPr lang="en-US" dirty="0"/>
          </a:p>
        </p:txBody>
      </p:sp>
      <p:sp>
        <p:nvSpPr>
          <p:cNvPr id="55" name="Content Placeholder"/>
          <p:cNvSpPr txBox="1">
            <a:spLocks noGrp="1"/>
          </p:cNvSpPr>
          <p:nvPr>
            <p:ph type="body" idx="1" hasCustomPrompt="1"/>
          </p:nvPr>
        </p:nvSpPr>
        <p:spPr>
          <a:xfrm>
            <a:off x="457200" y="5102487"/>
            <a:ext cx="8229600" cy="1018367"/>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1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r>
              <a:rPr lang="en-US" dirty="0"/>
              <a:t>Click to add caption</a:t>
            </a:r>
            <a:endParaRPr dirty="0"/>
          </a:p>
        </p:txBody>
      </p:sp>
      <p:sp>
        <p:nvSpPr>
          <p:cNvPr id="57" name="Shape 57"/>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58" name="Shape 58"/>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dk1"/>
                </a:solidFill>
                <a:latin typeface="Arial"/>
                <a:ea typeface="Arial"/>
                <a:cs typeface="Arial"/>
                <a:sym typeface="Arial"/>
              </a:rPr>
              <a:t>‹#›</a:t>
            </a:fld>
            <a:endParaRPr lang="en-US" sz="9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88509755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Figure + Caption">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14F033AD-BE5C-406D-991C-6AC56003E70C}"/>
              </a:ext>
            </a:extLst>
          </p:cNvPr>
          <p:cNvSpPr>
            <a:spLocks noGrp="1"/>
          </p:cNvSpPr>
          <p:nvPr>
            <p:ph type="title" hasCustomPrompt="1"/>
          </p:nvPr>
        </p:nvSpPr>
        <p:spPr/>
        <p:txBody>
          <a:bodyPr/>
          <a:lstStyle>
            <a:lvl1pPr>
              <a:defRPr sz="3600">
                <a:latin typeface="+mj-lt"/>
              </a:defRPr>
            </a:lvl1pPr>
          </a:lstStyle>
          <a:p>
            <a:r>
              <a:rPr lang="en-US" dirty="0"/>
              <a:t>Click to add figure number and title</a:t>
            </a:r>
          </a:p>
        </p:txBody>
      </p:sp>
      <p:sp>
        <p:nvSpPr>
          <p:cNvPr id="7" name="Content Placeholder 6">
            <a:extLst>
              <a:ext uri="{FF2B5EF4-FFF2-40B4-BE49-F238E27FC236}">
                <a16:creationId xmlns:a16="http://schemas.microsoft.com/office/drawing/2014/main" id="{9E6B7D3D-89C9-4133-8D8A-D779EB3D311D}"/>
              </a:ext>
            </a:extLst>
          </p:cNvPr>
          <p:cNvSpPr>
            <a:spLocks noGrp="1"/>
          </p:cNvSpPr>
          <p:nvPr>
            <p:ph sz="quarter" idx="13" hasCustomPrompt="1"/>
          </p:nvPr>
        </p:nvSpPr>
        <p:spPr>
          <a:xfrm>
            <a:off x="457200" y="1558412"/>
            <a:ext cx="4484688" cy="3754437"/>
          </a:xfrm>
        </p:spPr>
        <p:txBody>
          <a:bodyPr/>
          <a:lstStyle>
            <a:lvl1pPr>
              <a:defRPr/>
            </a:lvl1pPr>
          </a:lstStyle>
          <a:p>
            <a:pPr lvl="0"/>
            <a:r>
              <a:rPr lang="en-US" dirty="0"/>
              <a:t>Figure</a:t>
            </a:r>
          </a:p>
        </p:txBody>
      </p:sp>
      <p:sp>
        <p:nvSpPr>
          <p:cNvPr id="12" name="Content Placeholder 11">
            <a:extLst>
              <a:ext uri="{FF2B5EF4-FFF2-40B4-BE49-F238E27FC236}">
                <a16:creationId xmlns:a16="http://schemas.microsoft.com/office/drawing/2014/main" id="{5CAF3FDC-1BE7-4A19-A3D7-02B55407B90B}"/>
              </a:ext>
            </a:extLst>
          </p:cNvPr>
          <p:cNvSpPr>
            <a:spLocks noGrp="1"/>
          </p:cNvSpPr>
          <p:nvPr>
            <p:ph sz="quarter" idx="15"/>
          </p:nvPr>
        </p:nvSpPr>
        <p:spPr>
          <a:xfrm>
            <a:off x="5048250" y="1558412"/>
            <a:ext cx="3638550" cy="3754437"/>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7">
            <a:extLst>
              <a:ext uri="{FF2B5EF4-FFF2-40B4-BE49-F238E27FC236}">
                <a16:creationId xmlns:a16="http://schemas.microsoft.com/office/drawing/2014/main" id="{BF40E849-7663-4A75-9BC8-012C23AC44DF}"/>
              </a:ext>
            </a:extLst>
          </p:cNvPr>
          <p:cNvSpPr>
            <a:spLocks noGrp="1"/>
          </p:cNvSpPr>
          <p:nvPr>
            <p:ph sz="quarter" idx="14" hasCustomPrompt="1"/>
          </p:nvPr>
        </p:nvSpPr>
        <p:spPr>
          <a:xfrm>
            <a:off x="457200" y="5420799"/>
            <a:ext cx="8229600" cy="533400"/>
          </a:xfrm>
        </p:spPr>
        <p:txBody>
          <a:bodyPr/>
          <a:lstStyle>
            <a:lvl1pPr>
              <a:defRPr/>
            </a:lvl1pPr>
          </a:lstStyle>
          <a:p>
            <a:pPr lvl="0"/>
            <a:r>
              <a:rPr lang="en-US" dirty="0"/>
              <a:t>Caption</a:t>
            </a:r>
          </a:p>
        </p:txBody>
      </p:sp>
      <p:sp>
        <p:nvSpPr>
          <p:cNvPr id="3" name="Date Placeholder 2">
            <a:extLst>
              <a:ext uri="{FF2B5EF4-FFF2-40B4-BE49-F238E27FC236}">
                <a16:creationId xmlns:a16="http://schemas.microsoft.com/office/drawing/2014/main" id="{A50D4E5D-00F7-4DC6-9BB0-713B8A0DA354}"/>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18AF4094-2296-458C-908A-D778D0DF5AF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166042820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Label Layout 1">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065091D3-E16C-46AB-9A90-0F52CA812534}"/>
              </a:ext>
            </a:extLst>
          </p:cNvPr>
          <p:cNvSpPr>
            <a:spLocks noGrp="1"/>
          </p:cNvSpPr>
          <p:nvPr>
            <p:ph type="title" hasCustomPrompt="1"/>
          </p:nvPr>
        </p:nvSpPr>
        <p:spPr/>
        <p:txBody>
          <a:bodyPr/>
          <a:lstStyle>
            <a:lvl1pPr>
              <a:defRPr sz="3600">
                <a:latin typeface="+mj-lt"/>
              </a:defRPr>
            </a:lvl1pPr>
          </a:lstStyle>
          <a:p>
            <a:r>
              <a:rPr lang="en-US" dirty="0"/>
              <a:t>Click to add title</a:t>
            </a:r>
          </a:p>
        </p:txBody>
      </p:sp>
      <p:sp>
        <p:nvSpPr>
          <p:cNvPr id="7" name="Image title">
            <a:extLst>
              <a:ext uri="{FF2B5EF4-FFF2-40B4-BE49-F238E27FC236}">
                <a16:creationId xmlns:a16="http://schemas.microsoft.com/office/drawing/2014/main" id="{CB345607-C53C-44AF-8929-3BDC4C617AB6}"/>
              </a:ext>
            </a:extLst>
          </p:cNvPr>
          <p:cNvSpPr>
            <a:spLocks noGrp="1"/>
          </p:cNvSpPr>
          <p:nvPr>
            <p:ph type="body" sz="quarter" idx="13" hasCustomPrompt="1"/>
          </p:nvPr>
        </p:nvSpPr>
        <p:spPr>
          <a:xfrm>
            <a:off x="2982913" y="4359275"/>
            <a:ext cx="3482975" cy="600075"/>
          </a:xfrm>
        </p:spPr>
        <p:txBody>
          <a:bodyPr/>
          <a:lstStyle>
            <a:lvl1pPr marL="101600" indent="0">
              <a:buNone/>
              <a:defRPr/>
            </a:lvl1pPr>
          </a:lstStyle>
          <a:p>
            <a:pPr lvl="0"/>
            <a:r>
              <a:rPr lang="en-US" dirty="0"/>
              <a:t>Image title</a:t>
            </a:r>
          </a:p>
        </p:txBody>
      </p:sp>
      <p:sp>
        <p:nvSpPr>
          <p:cNvPr id="9" name="Image">
            <a:extLst>
              <a:ext uri="{FF2B5EF4-FFF2-40B4-BE49-F238E27FC236}">
                <a16:creationId xmlns:a16="http://schemas.microsoft.com/office/drawing/2014/main" id="{C2661E64-2E71-47E6-A5A0-AC5348C08F51}"/>
              </a:ext>
            </a:extLst>
          </p:cNvPr>
          <p:cNvSpPr>
            <a:spLocks noGrp="1"/>
          </p:cNvSpPr>
          <p:nvPr>
            <p:ph type="pic" sz="quarter" idx="14" hasCustomPrompt="1"/>
          </p:nvPr>
        </p:nvSpPr>
        <p:spPr>
          <a:xfrm>
            <a:off x="2982912" y="1681163"/>
            <a:ext cx="3482975" cy="2559050"/>
          </a:xfrm>
        </p:spPr>
        <p:txBody>
          <a:bodyPr/>
          <a:lstStyle>
            <a:lvl1pPr marL="101600" indent="0">
              <a:buNone/>
              <a:defRPr/>
            </a:lvl1pPr>
          </a:lstStyle>
          <a:p>
            <a:r>
              <a:rPr lang="en-US" dirty="0"/>
              <a:t>Image</a:t>
            </a:r>
          </a:p>
        </p:txBody>
      </p:sp>
      <p:sp>
        <p:nvSpPr>
          <p:cNvPr id="11" name="Label 1">
            <a:extLst>
              <a:ext uri="{FF2B5EF4-FFF2-40B4-BE49-F238E27FC236}">
                <a16:creationId xmlns:a16="http://schemas.microsoft.com/office/drawing/2014/main" id="{3D0F2ED9-E212-40DC-A528-BE4A28DE88FD}"/>
              </a:ext>
            </a:extLst>
          </p:cNvPr>
          <p:cNvSpPr>
            <a:spLocks noGrp="1"/>
          </p:cNvSpPr>
          <p:nvPr>
            <p:ph type="body" sz="quarter" idx="15" hasCustomPrompt="1"/>
          </p:nvPr>
        </p:nvSpPr>
        <p:spPr>
          <a:xfrm>
            <a:off x="808109" y="1681163"/>
            <a:ext cx="1220716" cy="627062"/>
          </a:xfrm>
        </p:spPr>
        <p:txBody>
          <a:bodyPr/>
          <a:lstStyle>
            <a:lvl1pPr marL="101600" indent="0">
              <a:buNone/>
              <a:defRPr/>
            </a:lvl1pPr>
          </a:lstStyle>
          <a:p>
            <a:pPr lvl="0"/>
            <a:r>
              <a:rPr lang="en-US" dirty="0"/>
              <a:t>Label 1</a:t>
            </a:r>
          </a:p>
        </p:txBody>
      </p:sp>
      <p:sp>
        <p:nvSpPr>
          <p:cNvPr id="13" name="Label 2">
            <a:extLst>
              <a:ext uri="{FF2B5EF4-FFF2-40B4-BE49-F238E27FC236}">
                <a16:creationId xmlns:a16="http://schemas.microsoft.com/office/drawing/2014/main" id="{E8D9AEEF-5E99-48D4-B8C3-C5A995764DCA}"/>
              </a:ext>
            </a:extLst>
          </p:cNvPr>
          <p:cNvSpPr>
            <a:spLocks noGrp="1"/>
          </p:cNvSpPr>
          <p:nvPr>
            <p:ph type="body" sz="quarter" idx="16" hasCustomPrompt="1"/>
          </p:nvPr>
        </p:nvSpPr>
        <p:spPr>
          <a:xfrm>
            <a:off x="808109" y="2647157"/>
            <a:ext cx="1206500" cy="627062"/>
          </a:xfrm>
        </p:spPr>
        <p:txBody>
          <a:bodyPr/>
          <a:lstStyle>
            <a:lvl1pPr marL="101600" indent="0">
              <a:buNone/>
              <a:defRPr/>
            </a:lvl1pPr>
          </a:lstStyle>
          <a:p>
            <a:pPr lvl="0"/>
            <a:r>
              <a:rPr lang="en-US" dirty="0"/>
              <a:t>Label 2</a:t>
            </a:r>
          </a:p>
        </p:txBody>
      </p:sp>
      <p:sp>
        <p:nvSpPr>
          <p:cNvPr id="15" name="Label 3">
            <a:extLst>
              <a:ext uri="{FF2B5EF4-FFF2-40B4-BE49-F238E27FC236}">
                <a16:creationId xmlns:a16="http://schemas.microsoft.com/office/drawing/2014/main" id="{99D329CE-18C4-40A9-A508-1684979AC205}"/>
              </a:ext>
            </a:extLst>
          </p:cNvPr>
          <p:cNvSpPr>
            <a:spLocks noGrp="1"/>
          </p:cNvSpPr>
          <p:nvPr>
            <p:ph type="body" sz="quarter" idx="17" hasCustomPrompt="1"/>
          </p:nvPr>
        </p:nvSpPr>
        <p:spPr>
          <a:xfrm>
            <a:off x="808109" y="3613151"/>
            <a:ext cx="1206500" cy="627062"/>
          </a:xfrm>
        </p:spPr>
        <p:txBody>
          <a:bodyPr/>
          <a:lstStyle>
            <a:lvl1pPr marL="101600" indent="0">
              <a:buNone/>
              <a:defRPr/>
            </a:lvl1pPr>
          </a:lstStyle>
          <a:p>
            <a:pPr lvl="0"/>
            <a:r>
              <a:rPr lang="en-US" dirty="0"/>
              <a:t>Label 3</a:t>
            </a:r>
          </a:p>
        </p:txBody>
      </p:sp>
      <p:sp>
        <p:nvSpPr>
          <p:cNvPr id="17" name="Label 4">
            <a:extLst>
              <a:ext uri="{FF2B5EF4-FFF2-40B4-BE49-F238E27FC236}">
                <a16:creationId xmlns:a16="http://schemas.microsoft.com/office/drawing/2014/main" id="{AAE735D1-F9F4-4525-9ED5-F10A99DECCB8}"/>
              </a:ext>
            </a:extLst>
          </p:cNvPr>
          <p:cNvSpPr>
            <a:spLocks noGrp="1"/>
          </p:cNvSpPr>
          <p:nvPr>
            <p:ph type="body" sz="quarter" idx="18" hasCustomPrompt="1"/>
          </p:nvPr>
        </p:nvSpPr>
        <p:spPr>
          <a:xfrm>
            <a:off x="7381874" y="1681163"/>
            <a:ext cx="1304925" cy="627062"/>
          </a:xfrm>
        </p:spPr>
        <p:txBody>
          <a:bodyPr/>
          <a:lstStyle>
            <a:lvl1pPr marL="101600" indent="0">
              <a:buNone/>
              <a:defRPr/>
            </a:lvl1pPr>
          </a:lstStyle>
          <a:p>
            <a:pPr lvl="0"/>
            <a:r>
              <a:rPr lang="en-US" dirty="0"/>
              <a:t>Label 4</a:t>
            </a:r>
          </a:p>
        </p:txBody>
      </p:sp>
      <p:sp>
        <p:nvSpPr>
          <p:cNvPr id="19" name="Label 5">
            <a:extLst>
              <a:ext uri="{FF2B5EF4-FFF2-40B4-BE49-F238E27FC236}">
                <a16:creationId xmlns:a16="http://schemas.microsoft.com/office/drawing/2014/main" id="{43259E0C-9247-446E-9183-FBF70F8FD41C}"/>
              </a:ext>
            </a:extLst>
          </p:cNvPr>
          <p:cNvSpPr>
            <a:spLocks noGrp="1"/>
          </p:cNvSpPr>
          <p:nvPr>
            <p:ph type="body" sz="quarter" idx="19" hasCustomPrompt="1"/>
          </p:nvPr>
        </p:nvSpPr>
        <p:spPr>
          <a:xfrm>
            <a:off x="7381874" y="2651590"/>
            <a:ext cx="1304925" cy="618196"/>
          </a:xfrm>
        </p:spPr>
        <p:txBody>
          <a:bodyPr/>
          <a:lstStyle>
            <a:lvl1pPr marL="101600" indent="0">
              <a:buNone/>
              <a:defRPr/>
            </a:lvl1pPr>
          </a:lstStyle>
          <a:p>
            <a:pPr lvl="0"/>
            <a:r>
              <a:rPr lang="en-US" dirty="0"/>
              <a:t>Label 5</a:t>
            </a:r>
          </a:p>
        </p:txBody>
      </p:sp>
      <p:sp>
        <p:nvSpPr>
          <p:cNvPr id="21" name="Label 6">
            <a:extLst>
              <a:ext uri="{FF2B5EF4-FFF2-40B4-BE49-F238E27FC236}">
                <a16:creationId xmlns:a16="http://schemas.microsoft.com/office/drawing/2014/main" id="{111F58DF-A1C1-4DD6-ADE5-FC54A39F6757}"/>
              </a:ext>
            </a:extLst>
          </p:cNvPr>
          <p:cNvSpPr>
            <a:spLocks noGrp="1"/>
          </p:cNvSpPr>
          <p:nvPr>
            <p:ph type="body" sz="quarter" idx="20" hasCustomPrompt="1"/>
          </p:nvPr>
        </p:nvSpPr>
        <p:spPr>
          <a:xfrm>
            <a:off x="7381874" y="3613151"/>
            <a:ext cx="1304925" cy="627063"/>
          </a:xfrm>
        </p:spPr>
        <p:txBody>
          <a:bodyPr/>
          <a:lstStyle>
            <a:lvl1pPr marL="101600" indent="0">
              <a:buNone/>
              <a:defRPr/>
            </a:lvl1pPr>
          </a:lstStyle>
          <a:p>
            <a:pPr lvl="0"/>
            <a:r>
              <a:rPr lang="en-US" dirty="0"/>
              <a:t>Label 6</a:t>
            </a:r>
          </a:p>
        </p:txBody>
      </p:sp>
      <p:sp>
        <p:nvSpPr>
          <p:cNvPr id="3" name="Date Placeholder 2">
            <a:extLst>
              <a:ext uri="{FF2B5EF4-FFF2-40B4-BE49-F238E27FC236}">
                <a16:creationId xmlns:a16="http://schemas.microsoft.com/office/drawing/2014/main" id="{D0CEC9E9-2CDA-42DF-A6E1-55B455A7E67B}"/>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5429F10E-ACBA-4EA4-B23A-AC32FC5A681B}"/>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02789916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Label Layout 2">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5AF36A59-5DE4-46F3-8035-460E546D5673}"/>
              </a:ext>
            </a:extLst>
          </p:cNvPr>
          <p:cNvSpPr>
            <a:spLocks noGrp="1"/>
          </p:cNvSpPr>
          <p:nvPr>
            <p:ph type="title"/>
          </p:nvPr>
        </p:nvSpPr>
        <p:spPr/>
        <p:txBody>
          <a:bodyPr/>
          <a:lstStyle>
            <a:lvl1pPr>
              <a:defRPr sz="3600">
                <a:latin typeface="+mj-lt"/>
              </a:defRPr>
            </a:lvl1pPr>
          </a:lstStyle>
          <a:p>
            <a:r>
              <a:rPr lang="en-US" dirty="0"/>
              <a:t>Click to edit Master title style</a:t>
            </a:r>
          </a:p>
        </p:txBody>
      </p:sp>
      <p:sp>
        <p:nvSpPr>
          <p:cNvPr id="7" name="Image 1 title">
            <a:extLst>
              <a:ext uri="{FF2B5EF4-FFF2-40B4-BE49-F238E27FC236}">
                <a16:creationId xmlns:a16="http://schemas.microsoft.com/office/drawing/2014/main" id="{2BEC12FB-EC67-436F-875F-0A306862EF78}"/>
              </a:ext>
            </a:extLst>
          </p:cNvPr>
          <p:cNvSpPr>
            <a:spLocks noGrp="1"/>
          </p:cNvSpPr>
          <p:nvPr>
            <p:ph type="body" sz="quarter" idx="13" hasCustomPrompt="1"/>
          </p:nvPr>
        </p:nvSpPr>
        <p:spPr>
          <a:xfrm>
            <a:off x="457201" y="4392613"/>
            <a:ext cx="2107323" cy="504825"/>
          </a:xfrm>
        </p:spPr>
        <p:txBody>
          <a:bodyPr/>
          <a:lstStyle>
            <a:lvl1pPr marL="101600" indent="0">
              <a:buNone/>
              <a:defRPr/>
            </a:lvl1pPr>
          </a:lstStyle>
          <a:p>
            <a:pPr lvl="0"/>
            <a:r>
              <a:rPr lang="en-US" dirty="0"/>
              <a:t>Image 1 title</a:t>
            </a:r>
          </a:p>
        </p:txBody>
      </p:sp>
      <p:sp>
        <p:nvSpPr>
          <p:cNvPr id="9" name="Image 1">
            <a:extLst>
              <a:ext uri="{FF2B5EF4-FFF2-40B4-BE49-F238E27FC236}">
                <a16:creationId xmlns:a16="http://schemas.microsoft.com/office/drawing/2014/main" id="{1E9C9C32-F8ED-4AA8-AA00-26A2357E73E9}"/>
              </a:ext>
            </a:extLst>
          </p:cNvPr>
          <p:cNvSpPr>
            <a:spLocks noGrp="1"/>
          </p:cNvSpPr>
          <p:nvPr>
            <p:ph type="pic" sz="quarter" idx="14" hasCustomPrompt="1"/>
          </p:nvPr>
        </p:nvSpPr>
        <p:spPr>
          <a:xfrm>
            <a:off x="457200" y="1817688"/>
            <a:ext cx="2107324" cy="2386012"/>
          </a:xfrm>
        </p:spPr>
        <p:txBody>
          <a:bodyPr/>
          <a:lstStyle>
            <a:lvl1pPr marL="101600" indent="0">
              <a:buNone/>
              <a:defRPr/>
            </a:lvl1pPr>
          </a:lstStyle>
          <a:p>
            <a:r>
              <a:rPr lang="en-US" dirty="0"/>
              <a:t>Image 1</a:t>
            </a:r>
          </a:p>
        </p:txBody>
      </p:sp>
      <p:sp>
        <p:nvSpPr>
          <p:cNvPr id="11" name="Label 1.1">
            <a:extLst>
              <a:ext uri="{FF2B5EF4-FFF2-40B4-BE49-F238E27FC236}">
                <a16:creationId xmlns:a16="http://schemas.microsoft.com/office/drawing/2014/main" id="{BD50A136-2F5A-4764-ADDC-D48D703981CC}"/>
              </a:ext>
            </a:extLst>
          </p:cNvPr>
          <p:cNvSpPr>
            <a:spLocks noGrp="1"/>
          </p:cNvSpPr>
          <p:nvPr>
            <p:ph type="body" sz="quarter" idx="15" hasCustomPrompt="1"/>
          </p:nvPr>
        </p:nvSpPr>
        <p:spPr>
          <a:xfrm>
            <a:off x="2774622" y="1794947"/>
            <a:ext cx="1534619" cy="591855"/>
          </a:xfrm>
        </p:spPr>
        <p:txBody>
          <a:bodyPr/>
          <a:lstStyle>
            <a:lvl1pPr marL="101600" indent="0">
              <a:buNone/>
              <a:defRPr/>
            </a:lvl1pPr>
          </a:lstStyle>
          <a:p>
            <a:pPr lvl="0"/>
            <a:r>
              <a:rPr lang="en-US" dirty="0"/>
              <a:t>Label 1.1</a:t>
            </a:r>
          </a:p>
        </p:txBody>
      </p:sp>
      <p:sp>
        <p:nvSpPr>
          <p:cNvPr id="13" name="Label 1.2">
            <a:extLst>
              <a:ext uri="{FF2B5EF4-FFF2-40B4-BE49-F238E27FC236}">
                <a16:creationId xmlns:a16="http://schemas.microsoft.com/office/drawing/2014/main" id="{16926224-3F90-4884-9AC1-A5381D78801B}"/>
              </a:ext>
            </a:extLst>
          </p:cNvPr>
          <p:cNvSpPr>
            <a:spLocks noGrp="1"/>
          </p:cNvSpPr>
          <p:nvPr>
            <p:ph type="body" sz="quarter" idx="16" hasCustomPrompt="1"/>
          </p:nvPr>
        </p:nvSpPr>
        <p:spPr>
          <a:xfrm>
            <a:off x="2774622" y="2707481"/>
            <a:ext cx="1534619" cy="606425"/>
          </a:xfrm>
        </p:spPr>
        <p:txBody>
          <a:bodyPr/>
          <a:lstStyle>
            <a:lvl1pPr marL="101600" indent="0">
              <a:buNone/>
              <a:defRPr/>
            </a:lvl1pPr>
          </a:lstStyle>
          <a:p>
            <a:pPr lvl="0"/>
            <a:r>
              <a:rPr lang="en-US" dirty="0"/>
              <a:t>Label 1.2</a:t>
            </a:r>
          </a:p>
        </p:txBody>
      </p:sp>
      <p:sp>
        <p:nvSpPr>
          <p:cNvPr id="15" name="Label 1.3">
            <a:extLst>
              <a:ext uri="{FF2B5EF4-FFF2-40B4-BE49-F238E27FC236}">
                <a16:creationId xmlns:a16="http://schemas.microsoft.com/office/drawing/2014/main" id="{D4719473-9C3F-493C-B20E-27CDBBA38B68}"/>
              </a:ext>
            </a:extLst>
          </p:cNvPr>
          <p:cNvSpPr>
            <a:spLocks noGrp="1"/>
          </p:cNvSpPr>
          <p:nvPr>
            <p:ph type="body" sz="quarter" idx="17" hasCustomPrompt="1"/>
          </p:nvPr>
        </p:nvSpPr>
        <p:spPr>
          <a:xfrm>
            <a:off x="2774622" y="3597275"/>
            <a:ext cx="1534619" cy="606425"/>
          </a:xfrm>
        </p:spPr>
        <p:txBody>
          <a:bodyPr/>
          <a:lstStyle>
            <a:lvl1pPr marL="101600" indent="0">
              <a:buNone/>
              <a:defRPr/>
            </a:lvl1pPr>
          </a:lstStyle>
          <a:p>
            <a:pPr lvl="0"/>
            <a:r>
              <a:rPr lang="en-US" dirty="0"/>
              <a:t>Label 1.3</a:t>
            </a:r>
          </a:p>
        </p:txBody>
      </p:sp>
      <p:sp>
        <p:nvSpPr>
          <p:cNvPr id="17" name="Image 2 title">
            <a:extLst>
              <a:ext uri="{FF2B5EF4-FFF2-40B4-BE49-F238E27FC236}">
                <a16:creationId xmlns:a16="http://schemas.microsoft.com/office/drawing/2014/main" id="{DC526974-AF8C-4228-AAAA-33D0B8AB71C7}"/>
              </a:ext>
            </a:extLst>
          </p:cNvPr>
          <p:cNvSpPr>
            <a:spLocks noGrp="1"/>
          </p:cNvSpPr>
          <p:nvPr>
            <p:ph type="body" sz="quarter" idx="18" hasCustomPrompt="1"/>
          </p:nvPr>
        </p:nvSpPr>
        <p:spPr>
          <a:xfrm>
            <a:off x="4931596" y="4347439"/>
            <a:ext cx="2107323" cy="504825"/>
          </a:xfrm>
        </p:spPr>
        <p:txBody>
          <a:bodyPr/>
          <a:lstStyle>
            <a:lvl1pPr marL="101600" indent="0">
              <a:buNone/>
              <a:defRPr/>
            </a:lvl1pPr>
          </a:lstStyle>
          <a:p>
            <a:pPr lvl="0"/>
            <a:r>
              <a:rPr lang="en-US" dirty="0"/>
              <a:t>Image 2 title</a:t>
            </a:r>
          </a:p>
        </p:txBody>
      </p:sp>
      <p:sp>
        <p:nvSpPr>
          <p:cNvPr id="19" name="Image 2">
            <a:extLst>
              <a:ext uri="{FF2B5EF4-FFF2-40B4-BE49-F238E27FC236}">
                <a16:creationId xmlns:a16="http://schemas.microsoft.com/office/drawing/2014/main" id="{812D2BB4-4991-47F8-9E82-9C9B41B052FB}"/>
              </a:ext>
            </a:extLst>
          </p:cNvPr>
          <p:cNvSpPr>
            <a:spLocks noGrp="1"/>
          </p:cNvSpPr>
          <p:nvPr>
            <p:ph type="pic" sz="quarter" idx="19" hasCustomPrompt="1"/>
          </p:nvPr>
        </p:nvSpPr>
        <p:spPr>
          <a:xfrm>
            <a:off x="4931596" y="1806537"/>
            <a:ext cx="2107323" cy="2397164"/>
          </a:xfrm>
        </p:spPr>
        <p:txBody>
          <a:bodyPr/>
          <a:lstStyle>
            <a:lvl1pPr marL="101600" indent="0">
              <a:buNone/>
              <a:defRPr/>
            </a:lvl1pPr>
          </a:lstStyle>
          <a:p>
            <a:r>
              <a:rPr lang="en-US" dirty="0"/>
              <a:t>Image 2</a:t>
            </a:r>
          </a:p>
        </p:txBody>
      </p:sp>
      <p:sp>
        <p:nvSpPr>
          <p:cNvPr id="21" name="Label 2.1">
            <a:extLst>
              <a:ext uri="{FF2B5EF4-FFF2-40B4-BE49-F238E27FC236}">
                <a16:creationId xmlns:a16="http://schemas.microsoft.com/office/drawing/2014/main" id="{15D9E78D-62D4-4D7C-8E37-E1A000DA23A2}"/>
              </a:ext>
            </a:extLst>
          </p:cNvPr>
          <p:cNvSpPr>
            <a:spLocks noGrp="1"/>
          </p:cNvSpPr>
          <p:nvPr>
            <p:ph type="body" sz="quarter" idx="20" hasCustomPrompt="1"/>
          </p:nvPr>
        </p:nvSpPr>
        <p:spPr>
          <a:xfrm>
            <a:off x="7304580" y="1794947"/>
            <a:ext cx="1534619" cy="608524"/>
          </a:xfrm>
        </p:spPr>
        <p:txBody>
          <a:bodyPr/>
          <a:lstStyle>
            <a:lvl1pPr marL="101600" indent="0">
              <a:buNone/>
              <a:defRPr/>
            </a:lvl1pPr>
          </a:lstStyle>
          <a:p>
            <a:pPr lvl="0"/>
            <a:r>
              <a:rPr lang="en-US" dirty="0"/>
              <a:t>Label 2.1</a:t>
            </a:r>
          </a:p>
        </p:txBody>
      </p:sp>
      <p:sp>
        <p:nvSpPr>
          <p:cNvPr id="23" name="Label 2.2">
            <a:extLst>
              <a:ext uri="{FF2B5EF4-FFF2-40B4-BE49-F238E27FC236}">
                <a16:creationId xmlns:a16="http://schemas.microsoft.com/office/drawing/2014/main" id="{0ECEA5DA-0702-46DA-A4DD-66B7E7FF424B}"/>
              </a:ext>
            </a:extLst>
          </p:cNvPr>
          <p:cNvSpPr>
            <a:spLocks noGrp="1"/>
          </p:cNvSpPr>
          <p:nvPr>
            <p:ph type="body" sz="quarter" idx="21" hasCustomPrompt="1"/>
          </p:nvPr>
        </p:nvSpPr>
        <p:spPr>
          <a:xfrm>
            <a:off x="7304579" y="2707481"/>
            <a:ext cx="1534619" cy="608524"/>
          </a:xfrm>
        </p:spPr>
        <p:txBody>
          <a:bodyPr/>
          <a:lstStyle>
            <a:lvl1pPr marL="101600" indent="0">
              <a:buNone/>
              <a:defRPr/>
            </a:lvl1pPr>
          </a:lstStyle>
          <a:p>
            <a:pPr lvl="0"/>
            <a:r>
              <a:rPr lang="en-US" dirty="0"/>
              <a:t>Label 2.2</a:t>
            </a:r>
          </a:p>
        </p:txBody>
      </p:sp>
      <p:sp>
        <p:nvSpPr>
          <p:cNvPr id="25" name="Label 2.3">
            <a:extLst>
              <a:ext uri="{FF2B5EF4-FFF2-40B4-BE49-F238E27FC236}">
                <a16:creationId xmlns:a16="http://schemas.microsoft.com/office/drawing/2014/main" id="{64C63D68-E200-46DF-8E34-92DC66FE879B}"/>
              </a:ext>
            </a:extLst>
          </p:cNvPr>
          <p:cNvSpPr>
            <a:spLocks noGrp="1"/>
          </p:cNvSpPr>
          <p:nvPr>
            <p:ph type="body" sz="quarter" idx="22" hasCustomPrompt="1"/>
          </p:nvPr>
        </p:nvSpPr>
        <p:spPr>
          <a:xfrm>
            <a:off x="7304579" y="3579818"/>
            <a:ext cx="1534620" cy="608524"/>
          </a:xfrm>
        </p:spPr>
        <p:txBody>
          <a:bodyPr/>
          <a:lstStyle>
            <a:lvl1pPr marL="101600" indent="0">
              <a:buNone/>
              <a:defRPr/>
            </a:lvl1pPr>
          </a:lstStyle>
          <a:p>
            <a:pPr lvl="0"/>
            <a:r>
              <a:rPr lang="en-US" dirty="0"/>
              <a:t>Label 2.3</a:t>
            </a:r>
          </a:p>
        </p:txBody>
      </p:sp>
      <p:sp>
        <p:nvSpPr>
          <p:cNvPr id="3" name="Date Placeholder 2">
            <a:extLst>
              <a:ext uri="{FF2B5EF4-FFF2-40B4-BE49-F238E27FC236}">
                <a16:creationId xmlns:a16="http://schemas.microsoft.com/office/drawing/2014/main" id="{D8A4DA0A-BA94-4C4E-A521-FB23D113A856}"/>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44569933-5FC5-4C73-96ED-E1AC0FC867FE}"/>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64872148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68"/>
        <p:cNvGrpSpPr/>
        <p:nvPr/>
      </p:nvGrpSpPr>
      <p:grpSpPr>
        <a:xfrm>
          <a:off x="0" y="0"/>
          <a:ext cx="0" cy="0"/>
          <a:chOff x="0" y="0"/>
          <a:chExt cx="0" cy="0"/>
        </a:xfrm>
      </p:grpSpPr>
      <p:sp>
        <p:nvSpPr>
          <p:cNvPr id="69" name="Title Placeholder"/>
          <p:cNvSpPr txBox="1">
            <a:spLocks noGrp="1"/>
          </p:cNvSpPr>
          <p:nvPr>
            <p:ph type="title" hasCustomPrompt="1"/>
          </p:nvPr>
        </p:nvSpPr>
        <p:spPr>
          <a:xfrm>
            <a:off x="685800" y="1447800"/>
            <a:ext cx="7772400" cy="2152651"/>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	</a:t>
            </a:r>
            <a:endParaRPr dirty="0"/>
          </a:p>
        </p:txBody>
      </p:sp>
      <p:sp>
        <p:nvSpPr>
          <p:cNvPr id="70" name="Content Placeholder"/>
          <p:cNvSpPr txBox="1">
            <a:spLocks noGrp="1"/>
          </p:cNvSpPr>
          <p:nvPr>
            <p:ph type="body" idx="1"/>
          </p:nvPr>
        </p:nvSpPr>
        <p:spPr>
          <a:xfrm>
            <a:off x="674687" y="3962400"/>
            <a:ext cx="7794626"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457200" marR="0" lvl="1" indent="0" algn="l" rtl="0">
              <a:spcBef>
                <a:spcPts val="600"/>
              </a:spcBef>
              <a:buClr>
                <a:srgbClr val="007FA3"/>
              </a:buClr>
              <a:buFont typeface="Arial"/>
              <a:buNone/>
              <a:defRPr sz="1800" b="0" i="0" u="none" strike="noStrike" cap="none">
                <a:solidFill>
                  <a:srgbClr val="888888"/>
                </a:solidFill>
                <a:latin typeface="Arial"/>
                <a:ea typeface="Arial"/>
                <a:cs typeface="Arial"/>
                <a:sym typeface="Arial"/>
              </a:defRPr>
            </a:lvl2pPr>
            <a:lvl3pPr marL="914400" marR="0" lvl="2" indent="0" algn="l"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4pPr>
            <a:lvl5pPr marL="1828800" marR="0" lvl="4"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5pPr>
            <a:lvl6pPr marL="2286000" marR="0" lvl="5"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6pPr>
            <a:lvl7pPr marL="2743200" marR="0" lvl="6"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7pPr>
            <a:lvl8pPr marL="3200400" marR="0" lvl="7"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8pPr>
            <a:lvl9pPr marL="3657600" marR="0" lvl="8"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9pPr>
          </a:lstStyle>
          <a:p>
            <a:endParaRPr dirty="0"/>
          </a:p>
        </p:txBody>
      </p:sp>
      <p:sp>
        <p:nvSpPr>
          <p:cNvPr id="72" name="Shape 7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73" name="Shape 7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13" Type="http://schemas.openxmlformats.org/officeDocument/2006/relationships/slideLayout" Target="../slideLayouts/slideLayout14.xml"/><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slideLayout" Target="../slideLayouts/slideLayout13.xml"/><Relationship Id="rId2" Type="http://schemas.openxmlformats.org/officeDocument/2006/relationships/slideLayout" Target="../slideLayouts/slideLayout3.xml"/><Relationship Id="rId16" Type="http://schemas.openxmlformats.org/officeDocument/2006/relationships/image" Target="../media/image1.jpg"/><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5" Type="http://schemas.openxmlformats.org/officeDocument/2006/relationships/slideLayout" Target="../slideLayouts/slideLayout6.xml"/><Relationship Id="rId15" Type="http://schemas.openxmlformats.org/officeDocument/2006/relationships/theme" Target="../theme/theme2.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 Id="rId1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Shape 11"/>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3246644562"/>
      </p:ext>
    </p:extLst>
  </p:cSld>
  <p:clrMap bg1="lt1" tx1="dk1" bg2="dk2" tx2="lt2" accent1="accent1" accent2="accent2" accent3="accent3" accent4="accent4" accent5="accent5" accent6="accent6" hlink="hlink" folHlink="folHlink"/>
  <p:sldLayoutIdLst>
    <p:sldLayoutId id="2147483675"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6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Content Placeholder"/>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6" name="Copyright"/>
          <p:cNvSpPr txBox="1"/>
          <p:nvPr/>
        </p:nvSpPr>
        <p:spPr>
          <a:xfrm>
            <a:off x="1600200" y="6429344"/>
            <a:ext cx="7162799" cy="200054"/>
          </a:xfrm>
          <a:prstGeom prst="rect">
            <a:avLst/>
          </a:prstGeom>
          <a:noFill/>
          <a:ln>
            <a:noFill/>
          </a:ln>
        </p:spPr>
        <p:txBody>
          <a:bodyPr lIns="91425" tIns="45700" rIns="91425" bIns="45700" anchor="ctr" anchorCtr="0">
            <a:no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1200" b="0" dirty="0">
                <a:latin typeface="Verdana" panose="020B0604030504040204" pitchFamily="34" charset="0"/>
                <a:ea typeface="Verdana" panose="020B0604030504040204" pitchFamily="34" charset="0"/>
                <a:cs typeface="Verdana" panose="020B0604030504040204" pitchFamily="34" charset="0"/>
              </a:rPr>
              <a:t>Copyright © </a:t>
            </a:r>
            <a:r>
              <a:rPr lang="en-IN" sz="1200" b="0" i="0" u="none" strike="noStrike" cap="none" dirty="0">
                <a:solidFill>
                  <a:srgbClr val="000000"/>
                </a:solidFill>
                <a:effectLst/>
                <a:latin typeface="Verdana" panose="020B0604030504040204" pitchFamily="34" charset="0"/>
                <a:ea typeface="Verdana" panose="020B0604030504040204" pitchFamily="34" charset="0"/>
                <a:cs typeface="Arial"/>
                <a:sym typeface="Arial"/>
              </a:rPr>
              <a:t>2022, 2018, 2015</a:t>
            </a:r>
            <a:r>
              <a:rPr lang="en-US" altLang="en-US" sz="1200" b="0" dirty="0">
                <a:latin typeface="Verdana" panose="020B0604030504040204" pitchFamily="34" charset="0"/>
                <a:ea typeface="Verdana" panose="020B0604030504040204" pitchFamily="34" charset="0"/>
                <a:cs typeface="Verdana" panose="020B0604030504040204" pitchFamily="34" charset="0"/>
              </a:rPr>
              <a:t> Pearson Education, Inc. All Rights Reserved</a:t>
            </a:r>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pic>
        <p:nvPicPr>
          <p:cNvPr id="8" name="Picture Placeholder 21" descr="Pearson Logo">
            <a:extLst>
              <a:ext uri="{FF2B5EF4-FFF2-40B4-BE49-F238E27FC236}">
                <a16:creationId xmlns:a16="http://schemas.microsoft.com/office/drawing/2014/main" id="{9482BDEB-84DF-4344-AD30-389884976DF6}"/>
              </a:ext>
            </a:extLst>
          </p:cNvPr>
          <p:cNvPicPr>
            <a:picLocks noChangeAspect="1"/>
          </p:cNvPicPr>
          <p:nvPr userDrawn="1"/>
        </p:nvPicPr>
        <p:blipFill>
          <a:blip r:embed="rId16"/>
          <a:srcRect t="22152" b="22152"/>
          <a:stretch>
            <a:fillRect/>
          </a:stretch>
        </p:blipFill>
        <p:spPr>
          <a:xfrm>
            <a:off x="315677" y="6420639"/>
            <a:ext cx="1176574" cy="296443"/>
          </a:xfrm>
          <a:prstGeom prst="rect">
            <a:avLst/>
          </a:prstGeom>
        </p:spPr>
      </p:pic>
    </p:spTree>
  </p:cSld>
  <p:clrMap bg1="lt1" tx1="dk1" bg2="dk2" tx2="lt2" accent1="accent1" accent2="accent2" accent3="accent3" accent4="accent4" accent5="accent5" accent6="accent6" hlink="hlink" folHlink="folHlink"/>
  <p:sldLayoutIdLst>
    <p:sldLayoutId id="2147483664" r:id="rId1"/>
    <p:sldLayoutId id="2147483682" r:id="rId2"/>
    <p:sldLayoutId id="2147483650" r:id="rId3"/>
    <p:sldLayoutId id="2147483676" r:id="rId4"/>
    <p:sldLayoutId id="2147483677" r:id="rId5"/>
    <p:sldLayoutId id="2147483678" r:id="rId6"/>
    <p:sldLayoutId id="2147483679" r:id="rId7"/>
    <p:sldLayoutId id="2147483680" r:id="rId8"/>
    <p:sldLayoutId id="2147483681" r:id="rId9"/>
    <p:sldLayoutId id="2147483671" r:id="rId10"/>
    <p:sldLayoutId id="2147483673" r:id="rId11"/>
    <p:sldLayoutId id="2147483670" r:id="rId12"/>
    <p:sldLayoutId id="2147483669" r:id="rId13"/>
    <p:sldLayoutId id="2147483655" r:id="rId1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mn-lt"/>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8" Type="http://schemas.openxmlformats.org/officeDocument/2006/relationships/oleObject" Target="../embeddings/oleObject3.bin"/><Relationship Id="rId13" Type="http://schemas.openxmlformats.org/officeDocument/2006/relationships/image" Target="../media/image9.wmf"/><Relationship Id="rId3" Type="http://schemas.openxmlformats.org/officeDocument/2006/relationships/notesSlide" Target="../notesSlides/notesSlide4.xml"/><Relationship Id="rId7" Type="http://schemas.openxmlformats.org/officeDocument/2006/relationships/image" Target="../media/image6.wmf"/><Relationship Id="rId12" Type="http://schemas.openxmlformats.org/officeDocument/2006/relationships/oleObject" Target="../embeddings/oleObject5.bin"/><Relationship Id="rId2" Type="http://schemas.openxmlformats.org/officeDocument/2006/relationships/slideLayout" Target="../slideLayouts/slideLayout10.xml"/><Relationship Id="rId1" Type="http://schemas.openxmlformats.org/officeDocument/2006/relationships/vmlDrawing" Target="../drawings/vmlDrawing1.vml"/><Relationship Id="rId6" Type="http://schemas.openxmlformats.org/officeDocument/2006/relationships/oleObject" Target="../embeddings/oleObject2.bin"/><Relationship Id="rId11" Type="http://schemas.openxmlformats.org/officeDocument/2006/relationships/image" Target="../media/image8.wmf"/><Relationship Id="rId5" Type="http://schemas.openxmlformats.org/officeDocument/2006/relationships/image" Target="../media/image5.wmf"/><Relationship Id="rId15" Type="http://schemas.openxmlformats.org/officeDocument/2006/relationships/image" Target="../media/image10.wmf"/><Relationship Id="rId10" Type="http://schemas.openxmlformats.org/officeDocument/2006/relationships/oleObject" Target="../embeddings/oleObject4.bin"/><Relationship Id="rId4" Type="http://schemas.openxmlformats.org/officeDocument/2006/relationships/oleObject" Target="../embeddings/oleObject1.bin"/><Relationship Id="rId9" Type="http://schemas.openxmlformats.org/officeDocument/2006/relationships/image" Target="../media/image7.wmf"/><Relationship Id="rId14" Type="http://schemas.openxmlformats.org/officeDocument/2006/relationships/oleObject" Target="../embeddings/oleObject6.bin"/></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9.xml"/><Relationship Id="rId1" Type="http://schemas.openxmlformats.org/officeDocument/2006/relationships/vmlDrawing" Target="../drawings/vmlDrawing2.vml"/><Relationship Id="rId6" Type="http://schemas.openxmlformats.org/officeDocument/2006/relationships/image" Target="../media/image13.wmf"/><Relationship Id="rId5" Type="http://schemas.openxmlformats.org/officeDocument/2006/relationships/oleObject" Target="../embeddings/oleObject7.bin"/><Relationship Id="rId4" Type="http://schemas.openxmlformats.org/officeDocument/2006/relationships/image" Target="../media/image1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4.xml"/><Relationship Id="rId4" Type="http://schemas.openxmlformats.org/officeDocument/2006/relationships/image" Target="../media/image18.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98728-A241-43F4-95FF-6C49FEEA0911}"/>
              </a:ext>
              <a:ext uri="{C183D7F6-B498-43B3-948B-1728B52AA6E4}">
                <adec:decorative xmlns:adec="http://schemas.microsoft.com/office/drawing/2017/decorative" xmlns="" val="1"/>
              </a:ext>
            </a:extLst>
          </p:cNvPr>
          <p:cNvSpPr>
            <a:spLocks noGrp="1"/>
          </p:cNvSpPr>
          <p:nvPr>
            <p:ph type="title"/>
          </p:nvPr>
        </p:nvSpPr>
        <p:spPr>
          <a:xfrm>
            <a:off x="457199" y="143692"/>
            <a:ext cx="8229601" cy="987333"/>
          </a:xfrm>
        </p:spPr>
        <p:txBody>
          <a:bodyPr anchor="ctr"/>
          <a:lstStyle/>
          <a:p>
            <a:r>
              <a:rPr lang="en-US" sz="3200" dirty="0"/>
              <a:t>International Economics: Theory and Policy</a:t>
            </a:r>
          </a:p>
        </p:txBody>
      </p:sp>
      <p:sp>
        <p:nvSpPr>
          <p:cNvPr id="3" name="Content Placeholder 2">
            <a:extLst>
              <a:ext uri="{FF2B5EF4-FFF2-40B4-BE49-F238E27FC236}">
                <a16:creationId xmlns:a16="http://schemas.microsoft.com/office/drawing/2014/main" id="{ABE18F80-D4FC-4D8F-B2BD-E7BEE7E012B5}"/>
              </a:ext>
              <a:ext uri="{C183D7F6-B498-43B3-948B-1728B52AA6E4}">
                <adec:decorative xmlns:adec="http://schemas.microsoft.com/office/drawing/2017/decorative" xmlns="" val="1"/>
              </a:ext>
            </a:extLst>
          </p:cNvPr>
          <p:cNvSpPr>
            <a:spLocks noGrp="1"/>
          </p:cNvSpPr>
          <p:nvPr>
            <p:ph type="body" idx="1"/>
          </p:nvPr>
        </p:nvSpPr>
        <p:spPr>
          <a:xfrm>
            <a:off x="457200" y="1212419"/>
            <a:ext cx="8229600" cy="413524"/>
          </a:xfrm>
        </p:spPr>
        <p:txBody>
          <a:bodyPr anchor="ctr"/>
          <a:lstStyle/>
          <a:p>
            <a:r>
              <a:rPr lang="en-US" dirty="0"/>
              <a:t>Twelfth</a:t>
            </a:r>
            <a:r>
              <a:rPr lang="en-US" dirty="0">
                <a:solidFill>
                  <a:schemeClr val="tx2"/>
                </a:solidFill>
              </a:rPr>
              <a:t> Edition</a:t>
            </a:r>
          </a:p>
        </p:txBody>
      </p:sp>
      <p:pic>
        <p:nvPicPr>
          <p:cNvPr id="9" name="Picture 8" descr="Front Cover: International Economics: Theory and Policy, Twelfth Edition by Krugman, Obstfeld and Melitz.">
            <a:extLst>
              <a:ext uri="{FF2B5EF4-FFF2-40B4-BE49-F238E27FC236}">
                <a16:creationId xmlns:a16="http://schemas.microsoft.com/office/drawing/2014/main" id="{D7D46880-8461-406A-8001-EA9E0EE58E4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84578" y="1704436"/>
            <a:ext cx="3544562" cy="4430702"/>
          </a:xfrm>
          <a:prstGeom prst="rect">
            <a:avLst/>
          </a:prstGeom>
          <a:ln w="9525">
            <a:solidFill>
              <a:schemeClr val="tx1"/>
            </a:solidFill>
          </a:ln>
        </p:spPr>
      </p:pic>
      <p:sp>
        <p:nvSpPr>
          <p:cNvPr id="5" name="Content Placeholder 4">
            <a:extLst>
              <a:ext uri="{FF2B5EF4-FFF2-40B4-BE49-F238E27FC236}">
                <a16:creationId xmlns:a16="http://schemas.microsoft.com/office/drawing/2014/main" id="{2D222376-7AD7-4443-B67A-120BE12F4DDB}"/>
              </a:ext>
              <a:ext uri="{C183D7F6-B498-43B3-948B-1728B52AA6E4}">
                <adec:decorative xmlns:adec="http://schemas.microsoft.com/office/drawing/2017/decorative" xmlns="" val="1"/>
              </a:ext>
            </a:extLst>
          </p:cNvPr>
          <p:cNvSpPr>
            <a:spLocks noGrp="1"/>
          </p:cNvSpPr>
          <p:nvPr>
            <p:ph sz="quarter" idx="14"/>
          </p:nvPr>
        </p:nvSpPr>
        <p:spPr>
          <a:xfrm>
            <a:off x="5029200" y="1906104"/>
            <a:ext cx="3657600" cy="1186345"/>
          </a:xfrm>
        </p:spPr>
        <p:txBody>
          <a:bodyPr/>
          <a:lstStyle/>
          <a:p>
            <a:pPr marL="0" algn="ctr"/>
            <a:r>
              <a:rPr lang="en-US" b="1" dirty="0">
                <a:latin typeface="+mn-lt"/>
              </a:rPr>
              <a:t>Chapter 2</a:t>
            </a:r>
          </a:p>
        </p:txBody>
      </p:sp>
      <p:sp>
        <p:nvSpPr>
          <p:cNvPr id="6" name="Content Placeholder 5">
            <a:extLst>
              <a:ext uri="{FF2B5EF4-FFF2-40B4-BE49-F238E27FC236}">
                <a16:creationId xmlns:a16="http://schemas.microsoft.com/office/drawing/2014/main" id="{82FD4EC9-4778-4E2F-B136-2A176CA2BA69}"/>
              </a:ext>
              <a:ext uri="{C183D7F6-B498-43B3-948B-1728B52AA6E4}">
                <adec:decorative xmlns:adec="http://schemas.microsoft.com/office/drawing/2017/decorative" xmlns="" val="1"/>
              </a:ext>
            </a:extLst>
          </p:cNvPr>
          <p:cNvSpPr>
            <a:spLocks noGrp="1"/>
          </p:cNvSpPr>
          <p:nvPr>
            <p:ph sz="quarter" idx="15"/>
          </p:nvPr>
        </p:nvSpPr>
        <p:spPr>
          <a:xfrm>
            <a:off x="5029200" y="3252789"/>
            <a:ext cx="3657600" cy="1786139"/>
          </a:xfrm>
        </p:spPr>
        <p:txBody>
          <a:bodyPr/>
          <a:lstStyle/>
          <a:p>
            <a:pPr algn="ctr"/>
            <a:r>
              <a:rPr lang="en-US" dirty="0">
                <a:ea typeface="Verdana" panose="020B0604030504040204" pitchFamily="34" charset="0"/>
                <a:cs typeface="Verdana" panose="020B0604030504040204" pitchFamily="34" charset="0"/>
              </a:rPr>
              <a:t>World Trade: An Overview</a:t>
            </a:r>
          </a:p>
        </p:txBody>
      </p:sp>
      <p:pic>
        <p:nvPicPr>
          <p:cNvPr id="22" name="Picture Placeholder 21" descr="Pearson Logo">
            <a:extLst>
              <a:ext uri="{FF2B5EF4-FFF2-40B4-BE49-F238E27FC236}">
                <a16:creationId xmlns:a16="http://schemas.microsoft.com/office/drawing/2014/main" id="{463657D3-0029-4FB6-A24C-CAB832988B4E}"/>
              </a:ext>
            </a:extLst>
          </p:cNvPr>
          <p:cNvPicPr>
            <a:picLocks noGrp="1" noChangeAspect="1"/>
          </p:cNvPicPr>
          <p:nvPr>
            <p:ph type="pic" sz="quarter" idx="16"/>
          </p:nvPr>
        </p:nvPicPr>
        <p:blipFill>
          <a:blip r:embed="rId4"/>
          <a:srcRect t="22152" b="22152"/>
          <a:stretch>
            <a:fillRect/>
          </a:stretch>
        </p:blipFill>
        <p:spPr>
          <a:xfrm>
            <a:off x="315677" y="6420639"/>
            <a:ext cx="1176574" cy="296443"/>
          </a:xfrm>
        </p:spPr>
      </p:pic>
      <p:sp>
        <p:nvSpPr>
          <p:cNvPr id="8" name="Content Placeholder 7">
            <a:extLst>
              <a:ext uri="{FF2B5EF4-FFF2-40B4-BE49-F238E27FC236}">
                <a16:creationId xmlns:a16="http://schemas.microsoft.com/office/drawing/2014/main" id="{C8E88D28-1A9F-4FC4-946F-10B4629D1438}"/>
              </a:ext>
              <a:ext uri="{C183D7F6-B498-43B3-948B-1728B52AA6E4}">
                <adec:decorative xmlns:adec="http://schemas.microsoft.com/office/drawing/2017/decorative" xmlns="" val="1"/>
              </a:ext>
            </a:extLst>
          </p:cNvPr>
          <p:cNvSpPr>
            <a:spLocks noGrp="1"/>
          </p:cNvSpPr>
          <p:nvPr>
            <p:ph sz="quarter" idx="17"/>
          </p:nvPr>
        </p:nvSpPr>
        <p:spPr>
          <a:xfrm>
            <a:off x="2173000" y="6415232"/>
            <a:ext cx="6589712" cy="228600"/>
          </a:xfrm>
        </p:spPr>
        <p:txBody>
          <a:bodyPr/>
          <a:lstStyle/>
          <a:p>
            <a:pPr marL="0" indent="0"/>
            <a:r>
              <a:rPr lang="en-US" altLang="en-US" sz="1200" b="0" dirty="0" smtClean="0">
                <a:latin typeface="Verdana"/>
                <a:cs typeface="Verdana" panose="020B0604030504040204" pitchFamily="34" charset="0"/>
              </a:rPr>
              <a:t>Copyright © </a:t>
            </a:r>
            <a:r>
              <a:rPr lang="en-US" dirty="0" smtClean="0"/>
              <a:t>2022, 2018, 2015 </a:t>
            </a:r>
            <a:r>
              <a:rPr lang="en-US" altLang="en-US" sz="1200" b="0" dirty="0" smtClean="0">
                <a:latin typeface="Verdana"/>
                <a:cs typeface="Verdana" panose="020B0604030504040204" pitchFamily="34" charset="0"/>
              </a:rPr>
              <a:t>Pearson Education, Inc. All Rights Reserved</a:t>
            </a:r>
            <a:endParaRPr lang="en-US" altLang="en-US" sz="1200" b="0" dirty="0">
              <a:latin typeface="Verdana"/>
              <a:cs typeface="Verdana" panose="020B0604030504040204" pitchFamily="34" charset="0"/>
            </a:endParaRPr>
          </a:p>
        </p:txBody>
      </p:sp>
    </p:spTree>
    <p:extLst>
      <p:ext uri="{BB962C8B-B14F-4D97-AF65-F5344CB8AC3E}">
        <p14:creationId xmlns:p14="http://schemas.microsoft.com/office/powerpoint/2010/main" val="38013359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smtClean="0"/>
              <a:t>Learning Objectives</a:t>
            </a:r>
            <a:endParaRPr lang="en-US" dirty="0"/>
          </a:p>
        </p:txBody>
      </p:sp>
      <p:sp>
        <p:nvSpPr>
          <p:cNvPr id="4" name="Content Placeholder 3"/>
          <p:cNvSpPr>
            <a:spLocks noGrp="1"/>
          </p:cNvSpPr>
          <p:nvPr>
            <p:ph sz="quarter" idx="13"/>
          </p:nvPr>
        </p:nvSpPr>
        <p:spPr/>
        <p:txBody>
          <a:bodyPr/>
          <a:lstStyle/>
          <a:p>
            <a:pPr marL="0" indent="0">
              <a:buNone/>
              <a:defRPr/>
            </a:pPr>
            <a:r>
              <a:rPr lang="en-US" sz="2400" b="1" dirty="0">
                <a:solidFill>
                  <a:srgbClr val="007FA3"/>
                </a:solidFill>
              </a:rPr>
              <a:t>2.1</a:t>
            </a:r>
            <a:r>
              <a:rPr lang="en-US" sz="2400" b="1" dirty="0">
                <a:solidFill>
                  <a:schemeClr val="bg2"/>
                </a:solidFill>
              </a:rPr>
              <a:t> </a:t>
            </a:r>
            <a:r>
              <a:rPr lang="en-US" sz="2400" dirty="0"/>
              <a:t>Describe how the value of trade between any two countries depends on the size of these countries’ economies and explain the reasons for that relationship.</a:t>
            </a:r>
          </a:p>
          <a:p>
            <a:pPr marL="0" indent="0">
              <a:buNone/>
              <a:defRPr/>
            </a:pPr>
            <a:r>
              <a:rPr lang="en-US" sz="2400" b="1" dirty="0">
                <a:solidFill>
                  <a:srgbClr val="007FA3"/>
                </a:solidFill>
              </a:rPr>
              <a:t>2.2</a:t>
            </a:r>
            <a:r>
              <a:rPr lang="en-US" sz="2400" b="1" dirty="0">
                <a:solidFill>
                  <a:schemeClr val="bg2"/>
                </a:solidFill>
              </a:rPr>
              <a:t> </a:t>
            </a:r>
            <a:r>
              <a:rPr lang="en-US" sz="2400" dirty="0"/>
              <a:t>Discuss how distance and borders reduce trade.</a:t>
            </a:r>
          </a:p>
          <a:p>
            <a:pPr marL="0" indent="0">
              <a:buNone/>
              <a:defRPr/>
            </a:pPr>
            <a:r>
              <a:rPr lang="en-US" sz="2400" b="1" dirty="0">
                <a:solidFill>
                  <a:srgbClr val="007FA3"/>
                </a:solidFill>
              </a:rPr>
              <a:t>2.3</a:t>
            </a:r>
            <a:r>
              <a:rPr lang="en-US" sz="2400" b="1" dirty="0">
                <a:solidFill>
                  <a:schemeClr val="bg2"/>
                </a:solidFill>
              </a:rPr>
              <a:t> </a:t>
            </a:r>
            <a:r>
              <a:rPr lang="en-US" sz="2400" dirty="0"/>
              <a:t>Describe how the share of international production that is traded has fluctuated over time and why there have been two ages of globalization.</a:t>
            </a:r>
          </a:p>
          <a:p>
            <a:pPr marL="0" indent="0">
              <a:buNone/>
              <a:defRPr/>
            </a:pPr>
            <a:r>
              <a:rPr lang="en-US" sz="2400" b="1" dirty="0">
                <a:solidFill>
                  <a:srgbClr val="007FA3"/>
                </a:solidFill>
              </a:rPr>
              <a:t>2.4</a:t>
            </a:r>
            <a:r>
              <a:rPr lang="en-US" sz="2400" b="1" dirty="0">
                <a:solidFill>
                  <a:schemeClr val="bg2"/>
                </a:solidFill>
              </a:rPr>
              <a:t> </a:t>
            </a:r>
            <a:r>
              <a:rPr lang="en-US" sz="2400" dirty="0"/>
              <a:t>Explain how the mix of goods and services that are traded internationally has changed over time.</a:t>
            </a:r>
            <a:endParaRPr lang="en-US" sz="2400" b="1" dirty="0">
              <a:solidFill>
                <a:schemeClr val="bg2"/>
              </a:solidFill>
            </a:endParaRPr>
          </a:p>
        </p:txBody>
      </p:sp>
    </p:spTree>
    <p:extLst>
      <p:ext uri="{BB962C8B-B14F-4D97-AF65-F5344CB8AC3E}">
        <p14:creationId xmlns:p14="http://schemas.microsoft.com/office/powerpoint/2010/main" val="17038780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AAF319-7DB7-4FF3-8C1F-BA5422A3B657}"/>
              </a:ext>
            </a:extLst>
          </p:cNvPr>
          <p:cNvSpPr>
            <a:spLocks noGrp="1"/>
          </p:cNvSpPr>
          <p:nvPr>
            <p:ph type="title"/>
          </p:nvPr>
        </p:nvSpPr>
        <p:spPr/>
        <p:txBody>
          <a:bodyPr/>
          <a:lstStyle/>
          <a:p>
            <a:r>
              <a:rPr lang="en-US" sz="3600" dirty="0"/>
              <a:t>Preview</a:t>
            </a:r>
            <a:endParaRPr lang="en-IN" dirty="0"/>
          </a:p>
        </p:txBody>
      </p:sp>
      <p:sp>
        <p:nvSpPr>
          <p:cNvPr id="3" name="Content Placeholder 2">
            <a:extLst>
              <a:ext uri="{FF2B5EF4-FFF2-40B4-BE49-F238E27FC236}">
                <a16:creationId xmlns:a16="http://schemas.microsoft.com/office/drawing/2014/main" id="{CAB359CB-F39B-498A-AAF0-D67011B0EADA}"/>
              </a:ext>
            </a:extLst>
          </p:cNvPr>
          <p:cNvSpPr>
            <a:spLocks noGrp="1"/>
          </p:cNvSpPr>
          <p:nvPr>
            <p:ph sz="quarter" idx="13"/>
          </p:nvPr>
        </p:nvSpPr>
        <p:spPr/>
        <p:txBody>
          <a:bodyPr/>
          <a:lstStyle/>
          <a:p>
            <a:r>
              <a:rPr lang="en-US" altLang="en-US" sz="2400" dirty="0"/>
              <a:t>Largest trading partners of the United States</a:t>
            </a:r>
          </a:p>
          <a:p>
            <a:r>
              <a:rPr lang="en-US" altLang="en-US" sz="2400" dirty="0"/>
              <a:t>Gravity model: Influence of an economy’</a:t>
            </a:r>
            <a:r>
              <a:rPr lang="en-US" altLang="ja-JP" sz="2400" dirty="0"/>
              <a:t>s size on trade; </a:t>
            </a:r>
            <a:r>
              <a:rPr lang="en-US" altLang="en-US" sz="2400" dirty="0"/>
              <a:t>Distance, barriers, borders, and other trade impediments</a:t>
            </a:r>
          </a:p>
          <a:p>
            <a:r>
              <a:rPr lang="en-US" altLang="en-US" sz="2400" dirty="0"/>
              <a:t>Globalization: then and now</a:t>
            </a:r>
          </a:p>
          <a:p>
            <a:r>
              <a:rPr lang="en-US" altLang="en-US" sz="2400" dirty="0"/>
              <a:t>Changing composition of trade</a:t>
            </a:r>
          </a:p>
          <a:p>
            <a:r>
              <a:rPr lang="en-US" altLang="en-US" sz="2400" dirty="0"/>
              <a:t>Service outsourcing</a:t>
            </a:r>
            <a:endParaRPr lang="en-US" sz="2400" dirty="0"/>
          </a:p>
        </p:txBody>
      </p:sp>
    </p:spTree>
    <p:extLst>
      <p:ext uri="{BB962C8B-B14F-4D97-AF65-F5344CB8AC3E}">
        <p14:creationId xmlns:p14="http://schemas.microsoft.com/office/powerpoint/2010/main" val="37215321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ECD4F6-791E-4FA3-8072-BF16A219E497}"/>
              </a:ext>
            </a:extLst>
          </p:cNvPr>
          <p:cNvSpPr>
            <a:spLocks noGrp="1"/>
          </p:cNvSpPr>
          <p:nvPr>
            <p:ph type="title"/>
          </p:nvPr>
        </p:nvSpPr>
        <p:spPr/>
        <p:txBody>
          <a:bodyPr/>
          <a:lstStyle/>
          <a:p>
            <a:r>
              <a:rPr lang="en-US" altLang="en-US" sz="3600" dirty="0"/>
              <a:t>Who Trades with Whom?</a:t>
            </a:r>
            <a:endParaRPr lang="en-IN" dirty="0"/>
          </a:p>
        </p:txBody>
      </p:sp>
      <p:sp>
        <p:nvSpPr>
          <p:cNvPr id="3" name="Content Placeholder 2">
            <a:extLst>
              <a:ext uri="{FF2B5EF4-FFF2-40B4-BE49-F238E27FC236}">
                <a16:creationId xmlns:a16="http://schemas.microsoft.com/office/drawing/2014/main" id="{3AFFE106-37CA-4D18-B24B-C86AFBB4F145}"/>
              </a:ext>
            </a:extLst>
          </p:cNvPr>
          <p:cNvSpPr>
            <a:spLocks noGrp="1"/>
          </p:cNvSpPr>
          <p:nvPr>
            <p:ph sz="quarter" idx="13"/>
          </p:nvPr>
        </p:nvSpPr>
        <p:spPr/>
        <p:txBody>
          <a:bodyPr/>
          <a:lstStyle/>
          <a:p>
            <a:pPr>
              <a:spcBef>
                <a:spcPct val="50000"/>
              </a:spcBef>
            </a:pPr>
            <a:r>
              <a:rPr lang="en-US" altLang="en-US" sz="2200" dirty="0"/>
              <a:t>More than 30 percent of world output is sold across national borders.</a:t>
            </a:r>
          </a:p>
          <a:p>
            <a:pPr lvl="1"/>
            <a:r>
              <a:rPr lang="en-US" sz="2200" dirty="0"/>
              <a:t>World trade in goods and services exceeded $25 trillion in 2019.</a:t>
            </a:r>
            <a:endParaRPr lang="en-US" altLang="en-US" sz="2200" dirty="0"/>
          </a:p>
          <a:p>
            <a:pPr>
              <a:spcBef>
                <a:spcPct val="50000"/>
              </a:spcBef>
            </a:pPr>
            <a:r>
              <a:rPr lang="en-US" altLang="en-US" sz="2200" dirty="0"/>
              <a:t>Figure 2-1 shows the total value of trade in goods</a:t>
            </a:r>
            <a:r>
              <a:rPr lang="en-US" altLang="en-US" sz="2200" dirty="0">
                <a:cs typeface="Times New Roman" panose="02020603050405020304" pitchFamily="18" charset="0"/>
              </a:rPr>
              <a:t>—</a:t>
            </a:r>
            <a:r>
              <a:rPr lang="en-US" altLang="en-US" sz="2200" dirty="0"/>
              <a:t>exports plus imports</a:t>
            </a:r>
            <a:r>
              <a:rPr lang="en-US" altLang="en-US" sz="2200" dirty="0">
                <a:cs typeface="Times New Roman" panose="02020603050405020304" pitchFamily="18" charset="0"/>
              </a:rPr>
              <a:t>—</a:t>
            </a:r>
            <a:r>
              <a:rPr lang="en-US" altLang="en-US" sz="2200" dirty="0"/>
              <a:t>between the United States and its top 15 trading partners in 2019.</a:t>
            </a:r>
          </a:p>
          <a:p>
            <a:pPr lvl="1">
              <a:spcBef>
                <a:spcPct val="50000"/>
              </a:spcBef>
            </a:pPr>
            <a:r>
              <a:rPr lang="en-US" altLang="en-US" sz="2200" dirty="0"/>
              <a:t>The largest 15 trading partners with the United States accounted for 75 percent of the value of U.S. trade.</a:t>
            </a:r>
          </a:p>
          <a:p>
            <a:pPr>
              <a:spcBef>
                <a:spcPct val="50000"/>
              </a:spcBef>
            </a:pPr>
            <a:r>
              <a:rPr lang="en-US" altLang="en-US" sz="2200" dirty="0"/>
              <a:t>The five largest trading partners with the United States in 2019 were Mexico, Canada, China, Japan, and Germany.</a:t>
            </a:r>
            <a:endParaRPr lang="en-IN" sz="2200" dirty="0"/>
          </a:p>
        </p:txBody>
      </p:sp>
    </p:spTree>
    <p:extLst>
      <p:ext uri="{BB962C8B-B14F-4D97-AF65-F5344CB8AC3E}">
        <p14:creationId xmlns:p14="http://schemas.microsoft.com/office/powerpoint/2010/main" val="3946738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452CBC-BC49-472D-9A1E-8154426185EA}"/>
              </a:ext>
            </a:extLst>
          </p:cNvPr>
          <p:cNvSpPr>
            <a:spLocks noGrp="1"/>
          </p:cNvSpPr>
          <p:nvPr>
            <p:ph type="title"/>
          </p:nvPr>
        </p:nvSpPr>
        <p:spPr/>
        <p:txBody>
          <a:bodyPr/>
          <a:lstStyle/>
          <a:p>
            <a:r>
              <a:rPr lang="en-US" altLang="en-US" sz="3200" dirty="0">
                <a:ea typeface="Verdana" panose="020B0604030504040204" pitchFamily="34" charset="0"/>
              </a:rPr>
              <a:t>Figure 2.1 </a:t>
            </a:r>
            <a:r>
              <a:rPr lang="en-US" altLang="en-US" sz="3200" dirty="0"/>
              <a:t>Total U.S. Trade with Major Partners, 2019</a:t>
            </a:r>
            <a:endParaRPr lang="en-IN" sz="3200" dirty="0"/>
          </a:p>
        </p:txBody>
      </p:sp>
      <p:pic>
        <p:nvPicPr>
          <p:cNvPr id="6" name="Content Placeholder 5" descr="A horizontal bar graph depicts total U S trade with major partners, 20 19. For long description in Notes pane, press F6.">
            <a:extLst>
              <a:ext uri="{FF2B5EF4-FFF2-40B4-BE49-F238E27FC236}">
                <a16:creationId xmlns:a16="http://schemas.microsoft.com/office/drawing/2014/main" id="{55F21694-1DE7-4512-8116-F2358C5C9FEF}"/>
              </a:ext>
            </a:extLst>
          </p:cNvPr>
          <p:cNvPicPr>
            <a:picLocks noGrp="1" noChangeAspect="1"/>
          </p:cNvPicPr>
          <p:nvPr>
            <p:ph sz="quarter" idx="13"/>
          </p:nvPr>
        </p:nvPicPr>
        <p:blipFill>
          <a:blip r:embed="rId3"/>
          <a:stretch>
            <a:fillRect/>
          </a:stretch>
        </p:blipFill>
        <p:spPr>
          <a:xfrm>
            <a:off x="2151269" y="1535118"/>
            <a:ext cx="4841460" cy="3510945"/>
          </a:xfrm>
        </p:spPr>
      </p:pic>
      <p:sp>
        <p:nvSpPr>
          <p:cNvPr id="4" name="Content Placeholder 3">
            <a:extLst>
              <a:ext uri="{FF2B5EF4-FFF2-40B4-BE49-F238E27FC236}">
                <a16:creationId xmlns:a16="http://schemas.microsoft.com/office/drawing/2014/main" id="{677687C9-368D-4A7B-A45B-E738AE2AC385}"/>
              </a:ext>
            </a:extLst>
          </p:cNvPr>
          <p:cNvSpPr>
            <a:spLocks noGrp="1"/>
          </p:cNvSpPr>
          <p:nvPr>
            <p:ph sz="quarter" idx="14"/>
          </p:nvPr>
        </p:nvSpPr>
        <p:spPr>
          <a:xfrm>
            <a:off x="457200" y="5122816"/>
            <a:ext cx="8229600" cy="1194729"/>
          </a:xfrm>
        </p:spPr>
        <p:txBody>
          <a:bodyPr/>
          <a:lstStyle/>
          <a:p>
            <a:pPr marL="0" indent="0">
              <a:spcBef>
                <a:spcPts val="1200"/>
              </a:spcBef>
              <a:buNone/>
            </a:pPr>
            <a:r>
              <a:rPr lang="en-US" sz="2000" dirty="0"/>
              <a:t>U.S. trade—measured as the sum of imports and exports—is mostly with 15 major partners.</a:t>
            </a:r>
          </a:p>
          <a:p>
            <a:pPr marL="0" indent="0">
              <a:spcBef>
                <a:spcPts val="1200"/>
              </a:spcBef>
              <a:buNone/>
            </a:pPr>
            <a:r>
              <a:rPr lang="en-US" sz="1800" b="1" dirty="0"/>
              <a:t>Source: </a:t>
            </a:r>
            <a:r>
              <a:rPr lang="en-US" sz="1800" dirty="0"/>
              <a:t>U.S. Department of Commerce.</a:t>
            </a:r>
          </a:p>
        </p:txBody>
      </p:sp>
    </p:spTree>
    <p:extLst>
      <p:ext uri="{BB962C8B-B14F-4D97-AF65-F5344CB8AC3E}">
        <p14:creationId xmlns:p14="http://schemas.microsoft.com/office/powerpoint/2010/main" val="36108777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A3516-23C2-48D0-A656-1EC1B0B5C05D}"/>
              </a:ext>
            </a:extLst>
          </p:cNvPr>
          <p:cNvSpPr>
            <a:spLocks noGrp="1"/>
          </p:cNvSpPr>
          <p:nvPr>
            <p:ph type="title"/>
          </p:nvPr>
        </p:nvSpPr>
        <p:spPr/>
        <p:txBody>
          <a:bodyPr/>
          <a:lstStyle/>
          <a:p>
            <a:r>
              <a:rPr lang="en-US" altLang="en-US" sz="3600" dirty="0" smtClean="0"/>
              <a:t>Size Matters: The Gravity Model </a:t>
            </a:r>
            <a:r>
              <a:rPr lang="en-US" altLang="en-US" sz="2000" b="0" dirty="0" smtClean="0"/>
              <a:t>(1 of 3)</a:t>
            </a:r>
            <a:endParaRPr lang="en-US" dirty="0"/>
          </a:p>
        </p:txBody>
      </p:sp>
      <p:sp>
        <p:nvSpPr>
          <p:cNvPr id="3" name="Content Placeholder 2">
            <a:extLst>
              <a:ext uri="{FF2B5EF4-FFF2-40B4-BE49-F238E27FC236}">
                <a16:creationId xmlns:a16="http://schemas.microsoft.com/office/drawing/2014/main" id="{7C786551-0616-46E1-A5D9-079806AF34BE}"/>
              </a:ext>
            </a:extLst>
          </p:cNvPr>
          <p:cNvSpPr>
            <a:spLocks noGrp="1"/>
          </p:cNvSpPr>
          <p:nvPr>
            <p:ph sz="quarter" idx="13"/>
          </p:nvPr>
        </p:nvSpPr>
        <p:spPr/>
        <p:txBody>
          <a:bodyPr/>
          <a:lstStyle/>
          <a:p>
            <a:pPr>
              <a:spcBef>
                <a:spcPct val="50000"/>
              </a:spcBef>
            </a:pPr>
            <a:r>
              <a:rPr lang="en-US" altLang="en-US" sz="2400" dirty="0" smtClean="0"/>
              <a:t>Three of the top 15 U.S. trading partners are European nations: Germany, the United Kingdom, and France.</a:t>
            </a:r>
          </a:p>
          <a:p>
            <a:pPr>
              <a:spcBef>
                <a:spcPct val="50000"/>
              </a:spcBef>
            </a:pPr>
            <a:r>
              <a:rPr lang="en-US" altLang="en-US" sz="2400" dirty="0" smtClean="0"/>
              <a:t>Why does the United States trade more with these European countries than with others?</a:t>
            </a:r>
            <a:endParaRPr lang="en-US" altLang="en-US" dirty="0" smtClean="0"/>
          </a:p>
          <a:p>
            <a:pPr lvl="1">
              <a:spcBef>
                <a:spcPct val="50000"/>
              </a:spcBef>
            </a:pPr>
            <a:r>
              <a:rPr lang="en-US" altLang="en-US" sz="2400" dirty="0" smtClean="0"/>
              <a:t>These three countries have the largest </a:t>
            </a:r>
            <a:r>
              <a:rPr lang="en-US" altLang="en-US" sz="2400" b="1" dirty="0" smtClean="0"/>
              <a:t>gross domestic product (G</a:t>
            </a:r>
            <a:r>
              <a:rPr lang="en-US" altLang="en-US" sz="100" b="1" dirty="0" smtClean="0"/>
              <a:t> </a:t>
            </a:r>
            <a:r>
              <a:rPr lang="en-US" altLang="en-US" sz="2400" b="1" dirty="0" smtClean="0"/>
              <a:t>D</a:t>
            </a:r>
            <a:r>
              <a:rPr lang="en-US" altLang="en-US" sz="100" b="1" dirty="0" smtClean="0"/>
              <a:t> </a:t>
            </a:r>
            <a:r>
              <a:rPr lang="en-US" altLang="en-US" sz="2400" b="1" dirty="0" smtClean="0"/>
              <a:t>P)</a:t>
            </a:r>
            <a:r>
              <a:rPr lang="en-US" altLang="en-US" sz="2400" dirty="0" smtClean="0"/>
              <a:t>, the value of goods and services produced in an economy, in Europe.</a:t>
            </a:r>
          </a:p>
          <a:p>
            <a:pPr>
              <a:spcBef>
                <a:spcPct val="50000"/>
              </a:spcBef>
            </a:pPr>
            <a:r>
              <a:rPr lang="en-US" altLang="en-US" sz="2400" dirty="0" smtClean="0"/>
              <a:t>Figure 2-2 shows that each European country</a:t>
            </a:r>
            <a:r>
              <a:rPr lang="en-US" altLang="en-US" dirty="0" smtClean="0"/>
              <a:t>’</a:t>
            </a:r>
            <a:r>
              <a:rPr lang="en-US" altLang="ja-JP" sz="2400" dirty="0" smtClean="0"/>
              <a:t>s share of U.S. trade with Europe is roughly equal to its share of European G</a:t>
            </a:r>
            <a:r>
              <a:rPr lang="en-US" altLang="ja-JP" sz="100" dirty="0" smtClean="0"/>
              <a:t> </a:t>
            </a:r>
            <a:r>
              <a:rPr lang="en-US" altLang="ja-JP" sz="2400" dirty="0" smtClean="0"/>
              <a:t>D</a:t>
            </a:r>
            <a:r>
              <a:rPr lang="en-US" altLang="ja-JP" sz="100" dirty="0" smtClean="0"/>
              <a:t> </a:t>
            </a:r>
            <a:r>
              <a:rPr lang="en-US" altLang="ja-JP" sz="2400" dirty="0" smtClean="0"/>
              <a:t>P.</a:t>
            </a:r>
            <a:endParaRPr lang="en-US" sz="2400" dirty="0"/>
          </a:p>
        </p:txBody>
      </p:sp>
    </p:spTree>
    <p:extLst>
      <p:ext uri="{BB962C8B-B14F-4D97-AF65-F5344CB8AC3E}">
        <p14:creationId xmlns:p14="http://schemas.microsoft.com/office/powerpoint/2010/main" val="30942477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371098-4391-4A83-B52F-3D010BCFB44A}"/>
              </a:ext>
            </a:extLst>
          </p:cNvPr>
          <p:cNvSpPr>
            <a:spLocks noGrp="1"/>
          </p:cNvSpPr>
          <p:nvPr>
            <p:ph type="title"/>
          </p:nvPr>
        </p:nvSpPr>
        <p:spPr/>
        <p:txBody>
          <a:bodyPr/>
          <a:lstStyle/>
          <a:p>
            <a:r>
              <a:rPr lang="en-US" altLang="en-US" sz="2600" dirty="0"/>
              <a:t>Figure 2.2 The Size of European Economies and the Value of Their Trade with the United States</a:t>
            </a:r>
            <a:endParaRPr lang="en-IN" sz="2600" dirty="0"/>
          </a:p>
        </p:txBody>
      </p:sp>
      <p:pic>
        <p:nvPicPr>
          <p:cNvPr id="6" name="Content Placeholder 5" descr="A scatterplot depicts the size of European economies and the value of their trade with the United States. For long description in Notes pane, press F6.">
            <a:extLst>
              <a:ext uri="{FF2B5EF4-FFF2-40B4-BE49-F238E27FC236}">
                <a16:creationId xmlns:a16="http://schemas.microsoft.com/office/drawing/2014/main" id="{0AC23149-6DD6-462D-A9F4-F0ED24A2DFBD}"/>
              </a:ext>
            </a:extLst>
          </p:cNvPr>
          <p:cNvPicPr>
            <a:picLocks noGrp="1" noChangeAspect="1"/>
          </p:cNvPicPr>
          <p:nvPr>
            <p:ph sz="quarter" idx="13"/>
          </p:nvPr>
        </p:nvPicPr>
        <p:blipFill>
          <a:blip r:embed="rId3"/>
          <a:stretch>
            <a:fillRect/>
          </a:stretch>
        </p:blipFill>
        <p:spPr>
          <a:xfrm>
            <a:off x="1959314" y="1697951"/>
            <a:ext cx="5225372" cy="3321366"/>
          </a:xfrm>
        </p:spPr>
      </p:pic>
      <p:sp>
        <p:nvSpPr>
          <p:cNvPr id="4" name="Content Placeholder 3">
            <a:extLst>
              <a:ext uri="{FF2B5EF4-FFF2-40B4-BE49-F238E27FC236}">
                <a16:creationId xmlns:a16="http://schemas.microsoft.com/office/drawing/2014/main" id="{3A0A3950-FAF2-498A-AE88-5156469891AB}"/>
              </a:ext>
            </a:extLst>
          </p:cNvPr>
          <p:cNvSpPr>
            <a:spLocks noGrp="1"/>
          </p:cNvSpPr>
          <p:nvPr>
            <p:ph sz="quarter" idx="14"/>
          </p:nvPr>
        </p:nvSpPr>
        <p:spPr>
          <a:xfrm>
            <a:off x="457200" y="5107258"/>
            <a:ext cx="8229600" cy="1248472"/>
          </a:xfrm>
        </p:spPr>
        <p:txBody>
          <a:bodyPr/>
          <a:lstStyle/>
          <a:p>
            <a:pPr marL="0" indent="0">
              <a:spcBef>
                <a:spcPts val="1200"/>
              </a:spcBef>
              <a:buNone/>
            </a:pPr>
            <a:r>
              <a:rPr lang="en-US" sz="2000" dirty="0"/>
              <a:t>Shows the correspondence between the size of different European economies and those countries’ trade with the United States.</a:t>
            </a:r>
          </a:p>
          <a:p>
            <a:pPr marL="0" indent="0">
              <a:spcBef>
                <a:spcPts val="1200"/>
              </a:spcBef>
              <a:buNone/>
            </a:pPr>
            <a:r>
              <a:rPr lang="en-US" sz="1800" b="1" dirty="0"/>
              <a:t>Source:</a:t>
            </a:r>
            <a:r>
              <a:rPr lang="en-US" sz="1800" dirty="0"/>
              <a:t> U.S. Department of Commerce, European Commission.</a:t>
            </a:r>
          </a:p>
        </p:txBody>
      </p:sp>
    </p:spTree>
    <p:extLst>
      <p:ext uri="{BB962C8B-B14F-4D97-AF65-F5344CB8AC3E}">
        <p14:creationId xmlns:p14="http://schemas.microsoft.com/office/powerpoint/2010/main" val="16915324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A3516-23C2-48D0-A656-1EC1B0B5C05D}"/>
              </a:ext>
            </a:extLst>
          </p:cNvPr>
          <p:cNvSpPr>
            <a:spLocks noGrp="1"/>
          </p:cNvSpPr>
          <p:nvPr>
            <p:ph type="title"/>
          </p:nvPr>
        </p:nvSpPr>
        <p:spPr/>
        <p:txBody>
          <a:bodyPr/>
          <a:lstStyle/>
          <a:p>
            <a:r>
              <a:rPr lang="en-US" altLang="en-US" sz="3600" dirty="0"/>
              <a:t>Size Matters: The Gravity Model </a:t>
            </a:r>
            <a:r>
              <a:rPr lang="en-US" altLang="en-US" sz="2000" b="0" dirty="0"/>
              <a:t>(2 of 3)</a:t>
            </a:r>
            <a:endParaRPr lang="en-IN" dirty="0"/>
          </a:p>
        </p:txBody>
      </p:sp>
      <p:sp>
        <p:nvSpPr>
          <p:cNvPr id="3" name="Content Placeholder 2">
            <a:extLst>
              <a:ext uri="{FF2B5EF4-FFF2-40B4-BE49-F238E27FC236}">
                <a16:creationId xmlns:a16="http://schemas.microsoft.com/office/drawing/2014/main" id="{7C786551-0616-46E1-A5D9-079806AF34BE}"/>
              </a:ext>
            </a:extLst>
          </p:cNvPr>
          <p:cNvSpPr>
            <a:spLocks noGrp="1"/>
          </p:cNvSpPr>
          <p:nvPr>
            <p:ph sz="quarter" idx="13"/>
          </p:nvPr>
        </p:nvSpPr>
        <p:spPr/>
        <p:txBody>
          <a:bodyPr/>
          <a:lstStyle/>
          <a:p>
            <a:pPr>
              <a:spcBef>
                <a:spcPct val="50000"/>
              </a:spcBef>
            </a:pPr>
            <a:r>
              <a:rPr lang="en-US" altLang="en-US" sz="2400" dirty="0"/>
              <a:t>The size of an economy is directly related to the volume of imports and exports.</a:t>
            </a:r>
          </a:p>
          <a:p>
            <a:pPr lvl="1"/>
            <a:r>
              <a:rPr lang="en-US" altLang="en-US" sz="2400" dirty="0"/>
              <a:t>Larger economies produce more goods and services, so they have more to sell in the export market.</a:t>
            </a:r>
          </a:p>
          <a:p>
            <a:pPr lvl="1"/>
            <a:r>
              <a:rPr lang="en-US" altLang="en-US" sz="2400" dirty="0"/>
              <a:t>Larger economies generate more income from </a:t>
            </a:r>
            <a:br>
              <a:rPr lang="en-US" altLang="en-US" sz="2400" dirty="0"/>
            </a:br>
            <a:r>
              <a:rPr lang="en-US" altLang="en-US" sz="2400" dirty="0"/>
              <a:t>the goods and services sold, so they are able to buy more imports.</a:t>
            </a:r>
          </a:p>
          <a:p>
            <a:pPr>
              <a:spcBef>
                <a:spcPct val="50000"/>
              </a:spcBef>
            </a:pPr>
            <a:r>
              <a:rPr lang="en-US" altLang="en-US" sz="2400" dirty="0"/>
              <a:t>Trade between any two countries is larger, the larger is either country.</a:t>
            </a:r>
          </a:p>
        </p:txBody>
      </p:sp>
    </p:spTree>
    <p:extLst>
      <p:ext uri="{BB962C8B-B14F-4D97-AF65-F5344CB8AC3E}">
        <p14:creationId xmlns:p14="http://schemas.microsoft.com/office/powerpoint/2010/main" val="15509495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A3516-23C2-48D0-A656-1EC1B0B5C05D}"/>
              </a:ext>
            </a:extLst>
          </p:cNvPr>
          <p:cNvSpPr>
            <a:spLocks noGrp="1"/>
          </p:cNvSpPr>
          <p:nvPr>
            <p:ph type="title"/>
          </p:nvPr>
        </p:nvSpPr>
        <p:spPr/>
        <p:txBody>
          <a:bodyPr/>
          <a:lstStyle/>
          <a:p>
            <a:r>
              <a:rPr lang="en-US" altLang="en-US" sz="3600" dirty="0"/>
              <a:t>Size Matters: The Gravity Model </a:t>
            </a:r>
            <a:r>
              <a:rPr lang="en-US" altLang="en-US" sz="2000" b="0" dirty="0"/>
              <a:t>(3 of 3)</a:t>
            </a:r>
            <a:endParaRPr lang="en-IN" dirty="0"/>
          </a:p>
        </p:txBody>
      </p:sp>
      <p:sp>
        <p:nvSpPr>
          <p:cNvPr id="4" name="Content Placeholder 3">
            <a:extLst>
              <a:ext uri="{FF2B5EF4-FFF2-40B4-BE49-F238E27FC236}">
                <a16:creationId xmlns:a16="http://schemas.microsoft.com/office/drawing/2014/main" id="{9C5B1F31-07D1-470F-AA23-836E41465049}"/>
              </a:ext>
            </a:extLst>
          </p:cNvPr>
          <p:cNvSpPr>
            <a:spLocks noGrp="1"/>
          </p:cNvSpPr>
          <p:nvPr>
            <p:ph sz="quarter" idx="13"/>
          </p:nvPr>
        </p:nvSpPr>
        <p:spPr>
          <a:xfrm>
            <a:off x="457200" y="1593309"/>
            <a:ext cx="8229600" cy="763811"/>
          </a:xfrm>
        </p:spPr>
        <p:txBody>
          <a:bodyPr/>
          <a:lstStyle/>
          <a:p>
            <a:r>
              <a:rPr lang="en-US" altLang="en-US" sz="2000" dirty="0"/>
              <a:t>The gravity model assumes that size and distance are important for trade in the following way:</a:t>
            </a:r>
            <a:endParaRPr lang="en-US" sz="2000" dirty="0"/>
          </a:p>
        </p:txBody>
      </p:sp>
      <p:graphicFrame>
        <p:nvGraphicFramePr>
          <p:cNvPr id="28" name="Object 27" descr="T sub start expression i j end expression = start fraction A times Y sub i times Y sub j over D sub start expression i j end expression end fraction">
            <a:extLst>
              <a:ext uri="{FF2B5EF4-FFF2-40B4-BE49-F238E27FC236}">
                <a16:creationId xmlns:a16="http://schemas.microsoft.com/office/drawing/2014/main" id="{F9EA04FF-4BEB-4A6D-9927-0A419C2688BC}"/>
              </a:ext>
            </a:extLst>
          </p:cNvPr>
          <p:cNvGraphicFramePr>
            <a:graphicFrameLocks noChangeAspect="1"/>
          </p:cNvGraphicFramePr>
          <p:nvPr>
            <p:extLst>
              <p:ext uri="{D42A27DB-BD31-4B8C-83A1-F6EECF244321}">
                <p14:modId xmlns:p14="http://schemas.microsoft.com/office/powerpoint/2010/main" val="842515518"/>
              </p:ext>
            </p:extLst>
          </p:nvPr>
        </p:nvGraphicFramePr>
        <p:xfrm>
          <a:off x="3791164" y="2496861"/>
          <a:ext cx="1198562" cy="568325"/>
        </p:xfrm>
        <a:graphic>
          <a:graphicData uri="http://schemas.openxmlformats.org/presentationml/2006/ole">
            <mc:AlternateContent xmlns:mc="http://schemas.openxmlformats.org/markup-compatibility/2006">
              <mc:Choice xmlns:v="urn:schemas-microsoft-com:vml" Requires="v">
                <p:oleObj spid="_x0000_s1446" name="Equation" r:id="rId4" imgW="990360" imgH="469800" progId="Equation.DSMT4">
                  <p:embed/>
                </p:oleObj>
              </mc:Choice>
              <mc:Fallback>
                <p:oleObj name="Equation" r:id="rId4" imgW="990360" imgH="469800" progId="Equation.DSMT4">
                  <p:embed/>
                  <p:pic>
                    <p:nvPicPr>
                      <p:cNvPr id="0" name=""/>
                      <p:cNvPicPr/>
                      <p:nvPr/>
                    </p:nvPicPr>
                    <p:blipFill>
                      <a:blip r:embed="rId5"/>
                      <a:stretch>
                        <a:fillRect/>
                      </a:stretch>
                    </p:blipFill>
                    <p:spPr>
                      <a:xfrm>
                        <a:off x="3791164" y="2496861"/>
                        <a:ext cx="1198562" cy="568325"/>
                      </a:xfrm>
                      <a:prstGeom prst="rect">
                        <a:avLst/>
                      </a:prstGeom>
                    </p:spPr>
                  </p:pic>
                </p:oleObj>
              </mc:Fallback>
            </mc:AlternateContent>
          </a:graphicData>
        </a:graphic>
      </p:graphicFrame>
      <p:sp>
        <p:nvSpPr>
          <p:cNvPr id="5" name="Content Placeholder 4">
            <a:extLst>
              <a:ext uri="{FF2B5EF4-FFF2-40B4-BE49-F238E27FC236}">
                <a16:creationId xmlns:a16="http://schemas.microsoft.com/office/drawing/2014/main" id="{0A2270BB-051F-49C1-AB84-77F410F974A0}"/>
              </a:ext>
            </a:extLst>
          </p:cNvPr>
          <p:cNvSpPr>
            <a:spLocks noGrp="1"/>
          </p:cNvSpPr>
          <p:nvPr>
            <p:ph sz="quarter" idx="14"/>
          </p:nvPr>
        </p:nvSpPr>
        <p:spPr>
          <a:xfrm>
            <a:off x="585576" y="3281469"/>
            <a:ext cx="3525967" cy="352379"/>
          </a:xfrm>
        </p:spPr>
        <p:txBody>
          <a:bodyPr lIns="0" tIns="0" rIns="0" bIns="0"/>
          <a:lstStyle/>
          <a:p>
            <a:pPr marL="255600" indent="0">
              <a:spcBef>
                <a:spcPts val="500"/>
              </a:spcBef>
              <a:buNone/>
            </a:pPr>
            <a:r>
              <a:rPr lang="en-US" altLang="en-US" sz="2000" dirty="0"/>
              <a:t>where </a:t>
            </a:r>
            <a:r>
              <a:rPr lang="en-US" altLang="en-US" sz="2000" i="1" dirty="0"/>
              <a:t>A</a:t>
            </a:r>
            <a:r>
              <a:rPr lang="en-US" altLang="en-US" sz="2000" dirty="0"/>
              <a:t> is a constant term</a:t>
            </a:r>
          </a:p>
        </p:txBody>
      </p:sp>
      <p:graphicFrame>
        <p:nvGraphicFramePr>
          <p:cNvPr id="29" name="Object 28" descr="T sub start expression i j end expression">
            <a:extLst>
              <a:ext uri="{FF2B5EF4-FFF2-40B4-BE49-F238E27FC236}">
                <a16:creationId xmlns:a16="http://schemas.microsoft.com/office/drawing/2014/main" id="{AD425776-1113-4A2F-AC1C-A393D687E626}"/>
              </a:ext>
            </a:extLst>
          </p:cNvPr>
          <p:cNvGraphicFramePr>
            <a:graphicFrameLocks noChangeAspect="1"/>
          </p:cNvGraphicFramePr>
          <p:nvPr>
            <p:extLst>
              <p:ext uri="{D42A27DB-BD31-4B8C-83A1-F6EECF244321}">
                <p14:modId xmlns:p14="http://schemas.microsoft.com/office/powerpoint/2010/main" val="1665354624"/>
              </p:ext>
            </p:extLst>
          </p:nvPr>
        </p:nvGraphicFramePr>
        <p:xfrm>
          <a:off x="814600" y="3794602"/>
          <a:ext cx="241723" cy="353287"/>
        </p:xfrm>
        <a:graphic>
          <a:graphicData uri="http://schemas.openxmlformats.org/presentationml/2006/ole">
            <mc:AlternateContent xmlns:mc="http://schemas.openxmlformats.org/markup-compatibility/2006">
              <mc:Choice xmlns:v="urn:schemas-microsoft-com:vml" Requires="v">
                <p:oleObj spid="_x0000_s1447" name="Equation" r:id="rId6" imgW="164880" imgH="241200" progId="Equation.DSMT4">
                  <p:embed/>
                </p:oleObj>
              </mc:Choice>
              <mc:Fallback>
                <p:oleObj name="Equation" r:id="rId6" imgW="164880" imgH="241200" progId="Equation.DSMT4">
                  <p:embed/>
                  <p:pic>
                    <p:nvPicPr>
                      <p:cNvPr id="0" name=""/>
                      <p:cNvPicPr/>
                      <p:nvPr/>
                    </p:nvPicPr>
                    <p:blipFill>
                      <a:blip r:embed="rId7"/>
                      <a:stretch>
                        <a:fillRect/>
                      </a:stretch>
                    </p:blipFill>
                    <p:spPr>
                      <a:xfrm>
                        <a:off x="814600" y="3794602"/>
                        <a:ext cx="241723" cy="353287"/>
                      </a:xfrm>
                      <a:prstGeom prst="rect">
                        <a:avLst/>
                      </a:prstGeom>
                    </p:spPr>
                  </p:pic>
                </p:oleObj>
              </mc:Fallback>
            </mc:AlternateContent>
          </a:graphicData>
        </a:graphic>
      </p:graphicFrame>
      <p:sp>
        <p:nvSpPr>
          <p:cNvPr id="6" name="Content Placeholder 5">
            <a:extLst>
              <a:ext uri="{FF2B5EF4-FFF2-40B4-BE49-F238E27FC236}">
                <a16:creationId xmlns:a16="http://schemas.microsoft.com/office/drawing/2014/main" id="{78B92B21-07FF-42F8-A266-DFB883B29511}"/>
              </a:ext>
            </a:extLst>
          </p:cNvPr>
          <p:cNvSpPr>
            <a:spLocks noGrp="1"/>
          </p:cNvSpPr>
          <p:nvPr>
            <p:ph sz="quarter" idx="15"/>
          </p:nvPr>
        </p:nvSpPr>
        <p:spPr>
          <a:xfrm>
            <a:off x="1285240" y="3792814"/>
            <a:ext cx="5897880" cy="355075"/>
          </a:xfrm>
        </p:spPr>
        <p:txBody>
          <a:bodyPr lIns="0" tIns="0" rIns="0" bIns="0"/>
          <a:lstStyle/>
          <a:p>
            <a:pPr marL="0" indent="-486918">
              <a:spcBef>
                <a:spcPts val="500"/>
              </a:spcBef>
              <a:buNone/>
            </a:pPr>
            <a:r>
              <a:rPr lang="en-US" altLang="en-US" sz="2000" dirty="0"/>
              <a:t>is the value of trade between country </a:t>
            </a:r>
            <a:r>
              <a:rPr lang="en-US" altLang="en-US" sz="2000" i="1" dirty="0"/>
              <a:t>i</a:t>
            </a:r>
            <a:r>
              <a:rPr lang="en-US" altLang="en-US" sz="2000" dirty="0"/>
              <a:t> and country </a:t>
            </a:r>
            <a:r>
              <a:rPr lang="en-US" altLang="en-US" sz="2000" i="1" dirty="0"/>
              <a:t>j</a:t>
            </a:r>
            <a:endParaRPr lang="en-US" altLang="en-US" sz="2000" dirty="0"/>
          </a:p>
        </p:txBody>
      </p:sp>
      <p:graphicFrame>
        <p:nvGraphicFramePr>
          <p:cNvPr id="30" name="Object 29" descr="Y sub i">
            <a:extLst>
              <a:ext uri="{FF2B5EF4-FFF2-40B4-BE49-F238E27FC236}">
                <a16:creationId xmlns:a16="http://schemas.microsoft.com/office/drawing/2014/main" id="{C76D9F8C-E43E-4A0E-A37C-87D32F6F6A06}"/>
              </a:ext>
            </a:extLst>
          </p:cNvPr>
          <p:cNvGraphicFramePr>
            <a:graphicFrameLocks noChangeAspect="1"/>
          </p:cNvGraphicFramePr>
          <p:nvPr>
            <p:extLst>
              <p:ext uri="{D42A27DB-BD31-4B8C-83A1-F6EECF244321}">
                <p14:modId xmlns:p14="http://schemas.microsoft.com/office/powerpoint/2010/main" val="3561764869"/>
              </p:ext>
            </p:extLst>
          </p:nvPr>
        </p:nvGraphicFramePr>
        <p:xfrm>
          <a:off x="793067" y="4340068"/>
          <a:ext cx="223128" cy="334694"/>
        </p:xfrm>
        <a:graphic>
          <a:graphicData uri="http://schemas.openxmlformats.org/presentationml/2006/ole">
            <mc:AlternateContent xmlns:mc="http://schemas.openxmlformats.org/markup-compatibility/2006">
              <mc:Choice xmlns:v="urn:schemas-microsoft-com:vml" Requires="v">
                <p:oleObj spid="_x0000_s1448" name="Equation" r:id="rId8" imgW="152280" imgH="228600" progId="Equation.DSMT4">
                  <p:embed/>
                </p:oleObj>
              </mc:Choice>
              <mc:Fallback>
                <p:oleObj name="Equation" r:id="rId8" imgW="152280" imgH="228600" progId="Equation.DSMT4">
                  <p:embed/>
                  <p:pic>
                    <p:nvPicPr>
                      <p:cNvPr id="0" name=""/>
                      <p:cNvPicPr/>
                      <p:nvPr/>
                    </p:nvPicPr>
                    <p:blipFill>
                      <a:blip r:embed="rId9"/>
                      <a:stretch>
                        <a:fillRect/>
                      </a:stretch>
                    </p:blipFill>
                    <p:spPr>
                      <a:xfrm>
                        <a:off x="793067" y="4340068"/>
                        <a:ext cx="223128" cy="334694"/>
                      </a:xfrm>
                      <a:prstGeom prst="rect">
                        <a:avLst/>
                      </a:prstGeom>
                    </p:spPr>
                  </p:pic>
                </p:oleObj>
              </mc:Fallback>
            </mc:AlternateContent>
          </a:graphicData>
        </a:graphic>
      </p:graphicFrame>
      <p:sp>
        <p:nvSpPr>
          <p:cNvPr id="7" name="Content Placeholder 6">
            <a:extLst>
              <a:ext uri="{FF2B5EF4-FFF2-40B4-BE49-F238E27FC236}">
                <a16:creationId xmlns:a16="http://schemas.microsoft.com/office/drawing/2014/main" id="{43E29AD1-5CFB-4367-8E2E-65DABDF63C72}"/>
              </a:ext>
            </a:extLst>
          </p:cNvPr>
          <p:cNvSpPr>
            <a:spLocks noGrp="1"/>
          </p:cNvSpPr>
          <p:nvPr>
            <p:ph sz="quarter" idx="16"/>
          </p:nvPr>
        </p:nvSpPr>
        <p:spPr>
          <a:xfrm>
            <a:off x="1221423" y="4310786"/>
            <a:ext cx="2495171" cy="336652"/>
          </a:xfrm>
        </p:spPr>
        <p:txBody>
          <a:bodyPr lIns="0" tIns="0" rIns="0" bIns="0"/>
          <a:lstStyle/>
          <a:p>
            <a:pPr marL="0" indent="-486918">
              <a:buNone/>
            </a:pPr>
            <a:r>
              <a:rPr lang="en-US" altLang="en-US" sz="2000" dirty="0"/>
              <a:t>the </a:t>
            </a:r>
            <a:r>
              <a:rPr lang="en-US" altLang="en-US" sz="2000" dirty="0" smtClean="0"/>
              <a:t>G</a:t>
            </a:r>
            <a:r>
              <a:rPr lang="en-US" altLang="en-US" sz="100" dirty="0" smtClean="0"/>
              <a:t> </a:t>
            </a:r>
            <a:r>
              <a:rPr lang="en-US" altLang="en-US" sz="2000" dirty="0" smtClean="0"/>
              <a:t>D</a:t>
            </a:r>
            <a:r>
              <a:rPr lang="en-US" altLang="en-US" sz="100" dirty="0" smtClean="0"/>
              <a:t> </a:t>
            </a:r>
            <a:r>
              <a:rPr lang="en-US" altLang="en-US" sz="2000" dirty="0" smtClean="0"/>
              <a:t>P </a:t>
            </a:r>
            <a:r>
              <a:rPr lang="en-US" altLang="en-US" sz="2000" dirty="0"/>
              <a:t>of country </a:t>
            </a:r>
            <a:r>
              <a:rPr lang="en-US" altLang="en-US" sz="2000" i="1" dirty="0"/>
              <a:t>i,</a:t>
            </a:r>
            <a:endParaRPr lang="en-IN" sz="2000" dirty="0"/>
          </a:p>
        </p:txBody>
      </p:sp>
      <p:graphicFrame>
        <p:nvGraphicFramePr>
          <p:cNvPr id="31" name="Object 30" descr="Y sub j">
            <a:extLst>
              <a:ext uri="{FF2B5EF4-FFF2-40B4-BE49-F238E27FC236}">
                <a16:creationId xmlns:a16="http://schemas.microsoft.com/office/drawing/2014/main" id="{B51EF775-EFBF-4DD9-BD69-CB65580C37CF}"/>
              </a:ext>
            </a:extLst>
          </p:cNvPr>
          <p:cNvGraphicFramePr>
            <a:graphicFrameLocks noChangeAspect="1"/>
          </p:cNvGraphicFramePr>
          <p:nvPr>
            <p:extLst>
              <p:ext uri="{D42A27DB-BD31-4B8C-83A1-F6EECF244321}">
                <p14:modId xmlns:p14="http://schemas.microsoft.com/office/powerpoint/2010/main" val="2168360095"/>
              </p:ext>
            </p:extLst>
          </p:nvPr>
        </p:nvGraphicFramePr>
        <p:xfrm>
          <a:off x="3869820" y="4322829"/>
          <a:ext cx="241723" cy="353287"/>
        </p:xfrm>
        <a:graphic>
          <a:graphicData uri="http://schemas.openxmlformats.org/presentationml/2006/ole">
            <mc:AlternateContent xmlns:mc="http://schemas.openxmlformats.org/markup-compatibility/2006">
              <mc:Choice xmlns:v="urn:schemas-microsoft-com:vml" Requires="v">
                <p:oleObj spid="_x0000_s1449" name="Equation" r:id="rId10" imgW="164880" imgH="241200" progId="Equation.DSMT4">
                  <p:embed/>
                </p:oleObj>
              </mc:Choice>
              <mc:Fallback>
                <p:oleObj name="Equation" r:id="rId10" imgW="164880" imgH="241200" progId="Equation.DSMT4">
                  <p:embed/>
                  <p:pic>
                    <p:nvPicPr>
                      <p:cNvPr id="0" name=""/>
                      <p:cNvPicPr/>
                      <p:nvPr/>
                    </p:nvPicPr>
                    <p:blipFill>
                      <a:blip r:embed="rId11"/>
                      <a:stretch>
                        <a:fillRect/>
                      </a:stretch>
                    </p:blipFill>
                    <p:spPr>
                      <a:xfrm>
                        <a:off x="3869820" y="4322829"/>
                        <a:ext cx="241723" cy="353287"/>
                      </a:xfrm>
                      <a:prstGeom prst="rect">
                        <a:avLst/>
                      </a:prstGeom>
                    </p:spPr>
                  </p:pic>
                </p:oleObj>
              </mc:Fallback>
            </mc:AlternateContent>
          </a:graphicData>
        </a:graphic>
      </p:graphicFrame>
      <p:sp>
        <p:nvSpPr>
          <p:cNvPr id="8" name="Content Placeholder 7">
            <a:extLst>
              <a:ext uri="{FF2B5EF4-FFF2-40B4-BE49-F238E27FC236}">
                <a16:creationId xmlns:a16="http://schemas.microsoft.com/office/drawing/2014/main" id="{AE9351F9-C14E-47F5-B674-5AB7EE9E4D4F}"/>
              </a:ext>
            </a:extLst>
          </p:cNvPr>
          <p:cNvSpPr>
            <a:spLocks noGrp="1"/>
          </p:cNvSpPr>
          <p:nvPr>
            <p:ph sz="quarter" idx="17"/>
          </p:nvPr>
        </p:nvSpPr>
        <p:spPr>
          <a:xfrm>
            <a:off x="4365522" y="4296171"/>
            <a:ext cx="2817597" cy="332218"/>
          </a:xfrm>
        </p:spPr>
        <p:txBody>
          <a:bodyPr lIns="0" tIns="0" rIns="0" bIns="0"/>
          <a:lstStyle/>
          <a:p>
            <a:pPr marL="0" indent="-486918">
              <a:buNone/>
            </a:pPr>
            <a:r>
              <a:rPr lang="en-US" altLang="en-US" sz="2000" dirty="0"/>
              <a:t>is the </a:t>
            </a:r>
            <a:r>
              <a:rPr lang="en-US" altLang="en-US" sz="2000" dirty="0" smtClean="0"/>
              <a:t>G</a:t>
            </a:r>
            <a:r>
              <a:rPr lang="en-US" altLang="en-US" sz="100" dirty="0" smtClean="0"/>
              <a:t> </a:t>
            </a:r>
            <a:r>
              <a:rPr lang="en-US" altLang="en-US" sz="2000" dirty="0" smtClean="0"/>
              <a:t>D</a:t>
            </a:r>
            <a:r>
              <a:rPr lang="en-US" altLang="en-US" sz="100" dirty="0" smtClean="0"/>
              <a:t> </a:t>
            </a:r>
            <a:r>
              <a:rPr lang="en-US" altLang="en-US" sz="2000" dirty="0" smtClean="0"/>
              <a:t>P </a:t>
            </a:r>
            <a:r>
              <a:rPr lang="en-US" altLang="en-US" sz="2000" dirty="0"/>
              <a:t>of country </a:t>
            </a:r>
            <a:r>
              <a:rPr lang="en-US" altLang="en-US" sz="2000" i="1" dirty="0"/>
              <a:t>j</a:t>
            </a:r>
            <a:endParaRPr lang="en-IN" sz="2000" dirty="0"/>
          </a:p>
        </p:txBody>
      </p:sp>
      <p:graphicFrame>
        <p:nvGraphicFramePr>
          <p:cNvPr id="32" name="Object 31" descr="D sub start expression i j end expression">
            <a:extLst>
              <a:ext uri="{FF2B5EF4-FFF2-40B4-BE49-F238E27FC236}">
                <a16:creationId xmlns:a16="http://schemas.microsoft.com/office/drawing/2014/main" id="{70C1FEF0-9217-40EF-85C4-ED636965A4FD}"/>
              </a:ext>
            </a:extLst>
          </p:cNvPr>
          <p:cNvGraphicFramePr>
            <a:graphicFrameLocks noChangeAspect="1"/>
          </p:cNvGraphicFramePr>
          <p:nvPr>
            <p:extLst>
              <p:ext uri="{D42A27DB-BD31-4B8C-83A1-F6EECF244321}">
                <p14:modId xmlns:p14="http://schemas.microsoft.com/office/powerpoint/2010/main" val="1394181134"/>
              </p:ext>
            </p:extLst>
          </p:nvPr>
        </p:nvGraphicFramePr>
        <p:xfrm>
          <a:off x="785813" y="4858258"/>
          <a:ext cx="298450" cy="352425"/>
        </p:xfrm>
        <a:graphic>
          <a:graphicData uri="http://schemas.openxmlformats.org/presentationml/2006/ole">
            <mc:AlternateContent xmlns:mc="http://schemas.openxmlformats.org/markup-compatibility/2006">
              <mc:Choice xmlns:v="urn:schemas-microsoft-com:vml" Requires="v">
                <p:oleObj spid="_x0000_s1450" name="Equation" r:id="rId12" imgW="203040" imgH="241200" progId="Equation.DSMT4">
                  <p:embed/>
                </p:oleObj>
              </mc:Choice>
              <mc:Fallback>
                <p:oleObj name="Equation" r:id="rId12" imgW="203040" imgH="241200" progId="Equation.DSMT4">
                  <p:embed/>
                  <p:pic>
                    <p:nvPicPr>
                      <p:cNvPr id="0" name=""/>
                      <p:cNvPicPr/>
                      <p:nvPr/>
                    </p:nvPicPr>
                    <p:blipFill>
                      <a:blip r:embed="rId13"/>
                      <a:stretch>
                        <a:fillRect/>
                      </a:stretch>
                    </p:blipFill>
                    <p:spPr>
                      <a:xfrm>
                        <a:off x="785813" y="4858258"/>
                        <a:ext cx="298450" cy="352425"/>
                      </a:xfrm>
                      <a:prstGeom prst="rect">
                        <a:avLst/>
                      </a:prstGeom>
                    </p:spPr>
                  </p:pic>
                </p:oleObj>
              </mc:Fallback>
            </mc:AlternateContent>
          </a:graphicData>
        </a:graphic>
      </p:graphicFrame>
      <p:sp>
        <p:nvSpPr>
          <p:cNvPr id="9" name="Content Placeholder 8">
            <a:extLst>
              <a:ext uri="{FF2B5EF4-FFF2-40B4-BE49-F238E27FC236}">
                <a16:creationId xmlns:a16="http://schemas.microsoft.com/office/drawing/2014/main" id="{4D9B40FC-3347-42D9-8EAC-7C2CA54E225F}"/>
              </a:ext>
            </a:extLst>
          </p:cNvPr>
          <p:cNvSpPr>
            <a:spLocks noGrp="1"/>
          </p:cNvSpPr>
          <p:nvPr>
            <p:ph sz="quarter" idx="18"/>
          </p:nvPr>
        </p:nvSpPr>
        <p:spPr>
          <a:xfrm>
            <a:off x="1285240" y="4827021"/>
            <a:ext cx="4754879" cy="362495"/>
          </a:xfrm>
        </p:spPr>
        <p:txBody>
          <a:bodyPr lIns="0" tIns="0" rIns="0" bIns="0"/>
          <a:lstStyle/>
          <a:p>
            <a:pPr marL="0" indent="-486918">
              <a:buNone/>
            </a:pPr>
            <a:r>
              <a:rPr lang="en-US" altLang="en-US" sz="2000" dirty="0"/>
              <a:t>is the distance between the two countries</a:t>
            </a:r>
            <a:endParaRPr lang="en-IN" sz="2000" dirty="0"/>
          </a:p>
        </p:txBody>
      </p:sp>
      <p:sp>
        <p:nvSpPr>
          <p:cNvPr id="10" name="Content Placeholder 9">
            <a:extLst>
              <a:ext uri="{FF2B5EF4-FFF2-40B4-BE49-F238E27FC236}">
                <a16:creationId xmlns:a16="http://schemas.microsoft.com/office/drawing/2014/main" id="{E4993F77-59D9-42FD-9BD1-7AAAA91B9F67}"/>
              </a:ext>
            </a:extLst>
          </p:cNvPr>
          <p:cNvSpPr>
            <a:spLocks noGrp="1"/>
          </p:cNvSpPr>
          <p:nvPr>
            <p:ph sz="quarter" idx="19"/>
          </p:nvPr>
        </p:nvSpPr>
        <p:spPr>
          <a:xfrm>
            <a:off x="457200" y="5361897"/>
            <a:ext cx="2524760" cy="443554"/>
          </a:xfrm>
        </p:spPr>
        <p:txBody>
          <a:bodyPr/>
          <a:lstStyle/>
          <a:p>
            <a:r>
              <a:rPr lang="en-US" altLang="en-US" sz="2000" dirty="0"/>
              <a:t>Or more generally</a:t>
            </a:r>
            <a:endParaRPr lang="en-US" sz="2000" dirty="0"/>
          </a:p>
        </p:txBody>
      </p:sp>
      <p:graphicFrame>
        <p:nvGraphicFramePr>
          <p:cNvPr id="33" name="Object 32" descr="T sub start expression i j end expression = start fraction A times Y to the a power sub i times Y to the b power sub j over D to the c power sub start expression i j end expression end fraction">
            <a:extLst>
              <a:ext uri="{FF2B5EF4-FFF2-40B4-BE49-F238E27FC236}">
                <a16:creationId xmlns:a16="http://schemas.microsoft.com/office/drawing/2014/main" id="{0A87FAC5-D256-40DB-BFD7-AFC54649ECAF}"/>
              </a:ext>
            </a:extLst>
          </p:cNvPr>
          <p:cNvGraphicFramePr>
            <a:graphicFrameLocks noChangeAspect="1"/>
          </p:cNvGraphicFramePr>
          <p:nvPr>
            <p:extLst>
              <p:ext uri="{D42A27DB-BD31-4B8C-83A1-F6EECF244321}">
                <p14:modId xmlns:p14="http://schemas.microsoft.com/office/powerpoint/2010/main" val="1220251732"/>
              </p:ext>
            </p:extLst>
          </p:nvPr>
        </p:nvGraphicFramePr>
        <p:xfrm>
          <a:off x="3606800" y="5333347"/>
          <a:ext cx="1319213" cy="584200"/>
        </p:xfrm>
        <a:graphic>
          <a:graphicData uri="http://schemas.openxmlformats.org/presentationml/2006/ole">
            <mc:AlternateContent xmlns:mc="http://schemas.openxmlformats.org/markup-compatibility/2006">
              <mc:Choice xmlns:v="urn:schemas-microsoft-com:vml" Requires="v">
                <p:oleObj spid="_x0000_s1451" name="Equation" r:id="rId14" imgW="1091880" imgH="482400" progId="Equation.DSMT4">
                  <p:embed/>
                </p:oleObj>
              </mc:Choice>
              <mc:Fallback>
                <p:oleObj name="Equation" r:id="rId14" imgW="1091880" imgH="482400" progId="Equation.DSMT4">
                  <p:embed/>
                  <p:pic>
                    <p:nvPicPr>
                      <p:cNvPr id="0" name=""/>
                      <p:cNvPicPr/>
                      <p:nvPr/>
                    </p:nvPicPr>
                    <p:blipFill>
                      <a:blip r:embed="rId15"/>
                      <a:stretch>
                        <a:fillRect/>
                      </a:stretch>
                    </p:blipFill>
                    <p:spPr>
                      <a:xfrm>
                        <a:off x="3606800" y="5333347"/>
                        <a:ext cx="1319213" cy="584200"/>
                      </a:xfrm>
                      <a:prstGeom prst="rect">
                        <a:avLst/>
                      </a:prstGeom>
                    </p:spPr>
                  </p:pic>
                </p:oleObj>
              </mc:Fallback>
            </mc:AlternateContent>
          </a:graphicData>
        </a:graphic>
      </p:graphicFrame>
      <p:sp>
        <p:nvSpPr>
          <p:cNvPr id="11" name="Content Placeholder 10">
            <a:extLst>
              <a:ext uri="{FF2B5EF4-FFF2-40B4-BE49-F238E27FC236}">
                <a16:creationId xmlns:a16="http://schemas.microsoft.com/office/drawing/2014/main" id="{50855C44-0EA2-4EEC-9B24-5528317A2836}"/>
              </a:ext>
            </a:extLst>
          </p:cNvPr>
          <p:cNvSpPr>
            <a:spLocks noGrp="1"/>
          </p:cNvSpPr>
          <p:nvPr>
            <p:ph sz="quarter" idx="20"/>
          </p:nvPr>
        </p:nvSpPr>
        <p:spPr>
          <a:xfrm>
            <a:off x="585577" y="6003197"/>
            <a:ext cx="5684519" cy="354049"/>
          </a:xfrm>
        </p:spPr>
        <p:txBody>
          <a:bodyPr lIns="0" tIns="0" rIns="0" bIns="0"/>
          <a:lstStyle/>
          <a:p>
            <a:pPr marL="255600" indent="0">
              <a:buNone/>
            </a:pPr>
            <a:r>
              <a:rPr lang="en-US" altLang="en-US" sz="2000" dirty="0"/>
              <a:t>where </a:t>
            </a:r>
            <a:r>
              <a:rPr lang="en-US" altLang="en-US" sz="2000" i="1" dirty="0"/>
              <a:t>a, b,</a:t>
            </a:r>
            <a:r>
              <a:rPr lang="en-US" altLang="en-US" sz="2000" dirty="0"/>
              <a:t> and </a:t>
            </a:r>
            <a:r>
              <a:rPr lang="en-US" altLang="en-US" sz="2000" i="1" dirty="0"/>
              <a:t>c</a:t>
            </a:r>
            <a:r>
              <a:rPr lang="en-US" altLang="en-US" sz="2000" dirty="0"/>
              <a:t> are allowed to differ from 1.</a:t>
            </a:r>
            <a:endParaRPr lang="en-US" sz="2000" dirty="0"/>
          </a:p>
        </p:txBody>
      </p:sp>
    </p:spTree>
    <p:extLst>
      <p:ext uri="{BB962C8B-B14F-4D97-AF65-F5344CB8AC3E}">
        <p14:creationId xmlns:p14="http://schemas.microsoft.com/office/powerpoint/2010/main" val="20966448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5B14FD-F655-48D7-8009-98E4731DF592}"/>
              </a:ext>
            </a:extLst>
          </p:cNvPr>
          <p:cNvSpPr>
            <a:spLocks noGrp="1"/>
          </p:cNvSpPr>
          <p:nvPr>
            <p:ph type="title"/>
          </p:nvPr>
        </p:nvSpPr>
        <p:spPr/>
        <p:txBody>
          <a:bodyPr/>
          <a:lstStyle/>
          <a:p>
            <a:r>
              <a:rPr lang="en-US" altLang="en-US" sz="3200" dirty="0"/>
              <a:t>Using the Gravity Model: Looking for Anomalies</a:t>
            </a:r>
            <a:endParaRPr lang="en-IN" sz="3200" dirty="0"/>
          </a:p>
        </p:txBody>
      </p:sp>
      <p:sp>
        <p:nvSpPr>
          <p:cNvPr id="3" name="Content Placeholder 2">
            <a:extLst>
              <a:ext uri="{FF2B5EF4-FFF2-40B4-BE49-F238E27FC236}">
                <a16:creationId xmlns:a16="http://schemas.microsoft.com/office/drawing/2014/main" id="{5A0BF109-0E61-4C1D-A152-7B5A5107C223}"/>
              </a:ext>
            </a:extLst>
          </p:cNvPr>
          <p:cNvSpPr>
            <a:spLocks noGrp="1"/>
          </p:cNvSpPr>
          <p:nvPr>
            <p:ph sz="quarter" idx="13"/>
          </p:nvPr>
        </p:nvSpPr>
        <p:spPr/>
        <p:txBody>
          <a:bodyPr/>
          <a:lstStyle/>
          <a:p>
            <a:r>
              <a:rPr lang="en-US" altLang="en-US" sz="2400" dirty="0"/>
              <a:t>A gravity model fits the data on U.S. trade with European countries well but not perfectly.</a:t>
            </a:r>
          </a:p>
          <a:p>
            <a:r>
              <a:rPr lang="en-US" altLang="en-US" sz="2400" dirty="0"/>
              <a:t>The Netherlands, Belgium, and Ireland trade much more with the United States than predicted by a gravity model.</a:t>
            </a:r>
          </a:p>
          <a:p>
            <a:pPr lvl="1"/>
            <a:r>
              <a:rPr lang="en-US" altLang="en-US" sz="2400" dirty="0"/>
              <a:t>Ireland has strong cultural affinity due to common language and history of migration. Ireland also hosts many U.S.-based multinational corporations.</a:t>
            </a:r>
          </a:p>
          <a:p>
            <a:pPr lvl="1"/>
            <a:r>
              <a:rPr lang="en-US" altLang="en-US" sz="2400" dirty="0"/>
              <a:t>The Netherlands and Belgium have transport cost advantages due to their location.</a:t>
            </a:r>
          </a:p>
        </p:txBody>
      </p:sp>
    </p:spTree>
    <p:extLst>
      <p:ext uri="{BB962C8B-B14F-4D97-AF65-F5344CB8AC3E}">
        <p14:creationId xmlns:p14="http://schemas.microsoft.com/office/powerpoint/2010/main" val="22275613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9E888C-46F4-42DA-8570-6635E58D1317}"/>
              </a:ext>
            </a:extLst>
          </p:cNvPr>
          <p:cNvSpPr>
            <a:spLocks noGrp="1"/>
          </p:cNvSpPr>
          <p:nvPr>
            <p:ph type="title"/>
          </p:nvPr>
        </p:nvSpPr>
        <p:spPr/>
        <p:txBody>
          <a:bodyPr/>
          <a:lstStyle/>
          <a:p>
            <a:r>
              <a:rPr lang="en-US" altLang="en-US" sz="3200" dirty="0"/>
              <a:t>Impediments to Trade: Distance, Barriers, and Borders </a:t>
            </a:r>
            <a:r>
              <a:rPr lang="en-US" altLang="en-US" sz="2000" b="0" dirty="0"/>
              <a:t>(1 of 4)</a:t>
            </a:r>
            <a:endParaRPr lang="en-IN" dirty="0"/>
          </a:p>
        </p:txBody>
      </p:sp>
      <p:sp>
        <p:nvSpPr>
          <p:cNvPr id="3" name="Content Placeholder 2">
            <a:extLst>
              <a:ext uri="{FF2B5EF4-FFF2-40B4-BE49-F238E27FC236}">
                <a16:creationId xmlns:a16="http://schemas.microsoft.com/office/drawing/2014/main" id="{A126BDCC-B0C8-4826-A6CE-AC635B1D80DF}"/>
              </a:ext>
            </a:extLst>
          </p:cNvPr>
          <p:cNvSpPr>
            <a:spLocks noGrp="1"/>
          </p:cNvSpPr>
          <p:nvPr>
            <p:ph sz="quarter" idx="13"/>
          </p:nvPr>
        </p:nvSpPr>
        <p:spPr>
          <a:xfrm>
            <a:off x="457200" y="1556327"/>
            <a:ext cx="8229600" cy="4775647"/>
          </a:xfrm>
        </p:spPr>
        <p:txBody>
          <a:bodyPr/>
          <a:lstStyle/>
          <a:p>
            <a:pPr marL="0" indent="0">
              <a:spcBef>
                <a:spcPts val="1000"/>
              </a:spcBef>
              <a:buNone/>
            </a:pPr>
            <a:r>
              <a:rPr lang="en-US" altLang="en-US" sz="2000" dirty="0"/>
              <a:t>Other things besides size matter for trade:</a:t>
            </a:r>
          </a:p>
          <a:p>
            <a:pPr marL="432000" indent="-432000">
              <a:buFont typeface="Times" pitchFamily="-1" charset="0"/>
              <a:buAutoNum type="arabicPeriod"/>
            </a:pPr>
            <a:r>
              <a:rPr lang="en-US" altLang="en-US" sz="2000" b="1" dirty="0"/>
              <a:t>Distance</a:t>
            </a:r>
            <a:r>
              <a:rPr lang="en-US" altLang="en-US" sz="2000" dirty="0"/>
              <a:t> between markets influences transportation costs and therefore the cost of imports and exports.</a:t>
            </a:r>
          </a:p>
          <a:p>
            <a:pPr marL="432000" indent="-432000">
              <a:buFont typeface="Times" pitchFamily="-1" charset="0"/>
              <a:buAutoNum type="arabicPeriod" startAt="2"/>
            </a:pPr>
            <a:r>
              <a:rPr lang="en-US" altLang="en-US" sz="2000" b="1" dirty="0"/>
              <a:t>Cultural affinity:</a:t>
            </a:r>
            <a:r>
              <a:rPr lang="en-US" altLang="en-US" sz="2000" dirty="0"/>
              <a:t> close cultural ties, such as a common language, usually lead to strong economic ties.</a:t>
            </a:r>
          </a:p>
          <a:p>
            <a:pPr marL="432000" indent="-432000">
              <a:buFont typeface="Times" pitchFamily="-1" charset="0"/>
              <a:buAutoNum type="arabicPeriod" startAt="2"/>
            </a:pPr>
            <a:r>
              <a:rPr lang="en-US" altLang="en-US" sz="2000" b="1" dirty="0"/>
              <a:t>Geography:</a:t>
            </a:r>
            <a:r>
              <a:rPr lang="en-US" altLang="en-US" sz="2000" dirty="0"/>
              <a:t> ocean harbors and a lack of mountain barriers make transportation and trade easier.</a:t>
            </a:r>
          </a:p>
          <a:p>
            <a:pPr marL="432000" indent="-432000">
              <a:buFont typeface="Times" pitchFamily="-1" charset="0"/>
              <a:buAutoNum type="arabicPeriod" startAt="4"/>
            </a:pPr>
            <a:r>
              <a:rPr lang="en-US" altLang="en-US" sz="2000" b="1" dirty="0"/>
              <a:t>Multinational corporations:</a:t>
            </a:r>
            <a:r>
              <a:rPr lang="en-US" altLang="en-US" sz="2000" dirty="0"/>
              <a:t> corporations spread across different nations import and export many goods between their divisions.</a:t>
            </a:r>
          </a:p>
          <a:p>
            <a:pPr marL="432000" indent="-432000">
              <a:buFont typeface="Times" pitchFamily="-1" charset="0"/>
              <a:buAutoNum type="arabicPeriod" startAt="4"/>
            </a:pPr>
            <a:r>
              <a:rPr lang="en-US" altLang="en-US" sz="2000" b="1" dirty="0"/>
              <a:t>Borders:</a:t>
            </a:r>
            <a:r>
              <a:rPr lang="en-US" altLang="en-US" sz="2000" dirty="0"/>
              <a:t> crossing borders involves formalities that take time, often different currencies need to be exchanged, and perhaps monetary costs like tariffs reduce trade.</a:t>
            </a:r>
          </a:p>
        </p:txBody>
      </p:sp>
    </p:spTree>
    <p:extLst>
      <p:ext uri="{BB962C8B-B14F-4D97-AF65-F5344CB8AC3E}">
        <p14:creationId xmlns:p14="http://schemas.microsoft.com/office/powerpoint/2010/main" val="17634086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9E888C-46F4-42DA-8570-6635E58D1317}"/>
              </a:ext>
            </a:extLst>
          </p:cNvPr>
          <p:cNvSpPr>
            <a:spLocks noGrp="1"/>
          </p:cNvSpPr>
          <p:nvPr>
            <p:ph type="title"/>
          </p:nvPr>
        </p:nvSpPr>
        <p:spPr/>
        <p:txBody>
          <a:bodyPr/>
          <a:lstStyle/>
          <a:p>
            <a:r>
              <a:rPr lang="en-US" altLang="en-US" sz="3200" dirty="0"/>
              <a:t>Impediments to Trade: Distance, Barriers, and Borders </a:t>
            </a:r>
            <a:r>
              <a:rPr lang="en-US" altLang="en-US" sz="2000" b="0" dirty="0"/>
              <a:t>(2 of 4)</a:t>
            </a:r>
            <a:endParaRPr lang="en-IN" dirty="0"/>
          </a:p>
        </p:txBody>
      </p:sp>
      <p:sp>
        <p:nvSpPr>
          <p:cNvPr id="3" name="Content Placeholder 2">
            <a:extLst>
              <a:ext uri="{FF2B5EF4-FFF2-40B4-BE49-F238E27FC236}">
                <a16:creationId xmlns:a16="http://schemas.microsoft.com/office/drawing/2014/main" id="{A126BDCC-B0C8-4826-A6CE-AC635B1D80DF}"/>
              </a:ext>
            </a:extLst>
          </p:cNvPr>
          <p:cNvSpPr>
            <a:spLocks noGrp="1"/>
          </p:cNvSpPr>
          <p:nvPr>
            <p:ph sz="quarter" idx="13"/>
          </p:nvPr>
        </p:nvSpPr>
        <p:spPr>
          <a:xfrm>
            <a:off x="457200" y="1556327"/>
            <a:ext cx="8229600" cy="4331517"/>
          </a:xfrm>
        </p:spPr>
        <p:txBody>
          <a:bodyPr/>
          <a:lstStyle/>
          <a:p>
            <a:r>
              <a:rPr lang="en-US" altLang="en-US" dirty="0"/>
              <a:t>Estimates of the effect of distance from the gravity model predict that a 1 percent increase in the distance between countries is associated with a decrease in the volume of trade of 0.7 percent to 1 percent.</a:t>
            </a:r>
          </a:p>
          <a:p>
            <a:r>
              <a:rPr lang="en-US" altLang="en-US" dirty="0"/>
              <a:t>Besides distance, borders increase the cost and time needed to trade.</a:t>
            </a:r>
          </a:p>
          <a:p>
            <a:r>
              <a:rPr lang="en-US" altLang="en-US" b="1" dirty="0"/>
              <a:t>Trade agreements</a:t>
            </a:r>
            <a:r>
              <a:rPr lang="en-US" altLang="en-US" dirty="0"/>
              <a:t> between countries are intended to reduce the formalities and tariffs needed to cross borders and, therefore, to increase trade.</a:t>
            </a:r>
          </a:p>
        </p:txBody>
      </p:sp>
    </p:spTree>
    <p:extLst>
      <p:ext uri="{BB962C8B-B14F-4D97-AF65-F5344CB8AC3E}">
        <p14:creationId xmlns:p14="http://schemas.microsoft.com/office/powerpoint/2010/main" val="2755564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9E888C-46F4-42DA-8570-6635E58D1317}"/>
              </a:ext>
            </a:extLst>
          </p:cNvPr>
          <p:cNvSpPr>
            <a:spLocks noGrp="1"/>
          </p:cNvSpPr>
          <p:nvPr>
            <p:ph type="title"/>
          </p:nvPr>
        </p:nvSpPr>
        <p:spPr/>
        <p:txBody>
          <a:bodyPr/>
          <a:lstStyle/>
          <a:p>
            <a:r>
              <a:rPr lang="en-US" altLang="en-US" sz="3200" dirty="0" smtClean="0"/>
              <a:t>Impediments to Trade: Distance, Barriers, and Borders </a:t>
            </a:r>
            <a:r>
              <a:rPr lang="en-US" altLang="en-US" sz="2000" b="0" dirty="0" smtClean="0"/>
              <a:t>(3 of 4)</a:t>
            </a:r>
            <a:endParaRPr lang="en-US" dirty="0"/>
          </a:p>
        </p:txBody>
      </p:sp>
      <p:sp>
        <p:nvSpPr>
          <p:cNvPr id="3" name="Content Placeholder 2">
            <a:extLst>
              <a:ext uri="{FF2B5EF4-FFF2-40B4-BE49-F238E27FC236}">
                <a16:creationId xmlns:a16="http://schemas.microsoft.com/office/drawing/2014/main" id="{A126BDCC-B0C8-4826-A6CE-AC635B1D80DF}"/>
              </a:ext>
            </a:extLst>
          </p:cNvPr>
          <p:cNvSpPr>
            <a:spLocks noGrp="1"/>
          </p:cNvSpPr>
          <p:nvPr>
            <p:ph sz="quarter" idx="13"/>
          </p:nvPr>
        </p:nvSpPr>
        <p:spPr>
          <a:xfrm>
            <a:off x="457200" y="1556327"/>
            <a:ext cx="8111067" cy="4788911"/>
          </a:xfrm>
        </p:spPr>
        <p:txBody>
          <a:bodyPr/>
          <a:lstStyle/>
          <a:p>
            <a:r>
              <a:rPr lang="en-US" altLang="en-US" sz="2200" dirty="0" smtClean="0"/>
              <a:t>The United States signed a free trade agreement with Mexico and Canada in 1994, the North American Free Trade Agreement (N</a:t>
            </a:r>
            <a:r>
              <a:rPr lang="en-US" altLang="en-US" sz="100" dirty="0" smtClean="0"/>
              <a:t> </a:t>
            </a:r>
            <a:r>
              <a:rPr lang="en-US" altLang="en-US" sz="2200" dirty="0" smtClean="0"/>
              <a:t>A</a:t>
            </a:r>
            <a:r>
              <a:rPr lang="en-US" altLang="en-US" sz="100" dirty="0" smtClean="0"/>
              <a:t> </a:t>
            </a:r>
            <a:r>
              <a:rPr lang="en-US" altLang="en-US" sz="2200" dirty="0" smtClean="0"/>
              <a:t>F</a:t>
            </a:r>
            <a:r>
              <a:rPr lang="en-US" altLang="en-US" sz="100" dirty="0" smtClean="0"/>
              <a:t> </a:t>
            </a:r>
            <a:r>
              <a:rPr lang="en-US" altLang="en-US" sz="2200" dirty="0" smtClean="0"/>
              <a:t>T</a:t>
            </a:r>
            <a:r>
              <a:rPr lang="en-US" altLang="en-US" sz="100" dirty="0" smtClean="0"/>
              <a:t> </a:t>
            </a:r>
            <a:r>
              <a:rPr lang="en-US" altLang="en-US" sz="2200" dirty="0" smtClean="0"/>
              <a:t>A), which was replaced in 2020 with a slightly modified agreement, the U.S.-Mexico-Canada agreement (U</a:t>
            </a:r>
            <a:r>
              <a:rPr lang="en-US" altLang="en-US" sz="100" dirty="0" smtClean="0"/>
              <a:t> </a:t>
            </a:r>
            <a:r>
              <a:rPr lang="en-US" altLang="en-US" sz="2200" dirty="0" smtClean="0"/>
              <a:t>S</a:t>
            </a:r>
            <a:r>
              <a:rPr lang="en-US" altLang="en-US" sz="100" dirty="0" smtClean="0"/>
              <a:t> </a:t>
            </a:r>
            <a:r>
              <a:rPr lang="en-US" altLang="en-US" sz="2200" dirty="0" smtClean="0"/>
              <a:t>M</a:t>
            </a:r>
            <a:r>
              <a:rPr lang="en-US" altLang="en-US" sz="100" dirty="0" smtClean="0"/>
              <a:t> </a:t>
            </a:r>
            <a:r>
              <a:rPr lang="en-US" altLang="en-US" sz="2200" dirty="0" smtClean="0"/>
              <a:t>C</a:t>
            </a:r>
            <a:r>
              <a:rPr lang="en-US" altLang="en-US" sz="100" dirty="0" smtClean="0"/>
              <a:t> </a:t>
            </a:r>
            <a:r>
              <a:rPr lang="en-US" altLang="en-US" sz="2200" dirty="0" smtClean="0"/>
              <a:t>A).</a:t>
            </a:r>
          </a:p>
          <a:p>
            <a:r>
              <a:rPr lang="en-US" altLang="en-US" sz="2200" dirty="0" smtClean="0"/>
              <a:t>Due to N</a:t>
            </a:r>
            <a:r>
              <a:rPr lang="en-US" altLang="en-US" sz="100" dirty="0" smtClean="0"/>
              <a:t> </a:t>
            </a:r>
            <a:r>
              <a:rPr lang="en-US" altLang="en-US" sz="2200" dirty="0" smtClean="0"/>
              <a:t>A</a:t>
            </a:r>
            <a:r>
              <a:rPr lang="en-US" altLang="en-US" sz="100" dirty="0" smtClean="0"/>
              <a:t> </a:t>
            </a:r>
            <a:r>
              <a:rPr lang="en-US" altLang="en-US" sz="2200" dirty="0" smtClean="0"/>
              <a:t>F</a:t>
            </a:r>
            <a:r>
              <a:rPr lang="en-US" altLang="en-US" sz="100" dirty="0" smtClean="0"/>
              <a:t>3</a:t>
            </a:r>
            <a:r>
              <a:rPr lang="en-US" altLang="en-US" sz="2200" dirty="0" smtClean="0"/>
              <a:t>T</a:t>
            </a:r>
            <a:r>
              <a:rPr lang="en-US" altLang="en-US" sz="100" dirty="0" smtClean="0"/>
              <a:t>.</a:t>
            </a:r>
            <a:r>
              <a:rPr lang="en-US" altLang="en-US" sz="2200" dirty="0" smtClean="0"/>
              <a:t>A and because Mexico and Canada are close to the United States, the amount of trade between the United States and its northern and southern neighbors as a fraction of G</a:t>
            </a:r>
            <a:r>
              <a:rPr lang="en-US" altLang="en-US" sz="100" dirty="0" smtClean="0"/>
              <a:t> </a:t>
            </a:r>
            <a:r>
              <a:rPr lang="en-US" altLang="en-US" sz="2200" dirty="0" smtClean="0"/>
              <a:t>D</a:t>
            </a:r>
            <a:r>
              <a:rPr lang="en-US" altLang="en-US" sz="100" dirty="0" smtClean="0"/>
              <a:t> </a:t>
            </a:r>
            <a:r>
              <a:rPr lang="en-US" altLang="en-US" sz="2200" dirty="0" smtClean="0"/>
              <a:t>P is much larger than between the United States and European countries.</a:t>
            </a:r>
          </a:p>
          <a:p>
            <a:pPr lvl="1"/>
            <a:r>
              <a:rPr lang="en-US" altLang="en-US" sz="2200" dirty="0" smtClean="0"/>
              <a:t>Canada</a:t>
            </a:r>
            <a:r>
              <a:rPr lang="en-US" altLang="ja-JP" sz="2200" dirty="0" smtClean="0"/>
              <a:t>’s economy is roughly the same size as Spain’s (around 10 percent of </a:t>
            </a:r>
            <a:r>
              <a:rPr lang="en-US" altLang="ja-JP" sz="2000" dirty="0" smtClean="0"/>
              <a:t>E</a:t>
            </a:r>
            <a:r>
              <a:rPr lang="en-US" altLang="ja-JP" sz="100" dirty="0" smtClean="0"/>
              <a:t> </a:t>
            </a:r>
            <a:r>
              <a:rPr lang="en-US" altLang="ja-JP" sz="2000" dirty="0" smtClean="0"/>
              <a:t>U G</a:t>
            </a:r>
            <a:r>
              <a:rPr lang="en-US" altLang="ja-JP" sz="100" dirty="0" smtClean="0"/>
              <a:t> </a:t>
            </a:r>
            <a:r>
              <a:rPr lang="en-US" altLang="ja-JP" sz="2000" dirty="0" smtClean="0"/>
              <a:t>D</a:t>
            </a:r>
            <a:r>
              <a:rPr lang="en-US" altLang="ja-JP" sz="100" dirty="0" smtClean="0"/>
              <a:t> </a:t>
            </a:r>
            <a:r>
              <a:rPr lang="en-US" altLang="ja-JP" sz="2000" dirty="0" smtClean="0"/>
              <a:t>P</a:t>
            </a:r>
            <a:r>
              <a:rPr lang="en-US" altLang="ja-JP" sz="2200" dirty="0" smtClean="0"/>
              <a:t>) but Canada trades as much with the United States as does all of Europe.</a:t>
            </a:r>
            <a:endParaRPr lang="en-US" altLang="en-US" sz="2200" dirty="0"/>
          </a:p>
        </p:txBody>
      </p:sp>
    </p:spTree>
    <p:extLst>
      <p:ext uri="{BB962C8B-B14F-4D97-AF65-F5344CB8AC3E}">
        <p14:creationId xmlns:p14="http://schemas.microsoft.com/office/powerpoint/2010/main" val="9169095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380BDF-C9DE-445B-873B-1189C22C1F33}"/>
              </a:ext>
            </a:extLst>
          </p:cNvPr>
          <p:cNvSpPr>
            <a:spLocks noGrp="1"/>
          </p:cNvSpPr>
          <p:nvPr>
            <p:ph type="title"/>
          </p:nvPr>
        </p:nvSpPr>
        <p:spPr/>
        <p:txBody>
          <a:bodyPr/>
          <a:lstStyle/>
          <a:p>
            <a:r>
              <a:rPr lang="en-US" altLang="en-US" sz="3200" dirty="0"/>
              <a:t>Figure 2.3 Economic Size and Trade with the United States</a:t>
            </a:r>
            <a:endParaRPr lang="en-IN" sz="3200" dirty="0"/>
          </a:p>
        </p:txBody>
      </p:sp>
      <p:pic>
        <p:nvPicPr>
          <p:cNvPr id="6" name="Content Placeholder 5" descr="A scatterplot depicts the economic size of countries and trade with the United States. For long description in Notes pane, press F6.">
            <a:extLst>
              <a:ext uri="{FF2B5EF4-FFF2-40B4-BE49-F238E27FC236}">
                <a16:creationId xmlns:a16="http://schemas.microsoft.com/office/drawing/2014/main" id="{49F6FF8D-6C59-434B-A66E-54772F12EA2A}"/>
              </a:ext>
            </a:extLst>
          </p:cNvPr>
          <p:cNvPicPr>
            <a:picLocks noGrp="1" noChangeAspect="1"/>
          </p:cNvPicPr>
          <p:nvPr>
            <p:ph sz="quarter" idx="13"/>
          </p:nvPr>
        </p:nvPicPr>
        <p:blipFill>
          <a:blip r:embed="rId3"/>
          <a:stretch>
            <a:fillRect/>
          </a:stretch>
        </p:blipFill>
        <p:spPr>
          <a:xfrm>
            <a:off x="2411924" y="1628069"/>
            <a:ext cx="4320153" cy="3388126"/>
          </a:xfrm>
        </p:spPr>
      </p:pic>
      <p:sp>
        <p:nvSpPr>
          <p:cNvPr id="4" name="Content Placeholder 3">
            <a:extLst>
              <a:ext uri="{FF2B5EF4-FFF2-40B4-BE49-F238E27FC236}">
                <a16:creationId xmlns:a16="http://schemas.microsoft.com/office/drawing/2014/main" id="{06D9DD77-E069-44CC-9C75-E266CCFD156E}"/>
              </a:ext>
            </a:extLst>
          </p:cNvPr>
          <p:cNvSpPr>
            <a:spLocks noGrp="1"/>
          </p:cNvSpPr>
          <p:nvPr>
            <p:ph sz="quarter" idx="14"/>
          </p:nvPr>
        </p:nvSpPr>
        <p:spPr>
          <a:xfrm>
            <a:off x="457200" y="5107259"/>
            <a:ext cx="8229600" cy="1259623"/>
          </a:xfrm>
        </p:spPr>
        <p:txBody>
          <a:bodyPr/>
          <a:lstStyle/>
          <a:p>
            <a:pPr marL="0" indent="0">
              <a:buNone/>
            </a:pPr>
            <a:r>
              <a:rPr lang="en-US" sz="2000" dirty="0"/>
              <a:t>The United States does markedly more trade with its neighbors than it does with European economies of the same size.</a:t>
            </a:r>
          </a:p>
          <a:p>
            <a:pPr marL="0" indent="0">
              <a:spcBef>
                <a:spcPts val="1200"/>
              </a:spcBef>
              <a:buNone/>
            </a:pPr>
            <a:r>
              <a:rPr lang="en-US" sz="1800" b="1" dirty="0"/>
              <a:t>Source: </a:t>
            </a:r>
            <a:r>
              <a:rPr lang="en-US" sz="1800" dirty="0"/>
              <a:t>U.S. Department of Commerce, European Commission.</a:t>
            </a:r>
          </a:p>
        </p:txBody>
      </p:sp>
    </p:spTree>
    <p:extLst>
      <p:ext uri="{BB962C8B-B14F-4D97-AF65-F5344CB8AC3E}">
        <p14:creationId xmlns:p14="http://schemas.microsoft.com/office/powerpoint/2010/main" val="12839001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9E888C-46F4-42DA-8570-6635E58D1317}"/>
              </a:ext>
            </a:extLst>
          </p:cNvPr>
          <p:cNvSpPr>
            <a:spLocks noGrp="1"/>
          </p:cNvSpPr>
          <p:nvPr>
            <p:ph type="title"/>
          </p:nvPr>
        </p:nvSpPr>
        <p:spPr/>
        <p:txBody>
          <a:bodyPr/>
          <a:lstStyle/>
          <a:p>
            <a:r>
              <a:rPr lang="en-US" altLang="en-US" sz="3200" dirty="0"/>
              <a:t>Impediments to Trade: Distance, Barriers, and Borders </a:t>
            </a:r>
            <a:r>
              <a:rPr lang="en-US" altLang="en-US" sz="2000" b="0" dirty="0"/>
              <a:t>(4 of 4)</a:t>
            </a:r>
            <a:endParaRPr lang="en-IN" dirty="0"/>
          </a:p>
        </p:txBody>
      </p:sp>
      <p:sp>
        <p:nvSpPr>
          <p:cNvPr id="3" name="Content Placeholder 2">
            <a:extLst>
              <a:ext uri="{FF2B5EF4-FFF2-40B4-BE49-F238E27FC236}">
                <a16:creationId xmlns:a16="http://schemas.microsoft.com/office/drawing/2014/main" id="{A126BDCC-B0C8-4826-A6CE-AC635B1D80DF}"/>
              </a:ext>
            </a:extLst>
          </p:cNvPr>
          <p:cNvSpPr>
            <a:spLocks noGrp="1"/>
          </p:cNvSpPr>
          <p:nvPr>
            <p:ph sz="quarter" idx="13"/>
          </p:nvPr>
        </p:nvSpPr>
        <p:spPr>
          <a:xfrm>
            <a:off x="457199" y="1556327"/>
            <a:ext cx="8043333" cy="4788911"/>
          </a:xfrm>
        </p:spPr>
        <p:txBody>
          <a:bodyPr/>
          <a:lstStyle/>
          <a:p>
            <a:r>
              <a:rPr lang="en-US" altLang="en-US" dirty="0"/>
              <a:t>Yet even with a free trade agreement between the United States and Canada, which mostly use a common language, the border between these countries still reduces trade.</a:t>
            </a:r>
          </a:p>
          <a:p>
            <a:r>
              <a:rPr lang="en-US" altLang="en-US" dirty="0"/>
              <a:t>Data shows that there is much more trade between pairs of Canadian provinces than between Canadian provinces and U.S. states, even when holding distance constant.</a:t>
            </a:r>
          </a:p>
          <a:p>
            <a:r>
              <a:rPr lang="en-US" altLang="en-US" dirty="0"/>
              <a:t>Estimates indicate that the U.S.-Canadian border deters trade as much as if the countries were 1,500</a:t>
            </a:r>
            <a:r>
              <a:rPr lang="en-US" altLang="en-US" dirty="0">
                <a:cs typeface="Times New Roman" panose="02020603050405020304" pitchFamily="18" charset="0"/>
              </a:rPr>
              <a:t>–</a:t>
            </a:r>
            <a:r>
              <a:rPr lang="en-US" altLang="en-US" dirty="0"/>
              <a:t>2,500 miles apart.</a:t>
            </a:r>
          </a:p>
        </p:txBody>
      </p:sp>
    </p:spTree>
    <p:extLst>
      <p:ext uri="{BB962C8B-B14F-4D97-AF65-F5344CB8AC3E}">
        <p14:creationId xmlns:p14="http://schemas.microsoft.com/office/powerpoint/2010/main" val="28792352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18232B-0EE7-400A-90CE-BE0785C5E1B8}"/>
              </a:ext>
            </a:extLst>
          </p:cNvPr>
          <p:cNvSpPr>
            <a:spLocks noGrp="1"/>
          </p:cNvSpPr>
          <p:nvPr>
            <p:ph type="title"/>
          </p:nvPr>
        </p:nvSpPr>
        <p:spPr/>
        <p:txBody>
          <a:bodyPr/>
          <a:lstStyle/>
          <a:p>
            <a:r>
              <a:rPr lang="en-US" altLang="en-US" sz="3000" dirty="0"/>
              <a:t>Figure 2.4 Canadian Provinces and U.S. States that Trade with British Columbia</a:t>
            </a:r>
            <a:endParaRPr lang="en-IN" sz="3000" dirty="0"/>
          </a:p>
        </p:txBody>
      </p:sp>
      <p:pic>
        <p:nvPicPr>
          <p:cNvPr id="6" name="Content Placeholder 5" descr="A map depicts the Canadian provinces and U S states that trade with British Columbia. For long description in Notes pane, press F6.">
            <a:extLst>
              <a:ext uri="{FF2B5EF4-FFF2-40B4-BE49-F238E27FC236}">
                <a16:creationId xmlns:a16="http://schemas.microsoft.com/office/drawing/2014/main" id="{4F2A4731-A185-40F6-8A99-5D9847A51F94}"/>
              </a:ext>
            </a:extLst>
          </p:cNvPr>
          <p:cNvPicPr>
            <a:picLocks noGrp="1" noChangeAspect="1"/>
          </p:cNvPicPr>
          <p:nvPr>
            <p:ph sz="quarter" idx="13"/>
          </p:nvPr>
        </p:nvPicPr>
        <p:blipFill>
          <a:blip r:embed="rId3"/>
          <a:stretch>
            <a:fillRect/>
          </a:stretch>
        </p:blipFill>
        <p:spPr>
          <a:xfrm>
            <a:off x="1918641" y="1614817"/>
            <a:ext cx="5306716" cy="4099632"/>
          </a:xfrm>
        </p:spPr>
      </p:pic>
      <p:sp>
        <p:nvSpPr>
          <p:cNvPr id="4" name="Content Placeholder 3">
            <a:extLst>
              <a:ext uri="{FF2B5EF4-FFF2-40B4-BE49-F238E27FC236}">
                <a16:creationId xmlns:a16="http://schemas.microsoft.com/office/drawing/2014/main" id="{4A2E2C87-43E7-40D2-9EFD-A2A79EDB0E37}"/>
              </a:ext>
            </a:extLst>
          </p:cNvPr>
          <p:cNvSpPr>
            <a:spLocks noGrp="1"/>
          </p:cNvSpPr>
          <p:nvPr>
            <p:ph sz="quarter" idx="14"/>
          </p:nvPr>
        </p:nvSpPr>
        <p:spPr>
          <a:xfrm>
            <a:off x="457200" y="5873101"/>
            <a:ext cx="7638585" cy="460410"/>
          </a:xfrm>
        </p:spPr>
        <p:txBody>
          <a:bodyPr/>
          <a:lstStyle/>
          <a:p>
            <a:pPr marL="432" indent="0">
              <a:buNone/>
            </a:pPr>
            <a:r>
              <a:rPr lang="en-US" sz="1800" b="1" dirty="0"/>
              <a:t>Source: </a:t>
            </a:r>
            <a:r>
              <a:rPr lang="en-US" sz="1800" dirty="0"/>
              <a:t>Statistics Canada, U.S. Department of Commerce.</a:t>
            </a:r>
          </a:p>
        </p:txBody>
      </p:sp>
    </p:spTree>
    <p:extLst>
      <p:ext uri="{BB962C8B-B14F-4D97-AF65-F5344CB8AC3E}">
        <p14:creationId xmlns:p14="http://schemas.microsoft.com/office/powerpoint/2010/main" val="2680811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0FE199-E200-43AD-BC3E-D031EDB5F1FC}"/>
              </a:ext>
            </a:extLst>
          </p:cNvPr>
          <p:cNvSpPr>
            <a:spLocks noGrp="1"/>
          </p:cNvSpPr>
          <p:nvPr>
            <p:ph type="title"/>
          </p:nvPr>
        </p:nvSpPr>
        <p:spPr>
          <a:xfrm>
            <a:off x="457200" y="215371"/>
            <a:ext cx="8064229" cy="1097279"/>
          </a:xfrm>
        </p:spPr>
        <p:txBody>
          <a:bodyPr/>
          <a:lstStyle/>
          <a:p>
            <a:r>
              <a:rPr lang="en-US" altLang="en-US" sz="3200" dirty="0"/>
              <a:t>Table 2.1 Trade with British Columbia, as Percent of G</a:t>
            </a:r>
            <a:r>
              <a:rPr lang="en-US" altLang="en-US" sz="100" dirty="0"/>
              <a:t> </a:t>
            </a:r>
            <a:r>
              <a:rPr lang="en-US" altLang="en-US" sz="3200" dirty="0"/>
              <a:t>D</a:t>
            </a:r>
            <a:r>
              <a:rPr lang="en-US" altLang="en-US" sz="100" dirty="0"/>
              <a:t> </a:t>
            </a:r>
            <a:r>
              <a:rPr lang="en-US" altLang="en-US" sz="3200" dirty="0"/>
              <a:t>P, 2009</a:t>
            </a:r>
            <a:endParaRPr lang="en-IN" sz="3200" dirty="0"/>
          </a:p>
        </p:txBody>
      </p:sp>
      <p:graphicFrame>
        <p:nvGraphicFramePr>
          <p:cNvPr id="5" name="Table 5">
            <a:extLst>
              <a:ext uri="{FF2B5EF4-FFF2-40B4-BE49-F238E27FC236}">
                <a16:creationId xmlns:a16="http://schemas.microsoft.com/office/drawing/2014/main" id="{0503D1F3-93A3-46F7-9692-5B78A9C81AB6}"/>
              </a:ext>
            </a:extLst>
          </p:cNvPr>
          <p:cNvGraphicFramePr>
            <a:graphicFrameLocks noGrp="1"/>
          </p:cNvGraphicFramePr>
          <p:nvPr>
            <p:ph sz="quarter" idx="13"/>
            <p:extLst>
              <p:ext uri="{D42A27DB-BD31-4B8C-83A1-F6EECF244321}">
                <p14:modId xmlns:p14="http://schemas.microsoft.com/office/powerpoint/2010/main" val="2795441930"/>
              </p:ext>
            </p:extLst>
          </p:nvPr>
        </p:nvGraphicFramePr>
        <p:xfrm>
          <a:off x="556154" y="1700213"/>
          <a:ext cx="7694341" cy="3048000"/>
        </p:xfrm>
        <a:graphic>
          <a:graphicData uri="http://schemas.openxmlformats.org/drawingml/2006/table">
            <a:tbl>
              <a:tblPr firstRow="1" bandRow="1">
                <a:tableStyleId>{2D5ABB26-0587-4C30-8999-92F81FD0307C}</a:tableStyleId>
              </a:tblPr>
              <a:tblGrid>
                <a:gridCol w="1679045">
                  <a:extLst>
                    <a:ext uri="{9D8B030D-6E8A-4147-A177-3AD203B41FA5}">
                      <a16:colId xmlns:a16="http://schemas.microsoft.com/office/drawing/2014/main" val="1999993566"/>
                    </a:ext>
                  </a:extLst>
                </a:gridCol>
                <a:gridCol w="1749778">
                  <a:extLst>
                    <a:ext uri="{9D8B030D-6E8A-4147-A177-3AD203B41FA5}">
                      <a16:colId xmlns:a16="http://schemas.microsoft.com/office/drawing/2014/main" val="383463614"/>
                    </a:ext>
                  </a:extLst>
                </a:gridCol>
                <a:gridCol w="1899083">
                  <a:extLst>
                    <a:ext uri="{9D8B030D-6E8A-4147-A177-3AD203B41FA5}">
                      <a16:colId xmlns:a16="http://schemas.microsoft.com/office/drawing/2014/main" val="1563441966"/>
                    </a:ext>
                  </a:extLst>
                </a:gridCol>
                <a:gridCol w="2366435">
                  <a:extLst>
                    <a:ext uri="{9D8B030D-6E8A-4147-A177-3AD203B41FA5}">
                      <a16:colId xmlns:a16="http://schemas.microsoft.com/office/drawing/2014/main" val="2763602433"/>
                    </a:ext>
                  </a:extLst>
                </a:gridCol>
              </a:tblGrid>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t>Canadian</a:t>
                      </a:r>
                      <a:r>
                        <a:rPr lang="en-US" sz="1600" b="1" baseline="0" dirty="0"/>
                        <a:t> </a:t>
                      </a:r>
                      <a:r>
                        <a:rPr lang="en-US" sz="1600" b="1" dirty="0"/>
                        <a:t>Province</a:t>
                      </a:r>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1" dirty="0"/>
                        <a:t>Trade as</a:t>
                      </a:r>
                      <a:r>
                        <a:rPr lang="en-US" sz="1600" b="1" baseline="0" dirty="0"/>
                        <a:t> </a:t>
                      </a:r>
                      <a:r>
                        <a:rPr lang="en-US" sz="1600" b="1" dirty="0"/>
                        <a:t>Percent of G</a:t>
                      </a:r>
                      <a:r>
                        <a:rPr lang="en-US" sz="100" b="1" dirty="0"/>
                        <a:t> </a:t>
                      </a:r>
                      <a:r>
                        <a:rPr lang="en-US" sz="1600" b="1" dirty="0"/>
                        <a:t>D</a:t>
                      </a:r>
                      <a:r>
                        <a:rPr lang="en-US" sz="100" b="1" dirty="0"/>
                        <a:t> </a:t>
                      </a:r>
                      <a:r>
                        <a:rPr lang="en-US" sz="1600" b="1" dirty="0"/>
                        <a:t>P</a:t>
                      </a:r>
                      <a:endParaRPr lang="en-IN" sz="1600" b="1" dirty="0"/>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t>Trade as</a:t>
                      </a:r>
                      <a:r>
                        <a:rPr lang="en-US" sz="1600" b="1" baseline="0" dirty="0"/>
                        <a:t> </a:t>
                      </a:r>
                      <a:r>
                        <a:rPr lang="en-US" sz="1600" b="1" dirty="0"/>
                        <a:t>Percent</a:t>
                      </a:r>
                      <a:r>
                        <a:rPr lang="en-US" sz="1600" b="1" baseline="0" dirty="0"/>
                        <a:t> of G</a:t>
                      </a:r>
                      <a:r>
                        <a:rPr lang="en-US" sz="100" b="1" baseline="0" dirty="0"/>
                        <a:t> </a:t>
                      </a:r>
                      <a:r>
                        <a:rPr lang="en-US" sz="1600" b="1" baseline="0" dirty="0"/>
                        <a:t>D</a:t>
                      </a:r>
                      <a:r>
                        <a:rPr lang="en-US" sz="100" b="1" baseline="0" dirty="0"/>
                        <a:t> </a:t>
                      </a:r>
                      <a:r>
                        <a:rPr lang="en-US" sz="1600" b="1" baseline="0" dirty="0"/>
                        <a:t>P</a:t>
                      </a:r>
                      <a:endParaRPr lang="en-US" sz="1600" b="1" dirty="0"/>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1" dirty="0"/>
                        <a:t>U.S. State at</a:t>
                      </a:r>
                      <a:r>
                        <a:rPr lang="en-US" sz="1600" b="1" baseline="0" dirty="0"/>
                        <a:t> </a:t>
                      </a:r>
                      <a:r>
                        <a:rPr lang="en-US" sz="1600" b="1" dirty="0"/>
                        <a:t>Similar Distance</a:t>
                      </a:r>
                      <a:r>
                        <a:rPr lang="en-US" sz="1600" b="1" baseline="0" dirty="0"/>
                        <a:t> </a:t>
                      </a:r>
                      <a:r>
                        <a:rPr lang="en-US" sz="1600" b="1" dirty="0"/>
                        <a:t>From British Columbia</a:t>
                      </a:r>
                      <a:endParaRPr lang="en-IN" sz="1600" b="1" dirty="0"/>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739882475"/>
                  </a:ext>
                </a:extLst>
              </a:tr>
              <a:tr h="370840">
                <a:tc>
                  <a:txBody>
                    <a:bodyPr/>
                    <a:lstStyle/>
                    <a:p>
                      <a:r>
                        <a:rPr lang="en-US" sz="1600" dirty="0"/>
                        <a:t>Alberta</a:t>
                      </a:r>
                      <a:endParaRPr lang="en-IN" sz="16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t>6.9</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t>2.6</a:t>
                      </a:r>
                      <a:endParaRPr lang="en-IN" sz="16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600" dirty="0"/>
                        <a:t>Washington</a:t>
                      </a:r>
                      <a:endParaRPr lang="en-IN" sz="16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607398253"/>
                  </a:ext>
                </a:extLst>
              </a:tr>
              <a:tr h="370840">
                <a:tc>
                  <a:txBody>
                    <a:bodyPr/>
                    <a:lstStyle/>
                    <a:p>
                      <a:r>
                        <a:rPr lang="en-US" sz="1600" dirty="0"/>
                        <a:t>Saskatchewan</a:t>
                      </a:r>
                      <a:endParaRPr lang="en-IN" sz="16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t>2.4</a:t>
                      </a:r>
                      <a:endParaRPr lang="en-IN" sz="16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t>1.0</a:t>
                      </a:r>
                      <a:endParaRPr lang="en-IN" sz="16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600" dirty="0"/>
                        <a:t>Montana</a:t>
                      </a:r>
                      <a:endParaRPr lang="en-IN" sz="16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03694594"/>
                  </a:ext>
                </a:extLst>
              </a:tr>
              <a:tr h="370840">
                <a:tc>
                  <a:txBody>
                    <a:bodyPr/>
                    <a:lstStyle/>
                    <a:p>
                      <a:r>
                        <a:rPr lang="en-US" sz="1600" dirty="0"/>
                        <a:t>Manitoba</a:t>
                      </a:r>
                      <a:endParaRPr lang="en-IN" sz="16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t>2.0</a:t>
                      </a:r>
                      <a:endParaRPr lang="en-IN" sz="16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t>0.3</a:t>
                      </a:r>
                      <a:endParaRPr lang="en-IN" sz="16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600" dirty="0"/>
                        <a:t>California</a:t>
                      </a:r>
                      <a:endParaRPr lang="en-IN" sz="16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1311626"/>
                  </a:ext>
                </a:extLst>
              </a:tr>
              <a:tr h="370840">
                <a:tc>
                  <a:txBody>
                    <a:bodyPr/>
                    <a:lstStyle/>
                    <a:p>
                      <a:r>
                        <a:rPr lang="en-US" sz="1600" dirty="0"/>
                        <a:t>Ontario</a:t>
                      </a:r>
                      <a:endParaRPr lang="en-IN" sz="16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t>1.9</a:t>
                      </a:r>
                      <a:endParaRPr lang="en-IN" sz="16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t>0.2</a:t>
                      </a:r>
                      <a:endParaRPr lang="en-IN" sz="16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600" dirty="0"/>
                        <a:t>Ohio</a:t>
                      </a:r>
                      <a:endParaRPr lang="en-IN" sz="16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29593876"/>
                  </a:ext>
                </a:extLst>
              </a:tr>
              <a:tr h="370840">
                <a:tc>
                  <a:txBody>
                    <a:bodyPr/>
                    <a:lstStyle/>
                    <a:p>
                      <a:r>
                        <a:rPr lang="en-US" sz="1600" dirty="0"/>
                        <a:t>Quebec</a:t>
                      </a:r>
                      <a:endParaRPr lang="en-IN" sz="16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t>1.4</a:t>
                      </a:r>
                      <a:endParaRPr lang="en-IN" sz="16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t>0.1</a:t>
                      </a:r>
                      <a:endParaRPr lang="en-IN" sz="16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600" dirty="0"/>
                        <a:t>New York</a:t>
                      </a:r>
                      <a:endParaRPr lang="en-IN" sz="16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115305734"/>
                  </a:ext>
                </a:extLst>
              </a:tr>
              <a:tr h="370840">
                <a:tc>
                  <a:txBody>
                    <a:bodyPr/>
                    <a:lstStyle/>
                    <a:p>
                      <a:r>
                        <a:rPr lang="en-US" sz="1600" dirty="0"/>
                        <a:t>New Brunswick</a:t>
                      </a:r>
                      <a:endParaRPr lang="en-IN" sz="16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t>2.3</a:t>
                      </a:r>
                      <a:endParaRPr lang="en-IN" sz="16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t>0.2</a:t>
                      </a:r>
                      <a:endParaRPr lang="en-IN" sz="16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600" dirty="0"/>
                        <a:t>Maine</a:t>
                      </a:r>
                      <a:endParaRPr lang="en-IN" sz="16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16413831"/>
                  </a:ext>
                </a:extLst>
              </a:tr>
            </a:tbl>
          </a:graphicData>
        </a:graphic>
      </p:graphicFrame>
      <p:sp>
        <p:nvSpPr>
          <p:cNvPr id="4" name="Content Placeholder 3">
            <a:extLst>
              <a:ext uri="{FF2B5EF4-FFF2-40B4-BE49-F238E27FC236}">
                <a16:creationId xmlns:a16="http://schemas.microsoft.com/office/drawing/2014/main" id="{01E90F74-E625-4347-914A-9697CBA8DD76}"/>
              </a:ext>
            </a:extLst>
          </p:cNvPr>
          <p:cNvSpPr>
            <a:spLocks noGrp="1"/>
          </p:cNvSpPr>
          <p:nvPr>
            <p:ph sz="quarter" idx="14"/>
          </p:nvPr>
        </p:nvSpPr>
        <p:spPr>
          <a:xfrm>
            <a:off x="457200" y="4904513"/>
            <a:ext cx="5979226" cy="415635"/>
          </a:xfrm>
        </p:spPr>
        <p:txBody>
          <a:bodyPr/>
          <a:lstStyle/>
          <a:p>
            <a:pPr marL="432" indent="0">
              <a:buNone/>
            </a:pPr>
            <a:r>
              <a:rPr lang="en-US" sz="1600" b="1" dirty="0"/>
              <a:t>Source:</a:t>
            </a:r>
            <a:r>
              <a:rPr lang="en-US" sz="1600" dirty="0"/>
              <a:t> Statistics Canada, U.S. Department of Commerce.</a:t>
            </a:r>
          </a:p>
        </p:txBody>
      </p:sp>
    </p:spTree>
    <p:extLst>
      <p:ext uri="{BB962C8B-B14F-4D97-AF65-F5344CB8AC3E}">
        <p14:creationId xmlns:p14="http://schemas.microsoft.com/office/powerpoint/2010/main" val="30638235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815F83-A202-4C7C-B8D3-FB18314A6162}"/>
              </a:ext>
            </a:extLst>
          </p:cNvPr>
          <p:cNvSpPr>
            <a:spLocks noGrp="1"/>
          </p:cNvSpPr>
          <p:nvPr>
            <p:ph type="title"/>
          </p:nvPr>
        </p:nvSpPr>
        <p:spPr/>
        <p:txBody>
          <a:bodyPr/>
          <a:lstStyle/>
          <a:p>
            <a:r>
              <a:rPr lang="en-US" altLang="en-US" sz="3200" dirty="0"/>
              <a:t>The Changing Pattern of World Trade: Has the World Gotten Smaller? </a:t>
            </a:r>
            <a:r>
              <a:rPr lang="en-US" altLang="en-US" sz="2000" b="0" dirty="0"/>
              <a:t>(1 of 3)</a:t>
            </a:r>
            <a:endParaRPr lang="en-IN" dirty="0"/>
          </a:p>
        </p:txBody>
      </p:sp>
      <p:sp>
        <p:nvSpPr>
          <p:cNvPr id="3" name="Content Placeholder 2">
            <a:extLst>
              <a:ext uri="{FF2B5EF4-FFF2-40B4-BE49-F238E27FC236}">
                <a16:creationId xmlns:a16="http://schemas.microsoft.com/office/drawing/2014/main" id="{3046ABEA-6149-43E0-8382-B3AFEB4B0D65}"/>
              </a:ext>
            </a:extLst>
          </p:cNvPr>
          <p:cNvSpPr>
            <a:spLocks noGrp="1"/>
          </p:cNvSpPr>
          <p:nvPr>
            <p:ph sz="quarter" idx="13"/>
          </p:nvPr>
        </p:nvSpPr>
        <p:spPr>
          <a:xfrm>
            <a:off x="457199" y="1556327"/>
            <a:ext cx="8268789" cy="4586896"/>
          </a:xfrm>
        </p:spPr>
        <p:txBody>
          <a:bodyPr/>
          <a:lstStyle/>
          <a:p>
            <a:pPr>
              <a:spcBef>
                <a:spcPts val="1200"/>
              </a:spcBef>
            </a:pPr>
            <a:r>
              <a:rPr lang="en-US" altLang="en-US" sz="2400" dirty="0"/>
              <a:t>The negative effect of distance on trade according to the gravity models is significant, but it has grown smaller over time due to modern transportation and communication.</a:t>
            </a:r>
          </a:p>
          <a:p>
            <a:pPr>
              <a:spcBef>
                <a:spcPts val="1200"/>
              </a:spcBef>
            </a:pPr>
            <a:r>
              <a:rPr lang="en-US" altLang="en-US" sz="2400" dirty="0"/>
              <a:t>A global economy, with strong economic linkages between even distant nations, is not new. </a:t>
            </a:r>
          </a:p>
          <a:p>
            <a:pPr>
              <a:spcBef>
                <a:spcPts val="1200"/>
              </a:spcBef>
            </a:pPr>
            <a:r>
              <a:rPr lang="en-US" altLang="en-US" sz="2400" dirty="0"/>
              <a:t>There have been two great waves of globalization with the first wave relying not on jets and the Internet but on railroads, steamships, and the telegraph.</a:t>
            </a:r>
          </a:p>
        </p:txBody>
      </p:sp>
    </p:spTree>
    <p:extLst>
      <p:ext uri="{BB962C8B-B14F-4D97-AF65-F5344CB8AC3E}">
        <p14:creationId xmlns:p14="http://schemas.microsoft.com/office/powerpoint/2010/main" val="2378229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815F83-A202-4C7C-B8D3-FB18314A6162}"/>
              </a:ext>
            </a:extLst>
          </p:cNvPr>
          <p:cNvSpPr>
            <a:spLocks noGrp="1"/>
          </p:cNvSpPr>
          <p:nvPr>
            <p:ph type="title"/>
          </p:nvPr>
        </p:nvSpPr>
        <p:spPr/>
        <p:txBody>
          <a:bodyPr/>
          <a:lstStyle/>
          <a:p>
            <a:r>
              <a:rPr lang="en-US" altLang="en-US" sz="3200" dirty="0"/>
              <a:t>The Changing Pattern of World Trade: Has the World Gotten Smaller? </a:t>
            </a:r>
            <a:r>
              <a:rPr lang="en-US" altLang="en-US" sz="2000" b="0" dirty="0"/>
              <a:t>(2 of 3)</a:t>
            </a:r>
            <a:endParaRPr lang="en-IN" dirty="0"/>
          </a:p>
        </p:txBody>
      </p:sp>
      <p:sp>
        <p:nvSpPr>
          <p:cNvPr id="3" name="Content Placeholder 2">
            <a:extLst>
              <a:ext uri="{FF2B5EF4-FFF2-40B4-BE49-F238E27FC236}">
                <a16:creationId xmlns:a16="http://schemas.microsoft.com/office/drawing/2014/main" id="{3046ABEA-6149-43E0-8382-B3AFEB4B0D65}"/>
              </a:ext>
            </a:extLst>
          </p:cNvPr>
          <p:cNvSpPr>
            <a:spLocks noGrp="1"/>
          </p:cNvSpPr>
          <p:nvPr>
            <p:ph sz="quarter" idx="13"/>
          </p:nvPr>
        </p:nvSpPr>
        <p:spPr/>
        <p:txBody>
          <a:bodyPr/>
          <a:lstStyle/>
          <a:p>
            <a:pPr>
              <a:spcBef>
                <a:spcPct val="50000"/>
              </a:spcBef>
            </a:pPr>
            <a:r>
              <a:rPr lang="en-US" altLang="en-US" sz="2400" dirty="0"/>
              <a:t>Political factors, such as wars, can change trade patterns much more than innovations in transportation and communication.</a:t>
            </a:r>
          </a:p>
          <a:p>
            <a:pPr>
              <a:spcBef>
                <a:spcPct val="50000"/>
              </a:spcBef>
            </a:pPr>
            <a:r>
              <a:rPr lang="en-US" altLang="en-US" sz="2400" dirty="0"/>
              <a:t>World trade grew rapidly from 1870 to 1913.</a:t>
            </a:r>
          </a:p>
          <a:p>
            <a:pPr lvl="1"/>
            <a:r>
              <a:rPr lang="en-US" altLang="en-US" sz="2400" dirty="0"/>
              <a:t>Then it suffered a sharp decline due to the two world wars and the Great Depression.</a:t>
            </a:r>
          </a:p>
          <a:p>
            <a:pPr lvl="1"/>
            <a:r>
              <a:rPr lang="en-US" altLang="en-US" sz="2400" dirty="0"/>
              <a:t>It started to recover around 1945 but did not recover fully until around 1970.</a:t>
            </a:r>
          </a:p>
        </p:txBody>
      </p:sp>
    </p:spTree>
    <p:extLst>
      <p:ext uri="{BB962C8B-B14F-4D97-AF65-F5344CB8AC3E}">
        <p14:creationId xmlns:p14="http://schemas.microsoft.com/office/powerpoint/2010/main" val="11690846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815F83-A202-4C7C-B8D3-FB18314A6162}"/>
              </a:ext>
            </a:extLst>
          </p:cNvPr>
          <p:cNvSpPr>
            <a:spLocks noGrp="1"/>
          </p:cNvSpPr>
          <p:nvPr>
            <p:ph type="title"/>
          </p:nvPr>
        </p:nvSpPr>
        <p:spPr/>
        <p:txBody>
          <a:bodyPr/>
          <a:lstStyle/>
          <a:p>
            <a:r>
              <a:rPr lang="en-US" altLang="en-US" sz="3200" dirty="0"/>
              <a:t>The Changing Pattern of World Trade: Has the World Gotten Smaller? </a:t>
            </a:r>
            <a:r>
              <a:rPr lang="en-US" altLang="en-US" sz="2000" b="0" dirty="0"/>
              <a:t>(3 of 3)</a:t>
            </a:r>
            <a:endParaRPr lang="en-IN" dirty="0"/>
          </a:p>
        </p:txBody>
      </p:sp>
      <p:sp>
        <p:nvSpPr>
          <p:cNvPr id="3" name="Content Placeholder 2">
            <a:extLst>
              <a:ext uri="{FF2B5EF4-FFF2-40B4-BE49-F238E27FC236}">
                <a16:creationId xmlns:a16="http://schemas.microsoft.com/office/drawing/2014/main" id="{3046ABEA-6149-43E0-8382-B3AFEB4B0D65}"/>
              </a:ext>
            </a:extLst>
          </p:cNvPr>
          <p:cNvSpPr>
            <a:spLocks noGrp="1"/>
          </p:cNvSpPr>
          <p:nvPr>
            <p:ph sz="quarter" idx="13"/>
          </p:nvPr>
        </p:nvSpPr>
        <p:spPr>
          <a:xfrm>
            <a:off x="457200" y="1556327"/>
            <a:ext cx="8321040" cy="4586896"/>
          </a:xfrm>
        </p:spPr>
        <p:txBody>
          <a:bodyPr/>
          <a:lstStyle/>
          <a:p>
            <a:pPr>
              <a:spcBef>
                <a:spcPct val="50000"/>
              </a:spcBef>
            </a:pPr>
            <a:r>
              <a:rPr lang="en-US" altLang="en-US" sz="2400" dirty="0"/>
              <a:t>Since 1970, world trade as a fraction of world G</a:t>
            </a:r>
            <a:r>
              <a:rPr lang="en-US" altLang="en-US" sz="100" dirty="0"/>
              <a:t> </a:t>
            </a:r>
            <a:r>
              <a:rPr lang="en-US" altLang="en-US" sz="2400" dirty="0"/>
              <a:t>D</a:t>
            </a:r>
            <a:r>
              <a:rPr lang="en-US" altLang="en-US" sz="100" dirty="0"/>
              <a:t> </a:t>
            </a:r>
            <a:r>
              <a:rPr lang="en-US" altLang="en-US" sz="2400" dirty="0"/>
              <a:t>P has achieved unprecedented heights.</a:t>
            </a:r>
          </a:p>
          <a:p>
            <a:pPr>
              <a:spcBef>
                <a:spcPct val="50000"/>
              </a:spcBef>
            </a:pPr>
            <a:r>
              <a:rPr lang="en-US" altLang="en-US" sz="2400" dirty="0"/>
              <a:t>Vertical disintegration of production has contributed to the rise in the value of world trade through extensive cross-shipping of components.</a:t>
            </a:r>
          </a:p>
          <a:p>
            <a:pPr lvl="1"/>
            <a:r>
              <a:rPr lang="en-US" sz="2400" dirty="0"/>
              <a:t>A $100 product can give rise to $200 or $300 worth of international trade flows.</a:t>
            </a:r>
            <a:endParaRPr lang="en-US" altLang="en-US" sz="2400" dirty="0"/>
          </a:p>
        </p:txBody>
      </p:sp>
    </p:spTree>
    <p:extLst>
      <p:ext uri="{BB962C8B-B14F-4D97-AF65-F5344CB8AC3E}">
        <p14:creationId xmlns:p14="http://schemas.microsoft.com/office/powerpoint/2010/main" val="12418170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24ECD1-0CD0-49E7-997D-43BBE487E414}"/>
              </a:ext>
            </a:extLst>
          </p:cNvPr>
          <p:cNvSpPr>
            <a:spLocks noGrp="1"/>
          </p:cNvSpPr>
          <p:nvPr>
            <p:ph type="title"/>
          </p:nvPr>
        </p:nvSpPr>
        <p:spPr/>
        <p:txBody>
          <a:bodyPr/>
          <a:lstStyle/>
          <a:p>
            <a:r>
              <a:rPr lang="en-US" altLang="en-US" sz="3200" dirty="0"/>
              <a:t>Figure 2.5 The Fall and Rise of World Trade</a:t>
            </a:r>
            <a:endParaRPr lang="en-IN" sz="3200" dirty="0"/>
          </a:p>
        </p:txBody>
      </p:sp>
      <p:pic>
        <p:nvPicPr>
          <p:cNvPr id="6" name="Content Placeholder 5" descr="A graph depicts the fall and rise of world trade. For long description in Notes pane, press F6.">
            <a:extLst>
              <a:ext uri="{FF2B5EF4-FFF2-40B4-BE49-F238E27FC236}">
                <a16:creationId xmlns:a16="http://schemas.microsoft.com/office/drawing/2014/main" id="{ABC4AC64-EF2B-482C-918D-F16F865F49F0}"/>
              </a:ext>
            </a:extLst>
          </p:cNvPr>
          <p:cNvPicPr>
            <a:picLocks noGrp="1" noChangeAspect="1"/>
          </p:cNvPicPr>
          <p:nvPr>
            <p:ph sz="quarter" idx="13"/>
          </p:nvPr>
        </p:nvPicPr>
        <p:blipFill>
          <a:blip r:embed="rId4"/>
          <a:stretch>
            <a:fillRect/>
          </a:stretch>
        </p:blipFill>
        <p:spPr>
          <a:xfrm>
            <a:off x="2712622" y="1696068"/>
            <a:ext cx="3707008" cy="2873868"/>
          </a:xfrm>
        </p:spPr>
      </p:pic>
      <p:sp>
        <p:nvSpPr>
          <p:cNvPr id="4" name="Content Placeholder 3">
            <a:extLst>
              <a:ext uri="{FF2B5EF4-FFF2-40B4-BE49-F238E27FC236}">
                <a16:creationId xmlns:a16="http://schemas.microsoft.com/office/drawing/2014/main" id="{5CA54841-DFF5-4685-AE4D-B52E3B2E7A1D}"/>
              </a:ext>
            </a:extLst>
          </p:cNvPr>
          <p:cNvSpPr>
            <a:spLocks noGrp="1"/>
          </p:cNvSpPr>
          <p:nvPr>
            <p:ph sz="quarter" idx="14"/>
          </p:nvPr>
        </p:nvSpPr>
        <p:spPr>
          <a:xfrm>
            <a:off x="457201" y="4716925"/>
            <a:ext cx="8010524" cy="305933"/>
          </a:xfrm>
        </p:spPr>
        <p:txBody>
          <a:bodyPr lIns="0" tIns="0" rIns="0" bIns="0"/>
          <a:lstStyle/>
          <a:p>
            <a:pPr marL="0" indent="0">
              <a:spcBef>
                <a:spcPts val="600"/>
              </a:spcBef>
              <a:buNone/>
            </a:pPr>
            <a:r>
              <a:rPr lang="en-US" sz="1800" dirty="0"/>
              <a:t>The ratio of world exports to world G</a:t>
            </a:r>
            <a:r>
              <a:rPr lang="en-US" sz="100" dirty="0"/>
              <a:t> </a:t>
            </a:r>
            <a:r>
              <a:rPr lang="en-US" sz="1800" dirty="0"/>
              <a:t>D</a:t>
            </a:r>
            <a:r>
              <a:rPr lang="en-US" sz="100" dirty="0"/>
              <a:t> </a:t>
            </a:r>
            <a:r>
              <a:rPr lang="en-US" sz="1800" dirty="0"/>
              <a:t>P rose in the decades before World </a:t>
            </a:r>
            <a:r>
              <a:rPr lang="en-US" sz="1800" dirty="0" smtClean="0"/>
              <a:t>War</a:t>
            </a:r>
            <a:endParaRPr lang="en-IN" sz="1800" dirty="0"/>
          </a:p>
        </p:txBody>
      </p:sp>
      <p:graphicFrame>
        <p:nvGraphicFramePr>
          <p:cNvPr id="31" name="Object 30" descr="One"/>
          <p:cNvGraphicFramePr>
            <a:graphicFrameLocks noChangeAspect="1"/>
          </p:cNvGraphicFramePr>
          <p:nvPr>
            <p:extLst>
              <p:ext uri="{D42A27DB-BD31-4B8C-83A1-F6EECF244321}">
                <p14:modId xmlns:p14="http://schemas.microsoft.com/office/powerpoint/2010/main" val="1913033276"/>
              </p:ext>
            </p:extLst>
          </p:nvPr>
        </p:nvGraphicFramePr>
        <p:xfrm>
          <a:off x="8493918" y="4729625"/>
          <a:ext cx="122720" cy="265895"/>
        </p:xfrm>
        <a:graphic>
          <a:graphicData uri="http://schemas.openxmlformats.org/presentationml/2006/ole">
            <mc:AlternateContent xmlns:mc="http://schemas.openxmlformats.org/markup-compatibility/2006">
              <mc:Choice xmlns:v="urn:schemas-microsoft-com:vml" Requires="v">
                <p:oleObj spid="_x0000_s2080" name="Equation" r:id="rId5" imgW="75960" imgH="164880" progId="Equation.DSMT4">
                  <p:embed/>
                </p:oleObj>
              </mc:Choice>
              <mc:Fallback>
                <p:oleObj name="Equation" r:id="rId5" imgW="75960" imgH="164880" progId="Equation.DSMT4">
                  <p:embed/>
                  <p:pic>
                    <p:nvPicPr>
                      <p:cNvPr id="0" name=""/>
                      <p:cNvPicPr/>
                      <p:nvPr/>
                    </p:nvPicPr>
                    <p:blipFill>
                      <a:blip r:embed="rId6"/>
                      <a:stretch>
                        <a:fillRect/>
                      </a:stretch>
                    </p:blipFill>
                    <p:spPr>
                      <a:xfrm>
                        <a:off x="8493918" y="4729625"/>
                        <a:ext cx="122720" cy="265895"/>
                      </a:xfrm>
                      <a:prstGeom prst="rect">
                        <a:avLst/>
                      </a:prstGeom>
                    </p:spPr>
                  </p:pic>
                </p:oleObj>
              </mc:Fallback>
            </mc:AlternateContent>
          </a:graphicData>
        </a:graphic>
      </p:graphicFrame>
      <p:sp>
        <p:nvSpPr>
          <p:cNvPr id="18" name="Content Placeholder 17"/>
          <p:cNvSpPr>
            <a:spLocks noGrp="1"/>
          </p:cNvSpPr>
          <p:nvPr>
            <p:ph sz="quarter" idx="15"/>
          </p:nvPr>
        </p:nvSpPr>
        <p:spPr>
          <a:xfrm>
            <a:off x="475979" y="5104094"/>
            <a:ext cx="8393700" cy="1238793"/>
          </a:xfrm>
        </p:spPr>
        <p:txBody>
          <a:bodyPr lIns="0" tIns="0" rIns="0" bIns="0"/>
          <a:lstStyle/>
          <a:p>
            <a:pPr marL="0" indent="0">
              <a:spcBef>
                <a:spcPts val="600"/>
              </a:spcBef>
              <a:buNone/>
            </a:pPr>
            <a:r>
              <a:rPr lang="en-US" sz="1800" dirty="0"/>
              <a:t>but fell sharply in the face of wars and protectionism. It didn’t return to 1913 levels until the 1970s but has since reached new heights.</a:t>
            </a:r>
          </a:p>
          <a:p>
            <a:pPr marL="0" indent="0">
              <a:spcBef>
                <a:spcPts val="600"/>
              </a:spcBef>
              <a:buNone/>
            </a:pPr>
            <a:r>
              <a:rPr lang="en-US" sz="1600" b="1" dirty="0"/>
              <a:t>Source: </a:t>
            </a:r>
            <a:r>
              <a:rPr lang="en-US" sz="1600" dirty="0"/>
              <a:t>Michel Fouquin and Jules Hugot, “Trade Globalisation in the Last Two Centuries,” Voxeu (September 2016).</a:t>
            </a:r>
            <a:endParaRPr lang="en-IN" sz="1600" dirty="0"/>
          </a:p>
        </p:txBody>
      </p:sp>
    </p:spTree>
    <p:extLst>
      <p:ext uri="{BB962C8B-B14F-4D97-AF65-F5344CB8AC3E}">
        <p14:creationId xmlns:p14="http://schemas.microsoft.com/office/powerpoint/2010/main" val="232754278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CE5C7A-C4D8-449A-A9AA-D4FB73015050}"/>
              </a:ext>
            </a:extLst>
          </p:cNvPr>
          <p:cNvSpPr>
            <a:spLocks noGrp="1"/>
          </p:cNvSpPr>
          <p:nvPr>
            <p:ph type="title"/>
          </p:nvPr>
        </p:nvSpPr>
        <p:spPr/>
        <p:txBody>
          <a:bodyPr/>
          <a:lstStyle/>
          <a:p>
            <a:r>
              <a:rPr lang="en-US" altLang="en-US" sz="3600" dirty="0"/>
              <a:t>What Do We Trade? </a:t>
            </a:r>
            <a:r>
              <a:rPr lang="en-US" altLang="en-US" sz="2000" b="0" dirty="0"/>
              <a:t>(1 of 3)</a:t>
            </a:r>
            <a:endParaRPr lang="en-IN" dirty="0"/>
          </a:p>
        </p:txBody>
      </p:sp>
      <p:sp>
        <p:nvSpPr>
          <p:cNvPr id="3" name="Content Placeholder 2">
            <a:extLst>
              <a:ext uri="{FF2B5EF4-FFF2-40B4-BE49-F238E27FC236}">
                <a16:creationId xmlns:a16="http://schemas.microsoft.com/office/drawing/2014/main" id="{D2D7C8A3-9163-4A62-B8DC-1E7DB24F566D}"/>
              </a:ext>
            </a:extLst>
          </p:cNvPr>
          <p:cNvSpPr>
            <a:spLocks noGrp="1"/>
          </p:cNvSpPr>
          <p:nvPr>
            <p:ph sz="quarter" idx="13"/>
          </p:nvPr>
        </p:nvSpPr>
        <p:spPr/>
        <p:txBody>
          <a:bodyPr/>
          <a:lstStyle/>
          <a:p>
            <a:pPr>
              <a:spcBef>
                <a:spcPts val="1000"/>
              </a:spcBef>
            </a:pPr>
            <a:r>
              <a:rPr lang="en-US" altLang="en-US" sz="2400" dirty="0"/>
              <a:t>What kinds of products do nations trade now, and how does this composition compare to the past?</a:t>
            </a:r>
          </a:p>
          <a:p>
            <a:pPr>
              <a:spcBef>
                <a:spcPts val="1000"/>
              </a:spcBef>
            </a:pPr>
            <a:r>
              <a:rPr lang="en-US" altLang="en-US" sz="2400" dirty="0"/>
              <a:t>Most (about 70 percent) of the volume of trade today is in </a:t>
            </a:r>
            <a:r>
              <a:rPr lang="en-US" altLang="en-US" sz="2400" b="1" dirty="0"/>
              <a:t>manufactured products </a:t>
            </a:r>
            <a:r>
              <a:rPr lang="en-US" altLang="en-US" sz="2400" dirty="0"/>
              <a:t>such as automobiles, computers, and clothing.</a:t>
            </a:r>
          </a:p>
          <a:p>
            <a:pPr lvl="1"/>
            <a:r>
              <a:rPr lang="en-US" altLang="en-US" sz="2400" b="1" dirty="0"/>
              <a:t>Fuels and mining products</a:t>
            </a:r>
            <a:r>
              <a:rPr lang="en-US" altLang="en-US" sz="2400" dirty="0"/>
              <a:t> (e.g., petroleum, coal, and copper) remain an important part of world trade at 15 percent.</a:t>
            </a:r>
          </a:p>
          <a:p>
            <a:pPr lvl="1"/>
            <a:r>
              <a:rPr lang="en-US" altLang="en-US" sz="2400" b="1" dirty="0"/>
              <a:t>Agricultural products</a:t>
            </a:r>
            <a:r>
              <a:rPr lang="en-US" altLang="en-US" sz="2400" dirty="0"/>
              <a:t> are a relatively small part of trade at 10 percent.</a:t>
            </a:r>
          </a:p>
        </p:txBody>
      </p:sp>
    </p:spTree>
    <p:extLst>
      <p:ext uri="{BB962C8B-B14F-4D97-AF65-F5344CB8AC3E}">
        <p14:creationId xmlns:p14="http://schemas.microsoft.com/office/powerpoint/2010/main" val="89115539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1EF7BA-EB44-4674-BB1B-E2E045CECA64}"/>
              </a:ext>
            </a:extLst>
          </p:cNvPr>
          <p:cNvSpPr>
            <a:spLocks noGrp="1"/>
          </p:cNvSpPr>
          <p:nvPr>
            <p:ph type="title"/>
          </p:nvPr>
        </p:nvSpPr>
        <p:spPr/>
        <p:txBody>
          <a:bodyPr/>
          <a:lstStyle/>
          <a:p>
            <a:r>
              <a:rPr lang="en-US" altLang="en-US" sz="3200" dirty="0"/>
              <a:t>Figure 2.6 The Composition of World Trade, 2017</a:t>
            </a:r>
            <a:endParaRPr lang="en-IN" sz="3200" dirty="0"/>
          </a:p>
        </p:txBody>
      </p:sp>
      <p:pic>
        <p:nvPicPr>
          <p:cNvPr id="6" name="Content Placeholder 5" descr="A pie chart depicts the composition of world trade in 20 17. The pie chart has 4 sections with percentages as follows. Manufactures, 70. Fuels and mining products, 15. Agricultural products, 10. Other 5.">
            <a:extLst>
              <a:ext uri="{FF2B5EF4-FFF2-40B4-BE49-F238E27FC236}">
                <a16:creationId xmlns:a16="http://schemas.microsoft.com/office/drawing/2014/main" id="{66C5F00A-C524-4DB1-9602-E7E756E06D02}"/>
              </a:ext>
            </a:extLst>
          </p:cNvPr>
          <p:cNvPicPr>
            <a:picLocks noGrp="1" noChangeAspect="1"/>
          </p:cNvPicPr>
          <p:nvPr>
            <p:ph sz="quarter" idx="13"/>
          </p:nvPr>
        </p:nvPicPr>
        <p:blipFill>
          <a:blip r:embed="rId2"/>
          <a:stretch>
            <a:fillRect/>
          </a:stretch>
        </p:blipFill>
        <p:spPr>
          <a:xfrm>
            <a:off x="2789806" y="1712536"/>
            <a:ext cx="3564388" cy="3302298"/>
          </a:xfrm>
        </p:spPr>
      </p:pic>
      <p:sp>
        <p:nvSpPr>
          <p:cNvPr id="4" name="Content Placeholder 3">
            <a:extLst>
              <a:ext uri="{FF2B5EF4-FFF2-40B4-BE49-F238E27FC236}">
                <a16:creationId xmlns:a16="http://schemas.microsoft.com/office/drawing/2014/main" id="{E3508FBE-FB23-4F5F-BD6A-822A86BE03A4}"/>
              </a:ext>
            </a:extLst>
          </p:cNvPr>
          <p:cNvSpPr>
            <a:spLocks noGrp="1"/>
          </p:cNvSpPr>
          <p:nvPr>
            <p:ph sz="quarter" idx="14"/>
          </p:nvPr>
        </p:nvSpPr>
        <p:spPr>
          <a:xfrm>
            <a:off x="457200" y="5151862"/>
            <a:ext cx="8229600" cy="1203867"/>
          </a:xfrm>
        </p:spPr>
        <p:txBody>
          <a:bodyPr/>
          <a:lstStyle/>
          <a:p>
            <a:pPr marL="0" indent="0">
              <a:spcBef>
                <a:spcPts val="1200"/>
              </a:spcBef>
              <a:buNone/>
            </a:pPr>
            <a:r>
              <a:rPr lang="en-US" sz="2000" dirty="0"/>
              <a:t>Most world trade is in manufactured goods, but minerals—mainly oil—remain important.</a:t>
            </a:r>
          </a:p>
          <a:p>
            <a:pPr marL="0" indent="0">
              <a:spcBef>
                <a:spcPts val="1200"/>
              </a:spcBef>
              <a:buNone/>
            </a:pPr>
            <a:r>
              <a:rPr lang="en-US" sz="1800" b="1" dirty="0"/>
              <a:t>Source: </a:t>
            </a:r>
            <a:r>
              <a:rPr lang="en-US" sz="1800" dirty="0"/>
              <a:t>World Trade Organization.</a:t>
            </a:r>
          </a:p>
        </p:txBody>
      </p:sp>
    </p:spTree>
    <p:extLst>
      <p:ext uri="{BB962C8B-B14F-4D97-AF65-F5344CB8AC3E}">
        <p14:creationId xmlns:p14="http://schemas.microsoft.com/office/powerpoint/2010/main" val="16444730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C1E748-5859-480A-AECB-110C63F10D7E}"/>
              </a:ext>
            </a:extLst>
          </p:cNvPr>
          <p:cNvSpPr>
            <a:spLocks noGrp="1"/>
          </p:cNvSpPr>
          <p:nvPr>
            <p:ph type="title"/>
          </p:nvPr>
        </p:nvSpPr>
        <p:spPr/>
        <p:txBody>
          <a:bodyPr/>
          <a:lstStyle/>
          <a:p>
            <a:r>
              <a:rPr lang="en-US" altLang="en-US" sz="3600" dirty="0"/>
              <a:t>What Do We Trade? </a:t>
            </a:r>
            <a:r>
              <a:rPr lang="en-US" altLang="en-US" sz="2000" b="0" dirty="0"/>
              <a:t>(2 of 3)</a:t>
            </a:r>
            <a:endParaRPr lang="en-IN" dirty="0"/>
          </a:p>
        </p:txBody>
      </p:sp>
      <p:sp>
        <p:nvSpPr>
          <p:cNvPr id="3" name="Content Placeholder 2">
            <a:extLst>
              <a:ext uri="{FF2B5EF4-FFF2-40B4-BE49-F238E27FC236}">
                <a16:creationId xmlns:a16="http://schemas.microsoft.com/office/drawing/2014/main" id="{D43551BD-BC16-4A83-A27A-7A8AD315C959}"/>
              </a:ext>
            </a:extLst>
          </p:cNvPr>
          <p:cNvSpPr>
            <a:spLocks noGrp="1"/>
          </p:cNvSpPr>
          <p:nvPr>
            <p:ph sz="quarter" idx="13"/>
          </p:nvPr>
        </p:nvSpPr>
        <p:spPr/>
        <p:txBody>
          <a:bodyPr/>
          <a:lstStyle/>
          <a:p>
            <a:pPr>
              <a:spcBef>
                <a:spcPct val="50000"/>
              </a:spcBef>
            </a:pPr>
            <a:r>
              <a:rPr lang="en-US" altLang="en-US" sz="2400" dirty="0"/>
              <a:t>In the past, a large fraction of the volume of trade came from agricultural and mineral products.</a:t>
            </a:r>
          </a:p>
          <a:p>
            <a:pPr lvl="1"/>
            <a:r>
              <a:rPr lang="en-US" altLang="en-US" sz="2400" dirty="0"/>
              <a:t>In 1910, Britain mainly imported agricultural and mineral products, although manufactured products still represented most of the volume of exports.</a:t>
            </a:r>
          </a:p>
          <a:p>
            <a:pPr lvl="1"/>
            <a:r>
              <a:rPr lang="en-US" altLang="en-US" sz="2400" dirty="0"/>
              <a:t>In 1910, the United States mainly imported and exported agricultural products and mineral products.</a:t>
            </a:r>
          </a:p>
          <a:p>
            <a:pPr lvl="1"/>
            <a:r>
              <a:rPr lang="en-US" altLang="en-US" sz="2400" dirty="0"/>
              <a:t>In 2002, manufactured products made up most of the volume of imports and exports for both countries.</a:t>
            </a:r>
          </a:p>
        </p:txBody>
      </p:sp>
    </p:spTree>
    <p:extLst>
      <p:ext uri="{BB962C8B-B14F-4D97-AF65-F5344CB8AC3E}">
        <p14:creationId xmlns:p14="http://schemas.microsoft.com/office/powerpoint/2010/main" val="333431181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0FE199-E200-43AD-BC3E-D031EDB5F1FC}"/>
              </a:ext>
            </a:extLst>
          </p:cNvPr>
          <p:cNvSpPr>
            <a:spLocks noGrp="1"/>
          </p:cNvSpPr>
          <p:nvPr>
            <p:ph type="title"/>
          </p:nvPr>
        </p:nvSpPr>
        <p:spPr/>
        <p:txBody>
          <a:bodyPr/>
          <a:lstStyle/>
          <a:p>
            <a:r>
              <a:rPr lang="en-US" altLang="en-US" sz="3200" dirty="0"/>
              <a:t>Table 2.2 Manufactured Goods </a:t>
            </a:r>
            <a:r>
              <a:rPr lang="en-US" altLang="en-US" sz="3200" dirty="0" smtClean="0"/>
              <a:t>as Percent </a:t>
            </a:r>
            <a:r>
              <a:rPr lang="en-US" altLang="en-US" sz="3200" dirty="0"/>
              <a:t>of Merchandise Trade</a:t>
            </a:r>
            <a:endParaRPr lang="en-IN" sz="3200" dirty="0"/>
          </a:p>
        </p:txBody>
      </p:sp>
      <p:graphicFrame>
        <p:nvGraphicFramePr>
          <p:cNvPr id="7" name="Table 7">
            <a:extLst>
              <a:ext uri="{FF2B5EF4-FFF2-40B4-BE49-F238E27FC236}">
                <a16:creationId xmlns:a16="http://schemas.microsoft.com/office/drawing/2014/main" id="{5A4BFFE5-9B65-4A17-994D-9839DDA9F083}"/>
              </a:ext>
            </a:extLst>
          </p:cNvPr>
          <p:cNvGraphicFramePr>
            <a:graphicFrameLocks noGrp="1"/>
          </p:cNvGraphicFramePr>
          <p:nvPr>
            <p:ph sz="quarter" idx="13"/>
            <p:extLst>
              <p:ext uri="{D42A27DB-BD31-4B8C-83A1-F6EECF244321}">
                <p14:modId xmlns:p14="http://schemas.microsoft.com/office/powerpoint/2010/main" val="3748820477"/>
              </p:ext>
            </p:extLst>
          </p:nvPr>
        </p:nvGraphicFramePr>
        <p:xfrm>
          <a:off x="457200" y="1700213"/>
          <a:ext cx="8229600" cy="1259840"/>
        </p:xfrm>
        <a:graphic>
          <a:graphicData uri="http://schemas.openxmlformats.org/drawingml/2006/table">
            <a:tbl>
              <a:tblPr firstRow="1" bandRow="1">
                <a:tableStyleId>{2D5ABB26-0587-4C30-8999-92F81FD0307C}</a:tableStyleId>
              </a:tblPr>
              <a:tblGrid>
                <a:gridCol w="1021644">
                  <a:extLst>
                    <a:ext uri="{9D8B030D-6E8A-4147-A177-3AD203B41FA5}">
                      <a16:colId xmlns:a16="http://schemas.microsoft.com/office/drawing/2014/main" val="1488014467"/>
                    </a:ext>
                  </a:extLst>
                </a:gridCol>
                <a:gridCol w="2122312">
                  <a:extLst>
                    <a:ext uri="{9D8B030D-6E8A-4147-A177-3AD203B41FA5}">
                      <a16:colId xmlns:a16="http://schemas.microsoft.com/office/drawing/2014/main" val="3590675247"/>
                    </a:ext>
                  </a:extLst>
                </a:gridCol>
                <a:gridCol w="1793804">
                  <a:extLst>
                    <a:ext uri="{9D8B030D-6E8A-4147-A177-3AD203B41FA5}">
                      <a16:colId xmlns:a16="http://schemas.microsoft.com/office/drawing/2014/main" val="3067880545"/>
                    </a:ext>
                  </a:extLst>
                </a:gridCol>
                <a:gridCol w="1717040">
                  <a:extLst>
                    <a:ext uri="{9D8B030D-6E8A-4147-A177-3AD203B41FA5}">
                      <a16:colId xmlns:a16="http://schemas.microsoft.com/office/drawing/2014/main" val="2073847639"/>
                    </a:ext>
                  </a:extLst>
                </a:gridCol>
                <a:gridCol w="1574800">
                  <a:extLst>
                    <a:ext uri="{9D8B030D-6E8A-4147-A177-3AD203B41FA5}">
                      <a16:colId xmlns:a16="http://schemas.microsoft.com/office/drawing/2014/main" val="3445742345"/>
                    </a:ext>
                  </a:extLst>
                </a:gridCol>
              </a:tblGrid>
              <a:tr h="370840">
                <a:tc>
                  <a:txBody>
                    <a:bodyPr/>
                    <a:lstStyle/>
                    <a:p>
                      <a:pPr algn="ctr"/>
                      <a:r>
                        <a:rPr lang="en-US" sz="100" b="1" dirty="0"/>
                        <a:t>Blank</a:t>
                      </a:r>
                      <a:endParaRPr lang="en-IN" sz="100" b="1"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dirty="0"/>
                        <a:t>Exports of</a:t>
                      </a:r>
                      <a:r>
                        <a:rPr lang="en-US" b="1" baseline="0" dirty="0"/>
                        <a:t> </a:t>
                      </a:r>
                      <a:r>
                        <a:rPr lang="en-US" b="1" dirty="0"/>
                        <a:t>United Kingdom</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b="1" dirty="0"/>
                        <a:t>Imports of</a:t>
                      </a:r>
                      <a:r>
                        <a:rPr lang="en-US" b="1" baseline="0" dirty="0"/>
                        <a:t> </a:t>
                      </a:r>
                      <a:r>
                        <a:rPr lang="en-US" b="1" dirty="0"/>
                        <a:t>United Kingdom</a:t>
                      </a:r>
                      <a:endParaRPr lang="en-IN" b="1"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b="1" dirty="0"/>
                        <a:t>Exports of</a:t>
                      </a:r>
                      <a:r>
                        <a:rPr lang="en-US" b="1" baseline="0" dirty="0"/>
                        <a:t> </a:t>
                      </a:r>
                      <a:r>
                        <a:rPr lang="en-US" b="1" dirty="0"/>
                        <a:t>United States</a:t>
                      </a:r>
                      <a:endParaRPr lang="en-IN" b="1"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b="1" dirty="0"/>
                        <a:t>Imports of</a:t>
                      </a:r>
                      <a:r>
                        <a:rPr lang="en-US" b="1" baseline="0" dirty="0"/>
                        <a:t> </a:t>
                      </a:r>
                      <a:r>
                        <a:rPr lang="en-US" b="1" dirty="0"/>
                        <a:t>United States</a:t>
                      </a:r>
                      <a:endParaRPr lang="en-IN" b="1"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6352954"/>
                  </a:ext>
                </a:extLst>
              </a:tr>
              <a:tr h="370840">
                <a:tc>
                  <a:txBody>
                    <a:bodyPr/>
                    <a:lstStyle/>
                    <a:p>
                      <a:r>
                        <a:rPr lang="en-US" dirty="0"/>
                        <a:t>1910</a:t>
                      </a:r>
                      <a:endParaRPr lang="en-IN"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75.4</a:t>
                      </a:r>
                      <a:endParaRPr lang="en-IN"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24.5</a:t>
                      </a:r>
                      <a:endParaRPr lang="en-IN"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47.5</a:t>
                      </a:r>
                      <a:endParaRPr lang="en-IN"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40.7</a:t>
                      </a:r>
                      <a:endParaRPr lang="en-IN"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41864356"/>
                  </a:ext>
                </a:extLst>
              </a:tr>
              <a:tr h="370840">
                <a:tc>
                  <a:txBody>
                    <a:bodyPr/>
                    <a:lstStyle/>
                    <a:p>
                      <a:r>
                        <a:rPr lang="en-US" dirty="0"/>
                        <a:t>2015</a:t>
                      </a:r>
                      <a:endParaRPr lang="en-IN"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72.3</a:t>
                      </a:r>
                      <a:endParaRPr lang="en-IN"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73.6</a:t>
                      </a:r>
                      <a:endParaRPr lang="en-IN"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74.8</a:t>
                      </a:r>
                      <a:endParaRPr lang="en-IN"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78.4</a:t>
                      </a:r>
                      <a:endParaRPr lang="en-IN"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699677692"/>
                  </a:ext>
                </a:extLst>
              </a:tr>
            </a:tbl>
          </a:graphicData>
        </a:graphic>
      </p:graphicFrame>
      <p:sp>
        <p:nvSpPr>
          <p:cNvPr id="4" name="Content Placeholder 3">
            <a:extLst>
              <a:ext uri="{FF2B5EF4-FFF2-40B4-BE49-F238E27FC236}">
                <a16:creationId xmlns:a16="http://schemas.microsoft.com/office/drawing/2014/main" id="{01E90F74-E625-4347-914A-9697CBA8DD76}"/>
              </a:ext>
            </a:extLst>
          </p:cNvPr>
          <p:cNvSpPr>
            <a:spLocks noGrp="1"/>
          </p:cNvSpPr>
          <p:nvPr>
            <p:ph sz="quarter" idx="14"/>
          </p:nvPr>
        </p:nvSpPr>
        <p:spPr>
          <a:xfrm>
            <a:off x="457200" y="3135087"/>
            <a:ext cx="8229600" cy="902523"/>
          </a:xfrm>
        </p:spPr>
        <p:txBody>
          <a:bodyPr/>
          <a:lstStyle/>
          <a:p>
            <a:pPr marL="0" indent="0">
              <a:buNone/>
            </a:pPr>
            <a:r>
              <a:rPr lang="en-US" sz="1600" b="1" dirty="0"/>
              <a:t>Source: </a:t>
            </a:r>
            <a:r>
              <a:rPr lang="en-US" sz="1600" dirty="0"/>
              <a:t>1910 data from Simon Kuznets</a:t>
            </a:r>
            <a:r>
              <a:rPr lang="en-US" sz="1600" i="1" dirty="0"/>
              <a:t>, </a:t>
            </a:r>
            <a:r>
              <a:rPr lang="en-US" sz="1600" b="1" dirty="0"/>
              <a:t>Modern Economic Growth: Rate, Structure and Speed.</a:t>
            </a:r>
            <a:r>
              <a:rPr lang="en-US" sz="1600" i="1" dirty="0"/>
              <a:t> </a:t>
            </a:r>
            <a:r>
              <a:rPr lang="en-US" sz="1600" dirty="0"/>
              <a:t>New Haven: Yale Univ. Press, 1966. 2015 data from World Trade Organization.</a:t>
            </a:r>
          </a:p>
        </p:txBody>
      </p:sp>
    </p:spTree>
    <p:extLst>
      <p:ext uri="{BB962C8B-B14F-4D97-AF65-F5344CB8AC3E}">
        <p14:creationId xmlns:p14="http://schemas.microsoft.com/office/powerpoint/2010/main" val="63622633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3E6C7B-EC6E-4E84-A4C3-2B2C0A1E29F2}"/>
              </a:ext>
            </a:extLst>
          </p:cNvPr>
          <p:cNvSpPr>
            <a:spLocks noGrp="1"/>
          </p:cNvSpPr>
          <p:nvPr>
            <p:ph type="title"/>
          </p:nvPr>
        </p:nvSpPr>
        <p:spPr/>
        <p:txBody>
          <a:bodyPr/>
          <a:lstStyle/>
          <a:p>
            <a:r>
              <a:rPr lang="en-US" altLang="en-US" sz="3600" dirty="0"/>
              <a:t>What Do We Trade? </a:t>
            </a:r>
            <a:r>
              <a:rPr lang="en-US" altLang="en-US" sz="2000" b="0" dirty="0"/>
              <a:t>(3 of 3)</a:t>
            </a:r>
            <a:endParaRPr lang="en-IN" dirty="0"/>
          </a:p>
        </p:txBody>
      </p:sp>
      <p:sp>
        <p:nvSpPr>
          <p:cNvPr id="3" name="Content Placeholder 2">
            <a:extLst>
              <a:ext uri="{FF2B5EF4-FFF2-40B4-BE49-F238E27FC236}">
                <a16:creationId xmlns:a16="http://schemas.microsoft.com/office/drawing/2014/main" id="{E189B2A0-656D-455B-A813-7CAF82BCDFFC}"/>
              </a:ext>
            </a:extLst>
          </p:cNvPr>
          <p:cNvSpPr>
            <a:spLocks noGrp="1"/>
          </p:cNvSpPr>
          <p:nvPr>
            <p:ph sz="quarter" idx="13"/>
          </p:nvPr>
        </p:nvSpPr>
        <p:spPr>
          <a:xfrm>
            <a:off x="457200" y="1556327"/>
            <a:ext cx="8133644" cy="4586896"/>
          </a:xfrm>
        </p:spPr>
        <p:txBody>
          <a:bodyPr/>
          <a:lstStyle/>
          <a:p>
            <a:pPr>
              <a:spcBef>
                <a:spcPct val="50000"/>
              </a:spcBef>
            </a:pPr>
            <a:r>
              <a:rPr lang="en-US" altLang="en-US" sz="2200" dirty="0"/>
              <a:t>Low- and middle-income countries have also changed the composition of their trade.</a:t>
            </a:r>
          </a:p>
          <a:p>
            <a:pPr lvl="1"/>
            <a:r>
              <a:rPr lang="en-US" altLang="en-US" sz="2200" dirty="0"/>
              <a:t>In 2001, about 65 percent of exports from low- and middle-income countries were manufactured products, and only 10 percent of exports were agricultural products.</a:t>
            </a:r>
          </a:p>
          <a:p>
            <a:pPr lvl="1"/>
            <a:r>
              <a:rPr lang="en-US" altLang="en-US" sz="2200" dirty="0"/>
              <a:t>In 1960, about 58 percent of exports from low- and middle-income countries were agricultural products and only 12 percent of exports were manufactured products.</a:t>
            </a:r>
          </a:p>
          <a:p>
            <a:pPr>
              <a:spcBef>
                <a:spcPct val="50000"/>
              </a:spcBef>
            </a:pPr>
            <a:r>
              <a:rPr lang="en-US" altLang="en-US" sz="2200" dirty="0"/>
              <a:t>More than 90 percent of the exports of China, the largest developing country and a rapidly growing force in world trade, consist of manufactured goods.</a:t>
            </a:r>
          </a:p>
        </p:txBody>
      </p:sp>
    </p:spTree>
    <p:extLst>
      <p:ext uri="{BB962C8B-B14F-4D97-AF65-F5344CB8AC3E}">
        <p14:creationId xmlns:p14="http://schemas.microsoft.com/office/powerpoint/2010/main" val="388797979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F61948-9E7D-440B-AF2F-5D71DB05746D}"/>
              </a:ext>
            </a:extLst>
          </p:cNvPr>
          <p:cNvSpPr>
            <a:spLocks noGrp="1"/>
          </p:cNvSpPr>
          <p:nvPr>
            <p:ph type="title"/>
          </p:nvPr>
        </p:nvSpPr>
        <p:spPr/>
        <p:txBody>
          <a:bodyPr/>
          <a:lstStyle/>
          <a:p>
            <a:r>
              <a:rPr lang="en-US" altLang="en-US" sz="3200" dirty="0"/>
              <a:t>Figure 2.7 The Changing Composition of Developing-Country Exports</a:t>
            </a:r>
            <a:endParaRPr lang="en-IN" sz="3200" dirty="0"/>
          </a:p>
        </p:txBody>
      </p:sp>
      <p:pic>
        <p:nvPicPr>
          <p:cNvPr id="6" name="Content Placeholder 5" descr="A graph depicts the changing composition of developing country exports. For long description in Notes pane, press F6.">
            <a:extLst>
              <a:ext uri="{FF2B5EF4-FFF2-40B4-BE49-F238E27FC236}">
                <a16:creationId xmlns:a16="http://schemas.microsoft.com/office/drawing/2014/main" id="{5F639146-203E-41DD-AF23-E136445774C9}"/>
              </a:ext>
            </a:extLst>
          </p:cNvPr>
          <p:cNvPicPr>
            <a:picLocks noGrp="1" noChangeAspect="1"/>
          </p:cNvPicPr>
          <p:nvPr>
            <p:ph sz="quarter" idx="13"/>
          </p:nvPr>
        </p:nvPicPr>
        <p:blipFill>
          <a:blip r:embed="rId3"/>
          <a:stretch>
            <a:fillRect/>
          </a:stretch>
        </p:blipFill>
        <p:spPr>
          <a:xfrm>
            <a:off x="2439370" y="1705859"/>
            <a:ext cx="4265258" cy="3191767"/>
          </a:xfrm>
        </p:spPr>
      </p:pic>
      <p:sp>
        <p:nvSpPr>
          <p:cNvPr id="4" name="Content Placeholder 3">
            <a:extLst>
              <a:ext uri="{FF2B5EF4-FFF2-40B4-BE49-F238E27FC236}">
                <a16:creationId xmlns:a16="http://schemas.microsoft.com/office/drawing/2014/main" id="{7678E31F-7306-46DF-BF83-01B51EB0BDF9}"/>
              </a:ext>
            </a:extLst>
          </p:cNvPr>
          <p:cNvSpPr>
            <a:spLocks noGrp="1"/>
          </p:cNvSpPr>
          <p:nvPr>
            <p:ph sz="quarter" idx="14"/>
          </p:nvPr>
        </p:nvSpPr>
        <p:spPr>
          <a:xfrm>
            <a:off x="457200" y="5018046"/>
            <a:ext cx="8229600" cy="1281926"/>
          </a:xfrm>
        </p:spPr>
        <p:txBody>
          <a:bodyPr/>
          <a:lstStyle/>
          <a:p>
            <a:pPr marL="0" indent="0">
              <a:buNone/>
            </a:pPr>
            <a:r>
              <a:rPr lang="en-US" sz="2000" dirty="0"/>
              <a:t>Over the past 50 years, the exports of developing countries have shifted toward manufactures.</a:t>
            </a:r>
          </a:p>
          <a:p>
            <a:pPr marL="0" indent="0">
              <a:buNone/>
            </a:pPr>
            <a:r>
              <a:rPr lang="en-US" sz="1800" b="1" dirty="0"/>
              <a:t>Source: </a:t>
            </a:r>
            <a:r>
              <a:rPr lang="en-US" sz="1800" dirty="0"/>
              <a:t>United Nations Council on Trade and Development.</a:t>
            </a:r>
          </a:p>
        </p:txBody>
      </p:sp>
    </p:spTree>
    <p:extLst>
      <p:ext uri="{BB962C8B-B14F-4D97-AF65-F5344CB8AC3E}">
        <p14:creationId xmlns:p14="http://schemas.microsoft.com/office/powerpoint/2010/main" val="264279387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863756-F799-4C05-9A80-BBC36A8BCA21}"/>
              </a:ext>
            </a:extLst>
          </p:cNvPr>
          <p:cNvSpPr>
            <a:spLocks noGrp="1"/>
          </p:cNvSpPr>
          <p:nvPr>
            <p:ph type="title"/>
          </p:nvPr>
        </p:nvSpPr>
        <p:spPr/>
        <p:txBody>
          <a:bodyPr/>
          <a:lstStyle/>
          <a:p>
            <a:r>
              <a:rPr lang="en-US" altLang="en-US" sz="3600" dirty="0"/>
              <a:t>Service Offshoring </a:t>
            </a:r>
            <a:r>
              <a:rPr lang="en-US" altLang="en-US" sz="2000" b="0" dirty="0"/>
              <a:t>(1 of 2)</a:t>
            </a:r>
            <a:endParaRPr lang="en-IN" dirty="0"/>
          </a:p>
        </p:txBody>
      </p:sp>
      <p:sp>
        <p:nvSpPr>
          <p:cNvPr id="3" name="Content Placeholder 2">
            <a:extLst>
              <a:ext uri="{FF2B5EF4-FFF2-40B4-BE49-F238E27FC236}">
                <a16:creationId xmlns:a16="http://schemas.microsoft.com/office/drawing/2014/main" id="{C9DD7A83-C597-4743-85B7-464706061EBD}"/>
              </a:ext>
            </a:extLst>
          </p:cNvPr>
          <p:cNvSpPr>
            <a:spLocks noGrp="1"/>
          </p:cNvSpPr>
          <p:nvPr>
            <p:ph sz="quarter" idx="13"/>
          </p:nvPr>
        </p:nvSpPr>
        <p:spPr>
          <a:xfrm>
            <a:off x="457200" y="1556327"/>
            <a:ext cx="8072846" cy="4586896"/>
          </a:xfrm>
        </p:spPr>
        <p:txBody>
          <a:bodyPr/>
          <a:lstStyle/>
          <a:p>
            <a:pPr>
              <a:spcBef>
                <a:spcPct val="50000"/>
              </a:spcBef>
            </a:pPr>
            <a:r>
              <a:rPr lang="en-US" altLang="en-US" sz="2400" b="1" dirty="0"/>
              <a:t>Service offshoring (or outsourcing) </a:t>
            </a:r>
            <a:r>
              <a:rPr lang="en-US" altLang="en-US" sz="2400" dirty="0"/>
              <a:t>occurs when a firm that provides services moves its operations to a foreign location.</a:t>
            </a:r>
          </a:p>
          <a:p>
            <a:pPr lvl="1"/>
            <a:r>
              <a:rPr lang="en-US" altLang="en-US" sz="2400" dirty="0"/>
              <a:t>Service outsourcing can occur for services that can be transmitted electronically.</a:t>
            </a:r>
          </a:p>
          <a:p>
            <a:pPr lvl="2"/>
            <a:r>
              <a:rPr lang="en-US" altLang="en-US" sz="2400" dirty="0"/>
              <a:t>A firm may move its customer service centers whose telephone calls can be transmitted electronically to a foreign location.</a:t>
            </a:r>
          </a:p>
          <a:p>
            <a:pPr>
              <a:spcBef>
                <a:spcPct val="50000"/>
              </a:spcBef>
            </a:pPr>
            <a:r>
              <a:rPr lang="en-US" altLang="en-US" sz="2400" dirty="0"/>
              <a:t>Other services may not lend themselves to being performed remotely</a:t>
            </a:r>
            <a:r>
              <a:rPr lang="en-US" altLang="en-US" sz="2400" dirty="0" smtClean="0"/>
              <a:t>.</a:t>
            </a:r>
            <a:endParaRPr lang="en-IN" dirty="0"/>
          </a:p>
        </p:txBody>
      </p:sp>
    </p:spTree>
    <p:extLst>
      <p:ext uri="{BB962C8B-B14F-4D97-AF65-F5344CB8AC3E}">
        <p14:creationId xmlns:p14="http://schemas.microsoft.com/office/powerpoint/2010/main" val="31294889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AA47E4-E89E-4556-9E30-1FA98A81DB8F}"/>
              </a:ext>
            </a:extLst>
          </p:cNvPr>
          <p:cNvSpPr>
            <a:spLocks noGrp="1"/>
          </p:cNvSpPr>
          <p:nvPr>
            <p:ph type="title"/>
          </p:nvPr>
        </p:nvSpPr>
        <p:spPr/>
        <p:txBody>
          <a:bodyPr/>
          <a:lstStyle/>
          <a:p>
            <a:r>
              <a:rPr lang="en-US" altLang="en-US" sz="3600" dirty="0" smtClean="0"/>
              <a:t>Service Offshoring </a:t>
            </a:r>
            <a:r>
              <a:rPr lang="en-US" altLang="en-US" sz="2000" b="0" dirty="0" smtClean="0"/>
              <a:t>(2 of 2)</a:t>
            </a:r>
            <a:endParaRPr lang="en-US" dirty="0"/>
          </a:p>
        </p:txBody>
      </p:sp>
      <p:sp>
        <p:nvSpPr>
          <p:cNvPr id="3" name="Content Placeholder 2">
            <a:extLst>
              <a:ext uri="{FF2B5EF4-FFF2-40B4-BE49-F238E27FC236}">
                <a16:creationId xmlns:a16="http://schemas.microsoft.com/office/drawing/2014/main" id="{98CBD3F5-942B-4D2C-8AA7-EE9D451CE792}"/>
              </a:ext>
            </a:extLst>
          </p:cNvPr>
          <p:cNvSpPr>
            <a:spLocks noGrp="1"/>
          </p:cNvSpPr>
          <p:nvPr>
            <p:ph sz="quarter" idx="13"/>
          </p:nvPr>
        </p:nvSpPr>
        <p:spPr/>
        <p:txBody>
          <a:bodyPr/>
          <a:lstStyle/>
          <a:p>
            <a:pPr>
              <a:spcBef>
                <a:spcPct val="50000"/>
              </a:spcBef>
            </a:pPr>
            <a:r>
              <a:rPr lang="en-US" altLang="en-US" sz="2400" dirty="0" smtClean="0"/>
              <a:t>Service outsourcing is currently not a significant part of trade.</a:t>
            </a:r>
          </a:p>
          <a:p>
            <a:pPr lvl="1"/>
            <a:r>
              <a:rPr lang="en-US" altLang="en-US" sz="2400" dirty="0" smtClean="0"/>
              <a:t>Some jobs are </a:t>
            </a:r>
            <a:r>
              <a:rPr lang="en-US" altLang="en-US" dirty="0" smtClean="0"/>
              <a:t>“</a:t>
            </a:r>
            <a:r>
              <a:rPr lang="en-US" altLang="ja-JP" sz="2400" dirty="0" smtClean="0"/>
              <a:t>tradable</a:t>
            </a:r>
            <a:r>
              <a:rPr lang="en-US" altLang="ja-JP" dirty="0" smtClean="0"/>
              <a:t>”</a:t>
            </a:r>
            <a:r>
              <a:rPr lang="en-US" altLang="ja-JP" sz="2400" dirty="0" smtClean="0"/>
              <a:t> and thus have the </a:t>
            </a:r>
            <a:r>
              <a:rPr lang="en-US" altLang="ja-JP" sz="2400" b="1" dirty="0" smtClean="0"/>
              <a:t>potential</a:t>
            </a:r>
            <a:r>
              <a:rPr lang="en-US" altLang="ja-JP" sz="2400" dirty="0" smtClean="0"/>
              <a:t> to be outsourced.</a:t>
            </a:r>
          </a:p>
          <a:p>
            <a:pPr lvl="1"/>
            <a:r>
              <a:rPr lang="en-US" altLang="en-US" sz="2400" dirty="0" smtClean="0"/>
              <a:t>Most jobs (about 60 percent) need to be done close to the customer, making them nontradable.</a:t>
            </a:r>
            <a:endParaRPr lang="en-US" dirty="0"/>
          </a:p>
        </p:txBody>
      </p:sp>
    </p:spTree>
    <p:extLst>
      <p:ext uri="{BB962C8B-B14F-4D97-AF65-F5344CB8AC3E}">
        <p14:creationId xmlns:p14="http://schemas.microsoft.com/office/powerpoint/2010/main" val="93232696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BF8D8C-81AD-4749-85D9-6FC0698281EB}"/>
              </a:ext>
            </a:extLst>
          </p:cNvPr>
          <p:cNvSpPr>
            <a:spLocks noGrp="1"/>
          </p:cNvSpPr>
          <p:nvPr>
            <p:ph type="title"/>
          </p:nvPr>
        </p:nvSpPr>
        <p:spPr/>
        <p:txBody>
          <a:bodyPr/>
          <a:lstStyle/>
          <a:p>
            <a:r>
              <a:rPr lang="en-US" altLang="en-US" sz="3200" dirty="0"/>
              <a:t>Figure 2.8 Tradable Industries’ </a:t>
            </a:r>
            <a:r>
              <a:rPr lang="en-US" altLang="ja-JP" sz="3200" dirty="0"/>
              <a:t>Share of Employment</a:t>
            </a:r>
            <a:endParaRPr lang="en-IN" sz="3200" dirty="0"/>
          </a:p>
        </p:txBody>
      </p:sp>
      <p:pic>
        <p:nvPicPr>
          <p:cNvPr id="6" name="Content Placeholder 5" descr="A pie chart depicts tradable industries’ share of employment. For long description in Notes pane, press F6.">
            <a:extLst>
              <a:ext uri="{FF2B5EF4-FFF2-40B4-BE49-F238E27FC236}">
                <a16:creationId xmlns:a16="http://schemas.microsoft.com/office/drawing/2014/main" id="{6C192836-3117-4004-BC0A-C785B063B479}"/>
              </a:ext>
            </a:extLst>
          </p:cNvPr>
          <p:cNvPicPr>
            <a:picLocks noGrp="1" noChangeAspect="1"/>
          </p:cNvPicPr>
          <p:nvPr>
            <p:ph sz="quarter" idx="13"/>
          </p:nvPr>
        </p:nvPicPr>
        <p:blipFill>
          <a:blip r:embed="rId3"/>
          <a:stretch>
            <a:fillRect/>
          </a:stretch>
        </p:blipFill>
        <p:spPr>
          <a:xfrm>
            <a:off x="2914120" y="1712307"/>
            <a:ext cx="3315758" cy="2744931"/>
          </a:xfrm>
        </p:spPr>
      </p:pic>
      <p:sp>
        <p:nvSpPr>
          <p:cNvPr id="4" name="Content Placeholder 3">
            <a:extLst>
              <a:ext uri="{FF2B5EF4-FFF2-40B4-BE49-F238E27FC236}">
                <a16:creationId xmlns:a16="http://schemas.microsoft.com/office/drawing/2014/main" id="{78A7BFEF-F0F9-4CAA-AD19-B14813A17528}"/>
              </a:ext>
            </a:extLst>
          </p:cNvPr>
          <p:cNvSpPr>
            <a:spLocks noGrp="1"/>
          </p:cNvSpPr>
          <p:nvPr>
            <p:ph sz="quarter" idx="14"/>
          </p:nvPr>
        </p:nvSpPr>
        <p:spPr>
          <a:xfrm>
            <a:off x="457200" y="4605451"/>
            <a:ext cx="8033657" cy="1739592"/>
          </a:xfrm>
        </p:spPr>
        <p:txBody>
          <a:bodyPr/>
          <a:lstStyle/>
          <a:p>
            <a:pPr marL="0" indent="0">
              <a:buNone/>
            </a:pPr>
            <a:r>
              <a:rPr lang="en-US" sz="1800" dirty="0"/>
              <a:t>Estimates based on trade within the United States suggest that trade in services may eventually become bigger than trade in manufactures.</a:t>
            </a:r>
          </a:p>
          <a:p>
            <a:pPr marL="0" indent="0">
              <a:buNone/>
            </a:pPr>
            <a:r>
              <a:rPr lang="en-US" sz="1600" b="1" dirty="0"/>
              <a:t>Source: </a:t>
            </a:r>
            <a:r>
              <a:rPr lang="en-US" sz="1600" dirty="0"/>
              <a:t>J. Bradford Jensen and Lori G. Kletzer, “Tradable Services: Understanding the Scope and Impact of Services Outsourcing,” Peterson Institute of Economics Working Paper 5–09, May 2005.</a:t>
            </a:r>
          </a:p>
        </p:txBody>
      </p:sp>
    </p:spTree>
    <p:extLst>
      <p:ext uri="{BB962C8B-B14F-4D97-AF65-F5344CB8AC3E}">
        <p14:creationId xmlns:p14="http://schemas.microsoft.com/office/powerpoint/2010/main" val="102105453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487A55-90F0-45AD-9958-68A8EB322770}"/>
              </a:ext>
            </a:extLst>
          </p:cNvPr>
          <p:cNvSpPr>
            <a:spLocks noGrp="1"/>
          </p:cNvSpPr>
          <p:nvPr>
            <p:ph type="title"/>
          </p:nvPr>
        </p:nvSpPr>
        <p:spPr/>
        <p:txBody>
          <a:bodyPr/>
          <a:lstStyle/>
          <a:p>
            <a:r>
              <a:rPr lang="en-US" dirty="0"/>
              <a:t>Do Old Rules Still Apply?</a:t>
            </a:r>
            <a:endParaRPr lang="en-IN" dirty="0"/>
          </a:p>
        </p:txBody>
      </p:sp>
      <p:sp>
        <p:nvSpPr>
          <p:cNvPr id="3" name="Content Placeholder 2">
            <a:extLst>
              <a:ext uri="{FF2B5EF4-FFF2-40B4-BE49-F238E27FC236}">
                <a16:creationId xmlns:a16="http://schemas.microsoft.com/office/drawing/2014/main" id="{5A3E5826-40B8-4EE4-AD32-8DFCF6710423}"/>
              </a:ext>
            </a:extLst>
          </p:cNvPr>
          <p:cNvSpPr>
            <a:spLocks noGrp="1"/>
          </p:cNvSpPr>
          <p:nvPr>
            <p:ph sz="quarter" idx="13"/>
          </p:nvPr>
        </p:nvSpPr>
        <p:spPr/>
        <p:txBody>
          <a:bodyPr/>
          <a:lstStyle/>
          <a:p>
            <a:r>
              <a:rPr lang="en-US" sz="2200" dirty="0"/>
              <a:t>The sources of modern trade are more subtle than before. </a:t>
            </a:r>
          </a:p>
          <a:p>
            <a:pPr lvl="1"/>
            <a:r>
              <a:rPr lang="en-US" sz="2200" dirty="0"/>
              <a:t>Human resources and human-created resources (in the form of machinery and other types of capital) are more important than natural resources.</a:t>
            </a:r>
          </a:p>
          <a:p>
            <a:pPr lvl="1"/>
            <a:r>
              <a:rPr lang="en-US" sz="2200" dirty="0"/>
              <a:t>Political battles over trade typically involve workers whose skills are made less valuable by imports, such as clothing workers who face competition from imported apparel</a:t>
            </a:r>
            <a:r>
              <a:rPr lang="en-US" sz="2200" dirty="0">
                <a:solidFill>
                  <a:srgbClr val="FF0000"/>
                </a:solidFill>
              </a:rPr>
              <a:t>,</a:t>
            </a:r>
            <a:r>
              <a:rPr lang="en-US" sz="2200" dirty="0"/>
              <a:t> and tech workers who now face competition from Bangalore.</a:t>
            </a:r>
          </a:p>
          <a:p>
            <a:r>
              <a:rPr lang="en-US" sz="2200" dirty="0"/>
              <a:t>Even though much about international trade has changed, the fundamental principles discovered by economists at the dawn of a global economy still apply, as we shall see in the upcoming chapters about why international trade occurs.</a:t>
            </a:r>
          </a:p>
        </p:txBody>
      </p:sp>
    </p:spTree>
    <p:extLst>
      <p:ext uri="{BB962C8B-B14F-4D97-AF65-F5344CB8AC3E}">
        <p14:creationId xmlns:p14="http://schemas.microsoft.com/office/powerpoint/2010/main" val="132259457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F1181D-F6F3-448F-B01F-DC72CB2B9EB9}"/>
              </a:ext>
            </a:extLst>
          </p:cNvPr>
          <p:cNvSpPr>
            <a:spLocks noGrp="1"/>
          </p:cNvSpPr>
          <p:nvPr>
            <p:ph type="title"/>
          </p:nvPr>
        </p:nvSpPr>
        <p:spPr/>
        <p:txBody>
          <a:bodyPr/>
          <a:lstStyle/>
          <a:p>
            <a:r>
              <a:rPr lang="en-US" altLang="en-US" sz="3600" dirty="0"/>
              <a:t>Summary </a:t>
            </a:r>
            <a:r>
              <a:rPr lang="en-US" altLang="en-US" sz="2000" b="0" dirty="0"/>
              <a:t>(1 of 2)</a:t>
            </a:r>
            <a:endParaRPr lang="en-IN" dirty="0"/>
          </a:p>
        </p:txBody>
      </p:sp>
      <p:sp>
        <p:nvSpPr>
          <p:cNvPr id="3" name="Content Placeholder 2">
            <a:extLst>
              <a:ext uri="{FF2B5EF4-FFF2-40B4-BE49-F238E27FC236}">
                <a16:creationId xmlns:a16="http://schemas.microsoft.com/office/drawing/2014/main" id="{26E9E266-21BC-4DC1-84A3-A82901F7B3E3}"/>
              </a:ext>
            </a:extLst>
          </p:cNvPr>
          <p:cNvSpPr>
            <a:spLocks noGrp="1"/>
          </p:cNvSpPr>
          <p:nvPr>
            <p:ph sz="quarter" idx="13"/>
          </p:nvPr>
        </p:nvSpPr>
        <p:spPr/>
        <p:txBody>
          <a:bodyPr/>
          <a:lstStyle/>
          <a:p>
            <a:pPr marL="432000" indent="-432000">
              <a:buFont typeface="+mj-lt"/>
              <a:buAutoNum type="arabicPeriod"/>
            </a:pPr>
            <a:r>
              <a:rPr lang="en-US" altLang="en-US" sz="2400" dirty="0"/>
              <a:t>The five largest trading partners with the United States are Mexico, Canada, China, Japan, and Germany.</a:t>
            </a:r>
          </a:p>
          <a:p>
            <a:pPr marL="432000" indent="-432000">
              <a:buFont typeface="+mj-lt"/>
              <a:buAutoNum type="arabicPeriod"/>
            </a:pPr>
            <a:r>
              <a:rPr lang="en-US" altLang="en-US" sz="2400" dirty="0"/>
              <a:t>The largest economies in the E</a:t>
            </a:r>
            <a:r>
              <a:rPr lang="en-US" altLang="en-US" sz="100" dirty="0"/>
              <a:t> </a:t>
            </a:r>
            <a:r>
              <a:rPr lang="en-US" altLang="en-US" sz="2400" dirty="0"/>
              <a:t>U undertake the largest fraction of the total trade between the E</a:t>
            </a:r>
            <a:r>
              <a:rPr lang="en-US" altLang="en-US" sz="100" dirty="0"/>
              <a:t> </a:t>
            </a:r>
            <a:r>
              <a:rPr lang="en-US" altLang="en-US" sz="2400" dirty="0"/>
              <a:t>U and the United States.</a:t>
            </a:r>
          </a:p>
          <a:p>
            <a:pPr marL="432000" indent="-432000">
              <a:buFont typeface="+mj-lt"/>
              <a:buAutoNum type="arabicPeriod"/>
            </a:pPr>
            <a:r>
              <a:rPr lang="en-US" altLang="en-US" sz="2400" dirty="0"/>
              <a:t>The gravity model relates the trade between any two countries to the sizes of their economies. Using the gravity model also reveals the strong effects of distance and international borders in discouraging trade.</a:t>
            </a:r>
          </a:p>
        </p:txBody>
      </p:sp>
    </p:spTree>
    <p:extLst>
      <p:ext uri="{BB962C8B-B14F-4D97-AF65-F5344CB8AC3E}">
        <p14:creationId xmlns:p14="http://schemas.microsoft.com/office/powerpoint/2010/main" val="98824669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F1181D-F6F3-448F-B01F-DC72CB2B9EB9}"/>
              </a:ext>
            </a:extLst>
          </p:cNvPr>
          <p:cNvSpPr>
            <a:spLocks noGrp="1"/>
          </p:cNvSpPr>
          <p:nvPr>
            <p:ph type="title"/>
          </p:nvPr>
        </p:nvSpPr>
        <p:spPr/>
        <p:txBody>
          <a:bodyPr/>
          <a:lstStyle/>
          <a:p>
            <a:r>
              <a:rPr lang="en-US" altLang="en-US" sz="3600" dirty="0"/>
              <a:t>Summary </a:t>
            </a:r>
            <a:r>
              <a:rPr lang="en-US" altLang="en-US" sz="2000" b="0" dirty="0"/>
              <a:t>(2 of 2)</a:t>
            </a:r>
            <a:endParaRPr lang="en-IN" dirty="0"/>
          </a:p>
        </p:txBody>
      </p:sp>
      <p:sp>
        <p:nvSpPr>
          <p:cNvPr id="3" name="Content Placeholder 2">
            <a:extLst>
              <a:ext uri="{FF2B5EF4-FFF2-40B4-BE49-F238E27FC236}">
                <a16:creationId xmlns:a16="http://schemas.microsoft.com/office/drawing/2014/main" id="{26E9E266-21BC-4DC1-84A3-A82901F7B3E3}"/>
              </a:ext>
            </a:extLst>
          </p:cNvPr>
          <p:cNvSpPr>
            <a:spLocks noGrp="1"/>
          </p:cNvSpPr>
          <p:nvPr>
            <p:ph sz="quarter" idx="13"/>
          </p:nvPr>
        </p:nvSpPr>
        <p:spPr/>
        <p:txBody>
          <a:bodyPr/>
          <a:lstStyle/>
          <a:p>
            <a:pPr marL="432000" indent="-432000">
              <a:buFont typeface="+mj-lt"/>
              <a:buAutoNum type="arabicPeriod" startAt="4"/>
            </a:pPr>
            <a:r>
              <a:rPr lang="en-US" altLang="en-US" sz="2200" dirty="0"/>
              <a:t>International trade is at record levels relative to the size of the world economy, thanks to falling costs of transportation and communications. The world was highly integrated in 1914, but trade was greatly reduced by economic depression, protectionism, and war and took decades to recover.</a:t>
            </a:r>
          </a:p>
          <a:p>
            <a:pPr marL="432000" indent="-432000">
              <a:buFont typeface="+mj-lt"/>
              <a:buAutoNum type="arabicPeriod" startAt="4"/>
            </a:pPr>
            <a:r>
              <a:rPr lang="en-US" altLang="en-US" sz="2200" dirty="0"/>
              <a:t>Manufactured goods dominate modern trade today. In the past, however, primary products were much more important than they are now.</a:t>
            </a:r>
          </a:p>
          <a:p>
            <a:pPr marL="432000" indent="-432000">
              <a:buFont typeface="+mj-lt"/>
              <a:buAutoNum type="arabicPeriod" startAt="4"/>
            </a:pPr>
            <a:r>
              <a:rPr lang="en-US" altLang="en-US" sz="2200" dirty="0"/>
              <a:t>Developing countries, in particular, have shifted from being mainly exporters of primary products to being mainly exporters of manufactured goods.</a:t>
            </a:r>
          </a:p>
        </p:txBody>
      </p:sp>
    </p:spTree>
    <p:extLst>
      <p:ext uri="{BB962C8B-B14F-4D97-AF65-F5344CB8AC3E}">
        <p14:creationId xmlns:p14="http://schemas.microsoft.com/office/powerpoint/2010/main" val="10995014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84"/>
        <p:cNvGrpSpPr/>
        <p:nvPr/>
      </p:nvGrpSpPr>
      <p:grpSpPr>
        <a:xfrm>
          <a:off x="0" y="0"/>
          <a:ext cx="0" cy="0"/>
          <a:chOff x="0" y="0"/>
          <a:chExt cx="0" cy="0"/>
        </a:xfrm>
      </p:grpSpPr>
      <p:sp>
        <p:nvSpPr>
          <p:cNvPr id="5" name="Title 4">
            <a:extLst>
              <a:ext uri="{FF2B5EF4-FFF2-40B4-BE49-F238E27FC236}">
                <a16:creationId xmlns:a16="http://schemas.microsoft.com/office/drawing/2014/main" id="{E47FF819-0D5D-491A-BF8F-B42813E7390C}"/>
              </a:ext>
            </a:extLst>
          </p:cNvPr>
          <p:cNvSpPr>
            <a:spLocks noGrp="1"/>
          </p:cNvSpPr>
          <p:nvPr>
            <p:ph type="title"/>
          </p:nvPr>
        </p:nvSpPr>
        <p:spPr/>
        <p:txBody>
          <a:bodyPr/>
          <a:lstStyle/>
          <a:p>
            <a:r>
              <a:rPr lang="en-US" dirty="0"/>
              <a:t>Copyright</a:t>
            </a:r>
          </a:p>
        </p:txBody>
      </p:sp>
      <p:pic>
        <p:nvPicPr>
          <p:cNvPr id="7" name="Graphic 6" descr="Warning">
            <a:extLst>
              <a:ext uri="{FF2B5EF4-FFF2-40B4-BE49-F238E27FC236}">
                <a16:creationId xmlns:a16="http://schemas.microsoft.com/office/drawing/2014/main" id="{C06FB2D2-3F36-42C9-A5A6-B6234DC54C96}"/>
              </a:ext>
            </a:extLst>
          </p:cNvPr>
          <p:cNvPicPr>
            <a:picLocks noChangeAspect="1"/>
          </p:cNvPicPr>
          <p:nvPr/>
        </p:nvPicPr>
        <p:blipFill>
          <a:blip r:embed="rId3">
            <a:extLst>
              <a:ext uri="{96DAC541-7B7A-43D3-8B79-37D633B846F1}">
                <asvg:svgBlip xmlns:asvg="http://schemas.microsoft.com/office/drawing/2016/SVG/main" xmlns="" r:embed="rId4"/>
              </a:ext>
            </a:extLst>
          </a:blip>
          <a:stretch>
            <a:fillRect/>
          </a:stretch>
        </p:blipFill>
        <p:spPr>
          <a:xfrm>
            <a:off x="246184" y="2317359"/>
            <a:ext cx="1277815" cy="1434026"/>
          </a:xfrm>
          <a:prstGeom prst="rect">
            <a:avLst/>
          </a:prstGeom>
        </p:spPr>
      </p:pic>
      <p:sp>
        <p:nvSpPr>
          <p:cNvPr id="2" name="Text Placeholder 1">
            <a:extLst>
              <a:ext uri="{FF2B5EF4-FFF2-40B4-BE49-F238E27FC236}">
                <a16:creationId xmlns:a16="http://schemas.microsoft.com/office/drawing/2014/main" id="{AD5FAE7B-F718-4307-B112-AD6256157E8F}"/>
              </a:ext>
            </a:extLst>
          </p:cNvPr>
          <p:cNvSpPr>
            <a:spLocks noGrp="1"/>
          </p:cNvSpPr>
          <p:nvPr>
            <p:ph type="body" idx="4294967295"/>
          </p:nvPr>
        </p:nvSpPr>
        <p:spPr>
          <a:xfrm>
            <a:off x="1606061" y="1852246"/>
            <a:ext cx="6858001" cy="2854836"/>
          </a:xfrm>
          <a:ln/>
        </p:spPr>
        <p:style>
          <a:lnRef idx="2">
            <a:schemeClr val="dk1"/>
          </a:lnRef>
          <a:fillRef idx="1">
            <a:schemeClr val="lt1"/>
          </a:fillRef>
          <a:effectRef idx="0">
            <a:schemeClr val="dk1"/>
          </a:effectRef>
          <a:fontRef idx="minor">
            <a:schemeClr val="dk1"/>
          </a:fontRef>
        </p:style>
        <p:txBody>
          <a:bodyPr lIns="182880" tIns="182880" rIns="182880" bIns="182880" anchor="ctr"/>
          <a:lstStyle/>
          <a:p>
            <a:pPr marL="101600" indent="0">
              <a:buNone/>
            </a:pPr>
            <a:r>
              <a:rPr lang="en-US" b="1" dirty="0"/>
              <a:t>This work is protected by United States copyright laws and is</a:t>
            </a:r>
            <a:r>
              <a:rPr lang="en-US" b="1" baseline="0" dirty="0"/>
              <a:t> </a:t>
            </a:r>
            <a:r>
              <a:rPr lang="en-US" b="1" dirty="0"/>
              <a:t>provided solely for the use of instructors in teaching their courses and assessing student learning. Dissemination or sale of any part of this work (including on the World Wide Web) will destroy the integrity of the work and is not permitted. The work and materials from it should never be made available to students except by instructors using the accompanying text in their classes. All recipients of this work are expected to abide by these restrictions and to honor the intended pedagogical purposes and the needs of other instructors who rely on these materials.</a:t>
            </a:r>
          </a:p>
        </p:txBody>
      </p:sp>
    </p:spTree>
  </p:cSld>
  <p:clrMapOvr>
    <a:masterClrMapping/>
  </p:clrMapOvr>
</p:sld>
</file>

<file path=ppt/theme/theme1.xml><?xml version="1.0" encoding="utf-8"?>
<a:theme xmlns:a="http://schemas.openxmlformats.org/drawingml/2006/main" name="USH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USHE_slide options">
  <a:themeElements>
    <a:clrScheme name="Custom 40">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33399"/>
      </a:hlink>
      <a:folHlink>
        <a:srgbClr val="7030A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148070</TotalTime>
  <Words>3382</Words>
  <Application>Microsoft Office PowerPoint</Application>
  <PresentationFormat>On-screen Show (4:3)</PresentationFormat>
  <Paragraphs>209</Paragraphs>
  <Slides>34</Slides>
  <Notes>10</Notes>
  <HiddenSlides>0</HiddenSlides>
  <MMClips>0</MMClips>
  <ScaleCrop>false</ScaleCrop>
  <HeadingPairs>
    <vt:vector size="8" baseType="variant">
      <vt:variant>
        <vt:lpstr>Fonts Used</vt:lpstr>
      </vt:variant>
      <vt:variant>
        <vt:i4>5</vt:i4>
      </vt:variant>
      <vt:variant>
        <vt:lpstr>Theme</vt:lpstr>
      </vt:variant>
      <vt:variant>
        <vt:i4>2</vt:i4>
      </vt:variant>
      <vt:variant>
        <vt:lpstr>Embedded OLE Servers</vt:lpstr>
      </vt:variant>
      <vt:variant>
        <vt:i4>2</vt:i4>
      </vt:variant>
      <vt:variant>
        <vt:lpstr>Slide Titles</vt:lpstr>
      </vt:variant>
      <vt:variant>
        <vt:i4>34</vt:i4>
      </vt:variant>
    </vt:vector>
  </HeadingPairs>
  <TitlesOfParts>
    <vt:vector size="43" baseType="lpstr">
      <vt:lpstr>Noto Sans Symbols</vt:lpstr>
      <vt:lpstr>Times New Roman</vt:lpstr>
      <vt:lpstr>Verdana</vt:lpstr>
      <vt:lpstr>Times</vt:lpstr>
      <vt:lpstr>Arial</vt:lpstr>
      <vt:lpstr>USHE</vt:lpstr>
      <vt:lpstr>USHE_slide options</vt:lpstr>
      <vt:lpstr>MathType 6.0 Equation</vt:lpstr>
      <vt:lpstr>Equation</vt:lpstr>
      <vt:lpstr>International Economics: Theory and Policy</vt:lpstr>
      <vt:lpstr>Learning Objectives</vt:lpstr>
      <vt:lpstr>Preview</vt:lpstr>
      <vt:lpstr>Who Trades with Whom?</vt:lpstr>
      <vt:lpstr>Figure 2.1 Total U.S. Trade with Major Partners, 2019</vt:lpstr>
      <vt:lpstr>Size Matters: The Gravity Model (1 of 3)</vt:lpstr>
      <vt:lpstr>Figure 2.2 The Size of European Economies and the Value of Their Trade with the United States</vt:lpstr>
      <vt:lpstr>Size Matters: The Gravity Model (2 of 3)</vt:lpstr>
      <vt:lpstr>Size Matters: The Gravity Model (3 of 3)</vt:lpstr>
      <vt:lpstr>Using the Gravity Model: Looking for Anomalies</vt:lpstr>
      <vt:lpstr>Impediments to Trade: Distance, Barriers, and Borders (1 of 4)</vt:lpstr>
      <vt:lpstr>Impediments to Trade: Distance, Barriers, and Borders (2 of 4)</vt:lpstr>
      <vt:lpstr>Impediments to Trade: Distance, Barriers, and Borders (3 of 4)</vt:lpstr>
      <vt:lpstr>Figure 2.3 Economic Size and Trade with the United States</vt:lpstr>
      <vt:lpstr>Impediments to Trade: Distance, Barriers, and Borders (4 of 4)</vt:lpstr>
      <vt:lpstr>Figure 2.4 Canadian Provinces and U.S. States that Trade with British Columbia</vt:lpstr>
      <vt:lpstr>Table 2.1 Trade with British Columbia, as Percent of G D P, 2009</vt:lpstr>
      <vt:lpstr>The Changing Pattern of World Trade: Has the World Gotten Smaller? (1 of 3)</vt:lpstr>
      <vt:lpstr>The Changing Pattern of World Trade: Has the World Gotten Smaller? (2 of 3)</vt:lpstr>
      <vt:lpstr>The Changing Pattern of World Trade: Has the World Gotten Smaller? (3 of 3)</vt:lpstr>
      <vt:lpstr>Figure 2.5 The Fall and Rise of World Trade</vt:lpstr>
      <vt:lpstr>What Do We Trade? (1 of 3)</vt:lpstr>
      <vt:lpstr>Figure 2.6 The Composition of World Trade, 2017</vt:lpstr>
      <vt:lpstr>What Do We Trade? (2 of 3)</vt:lpstr>
      <vt:lpstr>Table 2.2 Manufactured Goods as Percent of Merchandise Trade</vt:lpstr>
      <vt:lpstr>What Do We Trade? (3 of 3)</vt:lpstr>
      <vt:lpstr>Figure 2.7 The Changing Composition of Developing-Country Exports</vt:lpstr>
      <vt:lpstr>Service Offshoring (1 of 2)</vt:lpstr>
      <vt:lpstr>Service Offshoring (2 of 2)</vt:lpstr>
      <vt:lpstr>Figure 2.8 Tradable Industries’ Share of Employment</vt:lpstr>
      <vt:lpstr>Do Old Rules Still Apply?</vt:lpstr>
      <vt:lpstr>Summary (1 of 2)</vt:lpstr>
      <vt:lpstr>Summary (2 of 2)</vt:lpstr>
      <vt:lpstr>Copyright</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International Economics: Theory and Policy, Twelfth Edition, Chapter 2, World Trade: An Overview</dc:title>
  <dc:subject>Business</dc:subject>
  <dc:creator>Krugman/Obstfeld/Melitz</dc:creator>
  <cp:keywords>International Economics</cp:keywords>
  <dc:description>Long description alt-text is inserted in the notes pane._x000d_
</dc:description>
  <cp:lastModifiedBy>Windows User</cp:lastModifiedBy>
  <cp:revision>982</cp:revision>
  <dcterms:modified xsi:type="dcterms:W3CDTF">2021-11-15T13:08:48Z</dcterms:modified>
</cp:coreProperties>
</file>