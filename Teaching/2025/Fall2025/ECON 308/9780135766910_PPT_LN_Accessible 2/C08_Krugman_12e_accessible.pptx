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jpeg" ContentType="image/jpeg"/>
  <Default Extension="wmf" ContentType="image/x-w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86"/>
  </p:notesMasterIdLst>
  <p:handoutMasterIdLst>
    <p:handoutMasterId r:id="rId87"/>
  </p:handoutMasterIdLst>
  <p:sldIdLst>
    <p:sldId id="330" r:id="rId3"/>
    <p:sldId id="331" r:id="rId4"/>
    <p:sldId id="337" r:id="rId5"/>
    <p:sldId id="336"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9" r:id="rId23"/>
    <p:sldId id="360" r:id="rId24"/>
    <p:sldId id="361" r:id="rId25"/>
    <p:sldId id="362" r:id="rId26"/>
    <p:sldId id="363" r:id="rId27"/>
    <p:sldId id="357" r:id="rId28"/>
    <p:sldId id="358" r:id="rId29"/>
    <p:sldId id="364" r:id="rId30"/>
    <p:sldId id="365" r:id="rId31"/>
    <p:sldId id="367" r:id="rId32"/>
    <p:sldId id="370" r:id="rId33"/>
    <p:sldId id="371" r:id="rId34"/>
    <p:sldId id="372" r:id="rId35"/>
    <p:sldId id="373" r:id="rId36"/>
    <p:sldId id="368" r:id="rId37"/>
    <p:sldId id="369" r:id="rId38"/>
    <p:sldId id="366" r:id="rId39"/>
    <p:sldId id="374" r:id="rId40"/>
    <p:sldId id="375" r:id="rId41"/>
    <p:sldId id="377" r:id="rId42"/>
    <p:sldId id="378" r:id="rId43"/>
    <p:sldId id="379" r:id="rId44"/>
    <p:sldId id="376" r:id="rId45"/>
    <p:sldId id="380" r:id="rId46"/>
    <p:sldId id="381" r:id="rId47"/>
    <p:sldId id="382" r:id="rId48"/>
    <p:sldId id="383" r:id="rId49"/>
    <p:sldId id="384" r:id="rId50"/>
    <p:sldId id="385" r:id="rId51"/>
    <p:sldId id="386" r:id="rId52"/>
    <p:sldId id="387" r:id="rId53"/>
    <p:sldId id="388" r:id="rId54"/>
    <p:sldId id="389" r:id="rId55"/>
    <p:sldId id="390" r:id="rId56"/>
    <p:sldId id="391" r:id="rId57"/>
    <p:sldId id="392" r:id="rId58"/>
    <p:sldId id="393" r:id="rId59"/>
    <p:sldId id="394" r:id="rId60"/>
    <p:sldId id="395" r:id="rId61"/>
    <p:sldId id="396" r:id="rId62"/>
    <p:sldId id="398" r:id="rId63"/>
    <p:sldId id="399" r:id="rId64"/>
    <p:sldId id="400" r:id="rId65"/>
    <p:sldId id="397" r:id="rId66"/>
    <p:sldId id="401" r:id="rId67"/>
    <p:sldId id="402" r:id="rId68"/>
    <p:sldId id="404" r:id="rId69"/>
    <p:sldId id="405" r:id="rId70"/>
    <p:sldId id="406" r:id="rId71"/>
    <p:sldId id="407" r:id="rId72"/>
    <p:sldId id="408" r:id="rId73"/>
    <p:sldId id="409" r:id="rId74"/>
    <p:sldId id="403" r:id="rId75"/>
    <p:sldId id="410" r:id="rId76"/>
    <p:sldId id="411" r:id="rId77"/>
    <p:sldId id="412" r:id="rId78"/>
    <p:sldId id="413" r:id="rId79"/>
    <p:sldId id="414" r:id="rId80"/>
    <p:sldId id="415" r:id="rId81"/>
    <p:sldId id="356" r:id="rId82"/>
    <p:sldId id="355" r:id="rId83"/>
    <p:sldId id="354" r:id="rId84"/>
    <p:sldId id="298" r:id="rId85"/>
  </p:sldIdLst>
  <p:sldSz cx="9144000" cy="6858000" type="screen4x3"/>
  <p:notesSz cx="6858000" cy="9144000"/>
  <p:embeddedFontLst>
    <p:embeddedFont>
      <p:font typeface="Verdana" panose="020B0604030504040204" pitchFamily="34" charset="0"/>
      <p:regular r:id="rId88"/>
      <p:bold r:id="rId89"/>
      <p:italic r:id="rId90"/>
      <p:boldItalic r:id="rId91"/>
    </p:embeddedFont>
    <p:embeddedFont>
      <p:font typeface="Noto Sans Symbols" panose="020B0604020202020204" charset="0"/>
      <p:regular r:id="rId92"/>
      <p:bold r:id="rId93"/>
      <p:italic r:id="rId94"/>
      <p:boldItalic r:id="rId95"/>
    </p:embeddedFont>
    <p:embeddedFont>
      <p:font typeface="Times" panose="02020603050405020304" pitchFamily="18"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19" autoAdjust="0"/>
    <p:restoredTop sz="75237" autoAdjust="0"/>
  </p:normalViewPr>
  <p:slideViewPr>
    <p:cSldViewPr snapToGrid="0" snapToObjects="1">
      <p:cViewPr varScale="1">
        <p:scale>
          <a:sx n="81" d="100"/>
          <a:sy n="81" d="100"/>
        </p:scale>
        <p:origin x="1464" y="90"/>
      </p:cViewPr>
      <p:guideLst>
        <p:guide orient="horz" pos="3997"/>
        <p:guide pos="295"/>
        <p:guide orient="horz" pos="4178"/>
        <p:guide orient="horz" pos="119"/>
        <p:guide orient="horz" pos="822"/>
        <p:guide orient="horz" pos="981"/>
        <p:guide pos="635"/>
      </p:guideLst>
    </p:cSldViewPr>
  </p:slideViewPr>
  <p:outlineViewPr>
    <p:cViewPr>
      <p:scale>
        <a:sx n="33" d="100"/>
        <a:sy n="33" d="100"/>
      </p:scale>
      <p:origin x="0" y="-65952"/>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font" Target="fonts/font2.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handoutMaster" Target="handoutMasters/handoutMaster1.xml"/><Relationship Id="rId102"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font" Target="fonts/font3.fntdata"/><Relationship Id="rId95"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font" Target="fonts/font6.fntdata"/><Relationship Id="rId98"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94" Type="http://schemas.openxmlformats.org/officeDocument/2006/relationships/font" Target="fonts/font7.fntdata"/><Relationship Id="rId99" Type="http://schemas.openxmlformats.org/officeDocument/2006/relationships/font" Target="fonts/font12.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font" Target="fonts/font10.fntdata"/><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11/10/2021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8817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smtClean="0"/>
              <a:t>A </a:t>
            </a:r>
            <a:r>
              <a:rPr lang="en-US" dirty="0"/>
              <a:t>C curve falls with decreasing steepness above a horizontal M C curve. The D curve is a falling line crossing both the </a:t>
            </a:r>
            <a:r>
              <a:rPr lang="en-US" dirty="0" smtClean="0"/>
              <a:t>A </a:t>
            </a:r>
            <a:r>
              <a:rPr lang="en-US" dirty="0"/>
              <a:t>C and M C curves. The M R curve is line to the left of the D curve that falls more steeply through the </a:t>
            </a:r>
            <a:r>
              <a:rPr lang="en-US" dirty="0" smtClean="0"/>
              <a:t>A </a:t>
            </a:r>
            <a:r>
              <a:rPr lang="en-US" dirty="0"/>
              <a:t>C and M R curves. A point is plotted at the intersection of the M C and M R curves, where x = Q sub M. A dashed vertical line from x = Q sub M crosses the </a:t>
            </a:r>
            <a:r>
              <a:rPr lang="en-US" dirty="0" smtClean="0"/>
              <a:t>A </a:t>
            </a:r>
            <a:r>
              <a:rPr lang="en-US" dirty="0"/>
              <a:t>C curve at y = </a:t>
            </a:r>
            <a:r>
              <a:rPr lang="en-US" dirty="0" smtClean="0"/>
              <a:t>A </a:t>
            </a:r>
            <a:r>
              <a:rPr lang="en-US" dirty="0"/>
              <a:t>C, and ends at a point on the D curve where y = P sub M. Dotted horizontal lines between the y-axis and the D and </a:t>
            </a:r>
            <a:r>
              <a:rPr lang="en-US" dirty="0" smtClean="0"/>
              <a:t>A </a:t>
            </a:r>
            <a:r>
              <a:rPr lang="en-US" dirty="0"/>
              <a:t>C curve form a rectangular, shaded area, with the upper side at y = P sub M and the lower side at y = </a:t>
            </a:r>
            <a:r>
              <a:rPr lang="en-US" dirty="0" smtClean="0"/>
              <a:t>A </a:t>
            </a:r>
            <a:r>
              <a:rPr lang="en-US" dirty="0"/>
              <a:t>C.</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39729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rising line, C C, begins at the y-axis and passes through point E. A curve, P P, falls with decreasing steepness and intersects C C at point E, with coordinates (n sub 2, P sub 2, </a:t>
            </a:r>
            <a:r>
              <a:rPr lang="en-US" dirty="0" smtClean="0"/>
              <a:t>A </a:t>
            </a:r>
            <a:r>
              <a:rPr lang="en-US" dirty="0"/>
              <a:t>C sub 2), shown by dotted lines. Additional dotted lines from x and y-values form points of intersection as follows: (n sub 1, P sub 1) in the upper section of P P; (n sub 1, </a:t>
            </a:r>
            <a:r>
              <a:rPr lang="en-US" dirty="0" smtClean="0"/>
              <a:t>A </a:t>
            </a:r>
            <a:r>
              <a:rPr lang="en-US" dirty="0"/>
              <a:t>C sub 1) in the lower section of C C; (n sub 3, P sub 3) in the lower portion of P P; and (n sub 3, </a:t>
            </a:r>
            <a:r>
              <a:rPr lang="en-US" dirty="0" smtClean="0"/>
              <a:t>A </a:t>
            </a:r>
            <a:r>
              <a:rPr lang="en-US" dirty="0"/>
              <a:t>C sub 3) in the upper portion of C C.</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14324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curves, C C sub 1 and C C sub 2, begin at the same point on the y-axis and rise as straight lines. C C sub 1 rises more steeply than C C sub 2. The P P curve falls with decreasing steepness, crossing curve C C sub 1 at point 1, (n sub 1, P sub 1), and C C sub 2 at point 2, (n sub 2, P sub 2).</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6453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Graphs, a and b plot price per auto in thousands of dollars versus number of firms, n. The curve P P is a falling curve, that starts on the y axis at y = 35 and falls with decreasing steepness intersecting line C C, on each graph. The curve C C is a rising line, with differing slopes on each graph. The following list provides rise of C C and point of intersection for each graph. Graph a, home. C C rises from (1, 5) through (12, 15), and intersects curve P P at (6, 10). Graph b, foreign. C C rises from (1, 5) through (12, 11), and intersects curve P P at (8, 9). All values are estimated</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1820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firm has a horizontal marginal cost line. M C sub 1, at y = c sub 1, is below M C sub 2, at y = c sub 2. The D curve and M R both begin at the y-intercept, c asterisk = P bar +, left bracket, 1 over, left parenthesis b times n, right parenthesis, right bracket. The D curve with slope = 1 over, S times b, is a falling line intersecting both M C curves. The M R curve is a steeper falling line, to the left of the D curve. The intersection of M R and M C sub 1 is at point (Q sub 1, c sub 1); the point forms the lower right vertex of a shaded rectangle. Point (Q sub 1, P sub 1) is the upper right vertex of the rectangle. The y-axis is the left boundary of the shaded rectangle. A second shaded rectangle is smaller and also has the y-axis as the left boundary. The lower right vertex is the intersection of M R and M C sub 2, (Q sub 2, C sub 2). The upper right vertex is on the D curve, (Q sub 2, P sub 2). Graph b shows operating profit versus marginal cost, c sub i. The curve falls from the y-axis with decreasing steepness through (c sub 1, P sub 1 minus c sub 1, times, Q sub 1) and (c sub 2, sub 2 minus c sub 2, times, Q sub 2) to point c asterisk on the x-axis.</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83294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curve D is a falling line with slope = 1 over, S times b, and a y-intercept = P bar +, left bracket, 1, over, left parenthesis, b times n, right parenthesis, right bracket. The D curve shifts, to a lower y-intercept and lesser slope for the second curve, D prime. Graph b plots operating profit versus marginal cost, c sub i. The original curve is divided on the x-axis into 3 segments from left to right: winners form the first segment, losers forms segments 2 and 3; the third segment further breaks down into, exit. The curve falls with decreasing steepness to c asterisk on the x-axis, at the right end of, exit. The curve is rotated to move the x-intercept left to c asterisk prime, with higher y-values increase on a higher curve. C asterisk prime is at the point between the first losers segment and, exit. The intersection of the 2 curves is the point where winners and losers meet. The distance between c asterisk and c asterisk prime is where firms exit the market.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5779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demand curves that intersect horizontal marginal cost lines, 1 and 2. Graph ay is the domestic, home market. The D curve begins at the y-intercept c asterisk, and is a falling line intersecting M C sub 2 at y = c sub 2, and M C sub 1 at y = c sub 1. Graph b is the export, foreign market and has the same D curve and the previous M C 1 and 2 as dashed lines. Two additional M C lines have shifted up to c sub 1 + t, and c sub 2 + t, respectively. The D curve does not cross the top M C sub 2 line as the y-intercept of the D curve is c asterisk, midway between y = c sub 2 and y = c sub 2 + t.</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3104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A double line graph for O E C D countries and non O E C D countries displays foreign direct investment inflows in billions of U S dollars versus year, 19 70 to 20 19. The area under each line is shaded. The plot for O E C D countries generally rises from (19 70, 0) through (19 95, 1.0%) to (2000, 4.0%), then dips to (2003, 1.5%), and rises again to (2007, 3.3%). From there, it rises and falls to (20 19, 2.0%). The plot for non O E C D countries generally rises from (1970, 0) through (1995, 0.3%) to (2000, 0.7%), dips to (2003, 0.5%), then generally rises through (2007, 1.0%) to (20 19, 0.9%).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47791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The bar graph plots F D I outflows in billions of U S dollars versus countries arranged from the ones with the most outward foreign direct investment to the least as a yearly average for 20 17 to 20 19. The following list provides F D I outflows in billions of U S dollars, by country. United States, 300. China, 250. Japan, 170. United Kingdom, 130. Germany 120. Canada, 90. British Virgin Islands, 55. Spain, 60. Singapore, 55. Netherlands, 58. France, 48. Luxembourg, 48. Russian Federation, 47. Republic of Korea, 47. Belgium, 47. Switzerland, Liechtenstein, 46. Sweden, 45. Italy, 44. Brazil, 42. Thailand, 40. United Arab Emirates, 38. Cyprus, 38. China, Taiwan province of, 30. India, 30. Austria, 30.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340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smtClean="0">
                <a:solidFill>
                  <a:schemeClr val="dk1"/>
                </a:solidFill>
                <a:effectLst/>
                <a:latin typeface="Arial"/>
                <a:ea typeface="Arial"/>
                <a:cs typeface="Arial"/>
                <a:sym typeface="Arial"/>
              </a:rPr>
              <a:t>A triple line graph plots exports or in shoring, net trade, and imports or off shoring in billions of dollars versus year, 19 99 to 20 19. The plot for export, in shoring, rises from (19 99, 100) through (2009, 250) to (20 19, 450). The plot for net trade generally rises from (19 99, 30) through (2009, 50) to (20 19, 160). The plot for imports, off shoring, falls from (19 99, negative 50) through (2009, negative 180) to (20 19, negative 260).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7417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83</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4.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 Id="rId9" Type="http://schemas.openxmlformats.org/officeDocument/2006/relationships/image" Target="../media/image5.wmf"/></Relationships>
</file>

<file path=ppt/slides/_rels/slide11.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3.xml"/><Relationship Id="rId7" Type="http://schemas.openxmlformats.org/officeDocument/2006/relationships/oleObject" Target="../embeddings/oleObject5.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9.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9.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1.bin"/><Relationship Id="rId4" Type="http://schemas.openxmlformats.org/officeDocument/2006/relationships/image" Target="../media/image1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9.wmf"/><Relationship Id="rId5" Type="http://schemas.openxmlformats.org/officeDocument/2006/relationships/oleObject" Target="../embeddings/oleObject14.bin"/><Relationship Id="rId4" Type="http://schemas.openxmlformats.org/officeDocument/2006/relationships/image" Target="../media/image18.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2.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vmlDrawing" Target="../drawings/vmlDrawing11.vml"/><Relationship Id="rId6" Type="http://schemas.openxmlformats.org/officeDocument/2006/relationships/image" Target="../media/image23.wmf"/><Relationship Id="rId5" Type="http://schemas.openxmlformats.org/officeDocument/2006/relationships/oleObject" Target="../embeddings/oleObject18.bin"/><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9.xml"/><Relationship Id="rId1" Type="http://schemas.openxmlformats.org/officeDocument/2006/relationships/vmlDrawing" Target="../drawings/vmlDrawing12.vml"/><Relationship Id="rId6" Type="http://schemas.openxmlformats.org/officeDocument/2006/relationships/image" Target="../media/image26.wmf"/><Relationship Id="rId5" Type="http://schemas.openxmlformats.org/officeDocument/2006/relationships/oleObject" Target="../embeddings/oleObject20.bin"/><Relationship Id="rId4" Type="http://schemas.openxmlformats.org/officeDocument/2006/relationships/image" Target="../media/image25.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notesSlide" Target="../notesSlides/notesSlide7.xml"/><Relationship Id="rId7" Type="http://schemas.openxmlformats.org/officeDocument/2006/relationships/oleObject" Target="../embeddings/oleObject23.bin"/><Relationship Id="rId2" Type="http://schemas.openxmlformats.org/officeDocument/2006/relationships/slideLayout" Target="../slideLayouts/slideLayout9.xml"/><Relationship Id="rId1" Type="http://schemas.openxmlformats.org/officeDocument/2006/relationships/vmlDrawing" Target="../drawings/vmlDrawing13.vml"/><Relationship Id="rId6" Type="http://schemas.openxmlformats.org/officeDocument/2006/relationships/image" Target="../media/image30.wmf"/><Relationship Id="rId5" Type="http://schemas.openxmlformats.org/officeDocument/2006/relationships/oleObject" Target="../embeddings/oleObject22.bin"/><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notesSlide" Target="../notesSlides/notesSlide8.xml"/><Relationship Id="rId7" Type="http://schemas.openxmlformats.org/officeDocument/2006/relationships/oleObject" Target="../embeddings/oleObject25.bin"/><Relationship Id="rId12" Type="http://schemas.openxmlformats.org/officeDocument/2006/relationships/image" Target="../media/image36.wmf"/><Relationship Id="rId2" Type="http://schemas.openxmlformats.org/officeDocument/2006/relationships/slideLayout" Target="../slideLayouts/slideLayout9.xml"/><Relationship Id="rId1" Type="http://schemas.openxmlformats.org/officeDocument/2006/relationships/vmlDrawing" Target="../drawings/vmlDrawing14.vml"/><Relationship Id="rId6" Type="http://schemas.openxmlformats.org/officeDocument/2006/relationships/image" Target="../media/image33.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35.wmf"/><Relationship Id="rId4" Type="http://schemas.openxmlformats.org/officeDocument/2006/relationships/image" Target="../media/image37.PNG"/><Relationship Id="rId9" Type="http://schemas.openxmlformats.org/officeDocument/2006/relationships/oleObject" Target="../embeddings/oleObject26.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9.xml"/><Relationship Id="rId1" Type="http://schemas.openxmlformats.org/officeDocument/2006/relationships/vmlDrawing" Target="../drawings/vmlDrawing15.vml"/><Relationship Id="rId6" Type="http://schemas.openxmlformats.org/officeDocument/2006/relationships/image" Target="../media/image39.wmf"/><Relationship Id="rId5" Type="http://schemas.openxmlformats.org/officeDocument/2006/relationships/oleObject" Target="../embeddings/oleObject29.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31.bin"/></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9.xml"/><Relationship Id="rId1" Type="http://schemas.openxmlformats.org/officeDocument/2006/relationships/vmlDrawing" Target="../drawings/vmlDrawing16.vml"/><Relationship Id="rId6" Type="http://schemas.openxmlformats.org/officeDocument/2006/relationships/image" Target="../media/image46.wmf"/><Relationship Id="rId5" Type="http://schemas.openxmlformats.org/officeDocument/2006/relationships/oleObject" Target="../embeddings/oleObject33.bin"/><Relationship Id="rId4" Type="http://schemas.openxmlformats.org/officeDocument/2006/relationships/image" Target="../media/image45.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t>Chapter 8</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2017480"/>
          </a:xfrm>
        </p:spPr>
        <p:txBody>
          <a:bodyPr/>
          <a:lstStyle/>
          <a:p>
            <a:r>
              <a:rPr lang="en-US" altLang="en-US" dirty="0" smtClean="0"/>
              <a:t>Firms in the Global Economy: </a:t>
            </a:r>
            <a:r>
              <a:rPr lang="en-US" dirty="0" smtClean="0"/>
              <a:t>Export and Foreign Sourcing Decisions and Multinational Enterprises</a:t>
            </a:r>
            <a:endParaRPr lang="en-US" dirty="0">
              <a:solidFill>
                <a:schemeClr val="tx1"/>
              </a:solidFill>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smtClean="0">
                <a:latin typeface="Verdana"/>
                <a:cs typeface="Verdana" panose="020B0604030504040204" pitchFamily="34" charset="0"/>
              </a:rPr>
              <a:t>Copyright © </a:t>
            </a:r>
            <a:r>
              <a:rPr lang="en-US" dirty="0" smtClean="0"/>
              <a:t>2022, 2018, 2015 </a:t>
            </a:r>
            <a:r>
              <a:rPr lang="en-US" altLang="en-US" sz="1200" b="0" dirty="0" smtClean="0">
                <a:latin typeface="Verdana"/>
                <a:cs typeface="Verdana" panose="020B0604030504040204" pitchFamily="34" charset="0"/>
              </a:rPr>
              <a:t>Pearson Education, Inc. All Rights Reserved</a:t>
            </a:r>
            <a:endParaRPr lang="en-US" altLang="en-US" sz="1200" b="0" dirty="0">
              <a:latin typeface="Verdana"/>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 </a:t>
            </a:r>
            <a:r>
              <a:rPr lang="en-US" sz="2000" b="0" dirty="0" smtClean="0"/>
              <a:t>(1 of 2)</a:t>
            </a:r>
            <a:endParaRPr lang="en-US" dirty="0"/>
          </a:p>
        </p:txBody>
      </p:sp>
      <p:sp>
        <p:nvSpPr>
          <p:cNvPr id="4" name="Content Placeholder 3"/>
          <p:cNvSpPr>
            <a:spLocks noGrp="1"/>
          </p:cNvSpPr>
          <p:nvPr>
            <p:ph sz="quarter" idx="13"/>
          </p:nvPr>
        </p:nvSpPr>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8.1</a:t>
            </a:r>
            <a:r>
              <a:rPr lang="en-US" b="1" dirty="0">
                <a:solidFill>
                  <a:schemeClr val="accent1"/>
                </a:solidFill>
                <a:ea typeface="Verdana" panose="020B0604030504040204" pitchFamily="34" charset="0"/>
                <a:cs typeface="Verdana" panose="020B0604030504040204" pitchFamily="34" charset="0"/>
              </a:rPr>
              <a:t> </a:t>
            </a:r>
            <a:r>
              <a:rPr lang="en-US" dirty="0"/>
              <a:t>Understand how internal economies of scale and product differentiation lead to international trade and intra-industry trade.</a:t>
            </a:r>
          </a:p>
          <a:p>
            <a:pPr marL="0" indent="0">
              <a:buNone/>
            </a:pPr>
            <a:r>
              <a:rPr lang="en-US" b="1" dirty="0">
                <a:solidFill>
                  <a:srgbClr val="007FA3"/>
                </a:solidFill>
                <a:ea typeface="Verdana" panose="020B0604030504040204" pitchFamily="34" charset="0"/>
                <a:cs typeface="Verdana" panose="020B0604030504040204" pitchFamily="34" charset="0"/>
              </a:rPr>
              <a:t>8.2 </a:t>
            </a:r>
            <a:r>
              <a:rPr lang="en-US" dirty="0"/>
              <a:t>Recognize the new types of welfare gains from intra-industry trade.</a:t>
            </a:r>
            <a:endParaRPr lang="en-US" b="1" dirty="0">
              <a:solidFill>
                <a:srgbClr val="007FA3"/>
              </a:solidFill>
              <a:ea typeface="Verdana" panose="020B0604030504040204" pitchFamily="34" charset="0"/>
              <a:cs typeface="Verdana" panose="020B0604030504040204" pitchFamily="34" charset="0"/>
            </a:endParaRPr>
          </a:p>
          <a:p>
            <a:pPr marL="0" indent="0">
              <a:buNone/>
            </a:pPr>
            <a:r>
              <a:rPr lang="en-US" b="1" dirty="0">
                <a:solidFill>
                  <a:srgbClr val="007FA3"/>
                </a:solidFill>
                <a:ea typeface="Verdana" panose="020B0604030504040204" pitchFamily="34" charset="0"/>
                <a:cs typeface="Verdana" panose="020B0604030504040204" pitchFamily="34" charset="0"/>
              </a:rPr>
              <a:t>8.3</a:t>
            </a:r>
            <a:r>
              <a:rPr lang="en-US" b="1" dirty="0">
                <a:solidFill>
                  <a:schemeClr val="accent1"/>
                </a:solidFill>
                <a:ea typeface="Verdana" panose="020B0604030504040204" pitchFamily="34" charset="0"/>
                <a:cs typeface="Verdana" panose="020B0604030504040204" pitchFamily="34" charset="0"/>
              </a:rPr>
              <a:t> </a:t>
            </a:r>
            <a:r>
              <a:rPr lang="en-US" dirty="0"/>
              <a:t>Describe how economic integration can lead to both winners and losers among firms in the same industry.</a:t>
            </a:r>
            <a:endParaRPr lang="en-US" altLang="en-US" dirty="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Verdana" panose="020B0604030504040204" pitchFamily="34" charset="0"/>
              </a:rPr>
              <a:t>Learning Objectives </a:t>
            </a:r>
            <a:r>
              <a:rPr lang="en-US" sz="2000" b="0" dirty="0" smtClean="0">
                <a:ea typeface="Verdana" panose="020B0604030504040204" pitchFamily="34" charset="0"/>
              </a:rPr>
              <a:t>(2 of 2)</a:t>
            </a:r>
            <a:endParaRPr lang="en-US" dirty="0"/>
          </a:p>
        </p:txBody>
      </p:sp>
      <p:sp>
        <p:nvSpPr>
          <p:cNvPr id="4" name="Content Placeholder 3"/>
          <p:cNvSpPr>
            <a:spLocks noGrp="1"/>
          </p:cNvSpPr>
          <p:nvPr>
            <p:ph sz="quarter" idx="13"/>
          </p:nvPr>
        </p:nvSpPr>
        <p:spPr>
          <a:xfrm>
            <a:off x="457199" y="1556327"/>
            <a:ext cx="8323545" cy="4586896"/>
          </a:xfrm>
        </p:spPr>
        <p:txBody>
          <a:bodyPr/>
          <a:lstStyle/>
          <a:p>
            <a:pPr marL="0" indent="0">
              <a:buNone/>
            </a:pPr>
            <a:r>
              <a:rPr lang="en-US" b="1" dirty="0">
                <a:solidFill>
                  <a:srgbClr val="007FA3"/>
                </a:solidFill>
                <a:ea typeface="Verdana" panose="020B0604030504040204" pitchFamily="34" charset="0"/>
                <a:cs typeface="Verdana" panose="020B0604030504040204" pitchFamily="34" charset="0"/>
              </a:rPr>
              <a:t>8.4</a:t>
            </a:r>
            <a:r>
              <a:rPr lang="en-US" b="1" dirty="0">
                <a:solidFill>
                  <a:schemeClr val="accent1"/>
                </a:solidFill>
                <a:ea typeface="Verdana" panose="020B0604030504040204" pitchFamily="34" charset="0"/>
                <a:cs typeface="Verdana" panose="020B0604030504040204" pitchFamily="34" charset="0"/>
              </a:rPr>
              <a:t> </a:t>
            </a:r>
            <a:r>
              <a:rPr lang="en-US" dirty="0"/>
              <a:t>Explain why economists believe that “dumping” should not be singled out as an unfair trade practice, and why the enforcement of antidumping laws leads to protectionism.</a:t>
            </a:r>
          </a:p>
          <a:p>
            <a:pPr marL="0" indent="0">
              <a:buNone/>
            </a:pPr>
            <a:r>
              <a:rPr lang="en-US" b="1" dirty="0">
                <a:solidFill>
                  <a:srgbClr val="007FA3"/>
                </a:solidFill>
                <a:ea typeface="Verdana" panose="020B0604030504040204" pitchFamily="34" charset="0"/>
                <a:cs typeface="Verdana" panose="020B0604030504040204" pitchFamily="34" charset="0"/>
              </a:rPr>
              <a:t>8.5</a:t>
            </a:r>
            <a:r>
              <a:rPr lang="en-US" b="1" dirty="0">
                <a:solidFill>
                  <a:schemeClr val="accent1"/>
                </a:solidFill>
                <a:ea typeface="Verdana" panose="020B0604030504040204" pitchFamily="34" charset="0"/>
                <a:cs typeface="Verdana" panose="020B0604030504040204" pitchFamily="34" charset="0"/>
              </a:rPr>
              <a:t> </a:t>
            </a:r>
            <a:r>
              <a:rPr lang="en-US" dirty="0"/>
              <a:t>Explain why firms that engage in the global economy (exporters, outsourcers, multinationals) are substantially larger and perform better than firms that do not interact with foreign markets.</a:t>
            </a:r>
            <a:endParaRPr lang="en-US" b="1" dirty="0">
              <a:solidFill>
                <a:schemeClr val="accent1"/>
              </a:solidFill>
              <a:ea typeface="Verdana" panose="020B0604030504040204" pitchFamily="34" charset="0"/>
              <a:cs typeface="Verdana" panose="020B0604030504040204" pitchFamily="34" charset="0"/>
            </a:endParaRPr>
          </a:p>
          <a:p>
            <a:pPr marL="0" indent="0">
              <a:buNone/>
            </a:pPr>
            <a:r>
              <a:rPr lang="en-US" b="1" dirty="0">
                <a:solidFill>
                  <a:srgbClr val="007FA3"/>
                </a:solidFill>
                <a:ea typeface="Verdana" panose="020B0604030504040204" pitchFamily="34" charset="0"/>
                <a:cs typeface="Verdana" panose="020B0604030504040204" pitchFamily="34" charset="0"/>
              </a:rPr>
              <a:t>8.6</a:t>
            </a:r>
            <a:r>
              <a:rPr lang="en-US" b="1" dirty="0">
                <a:solidFill>
                  <a:schemeClr val="accent1"/>
                </a:solidFill>
                <a:ea typeface="Verdana" panose="020B0604030504040204" pitchFamily="34" charset="0"/>
                <a:cs typeface="Verdana" panose="020B0604030504040204" pitchFamily="34" charset="0"/>
              </a:rPr>
              <a:t> </a:t>
            </a:r>
            <a:r>
              <a:rPr lang="en-US" dirty="0"/>
              <a:t>Understand theories that explain the existence of multinationals and the motivation for foreign direct investment across economies.</a:t>
            </a:r>
          </a:p>
        </p:txBody>
      </p:sp>
    </p:spTree>
    <p:extLst>
      <p:ext uri="{BB962C8B-B14F-4D97-AF65-F5344CB8AC3E}">
        <p14:creationId xmlns:p14="http://schemas.microsoft.com/office/powerpoint/2010/main" val="3914281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ヒラギノ角ゴ Pro W3" pitchFamily="-84" charset="-128"/>
              </a:rPr>
              <a:t>Preview</a:t>
            </a:r>
            <a:endParaRPr lang="en-IN" dirty="0"/>
          </a:p>
        </p:txBody>
      </p:sp>
      <p:sp>
        <p:nvSpPr>
          <p:cNvPr id="3" name="Content Placeholder 2"/>
          <p:cNvSpPr>
            <a:spLocks noGrp="1"/>
          </p:cNvSpPr>
          <p:nvPr>
            <p:ph sz="quarter" idx="13"/>
          </p:nvPr>
        </p:nvSpPr>
        <p:spPr/>
        <p:txBody>
          <a:bodyPr/>
          <a:lstStyle/>
          <a:p>
            <a:r>
              <a:rPr lang="en-US" altLang="en-US" dirty="0"/>
              <a:t>Monopolistic competition and trade</a:t>
            </a:r>
          </a:p>
          <a:p>
            <a:r>
              <a:rPr lang="en-US" altLang="en-US" dirty="0"/>
              <a:t>The significance of intra-industry trade</a:t>
            </a:r>
          </a:p>
          <a:p>
            <a:r>
              <a:rPr lang="en-US" altLang="en-US" dirty="0"/>
              <a:t>Firm responses to trade: winners, losers, and industry performance</a:t>
            </a:r>
          </a:p>
          <a:p>
            <a:r>
              <a:rPr lang="en-US" altLang="en-US" dirty="0"/>
              <a:t>Dumping</a:t>
            </a:r>
          </a:p>
          <a:p>
            <a:r>
              <a:rPr lang="en-US" altLang="en-US" dirty="0"/>
              <a:t>Multinationals and outsourcing</a:t>
            </a:r>
          </a:p>
        </p:txBody>
      </p:sp>
    </p:spTree>
    <p:extLst>
      <p:ext uri="{BB962C8B-B14F-4D97-AF65-F5344CB8AC3E}">
        <p14:creationId xmlns:p14="http://schemas.microsoft.com/office/powerpoint/2010/main" val="3521353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a:t>
            </a:r>
            <a:r>
              <a:rPr lang="en-US" altLang="en-US" sz="2000" b="0" dirty="0"/>
              <a:t>(1 of 3)</a:t>
            </a:r>
            <a:endParaRPr lang="en-IN" dirty="0"/>
          </a:p>
        </p:txBody>
      </p:sp>
      <p:sp>
        <p:nvSpPr>
          <p:cNvPr id="3" name="Content Placeholder 2"/>
          <p:cNvSpPr>
            <a:spLocks noGrp="1"/>
          </p:cNvSpPr>
          <p:nvPr>
            <p:ph sz="quarter" idx="13"/>
          </p:nvPr>
        </p:nvSpPr>
        <p:spPr>
          <a:xfrm>
            <a:off x="457200" y="1556327"/>
            <a:ext cx="8045532" cy="4586896"/>
          </a:xfrm>
        </p:spPr>
        <p:txBody>
          <a:bodyPr/>
          <a:lstStyle/>
          <a:p>
            <a:r>
              <a:rPr lang="en-US" altLang="en-US" dirty="0"/>
              <a:t>Internal economies of scale result when large firms have a cost advantage over small firms, causing the industry to become uncompetitive.</a:t>
            </a:r>
          </a:p>
          <a:p>
            <a:r>
              <a:rPr lang="en-US" altLang="en-US" dirty="0"/>
              <a:t>Internal economies of scale imply that a firm’</a:t>
            </a:r>
            <a:r>
              <a:rPr lang="en-US" altLang="ja-JP" dirty="0"/>
              <a:t>s average cost of production decreases the more output it produces.</a:t>
            </a:r>
            <a:endParaRPr lang="en-US" altLang="en-US" dirty="0"/>
          </a:p>
        </p:txBody>
      </p:sp>
    </p:spTree>
    <p:extLst>
      <p:ext uri="{BB962C8B-B14F-4D97-AF65-F5344CB8AC3E}">
        <p14:creationId xmlns:p14="http://schemas.microsoft.com/office/powerpoint/2010/main" val="3620286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a:t>
            </a:r>
            <a:r>
              <a:rPr lang="en-US" altLang="en-US" sz="2000" b="0" dirty="0"/>
              <a:t>(2 of 3)</a:t>
            </a:r>
            <a:endParaRPr lang="en-IN" dirty="0"/>
          </a:p>
        </p:txBody>
      </p:sp>
      <p:sp>
        <p:nvSpPr>
          <p:cNvPr id="3" name="Content Placeholder 2"/>
          <p:cNvSpPr>
            <a:spLocks noGrp="1"/>
          </p:cNvSpPr>
          <p:nvPr>
            <p:ph sz="quarter" idx="13"/>
          </p:nvPr>
        </p:nvSpPr>
        <p:spPr/>
        <p:txBody>
          <a:bodyPr/>
          <a:lstStyle/>
          <a:p>
            <a:r>
              <a:rPr lang="en-US" altLang="en-US" dirty="0"/>
              <a:t>Perfect competition that drives the price of a good down to marginal cost would imply losses for those firms because they would not be able to recover the higher costs incurred from producing the initial units of output</a:t>
            </a:r>
            <a:r>
              <a:rPr lang="en-US" altLang="en-US" dirty="0" smtClean="0"/>
              <a:t>.</a:t>
            </a:r>
            <a:endParaRPr lang="en-US" altLang="en-US" dirty="0"/>
          </a:p>
          <a:p>
            <a:r>
              <a:rPr lang="en-US" altLang="en-US" dirty="0"/>
              <a:t>As a result, perfect competition would force those firms out of the market.</a:t>
            </a:r>
          </a:p>
          <a:p>
            <a:r>
              <a:rPr lang="en-US" altLang="en-US" dirty="0"/>
              <a:t>In most sectors, goods are differentiated from each other and there are other differences across firms.</a:t>
            </a:r>
            <a:endParaRPr lang="en-IN" dirty="0"/>
          </a:p>
        </p:txBody>
      </p:sp>
    </p:spTree>
    <p:extLst>
      <p:ext uri="{BB962C8B-B14F-4D97-AF65-F5344CB8AC3E}">
        <p14:creationId xmlns:p14="http://schemas.microsoft.com/office/powerpoint/2010/main" val="359805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a:t>
            </a:r>
            <a:r>
              <a:rPr lang="en-US" altLang="en-US" sz="2000" b="0" dirty="0"/>
              <a:t>(3 of 3)</a:t>
            </a:r>
            <a:endParaRPr lang="en-IN" dirty="0"/>
          </a:p>
        </p:txBody>
      </p:sp>
      <p:sp>
        <p:nvSpPr>
          <p:cNvPr id="3" name="Content Placeholder 2"/>
          <p:cNvSpPr>
            <a:spLocks noGrp="1"/>
          </p:cNvSpPr>
          <p:nvPr>
            <p:ph sz="quarter" idx="13"/>
          </p:nvPr>
        </p:nvSpPr>
        <p:spPr/>
        <p:txBody>
          <a:bodyPr/>
          <a:lstStyle/>
          <a:p>
            <a:r>
              <a:rPr lang="en-US" altLang="en-US" dirty="0"/>
              <a:t>Integration causes the better-performing firms to thrive and expand, while the worse-performing firms contract.</a:t>
            </a:r>
          </a:p>
          <a:p>
            <a:r>
              <a:rPr lang="en-US" altLang="en-US" dirty="0"/>
              <a:t>Additional source of gain from trade: As production is concentrated toward better-performing firms, the overall efficiency of the industry improves</a:t>
            </a:r>
            <a:r>
              <a:rPr lang="en-US" altLang="en-US" dirty="0" smtClean="0"/>
              <a:t>.</a:t>
            </a:r>
            <a:endParaRPr lang="en-US" altLang="en-US" dirty="0"/>
          </a:p>
          <a:p>
            <a:r>
              <a:rPr lang="en-US" altLang="en-US" dirty="0"/>
              <a:t>Study why those better-performing firms have a greater incentive to engage in the global economy.</a:t>
            </a:r>
            <a:endParaRPr lang="en-IN" dirty="0"/>
          </a:p>
        </p:txBody>
      </p:sp>
    </p:spTree>
    <p:extLst>
      <p:ext uri="{BB962C8B-B14F-4D97-AF65-F5344CB8AC3E}">
        <p14:creationId xmlns:p14="http://schemas.microsoft.com/office/powerpoint/2010/main" val="383786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Theory of Imperfect Competition</a:t>
            </a:r>
            <a:endParaRPr lang="en-IN" sz="3200" dirty="0"/>
          </a:p>
        </p:txBody>
      </p:sp>
      <p:sp>
        <p:nvSpPr>
          <p:cNvPr id="3" name="Content Placeholder 2"/>
          <p:cNvSpPr>
            <a:spLocks noGrp="1"/>
          </p:cNvSpPr>
          <p:nvPr>
            <p:ph sz="quarter" idx="13"/>
          </p:nvPr>
        </p:nvSpPr>
        <p:spPr>
          <a:xfrm>
            <a:off x="457200" y="1556327"/>
            <a:ext cx="8069283" cy="4586896"/>
          </a:xfrm>
        </p:spPr>
        <p:txBody>
          <a:bodyPr/>
          <a:lstStyle/>
          <a:p>
            <a:r>
              <a:rPr lang="en-US" altLang="en-US" dirty="0"/>
              <a:t>In imperfect competition, firms are aware that they can influence the prices of their products and that they can sell more only by reducing their price</a:t>
            </a:r>
            <a:r>
              <a:rPr lang="en-US" altLang="en-US" dirty="0" smtClean="0"/>
              <a:t>.</a:t>
            </a:r>
            <a:endParaRPr lang="en-US" altLang="en-US" dirty="0"/>
          </a:p>
          <a:p>
            <a:r>
              <a:rPr lang="en-US" altLang="en-US" dirty="0"/>
              <a:t>This situation occurs when there are only a few major producers of a particular good or when each firm produces a good that is differentiated from that of rival firms.</a:t>
            </a:r>
          </a:p>
          <a:p>
            <a:r>
              <a:rPr lang="en-US" altLang="en-US" dirty="0"/>
              <a:t>Each firm views itself as a price setter, choosing the price of its product.</a:t>
            </a:r>
            <a:endParaRPr lang="en-IN" dirty="0"/>
          </a:p>
        </p:txBody>
      </p:sp>
    </p:spTree>
    <p:extLst>
      <p:ext uri="{BB962C8B-B14F-4D97-AF65-F5344CB8AC3E}">
        <p14:creationId xmlns:p14="http://schemas.microsoft.com/office/powerpoint/2010/main" val="340965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Monopoly: A Brief Review </a:t>
            </a:r>
            <a:r>
              <a:rPr lang="en-US" altLang="en-US" sz="2000" b="0" dirty="0"/>
              <a:t>(1 of 4)</a:t>
            </a:r>
            <a:endParaRPr lang="en-IN" dirty="0"/>
          </a:p>
        </p:txBody>
      </p:sp>
      <p:sp>
        <p:nvSpPr>
          <p:cNvPr id="3" name="Content Placeholder 2"/>
          <p:cNvSpPr>
            <a:spLocks noGrp="1"/>
          </p:cNvSpPr>
          <p:nvPr>
            <p:ph sz="quarter" idx="13"/>
          </p:nvPr>
        </p:nvSpPr>
        <p:spPr/>
        <p:txBody>
          <a:bodyPr/>
          <a:lstStyle/>
          <a:p>
            <a:r>
              <a:rPr lang="en-US" altLang="en-US" dirty="0"/>
              <a:t>A </a:t>
            </a:r>
            <a:r>
              <a:rPr lang="en-US" altLang="en-US" b="1" dirty="0"/>
              <a:t>monopoly</a:t>
            </a:r>
            <a:r>
              <a:rPr lang="en-US" altLang="en-US" dirty="0"/>
              <a:t> is an industry with only one firm</a:t>
            </a:r>
            <a:r>
              <a:rPr lang="en-US" altLang="en-US" dirty="0" smtClean="0"/>
              <a:t>.</a:t>
            </a:r>
            <a:endParaRPr lang="en-US" altLang="en-US" dirty="0"/>
          </a:p>
          <a:p>
            <a:r>
              <a:rPr lang="en-US" altLang="en-US" dirty="0"/>
              <a:t>An </a:t>
            </a:r>
            <a:r>
              <a:rPr lang="en-US" altLang="en-US" b="1" dirty="0"/>
              <a:t>oligopoly</a:t>
            </a:r>
            <a:r>
              <a:rPr lang="en-US" altLang="en-US" dirty="0"/>
              <a:t> is an industry with only a few firms.</a:t>
            </a:r>
          </a:p>
          <a:p>
            <a:r>
              <a:rPr lang="en-US" altLang="en-US" dirty="0"/>
              <a:t>In these industries, the marginal revenue generated from selling more products is less than the uniform price charged for each product.</a:t>
            </a:r>
          </a:p>
          <a:p>
            <a:pPr lvl="1"/>
            <a:r>
              <a:rPr lang="en-US" altLang="en-US" dirty="0"/>
              <a:t>To sell more, a firm must lower the price of all units, not just the additional ones.</a:t>
            </a:r>
          </a:p>
          <a:p>
            <a:pPr lvl="1"/>
            <a:r>
              <a:rPr lang="en-US" altLang="en-US" dirty="0"/>
              <a:t>The marginal revenue function therefore lies below the demand function (which determines the price that customers are willing to pay).</a:t>
            </a:r>
          </a:p>
        </p:txBody>
      </p:sp>
    </p:spTree>
    <p:extLst>
      <p:ext uri="{BB962C8B-B14F-4D97-AF65-F5344CB8AC3E}">
        <p14:creationId xmlns:p14="http://schemas.microsoft.com/office/powerpoint/2010/main" val="3167997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Monopoly: A Brief Review </a:t>
            </a:r>
            <a:r>
              <a:rPr lang="en-US" altLang="en-US" sz="2000" b="0" dirty="0"/>
              <a:t>(2 of 4)</a:t>
            </a:r>
            <a:endParaRPr lang="en-IN" dirty="0"/>
          </a:p>
        </p:txBody>
      </p:sp>
      <p:sp>
        <p:nvSpPr>
          <p:cNvPr id="3" name="Content Placeholder 2"/>
          <p:cNvSpPr>
            <a:spLocks noGrp="1"/>
          </p:cNvSpPr>
          <p:nvPr>
            <p:ph sz="quarter" idx="13"/>
          </p:nvPr>
        </p:nvSpPr>
        <p:spPr>
          <a:xfrm>
            <a:off x="457201" y="1552574"/>
            <a:ext cx="7277100" cy="418729"/>
          </a:xfrm>
        </p:spPr>
        <p:txBody>
          <a:bodyPr lIns="0" tIns="0" rIns="0" bIns="0"/>
          <a:lstStyle/>
          <a:p>
            <a:r>
              <a:rPr lang="en-US" altLang="en-US" dirty="0"/>
              <a:t>Assume that the </a:t>
            </a:r>
            <a:r>
              <a:rPr lang="en-US" altLang="en-US" b="1" dirty="0"/>
              <a:t>demand curve</a:t>
            </a:r>
            <a:r>
              <a:rPr lang="en-US" altLang="en-US" dirty="0"/>
              <a:t> the firm faces is a</a:t>
            </a:r>
          </a:p>
        </p:txBody>
      </p:sp>
      <p:sp>
        <p:nvSpPr>
          <p:cNvPr id="4" name="Content Placeholder 3"/>
          <p:cNvSpPr>
            <a:spLocks noGrp="1"/>
          </p:cNvSpPr>
          <p:nvPr>
            <p:ph sz="quarter" idx="14"/>
          </p:nvPr>
        </p:nvSpPr>
        <p:spPr>
          <a:xfrm>
            <a:off x="457200" y="2028924"/>
            <a:ext cx="1977242" cy="405518"/>
          </a:xfrm>
        </p:spPr>
        <p:txBody>
          <a:bodyPr lIns="0" tIns="0" rIns="0" bIns="0"/>
          <a:lstStyle/>
          <a:p>
            <a:pPr marL="255600" indent="0">
              <a:buNone/>
            </a:pPr>
            <a:r>
              <a:rPr lang="en-US" altLang="en-US" dirty="0"/>
              <a:t>straight line</a:t>
            </a:r>
            <a:endParaRPr lang="en-IN" dirty="0"/>
          </a:p>
        </p:txBody>
      </p:sp>
      <p:graphicFrame>
        <p:nvGraphicFramePr>
          <p:cNvPr id="17" name="Object 16" descr="Q = A minus B left parenthesis P right parenthesis,"/>
          <p:cNvGraphicFramePr>
            <a:graphicFrameLocks noChangeAspect="1"/>
          </p:cNvGraphicFramePr>
          <p:nvPr>
            <p:extLst>
              <p:ext uri="{D42A27DB-BD31-4B8C-83A1-F6EECF244321}">
                <p14:modId xmlns:p14="http://schemas.microsoft.com/office/powerpoint/2010/main" val="3530356334"/>
              </p:ext>
            </p:extLst>
          </p:nvPr>
        </p:nvGraphicFramePr>
        <p:xfrm>
          <a:off x="2495120" y="2049991"/>
          <a:ext cx="1649139" cy="377613"/>
        </p:xfrm>
        <a:graphic>
          <a:graphicData uri="http://schemas.openxmlformats.org/presentationml/2006/ole">
            <mc:AlternateContent xmlns:mc="http://schemas.openxmlformats.org/markup-compatibility/2006">
              <mc:Choice xmlns:v="urn:schemas-microsoft-com:vml" Requires="v">
                <p:oleObj spid="_x0000_s1302" name="Equation" r:id="rId4" imgW="888840" imgH="203040" progId="Equation.DSMT4">
                  <p:embed/>
                </p:oleObj>
              </mc:Choice>
              <mc:Fallback>
                <p:oleObj name="Equation" r:id="rId4" imgW="888840" imgH="203040" progId="Equation.DSMT4">
                  <p:embed/>
                  <p:pic>
                    <p:nvPicPr>
                      <p:cNvPr id="0" name=""/>
                      <p:cNvPicPr/>
                      <p:nvPr/>
                    </p:nvPicPr>
                    <p:blipFill>
                      <a:blip r:embed="rId5"/>
                      <a:stretch>
                        <a:fillRect/>
                      </a:stretch>
                    </p:blipFill>
                    <p:spPr>
                      <a:xfrm>
                        <a:off x="2495120" y="2049991"/>
                        <a:ext cx="1649139" cy="377613"/>
                      </a:xfrm>
                      <a:prstGeom prst="rect">
                        <a:avLst/>
                      </a:prstGeom>
                    </p:spPr>
                  </p:pic>
                </p:oleObj>
              </mc:Fallback>
            </mc:AlternateContent>
          </a:graphicData>
        </a:graphic>
      </p:graphicFrame>
      <p:sp>
        <p:nvSpPr>
          <p:cNvPr id="5" name="Content Placeholder 4"/>
          <p:cNvSpPr>
            <a:spLocks noGrp="1"/>
          </p:cNvSpPr>
          <p:nvPr>
            <p:ph sz="quarter" idx="15"/>
          </p:nvPr>
        </p:nvSpPr>
        <p:spPr>
          <a:xfrm>
            <a:off x="4204937" y="2028924"/>
            <a:ext cx="4281766" cy="405517"/>
          </a:xfrm>
        </p:spPr>
        <p:txBody>
          <a:bodyPr lIns="0" tIns="0" rIns="0" bIns="0"/>
          <a:lstStyle/>
          <a:p>
            <a:pPr marL="432" indent="0">
              <a:buNone/>
            </a:pPr>
            <a:r>
              <a:rPr lang="en-US" altLang="en-US" dirty="0"/>
              <a:t>where </a:t>
            </a:r>
            <a:r>
              <a:rPr lang="en-US" altLang="en-US" i="1" dirty="0"/>
              <a:t>Q </a:t>
            </a:r>
            <a:r>
              <a:rPr lang="en-US" altLang="en-US" dirty="0"/>
              <a:t>is the number of units</a:t>
            </a:r>
            <a:endParaRPr lang="en-IN" dirty="0"/>
          </a:p>
        </p:txBody>
      </p:sp>
      <p:sp>
        <p:nvSpPr>
          <p:cNvPr id="6" name="Content Placeholder 5"/>
          <p:cNvSpPr>
            <a:spLocks noGrp="1"/>
          </p:cNvSpPr>
          <p:nvPr>
            <p:ph sz="quarter" idx="16"/>
          </p:nvPr>
        </p:nvSpPr>
        <p:spPr>
          <a:xfrm>
            <a:off x="451235" y="2517537"/>
            <a:ext cx="7283066" cy="778657"/>
          </a:xfrm>
        </p:spPr>
        <p:txBody>
          <a:bodyPr lIns="0" tIns="0" rIns="0" bIns="0"/>
          <a:lstStyle/>
          <a:p>
            <a:pPr marL="255600" indent="0">
              <a:buNone/>
            </a:pPr>
            <a:r>
              <a:rPr lang="en-US" altLang="en-US" dirty="0"/>
              <a:t>the firm sells, </a:t>
            </a:r>
            <a:r>
              <a:rPr lang="en-US" altLang="en-US" i="1" dirty="0"/>
              <a:t>P </a:t>
            </a:r>
            <a:r>
              <a:rPr lang="en-US" altLang="en-US" dirty="0"/>
              <a:t>the price per unit, and </a:t>
            </a:r>
            <a:r>
              <a:rPr lang="en-US" altLang="en-US" i="1" dirty="0"/>
              <a:t>A </a:t>
            </a:r>
            <a:r>
              <a:rPr lang="en-US" altLang="en-US" dirty="0"/>
              <a:t>and </a:t>
            </a:r>
            <a:r>
              <a:rPr lang="en-US" altLang="en-US" i="1" dirty="0"/>
              <a:t>B </a:t>
            </a:r>
            <a:r>
              <a:rPr lang="en-US" altLang="en-US" dirty="0"/>
              <a:t>are constants.</a:t>
            </a:r>
            <a:endParaRPr lang="en-IN" dirty="0"/>
          </a:p>
        </p:txBody>
      </p:sp>
      <p:sp>
        <p:nvSpPr>
          <p:cNvPr id="7" name="Content Placeholder 6"/>
          <p:cNvSpPr>
            <a:spLocks noGrp="1"/>
          </p:cNvSpPr>
          <p:nvPr>
            <p:ph sz="quarter" idx="17"/>
          </p:nvPr>
        </p:nvSpPr>
        <p:spPr>
          <a:xfrm>
            <a:off x="457201" y="3486086"/>
            <a:ext cx="3877294" cy="395672"/>
          </a:xfrm>
        </p:spPr>
        <p:txBody>
          <a:bodyPr lIns="0" tIns="0" rIns="0" bIns="0"/>
          <a:lstStyle/>
          <a:p>
            <a:r>
              <a:rPr lang="en-US" altLang="en-US" b="1" dirty="0"/>
              <a:t>Marginal revenue</a:t>
            </a:r>
            <a:r>
              <a:rPr lang="en-US" altLang="en-US" dirty="0"/>
              <a:t> equals</a:t>
            </a:r>
            <a:endParaRPr lang="en-IN" dirty="0"/>
          </a:p>
        </p:txBody>
      </p:sp>
      <p:graphicFrame>
        <p:nvGraphicFramePr>
          <p:cNvPr id="18" name="Object 17" descr="M R = P minus start fraction Q over B end fraction."/>
          <p:cNvGraphicFramePr>
            <a:graphicFrameLocks noChangeAspect="1"/>
          </p:cNvGraphicFramePr>
          <p:nvPr>
            <p:extLst>
              <p:ext uri="{D42A27DB-BD31-4B8C-83A1-F6EECF244321}">
                <p14:modId xmlns:p14="http://schemas.microsoft.com/office/powerpoint/2010/main" val="2674444159"/>
              </p:ext>
            </p:extLst>
          </p:nvPr>
        </p:nvGraphicFramePr>
        <p:xfrm>
          <a:off x="4422097" y="3340957"/>
          <a:ext cx="1552575" cy="696912"/>
        </p:xfrm>
        <a:graphic>
          <a:graphicData uri="http://schemas.openxmlformats.org/presentationml/2006/ole">
            <mc:AlternateContent xmlns:mc="http://schemas.openxmlformats.org/markup-compatibility/2006">
              <mc:Choice xmlns:v="urn:schemas-microsoft-com:vml" Requires="v">
                <p:oleObj spid="_x0000_s1303" name="Equation" r:id="rId6" imgW="876240" imgH="393480" progId="Equation.DSMT4">
                  <p:embed/>
                </p:oleObj>
              </mc:Choice>
              <mc:Fallback>
                <p:oleObj name="Equation" r:id="rId6" imgW="876240" imgH="393480" progId="Equation.DSMT4">
                  <p:embed/>
                  <p:pic>
                    <p:nvPicPr>
                      <p:cNvPr id="0" name=""/>
                      <p:cNvPicPr/>
                      <p:nvPr/>
                    </p:nvPicPr>
                    <p:blipFill>
                      <a:blip r:embed="rId7"/>
                      <a:stretch>
                        <a:fillRect/>
                      </a:stretch>
                    </p:blipFill>
                    <p:spPr>
                      <a:xfrm>
                        <a:off x="4422097" y="3340957"/>
                        <a:ext cx="1552575" cy="696912"/>
                      </a:xfrm>
                      <a:prstGeom prst="rect">
                        <a:avLst/>
                      </a:prstGeom>
                    </p:spPr>
                  </p:pic>
                </p:oleObj>
              </mc:Fallback>
            </mc:AlternateContent>
          </a:graphicData>
        </a:graphic>
      </p:graphicFrame>
      <p:sp>
        <p:nvSpPr>
          <p:cNvPr id="8" name="Content Placeholder 7"/>
          <p:cNvSpPr>
            <a:spLocks noGrp="1"/>
          </p:cNvSpPr>
          <p:nvPr>
            <p:ph sz="quarter" idx="18"/>
          </p:nvPr>
        </p:nvSpPr>
        <p:spPr>
          <a:xfrm>
            <a:off x="457201" y="4101293"/>
            <a:ext cx="4316680" cy="398181"/>
          </a:xfrm>
        </p:spPr>
        <p:txBody>
          <a:bodyPr lIns="0" tIns="0" rIns="0" bIns="0"/>
          <a:lstStyle/>
          <a:p>
            <a:r>
              <a:rPr lang="en-US" altLang="en-US" dirty="0"/>
              <a:t>Suppose that </a:t>
            </a:r>
            <a:r>
              <a:rPr lang="en-US" altLang="en-US" b="1" dirty="0"/>
              <a:t>total costs</a:t>
            </a:r>
            <a:r>
              <a:rPr lang="en-US" altLang="en-US" dirty="0"/>
              <a:t> are</a:t>
            </a:r>
            <a:endParaRPr lang="en-US" dirty="0"/>
          </a:p>
        </p:txBody>
      </p:sp>
      <p:graphicFrame>
        <p:nvGraphicFramePr>
          <p:cNvPr id="19" name="Object 18" descr="C = F + c of Q,"/>
          <p:cNvGraphicFramePr>
            <a:graphicFrameLocks noChangeAspect="1"/>
          </p:cNvGraphicFramePr>
          <p:nvPr>
            <p:extLst>
              <p:ext uri="{D42A27DB-BD31-4B8C-83A1-F6EECF244321}">
                <p14:modId xmlns:p14="http://schemas.microsoft.com/office/powerpoint/2010/main" val="4270574830"/>
              </p:ext>
            </p:extLst>
          </p:nvPr>
        </p:nvGraphicFramePr>
        <p:xfrm>
          <a:off x="4823760" y="4111798"/>
          <a:ext cx="1674013" cy="388177"/>
        </p:xfrm>
        <a:graphic>
          <a:graphicData uri="http://schemas.openxmlformats.org/presentationml/2006/ole">
            <mc:AlternateContent xmlns:mc="http://schemas.openxmlformats.org/markup-compatibility/2006">
              <mc:Choice xmlns:v="urn:schemas-microsoft-com:vml" Requires="v">
                <p:oleObj spid="_x0000_s1304" name="Equation" r:id="rId8" imgW="876240" imgH="203040" progId="Equation.DSMT4">
                  <p:embed/>
                </p:oleObj>
              </mc:Choice>
              <mc:Fallback>
                <p:oleObj name="Equation" r:id="rId8" imgW="876240" imgH="203040" progId="Equation.DSMT4">
                  <p:embed/>
                  <p:pic>
                    <p:nvPicPr>
                      <p:cNvPr id="0" name=""/>
                      <p:cNvPicPr/>
                      <p:nvPr/>
                    </p:nvPicPr>
                    <p:blipFill>
                      <a:blip r:embed="rId9"/>
                      <a:stretch>
                        <a:fillRect/>
                      </a:stretch>
                    </p:blipFill>
                    <p:spPr>
                      <a:xfrm>
                        <a:off x="4823760" y="4111798"/>
                        <a:ext cx="1674013" cy="388177"/>
                      </a:xfrm>
                      <a:prstGeom prst="rect">
                        <a:avLst/>
                      </a:prstGeom>
                    </p:spPr>
                  </p:pic>
                </p:oleObj>
              </mc:Fallback>
            </mc:AlternateContent>
          </a:graphicData>
        </a:graphic>
      </p:graphicFrame>
      <p:sp>
        <p:nvSpPr>
          <p:cNvPr id="9" name="Content Placeholder 8"/>
          <p:cNvSpPr>
            <a:spLocks noGrp="1"/>
          </p:cNvSpPr>
          <p:nvPr>
            <p:ph sz="quarter" idx="19"/>
          </p:nvPr>
        </p:nvSpPr>
        <p:spPr>
          <a:xfrm>
            <a:off x="6547652" y="4101293"/>
            <a:ext cx="1586945" cy="398681"/>
          </a:xfrm>
        </p:spPr>
        <p:txBody>
          <a:bodyPr lIns="0" tIns="0" rIns="0" bIns="0"/>
          <a:lstStyle/>
          <a:p>
            <a:pPr marL="432" indent="0">
              <a:buNone/>
            </a:pPr>
            <a:r>
              <a:rPr lang="en-US" altLang="en-US" dirty="0"/>
              <a:t>where </a:t>
            </a:r>
            <a:r>
              <a:rPr lang="en-US" altLang="en-US" i="1" dirty="0"/>
              <a:t>F</a:t>
            </a:r>
            <a:r>
              <a:rPr lang="en-US" altLang="en-US" dirty="0"/>
              <a:t> is</a:t>
            </a:r>
            <a:endParaRPr lang="en-IN" dirty="0"/>
          </a:p>
        </p:txBody>
      </p:sp>
      <p:sp>
        <p:nvSpPr>
          <p:cNvPr id="10" name="Content Placeholder 9"/>
          <p:cNvSpPr>
            <a:spLocks noGrp="1"/>
          </p:cNvSpPr>
          <p:nvPr>
            <p:ph sz="quarter" idx="20"/>
          </p:nvPr>
        </p:nvSpPr>
        <p:spPr>
          <a:xfrm>
            <a:off x="451236" y="4584428"/>
            <a:ext cx="8035468" cy="415083"/>
          </a:xfrm>
        </p:spPr>
        <p:txBody>
          <a:bodyPr lIns="0" tIns="0" rIns="0" bIns="0"/>
          <a:lstStyle/>
          <a:p>
            <a:pPr marL="255600" indent="0">
              <a:buNone/>
            </a:pPr>
            <a:r>
              <a:rPr lang="en-US" altLang="en-US" dirty="0"/>
              <a:t>fixed costs, those independent of the level of output, and</a:t>
            </a:r>
            <a:endParaRPr lang="en-IN" dirty="0"/>
          </a:p>
        </p:txBody>
      </p:sp>
      <p:sp>
        <p:nvSpPr>
          <p:cNvPr id="11" name="Content Placeholder 10"/>
          <p:cNvSpPr>
            <a:spLocks noGrp="1"/>
          </p:cNvSpPr>
          <p:nvPr>
            <p:ph sz="quarter" idx="21"/>
          </p:nvPr>
        </p:nvSpPr>
        <p:spPr>
          <a:xfrm>
            <a:off x="457201" y="5060235"/>
            <a:ext cx="4635500" cy="423489"/>
          </a:xfrm>
        </p:spPr>
        <p:txBody>
          <a:bodyPr lIns="0" tIns="0" rIns="0" bIns="0"/>
          <a:lstStyle/>
          <a:p>
            <a:pPr marL="255600" indent="0">
              <a:buNone/>
            </a:pPr>
            <a:r>
              <a:rPr lang="en-US" altLang="en-US" i="1" dirty="0"/>
              <a:t>c </a:t>
            </a:r>
            <a:r>
              <a:rPr lang="en-US" altLang="en-US" dirty="0"/>
              <a:t>is the constant marginal cost.</a:t>
            </a:r>
            <a:endParaRPr lang="en-IN" dirty="0"/>
          </a:p>
        </p:txBody>
      </p:sp>
    </p:spTree>
    <p:extLst>
      <p:ext uri="{BB962C8B-B14F-4D97-AF65-F5344CB8AC3E}">
        <p14:creationId xmlns:p14="http://schemas.microsoft.com/office/powerpoint/2010/main" val="310274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8.1 Monopolistic Pricing and Production Decisions</a:t>
            </a:r>
            <a:endParaRPr lang="en-IN" sz="3200" dirty="0"/>
          </a:p>
        </p:txBody>
      </p:sp>
      <p:pic>
        <p:nvPicPr>
          <p:cNvPr id="19" name="Content Placeholder 18" descr="The graph of production decisions in a monopoly plots cost, C and price, P versus quantity, Q.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3304345" y="1464721"/>
            <a:ext cx="2842874" cy="2770170"/>
          </a:xfrm>
        </p:spPr>
      </p:pic>
      <p:sp>
        <p:nvSpPr>
          <p:cNvPr id="4" name="Content Placeholder 3"/>
          <p:cNvSpPr>
            <a:spLocks noGrp="1"/>
          </p:cNvSpPr>
          <p:nvPr>
            <p:ph sz="quarter" idx="14"/>
          </p:nvPr>
        </p:nvSpPr>
        <p:spPr>
          <a:xfrm>
            <a:off x="457200" y="4363465"/>
            <a:ext cx="8229601" cy="514486"/>
          </a:xfrm>
        </p:spPr>
        <p:txBody>
          <a:bodyPr lIns="0" tIns="0" rIns="0" bIns="0"/>
          <a:lstStyle/>
          <a:p>
            <a:pPr marL="432" indent="0">
              <a:buNone/>
            </a:pPr>
            <a:r>
              <a:rPr lang="en-US" sz="1600" dirty="0"/>
              <a:t>A monopolistic firm chooses an output at which marginal revenue, the increase in revenue from selling an additional unit, equals marginal cost, the cost of producing an additional</a:t>
            </a:r>
          </a:p>
        </p:txBody>
      </p:sp>
      <p:sp>
        <p:nvSpPr>
          <p:cNvPr id="5" name="Content Placeholder 4"/>
          <p:cNvSpPr>
            <a:spLocks noGrp="1"/>
          </p:cNvSpPr>
          <p:nvPr>
            <p:ph sz="quarter" idx="15"/>
          </p:nvPr>
        </p:nvSpPr>
        <p:spPr>
          <a:xfrm>
            <a:off x="459660" y="4919545"/>
            <a:ext cx="4253628" cy="291941"/>
          </a:xfrm>
        </p:spPr>
        <p:txBody>
          <a:bodyPr lIns="0" tIns="0" rIns="0" bIns="0"/>
          <a:lstStyle/>
          <a:p>
            <a:pPr marL="432" indent="0">
              <a:buNone/>
            </a:pPr>
            <a:r>
              <a:rPr lang="en-US" sz="1600" dirty="0"/>
              <a:t>unit. This profit-maximizing output is shown as</a:t>
            </a:r>
            <a:endParaRPr lang="en-IN" sz="1600" dirty="0"/>
          </a:p>
        </p:txBody>
      </p:sp>
      <p:graphicFrame>
        <p:nvGraphicFramePr>
          <p:cNvPr id="20" name="Object 19" descr="Q sub M,"/>
          <p:cNvGraphicFramePr>
            <a:graphicFrameLocks noChangeAspect="1"/>
          </p:cNvGraphicFramePr>
          <p:nvPr>
            <p:extLst>
              <p:ext uri="{D42A27DB-BD31-4B8C-83A1-F6EECF244321}">
                <p14:modId xmlns:p14="http://schemas.microsoft.com/office/powerpoint/2010/main" val="3940415600"/>
              </p:ext>
            </p:extLst>
          </p:nvPr>
        </p:nvGraphicFramePr>
        <p:xfrm>
          <a:off x="4767263" y="4928870"/>
          <a:ext cx="338137" cy="274638"/>
        </p:xfrm>
        <a:graphic>
          <a:graphicData uri="http://schemas.openxmlformats.org/presentationml/2006/ole">
            <mc:AlternateContent xmlns:mc="http://schemas.openxmlformats.org/markup-compatibility/2006">
              <mc:Choice xmlns:v="urn:schemas-microsoft-com:vml" Requires="v">
                <p:oleObj spid="_x0000_s2234" name="Equation" r:id="rId5" imgW="279360" imgH="228600" progId="Equation.DSMT4">
                  <p:embed/>
                </p:oleObj>
              </mc:Choice>
              <mc:Fallback>
                <p:oleObj name="Equation" r:id="rId5" imgW="279360" imgH="228600" progId="Equation.DSMT4">
                  <p:embed/>
                  <p:pic>
                    <p:nvPicPr>
                      <p:cNvPr id="0" name=""/>
                      <p:cNvPicPr/>
                      <p:nvPr/>
                    </p:nvPicPr>
                    <p:blipFill>
                      <a:blip r:embed="rId6"/>
                      <a:stretch>
                        <a:fillRect/>
                      </a:stretch>
                    </p:blipFill>
                    <p:spPr>
                      <a:xfrm>
                        <a:off x="4767263" y="4928870"/>
                        <a:ext cx="338137" cy="274638"/>
                      </a:xfrm>
                      <a:prstGeom prst="rect">
                        <a:avLst/>
                      </a:prstGeom>
                    </p:spPr>
                  </p:pic>
                </p:oleObj>
              </mc:Fallback>
            </mc:AlternateContent>
          </a:graphicData>
        </a:graphic>
      </p:graphicFrame>
      <p:sp>
        <p:nvSpPr>
          <p:cNvPr id="6" name="Content Placeholder 5"/>
          <p:cNvSpPr>
            <a:spLocks noGrp="1"/>
          </p:cNvSpPr>
          <p:nvPr>
            <p:ph sz="quarter" idx="16"/>
          </p:nvPr>
        </p:nvSpPr>
        <p:spPr>
          <a:xfrm>
            <a:off x="5183202" y="4927720"/>
            <a:ext cx="2879711" cy="278322"/>
          </a:xfrm>
        </p:spPr>
        <p:txBody>
          <a:bodyPr lIns="0" tIns="0" rIns="0" bIns="0"/>
          <a:lstStyle/>
          <a:p>
            <a:pPr marL="432" indent="0">
              <a:buNone/>
            </a:pPr>
            <a:r>
              <a:rPr lang="en-US" sz="1600" dirty="0"/>
              <a:t>the price at which this output is</a:t>
            </a:r>
            <a:endParaRPr lang="en-IN" sz="1600" dirty="0"/>
          </a:p>
        </p:txBody>
      </p:sp>
      <p:sp>
        <p:nvSpPr>
          <p:cNvPr id="7" name="Content Placeholder 6"/>
          <p:cNvSpPr>
            <a:spLocks noGrp="1"/>
          </p:cNvSpPr>
          <p:nvPr>
            <p:ph sz="quarter" idx="17"/>
          </p:nvPr>
        </p:nvSpPr>
        <p:spPr>
          <a:xfrm>
            <a:off x="457202" y="5246441"/>
            <a:ext cx="1249678" cy="281424"/>
          </a:xfrm>
        </p:spPr>
        <p:txBody>
          <a:bodyPr lIns="0" tIns="0" rIns="0" bIns="0"/>
          <a:lstStyle/>
          <a:p>
            <a:pPr marL="432" indent="0">
              <a:buNone/>
            </a:pPr>
            <a:r>
              <a:rPr lang="en-US" sz="1600" dirty="0"/>
              <a:t>demanded is</a:t>
            </a:r>
            <a:endParaRPr lang="en-IN" sz="1600" dirty="0"/>
          </a:p>
        </p:txBody>
      </p:sp>
      <p:graphicFrame>
        <p:nvGraphicFramePr>
          <p:cNvPr id="21" name="Object 20" descr="P sub M."/>
          <p:cNvGraphicFramePr>
            <a:graphicFrameLocks noChangeAspect="1"/>
          </p:cNvGraphicFramePr>
          <p:nvPr>
            <p:extLst>
              <p:ext uri="{D42A27DB-BD31-4B8C-83A1-F6EECF244321}">
                <p14:modId xmlns:p14="http://schemas.microsoft.com/office/powerpoint/2010/main" val="1468692478"/>
              </p:ext>
            </p:extLst>
          </p:nvPr>
        </p:nvGraphicFramePr>
        <p:xfrm>
          <a:off x="1748064" y="5249082"/>
          <a:ext cx="309115" cy="278203"/>
        </p:xfrm>
        <a:graphic>
          <a:graphicData uri="http://schemas.openxmlformats.org/presentationml/2006/ole">
            <mc:AlternateContent xmlns:mc="http://schemas.openxmlformats.org/markup-compatibility/2006">
              <mc:Choice xmlns:v="urn:schemas-microsoft-com:vml" Requires="v">
                <p:oleObj spid="_x0000_s2235" name="Equation" r:id="rId7" imgW="253800" imgH="228600" progId="Equation.DSMT4">
                  <p:embed/>
                </p:oleObj>
              </mc:Choice>
              <mc:Fallback>
                <p:oleObj name="Equation" r:id="rId7" imgW="253800" imgH="228600" progId="Equation.DSMT4">
                  <p:embed/>
                  <p:pic>
                    <p:nvPicPr>
                      <p:cNvPr id="0" name=""/>
                      <p:cNvPicPr/>
                      <p:nvPr/>
                    </p:nvPicPr>
                    <p:blipFill>
                      <a:blip r:embed="rId8"/>
                      <a:stretch>
                        <a:fillRect/>
                      </a:stretch>
                    </p:blipFill>
                    <p:spPr>
                      <a:xfrm>
                        <a:off x="1748064" y="5249082"/>
                        <a:ext cx="309115" cy="278203"/>
                      </a:xfrm>
                      <a:prstGeom prst="rect">
                        <a:avLst/>
                      </a:prstGeom>
                    </p:spPr>
                  </p:pic>
                </p:oleObj>
              </mc:Fallback>
            </mc:AlternateContent>
          </a:graphicData>
        </a:graphic>
      </p:graphicFrame>
      <p:sp>
        <p:nvSpPr>
          <p:cNvPr id="8" name="Content Placeholder 7"/>
          <p:cNvSpPr>
            <a:spLocks noGrp="1"/>
          </p:cNvSpPr>
          <p:nvPr>
            <p:ph sz="quarter" idx="18"/>
          </p:nvPr>
        </p:nvSpPr>
        <p:spPr>
          <a:xfrm>
            <a:off x="2115424" y="5250180"/>
            <a:ext cx="5886529" cy="266827"/>
          </a:xfrm>
        </p:spPr>
        <p:txBody>
          <a:bodyPr lIns="0" tIns="0" rIns="0" bIns="0"/>
          <a:lstStyle/>
          <a:p>
            <a:pPr marL="432" indent="0">
              <a:buNone/>
            </a:pPr>
            <a:r>
              <a:rPr lang="en-US" sz="1600" dirty="0"/>
              <a:t>The marginal revenue curve </a:t>
            </a:r>
            <a:r>
              <a:rPr lang="en-US" sz="1600" i="1" dirty="0" smtClean="0"/>
              <a:t>M</a:t>
            </a:r>
            <a:r>
              <a:rPr lang="en-US" sz="100" i="1" dirty="0" smtClean="0"/>
              <a:t> </a:t>
            </a:r>
            <a:r>
              <a:rPr lang="en-US" sz="1600" i="1" dirty="0" smtClean="0"/>
              <a:t>R </a:t>
            </a:r>
            <a:r>
              <a:rPr lang="en-US" sz="1600" dirty="0"/>
              <a:t>lies below the demand curve </a:t>
            </a:r>
            <a:r>
              <a:rPr lang="en-US" sz="1600" i="1" dirty="0"/>
              <a:t>D</a:t>
            </a:r>
            <a:endParaRPr lang="en-IN" sz="1600" dirty="0"/>
          </a:p>
        </p:txBody>
      </p:sp>
      <p:sp>
        <p:nvSpPr>
          <p:cNvPr id="9" name="Content Placeholder 8"/>
          <p:cNvSpPr>
            <a:spLocks noGrp="1"/>
          </p:cNvSpPr>
          <p:nvPr>
            <p:ph sz="quarter" idx="19"/>
          </p:nvPr>
        </p:nvSpPr>
        <p:spPr>
          <a:xfrm>
            <a:off x="457199" y="5574396"/>
            <a:ext cx="8232469" cy="773064"/>
          </a:xfrm>
        </p:spPr>
        <p:txBody>
          <a:bodyPr lIns="0" tIns="0" rIns="0" bIns="0"/>
          <a:lstStyle/>
          <a:p>
            <a:pPr marL="432" indent="0">
              <a:buNone/>
            </a:pPr>
            <a:r>
              <a:rPr lang="en-US" sz="1600" dirty="0"/>
              <a:t>because, for a monopoly, marginal revenue is always less than the price. The monopoly’s profits are equal to the area of the shaded rectangle, the difference between price and average cost times the amount of output sold.</a:t>
            </a:r>
            <a:endParaRPr lang="en-IN" sz="1600" dirty="0"/>
          </a:p>
        </p:txBody>
      </p:sp>
    </p:spTree>
    <p:extLst>
      <p:ext uri="{BB962C8B-B14F-4D97-AF65-F5344CB8AC3E}">
        <p14:creationId xmlns:p14="http://schemas.microsoft.com/office/powerpoint/2010/main" val="2864581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Monopoly: A Brief Review </a:t>
            </a:r>
            <a:r>
              <a:rPr lang="en-US" altLang="en-US" sz="2000" b="0" dirty="0"/>
              <a:t>(3 of 4)</a:t>
            </a:r>
            <a:endParaRPr lang="en-IN" dirty="0"/>
          </a:p>
        </p:txBody>
      </p:sp>
      <p:sp>
        <p:nvSpPr>
          <p:cNvPr id="3" name="Content Placeholder 2"/>
          <p:cNvSpPr>
            <a:spLocks noGrp="1"/>
          </p:cNvSpPr>
          <p:nvPr>
            <p:ph sz="quarter" idx="13"/>
          </p:nvPr>
        </p:nvSpPr>
        <p:spPr>
          <a:xfrm>
            <a:off x="457200" y="1552575"/>
            <a:ext cx="8229600" cy="895350"/>
          </a:xfrm>
        </p:spPr>
        <p:txBody>
          <a:bodyPr/>
          <a:lstStyle/>
          <a:p>
            <a:r>
              <a:rPr lang="en-US" altLang="en-US" b="1" dirty="0"/>
              <a:t>Average cost</a:t>
            </a:r>
            <a:r>
              <a:rPr lang="en-US" altLang="en-US" dirty="0"/>
              <a:t> is the cost of production (</a:t>
            </a:r>
            <a:r>
              <a:rPr lang="en-US" altLang="en-US" i="1" dirty="0"/>
              <a:t>C</a:t>
            </a:r>
            <a:r>
              <a:rPr lang="en-US" altLang="en-US" dirty="0"/>
              <a:t>) divided by the total quantity of production (</a:t>
            </a:r>
            <a:r>
              <a:rPr lang="en-US" altLang="en-US" i="1" dirty="0"/>
              <a:t>Q</a:t>
            </a:r>
            <a:r>
              <a:rPr lang="en-US" altLang="en-US" dirty="0"/>
              <a:t>).</a:t>
            </a:r>
          </a:p>
        </p:txBody>
      </p:sp>
      <p:graphicFrame>
        <p:nvGraphicFramePr>
          <p:cNvPr id="17" name="Object 16" descr="A upper C = start fraction upper C over Q end fraction = start fraction F over Q end fraction + lower c"/>
          <p:cNvGraphicFramePr>
            <a:graphicFrameLocks noChangeAspect="1"/>
          </p:cNvGraphicFramePr>
          <p:nvPr>
            <p:extLst>
              <p:ext uri="{D42A27DB-BD31-4B8C-83A1-F6EECF244321}">
                <p14:modId xmlns:p14="http://schemas.microsoft.com/office/powerpoint/2010/main" val="3824567269"/>
              </p:ext>
            </p:extLst>
          </p:nvPr>
        </p:nvGraphicFramePr>
        <p:xfrm>
          <a:off x="3582051" y="2589553"/>
          <a:ext cx="1979898" cy="719962"/>
        </p:xfrm>
        <a:graphic>
          <a:graphicData uri="http://schemas.openxmlformats.org/presentationml/2006/ole">
            <mc:AlternateContent xmlns:mc="http://schemas.openxmlformats.org/markup-compatibility/2006">
              <mc:Choice xmlns:v="urn:schemas-microsoft-com:vml" Requires="v">
                <p:oleObj spid="_x0000_s3166" name="Equation" r:id="rId3" imgW="1117440" imgH="406080" progId="Equation.DSMT4">
                  <p:embed/>
                </p:oleObj>
              </mc:Choice>
              <mc:Fallback>
                <p:oleObj name="Equation" r:id="rId3" imgW="1117440" imgH="406080" progId="Equation.DSMT4">
                  <p:embed/>
                  <p:pic>
                    <p:nvPicPr>
                      <p:cNvPr id="0" name=""/>
                      <p:cNvPicPr/>
                      <p:nvPr/>
                    </p:nvPicPr>
                    <p:blipFill>
                      <a:blip r:embed="rId4"/>
                      <a:stretch>
                        <a:fillRect/>
                      </a:stretch>
                    </p:blipFill>
                    <p:spPr>
                      <a:xfrm>
                        <a:off x="3582051" y="2589553"/>
                        <a:ext cx="1979898" cy="719962"/>
                      </a:xfrm>
                      <a:prstGeom prst="rect">
                        <a:avLst/>
                      </a:prstGeom>
                    </p:spPr>
                  </p:pic>
                </p:oleObj>
              </mc:Fallback>
            </mc:AlternateContent>
          </a:graphicData>
        </a:graphic>
      </p:graphicFrame>
      <p:sp>
        <p:nvSpPr>
          <p:cNvPr id="4" name="Content Placeholder 3"/>
          <p:cNvSpPr>
            <a:spLocks noGrp="1"/>
          </p:cNvSpPr>
          <p:nvPr>
            <p:ph sz="quarter" idx="14"/>
          </p:nvPr>
        </p:nvSpPr>
        <p:spPr>
          <a:xfrm>
            <a:off x="457200" y="3451143"/>
            <a:ext cx="8093034" cy="2284639"/>
          </a:xfrm>
        </p:spPr>
        <p:txBody>
          <a:bodyPr/>
          <a:lstStyle/>
          <a:p>
            <a:r>
              <a:rPr lang="en-US" altLang="en-US" b="1" dirty="0"/>
              <a:t>Marginal cost</a:t>
            </a:r>
            <a:r>
              <a:rPr lang="en-US" altLang="en-US" dirty="0"/>
              <a:t> is the cost of producing an additional unit of output.</a:t>
            </a:r>
          </a:p>
          <a:p>
            <a:r>
              <a:rPr lang="en-US" altLang="en-US" dirty="0"/>
              <a:t>A larger firm is more efficient because average cost decreases as output </a:t>
            </a:r>
            <a:r>
              <a:rPr lang="en-US" altLang="en-US" i="1" dirty="0"/>
              <a:t>Q </a:t>
            </a:r>
            <a:r>
              <a:rPr lang="en-US" altLang="en-US" dirty="0"/>
              <a:t>increases: internal economies of scale.</a:t>
            </a:r>
            <a:endParaRPr lang="en-US" dirty="0"/>
          </a:p>
        </p:txBody>
      </p:sp>
    </p:spTree>
    <p:extLst>
      <p:ext uri="{BB962C8B-B14F-4D97-AF65-F5344CB8AC3E}">
        <p14:creationId xmlns:p14="http://schemas.microsoft.com/office/powerpoint/2010/main" val="1504356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8.2 Average versus Marginal Cost</a:t>
            </a:r>
            <a:endParaRPr lang="en-IN" sz="3200" dirty="0"/>
          </a:p>
        </p:txBody>
      </p:sp>
      <p:pic>
        <p:nvPicPr>
          <p:cNvPr id="5" name="Content Placeholder 4" descr="The graph plots cost per unit versus output. Marginal cost is a horizontal line at y = 1. The average cost curve falls with decreasing steepness from (0, 6) through (4, 2), (12, 1.5), and (24, 1.2). All values are estimated."/>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324578" y="1587168"/>
            <a:ext cx="4494845" cy="3653503"/>
          </a:xfrm>
        </p:spPr>
      </p:pic>
      <p:sp>
        <p:nvSpPr>
          <p:cNvPr id="4" name="Content Placeholder 3"/>
          <p:cNvSpPr>
            <a:spLocks noGrp="1"/>
          </p:cNvSpPr>
          <p:nvPr>
            <p:ph sz="quarter" idx="14"/>
          </p:nvPr>
        </p:nvSpPr>
        <p:spPr>
          <a:xfrm>
            <a:off x="457200" y="5355771"/>
            <a:ext cx="8229600" cy="989467"/>
          </a:xfrm>
        </p:spPr>
        <p:txBody>
          <a:bodyPr/>
          <a:lstStyle/>
          <a:p>
            <a:pPr marL="432" indent="0">
              <a:buNone/>
            </a:pPr>
            <a:r>
              <a:rPr lang="en-US" sz="1800" dirty="0"/>
              <a:t>This figure illustrates the average and marginal costs corresponding to the total cost function </a:t>
            </a:r>
            <a:r>
              <a:rPr lang="en-US" sz="1800" i="1" dirty="0"/>
              <a:t>C </a:t>
            </a:r>
            <a:r>
              <a:rPr lang="en-US" sz="1800" dirty="0"/>
              <a:t>= 5 + </a:t>
            </a:r>
            <a:r>
              <a:rPr lang="en-US" sz="1800" i="1" dirty="0"/>
              <a:t>x</a:t>
            </a:r>
            <a:r>
              <a:rPr lang="en-US" sz="1800" dirty="0"/>
              <a:t>. Marginal cost is always 1; average cost declines as output rises.</a:t>
            </a:r>
          </a:p>
        </p:txBody>
      </p:sp>
    </p:spTree>
    <p:extLst>
      <p:ext uri="{BB962C8B-B14F-4D97-AF65-F5344CB8AC3E}">
        <p14:creationId xmlns:p14="http://schemas.microsoft.com/office/powerpoint/2010/main" val="3663800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Monopoly: A Brief Review </a:t>
            </a:r>
            <a:r>
              <a:rPr lang="en-US" altLang="en-US" sz="2000" b="0" dirty="0"/>
              <a:t>(4 of 4)</a:t>
            </a:r>
            <a:endParaRPr lang="en-IN" dirty="0"/>
          </a:p>
        </p:txBody>
      </p:sp>
      <p:sp>
        <p:nvSpPr>
          <p:cNvPr id="3" name="Content Placeholder 2"/>
          <p:cNvSpPr>
            <a:spLocks noGrp="1"/>
          </p:cNvSpPr>
          <p:nvPr>
            <p:ph sz="quarter" idx="13"/>
          </p:nvPr>
        </p:nvSpPr>
        <p:spPr>
          <a:xfrm>
            <a:off x="457200" y="1556327"/>
            <a:ext cx="8229600" cy="2587048"/>
          </a:xfrm>
        </p:spPr>
        <p:txBody>
          <a:bodyPr/>
          <a:lstStyle/>
          <a:p>
            <a:r>
              <a:rPr lang="en-US" altLang="en-US" dirty="0"/>
              <a:t>The profit-maximizing output occurs where marginal revenue equals marginal cost.</a:t>
            </a:r>
          </a:p>
          <a:p>
            <a:pPr lvl="1"/>
            <a:r>
              <a:rPr lang="en-US" altLang="en-US" dirty="0"/>
              <a:t>At the intersection of the </a:t>
            </a:r>
            <a:r>
              <a:rPr lang="en-US" altLang="en-US" i="1" dirty="0"/>
              <a:t>M</a:t>
            </a:r>
            <a:r>
              <a:rPr lang="en-US" altLang="en-US" sz="100" i="1" dirty="0"/>
              <a:t> </a:t>
            </a:r>
            <a:r>
              <a:rPr lang="en-US" altLang="en-US" i="1" dirty="0"/>
              <a:t>C </a:t>
            </a:r>
            <a:r>
              <a:rPr lang="en-US" altLang="en-US" dirty="0"/>
              <a:t>and </a:t>
            </a:r>
            <a:r>
              <a:rPr lang="en-US" altLang="en-US" i="1" dirty="0"/>
              <a:t>M</a:t>
            </a:r>
            <a:r>
              <a:rPr lang="en-US" altLang="en-US" sz="100" i="1" dirty="0"/>
              <a:t> </a:t>
            </a:r>
            <a:r>
              <a:rPr lang="en-US" altLang="en-US" i="1" dirty="0"/>
              <a:t>R </a:t>
            </a:r>
            <a:r>
              <a:rPr lang="en-US" altLang="en-US" dirty="0"/>
              <a:t>curves, the revenue gained from selling an extra unit equals the cost of producing that unit</a:t>
            </a:r>
            <a:r>
              <a:rPr lang="en-US" altLang="en-US" dirty="0" smtClean="0"/>
              <a:t>.</a:t>
            </a:r>
            <a:endParaRPr lang="en-US" altLang="en-US" dirty="0"/>
          </a:p>
          <a:p>
            <a:r>
              <a:rPr lang="en-US" altLang="en-US" dirty="0"/>
              <a:t>The monopolist earns some monopoly profits, as</a:t>
            </a:r>
            <a:endParaRPr lang="en-US" dirty="0"/>
          </a:p>
        </p:txBody>
      </p:sp>
      <p:sp>
        <p:nvSpPr>
          <p:cNvPr id="4" name="Content Placeholder 3"/>
          <p:cNvSpPr>
            <a:spLocks noGrp="1"/>
          </p:cNvSpPr>
          <p:nvPr>
            <p:ph sz="quarter" idx="14"/>
          </p:nvPr>
        </p:nvSpPr>
        <p:spPr>
          <a:xfrm>
            <a:off x="584200" y="4210175"/>
            <a:ext cx="5130800" cy="428625"/>
          </a:xfrm>
        </p:spPr>
        <p:txBody>
          <a:bodyPr lIns="0" tIns="0" rIns="0" bIns="0"/>
          <a:lstStyle/>
          <a:p>
            <a:pPr marL="255600" indent="0">
              <a:buNone/>
            </a:pPr>
            <a:r>
              <a:rPr lang="en-US" altLang="en-US" dirty="0"/>
              <a:t>indicated by the shaded box, when</a:t>
            </a:r>
            <a:endParaRPr lang="en-US" dirty="0"/>
          </a:p>
        </p:txBody>
      </p:sp>
      <p:graphicFrame>
        <p:nvGraphicFramePr>
          <p:cNvPr id="5" name="Object 4" descr="P is greater than A C."/>
          <p:cNvGraphicFramePr>
            <a:graphicFrameLocks noChangeAspect="1"/>
          </p:cNvGraphicFramePr>
          <p:nvPr>
            <p:extLst>
              <p:ext uri="{D42A27DB-BD31-4B8C-83A1-F6EECF244321}">
                <p14:modId xmlns:p14="http://schemas.microsoft.com/office/powerpoint/2010/main" val="153116215"/>
              </p:ext>
            </p:extLst>
          </p:nvPr>
        </p:nvGraphicFramePr>
        <p:xfrm>
          <a:off x="5778427" y="4256497"/>
          <a:ext cx="1034946" cy="359982"/>
        </p:xfrm>
        <a:graphic>
          <a:graphicData uri="http://schemas.openxmlformats.org/presentationml/2006/ole">
            <mc:AlternateContent xmlns:mc="http://schemas.openxmlformats.org/markup-compatibility/2006">
              <mc:Choice xmlns:v="urn:schemas-microsoft-com:vml" Requires="v">
                <p:oleObj spid="_x0000_s4190" name="Equation" r:id="rId3" imgW="583920" imgH="203040" progId="Equation.DSMT4">
                  <p:embed/>
                </p:oleObj>
              </mc:Choice>
              <mc:Fallback>
                <p:oleObj name="Equation" r:id="rId3" imgW="583920" imgH="203040" progId="Equation.DSMT4">
                  <p:embed/>
                  <p:pic>
                    <p:nvPicPr>
                      <p:cNvPr id="0" name=""/>
                      <p:cNvPicPr/>
                      <p:nvPr/>
                    </p:nvPicPr>
                    <p:blipFill>
                      <a:blip r:embed="rId4"/>
                      <a:stretch>
                        <a:fillRect/>
                      </a:stretch>
                    </p:blipFill>
                    <p:spPr>
                      <a:xfrm>
                        <a:off x="5778427" y="4256497"/>
                        <a:ext cx="1034946" cy="359982"/>
                      </a:xfrm>
                      <a:prstGeom prst="rect">
                        <a:avLst/>
                      </a:prstGeom>
                    </p:spPr>
                  </p:pic>
                </p:oleObj>
              </mc:Fallback>
            </mc:AlternateContent>
          </a:graphicData>
        </a:graphic>
      </p:graphicFrame>
    </p:spTree>
    <p:extLst>
      <p:ext uri="{BB962C8B-B14F-4D97-AF65-F5344CB8AC3E}">
        <p14:creationId xmlns:p14="http://schemas.microsoft.com/office/powerpoint/2010/main" val="1634305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(1 of 9)</a:t>
            </a:r>
            <a:endParaRPr lang="en-IN" dirty="0"/>
          </a:p>
        </p:txBody>
      </p:sp>
      <p:sp>
        <p:nvSpPr>
          <p:cNvPr id="3" name="Content Placeholder 2"/>
          <p:cNvSpPr>
            <a:spLocks noGrp="1"/>
          </p:cNvSpPr>
          <p:nvPr>
            <p:ph sz="quarter" idx="13"/>
          </p:nvPr>
        </p:nvSpPr>
        <p:spPr>
          <a:xfrm>
            <a:off x="457200" y="1556328"/>
            <a:ext cx="8229600" cy="1246250"/>
          </a:xfrm>
        </p:spPr>
        <p:txBody>
          <a:bodyPr/>
          <a:lstStyle/>
          <a:p>
            <a:r>
              <a:rPr lang="en-US" altLang="en-US" b="1" dirty="0"/>
              <a:t>Monopolistic competition</a:t>
            </a:r>
            <a:r>
              <a:rPr lang="en-US" altLang="en-US" dirty="0"/>
              <a:t> is a simple model of an imperfectly competitive industry that assumes that each firm</a:t>
            </a:r>
          </a:p>
        </p:txBody>
      </p:sp>
      <p:sp>
        <p:nvSpPr>
          <p:cNvPr id="4" name="Content Placeholder 3"/>
          <p:cNvSpPr>
            <a:spLocks noGrp="1"/>
          </p:cNvSpPr>
          <p:nvPr>
            <p:ph sz="quarter" idx="14"/>
          </p:nvPr>
        </p:nvSpPr>
        <p:spPr>
          <a:xfrm>
            <a:off x="457200" y="2861953"/>
            <a:ext cx="8229600" cy="1520040"/>
          </a:xfrm>
        </p:spPr>
        <p:txBody>
          <a:bodyPr/>
          <a:lstStyle/>
          <a:p>
            <a:pPr marL="741600" lvl="1" indent="-428400">
              <a:spcBef>
                <a:spcPts val="1500"/>
              </a:spcBef>
              <a:buFont typeface="+mj-lt"/>
              <a:buAutoNum type="arabicPeriod"/>
            </a:pPr>
            <a:r>
              <a:rPr lang="en-US" altLang="en-US" dirty="0"/>
              <a:t>can differentiate its product from the product of competitors, and</a:t>
            </a:r>
          </a:p>
          <a:p>
            <a:pPr marL="741600" lvl="1" indent="-428400">
              <a:spcBef>
                <a:spcPts val="1500"/>
              </a:spcBef>
              <a:buFont typeface="+mj-lt"/>
              <a:buAutoNum type="arabicPeriod"/>
            </a:pPr>
            <a:r>
              <a:rPr lang="en-US" altLang="en-US" dirty="0"/>
              <a:t>takes the prices charged by its rivals as given.</a:t>
            </a:r>
            <a:endParaRPr lang="en-IN" dirty="0"/>
          </a:p>
        </p:txBody>
      </p:sp>
    </p:spTree>
    <p:extLst>
      <p:ext uri="{BB962C8B-B14F-4D97-AF65-F5344CB8AC3E}">
        <p14:creationId xmlns:p14="http://schemas.microsoft.com/office/powerpoint/2010/main" val="3957223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Monopolistic Competition </a:t>
            </a:r>
            <a:r>
              <a:rPr lang="en-US" altLang="en-US" sz="2000" b="0" dirty="0" smtClean="0"/>
              <a:t>(2 of 9)</a:t>
            </a:r>
            <a:endParaRPr lang="en-US" dirty="0"/>
          </a:p>
        </p:txBody>
      </p:sp>
      <p:sp>
        <p:nvSpPr>
          <p:cNvPr id="3" name="Content Placeholder 2"/>
          <p:cNvSpPr>
            <a:spLocks noGrp="1"/>
          </p:cNvSpPr>
          <p:nvPr>
            <p:ph sz="quarter" idx="13"/>
          </p:nvPr>
        </p:nvSpPr>
        <p:spPr>
          <a:xfrm>
            <a:off x="457200" y="1556327"/>
            <a:ext cx="8229600" cy="3858821"/>
          </a:xfrm>
        </p:spPr>
        <p:txBody>
          <a:bodyPr/>
          <a:lstStyle/>
          <a:p>
            <a:r>
              <a:rPr lang="en-US" altLang="en-US" dirty="0" smtClean="0"/>
              <a:t>A firm in a monopolistically competitive industry is expected to sell</a:t>
            </a:r>
          </a:p>
          <a:p>
            <a:pPr lvl="1"/>
            <a:r>
              <a:rPr lang="en-US" altLang="en-US" b="1" dirty="0" smtClean="0"/>
              <a:t>more</a:t>
            </a:r>
            <a:r>
              <a:rPr lang="en-US" altLang="en-US" dirty="0" smtClean="0"/>
              <a:t> as total sales in the industry increase and as prices charged by rivals increase.</a:t>
            </a:r>
          </a:p>
          <a:p>
            <a:pPr lvl="1"/>
            <a:r>
              <a:rPr lang="en-US" altLang="en-US" b="1" dirty="0" smtClean="0"/>
              <a:t>less</a:t>
            </a:r>
            <a:r>
              <a:rPr lang="en-US" altLang="en-US" dirty="0" smtClean="0"/>
              <a:t> as the number of firms in the industry decreases and as the firm’</a:t>
            </a:r>
            <a:r>
              <a:rPr lang="en-US" altLang="ja-JP" dirty="0" smtClean="0"/>
              <a:t>s price increases.</a:t>
            </a:r>
          </a:p>
          <a:p>
            <a:r>
              <a:rPr lang="en-US" altLang="en-US" dirty="0" smtClean="0"/>
              <a:t>These concepts are represented by the function:</a:t>
            </a:r>
            <a:endParaRPr lang="en-US" dirty="0"/>
          </a:p>
        </p:txBody>
      </p:sp>
    </p:spTree>
    <p:extLst>
      <p:ext uri="{BB962C8B-B14F-4D97-AF65-F5344CB8AC3E}">
        <p14:creationId xmlns:p14="http://schemas.microsoft.com/office/powerpoint/2010/main" val="876439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Monopolistic Competition </a:t>
            </a:r>
            <a:r>
              <a:rPr lang="en-US" altLang="en-US" sz="2000" b="0" dirty="0" smtClean="0"/>
              <a:t>(3 of 9)</a:t>
            </a:r>
            <a:endParaRPr lang="en-US" dirty="0"/>
          </a:p>
        </p:txBody>
      </p:sp>
      <p:graphicFrame>
        <p:nvGraphicFramePr>
          <p:cNvPr id="17" name="Object 16" descr="Q = S left bracket start fraction 1 over n end fraction minus b left parenthesis P minus P bar right parenthesis right bracket"/>
          <p:cNvGraphicFramePr>
            <a:graphicFrameLocks noChangeAspect="1"/>
          </p:cNvGraphicFramePr>
          <p:nvPr>
            <p:extLst>
              <p:ext uri="{D42A27DB-BD31-4B8C-83A1-F6EECF244321}">
                <p14:modId xmlns:p14="http://schemas.microsoft.com/office/powerpoint/2010/main" val="1603232129"/>
              </p:ext>
            </p:extLst>
          </p:nvPr>
        </p:nvGraphicFramePr>
        <p:xfrm>
          <a:off x="3128963" y="1636713"/>
          <a:ext cx="2886075" cy="925512"/>
        </p:xfrm>
        <a:graphic>
          <a:graphicData uri="http://schemas.openxmlformats.org/presentationml/2006/ole">
            <mc:AlternateContent xmlns:mc="http://schemas.openxmlformats.org/markup-compatibility/2006">
              <mc:Choice xmlns:v="urn:schemas-microsoft-com:vml" Requires="v">
                <p:oleObj spid="_x0000_s5306" name="Equation" r:id="rId3" imgW="1346040" imgH="431640" progId="Equation.DSMT4">
                  <p:embed/>
                </p:oleObj>
              </mc:Choice>
              <mc:Fallback>
                <p:oleObj name="Equation" r:id="rId3" imgW="1346040" imgH="431640" progId="Equation.DSMT4">
                  <p:embed/>
                  <p:pic>
                    <p:nvPicPr>
                      <p:cNvPr id="0" name=""/>
                      <p:cNvPicPr/>
                      <p:nvPr/>
                    </p:nvPicPr>
                    <p:blipFill>
                      <a:blip r:embed="rId4"/>
                      <a:stretch>
                        <a:fillRect/>
                      </a:stretch>
                    </p:blipFill>
                    <p:spPr>
                      <a:xfrm>
                        <a:off x="3128963" y="1636713"/>
                        <a:ext cx="2886075" cy="925512"/>
                      </a:xfrm>
                      <a:prstGeom prst="rect">
                        <a:avLst/>
                      </a:prstGeom>
                    </p:spPr>
                  </p:pic>
                </p:oleObj>
              </mc:Fallback>
            </mc:AlternateContent>
          </a:graphicData>
        </a:graphic>
      </p:graphicFrame>
      <p:sp>
        <p:nvSpPr>
          <p:cNvPr id="3" name="Content Placeholder 2"/>
          <p:cNvSpPr>
            <a:spLocks noGrp="1"/>
          </p:cNvSpPr>
          <p:nvPr>
            <p:ph sz="quarter" idx="13"/>
          </p:nvPr>
        </p:nvSpPr>
        <p:spPr>
          <a:xfrm>
            <a:off x="457200" y="2781920"/>
            <a:ext cx="8229600" cy="2184328"/>
          </a:xfrm>
        </p:spPr>
        <p:txBody>
          <a:bodyPr/>
          <a:lstStyle/>
          <a:p>
            <a:pPr lvl="1"/>
            <a:r>
              <a:rPr lang="en-US" altLang="en-US" i="1" dirty="0"/>
              <a:t>Q</a:t>
            </a:r>
            <a:r>
              <a:rPr lang="en-US" altLang="en-US" dirty="0"/>
              <a:t> is an individual firm’</a:t>
            </a:r>
            <a:r>
              <a:rPr lang="en-US" altLang="ja-JP" dirty="0"/>
              <a:t>s sales</a:t>
            </a:r>
          </a:p>
          <a:p>
            <a:pPr lvl="1"/>
            <a:r>
              <a:rPr lang="en-US" altLang="en-US" i="1" dirty="0"/>
              <a:t>S</a:t>
            </a:r>
            <a:r>
              <a:rPr lang="en-US" altLang="en-US" dirty="0"/>
              <a:t> is the total sales of the industry</a:t>
            </a:r>
          </a:p>
          <a:p>
            <a:pPr lvl="1"/>
            <a:r>
              <a:rPr lang="en-US" altLang="en-US" i="1" dirty="0"/>
              <a:t>n</a:t>
            </a:r>
            <a:r>
              <a:rPr lang="en-US" altLang="en-US" dirty="0"/>
              <a:t> is the number of firms in the industry</a:t>
            </a:r>
          </a:p>
          <a:p>
            <a:pPr lvl="1"/>
            <a:r>
              <a:rPr lang="en-US" altLang="en-US" i="1" dirty="0"/>
              <a:t>b</a:t>
            </a:r>
            <a:r>
              <a:rPr lang="en-US" altLang="en-US" dirty="0"/>
              <a:t> is a constant term representing the responsiveness of a firm’</a:t>
            </a:r>
            <a:r>
              <a:rPr lang="en-US" altLang="ja-JP" dirty="0"/>
              <a:t>s sales to its price</a:t>
            </a:r>
          </a:p>
        </p:txBody>
      </p:sp>
      <p:sp>
        <p:nvSpPr>
          <p:cNvPr id="5" name="Content Placeholder 4"/>
          <p:cNvSpPr>
            <a:spLocks noGrp="1"/>
          </p:cNvSpPr>
          <p:nvPr>
            <p:ph sz="quarter" idx="15"/>
          </p:nvPr>
        </p:nvSpPr>
        <p:spPr>
          <a:xfrm>
            <a:off x="546101" y="5021988"/>
            <a:ext cx="795812" cy="393893"/>
          </a:xfrm>
        </p:spPr>
        <p:txBody>
          <a:bodyPr lIns="0" tIns="0" rIns="0" bIns="0"/>
          <a:lstStyle/>
          <a:p>
            <a:pPr marL="486918" lvl="1" indent="0"/>
            <a:r>
              <a:rPr lang="en-US" dirty="0" smtClean="0"/>
              <a:t> </a:t>
            </a:r>
            <a:r>
              <a:rPr lang="en-US" sz="100" dirty="0" smtClean="0"/>
              <a:t> </a:t>
            </a:r>
            <a:endParaRPr lang="en-US" sz="100" dirty="0"/>
          </a:p>
        </p:txBody>
      </p:sp>
      <p:graphicFrame>
        <p:nvGraphicFramePr>
          <p:cNvPr id="18" name="Object 17" descr="bar P"/>
          <p:cNvGraphicFramePr>
            <a:graphicFrameLocks noChangeAspect="1"/>
          </p:cNvGraphicFramePr>
          <p:nvPr>
            <p:extLst>
              <p:ext uri="{D42A27DB-BD31-4B8C-83A1-F6EECF244321}">
                <p14:modId xmlns:p14="http://schemas.microsoft.com/office/powerpoint/2010/main" val="149736568"/>
              </p:ext>
            </p:extLst>
          </p:nvPr>
        </p:nvGraphicFramePr>
        <p:xfrm>
          <a:off x="1425040" y="5042294"/>
          <a:ext cx="296984" cy="371231"/>
        </p:xfrm>
        <a:graphic>
          <a:graphicData uri="http://schemas.openxmlformats.org/presentationml/2006/ole">
            <mc:AlternateContent xmlns:mc="http://schemas.openxmlformats.org/markup-compatibility/2006">
              <mc:Choice xmlns:v="urn:schemas-microsoft-com:vml" Requires="v">
                <p:oleObj spid="_x0000_s5307" name="Equation" r:id="rId5" imgW="152280" imgH="190440" progId="Equation.DSMT4">
                  <p:embed/>
                </p:oleObj>
              </mc:Choice>
              <mc:Fallback>
                <p:oleObj name="Equation" r:id="rId5" imgW="152280" imgH="190440" progId="Equation.DSMT4">
                  <p:embed/>
                  <p:pic>
                    <p:nvPicPr>
                      <p:cNvPr id="0" name=""/>
                      <p:cNvPicPr/>
                      <p:nvPr/>
                    </p:nvPicPr>
                    <p:blipFill>
                      <a:blip r:embed="rId6"/>
                      <a:stretch>
                        <a:fillRect/>
                      </a:stretch>
                    </p:blipFill>
                    <p:spPr>
                      <a:xfrm>
                        <a:off x="1425040" y="5042294"/>
                        <a:ext cx="296984" cy="371231"/>
                      </a:xfrm>
                      <a:prstGeom prst="rect">
                        <a:avLst/>
                      </a:prstGeom>
                    </p:spPr>
                  </p:pic>
                </p:oleObj>
              </mc:Fallback>
            </mc:AlternateContent>
          </a:graphicData>
        </a:graphic>
      </p:graphicFrame>
      <p:sp>
        <p:nvSpPr>
          <p:cNvPr id="6" name="Content Placeholder 5"/>
          <p:cNvSpPr>
            <a:spLocks noGrp="1"/>
          </p:cNvSpPr>
          <p:nvPr>
            <p:ph sz="quarter" idx="16"/>
          </p:nvPr>
        </p:nvSpPr>
        <p:spPr>
          <a:xfrm>
            <a:off x="1823568" y="5021988"/>
            <a:ext cx="5135373" cy="416915"/>
          </a:xfrm>
        </p:spPr>
        <p:txBody>
          <a:bodyPr lIns="0" tIns="0" rIns="0" bIns="0"/>
          <a:lstStyle/>
          <a:p>
            <a:pPr marL="0" lvl="1" indent="0">
              <a:buNone/>
            </a:pPr>
            <a:r>
              <a:rPr lang="en-US" altLang="en-US" dirty="0" smtClean="0"/>
              <a:t>is the price charged by the firm itself</a:t>
            </a:r>
            <a:endParaRPr lang="en-US" dirty="0"/>
          </a:p>
        </p:txBody>
      </p:sp>
      <p:sp>
        <p:nvSpPr>
          <p:cNvPr id="7" name="Content Placeholder 6"/>
          <p:cNvSpPr>
            <a:spLocks noGrp="1"/>
          </p:cNvSpPr>
          <p:nvPr>
            <p:ph sz="quarter" idx="17"/>
          </p:nvPr>
        </p:nvSpPr>
        <p:spPr>
          <a:xfrm>
            <a:off x="563313" y="5536342"/>
            <a:ext cx="7678160" cy="422046"/>
          </a:xfrm>
        </p:spPr>
        <p:txBody>
          <a:bodyPr lIns="0" tIns="0" rIns="0" bIns="0"/>
          <a:lstStyle/>
          <a:p>
            <a:pPr marL="741600" lvl="1"/>
            <a:r>
              <a:rPr lang="en-US" altLang="en-US" i="1" dirty="0" smtClean="0"/>
              <a:t>P </a:t>
            </a:r>
            <a:r>
              <a:rPr lang="en-US" altLang="en-US" dirty="0" smtClean="0"/>
              <a:t>is the average price charged by its competitors</a:t>
            </a:r>
            <a:endParaRPr lang="en-US" dirty="0"/>
          </a:p>
        </p:txBody>
      </p:sp>
    </p:spTree>
    <p:extLst>
      <p:ext uri="{BB962C8B-B14F-4D97-AF65-F5344CB8AC3E}">
        <p14:creationId xmlns:p14="http://schemas.microsoft.com/office/powerpoint/2010/main" val="1451794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(4 of 9)</a:t>
            </a:r>
            <a:endParaRPr lang="en-IN" dirty="0"/>
          </a:p>
        </p:txBody>
      </p:sp>
      <p:sp>
        <p:nvSpPr>
          <p:cNvPr id="3" name="Content Placeholder 2"/>
          <p:cNvSpPr>
            <a:spLocks noGrp="1"/>
          </p:cNvSpPr>
          <p:nvPr>
            <p:ph sz="quarter" idx="13"/>
          </p:nvPr>
        </p:nvSpPr>
        <p:spPr>
          <a:xfrm>
            <a:off x="457200" y="1552574"/>
            <a:ext cx="8229601" cy="881367"/>
          </a:xfrm>
        </p:spPr>
        <p:txBody>
          <a:bodyPr/>
          <a:lstStyle/>
          <a:p>
            <a:r>
              <a:rPr lang="en-US" altLang="en-US" dirty="0"/>
              <a:t>Assume that firms are symmetric: all firms face the same demand function and have the same cost function.</a:t>
            </a:r>
          </a:p>
        </p:txBody>
      </p:sp>
      <p:sp>
        <p:nvSpPr>
          <p:cNvPr id="4" name="Content Placeholder 3"/>
          <p:cNvSpPr>
            <a:spLocks noGrp="1"/>
          </p:cNvSpPr>
          <p:nvPr>
            <p:ph sz="quarter" idx="14"/>
          </p:nvPr>
        </p:nvSpPr>
        <p:spPr>
          <a:xfrm>
            <a:off x="457200" y="2504496"/>
            <a:ext cx="8229601" cy="418093"/>
          </a:xfrm>
        </p:spPr>
        <p:txBody>
          <a:bodyPr tIns="0"/>
          <a:lstStyle/>
          <a:p>
            <a:pPr lvl="1"/>
            <a:r>
              <a:rPr lang="en-US" altLang="en-US" dirty="0"/>
              <a:t>Thus all firms should charge the same price and have</a:t>
            </a:r>
            <a:endParaRPr lang="en-US" dirty="0"/>
          </a:p>
        </p:txBody>
      </p:sp>
      <p:sp>
        <p:nvSpPr>
          <p:cNvPr id="5" name="Content Placeholder 4"/>
          <p:cNvSpPr>
            <a:spLocks noGrp="1"/>
          </p:cNvSpPr>
          <p:nvPr>
            <p:ph sz="quarter" idx="15"/>
          </p:nvPr>
        </p:nvSpPr>
        <p:spPr>
          <a:xfrm>
            <a:off x="457201" y="3123768"/>
            <a:ext cx="4435434" cy="403201"/>
          </a:xfrm>
        </p:spPr>
        <p:txBody>
          <a:bodyPr lIns="0" tIns="0" rIns="0" bIns="0"/>
          <a:lstStyle/>
          <a:p>
            <a:pPr marL="819150" lvl="1" indent="0">
              <a:buNone/>
            </a:pPr>
            <a:r>
              <a:rPr lang="en-US" altLang="en-US" dirty="0"/>
              <a:t>equal share of the market</a:t>
            </a:r>
            <a:endParaRPr lang="en-US" dirty="0"/>
          </a:p>
        </p:txBody>
      </p:sp>
      <p:graphicFrame>
        <p:nvGraphicFramePr>
          <p:cNvPr id="17" name="Object 16" descr="Q = start fraction S over n end fraction"/>
          <p:cNvGraphicFramePr>
            <a:graphicFrameLocks noChangeAspect="1"/>
          </p:cNvGraphicFramePr>
          <p:nvPr>
            <p:extLst>
              <p:ext uri="{D42A27DB-BD31-4B8C-83A1-F6EECF244321}">
                <p14:modId xmlns:p14="http://schemas.microsoft.com/office/powerpoint/2010/main" val="3997319972"/>
              </p:ext>
            </p:extLst>
          </p:nvPr>
        </p:nvGraphicFramePr>
        <p:xfrm>
          <a:off x="4940135" y="2976499"/>
          <a:ext cx="832514" cy="697737"/>
        </p:xfrm>
        <a:graphic>
          <a:graphicData uri="http://schemas.openxmlformats.org/presentationml/2006/ole">
            <mc:AlternateContent xmlns:mc="http://schemas.openxmlformats.org/markup-compatibility/2006">
              <mc:Choice xmlns:v="urn:schemas-microsoft-com:vml" Requires="v">
                <p:oleObj spid="_x0000_s6330" name="Equation" r:id="rId3" imgW="469800" imgH="393480" progId="Equation.DSMT4">
                  <p:embed/>
                </p:oleObj>
              </mc:Choice>
              <mc:Fallback>
                <p:oleObj name="Equation" r:id="rId3" imgW="469800" imgH="393480" progId="Equation.DSMT4">
                  <p:embed/>
                  <p:pic>
                    <p:nvPicPr>
                      <p:cNvPr id="0" name=""/>
                      <p:cNvPicPr/>
                      <p:nvPr/>
                    </p:nvPicPr>
                    <p:blipFill>
                      <a:blip r:embed="rId4"/>
                      <a:stretch>
                        <a:fillRect/>
                      </a:stretch>
                    </p:blipFill>
                    <p:spPr>
                      <a:xfrm>
                        <a:off x="4940135" y="2976499"/>
                        <a:ext cx="832514" cy="697737"/>
                      </a:xfrm>
                      <a:prstGeom prst="rect">
                        <a:avLst/>
                      </a:prstGeom>
                    </p:spPr>
                  </p:pic>
                </p:oleObj>
              </mc:Fallback>
            </mc:AlternateContent>
          </a:graphicData>
        </a:graphic>
      </p:graphicFrame>
      <p:sp>
        <p:nvSpPr>
          <p:cNvPr id="6" name="Content Placeholder 5"/>
          <p:cNvSpPr>
            <a:spLocks noGrp="1"/>
          </p:cNvSpPr>
          <p:nvPr>
            <p:ph sz="quarter" idx="16"/>
          </p:nvPr>
        </p:nvSpPr>
        <p:spPr>
          <a:xfrm>
            <a:off x="457200" y="3728147"/>
            <a:ext cx="8229600" cy="797750"/>
          </a:xfrm>
        </p:spPr>
        <p:txBody>
          <a:bodyPr tIns="0"/>
          <a:lstStyle/>
          <a:p>
            <a:pPr lvl="1"/>
            <a:r>
              <a:rPr lang="en-US" altLang="en-US" dirty="0"/>
              <a:t>Average costs should depend on the size of the market and the number of firms:</a:t>
            </a:r>
            <a:endParaRPr lang="en-US" dirty="0"/>
          </a:p>
        </p:txBody>
      </p:sp>
      <p:graphicFrame>
        <p:nvGraphicFramePr>
          <p:cNvPr id="18" name="Object 17" descr="A C = start fraction C over Q end fraction = start fraction F over Q end fraction + lower c = n start fraction F over S end fraction + lower c"/>
          <p:cNvGraphicFramePr>
            <a:graphicFrameLocks noChangeAspect="1"/>
          </p:cNvGraphicFramePr>
          <p:nvPr>
            <p:extLst>
              <p:ext uri="{D42A27DB-BD31-4B8C-83A1-F6EECF244321}">
                <p14:modId xmlns:p14="http://schemas.microsoft.com/office/powerpoint/2010/main" val="1455890810"/>
              </p:ext>
            </p:extLst>
          </p:nvPr>
        </p:nvGraphicFramePr>
        <p:xfrm>
          <a:off x="3165823" y="4658993"/>
          <a:ext cx="2812354" cy="719962"/>
        </p:xfrm>
        <a:graphic>
          <a:graphicData uri="http://schemas.openxmlformats.org/presentationml/2006/ole">
            <mc:AlternateContent xmlns:mc="http://schemas.openxmlformats.org/markup-compatibility/2006">
              <mc:Choice xmlns:v="urn:schemas-microsoft-com:vml" Requires="v">
                <p:oleObj spid="_x0000_s6331" name="Equation" r:id="rId5" imgW="1587240" imgH="406080" progId="Equation.DSMT4">
                  <p:embed/>
                </p:oleObj>
              </mc:Choice>
              <mc:Fallback>
                <p:oleObj name="Equation" r:id="rId5" imgW="1587240" imgH="406080" progId="Equation.DSMT4">
                  <p:embed/>
                  <p:pic>
                    <p:nvPicPr>
                      <p:cNvPr id="0" name=""/>
                      <p:cNvPicPr/>
                      <p:nvPr/>
                    </p:nvPicPr>
                    <p:blipFill>
                      <a:blip r:embed="rId6"/>
                      <a:stretch>
                        <a:fillRect/>
                      </a:stretch>
                    </p:blipFill>
                    <p:spPr>
                      <a:xfrm>
                        <a:off x="3165823" y="4658993"/>
                        <a:ext cx="2812354" cy="719962"/>
                      </a:xfrm>
                      <a:prstGeom prst="rect">
                        <a:avLst/>
                      </a:prstGeom>
                    </p:spPr>
                  </p:pic>
                </p:oleObj>
              </mc:Fallback>
            </mc:AlternateContent>
          </a:graphicData>
        </a:graphic>
      </p:graphicFrame>
    </p:spTree>
    <p:extLst>
      <p:ext uri="{BB962C8B-B14F-4D97-AF65-F5344CB8AC3E}">
        <p14:creationId xmlns:p14="http://schemas.microsoft.com/office/powerpoint/2010/main" val="3635556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(5 of 9)</a:t>
            </a:r>
            <a:endParaRPr lang="en-IN" dirty="0"/>
          </a:p>
        </p:txBody>
      </p:sp>
      <p:graphicFrame>
        <p:nvGraphicFramePr>
          <p:cNvPr id="18" name="Object 17" descr="A C = n left parenthesis start fraction F over S end fraction right parenthesis + lower c"/>
          <p:cNvGraphicFramePr>
            <a:graphicFrameLocks noChangeAspect="1"/>
          </p:cNvGraphicFramePr>
          <p:nvPr>
            <p:extLst>
              <p:ext uri="{D42A27DB-BD31-4B8C-83A1-F6EECF244321}">
                <p14:modId xmlns:p14="http://schemas.microsoft.com/office/powerpoint/2010/main" val="894392178"/>
              </p:ext>
            </p:extLst>
          </p:nvPr>
        </p:nvGraphicFramePr>
        <p:xfrm>
          <a:off x="3481120" y="1557338"/>
          <a:ext cx="1930400" cy="841457"/>
        </p:xfrm>
        <a:graphic>
          <a:graphicData uri="http://schemas.openxmlformats.org/presentationml/2006/ole">
            <mc:AlternateContent xmlns:mc="http://schemas.openxmlformats.org/markup-compatibility/2006">
              <mc:Choice xmlns:v="urn:schemas-microsoft-com:vml" Requires="v">
                <p:oleObj spid="_x0000_s7262" name="Equation" r:id="rId3" imgW="990360" imgH="431640" progId="Equation.DSMT4">
                  <p:embed/>
                </p:oleObj>
              </mc:Choice>
              <mc:Fallback>
                <p:oleObj name="Equation" r:id="rId3" imgW="990360" imgH="431640" progId="Equation.DSMT4">
                  <p:embed/>
                  <p:pic>
                    <p:nvPicPr>
                      <p:cNvPr id="0" name=""/>
                      <p:cNvPicPr/>
                      <p:nvPr/>
                    </p:nvPicPr>
                    <p:blipFill>
                      <a:blip r:embed="rId4"/>
                      <a:stretch>
                        <a:fillRect/>
                      </a:stretch>
                    </p:blipFill>
                    <p:spPr>
                      <a:xfrm>
                        <a:off x="3481120" y="1557338"/>
                        <a:ext cx="1930400" cy="841457"/>
                      </a:xfrm>
                      <a:prstGeom prst="rect">
                        <a:avLst/>
                      </a:prstGeom>
                    </p:spPr>
                  </p:pic>
                </p:oleObj>
              </mc:Fallback>
            </mc:AlternateContent>
          </a:graphicData>
        </a:graphic>
      </p:graphicFrame>
      <p:sp>
        <p:nvSpPr>
          <p:cNvPr id="17" name="Content Placeholder 16"/>
          <p:cNvSpPr>
            <a:spLocks noGrp="1"/>
          </p:cNvSpPr>
          <p:nvPr>
            <p:ph sz="quarter" idx="13"/>
          </p:nvPr>
        </p:nvSpPr>
        <p:spPr>
          <a:xfrm>
            <a:off x="457199" y="2541319"/>
            <a:ext cx="8247413" cy="2291938"/>
          </a:xfrm>
        </p:spPr>
        <p:txBody>
          <a:bodyPr/>
          <a:lstStyle/>
          <a:p>
            <a:r>
              <a:rPr lang="en-US" altLang="en-US" dirty="0"/>
              <a:t>As the number of firms </a:t>
            </a:r>
            <a:r>
              <a:rPr lang="en-US" altLang="en-US" i="1" dirty="0"/>
              <a:t>n </a:t>
            </a:r>
            <a:r>
              <a:rPr lang="en-US" altLang="en-US" dirty="0"/>
              <a:t>in the industry increases, the average cost increases for each firm because each produces less.</a:t>
            </a:r>
          </a:p>
          <a:p>
            <a:r>
              <a:rPr lang="en-US" altLang="en-US" dirty="0"/>
              <a:t>As total sales </a:t>
            </a:r>
            <a:r>
              <a:rPr lang="en-US" altLang="en-US" i="1" dirty="0"/>
              <a:t>S</a:t>
            </a:r>
            <a:r>
              <a:rPr lang="en-US" altLang="en-US" dirty="0"/>
              <a:t> of the industry increase, the average cost decreases for each firm because each produces more.</a:t>
            </a:r>
            <a:endParaRPr lang="en-US" dirty="0"/>
          </a:p>
        </p:txBody>
      </p:sp>
    </p:spTree>
    <p:extLst>
      <p:ext uri="{BB962C8B-B14F-4D97-AF65-F5344CB8AC3E}">
        <p14:creationId xmlns:p14="http://schemas.microsoft.com/office/powerpoint/2010/main" val="3369725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8.3 Equilibrium in a Monopolistically Competitive Market</a:t>
            </a:r>
            <a:endParaRPr lang="en-IN" sz="3200" dirty="0"/>
          </a:p>
        </p:txBody>
      </p:sp>
      <p:pic>
        <p:nvPicPr>
          <p:cNvPr id="5" name="Content Placeholder 4" descr="The graph shows cost, C and price, P versus number of firms, 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245812" y="1571545"/>
            <a:ext cx="2652377" cy="2211073"/>
          </a:xfrm>
        </p:spPr>
      </p:pic>
      <p:sp>
        <p:nvSpPr>
          <p:cNvPr id="4" name="Content Placeholder 3"/>
          <p:cNvSpPr>
            <a:spLocks noGrp="1"/>
          </p:cNvSpPr>
          <p:nvPr>
            <p:ph sz="quarter" idx="14"/>
          </p:nvPr>
        </p:nvSpPr>
        <p:spPr>
          <a:xfrm>
            <a:off x="457200" y="3895106"/>
            <a:ext cx="8229600" cy="2479302"/>
          </a:xfrm>
        </p:spPr>
        <p:txBody>
          <a:bodyPr tIns="0"/>
          <a:lstStyle/>
          <a:p>
            <a:pPr marL="432" indent="0">
              <a:buNone/>
            </a:pPr>
            <a:r>
              <a:rPr lang="en-US" sz="1600" dirty="0"/>
              <a:t>The number of firms in a monopolistically competitive market, and the prices they charge, are determined by two relationships. On one side, the more firms there are, the more intensely they compete, and hence the lower is the industry price. This relationship is represented by </a:t>
            </a:r>
            <a:r>
              <a:rPr lang="en-US" sz="1600" i="1" dirty="0"/>
              <a:t>P</a:t>
            </a:r>
            <a:r>
              <a:rPr lang="en-US" sz="100" i="1" dirty="0"/>
              <a:t> </a:t>
            </a:r>
            <a:r>
              <a:rPr lang="en-US" sz="1600" i="1" dirty="0"/>
              <a:t>P. </a:t>
            </a:r>
            <a:r>
              <a:rPr lang="en-US" sz="1600" dirty="0"/>
              <a:t>On the other side, the more firms there are, the less each firm sells and therefore the higher is the industry’s average cost. This relationship is represented by </a:t>
            </a:r>
            <a:r>
              <a:rPr lang="en-US" sz="1600" i="1" dirty="0"/>
              <a:t>C</a:t>
            </a:r>
            <a:r>
              <a:rPr lang="en-US" sz="100" i="1" dirty="0"/>
              <a:t> </a:t>
            </a:r>
            <a:r>
              <a:rPr lang="en-US" sz="1600" i="1" dirty="0"/>
              <a:t>C. </a:t>
            </a:r>
            <a:r>
              <a:rPr lang="en-US" sz="1600" dirty="0"/>
              <a:t>If price exceeds average cost (that is, if the </a:t>
            </a:r>
            <a:r>
              <a:rPr lang="en-US" sz="1600" i="1" dirty="0"/>
              <a:t>P</a:t>
            </a:r>
            <a:r>
              <a:rPr lang="en-US" sz="100" i="1" dirty="0"/>
              <a:t> </a:t>
            </a:r>
            <a:r>
              <a:rPr lang="en-US" sz="1600" i="1" dirty="0"/>
              <a:t>P </a:t>
            </a:r>
            <a:r>
              <a:rPr lang="en-US" sz="1600" dirty="0"/>
              <a:t>curve is above the </a:t>
            </a:r>
            <a:r>
              <a:rPr lang="en-US" sz="1600" i="1" dirty="0"/>
              <a:t>C</a:t>
            </a:r>
            <a:r>
              <a:rPr lang="en-US" sz="100" i="1" dirty="0"/>
              <a:t> </a:t>
            </a:r>
            <a:r>
              <a:rPr lang="en-US" sz="1600" i="1" dirty="0"/>
              <a:t>C </a:t>
            </a:r>
            <a:r>
              <a:rPr lang="en-US" sz="1600" dirty="0"/>
              <a:t>curve), the industry will be making profits and additional firms will enter the industry; if price is less than average cost, the industry will be incurring losses and firms will leave the industry. The equilibrium price and number of firms occurs when price equals average cost, at the intersection of </a:t>
            </a:r>
            <a:r>
              <a:rPr lang="en-US" sz="1600" i="1" dirty="0"/>
              <a:t>PP </a:t>
            </a:r>
            <a:r>
              <a:rPr lang="en-US" sz="1600" dirty="0"/>
              <a:t>and </a:t>
            </a:r>
            <a:r>
              <a:rPr lang="en-US" sz="1600" i="1" dirty="0"/>
              <a:t>C</a:t>
            </a:r>
            <a:r>
              <a:rPr lang="en-US" sz="100" i="1" dirty="0"/>
              <a:t> </a:t>
            </a:r>
            <a:r>
              <a:rPr lang="en-US" sz="1600" i="1" dirty="0"/>
              <a:t>C.</a:t>
            </a:r>
            <a:endParaRPr lang="en-US" sz="1600" dirty="0"/>
          </a:p>
        </p:txBody>
      </p:sp>
    </p:spTree>
    <p:extLst>
      <p:ext uri="{BB962C8B-B14F-4D97-AF65-F5344CB8AC3E}">
        <p14:creationId xmlns:p14="http://schemas.microsoft.com/office/powerpoint/2010/main" val="169092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(6 of 9)</a:t>
            </a:r>
            <a:endParaRPr lang="en-IN" dirty="0"/>
          </a:p>
        </p:txBody>
      </p:sp>
      <p:sp>
        <p:nvSpPr>
          <p:cNvPr id="3" name="Content Placeholder 2"/>
          <p:cNvSpPr>
            <a:spLocks noGrp="1"/>
          </p:cNvSpPr>
          <p:nvPr>
            <p:ph sz="quarter" idx="13"/>
          </p:nvPr>
        </p:nvSpPr>
        <p:spPr>
          <a:xfrm>
            <a:off x="466603" y="1552576"/>
            <a:ext cx="7133605" cy="400049"/>
          </a:xfrm>
        </p:spPr>
        <p:txBody>
          <a:bodyPr lIns="0" tIns="0" rIns="0" bIns="0"/>
          <a:lstStyle/>
          <a:p>
            <a:r>
              <a:rPr lang="en-US" altLang="en-US" dirty="0"/>
              <a:t>If monopolistic firms face linear demand functions</a:t>
            </a:r>
            <a:r>
              <a:rPr lang="en-US" altLang="en-US" dirty="0" smtClean="0"/>
              <a:t>,</a:t>
            </a:r>
            <a:endParaRPr lang="en-US" altLang="en-US" dirty="0"/>
          </a:p>
        </p:txBody>
      </p:sp>
      <p:graphicFrame>
        <p:nvGraphicFramePr>
          <p:cNvPr id="6" name="Object 5" descr="Q = A minus B left parenthesis P right parenthesis,"/>
          <p:cNvGraphicFramePr>
            <a:graphicFrameLocks noChangeAspect="1"/>
          </p:cNvGraphicFramePr>
          <p:nvPr>
            <p:extLst>
              <p:ext uri="{D42A27DB-BD31-4B8C-83A1-F6EECF244321}">
                <p14:modId xmlns:p14="http://schemas.microsoft.com/office/powerpoint/2010/main" val="1496125415"/>
              </p:ext>
            </p:extLst>
          </p:nvPr>
        </p:nvGraphicFramePr>
        <p:xfrm>
          <a:off x="713675" y="2019300"/>
          <a:ext cx="1757363" cy="395288"/>
        </p:xfrm>
        <a:graphic>
          <a:graphicData uri="http://schemas.openxmlformats.org/presentationml/2006/ole">
            <mc:AlternateContent xmlns:mc="http://schemas.openxmlformats.org/markup-compatibility/2006">
              <mc:Choice xmlns:v="urn:schemas-microsoft-com:vml" Requires="v">
                <p:oleObj spid="_x0000_s8378" name="Equation" r:id="rId3" imgW="901440" imgH="203040" progId="Equation.DSMT4">
                  <p:embed/>
                </p:oleObj>
              </mc:Choice>
              <mc:Fallback>
                <p:oleObj name="Equation" r:id="rId3" imgW="901440" imgH="203040" progId="Equation.DSMT4">
                  <p:embed/>
                  <p:pic>
                    <p:nvPicPr>
                      <p:cNvPr id="6" name="Object 5"/>
                      <p:cNvPicPr/>
                      <p:nvPr/>
                    </p:nvPicPr>
                    <p:blipFill>
                      <a:blip r:embed="rId4"/>
                      <a:stretch>
                        <a:fillRect/>
                      </a:stretch>
                    </p:blipFill>
                    <p:spPr>
                      <a:xfrm>
                        <a:off x="713675" y="2019300"/>
                        <a:ext cx="1757363" cy="395288"/>
                      </a:xfrm>
                      <a:prstGeom prst="rect">
                        <a:avLst/>
                      </a:prstGeom>
                    </p:spPr>
                  </p:pic>
                </p:oleObj>
              </mc:Fallback>
            </mc:AlternateContent>
          </a:graphicData>
        </a:graphic>
      </p:graphicFrame>
      <p:sp>
        <p:nvSpPr>
          <p:cNvPr id="4" name="Content Placeholder 3"/>
          <p:cNvSpPr>
            <a:spLocks noGrp="1"/>
          </p:cNvSpPr>
          <p:nvPr>
            <p:ph sz="quarter" idx="14"/>
          </p:nvPr>
        </p:nvSpPr>
        <p:spPr>
          <a:xfrm>
            <a:off x="457200" y="2527441"/>
            <a:ext cx="8229599" cy="1339709"/>
          </a:xfrm>
        </p:spPr>
        <p:txBody>
          <a:bodyPr lIns="0" tIns="0" rIns="0" bIns="0"/>
          <a:lstStyle/>
          <a:p>
            <a:pPr marL="741600" lvl="1"/>
            <a:r>
              <a:rPr lang="en-US" altLang="en-US" dirty="0"/>
              <a:t>where </a:t>
            </a:r>
            <a:r>
              <a:rPr lang="en-US" altLang="en-US" i="1" dirty="0"/>
              <a:t>A</a:t>
            </a:r>
            <a:r>
              <a:rPr lang="en-US" altLang="en-US" dirty="0"/>
              <a:t> and </a:t>
            </a:r>
            <a:r>
              <a:rPr lang="en-US" altLang="en-US" i="1" dirty="0"/>
              <a:t>B</a:t>
            </a:r>
            <a:r>
              <a:rPr lang="en-US" altLang="en-US" dirty="0"/>
              <a:t> are constants.</a:t>
            </a:r>
          </a:p>
          <a:p>
            <a:r>
              <a:rPr lang="en-US" altLang="en-US" dirty="0"/>
              <a:t>When firms maximize profits, they should produce until marginal revenue equals marginal cost:</a:t>
            </a:r>
            <a:endParaRPr lang="en-IN" dirty="0"/>
          </a:p>
        </p:txBody>
      </p:sp>
      <p:graphicFrame>
        <p:nvGraphicFramePr>
          <p:cNvPr id="7" name="Object 6" descr="M R = P minus start fraction Q over B end fraction = c"/>
          <p:cNvGraphicFramePr>
            <a:graphicFrameLocks noChangeAspect="1"/>
          </p:cNvGraphicFramePr>
          <p:nvPr>
            <p:extLst>
              <p:ext uri="{D42A27DB-BD31-4B8C-83A1-F6EECF244321}">
                <p14:modId xmlns:p14="http://schemas.microsoft.com/office/powerpoint/2010/main" val="4050483159"/>
              </p:ext>
            </p:extLst>
          </p:nvPr>
        </p:nvGraphicFramePr>
        <p:xfrm>
          <a:off x="3495518" y="4031876"/>
          <a:ext cx="2152965" cy="767510"/>
        </p:xfrm>
        <a:graphic>
          <a:graphicData uri="http://schemas.openxmlformats.org/presentationml/2006/ole">
            <mc:AlternateContent xmlns:mc="http://schemas.openxmlformats.org/markup-compatibility/2006">
              <mc:Choice xmlns:v="urn:schemas-microsoft-com:vml" Requires="v">
                <p:oleObj spid="_x0000_s8379" name="Equation" r:id="rId5" imgW="1104840" imgH="393480" progId="Equation.DSMT4">
                  <p:embed/>
                </p:oleObj>
              </mc:Choice>
              <mc:Fallback>
                <p:oleObj name="Equation" r:id="rId5" imgW="1104840" imgH="393480" progId="Equation.DSMT4">
                  <p:embed/>
                  <p:pic>
                    <p:nvPicPr>
                      <p:cNvPr id="7" name="Object 6"/>
                      <p:cNvPicPr/>
                      <p:nvPr/>
                    </p:nvPicPr>
                    <p:blipFill>
                      <a:blip r:embed="rId6"/>
                      <a:stretch>
                        <a:fillRect/>
                      </a:stretch>
                    </p:blipFill>
                    <p:spPr>
                      <a:xfrm>
                        <a:off x="3495518" y="4031876"/>
                        <a:ext cx="2152965" cy="767510"/>
                      </a:xfrm>
                      <a:prstGeom prst="rect">
                        <a:avLst/>
                      </a:prstGeom>
                    </p:spPr>
                  </p:pic>
                </p:oleObj>
              </mc:Fallback>
            </mc:AlternateContent>
          </a:graphicData>
        </a:graphic>
      </p:graphicFrame>
    </p:spTree>
    <p:extLst>
      <p:ext uri="{BB962C8B-B14F-4D97-AF65-F5344CB8AC3E}">
        <p14:creationId xmlns:p14="http://schemas.microsoft.com/office/powerpoint/2010/main" val="398978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Monopolistic Competition </a:t>
            </a:r>
            <a:r>
              <a:rPr lang="en-US" altLang="en-US" sz="2000" b="0" dirty="0" smtClean="0"/>
              <a:t>(7 of 9)</a:t>
            </a:r>
            <a:endParaRPr lang="en-US" dirty="0"/>
          </a:p>
        </p:txBody>
      </p:sp>
      <p:sp>
        <p:nvSpPr>
          <p:cNvPr id="3" name="Content Placeholder 2"/>
          <p:cNvSpPr>
            <a:spLocks noGrp="1"/>
          </p:cNvSpPr>
          <p:nvPr>
            <p:ph sz="quarter" idx="13"/>
          </p:nvPr>
        </p:nvSpPr>
        <p:spPr>
          <a:xfrm>
            <a:off x="466602" y="1552575"/>
            <a:ext cx="8220197" cy="1166874"/>
          </a:xfrm>
        </p:spPr>
        <p:txBody>
          <a:bodyPr lIns="0" tIns="0" rIns="0" bIns="0"/>
          <a:lstStyle/>
          <a:p>
            <a:r>
              <a:rPr lang="en-US" altLang="en-US" dirty="0" smtClean="0"/>
              <a:t>As the number of firms </a:t>
            </a:r>
            <a:r>
              <a:rPr lang="en-US" altLang="en-US" i="1" dirty="0" smtClean="0"/>
              <a:t>n </a:t>
            </a:r>
            <a:r>
              <a:rPr lang="en-US" altLang="en-US" dirty="0" smtClean="0"/>
              <a:t>in the industry increases, the price that each firm charges decreases due to increased competition.</a:t>
            </a:r>
            <a:endParaRPr lang="en-US" dirty="0"/>
          </a:p>
        </p:txBody>
      </p:sp>
      <p:graphicFrame>
        <p:nvGraphicFramePr>
          <p:cNvPr id="6" name="Object 5" descr="P = c + start fraction 1 over left parenthesis b n right parenthesis end fraction"/>
          <p:cNvGraphicFramePr>
            <a:graphicFrameLocks noChangeAspect="1"/>
          </p:cNvGraphicFramePr>
          <p:nvPr>
            <p:extLst>
              <p:ext uri="{D42A27DB-BD31-4B8C-83A1-F6EECF244321}">
                <p14:modId xmlns:p14="http://schemas.microsoft.com/office/powerpoint/2010/main" val="1290668534"/>
              </p:ext>
            </p:extLst>
          </p:nvPr>
        </p:nvGraphicFramePr>
        <p:xfrm>
          <a:off x="3582988" y="2808538"/>
          <a:ext cx="1978025" cy="393700"/>
        </p:xfrm>
        <a:graphic>
          <a:graphicData uri="http://schemas.openxmlformats.org/presentationml/2006/ole">
            <mc:AlternateContent xmlns:mc="http://schemas.openxmlformats.org/markup-compatibility/2006">
              <mc:Choice xmlns:v="urn:schemas-microsoft-com:vml" Requires="v">
                <p:oleObj spid="_x0000_s9402" name="Equation" r:id="rId3" imgW="1015920" imgH="203040" progId="Equation.DSMT4">
                  <p:embed/>
                </p:oleObj>
              </mc:Choice>
              <mc:Fallback>
                <p:oleObj name="Equation" r:id="rId3" imgW="1015920" imgH="203040" progId="Equation.DSMT4">
                  <p:embed/>
                  <p:pic>
                    <p:nvPicPr>
                      <p:cNvPr id="6" name="Object 5"/>
                      <p:cNvPicPr/>
                      <p:nvPr/>
                    </p:nvPicPr>
                    <p:blipFill>
                      <a:blip r:embed="rId4"/>
                      <a:stretch>
                        <a:fillRect/>
                      </a:stretch>
                    </p:blipFill>
                    <p:spPr>
                      <a:xfrm>
                        <a:off x="3582988" y="2808538"/>
                        <a:ext cx="1978025" cy="393700"/>
                      </a:xfrm>
                      <a:prstGeom prst="rect">
                        <a:avLst/>
                      </a:prstGeom>
                    </p:spPr>
                  </p:pic>
                </p:oleObj>
              </mc:Fallback>
            </mc:AlternateContent>
          </a:graphicData>
        </a:graphic>
      </p:graphicFrame>
      <p:sp>
        <p:nvSpPr>
          <p:cNvPr id="4" name="Content Placeholder 3"/>
          <p:cNvSpPr>
            <a:spLocks noGrp="1"/>
          </p:cNvSpPr>
          <p:nvPr>
            <p:ph sz="quarter" idx="14"/>
          </p:nvPr>
        </p:nvSpPr>
        <p:spPr>
          <a:xfrm>
            <a:off x="466602" y="3280124"/>
            <a:ext cx="5981699" cy="432000"/>
          </a:xfrm>
        </p:spPr>
        <p:txBody>
          <a:bodyPr lIns="0" tIns="0" rIns="0" bIns="0"/>
          <a:lstStyle/>
          <a:p>
            <a:r>
              <a:rPr lang="en-US" altLang="en-US" dirty="0" smtClean="0"/>
              <a:t>Each firm</a:t>
            </a:r>
            <a:r>
              <a:rPr lang="en-US" altLang="ja-JP" dirty="0" smtClean="0"/>
              <a:t>’s markup over marginal cost</a:t>
            </a:r>
            <a:endParaRPr lang="en-US" dirty="0"/>
          </a:p>
        </p:txBody>
      </p:sp>
      <p:graphicFrame>
        <p:nvGraphicFramePr>
          <p:cNvPr id="8" name="Object 7" descr="P minus c = start fraction 1 over left parenthesis b n right parenthesis end fraction"/>
          <p:cNvGraphicFramePr>
            <a:graphicFrameLocks noChangeAspect="1"/>
          </p:cNvGraphicFramePr>
          <p:nvPr>
            <p:extLst>
              <p:ext uri="{D42A27DB-BD31-4B8C-83A1-F6EECF244321}">
                <p14:modId xmlns:p14="http://schemas.microsoft.com/office/powerpoint/2010/main" val="238887516"/>
              </p:ext>
            </p:extLst>
          </p:nvPr>
        </p:nvGraphicFramePr>
        <p:xfrm>
          <a:off x="3582988" y="3782787"/>
          <a:ext cx="1978025" cy="395288"/>
        </p:xfrm>
        <a:graphic>
          <a:graphicData uri="http://schemas.openxmlformats.org/presentationml/2006/ole">
            <mc:AlternateContent xmlns:mc="http://schemas.openxmlformats.org/markup-compatibility/2006">
              <mc:Choice xmlns:v="urn:schemas-microsoft-com:vml" Requires="v">
                <p:oleObj spid="_x0000_s9403" name="Equation" r:id="rId5" imgW="1015920" imgH="203040" progId="Equation.DSMT4">
                  <p:embed/>
                </p:oleObj>
              </mc:Choice>
              <mc:Fallback>
                <p:oleObj name="Equation" r:id="rId5" imgW="1015920" imgH="203040" progId="Equation.DSMT4">
                  <p:embed/>
                  <p:pic>
                    <p:nvPicPr>
                      <p:cNvPr id="8" name="Object 7"/>
                      <p:cNvPicPr/>
                      <p:nvPr/>
                    </p:nvPicPr>
                    <p:blipFill>
                      <a:blip r:embed="rId6"/>
                      <a:stretch>
                        <a:fillRect/>
                      </a:stretch>
                    </p:blipFill>
                    <p:spPr>
                      <a:xfrm>
                        <a:off x="3582988" y="3782787"/>
                        <a:ext cx="1978025" cy="395288"/>
                      </a:xfrm>
                      <a:prstGeom prst="rect">
                        <a:avLst/>
                      </a:prstGeom>
                    </p:spPr>
                  </p:pic>
                </p:oleObj>
              </mc:Fallback>
            </mc:AlternateContent>
          </a:graphicData>
        </a:graphic>
      </p:graphicFrame>
      <p:sp>
        <p:nvSpPr>
          <p:cNvPr id="5" name="Content Placeholder 4"/>
          <p:cNvSpPr>
            <a:spLocks noGrp="1"/>
          </p:cNvSpPr>
          <p:nvPr>
            <p:ph sz="quarter" idx="15"/>
          </p:nvPr>
        </p:nvSpPr>
        <p:spPr>
          <a:xfrm>
            <a:off x="466602" y="4310980"/>
            <a:ext cx="6907975" cy="439153"/>
          </a:xfrm>
        </p:spPr>
        <p:txBody>
          <a:bodyPr lIns="0" tIns="0" rIns="0" bIns="0"/>
          <a:lstStyle/>
          <a:p>
            <a:pPr marL="255600" indent="0">
              <a:buNone/>
            </a:pPr>
            <a:r>
              <a:rPr lang="en-US" altLang="en-US" dirty="0"/>
              <a:t>decreases with the number of competing firms.</a:t>
            </a:r>
            <a:endParaRPr lang="en-US" dirty="0"/>
          </a:p>
        </p:txBody>
      </p:sp>
    </p:spTree>
    <p:extLst>
      <p:ext uri="{BB962C8B-B14F-4D97-AF65-F5344CB8AC3E}">
        <p14:creationId xmlns:p14="http://schemas.microsoft.com/office/powerpoint/2010/main" val="4093576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(8 of 9)</a:t>
            </a:r>
            <a:endParaRPr lang="en-IN" dirty="0"/>
          </a:p>
        </p:txBody>
      </p:sp>
      <p:sp>
        <p:nvSpPr>
          <p:cNvPr id="3" name="Content Placeholder 2"/>
          <p:cNvSpPr>
            <a:spLocks noGrp="1"/>
          </p:cNvSpPr>
          <p:nvPr>
            <p:ph sz="quarter" idx="13"/>
          </p:nvPr>
        </p:nvSpPr>
        <p:spPr>
          <a:xfrm>
            <a:off x="457200" y="1556327"/>
            <a:ext cx="8069283" cy="2471143"/>
          </a:xfrm>
        </p:spPr>
        <p:txBody>
          <a:bodyPr lIns="0" tIns="0" rIns="0" bIns="0"/>
          <a:lstStyle/>
          <a:p>
            <a:r>
              <a:rPr lang="en-US" altLang="en-US" dirty="0"/>
              <a:t>At some number of firms, the price that firms charge (which decreases in </a:t>
            </a:r>
            <a:r>
              <a:rPr lang="en-US" altLang="en-US" i="1" dirty="0"/>
              <a:t>n</a:t>
            </a:r>
            <a:r>
              <a:rPr lang="en-US" altLang="en-US" dirty="0"/>
              <a:t>) matches the average cost that firms pay (which increases in </a:t>
            </a:r>
            <a:r>
              <a:rPr lang="en-US" altLang="en-US" i="1" dirty="0"/>
              <a:t>n</a:t>
            </a:r>
            <a:r>
              <a:rPr lang="en-US" altLang="en-US" dirty="0"/>
              <a:t>).</a:t>
            </a:r>
            <a:endParaRPr lang="en-US" altLang="en-US" i="1" dirty="0"/>
          </a:p>
          <a:p>
            <a:pPr lvl="1"/>
            <a:r>
              <a:rPr lang="en-US" altLang="en-US" dirty="0"/>
              <a:t>At this long-run equilibrium number of firms in the industry, firms have no incentive to enter or exit the industry.</a:t>
            </a:r>
            <a:endParaRPr lang="en-IN" dirty="0"/>
          </a:p>
        </p:txBody>
      </p:sp>
    </p:spTree>
    <p:extLst>
      <p:ext uri="{BB962C8B-B14F-4D97-AF65-F5344CB8AC3E}">
        <p14:creationId xmlns:p14="http://schemas.microsoft.com/office/powerpoint/2010/main" val="24818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Monopolistic Competition </a:t>
            </a:r>
            <a:r>
              <a:rPr lang="en-US" altLang="en-US" sz="2000" b="0" dirty="0"/>
              <a:t>(9 of 9)</a:t>
            </a:r>
            <a:endParaRPr lang="en-IN" dirty="0"/>
          </a:p>
        </p:txBody>
      </p:sp>
      <p:sp>
        <p:nvSpPr>
          <p:cNvPr id="3" name="Content Placeholder 2"/>
          <p:cNvSpPr>
            <a:spLocks noGrp="1"/>
          </p:cNvSpPr>
          <p:nvPr>
            <p:ph sz="quarter" idx="13"/>
          </p:nvPr>
        </p:nvSpPr>
        <p:spPr>
          <a:xfrm>
            <a:off x="457200" y="1556327"/>
            <a:ext cx="8259288" cy="4586896"/>
          </a:xfrm>
        </p:spPr>
        <p:txBody>
          <a:bodyPr lIns="0" tIns="0" rIns="0" bIns="0"/>
          <a:lstStyle/>
          <a:p>
            <a:r>
              <a:rPr lang="en-US" altLang="en-US" dirty="0"/>
              <a:t>If the number of firms is greater than or less than the equilibrium number</a:t>
            </a:r>
            <a:r>
              <a:rPr lang="en-US" altLang="en-US" i="1" dirty="0"/>
              <a:t>, </a:t>
            </a:r>
            <a:r>
              <a:rPr lang="en-US" altLang="en-US" dirty="0"/>
              <a:t>then firms have an incentive to exit or enter the industry.</a:t>
            </a:r>
            <a:endParaRPr lang="en-US" altLang="en-US" i="1" baseline="-25000" dirty="0"/>
          </a:p>
          <a:p>
            <a:pPr lvl="1">
              <a:spcBef>
                <a:spcPts val="1500"/>
              </a:spcBef>
            </a:pPr>
            <a:r>
              <a:rPr lang="en-US" altLang="en-US" dirty="0"/>
              <a:t>Firms have an incentive to exit the industry when price &lt; average cost.</a:t>
            </a:r>
          </a:p>
          <a:p>
            <a:pPr lvl="1">
              <a:spcBef>
                <a:spcPts val="1500"/>
              </a:spcBef>
            </a:pPr>
            <a:r>
              <a:rPr lang="en-US" altLang="en-US" dirty="0"/>
              <a:t>Firms have an incentive to enter the industry when price &gt; average cost.</a:t>
            </a:r>
            <a:endParaRPr lang="en-US" dirty="0"/>
          </a:p>
        </p:txBody>
      </p:sp>
    </p:spTree>
    <p:extLst>
      <p:ext uri="{BB962C8B-B14F-4D97-AF65-F5344CB8AC3E}">
        <p14:creationId xmlns:p14="http://schemas.microsoft.com/office/powerpoint/2010/main" val="1150387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t>Monopolistic Competition and Trade </a:t>
            </a:r>
            <a:r>
              <a:rPr lang="en-US" altLang="en-US" sz="2000" b="0" dirty="0" smtClean="0"/>
              <a:t>(1 of 2)</a:t>
            </a:r>
            <a:endParaRPr lang="en-US" dirty="0"/>
          </a:p>
        </p:txBody>
      </p:sp>
      <p:sp>
        <p:nvSpPr>
          <p:cNvPr id="3" name="Content Placeholder 2"/>
          <p:cNvSpPr>
            <a:spLocks noGrp="1"/>
          </p:cNvSpPr>
          <p:nvPr>
            <p:ph sz="quarter" idx="13"/>
          </p:nvPr>
        </p:nvSpPr>
        <p:spPr>
          <a:xfrm>
            <a:off x="466602" y="1552574"/>
            <a:ext cx="8317802" cy="1480005"/>
          </a:xfrm>
        </p:spPr>
        <p:txBody>
          <a:bodyPr lIns="0" tIns="0" rIns="0" bIns="0"/>
          <a:lstStyle/>
          <a:p>
            <a:r>
              <a:rPr lang="en-US" altLang="en-US" sz="2200" dirty="0"/>
              <a:t>Because trade increases market size, trade is predicted to decrease average cost in an industry described by monopolistic competition.</a:t>
            </a:r>
          </a:p>
          <a:p>
            <a:pPr lvl="1"/>
            <a:r>
              <a:rPr lang="en-US" altLang="en-US" sz="2200" dirty="0"/>
              <a:t>Industry sales increase with trade leading to decreased </a:t>
            </a:r>
            <a:endParaRPr lang="en-US" sz="2200" dirty="0"/>
          </a:p>
        </p:txBody>
      </p:sp>
      <p:sp>
        <p:nvSpPr>
          <p:cNvPr id="4" name="Content Placeholder 3"/>
          <p:cNvSpPr>
            <a:spLocks noGrp="1"/>
          </p:cNvSpPr>
          <p:nvPr>
            <p:ph sz="quarter" idx="14"/>
          </p:nvPr>
        </p:nvSpPr>
        <p:spPr>
          <a:xfrm>
            <a:off x="466603" y="3192161"/>
            <a:ext cx="2704109" cy="382313"/>
          </a:xfrm>
        </p:spPr>
        <p:txBody>
          <a:bodyPr tIns="0"/>
          <a:lstStyle/>
          <a:p>
            <a:pPr marL="652463" lvl="1" indent="0">
              <a:buNone/>
            </a:pPr>
            <a:r>
              <a:rPr lang="en-US" altLang="en-US" sz="2200" dirty="0" smtClean="0"/>
              <a:t>average costs:</a:t>
            </a:r>
            <a:endParaRPr lang="en-US" dirty="0"/>
          </a:p>
        </p:txBody>
      </p:sp>
      <p:graphicFrame>
        <p:nvGraphicFramePr>
          <p:cNvPr id="8" name="Object 7" descr="A C = n left parenthesis start fraction F over S end fraction right parenthesis + lower c"/>
          <p:cNvGraphicFramePr>
            <a:graphicFrameLocks noChangeAspect="1"/>
          </p:cNvGraphicFramePr>
          <p:nvPr>
            <p:extLst>
              <p:ext uri="{D42A27DB-BD31-4B8C-83A1-F6EECF244321}">
                <p14:modId xmlns:p14="http://schemas.microsoft.com/office/powerpoint/2010/main" val="1394753762"/>
              </p:ext>
            </p:extLst>
          </p:nvPr>
        </p:nvGraphicFramePr>
        <p:xfrm>
          <a:off x="3238985" y="3052999"/>
          <a:ext cx="1627402" cy="674903"/>
        </p:xfrm>
        <a:graphic>
          <a:graphicData uri="http://schemas.openxmlformats.org/presentationml/2006/ole">
            <mc:AlternateContent xmlns:mc="http://schemas.openxmlformats.org/markup-compatibility/2006">
              <mc:Choice xmlns:v="urn:schemas-microsoft-com:vml" Requires="v">
                <p:oleObj spid="_x0000_s10334" name="Equation" r:id="rId3" imgW="1041120" imgH="431640" progId="Equation.DSMT4">
                  <p:embed/>
                </p:oleObj>
              </mc:Choice>
              <mc:Fallback>
                <p:oleObj name="Equation" r:id="rId3" imgW="1041120" imgH="431640" progId="Equation.DSMT4">
                  <p:embed/>
                  <p:pic>
                    <p:nvPicPr>
                      <p:cNvPr id="8" name="Object 7"/>
                      <p:cNvPicPr/>
                      <p:nvPr/>
                    </p:nvPicPr>
                    <p:blipFill>
                      <a:blip r:embed="rId4"/>
                      <a:stretch>
                        <a:fillRect/>
                      </a:stretch>
                    </p:blipFill>
                    <p:spPr>
                      <a:xfrm>
                        <a:off x="3238985" y="3052999"/>
                        <a:ext cx="1627402" cy="674903"/>
                      </a:xfrm>
                      <a:prstGeom prst="rect">
                        <a:avLst/>
                      </a:prstGeom>
                    </p:spPr>
                  </p:pic>
                </p:oleObj>
              </mc:Fallback>
            </mc:AlternateContent>
          </a:graphicData>
        </a:graphic>
      </p:graphicFrame>
      <p:sp>
        <p:nvSpPr>
          <p:cNvPr id="5" name="Content Placeholder 4"/>
          <p:cNvSpPr>
            <a:spLocks noGrp="1"/>
          </p:cNvSpPr>
          <p:nvPr>
            <p:ph sz="quarter" idx="15"/>
          </p:nvPr>
        </p:nvSpPr>
        <p:spPr>
          <a:xfrm>
            <a:off x="466603" y="3792485"/>
            <a:ext cx="8317801" cy="1872045"/>
          </a:xfrm>
        </p:spPr>
        <p:txBody>
          <a:bodyPr lIns="0" tIns="0" rIns="0" bIns="0"/>
          <a:lstStyle/>
          <a:p>
            <a:r>
              <a:rPr lang="en-US" altLang="en-US" sz="2200" dirty="0"/>
              <a:t>Because trade increases the variety of goods that consumers can buy under monopolistic competition, it increases the welfare of consumers.</a:t>
            </a:r>
          </a:p>
          <a:p>
            <a:pPr lvl="1"/>
            <a:r>
              <a:rPr lang="en-US" altLang="en-US" sz="2200" dirty="0"/>
              <a:t>And because average costs decrease, consumers can also benefit from a decreased price.</a:t>
            </a:r>
          </a:p>
        </p:txBody>
      </p:sp>
    </p:spTree>
    <p:extLst>
      <p:ext uri="{BB962C8B-B14F-4D97-AF65-F5344CB8AC3E}">
        <p14:creationId xmlns:p14="http://schemas.microsoft.com/office/powerpoint/2010/main" val="3851874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8.4 Effects of a Larger Market</a:t>
            </a:r>
            <a:endParaRPr lang="en-IN" dirty="0"/>
          </a:p>
        </p:txBody>
      </p:sp>
      <p:pic>
        <p:nvPicPr>
          <p:cNvPr id="18" name="Content Placeholder 17" descr="The graph shows cost, C and price, P versus number of firms, n.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544669" y="1568973"/>
            <a:ext cx="4054663" cy="3344055"/>
          </a:xfrm>
        </p:spPr>
      </p:pic>
      <p:sp>
        <p:nvSpPr>
          <p:cNvPr id="5" name="Content Placeholder 4"/>
          <p:cNvSpPr>
            <a:spLocks noGrp="1"/>
          </p:cNvSpPr>
          <p:nvPr>
            <p:ph sz="quarter" idx="14"/>
          </p:nvPr>
        </p:nvSpPr>
        <p:spPr>
          <a:xfrm>
            <a:off x="457200" y="5050602"/>
            <a:ext cx="7926779" cy="526761"/>
          </a:xfrm>
        </p:spPr>
        <p:txBody>
          <a:bodyPr lIns="0" tIns="0" rIns="0" bIns="0"/>
          <a:lstStyle/>
          <a:p>
            <a:pPr marL="432" indent="0">
              <a:buNone/>
            </a:pPr>
            <a:r>
              <a:rPr lang="en-US" sz="1600" dirty="0"/>
              <a:t>An increase in the size of the market allows each firm, other things equal, to produce more and thus have lower average cost. This is represented by a downward shift from</a:t>
            </a:r>
          </a:p>
        </p:txBody>
      </p:sp>
      <p:graphicFrame>
        <p:nvGraphicFramePr>
          <p:cNvPr id="19" name="Object 18" descr="C C sub 1 t o C C sub 2."/>
          <p:cNvGraphicFramePr>
            <a:graphicFrameLocks noChangeAspect="1"/>
          </p:cNvGraphicFramePr>
          <p:nvPr>
            <p:extLst>
              <p:ext uri="{D42A27DB-BD31-4B8C-83A1-F6EECF244321}">
                <p14:modId xmlns:p14="http://schemas.microsoft.com/office/powerpoint/2010/main" val="3279950622"/>
              </p:ext>
            </p:extLst>
          </p:nvPr>
        </p:nvGraphicFramePr>
        <p:xfrm>
          <a:off x="457667" y="5637869"/>
          <a:ext cx="1064933" cy="304267"/>
        </p:xfrm>
        <a:graphic>
          <a:graphicData uri="http://schemas.openxmlformats.org/presentationml/2006/ole">
            <mc:AlternateContent xmlns:mc="http://schemas.openxmlformats.org/markup-compatibility/2006">
              <mc:Choice xmlns:v="urn:schemas-microsoft-com:vml" Requires="v">
                <p:oleObj spid="_x0000_s11358" name="Equation" r:id="rId5" imgW="799920" imgH="228600" progId="Equation.DSMT4">
                  <p:embed/>
                </p:oleObj>
              </mc:Choice>
              <mc:Fallback>
                <p:oleObj name="Equation" r:id="rId5" imgW="799920" imgH="228600" progId="Equation.DSMT4">
                  <p:embed/>
                  <p:pic>
                    <p:nvPicPr>
                      <p:cNvPr id="0" name=""/>
                      <p:cNvPicPr/>
                      <p:nvPr/>
                    </p:nvPicPr>
                    <p:blipFill>
                      <a:blip r:embed="rId6"/>
                      <a:stretch>
                        <a:fillRect/>
                      </a:stretch>
                    </p:blipFill>
                    <p:spPr>
                      <a:xfrm>
                        <a:off x="457667" y="5637869"/>
                        <a:ext cx="1064933" cy="304267"/>
                      </a:xfrm>
                      <a:prstGeom prst="rect">
                        <a:avLst/>
                      </a:prstGeom>
                    </p:spPr>
                  </p:pic>
                </p:oleObj>
              </mc:Fallback>
            </mc:AlternateContent>
          </a:graphicData>
        </a:graphic>
      </p:graphicFrame>
      <p:sp>
        <p:nvSpPr>
          <p:cNvPr id="6" name="Content Placeholder 5"/>
          <p:cNvSpPr>
            <a:spLocks noGrp="1"/>
          </p:cNvSpPr>
          <p:nvPr>
            <p:ph sz="quarter" idx="15"/>
          </p:nvPr>
        </p:nvSpPr>
        <p:spPr>
          <a:xfrm>
            <a:off x="1616398" y="5657502"/>
            <a:ext cx="6969674" cy="278636"/>
          </a:xfrm>
        </p:spPr>
        <p:txBody>
          <a:bodyPr lIns="0" tIns="0" rIns="0" bIns="0"/>
          <a:lstStyle/>
          <a:p>
            <a:pPr marL="432" indent="0">
              <a:buNone/>
            </a:pPr>
            <a:r>
              <a:rPr lang="en-US" sz="1600" dirty="0"/>
              <a:t>The result is a simultaneous increase in the number of firms (and hence in</a:t>
            </a:r>
            <a:endParaRPr lang="en-IN" sz="1600" dirty="0"/>
          </a:p>
        </p:txBody>
      </p:sp>
      <p:sp>
        <p:nvSpPr>
          <p:cNvPr id="7" name="Content Placeholder 6"/>
          <p:cNvSpPr>
            <a:spLocks noGrp="1"/>
          </p:cNvSpPr>
          <p:nvPr>
            <p:ph sz="quarter" idx="16"/>
          </p:nvPr>
        </p:nvSpPr>
        <p:spPr>
          <a:xfrm>
            <a:off x="457201" y="6013565"/>
            <a:ext cx="5634240" cy="319448"/>
          </a:xfrm>
        </p:spPr>
        <p:txBody>
          <a:bodyPr lIns="0" tIns="0" rIns="0" bIns="0"/>
          <a:lstStyle/>
          <a:p>
            <a:pPr marL="432" indent="0">
              <a:buNone/>
            </a:pPr>
            <a:r>
              <a:rPr lang="en-US" sz="1600" dirty="0"/>
              <a:t>the variety of goods available) and a fall in the price of each.</a:t>
            </a:r>
            <a:endParaRPr lang="en-IN" sz="1600" dirty="0"/>
          </a:p>
        </p:txBody>
      </p:sp>
    </p:spTree>
    <p:extLst>
      <p:ext uri="{BB962C8B-B14F-4D97-AF65-F5344CB8AC3E}">
        <p14:creationId xmlns:p14="http://schemas.microsoft.com/office/powerpoint/2010/main" val="1383599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Gains from an Integrated Market: A Numerical Example </a:t>
            </a:r>
            <a:r>
              <a:rPr lang="en-US" altLang="en-US" sz="2000" b="0" dirty="0"/>
              <a:t>(1 of 3)</a:t>
            </a:r>
            <a:endParaRPr lang="en-IN" sz="2000" dirty="0"/>
          </a:p>
        </p:txBody>
      </p:sp>
      <p:sp>
        <p:nvSpPr>
          <p:cNvPr id="4" name="Content Placeholder 3"/>
          <p:cNvSpPr>
            <a:spLocks noGrp="1"/>
          </p:cNvSpPr>
          <p:nvPr>
            <p:ph sz="quarter" idx="13"/>
          </p:nvPr>
        </p:nvSpPr>
        <p:spPr>
          <a:xfrm>
            <a:off x="457200" y="1552575"/>
            <a:ext cx="2271713" cy="504826"/>
          </a:xfrm>
        </p:spPr>
        <p:txBody>
          <a:bodyPr/>
          <a:lstStyle/>
          <a:p>
            <a:r>
              <a:rPr lang="en-US" altLang="en-US" dirty="0"/>
              <a:t>Suppose that</a:t>
            </a:r>
            <a:endParaRPr lang="en-US" dirty="0"/>
          </a:p>
        </p:txBody>
      </p:sp>
      <p:graphicFrame>
        <p:nvGraphicFramePr>
          <p:cNvPr id="18" name="Object 17" descr="b = start fraction 1 over 30,000 end fraction,"/>
          <p:cNvGraphicFramePr>
            <a:graphicFrameLocks noChangeAspect="1"/>
          </p:cNvGraphicFramePr>
          <p:nvPr>
            <p:extLst>
              <p:ext uri="{D42A27DB-BD31-4B8C-83A1-F6EECF244321}">
                <p14:modId xmlns:p14="http://schemas.microsoft.com/office/powerpoint/2010/main" val="3943761650"/>
              </p:ext>
            </p:extLst>
          </p:nvPr>
        </p:nvGraphicFramePr>
        <p:xfrm>
          <a:off x="2806308" y="1650898"/>
          <a:ext cx="1831404" cy="371231"/>
        </p:xfrm>
        <a:graphic>
          <a:graphicData uri="http://schemas.openxmlformats.org/presentationml/2006/ole">
            <mc:AlternateContent xmlns:mc="http://schemas.openxmlformats.org/markup-compatibility/2006">
              <mc:Choice xmlns:v="urn:schemas-microsoft-com:vml" Requires="v">
                <p:oleObj spid="_x0000_s12566" name="Equation" r:id="rId3" imgW="939600" imgH="190440" progId="Equation.DSMT4">
                  <p:embed/>
                </p:oleObj>
              </mc:Choice>
              <mc:Fallback>
                <p:oleObj name="Equation" r:id="rId3" imgW="939600" imgH="190440" progId="Equation.DSMT4">
                  <p:embed/>
                  <p:pic>
                    <p:nvPicPr>
                      <p:cNvPr id="0" name=""/>
                      <p:cNvPicPr/>
                      <p:nvPr/>
                    </p:nvPicPr>
                    <p:blipFill>
                      <a:blip r:embed="rId4"/>
                      <a:stretch>
                        <a:fillRect/>
                      </a:stretch>
                    </p:blipFill>
                    <p:spPr>
                      <a:xfrm>
                        <a:off x="2806308" y="1650898"/>
                        <a:ext cx="1831404" cy="371231"/>
                      </a:xfrm>
                      <a:prstGeom prst="rect">
                        <a:avLst/>
                      </a:prstGeom>
                    </p:spPr>
                  </p:pic>
                </p:oleObj>
              </mc:Fallback>
            </mc:AlternateContent>
          </a:graphicData>
        </a:graphic>
      </p:graphicFrame>
      <p:sp>
        <p:nvSpPr>
          <p:cNvPr id="5" name="Content Placeholder 4"/>
          <p:cNvSpPr>
            <a:spLocks noGrp="1"/>
          </p:cNvSpPr>
          <p:nvPr>
            <p:ph sz="quarter" idx="14"/>
          </p:nvPr>
        </p:nvSpPr>
        <p:spPr>
          <a:xfrm>
            <a:off x="4739479" y="1557337"/>
            <a:ext cx="4048261" cy="500063"/>
          </a:xfrm>
        </p:spPr>
        <p:txBody>
          <a:bodyPr lIns="0" tIns="90000" rIns="0" bIns="0"/>
          <a:lstStyle/>
          <a:p>
            <a:pPr marL="432" indent="0">
              <a:buNone/>
            </a:pPr>
            <a:r>
              <a:rPr lang="en-US" altLang="en-US" dirty="0"/>
              <a:t>fixed cost </a:t>
            </a:r>
            <a:r>
              <a:rPr lang="en-US" altLang="en-US" i="1" dirty="0"/>
              <a:t>F </a:t>
            </a:r>
            <a:r>
              <a:rPr lang="en-US" altLang="en-US" dirty="0"/>
              <a:t>= $750,000,000,</a:t>
            </a:r>
            <a:endParaRPr lang="en-IN" dirty="0"/>
          </a:p>
        </p:txBody>
      </p:sp>
      <p:sp>
        <p:nvSpPr>
          <p:cNvPr id="6" name="Content Placeholder 5"/>
          <p:cNvSpPr>
            <a:spLocks noGrp="1"/>
          </p:cNvSpPr>
          <p:nvPr>
            <p:ph sz="quarter" idx="15"/>
          </p:nvPr>
        </p:nvSpPr>
        <p:spPr>
          <a:xfrm>
            <a:off x="457200" y="2128736"/>
            <a:ext cx="7297387" cy="412583"/>
          </a:xfrm>
        </p:spPr>
        <p:txBody>
          <a:bodyPr lIns="0" tIns="0" rIns="0" bIns="0"/>
          <a:lstStyle/>
          <a:p>
            <a:pPr marL="255600" indent="0">
              <a:buNone/>
            </a:pPr>
            <a:r>
              <a:rPr lang="en-US" altLang="en-US" dirty="0"/>
              <a:t>and a marginal cost of </a:t>
            </a:r>
            <a:r>
              <a:rPr lang="en-US" altLang="en-US" i="1" dirty="0"/>
              <a:t>c </a:t>
            </a:r>
            <a:r>
              <a:rPr lang="en-US" altLang="en-US" dirty="0"/>
              <a:t>= $5,000 per automobile.</a:t>
            </a:r>
            <a:endParaRPr lang="en-US" dirty="0"/>
          </a:p>
        </p:txBody>
      </p:sp>
      <p:sp>
        <p:nvSpPr>
          <p:cNvPr id="7" name="Content Placeholder 6"/>
          <p:cNvSpPr>
            <a:spLocks noGrp="1"/>
          </p:cNvSpPr>
          <p:nvPr>
            <p:ph sz="quarter" idx="16"/>
          </p:nvPr>
        </p:nvSpPr>
        <p:spPr>
          <a:xfrm>
            <a:off x="457200" y="2628902"/>
            <a:ext cx="2654135" cy="426860"/>
          </a:xfrm>
        </p:spPr>
        <p:txBody>
          <a:bodyPr tIns="0"/>
          <a:lstStyle/>
          <a:p>
            <a:r>
              <a:rPr lang="en-US" altLang="en-US" dirty="0"/>
              <a:t>The total cost </a:t>
            </a:r>
            <a:r>
              <a:rPr lang="en-US" altLang="en-US" dirty="0" smtClean="0"/>
              <a:t>is</a:t>
            </a:r>
            <a:endParaRPr lang="en-US" dirty="0"/>
          </a:p>
        </p:txBody>
      </p:sp>
      <p:graphicFrame>
        <p:nvGraphicFramePr>
          <p:cNvPr id="19" name="Object 18" descr="C = 750,000,000 + left parenthesis 5,000 asterisk Q right parenthesis."/>
          <p:cNvGraphicFramePr>
            <a:graphicFrameLocks noChangeAspect="1"/>
          </p:cNvGraphicFramePr>
          <p:nvPr>
            <p:extLst>
              <p:ext uri="{D42A27DB-BD31-4B8C-83A1-F6EECF244321}">
                <p14:modId xmlns:p14="http://schemas.microsoft.com/office/powerpoint/2010/main" val="3742188835"/>
              </p:ext>
            </p:extLst>
          </p:nvPr>
        </p:nvGraphicFramePr>
        <p:xfrm>
          <a:off x="2530232" y="3153254"/>
          <a:ext cx="4083537" cy="544471"/>
        </p:xfrm>
        <a:graphic>
          <a:graphicData uri="http://schemas.openxmlformats.org/presentationml/2006/ole">
            <mc:AlternateContent xmlns:mc="http://schemas.openxmlformats.org/markup-compatibility/2006">
              <mc:Choice xmlns:v="urn:schemas-microsoft-com:vml" Requires="v">
                <p:oleObj spid="_x0000_s12567" name="Equation" r:id="rId5" imgW="2095200" imgH="279360" progId="Equation.DSMT4">
                  <p:embed/>
                </p:oleObj>
              </mc:Choice>
              <mc:Fallback>
                <p:oleObj name="Equation" r:id="rId5" imgW="2095200" imgH="279360" progId="Equation.DSMT4">
                  <p:embed/>
                  <p:pic>
                    <p:nvPicPr>
                      <p:cNvPr id="0" name=""/>
                      <p:cNvPicPr/>
                      <p:nvPr/>
                    </p:nvPicPr>
                    <p:blipFill>
                      <a:blip r:embed="rId6"/>
                      <a:stretch>
                        <a:fillRect/>
                      </a:stretch>
                    </p:blipFill>
                    <p:spPr>
                      <a:xfrm>
                        <a:off x="2530232" y="3153254"/>
                        <a:ext cx="4083537" cy="544471"/>
                      </a:xfrm>
                      <a:prstGeom prst="rect">
                        <a:avLst/>
                      </a:prstGeom>
                    </p:spPr>
                  </p:pic>
                </p:oleObj>
              </mc:Fallback>
            </mc:AlternateContent>
          </a:graphicData>
        </a:graphic>
      </p:graphicFrame>
      <p:sp>
        <p:nvSpPr>
          <p:cNvPr id="8" name="Content Placeholder 7"/>
          <p:cNvSpPr>
            <a:spLocks noGrp="1"/>
          </p:cNvSpPr>
          <p:nvPr>
            <p:ph sz="quarter" idx="17"/>
          </p:nvPr>
        </p:nvSpPr>
        <p:spPr>
          <a:xfrm>
            <a:off x="457200" y="3795216"/>
            <a:ext cx="4542312" cy="432399"/>
          </a:xfrm>
        </p:spPr>
        <p:txBody>
          <a:bodyPr tIns="0"/>
          <a:lstStyle/>
          <a:p>
            <a:r>
              <a:rPr lang="en-US" altLang="en-US" dirty="0"/>
              <a:t>The average cost is therefore</a:t>
            </a:r>
            <a:endParaRPr lang="en-US" dirty="0"/>
          </a:p>
        </p:txBody>
      </p:sp>
      <p:graphicFrame>
        <p:nvGraphicFramePr>
          <p:cNvPr id="20" name="Object 19" descr="A C = left parenthesis start fraction 750,000,000 over Q end fraction right parenthesis + 5,000."/>
          <p:cNvGraphicFramePr>
            <a:graphicFrameLocks noChangeAspect="1"/>
          </p:cNvGraphicFramePr>
          <p:nvPr>
            <p:extLst>
              <p:ext uri="{D42A27DB-BD31-4B8C-83A1-F6EECF244321}">
                <p14:modId xmlns:p14="http://schemas.microsoft.com/office/powerpoint/2010/main" val="310769296"/>
              </p:ext>
            </p:extLst>
          </p:nvPr>
        </p:nvGraphicFramePr>
        <p:xfrm>
          <a:off x="2604478" y="4333410"/>
          <a:ext cx="3935044" cy="841457"/>
        </p:xfrm>
        <a:graphic>
          <a:graphicData uri="http://schemas.openxmlformats.org/presentationml/2006/ole">
            <mc:AlternateContent xmlns:mc="http://schemas.openxmlformats.org/markup-compatibility/2006">
              <mc:Choice xmlns:v="urn:schemas-microsoft-com:vml" Requires="v">
                <p:oleObj spid="_x0000_s12568" name="Equation" r:id="rId7" imgW="2019240" imgH="431640" progId="Equation.DSMT4">
                  <p:embed/>
                </p:oleObj>
              </mc:Choice>
              <mc:Fallback>
                <p:oleObj name="Equation" r:id="rId7" imgW="2019240" imgH="431640" progId="Equation.DSMT4">
                  <p:embed/>
                  <p:pic>
                    <p:nvPicPr>
                      <p:cNvPr id="0" name=""/>
                      <p:cNvPicPr/>
                      <p:nvPr/>
                    </p:nvPicPr>
                    <p:blipFill>
                      <a:blip r:embed="rId8"/>
                      <a:stretch>
                        <a:fillRect/>
                      </a:stretch>
                    </p:blipFill>
                    <p:spPr>
                      <a:xfrm>
                        <a:off x="2604478" y="4333410"/>
                        <a:ext cx="3935044" cy="841457"/>
                      </a:xfrm>
                      <a:prstGeom prst="rect">
                        <a:avLst/>
                      </a:prstGeom>
                    </p:spPr>
                  </p:pic>
                </p:oleObj>
              </mc:Fallback>
            </mc:AlternateContent>
          </a:graphicData>
        </a:graphic>
      </p:graphicFrame>
    </p:spTree>
    <p:extLst>
      <p:ext uri="{BB962C8B-B14F-4D97-AF65-F5344CB8AC3E}">
        <p14:creationId xmlns:p14="http://schemas.microsoft.com/office/powerpoint/2010/main" val="427973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Gains from an Integrated Market: A Numerical Example </a:t>
            </a:r>
            <a:r>
              <a:rPr lang="en-US" altLang="en-US" sz="2000" b="0" dirty="0"/>
              <a:t>(2 of 3)</a:t>
            </a:r>
            <a:endParaRPr lang="en-IN" sz="2000" dirty="0"/>
          </a:p>
        </p:txBody>
      </p:sp>
      <p:sp>
        <p:nvSpPr>
          <p:cNvPr id="3" name="Content Placeholder 2"/>
          <p:cNvSpPr>
            <a:spLocks noGrp="1"/>
          </p:cNvSpPr>
          <p:nvPr>
            <p:ph sz="quarter" idx="13"/>
          </p:nvPr>
        </p:nvSpPr>
        <p:spPr/>
        <p:txBody>
          <a:bodyPr/>
          <a:lstStyle/>
          <a:p>
            <a:r>
              <a:rPr lang="en-US" altLang="en-US" dirty="0"/>
              <a:t>Suppose there are two countries, Home and Foreign</a:t>
            </a:r>
            <a:r>
              <a:rPr lang="en-US" altLang="en-US" dirty="0" smtClean="0"/>
              <a:t>.</a:t>
            </a:r>
            <a:endParaRPr lang="en-US" altLang="en-US" dirty="0"/>
          </a:p>
          <a:p>
            <a:r>
              <a:rPr lang="en-US" altLang="en-US" dirty="0"/>
              <a:t>Home has annual sales of 900,000 automobiles; Foreign has annual sales of 1.6 million</a:t>
            </a:r>
            <a:r>
              <a:rPr lang="en-US" altLang="en-US" dirty="0" smtClean="0"/>
              <a:t>.</a:t>
            </a:r>
            <a:endParaRPr lang="en-US" altLang="en-US" dirty="0"/>
          </a:p>
          <a:p>
            <a:r>
              <a:rPr lang="en-US" altLang="en-US" dirty="0"/>
              <a:t>The two countries are assumed (for now) to have the same costs of production.</a:t>
            </a:r>
            <a:endParaRPr lang="en-US" dirty="0"/>
          </a:p>
        </p:txBody>
      </p:sp>
    </p:spTree>
    <p:extLst>
      <p:ext uri="{BB962C8B-B14F-4D97-AF65-F5344CB8AC3E}">
        <p14:creationId xmlns:p14="http://schemas.microsoft.com/office/powerpoint/2010/main" val="2720925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Gains from an Integrated Market: A Numerical Example </a:t>
            </a:r>
            <a:r>
              <a:rPr lang="en-US" altLang="en-US" sz="2000" b="0" dirty="0"/>
              <a:t>(3 of 3)</a:t>
            </a:r>
            <a:endParaRPr lang="en-IN" sz="2000" dirty="0"/>
          </a:p>
        </p:txBody>
      </p:sp>
      <p:sp>
        <p:nvSpPr>
          <p:cNvPr id="3" name="Content Placeholder 2"/>
          <p:cNvSpPr>
            <a:spLocks noGrp="1"/>
          </p:cNvSpPr>
          <p:nvPr>
            <p:ph sz="quarter" idx="13"/>
          </p:nvPr>
        </p:nvSpPr>
        <p:spPr/>
        <p:txBody>
          <a:bodyPr/>
          <a:lstStyle/>
          <a:p>
            <a:r>
              <a:rPr lang="en-US" altLang="en-US" dirty="0"/>
              <a:t>The integrated market supports more firms, each producing at a larger scale and selling at a lower price than either national market does on its own.</a:t>
            </a:r>
          </a:p>
          <a:p>
            <a:r>
              <a:rPr lang="en-US" altLang="en-US" dirty="0"/>
              <a:t>Everyone is better off as a result of the larger market with integration:</a:t>
            </a:r>
          </a:p>
          <a:p>
            <a:pPr lvl="1"/>
            <a:r>
              <a:rPr lang="en-US" altLang="en-US" dirty="0"/>
              <a:t>Consumers have a wider range of choices, and</a:t>
            </a:r>
          </a:p>
          <a:p>
            <a:pPr lvl="1"/>
            <a:r>
              <a:rPr lang="en-US" altLang="en-US" dirty="0"/>
              <a:t>Each firm produces more and is therefore able to offer its product at a lower price.</a:t>
            </a:r>
            <a:endParaRPr lang="en-US" dirty="0"/>
          </a:p>
        </p:txBody>
      </p:sp>
    </p:spTree>
    <p:extLst>
      <p:ext uri="{BB962C8B-B14F-4D97-AF65-F5344CB8AC3E}">
        <p14:creationId xmlns:p14="http://schemas.microsoft.com/office/powerpoint/2010/main" val="3802200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8.5 Equilibrium in the Automobile Market </a:t>
            </a:r>
            <a:r>
              <a:rPr lang="en-US" altLang="en-US" sz="2000" b="0" dirty="0"/>
              <a:t>(1 of 2)</a:t>
            </a:r>
            <a:endParaRPr lang="en-IN" dirty="0"/>
          </a:p>
        </p:txBody>
      </p:sp>
      <p:pic>
        <p:nvPicPr>
          <p:cNvPr id="6" name="Content Placeholder 5" descr="Two graphs depict the equilibrium in the automobile marke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21471" y="1552606"/>
            <a:ext cx="6501059" cy="3354580"/>
          </a:xfrm>
        </p:spPr>
      </p:pic>
      <p:sp>
        <p:nvSpPr>
          <p:cNvPr id="5" name="Content Placeholder 4"/>
          <p:cNvSpPr>
            <a:spLocks noGrp="1"/>
          </p:cNvSpPr>
          <p:nvPr>
            <p:ph sz="quarter" idx="14"/>
          </p:nvPr>
        </p:nvSpPr>
        <p:spPr>
          <a:xfrm>
            <a:off x="457200" y="4959926"/>
            <a:ext cx="8229600" cy="1374321"/>
          </a:xfrm>
        </p:spPr>
        <p:txBody>
          <a:bodyPr/>
          <a:lstStyle/>
          <a:p>
            <a:pPr marL="432" indent="0">
              <a:buNone/>
            </a:pPr>
            <a:r>
              <a:rPr lang="en-US" sz="1600" dirty="0"/>
              <a:t>(a) The Home market: With a market size of 900,000 automobiles, Home’s equilibrium, determined by the intersection of the </a:t>
            </a:r>
            <a:r>
              <a:rPr lang="en-US" sz="1600" i="1" dirty="0"/>
              <a:t>PP </a:t>
            </a:r>
            <a:r>
              <a:rPr lang="en-US" sz="1600" dirty="0"/>
              <a:t>and </a:t>
            </a:r>
            <a:r>
              <a:rPr lang="en-US" sz="1600" i="1" dirty="0"/>
              <a:t>CC </a:t>
            </a:r>
            <a:r>
              <a:rPr lang="en-US" sz="1600" dirty="0"/>
              <a:t>curves, occurs with six firms and an industry price of $10,000 per auto. (b) The Foreign market: With a market size of 1.6 million automobiles, Foreign’s equilibrium occurs with eight firms and an industry price of $8,750 per auto.</a:t>
            </a:r>
          </a:p>
        </p:txBody>
      </p:sp>
    </p:spTree>
    <p:extLst>
      <p:ext uri="{BB962C8B-B14F-4D97-AF65-F5344CB8AC3E}">
        <p14:creationId xmlns:p14="http://schemas.microsoft.com/office/powerpoint/2010/main" val="4210027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8.5 Equilibrium in the Automobile Market </a:t>
            </a:r>
            <a:r>
              <a:rPr lang="en-US" altLang="en-US" sz="2000" b="0" dirty="0"/>
              <a:t>(2 of 2)</a:t>
            </a:r>
            <a:endParaRPr lang="en-IN" dirty="0"/>
          </a:p>
        </p:txBody>
      </p:sp>
      <p:pic>
        <p:nvPicPr>
          <p:cNvPr id="4" name="Content Placeholder 3" descr="Graph c, integrated, plots price per auto in thousands of dollars versus number of firms, n. C C rises from (1, 5) through (12, 9), and intersects curve P P at (10, 8). All values are estimated."/>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858291" y="1576016"/>
            <a:ext cx="3427419" cy="3560954"/>
          </a:xfrm>
        </p:spPr>
      </p:pic>
      <p:sp>
        <p:nvSpPr>
          <p:cNvPr id="5" name="Content Placeholder 4"/>
          <p:cNvSpPr>
            <a:spLocks noGrp="1"/>
          </p:cNvSpPr>
          <p:nvPr>
            <p:ph sz="quarter" idx="14"/>
          </p:nvPr>
        </p:nvSpPr>
        <p:spPr>
          <a:xfrm>
            <a:off x="457200" y="5248894"/>
            <a:ext cx="8229600" cy="1096344"/>
          </a:xfrm>
        </p:spPr>
        <p:txBody>
          <a:bodyPr/>
          <a:lstStyle/>
          <a:p>
            <a:pPr marL="432" indent="0">
              <a:buNone/>
            </a:pPr>
            <a:r>
              <a:rPr lang="en-US" sz="2000" dirty="0"/>
              <a:t>(c) The combined market: Integrating the two markets creates a market for 2.5 million autos. This market supports 10 firms, and the price of an auto is only $8,000.</a:t>
            </a:r>
          </a:p>
        </p:txBody>
      </p:sp>
    </p:spTree>
    <p:extLst>
      <p:ext uri="{BB962C8B-B14F-4D97-AF65-F5344CB8AC3E}">
        <p14:creationId xmlns:p14="http://schemas.microsoft.com/office/powerpoint/2010/main" val="2657716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8.1 Hypothetical Example of Gains from Market Integration</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88991693"/>
              </p:ext>
            </p:extLst>
          </p:nvPr>
        </p:nvGraphicFramePr>
        <p:xfrm>
          <a:off x="457200" y="1555750"/>
          <a:ext cx="8229600" cy="3596640"/>
        </p:xfrm>
        <a:graphic>
          <a:graphicData uri="http://schemas.openxmlformats.org/drawingml/2006/table">
            <a:tbl>
              <a:tblPr firstRow="1" bandRow="1">
                <a:tableStyleId>{40F9630F-82C1-40B7-BC3A-925EFCFF5E92}</a:tableStyleId>
              </a:tblPr>
              <a:tblGrid>
                <a:gridCol w="2057400">
                  <a:extLst>
                    <a:ext uri="{9D8B030D-6E8A-4147-A177-3AD203B41FA5}">
                      <a16:colId xmlns:a16="http://schemas.microsoft.com/office/drawing/2014/main" val="546919928"/>
                    </a:ext>
                  </a:extLst>
                </a:gridCol>
                <a:gridCol w="2057400">
                  <a:extLst>
                    <a:ext uri="{9D8B030D-6E8A-4147-A177-3AD203B41FA5}">
                      <a16:colId xmlns:a16="http://schemas.microsoft.com/office/drawing/2014/main" val="2918651902"/>
                    </a:ext>
                  </a:extLst>
                </a:gridCol>
                <a:gridCol w="2057400">
                  <a:extLst>
                    <a:ext uri="{9D8B030D-6E8A-4147-A177-3AD203B41FA5}">
                      <a16:colId xmlns:a16="http://schemas.microsoft.com/office/drawing/2014/main" val="745207949"/>
                    </a:ext>
                  </a:extLst>
                </a:gridCol>
                <a:gridCol w="2057400">
                  <a:extLst>
                    <a:ext uri="{9D8B030D-6E8A-4147-A177-3AD203B41FA5}">
                      <a16:colId xmlns:a16="http://schemas.microsoft.com/office/drawing/2014/main" val="1932128651"/>
                    </a:ext>
                  </a:extLst>
                </a:gridCol>
              </a:tblGrid>
              <a:tr h="370840">
                <a:tc>
                  <a:txBody>
                    <a:bodyPr/>
                    <a:lstStyle/>
                    <a:p>
                      <a:r>
                        <a:rPr lang="en-US" sz="100" noProof="0" dirty="0" smtClean="0">
                          <a:latin typeface="+mn-lt"/>
                        </a:rPr>
                        <a:t>Blank</a:t>
                      </a:r>
                      <a:endParaRPr lang="en-US" sz="1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Home Market</a:t>
                      </a:r>
                    </a:p>
                    <a:p>
                      <a:pPr algn="r"/>
                      <a:r>
                        <a:rPr lang="en-US" sz="2000" noProof="0" dirty="0" smtClean="0">
                          <a:latin typeface="+mn-lt"/>
                        </a:rPr>
                        <a:t>before Trade</a:t>
                      </a:r>
                      <a:r>
                        <a:rPr lang="en-US" sz="2000" baseline="0" noProof="0" dirty="0" smtClean="0">
                          <a:solidFill>
                            <a:schemeClr val="tx1"/>
                          </a:solidFill>
                          <a:latin typeface="+mn-lt"/>
                        </a:rPr>
                        <a:t> </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Foreign Market,</a:t>
                      </a:r>
                    </a:p>
                    <a:p>
                      <a:pPr algn="r"/>
                      <a:r>
                        <a:rPr lang="en-US" sz="2000" noProof="0" dirty="0" smtClean="0">
                          <a:latin typeface="+mn-lt"/>
                        </a:rPr>
                        <a:t>before Trade</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Integrated</a:t>
                      </a:r>
                      <a:r>
                        <a:rPr lang="en-US" sz="2000" baseline="0" noProof="0" dirty="0" smtClean="0">
                          <a:latin typeface="+mn-lt"/>
                        </a:rPr>
                        <a:t> </a:t>
                      </a:r>
                      <a:r>
                        <a:rPr lang="en-US" sz="2000" noProof="0" dirty="0" smtClean="0">
                          <a:latin typeface="+mn-lt"/>
                        </a:rPr>
                        <a:t>Market,</a:t>
                      </a:r>
                      <a:r>
                        <a:rPr lang="en-US" sz="2000" baseline="0" noProof="0" dirty="0" smtClean="0">
                          <a:latin typeface="+mn-lt"/>
                        </a:rPr>
                        <a:t> </a:t>
                      </a:r>
                      <a:r>
                        <a:rPr lang="en-US" sz="2000" noProof="0" dirty="0" smtClean="0">
                          <a:latin typeface="+mn-lt"/>
                        </a:rPr>
                        <a:t>after</a:t>
                      </a:r>
                      <a:r>
                        <a:rPr lang="en-US" sz="2000" baseline="0" noProof="0" dirty="0" smtClean="0">
                          <a:latin typeface="+mn-lt"/>
                        </a:rPr>
                        <a:t> </a:t>
                      </a:r>
                      <a:r>
                        <a:rPr lang="en-US" sz="2000" noProof="0" dirty="0" smtClean="0">
                          <a:latin typeface="+mn-lt"/>
                        </a:rPr>
                        <a:t>Trade</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1677421"/>
                  </a:ext>
                </a:extLst>
              </a:tr>
              <a:tr h="370840">
                <a:tc>
                  <a:txBody>
                    <a:bodyPr/>
                    <a:lstStyle/>
                    <a:p>
                      <a:pPr algn="l"/>
                      <a:r>
                        <a:rPr lang="en-US" sz="2000" noProof="0" dirty="0" smtClean="0">
                          <a:latin typeface="+mn-lt"/>
                        </a:rPr>
                        <a:t>Industry output</a:t>
                      </a:r>
                    </a:p>
                    <a:p>
                      <a:pPr algn="l"/>
                      <a:r>
                        <a:rPr lang="en-US" sz="2000" baseline="0" noProof="0" dirty="0" smtClean="0">
                          <a:latin typeface="+mn-lt"/>
                        </a:rPr>
                        <a:t> </a:t>
                      </a:r>
                      <a:r>
                        <a:rPr lang="en-US" sz="2000" noProof="0" dirty="0" smtClean="0">
                          <a:latin typeface="+mn-lt"/>
                        </a:rPr>
                        <a:t>(# of autos)</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900,000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000" noProof="0" dirty="0">
                          <a:latin typeface="+mn-lt"/>
                        </a:rPr>
                        <a:t>1,600,000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2,500,000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549023799"/>
                  </a:ext>
                </a:extLst>
              </a:tr>
              <a:tr h="370840">
                <a:tc>
                  <a:txBody>
                    <a:bodyPr/>
                    <a:lstStyle/>
                    <a:p>
                      <a:r>
                        <a:rPr lang="en-US" sz="2000" noProof="0" dirty="0" smtClean="0">
                          <a:latin typeface="+mn-lt"/>
                        </a:rPr>
                        <a:t>Number of firms</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solidFill>
                            <a:schemeClr val="tx1"/>
                          </a:solidFill>
                          <a:latin typeface="+mn-lt"/>
                        </a:rPr>
                        <a:t>6</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solidFill>
                            <a:schemeClr val="tx1"/>
                          </a:solidFill>
                          <a:latin typeface="+mn-lt"/>
                        </a:rPr>
                        <a:t>8</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solidFill>
                            <a:schemeClr val="tx1"/>
                          </a:solidFill>
                          <a:latin typeface="+mn-lt"/>
                        </a:rPr>
                        <a:t>10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62150701"/>
                  </a:ext>
                </a:extLst>
              </a:tr>
              <a:tr h="370840">
                <a:tc>
                  <a:txBody>
                    <a:bodyPr/>
                    <a:lstStyle/>
                    <a:p>
                      <a:pPr algn="l"/>
                      <a:r>
                        <a:rPr lang="en-US" sz="2000" noProof="0" dirty="0" smtClean="0">
                          <a:latin typeface="+mn-lt"/>
                        </a:rPr>
                        <a:t>Output per firm</a:t>
                      </a:r>
                    </a:p>
                    <a:p>
                      <a:pPr algn="l"/>
                      <a:r>
                        <a:rPr lang="en-US" sz="2000" noProof="0" dirty="0" smtClean="0">
                          <a:latin typeface="+mn-lt"/>
                        </a:rPr>
                        <a:t> (# of autos)</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150,000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200,000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250,000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238610651"/>
                  </a:ext>
                </a:extLst>
              </a:tr>
              <a:tr h="370840">
                <a:tc>
                  <a:txBody>
                    <a:bodyPr/>
                    <a:lstStyle/>
                    <a:p>
                      <a:r>
                        <a:rPr lang="en-US" sz="2000" noProof="0" dirty="0" smtClean="0">
                          <a:latin typeface="+mn-lt"/>
                        </a:rPr>
                        <a:t>Average cost</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$10,000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$8,750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a:r>
                        <a:rPr lang="en-US" sz="2000" noProof="0" dirty="0" smtClean="0">
                          <a:latin typeface="+mn-lt"/>
                        </a:rPr>
                        <a:t>$8,000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9640600"/>
                  </a:ext>
                </a:extLst>
              </a:tr>
              <a:tr h="370840">
                <a:tc>
                  <a:txBody>
                    <a:bodyPr/>
                    <a:lstStyle/>
                    <a:p>
                      <a:r>
                        <a:rPr lang="en-US" sz="2000" noProof="0" dirty="0" smtClean="0">
                          <a:latin typeface="+mn-lt"/>
                        </a:rPr>
                        <a:t>Price</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$10,000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$8,750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sz="2000" noProof="0" dirty="0" smtClean="0">
                          <a:latin typeface="+mn-lt"/>
                        </a:rPr>
                        <a:t>$8,000</a:t>
                      </a:r>
                      <a:endParaRPr lang="en-US" sz="2000" noProof="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6941360"/>
                  </a:ext>
                </a:extLst>
              </a:tr>
            </a:tbl>
          </a:graphicData>
        </a:graphic>
      </p:graphicFrame>
    </p:spTree>
    <p:extLst>
      <p:ext uri="{BB962C8B-B14F-4D97-AF65-F5344CB8AC3E}">
        <p14:creationId xmlns:p14="http://schemas.microsoft.com/office/powerpoint/2010/main" val="3365498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Monopolistic Competition and Trade </a:t>
            </a:r>
            <a:r>
              <a:rPr lang="en-US" altLang="en-US" sz="2000" b="0" dirty="0"/>
              <a:t>(2 of 2)</a:t>
            </a:r>
            <a:endParaRPr lang="en-IN" dirty="0"/>
          </a:p>
        </p:txBody>
      </p:sp>
      <p:sp>
        <p:nvSpPr>
          <p:cNvPr id="3" name="Content Placeholder 2"/>
          <p:cNvSpPr>
            <a:spLocks noGrp="1"/>
          </p:cNvSpPr>
          <p:nvPr>
            <p:ph sz="quarter" idx="13"/>
          </p:nvPr>
        </p:nvSpPr>
        <p:spPr/>
        <p:txBody>
          <a:bodyPr/>
          <a:lstStyle/>
          <a:p>
            <a:r>
              <a:rPr lang="en-US" altLang="en-US" dirty="0"/>
              <a:t>Product differentiation and internal economies of scale lead to trade between similar countries with no comparative advantage differences between them</a:t>
            </a:r>
            <a:r>
              <a:rPr lang="en-US" altLang="en-US" dirty="0" smtClean="0"/>
              <a:t>.</a:t>
            </a:r>
            <a:endParaRPr lang="en-US" altLang="en-US" dirty="0"/>
          </a:p>
          <a:p>
            <a:pPr marL="740664" lvl="1" indent="-283464"/>
            <a:r>
              <a:rPr lang="en-US" altLang="en-US" dirty="0"/>
              <a:t>This is a very different kind of trade than the one based on comparative advantage, where each country exports its comparative advantage good.</a:t>
            </a:r>
            <a:endParaRPr lang="en-US" dirty="0"/>
          </a:p>
        </p:txBody>
      </p:sp>
    </p:spTree>
    <p:extLst>
      <p:ext uri="{BB962C8B-B14F-4D97-AF65-F5344CB8AC3E}">
        <p14:creationId xmlns:p14="http://schemas.microsoft.com/office/powerpoint/2010/main" val="3943544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The Significance of Intra-Industry Trade </a:t>
            </a:r>
            <a:r>
              <a:rPr lang="en-US" altLang="en-US" sz="2000" b="0" dirty="0"/>
              <a:t>(1 of 2)</a:t>
            </a:r>
            <a:endParaRPr lang="en-IN" dirty="0"/>
          </a:p>
        </p:txBody>
      </p:sp>
      <p:sp>
        <p:nvSpPr>
          <p:cNvPr id="3" name="Content Placeholder 2"/>
          <p:cNvSpPr>
            <a:spLocks noGrp="1"/>
          </p:cNvSpPr>
          <p:nvPr>
            <p:ph sz="quarter" idx="13"/>
          </p:nvPr>
        </p:nvSpPr>
        <p:spPr/>
        <p:txBody>
          <a:bodyPr/>
          <a:lstStyle/>
          <a:p>
            <a:pPr marL="255600"/>
            <a:r>
              <a:rPr lang="en-US" altLang="en-US" b="1" dirty="0"/>
              <a:t>Intra-industry trade </a:t>
            </a:r>
            <a:r>
              <a:rPr lang="en-US" altLang="en-US" dirty="0"/>
              <a:t>refers to two-way exchanges of similar goods.</a:t>
            </a:r>
          </a:p>
          <a:p>
            <a:pPr marL="255600"/>
            <a:r>
              <a:rPr lang="en-US" altLang="en-US" dirty="0"/>
              <a:t>Two new channels for welfare benefits from trade:</a:t>
            </a:r>
          </a:p>
          <a:p>
            <a:pPr marL="741600" lvl="1"/>
            <a:r>
              <a:rPr lang="en-US" altLang="en-US" dirty="0"/>
              <a:t>Benefit from a greater variety at a lower price.</a:t>
            </a:r>
          </a:p>
          <a:p>
            <a:pPr marL="741600" lvl="1"/>
            <a:r>
              <a:rPr lang="en-US" altLang="en-US" dirty="0"/>
              <a:t>Firms consolidate their production and take advantage of economies of scale.</a:t>
            </a:r>
          </a:p>
          <a:p>
            <a:pPr marL="255600"/>
            <a:r>
              <a:rPr lang="en-US" altLang="en-US" dirty="0"/>
              <a:t>A smaller country stands to gain more from integration than a larger country.</a:t>
            </a:r>
            <a:endParaRPr lang="en-US" dirty="0"/>
          </a:p>
        </p:txBody>
      </p:sp>
    </p:spTree>
    <p:extLst>
      <p:ext uri="{BB962C8B-B14F-4D97-AF65-F5344CB8AC3E}">
        <p14:creationId xmlns:p14="http://schemas.microsoft.com/office/powerpoint/2010/main" val="41622889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The Significance of Intra-Industry Trade </a:t>
            </a:r>
            <a:r>
              <a:rPr lang="en-US" altLang="en-US" sz="2000" b="0" dirty="0"/>
              <a:t>(2 of 2)</a:t>
            </a:r>
            <a:endParaRPr lang="en-IN" dirty="0"/>
          </a:p>
        </p:txBody>
      </p:sp>
      <p:sp>
        <p:nvSpPr>
          <p:cNvPr id="3" name="Content Placeholder 2"/>
          <p:cNvSpPr>
            <a:spLocks noGrp="1"/>
          </p:cNvSpPr>
          <p:nvPr>
            <p:ph sz="quarter" idx="13"/>
          </p:nvPr>
        </p:nvSpPr>
        <p:spPr/>
        <p:txBody>
          <a:bodyPr/>
          <a:lstStyle/>
          <a:p>
            <a:pPr>
              <a:spcBef>
                <a:spcPct val="50000"/>
              </a:spcBef>
            </a:pPr>
            <a:r>
              <a:rPr lang="en-US" altLang="en-US" dirty="0"/>
              <a:t>About 25–50% of world trade is intra-industry.</a:t>
            </a:r>
          </a:p>
          <a:p>
            <a:r>
              <a:rPr lang="en-US" altLang="en-US" dirty="0"/>
              <a:t>Most prominent is the trade of manufactured goods among advanced industrial nations, which accounts for the majority of world trade.</a:t>
            </a:r>
          </a:p>
          <a:p>
            <a:pPr lvl="1"/>
            <a:r>
              <a:rPr lang="en-US" altLang="en-US" dirty="0"/>
              <a:t>For the United States, industries that have the most intra-industry trade—such as pharmaceuticals, chemicals, and specialized machinery—require relatively larger amounts of skilled labor, technology, and physical capital.</a:t>
            </a:r>
            <a:endParaRPr lang="en-IN" dirty="0"/>
          </a:p>
        </p:txBody>
      </p:sp>
    </p:spTree>
    <p:extLst>
      <p:ext uri="{BB962C8B-B14F-4D97-AF65-F5344CB8AC3E}">
        <p14:creationId xmlns:p14="http://schemas.microsoft.com/office/powerpoint/2010/main" val="2218094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8.2 Indexes of Intra-Industry Trade for U.S. Industries, 2009</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063375002"/>
              </p:ext>
            </p:extLst>
          </p:nvPr>
        </p:nvGraphicFramePr>
        <p:xfrm>
          <a:off x="457200" y="1555750"/>
          <a:ext cx="5820770" cy="4219410"/>
        </p:xfrm>
        <a:graphic>
          <a:graphicData uri="http://schemas.openxmlformats.org/drawingml/2006/table">
            <a:tbl>
              <a:tblPr firstCol="1" bandRow="1">
                <a:tableStyleId>{40F9630F-82C1-40B7-BC3A-925EFCFF5E92}</a:tableStyleId>
              </a:tblPr>
              <a:tblGrid>
                <a:gridCol w="4688006">
                  <a:extLst>
                    <a:ext uri="{9D8B030D-6E8A-4147-A177-3AD203B41FA5}">
                      <a16:colId xmlns:a16="http://schemas.microsoft.com/office/drawing/2014/main" val="3362382027"/>
                    </a:ext>
                  </a:extLst>
                </a:gridCol>
                <a:gridCol w="1132764">
                  <a:extLst>
                    <a:ext uri="{9D8B030D-6E8A-4147-A177-3AD203B41FA5}">
                      <a16:colId xmlns:a16="http://schemas.microsoft.com/office/drawing/2014/main" val="56095276"/>
                    </a:ext>
                  </a:extLst>
                </a:gridCol>
              </a:tblGrid>
              <a:tr h="3245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rPr>
                        <a:t>Metalworking</a:t>
                      </a:r>
                      <a:r>
                        <a:rPr lang="en-US" sz="2000" b="0" baseline="0" dirty="0">
                          <a:latin typeface="+mn-lt"/>
                        </a:rPr>
                        <a:t> Machinery</a:t>
                      </a:r>
                      <a:endParaRPr lang="en-IN" sz="2000" b="0" dirty="0">
                        <a:solidFill>
                          <a:schemeClr val="tx1"/>
                        </a:solidFill>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b="0" dirty="0">
                          <a:latin typeface="+mn-lt"/>
                        </a:rPr>
                        <a:t>0.97</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7552614"/>
                  </a:ext>
                </a:extLst>
              </a:tr>
              <a:tr h="324570">
                <a:tc>
                  <a:txBody>
                    <a:bodyPr/>
                    <a:lstStyle/>
                    <a:p>
                      <a:r>
                        <a:rPr lang="en-US" sz="2000" b="0" dirty="0">
                          <a:latin typeface="+mn-lt"/>
                        </a:rPr>
                        <a:t>Inorganic</a:t>
                      </a:r>
                      <a:r>
                        <a:rPr lang="en-US" sz="2000" b="0" baseline="0" dirty="0">
                          <a:latin typeface="+mn-lt"/>
                        </a:rPr>
                        <a:t> Chemicals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0.97</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780069042"/>
                  </a:ext>
                </a:extLst>
              </a:tr>
              <a:tr h="324570">
                <a:tc>
                  <a:txBody>
                    <a:bodyPr/>
                    <a:lstStyle/>
                    <a:p>
                      <a:r>
                        <a:rPr lang="en-US" sz="2000" b="0" dirty="0">
                          <a:latin typeface="+mn-lt"/>
                        </a:rPr>
                        <a:t>Power-Generating Machines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0.86</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76862037"/>
                  </a:ext>
                </a:extLst>
              </a:tr>
              <a:tr h="324570">
                <a:tc>
                  <a:txBody>
                    <a:bodyPr/>
                    <a:lstStyle/>
                    <a:p>
                      <a:r>
                        <a:rPr lang="en-US" sz="2000" b="0" dirty="0">
                          <a:latin typeface="+mn-lt"/>
                        </a:rPr>
                        <a:t>Medical</a:t>
                      </a:r>
                      <a:r>
                        <a:rPr lang="en-US" sz="2000" b="0" baseline="0" dirty="0">
                          <a:latin typeface="+mn-lt"/>
                        </a:rPr>
                        <a:t> and Pharmaceutical Products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0.85</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5997494"/>
                  </a:ext>
                </a:extLst>
              </a:tr>
              <a:tr h="324570">
                <a:tc>
                  <a:txBody>
                    <a:bodyPr/>
                    <a:lstStyle/>
                    <a:p>
                      <a:r>
                        <a:rPr lang="en-US" sz="2000" b="0" dirty="0">
                          <a:latin typeface="+mn-lt"/>
                        </a:rPr>
                        <a:t>Scientific Equipment</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0.84</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90824449"/>
                  </a:ext>
                </a:extLst>
              </a:tr>
              <a:tr h="324570">
                <a:tc>
                  <a:txBody>
                    <a:bodyPr/>
                    <a:lstStyle/>
                    <a:p>
                      <a:r>
                        <a:rPr lang="en-US" sz="2000" b="0" dirty="0">
                          <a:latin typeface="+mn-lt"/>
                        </a:rPr>
                        <a:t>Organic Chemicals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0.79</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741876410"/>
                  </a:ext>
                </a:extLst>
              </a:tr>
              <a:tr h="324570">
                <a:tc>
                  <a:txBody>
                    <a:bodyPr/>
                    <a:lstStyle/>
                    <a:p>
                      <a:r>
                        <a:rPr lang="en-US" sz="2000" b="0" dirty="0">
                          <a:latin typeface="+mn-lt"/>
                        </a:rPr>
                        <a:t>Iron and Steel</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0.76</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017340964"/>
                  </a:ext>
                </a:extLst>
              </a:tr>
              <a:tr h="324570">
                <a:tc>
                  <a:txBody>
                    <a:bodyPr/>
                    <a:lstStyle/>
                    <a:p>
                      <a:r>
                        <a:rPr lang="en-US" sz="2000" b="0" dirty="0">
                          <a:latin typeface="+mn-lt"/>
                        </a:rPr>
                        <a:t>Road Vehicles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0.70</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677193746"/>
                  </a:ext>
                </a:extLst>
              </a:tr>
              <a:tr h="324570">
                <a:tc>
                  <a:txBody>
                    <a:bodyPr/>
                    <a:lstStyle/>
                    <a:p>
                      <a:r>
                        <a:rPr lang="en-US" sz="2000" b="0" dirty="0">
                          <a:latin typeface="+mn-lt"/>
                        </a:rPr>
                        <a:t>Office Machines</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0.58</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849976587"/>
                  </a:ext>
                </a:extLst>
              </a:tr>
              <a:tr h="324570">
                <a:tc>
                  <a:txBody>
                    <a:bodyPr/>
                    <a:lstStyle/>
                    <a:p>
                      <a:r>
                        <a:rPr lang="en-US" sz="2000" b="0" dirty="0">
                          <a:latin typeface="+mn-lt"/>
                        </a:rPr>
                        <a:t>Telecommunication</a:t>
                      </a:r>
                      <a:r>
                        <a:rPr lang="en-US" sz="2000" b="0" baseline="0" dirty="0">
                          <a:latin typeface="+mn-lt"/>
                        </a:rPr>
                        <a:t> Equipment</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0.46</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418505115"/>
                  </a:ext>
                </a:extLst>
              </a:tr>
              <a:tr h="324570">
                <a:tc>
                  <a:txBody>
                    <a:bodyPr/>
                    <a:lstStyle/>
                    <a:p>
                      <a:r>
                        <a:rPr lang="en-US" sz="2000" b="0" dirty="0">
                          <a:latin typeface="+mn-lt"/>
                        </a:rPr>
                        <a:t>Furniture</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0.30</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100047123"/>
                  </a:ext>
                </a:extLst>
              </a:tr>
              <a:tr h="324570">
                <a:tc>
                  <a:txBody>
                    <a:bodyPr/>
                    <a:lstStyle/>
                    <a:p>
                      <a:r>
                        <a:rPr lang="en-US" sz="2000" b="0" dirty="0">
                          <a:latin typeface="+mn-lt"/>
                        </a:rPr>
                        <a:t>Clothing and Apparel</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2000" dirty="0">
                          <a:latin typeface="+mn-lt"/>
                        </a:rPr>
                        <a:t>0.11</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688211329"/>
                  </a:ext>
                </a:extLst>
              </a:tr>
              <a:tr h="324570">
                <a:tc>
                  <a:txBody>
                    <a:bodyPr/>
                    <a:lstStyle/>
                    <a:p>
                      <a:r>
                        <a:rPr lang="en-US" sz="2000" b="0" dirty="0">
                          <a:latin typeface="+mn-lt"/>
                        </a:rPr>
                        <a:t>Footwear</a:t>
                      </a:r>
                      <a:endParaRPr lang="en-IN" sz="2000" b="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mn-lt"/>
                        </a:rPr>
                        <a:t>0.10</a:t>
                      </a:r>
                      <a:endParaRPr lang="en-IN" sz="2000" dirty="0">
                        <a:latin typeface="+mn-lt"/>
                      </a:endParaRPr>
                    </a:p>
                  </a:txBody>
                  <a:tcPr marL="3600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2280310"/>
                  </a:ext>
                </a:extLst>
              </a:tr>
            </a:tbl>
          </a:graphicData>
        </a:graphic>
      </p:graphicFrame>
    </p:spTree>
    <p:extLst>
      <p:ext uri="{BB962C8B-B14F-4D97-AF65-F5344CB8AC3E}">
        <p14:creationId xmlns:p14="http://schemas.microsoft.com/office/powerpoint/2010/main" val="13425792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Intra-Industry Trade in Action: The North American Auto Pact of 1964 and N</a:t>
            </a:r>
            <a:r>
              <a:rPr lang="en-US" sz="100" dirty="0"/>
              <a:t> </a:t>
            </a:r>
            <a:r>
              <a:rPr lang="en-US" sz="2800" dirty="0"/>
              <a:t>A</a:t>
            </a:r>
            <a:r>
              <a:rPr lang="en-US" sz="100" dirty="0"/>
              <a:t> </a:t>
            </a:r>
            <a:r>
              <a:rPr lang="en-US" sz="2800" dirty="0"/>
              <a:t>F</a:t>
            </a:r>
            <a:r>
              <a:rPr lang="en-US" sz="100" dirty="0"/>
              <a:t> </a:t>
            </a:r>
            <a:r>
              <a:rPr lang="en-US" sz="2800" dirty="0"/>
              <a:t>T</a:t>
            </a:r>
            <a:r>
              <a:rPr lang="en-US" sz="100" dirty="0"/>
              <a:t> </a:t>
            </a:r>
            <a:r>
              <a:rPr lang="en-US" sz="2800" dirty="0"/>
              <a:t>A </a:t>
            </a:r>
            <a:r>
              <a:rPr lang="en-US" sz="2400" b="0" dirty="0"/>
              <a:t>(1 of 5)</a:t>
            </a:r>
            <a:endParaRPr lang="en-IN" dirty="0"/>
          </a:p>
        </p:txBody>
      </p:sp>
      <p:sp>
        <p:nvSpPr>
          <p:cNvPr id="3" name="Content Placeholder 2"/>
          <p:cNvSpPr>
            <a:spLocks noGrp="1"/>
          </p:cNvSpPr>
          <p:nvPr>
            <p:ph sz="quarter" idx="13"/>
          </p:nvPr>
        </p:nvSpPr>
        <p:spPr>
          <a:xfrm>
            <a:off x="457200" y="1556326"/>
            <a:ext cx="8229600" cy="4796347"/>
          </a:xfrm>
        </p:spPr>
        <p:txBody>
          <a:bodyPr/>
          <a:lstStyle/>
          <a:p>
            <a:pPr>
              <a:spcBef>
                <a:spcPts val="600"/>
              </a:spcBef>
            </a:pPr>
            <a:r>
              <a:rPr lang="en-US" dirty="0"/>
              <a:t>Before 1965, tariff protection by Canada and the United States produced a Canadian auto industry that was largely self-sufficient, neither importing nor exporting much.</a:t>
            </a:r>
          </a:p>
          <a:p>
            <a:pPr>
              <a:spcBef>
                <a:spcPts val="600"/>
              </a:spcBef>
            </a:pPr>
            <a:r>
              <a:rPr lang="en-US" dirty="0"/>
              <a:t>The Canadian auto industry was about one-tenth the size of the United States and had a labor productivity about 30% lower than that of the United States.</a:t>
            </a:r>
          </a:p>
          <a:p>
            <a:pPr lvl="1"/>
            <a:r>
              <a:rPr lang="en-US" dirty="0"/>
              <a:t>Most Canadian plants produced several different things, requiring the plants to shut down periodically to change over from producing one item to producing another, to hold larger inventories, to use less specialized machinery.</a:t>
            </a:r>
            <a:endParaRPr lang="en-IN" dirty="0"/>
          </a:p>
        </p:txBody>
      </p:sp>
    </p:spTree>
    <p:extLst>
      <p:ext uri="{BB962C8B-B14F-4D97-AF65-F5344CB8AC3E}">
        <p14:creationId xmlns:p14="http://schemas.microsoft.com/office/powerpoint/2010/main" val="2852306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Intra-Industry Trade in Action: The North American Auto Pact of 1964 and N</a:t>
            </a:r>
            <a:r>
              <a:rPr lang="en-US" sz="100" dirty="0"/>
              <a:t> </a:t>
            </a:r>
            <a:r>
              <a:rPr lang="en-US" sz="2800" dirty="0"/>
              <a:t>A</a:t>
            </a:r>
            <a:r>
              <a:rPr lang="en-US" sz="100" dirty="0"/>
              <a:t> </a:t>
            </a:r>
            <a:r>
              <a:rPr lang="en-US" sz="2800" dirty="0"/>
              <a:t>F</a:t>
            </a:r>
            <a:r>
              <a:rPr lang="en-US" sz="100" dirty="0"/>
              <a:t> </a:t>
            </a:r>
            <a:r>
              <a:rPr lang="en-US" sz="2800" dirty="0"/>
              <a:t>T</a:t>
            </a:r>
            <a:r>
              <a:rPr lang="en-US" sz="100" dirty="0"/>
              <a:t> </a:t>
            </a:r>
            <a:r>
              <a:rPr lang="en-US" sz="2800" dirty="0"/>
              <a:t>A </a:t>
            </a:r>
            <a:r>
              <a:rPr lang="en-US" sz="2400" b="0" dirty="0"/>
              <a:t>(2 of 5)</a:t>
            </a:r>
            <a:endParaRPr lang="en-IN" dirty="0"/>
          </a:p>
        </p:txBody>
      </p:sp>
      <p:sp>
        <p:nvSpPr>
          <p:cNvPr id="3" name="Content Placeholder 2"/>
          <p:cNvSpPr>
            <a:spLocks noGrp="1"/>
          </p:cNvSpPr>
          <p:nvPr>
            <p:ph sz="quarter" idx="13"/>
          </p:nvPr>
        </p:nvSpPr>
        <p:spPr/>
        <p:txBody>
          <a:bodyPr/>
          <a:lstStyle/>
          <a:p>
            <a:r>
              <a:rPr lang="en-US" sz="2200" dirty="0"/>
              <a:t>The United States and Canada agreed in 1964 to establish free trade in automobiles, which allowed the auto companies to reorganize their production.</a:t>
            </a:r>
          </a:p>
          <a:p>
            <a:r>
              <a:rPr lang="en-US" sz="2200" dirty="0"/>
              <a:t>The overall level of Canadian production and employment was maintained</a:t>
            </a:r>
            <a:r>
              <a:rPr lang="en-US" sz="2200" dirty="0" smtClean="0"/>
              <a:t>.</a:t>
            </a:r>
            <a:endParaRPr lang="en-US" sz="2200" dirty="0"/>
          </a:p>
          <a:p>
            <a:pPr lvl="1"/>
            <a:r>
              <a:rPr lang="en-US" sz="2200" dirty="0"/>
              <a:t>Canadian subsidiaries cut how many products were made in Canada. Production levels for the models produced in Canada rose dramatically, as those Canadian plants became one of the main (or only) supplier of that model for the whole North American market</a:t>
            </a:r>
            <a:r>
              <a:rPr lang="en-US" sz="2200" dirty="0" smtClean="0"/>
              <a:t>.</a:t>
            </a:r>
            <a:endParaRPr lang="en-US" sz="2200" dirty="0"/>
          </a:p>
          <a:p>
            <a:pPr lvl="1"/>
            <a:r>
              <a:rPr lang="en-US" sz="2200" dirty="0"/>
              <a:t>Canada imported the models from the United States that it was no longer producing.</a:t>
            </a:r>
            <a:endParaRPr lang="en-IN" sz="2200" dirty="0"/>
          </a:p>
        </p:txBody>
      </p:sp>
    </p:spTree>
    <p:extLst>
      <p:ext uri="{BB962C8B-B14F-4D97-AF65-F5344CB8AC3E}">
        <p14:creationId xmlns:p14="http://schemas.microsoft.com/office/powerpoint/2010/main" val="23955856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Intra-Industry Trade in Action: The North American Auto Pact of 1964 and N</a:t>
            </a:r>
            <a:r>
              <a:rPr lang="en-US" sz="100" dirty="0"/>
              <a:t> </a:t>
            </a:r>
            <a:r>
              <a:rPr lang="en-US" sz="2800" dirty="0"/>
              <a:t>A</a:t>
            </a:r>
            <a:r>
              <a:rPr lang="en-US" sz="100" dirty="0"/>
              <a:t> </a:t>
            </a:r>
            <a:r>
              <a:rPr lang="en-US" sz="2800" dirty="0"/>
              <a:t>F</a:t>
            </a:r>
            <a:r>
              <a:rPr lang="en-US" sz="100" dirty="0"/>
              <a:t> </a:t>
            </a:r>
            <a:r>
              <a:rPr lang="en-US" sz="2800" dirty="0"/>
              <a:t>T</a:t>
            </a:r>
            <a:r>
              <a:rPr lang="en-US" sz="100" dirty="0"/>
              <a:t> </a:t>
            </a:r>
            <a:r>
              <a:rPr lang="en-US" sz="2800" dirty="0"/>
              <a:t>A </a:t>
            </a:r>
            <a:r>
              <a:rPr lang="en-US" sz="2400" b="0" dirty="0"/>
              <a:t>(3 of 5)</a:t>
            </a:r>
            <a:endParaRPr lang="en-IN" dirty="0"/>
          </a:p>
        </p:txBody>
      </p:sp>
      <p:sp>
        <p:nvSpPr>
          <p:cNvPr id="3" name="Content Placeholder 2"/>
          <p:cNvSpPr>
            <a:spLocks noGrp="1"/>
          </p:cNvSpPr>
          <p:nvPr>
            <p:ph sz="quarter" idx="13"/>
          </p:nvPr>
        </p:nvSpPr>
        <p:spPr>
          <a:xfrm>
            <a:off x="457200" y="1556327"/>
            <a:ext cx="8116784" cy="4586896"/>
          </a:xfrm>
        </p:spPr>
        <p:txBody>
          <a:bodyPr/>
          <a:lstStyle/>
          <a:p>
            <a:r>
              <a:rPr lang="en-US" sz="2200" dirty="0"/>
              <a:t>Both exports and imports increased sharply.</a:t>
            </a:r>
          </a:p>
          <a:p>
            <a:r>
              <a:rPr lang="en-US" sz="2200" dirty="0"/>
              <a:t>By the early 1970s, the Canadian industry was comparable to the U.S. industry in productivity.</a:t>
            </a:r>
          </a:p>
          <a:p>
            <a:r>
              <a:rPr lang="en-US" sz="2200" dirty="0"/>
              <a:t>Later on, this transformation of the automotive industry was extended to include Mexico. </a:t>
            </a:r>
          </a:p>
          <a:p>
            <a:r>
              <a:rPr lang="en-US" sz="2200" dirty="0"/>
              <a:t>This process continued with the implementation of N</a:t>
            </a:r>
            <a:r>
              <a:rPr lang="en-US" sz="100" dirty="0"/>
              <a:t> </a:t>
            </a:r>
            <a:r>
              <a:rPr lang="en-US" sz="2200" dirty="0"/>
              <a:t>A</a:t>
            </a:r>
            <a:r>
              <a:rPr lang="en-US" sz="100" dirty="0"/>
              <a:t> </a:t>
            </a:r>
            <a:r>
              <a:rPr lang="en-US" sz="2200" dirty="0"/>
              <a:t>F</a:t>
            </a:r>
            <a:r>
              <a:rPr lang="en-US" sz="100" dirty="0"/>
              <a:t> </a:t>
            </a:r>
            <a:r>
              <a:rPr lang="en-US" sz="2200" dirty="0"/>
              <a:t>T</a:t>
            </a:r>
            <a:r>
              <a:rPr lang="en-US" sz="100" dirty="0"/>
              <a:t> </a:t>
            </a:r>
            <a:r>
              <a:rPr lang="en-US" sz="2200" dirty="0"/>
              <a:t>A (the North American Free Trade Agreement between the United States, Canada, and Mexico).</a:t>
            </a:r>
          </a:p>
          <a:p>
            <a:pPr lvl="1"/>
            <a:r>
              <a:rPr lang="en-US" sz="2200" dirty="0"/>
              <a:t>For each model of car, there is typically a plant in one of these three countries that sells to the whole North American market.</a:t>
            </a:r>
            <a:endParaRPr lang="en-IN" sz="2200" dirty="0"/>
          </a:p>
        </p:txBody>
      </p:sp>
    </p:spTree>
    <p:extLst>
      <p:ext uri="{BB962C8B-B14F-4D97-AF65-F5344CB8AC3E}">
        <p14:creationId xmlns:p14="http://schemas.microsoft.com/office/powerpoint/2010/main" val="2649698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Intra-Industry Trade in Action: The North American Auto Pact of 1964 and N</a:t>
            </a:r>
            <a:r>
              <a:rPr lang="en-US" sz="100" dirty="0"/>
              <a:t> </a:t>
            </a:r>
            <a:r>
              <a:rPr lang="en-US" sz="2800" dirty="0"/>
              <a:t>A</a:t>
            </a:r>
            <a:r>
              <a:rPr lang="en-US" sz="100" dirty="0"/>
              <a:t> </a:t>
            </a:r>
            <a:r>
              <a:rPr lang="en-US" sz="2800" dirty="0"/>
              <a:t>F</a:t>
            </a:r>
            <a:r>
              <a:rPr lang="en-US" sz="100" dirty="0"/>
              <a:t> </a:t>
            </a:r>
            <a:r>
              <a:rPr lang="en-US" sz="2800" dirty="0"/>
              <a:t>T</a:t>
            </a:r>
            <a:r>
              <a:rPr lang="en-US" sz="100" dirty="0"/>
              <a:t> </a:t>
            </a:r>
            <a:r>
              <a:rPr lang="en-US" sz="2800" dirty="0"/>
              <a:t>A </a:t>
            </a:r>
            <a:r>
              <a:rPr lang="en-US" sz="2400" b="0" dirty="0"/>
              <a:t>(4 of 5)</a:t>
            </a:r>
            <a:endParaRPr lang="en-IN" dirty="0"/>
          </a:p>
        </p:txBody>
      </p:sp>
      <p:sp>
        <p:nvSpPr>
          <p:cNvPr id="3" name="Content Placeholder 2"/>
          <p:cNvSpPr>
            <a:spLocks noGrp="1"/>
          </p:cNvSpPr>
          <p:nvPr>
            <p:ph sz="quarter" idx="13"/>
          </p:nvPr>
        </p:nvSpPr>
        <p:spPr>
          <a:xfrm>
            <a:off x="457200" y="1556327"/>
            <a:ext cx="8310563" cy="4586896"/>
          </a:xfrm>
        </p:spPr>
        <p:txBody>
          <a:bodyPr/>
          <a:lstStyle/>
          <a:p>
            <a:r>
              <a:rPr lang="en-US" dirty="0"/>
              <a:t>The manufacture of auto parts was also consolidated throughout the North American market</a:t>
            </a:r>
            <a:r>
              <a:rPr lang="en-US" dirty="0" smtClean="0"/>
              <a:t>.</a:t>
            </a:r>
            <a:endParaRPr lang="en-US" dirty="0"/>
          </a:p>
          <a:p>
            <a:r>
              <a:rPr lang="en-US" dirty="0"/>
              <a:t>In the first decade following N</a:t>
            </a:r>
            <a:r>
              <a:rPr lang="en-US" sz="100" dirty="0"/>
              <a:t> </a:t>
            </a:r>
            <a:r>
              <a:rPr lang="en-US" dirty="0"/>
              <a:t>A</a:t>
            </a:r>
            <a:r>
              <a:rPr lang="en-US" sz="100" dirty="0"/>
              <a:t> </a:t>
            </a:r>
            <a:r>
              <a:rPr lang="en-US" dirty="0"/>
              <a:t>F</a:t>
            </a:r>
            <a:r>
              <a:rPr lang="en-US" sz="100" dirty="0"/>
              <a:t> </a:t>
            </a:r>
            <a:r>
              <a:rPr lang="en-US" dirty="0"/>
              <a:t>T</a:t>
            </a:r>
            <a:r>
              <a:rPr lang="en-US" sz="100" dirty="0"/>
              <a:t> </a:t>
            </a:r>
            <a:r>
              <a:rPr lang="en-US" dirty="0"/>
              <a:t>A, trade in automotive parts between the United States and Mexico more than doubled in </a:t>
            </a:r>
            <a:r>
              <a:rPr lang="en-US" b="1" dirty="0"/>
              <a:t>both</a:t>
            </a:r>
            <a:r>
              <a:rPr lang="en-US" i="1" dirty="0"/>
              <a:t> </a:t>
            </a:r>
            <a:r>
              <a:rPr lang="en-US" dirty="0"/>
              <a:t>directions, and then doubled again in the ensuing decade, highlighting the increasing importance of intra-industry trade.</a:t>
            </a:r>
            <a:endParaRPr lang="en-IN" dirty="0"/>
          </a:p>
        </p:txBody>
      </p:sp>
    </p:spTree>
    <p:extLst>
      <p:ext uri="{BB962C8B-B14F-4D97-AF65-F5344CB8AC3E}">
        <p14:creationId xmlns:p14="http://schemas.microsoft.com/office/powerpoint/2010/main" val="39939527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Intra-Industry Trade in Action: The North American Auto Pact of 1964 and N</a:t>
            </a:r>
            <a:r>
              <a:rPr lang="en-US" sz="100" dirty="0"/>
              <a:t> </a:t>
            </a:r>
            <a:r>
              <a:rPr lang="en-US" sz="2800" dirty="0"/>
              <a:t>A</a:t>
            </a:r>
            <a:r>
              <a:rPr lang="en-US" sz="100" dirty="0"/>
              <a:t> </a:t>
            </a:r>
            <a:r>
              <a:rPr lang="en-US" sz="2800" dirty="0"/>
              <a:t>F</a:t>
            </a:r>
            <a:r>
              <a:rPr lang="en-US" sz="100" dirty="0"/>
              <a:t> </a:t>
            </a:r>
            <a:r>
              <a:rPr lang="en-US" sz="2800" dirty="0"/>
              <a:t>T</a:t>
            </a:r>
            <a:r>
              <a:rPr lang="en-US" sz="100" dirty="0"/>
              <a:t> </a:t>
            </a:r>
            <a:r>
              <a:rPr lang="en-US" sz="2800" dirty="0"/>
              <a:t>A </a:t>
            </a:r>
            <a:r>
              <a:rPr lang="en-US" sz="2400" b="0" dirty="0"/>
              <a:t>(5 of 5)</a:t>
            </a:r>
            <a:endParaRPr lang="en-IN" dirty="0"/>
          </a:p>
        </p:txBody>
      </p:sp>
      <p:sp>
        <p:nvSpPr>
          <p:cNvPr id="3" name="Content Placeholder 2"/>
          <p:cNvSpPr>
            <a:spLocks noGrp="1"/>
          </p:cNvSpPr>
          <p:nvPr>
            <p:ph sz="quarter" idx="13"/>
          </p:nvPr>
        </p:nvSpPr>
        <p:spPr>
          <a:xfrm>
            <a:off x="457200" y="1556327"/>
            <a:ext cx="8140535" cy="4586896"/>
          </a:xfrm>
        </p:spPr>
        <p:txBody>
          <a:bodyPr/>
          <a:lstStyle/>
          <a:p>
            <a:r>
              <a:rPr lang="en-US" sz="2200" dirty="0"/>
              <a:t>Concerns raised over a few final assembly plants relocating from the United States to Mexico rarely mentions the large growth of U.S. autos and parts exports to Mexico: Over two-thirds of Mexican automotive imports originated in the United States in 2002.</a:t>
            </a:r>
          </a:p>
          <a:p>
            <a:r>
              <a:rPr lang="en-US" sz="2200" dirty="0"/>
              <a:t>Ending N</a:t>
            </a:r>
            <a:r>
              <a:rPr lang="en-US" sz="100" dirty="0"/>
              <a:t> </a:t>
            </a:r>
            <a:r>
              <a:rPr lang="en-US" sz="2200" dirty="0"/>
              <a:t>A</a:t>
            </a:r>
            <a:r>
              <a:rPr lang="en-US" sz="100" dirty="0"/>
              <a:t> </a:t>
            </a:r>
            <a:r>
              <a:rPr lang="en-US" sz="2200" dirty="0"/>
              <a:t>F</a:t>
            </a:r>
            <a:r>
              <a:rPr lang="en-US" sz="100" dirty="0"/>
              <a:t> </a:t>
            </a:r>
            <a:r>
              <a:rPr lang="en-US" sz="2200" dirty="0"/>
              <a:t>T</a:t>
            </a:r>
            <a:r>
              <a:rPr lang="en-US" sz="100" dirty="0"/>
              <a:t> </a:t>
            </a:r>
            <a:r>
              <a:rPr lang="en-US" sz="2200" dirty="0"/>
              <a:t>A likely would not would not result in higher car production in the United States</a:t>
            </a:r>
            <a:r>
              <a:rPr lang="en-US" sz="2200" dirty="0" smtClean="0"/>
              <a:t>.</a:t>
            </a:r>
            <a:endParaRPr lang="en-US" sz="2200" dirty="0"/>
          </a:p>
          <a:p>
            <a:pPr lvl="1"/>
            <a:r>
              <a:rPr lang="en-US" sz="2200" dirty="0"/>
              <a:t>Lower demand for U.S. imports in Mexico and Canada (along with higher prices for all consumers) would lead to </a:t>
            </a:r>
            <a:r>
              <a:rPr lang="en-US" sz="2200" b="1" dirty="0"/>
              <a:t>lower</a:t>
            </a:r>
            <a:r>
              <a:rPr lang="en-US" sz="2200" i="1" dirty="0"/>
              <a:t> </a:t>
            </a:r>
            <a:r>
              <a:rPr lang="en-US" sz="2200" dirty="0"/>
              <a:t>car production in the United States</a:t>
            </a:r>
            <a:r>
              <a:rPr lang="en-US" sz="2200" dirty="0" smtClean="0"/>
              <a:t>.</a:t>
            </a:r>
            <a:endParaRPr lang="en-US" sz="2200" dirty="0"/>
          </a:p>
          <a:p>
            <a:pPr lvl="1"/>
            <a:r>
              <a:rPr lang="en-US" sz="2200" dirty="0"/>
              <a:t>Only car production outside North America would increase.</a:t>
            </a:r>
            <a:endParaRPr lang="en-IN" sz="2200" dirty="0"/>
          </a:p>
        </p:txBody>
      </p:sp>
    </p:spTree>
    <p:extLst>
      <p:ext uri="{BB962C8B-B14F-4D97-AF65-F5344CB8AC3E}">
        <p14:creationId xmlns:p14="http://schemas.microsoft.com/office/powerpoint/2010/main" val="31166235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Firm Responses to Trade</a:t>
            </a:r>
            <a:endParaRPr lang="en-IN" dirty="0"/>
          </a:p>
        </p:txBody>
      </p:sp>
      <p:sp>
        <p:nvSpPr>
          <p:cNvPr id="3" name="Content Placeholder 2"/>
          <p:cNvSpPr>
            <a:spLocks noGrp="1"/>
          </p:cNvSpPr>
          <p:nvPr>
            <p:ph sz="quarter" idx="13"/>
          </p:nvPr>
        </p:nvSpPr>
        <p:spPr/>
        <p:txBody>
          <a:bodyPr/>
          <a:lstStyle/>
          <a:p>
            <a:r>
              <a:rPr lang="en-US" altLang="en-US" dirty="0"/>
              <a:t>Increased competition tends to hurt the worst-performing firms — they are forced to exit</a:t>
            </a:r>
            <a:r>
              <a:rPr lang="en-US" altLang="en-US" dirty="0" smtClean="0"/>
              <a:t>.</a:t>
            </a:r>
            <a:endParaRPr lang="en-US" altLang="en-US" dirty="0"/>
          </a:p>
          <a:p>
            <a:r>
              <a:rPr lang="en-US" altLang="en-US" dirty="0"/>
              <a:t>The best-performing firms take the greatest advantage of new sales opportunities and expand the most.</a:t>
            </a:r>
          </a:p>
          <a:p>
            <a:r>
              <a:rPr lang="en-US" altLang="en-US" dirty="0"/>
              <a:t>When the better-performing firms expand and the worse-performing ones contract or exit, overall industry performance improves</a:t>
            </a:r>
            <a:r>
              <a:rPr lang="en-US" altLang="en-US" dirty="0" smtClean="0"/>
              <a:t>.</a:t>
            </a:r>
            <a:endParaRPr lang="en-US" altLang="en-US" dirty="0"/>
          </a:p>
          <a:p>
            <a:pPr lvl="1"/>
            <a:r>
              <a:rPr lang="en-US" altLang="en-US" dirty="0"/>
              <a:t>Trade and economic integration improve industry performance as much as the discovery of a better technology does.</a:t>
            </a:r>
            <a:endParaRPr lang="en-IN" dirty="0"/>
          </a:p>
        </p:txBody>
      </p:sp>
    </p:spTree>
    <p:extLst>
      <p:ext uri="{BB962C8B-B14F-4D97-AF65-F5344CB8AC3E}">
        <p14:creationId xmlns:p14="http://schemas.microsoft.com/office/powerpoint/2010/main" val="9106107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8.6 Performance Differences across Firms</a:t>
            </a:r>
            <a:endParaRPr lang="en-IN" sz="3200" dirty="0"/>
          </a:p>
        </p:txBody>
      </p:sp>
      <p:pic>
        <p:nvPicPr>
          <p:cNvPr id="4" name="Content Placeholder 3" descr="Graph ay, plots cost, C and price, P versus quantity, for two firms.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2066626" y="1557338"/>
            <a:ext cx="5010748" cy="2612607"/>
          </a:xfrm>
        </p:spPr>
      </p:pic>
      <p:sp>
        <p:nvSpPr>
          <p:cNvPr id="5" name="Content Placeholder 4"/>
          <p:cNvSpPr>
            <a:spLocks noGrp="1"/>
          </p:cNvSpPr>
          <p:nvPr>
            <p:ph sz="quarter" idx="14"/>
          </p:nvPr>
        </p:nvSpPr>
        <p:spPr>
          <a:xfrm>
            <a:off x="457200" y="4261400"/>
            <a:ext cx="8229601" cy="274976"/>
          </a:xfrm>
        </p:spPr>
        <p:txBody>
          <a:bodyPr lIns="0" tIns="0" rIns="0" bIns="0"/>
          <a:lstStyle/>
          <a:p>
            <a:pPr marL="432" indent="0">
              <a:buNone/>
            </a:pPr>
            <a:r>
              <a:rPr lang="en-US" sz="1600" dirty="0"/>
              <a:t>(a) Demand and cost curves for firms 1 and 2. Firm 1 has a lower marginal cost than firm</a:t>
            </a:r>
            <a:endParaRPr lang="en-IN" sz="1600" dirty="0"/>
          </a:p>
        </p:txBody>
      </p:sp>
      <p:graphicFrame>
        <p:nvGraphicFramePr>
          <p:cNvPr id="18" name="Object 17" descr="2 colon c sub 1 is less than c sub 2."/>
          <p:cNvGraphicFramePr>
            <a:graphicFrameLocks noChangeAspect="1"/>
          </p:cNvGraphicFramePr>
          <p:nvPr>
            <p:extLst>
              <p:ext uri="{D42A27DB-BD31-4B8C-83A1-F6EECF244321}">
                <p14:modId xmlns:p14="http://schemas.microsoft.com/office/powerpoint/2010/main" val="2401715128"/>
              </p:ext>
            </p:extLst>
          </p:nvPr>
        </p:nvGraphicFramePr>
        <p:xfrm>
          <a:off x="428625" y="4591197"/>
          <a:ext cx="799084" cy="276606"/>
        </p:xfrm>
        <a:graphic>
          <a:graphicData uri="http://schemas.openxmlformats.org/presentationml/2006/ole">
            <mc:AlternateContent xmlns:mc="http://schemas.openxmlformats.org/markup-compatibility/2006">
              <mc:Choice xmlns:v="urn:schemas-microsoft-com:vml" Requires="v">
                <p:oleObj spid="_x0000_s13498" name="Equation" r:id="rId5" imgW="660240" imgH="228600" progId="Equation.DSMT4">
                  <p:embed/>
                </p:oleObj>
              </mc:Choice>
              <mc:Fallback>
                <p:oleObj name="Equation" r:id="rId5" imgW="660240" imgH="228600" progId="Equation.DSMT4">
                  <p:embed/>
                  <p:pic>
                    <p:nvPicPr>
                      <p:cNvPr id="0" name=""/>
                      <p:cNvPicPr/>
                      <p:nvPr/>
                    </p:nvPicPr>
                    <p:blipFill>
                      <a:blip r:embed="rId6"/>
                      <a:stretch>
                        <a:fillRect/>
                      </a:stretch>
                    </p:blipFill>
                    <p:spPr>
                      <a:xfrm>
                        <a:off x="428625" y="4591197"/>
                        <a:ext cx="799084" cy="276606"/>
                      </a:xfrm>
                      <a:prstGeom prst="rect">
                        <a:avLst/>
                      </a:prstGeom>
                    </p:spPr>
                  </p:pic>
                </p:oleObj>
              </mc:Fallback>
            </mc:AlternateContent>
          </a:graphicData>
        </a:graphic>
      </p:graphicFrame>
      <p:sp>
        <p:nvSpPr>
          <p:cNvPr id="6" name="Content Placeholder 5"/>
          <p:cNvSpPr>
            <a:spLocks noGrp="1"/>
          </p:cNvSpPr>
          <p:nvPr>
            <p:ph sz="quarter" idx="15"/>
          </p:nvPr>
        </p:nvSpPr>
        <p:spPr>
          <a:xfrm>
            <a:off x="1307526" y="4586210"/>
            <a:ext cx="7212330" cy="270799"/>
          </a:xfrm>
        </p:spPr>
        <p:txBody>
          <a:bodyPr lIns="0" tIns="0" rIns="0" bIns="0"/>
          <a:lstStyle/>
          <a:p>
            <a:pPr marL="432" indent="0">
              <a:buNone/>
            </a:pPr>
            <a:r>
              <a:rPr lang="en-US" sz="1600" dirty="0"/>
              <a:t>Both firms face the same demand curve and marginal revenue curve. Relative</a:t>
            </a:r>
            <a:endParaRPr lang="en-IN" sz="1600" dirty="0"/>
          </a:p>
        </p:txBody>
      </p:sp>
      <p:sp>
        <p:nvSpPr>
          <p:cNvPr id="7" name="Content Placeholder 6"/>
          <p:cNvSpPr>
            <a:spLocks noGrp="1"/>
          </p:cNvSpPr>
          <p:nvPr>
            <p:ph sz="quarter" idx="16"/>
          </p:nvPr>
        </p:nvSpPr>
        <p:spPr>
          <a:xfrm>
            <a:off x="428625" y="4909973"/>
            <a:ext cx="7467600" cy="291421"/>
          </a:xfrm>
        </p:spPr>
        <p:txBody>
          <a:bodyPr lIns="0" tIns="0" rIns="0" bIns="0"/>
          <a:lstStyle/>
          <a:p>
            <a:pPr marL="432" indent="0">
              <a:buNone/>
            </a:pPr>
            <a:r>
              <a:rPr lang="en-US" sz="1600" dirty="0"/>
              <a:t>to firm 2, firm 1 sets a lower price and produces more output. The shaded areas</a:t>
            </a:r>
            <a:endParaRPr lang="en-IN" sz="1600" dirty="0"/>
          </a:p>
        </p:txBody>
      </p:sp>
      <p:sp>
        <p:nvSpPr>
          <p:cNvPr id="8" name="Content Placeholder 7"/>
          <p:cNvSpPr>
            <a:spLocks noGrp="1"/>
          </p:cNvSpPr>
          <p:nvPr>
            <p:ph sz="quarter" idx="17"/>
          </p:nvPr>
        </p:nvSpPr>
        <p:spPr>
          <a:xfrm>
            <a:off x="428625" y="5254125"/>
            <a:ext cx="8229601" cy="778541"/>
          </a:xfrm>
        </p:spPr>
        <p:txBody>
          <a:bodyPr lIns="0" tIns="0" rIns="0" bIns="0"/>
          <a:lstStyle/>
          <a:p>
            <a:pPr marL="432" indent="0">
              <a:buNone/>
            </a:pPr>
            <a:r>
              <a:rPr lang="en-US" sz="1600" dirty="0"/>
              <a:t>represent operating profits for both firms (before the fixed cost is deducted). Firm 1 earns higher operating profits than firm 2. (b) Operating profits as a function of a firm’s marginal cost </a:t>
            </a:r>
            <a:r>
              <a:rPr lang="en-US" sz="1600" i="1" dirty="0" smtClean="0"/>
              <a:t>c</a:t>
            </a:r>
            <a:r>
              <a:rPr lang="en-US" sz="100" i="1" dirty="0" smtClean="0"/>
              <a:t> </a:t>
            </a:r>
            <a:r>
              <a:rPr lang="en-US" sz="1600" i="1" dirty="0" smtClean="0"/>
              <a:t>i</a:t>
            </a:r>
            <a:r>
              <a:rPr lang="en-US" sz="1600" dirty="0"/>
              <a:t>. Operating profits decrease as the marginal cost increases. Any firm with marginal</a:t>
            </a:r>
            <a:endParaRPr lang="en-IN" sz="1600" dirty="0"/>
          </a:p>
        </p:txBody>
      </p:sp>
      <p:sp>
        <p:nvSpPr>
          <p:cNvPr id="9" name="Content Placeholder 8"/>
          <p:cNvSpPr>
            <a:spLocks noGrp="1"/>
          </p:cNvSpPr>
          <p:nvPr>
            <p:ph sz="quarter" idx="18"/>
          </p:nvPr>
        </p:nvSpPr>
        <p:spPr>
          <a:xfrm>
            <a:off x="433385" y="6088153"/>
            <a:ext cx="1093489" cy="272292"/>
          </a:xfrm>
        </p:spPr>
        <p:txBody>
          <a:bodyPr lIns="0" tIns="0" rIns="0" bIns="0"/>
          <a:lstStyle/>
          <a:p>
            <a:pPr marL="432" indent="0">
              <a:buNone/>
            </a:pPr>
            <a:r>
              <a:rPr lang="en-US" sz="1600" dirty="0"/>
              <a:t>cost above</a:t>
            </a:r>
            <a:endParaRPr lang="en-IN" sz="1600" dirty="0"/>
          </a:p>
        </p:txBody>
      </p:sp>
      <p:graphicFrame>
        <p:nvGraphicFramePr>
          <p:cNvPr id="19" name="Object 18" descr="c asterisk "/>
          <p:cNvGraphicFramePr>
            <a:graphicFrameLocks noChangeAspect="1"/>
          </p:cNvGraphicFramePr>
          <p:nvPr>
            <p:extLst>
              <p:ext uri="{D42A27DB-BD31-4B8C-83A1-F6EECF244321}">
                <p14:modId xmlns:p14="http://schemas.microsoft.com/office/powerpoint/2010/main" val="335817843"/>
              </p:ext>
            </p:extLst>
          </p:nvPr>
        </p:nvGraphicFramePr>
        <p:xfrm>
          <a:off x="1591633" y="6087320"/>
          <a:ext cx="215138" cy="245872"/>
        </p:xfrm>
        <a:graphic>
          <a:graphicData uri="http://schemas.openxmlformats.org/presentationml/2006/ole">
            <mc:AlternateContent xmlns:mc="http://schemas.openxmlformats.org/markup-compatibility/2006">
              <mc:Choice xmlns:v="urn:schemas-microsoft-com:vml" Requires="v">
                <p:oleObj spid="_x0000_s13499" name="Equation" r:id="rId7" imgW="177480" imgH="203040" progId="Equation.DSMT4">
                  <p:embed/>
                </p:oleObj>
              </mc:Choice>
              <mc:Fallback>
                <p:oleObj name="Equation" r:id="rId7" imgW="177480" imgH="203040" progId="Equation.DSMT4">
                  <p:embed/>
                  <p:pic>
                    <p:nvPicPr>
                      <p:cNvPr id="0" name=""/>
                      <p:cNvPicPr/>
                      <p:nvPr/>
                    </p:nvPicPr>
                    <p:blipFill>
                      <a:blip r:embed="rId8"/>
                      <a:stretch>
                        <a:fillRect/>
                      </a:stretch>
                    </p:blipFill>
                    <p:spPr>
                      <a:xfrm>
                        <a:off x="1591633" y="6087320"/>
                        <a:ext cx="215138" cy="245872"/>
                      </a:xfrm>
                      <a:prstGeom prst="rect">
                        <a:avLst/>
                      </a:prstGeom>
                    </p:spPr>
                  </p:pic>
                </p:oleObj>
              </mc:Fallback>
            </mc:AlternateContent>
          </a:graphicData>
        </a:graphic>
      </p:graphicFrame>
      <p:sp>
        <p:nvSpPr>
          <p:cNvPr id="10" name="Content Placeholder 9"/>
          <p:cNvSpPr>
            <a:spLocks noGrp="1"/>
          </p:cNvSpPr>
          <p:nvPr>
            <p:ph sz="quarter" idx="19"/>
          </p:nvPr>
        </p:nvSpPr>
        <p:spPr>
          <a:xfrm>
            <a:off x="1882137" y="6102407"/>
            <a:ext cx="4011769" cy="270704"/>
          </a:xfrm>
        </p:spPr>
        <p:txBody>
          <a:bodyPr lIns="0" tIns="0" rIns="0" bIns="0"/>
          <a:lstStyle/>
          <a:p>
            <a:pPr marL="432" indent="0">
              <a:buNone/>
            </a:pPr>
            <a:r>
              <a:rPr lang="en-US" sz="1600" dirty="0"/>
              <a:t>cannot operate profitably and shuts down.</a:t>
            </a:r>
          </a:p>
        </p:txBody>
      </p:sp>
    </p:spTree>
    <p:extLst>
      <p:ext uri="{BB962C8B-B14F-4D97-AF65-F5344CB8AC3E}">
        <p14:creationId xmlns:p14="http://schemas.microsoft.com/office/powerpoint/2010/main" val="7017289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smtClean="0"/>
              <a:t>Figure 8.7 Winners and Losers from Economic Integration</a:t>
            </a:r>
            <a:endParaRPr lang="en-US" sz="3200" dirty="0"/>
          </a:p>
        </p:txBody>
      </p:sp>
      <p:pic>
        <p:nvPicPr>
          <p:cNvPr id="4" name="Content Placeholder 3" descr="Graph ay plots cost, C and price, P versus quantity, for 2 demand curves. For long description in Notes pane, press F6."/>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1913537" y="1564513"/>
            <a:ext cx="5316926" cy="3111988"/>
          </a:xfrm>
        </p:spPr>
      </p:pic>
      <p:sp>
        <p:nvSpPr>
          <p:cNvPr id="5" name="Content Placeholder 4"/>
          <p:cNvSpPr>
            <a:spLocks noGrp="1"/>
          </p:cNvSpPr>
          <p:nvPr>
            <p:ph sz="quarter" idx="14"/>
          </p:nvPr>
        </p:nvSpPr>
        <p:spPr>
          <a:xfrm>
            <a:off x="457200" y="4764027"/>
            <a:ext cx="4876800" cy="277444"/>
          </a:xfrm>
        </p:spPr>
        <p:txBody>
          <a:bodyPr lIns="0" tIns="0" rIns="0" bIns="0"/>
          <a:lstStyle/>
          <a:p>
            <a:pPr marL="432" indent="0">
              <a:buNone/>
            </a:pPr>
            <a:r>
              <a:rPr lang="en-US" sz="1600" dirty="0" smtClean="0"/>
              <a:t>(a) The demand curve for all firms changes from </a:t>
            </a:r>
            <a:r>
              <a:rPr lang="en-US" sz="1600" i="1" dirty="0" smtClean="0"/>
              <a:t>D </a:t>
            </a:r>
            <a:r>
              <a:rPr lang="en-US" sz="1600" dirty="0" smtClean="0"/>
              <a:t>to</a:t>
            </a:r>
            <a:endParaRPr lang="en-US" sz="1600" dirty="0"/>
          </a:p>
        </p:txBody>
      </p:sp>
      <p:graphicFrame>
        <p:nvGraphicFramePr>
          <p:cNvPr id="18" name="Object 17" descr="D prime"/>
          <p:cNvGraphicFramePr>
            <a:graphicFrameLocks noChangeAspect="1"/>
          </p:cNvGraphicFramePr>
          <p:nvPr>
            <p:extLst>
              <p:ext uri="{D42A27DB-BD31-4B8C-83A1-F6EECF244321}">
                <p14:modId xmlns:p14="http://schemas.microsoft.com/office/powerpoint/2010/main" val="3380003332"/>
              </p:ext>
            </p:extLst>
          </p:nvPr>
        </p:nvGraphicFramePr>
        <p:xfrm>
          <a:off x="5368236" y="4781502"/>
          <a:ext cx="247440" cy="216314"/>
        </p:xfrm>
        <a:graphic>
          <a:graphicData uri="http://schemas.openxmlformats.org/presentationml/2006/ole">
            <mc:AlternateContent xmlns:mc="http://schemas.openxmlformats.org/markup-compatibility/2006">
              <mc:Choice xmlns:v="urn:schemas-microsoft-com:vml" Requires="v">
                <p:oleObj spid="_x0000_s14706" name="Equation" r:id="rId5" imgW="190440" imgH="164880" progId="Equation.DSMT4">
                  <p:embed/>
                </p:oleObj>
              </mc:Choice>
              <mc:Fallback>
                <p:oleObj name="Equation" r:id="rId5" imgW="190440" imgH="164880" progId="Equation.DSMT4">
                  <p:embed/>
                  <p:pic>
                    <p:nvPicPr>
                      <p:cNvPr id="0" name=""/>
                      <p:cNvPicPr/>
                      <p:nvPr/>
                    </p:nvPicPr>
                    <p:blipFill>
                      <a:blip r:embed="rId6"/>
                      <a:stretch>
                        <a:fillRect/>
                      </a:stretch>
                    </p:blipFill>
                    <p:spPr>
                      <a:xfrm>
                        <a:off x="5368236" y="4781502"/>
                        <a:ext cx="247440" cy="216314"/>
                      </a:xfrm>
                      <a:prstGeom prst="rect">
                        <a:avLst/>
                      </a:prstGeom>
                    </p:spPr>
                  </p:pic>
                </p:oleObj>
              </mc:Fallback>
            </mc:AlternateContent>
          </a:graphicData>
        </a:graphic>
      </p:graphicFrame>
      <p:sp>
        <p:nvSpPr>
          <p:cNvPr id="6" name="Content Placeholder 5"/>
          <p:cNvSpPr>
            <a:spLocks noGrp="1"/>
          </p:cNvSpPr>
          <p:nvPr>
            <p:ph sz="quarter" idx="15"/>
          </p:nvPr>
        </p:nvSpPr>
        <p:spPr>
          <a:xfrm>
            <a:off x="5705516" y="4764028"/>
            <a:ext cx="1838283" cy="277444"/>
          </a:xfrm>
        </p:spPr>
        <p:txBody>
          <a:bodyPr lIns="0" tIns="0" rIns="0" bIns="0"/>
          <a:lstStyle/>
          <a:p>
            <a:pPr marL="432" indent="0">
              <a:buNone/>
            </a:pPr>
            <a:r>
              <a:rPr lang="en-US" sz="1600" dirty="0" smtClean="0"/>
              <a:t>It is flatter, and has</a:t>
            </a:r>
            <a:endParaRPr lang="en-US" sz="1600" dirty="0"/>
          </a:p>
        </p:txBody>
      </p:sp>
      <p:sp>
        <p:nvSpPr>
          <p:cNvPr id="7" name="Content Placeholder 6"/>
          <p:cNvSpPr>
            <a:spLocks noGrp="1"/>
          </p:cNvSpPr>
          <p:nvPr>
            <p:ph sz="quarter" idx="16"/>
          </p:nvPr>
        </p:nvSpPr>
        <p:spPr>
          <a:xfrm>
            <a:off x="457200" y="5088485"/>
            <a:ext cx="7764780" cy="283615"/>
          </a:xfrm>
        </p:spPr>
        <p:txBody>
          <a:bodyPr lIns="0" tIns="0" rIns="0" bIns="0"/>
          <a:lstStyle/>
          <a:p>
            <a:pPr marL="432" indent="0">
              <a:buNone/>
            </a:pPr>
            <a:r>
              <a:rPr lang="en-US" sz="1600" dirty="0" smtClean="0"/>
              <a:t> a lower vertical intercept. (b) Effects of the shift in demand on the operating profits of</a:t>
            </a:r>
            <a:endParaRPr lang="en-US" sz="1600" dirty="0"/>
          </a:p>
        </p:txBody>
      </p:sp>
      <p:sp>
        <p:nvSpPr>
          <p:cNvPr id="8" name="Content Placeholder 7"/>
          <p:cNvSpPr>
            <a:spLocks noGrp="1"/>
          </p:cNvSpPr>
          <p:nvPr>
            <p:ph sz="quarter" idx="17"/>
          </p:nvPr>
        </p:nvSpPr>
        <p:spPr>
          <a:xfrm>
            <a:off x="486224" y="5419833"/>
            <a:ext cx="3011356" cy="269063"/>
          </a:xfrm>
        </p:spPr>
        <p:txBody>
          <a:bodyPr lIns="0" tIns="0" rIns="0" bIns="0"/>
          <a:lstStyle/>
          <a:p>
            <a:pPr marL="432" indent="0">
              <a:buNone/>
            </a:pPr>
            <a:r>
              <a:rPr lang="en-US" sz="1600" dirty="0" smtClean="0"/>
              <a:t>firms with different marginal cost</a:t>
            </a:r>
            <a:endParaRPr lang="en-US" sz="1600" dirty="0"/>
          </a:p>
        </p:txBody>
      </p:sp>
      <p:graphicFrame>
        <p:nvGraphicFramePr>
          <p:cNvPr id="19" name="Object 18" descr="c sub i."/>
          <p:cNvGraphicFramePr>
            <a:graphicFrameLocks noChangeAspect="1"/>
          </p:cNvGraphicFramePr>
          <p:nvPr>
            <p:extLst>
              <p:ext uri="{D42A27DB-BD31-4B8C-83A1-F6EECF244321}">
                <p14:modId xmlns:p14="http://schemas.microsoft.com/office/powerpoint/2010/main" val="3777537744"/>
              </p:ext>
            </p:extLst>
          </p:nvPr>
        </p:nvGraphicFramePr>
        <p:xfrm>
          <a:off x="3530824" y="5393546"/>
          <a:ext cx="268029" cy="321634"/>
        </p:xfrm>
        <a:graphic>
          <a:graphicData uri="http://schemas.openxmlformats.org/presentationml/2006/ole">
            <mc:AlternateContent xmlns:mc="http://schemas.openxmlformats.org/markup-compatibility/2006">
              <mc:Choice xmlns:v="urn:schemas-microsoft-com:vml" Requires="v">
                <p:oleObj spid="_x0000_s14707" name="Equation" r:id="rId7" imgW="190440" imgH="228600" progId="Equation.DSMT4">
                  <p:embed/>
                </p:oleObj>
              </mc:Choice>
              <mc:Fallback>
                <p:oleObj name="Equation" r:id="rId7" imgW="190440" imgH="228600" progId="Equation.DSMT4">
                  <p:embed/>
                  <p:pic>
                    <p:nvPicPr>
                      <p:cNvPr id="0" name=""/>
                      <p:cNvPicPr/>
                      <p:nvPr/>
                    </p:nvPicPr>
                    <p:blipFill>
                      <a:blip r:embed="rId8"/>
                      <a:stretch>
                        <a:fillRect/>
                      </a:stretch>
                    </p:blipFill>
                    <p:spPr>
                      <a:xfrm>
                        <a:off x="3530824" y="5393546"/>
                        <a:ext cx="268029" cy="321634"/>
                      </a:xfrm>
                      <a:prstGeom prst="rect">
                        <a:avLst/>
                      </a:prstGeom>
                    </p:spPr>
                  </p:pic>
                </p:oleObj>
              </mc:Fallback>
            </mc:AlternateContent>
          </a:graphicData>
        </a:graphic>
      </p:graphicFrame>
      <p:sp>
        <p:nvSpPr>
          <p:cNvPr id="9" name="Content Placeholder 8"/>
          <p:cNvSpPr>
            <a:spLocks noGrp="1"/>
          </p:cNvSpPr>
          <p:nvPr>
            <p:ph sz="quarter" idx="18"/>
          </p:nvPr>
        </p:nvSpPr>
        <p:spPr>
          <a:xfrm>
            <a:off x="3880217" y="5414296"/>
            <a:ext cx="4417963" cy="270554"/>
          </a:xfrm>
        </p:spPr>
        <p:txBody>
          <a:bodyPr lIns="0" tIns="0" rIns="0" bIns="0"/>
          <a:lstStyle/>
          <a:p>
            <a:pPr marL="0" indent="0">
              <a:buNone/>
            </a:pPr>
            <a:r>
              <a:rPr lang="en-US" sz="1600" dirty="0" smtClean="0"/>
              <a:t>Firms with marginal cost between the old cutoff,</a:t>
            </a:r>
            <a:endParaRPr lang="en-US" sz="1600" dirty="0"/>
          </a:p>
        </p:txBody>
      </p:sp>
      <p:graphicFrame>
        <p:nvGraphicFramePr>
          <p:cNvPr id="20" name="Object 19" descr="C asterisk,"/>
          <p:cNvGraphicFramePr>
            <a:graphicFrameLocks noChangeAspect="1"/>
          </p:cNvGraphicFramePr>
          <p:nvPr>
            <p:extLst>
              <p:ext uri="{D42A27DB-BD31-4B8C-83A1-F6EECF244321}">
                <p14:modId xmlns:p14="http://schemas.microsoft.com/office/powerpoint/2010/main" val="3807195820"/>
              </p:ext>
            </p:extLst>
          </p:nvPr>
        </p:nvGraphicFramePr>
        <p:xfrm>
          <a:off x="495936" y="5781081"/>
          <a:ext cx="241300" cy="215900"/>
        </p:xfrm>
        <a:graphic>
          <a:graphicData uri="http://schemas.openxmlformats.org/presentationml/2006/ole">
            <mc:AlternateContent xmlns:mc="http://schemas.openxmlformats.org/markup-compatibility/2006">
              <mc:Choice xmlns:v="urn:schemas-microsoft-com:vml" Requires="v">
                <p:oleObj spid="_x0000_s14708" name="Equation" r:id="rId9" imgW="241200" imgH="215640" progId="Equation.DSMT4">
                  <p:embed/>
                </p:oleObj>
              </mc:Choice>
              <mc:Fallback>
                <p:oleObj name="Equation" r:id="rId9" imgW="241200" imgH="215640" progId="Equation.DSMT4">
                  <p:embed/>
                  <p:pic>
                    <p:nvPicPr>
                      <p:cNvPr id="0" name=""/>
                      <p:cNvPicPr/>
                      <p:nvPr/>
                    </p:nvPicPr>
                    <p:blipFill>
                      <a:blip r:embed="rId10"/>
                      <a:stretch>
                        <a:fillRect/>
                      </a:stretch>
                    </p:blipFill>
                    <p:spPr>
                      <a:xfrm>
                        <a:off x="495936" y="5781081"/>
                        <a:ext cx="241300" cy="215900"/>
                      </a:xfrm>
                      <a:prstGeom prst="rect">
                        <a:avLst/>
                      </a:prstGeom>
                    </p:spPr>
                  </p:pic>
                </p:oleObj>
              </mc:Fallback>
            </mc:AlternateContent>
          </a:graphicData>
        </a:graphic>
      </p:graphicFrame>
      <p:sp>
        <p:nvSpPr>
          <p:cNvPr id="10" name="Content Placeholder 9"/>
          <p:cNvSpPr>
            <a:spLocks noGrp="1"/>
          </p:cNvSpPr>
          <p:nvPr>
            <p:ph sz="quarter" idx="19"/>
          </p:nvPr>
        </p:nvSpPr>
        <p:spPr>
          <a:xfrm>
            <a:off x="807086" y="5763175"/>
            <a:ext cx="1644534" cy="267186"/>
          </a:xfrm>
        </p:spPr>
        <p:txBody>
          <a:bodyPr lIns="0" tIns="0" rIns="0" bIns="0"/>
          <a:lstStyle/>
          <a:p>
            <a:pPr marL="0" indent="0">
              <a:buNone/>
            </a:pPr>
            <a:r>
              <a:rPr lang="en-US" sz="1600" dirty="0" smtClean="0"/>
              <a:t>and the new one,</a:t>
            </a:r>
            <a:endParaRPr lang="en-US" sz="1600" dirty="0"/>
          </a:p>
        </p:txBody>
      </p:sp>
      <p:graphicFrame>
        <p:nvGraphicFramePr>
          <p:cNvPr id="21" name="Object 20" descr="C asterisk prime,"/>
          <p:cNvGraphicFramePr>
            <a:graphicFrameLocks noChangeAspect="1"/>
          </p:cNvGraphicFramePr>
          <p:nvPr>
            <p:extLst>
              <p:ext uri="{D42A27DB-BD31-4B8C-83A1-F6EECF244321}">
                <p14:modId xmlns:p14="http://schemas.microsoft.com/office/powerpoint/2010/main" val="2464854739"/>
              </p:ext>
            </p:extLst>
          </p:nvPr>
        </p:nvGraphicFramePr>
        <p:xfrm>
          <a:off x="2506663" y="5772150"/>
          <a:ext cx="266700" cy="254000"/>
        </p:xfrm>
        <a:graphic>
          <a:graphicData uri="http://schemas.openxmlformats.org/presentationml/2006/ole">
            <mc:AlternateContent xmlns:mc="http://schemas.openxmlformats.org/markup-compatibility/2006">
              <mc:Choice xmlns:v="urn:schemas-microsoft-com:vml" Requires="v">
                <p:oleObj spid="_x0000_s14709" name="Equation" r:id="rId11" imgW="266400" imgH="253800" progId="Equation.DSMT4">
                  <p:embed/>
                </p:oleObj>
              </mc:Choice>
              <mc:Fallback>
                <p:oleObj name="Equation" r:id="rId11" imgW="266400" imgH="253800" progId="Equation.DSMT4">
                  <p:embed/>
                  <p:pic>
                    <p:nvPicPr>
                      <p:cNvPr id="0" name=""/>
                      <p:cNvPicPr/>
                      <p:nvPr/>
                    </p:nvPicPr>
                    <p:blipFill>
                      <a:blip r:embed="rId12"/>
                      <a:stretch>
                        <a:fillRect/>
                      </a:stretch>
                    </p:blipFill>
                    <p:spPr>
                      <a:xfrm>
                        <a:off x="2506663" y="5772150"/>
                        <a:ext cx="266700" cy="254000"/>
                      </a:xfrm>
                      <a:prstGeom prst="rect">
                        <a:avLst/>
                      </a:prstGeom>
                    </p:spPr>
                  </p:pic>
                </p:oleObj>
              </mc:Fallback>
            </mc:AlternateContent>
          </a:graphicData>
        </a:graphic>
      </p:graphicFrame>
      <p:sp>
        <p:nvSpPr>
          <p:cNvPr id="11" name="Content Placeholder 10"/>
          <p:cNvSpPr>
            <a:spLocks noGrp="1"/>
          </p:cNvSpPr>
          <p:nvPr>
            <p:ph sz="quarter" idx="20"/>
          </p:nvPr>
        </p:nvSpPr>
        <p:spPr>
          <a:xfrm>
            <a:off x="2827541" y="5763176"/>
            <a:ext cx="4190479" cy="267186"/>
          </a:xfrm>
        </p:spPr>
        <p:txBody>
          <a:bodyPr lIns="0" tIns="0" rIns="0" bIns="0"/>
          <a:lstStyle/>
          <a:p>
            <a:pPr marL="432" indent="0">
              <a:buNone/>
            </a:pPr>
            <a:r>
              <a:rPr lang="en-US" sz="1600" dirty="0" smtClean="0"/>
              <a:t>are forced to exit. Some firms with the lowest</a:t>
            </a:r>
            <a:endParaRPr lang="en-US" sz="1600" dirty="0"/>
          </a:p>
        </p:txBody>
      </p:sp>
      <p:sp>
        <p:nvSpPr>
          <p:cNvPr id="12" name="Content Placeholder 11"/>
          <p:cNvSpPr>
            <a:spLocks noGrp="1"/>
          </p:cNvSpPr>
          <p:nvPr>
            <p:ph sz="quarter" idx="21"/>
          </p:nvPr>
        </p:nvSpPr>
        <p:spPr>
          <a:xfrm>
            <a:off x="486225" y="6075927"/>
            <a:ext cx="6173656" cy="271534"/>
          </a:xfrm>
        </p:spPr>
        <p:txBody>
          <a:bodyPr lIns="0" tIns="0" rIns="0" bIns="0"/>
          <a:lstStyle/>
          <a:p>
            <a:pPr marL="432" indent="0">
              <a:buNone/>
            </a:pPr>
            <a:r>
              <a:rPr lang="en-US" sz="1600" dirty="0" smtClean="0"/>
              <a:t>marginal cost levels gain from integration and their profits increase.</a:t>
            </a:r>
            <a:endParaRPr lang="en-US" sz="1600" dirty="0"/>
          </a:p>
        </p:txBody>
      </p:sp>
    </p:spTree>
    <p:extLst>
      <p:ext uri="{BB962C8B-B14F-4D97-AF65-F5344CB8AC3E}">
        <p14:creationId xmlns:p14="http://schemas.microsoft.com/office/powerpoint/2010/main" val="305926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Costs and Export Decisions </a:t>
            </a:r>
            <a:r>
              <a:rPr lang="en-US" altLang="en-US" sz="2000" b="0" dirty="0"/>
              <a:t>(1 of 4)</a:t>
            </a:r>
            <a:endParaRPr lang="en-IN" dirty="0"/>
          </a:p>
        </p:txBody>
      </p:sp>
      <p:sp>
        <p:nvSpPr>
          <p:cNvPr id="3" name="Content Placeholder 2"/>
          <p:cNvSpPr>
            <a:spLocks noGrp="1"/>
          </p:cNvSpPr>
          <p:nvPr>
            <p:ph sz="quarter" idx="13"/>
          </p:nvPr>
        </p:nvSpPr>
        <p:spPr>
          <a:xfrm>
            <a:off x="457199" y="1556326"/>
            <a:ext cx="8352971" cy="4788912"/>
          </a:xfrm>
        </p:spPr>
        <p:txBody>
          <a:bodyPr/>
          <a:lstStyle/>
          <a:p>
            <a:r>
              <a:rPr lang="en-US" altLang="en-US" sz="2200" dirty="0"/>
              <a:t>Most U.S. firms do not report </a:t>
            </a:r>
            <a:r>
              <a:rPr lang="en-US" altLang="en-US" sz="2200" b="1" dirty="0"/>
              <a:t>any</a:t>
            </a:r>
            <a:r>
              <a:rPr lang="en-US" altLang="en-US" sz="2200" i="1" dirty="0"/>
              <a:t> </a:t>
            </a:r>
            <a:r>
              <a:rPr lang="en-US" altLang="en-US" sz="2200" dirty="0"/>
              <a:t>exporting activity at all — sell only to U.S. customers.</a:t>
            </a:r>
          </a:p>
          <a:p>
            <a:pPr lvl="1"/>
            <a:r>
              <a:rPr lang="en-US" altLang="en-US" sz="2200" dirty="0"/>
              <a:t>In 2007, only 35% of U.S. manufacturing firms reported any exports.</a:t>
            </a:r>
          </a:p>
          <a:p>
            <a:r>
              <a:rPr lang="en-US" altLang="en-US" sz="2200" dirty="0"/>
              <a:t>Even in industries that export much of what they produce, such as chemicals, machinery, electronics, and transportation, fewer than 40% of firms export.</a:t>
            </a:r>
          </a:p>
          <a:p>
            <a:r>
              <a:rPr lang="en-US" altLang="en-US" sz="2200" dirty="0"/>
              <a:t>A major reason why trade costs reduce trade so much is that they drastically reduce the number of firms selling to customers across the border</a:t>
            </a:r>
            <a:r>
              <a:rPr lang="en-US" altLang="en-US" sz="2200" dirty="0" smtClean="0"/>
              <a:t>.</a:t>
            </a:r>
            <a:endParaRPr lang="en-US" altLang="en-US" sz="2200" dirty="0"/>
          </a:p>
          <a:p>
            <a:pPr lvl="1"/>
            <a:r>
              <a:rPr lang="en-US" altLang="en-US" sz="2200" dirty="0"/>
              <a:t>Trade costs also reduce the volume of export sales of firms selling abroad.</a:t>
            </a:r>
            <a:endParaRPr lang="en-IN" sz="2200" dirty="0"/>
          </a:p>
        </p:txBody>
      </p:sp>
    </p:spTree>
    <p:extLst>
      <p:ext uri="{BB962C8B-B14F-4D97-AF65-F5344CB8AC3E}">
        <p14:creationId xmlns:p14="http://schemas.microsoft.com/office/powerpoint/2010/main" val="27929841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Table 8.3 Proportion of U.S. Firms Reporting Export Sales by Industry, 2007</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478633058"/>
              </p:ext>
            </p:extLst>
          </p:nvPr>
        </p:nvGraphicFramePr>
        <p:xfrm>
          <a:off x="457200" y="1555750"/>
          <a:ext cx="4756245" cy="4348480"/>
        </p:xfrm>
        <a:graphic>
          <a:graphicData uri="http://schemas.openxmlformats.org/drawingml/2006/table">
            <a:tbl>
              <a:tblPr firstCol="1" bandRow="1">
                <a:tableStyleId>{40F9630F-82C1-40B7-BC3A-925EFCFF5E92}</a:tableStyleId>
              </a:tblPr>
              <a:tblGrid>
                <a:gridCol w="3746310">
                  <a:extLst>
                    <a:ext uri="{9D8B030D-6E8A-4147-A177-3AD203B41FA5}">
                      <a16:colId xmlns:a16="http://schemas.microsoft.com/office/drawing/2014/main" val="433877918"/>
                    </a:ext>
                  </a:extLst>
                </a:gridCol>
                <a:gridCol w="1009935">
                  <a:extLst>
                    <a:ext uri="{9D8B030D-6E8A-4147-A177-3AD203B41FA5}">
                      <a16:colId xmlns:a16="http://schemas.microsoft.com/office/drawing/2014/main" val="1832834137"/>
                    </a:ext>
                  </a:extLst>
                </a:gridCol>
              </a:tblGrid>
              <a:tr h="370840">
                <a:tc>
                  <a:txBody>
                    <a:bodyPr/>
                    <a:lstStyle/>
                    <a:p>
                      <a:r>
                        <a:rPr lang="en-US" sz="1800" b="0" dirty="0">
                          <a:latin typeface="+mn-lt"/>
                        </a:rPr>
                        <a:t>Printing</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b="0" dirty="0">
                          <a:latin typeface="+mn-lt"/>
                        </a:rPr>
                        <a:t>15%</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503680955"/>
                  </a:ext>
                </a:extLst>
              </a:tr>
              <a:tr h="370840">
                <a:tc>
                  <a:txBody>
                    <a:bodyPr/>
                    <a:lstStyle/>
                    <a:p>
                      <a:r>
                        <a:rPr lang="en-US" sz="1800" b="0" dirty="0">
                          <a:latin typeface="+mn-lt"/>
                        </a:rPr>
                        <a:t>Furniture</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16%</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071680295"/>
                  </a:ext>
                </a:extLst>
              </a:tr>
              <a:tr h="370840">
                <a:tc>
                  <a:txBody>
                    <a:bodyPr/>
                    <a:lstStyle/>
                    <a:p>
                      <a:r>
                        <a:rPr lang="en-US" sz="1800" b="0" dirty="0">
                          <a:latin typeface="+mn-lt"/>
                        </a:rPr>
                        <a:t>Wood Products</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21%</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939322893"/>
                  </a:ext>
                </a:extLst>
              </a:tr>
              <a:tr h="370840">
                <a:tc>
                  <a:txBody>
                    <a:bodyPr/>
                    <a:lstStyle/>
                    <a:p>
                      <a:r>
                        <a:rPr lang="en-US" sz="1800" b="0" dirty="0">
                          <a:latin typeface="+mn-lt"/>
                        </a:rPr>
                        <a:t>Apparel</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22%</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16710858"/>
                  </a:ext>
                </a:extLst>
              </a:tr>
              <a:tr h="370840">
                <a:tc>
                  <a:txBody>
                    <a:bodyPr/>
                    <a:lstStyle/>
                    <a:p>
                      <a:r>
                        <a:rPr lang="en-US" sz="1800" b="0" dirty="0">
                          <a:latin typeface="+mn-lt"/>
                        </a:rPr>
                        <a:t>Fabricated Metal</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30%</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32994457"/>
                  </a:ext>
                </a:extLst>
              </a:tr>
              <a:tr h="370840">
                <a:tc>
                  <a:txBody>
                    <a:bodyPr/>
                    <a:lstStyle/>
                    <a:p>
                      <a:r>
                        <a:rPr lang="en-US" sz="1800" b="0" dirty="0">
                          <a:latin typeface="+mn-lt"/>
                        </a:rPr>
                        <a:t>Petroleum and Coal</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34%</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363947481"/>
                  </a:ext>
                </a:extLst>
              </a:tr>
              <a:tr h="370840">
                <a:tc>
                  <a:txBody>
                    <a:bodyPr/>
                    <a:lstStyle/>
                    <a:p>
                      <a:r>
                        <a:rPr lang="en-US" sz="1800" b="0" dirty="0">
                          <a:latin typeface="+mn-lt"/>
                        </a:rPr>
                        <a:t>Transportation Equipment</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57%</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939486567"/>
                  </a:ext>
                </a:extLst>
              </a:tr>
              <a:tr h="370840">
                <a:tc>
                  <a:txBody>
                    <a:bodyPr/>
                    <a:lstStyle/>
                    <a:p>
                      <a:r>
                        <a:rPr lang="en-US" sz="1800" b="0" dirty="0">
                          <a:latin typeface="+mn-lt"/>
                        </a:rPr>
                        <a:t>Machinery</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61%</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854056778"/>
                  </a:ext>
                </a:extLst>
              </a:tr>
              <a:tr h="370840">
                <a:tc>
                  <a:txBody>
                    <a:bodyPr/>
                    <a:lstStyle/>
                    <a:p>
                      <a:r>
                        <a:rPr lang="en-US" sz="1800" b="0" dirty="0">
                          <a:latin typeface="+mn-lt"/>
                        </a:rPr>
                        <a:t>Chemicals</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65%</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23158009"/>
                  </a:ext>
                </a:extLst>
              </a:tr>
              <a:tr h="370840">
                <a:tc>
                  <a:txBody>
                    <a:bodyPr/>
                    <a:lstStyle/>
                    <a:p>
                      <a:r>
                        <a:rPr lang="en-US" sz="1800" b="0" dirty="0">
                          <a:latin typeface="+mn-lt"/>
                        </a:rPr>
                        <a:t>Electrical Equipment and Appliances</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r>
                        <a:rPr lang="en-US" sz="1800" dirty="0">
                          <a:latin typeface="+mn-lt"/>
                        </a:rPr>
                        <a:t>70%</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187707245"/>
                  </a:ext>
                </a:extLst>
              </a:tr>
              <a:tr h="370840">
                <a:tc>
                  <a:txBody>
                    <a:bodyPr/>
                    <a:lstStyle/>
                    <a:p>
                      <a:r>
                        <a:rPr lang="en-US" sz="1800" b="0" dirty="0">
                          <a:latin typeface="+mn-lt"/>
                        </a:rPr>
                        <a:t>Computer and Electronics</a:t>
                      </a:r>
                      <a:endParaRPr lang="en-IN" sz="1800" b="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latin typeface="+mn-lt"/>
                        </a:rPr>
                        <a:t>75%</a:t>
                      </a:r>
                      <a:endParaRPr lang="en-IN" sz="18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3098149"/>
                  </a:ext>
                </a:extLst>
              </a:tr>
            </a:tbl>
          </a:graphicData>
        </a:graphic>
      </p:graphicFrame>
    </p:spTree>
    <p:extLst>
      <p:ext uri="{BB962C8B-B14F-4D97-AF65-F5344CB8AC3E}">
        <p14:creationId xmlns:p14="http://schemas.microsoft.com/office/powerpoint/2010/main" val="2670245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Costs and Export Decisions </a:t>
            </a:r>
            <a:r>
              <a:rPr lang="en-US" altLang="en-US" sz="2000" b="0" dirty="0"/>
              <a:t>(2 of 4)</a:t>
            </a:r>
            <a:endParaRPr lang="en-IN" dirty="0"/>
          </a:p>
        </p:txBody>
      </p:sp>
      <p:sp>
        <p:nvSpPr>
          <p:cNvPr id="3" name="Content Placeholder 2"/>
          <p:cNvSpPr>
            <a:spLocks noGrp="1"/>
          </p:cNvSpPr>
          <p:nvPr>
            <p:ph sz="quarter" idx="13"/>
          </p:nvPr>
        </p:nvSpPr>
        <p:spPr/>
        <p:txBody>
          <a:bodyPr/>
          <a:lstStyle/>
          <a:p>
            <a:r>
              <a:rPr lang="en-US" altLang="en-US" sz="2000" dirty="0"/>
              <a:t>Trade costs added two important predictions to our model of monopolistic competition and trade</a:t>
            </a:r>
            <a:r>
              <a:rPr lang="en-US" altLang="en-US" sz="2000" dirty="0" smtClean="0"/>
              <a:t>:</a:t>
            </a:r>
            <a:endParaRPr lang="en-US" altLang="en-US" sz="2000" dirty="0"/>
          </a:p>
          <a:p>
            <a:pPr lvl="1"/>
            <a:r>
              <a:rPr lang="en-US" altLang="en-US" sz="2000" dirty="0"/>
              <a:t>Why only a subset of firms export, and why exporters are relatively larger and more productive (lower marginal costs</a:t>
            </a:r>
            <a:r>
              <a:rPr lang="en-US" altLang="en-US" sz="2000" dirty="0" smtClean="0"/>
              <a:t>).</a:t>
            </a:r>
            <a:endParaRPr lang="en-US" altLang="en-US" sz="2000" dirty="0"/>
          </a:p>
          <a:p>
            <a:r>
              <a:rPr lang="en-US" altLang="en-US" sz="2000" dirty="0"/>
              <a:t>Overwhelming empirical support for this prediction that exporting firms are bigger and more productive than firms in the same industry that do not export</a:t>
            </a:r>
            <a:r>
              <a:rPr lang="en-US" altLang="en-US" sz="2000" dirty="0" smtClean="0"/>
              <a:t>.</a:t>
            </a:r>
            <a:endParaRPr lang="en-US" altLang="en-US" sz="2000" dirty="0"/>
          </a:p>
          <a:p>
            <a:pPr lvl="1"/>
            <a:r>
              <a:rPr lang="en-US" altLang="en-US" sz="2000" dirty="0"/>
              <a:t>In the United States, in a typical manufacturing industry, an exporting firm is on average more than twice as large as a firm that does not export.</a:t>
            </a:r>
          </a:p>
          <a:p>
            <a:pPr lvl="1"/>
            <a:r>
              <a:rPr lang="en-US" altLang="en-US" sz="2000" dirty="0"/>
              <a:t>Differences between exporters and nonexporters are even larger in many European countries.</a:t>
            </a:r>
            <a:endParaRPr lang="en-IN" sz="2000" dirty="0"/>
          </a:p>
        </p:txBody>
      </p:sp>
    </p:spTree>
    <p:extLst>
      <p:ext uri="{BB962C8B-B14F-4D97-AF65-F5344CB8AC3E}">
        <p14:creationId xmlns:p14="http://schemas.microsoft.com/office/powerpoint/2010/main" val="31415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Costs and Export Decisions </a:t>
            </a:r>
            <a:r>
              <a:rPr lang="en-US" altLang="en-US" sz="2000" b="0" dirty="0"/>
              <a:t>(3 of 4)</a:t>
            </a:r>
            <a:endParaRPr lang="en-IN" dirty="0"/>
          </a:p>
        </p:txBody>
      </p:sp>
      <p:sp>
        <p:nvSpPr>
          <p:cNvPr id="3" name="Content Placeholder 2"/>
          <p:cNvSpPr>
            <a:spLocks noGrp="1"/>
          </p:cNvSpPr>
          <p:nvPr>
            <p:ph sz="quarter" idx="13"/>
          </p:nvPr>
        </p:nvSpPr>
        <p:spPr/>
        <p:txBody>
          <a:bodyPr/>
          <a:lstStyle/>
          <a:p>
            <a:r>
              <a:rPr lang="en-US" dirty="0">
                <a:solidFill>
                  <a:schemeClr val="tx1"/>
                </a:solidFill>
              </a:rPr>
              <a:t>Consider the response of firms in a world with two identical countries (Home and Foreign</a:t>
            </a:r>
            <a:r>
              <a:rPr lang="en-US" dirty="0" smtClean="0">
                <a:solidFill>
                  <a:schemeClr val="tx1"/>
                </a:solidFill>
              </a:rPr>
              <a:t>).</a:t>
            </a:r>
            <a:endParaRPr lang="en-US" dirty="0">
              <a:solidFill>
                <a:schemeClr val="tx1"/>
              </a:solidFill>
            </a:endParaRPr>
          </a:p>
          <a:p>
            <a:r>
              <a:rPr lang="en-US" dirty="0">
                <a:solidFill>
                  <a:schemeClr val="tx1"/>
                </a:solidFill>
              </a:rPr>
              <a:t>Let the market size parameter </a:t>
            </a:r>
            <a:r>
              <a:rPr lang="en-US" i="1" dirty="0">
                <a:solidFill>
                  <a:schemeClr val="tx1"/>
                </a:solidFill>
              </a:rPr>
              <a:t>S</a:t>
            </a:r>
            <a:r>
              <a:rPr lang="en-US" dirty="0">
                <a:solidFill>
                  <a:schemeClr val="tx1"/>
                </a:solidFill>
              </a:rPr>
              <a:t> reflect the size of each market.</a:t>
            </a:r>
          </a:p>
          <a:p>
            <a:r>
              <a:rPr lang="en-US" dirty="0">
                <a:solidFill>
                  <a:schemeClr val="tx1"/>
                </a:solidFill>
              </a:rPr>
              <a:t>Assume that a firm must incur an additional cost </a:t>
            </a:r>
            <a:r>
              <a:rPr lang="en-US" i="1" dirty="0">
                <a:solidFill>
                  <a:schemeClr val="tx1"/>
                </a:solidFill>
              </a:rPr>
              <a:t>t</a:t>
            </a:r>
            <a:r>
              <a:rPr lang="en-US" dirty="0">
                <a:solidFill>
                  <a:schemeClr val="tx1"/>
                </a:solidFill>
              </a:rPr>
              <a:t> for each unit of output that it sells to customers across the border.</a:t>
            </a:r>
          </a:p>
          <a:p>
            <a:r>
              <a:rPr lang="en-US" dirty="0">
                <a:solidFill>
                  <a:schemeClr val="tx1"/>
                </a:solidFill>
              </a:rPr>
              <a:t>Due to the trade cost </a:t>
            </a:r>
            <a:r>
              <a:rPr lang="en-US" i="1" dirty="0">
                <a:solidFill>
                  <a:schemeClr val="tx1"/>
                </a:solidFill>
              </a:rPr>
              <a:t>t</a:t>
            </a:r>
            <a:r>
              <a:rPr lang="en-US" dirty="0">
                <a:solidFill>
                  <a:schemeClr val="tx1"/>
                </a:solidFill>
              </a:rPr>
              <a:t>, firms will set different prices in their export market relative to their domestic market.</a:t>
            </a:r>
            <a:endParaRPr lang="en-IN" sz="2200" dirty="0">
              <a:solidFill>
                <a:schemeClr val="tx1"/>
              </a:solidFill>
            </a:endParaRPr>
          </a:p>
        </p:txBody>
      </p:sp>
    </p:spTree>
    <p:extLst>
      <p:ext uri="{BB962C8B-B14F-4D97-AF65-F5344CB8AC3E}">
        <p14:creationId xmlns:p14="http://schemas.microsoft.com/office/powerpoint/2010/main" val="1145486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Trade Costs and Export Decisions </a:t>
            </a:r>
            <a:r>
              <a:rPr lang="en-US" altLang="en-US" sz="2000" b="0" dirty="0"/>
              <a:t>(4 of 4)</a:t>
            </a:r>
            <a:endParaRPr lang="en-IN" dirty="0"/>
          </a:p>
        </p:txBody>
      </p:sp>
      <p:sp>
        <p:nvSpPr>
          <p:cNvPr id="4" name="Content Placeholder 3"/>
          <p:cNvSpPr>
            <a:spLocks noGrp="1"/>
          </p:cNvSpPr>
          <p:nvPr>
            <p:ph sz="quarter" idx="13"/>
          </p:nvPr>
        </p:nvSpPr>
        <p:spPr>
          <a:xfrm>
            <a:off x="457200" y="1552575"/>
            <a:ext cx="7636939" cy="389404"/>
          </a:xfrm>
        </p:spPr>
        <p:txBody>
          <a:bodyPr lIns="0" tIns="0" rIns="0" bIns="0"/>
          <a:lstStyle/>
          <a:p>
            <a:r>
              <a:rPr lang="en-US" dirty="0"/>
              <a:t>In Figure 8-8, firm 2 profitably operates in its domestic</a:t>
            </a:r>
            <a:endParaRPr lang="en-IN" sz="2200" dirty="0"/>
          </a:p>
        </p:txBody>
      </p:sp>
      <p:sp>
        <p:nvSpPr>
          <p:cNvPr id="5" name="Content Placeholder 4"/>
          <p:cNvSpPr>
            <a:spLocks noGrp="1"/>
          </p:cNvSpPr>
          <p:nvPr>
            <p:ph sz="quarter" idx="14"/>
          </p:nvPr>
        </p:nvSpPr>
        <p:spPr>
          <a:xfrm>
            <a:off x="457200" y="2056373"/>
            <a:ext cx="3544783" cy="396000"/>
          </a:xfrm>
        </p:spPr>
        <p:txBody>
          <a:bodyPr lIns="0" tIns="0" rIns="0" bIns="0"/>
          <a:lstStyle/>
          <a:p>
            <a:pPr marL="255600" indent="0">
              <a:buNone/>
            </a:pPr>
            <a:r>
              <a:rPr lang="en-US" dirty="0"/>
              <a:t>market as its cost there</a:t>
            </a:r>
            <a:endParaRPr lang="en-IN" dirty="0"/>
          </a:p>
        </p:txBody>
      </p:sp>
      <p:graphicFrame>
        <p:nvGraphicFramePr>
          <p:cNvPr id="18" name="Object 17" descr="c sub 2"/>
          <p:cNvGraphicFramePr>
            <a:graphicFrameLocks noChangeAspect="1"/>
          </p:cNvGraphicFramePr>
          <p:nvPr>
            <p:extLst>
              <p:ext uri="{D42A27DB-BD31-4B8C-83A1-F6EECF244321}">
                <p14:modId xmlns:p14="http://schemas.microsoft.com/office/powerpoint/2010/main" val="1588850918"/>
              </p:ext>
            </p:extLst>
          </p:nvPr>
        </p:nvGraphicFramePr>
        <p:xfrm>
          <a:off x="4055169" y="2027118"/>
          <a:ext cx="346482" cy="445477"/>
        </p:xfrm>
        <a:graphic>
          <a:graphicData uri="http://schemas.openxmlformats.org/presentationml/2006/ole">
            <mc:AlternateContent xmlns:mc="http://schemas.openxmlformats.org/markup-compatibility/2006">
              <mc:Choice xmlns:v="urn:schemas-microsoft-com:vml" Requires="v">
                <p:oleObj spid="_x0000_s15730" name="Equation" r:id="rId3" imgW="177480" imgH="228600" progId="Equation.DSMT4">
                  <p:embed/>
                </p:oleObj>
              </mc:Choice>
              <mc:Fallback>
                <p:oleObj name="Equation" r:id="rId3" imgW="177480" imgH="228600" progId="Equation.DSMT4">
                  <p:embed/>
                  <p:pic>
                    <p:nvPicPr>
                      <p:cNvPr id="0" name=""/>
                      <p:cNvPicPr/>
                      <p:nvPr/>
                    </p:nvPicPr>
                    <p:blipFill>
                      <a:blip r:embed="rId4"/>
                      <a:stretch>
                        <a:fillRect/>
                      </a:stretch>
                    </p:blipFill>
                    <p:spPr>
                      <a:xfrm>
                        <a:off x="4055169" y="2027118"/>
                        <a:ext cx="346482" cy="445477"/>
                      </a:xfrm>
                      <a:prstGeom prst="rect">
                        <a:avLst/>
                      </a:prstGeom>
                    </p:spPr>
                  </p:pic>
                </p:oleObj>
              </mc:Fallback>
            </mc:AlternateContent>
          </a:graphicData>
        </a:graphic>
      </p:graphicFrame>
      <p:sp>
        <p:nvSpPr>
          <p:cNvPr id="6" name="Content Placeholder 5"/>
          <p:cNvSpPr>
            <a:spLocks noGrp="1"/>
          </p:cNvSpPr>
          <p:nvPr>
            <p:ph sz="quarter" idx="15"/>
          </p:nvPr>
        </p:nvSpPr>
        <p:spPr>
          <a:xfrm>
            <a:off x="4454837" y="2046023"/>
            <a:ext cx="3097869" cy="406350"/>
          </a:xfrm>
        </p:spPr>
        <p:txBody>
          <a:bodyPr lIns="0" tIns="0" rIns="0" bIns="0"/>
          <a:lstStyle/>
          <a:p>
            <a:pPr marL="432" indent="0">
              <a:buNone/>
            </a:pPr>
            <a:r>
              <a:rPr lang="en-US" dirty="0"/>
              <a:t>is below the threshold</a:t>
            </a:r>
            <a:endParaRPr lang="en-IN" dirty="0"/>
          </a:p>
        </p:txBody>
      </p:sp>
      <p:graphicFrame>
        <p:nvGraphicFramePr>
          <p:cNvPr id="19" name="Object 18" descr="c asterisk. "/>
          <p:cNvGraphicFramePr>
            <a:graphicFrameLocks noChangeAspect="1"/>
          </p:cNvGraphicFramePr>
          <p:nvPr>
            <p:extLst>
              <p:ext uri="{D42A27DB-BD31-4B8C-83A1-F6EECF244321}">
                <p14:modId xmlns:p14="http://schemas.microsoft.com/office/powerpoint/2010/main" val="3614711886"/>
              </p:ext>
            </p:extLst>
          </p:nvPr>
        </p:nvGraphicFramePr>
        <p:xfrm>
          <a:off x="7592907" y="2043462"/>
          <a:ext cx="382480" cy="359982"/>
        </p:xfrm>
        <a:graphic>
          <a:graphicData uri="http://schemas.openxmlformats.org/presentationml/2006/ole">
            <mc:AlternateContent xmlns:mc="http://schemas.openxmlformats.org/markup-compatibility/2006">
              <mc:Choice xmlns:v="urn:schemas-microsoft-com:vml" Requires="v">
                <p:oleObj spid="_x0000_s15731" name="Equation" r:id="rId5" imgW="215640" imgH="203040" progId="Equation.DSMT4">
                  <p:embed/>
                </p:oleObj>
              </mc:Choice>
              <mc:Fallback>
                <p:oleObj name="Equation" r:id="rId5" imgW="215640" imgH="203040" progId="Equation.DSMT4">
                  <p:embed/>
                  <p:pic>
                    <p:nvPicPr>
                      <p:cNvPr id="0" name=""/>
                      <p:cNvPicPr/>
                      <p:nvPr/>
                    </p:nvPicPr>
                    <p:blipFill>
                      <a:blip r:embed="rId6"/>
                      <a:stretch>
                        <a:fillRect/>
                      </a:stretch>
                    </p:blipFill>
                    <p:spPr>
                      <a:xfrm>
                        <a:off x="7592907" y="2043462"/>
                        <a:ext cx="382480" cy="359982"/>
                      </a:xfrm>
                      <a:prstGeom prst="rect">
                        <a:avLst/>
                      </a:prstGeom>
                    </p:spPr>
                  </p:pic>
                </p:oleObj>
              </mc:Fallback>
            </mc:AlternateContent>
          </a:graphicData>
        </a:graphic>
      </p:graphicFrame>
      <p:sp>
        <p:nvSpPr>
          <p:cNvPr id="7" name="Content Placeholder 6"/>
          <p:cNvSpPr>
            <a:spLocks noGrp="1"/>
          </p:cNvSpPr>
          <p:nvPr>
            <p:ph sz="quarter" idx="16"/>
          </p:nvPr>
        </p:nvSpPr>
        <p:spPr>
          <a:xfrm>
            <a:off x="457200" y="2526484"/>
            <a:ext cx="7636939" cy="403270"/>
          </a:xfrm>
        </p:spPr>
        <p:txBody>
          <a:bodyPr lIns="0" tIns="0" rIns="0" bIns="0"/>
          <a:lstStyle/>
          <a:p>
            <a:pPr lvl="1"/>
            <a:r>
              <a:rPr lang="en-US" dirty="0"/>
              <a:t>However, it cannot profitably operate in the export</a:t>
            </a:r>
            <a:endParaRPr lang="en-IN" dirty="0"/>
          </a:p>
        </p:txBody>
      </p:sp>
      <p:sp>
        <p:nvSpPr>
          <p:cNvPr id="8" name="Content Placeholder 7"/>
          <p:cNvSpPr>
            <a:spLocks noGrp="1"/>
          </p:cNvSpPr>
          <p:nvPr>
            <p:ph sz="quarter" idx="17"/>
          </p:nvPr>
        </p:nvSpPr>
        <p:spPr>
          <a:xfrm>
            <a:off x="454203" y="2987674"/>
            <a:ext cx="4865942" cy="403270"/>
          </a:xfrm>
        </p:spPr>
        <p:txBody>
          <a:bodyPr lIns="0" tIns="0" rIns="0" bIns="0"/>
          <a:lstStyle/>
          <a:p>
            <a:pPr marL="741600" lvl="1" indent="0">
              <a:buNone/>
            </a:pPr>
            <a:r>
              <a:rPr lang="en-US" dirty="0"/>
              <a:t>market because its cost there</a:t>
            </a:r>
            <a:endParaRPr lang="en-IN" dirty="0"/>
          </a:p>
        </p:txBody>
      </p:sp>
      <p:graphicFrame>
        <p:nvGraphicFramePr>
          <p:cNvPr id="20" name="Object 19" descr="c sub 2 + t"/>
          <p:cNvGraphicFramePr>
            <a:graphicFrameLocks noChangeAspect="1"/>
          </p:cNvGraphicFramePr>
          <p:nvPr>
            <p:extLst>
              <p:ext uri="{D42A27DB-BD31-4B8C-83A1-F6EECF244321}">
                <p14:modId xmlns:p14="http://schemas.microsoft.com/office/powerpoint/2010/main" val="3391777427"/>
              </p:ext>
            </p:extLst>
          </p:nvPr>
        </p:nvGraphicFramePr>
        <p:xfrm>
          <a:off x="5373995" y="2982427"/>
          <a:ext cx="742460" cy="445477"/>
        </p:xfrm>
        <a:graphic>
          <a:graphicData uri="http://schemas.openxmlformats.org/presentationml/2006/ole">
            <mc:AlternateContent xmlns:mc="http://schemas.openxmlformats.org/markup-compatibility/2006">
              <mc:Choice xmlns:v="urn:schemas-microsoft-com:vml" Requires="v">
                <p:oleObj spid="_x0000_s15732" name="Equation" r:id="rId7" imgW="380880" imgH="228600" progId="Equation.DSMT4">
                  <p:embed/>
                </p:oleObj>
              </mc:Choice>
              <mc:Fallback>
                <p:oleObj name="Equation" r:id="rId7" imgW="380880" imgH="228600" progId="Equation.DSMT4">
                  <p:embed/>
                  <p:pic>
                    <p:nvPicPr>
                      <p:cNvPr id="0" name=""/>
                      <p:cNvPicPr/>
                      <p:nvPr/>
                    </p:nvPicPr>
                    <p:blipFill>
                      <a:blip r:embed="rId8"/>
                      <a:stretch>
                        <a:fillRect/>
                      </a:stretch>
                    </p:blipFill>
                    <p:spPr>
                      <a:xfrm>
                        <a:off x="5373995" y="2982427"/>
                        <a:ext cx="742460" cy="445477"/>
                      </a:xfrm>
                      <a:prstGeom prst="rect">
                        <a:avLst/>
                      </a:prstGeom>
                    </p:spPr>
                  </p:pic>
                </p:oleObj>
              </mc:Fallback>
            </mc:AlternateContent>
          </a:graphicData>
        </a:graphic>
      </p:graphicFrame>
      <p:sp>
        <p:nvSpPr>
          <p:cNvPr id="9" name="Content Placeholder 8"/>
          <p:cNvSpPr>
            <a:spLocks noGrp="1"/>
          </p:cNvSpPr>
          <p:nvPr>
            <p:ph sz="quarter" idx="18"/>
          </p:nvPr>
        </p:nvSpPr>
        <p:spPr>
          <a:xfrm>
            <a:off x="6248011" y="2989920"/>
            <a:ext cx="1846128" cy="417144"/>
          </a:xfrm>
        </p:spPr>
        <p:txBody>
          <a:bodyPr lIns="0" tIns="0" rIns="0" bIns="0"/>
          <a:lstStyle/>
          <a:p>
            <a:pPr marL="0" lvl="1" indent="0">
              <a:buNone/>
            </a:pPr>
            <a:r>
              <a:rPr lang="en-US" dirty="0"/>
              <a:t>is above the</a:t>
            </a:r>
            <a:endParaRPr lang="en-IN" dirty="0"/>
          </a:p>
        </p:txBody>
      </p:sp>
      <p:sp>
        <p:nvSpPr>
          <p:cNvPr id="10" name="Content Placeholder 9"/>
          <p:cNvSpPr>
            <a:spLocks noGrp="1"/>
          </p:cNvSpPr>
          <p:nvPr>
            <p:ph sz="quarter" idx="19"/>
          </p:nvPr>
        </p:nvSpPr>
        <p:spPr>
          <a:xfrm>
            <a:off x="454203" y="3449111"/>
            <a:ext cx="2129434" cy="410370"/>
          </a:xfrm>
        </p:spPr>
        <p:txBody>
          <a:bodyPr lIns="0" tIns="0" rIns="0" bIns="0"/>
          <a:lstStyle/>
          <a:p>
            <a:pPr marL="741600" lvl="1" indent="0">
              <a:buNone/>
            </a:pPr>
            <a:r>
              <a:rPr lang="en-US" dirty="0"/>
              <a:t>threshold</a:t>
            </a:r>
            <a:endParaRPr lang="en-IN" dirty="0"/>
          </a:p>
        </p:txBody>
      </p:sp>
      <p:graphicFrame>
        <p:nvGraphicFramePr>
          <p:cNvPr id="21" name="Object 20" descr="c asterisk."/>
          <p:cNvGraphicFramePr>
            <a:graphicFrameLocks noChangeAspect="1"/>
          </p:cNvGraphicFramePr>
          <p:nvPr>
            <p:extLst>
              <p:ext uri="{D42A27DB-BD31-4B8C-83A1-F6EECF244321}">
                <p14:modId xmlns:p14="http://schemas.microsoft.com/office/powerpoint/2010/main" val="4140927947"/>
              </p:ext>
            </p:extLst>
          </p:nvPr>
        </p:nvGraphicFramePr>
        <p:xfrm>
          <a:off x="2672623" y="3425524"/>
          <a:ext cx="431663" cy="406271"/>
        </p:xfrm>
        <a:graphic>
          <a:graphicData uri="http://schemas.openxmlformats.org/presentationml/2006/ole">
            <mc:AlternateContent xmlns:mc="http://schemas.openxmlformats.org/markup-compatibility/2006">
              <mc:Choice xmlns:v="urn:schemas-microsoft-com:vml" Requires="v">
                <p:oleObj spid="_x0000_s15733" name="Equation" r:id="rId9" imgW="215640" imgH="203040" progId="Equation.DSMT4">
                  <p:embed/>
                </p:oleObj>
              </mc:Choice>
              <mc:Fallback>
                <p:oleObj name="Equation" r:id="rId9" imgW="215640" imgH="203040" progId="Equation.DSMT4">
                  <p:embed/>
                  <p:pic>
                    <p:nvPicPr>
                      <p:cNvPr id="0" name=""/>
                      <p:cNvPicPr/>
                      <p:nvPr/>
                    </p:nvPicPr>
                    <p:blipFill>
                      <a:blip r:embed="rId10"/>
                      <a:stretch>
                        <a:fillRect/>
                      </a:stretch>
                    </p:blipFill>
                    <p:spPr>
                      <a:xfrm>
                        <a:off x="2672623" y="3425524"/>
                        <a:ext cx="431663" cy="406271"/>
                      </a:xfrm>
                      <a:prstGeom prst="rect">
                        <a:avLst/>
                      </a:prstGeom>
                    </p:spPr>
                  </p:pic>
                </p:oleObj>
              </mc:Fallback>
            </mc:AlternateContent>
          </a:graphicData>
        </a:graphic>
      </p:graphicFrame>
      <p:sp>
        <p:nvSpPr>
          <p:cNvPr id="11" name="Content Placeholder 10"/>
          <p:cNvSpPr>
            <a:spLocks noGrp="1"/>
          </p:cNvSpPr>
          <p:nvPr>
            <p:ph sz="quarter" idx="20"/>
          </p:nvPr>
        </p:nvSpPr>
        <p:spPr>
          <a:xfrm>
            <a:off x="454204" y="3933374"/>
            <a:ext cx="8232596" cy="2411864"/>
          </a:xfrm>
        </p:spPr>
        <p:txBody>
          <a:bodyPr lIns="0" tIns="0" rIns="0" bIns="0"/>
          <a:lstStyle/>
          <a:p>
            <a:pPr>
              <a:spcBef>
                <a:spcPts val="1000"/>
              </a:spcBef>
            </a:pPr>
            <a:r>
              <a:rPr lang="en-US" dirty="0"/>
              <a:t>Firm 1 has a low enough cost that it profitably operates in both the domestic and the export markets.</a:t>
            </a:r>
          </a:p>
          <a:p>
            <a:pPr>
              <a:spcBef>
                <a:spcPts val="1000"/>
              </a:spcBef>
            </a:pPr>
            <a:r>
              <a:rPr lang="en-US" dirty="0"/>
              <a:t>Overall, the lowest-cost firms export; the higher-cost firms produce for their domestic market but do not export; the highest-cost firms cannot profitably operate in either market and thus exit.</a:t>
            </a:r>
            <a:endParaRPr lang="en-IN" sz="2200" dirty="0"/>
          </a:p>
        </p:txBody>
      </p:sp>
    </p:spTree>
    <p:extLst>
      <p:ext uri="{BB962C8B-B14F-4D97-AF65-F5344CB8AC3E}">
        <p14:creationId xmlns:p14="http://schemas.microsoft.com/office/powerpoint/2010/main" val="63170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8.8 Export Decisions with Trade Costs</a:t>
            </a:r>
            <a:endParaRPr lang="en-IN" sz="3200" dirty="0"/>
          </a:p>
        </p:txBody>
      </p:sp>
      <p:pic>
        <p:nvPicPr>
          <p:cNvPr id="4" name="Content Placeholder 3" descr="Graph ay and b plot cost, C and price, P versus quantity.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54582" y="1566647"/>
            <a:ext cx="6434837" cy="3019424"/>
          </a:xfrm>
        </p:spPr>
      </p:pic>
      <p:sp>
        <p:nvSpPr>
          <p:cNvPr id="5" name="Content Placeholder 4"/>
          <p:cNvSpPr>
            <a:spLocks noGrp="1"/>
          </p:cNvSpPr>
          <p:nvPr>
            <p:ph sz="quarter" idx="14"/>
          </p:nvPr>
        </p:nvSpPr>
        <p:spPr>
          <a:xfrm>
            <a:off x="457200" y="4692534"/>
            <a:ext cx="8229600" cy="1645920"/>
          </a:xfrm>
        </p:spPr>
        <p:txBody>
          <a:bodyPr/>
          <a:lstStyle/>
          <a:p>
            <a:pPr marL="432" indent="0">
              <a:buNone/>
            </a:pPr>
            <a:r>
              <a:rPr lang="en-US" dirty="0"/>
              <a:t>(a) Firms 1 and 2 both operate in their domestic (Home) market. (b) Only firm 1 chooses to export to the Foreign market. It is not profitable for firm 2 to export given the trade cost </a:t>
            </a:r>
            <a:r>
              <a:rPr lang="en-US" i="1" dirty="0"/>
              <a:t>t</a:t>
            </a:r>
            <a:r>
              <a:rPr lang="en-US" dirty="0"/>
              <a:t>.</a:t>
            </a:r>
            <a:endParaRPr lang="en-IN" dirty="0"/>
          </a:p>
        </p:txBody>
      </p:sp>
    </p:spTree>
    <p:extLst>
      <p:ext uri="{BB962C8B-B14F-4D97-AF65-F5344CB8AC3E}">
        <p14:creationId xmlns:p14="http://schemas.microsoft.com/office/powerpoint/2010/main" val="1627836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Dumping </a:t>
            </a:r>
            <a:r>
              <a:rPr lang="en-US" altLang="en-US" sz="2000" b="0" dirty="0"/>
              <a:t>(1 of 2)</a:t>
            </a:r>
            <a:endParaRPr lang="en-IN" dirty="0"/>
          </a:p>
        </p:txBody>
      </p:sp>
      <p:sp>
        <p:nvSpPr>
          <p:cNvPr id="3" name="Content Placeholder 2"/>
          <p:cNvSpPr>
            <a:spLocks noGrp="1"/>
          </p:cNvSpPr>
          <p:nvPr>
            <p:ph sz="quarter" idx="13"/>
          </p:nvPr>
        </p:nvSpPr>
        <p:spPr/>
        <p:txBody>
          <a:bodyPr/>
          <a:lstStyle/>
          <a:p>
            <a:pPr>
              <a:spcBef>
                <a:spcPct val="50000"/>
              </a:spcBef>
            </a:pPr>
            <a:r>
              <a:rPr lang="en-US" altLang="en-US" b="1" dirty="0"/>
              <a:t>Dumping</a:t>
            </a:r>
            <a:r>
              <a:rPr lang="en-US" altLang="en-US" dirty="0"/>
              <a:t> is the practice of charging a lower price for exported goods than for goods sold domestically.</a:t>
            </a:r>
          </a:p>
          <a:p>
            <a:pPr>
              <a:spcBef>
                <a:spcPct val="50000"/>
              </a:spcBef>
            </a:pPr>
            <a:r>
              <a:rPr lang="en-US" altLang="en-US" dirty="0"/>
              <a:t>Dumping is an example of </a:t>
            </a:r>
            <a:r>
              <a:rPr lang="en-US" altLang="en-US" b="1" dirty="0"/>
              <a:t>price </a:t>
            </a:r>
            <a:r>
              <a:rPr lang="en-US" altLang="en-US" b="1" dirty="0" smtClean="0"/>
              <a:t>discrimination</a:t>
            </a:r>
            <a:r>
              <a:rPr lang="en-US" altLang="en-US" dirty="0" smtClean="0"/>
              <a:t>: the </a:t>
            </a:r>
            <a:r>
              <a:rPr lang="en-US" altLang="en-US" dirty="0"/>
              <a:t>practice of charging different customers different prices.</a:t>
            </a:r>
          </a:p>
          <a:p>
            <a:pPr>
              <a:spcBef>
                <a:spcPct val="50000"/>
              </a:spcBef>
            </a:pPr>
            <a:r>
              <a:rPr lang="en-US" altLang="en-US" dirty="0"/>
              <a:t>Price discrimination and dumping may occur only if</a:t>
            </a:r>
          </a:p>
          <a:p>
            <a:pPr lvl="1"/>
            <a:r>
              <a:rPr lang="en-US" altLang="en-US" b="1" dirty="0"/>
              <a:t>imperfect competition</a:t>
            </a:r>
            <a:r>
              <a:rPr lang="en-US" altLang="en-US" i="1" dirty="0"/>
              <a:t> </a:t>
            </a:r>
            <a:r>
              <a:rPr lang="en-US" altLang="en-US" dirty="0"/>
              <a:t>exists: firms are able to influence market prices.</a:t>
            </a:r>
          </a:p>
          <a:p>
            <a:pPr lvl="1"/>
            <a:r>
              <a:rPr lang="en-US" altLang="en-US" b="1" dirty="0"/>
              <a:t>markets are segmented</a:t>
            </a:r>
            <a:r>
              <a:rPr lang="en-US" altLang="en-US" dirty="0"/>
              <a:t> so that goods are not easily bought in one market and resold in another.</a:t>
            </a:r>
            <a:endParaRPr lang="en-IN" dirty="0"/>
          </a:p>
        </p:txBody>
      </p:sp>
    </p:spTree>
    <p:extLst>
      <p:ext uri="{BB962C8B-B14F-4D97-AF65-F5344CB8AC3E}">
        <p14:creationId xmlns:p14="http://schemas.microsoft.com/office/powerpoint/2010/main" val="18417209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Dumping </a:t>
            </a:r>
            <a:r>
              <a:rPr lang="en-US" altLang="en-US" sz="2000" b="0" dirty="0" smtClean="0"/>
              <a:t>(2 of 2)</a:t>
            </a:r>
            <a:endParaRPr lang="en-US" dirty="0"/>
          </a:p>
        </p:txBody>
      </p:sp>
      <p:sp>
        <p:nvSpPr>
          <p:cNvPr id="3" name="Content Placeholder 2"/>
          <p:cNvSpPr>
            <a:spLocks noGrp="1"/>
          </p:cNvSpPr>
          <p:nvPr>
            <p:ph sz="quarter" idx="13"/>
          </p:nvPr>
        </p:nvSpPr>
        <p:spPr/>
        <p:txBody>
          <a:bodyPr/>
          <a:lstStyle/>
          <a:p>
            <a:r>
              <a:rPr lang="en-US" altLang="en-US" dirty="0" smtClean="0"/>
              <a:t>Dumping can be a profit-maximizing strategy:</a:t>
            </a:r>
          </a:p>
          <a:p>
            <a:pPr lvl="1"/>
            <a:r>
              <a:rPr lang="en-US" altLang="en-US" dirty="0" smtClean="0"/>
              <a:t>A firm with a higher marginal cost chooses to set a lower markup over marginal cost.</a:t>
            </a:r>
          </a:p>
          <a:p>
            <a:pPr lvl="1"/>
            <a:r>
              <a:rPr lang="en-US" altLang="en-US" dirty="0" smtClean="0"/>
              <a:t>Therefore, an exporting firm will respond to the trade cost by lowering its markup for the export market.</a:t>
            </a:r>
          </a:p>
          <a:p>
            <a:pPr lvl="1"/>
            <a:r>
              <a:rPr lang="en-US" altLang="en-US" dirty="0" smtClean="0"/>
              <a:t>This strategy is considered to be </a:t>
            </a:r>
            <a:r>
              <a:rPr lang="en-US" altLang="en-US" b="1" dirty="0" smtClean="0"/>
              <a:t>dumping</a:t>
            </a:r>
            <a:r>
              <a:rPr lang="en-US" altLang="en-US" dirty="0" smtClean="0"/>
              <a:t>, regarded by most countries as an “</a:t>
            </a:r>
            <a:r>
              <a:rPr lang="en-US" altLang="ja-JP" dirty="0" smtClean="0"/>
              <a:t>unfair” trade practice.</a:t>
            </a:r>
            <a:endParaRPr lang="en-US" dirty="0"/>
          </a:p>
        </p:txBody>
      </p:sp>
    </p:spTree>
    <p:extLst>
      <p:ext uri="{BB962C8B-B14F-4D97-AF65-F5344CB8AC3E}">
        <p14:creationId xmlns:p14="http://schemas.microsoft.com/office/powerpoint/2010/main" val="3130423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Protectionism and Dumping </a:t>
            </a:r>
            <a:r>
              <a:rPr lang="en-US" altLang="en-US" sz="2000" b="0" dirty="0" smtClean="0"/>
              <a:t>(1 of 5)</a:t>
            </a:r>
            <a:endParaRPr lang="en-US" dirty="0"/>
          </a:p>
        </p:txBody>
      </p:sp>
      <p:sp>
        <p:nvSpPr>
          <p:cNvPr id="3" name="Content Placeholder 2"/>
          <p:cNvSpPr>
            <a:spLocks noGrp="1"/>
          </p:cNvSpPr>
          <p:nvPr>
            <p:ph sz="quarter" idx="13"/>
          </p:nvPr>
        </p:nvSpPr>
        <p:spPr/>
        <p:txBody>
          <a:bodyPr/>
          <a:lstStyle/>
          <a:p>
            <a:r>
              <a:rPr lang="en-US" altLang="en-US" sz="2200" dirty="0" smtClean="0"/>
              <a:t>A U.S. firm may appeal to the Commerce Department to investigate if dumping by foreign firms has injured the U.S. firm.</a:t>
            </a:r>
          </a:p>
          <a:p>
            <a:pPr lvl="1"/>
            <a:r>
              <a:rPr lang="en-US" altLang="en-US" sz="2200" dirty="0" smtClean="0"/>
              <a:t>The Commerce Department may impose an </a:t>
            </a:r>
            <a:r>
              <a:rPr lang="en-US" altLang="ja-JP" sz="2200" dirty="0" smtClean="0"/>
              <a:t>“anti-dumping duty” (tax) to protect the U.S. firm.</a:t>
            </a:r>
          </a:p>
          <a:p>
            <a:pPr lvl="1"/>
            <a:r>
              <a:rPr lang="en-US" altLang="en-US" sz="2200" dirty="0" smtClean="0"/>
              <a:t>Tax equals the difference between the actual and </a:t>
            </a:r>
            <a:r>
              <a:rPr lang="en-US" altLang="ja-JP" sz="2200" dirty="0" smtClean="0"/>
              <a:t>“fair” price of imports, where “fair” means “price the product is normally sold at in the manufacturer</a:t>
            </a:r>
            <a:r>
              <a:rPr lang="en-US" altLang="ja-JP" sz="2200" dirty="0" smtClean="0">
                <a:solidFill>
                  <a:schemeClr val="tx1"/>
                </a:solidFill>
              </a:rPr>
              <a:t>’</a:t>
            </a:r>
            <a:r>
              <a:rPr lang="en-US" altLang="ja-JP" sz="2200" dirty="0" smtClean="0"/>
              <a:t>s domestic market.”</a:t>
            </a:r>
            <a:endParaRPr lang="en-US" sz="2200" dirty="0"/>
          </a:p>
        </p:txBody>
      </p:sp>
    </p:spTree>
    <p:extLst>
      <p:ext uri="{BB962C8B-B14F-4D97-AF65-F5344CB8AC3E}">
        <p14:creationId xmlns:p14="http://schemas.microsoft.com/office/powerpoint/2010/main" val="24686735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Protectionism and Dumping </a:t>
            </a:r>
            <a:r>
              <a:rPr lang="en-US" altLang="en-US" sz="2000" b="0" dirty="0"/>
              <a:t>(2 of 5)</a:t>
            </a:r>
            <a:endParaRPr lang="en-IN" dirty="0"/>
          </a:p>
        </p:txBody>
      </p:sp>
      <p:sp>
        <p:nvSpPr>
          <p:cNvPr id="3" name="Content Placeholder 2"/>
          <p:cNvSpPr>
            <a:spLocks noGrp="1"/>
          </p:cNvSpPr>
          <p:nvPr>
            <p:ph sz="quarter" idx="13"/>
          </p:nvPr>
        </p:nvSpPr>
        <p:spPr/>
        <p:txBody>
          <a:bodyPr/>
          <a:lstStyle/>
          <a:p>
            <a:r>
              <a:rPr lang="en-US" altLang="en-US" dirty="0"/>
              <a:t>Next, the International Trade Commission (I</a:t>
            </a:r>
            <a:r>
              <a:rPr lang="en-US" altLang="en-US" sz="100" dirty="0"/>
              <a:t> </a:t>
            </a:r>
            <a:r>
              <a:rPr lang="en-US" altLang="en-US" dirty="0"/>
              <a:t>T</a:t>
            </a:r>
            <a:r>
              <a:rPr lang="en-US" altLang="en-US" sz="100" dirty="0"/>
              <a:t> </a:t>
            </a:r>
            <a:r>
              <a:rPr lang="en-US" altLang="en-US" dirty="0"/>
              <a:t>C) determines if injury to the U.S. firm has occurred or is likely to occur</a:t>
            </a:r>
            <a:r>
              <a:rPr lang="en-US" altLang="en-US" dirty="0" smtClean="0"/>
              <a:t>.</a:t>
            </a:r>
            <a:endParaRPr lang="en-US" altLang="en-US" dirty="0"/>
          </a:p>
          <a:p>
            <a:r>
              <a:rPr lang="en-US" altLang="en-US" dirty="0"/>
              <a:t>If the I</a:t>
            </a:r>
            <a:r>
              <a:rPr lang="en-US" altLang="en-US" sz="100" dirty="0"/>
              <a:t> </a:t>
            </a:r>
            <a:r>
              <a:rPr lang="en-US" altLang="en-US" dirty="0"/>
              <a:t>T</a:t>
            </a:r>
            <a:r>
              <a:rPr lang="en-US" altLang="en-US" sz="100" dirty="0"/>
              <a:t> </a:t>
            </a:r>
            <a:r>
              <a:rPr lang="en-US" altLang="en-US" dirty="0"/>
              <a:t>C determines that injury has occurred or is likely to occur, the antidumping duty remains in place.</a:t>
            </a:r>
            <a:endParaRPr lang="en-IN" dirty="0"/>
          </a:p>
        </p:txBody>
      </p:sp>
    </p:spTree>
    <p:extLst>
      <p:ext uri="{BB962C8B-B14F-4D97-AF65-F5344CB8AC3E}">
        <p14:creationId xmlns:p14="http://schemas.microsoft.com/office/powerpoint/2010/main" val="39726929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Protectionism and Dumping </a:t>
            </a:r>
            <a:r>
              <a:rPr lang="en-US" altLang="en-US" sz="2000" b="0" dirty="0"/>
              <a:t>(3 of 5)</a:t>
            </a:r>
            <a:endParaRPr lang="en-IN" dirty="0"/>
          </a:p>
        </p:txBody>
      </p:sp>
      <p:sp>
        <p:nvSpPr>
          <p:cNvPr id="3" name="Content Placeholder 2"/>
          <p:cNvSpPr>
            <a:spLocks noGrp="1"/>
          </p:cNvSpPr>
          <p:nvPr>
            <p:ph sz="quarter" idx="13"/>
          </p:nvPr>
        </p:nvSpPr>
        <p:spPr/>
        <p:txBody>
          <a:bodyPr/>
          <a:lstStyle/>
          <a:p>
            <a:r>
              <a:rPr lang="en-US" altLang="en-US" sz="2200" dirty="0"/>
              <a:t>Most economists believe that the enforcement of dumping claims is misguided.</a:t>
            </a:r>
          </a:p>
          <a:p>
            <a:pPr lvl="1"/>
            <a:r>
              <a:rPr lang="en-US" altLang="en-US" sz="2200" dirty="0"/>
              <a:t>Trade costs have a natural tendency to induce firms to lower their markups in export markets.</a:t>
            </a:r>
          </a:p>
          <a:p>
            <a:pPr lvl="1"/>
            <a:r>
              <a:rPr lang="en-US" altLang="en-US" sz="2200" dirty="0"/>
              <a:t>Such enforcement may be used excessively as an excuse for protectionism.</a:t>
            </a:r>
          </a:p>
          <a:p>
            <a:pPr>
              <a:spcBef>
                <a:spcPts val="600"/>
              </a:spcBef>
            </a:pPr>
            <a:r>
              <a:rPr lang="en-US" sz="2200" dirty="0"/>
              <a:t>In the early 1990s, the bulk of antidumping complaints were directed at developed countries</a:t>
            </a:r>
            <a:r>
              <a:rPr lang="en-US" sz="2200" dirty="0" smtClean="0"/>
              <a:t>.</a:t>
            </a:r>
            <a:endParaRPr lang="en-US" sz="2200" dirty="0"/>
          </a:p>
          <a:p>
            <a:pPr lvl="1"/>
            <a:r>
              <a:rPr lang="en-US" sz="2200" dirty="0"/>
              <a:t>But since 1995, developing countries have accounted for the majority of antidumping complaints</a:t>
            </a:r>
            <a:r>
              <a:rPr lang="en-US" sz="2200" dirty="0" smtClean="0"/>
              <a:t>.</a:t>
            </a:r>
            <a:endParaRPr lang="en-US" sz="2200" dirty="0"/>
          </a:p>
          <a:p>
            <a:pPr lvl="1"/>
            <a:r>
              <a:rPr lang="en-US" sz="2200" dirty="0"/>
              <a:t>Among those countries, China has attracted a particularly large number of complaints.</a:t>
            </a:r>
            <a:endParaRPr lang="en-IN" sz="2200" dirty="0"/>
          </a:p>
        </p:txBody>
      </p:sp>
    </p:spTree>
    <p:extLst>
      <p:ext uri="{BB962C8B-B14F-4D97-AF65-F5344CB8AC3E}">
        <p14:creationId xmlns:p14="http://schemas.microsoft.com/office/powerpoint/2010/main" val="731925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Protectionism and Dumping </a:t>
            </a:r>
            <a:r>
              <a:rPr lang="en-US" altLang="en-US" sz="2000" b="0" dirty="0"/>
              <a:t>(4 of 5)</a:t>
            </a:r>
            <a:endParaRPr lang="en-IN" dirty="0"/>
          </a:p>
        </p:txBody>
      </p:sp>
      <p:sp>
        <p:nvSpPr>
          <p:cNvPr id="3" name="Content Placeholder 2"/>
          <p:cNvSpPr>
            <a:spLocks noGrp="1"/>
          </p:cNvSpPr>
          <p:nvPr>
            <p:ph sz="quarter" idx="13"/>
          </p:nvPr>
        </p:nvSpPr>
        <p:spPr/>
        <p:txBody>
          <a:bodyPr/>
          <a:lstStyle/>
          <a:p>
            <a:r>
              <a:rPr lang="en-US" altLang="en-US" sz="2200" dirty="0"/>
              <a:t>A nonmarket economy with substantial export growth, </a:t>
            </a:r>
            <a:r>
              <a:rPr lang="en-US" sz="2200" dirty="0"/>
              <a:t>China has been subject to antidumping duties on:</a:t>
            </a:r>
          </a:p>
          <a:p>
            <a:pPr lvl="1"/>
            <a:r>
              <a:rPr lang="en-US" sz="2200" dirty="0"/>
              <a:t>T</a:t>
            </a:r>
            <a:r>
              <a:rPr lang="en-US" sz="100" dirty="0"/>
              <a:t> </a:t>
            </a:r>
            <a:r>
              <a:rPr lang="en-US" sz="2200" dirty="0" smtClean="0"/>
              <a:t>Vs</a:t>
            </a:r>
            <a:r>
              <a:rPr lang="en-US" sz="2200" dirty="0"/>
              <a:t>, furniture, crepe paper, hand trucks, shrimp, ironing tables, plastic shopping bags, iron pipe fittings, saccharin, solar panels, tires, and cold-rolled steel</a:t>
            </a:r>
            <a:r>
              <a:rPr lang="en-US" sz="2200" dirty="0" smtClean="0"/>
              <a:t>.</a:t>
            </a:r>
            <a:endParaRPr lang="en-US" sz="2200" dirty="0"/>
          </a:p>
          <a:p>
            <a:r>
              <a:rPr lang="en-US" sz="2200" dirty="0"/>
              <a:t>These duties are as high as 78% on color T</a:t>
            </a:r>
            <a:r>
              <a:rPr lang="en-US" sz="100" dirty="0"/>
              <a:t> </a:t>
            </a:r>
            <a:r>
              <a:rPr lang="en-US" sz="2200" dirty="0" smtClean="0"/>
              <a:t>Vs</a:t>
            </a:r>
            <a:r>
              <a:rPr lang="en-US" sz="2200" dirty="0"/>
              <a:t>, 266% for cold-rolled steel, and 330% on saccharin.</a:t>
            </a:r>
          </a:p>
          <a:p>
            <a:pPr lvl="1"/>
            <a:r>
              <a:rPr lang="en-US" sz="2200" dirty="0"/>
              <a:t>Chinese cost data likely distorted by subsidized loans, rigged markets, and the controlled yuan</a:t>
            </a:r>
            <a:r>
              <a:rPr lang="en-US" sz="2200" dirty="0" smtClean="0"/>
              <a:t>.</a:t>
            </a:r>
            <a:endParaRPr lang="en-US" sz="2200" dirty="0"/>
          </a:p>
          <a:p>
            <a:pPr lvl="1"/>
            <a:r>
              <a:rPr lang="en-US" sz="2200" dirty="0"/>
              <a:t>Data from other developing nations regarded as market economies used instead.</a:t>
            </a:r>
            <a:endParaRPr lang="en-IN" sz="2200" dirty="0"/>
          </a:p>
        </p:txBody>
      </p:sp>
    </p:spTree>
    <p:extLst>
      <p:ext uri="{BB962C8B-B14F-4D97-AF65-F5344CB8AC3E}">
        <p14:creationId xmlns:p14="http://schemas.microsoft.com/office/powerpoint/2010/main" val="38828918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Protectionism and Dumping </a:t>
            </a:r>
            <a:r>
              <a:rPr lang="en-US" altLang="en-US" sz="2000" b="0" dirty="0"/>
              <a:t>(5 of 5)</a:t>
            </a:r>
            <a:endParaRPr lang="en-IN" dirty="0"/>
          </a:p>
        </p:txBody>
      </p:sp>
      <p:sp>
        <p:nvSpPr>
          <p:cNvPr id="3" name="Content Placeholder 2"/>
          <p:cNvSpPr>
            <a:spLocks noGrp="1"/>
          </p:cNvSpPr>
          <p:nvPr>
            <p:ph sz="quarter" idx="13"/>
          </p:nvPr>
        </p:nvSpPr>
        <p:spPr/>
        <p:txBody>
          <a:bodyPr/>
          <a:lstStyle/>
          <a:p>
            <a:r>
              <a:rPr lang="en-US" sz="2200" dirty="0"/>
              <a:t>Because antidumping protection is directed at a particular firm producing in a given country, often circumvented by firms switching production location or new firms that were not originally targeted by the antidumping filing</a:t>
            </a:r>
            <a:r>
              <a:rPr lang="en-US" sz="2200" dirty="0" smtClean="0"/>
              <a:t>.</a:t>
            </a:r>
            <a:endParaRPr lang="en-US" sz="2200" dirty="0"/>
          </a:p>
          <a:p>
            <a:pPr lvl="1"/>
            <a:r>
              <a:rPr lang="en-US" sz="2200" dirty="0"/>
              <a:t>When U.S. tire manufacturers successfully lobbied for antidumping duties on Chinese tires in 2009, production shifted to South Korea, Thailand, and Indonesia. Exports from those countries doubled, offsetting the decrease in tire imports from China.</a:t>
            </a:r>
          </a:p>
          <a:p>
            <a:pPr lvl="1"/>
            <a:r>
              <a:rPr lang="en-US" sz="2200" dirty="0"/>
              <a:t>Similarly L</a:t>
            </a:r>
            <a:r>
              <a:rPr lang="en-US" sz="100" dirty="0"/>
              <a:t> </a:t>
            </a:r>
            <a:r>
              <a:rPr lang="en-US" sz="2200" dirty="0"/>
              <a:t>G and Samsung moved washing machine production from Korea to China and then Vietnam and Thailand to avoid paying antidumping duties.</a:t>
            </a:r>
            <a:endParaRPr lang="en-IN" sz="2200" dirty="0"/>
          </a:p>
        </p:txBody>
      </p:sp>
    </p:spTree>
    <p:extLst>
      <p:ext uri="{BB962C8B-B14F-4D97-AF65-F5344CB8AC3E}">
        <p14:creationId xmlns:p14="http://schemas.microsoft.com/office/powerpoint/2010/main" val="373859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Multinationals and Outsourcing </a:t>
            </a:r>
            <a:r>
              <a:rPr lang="en-US" altLang="en-US" sz="2000" b="0" dirty="0"/>
              <a:t>(1 of 6)</a:t>
            </a:r>
            <a:endParaRPr lang="en-IN" dirty="0"/>
          </a:p>
        </p:txBody>
      </p:sp>
      <p:sp>
        <p:nvSpPr>
          <p:cNvPr id="3" name="Content Placeholder 2"/>
          <p:cNvSpPr>
            <a:spLocks noGrp="1"/>
          </p:cNvSpPr>
          <p:nvPr>
            <p:ph sz="quarter" idx="13"/>
          </p:nvPr>
        </p:nvSpPr>
        <p:spPr>
          <a:xfrm>
            <a:off x="457200" y="1556326"/>
            <a:ext cx="8229600" cy="4788911"/>
          </a:xfrm>
        </p:spPr>
        <p:txBody>
          <a:bodyPr/>
          <a:lstStyle/>
          <a:p>
            <a:r>
              <a:rPr lang="en-US" altLang="en-US" b="1" dirty="0"/>
              <a:t>Foreign direct investment</a:t>
            </a:r>
            <a:r>
              <a:rPr lang="en-US" altLang="en-US" dirty="0"/>
              <a:t> refers to investment in which a firm in one country </a:t>
            </a:r>
            <a:r>
              <a:rPr lang="en-US" altLang="en-US" b="1" dirty="0"/>
              <a:t>directly controls or owns</a:t>
            </a:r>
            <a:r>
              <a:rPr lang="en-US" altLang="en-US" dirty="0"/>
              <a:t> a subsidiary in another country.</a:t>
            </a:r>
          </a:p>
          <a:p>
            <a:r>
              <a:rPr lang="en-US" altLang="en-US" dirty="0"/>
              <a:t>If a foreign company invests in at least 10% of the stock in a subsidiary, the two firms are typically classified as a </a:t>
            </a:r>
            <a:r>
              <a:rPr lang="en-US" altLang="en-US" b="1" dirty="0"/>
              <a:t>multinational corporation</a:t>
            </a:r>
            <a:r>
              <a:rPr lang="en-US" altLang="en-US" dirty="0"/>
              <a:t>.</a:t>
            </a:r>
          </a:p>
          <a:p>
            <a:pPr lvl="1"/>
            <a:r>
              <a:rPr lang="en-US" altLang="en-US" dirty="0"/>
              <a:t>10% or more of ownership in stock is deemed to be sufficient for direct control of business operations</a:t>
            </a:r>
            <a:r>
              <a:rPr lang="en-US" altLang="en-US" dirty="0" smtClean="0"/>
              <a:t>.</a:t>
            </a:r>
            <a:endParaRPr lang="en-US" altLang="en-US" dirty="0"/>
          </a:p>
          <a:p>
            <a:r>
              <a:rPr lang="en-US" dirty="0"/>
              <a:t>The controlling (owning) firm is called the </a:t>
            </a:r>
            <a:r>
              <a:rPr lang="en-US" b="1" dirty="0"/>
              <a:t>multinational parent</a:t>
            </a:r>
            <a:r>
              <a:rPr lang="en-US" dirty="0"/>
              <a:t>, while the “controlled” firms are called the </a:t>
            </a:r>
            <a:r>
              <a:rPr lang="en-US" b="1" dirty="0"/>
              <a:t>multinational affiliates</a:t>
            </a:r>
            <a:r>
              <a:rPr lang="en-US" dirty="0"/>
              <a:t>.</a:t>
            </a:r>
            <a:endParaRPr lang="en-IN" dirty="0"/>
          </a:p>
        </p:txBody>
      </p:sp>
    </p:spTree>
    <p:extLst>
      <p:ext uri="{BB962C8B-B14F-4D97-AF65-F5344CB8AC3E}">
        <p14:creationId xmlns:p14="http://schemas.microsoft.com/office/powerpoint/2010/main" val="497811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Multinationals and Outsourcing </a:t>
            </a:r>
            <a:r>
              <a:rPr lang="en-US" altLang="en-US" sz="2000" b="0" dirty="0"/>
              <a:t>(2 of 6)</a:t>
            </a:r>
            <a:endParaRPr lang="en-IN" dirty="0"/>
          </a:p>
        </p:txBody>
      </p:sp>
      <p:sp>
        <p:nvSpPr>
          <p:cNvPr id="3" name="Content Placeholder 2"/>
          <p:cNvSpPr>
            <a:spLocks noGrp="1"/>
          </p:cNvSpPr>
          <p:nvPr>
            <p:ph sz="quarter" idx="13"/>
          </p:nvPr>
        </p:nvSpPr>
        <p:spPr/>
        <p:txBody>
          <a:bodyPr/>
          <a:lstStyle/>
          <a:p>
            <a:r>
              <a:rPr lang="en-US" altLang="en-US" b="1" dirty="0"/>
              <a:t>Greenfield </a:t>
            </a:r>
            <a:r>
              <a:rPr lang="en-US" altLang="en-US" dirty="0"/>
              <a:t>F</a:t>
            </a:r>
            <a:r>
              <a:rPr lang="en-US" altLang="en-US" sz="100" dirty="0"/>
              <a:t> </a:t>
            </a:r>
            <a:r>
              <a:rPr lang="en-US" altLang="en-US" dirty="0"/>
              <a:t>D</a:t>
            </a:r>
            <a:r>
              <a:rPr lang="en-US" altLang="en-US" sz="100" dirty="0"/>
              <a:t> </a:t>
            </a:r>
            <a:r>
              <a:rPr lang="en-US" altLang="en-US" dirty="0"/>
              <a:t>I is when a company builds a new production facility abroad.</a:t>
            </a:r>
          </a:p>
          <a:p>
            <a:r>
              <a:rPr lang="en-US" altLang="en-US" b="1" dirty="0"/>
              <a:t>Brownfield</a:t>
            </a:r>
            <a:r>
              <a:rPr lang="en-US" altLang="en-US" i="1" dirty="0"/>
              <a:t> </a:t>
            </a:r>
            <a:r>
              <a:rPr lang="en-US" altLang="en-US" dirty="0"/>
              <a:t>F</a:t>
            </a:r>
            <a:r>
              <a:rPr lang="en-US" altLang="en-US" sz="100" dirty="0"/>
              <a:t> </a:t>
            </a:r>
            <a:r>
              <a:rPr lang="en-US" altLang="en-US" dirty="0"/>
              <a:t>D</a:t>
            </a:r>
            <a:r>
              <a:rPr lang="en-US" altLang="en-US" sz="100" dirty="0"/>
              <a:t> </a:t>
            </a:r>
            <a:r>
              <a:rPr lang="en-US" altLang="en-US" dirty="0"/>
              <a:t>I (or cross-border mergers and acquisitions) is when a domestic firm buys a controlling stake in a foreign firm.</a:t>
            </a:r>
          </a:p>
          <a:p>
            <a:r>
              <a:rPr lang="en-US" altLang="en-US" dirty="0"/>
              <a:t>Greenfield F</a:t>
            </a:r>
            <a:r>
              <a:rPr lang="en-US" altLang="en-US" sz="100" dirty="0"/>
              <a:t> </a:t>
            </a:r>
            <a:r>
              <a:rPr lang="en-US" altLang="en-US" dirty="0"/>
              <a:t>D</a:t>
            </a:r>
            <a:r>
              <a:rPr lang="en-US" altLang="en-US" sz="100" dirty="0"/>
              <a:t> </a:t>
            </a:r>
            <a:r>
              <a:rPr lang="en-US" altLang="en-US" dirty="0"/>
              <a:t>I has tended to be more stable, while cross-border mergers and acquisitions tend to occur in surges.</a:t>
            </a:r>
            <a:endParaRPr lang="en-IN" dirty="0"/>
          </a:p>
        </p:txBody>
      </p:sp>
    </p:spTree>
    <p:extLst>
      <p:ext uri="{BB962C8B-B14F-4D97-AF65-F5344CB8AC3E}">
        <p14:creationId xmlns:p14="http://schemas.microsoft.com/office/powerpoint/2010/main" val="1455903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Multinationals and Outsourcing </a:t>
            </a:r>
            <a:r>
              <a:rPr lang="en-US" altLang="en-US" sz="2000" b="0" dirty="0"/>
              <a:t>(3 of 6)</a:t>
            </a:r>
            <a:endParaRPr lang="en-IN" dirty="0"/>
          </a:p>
        </p:txBody>
      </p:sp>
      <p:sp>
        <p:nvSpPr>
          <p:cNvPr id="3" name="Content Placeholder 2"/>
          <p:cNvSpPr>
            <a:spLocks noGrp="1"/>
          </p:cNvSpPr>
          <p:nvPr>
            <p:ph sz="quarter" idx="13"/>
          </p:nvPr>
        </p:nvSpPr>
        <p:spPr/>
        <p:txBody>
          <a:bodyPr/>
          <a:lstStyle/>
          <a:p>
            <a:pPr>
              <a:lnSpc>
                <a:spcPct val="90000"/>
              </a:lnSpc>
            </a:pPr>
            <a:r>
              <a:rPr lang="en-US" altLang="en-US" dirty="0"/>
              <a:t>Developed countries have been the biggest recipients of inward F</a:t>
            </a:r>
            <a:r>
              <a:rPr lang="en-US" altLang="en-US" sz="100" dirty="0"/>
              <a:t> </a:t>
            </a:r>
            <a:r>
              <a:rPr lang="en-US" altLang="en-US" dirty="0"/>
              <a:t>D</a:t>
            </a:r>
            <a:r>
              <a:rPr lang="en-US" altLang="en-US" sz="100" dirty="0"/>
              <a:t> </a:t>
            </a:r>
            <a:r>
              <a:rPr lang="en-US" altLang="en-US" dirty="0"/>
              <a:t>I.</a:t>
            </a:r>
          </a:p>
          <a:p>
            <a:pPr lvl="1">
              <a:lnSpc>
                <a:spcPct val="90000"/>
              </a:lnSpc>
            </a:pPr>
            <a:r>
              <a:rPr lang="en-US" altLang="en-US" dirty="0"/>
              <a:t>much more volatile than F</a:t>
            </a:r>
            <a:r>
              <a:rPr lang="en-US" altLang="en-US" sz="100" dirty="0"/>
              <a:t> </a:t>
            </a:r>
            <a:r>
              <a:rPr lang="en-US" altLang="en-US" dirty="0"/>
              <a:t>D</a:t>
            </a:r>
            <a:r>
              <a:rPr lang="en-US" altLang="en-US" sz="100" dirty="0"/>
              <a:t> </a:t>
            </a:r>
            <a:r>
              <a:rPr lang="en-US" altLang="en-US" dirty="0"/>
              <a:t>I going to developing and transition economies</a:t>
            </a:r>
            <a:r>
              <a:rPr lang="en-US" altLang="en-US" dirty="0" smtClean="0"/>
              <a:t>.</a:t>
            </a:r>
            <a:endParaRPr lang="en-US" altLang="en-US" dirty="0"/>
          </a:p>
          <a:p>
            <a:pPr>
              <a:lnSpc>
                <a:spcPct val="90000"/>
              </a:lnSpc>
            </a:pPr>
            <a:r>
              <a:rPr lang="en-US" altLang="en-US" dirty="0"/>
              <a:t>Steady expansion in the share of F</a:t>
            </a:r>
            <a:r>
              <a:rPr lang="en-US" altLang="en-US" sz="100" dirty="0"/>
              <a:t> </a:t>
            </a:r>
            <a:r>
              <a:rPr lang="en-US" altLang="en-US" dirty="0"/>
              <a:t>D</a:t>
            </a:r>
            <a:r>
              <a:rPr lang="en-US" altLang="en-US" sz="100" dirty="0"/>
              <a:t> </a:t>
            </a:r>
            <a:r>
              <a:rPr lang="en-US" altLang="en-US" dirty="0"/>
              <a:t>I flowing to developing and transition countries</a:t>
            </a:r>
            <a:r>
              <a:rPr lang="en-US" altLang="en-US" dirty="0" smtClean="0"/>
              <a:t>.</a:t>
            </a:r>
            <a:endParaRPr lang="en-US" altLang="en-US" dirty="0"/>
          </a:p>
          <a:p>
            <a:pPr lvl="1">
              <a:lnSpc>
                <a:spcPct val="90000"/>
              </a:lnSpc>
            </a:pPr>
            <a:r>
              <a:rPr lang="en-US" altLang="en-US" dirty="0"/>
              <a:t>Accounted for half of worldwide F</a:t>
            </a:r>
            <a:r>
              <a:rPr lang="en-US" altLang="en-US" sz="100" dirty="0"/>
              <a:t> </a:t>
            </a:r>
            <a:r>
              <a:rPr lang="en-US" altLang="en-US" dirty="0"/>
              <a:t>D</a:t>
            </a:r>
            <a:r>
              <a:rPr lang="en-US" altLang="en-US" sz="100" dirty="0"/>
              <a:t> </a:t>
            </a:r>
            <a:r>
              <a:rPr lang="en-US" altLang="en-US" dirty="0"/>
              <a:t>I flows since 2009.</a:t>
            </a:r>
          </a:p>
          <a:p>
            <a:pPr>
              <a:lnSpc>
                <a:spcPct val="90000"/>
              </a:lnSpc>
            </a:pPr>
            <a:r>
              <a:rPr lang="en-US" altLang="en-US" dirty="0"/>
              <a:t>Sales of F</a:t>
            </a:r>
            <a:r>
              <a:rPr lang="en-US" altLang="en-US" sz="100" dirty="0"/>
              <a:t> </a:t>
            </a:r>
            <a:r>
              <a:rPr lang="en-US" altLang="en-US" dirty="0"/>
              <a:t>D</a:t>
            </a:r>
            <a:r>
              <a:rPr lang="en-US" altLang="en-US" sz="100" dirty="0"/>
              <a:t> </a:t>
            </a:r>
            <a:r>
              <a:rPr lang="en-US" altLang="en-US" dirty="0"/>
              <a:t>I affiliates are often used as a measure of multinational activity.</a:t>
            </a:r>
            <a:endParaRPr lang="en-IN" dirty="0"/>
          </a:p>
        </p:txBody>
      </p:sp>
    </p:spTree>
    <p:extLst>
      <p:ext uri="{BB962C8B-B14F-4D97-AF65-F5344CB8AC3E}">
        <p14:creationId xmlns:p14="http://schemas.microsoft.com/office/powerpoint/2010/main" val="6011780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800" dirty="0"/>
              <a:t>Figure 8.9 Inflows of Foreign Direct Investment, 1970–2019 (Percent of World G</a:t>
            </a:r>
            <a:r>
              <a:rPr lang="en-US" altLang="en-US" sz="100" dirty="0"/>
              <a:t> </a:t>
            </a:r>
            <a:r>
              <a:rPr lang="en-US" altLang="en-US" sz="2800" dirty="0"/>
              <a:t>D</a:t>
            </a:r>
            <a:r>
              <a:rPr lang="en-US" altLang="en-US" sz="100" dirty="0"/>
              <a:t> </a:t>
            </a:r>
            <a:r>
              <a:rPr lang="en-US" altLang="en-US" sz="2800" dirty="0"/>
              <a:t>P)</a:t>
            </a:r>
            <a:endParaRPr lang="en-IN" sz="2800" dirty="0"/>
          </a:p>
        </p:txBody>
      </p:sp>
      <p:pic>
        <p:nvPicPr>
          <p:cNvPr id="4" name="Content Placeholder 3" descr="A graph depicts the inflows of foreign investment.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68390" y="1561901"/>
            <a:ext cx="5207220" cy="2817242"/>
          </a:xfrm>
        </p:spPr>
      </p:pic>
      <p:sp>
        <p:nvSpPr>
          <p:cNvPr id="5" name="Content Placeholder 4"/>
          <p:cNvSpPr>
            <a:spLocks noGrp="1"/>
          </p:cNvSpPr>
          <p:nvPr>
            <p:ph sz="quarter" idx="14"/>
          </p:nvPr>
        </p:nvSpPr>
        <p:spPr>
          <a:xfrm>
            <a:off x="457200" y="4482582"/>
            <a:ext cx="8503920" cy="1265568"/>
          </a:xfrm>
        </p:spPr>
        <p:txBody>
          <a:bodyPr lIns="0" tIns="0" rIns="0" bIns="0"/>
          <a:lstStyle/>
          <a:p>
            <a:pPr marL="0" indent="0">
              <a:buNone/>
            </a:pPr>
            <a:r>
              <a:rPr lang="en-US" sz="1600" dirty="0"/>
              <a:t>Worldwide flows of F</a:t>
            </a:r>
            <a:r>
              <a:rPr lang="en-US" sz="100" dirty="0"/>
              <a:t> </a:t>
            </a:r>
            <a:r>
              <a:rPr lang="en-US" sz="1600" dirty="0"/>
              <a:t>D</a:t>
            </a:r>
            <a:r>
              <a:rPr lang="en-US" sz="100" dirty="0"/>
              <a:t> </a:t>
            </a:r>
            <a:r>
              <a:rPr lang="en-US" sz="1600" dirty="0"/>
              <a:t>I have significantly increased since the mid-1990s, though the rates of increase have been very uneven. Historically, most of the inflows of F</a:t>
            </a:r>
            <a:r>
              <a:rPr lang="en-US" sz="100" dirty="0"/>
              <a:t> </a:t>
            </a:r>
            <a:r>
              <a:rPr lang="en-US" sz="1600" dirty="0"/>
              <a:t>D</a:t>
            </a:r>
            <a:r>
              <a:rPr lang="en-US" sz="100" dirty="0"/>
              <a:t> </a:t>
            </a:r>
            <a:r>
              <a:rPr lang="en-US" sz="1600" dirty="0"/>
              <a:t>I have gone to the developed countries in the O</a:t>
            </a:r>
            <a:r>
              <a:rPr lang="en-US" sz="100" dirty="0"/>
              <a:t> </a:t>
            </a:r>
            <a:r>
              <a:rPr lang="en-US" sz="1600" dirty="0"/>
              <a:t>E</a:t>
            </a:r>
            <a:r>
              <a:rPr lang="en-US" sz="100" dirty="0"/>
              <a:t> </a:t>
            </a:r>
            <a:r>
              <a:rPr lang="en-US" sz="1600" dirty="0"/>
              <a:t>C</a:t>
            </a:r>
            <a:r>
              <a:rPr lang="en-US" sz="100" dirty="0"/>
              <a:t> </a:t>
            </a:r>
            <a:r>
              <a:rPr lang="en-US" sz="1600" dirty="0"/>
              <a:t>D. However, the proportion of F</a:t>
            </a:r>
            <a:r>
              <a:rPr lang="en-US" sz="100" dirty="0"/>
              <a:t> </a:t>
            </a:r>
            <a:r>
              <a:rPr lang="en-US" sz="1600" dirty="0"/>
              <a:t>D</a:t>
            </a:r>
            <a:r>
              <a:rPr lang="en-US" sz="100" dirty="0"/>
              <a:t> </a:t>
            </a:r>
            <a:r>
              <a:rPr lang="en-US" sz="1600" dirty="0"/>
              <a:t>I inflows going to developing and transition economies has steadily increased over time and accounted for roughly half of worldwide F</a:t>
            </a:r>
            <a:r>
              <a:rPr lang="en-US" sz="100" dirty="0"/>
              <a:t> </a:t>
            </a:r>
            <a:r>
              <a:rPr lang="en-US" sz="1600" dirty="0"/>
              <a:t>D</a:t>
            </a:r>
            <a:r>
              <a:rPr lang="en-US" sz="100" dirty="0"/>
              <a:t> </a:t>
            </a:r>
            <a:r>
              <a:rPr lang="en-US" sz="1600" dirty="0"/>
              <a:t>I flows since 2009.</a:t>
            </a:r>
          </a:p>
        </p:txBody>
      </p:sp>
      <p:sp>
        <p:nvSpPr>
          <p:cNvPr id="6" name="Content Placeholder 5"/>
          <p:cNvSpPr>
            <a:spLocks noGrp="1"/>
          </p:cNvSpPr>
          <p:nvPr>
            <p:ph sz="quarter" idx="15"/>
          </p:nvPr>
        </p:nvSpPr>
        <p:spPr>
          <a:xfrm>
            <a:off x="457200" y="5818597"/>
            <a:ext cx="8503920" cy="525368"/>
          </a:xfrm>
        </p:spPr>
        <p:txBody>
          <a:bodyPr lIns="0" tIns="0" rIns="0" bIns="0"/>
          <a:lstStyle/>
          <a:p>
            <a:pPr marL="432" indent="0">
              <a:buNone/>
            </a:pPr>
            <a:r>
              <a:rPr lang="en-US" sz="1600" b="1" dirty="0"/>
              <a:t>Source: </a:t>
            </a:r>
            <a:r>
              <a:rPr lang="en-US" sz="1600" dirty="0"/>
              <a:t>United Nations Conference on Trade and Development, </a:t>
            </a:r>
            <a:r>
              <a:rPr lang="en-US" sz="1600" b="1" dirty="0"/>
              <a:t>World Investment Report</a:t>
            </a:r>
            <a:r>
              <a:rPr lang="en-US" sz="1600" dirty="0"/>
              <a:t>, 2019.</a:t>
            </a:r>
            <a:endParaRPr lang="en-IN" sz="1600" dirty="0"/>
          </a:p>
        </p:txBody>
      </p:sp>
    </p:spTree>
    <p:extLst>
      <p:ext uri="{BB962C8B-B14F-4D97-AF65-F5344CB8AC3E}">
        <p14:creationId xmlns:p14="http://schemas.microsoft.com/office/powerpoint/2010/main" val="10008105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Multinationals and Outsourcing </a:t>
            </a:r>
            <a:r>
              <a:rPr lang="en-US" altLang="en-US" sz="2000" b="0" dirty="0"/>
              <a:t>(4 of 6)</a:t>
            </a:r>
            <a:endParaRPr lang="en-IN" dirty="0"/>
          </a:p>
        </p:txBody>
      </p:sp>
      <p:sp>
        <p:nvSpPr>
          <p:cNvPr id="3" name="Content Placeholder 2"/>
          <p:cNvSpPr>
            <a:spLocks noGrp="1"/>
          </p:cNvSpPr>
          <p:nvPr>
            <p:ph sz="quarter" idx="13"/>
          </p:nvPr>
        </p:nvSpPr>
        <p:spPr/>
        <p:txBody>
          <a:bodyPr/>
          <a:lstStyle/>
          <a:p>
            <a:pPr marL="255600"/>
            <a:r>
              <a:rPr lang="en-US" altLang="en-US" dirty="0"/>
              <a:t>Two main types of F</a:t>
            </a:r>
            <a:r>
              <a:rPr lang="en-US" altLang="en-US" sz="100" dirty="0"/>
              <a:t> </a:t>
            </a:r>
            <a:r>
              <a:rPr lang="en-US" altLang="en-US" dirty="0"/>
              <a:t>D</a:t>
            </a:r>
            <a:r>
              <a:rPr lang="en-US" altLang="en-US" sz="100" dirty="0"/>
              <a:t> </a:t>
            </a:r>
            <a:r>
              <a:rPr lang="en-US" altLang="en-US" dirty="0"/>
              <a:t>I:</a:t>
            </a:r>
          </a:p>
          <a:p>
            <a:pPr marL="741600" lvl="1"/>
            <a:r>
              <a:rPr lang="en-US" altLang="en-US" b="1" dirty="0"/>
              <a:t>Horizontal F</a:t>
            </a:r>
            <a:r>
              <a:rPr lang="en-US" altLang="en-US" sz="100" b="1" dirty="0"/>
              <a:t> </a:t>
            </a:r>
            <a:r>
              <a:rPr lang="en-US" altLang="en-US" b="1" dirty="0"/>
              <a:t>D</a:t>
            </a:r>
            <a:r>
              <a:rPr lang="en-US" altLang="en-US" sz="100" b="1" dirty="0"/>
              <a:t> </a:t>
            </a:r>
            <a:r>
              <a:rPr lang="en-US" altLang="en-US" b="1" dirty="0"/>
              <a:t>I</a:t>
            </a:r>
            <a:r>
              <a:rPr lang="en-US" altLang="en-US" dirty="0"/>
              <a:t> when the affiliate replicates the production process (that the parent firm undertakes in its domestic facilities) elsewhere in the world.</a:t>
            </a:r>
          </a:p>
          <a:p>
            <a:pPr marL="741600" lvl="1"/>
            <a:r>
              <a:rPr lang="en-US" altLang="en-US" b="1" dirty="0"/>
              <a:t>Vertical F</a:t>
            </a:r>
            <a:r>
              <a:rPr lang="en-US" altLang="en-US" sz="100" b="1" dirty="0"/>
              <a:t> </a:t>
            </a:r>
            <a:r>
              <a:rPr lang="en-US" altLang="en-US" b="1" dirty="0"/>
              <a:t>D</a:t>
            </a:r>
            <a:r>
              <a:rPr lang="en-US" altLang="en-US" sz="100" b="1" dirty="0"/>
              <a:t> </a:t>
            </a:r>
            <a:r>
              <a:rPr lang="en-US" altLang="en-US" b="1" dirty="0"/>
              <a:t>I</a:t>
            </a:r>
            <a:r>
              <a:rPr lang="en-US" altLang="en-US" dirty="0"/>
              <a:t> when the production chain is broken up, and parts of the production processes are transferred to the affiliate location.</a:t>
            </a:r>
            <a:endParaRPr lang="en-IN" dirty="0"/>
          </a:p>
        </p:txBody>
      </p:sp>
    </p:spTree>
    <p:extLst>
      <p:ext uri="{BB962C8B-B14F-4D97-AF65-F5344CB8AC3E}">
        <p14:creationId xmlns:p14="http://schemas.microsoft.com/office/powerpoint/2010/main" val="8708212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Multinationals and Outsourcing </a:t>
            </a:r>
            <a:r>
              <a:rPr lang="en-US" altLang="en-US" sz="2000" b="0" dirty="0"/>
              <a:t>(5 of 6)</a:t>
            </a:r>
            <a:endParaRPr lang="en-IN" dirty="0"/>
          </a:p>
        </p:txBody>
      </p:sp>
      <p:sp>
        <p:nvSpPr>
          <p:cNvPr id="3" name="Content Placeholder 2"/>
          <p:cNvSpPr>
            <a:spLocks noGrp="1"/>
          </p:cNvSpPr>
          <p:nvPr>
            <p:ph sz="quarter" idx="13"/>
          </p:nvPr>
        </p:nvSpPr>
        <p:spPr/>
        <p:txBody>
          <a:bodyPr/>
          <a:lstStyle/>
          <a:p>
            <a:pPr marL="255600"/>
            <a:r>
              <a:rPr lang="en-US" altLang="en-US" dirty="0"/>
              <a:t>Vertical F</a:t>
            </a:r>
            <a:r>
              <a:rPr lang="en-US" altLang="en-US" sz="100" dirty="0"/>
              <a:t> </a:t>
            </a:r>
            <a:r>
              <a:rPr lang="en-US" altLang="en-US" dirty="0"/>
              <a:t>D</a:t>
            </a:r>
            <a:r>
              <a:rPr lang="en-US" altLang="en-US" sz="100" dirty="0"/>
              <a:t> </a:t>
            </a:r>
            <a:r>
              <a:rPr lang="en-US" altLang="en-US" dirty="0"/>
              <a:t>I is mainly driven by production cost differences between countries (for those parts of the production process that can be performed in another location).</a:t>
            </a:r>
          </a:p>
          <a:p>
            <a:pPr marL="741600" lvl="1"/>
            <a:r>
              <a:rPr lang="en-US" altLang="en-US" dirty="0"/>
              <a:t>Vertical F</a:t>
            </a:r>
            <a:r>
              <a:rPr lang="en-US" altLang="en-US" sz="100" dirty="0"/>
              <a:t> </a:t>
            </a:r>
            <a:r>
              <a:rPr lang="en-US" altLang="en-US" dirty="0"/>
              <a:t>D</a:t>
            </a:r>
            <a:r>
              <a:rPr lang="en-US" altLang="en-US" sz="100" dirty="0"/>
              <a:t> </a:t>
            </a:r>
            <a:r>
              <a:rPr lang="en-US" altLang="en-US" dirty="0"/>
              <a:t>I is growing fast and is behind the large increase in F</a:t>
            </a:r>
            <a:r>
              <a:rPr lang="en-US" altLang="en-US" sz="100" dirty="0"/>
              <a:t> </a:t>
            </a:r>
            <a:r>
              <a:rPr lang="en-US" altLang="en-US" dirty="0"/>
              <a:t>D</a:t>
            </a:r>
            <a:r>
              <a:rPr lang="en-US" altLang="en-US" sz="100" dirty="0"/>
              <a:t> </a:t>
            </a:r>
            <a:r>
              <a:rPr lang="en-US" altLang="en-US" dirty="0"/>
              <a:t>I inflows to developing countries.</a:t>
            </a:r>
            <a:endParaRPr lang="en-IN" dirty="0"/>
          </a:p>
        </p:txBody>
      </p:sp>
    </p:spTree>
    <p:extLst>
      <p:ext uri="{BB962C8B-B14F-4D97-AF65-F5344CB8AC3E}">
        <p14:creationId xmlns:p14="http://schemas.microsoft.com/office/powerpoint/2010/main" val="20340543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Multinationals and Outsourcing </a:t>
            </a:r>
            <a:r>
              <a:rPr lang="en-US" altLang="en-US" sz="2000" b="0" dirty="0" smtClean="0"/>
              <a:t>(6 of 6)</a:t>
            </a:r>
            <a:endParaRPr lang="en-US" dirty="0"/>
          </a:p>
        </p:txBody>
      </p:sp>
      <p:sp>
        <p:nvSpPr>
          <p:cNvPr id="3" name="Content Placeholder 2"/>
          <p:cNvSpPr>
            <a:spLocks noGrp="1"/>
          </p:cNvSpPr>
          <p:nvPr>
            <p:ph sz="quarter" idx="13"/>
          </p:nvPr>
        </p:nvSpPr>
        <p:spPr/>
        <p:txBody>
          <a:bodyPr/>
          <a:lstStyle/>
          <a:p>
            <a:pPr marL="255600"/>
            <a:r>
              <a:rPr lang="en-US" altLang="en-US" dirty="0" smtClean="0"/>
              <a:t>Horizontal F</a:t>
            </a:r>
            <a:r>
              <a:rPr lang="en-US" altLang="en-US" sz="100" dirty="0" smtClean="0"/>
              <a:t> </a:t>
            </a:r>
            <a:r>
              <a:rPr lang="en-US" altLang="en-US" dirty="0" smtClean="0"/>
              <a:t>D</a:t>
            </a:r>
            <a:r>
              <a:rPr lang="en-US" altLang="en-US" sz="100" dirty="0" smtClean="0"/>
              <a:t> </a:t>
            </a:r>
            <a:r>
              <a:rPr lang="en-US" altLang="en-US" dirty="0" smtClean="0"/>
              <a:t>I is dominated by flows between developed countries.</a:t>
            </a:r>
          </a:p>
          <a:p>
            <a:pPr marL="741600" lvl="1"/>
            <a:r>
              <a:rPr lang="en-US" altLang="en-US" dirty="0" smtClean="0"/>
              <a:t>Both the multinational parent and the affiliates are usually located in developed countries.</a:t>
            </a:r>
          </a:p>
          <a:p>
            <a:pPr marL="255600"/>
            <a:r>
              <a:rPr lang="en-US" altLang="en-US" dirty="0" smtClean="0"/>
              <a:t>The main reason for this type of F</a:t>
            </a:r>
            <a:r>
              <a:rPr lang="en-US" altLang="en-US" sz="100" dirty="0" smtClean="0"/>
              <a:t> </a:t>
            </a:r>
            <a:r>
              <a:rPr lang="en-US" altLang="en-US" dirty="0" smtClean="0"/>
              <a:t>D</a:t>
            </a:r>
            <a:r>
              <a:rPr lang="en-US" altLang="en-US" sz="100" dirty="0" smtClean="0"/>
              <a:t> </a:t>
            </a:r>
            <a:r>
              <a:rPr lang="en-US" altLang="en-US" dirty="0" smtClean="0"/>
              <a:t>I is to locate production near a firm</a:t>
            </a:r>
            <a:r>
              <a:rPr lang="en-US" altLang="ja-JP" dirty="0" smtClean="0"/>
              <a:t>’s large customer bases.</a:t>
            </a:r>
          </a:p>
          <a:p>
            <a:pPr marL="741600" lvl="1"/>
            <a:r>
              <a:rPr lang="en-US" altLang="en-US" dirty="0" smtClean="0"/>
              <a:t>Hence, trade and transport costs play a much more important role than production cost differences for these F</a:t>
            </a:r>
            <a:r>
              <a:rPr lang="en-US" altLang="en-US" sz="100" dirty="0" smtClean="0"/>
              <a:t> </a:t>
            </a:r>
            <a:r>
              <a:rPr lang="en-US" altLang="en-US" dirty="0" smtClean="0"/>
              <a:t>D</a:t>
            </a:r>
            <a:r>
              <a:rPr lang="en-US" altLang="en-US" sz="100" dirty="0" smtClean="0"/>
              <a:t> </a:t>
            </a:r>
            <a:r>
              <a:rPr lang="en-US" altLang="en-US" dirty="0" smtClean="0"/>
              <a:t>I decisions.</a:t>
            </a:r>
            <a:endParaRPr lang="en-US" altLang="en-US" dirty="0"/>
          </a:p>
        </p:txBody>
      </p:sp>
    </p:spTree>
    <p:extLst>
      <p:ext uri="{BB962C8B-B14F-4D97-AF65-F5344CB8AC3E}">
        <p14:creationId xmlns:p14="http://schemas.microsoft.com/office/powerpoint/2010/main" val="20481366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600" dirty="0"/>
              <a:t>Figure 8.10 Outward Foreign Direct Investment for Top 25 Countries, Yearly Average 2017–2019</a:t>
            </a:r>
            <a:endParaRPr lang="en-IN" sz="2600" dirty="0"/>
          </a:p>
        </p:txBody>
      </p:sp>
      <p:pic>
        <p:nvPicPr>
          <p:cNvPr id="6" name="Content Placeholder 5" descr="A bar graph displays the outward foreign direct investment for top 25 countri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734388" y="1582236"/>
            <a:ext cx="5675225" cy="3205178"/>
          </a:xfrm>
        </p:spPr>
      </p:pic>
      <p:sp>
        <p:nvSpPr>
          <p:cNvPr id="5" name="Content Placeholder 4"/>
          <p:cNvSpPr>
            <a:spLocks noGrp="1"/>
          </p:cNvSpPr>
          <p:nvPr>
            <p:ph sz="quarter" idx="14"/>
          </p:nvPr>
        </p:nvSpPr>
        <p:spPr>
          <a:xfrm>
            <a:off x="457200" y="4878972"/>
            <a:ext cx="8229600" cy="1459230"/>
          </a:xfrm>
        </p:spPr>
        <p:txBody>
          <a:bodyPr/>
          <a:lstStyle/>
          <a:p>
            <a:pPr marL="0" indent="0">
              <a:buNone/>
            </a:pPr>
            <a:r>
              <a:rPr lang="en-US" sz="1600" dirty="0"/>
              <a:t>Developed countries dominate the list of the top countries whose firms engage in outward F</a:t>
            </a:r>
            <a:r>
              <a:rPr lang="en-US" sz="100" dirty="0"/>
              <a:t> </a:t>
            </a:r>
            <a:r>
              <a:rPr lang="en-US" sz="1600" dirty="0"/>
              <a:t>D</a:t>
            </a:r>
            <a:r>
              <a:rPr lang="en-US" sz="100" dirty="0"/>
              <a:t> </a:t>
            </a:r>
            <a:r>
              <a:rPr lang="en-US" sz="1600" dirty="0"/>
              <a:t>I. More recently, firms from some big developing countries such as China and India have performed significantly more F</a:t>
            </a:r>
            <a:r>
              <a:rPr lang="en-US" sz="100" dirty="0"/>
              <a:t> </a:t>
            </a:r>
            <a:r>
              <a:rPr lang="en-US" sz="1600" dirty="0"/>
              <a:t>D</a:t>
            </a:r>
            <a:r>
              <a:rPr lang="en-US" sz="100" dirty="0"/>
              <a:t> </a:t>
            </a:r>
            <a:r>
              <a:rPr lang="en-US" sz="1600" dirty="0"/>
              <a:t>I.</a:t>
            </a:r>
          </a:p>
          <a:p>
            <a:pPr marL="0" indent="0">
              <a:spcBef>
                <a:spcPts val="600"/>
              </a:spcBef>
              <a:buNone/>
            </a:pPr>
            <a:r>
              <a:rPr lang="en-US" sz="1600" b="1" dirty="0"/>
              <a:t>Source: </a:t>
            </a:r>
            <a:r>
              <a:rPr lang="en-US" sz="1600" dirty="0"/>
              <a:t>United Nations Conference on Trade and Development, </a:t>
            </a:r>
            <a:r>
              <a:rPr lang="en-US" sz="1600" b="1" dirty="0"/>
              <a:t>World Investment Report</a:t>
            </a:r>
            <a:r>
              <a:rPr lang="en-US" sz="1600" dirty="0"/>
              <a:t>, 2019.</a:t>
            </a:r>
            <a:endParaRPr lang="en-IN" sz="1600" dirty="0"/>
          </a:p>
        </p:txBody>
      </p:sp>
    </p:spTree>
    <p:extLst>
      <p:ext uri="{BB962C8B-B14F-4D97-AF65-F5344CB8AC3E}">
        <p14:creationId xmlns:p14="http://schemas.microsoft.com/office/powerpoint/2010/main" val="5949562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(1 of 8)</a:t>
            </a:r>
            <a:endParaRPr lang="en-IN" dirty="0"/>
          </a:p>
        </p:txBody>
      </p:sp>
      <p:sp>
        <p:nvSpPr>
          <p:cNvPr id="3" name="Content Placeholder 2"/>
          <p:cNvSpPr>
            <a:spLocks noGrp="1"/>
          </p:cNvSpPr>
          <p:nvPr>
            <p:ph sz="quarter" idx="13"/>
          </p:nvPr>
        </p:nvSpPr>
        <p:spPr/>
        <p:txBody>
          <a:bodyPr/>
          <a:lstStyle/>
          <a:p>
            <a:pPr marL="255600"/>
            <a:r>
              <a:rPr lang="en-US" altLang="en-US" b="1" dirty="0"/>
              <a:t>Proximity</a:t>
            </a:r>
            <a:r>
              <a:rPr lang="en-US" altLang="en-US" i="1" dirty="0"/>
              <a:t>-</a:t>
            </a:r>
            <a:r>
              <a:rPr lang="en-US" altLang="en-US" b="1" dirty="0"/>
              <a:t>concentration</a:t>
            </a:r>
            <a:r>
              <a:rPr lang="en-US" altLang="en-US" i="1" dirty="0"/>
              <a:t> </a:t>
            </a:r>
            <a:r>
              <a:rPr lang="en-US" altLang="en-US" dirty="0"/>
              <a:t>trade-off</a:t>
            </a:r>
            <a:r>
              <a:rPr lang="en-US" altLang="en-US" dirty="0" smtClean="0"/>
              <a:t>:</a:t>
            </a:r>
            <a:endParaRPr lang="en-US" altLang="en-US" dirty="0"/>
          </a:p>
          <a:p>
            <a:pPr marL="741600" lvl="1"/>
            <a:r>
              <a:rPr lang="en-US" altLang="en-US" dirty="0"/>
              <a:t>High trade costs associated with exporting create an incentive to locate production near customers</a:t>
            </a:r>
            <a:r>
              <a:rPr lang="en-US" altLang="en-US" dirty="0" smtClean="0"/>
              <a:t>.</a:t>
            </a:r>
            <a:endParaRPr lang="en-US" altLang="en-US" dirty="0"/>
          </a:p>
          <a:p>
            <a:pPr marL="741600" lvl="1"/>
            <a:r>
              <a:rPr lang="en-US" altLang="en-US" dirty="0"/>
              <a:t>Increasing returns to scale in production create an incentive to concentrate production in fewer locations.</a:t>
            </a:r>
          </a:p>
        </p:txBody>
      </p:sp>
    </p:spTree>
    <p:extLst>
      <p:ext uri="{BB962C8B-B14F-4D97-AF65-F5344CB8AC3E}">
        <p14:creationId xmlns:p14="http://schemas.microsoft.com/office/powerpoint/2010/main" val="7789872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(2 of 8)</a:t>
            </a:r>
            <a:endParaRPr lang="en-IN" dirty="0"/>
          </a:p>
        </p:txBody>
      </p:sp>
      <p:sp>
        <p:nvSpPr>
          <p:cNvPr id="3" name="Content Placeholder 2"/>
          <p:cNvSpPr>
            <a:spLocks noGrp="1"/>
          </p:cNvSpPr>
          <p:nvPr>
            <p:ph sz="quarter" idx="13"/>
          </p:nvPr>
        </p:nvSpPr>
        <p:spPr/>
        <p:txBody>
          <a:bodyPr/>
          <a:lstStyle/>
          <a:p>
            <a:pPr marL="255600"/>
            <a:r>
              <a:rPr lang="en-US" altLang="en-US" dirty="0"/>
              <a:t>F</a:t>
            </a:r>
            <a:r>
              <a:rPr lang="en-US" altLang="en-US" sz="100" dirty="0"/>
              <a:t> </a:t>
            </a:r>
            <a:r>
              <a:rPr lang="en-US" altLang="en-US" dirty="0"/>
              <a:t>D</a:t>
            </a:r>
            <a:r>
              <a:rPr lang="en-US" altLang="en-US" sz="100" dirty="0"/>
              <a:t> </a:t>
            </a:r>
            <a:r>
              <a:rPr lang="en-US" altLang="en-US" dirty="0"/>
              <a:t>I activity concentrated in sectors with high trade costs.</a:t>
            </a:r>
          </a:p>
          <a:p>
            <a:pPr marL="741600" lvl="1"/>
            <a:r>
              <a:rPr lang="en-US" altLang="en-US" dirty="0"/>
              <a:t>When increasing returns to scale are important and average plant sizes are large, we observe higher export volumes relative to F</a:t>
            </a:r>
            <a:r>
              <a:rPr lang="en-US" altLang="en-US" sz="100" dirty="0"/>
              <a:t> </a:t>
            </a:r>
            <a:r>
              <a:rPr lang="en-US" altLang="en-US" dirty="0"/>
              <a:t>D</a:t>
            </a:r>
            <a:r>
              <a:rPr lang="en-US" altLang="en-US" sz="100" dirty="0"/>
              <a:t> </a:t>
            </a:r>
            <a:r>
              <a:rPr lang="en-US" altLang="en-US" dirty="0"/>
              <a:t>I.</a:t>
            </a:r>
          </a:p>
          <a:p>
            <a:pPr marL="255600"/>
            <a:r>
              <a:rPr lang="en-US" altLang="en-US" dirty="0"/>
              <a:t>Multinationals tend to be much larger and more productive than other firms (even exporters) in the same country.</a:t>
            </a:r>
            <a:endParaRPr lang="en-IN" dirty="0"/>
          </a:p>
        </p:txBody>
      </p:sp>
    </p:spTree>
    <p:extLst>
      <p:ext uri="{BB962C8B-B14F-4D97-AF65-F5344CB8AC3E}">
        <p14:creationId xmlns:p14="http://schemas.microsoft.com/office/powerpoint/2010/main" val="1157889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(3 of 8)</a:t>
            </a:r>
            <a:endParaRPr lang="en-IN" dirty="0"/>
          </a:p>
        </p:txBody>
      </p:sp>
      <p:sp>
        <p:nvSpPr>
          <p:cNvPr id="5" name="Content Placeholder 4"/>
          <p:cNvSpPr>
            <a:spLocks noGrp="1"/>
          </p:cNvSpPr>
          <p:nvPr>
            <p:ph sz="quarter" idx="13"/>
          </p:nvPr>
        </p:nvSpPr>
        <p:spPr>
          <a:xfrm>
            <a:off x="457200" y="1552576"/>
            <a:ext cx="8229601" cy="1137388"/>
          </a:xfrm>
        </p:spPr>
        <p:txBody>
          <a:bodyPr lIns="0" tIns="0" rIns="0" bIns="0"/>
          <a:lstStyle/>
          <a:p>
            <a:pPr marL="255600"/>
            <a:r>
              <a:rPr lang="en-US" altLang="en-US" dirty="0"/>
              <a:t>The horizontal FDI decision involves a trade-off between the per-unit export cost </a:t>
            </a:r>
            <a:r>
              <a:rPr lang="en-US" altLang="en-US" i="1" dirty="0"/>
              <a:t>t </a:t>
            </a:r>
            <a:r>
              <a:rPr lang="en-US" altLang="en-US" dirty="0"/>
              <a:t>and the fixed cost </a:t>
            </a:r>
            <a:r>
              <a:rPr lang="en-US" altLang="en-US" i="1" dirty="0"/>
              <a:t>F </a:t>
            </a:r>
            <a:r>
              <a:rPr lang="en-US" altLang="en-US" dirty="0"/>
              <a:t>of setting up an additional production facility.</a:t>
            </a:r>
            <a:endParaRPr lang="en-IN" dirty="0"/>
          </a:p>
        </p:txBody>
      </p:sp>
      <p:sp>
        <p:nvSpPr>
          <p:cNvPr id="6" name="Content Placeholder 5"/>
          <p:cNvSpPr>
            <a:spLocks noGrp="1"/>
          </p:cNvSpPr>
          <p:nvPr>
            <p:ph sz="quarter" idx="14"/>
          </p:nvPr>
        </p:nvSpPr>
        <p:spPr>
          <a:xfrm>
            <a:off x="457201" y="2847417"/>
            <a:ext cx="550415" cy="418297"/>
          </a:xfrm>
        </p:spPr>
        <p:txBody>
          <a:bodyPr lIns="0" tIns="0" rIns="0" bIns="0"/>
          <a:lstStyle/>
          <a:p>
            <a:r>
              <a:rPr lang="en-US" altLang="en-US" dirty="0"/>
              <a:t>If</a:t>
            </a:r>
            <a:endParaRPr lang="en-IN" dirty="0"/>
          </a:p>
        </p:txBody>
      </p:sp>
      <p:graphicFrame>
        <p:nvGraphicFramePr>
          <p:cNvPr id="19" name="Object 18" descr="t left parenthesis Q right parenthesis is greater than F,"/>
          <p:cNvGraphicFramePr>
            <a:graphicFrameLocks noChangeAspect="1"/>
          </p:cNvGraphicFramePr>
          <p:nvPr>
            <p:extLst>
              <p:ext uri="{D42A27DB-BD31-4B8C-83A1-F6EECF244321}">
                <p14:modId xmlns:p14="http://schemas.microsoft.com/office/powerpoint/2010/main" val="2439802221"/>
              </p:ext>
            </p:extLst>
          </p:nvPr>
        </p:nvGraphicFramePr>
        <p:xfrm>
          <a:off x="1043902" y="2892002"/>
          <a:ext cx="1057444" cy="359982"/>
        </p:xfrm>
        <a:graphic>
          <a:graphicData uri="http://schemas.openxmlformats.org/presentationml/2006/ole">
            <mc:AlternateContent xmlns:mc="http://schemas.openxmlformats.org/markup-compatibility/2006">
              <mc:Choice xmlns:v="urn:schemas-microsoft-com:vml" Requires="v">
                <p:oleObj spid="_x0000_s16570" name="Equation" r:id="rId3" imgW="596880" imgH="203040" progId="Equation.DSMT4">
                  <p:embed/>
                </p:oleObj>
              </mc:Choice>
              <mc:Fallback>
                <p:oleObj name="Equation" r:id="rId3" imgW="596880" imgH="203040" progId="Equation.DSMT4">
                  <p:embed/>
                  <p:pic>
                    <p:nvPicPr>
                      <p:cNvPr id="0" name=""/>
                      <p:cNvPicPr/>
                      <p:nvPr/>
                    </p:nvPicPr>
                    <p:blipFill>
                      <a:blip r:embed="rId4"/>
                      <a:stretch>
                        <a:fillRect/>
                      </a:stretch>
                    </p:blipFill>
                    <p:spPr>
                      <a:xfrm>
                        <a:off x="1043902" y="2892002"/>
                        <a:ext cx="1057444" cy="359982"/>
                      </a:xfrm>
                      <a:prstGeom prst="rect">
                        <a:avLst/>
                      </a:prstGeom>
                    </p:spPr>
                  </p:pic>
                </p:oleObj>
              </mc:Fallback>
            </mc:AlternateContent>
          </a:graphicData>
        </a:graphic>
      </p:graphicFrame>
      <p:sp>
        <p:nvSpPr>
          <p:cNvPr id="7" name="Content Placeholder 6"/>
          <p:cNvSpPr>
            <a:spLocks noGrp="1"/>
          </p:cNvSpPr>
          <p:nvPr>
            <p:ph sz="quarter" idx="15"/>
          </p:nvPr>
        </p:nvSpPr>
        <p:spPr>
          <a:xfrm>
            <a:off x="2184402" y="2847417"/>
            <a:ext cx="6582229" cy="406421"/>
          </a:xfrm>
        </p:spPr>
        <p:txBody>
          <a:bodyPr lIns="0" tIns="0" rIns="0" bIns="0"/>
          <a:lstStyle/>
          <a:p>
            <a:pPr marL="432" indent="0">
              <a:buNone/>
            </a:pPr>
            <a:r>
              <a:rPr lang="en-US" altLang="en-US" dirty="0"/>
              <a:t>costs more to pay trade costs </a:t>
            </a:r>
            <a:r>
              <a:rPr lang="en-US" altLang="en-US" i="1" dirty="0"/>
              <a:t>t</a:t>
            </a:r>
            <a:r>
              <a:rPr lang="en-US" altLang="en-US" dirty="0"/>
              <a:t> on </a:t>
            </a:r>
            <a:r>
              <a:rPr lang="en-US" altLang="en-US" i="1" dirty="0"/>
              <a:t>Q</a:t>
            </a:r>
            <a:r>
              <a:rPr lang="en-US" altLang="en-US" dirty="0"/>
              <a:t> units sold</a:t>
            </a:r>
            <a:endParaRPr lang="en-IN" dirty="0"/>
          </a:p>
        </p:txBody>
      </p:sp>
      <p:sp>
        <p:nvSpPr>
          <p:cNvPr id="8" name="Content Placeholder 7"/>
          <p:cNvSpPr>
            <a:spLocks noGrp="1"/>
          </p:cNvSpPr>
          <p:nvPr>
            <p:ph sz="quarter" idx="16"/>
          </p:nvPr>
        </p:nvSpPr>
        <p:spPr>
          <a:xfrm>
            <a:off x="457200" y="3324659"/>
            <a:ext cx="7859486" cy="413540"/>
          </a:xfrm>
        </p:spPr>
        <p:txBody>
          <a:bodyPr lIns="0" tIns="0" rIns="0" bIns="0"/>
          <a:lstStyle/>
          <a:p>
            <a:pPr marL="255600" indent="0">
              <a:buNone/>
            </a:pPr>
            <a:r>
              <a:rPr lang="en-US" altLang="en-US" dirty="0"/>
              <a:t>abroad than to pay fixed cost </a:t>
            </a:r>
            <a:r>
              <a:rPr lang="en-US" altLang="en-US" i="1" dirty="0"/>
              <a:t>F </a:t>
            </a:r>
            <a:r>
              <a:rPr lang="en-US" altLang="en-US" dirty="0"/>
              <a:t>to build a plant abroad.</a:t>
            </a:r>
            <a:endParaRPr lang="en-IN" dirty="0"/>
          </a:p>
        </p:txBody>
      </p:sp>
      <p:sp>
        <p:nvSpPr>
          <p:cNvPr id="9" name="Content Placeholder 8"/>
          <p:cNvSpPr>
            <a:spLocks noGrp="1"/>
          </p:cNvSpPr>
          <p:nvPr>
            <p:ph sz="quarter" idx="17"/>
          </p:nvPr>
        </p:nvSpPr>
        <p:spPr>
          <a:xfrm>
            <a:off x="457200" y="3946462"/>
            <a:ext cx="4267200" cy="399907"/>
          </a:xfrm>
        </p:spPr>
        <p:txBody>
          <a:bodyPr lIns="0" tIns="0" rIns="0" bIns="0"/>
          <a:lstStyle/>
          <a:p>
            <a:pPr lvl="1"/>
            <a:r>
              <a:rPr lang="en-US" altLang="en-US" dirty="0"/>
              <a:t>When foreign sales large</a:t>
            </a:r>
          </a:p>
        </p:txBody>
      </p:sp>
      <p:graphicFrame>
        <p:nvGraphicFramePr>
          <p:cNvPr id="20" name="Object 19" descr="Q is greater than start fraction F over t end fraction,"/>
          <p:cNvGraphicFramePr>
            <a:graphicFrameLocks noChangeAspect="1"/>
          </p:cNvGraphicFramePr>
          <p:nvPr>
            <p:extLst>
              <p:ext uri="{D42A27DB-BD31-4B8C-83A1-F6EECF244321}">
                <p14:modId xmlns:p14="http://schemas.microsoft.com/office/powerpoint/2010/main" val="1107589286"/>
              </p:ext>
            </p:extLst>
          </p:nvPr>
        </p:nvGraphicFramePr>
        <p:xfrm>
          <a:off x="4806180" y="3786054"/>
          <a:ext cx="890954" cy="767212"/>
        </p:xfrm>
        <a:graphic>
          <a:graphicData uri="http://schemas.openxmlformats.org/presentationml/2006/ole">
            <mc:AlternateContent xmlns:mc="http://schemas.openxmlformats.org/markup-compatibility/2006">
              <mc:Choice xmlns:v="urn:schemas-microsoft-com:vml" Requires="v">
                <p:oleObj spid="_x0000_s16571" name="Equation" r:id="rId5" imgW="457200" imgH="393480" progId="Equation.DSMT4">
                  <p:embed/>
                </p:oleObj>
              </mc:Choice>
              <mc:Fallback>
                <p:oleObj name="Equation" r:id="rId5" imgW="457200" imgH="393480" progId="Equation.DSMT4">
                  <p:embed/>
                  <p:pic>
                    <p:nvPicPr>
                      <p:cNvPr id="0" name=""/>
                      <p:cNvPicPr/>
                      <p:nvPr/>
                    </p:nvPicPr>
                    <p:blipFill>
                      <a:blip r:embed="rId6"/>
                      <a:stretch>
                        <a:fillRect/>
                      </a:stretch>
                    </p:blipFill>
                    <p:spPr>
                      <a:xfrm>
                        <a:off x="4806180" y="3786054"/>
                        <a:ext cx="890954" cy="767212"/>
                      </a:xfrm>
                      <a:prstGeom prst="rect">
                        <a:avLst/>
                      </a:prstGeom>
                    </p:spPr>
                  </p:pic>
                </p:oleObj>
              </mc:Fallback>
            </mc:AlternateContent>
          </a:graphicData>
        </a:graphic>
      </p:graphicFrame>
      <p:sp>
        <p:nvSpPr>
          <p:cNvPr id="10" name="Content Placeholder 9"/>
          <p:cNvSpPr>
            <a:spLocks noGrp="1"/>
          </p:cNvSpPr>
          <p:nvPr>
            <p:ph sz="quarter" idx="18"/>
          </p:nvPr>
        </p:nvSpPr>
        <p:spPr>
          <a:xfrm>
            <a:off x="5797143" y="3937873"/>
            <a:ext cx="2590800" cy="413621"/>
          </a:xfrm>
        </p:spPr>
        <p:txBody>
          <a:bodyPr lIns="0" tIns="0" rIns="0" bIns="0"/>
          <a:lstStyle/>
          <a:p>
            <a:pPr marL="0" lvl="1" indent="0">
              <a:buNone/>
            </a:pPr>
            <a:r>
              <a:rPr lang="en-US" altLang="en-US" dirty="0"/>
              <a:t>exporting is more</a:t>
            </a:r>
            <a:endParaRPr lang="en-IN" dirty="0"/>
          </a:p>
        </p:txBody>
      </p:sp>
      <p:sp>
        <p:nvSpPr>
          <p:cNvPr id="11" name="Content Placeholder 10"/>
          <p:cNvSpPr>
            <a:spLocks noGrp="1"/>
          </p:cNvSpPr>
          <p:nvPr>
            <p:ph sz="quarter" idx="19"/>
          </p:nvPr>
        </p:nvSpPr>
        <p:spPr>
          <a:xfrm>
            <a:off x="457200" y="4630096"/>
            <a:ext cx="7990118" cy="432000"/>
          </a:xfrm>
        </p:spPr>
        <p:txBody>
          <a:bodyPr lIns="0" tIns="0" rIns="0" bIns="0"/>
          <a:lstStyle/>
          <a:p>
            <a:pPr marL="741600" lvl="1" indent="0">
              <a:buNone/>
            </a:pPr>
            <a:r>
              <a:rPr lang="en-US" altLang="en-US" dirty="0"/>
              <a:t>expensive and F</a:t>
            </a:r>
            <a:r>
              <a:rPr lang="en-US" altLang="en-US" sz="100" dirty="0"/>
              <a:t> </a:t>
            </a:r>
            <a:r>
              <a:rPr lang="en-US" altLang="en-US" dirty="0"/>
              <a:t>D</a:t>
            </a:r>
            <a:r>
              <a:rPr lang="en-US" altLang="en-US" sz="100" dirty="0"/>
              <a:t> </a:t>
            </a:r>
            <a:r>
              <a:rPr lang="en-US" altLang="en-US" dirty="0"/>
              <a:t>I is the profit-maximizing choice.</a:t>
            </a:r>
            <a:endParaRPr lang="en-IN" dirty="0"/>
          </a:p>
        </p:txBody>
      </p:sp>
      <p:sp>
        <p:nvSpPr>
          <p:cNvPr id="12" name="Content Placeholder 11"/>
          <p:cNvSpPr>
            <a:spLocks noGrp="1"/>
          </p:cNvSpPr>
          <p:nvPr>
            <p:ph sz="quarter" idx="20"/>
          </p:nvPr>
        </p:nvSpPr>
        <p:spPr>
          <a:xfrm>
            <a:off x="468701" y="5177644"/>
            <a:ext cx="8252210" cy="823770"/>
          </a:xfrm>
        </p:spPr>
        <p:txBody>
          <a:bodyPr lIns="0" tIns="0" rIns="0" bIns="0"/>
          <a:lstStyle/>
          <a:p>
            <a:pPr lvl="1"/>
            <a:r>
              <a:rPr lang="en-US" altLang="en-US" dirty="0"/>
              <a:t>Low costs make more apt to choose F</a:t>
            </a:r>
            <a:r>
              <a:rPr lang="en-US" altLang="en-US" sz="100" dirty="0"/>
              <a:t> </a:t>
            </a:r>
            <a:r>
              <a:rPr lang="en-US" altLang="en-US" dirty="0"/>
              <a:t>D</a:t>
            </a:r>
            <a:r>
              <a:rPr lang="en-US" altLang="en-US" sz="100" dirty="0"/>
              <a:t> </a:t>
            </a:r>
            <a:r>
              <a:rPr lang="en-US" altLang="en-US" dirty="0"/>
              <a:t>I due to larger sales.</a:t>
            </a:r>
          </a:p>
        </p:txBody>
      </p:sp>
    </p:spTree>
    <p:extLst>
      <p:ext uri="{BB962C8B-B14F-4D97-AF65-F5344CB8AC3E}">
        <p14:creationId xmlns:p14="http://schemas.microsoft.com/office/powerpoint/2010/main" val="40464653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(4 of 8)</a:t>
            </a:r>
            <a:endParaRPr lang="en-IN" dirty="0"/>
          </a:p>
        </p:txBody>
      </p:sp>
      <p:sp>
        <p:nvSpPr>
          <p:cNvPr id="3" name="Content Placeholder 2"/>
          <p:cNvSpPr>
            <a:spLocks noGrp="1"/>
          </p:cNvSpPr>
          <p:nvPr>
            <p:ph sz="quarter" idx="13"/>
          </p:nvPr>
        </p:nvSpPr>
        <p:spPr>
          <a:xfrm>
            <a:off x="457200" y="1556327"/>
            <a:ext cx="8057408" cy="3015673"/>
          </a:xfrm>
        </p:spPr>
        <p:txBody>
          <a:bodyPr/>
          <a:lstStyle/>
          <a:p>
            <a:pPr marL="255600"/>
            <a:r>
              <a:rPr lang="en-US" altLang="en-US" dirty="0"/>
              <a:t>The vertical F</a:t>
            </a:r>
            <a:r>
              <a:rPr lang="en-US" altLang="en-US" sz="100" dirty="0"/>
              <a:t> </a:t>
            </a:r>
            <a:r>
              <a:rPr lang="en-US" altLang="en-US" dirty="0"/>
              <a:t>D</a:t>
            </a:r>
            <a:r>
              <a:rPr lang="en-US" altLang="en-US" sz="100" dirty="0"/>
              <a:t> </a:t>
            </a:r>
            <a:r>
              <a:rPr lang="en-US" altLang="en-US" dirty="0"/>
              <a:t>I decision also involves a trade-off between cost savings and the fixed cost </a:t>
            </a:r>
            <a:r>
              <a:rPr lang="en-US" altLang="en-US" i="1" dirty="0"/>
              <a:t>F </a:t>
            </a:r>
            <a:r>
              <a:rPr lang="en-US" altLang="en-US" dirty="0"/>
              <a:t>of setting up an additional production facility.</a:t>
            </a:r>
          </a:p>
          <a:p>
            <a:pPr marL="741600" lvl="1"/>
            <a:r>
              <a:rPr lang="en-US" altLang="en-US" dirty="0"/>
              <a:t>Cost savings related to comparative advantage make some stages of production cheaper in other countries.</a:t>
            </a:r>
            <a:endParaRPr lang="en-IN" dirty="0"/>
          </a:p>
        </p:txBody>
      </p:sp>
    </p:spTree>
    <p:extLst>
      <p:ext uri="{BB962C8B-B14F-4D97-AF65-F5344CB8AC3E}">
        <p14:creationId xmlns:p14="http://schemas.microsoft.com/office/powerpoint/2010/main" val="18330472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(5 of 8)</a:t>
            </a:r>
            <a:endParaRPr lang="en-IN" dirty="0"/>
          </a:p>
        </p:txBody>
      </p:sp>
      <p:sp>
        <p:nvSpPr>
          <p:cNvPr id="3" name="Content Placeholder 2"/>
          <p:cNvSpPr>
            <a:spLocks noGrp="1"/>
          </p:cNvSpPr>
          <p:nvPr>
            <p:ph sz="quarter" idx="13"/>
          </p:nvPr>
        </p:nvSpPr>
        <p:spPr/>
        <p:txBody>
          <a:bodyPr/>
          <a:lstStyle/>
          <a:p>
            <a:pPr marL="255600"/>
            <a:r>
              <a:rPr lang="en-US" altLang="en-US" dirty="0"/>
              <a:t>Foreign </a:t>
            </a:r>
            <a:r>
              <a:rPr lang="en-US" altLang="en-US" b="1" dirty="0"/>
              <a:t>outsourcing</a:t>
            </a:r>
            <a:r>
              <a:rPr lang="en-US" altLang="en-US" dirty="0"/>
              <a:t> or </a:t>
            </a:r>
            <a:r>
              <a:rPr lang="en-US" altLang="en-US" b="1" dirty="0"/>
              <a:t>offshoring</a:t>
            </a:r>
            <a:r>
              <a:rPr lang="en-US" altLang="en-US" dirty="0"/>
              <a:t> occurs when a firm contracts with an independent firm to produce in the foreign location</a:t>
            </a:r>
            <a:r>
              <a:rPr lang="en-US" altLang="en-US" dirty="0" smtClean="0"/>
              <a:t>.</a:t>
            </a:r>
            <a:endParaRPr lang="en-US" altLang="en-US" dirty="0"/>
          </a:p>
          <a:p>
            <a:pPr marL="741600" lvl="1"/>
            <a:r>
              <a:rPr lang="en-US" altLang="en-US" dirty="0"/>
              <a:t>In addition to deciding the</a:t>
            </a:r>
            <a:r>
              <a:rPr lang="en-US" altLang="en-US" b="1" dirty="0"/>
              <a:t> location </a:t>
            </a:r>
            <a:r>
              <a:rPr lang="en-US" altLang="en-US" dirty="0"/>
              <a:t>of where to produce, firms also face an</a:t>
            </a:r>
            <a:r>
              <a:rPr lang="en-US" altLang="en-US" b="1" dirty="0"/>
              <a:t> internalization </a:t>
            </a:r>
            <a:r>
              <a:rPr lang="en-US" altLang="en-US" dirty="0"/>
              <a:t>decision: whether to keep production done by one firm or by separate firms.</a:t>
            </a:r>
            <a:endParaRPr lang="en-IN" dirty="0"/>
          </a:p>
        </p:txBody>
      </p:sp>
    </p:spTree>
    <p:extLst>
      <p:ext uri="{BB962C8B-B14F-4D97-AF65-F5344CB8AC3E}">
        <p14:creationId xmlns:p14="http://schemas.microsoft.com/office/powerpoint/2010/main" val="2301207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8.12 U.S. International Trade in Business Services, 1999–2019</a:t>
            </a:r>
            <a:endParaRPr lang="en-IN" sz="3200" dirty="0"/>
          </a:p>
        </p:txBody>
      </p:sp>
      <p:pic>
        <p:nvPicPr>
          <p:cNvPr id="4" name="Content Placeholder 3" descr="A graph displays the U S trade in business servic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555183" y="1557338"/>
            <a:ext cx="4033635" cy="3653503"/>
          </a:xfrm>
        </p:spPr>
      </p:pic>
      <p:sp>
        <p:nvSpPr>
          <p:cNvPr id="5" name="Content Placeholder 4"/>
          <p:cNvSpPr>
            <a:spLocks noGrp="1"/>
          </p:cNvSpPr>
          <p:nvPr>
            <p:ph sz="quarter" idx="14"/>
          </p:nvPr>
        </p:nvSpPr>
        <p:spPr>
          <a:xfrm>
            <a:off x="457200" y="5279736"/>
            <a:ext cx="8229600" cy="1049811"/>
          </a:xfrm>
        </p:spPr>
        <p:txBody>
          <a:bodyPr lIns="0" tIns="0" rIns="0" bIns="0"/>
          <a:lstStyle/>
          <a:p>
            <a:pPr marL="432" indent="0">
              <a:buNone/>
            </a:pPr>
            <a:r>
              <a:rPr lang="en-US" sz="1600" dirty="0"/>
              <a:t>U.S. service offshoring is captured by U.S. imports of business services. Although service offshoring has dramatically increased over the past decade, U.S. inshoring (exports of business services) has grown even faster. The net balance is positive and has also substantially increased over the past decade.</a:t>
            </a:r>
            <a:endParaRPr lang="en-IN" sz="1600" dirty="0"/>
          </a:p>
        </p:txBody>
      </p:sp>
    </p:spTree>
    <p:extLst>
      <p:ext uri="{BB962C8B-B14F-4D97-AF65-F5344CB8AC3E}">
        <p14:creationId xmlns:p14="http://schemas.microsoft.com/office/powerpoint/2010/main" val="38749270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(6 of 8)</a:t>
            </a:r>
            <a:endParaRPr lang="en-IN" dirty="0"/>
          </a:p>
        </p:txBody>
      </p:sp>
      <p:sp>
        <p:nvSpPr>
          <p:cNvPr id="4" name="Content Placeholder 3"/>
          <p:cNvSpPr>
            <a:spLocks noGrp="1"/>
          </p:cNvSpPr>
          <p:nvPr>
            <p:ph sz="quarter" idx="13"/>
          </p:nvPr>
        </p:nvSpPr>
        <p:spPr>
          <a:xfrm>
            <a:off x="457200" y="1552574"/>
            <a:ext cx="8229600" cy="1251585"/>
          </a:xfrm>
        </p:spPr>
        <p:txBody>
          <a:bodyPr/>
          <a:lstStyle/>
          <a:p>
            <a:r>
              <a:rPr lang="en-US" altLang="en-US" dirty="0"/>
              <a:t>Internalization occurs when it is more profitable to conduct transactions and production within a single organization. Reasons for this include:</a:t>
            </a:r>
          </a:p>
        </p:txBody>
      </p:sp>
      <p:sp>
        <p:nvSpPr>
          <p:cNvPr id="6" name="Content Placeholder 5"/>
          <p:cNvSpPr>
            <a:spLocks noGrp="1"/>
          </p:cNvSpPr>
          <p:nvPr>
            <p:ph sz="quarter" idx="14"/>
          </p:nvPr>
        </p:nvSpPr>
        <p:spPr>
          <a:xfrm>
            <a:off x="457200" y="2887332"/>
            <a:ext cx="8229600" cy="1598943"/>
          </a:xfrm>
        </p:spPr>
        <p:txBody>
          <a:bodyPr/>
          <a:lstStyle/>
          <a:p>
            <a:pPr marL="457632" indent="-457200">
              <a:buFont typeface="+mj-lt"/>
              <a:buAutoNum type="arabicPeriod"/>
            </a:pPr>
            <a:r>
              <a:rPr lang="en-US" altLang="en-US" b="1" dirty="0"/>
              <a:t>Technology transfers</a:t>
            </a:r>
            <a:r>
              <a:rPr lang="en-US" altLang="en-US" dirty="0"/>
              <a:t>: transfer of knowledge or another form of technology may be easier within a single organization than through a market transaction between separate organizations.</a:t>
            </a:r>
          </a:p>
        </p:txBody>
      </p:sp>
      <p:sp>
        <p:nvSpPr>
          <p:cNvPr id="7" name="Content Placeholder 6"/>
          <p:cNvSpPr>
            <a:spLocks noGrp="1"/>
          </p:cNvSpPr>
          <p:nvPr>
            <p:ph sz="quarter" idx="15"/>
          </p:nvPr>
        </p:nvSpPr>
        <p:spPr>
          <a:xfrm>
            <a:off x="457200" y="4553676"/>
            <a:ext cx="8229600" cy="993683"/>
          </a:xfrm>
        </p:spPr>
        <p:txBody>
          <a:bodyPr/>
          <a:lstStyle/>
          <a:p>
            <a:pPr lvl="1"/>
            <a:r>
              <a:rPr lang="en-US" altLang="en-US" dirty="0"/>
              <a:t>Patent or property rights may be weak or nonexistent.</a:t>
            </a:r>
          </a:p>
          <a:p>
            <a:pPr lvl="1"/>
            <a:r>
              <a:rPr lang="en-US" altLang="en-US" dirty="0"/>
              <a:t>Knowledge may not be easily packaged and sold.</a:t>
            </a:r>
            <a:endParaRPr lang="en-IN" dirty="0"/>
          </a:p>
        </p:txBody>
      </p:sp>
    </p:spTree>
    <p:extLst>
      <p:ext uri="{BB962C8B-B14F-4D97-AF65-F5344CB8AC3E}">
        <p14:creationId xmlns:p14="http://schemas.microsoft.com/office/powerpoint/2010/main" val="9942099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a:t>
            </a:r>
            <a:r>
              <a:rPr lang="en-US" altLang="ja-JP" sz="3200" dirty="0"/>
              <a:t>s Decision Regarding Foreign Direct Investment </a:t>
            </a:r>
            <a:r>
              <a:rPr lang="en-US" altLang="ja-JP" sz="2000" b="0" dirty="0"/>
              <a:t>(7 of 8)</a:t>
            </a:r>
            <a:endParaRPr lang="en-IN" dirty="0"/>
          </a:p>
        </p:txBody>
      </p:sp>
      <p:sp>
        <p:nvSpPr>
          <p:cNvPr id="4" name="Content Placeholder 3"/>
          <p:cNvSpPr>
            <a:spLocks noGrp="1"/>
          </p:cNvSpPr>
          <p:nvPr>
            <p:ph sz="quarter" idx="13"/>
          </p:nvPr>
        </p:nvSpPr>
        <p:spPr>
          <a:xfrm>
            <a:off x="457200" y="1556327"/>
            <a:ext cx="8229600" cy="894773"/>
          </a:xfrm>
        </p:spPr>
        <p:txBody>
          <a:bodyPr/>
          <a:lstStyle/>
          <a:p>
            <a:pPr marL="457632" indent="-457200">
              <a:buFont typeface="+mj-lt"/>
              <a:buAutoNum type="arabicPeriod" startAt="2"/>
            </a:pPr>
            <a:r>
              <a:rPr lang="en-US" altLang="en-US" b="1" dirty="0"/>
              <a:t>Vertical integration</a:t>
            </a:r>
            <a:r>
              <a:rPr lang="en-US" altLang="en-US" dirty="0"/>
              <a:t> involves consolidation of different stages of a production process.</a:t>
            </a:r>
          </a:p>
        </p:txBody>
      </p:sp>
      <p:sp>
        <p:nvSpPr>
          <p:cNvPr id="5" name="Content Placeholder 4"/>
          <p:cNvSpPr>
            <a:spLocks noGrp="1"/>
          </p:cNvSpPr>
          <p:nvPr>
            <p:ph sz="quarter" idx="14"/>
          </p:nvPr>
        </p:nvSpPr>
        <p:spPr>
          <a:xfrm>
            <a:off x="457200" y="2534220"/>
            <a:ext cx="8009906" cy="2453417"/>
          </a:xfrm>
        </p:spPr>
        <p:txBody>
          <a:bodyPr/>
          <a:lstStyle/>
          <a:p>
            <a:pPr lvl="1"/>
            <a:r>
              <a:rPr lang="en-US" altLang="en-US" dirty="0"/>
              <a:t>Consolidating an input within the firm using it can avoid holdup problems and hassles in writing complete contracts.</a:t>
            </a:r>
          </a:p>
          <a:p>
            <a:pPr lvl="1"/>
            <a:r>
              <a:rPr lang="en-US" altLang="en-US" dirty="0"/>
              <a:t>But an independent supplier could benefit from economies of scale if it performs the process for many parent firms.</a:t>
            </a:r>
          </a:p>
        </p:txBody>
      </p:sp>
    </p:spTree>
    <p:extLst>
      <p:ext uri="{BB962C8B-B14F-4D97-AF65-F5344CB8AC3E}">
        <p14:creationId xmlns:p14="http://schemas.microsoft.com/office/powerpoint/2010/main" val="22061009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Firm’s</a:t>
            </a:r>
            <a:r>
              <a:rPr lang="en-US" altLang="ja-JP" sz="3200" dirty="0"/>
              <a:t> Decision Regarding Foreign Direct Investment </a:t>
            </a:r>
            <a:r>
              <a:rPr lang="en-US" altLang="ja-JP" sz="2000" b="0" dirty="0"/>
              <a:t>(8 of 8)</a:t>
            </a:r>
            <a:endParaRPr lang="en-IN" dirty="0"/>
          </a:p>
        </p:txBody>
      </p:sp>
      <p:sp>
        <p:nvSpPr>
          <p:cNvPr id="3" name="Content Placeholder 2"/>
          <p:cNvSpPr>
            <a:spLocks noGrp="1"/>
          </p:cNvSpPr>
          <p:nvPr>
            <p:ph sz="quarter" idx="13"/>
          </p:nvPr>
        </p:nvSpPr>
        <p:spPr/>
        <p:txBody>
          <a:bodyPr/>
          <a:lstStyle/>
          <a:p>
            <a:pPr marL="255600"/>
            <a:r>
              <a:rPr lang="en-US" altLang="en-US" sz="2200" dirty="0"/>
              <a:t>Foreign direct investment should benefit the countries involved for reasons similar to why international trade generates gains.</a:t>
            </a:r>
          </a:p>
          <a:p>
            <a:pPr marL="741600" lvl="1"/>
            <a:r>
              <a:rPr lang="en-US" altLang="en-US" sz="2200" dirty="0"/>
              <a:t>Multinationals and firms that outsource take advantage of cost differentials that favor moving production (or parts thereof) to particular locations.</a:t>
            </a:r>
          </a:p>
          <a:p>
            <a:pPr marL="741600" lvl="1"/>
            <a:r>
              <a:rPr lang="en-US" altLang="en-US" sz="2200" dirty="0"/>
              <a:t>F</a:t>
            </a:r>
            <a:r>
              <a:rPr lang="en-US" altLang="en-US" sz="100" dirty="0"/>
              <a:t> </a:t>
            </a:r>
            <a:r>
              <a:rPr lang="en-US" altLang="en-US" sz="2200" dirty="0"/>
              <a:t>D</a:t>
            </a:r>
            <a:r>
              <a:rPr lang="en-US" altLang="en-US" sz="100" dirty="0"/>
              <a:t> </a:t>
            </a:r>
            <a:r>
              <a:rPr lang="en-US" altLang="en-US" sz="2200" dirty="0"/>
              <a:t>I is very similar to the relocation of production that occurred </a:t>
            </a:r>
            <a:r>
              <a:rPr lang="en-US" altLang="en-US" sz="2200" i="1" dirty="0"/>
              <a:t>across </a:t>
            </a:r>
            <a:r>
              <a:rPr lang="en-US" altLang="en-US" sz="2200" dirty="0"/>
              <a:t>sectors when opening to trade</a:t>
            </a:r>
            <a:r>
              <a:rPr lang="en-US" altLang="en-US" sz="2200" dirty="0" smtClean="0"/>
              <a:t>.</a:t>
            </a:r>
            <a:endParaRPr lang="en-US" altLang="en-US" sz="2200" dirty="0"/>
          </a:p>
          <a:p>
            <a:pPr marL="741600" lvl="1"/>
            <a:r>
              <a:rPr lang="en-US" altLang="en-US" sz="2200" dirty="0"/>
              <a:t>There are similar welfare consequences for the case of multinationals and outsourcing: Relocating production to take advantage of cost differences leads to overall gains from trade.</a:t>
            </a:r>
            <a:endParaRPr lang="en-IN" sz="2200" dirty="0"/>
          </a:p>
        </p:txBody>
      </p:sp>
    </p:spTree>
    <p:extLst>
      <p:ext uri="{BB962C8B-B14F-4D97-AF65-F5344CB8AC3E}">
        <p14:creationId xmlns:p14="http://schemas.microsoft.com/office/powerpoint/2010/main" val="985146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Whose Trade Is It? </a:t>
            </a:r>
            <a:r>
              <a:rPr lang="en-US" sz="2000" b="0" dirty="0"/>
              <a:t>(1 of 4)</a:t>
            </a:r>
            <a:endParaRPr lang="en-IN" dirty="0"/>
          </a:p>
        </p:txBody>
      </p:sp>
      <p:sp>
        <p:nvSpPr>
          <p:cNvPr id="3" name="Content Placeholder 2"/>
          <p:cNvSpPr>
            <a:spLocks noGrp="1"/>
          </p:cNvSpPr>
          <p:nvPr>
            <p:ph sz="quarter" idx="13"/>
          </p:nvPr>
        </p:nvSpPr>
        <p:spPr/>
        <p:txBody>
          <a:bodyPr/>
          <a:lstStyle/>
          <a:p>
            <a:r>
              <a:rPr lang="en-US" dirty="0"/>
              <a:t>Large bilateral trade deficit between the United States and China.</a:t>
            </a:r>
          </a:p>
          <a:p>
            <a:pPr lvl="1"/>
            <a:r>
              <a:rPr lang="en-US" dirty="0"/>
              <a:t>$344 billion in 2019,</a:t>
            </a:r>
          </a:p>
          <a:p>
            <a:pPr lvl="1"/>
            <a:r>
              <a:rPr lang="en-US" dirty="0"/>
              <a:t>accounts for 56% of the overall U.S. trade deficit (in goods and services) with the rest of the world,</a:t>
            </a:r>
          </a:p>
          <a:p>
            <a:pPr lvl="1"/>
            <a:r>
              <a:rPr lang="en-US" dirty="0"/>
              <a:t>prominently featured in the press and by politicians (often as a sign of unfair trade practices).</a:t>
            </a:r>
            <a:endParaRPr lang="en-IN" dirty="0"/>
          </a:p>
        </p:txBody>
      </p:sp>
    </p:spTree>
    <p:extLst>
      <p:ext uri="{BB962C8B-B14F-4D97-AF65-F5344CB8AC3E}">
        <p14:creationId xmlns:p14="http://schemas.microsoft.com/office/powerpoint/2010/main" val="33102442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Whose Trade Is It? </a:t>
            </a:r>
            <a:r>
              <a:rPr lang="en-US" sz="2000" b="0" dirty="0"/>
              <a:t>(2 of 4)</a:t>
            </a:r>
            <a:endParaRPr lang="en-IN" dirty="0"/>
          </a:p>
        </p:txBody>
      </p:sp>
      <p:sp>
        <p:nvSpPr>
          <p:cNvPr id="3" name="Content Placeholder 2"/>
          <p:cNvSpPr>
            <a:spLocks noGrp="1"/>
          </p:cNvSpPr>
          <p:nvPr>
            <p:ph sz="quarter" idx="13"/>
          </p:nvPr>
        </p:nvSpPr>
        <p:spPr>
          <a:xfrm>
            <a:off x="457200" y="1556327"/>
            <a:ext cx="8306790" cy="4586896"/>
          </a:xfrm>
        </p:spPr>
        <p:txBody>
          <a:bodyPr/>
          <a:lstStyle/>
          <a:p>
            <a:pPr marL="255600"/>
            <a:r>
              <a:rPr lang="en-US" dirty="0"/>
              <a:t>Buying an iPhone 11 Pro Max from Apple in the United States is recorded as a $490 import from China (where the iPhone is assembled and tested).</a:t>
            </a:r>
          </a:p>
          <a:p>
            <a:pPr marL="255600"/>
            <a:r>
              <a:rPr lang="en-US" dirty="0"/>
              <a:t>Of this total manufacturing cost, less than $10 stems from assembly and testing performed in China</a:t>
            </a:r>
            <a:r>
              <a:rPr lang="en-US" dirty="0" smtClean="0"/>
              <a:t>.</a:t>
            </a:r>
            <a:endParaRPr lang="en-US" dirty="0"/>
          </a:p>
          <a:p>
            <a:pPr marL="255600"/>
            <a:r>
              <a:rPr lang="en-US" dirty="0"/>
              <a:t>The remaining $480 represents the iPhone’s component costs, which are overwhelmingly produced outside China.</a:t>
            </a:r>
          </a:p>
          <a:p>
            <a:pPr marL="741600" lvl="1"/>
            <a:r>
              <a:rPr lang="en-US" dirty="0"/>
              <a:t>spread throughout Asia (Korea, Japan, and Taiwan are the largest suppliers), Europe, and the Americas.</a:t>
            </a:r>
            <a:endParaRPr lang="en-IN" dirty="0"/>
          </a:p>
        </p:txBody>
      </p:sp>
    </p:spTree>
    <p:extLst>
      <p:ext uri="{BB962C8B-B14F-4D97-AF65-F5344CB8AC3E}">
        <p14:creationId xmlns:p14="http://schemas.microsoft.com/office/powerpoint/2010/main" val="15764514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Whose Trade Is It? </a:t>
            </a:r>
            <a:r>
              <a:rPr lang="en-US" sz="2000" b="0" dirty="0"/>
              <a:t>(3 of 4)</a:t>
            </a:r>
            <a:endParaRPr lang="en-IN" dirty="0"/>
          </a:p>
        </p:txBody>
      </p:sp>
      <p:sp>
        <p:nvSpPr>
          <p:cNvPr id="3" name="Content Placeholder 2"/>
          <p:cNvSpPr>
            <a:spLocks noGrp="1"/>
          </p:cNvSpPr>
          <p:nvPr>
            <p:ph sz="quarter" idx="13"/>
          </p:nvPr>
        </p:nvSpPr>
        <p:spPr/>
        <p:txBody>
          <a:bodyPr/>
          <a:lstStyle/>
          <a:p>
            <a:pPr marL="255600"/>
            <a:r>
              <a:rPr lang="en-US" dirty="0"/>
              <a:t>Seventy-five sites in the United States contribute to the production of iPhone components and employ 257,000 U.S. workers.</a:t>
            </a:r>
          </a:p>
          <a:p>
            <a:pPr marL="741600" lvl="1"/>
            <a:r>
              <a:rPr lang="en-US" dirty="0"/>
              <a:t>For example, the glass </a:t>
            </a:r>
            <a:r>
              <a:rPr lang="en-US" dirty="0" smtClean="0"/>
              <a:t>screens </a:t>
            </a:r>
            <a:r>
              <a:rPr lang="en-US" dirty="0"/>
              <a:t>are produced in Kentucky and the Face I</a:t>
            </a:r>
            <a:r>
              <a:rPr lang="en-US" sz="100" dirty="0"/>
              <a:t> </a:t>
            </a:r>
            <a:r>
              <a:rPr lang="en-US" dirty="0"/>
              <a:t>D chips in Texas.</a:t>
            </a:r>
          </a:p>
          <a:p>
            <a:pPr marL="255600"/>
            <a:r>
              <a:rPr lang="en-US" dirty="0"/>
              <a:t>Many of the component producers outside the United States employ U.S. researchers and engineers.</a:t>
            </a:r>
          </a:p>
          <a:p>
            <a:pPr marL="741600" lvl="1"/>
            <a:r>
              <a:rPr lang="en-US" dirty="0"/>
              <a:t> For example, the Korean company Samsung operates research facilities in Texas and California that employ several thousand workers.</a:t>
            </a:r>
            <a:endParaRPr lang="en-IN" dirty="0"/>
          </a:p>
        </p:txBody>
      </p:sp>
    </p:spTree>
    <p:extLst>
      <p:ext uri="{BB962C8B-B14F-4D97-AF65-F5344CB8AC3E}">
        <p14:creationId xmlns:p14="http://schemas.microsoft.com/office/powerpoint/2010/main" val="4511699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Whose Trade Is It? </a:t>
            </a:r>
            <a:r>
              <a:rPr lang="en-US" sz="2000" b="0" dirty="0"/>
              <a:t>(4 of 4)</a:t>
            </a:r>
            <a:endParaRPr lang="en-IN" dirty="0"/>
          </a:p>
        </p:txBody>
      </p:sp>
      <p:sp>
        <p:nvSpPr>
          <p:cNvPr id="3" name="Content Placeholder 2"/>
          <p:cNvSpPr>
            <a:spLocks noGrp="1"/>
          </p:cNvSpPr>
          <p:nvPr>
            <p:ph sz="quarter" idx="13"/>
          </p:nvPr>
        </p:nvSpPr>
        <p:spPr/>
        <p:txBody>
          <a:bodyPr/>
          <a:lstStyle/>
          <a:p>
            <a:r>
              <a:rPr lang="en-US" dirty="0"/>
              <a:t>The true bilateral deficit between the United States and China (at value added) is estimated to be roughly half of the reported bilateral trade deficit based on gross value.</a:t>
            </a:r>
          </a:p>
          <a:p>
            <a:r>
              <a:rPr lang="en-US" dirty="0"/>
              <a:t>The trade deficits with Germany, Japan, and Korea are magnified when measured as value added, because those countries manufacture many of the components that are assembled in China and then imported as final goods into the United States.</a:t>
            </a:r>
          </a:p>
          <a:p>
            <a:r>
              <a:rPr lang="en-US" dirty="0"/>
              <a:t>Leaves the overall U.S. trade deficit (with the rest of the world) unchanged.</a:t>
            </a:r>
            <a:endParaRPr lang="en-IN" dirty="0"/>
          </a:p>
        </p:txBody>
      </p:sp>
    </p:spTree>
    <p:extLst>
      <p:ext uri="{BB962C8B-B14F-4D97-AF65-F5344CB8AC3E}">
        <p14:creationId xmlns:p14="http://schemas.microsoft.com/office/powerpoint/2010/main" val="17114756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Summary </a:t>
            </a:r>
            <a:r>
              <a:rPr lang="en-US" altLang="en-US" sz="2000" b="0" dirty="0" smtClean="0"/>
              <a:t>(1 of 4)</a:t>
            </a:r>
            <a:endParaRPr lang="en-US" dirty="0"/>
          </a:p>
        </p:txBody>
      </p:sp>
      <p:sp>
        <p:nvSpPr>
          <p:cNvPr id="3" name="Content Placeholder 2"/>
          <p:cNvSpPr>
            <a:spLocks noGrp="1"/>
          </p:cNvSpPr>
          <p:nvPr>
            <p:ph sz="quarter" idx="13"/>
          </p:nvPr>
        </p:nvSpPr>
        <p:spPr>
          <a:xfrm>
            <a:off x="457200" y="1556327"/>
            <a:ext cx="8081158" cy="4586896"/>
          </a:xfrm>
        </p:spPr>
        <p:txBody>
          <a:bodyPr/>
          <a:lstStyle/>
          <a:p>
            <a:pPr marL="432000" indent="-432000">
              <a:buFont typeface="Times" pitchFamily="-1" charset="0"/>
              <a:buAutoNum type="arabicPeriod"/>
            </a:pPr>
            <a:r>
              <a:rPr lang="en-US" altLang="en-US" dirty="0" smtClean="0"/>
              <a:t>Internal economies of scale imply that more production at the firm level causes average costs to fall.</a:t>
            </a:r>
          </a:p>
          <a:p>
            <a:pPr marL="432000" indent="-432000">
              <a:buFont typeface="Times" pitchFamily="-1" charset="0"/>
              <a:buAutoNum type="arabicPeriod"/>
            </a:pPr>
            <a:r>
              <a:rPr lang="en-US" altLang="en-US" dirty="0" smtClean="0"/>
              <a:t>With monopolistic competition, each firm can raise prices somewhat above those on competing products due to product differentiation but must compete with other firms whose prices are believed to be unaffected by each firm’</a:t>
            </a:r>
            <a:r>
              <a:rPr lang="en-US" altLang="ja-JP" dirty="0" smtClean="0"/>
              <a:t>s actions.</a:t>
            </a:r>
          </a:p>
          <a:p>
            <a:pPr marL="432000" indent="-432000">
              <a:buFont typeface="Times" pitchFamily="-1" charset="0"/>
              <a:buAutoNum type="arabicPeriod"/>
            </a:pPr>
            <a:r>
              <a:rPr lang="en-US" altLang="en-US" dirty="0" smtClean="0"/>
              <a:t>Monopolistic competition allows for gains from trade through lower costs and prices, as well as through wider consumer choice.</a:t>
            </a:r>
            <a:endParaRPr lang="en-US" dirty="0"/>
          </a:p>
        </p:txBody>
      </p:sp>
    </p:spTree>
    <p:extLst>
      <p:ext uri="{BB962C8B-B14F-4D97-AF65-F5344CB8AC3E}">
        <p14:creationId xmlns:p14="http://schemas.microsoft.com/office/powerpoint/2010/main" val="14111154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4)</a:t>
            </a:r>
            <a:endParaRPr lang="en-IN" dirty="0"/>
          </a:p>
        </p:txBody>
      </p:sp>
      <p:sp>
        <p:nvSpPr>
          <p:cNvPr id="3" name="Content Placeholder 2"/>
          <p:cNvSpPr>
            <a:spLocks noGrp="1"/>
          </p:cNvSpPr>
          <p:nvPr>
            <p:ph sz="quarter" idx="13"/>
          </p:nvPr>
        </p:nvSpPr>
        <p:spPr/>
        <p:txBody>
          <a:bodyPr/>
          <a:lstStyle/>
          <a:p>
            <a:pPr marL="432000" indent="-432000">
              <a:buFont typeface="Times" pitchFamily="-1" charset="0"/>
              <a:buAutoNum type="arabicPeriod" startAt="4"/>
            </a:pPr>
            <a:r>
              <a:rPr lang="en-US" altLang="en-US" dirty="0"/>
              <a:t>Monopolistic competition predicts intra-industry trade, and does not predict changes in income distribution within a country.</a:t>
            </a:r>
          </a:p>
          <a:p>
            <a:pPr marL="432000" indent="-432000">
              <a:buFont typeface="Times" pitchFamily="-1" charset="0"/>
              <a:buAutoNum type="arabicPeriod" startAt="4"/>
            </a:pPr>
            <a:r>
              <a:rPr lang="en-US" altLang="en-US" dirty="0"/>
              <a:t>Location of firms under monopolistic competition is unpredictable, but countries with similar relative factors are predicted to engage in intra-industry trade.</a:t>
            </a:r>
            <a:endParaRPr lang="en-IN" dirty="0"/>
          </a:p>
        </p:txBody>
      </p:sp>
    </p:spTree>
    <p:extLst>
      <p:ext uri="{BB962C8B-B14F-4D97-AF65-F5344CB8AC3E}">
        <p14:creationId xmlns:p14="http://schemas.microsoft.com/office/powerpoint/2010/main" val="40351762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4)</a:t>
            </a:r>
            <a:endParaRPr lang="en-IN" dirty="0"/>
          </a:p>
        </p:txBody>
      </p:sp>
      <p:sp>
        <p:nvSpPr>
          <p:cNvPr id="3" name="Content Placeholder 2"/>
          <p:cNvSpPr>
            <a:spLocks noGrp="1"/>
          </p:cNvSpPr>
          <p:nvPr>
            <p:ph sz="quarter" idx="13"/>
          </p:nvPr>
        </p:nvSpPr>
        <p:spPr/>
        <p:txBody>
          <a:bodyPr/>
          <a:lstStyle/>
          <a:p>
            <a:pPr marL="432000" indent="-432000">
              <a:buFont typeface="Times" pitchFamily="-1" charset="0"/>
              <a:buAutoNum type="arabicPeriod" startAt="6"/>
            </a:pPr>
            <a:r>
              <a:rPr lang="en-US" altLang="en-US" dirty="0"/>
              <a:t>Dumping may be a profitable strategy when a firm faces little competition in its domestic market and faces heavy competition in foreign markets.</a:t>
            </a:r>
          </a:p>
          <a:p>
            <a:pPr marL="432000" indent="-432000">
              <a:buFont typeface="Times" pitchFamily="-1" charset="0"/>
              <a:buAutoNum type="arabicPeriod" startAt="6"/>
            </a:pPr>
            <a:r>
              <a:rPr lang="en-US" altLang="en-US" dirty="0"/>
              <a:t>Multinationals are typically larger and more productive than exporters, which in turn are larger and more efficient than firms that sell only to the domestic market.</a:t>
            </a:r>
            <a:endParaRPr lang="en-IN" dirty="0"/>
          </a:p>
        </p:txBody>
      </p:sp>
    </p:spTree>
    <p:extLst>
      <p:ext uri="{BB962C8B-B14F-4D97-AF65-F5344CB8AC3E}">
        <p14:creationId xmlns:p14="http://schemas.microsoft.com/office/powerpoint/2010/main" val="12553970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(4 of 4)</a:t>
            </a:r>
            <a:endParaRPr lang="en-IN" dirty="0"/>
          </a:p>
        </p:txBody>
      </p:sp>
      <p:sp>
        <p:nvSpPr>
          <p:cNvPr id="4" name="Content Placeholder 3"/>
          <p:cNvSpPr>
            <a:spLocks noGrp="1"/>
          </p:cNvSpPr>
          <p:nvPr>
            <p:ph sz="quarter" idx="13"/>
          </p:nvPr>
        </p:nvSpPr>
        <p:spPr>
          <a:xfrm>
            <a:off x="457200" y="1556327"/>
            <a:ext cx="8229600" cy="1281876"/>
          </a:xfrm>
        </p:spPr>
        <p:txBody>
          <a:bodyPr/>
          <a:lstStyle/>
          <a:p>
            <a:pPr marL="432000" indent="-432000">
              <a:buFont typeface="+mj-lt"/>
              <a:buAutoNum type="arabicPeriod" startAt="8"/>
            </a:pPr>
            <a:r>
              <a:rPr lang="en-US" altLang="en-US" dirty="0"/>
              <a:t>Multinational corporations undertake foreign direct investment when proximity is more important than concentrating production in one location</a:t>
            </a:r>
            <a:endParaRPr lang="en-IN" dirty="0"/>
          </a:p>
        </p:txBody>
      </p:sp>
      <p:sp>
        <p:nvSpPr>
          <p:cNvPr id="5" name="Content Placeholder 4"/>
          <p:cNvSpPr>
            <a:spLocks noGrp="1"/>
          </p:cNvSpPr>
          <p:nvPr>
            <p:ph sz="quarter" idx="14"/>
          </p:nvPr>
        </p:nvSpPr>
        <p:spPr>
          <a:xfrm>
            <a:off x="457200" y="2909457"/>
            <a:ext cx="8229600" cy="2493818"/>
          </a:xfrm>
        </p:spPr>
        <p:txBody>
          <a:bodyPr/>
          <a:lstStyle/>
          <a:p>
            <a:pPr lvl="1"/>
            <a:r>
              <a:rPr lang="en-US" altLang="en-US" dirty="0"/>
              <a:t>Firms produce where it is most cost-effective — abroad if the scale is large enough. They replicate entire production process abroad or locate stages in different countries.</a:t>
            </a:r>
          </a:p>
          <a:p>
            <a:pPr lvl="1"/>
            <a:r>
              <a:rPr lang="en-US" altLang="en-US" dirty="0"/>
              <a:t>Firms also decide whether to keep transactions within the firm or contract with another firm.</a:t>
            </a:r>
            <a:endParaRPr lang="en-IN" dirty="0"/>
          </a:p>
        </p:txBody>
      </p:sp>
    </p:spTree>
    <p:extLst>
      <p:ext uri="{BB962C8B-B14F-4D97-AF65-F5344CB8AC3E}">
        <p14:creationId xmlns:p14="http://schemas.microsoft.com/office/powerpoint/2010/main" val="19331880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148294</TotalTime>
  <Words>8056</Words>
  <Application>Microsoft Office PowerPoint</Application>
  <PresentationFormat>On-screen Show (4:3)</PresentationFormat>
  <Paragraphs>473</Paragraphs>
  <Slides>83</Slides>
  <Notes>13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83</vt:i4>
      </vt:variant>
    </vt:vector>
  </HeadingPairs>
  <TitlesOfParts>
    <vt:vector size="92" baseType="lpstr">
      <vt:lpstr>Verdana</vt:lpstr>
      <vt:lpstr>Times New Roman</vt:lpstr>
      <vt:lpstr>Noto Sans Symbols</vt:lpstr>
      <vt:lpstr>Arial</vt:lpstr>
      <vt:lpstr>Times</vt:lpstr>
      <vt:lpstr>ヒラギノ角ゴ Pro W3</vt:lpstr>
      <vt:lpstr>USHE</vt:lpstr>
      <vt:lpstr>USHE_slide options</vt:lpstr>
      <vt:lpstr>Equation</vt:lpstr>
      <vt:lpstr>International Economics: Theory and Policy</vt:lpstr>
      <vt:lpstr>Learning Objectives (1 of 2)</vt:lpstr>
      <vt:lpstr>Learning Objectives (2 of 2)</vt:lpstr>
      <vt:lpstr>Preview</vt:lpstr>
      <vt:lpstr>Introduction (1 of 3)</vt:lpstr>
      <vt:lpstr>Introduction (2 of 3)</vt:lpstr>
      <vt:lpstr>Introduction (3 of 3)</vt:lpstr>
      <vt:lpstr>The Theory of Imperfect Competition</vt:lpstr>
      <vt:lpstr>Monopoly: A Brief Review (1 of 4)</vt:lpstr>
      <vt:lpstr>Monopoly: A Brief Review (2 of 4)</vt:lpstr>
      <vt:lpstr>Figure 8.1 Monopolistic Pricing and Production Decisions</vt:lpstr>
      <vt:lpstr>Monopoly: A Brief Review (3 of 4)</vt:lpstr>
      <vt:lpstr>Figure 8.2 Average versus Marginal Cost</vt:lpstr>
      <vt:lpstr>Monopoly: A Brief Review (4 of 4)</vt:lpstr>
      <vt:lpstr>Monopolistic Competition (1 of 9)</vt:lpstr>
      <vt:lpstr>Monopolistic Competition (2 of 9)</vt:lpstr>
      <vt:lpstr>Monopolistic Competition (3 of 9)</vt:lpstr>
      <vt:lpstr>Monopolistic Competition (4 of 9)</vt:lpstr>
      <vt:lpstr>Monopolistic Competition (5 of 9)</vt:lpstr>
      <vt:lpstr>Figure 8.3 Equilibrium in a Monopolistically Competitive Market</vt:lpstr>
      <vt:lpstr>Monopolistic Competition (6 of 9)</vt:lpstr>
      <vt:lpstr>Monopolistic Competition (7 of 9)</vt:lpstr>
      <vt:lpstr>Monopolistic Competition (8 of 9)</vt:lpstr>
      <vt:lpstr>Monopolistic Competition (9 of 9)</vt:lpstr>
      <vt:lpstr>Monopolistic Competition and Trade (1 of 2)</vt:lpstr>
      <vt:lpstr>Figure 8.4 Effects of a Larger Market</vt:lpstr>
      <vt:lpstr>Gains from an Integrated Market: A Numerical Example (1 of 3)</vt:lpstr>
      <vt:lpstr>Gains from an Integrated Market: A Numerical Example (2 of 3)</vt:lpstr>
      <vt:lpstr>Gains from an Integrated Market: A Numerical Example (3 of 3)</vt:lpstr>
      <vt:lpstr>Figure 8.5 Equilibrium in the Automobile Market (1 of 2)</vt:lpstr>
      <vt:lpstr>Figure 8.5 Equilibrium in the Automobile Market (2 of 2)</vt:lpstr>
      <vt:lpstr>Table 8.1 Hypothetical Example of Gains from Market Integration</vt:lpstr>
      <vt:lpstr>Monopolistic Competition and Trade (2 of 2)</vt:lpstr>
      <vt:lpstr>The Significance of Intra-Industry Trade (1 of 2)</vt:lpstr>
      <vt:lpstr>The Significance of Intra-Industry Trade (2 of 2)</vt:lpstr>
      <vt:lpstr>Table 8.2 Indexes of Intra-Industry Trade for U.S. Industries, 2009</vt:lpstr>
      <vt:lpstr>Intra-Industry Trade in Action: The North American Auto Pact of 1964 and N A F T A (1 of 5)</vt:lpstr>
      <vt:lpstr>Intra-Industry Trade in Action: The North American Auto Pact of 1964 and N A F T A (2 of 5)</vt:lpstr>
      <vt:lpstr>Intra-Industry Trade in Action: The North American Auto Pact of 1964 and N A F T A (3 of 5)</vt:lpstr>
      <vt:lpstr>Intra-Industry Trade in Action: The North American Auto Pact of 1964 and N A F T A (4 of 5)</vt:lpstr>
      <vt:lpstr>Intra-Industry Trade in Action: The North American Auto Pact of 1964 and N A F T A (5 of 5)</vt:lpstr>
      <vt:lpstr>Firm Responses to Trade</vt:lpstr>
      <vt:lpstr>Figure 8.6 Performance Differences across Firms</vt:lpstr>
      <vt:lpstr>Figure 8.7 Winners and Losers from Economic Integration</vt:lpstr>
      <vt:lpstr>Trade Costs and Export Decisions (1 of 4)</vt:lpstr>
      <vt:lpstr>Table 8.3 Proportion of U.S. Firms Reporting Export Sales by Industry, 2007</vt:lpstr>
      <vt:lpstr>Trade Costs and Export Decisions (2 of 4)</vt:lpstr>
      <vt:lpstr>Trade Costs and Export Decisions (3 of 4)</vt:lpstr>
      <vt:lpstr>Trade Costs and Export Decisions (4 of 4)</vt:lpstr>
      <vt:lpstr>Figure 8.8 Export Decisions with Trade Costs</vt:lpstr>
      <vt:lpstr>Dumping (1 of 2)</vt:lpstr>
      <vt:lpstr>Dumping (2 of 2)</vt:lpstr>
      <vt:lpstr>Protectionism and Dumping (1 of 5)</vt:lpstr>
      <vt:lpstr>Protectionism and Dumping (2 of 5)</vt:lpstr>
      <vt:lpstr>Protectionism and Dumping (3 of 5)</vt:lpstr>
      <vt:lpstr>Protectionism and Dumping (4 of 5)</vt:lpstr>
      <vt:lpstr>Protectionism and Dumping (5 of 5)</vt:lpstr>
      <vt:lpstr>Multinationals and Outsourcing (1 of 6)</vt:lpstr>
      <vt:lpstr>Multinationals and Outsourcing (2 of 6)</vt:lpstr>
      <vt:lpstr>Multinationals and Outsourcing (3 of 6)</vt:lpstr>
      <vt:lpstr>Figure 8.9 Inflows of Foreign Direct Investment, 1970–2019 (Percent of World G D P)</vt:lpstr>
      <vt:lpstr>Multinationals and Outsourcing (4 of 6)</vt:lpstr>
      <vt:lpstr>Multinationals and Outsourcing (5 of 6)</vt:lpstr>
      <vt:lpstr>Multinationals and Outsourcing (6 of 6)</vt:lpstr>
      <vt:lpstr>Figure 8.10 Outward Foreign Direct Investment for Top 25 Countries, Yearly Average 2017–2019</vt:lpstr>
      <vt:lpstr>The Firm’s Decision Regarding Foreign Direct Investment (1 of 8)</vt:lpstr>
      <vt:lpstr>The Firm’s Decision Regarding Foreign Direct Investment (2 of 8)</vt:lpstr>
      <vt:lpstr>The Firm’s Decision Regarding Foreign Direct Investment (3 of 8)</vt:lpstr>
      <vt:lpstr>The Firm’s Decision Regarding Foreign Direct Investment (4 of 8)</vt:lpstr>
      <vt:lpstr>The Firm’s Decision Regarding Foreign Direct Investment (5 of 8)</vt:lpstr>
      <vt:lpstr>Figure 8.12 U.S. International Trade in Business Services, 1999–2019</vt:lpstr>
      <vt:lpstr>The Firm’s Decision Regarding Foreign Direct Investment (6 of 8)</vt:lpstr>
      <vt:lpstr>The Firm’s Decision Regarding Foreign Direct Investment (7 of 8)</vt:lpstr>
      <vt:lpstr>The Firm’s Decision Regarding Foreign Direct Investment (8 of 8)</vt:lpstr>
      <vt:lpstr>Whose Trade Is It? (1 of 4)</vt:lpstr>
      <vt:lpstr>Whose Trade Is It? (2 of 4)</vt:lpstr>
      <vt:lpstr>Whose Trade Is It? (3 of 4)</vt:lpstr>
      <vt:lpstr>Whose Trade Is It? (4 of 4)</vt:lpstr>
      <vt:lpstr>Summary (1 of 4)</vt:lpstr>
      <vt:lpstr>Summary (2 of 4)</vt:lpstr>
      <vt:lpstr>Summary (3 of 4)</vt:lpstr>
      <vt:lpstr>Summary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8, Firms in the Global Economy: Export and Foreign Sourcing Decisions and Multinational Enterprises</dc:title>
  <dc:subject>Business</dc:subject>
  <dc:creator>Krugman/Obstfeld/Melitz</dc:creator>
  <cp:keywords>International Economics</cp:keywords>
  <dc:description>Long description alt-text is inserted in the notes pane.</dc:description>
  <cp:lastModifiedBy>admin</cp:lastModifiedBy>
  <cp:revision>1151</cp:revision>
  <dcterms:modified xsi:type="dcterms:W3CDTF">2021-11-10T09:15:01Z</dcterms:modified>
</cp:coreProperties>
</file>