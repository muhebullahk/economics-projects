
<file path=[Content_Types].xml><?xml version="1.0" encoding="utf-8"?>
<Types xmlns="http://schemas.openxmlformats.org/package/2006/content-types">
  <Default Extension="bin" ContentType="application/vnd.openxmlformats-officedocument.oleObject"/>
  <Default Extension="PNG" ContentType="image/png"/>
  <Default Extension="svg" ContentType="image/svg+xml"/>
  <Default Extension="jpeg" ContentType="image/jpeg"/>
  <Default Extension="wmf" ContentType="image/x-wmf"/>
  <Default Extension="emf" ContentType="image/x-emf"/>
  <Default Extension="rels" ContentType="application/vnd.openxmlformats-package.relationships+xml"/>
  <Default Extension="xml" ContentType="application/xml"/>
  <Default Extension="fntdata" ContentType="application/x-fontdata"/>
  <Default Extension="vml" ContentType="application/vnd.openxmlformats-officedocument.vmlDrawing"/>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3" r:id="rId1"/>
    <p:sldMasterId id="2147483659" r:id="rId2"/>
  </p:sldMasterIdLst>
  <p:notesMasterIdLst>
    <p:notesMasterId r:id="rId73"/>
  </p:notesMasterIdLst>
  <p:handoutMasterIdLst>
    <p:handoutMasterId r:id="rId74"/>
  </p:handoutMasterIdLst>
  <p:sldIdLst>
    <p:sldId id="330" r:id="rId3"/>
    <p:sldId id="331" r:id="rId4"/>
    <p:sldId id="334" r:id="rId5"/>
    <p:sldId id="333" r:id="rId6"/>
    <p:sldId id="332" r:id="rId7"/>
    <p:sldId id="335" r:id="rId8"/>
    <p:sldId id="336" r:id="rId9"/>
    <p:sldId id="337" r:id="rId10"/>
    <p:sldId id="338" r:id="rId11"/>
    <p:sldId id="399" r:id="rId12"/>
    <p:sldId id="340" r:id="rId13"/>
    <p:sldId id="341" r:id="rId14"/>
    <p:sldId id="342" r:id="rId15"/>
    <p:sldId id="343" r:id="rId16"/>
    <p:sldId id="344" r:id="rId17"/>
    <p:sldId id="345" r:id="rId18"/>
    <p:sldId id="346" r:id="rId19"/>
    <p:sldId id="347" r:id="rId20"/>
    <p:sldId id="348" r:id="rId21"/>
    <p:sldId id="349" r:id="rId22"/>
    <p:sldId id="350" r:id="rId23"/>
    <p:sldId id="351" r:id="rId24"/>
    <p:sldId id="352" r:id="rId25"/>
    <p:sldId id="353" r:id="rId26"/>
    <p:sldId id="354" r:id="rId27"/>
    <p:sldId id="355" r:id="rId28"/>
    <p:sldId id="356" r:id="rId29"/>
    <p:sldId id="357" r:id="rId30"/>
    <p:sldId id="358" r:id="rId31"/>
    <p:sldId id="359" r:id="rId32"/>
    <p:sldId id="360" r:id="rId33"/>
    <p:sldId id="361" r:id="rId34"/>
    <p:sldId id="362" r:id="rId35"/>
    <p:sldId id="363" r:id="rId36"/>
    <p:sldId id="364" r:id="rId37"/>
    <p:sldId id="365" r:id="rId38"/>
    <p:sldId id="366" r:id="rId39"/>
    <p:sldId id="367" r:id="rId40"/>
    <p:sldId id="368" r:id="rId41"/>
    <p:sldId id="369" r:id="rId42"/>
    <p:sldId id="370" r:id="rId43"/>
    <p:sldId id="371" r:id="rId44"/>
    <p:sldId id="372" r:id="rId45"/>
    <p:sldId id="373" r:id="rId46"/>
    <p:sldId id="374" r:id="rId47"/>
    <p:sldId id="375" r:id="rId48"/>
    <p:sldId id="376" r:id="rId49"/>
    <p:sldId id="377" r:id="rId50"/>
    <p:sldId id="378" r:id="rId51"/>
    <p:sldId id="379" r:id="rId52"/>
    <p:sldId id="380" r:id="rId53"/>
    <p:sldId id="381" r:id="rId54"/>
    <p:sldId id="382" r:id="rId55"/>
    <p:sldId id="383" r:id="rId56"/>
    <p:sldId id="384" r:id="rId57"/>
    <p:sldId id="385" r:id="rId58"/>
    <p:sldId id="386" r:id="rId59"/>
    <p:sldId id="387" r:id="rId60"/>
    <p:sldId id="388" r:id="rId61"/>
    <p:sldId id="389" r:id="rId62"/>
    <p:sldId id="390" r:id="rId63"/>
    <p:sldId id="391" r:id="rId64"/>
    <p:sldId id="392" r:id="rId65"/>
    <p:sldId id="393" r:id="rId66"/>
    <p:sldId id="394" r:id="rId67"/>
    <p:sldId id="395" r:id="rId68"/>
    <p:sldId id="396" r:id="rId69"/>
    <p:sldId id="397" r:id="rId70"/>
    <p:sldId id="398" r:id="rId71"/>
    <p:sldId id="298" r:id="rId72"/>
  </p:sldIdLst>
  <p:sldSz cx="9144000" cy="6858000" type="screen4x3"/>
  <p:notesSz cx="6858000" cy="9144000"/>
  <p:embeddedFontLst>
    <p:embeddedFont>
      <p:font typeface="Times" panose="02020603050405020304" pitchFamily="18" charset="0"/>
      <p:regular r:id="rId75"/>
      <p:bold r:id="rId76"/>
      <p:italic r:id="rId77"/>
      <p:boldItalic r:id="rId78"/>
    </p:embeddedFont>
    <p:embeddedFont>
      <p:font typeface="Calibri" panose="020F0502020204030204" pitchFamily="34" charset="0"/>
      <p:regular r:id="rId79"/>
      <p:bold r:id="rId80"/>
      <p:italic r:id="rId81"/>
      <p:boldItalic r:id="rId82"/>
    </p:embeddedFont>
    <p:embeddedFont>
      <p:font typeface="Noto Sans Symbols" panose="020B0604020202020204" charset="0"/>
      <p:regular r:id="rId83"/>
      <p:bold r:id="rId84"/>
      <p:italic r:id="rId85"/>
      <p:boldItalic r:id="rId86"/>
    </p:embeddedFont>
    <p:embeddedFont>
      <p:font typeface="Verdana" panose="020B0604030504040204" pitchFamily="34" charset="0"/>
      <p:regular r:id="rId87"/>
      <p:bold r:id="rId88"/>
      <p:italic r:id="rId89"/>
      <p:boldItalic r:id="rId90"/>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3974" userDrawn="1">
          <p15:clr>
            <a:srgbClr val="A4A3A4"/>
          </p15:clr>
        </p15:guide>
        <p15:guide id="2" pos="295" userDrawn="1">
          <p15:clr>
            <a:srgbClr val="A4A3A4"/>
          </p15:clr>
        </p15:guide>
        <p15:guide id="3" orient="horz" pos="4178" userDrawn="1">
          <p15:clr>
            <a:srgbClr val="A4A3A4"/>
          </p15:clr>
        </p15:guide>
        <p15:guide id="4" orient="horz" pos="119" userDrawn="1">
          <p15:clr>
            <a:srgbClr val="A4A3A4"/>
          </p15:clr>
        </p15:guide>
        <p15:guide id="5" orient="horz" pos="709" userDrawn="1">
          <p15:clr>
            <a:srgbClr val="A4A3A4"/>
          </p15:clr>
        </p15:guide>
        <p15:guide id="6" orient="horz" pos="1071" userDrawn="1">
          <p15:clr>
            <a:srgbClr val="A4A3A4"/>
          </p15:clr>
        </p15:guide>
        <p15:guide id="7" pos="635" userDrawn="1">
          <p15:clr>
            <a:srgbClr val="A4A3A4"/>
          </p15:clr>
        </p15:guide>
        <p15:guide id="8" orient="horz" pos="981" userDrawn="1">
          <p15:clr>
            <a:srgbClr val="A4A3A4"/>
          </p15:clr>
        </p15:guide>
        <p15:guide id="9" orient="horz" pos="822"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Jeffrey Holcomb" initials="" lastIdx="3" clrIdx="0"/>
  <p:cmAuthor id="1" name="Ruchi Sachdev" initials="" lastIdx="8" clrIdx="1"/>
  <p:cmAuthor id="2" name="Sarah Reusché" initials="" lastIdx="13" clrIdx="2"/>
  <p:cmAuthor id="3" name="Nitin Shankar" initials="" lastIdx="6" clrIdx="3"/>
  <p:cmAuthor id="4" name="Kristen Flathman" initials="" lastIdx="1" clrIdx="4"/>
  <p:cmAuthor id="5" name="Ben Schroeter" initials="" lastIdx="0" clrIdx="5"/>
  <p:cmAuthor id="6" name="AnnMarie Short" initials="AS" lastIdx="35" clrIdx="6">
    <p:extLst>
      <p:ext uri="{19B8F6BF-5375-455C-9EA6-DF929625EA0E}">
        <p15:presenceInfo xmlns:p15="http://schemas.microsoft.com/office/powerpoint/2012/main" userId="5a9a73d1263ca8f0"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7FA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40F9630F-82C1-40B7-BC3A-925EFCFF5E92}">
  <a:tblStyle styleId="{40F9630F-82C1-40B7-BC3A-925EFCFF5E92}" styleName="Table_0">
    <a:wholeTbl>
      <a:tcTxStyle b="off" i="off">
        <a:font>
          <a:latin typeface="Arial"/>
          <a:ea typeface="Arial"/>
          <a:cs typeface="Arial"/>
        </a:font>
        <a:schemeClr val="dk1"/>
      </a:tcTxStyle>
      <a:tcStyle>
        <a:tcBdr>
          <a:left>
            <a:ln w="9525" cap="flat" cmpd="sng">
              <a:solidFill>
                <a:srgbClr val="000000">
                  <a:alpha val="0"/>
                </a:srgbClr>
              </a:solidFill>
              <a:prstDash val="solid"/>
              <a:round/>
              <a:headEnd type="none" w="med" len="med"/>
              <a:tailEnd type="none" w="med" len="med"/>
            </a:ln>
          </a:left>
          <a:right>
            <a:ln w="9525" cap="flat" cmpd="sng">
              <a:solidFill>
                <a:srgbClr val="000000">
                  <a:alpha val="0"/>
                </a:srgbClr>
              </a:solidFill>
              <a:prstDash val="solid"/>
              <a:round/>
              <a:headEnd type="none" w="med" len="med"/>
              <a:tailEnd type="none" w="med" len="med"/>
            </a:ln>
          </a:right>
          <a:top>
            <a:ln w="12700" cap="flat" cmpd="sng">
              <a:solidFill>
                <a:schemeClr val="accent1"/>
              </a:solidFill>
              <a:prstDash val="solid"/>
              <a:round/>
              <a:headEnd type="none" w="med" len="med"/>
              <a:tailEnd type="none" w="med" len="med"/>
            </a:ln>
          </a:top>
          <a:bottom>
            <a:ln w="12700" cap="flat" cmpd="sng">
              <a:solidFill>
                <a:schemeClr val="accent1"/>
              </a:solidFill>
              <a:prstDash val="solid"/>
              <a:round/>
              <a:headEnd type="none" w="med" len="med"/>
              <a:tailEnd type="none" w="med" len="med"/>
            </a:ln>
          </a:bottom>
          <a:insideH>
            <a:ln w="9525" cap="flat" cmpd="sng">
              <a:solidFill>
                <a:srgbClr val="000000">
                  <a:alpha val="0"/>
                </a:srgbClr>
              </a:solidFill>
              <a:prstDash val="solid"/>
              <a:round/>
              <a:headEnd type="none" w="med" len="med"/>
              <a:tailEnd type="none" w="med" len="med"/>
            </a:ln>
          </a:insideH>
          <a:insideV>
            <a:ln w="9525" cap="flat" cmpd="sng">
              <a:solidFill>
                <a:srgbClr val="000000">
                  <a:alpha val="0"/>
                </a:srgbClr>
              </a:solidFill>
              <a:prstDash val="solid"/>
              <a:round/>
              <a:headEnd type="none" w="med" len="med"/>
              <a:tailEnd type="none" w="med" len="med"/>
            </a:ln>
          </a:insideV>
        </a:tcBdr>
        <a:fill>
          <a:solidFill>
            <a:srgbClr val="FFFFFF">
              <a:alpha val="0"/>
            </a:srgbClr>
          </a:solid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i="off"/>
      <a:tcStyle>
        <a:tcBdr/>
      </a:tcStyle>
    </a:lastCol>
    <a:firstCol>
      <a:tcTxStyle b="on" i="off"/>
      <a:tcStyle>
        <a:tcBdr/>
      </a:tcStyle>
    </a:firstCol>
    <a:lastRow>
      <a:tcTxStyle b="on" i="off"/>
      <a:tcStyle>
        <a:tcBdr>
          <a:top>
            <a:ln w="12700" cap="flat" cmpd="sng">
              <a:solidFill>
                <a:schemeClr val="accent1"/>
              </a:solidFill>
              <a:prstDash val="solid"/>
              <a:round/>
              <a:headEnd type="none" w="med" len="med"/>
              <a:tailEnd type="none" w="med" len="med"/>
            </a:ln>
          </a:top>
        </a:tcBdr>
        <a:fill>
          <a:solidFill>
            <a:srgbClr val="FFFFFF">
              <a:alpha val="0"/>
            </a:srgbClr>
          </a:solidFill>
        </a:fill>
      </a:tcStyle>
    </a:lastRow>
    <a:firstRow>
      <a:tcTxStyle b="on" i="off"/>
      <a:tcStyle>
        <a:tcBdr>
          <a:bottom>
            <a:ln w="12700" cap="flat" cmpd="sng">
              <a:solidFill>
                <a:schemeClr val="accent1"/>
              </a:solidFill>
              <a:prstDash val="solid"/>
              <a:round/>
              <a:headEnd type="none" w="med" len="med"/>
              <a:tailEnd type="none" w="med" len="med"/>
            </a:ln>
          </a:bottom>
        </a:tcBdr>
        <a:fill>
          <a:solidFill>
            <a:srgbClr val="FFFFFF">
              <a:alpha val="0"/>
            </a:srgbClr>
          </a:solidFill>
        </a:fill>
      </a:tcStyle>
    </a:firstRow>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7568" autoAdjust="0"/>
    <p:restoredTop sz="71924" autoAdjust="0"/>
  </p:normalViewPr>
  <p:slideViewPr>
    <p:cSldViewPr snapToGrid="0" snapToObjects="1">
      <p:cViewPr>
        <p:scale>
          <a:sx n="75" d="100"/>
          <a:sy n="75" d="100"/>
        </p:scale>
        <p:origin x="1500" y="204"/>
      </p:cViewPr>
      <p:guideLst>
        <p:guide orient="horz" pos="3974"/>
        <p:guide pos="295"/>
        <p:guide orient="horz" pos="4178"/>
        <p:guide orient="horz" pos="119"/>
        <p:guide orient="horz" pos="709"/>
        <p:guide orient="horz" pos="1071"/>
        <p:guide pos="635"/>
        <p:guide orient="horz" pos="981"/>
        <p:guide orient="horz" pos="822"/>
      </p:guideLst>
    </p:cSldViewPr>
  </p:slideViewPr>
  <p:outlineViewPr>
    <p:cViewPr>
      <p:scale>
        <a:sx n="33" d="100"/>
        <a:sy n="33" d="100"/>
      </p:scale>
      <p:origin x="0" y="-63384"/>
    </p:cViewPr>
  </p:outlineViewPr>
  <p:notesTextViewPr>
    <p:cViewPr>
      <p:scale>
        <a:sx n="100" d="100"/>
        <a:sy n="100" d="100"/>
      </p:scale>
      <p:origin x="0" y="0"/>
    </p:cViewPr>
  </p:notesTextViewPr>
  <p:sorterViewPr>
    <p:cViewPr>
      <p:scale>
        <a:sx n="100" d="100"/>
        <a:sy n="100" d="100"/>
      </p:scale>
      <p:origin x="0" y="-3346"/>
    </p:cViewPr>
  </p:sorterViewPr>
  <p:notesViewPr>
    <p:cSldViewPr snapToGrid="0" snapToObjects="1">
      <p:cViewPr varScale="1">
        <p:scale>
          <a:sx n="68" d="100"/>
          <a:sy n="68" d="100"/>
        </p:scale>
        <p:origin x="3060" y="72"/>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slide" Target="slides/slide45.xml"/><Relationship Id="rId50" Type="http://schemas.openxmlformats.org/officeDocument/2006/relationships/slide" Target="slides/slide48.xml"/><Relationship Id="rId55" Type="http://schemas.openxmlformats.org/officeDocument/2006/relationships/slide" Target="slides/slide53.xml"/><Relationship Id="rId63" Type="http://schemas.openxmlformats.org/officeDocument/2006/relationships/slide" Target="slides/slide61.xml"/><Relationship Id="rId68" Type="http://schemas.openxmlformats.org/officeDocument/2006/relationships/slide" Target="slides/slide66.xml"/><Relationship Id="rId76" Type="http://schemas.openxmlformats.org/officeDocument/2006/relationships/font" Target="fonts/font2.fntdata"/><Relationship Id="rId84" Type="http://schemas.openxmlformats.org/officeDocument/2006/relationships/font" Target="fonts/font10.fntdata"/><Relationship Id="rId89" Type="http://schemas.openxmlformats.org/officeDocument/2006/relationships/font" Target="fonts/font15.fntdata"/><Relationship Id="rId7" Type="http://schemas.openxmlformats.org/officeDocument/2006/relationships/slide" Target="slides/slide5.xml"/><Relationship Id="rId71" Type="http://schemas.openxmlformats.org/officeDocument/2006/relationships/slide" Target="slides/slide69.xml"/><Relationship Id="rId92" Type="http://schemas.openxmlformats.org/officeDocument/2006/relationships/presProps" Target="presProps.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slide" Target="slides/slide51.xml"/><Relationship Id="rId58" Type="http://schemas.openxmlformats.org/officeDocument/2006/relationships/slide" Target="slides/slide56.xml"/><Relationship Id="rId66" Type="http://schemas.openxmlformats.org/officeDocument/2006/relationships/slide" Target="slides/slide64.xml"/><Relationship Id="rId74" Type="http://schemas.openxmlformats.org/officeDocument/2006/relationships/handoutMaster" Target="handoutMasters/handoutMaster1.xml"/><Relationship Id="rId79" Type="http://schemas.openxmlformats.org/officeDocument/2006/relationships/font" Target="fonts/font5.fntdata"/><Relationship Id="rId87" Type="http://schemas.openxmlformats.org/officeDocument/2006/relationships/font" Target="fonts/font13.fntdata"/><Relationship Id="rId5" Type="http://schemas.openxmlformats.org/officeDocument/2006/relationships/slide" Target="slides/slide3.xml"/><Relationship Id="rId61" Type="http://schemas.openxmlformats.org/officeDocument/2006/relationships/slide" Target="slides/slide59.xml"/><Relationship Id="rId82" Type="http://schemas.openxmlformats.org/officeDocument/2006/relationships/font" Target="fonts/font8.fntdata"/><Relationship Id="rId90" Type="http://schemas.openxmlformats.org/officeDocument/2006/relationships/font" Target="fonts/font16.fntdata"/><Relationship Id="rId95" Type="http://schemas.openxmlformats.org/officeDocument/2006/relationships/tableStyles" Target="tableStyles.xml"/><Relationship Id="rId19" Type="http://schemas.openxmlformats.org/officeDocument/2006/relationships/slide" Target="slides/slide1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64" Type="http://schemas.openxmlformats.org/officeDocument/2006/relationships/slide" Target="slides/slide62.xml"/><Relationship Id="rId69" Type="http://schemas.openxmlformats.org/officeDocument/2006/relationships/slide" Target="slides/slide67.xml"/><Relationship Id="rId77" Type="http://schemas.openxmlformats.org/officeDocument/2006/relationships/font" Target="fonts/font3.fntdata"/><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slide" Target="slides/slide70.xml"/><Relationship Id="rId80" Type="http://schemas.openxmlformats.org/officeDocument/2006/relationships/font" Target="fonts/font6.fntdata"/><Relationship Id="rId85" Type="http://schemas.openxmlformats.org/officeDocument/2006/relationships/font" Target="fonts/font11.fntdata"/><Relationship Id="rId93" Type="http://schemas.openxmlformats.org/officeDocument/2006/relationships/viewProps" Target="viewProps.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slide" Target="slides/slide65.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70" Type="http://schemas.openxmlformats.org/officeDocument/2006/relationships/slide" Target="slides/slide68.xml"/><Relationship Id="rId75" Type="http://schemas.openxmlformats.org/officeDocument/2006/relationships/font" Target="fonts/font1.fntdata"/><Relationship Id="rId83" Type="http://schemas.openxmlformats.org/officeDocument/2006/relationships/font" Target="fonts/font9.fntdata"/><Relationship Id="rId88" Type="http://schemas.openxmlformats.org/officeDocument/2006/relationships/font" Target="fonts/font14.fntdata"/><Relationship Id="rId91" Type="http://schemas.openxmlformats.org/officeDocument/2006/relationships/commentAuthors" Target="commentAuthors.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slide" Target="slides/slide63.xml"/><Relationship Id="rId73" Type="http://schemas.openxmlformats.org/officeDocument/2006/relationships/notesMaster" Target="notesMasters/notesMaster1.xml"/><Relationship Id="rId78" Type="http://schemas.openxmlformats.org/officeDocument/2006/relationships/font" Target="fonts/font4.fntdata"/><Relationship Id="rId81" Type="http://schemas.openxmlformats.org/officeDocument/2006/relationships/font" Target="fonts/font7.fntdata"/><Relationship Id="rId86" Type="http://schemas.openxmlformats.org/officeDocument/2006/relationships/font" Target="fonts/font12.fntdata"/><Relationship Id="rId94" Type="http://schemas.openxmlformats.org/officeDocument/2006/relationships/theme" Target="theme/theme1.xml"/><Relationship Id="rId4" Type="http://schemas.openxmlformats.org/officeDocument/2006/relationships/slide" Target="slides/slide2.xml"/><Relationship Id="rId9" Type="http://schemas.openxmlformats.org/officeDocument/2006/relationships/slide" Target="slides/slide7.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3.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7.wmf"/></Relationships>
</file>

<file path=ppt/drawings/_rels/vmlDrawing3.vml.rels><?xml version="1.0" encoding="UTF-8" standalone="yes"?>
<Relationships xmlns="http://schemas.openxmlformats.org/package/2006/relationships"><Relationship Id="rId8" Type="http://schemas.openxmlformats.org/officeDocument/2006/relationships/image" Target="../media/image15.wmf"/><Relationship Id="rId3" Type="http://schemas.openxmlformats.org/officeDocument/2006/relationships/image" Target="../media/image10.wmf"/><Relationship Id="rId7" Type="http://schemas.openxmlformats.org/officeDocument/2006/relationships/image" Target="../media/image14.wmf"/><Relationship Id="rId2" Type="http://schemas.openxmlformats.org/officeDocument/2006/relationships/image" Target="../media/image9.wmf"/><Relationship Id="rId1" Type="http://schemas.openxmlformats.org/officeDocument/2006/relationships/image" Target="../media/image8.wmf"/><Relationship Id="rId6" Type="http://schemas.openxmlformats.org/officeDocument/2006/relationships/image" Target="../media/image13.wmf"/><Relationship Id="rId5" Type="http://schemas.openxmlformats.org/officeDocument/2006/relationships/image" Target="../media/image12.wmf"/><Relationship Id="rId10" Type="http://schemas.openxmlformats.org/officeDocument/2006/relationships/image" Target="../media/image17.wmf"/><Relationship Id="rId4" Type="http://schemas.openxmlformats.org/officeDocument/2006/relationships/image" Target="../media/image11.wmf"/><Relationship Id="rId9" Type="http://schemas.openxmlformats.org/officeDocument/2006/relationships/image" Target="../media/image16.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2885CB01-6679-D646-ACB3-8B04B786C15F}" type="datetimeFigureOut">
              <a:rPr lang="en-US" smtClean="0"/>
              <a:t>11/2/2021</a:t>
            </a:fld>
            <a:endParaRPr lang="en-US" dirty="0"/>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82AC0F4D-8A6F-1C4A-B6BF-1558431E4F79}" type="slidenum">
              <a:rPr lang="en-US" smtClean="0"/>
              <a:t>‹#›</a:t>
            </a:fld>
            <a:endParaRPr lang="en-US" dirty="0"/>
          </a:p>
        </p:txBody>
      </p:sp>
    </p:spTree>
    <p:extLst>
      <p:ext uri="{BB962C8B-B14F-4D97-AF65-F5344CB8AC3E}">
        <p14:creationId xmlns:p14="http://schemas.microsoft.com/office/powerpoint/2010/main" val="355406301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Shape 3"/>
          <p:cNvSpPr txBox="1">
            <a:spLocks noGrp="1"/>
          </p:cNvSpPr>
          <p:nvPr>
            <p:ph type="hdr" idx="2"/>
          </p:nvPr>
        </p:nvSpPr>
        <p:spPr>
          <a:xfrm>
            <a:off x="0" y="0"/>
            <a:ext cx="2971799" cy="457200"/>
          </a:xfrm>
          <a:prstGeom prst="rect">
            <a:avLst/>
          </a:prstGeom>
          <a:noFill/>
          <a:ln>
            <a:noFill/>
          </a:ln>
        </p:spPr>
        <p:txBody>
          <a:bodyPr lIns="91425" tIns="91425" rIns="91425" bIns="91425" anchor="t" anchorCtr="0"/>
          <a:lstStyle>
            <a:lvl1pPr marL="0" marR="0" lvl="0" indent="0" algn="l"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4" name="Shape 4"/>
          <p:cNvSpPr txBox="1">
            <a:spLocks noGrp="1"/>
          </p:cNvSpPr>
          <p:nvPr>
            <p:ph type="dt" idx="10"/>
          </p:nvPr>
        </p:nvSpPr>
        <p:spPr>
          <a:xfrm>
            <a:off x="3884612" y="0"/>
            <a:ext cx="2971799" cy="457200"/>
          </a:xfrm>
          <a:prstGeom prst="rect">
            <a:avLst/>
          </a:prstGeom>
          <a:noFill/>
          <a:ln>
            <a:noFill/>
          </a:ln>
        </p:spPr>
        <p:txBody>
          <a:bodyPr lIns="91425" tIns="91425" rIns="91425" bIns="91425" anchor="t" anchorCtr="0"/>
          <a:lstStyle>
            <a:lvl1pPr marL="0" marR="0" lvl="0" indent="0" algn="r"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5" name="Shape 5"/>
          <p:cNvSpPr>
            <a:spLocks noGrp="1" noRot="1" noChangeAspect="1"/>
          </p:cNvSpPr>
          <p:nvPr>
            <p:ph type="sldImg" idx="3"/>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6" name="Shape 6"/>
          <p:cNvSpPr txBox="1">
            <a:spLocks noGrp="1"/>
          </p:cNvSpPr>
          <p:nvPr>
            <p:ph type="body" idx="1"/>
          </p:nvPr>
        </p:nvSpPr>
        <p:spPr>
          <a:xfrm>
            <a:off x="685800" y="4343400"/>
            <a:ext cx="5486399" cy="4114800"/>
          </a:xfrm>
          <a:prstGeom prst="rect">
            <a:avLst/>
          </a:prstGeom>
          <a:noFill/>
          <a:ln>
            <a:noFill/>
          </a:ln>
        </p:spPr>
        <p:txBody>
          <a:bodyPr lIns="91425" tIns="91425" rIns="91425" bIns="91425" anchor="t" anchorCtr="0"/>
          <a:lstStyle>
            <a:lvl1pPr marL="0" marR="0" lvl="0" indent="0" algn="l"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200" b="0" i="0" u="none" strike="noStrike" cap="none">
                <a:solidFill>
                  <a:schemeClr val="dk1"/>
                </a:solidFill>
                <a:latin typeface="Arial"/>
                <a:ea typeface="Arial"/>
                <a:cs typeface="Arial"/>
                <a:sym typeface="Arial"/>
              </a:defRPr>
            </a:lvl2pPr>
            <a:lvl3pPr marL="914400" marR="0" lvl="2" indent="0" algn="l" rtl="0">
              <a:spcBef>
                <a:spcPts val="0"/>
              </a:spcBef>
              <a:buNone/>
              <a:defRPr sz="1200" b="0" i="0" u="none" strike="noStrike" cap="none">
                <a:solidFill>
                  <a:schemeClr val="dk1"/>
                </a:solidFill>
                <a:latin typeface="Arial"/>
                <a:ea typeface="Arial"/>
                <a:cs typeface="Arial"/>
                <a:sym typeface="Arial"/>
              </a:defRPr>
            </a:lvl3pPr>
            <a:lvl4pPr marL="1371600" marR="0" lvl="3" indent="0" algn="l" rtl="0">
              <a:spcBef>
                <a:spcPts val="0"/>
              </a:spcBef>
              <a:buNone/>
              <a:defRPr sz="1200" b="0" i="0" u="none" strike="noStrike" cap="none">
                <a:solidFill>
                  <a:schemeClr val="dk1"/>
                </a:solidFill>
                <a:latin typeface="Arial"/>
                <a:ea typeface="Arial"/>
                <a:cs typeface="Arial"/>
                <a:sym typeface="Arial"/>
              </a:defRPr>
            </a:lvl4pPr>
            <a:lvl5pPr marL="1828800" marR="0" lvl="4" indent="0" algn="l" rtl="0">
              <a:spcBef>
                <a:spcPts val="0"/>
              </a:spcBef>
              <a:buNone/>
              <a:defRPr sz="1200" b="0" i="0" u="none" strike="noStrike" cap="none">
                <a:solidFill>
                  <a:schemeClr val="dk1"/>
                </a:solidFill>
                <a:latin typeface="Arial"/>
                <a:ea typeface="Arial"/>
                <a:cs typeface="Arial"/>
                <a:sym typeface="Arial"/>
              </a:defRPr>
            </a:lvl5pPr>
            <a:lvl6pPr marL="2286000" marR="0" lvl="5" indent="0" algn="l" rtl="0">
              <a:spcBef>
                <a:spcPts val="0"/>
              </a:spcBef>
              <a:buNone/>
              <a:defRPr sz="1200" b="0" i="0" u="none" strike="noStrike" cap="none">
                <a:solidFill>
                  <a:schemeClr val="dk1"/>
                </a:solidFill>
                <a:latin typeface="Arial"/>
                <a:ea typeface="Arial"/>
                <a:cs typeface="Arial"/>
                <a:sym typeface="Arial"/>
              </a:defRPr>
            </a:lvl6pPr>
            <a:lvl7pPr marL="2743200" marR="0" lvl="6" indent="0" algn="l" rtl="0">
              <a:spcBef>
                <a:spcPts val="0"/>
              </a:spcBef>
              <a:buNone/>
              <a:defRPr sz="1200" b="0" i="0" u="none" strike="noStrike" cap="none">
                <a:solidFill>
                  <a:schemeClr val="dk1"/>
                </a:solidFill>
                <a:latin typeface="Arial"/>
                <a:ea typeface="Arial"/>
                <a:cs typeface="Arial"/>
                <a:sym typeface="Arial"/>
              </a:defRPr>
            </a:lvl7pPr>
            <a:lvl8pPr marL="3200400" marR="0" lvl="7" indent="0" algn="l" rtl="0">
              <a:spcBef>
                <a:spcPts val="0"/>
              </a:spcBef>
              <a:buNone/>
              <a:defRPr sz="1200" b="0" i="0" u="none" strike="noStrike" cap="none">
                <a:solidFill>
                  <a:schemeClr val="dk1"/>
                </a:solidFill>
                <a:latin typeface="Arial"/>
                <a:ea typeface="Arial"/>
                <a:cs typeface="Arial"/>
                <a:sym typeface="Arial"/>
              </a:defRPr>
            </a:lvl8pPr>
            <a:lvl9pPr marL="3657600" marR="0" lvl="8" indent="0" algn="l" rtl="0">
              <a:spcBef>
                <a:spcPts val="0"/>
              </a:spcBef>
              <a:buNone/>
              <a:defRPr sz="1200" b="0" i="0" u="none" strike="noStrike" cap="none">
                <a:solidFill>
                  <a:schemeClr val="dk1"/>
                </a:solidFill>
                <a:latin typeface="Arial"/>
                <a:ea typeface="Arial"/>
                <a:cs typeface="Arial"/>
                <a:sym typeface="Arial"/>
              </a:defRPr>
            </a:lvl9pPr>
          </a:lstStyle>
          <a:p>
            <a:endParaRPr/>
          </a:p>
        </p:txBody>
      </p:sp>
      <p:sp>
        <p:nvSpPr>
          <p:cNvPr id="7" name="Shape 7"/>
          <p:cNvSpPr txBox="1">
            <a:spLocks noGrp="1"/>
          </p:cNvSpPr>
          <p:nvPr>
            <p:ph type="ftr" idx="11"/>
          </p:nvPr>
        </p:nvSpPr>
        <p:spPr>
          <a:xfrm>
            <a:off x="0" y="8685213"/>
            <a:ext cx="2971799" cy="457200"/>
          </a:xfrm>
          <a:prstGeom prst="rect">
            <a:avLst/>
          </a:prstGeom>
          <a:noFill/>
          <a:ln>
            <a:noFill/>
          </a:ln>
        </p:spPr>
        <p:txBody>
          <a:bodyPr lIns="91425" tIns="91425" rIns="91425" bIns="91425" anchor="b" anchorCtr="0"/>
          <a:lstStyle>
            <a:lvl1pPr marL="0" marR="0" lvl="0" indent="0" algn="l"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8" name="Shape 8"/>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457102709"/>
      </p:ext>
    </p:extLst>
  </p:cSld>
  <p:clrMap bg1="lt1" tx1="dk1" bg2="dk2" tx2="lt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cap="none" dirty="0">
                <a:solidFill>
                  <a:schemeClr val="dk1"/>
                </a:solidFill>
                <a:latin typeface="Arial"/>
                <a:ea typeface="Arial"/>
                <a:cs typeface="Arial"/>
                <a:sym typeface="Arial"/>
              </a:rPr>
              <a:t>If this PowerPoint presentation contains mathematical equations, you may need to check that your computer has the following installed:</a:t>
            </a:r>
          </a:p>
          <a:p>
            <a:r>
              <a:rPr lang="en-US" sz="1200" b="0" i="0" u="none" strike="noStrike" kern="1200" cap="none" dirty="0">
                <a:solidFill>
                  <a:schemeClr val="dk1"/>
                </a:solidFill>
                <a:latin typeface="Arial"/>
                <a:ea typeface="Arial"/>
                <a:cs typeface="Arial"/>
                <a:sym typeface="Arial"/>
              </a:rPr>
              <a:t>1) MathType Plugin</a:t>
            </a:r>
          </a:p>
          <a:p>
            <a:r>
              <a:rPr lang="en-US" sz="1200" b="0" i="0" u="none" strike="noStrike" kern="1200" cap="none" dirty="0">
                <a:solidFill>
                  <a:schemeClr val="dk1"/>
                </a:solidFill>
                <a:latin typeface="Arial"/>
                <a:ea typeface="Arial"/>
                <a:cs typeface="Arial"/>
                <a:sym typeface="Arial"/>
              </a:rPr>
              <a:t>2) Math Player (free versions available)</a:t>
            </a:r>
          </a:p>
          <a:p>
            <a:r>
              <a:rPr lang="en-US" sz="1200" b="0" i="0" u="none" strike="noStrike" kern="1200" cap="none" dirty="0">
                <a:solidFill>
                  <a:schemeClr val="dk1"/>
                </a:solidFill>
                <a:latin typeface="Arial"/>
                <a:ea typeface="Arial"/>
                <a:cs typeface="Arial"/>
                <a:sym typeface="Arial"/>
              </a:rPr>
              <a:t>3) NVDA Reader (free versions available)</a:t>
            </a:r>
          </a:p>
          <a:p>
            <a:endParaRPr lang="en-US" sz="1200" b="0" i="0" u="none" strike="noStrike" kern="1200" cap="none" dirty="0">
              <a:solidFill>
                <a:schemeClr val="dk1"/>
              </a:solidFill>
              <a:latin typeface="Arial"/>
              <a:cs typeface="Arial"/>
              <a:sym typeface="Arial"/>
            </a:endParaRPr>
          </a:p>
          <a:p>
            <a:r>
              <a:rPr lang="en-US" dirty="0"/>
              <a:t>Slides in this presentation contain hyperlinks. JAWS users should be able to get a list of links by using INSERT+F7</a:t>
            </a:r>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6060269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800" b="0" i="0" u="none" strike="noStrike" dirty="0">
                <a:solidFill>
                  <a:srgbClr val="000000"/>
                </a:solidFill>
                <a:effectLst/>
                <a:latin typeface="Calibri" panose="020F0502020204030204" pitchFamily="34" charset="0"/>
              </a:rPr>
              <a:t>The following list provides rates for advanced countries, Japan, Germany, the U S, China, and the rest of the world. The rates for the 19 sixties are as follows. Advanced countries, 1.2, Japan, 0.6, Germany, 0.2, U S, 3.7, China, 0.1, rest of the world, 1.0, for a global growth rate of 4.8. In the 19 nineties, the global rate drops to 2.9 with the following rates, advanced countries, 0.7, Japan, 0.2, Germany, 0.1, U S, 0.9, China, 0.2, rest of the world, 0.6, for a global growth rate of roughly 2.8. In the 20 tens, the global rate has grown slightly with the following rates. Advanced countries, 0.3, Japan, 0.05, Germany, 0.05, U S, 0.5, China, 0.9, rest of the world, 1.1, for a global growth rate of roughly 3.1. All values are estimated.</a:t>
            </a:r>
            <a:r>
              <a:rPr lang="en-US" dirty="0"/>
              <a:t> </a:t>
            </a:r>
            <a:endParaRPr lang="en-IN"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12</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51857075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b="0" i="0" u="none" strike="noStrike" dirty="0">
                <a:solidFill>
                  <a:srgbClr val="000000"/>
                </a:solidFill>
                <a:effectLst/>
                <a:latin typeface="Calibri" panose="020F0502020204030204" pitchFamily="34" charset="0"/>
              </a:rPr>
              <a:t>The plot for commodity price index generally rises from (19 98, 100) to (2008, 430) and then drops steeply to (2009, 175) before generally rising again to (20 13, 350). The plot then generally falls through (20 14, 360) to (20 16, 200). All values are estimated.</a:t>
            </a:r>
            <a:r>
              <a:rPr lang="en-US" dirty="0"/>
              <a:t> </a:t>
            </a:r>
            <a:endParaRPr lang="en-IN" dirty="0"/>
          </a:p>
          <a:p>
            <a:endParaRPr lang="en-IN"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17</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27224316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smtClean="0"/>
              <a:t>A scatter diagram plots inverse index of corruption, cleanest = 10, versus annual per capital 20 18 output in 20 10 U S dollars. A regression line rises from (0, 3.25) through (40,000, 6.4) to (80,000, 10). Most data points are clustered between (5,000, 2) and (10,000, 4). The U S is noted as (52,000, 7.2), partially overlapping the regression line. 2 outliers are between roughly (95,000, 8.5) and (10,300, 8). All values are estimated.</a:t>
            </a:r>
            <a:endParaRPr lang="en-IN"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18</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43203312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800" b="0" i="0" u="none" strike="noStrike" dirty="0">
                <a:solidFill>
                  <a:srgbClr val="000000"/>
                </a:solidFill>
                <a:effectLst/>
                <a:latin typeface="Calibri" panose="020F0502020204030204" pitchFamily="34" charset="0"/>
              </a:rPr>
              <a:t>The graph plots percent of output versus year, 19 96 to 20 15. There are 5 plots, for Brazil, India, all developing countries, Russia, and China. The plot for Brazil generally rises from (19 95, 7) through (2007, 14) to (20 15, 20). The plot for India generally rises from (19 95, 7) to (2007, 23) and then generally falls to (20 15, 16). The plot for all developing countries generally rises from (19 95, 8) to (2009, 30) and then falls to (20 15, 24). The plot for Russia generally rises from (19 95, 4) to (2007, 37), dips to (2008, 26), rises again to (2009, 36), and then generally falls to (20 15, 24). The plot for China generally rises from (19 95, 11) to (2009, 48) and then generally falls to (20 15, 32). All values are estimated.</a:t>
            </a:r>
            <a:r>
              <a:rPr lang="en-US" dirty="0"/>
              <a:t> </a:t>
            </a:r>
            <a:endParaRPr lang="en-IN"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46</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353796688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800" b="0" i="0" u="none" strike="noStrike" dirty="0">
                <a:solidFill>
                  <a:srgbClr val="000000"/>
                </a:solidFill>
                <a:effectLst/>
                <a:latin typeface="Times New Roman" panose="02020603050405020304" pitchFamily="18" charset="0"/>
              </a:rPr>
              <a:t>The plot for real G D P growth versus percent per year falls from (19 80, 3) to (19 82, 1), (19 91, 4), (19 99, 2), (2006, 8), (2008, 3), (20 10, 7), (20 18, 4). The plot for C y indicator versus index falls from (19 80, 0) to (19 82, negative 1), (19 92, 0.5), (19 99, 2), (2002, 1), (2006, 3.5), (2008, 0), (20 14, 1.5), (20 18, 0). All values are estimated.</a:t>
            </a:r>
            <a:r>
              <a:rPr lang="en-US" dirty="0"/>
              <a:t> </a:t>
            </a:r>
            <a:endParaRPr lang="en-IN"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62</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404547197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0"/>
        <p:cNvGrpSpPr/>
        <p:nvPr/>
      </p:nvGrpSpPr>
      <p:grpSpPr>
        <a:xfrm>
          <a:off x="0" y="0"/>
          <a:ext cx="0" cy="0"/>
          <a:chOff x="0" y="0"/>
          <a:chExt cx="0" cy="0"/>
        </a:xfrm>
      </p:grpSpPr>
      <p:sp>
        <p:nvSpPr>
          <p:cNvPr id="381" name="Shape 381"/>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382" name="Shape 382"/>
          <p:cNvSpPr txBox="1">
            <a:spLocks noGrp="1"/>
          </p:cNvSpPr>
          <p:nvPr>
            <p:ph type="body" idx="1"/>
          </p:nvPr>
        </p:nvSpPr>
        <p:spPr>
          <a:xfrm>
            <a:off x="685800" y="4343400"/>
            <a:ext cx="5486400" cy="4114800"/>
          </a:xfrm>
          <a:prstGeom prst="rect">
            <a:avLst/>
          </a:prstGeom>
        </p:spPr>
        <p:txBody>
          <a:bodyPr lIns="91425" tIns="91425" rIns="91425" bIns="91425" anchor="t" anchorCtr="0">
            <a:noAutofit/>
          </a:bodyPr>
          <a:lstStyle/>
          <a:p>
            <a:pPr lvl="0">
              <a:spcBef>
                <a:spcPts val="0"/>
              </a:spcBef>
              <a:buNone/>
            </a:pPr>
            <a:endParaRPr dirty="0"/>
          </a:p>
        </p:txBody>
      </p:sp>
      <p:sp>
        <p:nvSpPr>
          <p:cNvPr id="383" name="Shape 383"/>
          <p:cNvSpPr txBox="1">
            <a:spLocks noGrp="1"/>
          </p:cNvSpPr>
          <p:nvPr>
            <p:ph type="sldNum" idx="12"/>
          </p:nvPr>
        </p:nvSpPr>
        <p:spPr>
          <a:xfrm>
            <a:off x="3884612" y="8685213"/>
            <a:ext cx="2971800" cy="457200"/>
          </a:xfrm>
          <a:prstGeom prst="rect">
            <a:avLst/>
          </a:prstGeom>
        </p:spPr>
        <p:txBody>
          <a:bodyPr lIns="91425" tIns="45700" rIns="91425" bIns="45700" anchor="b" anchorCtr="0">
            <a:noAutofit/>
          </a:bodyPr>
          <a:lstStyle/>
          <a:p>
            <a:pPr lvl="0">
              <a:spcBef>
                <a:spcPts val="0"/>
              </a:spcBef>
              <a:buClr>
                <a:srgbClr val="000000"/>
              </a:buClr>
              <a:buSzPct val="25000"/>
              <a:buFont typeface="Arial"/>
              <a:buNone/>
            </a:pPr>
            <a:fld id="{00000000-1234-1234-1234-123412341234}" type="slidenum">
              <a:rPr lang="en-US"/>
              <a:t>70</a:t>
            </a:fld>
            <a:endParaRPr lang="en-US" dirty="0"/>
          </a:p>
        </p:txBody>
      </p:sp>
    </p:spTree>
    <p:extLst>
      <p:ext uri="{BB962C8B-B14F-4D97-AF65-F5344CB8AC3E}">
        <p14:creationId xmlns:p14="http://schemas.microsoft.com/office/powerpoint/2010/main" val="12440322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hapter Opener-add copyright">
    <p:spTree>
      <p:nvGrpSpPr>
        <p:cNvPr id="1" name="Shape 37"/>
        <p:cNvGrpSpPr/>
        <p:nvPr/>
      </p:nvGrpSpPr>
      <p:grpSpPr>
        <a:xfrm>
          <a:off x="0" y="0"/>
          <a:ext cx="0" cy="0"/>
          <a:chOff x="0" y="0"/>
          <a:chExt cx="0" cy="0"/>
        </a:xfrm>
      </p:grpSpPr>
      <p:sp>
        <p:nvSpPr>
          <p:cNvPr id="38" name="Title Placeholder"/>
          <p:cNvSpPr txBox="1">
            <a:spLocks noGrp="1"/>
          </p:cNvSpPr>
          <p:nvPr>
            <p:ph type="title"/>
          </p:nvPr>
        </p:nvSpPr>
        <p:spPr>
          <a:xfrm>
            <a:off x="457200" y="215371"/>
            <a:ext cx="8229600" cy="622828"/>
          </a:xfrm>
          <a:prstGeom prst="rect">
            <a:avLst/>
          </a:prstGeom>
          <a:noFill/>
          <a:ln>
            <a:noFill/>
          </a:ln>
        </p:spPr>
        <p:txBody>
          <a:bodyPr lIns="91425" tIns="91425" rIns="91425" bIns="91425" anchor="ctr"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39" name="Content Placeholder"/>
          <p:cNvSpPr txBox="1">
            <a:spLocks noGrp="1"/>
          </p:cNvSpPr>
          <p:nvPr>
            <p:ph type="body" idx="1"/>
          </p:nvPr>
        </p:nvSpPr>
        <p:spPr>
          <a:xfrm>
            <a:off x="457200" y="958098"/>
            <a:ext cx="8229600" cy="478970"/>
          </a:xfrm>
          <a:prstGeom prst="rect">
            <a:avLst/>
          </a:prstGeom>
          <a:noFill/>
          <a:ln>
            <a:noFill/>
          </a:ln>
        </p:spPr>
        <p:txBody>
          <a:bodyPr lIns="91425" tIns="91425" rIns="91425" bIns="91425" anchor="ctr" anchorCtr="0"/>
          <a:lstStyle>
            <a:lvl1pPr marL="0" marR="0" lvl="0" indent="0" algn="l" rtl="0">
              <a:spcBef>
                <a:spcPts val="0"/>
              </a:spcBef>
              <a:buClr>
                <a:srgbClr val="007FA3"/>
              </a:buClr>
              <a:buFont typeface="Arial"/>
              <a:buNone/>
              <a:defRPr sz="2000" b="0" i="0" u="none" strike="noStrike" cap="none">
                <a:solidFill>
                  <a:srgbClr val="007FA3"/>
                </a:solidFill>
                <a:latin typeface="+mn-lt"/>
                <a:ea typeface="Arial"/>
                <a:cs typeface="Arial"/>
                <a:sym typeface="Arial"/>
              </a:defRPr>
            </a:lvl1pPr>
            <a:lvl2pPr marL="0" marR="0" lvl="1"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2pPr>
            <a:lvl3pPr marL="0" marR="0" lvl="2" indent="0" algn="l" rtl="0">
              <a:spcBef>
                <a:spcPts val="0"/>
              </a:spcBef>
              <a:buClr>
                <a:srgbClr val="007FA3"/>
              </a:buClr>
              <a:buFont typeface="Noto Sans Symbols"/>
              <a:buNone/>
              <a:defRPr sz="2400" b="0" i="0" u="none" strike="noStrike" cap="none">
                <a:solidFill>
                  <a:schemeClr val="lt1"/>
                </a:solidFill>
                <a:latin typeface="Arial"/>
                <a:ea typeface="Arial"/>
                <a:cs typeface="Arial"/>
                <a:sym typeface="Arial"/>
              </a:defRPr>
            </a:lvl3pPr>
            <a:lvl4pPr marL="0" marR="0" lvl="3"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4pPr>
            <a:lvl5pPr marL="0" marR="0" lvl="4"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5pPr>
            <a:lvl6pPr marL="0" marR="0" lvl="5"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6pPr>
            <a:lvl7pPr marL="0" marR="0" lvl="6"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7pPr>
            <a:lvl8pPr marL="0" marR="0" lvl="7"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8pPr>
            <a:lvl9pPr marL="0" marR="0" lvl="8"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9pPr>
          </a:lstStyle>
          <a:p>
            <a:endParaRPr dirty="0"/>
          </a:p>
        </p:txBody>
      </p:sp>
      <p:sp>
        <p:nvSpPr>
          <p:cNvPr id="4" name="Content Placeholder 3">
            <a:extLst>
              <a:ext uri="{FF2B5EF4-FFF2-40B4-BE49-F238E27FC236}">
                <a16:creationId xmlns:a16="http://schemas.microsoft.com/office/drawing/2014/main" id="{6EE677B9-EC76-47FA-B8D6-49D033518C61}"/>
              </a:ext>
            </a:extLst>
          </p:cNvPr>
          <p:cNvSpPr>
            <a:spLocks noGrp="1"/>
          </p:cNvSpPr>
          <p:nvPr>
            <p:ph sz="quarter" idx="13" hasCustomPrompt="1"/>
          </p:nvPr>
        </p:nvSpPr>
        <p:spPr>
          <a:xfrm>
            <a:off x="457200" y="1600200"/>
            <a:ext cx="4397375" cy="4525963"/>
          </a:xfrm>
        </p:spPr>
        <p:txBody>
          <a:bodyPr/>
          <a:lstStyle>
            <a:lvl1pPr marL="101600" indent="0">
              <a:buNone/>
              <a:defRPr/>
            </a:lvl1pPr>
          </a:lstStyle>
          <a:p>
            <a:pPr lvl="0"/>
            <a:r>
              <a:rPr lang="en-US" dirty="0"/>
              <a:t>Image of front cover</a:t>
            </a:r>
          </a:p>
        </p:txBody>
      </p:sp>
      <p:sp>
        <p:nvSpPr>
          <p:cNvPr id="6" name="Content Placeholder 5">
            <a:extLst>
              <a:ext uri="{FF2B5EF4-FFF2-40B4-BE49-F238E27FC236}">
                <a16:creationId xmlns:a16="http://schemas.microsoft.com/office/drawing/2014/main" id="{F4ED3915-2147-4382-A599-2376CC8854D1}"/>
              </a:ext>
            </a:extLst>
          </p:cNvPr>
          <p:cNvSpPr>
            <a:spLocks noGrp="1"/>
          </p:cNvSpPr>
          <p:nvPr>
            <p:ph sz="quarter" idx="14" hasCustomPrompt="1"/>
          </p:nvPr>
        </p:nvSpPr>
        <p:spPr>
          <a:xfrm>
            <a:off x="5029200" y="1600200"/>
            <a:ext cx="3657600" cy="1492250"/>
          </a:xfrm>
        </p:spPr>
        <p:txBody>
          <a:bodyPr anchor="b"/>
          <a:lstStyle>
            <a:lvl1pPr marL="101600" indent="0" algn="ctr">
              <a:buNone/>
              <a:defRPr sz="3000" b="1">
                <a:latin typeface="+mn-lt"/>
              </a:defRPr>
            </a:lvl1pPr>
            <a:lvl2pPr marL="558800" indent="0">
              <a:buNone/>
              <a:defRPr/>
            </a:lvl2pPr>
          </a:lstStyle>
          <a:p>
            <a:pPr lvl="0"/>
            <a:r>
              <a:rPr lang="en-US" dirty="0"/>
              <a:t>Chapter #</a:t>
            </a:r>
          </a:p>
        </p:txBody>
      </p:sp>
      <p:sp>
        <p:nvSpPr>
          <p:cNvPr id="8" name="Content Placeholder 7">
            <a:extLst>
              <a:ext uri="{FF2B5EF4-FFF2-40B4-BE49-F238E27FC236}">
                <a16:creationId xmlns:a16="http://schemas.microsoft.com/office/drawing/2014/main" id="{3B38FD8D-0DB0-4A1A-A3F1-E26B606AC837}"/>
              </a:ext>
            </a:extLst>
          </p:cNvPr>
          <p:cNvSpPr>
            <a:spLocks noGrp="1"/>
          </p:cNvSpPr>
          <p:nvPr>
            <p:ph sz="quarter" idx="15" hasCustomPrompt="1"/>
          </p:nvPr>
        </p:nvSpPr>
        <p:spPr>
          <a:xfrm>
            <a:off x="5029200" y="3252788"/>
            <a:ext cx="3657600" cy="2873375"/>
          </a:xfrm>
        </p:spPr>
        <p:txBody>
          <a:bodyPr/>
          <a:lstStyle>
            <a:lvl1pPr marL="0" indent="0" algn="ctr">
              <a:buNone/>
              <a:defRPr sz="2200">
                <a:latin typeface="+mn-lt"/>
              </a:defRPr>
            </a:lvl1pPr>
          </a:lstStyle>
          <a:p>
            <a:pPr lvl="0"/>
            <a:r>
              <a:rPr lang="en-US" dirty="0"/>
              <a:t>Chapter name</a:t>
            </a:r>
          </a:p>
        </p:txBody>
      </p:sp>
      <p:sp>
        <p:nvSpPr>
          <p:cNvPr id="12" name="Shape 13">
            <a:extLst>
              <a:ext uri="{FF2B5EF4-FFF2-40B4-BE49-F238E27FC236}">
                <a16:creationId xmlns:a16="http://schemas.microsoft.com/office/drawing/2014/main" id="{C5328E6C-2B17-49B8-8712-6C0E107A1D99}"/>
              </a:ext>
            </a:extLst>
          </p:cNvPr>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tx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pPr>
              <a:defRPr/>
            </a:pPr>
            <a:endParaRPr lang="en-US" dirty="0">
              <a:solidFill>
                <a:schemeClr val="tx1"/>
              </a:solidFill>
            </a:endParaRPr>
          </a:p>
        </p:txBody>
      </p:sp>
      <p:sp>
        <p:nvSpPr>
          <p:cNvPr id="13" name="Shape 14">
            <a:extLst>
              <a:ext uri="{FF2B5EF4-FFF2-40B4-BE49-F238E27FC236}">
                <a16:creationId xmlns:a16="http://schemas.microsoft.com/office/drawing/2014/main" id="{CE0B5B1C-8858-43DC-BD75-C546F4738779}"/>
              </a:ext>
            </a:extLst>
          </p:cNvPr>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lvl1pPr>
              <a:defRPr>
                <a:solidFill>
                  <a:schemeClr val="tx1"/>
                </a:solidFill>
              </a:defRPr>
            </a:lvl1pPr>
          </a:lstStyle>
          <a:p>
            <a:pPr algn="r">
              <a:buSzPct val="25000"/>
              <a:defRPr/>
            </a:pPr>
            <a:fld id="{00000000-1234-1234-1234-123412341234}" type="slidenum">
              <a:rPr lang="en-US" sz="900" smtClean="0"/>
              <a:pPr algn="r">
                <a:buSzPct val="25000"/>
                <a:defRPr/>
              </a:pPr>
              <a:t>‹#›</a:t>
            </a:fld>
            <a:endParaRPr lang="en-US" sz="900" dirty="0"/>
          </a:p>
        </p:txBody>
      </p:sp>
      <p:sp>
        <p:nvSpPr>
          <p:cNvPr id="9" name="Picture Placeholder 8">
            <a:extLst>
              <a:ext uri="{FF2B5EF4-FFF2-40B4-BE49-F238E27FC236}">
                <a16:creationId xmlns:a16="http://schemas.microsoft.com/office/drawing/2014/main" id="{51B8939D-A957-42F9-A1B5-556D29D235AB}"/>
              </a:ext>
            </a:extLst>
          </p:cNvPr>
          <p:cNvSpPr>
            <a:spLocks noGrp="1"/>
          </p:cNvSpPr>
          <p:nvPr>
            <p:ph type="pic" sz="quarter" idx="16" hasCustomPrompt="1"/>
          </p:nvPr>
        </p:nvSpPr>
        <p:spPr>
          <a:xfrm>
            <a:off x="457200" y="6400801"/>
            <a:ext cx="1001713" cy="228600"/>
          </a:xfrm>
        </p:spPr>
        <p:txBody>
          <a:bodyPr anchor="ctr"/>
          <a:lstStyle>
            <a:lvl1pPr>
              <a:buNone/>
              <a:defRPr sz="1200">
                <a:latin typeface="Verdana" panose="020B0604030504040204" pitchFamily="34" charset="0"/>
                <a:ea typeface="Verdana" panose="020B0604030504040204" pitchFamily="34" charset="0"/>
              </a:defRPr>
            </a:lvl1pPr>
          </a:lstStyle>
          <a:p>
            <a:r>
              <a:rPr lang="en-US" dirty="0"/>
              <a:t>Logo</a:t>
            </a:r>
          </a:p>
        </p:txBody>
      </p:sp>
      <p:sp>
        <p:nvSpPr>
          <p:cNvPr id="18" name="Content Placeholder 17">
            <a:extLst>
              <a:ext uri="{FF2B5EF4-FFF2-40B4-BE49-F238E27FC236}">
                <a16:creationId xmlns:a16="http://schemas.microsoft.com/office/drawing/2014/main" id="{0CF87F15-2C58-4DFC-BACB-0E2C6507BCDE}"/>
              </a:ext>
            </a:extLst>
          </p:cNvPr>
          <p:cNvSpPr>
            <a:spLocks noGrp="1"/>
          </p:cNvSpPr>
          <p:nvPr>
            <p:ph sz="quarter" idx="17" hasCustomPrompt="1"/>
          </p:nvPr>
        </p:nvSpPr>
        <p:spPr>
          <a:xfrm>
            <a:off x="2097088" y="6400800"/>
            <a:ext cx="6589712" cy="228600"/>
          </a:xfrm>
        </p:spPr>
        <p:txBody>
          <a:bodyPr anchor="ctr"/>
          <a:lstStyle>
            <a:lvl1pPr algn="r">
              <a:buNone/>
              <a:defRPr sz="1200">
                <a:latin typeface="Verdana" panose="020B0604030504040204" pitchFamily="34" charset="0"/>
                <a:ea typeface="Verdana" panose="020B0604030504040204" pitchFamily="34" charset="0"/>
              </a:defRPr>
            </a:lvl1pPr>
          </a:lstStyle>
          <a:p>
            <a:pPr lvl="0"/>
            <a:r>
              <a:rPr lang="en-US" dirty="0"/>
              <a:t>Copyright Information</a:t>
            </a:r>
          </a:p>
        </p:txBody>
      </p:sp>
    </p:spTree>
    <p:extLst>
      <p:ext uri="{BB962C8B-B14F-4D97-AF65-F5344CB8AC3E}">
        <p14:creationId xmlns:p14="http://schemas.microsoft.com/office/powerpoint/2010/main" val="839355990"/>
      </p:ext>
    </p:extLst>
  </p:cSld>
  <p:clrMapOvr>
    <a:masterClrMapping/>
  </p:clrMapOvr>
  <p:extLst>
    <p:ext uri="{DCECCB84-F9BA-43D5-87BE-67443E8EF086}">
      <p15:sldGuideLst xmlns:p15="http://schemas.microsoft.com/office/powerpoint/2012/main">
        <p15:guide id="1" orient="horz" pos="4176" userDrawn="1">
          <p15:clr>
            <a:srgbClr val="FBAE40"/>
          </p15:clr>
        </p15:guide>
        <p15:guide id="2" pos="288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lide-add copyright">
    <p:spTree>
      <p:nvGrpSpPr>
        <p:cNvPr id="1" name="Shape 17"/>
        <p:cNvGrpSpPr/>
        <p:nvPr/>
      </p:nvGrpSpPr>
      <p:grpSpPr>
        <a:xfrm>
          <a:off x="0" y="0"/>
          <a:ext cx="0" cy="0"/>
          <a:chOff x="0" y="0"/>
          <a:chExt cx="0" cy="0"/>
        </a:xfrm>
      </p:grpSpPr>
      <p:sp>
        <p:nvSpPr>
          <p:cNvPr id="18" name="Shape 18"/>
          <p:cNvSpPr/>
          <p:nvPr/>
        </p:nvSpPr>
        <p:spPr>
          <a:xfrm>
            <a:off x="0" y="0"/>
            <a:ext cx="9144000" cy="3886200"/>
          </a:xfrm>
          <a:prstGeom prst="rect">
            <a:avLst/>
          </a:prstGeom>
          <a:solidFill>
            <a:srgbClr val="007FA3"/>
          </a:solidFill>
          <a:ln w="25400" cap="flat" cmpd="sng">
            <a:solidFill>
              <a:srgbClr val="007FA3"/>
            </a:solidFill>
            <a:prstDash val="solid"/>
            <a:round/>
            <a:headEnd type="none" w="med" len="med"/>
            <a:tailEnd type="none" w="med" len="med"/>
          </a:ln>
        </p:spPr>
        <p:txBody>
          <a:bodyPr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dirty="0">
              <a:ln>
                <a:noFill/>
              </a:ln>
              <a:solidFill>
                <a:srgbClr val="FFFFFF"/>
              </a:solidFill>
              <a:effectLst/>
              <a:uLnTx/>
              <a:uFillTx/>
              <a:latin typeface="Arial"/>
              <a:ea typeface="Arial"/>
              <a:cs typeface="Arial"/>
              <a:sym typeface="Arial"/>
            </a:endParaRPr>
          </a:p>
        </p:txBody>
      </p:sp>
      <p:sp>
        <p:nvSpPr>
          <p:cNvPr id="19" name="Title Placeholder"/>
          <p:cNvSpPr txBox="1">
            <a:spLocks noGrp="1"/>
          </p:cNvSpPr>
          <p:nvPr>
            <p:ph type="ctrTitle"/>
          </p:nvPr>
        </p:nvSpPr>
        <p:spPr>
          <a:xfrm>
            <a:off x="685800" y="762000"/>
            <a:ext cx="7772400" cy="2838451"/>
          </a:xfrm>
          <a:prstGeom prst="rect">
            <a:avLst/>
          </a:prstGeom>
          <a:noFill/>
          <a:ln>
            <a:noFill/>
          </a:ln>
        </p:spPr>
        <p:txBody>
          <a:bodyPr lIns="91425" tIns="91425" rIns="91425" bIns="91425" anchor="b" anchorCtr="0"/>
          <a:lstStyle>
            <a:lvl1pPr marL="0" marR="0" lvl="0" indent="0" algn="l" rtl="0">
              <a:lnSpc>
                <a:spcPct val="100000"/>
              </a:lnSpc>
              <a:spcBef>
                <a:spcPts val="0"/>
              </a:spcBef>
              <a:buClr>
                <a:schemeClr val="lt1"/>
              </a:buClr>
              <a:buFont typeface="Times New Roman"/>
              <a:buNone/>
              <a:defRPr sz="3600" b="1" i="0" u="none" strike="noStrike" cap="none">
                <a:solidFill>
                  <a:schemeClr val="lt1"/>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20" name="Content Placeholder"/>
          <p:cNvSpPr txBox="1">
            <a:spLocks noGrp="1"/>
          </p:cNvSpPr>
          <p:nvPr>
            <p:ph type="subTitle" idx="1"/>
          </p:nvPr>
        </p:nvSpPr>
        <p:spPr>
          <a:xfrm>
            <a:off x="674687" y="3962400"/>
            <a:ext cx="7794625" cy="1752600"/>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2400" b="0" i="0" u="none" strike="noStrike" cap="none">
                <a:solidFill>
                  <a:schemeClr val="dk1"/>
                </a:solidFill>
                <a:latin typeface="+mn-lt"/>
                <a:ea typeface="Arial"/>
                <a:cs typeface="Arial"/>
                <a:sym typeface="Arial"/>
              </a:defRPr>
            </a:lvl1pPr>
            <a:lvl2pPr marL="457200" marR="0" lvl="1" indent="0" algn="ctr" rtl="0">
              <a:spcBef>
                <a:spcPts val="600"/>
              </a:spcBef>
              <a:buClr>
                <a:srgbClr val="007FA3"/>
              </a:buClr>
              <a:buFont typeface="Arial"/>
              <a:buNone/>
              <a:defRPr sz="1600" b="0" i="0" u="none" strike="noStrike" cap="none">
                <a:solidFill>
                  <a:srgbClr val="888888"/>
                </a:solidFill>
                <a:latin typeface="Arial"/>
                <a:ea typeface="Arial"/>
                <a:cs typeface="Arial"/>
                <a:sym typeface="Arial"/>
              </a:defRPr>
            </a:lvl2pPr>
            <a:lvl3pPr marL="914400" marR="0" lvl="2" indent="0" algn="ctr" rtl="0">
              <a:spcBef>
                <a:spcPts val="600"/>
              </a:spcBef>
              <a:buClr>
                <a:srgbClr val="007FA3"/>
              </a:buClr>
              <a:buFont typeface="Noto Sans Symbols"/>
              <a:buNone/>
              <a:defRPr sz="1600" b="0" i="0" u="none" strike="noStrike" cap="none">
                <a:solidFill>
                  <a:srgbClr val="888888"/>
                </a:solidFill>
                <a:latin typeface="Arial"/>
                <a:ea typeface="Arial"/>
                <a:cs typeface="Arial"/>
                <a:sym typeface="Arial"/>
              </a:defRPr>
            </a:lvl3pPr>
            <a:lvl4pPr marL="1371600" marR="0" lvl="3" indent="0" algn="ctr" rtl="0">
              <a:spcBef>
                <a:spcPts val="600"/>
              </a:spcBef>
              <a:buClr>
                <a:srgbClr val="007FA3"/>
              </a:buClr>
              <a:buFont typeface="Arial"/>
              <a:buNone/>
              <a:defRPr sz="1600" b="0" i="0" u="none" strike="noStrike" cap="none">
                <a:solidFill>
                  <a:srgbClr val="888888"/>
                </a:solidFill>
                <a:latin typeface="Arial"/>
                <a:ea typeface="Arial"/>
                <a:cs typeface="Arial"/>
                <a:sym typeface="Arial"/>
              </a:defRPr>
            </a:lvl4pPr>
            <a:lvl5pPr marL="1828800" marR="0" lvl="4" indent="0" algn="ctr" rtl="0">
              <a:spcBef>
                <a:spcPts val="600"/>
              </a:spcBef>
              <a:buClr>
                <a:srgbClr val="007FA3"/>
              </a:buClr>
              <a:buFont typeface="Arial"/>
              <a:buNone/>
              <a:defRPr sz="1600" b="0" i="0" u="none" strike="noStrike" cap="none">
                <a:solidFill>
                  <a:srgbClr val="888888"/>
                </a:solidFill>
                <a:latin typeface="Arial"/>
                <a:ea typeface="Arial"/>
                <a:cs typeface="Arial"/>
                <a:sym typeface="Arial"/>
              </a:defRPr>
            </a:lvl5pPr>
            <a:lvl6pPr marL="2286000" marR="0" lvl="5"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6pPr>
            <a:lvl7pPr marL="2743200" marR="0" lvl="6"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7pPr>
            <a:lvl8pPr marL="3200400" marR="0" lvl="7"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8pPr>
            <a:lvl9pPr marL="3657600" marR="0" lvl="8"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9pPr>
          </a:lstStyle>
          <a:p>
            <a:endParaRPr dirty="0"/>
          </a:p>
        </p:txBody>
      </p:sp>
      <p:sp>
        <p:nvSpPr>
          <p:cNvPr id="22" name="Shape 22"/>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sz="900" b="0" i="0" u="none" strike="noStrike" kern="0" cap="none" spc="0" normalizeH="0" baseline="0" noProof="0" dirty="0">
              <a:ln>
                <a:noFill/>
              </a:ln>
              <a:solidFill>
                <a:srgbClr val="FFFFFF"/>
              </a:solidFill>
              <a:effectLst/>
              <a:uLnTx/>
              <a:uFillTx/>
              <a:latin typeface="Arial"/>
              <a:cs typeface="Arial"/>
              <a:sym typeface="Arial"/>
            </a:endParaRPr>
          </a:p>
        </p:txBody>
      </p:sp>
      <p:sp>
        <p:nvSpPr>
          <p:cNvPr id="23" name="Shape 23"/>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defTabSz="914400" rtl="0" eaLnBrk="1" fontAlgn="auto" latinLnBrk="0" hangingPunct="1">
              <a:lnSpc>
                <a:spcPct val="100000"/>
              </a:lnSpc>
              <a:spcBef>
                <a:spcPts val="0"/>
              </a:spcBef>
              <a:spcAft>
                <a:spcPts val="0"/>
              </a:spcAft>
              <a:buClrTx/>
              <a:buSzPct val="25000"/>
              <a:buFontTx/>
              <a:buNone/>
              <a:tabLst/>
              <a:defRPr/>
            </a:pPr>
            <a:fld id="{00000000-1234-1234-1234-123412341234}" type="slidenum">
              <a:rPr kumimoji="0" lang="en-US" sz="900" b="0" i="0" u="none" strike="noStrike" kern="0" cap="none" spc="0" normalizeH="0" baseline="0" noProof="0">
                <a:ln>
                  <a:noFill/>
                </a:ln>
                <a:solidFill>
                  <a:srgbClr val="FFFFFF"/>
                </a:solidFill>
                <a:effectLst/>
                <a:uLnTx/>
                <a:uFillTx/>
                <a:latin typeface="Arial"/>
                <a:ea typeface="Arial"/>
                <a:cs typeface="Arial"/>
                <a:sym typeface="Arial"/>
              </a:rPr>
              <a:pPr marL="0" marR="0" lvl="0" indent="0" algn="r" defTabSz="914400" rtl="0" eaLnBrk="1" fontAlgn="auto" latinLnBrk="0" hangingPunct="1">
                <a:lnSpc>
                  <a:spcPct val="100000"/>
                </a:lnSpc>
                <a:spcBef>
                  <a:spcPts val="0"/>
                </a:spcBef>
                <a:spcAft>
                  <a:spcPts val="0"/>
                </a:spcAft>
                <a:buClrTx/>
                <a:buSzPct val="25000"/>
                <a:buFontTx/>
                <a:buNone/>
                <a:tabLst/>
                <a:defRPr/>
              </a:pPr>
              <a:t>‹#›</a:t>
            </a:fld>
            <a:endParaRPr kumimoji="0" lang="en-US" sz="900" b="0" i="0" u="none" strike="noStrike" kern="0" cap="none" spc="0" normalizeH="0" baseline="0" noProof="0" dirty="0">
              <a:ln>
                <a:noFill/>
              </a:ln>
              <a:solidFill>
                <a:srgbClr val="FFFFFF"/>
              </a:solidFill>
              <a:effectLst/>
              <a:uLnTx/>
              <a:uFillTx/>
              <a:latin typeface="Arial"/>
              <a:ea typeface="Arial"/>
              <a:cs typeface="Arial"/>
              <a:sym typeface="Arial"/>
            </a:endParaRPr>
          </a:p>
        </p:txBody>
      </p:sp>
    </p:spTree>
    <p:extLst>
      <p:ext uri="{BB962C8B-B14F-4D97-AF65-F5344CB8AC3E}">
        <p14:creationId xmlns:p14="http://schemas.microsoft.com/office/powerpoint/2010/main" val="421594099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Title and one Content">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4" name="Content Placeholder 3">
            <a:extLst>
              <a:ext uri="{FF2B5EF4-FFF2-40B4-BE49-F238E27FC236}">
                <a16:creationId xmlns:a16="http://schemas.microsoft.com/office/drawing/2014/main" id="{211BB07C-705F-4113-A2C5-779D6EA64D97}"/>
              </a:ext>
            </a:extLst>
          </p:cNvPr>
          <p:cNvSpPr>
            <a:spLocks noGrp="1"/>
          </p:cNvSpPr>
          <p:nvPr>
            <p:ph sz="quarter" idx="13"/>
          </p:nvPr>
        </p:nvSpPr>
        <p:spPr>
          <a:xfrm>
            <a:off x="457200" y="1556327"/>
            <a:ext cx="8229600" cy="4586896"/>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26487578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Title and Two Content">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4" name="Content Placeholder 3">
            <a:extLst>
              <a:ext uri="{FF2B5EF4-FFF2-40B4-BE49-F238E27FC236}">
                <a16:creationId xmlns:a16="http://schemas.microsoft.com/office/drawing/2014/main" id="{211BB07C-705F-4113-A2C5-779D6EA64D97}"/>
              </a:ext>
            </a:extLst>
          </p:cNvPr>
          <p:cNvSpPr>
            <a:spLocks noGrp="1"/>
          </p:cNvSpPr>
          <p:nvPr>
            <p:ph sz="quarter" idx="13"/>
          </p:nvPr>
        </p:nvSpPr>
        <p:spPr>
          <a:xfrm>
            <a:off x="457200" y="1556327"/>
            <a:ext cx="8229600" cy="2267528"/>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6">
            <a:extLst>
              <a:ext uri="{FF2B5EF4-FFF2-40B4-BE49-F238E27FC236}">
                <a16:creationId xmlns:a16="http://schemas.microsoft.com/office/drawing/2014/main" id="{820D01C0-4FD2-4065-9EC3-96A308398288}"/>
              </a:ext>
            </a:extLst>
          </p:cNvPr>
          <p:cNvSpPr>
            <a:spLocks noGrp="1"/>
          </p:cNvSpPr>
          <p:nvPr>
            <p:ph sz="quarter" idx="14"/>
          </p:nvPr>
        </p:nvSpPr>
        <p:spPr>
          <a:xfrm>
            <a:off x="457200" y="3971925"/>
            <a:ext cx="8229600" cy="2105025"/>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nd Three Content">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4" name="Content Placeholder 3">
            <a:extLst>
              <a:ext uri="{FF2B5EF4-FFF2-40B4-BE49-F238E27FC236}">
                <a16:creationId xmlns:a16="http://schemas.microsoft.com/office/drawing/2014/main" id="{211BB07C-705F-4113-A2C5-779D6EA64D97}"/>
              </a:ext>
            </a:extLst>
          </p:cNvPr>
          <p:cNvSpPr>
            <a:spLocks noGrp="1"/>
          </p:cNvSpPr>
          <p:nvPr>
            <p:ph sz="quarter" idx="13"/>
          </p:nvPr>
        </p:nvSpPr>
        <p:spPr>
          <a:xfrm>
            <a:off x="461030" y="1556326"/>
            <a:ext cx="3631545" cy="4520623"/>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6">
            <a:extLst>
              <a:ext uri="{FF2B5EF4-FFF2-40B4-BE49-F238E27FC236}">
                <a16:creationId xmlns:a16="http://schemas.microsoft.com/office/drawing/2014/main" id="{820D01C0-4FD2-4065-9EC3-96A308398288}"/>
              </a:ext>
            </a:extLst>
          </p:cNvPr>
          <p:cNvSpPr>
            <a:spLocks noGrp="1"/>
          </p:cNvSpPr>
          <p:nvPr>
            <p:ph sz="quarter" idx="14"/>
          </p:nvPr>
        </p:nvSpPr>
        <p:spPr>
          <a:xfrm>
            <a:off x="4234542" y="1563574"/>
            <a:ext cx="4452258" cy="2105025"/>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Content Placeholder 2">
            <a:extLst>
              <a:ext uri="{FF2B5EF4-FFF2-40B4-BE49-F238E27FC236}">
                <a16:creationId xmlns:a16="http://schemas.microsoft.com/office/drawing/2014/main" id="{6F503D41-401A-43DB-9BC0-38F51965B892}"/>
              </a:ext>
            </a:extLst>
          </p:cNvPr>
          <p:cNvSpPr>
            <a:spLocks noGrp="1"/>
          </p:cNvSpPr>
          <p:nvPr>
            <p:ph sz="quarter" idx="15"/>
          </p:nvPr>
        </p:nvSpPr>
        <p:spPr>
          <a:xfrm>
            <a:off x="4243595" y="3977558"/>
            <a:ext cx="4443205" cy="2112272"/>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276906253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and Two Columns">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8" name="Content Placeholder 7">
            <a:extLst>
              <a:ext uri="{FF2B5EF4-FFF2-40B4-BE49-F238E27FC236}">
                <a16:creationId xmlns:a16="http://schemas.microsoft.com/office/drawing/2014/main" id="{82CB7AFE-9851-46A0-B2FB-0A5EE6AEFCA6}"/>
              </a:ext>
            </a:extLst>
          </p:cNvPr>
          <p:cNvSpPr>
            <a:spLocks noGrp="1"/>
          </p:cNvSpPr>
          <p:nvPr>
            <p:ph sz="quarter" idx="13"/>
          </p:nvPr>
        </p:nvSpPr>
        <p:spPr>
          <a:xfrm>
            <a:off x="457200" y="1552575"/>
            <a:ext cx="3991970"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Content Placeholder 7">
            <a:extLst>
              <a:ext uri="{FF2B5EF4-FFF2-40B4-BE49-F238E27FC236}">
                <a16:creationId xmlns:a16="http://schemas.microsoft.com/office/drawing/2014/main" id="{75D3A394-A5AF-478E-AC3D-2714CFF806D2}"/>
              </a:ext>
            </a:extLst>
          </p:cNvPr>
          <p:cNvSpPr>
            <a:spLocks noGrp="1"/>
          </p:cNvSpPr>
          <p:nvPr>
            <p:ph sz="quarter" idx="14"/>
          </p:nvPr>
        </p:nvSpPr>
        <p:spPr>
          <a:xfrm>
            <a:off x="4694830" y="1552575"/>
            <a:ext cx="3991970"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412611016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Three Columns">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8" name="Content Placeholder 7">
            <a:extLst>
              <a:ext uri="{FF2B5EF4-FFF2-40B4-BE49-F238E27FC236}">
                <a16:creationId xmlns:a16="http://schemas.microsoft.com/office/drawing/2014/main" id="{82CB7AFE-9851-46A0-B2FB-0A5EE6AEFCA6}"/>
              </a:ext>
            </a:extLst>
          </p:cNvPr>
          <p:cNvSpPr>
            <a:spLocks noGrp="1"/>
          </p:cNvSpPr>
          <p:nvPr>
            <p:ph sz="quarter" idx="13"/>
          </p:nvPr>
        </p:nvSpPr>
        <p:spPr>
          <a:xfrm>
            <a:off x="466603" y="1552575"/>
            <a:ext cx="2595602"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Content Placeholder 7">
            <a:extLst>
              <a:ext uri="{FF2B5EF4-FFF2-40B4-BE49-F238E27FC236}">
                <a16:creationId xmlns:a16="http://schemas.microsoft.com/office/drawing/2014/main" id="{75D3A394-A5AF-478E-AC3D-2714CFF806D2}"/>
              </a:ext>
            </a:extLst>
          </p:cNvPr>
          <p:cNvSpPr>
            <a:spLocks noGrp="1"/>
          </p:cNvSpPr>
          <p:nvPr>
            <p:ph sz="quarter" idx="14"/>
          </p:nvPr>
        </p:nvSpPr>
        <p:spPr>
          <a:xfrm>
            <a:off x="3290555" y="1552575"/>
            <a:ext cx="2595603"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Content Placeholder 7">
            <a:extLst>
              <a:ext uri="{FF2B5EF4-FFF2-40B4-BE49-F238E27FC236}">
                <a16:creationId xmlns:a16="http://schemas.microsoft.com/office/drawing/2014/main" id="{5D721EFE-2C28-4C54-8BB9-3FCF3DECD16D}"/>
              </a:ext>
            </a:extLst>
          </p:cNvPr>
          <p:cNvSpPr>
            <a:spLocks noGrp="1"/>
          </p:cNvSpPr>
          <p:nvPr>
            <p:ph sz="quarter" idx="15"/>
          </p:nvPr>
        </p:nvSpPr>
        <p:spPr>
          <a:xfrm>
            <a:off x="6091197" y="1552575"/>
            <a:ext cx="2595603"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416443381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and Four Content">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8" name="Content Placeholder 7">
            <a:extLst>
              <a:ext uri="{FF2B5EF4-FFF2-40B4-BE49-F238E27FC236}">
                <a16:creationId xmlns:a16="http://schemas.microsoft.com/office/drawing/2014/main" id="{82CB7AFE-9851-46A0-B2FB-0A5EE6AEFCA6}"/>
              </a:ext>
            </a:extLst>
          </p:cNvPr>
          <p:cNvSpPr>
            <a:spLocks noGrp="1"/>
          </p:cNvSpPr>
          <p:nvPr>
            <p:ph sz="quarter" idx="13"/>
          </p:nvPr>
        </p:nvSpPr>
        <p:spPr>
          <a:xfrm>
            <a:off x="457200" y="1552575"/>
            <a:ext cx="1885950"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Content Placeholder 7">
            <a:extLst>
              <a:ext uri="{FF2B5EF4-FFF2-40B4-BE49-F238E27FC236}">
                <a16:creationId xmlns:a16="http://schemas.microsoft.com/office/drawing/2014/main" id="{75D3A394-A5AF-478E-AC3D-2714CFF806D2}"/>
              </a:ext>
            </a:extLst>
          </p:cNvPr>
          <p:cNvSpPr>
            <a:spLocks noGrp="1"/>
          </p:cNvSpPr>
          <p:nvPr>
            <p:ph sz="quarter" idx="14"/>
          </p:nvPr>
        </p:nvSpPr>
        <p:spPr>
          <a:xfrm>
            <a:off x="2572593" y="1552575"/>
            <a:ext cx="1885950"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Content Placeholder 7">
            <a:extLst>
              <a:ext uri="{FF2B5EF4-FFF2-40B4-BE49-F238E27FC236}">
                <a16:creationId xmlns:a16="http://schemas.microsoft.com/office/drawing/2014/main" id="{5D721EFE-2C28-4C54-8BB9-3FCF3DECD16D}"/>
              </a:ext>
            </a:extLst>
          </p:cNvPr>
          <p:cNvSpPr>
            <a:spLocks noGrp="1"/>
          </p:cNvSpPr>
          <p:nvPr>
            <p:ph sz="quarter" idx="15"/>
          </p:nvPr>
        </p:nvSpPr>
        <p:spPr>
          <a:xfrm>
            <a:off x="4687986" y="1552575"/>
            <a:ext cx="1885950"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Content Placeholder 7">
            <a:extLst>
              <a:ext uri="{FF2B5EF4-FFF2-40B4-BE49-F238E27FC236}">
                <a16:creationId xmlns:a16="http://schemas.microsoft.com/office/drawing/2014/main" id="{99D20A0E-9225-48FB-91AF-C7D8DE4D66F4}"/>
              </a:ext>
            </a:extLst>
          </p:cNvPr>
          <p:cNvSpPr>
            <a:spLocks noGrp="1"/>
          </p:cNvSpPr>
          <p:nvPr>
            <p:ph sz="quarter" idx="16"/>
          </p:nvPr>
        </p:nvSpPr>
        <p:spPr>
          <a:xfrm>
            <a:off x="6803378" y="1552575"/>
            <a:ext cx="1885950"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301121478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1_Title and Ten Content">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8" name="Content Placeholder 7">
            <a:extLst>
              <a:ext uri="{FF2B5EF4-FFF2-40B4-BE49-F238E27FC236}">
                <a16:creationId xmlns:a16="http://schemas.microsoft.com/office/drawing/2014/main" id="{82CB7AFE-9851-46A0-B2FB-0A5EE6AEFCA6}"/>
              </a:ext>
            </a:extLst>
          </p:cNvPr>
          <p:cNvSpPr>
            <a:spLocks noGrp="1"/>
          </p:cNvSpPr>
          <p:nvPr>
            <p:ph sz="quarter" idx="13"/>
          </p:nvPr>
        </p:nvSpPr>
        <p:spPr>
          <a:xfrm>
            <a:off x="457200" y="1552575"/>
            <a:ext cx="4011769" cy="469408"/>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Content Placeholder 7">
            <a:extLst>
              <a:ext uri="{FF2B5EF4-FFF2-40B4-BE49-F238E27FC236}">
                <a16:creationId xmlns:a16="http://schemas.microsoft.com/office/drawing/2014/main" id="{75D3A394-A5AF-478E-AC3D-2714CFF806D2}"/>
              </a:ext>
            </a:extLst>
          </p:cNvPr>
          <p:cNvSpPr>
            <a:spLocks noGrp="1"/>
          </p:cNvSpPr>
          <p:nvPr>
            <p:ph sz="quarter" idx="14"/>
          </p:nvPr>
        </p:nvSpPr>
        <p:spPr>
          <a:xfrm>
            <a:off x="457200" y="2216772"/>
            <a:ext cx="4011769" cy="552186"/>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Content Placeholder 7">
            <a:extLst>
              <a:ext uri="{FF2B5EF4-FFF2-40B4-BE49-F238E27FC236}">
                <a16:creationId xmlns:a16="http://schemas.microsoft.com/office/drawing/2014/main" id="{5D721EFE-2C28-4C54-8BB9-3FCF3DECD16D}"/>
              </a:ext>
            </a:extLst>
          </p:cNvPr>
          <p:cNvSpPr>
            <a:spLocks noGrp="1"/>
          </p:cNvSpPr>
          <p:nvPr>
            <p:ph sz="quarter" idx="15"/>
          </p:nvPr>
        </p:nvSpPr>
        <p:spPr>
          <a:xfrm>
            <a:off x="457200" y="2953477"/>
            <a:ext cx="4011769" cy="525368"/>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Content Placeholder 7">
            <a:extLst>
              <a:ext uri="{FF2B5EF4-FFF2-40B4-BE49-F238E27FC236}">
                <a16:creationId xmlns:a16="http://schemas.microsoft.com/office/drawing/2014/main" id="{99D20A0E-9225-48FB-91AF-C7D8DE4D66F4}"/>
              </a:ext>
            </a:extLst>
          </p:cNvPr>
          <p:cNvSpPr>
            <a:spLocks noGrp="1"/>
          </p:cNvSpPr>
          <p:nvPr>
            <p:ph sz="quarter" idx="16"/>
          </p:nvPr>
        </p:nvSpPr>
        <p:spPr>
          <a:xfrm>
            <a:off x="457200" y="3640944"/>
            <a:ext cx="4011769" cy="525368"/>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
        <p:nvSpPr>
          <p:cNvPr id="3" name="Content Placeholder 2"/>
          <p:cNvSpPr>
            <a:spLocks noGrp="1"/>
          </p:cNvSpPr>
          <p:nvPr>
            <p:ph sz="quarter" idx="17"/>
          </p:nvPr>
        </p:nvSpPr>
        <p:spPr>
          <a:xfrm>
            <a:off x="457200" y="4352925"/>
            <a:ext cx="4011769" cy="4762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Content Placeholder 4"/>
          <p:cNvSpPr>
            <a:spLocks noGrp="1"/>
          </p:cNvSpPr>
          <p:nvPr>
            <p:ph sz="quarter" idx="18"/>
          </p:nvPr>
        </p:nvSpPr>
        <p:spPr>
          <a:xfrm>
            <a:off x="457200" y="5010150"/>
            <a:ext cx="4011769" cy="5143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7" name="Content Placeholder 6"/>
          <p:cNvSpPr>
            <a:spLocks noGrp="1"/>
          </p:cNvSpPr>
          <p:nvPr>
            <p:ph sz="quarter" idx="19"/>
          </p:nvPr>
        </p:nvSpPr>
        <p:spPr>
          <a:xfrm>
            <a:off x="457200" y="5692775"/>
            <a:ext cx="4011769" cy="566738"/>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0" name="Content Placeholder 9"/>
          <p:cNvSpPr>
            <a:spLocks noGrp="1"/>
          </p:cNvSpPr>
          <p:nvPr>
            <p:ph sz="quarter" idx="20"/>
          </p:nvPr>
        </p:nvSpPr>
        <p:spPr>
          <a:xfrm>
            <a:off x="4622801" y="1557338"/>
            <a:ext cx="4064000" cy="465137"/>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2" name="Content Placeholder 11"/>
          <p:cNvSpPr>
            <a:spLocks noGrp="1"/>
          </p:cNvSpPr>
          <p:nvPr>
            <p:ph sz="quarter" idx="21"/>
          </p:nvPr>
        </p:nvSpPr>
        <p:spPr>
          <a:xfrm>
            <a:off x="4622800" y="2216150"/>
            <a:ext cx="4064000" cy="5524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4" name="Content Placeholder 13"/>
          <p:cNvSpPr>
            <a:spLocks noGrp="1"/>
          </p:cNvSpPr>
          <p:nvPr>
            <p:ph sz="quarter" idx="22"/>
          </p:nvPr>
        </p:nvSpPr>
        <p:spPr>
          <a:xfrm>
            <a:off x="4622800" y="2952750"/>
            <a:ext cx="4064000" cy="525463"/>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9" name="Content Placeholder 18"/>
          <p:cNvSpPr>
            <a:spLocks noGrp="1"/>
          </p:cNvSpPr>
          <p:nvPr>
            <p:ph sz="quarter" idx="23"/>
          </p:nvPr>
        </p:nvSpPr>
        <p:spPr>
          <a:xfrm>
            <a:off x="4622800" y="3641725"/>
            <a:ext cx="4064000" cy="523875"/>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1" name="Content Placeholder 20"/>
          <p:cNvSpPr>
            <a:spLocks noGrp="1"/>
          </p:cNvSpPr>
          <p:nvPr>
            <p:ph sz="quarter" idx="24"/>
          </p:nvPr>
        </p:nvSpPr>
        <p:spPr>
          <a:xfrm>
            <a:off x="4622800" y="4352925"/>
            <a:ext cx="4064000" cy="4762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3" name="Content Placeholder 22"/>
          <p:cNvSpPr>
            <a:spLocks noGrp="1"/>
          </p:cNvSpPr>
          <p:nvPr>
            <p:ph sz="quarter" idx="25"/>
          </p:nvPr>
        </p:nvSpPr>
        <p:spPr>
          <a:xfrm>
            <a:off x="4713288" y="5010150"/>
            <a:ext cx="3973512" cy="5143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5" name="Content Placeholder 24"/>
          <p:cNvSpPr>
            <a:spLocks noGrp="1"/>
          </p:cNvSpPr>
          <p:nvPr>
            <p:ph sz="quarter" idx="26"/>
          </p:nvPr>
        </p:nvSpPr>
        <p:spPr>
          <a:xfrm>
            <a:off x="4713288" y="5692775"/>
            <a:ext cx="3973512" cy="566738"/>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Tree>
    <p:extLst>
      <p:ext uri="{BB962C8B-B14F-4D97-AF65-F5344CB8AC3E}">
        <p14:creationId xmlns:p14="http://schemas.microsoft.com/office/powerpoint/2010/main" val="447121803"/>
      </p:ext>
    </p:extLst>
  </p:cSld>
  <p:clrMapOvr>
    <a:masterClrMapping/>
  </p:clrMapOvr>
  <p:extLst>
    <p:ext uri="{DCECCB84-F9BA-43D5-87BE-67443E8EF086}">
      <p15:sldGuideLst xmlns:p15="http://schemas.microsoft.com/office/powerpoint/2012/main">
        <p15:guide id="1" orient="horz" pos="981"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2_Title and eight Content">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8" name="Content Placeholder 7">
            <a:extLst>
              <a:ext uri="{FF2B5EF4-FFF2-40B4-BE49-F238E27FC236}">
                <a16:creationId xmlns:a16="http://schemas.microsoft.com/office/drawing/2014/main" id="{82CB7AFE-9851-46A0-B2FB-0A5EE6AEFCA6}"/>
              </a:ext>
            </a:extLst>
          </p:cNvPr>
          <p:cNvSpPr>
            <a:spLocks noGrp="1"/>
          </p:cNvSpPr>
          <p:nvPr>
            <p:ph sz="quarter" idx="13"/>
          </p:nvPr>
        </p:nvSpPr>
        <p:spPr>
          <a:xfrm>
            <a:off x="457200" y="1552575"/>
            <a:ext cx="8315325" cy="469408"/>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Content Placeholder 7">
            <a:extLst>
              <a:ext uri="{FF2B5EF4-FFF2-40B4-BE49-F238E27FC236}">
                <a16:creationId xmlns:a16="http://schemas.microsoft.com/office/drawing/2014/main" id="{75D3A394-A5AF-478E-AC3D-2714CFF806D2}"/>
              </a:ext>
            </a:extLst>
          </p:cNvPr>
          <p:cNvSpPr>
            <a:spLocks noGrp="1"/>
          </p:cNvSpPr>
          <p:nvPr>
            <p:ph sz="quarter" idx="14"/>
          </p:nvPr>
        </p:nvSpPr>
        <p:spPr>
          <a:xfrm>
            <a:off x="457200" y="2216772"/>
            <a:ext cx="8229600" cy="552186"/>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Content Placeholder 7">
            <a:extLst>
              <a:ext uri="{FF2B5EF4-FFF2-40B4-BE49-F238E27FC236}">
                <a16:creationId xmlns:a16="http://schemas.microsoft.com/office/drawing/2014/main" id="{5D721EFE-2C28-4C54-8BB9-3FCF3DECD16D}"/>
              </a:ext>
            </a:extLst>
          </p:cNvPr>
          <p:cNvSpPr>
            <a:spLocks noGrp="1"/>
          </p:cNvSpPr>
          <p:nvPr>
            <p:ph sz="quarter" idx="15"/>
          </p:nvPr>
        </p:nvSpPr>
        <p:spPr>
          <a:xfrm>
            <a:off x="457200" y="2953477"/>
            <a:ext cx="8229600" cy="525368"/>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Content Placeholder 7">
            <a:extLst>
              <a:ext uri="{FF2B5EF4-FFF2-40B4-BE49-F238E27FC236}">
                <a16:creationId xmlns:a16="http://schemas.microsoft.com/office/drawing/2014/main" id="{99D20A0E-9225-48FB-91AF-C7D8DE4D66F4}"/>
              </a:ext>
            </a:extLst>
          </p:cNvPr>
          <p:cNvSpPr>
            <a:spLocks noGrp="1"/>
          </p:cNvSpPr>
          <p:nvPr>
            <p:ph sz="quarter" idx="16"/>
          </p:nvPr>
        </p:nvSpPr>
        <p:spPr>
          <a:xfrm>
            <a:off x="457200" y="3640944"/>
            <a:ext cx="8229600" cy="525368"/>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
        <p:nvSpPr>
          <p:cNvPr id="3" name="Content Placeholder 2"/>
          <p:cNvSpPr>
            <a:spLocks noGrp="1"/>
          </p:cNvSpPr>
          <p:nvPr>
            <p:ph sz="quarter" idx="17"/>
          </p:nvPr>
        </p:nvSpPr>
        <p:spPr>
          <a:xfrm>
            <a:off x="457200" y="4352925"/>
            <a:ext cx="8315325" cy="4762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Content Placeholder 4"/>
          <p:cNvSpPr>
            <a:spLocks noGrp="1"/>
          </p:cNvSpPr>
          <p:nvPr>
            <p:ph sz="quarter" idx="18"/>
          </p:nvPr>
        </p:nvSpPr>
        <p:spPr>
          <a:xfrm>
            <a:off x="457200" y="5010150"/>
            <a:ext cx="8315325" cy="5143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7" name="Content Placeholder 6"/>
          <p:cNvSpPr>
            <a:spLocks noGrp="1"/>
          </p:cNvSpPr>
          <p:nvPr>
            <p:ph sz="quarter" idx="19"/>
          </p:nvPr>
        </p:nvSpPr>
        <p:spPr>
          <a:xfrm>
            <a:off x="457200" y="5692775"/>
            <a:ext cx="8420100" cy="566738"/>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4" name="Text Placeholder 3">
            <a:extLst>
              <a:ext uri="{FF2B5EF4-FFF2-40B4-BE49-F238E27FC236}">
                <a16:creationId xmlns:a16="http://schemas.microsoft.com/office/drawing/2014/main" id="{3B64FA0F-F9B8-4F2C-89C0-095728AC49B0}"/>
              </a:ext>
            </a:extLst>
          </p:cNvPr>
          <p:cNvSpPr>
            <a:spLocks noGrp="1"/>
          </p:cNvSpPr>
          <p:nvPr>
            <p:ph type="body" sz="quarter" idx="20"/>
          </p:nvPr>
        </p:nvSpPr>
        <p:spPr>
          <a:xfrm>
            <a:off x="457200" y="6381750"/>
            <a:ext cx="8420100" cy="4762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9" name="Content Placeholder 8">
            <a:extLst>
              <a:ext uri="{FF2B5EF4-FFF2-40B4-BE49-F238E27FC236}">
                <a16:creationId xmlns:a16="http://schemas.microsoft.com/office/drawing/2014/main" id="{BF956FB8-DE6E-4D86-96ED-00F129003A01}"/>
              </a:ext>
            </a:extLst>
          </p:cNvPr>
          <p:cNvSpPr>
            <a:spLocks noGrp="1"/>
          </p:cNvSpPr>
          <p:nvPr>
            <p:ph sz="quarter" idx="21"/>
          </p:nvPr>
        </p:nvSpPr>
        <p:spPr>
          <a:xfrm>
            <a:off x="457200" y="6972300"/>
            <a:ext cx="8564563" cy="4857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Tree>
    <p:extLst>
      <p:ext uri="{BB962C8B-B14F-4D97-AF65-F5344CB8AC3E}">
        <p14:creationId xmlns:p14="http://schemas.microsoft.com/office/powerpoint/2010/main" val="3632291383"/>
      </p:ext>
    </p:extLst>
  </p:cSld>
  <p:clrMapOvr>
    <a:masterClrMapping/>
  </p:clrMapOvr>
  <p:extLst>
    <p:ext uri="{DCECCB84-F9BA-43D5-87BE-67443E8EF086}">
      <p15:sldGuideLst xmlns:p15="http://schemas.microsoft.com/office/powerpoint/2012/main">
        <p15:guide id="1" orient="horz" pos="981" userDrawn="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2_Title and 20_Content_4_Text">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8" name="Content Placeholder 7">
            <a:extLst>
              <a:ext uri="{FF2B5EF4-FFF2-40B4-BE49-F238E27FC236}">
                <a16:creationId xmlns:a16="http://schemas.microsoft.com/office/drawing/2014/main" id="{82CB7AFE-9851-46A0-B2FB-0A5EE6AEFCA6}"/>
              </a:ext>
            </a:extLst>
          </p:cNvPr>
          <p:cNvSpPr>
            <a:spLocks noGrp="1"/>
          </p:cNvSpPr>
          <p:nvPr>
            <p:ph sz="quarter" idx="13"/>
          </p:nvPr>
        </p:nvSpPr>
        <p:spPr>
          <a:xfrm>
            <a:off x="457200" y="1593309"/>
            <a:ext cx="8229600" cy="387941"/>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18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Content Placeholder 7">
            <a:extLst>
              <a:ext uri="{FF2B5EF4-FFF2-40B4-BE49-F238E27FC236}">
                <a16:creationId xmlns:a16="http://schemas.microsoft.com/office/drawing/2014/main" id="{75D3A394-A5AF-478E-AC3D-2714CFF806D2}"/>
              </a:ext>
            </a:extLst>
          </p:cNvPr>
          <p:cNvSpPr>
            <a:spLocks noGrp="1"/>
          </p:cNvSpPr>
          <p:nvPr>
            <p:ph sz="quarter" idx="14"/>
          </p:nvPr>
        </p:nvSpPr>
        <p:spPr>
          <a:xfrm>
            <a:off x="457200" y="2063853"/>
            <a:ext cx="8229600" cy="342864"/>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18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Content Placeholder 7">
            <a:extLst>
              <a:ext uri="{FF2B5EF4-FFF2-40B4-BE49-F238E27FC236}">
                <a16:creationId xmlns:a16="http://schemas.microsoft.com/office/drawing/2014/main" id="{5D721EFE-2C28-4C54-8BB9-3FCF3DECD16D}"/>
              </a:ext>
            </a:extLst>
          </p:cNvPr>
          <p:cNvSpPr>
            <a:spLocks noGrp="1"/>
          </p:cNvSpPr>
          <p:nvPr>
            <p:ph sz="quarter" idx="15"/>
          </p:nvPr>
        </p:nvSpPr>
        <p:spPr>
          <a:xfrm>
            <a:off x="457200" y="2495832"/>
            <a:ext cx="8229600" cy="358833"/>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18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Content Placeholder 7">
            <a:extLst>
              <a:ext uri="{FF2B5EF4-FFF2-40B4-BE49-F238E27FC236}">
                <a16:creationId xmlns:a16="http://schemas.microsoft.com/office/drawing/2014/main" id="{99D20A0E-9225-48FB-91AF-C7D8DE4D66F4}"/>
              </a:ext>
            </a:extLst>
          </p:cNvPr>
          <p:cNvSpPr>
            <a:spLocks noGrp="1"/>
          </p:cNvSpPr>
          <p:nvPr>
            <p:ph sz="quarter" idx="16"/>
          </p:nvPr>
        </p:nvSpPr>
        <p:spPr>
          <a:xfrm>
            <a:off x="457200" y="2946415"/>
            <a:ext cx="8229600" cy="394716"/>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18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
        <p:nvSpPr>
          <p:cNvPr id="3" name="Content Placeholder 2"/>
          <p:cNvSpPr>
            <a:spLocks noGrp="1"/>
          </p:cNvSpPr>
          <p:nvPr>
            <p:ph sz="quarter" idx="17"/>
          </p:nvPr>
        </p:nvSpPr>
        <p:spPr>
          <a:xfrm>
            <a:off x="457200" y="3423855"/>
            <a:ext cx="8229600" cy="325285"/>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18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Content Placeholder 4"/>
          <p:cNvSpPr>
            <a:spLocks noGrp="1"/>
          </p:cNvSpPr>
          <p:nvPr>
            <p:ph sz="quarter" idx="18"/>
          </p:nvPr>
        </p:nvSpPr>
        <p:spPr>
          <a:xfrm>
            <a:off x="457200" y="3857050"/>
            <a:ext cx="8229600" cy="425083"/>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18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7" name="Content Placeholder 6"/>
          <p:cNvSpPr>
            <a:spLocks noGrp="1"/>
          </p:cNvSpPr>
          <p:nvPr>
            <p:ph sz="quarter" idx="19"/>
          </p:nvPr>
        </p:nvSpPr>
        <p:spPr>
          <a:xfrm>
            <a:off x="457200" y="4338157"/>
            <a:ext cx="8229600" cy="395774"/>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18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0" name="Content Placeholder 9"/>
          <p:cNvSpPr>
            <a:spLocks noGrp="1"/>
          </p:cNvSpPr>
          <p:nvPr>
            <p:ph sz="quarter" idx="20"/>
          </p:nvPr>
        </p:nvSpPr>
        <p:spPr>
          <a:xfrm>
            <a:off x="457201" y="4837386"/>
            <a:ext cx="8229600" cy="238689"/>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18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2" name="Content Placeholder 11"/>
          <p:cNvSpPr>
            <a:spLocks noGrp="1"/>
          </p:cNvSpPr>
          <p:nvPr>
            <p:ph sz="quarter" idx="21"/>
          </p:nvPr>
        </p:nvSpPr>
        <p:spPr>
          <a:xfrm>
            <a:off x="457200" y="5211857"/>
            <a:ext cx="8229600" cy="283495"/>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18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4" name="Content Placeholder 13"/>
          <p:cNvSpPr>
            <a:spLocks noGrp="1"/>
          </p:cNvSpPr>
          <p:nvPr>
            <p:ph sz="quarter" idx="22"/>
          </p:nvPr>
        </p:nvSpPr>
        <p:spPr>
          <a:xfrm>
            <a:off x="457200" y="5606853"/>
            <a:ext cx="8229600" cy="269645"/>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18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9" name="Content Placeholder 18"/>
          <p:cNvSpPr>
            <a:spLocks noGrp="1"/>
          </p:cNvSpPr>
          <p:nvPr>
            <p:ph sz="quarter" idx="23"/>
          </p:nvPr>
        </p:nvSpPr>
        <p:spPr>
          <a:xfrm>
            <a:off x="457200" y="5983525"/>
            <a:ext cx="8229600" cy="268831"/>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18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1" name="Content Placeholder 20"/>
          <p:cNvSpPr>
            <a:spLocks noGrp="1"/>
          </p:cNvSpPr>
          <p:nvPr>
            <p:ph sz="quarter" idx="24"/>
          </p:nvPr>
        </p:nvSpPr>
        <p:spPr>
          <a:xfrm>
            <a:off x="457201" y="6331844"/>
            <a:ext cx="8229600" cy="244392"/>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18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3" name="Content Placeholder 22"/>
          <p:cNvSpPr>
            <a:spLocks noGrp="1"/>
          </p:cNvSpPr>
          <p:nvPr>
            <p:ph sz="quarter" idx="25"/>
          </p:nvPr>
        </p:nvSpPr>
        <p:spPr>
          <a:xfrm>
            <a:off x="457201" y="6654233"/>
            <a:ext cx="8046362" cy="263943"/>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18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5" name="Content Placeholder 24"/>
          <p:cNvSpPr>
            <a:spLocks noGrp="1"/>
          </p:cNvSpPr>
          <p:nvPr>
            <p:ph sz="quarter" idx="26"/>
          </p:nvPr>
        </p:nvSpPr>
        <p:spPr>
          <a:xfrm>
            <a:off x="457201" y="7063805"/>
            <a:ext cx="8046362" cy="290825"/>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18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4" name="Content Placeholder 3"/>
          <p:cNvSpPr>
            <a:spLocks noGrp="1"/>
          </p:cNvSpPr>
          <p:nvPr>
            <p:ph sz="quarter" idx="27"/>
          </p:nvPr>
        </p:nvSpPr>
        <p:spPr>
          <a:xfrm>
            <a:off x="457200" y="7483231"/>
            <a:ext cx="8012113" cy="219075"/>
          </a:xfrm>
        </p:spPr>
        <p:txBody>
          <a:bodyPr/>
          <a:lstStyle>
            <a:lvl1pPr indent="-255600">
              <a:defRPr>
                <a:latin typeface="+mn-lt"/>
              </a:defRPr>
            </a:lvl1pPr>
            <a:lvl2pPr indent="-284400">
              <a:defRPr>
                <a:latin typeface="+mn-lt"/>
              </a:defRPr>
            </a:lvl2pPr>
            <a:lvl3pPr marL="1143000" indent="-127000">
              <a:buFont typeface="Arial" panose="020B0604020202020204" pitchFamily="34" charset="0"/>
              <a:buChar char="▪"/>
              <a:defRPr>
                <a:latin typeface="+mn-lt"/>
              </a:defRPr>
            </a:lvl3pPr>
            <a:lvl4pPr>
              <a:defRPr>
                <a:latin typeface="+mn-lt"/>
              </a:defRPr>
            </a:lvl4pPr>
            <a:lvl5pPr>
              <a:defRPr>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9" name="Content Placeholder 8"/>
          <p:cNvSpPr>
            <a:spLocks noGrp="1"/>
          </p:cNvSpPr>
          <p:nvPr>
            <p:ph sz="quarter" idx="28"/>
          </p:nvPr>
        </p:nvSpPr>
        <p:spPr>
          <a:xfrm>
            <a:off x="457200" y="7832725"/>
            <a:ext cx="8012113" cy="293688"/>
          </a:xfrm>
        </p:spPr>
        <p:txBody>
          <a:bodyPr/>
          <a:lstStyle>
            <a:lvl1pPr indent="-255600">
              <a:defRPr>
                <a:latin typeface="+mn-lt"/>
              </a:defRPr>
            </a:lvl1pPr>
            <a:lvl2pPr indent="-284400">
              <a:defRPr>
                <a:latin typeface="+mn-lt"/>
              </a:defRPr>
            </a:lvl2pPr>
            <a:lvl3pPr marL="1143000" indent="-127000">
              <a:buFont typeface="Arial" panose="020B0604020202020204" pitchFamily="34" charset="0"/>
              <a:buChar char="▪"/>
              <a:defRPr>
                <a:latin typeface="+mn-lt"/>
              </a:defRPr>
            </a:lvl3pPr>
            <a:lvl4pPr>
              <a:defRPr>
                <a:latin typeface="+mn-lt"/>
              </a:defRPr>
            </a:lvl4pPr>
            <a:lvl5pPr>
              <a:defRPr>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3" name="Content Placeholder 12"/>
          <p:cNvSpPr>
            <a:spLocks noGrp="1"/>
          </p:cNvSpPr>
          <p:nvPr>
            <p:ph sz="quarter" idx="29"/>
          </p:nvPr>
        </p:nvSpPr>
        <p:spPr>
          <a:xfrm>
            <a:off x="457200" y="8258175"/>
            <a:ext cx="8047038" cy="327025"/>
          </a:xfrm>
        </p:spPr>
        <p:txBody>
          <a:bodyPr/>
          <a:lstStyle>
            <a:lvl1pPr indent="-255600">
              <a:defRPr>
                <a:latin typeface="+mn-lt"/>
              </a:defRPr>
            </a:lvl1pPr>
            <a:lvl2pPr indent="-284400">
              <a:defRPr>
                <a:latin typeface="+mn-lt"/>
              </a:defRPr>
            </a:lvl2pPr>
            <a:lvl3pPr marL="1143000" indent="-127000">
              <a:buFont typeface="Arial" panose="020B0604020202020204" pitchFamily="34" charset="0"/>
              <a:buChar char="▪"/>
              <a:defRPr>
                <a:latin typeface="+mn-lt"/>
              </a:defRPr>
            </a:lvl3pPr>
            <a:lvl4pPr>
              <a:defRPr>
                <a:latin typeface="+mn-lt"/>
              </a:defRPr>
            </a:lvl4pPr>
            <a:lvl5pPr>
              <a:defRPr>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0" name="Content Placeholder 19"/>
          <p:cNvSpPr>
            <a:spLocks noGrp="1"/>
          </p:cNvSpPr>
          <p:nvPr>
            <p:ph sz="quarter" idx="30"/>
          </p:nvPr>
        </p:nvSpPr>
        <p:spPr>
          <a:xfrm>
            <a:off x="457200" y="8609013"/>
            <a:ext cx="8012113" cy="323850"/>
          </a:xfrm>
        </p:spPr>
        <p:txBody>
          <a:bodyPr/>
          <a:lstStyle>
            <a:lvl1pPr indent="-255600">
              <a:defRPr>
                <a:latin typeface="+mn-lt"/>
              </a:defRPr>
            </a:lvl1pPr>
            <a:lvl2pPr>
              <a:defRPr>
                <a:latin typeface="+mn-lt"/>
              </a:defRPr>
            </a:lvl2pPr>
            <a:lvl3pPr marL="1143000" indent="-127000">
              <a:buFont typeface="Arial" panose="020B0604020202020204" pitchFamily="34" charset="0"/>
              <a:buChar char="▪"/>
              <a:defRPr>
                <a:latin typeface="+mn-lt"/>
              </a:defRPr>
            </a:lvl3pPr>
            <a:lvl4pPr>
              <a:defRPr>
                <a:latin typeface="+mn-lt"/>
              </a:defRPr>
            </a:lvl4pPr>
            <a:lvl5pPr>
              <a:defRPr>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4" name="Content Placeholder 23"/>
          <p:cNvSpPr>
            <a:spLocks noGrp="1"/>
          </p:cNvSpPr>
          <p:nvPr>
            <p:ph sz="quarter" idx="31"/>
          </p:nvPr>
        </p:nvSpPr>
        <p:spPr>
          <a:xfrm>
            <a:off x="457200" y="9036050"/>
            <a:ext cx="8047038" cy="239713"/>
          </a:xfrm>
        </p:spPr>
        <p:txBody>
          <a:bodyPr/>
          <a:lstStyle>
            <a:lvl1pPr indent="-255600">
              <a:defRPr>
                <a:latin typeface="+mn-lt"/>
              </a:defRPr>
            </a:lvl1pPr>
            <a:lvl2pPr indent="-284400">
              <a:defRPr>
                <a:latin typeface="+mn-lt"/>
              </a:defRPr>
            </a:lvl2pPr>
            <a:lvl3pPr marL="1143000" indent="-127000">
              <a:buFont typeface="Arial" panose="020B0604020202020204" pitchFamily="34" charset="0"/>
              <a:buChar char="▪"/>
              <a:defRPr>
                <a:latin typeface="+mn-lt"/>
              </a:defRPr>
            </a:lvl3pPr>
            <a:lvl4pPr>
              <a:defRPr>
                <a:latin typeface="+mn-lt"/>
              </a:defRPr>
            </a:lvl4pPr>
            <a:lvl5pPr>
              <a:defRPr>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7" name="Content Placeholder 26"/>
          <p:cNvSpPr>
            <a:spLocks noGrp="1"/>
          </p:cNvSpPr>
          <p:nvPr>
            <p:ph sz="quarter" idx="32"/>
          </p:nvPr>
        </p:nvSpPr>
        <p:spPr>
          <a:xfrm>
            <a:off x="457200" y="9466263"/>
            <a:ext cx="8047038" cy="150812"/>
          </a:xfrm>
        </p:spPr>
        <p:txBody>
          <a:bodyPr/>
          <a:lstStyle>
            <a:lvl1pPr indent="-255600">
              <a:defRPr>
                <a:latin typeface="+mn-lt"/>
              </a:defRPr>
            </a:lvl1pPr>
            <a:lvl2pPr indent="-284400">
              <a:defRPr>
                <a:latin typeface="+mn-lt"/>
              </a:defRPr>
            </a:lvl2pPr>
            <a:lvl3pPr marL="1143000" indent="-127000">
              <a:buFont typeface="Arial" panose="020B0604020202020204" pitchFamily="34" charset="0"/>
              <a:buChar char="▪"/>
              <a:defRPr>
                <a:latin typeface="+mn-lt"/>
              </a:defRPr>
            </a:lvl3pPr>
            <a:lvl4pPr>
              <a:defRPr>
                <a:latin typeface="+mn-lt"/>
              </a:defRPr>
            </a:lvl4pPr>
            <a:lvl5pPr>
              <a:defRPr>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9" name="Text Placeholder 28"/>
          <p:cNvSpPr>
            <a:spLocks noGrp="1"/>
          </p:cNvSpPr>
          <p:nvPr>
            <p:ph type="body" sz="quarter" idx="33"/>
          </p:nvPr>
        </p:nvSpPr>
        <p:spPr>
          <a:xfrm>
            <a:off x="457200" y="9807575"/>
            <a:ext cx="8047038" cy="263525"/>
          </a:xfrm>
        </p:spPr>
        <p:txBody>
          <a:bodyPr/>
          <a:lstStyle>
            <a:lvl1pPr indent="-255600">
              <a:defRPr>
                <a:latin typeface="+mn-lt"/>
              </a:defRPr>
            </a:lvl1pPr>
            <a:lvl2pPr indent="-284400">
              <a:defRPr>
                <a:latin typeface="+mn-lt"/>
              </a:defRPr>
            </a:lvl2pPr>
            <a:lvl3pPr marL="1143000" indent="-127000">
              <a:buFont typeface="Arial" panose="020B0604020202020204" pitchFamily="34" charset="0"/>
              <a:buChar char="▪"/>
              <a:defRPr>
                <a:latin typeface="+mn-lt"/>
              </a:defRPr>
            </a:lvl3pPr>
            <a:lvl4pPr>
              <a:defRPr>
                <a:latin typeface="+mn-lt"/>
              </a:defRPr>
            </a:lvl4pPr>
            <a:lvl5pPr>
              <a:defRPr>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32" name="Text Placeholder 31"/>
          <p:cNvSpPr>
            <a:spLocks noGrp="1"/>
          </p:cNvSpPr>
          <p:nvPr>
            <p:ph type="body" sz="quarter" idx="34"/>
          </p:nvPr>
        </p:nvSpPr>
        <p:spPr>
          <a:xfrm>
            <a:off x="457200" y="10174288"/>
            <a:ext cx="8012113" cy="322262"/>
          </a:xfrm>
        </p:spPr>
        <p:txBody>
          <a:bodyPr/>
          <a:lstStyle>
            <a:lvl1pPr indent="-255600">
              <a:defRPr>
                <a:latin typeface="+mn-lt"/>
              </a:defRPr>
            </a:lvl1pPr>
            <a:lvl2pPr indent="-284400">
              <a:defRPr>
                <a:latin typeface="+mn-lt"/>
              </a:defRPr>
            </a:lvl2pPr>
            <a:lvl3pPr marL="1143000" indent="-127000">
              <a:buFont typeface="Arial" panose="020B0604020202020204" pitchFamily="34" charset="0"/>
              <a:buChar char="▪"/>
              <a:defRPr>
                <a:latin typeface="+mn-lt"/>
              </a:defRPr>
            </a:lvl3pPr>
            <a:lvl4pPr>
              <a:defRPr>
                <a:latin typeface="+mn-lt"/>
              </a:defRPr>
            </a:lvl4pPr>
            <a:lvl5pPr>
              <a:defRPr>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34" name="Text Placeholder 33"/>
          <p:cNvSpPr>
            <a:spLocks noGrp="1"/>
          </p:cNvSpPr>
          <p:nvPr>
            <p:ph type="body" sz="quarter" idx="35"/>
          </p:nvPr>
        </p:nvSpPr>
        <p:spPr>
          <a:xfrm>
            <a:off x="457200" y="10663977"/>
            <a:ext cx="8047038" cy="257175"/>
          </a:xfrm>
        </p:spPr>
        <p:txBody>
          <a:bodyPr/>
          <a:lstStyle>
            <a:lvl1pPr indent="-255600">
              <a:defRPr>
                <a:latin typeface="+mn-lt"/>
              </a:defRPr>
            </a:lvl1pPr>
            <a:lvl2pPr indent="-284400">
              <a:defRPr>
                <a:latin typeface="+mn-lt"/>
              </a:defRPr>
            </a:lvl2pPr>
            <a:lvl3pPr marL="1143000" indent="-127000">
              <a:buFont typeface="Arial" panose="020B0604020202020204" pitchFamily="34" charset="0"/>
              <a:buChar char="▪"/>
              <a:defRPr>
                <a:latin typeface="+mn-lt"/>
              </a:defRPr>
            </a:lvl3pPr>
            <a:lvl4pPr>
              <a:defRPr>
                <a:latin typeface="+mn-lt"/>
              </a:defRPr>
            </a:lvl4pPr>
            <a:lvl5pPr>
              <a:defRPr>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38" name="Text Placeholder 37"/>
          <p:cNvSpPr>
            <a:spLocks noGrp="1"/>
          </p:cNvSpPr>
          <p:nvPr>
            <p:ph type="body" sz="quarter" idx="36"/>
          </p:nvPr>
        </p:nvSpPr>
        <p:spPr>
          <a:xfrm>
            <a:off x="457200" y="11063288"/>
            <a:ext cx="8047038" cy="295275"/>
          </a:xfrm>
        </p:spPr>
        <p:txBody>
          <a:bodyPr/>
          <a:lstStyle>
            <a:lvl1pPr indent="-255600">
              <a:defRPr>
                <a:latin typeface="+mn-lt"/>
              </a:defRPr>
            </a:lvl1pPr>
            <a:lvl2pPr indent="-284400">
              <a:defRPr>
                <a:latin typeface="+mn-lt"/>
              </a:defRPr>
            </a:lvl2pPr>
            <a:lvl3pPr marL="1143000" indent="-127000">
              <a:buFont typeface="Arial" panose="020B0604020202020204" pitchFamily="34" charset="0"/>
              <a:buChar char="▪"/>
              <a:defRPr>
                <a:latin typeface="+mn-lt"/>
              </a:defRPr>
            </a:lvl3pPr>
            <a:lvl4pPr>
              <a:defRPr>
                <a:latin typeface="+mn-lt"/>
              </a:defRPr>
            </a:lvl4pPr>
            <a:lvl5pPr>
              <a:defRPr>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Tree>
    <p:extLst>
      <p:ext uri="{BB962C8B-B14F-4D97-AF65-F5344CB8AC3E}">
        <p14:creationId xmlns:p14="http://schemas.microsoft.com/office/powerpoint/2010/main" val="1484240011"/>
      </p:ext>
    </p:extLst>
  </p:cSld>
  <p:clrMapOvr>
    <a:masterClrMapping/>
  </p:clrMapOvr>
  <p:extLst>
    <p:ext uri="{DCECCB84-F9BA-43D5-87BE-67443E8EF086}">
      <p15:sldGuideLst xmlns:p15="http://schemas.microsoft.com/office/powerpoint/2012/main">
        <p15:guide id="1" orient="horz" pos="981">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_Figure + Caption">
    <p:spTree>
      <p:nvGrpSpPr>
        <p:cNvPr id="1" name="Shape 53"/>
        <p:cNvGrpSpPr/>
        <p:nvPr/>
      </p:nvGrpSpPr>
      <p:grpSpPr>
        <a:xfrm>
          <a:off x="0" y="0"/>
          <a:ext cx="0" cy="0"/>
          <a:chOff x="0" y="0"/>
          <a:chExt cx="0" cy="0"/>
        </a:xfrm>
      </p:grpSpPr>
      <p:sp>
        <p:nvSpPr>
          <p:cNvPr id="54" name="Tile Placeholder"/>
          <p:cNvSpPr txBox="1">
            <a:spLocks noGrp="1"/>
          </p:cNvSpPr>
          <p:nvPr>
            <p:ph type="title" hasCustomPrompt="1"/>
          </p:nvPr>
        </p:nvSpPr>
        <p:spPr>
          <a:xfrm>
            <a:off x="457200" y="241479"/>
            <a:ext cx="8229600" cy="106679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r>
              <a:rPr lang="en-US" dirty="0"/>
              <a:t>Click to add figure number and title</a:t>
            </a:r>
            <a:endParaRPr dirty="0"/>
          </a:p>
        </p:txBody>
      </p:sp>
      <p:sp>
        <p:nvSpPr>
          <p:cNvPr id="3" name="Picture Placeholder 2">
            <a:extLst>
              <a:ext uri="{FF2B5EF4-FFF2-40B4-BE49-F238E27FC236}">
                <a16:creationId xmlns:a16="http://schemas.microsoft.com/office/drawing/2014/main" id="{AD3CB993-AC2C-41C5-BFB7-F2499EC1A14C}"/>
              </a:ext>
            </a:extLst>
          </p:cNvPr>
          <p:cNvSpPr>
            <a:spLocks noGrp="1"/>
          </p:cNvSpPr>
          <p:nvPr>
            <p:ph type="pic" sz="quarter" idx="13"/>
          </p:nvPr>
        </p:nvSpPr>
        <p:spPr>
          <a:xfrm>
            <a:off x="457200" y="1564404"/>
            <a:ext cx="8232775" cy="3417887"/>
          </a:xfrm>
        </p:spPr>
        <p:txBody>
          <a:bodyPr/>
          <a:lstStyle/>
          <a:p>
            <a:endParaRPr lang="en-US" dirty="0"/>
          </a:p>
        </p:txBody>
      </p:sp>
      <p:sp>
        <p:nvSpPr>
          <p:cNvPr id="55" name="Content Placeholder"/>
          <p:cNvSpPr txBox="1">
            <a:spLocks noGrp="1"/>
          </p:cNvSpPr>
          <p:nvPr>
            <p:ph type="body" idx="1" hasCustomPrompt="1"/>
          </p:nvPr>
        </p:nvSpPr>
        <p:spPr>
          <a:xfrm>
            <a:off x="457200" y="5102487"/>
            <a:ext cx="8229600" cy="1018367"/>
          </a:xfrm>
          <a:prstGeom prst="rect">
            <a:avLst/>
          </a:prstGeom>
          <a:noFill/>
          <a:ln>
            <a:noFill/>
          </a:ln>
        </p:spPr>
        <p:txBody>
          <a:bodyPr lIns="91425" tIns="91425" rIns="91425" bIns="91425" anchor="b" anchorCtr="0"/>
          <a:lstStyle>
            <a:lvl1pPr marL="0" marR="0" lvl="0" indent="0" algn="l" rtl="0">
              <a:spcBef>
                <a:spcPts val="0"/>
              </a:spcBef>
              <a:buClr>
                <a:srgbClr val="007FA3"/>
              </a:buClr>
              <a:buFont typeface="Arial"/>
              <a:buNone/>
              <a:defRPr sz="1200" b="0" i="0" u="none" strike="noStrike" cap="none">
                <a:solidFill>
                  <a:schemeClr val="dk1"/>
                </a:solidFill>
                <a:latin typeface="Arial"/>
                <a:ea typeface="Arial"/>
                <a:cs typeface="Arial"/>
                <a:sym typeface="Arial"/>
              </a:defRPr>
            </a:lvl1pPr>
            <a:lvl2pPr marL="0" marR="0" lvl="1"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2pPr>
            <a:lvl3pPr marL="0" marR="0" lvl="2" indent="0" algn="l" rtl="0">
              <a:spcBef>
                <a:spcPts val="0"/>
              </a:spcBef>
              <a:buClr>
                <a:srgbClr val="007FA3"/>
              </a:buClr>
              <a:buFont typeface="Noto Sans Symbols"/>
              <a:buNone/>
              <a:defRPr sz="1600" b="0" i="0" u="none" strike="noStrike" cap="none">
                <a:solidFill>
                  <a:schemeClr val="dk1"/>
                </a:solidFill>
                <a:latin typeface="Arial"/>
                <a:ea typeface="Arial"/>
                <a:cs typeface="Arial"/>
                <a:sym typeface="Arial"/>
              </a:defRPr>
            </a:lvl3pPr>
            <a:lvl4pPr marL="0" marR="0" lvl="3"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4pPr>
            <a:lvl5pPr marL="0" marR="0" lvl="4"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5pPr>
            <a:lvl6pPr marL="0" marR="0" lvl="5"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6pPr>
            <a:lvl7pPr marL="0" marR="0" lvl="6"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7pPr>
            <a:lvl8pPr marL="0" marR="0" lvl="7"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8pPr>
            <a:lvl9pPr marL="0" marR="0" lvl="8"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9pPr>
          </a:lstStyle>
          <a:p>
            <a:r>
              <a:rPr lang="en-US" dirty="0"/>
              <a:t>Click to add caption</a:t>
            </a:r>
            <a:endParaRPr dirty="0"/>
          </a:p>
        </p:txBody>
      </p:sp>
      <p:sp>
        <p:nvSpPr>
          <p:cNvPr id="57" name="Shape 57"/>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58" name="Shape 58"/>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dk1"/>
                </a:solidFill>
                <a:latin typeface="Arial"/>
                <a:ea typeface="Arial"/>
                <a:cs typeface="Arial"/>
                <a:sym typeface="Arial"/>
              </a:rPr>
              <a:t>‹#›</a:t>
            </a:fld>
            <a:endParaRPr lang="en-US" sz="9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188509755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2_Figure + Caption">
    <p:spTree>
      <p:nvGrpSpPr>
        <p:cNvPr id="1" name=""/>
        <p:cNvGrpSpPr/>
        <p:nvPr/>
      </p:nvGrpSpPr>
      <p:grpSpPr>
        <a:xfrm>
          <a:off x="0" y="0"/>
          <a:ext cx="0" cy="0"/>
          <a:chOff x="0" y="0"/>
          <a:chExt cx="0" cy="0"/>
        </a:xfrm>
      </p:grpSpPr>
      <p:sp>
        <p:nvSpPr>
          <p:cNvPr id="2" name="Title Placeholder">
            <a:extLst>
              <a:ext uri="{FF2B5EF4-FFF2-40B4-BE49-F238E27FC236}">
                <a16:creationId xmlns:a16="http://schemas.microsoft.com/office/drawing/2014/main" id="{14F033AD-BE5C-406D-991C-6AC56003E70C}"/>
              </a:ext>
            </a:extLst>
          </p:cNvPr>
          <p:cNvSpPr>
            <a:spLocks noGrp="1"/>
          </p:cNvSpPr>
          <p:nvPr>
            <p:ph type="title" hasCustomPrompt="1"/>
          </p:nvPr>
        </p:nvSpPr>
        <p:spPr/>
        <p:txBody>
          <a:bodyPr/>
          <a:lstStyle>
            <a:lvl1pPr>
              <a:defRPr sz="3600">
                <a:latin typeface="+mj-lt"/>
              </a:defRPr>
            </a:lvl1pPr>
          </a:lstStyle>
          <a:p>
            <a:r>
              <a:rPr lang="en-US" dirty="0"/>
              <a:t>Click to add figure number and title</a:t>
            </a:r>
          </a:p>
        </p:txBody>
      </p:sp>
      <p:sp>
        <p:nvSpPr>
          <p:cNvPr id="7" name="Content Placeholder 6">
            <a:extLst>
              <a:ext uri="{FF2B5EF4-FFF2-40B4-BE49-F238E27FC236}">
                <a16:creationId xmlns:a16="http://schemas.microsoft.com/office/drawing/2014/main" id="{9E6B7D3D-89C9-4133-8D8A-D779EB3D311D}"/>
              </a:ext>
            </a:extLst>
          </p:cNvPr>
          <p:cNvSpPr>
            <a:spLocks noGrp="1"/>
          </p:cNvSpPr>
          <p:nvPr>
            <p:ph sz="quarter" idx="13" hasCustomPrompt="1"/>
          </p:nvPr>
        </p:nvSpPr>
        <p:spPr>
          <a:xfrm>
            <a:off x="457200" y="1558412"/>
            <a:ext cx="4484688" cy="3754437"/>
          </a:xfrm>
        </p:spPr>
        <p:txBody>
          <a:bodyPr/>
          <a:lstStyle>
            <a:lvl1pPr>
              <a:defRPr/>
            </a:lvl1pPr>
          </a:lstStyle>
          <a:p>
            <a:pPr lvl="0"/>
            <a:r>
              <a:rPr lang="en-US" dirty="0"/>
              <a:t>Figure</a:t>
            </a:r>
          </a:p>
        </p:txBody>
      </p:sp>
      <p:sp>
        <p:nvSpPr>
          <p:cNvPr id="12" name="Content Placeholder 11">
            <a:extLst>
              <a:ext uri="{FF2B5EF4-FFF2-40B4-BE49-F238E27FC236}">
                <a16:creationId xmlns:a16="http://schemas.microsoft.com/office/drawing/2014/main" id="{5CAF3FDC-1BE7-4A19-A3D7-02B55407B90B}"/>
              </a:ext>
            </a:extLst>
          </p:cNvPr>
          <p:cNvSpPr>
            <a:spLocks noGrp="1"/>
          </p:cNvSpPr>
          <p:nvPr>
            <p:ph sz="quarter" idx="15"/>
          </p:nvPr>
        </p:nvSpPr>
        <p:spPr>
          <a:xfrm>
            <a:off x="5048250" y="1558412"/>
            <a:ext cx="3638550" cy="3754437"/>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Content Placeholder 7">
            <a:extLst>
              <a:ext uri="{FF2B5EF4-FFF2-40B4-BE49-F238E27FC236}">
                <a16:creationId xmlns:a16="http://schemas.microsoft.com/office/drawing/2014/main" id="{BF40E849-7663-4A75-9BC8-012C23AC44DF}"/>
              </a:ext>
            </a:extLst>
          </p:cNvPr>
          <p:cNvSpPr>
            <a:spLocks noGrp="1"/>
          </p:cNvSpPr>
          <p:nvPr>
            <p:ph sz="quarter" idx="14" hasCustomPrompt="1"/>
          </p:nvPr>
        </p:nvSpPr>
        <p:spPr>
          <a:xfrm>
            <a:off x="457200" y="5420799"/>
            <a:ext cx="8229600" cy="533400"/>
          </a:xfrm>
        </p:spPr>
        <p:txBody>
          <a:bodyPr/>
          <a:lstStyle>
            <a:lvl1pPr>
              <a:defRPr/>
            </a:lvl1pPr>
          </a:lstStyle>
          <a:p>
            <a:pPr lvl="0"/>
            <a:r>
              <a:rPr lang="en-US" dirty="0"/>
              <a:t>Caption</a:t>
            </a:r>
          </a:p>
        </p:txBody>
      </p:sp>
      <p:sp>
        <p:nvSpPr>
          <p:cNvPr id="3" name="Date Placeholder 2">
            <a:extLst>
              <a:ext uri="{FF2B5EF4-FFF2-40B4-BE49-F238E27FC236}">
                <a16:creationId xmlns:a16="http://schemas.microsoft.com/office/drawing/2014/main" id="{A50D4E5D-00F7-4DC6-9BB0-713B8A0DA354}"/>
              </a:ext>
            </a:extLst>
          </p:cNvPr>
          <p:cNvSpPr>
            <a:spLocks noGrp="1"/>
          </p:cNvSpPr>
          <p:nvPr>
            <p:ph type="dt" idx="10"/>
          </p:nvPr>
        </p:nvSpPr>
        <p:spPr/>
        <p:txBody>
          <a:bodyPr/>
          <a:lstStyle/>
          <a:p>
            <a:endParaRPr lang="en-US" dirty="0"/>
          </a:p>
        </p:txBody>
      </p:sp>
      <p:sp>
        <p:nvSpPr>
          <p:cNvPr id="4" name="Slide Number Placeholder 3">
            <a:extLst>
              <a:ext uri="{FF2B5EF4-FFF2-40B4-BE49-F238E27FC236}">
                <a16:creationId xmlns:a16="http://schemas.microsoft.com/office/drawing/2014/main" id="{18AF4094-2296-458C-908A-D778D0DF5AFA}"/>
              </a:ext>
            </a:extLst>
          </p:cNvPr>
          <p:cNvSpPr>
            <a:spLocks noGrp="1"/>
          </p:cNvSpPr>
          <p:nvPr>
            <p:ph type="sldNum" idx="11"/>
          </p:nvPr>
        </p:nvSpPr>
        <p:spPr/>
        <p:txBody>
          <a:bodyPr/>
          <a:lstStyle/>
          <a:p>
            <a:pPr marL="0" marR="0" lvl="0" indent="0" algn="r" rtl="0">
              <a:spcBef>
                <a:spcPts val="0"/>
              </a:spcBef>
              <a:buSzPct val="25000"/>
              <a:buNone/>
            </a:pPr>
            <a:fld id="{00000000-1234-1234-1234-123412341234}" type="slidenum">
              <a:rPr lang="en-US" sz="900" b="0" i="0" u="none" strike="noStrike" cap="none" smtClean="0">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166042820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Label Layout 1">
    <p:spTree>
      <p:nvGrpSpPr>
        <p:cNvPr id="1" name=""/>
        <p:cNvGrpSpPr/>
        <p:nvPr/>
      </p:nvGrpSpPr>
      <p:grpSpPr>
        <a:xfrm>
          <a:off x="0" y="0"/>
          <a:ext cx="0" cy="0"/>
          <a:chOff x="0" y="0"/>
          <a:chExt cx="0" cy="0"/>
        </a:xfrm>
      </p:grpSpPr>
      <p:sp>
        <p:nvSpPr>
          <p:cNvPr id="2" name="Title Placeholder">
            <a:extLst>
              <a:ext uri="{FF2B5EF4-FFF2-40B4-BE49-F238E27FC236}">
                <a16:creationId xmlns:a16="http://schemas.microsoft.com/office/drawing/2014/main" id="{065091D3-E16C-46AB-9A90-0F52CA812534}"/>
              </a:ext>
            </a:extLst>
          </p:cNvPr>
          <p:cNvSpPr>
            <a:spLocks noGrp="1"/>
          </p:cNvSpPr>
          <p:nvPr>
            <p:ph type="title" hasCustomPrompt="1"/>
          </p:nvPr>
        </p:nvSpPr>
        <p:spPr/>
        <p:txBody>
          <a:bodyPr/>
          <a:lstStyle>
            <a:lvl1pPr>
              <a:defRPr sz="3600">
                <a:latin typeface="+mj-lt"/>
              </a:defRPr>
            </a:lvl1pPr>
          </a:lstStyle>
          <a:p>
            <a:r>
              <a:rPr lang="en-US" dirty="0"/>
              <a:t>Click to add title</a:t>
            </a:r>
          </a:p>
        </p:txBody>
      </p:sp>
      <p:sp>
        <p:nvSpPr>
          <p:cNvPr id="7" name="Image title">
            <a:extLst>
              <a:ext uri="{FF2B5EF4-FFF2-40B4-BE49-F238E27FC236}">
                <a16:creationId xmlns:a16="http://schemas.microsoft.com/office/drawing/2014/main" id="{CB345607-C53C-44AF-8929-3BDC4C617AB6}"/>
              </a:ext>
            </a:extLst>
          </p:cNvPr>
          <p:cNvSpPr>
            <a:spLocks noGrp="1"/>
          </p:cNvSpPr>
          <p:nvPr>
            <p:ph type="body" sz="quarter" idx="13" hasCustomPrompt="1"/>
          </p:nvPr>
        </p:nvSpPr>
        <p:spPr>
          <a:xfrm>
            <a:off x="2982913" y="4359275"/>
            <a:ext cx="3482975" cy="600075"/>
          </a:xfrm>
        </p:spPr>
        <p:txBody>
          <a:bodyPr/>
          <a:lstStyle>
            <a:lvl1pPr marL="101600" indent="0">
              <a:buNone/>
              <a:defRPr/>
            </a:lvl1pPr>
          </a:lstStyle>
          <a:p>
            <a:pPr lvl="0"/>
            <a:r>
              <a:rPr lang="en-US" dirty="0"/>
              <a:t>Image title</a:t>
            </a:r>
          </a:p>
        </p:txBody>
      </p:sp>
      <p:sp>
        <p:nvSpPr>
          <p:cNvPr id="9" name="Image">
            <a:extLst>
              <a:ext uri="{FF2B5EF4-FFF2-40B4-BE49-F238E27FC236}">
                <a16:creationId xmlns:a16="http://schemas.microsoft.com/office/drawing/2014/main" id="{C2661E64-2E71-47E6-A5A0-AC5348C08F51}"/>
              </a:ext>
            </a:extLst>
          </p:cNvPr>
          <p:cNvSpPr>
            <a:spLocks noGrp="1"/>
          </p:cNvSpPr>
          <p:nvPr>
            <p:ph type="pic" sz="quarter" idx="14" hasCustomPrompt="1"/>
          </p:nvPr>
        </p:nvSpPr>
        <p:spPr>
          <a:xfrm>
            <a:off x="2982912" y="1681163"/>
            <a:ext cx="3482975" cy="2559050"/>
          </a:xfrm>
        </p:spPr>
        <p:txBody>
          <a:bodyPr/>
          <a:lstStyle>
            <a:lvl1pPr marL="101600" indent="0">
              <a:buNone/>
              <a:defRPr/>
            </a:lvl1pPr>
          </a:lstStyle>
          <a:p>
            <a:r>
              <a:rPr lang="en-US" dirty="0"/>
              <a:t>Image</a:t>
            </a:r>
          </a:p>
        </p:txBody>
      </p:sp>
      <p:sp>
        <p:nvSpPr>
          <p:cNvPr id="11" name="Label 1">
            <a:extLst>
              <a:ext uri="{FF2B5EF4-FFF2-40B4-BE49-F238E27FC236}">
                <a16:creationId xmlns:a16="http://schemas.microsoft.com/office/drawing/2014/main" id="{3D0F2ED9-E212-40DC-A528-BE4A28DE88FD}"/>
              </a:ext>
            </a:extLst>
          </p:cNvPr>
          <p:cNvSpPr>
            <a:spLocks noGrp="1"/>
          </p:cNvSpPr>
          <p:nvPr>
            <p:ph type="body" sz="quarter" idx="15" hasCustomPrompt="1"/>
          </p:nvPr>
        </p:nvSpPr>
        <p:spPr>
          <a:xfrm>
            <a:off x="808109" y="1681163"/>
            <a:ext cx="1220716" cy="627062"/>
          </a:xfrm>
        </p:spPr>
        <p:txBody>
          <a:bodyPr/>
          <a:lstStyle>
            <a:lvl1pPr marL="101600" indent="0">
              <a:buNone/>
              <a:defRPr/>
            </a:lvl1pPr>
          </a:lstStyle>
          <a:p>
            <a:pPr lvl="0"/>
            <a:r>
              <a:rPr lang="en-US" dirty="0"/>
              <a:t>Label 1</a:t>
            </a:r>
          </a:p>
        </p:txBody>
      </p:sp>
      <p:sp>
        <p:nvSpPr>
          <p:cNvPr id="13" name="Label 2">
            <a:extLst>
              <a:ext uri="{FF2B5EF4-FFF2-40B4-BE49-F238E27FC236}">
                <a16:creationId xmlns:a16="http://schemas.microsoft.com/office/drawing/2014/main" id="{E8D9AEEF-5E99-48D4-B8C3-C5A995764DCA}"/>
              </a:ext>
            </a:extLst>
          </p:cNvPr>
          <p:cNvSpPr>
            <a:spLocks noGrp="1"/>
          </p:cNvSpPr>
          <p:nvPr>
            <p:ph type="body" sz="quarter" idx="16" hasCustomPrompt="1"/>
          </p:nvPr>
        </p:nvSpPr>
        <p:spPr>
          <a:xfrm>
            <a:off x="808109" y="2647157"/>
            <a:ext cx="1206500" cy="627062"/>
          </a:xfrm>
        </p:spPr>
        <p:txBody>
          <a:bodyPr/>
          <a:lstStyle>
            <a:lvl1pPr marL="101600" indent="0">
              <a:buNone/>
              <a:defRPr/>
            </a:lvl1pPr>
          </a:lstStyle>
          <a:p>
            <a:pPr lvl="0"/>
            <a:r>
              <a:rPr lang="en-US" dirty="0"/>
              <a:t>Label 2</a:t>
            </a:r>
          </a:p>
        </p:txBody>
      </p:sp>
      <p:sp>
        <p:nvSpPr>
          <p:cNvPr id="15" name="Label 3">
            <a:extLst>
              <a:ext uri="{FF2B5EF4-FFF2-40B4-BE49-F238E27FC236}">
                <a16:creationId xmlns:a16="http://schemas.microsoft.com/office/drawing/2014/main" id="{99D329CE-18C4-40A9-A508-1684979AC205}"/>
              </a:ext>
            </a:extLst>
          </p:cNvPr>
          <p:cNvSpPr>
            <a:spLocks noGrp="1"/>
          </p:cNvSpPr>
          <p:nvPr>
            <p:ph type="body" sz="quarter" idx="17" hasCustomPrompt="1"/>
          </p:nvPr>
        </p:nvSpPr>
        <p:spPr>
          <a:xfrm>
            <a:off x="808109" y="3613151"/>
            <a:ext cx="1206500" cy="627062"/>
          </a:xfrm>
        </p:spPr>
        <p:txBody>
          <a:bodyPr/>
          <a:lstStyle>
            <a:lvl1pPr marL="101600" indent="0">
              <a:buNone/>
              <a:defRPr/>
            </a:lvl1pPr>
          </a:lstStyle>
          <a:p>
            <a:pPr lvl="0"/>
            <a:r>
              <a:rPr lang="en-US" dirty="0"/>
              <a:t>Label 3</a:t>
            </a:r>
          </a:p>
        </p:txBody>
      </p:sp>
      <p:sp>
        <p:nvSpPr>
          <p:cNvPr id="17" name="Label 4">
            <a:extLst>
              <a:ext uri="{FF2B5EF4-FFF2-40B4-BE49-F238E27FC236}">
                <a16:creationId xmlns:a16="http://schemas.microsoft.com/office/drawing/2014/main" id="{AAE735D1-F9F4-4525-9ED5-F10A99DECCB8}"/>
              </a:ext>
            </a:extLst>
          </p:cNvPr>
          <p:cNvSpPr>
            <a:spLocks noGrp="1"/>
          </p:cNvSpPr>
          <p:nvPr>
            <p:ph type="body" sz="quarter" idx="18" hasCustomPrompt="1"/>
          </p:nvPr>
        </p:nvSpPr>
        <p:spPr>
          <a:xfrm>
            <a:off x="7381874" y="1681163"/>
            <a:ext cx="1304925" cy="627062"/>
          </a:xfrm>
        </p:spPr>
        <p:txBody>
          <a:bodyPr/>
          <a:lstStyle>
            <a:lvl1pPr marL="101600" indent="0">
              <a:buNone/>
              <a:defRPr/>
            </a:lvl1pPr>
          </a:lstStyle>
          <a:p>
            <a:pPr lvl="0"/>
            <a:r>
              <a:rPr lang="en-US" dirty="0"/>
              <a:t>Label 4</a:t>
            </a:r>
          </a:p>
        </p:txBody>
      </p:sp>
      <p:sp>
        <p:nvSpPr>
          <p:cNvPr id="19" name="Label 5">
            <a:extLst>
              <a:ext uri="{FF2B5EF4-FFF2-40B4-BE49-F238E27FC236}">
                <a16:creationId xmlns:a16="http://schemas.microsoft.com/office/drawing/2014/main" id="{43259E0C-9247-446E-9183-FBF70F8FD41C}"/>
              </a:ext>
            </a:extLst>
          </p:cNvPr>
          <p:cNvSpPr>
            <a:spLocks noGrp="1"/>
          </p:cNvSpPr>
          <p:nvPr>
            <p:ph type="body" sz="quarter" idx="19" hasCustomPrompt="1"/>
          </p:nvPr>
        </p:nvSpPr>
        <p:spPr>
          <a:xfrm>
            <a:off x="7381874" y="2651590"/>
            <a:ext cx="1304925" cy="618196"/>
          </a:xfrm>
        </p:spPr>
        <p:txBody>
          <a:bodyPr/>
          <a:lstStyle>
            <a:lvl1pPr marL="101600" indent="0">
              <a:buNone/>
              <a:defRPr/>
            </a:lvl1pPr>
          </a:lstStyle>
          <a:p>
            <a:pPr lvl="0"/>
            <a:r>
              <a:rPr lang="en-US" dirty="0"/>
              <a:t>Label 5</a:t>
            </a:r>
          </a:p>
        </p:txBody>
      </p:sp>
      <p:sp>
        <p:nvSpPr>
          <p:cNvPr id="21" name="Label 6">
            <a:extLst>
              <a:ext uri="{FF2B5EF4-FFF2-40B4-BE49-F238E27FC236}">
                <a16:creationId xmlns:a16="http://schemas.microsoft.com/office/drawing/2014/main" id="{111F58DF-A1C1-4DD6-ADE5-FC54A39F6757}"/>
              </a:ext>
            </a:extLst>
          </p:cNvPr>
          <p:cNvSpPr>
            <a:spLocks noGrp="1"/>
          </p:cNvSpPr>
          <p:nvPr>
            <p:ph type="body" sz="quarter" idx="20" hasCustomPrompt="1"/>
          </p:nvPr>
        </p:nvSpPr>
        <p:spPr>
          <a:xfrm>
            <a:off x="7381874" y="3613151"/>
            <a:ext cx="1304925" cy="627063"/>
          </a:xfrm>
        </p:spPr>
        <p:txBody>
          <a:bodyPr/>
          <a:lstStyle>
            <a:lvl1pPr marL="101600" indent="0">
              <a:buNone/>
              <a:defRPr/>
            </a:lvl1pPr>
          </a:lstStyle>
          <a:p>
            <a:pPr lvl="0"/>
            <a:r>
              <a:rPr lang="en-US" dirty="0"/>
              <a:t>Label 6</a:t>
            </a:r>
          </a:p>
        </p:txBody>
      </p:sp>
      <p:sp>
        <p:nvSpPr>
          <p:cNvPr id="3" name="Date Placeholder 2">
            <a:extLst>
              <a:ext uri="{FF2B5EF4-FFF2-40B4-BE49-F238E27FC236}">
                <a16:creationId xmlns:a16="http://schemas.microsoft.com/office/drawing/2014/main" id="{D0CEC9E9-2CDA-42DF-A6E1-55B455A7E67B}"/>
              </a:ext>
            </a:extLst>
          </p:cNvPr>
          <p:cNvSpPr>
            <a:spLocks noGrp="1"/>
          </p:cNvSpPr>
          <p:nvPr>
            <p:ph type="dt" idx="10"/>
          </p:nvPr>
        </p:nvSpPr>
        <p:spPr/>
        <p:txBody>
          <a:bodyPr/>
          <a:lstStyle/>
          <a:p>
            <a:endParaRPr lang="en-US" dirty="0"/>
          </a:p>
        </p:txBody>
      </p:sp>
      <p:sp>
        <p:nvSpPr>
          <p:cNvPr id="4" name="Slide Number Placeholder 3">
            <a:extLst>
              <a:ext uri="{FF2B5EF4-FFF2-40B4-BE49-F238E27FC236}">
                <a16:creationId xmlns:a16="http://schemas.microsoft.com/office/drawing/2014/main" id="{5429F10E-ACBA-4EA4-B23A-AC32FC5A681B}"/>
              </a:ext>
            </a:extLst>
          </p:cNvPr>
          <p:cNvSpPr>
            <a:spLocks noGrp="1"/>
          </p:cNvSpPr>
          <p:nvPr>
            <p:ph type="sldNum" idx="11"/>
          </p:nvPr>
        </p:nvSpPr>
        <p:spPr/>
        <p:txBody>
          <a:bodyPr/>
          <a:lstStyle/>
          <a:p>
            <a:pPr marL="0" marR="0" lvl="0" indent="0" algn="r" rtl="0">
              <a:spcBef>
                <a:spcPts val="0"/>
              </a:spcBef>
              <a:buSzPct val="25000"/>
              <a:buNone/>
            </a:pPr>
            <a:fld id="{00000000-1234-1234-1234-123412341234}" type="slidenum">
              <a:rPr lang="en-US" sz="900" b="0" i="0" u="none" strike="noStrike" cap="none" smtClean="0">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202789916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Label Layout 2">
    <p:spTree>
      <p:nvGrpSpPr>
        <p:cNvPr id="1" name=""/>
        <p:cNvGrpSpPr/>
        <p:nvPr/>
      </p:nvGrpSpPr>
      <p:grpSpPr>
        <a:xfrm>
          <a:off x="0" y="0"/>
          <a:ext cx="0" cy="0"/>
          <a:chOff x="0" y="0"/>
          <a:chExt cx="0" cy="0"/>
        </a:xfrm>
      </p:grpSpPr>
      <p:sp>
        <p:nvSpPr>
          <p:cNvPr id="2" name="Title Placeholder">
            <a:extLst>
              <a:ext uri="{FF2B5EF4-FFF2-40B4-BE49-F238E27FC236}">
                <a16:creationId xmlns:a16="http://schemas.microsoft.com/office/drawing/2014/main" id="{5AF36A59-5DE4-46F3-8035-460E546D5673}"/>
              </a:ext>
            </a:extLst>
          </p:cNvPr>
          <p:cNvSpPr>
            <a:spLocks noGrp="1"/>
          </p:cNvSpPr>
          <p:nvPr>
            <p:ph type="title"/>
          </p:nvPr>
        </p:nvSpPr>
        <p:spPr/>
        <p:txBody>
          <a:bodyPr/>
          <a:lstStyle>
            <a:lvl1pPr>
              <a:defRPr sz="3600">
                <a:latin typeface="+mj-lt"/>
              </a:defRPr>
            </a:lvl1pPr>
          </a:lstStyle>
          <a:p>
            <a:r>
              <a:rPr lang="en-US" dirty="0"/>
              <a:t>Click to edit Master title style</a:t>
            </a:r>
          </a:p>
        </p:txBody>
      </p:sp>
      <p:sp>
        <p:nvSpPr>
          <p:cNvPr id="7" name="Image 1 title">
            <a:extLst>
              <a:ext uri="{FF2B5EF4-FFF2-40B4-BE49-F238E27FC236}">
                <a16:creationId xmlns:a16="http://schemas.microsoft.com/office/drawing/2014/main" id="{2BEC12FB-EC67-436F-875F-0A306862EF78}"/>
              </a:ext>
            </a:extLst>
          </p:cNvPr>
          <p:cNvSpPr>
            <a:spLocks noGrp="1"/>
          </p:cNvSpPr>
          <p:nvPr>
            <p:ph type="body" sz="quarter" idx="13" hasCustomPrompt="1"/>
          </p:nvPr>
        </p:nvSpPr>
        <p:spPr>
          <a:xfrm>
            <a:off x="457201" y="4392613"/>
            <a:ext cx="2107323" cy="504825"/>
          </a:xfrm>
        </p:spPr>
        <p:txBody>
          <a:bodyPr/>
          <a:lstStyle>
            <a:lvl1pPr marL="101600" indent="0">
              <a:buNone/>
              <a:defRPr/>
            </a:lvl1pPr>
          </a:lstStyle>
          <a:p>
            <a:pPr lvl="0"/>
            <a:r>
              <a:rPr lang="en-US" dirty="0"/>
              <a:t>Image 1 title</a:t>
            </a:r>
          </a:p>
        </p:txBody>
      </p:sp>
      <p:sp>
        <p:nvSpPr>
          <p:cNvPr id="9" name="Image 1">
            <a:extLst>
              <a:ext uri="{FF2B5EF4-FFF2-40B4-BE49-F238E27FC236}">
                <a16:creationId xmlns:a16="http://schemas.microsoft.com/office/drawing/2014/main" id="{1E9C9C32-F8ED-4AA8-AA00-26A2357E73E9}"/>
              </a:ext>
            </a:extLst>
          </p:cNvPr>
          <p:cNvSpPr>
            <a:spLocks noGrp="1"/>
          </p:cNvSpPr>
          <p:nvPr>
            <p:ph type="pic" sz="quarter" idx="14" hasCustomPrompt="1"/>
          </p:nvPr>
        </p:nvSpPr>
        <p:spPr>
          <a:xfrm>
            <a:off x="457200" y="1817688"/>
            <a:ext cx="2107324" cy="2386012"/>
          </a:xfrm>
        </p:spPr>
        <p:txBody>
          <a:bodyPr/>
          <a:lstStyle>
            <a:lvl1pPr marL="101600" indent="0">
              <a:buNone/>
              <a:defRPr/>
            </a:lvl1pPr>
          </a:lstStyle>
          <a:p>
            <a:r>
              <a:rPr lang="en-US" dirty="0"/>
              <a:t>Image 1</a:t>
            </a:r>
          </a:p>
        </p:txBody>
      </p:sp>
      <p:sp>
        <p:nvSpPr>
          <p:cNvPr id="11" name="Label 1.1">
            <a:extLst>
              <a:ext uri="{FF2B5EF4-FFF2-40B4-BE49-F238E27FC236}">
                <a16:creationId xmlns:a16="http://schemas.microsoft.com/office/drawing/2014/main" id="{BD50A136-2F5A-4764-ADDC-D48D703981CC}"/>
              </a:ext>
            </a:extLst>
          </p:cNvPr>
          <p:cNvSpPr>
            <a:spLocks noGrp="1"/>
          </p:cNvSpPr>
          <p:nvPr>
            <p:ph type="body" sz="quarter" idx="15" hasCustomPrompt="1"/>
          </p:nvPr>
        </p:nvSpPr>
        <p:spPr>
          <a:xfrm>
            <a:off x="2774622" y="1794947"/>
            <a:ext cx="1534619" cy="591855"/>
          </a:xfrm>
        </p:spPr>
        <p:txBody>
          <a:bodyPr/>
          <a:lstStyle>
            <a:lvl1pPr marL="101600" indent="0">
              <a:buNone/>
              <a:defRPr/>
            </a:lvl1pPr>
          </a:lstStyle>
          <a:p>
            <a:pPr lvl="0"/>
            <a:r>
              <a:rPr lang="en-US" dirty="0"/>
              <a:t>Label 1.1</a:t>
            </a:r>
          </a:p>
        </p:txBody>
      </p:sp>
      <p:sp>
        <p:nvSpPr>
          <p:cNvPr id="13" name="Label 1.2">
            <a:extLst>
              <a:ext uri="{FF2B5EF4-FFF2-40B4-BE49-F238E27FC236}">
                <a16:creationId xmlns:a16="http://schemas.microsoft.com/office/drawing/2014/main" id="{16926224-3F90-4884-9AC1-A5381D78801B}"/>
              </a:ext>
            </a:extLst>
          </p:cNvPr>
          <p:cNvSpPr>
            <a:spLocks noGrp="1"/>
          </p:cNvSpPr>
          <p:nvPr>
            <p:ph type="body" sz="quarter" idx="16" hasCustomPrompt="1"/>
          </p:nvPr>
        </p:nvSpPr>
        <p:spPr>
          <a:xfrm>
            <a:off x="2774622" y="2707481"/>
            <a:ext cx="1534619" cy="606425"/>
          </a:xfrm>
        </p:spPr>
        <p:txBody>
          <a:bodyPr/>
          <a:lstStyle>
            <a:lvl1pPr marL="101600" indent="0">
              <a:buNone/>
              <a:defRPr/>
            </a:lvl1pPr>
          </a:lstStyle>
          <a:p>
            <a:pPr lvl="0"/>
            <a:r>
              <a:rPr lang="en-US" dirty="0"/>
              <a:t>Label 1.2</a:t>
            </a:r>
          </a:p>
        </p:txBody>
      </p:sp>
      <p:sp>
        <p:nvSpPr>
          <p:cNvPr id="15" name="Label 1.3">
            <a:extLst>
              <a:ext uri="{FF2B5EF4-FFF2-40B4-BE49-F238E27FC236}">
                <a16:creationId xmlns:a16="http://schemas.microsoft.com/office/drawing/2014/main" id="{D4719473-9C3F-493C-B20E-27CDBBA38B68}"/>
              </a:ext>
            </a:extLst>
          </p:cNvPr>
          <p:cNvSpPr>
            <a:spLocks noGrp="1"/>
          </p:cNvSpPr>
          <p:nvPr>
            <p:ph type="body" sz="quarter" idx="17" hasCustomPrompt="1"/>
          </p:nvPr>
        </p:nvSpPr>
        <p:spPr>
          <a:xfrm>
            <a:off x="2774622" y="3597275"/>
            <a:ext cx="1534619" cy="606425"/>
          </a:xfrm>
        </p:spPr>
        <p:txBody>
          <a:bodyPr/>
          <a:lstStyle>
            <a:lvl1pPr marL="101600" indent="0">
              <a:buNone/>
              <a:defRPr/>
            </a:lvl1pPr>
          </a:lstStyle>
          <a:p>
            <a:pPr lvl="0"/>
            <a:r>
              <a:rPr lang="en-US" dirty="0"/>
              <a:t>Label 1.3</a:t>
            </a:r>
          </a:p>
        </p:txBody>
      </p:sp>
      <p:sp>
        <p:nvSpPr>
          <p:cNvPr id="17" name="Image 2 title">
            <a:extLst>
              <a:ext uri="{FF2B5EF4-FFF2-40B4-BE49-F238E27FC236}">
                <a16:creationId xmlns:a16="http://schemas.microsoft.com/office/drawing/2014/main" id="{DC526974-AF8C-4228-AAAA-33D0B8AB71C7}"/>
              </a:ext>
            </a:extLst>
          </p:cNvPr>
          <p:cNvSpPr>
            <a:spLocks noGrp="1"/>
          </p:cNvSpPr>
          <p:nvPr>
            <p:ph type="body" sz="quarter" idx="18" hasCustomPrompt="1"/>
          </p:nvPr>
        </p:nvSpPr>
        <p:spPr>
          <a:xfrm>
            <a:off x="4931596" y="4347439"/>
            <a:ext cx="2107323" cy="504825"/>
          </a:xfrm>
        </p:spPr>
        <p:txBody>
          <a:bodyPr/>
          <a:lstStyle>
            <a:lvl1pPr marL="101600" indent="0">
              <a:buNone/>
              <a:defRPr/>
            </a:lvl1pPr>
          </a:lstStyle>
          <a:p>
            <a:pPr lvl="0"/>
            <a:r>
              <a:rPr lang="en-US" dirty="0"/>
              <a:t>Image 2 title</a:t>
            </a:r>
          </a:p>
        </p:txBody>
      </p:sp>
      <p:sp>
        <p:nvSpPr>
          <p:cNvPr id="19" name="Image 2">
            <a:extLst>
              <a:ext uri="{FF2B5EF4-FFF2-40B4-BE49-F238E27FC236}">
                <a16:creationId xmlns:a16="http://schemas.microsoft.com/office/drawing/2014/main" id="{812D2BB4-4991-47F8-9E82-9C9B41B052FB}"/>
              </a:ext>
            </a:extLst>
          </p:cNvPr>
          <p:cNvSpPr>
            <a:spLocks noGrp="1"/>
          </p:cNvSpPr>
          <p:nvPr>
            <p:ph type="pic" sz="quarter" idx="19" hasCustomPrompt="1"/>
          </p:nvPr>
        </p:nvSpPr>
        <p:spPr>
          <a:xfrm>
            <a:off x="4931596" y="1806537"/>
            <a:ext cx="2107323" cy="2397164"/>
          </a:xfrm>
        </p:spPr>
        <p:txBody>
          <a:bodyPr/>
          <a:lstStyle>
            <a:lvl1pPr marL="101600" indent="0">
              <a:buNone/>
              <a:defRPr/>
            </a:lvl1pPr>
          </a:lstStyle>
          <a:p>
            <a:r>
              <a:rPr lang="en-US" dirty="0"/>
              <a:t>Image 2</a:t>
            </a:r>
          </a:p>
        </p:txBody>
      </p:sp>
      <p:sp>
        <p:nvSpPr>
          <p:cNvPr id="21" name="Label 2.1">
            <a:extLst>
              <a:ext uri="{FF2B5EF4-FFF2-40B4-BE49-F238E27FC236}">
                <a16:creationId xmlns:a16="http://schemas.microsoft.com/office/drawing/2014/main" id="{15D9E78D-62D4-4D7C-8E37-E1A000DA23A2}"/>
              </a:ext>
            </a:extLst>
          </p:cNvPr>
          <p:cNvSpPr>
            <a:spLocks noGrp="1"/>
          </p:cNvSpPr>
          <p:nvPr>
            <p:ph type="body" sz="quarter" idx="20" hasCustomPrompt="1"/>
          </p:nvPr>
        </p:nvSpPr>
        <p:spPr>
          <a:xfrm>
            <a:off x="7304580" y="1794947"/>
            <a:ext cx="1534619" cy="608524"/>
          </a:xfrm>
        </p:spPr>
        <p:txBody>
          <a:bodyPr/>
          <a:lstStyle>
            <a:lvl1pPr marL="101600" indent="0">
              <a:buNone/>
              <a:defRPr/>
            </a:lvl1pPr>
          </a:lstStyle>
          <a:p>
            <a:pPr lvl="0"/>
            <a:r>
              <a:rPr lang="en-US" dirty="0"/>
              <a:t>Label 2.1</a:t>
            </a:r>
          </a:p>
        </p:txBody>
      </p:sp>
      <p:sp>
        <p:nvSpPr>
          <p:cNvPr id="23" name="Label 2.2">
            <a:extLst>
              <a:ext uri="{FF2B5EF4-FFF2-40B4-BE49-F238E27FC236}">
                <a16:creationId xmlns:a16="http://schemas.microsoft.com/office/drawing/2014/main" id="{0ECEA5DA-0702-46DA-A4DD-66B7E7FF424B}"/>
              </a:ext>
            </a:extLst>
          </p:cNvPr>
          <p:cNvSpPr>
            <a:spLocks noGrp="1"/>
          </p:cNvSpPr>
          <p:nvPr>
            <p:ph type="body" sz="quarter" idx="21" hasCustomPrompt="1"/>
          </p:nvPr>
        </p:nvSpPr>
        <p:spPr>
          <a:xfrm>
            <a:off x="7304579" y="2707481"/>
            <a:ext cx="1534619" cy="608524"/>
          </a:xfrm>
        </p:spPr>
        <p:txBody>
          <a:bodyPr/>
          <a:lstStyle>
            <a:lvl1pPr marL="101600" indent="0">
              <a:buNone/>
              <a:defRPr/>
            </a:lvl1pPr>
          </a:lstStyle>
          <a:p>
            <a:pPr lvl="0"/>
            <a:r>
              <a:rPr lang="en-US" dirty="0"/>
              <a:t>Label 2.2</a:t>
            </a:r>
          </a:p>
        </p:txBody>
      </p:sp>
      <p:sp>
        <p:nvSpPr>
          <p:cNvPr id="25" name="Label 2.3">
            <a:extLst>
              <a:ext uri="{FF2B5EF4-FFF2-40B4-BE49-F238E27FC236}">
                <a16:creationId xmlns:a16="http://schemas.microsoft.com/office/drawing/2014/main" id="{64C63D68-E200-46DF-8E34-92DC66FE879B}"/>
              </a:ext>
            </a:extLst>
          </p:cNvPr>
          <p:cNvSpPr>
            <a:spLocks noGrp="1"/>
          </p:cNvSpPr>
          <p:nvPr>
            <p:ph type="body" sz="quarter" idx="22" hasCustomPrompt="1"/>
          </p:nvPr>
        </p:nvSpPr>
        <p:spPr>
          <a:xfrm>
            <a:off x="7304579" y="3579818"/>
            <a:ext cx="1534620" cy="608524"/>
          </a:xfrm>
        </p:spPr>
        <p:txBody>
          <a:bodyPr/>
          <a:lstStyle>
            <a:lvl1pPr marL="101600" indent="0">
              <a:buNone/>
              <a:defRPr/>
            </a:lvl1pPr>
          </a:lstStyle>
          <a:p>
            <a:pPr lvl="0"/>
            <a:r>
              <a:rPr lang="en-US" dirty="0"/>
              <a:t>Label 2.3</a:t>
            </a:r>
          </a:p>
        </p:txBody>
      </p:sp>
      <p:sp>
        <p:nvSpPr>
          <p:cNvPr id="3" name="Date Placeholder 2">
            <a:extLst>
              <a:ext uri="{FF2B5EF4-FFF2-40B4-BE49-F238E27FC236}">
                <a16:creationId xmlns:a16="http://schemas.microsoft.com/office/drawing/2014/main" id="{D8A4DA0A-BA94-4C4E-A521-FB23D113A856}"/>
              </a:ext>
            </a:extLst>
          </p:cNvPr>
          <p:cNvSpPr>
            <a:spLocks noGrp="1"/>
          </p:cNvSpPr>
          <p:nvPr>
            <p:ph type="dt" idx="10"/>
          </p:nvPr>
        </p:nvSpPr>
        <p:spPr/>
        <p:txBody>
          <a:bodyPr/>
          <a:lstStyle/>
          <a:p>
            <a:endParaRPr lang="en-US" dirty="0"/>
          </a:p>
        </p:txBody>
      </p:sp>
      <p:sp>
        <p:nvSpPr>
          <p:cNvPr id="4" name="Slide Number Placeholder 3">
            <a:extLst>
              <a:ext uri="{FF2B5EF4-FFF2-40B4-BE49-F238E27FC236}">
                <a16:creationId xmlns:a16="http://schemas.microsoft.com/office/drawing/2014/main" id="{44569933-5FC5-4C73-96ED-E1AC0FC867FE}"/>
              </a:ext>
            </a:extLst>
          </p:cNvPr>
          <p:cNvSpPr>
            <a:spLocks noGrp="1"/>
          </p:cNvSpPr>
          <p:nvPr>
            <p:ph type="sldNum" idx="11"/>
          </p:nvPr>
        </p:nvSpPr>
        <p:spPr/>
        <p:txBody>
          <a:bodyPr/>
          <a:lstStyle/>
          <a:p>
            <a:pPr marL="0" marR="0" lvl="0" indent="0" algn="r" rtl="0">
              <a:spcBef>
                <a:spcPts val="0"/>
              </a:spcBef>
              <a:buSzPct val="25000"/>
              <a:buNone/>
            </a:pPr>
            <a:fld id="{00000000-1234-1234-1234-123412341234}" type="slidenum">
              <a:rPr lang="en-US" sz="900" b="0" i="0" u="none" strike="noStrike" cap="none" smtClean="0">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64872148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secHead">
  <p:cSld name="Section Header">
    <p:spTree>
      <p:nvGrpSpPr>
        <p:cNvPr id="1" name="Shape 68"/>
        <p:cNvGrpSpPr/>
        <p:nvPr/>
      </p:nvGrpSpPr>
      <p:grpSpPr>
        <a:xfrm>
          <a:off x="0" y="0"/>
          <a:ext cx="0" cy="0"/>
          <a:chOff x="0" y="0"/>
          <a:chExt cx="0" cy="0"/>
        </a:xfrm>
      </p:grpSpPr>
      <p:sp>
        <p:nvSpPr>
          <p:cNvPr id="69" name="Title Placeholder"/>
          <p:cNvSpPr txBox="1">
            <a:spLocks noGrp="1"/>
          </p:cNvSpPr>
          <p:nvPr>
            <p:ph type="title" hasCustomPrompt="1"/>
          </p:nvPr>
        </p:nvSpPr>
        <p:spPr>
          <a:xfrm>
            <a:off x="685800" y="1447800"/>
            <a:ext cx="7772400" cy="2152651"/>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r>
              <a:rPr lang="en-US" sz="3600" dirty="0">
                <a:latin typeface="+mj-lt"/>
              </a:rPr>
              <a:t>Click to add title	</a:t>
            </a:r>
            <a:endParaRPr dirty="0"/>
          </a:p>
        </p:txBody>
      </p:sp>
      <p:sp>
        <p:nvSpPr>
          <p:cNvPr id="70" name="Content Placeholder"/>
          <p:cNvSpPr txBox="1">
            <a:spLocks noGrp="1"/>
          </p:cNvSpPr>
          <p:nvPr>
            <p:ph type="body" idx="1"/>
          </p:nvPr>
        </p:nvSpPr>
        <p:spPr>
          <a:xfrm>
            <a:off x="674687" y="3962400"/>
            <a:ext cx="7794626" cy="1752600"/>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1600" b="0" i="0" u="none" strike="noStrike" cap="none">
                <a:solidFill>
                  <a:srgbClr val="007FA3"/>
                </a:solidFill>
                <a:latin typeface="Arial"/>
                <a:ea typeface="Arial"/>
                <a:cs typeface="Arial"/>
                <a:sym typeface="Arial"/>
              </a:defRPr>
            </a:lvl1pPr>
            <a:lvl2pPr marL="457200" marR="0" lvl="1" indent="0" algn="l" rtl="0">
              <a:spcBef>
                <a:spcPts val="600"/>
              </a:spcBef>
              <a:buClr>
                <a:srgbClr val="007FA3"/>
              </a:buClr>
              <a:buFont typeface="Arial"/>
              <a:buNone/>
              <a:defRPr sz="1800" b="0" i="0" u="none" strike="noStrike" cap="none">
                <a:solidFill>
                  <a:srgbClr val="888888"/>
                </a:solidFill>
                <a:latin typeface="Arial"/>
                <a:ea typeface="Arial"/>
                <a:cs typeface="Arial"/>
                <a:sym typeface="Arial"/>
              </a:defRPr>
            </a:lvl2pPr>
            <a:lvl3pPr marL="914400" marR="0" lvl="2" indent="0" algn="l" rtl="0">
              <a:spcBef>
                <a:spcPts val="600"/>
              </a:spcBef>
              <a:buClr>
                <a:srgbClr val="007FA3"/>
              </a:buClr>
              <a:buFont typeface="Noto Sans Symbols"/>
              <a:buNone/>
              <a:defRPr sz="1600" b="0" i="0" u="none" strike="noStrike" cap="none">
                <a:solidFill>
                  <a:srgbClr val="888888"/>
                </a:solidFill>
                <a:latin typeface="Arial"/>
                <a:ea typeface="Arial"/>
                <a:cs typeface="Arial"/>
                <a:sym typeface="Arial"/>
              </a:defRPr>
            </a:lvl3pPr>
            <a:lvl4pPr marL="1371600" marR="0" lvl="3" indent="0" algn="l" rtl="0">
              <a:spcBef>
                <a:spcPts val="600"/>
              </a:spcBef>
              <a:buClr>
                <a:srgbClr val="007FA3"/>
              </a:buClr>
              <a:buFont typeface="Arial"/>
              <a:buNone/>
              <a:defRPr sz="1400" b="0" i="0" u="none" strike="noStrike" cap="none">
                <a:solidFill>
                  <a:srgbClr val="888888"/>
                </a:solidFill>
                <a:latin typeface="Arial"/>
                <a:ea typeface="Arial"/>
                <a:cs typeface="Arial"/>
                <a:sym typeface="Arial"/>
              </a:defRPr>
            </a:lvl4pPr>
            <a:lvl5pPr marL="1828800" marR="0" lvl="4" indent="0" algn="l" rtl="0">
              <a:spcBef>
                <a:spcPts val="600"/>
              </a:spcBef>
              <a:buClr>
                <a:srgbClr val="007FA3"/>
              </a:buClr>
              <a:buFont typeface="Arial"/>
              <a:buNone/>
              <a:defRPr sz="1400" b="0" i="0" u="none" strike="noStrike" cap="none">
                <a:solidFill>
                  <a:srgbClr val="888888"/>
                </a:solidFill>
                <a:latin typeface="Arial"/>
                <a:ea typeface="Arial"/>
                <a:cs typeface="Arial"/>
                <a:sym typeface="Arial"/>
              </a:defRPr>
            </a:lvl5pPr>
            <a:lvl6pPr marL="2286000" marR="0" lvl="5"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6pPr>
            <a:lvl7pPr marL="2743200" marR="0" lvl="6"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7pPr>
            <a:lvl8pPr marL="3200400" marR="0" lvl="7"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8pPr>
            <a:lvl9pPr marL="3657600" marR="0" lvl="8"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9pPr>
          </a:lstStyle>
          <a:p>
            <a:endParaRPr dirty="0"/>
          </a:p>
        </p:txBody>
      </p:sp>
      <p:sp>
        <p:nvSpPr>
          <p:cNvPr id="72" name="Shape 72"/>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73" name="Shape 73"/>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9.xml"/><Relationship Id="rId13" Type="http://schemas.openxmlformats.org/officeDocument/2006/relationships/slideLayout" Target="../slideLayouts/slideLayout14.xml"/><Relationship Id="rId3" Type="http://schemas.openxmlformats.org/officeDocument/2006/relationships/slideLayout" Target="../slideLayouts/slideLayout4.xml"/><Relationship Id="rId7" Type="http://schemas.openxmlformats.org/officeDocument/2006/relationships/slideLayout" Target="../slideLayouts/slideLayout8.xml"/><Relationship Id="rId12" Type="http://schemas.openxmlformats.org/officeDocument/2006/relationships/slideLayout" Target="../slideLayouts/slideLayout13.xml"/><Relationship Id="rId17" Type="http://schemas.openxmlformats.org/officeDocument/2006/relationships/image" Target="../media/image1.jpg"/><Relationship Id="rId2" Type="http://schemas.openxmlformats.org/officeDocument/2006/relationships/slideLayout" Target="../slideLayouts/slideLayout3.xml"/><Relationship Id="rId16" Type="http://schemas.openxmlformats.org/officeDocument/2006/relationships/theme" Target="../theme/theme2.xml"/><Relationship Id="rId1" Type="http://schemas.openxmlformats.org/officeDocument/2006/relationships/slideLayout" Target="../slideLayouts/slideLayout2.xml"/><Relationship Id="rId6" Type="http://schemas.openxmlformats.org/officeDocument/2006/relationships/slideLayout" Target="../slideLayouts/slideLayout7.xml"/><Relationship Id="rId11" Type="http://schemas.openxmlformats.org/officeDocument/2006/relationships/slideLayout" Target="../slideLayouts/slideLayout12.xml"/><Relationship Id="rId5" Type="http://schemas.openxmlformats.org/officeDocument/2006/relationships/slideLayout" Target="../slideLayouts/slideLayout6.xml"/><Relationship Id="rId15" Type="http://schemas.openxmlformats.org/officeDocument/2006/relationships/slideLayout" Target="../slideLayouts/slideLayout16.xml"/><Relationship Id="rId10" Type="http://schemas.openxmlformats.org/officeDocument/2006/relationships/slideLayout" Target="../slideLayouts/slideLayout11.xml"/><Relationship Id="rId4" Type="http://schemas.openxmlformats.org/officeDocument/2006/relationships/slideLayout" Target="../slideLayouts/slideLayout5.xml"/><Relationship Id="rId9" Type="http://schemas.openxmlformats.org/officeDocument/2006/relationships/slideLayout" Target="../slideLayouts/slideLayout10.xml"/><Relationship Id="rId14" Type="http://schemas.openxmlformats.org/officeDocument/2006/relationships/slideLayout" Target="../slideLayouts/slideLayout15.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lt1"/>
        </a:solidFill>
        <a:effectLst/>
      </p:bgPr>
    </p:bg>
    <p:spTree>
      <p:nvGrpSpPr>
        <p:cNvPr id="1" name="Shape 9"/>
        <p:cNvGrpSpPr/>
        <p:nvPr/>
      </p:nvGrpSpPr>
      <p:grpSpPr>
        <a:xfrm>
          <a:off x="0" y="0"/>
          <a:ext cx="0" cy="0"/>
          <a:chOff x="0" y="0"/>
          <a:chExt cx="0" cy="0"/>
        </a:xfrm>
      </p:grpSpPr>
      <p:sp>
        <p:nvSpPr>
          <p:cNvPr id="10" name="Shape 10"/>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r>
              <a:rPr lang="en-US" sz="3600" dirty="0">
                <a:latin typeface="+mj-lt"/>
              </a:rPr>
              <a:t>Click to add title</a:t>
            </a:r>
            <a:endParaRPr dirty="0"/>
          </a:p>
        </p:txBody>
      </p:sp>
      <p:sp>
        <p:nvSpPr>
          <p:cNvPr id="11" name="Shape 11"/>
          <p:cNvSpPr txBox="1">
            <a:spLocks noGrp="1"/>
          </p:cNvSpPr>
          <p:nvPr>
            <p:ph type="body" idx="1"/>
          </p:nvPr>
        </p:nvSpPr>
        <p:spPr>
          <a:xfrm>
            <a:off x="457200" y="1600200"/>
            <a:ext cx="8229600" cy="4428411"/>
          </a:xfrm>
          <a:prstGeom prst="rect">
            <a:avLst/>
          </a:prstGeom>
          <a:noFill/>
          <a:ln>
            <a:noFill/>
          </a:ln>
        </p:spPr>
        <p:txBody>
          <a:bodyPr lIns="91425" tIns="91425" rIns="91425" bIns="91425" anchor="t" anchorCtr="0"/>
          <a:lstStyle>
            <a:lvl1pPr marL="256032" marR="0" lvl="0" indent="-154432" algn="l" rtl="0">
              <a:spcBef>
                <a:spcPts val="1500"/>
              </a:spcBef>
              <a:buClr>
                <a:srgbClr val="007FA3"/>
              </a:buClr>
              <a:buSzPct val="100000"/>
              <a:buFont typeface="Arial"/>
              <a:buChar char="•"/>
              <a:defRPr sz="1600" b="0" i="0" u="none" strike="noStrike" cap="none">
                <a:solidFill>
                  <a:schemeClr val="dk1"/>
                </a:solidFill>
                <a:latin typeface="Arial"/>
                <a:ea typeface="Arial"/>
                <a:cs typeface="Arial"/>
                <a:sym typeface="Arial"/>
              </a:defRPr>
            </a:lvl1pPr>
            <a:lvl2pPr marL="742950" marR="0" lvl="1" indent="-18415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2pPr>
            <a:lvl3pPr marL="1143000" marR="0" lvl="2" indent="-127000" algn="l" rtl="0">
              <a:spcBef>
                <a:spcPts val="600"/>
              </a:spcBef>
              <a:buClr>
                <a:srgbClr val="007FA3"/>
              </a:buClr>
              <a:buSzPct val="100000"/>
              <a:buFont typeface="Noto Sans Symbols"/>
              <a:buChar char="▪"/>
              <a:defRPr sz="1600" b="0" i="0" u="none" strike="noStrike" cap="none">
                <a:solidFill>
                  <a:schemeClr val="dk1"/>
                </a:solidFill>
                <a:latin typeface="Arial"/>
                <a:ea typeface="Arial"/>
                <a:cs typeface="Arial"/>
                <a:sym typeface="Arial"/>
              </a:defRPr>
            </a:lvl3pPr>
            <a:lvl4pPr marL="1600200" marR="0" lvl="3"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4pPr>
            <a:lvl5pPr marL="2057400" marR="0" lvl="4"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5pPr>
            <a:lvl6pPr marL="2514600" marR="0" lvl="5"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6pPr>
            <a:lvl7pPr marL="2971800" marR="0" lvl="6"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7pPr>
            <a:lvl8pPr marL="3429000" marR="0" lvl="7"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8pPr>
            <a:lvl9pPr marL="3886200" marR="0" lvl="8"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9pPr>
          </a:lstStyle>
          <a:p>
            <a:endParaRPr dirty="0"/>
          </a:p>
        </p:txBody>
      </p:sp>
      <p:sp>
        <p:nvSpPr>
          <p:cNvPr id="13" name="Shape 13"/>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tx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pPr>
              <a:defRPr/>
            </a:pPr>
            <a:endParaRPr lang="en-US" dirty="0">
              <a:solidFill>
                <a:schemeClr val="tx1"/>
              </a:solidFill>
            </a:endParaRPr>
          </a:p>
        </p:txBody>
      </p:sp>
      <p:sp>
        <p:nvSpPr>
          <p:cNvPr id="14" name="Shape 14"/>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lvl1pPr>
              <a:defRPr>
                <a:solidFill>
                  <a:schemeClr val="tx1"/>
                </a:solidFill>
              </a:defRPr>
            </a:lvl1pPr>
          </a:lstStyle>
          <a:p>
            <a:pPr algn="r">
              <a:buSzPct val="25000"/>
              <a:defRPr/>
            </a:pPr>
            <a:fld id="{00000000-1234-1234-1234-123412341234}" type="slidenum">
              <a:rPr lang="en-US" sz="900" smtClean="0"/>
              <a:pPr algn="r">
                <a:buSzPct val="25000"/>
                <a:defRPr/>
              </a:pPr>
              <a:t>‹#›</a:t>
            </a:fld>
            <a:endParaRPr lang="en-US" sz="900" dirty="0"/>
          </a:p>
        </p:txBody>
      </p:sp>
    </p:spTree>
    <p:extLst>
      <p:ext uri="{BB962C8B-B14F-4D97-AF65-F5344CB8AC3E}">
        <p14:creationId xmlns:p14="http://schemas.microsoft.com/office/powerpoint/2010/main" val="3246644562"/>
      </p:ext>
    </p:extLst>
  </p:cSld>
  <p:clrMap bg1="lt1" tx1="dk1" bg2="dk2" tx2="lt2" accent1="accent1" accent2="accent2" accent3="accent3" accent4="accent4" accent5="accent5" accent6="accent6" hlink="hlink" folHlink="folHlink"/>
  <p:sldLayoutIdLst>
    <p:sldLayoutId id="2147483675"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None/>
        <a:defRPr sz="3600" b="0" i="0" u="none" strike="noStrike" cap="none">
          <a:solidFill>
            <a:srgbClr val="000000"/>
          </a:solidFill>
          <a:latin typeface="+mj-lt"/>
          <a:ea typeface="Arial"/>
          <a:cs typeface="Arial"/>
          <a:sym typeface="Arial"/>
        </a:defRPr>
      </a:lvl1pPr>
    </p:titleStyle>
    <p:bodyStyle>
      <a:defPPr marR="0" lvl="0" algn="l" rtl="0">
        <a:lnSpc>
          <a:spcPct val="100000"/>
        </a:lnSpc>
        <a:spcBef>
          <a:spcPts val="0"/>
        </a:spcBef>
        <a:spcAft>
          <a:spcPts val="0"/>
        </a:spcAft>
      </a:defPPr>
      <a:lvl1pPr marR="0" lvl="0" algn="l" rtl="0">
        <a:lnSpc>
          <a:spcPct val="100000"/>
        </a:lnSpc>
        <a:spcBef>
          <a:spcPts val="0"/>
        </a:spcBef>
        <a:spcAft>
          <a:spcPts val="0"/>
        </a:spcAft>
        <a:buNone/>
        <a:defRPr sz="16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r>
              <a:rPr lang="en-US" sz="3600" dirty="0">
                <a:latin typeface="+mj-lt"/>
              </a:rPr>
              <a:t>Click to add title</a:t>
            </a:r>
            <a:endParaRPr dirty="0"/>
          </a:p>
        </p:txBody>
      </p:sp>
      <p:sp>
        <p:nvSpPr>
          <p:cNvPr id="11" name="Content Placeholder"/>
          <p:cNvSpPr txBox="1">
            <a:spLocks noGrp="1"/>
          </p:cNvSpPr>
          <p:nvPr>
            <p:ph type="body" idx="1"/>
          </p:nvPr>
        </p:nvSpPr>
        <p:spPr>
          <a:xfrm>
            <a:off x="457200" y="1600200"/>
            <a:ext cx="8229600" cy="4428411"/>
          </a:xfrm>
          <a:prstGeom prst="rect">
            <a:avLst/>
          </a:prstGeom>
          <a:noFill/>
          <a:ln>
            <a:noFill/>
          </a:ln>
        </p:spPr>
        <p:txBody>
          <a:bodyPr lIns="91425" tIns="91425" rIns="91425" bIns="91425" anchor="t" anchorCtr="0"/>
          <a:lstStyle>
            <a:lvl1pPr marL="256032" marR="0" lvl="0" indent="-154432" algn="l" rtl="0">
              <a:spcBef>
                <a:spcPts val="1500"/>
              </a:spcBef>
              <a:buClr>
                <a:srgbClr val="007FA3"/>
              </a:buClr>
              <a:buSzPct val="100000"/>
              <a:buFont typeface="Arial"/>
              <a:buChar char="•"/>
              <a:defRPr sz="1600" b="0" i="0" u="none" strike="noStrike" cap="none">
                <a:solidFill>
                  <a:schemeClr val="dk1"/>
                </a:solidFill>
                <a:latin typeface="Arial"/>
                <a:ea typeface="Arial"/>
                <a:cs typeface="Arial"/>
                <a:sym typeface="Arial"/>
              </a:defRPr>
            </a:lvl1pPr>
            <a:lvl2pPr marL="742950" marR="0" lvl="1" indent="-18415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2pPr>
            <a:lvl3pPr marL="1143000" marR="0" lvl="2" indent="-127000" algn="l" rtl="0">
              <a:spcBef>
                <a:spcPts val="600"/>
              </a:spcBef>
              <a:buClr>
                <a:srgbClr val="007FA3"/>
              </a:buClr>
              <a:buSzPct val="100000"/>
              <a:buFont typeface="Noto Sans Symbols"/>
              <a:buChar char="▪"/>
              <a:defRPr sz="1600" b="0" i="0" u="none" strike="noStrike" cap="none">
                <a:solidFill>
                  <a:schemeClr val="dk1"/>
                </a:solidFill>
                <a:latin typeface="Arial"/>
                <a:ea typeface="Arial"/>
                <a:cs typeface="Arial"/>
                <a:sym typeface="Arial"/>
              </a:defRPr>
            </a:lvl3pPr>
            <a:lvl4pPr marL="1600200" marR="0" lvl="3"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4pPr>
            <a:lvl5pPr marL="2057400" marR="0" lvl="4"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5pPr>
            <a:lvl6pPr marL="2514600" marR="0" lvl="5"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6pPr>
            <a:lvl7pPr marL="2971800" marR="0" lvl="6"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7pPr>
            <a:lvl8pPr marL="3429000" marR="0" lvl="7"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8pPr>
            <a:lvl9pPr marL="3886200" marR="0" lvl="8"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9pPr>
          </a:lstStyle>
          <a:p>
            <a:endParaRPr dirty="0"/>
          </a:p>
        </p:txBody>
      </p:sp>
      <p:sp>
        <p:nvSpPr>
          <p:cNvPr id="16" name="Copyright"/>
          <p:cNvSpPr txBox="1"/>
          <p:nvPr/>
        </p:nvSpPr>
        <p:spPr>
          <a:xfrm>
            <a:off x="1600200" y="6429344"/>
            <a:ext cx="7162799" cy="200054"/>
          </a:xfrm>
          <a:prstGeom prst="rect">
            <a:avLst/>
          </a:prstGeom>
          <a:noFill/>
          <a:ln>
            <a:noFill/>
          </a:ln>
        </p:spPr>
        <p:txBody>
          <a:bodyPr lIns="91425" tIns="45700" rIns="91425" bIns="45700" anchor="ctr" anchorCtr="0">
            <a:noAutofit/>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US" altLang="en-US" sz="1200" b="0" dirty="0">
                <a:latin typeface="Verdana" panose="020B0604030504040204" pitchFamily="34" charset="0"/>
                <a:ea typeface="Verdana" panose="020B0604030504040204" pitchFamily="34" charset="0"/>
                <a:cs typeface="Verdana" panose="020B0604030504040204" pitchFamily="34" charset="0"/>
              </a:rPr>
              <a:t>Copyright © </a:t>
            </a:r>
            <a:r>
              <a:rPr lang="en-IN" sz="1200" b="0" i="0" u="none" strike="noStrike" cap="none" dirty="0">
                <a:solidFill>
                  <a:srgbClr val="000000"/>
                </a:solidFill>
                <a:effectLst/>
                <a:latin typeface="Verdana" panose="020B0604030504040204" pitchFamily="34" charset="0"/>
                <a:ea typeface="Verdana" panose="020B0604030504040204" pitchFamily="34" charset="0"/>
                <a:cs typeface="Arial"/>
                <a:sym typeface="Arial"/>
              </a:rPr>
              <a:t>2022, 2018, 2015</a:t>
            </a:r>
            <a:r>
              <a:rPr lang="en-US" altLang="en-US" sz="1200" b="0" dirty="0">
                <a:latin typeface="Verdana" panose="020B0604030504040204" pitchFamily="34" charset="0"/>
                <a:ea typeface="Verdana" panose="020B0604030504040204" pitchFamily="34" charset="0"/>
                <a:cs typeface="Verdana" panose="020B0604030504040204" pitchFamily="34" charset="0"/>
              </a:rPr>
              <a:t> Pearson Education, Inc. All Rights Reserved</a:t>
            </a:r>
          </a:p>
        </p:txBody>
      </p:sp>
      <p:sp>
        <p:nvSpPr>
          <p:cNvPr id="13" name="Shape 13"/>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14" name="Shape 14"/>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pic>
        <p:nvPicPr>
          <p:cNvPr id="8" name="Picture Placeholder 21" descr="Pearson Logo">
            <a:extLst>
              <a:ext uri="{FF2B5EF4-FFF2-40B4-BE49-F238E27FC236}">
                <a16:creationId xmlns:a16="http://schemas.microsoft.com/office/drawing/2014/main" id="{9482BDEB-84DF-4344-AD30-389884976DF6}"/>
              </a:ext>
            </a:extLst>
          </p:cNvPr>
          <p:cNvPicPr>
            <a:picLocks noChangeAspect="1"/>
          </p:cNvPicPr>
          <p:nvPr userDrawn="1"/>
        </p:nvPicPr>
        <p:blipFill>
          <a:blip r:embed="rId17"/>
          <a:srcRect t="22152" b="22152"/>
          <a:stretch>
            <a:fillRect/>
          </a:stretch>
        </p:blipFill>
        <p:spPr>
          <a:xfrm>
            <a:off x="315677" y="6420639"/>
            <a:ext cx="1176574" cy="296443"/>
          </a:xfrm>
          <a:prstGeom prst="rect">
            <a:avLst/>
          </a:prstGeom>
        </p:spPr>
      </p:pic>
    </p:spTree>
  </p:cSld>
  <p:clrMap bg1="lt1" tx1="dk1" bg2="dk2" tx2="lt2" accent1="accent1" accent2="accent2" accent3="accent3" accent4="accent4" accent5="accent5" accent6="accent6" hlink="hlink" folHlink="folHlink"/>
  <p:sldLayoutIdLst>
    <p:sldLayoutId id="2147483664" r:id="rId1"/>
    <p:sldLayoutId id="2147483682" r:id="rId2"/>
    <p:sldLayoutId id="2147483650" r:id="rId3"/>
    <p:sldLayoutId id="2147483676" r:id="rId4"/>
    <p:sldLayoutId id="2147483677" r:id="rId5"/>
    <p:sldLayoutId id="2147483678" r:id="rId6"/>
    <p:sldLayoutId id="2147483679" r:id="rId7"/>
    <p:sldLayoutId id="2147483680" r:id="rId8"/>
    <p:sldLayoutId id="2147483683" r:id="rId9"/>
    <p:sldLayoutId id="2147483681" r:id="rId10"/>
    <p:sldLayoutId id="2147483671" r:id="rId11"/>
    <p:sldLayoutId id="2147483673" r:id="rId12"/>
    <p:sldLayoutId id="2147483670" r:id="rId13"/>
    <p:sldLayoutId id="2147483669" r:id="rId14"/>
    <p:sldLayoutId id="2147483655" r:id="rId15"/>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None/>
        <a:defRPr sz="3600" b="0" i="0" u="none" strike="noStrike" cap="none">
          <a:solidFill>
            <a:srgbClr val="000000"/>
          </a:solidFill>
          <a:latin typeface="+mj-lt"/>
          <a:ea typeface="Arial"/>
          <a:cs typeface="Arial"/>
          <a:sym typeface="Arial"/>
        </a:defRPr>
      </a:lvl1pPr>
    </p:titleStyle>
    <p:body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mn-lt"/>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4.xml"/><Relationship Id="rId1" Type="http://schemas.openxmlformats.org/officeDocument/2006/relationships/vmlDrawing" Target="../drawings/vmlDrawing1.vml"/><Relationship Id="rId4" Type="http://schemas.openxmlformats.org/officeDocument/2006/relationships/image" Target="../media/image3.wmf"/></Relationships>
</file>

<file path=ppt/slides/_rels/slide10.xml.rels><?xml version="1.0" encoding="UTF-8" standalone="yes"?>
<Relationships xmlns="http://schemas.openxmlformats.org/package/2006/relationships"><Relationship Id="rId2" Type="http://schemas.openxmlformats.org/officeDocument/2006/relationships/hyperlink" Target="https://www.rug.nl/ggdc/productivity/pwt/" TargetMode="External"/><Relationship Id="rId1" Type="http://schemas.openxmlformats.org/officeDocument/2006/relationships/slideLayout" Target="../slideLayouts/slideLayout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4.xml"/><Relationship Id="rId1" Type="http://schemas.openxmlformats.org/officeDocument/2006/relationships/vmlDrawing" Target="../drawings/vmlDrawing2.vml"/><Relationship Id="rId4" Type="http://schemas.openxmlformats.org/officeDocument/2006/relationships/image" Target="../media/image7.wmf"/></Relationships>
</file>

<file path=ppt/slides/_rels/slide21.xml.rels><?xml version="1.0" encoding="UTF-8" standalone="yes"?>
<Relationships xmlns="http://schemas.openxmlformats.org/package/2006/relationships"><Relationship Id="rId8" Type="http://schemas.openxmlformats.org/officeDocument/2006/relationships/image" Target="../media/image10.wmf"/><Relationship Id="rId13" Type="http://schemas.openxmlformats.org/officeDocument/2006/relationships/oleObject" Target="../embeddings/oleObject8.bin"/><Relationship Id="rId18" Type="http://schemas.openxmlformats.org/officeDocument/2006/relationships/image" Target="../media/image15.wmf"/><Relationship Id="rId3" Type="http://schemas.openxmlformats.org/officeDocument/2006/relationships/oleObject" Target="../embeddings/oleObject3.bin"/><Relationship Id="rId21" Type="http://schemas.openxmlformats.org/officeDocument/2006/relationships/oleObject" Target="../embeddings/oleObject12.bin"/><Relationship Id="rId7" Type="http://schemas.openxmlformats.org/officeDocument/2006/relationships/oleObject" Target="../embeddings/oleObject5.bin"/><Relationship Id="rId12" Type="http://schemas.openxmlformats.org/officeDocument/2006/relationships/image" Target="../media/image12.wmf"/><Relationship Id="rId17" Type="http://schemas.openxmlformats.org/officeDocument/2006/relationships/oleObject" Target="../embeddings/oleObject10.bin"/><Relationship Id="rId2" Type="http://schemas.openxmlformats.org/officeDocument/2006/relationships/slideLayout" Target="../slideLayouts/slideLayout4.xml"/><Relationship Id="rId16" Type="http://schemas.openxmlformats.org/officeDocument/2006/relationships/image" Target="../media/image14.wmf"/><Relationship Id="rId20" Type="http://schemas.openxmlformats.org/officeDocument/2006/relationships/image" Target="../media/image16.wmf"/><Relationship Id="rId1" Type="http://schemas.openxmlformats.org/officeDocument/2006/relationships/vmlDrawing" Target="../drawings/vmlDrawing3.vml"/><Relationship Id="rId6" Type="http://schemas.openxmlformats.org/officeDocument/2006/relationships/image" Target="../media/image9.wmf"/><Relationship Id="rId11" Type="http://schemas.openxmlformats.org/officeDocument/2006/relationships/oleObject" Target="../embeddings/oleObject7.bin"/><Relationship Id="rId5" Type="http://schemas.openxmlformats.org/officeDocument/2006/relationships/oleObject" Target="../embeddings/oleObject4.bin"/><Relationship Id="rId15" Type="http://schemas.openxmlformats.org/officeDocument/2006/relationships/oleObject" Target="../embeddings/oleObject9.bin"/><Relationship Id="rId10" Type="http://schemas.openxmlformats.org/officeDocument/2006/relationships/image" Target="../media/image11.wmf"/><Relationship Id="rId19" Type="http://schemas.openxmlformats.org/officeDocument/2006/relationships/oleObject" Target="../embeddings/oleObject11.bin"/><Relationship Id="rId4" Type="http://schemas.openxmlformats.org/officeDocument/2006/relationships/image" Target="../media/image8.wmf"/><Relationship Id="rId9" Type="http://schemas.openxmlformats.org/officeDocument/2006/relationships/oleObject" Target="../embeddings/oleObject6.bin"/><Relationship Id="rId14" Type="http://schemas.openxmlformats.org/officeDocument/2006/relationships/image" Target="../media/image13.wmf"/><Relationship Id="rId22" Type="http://schemas.openxmlformats.org/officeDocument/2006/relationships/image" Target="../media/image17.wmf"/></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7.xml"/><Relationship Id="rId1" Type="http://schemas.openxmlformats.org/officeDocument/2006/relationships/slideLayout" Target="../slideLayouts/slideLayout4.xml"/><Relationship Id="rId4" Type="http://schemas.openxmlformats.org/officeDocument/2006/relationships/image" Target="../media/image21.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E98728-A241-43F4-95FF-6C49FEEA0911}"/>
              </a:ext>
              <a:ext uri="{C183D7F6-B498-43B3-948B-1728B52AA6E4}">
                <adec:decorative xmlns="" xmlns:adec="http://schemas.microsoft.com/office/drawing/2017/decorative" val="1"/>
              </a:ext>
            </a:extLst>
          </p:cNvPr>
          <p:cNvSpPr>
            <a:spLocks noGrp="1"/>
          </p:cNvSpPr>
          <p:nvPr>
            <p:ph type="title"/>
          </p:nvPr>
        </p:nvSpPr>
        <p:spPr>
          <a:xfrm>
            <a:off x="457199" y="143692"/>
            <a:ext cx="8229601" cy="987333"/>
          </a:xfrm>
        </p:spPr>
        <p:txBody>
          <a:bodyPr anchor="ctr"/>
          <a:lstStyle/>
          <a:p>
            <a:r>
              <a:rPr lang="en-US" sz="3200" dirty="0"/>
              <a:t>International Economics: Theory and Policy</a:t>
            </a:r>
          </a:p>
        </p:txBody>
      </p:sp>
      <p:sp>
        <p:nvSpPr>
          <p:cNvPr id="3" name="Content Placeholder 2">
            <a:extLst>
              <a:ext uri="{FF2B5EF4-FFF2-40B4-BE49-F238E27FC236}">
                <a16:creationId xmlns:a16="http://schemas.microsoft.com/office/drawing/2014/main" id="{ABE18F80-D4FC-4D8F-B2BD-E7BEE7E012B5}"/>
              </a:ext>
              <a:ext uri="{C183D7F6-B498-43B3-948B-1728B52AA6E4}">
                <adec:decorative xmlns="" xmlns:adec="http://schemas.microsoft.com/office/drawing/2017/decorative" val="1"/>
              </a:ext>
            </a:extLst>
          </p:cNvPr>
          <p:cNvSpPr>
            <a:spLocks noGrp="1"/>
          </p:cNvSpPr>
          <p:nvPr>
            <p:ph type="body" idx="1"/>
          </p:nvPr>
        </p:nvSpPr>
        <p:spPr>
          <a:xfrm>
            <a:off x="457200" y="1212419"/>
            <a:ext cx="8229600" cy="413524"/>
          </a:xfrm>
        </p:spPr>
        <p:txBody>
          <a:bodyPr anchor="ctr"/>
          <a:lstStyle/>
          <a:p>
            <a:r>
              <a:rPr lang="en-US">
                <a:solidFill>
                  <a:schemeClr val="tx2"/>
                </a:solidFill>
              </a:rPr>
              <a:t>Twelfth Edition</a:t>
            </a:r>
          </a:p>
        </p:txBody>
      </p:sp>
      <p:pic>
        <p:nvPicPr>
          <p:cNvPr id="9" name="Picture 8" descr="Front Cover: International Economics: Theory and Policy, Twelfth Edition by Krugman, Obstfeld and Melitz.">
            <a:extLst>
              <a:ext uri="{FF2B5EF4-FFF2-40B4-BE49-F238E27FC236}">
                <a16:creationId xmlns:a16="http://schemas.microsoft.com/office/drawing/2014/main" id="{D7D46880-8461-406A-8001-EA9E0EE58E45}"/>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84578" y="1704436"/>
            <a:ext cx="3544562" cy="4430702"/>
          </a:xfrm>
          <a:prstGeom prst="rect">
            <a:avLst/>
          </a:prstGeom>
          <a:ln w="9525">
            <a:solidFill>
              <a:schemeClr val="tx1"/>
            </a:solidFill>
          </a:ln>
        </p:spPr>
      </p:pic>
      <p:sp>
        <p:nvSpPr>
          <p:cNvPr id="5" name="Content Placeholder 4">
            <a:extLst>
              <a:ext uri="{FF2B5EF4-FFF2-40B4-BE49-F238E27FC236}">
                <a16:creationId xmlns:a16="http://schemas.microsoft.com/office/drawing/2014/main" id="{2D222376-7AD7-4443-B67A-120BE12F4DDB}"/>
              </a:ext>
              <a:ext uri="{C183D7F6-B498-43B3-948B-1728B52AA6E4}">
                <adec:decorative xmlns="" xmlns:adec="http://schemas.microsoft.com/office/drawing/2017/decorative" val="1"/>
              </a:ext>
            </a:extLst>
          </p:cNvPr>
          <p:cNvSpPr>
            <a:spLocks noGrp="1"/>
          </p:cNvSpPr>
          <p:nvPr>
            <p:ph sz="quarter" idx="14"/>
          </p:nvPr>
        </p:nvSpPr>
        <p:spPr>
          <a:xfrm>
            <a:off x="5029200" y="1906104"/>
            <a:ext cx="3657600" cy="1186345"/>
          </a:xfrm>
        </p:spPr>
        <p:txBody>
          <a:bodyPr/>
          <a:lstStyle/>
          <a:p>
            <a:pPr marL="0" algn="ctr"/>
            <a:r>
              <a:rPr lang="en-US" b="1">
                <a:solidFill>
                  <a:schemeClr val="tx1"/>
                </a:solidFill>
                <a:latin typeface="+mn-lt"/>
              </a:rPr>
              <a:t>Chapter 22</a:t>
            </a:r>
          </a:p>
        </p:txBody>
      </p:sp>
      <p:sp>
        <p:nvSpPr>
          <p:cNvPr id="6" name="Content Placeholder 5">
            <a:extLst>
              <a:ext uri="{FF2B5EF4-FFF2-40B4-BE49-F238E27FC236}">
                <a16:creationId xmlns:a16="http://schemas.microsoft.com/office/drawing/2014/main" id="{82FD4EC9-4778-4E2F-B136-2A176CA2BA69}"/>
              </a:ext>
              <a:ext uri="{C183D7F6-B498-43B3-948B-1728B52AA6E4}">
                <adec:decorative xmlns="" xmlns:adec="http://schemas.microsoft.com/office/drawing/2017/decorative" val="1"/>
              </a:ext>
            </a:extLst>
          </p:cNvPr>
          <p:cNvSpPr>
            <a:spLocks noGrp="1"/>
          </p:cNvSpPr>
          <p:nvPr>
            <p:ph sz="quarter" idx="15"/>
          </p:nvPr>
        </p:nvSpPr>
        <p:spPr>
          <a:xfrm>
            <a:off x="5029200" y="3252789"/>
            <a:ext cx="3657600" cy="1786139"/>
          </a:xfrm>
        </p:spPr>
        <p:txBody>
          <a:bodyPr/>
          <a:lstStyle/>
          <a:p>
            <a:r>
              <a:rPr lang="en-US" altLang="en-US" dirty="0">
                <a:solidFill>
                  <a:schemeClr val="tx1"/>
                </a:solidFill>
              </a:rPr>
              <a:t>Developing Countries: Growth, Crisis, and Reform</a:t>
            </a:r>
          </a:p>
        </p:txBody>
      </p:sp>
      <p:pic>
        <p:nvPicPr>
          <p:cNvPr id="22" name="Picture Placeholder 21" descr="Pearson Logo">
            <a:extLst>
              <a:ext uri="{FF2B5EF4-FFF2-40B4-BE49-F238E27FC236}">
                <a16:creationId xmlns:a16="http://schemas.microsoft.com/office/drawing/2014/main" id="{463657D3-0029-4FB6-A24C-CAB832988B4E}"/>
              </a:ext>
            </a:extLst>
          </p:cNvPr>
          <p:cNvPicPr>
            <a:picLocks noGrp="1" noChangeAspect="1"/>
          </p:cNvPicPr>
          <p:nvPr>
            <p:ph type="pic" sz="quarter" idx="16"/>
          </p:nvPr>
        </p:nvPicPr>
        <p:blipFill>
          <a:blip r:embed="rId4"/>
          <a:srcRect t="22152" b="22152"/>
          <a:stretch>
            <a:fillRect/>
          </a:stretch>
        </p:blipFill>
        <p:spPr>
          <a:xfrm>
            <a:off x="315677" y="6439689"/>
            <a:ext cx="1176574" cy="296443"/>
          </a:xfrm>
        </p:spPr>
      </p:pic>
      <p:sp>
        <p:nvSpPr>
          <p:cNvPr id="8" name="Content Placeholder 7">
            <a:extLst>
              <a:ext uri="{FF2B5EF4-FFF2-40B4-BE49-F238E27FC236}">
                <a16:creationId xmlns:a16="http://schemas.microsoft.com/office/drawing/2014/main" id="{C8E88D28-1A9F-4FC4-946F-10B4629D1438}"/>
              </a:ext>
              <a:ext uri="{C183D7F6-B498-43B3-948B-1728B52AA6E4}">
                <adec:decorative xmlns="" xmlns:adec="http://schemas.microsoft.com/office/drawing/2017/decorative" val="1"/>
              </a:ext>
            </a:extLst>
          </p:cNvPr>
          <p:cNvSpPr>
            <a:spLocks noGrp="1"/>
          </p:cNvSpPr>
          <p:nvPr>
            <p:ph sz="quarter" idx="17"/>
          </p:nvPr>
        </p:nvSpPr>
        <p:spPr>
          <a:xfrm>
            <a:off x="2173000" y="6415232"/>
            <a:ext cx="6589712" cy="228600"/>
          </a:xfrm>
        </p:spPr>
        <p:txBody>
          <a:bodyPr/>
          <a:lstStyle/>
          <a:p>
            <a:pPr marL="0" indent="0"/>
            <a:r>
              <a:rPr lang="en-US" altLang="en-US" sz="1200" b="0">
                <a:latin typeface="Verdana"/>
                <a:ea typeface="Verdana" panose="020B0604030504040204" pitchFamily="34" charset="0"/>
                <a:cs typeface="Verdana" panose="020B0604030504040204" pitchFamily="34" charset="0"/>
              </a:rPr>
              <a:t>Copyright © </a:t>
            </a:r>
            <a:r>
              <a:rPr lang="en-US"/>
              <a:t>2022, 2018, 2015 </a:t>
            </a:r>
            <a:r>
              <a:rPr lang="en-US" altLang="en-US" sz="1200" b="0">
                <a:latin typeface="Verdana"/>
                <a:ea typeface="Verdana" panose="020B0604030504040204" pitchFamily="34" charset="0"/>
                <a:cs typeface="Verdana" panose="020B0604030504040204" pitchFamily="34" charset="0"/>
              </a:rPr>
              <a:t>Pearson Education, Inc. All Rights Reserved</a:t>
            </a:r>
          </a:p>
        </p:txBody>
      </p:sp>
    </p:spTree>
    <p:extLst>
      <p:ext uri="{BB962C8B-B14F-4D97-AF65-F5344CB8AC3E}">
        <p14:creationId xmlns:p14="http://schemas.microsoft.com/office/powerpoint/2010/main" val="380133595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Learning Objectives</a:t>
            </a:r>
          </a:p>
        </p:txBody>
      </p:sp>
      <p:sp>
        <p:nvSpPr>
          <p:cNvPr id="4" name="Content Placeholder 3"/>
          <p:cNvSpPr>
            <a:spLocks noGrp="1"/>
          </p:cNvSpPr>
          <p:nvPr>
            <p:ph sz="quarter" idx="13"/>
          </p:nvPr>
        </p:nvSpPr>
        <p:spPr>
          <a:xfrm>
            <a:off x="457200" y="1556327"/>
            <a:ext cx="8229600" cy="4663498"/>
          </a:xfrm>
        </p:spPr>
        <p:txBody>
          <a:bodyPr/>
          <a:lstStyle/>
          <a:p>
            <a:pPr marL="0" indent="0">
              <a:buNone/>
            </a:pPr>
            <a:r>
              <a:rPr lang="en-US" sz="2200" b="1" dirty="0">
                <a:solidFill>
                  <a:srgbClr val="007FA3"/>
                </a:solidFill>
                <a:ea typeface="Verdana" panose="020B0604030504040204" pitchFamily="34" charset="0"/>
                <a:cs typeface="Verdana" panose="020B0604030504040204" pitchFamily="34" charset="0"/>
              </a:rPr>
              <a:t>22.1</a:t>
            </a:r>
            <a:r>
              <a:rPr lang="en-US" sz="2200" b="1" dirty="0">
                <a:solidFill>
                  <a:schemeClr val="accent1"/>
                </a:solidFill>
                <a:ea typeface="Verdana" panose="020B0604030504040204" pitchFamily="34" charset="0"/>
                <a:cs typeface="Verdana" panose="020B0604030504040204" pitchFamily="34" charset="0"/>
              </a:rPr>
              <a:t> </a:t>
            </a:r>
            <a:r>
              <a:rPr lang="en-US" sz="2200" dirty="0"/>
              <a:t>Describe the persistently unequal world distribution of income and the evidence on its causes.</a:t>
            </a:r>
          </a:p>
          <a:p>
            <a:pPr marL="0" indent="0">
              <a:buNone/>
            </a:pPr>
            <a:r>
              <a:rPr lang="en-US" sz="2200" b="1" dirty="0">
                <a:solidFill>
                  <a:srgbClr val="007FA3"/>
                </a:solidFill>
                <a:ea typeface="Verdana" panose="020B0604030504040204" pitchFamily="34" charset="0"/>
                <a:cs typeface="Verdana" panose="020B0604030504040204" pitchFamily="34" charset="0"/>
              </a:rPr>
              <a:t>22.2 </a:t>
            </a:r>
            <a:r>
              <a:rPr lang="en-US" sz="2200" dirty="0"/>
              <a:t>Summarize the major economic features of developing countries.</a:t>
            </a:r>
          </a:p>
          <a:p>
            <a:pPr marL="0" indent="0">
              <a:buNone/>
            </a:pPr>
            <a:r>
              <a:rPr lang="en-US" sz="2200" b="1" dirty="0">
                <a:solidFill>
                  <a:srgbClr val="007FA3"/>
                </a:solidFill>
                <a:ea typeface="Verdana" panose="020B0604030504040204" pitchFamily="34" charset="0"/>
                <a:cs typeface="Verdana" panose="020B0604030504040204" pitchFamily="34" charset="0"/>
              </a:rPr>
              <a:t>22.3</a:t>
            </a:r>
            <a:r>
              <a:rPr lang="en-US" sz="2200" dirty="0">
                <a:ea typeface="Verdana" panose="020B0604030504040204" pitchFamily="34" charset="0"/>
                <a:cs typeface="Verdana" panose="020B0604030504040204" pitchFamily="34" charset="0"/>
              </a:rPr>
              <a:t> </a:t>
            </a:r>
            <a:r>
              <a:rPr lang="en-US" sz="2200" dirty="0"/>
              <a:t>Explain the position of developing countries in the world capital market and the problem of default by developing borrowers.</a:t>
            </a:r>
          </a:p>
          <a:p>
            <a:pPr marL="0" indent="0">
              <a:buNone/>
            </a:pPr>
            <a:r>
              <a:rPr lang="en-US" sz="2200" b="1" dirty="0">
                <a:solidFill>
                  <a:srgbClr val="007FA3"/>
                </a:solidFill>
                <a:ea typeface="Verdana" panose="020B0604030504040204" pitchFamily="34" charset="0"/>
                <a:cs typeface="Verdana" panose="020B0604030504040204" pitchFamily="34" charset="0"/>
              </a:rPr>
              <a:t>22.4</a:t>
            </a:r>
            <a:r>
              <a:rPr lang="en-US" sz="2200" b="1" dirty="0">
                <a:solidFill>
                  <a:schemeClr val="accent1"/>
                </a:solidFill>
                <a:ea typeface="Verdana" panose="020B0604030504040204" pitchFamily="34" charset="0"/>
                <a:cs typeface="Verdana" panose="020B0604030504040204" pitchFamily="34" charset="0"/>
              </a:rPr>
              <a:t> </a:t>
            </a:r>
            <a:r>
              <a:rPr lang="en-US" sz="2200" dirty="0"/>
              <a:t>Recount the recent history of developing-country financial crises.</a:t>
            </a:r>
          </a:p>
          <a:p>
            <a:pPr marL="0" indent="0">
              <a:buNone/>
            </a:pPr>
            <a:r>
              <a:rPr lang="en-US" sz="2200" b="1" dirty="0">
                <a:solidFill>
                  <a:srgbClr val="007FA3"/>
                </a:solidFill>
                <a:ea typeface="Verdana" panose="020B0604030504040204" pitchFamily="34" charset="0"/>
                <a:cs typeface="Verdana" panose="020B0604030504040204" pitchFamily="34" charset="0"/>
              </a:rPr>
              <a:t>22.5</a:t>
            </a:r>
            <a:r>
              <a:rPr lang="en-US" sz="2200" b="1" dirty="0">
                <a:solidFill>
                  <a:schemeClr val="accent1"/>
                </a:solidFill>
                <a:ea typeface="Verdana" panose="020B0604030504040204" pitchFamily="34" charset="0"/>
                <a:cs typeface="Verdana" panose="020B0604030504040204" pitchFamily="34" charset="0"/>
              </a:rPr>
              <a:t> </a:t>
            </a:r>
            <a:r>
              <a:rPr lang="en-US" sz="2200" dirty="0"/>
              <a:t>Discuss proposed measures to enhance poorer countries’ gains from participation in the world capital market</a:t>
            </a:r>
          </a:p>
        </p:txBody>
      </p:sp>
    </p:spTree>
    <p:extLst>
      <p:ext uri="{BB962C8B-B14F-4D97-AF65-F5344CB8AC3E}">
        <p14:creationId xmlns:p14="http://schemas.microsoft.com/office/powerpoint/2010/main" val="170387809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a:ea typeface="Verdana" panose="020B0604030504040204" pitchFamily="34" charset="0"/>
              </a:rPr>
              <a:t>Preview</a:t>
            </a:r>
            <a:endParaRPr lang="en-IN" dirty="0"/>
          </a:p>
        </p:txBody>
      </p:sp>
      <p:sp>
        <p:nvSpPr>
          <p:cNvPr id="2" name="Content Placeholder 1"/>
          <p:cNvSpPr>
            <a:spLocks noGrp="1"/>
          </p:cNvSpPr>
          <p:nvPr>
            <p:ph sz="quarter" idx="13"/>
          </p:nvPr>
        </p:nvSpPr>
        <p:spPr>
          <a:xfrm>
            <a:off x="457200" y="1556327"/>
            <a:ext cx="8229600" cy="4716654"/>
          </a:xfrm>
        </p:spPr>
        <p:txBody>
          <a:bodyPr/>
          <a:lstStyle/>
          <a:p>
            <a:r>
              <a:rPr lang="en-US" altLang="en-US" sz="2200" dirty="0"/>
              <a:t>Snapshots of rich and poor countries</a:t>
            </a:r>
          </a:p>
          <a:p>
            <a:r>
              <a:rPr lang="en-US" altLang="en-US" sz="2200" dirty="0"/>
              <a:t>Characteristics of poor countries</a:t>
            </a:r>
          </a:p>
          <a:p>
            <a:r>
              <a:rPr lang="en-US" altLang="en-US" sz="2200" dirty="0"/>
              <a:t>Borrowing and debt in poor and middle-income economies</a:t>
            </a:r>
          </a:p>
          <a:p>
            <a:r>
              <a:rPr lang="en-US" altLang="en-US" sz="2200" dirty="0"/>
              <a:t>The problem of “</a:t>
            </a:r>
            <a:r>
              <a:rPr lang="en-US" altLang="ja-JP" sz="2200" dirty="0"/>
              <a:t>original sin”</a:t>
            </a:r>
          </a:p>
          <a:p>
            <a:r>
              <a:rPr lang="en-US" altLang="en-US" sz="2200" dirty="0"/>
              <a:t>Types of financial assets</a:t>
            </a:r>
          </a:p>
          <a:p>
            <a:r>
              <a:rPr lang="en-US" altLang="en-US" sz="2200" dirty="0"/>
              <a:t>Latin American, East Asian, and Russian crises</a:t>
            </a:r>
          </a:p>
          <a:p>
            <a:r>
              <a:rPr lang="en-US" altLang="en-US" sz="2200" dirty="0"/>
              <a:t>Currency boards and dollarization</a:t>
            </a:r>
          </a:p>
          <a:p>
            <a:r>
              <a:rPr lang="en-US" altLang="en-US" sz="2200" dirty="0"/>
              <a:t>Lessons from crises and potential reforms</a:t>
            </a:r>
          </a:p>
          <a:p>
            <a:r>
              <a:rPr lang="en-US" altLang="en-US" sz="2200" dirty="0"/>
              <a:t>Geography’</a:t>
            </a:r>
            <a:r>
              <a:rPr lang="en-US" altLang="ja-JP" sz="2200" dirty="0"/>
              <a:t>s and human capital’s role in poverty</a:t>
            </a:r>
            <a:endParaRPr lang="en-US" altLang="en-US" sz="2200" dirty="0"/>
          </a:p>
        </p:txBody>
      </p:sp>
    </p:spTree>
    <p:extLst>
      <p:ext uri="{BB962C8B-B14F-4D97-AF65-F5344CB8AC3E}">
        <p14:creationId xmlns:p14="http://schemas.microsoft.com/office/powerpoint/2010/main" val="134895899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ltLang="en-US" dirty="0"/>
              <a:t>The Gap Between Rich and Poor</a:t>
            </a:r>
            <a:endParaRPr lang="en-IN" dirty="0"/>
          </a:p>
        </p:txBody>
      </p:sp>
      <p:sp>
        <p:nvSpPr>
          <p:cNvPr id="2" name="Content Placeholder 1"/>
          <p:cNvSpPr>
            <a:spLocks noGrp="1"/>
          </p:cNvSpPr>
          <p:nvPr>
            <p:ph sz="quarter" idx="13"/>
          </p:nvPr>
        </p:nvSpPr>
        <p:spPr>
          <a:xfrm>
            <a:off x="457200" y="1556327"/>
            <a:ext cx="8229600" cy="3501448"/>
          </a:xfrm>
        </p:spPr>
        <p:txBody>
          <a:bodyPr/>
          <a:lstStyle/>
          <a:p>
            <a:r>
              <a:rPr lang="en-US" altLang="en-US" dirty="0"/>
              <a:t>Low income: most sub-Saharan Africa, India, Pakistan</a:t>
            </a:r>
          </a:p>
          <a:p>
            <a:r>
              <a:rPr lang="en-US" altLang="en-US" dirty="0"/>
              <a:t>Lower-middle income: China, Caribbean countries</a:t>
            </a:r>
          </a:p>
          <a:p>
            <a:r>
              <a:rPr lang="en-US" altLang="en-US" dirty="0"/>
              <a:t>Upper-middle income: Brazil, Mexico, Saudi Arabia, Malaysia, South Africa, Czech Republic</a:t>
            </a:r>
          </a:p>
          <a:p>
            <a:r>
              <a:rPr lang="en-US" altLang="en-US" dirty="0"/>
              <a:t>High income: United States, Singapore, France, Japan, Kuwait</a:t>
            </a:r>
          </a:p>
        </p:txBody>
      </p:sp>
    </p:spTree>
    <p:extLst>
      <p:ext uri="{BB962C8B-B14F-4D97-AF65-F5344CB8AC3E}">
        <p14:creationId xmlns:p14="http://schemas.microsoft.com/office/powerpoint/2010/main" val="409293778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ltLang="en-US" sz="3200" dirty="0"/>
              <a:t>Table 22.1 Indicators of Economic Welfare in Four Groups of Countries</a:t>
            </a:r>
            <a:endParaRPr lang="en-IN" sz="3200" dirty="0"/>
          </a:p>
        </p:txBody>
      </p:sp>
      <p:graphicFrame>
        <p:nvGraphicFramePr>
          <p:cNvPr id="4" name="Content Placeholder 3"/>
          <p:cNvGraphicFramePr>
            <a:graphicFrameLocks noGrp="1"/>
          </p:cNvGraphicFramePr>
          <p:nvPr>
            <p:ph sz="quarter" idx="13"/>
            <p:extLst>
              <p:ext uri="{D42A27DB-BD31-4B8C-83A1-F6EECF244321}">
                <p14:modId xmlns:p14="http://schemas.microsoft.com/office/powerpoint/2010/main" val="2020392844"/>
              </p:ext>
            </p:extLst>
          </p:nvPr>
        </p:nvGraphicFramePr>
        <p:xfrm>
          <a:off x="457200" y="1638880"/>
          <a:ext cx="7153275" cy="2062480"/>
        </p:xfrm>
        <a:graphic>
          <a:graphicData uri="http://schemas.openxmlformats.org/drawingml/2006/table">
            <a:tbl>
              <a:tblPr firstRow="1" bandRow="1">
                <a:tableStyleId>{2D5ABB26-0587-4C30-8999-92F81FD0307C}</a:tableStyleId>
              </a:tblPr>
              <a:tblGrid>
                <a:gridCol w="2524125">
                  <a:extLst>
                    <a:ext uri="{9D8B030D-6E8A-4147-A177-3AD203B41FA5}">
                      <a16:colId xmlns:a16="http://schemas.microsoft.com/office/drawing/2014/main" val="858636989"/>
                    </a:ext>
                  </a:extLst>
                </a:gridCol>
                <a:gridCol w="2190750">
                  <a:extLst>
                    <a:ext uri="{9D8B030D-6E8A-4147-A177-3AD203B41FA5}">
                      <a16:colId xmlns:a16="http://schemas.microsoft.com/office/drawing/2014/main" val="1618453029"/>
                    </a:ext>
                  </a:extLst>
                </a:gridCol>
                <a:gridCol w="2438400">
                  <a:extLst>
                    <a:ext uri="{9D8B030D-6E8A-4147-A177-3AD203B41FA5}">
                      <a16:colId xmlns:a16="http://schemas.microsoft.com/office/drawing/2014/main" val="1261480596"/>
                    </a:ext>
                  </a:extLst>
                </a:gridCol>
              </a:tblGrid>
              <a:tr h="370840">
                <a:tc>
                  <a:txBody>
                    <a:bodyPr/>
                    <a:lstStyle/>
                    <a:p>
                      <a:pPr algn="l"/>
                      <a:r>
                        <a:rPr lang="en-US" sz="1600" b="1" dirty="0"/>
                        <a:t>Income Group</a:t>
                      </a:r>
                      <a:endParaRPr lang="en-US" sz="1600" b="1"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b="1" dirty="0"/>
                        <a:t>G</a:t>
                      </a:r>
                      <a:r>
                        <a:rPr lang="en-US" sz="100" b="1" dirty="0"/>
                        <a:t> </a:t>
                      </a:r>
                      <a:r>
                        <a:rPr lang="en-US" sz="1600" b="1" dirty="0"/>
                        <a:t>D</a:t>
                      </a:r>
                      <a:r>
                        <a:rPr lang="en-US" sz="100" b="1" dirty="0"/>
                        <a:t> </a:t>
                      </a:r>
                      <a:r>
                        <a:rPr lang="en-US" sz="1600" b="1" dirty="0"/>
                        <a:t>P per Capita</a:t>
                      </a:r>
                      <a:r>
                        <a:rPr lang="en-US" sz="1600" b="1" baseline="0" dirty="0"/>
                        <a:t> (2019 U.S. dollars)</a:t>
                      </a:r>
                      <a:endParaRPr lang="en-US" sz="1600" b="1"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b="1" dirty="0"/>
                        <a:t>Life Expectancy in 2018 (years)</a:t>
                      </a:r>
                      <a:endParaRPr lang="en-US" sz="1600" b="1"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263806334"/>
                  </a:ext>
                </a:extLst>
              </a:tr>
              <a:tr h="370840">
                <a:tc>
                  <a:txBody>
                    <a:bodyPr/>
                    <a:lstStyle/>
                    <a:p>
                      <a:r>
                        <a:rPr lang="en-US" sz="1600" dirty="0"/>
                        <a:t>Low-income</a:t>
                      </a:r>
                      <a:endParaRPr lang="en-US" sz="1600" dirty="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dirty="0"/>
                        <a:t>780</a:t>
                      </a:r>
                      <a:endParaRPr lang="en-US" sz="1600" dirty="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dirty="0"/>
                        <a:t>63</a:t>
                      </a:r>
                      <a:endParaRPr lang="en-US" sz="1600" dirty="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729976232"/>
                  </a:ext>
                </a:extLst>
              </a:tr>
              <a:tr h="370840">
                <a:tc>
                  <a:txBody>
                    <a:bodyPr/>
                    <a:lstStyle/>
                    <a:p>
                      <a:r>
                        <a:rPr lang="en-US" sz="1600" dirty="0"/>
                        <a:t>Lower middle-income</a:t>
                      </a:r>
                      <a:endParaRPr lang="en-US" sz="1600" dirty="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dirty="0"/>
                        <a:t>2,177</a:t>
                      </a:r>
                      <a:endParaRPr lang="en-US" sz="1600" dirty="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dirty="0"/>
                        <a:t>68</a:t>
                      </a:r>
                      <a:endParaRPr lang="en-US" sz="1600" dirty="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583592104"/>
                  </a:ext>
                </a:extLst>
              </a:tr>
              <a:tr h="370840">
                <a:tc>
                  <a:txBody>
                    <a:bodyPr/>
                    <a:lstStyle/>
                    <a:p>
                      <a:r>
                        <a:rPr lang="en-US" sz="1600" dirty="0"/>
                        <a:t>Upper middle-income</a:t>
                      </a:r>
                      <a:endParaRPr lang="en-US" sz="1600" dirty="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dirty="0"/>
                        <a:t>9,040</a:t>
                      </a:r>
                      <a:endParaRPr lang="en-US" sz="1600" dirty="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dirty="0"/>
                        <a:t>75</a:t>
                      </a:r>
                      <a:endParaRPr lang="en-US" sz="1600" dirty="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158276953"/>
                  </a:ext>
                </a:extLst>
              </a:tr>
              <a:tr h="370840">
                <a:tc>
                  <a:txBody>
                    <a:bodyPr/>
                    <a:lstStyle/>
                    <a:p>
                      <a:r>
                        <a:rPr lang="en-US" sz="1600" dirty="0"/>
                        <a:t>High-income</a:t>
                      </a:r>
                      <a:endParaRPr lang="en-US" sz="1600" dirty="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dirty="0"/>
                        <a:t>44,584</a:t>
                      </a:r>
                      <a:endParaRPr lang="en-US" sz="1600" dirty="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dirty="0"/>
                        <a:t>81</a:t>
                      </a:r>
                      <a:endParaRPr lang="en-US" sz="1600" dirty="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540840398"/>
                  </a:ext>
                </a:extLst>
              </a:tr>
            </a:tbl>
          </a:graphicData>
        </a:graphic>
      </p:graphicFrame>
      <p:sp>
        <p:nvSpPr>
          <p:cNvPr id="3" name="Content Placeholder 2"/>
          <p:cNvSpPr>
            <a:spLocks noGrp="1"/>
          </p:cNvSpPr>
          <p:nvPr>
            <p:ph sz="quarter" idx="14"/>
          </p:nvPr>
        </p:nvSpPr>
        <p:spPr>
          <a:xfrm>
            <a:off x="457200" y="3866756"/>
            <a:ext cx="5200650" cy="462116"/>
          </a:xfrm>
        </p:spPr>
        <p:txBody>
          <a:bodyPr/>
          <a:lstStyle/>
          <a:p>
            <a:pPr marL="432" indent="0">
              <a:buNone/>
            </a:pPr>
            <a:r>
              <a:rPr lang="en-US" sz="1600" b="1" dirty="0"/>
              <a:t>Source: </a:t>
            </a:r>
            <a:r>
              <a:rPr lang="en-US" sz="1600" dirty="0"/>
              <a:t>World Bank, </a:t>
            </a:r>
            <a:r>
              <a:rPr lang="en-US" sz="1600" b="1" dirty="0"/>
              <a:t>World Development Indicators.</a:t>
            </a:r>
          </a:p>
        </p:txBody>
      </p:sp>
    </p:spTree>
    <p:extLst>
      <p:ext uri="{BB962C8B-B14F-4D97-AF65-F5344CB8AC3E}">
        <p14:creationId xmlns:p14="http://schemas.microsoft.com/office/powerpoint/2010/main" val="174719446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ltLang="en-US" sz="3200" dirty="0"/>
              <a:t>Has the World Income Gap Narrowed Over Time?</a:t>
            </a:r>
            <a:endParaRPr lang="en-IN" sz="3200" dirty="0"/>
          </a:p>
        </p:txBody>
      </p:sp>
      <p:sp>
        <p:nvSpPr>
          <p:cNvPr id="2" name="Content Placeholder 1"/>
          <p:cNvSpPr>
            <a:spLocks noGrp="1"/>
          </p:cNvSpPr>
          <p:nvPr>
            <p:ph sz="quarter" idx="13"/>
          </p:nvPr>
        </p:nvSpPr>
        <p:spPr>
          <a:xfrm>
            <a:off x="457200" y="1556327"/>
            <a:ext cx="8285018" cy="4586896"/>
          </a:xfrm>
        </p:spPr>
        <p:txBody>
          <a:bodyPr/>
          <a:lstStyle/>
          <a:p>
            <a:r>
              <a:rPr lang="en-US" altLang="en-US" dirty="0"/>
              <a:t>While some previously middle- and low-income economies have grown faster than high-income countries, and thus have “</a:t>
            </a:r>
            <a:r>
              <a:rPr lang="en-US" altLang="ja-JP" dirty="0"/>
              <a:t>caught up” with high-income countries, others have languished.</a:t>
            </a:r>
          </a:p>
          <a:p>
            <a:pPr lvl="1"/>
            <a:r>
              <a:rPr lang="en-US" altLang="en-US" dirty="0"/>
              <a:t>The income levels of high-income countries and some previously middle-income and low-income countries have converged.</a:t>
            </a:r>
          </a:p>
          <a:p>
            <a:pPr lvl="1"/>
            <a:r>
              <a:rPr lang="en-US" altLang="en-US" dirty="0"/>
              <a:t>But the some of the poorest countries have had the lowest growth rates.</a:t>
            </a:r>
          </a:p>
        </p:txBody>
      </p:sp>
    </p:spTree>
    <p:extLst>
      <p:ext uri="{BB962C8B-B14F-4D97-AF65-F5344CB8AC3E}">
        <p14:creationId xmlns:p14="http://schemas.microsoft.com/office/powerpoint/2010/main" val="28984252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199" y="215371"/>
            <a:ext cx="8448675" cy="1097279"/>
          </a:xfrm>
        </p:spPr>
        <p:txBody>
          <a:bodyPr/>
          <a:lstStyle/>
          <a:p>
            <a:r>
              <a:rPr lang="en-US" altLang="en-US" sz="2800" dirty="0"/>
              <a:t>Table 22.2 Output per Capita in Selected Countries, 1960–2017 (in 2011 U.S. Dollars) </a:t>
            </a:r>
            <a:r>
              <a:rPr lang="en-US" altLang="en-US" sz="2000" b="0" dirty="0"/>
              <a:t>(1 of 4)</a:t>
            </a:r>
            <a:endParaRPr lang="en-US" sz="2000" dirty="0"/>
          </a:p>
        </p:txBody>
      </p:sp>
      <p:sp>
        <p:nvSpPr>
          <p:cNvPr id="3" name="Content Placeholder 2">
            <a:extLst>
              <a:ext uri="{FF2B5EF4-FFF2-40B4-BE49-F238E27FC236}">
                <a16:creationId xmlns:a16="http://schemas.microsoft.com/office/drawing/2014/main" id="{E0B15900-9B70-4B1B-8A40-9EC298792D80}"/>
              </a:ext>
            </a:extLst>
          </p:cNvPr>
          <p:cNvSpPr>
            <a:spLocks noGrp="1"/>
          </p:cNvSpPr>
          <p:nvPr>
            <p:ph sz="quarter" idx="14"/>
          </p:nvPr>
        </p:nvSpPr>
        <p:spPr>
          <a:xfrm>
            <a:off x="457200" y="1561236"/>
            <a:ext cx="2590800" cy="448539"/>
          </a:xfrm>
        </p:spPr>
        <p:txBody>
          <a:bodyPr/>
          <a:lstStyle/>
          <a:p>
            <a:pPr marL="432" indent="0">
              <a:buNone/>
            </a:pPr>
            <a:r>
              <a:rPr lang="en-US" sz="1800" b="1" dirty="0">
                <a:solidFill>
                  <a:schemeClr val="tx1"/>
                </a:solidFill>
              </a:rPr>
              <a:t>Industrialized in 1960</a:t>
            </a:r>
            <a:endParaRPr lang="en-US" sz="1800" b="1" dirty="0">
              <a:solidFill>
                <a:schemeClr val="tx1"/>
              </a:solidFill>
              <a:latin typeface="+mn-lt"/>
            </a:endParaRPr>
          </a:p>
        </p:txBody>
      </p:sp>
      <p:graphicFrame>
        <p:nvGraphicFramePr>
          <p:cNvPr id="4" name="Content Placeholder 3"/>
          <p:cNvGraphicFramePr>
            <a:graphicFrameLocks noGrp="1"/>
          </p:cNvGraphicFramePr>
          <p:nvPr>
            <p:ph sz="quarter" idx="13"/>
            <p:extLst>
              <p:ext uri="{D42A27DB-BD31-4B8C-83A1-F6EECF244321}">
                <p14:modId xmlns:p14="http://schemas.microsoft.com/office/powerpoint/2010/main" val="2115396303"/>
              </p:ext>
            </p:extLst>
          </p:nvPr>
        </p:nvGraphicFramePr>
        <p:xfrm>
          <a:off x="457200" y="2084826"/>
          <a:ext cx="8229600" cy="3722828"/>
        </p:xfrm>
        <a:graphic>
          <a:graphicData uri="http://schemas.openxmlformats.org/drawingml/2006/table">
            <a:tbl>
              <a:tblPr firstRow="1" bandRow="1">
                <a:tableStyleId>{2D5ABB26-0587-4C30-8999-92F81FD0307C}</a:tableStyleId>
              </a:tblPr>
              <a:tblGrid>
                <a:gridCol w="2057400">
                  <a:extLst>
                    <a:ext uri="{9D8B030D-6E8A-4147-A177-3AD203B41FA5}">
                      <a16:colId xmlns:a16="http://schemas.microsoft.com/office/drawing/2014/main" val="1177703397"/>
                    </a:ext>
                  </a:extLst>
                </a:gridCol>
                <a:gridCol w="2057400">
                  <a:extLst>
                    <a:ext uri="{9D8B030D-6E8A-4147-A177-3AD203B41FA5}">
                      <a16:colId xmlns:a16="http://schemas.microsoft.com/office/drawing/2014/main" val="2675781087"/>
                    </a:ext>
                  </a:extLst>
                </a:gridCol>
                <a:gridCol w="2057400">
                  <a:extLst>
                    <a:ext uri="{9D8B030D-6E8A-4147-A177-3AD203B41FA5}">
                      <a16:colId xmlns:a16="http://schemas.microsoft.com/office/drawing/2014/main" val="475346191"/>
                    </a:ext>
                  </a:extLst>
                </a:gridCol>
                <a:gridCol w="2057400">
                  <a:extLst>
                    <a:ext uri="{9D8B030D-6E8A-4147-A177-3AD203B41FA5}">
                      <a16:colId xmlns:a16="http://schemas.microsoft.com/office/drawing/2014/main" val="3828299627"/>
                    </a:ext>
                  </a:extLst>
                </a:gridCol>
              </a:tblGrid>
              <a:tr h="370840">
                <a:tc>
                  <a:txBody>
                    <a:bodyPr/>
                    <a:lstStyle/>
                    <a:p>
                      <a:pPr algn="l"/>
                      <a:r>
                        <a:rPr lang="en-US" sz="1400" b="1" noProof="0" dirty="0">
                          <a:solidFill>
                            <a:schemeClr val="tx1"/>
                          </a:solidFill>
                        </a:rPr>
                        <a:t>Country</a:t>
                      </a:r>
                      <a:endParaRPr lang="en-US" sz="1400" b="1" noProof="0" dirty="0">
                        <a:solidFill>
                          <a:schemeClr val="tx1"/>
                        </a:solidFill>
                        <a:latin typeface="+mn-lt"/>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400" b="1" i="0" u="none" strike="noStrike" cap="none" noProof="0" dirty="0">
                          <a:solidFill>
                            <a:schemeClr val="tx1"/>
                          </a:solidFill>
                          <a:effectLst/>
                          <a:latin typeface="+mn-lt"/>
                          <a:ea typeface="+mn-ea"/>
                          <a:cs typeface="+mn-cs"/>
                          <a:sym typeface="Arial"/>
                        </a:rPr>
                        <a:t>Output per Capita</a:t>
                      </a:r>
                      <a:r>
                        <a:rPr lang="en-US" sz="1400" b="1" i="0" u="none" strike="noStrike" cap="none" baseline="0" noProof="0" dirty="0">
                          <a:solidFill>
                            <a:schemeClr val="tx1"/>
                          </a:solidFill>
                          <a:effectLst/>
                          <a:latin typeface="+mn-lt"/>
                          <a:ea typeface="+mn-ea"/>
                          <a:cs typeface="+mn-cs"/>
                          <a:sym typeface="Arial"/>
                        </a:rPr>
                        <a:t> 1960</a:t>
                      </a:r>
                      <a:endParaRPr lang="en-US" sz="1400" b="1" i="0" u="none" strike="noStrike" cap="none" noProof="0" dirty="0">
                        <a:solidFill>
                          <a:schemeClr val="tx1"/>
                        </a:solidFill>
                        <a:effectLst/>
                        <a:latin typeface="+mn-lt"/>
                        <a:ea typeface="+mn-ea"/>
                        <a:cs typeface="+mn-cs"/>
                        <a:sym typeface="Aria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400" b="1" i="0" u="none" strike="noStrike" cap="none" noProof="0" dirty="0">
                          <a:solidFill>
                            <a:schemeClr val="tx1"/>
                          </a:solidFill>
                          <a:effectLst/>
                          <a:latin typeface="+mn-lt"/>
                          <a:ea typeface="+mn-ea"/>
                          <a:cs typeface="+mn-cs"/>
                          <a:sym typeface="Arial"/>
                        </a:rPr>
                        <a:t>Output per Capita 2017</a:t>
                      </a:r>
                      <a:endParaRPr lang="en-US" sz="1400" b="1" noProof="0" dirty="0">
                        <a:solidFill>
                          <a:schemeClr val="tx1"/>
                        </a:solidFill>
                        <a:latin typeface="+mn-lt"/>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400" b="1" noProof="0" dirty="0">
                          <a:solidFill>
                            <a:schemeClr val="tx1"/>
                          </a:solidFill>
                        </a:rPr>
                        <a:t>1960–2017 </a:t>
                      </a:r>
                    </a:p>
                    <a:p>
                      <a:pPr algn="ctr"/>
                      <a:r>
                        <a:rPr lang="en-US" sz="1400" b="1" noProof="0" dirty="0">
                          <a:solidFill>
                            <a:schemeClr val="tx1"/>
                          </a:solidFill>
                        </a:rPr>
                        <a:t>Annual Average Growth Rate</a:t>
                      </a:r>
                      <a:r>
                        <a:rPr lang="en-US" sz="1400" b="1" baseline="0" noProof="0" dirty="0">
                          <a:solidFill>
                            <a:schemeClr val="tx1"/>
                          </a:solidFill>
                        </a:rPr>
                        <a:t> </a:t>
                      </a:r>
                    </a:p>
                    <a:p>
                      <a:pPr algn="ctr"/>
                      <a:r>
                        <a:rPr lang="en-US" sz="1400" b="1" noProof="0" dirty="0">
                          <a:solidFill>
                            <a:schemeClr val="tx1"/>
                          </a:solidFill>
                        </a:rPr>
                        <a:t>(percent per year)</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33909765"/>
                  </a:ext>
                </a:extLst>
              </a:tr>
              <a:tr h="315302">
                <a:tc>
                  <a:txBody>
                    <a:bodyPr/>
                    <a:lstStyle/>
                    <a:p>
                      <a:pPr algn="l"/>
                      <a:r>
                        <a:rPr lang="en-US" sz="1400" noProof="0" dirty="0">
                          <a:solidFill>
                            <a:schemeClr val="tx1"/>
                          </a:solidFill>
                        </a:rPr>
                        <a:t>Canada</a:t>
                      </a:r>
                      <a:endParaRPr lang="en-US" sz="1400" noProof="0" dirty="0">
                        <a:solidFill>
                          <a:schemeClr val="tx1"/>
                        </a:solidFill>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400" noProof="0" dirty="0">
                          <a:solidFill>
                            <a:schemeClr val="tx1"/>
                          </a:solidFill>
                        </a:rPr>
                        <a:t>15,573</a:t>
                      </a:r>
                      <a:endParaRPr lang="en-US" sz="1400" noProof="0" dirty="0">
                        <a:solidFill>
                          <a:schemeClr val="tx1"/>
                        </a:solidFill>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400" noProof="0" dirty="0">
                          <a:solidFill>
                            <a:schemeClr val="tx1"/>
                          </a:solidFill>
                        </a:rPr>
                        <a:t>44,975</a:t>
                      </a:r>
                      <a:endParaRPr lang="en-US" sz="1400" noProof="0" dirty="0">
                        <a:solidFill>
                          <a:schemeClr val="tx1"/>
                        </a:solidFill>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400" noProof="0" dirty="0">
                          <a:solidFill>
                            <a:schemeClr val="tx1"/>
                          </a:solidFill>
                        </a:rPr>
                        <a:t>1.9</a:t>
                      </a:r>
                      <a:endParaRPr lang="en-US" sz="1400" noProof="0" dirty="0">
                        <a:solidFill>
                          <a:schemeClr val="tx1"/>
                        </a:solidFill>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76943934"/>
                  </a:ext>
                </a:extLst>
              </a:tr>
              <a:tr h="322118">
                <a:tc>
                  <a:txBody>
                    <a:bodyPr/>
                    <a:lstStyle/>
                    <a:p>
                      <a:pPr algn="l"/>
                      <a:r>
                        <a:rPr lang="en-US" sz="1400" noProof="0" dirty="0">
                          <a:solidFill>
                            <a:schemeClr val="tx1"/>
                          </a:solidFill>
                        </a:rPr>
                        <a:t>France</a:t>
                      </a:r>
                      <a:endParaRPr lang="en-US" sz="1400" noProof="0" dirty="0">
                        <a:solidFill>
                          <a:schemeClr val="tx1"/>
                        </a:solidFill>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400" noProof="0" dirty="0">
                          <a:solidFill>
                            <a:schemeClr val="tx1"/>
                          </a:solidFill>
                        </a:rPr>
                        <a:t>11,344</a:t>
                      </a:r>
                      <a:endParaRPr lang="en-US" sz="1400" noProof="0" dirty="0">
                        <a:solidFill>
                          <a:schemeClr val="tx1"/>
                        </a:solidFill>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400" noProof="0" dirty="0">
                          <a:solidFill>
                            <a:schemeClr val="tx1"/>
                          </a:solidFill>
                        </a:rPr>
                        <a:t>38,170</a:t>
                      </a:r>
                      <a:endParaRPr lang="en-US" sz="1400" noProof="0" dirty="0">
                        <a:solidFill>
                          <a:schemeClr val="tx1"/>
                        </a:solidFill>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400" noProof="0" dirty="0">
                          <a:solidFill>
                            <a:schemeClr val="tx1"/>
                          </a:solidFill>
                        </a:rPr>
                        <a:t>2.2</a:t>
                      </a:r>
                      <a:endParaRPr lang="en-US" sz="1400" noProof="0" dirty="0">
                        <a:solidFill>
                          <a:schemeClr val="tx1"/>
                        </a:solidFill>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113341180"/>
                  </a:ext>
                </a:extLst>
              </a:tr>
              <a:tr h="280555">
                <a:tc>
                  <a:txBody>
                    <a:bodyPr/>
                    <a:lstStyle/>
                    <a:p>
                      <a:pPr algn="l"/>
                      <a:r>
                        <a:rPr lang="en-US" sz="1400" b="0" i="0" u="none" strike="noStrike" cap="none" baseline="0" noProof="0" dirty="0" smtClean="0">
                          <a:solidFill>
                            <a:schemeClr val="tx1"/>
                          </a:solidFill>
                          <a:latin typeface="+mn-lt"/>
                          <a:ea typeface="+mn-ea"/>
                          <a:cs typeface="+mn-cs"/>
                          <a:sym typeface="Arial"/>
                        </a:rPr>
                        <a:t>Germany</a:t>
                      </a:r>
                      <a:endParaRPr lang="en-US" sz="1400" noProof="0" dirty="0">
                        <a:solidFill>
                          <a:schemeClr val="tx1"/>
                        </a:solidFill>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400" noProof="0" dirty="0">
                          <a:solidFill>
                            <a:schemeClr val="tx1"/>
                          </a:solidFill>
                        </a:rPr>
                        <a:t>13,337</a:t>
                      </a:r>
                      <a:endParaRPr lang="en-US" sz="1400" noProof="0" dirty="0">
                        <a:solidFill>
                          <a:schemeClr val="tx1"/>
                        </a:solidFill>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400" noProof="0" dirty="0">
                          <a:solidFill>
                            <a:schemeClr val="tx1"/>
                          </a:solidFill>
                        </a:rPr>
                        <a:t>46,349</a:t>
                      </a:r>
                      <a:endParaRPr lang="en-US" sz="1400" noProof="0" dirty="0">
                        <a:solidFill>
                          <a:schemeClr val="tx1"/>
                        </a:solidFill>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400" noProof="0" dirty="0">
                          <a:solidFill>
                            <a:schemeClr val="tx1"/>
                          </a:solidFill>
                        </a:rPr>
                        <a:t>2.2</a:t>
                      </a:r>
                      <a:endParaRPr lang="en-US" sz="1400" noProof="0" dirty="0">
                        <a:solidFill>
                          <a:schemeClr val="tx1"/>
                        </a:solidFill>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096374431"/>
                  </a:ext>
                </a:extLst>
              </a:tr>
              <a:tr h="297873">
                <a:tc>
                  <a:txBody>
                    <a:bodyPr/>
                    <a:lstStyle/>
                    <a:p>
                      <a:pPr algn="l"/>
                      <a:r>
                        <a:rPr lang="en-US" sz="1400" noProof="0" dirty="0">
                          <a:solidFill>
                            <a:schemeClr val="tx1"/>
                          </a:solidFill>
                        </a:rPr>
                        <a:t>Italy</a:t>
                      </a:r>
                      <a:endParaRPr lang="en-US" sz="1400" noProof="0" dirty="0">
                        <a:solidFill>
                          <a:schemeClr val="tx1"/>
                        </a:solidFill>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400" noProof="0" dirty="0">
                          <a:solidFill>
                            <a:schemeClr val="tx1"/>
                          </a:solidFill>
                        </a:rPr>
                        <a:t>10,176</a:t>
                      </a:r>
                      <a:endParaRPr lang="en-US" sz="1400" noProof="0" dirty="0">
                        <a:solidFill>
                          <a:schemeClr val="tx1"/>
                        </a:solidFill>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400" noProof="0" dirty="0">
                          <a:solidFill>
                            <a:schemeClr val="tx1"/>
                          </a:solidFill>
                        </a:rPr>
                        <a:t>35,668</a:t>
                      </a:r>
                      <a:endParaRPr lang="en-US" sz="1400" noProof="0" dirty="0">
                        <a:solidFill>
                          <a:schemeClr val="tx1"/>
                        </a:solidFill>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400" noProof="0" dirty="0">
                          <a:solidFill>
                            <a:schemeClr val="tx1"/>
                          </a:solidFill>
                        </a:rPr>
                        <a:t>2.2</a:t>
                      </a:r>
                      <a:endParaRPr lang="en-US" sz="1400" noProof="0" dirty="0">
                        <a:solidFill>
                          <a:schemeClr val="tx1"/>
                        </a:solidFill>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062346127"/>
                  </a:ext>
                </a:extLst>
              </a:tr>
              <a:tr h="304800">
                <a:tc>
                  <a:txBody>
                    <a:bodyPr/>
                    <a:lstStyle/>
                    <a:p>
                      <a:pPr algn="l"/>
                      <a:r>
                        <a:rPr lang="en-US" sz="1400" noProof="0" dirty="0">
                          <a:solidFill>
                            <a:schemeClr val="tx1"/>
                          </a:solidFill>
                        </a:rPr>
                        <a:t>Japan</a:t>
                      </a:r>
                      <a:endParaRPr lang="en-US" sz="1400" noProof="0" dirty="0">
                        <a:solidFill>
                          <a:schemeClr val="tx1"/>
                        </a:solidFill>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400" noProof="0" dirty="0">
                          <a:solidFill>
                            <a:schemeClr val="tx1"/>
                          </a:solidFill>
                        </a:rPr>
                        <a:t>6,400</a:t>
                      </a:r>
                      <a:endParaRPr lang="en-US" sz="1400" noProof="0" dirty="0">
                        <a:solidFill>
                          <a:schemeClr val="tx1"/>
                        </a:solidFill>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400" noProof="0" dirty="0">
                          <a:solidFill>
                            <a:schemeClr val="tx1"/>
                          </a:solidFill>
                        </a:rPr>
                        <a:t>39,381</a:t>
                      </a:r>
                      <a:endParaRPr lang="en-US" sz="1400" noProof="0" dirty="0">
                        <a:solidFill>
                          <a:schemeClr val="tx1"/>
                        </a:solidFill>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400" noProof="0" dirty="0">
                          <a:solidFill>
                            <a:schemeClr val="tx1"/>
                          </a:solidFill>
                        </a:rPr>
                        <a:t>3.2</a:t>
                      </a:r>
                      <a:endParaRPr lang="en-US" sz="1400" noProof="0" dirty="0">
                        <a:solidFill>
                          <a:schemeClr val="tx1"/>
                        </a:solidFill>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605735222"/>
                  </a:ext>
                </a:extLst>
              </a:tr>
              <a:tr h="301337">
                <a:tc>
                  <a:txBody>
                    <a:bodyPr/>
                    <a:lstStyle/>
                    <a:p>
                      <a:pPr algn="l"/>
                      <a:r>
                        <a:rPr lang="en-US" sz="1400" noProof="0" dirty="0">
                          <a:solidFill>
                            <a:schemeClr val="tx1"/>
                          </a:solidFill>
                        </a:rPr>
                        <a:t>Spain</a:t>
                      </a:r>
                      <a:endParaRPr lang="en-US" sz="1400" noProof="0" dirty="0">
                        <a:solidFill>
                          <a:schemeClr val="tx1"/>
                        </a:solidFill>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400" noProof="0" dirty="0">
                          <a:solidFill>
                            <a:schemeClr val="tx1"/>
                          </a:solidFill>
                        </a:rPr>
                        <a:t>7,301</a:t>
                      </a:r>
                      <a:endParaRPr lang="en-US" sz="1400" noProof="0" dirty="0">
                        <a:solidFill>
                          <a:schemeClr val="tx1"/>
                        </a:solidFill>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400" noProof="0" dirty="0">
                          <a:solidFill>
                            <a:schemeClr val="tx1"/>
                          </a:solidFill>
                        </a:rPr>
                        <a:t>33,593</a:t>
                      </a:r>
                      <a:endParaRPr lang="en-US" sz="1400" noProof="0" dirty="0">
                        <a:solidFill>
                          <a:schemeClr val="tx1"/>
                        </a:solidFill>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400" noProof="0" dirty="0">
                          <a:solidFill>
                            <a:schemeClr val="tx1"/>
                          </a:solidFill>
                        </a:rPr>
                        <a:t>2.7</a:t>
                      </a:r>
                      <a:endParaRPr lang="en-US" sz="1400" noProof="0" dirty="0">
                        <a:solidFill>
                          <a:schemeClr val="tx1"/>
                        </a:solidFill>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21993372"/>
                  </a:ext>
                </a:extLst>
              </a:tr>
              <a:tr h="245919">
                <a:tc>
                  <a:txBody>
                    <a:bodyPr/>
                    <a:lstStyle/>
                    <a:p>
                      <a:pPr algn="l"/>
                      <a:r>
                        <a:rPr lang="en-US" sz="1400" noProof="0" dirty="0">
                          <a:solidFill>
                            <a:schemeClr val="tx1"/>
                          </a:solidFill>
                        </a:rPr>
                        <a:t>Sweden</a:t>
                      </a:r>
                      <a:endParaRPr lang="en-US" sz="1400" noProof="0" dirty="0">
                        <a:solidFill>
                          <a:schemeClr val="tx1"/>
                        </a:solidFill>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400" noProof="0" dirty="0">
                          <a:solidFill>
                            <a:schemeClr val="tx1"/>
                          </a:solidFill>
                        </a:rPr>
                        <a:t>14,478</a:t>
                      </a:r>
                      <a:endParaRPr lang="en-US" sz="1400" noProof="0" dirty="0">
                        <a:solidFill>
                          <a:schemeClr val="tx1"/>
                        </a:solidFill>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400" noProof="0" dirty="0">
                          <a:solidFill>
                            <a:schemeClr val="tx1"/>
                          </a:solidFill>
                        </a:rPr>
                        <a:t>45,844</a:t>
                      </a:r>
                      <a:endParaRPr lang="en-US" sz="1400" noProof="0" dirty="0">
                        <a:solidFill>
                          <a:schemeClr val="tx1"/>
                        </a:solidFill>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400" noProof="0" dirty="0">
                          <a:solidFill>
                            <a:schemeClr val="tx1"/>
                          </a:solidFill>
                        </a:rPr>
                        <a:t>2.0</a:t>
                      </a:r>
                      <a:endParaRPr lang="en-US" sz="1400" noProof="0" dirty="0">
                        <a:solidFill>
                          <a:schemeClr val="tx1"/>
                        </a:solidFill>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338992753"/>
                  </a:ext>
                </a:extLst>
              </a:tr>
              <a:tr h="304800">
                <a:tc>
                  <a:txBody>
                    <a:bodyPr/>
                    <a:lstStyle/>
                    <a:p>
                      <a:pPr algn="l"/>
                      <a:r>
                        <a:rPr lang="en-US" sz="1400" noProof="0" dirty="0">
                          <a:solidFill>
                            <a:schemeClr val="tx1"/>
                          </a:solidFill>
                        </a:rPr>
                        <a:t>United Kingdom</a:t>
                      </a:r>
                      <a:endParaRPr lang="en-US" sz="1400" noProof="0" dirty="0">
                        <a:solidFill>
                          <a:schemeClr val="tx1"/>
                        </a:solidFill>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400" noProof="0" dirty="0">
                          <a:solidFill>
                            <a:schemeClr val="tx1"/>
                          </a:solidFill>
                        </a:rPr>
                        <a:t>12,719</a:t>
                      </a:r>
                      <a:endParaRPr lang="en-US" sz="1400" noProof="0" dirty="0">
                        <a:solidFill>
                          <a:schemeClr val="tx1"/>
                        </a:solidFill>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400" noProof="0" dirty="0">
                          <a:solidFill>
                            <a:schemeClr val="tx1"/>
                          </a:solidFill>
                        </a:rPr>
                        <a:t>38,153</a:t>
                      </a:r>
                      <a:endParaRPr lang="en-US" sz="1400" noProof="0" dirty="0">
                        <a:solidFill>
                          <a:schemeClr val="tx1"/>
                        </a:solidFill>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400" noProof="0" dirty="0">
                          <a:solidFill>
                            <a:schemeClr val="tx1"/>
                          </a:solidFill>
                        </a:rPr>
                        <a:t>1.9</a:t>
                      </a:r>
                      <a:endParaRPr lang="en-US" sz="1400" noProof="0" dirty="0">
                        <a:solidFill>
                          <a:schemeClr val="tx1"/>
                        </a:solidFill>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684207861"/>
                  </a:ext>
                </a:extLst>
              </a:tr>
              <a:tr h="311728">
                <a:tc>
                  <a:txBody>
                    <a:bodyPr/>
                    <a:lstStyle/>
                    <a:p>
                      <a:pPr algn="l"/>
                      <a:r>
                        <a:rPr lang="en-US" sz="1400" noProof="0" dirty="0">
                          <a:solidFill>
                            <a:schemeClr val="tx1"/>
                          </a:solidFill>
                        </a:rPr>
                        <a:t>United States</a:t>
                      </a:r>
                      <a:endParaRPr lang="en-US" sz="1400" noProof="0" dirty="0">
                        <a:solidFill>
                          <a:schemeClr val="tx1"/>
                        </a:solidFill>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400" noProof="0" dirty="0">
                          <a:solidFill>
                            <a:schemeClr val="tx1"/>
                          </a:solidFill>
                        </a:rPr>
                        <a:t>17,319</a:t>
                      </a:r>
                      <a:endParaRPr lang="en-US" sz="1400" noProof="0" dirty="0">
                        <a:solidFill>
                          <a:schemeClr val="tx1"/>
                        </a:solidFill>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400" noProof="0" dirty="0">
                          <a:solidFill>
                            <a:schemeClr val="tx1"/>
                          </a:solidFill>
                        </a:rPr>
                        <a:t>54,586</a:t>
                      </a:r>
                      <a:endParaRPr lang="en-US" sz="1400" noProof="0" dirty="0">
                        <a:solidFill>
                          <a:schemeClr val="tx1"/>
                        </a:solidFill>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400" noProof="0" dirty="0">
                          <a:solidFill>
                            <a:schemeClr val="tx1"/>
                          </a:solidFill>
                        </a:rPr>
                        <a:t>2.0</a:t>
                      </a:r>
                      <a:endParaRPr lang="en-US" sz="1400" noProof="0" dirty="0">
                        <a:solidFill>
                          <a:schemeClr val="tx1"/>
                        </a:solidFill>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6228969"/>
                  </a:ext>
                </a:extLst>
              </a:tr>
            </a:tbl>
          </a:graphicData>
        </a:graphic>
      </p:graphicFrame>
    </p:spTree>
    <p:extLst>
      <p:ext uri="{BB962C8B-B14F-4D97-AF65-F5344CB8AC3E}">
        <p14:creationId xmlns:p14="http://schemas.microsoft.com/office/powerpoint/2010/main" val="293357644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199" y="215371"/>
            <a:ext cx="8448675" cy="1097279"/>
          </a:xfrm>
        </p:spPr>
        <p:txBody>
          <a:bodyPr/>
          <a:lstStyle/>
          <a:p>
            <a:r>
              <a:rPr lang="en-US" altLang="en-US" sz="2800" dirty="0"/>
              <a:t>Table 22.2 Output per Capita in Selected Countries, 1960–2017 (in 2011 U.S. Dollars) </a:t>
            </a:r>
            <a:r>
              <a:rPr lang="en-US" altLang="en-US" sz="2000" b="0" dirty="0"/>
              <a:t>(2 of 4)</a:t>
            </a:r>
            <a:endParaRPr lang="en-US" sz="2000" dirty="0"/>
          </a:p>
        </p:txBody>
      </p:sp>
      <p:sp>
        <p:nvSpPr>
          <p:cNvPr id="3" name="Content Placeholder 2">
            <a:extLst>
              <a:ext uri="{FF2B5EF4-FFF2-40B4-BE49-F238E27FC236}">
                <a16:creationId xmlns:a16="http://schemas.microsoft.com/office/drawing/2014/main" id="{F25E9F3A-2138-4423-98B6-4EEA272E4D4F}"/>
              </a:ext>
            </a:extLst>
          </p:cNvPr>
          <p:cNvSpPr>
            <a:spLocks noGrp="1"/>
          </p:cNvSpPr>
          <p:nvPr>
            <p:ph sz="quarter" idx="14"/>
          </p:nvPr>
        </p:nvSpPr>
        <p:spPr>
          <a:xfrm>
            <a:off x="457200" y="1571626"/>
            <a:ext cx="872836" cy="433820"/>
          </a:xfrm>
        </p:spPr>
        <p:txBody>
          <a:bodyPr/>
          <a:lstStyle/>
          <a:p>
            <a:pPr marL="432" indent="0">
              <a:buNone/>
            </a:pPr>
            <a:r>
              <a:rPr lang="en-US" sz="1800" b="1" u="none" strike="noStrike" kern="1200" baseline="0" dirty="0"/>
              <a:t>Africa</a:t>
            </a:r>
            <a:endParaRPr lang="en-US" sz="1800" b="1" dirty="0">
              <a:solidFill>
                <a:schemeClr val="tx1"/>
              </a:solidFill>
            </a:endParaRPr>
          </a:p>
        </p:txBody>
      </p:sp>
      <p:graphicFrame>
        <p:nvGraphicFramePr>
          <p:cNvPr id="4" name="Content Placeholder 3"/>
          <p:cNvGraphicFramePr>
            <a:graphicFrameLocks noGrp="1"/>
          </p:cNvGraphicFramePr>
          <p:nvPr>
            <p:ph sz="quarter" idx="13"/>
            <p:extLst>
              <p:ext uri="{D42A27DB-BD31-4B8C-83A1-F6EECF244321}">
                <p14:modId xmlns:p14="http://schemas.microsoft.com/office/powerpoint/2010/main" val="201999089"/>
              </p:ext>
            </p:extLst>
          </p:nvPr>
        </p:nvGraphicFramePr>
        <p:xfrm>
          <a:off x="457200" y="2293503"/>
          <a:ext cx="8229600" cy="2799080"/>
        </p:xfrm>
        <a:graphic>
          <a:graphicData uri="http://schemas.openxmlformats.org/drawingml/2006/table">
            <a:tbl>
              <a:tblPr firstRow="1" bandRow="1">
                <a:tableStyleId>{2D5ABB26-0587-4C30-8999-92F81FD0307C}</a:tableStyleId>
              </a:tblPr>
              <a:tblGrid>
                <a:gridCol w="2057400">
                  <a:extLst>
                    <a:ext uri="{9D8B030D-6E8A-4147-A177-3AD203B41FA5}">
                      <a16:colId xmlns:a16="http://schemas.microsoft.com/office/drawing/2014/main" val="1177703397"/>
                    </a:ext>
                  </a:extLst>
                </a:gridCol>
                <a:gridCol w="2057400">
                  <a:extLst>
                    <a:ext uri="{9D8B030D-6E8A-4147-A177-3AD203B41FA5}">
                      <a16:colId xmlns:a16="http://schemas.microsoft.com/office/drawing/2014/main" val="2675781087"/>
                    </a:ext>
                  </a:extLst>
                </a:gridCol>
                <a:gridCol w="2057400">
                  <a:extLst>
                    <a:ext uri="{9D8B030D-6E8A-4147-A177-3AD203B41FA5}">
                      <a16:colId xmlns:a16="http://schemas.microsoft.com/office/drawing/2014/main" val="475346191"/>
                    </a:ext>
                  </a:extLst>
                </a:gridCol>
                <a:gridCol w="2057400">
                  <a:extLst>
                    <a:ext uri="{9D8B030D-6E8A-4147-A177-3AD203B41FA5}">
                      <a16:colId xmlns:a16="http://schemas.microsoft.com/office/drawing/2014/main" val="3828299627"/>
                    </a:ext>
                  </a:extLst>
                </a:gridCol>
              </a:tblGrid>
              <a:tr h="370840">
                <a:tc>
                  <a:txBody>
                    <a:bodyPr/>
                    <a:lstStyle/>
                    <a:p>
                      <a:pPr algn="l"/>
                      <a:r>
                        <a:rPr lang="en-US" sz="1400" b="1" dirty="0">
                          <a:solidFill>
                            <a:schemeClr val="tx1"/>
                          </a:solidFill>
                        </a:rPr>
                        <a:t>Country</a:t>
                      </a:r>
                      <a:endParaRPr lang="en-US" sz="1400" b="1" dirty="0">
                        <a:solidFill>
                          <a:schemeClr val="tx1"/>
                        </a:solidFill>
                        <a:latin typeface="+mn-lt"/>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400" b="1" i="0" u="none" strike="noStrike" cap="none" dirty="0">
                          <a:solidFill>
                            <a:schemeClr val="tx1"/>
                          </a:solidFill>
                          <a:effectLst/>
                          <a:latin typeface="+mn-lt"/>
                          <a:ea typeface="+mn-ea"/>
                          <a:cs typeface="+mn-cs"/>
                          <a:sym typeface="Arial"/>
                        </a:rPr>
                        <a:t>Output per Capita</a:t>
                      </a:r>
                      <a:r>
                        <a:rPr lang="en-US" sz="1400" b="1" i="0" u="none" strike="noStrike" cap="none" baseline="0" dirty="0">
                          <a:solidFill>
                            <a:schemeClr val="tx1"/>
                          </a:solidFill>
                          <a:effectLst/>
                          <a:latin typeface="+mn-lt"/>
                          <a:ea typeface="+mn-ea"/>
                          <a:cs typeface="+mn-cs"/>
                          <a:sym typeface="Arial"/>
                        </a:rPr>
                        <a:t> 1960</a:t>
                      </a:r>
                      <a:endParaRPr lang="en-US" sz="1400" b="1" i="0" u="none" strike="noStrike" cap="none" dirty="0">
                        <a:solidFill>
                          <a:schemeClr val="tx1"/>
                        </a:solidFill>
                        <a:effectLst/>
                        <a:latin typeface="+mn-lt"/>
                        <a:ea typeface="+mn-ea"/>
                        <a:cs typeface="+mn-cs"/>
                        <a:sym typeface="Aria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400" b="1" i="0" u="none" strike="noStrike" cap="none" dirty="0">
                          <a:solidFill>
                            <a:schemeClr val="tx1"/>
                          </a:solidFill>
                          <a:effectLst/>
                          <a:latin typeface="+mn-lt"/>
                          <a:ea typeface="+mn-ea"/>
                          <a:cs typeface="+mn-cs"/>
                          <a:sym typeface="Arial"/>
                        </a:rPr>
                        <a:t>Output per Capita 2017</a:t>
                      </a:r>
                      <a:endParaRPr lang="en-US" sz="1400" b="1" dirty="0">
                        <a:solidFill>
                          <a:schemeClr val="tx1"/>
                        </a:solidFill>
                        <a:latin typeface="+mn-lt"/>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400" b="1" dirty="0">
                          <a:solidFill>
                            <a:schemeClr val="tx1"/>
                          </a:solidFill>
                        </a:rPr>
                        <a:t>1960–2017 </a:t>
                      </a:r>
                    </a:p>
                    <a:p>
                      <a:pPr algn="ctr"/>
                      <a:r>
                        <a:rPr lang="en-US" sz="1400" b="1" dirty="0">
                          <a:solidFill>
                            <a:schemeClr val="tx1"/>
                          </a:solidFill>
                        </a:rPr>
                        <a:t>Annual Average Growth Rate</a:t>
                      </a:r>
                      <a:r>
                        <a:rPr lang="en-US" sz="1400" b="1" baseline="0" dirty="0">
                          <a:solidFill>
                            <a:schemeClr val="tx1"/>
                          </a:solidFill>
                        </a:rPr>
                        <a:t> </a:t>
                      </a:r>
                    </a:p>
                    <a:p>
                      <a:pPr algn="ctr"/>
                      <a:r>
                        <a:rPr lang="en-US" sz="1400" b="1" dirty="0">
                          <a:solidFill>
                            <a:schemeClr val="tx1"/>
                          </a:solidFill>
                        </a:rPr>
                        <a:t>(percent per year)</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33909765"/>
                  </a:ext>
                </a:extLst>
              </a:tr>
              <a:tr h="370840">
                <a:tc>
                  <a:txBody>
                    <a:bodyPr/>
                    <a:lstStyle/>
                    <a:p>
                      <a:pPr algn="l"/>
                      <a:r>
                        <a:rPr lang="en-US" sz="1400" u="none" strike="noStrike" kern="1200" baseline="0" dirty="0"/>
                        <a:t>Kenya</a:t>
                      </a:r>
                      <a:endParaRPr lang="en-US" sz="1400" b="1" dirty="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400" dirty="0"/>
                        <a:t>1,952</a:t>
                      </a:r>
                      <a:endParaRPr lang="en-US" sz="1400" dirty="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400" dirty="0"/>
                        <a:t>3,090</a:t>
                      </a:r>
                      <a:endParaRPr lang="en-US" sz="1400" dirty="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400" dirty="0">
                          <a:solidFill>
                            <a:schemeClr val="tx1"/>
                          </a:solidFill>
                        </a:rPr>
                        <a:t>0.8</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76943934"/>
                  </a:ext>
                </a:extLst>
              </a:tr>
              <a:tr h="370840">
                <a:tc>
                  <a:txBody>
                    <a:bodyPr/>
                    <a:lstStyle/>
                    <a:p>
                      <a:pPr algn="l"/>
                      <a:r>
                        <a:rPr lang="en-US" sz="1400" u="none" strike="noStrike" kern="1200" baseline="0" dirty="0"/>
                        <a:t>Nigeria</a:t>
                      </a:r>
                      <a:endParaRPr lang="en-US" sz="1400" b="1" dirty="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400" dirty="0"/>
                        <a:t>2.665</a:t>
                      </a:r>
                      <a:endParaRPr lang="en-US" sz="1400" dirty="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400" dirty="0"/>
                        <a:t>5,270</a:t>
                      </a:r>
                      <a:endParaRPr lang="en-US" sz="1400" dirty="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400" dirty="0">
                          <a:solidFill>
                            <a:schemeClr val="tx1"/>
                          </a:solidFill>
                        </a:rPr>
                        <a:t>1.2</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113341180"/>
                  </a:ext>
                </a:extLst>
              </a:tr>
              <a:tr h="370840">
                <a:tc>
                  <a:txBody>
                    <a:bodyPr/>
                    <a:lstStyle/>
                    <a:p>
                      <a:pPr algn="l"/>
                      <a:r>
                        <a:rPr lang="en-US" sz="1400" u="none" strike="noStrike" kern="1200" baseline="0" dirty="0"/>
                        <a:t>Senegal</a:t>
                      </a:r>
                      <a:endParaRPr lang="en-US" sz="1400" b="1" dirty="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400" dirty="0"/>
                        <a:t>2.917</a:t>
                      </a:r>
                      <a:endParaRPr lang="en-US" sz="1400" dirty="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400" dirty="0"/>
                        <a:t>3,111</a:t>
                      </a:r>
                      <a:endParaRPr lang="en-US" sz="1400" dirty="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400" dirty="0">
                          <a:solidFill>
                            <a:schemeClr val="tx1"/>
                          </a:solidFill>
                        </a:rPr>
                        <a:t>0.1</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096374431"/>
                  </a:ext>
                </a:extLst>
              </a:tr>
              <a:tr h="370840">
                <a:tc>
                  <a:txBody>
                    <a:bodyPr/>
                    <a:lstStyle/>
                    <a:p>
                      <a:pPr algn="l"/>
                      <a:r>
                        <a:rPr lang="en-US" sz="1400" dirty="0"/>
                        <a:t>South Africa</a:t>
                      </a:r>
                      <a:endParaRPr lang="en-US" sz="1400" b="0" dirty="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400" dirty="0"/>
                        <a:t>7,204</a:t>
                      </a:r>
                      <a:endParaRPr lang="en-US" sz="1400" dirty="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400" dirty="0"/>
                        <a:t>12,004</a:t>
                      </a:r>
                      <a:endParaRPr lang="en-US" sz="1400" dirty="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400" dirty="0">
                          <a:solidFill>
                            <a:schemeClr val="tx1"/>
                          </a:solidFill>
                        </a:rPr>
                        <a:t>0.9</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062346127"/>
                  </a:ext>
                </a:extLst>
              </a:tr>
              <a:tr h="370840">
                <a:tc>
                  <a:txBody>
                    <a:bodyPr/>
                    <a:lstStyle/>
                    <a:p>
                      <a:pPr algn="l"/>
                      <a:r>
                        <a:rPr lang="en-US" sz="1400" u="none" strike="noStrike" kern="1200" baseline="0" dirty="0"/>
                        <a:t>Zimbabwe</a:t>
                      </a:r>
                      <a:endParaRPr lang="en-US" sz="1400" b="1" dirty="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400" dirty="0"/>
                        <a:t>1,132</a:t>
                      </a:r>
                      <a:endParaRPr lang="en-US" sz="1400" dirty="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400" dirty="0"/>
                        <a:t>1,914</a:t>
                      </a:r>
                      <a:endParaRPr lang="en-US" sz="1400" dirty="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400" dirty="0">
                          <a:solidFill>
                            <a:schemeClr val="tx1"/>
                          </a:solidFill>
                        </a:rPr>
                        <a:t>0.9</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605735222"/>
                  </a:ext>
                </a:extLst>
              </a:tr>
            </a:tbl>
          </a:graphicData>
        </a:graphic>
      </p:graphicFrame>
    </p:spTree>
    <p:extLst>
      <p:ext uri="{BB962C8B-B14F-4D97-AF65-F5344CB8AC3E}">
        <p14:creationId xmlns:p14="http://schemas.microsoft.com/office/powerpoint/2010/main" val="91442454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199" y="215371"/>
            <a:ext cx="8458201" cy="1097279"/>
          </a:xfrm>
        </p:spPr>
        <p:txBody>
          <a:bodyPr/>
          <a:lstStyle/>
          <a:p>
            <a:r>
              <a:rPr lang="en-US" altLang="en-US" sz="2800" dirty="0"/>
              <a:t>Table 22.2 Output per Capita in Selected Countries, 1960–2017 (in 2011 U.S. Dollars) </a:t>
            </a:r>
            <a:r>
              <a:rPr lang="en-US" altLang="en-US" sz="2000" b="0" dirty="0"/>
              <a:t>(3 of 4)</a:t>
            </a:r>
            <a:endParaRPr lang="en-US" sz="2000" dirty="0"/>
          </a:p>
        </p:txBody>
      </p:sp>
      <p:sp>
        <p:nvSpPr>
          <p:cNvPr id="5" name="Content Placeholder 4">
            <a:extLst>
              <a:ext uri="{FF2B5EF4-FFF2-40B4-BE49-F238E27FC236}">
                <a16:creationId xmlns:a16="http://schemas.microsoft.com/office/drawing/2014/main" id="{630DB549-77CD-484E-B949-673866AA7B98}"/>
              </a:ext>
            </a:extLst>
          </p:cNvPr>
          <p:cNvSpPr>
            <a:spLocks noGrp="1"/>
          </p:cNvSpPr>
          <p:nvPr>
            <p:ph sz="quarter" idx="14"/>
          </p:nvPr>
        </p:nvSpPr>
        <p:spPr>
          <a:xfrm>
            <a:off x="457200" y="1550843"/>
            <a:ext cx="1914525" cy="413039"/>
          </a:xfrm>
        </p:spPr>
        <p:txBody>
          <a:bodyPr/>
          <a:lstStyle/>
          <a:p>
            <a:pPr marL="432" indent="0">
              <a:buNone/>
            </a:pPr>
            <a:r>
              <a:rPr lang="en-US" sz="1800" b="1" dirty="0"/>
              <a:t>Latin America</a:t>
            </a:r>
            <a:endParaRPr lang="en-US" sz="1800" b="1" dirty="0">
              <a:solidFill>
                <a:schemeClr val="tx1"/>
              </a:solidFill>
            </a:endParaRPr>
          </a:p>
        </p:txBody>
      </p:sp>
      <p:graphicFrame>
        <p:nvGraphicFramePr>
          <p:cNvPr id="4" name="Content Placeholder 3"/>
          <p:cNvGraphicFramePr>
            <a:graphicFrameLocks noGrp="1"/>
          </p:cNvGraphicFramePr>
          <p:nvPr>
            <p:ph sz="quarter" idx="13"/>
            <p:extLst>
              <p:ext uri="{D42A27DB-BD31-4B8C-83A1-F6EECF244321}">
                <p14:modId xmlns:p14="http://schemas.microsoft.com/office/powerpoint/2010/main" val="830353366"/>
              </p:ext>
            </p:extLst>
          </p:nvPr>
        </p:nvGraphicFramePr>
        <p:xfrm>
          <a:off x="457200" y="2116864"/>
          <a:ext cx="8229600" cy="3833899"/>
        </p:xfrm>
        <a:graphic>
          <a:graphicData uri="http://schemas.openxmlformats.org/drawingml/2006/table">
            <a:tbl>
              <a:tblPr firstRow="1" bandRow="1">
                <a:tableStyleId>{2D5ABB26-0587-4C30-8999-92F81FD0307C}</a:tableStyleId>
              </a:tblPr>
              <a:tblGrid>
                <a:gridCol w="2057400">
                  <a:extLst>
                    <a:ext uri="{9D8B030D-6E8A-4147-A177-3AD203B41FA5}">
                      <a16:colId xmlns:a16="http://schemas.microsoft.com/office/drawing/2014/main" val="1177703397"/>
                    </a:ext>
                  </a:extLst>
                </a:gridCol>
                <a:gridCol w="2057400">
                  <a:extLst>
                    <a:ext uri="{9D8B030D-6E8A-4147-A177-3AD203B41FA5}">
                      <a16:colId xmlns:a16="http://schemas.microsoft.com/office/drawing/2014/main" val="2675781087"/>
                    </a:ext>
                  </a:extLst>
                </a:gridCol>
                <a:gridCol w="2057400">
                  <a:extLst>
                    <a:ext uri="{9D8B030D-6E8A-4147-A177-3AD203B41FA5}">
                      <a16:colId xmlns:a16="http://schemas.microsoft.com/office/drawing/2014/main" val="475346191"/>
                    </a:ext>
                  </a:extLst>
                </a:gridCol>
                <a:gridCol w="2057400">
                  <a:extLst>
                    <a:ext uri="{9D8B030D-6E8A-4147-A177-3AD203B41FA5}">
                      <a16:colId xmlns:a16="http://schemas.microsoft.com/office/drawing/2014/main" val="3828299627"/>
                    </a:ext>
                  </a:extLst>
                </a:gridCol>
              </a:tblGrid>
              <a:tr h="370840">
                <a:tc>
                  <a:txBody>
                    <a:bodyPr/>
                    <a:lstStyle/>
                    <a:p>
                      <a:pPr algn="l"/>
                      <a:r>
                        <a:rPr lang="en-US" sz="1400" b="1" dirty="0">
                          <a:solidFill>
                            <a:schemeClr val="tx1"/>
                          </a:solidFill>
                        </a:rPr>
                        <a:t>Country</a:t>
                      </a:r>
                      <a:endParaRPr lang="en-US" sz="1400" b="1" dirty="0">
                        <a:solidFill>
                          <a:schemeClr val="tx1"/>
                        </a:solidFill>
                        <a:latin typeface="+mn-lt"/>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400" b="1" i="0" u="none" strike="noStrike" cap="none" dirty="0">
                          <a:solidFill>
                            <a:schemeClr val="tx1"/>
                          </a:solidFill>
                          <a:effectLst/>
                          <a:latin typeface="+mn-lt"/>
                          <a:ea typeface="+mn-ea"/>
                          <a:cs typeface="+mn-cs"/>
                          <a:sym typeface="Arial"/>
                        </a:rPr>
                        <a:t>Output per Capita</a:t>
                      </a:r>
                      <a:r>
                        <a:rPr lang="en-US" sz="1400" b="1" i="0" u="none" strike="noStrike" cap="none" baseline="0" dirty="0">
                          <a:solidFill>
                            <a:schemeClr val="tx1"/>
                          </a:solidFill>
                          <a:effectLst/>
                          <a:latin typeface="+mn-lt"/>
                          <a:ea typeface="+mn-ea"/>
                          <a:cs typeface="+mn-cs"/>
                          <a:sym typeface="Arial"/>
                        </a:rPr>
                        <a:t> 1960</a:t>
                      </a:r>
                      <a:endParaRPr lang="en-US" sz="1400" b="1" i="0" u="none" strike="noStrike" cap="none" dirty="0">
                        <a:solidFill>
                          <a:schemeClr val="tx1"/>
                        </a:solidFill>
                        <a:effectLst/>
                        <a:latin typeface="+mn-lt"/>
                        <a:ea typeface="+mn-ea"/>
                        <a:cs typeface="+mn-cs"/>
                        <a:sym typeface="Aria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400" b="1" i="0" u="none" strike="noStrike" cap="none" dirty="0">
                          <a:solidFill>
                            <a:schemeClr val="tx1"/>
                          </a:solidFill>
                          <a:effectLst/>
                          <a:latin typeface="+mn-lt"/>
                          <a:ea typeface="+mn-ea"/>
                          <a:cs typeface="+mn-cs"/>
                          <a:sym typeface="Arial"/>
                        </a:rPr>
                        <a:t>Output per Capita 2017</a:t>
                      </a:r>
                      <a:endParaRPr lang="en-US" sz="1400" b="1" dirty="0">
                        <a:solidFill>
                          <a:schemeClr val="tx1"/>
                        </a:solidFill>
                        <a:latin typeface="+mn-lt"/>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400" b="1" dirty="0">
                          <a:solidFill>
                            <a:schemeClr val="tx1"/>
                          </a:solidFill>
                        </a:rPr>
                        <a:t>1960–2017 </a:t>
                      </a:r>
                    </a:p>
                    <a:p>
                      <a:pPr algn="ctr"/>
                      <a:r>
                        <a:rPr lang="en-US" sz="1400" b="1" dirty="0">
                          <a:solidFill>
                            <a:schemeClr val="tx1"/>
                          </a:solidFill>
                        </a:rPr>
                        <a:t>Annual Average Growth Rate</a:t>
                      </a:r>
                      <a:r>
                        <a:rPr lang="en-US" sz="1400" b="1" baseline="0" dirty="0">
                          <a:solidFill>
                            <a:schemeClr val="tx1"/>
                          </a:solidFill>
                        </a:rPr>
                        <a:t> </a:t>
                      </a:r>
                    </a:p>
                    <a:p>
                      <a:pPr algn="ctr"/>
                      <a:r>
                        <a:rPr lang="en-US" sz="1400" b="1" dirty="0">
                          <a:solidFill>
                            <a:schemeClr val="tx1"/>
                          </a:solidFill>
                        </a:rPr>
                        <a:t>(percent per year)</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33909765"/>
                  </a:ext>
                </a:extLst>
              </a:tr>
              <a:tr h="325697">
                <a:tc>
                  <a:txBody>
                    <a:bodyPr/>
                    <a:lstStyle/>
                    <a:p>
                      <a:pPr algn="l"/>
                      <a:r>
                        <a:rPr lang="en-US" sz="1400" dirty="0"/>
                        <a:t>Argentina</a:t>
                      </a:r>
                      <a:endParaRPr lang="en-US" sz="1400" dirty="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400" dirty="0">
                          <a:solidFill>
                            <a:schemeClr val="tx1"/>
                          </a:solidFill>
                        </a:rPr>
                        <a:t>9,283</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400" dirty="0">
                          <a:solidFill>
                            <a:schemeClr val="tx1"/>
                          </a:solidFill>
                        </a:rPr>
                        <a:t>16,432</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400" dirty="0">
                          <a:solidFill>
                            <a:schemeClr val="tx1"/>
                          </a:solidFill>
                        </a:rPr>
                        <a:t>1.0</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76943934"/>
                  </a:ext>
                </a:extLst>
              </a:tr>
              <a:tr h="332509">
                <a:tc>
                  <a:txBody>
                    <a:bodyPr/>
                    <a:lstStyle/>
                    <a:p>
                      <a:pPr algn="l"/>
                      <a:r>
                        <a:rPr lang="en-US" sz="1400" dirty="0"/>
                        <a:t>Brazil</a:t>
                      </a:r>
                      <a:endParaRPr lang="en-US" sz="1400" dirty="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400" dirty="0">
                          <a:solidFill>
                            <a:schemeClr val="tx1"/>
                          </a:solidFill>
                        </a:rPr>
                        <a:t>3,995</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400" dirty="0">
                          <a:solidFill>
                            <a:schemeClr val="tx1"/>
                          </a:solidFill>
                        </a:rPr>
                        <a:t>14,066</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400" dirty="0">
                          <a:solidFill>
                            <a:schemeClr val="tx1"/>
                          </a:solidFill>
                        </a:rPr>
                        <a:t>2.2</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113341180"/>
                  </a:ext>
                </a:extLst>
              </a:tr>
              <a:tr h="280555">
                <a:tc>
                  <a:txBody>
                    <a:bodyPr/>
                    <a:lstStyle/>
                    <a:p>
                      <a:pPr algn="l"/>
                      <a:r>
                        <a:rPr lang="en-US" sz="1400" dirty="0"/>
                        <a:t>Chile</a:t>
                      </a:r>
                      <a:endParaRPr lang="en-US" sz="1400" dirty="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400" dirty="0">
                          <a:solidFill>
                            <a:schemeClr val="tx1"/>
                          </a:solidFill>
                        </a:rPr>
                        <a:t>5,734</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400" dirty="0">
                          <a:solidFill>
                            <a:schemeClr val="tx1"/>
                          </a:solidFill>
                        </a:rPr>
                        <a:t>22,123</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400" dirty="0">
                          <a:solidFill>
                            <a:schemeClr val="tx1"/>
                          </a:solidFill>
                        </a:rPr>
                        <a:t>2.4</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096374431"/>
                  </a:ext>
                </a:extLst>
              </a:tr>
              <a:tr h="266700">
                <a:tc>
                  <a:txBody>
                    <a:bodyPr/>
                    <a:lstStyle/>
                    <a:p>
                      <a:pPr algn="l"/>
                      <a:r>
                        <a:rPr lang="en-US" sz="1400" dirty="0"/>
                        <a:t>Colombia</a:t>
                      </a:r>
                      <a:endParaRPr lang="en-US" sz="1400" dirty="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400" dirty="0">
                          <a:solidFill>
                            <a:schemeClr val="tx1"/>
                          </a:solidFill>
                        </a:rPr>
                        <a:t>4,059</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400" dirty="0">
                          <a:solidFill>
                            <a:schemeClr val="tx1"/>
                          </a:solidFill>
                        </a:rPr>
                        <a:t>13,585</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400" dirty="0">
                          <a:solidFill>
                            <a:schemeClr val="tx1"/>
                          </a:solidFill>
                        </a:rPr>
                        <a:t>2.1</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062346127"/>
                  </a:ext>
                </a:extLst>
              </a:tr>
              <a:tr h="273628">
                <a:tc>
                  <a:txBody>
                    <a:bodyPr/>
                    <a:lstStyle/>
                    <a:p>
                      <a:pPr algn="l"/>
                      <a:r>
                        <a:rPr lang="en-US" sz="1400" dirty="0"/>
                        <a:t>Costa Rica</a:t>
                      </a:r>
                      <a:endParaRPr lang="en-US" sz="1400" dirty="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400" dirty="0">
                          <a:solidFill>
                            <a:schemeClr val="tx1"/>
                          </a:solidFill>
                        </a:rPr>
                        <a:t>4,329</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400" dirty="0">
                          <a:solidFill>
                            <a:schemeClr val="tx1"/>
                          </a:solidFill>
                        </a:rPr>
                        <a:t>14,712</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400" dirty="0">
                          <a:solidFill>
                            <a:schemeClr val="tx1"/>
                          </a:solidFill>
                        </a:rPr>
                        <a:t>2.2</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605735222"/>
                  </a:ext>
                </a:extLst>
              </a:tr>
              <a:tr h="280555">
                <a:tc>
                  <a:txBody>
                    <a:bodyPr/>
                    <a:lstStyle/>
                    <a:p>
                      <a:pPr algn="l"/>
                      <a:r>
                        <a:rPr lang="en-US" sz="1400" dirty="0"/>
                        <a:t>Mexico</a:t>
                      </a:r>
                      <a:endParaRPr lang="en-US" sz="1400" dirty="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400" dirty="0">
                          <a:solidFill>
                            <a:schemeClr val="tx1"/>
                          </a:solidFill>
                        </a:rPr>
                        <a:t>6,633</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400" dirty="0">
                          <a:solidFill>
                            <a:schemeClr val="tx1"/>
                          </a:solidFill>
                        </a:rPr>
                        <a:t>16,792</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400" dirty="0">
                          <a:solidFill>
                            <a:schemeClr val="tx1"/>
                          </a:solidFill>
                        </a:rPr>
                        <a:t>1.6</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21993372"/>
                  </a:ext>
                </a:extLst>
              </a:tr>
              <a:tr h="318655">
                <a:tc>
                  <a:txBody>
                    <a:bodyPr/>
                    <a:lstStyle/>
                    <a:p>
                      <a:pPr algn="l"/>
                      <a:r>
                        <a:rPr lang="en-US" sz="1400" dirty="0"/>
                        <a:t>Paraguay</a:t>
                      </a:r>
                      <a:endParaRPr lang="en-US" sz="1400" dirty="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400" dirty="0">
                          <a:solidFill>
                            <a:schemeClr val="tx1"/>
                          </a:solidFill>
                        </a:rPr>
                        <a:t>2,618</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400" dirty="0">
                          <a:solidFill>
                            <a:schemeClr val="tx1"/>
                          </a:solidFill>
                        </a:rPr>
                        <a:t>8,948</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400" dirty="0">
                          <a:solidFill>
                            <a:schemeClr val="tx1"/>
                          </a:solidFill>
                        </a:rPr>
                        <a:t>2.2</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338992753"/>
                  </a:ext>
                </a:extLst>
              </a:tr>
              <a:tr h="322118">
                <a:tc>
                  <a:txBody>
                    <a:bodyPr/>
                    <a:lstStyle/>
                    <a:p>
                      <a:pPr algn="l"/>
                      <a:r>
                        <a:rPr lang="en-US" sz="1400" dirty="0"/>
                        <a:t>Peru</a:t>
                      </a:r>
                      <a:endParaRPr lang="en-US" sz="1400" dirty="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400" dirty="0">
                          <a:solidFill>
                            <a:schemeClr val="tx1"/>
                          </a:solidFill>
                        </a:rPr>
                        <a:t>5,135</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400" dirty="0">
                          <a:solidFill>
                            <a:schemeClr val="tx1"/>
                          </a:solidFill>
                        </a:rPr>
                        <a:t>11,808</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400" dirty="0">
                          <a:solidFill>
                            <a:schemeClr val="tx1"/>
                          </a:solidFill>
                        </a:rPr>
                        <a:t>1.5</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684207861"/>
                  </a:ext>
                </a:extLst>
              </a:tr>
              <a:tr h="370840">
                <a:tc>
                  <a:txBody>
                    <a:bodyPr/>
                    <a:lstStyle/>
                    <a:p>
                      <a:pPr algn="l"/>
                      <a:r>
                        <a:rPr lang="en-US" sz="1400" dirty="0"/>
                        <a:t>Venezuela</a:t>
                      </a:r>
                      <a:endParaRPr lang="en-US" sz="1400" dirty="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400" dirty="0">
                          <a:solidFill>
                            <a:schemeClr val="tx1"/>
                          </a:solidFill>
                        </a:rPr>
                        <a:t>11,935</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400" dirty="0">
                          <a:solidFill>
                            <a:schemeClr val="tx1"/>
                          </a:solidFill>
                        </a:rPr>
                        <a:t>11,321</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00" b="0" i="0" u="none" strike="noStrike" cap="none" dirty="0">
                          <a:solidFill>
                            <a:schemeClr val="tx1"/>
                          </a:solidFill>
                          <a:effectLst/>
                          <a:latin typeface="+mn-lt"/>
                          <a:ea typeface="+mn-ea"/>
                          <a:cs typeface="+mn-cs"/>
                          <a:sym typeface="Arial"/>
                        </a:rPr>
                        <a:t>negative 0.1</a:t>
                      </a:r>
                      <a:endParaRPr lang="en-US" sz="100"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6228969"/>
                  </a:ext>
                </a:extLst>
              </a:tr>
            </a:tbl>
          </a:graphicData>
        </a:graphic>
      </p:graphicFrame>
      <p:graphicFrame>
        <p:nvGraphicFramePr>
          <p:cNvPr id="3" name="Object 2">
            <a:extLst>
              <a:ext uri="{C183D7F6-B498-43B3-948B-1728B52AA6E4}">
                <adec:decorative xmlns="" xmlns:adec="http://schemas.microsoft.com/office/drawing/2017/decorative" val="1"/>
              </a:ext>
            </a:extLst>
          </p:cNvPr>
          <p:cNvGraphicFramePr>
            <a:graphicFrameLocks noChangeAspect="1"/>
          </p:cNvGraphicFramePr>
          <p:nvPr>
            <p:extLst>
              <p:ext uri="{D42A27DB-BD31-4B8C-83A1-F6EECF244321}">
                <p14:modId xmlns:p14="http://schemas.microsoft.com/office/powerpoint/2010/main" val="358248977"/>
              </p:ext>
            </p:extLst>
          </p:nvPr>
        </p:nvGraphicFramePr>
        <p:xfrm>
          <a:off x="7454672" y="5671158"/>
          <a:ext cx="363431" cy="203521"/>
        </p:xfrm>
        <a:graphic>
          <a:graphicData uri="http://schemas.openxmlformats.org/presentationml/2006/ole">
            <mc:AlternateContent xmlns:mc="http://schemas.openxmlformats.org/markup-compatibility/2006">
              <mc:Choice xmlns:v="urn:schemas-microsoft-com:vml" Requires="v">
                <p:oleObj spid="_x0000_s1067" name="Equation" r:id="rId3" imgW="317160" imgH="177480" progId="Equation.DSMT4">
                  <p:embed/>
                </p:oleObj>
              </mc:Choice>
              <mc:Fallback>
                <p:oleObj name="Equation" r:id="rId3" imgW="317160" imgH="177480" progId="Equation.DSMT4">
                  <p:embed/>
                  <p:pic>
                    <p:nvPicPr>
                      <p:cNvPr id="0" name=""/>
                      <p:cNvPicPr/>
                      <p:nvPr/>
                    </p:nvPicPr>
                    <p:blipFill>
                      <a:blip r:embed="rId4"/>
                      <a:stretch>
                        <a:fillRect/>
                      </a:stretch>
                    </p:blipFill>
                    <p:spPr>
                      <a:xfrm>
                        <a:off x="7454672" y="5671158"/>
                        <a:ext cx="363431" cy="203521"/>
                      </a:xfrm>
                      <a:prstGeom prst="rect">
                        <a:avLst/>
                      </a:prstGeom>
                    </p:spPr>
                  </p:pic>
                </p:oleObj>
              </mc:Fallback>
            </mc:AlternateContent>
          </a:graphicData>
        </a:graphic>
      </p:graphicFrame>
    </p:spTree>
    <p:extLst>
      <p:ext uri="{BB962C8B-B14F-4D97-AF65-F5344CB8AC3E}">
        <p14:creationId xmlns:p14="http://schemas.microsoft.com/office/powerpoint/2010/main" val="405420351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E86E139D-ABCB-4CED-A9EA-0A8CEF122526}"/>
              </a:ext>
            </a:extLst>
          </p:cNvPr>
          <p:cNvSpPr>
            <a:spLocks noGrp="1"/>
          </p:cNvSpPr>
          <p:nvPr>
            <p:ph type="title"/>
          </p:nvPr>
        </p:nvSpPr>
        <p:spPr>
          <a:xfrm>
            <a:off x="457500" y="218223"/>
            <a:ext cx="8420100" cy="1097279"/>
          </a:xfrm>
        </p:spPr>
        <p:txBody>
          <a:bodyPr/>
          <a:lstStyle/>
          <a:p>
            <a:r>
              <a:rPr lang="en-US" altLang="en-US" sz="2800" dirty="0"/>
              <a:t>Table 22.2 Output per Capita in Selected Countries, 1960–2017 (in 2011 U.S. Dollars) </a:t>
            </a:r>
            <a:r>
              <a:rPr lang="en-US" altLang="en-US" sz="2000" b="0" dirty="0"/>
              <a:t>(4 of 4)</a:t>
            </a:r>
            <a:endParaRPr lang="en-US" sz="2000" dirty="0"/>
          </a:p>
        </p:txBody>
      </p:sp>
      <p:sp>
        <p:nvSpPr>
          <p:cNvPr id="6" name="Content Placeholder 5">
            <a:extLst>
              <a:ext uri="{FF2B5EF4-FFF2-40B4-BE49-F238E27FC236}">
                <a16:creationId xmlns:a16="http://schemas.microsoft.com/office/drawing/2014/main" id="{13DC19E7-2459-495C-9755-3463AD431CED}"/>
              </a:ext>
            </a:extLst>
          </p:cNvPr>
          <p:cNvSpPr>
            <a:spLocks noGrp="1"/>
          </p:cNvSpPr>
          <p:nvPr>
            <p:ph sz="quarter" idx="13"/>
          </p:nvPr>
        </p:nvSpPr>
        <p:spPr>
          <a:xfrm>
            <a:off x="470200" y="1517327"/>
            <a:ext cx="752475" cy="438150"/>
          </a:xfrm>
        </p:spPr>
        <p:txBody>
          <a:bodyPr/>
          <a:lstStyle/>
          <a:p>
            <a:pPr marL="432" indent="0">
              <a:buNone/>
            </a:pPr>
            <a:r>
              <a:rPr lang="en-US" sz="1800" b="1" i="0" u="none" strike="noStrike" kern="1200" baseline="0" dirty="0">
                <a:solidFill>
                  <a:schemeClr val="tx1"/>
                </a:solidFill>
                <a:latin typeface="+mn-lt"/>
                <a:ea typeface="+mn-ea"/>
                <a:cs typeface="+mn-cs"/>
              </a:rPr>
              <a:t>Asia</a:t>
            </a:r>
            <a:endParaRPr lang="en-US" sz="1800" b="1" dirty="0">
              <a:solidFill>
                <a:schemeClr val="tx1"/>
              </a:solidFill>
            </a:endParaRPr>
          </a:p>
        </p:txBody>
      </p:sp>
      <p:graphicFrame>
        <p:nvGraphicFramePr>
          <p:cNvPr id="15" name="Table 15">
            <a:extLst>
              <a:ext uri="{FF2B5EF4-FFF2-40B4-BE49-F238E27FC236}">
                <a16:creationId xmlns:a16="http://schemas.microsoft.com/office/drawing/2014/main" id="{66F607AB-BE18-47D2-8667-5E6D0308394B}"/>
              </a:ext>
            </a:extLst>
          </p:cNvPr>
          <p:cNvGraphicFramePr>
            <a:graphicFrameLocks noGrp="1"/>
          </p:cNvGraphicFramePr>
          <p:nvPr>
            <p:ph sz="quarter" idx="14"/>
            <p:extLst>
              <p:ext uri="{D42A27DB-BD31-4B8C-83A1-F6EECF244321}">
                <p14:modId xmlns:p14="http://schemas.microsoft.com/office/powerpoint/2010/main" val="1124120955"/>
              </p:ext>
            </p:extLst>
          </p:nvPr>
        </p:nvGraphicFramePr>
        <p:xfrm>
          <a:off x="474963" y="2003788"/>
          <a:ext cx="7658100" cy="3474720"/>
        </p:xfrm>
        <a:graphic>
          <a:graphicData uri="http://schemas.openxmlformats.org/drawingml/2006/table">
            <a:tbl>
              <a:tblPr firstRow="1" bandRow="1">
                <a:tableStyleId>{40F9630F-82C1-40B7-BC3A-925EFCFF5E92}</a:tableStyleId>
              </a:tblPr>
              <a:tblGrid>
                <a:gridCol w="1438275">
                  <a:extLst>
                    <a:ext uri="{9D8B030D-6E8A-4147-A177-3AD203B41FA5}">
                      <a16:colId xmlns:a16="http://schemas.microsoft.com/office/drawing/2014/main" val="1927413336"/>
                    </a:ext>
                  </a:extLst>
                </a:gridCol>
                <a:gridCol w="1570037">
                  <a:extLst>
                    <a:ext uri="{9D8B030D-6E8A-4147-A177-3AD203B41FA5}">
                      <a16:colId xmlns:a16="http://schemas.microsoft.com/office/drawing/2014/main" val="526624453"/>
                    </a:ext>
                  </a:extLst>
                </a:gridCol>
                <a:gridCol w="1677988">
                  <a:extLst>
                    <a:ext uri="{9D8B030D-6E8A-4147-A177-3AD203B41FA5}">
                      <a16:colId xmlns:a16="http://schemas.microsoft.com/office/drawing/2014/main" val="1117529855"/>
                    </a:ext>
                  </a:extLst>
                </a:gridCol>
                <a:gridCol w="2971800">
                  <a:extLst>
                    <a:ext uri="{9D8B030D-6E8A-4147-A177-3AD203B41FA5}">
                      <a16:colId xmlns:a16="http://schemas.microsoft.com/office/drawing/2014/main" val="651112809"/>
                    </a:ext>
                  </a:extLst>
                </a:gridCol>
              </a:tblGrid>
              <a:tr h="158115">
                <a:tc>
                  <a:txBody>
                    <a:bodyPr/>
                    <a:lstStyle/>
                    <a:p>
                      <a:pPr algn="l"/>
                      <a:r>
                        <a:rPr lang="en-US" sz="1400" b="1" dirty="0">
                          <a:solidFill>
                            <a:schemeClr val="tx1"/>
                          </a:solidFill>
                          <a:latin typeface="+mn-lt"/>
                        </a:rPr>
                        <a:t>Country</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400" b="1" i="0" u="none" strike="noStrike" cap="none" dirty="0">
                          <a:solidFill>
                            <a:schemeClr val="tx1"/>
                          </a:solidFill>
                          <a:effectLst/>
                          <a:latin typeface="+mn-lt"/>
                          <a:ea typeface="+mn-ea"/>
                          <a:cs typeface="+mn-cs"/>
                          <a:sym typeface="Arial"/>
                        </a:rPr>
                        <a:t>Output per Capita</a:t>
                      </a:r>
                      <a:r>
                        <a:rPr lang="en-US" sz="1400" b="1" i="0" u="none" strike="noStrike" cap="none" baseline="0" dirty="0">
                          <a:solidFill>
                            <a:schemeClr val="tx1"/>
                          </a:solidFill>
                          <a:effectLst/>
                          <a:latin typeface="+mn-lt"/>
                          <a:ea typeface="+mn-ea"/>
                          <a:cs typeface="+mn-cs"/>
                          <a:sym typeface="Arial"/>
                        </a:rPr>
                        <a:t> 1960</a:t>
                      </a:r>
                      <a:endParaRPr lang="en-US" sz="1400" b="1" i="0" u="none" strike="noStrike" cap="none" dirty="0">
                        <a:solidFill>
                          <a:schemeClr val="tx1"/>
                        </a:solidFill>
                        <a:effectLst/>
                        <a:latin typeface="+mn-lt"/>
                        <a:ea typeface="+mn-ea"/>
                        <a:cs typeface="+mn-cs"/>
                        <a:sym typeface="Aria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400" b="1" i="0" u="none" strike="noStrike" cap="none" dirty="0">
                          <a:solidFill>
                            <a:schemeClr val="tx1"/>
                          </a:solidFill>
                          <a:effectLst/>
                          <a:latin typeface="+mn-lt"/>
                          <a:ea typeface="+mn-ea"/>
                          <a:cs typeface="+mn-cs"/>
                          <a:sym typeface="Arial"/>
                        </a:rPr>
                        <a:t>Output per Capita 2017</a:t>
                      </a:r>
                      <a:endParaRPr lang="en-US" sz="1400" b="1" dirty="0">
                        <a:solidFill>
                          <a:schemeClr val="tx1"/>
                        </a:solidFill>
                        <a:latin typeface="+mn-lt"/>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400" b="1" dirty="0">
                          <a:solidFill>
                            <a:schemeClr val="tx1"/>
                          </a:solidFill>
                          <a:latin typeface="+mn-lt"/>
                        </a:rPr>
                        <a:t>1960–2017 </a:t>
                      </a:r>
                    </a:p>
                    <a:p>
                      <a:pPr algn="ctr"/>
                      <a:r>
                        <a:rPr lang="en-US" sz="1400" b="1" dirty="0">
                          <a:solidFill>
                            <a:schemeClr val="tx1"/>
                          </a:solidFill>
                          <a:latin typeface="+mn-lt"/>
                        </a:rPr>
                        <a:t>Annual Average Growth Rate</a:t>
                      </a:r>
                      <a:r>
                        <a:rPr lang="en-US" sz="1400" b="1" baseline="0" dirty="0">
                          <a:solidFill>
                            <a:schemeClr val="tx1"/>
                          </a:solidFill>
                          <a:latin typeface="+mn-lt"/>
                        </a:rPr>
                        <a:t> </a:t>
                      </a:r>
                    </a:p>
                    <a:p>
                      <a:pPr algn="ctr"/>
                      <a:r>
                        <a:rPr lang="en-US" sz="1400" b="1" dirty="0">
                          <a:solidFill>
                            <a:schemeClr val="tx1"/>
                          </a:solidFill>
                          <a:latin typeface="+mn-lt"/>
                        </a:rPr>
                        <a:t>(percent per year)</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283435282"/>
                  </a:ext>
                </a:extLst>
              </a:tr>
              <a:tr h="191770">
                <a:tc>
                  <a:txBody>
                    <a:bodyPr/>
                    <a:lstStyle/>
                    <a:p>
                      <a:pPr algn="l"/>
                      <a:r>
                        <a:rPr lang="en-US" sz="1400" b="0" i="0" u="none" strike="noStrike" kern="1200" baseline="0" dirty="0">
                          <a:solidFill>
                            <a:schemeClr val="tx1"/>
                          </a:solidFill>
                          <a:latin typeface="+mn-lt"/>
                          <a:ea typeface="+mn-ea"/>
                          <a:cs typeface="+mn-cs"/>
                        </a:rPr>
                        <a:t>China</a:t>
                      </a:r>
                      <a:endParaRPr lang="en-US" sz="1400" b="1" dirty="0">
                        <a:solidFill>
                          <a:schemeClr val="tx1"/>
                        </a:solidFill>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algn="ctr"/>
                      <a:r>
                        <a:rPr lang="en-US" sz="1400" dirty="0">
                          <a:solidFill>
                            <a:schemeClr val="tx1"/>
                          </a:solidFill>
                          <a:latin typeface="+mn-lt"/>
                        </a:rPr>
                        <a:t>815</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algn="ctr"/>
                      <a:r>
                        <a:rPr lang="en-US" sz="1400" dirty="0">
                          <a:solidFill>
                            <a:schemeClr val="tx1"/>
                          </a:solidFill>
                          <a:latin typeface="+mn-lt"/>
                        </a:rPr>
                        <a:t>13,465</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algn="ctr"/>
                      <a:r>
                        <a:rPr lang="en-US" sz="1400" dirty="0">
                          <a:solidFill>
                            <a:schemeClr val="tx1"/>
                          </a:solidFill>
                          <a:latin typeface="+mn-lt"/>
                        </a:rPr>
                        <a:t>5.0</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extLst>
                  <a:ext uri="{0D108BD9-81ED-4DB2-BD59-A6C34878D82A}">
                    <a16:rowId xmlns:a16="http://schemas.microsoft.com/office/drawing/2014/main" val="1913726418"/>
                  </a:ext>
                </a:extLst>
              </a:tr>
              <a:tr h="0">
                <a:tc>
                  <a:txBody>
                    <a:bodyPr/>
                    <a:lstStyle/>
                    <a:p>
                      <a:pPr algn="l"/>
                      <a:r>
                        <a:rPr lang="en-US" sz="1400" b="0" i="0" u="none" strike="noStrike" kern="1200" baseline="0" dirty="0">
                          <a:solidFill>
                            <a:schemeClr val="tx1"/>
                          </a:solidFill>
                          <a:latin typeface="+mn-lt"/>
                          <a:ea typeface="+mn-ea"/>
                          <a:cs typeface="+mn-cs"/>
                        </a:rPr>
                        <a:t>Hong Kong</a:t>
                      </a:r>
                      <a:endParaRPr lang="en-US" sz="1400" b="1" dirty="0">
                        <a:solidFill>
                          <a:schemeClr val="tx1"/>
                        </a:solidFill>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algn="ctr"/>
                      <a:r>
                        <a:rPr lang="en-US" sz="1400" dirty="0">
                          <a:solidFill>
                            <a:schemeClr val="tx1"/>
                          </a:solidFill>
                          <a:latin typeface="+mn-lt"/>
                        </a:rPr>
                        <a:t>4,459</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algn="ctr"/>
                      <a:r>
                        <a:rPr lang="en-US" sz="1400" dirty="0">
                          <a:solidFill>
                            <a:schemeClr val="tx1"/>
                          </a:solidFill>
                          <a:latin typeface="+mn-lt"/>
                        </a:rPr>
                        <a:t>50,271</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algn="ctr"/>
                      <a:r>
                        <a:rPr lang="en-US" sz="1400" dirty="0">
                          <a:solidFill>
                            <a:schemeClr val="tx1"/>
                          </a:solidFill>
                          <a:latin typeface="+mn-lt"/>
                        </a:rPr>
                        <a:t>4.3</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extLst>
                  <a:ext uri="{0D108BD9-81ED-4DB2-BD59-A6C34878D82A}">
                    <a16:rowId xmlns:a16="http://schemas.microsoft.com/office/drawing/2014/main" val="593263585"/>
                  </a:ext>
                </a:extLst>
              </a:tr>
              <a:tr h="0">
                <a:tc>
                  <a:txBody>
                    <a:bodyPr/>
                    <a:lstStyle/>
                    <a:p>
                      <a:pPr algn="l"/>
                      <a:r>
                        <a:rPr lang="en-US" sz="1400" b="0" i="0" u="none" strike="noStrike" kern="1200" baseline="0" dirty="0">
                          <a:solidFill>
                            <a:schemeClr val="tx1"/>
                          </a:solidFill>
                          <a:latin typeface="+mn-lt"/>
                          <a:ea typeface="+mn-ea"/>
                          <a:cs typeface="+mn-cs"/>
                        </a:rPr>
                        <a:t>India</a:t>
                      </a:r>
                      <a:endParaRPr lang="en-US" sz="1400" b="1" dirty="0">
                        <a:solidFill>
                          <a:schemeClr val="tx1"/>
                        </a:solidFill>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algn="ctr"/>
                      <a:r>
                        <a:rPr lang="en-US" sz="1400" dirty="0">
                          <a:solidFill>
                            <a:schemeClr val="tx1"/>
                          </a:solidFill>
                          <a:latin typeface="+mn-lt"/>
                        </a:rPr>
                        <a:t>1,048</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algn="ctr"/>
                      <a:r>
                        <a:rPr lang="en-US" sz="1400" dirty="0">
                          <a:solidFill>
                            <a:schemeClr val="tx1"/>
                          </a:solidFill>
                          <a:latin typeface="+mn-lt"/>
                        </a:rPr>
                        <a:t>6,548</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algn="ctr"/>
                      <a:r>
                        <a:rPr lang="en-US" sz="1400" dirty="0">
                          <a:solidFill>
                            <a:schemeClr val="tx1"/>
                          </a:solidFill>
                          <a:latin typeface="+mn-lt"/>
                        </a:rPr>
                        <a:t>3.3</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extLst>
                  <a:ext uri="{0D108BD9-81ED-4DB2-BD59-A6C34878D82A}">
                    <a16:rowId xmlns:a16="http://schemas.microsoft.com/office/drawing/2014/main" val="1242164830"/>
                  </a:ext>
                </a:extLst>
              </a:tr>
              <a:tr h="0">
                <a:tc>
                  <a:txBody>
                    <a:bodyPr/>
                    <a:lstStyle/>
                    <a:p>
                      <a:pPr algn="l"/>
                      <a:r>
                        <a:rPr lang="en-US" sz="1400" b="0" dirty="0">
                          <a:solidFill>
                            <a:schemeClr val="tx1"/>
                          </a:solidFill>
                          <a:latin typeface="+mn-lt"/>
                        </a:rPr>
                        <a:t>Indonesia</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algn="ctr"/>
                      <a:r>
                        <a:rPr lang="en-US" sz="1400" dirty="0">
                          <a:solidFill>
                            <a:schemeClr val="tx1"/>
                          </a:solidFill>
                          <a:latin typeface="+mn-lt"/>
                        </a:rPr>
                        <a:t>1,635</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algn="ctr"/>
                      <a:r>
                        <a:rPr lang="en-US" sz="1400" dirty="0">
                          <a:solidFill>
                            <a:schemeClr val="tx1"/>
                          </a:solidFill>
                          <a:latin typeface="+mn-lt"/>
                        </a:rPr>
                        <a:t>11,173</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algn="ctr"/>
                      <a:r>
                        <a:rPr lang="en-US" sz="1400" dirty="0">
                          <a:solidFill>
                            <a:schemeClr val="tx1"/>
                          </a:solidFill>
                          <a:latin typeface="+mn-lt"/>
                        </a:rPr>
                        <a:t>3.4</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extLst>
                  <a:ext uri="{0D108BD9-81ED-4DB2-BD59-A6C34878D82A}">
                    <a16:rowId xmlns:a16="http://schemas.microsoft.com/office/drawing/2014/main" val="237251298"/>
                  </a:ext>
                </a:extLst>
              </a:tr>
              <a:tr h="195580">
                <a:tc>
                  <a:txBody>
                    <a:bodyPr/>
                    <a:lstStyle/>
                    <a:p>
                      <a:pPr algn="l"/>
                      <a:r>
                        <a:rPr lang="en-US" sz="1400" b="0" i="0" u="none" strike="noStrike" kern="1200" baseline="0" dirty="0">
                          <a:solidFill>
                            <a:schemeClr val="tx1"/>
                          </a:solidFill>
                          <a:latin typeface="+mn-lt"/>
                          <a:ea typeface="+mn-ea"/>
                          <a:cs typeface="+mn-cs"/>
                        </a:rPr>
                        <a:t>Malaysia</a:t>
                      </a:r>
                      <a:endParaRPr lang="en-US" sz="1400" b="1" dirty="0">
                        <a:solidFill>
                          <a:schemeClr val="tx1"/>
                        </a:solidFill>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algn="ctr"/>
                      <a:r>
                        <a:rPr lang="en-US" sz="1400" dirty="0">
                          <a:solidFill>
                            <a:schemeClr val="tx1"/>
                          </a:solidFill>
                          <a:latin typeface="+mn-lt"/>
                        </a:rPr>
                        <a:t>2,639</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algn="ctr"/>
                      <a:r>
                        <a:rPr lang="en-US" sz="1400" dirty="0">
                          <a:solidFill>
                            <a:schemeClr val="tx1"/>
                          </a:solidFill>
                          <a:latin typeface="+mn-lt"/>
                        </a:rPr>
                        <a:t>24,574</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algn="ctr"/>
                      <a:r>
                        <a:rPr lang="en-US" sz="1400" dirty="0">
                          <a:solidFill>
                            <a:schemeClr val="tx1"/>
                          </a:solidFill>
                          <a:latin typeface="+mn-lt"/>
                        </a:rPr>
                        <a:t>4.0</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extLst>
                  <a:ext uri="{0D108BD9-81ED-4DB2-BD59-A6C34878D82A}">
                    <a16:rowId xmlns:a16="http://schemas.microsoft.com/office/drawing/2014/main" val="3073860186"/>
                  </a:ext>
                </a:extLst>
              </a:tr>
              <a:tr h="234315">
                <a:tc>
                  <a:txBody>
                    <a:bodyPr/>
                    <a:lstStyle/>
                    <a:p>
                      <a:pPr algn="l"/>
                      <a:r>
                        <a:rPr lang="en-US" sz="1400" b="0" i="0" u="none" strike="noStrike" kern="1200" baseline="0" dirty="0">
                          <a:solidFill>
                            <a:schemeClr val="tx1"/>
                          </a:solidFill>
                          <a:latin typeface="+mn-lt"/>
                          <a:ea typeface="+mn-ea"/>
                          <a:cs typeface="+mn-cs"/>
                        </a:rPr>
                        <a:t>Singapore</a:t>
                      </a:r>
                      <a:endParaRPr lang="en-US" sz="1400" b="1" dirty="0">
                        <a:solidFill>
                          <a:schemeClr val="tx1"/>
                        </a:solidFill>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algn="ctr"/>
                      <a:r>
                        <a:rPr lang="en-US" sz="1400" dirty="0">
                          <a:solidFill>
                            <a:schemeClr val="tx1"/>
                          </a:solidFill>
                          <a:latin typeface="+mn-lt"/>
                        </a:rPr>
                        <a:t>4,368</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algn="ctr"/>
                      <a:r>
                        <a:rPr lang="en-US" sz="1400" dirty="0">
                          <a:solidFill>
                            <a:schemeClr val="tx1"/>
                          </a:solidFill>
                          <a:latin typeface="+mn-lt"/>
                        </a:rPr>
                        <a:t>69,150</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algn="ctr"/>
                      <a:r>
                        <a:rPr lang="en-US" sz="1400" dirty="0">
                          <a:solidFill>
                            <a:schemeClr val="tx1"/>
                          </a:solidFill>
                          <a:latin typeface="+mn-lt"/>
                        </a:rPr>
                        <a:t>5.0</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extLst>
                  <a:ext uri="{0D108BD9-81ED-4DB2-BD59-A6C34878D82A}">
                    <a16:rowId xmlns:a16="http://schemas.microsoft.com/office/drawing/2014/main" val="3423546307"/>
                  </a:ext>
                </a:extLst>
              </a:tr>
              <a:tr h="234950">
                <a:tc>
                  <a:txBody>
                    <a:bodyPr/>
                    <a:lstStyle/>
                    <a:p>
                      <a:pPr algn="l"/>
                      <a:r>
                        <a:rPr lang="en-US" sz="1400" b="0" i="0" u="none" strike="noStrike" kern="1200" baseline="0" dirty="0">
                          <a:solidFill>
                            <a:schemeClr val="tx1"/>
                          </a:solidFill>
                          <a:latin typeface="+mn-lt"/>
                          <a:ea typeface="+mn-ea"/>
                          <a:cs typeface="+mn-cs"/>
                        </a:rPr>
                        <a:t>South Korea</a:t>
                      </a:r>
                      <a:endParaRPr lang="en-US" sz="1400" dirty="0">
                        <a:solidFill>
                          <a:schemeClr val="tx1"/>
                        </a:solidFill>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algn="ctr"/>
                      <a:r>
                        <a:rPr lang="en-US" sz="1400" dirty="0">
                          <a:solidFill>
                            <a:schemeClr val="tx1"/>
                          </a:solidFill>
                          <a:latin typeface="+mn-lt"/>
                        </a:rPr>
                        <a:t>1,573</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algn="ctr"/>
                      <a:r>
                        <a:rPr lang="en-US" sz="1400" dirty="0">
                          <a:solidFill>
                            <a:schemeClr val="tx1"/>
                          </a:solidFill>
                          <a:latin typeface="+mn-lt"/>
                        </a:rPr>
                        <a:t>36,999</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algn="ctr"/>
                      <a:r>
                        <a:rPr lang="en-US" sz="1400" dirty="0">
                          <a:solidFill>
                            <a:schemeClr val="tx1"/>
                          </a:solidFill>
                          <a:latin typeface="+mn-lt"/>
                        </a:rPr>
                        <a:t>5.7</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extLst>
                  <a:ext uri="{0D108BD9-81ED-4DB2-BD59-A6C34878D82A}">
                    <a16:rowId xmlns:a16="http://schemas.microsoft.com/office/drawing/2014/main" val="3777032026"/>
                  </a:ext>
                </a:extLst>
              </a:tr>
              <a:tr h="233680">
                <a:tc>
                  <a:txBody>
                    <a:bodyPr/>
                    <a:lstStyle/>
                    <a:p>
                      <a:pPr algn="l"/>
                      <a:r>
                        <a:rPr lang="en-US" sz="1400" b="0" i="0" u="none" strike="noStrike" kern="1200" baseline="0" dirty="0">
                          <a:solidFill>
                            <a:schemeClr val="tx1"/>
                          </a:solidFill>
                          <a:latin typeface="+mn-lt"/>
                          <a:ea typeface="+mn-ea"/>
                          <a:cs typeface="+mn-cs"/>
                        </a:rPr>
                        <a:t>Taiwan</a:t>
                      </a:r>
                      <a:endParaRPr lang="en-US" sz="1400" dirty="0">
                        <a:solidFill>
                          <a:schemeClr val="tx1"/>
                        </a:solidFill>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algn="ctr"/>
                      <a:r>
                        <a:rPr lang="en-US" sz="1400" dirty="0">
                          <a:solidFill>
                            <a:schemeClr val="tx1"/>
                          </a:solidFill>
                          <a:latin typeface="+mn-lt"/>
                        </a:rPr>
                        <a:t>2,070</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algn="ctr"/>
                      <a:r>
                        <a:rPr lang="en-US" sz="1400" dirty="0">
                          <a:solidFill>
                            <a:schemeClr val="tx1"/>
                          </a:solidFill>
                          <a:latin typeface="+mn-lt"/>
                        </a:rPr>
                        <a:t>43,501</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algn="ctr"/>
                      <a:r>
                        <a:rPr lang="en-US" sz="1400" dirty="0">
                          <a:solidFill>
                            <a:schemeClr val="tx1"/>
                          </a:solidFill>
                          <a:latin typeface="+mn-lt"/>
                        </a:rPr>
                        <a:t>5.5</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extLst>
                  <a:ext uri="{0D108BD9-81ED-4DB2-BD59-A6C34878D82A}">
                    <a16:rowId xmlns:a16="http://schemas.microsoft.com/office/drawing/2014/main" val="2474850522"/>
                  </a:ext>
                </a:extLst>
              </a:tr>
              <a:tr h="120015">
                <a:tc>
                  <a:txBody>
                    <a:bodyPr/>
                    <a:lstStyle/>
                    <a:p>
                      <a:pPr algn="l"/>
                      <a:r>
                        <a:rPr lang="en-US" sz="1400" b="0" i="0" u="none" strike="noStrike" kern="1200" baseline="0" dirty="0">
                          <a:solidFill>
                            <a:schemeClr val="tx1"/>
                          </a:solidFill>
                          <a:latin typeface="+mn-lt"/>
                          <a:ea typeface="+mn-ea"/>
                          <a:cs typeface="+mn-cs"/>
                        </a:rPr>
                        <a:t>Thailand</a:t>
                      </a:r>
                      <a:endParaRPr lang="en-US" sz="1400" dirty="0">
                        <a:solidFill>
                          <a:schemeClr val="tx1"/>
                        </a:solidFill>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400" dirty="0">
                          <a:solidFill>
                            <a:schemeClr val="tx1"/>
                          </a:solidFill>
                          <a:latin typeface="+mn-lt"/>
                        </a:rPr>
                        <a:t>1,162</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400" dirty="0">
                          <a:solidFill>
                            <a:schemeClr val="tx1"/>
                          </a:solidFill>
                          <a:latin typeface="+mn-lt"/>
                        </a:rPr>
                        <a:t>14,884</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400" dirty="0">
                          <a:solidFill>
                            <a:schemeClr val="tx1"/>
                          </a:solidFill>
                          <a:latin typeface="+mn-lt"/>
                        </a:rPr>
                        <a:t>4.7</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88388456"/>
                  </a:ext>
                </a:extLst>
              </a:tr>
            </a:tbl>
          </a:graphicData>
        </a:graphic>
      </p:graphicFrame>
      <p:sp>
        <p:nvSpPr>
          <p:cNvPr id="8" name="Content Placeholder 7">
            <a:extLst>
              <a:ext uri="{FF2B5EF4-FFF2-40B4-BE49-F238E27FC236}">
                <a16:creationId xmlns:a16="http://schemas.microsoft.com/office/drawing/2014/main" id="{BDD69D39-1856-442A-A7DE-A37192E20205}"/>
              </a:ext>
            </a:extLst>
          </p:cNvPr>
          <p:cNvSpPr>
            <a:spLocks noGrp="1"/>
          </p:cNvSpPr>
          <p:nvPr>
            <p:ph sz="quarter" idx="15"/>
          </p:nvPr>
        </p:nvSpPr>
        <p:spPr>
          <a:xfrm>
            <a:off x="506412" y="5574607"/>
            <a:ext cx="8371188" cy="226244"/>
          </a:xfrm>
        </p:spPr>
        <p:txBody>
          <a:bodyPr lIns="0" tIns="0" rIns="0" bIns="0"/>
          <a:lstStyle/>
          <a:p>
            <a:pPr marL="432" indent="0">
              <a:buNone/>
            </a:pPr>
            <a:r>
              <a:rPr lang="en-US" sz="1200" b="1" dirty="0"/>
              <a:t>Note: </a:t>
            </a:r>
            <a:r>
              <a:rPr lang="en-US" sz="1200" dirty="0"/>
              <a:t>Data are taken from the Penn World Table, Version 9.1, and use P</a:t>
            </a:r>
            <a:r>
              <a:rPr lang="en-US" sz="100" dirty="0"/>
              <a:t> </a:t>
            </a:r>
            <a:r>
              <a:rPr lang="en-US" sz="1200" dirty="0" err="1"/>
              <a:t>P</a:t>
            </a:r>
            <a:r>
              <a:rPr lang="en-US" sz="100" dirty="0"/>
              <a:t> </a:t>
            </a:r>
            <a:r>
              <a:rPr lang="en-US" sz="1200" dirty="0" err="1"/>
              <a:t>P</a:t>
            </a:r>
            <a:r>
              <a:rPr lang="en-US" sz="1200" dirty="0"/>
              <a:t> exchange rates to compare national </a:t>
            </a:r>
            <a:r>
              <a:rPr lang="en-US" sz="1200" b="0" i="0" u="none" strike="noStrike" baseline="0" dirty="0"/>
              <a:t>incomes</a:t>
            </a:r>
            <a:endParaRPr lang="en-US" sz="1200" dirty="0"/>
          </a:p>
        </p:txBody>
      </p:sp>
      <p:sp>
        <p:nvSpPr>
          <p:cNvPr id="9" name="Content Placeholder 8">
            <a:extLst>
              <a:ext uri="{FF2B5EF4-FFF2-40B4-BE49-F238E27FC236}">
                <a16:creationId xmlns:a16="http://schemas.microsoft.com/office/drawing/2014/main" id="{82F6B01E-4FB5-443D-B983-59D6C61BF9EA}"/>
              </a:ext>
            </a:extLst>
          </p:cNvPr>
          <p:cNvSpPr>
            <a:spLocks noGrp="1"/>
          </p:cNvSpPr>
          <p:nvPr>
            <p:ph sz="quarter" idx="16"/>
          </p:nvPr>
        </p:nvSpPr>
        <p:spPr>
          <a:xfrm>
            <a:off x="470201" y="5865302"/>
            <a:ext cx="5659754" cy="216208"/>
          </a:xfrm>
        </p:spPr>
        <p:txBody>
          <a:bodyPr lIns="0" tIns="0" rIns="0" bIns="0"/>
          <a:lstStyle/>
          <a:p>
            <a:pPr marL="432" indent="0">
              <a:buNone/>
            </a:pPr>
            <a:r>
              <a:rPr lang="en-US" sz="1200" b="0" i="0" u="none" strike="noStrike" baseline="0" dirty="0"/>
              <a:t>(variables </a:t>
            </a:r>
            <a:r>
              <a:rPr lang="en-US" sz="1200" b="1" u="none" strike="noStrike" baseline="0" dirty="0"/>
              <a:t>R</a:t>
            </a:r>
            <a:r>
              <a:rPr lang="en-US" sz="100" b="1" u="none" strike="noStrike" baseline="0" dirty="0"/>
              <a:t> </a:t>
            </a:r>
            <a:r>
              <a:rPr lang="en-US" sz="1200" b="1" u="none" strike="noStrike" baseline="0" dirty="0"/>
              <a:t>G</a:t>
            </a:r>
            <a:r>
              <a:rPr lang="en-US" sz="100" b="1" u="none" strike="noStrike" baseline="0" dirty="0"/>
              <a:t> </a:t>
            </a:r>
            <a:r>
              <a:rPr lang="en-US" sz="1200" b="1" u="none" strike="noStrike" baseline="0" dirty="0"/>
              <a:t>D</a:t>
            </a:r>
            <a:r>
              <a:rPr lang="en-US" sz="100" b="1" u="none" strike="noStrike" baseline="0" dirty="0"/>
              <a:t> </a:t>
            </a:r>
            <a:r>
              <a:rPr lang="en-US" sz="1200" b="1" u="none" strike="noStrike" baseline="0" dirty="0"/>
              <a:t>P</a:t>
            </a:r>
            <a:r>
              <a:rPr lang="en-US" sz="100" b="1" u="none" strike="noStrike" baseline="0" dirty="0"/>
              <a:t> </a:t>
            </a:r>
            <a:r>
              <a:rPr lang="en-US" sz="1200" b="1" u="none" strike="noStrike" baseline="0" dirty="0"/>
              <a:t>N</a:t>
            </a:r>
            <a:r>
              <a:rPr lang="en-US" sz="100" b="1" u="none" strike="noStrike" baseline="0" dirty="0"/>
              <a:t> </a:t>
            </a:r>
            <a:r>
              <a:rPr lang="en-US" sz="1200" b="1" u="none" strike="noStrike" baseline="0" dirty="0"/>
              <a:t>A/P</a:t>
            </a:r>
            <a:r>
              <a:rPr lang="en-US" sz="100" b="1" u="none" strike="noStrike" baseline="0" dirty="0"/>
              <a:t> </a:t>
            </a:r>
            <a:r>
              <a:rPr lang="en-US" sz="1200" b="1" u="none" strike="noStrike" baseline="0" dirty="0"/>
              <a:t>O</a:t>
            </a:r>
            <a:r>
              <a:rPr lang="en-US" sz="100" b="1" u="none" strike="noStrike" baseline="0" dirty="0"/>
              <a:t> </a:t>
            </a:r>
            <a:r>
              <a:rPr lang="en-US" sz="1200" b="1" u="none" strike="noStrike" baseline="0" dirty="0"/>
              <a:t>P</a:t>
            </a:r>
            <a:r>
              <a:rPr lang="en-US" sz="1200" b="0" i="0" u="none" strike="noStrike" baseline="0" dirty="0"/>
              <a:t>).</a:t>
            </a:r>
            <a:r>
              <a:rPr lang="en-US" sz="1200" dirty="0"/>
              <a:t> For a description, see the Penn World Table website at</a:t>
            </a:r>
          </a:p>
        </p:txBody>
      </p:sp>
      <p:sp>
        <p:nvSpPr>
          <p:cNvPr id="13" name="Text Placeholder 12">
            <a:extLst>
              <a:ext uri="{FF2B5EF4-FFF2-40B4-BE49-F238E27FC236}">
                <a16:creationId xmlns:a16="http://schemas.microsoft.com/office/drawing/2014/main" id="{CDBF4E02-0760-41F5-8769-2F38AED93F0C}"/>
              </a:ext>
            </a:extLst>
          </p:cNvPr>
          <p:cNvSpPr>
            <a:spLocks noGrp="1"/>
          </p:cNvSpPr>
          <p:nvPr>
            <p:ph type="body" sz="quarter" idx="20"/>
          </p:nvPr>
        </p:nvSpPr>
        <p:spPr>
          <a:xfrm>
            <a:off x="468453" y="6120148"/>
            <a:ext cx="2781300" cy="250821"/>
          </a:xfrm>
        </p:spPr>
        <p:txBody>
          <a:bodyPr lIns="0" tIns="0" rIns="0" bIns="0"/>
          <a:lstStyle/>
          <a:p>
            <a:pPr marL="0" indent="0">
              <a:buNone/>
            </a:pPr>
            <a:r>
              <a:rPr lang="en-US" sz="1200" dirty="0">
                <a:latin typeface="+mn-lt"/>
                <a:hlinkClick r:id="rId2" tooltip="https://www.rug.nl/ggdc/productivity/pwt/"/>
              </a:rPr>
              <a:t>https://www.rug.nl/ggdc/productivity/pwt/</a:t>
            </a:r>
            <a:endParaRPr lang="en-US" sz="1200" dirty="0">
              <a:latin typeface="+mn-lt"/>
            </a:endParaRPr>
          </a:p>
        </p:txBody>
      </p:sp>
      <p:sp>
        <p:nvSpPr>
          <p:cNvPr id="14" name="Content Placeholder 13">
            <a:extLst>
              <a:ext uri="{FF2B5EF4-FFF2-40B4-BE49-F238E27FC236}">
                <a16:creationId xmlns:a16="http://schemas.microsoft.com/office/drawing/2014/main" id="{871A2938-7082-4005-910E-33A0D22D8197}"/>
              </a:ext>
            </a:extLst>
          </p:cNvPr>
          <p:cNvSpPr>
            <a:spLocks noGrp="1"/>
          </p:cNvSpPr>
          <p:nvPr>
            <p:ph sz="quarter" idx="21"/>
          </p:nvPr>
        </p:nvSpPr>
        <p:spPr>
          <a:xfrm>
            <a:off x="3281204" y="6124733"/>
            <a:ext cx="101600" cy="228602"/>
          </a:xfrm>
        </p:spPr>
        <p:txBody>
          <a:bodyPr lIns="0" tIns="0" rIns="0" bIns="0"/>
          <a:lstStyle/>
          <a:p>
            <a:pPr marL="0" indent="0">
              <a:buNone/>
            </a:pPr>
            <a:r>
              <a:rPr lang="en-US" sz="1200">
                <a:latin typeface="+mn-lt"/>
              </a:rPr>
              <a:t>.</a:t>
            </a:r>
          </a:p>
        </p:txBody>
      </p:sp>
    </p:spTree>
    <p:extLst>
      <p:ext uri="{BB962C8B-B14F-4D97-AF65-F5344CB8AC3E}">
        <p14:creationId xmlns:p14="http://schemas.microsoft.com/office/powerpoint/2010/main" val="89415681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sz="3200" dirty="0"/>
              <a:t>Structural Features of Developing Countries </a:t>
            </a:r>
            <a:r>
              <a:rPr lang="en-US" altLang="en-US" sz="2000" b="0" dirty="0"/>
              <a:t>(1 of 5)</a:t>
            </a:r>
            <a:endParaRPr lang="en-US" dirty="0"/>
          </a:p>
        </p:txBody>
      </p:sp>
      <p:sp>
        <p:nvSpPr>
          <p:cNvPr id="4" name="Content Placeholder 3"/>
          <p:cNvSpPr>
            <a:spLocks noGrp="1"/>
          </p:cNvSpPr>
          <p:nvPr>
            <p:ph sz="quarter" idx="13"/>
          </p:nvPr>
        </p:nvSpPr>
        <p:spPr>
          <a:xfrm>
            <a:off x="466602" y="1552576"/>
            <a:ext cx="8232898" cy="1152524"/>
          </a:xfrm>
        </p:spPr>
        <p:txBody>
          <a:bodyPr/>
          <a:lstStyle/>
          <a:p>
            <a:r>
              <a:rPr lang="en-US" altLang="en-US" sz="2200" dirty="0"/>
              <a:t>What causes poverty is a difficult question, but low-income countries have at least some of following characteristics, which could contribute to poverty:</a:t>
            </a:r>
          </a:p>
        </p:txBody>
      </p:sp>
      <p:sp>
        <p:nvSpPr>
          <p:cNvPr id="5" name="Content Placeholder 4"/>
          <p:cNvSpPr>
            <a:spLocks noGrp="1"/>
          </p:cNvSpPr>
          <p:nvPr>
            <p:ph sz="quarter" idx="14"/>
          </p:nvPr>
        </p:nvSpPr>
        <p:spPr>
          <a:xfrm>
            <a:off x="466603" y="2754415"/>
            <a:ext cx="5511410" cy="471386"/>
          </a:xfrm>
        </p:spPr>
        <p:txBody>
          <a:bodyPr/>
          <a:lstStyle/>
          <a:p>
            <a:pPr marL="432000" indent="-432000">
              <a:buFont typeface="+mj-lt"/>
              <a:buAutoNum type="arabicPeriod"/>
            </a:pPr>
            <a:r>
              <a:rPr lang="en-US" altLang="en-US" sz="2200" dirty="0"/>
              <a:t>Government control of the economy</a:t>
            </a:r>
          </a:p>
        </p:txBody>
      </p:sp>
      <p:sp>
        <p:nvSpPr>
          <p:cNvPr id="6" name="Content Placeholder 5"/>
          <p:cNvSpPr>
            <a:spLocks noGrp="1"/>
          </p:cNvSpPr>
          <p:nvPr>
            <p:ph sz="quarter" idx="15"/>
          </p:nvPr>
        </p:nvSpPr>
        <p:spPr>
          <a:xfrm>
            <a:off x="466603" y="3287515"/>
            <a:ext cx="8220197" cy="2484635"/>
          </a:xfrm>
        </p:spPr>
        <p:txBody>
          <a:bodyPr tIns="0"/>
          <a:lstStyle/>
          <a:p>
            <a:pPr marL="740664" lvl="1" indent="-283464"/>
            <a:r>
              <a:rPr lang="en-US" altLang="en-US" sz="2200" dirty="0"/>
              <a:t>Restrictions on trade</a:t>
            </a:r>
          </a:p>
          <a:p>
            <a:pPr marL="740664" lvl="1" indent="-283464"/>
            <a:r>
              <a:rPr lang="en-US" altLang="en-US" sz="2200" dirty="0"/>
              <a:t>Direct control of production in industries and a high level of government purchases relative to G</a:t>
            </a:r>
            <a:r>
              <a:rPr lang="en-US" altLang="en-US" sz="100" dirty="0"/>
              <a:t> </a:t>
            </a:r>
            <a:r>
              <a:rPr lang="en-US" altLang="en-US" sz="2200" dirty="0"/>
              <a:t>N</a:t>
            </a:r>
            <a:r>
              <a:rPr lang="en-US" altLang="en-US" sz="100" dirty="0"/>
              <a:t> </a:t>
            </a:r>
            <a:r>
              <a:rPr lang="en-US" altLang="en-US" sz="2200" dirty="0"/>
              <a:t>P</a:t>
            </a:r>
          </a:p>
          <a:p>
            <a:pPr marL="740664" lvl="1" indent="-283464"/>
            <a:r>
              <a:rPr lang="en-US" altLang="en-US" sz="2200" dirty="0"/>
              <a:t>Direct control of financial transactions</a:t>
            </a:r>
          </a:p>
          <a:p>
            <a:pPr marL="740664" lvl="1" indent="-283464"/>
            <a:r>
              <a:rPr lang="en-US" altLang="en-US" sz="2200" dirty="0"/>
              <a:t>Reduced competition reduces innovation; lack of market prices prevents efficient allocation of resources</a:t>
            </a:r>
            <a:endParaRPr lang="en-US" sz="2200" dirty="0"/>
          </a:p>
        </p:txBody>
      </p:sp>
    </p:spTree>
    <p:extLst>
      <p:ext uri="{BB962C8B-B14F-4D97-AF65-F5344CB8AC3E}">
        <p14:creationId xmlns:p14="http://schemas.microsoft.com/office/powerpoint/2010/main" val="67570900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000" dirty="0"/>
              <a:t>Figure 22.1 Richer Countries Have Become Less Important for Global G</a:t>
            </a:r>
            <a:r>
              <a:rPr lang="en-US" sz="100" dirty="0"/>
              <a:t> </a:t>
            </a:r>
            <a:r>
              <a:rPr lang="en-US" sz="3000" dirty="0"/>
              <a:t>D</a:t>
            </a:r>
            <a:r>
              <a:rPr lang="en-US" sz="100" dirty="0"/>
              <a:t> </a:t>
            </a:r>
            <a:r>
              <a:rPr lang="en-US" sz="3000" dirty="0"/>
              <a:t>P Growth</a:t>
            </a:r>
          </a:p>
        </p:txBody>
      </p:sp>
      <p:pic>
        <p:nvPicPr>
          <p:cNvPr id="8" name="Content Placeholder 7" descr="A stacked bar graph plots the percent of G D P growth for 6 groups or countries, versus decade, from the 19 sixties to the 20 tens. For long description in Notes pane, press F6."/>
          <p:cNvPicPr>
            <a:picLocks noGrp="1" noChangeAspect="1"/>
          </p:cNvPicPr>
          <p:nvPr>
            <p:ph sz="quarter" idx="13"/>
          </p:nvPr>
        </p:nvPicPr>
        <p:blipFill>
          <a:blip r:embed="rId3">
            <a:extLst>
              <a:ext uri="{28A0092B-C50C-407E-A947-70E740481C1C}">
                <a14:useLocalDpi xmlns:a14="http://schemas.microsoft.com/office/drawing/2010/main" val="0"/>
              </a:ext>
            </a:extLst>
          </a:blip>
          <a:stretch>
            <a:fillRect/>
          </a:stretch>
        </p:blipFill>
        <p:spPr>
          <a:xfrm>
            <a:off x="2351510" y="1505150"/>
            <a:ext cx="4440978" cy="2660038"/>
          </a:xfrm>
        </p:spPr>
      </p:pic>
      <p:sp>
        <p:nvSpPr>
          <p:cNvPr id="7" name="Content Placeholder 6"/>
          <p:cNvSpPr>
            <a:spLocks noGrp="1"/>
          </p:cNvSpPr>
          <p:nvPr>
            <p:ph sz="quarter" idx="14"/>
          </p:nvPr>
        </p:nvSpPr>
        <p:spPr>
          <a:xfrm>
            <a:off x="457200" y="4250048"/>
            <a:ext cx="8229600" cy="2064162"/>
          </a:xfrm>
        </p:spPr>
        <p:txBody>
          <a:bodyPr tIns="0" rIns="0" bIns="0"/>
          <a:lstStyle/>
          <a:p>
            <a:pPr marL="0" indent="0">
              <a:spcBef>
                <a:spcPts val="600"/>
              </a:spcBef>
              <a:buNone/>
            </a:pPr>
            <a:r>
              <a:rPr lang="en-US" sz="1600" dirty="0"/>
              <a:t>As many developing countries have grown more quickly and come to account for larger shares of world output, their G</a:t>
            </a:r>
            <a:r>
              <a:rPr lang="en-US" sz="100" dirty="0"/>
              <a:t> </a:t>
            </a:r>
            <a:r>
              <a:rPr lang="en-US" sz="1600" dirty="0"/>
              <a:t>D</a:t>
            </a:r>
            <a:r>
              <a:rPr lang="en-US" sz="100" dirty="0"/>
              <a:t> </a:t>
            </a:r>
            <a:r>
              <a:rPr lang="en-US" sz="1600" dirty="0"/>
              <a:t>P growth rates have become more important in determining overall world growth. At the same time, growth in the richer economies has tended to slow over time.</a:t>
            </a:r>
          </a:p>
          <a:p>
            <a:pPr marL="0" indent="0">
              <a:spcBef>
                <a:spcPts val="600"/>
              </a:spcBef>
              <a:buNone/>
            </a:pPr>
            <a:r>
              <a:rPr lang="en-US" sz="1600" b="1" dirty="0"/>
              <a:t>Source:</a:t>
            </a:r>
            <a:r>
              <a:rPr lang="en-US" sz="1600" dirty="0"/>
              <a:t> I</a:t>
            </a:r>
            <a:r>
              <a:rPr lang="en-US" sz="100" dirty="0"/>
              <a:t> </a:t>
            </a:r>
            <a:r>
              <a:rPr lang="en-US" sz="1600" dirty="0"/>
              <a:t>M</a:t>
            </a:r>
            <a:r>
              <a:rPr lang="en-US" sz="100" dirty="0"/>
              <a:t> </a:t>
            </a:r>
            <a:r>
              <a:rPr lang="en-US" sz="1600" dirty="0"/>
              <a:t>F, </a:t>
            </a:r>
            <a:r>
              <a:rPr lang="en-US" sz="1600" b="1" dirty="0"/>
              <a:t>World Economic Outlook</a:t>
            </a:r>
            <a:r>
              <a:rPr lang="en-US" sz="1600" i="1" dirty="0"/>
              <a:t>. </a:t>
            </a:r>
            <a:r>
              <a:rPr lang="en-US" sz="1600" b="1" dirty="0"/>
              <a:t>The group of </a:t>
            </a:r>
            <a:r>
              <a:rPr lang="en-US" sz="1600" i="1" dirty="0"/>
              <a:t>“a</a:t>
            </a:r>
            <a:r>
              <a:rPr lang="en-US" sz="1600" dirty="0"/>
              <a:t>dvanced economies” in the chart excludes Japan, Germany, and United States, which are shown separately. World growth is calculated using G</a:t>
            </a:r>
            <a:r>
              <a:rPr lang="en-US" sz="100" dirty="0"/>
              <a:t> </a:t>
            </a:r>
            <a:r>
              <a:rPr lang="en-US" sz="1600" dirty="0"/>
              <a:t>D</a:t>
            </a:r>
            <a:r>
              <a:rPr lang="en-US" sz="100" dirty="0"/>
              <a:t> </a:t>
            </a:r>
            <a:r>
              <a:rPr lang="en-US" sz="1600" dirty="0"/>
              <a:t>P weights, with G</a:t>
            </a:r>
            <a:r>
              <a:rPr lang="en-US" sz="100" dirty="0"/>
              <a:t> </a:t>
            </a:r>
            <a:r>
              <a:rPr lang="en-US" sz="1600" dirty="0"/>
              <a:t>D</a:t>
            </a:r>
            <a:r>
              <a:rPr lang="en-US" sz="100" dirty="0"/>
              <a:t> </a:t>
            </a:r>
            <a:r>
              <a:rPr lang="en-US" sz="1600" dirty="0"/>
              <a:t>P measured at market prices. Partial data for the 2010s.</a:t>
            </a:r>
          </a:p>
        </p:txBody>
      </p:sp>
    </p:spTree>
    <p:extLst>
      <p:ext uri="{BB962C8B-B14F-4D97-AF65-F5344CB8AC3E}">
        <p14:creationId xmlns:p14="http://schemas.microsoft.com/office/powerpoint/2010/main" val="32006302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sz="3200" dirty="0"/>
              <a:t>Structural Features of Developing Countries </a:t>
            </a:r>
            <a:r>
              <a:rPr lang="en-US" altLang="en-US" sz="2000" b="0" dirty="0"/>
              <a:t>(2 of 5)</a:t>
            </a:r>
            <a:endParaRPr lang="en-US" dirty="0"/>
          </a:p>
        </p:txBody>
      </p:sp>
      <p:sp>
        <p:nvSpPr>
          <p:cNvPr id="3" name="Content Placeholder 2"/>
          <p:cNvSpPr>
            <a:spLocks noGrp="1"/>
          </p:cNvSpPr>
          <p:nvPr>
            <p:ph sz="quarter" idx="13"/>
          </p:nvPr>
        </p:nvSpPr>
        <p:spPr>
          <a:xfrm>
            <a:off x="457200" y="1556327"/>
            <a:ext cx="8229600" cy="813247"/>
          </a:xfrm>
        </p:spPr>
        <p:txBody>
          <a:bodyPr/>
          <a:lstStyle/>
          <a:p>
            <a:pPr marL="432000" indent="-432000">
              <a:buFont typeface="+mj-lt"/>
              <a:buAutoNum type="arabicPeriod" startAt="2"/>
            </a:pPr>
            <a:r>
              <a:rPr lang="en-US" altLang="en-US" sz="2200" dirty="0"/>
              <a:t>Unsustainable macroeconomic policies that cause high inflation and unstable output and employment</a:t>
            </a:r>
          </a:p>
        </p:txBody>
      </p:sp>
      <p:sp>
        <p:nvSpPr>
          <p:cNvPr id="4" name="Content Placeholder 3"/>
          <p:cNvSpPr>
            <a:spLocks noGrp="1"/>
          </p:cNvSpPr>
          <p:nvPr>
            <p:ph sz="quarter" idx="14"/>
          </p:nvPr>
        </p:nvSpPr>
        <p:spPr>
          <a:xfrm>
            <a:off x="457200" y="2444866"/>
            <a:ext cx="7943850" cy="3713479"/>
          </a:xfrm>
        </p:spPr>
        <p:txBody>
          <a:bodyPr lIns="0" tIns="0" rIns="0" bIns="0"/>
          <a:lstStyle/>
          <a:p>
            <a:pPr marL="740664" lvl="1" indent="-283464"/>
            <a:r>
              <a:rPr lang="en-US" altLang="en-US" sz="2200" dirty="0"/>
              <a:t>If governments cannot pay for debts through taxes, they can print money to finance debts.</a:t>
            </a:r>
          </a:p>
          <a:p>
            <a:pPr marL="740664" lvl="1" indent="-283464"/>
            <a:r>
              <a:rPr lang="en-US" altLang="en-US" sz="2200" b="1" dirty="0"/>
              <a:t>Seigniorage</a:t>
            </a:r>
            <a:r>
              <a:rPr lang="en-US" altLang="en-US" sz="2200" dirty="0"/>
              <a:t> is paying for real goods and services by printing money.</a:t>
            </a:r>
          </a:p>
          <a:p>
            <a:pPr marL="740664" lvl="1" indent="-283464"/>
            <a:r>
              <a:rPr lang="en-US" altLang="en-US" sz="2200" dirty="0"/>
              <a:t>Seigniorage generally leads to high inflation.</a:t>
            </a:r>
          </a:p>
          <a:p>
            <a:pPr marL="740664" lvl="1" indent="-283464"/>
            <a:r>
              <a:rPr lang="en-US" altLang="en-US" sz="2200" dirty="0"/>
              <a:t>High inflation reduces the real cost of debt that the government has to repay and reduces the real value of repayments for lenders.</a:t>
            </a:r>
          </a:p>
          <a:p>
            <a:pPr marL="740664" lvl="1" indent="-283464"/>
            <a:r>
              <a:rPr lang="en-US" altLang="en-US" sz="2200" dirty="0"/>
              <a:t>High and variable inflation is costly to society; unstable output and employment is also costly.</a:t>
            </a:r>
            <a:endParaRPr lang="en-US" sz="2200" dirty="0"/>
          </a:p>
        </p:txBody>
      </p:sp>
    </p:spTree>
    <p:extLst>
      <p:ext uri="{BB962C8B-B14F-4D97-AF65-F5344CB8AC3E}">
        <p14:creationId xmlns:p14="http://schemas.microsoft.com/office/powerpoint/2010/main" val="161563375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sz="3200" dirty="0"/>
              <a:t>Structural Features of Developing Countries </a:t>
            </a:r>
            <a:r>
              <a:rPr lang="en-US" altLang="en-US" sz="2000" b="0" dirty="0"/>
              <a:t>(3 of 5)</a:t>
            </a:r>
            <a:endParaRPr lang="en-US" dirty="0"/>
          </a:p>
        </p:txBody>
      </p:sp>
      <p:sp>
        <p:nvSpPr>
          <p:cNvPr id="3" name="Content Placeholder 2"/>
          <p:cNvSpPr>
            <a:spLocks noGrp="1"/>
          </p:cNvSpPr>
          <p:nvPr>
            <p:ph sz="quarter" idx="13"/>
          </p:nvPr>
        </p:nvSpPr>
        <p:spPr>
          <a:xfrm>
            <a:off x="457200" y="1556327"/>
            <a:ext cx="8229600" cy="734589"/>
          </a:xfrm>
        </p:spPr>
        <p:txBody>
          <a:bodyPr/>
          <a:lstStyle/>
          <a:p>
            <a:pPr marL="432000" indent="-432000">
              <a:buFont typeface="+mj-lt"/>
              <a:buAutoNum type="arabicPeriod" startAt="3"/>
            </a:pPr>
            <a:r>
              <a:rPr lang="en-US" altLang="en-US" sz="2000" dirty="0"/>
              <a:t>Lack of financial markets that allow transfer of funds from savers to borrowers</a:t>
            </a:r>
          </a:p>
        </p:txBody>
      </p:sp>
      <p:sp>
        <p:nvSpPr>
          <p:cNvPr id="4" name="Content Placeholder 3"/>
          <p:cNvSpPr>
            <a:spLocks noGrp="1"/>
          </p:cNvSpPr>
          <p:nvPr>
            <p:ph sz="quarter" idx="14"/>
          </p:nvPr>
        </p:nvSpPr>
        <p:spPr>
          <a:xfrm>
            <a:off x="457200" y="2388318"/>
            <a:ext cx="8010525" cy="3660057"/>
          </a:xfrm>
        </p:spPr>
        <p:txBody>
          <a:bodyPr tIns="0" rIns="0" bIns="0"/>
          <a:lstStyle/>
          <a:p>
            <a:pPr lvl="1"/>
            <a:r>
              <a:rPr lang="en-US" altLang="en-US" sz="2000" dirty="0"/>
              <a:t>Banks frequently lend funds to poor or risky projects.</a:t>
            </a:r>
          </a:p>
          <a:p>
            <a:pPr lvl="1"/>
            <a:r>
              <a:rPr lang="en-US" altLang="en-US" sz="2000" dirty="0"/>
              <a:t>Loans may be made on the basis of personal connections rather than prospective returns, and government safeguards against financial fragility, such as bank supervision, tend to be ineffective due to incompetence, inexperience, and outright fraud.</a:t>
            </a:r>
          </a:p>
          <a:p>
            <a:pPr lvl="1"/>
            <a:r>
              <a:rPr lang="en-US" altLang="en-US" sz="2000" dirty="0"/>
              <a:t>Usually harder in developing countries for shareholders to find out how a firm’</a:t>
            </a:r>
            <a:r>
              <a:rPr lang="en-US" altLang="ja-JP" sz="2000" dirty="0"/>
              <a:t>s money is being spent or to control firm managers.</a:t>
            </a:r>
          </a:p>
          <a:p>
            <a:pPr lvl="1"/>
            <a:r>
              <a:rPr lang="en-US" altLang="en-US" sz="2000" dirty="0"/>
              <a:t>The legal framework for resolving asset ownership in cases of bankruptcy typically is also weak.</a:t>
            </a:r>
            <a:endParaRPr lang="en-US" sz="2000" dirty="0"/>
          </a:p>
        </p:txBody>
      </p:sp>
    </p:spTree>
    <p:extLst>
      <p:ext uri="{BB962C8B-B14F-4D97-AF65-F5344CB8AC3E}">
        <p14:creationId xmlns:p14="http://schemas.microsoft.com/office/powerpoint/2010/main" val="127212567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sz="3200" dirty="0"/>
              <a:t>Structural Features of Developing Countries </a:t>
            </a:r>
            <a:r>
              <a:rPr lang="en-US" altLang="en-US" sz="2000" b="0" dirty="0"/>
              <a:t>(4 of 5)</a:t>
            </a:r>
            <a:endParaRPr lang="en-US" dirty="0"/>
          </a:p>
        </p:txBody>
      </p:sp>
      <p:sp>
        <p:nvSpPr>
          <p:cNvPr id="5" name="Content Placeholder 4"/>
          <p:cNvSpPr>
            <a:spLocks noGrp="1"/>
          </p:cNvSpPr>
          <p:nvPr>
            <p:ph sz="quarter" idx="13"/>
          </p:nvPr>
        </p:nvSpPr>
        <p:spPr>
          <a:xfrm>
            <a:off x="457199" y="1556327"/>
            <a:ext cx="8467725" cy="4225348"/>
          </a:xfrm>
        </p:spPr>
        <p:txBody>
          <a:bodyPr/>
          <a:lstStyle/>
          <a:p>
            <a:pPr marL="432000" indent="-432000">
              <a:buFont typeface="+mj-lt"/>
              <a:buAutoNum type="arabicPeriod" startAt="4"/>
            </a:pPr>
            <a:r>
              <a:rPr lang="en-US" altLang="en-US" sz="2000" dirty="0"/>
              <a:t>Where exchange rates are not pegged outright (as in China), they tend to be managed more heavily by developing-country governments. Government measures to limit exchange rate flexibility reflect both a desire to keep inflation under control and the fear that floating exchange rates would be subject to huge volatility in the relatively thin markets for developing-country currencies. There is a history of allocating foreign exchange through government decree rather than through the market, a practice (called </a:t>
            </a:r>
            <a:r>
              <a:rPr lang="en-US" altLang="en-US" sz="2000" b="1" dirty="0"/>
              <a:t>exchange control</a:t>
            </a:r>
            <a:r>
              <a:rPr lang="en-US" altLang="en-US" sz="2000" dirty="0"/>
              <a:t>) that some developing countries still maintain. Most developing countries have, in particular, tried to control capital movements by limiting foreign exchange transactions connected with trade in assets. More recently, however, many emerging markets have opened their capital accounts.</a:t>
            </a:r>
            <a:endParaRPr lang="en-US" sz="2000" dirty="0"/>
          </a:p>
        </p:txBody>
      </p:sp>
    </p:spTree>
    <p:extLst>
      <p:ext uri="{BB962C8B-B14F-4D97-AF65-F5344CB8AC3E}">
        <p14:creationId xmlns:p14="http://schemas.microsoft.com/office/powerpoint/2010/main" val="266394725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sz="3200" dirty="0"/>
              <a:t>Structural Features of Developing Countries </a:t>
            </a:r>
            <a:r>
              <a:rPr lang="en-US" altLang="en-US" sz="2000" b="0" dirty="0"/>
              <a:t>(5 of 5)</a:t>
            </a:r>
            <a:endParaRPr lang="en-US" dirty="0"/>
          </a:p>
        </p:txBody>
      </p:sp>
      <p:sp>
        <p:nvSpPr>
          <p:cNvPr id="4" name="Content Placeholder 3"/>
          <p:cNvSpPr>
            <a:spLocks noGrp="1"/>
          </p:cNvSpPr>
          <p:nvPr>
            <p:ph sz="quarter" idx="13"/>
          </p:nvPr>
        </p:nvSpPr>
        <p:spPr>
          <a:xfrm>
            <a:off x="457200" y="1552575"/>
            <a:ext cx="8229600" cy="788843"/>
          </a:xfrm>
        </p:spPr>
        <p:txBody>
          <a:bodyPr/>
          <a:lstStyle/>
          <a:p>
            <a:pPr marL="432000" indent="-432000">
              <a:buFont typeface="+mj-lt"/>
              <a:buAutoNum type="arabicPeriod" startAt="5"/>
            </a:pPr>
            <a:r>
              <a:rPr lang="en-US" altLang="en-US" sz="2200" dirty="0"/>
              <a:t>Natural resources or agricultural commodities make up an important share of exports for many developing countries.</a:t>
            </a:r>
          </a:p>
        </p:txBody>
      </p:sp>
      <p:sp>
        <p:nvSpPr>
          <p:cNvPr id="5" name="Content Placeholder 4"/>
          <p:cNvSpPr>
            <a:spLocks noGrp="1"/>
          </p:cNvSpPr>
          <p:nvPr>
            <p:ph sz="quarter" idx="14"/>
          </p:nvPr>
        </p:nvSpPr>
        <p:spPr>
          <a:xfrm>
            <a:off x="457200" y="2454074"/>
            <a:ext cx="8232128" cy="774036"/>
          </a:xfrm>
        </p:spPr>
        <p:txBody>
          <a:bodyPr tIns="0"/>
          <a:lstStyle/>
          <a:p>
            <a:pPr lvl="1" indent="-284400"/>
            <a:r>
              <a:rPr lang="en-US" altLang="en-US" sz="2200" dirty="0"/>
              <a:t>For example, Russian petrol</a:t>
            </a:r>
            <a:r>
              <a:rPr lang="en-US" altLang="en-US" sz="2200" i="1" dirty="0"/>
              <a:t>e</a:t>
            </a:r>
            <a:r>
              <a:rPr lang="en-US" altLang="en-US" sz="2200" dirty="0"/>
              <a:t>um, Malaysian timber, South African gold, and Colombian coffee.</a:t>
            </a:r>
          </a:p>
        </p:txBody>
      </p:sp>
      <p:sp>
        <p:nvSpPr>
          <p:cNvPr id="6" name="Content Placeholder 5"/>
          <p:cNvSpPr>
            <a:spLocks noGrp="1"/>
          </p:cNvSpPr>
          <p:nvPr>
            <p:ph sz="quarter" idx="15"/>
          </p:nvPr>
        </p:nvSpPr>
        <p:spPr>
          <a:xfrm>
            <a:off x="457199" y="3353674"/>
            <a:ext cx="8524875" cy="1135200"/>
          </a:xfrm>
        </p:spPr>
        <p:txBody>
          <a:bodyPr/>
          <a:lstStyle/>
          <a:p>
            <a:pPr marL="432000" indent="-432000">
              <a:buFont typeface="+mj-lt"/>
              <a:buAutoNum type="arabicPeriod" startAt="6"/>
            </a:pPr>
            <a:r>
              <a:rPr lang="en-US" altLang="en-US" sz="2200" dirty="0"/>
              <a:t>Attempts to circumvent government controls, taxes, and regulations have helped to make corrupt practices such as bribery and extortion a way of life in many developing countries.</a:t>
            </a:r>
          </a:p>
        </p:txBody>
      </p:sp>
      <p:sp>
        <p:nvSpPr>
          <p:cNvPr id="7" name="Content Placeholder 6"/>
          <p:cNvSpPr>
            <a:spLocks noGrp="1"/>
          </p:cNvSpPr>
          <p:nvPr>
            <p:ph sz="quarter" idx="16"/>
          </p:nvPr>
        </p:nvSpPr>
        <p:spPr>
          <a:xfrm>
            <a:off x="454672" y="4623592"/>
            <a:ext cx="8232128" cy="1247268"/>
          </a:xfrm>
        </p:spPr>
        <p:txBody>
          <a:bodyPr tIns="0"/>
          <a:lstStyle/>
          <a:p>
            <a:pPr lvl="1" indent="-284400"/>
            <a:r>
              <a:rPr lang="en-US" altLang="en-US" sz="2200" dirty="0"/>
              <a:t>Due to government control of the economy and weak enforcement of economic laws and regulations, underground economies and corruption flourish.</a:t>
            </a:r>
            <a:endParaRPr lang="en-US" sz="2200" dirty="0"/>
          </a:p>
        </p:txBody>
      </p:sp>
    </p:spTree>
    <p:extLst>
      <p:ext uri="{BB962C8B-B14F-4D97-AF65-F5344CB8AC3E}">
        <p14:creationId xmlns:p14="http://schemas.microsoft.com/office/powerpoint/2010/main" val="80963274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Commodity Price Index</a:t>
            </a:r>
            <a:endParaRPr lang="en-US" dirty="0"/>
          </a:p>
        </p:txBody>
      </p:sp>
      <p:pic>
        <p:nvPicPr>
          <p:cNvPr id="9" name="Content Placeholder 8" descr="A graph plots index, 19 98 = 100, versus year, from 19 98 to 20 16. For long description in Notes pane, press F6."/>
          <p:cNvPicPr>
            <a:picLocks noGrp="1" noChangeAspect="1"/>
          </p:cNvPicPr>
          <p:nvPr>
            <p:ph sz="quarter" idx="13"/>
          </p:nvPr>
        </p:nvPicPr>
        <p:blipFill>
          <a:blip r:embed="rId3">
            <a:extLst>
              <a:ext uri="{28A0092B-C50C-407E-A947-70E740481C1C}">
                <a14:useLocalDpi xmlns:a14="http://schemas.microsoft.com/office/drawing/2010/main" val="0"/>
              </a:ext>
            </a:extLst>
          </a:blip>
          <a:stretch>
            <a:fillRect/>
          </a:stretch>
        </p:blipFill>
        <p:spPr>
          <a:xfrm>
            <a:off x="1390975" y="1571597"/>
            <a:ext cx="6362048" cy="3116611"/>
          </a:xfrm>
        </p:spPr>
      </p:pic>
      <p:sp>
        <p:nvSpPr>
          <p:cNvPr id="8" name="Content Placeholder 7"/>
          <p:cNvSpPr>
            <a:spLocks noGrp="1"/>
          </p:cNvSpPr>
          <p:nvPr>
            <p:ph sz="quarter" idx="14"/>
          </p:nvPr>
        </p:nvSpPr>
        <p:spPr>
          <a:xfrm>
            <a:off x="457200" y="4794038"/>
            <a:ext cx="8229600" cy="1568662"/>
          </a:xfrm>
        </p:spPr>
        <p:txBody>
          <a:bodyPr/>
          <a:lstStyle/>
          <a:p>
            <a:pPr marL="0" indent="0">
              <a:buNone/>
            </a:pPr>
            <a:r>
              <a:rPr lang="en-US" sz="2000" dirty="0"/>
              <a:t>Over the past two decades, aggregate commodity prices have experienced a boom-bust cycle.</a:t>
            </a:r>
          </a:p>
          <a:p>
            <a:pPr marL="0" indent="0">
              <a:buNone/>
            </a:pPr>
            <a:r>
              <a:rPr lang="en-US" sz="2000" b="1" dirty="0"/>
              <a:t>Source:</a:t>
            </a:r>
            <a:r>
              <a:rPr lang="en-US" sz="2000" dirty="0"/>
              <a:t> I</a:t>
            </a:r>
            <a:r>
              <a:rPr lang="en-US" sz="100" dirty="0"/>
              <a:t> </a:t>
            </a:r>
            <a:r>
              <a:rPr lang="en-US" sz="2000" dirty="0"/>
              <a:t>M</a:t>
            </a:r>
            <a:r>
              <a:rPr lang="en-US" sz="100" dirty="0"/>
              <a:t> </a:t>
            </a:r>
            <a:r>
              <a:rPr lang="en-US" sz="2000" dirty="0"/>
              <a:t>F. All Commodity Price Index (2016 = 100). Includes both fuel and non-fuel indices.</a:t>
            </a:r>
          </a:p>
        </p:txBody>
      </p:sp>
    </p:spTree>
    <p:extLst>
      <p:ext uri="{BB962C8B-B14F-4D97-AF65-F5344CB8AC3E}">
        <p14:creationId xmlns:p14="http://schemas.microsoft.com/office/powerpoint/2010/main" val="83974216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sz="3200" dirty="0"/>
              <a:t>Figure 22.2 Corruption and Per Capita Output</a:t>
            </a:r>
            <a:endParaRPr lang="en-US" sz="3200" dirty="0"/>
          </a:p>
        </p:txBody>
      </p:sp>
      <p:pic>
        <p:nvPicPr>
          <p:cNvPr id="6" name="Content Placeholder 5" descr="A graph of corruption and per capita output. For long description in Notes pane, press F6."/>
          <p:cNvPicPr>
            <a:picLocks noGrp="1" noChangeAspect="1"/>
          </p:cNvPicPr>
          <p:nvPr>
            <p:ph sz="quarter" idx="13"/>
          </p:nvPr>
        </p:nvPicPr>
        <p:blipFill>
          <a:blip r:embed="rId3"/>
          <a:stretch>
            <a:fillRect/>
          </a:stretch>
        </p:blipFill>
        <p:spPr>
          <a:xfrm>
            <a:off x="2276110" y="1585604"/>
            <a:ext cx="4671905" cy="3045448"/>
          </a:xfrm>
          <a:prstGeom prst="rect">
            <a:avLst/>
          </a:prstGeom>
        </p:spPr>
      </p:pic>
      <p:sp>
        <p:nvSpPr>
          <p:cNvPr id="4" name="Content Placeholder 3"/>
          <p:cNvSpPr>
            <a:spLocks noGrp="1"/>
          </p:cNvSpPr>
          <p:nvPr>
            <p:ph sz="quarter" idx="14"/>
          </p:nvPr>
        </p:nvSpPr>
        <p:spPr>
          <a:xfrm>
            <a:off x="457199" y="4705592"/>
            <a:ext cx="8309729" cy="1706358"/>
          </a:xfrm>
        </p:spPr>
        <p:txBody>
          <a:bodyPr tIns="0" rIns="0" bIns="0"/>
          <a:lstStyle/>
          <a:p>
            <a:pPr marL="0" indent="0">
              <a:spcBef>
                <a:spcPts val="600"/>
              </a:spcBef>
              <a:buNone/>
            </a:pPr>
            <a:r>
              <a:rPr lang="en-US" sz="1600" dirty="0"/>
              <a:t>Corruption tends to rise as real per capita output falls.</a:t>
            </a:r>
          </a:p>
          <a:p>
            <a:pPr marL="432" indent="0" algn="l">
              <a:spcBef>
                <a:spcPts val="600"/>
              </a:spcBef>
              <a:buNone/>
            </a:pPr>
            <a:r>
              <a:rPr lang="en-US" sz="1400" b="1" i="0" u="none" strike="noStrike" baseline="0" dirty="0"/>
              <a:t>Note: </a:t>
            </a:r>
            <a:r>
              <a:rPr lang="en-US" sz="1400" b="0" i="0" u="none" strike="noStrike" baseline="0" dirty="0"/>
              <a:t>The figure plots 2018 values of an (inverse) index of corruption and 2018 values of PPP-adjusted real per capita output, measured in constant 2010 U.S. dollars (the amount a dollar could buy in the United States in 2010). The straight line represents a statistician’s best guess of a country’s corruption level based on its real per capita output.</a:t>
            </a:r>
            <a:endParaRPr lang="en-US" sz="1400" dirty="0"/>
          </a:p>
          <a:p>
            <a:pPr marL="0" indent="0">
              <a:spcBef>
                <a:spcPts val="600"/>
              </a:spcBef>
              <a:buNone/>
            </a:pPr>
            <a:r>
              <a:rPr lang="en-US" sz="1400" b="1" dirty="0"/>
              <a:t>Source:</a:t>
            </a:r>
            <a:r>
              <a:rPr lang="en-US" sz="1400" dirty="0"/>
              <a:t> Transparency International, Corruption Perception Index; World Bank, World Development Indicators.</a:t>
            </a:r>
          </a:p>
        </p:txBody>
      </p:sp>
    </p:spTree>
    <p:extLst>
      <p:ext uri="{BB962C8B-B14F-4D97-AF65-F5344CB8AC3E}">
        <p14:creationId xmlns:p14="http://schemas.microsoft.com/office/powerpoint/2010/main" val="321226955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sz="3200" dirty="0"/>
              <a:t>Developing-Country Borrowing and Debt</a:t>
            </a:r>
            <a:endParaRPr lang="en-US" sz="3200" dirty="0"/>
          </a:p>
        </p:txBody>
      </p:sp>
      <p:sp>
        <p:nvSpPr>
          <p:cNvPr id="3" name="Content Placeholder 2"/>
          <p:cNvSpPr>
            <a:spLocks noGrp="1"/>
          </p:cNvSpPr>
          <p:nvPr>
            <p:ph sz="quarter" idx="13"/>
          </p:nvPr>
        </p:nvSpPr>
        <p:spPr>
          <a:xfrm>
            <a:off x="457200" y="1556327"/>
            <a:ext cx="8229600" cy="4387273"/>
          </a:xfrm>
        </p:spPr>
        <p:txBody>
          <a:bodyPr/>
          <a:lstStyle/>
          <a:p>
            <a:r>
              <a:rPr lang="en-US" altLang="en-US" sz="2000" dirty="0"/>
              <a:t>Another common characteristic for many low- and middle-income countries is that they have traditionally borrowed from foreign countries.</a:t>
            </a:r>
          </a:p>
          <a:p>
            <a:pPr lvl="1"/>
            <a:r>
              <a:rPr lang="en-US" altLang="en-US" sz="2000" dirty="0"/>
              <a:t>Financial asset flows from foreign countries are able to finance investment projects, eventually leading to higher production and consumption.</a:t>
            </a:r>
          </a:p>
          <a:p>
            <a:pPr lvl="1"/>
            <a:r>
              <a:rPr lang="en-US" altLang="en-US" sz="2000" dirty="0"/>
              <a:t>But some investment projects fail and other borrowed funds are used primarily for consumption purposes.</a:t>
            </a:r>
          </a:p>
          <a:p>
            <a:pPr lvl="1"/>
            <a:r>
              <a:rPr lang="en-US" altLang="en-US" sz="2000" dirty="0"/>
              <a:t>Some countries have defaulted on their foreign debts when the domestic economy stagnated or during financial crises.</a:t>
            </a:r>
          </a:p>
          <a:p>
            <a:pPr lvl="1"/>
            <a:r>
              <a:rPr lang="en-US" altLang="en-US" sz="2000" dirty="0"/>
              <a:t>But this trend has recently reversed as these countries have begun to save.</a:t>
            </a:r>
            <a:endParaRPr lang="en-US" sz="2000" dirty="0"/>
          </a:p>
        </p:txBody>
      </p:sp>
    </p:spTree>
    <p:extLst>
      <p:ext uri="{BB962C8B-B14F-4D97-AF65-F5344CB8AC3E}">
        <p14:creationId xmlns:p14="http://schemas.microsoft.com/office/powerpoint/2010/main" val="216370640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sz="3200" dirty="0"/>
              <a:t>The Economics of Financial Inflows to Developing Countries</a:t>
            </a:r>
            <a:endParaRPr lang="en-US" sz="3200" dirty="0"/>
          </a:p>
        </p:txBody>
      </p:sp>
      <p:sp>
        <p:nvSpPr>
          <p:cNvPr id="3" name="Content Placeholder 2"/>
          <p:cNvSpPr>
            <a:spLocks noGrp="1"/>
          </p:cNvSpPr>
          <p:nvPr>
            <p:ph sz="quarter" idx="13"/>
          </p:nvPr>
        </p:nvSpPr>
        <p:spPr>
          <a:xfrm>
            <a:off x="457200" y="1556328"/>
            <a:ext cx="394855" cy="494146"/>
          </a:xfrm>
        </p:spPr>
        <p:txBody>
          <a:bodyPr/>
          <a:lstStyle/>
          <a:p>
            <a:pPr marL="0" indent="0"/>
            <a:r>
              <a:rPr lang="en-US" altLang="en-US" dirty="0"/>
              <a:t> </a:t>
            </a:r>
            <a:r>
              <a:rPr lang="en-US" altLang="en-US" sz="100" dirty="0"/>
              <a:t> </a:t>
            </a:r>
          </a:p>
        </p:txBody>
      </p:sp>
      <p:graphicFrame>
        <p:nvGraphicFramePr>
          <p:cNvPr id="5" name="Object 4" descr="national saving minus investment =  the current account"/>
          <p:cNvGraphicFramePr>
            <a:graphicFrameLocks noChangeAspect="1"/>
          </p:cNvGraphicFramePr>
          <p:nvPr>
            <p:extLst>
              <p:ext uri="{D42A27DB-BD31-4B8C-83A1-F6EECF244321}">
                <p14:modId xmlns:p14="http://schemas.microsoft.com/office/powerpoint/2010/main" val="2554620563"/>
              </p:ext>
            </p:extLst>
          </p:nvPr>
        </p:nvGraphicFramePr>
        <p:xfrm>
          <a:off x="949816" y="1642670"/>
          <a:ext cx="6569777" cy="393166"/>
        </p:xfrm>
        <a:graphic>
          <a:graphicData uri="http://schemas.openxmlformats.org/presentationml/2006/ole">
            <mc:AlternateContent xmlns:mc="http://schemas.openxmlformats.org/markup-compatibility/2006">
              <mc:Choice xmlns:v="urn:schemas-microsoft-com:vml" Requires="v">
                <p:oleObj spid="_x0000_s2091" name="Equation" r:id="rId3" imgW="3390840" imgH="203040" progId="Equation.DSMT4">
                  <p:embed/>
                </p:oleObj>
              </mc:Choice>
              <mc:Fallback>
                <p:oleObj name="Equation" r:id="rId3" imgW="3390840" imgH="203040" progId="Equation.DSMT4">
                  <p:embed/>
                  <p:pic>
                    <p:nvPicPr>
                      <p:cNvPr id="0" name=""/>
                      <p:cNvPicPr/>
                      <p:nvPr/>
                    </p:nvPicPr>
                    <p:blipFill>
                      <a:blip r:embed="rId4"/>
                      <a:stretch>
                        <a:fillRect/>
                      </a:stretch>
                    </p:blipFill>
                    <p:spPr>
                      <a:xfrm>
                        <a:off x="949816" y="1642670"/>
                        <a:ext cx="6569777" cy="393166"/>
                      </a:xfrm>
                      <a:prstGeom prst="rect">
                        <a:avLst/>
                      </a:prstGeom>
                    </p:spPr>
                  </p:pic>
                </p:oleObj>
              </mc:Fallback>
            </mc:AlternateContent>
          </a:graphicData>
        </a:graphic>
      </p:graphicFrame>
      <p:sp>
        <p:nvSpPr>
          <p:cNvPr id="4" name="Content Placeholder 3"/>
          <p:cNvSpPr>
            <a:spLocks noGrp="1"/>
          </p:cNvSpPr>
          <p:nvPr>
            <p:ph sz="quarter" idx="14"/>
          </p:nvPr>
        </p:nvSpPr>
        <p:spPr>
          <a:xfrm>
            <a:off x="457200" y="2131157"/>
            <a:ext cx="8032173" cy="2323078"/>
          </a:xfrm>
        </p:spPr>
        <p:txBody>
          <a:bodyPr tIns="0" rIns="0" bIns="0"/>
          <a:lstStyle/>
          <a:p>
            <a:pPr lvl="1"/>
            <a:r>
              <a:rPr lang="en-US" altLang="en-US" dirty="0"/>
              <a:t>where the current account is approximately equal to the value of exports minus the value of imports.</a:t>
            </a:r>
          </a:p>
          <a:p>
            <a:r>
              <a:rPr lang="en-US" altLang="en-US" dirty="0"/>
              <a:t>Countries with national saving less than domestic investment will have financial asset inflows and a negative current account (a trade deficit).</a:t>
            </a:r>
            <a:endParaRPr lang="en-US" dirty="0"/>
          </a:p>
        </p:txBody>
      </p:sp>
    </p:spTree>
    <p:extLst>
      <p:ext uri="{BB962C8B-B14F-4D97-AF65-F5344CB8AC3E}">
        <p14:creationId xmlns:p14="http://schemas.microsoft.com/office/powerpoint/2010/main" val="21548746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45473"/>
            <a:ext cx="8229600" cy="1167177"/>
          </a:xfrm>
        </p:spPr>
        <p:txBody>
          <a:bodyPr anchor="ctr"/>
          <a:lstStyle/>
          <a:p>
            <a:r>
              <a:rPr lang="en-US" altLang="en-US" sz="2400"/>
              <a:t>Table 22.3 Cumulative Current Account Balances of Major Oil Exporters, Other Developing Countries, and Advanced Countries, 1973–2019 (Billions of Dollars)</a:t>
            </a:r>
            <a:endParaRPr lang="en-US" sz="2400"/>
          </a:p>
        </p:txBody>
      </p:sp>
      <p:graphicFrame>
        <p:nvGraphicFramePr>
          <p:cNvPr id="5" name="Content Placeholder 4"/>
          <p:cNvGraphicFramePr>
            <a:graphicFrameLocks noGrp="1"/>
          </p:cNvGraphicFramePr>
          <p:nvPr>
            <p:ph sz="quarter" idx="13"/>
            <p:extLst>
              <p:ext uri="{D42A27DB-BD31-4B8C-83A1-F6EECF244321}">
                <p14:modId xmlns:p14="http://schemas.microsoft.com/office/powerpoint/2010/main" val="1485983590"/>
              </p:ext>
            </p:extLst>
          </p:nvPr>
        </p:nvGraphicFramePr>
        <p:xfrm>
          <a:off x="457200" y="1555750"/>
          <a:ext cx="8229600" cy="2606675"/>
        </p:xfrm>
        <a:graphic>
          <a:graphicData uri="http://schemas.openxmlformats.org/drawingml/2006/table">
            <a:tbl>
              <a:tblPr firstRow="1" firstCol="1" bandRow="1">
                <a:tableStyleId>{2D5ABB26-0587-4C30-8999-92F81FD0307C}</a:tableStyleId>
              </a:tblPr>
              <a:tblGrid>
                <a:gridCol w="2015836">
                  <a:extLst>
                    <a:ext uri="{9D8B030D-6E8A-4147-A177-3AD203B41FA5}">
                      <a16:colId xmlns:a16="http://schemas.microsoft.com/office/drawing/2014/main" val="889899207"/>
                    </a:ext>
                  </a:extLst>
                </a:gridCol>
                <a:gridCol w="2098964">
                  <a:extLst>
                    <a:ext uri="{9D8B030D-6E8A-4147-A177-3AD203B41FA5}">
                      <a16:colId xmlns:a16="http://schemas.microsoft.com/office/drawing/2014/main" val="491840191"/>
                    </a:ext>
                  </a:extLst>
                </a:gridCol>
                <a:gridCol w="2057400">
                  <a:extLst>
                    <a:ext uri="{9D8B030D-6E8A-4147-A177-3AD203B41FA5}">
                      <a16:colId xmlns:a16="http://schemas.microsoft.com/office/drawing/2014/main" val="2188884585"/>
                    </a:ext>
                  </a:extLst>
                </a:gridCol>
                <a:gridCol w="2057400">
                  <a:extLst>
                    <a:ext uri="{9D8B030D-6E8A-4147-A177-3AD203B41FA5}">
                      <a16:colId xmlns:a16="http://schemas.microsoft.com/office/drawing/2014/main" val="398532868"/>
                    </a:ext>
                  </a:extLst>
                </a:gridCol>
              </a:tblGrid>
              <a:tr h="722312">
                <a:tc>
                  <a:txBody>
                    <a:bodyPr/>
                    <a:lstStyle/>
                    <a:p>
                      <a:pPr algn="ctr"/>
                      <a:r>
                        <a:rPr lang="en-US" sz="100" dirty="0"/>
                        <a:t>Blank</a:t>
                      </a:r>
                      <a:endParaRPr lang="en-US" sz="100" dirty="0">
                        <a:solidFill>
                          <a:schemeClr val="bg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b="1" dirty="0"/>
                        <a:t>Major Oil Exporters</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b="1" dirty="0"/>
                        <a:t>Other Developing Countries</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b="1" dirty="0"/>
                        <a:t>Advanced Countries</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668569741"/>
                  </a:ext>
                </a:extLst>
              </a:tr>
              <a:tr h="454747">
                <a:tc>
                  <a:txBody>
                    <a:bodyPr/>
                    <a:lstStyle/>
                    <a:p>
                      <a:r>
                        <a:rPr lang="en-US" sz="1600" b="1" dirty="0"/>
                        <a:t>1973–1981</a:t>
                      </a:r>
                      <a:endParaRPr lang="en-US" sz="1600" b="1"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dirty="0"/>
                        <a:t>253</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00" b="0" i="0" u="none" strike="noStrike" cap="none" dirty="0">
                          <a:solidFill>
                            <a:schemeClr val="tx1"/>
                          </a:solidFill>
                          <a:effectLst/>
                          <a:latin typeface="+mn-lt"/>
                          <a:ea typeface="+mn-ea"/>
                          <a:cs typeface="+mn-cs"/>
                          <a:sym typeface="Arial"/>
                        </a:rPr>
                        <a:t>negative 246</a:t>
                      </a:r>
                      <a:endParaRPr lang="en-US" sz="1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00" b="0" i="0" u="none" strike="noStrike" cap="none" dirty="0">
                          <a:solidFill>
                            <a:schemeClr val="tx1"/>
                          </a:solidFill>
                          <a:effectLst/>
                          <a:latin typeface="+mn-lt"/>
                          <a:ea typeface="+mn-ea"/>
                          <a:cs typeface="+mn-cs"/>
                          <a:sym typeface="Arial"/>
                        </a:rPr>
                        <a:t>negative 184</a:t>
                      </a:r>
                      <a:endParaRPr lang="en-US" sz="1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455002263"/>
                  </a:ext>
                </a:extLst>
              </a:tr>
              <a:tr h="467591">
                <a:tc>
                  <a:txBody>
                    <a:bodyPr/>
                    <a:lstStyle/>
                    <a:p>
                      <a:r>
                        <a:rPr lang="en-US" sz="1600" b="1" dirty="0"/>
                        <a:t>1982–1989</a:t>
                      </a:r>
                      <a:endParaRPr lang="en-US" sz="1600" b="1"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00" b="0" i="0" u="none" strike="noStrike" cap="none" dirty="0">
                          <a:solidFill>
                            <a:schemeClr val="tx1"/>
                          </a:solidFill>
                          <a:effectLst/>
                          <a:latin typeface="+mn-lt"/>
                          <a:ea typeface="+mn-ea"/>
                          <a:cs typeface="+mn-cs"/>
                          <a:sym typeface="Arial"/>
                        </a:rPr>
                        <a:t>negative 65</a:t>
                      </a:r>
                      <a:endParaRPr lang="en-US" sz="1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00" b="0" i="0" u="none" strike="noStrike" cap="none" dirty="0">
                          <a:solidFill>
                            <a:schemeClr val="tx1"/>
                          </a:solidFill>
                          <a:effectLst/>
                          <a:latin typeface="+mn-lt"/>
                          <a:ea typeface="+mn-ea"/>
                          <a:cs typeface="+mn-cs"/>
                          <a:sym typeface="Arial"/>
                        </a:rPr>
                        <a:t>negative 143</a:t>
                      </a:r>
                      <a:endParaRPr lang="en-US" sz="1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00" b="0" i="0" u="none" strike="noStrike" cap="none" dirty="0">
                          <a:solidFill>
                            <a:schemeClr val="tx1"/>
                          </a:solidFill>
                          <a:effectLst/>
                          <a:latin typeface="+mn-lt"/>
                          <a:ea typeface="+mn-ea"/>
                          <a:cs typeface="+mn-cs"/>
                          <a:sym typeface="Arial"/>
                        </a:rPr>
                        <a:t>negative 427</a:t>
                      </a:r>
                      <a:endParaRPr lang="en-US" sz="1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27054504"/>
                  </a:ext>
                </a:extLst>
              </a:tr>
              <a:tr h="516949">
                <a:tc>
                  <a:txBody>
                    <a:bodyPr/>
                    <a:lstStyle/>
                    <a:p>
                      <a:r>
                        <a:rPr lang="en-US" sz="1600" b="1" dirty="0"/>
                        <a:t>1990–1998</a:t>
                      </a:r>
                      <a:endParaRPr lang="en-US" sz="1600" b="1"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00" b="0" i="0" u="none" strike="noStrike" cap="none" dirty="0">
                          <a:solidFill>
                            <a:schemeClr val="tx1"/>
                          </a:solidFill>
                          <a:effectLst/>
                          <a:latin typeface="+mn-lt"/>
                          <a:ea typeface="+mn-ea"/>
                          <a:cs typeface="+mn-cs"/>
                          <a:sym typeface="Arial"/>
                        </a:rPr>
                        <a:t>negative 58</a:t>
                      </a:r>
                      <a:endParaRPr lang="en-US" sz="1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00" b="0" i="0" u="none" strike="noStrike" cap="none" dirty="0">
                          <a:solidFill>
                            <a:schemeClr val="tx1"/>
                          </a:solidFill>
                          <a:effectLst/>
                          <a:latin typeface="+mn-lt"/>
                          <a:ea typeface="+mn-ea"/>
                          <a:cs typeface="+mn-cs"/>
                          <a:sym typeface="Arial"/>
                        </a:rPr>
                        <a:t>negative 523</a:t>
                      </a:r>
                      <a:endParaRPr lang="en-US" sz="1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00" b="0" i="0" u="none" strike="noStrike" cap="none" dirty="0">
                          <a:solidFill>
                            <a:schemeClr val="tx1"/>
                          </a:solidFill>
                          <a:effectLst/>
                          <a:latin typeface="+mn-lt"/>
                          <a:ea typeface="+mn-ea"/>
                          <a:cs typeface="+mn-cs"/>
                          <a:sym typeface="Arial"/>
                        </a:rPr>
                        <a:t>negative 106</a:t>
                      </a:r>
                      <a:endParaRPr lang="en-US" sz="1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102846062"/>
                  </a:ext>
                </a:extLst>
              </a:tr>
              <a:tr h="445076">
                <a:tc>
                  <a:txBody>
                    <a:bodyPr/>
                    <a:lstStyle/>
                    <a:p>
                      <a:r>
                        <a:rPr lang="en-US" sz="1600" b="1" dirty="0"/>
                        <a:t>1999–2019</a:t>
                      </a:r>
                      <a:endParaRPr lang="en-US" sz="1600" b="1"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dirty="0"/>
                        <a:t>5,313</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00" b="0" i="0" u="none" strike="noStrike" cap="none" dirty="0">
                          <a:solidFill>
                            <a:schemeClr val="tx1"/>
                          </a:solidFill>
                          <a:effectLst/>
                          <a:latin typeface="+mn-lt"/>
                          <a:ea typeface="+mn-ea"/>
                          <a:cs typeface="+mn-cs"/>
                          <a:sym typeface="Arial"/>
                        </a:rPr>
                        <a:t>negative 852</a:t>
                      </a:r>
                      <a:endParaRPr lang="en-US" sz="1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00" b="0" i="0" u="none" strike="noStrike" cap="none" dirty="0">
                          <a:solidFill>
                            <a:schemeClr val="tx1"/>
                          </a:solidFill>
                          <a:effectLst/>
                          <a:latin typeface="+mn-lt"/>
                          <a:ea typeface="+mn-ea"/>
                          <a:cs typeface="+mn-cs"/>
                          <a:sym typeface="Arial"/>
                        </a:rPr>
                        <a:t>negative 758</a:t>
                      </a:r>
                      <a:endParaRPr lang="en-US" sz="1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276916340"/>
                  </a:ext>
                </a:extLst>
              </a:tr>
            </a:tbl>
          </a:graphicData>
        </a:graphic>
      </p:graphicFrame>
      <p:graphicFrame>
        <p:nvGraphicFramePr>
          <p:cNvPr id="7" name="Object 6">
            <a:extLst>
              <a:ext uri="{C183D7F6-B498-43B3-948B-1728B52AA6E4}">
                <adec:decorative xmlns="" xmlns:adec="http://schemas.microsoft.com/office/drawing/2017/decorative" val="1"/>
              </a:ext>
            </a:extLst>
          </p:cNvPr>
          <p:cNvGraphicFramePr>
            <a:graphicFrameLocks noChangeAspect="1"/>
          </p:cNvGraphicFramePr>
          <p:nvPr>
            <p:extLst>
              <p:ext uri="{D42A27DB-BD31-4B8C-83A1-F6EECF244321}">
                <p14:modId xmlns:p14="http://schemas.microsoft.com/office/powerpoint/2010/main" val="1934447957"/>
              </p:ext>
            </p:extLst>
          </p:nvPr>
        </p:nvGraphicFramePr>
        <p:xfrm>
          <a:off x="5351957" y="2390024"/>
          <a:ext cx="537635" cy="242802"/>
        </p:xfrm>
        <a:graphic>
          <a:graphicData uri="http://schemas.openxmlformats.org/presentationml/2006/ole">
            <mc:AlternateContent xmlns:mc="http://schemas.openxmlformats.org/markup-compatibility/2006">
              <mc:Choice xmlns:v="urn:schemas-microsoft-com:vml" Requires="v">
                <p:oleObj spid="_x0000_s3484" name="Equation" r:id="rId3" imgW="393480" imgH="177480" progId="Equation.DSMT4">
                  <p:embed/>
                </p:oleObj>
              </mc:Choice>
              <mc:Fallback>
                <p:oleObj name="Equation" r:id="rId3" imgW="393480" imgH="177480" progId="Equation.DSMT4">
                  <p:embed/>
                  <p:pic>
                    <p:nvPicPr>
                      <p:cNvPr id="0" name=""/>
                      <p:cNvPicPr/>
                      <p:nvPr/>
                    </p:nvPicPr>
                    <p:blipFill>
                      <a:blip r:embed="rId4"/>
                      <a:stretch>
                        <a:fillRect/>
                      </a:stretch>
                    </p:blipFill>
                    <p:spPr>
                      <a:xfrm>
                        <a:off x="5351957" y="2390024"/>
                        <a:ext cx="537635" cy="242802"/>
                      </a:xfrm>
                      <a:prstGeom prst="rect">
                        <a:avLst/>
                      </a:prstGeom>
                      <a:solidFill>
                        <a:schemeClr val="bg1"/>
                      </a:solidFill>
                    </p:spPr>
                  </p:pic>
                </p:oleObj>
              </mc:Fallback>
            </mc:AlternateContent>
          </a:graphicData>
        </a:graphic>
      </p:graphicFrame>
      <p:graphicFrame>
        <p:nvGraphicFramePr>
          <p:cNvPr id="8" name="Object 7">
            <a:extLst>
              <a:ext uri="{C183D7F6-B498-43B3-948B-1728B52AA6E4}">
                <adec:decorative xmlns="" xmlns:adec="http://schemas.microsoft.com/office/drawing/2017/decorative" val="1"/>
              </a:ext>
            </a:extLst>
          </p:cNvPr>
          <p:cNvGraphicFramePr>
            <a:graphicFrameLocks noChangeAspect="1"/>
          </p:cNvGraphicFramePr>
          <p:nvPr>
            <p:extLst>
              <p:ext uri="{D42A27DB-BD31-4B8C-83A1-F6EECF244321}">
                <p14:modId xmlns:p14="http://schemas.microsoft.com/office/powerpoint/2010/main" val="2138695994"/>
              </p:ext>
            </p:extLst>
          </p:nvPr>
        </p:nvGraphicFramePr>
        <p:xfrm>
          <a:off x="7512031" y="2421674"/>
          <a:ext cx="524015" cy="236652"/>
        </p:xfrm>
        <a:graphic>
          <a:graphicData uri="http://schemas.openxmlformats.org/presentationml/2006/ole">
            <mc:AlternateContent xmlns:mc="http://schemas.openxmlformats.org/markup-compatibility/2006">
              <mc:Choice xmlns:v="urn:schemas-microsoft-com:vml" Requires="v">
                <p:oleObj spid="_x0000_s3485" name="Equation" r:id="rId5" imgW="393480" imgH="177480" progId="Equation.DSMT4">
                  <p:embed/>
                </p:oleObj>
              </mc:Choice>
              <mc:Fallback>
                <p:oleObj name="Equation" r:id="rId5" imgW="393480" imgH="177480" progId="Equation.DSMT4">
                  <p:embed/>
                  <p:pic>
                    <p:nvPicPr>
                      <p:cNvPr id="0" name=""/>
                      <p:cNvPicPr/>
                      <p:nvPr/>
                    </p:nvPicPr>
                    <p:blipFill>
                      <a:blip r:embed="rId6"/>
                      <a:stretch>
                        <a:fillRect/>
                      </a:stretch>
                    </p:blipFill>
                    <p:spPr>
                      <a:xfrm>
                        <a:off x="7512031" y="2421674"/>
                        <a:ext cx="524015" cy="236652"/>
                      </a:xfrm>
                      <a:prstGeom prst="rect">
                        <a:avLst/>
                      </a:prstGeom>
                      <a:solidFill>
                        <a:schemeClr val="bg1"/>
                      </a:solidFill>
                    </p:spPr>
                  </p:pic>
                </p:oleObj>
              </mc:Fallback>
            </mc:AlternateContent>
          </a:graphicData>
        </a:graphic>
      </p:graphicFrame>
      <p:graphicFrame>
        <p:nvGraphicFramePr>
          <p:cNvPr id="9" name="Object 8">
            <a:extLst>
              <a:ext uri="{C183D7F6-B498-43B3-948B-1728B52AA6E4}">
                <adec:decorative xmlns="" xmlns:adec="http://schemas.microsoft.com/office/drawing/2017/decorative" val="1"/>
              </a:ext>
            </a:extLst>
          </p:cNvPr>
          <p:cNvGraphicFramePr>
            <a:graphicFrameLocks noChangeAspect="1"/>
          </p:cNvGraphicFramePr>
          <p:nvPr>
            <p:extLst>
              <p:ext uri="{D42A27DB-BD31-4B8C-83A1-F6EECF244321}">
                <p14:modId xmlns:p14="http://schemas.microsoft.com/office/powerpoint/2010/main" val="4018477392"/>
              </p:ext>
            </p:extLst>
          </p:nvPr>
        </p:nvGraphicFramePr>
        <p:xfrm>
          <a:off x="3311758" y="2836444"/>
          <a:ext cx="435636" cy="254120"/>
        </p:xfrm>
        <a:graphic>
          <a:graphicData uri="http://schemas.openxmlformats.org/presentationml/2006/ole">
            <mc:AlternateContent xmlns:mc="http://schemas.openxmlformats.org/markup-compatibility/2006">
              <mc:Choice xmlns:v="urn:schemas-microsoft-com:vml" Requires="v">
                <p:oleObj spid="_x0000_s3486" name="Equation" r:id="rId7" imgW="304560" imgH="177480" progId="Equation.DSMT4">
                  <p:embed/>
                </p:oleObj>
              </mc:Choice>
              <mc:Fallback>
                <p:oleObj name="Equation" r:id="rId7" imgW="304560" imgH="177480" progId="Equation.DSMT4">
                  <p:embed/>
                  <p:pic>
                    <p:nvPicPr>
                      <p:cNvPr id="0" name=""/>
                      <p:cNvPicPr/>
                      <p:nvPr/>
                    </p:nvPicPr>
                    <p:blipFill>
                      <a:blip r:embed="rId8"/>
                      <a:stretch>
                        <a:fillRect/>
                      </a:stretch>
                    </p:blipFill>
                    <p:spPr>
                      <a:xfrm>
                        <a:off x="3311758" y="2836444"/>
                        <a:ext cx="435636" cy="254120"/>
                      </a:xfrm>
                      <a:prstGeom prst="rect">
                        <a:avLst/>
                      </a:prstGeom>
                      <a:solidFill>
                        <a:schemeClr val="bg1"/>
                      </a:solidFill>
                    </p:spPr>
                  </p:pic>
                </p:oleObj>
              </mc:Fallback>
            </mc:AlternateContent>
          </a:graphicData>
        </a:graphic>
      </p:graphicFrame>
      <p:graphicFrame>
        <p:nvGraphicFramePr>
          <p:cNvPr id="10" name="Object 9">
            <a:extLst>
              <a:ext uri="{C183D7F6-B498-43B3-948B-1728B52AA6E4}">
                <adec:decorative xmlns="" xmlns:adec="http://schemas.microsoft.com/office/drawing/2017/decorative" val="1"/>
              </a:ext>
            </a:extLst>
          </p:cNvPr>
          <p:cNvGraphicFramePr>
            <a:graphicFrameLocks noChangeAspect="1"/>
          </p:cNvGraphicFramePr>
          <p:nvPr>
            <p:extLst>
              <p:ext uri="{D42A27DB-BD31-4B8C-83A1-F6EECF244321}">
                <p14:modId xmlns:p14="http://schemas.microsoft.com/office/powerpoint/2010/main" val="1628864832"/>
              </p:ext>
            </p:extLst>
          </p:nvPr>
        </p:nvGraphicFramePr>
        <p:xfrm>
          <a:off x="5335419" y="2825487"/>
          <a:ext cx="570710" cy="257740"/>
        </p:xfrm>
        <a:graphic>
          <a:graphicData uri="http://schemas.openxmlformats.org/presentationml/2006/ole">
            <mc:AlternateContent xmlns:mc="http://schemas.openxmlformats.org/markup-compatibility/2006">
              <mc:Choice xmlns:v="urn:schemas-microsoft-com:vml" Requires="v">
                <p:oleObj spid="_x0000_s3487" name="Equation" r:id="rId9" imgW="393480" imgH="177480" progId="Equation.DSMT4">
                  <p:embed/>
                </p:oleObj>
              </mc:Choice>
              <mc:Fallback>
                <p:oleObj name="Equation" r:id="rId9" imgW="393480" imgH="177480" progId="Equation.DSMT4">
                  <p:embed/>
                  <p:pic>
                    <p:nvPicPr>
                      <p:cNvPr id="0" name=""/>
                      <p:cNvPicPr/>
                      <p:nvPr/>
                    </p:nvPicPr>
                    <p:blipFill>
                      <a:blip r:embed="rId10"/>
                      <a:stretch>
                        <a:fillRect/>
                      </a:stretch>
                    </p:blipFill>
                    <p:spPr>
                      <a:xfrm>
                        <a:off x="5335419" y="2825487"/>
                        <a:ext cx="570710" cy="257740"/>
                      </a:xfrm>
                      <a:prstGeom prst="rect">
                        <a:avLst/>
                      </a:prstGeom>
                      <a:solidFill>
                        <a:schemeClr val="bg1"/>
                      </a:solidFill>
                    </p:spPr>
                  </p:pic>
                </p:oleObj>
              </mc:Fallback>
            </mc:AlternateContent>
          </a:graphicData>
        </a:graphic>
      </p:graphicFrame>
      <p:graphicFrame>
        <p:nvGraphicFramePr>
          <p:cNvPr id="11" name="Object 10">
            <a:extLst>
              <a:ext uri="{C183D7F6-B498-43B3-948B-1728B52AA6E4}">
                <adec:decorative xmlns="" xmlns:adec="http://schemas.microsoft.com/office/drawing/2017/decorative" val="1"/>
              </a:ext>
            </a:extLst>
          </p:cNvPr>
          <p:cNvGraphicFramePr>
            <a:graphicFrameLocks noChangeAspect="1"/>
          </p:cNvGraphicFramePr>
          <p:nvPr>
            <p:extLst>
              <p:ext uri="{D42A27DB-BD31-4B8C-83A1-F6EECF244321}">
                <p14:modId xmlns:p14="http://schemas.microsoft.com/office/powerpoint/2010/main" val="2875365796"/>
              </p:ext>
            </p:extLst>
          </p:nvPr>
        </p:nvGraphicFramePr>
        <p:xfrm>
          <a:off x="7505221" y="2847600"/>
          <a:ext cx="537635" cy="225459"/>
        </p:xfrm>
        <a:graphic>
          <a:graphicData uri="http://schemas.openxmlformats.org/presentationml/2006/ole">
            <mc:AlternateContent xmlns:mc="http://schemas.openxmlformats.org/markup-compatibility/2006">
              <mc:Choice xmlns:v="urn:schemas-microsoft-com:vml" Requires="v">
                <p:oleObj spid="_x0000_s3488" name="Equation" r:id="rId11" imgW="393480" imgH="164880" progId="Equation.DSMT4">
                  <p:embed/>
                </p:oleObj>
              </mc:Choice>
              <mc:Fallback>
                <p:oleObj name="Equation" r:id="rId11" imgW="393480" imgH="164880" progId="Equation.DSMT4">
                  <p:embed/>
                  <p:pic>
                    <p:nvPicPr>
                      <p:cNvPr id="0" name=""/>
                      <p:cNvPicPr/>
                      <p:nvPr/>
                    </p:nvPicPr>
                    <p:blipFill>
                      <a:blip r:embed="rId12"/>
                      <a:stretch>
                        <a:fillRect/>
                      </a:stretch>
                    </p:blipFill>
                    <p:spPr>
                      <a:xfrm>
                        <a:off x="7505221" y="2847600"/>
                        <a:ext cx="537635" cy="225459"/>
                      </a:xfrm>
                      <a:prstGeom prst="rect">
                        <a:avLst/>
                      </a:prstGeom>
                      <a:solidFill>
                        <a:schemeClr val="bg1"/>
                      </a:solidFill>
                    </p:spPr>
                  </p:pic>
                </p:oleObj>
              </mc:Fallback>
            </mc:AlternateContent>
          </a:graphicData>
        </a:graphic>
      </p:graphicFrame>
      <p:graphicFrame>
        <p:nvGraphicFramePr>
          <p:cNvPr id="12" name="Object 11">
            <a:extLst>
              <a:ext uri="{C183D7F6-B498-43B3-948B-1728B52AA6E4}">
                <adec:decorative xmlns="" xmlns:adec="http://schemas.microsoft.com/office/drawing/2017/decorative" val="1"/>
              </a:ext>
            </a:extLst>
          </p:cNvPr>
          <p:cNvGraphicFramePr>
            <a:graphicFrameLocks noChangeAspect="1"/>
          </p:cNvGraphicFramePr>
          <p:nvPr>
            <p:extLst>
              <p:ext uri="{D42A27DB-BD31-4B8C-83A1-F6EECF244321}">
                <p14:modId xmlns:p14="http://schemas.microsoft.com/office/powerpoint/2010/main" val="2241370484"/>
              </p:ext>
            </p:extLst>
          </p:nvPr>
        </p:nvGraphicFramePr>
        <p:xfrm>
          <a:off x="3311758" y="3285548"/>
          <a:ext cx="437465" cy="255188"/>
        </p:xfrm>
        <a:graphic>
          <a:graphicData uri="http://schemas.openxmlformats.org/presentationml/2006/ole">
            <mc:AlternateContent xmlns:mc="http://schemas.openxmlformats.org/markup-compatibility/2006">
              <mc:Choice xmlns:v="urn:schemas-microsoft-com:vml" Requires="v">
                <p:oleObj spid="_x0000_s3489" name="Equation" r:id="rId13" imgW="304560" imgH="177480" progId="Equation.DSMT4">
                  <p:embed/>
                </p:oleObj>
              </mc:Choice>
              <mc:Fallback>
                <p:oleObj name="Equation" r:id="rId13" imgW="304560" imgH="177480" progId="Equation.DSMT4">
                  <p:embed/>
                  <p:pic>
                    <p:nvPicPr>
                      <p:cNvPr id="0" name=""/>
                      <p:cNvPicPr/>
                      <p:nvPr/>
                    </p:nvPicPr>
                    <p:blipFill>
                      <a:blip r:embed="rId14"/>
                      <a:stretch>
                        <a:fillRect/>
                      </a:stretch>
                    </p:blipFill>
                    <p:spPr>
                      <a:xfrm>
                        <a:off x="3311758" y="3285548"/>
                        <a:ext cx="437465" cy="255188"/>
                      </a:xfrm>
                      <a:prstGeom prst="rect">
                        <a:avLst/>
                      </a:prstGeom>
                      <a:solidFill>
                        <a:schemeClr val="bg1"/>
                      </a:solidFill>
                    </p:spPr>
                  </p:pic>
                </p:oleObj>
              </mc:Fallback>
            </mc:AlternateContent>
          </a:graphicData>
        </a:graphic>
      </p:graphicFrame>
      <p:graphicFrame>
        <p:nvGraphicFramePr>
          <p:cNvPr id="13" name="Object 12">
            <a:extLst>
              <a:ext uri="{C183D7F6-B498-43B3-948B-1728B52AA6E4}">
                <adec:decorative xmlns="" xmlns:adec="http://schemas.microsoft.com/office/drawing/2017/decorative" val="1"/>
              </a:ext>
            </a:extLst>
          </p:cNvPr>
          <p:cNvGraphicFramePr>
            <a:graphicFrameLocks noChangeAspect="1"/>
          </p:cNvGraphicFramePr>
          <p:nvPr>
            <p:extLst>
              <p:ext uri="{D42A27DB-BD31-4B8C-83A1-F6EECF244321}">
                <p14:modId xmlns:p14="http://schemas.microsoft.com/office/powerpoint/2010/main" val="90977746"/>
              </p:ext>
            </p:extLst>
          </p:nvPr>
        </p:nvGraphicFramePr>
        <p:xfrm>
          <a:off x="5341151" y="3293054"/>
          <a:ext cx="548441" cy="247682"/>
        </p:xfrm>
        <a:graphic>
          <a:graphicData uri="http://schemas.openxmlformats.org/presentationml/2006/ole">
            <mc:AlternateContent xmlns:mc="http://schemas.openxmlformats.org/markup-compatibility/2006">
              <mc:Choice xmlns:v="urn:schemas-microsoft-com:vml" Requires="v">
                <p:oleObj spid="_x0000_s3490" name="Equation" r:id="rId15" imgW="393480" imgH="177480" progId="Equation.DSMT4">
                  <p:embed/>
                </p:oleObj>
              </mc:Choice>
              <mc:Fallback>
                <p:oleObj name="Equation" r:id="rId15" imgW="393480" imgH="177480" progId="Equation.DSMT4">
                  <p:embed/>
                  <p:pic>
                    <p:nvPicPr>
                      <p:cNvPr id="0" name=""/>
                      <p:cNvPicPr/>
                      <p:nvPr/>
                    </p:nvPicPr>
                    <p:blipFill>
                      <a:blip r:embed="rId16"/>
                      <a:stretch>
                        <a:fillRect/>
                      </a:stretch>
                    </p:blipFill>
                    <p:spPr>
                      <a:xfrm>
                        <a:off x="5341151" y="3293054"/>
                        <a:ext cx="548441" cy="247682"/>
                      </a:xfrm>
                      <a:prstGeom prst="rect">
                        <a:avLst/>
                      </a:prstGeom>
                      <a:solidFill>
                        <a:schemeClr val="bg1"/>
                      </a:solidFill>
                    </p:spPr>
                  </p:pic>
                </p:oleObj>
              </mc:Fallback>
            </mc:AlternateContent>
          </a:graphicData>
        </a:graphic>
      </p:graphicFrame>
      <p:graphicFrame>
        <p:nvGraphicFramePr>
          <p:cNvPr id="14" name="Object 13">
            <a:extLst>
              <a:ext uri="{C183D7F6-B498-43B3-948B-1728B52AA6E4}">
                <adec:decorative xmlns="" xmlns:adec="http://schemas.microsoft.com/office/drawing/2017/decorative" val="1"/>
              </a:ext>
            </a:extLst>
          </p:cNvPr>
          <p:cNvGraphicFramePr>
            <a:graphicFrameLocks noChangeAspect="1"/>
          </p:cNvGraphicFramePr>
          <p:nvPr>
            <p:extLst>
              <p:ext uri="{D42A27DB-BD31-4B8C-83A1-F6EECF244321}">
                <p14:modId xmlns:p14="http://schemas.microsoft.com/office/powerpoint/2010/main" val="2825108596"/>
              </p:ext>
            </p:extLst>
          </p:nvPr>
        </p:nvGraphicFramePr>
        <p:xfrm>
          <a:off x="7485830" y="3413142"/>
          <a:ext cx="576417" cy="260317"/>
        </p:xfrm>
        <a:graphic>
          <a:graphicData uri="http://schemas.openxmlformats.org/presentationml/2006/ole">
            <mc:AlternateContent xmlns:mc="http://schemas.openxmlformats.org/markup-compatibility/2006">
              <mc:Choice xmlns:v="urn:schemas-microsoft-com:vml" Requires="v">
                <p:oleObj spid="_x0000_s3491" name="Equation" r:id="rId17" imgW="393480" imgH="177480" progId="Equation.DSMT4">
                  <p:embed/>
                </p:oleObj>
              </mc:Choice>
              <mc:Fallback>
                <p:oleObj name="Equation" r:id="rId17" imgW="393480" imgH="177480" progId="Equation.DSMT4">
                  <p:embed/>
                  <p:pic>
                    <p:nvPicPr>
                      <p:cNvPr id="0" name=""/>
                      <p:cNvPicPr/>
                      <p:nvPr/>
                    </p:nvPicPr>
                    <p:blipFill>
                      <a:blip r:embed="rId18"/>
                      <a:stretch>
                        <a:fillRect/>
                      </a:stretch>
                    </p:blipFill>
                    <p:spPr>
                      <a:xfrm>
                        <a:off x="7485830" y="3413142"/>
                        <a:ext cx="576417" cy="260317"/>
                      </a:xfrm>
                      <a:prstGeom prst="rect">
                        <a:avLst/>
                      </a:prstGeom>
                      <a:solidFill>
                        <a:schemeClr val="bg1"/>
                      </a:solidFill>
                    </p:spPr>
                  </p:pic>
                </p:oleObj>
              </mc:Fallback>
            </mc:AlternateContent>
          </a:graphicData>
        </a:graphic>
      </p:graphicFrame>
      <p:graphicFrame>
        <p:nvGraphicFramePr>
          <p:cNvPr id="15" name="Object 14">
            <a:extLst>
              <a:ext uri="{C183D7F6-B498-43B3-948B-1728B52AA6E4}">
                <adec:decorative xmlns="" xmlns:adec="http://schemas.microsoft.com/office/drawing/2017/decorative" val="1"/>
              </a:ext>
            </a:extLst>
          </p:cNvPr>
          <p:cNvGraphicFramePr>
            <a:graphicFrameLocks noChangeAspect="1"/>
          </p:cNvGraphicFramePr>
          <p:nvPr>
            <p:extLst>
              <p:ext uri="{D42A27DB-BD31-4B8C-83A1-F6EECF244321}">
                <p14:modId xmlns:p14="http://schemas.microsoft.com/office/powerpoint/2010/main" val="1835210841"/>
              </p:ext>
            </p:extLst>
          </p:nvPr>
        </p:nvGraphicFramePr>
        <p:xfrm>
          <a:off x="5381410" y="3843580"/>
          <a:ext cx="491428" cy="229333"/>
        </p:xfrm>
        <a:graphic>
          <a:graphicData uri="http://schemas.openxmlformats.org/presentationml/2006/ole">
            <mc:AlternateContent xmlns:mc="http://schemas.openxmlformats.org/markup-compatibility/2006">
              <mc:Choice xmlns:v="urn:schemas-microsoft-com:vml" Requires="v">
                <p:oleObj spid="_x0000_s3492" name="Equation" r:id="rId19" imgW="380880" imgH="177480" progId="Equation.DSMT4">
                  <p:embed/>
                </p:oleObj>
              </mc:Choice>
              <mc:Fallback>
                <p:oleObj name="Equation" r:id="rId19" imgW="380880" imgH="177480" progId="Equation.DSMT4">
                  <p:embed/>
                  <p:pic>
                    <p:nvPicPr>
                      <p:cNvPr id="0" name=""/>
                      <p:cNvPicPr/>
                      <p:nvPr/>
                    </p:nvPicPr>
                    <p:blipFill>
                      <a:blip r:embed="rId20"/>
                      <a:stretch>
                        <a:fillRect/>
                      </a:stretch>
                    </p:blipFill>
                    <p:spPr>
                      <a:xfrm>
                        <a:off x="5381410" y="3843580"/>
                        <a:ext cx="491428" cy="229333"/>
                      </a:xfrm>
                      <a:prstGeom prst="rect">
                        <a:avLst/>
                      </a:prstGeom>
                      <a:solidFill>
                        <a:schemeClr val="bg1"/>
                      </a:solidFill>
                    </p:spPr>
                  </p:pic>
                </p:oleObj>
              </mc:Fallback>
            </mc:AlternateContent>
          </a:graphicData>
        </a:graphic>
      </p:graphicFrame>
      <p:graphicFrame>
        <p:nvGraphicFramePr>
          <p:cNvPr id="16" name="Object 15">
            <a:extLst>
              <a:ext uri="{C183D7F6-B498-43B3-948B-1728B52AA6E4}">
                <adec:decorative xmlns="" xmlns:adec="http://schemas.microsoft.com/office/drawing/2017/decorative" val="1"/>
              </a:ext>
            </a:extLst>
          </p:cNvPr>
          <p:cNvGraphicFramePr>
            <a:graphicFrameLocks noChangeAspect="1"/>
          </p:cNvGraphicFramePr>
          <p:nvPr>
            <p:extLst>
              <p:ext uri="{D42A27DB-BD31-4B8C-83A1-F6EECF244321}">
                <p14:modId xmlns:p14="http://schemas.microsoft.com/office/powerpoint/2010/main" val="1535534930"/>
              </p:ext>
            </p:extLst>
          </p:nvPr>
        </p:nvGraphicFramePr>
        <p:xfrm>
          <a:off x="7502533" y="3816710"/>
          <a:ext cx="543011" cy="245230"/>
        </p:xfrm>
        <a:graphic>
          <a:graphicData uri="http://schemas.openxmlformats.org/presentationml/2006/ole">
            <mc:AlternateContent xmlns:mc="http://schemas.openxmlformats.org/markup-compatibility/2006">
              <mc:Choice xmlns:v="urn:schemas-microsoft-com:vml" Requires="v">
                <p:oleObj spid="_x0000_s3493" name="Equation" r:id="rId21" imgW="393480" imgH="177480" progId="Equation.DSMT4">
                  <p:embed/>
                </p:oleObj>
              </mc:Choice>
              <mc:Fallback>
                <p:oleObj name="Equation" r:id="rId21" imgW="393480" imgH="177480" progId="Equation.DSMT4">
                  <p:embed/>
                  <p:pic>
                    <p:nvPicPr>
                      <p:cNvPr id="0" name=""/>
                      <p:cNvPicPr/>
                      <p:nvPr/>
                    </p:nvPicPr>
                    <p:blipFill>
                      <a:blip r:embed="rId22"/>
                      <a:stretch>
                        <a:fillRect/>
                      </a:stretch>
                    </p:blipFill>
                    <p:spPr>
                      <a:xfrm>
                        <a:off x="7502533" y="3816710"/>
                        <a:ext cx="543011" cy="245230"/>
                      </a:xfrm>
                      <a:prstGeom prst="rect">
                        <a:avLst/>
                      </a:prstGeom>
                      <a:solidFill>
                        <a:schemeClr val="bg1"/>
                      </a:solidFill>
                    </p:spPr>
                  </p:pic>
                </p:oleObj>
              </mc:Fallback>
            </mc:AlternateContent>
          </a:graphicData>
        </a:graphic>
      </p:graphicFrame>
      <p:sp>
        <p:nvSpPr>
          <p:cNvPr id="4" name="Content Placeholder 3"/>
          <p:cNvSpPr>
            <a:spLocks noGrp="1"/>
          </p:cNvSpPr>
          <p:nvPr>
            <p:ph sz="quarter" idx="14"/>
          </p:nvPr>
        </p:nvSpPr>
        <p:spPr>
          <a:xfrm>
            <a:off x="457200" y="4436944"/>
            <a:ext cx="8229600" cy="899651"/>
          </a:xfrm>
        </p:spPr>
        <p:txBody>
          <a:bodyPr/>
          <a:lstStyle/>
          <a:p>
            <a:pPr marL="432" indent="0">
              <a:buNone/>
            </a:pPr>
            <a:r>
              <a:rPr lang="en-US" sz="1600" b="1"/>
              <a:t>Source:</a:t>
            </a:r>
            <a:r>
              <a:rPr lang="en-US" sz="1600"/>
              <a:t> International Monetary Fund, </a:t>
            </a:r>
            <a:r>
              <a:rPr lang="en-US" sz="1600" b="1"/>
              <a:t>International Financial Statistics </a:t>
            </a:r>
            <a:r>
              <a:rPr lang="en-US" sz="1600"/>
              <a:t>and World Economic Outlook data. Global current accounts generally do not sum to zero because of errors, omissions, and the exclusion of some countries in some periods.</a:t>
            </a:r>
          </a:p>
        </p:txBody>
      </p:sp>
    </p:spTree>
    <p:extLst>
      <p:ext uri="{BB962C8B-B14F-4D97-AF65-F5344CB8AC3E}">
        <p14:creationId xmlns:p14="http://schemas.microsoft.com/office/powerpoint/2010/main" val="36850460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The Problem of Default </a:t>
            </a:r>
            <a:r>
              <a:rPr lang="en-US" altLang="en-US" sz="2000" b="0" dirty="0"/>
              <a:t>(1 of 6)</a:t>
            </a:r>
            <a:endParaRPr lang="en-US" sz="2000" b="0" dirty="0"/>
          </a:p>
        </p:txBody>
      </p:sp>
      <p:sp>
        <p:nvSpPr>
          <p:cNvPr id="8" name="Content Placeholder 7"/>
          <p:cNvSpPr>
            <a:spLocks noGrp="1"/>
          </p:cNvSpPr>
          <p:nvPr>
            <p:ph sz="quarter" idx="13"/>
          </p:nvPr>
        </p:nvSpPr>
        <p:spPr/>
        <p:txBody>
          <a:bodyPr/>
          <a:lstStyle/>
          <a:p>
            <a:pPr marL="536575" indent="-536575">
              <a:buNone/>
            </a:pPr>
            <a:r>
              <a:rPr lang="en-US" altLang="en-US" dirty="0"/>
              <a:t>A financial crisis may involve</a:t>
            </a:r>
          </a:p>
          <a:p>
            <a:pPr marL="432000" indent="-432000">
              <a:buFontTx/>
              <a:buAutoNum type="arabicPeriod"/>
            </a:pPr>
            <a:r>
              <a:rPr lang="en-US" altLang="en-US" dirty="0"/>
              <a:t>a </a:t>
            </a:r>
            <a:r>
              <a:rPr lang="en-US" altLang="en-US" b="1" dirty="0"/>
              <a:t>debt crisis</a:t>
            </a:r>
            <a:r>
              <a:rPr lang="en-US" altLang="en-US" dirty="0"/>
              <a:t>: an inability to repay </a:t>
            </a:r>
            <a:r>
              <a:rPr lang="en-US" altLang="en-US" b="1" dirty="0"/>
              <a:t>sovereign</a:t>
            </a:r>
            <a:r>
              <a:rPr lang="en-US" altLang="en-US" dirty="0"/>
              <a:t> (government) or private sector debt.</a:t>
            </a:r>
          </a:p>
          <a:p>
            <a:pPr marL="432000" indent="-432000">
              <a:buFontTx/>
              <a:buAutoNum type="arabicPeriod"/>
            </a:pPr>
            <a:r>
              <a:rPr lang="en-US" altLang="en-US" dirty="0"/>
              <a:t>a </a:t>
            </a:r>
            <a:r>
              <a:rPr lang="en-US" altLang="en-US" b="1" dirty="0"/>
              <a:t>balance of payments crisis</a:t>
            </a:r>
            <a:r>
              <a:rPr lang="en-US" altLang="en-US" dirty="0"/>
              <a:t> under a fixed exchange rate system.</a:t>
            </a:r>
          </a:p>
          <a:p>
            <a:pPr marL="432000" indent="-432000">
              <a:buFontTx/>
              <a:buAutoNum type="arabicPeriod"/>
            </a:pPr>
            <a:r>
              <a:rPr lang="en-US" altLang="en-US" dirty="0"/>
              <a:t>a </a:t>
            </a:r>
            <a:r>
              <a:rPr lang="en-US" altLang="en-US" b="1" dirty="0"/>
              <a:t>banking crisis</a:t>
            </a:r>
            <a:r>
              <a:rPr lang="en-US" altLang="en-US" dirty="0"/>
              <a:t>: bankruptcy and other problems for private sector banks.</a:t>
            </a:r>
            <a:endParaRPr lang="en-US" dirty="0"/>
          </a:p>
        </p:txBody>
      </p:sp>
    </p:spTree>
    <p:extLst>
      <p:ext uri="{BB962C8B-B14F-4D97-AF65-F5344CB8AC3E}">
        <p14:creationId xmlns:p14="http://schemas.microsoft.com/office/powerpoint/2010/main" val="265889919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The Problem of Default </a:t>
            </a:r>
            <a:r>
              <a:rPr lang="en-US" altLang="en-US" sz="2000" b="0" dirty="0"/>
              <a:t>(2 of 6)</a:t>
            </a:r>
            <a:endParaRPr lang="en-US" dirty="0"/>
          </a:p>
        </p:txBody>
      </p:sp>
      <p:sp>
        <p:nvSpPr>
          <p:cNvPr id="3" name="Content Placeholder 2"/>
          <p:cNvSpPr>
            <a:spLocks noGrp="1"/>
          </p:cNvSpPr>
          <p:nvPr>
            <p:ph sz="quarter" idx="13"/>
          </p:nvPr>
        </p:nvSpPr>
        <p:spPr/>
        <p:txBody>
          <a:bodyPr/>
          <a:lstStyle/>
          <a:p>
            <a:r>
              <a:rPr lang="en-US" altLang="en-US" dirty="0"/>
              <a:t>A </a:t>
            </a:r>
            <a:r>
              <a:rPr lang="en-US" altLang="en-US" b="1" dirty="0"/>
              <a:t>debt crisis</a:t>
            </a:r>
            <a:r>
              <a:rPr lang="en-US" altLang="en-US" i="1" dirty="0"/>
              <a:t> </a:t>
            </a:r>
            <a:r>
              <a:rPr lang="en-US" altLang="en-US" dirty="0"/>
              <a:t>in which governments default on their debt can be a self-fulfilling mechanism.</a:t>
            </a:r>
          </a:p>
          <a:p>
            <a:pPr lvl="1"/>
            <a:r>
              <a:rPr lang="en-US" altLang="en-US" dirty="0"/>
              <a:t>Fear of default reduces financial asset </a:t>
            </a:r>
            <a:r>
              <a:rPr lang="en-US" altLang="en-US" b="1" dirty="0"/>
              <a:t>inflows</a:t>
            </a:r>
            <a:r>
              <a:rPr lang="en-US" altLang="en-US" i="1" dirty="0"/>
              <a:t> </a:t>
            </a:r>
            <a:r>
              <a:rPr lang="en-US" altLang="en-US" dirty="0"/>
              <a:t>and increases financial asset </a:t>
            </a:r>
            <a:r>
              <a:rPr lang="en-US" altLang="en-US" b="1" dirty="0"/>
              <a:t>outflows</a:t>
            </a:r>
            <a:r>
              <a:rPr lang="en-US" altLang="en-US" dirty="0"/>
              <a:t> (capital flight), decreasing investment and increasing interest rates, leading to low aggregate demand, output, and income.</a:t>
            </a:r>
          </a:p>
          <a:p>
            <a:pPr lvl="1"/>
            <a:r>
              <a:rPr lang="en-US" altLang="en-US" dirty="0"/>
              <a:t>Financial asset outflows must be matched with an increase in net exports or a decrease in official international reserves in order to pay individuals and institutions who desire foreign funds.</a:t>
            </a:r>
            <a:endParaRPr lang="en-US" dirty="0"/>
          </a:p>
        </p:txBody>
      </p:sp>
    </p:spTree>
    <p:extLst>
      <p:ext uri="{BB962C8B-B14F-4D97-AF65-F5344CB8AC3E}">
        <p14:creationId xmlns:p14="http://schemas.microsoft.com/office/powerpoint/2010/main" val="57044482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The Problem of Default </a:t>
            </a:r>
            <a:r>
              <a:rPr lang="en-US" altLang="en-US" sz="2000" b="0" dirty="0"/>
              <a:t>(3 of 6)</a:t>
            </a:r>
            <a:endParaRPr lang="en-US" dirty="0"/>
          </a:p>
        </p:txBody>
      </p:sp>
      <p:sp>
        <p:nvSpPr>
          <p:cNvPr id="3" name="Content Placeholder 2"/>
          <p:cNvSpPr>
            <a:spLocks noGrp="1"/>
          </p:cNvSpPr>
          <p:nvPr>
            <p:ph sz="quarter" idx="13"/>
          </p:nvPr>
        </p:nvSpPr>
        <p:spPr>
          <a:xfrm>
            <a:off x="457200" y="1556327"/>
            <a:ext cx="8215745" cy="4586896"/>
          </a:xfrm>
        </p:spPr>
        <p:txBody>
          <a:bodyPr/>
          <a:lstStyle/>
          <a:p>
            <a:pPr lvl="1"/>
            <a:r>
              <a:rPr lang="en-US" altLang="en-US" dirty="0"/>
              <a:t>Otherwise, the country cannot afford to pay those who want to remove their funds from the domestic economy.</a:t>
            </a:r>
          </a:p>
          <a:p>
            <a:pPr lvl="1"/>
            <a:r>
              <a:rPr lang="en-US" altLang="en-US" dirty="0"/>
              <a:t>The domestic government may have no choice but to default on its sovereign debt (paid for with foreign funds) when it comes due and when investors are unwilling to reinvest.</a:t>
            </a:r>
            <a:endParaRPr lang="en-US" dirty="0"/>
          </a:p>
        </p:txBody>
      </p:sp>
    </p:spTree>
    <p:extLst>
      <p:ext uri="{BB962C8B-B14F-4D97-AF65-F5344CB8AC3E}">
        <p14:creationId xmlns:p14="http://schemas.microsoft.com/office/powerpoint/2010/main" val="45587737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The Problem of Default </a:t>
            </a:r>
            <a:r>
              <a:rPr lang="en-US" altLang="en-US" sz="2000" b="0" dirty="0"/>
              <a:t>(4 of 6)</a:t>
            </a:r>
            <a:endParaRPr lang="en-US" dirty="0"/>
          </a:p>
        </p:txBody>
      </p:sp>
      <p:sp>
        <p:nvSpPr>
          <p:cNvPr id="3" name="Content Placeholder 2"/>
          <p:cNvSpPr>
            <a:spLocks noGrp="1"/>
          </p:cNvSpPr>
          <p:nvPr>
            <p:ph sz="quarter" idx="13"/>
          </p:nvPr>
        </p:nvSpPr>
        <p:spPr/>
        <p:txBody>
          <a:bodyPr/>
          <a:lstStyle/>
          <a:p>
            <a:r>
              <a:rPr lang="en-US" altLang="en-US" dirty="0"/>
              <a:t>In general, a debt crisis can quickly magnify itself: it causes low income and high interest rates, which make government and private sector debts even harder to repay.</a:t>
            </a:r>
          </a:p>
          <a:p>
            <a:pPr lvl="1"/>
            <a:r>
              <a:rPr lang="en-US" altLang="en-US" dirty="0"/>
              <a:t>High interest rates cause high interest payments for both the government and the private sector.</a:t>
            </a:r>
          </a:p>
          <a:p>
            <a:pPr lvl="1"/>
            <a:r>
              <a:rPr lang="en-US" altLang="en-US" dirty="0"/>
              <a:t>Low income causes low tax revenue for the government.</a:t>
            </a:r>
          </a:p>
          <a:p>
            <a:pPr lvl="1"/>
            <a:r>
              <a:rPr lang="en-US" altLang="en-US" dirty="0"/>
              <a:t>Low income makes loans made by private banks harder to repay: the default rate increases, which may cause bankruptcy.</a:t>
            </a:r>
            <a:endParaRPr lang="en-US" dirty="0"/>
          </a:p>
        </p:txBody>
      </p:sp>
    </p:spTree>
    <p:extLst>
      <p:ext uri="{BB962C8B-B14F-4D97-AF65-F5344CB8AC3E}">
        <p14:creationId xmlns:p14="http://schemas.microsoft.com/office/powerpoint/2010/main" val="97851160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The Problem of Default </a:t>
            </a:r>
            <a:r>
              <a:rPr lang="en-US" altLang="en-US" sz="2000" b="0" dirty="0"/>
              <a:t>(5 of 6)</a:t>
            </a:r>
            <a:endParaRPr lang="en-US" dirty="0"/>
          </a:p>
        </p:txBody>
      </p:sp>
      <p:sp>
        <p:nvSpPr>
          <p:cNvPr id="3" name="Content Placeholder 2"/>
          <p:cNvSpPr>
            <a:spLocks noGrp="1"/>
          </p:cNvSpPr>
          <p:nvPr>
            <p:ph sz="quarter" idx="13"/>
          </p:nvPr>
        </p:nvSpPr>
        <p:spPr/>
        <p:txBody>
          <a:bodyPr/>
          <a:lstStyle/>
          <a:p>
            <a:r>
              <a:rPr lang="en-US" altLang="en-US" sz="2000" dirty="0"/>
              <a:t>If the central bank tries to fix the exchange rate, a </a:t>
            </a:r>
            <a:r>
              <a:rPr lang="en-US" altLang="en-US" sz="2000" b="1" dirty="0"/>
              <a:t>balance of payment crisis</a:t>
            </a:r>
            <a:r>
              <a:rPr lang="en-US" altLang="en-US" sz="2000" dirty="0"/>
              <a:t> may result along with a debt crisis.</a:t>
            </a:r>
          </a:p>
          <a:p>
            <a:pPr lvl="1"/>
            <a:r>
              <a:rPr lang="en-US" altLang="en-US" sz="2000" dirty="0"/>
              <a:t>Official international reserves may quickly be depleted because governments and private institutions need to pay for their debts with foreign funds, forcing the central bank to abandon the fixed exchange rate.</a:t>
            </a:r>
          </a:p>
          <a:p>
            <a:r>
              <a:rPr lang="en-US" altLang="en-US" sz="2000" dirty="0"/>
              <a:t>A </a:t>
            </a:r>
            <a:r>
              <a:rPr lang="en-US" altLang="en-US" sz="2000" b="1" dirty="0"/>
              <a:t>banking crisis</a:t>
            </a:r>
            <a:r>
              <a:rPr lang="en-US" altLang="en-US" sz="2000" dirty="0"/>
              <a:t> may result from a debt crisis.</a:t>
            </a:r>
          </a:p>
          <a:p>
            <a:pPr lvl="1"/>
            <a:r>
              <a:rPr lang="en-US" altLang="en-US" sz="2000" dirty="0"/>
              <a:t>High default rates on loans made by banks reduce their income to pay for liabilities and may increase bankruptcy.</a:t>
            </a:r>
          </a:p>
          <a:p>
            <a:pPr lvl="1"/>
            <a:r>
              <a:rPr lang="en-US" altLang="en-US" sz="2000" dirty="0"/>
              <a:t>If depositors fear bankruptcy due to possible devaluation of the currency or default on government debt (assets for banks), then they will quickly withdraw funds from banks (and possibly purchase foreign assets), leading to actual bankruptcy.</a:t>
            </a:r>
            <a:endParaRPr lang="en-US" sz="2000" dirty="0"/>
          </a:p>
        </p:txBody>
      </p:sp>
    </p:spTree>
    <p:extLst>
      <p:ext uri="{BB962C8B-B14F-4D97-AF65-F5344CB8AC3E}">
        <p14:creationId xmlns:p14="http://schemas.microsoft.com/office/powerpoint/2010/main" val="179854601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The Problem of Default </a:t>
            </a:r>
            <a:r>
              <a:rPr lang="en-US" altLang="en-US" sz="2000" b="0" dirty="0"/>
              <a:t>(6 of 6)</a:t>
            </a:r>
            <a:endParaRPr lang="en-US" dirty="0"/>
          </a:p>
        </p:txBody>
      </p:sp>
      <p:sp>
        <p:nvSpPr>
          <p:cNvPr id="3" name="Content Placeholder 2"/>
          <p:cNvSpPr>
            <a:spLocks noGrp="1"/>
          </p:cNvSpPr>
          <p:nvPr>
            <p:ph sz="quarter" idx="13"/>
          </p:nvPr>
        </p:nvSpPr>
        <p:spPr/>
        <p:txBody>
          <a:bodyPr/>
          <a:lstStyle/>
          <a:p>
            <a:r>
              <a:rPr lang="en-US" altLang="en-US" dirty="0"/>
              <a:t>A debt crisis, a balance of payments crisis, and a banking crisis can occur together, and each can make the other worse.</a:t>
            </a:r>
          </a:p>
          <a:p>
            <a:pPr lvl="1"/>
            <a:r>
              <a:rPr lang="en-US" altLang="en-US" dirty="0"/>
              <a:t>Each can cause aggregate demand, output, and employment to fall (further).</a:t>
            </a:r>
          </a:p>
          <a:p>
            <a:r>
              <a:rPr lang="en-US" altLang="en-US" dirty="0"/>
              <a:t>If people </a:t>
            </a:r>
            <a:r>
              <a:rPr lang="en-US" altLang="en-US" b="1" dirty="0"/>
              <a:t>expect</a:t>
            </a:r>
            <a:r>
              <a:rPr lang="en-US" altLang="en-US" dirty="0"/>
              <a:t> a default on sovereign debt, a currency devaluation, or bankruptcy of private banks, each can occur, and each can lead to another.</a:t>
            </a:r>
            <a:endParaRPr lang="en-US" dirty="0"/>
          </a:p>
        </p:txBody>
      </p:sp>
    </p:spTree>
    <p:extLst>
      <p:ext uri="{BB962C8B-B14F-4D97-AF65-F5344CB8AC3E}">
        <p14:creationId xmlns:p14="http://schemas.microsoft.com/office/powerpoint/2010/main" val="245700023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sz="3200" dirty="0"/>
              <a:t>Alternative Forms of Financial Inflow </a:t>
            </a:r>
            <a:r>
              <a:rPr lang="en-US" altLang="en-US" sz="2000" b="0" dirty="0"/>
              <a:t>(1 of 3)</a:t>
            </a:r>
            <a:endParaRPr lang="en-US" dirty="0"/>
          </a:p>
        </p:txBody>
      </p:sp>
      <p:sp>
        <p:nvSpPr>
          <p:cNvPr id="3" name="Content Placeholder 2"/>
          <p:cNvSpPr>
            <a:spLocks noGrp="1"/>
          </p:cNvSpPr>
          <p:nvPr>
            <p:ph sz="quarter" idx="13"/>
          </p:nvPr>
        </p:nvSpPr>
        <p:spPr>
          <a:xfrm>
            <a:off x="457200" y="1556327"/>
            <a:ext cx="8229600" cy="3071092"/>
          </a:xfrm>
        </p:spPr>
        <p:txBody>
          <a:bodyPr/>
          <a:lstStyle/>
          <a:p>
            <a:pPr marL="432000" indent="-432000">
              <a:buFont typeface="Times" pitchFamily="-1" charset="0"/>
              <a:buAutoNum type="arabicPeriod"/>
            </a:pPr>
            <a:r>
              <a:rPr lang="en-US" altLang="en-US" b="1" dirty="0"/>
              <a:t>Bond finance:</a:t>
            </a:r>
            <a:r>
              <a:rPr lang="en-US" altLang="en-US" dirty="0"/>
              <a:t> government or private sector bonds are sold to foreign individuals and institutions.</a:t>
            </a:r>
          </a:p>
          <a:p>
            <a:pPr marL="432000" indent="-432000">
              <a:buFont typeface="Times" pitchFamily="-1" charset="0"/>
              <a:buAutoNum type="arabicPeriod"/>
            </a:pPr>
            <a:r>
              <a:rPr lang="en-US" altLang="en-US" b="1" dirty="0"/>
              <a:t>Bank finance:</a:t>
            </a:r>
            <a:r>
              <a:rPr lang="en-US" altLang="en-US" dirty="0"/>
              <a:t> commercial banks or securities firms lend to foreign governments or foreign businesses.</a:t>
            </a:r>
          </a:p>
          <a:p>
            <a:pPr marL="432000" indent="-432000">
              <a:buFont typeface="Times" pitchFamily="-1" charset="0"/>
              <a:buAutoNum type="arabicPeriod"/>
            </a:pPr>
            <a:r>
              <a:rPr lang="en-US" altLang="en-US" b="1" dirty="0"/>
              <a:t>Official lending:</a:t>
            </a:r>
            <a:r>
              <a:rPr lang="en-US" altLang="en-US" dirty="0"/>
              <a:t> the World Bank, Inter-American Development Bank, or other official agencies lend to governments.</a:t>
            </a:r>
          </a:p>
        </p:txBody>
      </p:sp>
      <p:sp>
        <p:nvSpPr>
          <p:cNvPr id="4" name="Content Placeholder 3"/>
          <p:cNvSpPr>
            <a:spLocks noGrp="1"/>
          </p:cNvSpPr>
          <p:nvPr>
            <p:ph sz="quarter" idx="14"/>
          </p:nvPr>
        </p:nvSpPr>
        <p:spPr>
          <a:xfrm>
            <a:off x="457200" y="4697522"/>
            <a:ext cx="8229600" cy="897826"/>
          </a:xfrm>
        </p:spPr>
        <p:txBody>
          <a:bodyPr tIns="0" bIns="0"/>
          <a:lstStyle/>
          <a:p>
            <a:pPr lvl="1"/>
            <a:r>
              <a:rPr lang="en-US" altLang="en-US" dirty="0"/>
              <a:t>Sometimes these loans are made on a “</a:t>
            </a:r>
            <a:r>
              <a:rPr lang="en-US" altLang="ja-JP" dirty="0"/>
              <a:t>concessional” or favorable basis, in which the interest rate is low.</a:t>
            </a:r>
            <a:endParaRPr lang="en-US" dirty="0"/>
          </a:p>
        </p:txBody>
      </p:sp>
    </p:spTree>
    <p:extLst>
      <p:ext uri="{BB962C8B-B14F-4D97-AF65-F5344CB8AC3E}">
        <p14:creationId xmlns:p14="http://schemas.microsoft.com/office/powerpoint/2010/main" val="202214833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sz="3200" dirty="0"/>
              <a:t>Alternative Forms of Financial Inflow </a:t>
            </a:r>
            <a:r>
              <a:rPr lang="en-US" altLang="en-US" sz="2000" b="0" dirty="0"/>
              <a:t>(2 of 3)</a:t>
            </a:r>
            <a:endParaRPr lang="en-US" dirty="0"/>
          </a:p>
        </p:txBody>
      </p:sp>
      <p:sp>
        <p:nvSpPr>
          <p:cNvPr id="7" name="Content Placeholder 6"/>
          <p:cNvSpPr>
            <a:spLocks noGrp="1"/>
          </p:cNvSpPr>
          <p:nvPr>
            <p:ph sz="quarter" idx="13"/>
          </p:nvPr>
        </p:nvSpPr>
        <p:spPr>
          <a:xfrm>
            <a:off x="457200" y="1552575"/>
            <a:ext cx="8232128" cy="1247775"/>
          </a:xfrm>
        </p:spPr>
        <p:txBody>
          <a:bodyPr/>
          <a:lstStyle/>
          <a:p>
            <a:pPr marL="432000" indent="-432000">
              <a:buFont typeface="+mj-lt"/>
              <a:buAutoNum type="arabicPeriod" startAt="4"/>
            </a:pPr>
            <a:r>
              <a:rPr lang="en-US" altLang="en-US" b="1" dirty="0"/>
              <a:t>Foreign direct investment:</a:t>
            </a:r>
            <a:r>
              <a:rPr lang="en-US" altLang="en-US" dirty="0"/>
              <a:t> a firm directly acquires or expands operations in a subsidiary firm in a foreign country.</a:t>
            </a:r>
          </a:p>
        </p:txBody>
      </p:sp>
      <p:sp>
        <p:nvSpPr>
          <p:cNvPr id="4" name="Content Placeholder 3"/>
          <p:cNvSpPr>
            <a:spLocks noGrp="1"/>
          </p:cNvSpPr>
          <p:nvPr>
            <p:ph sz="quarter" idx="14"/>
          </p:nvPr>
        </p:nvSpPr>
        <p:spPr>
          <a:xfrm>
            <a:off x="457200" y="2870406"/>
            <a:ext cx="8229600" cy="787193"/>
          </a:xfrm>
        </p:spPr>
        <p:txBody>
          <a:bodyPr tIns="0" bIns="0"/>
          <a:lstStyle/>
          <a:p>
            <a:pPr lvl="1" indent="-284400"/>
            <a:r>
              <a:rPr lang="en-US" altLang="en-US" dirty="0"/>
              <a:t>A purchase by Ford of a subsidiary firm in Mexico is classified as foreign direct investment.</a:t>
            </a:r>
          </a:p>
        </p:txBody>
      </p:sp>
      <p:sp>
        <p:nvSpPr>
          <p:cNvPr id="5" name="Content Placeholder 4"/>
          <p:cNvSpPr>
            <a:spLocks noGrp="1"/>
          </p:cNvSpPr>
          <p:nvPr>
            <p:ph sz="quarter" idx="15"/>
          </p:nvPr>
        </p:nvSpPr>
        <p:spPr>
          <a:xfrm>
            <a:off x="457200" y="3794219"/>
            <a:ext cx="8229600" cy="886746"/>
          </a:xfrm>
        </p:spPr>
        <p:txBody>
          <a:bodyPr/>
          <a:lstStyle/>
          <a:p>
            <a:pPr marL="432000" indent="-432000">
              <a:buFont typeface="+mj-lt"/>
              <a:buAutoNum type="arabicPeriod" startAt="5"/>
            </a:pPr>
            <a:r>
              <a:rPr lang="en-US" altLang="en-US" b="1" dirty="0"/>
              <a:t>Portfolio equity investment:</a:t>
            </a:r>
            <a:r>
              <a:rPr lang="en-US" altLang="en-US" dirty="0"/>
              <a:t> a foreign investor purchases equity (stock) for his portfolio.</a:t>
            </a:r>
          </a:p>
        </p:txBody>
      </p:sp>
      <p:sp>
        <p:nvSpPr>
          <p:cNvPr id="6" name="Content Placeholder 5"/>
          <p:cNvSpPr>
            <a:spLocks noGrp="1"/>
          </p:cNvSpPr>
          <p:nvPr>
            <p:ph sz="quarter" idx="16"/>
          </p:nvPr>
        </p:nvSpPr>
        <p:spPr>
          <a:xfrm>
            <a:off x="457200" y="4780501"/>
            <a:ext cx="8232128" cy="1149243"/>
          </a:xfrm>
        </p:spPr>
        <p:txBody>
          <a:bodyPr tIns="0" bIns="0"/>
          <a:lstStyle/>
          <a:p>
            <a:pPr lvl="1" indent="-284400"/>
            <a:r>
              <a:rPr lang="en-US" altLang="en-US" dirty="0"/>
              <a:t>Privatization of government-owned firms in many countries has created more equity investment opportunities for foreign investors.</a:t>
            </a:r>
            <a:endParaRPr lang="en-US" dirty="0"/>
          </a:p>
        </p:txBody>
      </p:sp>
    </p:spTree>
    <p:extLst>
      <p:ext uri="{BB962C8B-B14F-4D97-AF65-F5344CB8AC3E}">
        <p14:creationId xmlns:p14="http://schemas.microsoft.com/office/powerpoint/2010/main" val="371236522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sz="3200" dirty="0"/>
              <a:t>Alternative Forms of Financial Inflow </a:t>
            </a:r>
            <a:r>
              <a:rPr lang="en-US" altLang="en-US" sz="2000" b="0" dirty="0"/>
              <a:t>(3 of 3)</a:t>
            </a:r>
            <a:endParaRPr lang="en-US" dirty="0"/>
          </a:p>
        </p:txBody>
      </p:sp>
      <p:sp>
        <p:nvSpPr>
          <p:cNvPr id="7" name="Content Placeholder 6"/>
          <p:cNvSpPr>
            <a:spLocks noGrp="1"/>
          </p:cNvSpPr>
          <p:nvPr>
            <p:ph sz="quarter" idx="13"/>
          </p:nvPr>
        </p:nvSpPr>
        <p:spPr/>
        <p:txBody>
          <a:bodyPr/>
          <a:lstStyle/>
          <a:p>
            <a:r>
              <a:rPr lang="en-US" altLang="en-US" dirty="0"/>
              <a:t>Debt finance includes bond finance, bank finance, and official lending.</a:t>
            </a:r>
          </a:p>
          <a:p>
            <a:r>
              <a:rPr lang="en-US" altLang="en-US" dirty="0"/>
              <a:t>Equity finance includes direct investment and portfolio equity investment.</a:t>
            </a:r>
          </a:p>
          <a:p>
            <a:r>
              <a:rPr lang="en-US" altLang="en-US" dirty="0"/>
              <a:t>While debt finance requires fixed payments regardless of the state of the economy, the value of equity finance fluctuates depending on aggregate demand and output.</a:t>
            </a:r>
            <a:endParaRPr lang="en-US" dirty="0"/>
          </a:p>
        </p:txBody>
      </p:sp>
    </p:spTree>
    <p:extLst>
      <p:ext uri="{BB962C8B-B14F-4D97-AF65-F5344CB8AC3E}">
        <p14:creationId xmlns:p14="http://schemas.microsoft.com/office/powerpoint/2010/main" val="354541546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The Problem of “</a:t>
            </a:r>
            <a:r>
              <a:rPr lang="en-US" altLang="ja-JP" dirty="0"/>
              <a:t>Original Sin” </a:t>
            </a:r>
            <a:r>
              <a:rPr lang="en-US" altLang="ja-JP" sz="2000" b="0" dirty="0"/>
              <a:t>(1 of 4)</a:t>
            </a:r>
            <a:endParaRPr lang="en-US" dirty="0"/>
          </a:p>
        </p:txBody>
      </p:sp>
      <p:sp>
        <p:nvSpPr>
          <p:cNvPr id="3" name="Content Placeholder 2"/>
          <p:cNvSpPr>
            <a:spLocks noGrp="1"/>
          </p:cNvSpPr>
          <p:nvPr>
            <p:ph sz="quarter" idx="13"/>
          </p:nvPr>
        </p:nvSpPr>
        <p:spPr/>
        <p:txBody>
          <a:bodyPr/>
          <a:lstStyle/>
          <a:p>
            <a:r>
              <a:rPr lang="en-US" altLang="en-US" dirty="0"/>
              <a:t>Sovereign and private sector debts in the United States, Japan, and European countries are mostly denominated in their respective currencies.</a:t>
            </a:r>
          </a:p>
          <a:p>
            <a:r>
              <a:rPr lang="en-US" altLang="en-US" dirty="0"/>
              <a:t>But when poor and middle-income countries borrow in international financial capital markets, their debts are almost always denominated in U</a:t>
            </a:r>
            <a:r>
              <a:rPr lang="en-US" altLang="en-US" sz="100" dirty="0"/>
              <a:t> </a:t>
            </a:r>
            <a:r>
              <a:rPr lang="en-US" altLang="en-US" dirty="0"/>
              <a:t>S $, yen, or euros: a condition called “</a:t>
            </a:r>
            <a:r>
              <a:rPr lang="en-US" altLang="ja-JP" b="1" dirty="0"/>
              <a:t>original sin</a:t>
            </a:r>
            <a:r>
              <a:rPr lang="en-US" altLang="ja-JP" dirty="0"/>
              <a:t>.”</a:t>
            </a:r>
            <a:endParaRPr lang="en-US" dirty="0"/>
          </a:p>
        </p:txBody>
      </p:sp>
    </p:spTree>
    <p:extLst>
      <p:ext uri="{BB962C8B-B14F-4D97-AF65-F5344CB8AC3E}">
        <p14:creationId xmlns:p14="http://schemas.microsoft.com/office/powerpoint/2010/main" val="121056261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The Problem of “</a:t>
            </a:r>
            <a:r>
              <a:rPr lang="en-US" altLang="ja-JP" dirty="0"/>
              <a:t>Original Sin” </a:t>
            </a:r>
            <a:r>
              <a:rPr lang="en-US" altLang="ja-JP" sz="2000" b="0" dirty="0"/>
              <a:t>(2 of 4)</a:t>
            </a:r>
            <a:endParaRPr lang="en-US" dirty="0"/>
          </a:p>
        </p:txBody>
      </p:sp>
      <p:sp>
        <p:nvSpPr>
          <p:cNvPr id="3" name="Content Placeholder 2"/>
          <p:cNvSpPr>
            <a:spLocks noGrp="1"/>
          </p:cNvSpPr>
          <p:nvPr>
            <p:ph sz="quarter" idx="13"/>
          </p:nvPr>
        </p:nvSpPr>
        <p:spPr/>
        <p:txBody>
          <a:bodyPr/>
          <a:lstStyle/>
          <a:p>
            <a:r>
              <a:rPr lang="en-US" altLang="en-US" dirty="0"/>
              <a:t>When a depreciation of domestic currencies occurs in the United States, Japan, or European countries, liabilities (debt) that are denominated in </a:t>
            </a:r>
            <a:r>
              <a:rPr lang="en-US" altLang="en-US" b="1" dirty="0"/>
              <a:t>domestic</a:t>
            </a:r>
            <a:r>
              <a:rPr lang="en-US" altLang="en-US" dirty="0"/>
              <a:t> currencies do not increase, but the value of foreign assets increases.</a:t>
            </a:r>
          </a:p>
          <a:p>
            <a:pPr lvl="1"/>
            <a:r>
              <a:rPr lang="en-US" altLang="en-US" dirty="0"/>
              <a:t>A devaluation of the domestic currency causes an increase in net foreign wealth.</a:t>
            </a:r>
            <a:endParaRPr lang="en-US" dirty="0"/>
          </a:p>
        </p:txBody>
      </p:sp>
    </p:spTree>
    <p:extLst>
      <p:ext uri="{BB962C8B-B14F-4D97-AF65-F5344CB8AC3E}">
        <p14:creationId xmlns:p14="http://schemas.microsoft.com/office/powerpoint/2010/main" val="230895428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The Problem of “</a:t>
            </a:r>
            <a:r>
              <a:rPr lang="en-US" altLang="ja-JP" dirty="0"/>
              <a:t>Original Sin” </a:t>
            </a:r>
            <a:r>
              <a:rPr lang="en-US" altLang="ja-JP" sz="2000" b="0" dirty="0"/>
              <a:t>(3 of 4)</a:t>
            </a:r>
            <a:endParaRPr lang="en-US" dirty="0"/>
          </a:p>
        </p:txBody>
      </p:sp>
      <p:sp>
        <p:nvSpPr>
          <p:cNvPr id="3" name="Content Placeholder 2"/>
          <p:cNvSpPr>
            <a:spLocks noGrp="1"/>
          </p:cNvSpPr>
          <p:nvPr>
            <p:ph sz="quarter" idx="13"/>
          </p:nvPr>
        </p:nvSpPr>
        <p:spPr/>
        <p:txBody>
          <a:bodyPr/>
          <a:lstStyle/>
          <a:p>
            <a:r>
              <a:rPr lang="en-US" altLang="en-US" dirty="0"/>
              <a:t>When a depreciation/devaluation of domestic currencies occurs in most poor and middle-income economies, the value of their liabilities (debt) rises because their liabilities are denominated in </a:t>
            </a:r>
            <a:r>
              <a:rPr lang="en-US" altLang="en-US" b="1" dirty="0"/>
              <a:t>foreign</a:t>
            </a:r>
            <a:r>
              <a:rPr lang="en-US" altLang="en-US" dirty="0"/>
              <a:t> currencies.</a:t>
            </a:r>
          </a:p>
          <a:p>
            <a:pPr lvl="1"/>
            <a:r>
              <a:rPr lang="en-US" altLang="en-US" dirty="0"/>
              <a:t>A devaluation of the domestic currency causes a decrease in net foreign wealth.</a:t>
            </a:r>
            <a:endParaRPr lang="en-US" dirty="0"/>
          </a:p>
        </p:txBody>
      </p:sp>
    </p:spTree>
    <p:extLst>
      <p:ext uri="{BB962C8B-B14F-4D97-AF65-F5344CB8AC3E}">
        <p14:creationId xmlns:p14="http://schemas.microsoft.com/office/powerpoint/2010/main" val="365857114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The Problem of “</a:t>
            </a:r>
            <a:r>
              <a:rPr lang="en-US" altLang="ja-JP" dirty="0"/>
              <a:t>Original Sin” </a:t>
            </a:r>
            <a:r>
              <a:rPr lang="en-US" altLang="ja-JP" sz="2000" b="0" dirty="0"/>
              <a:t>(4 of 4)</a:t>
            </a:r>
            <a:endParaRPr lang="en-US" dirty="0"/>
          </a:p>
        </p:txBody>
      </p:sp>
      <p:sp>
        <p:nvSpPr>
          <p:cNvPr id="3" name="Content Placeholder 2"/>
          <p:cNvSpPr>
            <a:spLocks noGrp="1"/>
          </p:cNvSpPr>
          <p:nvPr>
            <p:ph sz="quarter" idx="13"/>
          </p:nvPr>
        </p:nvSpPr>
        <p:spPr/>
        <p:txBody>
          <a:bodyPr/>
          <a:lstStyle/>
          <a:p>
            <a:pPr lvl="1"/>
            <a:r>
              <a:rPr lang="en-US" altLang="en-US" dirty="0"/>
              <a:t>In particular, a fall in aggregate demand of domestic products causes a depreciation/devaluation of the domestic currency and causes a decrease in net foreign wealth if assets are denominated in domestic currencies and liabilities (debt) are denominated in foreign currencies.</a:t>
            </a:r>
          </a:p>
          <a:p>
            <a:pPr lvl="1"/>
            <a:r>
              <a:rPr lang="en-US" altLang="en-US" dirty="0"/>
              <a:t>This is a situation of “</a:t>
            </a:r>
            <a:r>
              <a:rPr lang="en-US" altLang="ja-JP" dirty="0"/>
              <a:t>negative insurance” against a fall in aggregate demand.</a:t>
            </a:r>
            <a:endParaRPr lang="en-US" dirty="0"/>
          </a:p>
        </p:txBody>
      </p:sp>
    </p:spTree>
    <p:extLst>
      <p:ext uri="{BB962C8B-B14F-4D97-AF65-F5344CB8AC3E}">
        <p14:creationId xmlns:p14="http://schemas.microsoft.com/office/powerpoint/2010/main" val="72439486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The Debt Crisis of the 1980s </a:t>
            </a:r>
            <a:r>
              <a:rPr lang="en-US" altLang="en-US" sz="2000" b="0" dirty="0"/>
              <a:t>(1 of 2)</a:t>
            </a:r>
            <a:endParaRPr lang="en-US" dirty="0"/>
          </a:p>
        </p:txBody>
      </p:sp>
      <p:sp>
        <p:nvSpPr>
          <p:cNvPr id="3" name="Content Placeholder 2"/>
          <p:cNvSpPr>
            <a:spLocks noGrp="1"/>
          </p:cNvSpPr>
          <p:nvPr>
            <p:ph sz="quarter" idx="13"/>
          </p:nvPr>
        </p:nvSpPr>
        <p:spPr/>
        <p:txBody>
          <a:bodyPr/>
          <a:lstStyle/>
          <a:p>
            <a:r>
              <a:rPr lang="en-US" altLang="en-US" dirty="0"/>
              <a:t>In the 1980s, high interest rates and an appreciation of the U.S. dollar caused the burden of dollar-denominated debts in Argentina, Mexico, Brazil, and Chile to increase drastically.</a:t>
            </a:r>
          </a:p>
          <a:p>
            <a:r>
              <a:rPr lang="en-US" altLang="en-US" dirty="0"/>
              <a:t>A worldwide recession and a fall in many commodity prices also hurt export sectors in these countries.</a:t>
            </a:r>
          </a:p>
          <a:p>
            <a:r>
              <a:rPr lang="en-US" altLang="en-US" dirty="0"/>
              <a:t>In August 1982, Mexico announced that it could not repay its debts, mostly to private banks.</a:t>
            </a:r>
            <a:endParaRPr lang="en-US" dirty="0"/>
          </a:p>
        </p:txBody>
      </p:sp>
    </p:spTree>
    <p:extLst>
      <p:ext uri="{BB962C8B-B14F-4D97-AF65-F5344CB8AC3E}">
        <p14:creationId xmlns:p14="http://schemas.microsoft.com/office/powerpoint/2010/main" val="130920421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The Debt Crisis of the 1980s </a:t>
            </a:r>
            <a:r>
              <a:rPr lang="en-US" altLang="en-US" sz="2000" b="0" dirty="0"/>
              <a:t>(2 of 2)</a:t>
            </a:r>
            <a:endParaRPr lang="en-US" dirty="0"/>
          </a:p>
        </p:txBody>
      </p:sp>
      <p:sp>
        <p:nvSpPr>
          <p:cNvPr id="3" name="Content Placeholder 2"/>
          <p:cNvSpPr>
            <a:spLocks noGrp="1"/>
          </p:cNvSpPr>
          <p:nvPr>
            <p:ph sz="quarter" idx="13"/>
          </p:nvPr>
        </p:nvSpPr>
        <p:spPr/>
        <p:txBody>
          <a:bodyPr/>
          <a:lstStyle/>
          <a:p>
            <a:r>
              <a:rPr lang="en-US" altLang="en-US" dirty="0"/>
              <a:t>The U.S. government insisted that the private banks </a:t>
            </a:r>
            <a:r>
              <a:rPr lang="en-US" altLang="en-US" b="1" dirty="0"/>
              <a:t>reschedule</a:t>
            </a:r>
            <a:r>
              <a:rPr lang="en-US" altLang="en-US" dirty="0"/>
              <a:t> the debts, and in 1989 Mexico was able to achieve</a:t>
            </a:r>
          </a:p>
          <a:p>
            <a:pPr lvl="1"/>
            <a:r>
              <a:rPr lang="en-US" altLang="en-US" dirty="0"/>
              <a:t>a reduction in the interest rate</a:t>
            </a:r>
          </a:p>
          <a:p>
            <a:pPr lvl="1"/>
            <a:r>
              <a:rPr lang="en-US" altLang="en-US" dirty="0"/>
              <a:t>an extension of the repayment period</a:t>
            </a:r>
          </a:p>
          <a:p>
            <a:pPr lvl="1"/>
            <a:r>
              <a:rPr lang="en-US" altLang="en-US" dirty="0"/>
              <a:t>a reduction in the principal by 12%</a:t>
            </a:r>
          </a:p>
          <a:p>
            <a:r>
              <a:rPr lang="en-US" altLang="en-US" dirty="0"/>
              <a:t>Brazil, Argentina, and other countries were also allowed to reschedule their debts with private banks after they defaulted.</a:t>
            </a:r>
            <a:endParaRPr lang="en-US" dirty="0"/>
          </a:p>
        </p:txBody>
      </p:sp>
    </p:spTree>
    <p:extLst>
      <p:ext uri="{BB962C8B-B14F-4D97-AF65-F5344CB8AC3E}">
        <p14:creationId xmlns:p14="http://schemas.microsoft.com/office/powerpoint/2010/main" val="306919696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sz="3200" dirty="0"/>
              <a:t>Reforms, Capital Inflows, and the Return of Crisis </a:t>
            </a:r>
            <a:r>
              <a:rPr lang="en-US" altLang="en-US" sz="2000" b="0" dirty="0"/>
              <a:t>(1 of 9)</a:t>
            </a:r>
            <a:endParaRPr lang="en-US" dirty="0"/>
          </a:p>
        </p:txBody>
      </p:sp>
      <p:sp>
        <p:nvSpPr>
          <p:cNvPr id="3" name="Content Placeholder 2"/>
          <p:cNvSpPr>
            <a:spLocks noGrp="1"/>
          </p:cNvSpPr>
          <p:nvPr>
            <p:ph sz="quarter" idx="13"/>
          </p:nvPr>
        </p:nvSpPr>
        <p:spPr/>
        <p:txBody>
          <a:bodyPr/>
          <a:lstStyle/>
          <a:p>
            <a:r>
              <a:rPr lang="en-US" altLang="en-US" dirty="0"/>
              <a:t>The Mexican government implemented several reforms due to the crisis. Starting in 1987, it</a:t>
            </a:r>
          </a:p>
          <a:p>
            <a:pPr lvl="1"/>
            <a:r>
              <a:rPr lang="en-US" altLang="en-US" dirty="0"/>
              <a:t>reduced government deficits.</a:t>
            </a:r>
          </a:p>
          <a:p>
            <a:pPr lvl="1"/>
            <a:r>
              <a:rPr lang="en-US" altLang="en-US" dirty="0"/>
              <a:t>reduced production in the public sector (including banking) by privatizing industries.</a:t>
            </a:r>
          </a:p>
          <a:p>
            <a:pPr lvl="1"/>
            <a:r>
              <a:rPr lang="en-US" altLang="en-US" dirty="0"/>
              <a:t>reduced barriers to trade.</a:t>
            </a:r>
          </a:p>
          <a:p>
            <a:pPr lvl="1"/>
            <a:r>
              <a:rPr lang="en-US" altLang="en-US" dirty="0"/>
              <a:t>maintained an adjustable fixed exchange rate (“</a:t>
            </a:r>
            <a:r>
              <a:rPr lang="en-US" altLang="ja-JP" dirty="0"/>
              <a:t>crawling peg”) until 1994 to help curb inflation.</a:t>
            </a:r>
            <a:endParaRPr lang="en-US" dirty="0"/>
          </a:p>
        </p:txBody>
      </p:sp>
    </p:spTree>
    <p:extLst>
      <p:ext uri="{BB962C8B-B14F-4D97-AF65-F5344CB8AC3E}">
        <p14:creationId xmlns:p14="http://schemas.microsoft.com/office/powerpoint/2010/main" val="144226810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sz="3200" dirty="0"/>
              <a:t>Reforms, Capital Inflows, and the Return of Crisis </a:t>
            </a:r>
            <a:r>
              <a:rPr lang="en-US" altLang="en-US" sz="2000" b="0" dirty="0"/>
              <a:t>(2 of 9)</a:t>
            </a:r>
            <a:endParaRPr lang="en-US" dirty="0"/>
          </a:p>
        </p:txBody>
      </p:sp>
      <p:sp>
        <p:nvSpPr>
          <p:cNvPr id="3" name="Content Placeholder 2"/>
          <p:cNvSpPr>
            <a:spLocks noGrp="1"/>
          </p:cNvSpPr>
          <p:nvPr>
            <p:ph sz="quarter" idx="13"/>
          </p:nvPr>
        </p:nvSpPr>
        <p:spPr/>
        <p:txBody>
          <a:bodyPr/>
          <a:lstStyle/>
          <a:p>
            <a:r>
              <a:rPr lang="en-US" altLang="en-US" dirty="0"/>
              <a:t>It extended credit to newly privatized banks with loan losses.</a:t>
            </a:r>
          </a:p>
          <a:p>
            <a:pPr lvl="1"/>
            <a:r>
              <a:rPr lang="en-US" altLang="en-US" dirty="0"/>
              <a:t>Losses were a problem due to weak enforcement or lack of asset restrictions and capital requirements.</a:t>
            </a:r>
          </a:p>
          <a:p>
            <a:r>
              <a:rPr lang="en-US" altLang="en-US" dirty="0"/>
              <a:t>Political instability and loan defaults at private banks contributed to another crisis in 1994, after which the Mexican government allowed the value of the peso to fluctuate.</a:t>
            </a:r>
            <a:endParaRPr lang="en-US" dirty="0"/>
          </a:p>
        </p:txBody>
      </p:sp>
    </p:spTree>
    <p:extLst>
      <p:ext uri="{BB962C8B-B14F-4D97-AF65-F5344CB8AC3E}">
        <p14:creationId xmlns:p14="http://schemas.microsoft.com/office/powerpoint/2010/main" val="118872234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sz="3200" dirty="0"/>
              <a:t>Reforms, Capital Inflows, and the Return of Crisis </a:t>
            </a:r>
            <a:r>
              <a:rPr lang="en-US" altLang="en-US" sz="2000" b="0" dirty="0"/>
              <a:t>(3 of 9)</a:t>
            </a:r>
            <a:endParaRPr lang="en-US" dirty="0"/>
          </a:p>
        </p:txBody>
      </p:sp>
      <p:sp>
        <p:nvSpPr>
          <p:cNvPr id="3" name="Content Placeholder 2"/>
          <p:cNvSpPr>
            <a:spLocks noGrp="1"/>
          </p:cNvSpPr>
          <p:nvPr>
            <p:ph sz="quarter" idx="13"/>
          </p:nvPr>
        </p:nvSpPr>
        <p:spPr/>
        <p:txBody>
          <a:bodyPr/>
          <a:lstStyle/>
          <a:p>
            <a:r>
              <a:rPr lang="en-US" altLang="en-US" dirty="0"/>
              <a:t>Starting in 1991, Argentina carried out similar reforms:</a:t>
            </a:r>
          </a:p>
          <a:p>
            <a:pPr lvl="1"/>
            <a:r>
              <a:rPr lang="en-US" altLang="en-US" dirty="0"/>
              <a:t>It reduced government deficits.</a:t>
            </a:r>
          </a:p>
          <a:p>
            <a:pPr lvl="1"/>
            <a:r>
              <a:rPr lang="en-US" altLang="en-US" dirty="0"/>
              <a:t>It reduced production in the public sector by privatizing industries.</a:t>
            </a:r>
          </a:p>
          <a:p>
            <a:pPr lvl="1"/>
            <a:r>
              <a:rPr lang="en-US" altLang="en-US" dirty="0"/>
              <a:t>It reduced barriers to trade.</a:t>
            </a:r>
          </a:p>
          <a:p>
            <a:pPr lvl="1"/>
            <a:r>
              <a:rPr lang="en-US" altLang="en-US" dirty="0"/>
              <a:t>It enacted tax reforms to increase tax revenues.</a:t>
            </a:r>
          </a:p>
          <a:p>
            <a:pPr lvl="1"/>
            <a:r>
              <a:rPr lang="en-US" altLang="en-US" dirty="0"/>
              <a:t>It enacted the Convertibility Law, which required that each peso be backed with 1 U.S. dollar, and it fixed the exchange rate to 1 peso per U.S. dollar.</a:t>
            </a:r>
            <a:endParaRPr lang="en-US" dirty="0"/>
          </a:p>
        </p:txBody>
      </p:sp>
    </p:spTree>
    <p:extLst>
      <p:ext uri="{BB962C8B-B14F-4D97-AF65-F5344CB8AC3E}">
        <p14:creationId xmlns:p14="http://schemas.microsoft.com/office/powerpoint/2010/main" val="60870005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sz="3200" dirty="0"/>
              <a:t>Reforms, Capital Inflows, and the Return of Crisis </a:t>
            </a:r>
            <a:r>
              <a:rPr lang="en-US" altLang="en-US" sz="2000" b="0" dirty="0"/>
              <a:t>(4 of 9)</a:t>
            </a:r>
            <a:endParaRPr lang="en-US" dirty="0"/>
          </a:p>
        </p:txBody>
      </p:sp>
      <p:sp>
        <p:nvSpPr>
          <p:cNvPr id="3" name="Content Placeholder 2"/>
          <p:cNvSpPr>
            <a:spLocks noGrp="1"/>
          </p:cNvSpPr>
          <p:nvPr>
            <p:ph sz="quarter" idx="13"/>
          </p:nvPr>
        </p:nvSpPr>
        <p:spPr/>
        <p:txBody>
          <a:bodyPr/>
          <a:lstStyle/>
          <a:p>
            <a:r>
              <a:rPr lang="en-US" altLang="en-US" dirty="0"/>
              <a:t>Because the central bank was not allowed to print more pesos without having more dollar reserves, inflation slowed dramatically.</a:t>
            </a:r>
          </a:p>
          <a:p>
            <a:r>
              <a:rPr lang="en-US" altLang="en-US" dirty="0"/>
              <a:t>Yet inflation was about 5% per annum, faster than U.S. inflation, so that the price/value of Argentinean goods appreciated relative to U.S. and other foreign goods.</a:t>
            </a:r>
          </a:p>
          <a:p>
            <a:r>
              <a:rPr lang="en-US" altLang="en-US" dirty="0"/>
              <a:t>Due to the relatively rapid peso price increases, markets began to speculate about a peso devaluation.</a:t>
            </a:r>
          </a:p>
          <a:p>
            <a:r>
              <a:rPr lang="en-US" altLang="en-US" dirty="0"/>
              <a:t>A global recession in 2001 further reduced the demand of Argentinean goods and currency.</a:t>
            </a:r>
            <a:endParaRPr lang="en-US" dirty="0"/>
          </a:p>
        </p:txBody>
      </p:sp>
    </p:spTree>
    <p:extLst>
      <p:ext uri="{BB962C8B-B14F-4D97-AF65-F5344CB8AC3E}">
        <p14:creationId xmlns:p14="http://schemas.microsoft.com/office/powerpoint/2010/main" val="229498171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sz="3200" dirty="0"/>
              <a:t>Reforms, Capital Inflows, and the Return of Crisis </a:t>
            </a:r>
            <a:r>
              <a:rPr lang="en-US" altLang="en-US" sz="2000" b="0" dirty="0"/>
              <a:t>(5 of 9)</a:t>
            </a:r>
            <a:endParaRPr lang="en-US" dirty="0"/>
          </a:p>
        </p:txBody>
      </p:sp>
      <p:sp>
        <p:nvSpPr>
          <p:cNvPr id="3" name="Content Placeholder 2"/>
          <p:cNvSpPr>
            <a:spLocks noGrp="1"/>
          </p:cNvSpPr>
          <p:nvPr>
            <p:ph sz="quarter" idx="13"/>
          </p:nvPr>
        </p:nvSpPr>
        <p:spPr/>
        <p:txBody>
          <a:bodyPr/>
          <a:lstStyle/>
          <a:p>
            <a:r>
              <a:rPr lang="en-US" altLang="en-US" dirty="0"/>
              <a:t>Maintaining the fixed exchange rate was costly because high interest rates were needed to attract investors, further reducing investment and consumption expenditure, output, and employment.</a:t>
            </a:r>
          </a:p>
          <a:p>
            <a:r>
              <a:rPr lang="en-US" altLang="en-US" dirty="0"/>
              <a:t>As incomes fell, tax revenues fell and government spending rose, contributing to further peso inflation.</a:t>
            </a:r>
            <a:endParaRPr lang="en-US" dirty="0"/>
          </a:p>
        </p:txBody>
      </p:sp>
    </p:spTree>
    <p:extLst>
      <p:ext uri="{BB962C8B-B14F-4D97-AF65-F5344CB8AC3E}">
        <p14:creationId xmlns:p14="http://schemas.microsoft.com/office/powerpoint/2010/main" val="384323526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sz="3200" dirty="0"/>
              <a:t>Reforms, Capital Inflows, and the Return of Crisis </a:t>
            </a:r>
            <a:r>
              <a:rPr lang="en-US" altLang="en-US" sz="2000" b="0" dirty="0"/>
              <a:t>(6 of 9)</a:t>
            </a:r>
            <a:endParaRPr lang="en-US" dirty="0"/>
          </a:p>
        </p:txBody>
      </p:sp>
      <p:sp>
        <p:nvSpPr>
          <p:cNvPr id="3" name="Content Placeholder 2"/>
          <p:cNvSpPr>
            <a:spLocks noGrp="1"/>
          </p:cNvSpPr>
          <p:nvPr>
            <p:ph sz="quarter" idx="13"/>
          </p:nvPr>
        </p:nvSpPr>
        <p:spPr/>
        <p:txBody>
          <a:bodyPr/>
          <a:lstStyle/>
          <a:p>
            <a:r>
              <a:rPr lang="en-US" altLang="en-US" dirty="0"/>
              <a:t>Argentina tried to uphold the fixed exchange rate, but the government devalued the peso in 2001 and shortly thereafter allowed its value to fluctuate.</a:t>
            </a:r>
          </a:p>
          <a:p>
            <a:r>
              <a:rPr lang="en-US" altLang="en-US" dirty="0"/>
              <a:t>It also defaulted on its debt in December 2001 because of the unwillingness of investors to reinvest when the debt was due.</a:t>
            </a:r>
            <a:endParaRPr lang="en-US" dirty="0"/>
          </a:p>
        </p:txBody>
      </p:sp>
    </p:spTree>
    <p:extLst>
      <p:ext uri="{BB962C8B-B14F-4D97-AF65-F5344CB8AC3E}">
        <p14:creationId xmlns:p14="http://schemas.microsoft.com/office/powerpoint/2010/main" val="151115656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sz="3200" dirty="0"/>
              <a:t>Reforms, Capital Inflows, and the Return of Crisis </a:t>
            </a:r>
            <a:r>
              <a:rPr lang="en-US" altLang="en-US" sz="2000" b="0" dirty="0"/>
              <a:t>(7 of 9)</a:t>
            </a:r>
            <a:endParaRPr lang="en-US" dirty="0"/>
          </a:p>
        </p:txBody>
      </p:sp>
      <p:sp>
        <p:nvSpPr>
          <p:cNvPr id="3" name="Content Placeholder 2"/>
          <p:cNvSpPr>
            <a:spLocks noGrp="1"/>
          </p:cNvSpPr>
          <p:nvPr>
            <p:ph sz="quarter" idx="13"/>
          </p:nvPr>
        </p:nvSpPr>
        <p:spPr/>
        <p:txBody>
          <a:bodyPr/>
          <a:lstStyle/>
          <a:p>
            <a:r>
              <a:rPr lang="en-US" altLang="en-US" dirty="0"/>
              <a:t>Brazil carried out similar reforms in the 1980s and 1990s:</a:t>
            </a:r>
          </a:p>
          <a:p>
            <a:pPr lvl="1"/>
            <a:r>
              <a:rPr lang="en-US" altLang="en-US" dirty="0"/>
              <a:t>It reduced production in the public sector by privatizing industries.</a:t>
            </a:r>
          </a:p>
          <a:p>
            <a:pPr lvl="1"/>
            <a:r>
              <a:rPr lang="en-US" altLang="en-US" dirty="0"/>
              <a:t>It reduced barriers to trade.</a:t>
            </a:r>
          </a:p>
          <a:p>
            <a:pPr lvl="1"/>
            <a:r>
              <a:rPr lang="en-US" altLang="en-US" dirty="0"/>
              <a:t>It enacted tax reforms to increase tax revenues.</a:t>
            </a:r>
          </a:p>
          <a:p>
            <a:pPr lvl="1"/>
            <a:r>
              <a:rPr lang="en-US" altLang="en-US" dirty="0"/>
              <a:t>It fixed the exchange rate to 1 </a:t>
            </a:r>
            <a:r>
              <a:rPr lang="en-US" altLang="en-US" b="1" dirty="0"/>
              <a:t>real</a:t>
            </a:r>
            <a:r>
              <a:rPr lang="en-US" altLang="en-US" dirty="0"/>
              <a:t> per U.S. dollar.</a:t>
            </a:r>
          </a:p>
          <a:p>
            <a:pPr lvl="1"/>
            <a:r>
              <a:rPr lang="en-US" altLang="en-US" dirty="0"/>
              <a:t>But government deficits remained high.</a:t>
            </a:r>
          </a:p>
        </p:txBody>
      </p:sp>
    </p:spTree>
    <p:extLst>
      <p:ext uri="{BB962C8B-B14F-4D97-AF65-F5344CB8AC3E}">
        <p14:creationId xmlns:p14="http://schemas.microsoft.com/office/powerpoint/2010/main" val="101068389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sz="3200" dirty="0"/>
              <a:t>Reforms, Capital Inflows, and the Return of Crisis </a:t>
            </a:r>
            <a:r>
              <a:rPr lang="en-US" altLang="en-US" sz="2000" b="0" dirty="0"/>
              <a:t>(8 of 9)</a:t>
            </a:r>
            <a:endParaRPr lang="en-US" dirty="0"/>
          </a:p>
        </p:txBody>
      </p:sp>
      <p:sp>
        <p:nvSpPr>
          <p:cNvPr id="3" name="Content Placeholder 2"/>
          <p:cNvSpPr>
            <a:spLocks noGrp="1"/>
          </p:cNvSpPr>
          <p:nvPr>
            <p:ph sz="quarter" idx="13"/>
          </p:nvPr>
        </p:nvSpPr>
        <p:spPr/>
        <p:txBody>
          <a:bodyPr/>
          <a:lstStyle/>
          <a:p>
            <a:r>
              <a:rPr lang="en-US" altLang="en-US" dirty="0"/>
              <a:t>High government deficits led to inflation and speculation about a devaluation of the </a:t>
            </a:r>
            <a:r>
              <a:rPr lang="en-US" altLang="en-US" b="1" dirty="0"/>
              <a:t>real</a:t>
            </a:r>
            <a:r>
              <a:rPr lang="en-US" altLang="en-US" dirty="0"/>
              <a:t>.</a:t>
            </a:r>
          </a:p>
          <a:p>
            <a:r>
              <a:rPr lang="en-US" altLang="en-US" dirty="0"/>
              <a:t>The government did devalue the </a:t>
            </a:r>
            <a:r>
              <a:rPr lang="en-US" altLang="en-US" b="1" dirty="0"/>
              <a:t>real</a:t>
            </a:r>
            <a:r>
              <a:rPr lang="en-US" altLang="en-US" dirty="0"/>
              <a:t> in 1999, but a widespread banking crisis was avoided because Brazilian banks and firms did not borrow extensively in dollar-denominated assets.</a:t>
            </a:r>
            <a:endParaRPr lang="en-US" dirty="0"/>
          </a:p>
        </p:txBody>
      </p:sp>
    </p:spTree>
    <p:extLst>
      <p:ext uri="{BB962C8B-B14F-4D97-AF65-F5344CB8AC3E}">
        <p14:creationId xmlns:p14="http://schemas.microsoft.com/office/powerpoint/2010/main" val="131982647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sz="3200" dirty="0"/>
              <a:t>Reforms, Capital Inflows, and the Return of Crisis </a:t>
            </a:r>
            <a:r>
              <a:rPr lang="en-US" altLang="en-US" sz="2000" b="0" dirty="0"/>
              <a:t>(9 of 9)</a:t>
            </a:r>
            <a:endParaRPr lang="en-US" dirty="0"/>
          </a:p>
        </p:txBody>
      </p:sp>
      <p:sp>
        <p:nvSpPr>
          <p:cNvPr id="3" name="Content Placeholder 2"/>
          <p:cNvSpPr>
            <a:spLocks noGrp="1"/>
          </p:cNvSpPr>
          <p:nvPr>
            <p:ph sz="quarter" idx="13"/>
          </p:nvPr>
        </p:nvSpPr>
        <p:spPr>
          <a:xfrm>
            <a:off x="457200" y="1556326"/>
            <a:ext cx="8229600" cy="4677325"/>
          </a:xfrm>
        </p:spPr>
        <p:txBody>
          <a:bodyPr/>
          <a:lstStyle/>
          <a:p>
            <a:r>
              <a:rPr lang="en-US" altLang="en-US" dirty="0"/>
              <a:t>Chile suffered a recession and financial crisis in the 1980s, but thereafter</a:t>
            </a:r>
          </a:p>
          <a:p>
            <a:pPr lvl="1"/>
            <a:r>
              <a:rPr lang="en-US" altLang="en-US" dirty="0"/>
              <a:t>enacted stringent financial regulations for banks.</a:t>
            </a:r>
          </a:p>
          <a:p>
            <a:pPr lvl="1"/>
            <a:r>
              <a:rPr lang="en-US" altLang="en-US" dirty="0"/>
              <a:t>removed the guarantee from the central bank that private banks would be bailed out if their loans failed.</a:t>
            </a:r>
          </a:p>
          <a:p>
            <a:pPr lvl="1"/>
            <a:r>
              <a:rPr lang="en-US" altLang="en-US" dirty="0"/>
              <a:t>imposed controls on flows of short-term assets, so that funds could not be quickly withdrawn during a financial panic.</a:t>
            </a:r>
          </a:p>
          <a:p>
            <a:pPr lvl="1"/>
            <a:r>
              <a:rPr lang="en-US" altLang="en-US" dirty="0"/>
              <a:t>granted the central bank independence from fiscal authorities, allowing slower money supply growth.</a:t>
            </a:r>
          </a:p>
          <a:p>
            <a:r>
              <a:rPr lang="en-US" altLang="en-US" dirty="0"/>
              <a:t>Chile avoided a financial crisis in the 1990s.</a:t>
            </a:r>
            <a:endParaRPr lang="en-US" dirty="0"/>
          </a:p>
        </p:txBody>
      </p:sp>
    </p:spTree>
    <p:extLst>
      <p:ext uri="{BB962C8B-B14F-4D97-AF65-F5344CB8AC3E}">
        <p14:creationId xmlns:p14="http://schemas.microsoft.com/office/powerpoint/2010/main" val="404276326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sz="3200" dirty="0"/>
              <a:t>International Reserves Held by Developing Countries</a:t>
            </a:r>
            <a:endParaRPr lang="en-US" dirty="0"/>
          </a:p>
        </p:txBody>
      </p:sp>
      <p:pic>
        <p:nvPicPr>
          <p:cNvPr id="8" name="Content Placeholder 7" descr="A graph depicts international reserves held by developing countries. For long description in Notes pane, press F6."/>
          <p:cNvPicPr>
            <a:picLocks noGrp="1" noChangeAspect="1"/>
          </p:cNvPicPr>
          <p:nvPr>
            <p:ph sz="quarter" idx="13"/>
          </p:nvPr>
        </p:nvPicPr>
        <p:blipFill>
          <a:blip r:embed="rId3">
            <a:extLst>
              <a:ext uri="{28A0092B-C50C-407E-A947-70E740481C1C}">
                <a14:useLocalDpi xmlns:a14="http://schemas.microsoft.com/office/drawing/2010/main" val="0"/>
              </a:ext>
            </a:extLst>
          </a:blip>
          <a:stretch>
            <a:fillRect/>
          </a:stretch>
        </p:blipFill>
        <p:spPr>
          <a:xfrm>
            <a:off x="1988858" y="1434443"/>
            <a:ext cx="5166283" cy="3002091"/>
          </a:xfrm>
        </p:spPr>
      </p:pic>
      <p:sp>
        <p:nvSpPr>
          <p:cNvPr id="7" name="Content Placeholder 6"/>
          <p:cNvSpPr>
            <a:spLocks noGrp="1"/>
          </p:cNvSpPr>
          <p:nvPr>
            <p:ph sz="quarter" idx="14"/>
          </p:nvPr>
        </p:nvSpPr>
        <p:spPr>
          <a:xfrm>
            <a:off x="457200" y="4586036"/>
            <a:ext cx="8229600" cy="1745496"/>
          </a:xfrm>
        </p:spPr>
        <p:txBody>
          <a:bodyPr/>
          <a:lstStyle/>
          <a:p>
            <a:pPr marL="0" indent="0">
              <a:spcBef>
                <a:spcPts val="600"/>
              </a:spcBef>
              <a:buNone/>
            </a:pPr>
            <a:r>
              <a:rPr lang="en-US" sz="2000" dirty="0"/>
              <a:t>Since the 1990s, developing countries have sharply increased their holdings of foreign currency reserves, mostly U.S. dollars.</a:t>
            </a:r>
          </a:p>
          <a:p>
            <a:pPr marL="0" indent="0">
              <a:spcBef>
                <a:spcPts val="600"/>
              </a:spcBef>
              <a:buNone/>
            </a:pPr>
            <a:r>
              <a:rPr lang="en-US" sz="2000" b="1" dirty="0"/>
              <a:t>Source: </a:t>
            </a:r>
            <a:r>
              <a:rPr lang="en-US" sz="2000" dirty="0"/>
              <a:t>World Bank, World Development indicators. In this chart, developing countries include low- and middle-income countries according to the World Bank’s country income classification.</a:t>
            </a:r>
          </a:p>
        </p:txBody>
      </p:sp>
    </p:spTree>
    <p:extLst>
      <p:ext uri="{BB962C8B-B14F-4D97-AF65-F5344CB8AC3E}">
        <p14:creationId xmlns:p14="http://schemas.microsoft.com/office/powerpoint/2010/main" val="98387324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East Asia: Success and Crisis </a:t>
            </a:r>
            <a:r>
              <a:rPr lang="en-US" altLang="en-US" sz="2000" b="0" dirty="0"/>
              <a:t>(1 of 2)</a:t>
            </a:r>
            <a:endParaRPr lang="en-US" dirty="0"/>
          </a:p>
        </p:txBody>
      </p:sp>
      <p:sp>
        <p:nvSpPr>
          <p:cNvPr id="3" name="Content Placeholder 2"/>
          <p:cNvSpPr>
            <a:spLocks noGrp="1"/>
          </p:cNvSpPr>
          <p:nvPr>
            <p:ph sz="quarter" idx="13"/>
          </p:nvPr>
        </p:nvSpPr>
        <p:spPr/>
        <p:txBody>
          <a:bodyPr/>
          <a:lstStyle/>
          <a:p>
            <a:r>
              <a:rPr lang="en-US" altLang="en-US" dirty="0"/>
              <a:t>Before the 1990s, Indonesia, Korea, Malaysia, Philippines, and Thailand relied mostly on domestic saving to finance investment.</a:t>
            </a:r>
          </a:p>
          <a:p>
            <a:r>
              <a:rPr lang="en-US" altLang="en-US" dirty="0"/>
              <a:t>But afterward, foreign funds financed much of investment, and current account balances turned negative.</a:t>
            </a:r>
            <a:endParaRPr lang="en-US" dirty="0"/>
          </a:p>
        </p:txBody>
      </p:sp>
    </p:spTree>
    <p:extLst>
      <p:ext uri="{BB962C8B-B14F-4D97-AF65-F5344CB8AC3E}">
        <p14:creationId xmlns:p14="http://schemas.microsoft.com/office/powerpoint/2010/main" val="45726573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East Asia: Success and Crisis </a:t>
            </a:r>
            <a:r>
              <a:rPr lang="en-US" altLang="en-US" sz="2000" b="0" dirty="0"/>
              <a:t>(2 of 2)</a:t>
            </a:r>
            <a:endParaRPr lang="en-US" dirty="0"/>
          </a:p>
        </p:txBody>
      </p:sp>
      <p:sp>
        <p:nvSpPr>
          <p:cNvPr id="3" name="Content Placeholder 2"/>
          <p:cNvSpPr>
            <a:spLocks noGrp="1"/>
          </p:cNvSpPr>
          <p:nvPr>
            <p:ph sz="quarter" idx="13"/>
          </p:nvPr>
        </p:nvSpPr>
        <p:spPr/>
        <p:txBody>
          <a:bodyPr/>
          <a:lstStyle/>
          <a:p>
            <a:r>
              <a:rPr lang="en-US" altLang="en-US" dirty="0"/>
              <a:t>Despite the rapid economic growth in East Asia between 1960 and 1997, growth was predicted to slow as economies “</a:t>
            </a:r>
            <a:r>
              <a:rPr lang="en-US" altLang="ja-JP" dirty="0"/>
              <a:t>caught up” with Western countries.</a:t>
            </a:r>
          </a:p>
          <a:p>
            <a:pPr lvl="1"/>
            <a:r>
              <a:rPr lang="en-US" altLang="en-US" dirty="0"/>
              <a:t>Most of the East Asian growth during this period is attributed to an increase in physical capital and education.</a:t>
            </a:r>
          </a:p>
          <a:p>
            <a:pPr lvl="1"/>
            <a:r>
              <a:rPr lang="en-US" altLang="en-US" dirty="0"/>
              <a:t>The marginal productivities of physical capital and education are diminishing: as more physical capital was built and as more people acquired more education, further increases added less productive capability to the economy.</a:t>
            </a:r>
            <a:endParaRPr lang="en-US" dirty="0"/>
          </a:p>
        </p:txBody>
      </p:sp>
    </p:spTree>
    <p:extLst>
      <p:ext uri="{BB962C8B-B14F-4D97-AF65-F5344CB8AC3E}">
        <p14:creationId xmlns:p14="http://schemas.microsoft.com/office/powerpoint/2010/main" val="3026310720"/>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The Asian Financial Crises </a:t>
            </a:r>
            <a:r>
              <a:rPr lang="en-US" altLang="en-US" sz="2000" b="0" dirty="0"/>
              <a:t>(1 of 6)</a:t>
            </a:r>
            <a:endParaRPr lang="en-US" dirty="0"/>
          </a:p>
        </p:txBody>
      </p:sp>
      <p:sp>
        <p:nvSpPr>
          <p:cNvPr id="4" name="Content Placeholder 3"/>
          <p:cNvSpPr>
            <a:spLocks noGrp="1"/>
          </p:cNvSpPr>
          <p:nvPr>
            <p:ph sz="quarter" idx="13"/>
          </p:nvPr>
        </p:nvSpPr>
        <p:spPr>
          <a:xfrm>
            <a:off x="466602" y="1552575"/>
            <a:ext cx="8220197" cy="895657"/>
          </a:xfrm>
        </p:spPr>
        <p:txBody>
          <a:bodyPr/>
          <a:lstStyle/>
          <a:p>
            <a:r>
              <a:rPr lang="en-US" altLang="en-US" dirty="0"/>
              <a:t>More directly related to the East Asian crises are issues related to economic laws and regulations:</a:t>
            </a:r>
          </a:p>
        </p:txBody>
      </p:sp>
      <p:sp>
        <p:nvSpPr>
          <p:cNvPr id="5" name="Content Placeholder 4"/>
          <p:cNvSpPr>
            <a:spLocks noGrp="1"/>
          </p:cNvSpPr>
          <p:nvPr>
            <p:ph sz="quarter" idx="14"/>
          </p:nvPr>
        </p:nvSpPr>
        <p:spPr>
          <a:xfrm>
            <a:off x="466603" y="2502526"/>
            <a:ext cx="8220196" cy="1568030"/>
          </a:xfrm>
        </p:spPr>
        <p:txBody>
          <a:bodyPr/>
          <a:lstStyle/>
          <a:p>
            <a:pPr marL="432000" indent="-432000">
              <a:buFont typeface="+mj-lt"/>
              <a:buAutoNum type="arabicPeriod"/>
            </a:pPr>
            <a:r>
              <a:rPr lang="en-US" altLang="en-US" dirty="0"/>
              <a:t>Weak enforcement of financial regulations and a lack of monitoring caused commercial firms, banks, and borrowers to engage in risky or even fraudulent activities: moral hazard.</a:t>
            </a:r>
          </a:p>
        </p:txBody>
      </p:sp>
      <p:sp>
        <p:nvSpPr>
          <p:cNvPr id="6" name="Content Placeholder 5"/>
          <p:cNvSpPr>
            <a:spLocks noGrp="1"/>
          </p:cNvSpPr>
          <p:nvPr>
            <p:ph sz="quarter" idx="15"/>
          </p:nvPr>
        </p:nvSpPr>
        <p:spPr>
          <a:xfrm>
            <a:off x="457201" y="4143332"/>
            <a:ext cx="8229600" cy="1303738"/>
          </a:xfrm>
        </p:spPr>
        <p:txBody>
          <a:bodyPr/>
          <a:lstStyle/>
          <a:p>
            <a:pPr lvl="1"/>
            <a:r>
              <a:rPr lang="en-US" altLang="en-US" dirty="0"/>
              <a:t>Ties between commercial firms and banks on the one hand and government regulators on the other hand allowed risky investments to occur.</a:t>
            </a:r>
            <a:endParaRPr lang="en-US" dirty="0"/>
          </a:p>
        </p:txBody>
      </p:sp>
    </p:spTree>
    <p:extLst>
      <p:ext uri="{BB962C8B-B14F-4D97-AF65-F5344CB8AC3E}">
        <p14:creationId xmlns:p14="http://schemas.microsoft.com/office/powerpoint/2010/main" val="4112989252"/>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The Asian Financial Crises </a:t>
            </a:r>
            <a:r>
              <a:rPr lang="en-US" altLang="en-US" sz="2000" b="0" dirty="0"/>
              <a:t>(2 of 6)</a:t>
            </a:r>
            <a:endParaRPr lang="en-US" dirty="0"/>
          </a:p>
        </p:txBody>
      </p:sp>
      <p:sp>
        <p:nvSpPr>
          <p:cNvPr id="4" name="Content Placeholder 3"/>
          <p:cNvSpPr>
            <a:spLocks noGrp="1"/>
          </p:cNvSpPr>
          <p:nvPr>
            <p:ph sz="quarter" idx="13"/>
          </p:nvPr>
        </p:nvSpPr>
        <p:spPr>
          <a:xfrm>
            <a:off x="466602" y="1552575"/>
            <a:ext cx="8220197" cy="1229954"/>
          </a:xfrm>
        </p:spPr>
        <p:txBody>
          <a:bodyPr/>
          <a:lstStyle/>
          <a:p>
            <a:pPr marL="432000" indent="-432000">
              <a:buFont typeface="Times" pitchFamily="-1" charset="0"/>
              <a:buAutoNum type="arabicPeriod" startAt="2"/>
            </a:pPr>
            <a:r>
              <a:rPr lang="en-US" altLang="en-US" dirty="0"/>
              <a:t>Nonexistent or weakly enforced bankruptcy laws and loan contracts worsened problems after the crisis started.</a:t>
            </a:r>
          </a:p>
        </p:txBody>
      </p:sp>
      <p:sp>
        <p:nvSpPr>
          <p:cNvPr id="5" name="Content Placeholder 4"/>
          <p:cNvSpPr>
            <a:spLocks noGrp="1"/>
          </p:cNvSpPr>
          <p:nvPr>
            <p:ph sz="quarter" idx="14"/>
          </p:nvPr>
        </p:nvSpPr>
        <p:spPr>
          <a:xfrm>
            <a:off x="457200" y="2846660"/>
            <a:ext cx="8220196" cy="2452932"/>
          </a:xfrm>
        </p:spPr>
        <p:txBody>
          <a:bodyPr/>
          <a:lstStyle/>
          <a:p>
            <a:pPr marL="740664" lvl="1" indent="-283464"/>
            <a:r>
              <a:rPr lang="en-US" altLang="en-US" dirty="0"/>
              <a:t>Financially troubled firms stopped paying their debts, and they could not operate without cash, but no one would lend more until previous debts were paid.</a:t>
            </a:r>
          </a:p>
          <a:p>
            <a:pPr marL="740664" lvl="1" indent="-283464"/>
            <a:r>
              <a:rPr lang="en-US" altLang="en-US" dirty="0"/>
              <a:t>But creditors lacked the legal means to confiscate and sell assets to other investors or to restructure the firms to make them productive again.</a:t>
            </a:r>
            <a:endParaRPr lang="en-US" dirty="0"/>
          </a:p>
        </p:txBody>
      </p:sp>
    </p:spTree>
    <p:extLst>
      <p:ext uri="{BB962C8B-B14F-4D97-AF65-F5344CB8AC3E}">
        <p14:creationId xmlns:p14="http://schemas.microsoft.com/office/powerpoint/2010/main" val="1801040608"/>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The Asian Financial Crises </a:t>
            </a:r>
            <a:r>
              <a:rPr lang="en-US" altLang="en-US" sz="2000" b="0" dirty="0"/>
              <a:t>(3 of 6)</a:t>
            </a:r>
            <a:endParaRPr lang="en-US" dirty="0"/>
          </a:p>
        </p:txBody>
      </p:sp>
      <p:sp>
        <p:nvSpPr>
          <p:cNvPr id="6" name="Content Placeholder 5"/>
          <p:cNvSpPr>
            <a:spLocks noGrp="1"/>
          </p:cNvSpPr>
          <p:nvPr>
            <p:ph sz="quarter" idx="13"/>
          </p:nvPr>
        </p:nvSpPr>
        <p:spPr>
          <a:xfrm>
            <a:off x="457200" y="1556327"/>
            <a:ext cx="8229600" cy="4795312"/>
          </a:xfrm>
        </p:spPr>
        <p:txBody>
          <a:bodyPr/>
          <a:lstStyle/>
          <a:p>
            <a:r>
              <a:rPr lang="en-US" altLang="en-US" sz="2300" dirty="0"/>
              <a:t>The East Asian crisis started in Thailand in 1997, but quickly spread to other countries.</a:t>
            </a:r>
          </a:p>
          <a:p>
            <a:pPr lvl="1"/>
            <a:r>
              <a:rPr lang="en-US" altLang="en-US" sz="2300" dirty="0"/>
              <a:t>A fall in real estate prices, and then stock prices, weakened aggregate demand and output in Thailand.</a:t>
            </a:r>
          </a:p>
          <a:p>
            <a:pPr lvl="1"/>
            <a:r>
              <a:rPr lang="en-US" altLang="en-US" sz="2300" dirty="0"/>
              <a:t>A fall in aggregate demand in Japan, a major investor and export market, also contributed to the economic slowdown.</a:t>
            </a:r>
          </a:p>
          <a:p>
            <a:pPr lvl="1"/>
            <a:r>
              <a:rPr lang="en-US" altLang="en-US" sz="2300" dirty="0"/>
              <a:t>Speculation about a devaluation of the baht occurred, and in July 1997 the government devalued the baht slightly, but this only invited further speculation.</a:t>
            </a:r>
          </a:p>
          <a:p>
            <a:r>
              <a:rPr lang="en-US" altLang="en-US" sz="2300" dirty="0"/>
              <a:t>Malaysia, Indonesia, Korea, and the Philippines soon faced speculations about the value of their currencies.</a:t>
            </a:r>
            <a:endParaRPr lang="en-US" sz="2300" dirty="0"/>
          </a:p>
        </p:txBody>
      </p:sp>
    </p:spTree>
    <p:extLst>
      <p:ext uri="{BB962C8B-B14F-4D97-AF65-F5344CB8AC3E}">
        <p14:creationId xmlns:p14="http://schemas.microsoft.com/office/powerpoint/2010/main" val="1608658885"/>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The Asian Financial Crises </a:t>
            </a:r>
            <a:r>
              <a:rPr lang="en-US" altLang="en-US" sz="2000" b="0" dirty="0"/>
              <a:t>(4 of 6)</a:t>
            </a:r>
            <a:endParaRPr lang="en-US" dirty="0"/>
          </a:p>
        </p:txBody>
      </p:sp>
      <p:sp>
        <p:nvSpPr>
          <p:cNvPr id="3" name="Content Placeholder 2"/>
          <p:cNvSpPr>
            <a:spLocks noGrp="1"/>
          </p:cNvSpPr>
          <p:nvPr>
            <p:ph sz="quarter" idx="13"/>
          </p:nvPr>
        </p:nvSpPr>
        <p:spPr/>
        <p:txBody>
          <a:bodyPr/>
          <a:lstStyle/>
          <a:p>
            <a:r>
              <a:rPr lang="en-US" altLang="en-US" dirty="0"/>
              <a:t>Most debts of banks and firms were denominated in U.S. dollars, so that devaluations of domestic currencies would make the burden of the debts in domestic currency increase.</a:t>
            </a:r>
          </a:p>
          <a:p>
            <a:pPr lvl="1"/>
            <a:r>
              <a:rPr lang="en-US" altLang="en-US" dirty="0"/>
              <a:t>Bankruptcy and a banking crisis would have resulted.</a:t>
            </a:r>
          </a:p>
          <a:p>
            <a:r>
              <a:rPr lang="en-US" altLang="en-US" dirty="0"/>
              <a:t>To maintain fixed exchange rates would have required high interest rates and a reduction in government deficits, leading to a reduction in aggregate demand, output, and employment.</a:t>
            </a:r>
          </a:p>
          <a:p>
            <a:pPr lvl="1"/>
            <a:r>
              <a:rPr lang="en-US" altLang="en-US" dirty="0"/>
              <a:t>This would have also led to widespread default on debts and a banking crisis.</a:t>
            </a:r>
          </a:p>
        </p:txBody>
      </p:sp>
    </p:spTree>
    <p:extLst>
      <p:ext uri="{BB962C8B-B14F-4D97-AF65-F5344CB8AC3E}">
        <p14:creationId xmlns:p14="http://schemas.microsoft.com/office/powerpoint/2010/main" val="1319832757"/>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The Asian Financial Crises </a:t>
            </a:r>
            <a:r>
              <a:rPr lang="en-US" altLang="en-US" sz="2000" b="0" dirty="0"/>
              <a:t>(5 of 6)</a:t>
            </a:r>
            <a:endParaRPr lang="en-US" dirty="0"/>
          </a:p>
        </p:txBody>
      </p:sp>
      <p:sp>
        <p:nvSpPr>
          <p:cNvPr id="3" name="Content Placeholder 2"/>
          <p:cNvSpPr>
            <a:spLocks noGrp="1"/>
          </p:cNvSpPr>
          <p:nvPr>
            <p:ph sz="quarter" idx="13"/>
          </p:nvPr>
        </p:nvSpPr>
        <p:spPr>
          <a:xfrm>
            <a:off x="457200" y="1556327"/>
            <a:ext cx="8229600" cy="4805144"/>
          </a:xfrm>
        </p:spPr>
        <p:txBody>
          <a:bodyPr/>
          <a:lstStyle/>
          <a:p>
            <a:r>
              <a:rPr lang="en-US" altLang="en-US" dirty="0"/>
              <a:t>All of the affected economies except Malaysia turned to the I</a:t>
            </a:r>
            <a:r>
              <a:rPr lang="en-US" altLang="en-US" sz="100" dirty="0"/>
              <a:t> </a:t>
            </a:r>
            <a:r>
              <a:rPr lang="en-US" altLang="en-US" dirty="0"/>
              <a:t>M</a:t>
            </a:r>
            <a:r>
              <a:rPr lang="en-US" altLang="en-US" sz="100" dirty="0"/>
              <a:t> </a:t>
            </a:r>
            <a:r>
              <a:rPr lang="en-US" altLang="en-US" dirty="0"/>
              <a:t>F for loans to address the balance of payments crises and to maintain the value of the domestic currencies.</a:t>
            </a:r>
          </a:p>
          <a:p>
            <a:pPr lvl="1"/>
            <a:r>
              <a:rPr lang="en-US" altLang="en-US" dirty="0"/>
              <a:t>The loans were conditional on increased interest rates (reduced money supply growth), reduced budget deficits, and reforms in banking regulation and bankruptcy laws.</a:t>
            </a:r>
          </a:p>
          <a:p>
            <a:r>
              <a:rPr lang="en-US" altLang="en-US" dirty="0"/>
              <a:t>Malaysia instead imposed controls on flows of financial assets so that it could increase its money supply (and lower interest rates), increase government purchases, and still try to maintain the value of the ringgit.</a:t>
            </a:r>
            <a:endParaRPr lang="en-US" dirty="0"/>
          </a:p>
        </p:txBody>
      </p:sp>
    </p:spTree>
    <p:extLst>
      <p:ext uri="{BB962C8B-B14F-4D97-AF65-F5344CB8AC3E}">
        <p14:creationId xmlns:p14="http://schemas.microsoft.com/office/powerpoint/2010/main" val="1468037466"/>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The Asian Financial Crises </a:t>
            </a:r>
            <a:r>
              <a:rPr lang="en-US" altLang="en-US" sz="2000" b="0" dirty="0"/>
              <a:t>(6 of 6)</a:t>
            </a:r>
            <a:endParaRPr lang="en-US" dirty="0"/>
          </a:p>
        </p:txBody>
      </p:sp>
      <p:sp>
        <p:nvSpPr>
          <p:cNvPr id="3" name="Content Placeholder 2"/>
          <p:cNvSpPr>
            <a:spLocks noGrp="1"/>
          </p:cNvSpPr>
          <p:nvPr>
            <p:ph sz="quarter" idx="13"/>
          </p:nvPr>
        </p:nvSpPr>
        <p:spPr/>
        <p:txBody>
          <a:bodyPr/>
          <a:lstStyle/>
          <a:p>
            <a:r>
              <a:rPr lang="en-US" altLang="en-US" dirty="0"/>
              <a:t>Because consumption and investment expenditure decreased with output, income, and employment, imports fell and the current account increased after 1997.</a:t>
            </a:r>
            <a:endParaRPr lang="en-US" dirty="0"/>
          </a:p>
        </p:txBody>
      </p:sp>
    </p:spTree>
    <p:extLst>
      <p:ext uri="{BB962C8B-B14F-4D97-AF65-F5344CB8AC3E}">
        <p14:creationId xmlns:p14="http://schemas.microsoft.com/office/powerpoint/2010/main" val="3192781309"/>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Lessons of Crises </a:t>
            </a:r>
            <a:r>
              <a:rPr lang="en-US" altLang="en-US" sz="2000" b="0" dirty="0"/>
              <a:t>(1 of 4)</a:t>
            </a:r>
            <a:endParaRPr lang="en-US" dirty="0"/>
          </a:p>
        </p:txBody>
      </p:sp>
      <p:sp>
        <p:nvSpPr>
          <p:cNvPr id="4" name="Content Placeholder 3"/>
          <p:cNvSpPr>
            <a:spLocks noGrp="1"/>
          </p:cNvSpPr>
          <p:nvPr>
            <p:ph sz="quarter" idx="13"/>
          </p:nvPr>
        </p:nvSpPr>
        <p:spPr>
          <a:xfrm>
            <a:off x="457200" y="1556327"/>
            <a:ext cx="8229600" cy="1589996"/>
          </a:xfrm>
        </p:spPr>
        <p:txBody>
          <a:bodyPr/>
          <a:lstStyle/>
          <a:p>
            <a:pPr marL="432000" indent="-432000">
              <a:buFont typeface="+mj-lt"/>
              <a:buAutoNum type="arabicPeriod"/>
            </a:pPr>
            <a:r>
              <a:rPr lang="en-US" altLang="en-US" dirty="0"/>
              <a:t>Fixing the exchange rate has risks: governments desire to fix exchange rates to provide stability in the export and import sectors, but the price to pay may be high interest rates or high unemployment.</a:t>
            </a:r>
          </a:p>
        </p:txBody>
      </p:sp>
      <p:sp>
        <p:nvSpPr>
          <p:cNvPr id="5" name="Content Placeholder 4"/>
          <p:cNvSpPr>
            <a:spLocks noGrp="1"/>
          </p:cNvSpPr>
          <p:nvPr>
            <p:ph sz="quarter" idx="14"/>
          </p:nvPr>
        </p:nvSpPr>
        <p:spPr>
          <a:xfrm>
            <a:off x="457200" y="3240185"/>
            <a:ext cx="8021782" cy="3049779"/>
          </a:xfrm>
        </p:spPr>
        <p:txBody>
          <a:bodyPr tIns="0" rIns="0" bIns="0"/>
          <a:lstStyle/>
          <a:p>
            <a:pPr marL="740664" lvl="1" indent="-283464"/>
            <a:r>
              <a:rPr lang="en-US" altLang="en-US" dirty="0"/>
              <a:t>High inflation (caused by government deficits or increases in the money supply) or a drop in demand of domestic exports leads to an overvalued currency and pressure for devaluation.</a:t>
            </a:r>
          </a:p>
          <a:p>
            <a:pPr marL="740664" lvl="1" indent="-283464"/>
            <a:r>
              <a:rPr lang="en-US" altLang="en-US" dirty="0"/>
              <a:t>Given pressure for devaluation, commitment to a fixed exchange rate usually means high interest rates (a reduction in the money supply) and a reduction in domestic prices.</a:t>
            </a:r>
          </a:p>
        </p:txBody>
      </p:sp>
    </p:spTree>
    <p:extLst>
      <p:ext uri="{BB962C8B-B14F-4D97-AF65-F5344CB8AC3E}">
        <p14:creationId xmlns:p14="http://schemas.microsoft.com/office/powerpoint/2010/main" val="1553741565"/>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Lessons of Crises </a:t>
            </a:r>
            <a:r>
              <a:rPr lang="en-US" altLang="en-US" sz="2000" b="0" dirty="0"/>
              <a:t>(2 of 4)</a:t>
            </a:r>
            <a:endParaRPr lang="en-US" dirty="0"/>
          </a:p>
        </p:txBody>
      </p:sp>
      <p:sp>
        <p:nvSpPr>
          <p:cNvPr id="5" name="Content Placeholder 4"/>
          <p:cNvSpPr>
            <a:spLocks noGrp="1"/>
          </p:cNvSpPr>
          <p:nvPr>
            <p:ph sz="quarter" idx="13"/>
          </p:nvPr>
        </p:nvSpPr>
        <p:spPr/>
        <p:txBody>
          <a:bodyPr/>
          <a:lstStyle/>
          <a:p>
            <a:pPr lvl="1"/>
            <a:r>
              <a:rPr lang="en-US" altLang="en-US" sz="2200" dirty="0"/>
              <a:t>Prices can be reduced through a reduction in government deficits, leading to a reduction in aggregate demand, output, and employment.</a:t>
            </a:r>
          </a:p>
          <a:p>
            <a:pPr lvl="1"/>
            <a:r>
              <a:rPr lang="en-US" altLang="en-US" sz="2200" dirty="0"/>
              <a:t>A fixed currency may encourage banks and firms to borrow in foreign currencies, but a devaluation will cause an increase in the burden of this debt and may lead to a banking crisis and bankruptcy.</a:t>
            </a:r>
          </a:p>
          <a:p>
            <a:pPr lvl="1"/>
            <a:r>
              <a:rPr lang="en-US" altLang="en-US" sz="2200" dirty="0"/>
              <a:t>Commitment a fixed exchange rate can cause a financial crisis to worsen: high interest rates make loans for individuals and institutions harder to repay, and the central bank cannot freely print money to give to troubled banks (cannot act as a lender of last resort).</a:t>
            </a:r>
            <a:endParaRPr lang="en-US" sz="2200" dirty="0"/>
          </a:p>
        </p:txBody>
      </p:sp>
    </p:spTree>
    <p:extLst>
      <p:ext uri="{BB962C8B-B14F-4D97-AF65-F5344CB8AC3E}">
        <p14:creationId xmlns:p14="http://schemas.microsoft.com/office/powerpoint/2010/main" val="2072132962"/>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Lessons of Crises </a:t>
            </a:r>
            <a:r>
              <a:rPr lang="en-US" altLang="en-US" sz="2000" b="0" dirty="0"/>
              <a:t>(3 of 4)</a:t>
            </a:r>
            <a:endParaRPr lang="en-US" dirty="0"/>
          </a:p>
        </p:txBody>
      </p:sp>
      <p:sp>
        <p:nvSpPr>
          <p:cNvPr id="3" name="Content Placeholder 2"/>
          <p:cNvSpPr>
            <a:spLocks noGrp="1"/>
          </p:cNvSpPr>
          <p:nvPr>
            <p:ph sz="quarter" idx="13"/>
          </p:nvPr>
        </p:nvSpPr>
        <p:spPr/>
        <p:txBody>
          <a:bodyPr/>
          <a:lstStyle/>
          <a:p>
            <a:pPr marL="432000" indent="-432000">
              <a:buFont typeface="Times" pitchFamily="-1" charset="0"/>
              <a:buAutoNum type="arabicPeriod" startAt="2"/>
            </a:pPr>
            <a:r>
              <a:rPr lang="en-US" altLang="en-US" dirty="0"/>
              <a:t>Weak enforcement of financial regulations can lead to risky investments and a banking crisis when a currency crisis erupts or when a fall in output, income, and employment occurs.</a:t>
            </a:r>
          </a:p>
          <a:p>
            <a:pPr marL="432000" indent="-432000">
              <a:buFont typeface="Times" pitchFamily="-1" charset="0"/>
              <a:buAutoNum type="arabicPeriod" startAt="2"/>
            </a:pPr>
            <a:r>
              <a:rPr lang="en-US" altLang="en-US" dirty="0"/>
              <a:t>Liberalizing financial asset flows without implementing sound financial regulations can lead to capital flight when investments lose value during a recession.</a:t>
            </a:r>
            <a:endParaRPr lang="en-US" dirty="0"/>
          </a:p>
        </p:txBody>
      </p:sp>
    </p:spTree>
    <p:extLst>
      <p:ext uri="{BB962C8B-B14F-4D97-AF65-F5344CB8AC3E}">
        <p14:creationId xmlns:p14="http://schemas.microsoft.com/office/powerpoint/2010/main" val="4110956673"/>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altLang="en-US" dirty="0"/>
              <a:t>Lessons of Crises </a:t>
            </a:r>
            <a:r>
              <a:rPr lang="en-US" altLang="en-US" sz="2000" b="0" dirty="0"/>
              <a:t>(4 of 4)</a:t>
            </a:r>
            <a:endParaRPr lang="en-US" dirty="0"/>
          </a:p>
        </p:txBody>
      </p:sp>
      <p:sp>
        <p:nvSpPr>
          <p:cNvPr id="3" name="Content Placeholder 2"/>
          <p:cNvSpPr>
            <a:spLocks noGrp="1"/>
          </p:cNvSpPr>
          <p:nvPr>
            <p:ph sz="quarter" idx="13"/>
          </p:nvPr>
        </p:nvSpPr>
        <p:spPr>
          <a:xfrm>
            <a:off x="457200" y="1556327"/>
            <a:ext cx="8229600" cy="1271714"/>
          </a:xfrm>
        </p:spPr>
        <p:txBody>
          <a:bodyPr/>
          <a:lstStyle/>
          <a:p>
            <a:pPr marL="432000" indent="-432000">
              <a:buFont typeface="Times" pitchFamily="-1" charset="0"/>
              <a:buAutoNum type="arabicPeriod" startAt="4"/>
            </a:pPr>
            <a:r>
              <a:rPr lang="en-US" altLang="en-US" dirty="0"/>
              <a:t>The importance of expectations: even healthy economies are vulnerable to crises when expectations change.</a:t>
            </a:r>
          </a:p>
        </p:txBody>
      </p:sp>
      <p:sp>
        <p:nvSpPr>
          <p:cNvPr id="5" name="Content Placeholder 4"/>
          <p:cNvSpPr>
            <a:spLocks noGrp="1"/>
          </p:cNvSpPr>
          <p:nvPr>
            <p:ph sz="quarter" idx="14"/>
          </p:nvPr>
        </p:nvSpPr>
        <p:spPr>
          <a:xfrm>
            <a:off x="457200" y="2891702"/>
            <a:ext cx="8229600" cy="2105025"/>
          </a:xfrm>
        </p:spPr>
        <p:txBody>
          <a:bodyPr/>
          <a:lstStyle/>
          <a:p>
            <a:pPr marL="740664" lvl="1" indent="-283464"/>
            <a:r>
              <a:rPr lang="en-US" altLang="en-US" dirty="0"/>
              <a:t>Expectations about an economy often change when other economies suffer from adverse events.</a:t>
            </a:r>
          </a:p>
          <a:p>
            <a:pPr marL="740664" lvl="1" indent="-283464"/>
            <a:r>
              <a:rPr lang="en-US" altLang="en-US" dirty="0"/>
              <a:t>International crises may result from </a:t>
            </a:r>
            <a:r>
              <a:rPr lang="en-US" altLang="en-US" b="1" dirty="0"/>
              <a:t>contagion</a:t>
            </a:r>
            <a:r>
              <a:rPr lang="en-US" altLang="en-US" dirty="0"/>
              <a:t>: an adverse event in one country leads to a similar event in other countries.</a:t>
            </a:r>
            <a:endParaRPr lang="en-US" dirty="0"/>
          </a:p>
        </p:txBody>
      </p:sp>
    </p:spTree>
    <p:extLst>
      <p:ext uri="{BB962C8B-B14F-4D97-AF65-F5344CB8AC3E}">
        <p14:creationId xmlns:p14="http://schemas.microsoft.com/office/powerpoint/2010/main" val="1663325028"/>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sz="3200" dirty="0"/>
              <a:t>Reforming the World’</a:t>
            </a:r>
            <a:r>
              <a:rPr lang="en-US" altLang="ja-JP" sz="3200" dirty="0"/>
              <a:t>s Financial “Architecture” </a:t>
            </a:r>
            <a:r>
              <a:rPr lang="en-US" altLang="ja-JP" sz="2000" b="0" dirty="0"/>
              <a:t>(1 of 3)</a:t>
            </a:r>
            <a:endParaRPr lang="en-US" dirty="0"/>
          </a:p>
        </p:txBody>
      </p:sp>
      <p:sp>
        <p:nvSpPr>
          <p:cNvPr id="5" name="Content Placeholder 4"/>
          <p:cNvSpPr>
            <a:spLocks noGrp="1"/>
          </p:cNvSpPr>
          <p:nvPr>
            <p:ph sz="quarter" idx="13"/>
          </p:nvPr>
        </p:nvSpPr>
        <p:spPr/>
        <p:txBody>
          <a:bodyPr/>
          <a:lstStyle/>
          <a:p>
            <a:r>
              <a:rPr lang="en-US" altLang="en-US" dirty="0"/>
              <a:t>Countries face tradeoffs when trying to achieve the following goals:</a:t>
            </a:r>
          </a:p>
          <a:p>
            <a:pPr lvl="1"/>
            <a:r>
              <a:rPr lang="en-US" altLang="en-US" dirty="0"/>
              <a:t>exchange rate stability</a:t>
            </a:r>
          </a:p>
          <a:p>
            <a:pPr lvl="1"/>
            <a:r>
              <a:rPr lang="en-US" altLang="en-US" dirty="0"/>
              <a:t>financial capital mobility</a:t>
            </a:r>
          </a:p>
          <a:p>
            <a:pPr lvl="1"/>
            <a:r>
              <a:rPr lang="en-US" altLang="en-US" dirty="0"/>
              <a:t>autonomous monetary policy devoted to domestic goals</a:t>
            </a:r>
          </a:p>
          <a:p>
            <a:r>
              <a:rPr lang="en-US" altLang="en-US" dirty="0"/>
              <a:t>Generally, countries can attain only two of the three goals, and as financial assets have become more mobile, maintaining a fixed exchange with an autonomous monetary policy has been difficult.</a:t>
            </a:r>
            <a:endParaRPr lang="en-US" dirty="0"/>
          </a:p>
        </p:txBody>
      </p:sp>
    </p:spTree>
    <p:extLst>
      <p:ext uri="{BB962C8B-B14F-4D97-AF65-F5344CB8AC3E}">
        <p14:creationId xmlns:p14="http://schemas.microsoft.com/office/powerpoint/2010/main" val="1156134946"/>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sz="3200" dirty="0"/>
              <a:t>Reforming the World’</a:t>
            </a:r>
            <a:r>
              <a:rPr lang="en-US" altLang="ja-JP" sz="3200" dirty="0"/>
              <a:t>s Financial “Architecture” </a:t>
            </a:r>
            <a:r>
              <a:rPr lang="en-US" altLang="ja-JP" sz="2000" b="0" dirty="0"/>
              <a:t>(2 of 3)</a:t>
            </a:r>
            <a:endParaRPr lang="en-US" dirty="0"/>
          </a:p>
        </p:txBody>
      </p:sp>
      <p:sp>
        <p:nvSpPr>
          <p:cNvPr id="5" name="Content Placeholder 4"/>
          <p:cNvSpPr>
            <a:spLocks noGrp="1"/>
          </p:cNvSpPr>
          <p:nvPr>
            <p:ph sz="quarter" idx="13"/>
          </p:nvPr>
        </p:nvSpPr>
        <p:spPr>
          <a:xfrm>
            <a:off x="457200" y="1556327"/>
            <a:ext cx="8229600" cy="4716654"/>
          </a:xfrm>
        </p:spPr>
        <p:txBody>
          <a:bodyPr/>
          <a:lstStyle/>
          <a:p>
            <a:pPr marL="533400" indent="-533400">
              <a:spcBef>
                <a:spcPct val="50000"/>
              </a:spcBef>
              <a:buNone/>
            </a:pPr>
            <a:r>
              <a:rPr lang="en-US" altLang="en-US" dirty="0"/>
              <a:t>Preventative (“</a:t>
            </a:r>
            <a:r>
              <a:rPr lang="en-US" altLang="ja-JP" dirty="0"/>
              <a:t>prophylactic”) measures:</a:t>
            </a:r>
          </a:p>
          <a:p>
            <a:pPr marL="432000" indent="-432000">
              <a:spcBef>
                <a:spcPts val="1000"/>
              </a:spcBef>
              <a:buFont typeface="Times" pitchFamily="-1" charset="0"/>
              <a:buAutoNum type="arabicPeriod"/>
            </a:pPr>
            <a:r>
              <a:rPr lang="en-US" altLang="en-US" dirty="0"/>
              <a:t>Better monitoring and more transparency: more information allows investors to make sound financial decisions in good and bad times.</a:t>
            </a:r>
          </a:p>
          <a:p>
            <a:pPr marL="432000" indent="-432000">
              <a:spcBef>
                <a:spcPts val="1000"/>
              </a:spcBef>
              <a:buFont typeface="Times" pitchFamily="-1" charset="0"/>
              <a:buAutoNum type="arabicPeriod"/>
            </a:pPr>
            <a:r>
              <a:rPr lang="en-US" altLang="en-US" dirty="0"/>
              <a:t>Stronger enforcement of financial regulations: reduces moral hazard.</a:t>
            </a:r>
          </a:p>
          <a:p>
            <a:pPr marL="432000" indent="-432000">
              <a:spcBef>
                <a:spcPts val="1000"/>
              </a:spcBef>
              <a:buFont typeface="Times" pitchFamily="-1" charset="0"/>
              <a:buAutoNum type="arabicPeriod"/>
            </a:pPr>
            <a:r>
              <a:rPr lang="en-US" altLang="en-US" dirty="0"/>
              <a:t>Deposit insurance and reserve requirements.</a:t>
            </a:r>
          </a:p>
          <a:p>
            <a:pPr marL="432000" indent="-432000">
              <a:spcBef>
                <a:spcPts val="1000"/>
              </a:spcBef>
              <a:buFont typeface="Times" pitchFamily="-1" charset="0"/>
              <a:buAutoNum type="arabicPeriod"/>
            </a:pPr>
            <a:r>
              <a:rPr lang="en-US" altLang="en-US" dirty="0"/>
              <a:t>Increased equity finance relative to debt finance.</a:t>
            </a:r>
          </a:p>
          <a:p>
            <a:pPr marL="432000" indent="-432000">
              <a:spcBef>
                <a:spcPts val="1000"/>
              </a:spcBef>
              <a:buFont typeface="Times" pitchFamily="-1" charset="0"/>
              <a:buAutoNum type="arabicPeriod"/>
            </a:pPr>
            <a:r>
              <a:rPr lang="en-US" altLang="en-US" dirty="0"/>
              <a:t>Increased credit for troubled banks through central banks or the I</a:t>
            </a:r>
            <a:r>
              <a:rPr lang="en-US" altLang="en-US" sz="100" dirty="0"/>
              <a:t> </a:t>
            </a:r>
            <a:r>
              <a:rPr lang="en-US" altLang="en-US" dirty="0"/>
              <a:t>M</a:t>
            </a:r>
            <a:r>
              <a:rPr lang="en-US" altLang="en-US" sz="100" dirty="0"/>
              <a:t> </a:t>
            </a:r>
            <a:r>
              <a:rPr lang="en-US" altLang="en-US" dirty="0"/>
              <a:t>F?</a:t>
            </a:r>
            <a:endParaRPr lang="en-US" dirty="0"/>
          </a:p>
        </p:txBody>
      </p:sp>
    </p:spTree>
    <p:extLst>
      <p:ext uri="{BB962C8B-B14F-4D97-AF65-F5344CB8AC3E}">
        <p14:creationId xmlns:p14="http://schemas.microsoft.com/office/powerpoint/2010/main" val="3933439767"/>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sz="3200" dirty="0"/>
              <a:t>Reforming the World’</a:t>
            </a:r>
            <a:r>
              <a:rPr lang="en-US" altLang="ja-JP" sz="3200" dirty="0"/>
              <a:t>s Financial “Architecture” </a:t>
            </a:r>
            <a:r>
              <a:rPr lang="en-US" altLang="ja-JP" sz="2000" b="0" dirty="0"/>
              <a:t>(3 of 3)</a:t>
            </a:r>
            <a:endParaRPr lang="en-US" dirty="0"/>
          </a:p>
        </p:txBody>
      </p:sp>
      <p:sp>
        <p:nvSpPr>
          <p:cNvPr id="3" name="Content Placeholder 2"/>
          <p:cNvSpPr>
            <a:spLocks noGrp="1"/>
          </p:cNvSpPr>
          <p:nvPr>
            <p:ph sz="quarter" idx="13"/>
          </p:nvPr>
        </p:nvSpPr>
        <p:spPr>
          <a:xfrm>
            <a:off x="457200" y="1556327"/>
            <a:ext cx="8229600" cy="2740370"/>
          </a:xfrm>
        </p:spPr>
        <p:txBody>
          <a:bodyPr/>
          <a:lstStyle/>
          <a:p>
            <a:pPr marL="609600" indent="-609600">
              <a:spcBef>
                <a:spcPct val="50000"/>
              </a:spcBef>
              <a:buNone/>
            </a:pPr>
            <a:r>
              <a:rPr lang="en-US" altLang="en-US" dirty="0"/>
              <a:t>Coping with crisis—reforms for after a crisis occurs:</a:t>
            </a:r>
          </a:p>
          <a:p>
            <a:pPr marL="432000" indent="-432000">
              <a:buFont typeface="Times" pitchFamily="-1" charset="0"/>
              <a:buAutoNum type="arabicPeriod"/>
            </a:pPr>
            <a:r>
              <a:rPr lang="en-US" altLang="en-US" dirty="0"/>
              <a:t>Bankruptcy procedures for default on sovereign debt and improved bankruptcy law for private sector debt.</a:t>
            </a:r>
          </a:p>
          <a:p>
            <a:pPr marL="432000" indent="-432000">
              <a:buFont typeface="Times" pitchFamily="-1" charset="0"/>
              <a:buAutoNum type="arabicPeriod"/>
            </a:pPr>
            <a:r>
              <a:rPr lang="en-US" altLang="en-US" dirty="0"/>
              <a:t>A bigger or smaller role for the I</a:t>
            </a:r>
            <a:r>
              <a:rPr lang="en-US" altLang="en-US" sz="100" dirty="0"/>
              <a:t> </a:t>
            </a:r>
            <a:r>
              <a:rPr lang="en-US" altLang="en-US" dirty="0"/>
              <a:t>M</a:t>
            </a:r>
            <a:r>
              <a:rPr lang="en-US" altLang="en-US" sz="100" dirty="0"/>
              <a:t> </a:t>
            </a:r>
            <a:r>
              <a:rPr lang="en-US" altLang="en-US" dirty="0"/>
              <a:t>F as a lender of last resort for governments, central banks, and even the private sector? (See 5 above.)</a:t>
            </a:r>
            <a:endParaRPr lang="en-US" dirty="0"/>
          </a:p>
        </p:txBody>
      </p:sp>
      <p:sp>
        <p:nvSpPr>
          <p:cNvPr id="4" name="Content Placeholder 3"/>
          <p:cNvSpPr>
            <a:spLocks noGrp="1"/>
          </p:cNvSpPr>
          <p:nvPr>
            <p:ph sz="quarter" idx="14"/>
          </p:nvPr>
        </p:nvSpPr>
        <p:spPr>
          <a:xfrm>
            <a:off x="457200" y="4357478"/>
            <a:ext cx="8229600" cy="924232"/>
          </a:xfrm>
        </p:spPr>
        <p:txBody>
          <a:bodyPr tIns="0" bIns="0"/>
          <a:lstStyle/>
          <a:p>
            <a:pPr marL="740664" lvl="1" indent="-283464"/>
            <a:r>
              <a:rPr lang="en-US" altLang="en-US" dirty="0"/>
              <a:t>Moral hazard versus the benefit of insurance before and after a crisis occurs.</a:t>
            </a:r>
            <a:endParaRPr lang="en-US" dirty="0"/>
          </a:p>
        </p:txBody>
      </p:sp>
    </p:spTree>
    <p:extLst>
      <p:ext uri="{BB962C8B-B14F-4D97-AF65-F5344CB8AC3E}">
        <p14:creationId xmlns:p14="http://schemas.microsoft.com/office/powerpoint/2010/main" val="3112183321"/>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dirty="0"/>
              <a:t>Global Financial Cycles and Movements in the Developing World’s G</a:t>
            </a:r>
            <a:r>
              <a:rPr lang="en-US" sz="100" dirty="0"/>
              <a:t> </a:t>
            </a:r>
            <a:r>
              <a:rPr lang="en-US" sz="3200" dirty="0"/>
              <a:t>D</a:t>
            </a:r>
            <a:r>
              <a:rPr lang="en-US" sz="100" dirty="0"/>
              <a:t> </a:t>
            </a:r>
            <a:r>
              <a:rPr lang="en-US" sz="3200" dirty="0"/>
              <a:t>P</a:t>
            </a:r>
          </a:p>
        </p:txBody>
      </p:sp>
      <p:pic>
        <p:nvPicPr>
          <p:cNvPr id="5" name="Content Placeholder 4" descr="A double line graph plots Real G D P growth versus C y indicator. For long description in Notes pane, press F6."/>
          <p:cNvPicPr>
            <a:picLocks noGrp="1" noChangeAspect="1"/>
          </p:cNvPicPr>
          <p:nvPr>
            <p:ph sz="quarter" idx="13"/>
          </p:nvPr>
        </p:nvPicPr>
        <p:blipFill>
          <a:blip r:embed="rId3">
            <a:extLst>
              <a:ext uri="{28A0092B-C50C-407E-A947-70E740481C1C}">
                <a14:useLocalDpi xmlns:a14="http://schemas.microsoft.com/office/drawing/2010/main" val="0"/>
              </a:ext>
            </a:extLst>
          </a:blip>
          <a:stretch>
            <a:fillRect/>
          </a:stretch>
        </p:blipFill>
        <p:spPr>
          <a:xfrm>
            <a:off x="1914462" y="1455744"/>
            <a:ext cx="5315076" cy="2943125"/>
          </a:xfrm>
        </p:spPr>
      </p:pic>
      <p:sp>
        <p:nvSpPr>
          <p:cNvPr id="4" name="Content Placeholder 3"/>
          <p:cNvSpPr>
            <a:spLocks noGrp="1"/>
          </p:cNvSpPr>
          <p:nvPr>
            <p:ph sz="quarter" idx="14"/>
          </p:nvPr>
        </p:nvSpPr>
        <p:spPr>
          <a:xfrm>
            <a:off x="457200" y="4472510"/>
            <a:ext cx="8534400" cy="1872878"/>
          </a:xfrm>
        </p:spPr>
        <p:txBody>
          <a:bodyPr/>
          <a:lstStyle/>
          <a:p>
            <a:pPr marL="0" indent="0">
              <a:spcBef>
                <a:spcPts val="600"/>
              </a:spcBef>
              <a:buNone/>
            </a:pPr>
            <a:r>
              <a:rPr lang="en-US" sz="1800" dirty="0"/>
              <a:t>The G</a:t>
            </a:r>
            <a:r>
              <a:rPr lang="en-US" sz="100" dirty="0"/>
              <a:t> </a:t>
            </a:r>
            <a:r>
              <a:rPr lang="en-US" sz="1800" dirty="0"/>
              <a:t>D</a:t>
            </a:r>
            <a:r>
              <a:rPr lang="en-US" sz="100" dirty="0"/>
              <a:t> </a:t>
            </a:r>
            <a:r>
              <a:rPr lang="en-US" sz="1800" dirty="0"/>
              <a:t>P growth rate of poorer countries moves closely in tandem with the global financial cycle.</a:t>
            </a:r>
          </a:p>
          <a:p>
            <a:pPr marL="0" indent="0">
              <a:spcBef>
                <a:spcPts val="600"/>
              </a:spcBef>
              <a:buNone/>
            </a:pPr>
            <a:r>
              <a:rPr lang="en-US" sz="1800" b="1" dirty="0"/>
              <a:t>Source: </a:t>
            </a:r>
            <a:r>
              <a:rPr lang="en-US" sz="1800" dirty="0"/>
              <a:t>G</a:t>
            </a:r>
            <a:r>
              <a:rPr lang="en-US" sz="100" dirty="0"/>
              <a:t> </a:t>
            </a:r>
            <a:r>
              <a:rPr lang="en-US" sz="1800" dirty="0"/>
              <a:t>F</a:t>
            </a:r>
            <a:r>
              <a:rPr lang="en-US" sz="100" dirty="0"/>
              <a:t> </a:t>
            </a:r>
            <a:r>
              <a:rPr lang="en-US" sz="1800" dirty="0"/>
              <a:t>C</a:t>
            </a:r>
            <a:r>
              <a:rPr lang="en-US" sz="100" dirty="0"/>
              <a:t> </a:t>
            </a:r>
            <a:r>
              <a:rPr lang="en-US" sz="1800" dirty="0"/>
              <a:t>y: Miranda-Agrippino and Rey. “U.S. Monetary Policy and the Global Financial Cycle,” </a:t>
            </a:r>
            <a:r>
              <a:rPr lang="en-US" sz="1800" b="1" dirty="0"/>
              <a:t>Review of Economic Studies</a:t>
            </a:r>
            <a:r>
              <a:rPr lang="en-US" sz="1800" dirty="0"/>
              <a:t> 87 (2020). Yearly observations on G</a:t>
            </a:r>
            <a:r>
              <a:rPr lang="en-US" sz="100" dirty="0"/>
              <a:t> </a:t>
            </a:r>
            <a:r>
              <a:rPr lang="en-US" sz="1800" dirty="0"/>
              <a:t>F</a:t>
            </a:r>
            <a:r>
              <a:rPr lang="en-US" sz="100" dirty="0"/>
              <a:t> </a:t>
            </a:r>
            <a:r>
              <a:rPr lang="en-US" sz="1800" dirty="0"/>
              <a:t>C</a:t>
            </a:r>
            <a:r>
              <a:rPr lang="en-US" sz="100" dirty="0"/>
              <a:t> </a:t>
            </a:r>
            <a:r>
              <a:rPr lang="en-US" sz="1800" dirty="0"/>
              <a:t>y are averages of monthly observations. G</a:t>
            </a:r>
            <a:r>
              <a:rPr lang="en-US" sz="100" dirty="0"/>
              <a:t> </a:t>
            </a:r>
            <a:r>
              <a:rPr lang="en-US" sz="1800" dirty="0"/>
              <a:t>D</a:t>
            </a:r>
            <a:r>
              <a:rPr lang="en-US" sz="100" dirty="0"/>
              <a:t> </a:t>
            </a:r>
            <a:r>
              <a:rPr lang="en-US" sz="1800" dirty="0"/>
              <a:t>P growth in emerging and developing economies: World Economic Outlook database, April 2020.</a:t>
            </a:r>
          </a:p>
        </p:txBody>
      </p:sp>
    </p:spTree>
    <p:extLst>
      <p:ext uri="{BB962C8B-B14F-4D97-AF65-F5344CB8AC3E}">
        <p14:creationId xmlns:p14="http://schemas.microsoft.com/office/powerpoint/2010/main" val="3055352261"/>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sz="3200" dirty="0"/>
              <a:t>Geography, Human Capital, and Institutions </a:t>
            </a:r>
            <a:r>
              <a:rPr lang="en-US" altLang="en-US" sz="2000" b="0" dirty="0"/>
              <a:t>(1 of 4)</a:t>
            </a:r>
            <a:endParaRPr lang="en-US" dirty="0"/>
          </a:p>
        </p:txBody>
      </p:sp>
      <p:sp>
        <p:nvSpPr>
          <p:cNvPr id="5" name="Content Placeholder 4"/>
          <p:cNvSpPr>
            <a:spLocks noGrp="1"/>
          </p:cNvSpPr>
          <p:nvPr>
            <p:ph sz="quarter" idx="13"/>
          </p:nvPr>
        </p:nvSpPr>
        <p:spPr/>
        <p:txBody>
          <a:bodyPr/>
          <a:lstStyle/>
          <a:p>
            <a:r>
              <a:rPr lang="en-US" altLang="en-US" dirty="0"/>
              <a:t>What causes poverty?</a:t>
            </a:r>
          </a:p>
          <a:p>
            <a:r>
              <a:rPr lang="en-US" altLang="en-US" dirty="0"/>
              <a:t>A difficult question: economists argue about whether geography or human capital is more important in influencing economic and political institutions, and ultimately poverty.</a:t>
            </a:r>
            <a:endParaRPr lang="en-US" dirty="0"/>
          </a:p>
        </p:txBody>
      </p:sp>
    </p:spTree>
    <p:extLst>
      <p:ext uri="{BB962C8B-B14F-4D97-AF65-F5344CB8AC3E}">
        <p14:creationId xmlns:p14="http://schemas.microsoft.com/office/powerpoint/2010/main" val="535567054"/>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sz="3200" dirty="0"/>
              <a:t>Geography, Human Capital, and Institutions </a:t>
            </a:r>
            <a:r>
              <a:rPr lang="en-US" altLang="en-US" sz="2000" b="0" dirty="0"/>
              <a:t>(2 of 4)</a:t>
            </a:r>
            <a:endParaRPr lang="en-US" dirty="0"/>
          </a:p>
        </p:txBody>
      </p:sp>
      <p:sp>
        <p:nvSpPr>
          <p:cNvPr id="4" name="Content Placeholder 3"/>
          <p:cNvSpPr>
            <a:spLocks noGrp="1"/>
          </p:cNvSpPr>
          <p:nvPr>
            <p:ph sz="quarter" idx="13"/>
          </p:nvPr>
        </p:nvSpPr>
        <p:spPr>
          <a:xfrm>
            <a:off x="457200" y="1552575"/>
            <a:ext cx="8229600" cy="1685659"/>
          </a:xfrm>
        </p:spPr>
        <p:txBody>
          <a:bodyPr tIns="0"/>
          <a:lstStyle/>
          <a:p>
            <a:pPr marL="0" indent="0">
              <a:buNone/>
            </a:pPr>
            <a:r>
              <a:rPr lang="en-US" altLang="en-US" dirty="0"/>
              <a:t>Geography matters:</a:t>
            </a:r>
          </a:p>
          <a:p>
            <a:pPr marL="432000" indent="-432000">
              <a:buFont typeface="Times" pitchFamily="-1" charset="0"/>
              <a:buAutoNum type="arabicPeriod"/>
            </a:pPr>
            <a:r>
              <a:rPr lang="en-US" altLang="en-US" dirty="0"/>
              <a:t>International trade is important for growth, and ocean harbors and a lack of geographical barriers foster trade with foreign markets.</a:t>
            </a:r>
          </a:p>
        </p:txBody>
      </p:sp>
      <p:sp>
        <p:nvSpPr>
          <p:cNvPr id="5" name="Content Placeholder 4"/>
          <p:cNvSpPr>
            <a:spLocks noGrp="1"/>
          </p:cNvSpPr>
          <p:nvPr>
            <p:ph sz="quarter" idx="14"/>
          </p:nvPr>
        </p:nvSpPr>
        <p:spPr>
          <a:xfrm>
            <a:off x="457200" y="3333756"/>
            <a:ext cx="8309728" cy="746024"/>
          </a:xfrm>
        </p:spPr>
        <p:txBody>
          <a:bodyPr tIns="0"/>
          <a:lstStyle/>
          <a:p>
            <a:pPr lvl="1" indent="-284400"/>
            <a:r>
              <a:rPr lang="en-US" altLang="en-US" dirty="0"/>
              <a:t>Landlocked and mountainous regions are predicted to be poor.</a:t>
            </a:r>
          </a:p>
        </p:txBody>
      </p:sp>
      <p:sp>
        <p:nvSpPr>
          <p:cNvPr id="6" name="Content Placeholder 5"/>
          <p:cNvSpPr>
            <a:spLocks noGrp="1"/>
          </p:cNvSpPr>
          <p:nvPr>
            <p:ph sz="quarter" idx="15"/>
          </p:nvPr>
        </p:nvSpPr>
        <p:spPr>
          <a:xfrm>
            <a:off x="457200" y="4160842"/>
            <a:ext cx="8232128" cy="771183"/>
          </a:xfrm>
        </p:spPr>
        <p:txBody>
          <a:bodyPr tIns="0"/>
          <a:lstStyle/>
          <a:p>
            <a:pPr marL="457200" indent="-457200">
              <a:buFont typeface="+mj-lt"/>
              <a:buAutoNum type="arabicPeriod" startAt="2"/>
            </a:pPr>
            <a:r>
              <a:rPr lang="en-US" altLang="en-US" dirty="0"/>
              <a:t>Also, geography is said to have </a:t>
            </a:r>
            <a:r>
              <a:rPr lang="en-US" altLang="en-US" b="1" dirty="0"/>
              <a:t>determined </a:t>
            </a:r>
            <a:r>
              <a:rPr lang="en-US" altLang="en-US" dirty="0"/>
              <a:t>institutions, which may play a role in development.</a:t>
            </a:r>
          </a:p>
        </p:txBody>
      </p:sp>
      <p:sp>
        <p:nvSpPr>
          <p:cNvPr id="7" name="Content Placeholder 6"/>
          <p:cNvSpPr>
            <a:spLocks noGrp="1"/>
          </p:cNvSpPr>
          <p:nvPr>
            <p:ph sz="quarter" idx="16"/>
          </p:nvPr>
        </p:nvSpPr>
        <p:spPr>
          <a:xfrm>
            <a:off x="457200" y="5016318"/>
            <a:ext cx="8309728" cy="1214800"/>
          </a:xfrm>
        </p:spPr>
        <p:txBody>
          <a:bodyPr tIns="0"/>
          <a:lstStyle/>
          <a:p>
            <a:pPr lvl="1" indent="-284400"/>
            <a:r>
              <a:rPr lang="en-US" altLang="en-US" dirty="0"/>
              <a:t>Geography determined whether Westerners established property rights and long-term investment in colonies, which in turn influenced economic growth.</a:t>
            </a:r>
            <a:endParaRPr lang="en-US" dirty="0"/>
          </a:p>
        </p:txBody>
      </p:sp>
    </p:spTree>
    <p:extLst>
      <p:ext uri="{BB962C8B-B14F-4D97-AF65-F5344CB8AC3E}">
        <p14:creationId xmlns:p14="http://schemas.microsoft.com/office/powerpoint/2010/main" val="3737501630"/>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sz="3200" dirty="0"/>
              <a:t>Geography, Human Capital, and Institutions </a:t>
            </a:r>
            <a:r>
              <a:rPr lang="en-US" altLang="en-US" sz="2000" b="0" dirty="0"/>
              <a:t>(3 of 4)</a:t>
            </a:r>
            <a:endParaRPr lang="en-US" dirty="0"/>
          </a:p>
        </p:txBody>
      </p:sp>
      <p:sp>
        <p:nvSpPr>
          <p:cNvPr id="7" name="Content Placeholder 6"/>
          <p:cNvSpPr>
            <a:spLocks noGrp="1"/>
          </p:cNvSpPr>
          <p:nvPr>
            <p:ph sz="quarter" idx="13"/>
          </p:nvPr>
        </p:nvSpPr>
        <p:spPr/>
        <p:txBody>
          <a:bodyPr/>
          <a:lstStyle/>
          <a:p>
            <a:pPr lvl="1"/>
            <a:r>
              <a:rPr lang="en-US" altLang="en-US" sz="2200" dirty="0"/>
              <a:t>Geography determined whether Westerners died from malaria and other diseases. With high mortality rates, they established practices and institutions based on quick </a:t>
            </a:r>
            <a:r>
              <a:rPr lang="en-US" altLang="en-US" sz="2200" b="1" dirty="0"/>
              <a:t>plunder of colonies</a:t>
            </a:r>
            <a:r>
              <a:rPr lang="en-IN" altLang="en-US" sz="2200" b="1" dirty="0"/>
              <a:t>’</a:t>
            </a:r>
            <a:r>
              <a:rPr lang="en-US" altLang="ja-JP" sz="2200" b="1" dirty="0"/>
              <a:t> resources</a:t>
            </a:r>
            <a:r>
              <a:rPr lang="en-US" altLang="ja-JP" sz="2200" dirty="0"/>
              <a:t>, rather than institutions favoring long-term economic growth.</a:t>
            </a:r>
          </a:p>
          <a:p>
            <a:pPr lvl="1"/>
            <a:r>
              <a:rPr lang="en-US" altLang="en-US" sz="2200" dirty="0"/>
              <a:t>Plunder led to </a:t>
            </a:r>
            <a:r>
              <a:rPr lang="en-US" altLang="en-US" sz="2200" b="1" dirty="0"/>
              <a:t>property confiscation and corruption,</a:t>
            </a:r>
            <a:r>
              <a:rPr lang="en-US" altLang="en-US" sz="2200" dirty="0"/>
              <a:t> even after political independence from Westerners.</a:t>
            </a:r>
          </a:p>
          <a:p>
            <a:pPr lvl="1"/>
            <a:r>
              <a:rPr lang="en-US" altLang="en-US" sz="2200" dirty="0"/>
              <a:t>Geography also determined whether local economies were better for </a:t>
            </a:r>
            <a:r>
              <a:rPr lang="en-US" altLang="en-US" sz="2200" b="1" dirty="0"/>
              <a:t>plantation agriculture</a:t>
            </a:r>
            <a:r>
              <a:rPr lang="en-US" altLang="en-US" sz="2200" dirty="0"/>
              <a:t>, which resulted in income inequalities and political inequalities. Under this system, equal property rights were not established, hindering long-term economic growth.</a:t>
            </a:r>
            <a:endParaRPr lang="en-US" sz="2200" dirty="0"/>
          </a:p>
        </p:txBody>
      </p:sp>
    </p:spTree>
    <p:extLst>
      <p:ext uri="{BB962C8B-B14F-4D97-AF65-F5344CB8AC3E}">
        <p14:creationId xmlns:p14="http://schemas.microsoft.com/office/powerpoint/2010/main" val="2813910626"/>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sz="3200" dirty="0"/>
              <a:t>Geography, Human Capital, and Institutions </a:t>
            </a:r>
            <a:r>
              <a:rPr lang="en-US" altLang="en-US" sz="2000" b="0" dirty="0"/>
              <a:t>(4 of 4)</a:t>
            </a:r>
            <a:endParaRPr lang="en-US" dirty="0"/>
          </a:p>
        </p:txBody>
      </p:sp>
      <p:sp>
        <p:nvSpPr>
          <p:cNvPr id="4" name="Content Placeholder 3"/>
          <p:cNvSpPr>
            <a:spLocks noGrp="1"/>
          </p:cNvSpPr>
          <p:nvPr>
            <p:ph sz="quarter" idx="13"/>
          </p:nvPr>
        </p:nvSpPr>
        <p:spPr>
          <a:xfrm>
            <a:off x="457200" y="1556327"/>
            <a:ext cx="8229600" cy="1776808"/>
          </a:xfrm>
        </p:spPr>
        <p:txBody>
          <a:bodyPr/>
          <a:lstStyle/>
          <a:p>
            <a:pPr marL="533400" indent="-533400">
              <a:spcBef>
                <a:spcPct val="50000"/>
              </a:spcBef>
              <a:buNone/>
            </a:pPr>
            <a:r>
              <a:rPr lang="en-US" altLang="en-US" dirty="0"/>
              <a:t>Human capital matters:</a:t>
            </a:r>
          </a:p>
          <a:p>
            <a:pPr marL="432000" indent="-432000">
              <a:buFont typeface="Times" pitchFamily="-1" charset="0"/>
              <a:buAutoNum type="arabicPeriod"/>
            </a:pPr>
            <a:r>
              <a:rPr lang="en-US" altLang="en-US" dirty="0"/>
              <a:t>As a population becomes more literate, numerate, and educated, economic and political institutions evolve to foster long-term economic growth.</a:t>
            </a:r>
          </a:p>
        </p:txBody>
      </p:sp>
      <p:sp>
        <p:nvSpPr>
          <p:cNvPr id="5" name="Content Placeholder 4"/>
          <p:cNvSpPr>
            <a:spLocks noGrp="1"/>
          </p:cNvSpPr>
          <p:nvPr>
            <p:ph sz="quarter" idx="14"/>
          </p:nvPr>
        </p:nvSpPr>
        <p:spPr>
          <a:xfrm>
            <a:off x="457200" y="3404560"/>
            <a:ext cx="8229600" cy="2315528"/>
          </a:xfrm>
        </p:spPr>
        <p:txBody>
          <a:bodyPr/>
          <a:lstStyle/>
          <a:p>
            <a:pPr lvl="1"/>
            <a:r>
              <a:rPr lang="en-US" altLang="en-US" dirty="0"/>
              <a:t>Rather than geography, Western colonization, and plantation agriculture, the amount of education and other forms of human capital determine the existence or lack of property rights, financial markets, international trade, and other institutions that encourage economic growth.</a:t>
            </a:r>
            <a:endParaRPr lang="en-US" dirty="0"/>
          </a:p>
        </p:txBody>
      </p:sp>
    </p:spTree>
    <p:extLst>
      <p:ext uri="{BB962C8B-B14F-4D97-AF65-F5344CB8AC3E}">
        <p14:creationId xmlns:p14="http://schemas.microsoft.com/office/powerpoint/2010/main" val="2834786166"/>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Summary </a:t>
            </a:r>
            <a:r>
              <a:rPr lang="en-US" altLang="en-US" sz="2000" b="0" dirty="0"/>
              <a:t>(1 of 3)</a:t>
            </a:r>
            <a:endParaRPr lang="en-US" dirty="0"/>
          </a:p>
        </p:txBody>
      </p:sp>
      <p:sp>
        <p:nvSpPr>
          <p:cNvPr id="5" name="Content Placeholder 4"/>
          <p:cNvSpPr>
            <a:spLocks noGrp="1"/>
          </p:cNvSpPr>
          <p:nvPr>
            <p:ph sz="quarter" idx="13"/>
          </p:nvPr>
        </p:nvSpPr>
        <p:spPr/>
        <p:txBody>
          <a:bodyPr/>
          <a:lstStyle/>
          <a:p>
            <a:pPr marL="432000" indent="-432000">
              <a:buFont typeface="Times" pitchFamily="-1" charset="0"/>
              <a:buAutoNum type="arabicPeriod"/>
            </a:pPr>
            <a:r>
              <a:rPr lang="en-US" altLang="en-US" dirty="0"/>
              <a:t>Some countries have grown rapidly since 1960, but others have stagnated and remained poor.</a:t>
            </a:r>
          </a:p>
          <a:p>
            <a:pPr marL="432000" indent="-432000">
              <a:buFont typeface="Times" pitchFamily="-1" charset="0"/>
              <a:buAutoNum type="arabicPeriod"/>
            </a:pPr>
            <a:r>
              <a:rPr lang="en-US" altLang="en-US" dirty="0"/>
              <a:t>Many poor countries have extensive government control of the economy, unsustainable fiscal and monetary policies, lack of financial markets, weak enforcement of economic laws, a large amount of corruption, and low levels of education.</a:t>
            </a:r>
          </a:p>
          <a:p>
            <a:pPr marL="432000" indent="-432000">
              <a:buFont typeface="Times" pitchFamily="-1" charset="0"/>
              <a:buAutoNum type="arabicPeriod"/>
            </a:pPr>
            <a:r>
              <a:rPr lang="en-US" altLang="en-US" dirty="0"/>
              <a:t>Many developing economies have traditionally borrowed from international capital markets, and some have suffered from periodic sovereign debt crises, balance of payments crises, and banking crises.</a:t>
            </a:r>
            <a:endParaRPr lang="en-US" dirty="0"/>
          </a:p>
        </p:txBody>
      </p:sp>
    </p:spTree>
    <p:extLst>
      <p:ext uri="{BB962C8B-B14F-4D97-AF65-F5344CB8AC3E}">
        <p14:creationId xmlns:p14="http://schemas.microsoft.com/office/powerpoint/2010/main" val="288572753"/>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Summary </a:t>
            </a:r>
            <a:r>
              <a:rPr lang="en-US" altLang="en-US" sz="2000" b="0" dirty="0"/>
              <a:t>(2 of 3)</a:t>
            </a:r>
            <a:endParaRPr lang="en-US" dirty="0"/>
          </a:p>
        </p:txBody>
      </p:sp>
      <p:sp>
        <p:nvSpPr>
          <p:cNvPr id="5" name="Content Placeholder 4"/>
          <p:cNvSpPr>
            <a:spLocks noGrp="1"/>
          </p:cNvSpPr>
          <p:nvPr>
            <p:ph sz="quarter" idx="13"/>
          </p:nvPr>
        </p:nvSpPr>
        <p:spPr/>
        <p:txBody>
          <a:bodyPr/>
          <a:lstStyle/>
          <a:p>
            <a:pPr marL="432000" indent="-432000">
              <a:buFont typeface="Verdana" pitchFamily="34" charset="0"/>
              <a:buAutoNum type="arabicPeriod" startAt="4"/>
            </a:pPr>
            <a:r>
              <a:rPr lang="en-US" altLang="en-US" dirty="0"/>
              <a:t>Sovereign debt, balance of payments, and banking crises can be self-fulfilling, and each crisis can lead to another within a country or in another country.</a:t>
            </a:r>
          </a:p>
          <a:p>
            <a:pPr marL="432000" indent="-432000">
              <a:buFont typeface="Times" pitchFamily="-1" charset="0"/>
              <a:buAutoNum type="arabicPeriod" startAt="4"/>
            </a:pPr>
            <a:r>
              <a:rPr lang="en-US" altLang="ja-JP" dirty="0"/>
              <a:t>“Original sin” refers to the fact that poor and middle- income countries often cannot borrow in their domestic currencies.</a:t>
            </a:r>
          </a:p>
          <a:p>
            <a:pPr marL="432000" indent="-432000">
              <a:buFont typeface="Times" pitchFamily="-1" charset="0"/>
              <a:buAutoNum type="arabicPeriod" startAt="4"/>
            </a:pPr>
            <a:r>
              <a:rPr lang="en-US" altLang="en-US" dirty="0"/>
              <a:t>Fixing exchange rates may lead to financial crises if the country is unwilling to restrict monetary and fiscal policies.</a:t>
            </a:r>
            <a:endParaRPr lang="en-US" dirty="0"/>
          </a:p>
        </p:txBody>
      </p:sp>
    </p:spTree>
    <p:extLst>
      <p:ext uri="{BB962C8B-B14F-4D97-AF65-F5344CB8AC3E}">
        <p14:creationId xmlns:p14="http://schemas.microsoft.com/office/powerpoint/2010/main" val="3268206823"/>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Summary </a:t>
            </a:r>
            <a:r>
              <a:rPr lang="en-US" altLang="en-US" sz="2000" b="0" dirty="0"/>
              <a:t>(3 of 3)</a:t>
            </a:r>
            <a:endParaRPr lang="en-US" dirty="0"/>
          </a:p>
        </p:txBody>
      </p:sp>
      <p:sp>
        <p:nvSpPr>
          <p:cNvPr id="3" name="Content Placeholder 2"/>
          <p:cNvSpPr>
            <a:spLocks noGrp="1"/>
          </p:cNvSpPr>
          <p:nvPr>
            <p:ph sz="quarter" idx="13"/>
          </p:nvPr>
        </p:nvSpPr>
        <p:spPr/>
        <p:txBody>
          <a:bodyPr/>
          <a:lstStyle/>
          <a:p>
            <a:pPr marL="432000" indent="-432000">
              <a:buFont typeface="Verdana" pitchFamily="34" charset="0"/>
              <a:buAutoNum type="arabicPeriod" startAt="7"/>
            </a:pPr>
            <a:r>
              <a:rPr lang="en-US" altLang="en-US" dirty="0"/>
              <a:t>Fixing exchange rates may lead to financial crises if the country is unwilling to restrict monetary and fiscal policies.</a:t>
            </a:r>
          </a:p>
          <a:p>
            <a:pPr marL="432000" indent="-432000">
              <a:buFont typeface="Verdana" pitchFamily="34" charset="0"/>
              <a:buAutoNum type="arabicPeriod" startAt="8"/>
            </a:pPr>
            <a:r>
              <a:rPr lang="en-US" altLang="en-US" dirty="0"/>
              <a:t>Weak enforcement of financial regulations causes a moral hazard and may lead to a banking crisis, especially with free movement of financial assets.</a:t>
            </a:r>
          </a:p>
          <a:p>
            <a:pPr marL="432000" indent="-432000">
              <a:buFont typeface="Verdana" pitchFamily="34" charset="0"/>
              <a:buAutoNum type="arabicPeriod" startAt="8"/>
            </a:pPr>
            <a:r>
              <a:rPr lang="en-US" altLang="en-US" dirty="0"/>
              <a:t>Geography and human capital may influence economic and political institutions, which in turn may affect long-term economic growth.</a:t>
            </a:r>
            <a:endParaRPr lang="en-US" dirty="0"/>
          </a:p>
        </p:txBody>
      </p:sp>
    </p:spTree>
    <p:extLst>
      <p:ext uri="{BB962C8B-B14F-4D97-AF65-F5344CB8AC3E}">
        <p14:creationId xmlns:p14="http://schemas.microsoft.com/office/powerpoint/2010/main" val="3345285522"/>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Shape 384"/>
        <p:cNvGrpSpPr/>
        <p:nvPr/>
      </p:nvGrpSpPr>
      <p:grpSpPr>
        <a:xfrm>
          <a:off x="0" y="0"/>
          <a:ext cx="0" cy="0"/>
          <a:chOff x="0" y="0"/>
          <a:chExt cx="0" cy="0"/>
        </a:xfrm>
      </p:grpSpPr>
      <p:sp>
        <p:nvSpPr>
          <p:cNvPr id="5" name="Title 4">
            <a:extLst>
              <a:ext uri="{FF2B5EF4-FFF2-40B4-BE49-F238E27FC236}">
                <a16:creationId xmlns:a16="http://schemas.microsoft.com/office/drawing/2014/main" id="{E47FF819-0D5D-491A-BF8F-B42813E7390C}"/>
              </a:ext>
            </a:extLst>
          </p:cNvPr>
          <p:cNvSpPr>
            <a:spLocks noGrp="1"/>
          </p:cNvSpPr>
          <p:nvPr>
            <p:ph type="title"/>
          </p:nvPr>
        </p:nvSpPr>
        <p:spPr/>
        <p:txBody>
          <a:bodyPr/>
          <a:lstStyle/>
          <a:p>
            <a:r>
              <a:rPr lang="en-US" dirty="0"/>
              <a:t>Copyright</a:t>
            </a:r>
          </a:p>
        </p:txBody>
      </p:sp>
      <p:pic>
        <p:nvPicPr>
          <p:cNvPr id="7" name="Graphic 6" descr="Warning">
            <a:extLst>
              <a:ext uri="{FF2B5EF4-FFF2-40B4-BE49-F238E27FC236}">
                <a16:creationId xmlns:a16="http://schemas.microsoft.com/office/drawing/2014/main" id="{C06FB2D2-3F36-42C9-A5A6-B6234DC54C96}"/>
              </a:ext>
            </a:extLst>
          </p:cNvPr>
          <p:cNvPicPr>
            <a:picLocks noChangeAspect="1"/>
          </p:cNvPicPr>
          <p:nvPr/>
        </p:nvPicPr>
        <p:blipFill>
          <a:blip r:embed="rId3">
            <a:extLst>
              <a:ext uri="{96DAC541-7B7A-43D3-8B79-37D633B846F1}">
                <asvg:svgBlip xmlns="" xmlns:asvg="http://schemas.microsoft.com/office/drawing/2016/SVG/main" r:embed="rId4"/>
              </a:ext>
            </a:extLst>
          </a:blip>
          <a:stretch>
            <a:fillRect/>
          </a:stretch>
        </p:blipFill>
        <p:spPr>
          <a:xfrm>
            <a:off x="246184" y="2317359"/>
            <a:ext cx="1277815" cy="1434026"/>
          </a:xfrm>
          <a:prstGeom prst="rect">
            <a:avLst/>
          </a:prstGeom>
        </p:spPr>
      </p:pic>
      <p:sp>
        <p:nvSpPr>
          <p:cNvPr id="2" name="Text Placeholder 1">
            <a:extLst>
              <a:ext uri="{FF2B5EF4-FFF2-40B4-BE49-F238E27FC236}">
                <a16:creationId xmlns:a16="http://schemas.microsoft.com/office/drawing/2014/main" id="{AD5FAE7B-F718-4307-B112-AD6256157E8F}"/>
              </a:ext>
            </a:extLst>
          </p:cNvPr>
          <p:cNvSpPr>
            <a:spLocks noGrp="1"/>
          </p:cNvSpPr>
          <p:nvPr>
            <p:ph type="body" idx="4294967295"/>
          </p:nvPr>
        </p:nvSpPr>
        <p:spPr>
          <a:xfrm>
            <a:off x="1606061" y="1852246"/>
            <a:ext cx="6858001" cy="2854836"/>
          </a:xfrm>
          <a:ln/>
        </p:spPr>
        <p:style>
          <a:lnRef idx="2">
            <a:schemeClr val="dk1"/>
          </a:lnRef>
          <a:fillRef idx="1">
            <a:schemeClr val="lt1"/>
          </a:fillRef>
          <a:effectRef idx="0">
            <a:schemeClr val="dk1"/>
          </a:effectRef>
          <a:fontRef idx="minor">
            <a:schemeClr val="dk1"/>
          </a:fontRef>
        </p:style>
        <p:txBody>
          <a:bodyPr lIns="182880" tIns="182880" rIns="182880" bIns="182880" anchor="ctr"/>
          <a:lstStyle/>
          <a:p>
            <a:pPr marL="101600" indent="0">
              <a:buNone/>
            </a:pPr>
            <a:r>
              <a:rPr lang="en-US" b="1" dirty="0"/>
              <a:t>This work is protected by United States copyright laws and is</a:t>
            </a:r>
            <a:r>
              <a:rPr lang="en-US" b="1" baseline="0" dirty="0"/>
              <a:t> </a:t>
            </a:r>
            <a:r>
              <a:rPr lang="en-US" b="1" dirty="0"/>
              <a:t>provided solely for the use of instructors in teaching their courses and assessing student learning. Dissemination or sale of any part of this work (including on the World Wide Web) will destroy the integrity of the work and is not permitted. The work and materials from it should never be made available to students except by instructors using the accompanying text in their classes. All recipients of this work are expected to abide by these restrictions and to honor the intended pedagogical purposes and the needs of other instructors who rely on these materials.</a:t>
            </a:r>
          </a:p>
        </p:txBody>
      </p:sp>
    </p:spTree>
  </p:cSld>
  <p:clrMapOvr>
    <a:masterClrMapping/>
  </p:clrMapOvr>
</p:sld>
</file>

<file path=ppt/theme/theme1.xml><?xml version="1.0" encoding="utf-8"?>
<a:theme xmlns:a="http://schemas.openxmlformats.org/drawingml/2006/main" name="USHE">
  <a:themeElements>
    <a:clrScheme name="Custom 7">
      <a:dk1>
        <a:srgbClr val="000000"/>
      </a:dk1>
      <a:lt1>
        <a:srgbClr val="FFFFFF"/>
      </a:lt1>
      <a:dk2>
        <a:srgbClr val="000000"/>
      </a:dk2>
      <a:lt2>
        <a:srgbClr val="007FA3"/>
      </a:lt2>
      <a:accent1>
        <a:srgbClr val="3C1581"/>
      </a:accent1>
      <a:accent2>
        <a:srgbClr val="1A6C7C"/>
      </a:accent2>
      <a:accent3>
        <a:srgbClr val="CC730D"/>
      </a:accent3>
      <a:accent4>
        <a:srgbClr val="B2AA00"/>
      </a:accent4>
      <a:accent5>
        <a:srgbClr val="1B9332"/>
      </a:accent5>
      <a:accent6>
        <a:srgbClr val="7F7F7F"/>
      </a:accent6>
      <a:hlink>
        <a:srgbClr val="3C1581"/>
      </a:hlink>
      <a:folHlink>
        <a:srgbClr val="7F7F7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USHE_slide options">
  <a:themeElements>
    <a:clrScheme name="Custom 40">
      <a:dk1>
        <a:srgbClr val="000000"/>
      </a:dk1>
      <a:lt1>
        <a:srgbClr val="FFFFFF"/>
      </a:lt1>
      <a:dk2>
        <a:srgbClr val="000000"/>
      </a:dk2>
      <a:lt2>
        <a:srgbClr val="007FA3"/>
      </a:lt2>
      <a:accent1>
        <a:srgbClr val="3C1581"/>
      </a:accent1>
      <a:accent2>
        <a:srgbClr val="1A6C7C"/>
      </a:accent2>
      <a:accent3>
        <a:srgbClr val="CC730D"/>
      </a:accent3>
      <a:accent4>
        <a:srgbClr val="B2AA00"/>
      </a:accent4>
      <a:accent5>
        <a:srgbClr val="1B9332"/>
      </a:accent5>
      <a:accent6>
        <a:srgbClr val="7F7F7F"/>
      </a:accent6>
      <a:hlink>
        <a:srgbClr val="333399"/>
      </a:hlink>
      <a:folHlink>
        <a:srgbClr val="7030A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Custom Theme">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148018</TotalTime>
  <Words>6379</Words>
  <Application>Microsoft Office PowerPoint</Application>
  <PresentationFormat>On-screen Show (4:3)</PresentationFormat>
  <Paragraphs>508</Paragraphs>
  <Slides>70</Slides>
  <Notes>7</Notes>
  <HiddenSlides>0</HiddenSlides>
  <MMClips>0</MMClips>
  <ScaleCrop>false</ScaleCrop>
  <HeadingPairs>
    <vt:vector size="8" baseType="variant">
      <vt:variant>
        <vt:lpstr>Fonts Used</vt:lpstr>
      </vt:variant>
      <vt:variant>
        <vt:i4>6</vt:i4>
      </vt:variant>
      <vt:variant>
        <vt:lpstr>Theme</vt:lpstr>
      </vt:variant>
      <vt:variant>
        <vt:i4>2</vt:i4>
      </vt:variant>
      <vt:variant>
        <vt:lpstr>Embedded OLE Servers</vt:lpstr>
      </vt:variant>
      <vt:variant>
        <vt:i4>1</vt:i4>
      </vt:variant>
      <vt:variant>
        <vt:lpstr>Slide Titles</vt:lpstr>
      </vt:variant>
      <vt:variant>
        <vt:i4>70</vt:i4>
      </vt:variant>
    </vt:vector>
  </HeadingPairs>
  <TitlesOfParts>
    <vt:vector size="79" baseType="lpstr">
      <vt:lpstr>Arial</vt:lpstr>
      <vt:lpstr>Times</vt:lpstr>
      <vt:lpstr>Calibri</vt:lpstr>
      <vt:lpstr>Noto Sans Symbols</vt:lpstr>
      <vt:lpstr>Verdana</vt:lpstr>
      <vt:lpstr>Times New Roman</vt:lpstr>
      <vt:lpstr>USHE</vt:lpstr>
      <vt:lpstr>USHE_slide options</vt:lpstr>
      <vt:lpstr>Equation</vt:lpstr>
      <vt:lpstr>International Economics: Theory and Policy</vt:lpstr>
      <vt:lpstr>Learning Objectives</vt:lpstr>
      <vt:lpstr>Preview</vt:lpstr>
      <vt:lpstr>The Gap Between Rich and Poor</vt:lpstr>
      <vt:lpstr>Table 22.1 Indicators of Economic Welfare in Four Groups of Countries</vt:lpstr>
      <vt:lpstr>Has the World Income Gap Narrowed Over Time?</vt:lpstr>
      <vt:lpstr>Table 22.2 Output per Capita in Selected Countries, 1960–2017 (in 2011 U.S. Dollars) (1 of 4)</vt:lpstr>
      <vt:lpstr>Table 22.2 Output per Capita in Selected Countries, 1960–2017 (in 2011 U.S. Dollars) (2 of 4)</vt:lpstr>
      <vt:lpstr>Table 22.2 Output per Capita in Selected Countries, 1960–2017 (in 2011 U.S. Dollars) (3 of 4)</vt:lpstr>
      <vt:lpstr>Table 22.2 Output per Capita in Selected Countries, 1960–2017 (in 2011 U.S. Dollars) (4 of 4)</vt:lpstr>
      <vt:lpstr>Structural Features of Developing Countries (1 of 5)</vt:lpstr>
      <vt:lpstr>Figure 22.1 Richer Countries Have Become Less Important for Global G D P Growth</vt:lpstr>
      <vt:lpstr>Structural Features of Developing Countries (2 of 5)</vt:lpstr>
      <vt:lpstr>Structural Features of Developing Countries (3 of 5)</vt:lpstr>
      <vt:lpstr>Structural Features of Developing Countries (4 of 5)</vt:lpstr>
      <vt:lpstr>Structural Features of Developing Countries (5 of 5)</vt:lpstr>
      <vt:lpstr>Commodity Price Index</vt:lpstr>
      <vt:lpstr>Figure 22.2 Corruption and Per Capita Output</vt:lpstr>
      <vt:lpstr>Developing-Country Borrowing and Debt</vt:lpstr>
      <vt:lpstr>The Economics of Financial Inflows to Developing Countries</vt:lpstr>
      <vt:lpstr>Table 22.3 Cumulative Current Account Balances of Major Oil Exporters, Other Developing Countries, and Advanced Countries, 1973–2019 (Billions of Dollars)</vt:lpstr>
      <vt:lpstr>The Problem of Default (1 of 6)</vt:lpstr>
      <vt:lpstr>The Problem of Default (2 of 6)</vt:lpstr>
      <vt:lpstr>The Problem of Default (3 of 6)</vt:lpstr>
      <vt:lpstr>The Problem of Default (4 of 6)</vt:lpstr>
      <vt:lpstr>The Problem of Default (5 of 6)</vt:lpstr>
      <vt:lpstr>The Problem of Default (6 of 6)</vt:lpstr>
      <vt:lpstr>Alternative Forms of Financial Inflow (1 of 3)</vt:lpstr>
      <vt:lpstr>Alternative Forms of Financial Inflow (2 of 3)</vt:lpstr>
      <vt:lpstr>Alternative Forms of Financial Inflow (3 of 3)</vt:lpstr>
      <vt:lpstr>The Problem of “Original Sin” (1 of 4)</vt:lpstr>
      <vt:lpstr>The Problem of “Original Sin” (2 of 4)</vt:lpstr>
      <vt:lpstr>The Problem of “Original Sin” (3 of 4)</vt:lpstr>
      <vt:lpstr>The Problem of “Original Sin” (4 of 4)</vt:lpstr>
      <vt:lpstr>The Debt Crisis of the 1980s (1 of 2)</vt:lpstr>
      <vt:lpstr>The Debt Crisis of the 1980s (2 of 2)</vt:lpstr>
      <vt:lpstr>Reforms, Capital Inflows, and the Return of Crisis (1 of 9)</vt:lpstr>
      <vt:lpstr>Reforms, Capital Inflows, and the Return of Crisis (2 of 9)</vt:lpstr>
      <vt:lpstr>Reforms, Capital Inflows, and the Return of Crisis (3 of 9)</vt:lpstr>
      <vt:lpstr>Reforms, Capital Inflows, and the Return of Crisis (4 of 9)</vt:lpstr>
      <vt:lpstr>Reforms, Capital Inflows, and the Return of Crisis (5 of 9)</vt:lpstr>
      <vt:lpstr>Reforms, Capital Inflows, and the Return of Crisis (6 of 9)</vt:lpstr>
      <vt:lpstr>Reforms, Capital Inflows, and the Return of Crisis (7 of 9)</vt:lpstr>
      <vt:lpstr>Reforms, Capital Inflows, and the Return of Crisis (8 of 9)</vt:lpstr>
      <vt:lpstr>Reforms, Capital Inflows, and the Return of Crisis (9 of 9)</vt:lpstr>
      <vt:lpstr>International Reserves Held by Developing Countries</vt:lpstr>
      <vt:lpstr>East Asia: Success and Crisis (1 of 2)</vt:lpstr>
      <vt:lpstr>East Asia: Success and Crisis (2 of 2)</vt:lpstr>
      <vt:lpstr>The Asian Financial Crises (1 of 6)</vt:lpstr>
      <vt:lpstr>The Asian Financial Crises (2 of 6)</vt:lpstr>
      <vt:lpstr>The Asian Financial Crises (3 of 6)</vt:lpstr>
      <vt:lpstr>The Asian Financial Crises (4 of 6)</vt:lpstr>
      <vt:lpstr>The Asian Financial Crises (5 of 6)</vt:lpstr>
      <vt:lpstr>The Asian Financial Crises (6 of 6)</vt:lpstr>
      <vt:lpstr>Lessons of Crises (1 of 4)</vt:lpstr>
      <vt:lpstr>Lessons of Crises (2 of 4)</vt:lpstr>
      <vt:lpstr>Lessons of Crises (3 of 4)</vt:lpstr>
      <vt:lpstr>Lessons of Crises (4 of 4)</vt:lpstr>
      <vt:lpstr>Reforming the World’s Financial “Architecture” (1 of 3)</vt:lpstr>
      <vt:lpstr>Reforming the World’s Financial “Architecture” (2 of 3)</vt:lpstr>
      <vt:lpstr>Reforming the World’s Financial “Architecture” (3 of 3)</vt:lpstr>
      <vt:lpstr>Global Financial Cycles and Movements in the Developing World’s G D P</vt:lpstr>
      <vt:lpstr>Geography, Human Capital, and Institutions (1 of 4)</vt:lpstr>
      <vt:lpstr>Geography, Human Capital, and Institutions (2 of 4)</vt:lpstr>
      <vt:lpstr>Geography, Human Capital, and Institutions (3 of 4)</vt:lpstr>
      <vt:lpstr>Geography, Human Capital, and Institutions (4 of 4)</vt:lpstr>
      <vt:lpstr>Summary (1 of 3)</vt:lpstr>
      <vt:lpstr>Summary (2 of 3)</vt:lpstr>
      <vt:lpstr>Summary (3 of 3)</vt:lpstr>
      <vt:lpstr>Copyright</vt:lpstr>
    </vt:vector>
  </TitlesOfParts>
  <Company>Pearson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International Economics: Theory and Policy, Twelfth Edition, Chapter 22, Developing Countries: Growth, Crisis, and Reform</dc:title>
  <dc:subject>Business</dc:subject>
  <dc:creator>Krugman/Obstfeld/Melitz</dc:creator>
  <cp:keywords>International Economics</cp:keywords>
  <dc:description>Long description alt-text is inserted in the notes pane; Alt text for images/math equations within table cells have been placed behind the object intentionally to provide a better screen reader user experience; This presentation contains the hyperlinks.</dc:description>
  <cp:lastModifiedBy>admin</cp:lastModifiedBy>
  <cp:revision>956</cp:revision>
  <dcterms:modified xsi:type="dcterms:W3CDTF">2021-11-02T15:36:06Z</dcterms:modified>
</cp:coreProperties>
</file>