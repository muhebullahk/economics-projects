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86"/>
  </p:notesMasterIdLst>
  <p:handoutMasterIdLst>
    <p:handoutMasterId r:id="rId87"/>
  </p:handoutMasterIdLst>
  <p:sldIdLst>
    <p:sldId id="330" r:id="rId3"/>
    <p:sldId id="331" r:id="rId4"/>
    <p:sldId id="332" r:id="rId5"/>
    <p:sldId id="357" r:id="rId6"/>
    <p:sldId id="358" r:id="rId7"/>
    <p:sldId id="360" r:id="rId8"/>
    <p:sldId id="361" r:id="rId9"/>
    <p:sldId id="362" r:id="rId10"/>
    <p:sldId id="363" r:id="rId11"/>
    <p:sldId id="364" r:id="rId12"/>
    <p:sldId id="365" r:id="rId13"/>
    <p:sldId id="366" r:id="rId14"/>
    <p:sldId id="367" r:id="rId15"/>
    <p:sldId id="368" r:id="rId16"/>
    <p:sldId id="541" r:id="rId17"/>
    <p:sldId id="542" r:id="rId18"/>
    <p:sldId id="543" r:id="rId19"/>
    <p:sldId id="544" r:id="rId20"/>
    <p:sldId id="545" r:id="rId21"/>
    <p:sldId id="546" r:id="rId22"/>
    <p:sldId id="547" r:id="rId23"/>
    <p:sldId id="476" r:id="rId24"/>
    <p:sldId id="548" r:id="rId25"/>
    <p:sldId id="549" r:id="rId26"/>
    <p:sldId id="550" r:id="rId27"/>
    <p:sldId id="551" r:id="rId28"/>
    <p:sldId id="552" r:id="rId29"/>
    <p:sldId id="607" r:id="rId30"/>
    <p:sldId id="554" r:id="rId31"/>
    <p:sldId id="555" r:id="rId32"/>
    <p:sldId id="556" r:id="rId33"/>
    <p:sldId id="557" r:id="rId34"/>
    <p:sldId id="558" r:id="rId35"/>
    <p:sldId id="559" r:id="rId36"/>
    <p:sldId id="560" r:id="rId37"/>
    <p:sldId id="561" r:id="rId38"/>
    <p:sldId id="562" r:id="rId39"/>
    <p:sldId id="563" r:id="rId40"/>
    <p:sldId id="564" r:id="rId41"/>
    <p:sldId id="565" r:id="rId42"/>
    <p:sldId id="566" r:id="rId43"/>
    <p:sldId id="567" r:id="rId44"/>
    <p:sldId id="568" r:id="rId45"/>
    <p:sldId id="569" r:id="rId46"/>
    <p:sldId id="570" r:id="rId47"/>
    <p:sldId id="571" r:id="rId48"/>
    <p:sldId id="572" r:id="rId49"/>
    <p:sldId id="573" r:id="rId50"/>
    <p:sldId id="574" r:id="rId51"/>
    <p:sldId id="575" r:id="rId52"/>
    <p:sldId id="576" r:id="rId53"/>
    <p:sldId id="577" r:id="rId54"/>
    <p:sldId id="578" r:id="rId55"/>
    <p:sldId id="579" r:id="rId56"/>
    <p:sldId id="580" r:id="rId57"/>
    <p:sldId id="581" r:id="rId58"/>
    <p:sldId id="582" r:id="rId59"/>
    <p:sldId id="583" r:id="rId60"/>
    <p:sldId id="584" r:id="rId61"/>
    <p:sldId id="585" r:id="rId62"/>
    <p:sldId id="586" r:id="rId63"/>
    <p:sldId id="587" r:id="rId64"/>
    <p:sldId id="588" r:id="rId65"/>
    <p:sldId id="589" r:id="rId66"/>
    <p:sldId id="590" r:id="rId67"/>
    <p:sldId id="591" r:id="rId68"/>
    <p:sldId id="521" r:id="rId69"/>
    <p:sldId id="592" r:id="rId70"/>
    <p:sldId id="593" r:id="rId71"/>
    <p:sldId id="594" r:id="rId72"/>
    <p:sldId id="595" r:id="rId73"/>
    <p:sldId id="596" r:id="rId74"/>
    <p:sldId id="597" r:id="rId75"/>
    <p:sldId id="598" r:id="rId76"/>
    <p:sldId id="599" r:id="rId77"/>
    <p:sldId id="600" r:id="rId78"/>
    <p:sldId id="601" r:id="rId79"/>
    <p:sldId id="602" r:id="rId80"/>
    <p:sldId id="603" r:id="rId81"/>
    <p:sldId id="604" r:id="rId82"/>
    <p:sldId id="605" r:id="rId83"/>
    <p:sldId id="606" r:id="rId84"/>
    <p:sldId id="298" r:id="rId85"/>
  </p:sldIdLst>
  <p:sldSz cx="9144000" cy="6858000" type="screen4x3"/>
  <p:notesSz cx="6858000" cy="9144000"/>
  <p:embeddedFontLst>
    <p:embeddedFont>
      <p:font typeface="ＭＳ Ｐゴシック" panose="020B0600070205080204" pitchFamily="34" charset="-128"/>
      <p:regular r:id="rId88"/>
    </p:embeddedFont>
    <p:embeddedFont>
      <p:font typeface="Verdana" panose="020B0604030504040204" pitchFamily="34" charset="0"/>
      <p:regular r:id="rId89"/>
      <p:bold r:id="rId90"/>
      <p:italic r:id="rId91"/>
      <p:boldItalic r:id="rId92"/>
    </p:embeddedFont>
    <p:embeddedFont>
      <p:font typeface="Noto Sans Symbols" panose="020B0604020202020204" charset="0"/>
      <p:regular r:id="rId93"/>
      <p:bold r:id="rId94"/>
      <p:italic r:id="rId95"/>
      <p:boldItalic r:id="rId96"/>
    </p:embeddedFont>
    <p:embeddedFont>
      <p:font typeface="Times" panose="02020603050405020304" pitchFamily="18" charset="0"/>
      <p:regular r:id="rId97"/>
      <p:bold r:id="rId98"/>
      <p:italic r:id="rId99"/>
      <p:boldItalic r:id="rId1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363" userDrawn="1">
          <p15:clr>
            <a:srgbClr val="A4A3A4"/>
          </p15:clr>
        </p15:guide>
        <p15:guide id="3" orient="horz" pos="4156"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205063" initials="SP" lastIdx="1" clrIdx="7">
    <p:extLst>
      <p:ext uri="{19B8F6BF-5375-455C-9EA6-DF929625EA0E}">
        <p15:presenceInfo xmlns:p15="http://schemas.microsoft.com/office/powerpoint/2012/main" userId="205063"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07" autoAdjust="0"/>
    <p:restoredTop sz="76498" autoAdjust="0"/>
  </p:normalViewPr>
  <p:slideViewPr>
    <p:cSldViewPr snapToGrid="0" snapToObjects="1">
      <p:cViewPr varScale="1">
        <p:scale>
          <a:sx n="61" d="100"/>
          <a:sy n="61" d="100"/>
        </p:scale>
        <p:origin x="738" y="72"/>
      </p:cViewPr>
      <p:guideLst>
        <p:guide orient="horz" pos="3974"/>
        <p:guide pos="363"/>
        <p:guide orient="horz" pos="4156"/>
        <p:guide orient="horz" pos="119"/>
        <p:guide orient="horz" pos="709"/>
        <p:guide orient="horz" pos="10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font" Target="fonts/font2.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handoutMaster" Target="handoutMasters/handoutMaster1.xml"/><Relationship Id="rId102"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font" Target="fonts/font3.fntdata"/><Relationship Id="rId95"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font" Target="fonts/font13.fntdata"/><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font" Target="fonts/font6.fntdata"/><Relationship Id="rId98"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94" Type="http://schemas.openxmlformats.org/officeDocument/2006/relationships/font" Target="fonts/font7.fntdata"/><Relationship Id="rId99" Type="http://schemas.openxmlformats.org/officeDocument/2006/relationships/font" Target="fonts/font12.fntdata"/><Relationship Id="rId10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0.fntdata"/><Relationship Id="rId10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4" Type="http://schemas.openxmlformats.org/officeDocument/2006/relationships/image" Target="../media/image85.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 Id="rId4" Type="http://schemas.openxmlformats.org/officeDocument/2006/relationships/image" Target="../media/image9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11/5/2021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592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253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 F, shows the maximum amount of cheese, home can produce given any production of wine, and vice versa. This line falls from point P on the y-axis at ratio L over </a:t>
            </a:r>
            <a:r>
              <a:rPr lang="en-US" dirty="0" smtClean="0"/>
              <a:t>a, </a:t>
            </a:r>
            <a:r>
              <a:rPr lang="en-US" dirty="0"/>
              <a:t>sub L W, 500 gallons in the example, to point F on the x-axis, ration L over </a:t>
            </a:r>
            <a:r>
              <a:rPr lang="en-US" dirty="0" smtClean="0"/>
              <a:t>a </a:t>
            </a:r>
            <a:r>
              <a:rPr lang="en-US" dirty="0"/>
              <a:t>sub L C, 1,000 pounds. The absolute value of the slope equals the opportunity cost of cheese in terms of wine.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9169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223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1 hour over left parenthesis a sub start expression L W end expression hours per gallon of wine right parenthesis end fraction = left parenthesis start fraction 1 over a sub start expression L W end expression end fraction right parenthesis gallons of wine </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92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2352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9509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9248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F asterisk P asterisk falls steeply from the ratio L asterisk over, ay asterisk, sub L W on the y-axis to point L asterisk over, ay asterisk, sub L C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6866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P sub C over P sub W end fraction is less than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3984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P sub C over P sub W end fraction =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6514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3163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2432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is less than Start fraction P sub C over P sub W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7127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extends horizontally from the ratio ay sub L C over, ay sub L W on the y-axis, which is one-half in the example. It then rises vertically from the x-value, ratio L over ay, sub L C over, L asterisk over, ay asterisk, sub L W to the y-value, ay asterisk, sub L C over ay asterisk, sub L W. The R S curve then continues horizontally to the right at ay asterisk sub L C over ay asterisk sub L W, which is 2 in the example. The plots for R D and R D prime are parallel and fall with decreasing steepness; R D is higher than R D prime. R D crosses the R S graph at point 1, the ratio L over ay, sub L C over, L asterisk over, ay asterisk, sub L W on the x-axis; point 1 is roughly midway between ay asterisk sub L C, over ay asterisk, sub L W, and ay sub L C over ay sub L W. R D prime crosses the R S graph at point 2, where x = Q prime, to the left of point 1, and where y = ay sub L C over ay sub L W on the y-axis.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856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falling line P F, beginning at P on the y-axis, ends at point F on the x-axis. A second line, T F, begins above point P on the y-axis at point T, and falls more steeply than P F to point F on the x-axis. The second graph, b, foreign, plots the quantity of wine, Q asterisk, sub W on the y-axis versus quantity of cheese, Q asterisk, sub C on the x-axis. Two falling lines begin at point F asterisk on the y-axis. Line F asterisk P asterisk falls more steeply than line F asterisk T asterisk, with T asterisk to the right of P asterisk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0342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1 half = 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 2</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3905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 of best fit rises from (0, 0) through (120, 120). The Philippines, China, Mexico, and Brazil are clustered below point (20, 20). Korea and Japan are near the mid-point of the line, at approximately (50, 60). The U S is plotted on the line at (100, 100). All values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74479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demand for labor is a descending, stair stepped plot beginning at (0, 10), for apples. The plot decreases with varying steepness between other horizontal portions for types of fruit, at y = 8, bananas; y = 4, caviar; y = 2, dates; and y = 0.75, enchiladas. R S is a vertical line that intersects a sloping section between caviar and dates at y = 3.</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072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forms a pattern closely following a steeply rising line that extends from (0.7, 0.130) through (1, 2) and (6, 5). Most data points are clustered at the intersection of a dashed horizontal line, y = 1, and dashed vertical line, x = 2, and the rising line at point (2,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0259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83</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97071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518943"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125048"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19255CD-6EFD-4E9E-82B1-C1B0817A905E}"/>
              </a:ext>
            </a:extLst>
          </p:cNvPr>
          <p:cNvSpPr>
            <a:spLocks noGrp="1"/>
          </p:cNvSpPr>
          <p:nvPr>
            <p:ph sz="quarter" idx="17"/>
          </p:nvPr>
        </p:nvSpPr>
        <p:spPr>
          <a:xfrm>
            <a:off x="6731152" y="1552575"/>
            <a:ext cx="1463723"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05817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51493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94742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jp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9"/>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5" r:id="rId8"/>
    <p:sldLayoutId id="2147483680" r:id="rId9"/>
    <p:sldLayoutId id="2147483681" r:id="rId10"/>
    <p:sldLayoutId id="2147483671" r:id="rId11"/>
    <p:sldLayoutId id="2147483673" r:id="rId12"/>
    <p:sldLayoutId id="2147483670" r:id="rId13"/>
    <p:sldLayoutId id="2147483669" r:id="rId14"/>
    <p:sldLayoutId id="2147483655" r:id="rId15"/>
    <p:sldLayoutId id="2147483683" r:id="rId16"/>
    <p:sldLayoutId id="214748368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1.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5.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xml"/><Relationship Id="rId7" Type="http://schemas.openxmlformats.org/officeDocument/2006/relationships/image" Target="../media/image11.wmf"/><Relationship Id="rId2" Type="http://schemas.openxmlformats.org/officeDocument/2006/relationships/slideLayout" Target="../slideLayouts/slideLayout17.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3.xml"/><Relationship Id="rId7" Type="http://schemas.openxmlformats.org/officeDocument/2006/relationships/image" Target="../media/image18.wmf"/><Relationship Id="rId2" Type="http://schemas.openxmlformats.org/officeDocument/2006/relationships/slideLayout" Target="../slideLayouts/slideLayout11.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17.wmf"/><Relationship Id="rId4" Type="http://schemas.openxmlformats.org/officeDocument/2006/relationships/oleObject" Target="../embeddings/oleObject15.bin"/><Relationship Id="rId9" Type="http://schemas.openxmlformats.org/officeDocument/2006/relationships/image" Target="../media/image19.wmf"/></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2.wmf"/><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oleObject" Target="../embeddings/oleObject19.bin"/><Relationship Id="rId5" Type="http://schemas.openxmlformats.org/officeDocument/2006/relationships/image" Target="../media/image21.wmf"/><Relationship Id="rId4" Type="http://schemas.openxmlformats.org/officeDocument/2006/relationships/oleObject" Target="../embeddings/oleObject18.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4.wmf"/><Relationship Id="rId2" Type="http://schemas.openxmlformats.org/officeDocument/2006/relationships/slideLayout" Target="../slideLayouts/slideLayout18.xml"/><Relationship Id="rId1" Type="http://schemas.openxmlformats.org/officeDocument/2006/relationships/vmlDrawing" Target="../drawings/vmlDrawing9.vml"/><Relationship Id="rId6" Type="http://schemas.openxmlformats.org/officeDocument/2006/relationships/oleObject" Target="../embeddings/oleObject21.bin"/><Relationship Id="rId5" Type="http://schemas.openxmlformats.org/officeDocument/2006/relationships/image" Target="../media/image23.wmf"/><Relationship Id="rId4"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6.wmf"/><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oleObject" Target="../embeddings/oleObject23.bin"/><Relationship Id="rId5" Type="http://schemas.openxmlformats.org/officeDocument/2006/relationships/image" Target="../media/image25.wmf"/><Relationship Id="rId4"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1.wmf"/><Relationship Id="rId3" Type="http://schemas.openxmlformats.org/officeDocument/2006/relationships/notesSlide" Target="../notesSlides/notesSlide8.xml"/><Relationship Id="rId7" Type="http://schemas.openxmlformats.org/officeDocument/2006/relationships/image" Target="../media/image28.wmf"/><Relationship Id="rId12" Type="http://schemas.openxmlformats.org/officeDocument/2006/relationships/oleObject" Target="../embeddings/oleObject28.bin"/><Relationship Id="rId2" Type="http://schemas.openxmlformats.org/officeDocument/2006/relationships/slideLayout" Target="../slideLayouts/slideLayout17.xml"/><Relationship Id="rId1" Type="http://schemas.openxmlformats.org/officeDocument/2006/relationships/vmlDrawing" Target="../drawings/vmlDrawing11.vml"/><Relationship Id="rId6" Type="http://schemas.openxmlformats.org/officeDocument/2006/relationships/oleObject" Target="../embeddings/oleObject25.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9.wmf"/><Relationship Id="rId14"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7.xml"/><Relationship Id="rId1" Type="http://schemas.openxmlformats.org/officeDocument/2006/relationships/vmlDrawing" Target="../drawings/vmlDrawing12.vml"/><Relationship Id="rId6" Type="http://schemas.openxmlformats.org/officeDocument/2006/relationships/image" Target="../media/image34.wmf"/><Relationship Id="rId5" Type="http://schemas.openxmlformats.org/officeDocument/2006/relationships/oleObject" Target="../embeddings/oleObject31.bin"/><Relationship Id="rId4" Type="http://schemas.openxmlformats.org/officeDocument/2006/relationships/image" Target="../media/image33.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7.xml"/><Relationship Id="rId1" Type="http://schemas.openxmlformats.org/officeDocument/2006/relationships/vmlDrawing" Target="../drawings/vmlDrawing13.vml"/><Relationship Id="rId6" Type="http://schemas.openxmlformats.org/officeDocument/2006/relationships/image" Target="../media/image36.wmf"/><Relationship Id="rId5" Type="http://schemas.openxmlformats.org/officeDocument/2006/relationships/oleObject" Target="../embeddings/oleObject33.bin"/><Relationship Id="rId4" Type="http://schemas.openxmlformats.org/officeDocument/2006/relationships/image" Target="../media/image3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image" Target="../media/image38.wmf"/><Relationship Id="rId5" Type="http://schemas.openxmlformats.org/officeDocument/2006/relationships/oleObject" Target="../embeddings/oleObject35.bin"/><Relationship Id="rId4" Type="http://schemas.openxmlformats.org/officeDocument/2006/relationships/image" Target="../media/image37.wmf"/></Relationships>
</file>

<file path=ppt/slides/_rels/slide27.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43.wmf"/><Relationship Id="rId2" Type="http://schemas.openxmlformats.org/officeDocument/2006/relationships/slideLayout" Target="../slideLayouts/slideLayout18.xml"/><Relationship Id="rId1" Type="http://schemas.openxmlformats.org/officeDocument/2006/relationships/vmlDrawing" Target="../drawings/vmlDrawing15.vml"/><Relationship Id="rId6" Type="http://schemas.openxmlformats.org/officeDocument/2006/relationships/image" Target="../media/image40.wmf"/><Relationship Id="rId11" Type="http://schemas.openxmlformats.org/officeDocument/2006/relationships/oleObject" Target="../embeddings/oleObject40.bin"/><Relationship Id="rId5" Type="http://schemas.openxmlformats.org/officeDocument/2006/relationships/oleObject" Target="../embeddings/oleObject37.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39.bin"/><Relationship Id="rId14" Type="http://schemas.openxmlformats.org/officeDocument/2006/relationships/image" Target="../media/image44.wmf"/></Relationships>
</file>

<file path=ppt/slides/_rels/slide28.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47.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49.wmf"/><Relationship Id="rId2" Type="http://schemas.openxmlformats.org/officeDocument/2006/relationships/slideLayout" Target="../slideLayouts/slideLayout17.xml"/><Relationship Id="rId1" Type="http://schemas.openxmlformats.org/officeDocument/2006/relationships/vmlDrawing" Target="../drawings/vmlDrawing16.vml"/><Relationship Id="rId6" Type="http://schemas.openxmlformats.org/officeDocument/2006/relationships/image" Target="../media/image46.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5.bin"/><Relationship Id="rId14" Type="http://schemas.openxmlformats.org/officeDocument/2006/relationships/image" Target="../media/image50.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0.xml"/><Relationship Id="rId1" Type="http://schemas.openxmlformats.org/officeDocument/2006/relationships/vmlDrawing" Target="../drawings/vmlDrawing17.vml"/><Relationship Id="rId6" Type="http://schemas.openxmlformats.org/officeDocument/2006/relationships/image" Target="../media/image52.wmf"/><Relationship Id="rId5" Type="http://schemas.openxmlformats.org/officeDocument/2006/relationships/oleObject" Target="../embeddings/oleObject49.bin"/><Relationship Id="rId4" Type="http://schemas.openxmlformats.org/officeDocument/2006/relationships/image" Target="../media/image5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8.xml"/><Relationship Id="rId1" Type="http://schemas.openxmlformats.org/officeDocument/2006/relationships/vmlDrawing" Target="../drawings/vmlDrawing18.vml"/><Relationship Id="rId6" Type="http://schemas.openxmlformats.org/officeDocument/2006/relationships/image" Target="../media/image54.wmf"/><Relationship Id="rId5" Type="http://schemas.openxmlformats.org/officeDocument/2006/relationships/oleObject" Target="../embeddings/oleObject51.bin"/><Relationship Id="rId4" Type="http://schemas.openxmlformats.org/officeDocument/2006/relationships/image" Target="../media/image53.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55.emf"/><Relationship Id="rId4" Type="http://schemas.openxmlformats.org/officeDocument/2006/relationships/oleObject" Target="../embeddings/oleObject5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3.xml"/><Relationship Id="rId1" Type="http://schemas.openxmlformats.org/officeDocument/2006/relationships/vmlDrawing" Target="../drawings/vmlDrawing20.vml"/><Relationship Id="rId4" Type="http://schemas.openxmlformats.org/officeDocument/2006/relationships/image" Target="../media/image57.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58.emf"/><Relationship Id="rId4" Type="http://schemas.openxmlformats.org/officeDocument/2006/relationships/oleObject" Target="../embeddings/oleObject54.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image" Target="../media/image59.wmf"/><Relationship Id="rId4" Type="http://schemas.openxmlformats.org/officeDocument/2006/relationships/oleObject" Target="../embeddings/oleObject55.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1.wmf"/><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oleObject" Target="../embeddings/oleObject57.bin"/><Relationship Id="rId5" Type="http://schemas.openxmlformats.org/officeDocument/2006/relationships/image" Target="../media/image60.wmf"/><Relationship Id="rId4" Type="http://schemas.openxmlformats.org/officeDocument/2006/relationships/oleObject" Target="../embeddings/oleObject56.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vmlDrawing" Target="../drawings/vmlDrawing24.vml"/><Relationship Id="rId5" Type="http://schemas.openxmlformats.org/officeDocument/2006/relationships/image" Target="../media/image62.emf"/><Relationship Id="rId4" Type="http://schemas.openxmlformats.org/officeDocument/2006/relationships/oleObject" Target="../embeddings/oleObject58.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63.emf"/><Relationship Id="rId4" Type="http://schemas.openxmlformats.org/officeDocument/2006/relationships/oleObject" Target="../embeddings/oleObject59.bin"/></Relationships>
</file>

<file path=ppt/slides/_rels/slide41.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11.xml"/><Relationship Id="rId1" Type="http://schemas.openxmlformats.org/officeDocument/2006/relationships/vmlDrawing" Target="../drawings/vmlDrawing26.vml"/><Relationship Id="rId6" Type="http://schemas.openxmlformats.org/officeDocument/2006/relationships/image" Target="../media/image65.wmf"/><Relationship Id="rId5" Type="http://schemas.openxmlformats.org/officeDocument/2006/relationships/oleObject" Target="../embeddings/oleObject61.bin"/><Relationship Id="rId4" Type="http://schemas.openxmlformats.org/officeDocument/2006/relationships/image" Target="../media/image64.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68.bin"/><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73.wmf"/><Relationship Id="rId2" Type="http://schemas.openxmlformats.org/officeDocument/2006/relationships/slideLayout" Target="../slideLayouts/slideLayout10.xml"/><Relationship Id="rId1" Type="http://schemas.openxmlformats.org/officeDocument/2006/relationships/vmlDrawing" Target="../drawings/vmlDrawing27.vml"/><Relationship Id="rId6" Type="http://schemas.openxmlformats.org/officeDocument/2006/relationships/image" Target="../media/image70.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66.bin"/><Relationship Id="rId14" Type="http://schemas.openxmlformats.org/officeDocument/2006/relationships/image" Target="../media/image74.w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vmlDrawing" Target="../drawings/vmlDrawing28.vml"/><Relationship Id="rId5" Type="http://schemas.openxmlformats.org/officeDocument/2006/relationships/image" Target="../media/image75.wmf"/><Relationship Id="rId4" Type="http://schemas.openxmlformats.org/officeDocument/2006/relationships/oleObject" Target="../embeddings/oleObject69.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8.xml"/><Relationship Id="rId1" Type="http://schemas.openxmlformats.org/officeDocument/2006/relationships/vmlDrawing" Target="../drawings/vmlDrawing29.vml"/><Relationship Id="rId4" Type="http://schemas.openxmlformats.org/officeDocument/2006/relationships/image" Target="../media/image76.wmf"/></Relationships>
</file>

<file path=ppt/slides/_rels/slide52.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18.xml"/><Relationship Id="rId1" Type="http://schemas.openxmlformats.org/officeDocument/2006/relationships/vmlDrawing" Target="../drawings/vmlDrawing30.vml"/><Relationship Id="rId6" Type="http://schemas.openxmlformats.org/officeDocument/2006/relationships/image" Target="../media/image78.wmf"/><Relationship Id="rId5" Type="http://schemas.openxmlformats.org/officeDocument/2006/relationships/oleObject" Target="../embeddings/oleObject72.bin"/><Relationship Id="rId4" Type="http://schemas.openxmlformats.org/officeDocument/2006/relationships/image" Target="../media/image77.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18.xml"/><Relationship Id="rId1" Type="http://schemas.openxmlformats.org/officeDocument/2006/relationships/vmlDrawing" Target="../drawings/vmlDrawing31.vml"/><Relationship Id="rId6" Type="http://schemas.openxmlformats.org/officeDocument/2006/relationships/image" Target="../media/image81.wmf"/><Relationship Id="rId5" Type="http://schemas.openxmlformats.org/officeDocument/2006/relationships/oleObject" Target="../embeddings/oleObject75.bin"/><Relationship Id="rId4" Type="http://schemas.openxmlformats.org/officeDocument/2006/relationships/image" Target="../media/image80.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18.xml"/><Relationship Id="rId1" Type="http://schemas.openxmlformats.org/officeDocument/2006/relationships/vmlDrawing" Target="../drawings/vmlDrawing32.vml"/><Relationship Id="rId6" Type="http://schemas.openxmlformats.org/officeDocument/2006/relationships/image" Target="../media/image83.wmf"/><Relationship Id="rId5" Type="http://schemas.openxmlformats.org/officeDocument/2006/relationships/oleObject" Target="../embeddings/oleObject77.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79.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18.xml"/><Relationship Id="rId1" Type="http://schemas.openxmlformats.org/officeDocument/2006/relationships/vmlDrawing" Target="../drawings/vmlDrawing33.vml"/><Relationship Id="rId6" Type="http://schemas.openxmlformats.org/officeDocument/2006/relationships/image" Target="../media/image87.wmf"/><Relationship Id="rId5" Type="http://schemas.openxmlformats.org/officeDocument/2006/relationships/oleObject" Target="../embeddings/oleObject81.bin"/><Relationship Id="rId4" Type="http://schemas.openxmlformats.org/officeDocument/2006/relationships/image" Target="../media/image86.wmf"/></Relationships>
</file>

<file path=ppt/slides/_rels/slide57.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18.xml"/><Relationship Id="rId1" Type="http://schemas.openxmlformats.org/officeDocument/2006/relationships/vmlDrawing" Target="../drawings/vmlDrawing34.vml"/><Relationship Id="rId6" Type="http://schemas.openxmlformats.org/officeDocument/2006/relationships/image" Target="../media/image89.wmf"/><Relationship Id="rId5" Type="http://schemas.openxmlformats.org/officeDocument/2006/relationships/oleObject" Target="../embeddings/oleObject83.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85.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92.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8.xml"/><Relationship Id="rId1" Type="http://schemas.openxmlformats.org/officeDocument/2006/relationships/vmlDrawing" Target="../drawings/vmlDrawing36.vml"/><Relationship Id="rId6" Type="http://schemas.openxmlformats.org/officeDocument/2006/relationships/image" Target="../media/image95.wmf"/><Relationship Id="rId5" Type="http://schemas.openxmlformats.org/officeDocument/2006/relationships/oleObject" Target="../embeddings/oleObject88.bin"/><Relationship Id="rId4" Type="http://schemas.openxmlformats.org/officeDocument/2006/relationships/image" Target="../media/image94.wmf"/></Relationships>
</file>

<file path=ppt/slides/_rels/slide66.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18.xml"/><Relationship Id="rId1" Type="http://schemas.openxmlformats.org/officeDocument/2006/relationships/vmlDrawing" Target="../drawings/vmlDrawing37.vml"/><Relationship Id="rId6" Type="http://schemas.openxmlformats.org/officeDocument/2006/relationships/image" Target="../media/image98.wmf"/><Relationship Id="rId5" Type="http://schemas.openxmlformats.org/officeDocument/2006/relationships/oleObject" Target="../embeddings/oleObject91.bin"/><Relationship Id="rId4" Type="http://schemas.openxmlformats.org/officeDocument/2006/relationships/image" Target="../media/image97.wmf"/></Relationships>
</file>

<file path=ppt/slides/_rels/slide67.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oleObject" Target="../embeddings/oleObject93.bin"/><Relationship Id="rId7" Type="http://schemas.openxmlformats.org/officeDocument/2006/relationships/oleObject" Target="../embeddings/oleObject95.bin"/><Relationship Id="rId2" Type="http://schemas.openxmlformats.org/officeDocument/2006/relationships/slideLayout" Target="../slideLayouts/slideLayout18.xml"/><Relationship Id="rId1" Type="http://schemas.openxmlformats.org/officeDocument/2006/relationships/vmlDrawing" Target="../drawings/vmlDrawing38.vml"/><Relationship Id="rId6" Type="http://schemas.openxmlformats.org/officeDocument/2006/relationships/image" Target="../media/image101.wmf"/><Relationship Id="rId5" Type="http://schemas.openxmlformats.org/officeDocument/2006/relationships/oleObject" Target="../embeddings/oleObject94.bin"/><Relationship Id="rId4" Type="http://schemas.openxmlformats.org/officeDocument/2006/relationships/image" Target="../media/image100.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9.xml"/><Relationship Id="rId1" Type="http://schemas.openxmlformats.org/officeDocument/2006/relationships/vmlDrawing" Target="../drawings/vmlDrawing39.vml"/><Relationship Id="rId4" Type="http://schemas.openxmlformats.org/officeDocument/2006/relationships/image" Target="../media/image103.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9.xml"/><Relationship Id="rId1" Type="http://schemas.openxmlformats.org/officeDocument/2006/relationships/vmlDrawing" Target="../drawings/vmlDrawing40.vml"/><Relationship Id="rId4" Type="http://schemas.openxmlformats.org/officeDocument/2006/relationships/image" Target="../media/image104.wmf"/></Relationships>
</file>

<file path=ppt/slides/_rels/slide71.xml.rels><?xml version="1.0" encoding="UTF-8" standalone="yes"?>
<Relationships xmlns="http://schemas.openxmlformats.org/package/2006/relationships"><Relationship Id="rId8" Type="http://schemas.openxmlformats.org/officeDocument/2006/relationships/image" Target="../media/image107.e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10.xml"/><Relationship Id="rId1" Type="http://schemas.openxmlformats.org/officeDocument/2006/relationships/vmlDrawing" Target="../drawings/vmlDrawing41.vml"/><Relationship Id="rId6" Type="http://schemas.openxmlformats.org/officeDocument/2006/relationships/image" Target="../media/image106.emf"/><Relationship Id="rId5" Type="http://schemas.openxmlformats.org/officeDocument/2006/relationships/oleObject" Target="../embeddings/oleObject99.bin"/><Relationship Id="rId4" Type="http://schemas.openxmlformats.org/officeDocument/2006/relationships/image" Target="../media/image105.wmf"/></Relationships>
</file>

<file path=ppt/slides/_rels/slide72.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8.xml"/><Relationship Id="rId1" Type="http://schemas.openxmlformats.org/officeDocument/2006/relationships/vmlDrawing" Target="../drawings/vmlDrawing42.vml"/><Relationship Id="rId4" Type="http://schemas.openxmlformats.org/officeDocument/2006/relationships/image" Target="../media/image109.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3</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786139"/>
          </a:xfrm>
        </p:spPr>
        <p:txBody>
          <a:bodyPr/>
          <a:lstStyle/>
          <a:p>
            <a:pPr algn="ctr"/>
            <a:r>
              <a:rPr lang="en-US" altLang="en-US" dirty="0">
                <a:ea typeface="ヒラギノ角ゴ Pro W3" pitchFamily="-84" charset="-128"/>
              </a:rPr>
              <a:t>Labor Productivity and Comparative Advantage: The Ricardian Model</a:t>
            </a:r>
            <a:endParaRPr lang="en-US" dirty="0">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a:t>
            </a:r>
            <a:endParaRPr lang="en-US" dirty="0"/>
          </a:p>
        </p:txBody>
      </p:sp>
      <p:sp>
        <p:nvSpPr>
          <p:cNvPr id="4" name="Content Placeholder 3"/>
          <p:cNvSpPr>
            <a:spLocks noGrp="1"/>
          </p:cNvSpPr>
          <p:nvPr>
            <p:ph sz="quarter" idx="13"/>
          </p:nvPr>
        </p:nvSpPr>
        <p:spPr/>
        <p:txBody>
          <a:bodyPr/>
          <a:lstStyle/>
          <a:p>
            <a:pPr marL="0" indent="0">
              <a:buNone/>
              <a:defRPr/>
            </a:pPr>
            <a:r>
              <a:rPr lang="en-US" sz="2400" b="1" dirty="0">
                <a:solidFill>
                  <a:srgbClr val="007FA3"/>
                </a:solidFill>
              </a:rPr>
              <a:t>3.1</a:t>
            </a:r>
            <a:r>
              <a:rPr lang="en-US" sz="2400" b="1" dirty="0">
                <a:solidFill>
                  <a:schemeClr val="bg2"/>
                </a:solidFill>
              </a:rPr>
              <a:t> </a:t>
            </a:r>
            <a:r>
              <a:rPr lang="en-US" sz="2400" dirty="0"/>
              <a:t>Explain how the </a:t>
            </a:r>
            <a:r>
              <a:rPr lang="en-US" sz="2400" b="1" dirty="0"/>
              <a:t>Ricardian model</a:t>
            </a:r>
            <a:r>
              <a:rPr lang="en-US" sz="2400" dirty="0"/>
              <a:t>, the most basic model of international trade, works and how it illustrates the principle of </a:t>
            </a:r>
            <a:r>
              <a:rPr lang="en-US" sz="2400" b="1" dirty="0"/>
              <a:t>comparative advantage</a:t>
            </a:r>
            <a:r>
              <a:rPr lang="en-US" sz="2400" dirty="0"/>
              <a:t>.</a:t>
            </a:r>
          </a:p>
          <a:p>
            <a:pPr marL="0" indent="0">
              <a:buNone/>
              <a:defRPr/>
            </a:pPr>
            <a:r>
              <a:rPr lang="en-US" sz="2400" b="1" dirty="0">
                <a:solidFill>
                  <a:srgbClr val="007FA3"/>
                </a:solidFill>
              </a:rPr>
              <a:t>3.2</a:t>
            </a:r>
            <a:r>
              <a:rPr lang="en-US" sz="2400" b="1" dirty="0">
                <a:solidFill>
                  <a:schemeClr val="bg2"/>
                </a:solidFill>
              </a:rPr>
              <a:t> </a:t>
            </a:r>
            <a:r>
              <a:rPr lang="en-US" sz="2400" dirty="0"/>
              <a:t>Demonstrate </a:t>
            </a:r>
            <a:r>
              <a:rPr lang="en-US" sz="2400" b="1" dirty="0"/>
              <a:t>gains from trade</a:t>
            </a:r>
            <a:r>
              <a:rPr lang="en-US" sz="2400" i="1" dirty="0"/>
              <a:t> </a:t>
            </a:r>
            <a:r>
              <a:rPr lang="en-US" sz="2400" dirty="0"/>
              <a:t>and refute common fallacies about international trade.</a:t>
            </a:r>
          </a:p>
          <a:p>
            <a:pPr marL="0" indent="0">
              <a:buNone/>
              <a:defRPr/>
            </a:pPr>
            <a:r>
              <a:rPr lang="en-US" sz="2400" b="1" dirty="0">
                <a:solidFill>
                  <a:srgbClr val="007FA3"/>
                </a:solidFill>
              </a:rPr>
              <a:t>3.3</a:t>
            </a:r>
            <a:r>
              <a:rPr lang="en-US" sz="2400" b="1" dirty="0">
                <a:solidFill>
                  <a:schemeClr val="bg2"/>
                </a:solidFill>
              </a:rPr>
              <a:t> </a:t>
            </a:r>
            <a:r>
              <a:rPr lang="en-US" sz="2400" dirty="0"/>
              <a:t>Describe the empirical evidence that wages reflect productivity and that trade patterns reflect relative productivity.</a:t>
            </a:r>
            <a:endParaRPr lang="en-US" sz="2400" b="1" dirty="0">
              <a:solidFill>
                <a:schemeClr val="bg2"/>
              </a:solidFill>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F319-7DB7-4FF3-8C1F-BA5422A3B657}"/>
              </a:ext>
            </a:extLst>
          </p:cNvPr>
          <p:cNvSpPr>
            <a:spLocks noGrp="1"/>
          </p:cNvSpPr>
          <p:nvPr>
            <p:ph type="title"/>
          </p:nvPr>
        </p:nvSpPr>
        <p:spPr/>
        <p:txBody>
          <a:bodyPr/>
          <a:lstStyle/>
          <a:p>
            <a:r>
              <a:rPr lang="en-US" sz="3600" dirty="0"/>
              <a:t>Preview</a:t>
            </a:r>
            <a:endParaRPr lang="en-IN" dirty="0"/>
          </a:p>
        </p:txBody>
      </p:sp>
      <p:sp>
        <p:nvSpPr>
          <p:cNvPr id="3" name="Content Placeholder 2">
            <a:extLst>
              <a:ext uri="{FF2B5EF4-FFF2-40B4-BE49-F238E27FC236}">
                <a16:creationId xmlns:a16="http://schemas.microsoft.com/office/drawing/2014/main" id="{CAB359CB-F39B-498A-AAF0-D67011B0EADA}"/>
              </a:ext>
            </a:extLst>
          </p:cNvPr>
          <p:cNvSpPr>
            <a:spLocks noGrp="1"/>
          </p:cNvSpPr>
          <p:nvPr>
            <p:ph sz="quarter" idx="13"/>
          </p:nvPr>
        </p:nvSpPr>
        <p:spPr/>
        <p:txBody>
          <a:bodyPr/>
          <a:lstStyle/>
          <a:p>
            <a:r>
              <a:rPr lang="en-US" altLang="en-US" sz="2200" dirty="0">
                <a:ea typeface="ヒラギノ角ゴ Pro W3" pitchFamily="-84" charset="-128"/>
              </a:rPr>
              <a:t>Opportunity costs and comparative advantage</a:t>
            </a:r>
          </a:p>
          <a:p>
            <a:r>
              <a:rPr lang="en-US" altLang="en-US" sz="2200" dirty="0">
                <a:ea typeface="ヒラギノ角ゴ Pro W3" pitchFamily="-84" charset="-128"/>
              </a:rPr>
              <a:t>A one-factor economy, the Ricardian model</a:t>
            </a:r>
          </a:p>
          <a:p>
            <a:r>
              <a:rPr lang="en-US" altLang="en-US" sz="2200" dirty="0">
                <a:ea typeface="ヒラギノ角ゴ Pro W3" pitchFamily="-84" charset="-128"/>
              </a:rPr>
              <a:t>Production possibilities</a:t>
            </a:r>
          </a:p>
          <a:p>
            <a:r>
              <a:rPr lang="en-US" sz="2200" dirty="0"/>
              <a:t>How world relative demand and supply determine the relative price after trade</a:t>
            </a:r>
            <a:endParaRPr lang="en-US" altLang="en-US" sz="2200" dirty="0">
              <a:ea typeface="ヒラギノ角ゴ Pro W3" pitchFamily="-84" charset="-128"/>
            </a:endParaRPr>
          </a:p>
          <a:p>
            <a:r>
              <a:rPr lang="en-US" altLang="en-US" sz="2200" dirty="0">
                <a:ea typeface="ヒラギノ角ゴ Pro W3" pitchFamily="-84" charset="-128"/>
              </a:rPr>
              <a:t>Gains from trade; relative wages and trade</a:t>
            </a:r>
          </a:p>
          <a:p>
            <a:r>
              <a:rPr lang="en-US" altLang="en-US" sz="2200" dirty="0">
                <a:ea typeface="ヒラギノ角ゴ Pro W3" pitchFamily="-84" charset="-128"/>
              </a:rPr>
              <a:t>Misconceptions about comparative advantage</a:t>
            </a:r>
          </a:p>
          <a:p>
            <a:r>
              <a:rPr lang="en-US" altLang="en-US" sz="2200" dirty="0">
                <a:ea typeface="ヒラギノ角ゴ Pro W3" pitchFamily="-84" charset="-128"/>
              </a:rPr>
              <a:t>Transportation costs and nontraded goods</a:t>
            </a:r>
          </a:p>
          <a:p>
            <a:r>
              <a:rPr lang="en-US" altLang="en-US" sz="2200" dirty="0">
                <a:ea typeface="ヒラギノ角ゴ Pro W3" pitchFamily="-84" charset="-128"/>
              </a:rPr>
              <a:t>Empirical evidence</a:t>
            </a:r>
          </a:p>
        </p:txBody>
      </p:sp>
    </p:spTree>
    <p:extLst>
      <p:ext uri="{BB962C8B-B14F-4D97-AF65-F5344CB8AC3E}">
        <p14:creationId xmlns:p14="http://schemas.microsoft.com/office/powerpoint/2010/main" val="3721532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B1BD-97AB-4D88-A458-B6DBE4F9971E}"/>
              </a:ext>
            </a:extLst>
          </p:cNvPr>
          <p:cNvSpPr>
            <a:spLocks noGrp="1"/>
          </p:cNvSpPr>
          <p:nvPr>
            <p:ph type="title"/>
          </p:nvPr>
        </p:nvSpPr>
        <p:spPr/>
        <p:txBody>
          <a:bodyPr/>
          <a:lstStyle/>
          <a:p>
            <a:r>
              <a:rPr lang="en-US" altLang="en-US" sz="3600" dirty="0">
                <a:ea typeface="ヒラギノ角ゴ Pro W3" pitchFamily="-84" charset="-128"/>
              </a:rPr>
              <a:t>Introduction</a:t>
            </a:r>
            <a:endParaRPr lang="en-IN" dirty="0"/>
          </a:p>
        </p:txBody>
      </p:sp>
      <p:sp>
        <p:nvSpPr>
          <p:cNvPr id="3" name="Content Placeholder 2">
            <a:extLst>
              <a:ext uri="{FF2B5EF4-FFF2-40B4-BE49-F238E27FC236}">
                <a16:creationId xmlns:a16="http://schemas.microsoft.com/office/drawing/2014/main" id="{A7C3D1E5-2962-42A2-8108-754BAD04EC10}"/>
              </a:ext>
            </a:extLst>
          </p:cNvPr>
          <p:cNvSpPr>
            <a:spLocks noGrp="1"/>
          </p:cNvSpPr>
          <p:nvPr>
            <p:ph sz="quarter" idx="13"/>
          </p:nvPr>
        </p:nvSpPr>
        <p:spPr/>
        <p:txBody>
          <a:bodyPr/>
          <a:lstStyle/>
          <a:p>
            <a:r>
              <a:rPr lang="en-US" altLang="en-US" sz="2200" dirty="0">
                <a:ea typeface="ヒラギノ角ゴ Pro W3" pitchFamily="-84" charset="-128"/>
              </a:rPr>
              <a:t>Differences across countries are a key reason why trade occurs:</a:t>
            </a:r>
          </a:p>
          <a:p>
            <a:pPr lvl="1"/>
            <a:r>
              <a:rPr lang="en-US" altLang="en-US" sz="2200" dirty="0">
                <a:ea typeface="ヒラギノ角ゴ Pro W3" pitchFamily="-84" charset="-128"/>
              </a:rPr>
              <a:t>The Ricardian model (Econ/Trade Chapter 3) examines differences in the</a:t>
            </a:r>
            <a:r>
              <a:rPr lang="en-US" altLang="en-US" sz="2200" i="1" dirty="0">
                <a:ea typeface="ヒラギノ角ゴ Pro W3" pitchFamily="-84" charset="-128"/>
              </a:rPr>
              <a:t> </a:t>
            </a:r>
            <a:r>
              <a:rPr lang="en-US" altLang="en-US" sz="2200" b="1" dirty="0">
                <a:ea typeface="ヒラギノ角ゴ Pro W3" pitchFamily="-84" charset="-128"/>
              </a:rPr>
              <a:t>productivity of labor</a:t>
            </a:r>
            <a:r>
              <a:rPr lang="en-US" altLang="en-US" sz="2200" i="1" dirty="0">
                <a:ea typeface="ヒラギノ角ゴ Pro W3" pitchFamily="-84" charset="-128"/>
              </a:rPr>
              <a:t> </a:t>
            </a:r>
            <a:r>
              <a:rPr lang="en-US" altLang="en-US" sz="2200" dirty="0">
                <a:ea typeface="ヒラギノ角ゴ Pro W3" pitchFamily="-84" charset="-128"/>
              </a:rPr>
              <a:t>(due to differences in </a:t>
            </a:r>
            <a:r>
              <a:rPr lang="en-US" altLang="en-US" sz="2200" b="1" dirty="0">
                <a:ea typeface="ヒラギノ角ゴ Pro W3" pitchFamily="-84" charset="-128"/>
              </a:rPr>
              <a:t>technology</a:t>
            </a:r>
            <a:r>
              <a:rPr lang="en-US" altLang="en-US" sz="2200" dirty="0">
                <a:ea typeface="ヒラギノ角ゴ Pro W3" pitchFamily="-84" charset="-128"/>
              </a:rPr>
              <a:t>)</a:t>
            </a:r>
            <a:r>
              <a:rPr lang="en-US" altLang="en-US" sz="2200" i="1" dirty="0">
                <a:ea typeface="ヒラギノ角ゴ Pro W3" pitchFamily="-84" charset="-128"/>
              </a:rPr>
              <a:t> </a:t>
            </a:r>
            <a:r>
              <a:rPr lang="en-US" altLang="en-US" sz="2200" dirty="0">
                <a:ea typeface="ヒラギノ角ゴ Pro W3" pitchFamily="-84" charset="-128"/>
              </a:rPr>
              <a:t>between countries.</a:t>
            </a:r>
          </a:p>
          <a:p>
            <a:pPr lvl="1"/>
            <a:r>
              <a:rPr lang="en-US" altLang="en-US" sz="2200" dirty="0">
                <a:ea typeface="ヒラギノ角ゴ Pro W3" pitchFamily="-84" charset="-128"/>
              </a:rPr>
              <a:t>The Specific Factors model (Econ/Trade Chapter 4) and the Heckscher-Ohlin model (Econ/Trade Chapter 5) examine differences in </a:t>
            </a:r>
            <a:r>
              <a:rPr lang="en-US" altLang="en-US" sz="2200" b="1" dirty="0">
                <a:ea typeface="ヒラギノ角ゴ Pro W3" pitchFamily="-84" charset="-128"/>
              </a:rPr>
              <a:t>labor, labor skills, physical capital, land, or other factors of production</a:t>
            </a:r>
            <a:r>
              <a:rPr lang="en-US" altLang="en-US" sz="2200" dirty="0">
                <a:ea typeface="ヒラギノ角ゴ Pro W3" pitchFamily="-84" charset="-128"/>
              </a:rPr>
              <a:t> between countries.</a:t>
            </a:r>
          </a:p>
          <a:p>
            <a:pPr>
              <a:spcBef>
                <a:spcPts val="1200"/>
              </a:spcBef>
            </a:pPr>
            <a:r>
              <a:rPr lang="en-US" altLang="en-US" sz="2200" dirty="0">
                <a:ea typeface="ヒラギノ角ゴ Pro W3" pitchFamily="-84" charset="-128"/>
              </a:rPr>
              <a:t>Trade may also arise due to economies of scale (larger</a:t>
            </a:r>
            <a:r>
              <a:rPr lang="en-US" altLang="en-US" sz="2200" dirty="0">
                <a:solidFill>
                  <a:srgbClr val="FF0000"/>
                </a:solidFill>
                <a:ea typeface="ヒラギノ角ゴ Pro W3" pitchFamily="-84" charset="-128"/>
              </a:rPr>
              <a:t> </a:t>
            </a:r>
            <a:r>
              <a:rPr lang="en-US" altLang="en-US" sz="2200" dirty="0">
                <a:ea typeface="ヒラギノ角ゴ Pro W3" pitchFamily="-84" charset="-128"/>
              </a:rPr>
              <a:t>scale of production is more efficient).</a:t>
            </a:r>
          </a:p>
        </p:txBody>
      </p:sp>
    </p:spTree>
    <p:extLst>
      <p:ext uri="{BB962C8B-B14F-4D97-AF65-F5344CB8AC3E}">
        <p14:creationId xmlns:p14="http://schemas.microsoft.com/office/powerpoint/2010/main" val="1902285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(1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The opportunity cost of producing something</a:t>
            </a:r>
            <a:r>
              <a:rPr lang="en-US" altLang="en-US" sz="2400" i="1" dirty="0">
                <a:ea typeface="ヒラギノ角ゴ Pro W3" pitchFamily="-84" charset="-128"/>
              </a:rPr>
              <a:t> </a:t>
            </a:r>
            <a:r>
              <a:rPr lang="en-US" altLang="en-US" sz="2400" dirty="0">
                <a:ea typeface="ヒラギノ角ゴ Pro W3" pitchFamily="-84" charset="-128"/>
              </a:rPr>
              <a:t>measures the cost of not being able to produce something else with the resources used.</a:t>
            </a:r>
          </a:p>
          <a:p>
            <a:pPr>
              <a:spcBef>
                <a:spcPct val="50000"/>
              </a:spcBef>
            </a:pPr>
            <a:r>
              <a:rPr lang="en-US" altLang="en-US" sz="2400" dirty="0">
                <a:ea typeface="ヒラギノ角ゴ Pro W3" pitchFamily="-84" charset="-128"/>
              </a:rPr>
              <a:t>Comparative advantage will be determined by comparing opportunity costs across countries.</a:t>
            </a:r>
          </a:p>
        </p:txBody>
      </p:sp>
    </p:spTree>
    <p:extLst>
      <p:ext uri="{BB962C8B-B14F-4D97-AF65-F5344CB8AC3E}">
        <p14:creationId xmlns:p14="http://schemas.microsoft.com/office/powerpoint/2010/main" val="1781458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(2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simple example with roses and computers explains the intuition behind the concepts of opportunity cost and comparative advantage in the Ricardian model.</a:t>
            </a:r>
          </a:p>
          <a:p>
            <a:pPr>
              <a:spcBef>
                <a:spcPct val="50000"/>
              </a:spcBef>
            </a:pPr>
            <a:r>
              <a:rPr lang="en-US" altLang="en-US" sz="2400" dirty="0">
                <a:ea typeface="ヒラギノ角ゴ Pro W3" pitchFamily="-84" charset="-128"/>
              </a:rPr>
              <a:t>For example, suppose a limited number of workers could produce either roses or computers.</a:t>
            </a:r>
          </a:p>
          <a:p>
            <a:pPr lvl="1"/>
            <a:r>
              <a:rPr lang="en-US" altLang="en-US" sz="2400" dirty="0">
                <a:ea typeface="ヒラギノ角ゴ Pro W3" pitchFamily="-84" charset="-128"/>
              </a:rPr>
              <a:t>The opportunity cost of producing computers is the amount of roses not produced.</a:t>
            </a:r>
          </a:p>
          <a:p>
            <a:pPr lvl="1"/>
            <a:r>
              <a:rPr lang="en-US" altLang="en-US" sz="2400" dirty="0">
                <a:ea typeface="ヒラギノ角ゴ Pro W3" pitchFamily="-84" charset="-128"/>
              </a:rPr>
              <a:t>The opportunity cost of producing roses is the amount of computers not produced.</a:t>
            </a:r>
          </a:p>
        </p:txBody>
      </p:sp>
    </p:spTree>
    <p:extLst>
      <p:ext uri="{BB962C8B-B14F-4D97-AF65-F5344CB8AC3E}">
        <p14:creationId xmlns:p14="http://schemas.microsoft.com/office/powerpoint/2010/main" val="419030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(3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Suppose that in the United States, 10 million roses could be produced with the same resources as 100,000 computers.</a:t>
            </a:r>
          </a:p>
          <a:p>
            <a:pPr>
              <a:spcBef>
                <a:spcPct val="50000"/>
              </a:spcBef>
            </a:pPr>
            <a:r>
              <a:rPr lang="en-US" altLang="en-US" sz="2400" dirty="0">
                <a:ea typeface="ヒラギノ角ゴ Pro W3" pitchFamily="-84" charset="-128"/>
              </a:rPr>
              <a:t>Suppose that in Colombia, 10 million roses could be produced with the same resources as 30,000 computers.</a:t>
            </a:r>
          </a:p>
          <a:p>
            <a:pPr>
              <a:spcBef>
                <a:spcPct val="50000"/>
              </a:spcBef>
            </a:pPr>
            <a:r>
              <a:rPr lang="en-US" altLang="en-US" sz="2400" dirty="0">
                <a:ea typeface="ヒラギノ角ゴ Pro W3" pitchFamily="-84" charset="-128"/>
              </a:rPr>
              <a:t>Colombia has a lower opportunity cost of producing roses: has to stop producing fewer computers in order to free up resources to make a rose.</a:t>
            </a:r>
          </a:p>
        </p:txBody>
      </p:sp>
    </p:spTree>
    <p:extLst>
      <p:ext uri="{BB962C8B-B14F-4D97-AF65-F5344CB8AC3E}">
        <p14:creationId xmlns:p14="http://schemas.microsoft.com/office/powerpoint/2010/main" val="2426227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(4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country has a </a:t>
            </a:r>
            <a:r>
              <a:rPr lang="en-US" altLang="en-US" sz="2400" b="1" dirty="0">
                <a:ea typeface="ヒラギノ角ゴ Pro W3" pitchFamily="-84" charset="-128"/>
              </a:rPr>
              <a:t>comparative advantage</a:t>
            </a:r>
            <a:r>
              <a:rPr lang="en-US" altLang="en-US" sz="2400" dirty="0">
                <a:ea typeface="ヒラギノ角ゴ Pro W3" pitchFamily="-84" charset="-128"/>
              </a:rPr>
              <a:t> in producing a good if the opportunity cost of producing that good is lower in the country than in other countries.</a:t>
            </a:r>
          </a:p>
          <a:p>
            <a:pPr lvl="1"/>
            <a:r>
              <a:rPr lang="en-US" altLang="en-US" sz="2400" dirty="0">
                <a:ea typeface="ヒラギノ角ゴ Pro W3" pitchFamily="-84" charset="-128"/>
              </a:rPr>
              <a:t>The United States has a comparative advantage in computer production.</a:t>
            </a:r>
          </a:p>
          <a:p>
            <a:pPr lvl="1"/>
            <a:r>
              <a:rPr lang="en-US" altLang="en-US" sz="2400" dirty="0">
                <a:ea typeface="ヒラギノ角ゴ Pro W3" pitchFamily="-84" charset="-128"/>
              </a:rPr>
              <a:t>Colombia has a comparative advantage in rose production.</a:t>
            </a:r>
          </a:p>
        </p:txBody>
      </p:sp>
    </p:spTree>
    <p:extLst>
      <p:ext uri="{BB962C8B-B14F-4D97-AF65-F5344CB8AC3E}">
        <p14:creationId xmlns:p14="http://schemas.microsoft.com/office/powerpoint/2010/main" val="1276398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(5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57199" y="1556327"/>
            <a:ext cx="8425543" cy="2179332"/>
          </a:xfrm>
        </p:spPr>
        <p:txBody>
          <a:bodyPr/>
          <a:lstStyle/>
          <a:p>
            <a:r>
              <a:rPr lang="en-US" altLang="en-US" sz="2400" dirty="0">
                <a:ea typeface="ヒラギノ角ゴ Pro W3" pitchFamily="-84" charset="-128"/>
              </a:rPr>
              <a:t>Suppose initially that Colombia produces computers and the United States produces roses, and that both countries want to consume computers and roses.</a:t>
            </a:r>
          </a:p>
          <a:p>
            <a:r>
              <a:rPr lang="en-US" altLang="en-US" sz="2400" dirty="0">
                <a:ea typeface="ヒラギノ角ゴ Pro W3" pitchFamily="-84" charset="-128"/>
              </a:rPr>
              <a:t>Can both countries be made better off?</a:t>
            </a:r>
          </a:p>
        </p:txBody>
      </p:sp>
    </p:spTree>
    <p:extLst>
      <p:ext uri="{BB962C8B-B14F-4D97-AF65-F5344CB8AC3E}">
        <p14:creationId xmlns:p14="http://schemas.microsoft.com/office/powerpoint/2010/main" val="475459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D5EE-9519-47D5-A322-89E2BF1DE5A4}"/>
              </a:ext>
            </a:extLst>
          </p:cNvPr>
          <p:cNvSpPr>
            <a:spLocks noGrp="1"/>
          </p:cNvSpPr>
          <p:nvPr>
            <p:ph type="title"/>
          </p:nvPr>
        </p:nvSpPr>
        <p:spPr/>
        <p:txBody>
          <a:bodyPr/>
          <a:lstStyle/>
          <a:p>
            <a:r>
              <a:rPr lang="en-US" altLang="en-US" sz="3200" dirty="0">
                <a:ea typeface="ヒラギノ角ゴ Pro W3" pitchFamily="-84" charset="-128"/>
              </a:rPr>
              <a:t>Table 3.1 Hypothetical Changes in Production</a:t>
            </a:r>
            <a:endParaRPr lang="en-IN" sz="3200" dirty="0"/>
          </a:p>
        </p:txBody>
      </p:sp>
      <p:graphicFrame>
        <p:nvGraphicFramePr>
          <p:cNvPr id="4" name="Table 4">
            <a:extLst>
              <a:ext uri="{FF2B5EF4-FFF2-40B4-BE49-F238E27FC236}">
                <a16:creationId xmlns:a16="http://schemas.microsoft.com/office/drawing/2014/main" id="{B4FB68AE-A169-45B4-9D9C-04100A9A848A}"/>
              </a:ext>
            </a:extLst>
          </p:cNvPr>
          <p:cNvGraphicFramePr>
            <a:graphicFrameLocks noGrp="1"/>
          </p:cNvGraphicFramePr>
          <p:nvPr>
            <p:ph sz="quarter" idx="13"/>
            <p:extLst>
              <p:ext uri="{D42A27DB-BD31-4B8C-83A1-F6EECF244321}">
                <p14:modId xmlns:p14="http://schemas.microsoft.com/office/powerpoint/2010/main" val="1721763141"/>
              </p:ext>
            </p:extLst>
          </p:nvPr>
        </p:nvGraphicFramePr>
        <p:xfrm>
          <a:off x="576263" y="1714546"/>
          <a:ext cx="8229600" cy="1538837"/>
        </p:xfrm>
        <a:graphic>
          <a:graphicData uri="http://schemas.openxmlformats.org/drawingml/2006/table">
            <a:tbl>
              <a:tblPr firstRow="1" firstCol="1" bandRow="1">
                <a:tableStyleId>{2D5ABB26-0587-4C30-8999-92F81FD0307C}</a:tableStyleId>
              </a:tblPr>
              <a:tblGrid>
                <a:gridCol w="2743200">
                  <a:extLst>
                    <a:ext uri="{9D8B030D-6E8A-4147-A177-3AD203B41FA5}">
                      <a16:colId xmlns:a16="http://schemas.microsoft.com/office/drawing/2014/main" val="1790513011"/>
                    </a:ext>
                  </a:extLst>
                </a:gridCol>
                <a:gridCol w="2743200">
                  <a:extLst>
                    <a:ext uri="{9D8B030D-6E8A-4147-A177-3AD203B41FA5}">
                      <a16:colId xmlns:a16="http://schemas.microsoft.com/office/drawing/2014/main" val="74828762"/>
                    </a:ext>
                  </a:extLst>
                </a:gridCol>
                <a:gridCol w="2743200">
                  <a:extLst>
                    <a:ext uri="{9D8B030D-6E8A-4147-A177-3AD203B41FA5}">
                      <a16:colId xmlns:a16="http://schemas.microsoft.com/office/drawing/2014/main" val="1114762537"/>
                    </a:ext>
                  </a:extLst>
                </a:gridCol>
              </a:tblGrid>
              <a:tr h="370840">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t>Million Roses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Thousand Computers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8391796"/>
                  </a:ext>
                </a:extLst>
              </a:tr>
              <a:tr h="426317">
                <a:tc>
                  <a:txBody>
                    <a:bodyPr/>
                    <a:lstStyle/>
                    <a:p>
                      <a:r>
                        <a:rPr lang="en-US" sz="1600" noProof="0" dirty="0"/>
                        <a:t>United States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5270937"/>
                  </a:ext>
                </a:extLst>
              </a:tr>
              <a:tr h="370840">
                <a:tc>
                  <a:txBody>
                    <a:bodyPr/>
                    <a:lstStyle/>
                    <a:p>
                      <a:r>
                        <a:rPr lang="en-US" sz="1600" noProof="0" dirty="0"/>
                        <a:t>Columbia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8069977"/>
                  </a:ext>
                </a:extLst>
              </a:tr>
              <a:tr h="370840">
                <a:tc>
                  <a:txBody>
                    <a:bodyPr/>
                    <a:lstStyle/>
                    <a:p>
                      <a:r>
                        <a:rPr lang="en-US" sz="1600" b="1" noProof="0" dirty="0"/>
                        <a:t>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248659"/>
                  </a:ext>
                </a:extLst>
              </a:tr>
            </a:tbl>
          </a:graphicData>
        </a:graphic>
      </p:graphicFrame>
      <p:graphicFrame>
        <p:nvGraphicFramePr>
          <p:cNvPr id="5" name="Object 4">
            <a:extLst>
              <a:ext uri="{FF2B5EF4-FFF2-40B4-BE49-F238E27FC236}">
                <a16:creationId xmlns:a16="http://schemas.microsoft.com/office/drawing/2014/main" id="{F21B6E9D-7314-487F-80B7-3E2DF7FA3CAE}"/>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561722969"/>
              </p:ext>
            </p:extLst>
          </p:nvPr>
        </p:nvGraphicFramePr>
        <p:xfrm>
          <a:off x="4489451" y="2132920"/>
          <a:ext cx="404812" cy="236538"/>
        </p:xfrm>
        <a:graphic>
          <a:graphicData uri="http://schemas.openxmlformats.org/presentationml/2006/ole">
            <mc:AlternateContent xmlns:mc="http://schemas.openxmlformats.org/markup-compatibility/2006">
              <mc:Choice xmlns:v="urn:schemas-microsoft-com:vml" Requires="v">
                <p:oleObj spid="_x0000_s1042" name="Equation" r:id="rId3" imgW="304560" imgH="177480" progId="Equation.DSMT4">
                  <p:embed/>
                </p:oleObj>
              </mc:Choice>
              <mc:Fallback>
                <p:oleObj name="Equation" r:id="rId3" imgW="304560" imgH="177480" progId="Equation.DSMT4">
                  <p:embed/>
                  <p:pic>
                    <p:nvPicPr>
                      <p:cNvPr id="0" name=""/>
                      <p:cNvPicPr/>
                      <p:nvPr/>
                    </p:nvPicPr>
                    <p:blipFill>
                      <a:blip r:embed="rId4"/>
                      <a:stretch>
                        <a:fillRect/>
                      </a:stretch>
                    </p:blipFill>
                    <p:spPr>
                      <a:xfrm>
                        <a:off x="4489451" y="2132920"/>
                        <a:ext cx="404812" cy="236538"/>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64DCC796-1D1D-4937-B257-10A38A602205}"/>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165278422"/>
              </p:ext>
            </p:extLst>
          </p:nvPr>
        </p:nvGraphicFramePr>
        <p:xfrm>
          <a:off x="7243763" y="2551159"/>
          <a:ext cx="404813" cy="236537"/>
        </p:xfrm>
        <a:graphic>
          <a:graphicData uri="http://schemas.openxmlformats.org/presentationml/2006/ole">
            <mc:AlternateContent xmlns:mc="http://schemas.openxmlformats.org/markup-compatibility/2006">
              <mc:Choice xmlns:v="urn:schemas-microsoft-com:vml" Requires="v">
                <p:oleObj spid="_x0000_s1043" name="Equation" r:id="rId5" imgW="304560" imgH="177480" progId="Equation.DSMT4">
                  <p:embed/>
                </p:oleObj>
              </mc:Choice>
              <mc:Fallback>
                <p:oleObj name="Equation" r:id="rId5" imgW="304560" imgH="177480" progId="Equation.DSMT4">
                  <p:embed/>
                  <p:pic>
                    <p:nvPicPr>
                      <p:cNvPr id="0" name=""/>
                      <p:cNvPicPr/>
                      <p:nvPr/>
                    </p:nvPicPr>
                    <p:blipFill>
                      <a:blip r:embed="rId6"/>
                      <a:stretch>
                        <a:fillRect/>
                      </a:stretch>
                    </p:blipFill>
                    <p:spPr>
                      <a:xfrm>
                        <a:off x="7243763" y="2551159"/>
                        <a:ext cx="404813" cy="23653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558415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ea typeface="ヒラギノ角ゴ Pro W3" pitchFamily="-84" charset="-128"/>
              </a:rPr>
              <a:t>The Concept of Comparative Advantage </a:t>
            </a:r>
            <a:r>
              <a:rPr lang="en-US" altLang="en-US" sz="2000" b="0" dirty="0">
                <a:ea typeface="ヒラギノ角ゴ Pro W3" pitchFamily="-84" charset="-128"/>
              </a:rPr>
              <a:t>(6 of 6)</a:t>
            </a:r>
            <a:endParaRPr lang="en-IN" dirty="0"/>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66603" y="1552575"/>
            <a:ext cx="8119836" cy="3058614"/>
          </a:xfrm>
        </p:spPr>
        <p:txBody>
          <a:bodyPr/>
          <a:lstStyle/>
          <a:p>
            <a:pPr>
              <a:spcBef>
                <a:spcPct val="50000"/>
              </a:spcBef>
            </a:pPr>
            <a:r>
              <a:rPr lang="en-US" altLang="en-US" sz="2000" dirty="0">
                <a:ea typeface="ヒラギノ角ゴ Pro W3" pitchFamily="-84" charset="-128"/>
              </a:rPr>
              <a:t>When countries specialize in production in which they have a comparative advantage, more goods and services can be produced and consumed.</a:t>
            </a:r>
          </a:p>
          <a:p>
            <a:pPr lvl="1"/>
            <a:r>
              <a:rPr lang="en-US" altLang="en-US" sz="2000" dirty="0">
                <a:ea typeface="ヒラギノ角ゴ Pro W3" pitchFamily="-84" charset="-128"/>
              </a:rPr>
              <a:t>Have the United States stop growing roses and use those resources to make 100,000 computers instead. Have Colombia stop making 30,000 computers and grow roses instead.</a:t>
            </a:r>
          </a:p>
          <a:p>
            <a:pPr lvl="1"/>
            <a:r>
              <a:rPr lang="en-US" altLang="en-US" sz="2000" dirty="0">
                <a:ea typeface="ヒラギノ角ゴ Pro W3" pitchFamily="-84" charset="-128"/>
              </a:rPr>
              <a:t>If produce goods in which have a comparative advantage (the United States produces computers and Colombia produces roses), they could still consume the same 10 million roses, but</a:t>
            </a:r>
          </a:p>
        </p:txBody>
      </p:sp>
      <p:sp>
        <p:nvSpPr>
          <p:cNvPr id="6" name="Content Placeholder 5">
            <a:extLst>
              <a:ext uri="{FF2B5EF4-FFF2-40B4-BE49-F238E27FC236}">
                <a16:creationId xmlns:a16="http://schemas.microsoft.com/office/drawing/2014/main" id="{08CC9D79-28BC-433C-9D12-768F393B5865}"/>
              </a:ext>
            </a:extLst>
          </p:cNvPr>
          <p:cNvSpPr>
            <a:spLocks noGrp="1"/>
          </p:cNvSpPr>
          <p:nvPr>
            <p:ph sz="quarter" idx="14"/>
          </p:nvPr>
        </p:nvSpPr>
        <p:spPr>
          <a:xfrm>
            <a:off x="535578" y="4677459"/>
            <a:ext cx="2547257" cy="404990"/>
          </a:xfrm>
        </p:spPr>
        <p:txBody>
          <a:bodyPr lIns="0" tIns="0" rIns="0" bIns="0"/>
          <a:lstStyle/>
          <a:p>
            <a:pPr marL="741600" lvl="1" indent="0">
              <a:buNone/>
            </a:pPr>
            <a:r>
              <a:rPr lang="en-US" altLang="en-US" sz="2000" dirty="0">
                <a:ea typeface="ヒラギノ角ゴ Pro W3" pitchFamily="-84" charset="-128"/>
              </a:rPr>
              <a:t>could consume</a:t>
            </a:r>
            <a:endParaRPr lang="en-IN" sz="2000" dirty="0"/>
          </a:p>
        </p:txBody>
      </p:sp>
      <p:graphicFrame>
        <p:nvGraphicFramePr>
          <p:cNvPr id="8" name="Object 7" descr="100,000 minus 30,000 = 70,000">
            <a:extLst>
              <a:ext uri="{FF2B5EF4-FFF2-40B4-BE49-F238E27FC236}">
                <a16:creationId xmlns:a16="http://schemas.microsoft.com/office/drawing/2014/main" id="{C1FBFC3F-AD30-4229-8638-B06045A9DDD8}"/>
              </a:ext>
            </a:extLst>
          </p:cNvPr>
          <p:cNvGraphicFramePr>
            <a:graphicFrameLocks noChangeAspect="1"/>
          </p:cNvGraphicFramePr>
          <p:nvPr>
            <p:extLst>
              <p:ext uri="{D42A27DB-BD31-4B8C-83A1-F6EECF244321}">
                <p14:modId xmlns:p14="http://schemas.microsoft.com/office/powerpoint/2010/main" val="2243097790"/>
              </p:ext>
            </p:extLst>
          </p:nvPr>
        </p:nvGraphicFramePr>
        <p:xfrm>
          <a:off x="3248025" y="4707572"/>
          <a:ext cx="2982913" cy="309562"/>
        </p:xfrm>
        <a:graphic>
          <a:graphicData uri="http://schemas.openxmlformats.org/presentationml/2006/ole">
            <mc:AlternateContent xmlns:mc="http://schemas.openxmlformats.org/markup-compatibility/2006">
              <mc:Choice xmlns:v="urn:schemas-microsoft-com:vml" Requires="v">
                <p:oleObj spid="_x0000_s2058" name="Equation" r:id="rId3" imgW="1854000" imgH="190440" progId="Equation.DSMT4">
                  <p:embed/>
                </p:oleObj>
              </mc:Choice>
              <mc:Fallback>
                <p:oleObj name="Equation" r:id="rId3" imgW="1854000" imgH="190440" progId="Equation.DSMT4">
                  <p:embed/>
                  <p:pic>
                    <p:nvPicPr>
                      <p:cNvPr id="6" name="Object 5">
                        <a:extLst>
                          <a:ext uri="{FF2B5EF4-FFF2-40B4-BE49-F238E27FC236}">
                            <a16:creationId xmlns:a16="http://schemas.microsoft.com/office/drawing/2014/main" id="{64DCC796-1D1D-4937-B257-10A38A602205}"/>
                          </a:ext>
                        </a:extLst>
                      </p:cNvPr>
                      <p:cNvPicPr/>
                      <p:nvPr/>
                    </p:nvPicPr>
                    <p:blipFill>
                      <a:blip r:embed="rId4"/>
                      <a:stretch>
                        <a:fillRect/>
                      </a:stretch>
                    </p:blipFill>
                    <p:spPr>
                      <a:xfrm>
                        <a:off x="3248025" y="4707572"/>
                        <a:ext cx="2982913" cy="309562"/>
                      </a:xfrm>
                      <a:prstGeom prst="rect">
                        <a:avLst/>
                      </a:prstGeom>
                      <a:solidFill>
                        <a:schemeClr val="bg1"/>
                      </a:solidFill>
                    </p:spPr>
                  </p:pic>
                </p:oleObj>
              </mc:Fallback>
            </mc:AlternateContent>
          </a:graphicData>
        </a:graphic>
      </p:graphicFrame>
      <p:sp>
        <p:nvSpPr>
          <p:cNvPr id="7" name="Content Placeholder 6">
            <a:extLst>
              <a:ext uri="{FF2B5EF4-FFF2-40B4-BE49-F238E27FC236}">
                <a16:creationId xmlns:a16="http://schemas.microsoft.com/office/drawing/2014/main" id="{C7E39194-41C6-4E73-A13A-7D0EC0EAC3E3}"/>
              </a:ext>
            </a:extLst>
          </p:cNvPr>
          <p:cNvSpPr>
            <a:spLocks noGrp="1"/>
          </p:cNvSpPr>
          <p:nvPr>
            <p:ph sz="quarter" idx="15"/>
          </p:nvPr>
        </p:nvSpPr>
        <p:spPr>
          <a:xfrm>
            <a:off x="6381535" y="4677628"/>
            <a:ext cx="2230245" cy="350204"/>
          </a:xfrm>
        </p:spPr>
        <p:txBody>
          <a:bodyPr lIns="0" tIns="0" rIns="0" bIns="0"/>
          <a:lstStyle/>
          <a:p>
            <a:pPr marL="0" lvl="1" indent="0">
              <a:buNone/>
            </a:pPr>
            <a:r>
              <a:rPr lang="en-US" altLang="en-US" sz="2000" dirty="0">
                <a:ea typeface="ヒラギノ角ゴ Pro W3" pitchFamily="-84" charset="-128"/>
              </a:rPr>
              <a:t>more computers.</a:t>
            </a:r>
            <a:endParaRPr lang="en-IN" sz="2000" dirty="0"/>
          </a:p>
        </p:txBody>
      </p:sp>
    </p:spTree>
    <p:extLst>
      <p:ext uri="{BB962C8B-B14F-4D97-AF65-F5344CB8AC3E}">
        <p14:creationId xmlns:p14="http://schemas.microsoft.com/office/powerpoint/2010/main" val="2369653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ea typeface="ヒラギノ角ゴ Pro W3" pitchFamily="-84" charset="-128"/>
              </a:rPr>
              <a:t>A One-Factor Economy </a:t>
            </a:r>
            <a:r>
              <a:rPr lang="en-US" altLang="en-US" sz="2000" b="0" dirty="0">
                <a:ea typeface="ヒラギノ角ゴ Pro W3" pitchFamily="-84" charset="-128"/>
              </a:rPr>
              <a:t>(1 of 4)</a:t>
            </a:r>
            <a:endParaRPr lang="en-IN" dirty="0"/>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p:txBody>
          <a:bodyPr/>
          <a:lstStyle/>
          <a:p>
            <a:r>
              <a:rPr lang="en-US" altLang="en-US" sz="2400" dirty="0">
                <a:ea typeface="ヒラギノ角ゴ Pro W3" pitchFamily="-84" charset="-128"/>
              </a:rPr>
              <a:t>We formalize these ideas by constructing a one-factor Ricardian model using the following assumptions:</a:t>
            </a:r>
          </a:p>
        </p:txBody>
      </p:sp>
    </p:spTree>
    <p:extLst>
      <p:ext uri="{BB962C8B-B14F-4D97-AF65-F5344CB8AC3E}">
        <p14:creationId xmlns:p14="http://schemas.microsoft.com/office/powerpoint/2010/main" val="4019207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ea typeface="ヒラギノ角ゴ Pro W3" pitchFamily="-84" charset="-128"/>
              </a:rPr>
              <a:t>A One-Factor Economy </a:t>
            </a:r>
            <a:r>
              <a:rPr lang="en-US" altLang="en-US" sz="2000" b="0" dirty="0">
                <a:ea typeface="ヒラギノ角ゴ Pro W3" pitchFamily="-84" charset="-128"/>
              </a:rPr>
              <a:t>(2 of 4)</a:t>
            </a:r>
            <a:endParaRPr lang="en-IN" dirty="0"/>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p:txBody>
          <a:bodyPr/>
          <a:lstStyle/>
          <a:p>
            <a:pPr marL="432000" indent="-432000">
              <a:spcBef>
                <a:spcPts val="600"/>
              </a:spcBef>
              <a:buFont typeface="Times" pitchFamily="-84" charset="0"/>
              <a:buAutoNum type="arabicPeriod"/>
            </a:pPr>
            <a:r>
              <a:rPr lang="en-US" altLang="en-US" sz="2400" dirty="0">
                <a:ea typeface="ヒラギノ角ゴ Pro W3" pitchFamily="-84" charset="-128"/>
              </a:rPr>
              <a:t>Labor is the only factor of production.</a:t>
            </a:r>
          </a:p>
          <a:p>
            <a:pPr marL="432000" indent="-432000">
              <a:spcBef>
                <a:spcPts val="600"/>
              </a:spcBef>
              <a:buFont typeface="Times" pitchFamily="-84" charset="0"/>
              <a:buAutoNum type="arabicPeriod"/>
            </a:pPr>
            <a:r>
              <a:rPr lang="en-US" altLang="en-US" sz="2400" dirty="0">
                <a:ea typeface="ヒラギノ角ゴ Pro W3" pitchFamily="-84" charset="-128"/>
              </a:rPr>
              <a:t>Labor productivity varies across countries due to differences in technology, but labor productivity in each country is constant.</a:t>
            </a:r>
          </a:p>
          <a:p>
            <a:pPr marL="432000" indent="-432000">
              <a:spcBef>
                <a:spcPts val="600"/>
              </a:spcBef>
              <a:buFont typeface="Times" pitchFamily="-84" charset="0"/>
              <a:buAutoNum type="arabicPeriod"/>
            </a:pPr>
            <a:r>
              <a:rPr lang="en-US" altLang="en-US" sz="2400" dirty="0">
                <a:ea typeface="ヒラギノ角ゴ Pro W3" pitchFamily="-84" charset="-128"/>
              </a:rPr>
              <a:t>The supply of labor in each country is constant.</a:t>
            </a:r>
          </a:p>
          <a:p>
            <a:pPr marL="432000" indent="-432000">
              <a:spcBef>
                <a:spcPts val="600"/>
              </a:spcBef>
              <a:buFont typeface="Times" pitchFamily="-84" charset="0"/>
              <a:buAutoNum type="arabicPeriod"/>
            </a:pPr>
            <a:r>
              <a:rPr lang="en-US" altLang="en-US" sz="2400" dirty="0">
                <a:ea typeface="ヒラギノ角ゴ Pro W3" pitchFamily="-84" charset="-128"/>
              </a:rPr>
              <a:t>Two goods: wine and cheese.</a:t>
            </a:r>
          </a:p>
          <a:p>
            <a:pPr marL="432000" indent="-432000">
              <a:spcBef>
                <a:spcPts val="600"/>
              </a:spcBef>
              <a:buFont typeface="Times" pitchFamily="-84" charset="0"/>
              <a:buAutoNum type="arabicPeriod"/>
            </a:pPr>
            <a:r>
              <a:rPr lang="en-US" altLang="en-US" sz="2400" dirty="0">
                <a:ea typeface="ヒラギノ角ゴ Pro W3" pitchFamily="-84" charset="-128"/>
              </a:rPr>
              <a:t>Competition allows workers to be paid a wage equal to the value of what they produce, and allows them to work in the industry that pays the higher wage.</a:t>
            </a:r>
          </a:p>
          <a:p>
            <a:pPr marL="432000" indent="-432000">
              <a:spcBef>
                <a:spcPts val="600"/>
              </a:spcBef>
              <a:buFont typeface="Times" pitchFamily="-84" charset="0"/>
              <a:buAutoNum type="arabicPeriod"/>
            </a:pPr>
            <a:r>
              <a:rPr lang="en-US" altLang="en-US" sz="2400" dirty="0">
                <a:ea typeface="ヒラギノ角ゴ Pro W3" pitchFamily="-84" charset="-128"/>
              </a:rPr>
              <a:t>Two countries: home and foreign.</a:t>
            </a:r>
          </a:p>
        </p:txBody>
      </p:sp>
    </p:spTree>
    <p:extLst>
      <p:ext uri="{BB962C8B-B14F-4D97-AF65-F5344CB8AC3E}">
        <p14:creationId xmlns:p14="http://schemas.microsoft.com/office/powerpoint/2010/main" val="817628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ea typeface="ヒラギノ角ゴ Pro W3" pitchFamily="-84" charset="-128"/>
              </a:rPr>
              <a:t>A One-Factor Economy </a:t>
            </a:r>
            <a:r>
              <a:rPr lang="en-US" altLang="en-US" sz="2000" b="0" dirty="0">
                <a:ea typeface="ヒラギノ角ゴ Pro W3" pitchFamily="-84" charset="-128"/>
              </a:rPr>
              <a:t>(3 of 4)</a:t>
            </a:r>
            <a:endParaRPr lang="en-US" dirty="0"/>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a:xfrm>
            <a:off x="457200" y="1593309"/>
            <a:ext cx="8229600" cy="799436"/>
          </a:xfrm>
        </p:spPr>
        <p:txBody>
          <a:bodyPr/>
          <a:lstStyle/>
          <a:p>
            <a:r>
              <a:rPr lang="en-US" altLang="en-US" sz="2200" dirty="0">
                <a:ea typeface="ヒラギノ角ゴ Pro W3" pitchFamily="-84" charset="-128"/>
              </a:rPr>
              <a:t>A </a:t>
            </a:r>
            <a:r>
              <a:rPr lang="en-US" altLang="en-US" sz="2200" b="1" dirty="0">
                <a:ea typeface="ヒラギノ角ゴ Pro W3" pitchFamily="-84" charset="-128"/>
              </a:rPr>
              <a:t>unit labor requirement</a:t>
            </a:r>
            <a:r>
              <a:rPr lang="en-US" altLang="en-US" sz="2200" dirty="0">
                <a:ea typeface="ヒラギノ角ゴ Pro W3" pitchFamily="-84" charset="-128"/>
              </a:rPr>
              <a:t> indicates the constant number of hours of labor required to produce one unit of output.</a:t>
            </a:r>
          </a:p>
        </p:txBody>
      </p:sp>
      <p:sp>
        <p:nvSpPr>
          <p:cNvPr id="51" name="Content Placeholder 50">
            <a:extLst>
              <a:ext uri="{FF2B5EF4-FFF2-40B4-BE49-F238E27FC236}">
                <a16:creationId xmlns:a16="http://schemas.microsoft.com/office/drawing/2014/main" id="{5E31409F-41AA-4B8F-944E-615CECF23EC1}"/>
              </a:ext>
            </a:extLst>
          </p:cNvPr>
          <p:cNvSpPr>
            <a:spLocks noGrp="1"/>
          </p:cNvSpPr>
          <p:nvPr>
            <p:ph sz="quarter" idx="14"/>
          </p:nvPr>
        </p:nvSpPr>
        <p:spPr>
          <a:xfrm>
            <a:off x="948944" y="2441412"/>
            <a:ext cx="397256" cy="454187"/>
          </a:xfrm>
        </p:spPr>
        <p:txBody>
          <a:bodyPr/>
          <a:lstStyle/>
          <a:p>
            <a:pPr marL="0" lvl="1" indent="0">
              <a:spcBef>
                <a:spcPts val="0"/>
              </a:spcBef>
            </a:pPr>
            <a:r>
              <a:rPr lang="en-US" sz="2200" dirty="0"/>
              <a:t> </a:t>
            </a:r>
            <a:r>
              <a:rPr lang="en-US" sz="100" dirty="0"/>
              <a:t> </a:t>
            </a:r>
          </a:p>
        </p:txBody>
      </p:sp>
      <p:graphicFrame>
        <p:nvGraphicFramePr>
          <p:cNvPr id="27" name="Object 26" descr="a sub start expression L C end expression">
            <a:extLst>
              <a:ext uri="{FF2B5EF4-FFF2-40B4-BE49-F238E27FC236}">
                <a16:creationId xmlns:a16="http://schemas.microsoft.com/office/drawing/2014/main" id="{C0A65163-C001-4A62-96FB-A507C3D139C6}"/>
              </a:ext>
            </a:extLst>
          </p:cNvPr>
          <p:cNvGraphicFramePr>
            <a:graphicFrameLocks noChangeAspect="1"/>
          </p:cNvGraphicFramePr>
          <p:nvPr>
            <p:extLst>
              <p:ext uri="{D42A27DB-BD31-4B8C-83A1-F6EECF244321}">
                <p14:modId xmlns:p14="http://schemas.microsoft.com/office/powerpoint/2010/main" val="974137174"/>
              </p:ext>
            </p:extLst>
          </p:nvPr>
        </p:nvGraphicFramePr>
        <p:xfrm>
          <a:off x="1392062" y="2482903"/>
          <a:ext cx="426435" cy="407226"/>
        </p:xfrm>
        <a:graphic>
          <a:graphicData uri="http://schemas.openxmlformats.org/presentationml/2006/ole">
            <mc:AlternateContent xmlns:mc="http://schemas.openxmlformats.org/markup-compatibility/2006">
              <mc:Choice xmlns:v="urn:schemas-microsoft-com:vml" Requires="v">
                <p:oleObj spid="_x0000_s3106" name="Equation" r:id="rId3" imgW="241200" imgH="228600" progId="Equation.DSMT4">
                  <p:embed/>
                </p:oleObj>
              </mc:Choice>
              <mc:Fallback>
                <p:oleObj name="Equation" r:id="rId3" imgW="241200" imgH="228600" progId="Equation.DSMT4">
                  <p:embed/>
                  <p:pic>
                    <p:nvPicPr>
                      <p:cNvPr id="8" name="Object 7">
                        <a:extLst>
                          <a:ext uri="{FF2B5EF4-FFF2-40B4-BE49-F238E27FC236}">
                            <a16:creationId xmlns:a16="http://schemas.microsoft.com/office/drawing/2014/main" id="{C1FBFC3F-AD30-4229-8638-B06045A9DDD8}"/>
                          </a:ext>
                        </a:extLst>
                      </p:cNvPr>
                      <p:cNvPicPr/>
                      <p:nvPr/>
                    </p:nvPicPr>
                    <p:blipFill>
                      <a:blip r:embed="rId4"/>
                      <a:stretch>
                        <a:fillRect/>
                      </a:stretch>
                    </p:blipFill>
                    <p:spPr>
                      <a:xfrm>
                        <a:off x="1392062" y="2482903"/>
                        <a:ext cx="426435" cy="407226"/>
                      </a:xfrm>
                      <a:prstGeom prst="rect">
                        <a:avLst/>
                      </a:prstGeom>
                      <a:noFill/>
                    </p:spPr>
                  </p:pic>
                </p:oleObj>
              </mc:Fallback>
            </mc:AlternateContent>
          </a:graphicData>
        </a:graphic>
      </p:graphicFrame>
      <p:sp>
        <p:nvSpPr>
          <p:cNvPr id="52" name="Content Placeholder 51">
            <a:extLst>
              <a:ext uri="{FF2B5EF4-FFF2-40B4-BE49-F238E27FC236}">
                <a16:creationId xmlns:a16="http://schemas.microsoft.com/office/drawing/2014/main" id="{76C2BB0C-FFED-4651-AD9F-7A65613BFAC8}"/>
              </a:ext>
            </a:extLst>
          </p:cNvPr>
          <p:cNvSpPr>
            <a:spLocks noGrp="1"/>
          </p:cNvSpPr>
          <p:nvPr>
            <p:ph sz="quarter" idx="15"/>
          </p:nvPr>
        </p:nvSpPr>
        <p:spPr>
          <a:xfrm>
            <a:off x="1897888" y="2502877"/>
            <a:ext cx="6532880" cy="372382"/>
          </a:xfrm>
        </p:spPr>
        <p:txBody>
          <a:bodyPr lIns="0" tIns="0" rIns="0" bIns="0"/>
          <a:lstStyle/>
          <a:p>
            <a:pPr marL="0" lvl="1" indent="0">
              <a:buNone/>
            </a:pPr>
            <a:r>
              <a:rPr lang="en-US" altLang="en-US" sz="2200" dirty="0">
                <a:ea typeface="ヒラギノ角ゴ Pro W3" pitchFamily="-84" charset="-128"/>
              </a:rPr>
              <a:t>is the unit labor requirement for cheese in the home</a:t>
            </a:r>
            <a:endParaRPr lang="en-US" sz="2200" dirty="0"/>
          </a:p>
        </p:txBody>
      </p:sp>
      <p:sp>
        <p:nvSpPr>
          <p:cNvPr id="53" name="Content Placeholder 52">
            <a:extLst>
              <a:ext uri="{FF2B5EF4-FFF2-40B4-BE49-F238E27FC236}">
                <a16:creationId xmlns:a16="http://schemas.microsoft.com/office/drawing/2014/main" id="{75B55F28-8B6D-486D-AE63-907FEC10B339}"/>
              </a:ext>
            </a:extLst>
          </p:cNvPr>
          <p:cNvSpPr>
            <a:spLocks noGrp="1"/>
          </p:cNvSpPr>
          <p:nvPr>
            <p:ph sz="quarter" idx="16"/>
          </p:nvPr>
        </p:nvSpPr>
        <p:spPr>
          <a:xfrm>
            <a:off x="541892" y="2943293"/>
            <a:ext cx="1843058" cy="379027"/>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graphicFrame>
        <p:nvGraphicFramePr>
          <p:cNvPr id="28" name="Object 27" descr="a sub start expression L C end expression">
            <a:extLst>
              <a:ext uri="{FF2B5EF4-FFF2-40B4-BE49-F238E27FC236}">
                <a16:creationId xmlns:a16="http://schemas.microsoft.com/office/drawing/2014/main" id="{6923FE68-F20C-4BDC-A1D9-30482BB6AD18}"/>
              </a:ext>
            </a:extLst>
          </p:cNvPr>
          <p:cNvGraphicFramePr>
            <a:graphicFrameLocks noChangeAspect="1"/>
          </p:cNvGraphicFramePr>
          <p:nvPr>
            <p:extLst>
              <p:ext uri="{D42A27DB-BD31-4B8C-83A1-F6EECF244321}">
                <p14:modId xmlns:p14="http://schemas.microsoft.com/office/powerpoint/2010/main" val="1340130527"/>
              </p:ext>
            </p:extLst>
          </p:nvPr>
        </p:nvGraphicFramePr>
        <p:xfrm>
          <a:off x="2504442" y="2940119"/>
          <a:ext cx="388616" cy="368163"/>
        </p:xfrm>
        <a:graphic>
          <a:graphicData uri="http://schemas.openxmlformats.org/presentationml/2006/ole">
            <mc:AlternateContent xmlns:mc="http://schemas.openxmlformats.org/markup-compatibility/2006">
              <mc:Choice xmlns:v="urn:schemas-microsoft-com:vml" Requires="v">
                <p:oleObj spid="_x0000_s3107" name="Equation" r:id="rId5" imgW="241200" imgH="228600" progId="Equation.DSMT4">
                  <p:embed/>
                </p:oleObj>
              </mc:Choice>
              <mc:Fallback>
                <p:oleObj name="Equation" r:id="rId5" imgW="241200" imgH="228600" progId="Equation.DSMT4">
                  <p:embed/>
                  <p:pic>
                    <p:nvPicPr>
                      <p:cNvPr id="0" name=""/>
                      <p:cNvPicPr/>
                      <p:nvPr/>
                    </p:nvPicPr>
                    <p:blipFill>
                      <a:blip r:embed="rId6"/>
                      <a:stretch>
                        <a:fillRect/>
                      </a:stretch>
                    </p:blipFill>
                    <p:spPr>
                      <a:xfrm>
                        <a:off x="2504442" y="2940119"/>
                        <a:ext cx="388616" cy="368163"/>
                      </a:xfrm>
                      <a:prstGeom prst="rect">
                        <a:avLst/>
                      </a:prstGeom>
                    </p:spPr>
                  </p:pic>
                </p:oleObj>
              </mc:Fallback>
            </mc:AlternateContent>
          </a:graphicData>
        </a:graphic>
      </p:graphicFrame>
      <p:sp>
        <p:nvSpPr>
          <p:cNvPr id="54" name="Content Placeholder 53">
            <a:extLst>
              <a:ext uri="{FF2B5EF4-FFF2-40B4-BE49-F238E27FC236}">
                <a16:creationId xmlns:a16="http://schemas.microsoft.com/office/drawing/2014/main" id="{FB8EC605-25D8-4580-B1CD-6ED6690AECA8}"/>
              </a:ext>
            </a:extLst>
          </p:cNvPr>
          <p:cNvSpPr>
            <a:spLocks noGrp="1"/>
          </p:cNvSpPr>
          <p:nvPr>
            <p:ph sz="quarter" idx="17"/>
          </p:nvPr>
        </p:nvSpPr>
        <p:spPr>
          <a:xfrm>
            <a:off x="3105998" y="2945260"/>
            <a:ext cx="5695101" cy="372382"/>
          </a:xfrm>
        </p:spPr>
        <p:txBody>
          <a:bodyPr lIns="0" tIns="0" rIns="0" bIns="0"/>
          <a:lstStyle/>
          <a:p>
            <a:pPr marL="0" lvl="1" indent="0">
              <a:buNone/>
            </a:pPr>
            <a:r>
              <a:rPr lang="en-US" altLang="en-US" sz="2200" dirty="0">
                <a:ea typeface="ヒラギノ角ゴ Pro W3" pitchFamily="-84" charset="-128"/>
              </a:rPr>
              <a:t>hours of labor produce one pound of cheese</a:t>
            </a:r>
            <a:endParaRPr lang="en-US" sz="2200" dirty="0"/>
          </a:p>
        </p:txBody>
      </p:sp>
      <p:sp>
        <p:nvSpPr>
          <p:cNvPr id="55" name="Content Placeholder 54">
            <a:extLst>
              <a:ext uri="{FF2B5EF4-FFF2-40B4-BE49-F238E27FC236}">
                <a16:creationId xmlns:a16="http://schemas.microsoft.com/office/drawing/2014/main" id="{65A932C1-D97F-4FE5-9738-6A83FEAC79C4}"/>
              </a:ext>
            </a:extLst>
          </p:cNvPr>
          <p:cNvSpPr>
            <a:spLocks noGrp="1"/>
          </p:cNvSpPr>
          <p:nvPr>
            <p:ph sz="quarter" idx="18"/>
          </p:nvPr>
        </p:nvSpPr>
        <p:spPr>
          <a:xfrm>
            <a:off x="541892" y="3373391"/>
            <a:ext cx="3390028" cy="365280"/>
          </a:xfrm>
        </p:spPr>
        <p:txBody>
          <a:bodyPr lIns="0" tIns="0" rIns="0" bIns="0"/>
          <a:lstStyle/>
          <a:p>
            <a:pPr marL="741600" lvl="1" indent="0">
              <a:buNone/>
            </a:pPr>
            <a:r>
              <a:rPr lang="en-US" altLang="en-US" sz="2200" dirty="0">
                <a:ea typeface="ヒラギノ角ゴ Pro W3" pitchFamily="-84" charset="-128"/>
              </a:rPr>
              <a:t>in the home country.</a:t>
            </a:r>
          </a:p>
        </p:txBody>
      </p:sp>
      <p:sp>
        <p:nvSpPr>
          <p:cNvPr id="56" name="Content Placeholder 55">
            <a:extLst>
              <a:ext uri="{FF2B5EF4-FFF2-40B4-BE49-F238E27FC236}">
                <a16:creationId xmlns:a16="http://schemas.microsoft.com/office/drawing/2014/main" id="{11E82E35-C12A-459C-ADEE-3073E1514DD9}"/>
              </a:ext>
            </a:extLst>
          </p:cNvPr>
          <p:cNvSpPr>
            <a:spLocks noGrp="1"/>
          </p:cNvSpPr>
          <p:nvPr>
            <p:ph sz="quarter" idx="19"/>
          </p:nvPr>
        </p:nvSpPr>
        <p:spPr>
          <a:xfrm>
            <a:off x="937260" y="3776945"/>
            <a:ext cx="396240" cy="470349"/>
          </a:xfrm>
        </p:spPr>
        <p:txBody>
          <a:bodyPr/>
          <a:lstStyle/>
          <a:p>
            <a:pPr marL="0" lvl="1" indent="0">
              <a:spcBef>
                <a:spcPts val="0"/>
              </a:spcBef>
            </a:pPr>
            <a:r>
              <a:rPr lang="en-US" sz="2200" dirty="0"/>
              <a:t> </a:t>
            </a:r>
            <a:r>
              <a:rPr lang="en-US" sz="100" dirty="0"/>
              <a:t> </a:t>
            </a:r>
          </a:p>
        </p:txBody>
      </p:sp>
      <p:graphicFrame>
        <p:nvGraphicFramePr>
          <p:cNvPr id="29" name="Object 28" descr="a sub start expression L W end expression">
            <a:extLst>
              <a:ext uri="{FF2B5EF4-FFF2-40B4-BE49-F238E27FC236}">
                <a16:creationId xmlns:a16="http://schemas.microsoft.com/office/drawing/2014/main" id="{B69C7E75-5701-4B78-9D7B-DA98EFBB7D07}"/>
              </a:ext>
            </a:extLst>
          </p:cNvPr>
          <p:cNvGraphicFramePr>
            <a:graphicFrameLocks noChangeAspect="1"/>
          </p:cNvGraphicFramePr>
          <p:nvPr>
            <p:extLst>
              <p:ext uri="{D42A27DB-BD31-4B8C-83A1-F6EECF244321}">
                <p14:modId xmlns:p14="http://schemas.microsoft.com/office/powerpoint/2010/main" val="4130043756"/>
              </p:ext>
            </p:extLst>
          </p:nvPr>
        </p:nvGraphicFramePr>
        <p:xfrm>
          <a:off x="1380648" y="3849359"/>
          <a:ext cx="449262" cy="368300"/>
        </p:xfrm>
        <a:graphic>
          <a:graphicData uri="http://schemas.openxmlformats.org/presentationml/2006/ole">
            <mc:AlternateContent xmlns:mc="http://schemas.openxmlformats.org/markup-compatibility/2006">
              <mc:Choice xmlns:v="urn:schemas-microsoft-com:vml" Requires="v">
                <p:oleObj spid="_x0000_s3108" name="Equation" r:id="rId7" imgW="279360" imgH="228600" progId="Equation.DSMT4">
                  <p:embed/>
                </p:oleObj>
              </mc:Choice>
              <mc:Fallback>
                <p:oleObj name="Equation" r:id="rId7" imgW="279360" imgH="228600" progId="Equation.DSMT4">
                  <p:embed/>
                  <p:pic>
                    <p:nvPicPr>
                      <p:cNvPr id="0" name=""/>
                      <p:cNvPicPr/>
                      <p:nvPr/>
                    </p:nvPicPr>
                    <p:blipFill>
                      <a:blip r:embed="rId8"/>
                      <a:stretch>
                        <a:fillRect/>
                      </a:stretch>
                    </p:blipFill>
                    <p:spPr>
                      <a:xfrm>
                        <a:off x="1380648" y="3849359"/>
                        <a:ext cx="449262" cy="368300"/>
                      </a:xfrm>
                      <a:prstGeom prst="rect">
                        <a:avLst/>
                      </a:prstGeom>
                    </p:spPr>
                  </p:pic>
                </p:oleObj>
              </mc:Fallback>
            </mc:AlternateContent>
          </a:graphicData>
        </a:graphic>
      </p:graphicFrame>
      <p:sp>
        <p:nvSpPr>
          <p:cNvPr id="57" name="Content Placeholder 56">
            <a:extLst>
              <a:ext uri="{FF2B5EF4-FFF2-40B4-BE49-F238E27FC236}">
                <a16:creationId xmlns:a16="http://schemas.microsoft.com/office/drawing/2014/main" id="{EB9FD3D6-DAB3-4A4C-B700-557C6061571F}"/>
              </a:ext>
            </a:extLst>
          </p:cNvPr>
          <p:cNvSpPr>
            <a:spLocks noGrp="1"/>
          </p:cNvSpPr>
          <p:nvPr>
            <p:ph sz="quarter" idx="20"/>
          </p:nvPr>
        </p:nvSpPr>
        <p:spPr>
          <a:xfrm>
            <a:off x="1969494" y="3851086"/>
            <a:ext cx="6197599" cy="361443"/>
          </a:xfrm>
        </p:spPr>
        <p:txBody>
          <a:bodyPr lIns="0" tIns="0" rIns="0" bIns="0"/>
          <a:lstStyle/>
          <a:p>
            <a:pPr marL="0" lvl="1" indent="0">
              <a:buNone/>
            </a:pPr>
            <a:r>
              <a:rPr lang="en-US" altLang="en-US" sz="2200" dirty="0">
                <a:ea typeface="ヒラギノ角ゴ Pro W3" pitchFamily="-84" charset="-128"/>
              </a:rPr>
              <a:t>is the unit labor requirement for wine in the home</a:t>
            </a:r>
            <a:endParaRPr lang="en-US" sz="2200" dirty="0"/>
          </a:p>
        </p:txBody>
      </p:sp>
      <p:sp>
        <p:nvSpPr>
          <p:cNvPr id="58" name="Content Placeholder 57">
            <a:extLst>
              <a:ext uri="{FF2B5EF4-FFF2-40B4-BE49-F238E27FC236}">
                <a16:creationId xmlns:a16="http://schemas.microsoft.com/office/drawing/2014/main" id="{104E9CE8-E350-4B0C-9580-5CFC1EC0110D}"/>
              </a:ext>
            </a:extLst>
          </p:cNvPr>
          <p:cNvSpPr>
            <a:spLocks noGrp="1"/>
          </p:cNvSpPr>
          <p:nvPr>
            <p:ph sz="quarter" idx="21"/>
          </p:nvPr>
        </p:nvSpPr>
        <p:spPr>
          <a:xfrm>
            <a:off x="552450" y="4300159"/>
            <a:ext cx="1832500" cy="378521"/>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graphicFrame>
        <p:nvGraphicFramePr>
          <p:cNvPr id="30" name="Object 29" descr="a sub start expression L W end expression">
            <a:extLst>
              <a:ext uri="{FF2B5EF4-FFF2-40B4-BE49-F238E27FC236}">
                <a16:creationId xmlns:a16="http://schemas.microsoft.com/office/drawing/2014/main" id="{9BF451AD-B823-492C-B148-63BB48732AA4}"/>
              </a:ext>
            </a:extLst>
          </p:cNvPr>
          <p:cNvGraphicFramePr>
            <a:graphicFrameLocks noChangeAspect="1"/>
          </p:cNvGraphicFramePr>
          <p:nvPr>
            <p:extLst>
              <p:ext uri="{D42A27DB-BD31-4B8C-83A1-F6EECF244321}">
                <p14:modId xmlns:p14="http://schemas.microsoft.com/office/powerpoint/2010/main" val="2814450141"/>
              </p:ext>
            </p:extLst>
          </p:nvPr>
        </p:nvGraphicFramePr>
        <p:xfrm>
          <a:off x="2452929" y="4289494"/>
          <a:ext cx="449976" cy="368163"/>
        </p:xfrm>
        <a:graphic>
          <a:graphicData uri="http://schemas.openxmlformats.org/presentationml/2006/ole">
            <mc:AlternateContent xmlns:mc="http://schemas.openxmlformats.org/markup-compatibility/2006">
              <mc:Choice xmlns:v="urn:schemas-microsoft-com:vml" Requires="v">
                <p:oleObj spid="_x0000_s3109" name="Equation" r:id="rId9" imgW="279360" imgH="228600" progId="Equation.DSMT4">
                  <p:embed/>
                </p:oleObj>
              </mc:Choice>
              <mc:Fallback>
                <p:oleObj name="Equation" r:id="rId9" imgW="279360" imgH="228600" progId="Equation.DSMT4">
                  <p:embed/>
                  <p:pic>
                    <p:nvPicPr>
                      <p:cNvPr id="0" name=""/>
                      <p:cNvPicPr/>
                      <p:nvPr/>
                    </p:nvPicPr>
                    <p:blipFill>
                      <a:blip r:embed="rId10"/>
                      <a:stretch>
                        <a:fillRect/>
                      </a:stretch>
                    </p:blipFill>
                    <p:spPr>
                      <a:xfrm>
                        <a:off x="2452929" y="4289494"/>
                        <a:ext cx="449976" cy="368163"/>
                      </a:xfrm>
                      <a:prstGeom prst="rect">
                        <a:avLst/>
                      </a:prstGeom>
                    </p:spPr>
                  </p:pic>
                </p:oleObj>
              </mc:Fallback>
            </mc:AlternateContent>
          </a:graphicData>
        </a:graphic>
      </p:graphicFrame>
      <p:sp>
        <p:nvSpPr>
          <p:cNvPr id="59" name="Content Placeholder 58">
            <a:extLst>
              <a:ext uri="{FF2B5EF4-FFF2-40B4-BE49-F238E27FC236}">
                <a16:creationId xmlns:a16="http://schemas.microsoft.com/office/drawing/2014/main" id="{919CADC7-2D18-4C25-A476-727DAF76FC22}"/>
              </a:ext>
            </a:extLst>
          </p:cNvPr>
          <p:cNvSpPr>
            <a:spLocks noGrp="1"/>
          </p:cNvSpPr>
          <p:nvPr>
            <p:ph sz="quarter" idx="22"/>
          </p:nvPr>
        </p:nvSpPr>
        <p:spPr>
          <a:xfrm>
            <a:off x="3018027" y="4296251"/>
            <a:ext cx="5323841" cy="370387"/>
          </a:xfrm>
        </p:spPr>
        <p:txBody>
          <a:bodyPr lIns="0" tIns="0" rIns="0" bIns="0"/>
          <a:lstStyle/>
          <a:p>
            <a:pPr marL="0" lvl="1" indent="0">
              <a:buNone/>
            </a:pPr>
            <a:r>
              <a:rPr lang="en-US" altLang="en-US" sz="2200" dirty="0">
                <a:ea typeface="ヒラギノ角ゴ Pro W3" pitchFamily="-84" charset="-128"/>
              </a:rPr>
              <a:t>hours of labor produce one gallon of wine</a:t>
            </a:r>
          </a:p>
        </p:txBody>
      </p:sp>
      <p:sp>
        <p:nvSpPr>
          <p:cNvPr id="60" name="Content Placeholder 59">
            <a:extLst>
              <a:ext uri="{FF2B5EF4-FFF2-40B4-BE49-F238E27FC236}">
                <a16:creationId xmlns:a16="http://schemas.microsoft.com/office/drawing/2014/main" id="{4B6412AD-5AB1-4D0C-9CCF-09852DC6FDCB}"/>
              </a:ext>
            </a:extLst>
          </p:cNvPr>
          <p:cNvSpPr>
            <a:spLocks noGrp="1"/>
          </p:cNvSpPr>
          <p:nvPr>
            <p:ph sz="quarter" idx="23"/>
          </p:nvPr>
        </p:nvSpPr>
        <p:spPr>
          <a:xfrm>
            <a:off x="558212" y="4742736"/>
            <a:ext cx="3373708" cy="372190"/>
          </a:xfrm>
        </p:spPr>
        <p:txBody>
          <a:bodyPr lIns="0" tIns="0" rIns="0" bIns="0"/>
          <a:lstStyle/>
          <a:p>
            <a:pPr marL="741600" lvl="1" indent="0">
              <a:buNone/>
            </a:pPr>
            <a:r>
              <a:rPr lang="en-US" altLang="en-US" sz="2200" dirty="0">
                <a:ea typeface="ヒラギノ角ゴ Pro W3" pitchFamily="-84" charset="-128"/>
              </a:rPr>
              <a:t>in the home country.</a:t>
            </a:r>
            <a:endParaRPr lang="en-US" sz="2200" dirty="0"/>
          </a:p>
        </p:txBody>
      </p:sp>
      <p:sp>
        <p:nvSpPr>
          <p:cNvPr id="61" name="Content Placeholder 60">
            <a:extLst>
              <a:ext uri="{FF2B5EF4-FFF2-40B4-BE49-F238E27FC236}">
                <a16:creationId xmlns:a16="http://schemas.microsoft.com/office/drawing/2014/main" id="{74431F91-C3FF-4A75-B575-3AA1D8AC492D}"/>
              </a:ext>
            </a:extLst>
          </p:cNvPr>
          <p:cNvSpPr>
            <a:spLocks noGrp="1"/>
          </p:cNvSpPr>
          <p:nvPr>
            <p:ph sz="quarter" idx="24"/>
          </p:nvPr>
        </p:nvSpPr>
        <p:spPr>
          <a:xfrm>
            <a:off x="457201" y="5181948"/>
            <a:ext cx="8229600" cy="1145739"/>
          </a:xfrm>
        </p:spPr>
        <p:txBody>
          <a:bodyPr tIns="0" bIns="0"/>
          <a:lstStyle/>
          <a:p>
            <a:r>
              <a:rPr lang="en-US" altLang="en-US" sz="2200" dirty="0">
                <a:ea typeface="ヒラギノ角ゴ Pro W3" pitchFamily="-84" charset="-128"/>
              </a:rPr>
              <a:t>A high unit labor requirement means low labor productivity.</a:t>
            </a:r>
          </a:p>
          <a:p>
            <a:pPr lvl="1"/>
            <a:r>
              <a:rPr lang="en-US" altLang="en-US" sz="2200" dirty="0">
                <a:ea typeface="ヒラギノ角ゴ Pro W3" pitchFamily="-84" charset="-128"/>
              </a:rPr>
              <a:t>Labor productivity is how much output one hour of labor creates.</a:t>
            </a:r>
            <a:endParaRPr lang="en-US" dirty="0"/>
          </a:p>
        </p:txBody>
      </p:sp>
    </p:spTree>
    <p:extLst>
      <p:ext uri="{BB962C8B-B14F-4D97-AF65-F5344CB8AC3E}">
        <p14:creationId xmlns:p14="http://schemas.microsoft.com/office/powerpoint/2010/main" val="29128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A One-Factor Economy </a:t>
            </a:r>
            <a:r>
              <a:rPr lang="en-US" altLang="en-US" sz="2000" b="0" dirty="0">
                <a:latin typeface="+mj-lt"/>
                <a:ea typeface="ヒラギノ角ゴ Pro W3" pitchFamily="-84" charset="-128"/>
                <a:cs typeface="Times New Roman" panose="02020603050405020304" pitchFamily="18" charset="0"/>
              </a:rPr>
              <a:t>(4 of 4)</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0" y="1600201"/>
            <a:ext cx="8153400" cy="735624"/>
          </a:xfrm>
        </p:spPr>
        <p:txBody>
          <a:bodyPr/>
          <a:lstStyle/>
          <a:p>
            <a:pPr indent="-255600"/>
            <a:r>
              <a:rPr lang="en-US" altLang="en-US" sz="2000" dirty="0">
                <a:latin typeface="+mn-lt"/>
                <a:ea typeface="ヒラギノ角ゴ Pro W3" pitchFamily="-84" charset="-128"/>
              </a:rPr>
              <a:t>Labor supply </a:t>
            </a:r>
            <a:r>
              <a:rPr lang="en-US" altLang="en-US" sz="2000" i="1" dirty="0">
                <a:latin typeface="+mn-lt"/>
                <a:ea typeface="ヒラギノ角ゴ Pro W3" pitchFamily="-84" charset="-128"/>
              </a:rPr>
              <a:t>L</a:t>
            </a:r>
            <a:r>
              <a:rPr lang="en-US" altLang="en-US" sz="2000" dirty="0">
                <a:latin typeface="+mn-lt"/>
                <a:ea typeface="ヒラギノ角ゴ Pro W3" pitchFamily="-84" charset="-128"/>
              </a:rPr>
              <a:t> indicates the total amount of labor resources</a:t>
            </a:r>
            <a:r>
              <a:rPr lang="en-US" altLang="en-US" sz="2000" dirty="0">
                <a:latin typeface="+mn-lt"/>
                <a:ea typeface="ヒラギノ角ゴ Pro W3" pitchFamily="-84" charset="-128"/>
                <a:cs typeface="Times New Roman" panose="02020603050405020304" pitchFamily="18" charset="0"/>
              </a:rPr>
              <a:t>—</a:t>
            </a:r>
            <a:r>
              <a:rPr lang="en-US" altLang="en-US" sz="2000" dirty="0">
                <a:latin typeface="+mn-lt"/>
                <a:ea typeface="ヒラギノ角ゴ Pro W3" pitchFamily="-84" charset="-128"/>
              </a:rPr>
              <a:t>the number of hours worked (a constant parameter).</a:t>
            </a:r>
          </a:p>
        </p:txBody>
      </p:sp>
      <p:sp>
        <p:nvSpPr>
          <p:cNvPr id="4" name="Content Placeholder 3"/>
          <p:cNvSpPr>
            <a:spLocks noGrp="1"/>
          </p:cNvSpPr>
          <p:nvPr>
            <p:ph idx="13"/>
          </p:nvPr>
        </p:nvSpPr>
        <p:spPr>
          <a:xfrm>
            <a:off x="457201" y="2405675"/>
            <a:ext cx="304799" cy="417832"/>
          </a:xfrm>
        </p:spPr>
        <p:txBody>
          <a:bodyPr/>
          <a:lstStyle/>
          <a:p>
            <a:pPr marL="0" indent="0">
              <a:spcBef>
                <a:spcPts val="0"/>
              </a:spcBef>
            </a:pPr>
            <a:r>
              <a:rPr lang="en-US" sz="2000" dirty="0">
                <a:latin typeface="+mn-lt"/>
              </a:rPr>
              <a:t> </a:t>
            </a:r>
            <a:r>
              <a:rPr lang="en-US" sz="100" dirty="0">
                <a:latin typeface="+mn-lt"/>
              </a:rPr>
              <a:t> </a:t>
            </a:r>
          </a:p>
        </p:txBody>
      </p:sp>
      <p:graphicFrame>
        <p:nvGraphicFramePr>
          <p:cNvPr id="12" name="Object 11" descr="a sub start expression L C end expression"/>
          <p:cNvGraphicFramePr>
            <a:graphicFrameLocks noChangeAspect="1"/>
          </p:cNvGraphicFramePr>
          <p:nvPr>
            <p:extLst>
              <p:ext uri="{D42A27DB-BD31-4B8C-83A1-F6EECF244321}">
                <p14:modId xmlns:p14="http://schemas.microsoft.com/office/powerpoint/2010/main" val="1270133848"/>
              </p:ext>
            </p:extLst>
          </p:nvPr>
        </p:nvGraphicFramePr>
        <p:xfrm>
          <a:off x="814582" y="2411095"/>
          <a:ext cx="427478" cy="404979"/>
        </p:xfrm>
        <a:graphic>
          <a:graphicData uri="http://schemas.openxmlformats.org/presentationml/2006/ole">
            <mc:AlternateContent xmlns:mc="http://schemas.openxmlformats.org/markup-compatibility/2006">
              <mc:Choice xmlns:v="urn:schemas-microsoft-com:vml" Requires="v">
                <p:oleObj spid="_x0000_s4130" name="Equation" r:id="rId4" imgW="241200" imgH="228600" progId="Equation.DSMT4">
                  <p:embed/>
                </p:oleObj>
              </mc:Choice>
              <mc:Fallback>
                <p:oleObj name="Equation" r:id="rId4" imgW="241200" imgH="228600" progId="Equation.DSMT4">
                  <p:embed/>
                  <p:pic>
                    <p:nvPicPr>
                      <p:cNvPr id="12" name="Object 11"/>
                      <p:cNvPicPr/>
                      <p:nvPr/>
                    </p:nvPicPr>
                    <p:blipFill>
                      <a:blip r:embed="rId5"/>
                      <a:stretch>
                        <a:fillRect/>
                      </a:stretch>
                    </p:blipFill>
                    <p:spPr>
                      <a:xfrm>
                        <a:off x="814582" y="2411095"/>
                        <a:ext cx="427478" cy="404979"/>
                      </a:xfrm>
                      <a:prstGeom prst="rect">
                        <a:avLst/>
                      </a:prstGeom>
                    </p:spPr>
                  </p:pic>
                </p:oleObj>
              </mc:Fallback>
            </mc:AlternateContent>
          </a:graphicData>
        </a:graphic>
      </p:graphicFrame>
      <p:sp>
        <p:nvSpPr>
          <p:cNvPr id="5" name="Content Placeholder 4"/>
          <p:cNvSpPr>
            <a:spLocks noGrp="1"/>
          </p:cNvSpPr>
          <p:nvPr>
            <p:ph idx="14"/>
          </p:nvPr>
        </p:nvSpPr>
        <p:spPr>
          <a:xfrm>
            <a:off x="1318260" y="2456815"/>
            <a:ext cx="6840166" cy="337820"/>
          </a:xfrm>
        </p:spPr>
        <p:txBody>
          <a:bodyPr tIns="0"/>
          <a:lstStyle/>
          <a:p>
            <a:pPr marL="0" indent="0">
              <a:buNone/>
            </a:pPr>
            <a:r>
              <a:rPr lang="en-US" altLang="en-US" sz="2000" dirty="0">
                <a:latin typeface="+mn-lt"/>
                <a:ea typeface="ヒラギノ角ゴ Pro W3" pitchFamily="-84" charset="-128"/>
              </a:rPr>
              <a:t>indicates the </a:t>
            </a:r>
            <a:r>
              <a:rPr lang="en-US" altLang="en-US" sz="2000" dirty="0">
                <a:latin typeface="+mn-lt"/>
              </a:rPr>
              <a:t>amount of labor required for each pound of</a:t>
            </a:r>
            <a:endParaRPr lang="en-US" sz="2000" dirty="0">
              <a:latin typeface="+mn-lt"/>
            </a:endParaRPr>
          </a:p>
        </p:txBody>
      </p:sp>
      <p:sp>
        <p:nvSpPr>
          <p:cNvPr id="6" name="Content Placeholder 5"/>
          <p:cNvSpPr>
            <a:spLocks noGrp="1"/>
          </p:cNvSpPr>
          <p:nvPr>
            <p:ph idx="15"/>
          </p:nvPr>
        </p:nvSpPr>
        <p:spPr>
          <a:xfrm>
            <a:off x="457201" y="2894043"/>
            <a:ext cx="4280169" cy="344457"/>
          </a:xfrm>
        </p:spPr>
        <p:txBody>
          <a:bodyPr tIns="0"/>
          <a:lstStyle/>
          <a:p>
            <a:pPr marL="255600" indent="0">
              <a:buNone/>
            </a:pPr>
            <a:r>
              <a:rPr lang="en-US" altLang="en-US" sz="2000" dirty="0">
                <a:latin typeface="+mn-lt"/>
              </a:rPr>
              <a:t>cheese produced (a constant)</a:t>
            </a:r>
            <a:r>
              <a:rPr lang="en-US" altLang="en-US" sz="2000" dirty="0">
                <a:latin typeface="+mn-lt"/>
                <a:ea typeface="ヒラギノ角ゴ Pro W3" pitchFamily="-84" charset="-128"/>
              </a:rPr>
              <a:t>.</a:t>
            </a:r>
          </a:p>
        </p:txBody>
      </p:sp>
      <p:sp>
        <p:nvSpPr>
          <p:cNvPr id="7" name="Content Placeholder 6"/>
          <p:cNvSpPr>
            <a:spLocks noGrp="1"/>
          </p:cNvSpPr>
          <p:nvPr>
            <p:ph idx="16"/>
          </p:nvPr>
        </p:nvSpPr>
        <p:spPr>
          <a:xfrm>
            <a:off x="457199" y="3389122"/>
            <a:ext cx="2575561" cy="341102"/>
          </a:xfrm>
        </p:spPr>
        <p:txBody>
          <a:bodyPr tIns="0"/>
          <a:lstStyle/>
          <a:p>
            <a:pPr indent="-255600"/>
            <a:r>
              <a:rPr lang="en-US" altLang="en-US" sz="2000" dirty="0">
                <a:latin typeface="+mn-lt"/>
                <a:ea typeface="ヒラギノ角ゴ Pro W3" pitchFamily="-84" charset="-128"/>
              </a:rPr>
              <a:t>Cheese production</a:t>
            </a:r>
            <a:endParaRPr lang="en-US" sz="2000" dirty="0">
              <a:latin typeface="+mn-lt"/>
            </a:endParaRPr>
          </a:p>
        </p:txBody>
      </p:sp>
      <p:graphicFrame>
        <p:nvGraphicFramePr>
          <p:cNvPr id="13" name="Object 12" descr="Q sub C"/>
          <p:cNvGraphicFramePr>
            <a:graphicFrameLocks noChangeAspect="1"/>
          </p:cNvGraphicFramePr>
          <p:nvPr>
            <p:extLst>
              <p:ext uri="{D42A27DB-BD31-4B8C-83A1-F6EECF244321}">
                <p14:modId xmlns:p14="http://schemas.microsoft.com/office/powerpoint/2010/main" val="535940597"/>
              </p:ext>
            </p:extLst>
          </p:nvPr>
        </p:nvGraphicFramePr>
        <p:xfrm>
          <a:off x="3112901" y="3416378"/>
          <a:ext cx="316099" cy="334694"/>
        </p:xfrm>
        <a:graphic>
          <a:graphicData uri="http://schemas.openxmlformats.org/presentationml/2006/ole">
            <mc:AlternateContent xmlns:mc="http://schemas.openxmlformats.org/markup-compatibility/2006">
              <mc:Choice xmlns:v="urn:schemas-microsoft-com:vml" Requires="v">
                <p:oleObj spid="_x0000_s4131" name="Equation" r:id="rId6" imgW="215640" imgH="228600" progId="Equation.DSMT4">
                  <p:embed/>
                </p:oleObj>
              </mc:Choice>
              <mc:Fallback>
                <p:oleObj name="Equation" r:id="rId6" imgW="215640" imgH="228600" progId="Equation.DSMT4">
                  <p:embed/>
                  <p:pic>
                    <p:nvPicPr>
                      <p:cNvPr id="13" name="Object 12"/>
                      <p:cNvPicPr/>
                      <p:nvPr/>
                    </p:nvPicPr>
                    <p:blipFill>
                      <a:blip r:embed="rId7"/>
                      <a:stretch>
                        <a:fillRect/>
                      </a:stretch>
                    </p:blipFill>
                    <p:spPr>
                      <a:xfrm>
                        <a:off x="3112901" y="3416378"/>
                        <a:ext cx="316099" cy="334694"/>
                      </a:xfrm>
                      <a:prstGeom prst="rect">
                        <a:avLst/>
                      </a:prstGeom>
                    </p:spPr>
                  </p:pic>
                </p:oleObj>
              </mc:Fallback>
            </mc:AlternateContent>
          </a:graphicData>
        </a:graphic>
      </p:graphicFrame>
      <p:sp>
        <p:nvSpPr>
          <p:cNvPr id="8" name="Content Placeholder 7"/>
          <p:cNvSpPr>
            <a:spLocks noGrp="1"/>
          </p:cNvSpPr>
          <p:nvPr>
            <p:ph sz="quarter" idx="17"/>
          </p:nvPr>
        </p:nvSpPr>
        <p:spPr>
          <a:xfrm>
            <a:off x="3505200" y="3394572"/>
            <a:ext cx="5105400" cy="339228"/>
          </a:xfrm>
        </p:spPr>
        <p:txBody>
          <a:bodyPr tIns="0"/>
          <a:lstStyle/>
          <a:p>
            <a:pPr marL="0" indent="-486918">
              <a:buNone/>
            </a:pPr>
            <a:r>
              <a:rPr lang="en-US" altLang="en-US" sz="2000" dirty="0">
                <a:latin typeface="+mn-lt"/>
                <a:ea typeface="ヒラギノ角ゴ Pro W3" pitchFamily="-84" charset="-128"/>
              </a:rPr>
              <a:t>indicates how many total pounds of cheese</a:t>
            </a:r>
            <a:endParaRPr lang="en-US" sz="2000" dirty="0">
              <a:latin typeface="+mn-lt"/>
            </a:endParaRPr>
          </a:p>
        </p:txBody>
      </p:sp>
      <p:sp>
        <p:nvSpPr>
          <p:cNvPr id="9" name="Content Placeholder 8"/>
          <p:cNvSpPr>
            <a:spLocks noGrp="1"/>
          </p:cNvSpPr>
          <p:nvPr>
            <p:ph sz="quarter" idx="18"/>
          </p:nvPr>
        </p:nvSpPr>
        <p:spPr>
          <a:xfrm>
            <a:off x="457201" y="3827135"/>
            <a:ext cx="4850822" cy="361050"/>
          </a:xfrm>
        </p:spPr>
        <p:txBody>
          <a:bodyPr tIns="0"/>
          <a:lstStyle/>
          <a:p>
            <a:pPr marL="255600" indent="0">
              <a:buNone/>
            </a:pPr>
            <a:r>
              <a:rPr lang="en-US" altLang="en-US" sz="2000" dirty="0">
                <a:latin typeface="+mn-lt"/>
                <a:ea typeface="ヒラギノ角ゴ Pro W3" pitchFamily="-84" charset="-128"/>
              </a:rPr>
              <a:t>that the home country produces.</a:t>
            </a:r>
            <a:endParaRPr lang="en-US" sz="2000" dirty="0">
              <a:latin typeface="+mn-lt"/>
            </a:endParaRPr>
          </a:p>
        </p:txBody>
      </p:sp>
      <p:sp>
        <p:nvSpPr>
          <p:cNvPr id="10" name="Content Placeholder 9"/>
          <p:cNvSpPr>
            <a:spLocks noGrp="1"/>
          </p:cNvSpPr>
          <p:nvPr>
            <p:ph sz="quarter" idx="19"/>
          </p:nvPr>
        </p:nvSpPr>
        <p:spPr>
          <a:xfrm>
            <a:off x="457201" y="4246372"/>
            <a:ext cx="304799" cy="407670"/>
          </a:xfrm>
        </p:spPr>
        <p:txBody>
          <a:bodyPr/>
          <a:lstStyle/>
          <a:p>
            <a:pPr marL="0" indent="0">
              <a:spcBef>
                <a:spcPts val="0"/>
              </a:spcBef>
            </a:pPr>
            <a:r>
              <a:rPr lang="en-US" sz="2000" dirty="0">
                <a:latin typeface="+mn-lt"/>
              </a:rPr>
              <a:t> </a:t>
            </a:r>
            <a:r>
              <a:rPr lang="en-US" sz="100" dirty="0">
                <a:latin typeface="+mn-lt"/>
              </a:rPr>
              <a:t> </a:t>
            </a:r>
          </a:p>
        </p:txBody>
      </p:sp>
      <p:graphicFrame>
        <p:nvGraphicFramePr>
          <p:cNvPr id="14" name="Object 13" descr="a sub start expression L W end expression"/>
          <p:cNvGraphicFramePr>
            <a:graphicFrameLocks noChangeAspect="1"/>
          </p:cNvGraphicFramePr>
          <p:nvPr>
            <p:extLst>
              <p:ext uri="{D42A27DB-BD31-4B8C-83A1-F6EECF244321}">
                <p14:modId xmlns:p14="http://schemas.microsoft.com/office/powerpoint/2010/main" val="2146061949"/>
              </p:ext>
            </p:extLst>
          </p:nvPr>
        </p:nvGraphicFramePr>
        <p:xfrm>
          <a:off x="855851" y="4284472"/>
          <a:ext cx="409069" cy="334694"/>
        </p:xfrm>
        <a:graphic>
          <a:graphicData uri="http://schemas.openxmlformats.org/presentationml/2006/ole">
            <mc:AlternateContent xmlns:mc="http://schemas.openxmlformats.org/markup-compatibility/2006">
              <mc:Choice xmlns:v="urn:schemas-microsoft-com:vml" Requires="v">
                <p:oleObj spid="_x0000_s4132" name="Equation" r:id="rId8" imgW="279360" imgH="228600" progId="Equation.DSMT4">
                  <p:embed/>
                </p:oleObj>
              </mc:Choice>
              <mc:Fallback>
                <p:oleObj name="Equation" r:id="rId8" imgW="279360" imgH="228600" progId="Equation.DSMT4">
                  <p:embed/>
                  <p:pic>
                    <p:nvPicPr>
                      <p:cNvPr id="14" name="Object 13"/>
                      <p:cNvPicPr/>
                      <p:nvPr/>
                    </p:nvPicPr>
                    <p:blipFill>
                      <a:blip r:embed="rId9"/>
                      <a:stretch>
                        <a:fillRect/>
                      </a:stretch>
                    </p:blipFill>
                    <p:spPr>
                      <a:xfrm>
                        <a:off x="855851" y="4284472"/>
                        <a:ext cx="409069" cy="334694"/>
                      </a:xfrm>
                      <a:prstGeom prst="rect">
                        <a:avLst/>
                      </a:prstGeom>
                    </p:spPr>
                  </p:pic>
                </p:oleObj>
              </mc:Fallback>
            </mc:AlternateContent>
          </a:graphicData>
        </a:graphic>
      </p:graphicFrame>
      <p:sp>
        <p:nvSpPr>
          <p:cNvPr id="11" name="Content Placeholder 10"/>
          <p:cNvSpPr>
            <a:spLocks noGrp="1"/>
          </p:cNvSpPr>
          <p:nvPr>
            <p:ph sz="quarter" idx="20"/>
          </p:nvPr>
        </p:nvSpPr>
        <p:spPr>
          <a:xfrm>
            <a:off x="1375789" y="4299712"/>
            <a:ext cx="7158611" cy="334694"/>
          </a:xfrm>
        </p:spPr>
        <p:txBody>
          <a:bodyPr tIns="0"/>
          <a:lstStyle/>
          <a:p>
            <a:pPr marL="0" indent="-486918">
              <a:buNone/>
            </a:pPr>
            <a:r>
              <a:rPr lang="en-US" altLang="en-US" sz="2000" dirty="0">
                <a:latin typeface="+mn-lt"/>
                <a:ea typeface="ヒラギノ角ゴ Pro W3" pitchFamily="-84" charset="-128"/>
              </a:rPr>
              <a:t>indicates the </a:t>
            </a:r>
            <a:r>
              <a:rPr lang="en-US" altLang="en-US" sz="2000" dirty="0">
                <a:latin typeface="+mn-lt"/>
              </a:rPr>
              <a:t>amount of labor required for each gallon of wine</a:t>
            </a:r>
            <a:endParaRPr lang="en-US" sz="2000" dirty="0">
              <a:latin typeface="+mn-lt"/>
            </a:endParaRPr>
          </a:p>
        </p:txBody>
      </p:sp>
      <p:sp>
        <p:nvSpPr>
          <p:cNvPr id="15" name="Content Placeholder 14"/>
          <p:cNvSpPr>
            <a:spLocks noGrp="1"/>
          </p:cNvSpPr>
          <p:nvPr>
            <p:ph sz="quarter" idx="21"/>
          </p:nvPr>
        </p:nvSpPr>
        <p:spPr>
          <a:xfrm>
            <a:off x="769620" y="4720082"/>
            <a:ext cx="2761413" cy="344698"/>
          </a:xfrm>
        </p:spPr>
        <p:txBody>
          <a:bodyPr tIns="0"/>
          <a:lstStyle/>
          <a:p>
            <a:pPr marL="0" indent="0">
              <a:buNone/>
            </a:pPr>
            <a:r>
              <a:rPr lang="en-US" altLang="en-US" sz="2000" dirty="0">
                <a:latin typeface="+mn-lt"/>
              </a:rPr>
              <a:t>produced (a constant)</a:t>
            </a:r>
            <a:r>
              <a:rPr lang="en-US" altLang="en-US" sz="2000" dirty="0">
                <a:latin typeface="+mn-lt"/>
                <a:ea typeface="ヒラギノ角ゴ Pro W3" pitchFamily="-84" charset="-128"/>
              </a:rPr>
              <a:t>.</a:t>
            </a:r>
          </a:p>
        </p:txBody>
      </p:sp>
      <p:sp>
        <p:nvSpPr>
          <p:cNvPr id="16" name="Content Placeholder 15"/>
          <p:cNvSpPr>
            <a:spLocks noGrp="1"/>
          </p:cNvSpPr>
          <p:nvPr>
            <p:ph sz="quarter" idx="22"/>
          </p:nvPr>
        </p:nvSpPr>
        <p:spPr>
          <a:xfrm>
            <a:off x="457200" y="5122672"/>
            <a:ext cx="2286000" cy="445008"/>
          </a:xfrm>
        </p:spPr>
        <p:txBody>
          <a:bodyPr/>
          <a:lstStyle/>
          <a:p>
            <a:pPr indent="-255600"/>
            <a:r>
              <a:rPr lang="en-US" altLang="en-US" sz="2000" dirty="0">
                <a:latin typeface="+mn-lt"/>
                <a:ea typeface="ヒラギノ角ゴ Pro W3" pitchFamily="-84" charset="-128"/>
              </a:rPr>
              <a:t>Wine production</a:t>
            </a:r>
            <a:endParaRPr lang="en-US" sz="2000" dirty="0">
              <a:latin typeface="+mn-lt"/>
            </a:endParaRPr>
          </a:p>
        </p:txBody>
      </p:sp>
      <p:graphicFrame>
        <p:nvGraphicFramePr>
          <p:cNvPr id="20" name="Object 19" descr="Q sub W"/>
          <p:cNvGraphicFramePr>
            <a:graphicFrameLocks noChangeAspect="1"/>
          </p:cNvGraphicFramePr>
          <p:nvPr>
            <p:extLst>
              <p:ext uri="{D42A27DB-BD31-4B8C-83A1-F6EECF244321}">
                <p14:modId xmlns:p14="http://schemas.microsoft.com/office/powerpoint/2010/main" val="1297037194"/>
              </p:ext>
            </p:extLst>
          </p:nvPr>
        </p:nvGraphicFramePr>
        <p:xfrm>
          <a:off x="2840254" y="5190404"/>
          <a:ext cx="353580" cy="334818"/>
        </p:xfrm>
        <a:graphic>
          <a:graphicData uri="http://schemas.openxmlformats.org/presentationml/2006/ole">
            <mc:AlternateContent xmlns:mc="http://schemas.openxmlformats.org/markup-compatibility/2006">
              <mc:Choice xmlns:v="urn:schemas-microsoft-com:vml" Requires="v">
                <p:oleObj spid="_x0000_s4133" name="Equation" r:id="rId10" imgW="241200" imgH="228600" progId="Equation.DSMT4">
                  <p:embed/>
                </p:oleObj>
              </mc:Choice>
              <mc:Fallback>
                <p:oleObj name="Equation" r:id="rId10" imgW="241200" imgH="228600" progId="Equation.DSMT4">
                  <p:embed/>
                  <p:pic>
                    <p:nvPicPr>
                      <p:cNvPr id="20" name="Object 19"/>
                      <p:cNvPicPr/>
                      <p:nvPr/>
                    </p:nvPicPr>
                    <p:blipFill>
                      <a:blip r:embed="rId11"/>
                      <a:stretch>
                        <a:fillRect/>
                      </a:stretch>
                    </p:blipFill>
                    <p:spPr>
                      <a:xfrm>
                        <a:off x="2840254" y="5190404"/>
                        <a:ext cx="353580" cy="334818"/>
                      </a:xfrm>
                      <a:prstGeom prst="rect">
                        <a:avLst/>
                      </a:prstGeom>
                    </p:spPr>
                  </p:pic>
                </p:oleObj>
              </mc:Fallback>
            </mc:AlternateContent>
          </a:graphicData>
        </a:graphic>
      </p:graphicFrame>
      <p:sp>
        <p:nvSpPr>
          <p:cNvPr id="17" name="Content Placeholder 16"/>
          <p:cNvSpPr>
            <a:spLocks noGrp="1"/>
          </p:cNvSpPr>
          <p:nvPr>
            <p:ph sz="quarter" idx="23"/>
          </p:nvPr>
        </p:nvSpPr>
        <p:spPr>
          <a:xfrm>
            <a:off x="3326823" y="5180036"/>
            <a:ext cx="4250505" cy="353989"/>
          </a:xfrm>
        </p:spPr>
        <p:txBody>
          <a:bodyPr tIns="0"/>
          <a:lstStyle/>
          <a:p>
            <a:pPr marL="0" indent="-486918">
              <a:buNone/>
            </a:pPr>
            <a:r>
              <a:rPr lang="en-US" altLang="en-US" sz="2000" dirty="0">
                <a:latin typeface="+mn-lt"/>
                <a:ea typeface="ヒラギノ角ゴ Pro W3" pitchFamily="-84" charset="-128"/>
              </a:rPr>
              <a:t>indicates how many total gallons of</a:t>
            </a:r>
            <a:endParaRPr lang="en-US" sz="2000" dirty="0">
              <a:latin typeface="+mn-lt"/>
            </a:endParaRPr>
          </a:p>
        </p:txBody>
      </p:sp>
      <p:sp>
        <p:nvSpPr>
          <p:cNvPr id="18" name="Content Placeholder 17"/>
          <p:cNvSpPr>
            <a:spLocks noGrp="1"/>
          </p:cNvSpPr>
          <p:nvPr>
            <p:ph sz="quarter" idx="24"/>
          </p:nvPr>
        </p:nvSpPr>
        <p:spPr>
          <a:xfrm>
            <a:off x="457201" y="5650257"/>
            <a:ext cx="4698422" cy="360411"/>
          </a:xfrm>
        </p:spPr>
        <p:txBody>
          <a:bodyPr tIns="0"/>
          <a:lstStyle/>
          <a:p>
            <a:pPr marL="255600" indent="0">
              <a:buNone/>
            </a:pPr>
            <a:r>
              <a:rPr lang="en-US" altLang="en-US" sz="2000" dirty="0">
                <a:latin typeface="+mn-lt"/>
                <a:ea typeface="ヒラギノ角ゴ Pro W3" pitchFamily="-84" charset="-128"/>
              </a:rPr>
              <a:t>wine that the home country produces.</a:t>
            </a:r>
          </a:p>
        </p:txBody>
      </p:sp>
    </p:spTree>
    <p:extLst>
      <p:ext uri="{BB962C8B-B14F-4D97-AF65-F5344CB8AC3E}">
        <p14:creationId xmlns:p14="http://schemas.microsoft.com/office/powerpoint/2010/main" val="3076719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(1 of 6)</a:t>
            </a:r>
            <a:endParaRPr lang="en-IN" dirty="0"/>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8229600" cy="1847273"/>
          </a:xfrm>
        </p:spPr>
        <p:txBody>
          <a:bodyPr/>
          <a:lstStyle/>
          <a:p>
            <a:r>
              <a:rPr lang="en-US" altLang="en-US" sz="2400" dirty="0">
                <a:ea typeface="ヒラギノ角ゴ Pro W3" pitchFamily="-84" charset="-128"/>
              </a:rPr>
              <a:t>The </a:t>
            </a:r>
            <a:r>
              <a:rPr lang="en-US" altLang="en-US" sz="2400" b="1" dirty="0">
                <a:ea typeface="ヒラギノ角ゴ Pro W3" pitchFamily="-84" charset="-128"/>
              </a:rPr>
              <a:t>production possibility frontier</a:t>
            </a:r>
            <a:r>
              <a:rPr lang="en-US" altLang="en-US" sz="2400" dirty="0">
                <a:ea typeface="ヒラギノ角ゴ Pro W3" pitchFamily="-84" charset="-128"/>
              </a:rPr>
              <a:t>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of an economy shows the </a:t>
            </a:r>
            <a:r>
              <a:rPr lang="en-US" altLang="en-US" sz="2400" b="1" dirty="0">
                <a:ea typeface="ヒラギノ角ゴ Pro W3" pitchFamily="-84" charset="-128"/>
              </a:rPr>
              <a:t>maximum</a:t>
            </a:r>
            <a:r>
              <a:rPr lang="en-US" altLang="en-US" sz="2400" dirty="0">
                <a:ea typeface="ヒラギノ角ゴ Pro W3" pitchFamily="-84" charset="-128"/>
              </a:rPr>
              <a:t> amount of a goods that can be produced for a fixed amount of resources.</a:t>
            </a:r>
          </a:p>
          <a:p>
            <a:r>
              <a:rPr lang="en-US" altLang="en-US" sz="2400" dirty="0">
                <a:ea typeface="ヒラギノ角ゴ Pro W3" pitchFamily="-84" charset="-128"/>
              </a:rPr>
              <a:t>The PPF of the home economy is</a:t>
            </a:r>
            <a:endParaRPr lang="en-IN" dirty="0"/>
          </a:p>
        </p:txBody>
      </p:sp>
      <p:graphicFrame>
        <p:nvGraphicFramePr>
          <p:cNvPr id="4" name="Object 3" descr="a sub start expression L C end expression Q sub C + a sub start expression L W end expression Q sub W is less than or equal to L ">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1537489985"/>
              </p:ext>
            </p:extLst>
          </p:nvPr>
        </p:nvGraphicFramePr>
        <p:xfrm>
          <a:off x="3024188" y="3773488"/>
          <a:ext cx="2349500" cy="447675"/>
        </p:xfrm>
        <a:graphic>
          <a:graphicData uri="http://schemas.openxmlformats.org/presentationml/2006/ole">
            <mc:AlternateContent xmlns:mc="http://schemas.openxmlformats.org/markup-compatibility/2006">
              <mc:Choice xmlns:v="urn:schemas-microsoft-com:vml" Requires="v">
                <p:oleObj spid="_x0000_s5130" name="Equation" r:id="rId3" imgW="1206360" imgH="228600" progId="Equation.DSMT4">
                  <p:embed/>
                </p:oleObj>
              </mc:Choice>
              <mc:Fallback>
                <p:oleObj name="Equation" r:id="rId3" imgW="1206360" imgH="228600" progId="Equation.DSMT4">
                  <p:embed/>
                  <p:pic>
                    <p:nvPicPr>
                      <p:cNvPr id="12" name="Object 11"/>
                      <p:cNvPicPr/>
                      <p:nvPr/>
                    </p:nvPicPr>
                    <p:blipFill>
                      <a:blip r:embed="rId4"/>
                      <a:stretch>
                        <a:fillRect/>
                      </a:stretch>
                    </p:blipFill>
                    <p:spPr>
                      <a:xfrm>
                        <a:off x="3024188" y="3773488"/>
                        <a:ext cx="2349500" cy="447675"/>
                      </a:xfrm>
                      <a:prstGeom prst="rect">
                        <a:avLst/>
                      </a:prstGeom>
                    </p:spPr>
                  </p:pic>
                </p:oleObj>
              </mc:Fallback>
            </mc:AlternateContent>
          </a:graphicData>
        </a:graphic>
      </p:graphicFrame>
    </p:spTree>
    <p:extLst>
      <p:ext uri="{BB962C8B-B14F-4D97-AF65-F5344CB8AC3E}">
        <p14:creationId xmlns:p14="http://schemas.microsoft.com/office/powerpoint/2010/main" val="429980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(2 of 6)</a:t>
            </a:r>
            <a:endParaRPr lang="en-IN" dirty="0"/>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5557520" cy="516313"/>
          </a:xfrm>
        </p:spPr>
        <p:txBody>
          <a:bodyPr/>
          <a:lstStyle/>
          <a:p>
            <a:r>
              <a:rPr lang="en-US" altLang="en-US" sz="2400" dirty="0">
                <a:ea typeface="ヒラギノ角ゴ Pro W3" pitchFamily="-84" charset="-128"/>
              </a:rPr>
              <a:t>Maximum home cheese production is</a:t>
            </a:r>
            <a:endParaRPr lang="en-US" sz="2400" dirty="0"/>
          </a:p>
        </p:txBody>
      </p:sp>
      <p:graphicFrame>
        <p:nvGraphicFramePr>
          <p:cNvPr id="4" name="Object 3" descr="Q sub C = start fraction L over a sub start expression L C end expression end fraction when Q sub W = 0.">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2768318087"/>
              </p:ext>
            </p:extLst>
          </p:nvPr>
        </p:nvGraphicFramePr>
        <p:xfrm>
          <a:off x="2718955" y="2405352"/>
          <a:ext cx="2785341" cy="767773"/>
        </p:xfrm>
        <a:graphic>
          <a:graphicData uri="http://schemas.openxmlformats.org/presentationml/2006/ole">
            <mc:AlternateContent xmlns:mc="http://schemas.openxmlformats.org/markup-compatibility/2006">
              <mc:Choice xmlns:v="urn:schemas-microsoft-com:vml" Requires="v">
                <p:oleObj spid="_x0000_s6162" name="Equation" r:id="rId3" imgW="1574640" imgH="431640" progId="Equation.DSMT4">
                  <p:embed/>
                </p:oleObj>
              </mc:Choice>
              <mc:Fallback>
                <p:oleObj name="Equation" r:id="rId3" imgW="1574640" imgH="431640" progId="Equation.DSMT4">
                  <p:embed/>
                  <p:pic>
                    <p:nvPicPr>
                      <p:cNvPr id="4" name="Object 3">
                        <a:extLst>
                          <a:ext uri="{FF2B5EF4-FFF2-40B4-BE49-F238E27FC236}">
                            <a16:creationId xmlns:a16="http://schemas.microsoft.com/office/drawing/2014/main" id="{4FC16E51-AAB5-465F-AB6B-B6EA4918A59B}"/>
                          </a:ext>
                        </a:extLst>
                      </p:cNvPr>
                      <p:cNvPicPr/>
                      <p:nvPr/>
                    </p:nvPicPr>
                    <p:blipFill>
                      <a:blip r:embed="rId4"/>
                      <a:stretch>
                        <a:fillRect/>
                      </a:stretch>
                    </p:blipFill>
                    <p:spPr>
                      <a:xfrm>
                        <a:off x="2718955" y="2405352"/>
                        <a:ext cx="2785341" cy="76777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C6B9E7E-5511-4B9F-BC0E-A654F3CFD670}"/>
              </a:ext>
            </a:extLst>
          </p:cNvPr>
          <p:cNvSpPr>
            <a:spLocks noGrp="1"/>
          </p:cNvSpPr>
          <p:nvPr>
            <p:ph sz="quarter" idx="14"/>
          </p:nvPr>
        </p:nvSpPr>
        <p:spPr>
          <a:xfrm>
            <a:off x="457200" y="3382645"/>
            <a:ext cx="5201920" cy="498475"/>
          </a:xfrm>
        </p:spPr>
        <p:txBody>
          <a:bodyPr/>
          <a:lstStyle/>
          <a:p>
            <a:r>
              <a:rPr lang="en-US" altLang="en-US" sz="2400" dirty="0">
                <a:ea typeface="ヒラギノ角ゴ Pro W3" pitchFamily="-84" charset="-128"/>
              </a:rPr>
              <a:t>Maximum home wine production is</a:t>
            </a:r>
            <a:endParaRPr lang="en-US" sz="2400" dirty="0"/>
          </a:p>
        </p:txBody>
      </p:sp>
      <p:graphicFrame>
        <p:nvGraphicFramePr>
          <p:cNvPr id="6" name="Object 5" descr="Q sub W = start fraction L over a sub start expression L W end expression end fraction when Q sub C = 0.">
            <a:extLst>
              <a:ext uri="{FF2B5EF4-FFF2-40B4-BE49-F238E27FC236}">
                <a16:creationId xmlns:a16="http://schemas.microsoft.com/office/drawing/2014/main" id="{18C238A1-A057-48A3-B232-7F8C92DC9E9C}"/>
              </a:ext>
            </a:extLst>
          </p:cNvPr>
          <p:cNvGraphicFramePr>
            <a:graphicFrameLocks noChangeAspect="1"/>
          </p:cNvGraphicFramePr>
          <p:nvPr>
            <p:extLst>
              <p:ext uri="{D42A27DB-BD31-4B8C-83A1-F6EECF244321}">
                <p14:modId xmlns:p14="http://schemas.microsoft.com/office/powerpoint/2010/main" val="293979824"/>
              </p:ext>
            </p:extLst>
          </p:nvPr>
        </p:nvGraphicFramePr>
        <p:xfrm>
          <a:off x="2487996" y="4102021"/>
          <a:ext cx="3193891" cy="839947"/>
        </p:xfrm>
        <a:graphic>
          <a:graphicData uri="http://schemas.openxmlformats.org/presentationml/2006/ole">
            <mc:AlternateContent xmlns:mc="http://schemas.openxmlformats.org/markup-compatibility/2006">
              <mc:Choice xmlns:v="urn:schemas-microsoft-com:vml" Requires="v">
                <p:oleObj spid="_x0000_s6163" name="Equation" r:id="rId5" imgW="1638000" imgH="431640" progId="Equation.DSMT4">
                  <p:embed/>
                </p:oleObj>
              </mc:Choice>
              <mc:Fallback>
                <p:oleObj name="Equation" r:id="rId5" imgW="1638000" imgH="431640" progId="Equation.DSMT4">
                  <p:embed/>
                  <p:pic>
                    <p:nvPicPr>
                      <p:cNvPr id="0" name=""/>
                      <p:cNvPicPr/>
                      <p:nvPr/>
                    </p:nvPicPr>
                    <p:blipFill>
                      <a:blip r:embed="rId6"/>
                      <a:stretch>
                        <a:fillRect/>
                      </a:stretch>
                    </p:blipFill>
                    <p:spPr>
                      <a:xfrm>
                        <a:off x="2487996" y="4102021"/>
                        <a:ext cx="3193891" cy="839947"/>
                      </a:xfrm>
                      <a:prstGeom prst="rect">
                        <a:avLst/>
                      </a:prstGeom>
                    </p:spPr>
                  </p:pic>
                </p:oleObj>
              </mc:Fallback>
            </mc:AlternateContent>
          </a:graphicData>
        </a:graphic>
      </p:graphicFrame>
    </p:spTree>
    <p:extLst>
      <p:ext uri="{BB962C8B-B14F-4D97-AF65-F5344CB8AC3E}">
        <p14:creationId xmlns:p14="http://schemas.microsoft.com/office/powerpoint/2010/main" val="1766563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75868-6491-401B-A010-93E901C6D223}"/>
              </a:ext>
            </a:extLst>
          </p:cNvPr>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(3 of 6)</a:t>
            </a:r>
            <a:endParaRPr lang="en-US" dirty="0"/>
          </a:p>
        </p:txBody>
      </p:sp>
      <p:sp>
        <p:nvSpPr>
          <p:cNvPr id="3" name="Content Placeholder 2">
            <a:extLst>
              <a:ext uri="{FF2B5EF4-FFF2-40B4-BE49-F238E27FC236}">
                <a16:creationId xmlns:a16="http://schemas.microsoft.com/office/drawing/2014/main" id="{CF83A61B-AA0C-4387-A760-619D294F1659}"/>
              </a:ext>
            </a:extLst>
          </p:cNvPr>
          <p:cNvSpPr>
            <a:spLocks noGrp="1"/>
          </p:cNvSpPr>
          <p:nvPr>
            <p:ph sz="quarter" idx="13"/>
          </p:nvPr>
        </p:nvSpPr>
        <p:spPr>
          <a:xfrm>
            <a:off x="457200" y="1552575"/>
            <a:ext cx="8229600" cy="743585"/>
          </a:xfrm>
        </p:spPr>
        <p:txBody>
          <a:bodyPr/>
          <a:lstStyle/>
          <a:p>
            <a:r>
              <a:rPr lang="en-US" altLang="en-US" sz="2000" dirty="0">
                <a:ea typeface="ヒラギノ角ゴ Pro W3" pitchFamily="-84" charset="-128"/>
              </a:rPr>
              <a:t>For example, suppose that the home economy’</a:t>
            </a:r>
            <a:r>
              <a:rPr lang="en-US" altLang="ja-JP" sz="2000" dirty="0">
                <a:ea typeface="ヒラギノ角ゴ Pro W3" pitchFamily="-84" charset="-128"/>
              </a:rPr>
              <a:t>s labor supply is 1,000 hours.</a:t>
            </a:r>
          </a:p>
        </p:txBody>
      </p:sp>
      <p:sp>
        <p:nvSpPr>
          <p:cNvPr id="4" name="Content Placeholder 3">
            <a:extLst>
              <a:ext uri="{FF2B5EF4-FFF2-40B4-BE49-F238E27FC236}">
                <a16:creationId xmlns:a16="http://schemas.microsoft.com/office/drawing/2014/main" id="{3B7FFCF3-5FEB-4E4A-B4FD-FB4E5AF7B332}"/>
              </a:ext>
            </a:extLst>
          </p:cNvPr>
          <p:cNvSpPr>
            <a:spLocks noGrp="1"/>
          </p:cNvSpPr>
          <p:nvPr>
            <p:ph sz="quarter" idx="14"/>
          </p:nvPr>
        </p:nvSpPr>
        <p:spPr>
          <a:xfrm>
            <a:off x="944880" y="2403772"/>
            <a:ext cx="365760" cy="414867"/>
          </a:xfrm>
        </p:spPr>
        <p:txBody>
          <a:bodyPr/>
          <a:lstStyle/>
          <a:p>
            <a:pPr marL="0" lvl="1" indent="0">
              <a:spcBef>
                <a:spcPts val="0"/>
              </a:spcBef>
            </a:pPr>
            <a:r>
              <a:rPr lang="en-US" sz="2000" dirty="0"/>
              <a:t> </a:t>
            </a:r>
            <a:r>
              <a:rPr lang="en-US" sz="100" dirty="0"/>
              <a:t> </a:t>
            </a:r>
          </a:p>
        </p:txBody>
      </p:sp>
      <p:graphicFrame>
        <p:nvGraphicFramePr>
          <p:cNvPr id="27" name="Object 26" descr="a sub start expression L C end expression = 1 hour per pound,">
            <a:extLst>
              <a:ext uri="{FF2B5EF4-FFF2-40B4-BE49-F238E27FC236}">
                <a16:creationId xmlns:a16="http://schemas.microsoft.com/office/drawing/2014/main" id="{5DFC3288-5D54-477D-937A-53134448C332}"/>
              </a:ext>
            </a:extLst>
          </p:cNvPr>
          <p:cNvGraphicFramePr>
            <a:graphicFrameLocks noChangeAspect="1"/>
          </p:cNvGraphicFramePr>
          <p:nvPr>
            <p:extLst>
              <p:ext uri="{D42A27DB-BD31-4B8C-83A1-F6EECF244321}">
                <p14:modId xmlns:p14="http://schemas.microsoft.com/office/powerpoint/2010/main" val="3883464247"/>
              </p:ext>
            </p:extLst>
          </p:nvPr>
        </p:nvGraphicFramePr>
        <p:xfrm>
          <a:off x="1376221" y="2476501"/>
          <a:ext cx="1820359" cy="368163"/>
        </p:xfrm>
        <a:graphic>
          <a:graphicData uri="http://schemas.openxmlformats.org/presentationml/2006/ole">
            <mc:AlternateContent xmlns:mc="http://schemas.openxmlformats.org/markup-compatibility/2006">
              <mc:Choice xmlns:v="urn:schemas-microsoft-com:vml" Requires="v">
                <p:oleObj spid="_x0000_s7194" name="Equation" r:id="rId4" imgW="1130040" imgH="228600" progId="Equation.DSMT4">
                  <p:embed/>
                </p:oleObj>
              </mc:Choice>
              <mc:Fallback>
                <p:oleObj name="Equation" r:id="rId4" imgW="1130040" imgH="228600" progId="Equation.DSMT4">
                  <p:embed/>
                  <p:pic>
                    <p:nvPicPr>
                      <p:cNvPr id="17" name="Object 16"/>
                      <p:cNvPicPr/>
                      <p:nvPr/>
                    </p:nvPicPr>
                    <p:blipFill>
                      <a:blip r:embed="rId5"/>
                      <a:stretch>
                        <a:fillRect/>
                      </a:stretch>
                    </p:blipFill>
                    <p:spPr>
                      <a:xfrm>
                        <a:off x="1376221" y="2476501"/>
                        <a:ext cx="1820359" cy="36816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2930773F-901E-4BAB-8877-AD36CA83AA8D}"/>
              </a:ext>
            </a:extLst>
          </p:cNvPr>
          <p:cNvSpPr>
            <a:spLocks noGrp="1"/>
          </p:cNvSpPr>
          <p:nvPr>
            <p:ph sz="quarter" idx="15"/>
          </p:nvPr>
        </p:nvSpPr>
        <p:spPr>
          <a:xfrm>
            <a:off x="3321216" y="2398740"/>
            <a:ext cx="5261081" cy="434188"/>
          </a:xfrm>
        </p:spPr>
        <p:txBody>
          <a:bodyPr/>
          <a:lstStyle/>
          <a:p>
            <a:pPr marL="0" lvl="1" indent="0">
              <a:buNone/>
            </a:pPr>
            <a:r>
              <a:rPr lang="en-US" altLang="en-US" sz="2000" dirty="0">
                <a:ea typeface="ヒラギノ角ゴ Pro W3" pitchFamily="-84" charset="-128"/>
              </a:rPr>
              <a:t>so one hour of labor produces one pound of</a:t>
            </a:r>
            <a:endParaRPr lang="en-US" sz="2000" dirty="0"/>
          </a:p>
        </p:txBody>
      </p:sp>
      <p:sp>
        <p:nvSpPr>
          <p:cNvPr id="6" name="Content Placeholder 5">
            <a:extLst>
              <a:ext uri="{FF2B5EF4-FFF2-40B4-BE49-F238E27FC236}">
                <a16:creationId xmlns:a16="http://schemas.microsoft.com/office/drawing/2014/main" id="{F7FF5E49-088C-4DDA-85F7-23C684E068FB}"/>
              </a:ext>
            </a:extLst>
          </p:cNvPr>
          <p:cNvSpPr>
            <a:spLocks noGrp="1"/>
          </p:cNvSpPr>
          <p:nvPr>
            <p:ph sz="quarter" idx="16"/>
          </p:nvPr>
        </p:nvSpPr>
        <p:spPr>
          <a:xfrm>
            <a:off x="457199" y="2945865"/>
            <a:ext cx="4466813" cy="477607"/>
          </a:xfrm>
        </p:spPr>
        <p:txBody>
          <a:bodyPr/>
          <a:lstStyle/>
          <a:p>
            <a:pPr marL="741600" lvl="1" indent="0">
              <a:buNone/>
            </a:pPr>
            <a:r>
              <a:rPr lang="en-US" altLang="en-US" sz="2000" dirty="0">
                <a:ea typeface="ヒラギノ角ゴ Pro W3" pitchFamily="-84" charset="-128"/>
              </a:rPr>
              <a:t>cheese in the home country.</a:t>
            </a:r>
          </a:p>
        </p:txBody>
      </p:sp>
      <p:sp>
        <p:nvSpPr>
          <p:cNvPr id="7" name="Content Placeholder 6">
            <a:extLst>
              <a:ext uri="{FF2B5EF4-FFF2-40B4-BE49-F238E27FC236}">
                <a16:creationId xmlns:a16="http://schemas.microsoft.com/office/drawing/2014/main" id="{ACAF24B4-F237-4345-A78C-AC34F7AEC745}"/>
              </a:ext>
            </a:extLst>
          </p:cNvPr>
          <p:cNvSpPr>
            <a:spLocks noGrp="1"/>
          </p:cNvSpPr>
          <p:nvPr>
            <p:ph sz="quarter" idx="17"/>
          </p:nvPr>
        </p:nvSpPr>
        <p:spPr>
          <a:xfrm>
            <a:off x="944880" y="3485204"/>
            <a:ext cx="365760" cy="444171"/>
          </a:xfrm>
        </p:spPr>
        <p:txBody>
          <a:bodyPr/>
          <a:lstStyle/>
          <a:p>
            <a:pPr marL="0" lvl="1" indent="0">
              <a:spcBef>
                <a:spcPts val="0"/>
              </a:spcBef>
            </a:pPr>
            <a:r>
              <a:rPr lang="en-US" sz="2000" dirty="0"/>
              <a:t> </a:t>
            </a:r>
            <a:r>
              <a:rPr lang="en-US" sz="100" dirty="0"/>
              <a:t> </a:t>
            </a:r>
          </a:p>
        </p:txBody>
      </p:sp>
      <p:graphicFrame>
        <p:nvGraphicFramePr>
          <p:cNvPr id="28" name="Object 27" descr="a sub start expression L W end expression = 2 hours per gallon,">
            <a:extLst>
              <a:ext uri="{FF2B5EF4-FFF2-40B4-BE49-F238E27FC236}">
                <a16:creationId xmlns:a16="http://schemas.microsoft.com/office/drawing/2014/main" id="{67062A89-E497-431F-8846-CC2FD09C93C1}"/>
              </a:ext>
            </a:extLst>
          </p:cNvPr>
          <p:cNvGraphicFramePr>
            <a:graphicFrameLocks noChangeAspect="1"/>
          </p:cNvGraphicFramePr>
          <p:nvPr>
            <p:extLst>
              <p:ext uri="{D42A27DB-BD31-4B8C-83A1-F6EECF244321}">
                <p14:modId xmlns:p14="http://schemas.microsoft.com/office/powerpoint/2010/main" val="1055081851"/>
              </p:ext>
            </p:extLst>
          </p:nvPr>
        </p:nvGraphicFramePr>
        <p:xfrm>
          <a:off x="1376221" y="3561212"/>
          <a:ext cx="2372603" cy="368163"/>
        </p:xfrm>
        <a:graphic>
          <a:graphicData uri="http://schemas.openxmlformats.org/presentationml/2006/ole">
            <mc:AlternateContent xmlns:mc="http://schemas.openxmlformats.org/markup-compatibility/2006">
              <mc:Choice xmlns:v="urn:schemas-microsoft-com:vml" Requires="v">
                <p:oleObj spid="_x0000_s7195" name="Equation" r:id="rId6" imgW="1473120" imgH="228600" progId="Equation.DSMT4">
                  <p:embed/>
                </p:oleObj>
              </mc:Choice>
              <mc:Fallback>
                <p:oleObj name="Equation" r:id="rId6" imgW="1473120" imgH="228600" progId="Equation.DSMT4">
                  <p:embed/>
                  <p:pic>
                    <p:nvPicPr>
                      <p:cNvPr id="18" name="Object 17"/>
                      <p:cNvPicPr/>
                      <p:nvPr/>
                    </p:nvPicPr>
                    <p:blipFill>
                      <a:blip r:embed="rId7"/>
                      <a:stretch>
                        <a:fillRect/>
                      </a:stretch>
                    </p:blipFill>
                    <p:spPr>
                      <a:xfrm>
                        <a:off x="1376221" y="3561212"/>
                        <a:ext cx="2372603" cy="36816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3A19E83-0DDE-4378-8B74-D5AE58A0BA38}"/>
              </a:ext>
            </a:extLst>
          </p:cNvPr>
          <p:cNvSpPr>
            <a:spLocks noGrp="1"/>
          </p:cNvSpPr>
          <p:nvPr>
            <p:ph sz="quarter" idx="18"/>
          </p:nvPr>
        </p:nvSpPr>
        <p:spPr>
          <a:xfrm>
            <a:off x="3814405" y="3485204"/>
            <a:ext cx="4175449" cy="464944"/>
          </a:xfrm>
        </p:spPr>
        <p:txBody>
          <a:bodyPr/>
          <a:lstStyle/>
          <a:p>
            <a:pPr marL="0" lvl="1" indent="0">
              <a:buNone/>
            </a:pPr>
            <a:r>
              <a:rPr lang="en-US" altLang="en-US" sz="2000" dirty="0">
                <a:ea typeface="ヒラギノ角ゴ Pro W3" pitchFamily="-84" charset="-128"/>
              </a:rPr>
              <a:t>so two hours of labor produces one</a:t>
            </a:r>
            <a:endParaRPr lang="en-US" sz="2000" dirty="0"/>
          </a:p>
        </p:txBody>
      </p:sp>
      <p:sp>
        <p:nvSpPr>
          <p:cNvPr id="9" name="Content Placeholder 8">
            <a:extLst>
              <a:ext uri="{FF2B5EF4-FFF2-40B4-BE49-F238E27FC236}">
                <a16:creationId xmlns:a16="http://schemas.microsoft.com/office/drawing/2014/main" id="{763ACECB-5E77-44DD-9DA3-BFB40C96E06C}"/>
              </a:ext>
            </a:extLst>
          </p:cNvPr>
          <p:cNvSpPr>
            <a:spLocks noGrp="1"/>
          </p:cNvSpPr>
          <p:nvPr>
            <p:ph sz="quarter" idx="19"/>
          </p:nvPr>
        </p:nvSpPr>
        <p:spPr>
          <a:xfrm>
            <a:off x="457201" y="4017759"/>
            <a:ext cx="5180075" cy="478888"/>
          </a:xfrm>
        </p:spPr>
        <p:txBody>
          <a:bodyPr/>
          <a:lstStyle/>
          <a:p>
            <a:pPr marL="741600" lvl="1" indent="0">
              <a:buNone/>
            </a:pPr>
            <a:r>
              <a:rPr lang="en-US" altLang="en-US" sz="2000" dirty="0">
                <a:ea typeface="ヒラギノ角ゴ Pro W3" pitchFamily="-84" charset="-128"/>
              </a:rPr>
              <a:t>gallon of wine in the home country.</a:t>
            </a:r>
          </a:p>
        </p:txBody>
      </p:sp>
      <p:sp>
        <p:nvSpPr>
          <p:cNvPr id="10" name="Content Placeholder 9">
            <a:extLst>
              <a:ext uri="{FF2B5EF4-FFF2-40B4-BE49-F238E27FC236}">
                <a16:creationId xmlns:a16="http://schemas.microsoft.com/office/drawing/2014/main" id="{370279AF-2F2C-4773-A622-1C14C05A4B5E}"/>
              </a:ext>
            </a:extLst>
          </p:cNvPr>
          <p:cNvSpPr>
            <a:spLocks noGrp="1"/>
          </p:cNvSpPr>
          <p:nvPr>
            <p:ph sz="quarter" idx="20"/>
          </p:nvPr>
        </p:nvSpPr>
        <p:spPr>
          <a:xfrm>
            <a:off x="457201" y="4646206"/>
            <a:ext cx="2560319" cy="440397"/>
          </a:xfrm>
        </p:spPr>
        <p:txBody>
          <a:bodyPr/>
          <a:lstStyle/>
          <a:p>
            <a:r>
              <a:rPr lang="en-US" altLang="en-US" sz="2000" dirty="0">
                <a:ea typeface="ヒラギノ角ゴ Pro W3" pitchFamily="-84" charset="-128"/>
              </a:rPr>
              <a:t>The P</a:t>
            </a:r>
            <a:r>
              <a:rPr lang="en-US" altLang="en-US" sz="100" dirty="0">
                <a:ea typeface="ヒラギノ角ゴ Pro W3" pitchFamily="-84" charset="-128"/>
              </a:rPr>
              <a:t> </a:t>
            </a:r>
            <a:r>
              <a:rPr lang="en-US" altLang="en-US" sz="2000" dirty="0">
                <a:ea typeface="ヒラギノ角ゴ Pro W3" pitchFamily="-84" charset="-128"/>
              </a:rPr>
              <a:t>P</a:t>
            </a:r>
            <a:r>
              <a:rPr lang="en-US" altLang="en-US" sz="100" dirty="0">
                <a:ea typeface="ヒラギノ角ゴ Pro W3" pitchFamily="-84" charset="-128"/>
              </a:rPr>
              <a:t> </a:t>
            </a:r>
            <a:r>
              <a:rPr lang="en-US" altLang="en-US" sz="2000" dirty="0">
                <a:ea typeface="ヒラギノ角ゴ Pro W3" pitchFamily="-84" charset="-128"/>
              </a:rPr>
              <a:t>F equation</a:t>
            </a:r>
            <a:endParaRPr lang="en-US" sz="2000" dirty="0"/>
          </a:p>
        </p:txBody>
      </p:sp>
      <p:graphicFrame>
        <p:nvGraphicFramePr>
          <p:cNvPr id="29" name="Object 28" descr="a sub start expression L C end expression Q sub C + a sub start expression L W end expression Q sub W is less than or equal to L becomes Q sub C + 2 Q sub W is less than or equal to 1,000.">
            <a:extLst>
              <a:ext uri="{FF2B5EF4-FFF2-40B4-BE49-F238E27FC236}">
                <a16:creationId xmlns:a16="http://schemas.microsoft.com/office/drawing/2014/main" id="{1F62A488-ACF3-47D8-9F4A-3222AA224D02}"/>
              </a:ext>
            </a:extLst>
          </p:cNvPr>
          <p:cNvGraphicFramePr>
            <a:graphicFrameLocks noChangeAspect="1"/>
          </p:cNvGraphicFramePr>
          <p:nvPr>
            <p:extLst>
              <p:ext uri="{D42A27DB-BD31-4B8C-83A1-F6EECF244321}">
                <p14:modId xmlns:p14="http://schemas.microsoft.com/office/powerpoint/2010/main" val="484842100"/>
              </p:ext>
            </p:extLst>
          </p:nvPr>
        </p:nvGraphicFramePr>
        <p:xfrm>
          <a:off x="3119120" y="4726247"/>
          <a:ext cx="5052009" cy="368163"/>
        </p:xfrm>
        <a:graphic>
          <a:graphicData uri="http://schemas.openxmlformats.org/presentationml/2006/ole">
            <mc:AlternateContent xmlns:mc="http://schemas.openxmlformats.org/markup-compatibility/2006">
              <mc:Choice xmlns:v="urn:schemas-microsoft-com:vml" Requires="v">
                <p:oleObj spid="_x0000_s7196" name="Equation" r:id="rId8" imgW="3136680" imgH="228600" progId="Equation.DSMT4">
                  <p:embed/>
                </p:oleObj>
              </mc:Choice>
              <mc:Fallback>
                <p:oleObj name="Equation" r:id="rId8" imgW="3136680" imgH="228600" progId="Equation.DSMT4">
                  <p:embed/>
                  <p:pic>
                    <p:nvPicPr>
                      <p:cNvPr id="19" name="Object 18"/>
                      <p:cNvPicPr/>
                      <p:nvPr/>
                    </p:nvPicPr>
                    <p:blipFill>
                      <a:blip r:embed="rId9"/>
                      <a:stretch>
                        <a:fillRect/>
                      </a:stretch>
                    </p:blipFill>
                    <p:spPr>
                      <a:xfrm>
                        <a:off x="3119120" y="4726247"/>
                        <a:ext cx="5052009" cy="368163"/>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AD239BBB-35CF-4155-B473-B593C99CAB61}"/>
              </a:ext>
            </a:extLst>
          </p:cNvPr>
          <p:cNvSpPr>
            <a:spLocks noGrp="1"/>
          </p:cNvSpPr>
          <p:nvPr>
            <p:ph sz="quarter" idx="21"/>
          </p:nvPr>
        </p:nvSpPr>
        <p:spPr>
          <a:xfrm>
            <a:off x="457200" y="5247091"/>
            <a:ext cx="8229600" cy="995192"/>
          </a:xfrm>
        </p:spPr>
        <p:txBody>
          <a:bodyPr/>
          <a:lstStyle/>
          <a:p>
            <a:r>
              <a:rPr lang="en-US" altLang="en-US" sz="2000" dirty="0">
                <a:ea typeface="ヒラギノ角ゴ Pro W3" pitchFamily="-84" charset="-128"/>
              </a:rPr>
              <a:t>Maximum cheese production is 1,000 pounds.</a:t>
            </a:r>
          </a:p>
          <a:p>
            <a:r>
              <a:rPr lang="en-US" altLang="en-US" sz="2000" dirty="0">
                <a:ea typeface="ヒラギノ角ゴ Pro W3" pitchFamily="-84" charset="-128"/>
              </a:rPr>
              <a:t>Maximum wine production is 500 gallons.</a:t>
            </a:r>
            <a:endParaRPr lang="en-US" sz="2000" dirty="0"/>
          </a:p>
        </p:txBody>
      </p:sp>
    </p:spTree>
    <p:extLst>
      <p:ext uri="{BB962C8B-B14F-4D97-AF65-F5344CB8AC3E}">
        <p14:creationId xmlns:p14="http://schemas.microsoft.com/office/powerpoint/2010/main" val="1277371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6243-0863-43B1-9B28-31CB557F6CE6}"/>
              </a:ext>
            </a:extLst>
          </p:cNvPr>
          <p:cNvSpPr>
            <a:spLocks noGrp="1"/>
          </p:cNvSpPr>
          <p:nvPr>
            <p:ph type="title"/>
          </p:nvPr>
        </p:nvSpPr>
        <p:spPr/>
        <p:txBody>
          <a:bodyPr/>
          <a:lstStyle/>
          <a:p>
            <a:r>
              <a:rPr lang="en-US" altLang="en-US" sz="3200" dirty="0">
                <a:ea typeface="ヒラギノ角ゴ Pro W3" pitchFamily="-84" charset="-128"/>
              </a:rPr>
              <a:t>Figure 3.1 Home’</a:t>
            </a:r>
            <a:r>
              <a:rPr lang="en-US" altLang="ja-JP" sz="3200" dirty="0">
                <a:ea typeface="ヒラギノ角ゴ Pro W3" pitchFamily="-84" charset="-128"/>
              </a:rPr>
              <a:t>s Production Possibility Frontier</a:t>
            </a:r>
            <a:endParaRPr lang="en-IN" sz="3200" dirty="0"/>
          </a:p>
        </p:txBody>
      </p:sp>
      <p:pic>
        <p:nvPicPr>
          <p:cNvPr id="6" name="Content Placeholder 5" descr="A graph plots home wine production in gallons, Q sub w, versus home cheese production in pounds, Q sub c. For long description in Notes pane, press F6.">
            <a:extLst>
              <a:ext uri="{FF2B5EF4-FFF2-40B4-BE49-F238E27FC236}">
                <a16:creationId xmlns:a16="http://schemas.microsoft.com/office/drawing/2014/main" id="{32D60F2C-325E-4684-9E6A-8B7EB0B9CE19}"/>
              </a:ext>
            </a:extLst>
          </p:cNvPr>
          <p:cNvPicPr>
            <a:picLocks noGrp="1" noChangeAspect="1"/>
          </p:cNvPicPr>
          <p:nvPr>
            <p:ph sz="quarter" idx="13"/>
          </p:nvPr>
        </p:nvPicPr>
        <p:blipFill>
          <a:blip r:embed="rId3"/>
          <a:stretch>
            <a:fillRect/>
          </a:stretch>
        </p:blipFill>
        <p:spPr>
          <a:xfrm>
            <a:off x="2534063" y="1715845"/>
            <a:ext cx="3920231" cy="3581515"/>
          </a:xfrm>
        </p:spPr>
      </p:pic>
      <p:sp>
        <p:nvSpPr>
          <p:cNvPr id="4" name="Content Placeholder 3">
            <a:extLst>
              <a:ext uri="{FF2B5EF4-FFF2-40B4-BE49-F238E27FC236}">
                <a16:creationId xmlns:a16="http://schemas.microsoft.com/office/drawing/2014/main" id="{DFF10311-7FE5-4422-99BF-FB77E196BE0F}"/>
              </a:ext>
            </a:extLst>
          </p:cNvPr>
          <p:cNvSpPr>
            <a:spLocks noGrp="1"/>
          </p:cNvSpPr>
          <p:nvPr>
            <p:ph sz="quarter" idx="14"/>
          </p:nvPr>
        </p:nvSpPr>
        <p:spPr>
          <a:xfrm>
            <a:off x="457200" y="5451123"/>
            <a:ext cx="8382000" cy="878840"/>
          </a:xfrm>
        </p:spPr>
        <p:txBody>
          <a:bodyPr/>
          <a:lstStyle/>
          <a:p>
            <a:pPr marL="432" indent="0">
              <a:buNone/>
            </a:pPr>
            <a:r>
              <a:rPr lang="en-US" sz="2400" dirty="0"/>
              <a:t>The line </a:t>
            </a:r>
            <a:r>
              <a:rPr lang="en-US" sz="2400" i="1" dirty="0"/>
              <a:t>P</a:t>
            </a:r>
            <a:r>
              <a:rPr lang="en-US" sz="100" i="1" dirty="0"/>
              <a:t> </a:t>
            </a:r>
            <a:r>
              <a:rPr lang="en-US" sz="2400" i="1" dirty="0"/>
              <a:t>F </a:t>
            </a:r>
            <a:r>
              <a:rPr lang="en-US" sz="2400" dirty="0"/>
              <a:t>shows the maximum amount of cheese Home can produce given any production of wine, and vice versa.</a:t>
            </a:r>
          </a:p>
        </p:txBody>
      </p:sp>
    </p:spTree>
    <p:extLst>
      <p:ext uri="{BB962C8B-B14F-4D97-AF65-F5344CB8AC3E}">
        <p14:creationId xmlns:p14="http://schemas.microsoft.com/office/powerpoint/2010/main" val="2685473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(4 of 6)</a:t>
            </a:r>
            <a:endParaRPr lang="en-IN" sz="2000" dirty="0">
              <a:latin typeface="+mj-lt"/>
            </a:endParaRPr>
          </a:p>
        </p:txBody>
      </p:sp>
      <p:sp>
        <p:nvSpPr>
          <p:cNvPr id="3" name="Content Placeholder 2"/>
          <p:cNvSpPr>
            <a:spLocks noGrp="1"/>
          </p:cNvSpPr>
          <p:nvPr>
            <p:ph idx="1"/>
          </p:nvPr>
        </p:nvSpPr>
        <p:spPr>
          <a:xfrm>
            <a:off x="457200" y="1600201"/>
            <a:ext cx="8229600" cy="792803"/>
          </a:xfrm>
        </p:spPr>
        <p:txBody>
          <a:bodyPr/>
          <a:lstStyle/>
          <a:p>
            <a:pPr indent="-255600"/>
            <a:r>
              <a:rPr lang="en-US" altLang="en-US" sz="2000" dirty="0">
                <a:latin typeface="+mn-lt"/>
                <a:ea typeface="ヒラギノ角ゴ Pro W3" pitchFamily="-84" charset="-128"/>
              </a:rPr>
              <a:t>The opportunity cost of cheese is how many gallons of wine Home must stop producing in order to make one more pound of cheese:</a:t>
            </a:r>
            <a:endParaRPr lang="en-US" sz="2000" dirty="0">
              <a:latin typeface="+mn-lt"/>
            </a:endParaRPr>
          </a:p>
        </p:txBody>
      </p:sp>
      <p:graphicFrame>
        <p:nvGraphicFramePr>
          <p:cNvPr id="11" name="Object 10" descr="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1977912674"/>
              </p:ext>
            </p:extLst>
          </p:nvPr>
        </p:nvGraphicFramePr>
        <p:xfrm>
          <a:off x="4290765" y="2497070"/>
          <a:ext cx="562471" cy="787459"/>
        </p:xfrm>
        <a:graphic>
          <a:graphicData uri="http://schemas.openxmlformats.org/presentationml/2006/ole">
            <mc:AlternateContent xmlns:mc="http://schemas.openxmlformats.org/markup-compatibility/2006">
              <mc:Choice xmlns:v="urn:schemas-microsoft-com:vml" Requires="v">
                <p:oleObj spid="_x0000_s8210" name="Equation" r:id="rId4" imgW="317160" imgH="444240" progId="Equation.DSMT4">
                  <p:embed/>
                </p:oleObj>
              </mc:Choice>
              <mc:Fallback>
                <p:oleObj name="Equation" r:id="rId4" imgW="317160" imgH="444240" progId="Equation.DSMT4">
                  <p:embed/>
                  <p:pic>
                    <p:nvPicPr>
                      <p:cNvPr id="11" name="Object 10"/>
                      <p:cNvPicPr/>
                      <p:nvPr/>
                    </p:nvPicPr>
                    <p:blipFill>
                      <a:blip r:embed="rId5"/>
                      <a:stretch>
                        <a:fillRect/>
                      </a:stretch>
                    </p:blipFill>
                    <p:spPr>
                      <a:xfrm>
                        <a:off x="4290765" y="2497070"/>
                        <a:ext cx="562471" cy="787459"/>
                      </a:xfrm>
                      <a:prstGeom prst="rect">
                        <a:avLst/>
                      </a:prstGeom>
                    </p:spPr>
                  </p:pic>
                </p:oleObj>
              </mc:Fallback>
            </mc:AlternateContent>
          </a:graphicData>
        </a:graphic>
      </p:graphicFrame>
      <p:sp>
        <p:nvSpPr>
          <p:cNvPr id="4" name="Content Placeholder 3"/>
          <p:cNvSpPr>
            <a:spLocks noGrp="1"/>
          </p:cNvSpPr>
          <p:nvPr>
            <p:ph idx="13"/>
          </p:nvPr>
        </p:nvSpPr>
        <p:spPr>
          <a:xfrm>
            <a:off x="457200" y="3388596"/>
            <a:ext cx="8229600" cy="1468412"/>
          </a:xfrm>
        </p:spPr>
        <p:txBody>
          <a:bodyPr/>
          <a:lstStyle/>
          <a:p>
            <a:pPr lvl="1" indent="-284400"/>
            <a:r>
              <a:rPr lang="en-US" altLang="en-US" sz="2000" dirty="0">
                <a:latin typeface="+mn-lt"/>
                <a:ea typeface="ヒラギノ角ゴ Pro W3" pitchFamily="-84" charset="-128"/>
              </a:rPr>
              <a:t>The opportunity cost is constant because the unit labor requirements are both constant.</a:t>
            </a:r>
          </a:p>
          <a:p>
            <a:pPr lvl="1" indent="-284400"/>
            <a:r>
              <a:rPr lang="en-US" altLang="en-US" sz="2000" dirty="0">
                <a:latin typeface="+mn-lt"/>
                <a:ea typeface="ヒラギノ角ゴ Pro W3" pitchFamily="-84" charset="-128"/>
              </a:rPr>
              <a:t>The opportunity cost of cheese appears as the absolute value of the slope of the P</a:t>
            </a:r>
            <a:r>
              <a:rPr lang="en-US" altLang="en-US" sz="100" dirty="0">
                <a:latin typeface="+mn-lt"/>
                <a:ea typeface="ヒラギノ角ゴ Pro W3" pitchFamily="-84" charset="-128"/>
              </a:rPr>
              <a:t> </a:t>
            </a:r>
            <a:r>
              <a:rPr lang="en-US" altLang="en-US" sz="2000" dirty="0">
                <a:latin typeface="+mn-lt"/>
                <a:ea typeface="ヒラギノ角ゴ Pro W3" pitchFamily="-84" charset="-128"/>
              </a:rPr>
              <a:t>P</a:t>
            </a:r>
            <a:r>
              <a:rPr lang="en-US" altLang="en-US" sz="100" dirty="0">
                <a:latin typeface="+mn-lt"/>
                <a:ea typeface="ヒラギノ角ゴ Pro W3" pitchFamily="-84" charset="-128"/>
              </a:rPr>
              <a:t> </a:t>
            </a:r>
            <a:r>
              <a:rPr lang="en-US" altLang="en-US" sz="2000" dirty="0">
                <a:latin typeface="+mn-lt"/>
                <a:ea typeface="ヒラギノ角ゴ Pro W3" pitchFamily="-84" charset="-128"/>
              </a:rPr>
              <a:t>F.</a:t>
            </a:r>
            <a:endParaRPr lang="en-US" sz="2000" dirty="0">
              <a:latin typeface="+mn-lt"/>
            </a:endParaRPr>
          </a:p>
        </p:txBody>
      </p:sp>
      <p:graphicFrame>
        <p:nvGraphicFramePr>
          <p:cNvPr id="12" name="Object 11" descr="Q sub W = start fraction L over a sub start expression L W end expression end fraction minus left parenthesis start fraction a sub start expression L C end expression over a sub start expression L W end expression end fraction right parenthesis Q sub C "/>
          <p:cNvGraphicFramePr>
            <a:graphicFrameLocks noChangeAspect="1"/>
          </p:cNvGraphicFramePr>
          <p:nvPr>
            <p:extLst>
              <p:ext uri="{D42A27DB-BD31-4B8C-83A1-F6EECF244321}">
                <p14:modId xmlns:p14="http://schemas.microsoft.com/office/powerpoint/2010/main" val="214897013"/>
              </p:ext>
            </p:extLst>
          </p:nvPr>
        </p:nvGraphicFramePr>
        <p:xfrm>
          <a:off x="3521102" y="4961075"/>
          <a:ext cx="2101797" cy="707159"/>
        </p:xfrm>
        <a:graphic>
          <a:graphicData uri="http://schemas.openxmlformats.org/presentationml/2006/ole">
            <mc:AlternateContent xmlns:mc="http://schemas.openxmlformats.org/markup-compatibility/2006">
              <mc:Choice xmlns:v="urn:schemas-microsoft-com:vml" Requires="v">
                <p:oleObj spid="_x0000_s8211" name="Equation" r:id="rId6" imgW="1434960" imgH="482400" progId="Equation.DSMT4">
                  <p:embed/>
                </p:oleObj>
              </mc:Choice>
              <mc:Fallback>
                <p:oleObj name="Equation" r:id="rId6" imgW="1434960" imgH="482400" progId="Equation.DSMT4">
                  <p:embed/>
                  <p:pic>
                    <p:nvPicPr>
                      <p:cNvPr id="12" name="Object 11"/>
                      <p:cNvPicPr/>
                      <p:nvPr/>
                    </p:nvPicPr>
                    <p:blipFill>
                      <a:blip r:embed="rId7"/>
                      <a:stretch>
                        <a:fillRect/>
                      </a:stretch>
                    </p:blipFill>
                    <p:spPr>
                      <a:xfrm>
                        <a:off x="3521102" y="4961075"/>
                        <a:ext cx="2101797" cy="707159"/>
                      </a:xfrm>
                      <a:prstGeom prst="rect">
                        <a:avLst/>
                      </a:prstGeom>
                    </p:spPr>
                  </p:pic>
                </p:oleObj>
              </mc:Fallback>
            </mc:AlternateContent>
          </a:graphicData>
        </a:graphic>
      </p:graphicFrame>
    </p:spTree>
    <p:extLst>
      <p:ext uri="{BB962C8B-B14F-4D97-AF65-F5344CB8AC3E}">
        <p14:creationId xmlns:p14="http://schemas.microsoft.com/office/powerpoint/2010/main" val="4010729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(5 of 6)</a:t>
            </a:r>
            <a:endParaRPr lang="en-IN" sz="2000" dirty="0"/>
          </a:p>
        </p:txBody>
      </p:sp>
      <p:sp>
        <p:nvSpPr>
          <p:cNvPr id="3" name="Content Placeholder 2"/>
          <p:cNvSpPr>
            <a:spLocks noGrp="1"/>
          </p:cNvSpPr>
          <p:nvPr>
            <p:ph idx="1"/>
          </p:nvPr>
        </p:nvSpPr>
        <p:spPr>
          <a:xfrm>
            <a:off x="457199" y="1600201"/>
            <a:ext cx="7227651" cy="502919"/>
          </a:xfrm>
        </p:spPr>
        <p:txBody>
          <a:bodyPr/>
          <a:lstStyle/>
          <a:p>
            <a:pPr indent="-255600"/>
            <a:r>
              <a:rPr lang="en-US" altLang="en-US" sz="2400" dirty="0">
                <a:latin typeface="+mn-lt"/>
                <a:ea typeface="ヒラギノ角ゴ Pro W3" pitchFamily="-84" charset="-128"/>
              </a:rPr>
              <a:t>Producing an additional pound of cheese requires</a:t>
            </a:r>
            <a:endParaRPr lang="en-US" sz="2400" dirty="0">
              <a:latin typeface="+mn-lt"/>
            </a:endParaRPr>
          </a:p>
        </p:txBody>
      </p:sp>
      <p:graphicFrame>
        <p:nvGraphicFramePr>
          <p:cNvPr id="19" name="Object 18" descr="a sub start expression L C end expression"/>
          <p:cNvGraphicFramePr>
            <a:graphicFrameLocks noChangeAspect="1"/>
          </p:cNvGraphicFramePr>
          <p:nvPr>
            <p:extLst>
              <p:ext uri="{D42A27DB-BD31-4B8C-83A1-F6EECF244321}">
                <p14:modId xmlns:p14="http://schemas.microsoft.com/office/powerpoint/2010/main" val="924814154"/>
              </p:ext>
            </p:extLst>
          </p:nvPr>
        </p:nvGraphicFramePr>
        <p:xfrm>
          <a:off x="7830711" y="1668296"/>
          <a:ext cx="470226" cy="445477"/>
        </p:xfrm>
        <a:graphic>
          <a:graphicData uri="http://schemas.openxmlformats.org/presentationml/2006/ole">
            <mc:AlternateContent xmlns:mc="http://schemas.openxmlformats.org/markup-compatibility/2006">
              <mc:Choice xmlns:v="urn:schemas-microsoft-com:vml" Requires="v">
                <p:oleObj spid="_x0000_s9234" name="Equation" r:id="rId4" imgW="241200" imgH="228600" progId="Equation.DSMT4">
                  <p:embed/>
                </p:oleObj>
              </mc:Choice>
              <mc:Fallback>
                <p:oleObj name="Equation" r:id="rId4" imgW="241200" imgH="228600" progId="Equation.DSMT4">
                  <p:embed/>
                  <p:pic>
                    <p:nvPicPr>
                      <p:cNvPr id="19" name="Object 18"/>
                      <p:cNvPicPr/>
                      <p:nvPr/>
                    </p:nvPicPr>
                    <p:blipFill>
                      <a:blip r:embed="rId5"/>
                      <a:stretch>
                        <a:fillRect/>
                      </a:stretch>
                    </p:blipFill>
                    <p:spPr>
                      <a:xfrm>
                        <a:off x="7830711" y="1668296"/>
                        <a:ext cx="470226" cy="445477"/>
                      </a:xfrm>
                      <a:prstGeom prst="rect">
                        <a:avLst/>
                      </a:prstGeom>
                    </p:spPr>
                  </p:pic>
                </p:oleObj>
              </mc:Fallback>
            </mc:AlternateContent>
          </a:graphicData>
        </a:graphic>
      </p:graphicFrame>
      <p:sp>
        <p:nvSpPr>
          <p:cNvPr id="12" name="Content Placeholder 11"/>
          <p:cNvSpPr>
            <a:spLocks noGrp="1"/>
          </p:cNvSpPr>
          <p:nvPr>
            <p:ph idx="13"/>
          </p:nvPr>
        </p:nvSpPr>
        <p:spPr>
          <a:xfrm>
            <a:off x="457200" y="2165773"/>
            <a:ext cx="2438400" cy="502918"/>
          </a:xfrm>
        </p:spPr>
        <p:txBody>
          <a:bodyPr/>
          <a:lstStyle/>
          <a:p>
            <a:pPr marL="255600" indent="0">
              <a:buNone/>
            </a:pPr>
            <a:r>
              <a:rPr lang="en-US" altLang="en-US" sz="2400" dirty="0">
                <a:latin typeface="+mn-lt"/>
                <a:ea typeface="ヒラギノ角ゴ Pro W3" pitchFamily="-84" charset="-128"/>
              </a:rPr>
              <a:t>hours of labor.</a:t>
            </a:r>
          </a:p>
        </p:txBody>
      </p:sp>
      <p:sp>
        <p:nvSpPr>
          <p:cNvPr id="13" name="Content Placeholder 12"/>
          <p:cNvSpPr>
            <a:spLocks noGrp="1"/>
          </p:cNvSpPr>
          <p:nvPr>
            <p:ph idx="14"/>
          </p:nvPr>
        </p:nvSpPr>
        <p:spPr>
          <a:xfrm>
            <a:off x="457200" y="2736718"/>
            <a:ext cx="8321040" cy="888350"/>
          </a:xfrm>
        </p:spPr>
        <p:txBody>
          <a:bodyPr/>
          <a:lstStyle/>
          <a:p>
            <a:pPr indent="-255600"/>
            <a:r>
              <a:rPr lang="en-US" altLang="en-US" sz="2400" b="1" dirty="0">
                <a:latin typeface="+mn-lt"/>
                <a:ea typeface="ヒラギノ角ゴ Pro W3" pitchFamily="-84" charset="-128"/>
              </a:rPr>
              <a:t>Each</a:t>
            </a:r>
            <a:r>
              <a:rPr lang="en-US" altLang="en-US" sz="2400" dirty="0">
                <a:latin typeface="+mn-lt"/>
                <a:ea typeface="ヒラギノ角ゴ Pro W3" pitchFamily="-84" charset="-128"/>
              </a:rPr>
              <a:t> hour devoted to cheese production could have been used instead to produce an amount of wine equal to</a:t>
            </a:r>
            <a:endParaRPr lang="en-IN" sz="2400" dirty="0">
              <a:latin typeface="+mn-lt"/>
            </a:endParaRPr>
          </a:p>
        </p:txBody>
      </p:sp>
      <p:graphicFrame>
        <p:nvGraphicFramePr>
          <p:cNvPr id="11" name="Object 10" descr="An expression. For long description in Notes pane, press F6."/>
          <p:cNvGraphicFramePr>
            <a:graphicFrameLocks noChangeAspect="1"/>
          </p:cNvGraphicFramePr>
          <p:nvPr>
            <p:extLst>
              <p:ext uri="{D42A27DB-BD31-4B8C-83A1-F6EECF244321}">
                <p14:modId xmlns:p14="http://schemas.microsoft.com/office/powerpoint/2010/main" val="1113292017"/>
              </p:ext>
            </p:extLst>
          </p:nvPr>
        </p:nvGraphicFramePr>
        <p:xfrm>
          <a:off x="2203212" y="3948668"/>
          <a:ext cx="4737576" cy="1524476"/>
        </p:xfrm>
        <a:graphic>
          <a:graphicData uri="http://schemas.openxmlformats.org/presentationml/2006/ole">
            <mc:AlternateContent xmlns:mc="http://schemas.openxmlformats.org/markup-compatibility/2006">
              <mc:Choice xmlns:v="urn:schemas-microsoft-com:vml" Requires="v">
                <p:oleObj spid="_x0000_s9235" name="Equation" r:id="rId6" imgW="2209680" imgH="711000" progId="Equation.DSMT4">
                  <p:embed/>
                </p:oleObj>
              </mc:Choice>
              <mc:Fallback>
                <p:oleObj name="Equation" r:id="rId6" imgW="2209680" imgH="711000" progId="Equation.DSMT4">
                  <p:embed/>
                  <p:pic>
                    <p:nvPicPr>
                      <p:cNvPr id="11" name="Object 10"/>
                      <p:cNvPicPr/>
                      <p:nvPr/>
                    </p:nvPicPr>
                    <p:blipFill>
                      <a:blip r:embed="rId7"/>
                      <a:stretch>
                        <a:fillRect/>
                      </a:stretch>
                    </p:blipFill>
                    <p:spPr>
                      <a:xfrm>
                        <a:off x="2203212" y="3948668"/>
                        <a:ext cx="4737576" cy="1524476"/>
                      </a:xfrm>
                      <a:prstGeom prst="rect">
                        <a:avLst/>
                      </a:prstGeom>
                    </p:spPr>
                  </p:pic>
                </p:oleObj>
              </mc:Fallback>
            </mc:AlternateContent>
          </a:graphicData>
        </a:graphic>
      </p:graphicFrame>
    </p:spTree>
    <p:extLst>
      <p:ext uri="{BB962C8B-B14F-4D97-AF65-F5344CB8AC3E}">
        <p14:creationId xmlns:p14="http://schemas.microsoft.com/office/powerpoint/2010/main" val="2885063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(6 of 6)</a:t>
            </a:r>
            <a:endParaRPr lang="en-US" sz="2000" b="0" dirty="0"/>
          </a:p>
        </p:txBody>
      </p:sp>
      <p:sp>
        <p:nvSpPr>
          <p:cNvPr id="4" name="Content Placeholder 3"/>
          <p:cNvSpPr>
            <a:spLocks noGrp="1"/>
          </p:cNvSpPr>
          <p:nvPr>
            <p:ph idx="1"/>
          </p:nvPr>
        </p:nvSpPr>
        <p:spPr>
          <a:xfrm>
            <a:off x="457200" y="1600201"/>
            <a:ext cx="8229600" cy="890080"/>
          </a:xfrm>
        </p:spPr>
        <p:txBody>
          <a:bodyPr/>
          <a:lstStyle/>
          <a:p>
            <a:pPr indent="-255600"/>
            <a:r>
              <a:rPr lang="en-US" altLang="en-US" sz="2400" dirty="0">
                <a:latin typeface="+mn-lt"/>
                <a:ea typeface="ヒラギノ角ゴ Pro W3" pitchFamily="-84" charset="-128"/>
              </a:rPr>
              <a:t>For example, if one hour of labor is moved to cheese production, that additional hour could have produced</a:t>
            </a:r>
            <a:endParaRPr lang="en-US" sz="2400" dirty="0">
              <a:latin typeface="+mn-lt"/>
            </a:endParaRPr>
          </a:p>
        </p:txBody>
      </p:sp>
      <p:graphicFrame>
        <p:nvGraphicFramePr>
          <p:cNvPr id="8" name="Object 7" descr="Start fraction 1 hour over left parenthesis 2 hours per gallon of wine right parenthesis end fraction = left parenthesis 1 half right parenthesis gallons of wine."/>
          <p:cNvGraphicFramePr>
            <a:graphicFrameLocks noChangeAspect="1"/>
          </p:cNvGraphicFramePr>
          <p:nvPr>
            <p:extLst>
              <p:ext uri="{D42A27DB-BD31-4B8C-83A1-F6EECF244321}">
                <p14:modId xmlns:p14="http://schemas.microsoft.com/office/powerpoint/2010/main" val="4283361964"/>
              </p:ext>
            </p:extLst>
          </p:nvPr>
        </p:nvGraphicFramePr>
        <p:xfrm>
          <a:off x="972344" y="2712217"/>
          <a:ext cx="6589712" cy="800100"/>
        </p:xfrm>
        <a:graphic>
          <a:graphicData uri="http://schemas.openxmlformats.org/presentationml/2006/ole">
            <mc:AlternateContent xmlns:mc="http://schemas.openxmlformats.org/markup-compatibility/2006">
              <mc:Choice xmlns:v="urn:schemas-microsoft-com:vml" Requires="v">
                <p:oleObj spid="_x0000_s10258" name="Equation" r:id="rId4" imgW="3555720" imgH="431640" progId="Equation.DSMT4">
                  <p:embed/>
                </p:oleObj>
              </mc:Choice>
              <mc:Fallback>
                <p:oleObj name="Equation" r:id="rId4" imgW="3555720" imgH="431640" progId="Equation.DSMT4">
                  <p:embed/>
                  <p:pic>
                    <p:nvPicPr>
                      <p:cNvPr id="8" name="Object 7"/>
                      <p:cNvPicPr/>
                      <p:nvPr/>
                    </p:nvPicPr>
                    <p:blipFill>
                      <a:blip r:embed="rId5"/>
                      <a:stretch>
                        <a:fillRect/>
                      </a:stretch>
                    </p:blipFill>
                    <p:spPr>
                      <a:xfrm>
                        <a:off x="972344" y="2712217"/>
                        <a:ext cx="6589712" cy="800100"/>
                      </a:xfrm>
                      <a:prstGeom prst="rect">
                        <a:avLst/>
                      </a:prstGeom>
                    </p:spPr>
                  </p:pic>
                </p:oleObj>
              </mc:Fallback>
            </mc:AlternateContent>
          </a:graphicData>
        </a:graphic>
      </p:graphicFrame>
      <p:sp>
        <p:nvSpPr>
          <p:cNvPr id="5" name="Content Placeholder 4"/>
          <p:cNvSpPr>
            <a:spLocks noGrp="1"/>
          </p:cNvSpPr>
          <p:nvPr>
            <p:ph idx="13"/>
          </p:nvPr>
        </p:nvSpPr>
        <p:spPr>
          <a:xfrm>
            <a:off x="457200" y="3687365"/>
            <a:ext cx="7879404" cy="550651"/>
          </a:xfrm>
        </p:spPr>
        <p:txBody>
          <a:bodyPr/>
          <a:lstStyle/>
          <a:p>
            <a:pPr indent="-255600"/>
            <a:r>
              <a:rPr lang="en-US" altLang="en-US" sz="2400" dirty="0">
                <a:latin typeface="+mn-lt"/>
                <a:ea typeface="ヒラギノ角ゴ Pro W3" pitchFamily="-84" charset="-128"/>
              </a:rPr>
              <a:t>Opportunity cost of producing one pound of cheese is</a:t>
            </a:r>
            <a:endParaRPr lang="en-US" sz="2400" dirty="0">
              <a:latin typeface="+mn-lt"/>
            </a:endParaRPr>
          </a:p>
        </p:txBody>
      </p:sp>
      <p:graphicFrame>
        <p:nvGraphicFramePr>
          <p:cNvPr id="10" name="Object 9" descr="1 half"/>
          <p:cNvGraphicFramePr>
            <a:graphicFrameLocks noChangeAspect="1"/>
          </p:cNvGraphicFramePr>
          <p:nvPr>
            <p:extLst>
              <p:ext uri="{D42A27DB-BD31-4B8C-83A1-F6EECF244321}">
                <p14:modId xmlns:p14="http://schemas.microsoft.com/office/powerpoint/2010/main" val="1777096668"/>
              </p:ext>
            </p:extLst>
          </p:nvPr>
        </p:nvGraphicFramePr>
        <p:xfrm>
          <a:off x="827088" y="4377614"/>
          <a:ext cx="280987" cy="728663"/>
        </p:xfrm>
        <a:graphic>
          <a:graphicData uri="http://schemas.openxmlformats.org/presentationml/2006/ole">
            <mc:AlternateContent xmlns:mc="http://schemas.openxmlformats.org/markup-compatibility/2006">
              <mc:Choice xmlns:v="urn:schemas-microsoft-com:vml" Requires="v">
                <p:oleObj spid="_x0000_s10259" name="Equation" r:id="rId6" imgW="152280" imgH="393480" progId="Equation.DSMT4">
                  <p:embed/>
                </p:oleObj>
              </mc:Choice>
              <mc:Fallback>
                <p:oleObj name="Equation" r:id="rId6" imgW="152280" imgH="393480" progId="Equation.DSMT4">
                  <p:embed/>
                  <p:pic>
                    <p:nvPicPr>
                      <p:cNvPr id="10" name="Object 9"/>
                      <p:cNvPicPr/>
                      <p:nvPr/>
                    </p:nvPicPr>
                    <p:blipFill>
                      <a:blip r:embed="rId7"/>
                      <a:stretch>
                        <a:fillRect/>
                      </a:stretch>
                    </p:blipFill>
                    <p:spPr>
                      <a:xfrm>
                        <a:off x="827088" y="4377614"/>
                        <a:ext cx="280987" cy="728663"/>
                      </a:xfrm>
                      <a:prstGeom prst="rect">
                        <a:avLst/>
                      </a:prstGeom>
                    </p:spPr>
                  </p:pic>
                </p:oleObj>
              </mc:Fallback>
            </mc:AlternateContent>
          </a:graphicData>
        </a:graphic>
      </p:graphicFrame>
      <p:sp>
        <p:nvSpPr>
          <p:cNvPr id="6" name="Content Placeholder 5"/>
          <p:cNvSpPr>
            <a:spLocks noGrp="1"/>
          </p:cNvSpPr>
          <p:nvPr>
            <p:ph idx="14"/>
          </p:nvPr>
        </p:nvSpPr>
        <p:spPr>
          <a:xfrm>
            <a:off x="1309244" y="4416526"/>
            <a:ext cx="4086029" cy="550651"/>
          </a:xfrm>
        </p:spPr>
        <p:txBody>
          <a:bodyPr/>
          <a:lstStyle/>
          <a:p>
            <a:pPr marL="0" indent="-486918">
              <a:buNone/>
            </a:pPr>
            <a:r>
              <a:rPr lang="en-US" altLang="en-US" sz="2400" dirty="0">
                <a:latin typeface="+mn-lt"/>
                <a:ea typeface="ヒラギノ角ゴ Pro W3" pitchFamily="-84" charset="-128"/>
              </a:rPr>
              <a:t>gallon of wine not produced.</a:t>
            </a:r>
            <a:endParaRPr lang="en-US" sz="2400" dirty="0">
              <a:latin typeface="+mn-lt"/>
            </a:endParaRPr>
          </a:p>
        </p:txBody>
      </p:sp>
    </p:spTree>
    <p:extLst>
      <p:ext uri="{BB962C8B-B14F-4D97-AF65-F5344CB8AC3E}">
        <p14:creationId xmlns:p14="http://schemas.microsoft.com/office/powerpoint/2010/main" val="4191771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(1 of 7)</a:t>
            </a:r>
            <a:endParaRPr lang="en-US" sz="2000" dirty="0">
              <a:latin typeface="+mj-lt"/>
              <a:cs typeface="Times New Roman" panose="02020603050405020304" pitchFamily="18" charset="0"/>
            </a:endParaRPr>
          </a:p>
        </p:txBody>
      </p:sp>
      <p:sp>
        <p:nvSpPr>
          <p:cNvPr id="29" name="Content Placeholder 28"/>
          <p:cNvSpPr>
            <a:spLocks noGrp="1"/>
          </p:cNvSpPr>
          <p:nvPr>
            <p:ph idx="1"/>
          </p:nvPr>
        </p:nvSpPr>
        <p:spPr>
          <a:xfrm>
            <a:off x="457201" y="1600201"/>
            <a:ext cx="297179" cy="435823"/>
          </a:xfrm>
        </p:spPr>
        <p:txBody>
          <a:bodyPr/>
          <a:lstStyle/>
          <a:p>
            <a:pPr marL="0" indent="0">
              <a:spcBef>
                <a:spcPts val="0"/>
              </a:spcBef>
            </a:pPr>
            <a:r>
              <a:rPr lang="en-US" sz="2000" dirty="0">
                <a:latin typeface="+mn-lt"/>
              </a:rPr>
              <a:t> </a:t>
            </a:r>
            <a:r>
              <a:rPr lang="en-US" sz="100" dirty="0">
                <a:latin typeface="+mn-lt"/>
              </a:rPr>
              <a:t> </a:t>
            </a:r>
          </a:p>
        </p:txBody>
      </p:sp>
      <p:graphicFrame>
        <p:nvGraphicFramePr>
          <p:cNvPr id="17" name="Object 16" descr="P sub C"/>
          <p:cNvGraphicFramePr>
            <a:graphicFrameLocks noChangeAspect="1"/>
          </p:cNvGraphicFramePr>
          <p:nvPr>
            <p:extLst>
              <p:ext uri="{D42A27DB-BD31-4B8C-83A1-F6EECF244321}">
                <p14:modId xmlns:p14="http://schemas.microsoft.com/office/powerpoint/2010/main" val="586688505"/>
              </p:ext>
            </p:extLst>
          </p:nvPr>
        </p:nvGraphicFramePr>
        <p:xfrm>
          <a:off x="793487" y="1629772"/>
          <a:ext cx="306803" cy="368163"/>
        </p:xfrm>
        <a:graphic>
          <a:graphicData uri="http://schemas.openxmlformats.org/presentationml/2006/ole">
            <mc:AlternateContent xmlns:mc="http://schemas.openxmlformats.org/markup-compatibility/2006">
              <mc:Choice xmlns:v="urn:schemas-microsoft-com:vml" Requires="v">
                <p:oleObj spid="_x0000_s11314" name="Equation" r:id="rId4" imgW="190440" imgH="228600" progId="Equation.DSMT4">
                  <p:embed/>
                </p:oleObj>
              </mc:Choice>
              <mc:Fallback>
                <p:oleObj name="Equation" r:id="rId4" imgW="190440" imgH="228600" progId="Equation.DSMT4">
                  <p:embed/>
                  <p:pic>
                    <p:nvPicPr>
                      <p:cNvPr id="17" name="Object 16"/>
                      <p:cNvPicPr/>
                      <p:nvPr/>
                    </p:nvPicPr>
                    <p:blipFill>
                      <a:blip r:embed="rId5"/>
                      <a:stretch>
                        <a:fillRect/>
                      </a:stretch>
                    </p:blipFill>
                    <p:spPr>
                      <a:xfrm>
                        <a:off x="793487" y="1629772"/>
                        <a:ext cx="306803" cy="368163"/>
                      </a:xfrm>
                      <a:prstGeom prst="rect">
                        <a:avLst/>
                      </a:prstGeom>
                    </p:spPr>
                  </p:pic>
                </p:oleObj>
              </mc:Fallback>
            </mc:AlternateContent>
          </a:graphicData>
        </a:graphic>
      </p:graphicFrame>
      <p:sp>
        <p:nvSpPr>
          <p:cNvPr id="30" name="Content Placeholder 29"/>
          <p:cNvSpPr>
            <a:spLocks noGrp="1"/>
          </p:cNvSpPr>
          <p:nvPr>
            <p:ph idx="13"/>
          </p:nvPr>
        </p:nvSpPr>
        <p:spPr>
          <a:xfrm>
            <a:off x="1236291" y="1641711"/>
            <a:ext cx="2655477" cy="362349"/>
          </a:xfrm>
        </p:spPr>
        <p:txBody>
          <a:bodyPr tIns="0" bIns="0"/>
          <a:lstStyle/>
          <a:p>
            <a:pPr marL="0" indent="-486918">
              <a:buNone/>
            </a:pPr>
            <a:r>
              <a:rPr lang="en-US" altLang="en-US" sz="2000" dirty="0">
                <a:latin typeface="+mn-lt"/>
                <a:ea typeface="ヒラギノ角ゴ Pro W3" pitchFamily="-84" charset="-128"/>
              </a:rPr>
              <a:t>is the price of cheese;</a:t>
            </a:r>
            <a:endParaRPr lang="en-US" sz="2000" dirty="0">
              <a:latin typeface="+mn-lt"/>
            </a:endParaRPr>
          </a:p>
        </p:txBody>
      </p:sp>
      <p:graphicFrame>
        <p:nvGraphicFramePr>
          <p:cNvPr id="18" name="Object 17" descr="P sub W"/>
          <p:cNvGraphicFramePr>
            <a:graphicFrameLocks noChangeAspect="1"/>
          </p:cNvGraphicFramePr>
          <p:nvPr>
            <p:extLst>
              <p:ext uri="{D42A27DB-BD31-4B8C-83A1-F6EECF244321}">
                <p14:modId xmlns:p14="http://schemas.microsoft.com/office/powerpoint/2010/main" val="1594232753"/>
              </p:ext>
            </p:extLst>
          </p:nvPr>
        </p:nvGraphicFramePr>
        <p:xfrm>
          <a:off x="3957808" y="1662570"/>
          <a:ext cx="304267" cy="304267"/>
        </p:xfrm>
        <a:graphic>
          <a:graphicData uri="http://schemas.openxmlformats.org/presentationml/2006/ole">
            <mc:AlternateContent xmlns:mc="http://schemas.openxmlformats.org/markup-compatibility/2006">
              <mc:Choice xmlns:v="urn:schemas-microsoft-com:vml" Requires="v">
                <p:oleObj spid="_x0000_s11315" name="Equation" r:id="rId6" imgW="228600" imgH="228600" progId="Equation.DSMT4">
                  <p:embed/>
                </p:oleObj>
              </mc:Choice>
              <mc:Fallback>
                <p:oleObj name="Equation" r:id="rId6" imgW="228600" imgH="228600" progId="Equation.DSMT4">
                  <p:embed/>
                  <p:pic>
                    <p:nvPicPr>
                      <p:cNvPr id="18" name="Object 17"/>
                      <p:cNvPicPr/>
                      <p:nvPr/>
                    </p:nvPicPr>
                    <p:blipFill>
                      <a:blip r:embed="rId7"/>
                      <a:stretch>
                        <a:fillRect/>
                      </a:stretch>
                    </p:blipFill>
                    <p:spPr>
                      <a:xfrm>
                        <a:off x="3957808" y="1662570"/>
                        <a:ext cx="304267" cy="304267"/>
                      </a:xfrm>
                      <a:prstGeom prst="rect">
                        <a:avLst/>
                      </a:prstGeom>
                    </p:spPr>
                  </p:pic>
                </p:oleObj>
              </mc:Fallback>
            </mc:AlternateContent>
          </a:graphicData>
        </a:graphic>
      </p:graphicFrame>
      <p:sp>
        <p:nvSpPr>
          <p:cNvPr id="31" name="Content Placeholder 30"/>
          <p:cNvSpPr>
            <a:spLocks noGrp="1"/>
          </p:cNvSpPr>
          <p:nvPr>
            <p:ph idx="14"/>
          </p:nvPr>
        </p:nvSpPr>
        <p:spPr>
          <a:xfrm>
            <a:off x="4343494" y="1641711"/>
            <a:ext cx="2413216" cy="333609"/>
          </a:xfrm>
        </p:spPr>
        <p:txBody>
          <a:bodyPr tIns="0" bIns="0"/>
          <a:lstStyle/>
          <a:p>
            <a:pPr marL="0" indent="-486918">
              <a:buNone/>
            </a:pPr>
            <a:r>
              <a:rPr lang="en-US" altLang="en-US" sz="2000" dirty="0">
                <a:latin typeface="+mn-lt"/>
                <a:ea typeface="ヒラギノ角ゴ Pro W3" pitchFamily="-84" charset="-128"/>
              </a:rPr>
              <a:t>is the price of wine.</a:t>
            </a:r>
            <a:endParaRPr lang="en-US" sz="2000" dirty="0">
              <a:latin typeface="+mn-lt"/>
            </a:endParaRPr>
          </a:p>
        </p:txBody>
      </p:sp>
      <p:sp>
        <p:nvSpPr>
          <p:cNvPr id="32" name="Content Placeholder 31"/>
          <p:cNvSpPr>
            <a:spLocks noGrp="1"/>
          </p:cNvSpPr>
          <p:nvPr>
            <p:ph idx="15"/>
          </p:nvPr>
        </p:nvSpPr>
        <p:spPr>
          <a:xfrm>
            <a:off x="457202" y="2103120"/>
            <a:ext cx="336286" cy="447824"/>
          </a:xfrm>
        </p:spPr>
        <p:txBody>
          <a:bodyPr/>
          <a:lstStyle/>
          <a:p>
            <a:pPr marL="0" indent="0">
              <a:spcBef>
                <a:spcPts val="0"/>
              </a:spcBef>
            </a:pPr>
            <a:r>
              <a:rPr lang="en-US" sz="2000" dirty="0">
                <a:latin typeface="+mn-lt"/>
              </a:rPr>
              <a:t> </a:t>
            </a:r>
            <a:r>
              <a:rPr lang="en-US" sz="100" dirty="0">
                <a:latin typeface="+mn-lt"/>
              </a:rPr>
              <a:t> </a:t>
            </a:r>
          </a:p>
        </p:txBody>
      </p:sp>
      <p:graphicFrame>
        <p:nvGraphicFramePr>
          <p:cNvPr id="19" name="Object 18" descr="W sub C"/>
          <p:cNvGraphicFramePr>
            <a:graphicFrameLocks noChangeAspect="1"/>
          </p:cNvGraphicFramePr>
          <p:nvPr>
            <p:extLst>
              <p:ext uri="{D42A27DB-BD31-4B8C-83A1-F6EECF244321}">
                <p14:modId xmlns:p14="http://schemas.microsoft.com/office/powerpoint/2010/main" val="2501673202"/>
              </p:ext>
            </p:extLst>
          </p:nvPr>
        </p:nvGraphicFramePr>
        <p:xfrm>
          <a:off x="840783" y="2163425"/>
          <a:ext cx="404979" cy="404979"/>
        </p:xfrm>
        <a:graphic>
          <a:graphicData uri="http://schemas.openxmlformats.org/presentationml/2006/ole">
            <mc:AlternateContent xmlns:mc="http://schemas.openxmlformats.org/markup-compatibility/2006">
              <mc:Choice xmlns:v="urn:schemas-microsoft-com:vml" Requires="v">
                <p:oleObj spid="_x0000_s11316" name="Equation" r:id="rId8" imgW="228600" imgH="228600" progId="Equation.DSMT4">
                  <p:embed/>
                </p:oleObj>
              </mc:Choice>
              <mc:Fallback>
                <p:oleObj name="Equation" r:id="rId8" imgW="228600" imgH="228600" progId="Equation.DSMT4">
                  <p:embed/>
                  <p:pic>
                    <p:nvPicPr>
                      <p:cNvPr id="19" name="Object 18"/>
                      <p:cNvPicPr/>
                      <p:nvPr/>
                    </p:nvPicPr>
                    <p:blipFill>
                      <a:blip r:embed="rId9"/>
                      <a:stretch>
                        <a:fillRect/>
                      </a:stretch>
                    </p:blipFill>
                    <p:spPr>
                      <a:xfrm>
                        <a:off x="840783" y="2163425"/>
                        <a:ext cx="404979" cy="404979"/>
                      </a:xfrm>
                      <a:prstGeom prst="rect">
                        <a:avLst/>
                      </a:prstGeom>
                    </p:spPr>
                  </p:pic>
                </p:oleObj>
              </mc:Fallback>
            </mc:AlternateContent>
          </a:graphicData>
        </a:graphic>
      </p:graphicFrame>
      <p:sp>
        <p:nvSpPr>
          <p:cNvPr id="33" name="Content Placeholder 32"/>
          <p:cNvSpPr>
            <a:spLocks noGrp="1"/>
          </p:cNvSpPr>
          <p:nvPr>
            <p:ph idx="16"/>
          </p:nvPr>
        </p:nvSpPr>
        <p:spPr>
          <a:xfrm>
            <a:off x="1346585" y="2227786"/>
            <a:ext cx="5957083" cy="345297"/>
          </a:xfrm>
        </p:spPr>
        <p:txBody>
          <a:bodyPr tIns="0" bIns="0"/>
          <a:lstStyle/>
          <a:p>
            <a:pPr marL="0" indent="-486918">
              <a:buNone/>
            </a:pPr>
            <a:r>
              <a:rPr lang="en-US" altLang="en-US" sz="2000" dirty="0">
                <a:latin typeface="+mn-lt"/>
                <a:ea typeface="ヒラギノ角ゴ Pro W3" pitchFamily="-84" charset="-128"/>
              </a:rPr>
              <a:t>is the wage paid to workers who make cheese, and</a:t>
            </a:r>
            <a:endParaRPr lang="en-US" sz="2000" dirty="0">
              <a:latin typeface="+mn-lt"/>
            </a:endParaRPr>
          </a:p>
        </p:txBody>
      </p:sp>
      <p:graphicFrame>
        <p:nvGraphicFramePr>
          <p:cNvPr id="20" name="Object 19" descr="W sub W"/>
          <p:cNvGraphicFramePr>
            <a:graphicFrameLocks noChangeAspect="1"/>
          </p:cNvGraphicFramePr>
          <p:nvPr>
            <p:extLst>
              <p:ext uri="{D42A27DB-BD31-4B8C-83A1-F6EECF244321}">
                <p14:modId xmlns:p14="http://schemas.microsoft.com/office/powerpoint/2010/main" val="3323831670"/>
              </p:ext>
            </p:extLst>
          </p:nvPr>
        </p:nvGraphicFramePr>
        <p:xfrm>
          <a:off x="7366974" y="2204920"/>
          <a:ext cx="409069" cy="368163"/>
        </p:xfrm>
        <a:graphic>
          <a:graphicData uri="http://schemas.openxmlformats.org/presentationml/2006/ole">
            <mc:AlternateContent xmlns:mc="http://schemas.openxmlformats.org/markup-compatibility/2006">
              <mc:Choice xmlns:v="urn:schemas-microsoft-com:vml" Requires="v">
                <p:oleObj spid="_x0000_s11317" name="Equation" r:id="rId10" imgW="253800" imgH="228600" progId="Equation.DSMT4">
                  <p:embed/>
                </p:oleObj>
              </mc:Choice>
              <mc:Fallback>
                <p:oleObj name="Equation" r:id="rId10" imgW="253800" imgH="228600" progId="Equation.DSMT4">
                  <p:embed/>
                  <p:pic>
                    <p:nvPicPr>
                      <p:cNvPr id="20" name="Object 19"/>
                      <p:cNvPicPr/>
                      <p:nvPr/>
                    </p:nvPicPr>
                    <p:blipFill>
                      <a:blip r:embed="rId11"/>
                      <a:stretch>
                        <a:fillRect/>
                      </a:stretch>
                    </p:blipFill>
                    <p:spPr>
                      <a:xfrm>
                        <a:off x="7366974" y="2204920"/>
                        <a:ext cx="409069" cy="368163"/>
                      </a:xfrm>
                      <a:prstGeom prst="rect">
                        <a:avLst/>
                      </a:prstGeom>
                    </p:spPr>
                  </p:pic>
                </p:oleObj>
              </mc:Fallback>
            </mc:AlternateContent>
          </a:graphicData>
        </a:graphic>
      </p:graphicFrame>
      <p:sp>
        <p:nvSpPr>
          <p:cNvPr id="34" name="Content Placeholder 33"/>
          <p:cNvSpPr>
            <a:spLocks noGrp="1"/>
          </p:cNvSpPr>
          <p:nvPr>
            <p:ph sz="quarter" idx="17"/>
          </p:nvPr>
        </p:nvSpPr>
        <p:spPr>
          <a:xfrm>
            <a:off x="457201" y="2649168"/>
            <a:ext cx="5516879" cy="337872"/>
          </a:xfrm>
        </p:spPr>
        <p:txBody>
          <a:bodyPr tIns="0" bIns="0"/>
          <a:lstStyle/>
          <a:p>
            <a:pPr marL="255600" indent="0">
              <a:buNone/>
            </a:pPr>
            <a:r>
              <a:rPr lang="en-US" altLang="en-US" sz="2000" dirty="0">
                <a:latin typeface="+mn-lt"/>
                <a:ea typeface="ヒラギノ角ゴ Pro W3" pitchFamily="-84" charset="-128"/>
              </a:rPr>
              <a:t>is the wage paid to workers who make wine.</a:t>
            </a:r>
            <a:endParaRPr lang="en-US" sz="2000" dirty="0">
              <a:latin typeface="+mn-lt"/>
            </a:endParaRPr>
          </a:p>
        </p:txBody>
      </p:sp>
      <p:sp>
        <p:nvSpPr>
          <p:cNvPr id="35" name="Content Placeholder 34"/>
          <p:cNvSpPr>
            <a:spLocks noGrp="1"/>
          </p:cNvSpPr>
          <p:nvPr>
            <p:ph sz="quarter" idx="18"/>
          </p:nvPr>
        </p:nvSpPr>
        <p:spPr>
          <a:xfrm>
            <a:off x="457200" y="3079173"/>
            <a:ext cx="6217920" cy="340302"/>
          </a:xfrm>
        </p:spPr>
        <p:txBody>
          <a:bodyPr tIns="0" bIns="0"/>
          <a:lstStyle/>
          <a:p>
            <a:pPr indent="-255600"/>
            <a:r>
              <a:rPr lang="en-US" altLang="en-US" sz="2000" dirty="0">
                <a:latin typeface="+mn-lt"/>
                <a:ea typeface="ヒラギノ角ゴ Pro W3" pitchFamily="-84" charset="-128"/>
              </a:rPr>
              <a:t>Due to competition in the labor and goods markets:</a:t>
            </a:r>
          </a:p>
        </p:txBody>
      </p:sp>
      <p:sp>
        <p:nvSpPr>
          <p:cNvPr id="36" name="Content Placeholder 35"/>
          <p:cNvSpPr>
            <a:spLocks noGrp="1"/>
          </p:cNvSpPr>
          <p:nvPr>
            <p:ph sz="quarter" idx="19"/>
          </p:nvPr>
        </p:nvSpPr>
        <p:spPr>
          <a:xfrm>
            <a:off x="457200" y="3481443"/>
            <a:ext cx="7635240" cy="642882"/>
          </a:xfrm>
        </p:spPr>
        <p:txBody>
          <a:bodyPr tIns="0" bIns="0"/>
          <a:lstStyle/>
          <a:p>
            <a:pPr lvl="1" indent="-284400"/>
            <a:r>
              <a:rPr lang="en-US" altLang="en-US" sz="2000" dirty="0">
                <a:latin typeface="+mn-lt"/>
                <a:ea typeface="ヒラギノ角ゴ Pro W3" pitchFamily="-84" charset="-128"/>
              </a:rPr>
              <a:t>Hourly wages of cheese makers will equal the value of the cheese produced in an hour:</a:t>
            </a:r>
            <a:endParaRPr lang="en-US" sz="2000" dirty="0">
              <a:latin typeface="+mn-lt"/>
            </a:endParaRPr>
          </a:p>
        </p:txBody>
      </p:sp>
      <p:graphicFrame>
        <p:nvGraphicFramePr>
          <p:cNvPr id="21" name="Object 20" descr="W sub C = start fraction  P sub C over a sub start expression L C end expression end fraction"/>
          <p:cNvGraphicFramePr>
            <a:graphicFrameLocks noChangeAspect="1"/>
          </p:cNvGraphicFramePr>
          <p:nvPr>
            <p:extLst>
              <p:ext uri="{D42A27DB-BD31-4B8C-83A1-F6EECF244321}">
                <p14:modId xmlns:p14="http://schemas.microsoft.com/office/powerpoint/2010/main" val="135396974"/>
              </p:ext>
            </p:extLst>
          </p:nvPr>
        </p:nvGraphicFramePr>
        <p:xfrm>
          <a:off x="4097851" y="4229510"/>
          <a:ext cx="948298" cy="632199"/>
        </p:xfrm>
        <a:graphic>
          <a:graphicData uri="http://schemas.openxmlformats.org/presentationml/2006/ole">
            <mc:AlternateContent xmlns:mc="http://schemas.openxmlformats.org/markup-compatibility/2006">
              <mc:Choice xmlns:v="urn:schemas-microsoft-com:vml" Requires="v">
                <p:oleObj spid="_x0000_s11318" name="Equation" r:id="rId12" imgW="647640" imgH="431640" progId="Equation.DSMT4">
                  <p:embed/>
                </p:oleObj>
              </mc:Choice>
              <mc:Fallback>
                <p:oleObj name="Equation" r:id="rId12" imgW="647640" imgH="431640" progId="Equation.DSMT4">
                  <p:embed/>
                  <p:pic>
                    <p:nvPicPr>
                      <p:cNvPr id="21" name="Object 20"/>
                      <p:cNvPicPr/>
                      <p:nvPr/>
                    </p:nvPicPr>
                    <p:blipFill>
                      <a:blip r:embed="rId13"/>
                      <a:stretch>
                        <a:fillRect/>
                      </a:stretch>
                    </p:blipFill>
                    <p:spPr>
                      <a:xfrm>
                        <a:off x="4097851" y="4229510"/>
                        <a:ext cx="948298" cy="632199"/>
                      </a:xfrm>
                      <a:prstGeom prst="rect">
                        <a:avLst/>
                      </a:prstGeom>
                    </p:spPr>
                  </p:pic>
                </p:oleObj>
              </mc:Fallback>
            </mc:AlternateContent>
          </a:graphicData>
        </a:graphic>
      </p:graphicFrame>
      <p:sp>
        <p:nvSpPr>
          <p:cNvPr id="37" name="Content Placeholder 36"/>
          <p:cNvSpPr>
            <a:spLocks noGrp="1"/>
          </p:cNvSpPr>
          <p:nvPr>
            <p:ph sz="quarter" idx="20"/>
          </p:nvPr>
        </p:nvSpPr>
        <p:spPr>
          <a:xfrm>
            <a:off x="431799" y="4946391"/>
            <a:ext cx="8178801" cy="659041"/>
          </a:xfrm>
        </p:spPr>
        <p:txBody>
          <a:bodyPr tIns="0" bIns="0"/>
          <a:lstStyle/>
          <a:p>
            <a:pPr lvl="1" indent="-284400"/>
            <a:r>
              <a:rPr lang="en-US" altLang="en-US" sz="2000" dirty="0">
                <a:latin typeface="+mn-lt"/>
                <a:ea typeface="ヒラギノ角ゴ Pro W3" pitchFamily="-84" charset="-128"/>
              </a:rPr>
              <a:t>Hourly wages of wine makers will equal the value of the wine produced in an hour:</a:t>
            </a:r>
            <a:endParaRPr lang="en-US" sz="2000" dirty="0">
              <a:latin typeface="+mn-lt"/>
            </a:endParaRPr>
          </a:p>
        </p:txBody>
      </p:sp>
      <p:graphicFrame>
        <p:nvGraphicFramePr>
          <p:cNvPr id="22" name="Object 21" descr="W sub W = start fraction  P sub W over a sub start expression L W end expression end fraction"/>
          <p:cNvGraphicFramePr>
            <a:graphicFrameLocks noChangeAspect="1"/>
          </p:cNvGraphicFramePr>
          <p:nvPr>
            <p:extLst>
              <p:ext uri="{D42A27DB-BD31-4B8C-83A1-F6EECF244321}">
                <p14:modId xmlns:p14="http://schemas.microsoft.com/office/powerpoint/2010/main" val="29326598"/>
              </p:ext>
            </p:extLst>
          </p:nvPr>
        </p:nvGraphicFramePr>
        <p:xfrm>
          <a:off x="4060663" y="5692401"/>
          <a:ext cx="1022674" cy="632199"/>
        </p:xfrm>
        <a:graphic>
          <a:graphicData uri="http://schemas.openxmlformats.org/presentationml/2006/ole">
            <mc:AlternateContent xmlns:mc="http://schemas.openxmlformats.org/markup-compatibility/2006">
              <mc:Choice xmlns:v="urn:schemas-microsoft-com:vml" Requires="v">
                <p:oleObj spid="_x0000_s11319" name="Equation" r:id="rId14" imgW="698400" imgH="431640" progId="Equation.DSMT4">
                  <p:embed/>
                </p:oleObj>
              </mc:Choice>
              <mc:Fallback>
                <p:oleObj name="Equation" r:id="rId14" imgW="698400" imgH="431640" progId="Equation.DSMT4">
                  <p:embed/>
                  <p:pic>
                    <p:nvPicPr>
                      <p:cNvPr id="22" name="Object 21"/>
                      <p:cNvPicPr/>
                      <p:nvPr/>
                    </p:nvPicPr>
                    <p:blipFill>
                      <a:blip r:embed="rId15"/>
                      <a:stretch>
                        <a:fillRect/>
                      </a:stretch>
                    </p:blipFill>
                    <p:spPr>
                      <a:xfrm>
                        <a:off x="4060663" y="5692401"/>
                        <a:ext cx="1022674" cy="632199"/>
                      </a:xfrm>
                      <a:prstGeom prst="rect">
                        <a:avLst/>
                      </a:prstGeom>
                    </p:spPr>
                  </p:pic>
                </p:oleObj>
              </mc:Fallback>
            </mc:AlternateContent>
          </a:graphicData>
        </a:graphic>
      </p:graphicFrame>
    </p:spTree>
    <p:extLst>
      <p:ext uri="{BB962C8B-B14F-4D97-AF65-F5344CB8AC3E}">
        <p14:creationId xmlns:p14="http://schemas.microsoft.com/office/powerpoint/2010/main" val="3708592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(2 of 7)</a:t>
            </a:r>
            <a:endParaRPr lang="en-IN" sz="2000" dirty="0"/>
          </a:p>
        </p:txBody>
      </p:sp>
      <p:sp>
        <p:nvSpPr>
          <p:cNvPr id="3" name="Content Placeholder 2"/>
          <p:cNvSpPr>
            <a:spLocks noGrp="1"/>
          </p:cNvSpPr>
          <p:nvPr>
            <p:ph idx="1"/>
          </p:nvPr>
        </p:nvSpPr>
        <p:spPr>
          <a:xfrm>
            <a:off x="457199" y="1600201"/>
            <a:ext cx="8375515" cy="1247502"/>
          </a:xfrm>
        </p:spPr>
        <p:txBody>
          <a:bodyPr/>
          <a:lstStyle/>
          <a:p>
            <a:pPr indent="-255600"/>
            <a:r>
              <a:rPr lang="en-US" altLang="en-US" sz="2000" dirty="0">
                <a:latin typeface="+mn-lt"/>
                <a:ea typeface="ヒラギノ角ゴ Pro W3" pitchFamily="-84" charset="-128"/>
              </a:rPr>
              <a:t>Workers will choose to work in the industry that pays the higher wage.</a:t>
            </a:r>
          </a:p>
          <a:p>
            <a:pPr indent="-255600"/>
            <a:r>
              <a:rPr lang="en-US" altLang="en-US" sz="2000" dirty="0">
                <a:latin typeface="+mn-lt"/>
                <a:ea typeface="ヒラギノ角ゴ Pro W3" pitchFamily="-84" charset="-128"/>
              </a:rPr>
              <a:t>If the price of cheese relative to the price of wine exceeds the opportunity cost of producing cheese</a:t>
            </a:r>
            <a:endParaRPr lang="en-US" sz="2000" dirty="0">
              <a:latin typeface="+mn-lt"/>
            </a:endParaRPr>
          </a:p>
        </p:txBody>
      </p:sp>
      <p:graphicFrame>
        <p:nvGraphicFramePr>
          <p:cNvPr id="17" name="Object 16" descr="Start fraction P sub C over P sub W end fraction is great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874244169"/>
              </p:ext>
            </p:extLst>
          </p:nvPr>
        </p:nvGraphicFramePr>
        <p:xfrm>
          <a:off x="3919534" y="2905935"/>
          <a:ext cx="1304933" cy="787459"/>
        </p:xfrm>
        <a:graphic>
          <a:graphicData uri="http://schemas.openxmlformats.org/presentationml/2006/ole">
            <mc:AlternateContent xmlns:mc="http://schemas.openxmlformats.org/markup-compatibility/2006">
              <mc:Choice xmlns:v="urn:schemas-microsoft-com:vml" Requires="v">
                <p:oleObj spid="_x0000_s12306" name="Equation" r:id="rId3" imgW="736560" imgH="444240" progId="Equation.DSMT4">
                  <p:embed/>
                </p:oleObj>
              </mc:Choice>
              <mc:Fallback>
                <p:oleObj name="Equation" r:id="rId3" imgW="736560" imgH="444240" progId="Equation.DSMT4">
                  <p:embed/>
                  <p:pic>
                    <p:nvPicPr>
                      <p:cNvPr id="17" name="Object 16"/>
                      <p:cNvPicPr/>
                      <p:nvPr/>
                    </p:nvPicPr>
                    <p:blipFill>
                      <a:blip r:embed="rId4"/>
                      <a:stretch>
                        <a:fillRect/>
                      </a:stretch>
                    </p:blipFill>
                    <p:spPr>
                      <a:xfrm>
                        <a:off x="3919534" y="2905935"/>
                        <a:ext cx="1304933" cy="787459"/>
                      </a:xfrm>
                      <a:prstGeom prst="rect">
                        <a:avLst/>
                      </a:prstGeom>
                    </p:spPr>
                  </p:pic>
                </p:oleObj>
              </mc:Fallback>
            </mc:AlternateContent>
          </a:graphicData>
        </a:graphic>
      </p:graphicFrame>
      <p:sp>
        <p:nvSpPr>
          <p:cNvPr id="4" name="Content Placeholder 3"/>
          <p:cNvSpPr>
            <a:spLocks noGrp="1"/>
          </p:cNvSpPr>
          <p:nvPr>
            <p:ph idx="13"/>
          </p:nvPr>
        </p:nvSpPr>
        <p:spPr>
          <a:xfrm>
            <a:off x="457200" y="3810000"/>
            <a:ext cx="8153400" cy="761999"/>
          </a:xfrm>
        </p:spPr>
        <p:txBody>
          <a:bodyPr/>
          <a:lstStyle/>
          <a:p>
            <a:pPr lvl="1" indent="-284400"/>
            <a:r>
              <a:rPr lang="en-US" altLang="en-US" sz="2000" dirty="0">
                <a:latin typeface="+mn-lt"/>
                <a:ea typeface="ヒラギノ角ゴ Pro W3" pitchFamily="-84" charset="-128"/>
              </a:rPr>
              <a:t>Then the wage paid when making cheese will exceed the wage in wine</a:t>
            </a:r>
            <a:endParaRPr lang="en-US" sz="2000" dirty="0">
              <a:latin typeface="+mn-lt"/>
            </a:endParaRPr>
          </a:p>
        </p:txBody>
      </p:sp>
      <p:graphicFrame>
        <p:nvGraphicFramePr>
          <p:cNvPr id="18" name="Object 17" descr="W sub C = Start fraction P sub C over a sub start expression L C end expression end fraction is great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831135668"/>
              </p:ext>
            </p:extLst>
          </p:nvPr>
        </p:nvGraphicFramePr>
        <p:xfrm>
          <a:off x="3380469" y="4671640"/>
          <a:ext cx="2433963" cy="715872"/>
        </p:xfrm>
        <a:graphic>
          <a:graphicData uri="http://schemas.openxmlformats.org/presentationml/2006/ole">
            <mc:AlternateContent xmlns:mc="http://schemas.openxmlformats.org/markup-compatibility/2006">
              <mc:Choice xmlns:v="urn:schemas-microsoft-com:vml" Requires="v">
                <p:oleObj spid="_x0000_s12307" name="Equation" r:id="rId5" imgW="1511280" imgH="444240" progId="Equation.DSMT4">
                  <p:embed/>
                </p:oleObj>
              </mc:Choice>
              <mc:Fallback>
                <p:oleObj name="Equation" r:id="rId5" imgW="1511280" imgH="444240" progId="Equation.DSMT4">
                  <p:embed/>
                  <p:pic>
                    <p:nvPicPr>
                      <p:cNvPr id="18" name="Object 17"/>
                      <p:cNvPicPr/>
                      <p:nvPr/>
                    </p:nvPicPr>
                    <p:blipFill>
                      <a:blip r:embed="rId6"/>
                      <a:stretch>
                        <a:fillRect/>
                      </a:stretch>
                    </p:blipFill>
                    <p:spPr>
                      <a:xfrm>
                        <a:off x="3380469" y="4671640"/>
                        <a:ext cx="2433963" cy="715872"/>
                      </a:xfrm>
                      <a:prstGeom prst="rect">
                        <a:avLst/>
                      </a:prstGeom>
                    </p:spPr>
                  </p:pic>
                </p:oleObj>
              </mc:Fallback>
            </mc:AlternateContent>
          </a:graphicData>
        </a:graphic>
      </p:graphicFrame>
      <p:sp>
        <p:nvSpPr>
          <p:cNvPr id="5" name="Content Placeholder 4"/>
          <p:cNvSpPr>
            <a:spLocks noGrp="1"/>
          </p:cNvSpPr>
          <p:nvPr>
            <p:ph idx="14"/>
          </p:nvPr>
        </p:nvSpPr>
        <p:spPr>
          <a:xfrm>
            <a:off x="457200" y="5477692"/>
            <a:ext cx="8153400" cy="762001"/>
          </a:xfrm>
        </p:spPr>
        <p:txBody>
          <a:bodyPr/>
          <a:lstStyle/>
          <a:p>
            <a:pPr lvl="1" indent="-284400"/>
            <a:r>
              <a:rPr lang="en-US" altLang="en-US" sz="2000" dirty="0">
                <a:latin typeface="+mn-lt"/>
                <a:ea typeface="ヒラギノ角ゴ Pro W3" pitchFamily="-84" charset="-128"/>
              </a:rPr>
              <a:t>So workers will make only cheese (the economy specializes in cheese production).</a:t>
            </a:r>
            <a:endParaRPr lang="en-US" sz="2000" dirty="0">
              <a:latin typeface="+mn-lt"/>
            </a:endParaRPr>
          </a:p>
        </p:txBody>
      </p:sp>
    </p:spTree>
    <p:extLst>
      <p:ext uri="{BB962C8B-B14F-4D97-AF65-F5344CB8AC3E}">
        <p14:creationId xmlns:p14="http://schemas.microsoft.com/office/powerpoint/2010/main" val="2785103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(3 of 7)</a:t>
            </a:r>
            <a:endParaRPr lang="en-IN" sz="2000" dirty="0"/>
          </a:p>
        </p:txBody>
      </p:sp>
      <p:sp>
        <p:nvSpPr>
          <p:cNvPr id="3" name="Content Placeholder 2"/>
          <p:cNvSpPr>
            <a:spLocks noGrp="1"/>
          </p:cNvSpPr>
          <p:nvPr>
            <p:ph idx="1"/>
          </p:nvPr>
        </p:nvSpPr>
        <p:spPr>
          <a:xfrm>
            <a:off x="457199" y="1600201"/>
            <a:ext cx="8375515" cy="792803"/>
          </a:xfrm>
        </p:spPr>
        <p:txBody>
          <a:bodyPr/>
          <a:lstStyle/>
          <a:p>
            <a:pPr indent="-255600">
              <a:spcBef>
                <a:spcPct val="50000"/>
              </a:spcBef>
            </a:pPr>
            <a:r>
              <a:rPr lang="en-US" altLang="en-US" sz="2000" dirty="0">
                <a:latin typeface="+mn-lt"/>
                <a:ea typeface="ヒラギノ角ゴ Pro W3" pitchFamily="-84" charset="-128"/>
              </a:rPr>
              <a:t>If the price of cheese relative to the price of wine is less than the opportunity cost of producing cheese</a:t>
            </a:r>
            <a:endParaRPr lang="en-US" sz="2000" dirty="0">
              <a:latin typeface="+mn-lt"/>
            </a:endParaRPr>
          </a:p>
        </p:txBody>
      </p:sp>
      <p:graphicFrame>
        <p:nvGraphicFramePr>
          <p:cNvPr id="17" name="Object 16" descr="Start fraction P sub C over P sub W end fraction is less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3404283892"/>
              </p:ext>
            </p:extLst>
          </p:nvPr>
        </p:nvGraphicFramePr>
        <p:xfrm>
          <a:off x="3930650" y="2546765"/>
          <a:ext cx="1282700" cy="787400"/>
        </p:xfrm>
        <a:graphic>
          <a:graphicData uri="http://schemas.openxmlformats.org/presentationml/2006/ole">
            <mc:AlternateContent xmlns:mc="http://schemas.openxmlformats.org/markup-compatibility/2006">
              <mc:Choice xmlns:v="urn:schemas-microsoft-com:vml" Requires="v">
                <p:oleObj spid="_x0000_s13330" name="Equation" r:id="rId3" imgW="723600" imgH="444240" progId="Equation.DSMT4">
                  <p:embed/>
                </p:oleObj>
              </mc:Choice>
              <mc:Fallback>
                <p:oleObj name="Equation" r:id="rId3" imgW="723600" imgH="444240" progId="Equation.DSMT4">
                  <p:embed/>
                  <p:pic>
                    <p:nvPicPr>
                      <p:cNvPr id="17" name="Object 16"/>
                      <p:cNvPicPr/>
                      <p:nvPr/>
                    </p:nvPicPr>
                    <p:blipFill>
                      <a:blip r:embed="rId4"/>
                      <a:stretch>
                        <a:fillRect/>
                      </a:stretch>
                    </p:blipFill>
                    <p:spPr>
                      <a:xfrm>
                        <a:off x="3930650" y="2546765"/>
                        <a:ext cx="1282700" cy="787400"/>
                      </a:xfrm>
                      <a:prstGeom prst="rect">
                        <a:avLst/>
                      </a:prstGeom>
                    </p:spPr>
                  </p:pic>
                </p:oleObj>
              </mc:Fallback>
            </mc:AlternateContent>
          </a:graphicData>
        </a:graphic>
      </p:graphicFrame>
      <p:sp>
        <p:nvSpPr>
          <p:cNvPr id="4" name="Content Placeholder 3"/>
          <p:cNvSpPr>
            <a:spLocks noGrp="1"/>
          </p:cNvSpPr>
          <p:nvPr>
            <p:ph idx="13"/>
          </p:nvPr>
        </p:nvSpPr>
        <p:spPr>
          <a:xfrm>
            <a:off x="457200" y="3483426"/>
            <a:ext cx="8153400" cy="443644"/>
          </a:xfrm>
        </p:spPr>
        <p:txBody>
          <a:bodyPr/>
          <a:lstStyle/>
          <a:p>
            <a:pPr lvl="1" indent="-284400"/>
            <a:r>
              <a:rPr lang="en-US" altLang="en-US" sz="2000" dirty="0">
                <a:latin typeface="+mn-lt"/>
                <a:ea typeface="ヒラギノ角ゴ Pro W3" pitchFamily="-84" charset="-128"/>
              </a:rPr>
              <a:t>Then the wage in cheese will be less than the wage in wine</a:t>
            </a:r>
            <a:endParaRPr lang="en-US" sz="2000" dirty="0">
              <a:latin typeface="+mn-lt"/>
            </a:endParaRPr>
          </a:p>
        </p:txBody>
      </p:sp>
      <p:graphicFrame>
        <p:nvGraphicFramePr>
          <p:cNvPr id="18" name="Object 17" descr="W sub C = Start fraction P sub C over a sub start expression L C end expression end fraction is less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184570323"/>
              </p:ext>
            </p:extLst>
          </p:nvPr>
        </p:nvGraphicFramePr>
        <p:xfrm>
          <a:off x="3364730" y="4129431"/>
          <a:ext cx="2414540" cy="716486"/>
        </p:xfrm>
        <a:graphic>
          <a:graphicData uri="http://schemas.openxmlformats.org/presentationml/2006/ole">
            <mc:AlternateContent xmlns:mc="http://schemas.openxmlformats.org/markup-compatibility/2006">
              <mc:Choice xmlns:v="urn:schemas-microsoft-com:vml" Requires="v">
                <p:oleObj spid="_x0000_s13331" name="Equation" r:id="rId5" imgW="1498320" imgH="444240" progId="Equation.DSMT4">
                  <p:embed/>
                </p:oleObj>
              </mc:Choice>
              <mc:Fallback>
                <p:oleObj name="Equation" r:id="rId5" imgW="1498320" imgH="444240" progId="Equation.DSMT4">
                  <p:embed/>
                  <p:pic>
                    <p:nvPicPr>
                      <p:cNvPr id="18" name="Object 17"/>
                      <p:cNvPicPr/>
                      <p:nvPr/>
                    </p:nvPicPr>
                    <p:blipFill>
                      <a:blip r:embed="rId6"/>
                      <a:stretch>
                        <a:fillRect/>
                      </a:stretch>
                    </p:blipFill>
                    <p:spPr>
                      <a:xfrm>
                        <a:off x="3364730" y="4129431"/>
                        <a:ext cx="2414540" cy="716486"/>
                      </a:xfrm>
                      <a:prstGeom prst="rect">
                        <a:avLst/>
                      </a:prstGeom>
                    </p:spPr>
                  </p:pic>
                </p:oleObj>
              </mc:Fallback>
            </mc:AlternateContent>
          </a:graphicData>
        </a:graphic>
      </p:graphicFrame>
      <p:sp>
        <p:nvSpPr>
          <p:cNvPr id="5" name="Content Placeholder 4"/>
          <p:cNvSpPr>
            <a:spLocks noGrp="1"/>
          </p:cNvSpPr>
          <p:nvPr>
            <p:ph idx="14"/>
          </p:nvPr>
        </p:nvSpPr>
        <p:spPr>
          <a:xfrm>
            <a:off x="457200" y="4994361"/>
            <a:ext cx="8153400" cy="762001"/>
          </a:xfrm>
        </p:spPr>
        <p:txBody>
          <a:bodyPr/>
          <a:lstStyle/>
          <a:p>
            <a:pPr lvl="1" indent="-284400"/>
            <a:r>
              <a:rPr lang="en-US" altLang="en-US" sz="2000" dirty="0">
                <a:latin typeface="+mn-lt"/>
                <a:ea typeface="ヒラギノ角ゴ Pro W3" pitchFamily="-84" charset="-128"/>
              </a:rPr>
              <a:t>So workers will make only wine (the economy specializes in wine production).</a:t>
            </a:r>
            <a:endParaRPr lang="en-US" sz="2000" dirty="0">
              <a:latin typeface="+mn-lt"/>
            </a:endParaRPr>
          </a:p>
        </p:txBody>
      </p:sp>
    </p:spTree>
    <p:extLst>
      <p:ext uri="{BB962C8B-B14F-4D97-AF65-F5344CB8AC3E}">
        <p14:creationId xmlns:p14="http://schemas.microsoft.com/office/powerpoint/2010/main" val="3035055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(4 of 7)</a:t>
            </a:r>
            <a:endParaRPr lang="en-IN" sz="2000" dirty="0"/>
          </a:p>
        </p:txBody>
      </p:sp>
      <p:sp>
        <p:nvSpPr>
          <p:cNvPr id="3" name="Content Placeholder 2"/>
          <p:cNvSpPr>
            <a:spLocks noGrp="1"/>
          </p:cNvSpPr>
          <p:nvPr>
            <p:ph idx="1"/>
          </p:nvPr>
        </p:nvSpPr>
        <p:spPr>
          <a:xfrm>
            <a:off x="457200" y="1600201"/>
            <a:ext cx="8229600" cy="761999"/>
          </a:xfrm>
        </p:spPr>
        <p:txBody>
          <a:bodyPr/>
          <a:lstStyle/>
          <a:p>
            <a:pPr indent="-255600"/>
            <a:r>
              <a:rPr lang="en-US" altLang="en-US" sz="2000" dirty="0">
                <a:latin typeface="+mn-lt"/>
                <a:ea typeface="ヒラギノ角ゴ Pro W3" pitchFamily="-84" charset="-128"/>
              </a:rPr>
              <a:t>If the price of cheese relative to the price of wine equals the opportunity cost of producing cheese</a:t>
            </a:r>
            <a:endParaRPr lang="en-US" sz="2000" dirty="0">
              <a:latin typeface="+mn-lt"/>
            </a:endParaRPr>
          </a:p>
        </p:txBody>
      </p:sp>
      <p:graphicFrame>
        <p:nvGraphicFramePr>
          <p:cNvPr id="11" name="Object 10" descr="Start fraction P sub C over P sub W end fraction =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2879656357"/>
              </p:ext>
            </p:extLst>
          </p:nvPr>
        </p:nvGraphicFramePr>
        <p:xfrm>
          <a:off x="3978849" y="2560728"/>
          <a:ext cx="1186303" cy="715872"/>
        </p:xfrm>
        <a:graphic>
          <a:graphicData uri="http://schemas.openxmlformats.org/presentationml/2006/ole">
            <mc:AlternateContent xmlns:mc="http://schemas.openxmlformats.org/markup-compatibility/2006">
              <mc:Choice xmlns:v="urn:schemas-microsoft-com:vml" Requires="v">
                <p:oleObj spid="_x0000_s14354" name="Equation" r:id="rId3" imgW="736560" imgH="444240" progId="Equation.DSMT4">
                  <p:embed/>
                </p:oleObj>
              </mc:Choice>
              <mc:Fallback>
                <p:oleObj name="Equation" r:id="rId3" imgW="736560" imgH="444240" progId="Equation.DSMT4">
                  <p:embed/>
                  <p:pic>
                    <p:nvPicPr>
                      <p:cNvPr id="11" name="Object 10"/>
                      <p:cNvPicPr/>
                      <p:nvPr/>
                    </p:nvPicPr>
                    <p:blipFill>
                      <a:blip r:embed="rId4"/>
                      <a:stretch>
                        <a:fillRect/>
                      </a:stretch>
                    </p:blipFill>
                    <p:spPr>
                      <a:xfrm>
                        <a:off x="3978849" y="2560728"/>
                        <a:ext cx="1186303" cy="715872"/>
                      </a:xfrm>
                      <a:prstGeom prst="rect">
                        <a:avLst/>
                      </a:prstGeom>
                    </p:spPr>
                  </p:pic>
                </p:oleObj>
              </mc:Fallback>
            </mc:AlternateContent>
          </a:graphicData>
        </a:graphic>
      </p:graphicFrame>
      <p:sp>
        <p:nvSpPr>
          <p:cNvPr id="4" name="Content Placeholder 3"/>
          <p:cNvSpPr>
            <a:spLocks noGrp="1"/>
          </p:cNvSpPr>
          <p:nvPr>
            <p:ph idx="13"/>
          </p:nvPr>
        </p:nvSpPr>
        <p:spPr>
          <a:xfrm>
            <a:off x="457200" y="3501010"/>
            <a:ext cx="8229600" cy="496223"/>
          </a:xfrm>
        </p:spPr>
        <p:txBody>
          <a:bodyPr/>
          <a:lstStyle/>
          <a:p>
            <a:pPr lvl="1" indent="-284400"/>
            <a:r>
              <a:rPr lang="en-US" altLang="en-US" sz="2000" dirty="0">
                <a:latin typeface="+mn-lt"/>
                <a:ea typeface="ヒラギノ角ゴ Pro W3" pitchFamily="-84" charset="-128"/>
              </a:rPr>
              <a:t>Then the wage in cheese will equal the wage in wine</a:t>
            </a:r>
            <a:endParaRPr lang="en-US" sz="2000" dirty="0">
              <a:latin typeface="+mn-lt"/>
            </a:endParaRPr>
          </a:p>
        </p:txBody>
      </p:sp>
      <p:graphicFrame>
        <p:nvGraphicFramePr>
          <p:cNvPr id="12" name="Object 11" descr="W sub C = Start fraction P sub C over a sub start expression L C end expression end fraction =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09928743"/>
              </p:ext>
            </p:extLst>
          </p:nvPr>
        </p:nvGraphicFramePr>
        <p:xfrm>
          <a:off x="3355019" y="4220414"/>
          <a:ext cx="2433963" cy="715872"/>
        </p:xfrm>
        <a:graphic>
          <a:graphicData uri="http://schemas.openxmlformats.org/presentationml/2006/ole">
            <mc:AlternateContent xmlns:mc="http://schemas.openxmlformats.org/markup-compatibility/2006">
              <mc:Choice xmlns:v="urn:schemas-microsoft-com:vml" Requires="v">
                <p:oleObj spid="_x0000_s14355" name="Equation" r:id="rId5" imgW="1511280" imgH="444240" progId="Equation.DSMT4">
                  <p:embed/>
                </p:oleObj>
              </mc:Choice>
              <mc:Fallback>
                <p:oleObj name="Equation" r:id="rId5" imgW="1511280" imgH="444240" progId="Equation.DSMT4">
                  <p:embed/>
                  <p:pic>
                    <p:nvPicPr>
                      <p:cNvPr id="12" name="Object 11"/>
                      <p:cNvPicPr/>
                      <p:nvPr/>
                    </p:nvPicPr>
                    <p:blipFill>
                      <a:blip r:embed="rId6"/>
                      <a:stretch>
                        <a:fillRect/>
                      </a:stretch>
                    </p:blipFill>
                    <p:spPr>
                      <a:xfrm>
                        <a:off x="3355019" y="4220414"/>
                        <a:ext cx="2433963" cy="715872"/>
                      </a:xfrm>
                      <a:prstGeom prst="rect">
                        <a:avLst/>
                      </a:prstGeom>
                    </p:spPr>
                  </p:pic>
                </p:oleObj>
              </mc:Fallback>
            </mc:AlternateContent>
          </a:graphicData>
        </a:graphic>
      </p:graphicFrame>
      <p:sp>
        <p:nvSpPr>
          <p:cNvPr id="5" name="Content Placeholder 4"/>
          <p:cNvSpPr>
            <a:spLocks noGrp="1"/>
          </p:cNvSpPr>
          <p:nvPr>
            <p:ph idx="14"/>
          </p:nvPr>
        </p:nvSpPr>
        <p:spPr>
          <a:xfrm>
            <a:off x="457200" y="5154840"/>
            <a:ext cx="8229600" cy="535260"/>
          </a:xfrm>
        </p:spPr>
        <p:txBody>
          <a:bodyPr/>
          <a:lstStyle/>
          <a:p>
            <a:pPr lvl="1" indent="-284400"/>
            <a:r>
              <a:rPr lang="en-US" altLang="en-US" sz="2000" dirty="0">
                <a:latin typeface="+mn-lt"/>
                <a:ea typeface="ヒラギノ角ゴ Pro W3" pitchFamily="-84" charset="-128"/>
              </a:rPr>
              <a:t>So workers will be willing to make both wine and cheese.</a:t>
            </a:r>
            <a:endParaRPr lang="en-US" sz="2000" dirty="0">
              <a:latin typeface="+mn-lt"/>
            </a:endParaRPr>
          </a:p>
        </p:txBody>
      </p:sp>
    </p:spTree>
    <p:extLst>
      <p:ext uri="{BB962C8B-B14F-4D97-AF65-F5344CB8AC3E}">
        <p14:creationId xmlns:p14="http://schemas.microsoft.com/office/powerpoint/2010/main" val="709845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(5 of 7)</a:t>
            </a:r>
            <a:endParaRPr lang="en-IN" sz="2000" dirty="0"/>
          </a:p>
        </p:txBody>
      </p:sp>
      <p:sp>
        <p:nvSpPr>
          <p:cNvPr id="3" name="Content Placeholder 2"/>
          <p:cNvSpPr>
            <a:spLocks noGrp="1"/>
          </p:cNvSpPr>
          <p:nvPr>
            <p:ph idx="1"/>
          </p:nvPr>
        </p:nvSpPr>
        <p:spPr>
          <a:xfrm>
            <a:off x="457200" y="1600201"/>
            <a:ext cx="4854102" cy="434339"/>
          </a:xfrm>
        </p:spPr>
        <p:txBody>
          <a:bodyPr/>
          <a:lstStyle/>
          <a:p>
            <a:pPr indent="-255600"/>
            <a:r>
              <a:rPr lang="en-US" altLang="en-US" sz="2000" dirty="0">
                <a:latin typeface="+mn-lt"/>
                <a:ea typeface="ヒラギノ角ゴ Pro W3" pitchFamily="-84" charset="-128"/>
              </a:rPr>
              <a:t>For example, suppose cheese sells for</a:t>
            </a:r>
            <a:endParaRPr lang="en-IN" sz="2000" dirty="0">
              <a:latin typeface="+mn-lt"/>
            </a:endParaRPr>
          </a:p>
        </p:txBody>
      </p:sp>
      <p:graphicFrame>
        <p:nvGraphicFramePr>
          <p:cNvPr id="11" name="Object 10" descr="P sub C = $4 per pound,"/>
          <p:cNvGraphicFramePr>
            <a:graphicFrameLocks noChangeAspect="1"/>
          </p:cNvGraphicFramePr>
          <p:nvPr>
            <p:extLst>
              <p:ext uri="{D42A27DB-BD31-4B8C-83A1-F6EECF244321}">
                <p14:modId xmlns:p14="http://schemas.microsoft.com/office/powerpoint/2010/main" val="1562722368"/>
              </p:ext>
            </p:extLst>
          </p:nvPr>
        </p:nvGraphicFramePr>
        <p:xfrm>
          <a:off x="5418641" y="1676241"/>
          <a:ext cx="1820359" cy="368163"/>
        </p:xfrm>
        <a:graphic>
          <a:graphicData uri="http://schemas.openxmlformats.org/presentationml/2006/ole">
            <mc:AlternateContent xmlns:mc="http://schemas.openxmlformats.org/markup-compatibility/2006">
              <mc:Choice xmlns:v="urn:schemas-microsoft-com:vml" Requires="v">
                <p:oleObj spid="_x0000_s15410" name="Equation" r:id="rId3" imgW="1130040" imgH="228600" progId="Equation.DSMT4">
                  <p:embed/>
                </p:oleObj>
              </mc:Choice>
              <mc:Fallback>
                <p:oleObj name="Equation" r:id="rId3" imgW="1130040" imgH="228600" progId="Equation.DSMT4">
                  <p:embed/>
                  <p:pic>
                    <p:nvPicPr>
                      <p:cNvPr id="11" name="Object 10"/>
                      <p:cNvPicPr/>
                      <p:nvPr/>
                    </p:nvPicPr>
                    <p:blipFill>
                      <a:blip r:embed="rId4"/>
                      <a:stretch>
                        <a:fillRect/>
                      </a:stretch>
                    </p:blipFill>
                    <p:spPr>
                      <a:xfrm>
                        <a:off x="5418641" y="1676241"/>
                        <a:ext cx="1820359" cy="368163"/>
                      </a:xfrm>
                      <a:prstGeom prst="rect">
                        <a:avLst/>
                      </a:prstGeom>
                    </p:spPr>
                  </p:pic>
                </p:oleObj>
              </mc:Fallback>
            </mc:AlternateContent>
          </a:graphicData>
        </a:graphic>
      </p:graphicFrame>
      <p:sp>
        <p:nvSpPr>
          <p:cNvPr id="4" name="Content Placeholder 3"/>
          <p:cNvSpPr>
            <a:spLocks noGrp="1"/>
          </p:cNvSpPr>
          <p:nvPr>
            <p:ph idx="13"/>
          </p:nvPr>
        </p:nvSpPr>
        <p:spPr>
          <a:xfrm>
            <a:off x="457201" y="2129610"/>
            <a:ext cx="2456976" cy="329881"/>
          </a:xfrm>
        </p:spPr>
        <p:txBody>
          <a:bodyPr tIns="0" bIns="0"/>
          <a:lstStyle/>
          <a:p>
            <a:pPr marL="255600" indent="0">
              <a:buNone/>
            </a:pPr>
            <a:r>
              <a:rPr lang="en-US" altLang="en-US" sz="2000" dirty="0">
                <a:latin typeface="+mn-lt"/>
                <a:ea typeface="ヒラギノ角ゴ Pro W3" pitchFamily="-84" charset="-128"/>
              </a:rPr>
              <a:t>and wine sells for</a:t>
            </a:r>
            <a:endParaRPr lang="en-IN" sz="2000" dirty="0">
              <a:latin typeface="+mn-lt"/>
            </a:endParaRPr>
          </a:p>
        </p:txBody>
      </p:sp>
      <p:graphicFrame>
        <p:nvGraphicFramePr>
          <p:cNvPr id="12" name="Object 11" descr="P sub W = $7 per gallon."/>
          <p:cNvGraphicFramePr>
            <a:graphicFrameLocks noChangeAspect="1"/>
          </p:cNvGraphicFramePr>
          <p:nvPr>
            <p:extLst>
              <p:ext uri="{D42A27DB-BD31-4B8C-83A1-F6EECF244321}">
                <p14:modId xmlns:p14="http://schemas.microsoft.com/office/powerpoint/2010/main" val="3271028937"/>
              </p:ext>
            </p:extLst>
          </p:nvPr>
        </p:nvGraphicFramePr>
        <p:xfrm>
          <a:off x="3015533" y="2126628"/>
          <a:ext cx="1861267" cy="368163"/>
        </p:xfrm>
        <a:graphic>
          <a:graphicData uri="http://schemas.openxmlformats.org/presentationml/2006/ole">
            <mc:AlternateContent xmlns:mc="http://schemas.openxmlformats.org/markup-compatibility/2006">
              <mc:Choice xmlns:v="urn:schemas-microsoft-com:vml" Requires="v">
                <p:oleObj spid="_x0000_s15411" name="Equation" r:id="rId5" imgW="1155600" imgH="228600" progId="Equation.DSMT4">
                  <p:embed/>
                </p:oleObj>
              </mc:Choice>
              <mc:Fallback>
                <p:oleObj name="Equation" r:id="rId5" imgW="1155600" imgH="228600" progId="Equation.DSMT4">
                  <p:embed/>
                  <p:pic>
                    <p:nvPicPr>
                      <p:cNvPr id="12" name="Object 11"/>
                      <p:cNvPicPr/>
                      <p:nvPr/>
                    </p:nvPicPr>
                    <p:blipFill>
                      <a:blip r:embed="rId6"/>
                      <a:stretch>
                        <a:fillRect/>
                      </a:stretch>
                    </p:blipFill>
                    <p:spPr>
                      <a:xfrm>
                        <a:off x="3015533" y="2126628"/>
                        <a:ext cx="1861267" cy="368163"/>
                      </a:xfrm>
                      <a:prstGeom prst="rect">
                        <a:avLst/>
                      </a:prstGeom>
                    </p:spPr>
                  </p:pic>
                </p:oleObj>
              </mc:Fallback>
            </mc:AlternateContent>
          </a:graphicData>
        </a:graphic>
      </p:graphicFrame>
      <p:sp>
        <p:nvSpPr>
          <p:cNvPr id="5" name="Content Placeholder 4"/>
          <p:cNvSpPr>
            <a:spLocks noGrp="1"/>
          </p:cNvSpPr>
          <p:nvPr>
            <p:ph idx="14"/>
          </p:nvPr>
        </p:nvSpPr>
        <p:spPr>
          <a:xfrm>
            <a:off x="457200" y="2553843"/>
            <a:ext cx="4572000" cy="381001"/>
          </a:xfrm>
        </p:spPr>
        <p:txBody>
          <a:bodyPr tIns="0"/>
          <a:lstStyle/>
          <a:p>
            <a:pPr lvl="1" indent="-284400"/>
            <a:r>
              <a:rPr lang="en-US" altLang="en-US" sz="2000" dirty="0">
                <a:latin typeface="+mn-lt"/>
                <a:ea typeface="ヒラギノ角ゴ Pro W3" pitchFamily="-84" charset="-128"/>
              </a:rPr>
              <a:t>Wage paid producing cheese is</a:t>
            </a:r>
            <a:endParaRPr lang="en-IN" sz="2000" dirty="0">
              <a:latin typeface="+mn-lt"/>
            </a:endParaRPr>
          </a:p>
        </p:txBody>
      </p:sp>
      <p:graphicFrame>
        <p:nvGraphicFramePr>
          <p:cNvPr id="13" name="Object 12" descr="Start fraction P sub C over a sub start expression L C end expression end fraction = left parenthesis $4 per pound right parenthesis left parenthesis 1 pound per hour right parenthesis = $4 per hour."/>
          <p:cNvGraphicFramePr>
            <a:graphicFrameLocks noChangeAspect="1"/>
          </p:cNvGraphicFramePr>
          <p:nvPr>
            <p:extLst>
              <p:ext uri="{D42A27DB-BD31-4B8C-83A1-F6EECF244321}">
                <p14:modId xmlns:p14="http://schemas.microsoft.com/office/powerpoint/2010/main" val="3754343385"/>
              </p:ext>
            </p:extLst>
          </p:nvPr>
        </p:nvGraphicFramePr>
        <p:xfrm>
          <a:off x="2366303" y="3004597"/>
          <a:ext cx="4970195" cy="695419"/>
        </p:xfrm>
        <a:graphic>
          <a:graphicData uri="http://schemas.openxmlformats.org/presentationml/2006/ole">
            <mc:AlternateContent xmlns:mc="http://schemas.openxmlformats.org/markup-compatibility/2006">
              <mc:Choice xmlns:v="urn:schemas-microsoft-com:vml" Requires="v">
                <p:oleObj spid="_x0000_s15412" name="Equation" r:id="rId7" imgW="3085920" imgH="431640" progId="Equation.DSMT4">
                  <p:embed/>
                </p:oleObj>
              </mc:Choice>
              <mc:Fallback>
                <p:oleObj name="Equation" r:id="rId7" imgW="3085920" imgH="431640" progId="Equation.DSMT4">
                  <p:embed/>
                  <p:pic>
                    <p:nvPicPr>
                      <p:cNvPr id="13" name="Object 12"/>
                      <p:cNvPicPr/>
                      <p:nvPr/>
                    </p:nvPicPr>
                    <p:blipFill>
                      <a:blip r:embed="rId8"/>
                      <a:stretch>
                        <a:fillRect/>
                      </a:stretch>
                    </p:blipFill>
                    <p:spPr>
                      <a:xfrm>
                        <a:off x="2366303" y="3004597"/>
                        <a:ext cx="4970195" cy="695419"/>
                      </a:xfrm>
                      <a:prstGeom prst="rect">
                        <a:avLst/>
                      </a:prstGeom>
                    </p:spPr>
                  </p:pic>
                </p:oleObj>
              </mc:Fallback>
            </mc:AlternateContent>
          </a:graphicData>
        </a:graphic>
      </p:graphicFrame>
      <p:sp>
        <p:nvSpPr>
          <p:cNvPr id="6" name="Content Placeholder 5"/>
          <p:cNvSpPr>
            <a:spLocks noGrp="1"/>
          </p:cNvSpPr>
          <p:nvPr>
            <p:ph idx="15"/>
          </p:nvPr>
        </p:nvSpPr>
        <p:spPr>
          <a:xfrm>
            <a:off x="457200" y="3785235"/>
            <a:ext cx="4191000" cy="381816"/>
          </a:xfrm>
        </p:spPr>
        <p:txBody>
          <a:bodyPr tIns="0"/>
          <a:lstStyle/>
          <a:p>
            <a:pPr lvl="1" indent="-284400"/>
            <a:r>
              <a:rPr lang="en-US" altLang="en-US" sz="2000" dirty="0">
                <a:latin typeface="+mn-lt"/>
                <a:ea typeface="ヒラギノ角ゴ Pro W3" pitchFamily="-84" charset="-128"/>
              </a:rPr>
              <a:t>Wage paid producing wine is</a:t>
            </a:r>
            <a:endParaRPr lang="en-US" sz="2000" dirty="0">
              <a:latin typeface="+mn-lt"/>
            </a:endParaRPr>
          </a:p>
        </p:txBody>
      </p:sp>
      <p:graphicFrame>
        <p:nvGraphicFramePr>
          <p:cNvPr id="14" name="Object 13" descr="Start fraction P sub W over a sub start expression L W end expression end fraction = left parenthesis $7per gallon right parenthesis left parenthesis 1 half gallon per hour right parenthesis = $3.50 per hour."/>
          <p:cNvGraphicFramePr>
            <a:graphicFrameLocks noChangeAspect="1"/>
          </p:cNvGraphicFramePr>
          <p:nvPr>
            <p:extLst>
              <p:ext uri="{D42A27DB-BD31-4B8C-83A1-F6EECF244321}">
                <p14:modId xmlns:p14="http://schemas.microsoft.com/office/powerpoint/2010/main" val="2995560105"/>
              </p:ext>
            </p:extLst>
          </p:nvPr>
        </p:nvGraphicFramePr>
        <p:xfrm>
          <a:off x="2110634" y="4288280"/>
          <a:ext cx="5481532" cy="695419"/>
        </p:xfrm>
        <a:graphic>
          <a:graphicData uri="http://schemas.openxmlformats.org/presentationml/2006/ole">
            <mc:AlternateContent xmlns:mc="http://schemas.openxmlformats.org/markup-compatibility/2006">
              <mc:Choice xmlns:v="urn:schemas-microsoft-com:vml" Requires="v">
                <p:oleObj spid="_x0000_s15413" name="Equation" r:id="rId9" imgW="3403440" imgH="431640" progId="Equation.DSMT4">
                  <p:embed/>
                </p:oleObj>
              </mc:Choice>
              <mc:Fallback>
                <p:oleObj name="Equation" r:id="rId9" imgW="3403440" imgH="431640" progId="Equation.DSMT4">
                  <p:embed/>
                  <p:pic>
                    <p:nvPicPr>
                      <p:cNvPr id="14" name="Object 13"/>
                      <p:cNvPicPr/>
                      <p:nvPr/>
                    </p:nvPicPr>
                    <p:blipFill>
                      <a:blip r:embed="rId10"/>
                      <a:stretch>
                        <a:fillRect/>
                      </a:stretch>
                    </p:blipFill>
                    <p:spPr>
                      <a:xfrm>
                        <a:off x="2110634" y="4288280"/>
                        <a:ext cx="5481532" cy="695419"/>
                      </a:xfrm>
                      <a:prstGeom prst="rect">
                        <a:avLst/>
                      </a:prstGeom>
                    </p:spPr>
                  </p:pic>
                </p:oleObj>
              </mc:Fallback>
            </mc:AlternateContent>
          </a:graphicData>
        </a:graphic>
      </p:graphicFrame>
      <p:sp>
        <p:nvSpPr>
          <p:cNvPr id="7" name="Content Placeholder 6"/>
          <p:cNvSpPr>
            <a:spLocks noGrp="1"/>
          </p:cNvSpPr>
          <p:nvPr>
            <p:ph idx="16"/>
          </p:nvPr>
        </p:nvSpPr>
        <p:spPr>
          <a:xfrm>
            <a:off x="457200" y="5076825"/>
            <a:ext cx="8229600" cy="356236"/>
          </a:xfrm>
        </p:spPr>
        <p:txBody>
          <a:bodyPr tIns="0"/>
          <a:lstStyle/>
          <a:p>
            <a:pPr lvl="1" indent="-284400"/>
            <a:r>
              <a:rPr lang="en-US" altLang="en-US" sz="2000" dirty="0">
                <a:latin typeface="+mn-lt"/>
                <a:ea typeface="ヒラギノ角ゴ Pro W3" pitchFamily="-84" charset="-128"/>
              </a:rPr>
              <a:t>Workers would be willing to make only cheese (the relative price</a:t>
            </a:r>
            <a:endParaRPr lang="en-IN" sz="2000" dirty="0">
              <a:latin typeface="+mn-lt"/>
            </a:endParaRPr>
          </a:p>
        </p:txBody>
      </p:sp>
      <p:sp>
        <p:nvSpPr>
          <p:cNvPr id="8" name="Content Placeholder 7"/>
          <p:cNvSpPr>
            <a:spLocks noGrp="1"/>
          </p:cNvSpPr>
          <p:nvPr>
            <p:ph sz="quarter" idx="17"/>
          </p:nvPr>
        </p:nvSpPr>
        <p:spPr>
          <a:xfrm>
            <a:off x="457200" y="5507842"/>
            <a:ext cx="2056757" cy="359557"/>
          </a:xfrm>
        </p:spPr>
        <p:txBody>
          <a:bodyPr tIns="0" bIns="0"/>
          <a:lstStyle/>
          <a:p>
            <a:pPr marL="741600" lvl="1" indent="0">
              <a:buNone/>
            </a:pPr>
            <a:r>
              <a:rPr lang="en-US" altLang="en-US" sz="2000" dirty="0">
                <a:latin typeface="+mn-lt"/>
                <a:ea typeface="ヒラギノ角ゴ Pro W3" pitchFamily="-84" charset="-128"/>
              </a:rPr>
              <a:t>of cheese</a:t>
            </a:r>
            <a:endParaRPr lang="en-IN" sz="2000" dirty="0">
              <a:latin typeface="+mn-lt"/>
            </a:endParaRPr>
          </a:p>
        </p:txBody>
      </p:sp>
      <p:graphicFrame>
        <p:nvGraphicFramePr>
          <p:cNvPr id="15" name="Object 14" descr="4 sevenths"/>
          <p:cNvGraphicFramePr>
            <a:graphicFrameLocks noChangeAspect="1"/>
          </p:cNvGraphicFramePr>
          <p:nvPr>
            <p:extLst>
              <p:ext uri="{D42A27DB-BD31-4B8C-83A1-F6EECF244321}">
                <p14:modId xmlns:p14="http://schemas.microsoft.com/office/powerpoint/2010/main" val="793775450"/>
              </p:ext>
            </p:extLst>
          </p:nvPr>
        </p:nvGraphicFramePr>
        <p:xfrm>
          <a:off x="2608217" y="5533035"/>
          <a:ext cx="483727" cy="270886"/>
        </p:xfrm>
        <a:graphic>
          <a:graphicData uri="http://schemas.openxmlformats.org/presentationml/2006/ole">
            <mc:AlternateContent xmlns:mc="http://schemas.openxmlformats.org/markup-compatibility/2006">
              <mc:Choice xmlns:v="urn:schemas-microsoft-com:vml" Requires="v">
                <p:oleObj spid="_x0000_s15414" name="Equation" r:id="rId11" imgW="317160" imgH="177480" progId="Equation.DSMT4">
                  <p:embed/>
                </p:oleObj>
              </mc:Choice>
              <mc:Fallback>
                <p:oleObj name="Equation" r:id="rId11" imgW="317160" imgH="177480" progId="Equation.DSMT4">
                  <p:embed/>
                  <p:pic>
                    <p:nvPicPr>
                      <p:cNvPr id="15" name="Object 14"/>
                      <p:cNvPicPr/>
                      <p:nvPr/>
                    </p:nvPicPr>
                    <p:blipFill>
                      <a:blip r:embed="rId12"/>
                      <a:stretch>
                        <a:fillRect/>
                      </a:stretch>
                    </p:blipFill>
                    <p:spPr>
                      <a:xfrm>
                        <a:off x="2608217" y="5533035"/>
                        <a:ext cx="483727" cy="270886"/>
                      </a:xfrm>
                      <a:prstGeom prst="rect">
                        <a:avLst/>
                      </a:prstGeom>
                    </p:spPr>
                  </p:pic>
                </p:oleObj>
              </mc:Fallback>
            </mc:AlternateContent>
          </a:graphicData>
        </a:graphic>
      </p:graphicFrame>
      <p:sp>
        <p:nvSpPr>
          <p:cNvPr id="9" name="Content Placeholder 8"/>
          <p:cNvSpPr>
            <a:spLocks noGrp="1"/>
          </p:cNvSpPr>
          <p:nvPr>
            <p:ph sz="quarter" idx="18"/>
          </p:nvPr>
        </p:nvSpPr>
        <p:spPr>
          <a:xfrm>
            <a:off x="3184847" y="5498512"/>
            <a:ext cx="4582273" cy="334731"/>
          </a:xfrm>
        </p:spPr>
        <p:txBody>
          <a:bodyPr tIns="0" bIns="0"/>
          <a:lstStyle/>
          <a:p>
            <a:pPr marL="0" lvl="1" indent="0">
              <a:buNone/>
            </a:pPr>
            <a:r>
              <a:rPr lang="en-US" altLang="en-US" sz="2000" dirty="0">
                <a:latin typeface="+mn-lt"/>
                <a:ea typeface="ヒラギノ角ゴ Pro W3" pitchFamily="-84" charset="-128"/>
              </a:rPr>
              <a:t>exceeds the opportunity cost of cheese</a:t>
            </a:r>
            <a:endParaRPr lang="en-IN" sz="2000" dirty="0">
              <a:latin typeface="+mn-lt"/>
            </a:endParaRPr>
          </a:p>
        </p:txBody>
      </p:sp>
      <p:graphicFrame>
        <p:nvGraphicFramePr>
          <p:cNvPr id="16" name="Object 15" descr="1 half right parenthesis."/>
          <p:cNvGraphicFramePr>
            <a:graphicFrameLocks noChangeAspect="1"/>
          </p:cNvGraphicFramePr>
          <p:nvPr>
            <p:extLst>
              <p:ext uri="{D42A27DB-BD31-4B8C-83A1-F6EECF244321}">
                <p14:modId xmlns:p14="http://schemas.microsoft.com/office/powerpoint/2010/main" val="1640895190"/>
              </p:ext>
            </p:extLst>
          </p:nvPr>
        </p:nvGraphicFramePr>
        <p:xfrm>
          <a:off x="7860023" y="5507843"/>
          <a:ext cx="409069" cy="327256"/>
        </p:xfrm>
        <a:graphic>
          <a:graphicData uri="http://schemas.openxmlformats.org/presentationml/2006/ole">
            <mc:AlternateContent xmlns:mc="http://schemas.openxmlformats.org/markup-compatibility/2006">
              <mc:Choice xmlns:v="urn:schemas-microsoft-com:vml" Requires="v">
                <p:oleObj spid="_x0000_s15415" name="Equation" r:id="rId13" imgW="253800" imgH="203040" progId="Equation.DSMT4">
                  <p:embed/>
                </p:oleObj>
              </mc:Choice>
              <mc:Fallback>
                <p:oleObj name="Equation" r:id="rId13" imgW="253800" imgH="203040" progId="Equation.DSMT4">
                  <p:embed/>
                  <p:pic>
                    <p:nvPicPr>
                      <p:cNvPr id="16" name="Object 15"/>
                      <p:cNvPicPr/>
                      <p:nvPr/>
                    </p:nvPicPr>
                    <p:blipFill>
                      <a:blip r:embed="rId14"/>
                      <a:stretch>
                        <a:fillRect/>
                      </a:stretch>
                    </p:blipFill>
                    <p:spPr>
                      <a:xfrm>
                        <a:off x="7860023" y="5507843"/>
                        <a:ext cx="409069" cy="327256"/>
                      </a:xfrm>
                      <a:prstGeom prst="rect">
                        <a:avLst/>
                      </a:prstGeom>
                    </p:spPr>
                  </p:pic>
                </p:oleObj>
              </mc:Fallback>
            </mc:AlternateContent>
          </a:graphicData>
        </a:graphic>
      </p:graphicFrame>
    </p:spTree>
    <p:extLst>
      <p:ext uri="{BB962C8B-B14F-4D97-AF65-F5344CB8AC3E}">
        <p14:creationId xmlns:p14="http://schemas.microsoft.com/office/powerpoint/2010/main" val="325269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(6 of 7)</a:t>
            </a:r>
            <a:endParaRPr lang="en-IN" sz="2000" dirty="0"/>
          </a:p>
        </p:txBody>
      </p:sp>
      <p:sp>
        <p:nvSpPr>
          <p:cNvPr id="3" name="Content Placeholder 2"/>
          <p:cNvSpPr>
            <a:spLocks noGrp="1"/>
          </p:cNvSpPr>
          <p:nvPr>
            <p:ph idx="1"/>
          </p:nvPr>
        </p:nvSpPr>
        <p:spPr>
          <a:xfrm>
            <a:off x="457200" y="1600201"/>
            <a:ext cx="3850849" cy="430160"/>
          </a:xfrm>
        </p:spPr>
        <p:txBody>
          <a:bodyPr/>
          <a:lstStyle/>
          <a:p>
            <a:pPr indent="-255600"/>
            <a:r>
              <a:rPr lang="en-US" altLang="en-US" sz="2000" dirty="0">
                <a:latin typeface="+mn-lt"/>
                <a:ea typeface="ヒラギノ角ゴ Pro W3" pitchFamily="-84" charset="-128"/>
              </a:rPr>
              <a:t>If the price of cheese drops to</a:t>
            </a:r>
            <a:endParaRPr lang="en-IN" sz="2000" dirty="0">
              <a:latin typeface="+mn-lt"/>
            </a:endParaRPr>
          </a:p>
        </p:txBody>
      </p:sp>
      <p:graphicFrame>
        <p:nvGraphicFramePr>
          <p:cNvPr id="11" name="Object 10" descr="P sub C = $3 per pound."/>
          <p:cNvGraphicFramePr>
            <a:graphicFrameLocks noChangeAspect="1"/>
          </p:cNvGraphicFramePr>
          <p:nvPr>
            <p:extLst>
              <p:ext uri="{D42A27DB-BD31-4B8C-83A1-F6EECF244321}">
                <p14:modId xmlns:p14="http://schemas.microsoft.com/office/powerpoint/2010/main" val="3121132376"/>
              </p:ext>
            </p:extLst>
          </p:nvPr>
        </p:nvGraphicFramePr>
        <p:xfrm>
          <a:off x="4387133" y="1679896"/>
          <a:ext cx="1861267" cy="368163"/>
        </p:xfrm>
        <a:graphic>
          <a:graphicData uri="http://schemas.openxmlformats.org/presentationml/2006/ole">
            <mc:AlternateContent xmlns:mc="http://schemas.openxmlformats.org/markup-compatibility/2006">
              <mc:Choice xmlns:v="urn:schemas-microsoft-com:vml" Requires="v">
                <p:oleObj spid="_x0000_s16434" name="Equation" r:id="rId3" imgW="1155600" imgH="228600" progId="Equation.DSMT4">
                  <p:embed/>
                </p:oleObj>
              </mc:Choice>
              <mc:Fallback>
                <p:oleObj name="Equation" r:id="rId3" imgW="1155600" imgH="228600" progId="Equation.DSMT4">
                  <p:embed/>
                  <p:pic>
                    <p:nvPicPr>
                      <p:cNvPr id="11" name="Object 10"/>
                      <p:cNvPicPr/>
                      <p:nvPr/>
                    </p:nvPicPr>
                    <p:blipFill>
                      <a:blip r:embed="rId4"/>
                      <a:stretch>
                        <a:fillRect/>
                      </a:stretch>
                    </p:blipFill>
                    <p:spPr>
                      <a:xfrm>
                        <a:off x="4387133" y="1679896"/>
                        <a:ext cx="1861267" cy="368163"/>
                      </a:xfrm>
                      <a:prstGeom prst="rect">
                        <a:avLst/>
                      </a:prstGeom>
                    </p:spPr>
                  </p:pic>
                </p:oleObj>
              </mc:Fallback>
            </mc:AlternateContent>
          </a:graphicData>
        </a:graphic>
      </p:graphicFrame>
      <p:sp>
        <p:nvSpPr>
          <p:cNvPr id="4" name="Content Placeholder 3"/>
          <p:cNvSpPr>
            <a:spLocks noGrp="1"/>
          </p:cNvSpPr>
          <p:nvPr>
            <p:ph idx="13"/>
          </p:nvPr>
        </p:nvSpPr>
        <p:spPr>
          <a:xfrm>
            <a:off x="457200" y="2108583"/>
            <a:ext cx="5217736" cy="428651"/>
          </a:xfrm>
        </p:spPr>
        <p:txBody>
          <a:bodyPr/>
          <a:lstStyle/>
          <a:p>
            <a:pPr lvl="1" indent="-284400"/>
            <a:r>
              <a:rPr lang="en-US" altLang="en-US" sz="2000" dirty="0">
                <a:latin typeface="+mn-lt"/>
                <a:ea typeface="ヒラギノ角ゴ Pro W3" pitchFamily="-84" charset="-128"/>
              </a:rPr>
              <a:t>Wage paid producing cheese drops to</a:t>
            </a:r>
            <a:endParaRPr lang="en-US" sz="2000" dirty="0">
              <a:latin typeface="+mn-lt"/>
            </a:endParaRPr>
          </a:p>
        </p:txBody>
      </p:sp>
      <p:graphicFrame>
        <p:nvGraphicFramePr>
          <p:cNvPr id="12" name="Object 11" descr="Start fraction P sub C over a sub start expression L C end expression end fraction = left parenthesis $3 per pound right parenthesis left parenthesis 1 pound per hour right parenthesis = $3 per hour."/>
          <p:cNvGraphicFramePr>
            <a:graphicFrameLocks noChangeAspect="1"/>
          </p:cNvGraphicFramePr>
          <p:nvPr>
            <p:extLst>
              <p:ext uri="{D42A27DB-BD31-4B8C-83A1-F6EECF244321}">
                <p14:modId xmlns:p14="http://schemas.microsoft.com/office/powerpoint/2010/main" val="3048285843"/>
              </p:ext>
            </p:extLst>
          </p:nvPr>
        </p:nvGraphicFramePr>
        <p:xfrm>
          <a:off x="2407210" y="2640161"/>
          <a:ext cx="4888380" cy="695419"/>
        </p:xfrm>
        <a:graphic>
          <a:graphicData uri="http://schemas.openxmlformats.org/presentationml/2006/ole">
            <mc:AlternateContent xmlns:mc="http://schemas.openxmlformats.org/markup-compatibility/2006">
              <mc:Choice xmlns:v="urn:schemas-microsoft-com:vml" Requires="v">
                <p:oleObj spid="_x0000_s16435" name="Equation" r:id="rId5" imgW="3035160" imgH="431640" progId="Equation.DSMT4">
                  <p:embed/>
                </p:oleObj>
              </mc:Choice>
              <mc:Fallback>
                <p:oleObj name="Equation" r:id="rId5" imgW="3035160" imgH="431640" progId="Equation.DSMT4">
                  <p:embed/>
                  <p:pic>
                    <p:nvPicPr>
                      <p:cNvPr id="12" name="Object 11"/>
                      <p:cNvPicPr/>
                      <p:nvPr/>
                    </p:nvPicPr>
                    <p:blipFill>
                      <a:blip r:embed="rId6"/>
                      <a:stretch>
                        <a:fillRect/>
                      </a:stretch>
                    </p:blipFill>
                    <p:spPr>
                      <a:xfrm>
                        <a:off x="2407210" y="2640161"/>
                        <a:ext cx="4888380" cy="695419"/>
                      </a:xfrm>
                      <a:prstGeom prst="rect">
                        <a:avLst/>
                      </a:prstGeom>
                    </p:spPr>
                  </p:pic>
                </p:oleObj>
              </mc:Fallback>
            </mc:AlternateContent>
          </a:graphicData>
        </a:graphic>
      </p:graphicFrame>
      <p:sp>
        <p:nvSpPr>
          <p:cNvPr id="5" name="Content Placeholder 4"/>
          <p:cNvSpPr>
            <a:spLocks noGrp="1"/>
          </p:cNvSpPr>
          <p:nvPr>
            <p:ph idx="14"/>
          </p:nvPr>
        </p:nvSpPr>
        <p:spPr>
          <a:xfrm>
            <a:off x="457200" y="3418853"/>
            <a:ext cx="4675358" cy="461011"/>
          </a:xfrm>
        </p:spPr>
        <p:txBody>
          <a:bodyPr/>
          <a:lstStyle/>
          <a:p>
            <a:pPr lvl="1" indent="-284400"/>
            <a:r>
              <a:rPr lang="en-US" altLang="en-US" sz="2000" dirty="0">
                <a:latin typeface="+mn-lt"/>
                <a:ea typeface="ヒラギノ角ゴ Pro W3" pitchFamily="-84" charset="-128"/>
              </a:rPr>
              <a:t>Wage paid producing wine is still</a:t>
            </a:r>
            <a:endParaRPr lang="en-IN" sz="2000" dirty="0">
              <a:latin typeface="+mn-lt"/>
            </a:endParaRPr>
          </a:p>
        </p:txBody>
      </p:sp>
      <p:graphicFrame>
        <p:nvGraphicFramePr>
          <p:cNvPr id="13" name="Object 12" descr="$3.50 per hour"/>
          <p:cNvGraphicFramePr>
            <a:graphicFrameLocks noChangeAspect="1"/>
          </p:cNvGraphicFramePr>
          <p:nvPr>
            <p:extLst>
              <p:ext uri="{D42A27DB-BD31-4B8C-83A1-F6EECF244321}">
                <p14:modId xmlns:p14="http://schemas.microsoft.com/office/powerpoint/2010/main" val="1821614267"/>
              </p:ext>
            </p:extLst>
          </p:nvPr>
        </p:nvGraphicFramePr>
        <p:xfrm>
          <a:off x="5243606" y="3504654"/>
          <a:ext cx="1470220" cy="334142"/>
        </p:xfrm>
        <a:graphic>
          <a:graphicData uri="http://schemas.openxmlformats.org/presentationml/2006/ole">
            <mc:AlternateContent xmlns:mc="http://schemas.openxmlformats.org/markup-compatibility/2006">
              <mc:Choice xmlns:v="urn:schemas-microsoft-com:vml" Requires="v">
                <p:oleObj spid="_x0000_s16436" name="Equation" r:id="rId7" imgW="838080" imgH="190440" progId="Equation.DSMT4">
                  <p:embed/>
                </p:oleObj>
              </mc:Choice>
              <mc:Fallback>
                <p:oleObj name="Equation" r:id="rId7" imgW="838080" imgH="190440" progId="Equation.DSMT4">
                  <p:embed/>
                  <p:pic>
                    <p:nvPicPr>
                      <p:cNvPr id="13" name="Object 12"/>
                      <p:cNvPicPr/>
                      <p:nvPr/>
                    </p:nvPicPr>
                    <p:blipFill>
                      <a:blip r:embed="rId8"/>
                      <a:stretch>
                        <a:fillRect/>
                      </a:stretch>
                    </p:blipFill>
                    <p:spPr>
                      <a:xfrm>
                        <a:off x="5243606" y="3504654"/>
                        <a:ext cx="1470220" cy="334142"/>
                      </a:xfrm>
                      <a:prstGeom prst="rect">
                        <a:avLst/>
                      </a:prstGeom>
                    </p:spPr>
                  </p:pic>
                </p:oleObj>
              </mc:Fallback>
            </mc:AlternateContent>
          </a:graphicData>
        </a:graphic>
      </p:graphicFrame>
      <p:sp>
        <p:nvSpPr>
          <p:cNvPr id="6" name="Content Placeholder 5"/>
          <p:cNvSpPr>
            <a:spLocks noGrp="1"/>
          </p:cNvSpPr>
          <p:nvPr>
            <p:ph idx="15"/>
          </p:nvPr>
        </p:nvSpPr>
        <p:spPr>
          <a:xfrm>
            <a:off x="6824875" y="3486892"/>
            <a:ext cx="1233577" cy="348508"/>
          </a:xfrm>
        </p:spPr>
        <p:txBody>
          <a:bodyPr tIns="0" bIns="0"/>
          <a:lstStyle/>
          <a:p>
            <a:pPr marL="0" lvl="1" indent="0">
              <a:buNone/>
            </a:pPr>
            <a:r>
              <a:rPr lang="en-US" altLang="en-US" sz="2000" dirty="0">
                <a:latin typeface="+mn-lt"/>
                <a:ea typeface="ヒラギノ角ゴ Pro W3" pitchFamily="-84" charset="-128"/>
              </a:rPr>
              <a:t>if price of</a:t>
            </a:r>
            <a:endParaRPr lang="en-IN" sz="2000" dirty="0">
              <a:latin typeface="+mn-lt"/>
            </a:endParaRPr>
          </a:p>
        </p:txBody>
      </p:sp>
      <p:sp>
        <p:nvSpPr>
          <p:cNvPr id="7" name="Content Placeholder 6"/>
          <p:cNvSpPr>
            <a:spLocks noGrp="1"/>
          </p:cNvSpPr>
          <p:nvPr>
            <p:ph idx="16"/>
          </p:nvPr>
        </p:nvSpPr>
        <p:spPr>
          <a:xfrm>
            <a:off x="457200" y="4028187"/>
            <a:ext cx="2238865" cy="322054"/>
          </a:xfrm>
        </p:spPr>
        <p:txBody>
          <a:bodyPr tIns="0" bIns="0"/>
          <a:lstStyle/>
          <a:p>
            <a:pPr marL="741600" lvl="1" indent="0">
              <a:buNone/>
            </a:pPr>
            <a:r>
              <a:rPr lang="en-US" altLang="en-US" sz="2000" dirty="0">
                <a:latin typeface="+mn-lt"/>
                <a:ea typeface="ヒラギノ角ゴ Pro W3" pitchFamily="-84" charset="-128"/>
              </a:rPr>
              <a:t>wine is still</a:t>
            </a:r>
            <a:endParaRPr lang="en-IN" sz="2000" dirty="0">
              <a:latin typeface="+mn-lt"/>
            </a:endParaRPr>
          </a:p>
        </p:txBody>
      </p:sp>
      <p:graphicFrame>
        <p:nvGraphicFramePr>
          <p:cNvPr id="14" name="Object 13" descr="$7 per gallon."/>
          <p:cNvGraphicFramePr>
            <a:graphicFrameLocks noChangeAspect="1"/>
          </p:cNvGraphicFramePr>
          <p:nvPr>
            <p:extLst>
              <p:ext uri="{D42A27DB-BD31-4B8C-83A1-F6EECF244321}">
                <p14:modId xmlns:p14="http://schemas.microsoft.com/office/powerpoint/2010/main" val="2176066011"/>
              </p:ext>
            </p:extLst>
          </p:nvPr>
        </p:nvGraphicFramePr>
        <p:xfrm>
          <a:off x="2826957" y="4025010"/>
          <a:ext cx="1227208" cy="327256"/>
        </p:xfrm>
        <a:graphic>
          <a:graphicData uri="http://schemas.openxmlformats.org/presentationml/2006/ole">
            <mc:AlternateContent xmlns:mc="http://schemas.openxmlformats.org/markup-compatibility/2006">
              <mc:Choice xmlns:v="urn:schemas-microsoft-com:vml" Requires="v">
                <p:oleObj spid="_x0000_s16437" name="Equation" r:id="rId9" imgW="761760" imgH="203040" progId="Equation.DSMT4">
                  <p:embed/>
                </p:oleObj>
              </mc:Choice>
              <mc:Fallback>
                <p:oleObj name="Equation" r:id="rId9" imgW="761760" imgH="203040" progId="Equation.DSMT4">
                  <p:embed/>
                  <p:pic>
                    <p:nvPicPr>
                      <p:cNvPr id="14" name="Object 13"/>
                      <p:cNvPicPr/>
                      <p:nvPr/>
                    </p:nvPicPr>
                    <p:blipFill>
                      <a:blip r:embed="rId10"/>
                      <a:stretch>
                        <a:fillRect/>
                      </a:stretch>
                    </p:blipFill>
                    <p:spPr>
                      <a:xfrm>
                        <a:off x="2826957" y="4025010"/>
                        <a:ext cx="1227208" cy="327256"/>
                      </a:xfrm>
                      <a:prstGeom prst="rect">
                        <a:avLst/>
                      </a:prstGeom>
                    </p:spPr>
                  </p:pic>
                </p:oleObj>
              </mc:Fallback>
            </mc:AlternateContent>
          </a:graphicData>
        </a:graphic>
      </p:graphicFrame>
      <p:sp>
        <p:nvSpPr>
          <p:cNvPr id="8" name="Content Placeholder 7"/>
          <p:cNvSpPr>
            <a:spLocks noGrp="1"/>
          </p:cNvSpPr>
          <p:nvPr>
            <p:ph sz="quarter" idx="17"/>
          </p:nvPr>
        </p:nvSpPr>
        <p:spPr>
          <a:xfrm>
            <a:off x="457200" y="4504666"/>
            <a:ext cx="7781827" cy="443372"/>
          </a:xfrm>
        </p:spPr>
        <p:txBody>
          <a:bodyPr/>
          <a:lstStyle/>
          <a:p>
            <a:pPr lvl="1" indent="-284400"/>
            <a:r>
              <a:rPr lang="en-US" altLang="en-US" sz="2000" dirty="0">
                <a:latin typeface="+mn-lt"/>
                <a:ea typeface="ヒラギノ角ゴ Pro W3" pitchFamily="-84" charset="-128"/>
              </a:rPr>
              <a:t>Now workers would be willing to make only wine (the relative</a:t>
            </a:r>
            <a:endParaRPr lang="en-US" sz="2000" dirty="0">
              <a:latin typeface="+mn-lt"/>
            </a:endParaRPr>
          </a:p>
        </p:txBody>
      </p:sp>
      <p:sp>
        <p:nvSpPr>
          <p:cNvPr id="9" name="Content Placeholder 8"/>
          <p:cNvSpPr>
            <a:spLocks noGrp="1"/>
          </p:cNvSpPr>
          <p:nvPr>
            <p:ph sz="quarter" idx="18"/>
          </p:nvPr>
        </p:nvSpPr>
        <p:spPr>
          <a:xfrm>
            <a:off x="457201" y="5175069"/>
            <a:ext cx="2735972" cy="347029"/>
          </a:xfrm>
        </p:spPr>
        <p:txBody>
          <a:bodyPr tIns="0" bIns="0"/>
          <a:lstStyle/>
          <a:p>
            <a:pPr marL="741600" lvl="1" indent="0">
              <a:buNone/>
            </a:pPr>
            <a:r>
              <a:rPr lang="en-US" altLang="en-US" sz="2000" dirty="0">
                <a:latin typeface="+mn-lt"/>
                <a:ea typeface="ヒラギノ角ゴ Pro W3" pitchFamily="-84" charset="-128"/>
              </a:rPr>
              <a:t>price</a:t>
            </a:r>
            <a:r>
              <a:rPr lang="en-US" altLang="en-US" sz="2000" dirty="0">
                <a:latin typeface="+mn-lt"/>
              </a:rPr>
              <a:t> </a:t>
            </a:r>
            <a:r>
              <a:rPr lang="en-US" altLang="en-US" sz="2000" dirty="0">
                <a:latin typeface="+mn-lt"/>
                <a:ea typeface="ヒラギノ角ゴ Pro W3" pitchFamily="-84" charset="-128"/>
              </a:rPr>
              <a:t>of cheese</a:t>
            </a:r>
            <a:endParaRPr lang="en-US" sz="2000" dirty="0">
              <a:latin typeface="+mn-lt"/>
            </a:endParaRPr>
          </a:p>
        </p:txBody>
      </p:sp>
      <p:graphicFrame>
        <p:nvGraphicFramePr>
          <p:cNvPr id="10" name="Object 9" descr="3 sevenths "/>
          <p:cNvGraphicFramePr>
            <a:graphicFrameLocks noChangeAspect="1"/>
          </p:cNvGraphicFramePr>
          <p:nvPr>
            <p:extLst>
              <p:ext uri="{D42A27DB-BD31-4B8C-83A1-F6EECF244321}">
                <p14:modId xmlns:p14="http://schemas.microsoft.com/office/powerpoint/2010/main" val="348621079"/>
              </p:ext>
            </p:extLst>
          </p:nvPr>
        </p:nvGraphicFramePr>
        <p:xfrm>
          <a:off x="3341762" y="5046726"/>
          <a:ext cx="227613" cy="588003"/>
        </p:xfrm>
        <a:graphic>
          <a:graphicData uri="http://schemas.openxmlformats.org/presentationml/2006/ole">
            <mc:AlternateContent xmlns:mc="http://schemas.openxmlformats.org/markup-compatibility/2006">
              <mc:Choice xmlns:v="urn:schemas-microsoft-com:vml" Requires="v">
                <p:oleObj spid="_x0000_s16438" name="Equation" r:id="rId11" imgW="152280" imgH="393480" progId="Equation.DSMT4">
                  <p:embed/>
                </p:oleObj>
              </mc:Choice>
              <mc:Fallback>
                <p:oleObj name="Equation" r:id="rId11" imgW="152280" imgH="393480" progId="Equation.DSMT4">
                  <p:embed/>
                  <p:pic>
                    <p:nvPicPr>
                      <p:cNvPr id="10" name="Object 9"/>
                      <p:cNvPicPr/>
                      <p:nvPr/>
                    </p:nvPicPr>
                    <p:blipFill>
                      <a:blip r:embed="rId12"/>
                      <a:stretch>
                        <a:fillRect/>
                      </a:stretch>
                    </p:blipFill>
                    <p:spPr>
                      <a:xfrm>
                        <a:off x="3341762" y="5046726"/>
                        <a:ext cx="227613" cy="588003"/>
                      </a:xfrm>
                      <a:prstGeom prst="rect">
                        <a:avLst/>
                      </a:prstGeom>
                    </p:spPr>
                  </p:pic>
                </p:oleObj>
              </mc:Fallback>
            </mc:AlternateContent>
          </a:graphicData>
        </a:graphic>
      </p:graphicFrame>
      <p:sp>
        <p:nvSpPr>
          <p:cNvPr id="18" name="Content Placeholder 17"/>
          <p:cNvSpPr>
            <a:spLocks noGrp="1"/>
          </p:cNvSpPr>
          <p:nvPr>
            <p:ph sz="quarter" idx="19"/>
          </p:nvPr>
        </p:nvSpPr>
        <p:spPr>
          <a:xfrm>
            <a:off x="3733014" y="5209824"/>
            <a:ext cx="4609708" cy="378175"/>
          </a:xfrm>
        </p:spPr>
        <p:txBody>
          <a:bodyPr tIns="0" bIns="0"/>
          <a:lstStyle/>
          <a:p>
            <a:pPr marL="0" lvl="1" indent="0">
              <a:buNone/>
            </a:pPr>
            <a:r>
              <a:rPr lang="en-US" altLang="en-US" sz="2000" dirty="0">
                <a:latin typeface="+mn-lt"/>
                <a:ea typeface="ヒラギノ角ゴ Pro W3" pitchFamily="-84" charset="-128"/>
              </a:rPr>
              <a:t>is now less than the opportunity cost of</a:t>
            </a:r>
            <a:endParaRPr lang="en-IN" sz="2000" dirty="0">
              <a:latin typeface="+mn-lt"/>
            </a:endParaRPr>
          </a:p>
        </p:txBody>
      </p:sp>
      <p:sp>
        <p:nvSpPr>
          <p:cNvPr id="16" name="Content Placeholder 15"/>
          <p:cNvSpPr>
            <a:spLocks noGrp="1"/>
          </p:cNvSpPr>
          <p:nvPr>
            <p:ph sz="quarter" idx="20"/>
          </p:nvPr>
        </p:nvSpPr>
        <p:spPr>
          <a:xfrm>
            <a:off x="447775" y="5596502"/>
            <a:ext cx="1767524" cy="464347"/>
          </a:xfrm>
        </p:spPr>
        <p:txBody>
          <a:bodyPr/>
          <a:lstStyle/>
          <a:p>
            <a:pPr marL="741600" lvl="1" indent="0">
              <a:buNone/>
            </a:pPr>
            <a:r>
              <a:rPr lang="en-US" altLang="en-US" sz="2000" dirty="0">
                <a:latin typeface="+mn-lt"/>
                <a:ea typeface="ヒラギノ角ゴ Pro W3" pitchFamily="-84" charset="-128"/>
              </a:rPr>
              <a:t>cheese</a:t>
            </a:r>
            <a:endParaRPr lang="en-US" sz="2000" dirty="0">
              <a:latin typeface="+mn-lt"/>
            </a:endParaRPr>
          </a:p>
        </p:txBody>
      </p:sp>
      <p:graphicFrame>
        <p:nvGraphicFramePr>
          <p:cNvPr id="15" name="Object 14" descr="1 half right parenthesis."/>
          <p:cNvGraphicFramePr>
            <a:graphicFrameLocks noChangeAspect="1"/>
          </p:cNvGraphicFramePr>
          <p:nvPr>
            <p:extLst>
              <p:ext uri="{D42A27DB-BD31-4B8C-83A1-F6EECF244321}">
                <p14:modId xmlns:p14="http://schemas.microsoft.com/office/powerpoint/2010/main" val="336848926"/>
              </p:ext>
            </p:extLst>
          </p:nvPr>
        </p:nvGraphicFramePr>
        <p:xfrm>
          <a:off x="2303702" y="5687447"/>
          <a:ext cx="494974" cy="395980"/>
        </p:xfrm>
        <a:graphic>
          <a:graphicData uri="http://schemas.openxmlformats.org/presentationml/2006/ole">
            <mc:AlternateContent xmlns:mc="http://schemas.openxmlformats.org/markup-compatibility/2006">
              <mc:Choice xmlns:v="urn:schemas-microsoft-com:vml" Requires="v">
                <p:oleObj spid="_x0000_s16439" name="Equation" r:id="rId13" imgW="253800" imgH="203040" progId="Equation.DSMT4">
                  <p:embed/>
                </p:oleObj>
              </mc:Choice>
              <mc:Fallback>
                <p:oleObj name="Equation" r:id="rId13" imgW="253800" imgH="203040" progId="Equation.DSMT4">
                  <p:embed/>
                  <p:pic>
                    <p:nvPicPr>
                      <p:cNvPr id="15" name="Object 14"/>
                      <p:cNvPicPr/>
                      <p:nvPr/>
                    </p:nvPicPr>
                    <p:blipFill>
                      <a:blip r:embed="rId14"/>
                      <a:stretch>
                        <a:fillRect/>
                      </a:stretch>
                    </p:blipFill>
                    <p:spPr>
                      <a:xfrm>
                        <a:off x="2303702" y="5687447"/>
                        <a:ext cx="494974" cy="395980"/>
                      </a:xfrm>
                      <a:prstGeom prst="rect">
                        <a:avLst/>
                      </a:prstGeom>
                    </p:spPr>
                  </p:pic>
                </p:oleObj>
              </mc:Fallback>
            </mc:AlternateContent>
          </a:graphicData>
        </a:graphic>
      </p:graphicFrame>
    </p:spTree>
    <p:extLst>
      <p:ext uri="{BB962C8B-B14F-4D97-AF65-F5344CB8AC3E}">
        <p14:creationId xmlns:p14="http://schemas.microsoft.com/office/powerpoint/2010/main" val="2048102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F56B-5938-4EBF-8A60-E48DC3FE90B7}"/>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Relative Prices and Supply </a:t>
            </a:r>
            <a:r>
              <a:rPr lang="en-US" altLang="en-US" sz="2000" b="0" dirty="0">
                <a:ea typeface="ヒラギノ角ゴ Pro W3" pitchFamily="-84" charset="-128"/>
                <a:cs typeface="Times New Roman" panose="02020603050405020304" pitchFamily="18" charset="0"/>
              </a:rPr>
              <a:t>(7 of 7)</a:t>
            </a:r>
            <a:endParaRPr lang="en-US" sz="2000" dirty="0"/>
          </a:p>
        </p:txBody>
      </p:sp>
      <p:sp>
        <p:nvSpPr>
          <p:cNvPr id="3" name="Content Placeholder 2">
            <a:extLst>
              <a:ext uri="{FF2B5EF4-FFF2-40B4-BE49-F238E27FC236}">
                <a16:creationId xmlns:a16="http://schemas.microsoft.com/office/drawing/2014/main" id="{C42E05EB-AC7C-4B11-AAD7-473CA4D41EEB}"/>
              </a:ext>
            </a:extLst>
          </p:cNvPr>
          <p:cNvSpPr>
            <a:spLocks noGrp="1"/>
          </p:cNvSpPr>
          <p:nvPr>
            <p:ph sz="quarter" idx="13"/>
          </p:nvPr>
        </p:nvSpPr>
        <p:spPr>
          <a:xfrm>
            <a:off x="457200" y="1552575"/>
            <a:ext cx="8229600" cy="1089026"/>
          </a:xfrm>
        </p:spPr>
        <p:txBody>
          <a:bodyPr/>
          <a:lstStyle/>
          <a:p>
            <a:r>
              <a:rPr lang="en-US" altLang="en-US" sz="2000" dirty="0">
                <a:ea typeface="ヒラギノ角ゴ Pro W3" pitchFamily="-84" charset="-128"/>
              </a:rPr>
              <a:t>If the home country wants to consume both wine and cheese (in the absence of international trade), relative prices must adjust so that wages are equal in the wine and cheese industries.</a:t>
            </a:r>
            <a:endParaRPr lang="en-US" sz="2000" dirty="0"/>
          </a:p>
        </p:txBody>
      </p:sp>
      <p:sp>
        <p:nvSpPr>
          <p:cNvPr id="4" name="Content Placeholder 3">
            <a:extLst>
              <a:ext uri="{FF2B5EF4-FFF2-40B4-BE49-F238E27FC236}">
                <a16:creationId xmlns:a16="http://schemas.microsoft.com/office/drawing/2014/main" id="{D678822F-8464-43FA-B992-B4D14F59BF9F}"/>
              </a:ext>
            </a:extLst>
          </p:cNvPr>
          <p:cNvSpPr>
            <a:spLocks noGrp="1"/>
          </p:cNvSpPr>
          <p:nvPr>
            <p:ph sz="quarter" idx="14"/>
          </p:nvPr>
        </p:nvSpPr>
        <p:spPr>
          <a:xfrm>
            <a:off x="457200" y="2775572"/>
            <a:ext cx="1117600" cy="475628"/>
          </a:xfrm>
        </p:spPr>
        <p:txBody>
          <a:bodyPr/>
          <a:lstStyle/>
          <a:p>
            <a:pPr lvl="1"/>
            <a:r>
              <a:rPr lang="en-US" sz="2000" dirty="0"/>
              <a:t>If</a:t>
            </a:r>
          </a:p>
        </p:txBody>
      </p:sp>
      <p:graphicFrame>
        <p:nvGraphicFramePr>
          <p:cNvPr id="17" name="Object 16" descr="Start fraction P sub C over a sub start expression L C end expression end fraction = Start fraction P sub W over a sub start expression L W end expression end fraction,">
            <a:extLst>
              <a:ext uri="{FF2B5EF4-FFF2-40B4-BE49-F238E27FC236}">
                <a16:creationId xmlns:a16="http://schemas.microsoft.com/office/drawing/2014/main" id="{597478AC-52FF-4673-8CFA-F3C1E8484A42}"/>
              </a:ext>
            </a:extLst>
          </p:cNvPr>
          <p:cNvGraphicFramePr>
            <a:graphicFrameLocks noChangeAspect="1"/>
          </p:cNvGraphicFramePr>
          <p:nvPr>
            <p:extLst>
              <p:ext uri="{D42A27DB-BD31-4B8C-83A1-F6EECF244321}">
                <p14:modId xmlns:p14="http://schemas.microsoft.com/office/powerpoint/2010/main" val="2996476378"/>
              </p:ext>
            </p:extLst>
          </p:nvPr>
        </p:nvGraphicFramePr>
        <p:xfrm>
          <a:off x="1748155" y="2724772"/>
          <a:ext cx="1096645" cy="651352"/>
        </p:xfrm>
        <a:graphic>
          <a:graphicData uri="http://schemas.openxmlformats.org/presentationml/2006/ole">
            <mc:AlternateContent xmlns:mc="http://schemas.openxmlformats.org/markup-compatibility/2006">
              <mc:Choice xmlns:v="urn:schemas-microsoft-com:vml" Requires="v">
                <p:oleObj spid="_x0000_s17426" name="Equation" r:id="rId3" imgW="749160" imgH="444240" progId="Equation.DSMT4">
                  <p:embed/>
                </p:oleObj>
              </mc:Choice>
              <mc:Fallback>
                <p:oleObj name="Equation" r:id="rId3" imgW="749160" imgH="444240" progId="Equation.DSMT4">
                  <p:embed/>
                  <p:pic>
                    <p:nvPicPr>
                      <p:cNvPr id="11" name="Object 10"/>
                      <p:cNvPicPr/>
                      <p:nvPr/>
                    </p:nvPicPr>
                    <p:blipFill>
                      <a:blip r:embed="rId4"/>
                      <a:stretch>
                        <a:fillRect/>
                      </a:stretch>
                    </p:blipFill>
                    <p:spPr>
                      <a:xfrm>
                        <a:off x="1748155" y="2724772"/>
                        <a:ext cx="1096645" cy="65135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945A407-809C-4E5B-9358-D523F31150DC}"/>
              </a:ext>
            </a:extLst>
          </p:cNvPr>
          <p:cNvSpPr>
            <a:spLocks noGrp="1"/>
          </p:cNvSpPr>
          <p:nvPr>
            <p:ph sz="quarter" idx="15"/>
          </p:nvPr>
        </p:nvSpPr>
        <p:spPr>
          <a:xfrm>
            <a:off x="3048000" y="2819993"/>
            <a:ext cx="5435600" cy="470443"/>
          </a:xfrm>
        </p:spPr>
        <p:txBody>
          <a:bodyPr/>
          <a:lstStyle/>
          <a:p>
            <a:pPr marL="0" lvl="1" indent="0">
              <a:buNone/>
            </a:pPr>
            <a:r>
              <a:rPr lang="en-US" altLang="en-US" sz="2000" dirty="0">
                <a:ea typeface="ヒラギノ角ゴ Pro W3" pitchFamily="-84" charset="-128"/>
              </a:rPr>
              <a:t>workers will not care whether they work in the</a:t>
            </a:r>
            <a:endParaRPr lang="en-US" sz="2000" dirty="0"/>
          </a:p>
        </p:txBody>
      </p:sp>
      <p:sp>
        <p:nvSpPr>
          <p:cNvPr id="6" name="Content Placeholder 5">
            <a:extLst>
              <a:ext uri="{FF2B5EF4-FFF2-40B4-BE49-F238E27FC236}">
                <a16:creationId xmlns:a16="http://schemas.microsoft.com/office/drawing/2014/main" id="{9270A5A7-1549-43EC-BD6C-E2510F6813B0}"/>
              </a:ext>
            </a:extLst>
          </p:cNvPr>
          <p:cNvSpPr>
            <a:spLocks noGrp="1"/>
          </p:cNvSpPr>
          <p:nvPr>
            <p:ph sz="quarter" idx="16"/>
          </p:nvPr>
        </p:nvSpPr>
        <p:spPr>
          <a:xfrm>
            <a:off x="457200" y="3450443"/>
            <a:ext cx="8178800" cy="802017"/>
          </a:xfrm>
        </p:spPr>
        <p:txBody>
          <a:bodyPr/>
          <a:lstStyle/>
          <a:p>
            <a:pPr marL="741600" lvl="1" indent="0">
              <a:buNone/>
            </a:pPr>
            <a:r>
              <a:rPr lang="en-US" altLang="en-US" sz="2000" dirty="0">
                <a:ea typeface="ヒラギノ角ゴ Pro W3" pitchFamily="-84" charset="-128"/>
              </a:rPr>
              <a:t>cheese industry or the wine industry, so that production of both goods can occur.</a:t>
            </a:r>
            <a:endParaRPr lang="en-US" sz="2000" dirty="0"/>
          </a:p>
        </p:txBody>
      </p:sp>
      <p:sp>
        <p:nvSpPr>
          <p:cNvPr id="7" name="Content Placeholder 6">
            <a:extLst>
              <a:ext uri="{FF2B5EF4-FFF2-40B4-BE49-F238E27FC236}">
                <a16:creationId xmlns:a16="http://schemas.microsoft.com/office/drawing/2014/main" id="{28F4426D-540F-4B72-8725-28DEE1F763ED}"/>
              </a:ext>
            </a:extLst>
          </p:cNvPr>
          <p:cNvSpPr>
            <a:spLocks noGrp="1"/>
          </p:cNvSpPr>
          <p:nvPr>
            <p:ph sz="quarter" idx="17"/>
          </p:nvPr>
        </p:nvSpPr>
        <p:spPr>
          <a:xfrm>
            <a:off x="457200" y="4373244"/>
            <a:ext cx="8229600" cy="1072515"/>
          </a:xfrm>
        </p:spPr>
        <p:txBody>
          <a:bodyPr/>
          <a:lstStyle/>
          <a:p>
            <a:pPr lvl="1"/>
            <a:r>
              <a:rPr lang="en-US" altLang="en-US" sz="2000" dirty="0">
                <a:ea typeface="ヒラギノ角ゴ Pro W3" pitchFamily="-84" charset="-128"/>
              </a:rPr>
              <a:t>Production (and consumption) of both goods occurs when the relative price of a good equals the opportunity cost of producing that good:</a:t>
            </a:r>
            <a:endParaRPr lang="en-US" sz="2000" dirty="0"/>
          </a:p>
        </p:txBody>
      </p:sp>
      <p:graphicFrame>
        <p:nvGraphicFramePr>
          <p:cNvPr id="18" name="Object 17" descr="Start fraction P sub C over P sub W end fraction = start fraction a sub start expression L C end expression end fraction over a sub start expression L W end expression end fraction">
            <a:extLst>
              <a:ext uri="{FF2B5EF4-FFF2-40B4-BE49-F238E27FC236}">
                <a16:creationId xmlns:a16="http://schemas.microsoft.com/office/drawing/2014/main" id="{CD409FE9-0DC7-446E-96F9-E0841D7F512E}"/>
              </a:ext>
            </a:extLst>
          </p:cNvPr>
          <p:cNvGraphicFramePr>
            <a:graphicFrameLocks noChangeAspect="1"/>
          </p:cNvGraphicFramePr>
          <p:nvPr>
            <p:extLst>
              <p:ext uri="{D42A27DB-BD31-4B8C-83A1-F6EECF244321}">
                <p14:modId xmlns:p14="http://schemas.microsoft.com/office/powerpoint/2010/main" val="1114596828"/>
              </p:ext>
            </p:extLst>
          </p:nvPr>
        </p:nvGraphicFramePr>
        <p:xfrm>
          <a:off x="4019756" y="5578859"/>
          <a:ext cx="1104488" cy="715872"/>
        </p:xfrm>
        <a:graphic>
          <a:graphicData uri="http://schemas.openxmlformats.org/presentationml/2006/ole">
            <mc:AlternateContent xmlns:mc="http://schemas.openxmlformats.org/markup-compatibility/2006">
              <mc:Choice xmlns:v="urn:schemas-microsoft-com:vml" Requires="v">
                <p:oleObj spid="_x0000_s17427" name="Equation" r:id="rId5" imgW="685800" imgH="444240" progId="Equation.DSMT4">
                  <p:embed/>
                </p:oleObj>
              </mc:Choice>
              <mc:Fallback>
                <p:oleObj name="Equation" r:id="rId5" imgW="685800" imgH="444240" progId="Equation.DSMT4">
                  <p:embed/>
                  <p:pic>
                    <p:nvPicPr>
                      <p:cNvPr id="13" name="Object 12"/>
                      <p:cNvPicPr/>
                      <p:nvPr/>
                    </p:nvPicPr>
                    <p:blipFill>
                      <a:blip r:embed="rId6"/>
                      <a:stretch>
                        <a:fillRect/>
                      </a:stretch>
                    </p:blipFill>
                    <p:spPr>
                      <a:xfrm>
                        <a:off x="4019756" y="5578859"/>
                        <a:ext cx="1104488" cy="715872"/>
                      </a:xfrm>
                      <a:prstGeom prst="rect">
                        <a:avLst/>
                      </a:prstGeom>
                    </p:spPr>
                  </p:pic>
                </p:oleObj>
              </mc:Fallback>
            </mc:AlternateContent>
          </a:graphicData>
        </a:graphic>
      </p:graphicFrame>
    </p:spTree>
    <p:extLst>
      <p:ext uri="{BB962C8B-B14F-4D97-AF65-F5344CB8AC3E}">
        <p14:creationId xmlns:p14="http://schemas.microsoft.com/office/powerpoint/2010/main" val="2779756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(1 of 4)</a:t>
            </a:r>
            <a:endParaRPr lang="en-US" sz="2000" dirty="0">
              <a:latin typeface="+mj-lt"/>
            </a:endParaRPr>
          </a:p>
        </p:txBody>
      </p:sp>
      <p:sp>
        <p:nvSpPr>
          <p:cNvPr id="3" name="Content Placeholder 2"/>
          <p:cNvSpPr>
            <a:spLocks noGrp="1"/>
          </p:cNvSpPr>
          <p:nvPr>
            <p:ph idx="1"/>
          </p:nvPr>
        </p:nvSpPr>
        <p:spPr>
          <a:xfrm>
            <a:off x="457200" y="1600202"/>
            <a:ext cx="297180" cy="441958"/>
          </a:xfrm>
        </p:spPr>
        <p:txBody>
          <a:bodyPr/>
          <a:lstStyle/>
          <a:p>
            <a:pPr marL="0" indent="0">
              <a:spcBef>
                <a:spcPts val="0"/>
              </a:spcBef>
            </a:pPr>
            <a:r>
              <a:rPr lang="en-US" sz="2000" dirty="0">
                <a:latin typeface="+mn-lt"/>
              </a:rPr>
              <a:t> </a:t>
            </a:r>
            <a:r>
              <a:rPr lang="en-US" sz="100" dirty="0">
                <a:latin typeface="+mn-lt"/>
              </a:rPr>
              <a:t> </a:t>
            </a:r>
          </a:p>
        </p:txBody>
      </p:sp>
      <p:graphicFrame>
        <p:nvGraphicFramePr>
          <p:cNvPr id="11" name="Object 10" descr="Use asterisk symbol"/>
          <p:cNvGraphicFramePr>
            <a:graphicFrameLocks noChangeAspect="1"/>
          </p:cNvGraphicFramePr>
          <p:nvPr>
            <p:extLst>
              <p:ext uri="{D42A27DB-BD31-4B8C-83A1-F6EECF244321}">
                <p14:modId xmlns:p14="http://schemas.microsoft.com/office/powerpoint/2010/main" val="1254389462"/>
              </p:ext>
            </p:extLst>
          </p:nvPr>
        </p:nvGraphicFramePr>
        <p:xfrm>
          <a:off x="868487" y="1676321"/>
          <a:ext cx="967423" cy="316071"/>
        </p:xfrm>
        <a:graphic>
          <a:graphicData uri="http://schemas.openxmlformats.org/presentationml/2006/ole">
            <mc:AlternateContent xmlns:mc="http://schemas.openxmlformats.org/markup-compatibility/2006">
              <mc:Choice xmlns:v="urn:schemas-microsoft-com:vml" Requires="v">
                <p:oleObj spid="_x0000_s18450" name="Equation" r:id="rId3" imgW="545760" imgH="177480" progId="Equation.DSMT4">
                  <p:embed/>
                </p:oleObj>
              </mc:Choice>
              <mc:Fallback>
                <p:oleObj name="Equation" r:id="rId3" imgW="545760" imgH="177480" progId="Equation.DSMT4">
                  <p:embed/>
                  <p:pic>
                    <p:nvPicPr>
                      <p:cNvPr id="11" name="Object 10"/>
                      <p:cNvPicPr/>
                      <p:nvPr/>
                    </p:nvPicPr>
                    <p:blipFill>
                      <a:blip r:embed="rId4"/>
                      <a:stretch>
                        <a:fillRect/>
                      </a:stretch>
                    </p:blipFill>
                    <p:spPr>
                      <a:xfrm>
                        <a:off x="868487" y="1676321"/>
                        <a:ext cx="967423" cy="316071"/>
                      </a:xfrm>
                      <a:prstGeom prst="rect">
                        <a:avLst/>
                      </a:prstGeom>
                    </p:spPr>
                  </p:pic>
                </p:oleObj>
              </mc:Fallback>
            </mc:AlternateContent>
          </a:graphicData>
        </a:graphic>
      </p:graphicFrame>
      <p:sp>
        <p:nvSpPr>
          <p:cNvPr id="4" name="Content Placeholder 3"/>
          <p:cNvSpPr>
            <a:spLocks noGrp="1"/>
          </p:cNvSpPr>
          <p:nvPr>
            <p:ph idx="13"/>
          </p:nvPr>
        </p:nvSpPr>
        <p:spPr>
          <a:xfrm>
            <a:off x="1887517" y="1659148"/>
            <a:ext cx="4592320" cy="339304"/>
          </a:xfrm>
        </p:spPr>
        <p:txBody>
          <a:bodyPr tIns="0" bIns="0"/>
          <a:lstStyle/>
          <a:p>
            <a:pPr marL="0" lvl="1" indent="0">
              <a:spcBef>
                <a:spcPts val="1500"/>
              </a:spcBef>
              <a:buSzPct val="100000"/>
              <a:buNone/>
            </a:pPr>
            <a:r>
              <a:rPr lang="en-US" altLang="ja-JP" sz="2000" dirty="0">
                <a:latin typeface="+mn-lt"/>
                <a:ea typeface="ヒラギノ角ゴ Pro W3" pitchFamily="-84" charset="-128"/>
              </a:rPr>
              <a:t>to indicate foreign country variables.</a:t>
            </a:r>
            <a:endParaRPr lang="en-US" altLang="en-US" sz="2000" dirty="0">
              <a:latin typeface="+mn-lt"/>
              <a:ea typeface="ヒラギノ角ゴ Pro W3" pitchFamily="-84" charset="-128"/>
            </a:endParaRPr>
          </a:p>
        </p:txBody>
      </p:sp>
      <p:sp>
        <p:nvSpPr>
          <p:cNvPr id="5" name="Content Placeholder 4"/>
          <p:cNvSpPr>
            <a:spLocks noGrp="1"/>
          </p:cNvSpPr>
          <p:nvPr>
            <p:ph idx="14"/>
          </p:nvPr>
        </p:nvSpPr>
        <p:spPr>
          <a:xfrm>
            <a:off x="457200" y="2117175"/>
            <a:ext cx="7391400" cy="1078766"/>
          </a:xfrm>
        </p:spPr>
        <p:txBody>
          <a:bodyPr/>
          <a:lstStyle/>
          <a:p>
            <a:pPr indent="-255600"/>
            <a:r>
              <a:rPr lang="en-US" sz="2000" dirty="0">
                <a:latin typeface="+mn-lt"/>
              </a:rPr>
              <a:t>When one country can produce a unit of a good with less labor than another country, we say that the first country has an </a:t>
            </a:r>
            <a:r>
              <a:rPr lang="en-US" sz="2000" b="1" dirty="0">
                <a:latin typeface="+mn-lt"/>
              </a:rPr>
              <a:t>absolute advantage </a:t>
            </a:r>
            <a:r>
              <a:rPr lang="en-US" sz="2000" dirty="0">
                <a:latin typeface="+mn-lt"/>
              </a:rPr>
              <a:t>in producing that good.</a:t>
            </a:r>
          </a:p>
        </p:txBody>
      </p:sp>
      <p:sp>
        <p:nvSpPr>
          <p:cNvPr id="6" name="Content Placeholder 5"/>
          <p:cNvSpPr>
            <a:spLocks noGrp="1"/>
          </p:cNvSpPr>
          <p:nvPr>
            <p:ph idx="15"/>
          </p:nvPr>
        </p:nvSpPr>
        <p:spPr>
          <a:xfrm>
            <a:off x="457200" y="3276599"/>
            <a:ext cx="609600" cy="462279"/>
          </a:xfrm>
        </p:spPr>
        <p:txBody>
          <a:bodyPr/>
          <a:lstStyle/>
          <a:p>
            <a:pPr indent="-255600"/>
            <a:r>
              <a:rPr lang="en-US" sz="2000" dirty="0">
                <a:latin typeface="+mn-lt"/>
              </a:rPr>
              <a:t>If</a:t>
            </a:r>
          </a:p>
        </p:txBody>
      </p:sp>
      <p:graphicFrame>
        <p:nvGraphicFramePr>
          <p:cNvPr id="12" name="Object 11" descr="a sub start expression L C end expression is less than a to the asterisk power sub start expression L C end expression,"/>
          <p:cNvGraphicFramePr>
            <a:graphicFrameLocks noChangeAspect="1"/>
          </p:cNvGraphicFramePr>
          <p:nvPr>
            <p:extLst>
              <p:ext uri="{D42A27DB-BD31-4B8C-83A1-F6EECF244321}">
                <p14:modId xmlns:p14="http://schemas.microsoft.com/office/powerpoint/2010/main" val="259880308"/>
              </p:ext>
            </p:extLst>
          </p:nvPr>
        </p:nvGraphicFramePr>
        <p:xfrm>
          <a:off x="1206500" y="3298901"/>
          <a:ext cx="1124941" cy="388616"/>
        </p:xfrm>
        <a:graphic>
          <a:graphicData uri="http://schemas.openxmlformats.org/presentationml/2006/ole">
            <mc:AlternateContent xmlns:mc="http://schemas.openxmlformats.org/markup-compatibility/2006">
              <mc:Choice xmlns:v="urn:schemas-microsoft-com:vml" Requires="v">
                <p:oleObj spid="_x0000_s18451" name="Equation" r:id="rId5" imgW="698400" imgH="241200" progId="Equation.DSMT4">
                  <p:embed/>
                </p:oleObj>
              </mc:Choice>
              <mc:Fallback>
                <p:oleObj name="Equation" r:id="rId5" imgW="698400" imgH="241200" progId="Equation.DSMT4">
                  <p:embed/>
                  <p:pic>
                    <p:nvPicPr>
                      <p:cNvPr id="12" name="Object 11"/>
                      <p:cNvPicPr/>
                      <p:nvPr/>
                    </p:nvPicPr>
                    <p:blipFill>
                      <a:blip r:embed="rId6"/>
                      <a:stretch>
                        <a:fillRect/>
                      </a:stretch>
                    </p:blipFill>
                    <p:spPr>
                      <a:xfrm>
                        <a:off x="1206500" y="3298901"/>
                        <a:ext cx="1124941" cy="388616"/>
                      </a:xfrm>
                      <a:prstGeom prst="rect">
                        <a:avLst/>
                      </a:prstGeom>
                    </p:spPr>
                  </p:pic>
                </p:oleObj>
              </mc:Fallback>
            </mc:AlternateContent>
          </a:graphicData>
        </a:graphic>
      </p:graphicFrame>
      <p:sp>
        <p:nvSpPr>
          <p:cNvPr id="7" name="Content Placeholder 6"/>
          <p:cNvSpPr>
            <a:spLocks noGrp="1"/>
          </p:cNvSpPr>
          <p:nvPr>
            <p:ph idx="16"/>
          </p:nvPr>
        </p:nvSpPr>
        <p:spPr>
          <a:xfrm>
            <a:off x="2471141" y="3357880"/>
            <a:ext cx="5180928" cy="380999"/>
          </a:xfrm>
        </p:spPr>
        <p:txBody>
          <a:bodyPr tIns="0" bIns="0"/>
          <a:lstStyle/>
          <a:p>
            <a:pPr marL="0" lvl="1" indent="0">
              <a:buNone/>
            </a:pPr>
            <a:r>
              <a:rPr lang="en-US" sz="2000" dirty="0">
                <a:latin typeface="+mn-lt"/>
              </a:rPr>
              <a:t>Home labor is more efficient than Foreign in</a:t>
            </a:r>
          </a:p>
        </p:txBody>
      </p:sp>
      <p:sp>
        <p:nvSpPr>
          <p:cNvPr id="8" name="Content Placeholder 7"/>
          <p:cNvSpPr>
            <a:spLocks noGrp="1"/>
          </p:cNvSpPr>
          <p:nvPr>
            <p:ph sz="quarter" idx="17"/>
          </p:nvPr>
        </p:nvSpPr>
        <p:spPr>
          <a:xfrm>
            <a:off x="457200" y="3815080"/>
            <a:ext cx="2733040" cy="353060"/>
          </a:xfrm>
        </p:spPr>
        <p:txBody>
          <a:bodyPr tIns="0" bIns="0"/>
          <a:lstStyle/>
          <a:p>
            <a:pPr marL="255600" indent="0">
              <a:buNone/>
            </a:pPr>
            <a:r>
              <a:rPr lang="en-US" sz="2000" dirty="0">
                <a:latin typeface="+mn-lt"/>
              </a:rPr>
              <a:t>producing cheese.</a:t>
            </a:r>
          </a:p>
        </p:txBody>
      </p:sp>
      <p:sp>
        <p:nvSpPr>
          <p:cNvPr id="9" name="Content Placeholder 8"/>
          <p:cNvSpPr>
            <a:spLocks noGrp="1"/>
          </p:cNvSpPr>
          <p:nvPr>
            <p:ph sz="quarter" idx="18"/>
          </p:nvPr>
        </p:nvSpPr>
        <p:spPr>
          <a:xfrm>
            <a:off x="457200" y="4250055"/>
            <a:ext cx="7391400" cy="426720"/>
          </a:xfrm>
        </p:spPr>
        <p:txBody>
          <a:bodyPr/>
          <a:lstStyle/>
          <a:p>
            <a:pPr indent="-255600"/>
            <a:r>
              <a:rPr lang="en-US" sz="2000" dirty="0">
                <a:latin typeface="+mn-lt"/>
              </a:rPr>
              <a:t>Does that guarantee that Home should export cheese?</a:t>
            </a:r>
          </a:p>
        </p:txBody>
      </p:sp>
    </p:spTree>
    <p:extLst>
      <p:ext uri="{BB962C8B-B14F-4D97-AF65-F5344CB8AC3E}">
        <p14:creationId xmlns:p14="http://schemas.microsoft.com/office/powerpoint/2010/main" val="2483684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(2 of 4)</a:t>
            </a:r>
            <a:endParaRPr lang="en-IN" dirty="0"/>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1961573"/>
          </a:xfrm>
        </p:spPr>
        <p:txBody>
          <a:bodyPr/>
          <a:lstStyle/>
          <a:p>
            <a:pPr>
              <a:spcBef>
                <a:spcPct val="25000"/>
              </a:spcBef>
            </a:pPr>
            <a:r>
              <a:rPr lang="en-US" sz="2200" dirty="0"/>
              <a:t>Comparative advantage, not absolute advantage, determines the pattern of trade (more about this distinction later).</a:t>
            </a:r>
          </a:p>
          <a:p>
            <a:pPr>
              <a:spcBef>
                <a:spcPct val="25000"/>
              </a:spcBef>
            </a:pPr>
            <a:r>
              <a:rPr lang="en-US" altLang="en-US" sz="2200" dirty="0">
                <a:ea typeface="ヒラギノ角ゴ Pro W3" pitchFamily="-84" charset="-128"/>
              </a:rPr>
              <a:t>Suppose that the home country has a comparative advantage in cheese production: its opportunity cost of producing cheese is lower than the foreign country.</a:t>
            </a:r>
            <a:endParaRPr lang="en-US" sz="2200" dirty="0"/>
          </a:p>
        </p:txBody>
      </p:sp>
      <p:graphicFrame>
        <p:nvGraphicFramePr>
          <p:cNvPr id="5" name="Object 4" descr="A formula. For long description in Notes pane, press F6.">
            <a:extLst>
              <a:ext uri="{FF2B5EF4-FFF2-40B4-BE49-F238E27FC236}">
                <a16:creationId xmlns:a16="http://schemas.microsoft.com/office/drawing/2014/main" id="{EFA7FA1A-CA96-40E3-A8E6-0678C188C293}"/>
              </a:ext>
            </a:extLst>
          </p:cNvPr>
          <p:cNvGraphicFramePr>
            <a:graphicFrameLocks noChangeAspect="1"/>
          </p:cNvGraphicFramePr>
          <p:nvPr>
            <p:extLst>
              <p:ext uri="{D42A27DB-BD31-4B8C-83A1-F6EECF244321}">
                <p14:modId xmlns:p14="http://schemas.microsoft.com/office/powerpoint/2010/main" val="602255613"/>
              </p:ext>
            </p:extLst>
          </p:nvPr>
        </p:nvGraphicFramePr>
        <p:xfrm>
          <a:off x="3866357" y="3619337"/>
          <a:ext cx="1411287" cy="890587"/>
        </p:xfrm>
        <a:graphic>
          <a:graphicData uri="http://schemas.openxmlformats.org/presentationml/2006/ole">
            <mc:AlternateContent xmlns:mc="http://schemas.openxmlformats.org/markup-compatibility/2006">
              <mc:Choice xmlns:v="urn:schemas-microsoft-com:vml" Requires="v">
                <p:oleObj spid="_x0000_s19466" name="Equation" r:id="rId4" imgW="1411266" imgH="890114" progId="Equation.DSMT4">
                  <p:embed/>
                </p:oleObj>
              </mc:Choice>
              <mc:Fallback>
                <p:oleObj name="Equation" r:id="rId4" imgW="1411266" imgH="890114" progId="Equation.DSMT4">
                  <p:embed/>
                  <p:pic>
                    <p:nvPicPr>
                      <p:cNvPr id="0" name=""/>
                      <p:cNvPicPr/>
                      <p:nvPr/>
                    </p:nvPicPr>
                    <p:blipFill>
                      <a:blip r:embed="rId5"/>
                      <a:stretch>
                        <a:fillRect/>
                      </a:stretch>
                    </p:blipFill>
                    <p:spPr>
                      <a:xfrm>
                        <a:off x="3866357" y="3619337"/>
                        <a:ext cx="1411287" cy="89058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EC0433B-4FEE-44C5-A644-4C7BCC599C47}"/>
              </a:ext>
            </a:extLst>
          </p:cNvPr>
          <p:cNvSpPr>
            <a:spLocks noGrp="1"/>
          </p:cNvSpPr>
          <p:nvPr>
            <p:ph sz="quarter" idx="14"/>
          </p:nvPr>
        </p:nvSpPr>
        <p:spPr>
          <a:xfrm>
            <a:off x="457199" y="4650105"/>
            <a:ext cx="8494889" cy="1138555"/>
          </a:xfrm>
        </p:spPr>
        <p:txBody>
          <a:bodyPr/>
          <a:lstStyle/>
          <a:p>
            <a:pPr lvl="1"/>
            <a:r>
              <a:rPr lang="en-US" altLang="en-US" sz="2200" dirty="0">
                <a:ea typeface="ヒラギノ角ゴ Pro W3" pitchFamily="-84" charset="-128"/>
              </a:rPr>
              <a:t>When the home country increases cheese production, it reduces wine production less than the foreign country would.</a:t>
            </a:r>
            <a:endParaRPr lang="en-US" sz="2200" dirty="0"/>
          </a:p>
        </p:txBody>
      </p:sp>
    </p:spTree>
    <p:extLst>
      <p:ext uri="{BB962C8B-B14F-4D97-AF65-F5344CB8AC3E}">
        <p14:creationId xmlns:p14="http://schemas.microsoft.com/office/powerpoint/2010/main" val="2214903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(3 of 4)</a:t>
            </a:r>
            <a:endParaRPr lang="en-IN" dirty="0"/>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404578" cy="2619433"/>
          </a:xfrm>
        </p:spPr>
        <p:txBody>
          <a:bodyPr/>
          <a:lstStyle/>
          <a:p>
            <a:r>
              <a:rPr lang="en-US" altLang="en-US" sz="2400" dirty="0">
                <a:ea typeface="ヒラギノ角ゴ Pro W3" pitchFamily="-84" charset="-128"/>
              </a:rPr>
              <a:t>Since the slope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indicates the opportunity cost of cheese in terms of wine, Foreign’</a:t>
            </a:r>
            <a:r>
              <a:rPr lang="en-US" altLang="ja-JP" sz="2400" dirty="0">
                <a:ea typeface="ヒラギノ角ゴ Pro W3" pitchFamily="-84" charset="-128"/>
              </a:rPr>
              <a:t>s P</a:t>
            </a:r>
            <a:r>
              <a:rPr lang="en-US" altLang="ja-JP" sz="100" dirty="0">
                <a:ea typeface="ヒラギノ角ゴ Pro W3" pitchFamily="-84" charset="-128"/>
              </a:rPr>
              <a:t> </a:t>
            </a:r>
            <a:r>
              <a:rPr lang="en-US" altLang="ja-JP" sz="2400" dirty="0">
                <a:ea typeface="ヒラギノ角ゴ Pro W3" pitchFamily="-84" charset="-128"/>
              </a:rPr>
              <a:t>P</a:t>
            </a:r>
            <a:r>
              <a:rPr lang="en-US" altLang="ja-JP" sz="100" dirty="0">
                <a:ea typeface="ヒラギノ角ゴ Pro W3" pitchFamily="-84" charset="-128"/>
              </a:rPr>
              <a:t> </a:t>
            </a:r>
            <a:r>
              <a:rPr lang="en-US" altLang="ja-JP" sz="2400" dirty="0">
                <a:ea typeface="ヒラギノ角ゴ Pro W3" pitchFamily="-84" charset="-128"/>
              </a:rPr>
              <a:t>F is steeper than Home’s.</a:t>
            </a:r>
          </a:p>
          <a:p>
            <a:pPr lvl="1"/>
            <a:r>
              <a:rPr lang="en-US" altLang="en-US" sz="2400" dirty="0">
                <a:ea typeface="ヒラギノ角ゴ Pro W3" pitchFamily="-84" charset="-128"/>
              </a:rPr>
              <a:t>To produce one pound of cheese, must stop producing more gallons of wine in Foreign than in Home.</a:t>
            </a:r>
          </a:p>
        </p:txBody>
      </p:sp>
    </p:spTree>
    <p:extLst>
      <p:ext uri="{BB962C8B-B14F-4D97-AF65-F5344CB8AC3E}">
        <p14:creationId xmlns:p14="http://schemas.microsoft.com/office/powerpoint/2010/main" val="668515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FB3B-8ED0-48C6-B138-6BA34B978A91}"/>
              </a:ext>
            </a:extLst>
          </p:cNvPr>
          <p:cNvSpPr>
            <a:spLocks noGrp="1"/>
          </p:cNvSpPr>
          <p:nvPr>
            <p:ph type="title"/>
          </p:nvPr>
        </p:nvSpPr>
        <p:spPr/>
        <p:txBody>
          <a:bodyPr/>
          <a:lstStyle/>
          <a:p>
            <a:r>
              <a:rPr lang="en-US" altLang="en-US" sz="3200" dirty="0">
                <a:ea typeface="ヒラギノ角ゴ Pro W3" pitchFamily="-84" charset="-128"/>
              </a:rPr>
              <a:t>Figure 3.2 Foreign</a:t>
            </a:r>
            <a:r>
              <a:rPr lang="en-US" altLang="ja-JP" sz="3200" dirty="0">
                <a:ea typeface="ヒラギノ角ゴ Pro W3" pitchFamily="-84" charset="-128"/>
              </a:rPr>
              <a:t>’s Production Possibility Frontier</a:t>
            </a:r>
            <a:endParaRPr lang="en-IN" sz="3200" dirty="0"/>
          </a:p>
        </p:txBody>
      </p:sp>
      <p:pic>
        <p:nvPicPr>
          <p:cNvPr id="6" name="Content Placeholder 5" descr="A graph plots foreign wine production in gallons, Q asterisk sub w, versus foreign cheese production in pounds, Q asterisk sub c. For long description in Notes pane, press F6.">
            <a:extLst>
              <a:ext uri="{FF2B5EF4-FFF2-40B4-BE49-F238E27FC236}">
                <a16:creationId xmlns:a16="http://schemas.microsoft.com/office/drawing/2014/main" id="{27BDE974-661D-4A6C-8C59-0202BF0E918C}"/>
              </a:ext>
            </a:extLst>
          </p:cNvPr>
          <p:cNvPicPr>
            <a:picLocks noGrp="1" noChangeAspect="1"/>
          </p:cNvPicPr>
          <p:nvPr>
            <p:ph sz="quarter" idx="13"/>
          </p:nvPr>
        </p:nvPicPr>
        <p:blipFill>
          <a:blip r:embed="rId3"/>
          <a:stretch>
            <a:fillRect/>
          </a:stretch>
        </p:blipFill>
        <p:spPr>
          <a:xfrm>
            <a:off x="2606257" y="1659133"/>
            <a:ext cx="3931486" cy="3653503"/>
          </a:xfrm>
        </p:spPr>
      </p:pic>
      <p:sp>
        <p:nvSpPr>
          <p:cNvPr id="4" name="Content Placeholder 3">
            <a:extLst>
              <a:ext uri="{FF2B5EF4-FFF2-40B4-BE49-F238E27FC236}">
                <a16:creationId xmlns:a16="http://schemas.microsoft.com/office/drawing/2014/main" id="{BCDE9583-2678-47F3-87E7-5241CC49E993}"/>
              </a:ext>
            </a:extLst>
          </p:cNvPr>
          <p:cNvSpPr>
            <a:spLocks noGrp="1"/>
          </p:cNvSpPr>
          <p:nvPr>
            <p:ph sz="quarter" idx="14"/>
          </p:nvPr>
        </p:nvSpPr>
        <p:spPr>
          <a:xfrm>
            <a:off x="457200" y="5422677"/>
            <a:ext cx="7704667" cy="894526"/>
          </a:xfrm>
        </p:spPr>
        <p:txBody>
          <a:bodyPr/>
          <a:lstStyle/>
          <a:p>
            <a:pPr marL="432" indent="0">
              <a:buNone/>
            </a:pPr>
            <a:r>
              <a:rPr lang="en-US" sz="1600" dirty="0"/>
              <a:t>Because Foreign’s relative unit labor requirement in cheese is higher than Home’s (it needs to give up many more units of wine to produce one more unit of cheese), its production possibility frontier is steeper.</a:t>
            </a:r>
          </a:p>
        </p:txBody>
      </p:sp>
    </p:spTree>
    <p:extLst>
      <p:ext uri="{BB962C8B-B14F-4D97-AF65-F5344CB8AC3E}">
        <p14:creationId xmlns:p14="http://schemas.microsoft.com/office/powerpoint/2010/main" val="1094944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(4 of 4)</a:t>
            </a:r>
            <a:endParaRPr lang="en-IN" dirty="0"/>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3917373"/>
          </a:xfrm>
        </p:spPr>
        <p:txBody>
          <a:bodyPr/>
          <a:lstStyle/>
          <a:p>
            <a:r>
              <a:rPr lang="en-US" altLang="en-US" sz="2400" dirty="0">
                <a:ea typeface="ヒラギノ角ゴ Pro W3" pitchFamily="-84" charset="-128"/>
              </a:rPr>
              <a:t>Before any trade occurs, the relative price of cheese to wine reflects the opportunity cost of cheese in terms of wine in each country.</a:t>
            </a:r>
          </a:p>
          <a:p>
            <a:r>
              <a:rPr lang="en-US" altLang="en-US" sz="2400" dirty="0">
                <a:ea typeface="ヒラギノ角ゴ Pro W3" pitchFamily="-84" charset="-128"/>
              </a:rPr>
              <a:t>In the absence of any trade, the relative price of cheese to wine will be higher in Foreign than in Home if Foreign has the higher opportunity cost of cheese.</a:t>
            </a:r>
          </a:p>
          <a:p>
            <a:r>
              <a:rPr lang="en-US" altLang="en-US" sz="2400" dirty="0">
                <a:ea typeface="ヒラギノ角ゴ Pro W3" pitchFamily="-84" charset="-128"/>
              </a:rPr>
              <a:t>It will be profitable to ship cheese from Home to Foreign (and wine from Foreign to Home)</a:t>
            </a:r>
            <a:r>
              <a:rPr lang="en-US" altLang="en-US" sz="2400" dirty="0">
                <a:ea typeface="ヒラギノ角ゴ Pro W3" pitchFamily="-84" charset="-128"/>
                <a:cs typeface="Times New Roman" panose="02020603050405020304" pitchFamily="18" charset="0"/>
              </a:rPr>
              <a:t>—</a:t>
            </a:r>
            <a:r>
              <a:rPr lang="en-US" altLang="en-US" sz="2400" dirty="0">
                <a:ea typeface="ヒラギノ角ゴ Pro W3" pitchFamily="-84" charset="-128"/>
              </a:rPr>
              <a:t>where does the relative price of cheese to wine settle?</a:t>
            </a:r>
            <a:endParaRPr lang="en-US" altLang="en-US" sz="2000" dirty="0">
              <a:ea typeface="ヒラギノ角ゴ Pro W3" pitchFamily="-84" charset="-128"/>
            </a:endParaRPr>
          </a:p>
        </p:txBody>
      </p:sp>
    </p:spTree>
    <p:extLst>
      <p:ext uri="{BB962C8B-B14F-4D97-AF65-F5344CB8AC3E}">
        <p14:creationId xmlns:p14="http://schemas.microsoft.com/office/powerpoint/2010/main" val="6367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(1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2258928"/>
          </a:xfrm>
        </p:spPr>
        <p:txBody>
          <a:bodyPr/>
          <a:lstStyle/>
          <a:p>
            <a:pPr>
              <a:spcBef>
                <a:spcPct val="50000"/>
              </a:spcBef>
            </a:pPr>
            <a:r>
              <a:rPr lang="en-US" altLang="en-US" sz="2400" dirty="0">
                <a:ea typeface="ヒラギノ角ゴ Pro W3" pitchFamily="-84" charset="-128"/>
              </a:rPr>
              <a:t>To see how all countries can benefit from trade, need to find relative prices when trade exists.</a:t>
            </a:r>
          </a:p>
          <a:p>
            <a:pPr>
              <a:spcBef>
                <a:spcPct val="50000"/>
              </a:spcBef>
            </a:pPr>
            <a:r>
              <a:rPr lang="en-US" altLang="en-US" sz="2400" dirty="0">
                <a:ea typeface="ヒラギノ角ゴ Pro W3" pitchFamily="-84" charset="-128"/>
              </a:rPr>
              <a:t>First calculate the world </a:t>
            </a:r>
            <a:r>
              <a:rPr lang="en-US" altLang="en-US" sz="2400" b="1" dirty="0">
                <a:ea typeface="ヒラギノ角ゴ Pro W3" pitchFamily="-84" charset="-128"/>
              </a:rPr>
              <a:t>relative supply </a:t>
            </a:r>
            <a:r>
              <a:rPr lang="en-US" altLang="en-US" sz="2400" dirty="0">
                <a:ea typeface="ヒラギノ角ゴ Pro W3" pitchFamily="-84" charset="-128"/>
              </a:rPr>
              <a:t>of cheese: the quantity of cheese supplied by all countries relative to the quantity of wine supplied by all countries:</a:t>
            </a:r>
            <a:endParaRPr lang="en-US" altLang="en-US" sz="2000" dirty="0">
              <a:ea typeface="ヒラギノ角ゴ Pro W3" pitchFamily="-84" charset="-128"/>
            </a:endParaRPr>
          </a:p>
        </p:txBody>
      </p:sp>
      <p:graphicFrame>
        <p:nvGraphicFramePr>
          <p:cNvPr id="6" name="Object 5" descr="R S = start fraction Q sub C + Q to the asterisk power sub C over Q sub W + Q to the asterisk power sub W end fraction ">
            <a:extLst>
              <a:ext uri="{FF2B5EF4-FFF2-40B4-BE49-F238E27FC236}">
                <a16:creationId xmlns:a16="http://schemas.microsoft.com/office/drawing/2014/main" id="{0BFE23E1-A626-404D-B492-CC439F19B939}"/>
              </a:ext>
            </a:extLst>
          </p:cNvPr>
          <p:cNvGraphicFramePr>
            <a:graphicFrameLocks noChangeAspect="1"/>
          </p:cNvGraphicFramePr>
          <p:nvPr>
            <p:extLst>
              <p:ext uri="{D42A27DB-BD31-4B8C-83A1-F6EECF244321}">
                <p14:modId xmlns:p14="http://schemas.microsoft.com/office/powerpoint/2010/main" val="392550516"/>
              </p:ext>
            </p:extLst>
          </p:nvPr>
        </p:nvGraphicFramePr>
        <p:xfrm>
          <a:off x="3676909" y="4050792"/>
          <a:ext cx="1790183" cy="826239"/>
        </p:xfrm>
        <a:graphic>
          <a:graphicData uri="http://schemas.openxmlformats.org/presentationml/2006/ole">
            <mc:AlternateContent xmlns:mc="http://schemas.openxmlformats.org/markup-compatibility/2006">
              <mc:Choice xmlns:v="urn:schemas-microsoft-com:vml" Requires="v">
                <p:oleObj spid="_x0000_s20490" name="Equation" r:id="rId3" imgW="990360" imgH="457200" progId="Equation.DSMT4">
                  <p:embed/>
                </p:oleObj>
              </mc:Choice>
              <mc:Fallback>
                <p:oleObj name="Equation" r:id="rId3" imgW="990360" imgH="457200" progId="Equation.DSMT4">
                  <p:embed/>
                  <p:pic>
                    <p:nvPicPr>
                      <p:cNvPr id="0" name=""/>
                      <p:cNvPicPr/>
                      <p:nvPr/>
                    </p:nvPicPr>
                    <p:blipFill>
                      <a:blip r:embed="rId4"/>
                      <a:stretch>
                        <a:fillRect/>
                      </a:stretch>
                    </p:blipFill>
                    <p:spPr>
                      <a:xfrm>
                        <a:off x="3676909" y="4050792"/>
                        <a:ext cx="1790183" cy="826239"/>
                      </a:xfrm>
                      <a:prstGeom prst="rect">
                        <a:avLst/>
                      </a:prstGeom>
                    </p:spPr>
                  </p:pic>
                </p:oleObj>
              </mc:Fallback>
            </mc:AlternateContent>
          </a:graphicData>
        </a:graphic>
      </p:graphicFrame>
    </p:spTree>
    <p:extLst>
      <p:ext uri="{BB962C8B-B14F-4D97-AF65-F5344CB8AC3E}">
        <p14:creationId xmlns:p14="http://schemas.microsoft.com/office/powerpoint/2010/main" val="3590174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(2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8"/>
            <a:ext cx="8229600" cy="951742"/>
          </a:xfrm>
        </p:spPr>
        <p:txBody>
          <a:bodyPr/>
          <a:lstStyle/>
          <a:p>
            <a:r>
              <a:rPr lang="en-US" altLang="en-US" sz="2400" dirty="0">
                <a:ea typeface="ヒラギノ角ゴ Pro W3" pitchFamily="-84" charset="-128"/>
              </a:rPr>
              <a:t>If the relative price of cheese falls below the opportunity cost of cheese in both countries</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1228453517"/>
              </p:ext>
            </p:extLst>
          </p:nvPr>
        </p:nvGraphicFramePr>
        <p:xfrm>
          <a:off x="3144959" y="2579025"/>
          <a:ext cx="2200852" cy="890443"/>
        </p:xfrm>
        <a:graphic>
          <a:graphicData uri="http://schemas.openxmlformats.org/presentationml/2006/ole">
            <mc:AlternateContent xmlns:mc="http://schemas.openxmlformats.org/markup-compatibility/2006">
              <mc:Choice xmlns:v="urn:schemas-microsoft-com:vml" Requires="v">
                <p:oleObj spid="_x0000_s21514" name="Equation" r:id="rId4" imgW="2420239" imgH="980243" progId="Equation.DSMT4">
                  <p:embed/>
                </p:oleObj>
              </mc:Choice>
              <mc:Fallback>
                <p:oleObj name="Equation" r:id="rId4" imgW="2420239" imgH="980243" progId="Equation.DSMT4">
                  <p:embed/>
                  <p:pic>
                    <p:nvPicPr>
                      <p:cNvPr id="0" name=""/>
                      <p:cNvPicPr/>
                      <p:nvPr/>
                    </p:nvPicPr>
                    <p:blipFill>
                      <a:blip r:embed="rId5"/>
                      <a:stretch>
                        <a:fillRect/>
                      </a:stretch>
                    </p:blipFill>
                    <p:spPr>
                      <a:xfrm>
                        <a:off x="3144959" y="2579025"/>
                        <a:ext cx="2200852" cy="89044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540423"/>
            <a:ext cx="8229600" cy="1513564"/>
          </a:xfrm>
        </p:spPr>
        <p:txBody>
          <a:bodyPr/>
          <a:lstStyle/>
          <a:p>
            <a:pPr lvl="1"/>
            <a:r>
              <a:rPr lang="en-US" altLang="en-US" sz="2400" dirty="0">
                <a:ea typeface="ヒラギノ角ゴ Pro W3" pitchFamily="-84" charset="-128"/>
              </a:rPr>
              <a:t>No cheese would be produced. </a:t>
            </a:r>
          </a:p>
          <a:p>
            <a:pPr lvl="1"/>
            <a:r>
              <a:rPr lang="en-US" altLang="en-US" sz="2400" dirty="0">
                <a:ea typeface="ヒラギノ角ゴ Pro W3" pitchFamily="-84" charset="-128"/>
              </a:rPr>
              <a:t>Domestic and foreign workers would be willing to produce only wine (where wage is higher).</a:t>
            </a:r>
            <a:endParaRPr lang="en-US" sz="2400" dirty="0"/>
          </a:p>
        </p:txBody>
      </p:sp>
    </p:spTree>
    <p:extLst>
      <p:ext uri="{BB962C8B-B14F-4D97-AF65-F5344CB8AC3E}">
        <p14:creationId xmlns:p14="http://schemas.microsoft.com/office/powerpoint/2010/main" val="4223320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(3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938679"/>
          </a:xfrm>
        </p:spPr>
        <p:txBody>
          <a:bodyPr/>
          <a:lstStyle/>
          <a:p>
            <a:r>
              <a:rPr lang="en-US" altLang="en-US" sz="2400" dirty="0">
                <a:ea typeface="ヒラギノ角ゴ Pro W3" pitchFamily="-84" charset="-128"/>
              </a:rPr>
              <a:t>When the relative price of cheese equals the opportunity cost in the home country</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3754636855"/>
              </p:ext>
            </p:extLst>
          </p:nvPr>
        </p:nvGraphicFramePr>
        <p:xfrm>
          <a:off x="3143658" y="2722464"/>
          <a:ext cx="2202635" cy="890954"/>
        </p:xfrm>
        <a:graphic>
          <a:graphicData uri="http://schemas.openxmlformats.org/presentationml/2006/ole">
            <mc:AlternateContent xmlns:mc="http://schemas.openxmlformats.org/markup-compatibility/2006">
              <mc:Choice xmlns:v="urn:schemas-microsoft-com:vml" Requires="v">
                <p:oleObj spid="_x0000_s22538" name="Equation" r:id="rId4" imgW="1130040" imgH="457200" progId="Equation.DSMT4">
                  <p:embed/>
                </p:oleObj>
              </mc:Choice>
              <mc:Fallback>
                <p:oleObj name="Equation" r:id="rId4" imgW="1130040" imgH="457200" progId="Equation.DSMT4">
                  <p:embed/>
                  <p:pic>
                    <p:nvPicPr>
                      <p:cNvPr id="5" name="Object 4">
                        <a:extLst>
                          <a:ext uri="{FF2B5EF4-FFF2-40B4-BE49-F238E27FC236}">
                            <a16:creationId xmlns:a16="http://schemas.microsoft.com/office/drawing/2014/main" id="{CF8BD67C-79F8-4446-8F27-F6C94E33DF91}"/>
                          </a:ext>
                        </a:extLst>
                      </p:cNvPr>
                      <p:cNvPicPr/>
                      <p:nvPr/>
                    </p:nvPicPr>
                    <p:blipFill>
                      <a:blip r:embed="rId5"/>
                      <a:stretch>
                        <a:fillRect/>
                      </a:stretch>
                    </p:blipFill>
                    <p:spPr>
                      <a:xfrm>
                        <a:off x="3143658" y="2722464"/>
                        <a:ext cx="2202635" cy="890954"/>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840876"/>
            <a:ext cx="8229600" cy="1799903"/>
          </a:xfrm>
        </p:spPr>
        <p:txBody>
          <a:bodyPr/>
          <a:lstStyle/>
          <a:p>
            <a:pPr lvl="1"/>
            <a:r>
              <a:rPr lang="en-US" altLang="en-US" sz="2400" dirty="0">
                <a:ea typeface="ヒラギノ角ゴ Pro W3" pitchFamily="-84" charset="-128"/>
              </a:rPr>
              <a:t>Domestic workers are indifferent about producing wine or cheese (wage when producing wine same as wage when producing cheese).</a:t>
            </a:r>
          </a:p>
          <a:p>
            <a:pPr lvl="1"/>
            <a:r>
              <a:rPr lang="en-US" altLang="en-US" sz="2400" dirty="0">
                <a:ea typeface="ヒラギノ角ゴ Pro W3" pitchFamily="-84" charset="-128"/>
              </a:rPr>
              <a:t>Foreign workers produce only wine.</a:t>
            </a:r>
            <a:endParaRPr lang="en-US" sz="2400" dirty="0"/>
          </a:p>
        </p:txBody>
      </p:sp>
    </p:spTree>
    <p:extLst>
      <p:ext uri="{BB962C8B-B14F-4D97-AF65-F5344CB8AC3E}">
        <p14:creationId xmlns:p14="http://schemas.microsoft.com/office/powerpoint/2010/main" val="4186493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(4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713907"/>
          </a:xfrm>
        </p:spPr>
        <p:txBody>
          <a:bodyPr/>
          <a:lstStyle/>
          <a:p>
            <a:r>
              <a:rPr lang="en-US" altLang="en-US" sz="1800" dirty="0">
                <a:ea typeface="ヒラギノ角ゴ Pro W3" pitchFamily="-84" charset="-128"/>
              </a:rPr>
              <a:t>When the relative price of cheese settles strictly in between the opportunity costs of cheese</a:t>
            </a:r>
            <a:endParaRPr lang="en-US" sz="1800" dirty="0"/>
          </a:p>
        </p:txBody>
      </p:sp>
      <p:graphicFrame>
        <p:nvGraphicFramePr>
          <p:cNvPr id="6" name="Object 5" descr="A formula. For long description in Notes pane, press F6.">
            <a:extLst>
              <a:ext uri="{FF2B5EF4-FFF2-40B4-BE49-F238E27FC236}">
                <a16:creationId xmlns:a16="http://schemas.microsoft.com/office/drawing/2014/main" id="{747CDD4C-AFBB-4E38-A550-14D6A93455BA}"/>
              </a:ext>
            </a:extLst>
          </p:cNvPr>
          <p:cNvGraphicFramePr>
            <a:graphicFrameLocks noChangeAspect="1"/>
          </p:cNvGraphicFramePr>
          <p:nvPr>
            <p:extLst>
              <p:ext uri="{D42A27DB-BD31-4B8C-83A1-F6EECF244321}">
                <p14:modId xmlns:p14="http://schemas.microsoft.com/office/powerpoint/2010/main" val="201897515"/>
              </p:ext>
            </p:extLst>
          </p:nvPr>
        </p:nvGraphicFramePr>
        <p:xfrm>
          <a:off x="3560047" y="2349698"/>
          <a:ext cx="2023904" cy="810260"/>
        </p:xfrm>
        <a:graphic>
          <a:graphicData uri="http://schemas.openxmlformats.org/presentationml/2006/ole">
            <mc:AlternateContent xmlns:mc="http://schemas.openxmlformats.org/markup-compatibility/2006">
              <mc:Choice xmlns:v="urn:schemas-microsoft-com:vml" Requires="v">
                <p:oleObj spid="_x0000_s23570" name="Equation" r:id="rId4" imgW="1143000" imgH="457200" progId="Equation.DSMT4">
                  <p:embed/>
                </p:oleObj>
              </mc:Choice>
              <mc:Fallback>
                <p:oleObj name="Equation" r:id="rId4" imgW="1143000" imgH="457200" progId="Equation.DSMT4">
                  <p:embed/>
                  <p:pic>
                    <p:nvPicPr>
                      <p:cNvPr id="11" name="Object 10"/>
                      <p:cNvPicPr/>
                      <p:nvPr/>
                    </p:nvPicPr>
                    <p:blipFill>
                      <a:blip r:embed="rId5"/>
                      <a:stretch>
                        <a:fillRect/>
                      </a:stretch>
                    </p:blipFill>
                    <p:spPr>
                      <a:xfrm>
                        <a:off x="3560047" y="2349698"/>
                        <a:ext cx="2023904" cy="81026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267731"/>
            <a:ext cx="8229600" cy="1524984"/>
          </a:xfrm>
        </p:spPr>
        <p:txBody>
          <a:bodyPr/>
          <a:lstStyle/>
          <a:p>
            <a:pPr lvl="1"/>
            <a:r>
              <a:rPr lang="en-US" altLang="en-US" sz="1800" dirty="0">
                <a:ea typeface="ヒラギノ角ゴ Pro W3" pitchFamily="-84" charset="-128"/>
              </a:rPr>
              <a:t>Domestic workers produce only cheese (where their wages are higher).</a:t>
            </a:r>
          </a:p>
          <a:p>
            <a:pPr lvl="1"/>
            <a:r>
              <a:rPr lang="en-US" altLang="en-US" sz="1800" dirty="0">
                <a:ea typeface="ヒラギノ角ゴ Pro W3" pitchFamily="-84" charset="-128"/>
              </a:rPr>
              <a:t>Foreign workers still produce only wine (where their wages are higher).</a:t>
            </a:r>
          </a:p>
          <a:p>
            <a:pPr lvl="1"/>
            <a:r>
              <a:rPr lang="en-US" altLang="en-US" sz="1800" dirty="0">
                <a:ea typeface="ヒラギノ角ゴ Pro W3" pitchFamily="-84" charset="-128"/>
              </a:rPr>
              <a:t>World relative supply of cheese equals Home’s maximum cheese production divided by Foreign’s maximum wine production</a:t>
            </a:r>
            <a:endParaRPr lang="en-US" sz="1800" dirty="0"/>
          </a:p>
        </p:txBody>
      </p:sp>
      <p:graphicFrame>
        <p:nvGraphicFramePr>
          <p:cNvPr id="7" name="Object 6"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D067B0A1-7B54-400C-9F79-3327EE5A0929}"/>
              </a:ext>
            </a:extLst>
          </p:cNvPr>
          <p:cNvGraphicFramePr>
            <a:graphicFrameLocks noChangeAspect="1"/>
          </p:cNvGraphicFramePr>
          <p:nvPr>
            <p:extLst>
              <p:ext uri="{D42A27DB-BD31-4B8C-83A1-F6EECF244321}">
                <p14:modId xmlns:p14="http://schemas.microsoft.com/office/powerpoint/2010/main" val="4280164687"/>
              </p:ext>
            </p:extLst>
          </p:nvPr>
        </p:nvGraphicFramePr>
        <p:xfrm>
          <a:off x="4325661" y="4943187"/>
          <a:ext cx="734579" cy="1105477"/>
        </p:xfrm>
        <a:graphic>
          <a:graphicData uri="http://schemas.openxmlformats.org/presentationml/2006/ole">
            <mc:AlternateContent xmlns:mc="http://schemas.openxmlformats.org/markup-compatibility/2006">
              <mc:Choice xmlns:v="urn:schemas-microsoft-com:vml" Requires="v">
                <p:oleObj spid="_x0000_s23571" name="Equation" r:id="rId6" imgW="457200" imgH="685800" progId="Equation.DSMT4">
                  <p:embed/>
                </p:oleObj>
              </mc:Choice>
              <mc:Fallback>
                <p:oleObj name="Equation" r:id="rId6" imgW="457200" imgH="685800" progId="Equation.DSMT4">
                  <p:embed/>
                  <p:pic>
                    <p:nvPicPr>
                      <p:cNvPr id="12" name="Object 11"/>
                      <p:cNvPicPr/>
                      <p:nvPr/>
                    </p:nvPicPr>
                    <p:blipFill>
                      <a:blip r:embed="rId7"/>
                      <a:stretch>
                        <a:fillRect/>
                      </a:stretch>
                    </p:blipFill>
                    <p:spPr>
                      <a:xfrm>
                        <a:off x="4325661" y="4943187"/>
                        <a:ext cx="734579" cy="1105477"/>
                      </a:xfrm>
                      <a:prstGeom prst="rect">
                        <a:avLst/>
                      </a:prstGeom>
                    </p:spPr>
                  </p:pic>
                </p:oleObj>
              </mc:Fallback>
            </mc:AlternateContent>
          </a:graphicData>
        </a:graphic>
      </p:graphicFrame>
    </p:spTree>
    <p:extLst>
      <p:ext uri="{BB962C8B-B14F-4D97-AF65-F5344CB8AC3E}">
        <p14:creationId xmlns:p14="http://schemas.microsoft.com/office/powerpoint/2010/main" val="3905580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(5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dirty="0">
                <a:ea typeface="ヒラギノ角ゴ Pro W3" pitchFamily="-84" charset="-128"/>
              </a:rPr>
              <a:t>When the relative price of cheese equals the opportunity cost in the foreign country</a:t>
            </a:r>
            <a:endParaRPr lang="en-US" dirty="0"/>
          </a:p>
        </p:txBody>
      </p:sp>
      <p:graphicFrame>
        <p:nvGraphicFramePr>
          <p:cNvPr id="5" name="Object 4" descr="A formula. For long description in Notes pane, press F6.">
            <a:extLst>
              <a:ext uri="{FF2B5EF4-FFF2-40B4-BE49-F238E27FC236}">
                <a16:creationId xmlns:a16="http://schemas.microsoft.com/office/drawing/2014/main" id="{43D90661-D52C-4059-BF83-F5E5AD2D7208}"/>
              </a:ext>
            </a:extLst>
          </p:cNvPr>
          <p:cNvGraphicFramePr>
            <a:graphicFrameLocks noChangeAspect="1"/>
          </p:cNvGraphicFramePr>
          <p:nvPr>
            <p:extLst>
              <p:ext uri="{D42A27DB-BD31-4B8C-83A1-F6EECF244321}">
                <p14:modId xmlns:p14="http://schemas.microsoft.com/office/powerpoint/2010/main" val="1929465784"/>
              </p:ext>
            </p:extLst>
          </p:nvPr>
        </p:nvGraphicFramePr>
        <p:xfrm>
          <a:off x="3557508" y="2634717"/>
          <a:ext cx="2027396" cy="810260"/>
        </p:xfrm>
        <a:graphic>
          <a:graphicData uri="http://schemas.openxmlformats.org/presentationml/2006/ole">
            <mc:AlternateContent xmlns:mc="http://schemas.openxmlformats.org/markup-compatibility/2006">
              <mc:Choice xmlns:v="urn:schemas-microsoft-com:vml" Requires="v">
                <p:oleObj spid="_x0000_s24586" name="Equation" r:id="rId4" imgW="1842706" imgH="736174" progId="Equation.DSMT4">
                  <p:embed/>
                </p:oleObj>
              </mc:Choice>
              <mc:Fallback>
                <p:oleObj name="Equation" r:id="rId4" imgW="1842706" imgH="736174" progId="Equation.DSMT4">
                  <p:embed/>
                  <p:pic>
                    <p:nvPicPr>
                      <p:cNvPr id="0" name=""/>
                      <p:cNvPicPr/>
                      <p:nvPr/>
                    </p:nvPicPr>
                    <p:blipFill>
                      <a:blip r:embed="rId5"/>
                      <a:stretch>
                        <a:fillRect/>
                      </a:stretch>
                    </p:blipFill>
                    <p:spPr>
                      <a:xfrm>
                        <a:off x="3557508" y="2634717"/>
                        <a:ext cx="2027396" cy="81026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808767"/>
          </a:xfrm>
        </p:spPr>
        <p:txBody>
          <a:bodyPr/>
          <a:lstStyle/>
          <a:p>
            <a:pPr lvl="1"/>
            <a:r>
              <a:rPr lang="en-US" altLang="en-US" dirty="0">
                <a:ea typeface="ヒラギノ角ゴ Pro W3" pitchFamily="-84" charset="-128"/>
              </a:rPr>
              <a:t>Foreign workers are indifferent about producing wine or cheese (wage when producing wine same as wage when producing cheese).</a:t>
            </a:r>
          </a:p>
          <a:p>
            <a:pPr lvl="1"/>
            <a:r>
              <a:rPr lang="en-US" altLang="en-US" dirty="0">
                <a:ea typeface="ヒラギノ角ゴ Pro W3" pitchFamily="-84" charset="-128"/>
              </a:rPr>
              <a:t>Domestic workers produce only cheese.</a:t>
            </a:r>
            <a:endParaRPr lang="en-US" dirty="0"/>
          </a:p>
        </p:txBody>
      </p:sp>
    </p:spTree>
    <p:extLst>
      <p:ext uri="{BB962C8B-B14F-4D97-AF65-F5344CB8AC3E}">
        <p14:creationId xmlns:p14="http://schemas.microsoft.com/office/powerpoint/2010/main" val="3149089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(6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sz="2400" dirty="0">
                <a:ea typeface="ヒラギノ角ゴ Pro W3" pitchFamily="-84" charset="-128"/>
              </a:rPr>
              <a:t>If the relative price of cheese rises above the opportunity cost of cheese in both countries</a:t>
            </a:r>
            <a:endParaRPr lang="en-US" sz="2400" dirty="0"/>
          </a:p>
        </p:txBody>
      </p:sp>
      <p:graphicFrame>
        <p:nvGraphicFramePr>
          <p:cNvPr id="6" name="Object 5" descr="A formula. For long description in Notes pane, press F6.">
            <a:extLst>
              <a:ext uri="{FF2B5EF4-FFF2-40B4-BE49-F238E27FC236}">
                <a16:creationId xmlns:a16="http://schemas.microsoft.com/office/drawing/2014/main" id="{90342FBC-0D78-48DF-B348-1E8389401D9F}"/>
              </a:ext>
            </a:extLst>
          </p:cNvPr>
          <p:cNvGraphicFramePr>
            <a:graphicFrameLocks noChangeAspect="1"/>
          </p:cNvGraphicFramePr>
          <p:nvPr>
            <p:extLst>
              <p:ext uri="{D42A27DB-BD31-4B8C-83A1-F6EECF244321}">
                <p14:modId xmlns:p14="http://schemas.microsoft.com/office/powerpoint/2010/main" val="3577066884"/>
              </p:ext>
            </p:extLst>
          </p:nvPr>
        </p:nvGraphicFramePr>
        <p:xfrm>
          <a:off x="3557508" y="2567622"/>
          <a:ext cx="2027396" cy="810260"/>
        </p:xfrm>
        <a:graphic>
          <a:graphicData uri="http://schemas.openxmlformats.org/presentationml/2006/ole">
            <mc:AlternateContent xmlns:mc="http://schemas.openxmlformats.org/markup-compatibility/2006">
              <mc:Choice xmlns:v="urn:schemas-microsoft-com:vml" Requires="v">
                <p:oleObj spid="_x0000_s25610" name="Equation" r:id="rId4" imgW="1842706" imgH="736174" progId="Equation.DSMT4">
                  <p:embed/>
                </p:oleObj>
              </mc:Choice>
              <mc:Fallback>
                <p:oleObj name="Equation" r:id="rId4" imgW="1842706" imgH="736174" progId="Equation.DSMT4">
                  <p:embed/>
                  <p:pic>
                    <p:nvPicPr>
                      <p:cNvPr id="0" name=""/>
                      <p:cNvPicPr/>
                      <p:nvPr/>
                    </p:nvPicPr>
                    <p:blipFill>
                      <a:blip r:embed="rId5"/>
                      <a:stretch>
                        <a:fillRect/>
                      </a:stretch>
                    </p:blipFill>
                    <p:spPr>
                      <a:xfrm>
                        <a:off x="3557508" y="2567622"/>
                        <a:ext cx="2027396" cy="81026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472437"/>
          </a:xfrm>
        </p:spPr>
        <p:txBody>
          <a:bodyPr/>
          <a:lstStyle/>
          <a:p>
            <a:pPr lvl="1"/>
            <a:r>
              <a:rPr lang="en-US" altLang="en-US" sz="2400" dirty="0">
                <a:ea typeface="ヒラギノ角ゴ Pro W3" pitchFamily="-84" charset="-128"/>
              </a:rPr>
              <a:t>No wine is produced.</a:t>
            </a:r>
          </a:p>
          <a:p>
            <a:pPr lvl="1"/>
            <a:r>
              <a:rPr lang="en-US" altLang="en-US" sz="2400" dirty="0">
                <a:ea typeface="ヒラギノ角ゴ Pro W3" pitchFamily="-84" charset="-128"/>
              </a:rPr>
              <a:t>Domestic and foreign workers are willing to produce only cheese (where wage is higher).</a:t>
            </a:r>
            <a:endParaRPr lang="en-US" sz="2400" dirty="0"/>
          </a:p>
        </p:txBody>
      </p:sp>
    </p:spTree>
    <p:extLst>
      <p:ext uri="{BB962C8B-B14F-4D97-AF65-F5344CB8AC3E}">
        <p14:creationId xmlns:p14="http://schemas.microsoft.com/office/powerpoint/2010/main" val="3748619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776B-F05A-4E91-AE4D-3027F88B7BE7}"/>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(7 of 8)</a:t>
            </a:r>
            <a:endParaRPr lang="en-IN" sz="2000" dirty="0"/>
          </a:p>
        </p:txBody>
      </p:sp>
      <p:sp>
        <p:nvSpPr>
          <p:cNvPr id="3" name="Content Placeholder 2">
            <a:extLst>
              <a:ext uri="{FF2B5EF4-FFF2-40B4-BE49-F238E27FC236}">
                <a16:creationId xmlns:a16="http://schemas.microsoft.com/office/drawing/2014/main" id="{5C3709AE-A128-4C29-BA7A-788789E10A2C}"/>
              </a:ext>
            </a:extLst>
          </p:cNvPr>
          <p:cNvSpPr>
            <a:spLocks noGrp="1"/>
          </p:cNvSpPr>
          <p:nvPr>
            <p:ph sz="quarter" idx="13"/>
          </p:nvPr>
        </p:nvSpPr>
        <p:spPr>
          <a:xfrm>
            <a:off x="457200" y="1593309"/>
            <a:ext cx="4473615" cy="413291"/>
          </a:xfrm>
        </p:spPr>
        <p:txBody>
          <a:bodyPr/>
          <a:lstStyle/>
          <a:p>
            <a:r>
              <a:rPr lang="en-US" altLang="en-US" sz="1800" dirty="0">
                <a:ea typeface="ヒラギノ角ゴ Pro W3" pitchFamily="-84" charset="-128"/>
              </a:rPr>
              <a:t>World relative supply is a step function:</a:t>
            </a:r>
          </a:p>
        </p:txBody>
      </p:sp>
      <p:sp>
        <p:nvSpPr>
          <p:cNvPr id="4" name="Content Placeholder 3">
            <a:extLst>
              <a:ext uri="{FF2B5EF4-FFF2-40B4-BE49-F238E27FC236}">
                <a16:creationId xmlns:a16="http://schemas.microsoft.com/office/drawing/2014/main" id="{3873E4F7-3AE0-4E32-B3A0-9275CEA26E41}"/>
              </a:ext>
            </a:extLst>
          </p:cNvPr>
          <p:cNvSpPr>
            <a:spLocks noGrp="1"/>
          </p:cNvSpPr>
          <p:nvPr>
            <p:ph sz="quarter" idx="14"/>
          </p:nvPr>
        </p:nvSpPr>
        <p:spPr>
          <a:xfrm>
            <a:off x="457200" y="2063852"/>
            <a:ext cx="6591782" cy="438048"/>
          </a:xfrm>
        </p:spPr>
        <p:txBody>
          <a:bodyPr/>
          <a:lstStyle/>
          <a:p>
            <a:pPr lvl="1"/>
            <a:r>
              <a:rPr lang="en-US" altLang="en-US" sz="1800" dirty="0">
                <a:ea typeface="ヒラギノ角ゴ Pro W3" pitchFamily="-84" charset="-128"/>
              </a:rPr>
              <a:t>First step at relative price of cheese equal to Home’</a:t>
            </a:r>
            <a:r>
              <a:rPr lang="en-US" altLang="ja-JP" sz="1800" dirty="0">
                <a:ea typeface="ヒラギノ角ゴ Pro W3" pitchFamily="-84" charset="-128"/>
              </a:rPr>
              <a:t>s</a:t>
            </a:r>
            <a:endParaRPr lang="en-US" sz="1800" dirty="0"/>
          </a:p>
        </p:txBody>
      </p:sp>
      <p:sp>
        <p:nvSpPr>
          <p:cNvPr id="5" name="Content Placeholder 4">
            <a:extLst>
              <a:ext uri="{FF2B5EF4-FFF2-40B4-BE49-F238E27FC236}">
                <a16:creationId xmlns:a16="http://schemas.microsoft.com/office/drawing/2014/main" id="{003D5EB6-F77F-4700-8461-6393562C52D3}"/>
              </a:ext>
            </a:extLst>
          </p:cNvPr>
          <p:cNvSpPr>
            <a:spLocks noGrp="1"/>
          </p:cNvSpPr>
          <p:nvPr>
            <p:ph sz="quarter" idx="15"/>
          </p:nvPr>
        </p:nvSpPr>
        <p:spPr>
          <a:xfrm>
            <a:off x="457201" y="2565282"/>
            <a:ext cx="2552218" cy="447404"/>
          </a:xfrm>
        </p:spPr>
        <p:txBody>
          <a:bodyPr/>
          <a:lstStyle/>
          <a:p>
            <a:pPr marL="741600" lvl="1" indent="0">
              <a:buNone/>
            </a:pPr>
            <a:r>
              <a:rPr lang="en-US" altLang="ja-JP" sz="1800" dirty="0">
                <a:ea typeface="ヒラギノ角ゴ Pro W3" pitchFamily="-84" charset="-128"/>
              </a:rPr>
              <a:t>opportunity cost</a:t>
            </a:r>
          </a:p>
        </p:txBody>
      </p:sp>
      <p:graphicFrame>
        <p:nvGraphicFramePr>
          <p:cNvPr id="44" name="Object 43" descr="Start fraction a sub start expression L C end expression over a sub start expression L W end expression end fraction, which equals 1 half">
            <a:extLst>
              <a:ext uri="{FF2B5EF4-FFF2-40B4-BE49-F238E27FC236}">
                <a16:creationId xmlns:a16="http://schemas.microsoft.com/office/drawing/2014/main" id="{98A10306-34E1-4D0C-A1BF-24E4551EB46D}"/>
              </a:ext>
            </a:extLst>
          </p:cNvPr>
          <p:cNvGraphicFramePr>
            <a:graphicFrameLocks noChangeAspect="1"/>
          </p:cNvGraphicFramePr>
          <p:nvPr>
            <p:extLst>
              <p:ext uri="{D42A27DB-BD31-4B8C-83A1-F6EECF244321}">
                <p14:modId xmlns:p14="http://schemas.microsoft.com/office/powerpoint/2010/main" val="2193935009"/>
              </p:ext>
            </p:extLst>
          </p:nvPr>
        </p:nvGraphicFramePr>
        <p:xfrm>
          <a:off x="3100168" y="2541936"/>
          <a:ext cx="1910118" cy="591630"/>
        </p:xfrm>
        <a:graphic>
          <a:graphicData uri="http://schemas.openxmlformats.org/presentationml/2006/ole">
            <mc:AlternateContent xmlns:mc="http://schemas.openxmlformats.org/markup-compatibility/2006">
              <mc:Choice xmlns:v="urn:schemas-microsoft-com:vml" Requires="v">
                <p:oleObj spid="_x0000_s26650" name="Equation" r:id="rId3" imgW="1434960" imgH="444240" progId="Equation.DSMT4">
                  <p:embed/>
                </p:oleObj>
              </mc:Choice>
              <mc:Fallback>
                <p:oleObj name="Equation" r:id="rId3" imgW="1434960" imgH="444240" progId="Equation.DSMT4">
                  <p:embed/>
                  <p:pic>
                    <p:nvPicPr>
                      <p:cNvPr id="17" name="Object 16"/>
                      <p:cNvPicPr/>
                      <p:nvPr/>
                    </p:nvPicPr>
                    <p:blipFill>
                      <a:blip r:embed="rId4"/>
                      <a:stretch>
                        <a:fillRect/>
                      </a:stretch>
                    </p:blipFill>
                    <p:spPr>
                      <a:xfrm>
                        <a:off x="3100168" y="2541936"/>
                        <a:ext cx="1910118" cy="59163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549C7C3C-7FCD-462A-B7A9-6EE208567C7E}"/>
              </a:ext>
            </a:extLst>
          </p:cNvPr>
          <p:cNvSpPr>
            <a:spLocks noGrp="1"/>
          </p:cNvSpPr>
          <p:nvPr>
            <p:ph sz="quarter" idx="16"/>
          </p:nvPr>
        </p:nvSpPr>
        <p:spPr>
          <a:xfrm>
            <a:off x="5103857" y="2591626"/>
            <a:ext cx="1776714" cy="394716"/>
          </a:xfrm>
        </p:spPr>
        <p:txBody>
          <a:bodyPr/>
          <a:lstStyle/>
          <a:p>
            <a:pPr marL="0" lvl="1" indent="0">
              <a:buNone/>
            </a:pPr>
            <a:r>
              <a:rPr lang="en-US" altLang="ja-JP" dirty="0">
                <a:ea typeface="ヒラギノ角ゴ Pro W3" pitchFamily="-84" charset="-128"/>
              </a:rPr>
              <a:t>in the example.</a:t>
            </a:r>
            <a:endParaRPr lang="en-US" dirty="0"/>
          </a:p>
        </p:txBody>
      </p:sp>
      <p:sp>
        <p:nvSpPr>
          <p:cNvPr id="7" name="Content Placeholder 6">
            <a:extLst>
              <a:ext uri="{FF2B5EF4-FFF2-40B4-BE49-F238E27FC236}">
                <a16:creationId xmlns:a16="http://schemas.microsoft.com/office/drawing/2014/main" id="{7C390957-4593-4556-87F7-BE424C1CC471}"/>
              </a:ext>
            </a:extLst>
          </p:cNvPr>
          <p:cNvSpPr>
            <a:spLocks noGrp="1"/>
          </p:cNvSpPr>
          <p:nvPr>
            <p:ph sz="quarter" idx="17"/>
          </p:nvPr>
        </p:nvSpPr>
        <p:spPr>
          <a:xfrm>
            <a:off x="457200" y="3192356"/>
            <a:ext cx="7239000" cy="696732"/>
          </a:xfrm>
        </p:spPr>
        <p:txBody>
          <a:bodyPr/>
          <a:lstStyle/>
          <a:p>
            <a:pPr lvl="1"/>
            <a:r>
              <a:rPr lang="en-US" altLang="en-US" sz="1800" dirty="0">
                <a:ea typeface="ヒラギノ角ゴ Pro W3" pitchFamily="-84" charset="-128"/>
              </a:rPr>
              <a:t>Jumps when world relative supply of cheese equals Home’</a:t>
            </a:r>
            <a:r>
              <a:rPr lang="en-US" altLang="ja-JP" sz="1800" dirty="0">
                <a:ea typeface="ヒラギノ角ゴ Pro W3" pitchFamily="-84" charset="-128"/>
              </a:rPr>
              <a:t>s maximum cheese production divided by Foreign’s</a:t>
            </a:r>
            <a:endParaRPr lang="en-US" sz="1800" dirty="0"/>
          </a:p>
        </p:txBody>
      </p:sp>
      <p:sp>
        <p:nvSpPr>
          <p:cNvPr id="8" name="Content Placeholder 7">
            <a:extLst>
              <a:ext uri="{FF2B5EF4-FFF2-40B4-BE49-F238E27FC236}">
                <a16:creationId xmlns:a16="http://schemas.microsoft.com/office/drawing/2014/main" id="{721BDE6C-8C86-4887-9CA3-127BE94AA83A}"/>
              </a:ext>
            </a:extLst>
          </p:cNvPr>
          <p:cNvSpPr>
            <a:spLocks noGrp="1"/>
          </p:cNvSpPr>
          <p:nvPr>
            <p:ph sz="quarter" idx="18"/>
          </p:nvPr>
        </p:nvSpPr>
        <p:spPr>
          <a:xfrm>
            <a:off x="457199" y="3972464"/>
            <a:ext cx="3605516" cy="425083"/>
          </a:xfrm>
        </p:spPr>
        <p:txBody>
          <a:bodyPr/>
          <a:lstStyle/>
          <a:p>
            <a:pPr marL="741600" lvl="1" indent="0">
              <a:buNone/>
            </a:pPr>
            <a:r>
              <a:rPr lang="en-US" altLang="ja-JP" sz="1800" dirty="0">
                <a:ea typeface="ヒラギノ角ゴ Pro W3" pitchFamily="-84" charset="-128"/>
              </a:rPr>
              <a:t>maximum wine production</a:t>
            </a:r>
            <a:endParaRPr lang="en-IN" dirty="0"/>
          </a:p>
        </p:txBody>
      </p:sp>
      <p:graphicFrame>
        <p:nvGraphicFramePr>
          <p:cNvPr id="45" name="Object 44"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0D582B75-098C-42D6-ACD2-CF1B95990930}"/>
              </a:ext>
            </a:extLst>
          </p:cNvPr>
          <p:cNvGraphicFramePr>
            <a:graphicFrameLocks noChangeAspect="1"/>
          </p:cNvGraphicFramePr>
          <p:nvPr>
            <p:extLst>
              <p:ext uri="{D42A27DB-BD31-4B8C-83A1-F6EECF244321}">
                <p14:modId xmlns:p14="http://schemas.microsoft.com/office/powerpoint/2010/main" val="2520971445"/>
              </p:ext>
            </p:extLst>
          </p:nvPr>
        </p:nvGraphicFramePr>
        <p:xfrm>
          <a:off x="4133850" y="3957638"/>
          <a:ext cx="558800" cy="754062"/>
        </p:xfrm>
        <a:graphic>
          <a:graphicData uri="http://schemas.openxmlformats.org/presentationml/2006/ole">
            <mc:AlternateContent xmlns:mc="http://schemas.openxmlformats.org/markup-compatibility/2006">
              <mc:Choice xmlns:v="urn:schemas-microsoft-com:vml" Requires="v">
                <p:oleObj spid="_x0000_s26651" name="Equation" r:id="rId5" imgW="507960" imgH="685800" progId="Equation.DSMT4">
                  <p:embed/>
                </p:oleObj>
              </mc:Choice>
              <mc:Fallback>
                <p:oleObj name="Equation" r:id="rId5" imgW="507960" imgH="685800" progId="Equation.DSMT4">
                  <p:embed/>
                  <p:pic>
                    <p:nvPicPr>
                      <p:cNvPr id="18" name="Object 17"/>
                      <p:cNvPicPr/>
                      <p:nvPr/>
                    </p:nvPicPr>
                    <p:blipFill>
                      <a:blip r:embed="rId6"/>
                      <a:stretch>
                        <a:fillRect/>
                      </a:stretch>
                    </p:blipFill>
                    <p:spPr>
                      <a:xfrm>
                        <a:off x="4133850" y="3957638"/>
                        <a:ext cx="558800" cy="75406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4379F203-1256-4127-B4EF-A8278398F4D0}"/>
              </a:ext>
            </a:extLst>
          </p:cNvPr>
          <p:cNvSpPr>
            <a:spLocks noGrp="1"/>
          </p:cNvSpPr>
          <p:nvPr>
            <p:ph sz="quarter" idx="19"/>
          </p:nvPr>
        </p:nvSpPr>
        <p:spPr>
          <a:xfrm>
            <a:off x="4762826" y="4001773"/>
            <a:ext cx="2714263" cy="395774"/>
          </a:xfrm>
        </p:spPr>
        <p:txBody>
          <a:bodyPr/>
          <a:lstStyle/>
          <a:p>
            <a:pPr marL="0" lvl="1" indent="0">
              <a:buNone/>
            </a:pPr>
            <a:r>
              <a:rPr lang="en-US" altLang="ja-JP" dirty="0">
                <a:ea typeface="ヒラギノ角ゴ Pro W3" pitchFamily="-84" charset="-128"/>
              </a:rPr>
              <a:t>which equals 1 in the</a:t>
            </a:r>
            <a:endParaRPr lang="en-IN" dirty="0"/>
          </a:p>
        </p:txBody>
      </p:sp>
      <p:sp>
        <p:nvSpPr>
          <p:cNvPr id="10" name="Content Placeholder 9">
            <a:extLst>
              <a:ext uri="{FF2B5EF4-FFF2-40B4-BE49-F238E27FC236}">
                <a16:creationId xmlns:a16="http://schemas.microsoft.com/office/drawing/2014/main" id="{3B2C4E2D-26AD-4D0D-BBCF-3DC4D6D456F7}"/>
              </a:ext>
            </a:extLst>
          </p:cNvPr>
          <p:cNvSpPr>
            <a:spLocks noGrp="1"/>
          </p:cNvSpPr>
          <p:nvPr>
            <p:ph sz="quarter" idx="20"/>
          </p:nvPr>
        </p:nvSpPr>
        <p:spPr>
          <a:xfrm>
            <a:off x="495301" y="4457370"/>
            <a:ext cx="2066081" cy="425083"/>
          </a:xfrm>
        </p:spPr>
        <p:txBody>
          <a:bodyPr/>
          <a:lstStyle/>
          <a:p>
            <a:pPr marL="741600" lvl="1" indent="0">
              <a:buNone/>
            </a:pPr>
            <a:r>
              <a:rPr lang="en-US" altLang="ja-JP" dirty="0">
                <a:ea typeface="ヒラギノ角ゴ Pro W3" pitchFamily="-84" charset="-128"/>
              </a:rPr>
              <a:t>example.</a:t>
            </a:r>
            <a:endParaRPr lang="en-IN" dirty="0"/>
          </a:p>
        </p:txBody>
      </p:sp>
      <p:sp>
        <p:nvSpPr>
          <p:cNvPr id="11" name="Content Placeholder 10">
            <a:extLst>
              <a:ext uri="{FF2B5EF4-FFF2-40B4-BE49-F238E27FC236}">
                <a16:creationId xmlns:a16="http://schemas.microsoft.com/office/drawing/2014/main" id="{F4CA822D-FCDC-4FD3-B64E-6941A9CA8F0D}"/>
              </a:ext>
            </a:extLst>
          </p:cNvPr>
          <p:cNvSpPr>
            <a:spLocks noGrp="1"/>
          </p:cNvSpPr>
          <p:nvPr>
            <p:ph sz="quarter" idx="21"/>
          </p:nvPr>
        </p:nvSpPr>
        <p:spPr>
          <a:xfrm>
            <a:off x="457199" y="4982749"/>
            <a:ext cx="6950597" cy="413439"/>
          </a:xfrm>
        </p:spPr>
        <p:txBody>
          <a:bodyPr/>
          <a:lstStyle/>
          <a:p>
            <a:pPr lvl="1"/>
            <a:r>
              <a:rPr lang="en-US" altLang="en-US" sz="1800" dirty="0">
                <a:ea typeface="ヒラギノ角ゴ Pro W3" pitchFamily="-84" charset="-128"/>
              </a:rPr>
              <a:t>Second step at relative price of cheese equal to Foreign’</a:t>
            </a:r>
            <a:r>
              <a:rPr lang="en-US" altLang="ja-JP" sz="1800" dirty="0">
                <a:ea typeface="ヒラギノ角ゴ Pro W3" pitchFamily="-84" charset="-128"/>
              </a:rPr>
              <a:t>s</a:t>
            </a:r>
            <a:endParaRPr lang="en-IN" dirty="0"/>
          </a:p>
        </p:txBody>
      </p:sp>
      <p:sp>
        <p:nvSpPr>
          <p:cNvPr id="12" name="Content Placeholder 11">
            <a:extLst>
              <a:ext uri="{FF2B5EF4-FFF2-40B4-BE49-F238E27FC236}">
                <a16:creationId xmlns:a16="http://schemas.microsoft.com/office/drawing/2014/main" id="{54D858DE-2E61-4BA2-903A-7E4CB9690109}"/>
              </a:ext>
            </a:extLst>
          </p:cNvPr>
          <p:cNvSpPr>
            <a:spLocks noGrp="1"/>
          </p:cNvSpPr>
          <p:nvPr>
            <p:ph sz="quarter" idx="22"/>
          </p:nvPr>
        </p:nvSpPr>
        <p:spPr>
          <a:xfrm>
            <a:off x="457201" y="5562649"/>
            <a:ext cx="2578099" cy="423557"/>
          </a:xfrm>
        </p:spPr>
        <p:txBody>
          <a:bodyPr/>
          <a:lstStyle/>
          <a:p>
            <a:pPr marL="741600" lvl="1" indent="0">
              <a:buNone/>
            </a:pPr>
            <a:r>
              <a:rPr lang="en-US" altLang="ja-JP" dirty="0">
                <a:ea typeface="ヒラギノ角ゴ Pro W3" pitchFamily="-84" charset="-128"/>
              </a:rPr>
              <a:t>opportunity cost</a:t>
            </a:r>
            <a:endParaRPr lang="en-IN" dirty="0"/>
          </a:p>
        </p:txBody>
      </p:sp>
      <p:graphicFrame>
        <p:nvGraphicFramePr>
          <p:cNvPr id="46" name="Object 45" descr="start fraction a to the asterisk power sub start expression L C end expression over a to the asterisk power sub start expression L W end expression end fraction,">
            <a:extLst>
              <a:ext uri="{FF2B5EF4-FFF2-40B4-BE49-F238E27FC236}">
                <a16:creationId xmlns:a16="http://schemas.microsoft.com/office/drawing/2014/main" id="{26D3BC36-B89C-451F-9CDE-D4EEE73A1224}"/>
              </a:ext>
            </a:extLst>
          </p:cNvPr>
          <p:cNvGraphicFramePr>
            <a:graphicFrameLocks noChangeAspect="1"/>
          </p:cNvGraphicFramePr>
          <p:nvPr>
            <p:extLst>
              <p:ext uri="{D42A27DB-BD31-4B8C-83A1-F6EECF244321}">
                <p14:modId xmlns:p14="http://schemas.microsoft.com/office/powerpoint/2010/main" val="2049645404"/>
              </p:ext>
            </p:extLst>
          </p:nvPr>
        </p:nvGraphicFramePr>
        <p:xfrm>
          <a:off x="3106839" y="5470417"/>
          <a:ext cx="490537" cy="608012"/>
        </p:xfrm>
        <a:graphic>
          <a:graphicData uri="http://schemas.openxmlformats.org/presentationml/2006/ole">
            <mc:AlternateContent xmlns:mc="http://schemas.openxmlformats.org/markup-compatibility/2006">
              <mc:Choice xmlns:v="urn:schemas-microsoft-com:vml" Requires="v">
                <p:oleObj spid="_x0000_s26652" name="Equation" r:id="rId7" imgW="368280" imgH="457200" progId="Equation.DSMT4">
                  <p:embed/>
                </p:oleObj>
              </mc:Choice>
              <mc:Fallback>
                <p:oleObj name="Equation" r:id="rId7" imgW="368280" imgH="457200" progId="Equation.DSMT4">
                  <p:embed/>
                  <p:pic>
                    <p:nvPicPr>
                      <p:cNvPr id="19" name="Object 18"/>
                      <p:cNvPicPr/>
                      <p:nvPr/>
                    </p:nvPicPr>
                    <p:blipFill>
                      <a:blip r:embed="rId8"/>
                      <a:stretch>
                        <a:fillRect/>
                      </a:stretch>
                    </p:blipFill>
                    <p:spPr>
                      <a:xfrm>
                        <a:off x="3106839" y="5470417"/>
                        <a:ext cx="490537" cy="608012"/>
                      </a:xfrm>
                      <a:prstGeom prst="rect">
                        <a:avLst/>
                      </a:prstGeom>
                    </p:spPr>
                  </p:pic>
                </p:oleObj>
              </mc:Fallback>
            </mc:AlternateContent>
          </a:graphicData>
        </a:graphic>
      </p:graphicFrame>
      <p:sp>
        <p:nvSpPr>
          <p:cNvPr id="27" name="Content Placeholder 26">
            <a:extLst>
              <a:ext uri="{FF2B5EF4-FFF2-40B4-BE49-F238E27FC236}">
                <a16:creationId xmlns:a16="http://schemas.microsoft.com/office/drawing/2014/main" id="{F3E621F8-4EA4-40F0-81C0-7B7CAEE95030}"/>
              </a:ext>
            </a:extLst>
          </p:cNvPr>
          <p:cNvSpPr>
            <a:spLocks noGrp="1"/>
          </p:cNvSpPr>
          <p:nvPr>
            <p:ph sz="quarter" idx="23"/>
          </p:nvPr>
        </p:nvSpPr>
        <p:spPr>
          <a:xfrm>
            <a:off x="3727653" y="5561763"/>
            <a:ext cx="3524047" cy="417275"/>
          </a:xfrm>
        </p:spPr>
        <p:txBody>
          <a:bodyPr/>
          <a:lstStyle/>
          <a:p>
            <a:pPr marL="0" lvl="1" indent="0">
              <a:spcBef>
                <a:spcPts val="1500"/>
              </a:spcBef>
              <a:buNone/>
            </a:pPr>
            <a:r>
              <a:rPr lang="en-US" altLang="ja-JP" sz="1800" dirty="0">
                <a:ea typeface="ヒラギノ角ゴ Pro W3" pitchFamily="-84" charset="-128"/>
              </a:rPr>
              <a:t>which equals 2 in the example.</a:t>
            </a:r>
            <a:endParaRPr lang="en-US" sz="1800" dirty="0"/>
          </a:p>
        </p:txBody>
      </p:sp>
    </p:spTree>
    <p:extLst>
      <p:ext uri="{BB962C8B-B14F-4D97-AF65-F5344CB8AC3E}">
        <p14:creationId xmlns:p14="http://schemas.microsoft.com/office/powerpoint/2010/main" val="3688088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78B2-8C76-40E9-AC62-36005F374FF7}"/>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(8 of 8)</a:t>
            </a:r>
            <a:endParaRPr lang="en-IN" sz="2000" dirty="0"/>
          </a:p>
        </p:txBody>
      </p:sp>
      <p:sp>
        <p:nvSpPr>
          <p:cNvPr id="3" name="Content Placeholder 2">
            <a:extLst>
              <a:ext uri="{FF2B5EF4-FFF2-40B4-BE49-F238E27FC236}">
                <a16:creationId xmlns:a16="http://schemas.microsoft.com/office/drawing/2014/main" id="{94684B0A-908C-46AB-BBF5-D1E5B03BFA25}"/>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Relative demand of cheese is the quantity of cheese demanded in all countries relative to the quantity of wine demanded in all countries.</a:t>
            </a:r>
          </a:p>
          <a:p>
            <a:pPr>
              <a:spcBef>
                <a:spcPct val="50000"/>
              </a:spcBef>
            </a:pPr>
            <a:r>
              <a:rPr lang="en-US" altLang="en-US" sz="2400" dirty="0">
                <a:ea typeface="ヒラギノ角ゴ Pro W3" pitchFamily="-84" charset="-128"/>
              </a:rPr>
              <a:t>As the price of cheese relative to the price of wine rises, consumers in all countries will tend to purchase less cheese and more wine so that the relative quantity demanded of cheese falls.</a:t>
            </a:r>
            <a:endParaRPr lang="en-US" sz="2400" dirty="0"/>
          </a:p>
        </p:txBody>
      </p:sp>
    </p:spTree>
    <p:extLst>
      <p:ext uri="{BB962C8B-B14F-4D97-AF65-F5344CB8AC3E}">
        <p14:creationId xmlns:p14="http://schemas.microsoft.com/office/powerpoint/2010/main" val="3994440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077D-A54D-4017-83B3-8C866D9E6CDF}"/>
              </a:ext>
            </a:extLst>
          </p:cNvPr>
          <p:cNvSpPr>
            <a:spLocks noGrp="1"/>
          </p:cNvSpPr>
          <p:nvPr>
            <p:ph type="title"/>
          </p:nvPr>
        </p:nvSpPr>
        <p:spPr/>
        <p:txBody>
          <a:bodyPr/>
          <a:lstStyle/>
          <a:p>
            <a:r>
              <a:rPr lang="en-US" altLang="en-US" sz="3200" dirty="0">
                <a:ea typeface="ヒラギノ角ゴ Pro W3" pitchFamily="-84" charset="-128"/>
              </a:rPr>
              <a:t>Figure 3.3 World Relative Supply and Demand</a:t>
            </a:r>
            <a:endParaRPr lang="en-IN" sz="3200" dirty="0"/>
          </a:p>
        </p:txBody>
      </p:sp>
      <p:pic>
        <p:nvPicPr>
          <p:cNvPr id="6" name="Content Placeholder 5" descr="A graph plots the relative price of cheese, P sub C over P sub W, versus the relative quantity of cheese, ratio, Q sub c + Q asterisk sub C, over Q sub W + Q asterisk sub W. For long description in Notes pane, press F6.">
            <a:extLst>
              <a:ext uri="{FF2B5EF4-FFF2-40B4-BE49-F238E27FC236}">
                <a16:creationId xmlns:a16="http://schemas.microsoft.com/office/drawing/2014/main" id="{4014F134-0D5F-46EB-9C1A-F88E64270BAC}"/>
              </a:ext>
            </a:extLst>
          </p:cNvPr>
          <p:cNvPicPr>
            <a:picLocks noGrp="1" noChangeAspect="1"/>
          </p:cNvPicPr>
          <p:nvPr>
            <p:ph sz="quarter" idx="13"/>
          </p:nvPr>
        </p:nvPicPr>
        <p:blipFill>
          <a:blip r:embed="rId3"/>
          <a:stretch>
            <a:fillRect/>
          </a:stretch>
        </p:blipFill>
        <p:spPr>
          <a:xfrm>
            <a:off x="2683909" y="1661925"/>
            <a:ext cx="3776182" cy="3321366"/>
          </a:xfrm>
        </p:spPr>
      </p:pic>
      <p:sp>
        <p:nvSpPr>
          <p:cNvPr id="4" name="Content Placeholder 3">
            <a:extLst>
              <a:ext uri="{FF2B5EF4-FFF2-40B4-BE49-F238E27FC236}">
                <a16:creationId xmlns:a16="http://schemas.microsoft.com/office/drawing/2014/main" id="{6CDCA609-8080-4D7C-A42E-3AD78D6387A8}"/>
              </a:ext>
            </a:extLst>
          </p:cNvPr>
          <p:cNvSpPr>
            <a:spLocks noGrp="1"/>
          </p:cNvSpPr>
          <p:nvPr>
            <p:ph sz="quarter" idx="14"/>
          </p:nvPr>
        </p:nvSpPr>
        <p:spPr>
          <a:xfrm>
            <a:off x="457200" y="5083095"/>
            <a:ext cx="8407400" cy="1236683"/>
          </a:xfrm>
        </p:spPr>
        <p:txBody>
          <a:bodyPr/>
          <a:lstStyle/>
          <a:p>
            <a:pPr marL="432" indent="0">
              <a:buNone/>
            </a:pPr>
            <a:r>
              <a:rPr lang="en-US" sz="1800" dirty="0"/>
              <a:t>The </a:t>
            </a:r>
            <a:r>
              <a:rPr lang="en-US" sz="1800" i="1" dirty="0"/>
              <a:t>R</a:t>
            </a:r>
            <a:r>
              <a:rPr lang="en-US" sz="100" i="1" dirty="0"/>
              <a:t> </a:t>
            </a:r>
            <a:r>
              <a:rPr lang="en-US" sz="1800" i="1" dirty="0"/>
              <a:t>D </a:t>
            </a:r>
            <a:r>
              <a:rPr lang="en-US" sz="1800" dirty="0"/>
              <a:t>and </a:t>
            </a:r>
            <a:r>
              <a:rPr lang="en-US" sz="1800" i="1" dirty="0"/>
              <a:t>R</a:t>
            </a:r>
            <a:r>
              <a:rPr lang="en-US" sz="100" i="1" dirty="0"/>
              <a:t> </a:t>
            </a:r>
            <a:r>
              <a:rPr lang="en-US" sz="1800" i="1" dirty="0"/>
              <a:t>D</a:t>
            </a:r>
            <a:r>
              <a:rPr lang="en-US" sz="1800" dirty="0"/>
              <a:t>′ curves show that the demand for cheese relative to wine is a decreasing function of the price of cheese relative to that of wine, while the </a:t>
            </a:r>
            <a:r>
              <a:rPr lang="en-US" sz="1800" i="1" dirty="0"/>
              <a:t>R</a:t>
            </a:r>
            <a:r>
              <a:rPr lang="en-US" sz="100" i="1" dirty="0"/>
              <a:t> </a:t>
            </a:r>
            <a:r>
              <a:rPr lang="en-US" sz="1800" i="1" dirty="0"/>
              <a:t>S </a:t>
            </a:r>
            <a:r>
              <a:rPr lang="en-US" sz="1800" dirty="0"/>
              <a:t>curve shows that the supply of cheese relative to wine is an increasing function of the same relative price.</a:t>
            </a:r>
          </a:p>
        </p:txBody>
      </p:sp>
    </p:spTree>
    <p:extLst>
      <p:ext uri="{BB962C8B-B14F-4D97-AF65-F5344CB8AC3E}">
        <p14:creationId xmlns:p14="http://schemas.microsoft.com/office/powerpoint/2010/main" val="2623897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(1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4586896"/>
          </a:xfrm>
        </p:spPr>
        <p:txBody>
          <a:bodyPr/>
          <a:lstStyle/>
          <a:p>
            <a:pPr>
              <a:spcBef>
                <a:spcPct val="50000"/>
              </a:spcBef>
            </a:pPr>
            <a:r>
              <a:rPr lang="en-US" altLang="en-US" sz="2400" dirty="0">
                <a:ea typeface="ヒラギノ角ゴ Pro W3" pitchFamily="-84" charset="-128"/>
              </a:rPr>
              <a:t>Gains from trade come from specializing in the type of production that uses resources most efficiently, and using the income generated from that production to buy the goods and services that countries desire.</a:t>
            </a:r>
          </a:p>
          <a:p>
            <a:pPr lvl="1"/>
            <a:r>
              <a:rPr lang="en-US" altLang="ja-JP" sz="2400" dirty="0">
                <a:ea typeface="ヒラギノ角ゴ Pro W3" pitchFamily="-84" charset="-128"/>
              </a:rPr>
              <a:t>“Using resources most efficiently” means producing a good in which a country has a comparative advantage.</a:t>
            </a:r>
            <a:endParaRPr lang="en-US" sz="2400" dirty="0"/>
          </a:p>
        </p:txBody>
      </p:sp>
    </p:spTree>
    <p:extLst>
      <p:ext uri="{BB962C8B-B14F-4D97-AF65-F5344CB8AC3E}">
        <p14:creationId xmlns:p14="http://schemas.microsoft.com/office/powerpoint/2010/main" val="20194471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(2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3108270"/>
          </a:xfrm>
        </p:spPr>
        <p:txBody>
          <a:bodyPr/>
          <a:lstStyle/>
          <a:p>
            <a:r>
              <a:rPr lang="en-US" altLang="en-US" sz="2400" dirty="0">
                <a:ea typeface="ヒラギノ角ゴ Pro W3" pitchFamily="-84" charset="-128"/>
              </a:rPr>
              <a:t>Domestic workers earn a higher income from cheese production because the relative price of cheese increases with trade.</a:t>
            </a:r>
          </a:p>
          <a:p>
            <a:r>
              <a:rPr lang="en-US" altLang="en-US" sz="2400" dirty="0">
                <a:ea typeface="ヒラギノ角ゴ Pro W3" pitchFamily="-84" charset="-128"/>
              </a:rPr>
              <a:t>Foreign workers earn a higher income from wine production because the relative price of cheese decreases with trade (making cheese cheaper), and the relative price of wine increases with trade.</a:t>
            </a:r>
            <a:endParaRPr lang="en-US" sz="2400" dirty="0"/>
          </a:p>
        </p:txBody>
      </p:sp>
    </p:spTree>
    <p:extLst>
      <p:ext uri="{BB962C8B-B14F-4D97-AF65-F5344CB8AC3E}">
        <p14:creationId xmlns:p14="http://schemas.microsoft.com/office/powerpoint/2010/main" val="4178001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(3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Think of trade as an indirect method of production that converts cheese into wine or vice versa.</a:t>
            </a:r>
          </a:p>
          <a:p>
            <a:r>
              <a:rPr lang="en-US" altLang="en-US" sz="2400" dirty="0">
                <a:ea typeface="ヒラギノ角ゴ Pro W3" pitchFamily="-84" charset="-128"/>
              </a:rPr>
              <a:t>Without trade, a country has to allocate resources to produce all of the goods that it wants to consume.</a:t>
            </a:r>
          </a:p>
          <a:p>
            <a:r>
              <a:rPr lang="en-US" altLang="en-US" sz="2400" dirty="0">
                <a:ea typeface="ヒラギノ角ゴ Pro W3" pitchFamily="-84" charset="-128"/>
              </a:rPr>
              <a:t>With trade, a country can specialize its production and exchange for the mix of goods that it wants to consume.</a:t>
            </a:r>
          </a:p>
        </p:txBody>
      </p:sp>
    </p:spTree>
    <p:extLst>
      <p:ext uri="{BB962C8B-B14F-4D97-AF65-F5344CB8AC3E}">
        <p14:creationId xmlns:p14="http://schemas.microsoft.com/office/powerpoint/2010/main" val="1539668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(4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Consumption possibilities expand beyond the production possibility frontier when trade is allowed.</a:t>
            </a:r>
          </a:p>
          <a:p>
            <a:r>
              <a:rPr lang="en-US" altLang="en-US" sz="2400" dirty="0">
                <a:ea typeface="ヒラギノ角ゴ Pro W3" pitchFamily="-84" charset="-128"/>
              </a:rPr>
              <a:t>With trade, consumption in each country is expanded because world production is expanded when each country specializes in producing the good in which it has a comparative advantage.</a:t>
            </a:r>
          </a:p>
        </p:txBody>
      </p:sp>
    </p:spTree>
    <p:extLst>
      <p:ext uri="{BB962C8B-B14F-4D97-AF65-F5344CB8AC3E}">
        <p14:creationId xmlns:p14="http://schemas.microsoft.com/office/powerpoint/2010/main" val="2440103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6BAE-0938-4C81-B1EF-892841028054}"/>
              </a:ext>
            </a:extLst>
          </p:cNvPr>
          <p:cNvSpPr>
            <a:spLocks noGrp="1"/>
          </p:cNvSpPr>
          <p:nvPr>
            <p:ph type="title"/>
          </p:nvPr>
        </p:nvSpPr>
        <p:spPr/>
        <p:txBody>
          <a:bodyPr/>
          <a:lstStyle/>
          <a:p>
            <a:r>
              <a:rPr lang="en-US" altLang="en-US" sz="3200" dirty="0">
                <a:ea typeface="ヒラギノ角ゴ Pro W3" pitchFamily="-84" charset="-128"/>
              </a:rPr>
              <a:t>Figure 3.4 Trade Expands Consumption Possibilities</a:t>
            </a:r>
            <a:endParaRPr lang="en-IN" sz="3200" dirty="0"/>
          </a:p>
        </p:txBody>
      </p:sp>
      <p:pic>
        <p:nvPicPr>
          <p:cNvPr id="6" name="Content Placeholder 5" descr="The first graph for ay, home, shows the quantity of wine, Q sub W versus quantity of cheese, Q sub C. For long description in Notes pane, press F6.">
            <a:extLst>
              <a:ext uri="{FF2B5EF4-FFF2-40B4-BE49-F238E27FC236}">
                <a16:creationId xmlns:a16="http://schemas.microsoft.com/office/drawing/2014/main" id="{672242A1-1E19-4D85-A893-1D219A4D1D6C}"/>
              </a:ext>
            </a:extLst>
          </p:cNvPr>
          <p:cNvPicPr>
            <a:picLocks noGrp="1" noChangeAspect="1"/>
          </p:cNvPicPr>
          <p:nvPr>
            <p:ph sz="quarter" idx="13"/>
          </p:nvPr>
        </p:nvPicPr>
        <p:blipFill>
          <a:blip r:embed="rId3"/>
          <a:stretch>
            <a:fillRect/>
          </a:stretch>
        </p:blipFill>
        <p:spPr>
          <a:xfrm>
            <a:off x="1666101" y="1679782"/>
            <a:ext cx="5811799" cy="3653503"/>
          </a:xfrm>
        </p:spPr>
      </p:pic>
      <p:sp>
        <p:nvSpPr>
          <p:cNvPr id="4" name="Content Placeholder 3">
            <a:extLst>
              <a:ext uri="{FF2B5EF4-FFF2-40B4-BE49-F238E27FC236}">
                <a16:creationId xmlns:a16="http://schemas.microsoft.com/office/drawing/2014/main" id="{99E9FC78-C9DA-47AD-ABE0-A11AAFD113A8}"/>
              </a:ext>
            </a:extLst>
          </p:cNvPr>
          <p:cNvSpPr>
            <a:spLocks noGrp="1"/>
          </p:cNvSpPr>
          <p:nvPr>
            <p:ph sz="quarter" idx="14"/>
          </p:nvPr>
        </p:nvSpPr>
        <p:spPr>
          <a:xfrm>
            <a:off x="457199" y="5483252"/>
            <a:ext cx="8516983" cy="800235"/>
          </a:xfrm>
        </p:spPr>
        <p:txBody>
          <a:bodyPr/>
          <a:lstStyle/>
          <a:p>
            <a:pPr marL="432" indent="0">
              <a:buNone/>
            </a:pPr>
            <a:r>
              <a:rPr lang="en-US" sz="2000" dirty="0"/>
              <a:t>International trade allows Home and Foreign to consume anywhere within the outer lines, which lie outside the countries’ production frontiers.</a:t>
            </a:r>
          </a:p>
        </p:txBody>
      </p:sp>
    </p:spTree>
    <p:extLst>
      <p:ext uri="{BB962C8B-B14F-4D97-AF65-F5344CB8AC3E}">
        <p14:creationId xmlns:p14="http://schemas.microsoft.com/office/powerpoint/2010/main" val="2040873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CE7C-17D9-4DE5-A388-C6856D375F45}"/>
              </a:ext>
            </a:extLst>
          </p:cNvPr>
          <p:cNvSpPr>
            <a:spLocks noGrp="1"/>
          </p:cNvSpPr>
          <p:nvPr>
            <p:ph type="title"/>
          </p:nvPr>
        </p:nvSpPr>
        <p:spPr/>
        <p:txBody>
          <a:bodyPr/>
          <a:lstStyle/>
          <a:p>
            <a:r>
              <a:rPr lang="en-US" altLang="en-US" sz="3600" dirty="0"/>
              <a:t>A Numerical Example </a:t>
            </a:r>
            <a:r>
              <a:rPr lang="en-US" altLang="en-US" sz="2000" b="0" dirty="0"/>
              <a:t>(1 of 5)</a:t>
            </a:r>
            <a:endParaRPr lang="en-IN" dirty="0"/>
          </a:p>
        </p:txBody>
      </p:sp>
      <p:graphicFrame>
        <p:nvGraphicFramePr>
          <p:cNvPr id="17" name="Table 17">
            <a:extLst>
              <a:ext uri="{FF2B5EF4-FFF2-40B4-BE49-F238E27FC236}">
                <a16:creationId xmlns:a16="http://schemas.microsoft.com/office/drawing/2014/main" id="{3F3B2C6A-B8C8-4416-89B9-C97EA0A88858}"/>
              </a:ext>
            </a:extLst>
          </p:cNvPr>
          <p:cNvGraphicFramePr>
            <a:graphicFrameLocks noGrp="1"/>
          </p:cNvGraphicFramePr>
          <p:nvPr>
            <p:ph sz="quarter" idx="13"/>
            <p:extLst>
              <p:ext uri="{D42A27DB-BD31-4B8C-83A1-F6EECF244321}">
                <p14:modId xmlns:p14="http://schemas.microsoft.com/office/powerpoint/2010/main" val="1076524819"/>
              </p:ext>
            </p:extLst>
          </p:nvPr>
        </p:nvGraphicFramePr>
        <p:xfrm>
          <a:off x="457200" y="1552575"/>
          <a:ext cx="8229600" cy="1876425"/>
        </p:xfrm>
        <a:graphic>
          <a:graphicData uri="http://schemas.openxmlformats.org/drawingml/2006/table">
            <a:tbl>
              <a:tblPr firstRow="1" firstCol="1" bandRow="1">
                <a:tableStyleId>{2D5ABB26-0587-4C30-8999-92F81FD0307C}</a:tableStyleId>
              </a:tblPr>
              <a:tblGrid>
                <a:gridCol w="2042932">
                  <a:extLst>
                    <a:ext uri="{9D8B030D-6E8A-4147-A177-3AD203B41FA5}">
                      <a16:colId xmlns:a16="http://schemas.microsoft.com/office/drawing/2014/main" val="1075311575"/>
                    </a:ext>
                  </a:extLst>
                </a:gridCol>
                <a:gridCol w="3443468">
                  <a:extLst>
                    <a:ext uri="{9D8B030D-6E8A-4147-A177-3AD203B41FA5}">
                      <a16:colId xmlns:a16="http://schemas.microsoft.com/office/drawing/2014/main" val="382023241"/>
                    </a:ext>
                  </a:extLst>
                </a:gridCol>
                <a:gridCol w="2743200">
                  <a:extLst>
                    <a:ext uri="{9D8B030D-6E8A-4147-A177-3AD203B41FA5}">
                      <a16:colId xmlns:a16="http://schemas.microsoft.com/office/drawing/2014/main" val="2522880782"/>
                    </a:ext>
                  </a:extLst>
                </a:gridCol>
              </a:tblGrid>
              <a:tr h="7717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noProof="0" dirty="0"/>
                        <a:t>Unit labor requirements </a:t>
                      </a:r>
                      <a:endParaRPr kumimoji="0" lang="en-US" sz="1800" b="1" i="0" u="none" strike="noStrike" cap="none" normalizeH="0" baseline="0" noProof="0" dirty="0">
                        <a:ln>
                          <a:noFill/>
                        </a:ln>
                        <a:solidFill>
                          <a:schemeClr val="tx1"/>
                        </a:solidFill>
                        <a:effectLst/>
                        <a:latin typeface="+mn-lt"/>
                        <a:ea typeface="ＭＳ Ｐゴシック" charset="0"/>
                        <a:cs typeface="ＭＳ Ｐゴシック" charset="0"/>
                        <a:sym typeface="Arial"/>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Cheese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Wine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4212707"/>
                  </a:ext>
                </a:extLst>
              </a:tr>
              <a:tr h="552335">
                <a:tc>
                  <a:txBody>
                    <a:bodyPr/>
                    <a:lstStyle/>
                    <a:p>
                      <a:r>
                        <a:rPr kumimoji="0" lang="en-US" sz="1800" b="1" u="none" strike="noStrike" cap="none" normalizeH="0" baseline="0" noProof="0" dirty="0">
                          <a:ln>
                            <a:noFill/>
                          </a:ln>
                          <a:effectLst/>
                        </a:rPr>
                        <a:t>Home</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C end expression = 1 hour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W end expression = 2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2280801"/>
                  </a:ext>
                </a:extLst>
              </a:tr>
              <a:tr h="552335">
                <a:tc>
                  <a:txBody>
                    <a:bodyPr/>
                    <a:lstStyle/>
                    <a:p>
                      <a:r>
                        <a:rPr kumimoji="0" lang="en-US" sz="1800" b="1" u="none" strike="noStrike" cap="none" normalizeH="0" baseline="0" noProof="0" dirty="0">
                          <a:ln>
                            <a:noFill/>
                          </a:ln>
                          <a:effectLst/>
                        </a:rPr>
                        <a:t>Foreign</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C end expression = 6 hours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W end expression = 3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1333161"/>
                  </a:ext>
                </a:extLst>
              </a:tr>
            </a:tbl>
          </a:graphicData>
        </a:graphic>
      </p:graphicFrame>
      <p:graphicFrame>
        <p:nvGraphicFramePr>
          <p:cNvPr id="18" name="Object 17">
            <a:extLst>
              <a:ext uri="{FF2B5EF4-FFF2-40B4-BE49-F238E27FC236}">
                <a16:creationId xmlns:a16="http://schemas.microsoft.com/office/drawing/2014/main" id="{A4753FCC-8503-49B6-B1F1-48047DD5B5DB}"/>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782086830"/>
              </p:ext>
            </p:extLst>
          </p:nvPr>
        </p:nvGraphicFramePr>
        <p:xfrm>
          <a:off x="3206555" y="2412519"/>
          <a:ext cx="1709387" cy="405689"/>
        </p:xfrm>
        <a:graphic>
          <a:graphicData uri="http://schemas.openxmlformats.org/presentationml/2006/ole">
            <mc:AlternateContent xmlns:mc="http://schemas.openxmlformats.org/markup-compatibility/2006">
              <mc:Choice xmlns:v="urn:schemas-microsoft-com:vml" Requires="v">
                <p:oleObj spid="_x0000_s27698" name="Equation" r:id="rId3" imgW="965160" imgH="228600" progId="Equation.DSMT4">
                  <p:embed/>
                </p:oleObj>
              </mc:Choice>
              <mc:Fallback>
                <p:oleObj name="Equation" r:id="rId3" imgW="965160" imgH="228600" progId="Equation.DSMT4">
                  <p:embed/>
                  <p:pic>
                    <p:nvPicPr>
                      <p:cNvPr id="46" name="Object 45">
                        <a:extLst>
                          <a:ext uri="{FF2B5EF4-FFF2-40B4-BE49-F238E27FC236}">
                            <a16:creationId xmlns:a16="http://schemas.microsoft.com/office/drawing/2014/main" id="{26D3BC36-B89C-451F-9CDE-D4EEE73A1224}"/>
                          </a:ext>
                        </a:extLst>
                      </p:cNvPr>
                      <p:cNvPicPr/>
                      <p:nvPr/>
                    </p:nvPicPr>
                    <p:blipFill>
                      <a:blip r:embed="rId4"/>
                      <a:stretch>
                        <a:fillRect/>
                      </a:stretch>
                    </p:blipFill>
                    <p:spPr>
                      <a:xfrm>
                        <a:off x="3206555" y="2412519"/>
                        <a:ext cx="1709387" cy="405689"/>
                      </a:xfrm>
                      <a:prstGeom prst="rect">
                        <a:avLst/>
                      </a:prstGeom>
                      <a:solidFill>
                        <a:schemeClr val="lt1"/>
                      </a:solidFill>
                    </p:spPr>
                  </p:pic>
                </p:oleObj>
              </mc:Fallback>
            </mc:AlternateContent>
          </a:graphicData>
        </a:graphic>
      </p:graphicFrame>
      <p:graphicFrame>
        <p:nvGraphicFramePr>
          <p:cNvPr id="19" name="Object 18">
            <a:extLst>
              <a:ext uri="{FF2B5EF4-FFF2-40B4-BE49-F238E27FC236}">
                <a16:creationId xmlns:a16="http://schemas.microsoft.com/office/drawing/2014/main" id="{BC5762DB-1885-4437-A26F-88549C4CDD65}"/>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24154228"/>
              </p:ext>
            </p:extLst>
          </p:nvPr>
        </p:nvGraphicFramePr>
        <p:xfrm>
          <a:off x="6225184" y="2436081"/>
          <a:ext cx="2249883" cy="368163"/>
        </p:xfrm>
        <a:graphic>
          <a:graphicData uri="http://schemas.openxmlformats.org/presentationml/2006/ole">
            <mc:AlternateContent xmlns:mc="http://schemas.openxmlformats.org/markup-compatibility/2006">
              <mc:Choice xmlns:v="urn:schemas-microsoft-com:vml" Requires="v">
                <p:oleObj spid="_x0000_s27699" name="Equation" r:id="rId5" imgW="1396800" imgH="228600" progId="Equation.DSMT4">
                  <p:embed/>
                </p:oleObj>
              </mc:Choice>
              <mc:Fallback>
                <p:oleObj name="Equation" r:id="rId5" imgW="1396800" imgH="228600" progId="Equation.DSMT4">
                  <p:embed/>
                  <p:pic>
                    <p:nvPicPr>
                      <p:cNvPr id="0" name=""/>
                      <p:cNvPicPr/>
                      <p:nvPr/>
                    </p:nvPicPr>
                    <p:blipFill>
                      <a:blip r:embed="rId6"/>
                      <a:stretch>
                        <a:fillRect/>
                      </a:stretch>
                    </p:blipFill>
                    <p:spPr>
                      <a:xfrm>
                        <a:off x="6225184" y="2436081"/>
                        <a:ext cx="2249883" cy="368163"/>
                      </a:xfrm>
                      <a:prstGeom prst="rect">
                        <a:avLst/>
                      </a:prstGeom>
                      <a:solidFill>
                        <a:schemeClr val="lt1"/>
                      </a:solidFill>
                    </p:spPr>
                  </p:pic>
                </p:oleObj>
              </mc:Fallback>
            </mc:AlternateContent>
          </a:graphicData>
        </a:graphic>
      </p:graphicFrame>
      <p:graphicFrame>
        <p:nvGraphicFramePr>
          <p:cNvPr id="20" name="Object 19">
            <a:extLst>
              <a:ext uri="{FF2B5EF4-FFF2-40B4-BE49-F238E27FC236}">
                <a16:creationId xmlns:a16="http://schemas.microsoft.com/office/drawing/2014/main" id="{DA6DA1A8-CF97-4890-B4E5-84A49E46E307}"/>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961060887"/>
              </p:ext>
            </p:extLst>
          </p:nvPr>
        </p:nvGraphicFramePr>
        <p:xfrm>
          <a:off x="3198604" y="2964016"/>
          <a:ext cx="1718092" cy="388616"/>
        </p:xfrm>
        <a:graphic>
          <a:graphicData uri="http://schemas.openxmlformats.org/presentationml/2006/ole">
            <mc:AlternateContent xmlns:mc="http://schemas.openxmlformats.org/markup-compatibility/2006">
              <mc:Choice xmlns:v="urn:schemas-microsoft-com:vml" Requires="v">
                <p:oleObj spid="_x0000_s27700" name="Equation" r:id="rId7" imgW="1066680" imgH="241200" progId="Equation.DSMT4">
                  <p:embed/>
                </p:oleObj>
              </mc:Choice>
              <mc:Fallback>
                <p:oleObj name="Equation" r:id="rId7" imgW="1066680" imgH="241200" progId="Equation.DSMT4">
                  <p:embed/>
                  <p:pic>
                    <p:nvPicPr>
                      <p:cNvPr id="0" name=""/>
                      <p:cNvPicPr/>
                      <p:nvPr/>
                    </p:nvPicPr>
                    <p:blipFill>
                      <a:blip r:embed="rId8"/>
                      <a:stretch>
                        <a:fillRect/>
                      </a:stretch>
                    </p:blipFill>
                    <p:spPr>
                      <a:xfrm>
                        <a:off x="3198604" y="2964016"/>
                        <a:ext cx="1718092" cy="388616"/>
                      </a:xfrm>
                      <a:prstGeom prst="rect">
                        <a:avLst/>
                      </a:prstGeom>
                      <a:solidFill>
                        <a:schemeClr val="lt1"/>
                      </a:solidFill>
                    </p:spPr>
                  </p:pic>
                </p:oleObj>
              </mc:Fallback>
            </mc:AlternateContent>
          </a:graphicData>
        </a:graphic>
      </p:graphicFrame>
      <p:graphicFrame>
        <p:nvGraphicFramePr>
          <p:cNvPr id="21" name="Object 20">
            <a:extLst>
              <a:ext uri="{FF2B5EF4-FFF2-40B4-BE49-F238E27FC236}">
                <a16:creationId xmlns:a16="http://schemas.microsoft.com/office/drawing/2014/main" id="{D2358179-6001-447B-B020-500A7D6E2C05}"/>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025238801"/>
              </p:ext>
            </p:extLst>
          </p:nvPr>
        </p:nvGraphicFramePr>
        <p:xfrm>
          <a:off x="6126978" y="2916935"/>
          <a:ext cx="2474871" cy="427478"/>
        </p:xfrm>
        <a:graphic>
          <a:graphicData uri="http://schemas.openxmlformats.org/presentationml/2006/ole">
            <mc:AlternateContent xmlns:mc="http://schemas.openxmlformats.org/markup-compatibility/2006">
              <mc:Choice xmlns:v="urn:schemas-microsoft-com:vml" Requires="v">
                <p:oleObj spid="_x0000_s27701" name="Equation" r:id="rId9" imgW="1396800" imgH="241200" progId="Equation.DSMT4">
                  <p:embed/>
                </p:oleObj>
              </mc:Choice>
              <mc:Fallback>
                <p:oleObj name="Equation" r:id="rId9" imgW="1396800" imgH="241200" progId="Equation.DSMT4">
                  <p:embed/>
                  <p:pic>
                    <p:nvPicPr>
                      <p:cNvPr id="0" name=""/>
                      <p:cNvPicPr/>
                      <p:nvPr/>
                    </p:nvPicPr>
                    <p:blipFill>
                      <a:blip r:embed="rId10"/>
                      <a:stretch>
                        <a:fillRect/>
                      </a:stretch>
                    </p:blipFill>
                    <p:spPr>
                      <a:xfrm>
                        <a:off x="6126978" y="2916935"/>
                        <a:ext cx="2474871" cy="427478"/>
                      </a:xfrm>
                      <a:prstGeom prst="rect">
                        <a:avLst/>
                      </a:prstGeom>
                      <a:solidFill>
                        <a:schemeClr val="lt1"/>
                      </a:solidFill>
                    </p:spPr>
                  </p:pic>
                </p:oleObj>
              </mc:Fallback>
            </mc:AlternateContent>
          </a:graphicData>
        </a:graphic>
      </p:graphicFrame>
      <p:sp>
        <p:nvSpPr>
          <p:cNvPr id="4" name="Content Placeholder 3">
            <a:extLst>
              <a:ext uri="{FF2B5EF4-FFF2-40B4-BE49-F238E27FC236}">
                <a16:creationId xmlns:a16="http://schemas.microsoft.com/office/drawing/2014/main" id="{E424D6B6-809D-4C43-BA5D-7896A930574C}"/>
              </a:ext>
            </a:extLst>
          </p:cNvPr>
          <p:cNvSpPr>
            <a:spLocks noGrp="1"/>
          </p:cNvSpPr>
          <p:nvPr>
            <p:ph sz="quarter" idx="14"/>
          </p:nvPr>
        </p:nvSpPr>
        <p:spPr>
          <a:xfrm>
            <a:off x="457200" y="3767780"/>
            <a:ext cx="8229600" cy="524820"/>
          </a:xfrm>
        </p:spPr>
        <p:txBody>
          <a:bodyPr/>
          <a:lstStyle/>
          <a:p>
            <a:r>
              <a:rPr lang="en-US" altLang="en-US" sz="2400" dirty="0"/>
              <a:t>What is the home country</a:t>
            </a:r>
            <a:r>
              <a:rPr lang="en-US" altLang="ja-JP" sz="2400" dirty="0"/>
              <a:t>’s opportunity cost of producing</a:t>
            </a:r>
            <a:endParaRPr lang="en-US" sz="2400" dirty="0"/>
          </a:p>
        </p:txBody>
      </p:sp>
      <p:sp>
        <p:nvSpPr>
          <p:cNvPr id="5" name="Content Placeholder 4">
            <a:extLst>
              <a:ext uri="{FF2B5EF4-FFF2-40B4-BE49-F238E27FC236}">
                <a16:creationId xmlns:a16="http://schemas.microsoft.com/office/drawing/2014/main" id="{EAAA360B-48F9-41B9-89D2-DB5C18C3EB39}"/>
              </a:ext>
            </a:extLst>
          </p:cNvPr>
          <p:cNvSpPr>
            <a:spLocks noGrp="1"/>
          </p:cNvSpPr>
          <p:nvPr>
            <p:ph sz="quarter" idx="15"/>
          </p:nvPr>
        </p:nvSpPr>
        <p:spPr>
          <a:xfrm>
            <a:off x="457200" y="4452147"/>
            <a:ext cx="1749049" cy="525368"/>
          </a:xfrm>
        </p:spPr>
        <p:txBody>
          <a:bodyPr/>
          <a:lstStyle/>
          <a:p>
            <a:pPr marL="255600" lvl="1" indent="0">
              <a:buNone/>
            </a:pPr>
            <a:r>
              <a:rPr lang="en-US" altLang="ja-JP" sz="2400" dirty="0"/>
              <a:t>cheese?</a:t>
            </a:r>
            <a:endParaRPr lang="en-IN" dirty="0"/>
          </a:p>
        </p:txBody>
      </p:sp>
      <p:graphicFrame>
        <p:nvGraphicFramePr>
          <p:cNvPr id="22" name="Object 21" descr="Start fraction a sub start expression L C end expression over a sub start expression L W end expression end fraction = 1 half,">
            <a:extLst>
              <a:ext uri="{FF2B5EF4-FFF2-40B4-BE49-F238E27FC236}">
                <a16:creationId xmlns:a16="http://schemas.microsoft.com/office/drawing/2014/main" id="{3D4D5630-DE5E-4493-9076-0CED3F5FA3EE}"/>
              </a:ext>
            </a:extLst>
          </p:cNvPr>
          <p:cNvGraphicFramePr>
            <a:graphicFrameLocks noChangeAspect="1"/>
          </p:cNvGraphicFramePr>
          <p:nvPr>
            <p:extLst>
              <p:ext uri="{D42A27DB-BD31-4B8C-83A1-F6EECF244321}">
                <p14:modId xmlns:p14="http://schemas.microsoft.com/office/powerpoint/2010/main" val="4149623262"/>
              </p:ext>
            </p:extLst>
          </p:nvPr>
        </p:nvGraphicFramePr>
        <p:xfrm>
          <a:off x="2323588" y="4356719"/>
          <a:ext cx="1102442" cy="787459"/>
        </p:xfrm>
        <a:graphic>
          <a:graphicData uri="http://schemas.openxmlformats.org/presentationml/2006/ole">
            <mc:AlternateContent xmlns:mc="http://schemas.openxmlformats.org/markup-compatibility/2006">
              <mc:Choice xmlns:v="urn:schemas-microsoft-com:vml" Requires="v">
                <p:oleObj spid="_x0000_s27702" name="Equation" r:id="rId11" imgW="622080" imgH="444240" progId="Equation.DSMT4">
                  <p:embed/>
                </p:oleObj>
              </mc:Choice>
              <mc:Fallback>
                <p:oleObj name="Equation" r:id="rId11" imgW="622080" imgH="444240" progId="Equation.DSMT4">
                  <p:embed/>
                  <p:pic>
                    <p:nvPicPr>
                      <p:cNvPr id="0" name=""/>
                      <p:cNvPicPr/>
                      <p:nvPr/>
                    </p:nvPicPr>
                    <p:blipFill>
                      <a:blip r:embed="rId12"/>
                      <a:stretch>
                        <a:fillRect/>
                      </a:stretch>
                    </p:blipFill>
                    <p:spPr>
                      <a:xfrm>
                        <a:off x="2323588" y="4356719"/>
                        <a:ext cx="1102442" cy="787459"/>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AFB45EBA-E503-4811-9590-D55DC54DEEB9}"/>
              </a:ext>
            </a:extLst>
          </p:cNvPr>
          <p:cNvSpPr>
            <a:spLocks noGrp="1"/>
          </p:cNvSpPr>
          <p:nvPr>
            <p:ph sz="quarter" idx="16"/>
          </p:nvPr>
        </p:nvSpPr>
        <p:spPr>
          <a:xfrm>
            <a:off x="3574005" y="4446596"/>
            <a:ext cx="3617089" cy="525368"/>
          </a:xfrm>
        </p:spPr>
        <p:txBody>
          <a:bodyPr/>
          <a:lstStyle/>
          <a:p>
            <a:pPr marL="0" lvl="1" indent="0">
              <a:buNone/>
            </a:pPr>
            <a:r>
              <a:rPr lang="en-US" altLang="ja-JP" dirty="0"/>
              <a:t>to produce one pound of</a:t>
            </a:r>
            <a:endParaRPr lang="en-US" dirty="0"/>
          </a:p>
        </p:txBody>
      </p:sp>
      <p:sp>
        <p:nvSpPr>
          <p:cNvPr id="7" name="Content Placeholder 6">
            <a:extLst>
              <a:ext uri="{FF2B5EF4-FFF2-40B4-BE49-F238E27FC236}">
                <a16:creationId xmlns:a16="http://schemas.microsoft.com/office/drawing/2014/main" id="{3383D929-B2EB-4990-BC0F-E8FE7EEB8364}"/>
              </a:ext>
            </a:extLst>
          </p:cNvPr>
          <p:cNvSpPr>
            <a:spLocks noGrp="1"/>
          </p:cNvSpPr>
          <p:nvPr>
            <p:ph sz="quarter" idx="17"/>
          </p:nvPr>
        </p:nvSpPr>
        <p:spPr>
          <a:xfrm>
            <a:off x="443966" y="5244366"/>
            <a:ext cx="3671740" cy="496868"/>
          </a:xfrm>
        </p:spPr>
        <p:txBody>
          <a:bodyPr/>
          <a:lstStyle/>
          <a:p>
            <a:pPr marL="255600" indent="0">
              <a:buNone/>
            </a:pPr>
            <a:r>
              <a:rPr lang="en-US" altLang="ja-JP" sz="2400" dirty="0"/>
              <a:t>cheese, stop producing</a:t>
            </a:r>
            <a:endParaRPr lang="en-IN" dirty="0"/>
          </a:p>
        </p:txBody>
      </p:sp>
      <p:graphicFrame>
        <p:nvGraphicFramePr>
          <p:cNvPr id="23" name="Object 22" descr="1 half gallon of wine.">
            <a:extLst>
              <a:ext uri="{FF2B5EF4-FFF2-40B4-BE49-F238E27FC236}">
                <a16:creationId xmlns:a16="http://schemas.microsoft.com/office/drawing/2014/main" id="{63E8BE70-64C1-47D9-AEAA-2C7E9DD783BC}"/>
              </a:ext>
            </a:extLst>
          </p:cNvPr>
          <p:cNvGraphicFramePr>
            <a:graphicFrameLocks noChangeAspect="1"/>
          </p:cNvGraphicFramePr>
          <p:nvPr>
            <p:extLst>
              <p:ext uri="{D42A27DB-BD31-4B8C-83A1-F6EECF244321}">
                <p14:modId xmlns:p14="http://schemas.microsoft.com/office/powerpoint/2010/main" val="1993002105"/>
              </p:ext>
            </p:extLst>
          </p:nvPr>
        </p:nvGraphicFramePr>
        <p:xfrm>
          <a:off x="4191421" y="5134594"/>
          <a:ext cx="2326379" cy="767212"/>
        </p:xfrm>
        <a:graphic>
          <a:graphicData uri="http://schemas.openxmlformats.org/presentationml/2006/ole">
            <mc:AlternateContent xmlns:mc="http://schemas.openxmlformats.org/markup-compatibility/2006">
              <mc:Choice xmlns:v="urn:schemas-microsoft-com:vml" Requires="v">
                <p:oleObj spid="_x0000_s27703" name="Equation" r:id="rId13" imgW="1193760" imgH="393480" progId="Equation.DSMT4">
                  <p:embed/>
                </p:oleObj>
              </mc:Choice>
              <mc:Fallback>
                <p:oleObj name="Equation" r:id="rId13" imgW="1193760" imgH="393480" progId="Equation.DSMT4">
                  <p:embed/>
                  <p:pic>
                    <p:nvPicPr>
                      <p:cNvPr id="0" name=""/>
                      <p:cNvPicPr/>
                      <p:nvPr/>
                    </p:nvPicPr>
                    <p:blipFill>
                      <a:blip r:embed="rId14"/>
                      <a:stretch>
                        <a:fillRect/>
                      </a:stretch>
                    </p:blipFill>
                    <p:spPr>
                      <a:xfrm>
                        <a:off x="4191421" y="5134594"/>
                        <a:ext cx="2326379" cy="767212"/>
                      </a:xfrm>
                      <a:prstGeom prst="rect">
                        <a:avLst/>
                      </a:prstGeom>
                    </p:spPr>
                  </p:pic>
                </p:oleObj>
              </mc:Fallback>
            </mc:AlternateContent>
          </a:graphicData>
        </a:graphic>
      </p:graphicFrame>
    </p:spTree>
    <p:extLst>
      <p:ext uri="{BB962C8B-B14F-4D97-AF65-F5344CB8AC3E}">
        <p14:creationId xmlns:p14="http://schemas.microsoft.com/office/powerpoint/2010/main" val="3888843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7C0-DFD7-43A4-B409-386863C43860}"/>
              </a:ext>
            </a:extLst>
          </p:cNvPr>
          <p:cNvSpPr>
            <a:spLocks noGrp="1"/>
          </p:cNvSpPr>
          <p:nvPr>
            <p:ph type="title"/>
          </p:nvPr>
        </p:nvSpPr>
        <p:spPr/>
        <p:txBody>
          <a:bodyPr/>
          <a:lstStyle/>
          <a:p>
            <a:r>
              <a:rPr lang="en-US" altLang="en-US" sz="3600" dirty="0"/>
              <a:t>A Numerical Example </a:t>
            </a:r>
            <a:r>
              <a:rPr lang="en-US" altLang="en-US" sz="2000" b="0" dirty="0"/>
              <a:t>(2 of 5)</a:t>
            </a:r>
            <a:endParaRPr lang="en-IN" dirty="0"/>
          </a:p>
        </p:txBody>
      </p:sp>
      <p:sp>
        <p:nvSpPr>
          <p:cNvPr id="3" name="Content Placeholder 2">
            <a:extLst>
              <a:ext uri="{FF2B5EF4-FFF2-40B4-BE49-F238E27FC236}">
                <a16:creationId xmlns:a16="http://schemas.microsoft.com/office/drawing/2014/main" id="{FA621008-FF0D-4DE1-841B-B618B2F9A1B4}"/>
              </a:ext>
            </a:extLst>
          </p:cNvPr>
          <p:cNvSpPr>
            <a:spLocks noGrp="1"/>
          </p:cNvSpPr>
          <p:nvPr>
            <p:ph sz="quarter" idx="13"/>
          </p:nvPr>
        </p:nvSpPr>
        <p:spPr>
          <a:xfrm>
            <a:off x="457200" y="1556327"/>
            <a:ext cx="8229600" cy="932230"/>
          </a:xfrm>
        </p:spPr>
        <p:txBody>
          <a:bodyPr/>
          <a:lstStyle/>
          <a:p>
            <a:r>
              <a:rPr lang="en-US" altLang="en-US" sz="2400" dirty="0">
                <a:ea typeface="ヒラギノ角ゴ Pro W3" pitchFamily="-84" charset="-128"/>
              </a:rPr>
              <a:t>The home country is more efficient in both industries, but has a comparative advantage only in cheese production.</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02A73443-CA39-4CA8-9548-FD5A273A0B93}"/>
              </a:ext>
            </a:extLst>
          </p:cNvPr>
          <p:cNvGraphicFramePr>
            <a:graphicFrameLocks noChangeAspect="1"/>
          </p:cNvGraphicFramePr>
          <p:nvPr>
            <p:extLst>
              <p:ext uri="{D42A27DB-BD31-4B8C-83A1-F6EECF244321}">
                <p14:modId xmlns:p14="http://schemas.microsoft.com/office/powerpoint/2010/main" val="1461846057"/>
              </p:ext>
            </p:extLst>
          </p:nvPr>
        </p:nvGraphicFramePr>
        <p:xfrm>
          <a:off x="3074766" y="2796018"/>
          <a:ext cx="2427288" cy="892175"/>
        </p:xfrm>
        <a:graphic>
          <a:graphicData uri="http://schemas.openxmlformats.org/presentationml/2006/ole">
            <mc:AlternateContent xmlns:mc="http://schemas.openxmlformats.org/markup-compatibility/2006">
              <mc:Choice xmlns:v="urn:schemas-microsoft-com:vml" Requires="v">
                <p:oleObj spid="_x0000_s28682" name="Equation" r:id="rId4" imgW="1244520" imgH="457200" progId="Equation.DSMT4">
                  <p:embed/>
                </p:oleObj>
              </mc:Choice>
              <mc:Fallback>
                <p:oleObj name="Equation" r:id="rId4" imgW="1244520" imgH="457200" progId="Equation.DSMT4">
                  <p:embed/>
                  <p:pic>
                    <p:nvPicPr>
                      <p:cNvPr id="23" name="Object 22">
                        <a:extLst>
                          <a:ext uri="{FF2B5EF4-FFF2-40B4-BE49-F238E27FC236}">
                            <a16:creationId xmlns:a16="http://schemas.microsoft.com/office/drawing/2014/main" id="{63E8BE70-64C1-47D9-AEAA-2C7E9DD783BC}"/>
                          </a:ext>
                        </a:extLst>
                      </p:cNvPr>
                      <p:cNvPicPr/>
                      <p:nvPr/>
                    </p:nvPicPr>
                    <p:blipFill>
                      <a:blip r:embed="rId5"/>
                      <a:stretch>
                        <a:fillRect/>
                      </a:stretch>
                    </p:blipFill>
                    <p:spPr>
                      <a:xfrm>
                        <a:off x="3074766" y="2796018"/>
                        <a:ext cx="2427288" cy="89217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4E15923D-E4EA-4A41-8123-2EA30ABF687E}"/>
              </a:ext>
            </a:extLst>
          </p:cNvPr>
          <p:cNvSpPr>
            <a:spLocks noGrp="1"/>
          </p:cNvSpPr>
          <p:nvPr>
            <p:ph sz="quarter" idx="14"/>
          </p:nvPr>
        </p:nvSpPr>
        <p:spPr>
          <a:xfrm>
            <a:off x="457200" y="3971925"/>
            <a:ext cx="8229600" cy="932231"/>
          </a:xfrm>
        </p:spPr>
        <p:txBody>
          <a:bodyPr/>
          <a:lstStyle/>
          <a:p>
            <a:r>
              <a:rPr lang="en-US" altLang="en-US" sz="2400" dirty="0">
                <a:ea typeface="ヒラギノ角ゴ Pro W3" pitchFamily="-84" charset="-128"/>
              </a:rPr>
              <a:t>The foreign country is less efficient in both industries, but has a comparative advantage in wine production.</a:t>
            </a:r>
            <a:endParaRPr lang="en-US" sz="2400" dirty="0"/>
          </a:p>
        </p:txBody>
      </p:sp>
    </p:spTree>
    <p:extLst>
      <p:ext uri="{BB962C8B-B14F-4D97-AF65-F5344CB8AC3E}">
        <p14:creationId xmlns:p14="http://schemas.microsoft.com/office/powerpoint/2010/main" val="42397604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BD4E-058B-4F50-A056-5CCE50774B1B}"/>
              </a:ext>
            </a:extLst>
          </p:cNvPr>
          <p:cNvSpPr>
            <a:spLocks noGrp="1"/>
          </p:cNvSpPr>
          <p:nvPr>
            <p:ph type="title"/>
          </p:nvPr>
        </p:nvSpPr>
        <p:spPr/>
        <p:txBody>
          <a:bodyPr/>
          <a:lstStyle/>
          <a:p>
            <a:r>
              <a:rPr lang="en-US" altLang="en-US" sz="3600" dirty="0"/>
              <a:t>A Numerical Example </a:t>
            </a:r>
            <a:r>
              <a:rPr lang="en-US" altLang="en-US" sz="2000" b="0" dirty="0"/>
              <a:t>(3 of 5)</a:t>
            </a:r>
            <a:endParaRPr lang="en-IN" dirty="0"/>
          </a:p>
        </p:txBody>
      </p:sp>
      <p:sp>
        <p:nvSpPr>
          <p:cNvPr id="3" name="Content Placeholder 2">
            <a:extLst>
              <a:ext uri="{FF2B5EF4-FFF2-40B4-BE49-F238E27FC236}">
                <a16:creationId xmlns:a16="http://schemas.microsoft.com/office/drawing/2014/main" id="{C7F493C8-3E27-4C4C-8D8E-C7F0C34BA5EB}"/>
              </a:ext>
            </a:extLst>
          </p:cNvPr>
          <p:cNvSpPr>
            <a:spLocks noGrp="1"/>
          </p:cNvSpPr>
          <p:nvPr>
            <p:ph sz="quarter" idx="13"/>
          </p:nvPr>
        </p:nvSpPr>
        <p:spPr>
          <a:xfrm>
            <a:off x="457199" y="1552575"/>
            <a:ext cx="8399417" cy="1444625"/>
          </a:xfrm>
        </p:spPr>
        <p:txBody>
          <a:bodyPr/>
          <a:lstStyle/>
          <a:p>
            <a:r>
              <a:rPr lang="en-US" altLang="en-US" sz="2400" dirty="0">
                <a:ea typeface="ヒラギノ角ゴ Pro W3" pitchFamily="-84" charset="-128"/>
              </a:rPr>
              <a:t>With trade, the equilibrium relative price of cheese to wine settles between the two opportunity costs of cheese.</a:t>
            </a:r>
          </a:p>
          <a:p>
            <a:r>
              <a:rPr lang="en-US" altLang="en-US" sz="2400" dirty="0">
                <a:ea typeface="ヒラギノ角ゴ Pro W3" pitchFamily="-84" charset="-128"/>
              </a:rPr>
              <a:t>Suppose the intersection of R</a:t>
            </a:r>
            <a:r>
              <a:rPr lang="en-US" altLang="en-US" sz="100" dirty="0">
                <a:ea typeface="ヒラギノ角ゴ Pro W3" pitchFamily="-84" charset="-128"/>
              </a:rPr>
              <a:t> </a:t>
            </a:r>
            <a:r>
              <a:rPr lang="en-US" altLang="en-US" sz="2400" dirty="0">
                <a:ea typeface="ヒラギノ角ゴ Pro W3" pitchFamily="-84" charset="-128"/>
              </a:rPr>
              <a:t>S and R</a:t>
            </a:r>
            <a:r>
              <a:rPr lang="en-US" altLang="en-US" sz="100" dirty="0">
                <a:ea typeface="ヒラギノ角ゴ Pro W3" pitchFamily="-84" charset="-128"/>
              </a:rPr>
              <a:t> </a:t>
            </a:r>
            <a:r>
              <a:rPr lang="en-US" altLang="en-US" sz="2400" dirty="0">
                <a:ea typeface="ヒラギノ角ゴ Pro W3" pitchFamily="-84" charset="-128"/>
              </a:rPr>
              <a:t>D occurs at</a:t>
            </a:r>
            <a:endParaRPr lang="en-US" sz="2400" dirty="0"/>
          </a:p>
        </p:txBody>
      </p:sp>
      <p:graphicFrame>
        <p:nvGraphicFramePr>
          <p:cNvPr id="7" name="Object 6" descr="Start fraction P sub C over P sub W end fraction = 1,">
            <a:extLst>
              <a:ext uri="{FF2B5EF4-FFF2-40B4-BE49-F238E27FC236}">
                <a16:creationId xmlns:a16="http://schemas.microsoft.com/office/drawing/2014/main" id="{28BF7250-9250-40BF-898C-A3037F3D21FE}"/>
              </a:ext>
            </a:extLst>
          </p:cNvPr>
          <p:cNvGraphicFramePr>
            <a:graphicFrameLocks noChangeAspect="1"/>
          </p:cNvGraphicFramePr>
          <p:nvPr>
            <p:extLst>
              <p:ext uri="{D42A27DB-BD31-4B8C-83A1-F6EECF244321}">
                <p14:modId xmlns:p14="http://schemas.microsoft.com/office/powerpoint/2010/main" val="2471177864"/>
              </p:ext>
            </p:extLst>
          </p:nvPr>
        </p:nvGraphicFramePr>
        <p:xfrm>
          <a:off x="827088" y="3073558"/>
          <a:ext cx="917575" cy="868362"/>
        </p:xfrm>
        <a:graphic>
          <a:graphicData uri="http://schemas.openxmlformats.org/presentationml/2006/ole">
            <mc:AlternateContent xmlns:mc="http://schemas.openxmlformats.org/markup-compatibility/2006">
              <mc:Choice xmlns:v="urn:schemas-microsoft-com:vml" Requires="v">
                <p:oleObj spid="_x0000_s29706" name="Equation" r:id="rId3" imgW="469800" imgH="444240" progId="Equation.DSMT4">
                  <p:embed/>
                </p:oleObj>
              </mc:Choice>
              <mc:Fallback>
                <p:oleObj name="Equation" r:id="rId3" imgW="469800" imgH="444240" progId="Equation.DSMT4">
                  <p:embed/>
                  <p:pic>
                    <p:nvPicPr>
                      <p:cNvPr id="5" name="Object 4">
                        <a:extLst>
                          <a:ext uri="{FF2B5EF4-FFF2-40B4-BE49-F238E27FC236}">
                            <a16:creationId xmlns:a16="http://schemas.microsoft.com/office/drawing/2014/main" id="{02A73443-CA39-4CA8-9548-FD5A273A0B93}"/>
                          </a:ext>
                        </a:extLst>
                      </p:cNvPr>
                      <p:cNvPicPr/>
                      <p:nvPr/>
                    </p:nvPicPr>
                    <p:blipFill>
                      <a:blip r:embed="rId4"/>
                      <a:stretch>
                        <a:fillRect/>
                      </a:stretch>
                    </p:blipFill>
                    <p:spPr>
                      <a:xfrm>
                        <a:off x="827088" y="3073558"/>
                        <a:ext cx="917575" cy="868362"/>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6147625-E1CF-40F3-B6F7-E80F4B00D230}"/>
              </a:ext>
            </a:extLst>
          </p:cNvPr>
          <p:cNvSpPr>
            <a:spLocks noGrp="1"/>
          </p:cNvSpPr>
          <p:nvPr>
            <p:ph sz="quarter" idx="14"/>
          </p:nvPr>
        </p:nvSpPr>
        <p:spPr>
          <a:xfrm>
            <a:off x="1913198" y="3219974"/>
            <a:ext cx="6695224" cy="559806"/>
          </a:xfrm>
        </p:spPr>
        <p:txBody>
          <a:bodyPr/>
          <a:lstStyle/>
          <a:p>
            <a:pPr marL="0" lvl="1" indent="0">
              <a:buNone/>
            </a:pPr>
            <a:r>
              <a:rPr lang="en-US" altLang="en-US" dirty="0">
                <a:ea typeface="ヒラギノ角ゴ Pro W3" pitchFamily="-84" charset="-128"/>
              </a:rPr>
              <a:t>so one pound of cheese trades for one gallon of</a:t>
            </a:r>
            <a:endParaRPr lang="en-IN" dirty="0"/>
          </a:p>
        </p:txBody>
      </p:sp>
      <p:sp>
        <p:nvSpPr>
          <p:cNvPr id="5" name="Content Placeholder 4">
            <a:extLst>
              <a:ext uri="{FF2B5EF4-FFF2-40B4-BE49-F238E27FC236}">
                <a16:creationId xmlns:a16="http://schemas.microsoft.com/office/drawing/2014/main" id="{CD886E52-E298-46CF-A9AD-F4B2BFE45759}"/>
              </a:ext>
            </a:extLst>
          </p:cNvPr>
          <p:cNvSpPr>
            <a:spLocks noGrp="1"/>
          </p:cNvSpPr>
          <p:nvPr>
            <p:ph sz="quarter" idx="15"/>
          </p:nvPr>
        </p:nvSpPr>
        <p:spPr>
          <a:xfrm>
            <a:off x="509453" y="4044083"/>
            <a:ext cx="1244278" cy="559806"/>
          </a:xfrm>
        </p:spPr>
        <p:txBody>
          <a:bodyPr/>
          <a:lstStyle/>
          <a:p>
            <a:pPr marL="255600" indent="0">
              <a:buNone/>
            </a:pPr>
            <a:r>
              <a:rPr lang="en-US" altLang="en-US" sz="2400" dirty="0">
                <a:ea typeface="ヒラギノ角ゴ Pro W3" pitchFamily="-84" charset="-128"/>
              </a:rPr>
              <a:t>wine.</a:t>
            </a:r>
            <a:endParaRPr lang="en-IN" dirty="0"/>
          </a:p>
        </p:txBody>
      </p:sp>
      <p:sp>
        <p:nvSpPr>
          <p:cNvPr id="6" name="Content Placeholder 5">
            <a:extLst>
              <a:ext uri="{FF2B5EF4-FFF2-40B4-BE49-F238E27FC236}">
                <a16:creationId xmlns:a16="http://schemas.microsoft.com/office/drawing/2014/main" id="{1B9822D8-B135-43A2-B2C9-402B5A3EA53C}"/>
              </a:ext>
            </a:extLst>
          </p:cNvPr>
          <p:cNvSpPr>
            <a:spLocks noGrp="1"/>
          </p:cNvSpPr>
          <p:nvPr>
            <p:ph sz="quarter" idx="16"/>
          </p:nvPr>
        </p:nvSpPr>
        <p:spPr>
          <a:xfrm>
            <a:off x="483773" y="4715864"/>
            <a:ext cx="8255279" cy="897528"/>
          </a:xfrm>
        </p:spPr>
        <p:txBody>
          <a:bodyPr/>
          <a:lstStyle/>
          <a:p>
            <a:r>
              <a:rPr lang="en-US" altLang="en-US" sz="2400" dirty="0">
                <a:ea typeface="ヒラギノ角ゴ Pro W3" pitchFamily="-84" charset="-128"/>
              </a:rPr>
              <a:t>Trade causes the relative price of cheese to rise in the home country and fall in foreign.</a:t>
            </a:r>
            <a:endParaRPr lang="en-US" sz="2400" dirty="0"/>
          </a:p>
        </p:txBody>
      </p:sp>
    </p:spTree>
    <p:extLst>
      <p:ext uri="{BB962C8B-B14F-4D97-AF65-F5344CB8AC3E}">
        <p14:creationId xmlns:p14="http://schemas.microsoft.com/office/powerpoint/2010/main" val="36572785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(4 of 5)</a:t>
            </a:r>
            <a:endParaRPr lang="en-IN" sz="2000" dirty="0">
              <a:latin typeface="+mj-lt"/>
            </a:endParaRPr>
          </a:p>
        </p:txBody>
      </p:sp>
      <p:sp>
        <p:nvSpPr>
          <p:cNvPr id="3" name="Content Placeholder 2"/>
          <p:cNvSpPr>
            <a:spLocks noGrp="1"/>
          </p:cNvSpPr>
          <p:nvPr>
            <p:ph idx="1"/>
          </p:nvPr>
        </p:nvSpPr>
        <p:spPr>
          <a:xfrm>
            <a:off x="457200" y="1600201"/>
            <a:ext cx="7848600" cy="483242"/>
          </a:xfrm>
        </p:spPr>
        <p:txBody>
          <a:bodyPr/>
          <a:lstStyle/>
          <a:p>
            <a:pPr indent="-255600"/>
            <a:r>
              <a:rPr lang="en-US" altLang="en-US" sz="2000" dirty="0">
                <a:latin typeface="+mn-lt"/>
                <a:ea typeface="ヒラギノ角ゴ Pro W3" pitchFamily="-84" charset="-128"/>
              </a:rPr>
              <a:t>With trade, the foreign country can buy one pound of cheese for</a:t>
            </a:r>
            <a:endParaRPr lang="en-US" sz="2000" dirty="0">
              <a:latin typeface="+mn-lt"/>
            </a:endParaRPr>
          </a:p>
        </p:txBody>
      </p:sp>
      <p:graphicFrame>
        <p:nvGraphicFramePr>
          <p:cNvPr id="11" name="Object 10" descr="Start fraction P sub C over P sub W end fraction = one gallon of wine,"/>
          <p:cNvGraphicFramePr>
            <a:graphicFrameLocks noChangeAspect="1"/>
          </p:cNvGraphicFramePr>
          <p:nvPr>
            <p:extLst>
              <p:ext uri="{D42A27DB-BD31-4B8C-83A1-F6EECF244321}">
                <p14:modId xmlns:p14="http://schemas.microsoft.com/office/powerpoint/2010/main" val="3626844465"/>
              </p:ext>
            </p:extLst>
          </p:nvPr>
        </p:nvGraphicFramePr>
        <p:xfrm>
          <a:off x="796332" y="2139888"/>
          <a:ext cx="2720312" cy="715872"/>
        </p:xfrm>
        <a:graphic>
          <a:graphicData uri="http://schemas.openxmlformats.org/presentationml/2006/ole">
            <mc:AlternateContent xmlns:mc="http://schemas.openxmlformats.org/markup-compatibility/2006">
              <mc:Choice xmlns:v="urn:schemas-microsoft-com:vml" Requires="v">
                <p:oleObj spid="_x0000_s30746" name="Equation" r:id="rId3" imgW="1688760" imgH="444240" progId="Equation.DSMT4">
                  <p:embed/>
                </p:oleObj>
              </mc:Choice>
              <mc:Fallback>
                <p:oleObj name="Equation" r:id="rId3" imgW="1688760" imgH="444240" progId="Equation.DSMT4">
                  <p:embed/>
                  <p:pic>
                    <p:nvPicPr>
                      <p:cNvPr id="11" name="Object 10"/>
                      <p:cNvPicPr/>
                      <p:nvPr/>
                    </p:nvPicPr>
                    <p:blipFill>
                      <a:blip r:embed="rId4"/>
                      <a:stretch>
                        <a:fillRect/>
                      </a:stretch>
                    </p:blipFill>
                    <p:spPr>
                      <a:xfrm>
                        <a:off x="796332" y="2139888"/>
                        <a:ext cx="2720312" cy="715872"/>
                      </a:xfrm>
                      <a:prstGeom prst="rect">
                        <a:avLst/>
                      </a:prstGeom>
                    </p:spPr>
                  </p:pic>
                </p:oleObj>
              </mc:Fallback>
            </mc:AlternateContent>
          </a:graphicData>
        </a:graphic>
      </p:graphicFrame>
      <p:sp>
        <p:nvSpPr>
          <p:cNvPr id="4" name="Content Placeholder 3"/>
          <p:cNvSpPr>
            <a:spLocks noGrp="1"/>
          </p:cNvSpPr>
          <p:nvPr>
            <p:ph idx="13"/>
          </p:nvPr>
        </p:nvSpPr>
        <p:spPr>
          <a:xfrm>
            <a:off x="457200" y="2963903"/>
            <a:ext cx="4632960" cy="4923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graphicFrame>
        <p:nvGraphicFramePr>
          <p:cNvPr id="12" name="Object 11" descr="start fraction a to the asterisk power sub start expression L C end expression over a to the asterisk power sub start expression L W end expression end fraction = 2 gallons"/>
          <p:cNvGraphicFramePr>
            <a:graphicFrameLocks noChangeAspect="1"/>
          </p:cNvGraphicFramePr>
          <p:nvPr>
            <p:extLst>
              <p:ext uri="{D42A27DB-BD31-4B8C-83A1-F6EECF244321}">
                <p14:modId xmlns:p14="http://schemas.microsoft.com/office/powerpoint/2010/main" val="3747681222"/>
              </p:ext>
            </p:extLst>
          </p:nvPr>
        </p:nvGraphicFramePr>
        <p:xfrm>
          <a:off x="5184108" y="2851043"/>
          <a:ext cx="1717675" cy="736600"/>
        </p:xfrm>
        <a:graphic>
          <a:graphicData uri="http://schemas.openxmlformats.org/presentationml/2006/ole">
            <mc:AlternateContent xmlns:mc="http://schemas.openxmlformats.org/markup-compatibility/2006">
              <mc:Choice xmlns:v="urn:schemas-microsoft-com:vml" Requires="v">
                <p:oleObj spid="_x0000_s30747" name="Equation" r:id="rId5" imgW="1066680" imgH="457200" progId="Equation.DSMT4">
                  <p:embed/>
                </p:oleObj>
              </mc:Choice>
              <mc:Fallback>
                <p:oleObj name="Equation" r:id="rId5" imgW="1066680" imgH="457200" progId="Equation.DSMT4">
                  <p:embed/>
                  <p:pic>
                    <p:nvPicPr>
                      <p:cNvPr id="12" name="Object 11"/>
                      <p:cNvPicPr/>
                      <p:nvPr/>
                    </p:nvPicPr>
                    <p:blipFill>
                      <a:blip r:embed="rId6"/>
                      <a:stretch>
                        <a:fillRect/>
                      </a:stretch>
                    </p:blipFill>
                    <p:spPr>
                      <a:xfrm>
                        <a:off x="5184108" y="2851043"/>
                        <a:ext cx="1717675" cy="736600"/>
                      </a:xfrm>
                      <a:prstGeom prst="rect">
                        <a:avLst/>
                      </a:prstGeom>
                    </p:spPr>
                  </p:pic>
                </p:oleObj>
              </mc:Fallback>
            </mc:AlternateContent>
          </a:graphicData>
        </a:graphic>
      </p:graphicFrame>
      <p:sp>
        <p:nvSpPr>
          <p:cNvPr id="5" name="Content Placeholder 4"/>
          <p:cNvSpPr>
            <a:spLocks noGrp="1"/>
          </p:cNvSpPr>
          <p:nvPr>
            <p:ph idx="14"/>
          </p:nvPr>
        </p:nvSpPr>
        <p:spPr>
          <a:xfrm>
            <a:off x="457199" y="3666825"/>
            <a:ext cx="8229601" cy="735358"/>
          </a:xfrm>
        </p:spPr>
        <p:txBody>
          <a:bodyPr/>
          <a:lstStyle/>
          <a:p>
            <a:pPr marL="741600" lvl="1" indent="0">
              <a:spcBef>
                <a:spcPts val="1500"/>
              </a:spcBef>
              <a:buNone/>
            </a:pPr>
            <a:r>
              <a:rPr lang="en-US" altLang="en-US" sz="2000" dirty="0">
                <a:latin typeface="+mn-lt"/>
                <a:ea typeface="ヒラギノ角ゴ Pro W3" pitchFamily="-84" charset="-128"/>
              </a:rPr>
              <a:t>of wine to free up enough labor to produce one pound of cheese in the absence</a:t>
            </a:r>
            <a:r>
              <a:rPr lang="en-US" altLang="en-US" sz="2000" dirty="0">
                <a:latin typeface="+mn-lt"/>
              </a:rPr>
              <a:t> </a:t>
            </a:r>
            <a:r>
              <a:rPr lang="en-US" altLang="en-US" sz="2000" dirty="0">
                <a:latin typeface="+mn-lt"/>
                <a:ea typeface="ヒラギノ角ゴ Pro W3" pitchFamily="-84" charset="-128"/>
              </a:rPr>
              <a:t>of trade.</a:t>
            </a:r>
            <a:endParaRPr lang="en-US" sz="2000" dirty="0">
              <a:latin typeface="+mn-lt"/>
            </a:endParaRPr>
          </a:p>
        </p:txBody>
      </p:sp>
      <p:sp>
        <p:nvSpPr>
          <p:cNvPr id="7" name="Content Placeholder 6"/>
          <p:cNvSpPr>
            <a:spLocks noGrp="1"/>
          </p:cNvSpPr>
          <p:nvPr>
            <p:ph idx="16"/>
          </p:nvPr>
        </p:nvSpPr>
        <p:spPr>
          <a:xfrm>
            <a:off x="457200" y="4510955"/>
            <a:ext cx="1969008" cy="437252"/>
          </a:xfrm>
        </p:spPr>
        <p:txBody>
          <a:bodyPr/>
          <a:lstStyle/>
          <a:p>
            <a:pPr lvl="1" indent="-284400"/>
            <a:r>
              <a:rPr lang="en-US" altLang="en-US" sz="2000" dirty="0">
                <a:latin typeface="+mn-lt"/>
                <a:ea typeface="ヒラギノ角ゴ Pro W3" pitchFamily="-84" charset="-128"/>
              </a:rPr>
              <a:t>Suppose</a:t>
            </a:r>
            <a:endParaRPr lang="en-IN" sz="2000" dirty="0">
              <a:latin typeface="+mn-lt"/>
            </a:endParaRPr>
          </a:p>
        </p:txBody>
      </p:sp>
      <p:graphicFrame>
        <p:nvGraphicFramePr>
          <p:cNvPr id="13" name="Object 12" descr="L to the asterisk power = 3,000."/>
          <p:cNvGraphicFramePr>
            <a:graphicFrameLocks noChangeAspect="1"/>
          </p:cNvGraphicFramePr>
          <p:nvPr>
            <p:extLst>
              <p:ext uri="{D42A27DB-BD31-4B8C-83A1-F6EECF244321}">
                <p14:modId xmlns:p14="http://schemas.microsoft.com/office/powerpoint/2010/main" val="4116757815"/>
              </p:ext>
            </p:extLst>
          </p:nvPr>
        </p:nvGraphicFramePr>
        <p:xfrm>
          <a:off x="2554625" y="4614334"/>
          <a:ext cx="1097050" cy="316099"/>
        </p:xfrm>
        <a:graphic>
          <a:graphicData uri="http://schemas.openxmlformats.org/presentationml/2006/ole">
            <mc:AlternateContent xmlns:mc="http://schemas.openxmlformats.org/markup-compatibility/2006">
              <mc:Choice xmlns:v="urn:schemas-microsoft-com:vml" Requires="v">
                <p:oleObj spid="_x0000_s30748" name="Equation" r:id="rId7" imgW="749160" imgH="215640" progId="Equation.DSMT4">
                  <p:embed/>
                </p:oleObj>
              </mc:Choice>
              <mc:Fallback>
                <p:oleObj name="Equation" r:id="rId7" imgW="749160" imgH="215640" progId="Equation.DSMT4">
                  <p:embed/>
                  <p:pic>
                    <p:nvPicPr>
                      <p:cNvPr id="13" name="Object 12"/>
                      <p:cNvPicPr/>
                      <p:nvPr/>
                    </p:nvPicPr>
                    <p:blipFill>
                      <a:blip r:embed="rId8"/>
                      <a:stretch>
                        <a:fillRect/>
                      </a:stretch>
                    </p:blipFill>
                    <p:spPr>
                      <a:xfrm>
                        <a:off x="2554625" y="4614334"/>
                        <a:ext cx="1097050" cy="316099"/>
                      </a:xfrm>
                      <a:prstGeom prst="rect">
                        <a:avLst/>
                      </a:prstGeom>
                    </p:spPr>
                  </p:pic>
                </p:oleObj>
              </mc:Fallback>
            </mc:AlternateContent>
          </a:graphicData>
        </a:graphic>
      </p:graphicFrame>
      <p:sp>
        <p:nvSpPr>
          <p:cNvPr id="8" name="Content Placeholder 7"/>
          <p:cNvSpPr>
            <a:spLocks noGrp="1"/>
          </p:cNvSpPr>
          <p:nvPr>
            <p:ph sz="quarter" idx="17"/>
          </p:nvPr>
        </p:nvSpPr>
        <p:spPr>
          <a:xfrm>
            <a:off x="3780092" y="4536355"/>
            <a:ext cx="4665408" cy="426805"/>
          </a:xfrm>
        </p:spPr>
        <p:txBody>
          <a:bodyPr/>
          <a:lstStyle/>
          <a:p>
            <a:pPr marL="0" lvl="1" indent="0">
              <a:buNone/>
            </a:pPr>
            <a:r>
              <a:rPr lang="en-US" altLang="en-US" sz="2000" dirty="0">
                <a:latin typeface="+mn-lt"/>
                <a:ea typeface="ヒラギノ角ゴ Pro W3" pitchFamily="-84" charset="-128"/>
              </a:rPr>
              <a:t>The foreign country can trade its 1,000</a:t>
            </a:r>
            <a:endParaRPr lang="en-IN" sz="2000" dirty="0">
              <a:latin typeface="+mn-lt"/>
            </a:endParaRPr>
          </a:p>
        </p:txBody>
      </p:sp>
      <p:sp>
        <p:nvSpPr>
          <p:cNvPr id="9" name="Content Placeholder 8"/>
          <p:cNvSpPr>
            <a:spLocks noGrp="1"/>
          </p:cNvSpPr>
          <p:nvPr>
            <p:ph sz="quarter" idx="18"/>
          </p:nvPr>
        </p:nvSpPr>
        <p:spPr>
          <a:xfrm>
            <a:off x="457199" y="5037301"/>
            <a:ext cx="8325557" cy="778216"/>
          </a:xfrm>
        </p:spPr>
        <p:txBody>
          <a:bodyPr/>
          <a:lstStyle/>
          <a:p>
            <a:pPr marL="741600" lvl="1" indent="6350">
              <a:buNone/>
            </a:pPr>
            <a:r>
              <a:rPr lang="en-US" altLang="en-US" sz="2000" dirty="0">
                <a:latin typeface="+mn-lt"/>
                <a:ea typeface="ヒラギノ角ゴ Pro W3" pitchFamily="-84" charset="-128"/>
              </a:rPr>
              <a:t>gallons maximum production of wine for 1,000 pounds of cheese, instead of the 500 pounds of cheese it could produce itself.</a:t>
            </a:r>
            <a:endParaRPr lang="en-US" sz="2000" dirty="0">
              <a:latin typeface="+mn-lt"/>
            </a:endParaRPr>
          </a:p>
        </p:txBody>
      </p:sp>
    </p:spTree>
    <p:extLst>
      <p:ext uri="{BB962C8B-B14F-4D97-AF65-F5344CB8AC3E}">
        <p14:creationId xmlns:p14="http://schemas.microsoft.com/office/powerpoint/2010/main" val="2746029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(5 of 5)</a:t>
            </a:r>
            <a:endParaRPr lang="en-IN" sz="2000" dirty="0">
              <a:latin typeface="+mj-lt"/>
            </a:endParaRPr>
          </a:p>
        </p:txBody>
      </p:sp>
      <p:sp>
        <p:nvSpPr>
          <p:cNvPr id="3" name="Content Placeholder 2"/>
          <p:cNvSpPr>
            <a:spLocks noGrp="1"/>
          </p:cNvSpPr>
          <p:nvPr>
            <p:ph idx="1"/>
          </p:nvPr>
        </p:nvSpPr>
        <p:spPr>
          <a:xfrm>
            <a:off x="457200" y="1614669"/>
            <a:ext cx="7953022" cy="552798"/>
          </a:xfrm>
        </p:spPr>
        <p:txBody>
          <a:bodyPr tIns="0"/>
          <a:lstStyle/>
          <a:p>
            <a:pPr indent="-255600">
              <a:lnSpc>
                <a:spcPct val="150000"/>
              </a:lnSpc>
            </a:pPr>
            <a:r>
              <a:rPr lang="en-US" altLang="en-US" sz="2000" dirty="0">
                <a:latin typeface="+mn-lt"/>
                <a:ea typeface="ヒラギノ角ゴ Pro W3" pitchFamily="-84" charset="-128"/>
              </a:rPr>
              <a:t>With trade, the home country can buy one gallon of wine for</a:t>
            </a:r>
            <a:endParaRPr lang="en-US" sz="2000" dirty="0">
              <a:latin typeface="+mn-lt"/>
            </a:endParaRPr>
          </a:p>
        </p:txBody>
      </p:sp>
      <p:graphicFrame>
        <p:nvGraphicFramePr>
          <p:cNvPr id="11" name="Object 10" descr="Start fraction P sub C over P sub W end fraction = one gallon of cheese,"/>
          <p:cNvGraphicFramePr>
            <a:graphicFrameLocks noChangeAspect="1"/>
          </p:cNvGraphicFramePr>
          <p:nvPr>
            <p:extLst>
              <p:ext uri="{D42A27DB-BD31-4B8C-83A1-F6EECF244321}">
                <p14:modId xmlns:p14="http://schemas.microsoft.com/office/powerpoint/2010/main" val="2421208375"/>
              </p:ext>
            </p:extLst>
          </p:nvPr>
        </p:nvGraphicFramePr>
        <p:xfrm>
          <a:off x="827088" y="2262779"/>
          <a:ext cx="3046413" cy="715962"/>
        </p:xfrm>
        <a:graphic>
          <a:graphicData uri="http://schemas.openxmlformats.org/presentationml/2006/ole">
            <mc:AlternateContent xmlns:mc="http://schemas.openxmlformats.org/markup-compatibility/2006">
              <mc:Choice xmlns:v="urn:schemas-microsoft-com:vml" Requires="v">
                <p:oleObj spid="_x0000_s31762" name="Equation" r:id="rId3" imgW="1892160" imgH="444240" progId="Equation.DSMT4">
                  <p:embed/>
                </p:oleObj>
              </mc:Choice>
              <mc:Fallback>
                <p:oleObj name="Equation" r:id="rId3" imgW="1892160" imgH="444240" progId="Equation.DSMT4">
                  <p:embed/>
                  <p:pic>
                    <p:nvPicPr>
                      <p:cNvPr id="11" name="Object 10"/>
                      <p:cNvPicPr/>
                      <p:nvPr/>
                    </p:nvPicPr>
                    <p:blipFill>
                      <a:blip r:embed="rId4"/>
                      <a:stretch>
                        <a:fillRect/>
                      </a:stretch>
                    </p:blipFill>
                    <p:spPr>
                      <a:xfrm>
                        <a:off x="827088" y="2262779"/>
                        <a:ext cx="3046413" cy="715962"/>
                      </a:xfrm>
                      <a:prstGeom prst="rect">
                        <a:avLst/>
                      </a:prstGeom>
                    </p:spPr>
                  </p:pic>
                </p:oleObj>
              </mc:Fallback>
            </mc:AlternateContent>
          </a:graphicData>
        </a:graphic>
      </p:graphicFrame>
      <p:sp>
        <p:nvSpPr>
          <p:cNvPr id="4" name="Content Placeholder 3"/>
          <p:cNvSpPr>
            <a:spLocks noGrp="1"/>
          </p:cNvSpPr>
          <p:nvPr>
            <p:ph idx="13"/>
          </p:nvPr>
        </p:nvSpPr>
        <p:spPr>
          <a:xfrm>
            <a:off x="457200" y="3081470"/>
            <a:ext cx="4634090" cy="4832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graphicFrame>
        <p:nvGraphicFramePr>
          <p:cNvPr id="12" name="Object 11" descr="start fraction a sub start expression L C end expression over a sub start expression L W end expression end fraction = 2 pounds"/>
          <p:cNvGraphicFramePr>
            <a:graphicFrameLocks noChangeAspect="1"/>
          </p:cNvGraphicFramePr>
          <p:nvPr>
            <p:extLst>
              <p:ext uri="{D42A27DB-BD31-4B8C-83A1-F6EECF244321}">
                <p14:modId xmlns:p14="http://schemas.microsoft.com/office/powerpoint/2010/main" val="3749757617"/>
              </p:ext>
            </p:extLst>
          </p:nvPr>
        </p:nvGraphicFramePr>
        <p:xfrm>
          <a:off x="5188841" y="3002377"/>
          <a:ext cx="1738312" cy="695325"/>
        </p:xfrm>
        <a:graphic>
          <a:graphicData uri="http://schemas.openxmlformats.org/presentationml/2006/ole">
            <mc:AlternateContent xmlns:mc="http://schemas.openxmlformats.org/markup-compatibility/2006">
              <mc:Choice xmlns:v="urn:schemas-microsoft-com:vml" Requires="v">
                <p:oleObj spid="_x0000_s31763" name="Equation" r:id="rId5" imgW="1079280" imgH="431640" progId="Equation.DSMT4">
                  <p:embed/>
                </p:oleObj>
              </mc:Choice>
              <mc:Fallback>
                <p:oleObj name="Equation" r:id="rId5" imgW="1079280" imgH="431640" progId="Equation.DSMT4">
                  <p:embed/>
                  <p:pic>
                    <p:nvPicPr>
                      <p:cNvPr id="12" name="Object 11"/>
                      <p:cNvPicPr/>
                      <p:nvPr/>
                    </p:nvPicPr>
                    <p:blipFill>
                      <a:blip r:embed="rId6"/>
                      <a:stretch>
                        <a:fillRect/>
                      </a:stretch>
                    </p:blipFill>
                    <p:spPr>
                      <a:xfrm>
                        <a:off x="5188841" y="3002377"/>
                        <a:ext cx="1738312" cy="695325"/>
                      </a:xfrm>
                      <a:prstGeom prst="rect">
                        <a:avLst/>
                      </a:prstGeom>
                    </p:spPr>
                  </p:pic>
                </p:oleObj>
              </mc:Fallback>
            </mc:AlternateContent>
          </a:graphicData>
        </a:graphic>
      </p:graphicFrame>
      <p:sp>
        <p:nvSpPr>
          <p:cNvPr id="5" name="Content Placeholder 4"/>
          <p:cNvSpPr>
            <a:spLocks noGrp="1"/>
          </p:cNvSpPr>
          <p:nvPr>
            <p:ph idx="14"/>
          </p:nvPr>
        </p:nvSpPr>
        <p:spPr>
          <a:xfrm>
            <a:off x="457200" y="3762958"/>
            <a:ext cx="8085971" cy="832204"/>
          </a:xfrm>
        </p:spPr>
        <p:txBody>
          <a:bodyPr/>
          <a:lstStyle/>
          <a:p>
            <a:pPr marL="741600" lvl="1" indent="0">
              <a:buNone/>
            </a:pPr>
            <a:r>
              <a:rPr lang="en-US" altLang="en-US" sz="2000" dirty="0">
                <a:latin typeface="+mn-lt"/>
                <a:ea typeface="ヒラギノ角ゴ Pro W3" pitchFamily="-84" charset="-128"/>
              </a:rPr>
              <a:t>of cheese to free up enough labor to produce one gallon of wine in the absence of trade.</a:t>
            </a:r>
            <a:endParaRPr lang="en-US" sz="2000" dirty="0">
              <a:latin typeface="+mn-lt"/>
            </a:endParaRPr>
          </a:p>
        </p:txBody>
      </p:sp>
      <p:sp>
        <p:nvSpPr>
          <p:cNvPr id="16" name="Content Placeholder 15">
            <a:extLst>
              <a:ext uri="{FF2B5EF4-FFF2-40B4-BE49-F238E27FC236}">
                <a16:creationId xmlns:a16="http://schemas.microsoft.com/office/drawing/2014/main" id="{0FBF5AA7-279F-4DBC-A217-D225313AE0D1}"/>
              </a:ext>
            </a:extLst>
          </p:cNvPr>
          <p:cNvSpPr>
            <a:spLocks noGrp="1"/>
          </p:cNvSpPr>
          <p:nvPr>
            <p:ph idx="16"/>
          </p:nvPr>
        </p:nvSpPr>
        <p:spPr>
          <a:xfrm>
            <a:off x="457200" y="4689575"/>
            <a:ext cx="8229600" cy="1207007"/>
          </a:xfrm>
        </p:spPr>
        <p:txBody>
          <a:bodyPr/>
          <a:lstStyle/>
          <a:p>
            <a:pPr indent="-255600"/>
            <a:r>
              <a:rPr lang="en-US" altLang="en-US" sz="2000" dirty="0">
                <a:latin typeface="+mn-lt"/>
                <a:ea typeface="ヒラギノ角ゴ Pro W3" pitchFamily="-84" charset="-128"/>
              </a:rPr>
              <a:t>The home country can trade its 1,000 pounds maximum production of cheese for 1,000 gallons of wine, instead of the 500 gallons of wine it could produce itself.</a:t>
            </a:r>
            <a:endParaRPr lang="en-US" sz="2000" dirty="0">
              <a:latin typeface="+mn-lt"/>
            </a:endParaRPr>
          </a:p>
        </p:txBody>
      </p:sp>
    </p:spTree>
    <p:extLst>
      <p:ext uri="{BB962C8B-B14F-4D97-AF65-F5344CB8AC3E}">
        <p14:creationId xmlns:p14="http://schemas.microsoft.com/office/powerpoint/2010/main" val="16086772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1978-190B-44B8-BD63-52E3E6413CB7}"/>
              </a:ext>
            </a:extLst>
          </p:cNvPr>
          <p:cNvSpPr>
            <a:spLocks noGrp="1"/>
          </p:cNvSpPr>
          <p:nvPr>
            <p:ph type="title"/>
          </p:nvPr>
        </p:nvSpPr>
        <p:spPr/>
        <p:txBody>
          <a:bodyPr/>
          <a:lstStyle/>
          <a:p>
            <a:r>
              <a:rPr lang="en-US" altLang="en-US" sz="3600" dirty="0">
                <a:ea typeface="ヒラギノ角ゴ Pro W3" pitchFamily="-84" charset="-128"/>
              </a:rPr>
              <a:t>Relative Wages </a:t>
            </a:r>
            <a:r>
              <a:rPr lang="en-US" altLang="en-US" sz="2000" b="0" dirty="0">
                <a:ea typeface="ヒラギノ角ゴ Pro W3" pitchFamily="-84" charset="-128"/>
              </a:rPr>
              <a:t>(1 of 5)</a:t>
            </a:r>
            <a:endParaRPr lang="en-IN" dirty="0"/>
          </a:p>
        </p:txBody>
      </p:sp>
      <p:sp>
        <p:nvSpPr>
          <p:cNvPr id="3" name="Content Placeholder 2">
            <a:extLst>
              <a:ext uri="{FF2B5EF4-FFF2-40B4-BE49-F238E27FC236}">
                <a16:creationId xmlns:a16="http://schemas.microsoft.com/office/drawing/2014/main" id="{CDCA56F2-336A-43EF-90C9-366F468972A4}"/>
              </a:ext>
            </a:extLst>
          </p:cNvPr>
          <p:cNvSpPr>
            <a:spLocks noGrp="1"/>
          </p:cNvSpPr>
          <p:nvPr>
            <p:ph sz="quarter" idx="13"/>
          </p:nvPr>
        </p:nvSpPr>
        <p:spPr/>
        <p:txBody>
          <a:bodyPr/>
          <a:lstStyle/>
          <a:p>
            <a:r>
              <a:rPr lang="en-US" altLang="en-US" sz="2200" b="1" dirty="0">
                <a:ea typeface="ヒラギノ角ゴ Pro W3" pitchFamily="-84" charset="-128"/>
              </a:rPr>
              <a:t>Relative wages</a:t>
            </a:r>
            <a:r>
              <a:rPr lang="en-US" altLang="en-US" sz="2200" dirty="0">
                <a:ea typeface="ヒラギノ角ゴ Pro W3" pitchFamily="-84" charset="-128"/>
              </a:rPr>
              <a:t> are the wages of the home country relative to the wages in the foreign country.</a:t>
            </a:r>
          </a:p>
          <a:p>
            <a:r>
              <a:rPr lang="en-US" altLang="en-US" sz="2200" dirty="0">
                <a:ea typeface="ヒラギノ角ゴ Pro W3" pitchFamily="-84" charset="-128"/>
              </a:rPr>
              <a:t>Productivity (technological) differences determine relative wage differences across countries.</a:t>
            </a:r>
          </a:p>
          <a:p>
            <a:r>
              <a:rPr lang="en-US" altLang="en-US" sz="2200" dirty="0">
                <a:ea typeface="ヒラギノ角ゴ Pro W3" pitchFamily="-84" charset="-128"/>
              </a:rPr>
              <a:t>The home wage relative to the foreign wage will settle in between the ratio of how much better Home is at making cheese, and how much better it is at making wine compared to Foreign.</a:t>
            </a:r>
          </a:p>
          <a:p>
            <a:r>
              <a:rPr lang="en-US" altLang="en-US" sz="2200" dirty="0">
                <a:ea typeface="ヒラギノ角ゴ Pro W3" pitchFamily="-84" charset="-128"/>
              </a:rPr>
              <a:t>Relative wages cause Home to have a cost advantage in only cheese, and Foreign to have a cost advantage in only wine.</a:t>
            </a:r>
            <a:endParaRPr lang="en-US" sz="2200" dirty="0"/>
          </a:p>
        </p:txBody>
      </p:sp>
    </p:spTree>
    <p:extLst>
      <p:ext uri="{BB962C8B-B14F-4D97-AF65-F5344CB8AC3E}">
        <p14:creationId xmlns:p14="http://schemas.microsoft.com/office/powerpoint/2010/main" val="780883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n-lt"/>
                <a:ea typeface="ヒラギノ角ゴ Pro W3" pitchFamily="-84" charset="-128"/>
              </a:rPr>
              <a:t>Relative Wages </a:t>
            </a:r>
            <a:r>
              <a:rPr lang="en-US" altLang="en-US" sz="2000" b="0" dirty="0">
                <a:latin typeface="+mn-lt"/>
                <a:ea typeface="ヒラギノ角ゴ Pro W3" pitchFamily="-84" charset="-128"/>
              </a:rPr>
              <a:t>(2 of 5)</a:t>
            </a:r>
            <a:endParaRPr lang="en-IN" sz="2000" dirty="0">
              <a:latin typeface="+mn-lt"/>
            </a:endParaRPr>
          </a:p>
        </p:txBody>
      </p:sp>
      <p:sp>
        <p:nvSpPr>
          <p:cNvPr id="3" name="Content Placeholder 2"/>
          <p:cNvSpPr>
            <a:spLocks noGrp="1"/>
          </p:cNvSpPr>
          <p:nvPr>
            <p:ph idx="1"/>
          </p:nvPr>
        </p:nvSpPr>
        <p:spPr>
          <a:xfrm>
            <a:off x="457199" y="1600201"/>
            <a:ext cx="1958623" cy="450668"/>
          </a:xfrm>
        </p:spPr>
        <p:txBody>
          <a:bodyPr/>
          <a:lstStyle/>
          <a:p>
            <a:pPr indent="-255600"/>
            <a:r>
              <a:rPr lang="en-US" altLang="en-US" sz="2000" dirty="0">
                <a:latin typeface="+mn-lt"/>
                <a:ea typeface="ヒラギノ角ゴ Pro W3" pitchFamily="-84" charset="-128"/>
              </a:rPr>
              <a:t>Suppose that</a:t>
            </a:r>
            <a:endParaRPr lang="en-IN" sz="2000" dirty="0">
              <a:latin typeface="+mn-lt"/>
            </a:endParaRPr>
          </a:p>
        </p:txBody>
      </p:sp>
      <p:graphicFrame>
        <p:nvGraphicFramePr>
          <p:cNvPr id="11" name="Object 10" descr="P sub C = $12 per pound, and P sub W = $12 per gallon. "/>
          <p:cNvGraphicFramePr>
            <a:graphicFrameLocks noChangeAspect="1"/>
          </p:cNvGraphicFramePr>
          <p:nvPr>
            <p:extLst>
              <p:ext uri="{D42A27DB-BD31-4B8C-83A1-F6EECF244321}">
                <p14:modId xmlns:p14="http://schemas.microsoft.com/office/powerpoint/2010/main" val="3623397450"/>
              </p:ext>
            </p:extLst>
          </p:nvPr>
        </p:nvGraphicFramePr>
        <p:xfrm>
          <a:off x="2525553" y="1688092"/>
          <a:ext cx="4356591" cy="368163"/>
        </p:xfrm>
        <a:graphic>
          <a:graphicData uri="http://schemas.openxmlformats.org/presentationml/2006/ole">
            <mc:AlternateContent xmlns:mc="http://schemas.openxmlformats.org/markup-compatibility/2006">
              <mc:Choice xmlns:v="urn:schemas-microsoft-com:vml" Requires="v">
                <p:oleObj spid="_x0000_s32802" name="Equation" r:id="rId3" imgW="2705040" imgH="228600" progId="Equation.DSMT4">
                  <p:embed/>
                </p:oleObj>
              </mc:Choice>
              <mc:Fallback>
                <p:oleObj name="Equation" r:id="rId3" imgW="2705040" imgH="228600" progId="Equation.DSMT4">
                  <p:embed/>
                  <p:pic>
                    <p:nvPicPr>
                      <p:cNvPr id="11" name="Object 10"/>
                      <p:cNvPicPr/>
                      <p:nvPr/>
                    </p:nvPicPr>
                    <p:blipFill>
                      <a:blip r:embed="rId4"/>
                      <a:stretch>
                        <a:fillRect/>
                      </a:stretch>
                    </p:blipFill>
                    <p:spPr>
                      <a:xfrm>
                        <a:off x="2525553" y="1688092"/>
                        <a:ext cx="4356591" cy="368163"/>
                      </a:xfrm>
                      <a:prstGeom prst="rect">
                        <a:avLst/>
                      </a:prstGeom>
                    </p:spPr>
                  </p:pic>
                </p:oleObj>
              </mc:Fallback>
            </mc:AlternateContent>
          </a:graphicData>
        </a:graphic>
      </p:graphicFrame>
      <p:sp>
        <p:nvSpPr>
          <p:cNvPr id="4" name="Content Placeholder 3"/>
          <p:cNvSpPr>
            <a:spLocks noGrp="1"/>
          </p:cNvSpPr>
          <p:nvPr>
            <p:ph idx="13"/>
          </p:nvPr>
        </p:nvSpPr>
        <p:spPr>
          <a:xfrm>
            <a:off x="457200" y="2133600"/>
            <a:ext cx="8229600" cy="814262"/>
          </a:xfrm>
        </p:spPr>
        <p:txBody>
          <a:bodyPr/>
          <a:lstStyle/>
          <a:p>
            <a:pPr indent="-255600"/>
            <a:r>
              <a:rPr lang="en-US" altLang="en-US" sz="2000" dirty="0">
                <a:latin typeface="+mn-lt"/>
                <a:ea typeface="ヒラギノ角ゴ Pro W3" pitchFamily="-84" charset="-128"/>
              </a:rPr>
              <a:t>Since domestic workers specialize in cheese production after trade, their hourly wages will be</a:t>
            </a:r>
            <a:endParaRPr lang="en-US" sz="2000" dirty="0">
              <a:latin typeface="+mn-lt"/>
            </a:endParaRPr>
          </a:p>
        </p:txBody>
      </p:sp>
      <p:graphicFrame>
        <p:nvGraphicFramePr>
          <p:cNvPr id="12" name="Object 11" descr="Start fraction P sub C over a sub start expression L C end expression end fraction = start fraction $12 over 1 end fraction = $12."/>
          <p:cNvGraphicFramePr>
            <a:graphicFrameLocks noChangeAspect="1"/>
          </p:cNvGraphicFramePr>
          <p:nvPr>
            <p:extLst>
              <p:ext uri="{D42A27DB-BD31-4B8C-83A1-F6EECF244321}">
                <p14:modId xmlns:p14="http://schemas.microsoft.com/office/powerpoint/2010/main" val="1838017562"/>
              </p:ext>
            </p:extLst>
          </p:nvPr>
        </p:nvGraphicFramePr>
        <p:xfrm>
          <a:off x="3996073" y="3022047"/>
          <a:ext cx="1710654" cy="650793"/>
        </p:xfrm>
        <a:graphic>
          <a:graphicData uri="http://schemas.openxmlformats.org/presentationml/2006/ole">
            <mc:AlternateContent xmlns:mc="http://schemas.openxmlformats.org/markup-compatibility/2006">
              <mc:Choice xmlns:v="urn:schemas-microsoft-com:vml" Requires="v">
                <p:oleObj spid="_x0000_s32803" name="Equation" r:id="rId5" imgW="1168200" imgH="444240" progId="Equation.DSMT4">
                  <p:embed/>
                </p:oleObj>
              </mc:Choice>
              <mc:Fallback>
                <p:oleObj name="Equation" r:id="rId5" imgW="1168200" imgH="444240" progId="Equation.DSMT4">
                  <p:embed/>
                  <p:pic>
                    <p:nvPicPr>
                      <p:cNvPr id="12" name="Object 11"/>
                      <p:cNvPicPr/>
                      <p:nvPr/>
                    </p:nvPicPr>
                    <p:blipFill>
                      <a:blip r:embed="rId6"/>
                      <a:stretch>
                        <a:fillRect/>
                      </a:stretch>
                    </p:blipFill>
                    <p:spPr>
                      <a:xfrm>
                        <a:off x="3996073" y="3022047"/>
                        <a:ext cx="1710654" cy="650793"/>
                      </a:xfrm>
                      <a:prstGeom prst="rect">
                        <a:avLst/>
                      </a:prstGeom>
                    </p:spPr>
                  </p:pic>
                </p:oleObj>
              </mc:Fallback>
            </mc:AlternateContent>
          </a:graphicData>
        </a:graphic>
      </p:graphicFrame>
      <p:sp>
        <p:nvSpPr>
          <p:cNvPr id="5" name="Content Placeholder 4"/>
          <p:cNvSpPr>
            <a:spLocks noGrp="1"/>
          </p:cNvSpPr>
          <p:nvPr>
            <p:ph idx="14"/>
          </p:nvPr>
        </p:nvSpPr>
        <p:spPr>
          <a:xfrm>
            <a:off x="457200" y="3762295"/>
            <a:ext cx="8229600" cy="757489"/>
          </a:xfrm>
        </p:spPr>
        <p:txBody>
          <a:bodyPr/>
          <a:lstStyle/>
          <a:p>
            <a:pPr indent="-255600"/>
            <a:r>
              <a:rPr lang="en-US" altLang="en-US" sz="2000" dirty="0">
                <a:latin typeface="+mn-lt"/>
                <a:ea typeface="ヒラギノ角ゴ Pro W3" pitchFamily="-84" charset="-128"/>
              </a:rPr>
              <a:t>Since foreign workers specialize in wine production after trade, their hourly wages will be</a:t>
            </a:r>
            <a:endParaRPr lang="en-US" sz="2000" dirty="0">
              <a:latin typeface="+mn-lt"/>
            </a:endParaRPr>
          </a:p>
        </p:txBody>
      </p:sp>
      <p:graphicFrame>
        <p:nvGraphicFramePr>
          <p:cNvPr id="13" name="Object 12" descr="Start fraction P sub W over a to the asterisk power sub start expression L W end expression end fraction = start fraction $12 over 3 end fraction = $4."/>
          <p:cNvGraphicFramePr>
            <a:graphicFrameLocks noChangeAspect="1"/>
          </p:cNvGraphicFramePr>
          <p:nvPr>
            <p:extLst>
              <p:ext uri="{D42A27DB-BD31-4B8C-83A1-F6EECF244321}">
                <p14:modId xmlns:p14="http://schemas.microsoft.com/office/powerpoint/2010/main" val="3751159679"/>
              </p:ext>
            </p:extLst>
          </p:nvPr>
        </p:nvGraphicFramePr>
        <p:xfrm>
          <a:off x="3996073" y="4638317"/>
          <a:ext cx="1636713" cy="650875"/>
        </p:xfrm>
        <a:graphic>
          <a:graphicData uri="http://schemas.openxmlformats.org/presentationml/2006/ole">
            <mc:AlternateContent xmlns:mc="http://schemas.openxmlformats.org/markup-compatibility/2006">
              <mc:Choice xmlns:v="urn:schemas-microsoft-com:vml" Requires="v">
                <p:oleObj spid="_x0000_s32804" name="Equation" r:id="rId7" imgW="1117440" imgH="444240" progId="Equation.DSMT4">
                  <p:embed/>
                </p:oleObj>
              </mc:Choice>
              <mc:Fallback>
                <p:oleObj name="Equation" r:id="rId7" imgW="1117440" imgH="444240" progId="Equation.DSMT4">
                  <p:embed/>
                  <p:pic>
                    <p:nvPicPr>
                      <p:cNvPr id="13" name="Object 12"/>
                      <p:cNvPicPr/>
                      <p:nvPr/>
                    </p:nvPicPr>
                    <p:blipFill>
                      <a:blip r:embed="rId8"/>
                      <a:stretch>
                        <a:fillRect/>
                      </a:stretch>
                    </p:blipFill>
                    <p:spPr>
                      <a:xfrm>
                        <a:off x="3996073" y="4638317"/>
                        <a:ext cx="1636713" cy="650875"/>
                      </a:xfrm>
                      <a:prstGeom prst="rect">
                        <a:avLst/>
                      </a:prstGeom>
                    </p:spPr>
                  </p:pic>
                </p:oleObj>
              </mc:Fallback>
            </mc:AlternateContent>
          </a:graphicData>
        </a:graphic>
      </p:graphicFrame>
      <p:sp>
        <p:nvSpPr>
          <p:cNvPr id="6" name="Content Placeholder 5"/>
          <p:cNvSpPr>
            <a:spLocks noGrp="1"/>
          </p:cNvSpPr>
          <p:nvPr>
            <p:ph idx="15"/>
          </p:nvPr>
        </p:nvSpPr>
        <p:spPr>
          <a:xfrm>
            <a:off x="457201" y="5427483"/>
            <a:ext cx="6209818" cy="445227"/>
          </a:xfrm>
        </p:spPr>
        <p:txBody>
          <a:bodyPr/>
          <a:lstStyle/>
          <a:p>
            <a:pPr indent="-255600"/>
            <a:r>
              <a:rPr lang="en-US" altLang="en-US" sz="2000" dirty="0">
                <a:latin typeface="+mn-lt"/>
                <a:ea typeface="ヒラギノ角ゴ Pro W3" pitchFamily="-84" charset="-128"/>
              </a:rPr>
              <a:t>The relative wage of domestic workers is therefore</a:t>
            </a:r>
            <a:endParaRPr lang="en-US" sz="2000" dirty="0">
              <a:latin typeface="+mn-lt"/>
            </a:endParaRPr>
          </a:p>
        </p:txBody>
      </p:sp>
      <p:graphicFrame>
        <p:nvGraphicFramePr>
          <p:cNvPr id="14" name="Object 13" descr="Start fraction$12 over $4 end fraction = 3."/>
          <p:cNvGraphicFramePr>
            <a:graphicFrameLocks noChangeAspect="1"/>
          </p:cNvGraphicFramePr>
          <p:nvPr>
            <p:extLst>
              <p:ext uri="{D42A27DB-BD31-4B8C-83A1-F6EECF244321}">
                <p14:modId xmlns:p14="http://schemas.microsoft.com/office/powerpoint/2010/main" val="1035569767"/>
              </p:ext>
            </p:extLst>
          </p:nvPr>
        </p:nvGraphicFramePr>
        <p:xfrm>
          <a:off x="6833549" y="5352591"/>
          <a:ext cx="873921" cy="595010"/>
        </p:xfrm>
        <a:graphic>
          <a:graphicData uri="http://schemas.openxmlformats.org/presentationml/2006/ole">
            <mc:AlternateContent xmlns:mc="http://schemas.openxmlformats.org/markup-compatibility/2006">
              <mc:Choice xmlns:v="urn:schemas-microsoft-com:vml" Requires="v">
                <p:oleObj spid="_x0000_s32805" name="Equation" r:id="rId9" imgW="596880" imgH="406080" progId="Equation.DSMT4">
                  <p:embed/>
                </p:oleObj>
              </mc:Choice>
              <mc:Fallback>
                <p:oleObj name="Equation" r:id="rId9" imgW="596880" imgH="406080" progId="Equation.DSMT4">
                  <p:embed/>
                  <p:pic>
                    <p:nvPicPr>
                      <p:cNvPr id="14" name="Object 13"/>
                      <p:cNvPicPr/>
                      <p:nvPr/>
                    </p:nvPicPr>
                    <p:blipFill>
                      <a:blip r:embed="rId10"/>
                      <a:stretch>
                        <a:fillRect/>
                      </a:stretch>
                    </p:blipFill>
                    <p:spPr>
                      <a:xfrm>
                        <a:off x="6833549" y="5352591"/>
                        <a:ext cx="873921" cy="595010"/>
                      </a:xfrm>
                      <a:prstGeom prst="rect">
                        <a:avLst/>
                      </a:prstGeom>
                    </p:spPr>
                  </p:pic>
                </p:oleObj>
              </mc:Fallback>
            </mc:AlternateContent>
          </a:graphicData>
        </a:graphic>
      </p:graphicFrame>
    </p:spTree>
    <p:extLst>
      <p:ext uri="{BB962C8B-B14F-4D97-AF65-F5344CB8AC3E}">
        <p14:creationId xmlns:p14="http://schemas.microsoft.com/office/powerpoint/2010/main" val="3593685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Wages </a:t>
            </a:r>
            <a:r>
              <a:rPr lang="en-US" altLang="en-US" sz="2000" b="0" dirty="0">
                <a:latin typeface="+mj-lt"/>
                <a:ea typeface="ヒラギノ角ゴ Pro W3" pitchFamily="-84" charset="-128"/>
                <a:cs typeface="Times New Roman" panose="02020603050405020304" pitchFamily="18" charset="0"/>
              </a:rPr>
              <a:t>(3 of 5)</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1" y="1600201"/>
            <a:ext cx="8229600" cy="894805"/>
          </a:xfrm>
        </p:spPr>
        <p:txBody>
          <a:bodyPr/>
          <a:lstStyle/>
          <a:p>
            <a:pPr indent="-255600"/>
            <a:r>
              <a:rPr lang="en-US" altLang="en-US" sz="2400" dirty="0">
                <a:latin typeface="+mn-lt"/>
                <a:ea typeface="ヒラギノ角ゴ Pro W3" pitchFamily="-84" charset="-128"/>
              </a:rPr>
              <a:t>The relative wage lies between the ratio of the productivities in each industry.</a:t>
            </a:r>
            <a:endParaRPr lang="en-US" sz="2400" dirty="0">
              <a:latin typeface="+mn-lt"/>
            </a:endParaRPr>
          </a:p>
        </p:txBody>
      </p:sp>
      <p:sp>
        <p:nvSpPr>
          <p:cNvPr id="4" name="Content Placeholder 3"/>
          <p:cNvSpPr>
            <a:spLocks noGrp="1"/>
          </p:cNvSpPr>
          <p:nvPr>
            <p:ph idx="13"/>
          </p:nvPr>
        </p:nvSpPr>
        <p:spPr>
          <a:xfrm>
            <a:off x="457200" y="2667000"/>
            <a:ext cx="3722135" cy="533400"/>
          </a:xfrm>
        </p:spPr>
        <p:txBody>
          <a:bodyPr/>
          <a:lstStyle/>
          <a:p>
            <a:pPr lvl="1" indent="-284400"/>
            <a:r>
              <a:rPr lang="en-US" altLang="en-US" sz="2400" dirty="0">
                <a:latin typeface="+mn-lt"/>
                <a:ea typeface="ヒラギノ角ゴ Pro W3" pitchFamily="-84" charset="-128"/>
              </a:rPr>
              <a:t>The home country is</a:t>
            </a:r>
            <a:endParaRPr lang="en-US" sz="2400" dirty="0">
              <a:latin typeface="+mn-lt"/>
            </a:endParaRPr>
          </a:p>
        </p:txBody>
      </p:sp>
      <p:graphicFrame>
        <p:nvGraphicFramePr>
          <p:cNvPr id="11" name="Object 10" descr="Start fraction 6 over 1 end fraction = 6"/>
          <p:cNvGraphicFramePr>
            <a:graphicFrameLocks noChangeAspect="1"/>
          </p:cNvGraphicFramePr>
          <p:nvPr>
            <p:extLst>
              <p:ext uri="{D42A27DB-BD31-4B8C-83A1-F6EECF244321}">
                <p14:modId xmlns:p14="http://schemas.microsoft.com/office/powerpoint/2010/main" val="4244932555"/>
              </p:ext>
            </p:extLst>
          </p:nvPr>
        </p:nvGraphicFramePr>
        <p:xfrm>
          <a:off x="4331735" y="2561883"/>
          <a:ext cx="697465" cy="697465"/>
        </p:xfrm>
        <a:graphic>
          <a:graphicData uri="http://schemas.openxmlformats.org/presentationml/2006/ole">
            <mc:AlternateContent xmlns:mc="http://schemas.openxmlformats.org/markup-compatibility/2006">
              <mc:Choice xmlns:v="urn:schemas-microsoft-com:vml" Requires="v">
                <p:oleObj spid="_x0000_s33810" name="Equation" r:id="rId3" imgW="393480" imgH="393480" progId="Equation.DSMT4">
                  <p:embed/>
                </p:oleObj>
              </mc:Choice>
              <mc:Fallback>
                <p:oleObj name="Equation" r:id="rId3" imgW="393480" imgH="393480" progId="Equation.DSMT4">
                  <p:embed/>
                  <p:pic>
                    <p:nvPicPr>
                      <p:cNvPr id="11" name="Object 10"/>
                      <p:cNvPicPr/>
                      <p:nvPr/>
                    </p:nvPicPr>
                    <p:blipFill>
                      <a:blip r:embed="rId4"/>
                      <a:stretch>
                        <a:fillRect/>
                      </a:stretch>
                    </p:blipFill>
                    <p:spPr>
                      <a:xfrm>
                        <a:off x="4331735" y="2561883"/>
                        <a:ext cx="697465" cy="697465"/>
                      </a:xfrm>
                      <a:prstGeom prst="rect">
                        <a:avLst/>
                      </a:prstGeom>
                    </p:spPr>
                  </p:pic>
                </p:oleObj>
              </mc:Fallback>
            </mc:AlternateContent>
          </a:graphicData>
        </a:graphic>
      </p:graphicFrame>
      <p:sp>
        <p:nvSpPr>
          <p:cNvPr id="5" name="Content Placeholder 4"/>
          <p:cNvSpPr>
            <a:spLocks noGrp="1"/>
          </p:cNvSpPr>
          <p:nvPr>
            <p:ph idx="14"/>
          </p:nvPr>
        </p:nvSpPr>
        <p:spPr>
          <a:xfrm>
            <a:off x="5173396" y="2629060"/>
            <a:ext cx="3210560" cy="533400"/>
          </a:xfrm>
        </p:spPr>
        <p:txBody>
          <a:bodyPr/>
          <a:lstStyle/>
          <a:p>
            <a:pPr marL="0" lvl="1" indent="0">
              <a:buNone/>
            </a:pPr>
            <a:r>
              <a:rPr lang="en-US" altLang="en-US" sz="2400" dirty="0">
                <a:latin typeface="+mn-lt"/>
                <a:ea typeface="ヒラギノ角ゴ Pro W3" pitchFamily="-84" charset="-128"/>
              </a:rPr>
              <a:t>times as productive in</a:t>
            </a:r>
            <a:endParaRPr lang="en-US" sz="2400" dirty="0">
              <a:latin typeface="+mn-lt"/>
            </a:endParaRPr>
          </a:p>
        </p:txBody>
      </p:sp>
      <p:sp>
        <p:nvSpPr>
          <p:cNvPr id="6" name="Content Placeholder 5"/>
          <p:cNvSpPr>
            <a:spLocks noGrp="1"/>
          </p:cNvSpPr>
          <p:nvPr>
            <p:ph idx="15"/>
          </p:nvPr>
        </p:nvSpPr>
        <p:spPr>
          <a:xfrm>
            <a:off x="457202" y="3338076"/>
            <a:ext cx="4670384" cy="531602"/>
          </a:xfrm>
        </p:spPr>
        <p:txBody>
          <a:bodyPr/>
          <a:lstStyle/>
          <a:p>
            <a:pPr marL="741600" lvl="1" indent="0">
              <a:buNone/>
            </a:pPr>
            <a:r>
              <a:rPr lang="en-US" altLang="en-US" sz="2400" dirty="0">
                <a:latin typeface="+mn-lt"/>
                <a:ea typeface="ヒラギノ角ゴ Pro W3" pitchFamily="-84" charset="-128"/>
              </a:rPr>
              <a:t>cheese</a:t>
            </a:r>
            <a:r>
              <a:rPr lang="en-US" altLang="en-US" sz="2400" dirty="0">
                <a:latin typeface="+mn-lt"/>
              </a:rPr>
              <a:t> </a:t>
            </a:r>
            <a:r>
              <a:rPr lang="en-US" altLang="en-US" sz="2400" dirty="0">
                <a:latin typeface="+mn-lt"/>
                <a:ea typeface="ヒラギノ角ゴ Pro W3" pitchFamily="-84" charset="-128"/>
              </a:rPr>
              <a:t>production, but only</a:t>
            </a:r>
            <a:endParaRPr lang="en-US" sz="2400" dirty="0">
              <a:latin typeface="+mn-lt"/>
            </a:endParaRPr>
          </a:p>
        </p:txBody>
      </p:sp>
      <p:graphicFrame>
        <p:nvGraphicFramePr>
          <p:cNvPr id="12" name="Object 11" descr="3 halves = 1.5"/>
          <p:cNvGraphicFramePr>
            <a:graphicFrameLocks noChangeAspect="1"/>
          </p:cNvGraphicFramePr>
          <p:nvPr>
            <p:extLst>
              <p:ext uri="{D42A27DB-BD31-4B8C-83A1-F6EECF244321}">
                <p14:modId xmlns:p14="http://schemas.microsoft.com/office/powerpoint/2010/main" val="3538918031"/>
              </p:ext>
            </p:extLst>
          </p:nvPr>
        </p:nvGraphicFramePr>
        <p:xfrm>
          <a:off x="5241068" y="3263512"/>
          <a:ext cx="899953" cy="697465"/>
        </p:xfrm>
        <a:graphic>
          <a:graphicData uri="http://schemas.openxmlformats.org/presentationml/2006/ole">
            <mc:AlternateContent xmlns:mc="http://schemas.openxmlformats.org/markup-compatibility/2006">
              <mc:Choice xmlns:v="urn:schemas-microsoft-com:vml" Requires="v">
                <p:oleObj spid="_x0000_s33811" name="Equation" r:id="rId5" imgW="507960" imgH="393480" progId="Equation.DSMT4">
                  <p:embed/>
                </p:oleObj>
              </mc:Choice>
              <mc:Fallback>
                <p:oleObj name="Equation" r:id="rId5" imgW="507960" imgH="393480" progId="Equation.DSMT4">
                  <p:embed/>
                  <p:pic>
                    <p:nvPicPr>
                      <p:cNvPr id="12" name="Object 11"/>
                      <p:cNvPicPr/>
                      <p:nvPr/>
                    </p:nvPicPr>
                    <p:blipFill>
                      <a:blip r:embed="rId6"/>
                      <a:stretch>
                        <a:fillRect/>
                      </a:stretch>
                    </p:blipFill>
                    <p:spPr>
                      <a:xfrm>
                        <a:off x="5241068" y="3263512"/>
                        <a:ext cx="899953" cy="697465"/>
                      </a:xfrm>
                      <a:prstGeom prst="rect">
                        <a:avLst/>
                      </a:prstGeom>
                    </p:spPr>
                  </p:pic>
                </p:oleObj>
              </mc:Fallback>
            </mc:AlternateContent>
          </a:graphicData>
        </a:graphic>
      </p:graphicFrame>
      <p:sp>
        <p:nvSpPr>
          <p:cNvPr id="7" name="Content Placeholder 6"/>
          <p:cNvSpPr>
            <a:spLocks noGrp="1"/>
          </p:cNvSpPr>
          <p:nvPr>
            <p:ph idx="16"/>
          </p:nvPr>
        </p:nvSpPr>
        <p:spPr>
          <a:xfrm>
            <a:off x="6273063" y="3319026"/>
            <a:ext cx="1431844" cy="550652"/>
          </a:xfrm>
        </p:spPr>
        <p:txBody>
          <a:bodyPr/>
          <a:lstStyle/>
          <a:p>
            <a:pPr marL="0" lvl="1" indent="0">
              <a:buNone/>
            </a:pPr>
            <a:r>
              <a:rPr lang="en-US" altLang="en-US" sz="2400" dirty="0">
                <a:latin typeface="+mn-lt"/>
                <a:ea typeface="ヒラギノ角ゴ Pro W3" pitchFamily="-84" charset="-128"/>
              </a:rPr>
              <a:t>times as</a:t>
            </a:r>
            <a:endParaRPr lang="en-US" sz="2400" dirty="0">
              <a:latin typeface="+mn-lt"/>
            </a:endParaRPr>
          </a:p>
        </p:txBody>
      </p:sp>
      <p:sp>
        <p:nvSpPr>
          <p:cNvPr id="8" name="Content Placeholder 7"/>
          <p:cNvSpPr>
            <a:spLocks noGrp="1"/>
          </p:cNvSpPr>
          <p:nvPr>
            <p:ph sz="quarter" idx="17"/>
          </p:nvPr>
        </p:nvSpPr>
        <p:spPr>
          <a:xfrm>
            <a:off x="457201" y="4077061"/>
            <a:ext cx="5075498" cy="533400"/>
          </a:xfrm>
        </p:spPr>
        <p:txBody>
          <a:bodyPr/>
          <a:lstStyle/>
          <a:p>
            <a:pPr marL="741600" lvl="1" indent="0">
              <a:buNone/>
            </a:pPr>
            <a:r>
              <a:rPr lang="en-US" altLang="en-US" sz="2400" dirty="0">
                <a:latin typeface="+mn-lt"/>
                <a:ea typeface="ヒラギノ角ゴ Pro W3" pitchFamily="-84" charset="-128"/>
              </a:rPr>
              <a:t>productive in wine</a:t>
            </a:r>
            <a:r>
              <a:rPr lang="en-US" altLang="en-US" sz="2400" dirty="0">
                <a:latin typeface="+mn-lt"/>
              </a:rPr>
              <a:t> </a:t>
            </a:r>
            <a:r>
              <a:rPr lang="en-US" altLang="en-US" sz="2400" dirty="0">
                <a:latin typeface="+mn-lt"/>
                <a:ea typeface="ヒラギノ角ゴ Pro W3" pitchFamily="-84" charset="-128"/>
              </a:rPr>
              <a:t>production.</a:t>
            </a:r>
            <a:endParaRPr lang="en-US" sz="2400" dirty="0">
              <a:latin typeface="+mn-lt"/>
            </a:endParaRPr>
          </a:p>
        </p:txBody>
      </p:sp>
      <p:sp>
        <p:nvSpPr>
          <p:cNvPr id="9" name="Content Placeholder 8"/>
          <p:cNvSpPr>
            <a:spLocks noGrp="1"/>
          </p:cNvSpPr>
          <p:nvPr>
            <p:ph sz="quarter" idx="18"/>
          </p:nvPr>
        </p:nvSpPr>
        <p:spPr>
          <a:xfrm>
            <a:off x="457200" y="4771735"/>
            <a:ext cx="8229600" cy="855452"/>
          </a:xfrm>
        </p:spPr>
        <p:txBody>
          <a:bodyPr/>
          <a:lstStyle/>
          <a:p>
            <a:pPr lvl="1" indent="-284400"/>
            <a:r>
              <a:rPr lang="en-US" altLang="en-US" sz="2400" dirty="0">
                <a:latin typeface="+mn-lt"/>
                <a:ea typeface="ヒラギノ角ゴ Pro W3" pitchFamily="-84" charset="-128"/>
              </a:rPr>
              <a:t>The home country has a wage three times higher than the foreign country.</a:t>
            </a:r>
            <a:endParaRPr lang="en-US" sz="2400" dirty="0">
              <a:latin typeface="+mn-lt"/>
            </a:endParaRPr>
          </a:p>
        </p:txBody>
      </p:sp>
    </p:spTree>
    <p:extLst>
      <p:ext uri="{BB962C8B-B14F-4D97-AF65-F5344CB8AC3E}">
        <p14:creationId xmlns:p14="http://schemas.microsoft.com/office/powerpoint/2010/main" val="3130113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Relative Wages </a:t>
            </a:r>
            <a:r>
              <a:rPr lang="en-US" altLang="en-US" sz="2000" b="0" dirty="0">
                <a:latin typeface="+mj-lt"/>
                <a:ea typeface="ヒラギノ角ゴ Pro W3" pitchFamily="-84" charset="-128"/>
              </a:rPr>
              <a:t>(4 of 5)</a:t>
            </a:r>
            <a:endParaRPr lang="en-IN" sz="2000" dirty="0">
              <a:latin typeface="+mj-lt"/>
            </a:endParaRPr>
          </a:p>
        </p:txBody>
      </p:sp>
      <p:sp>
        <p:nvSpPr>
          <p:cNvPr id="3" name="Content Placeholder 2"/>
          <p:cNvSpPr>
            <a:spLocks noGrp="1"/>
          </p:cNvSpPr>
          <p:nvPr>
            <p:ph idx="1"/>
          </p:nvPr>
        </p:nvSpPr>
        <p:spPr>
          <a:xfrm>
            <a:off x="457200" y="1600201"/>
            <a:ext cx="6722533" cy="1523999"/>
          </a:xfrm>
        </p:spPr>
        <p:txBody>
          <a:bodyPr/>
          <a:lstStyle/>
          <a:p>
            <a:pPr indent="-255600"/>
            <a:r>
              <a:rPr lang="en-US" altLang="en-US" sz="2000" dirty="0">
                <a:latin typeface="+mn-lt"/>
                <a:ea typeface="ヒラギノ角ゴ Pro W3" pitchFamily="-84" charset="-128"/>
              </a:rPr>
              <a:t>These relationships imply that both countries have a </a:t>
            </a:r>
            <a:r>
              <a:rPr lang="en-US" altLang="en-US" sz="2000" b="1" dirty="0">
                <a:latin typeface="+mn-lt"/>
                <a:ea typeface="ヒラギノ角ゴ Pro W3" pitchFamily="-84" charset="-128"/>
              </a:rPr>
              <a:t>cost advantage</a:t>
            </a:r>
            <a:r>
              <a:rPr lang="en-US" altLang="en-US" sz="2000" dirty="0">
                <a:latin typeface="+mn-lt"/>
                <a:ea typeface="ヒラギノ角ゴ Pro W3" pitchFamily="-84" charset="-128"/>
              </a:rPr>
              <a:t> in production.</a:t>
            </a:r>
          </a:p>
          <a:p>
            <a:pPr lvl="1" indent="-284400"/>
            <a:r>
              <a:rPr lang="en-US" altLang="en-US" sz="2000" dirty="0">
                <a:latin typeface="+mn-lt"/>
                <a:ea typeface="ヒラギノ角ゴ Pro W3" pitchFamily="-84" charset="-128"/>
              </a:rPr>
              <a:t>High wages can be offset by high productivity.</a:t>
            </a:r>
          </a:p>
          <a:p>
            <a:pPr lvl="1" indent="-284400"/>
            <a:r>
              <a:rPr lang="en-US" altLang="en-US" sz="2000" dirty="0">
                <a:latin typeface="+mn-lt"/>
                <a:ea typeface="ヒラギノ角ゴ Pro W3" pitchFamily="-84" charset="-128"/>
              </a:rPr>
              <a:t>Low productivity can be offset by low wages.</a:t>
            </a:r>
          </a:p>
        </p:txBody>
      </p:sp>
      <p:sp>
        <p:nvSpPr>
          <p:cNvPr id="4" name="Content Placeholder 3"/>
          <p:cNvSpPr>
            <a:spLocks noGrp="1"/>
          </p:cNvSpPr>
          <p:nvPr>
            <p:ph idx="13"/>
          </p:nvPr>
        </p:nvSpPr>
        <p:spPr>
          <a:xfrm>
            <a:off x="457199" y="3225799"/>
            <a:ext cx="7413585" cy="440803"/>
          </a:xfrm>
        </p:spPr>
        <p:txBody>
          <a:bodyPr/>
          <a:lstStyle/>
          <a:p>
            <a:pPr indent="-255600"/>
            <a:r>
              <a:rPr lang="en-US" altLang="en-US" sz="2000" dirty="0">
                <a:latin typeface="+mn-lt"/>
                <a:ea typeface="ヒラギノ角ゴ Pro W3" pitchFamily="-84" charset="-128"/>
              </a:rPr>
              <a:t>In the home economy, producing one pound of cheese costs</a:t>
            </a:r>
            <a:endParaRPr lang="en-IN" sz="2000" dirty="0">
              <a:latin typeface="+mn-lt"/>
            </a:endParaRPr>
          </a:p>
        </p:txBody>
      </p:sp>
      <p:graphicFrame>
        <p:nvGraphicFramePr>
          <p:cNvPr id="11" name="Object 10" descr="$12 left parenthesis one worker paid $12 per hour right parenthesis,"/>
          <p:cNvGraphicFramePr>
            <a:graphicFrameLocks noChangeAspect="1"/>
          </p:cNvGraphicFramePr>
          <p:nvPr>
            <p:extLst>
              <p:ext uri="{D42A27DB-BD31-4B8C-83A1-F6EECF244321}">
                <p14:modId xmlns:p14="http://schemas.microsoft.com/office/powerpoint/2010/main" val="3413984915"/>
              </p:ext>
            </p:extLst>
          </p:nvPr>
        </p:nvGraphicFramePr>
        <p:xfrm>
          <a:off x="801550" y="3802055"/>
          <a:ext cx="3667308" cy="359982"/>
        </p:xfrm>
        <a:graphic>
          <a:graphicData uri="http://schemas.openxmlformats.org/presentationml/2006/ole">
            <mc:AlternateContent xmlns:mc="http://schemas.openxmlformats.org/markup-compatibility/2006">
              <mc:Choice xmlns:v="urn:schemas-microsoft-com:vml" Requires="v">
                <p:oleObj spid="_x0000_s34850" name="Equation" r:id="rId3" imgW="2070000" imgH="203040" progId="Equation.DSMT4">
                  <p:embed/>
                </p:oleObj>
              </mc:Choice>
              <mc:Fallback>
                <p:oleObj name="Equation" r:id="rId3" imgW="2070000" imgH="203040" progId="Equation.DSMT4">
                  <p:embed/>
                  <p:pic>
                    <p:nvPicPr>
                      <p:cNvPr id="11" name="Object 10"/>
                      <p:cNvPicPr/>
                      <p:nvPr/>
                    </p:nvPicPr>
                    <p:blipFill>
                      <a:blip r:embed="rId4"/>
                      <a:stretch>
                        <a:fillRect/>
                      </a:stretch>
                    </p:blipFill>
                    <p:spPr>
                      <a:xfrm>
                        <a:off x="801550" y="3802055"/>
                        <a:ext cx="3667308" cy="359982"/>
                      </a:xfrm>
                      <a:prstGeom prst="rect">
                        <a:avLst/>
                      </a:prstGeom>
                    </p:spPr>
                  </p:pic>
                </p:oleObj>
              </mc:Fallback>
            </mc:AlternateContent>
          </a:graphicData>
        </a:graphic>
      </p:graphicFrame>
      <p:sp>
        <p:nvSpPr>
          <p:cNvPr id="5" name="Content Placeholder 4"/>
          <p:cNvSpPr>
            <a:spLocks noGrp="1"/>
          </p:cNvSpPr>
          <p:nvPr>
            <p:ph idx="14"/>
          </p:nvPr>
        </p:nvSpPr>
        <p:spPr>
          <a:xfrm>
            <a:off x="4542970" y="3738366"/>
            <a:ext cx="2438400" cy="448280"/>
          </a:xfrm>
        </p:spPr>
        <p:txBody>
          <a:bodyPr/>
          <a:lstStyle/>
          <a:p>
            <a:pPr marL="0" indent="0">
              <a:buNone/>
            </a:pPr>
            <a:r>
              <a:rPr lang="en-US" altLang="en-US" sz="2000" dirty="0">
                <a:latin typeface="+mn-lt"/>
                <a:ea typeface="ヒラギノ角ゴ Pro W3" pitchFamily="-84" charset="-128"/>
              </a:rPr>
              <a:t>but would have cost</a:t>
            </a:r>
            <a:endParaRPr lang="en-IN" sz="2000" dirty="0">
              <a:latin typeface="+mn-lt"/>
            </a:endParaRPr>
          </a:p>
        </p:txBody>
      </p:sp>
      <p:graphicFrame>
        <p:nvGraphicFramePr>
          <p:cNvPr id="12" name="Object 11" descr="$24 left parenthesis six paid $4 per hour right parenthesis"/>
          <p:cNvGraphicFramePr>
            <a:graphicFrameLocks noChangeAspect="1"/>
          </p:cNvGraphicFramePr>
          <p:nvPr>
            <p:extLst>
              <p:ext uri="{D42A27DB-BD31-4B8C-83A1-F6EECF244321}">
                <p14:modId xmlns:p14="http://schemas.microsoft.com/office/powerpoint/2010/main" val="2011733102"/>
              </p:ext>
            </p:extLst>
          </p:nvPr>
        </p:nvGraphicFramePr>
        <p:xfrm>
          <a:off x="801550" y="4220195"/>
          <a:ext cx="2452371" cy="449976"/>
        </p:xfrm>
        <a:graphic>
          <a:graphicData uri="http://schemas.openxmlformats.org/presentationml/2006/ole">
            <mc:AlternateContent xmlns:mc="http://schemas.openxmlformats.org/markup-compatibility/2006">
              <mc:Choice xmlns:v="urn:schemas-microsoft-com:vml" Requires="v">
                <p:oleObj spid="_x0000_s34851" name="Equation" r:id="rId5" imgW="1384200" imgH="253800" progId="Equation.DSMT4">
                  <p:embed/>
                </p:oleObj>
              </mc:Choice>
              <mc:Fallback>
                <p:oleObj name="Equation" r:id="rId5" imgW="1384200" imgH="253800" progId="Equation.DSMT4">
                  <p:embed/>
                  <p:pic>
                    <p:nvPicPr>
                      <p:cNvPr id="12" name="Object 11"/>
                      <p:cNvPicPr/>
                      <p:nvPr/>
                    </p:nvPicPr>
                    <p:blipFill>
                      <a:blip r:embed="rId6"/>
                      <a:stretch>
                        <a:fillRect/>
                      </a:stretch>
                    </p:blipFill>
                    <p:spPr>
                      <a:xfrm>
                        <a:off x="801550" y="4220195"/>
                        <a:ext cx="2452371" cy="449976"/>
                      </a:xfrm>
                      <a:prstGeom prst="rect">
                        <a:avLst/>
                      </a:prstGeom>
                    </p:spPr>
                  </p:pic>
                </p:oleObj>
              </mc:Fallback>
            </mc:AlternateContent>
          </a:graphicData>
        </a:graphic>
      </p:graphicFrame>
      <p:sp>
        <p:nvSpPr>
          <p:cNvPr id="6" name="Content Placeholder 5"/>
          <p:cNvSpPr>
            <a:spLocks noGrp="1"/>
          </p:cNvSpPr>
          <p:nvPr>
            <p:ph idx="15"/>
          </p:nvPr>
        </p:nvSpPr>
        <p:spPr>
          <a:xfrm>
            <a:off x="3338050" y="4273497"/>
            <a:ext cx="1551490" cy="366055"/>
          </a:xfrm>
        </p:spPr>
        <p:txBody>
          <a:bodyPr tIns="0" bIns="0"/>
          <a:lstStyle/>
          <a:p>
            <a:pPr marL="0" indent="0">
              <a:buNone/>
            </a:pPr>
            <a:r>
              <a:rPr lang="en-US" altLang="en-US" sz="2000" dirty="0">
                <a:latin typeface="+mn-lt"/>
                <a:ea typeface="ヒラギノ角ゴ Pro W3" pitchFamily="-84" charset="-128"/>
              </a:rPr>
              <a:t>in Foreign.</a:t>
            </a:r>
            <a:endParaRPr lang="en-IN" sz="2000" dirty="0">
              <a:latin typeface="+mn-lt"/>
            </a:endParaRPr>
          </a:p>
        </p:txBody>
      </p:sp>
      <p:sp>
        <p:nvSpPr>
          <p:cNvPr id="7" name="Content Placeholder 6"/>
          <p:cNvSpPr>
            <a:spLocks noGrp="1"/>
          </p:cNvSpPr>
          <p:nvPr>
            <p:ph idx="16"/>
          </p:nvPr>
        </p:nvSpPr>
        <p:spPr>
          <a:xfrm>
            <a:off x="381000" y="4836719"/>
            <a:ext cx="7413584" cy="436185"/>
          </a:xfrm>
        </p:spPr>
        <p:txBody>
          <a:bodyPr/>
          <a:lstStyle/>
          <a:p>
            <a:pPr indent="-255600"/>
            <a:r>
              <a:rPr lang="en-US" altLang="en-US" sz="2000" dirty="0">
                <a:latin typeface="+mn-lt"/>
                <a:ea typeface="ヒラギノ角ゴ Pro W3" pitchFamily="-84" charset="-128"/>
              </a:rPr>
              <a:t>In the foreign economy, producing one gallon of wine costs</a:t>
            </a:r>
            <a:endParaRPr lang="en-IN" sz="2000" dirty="0">
              <a:latin typeface="+mn-lt"/>
            </a:endParaRPr>
          </a:p>
        </p:txBody>
      </p:sp>
      <p:graphicFrame>
        <p:nvGraphicFramePr>
          <p:cNvPr id="13" name="Object 12" descr="$12 left parenthesis three workers paid $4 per hour right parenthesis, "/>
          <p:cNvGraphicFramePr>
            <a:graphicFrameLocks noChangeAspect="1"/>
          </p:cNvGraphicFramePr>
          <p:nvPr>
            <p:extLst>
              <p:ext uri="{D42A27DB-BD31-4B8C-83A1-F6EECF244321}">
                <p14:modId xmlns:p14="http://schemas.microsoft.com/office/powerpoint/2010/main" val="188463127"/>
              </p:ext>
            </p:extLst>
          </p:nvPr>
        </p:nvGraphicFramePr>
        <p:xfrm>
          <a:off x="754896" y="5371011"/>
          <a:ext cx="3757304" cy="359982"/>
        </p:xfrm>
        <a:graphic>
          <a:graphicData uri="http://schemas.openxmlformats.org/presentationml/2006/ole">
            <mc:AlternateContent xmlns:mc="http://schemas.openxmlformats.org/markup-compatibility/2006">
              <mc:Choice xmlns:v="urn:schemas-microsoft-com:vml" Requires="v">
                <p:oleObj spid="_x0000_s34852" name="Equation" r:id="rId7" imgW="2120760" imgH="203040" progId="Equation.DSMT4">
                  <p:embed/>
                </p:oleObj>
              </mc:Choice>
              <mc:Fallback>
                <p:oleObj name="Equation" r:id="rId7" imgW="2120760" imgH="203040" progId="Equation.DSMT4">
                  <p:embed/>
                  <p:pic>
                    <p:nvPicPr>
                      <p:cNvPr id="13" name="Object 12"/>
                      <p:cNvPicPr/>
                      <p:nvPr/>
                    </p:nvPicPr>
                    <p:blipFill>
                      <a:blip r:embed="rId8"/>
                      <a:stretch>
                        <a:fillRect/>
                      </a:stretch>
                    </p:blipFill>
                    <p:spPr>
                      <a:xfrm>
                        <a:off x="754896" y="5371011"/>
                        <a:ext cx="3757304" cy="359982"/>
                      </a:xfrm>
                      <a:prstGeom prst="rect">
                        <a:avLst/>
                      </a:prstGeom>
                    </p:spPr>
                  </p:pic>
                </p:oleObj>
              </mc:Fallback>
            </mc:AlternateContent>
          </a:graphicData>
        </a:graphic>
      </p:graphicFrame>
      <p:sp>
        <p:nvSpPr>
          <p:cNvPr id="8" name="Content Placeholder 7"/>
          <p:cNvSpPr>
            <a:spLocks noGrp="1"/>
          </p:cNvSpPr>
          <p:nvPr>
            <p:ph sz="quarter" idx="17"/>
          </p:nvPr>
        </p:nvSpPr>
        <p:spPr>
          <a:xfrm>
            <a:off x="4664600" y="5387375"/>
            <a:ext cx="3048000" cy="374246"/>
          </a:xfrm>
        </p:spPr>
        <p:txBody>
          <a:bodyPr tIns="0" bIns="0"/>
          <a:lstStyle/>
          <a:p>
            <a:pPr marL="0" indent="0">
              <a:buNone/>
            </a:pPr>
            <a:r>
              <a:rPr lang="en-US" altLang="en-US" sz="2000" dirty="0">
                <a:latin typeface="+mn-lt"/>
                <a:ea typeface="ヒラギノ角ゴ Pro W3" pitchFamily="-84" charset="-128"/>
              </a:rPr>
              <a:t>but would have cost $24</a:t>
            </a:r>
            <a:endParaRPr lang="en-IN" sz="2000" dirty="0">
              <a:latin typeface="+mn-lt"/>
            </a:endParaRPr>
          </a:p>
        </p:txBody>
      </p:sp>
      <p:graphicFrame>
        <p:nvGraphicFramePr>
          <p:cNvPr id="14" name="Object 13" descr="left parenthesis two paid $12 per hour right parenthesis"/>
          <p:cNvGraphicFramePr>
            <a:graphicFrameLocks noChangeAspect="1"/>
          </p:cNvGraphicFramePr>
          <p:nvPr>
            <p:extLst>
              <p:ext uri="{D42A27DB-BD31-4B8C-83A1-F6EECF244321}">
                <p14:modId xmlns:p14="http://schemas.microsoft.com/office/powerpoint/2010/main" val="1658693532"/>
              </p:ext>
            </p:extLst>
          </p:nvPr>
        </p:nvGraphicFramePr>
        <p:xfrm>
          <a:off x="778400" y="5797386"/>
          <a:ext cx="2182387" cy="449976"/>
        </p:xfrm>
        <a:graphic>
          <a:graphicData uri="http://schemas.openxmlformats.org/presentationml/2006/ole">
            <mc:AlternateContent xmlns:mc="http://schemas.openxmlformats.org/markup-compatibility/2006">
              <mc:Choice xmlns:v="urn:schemas-microsoft-com:vml" Requires="v">
                <p:oleObj spid="_x0000_s34853" name="Equation" r:id="rId9" imgW="1231560" imgH="253800" progId="Equation.DSMT4">
                  <p:embed/>
                </p:oleObj>
              </mc:Choice>
              <mc:Fallback>
                <p:oleObj name="Equation" r:id="rId9" imgW="1231560" imgH="253800" progId="Equation.DSMT4">
                  <p:embed/>
                  <p:pic>
                    <p:nvPicPr>
                      <p:cNvPr id="14" name="Object 13"/>
                      <p:cNvPicPr/>
                      <p:nvPr/>
                    </p:nvPicPr>
                    <p:blipFill>
                      <a:blip r:embed="rId10"/>
                      <a:stretch>
                        <a:fillRect/>
                      </a:stretch>
                    </p:blipFill>
                    <p:spPr>
                      <a:xfrm>
                        <a:off x="778400" y="5797386"/>
                        <a:ext cx="2182387" cy="449976"/>
                      </a:xfrm>
                      <a:prstGeom prst="rect">
                        <a:avLst/>
                      </a:prstGeom>
                    </p:spPr>
                  </p:pic>
                </p:oleObj>
              </mc:Fallback>
            </mc:AlternateContent>
          </a:graphicData>
        </a:graphic>
      </p:graphicFrame>
      <p:sp>
        <p:nvSpPr>
          <p:cNvPr id="9" name="Content Placeholder 8"/>
          <p:cNvSpPr>
            <a:spLocks noGrp="1"/>
          </p:cNvSpPr>
          <p:nvPr>
            <p:ph sz="quarter" idx="18"/>
          </p:nvPr>
        </p:nvSpPr>
        <p:spPr>
          <a:xfrm>
            <a:off x="3034535" y="5854786"/>
            <a:ext cx="1481015" cy="381398"/>
          </a:xfrm>
        </p:spPr>
        <p:txBody>
          <a:bodyPr tIns="0" bIns="0"/>
          <a:lstStyle/>
          <a:p>
            <a:pPr marL="0" indent="0">
              <a:buNone/>
            </a:pPr>
            <a:r>
              <a:rPr lang="en-US" altLang="en-US" sz="2000" dirty="0">
                <a:latin typeface="+mn-lt"/>
                <a:ea typeface="ヒラギノ角ゴ Pro W3" pitchFamily="-84" charset="-128"/>
              </a:rPr>
              <a:t>in Home.</a:t>
            </a:r>
            <a:endParaRPr lang="en-IN" sz="2000" dirty="0">
              <a:latin typeface="+mn-lt"/>
            </a:endParaRPr>
          </a:p>
        </p:txBody>
      </p:sp>
    </p:spTree>
    <p:extLst>
      <p:ext uri="{BB962C8B-B14F-4D97-AF65-F5344CB8AC3E}">
        <p14:creationId xmlns:p14="http://schemas.microsoft.com/office/powerpoint/2010/main" val="10171583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6CA2-CC2B-45F7-9DC5-458FDBFD6E6D}"/>
              </a:ext>
            </a:extLst>
          </p:cNvPr>
          <p:cNvSpPr>
            <a:spLocks noGrp="1"/>
          </p:cNvSpPr>
          <p:nvPr>
            <p:ph type="title"/>
          </p:nvPr>
        </p:nvSpPr>
        <p:spPr/>
        <p:txBody>
          <a:bodyPr/>
          <a:lstStyle/>
          <a:p>
            <a:r>
              <a:rPr lang="en-US" altLang="en-US" sz="3600" dirty="0">
                <a:latin typeface="+mj-lt"/>
                <a:ea typeface="ヒラギノ角ゴ Pro W3" pitchFamily="-84" charset="-128"/>
              </a:rPr>
              <a:t>Relative Wages </a:t>
            </a:r>
            <a:r>
              <a:rPr lang="en-US" altLang="en-US" sz="2000" b="0" dirty="0">
                <a:latin typeface="+mj-lt"/>
                <a:ea typeface="ヒラギノ角ゴ Pro W3" pitchFamily="-84" charset="-128"/>
              </a:rPr>
              <a:t>(5 of 5)</a:t>
            </a:r>
            <a:endParaRPr lang="en-IN" dirty="0"/>
          </a:p>
        </p:txBody>
      </p:sp>
      <p:sp>
        <p:nvSpPr>
          <p:cNvPr id="3" name="Content Placeholder 2">
            <a:extLst>
              <a:ext uri="{FF2B5EF4-FFF2-40B4-BE49-F238E27FC236}">
                <a16:creationId xmlns:a16="http://schemas.microsoft.com/office/drawing/2014/main" id="{52F2CCC2-9A61-4ED3-9262-1585DDC2496A}"/>
              </a:ext>
            </a:extLst>
          </p:cNvPr>
          <p:cNvSpPr>
            <a:spLocks noGrp="1"/>
          </p:cNvSpPr>
          <p:nvPr>
            <p:ph sz="quarter" idx="13"/>
          </p:nvPr>
        </p:nvSpPr>
        <p:spPr>
          <a:xfrm>
            <a:off x="466602" y="1552575"/>
            <a:ext cx="7184929" cy="591535"/>
          </a:xfrm>
        </p:spPr>
        <p:txBody>
          <a:bodyPr/>
          <a:lstStyle/>
          <a:p>
            <a:r>
              <a:rPr lang="en-US" altLang="en-US" sz="2400" dirty="0">
                <a:ea typeface="ヒラギノ角ゴ Pro W3" pitchFamily="-84" charset="-128"/>
              </a:rPr>
              <a:t>Because foreign workers have a wage that is only</a:t>
            </a:r>
            <a:endParaRPr lang="en-US" sz="2400" dirty="0"/>
          </a:p>
        </p:txBody>
      </p:sp>
      <p:graphicFrame>
        <p:nvGraphicFramePr>
          <p:cNvPr id="6" name="Object 5" descr="1 third">
            <a:extLst>
              <a:ext uri="{FF2B5EF4-FFF2-40B4-BE49-F238E27FC236}">
                <a16:creationId xmlns:a16="http://schemas.microsoft.com/office/drawing/2014/main" id="{CD468291-A9F9-4FE0-9EB3-0F7A2D1970E4}"/>
              </a:ext>
            </a:extLst>
          </p:cNvPr>
          <p:cNvGraphicFramePr>
            <a:graphicFrameLocks noChangeAspect="1"/>
          </p:cNvGraphicFramePr>
          <p:nvPr>
            <p:extLst>
              <p:ext uri="{D42A27DB-BD31-4B8C-83A1-F6EECF244321}">
                <p14:modId xmlns:p14="http://schemas.microsoft.com/office/powerpoint/2010/main" val="928502182"/>
              </p:ext>
            </p:extLst>
          </p:nvPr>
        </p:nvGraphicFramePr>
        <p:xfrm>
          <a:off x="7706270" y="1489075"/>
          <a:ext cx="269875" cy="695325"/>
        </p:xfrm>
        <a:graphic>
          <a:graphicData uri="http://schemas.openxmlformats.org/presentationml/2006/ole">
            <mc:AlternateContent xmlns:mc="http://schemas.openxmlformats.org/markup-compatibility/2006">
              <mc:Choice xmlns:v="urn:schemas-microsoft-com:vml" Requires="v">
                <p:oleObj spid="_x0000_s35850" name="Equation" r:id="rId3" imgW="152280" imgH="393480" progId="Equation.DSMT4">
                  <p:embed/>
                </p:oleObj>
              </mc:Choice>
              <mc:Fallback>
                <p:oleObj name="Equation" r:id="rId3" imgW="152280" imgH="393480" progId="Equation.DSMT4">
                  <p:embed/>
                  <p:pic>
                    <p:nvPicPr>
                      <p:cNvPr id="14" name="Object 13"/>
                      <p:cNvPicPr/>
                      <p:nvPr/>
                    </p:nvPicPr>
                    <p:blipFill>
                      <a:blip r:embed="rId4"/>
                      <a:stretch>
                        <a:fillRect/>
                      </a:stretch>
                    </p:blipFill>
                    <p:spPr>
                      <a:xfrm>
                        <a:off x="7706270" y="1489075"/>
                        <a:ext cx="269875" cy="69532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B2FAE4F3-818C-4499-BAC0-24334F56AC31}"/>
              </a:ext>
            </a:extLst>
          </p:cNvPr>
          <p:cNvSpPr>
            <a:spLocks noGrp="1"/>
          </p:cNvSpPr>
          <p:nvPr>
            <p:ph sz="quarter" idx="14"/>
          </p:nvPr>
        </p:nvSpPr>
        <p:spPr>
          <a:xfrm>
            <a:off x="457200" y="2341181"/>
            <a:ext cx="8229599" cy="1274376"/>
          </a:xfrm>
        </p:spPr>
        <p:txBody>
          <a:bodyPr/>
          <a:lstStyle/>
          <a:p>
            <a:pPr marL="255600" indent="0">
              <a:spcBef>
                <a:spcPct val="60000"/>
              </a:spcBef>
              <a:buNone/>
            </a:pPr>
            <a:r>
              <a:rPr lang="en-US" altLang="en-US" sz="2400" dirty="0">
                <a:ea typeface="ヒラギノ角ゴ Pro W3" pitchFamily="-84" charset="-128"/>
              </a:rPr>
              <a:t>the wage of domestic workers, they are able to attain a cost advantage in wine production, despite low productivity.</a:t>
            </a:r>
          </a:p>
        </p:txBody>
      </p:sp>
      <p:sp>
        <p:nvSpPr>
          <p:cNvPr id="5" name="Content Placeholder 4">
            <a:extLst>
              <a:ext uri="{FF2B5EF4-FFF2-40B4-BE49-F238E27FC236}">
                <a16:creationId xmlns:a16="http://schemas.microsoft.com/office/drawing/2014/main" id="{18CA67EB-4FE5-4F57-8E14-112006BFE6FC}"/>
              </a:ext>
            </a:extLst>
          </p:cNvPr>
          <p:cNvSpPr>
            <a:spLocks noGrp="1"/>
          </p:cNvSpPr>
          <p:nvPr>
            <p:ph sz="quarter" idx="15"/>
          </p:nvPr>
        </p:nvSpPr>
        <p:spPr>
          <a:xfrm>
            <a:off x="466602" y="3740034"/>
            <a:ext cx="8220197" cy="1751948"/>
          </a:xfrm>
        </p:spPr>
        <p:txBody>
          <a:bodyPr/>
          <a:lstStyle/>
          <a:p>
            <a:r>
              <a:rPr lang="en-US" altLang="en-US" sz="2400" dirty="0">
                <a:ea typeface="ヒラギノ角ゴ Pro W3" pitchFamily="-84" charset="-128"/>
              </a:rPr>
              <a:t>Because domestic workers have a productivity that is six times that of foreign workers in cheese production, they are able to attain a cost advantage in cheese production, despite high wages.</a:t>
            </a:r>
            <a:endParaRPr lang="en-IN" dirty="0"/>
          </a:p>
        </p:txBody>
      </p:sp>
    </p:spTree>
    <p:extLst>
      <p:ext uri="{BB962C8B-B14F-4D97-AF65-F5344CB8AC3E}">
        <p14:creationId xmlns:p14="http://schemas.microsoft.com/office/powerpoint/2010/main" val="509967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674E-063B-4893-A04F-367A26E56455}"/>
              </a:ext>
            </a:extLst>
          </p:cNvPr>
          <p:cNvSpPr>
            <a:spLocks noGrp="1"/>
          </p:cNvSpPr>
          <p:nvPr>
            <p:ph type="title"/>
          </p:nvPr>
        </p:nvSpPr>
        <p:spPr/>
        <p:txBody>
          <a:bodyPr/>
          <a:lstStyle/>
          <a:p>
            <a:r>
              <a:rPr lang="en-US" altLang="en-US" sz="3600" dirty="0">
                <a:ea typeface="ヒラギノ角ゴ Pro W3" pitchFamily="-84" charset="-128"/>
              </a:rPr>
              <a:t>Do Wages Reflect Productivity? </a:t>
            </a:r>
            <a:r>
              <a:rPr lang="en-US" altLang="en-US" sz="2000" b="0" dirty="0">
                <a:ea typeface="ヒラギノ角ゴ Pro W3" pitchFamily="-84" charset="-128"/>
              </a:rPr>
              <a:t>(1 of 2)</a:t>
            </a:r>
            <a:endParaRPr lang="en-IN" dirty="0"/>
          </a:p>
        </p:txBody>
      </p:sp>
      <p:sp>
        <p:nvSpPr>
          <p:cNvPr id="3" name="Content Placeholder 2">
            <a:extLst>
              <a:ext uri="{FF2B5EF4-FFF2-40B4-BE49-F238E27FC236}">
                <a16:creationId xmlns:a16="http://schemas.microsoft.com/office/drawing/2014/main" id="{8244E01E-852B-42BE-A3AF-696E711AEF07}"/>
              </a:ext>
            </a:extLst>
          </p:cNvPr>
          <p:cNvSpPr>
            <a:spLocks noGrp="1"/>
          </p:cNvSpPr>
          <p:nvPr>
            <p:ph sz="quarter" idx="13"/>
          </p:nvPr>
        </p:nvSpPr>
        <p:spPr>
          <a:xfrm>
            <a:off x="457199" y="1556327"/>
            <a:ext cx="8449733" cy="4586896"/>
          </a:xfrm>
        </p:spPr>
        <p:txBody>
          <a:bodyPr/>
          <a:lstStyle/>
          <a:p>
            <a:pPr>
              <a:spcBef>
                <a:spcPct val="60000"/>
              </a:spcBef>
            </a:pPr>
            <a:r>
              <a:rPr lang="en-US" altLang="en-US" sz="2400" dirty="0">
                <a:ea typeface="ヒラギノ角ゴ Pro W3" pitchFamily="-84" charset="-128"/>
              </a:rPr>
              <a:t>Do relative wages reflect relative productivities of the two countries?</a:t>
            </a:r>
          </a:p>
          <a:p>
            <a:r>
              <a:rPr lang="en-US" altLang="en-US" sz="2400" dirty="0">
                <a:ea typeface="ヒラギノ角ゴ Pro W3" pitchFamily="-84" charset="-128"/>
              </a:rPr>
              <a:t>Evidence shows that low wages are associated with low productivity.</a:t>
            </a:r>
          </a:p>
          <a:p>
            <a:pPr lvl="1"/>
            <a:r>
              <a:rPr lang="en-US" altLang="en-US" sz="2400" dirty="0">
                <a:ea typeface="ヒラギノ角ゴ Pro W3" pitchFamily="-84" charset="-128"/>
              </a:rPr>
              <a:t>Wage of most countries relative to the United States is similar to their productivity relative to the United States.</a:t>
            </a:r>
            <a:endParaRPr lang="en-US" sz="2400" dirty="0"/>
          </a:p>
        </p:txBody>
      </p:sp>
    </p:spTree>
    <p:extLst>
      <p:ext uri="{BB962C8B-B14F-4D97-AF65-F5344CB8AC3E}">
        <p14:creationId xmlns:p14="http://schemas.microsoft.com/office/powerpoint/2010/main" val="2681542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1ED8-F57C-4BAA-8EC1-BDA20F3B4CED}"/>
              </a:ext>
            </a:extLst>
          </p:cNvPr>
          <p:cNvSpPr>
            <a:spLocks noGrp="1"/>
          </p:cNvSpPr>
          <p:nvPr>
            <p:ph type="title"/>
          </p:nvPr>
        </p:nvSpPr>
        <p:spPr/>
        <p:txBody>
          <a:bodyPr/>
          <a:lstStyle/>
          <a:p>
            <a:r>
              <a:rPr lang="en-US" altLang="en-US" sz="3600" dirty="0">
                <a:ea typeface="ヒラギノ角ゴ Pro W3" pitchFamily="-84" charset="-128"/>
              </a:rPr>
              <a:t>Productivity and Wages</a:t>
            </a:r>
            <a:endParaRPr lang="en-IN" dirty="0"/>
          </a:p>
        </p:txBody>
      </p:sp>
      <p:pic>
        <p:nvPicPr>
          <p:cNvPr id="8" name="Content Placeholder 7" descr="A scatter diagram plots hourly wage, as a percentage of U S, versus productivity, as a percentage of U 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t="275" b="-1"/>
          <a:stretch/>
        </p:blipFill>
        <p:spPr>
          <a:xfrm>
            <a:off x="2328906" y="1662113"/>
            <a:ext cx="4486186" cy="3738158"/>
          </a:xfrm>
        </p:spPr>
      </p:pic>
      <p:sp>
        <p:nvSpPr>
          <p:cNvPr id="4" name="Content Placeholder 3">
            <a:extLst>
              <a:ext uri="{FF2B5EF4-FFF2-40B4-BE49-F238E27FC236}">
                <a16:creationId xmlns:a16="http://schemas.microsoft.com/office/drawing/2014/main" id="{FA2EDD7F-19D2-4FE5-AFB4-9AD51B0AFEE3}"/>
              </a:ext>
            </a:extLst>
          </p:cNvPr>
          <p:cNvSpPr>
            <a:spLocks noGrp="1"/>
          </p:cNvSpPr>
          <p:nvPr>
            <p:ph sz="quarter" idx="14"/>
          </p:nvPr>
        </p:nvSpPr>
        <p:spPr>
          <a:xfrm>
            <a:off x="457200" y="5549456"/>
            <a:ext cx="8229600" cy="798790"/>
          </a:xfrm>
        </p:spPr>
        <p:txBody>
          <a:bodyPr/>
          <a:lstStyle/>
          <a:p>
            <a:pPr marL="0" indent="0">
              <a:spcBef>
                <a:spcPts val="600"/>
              </a:spcBef>
              <a:buNone/>
            </a:pPr>
            <a:r>
              <a:rPr lang="en-US" sz="1800" dirty="0"/>
              <a:t>A country’s wage rate is roughly proportional to the country’s productivity</a:t>
            </a:r>
          </a:p>
          <a:p>
            <a:pPr marL="0" indent="0">
              <a:spcBef>
                <a:spcPts val="600"/>
              </a:spcBef>
              <a:buNone/>
            </a:pPr>
            <a:r>
              <a:rPr lang="en-US" sz="1600" b="1" dirty="0"/>
              <a:t>Source: </a:t>
            </a:r>
            <a:r>
              <a:rPr lang="en-US" sz="1600" dirty="0"/>
              <a:t>International Monetary Fund and The Conference Board.</a:t>
            </a:r>
          </a:p>
        </p:txBody>
      </p:sp>
    </p:spTree>
    <p:extLst>
      <p:ext uri="{BB962C8B-B14F-4D97-AF65-F5344CB8AC3E}">
        <p14:creationId xmlns:p14="http://schemas.microsoft.com/office/powerpoint/2010/main" val="41882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8274-3E1D-4DB7-94F3-0746A857308D}"/>
              </a:ext>
            </a:extLst>
          </p:cNvPr>
          <p:cNvSpPr>
            <a:spLocks noGrp="1"/>
          </p:cNvSpPr>
          <p:nvPr>
            <p:ph type="title"/>
          </p:nvPr>
        </p:nvSpPr>
        <p:spPr/>
        <p:txBody>
          <a:bodyPr/>
          <a:lstStyle/>
          <a:p>
            <a:r>
              <a:rPr lang="en-US" altLang="en-US" sz="3600" dirty="0">
                <a:ea typeface="ヒラギノ角ゴ Pro W3" pitchFamily="-84" charset="-128"/>
              </a:rPr>
              <a:t>Do Wages Reflect Productivity? </a:t>
            </a:r>
            <a:r>
              <a:rPr lang="en-US" altLang="en-US" sz="2000" b="0" dirty="0">
                <a:ea typeface="ヒラギノ角ゴ Pro W3" pitchFamily="-84" charset="-128"/>
              </a:rPr>
              <a:t>(2 of 2)</a:t>
            </a:r>
            <a:endParaRPr lang="en-IN" dirty="0"/>
          </a:p>
        </p:txBody>
      </p:sp>
      <p:sp>
        <p:nvSpPr>
          <p:cNvPr id="3" name="Content Placeholder 2">
            <a:extLst>
              <a:ext uri="{FF2B5EF4-FFF2-40B4-BE49-F238E27FC236}">
                <a16:creationId xmlns:a16="http://schemas.microsoft.com/office/drawing/2014/main" id="{7EBCA4B5-1C95-46A5-9F57-A7E65599E696}"/>
              </a:ext>
            </a:extLst>
          </p:cNvPr>
          <p:cNvSpPr>
            <a:spLocks noGrp="1"/>
          </p:cNvSpPr>
          <p:nvPr>
            <p:ph sz="quarter" idx="13"/>
          </p:nvPr>
        </p:nvSpPr>
        <p:spPr>
          <a:xfrm>
            <a:off x="457200" y="1556327"/>
            <a:ext cx="8394700" cy="3288942"/>
          </a:xfrm>
        </p:spPr>
        <p:txBody>
          <a:bodyPr/>
          <a:lstStyle/>
          <a:p>
            <a:pPr>
              <a:spcBef>
                <a:spcPct val="60000"/>
              </a:spcBef>
            </a:pPr>
            <a:r>
              <a:rPr lang="en-US" altLang="en-US" sz="2400" dirty="0">
                <a:ea typeface="ヒラギノ角ゴ Pro W3" pitchFamily="-84" charset="-128"/>
              </a:rPr>
              <a:t>Other evidence shows that wages rise as productivity rises.</a:t>
            </a:r>
          </a:p>
          <a:p>
            <a:pPr lvl="1">
              <a:spcBef>
                <a:spcPct val="60000"/>
              </a:spcBef>
            </a:pPr>
            <a:r>
              <a:rPr lang="en-US" altLang="en-US" dirty="0">
                <a:ea typeface="ヒラギノ角ゴ Pro W3" pitchFamily="-84" charset="-128"/>
              </a:rPr>
              <a:t>As recently as 1975, wages in South Korea were only 5 percent of those of the United States.</a:t>
            </a:r>
          </a:p>
          <a:p>
            <a:pPr lvl="1">
              <a:spcBef>
                <a:spcPct val="60000"/>
              </a:spcBef>
            </a:pPr>
            <a:r>
              <a:rPr lang="en-US" altLang="en-US" dirty="0">
                <a:ea typeface="ヒラギノ角ゴ Pro W3" pitchFamily="-84" charset="-128"/>
              </a:rPr>
              <a:t>As South Korea’s labor productivity rose (to about half of the U.S. level by 2007), so did its wages.</a:t>
            </a:r>
          </a:p>
        </p:txBody>
      </p:sp>
    </p:spTree>
    <p:extLst>
      <p:ext uri="{BB962C8B-B14F-4D97-AF65-F5344CB8AC3E}">
        <p14:creationId xmlns:p14="http://schemas.microsoft.com/office/powerpoint/2010/main" val="2312402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913604"/>
          </a:xfrm>
        </p:spPr>
        <p:txBody>
          <a:bodyPr/>
          <a:lstStyle/>
          <a:p>
            <a:pPr marL="432000" indent="-432000">
              <a:spcBef>
                <a:spcPts val="0"/>
              </a:spcBef>
              <a:buFont typeface="+mj-lt"/>
              <a:buAutoNum type="arabicPeriod"/>
            </a:pPr>
            <a:r>
              <a:rPr lang="en-US" altLang="en-US" sz="2400" dirty="0">
                <a:ea typeface="ヒラギノ角ゴ Pro W3" pitchFamily="-84" charset="-128"/>
              </a:rPr>
              <a:t>Free trade is beneficial only if a country is more productive than foreign countries.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562104"/>
            <a:ext cx="8229600" cy="3390165"/>
          </a:xfrm>
        </p:spPr>
        <p:txBody>
          <a:bodyPr/>
          <a:lstStyle/>
          <a:p>
            <a:pPr lvl="1"/>
            <a:r>
              <a:rPr lang="en-US" altLang="en-US" sz="2400" dirty="0">
                <a:ea typeface="ヒラギノ角ゴ Pro W3" pitchFamily="-84" charset="-128"/>
              </a:rPr>
              <a:t>But even an unproductive country benefits from free trade by avoiding the high costs for goods that it would otherwise have to produce domestically.</a:t>
            </a:r>
          </a:p>
          <a:p>
            <a:pPr lvl="1"/>
            <a:r>
              <a:rPr lang="en-US" altLang="en-US" sz="2400" dirty="0">
                <a:ea typeface="ヒラギノ角ゴ Pro W3" pitchFamily="-84" charset="-128"/>
              </a:rPr>
              <a:t>High costs derive from inefficient use of resources.</a:t>
            </a:r>
          </a:p>
          <a:p>
            <a:pPr lvl="1"/>
            <a:r>
              <a:rPr lang="en-US" altLang="en-US" sz="2400" dirty="0">
                <a:ea typeface="ヒラギノ角ゴ Pro W3" pitchFamily="-84" charset="-128"/>
              </a:rPr>
              <a:t>The benefits of free trade do not depend on absolute advantage, rather they depend on comparative advantage: specializing in industries that use resources most efficiently.</a:t>
            </a:r>
            <a:endParaRPr lang="en-US" sz="2400" dirty="0"/>
          </a:p>
        </p:txBody>
      </p:sp>
    </p:spTree>
    <p:extLst>
      <p:ext uri="{BB962C8B-B14F-4D97-AF65-F5344CB8AC3E}">
        <p14:creationId xmlns:p14="http://schemas.microsoft.com/office/powerpoint/2010/main" val="1840026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913604"/>
          </a:xfrm>
        </p:spPr>
        <p:txBody>
          <a:bodyPr/>
          <a:lstStyle/>
          <a:p>
            <a:pPr marL="432000" indent="-432000">
              <a:spcBef>
                <a:spcPts val="0"/>
              </a:spcBef>
              <a:buFont typeface="+mj-lt"/>
              <a:buAutoNum type="arabicPeriod" startAt="2"/>
            </a:pPr>
            <a:r>
              <a:rPr lang="en-US" altLang="en-US" sz="2400" dirty="0">
                <a:ea typeface="ヒラギノ角ゴ Pro W3" pitchFamily="-84" charset="-128"/>
              </a:rPr>
              <a:t>Free trade with countries that pay low wages hurts </a:t>
            </a:r>
            <a:br>
              <a:rPr lang="en-US" altLang="en-US" sz="2400" dirty="0">
                <a:ea typeface="ヒラギノ角ゴ Pro W3" pitchFamily="-84" charset="-128"/>
              </a:rPr>
            </a:br>
            <a:r>
              <a:rPr lang="en-US" altLang="en-US" sz="2400" dirty="0">
                <a:ea typeface="ヒラギノ角ゴ Pro W3" pitchFamily="-84" charset="-128"/>
              </a:rPr>
              <a:t>high-wage countries.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562104"/>
            <a:ext cx="8331200" cy="3711696"/>
          </a:xfrm>
        </p:spPr>
        <p:txBody>
          <a:bodyPr/>
          <a:lstStyle/>
          <a:p>
            <a:pPr lvl="1"/>
            <a:r>
              <a:rPr lang="en-US" altLang="en-US" sz="2400" dirty="0">
                <a:ea typeface="ヒラギノ角ゴ Pro W3" pitchFamily="-84" charset="-128"/>
              </a:rPr>
              <a:t>While trade may reduce wages for </a:t>
            </a:r>
            <a:r>
              <a:rPr lang="en-US" altLang="en-US" sz="2400" b="1" dirty="0">
                <a:ea typeface="ヒラギノ角ゴ Pro W3" pitchFamily="-84" charset="-128"/>
              </a:rPr>
              <a:t>some</a:t>
            </a:r>
            <a:r>
              <a:rPr lang="en-US" altLang="en-US" sz="2400" i="1" dirty="0">
                <a:ea typeface="ヒラギノ角ゴ Pro W3" pitchFamily="-84" charset="-128"/>
              </a:rPr>
              <a:t> </a:t>
            </a:r>
            <a:r>
              <a:rPr lang="en-US" altLang="en-US" sz="2400" dirty="0">
                <a:ea typeface="ヒラギノ角ゴ Pro W3" pitchFamily="-84" charset="-128"/>
              </a:rPr>
              <a:t>workers, thereby affecting the distribution of income within a country, trade benefits consumers and other workers.</a:t>
            </a:r>
          </a:p>
          <a:p>
            <a:pPr lvl="1"/>
            <a:r>
              <a:rPr lang="en-US" altLang="en-US" sz="2400" dirty="0">
                <a:ea typeface="ヒラギノ角ゴ Pro W3" pitchFamily="-84" charset="-128"/>
              </a:rPr>
              <a:t>Consumers benefit because they can purchase goods more cheaply.</a:t>
            </a:r>
          </a:p>
          <a:p>
            <a:pPr lvl="1"/>
            <a:r>
              <a:rPr lang="en-US" altLang="en-US" sz="2400" dirty="0">
                <a:ea typeface="ヒラギノ角ゴ Pro W3" pitchFamily="-84" charset="-128"/>
              </a:rPr>
              <a:t>Producers/workers benefit by earning a higher income in the industries that use resources more efficiently, allowing them to earn higher prices and wages.</a:t>
            </a:r>
            <a:endParaRPr lang="en-US" sz="2400" dirty="0"/>
          </a:p>
        </p:txBody>
      </p:sp>
    </p:spTree>
    <p:extLst>
      <p:ext uri="{BB962C8B-B14F-4D97-AF65-F5344CB8AC3E}">
        <p14:creationId xmlns:p14="http://schemas.microsoft.com/office/powerpoint/2010/main" val="36389509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(3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808500"/>
          </a:xfrm>
        </p:spPr>
        <p:txBody>
          <a:bodyPr/>
          <a:lstStyle/>
          <a:p>
            <a:pPr marL="432000" indent="-432000">
              <a:spcBef>
                <a:spcPts val="0"/>
              </a:spcBef>
              <a:buFont typeface="+mj-lt"/>
              <a:buAutoNum type="arabicPeriod" startAt="3"/>
            </a:pPr>
            <a:r>
              <a:rPr lang="en-US" altLang="en-US" sz="2200" dirty="0">
                <a:ea typeface="ヒラギノ角ゴ Pro W3" pitchFamily="-84" charset="-128"/>
              </a:rPr>
              <a:t>Free trade exploits less productive countries whose workers make low wages.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460503"/>
            <a:ext cx="8229600" cy="3746621"/>
          </a:xfrm>
        </p:spPr>
        <p:txBody>
          <a:bodyPr/>
          <a:lstStyle/>
          <a:p>
            <a:pPr marL="740664" lvl="1" indent="-283464"/>
            <a:r>
              <a:rPr lang="en-US" altLang="en-US" sz="2200" dirty="0">
                <a:ea typeface="ヒラギノ角ゴ Pro W3" pitchFamily="-84" charset="-128"/>
              </a:rPr>
              <a:t>While labor standards in some countries are less than exemplary compared to Western standards, they are so with or without trade.</a:t>
            </a:r>
          </a:p>
          <a:p>
            <a:pPr marL="740664" lvl="1" indent="-283464"/>
            <a:r>
              <a:rPr lang="en-US" altLang="en-US" sz="2200" dirty="0">
                <a:ea typeface="ヒラギノ角ゴ Pro W3" pitchFamily="-84" charset="-128"/>
              </a:rPr>
              <a:t>Are high wages and safe labor practices alternatives to trade? Deeper poverty and exploitation may result without export production.</a:t>
            </a:r>
          </a:p>
          <a:p>
            <a:pPr marL="740664" lvl="1" indent="-283464"/>
            <a:r>
              <a:rPr lang="en-US" altLang="en-US" sz="2200" dirty="0">
                <a:ea typeface="ヒラギノ角ゴ Pro W3" pitchFamily="-84" charset="-128"/>
              </a:rPr>
              <a:t>Consumers benefit from free trade by having access to cheaply (efficiently) produced goods. </a:t>
            </a:r>
          </a:p>
          <a:p>
            <a:pPr marL="740664" lvl="1" indent="-283464"/>
            <a:r>
              <a:rPr lang="en-US" altLang="en-US" sz="2200" dirty="0">
                <a:ea typeface="ヒラギノ角ゴ Pro W3" pitchFamily="-84" charset="-128"/>
              </a:rPr>
              <a:t>Producers/workers benefit from having higher profits/wages—higher compared to the alternative.</a:t>
            </a:r>
            <a:endParaRPr lang="en-US" sz="2200" dirty="0"/>
          </a:p>
        </p:txBody>
      </p:sp>
    </p:spTree>
    <p:extLst>
      <p:ext uri="{BB962C8B-B14F-4D97-AF65-F5344CB8AC3E}">
        <p14:creationId xmlns:p14="http://schemas.microsoft.com/office/powerpoint/2010/main" val="15192773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40FF-ABEA-4C36-932D-44BC274FC3D0}"/>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(1 of 7)</a:t>
            </a:r>
            <a:endParaRPr lang="en-IN" sz="2000" dirty="0"/>
          </a:p>
        </p:txBody>
      </p:sp>
      <p:sp>
        <p:nvSpPr>
          <p:cNvPr id="3" name="Content Placeholder 2">
            <a:extLst>
              <a:ext uri="{FF2B5EF4-FFF2-40B4-BE49-F238E27FC236}">
                <a16:creationId xmlns:a16="http://schemas.microsoft.com/office/drawing/2014/main" id="{F96B4628-4A94-426B-9E43-20F74217488C}"/>
              </a:ext>
            </a:extLst>
          </p:cNvPr>
          <p:cNvSpPr>
            <a:spLocks noGrp="1"/>
          </p:cNvSpPr>
          <p:nvPr>
            <p:ph sz="quarter" idx="13"/>
          </p:nvPr>
        </p:nvSpPr>
        <p:spPr>
          <a:xfrm>
            <a:off x="457201" y="1552575"/>
            <a:ext cx="7231824" cy="502857"/>
          </a:xfrm>
        </p:spPr>
        <p:txBody>
          <a:bodyPr/>
          <a:lstStyle/>
          <a:p>
            <a:r>
              <a:rPr lang="en-US" altLang="en-US" sz="2200" dirty="0">
                <a:ea typeface="ヒラギノ角ゴ Pro W3" pitchFamily="-84" charset="-128"/>
              </a:rPr>
              <a:t>Suppose now there are </a:t>
            </a:r>
            <a:r>
              <a:rPr lang="en-US" altLang="en-US" sz="2200" i="1" dirty="0">
                <a:ea typeface="ヒラギノ角ゴ Pro W3" pitchFamily="-84" charset="-128"/>
              </a:rPr>
              <a:t>N</a:t>
            </a:r>
            <a:r>
              <a:rPr lang="en-US" altLang="en-US" sz="2200" dirty="0">
                <a:ea typeface="ヒラギノ角ゴ Pro W3" pitchFamily="-84" charset="-128"/>
              </a:rPr>
              <a:t> goods produced, indexed by</a:t>
            </a:r>
          </a:p>
        </p:txBody>
      </p:sp>
      <p:graphicFrame>
        <p:nvGraphicFramePr>
          <p:cNvPr id="9" name="Object 8" descr="i = 1, 2, horizontal ellipsis N.">
            <a:extLst>
              <a:ext uri="{FF2B5EF4-FFF2-40B4-BE49-F238E27FC236}">
                <a16:creationId xmlns:a16="http://schemas.microsoft.com/office/drawing/2014/main" id="{91E0BDD4-AA82-47C1-91F4-4D8C69C2671F}"/>
              </a:ext>
            </a:extLst>
          </p:cNvPr>
          <p:cNvGraphicFramePr>
            <a:graphicFrameLocks noChangeAspect="1"/>
          </p:cNvGraphicFramePr>
          <p:nvPr>
            <p:extLst>
              <p:ext uri="{D42A27DB-BD31-4B8C-83A1-F6EECF244321}">
                <p14:modId xmlns:p14="http://schemas.microsoft.com/office/powerpoint/2010/main" val="1444178943"/>
              </p:ext>
            </p:extLst>
          </p:nvPr>
        </p:nvGraphicFramePr>
        <p:xfrm>
          <a:off x="7740820" y="1679135"/>
          <a:ext cx="1283884" cy="343284"/>
        </p:xfrm>
        <a:graphic>
          <a:graphicData uri="http://schemas.openxmlformats.org/presentationml/2006/ole">
            <mc:AlternateContent xmlns:mc="http://schemas.openxmlformats.org/markup-compatibility/2006">
              <mc:Choice xmlns:v="urn:schemas-microsoft-com:vml" Requires="v">
                <p:oleObj spid="_x0000_s36890" name="Equation" r:id="rId3" imgW="761760" imgH="203040" progId="Equation.DSMT4">
                  <p:embed/>
                </p:oleObj>
              </mc:Choice>
              <mc:Fallback>
                <p:oleObj name="Equation" r:id="rId3" imgW="761760" imgH="203040" progId="Equation.DSMT4">
                  <p:embed/>
                  <p:pic>
                    <p:nvPicPr>
                      <p:cNvPr id="7" name="Object 6" descr="a sub start expression L i end expression, ">
                        <a:extLst>
                          <a:ext uri="{FF2B5EF4-FFF2-40B4-BE49-F238E27FC236}">
                            <a16:creationId xmlns:a16="http://schemas.microsoft.com/office/drawing/2014/main" id="{91E0BDD4-AA82-47C1-91F4-4D8C69C2671F}"/>
                          </a:ext>
                        </a:extLst>
                      </p:cNvPr>
                      <p:cNvPicPr/>
                      <p:nvPr/>
                    </p:nvPicPr>
                    <p:blipFill>
                      <a:blip r:embed="rId4"/>
                      <a:stretch>
                        <a:fillRect/>
                      </a:stretch>
                    </p:blipFill>
                    <p:spPr>
                      <a:xfrm>
                        <a:off x="7740820" y="1679135"/>
                        <a:ext cx="1283884" cy="343284"/>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FFA6A78-8272-4A37-9EB0-7D21F7EEC6AD}"/>
              </a:ext>
            </a:extLst>
          </p:cNvPr>
          <p:cNvSpPr>
            <a:spLocks noGrp="1"/>
          </p:cNvSpPr>
          <p:nvPr>
            <p:ph sz="quarter" idx="14"/>
          </p:nvPr>
        </p:nvSpPr>
        <p:spPr>
          <a:xfrm>
            <a:off x="457200" y="2172248"/>
            <a:ext cx="7236372" cy="507449"/>
          </a:xfrm>
        </p:spPr>
        <p:txBody>
          <a:bodyPr/>
          <a:lstStyle/>
          <a:p>
            <a:r>
              <a:rPr lang="en-US" altLang="en-US" sz="2200" dirty="0">
                <a:ea typeface="ヒラギノ角ゴ Pro W3" pitchFamily="-84" charset="-128"/>
              </a:rPr>
              <a:t>The home country’</a:t>
            </a:r>
            <a:r>
              <a:rPr lang="en-US" altLang="ja-JP" sz="2200" dirty="0">
                <a:ea typeface="ヒラギノ角ゴ Pro W3" pitchFamily="-84" charset="-128"/>
              </a:rPr>
              <a:t>s unit labor requirement for good </a:t>
            </a:r>
            <a:r>
              <a:rPr lang="en-US" altLang="ja-JP" sz="2200" i="1" dirty="0">
                <a:ea typeface="ヒラギノ角ゴ Pro W3" pitchFamily="-84" charset="-128"/>
              </a:rPr>
              <a:t>i</a:t>
            </a:r>
            <a:r>
              <a:rPr lang="en-US" altLang="ja-JP" sz="2200" dirty="0">
                <a:ea typeface="ヒラギノ角ゴ Pro W3" pitchFamily="-84" charset="-128"/>
              </a:rPr>
              <a:t> is</a:t>
            </a:r>
            <a:endParaRPr lang="en-IN" sz="2200" dirty="0"/>
          </a:p>
        </p:txBody>
      </p:sp>
      <p:graphicFrame>
        <p:nvGraphicFramePr>
          <p:cNvPr id="7" name="Object 6" descr="a sub start expression L i end expression, ">
            <a:extLst>
              <a:ext uri="{FF2B5EF4-FFF2-40B4-BE49-F238E27FC236}">
                <a16:creationId xmlns:a16="http://schemas.microsoft.com/office/drawing/2014/main" id="{91E0BDD4-AA82-47C1-91F4-4D8C69C2671F}"/>
              </a:ext>
            </a:extLst>
          </p:cNvPr>
          <p:cNvGraphicFramePr>
            <a:graphicFrameLocks noChangeAspect="1"/>
          </p:cNvGraphicFramePr>
          <p:nvPr>
            <p:extLst>
              <p:ext uri="{D42A27DB-BD31-4B8C-83A1-F6EECF244321}">
                <p14:modId xmlns:p14="http://schemas.microsoft.com/office/powerpoint/2010/main" val="2084894811"/>
              </p:ext>
            </p:extLst>
          </p:nvPr>
        </p:nvGraphicFramePr>
        <p:xfrm>
          <a:off x="7765000" y="2221343"/>
          <a:ext cx="469079" cy="445834"/>
        </p:xfrm>
        <a:graphic>
          <a:graphicData uri="http://schemas.openxmlformats.org/presentationml/2006/ole">
            <mc:AlternateContent xmlns:mc="http://schemas.openxmlformats.org/markup-compatibility/2006">
              <mc:Choice xmlns:v="urn:schemas-microsoft-com:vml" Requires="v">
                <p:oleObj spid="_x0000_s36891" name="Equation" r:id="rId5" imgW="241200" imgH="228600" progId="Equation.DSMT4">
                  <p:embed/>
                </p:oleObj>
              </mc:Choice>
              <mc:Fallback>
                <p:oleObj name="Equation" r:id="rId5" imgW="241200" imgH="228600" progId="Equation.DSMT4">
                  <p:embed/>
                  <p:pic>
                    <p:nvPicPr>
                      <p:cNvPr id="13" name="Object 12"/>
                      <p:cNvPicPr/>
                      <p:nvPr/>
                    </p:nvPicPr>
                    <p:blipFill>
                      <a:blip r:embed="rId6"/>
                      <a:stretch>
                        <a:fillRect/>
                      </a:stretch>
                    </p:blipFill>
                    <p:spPr>
                      <a:xfrm>
                        <a:off x="7765000" y="2221343"/>
                        <a:ext cx="469079" cy="44583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4FFE1D75-4C6C-41B0-867D-E896BF471F8A}"/>
              </a:ext>
            </a:extLst>
          </p:cNvPr>
          <p:cNvSpPr>
            <a:spLocks noGrp="1"/>
          </p:cNvSpPr>
          <p:nvPr>
            <p:ph sz="quarter" idx="15"/>
          </p:nvPr>
        </p:nvSpPr>
        <p:spPr>
          <a:xfrm>
            <a:off x="457201" y="2794662"/>
            <a:ext cx="7278413" cy="490259"/>
          </a:xfrm>
        </p:spPr>
        <p:txBody>
          <a:bodyPr/>
          <a:lstStyle/>
          <a:p>
            <a:pPr marL="255600" indent="0">
              <a:buNone/>
            </a:pPr>
            <a:r>
              <a:rPr lang="en-US" altLang="ja-JP" sz="2200" dirty="0">
                <a:ea typeface="ヒラギノ角ゴ Pro W3" pitchFamily="-84" charset="-128"/>
              </a:rPr>
              <a:t>and the corresponding foreign unit labor requirement is</a:t>
            </a:r>
            <a:endParaRPr lang="en-IN" sz="2200" dirty="0"/>
          </a:p>
        </p:txBody>
      </p:sp>
      <p:graphicFrame>
        <p:nvGraphicFramePr>
          <p:cNvPr id="8" name="Object 7" descr="a to the asterisk power sub start expression L i end expression.">
            <a:extLst>
              <a:ext uri="{FF2B5EF4-FFF2-40B4-BE49-F238E27FC236}">
                <a16:creationId xmlns:a16="http://schemas.microsoft.com/office/drawing/2014/main" id="{E558A275-4603-44E8-BC5B-41476739A33D}"/>
              </a:ext>
            </a:extLst>
          </p:cNvPr>
          <p:cNvGraphicFramePr>
            <a:graphicFrameLocks noChangeAspect="1"/>
          </p:cNvGraphicFramePr>
          <p:nvPr>
            <p:extLst>
              <p:ext uri="{D42A27DB-BD31-4B8C-83A1-F6EECF244321}">
                <p14:modId xmlns:p14="http://schemas.microsoft.com/office/powerpoint/2010/main" val="3907755686"/>
              </p:ext>
            </p:extLst>
          </p:nvPr>
        </p:nvGraphicFramePr>
        <p:xfrm>
          <a:off x="7809856" y="2814695"/>
          <a:ext cx="470226" cy="470226"/>
        </p:xfrm>
        <a:graphic>
          <a:graphicData uri="http://schemas.openxmlformats.org/presentationml/2006/ole">
            <mc:AlternateContent xmlns:mc="http://schemas.openxmlformats.org/markup-compatibility/2006">
              <mc:Choice xmlns:v="urn:schemas-microsoft-com:vml" Requires="v">
                <p:oleObj spid="_x0000_s36892" name="Equation" r:id="rId7" imgW="241200" imgH="241200" progId="Equation.DSMT4">
                  <p:embed/>
                </p:oleObj>
              </mc:Choice>
              <mc:Fallback>
                <p:oleObj name="Equation" r:id="rId7" imgW="241200" imgH="241200" progId="Equation.DSMT4">
                  <p:embed/>
                  <p:pic>
                    <p:nvPicPr>
                      <p:cNvPr id="0" name=""/>
                      <p:cNvPicPr/>
                      <p:nvPr/>
                    </p:nvPicPr>
                    <p:blipFill>
                      <a:blip r:embed="rId8"/>
                      <a:stretch>
                        <a:fillRect/>
                      </a:stretch>
                    </p:blipFill>
                    <p:spPr>
                      <a:xfrm>
                        <a:off x="7809856" y="2814695"/>
                        <a:ext cx="470226" cy="470226"/>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ACC662C-9084-4F96-86E7-ED184B8B5F2A}"/>
              </a:ext>
            </a:extLst>
          </p:cNvPr>
          <p:cNvSpPr>
            <a:spLocks noGrp="1"/>
          </p:cNvSpPr>
          <p:nvPr>
            <p:ph sz="quarter" idx="16"/>
          </p:nvPr>
        </p:nvSpPr>
        <p:spPr>
          <a:xfrm>
            <a:off x="457200" y="3409959"/>
            <a:ext cx="8077200" cy="542813"/>
          </a:xfrm>
        </p:spPr>
        <p:txBody>
          <a:bodyPr/>
          <a:lstStyle/>
          <a:p>
            <a:r>
              <a:rPr lang="en-US" altLang="en-US" sz="2200" dirty="0">
                <a:ea typeface="ヒラギノ角ゴ Pro W3" pitchFamily="-84" charset="-128"/>
              </a:rPr>
              <a:t>Goods will be produced wherever cheapest to produce them.</a:t>
            </a:r>
          </a:p>
        </p:txBody>
      </p:sp>
    </p:spTree>
    <p:extLst>
      <p:ext uri="{BB962C8B-B14F-4D97-AF65-F5344CB8AC3E}">
        <p14:creationId xmlns:p14="http://schemas.microsoft.com/office/powerpoint/2010/main" val="19045788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97280"/>
          </a:xfrm>
        </p:spPr>
        <p:txBody>
          <a:bodyPr/>
          <a:lstStyle/>
          <a:p>
            <a:r>
              <a:rPr lang="en-US" altLang="en-US" sz="3200" dirty="0">
                <a:latin typeface="+mj-lt"/>
                <a:ea typeface="ヒラギノ角ゴ Pro W3" pitchFamily="-84" charset="-128"/>
              </a:rPr>
              <a:t>Comparative Advantage with Many Goods </a:t>
            </a:r>
            <a:r>
              <a:rPr lang="en-US" altLang="en-US" sz="2000" b="0" dirty="0">
                <a:latin typeface="+mj-lt"/>
                <a:ea typeface="ヒラギノ角ゴ Pro W3" pitchFamily="-84" charset="-128"/>
              </a:rPr>
              <a:t>(2 of 7)</a:t>
            </a:r>
            <a:endParaRPr lang="en-IN" sz="2000" dirty="0">
              <a:latin typeface="+mj-lt"/>
            </a:endParaRPr>
          </a:p>
        </p:txBody>
      </p:sp>
      <p:sp>
        <p:nvSpPr>
          <p:cNvPr id="3" name="Content Placeholder 2"/>
          <p:cNvSpPr>
            <a:spLocks noGrp="1"/>
          </p:cNvSpPr>
          <p:nvPr>
            <p:ph idx="1"/>
          </p:nvPr>
        </p:nvSpPr>
        <p:spPr>
          <a:xfrm>
            <a:off x="457199" y="1600201"/>
            <a:ext cx="6712895" cy="421640"/>
          </a:xfrm>
        </p:spPr>
        <p:txBody>
          <a:bodyPr/>
          <a:lstStyle/>
          <a:p>
            <a:pPr indent="-255600"/>
            <a:r>
              <a:rPr lang="en-US" altLang="en-US" sz="2000" dirty="0">
                <a:latin typeface="+mn-lt"/>
                <a:ea typeface="ヒラギノ角ゴ Pro W3" pitchFamily="-84" charset="-128"/>
              </a:rPr>
              <a:t>Let </a:t>
            </a:r>
            <a:r>
              <a:rPr lang="en-US" altLang="en-US" sz="2000" i="1" dirty="0">
                <a:latin typeface="+mn-lt"/>
                <a:ea typeface="ヒラギノ角ゴ Pro W3" pitchFamily="-84" charset="-128"/>
              </a:rPr>
              <a:t>w</a:t>
            </a:r>
            <a:r>
              <a:rPr lang="en-US" altLang="en-US" sz="2000" dirty="0">
                <a:latin typeface="+mn-lt"/>
                <a:ea typeface="ヒラギノ角ゴ Pro W3" pitchFamily="-84" charset="-128"/>
              </a:rPr>
              <a:t> represent the wage rate in the home country, and</a:t>
            </a:r>
            <a:endParaRPr lang="en-IN" sz="2000" dirty="0">
              <a:latin typeface="+mn-lt"/>
            </a:endParaRPr>
          </a:p>
        </p:txBody>
      </p:sp>
      <p:graphicFrame>
        <p:nvGraphicFramePr>
          <p:cNvPr id="11" name="Object 10" descr="W to the asterisk power"/>
          <p:cNvGraphicFramePr>
            <a:graphicFrameLocks noChangeAspect="1"/>
          </p:cNvGraphicFramePr>
          <p:nvPr>
            <p:extLst>
              <p:ext uri="{D42A27DB-BD31-4B8C-83A1-F6EECF244321}">
                <p14:modId xmlns:p14="http://schemas.microsoft.com/office/powerpoint/2010/main" val="58993162"/>
              </p:ext>
            </p:extLst>
          </p:nvPr>
        </p:nvGraphicFramePr>
        <p:xfrm>
          <a:off x="7318847" y="1695912"/>
          <a:ext cx="297505" cy="278912"/>
        </p:xfrm>
        <a:graphic>
          <a:graphicData uri="http://schemas.openxmlformats.org/presentationml/2006/ole">
            <mc:AlternateContent xmlns:mc="http://schemas.openxmlformats.org/markup-compatibility/2006">
              <mc:Choice xmlns:v="urn:schemas-microsoft-com:vml" Requires="v">
                <p:oleObj spid="_x0000_s37914" name="Equation" r:id="rId3" imgW="203040" imgH="190440" progId="Equation.DSMT4">
                  <p:embed/>
                </p:oleObj>
              </mc:Choice>
              <mc:Fallback>
                <p:oleObj name="Equation" r:id="rId3" imgW="203040" imgH="190440" progId="Equation.DSMT4">
                  <p:embed/>
                  <p:pic>
                    <p:nvPicPr>
                      <p:cNvPr id="11" name="Object 10"/>
                      <p:cNvPicPr/>
                      <p:nvPr/>
                    </p:nvPicPr>
                    <p:blipFill>
                      <a:blip r:embed="rId4"/>
                      <a:stretch>
                        <a:fillRect/>
                      </a:stretch>
                    </p:blipFill>
                    <p:spPr>
                      <a:xfrm>
                        <a:off x="7318847" y="1695912"/>
                        <a:ext cx="297505" cy="278912"/>
                      </a:xfrm>
                      <a:prstGeom prst="rect">
                        <a:avLst/>
                      </a:prstGeom>
                    </p:spPr>
                  </p:pic>
                </p:oleObj>
              </mc:Fallback>
            </mc:AlternateContent>
          </a:graphicData>
        </a:graphic>
      </p:graphicFrame>
      <p:sp>
        <p:nvSpPr>
          <p:cNvPr id="4" name="Content Placeholder 3"/>
          <p:cNvSpPr>
            <a:spLocks noGrp="1"/>
          </p:cNvSpPr>
          <p:nvPr>
            <p:ph idx="13"/>
          </p:nvPr>
        </p:nvSpPr>
        <p:spPr>
          <a:xfrm>
            <a:off x="488730" y="2113653"/>
            <a:ext cx="5683470" cy="436507"/>
          </a:xfrm>
        </p:spPr>
        <p:txBody>
          <a:bodyPr/>
          <a:lstStyle/>
          <a:p>
            <a:pPr marL="255600" indent="0">
              <a:buNone/>
            </a:pPr>
            <a:r>
              <a:rPr lang="en-US" altLang="en-US" sz="2000" dirty="0">
                <a:latin typeface="+mn-lt"/>
                <a:ea typeface="ヒラギノ角ゴ Pro W3" pitchFamily="-84" charset="-128"/>
              </a:rPr>
              <a:t>represent the wage rate in the foreign country.</a:t>
            </a:r>
            <a:endParaRPr lang="en-IN" sz="2000" dirty="0">
              <a:latin typeface="+mn-lt"/>
            </a:endParaRPr>
          </a:p>
        </p:txBody>
      </p:sp>
      <p:sp>
        <p:nvSpPr>
          <p:cNvPr id="5" name="Content Placeholder 4"/>
          <p:cNvSpPr>
            <a:spLocks noGrp="1"/>
          </p:cNvSpPr>
          <p:nvPr>
            <p:ph idx="14"/>
          </p:nvPr>
        </p:nvSpPr>
        <p:spPr>
          <a:xfrm>
            <a:off x="457200" y="2666999"/>
            <a:ext cx="1129862" cy="441014"/>
          </a:xfrm>
        </p:spPr>
        <p:txBody>
          <a:bodyPr/>
          <a:lstStyle/>
          <a:p>
            <a:pPr lvl="1" indent="-284400"/>
            <a:r>
              <a:rPr lang="en-US" altLang="en-US" sz="2000" dirty="0">
                <a:latin typeface="+mn-lt"/>
                <a:ea typeface="ヒラギノ角ゴ Pro W3" pitchFamily="-84" charset="-128"/>
              </a:rPr>
              <a:t>If</a:t>
            </a:r>
            <a:endParaRPr lang="en-IN" sz="2000" dirty="0">
              <a:latin typeface="+mn-lt"/>
            </a:endParaRPr>
          </a:p>
        </p:txBody>
      </p:sp>
      <p:graphicFrame>
        <p:nvGraphicFramePr>
          <p:cNvPr id="12" name="Object 11" descr="w a sub start expression L 1 end expression is greater than w to the asterisk power a to the asterisk power sub start expression L 1 end expression,"/>
          <p:cNvGraphicFramePr>
            <a:graphicFrameLocks noChangeAspect="1"/>
          </p:cNvGraphicFramePr>
          <p:nvPr>
            <p:extLst>
              <p:ext uri="{D42A27DB-BD31-4B8C-83A1-F6EECF244321}">
                <p14:modId xmlns:p14="http://schemas.microsoft.com/office/powerpoint/2010/main" val="2712121708"/>
              </p:ext>
            </p:extLst>
          </p:nvPr>
        </p:nvGraphicFramePr>
        <p:xfrm>
          <a:off x="1647825" y="2725738"/>
          <a:ext cx="1450975" cy="390525"/>
        </p:xfrm>
        <a:graphic>
          <a:graphicData uri="http://schemas.openxmlformats.org/presentationml/2006/ole">
            <mc:AlternateContent xmlns:mc="http://schemas.openxmlformats.org/markup-compatibility/2006">
              <mc:Choice xmlns:v="urn:schemas-microsoft-com:vml" Requires="v">
                <p:oleObj spid="_x0000_s37915" name="Equation" r:id="rId5" imgW="901440" imgH="241200" progId="Equation.DSMT4">
                  <p:embed/>
                </p:oleObj>
              </mc:Choice>
              <mc:Fallback>
                <p:oleObj name="Equation" r:id="rId5" imgW="901440" imgH="241200" progId="Equation.DSMT4">
                  <p:embed/>
                  <p:pic>
                    <p:nvPicPr>
                      <p:cNvPr id="12" name="Object 11"/>
                      <p:cNvPicPr/>
                      <p:nvPr/>
                    </p:nvPicPr>
                    <p:blipFill>
                      <a:blip r:embed="rId6"/>
                      <a:stretch>
                        <a:fillRect/>
                      </a:stretch>
                    </p:blipFill>
                    <p:spPr>
                      <a:xfrm>
                        <a:off x="1647825" y="2725738"/>
                        <a:ext cx="1450975" cy="390525"/>
                      </a:xfrm>
                      <a:prstGeom prst="rect">
                        <a:avLst/>
                      </a:prstGeom>
                    </p:spPr>
                  </p:pic>
                </p:oleObj>
              </mc:Fallback>
            </mc:AlternateContent>
          </a:graphicData>
        </a:graphic>
      </p:graphicFrame>
      <p:sp>
        <p:nvSpPr>
          <p:cNvPr id="6" name="Content Placeholder 5"/>
          <p:cNvSpPr>
            <a:spLocks noGrp="1"/>
          </p:cNvSpPr>
          <p:nvPr>
            <p:ph idx="15"/>
          </p:nvPr>
        </p:nvSpPr>
        <p:spPr>
          <a:xfrm>
            <a:off x="3168387" y="2681276"/>
            <a:ext cx="5424434" cy="471826"/>
          </a:xfrm>
        </p:spPr>
        <p:txBody>
          <a:bodyPr/>
          <a:lstStyle/>
          <a:p>
            <a:pPr marL="0" lvl="1" indent="0">
              <a:buNone/>
            </a:pPr>
            <a:r>
              <a:rPr lang="en-US" altLang="en-US" sz="2000" dirty="0">
                <a:latin typeface="+mn-lt"/>
                <a:ea typeface="ヒラギノ角ゴ Pro W3" pitchFamily="-84" charset="-128"/>
              </a:rPr>
              <a:t>then only the home country will produce good</a:t>
            </a:r>
            <a:endParaRPr lang="en-IN" sz="2000" dirty="0">
              <a:latin typeface="+mn-lt"/>
            </a:endParaRPr>
          </a:p>
        </p:txBody>
      </p:sp>
      <p:sp>
        <p:nvSpPr>
          <p:cNvPr id="7" name="Content Placeholder 6"/>
          <p:cNvSpPr>
            <a:spLocks noGrp="1"/>
          </p:cNvSpPr>
          <p:nvPr>
            <p:ph idx="16"/>
          </p:nvPr>
        </p:nvSpPr>
        <p:spPr>
          <a:xfrm>
            <a:off x="457201" y="3213481"/>
            <a:ext cx="8229600" cy="475024"/>
          </a:xfrm>
        </p:spPr>
        <p:txBody>
          <a:bodyPr/>
          <a:lstStyle/>
          <a:p>
            <a:pPr marL="741600" lvl="1" indent="0">
              <a:buNone/>
            </a:pPr>
            <a:r>
              <a:rPr lang="en-US" altLang="en-US" sz="2000" dirty="0">
                <a:latin typeface="+mn-lt"/>
                <a:ea typeface="ヒラギノ角ゴ Pro W3" pitchFamily="-84" charset="-128"/>
              </a:rPr>
              <a:t>1, since total wage payments are less there.</a:t>
            </a:r>
            <a:endParaRPr lang="en-IN" sz="2000" dirty="0">
              <a:latin typeface="+mn-lt"/>
            </a:endParaRPr>
          </a:p>
        </p:txBody>
      </p:sp>
      <p:sp>
        <p:nvSpPr>
          <p:cNvPr id="8" name="Content Placeholder 7"/>
          <p:cNvSpPr>
            <a:spLocks noGrp="1"/>
          </p:cNvSpPr>
          <p:nvPr>
            <p:ph sz="quarter" idx="17"/>
          </p:nvPr>
        </p:nvSpPr>
        <p:spPr>
          <a:xfrm>
            <a:off x="457199" y="3817202"/>
            <a:ext cx="2758892" cy="449996"/>
          </a:xfrm>
        </p:spPr>
        <p:txBody>
          <a:bodyPr/>
          <a:lstStyle/>
          <a:p>
            <a:pPr lvl="1" indent="-284400"/>
            <a:r>
              <a:rPr lang="en-US" altLang="en-US" sz="2000" dirty="0">
                <a:latin typeface="+mn-lt"/>
                <a:ea typeface="ヒラギノ角ゴ Pro W3" pitchFamily="-84" charset="-128"/>
              </a:rPr>
              <a:t>Or equivalently,</a:t>
            </a:r>
            <a:endParaRPr lang="en-US" sz="2000" dirty="0">
              <a:latin typeface="+mn-lt"/>
            </a:endParaRPr>
          </a:p>
        </p:txBody>
      </p:sp>
      <p:graphicFrame>
        <p:nvGraphicFramePr>
          <p:cNvPr id="13" name="Object 12" descr="Start fraction a to the asterisk power sub start expression L 1 end expression over a sub start expression L 1 end expression end fraction is greater than start fraction w over w to the asterisk power end fraction,"/>
          <p:cNvGraphicFramePr>
            <a:graphicFrameLocks noChangeAspect="1"/>
          </p:cNvGraphicFramePr>
          <p:nvPr>
            <p:extLst>
              <p:ext uri="{D42A27DB-BD31-4B8C-83A1-F6EECF244321}">
                <p14:modId xmlns:p14="http://schemas.microsoft.com/office/powerpoint/2010/main" val="2731396476"/>
              </p:ext>
            </p:extLst>
          </p:nvPr>
        </p:nvGraphicFramePr>
        <p:xfrm>
          <a:off x="3331325" y="3770584"/>
          <a:ext cx="1097050" cy="650793"/>
        </p:xfrm>
        <a:graphic>
          <a:graphicData uri="http://schemas.openxmlformats.org/presentationml/2006/ole">
            <mc:AlternateContent xmlns:mc="http://schemas.openxmlformats.org/markup-compatibility/2006">
              <mc:Choice xmlns:v="urn:schemas-microsoft-com:vml" Requires="v">
                <p:oleObj spid="_x0000_s37916" name="Equation" r:id="rId7" imgW="749160" imgH="444240" progId="Equation.DSMT4">
                  <p:embed/>
                </p:oleObj>
              </mc:Choice>
              <mc:Fallback>
                <p:oleObj name="Equation" r:id="rId7" imgW="749160" imgH="444240" progId="Equation.DSMT4">
                  <p:embed/>
                  <p:pic>
                    <p:nvPicPr>
                      <p:cNvPr id="13" name="Object 12"/>
                      <p:cNvPicPr/>
                      <p:nvPr/>
                    </p:nvPicPr>
                    <p:blipFill>
                      <a:blip r:embed="rId8"/>
                      <a:stretch>
                        <a:fillRect/>
                      </a:stretch>
                    </p:blipFill>
                    <p:spPr>
                      <a:xfrm>
                        <a:off x="3331325" y="3770584"/>
                        <a:ext cx="1097050" cy="650793"/>
                      </a:xfrm>
                      <a:prstGeom prst="rect">
                        <a:avLst/>
                      </a:prstGeom>
                    </p:spPr>
                  </p:pic>
                </p:oleObj>
              </mc:Fallback>
            </mc:AlternateContent>
          </a:graphicData>
        </a:graphic>
      </p:graphicFrame>
      <p:sp>
        <p:nvSpPr>
          <p:cNvPr id="9" name="Content Placeholder 8"/>
          <p:cNvSpPr>
            <a:spLocks noGrp="1"/>
          </p:cNvSpPr>
          <p:nvPr>
            <p:ph sz="quarter" idx="18"/>
          </p:nvPr>
        </p:nvSpPr>
        <p:spPr>
          <a:xfrm>
            <a:off x="4543609" y="3850221"/>
            <a:ext cx="3118432" cy="439049"/>
          </a:xfrm>
        </p:spPr>
        <p:txBody>
          <a:bodyPr/>
          <a:lstStyle/>
          <a:p>
            <a:pPr marL="0" lvl="1" indent="0">
              <a:buNone/>
            </a:pPr>
            <a:r>
              <a:rPr lang="en-US" altLang="en-US" sz="2000" dirty="0">
                <a:latin typeface="+mn-lt"/>
                <a:ea typeface="ヒラギノ角ゴ Pro W3" pitchFamily="-84" charset="-128"/>
              </a:rPr>
              <a:t>if the relative productivity</a:t>
            </a:r>
            <a:endParaRPr lang="en-US" sz="2000" dirty="0">
              <a:latin typeface="+mn-lt"/>
            </a:endParaRPr>
          </a:p>
        </p:txBody>
      </p:sp>
      <p:sp>
        <p:nvSpPr>
          <p:cNvPr id="10" name="Content Placeholder 9"/>
          <p:cNvSpPr>
            <a:spLocks noGrp="1"/>
          </p:cNvSpPr>
          <p:nvPr>
            <p:ph sz="quarter" idx="19"/>
          </p:nvPr>
        </p:nvSpPr>
        <p:spPr>
          <a:xfrm>
            <a:off x="457200" y="4500997"/>
            <a:ext cx="8261130" cy="792045"/>
          </a:xfrm>
        </p:spPr>
        <p:txBody>
          <a:bodyPr/>
          <a:lstStyle/>
          <a:p>
            <a:pPr marL="741600" lvl="1" indent="0">
              <a:buNone/>
            </a:pPr>
            <a:r>
              <a:rPr lang="en-US" altLang="en-US" sz="2000" dirty="0">
                <a:latin typeface="+mn-lt"/>
                <a:ea typeface="ヒラギノ角ゴ Pro W3" pitchFamily="-84" charset="-128"/>
              </a:rPr>
              <a:t>of a country in producing a good is higher than the relative wage, then the good will be produced in that country.</a:t>
            </a:r>
            <a:endParaRPr lang="en-US" sz="2000" dirty="0">
              <a:latin typeface="+mn-lt"/>
            </a:endParaRPr>
          </a:p>
        </p:txBody>
      </p:sp>
    </p:spTree>
    <p:extLst>
      <p:ext uri="{BB962C8B-B14F-4D97-AF65-F5344CB8AC3E}">
        <p14:creationId xmlns:p14="http://schemas.microsoft.com/office/powerpoint/2010/main" val="8259876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ea typeface="ヒラギノ角ゴ Pro W3" pitchFamily="-84" charset="-128"/>
              </a:rPr>
              <a:t>Table 3.2 Home and Foreign Unit Labor Requirements</a:t>
            </a:r>
            <a:endParaRPr lang="en-US" sz="3200" b="0" dirty="0">
              <a:latin typeface="+mn-lt"/>
            </a:endParaRPr>
          </a:p>
        </p:txBody>
      </p:sp>
      <p:graphicFrame>
        <p:nvGraphicFramePr>
          <p:cNvPr id="11" name="Table 2"/>
          <p:cNvGraphicFramePr>
            <a:graphicFrameLocks noGrp="1"/>
          </p:cNvGraphicFramePr>
          <p:nvPr>
            <p:ph idx="1"/>
            <p:extLst>
              <p:ext uri="{D42A27DB-BD31-4B8C-83A1-F6EECF244321}">
                <p14:modId xmlns:p14="http://schemas.microsoft.com/office/powerpoint/2010/main" val="2329620432"/>
              </p:ext>
            </p:extLst>
          </p:nvPr>
        </p:nvGraphicFramePr>
        <p:xfrm>
          <a:off x="457200" y="1752602"/>
          <a:ext cx="8317230" cy="3195988"/>
        </p:xfrm>
        <a:graphic>
          <a:graphicData uri="http://schemas.openxmlformats.org/drawingml/2006/table">
            <a:tbl>
              <a:tblPr firstRow="1">
                <a:tableStyleId>{3B4B98B0-60AC-42C2-AFA5-B58CD77FA1E5}</a:tableStyleId>
              </a:tblPr>
              <a:tblGrid>
                <a:gridCol w="1230630">
                  <a:extLst>
                    <a:ext uri="{9D8B030D-6E8A-4147-A177-3AD203B41FA5}">
                      <a16:colId xmlns:a16="http://schemas.microsoft.com/office/drawing/2014/main" val="20000"/>
                    </a:ext>
                  </a:extLst>
                </a:gridCol>
                <a:gridCol w="204597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907030">
                  <a:extLst>
                    <a:ext uri="{9D8B030D-6E8A-4147-A177-3AD203B41FA5}">
                      <a16:colId xmlns:a16="http://schemas.microsoft.com/office/drawing/2014/main" val="20003"/>
                    </a:ext>
                  </a:extLst>
                </a:gridCol>
              </a:tblGrid>
              <a:tr h="1145928">
                <a:tc>
                  <a:txBody>
                    <a:bodyPr/>
                    <a:lstStyle/>
                    <a:p>
                      <a:pPr algn="ctr"/>
                      <a:r>
                        <a:rPr lang="en-US" sz="1600" dirty="0">
                          <a:solidFill>
                            <a:schemeClr val="tx1"/>
                          </a:solidFill>
                        </a:rPr>
                        <a:t>Good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Home Unit Labor Requirement </a:t>
                      </a:r>
                      <a:r>
                        <a:rPr lang="en-US" sz="100" dirty="0">
                          <a:solidFill>
                            <a:schemeClr val="tx1"/>
                          </a:solidFill>
                        </a:rPr>
                        <a:t>a sub start expression L i end expression</a:t>
                      </a:r>
                      <a:r>
                        <a:rPr lang="en-US" sz="1600" baseline="0" dirty="0">
                          <a:solidFill>
                            <a:schemeClr val="tx1"/>
                          </a:solidFill>
                        </a:rPr>
                        <a:t> </a:t>
                      </a:r>
                      <a:endParaRPr lang="en-US" sz="16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Foreign Unit Labor Requirement </a:t>
                      </a:r>
                      <a:r>
                        <a:rPr lang="en-US" sz="100" dirty="0">
                          <a:solidFill>
                            <a:schemeClr val="tx1"/>
                          </a:solidFill>
                        </a:rPr>
                        <a:t>a sub start expression L i end expression to the asterisk power</a:t>
                      </a:r>
                      <a:endParaRPr lang="en-US" sz="1600" i="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Relative Home Productivity Advantage </a:t>
                      </a:r>
                      <a:r>
                        <a:rPr lang="en-US" sz="100" dirty="0">
                          <a:solidFill>
                            <a:schemeClr val="tx1"/>
                          </a:solidFill>
                        </a:rPr>
                        <a:t>Start fraction a sub start expression L i end expression to the asterisk power over a sub start expression L i end expression end fraction</a:t>
                      </a:r>
                      <a:endParaRPr lang="en-US" sz="1600" dirty="0">
                        <a:solidFill>
                          <a:schemeClr val="tx1"/>
                        </a:solidFill>
                      </a:endParaRPr>
                    </a:p>
                  </a:txBody>
                  <a:tcPr marR="9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012">
                <a:tc>
                  <a:txBody>
                    <a:bodyPr/>
                    <a:lstStyle/>
                    <a:p>
                      <a:r>
                        <a:rPr lang="en-US" sz="1600" dirty="0">
                          <a:solidFill>
                            <a:schemeClr val="tx1"/>
                          </a:solidFill>
                        </a:rPr>
                        <a:t>Apples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10012">
                <a:tc>
                  <a:txBody>
                    <a:bodyPr/>
                    <a:lstStyle/>
                    <a:p>
                      <a:r>
                        <a:rPr lang="en-US" sz="1600" dirty="0">
                          <a:solidFill>
                            <a:schemeClr val="tx1"/>
                          </a:solidFill>
                        </a:rPr>
                        <a:t>Bananas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10012">
                <a:tc>
                  <a:txBody>
                    <a:bodyPr/>
                    <a:lstStyle/>
                    <a:p>
                      <a:r>
                        <a:rPr lang="en-US" sz="1600" dirty="0">
                          <a:solidFill>
                            <a:schemeClr val="tx1"/>
                          </a:solidFill>
                        </a:rPr>
                        <a:t>Caviar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10012">
                <a:tc>
                  <a:txBody>
                    <a:bodyPr/>
                    <a:lstStyle/>
                    <a:p>
                      <a:r>
                        <a:rPr lang="en-US" sz="1600" dirty="0">
                          <a:solidFill>
                            <a:schemeClr val="tx1"/>
                          </a:solidFill>
                        </a:rPr>
                        <a:t>Dates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10012">
                <a:tc>
                  <a:txBody>
                    <a:bodyPr/>
                    <a:lstStyle/>
                    <a:p>
                      <a:r>
                        <a:rPr lang="en-US" sz="1600" dirty="0">
                          <a:solidFill>
                            <a:schemeClr val="tx1"/>
                          </a:solidFill>
                        </a:rPr>
                        <a:t>Enchiladas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0.75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5" name="Object 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465778079"/>
              </p:ext>
            </p:extLst>
          </p:nvPr>
        </p:nvGraphicFramePr>
        <p:xfrm>
          <a:off x="3240086" y="2339975"/>
          <a:ext cx="238125" cy="250825"/>
        </p:xfrm>
        <a:graphic>
          <a:graphicData uri="http://schemas.openxmlformats.org/presentationml/2006/ole">
            <mc:AlternateContent xmlns:mc="http://schemas.openxmlformats.org/markup-compatibility/2006">
              <mc:Choice xmlns:v="urn:schemas-microsoft-com:vml" Requires="v">
                <p:oleObj spid="_x0000_s38938" name="Equation" r:id="rId3" imgW="215640" imgH="228600" progId="Equation.DSMT4">
                  <p:embed/>
                </p:oleObj>
              </mc:Choice>
              <mc:Fallback>
                <p:oleObj name="Equation" r:id="rId3" imgW="215640" imgH="228600" progId="Equation.DSMT4">
                  <p:embed/>
                  <p:pic>
                    <p:nvPicPr>
                      <p:cNvPr id="5" name="Object 4"/>
                      <p:cNvPicPr/>
                      <p:nvPr/>
                    </p:nvPicPr>
                    <p:blipFill>
                      <a:blip r:embed="rId4"/>
                      <a:stretch>
                        <a:fillRect/>
                      </a:stretch>
                    </p:blipFill>
                    <p:spPr>
                      <a:xfrm>
                        <a:off x="3240086" y="2339975"/>
                        <a:ext cx="238125" cy="250825"/>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061153273"/>
              </p:ext>
            </p:extLst>
          </p:nvPr>
        </p:nvGraphicFramePr>
        <p:xfrm>
          <a:off x="5259388" y="2327274"/>
          <a:ext cx="369887" cy="276225"/>
        </p:xfrm>
        <a:graphic>
          <a:graphicData uri="http://schemas.openxmlformats.org/presentationml/2006/ole">
            <mc:AlternateContent xmlns:mc="http://schemas.openxmlformats.org/markup-compatibility/2006">
              <mc:Choice xmlns:v="urn:schemas-microsoft-com:vml" Requires="v">
                <p:oleObj spid="_x0000_s38939" name="Equation" r:id="rId5" imgW="304560" imgH="228600" progId="Equation.DSMT4">
                  <p:embed/>
                </p:oleObj>
              </mc:Choice>
              <mc:Fallback>
                <p:oleObj name="Equation" r:id="rId5" imgW="304560" imgH="228600" progId="Equation.DSMT4">
                  <p:embed/>
                  <p:pic>
                    <p:nvPicPr>
                      <p:cNvPr id="6" name="Object 5"/>
                      <p:cNvPicPr/>
                      <p:nvPr/>
                    </p:nvPicPr>
                    <p:blipFill>
                      <a:blip r:embed="rId6"/>
                      <a:stretch>
                        <a:fillRect/>
                      </a:stretch>
                    </p:blipFill>
                    <p:spPr>
                      <a:xfrm>
                        <a:off x="5259388" y="2327274"/>
                        <a:ext cx="369887" cy="276225"/>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93475762"/>
              </p:ext>
            </p:extLst>
          </p:nvPr>
        </p:nvGraphicFramePr>
        <p:xfrm>
          <a:off x="7469505" y="2311718"/>
          <a:ext cx="996950" cy="292100"/>
        </p:xfrm>
        <a:graphic>
          <a:graphicData uri="http://schemas.openxmlformats.org/presentationml/2006/ole">
            <mc:AlternateContent xmlns:mc="http://schemas.openxmlformats.org/markup-compatibility/2006">
              <mc:Choice xmlns:v="urn:schemas-microsoft-com:vml" Requires="v">
                <p:oleObj spid="_x0000_s38940" name="Equation" r:id="rId7" imgW="825480" imgH="241200" progId="Equation.DSMT4">
                  <p:embed/>
                </p:oleObj>
              </mc:Choice>
              <mc:Fallback>
                <p:oleObj name="Equation" r:id="rId7" imgW="825480" imgH="241200" progId="Equation.DSMT4">
                  <p:embed/>
                  <p:pic>
                    <p:nvPicPr>
                      <p:cNvPr id="7" name="Object 6"/>
                      <p:cNvPicPr/>
                      <p:nvPr/>
                    </p:nvPicPr>
                    <p:blipFill>
                      <a:blip r:embed="rId8"/>
                      <a:stretch>
                        <a:fillRect/>
                      </a:stretch>
                    </p:blipFill>
                    <p:spPr>
                      <a:xfrm>
                        <a:off x="7469505" y="2311718"/>
                        <a:ext cx="996950" cy="2921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110207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52E02C-51F3-414C-AFC7-6D3B590862F6}"/>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(3 of 7)</a:t>
            </a:r>
            <a:endParaRPr lang="en-IN" sz="2000" dirty="0"/>
          </a:p>
        </p:txBody>
      </p:sp>
      <p:sp>
        <p:nvSpPr>
          <p:cNvPr id="8" name="Content Placeholder 7">
            <a:extLst>
              <a:ext uri="{FF2B5EF4-FFF2-40B4-BE49-F238E27FC236}">
                <a16:creationId xmlns:a16="http://schemas.microsoft.com/office/drawing/2014/main" id="{0C937BA2-9623-41DB-8F09-BAD13E4BA965}"/>
              </a:ext>
            </a:extLst>
          </p:cNvPr>
          <p:cNvSpPr>
            <a:spLocks noGrp="1"/>
          </p:cNvSpPr>
          <p:nvPr>
            <p:ph sz="quarter" idx="13"/>
          </p:nvPr>
        </p:nvSpPr>
        <p:spPr>
          <a:xfrm>
            <a:off x="457200" y="1552575"/>
            <a:ext cx="8229600" cy="885825"/>
          </a:xfrm>
        </p:spPr>
        <p:txBody>
          <a:bodyPr/>
          <a:lstStyle/>
          <a:p>
            <a:r>
              <a:rPr lang="en-US" altLang="en-US" sz="2400" dirty="0">
                <a:ea typeface="ヒラギノ角ゴ Pro W3" pitchFamily="-84" charset="-128"/>
              </a:rPr>
              <a:t>Suppose there are five goods produced in the world: apples, bananas, caviar, dates, and enchiladas.</a:t>
            </a:r>
          </a:p>
        </p:txBody>
      </p:sp>
      <p:sp>
        <p:nvSpPr>
          <p:cNvPr id="9" name="Content Placeholder 8">
            <a:extLst>
              <a:ext uri="{FF2B5EF4-FFF2-40B4-BE49-F238E27FC236}">
                <a16:creationId xmlns:a16="http://schemas.microsoft.com/office/drawing/2014/main" id="{9AE36EF6-328C-469E-8A8A-265BA7483136}"/>
              </a:ext>
            </a:extLst>
          </p:cNvPr>
          <p:cNvSpPr>
            <a:spLocks noGrp="1"/>
          </p:cNvSpPr>
          <p:nvPr>
            <p:ph sz="quarter" idx="14"/>
          </p:nvPr>
        </p:nvSpPr>
        <p:spPr>
          <a:xfrm>
            <a:off x="457201" y="2655498"/>
            <a:ext cx="619246" cy="575841"/>
          </a:xfrm>
        </p:spPr>
        <p:txBody>
          <a:bodyPr/>
          <a:lstStyle/>
          <a:p>
            <a:r>
              <a:rPr lang="en-US" altLang="en-US" sz="2400" dirty="0">
                <a:ea typeface="ヒラギノ角ゴ Pro W3" pitchFamily="-84" charset="-128"/>
              </a:rPr>
              <a:t>If</a:t>
            </a:r>
            <a:endParaRPr lang="en-US" sz="2400" dirty="0"/>
          </a:p>
        </p:txBody>
      </p:sp>
      <p:graphicFrame>
        <p:nvGraphicFramePr>
          <p:cNvPr id="13" name="Object 12" descr="start fraction w over w to the asterisk power end fraction = 3,">
            <a:extLst>
              <a:ext uri="{FF2B5EF4-FFF2-40B4-BE49-F238E27FC236}">
                <a16:creationId xmlns:a16="http://schemas.microsoft.com/office/drawing/2014/main" id="{E3611E85-BD45-4FD7-9F7C-67C553ACA412}"/>
              </a:ext>
            </a:extLst>
          </p:cNvPr>
          <p:cNvGraphicFramePr>
            <a:graphicFrameLocks noChangeAspect="1"/>
          </p:cNvGraphicFramePr>
          <p:nvPr>
            <p:extLst>
              <p:ext uri="{D42A27DB-BD31-4B8C-83A1-F6EECF244321}">
                <p14:modId xmlns:p14="http://schemas.microsoft.com/office/powerpoint/2010/main" val="3826503020"/>
              </p:ext>
            </p:extLst>
          </p:nvPr>
        </p:nvGraphicFramePr>
        <p:xfrm>
          <a:off x="1224445" y="2604433"/>
          <a:ext cx="968121" cy="697278"/>
        </p:xfrm>
        <a:graphic>
          <a:graphicData uri="http://schemas.openxmlformats.org/presentationml/2006/ole">
            <mc:AlternateContent xmlns:mc="http://schemas.openxmlformats.org/markup-compatibility/2006">
              <mc:Choice xmlns:v="urn:schemas-microsoft-com:vml" Requires="v">
                <p:oleObj spid="_x0000_s39946" name="Equation" r:id="rId3" imgW="545760" imgH="393480" progId="Equation.DSMT4">
                  <p:embed/>
                </p:oleObj>
              </mc:Choice>
              <mc:Fallback>
                <p:oleObj name="Equation" r:id="rId3" imgW="545760" imgH="393480" progId="Equation.DSMT4">
                  <p:embed/>
                  <p:pic>
                    <p:nvPicPr>
                      <p:cNvPr id="13" name="Object 12"/>
                      <p:cNvPicPr/>
                      <p:nvPr/>
                    </p:nvPicPr>
                    <p:blipFill>
                      <a:blip r:embed="rId4"/>
                      <a:stretch>
                        <a:fillRect/>
                      </a:stretch>
                    </p:blipFill>
                    <p:spPr>
                      <a:xfrm>
                        <a:off x="1224445" y="2604433"/>
                        <a:ext cx="968121" cy="697278"/>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822EDD6B-6A02-4E3D-A7CB-0B3AFA9E5ED6}"/>
              </a:ext>
            </a:extLst>
          </p:cNvPr>
          <p:cNvSpPr>
            <a:spLocks noGrp="1"/>
          </p:cNvSpPr>
          <p:nvPr>
            <p:ph sz="quarter" idx="15"/>
          </p:nvPr>
        </p:nvSpPr>
        <p:spPr>
          <a:xfrm>
            <a:off x="2340565" y="2655498"/>
            <a:ext cx="5376440" cy="596101"/>
          </a:xfrm>
        </p:spPr>
        <p:txBody>
          <a:bodyPr/>
          <a:lstStyle/>
          <a:p>
            <a:pPr marL="0" lvl="1" indent="0">
              <a:buNone/>
            </a:pPr>
            <a:r>
              <a:rPr lang="en-US" altLang="en-US" dirty="0">
                <a:ea typeface="ヒラギノ角ゴ Pro W3" pitchFamily="-84" charset="-128"/>
              </a:rPr>
              <a:t>the home country will produce apples,</a:t>
            </a:r>
            <a:endParaRPr lang="en-US" dirty="0"/>
          </a:p>
        </p:txBody>
      </p:sp>
      <p:sp>
        <p:nvSpPr>
          <p:cNvPr id="11" name="Content Placeholder 10">
            <a:extLst>
              <a:ext uri="{FF2B5EF4-FFF2-40B4-BE49-F238E27FC236}">
                <a16:creationId xmlns:a16="http://schemas.microsoft.com/office/drawing/2014/main" id="{0410FDFE-45CA-4049-9308-F56DBA693575}"/>
              </a:ext>
            </a:extLst>
          </p:cNvPr>
          <p:cNvSpPr>
            <a:spLocks noGrp="1"/>
          </p:cNvSpPr>
          <p:nvPr>
            <p:ph sz="quarter" idx="16"/>
          </p:nvPr>
        </p:nvSpPr>
        <p:spPr>
          <a:xfrm>
            <a:off x="457200" y="3365897"/>
            <a:ext cx="8229600" cy="970706"/>
          </a:xfrm>
        </p:spPr>
        <p:txBody>
          <a:bodyPr/>
          <a:lstStyle/>
          <a:p>
            <a:pPr marL="255600" indent="0">
              <a:buNone/>
            </a:pPr>
            <a:r>
              <a:rPr lang="en-US" altLang="en-US" sz="2400" dirty="0">
                <a:ea typeface="ヒラギノ角ゴ Pro W3" pitchFamily="-84" charset="-128"/>
              </a:rPr>
              <a:t>bananas, and caviar, while the foreign country will produce dates and enchiladas.</a:t>
            </a:r>
          </a:p>
        </p:txBody>
      </p:sp>
      <p:sp>
        <p:nvSpPr>
          <p:cNvPr id="12" name="Content Placeholder 11">
            <a:extLst>
              <a:ext uri="{FF2B5EF4-FFF2-40B4-BE49-F238E27FC236}">
                <a16:creationId xmlns:a16="http://schemas.microsoft.com/office/drawing/2014/main" id="{A00B3683-8E37-4671-9C47-0CEB8E86A05D}"/>
              </a:ext>
            </a:extLst>
          </p:cNvPr>
          <p:cNvSpPr>
            <a:spLocks noGrp="1"/>
          </p:cNvSpPr>
          <p:nvPr>
            <p:ph sz="quarter" idx="17"/>
          </p:nvPr>
        </p:nvSpPr>
        <p:spPr>
          <a:xfrm>
            <a:off x="457200" y="4419161"/>
            <a:ext cx="8229600" cy="1231283"/>
          </a:xfrm>
        </p:spPr>
        <p:txBody>
          <a:bodyPr/>
          <a:lstStyle/>
          <a:p>
            <a:pPr lvl="1" indent="-284400"/>
            <a:r>
              <a:rPr lang="en-US" altLang="en-US" sz="2400" dirty="0">
                <a:ea typeface="ヒラギノ角ゴ Pro W3" pitchFamily="-84" charset="-128"/>
              </a:rPr>
              <a:t>The relative productivities of the home country in producing apples, bananas, and caviar are higher than the relative wage.</a:t>
            </a:r>
            <a:endParaRPr lang="en-IN" dirty="0"/>
          </a:p>
        </p:txBody>
      </p:sp>
    </p:spTree>
    <p:extLst>
      <p:ext uri="{BB962C8B-B14F-4D97-AF65-F5344CB8AC3E}">
        <p14:creationId xmlns:p14="http://schemas.microsoft.com/office/powerpoint/2010/main" val="6632216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7D84A-0AEA-4229-A22F-2113A2B71E62}"/>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(4 of 7)</a:t>
            </a:r>
            <a:endParaRPr lang="en-IN" sz="2000" dirty="0"/>
          </a:p>
        </p:txBody>
      </p:sp>
      <p:sp>
        <p:nvSpPr>
          <p:cNvPr id="3" name="Content Placeholder 2">
            <a:extLst>
              <a:ext uri="{FF2B5EF4-FFF2-40B4-BE49-F238E27FC236}">
                <a16:creationId xmlns:a16="http://schemas.microsoft.com/office/drawing/2014/main" id="{AB195137-8C60-45BD-8C8E-355F307864D5}"/>
              </a:ext>
            </a:extLst>
          </p:cNvPr>
          <p:cNvSpPr>
            <a:spLocks noGrp="1"/>
          </p:cNvSpPr>
          <p:nvPr>
            <p:ph sz="quarter" idx="13"/>
          </p:nvPr>
        </p:nvSpPr>
        <p:spPr>
          <a:xfrm>
            <a:off x="457200" y="1556327"/>
            <a:ext cx="8321040" cy="4586896"/>
          </a:xfrm>
        </p:spPr>
        <p:txBody>
          <a:bodyPr/>
          <a:lstStyle/>
          <a:p>
            <a:r>
              <a:rPr lang="en-US" altLang="en-US" sz="2400" dirty="0">
                <a:ea typeface="ヒラギノ角ゴ Pro W3" pitchFamily="-84" charset="-128"/>
              </a:rPr>
              <a:t>If each country specializes in goods that use resources productively and trades the products for those that it wants to consume, then each benefits.</a:t>
            </a:r>
          </a:p>
          <a:p>
            <a:pPr lvl="1"/>
            <a:r>
              <a:rPr lang="en-US" altLang="en-US" sz="2400" dirty="0">
                <a:ea typeface="ヒラギノ角ゴ Pro W3" pitchFamily="-84" charset="-128"/>
              </a:rPr>
              <a:t>If a country tries to produce all goods for itself, resources are “</a:t>
            </a:r>
            <a:r>
              <a:rPr lang="en-US" altLang="ja-JP" sz="2400" dirty="0">
                <a:ea typeface="ヒラギノ角ゴ Pro W3" pitchFamily="-84" charset="-128"/>
              </a:rPr>
              <a:t>wasted.”</a:t>
            </a:r>
          </a:p>
          <a:p>
            <a:pPr>
              <a:spcBef>
                <a:spcPct val="50000"/>
              </a:spcBef>
            </a:pPr>
            <a:r>
              <a:rPr lang="en-US" altLang="en-US" sz="2400" dirty="0">
                <a:ea typeface="ヒラギノ角ゴ Pro W3" pitchFamily="-84" charset="-128"/>
              </a:rPr>
              <a:t>The home country has high productivity in apples, bananas, and caviar that give it a cost advantage, despite its high wage.</a:t>
            </a:r>
          </a:p>
          <a:p>
            <a:pPr>
              <a:spcBef>
                <a:spcPct val="50000"/>
              </a:spcBef>
            </a:pPr>
            <a:r>
              <a:rPr lang="en-US" altLang="en-US" sz="2400" dirty="0">
                <a:ea typeface="ヒラギノ角ゴ Pro W3" pitchFamily="-84" charset="-128"/>
              </a:rPr>
              <a:t>The foreign country has low wages that give it a cost advantage, despite its low productivity in date production.</a:t>
            </a:r>
          </a:p>
        </p:txBody>
      </p:sp>
    </p:spTree>
    <p:extLst>
      <p:ext uri="{BB962C8B-B14F-4D97-AF65-F5344CB8AC3E}">
        <p14:creationId xmlns:p14="http://schemas.microsoft.com/office/powerpoint/2010/main" val="25625350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8D7F-5F3E-4951-9E5E-29AC5C3862DE}"/>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(5 of 7)</a:t>
            </a:r>
            <a:endParaRPr lang="en-US" sz="2000" dirty="0"/>
          </a:p>
        </p:txBody>
      </p:sp>
      <p:sp>
        <p:nvSpPr>
          <p:cNvPr id="3" name="Content Placeholder 2">
            <a:extLst>
              <a:ext uri="{FF2B5EF4-FFF2-40B4-BE49-F238E27FC236}">
                <a16:creationId xmlns:a16="http://schemas.microsoft.com/office/drawing/2014/main" id="{BF6719D4-7E91-4FE3-B1DA-EF9E644C35A9}"/>
              </a:ext>
            </a:extLst>
          </p:cNvPr>
          <p:cNvSpPr>
            <a:spLocks noGrp="1"/>
          </p:cNvSpPr>
          <p:nvPr>
            <p:ph sz="quarter" idx="13"/>
          </p:nvPr>
        </p:nvSpPr>
        <p:spPr>
          <a:xfrm>
            <a:off x="457200" y="1552576"/>
            <a:ext cx="8503920" cy="1216750"/>
          </a:xfrm>
        </p:spPr>
        <p:txBody>
          <a:bodyPr/>
          <a:lstStyle/>
          <a:p>
            <a:pPr>
              <a:spcBef>
                <a:spcPts val="1200"/>
              </a:spcBef>
            </a:pPr>
            <a:r>
              <a:rPr lang="en-US" altLang="en-US" sz="2000" dirty="0">
                <a:ea typeface="ヒラギノ角ゴ Pro W3" pitchFamily="-84" charset="-128"/>
              </a:rPr>
              <a:t>How is the relative wage determined?</a:t>
            </a:r>
          </a:p>
          <a:p>
            <a:pPr>
              <a:spcBef>
                <a:spcPts val="1200"/>
              </a:spcBef>
            </a:pPr>
            <a:r>
              <a:rPr lang="en-US" altLang="en-US" sz="2000" dirty="0">
                <a:ea typeface="ヒラギノ角ゴ Pro W3" pitchFamily="-84" charset="-128"/>
              </a:rPr>
              <a:t>By the relative supply of and relative (derived) demand for labor services.</a:t>
            </a:r>
          </a:p>
        </p:txBody>
      </p:sp>
      <p:sp>
        <p:nvSpPr>
          <p:cNvPr id="4" name="Content Placeholder 3">
            <a:extLst>
              <a:ext uri="{FF2B5EF4-FFF2-40B4-BE49-F238E27FC236}">
                <a16:creationId xmlns:a16="http://schemas.microsoft.com/office/drawing/2014/main" id="{7EDD2C4D-A49F-497A-9D5D-DBBCAC60AB16}"/>
              </a:ext>
            </a:extLst>
          </p:cNvPr>
          <p:cNvSpPr>
            <a:spLocks noGrp="1"/>
          </p:cNvSpPr>
          <p:nvPr>
            <p:ph sz="quarter" idx="14"/>
          </p:nvPr>
        </p:nvSpPr>
        <p:spPr>
          <a:xfrm>
            <a:off x="457200" y="2832653"/>
            <a:ext cx="8229600" cy="443947"/>
          </a:xfrm>
        </p:spPr>
        <p:txBody>
          <a:bodyPr/>
          <a:lstStyle/>
          <a:p>
            <a:r>
              <a:rPr lang="en-US" altLang="en-US" sz="2000" dirty="0">
                <a:ea typeface="ヒラギノ角ゴ Pro W3" pitchFamily="-84" charset="-128"/>
              </a:rPr>
              <a:t>The relative (derived) demand for home labor services falls when</a:t>
            </a:r>
            <a:endParaRPr lang="en-US" sz="2000" dirty="0"/>
          </a:p>
        </p:txBody>
      </p:sp>
      <p:graphicFrame>
        <p:nvGraphicFramePr>
          <p:cNvPr id="8" name="Object 7" descr="start fraction w over w to the asterisk power end fraction rises.">
            <a:extLst>
              <a:ext uri="{FF2B5EF4-FFF2-40B4-BE49-F238E27FC236}">
                <a16:creationId xmlns:a16="http://schemas.microsoft.com/office/drawing/2014/main" id="{A1516068-239F-4D02-BEB0-3853FBB2FA6F}"/>
              </a:ext>
            </a:extLst>
          </p:cNvPr>
          <p:cNvGraphicFramePr>
            <a:graphicFrameLocks noChangeAspect="1"/>
          </p:cNvGraphicFramePr>
          <p:nvPr>
            <p:extLst>
              <p:ext uri="{D42A27DB-BD31-4B8C-83A1-F6EECF244321}">
                <p14:modId xmlns:p14="http://schemas.microsoft.com/office/powerpoint/2010/main" val="2288576439"/>
              </p:ext>
            </p:extLst>
          </p:nvPr>
        </p:nvGraphicFramePr>
        <p:xfrm>
          <a:off x="734414" y="3336800"/>
          <a:ext cx="1103502" cy="622488"/>
        </p:xfrm>
        <a:graphic>
          <a:graphicData uri="http://schemas.openxmlformats.org/presentationml/2006/ole">
            <mc:AlternateContent xmlns:mc="http://schemas.openxmlformats.org/markup-compatibility/2006">
              <mc:Choice xmlns:v="urn:schemas-microsoft-com:vml" Requires="v">
                <p:oleObj spid="_x0000_s40970" name="Equation" r:id="rId3" imgW="698400" imgH="393480" progId="Equation.DSMT4">
                  <p:embed/>
                </p:oleObj>
              </mc:Choice>
              <mc:Fallback>
                <p:oleObj name="Equation" r:id="rId3" imgW="698400" imgH="393480" progId="Equation.DSMT4">
                  <p:embed/>
                  <p:pic>
                    <p:nvPicPr>
                      <p:cNvPr id="13" name="Object 12">
                        <a:extLst>
                          <a:ext uri="{FF2B5EF4-FFF2-40B4-BE49-F238E27FC236}">
                            <a16:creationId xmlns:a16="http://schemas.microsoft.com/office/drawing/2014/main" id="{E3611E85-BD45-4FD7-9F7C-67C553ACA412}"/>
                          </a:ext>
                        </a:extLst>
                      </p:cNvPr>
                      <p:cNvPicPr/>
                      <p:nvPr/>
                    </p:nvPicPr>
                    <p:blipFill>
                      <a:blip r:embed="rId4"/>
                      <a:stretch>
                        <a:fillRect/>
                      </a:stretch>
                    </p:blipFill>
                    <p:spPr>
                      <a:xfrm>
                        <a:off x="734414" y="3336800"/>
                        <a:ext cx="1103502" cy="62248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D04B1D83-C94C-48BF-AF5C-3A087F6CD220}"/>
              </a:ext>
            </a:extLst>
          </p:cNvPr>
          <p:cNvSpPr>
            <a:spLocks noGrp="1"/>
          </p:cNvSpPr>
          <p:nvPr>
            <p:ph sz="quarter" idx="15"/>
          </p:nvPr>
        </p:nvSpPr>
        <p:spPr>
          <a:xfrm>
            <a:off x="1955799" y="3389152"/>
            <a:ext cx="6137477" cy="474941"/>
          </a:xfrm>
        </p:spPr>
        <p:txBody>
          <a:bodyPr/>
          <a:lstStyle/>
          <a:p>
            <a:pPr marL="0" lvl="1" indent="0">
              <a:buNone/>
            </a:pPr>
            <a:r>
              <a:rPr lang="en-US" altLang="en-US" sz="2000" dirty="0">
                <a:ea typeface="ヒラギノ角ゴ Pro W3" pitchFamily="-84" charset="-128"/>
              </a:rPr>
              <a:t>As domestic labor services become more</a:t>
            </a:r>
            <a:endParaRPr lang="en-US" sz="2000" dirty="0"/>
          </a:p>
        </p:txBody>
      </p:sp>
      <p:sp>
        <p:nvSpPr>
          <p:cNvPr id="6" name="Content Placeholder 5">
            <a:extLst>
              <a:ext uri="{FF2B5EF4-FFF2-40B4-BE49-F238E27FC236}">
                <a16:creationId xmlns:a16="http://schemas.microsoft.com/office/drawing/2014/main" id="{A3FDACFC-CD2D-4FEB-88D7-E00EC73E3C7D}"/>
              </a:ext>
            </a:extLst>
          </p:cNvPr>
          <p:cNvSpPr>
            <a:spLocks noGrp="1"/>
          </p:cNvSpPr>
          <p:nvPr>
            <p:ph sz="quarter" idx="16"/>
          </p:nvPr>
        </p:nvSpPr>
        <p:spPr>
          <a:xfrm>
            <a:off x="457200" y="4013166"/>
            <a:ext cx="6522334" cy="460282"/>
          </a:xfrm>
        </p:spPr>
        <p:txBody>
          <a:bodyPr/>
          <a:lstStyle/>
          <a:p>
            <a:pPr marL="255600" lvl="1" indent="0">
              <a:buNone/>
            </a:pPr>
            <a:r>
              <a:rPr lang="en-US" altLang="en-US" sz="2000" dirty="0">
                <a:ea typeface="ヒラギノ角ゴ Pro W3" pitchFamily="-84" charset="-128"/>
              </a:rPr>
              <a:t>expensive relative to foreign labor services,</a:t>
            </a:r>
          </a:p>
        </p:txBody>
      </p:sp>
      <p:sp>
        <p:nvSpPr>
          <p:cNvPr id="7" name="Content Placeholder 6">
            <a:extLst>
              <a:ext uri="{FF2B5EF4-FFF2-40B4-BE49-F238E27FC236}">
                <a16:creationId xmlns:a16="http://schemas.microsoft.com/office/drawing/2014/main" id="{89FBFE1A-9E70-4440-8315-2ABBC17519C6}"/>
              </a:ext>
            </a:extLst>
          </p:cNvPr>
          <p:cNvSpPr>
            <a:spLocks noGrp="1"/>
          </p:cNvSpPr>
          <p:nvPr>
            <p:ph sz="quarter" idx="17"/>
          </p:nvPr>
        </p:nvSpPr>
        <p:spPr>
          <a:xfrm>
            <a:off x="457200" y="4563351"/>
            <a:ext cx="8351134" cy="1766466"/>
          </a:xfrm>
        </p:spPr>
        <p:txBody>
          <a:bodyPr/>
          <a:lstStyle/>
          <a:p>
            <a:pPr lvl="1" indent="-284400"/>
            <a:r>
              <a:rPr lang="en-US" altLang="en-US" sz="2000" dirty="0">
                <a:ea typeface="ヒラギノ角ゴ Pro W3" pitchFamily="-84" charset="-128"/>
              </a:rPr>
              <a:t>goods produced in the home country become more expensive, and demand for these goods and the labor services to produce them falls.</a:t>
            </a:r>
          </a:p>
          <a:p>
            <a:pPr lvl="1" indent="-284400"/>
            <a:r>
              <a:rPr lang="en-US" altLang="en-US" sz="2000" dirty="0">
                <a:ea typeface="ヒラギノ角ゴ Pro W3" pitchFamily="-84" charset="-128"/>
              </a:rPr>
              <a:t>fewer goods will be produced in the home country, further reducing the demand for domestic labor services.</a:t>
            </a:r>
            <a:endParaRPr lang="en-US" sz="2000" dirty="0"/>
          </a:p>
        </p:txBody>
      </p:sp>
    </p:spTree>
    <p:extLst>
      <p:ext uri="{BB962C8B-B14F-4D97-AF65-F5344CB8AC3E}">
        <p14:creationId xmlns:p14="http://schemas.microsoft.com/office/powerpoint/2010/main" val="42497060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EBF3A-FF38-4C64-87B4-442F8E99980C}"/>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(6 of 7)</a:t>
            </a:r>
            <a:endParaRPr lang="en-US" sz="2000" dirty="0"/>
          </a:p>
        </p:txBody>
      </p:sp>
      <p:sp>
        <p:nvSpPr>
          <p:cNvPr id="3" name="Content Placeholder 2">
            <a:extLst>
              <a:ext uri="{FF2B5EF4-FFF2-40B4-BE49-F238E27FC236}">
                <a16:creationId xmlns:a16="http://schemas.microsoft.com/office/drawing/2014/main" id="{90E612EF-3C53-4EF3-B7BD-9202477DF1EA}"/>
              </a:ext>
            </a:extLst>
          </p:cNvPr>
          <p:cNvSpPr>
            <a:spLocks noGrp="1"/>
          </p:cNvSpPr>
          <p:nvPr>
            <p:ph sz="quarter" idx="13"/>
          </p:nvPr>
        </p:nvSpPr>
        <p:spPr>
          <a:xfrm>
            <a:off x="457201" y="1552575"/>
            <a:ext cx="1533646" cy="469408"/>
          </a:xfrm>
        </p:spPr>
        <p:txBody>
          <a:bodyPr/>
          <a:lstStyle/>
          <a:p>
            <a:r>
              <a:rPr lang="en-US" altLang="en-US" sz="2000" dirty="0">
                <a:ea typeface="ヒラギノ角ゴ Pro W3" pitchFamily="-84" charset="-128"/>
              </a:rPr>
              <a:t>Suppose</a:t>
            </a:r>
            <a:endParaRPr lang="en-US" sz="2000" dirty="0"/>
          </a:p>
        </p:txBody>
      </p:sp>
      <p:graphicFrame>
        <p:nvGraphicFramePr>
          <p:cNvPr id="17" name="Object 16" descr="start fraction w over w to the asterisk power end fraction">
            <a:extLst>
              <a:ext uri="{FF2B5EF4-FFF2-40B4-BE49-F238E27FC236}">
                <a16:creationId xmlns:a16="http://schemas.microsoft.com/office/drawing/2014/main" id="{F20DD1E5-9D95-4952-B733-D30F6F1C21A1}"/>
              </a:ext>
            </a:extLst>
          </p:cNvPr>
          <p:cNvGraphicFramePr>
            <a:graphicFrameLocks noChangeAspect="1"/>
          </p:cNvGraphicFramePr>
          <p:nvPr>
            <p:extLst>
              <p:ext uri="{D42A27DB-BD31-4B8C-83A1-F6EECF244321}">
                <p14:modId xmlns:p14="http://schemas.microsoft.com/office/powerpoint/2010/main" val="4035500479"/>
              </p:ext>
            </p:extLst>
          </p:nvPr>
        </p:nvGraphicFramePr>
        <p:xfrm>
          <a:off x="2101001" y="1502324"/>
          <a:ext cx="409575" cy="577850"/>
        </p:xfrm>
        <a:graphic>
          <a:graphicData uri="http://schemas.openxmlformats.org/presentationml/2006/ole">
            <mc:AlternateContent xmlns:mc="http://schemas.openxmlformats.org/markup-compatibility/2006">
              <mc:Choice xmlns:v="urn:schemas-microsoft-com:vml" Requires="v">
                <p:oleObj spid="_x0000_s42010" name="Equation" r:id="rId3" imgW="279360" imgH="393480" progId="Equation.DSMT4">
                  <p:embed/>
                </p:oleObj>
              </mc:Choice>
              <mc:Fallback>
                <p:oleObj name="Equation" r:id="rId3" imgW="279360" imgH="393480" progId="Equation.DSMT4">
                  <p:embed/>
                  <p:pic>
                    <p:nvPicPr>
                      <p:cNvPr id="8" name="Object 7">
                        <a:extLst>
                          <a:ext uri="{FF2B5EF4-FFF2-40B4-BE49-F238E27FC236}">
                            <a16:creationId xmlns:a16="http://schemas.microsoft.com/office/drawing/2014/main" id="{A1516068-239F-4D02-BEB0-3853FBB2FA6F}"/>
                          </a:ext>
                        </a:extLst>
                      </p:cNvPr>
                      <p:cNvPicPr/>
                      <p:nvPr/>
                    </p:nvPicPr>
                    <p:blipFill>
                      <a:blip r:embed="rId4"/>
                      <a:stretch>
                        <a:fillRect/>
                      </a:stretch>
                    </p:blipFill>
                    <p:spPr>
                      <a:xfrm>
                        <a:off x="2101001" y="1502324"/>
                        <a:ext cx="409575" cy="57785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574CDF4-B385-4A78-B6E7-0BC49050E2F1}"/>
              </a:ext>
            </a:extLst>
          </p:cNvPr>
          <p:cNvSpPr>
            <a:spLocks noGrp="1"/>
          </p:cNvSpPr>
          <p:nvPr>
            <p:ph sz="quarter" idx="14"/>
          </p:nvPr>
        </p:nvSpPr>
        <p:spPr>
          <a:xfrm>
            <a:off x="2629205" y="1555617"/>
            <a:ext cx="3073719" cy="456454"/>
          </a:xfrm>
        </p:spPr>
        <p:txBody>
          <a:bodyPr/>
          <a:lstStyle/>
          <a:p>
            <a:pPr marL="0" lvl="1" indent="0">
              <a:buNone/>
            </a:pPr>
            <a:r>
              <a:rPr lang="en-US" altLang="en-US" sz="2000" dirty="0">
                <a:ea typeface="ヒラギノ角ゴ Pro W3" pitchFamily="-84" charset="-128"/>
              </a:rPr>
              <a:t>increases from 3 to 3.99:</a:t>
            </a:r>
            <a:endParaRPr lang="en-US" sz="2000" dirty="0"/>
          </a:p>
        </p:txBody>
      </p:sp>
      <p:sp>
        <p:nvSpPr>
          <p:cNvPr id="5" name="Content Placeholder 4">
            <a:extLst>
              <a:ext uri="{FF2B5EF4-FFF2-40B4-BE49-F238E27FC236}">
                <a16:creationId xmlns:a16="http://schemas.microsoft.com/office/drawing/2014/main" id="{27A60591-DC56-47BE-BA1E-EFB6EAF1D1D0}"/>
              </a:ext>
            </a:extLst>
          </p:cNvPr>
          <p:cNvSpPr>
            <a:spLocks noGrp="1"/>
          </p:cNvSpPr>
          <p:nvPr>
            <p:ph sz="quarter" idx="15"/>
          </p:nvPr>
        </p:nvSpPr>
        <p:spPr>
          <a:xfrm>
            <a:off x="457200" y="2175000"/>
            <a:ext cx="8119641" cy="1090714"/>
          </a:xfrm>
        </p:spPr>
        <p:txBody>
          <a:bodyPr/>
          <a:lstStyle/>
          <a:p>
            <a:pPr lvl="1"/>
            <a:r>
              <a:rPr lang="en-US" altLang="en-US" sz="2000" dirty="0">
                <a:ea typeface="ヒラギノ角ゴ Pro W3" pitchFamily="-84" charset="-128"/>
              </a:rPr>
              <a:t>The home country would produce apples, bananas, and caviar, but the demand for these goods and the labor to produce them would fall as the relative wage rises.</a:t>
            </a:r>
            <a:endParaRPr lang="en-US" sz="2000" dirty="0"/>
          </a:p>
        </p:txBody>
      </p:sp>
      <p:sp>
        <p:nvSpPr>
          <p:cNvPr id="6" name="Content Placeholder 5">
            <a:extLst>
              <a:ext uri="{FF2B5EF4-FFF2-40B4-BE49-F238E27FC236}">
                <a16:creationId xmlns:a16="http://schemas.microsoft.com/office/drawing/2014/main" id="{0F946908-4C3F-49EC-929E-2D4D4C80F4A4}"/>
              </a:ext>
            </a:extLst>
          </p:cNvPr>
          <p:cNvSpPr>
            <a:spLocks noGrp="1"/>
          </p:cNvSpPr>
          <p:nvPr>
            <p:ph sz="quarter" idx="16"/>
          </p:nvPr>
        </p:nvSpPr>
        <p:spPr>
          <a:xfrm>
            <a:off x="457201" y="3381835"/>
            <a:ext cx="1464196" cy="476250"/>
          </a:xfrm>
        </p:spPr>
        <p:txBody>
          <a:bodyPr/>
          <a:lstStyle/>
          <a:p>
            <a:r>
              <a:rPr lang="en-US" altLang="en-US" sz="2000" dirty="0">
                <a:ea typeface="ヒラギノ角ゴ Pro W3" pitchFamily="-84" charset="-128"/>
              </a:rPr>
              <a:t>Suppose</a:t>
            </a:r>
            <a:endParaRPr lang="en-US" sz="2000" dirty="0"/>
          </a:p>
        </p:txBody>
      </p:sp>
      <p:graphicFrame>
        <p:nvGraphicFramePr>
          <p:cNvPr id="18" name="Object 17" descr="start fraction w over w to the asterisk power end fraction">
            <a:extLst>
              <a:ext uri="{FF2B5EF4-FFF2-40B4-BE49-F238E27FC236}">
                <a16:creationId xmlns:a16="http://schemas.microsoft.com/office/drawing/2014/main" id="{19B6DFB2-EDF1-416C-836A-C2FEDC4400DF}"/>
              </a:ext>
            </a:extLst>
          </p:cNvPr>
          <p:cNvGraphicFramePr>
            <a:graphicFrameLocks noChangeAspect="1"/>
          </p:cNvGraphicFramePr>
          <p:nvPr>
            <p:extLst>
              <p:ext uri="{D42A27DB-BD31-4B8C-83A1-F6EECF244321}">
                <p14:modId xmlns:p14="http://schemas.microsoft.com/office/powerpoint/2010/main" val="1931228694"/>
              </p:ext>
            </p:extLst>
          </p:nvPr>
        </p:nvGraphicFramePr>
        <p:xfrm>
          <a:off x="2010250" y="3374406"/>
          <a:ext cx="409575" cy="577850"/>
        </p:xfrm>
        <a:graphic>
          <a:graphicData uri="http://schemas.openxmlformats.org/presentationml/2006/ole">
            <mc:AlternateContent xmlns:mc="http://schemas.openxmlformats.org/markup-compatibility/2006">
              <mc:Choice xmlns:v="urn:schemas-microsoft-com:vml" Requires="v">
                <p:oleObj spid="_x0000_s42011" name="Equation" r:id="rId5" imgW="410210" imgH="577907" progId="Equation.DSMT4">
                  <p:embed/>
                </p:oleObj>
              </mc:Choice>
              <mc:Fallback>
                <p:oleObj name="Equation" r:id="rId5" imgW="410210" imgH="577907" progId="Equation.DSMT4">
                  <p:embed/>
                  <p:pic>
                    <p:nvPicPr>
                      <p:cNvPr id="0" name=""/>
                      <p:cNvPicPr/>
                      <p:nvPr/>
                    </p:nvPicPr>
                    <p:blipFill>
                      <a:blip r:embed="rId6"/>
                      <a:stretch>
                        <a:fillRect/>
                      </a:stretch>
                    </p:blipFill>
                    <p:spPr>
                      <a:xfrm>
                        <a:off x="2010250" y="3374406"/>
                        <a:ext cx="409575" cy="57785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76BA4410-C087-46EE-ACBC-E0CAAC5EFAD9}"/>
              </a:ext>
            </a:extLst>
          </p:cNvPr>
          <p:cNvSpPr>
            <a:spLocks noGrp="1"/>
          </p:cNvSpPr>
          <p:nvPr>
            <p:ph sz="quarter" idx="17"/>
          </p:nvPr>
        </p:nvSpPr>
        <p:spPr>
          <a:xfrm>
            <a:off x="2524701" y="3381834"/>
            <a:ext cx="3999053" cy="476250"/>
          </a:xfrm>
        </p:spPr>
        <p:txBody>
          <a:bodyPr/>
          <a:lstStyle/>
          <a:p>
            <a:pPr marL="0" lvl="1" indent="0">
              <a:buNone/>
            </a:pPr>
            <a:r>
              <a:rPr lang="en-US" altLang="en-US" sz="2000" dirty="0">
                <a:ea typeface="ヒラギノ角ゴ Pro W3" pitchFamily="-84" charset="-128"/>
              </a:rPr>
              <a:t>increases from 3.99 to 4.01:</a:t>
            </a:r>
            <a:endParaRPr lang="en-US" sz="2000" dirty="0"/>
          </a:p>
        </p:txBody>
      </p:sp>
      <p:sp>
        <p:nvSpPr>
          <p:cNvPr id="8" name="Content Placeholder 7">
            <a:extLst>
              <a:ext uri="{FF2B5EF4-FFF2-40B4-BE49-F238E27FC236}">
                <a16:creationId xmlns:a16="http://schemas.microsoft.com/office/drawing/2014/main" id="{A3EAE667-A5BC-4657-934D-A34E2DDA0D07}"/>
              </a:ext>
            </a:extLst>
          </p:cNvPr>
          <p:cNvSpPr>
            <a:spLocks noGrp="1"/>
          </p:cNvSpPr>
          <p:nvPr>
            <p:ph sz="quarter" idx="18"/>
          </p:nvPr>
        </p:nvSpPr>
        <p:spPr>
          <a:xfrm>
            <a:off x="457200" y="4020345"/>
            <a:ext cx="7916091" cy="1390652"/>
          </a:xfrm>
        </p:spPr>
        <p:txBody>
          <a:bodyPr/>
          <a:lstStyle/>
          <a:p>
            <a:pPr lvl="1"/>
            <a:r>
              <a:rPr lang="en-US" altLang="en-US" sz="2000" dirty="0">
                <a:ea typeface="ヒラギノ角ゴ Pro W3" pitchFamily="-84" charset="-128"/>
              </a:rPr>
              <a:t>Caviar is now too expensive to produce in the home country, so the caviar industry moves to the foreign country, causing a discrete (abrupt) drop in the demand for domestic labor services.</a:t>
            </a:r>
            <a:endParaRPr lang="en-US" sz="2000" dirty="0"/>
          </a:p>
        </p:txBody>
      </p:sp>
      <p:sp>
        <p:nvSpPr>
          <p:cNvPr id="9" name="Content Placeholder 8">
            <a:extLst>
              <a:ext uri="{FF2B5EF4-FFF2-40B4-BE49-F238E27FC236}">
                <a16:creationId xmlns:a16="http://schemas.microsoft.com/office/drawing/2014/main" id="{2032B06A-4550-43EA-B4EF-095D8A46AD90}"/>
              </a:ext>
            </a:extLst>
          </p:cNvPr>
          <p:cNvSpPr>
            <a:spLocks noGrp="1"/>
          </p:cNvSpPr>
          <p:nvPr>
            <p:ph sz="quarter" idx="19"/>
          </p:nvPr>
        </p:nvSpPr>
        <p:spPr>
          <a:xfrm>
            <a:off x="457200" y="5514854"/>
            <a:ext cx="3524491" cy="454255"/>
          </a:xfrm>
        </p:spPr>
        <p:txBody>
          <a:bodyPr/>
          <a:lstStyle/>
          <a:p>
            <a:r>
              <a:rPr lang="en-US" altLang="en-US" sz="2000" dirty="0">
                <a:ea typeface="ヒラギノ角ゴ Pro W3" pitchFamily="-84" charset="-128"/>
              </a:rPr>
              <a:t>Consider similar effects as</a:t>
            </a:r>
            <a:endParaRPr lang="en-US" sz="2000" dirty="0"/>
          </a:p>
        </p:txBody>
      </p:sp>
      <p:graphicFrame>
        <p:nvGraphicFramePr>
          <p:cNvPr id="20" name="Object 19" descr="start fraction w over w to the asterisk power end fraction">
            <a:extLst>
              <a:ext uri="{FF2B5EF4-FFF2-40B4-BE49-F238E27FC236}">
                <a16:creationId xmlns:a16="http://schemas.microsoft.com/office/drawing/2014/main" id="{2C20D3B8-904C-411D-B533-4AFA4D934372}"/>
              </a:ext>
            </a:extLst>
          </p:cNvPr>
          <p:cNvGraphicFramePr>
            <a:graphicFrameLocks noChangeAspect="1"/>
          </p:cNvGraphicFramePr>
          <p:nvPr>
            <p:extLst>
              <p:ext uri="{D42A27DB-BD31-4B8C-83A1-F6EECF244321}">
                <p14:modId xmlns:p14="http://schemas.microsoft.com/office/powerpoint/2010/main" val="3800120782"/>
              </p:ext>
            </p:extLst>
          </p:nvPr>
        </p:nvGraphicFramePr>
        <p:xfrm>
          <a:off x="4103905" y="5483240"/>
          <a:ext cx="409575" cy="577850"/>
        </p:xfrm>
        <a:graphic>
          <a:graphicData uri="http://schemas.openxmlformats.org/presentationml/2006/ole">
            <mc:AlternateContent xmlns:mc="http://schemas.openxmlformats.org/markup-compatibility/2006">
              <mc:Choice xmlns:v="urn:schemas-microsoft-com:vml" Requires="v">
                <p:oleObj spid="_x0000_s42012" name="Equation" r:id="rId7" imgW="410210" imgH="577907" progId="Equation.DSMT4">
                  <p:embed/>
                </p:oleObj>
              </mc:Choice>
              <mc:Fallback>
                <p:oleObj name="Equation" r:id="rId7" imgW="410210" imgH="577907" progId="Equation.DSMT4">
                  <p:embed/>
                  <p:pic>
                    <p:nvPicPr>
                      <p:cNvPr id="0" name=""/>
                      <p:cNvPicPr/>
                      <p:nvPr/>
                    </p:nvPicPr>
                    <p:blipFill>
                      <a:blip r:embed="rId8"/>
                      <a:stretch>
                        <a:fillRect/>
                      </a:stretch>
                    </p:blipFill>
                    <p:spPr>
                      <a:xfrm>
                        <a:off x="4103905" y="5483240"/>
                        <a:ext cx="409575" cy="57785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932DD01C-F767-4C0D-9101-4FE7A4976613}"/>
              </a:ext>
            </a:extLst>
          </p:cNvPr>
          <p:cNvSpPr>
            <a:spLocks noGrp="1"/>
          </p:cNvSpPr>
          <p:nvPr>
            <p:ph sz="quarter" idx="20"/>
          </p:nvPr>
        </p:nvSpPr>
        <p:spPr>
          <a:xfrm>
            <a:off x="4635694" y="5526204"/>
            <a:ext cx="2640314" cy="431553"/>
          </a:xfrm>
        </p:spPr>
        <p:txBody>
          <a:bodyPr/>
          <a:lstStyle/>
          <a:p>
            <a:pPr marL="0" lvl="1" indent="0">
              <a:buNone/>
            </a:pPr>
            <a:r>
              <a:rPr lang="en-US" altLang="en-US" sz="2000" dirty="0">
                <a:ea typeface="ヒラギノ角ゴ Pro W3" pitchFamily="-84" charset="-128"/>
              </a:rPr>
              <a:t>rises from 0.75</a:t>
            </a:r>
            <a:r>
              <a:rPr lang="en-US" altLang="en-US" sz="2000" i="1" dirty="0">
                <a:ea typeface="ヒラギノ角ゴ Pro W3" pitchFamily="-84" charset="-128"/>
              </a:rPr>
              <a:t> </a:t>
            </a:r>
            <a:r>
              <a:rPr lang="en-US" altLang="en-US" sz="2000" dirty="0">
                <a:ea typeface="ヒラギノ角ゴ Pro W3" pitchFamily="-84" charset="-128"/>
              </a:rPr>
              <a:t>to 10.</a:t>
            </a:r>
            <a:endParaRPr lang="en-US" sz="2000" dirty="0"/>
          </a:p>
        </p:txBody>
      </p:sp>
    </p:spTree>
    <p:extLst>
      <p:ext uri="{BB962C8B-B14F-4D97-AF65-F5344CB8AC3E}">
        <p14:creationId xmlns:p14="http://schemas.microsoft.com/office/powerpoint/2010/main" val="8957247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2889-ECC2-4D22-86E9-E332269D976F}"/>
              </a:ext>
            </a:extLst>
          </p:cNvPr>
          <p:cNvSpPr>
            <a:spLocks noGrp="1"/>
          </p:cNvSpPr>
          <p:nvPr>
            <p:ph type="title"/>
          </p:nvPr>
        </p:nvSpPr>
        <p:spPr/>
        <p:txBody>
          <a:bodyPr/>
          <a:lstStyle/>
          <a:p>
            <a:r>
              <a:rPr lang="en-US" altLang="en-US" sz="3200" dirty="0">
                <a:ea typeface="ヒラギノ角ゴ Pro W3" pitchFamily="-84" charset="-128"/>
              </a:rPr>
              <a:t>Figure 3.5 Determination of Relative Wages</a:t>
            </a:r>
            <a:endParaRPr lang="en-IN" sz="3200" dirty="0"/>
          </a:p>
        </p:txBody>
      </p:sp>
      <p:pic>
        <p:nvPicPr>
          <p:cNvPr id="6" name="Content Placeholder 5" descr="A graph plots relative wage rate, w over w asterisk, versus relative quantity of labor, L over L asterisk. For long description in Notes pane, press F6.">
            <a:extLst>
              <a:ext uri="{FF2B5EF4-FFF2-40B4-BE49-F238E27FC236}">
                <a16:creationId xmlns:a16="http://schemas.microsoft.com/office/drawing/2014/main" id="{48B5C85C-25FF-4834-B16B-9287DEF3443C}"/>
              </a:ext>
            </a:extLst>
          </p:cNvPr>
          <p:cNvPicPr>
            <a:picLocks noGrp="1" noChangeAspect="1"/>
          </p:cNvPicPr>
          <p:nvPr>
            <p:ph sz="quarter" idx="13"/>
          </p:nvPr>
        </p:nvPicPr>
        <p:blipFill>
          <a:blip r:embed="rId3"/>
          <a:stretch>
            <a:fillRect/>
          </a:stretch>
        </p:blipFill>
        <p:spPr>
          <a:xfrm>
            <a:off x="2915895" y="1600897"/>
            <a:ext cx="3312211" cy="3510945"/>
          </a:xfrm>
        </p:spPr>
      </p:pic>
      <p:sp>
        <p:nvSpPr>
          <p:cNvPr id="4" name="Content Placeholder 3">
            <a:extLst>
              <a:ext uri="{FF2B5EF4-FFF2-40B4-BE49-F238E27FC236}">
                <a16:creationId xmlns:a16="http://schemas.microsoft.com/office/drawing/2014/main" id="{505289BB-0317-42CE-945E-55E965F6A133}"/>
              </a:ext>
            </a:extLst>
          </p:cNvPr>
          <p:cNvSpPr>
            <a:spLocks noGrp="1"/>
          </p:cNvSpPr>
          <p:nvPr>
            <p:ph sz="quarter" idx="14"/>
          </p:nvPr>
        </p:nvSpPr>
        <p:spPr>
          <a:xfrm>
            <a:off x="457200" y="5243333"/>
            <a:ext cx="8229600" cy="1076687"/>
          </a:xfrm>
        </p:spPr>
        <p:txBody>
          <a:bodyPr/>
          <a:lstStyle/>
          <a:p>
            <a:pPr marL="432" indent="0">
              <a:buNone/>
            </a:pPr>
            <a:r>
              <a:rPr lang="en-US" sz="2000" dirty="0"/>
              <a:t>In a many-good Ricardian model, relative wages are determined by the intersection of the derived relative demand curve for labor, </a:t>
            </a:r>
            <a:r>
              <a:rPr lang="en-US" sz="2000" i="1" dirty="0"/>
              <a:t>R</a:t>
            </a:r>
            <a:r>
              <a:rPr lang="en-US" sz="100" i="1" dirty="0"/>
              <a:t> </a:t>
            </a:r>
            <a:r>
              <a:rPr lang="en-US" sz="2000" i="1" dirty="0"/>
              <a:t>D</a:t>
            </a:r>
            <a:r>
              <a:rPr lang="en-US" sz="2000" dirty="0"/>
              <a:t>, with the relative supply, </a:t>
            </a:r>
            <a:r>
              <a:rPr lang="en-US" sz="2000" i="1" dirty="0"/>
              <a:t>R</a:t>
            </a:r>
            <a:r>
              <a:rPr lang="en-US" sz="100" i="1" dirty="0"/>
              <a:t> </a:t>
            </a:r>
            <a:r>
              <a:rPr lang="en-US" sz="2000" i="1" dirty="0"/>
              <a:t>S.</a:t>
            </a:r>
            <a:endParaRPr lang="en-US" sz="2000" dirty="0"/>
          </a:p>
        </p:txBody>
      </p:sp>
    </p:spTree>
    <p:extLst>
      <p:ext uri="{BB962C8B-B14F-4D97-AF65-F5344CB8AC3E}">
        <p14:creationId xmlns:p14="http://schemas.microsoft.com/office/powerpoint/2010/main" val="27131369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D820-42A0-438B-80DB-32E8E33CC1FF}"/>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(7 of 7)</a:t>
            </a:r>
            <a:endParaRPr lang="en-IN" sz="2000" dirty="0"/>
          </a:p>
        </p:txBody>
      </p:sp>
      <p:sp>
        <p:nvSpPr>
          <p:cNvPr id="3" name="Content Placeholder 2">
            <a:extLst>
              <a:ext uri="{FF2B5EF4-FFF2-40B4-BE49-F238E27FC236}">
                <a16:creationId xmlns:a16="http://schemas.microsoft.com/office/drawing/2014/main" id="{9EF4E45A-87A9-4720-B83F-AA3E47A244A0}"/>
              </a:ext>
            </a:extLst>
          </p:cNvPr>
          <p:cNvSpPr>
            <a:spLocks noGrp="1"/>
          </p:cNvSpPr>
          <p:nvPr>
            <p:ph sz="quarter" idx="13"/>
          </p:nvPr>
        </p:nvSpPr>
        <p:spPr>
          <a:xfrm>
            <a:off x="457199" y="1552575"/>
            <a:ext cx="6884127" cy="542443"/>
          </a:xfrm>
        </p:spPr>
        <p:txBody>
          <a:bodyPr/>
          <a:lstStyle/>
          <a:p>
            <a:r>
              <a:rPr lang="en-US" altLang="en-US" sz="2400" dirty="0">
                <a:ea typeface="ヒラギノ角ゴ Pro W3" pitchFamily="-84" charset="-128"/>
              </a:rPr>
              <a:t>Finally, suppose that relative supply of labor is</a:t>
            </a:r>
          </a:p>
        </p:txBody>
      </p:sp>
      <p:sp>
        <p:nvSpPr>
          <p:cNvPr id="4" name="Content Placeholder 3">
            <a:extLst>
              <a:ext uri="{FF2B5EF4-FFF2-40B4-BE49-F238E27FC236}">
                <a16:creationId xmlns:a16="http://schemas.microsoft.com/office/drawing/2014/main" id="{265BDDCD-A77E-4E80-8341-53BFC5F5A1C3}"/>
              </a:ext>
            </a:extLst>
          </p:cNvPr>
          <p:cNvSpPr>
            <a:spLocks noGrp="1"/>
          </p:cNvSpPr>
          <p:nvPr>
            <p:ph sz="quarter" idx="14"/>
          </p:nvPr>
        </p:nvSpPr>
        <p:spPr>
          <a:xfrm>
            <a:off x="457199" y="2194850"/>
            <a:ext cx="2598517" cy="594649"/>
          </a:xfrm>
        </p:spPr>
        <p:txBody>
          <a:bodyPr/>
          <a:lstStyle/>
          <a:p>
            <a:pPr marL="255600" indent="0">
              <a:buNone/>
            </a:pPr>
            <a:r>
              <a:rPr lang="en-US" altLang="en-US" sz="2400" dirty="0">
                <a:ea typeface="ヒラギノ角ゴ Pro W3" pitchFamily="-84" charset="-128"/>
              </a:rPr>
              <a:t>independent of</a:t>
            </a:r>
            <a:endParaRPr lang="en-US" sz="2400" dirty="0"/>
          </a:p>
        </p:txBody>
      </p:sp>
      <p:graphicFrame>
        <p:nvGraphicFramePr>
          <p:cNvPr id="7" name="Object 6" descr="start fraction w over w to the asterisk power end fraction">
            <a:extLst>
              <a:ext uri="{FF2B5EF4-FFF2-40B4-BE49-F238E27FC236}">
                <a16:creationId xmlns:a16="http://schemas.microsoft.com/office/drawing/2014/main" id="{3DC08E39-41D9-4AE3-B7C9-8E46E936378A}"/>
              </a:ext>
            </a:extLst>
          </p:cNvPr>
          <p:cNvGraphicFramePr>
            <a:graphicFrameLocks noChangeAspect="1"/>
          </p:cNvGraphicFramePr>
          <p:nvPr>
            <p:extLst>
              <p:ext uri="{D42A27DB-BD31-4B8C-83A1-F6EECF244321}">
                <p14:modId xmlns:p14="http://schemas.microsoft.com/office/powerpoint/2010/main" val="3171735803"/>
              </p:ext>
            </p:extLst>
          </p:nvPr>
        </p:nvGraphicFramePr>
        <p:xfrm>
          <a:off x="3133796" y="2184918"/>
          <a:ext cx="494974" cy="697465"/>
        </p:xfrm>
        <a:graphic>
          <a:graphicData uri="http://schemas.openxmlformats.org/presentationml/2006/ole">
            <mc:AlternateContent xmlns:mc="http://schemas.openxmlformats.org/markup-compatibility/2006">
              <mc:Choice xmlns:v="urn:schemas-microsoft-com:vml" Requires="v">
                <p:oleObj spid="_x0000_s43018" name="Equation" r:id="rId3" imgW="279360" imgH="393480" progId="Equation.DSMT4">
                  <p:embed/>
                </p:oleObj>
              </mc:Choice>
              <mc:Fallback>
                <p:oleObj name="Equation" r:id="rId3" imgW="279360" imgH="393480" progId="Equation.DSMT4">
                  <p:embed/>
                  <p:pic>
                    <p:nvPicPr>
                      <p:cNvPr id="20" name="Object 19">
                        <a:extLst>
                          <a:ext uri="{FF2B5EF4-FFF2-40B4-BE49-F238E27FC236}">
                            <a16:creationId xmlns:a16="http://schemas.microsoft.com/office/drawing/2014/main" id="{2C20D3B8-904C-411D-B533-4AFA4D934372}"/>
                          </a:ext>
                        </a:extLst>
                      </p:cNvPr>
                      <p:cNvPicPr/>
                      <p:nvPr/>
                    </p:nvPicPr>
                    <p:blipFill>
                      <a:blip r:embed="rId4"/>
                      <a:stretch>
                        <a:fillRect/>
                      </a:stretch>
                    </p:blipFill>
                    <p:spPr>
                      <a:xfrm>
                        <a:off x="3133796" y="2184918"/>
                        <a:ext cx="494974" cy="69746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6581F88A-A78C-4252-9413-D8DECC2C4155}"/>
              </a:ext>
            </a:extLst>
          </p:cNvPr>
          <p:cNvSpPr>
            <a:spLocks noGrp="1"/>
          </p:cNvSpPr>
          <p:nvPr>
            <p:ph sz="quarter" idx="15"/>
          </p:nvPr>
        </p:nvSpPr>
        <p:spPr>
          <a:xfrm>
            <a:off x="3731922" y="2244268"/>
            <a:ext cx="3666282" cy="545231"/>
          </a:xfrm>
        </p:spPr>
        <p:txBody>
          <a:bodyPr/>
          <a:lstStyle/>
          <a:p>
            <a:pPr marL="0" lvl="1" indent="0">
              <a:buNone/>
            </a:pPr>
            <a:r>
              <a:rPr lang="en-US" altLang="en-US" dirty="0">
                <a:ea typeface="ヒラギノ角ゴ Pro W3" pitchFamily="-84" charset="-128"/>
              </a:rPr>
              <a:t>and is fixed at an amount</a:t>
            </a:r>
            <a:endParaRPr lang="en-IN" dirty="0"/>
          </a:p>
        </p:txBody>
      </p:sp>
      <p:sp>
        <p:nvSpPr>
          <p:cNvPr id="6" name="Content Placeholder 5">
            <a:extLst>
              <a:ext uri="{FF2B5EF4-FFF2-40B4-BE49-F238E27FC236}">
                <a16:creationId xmlns:a16="http://schemas.microsoft.com/office/drawing/2014/main" id="{BD0A8F99-D139-4179-895E-525D1625FEF5}"/>
              </a:ext>
            </a:extLst>
          </p:cNvPr>
          <p:cNvSpPr>
            <a:spLocks noGrp="1"/>
          </p:cNvSpPr>
          <p:nvPr>
            <p:ph sz="quarter" idx="16"/>
          </p:nvPr>
        </p:nvSpPr>
        <p:spPr>
          <a:xfrm>
            <a:off x="457199" y="2975020"/>
            <a:ext cx="8229601" cy="865459"/>
          </a:xfrm>
        </p:spPr>
        <p:txBody>
          <a:bodyPr/>
          <a:lstStyle/>
          <a:p>
            <a:pPr marL="255600" indent="0">
              <a:buNone/>
            </a:pPr>
            <a:r>
              <a:rPr lang="en-US" altLang="en-US" sz="2400" dirty="0">
                <a:ea typeface="ヒラギノ角ゴ Pro W3" pitchFamily="-84" charset="-128"/>
              </a:rPr>
              <a:t>determined by the</a:t>
            </a:r>
            <a:r>
              <a:rPr lang="en-US" altLang="en-US" dirty="0">
                <a:ea typeface="ヒラギノ角ゴ Pro W3" pitchFamily="-84" charset="-128"/>
              </a:rPr>
              <a:t> </a:t>
            </a:r>
            <a:r>
              <a:rPr lang="en-US" altLang="en-US" sz="2400" dirty="0">
                <a:ea typeface="ヒラギノ角ゴ Pro W3" pitchFamily="-84" charset="-128"/>
              </a:rPr>
              <a:t>populations in the home and foreign countries.</a:t>
            </a:r>
            <a:endParaRPr lang="en-US" sz="2400" dirty="0"/>
          </a:p>
        </p:txBody>
      </p:sp>
    </p:spTree>
    <p:extLst>
      <p:ext uri="{BB962C8B-B14F-4D97-AF65-F5344CB8AC3E}">
        <p14:creationId xmlns:p14="http://schemas.microsoft.com/office/powerpoint/2010/main" val="9095874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0538-66B0-4583-A2E9-7A0D79148ED5}"/>
              </a:ext>
            </a:extLst>
          </p:cNvPr>
          <p:cNvSpPr>
            <a:spLocks noGrp="1"/>
          </p:cNvSpPr>
          <p:nvPr>
            <p:ph type="title"/>
          </p:nvPr>
        </p:nvSpPr>
        <p:spPr/>
        <p:txBody>
          <a:bodyPr/>
          <a:lstStyle/>
          <a:p>
            <a:r>
              <a:rPr lang="en-US" altLang="en-US" sz="3200" dirty="0">
                <a:ea typeface="ヒラギノ角ゴ Pro W3" pitchFamily="-84" charset="-128"/>
              </a:rPr>
              <a:t>Transportation Costs and Nontraded Goods </a:t>
            </a:r>
            <a:r>
              <a:rPr lang="en-US" altLang="en-US" sz="2000" b="0" dirty="0">
                <a:ea typeface="ヒラギノ角ゴ Pro W3" pitchFamily="-84" charset="-128"/>
              </a:rPr>
              <a:t>(1 of 2)</a:t>
            </a:r>
            <a:endParaRPr lang="en-IN" sz="2000" dirty="0"/>
          </a:p>
        </p:txBody>
      </p:sp>
      <p:sp>
        <p:nvSpPr>
          <p:cNvPr id="4" name="Content Placeholder 3">
            <a:extLst>
              <a:ext uri="{FF2B5EF4-FFF2-40B4-BE49-F238E27FC236}">
                <a16:creationId xmlns:a16="http://schemas.microsoft.com/office/drawing/2014/main" id="{513BD5E7-3DF1-4913-BEED-7DBBA8737DC7}"/>
              </a:ext>
            </a:extLst>
          </p:cNvPr>
          <p:cNvSpPr>
            <a:spLocks noGrp="1"/>
          </p:cNvSpPr>
          <p:nvPr>
            <p:ph sz="quarter" idx="13"/>
          </p:nvPr>
        </p:nvSpPr>
        <p:spPr>
          <a:xfrm>
            <a:off x="457200" y="1556327"/>
            <a:ext cx="8229600" cy="1449632"/>
          </a:xfrm>
        </p:spPr>
        <p:txBody>
          <a:bodyPr/>
          <a:lstStyle/>
          <a:p>
            <a:pPr>
              <a:spcBef>
                <a:spcPct val="50000"/>
              </a:spcBef>
            </a:pPr>
            <a:r>
              <a:rPr lang="en-US" altLang="en-US" sz="2400" dirty="0">
                <a:ea typeface="ヒラギノ角ゴ Pro W3" pitchFamily="-84" charset="-128"/>
              </a:rPr>
              <a:t>The Ricardian model predicts that countries completely specialize in production.</a:t>
            </a:r>
          </a:p>
          <a:p>
            <a:pPr>
              <a:spcBef>
                <a:spcPct val="50000"/>
              </a:spcBef>
            </a:pPr>
            <a:r>
              <a:rPr lang="en-US" altLang="en-US" sz="2400" dirty="0">
                <a:ea typeface="ヒラギノ角ゴ Pro W3" pitchFamily="-84" charset="-128"/>
              </a:rPr>
              <a:t>But this rarely happens for three main reasons:</a:t>
            </a:r>
          </a:p>
        </p:txBody>
      </p:sp>
      <p:sp>
        <p:nvSpPr>
          <p:cNvPr id="5" name="Content Placeholder 4">
            <a:extLst>
              <a:ext uri="{FF2B5EF4-FFF2-40B4-BE49-F238E27FC236}">
                <a16:creationId xmlns:a16="http://schemas.microsoft.com/office/drawing/2014/main" id="{F07242EE-C0CD-4C75-8746-340615503FA5}"/>
              </a:ext>
            </a:extLst>
          </p:cNvPr>
          <p:cNvSpPr>
            <a:spLocks noGrp="1"/>
          </p:cNvSpPr>
          <p:nvPr>
            <p:ph sz="quarter" idx="14"/>
          </p:nvPr>
        </p:nvSpPr>
        <p:spPr>
          <a:xfrm>
            <a:off x="457200" y="3080506"/>
            <a:ext cx="8404578" cy="2925181"/>
          </a:xfrm>
        </p:spPr>
        <p:txBody>
          <a:bodyPr/>
          <a:lstStyle/>
          <a:p>
            <a:pPr marL="741600" lvl="1" indent="-428400">
              <a:buFont typeface="+mj-lt"/>
              <a:buAutoNum type="arabicPeriod"/>
            </a:pPr>
            <a:r>
              <a:rPr lang="en-US" dirty="0"/>
              <a:t>More than one factor of production reduces the tendency of specialization (Econ/Trade Chapters 4–5).</a:t>
            </a:r>
          </a:p>
          <a:p>
            <a:pPr marL="741600" lvl="1" indent="-428400">
              <a:buFont typeface="+mj-lt"/>
              <a:buAutoNum type="arabicPeriod"/>
            </a:pPr>
            <a:r>
              <a:rPr lang="en-US" dirty="0"/>
              <a:t>Protectionism (Econ/Trade Chapters 9–12).</a:t>
            </a:r>
          </a:p>
          <a:p>
            <a:pPr marL="741600" lvl="1" indent="-428400">
              <a:buFont typeface="+mj-lt"/>
              <a:buAutoNum type="arabicPeriod"/>
            </a:pPr>
            <a:r>
              <a:rPr lang="en-US" dirty="0"/>
              <a:t>Transportation costs reduce or prevent trade, which may cause each country to produce the same good or service.</a:t>
            </a:r>
            <a:endParaRPr lang="en-IN" dirty="0"/>
          </a:p>
        </p:txBody>
      </p:sp>
    </p:spTree>
    <p:extLst>
      <p:ext uri="{BB962C8B-B14F-4D97-AF65-F5344CB8AC3E}">
        <p14:creationId xmlns:p14="http://schemas.microsoft.com/office/powerpoint/2010/main" val="11652928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0538-66B0-4583-A2E9-7A0D79148ED5}"/>
              </a:ext>
            </a:extLst>
          </p:cNvPr>
          <p:cNvSpPr>
            <a:spLocks noGrp="1"/>
          </p:cNvSpPr>
          <p:nvPr>
            <p:ph type="title"/>
          </p:nvPr>
        </p:nvSpPr>
        <p:spPr/>
        <p:txBody>
          <a:bodyPr/>
          <a:lstStyle/>
          <a:p>
            <a:r>
              <a:rPr lang="en-US" altLang="en-US" sz="3200" dirty="0">
                <a:ea typeface="ヒラギノ角ゴ Pro W3" pitchFamily="-84" charset="-128"/>
              </a:rPr>
              <a:t>Transportation Costs and Nontraded Goods </a:t>
            </a:r>
            <a:r>
              <a:rPr lang="en-US" altLang="en-US" sz="2000" b="0" dirty="0">
                <a:ea typeface="ヒラギノ角ゴ Pro W3" pitchFamily="-84" charset="-128"/>
              </a:rPr>
              <a:t>(2 of 2)</a:t>
            </a:r>
            <a:endParaRPr lang="en-IN" sz="2000" dirty="0"/>
          </a:p>
        </p:txBody>
      </p:sp>
      <p:sp>
        <p:nvSpPr>
          <p:cNvPr id="4" name="Content Placeholder 3">
            <a:extLst>
              <a:ext uri="{FF2B5EF4-FFF2-40B4-BE49-F238E27FC236}">
                <a16:creationId xmlns:a16="http://schemas.microsoft.com/office/drawing/2014/main" id="{513BD5E7-3DF1-4913-BEED-7DBBA8737DC7}"/>
              </a:ext>
            </a:extLst>
          </p:cNvPr>
          <p:cNvSpPr>
            <a:spLocks noGrp="1"/>
          </p:cNvSpPr>
          <p:nvPr>
            <p:ph sz="quarter" idx="13"/>
          </p:nvPr>
        </p:nvSpPr>
        <p:spPr>
          <a:xfrm>
            <a:off x="457200" y="1556326"/>
            <a:ext cx="8321040" cy="2900059"/>
          </a:xfrm>
        </p:spPr>
        <p:txBody>
          <a:bodyPr/>
          <a:lstStyle/>
          <a:p>
            <a:pPr>
              <a:spcBef>
                <a:spcPct val="50000"/>
              </a:spcBef>
            </a:pPr>
            <a:r>
              <a:rPr lang="en-US" altLang="en-US" sz="2400" dirty="0">
                <a:ea typeface="ヒラギノ角ゴ Pro W3" pitchFamily="-84" charset="-128"/>
              </a:rPr>
              <a:t>Nontraded goods and services (e.g., haircuts and auto repairs) exist due to high transport costs.</a:t>
            </a:r>
          </a:p>
          <a:p>
            <a:pPr lvl="1"/>
            <a:r>
              <a:rPr lang="en-US" altLang="en-US" sz="2400" dirty="0">
                <a:ea typeface="ヒラギノ角ゴ Pro W3" pitchFamily="-84" charset="-128"/>
              </a:rPr>
              <a:t>Countries tend to spend a large fraction of national income on nontraded goods and services.</a:t>
            </a:r>
          </a:p>
          <a:p>
            <a:pPr lvl="1"/>
            <a:r>
              <a:rPr lang="en-US" altLang="en-US" sz="2400" dirty="0">
                <a:ea typeface="ヒラギノ角ゴ Pro W3" pitchFamily="-84" charset="-128"/>
              </a:rPr>
              <a:t>This fact has implications for the gravity model and for models that consider how income transfers across countries affect trade.</a:t>
            </a:r>
            <a:endParaRPr lang="en-US" sz="2400" dirty="0"/>
          </a:p>
        </p:txBody>
      </p:sp>
    </p:spTree>
    <p:extLst>
      <p:ext uri="{BB962C8B-B14F-4D97-AF65-F5344CB8AC3E}">
        <p14:creationId xmlns:p14="http://schemas.microsoft.com/office/powerpoint/2010/main" val="3278120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7E0F-C3C0-47EF-9A9F-B3711E6679CF}"/>
              </a:ext>
            </a:extLst>
          </p:cNvPr>
          <p:cNvSpPr>
            <a:spLocks noGrp="1"/>
          </p:cNvSpPr>
          <p:nvPr>
            <p:ph type="title"/>
          </p:nvPr>
        </p:nvSpPr>
        <p:spPr/>
        <p:txBody>
          <a:bodyPr/>
          <a:lstStyle/>
          <a:p>
            <a:r>
              <a:rPr lang="en-US" altLang="en-US" dirty="0">
                <a:ea typeface="ヒラギノ角ゴ Pro W3" pitchFamily="-84" charset="-128"/>
              </a:rPr>
              <a:t>Empirical Evidence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CAA4038E-C642-4731-8476-7F1BB1B33DCB}"/>
              </a:ext>
            </a:extLst>
          </p:cNvPr>
          <p:cNvSpPr>
            <a:spLocks noGrp="1"/>
          </p:cNvSpPr>
          <p:nvPr>
            <p:ph sz="quarter" idx="13"/>
          </p:nvPr>
        </p:nvSpPr>
        <p:spPr>
          <a:xfrm>
            <a:off x="457200" y="1556327"/>
            <a:ext cx="8347166" cy="3585828"/>
          </a:xfrm>
        </p:spPr>
        <p:txBody>
          <a:bodyPr/>
          <a:lstStyle/>
          <a:p>
            <a:r>
              <a:rPr lang="en-US" altLang="en-US" dirty="0">
                <a:ea typeface="ヒラギノ角ゴ Pro W3" pitchFamily="-84" charset="-128"/>
              </a:rPr>
              <a:t>Do countries export those goods in which their productivity is relatively high?</a:t>
            </a:r>
          </a:p>
          <a:p>
            <a:r>
              <a:rPr lang="en-US" altLang="en-US" dirty="0">
                <a:ea typeface="ヒラギノ角ゴ Pro W3" pitchFamily="-84" charset="-128"/>
              </a:rPr>
              <a:t>The ratio of U.S. to British exports in 1951 compared to the ratio of U.S. to British labor productivity in 26 manufacturing industries suggests yes.</a:t>
            </a:r>
          </a:p>
          <a:p>
            <a:r>
              <a:rPr lang="en-US" altLang="en-US" dirty="0">
                <a:ea typeface="ヒラギノ角ゴ Pro W3" pitchFamily="-84" charset="-128"/>
              </a:rPr>
              <a:t>At this time, the United States had an absolute advantage in </a:t>
            </a:r>
            <a:r>
              <a:rPr lang="en-US" altLang="en-US" b="1" dirty="0">
                <a:ea typeface="ヒラギノ角ゴ Pro W3" pitchFamily="-84" charset="-128"/>
              </a:rPr>
              <a:t>all</a:t>
            </a:r>
            <a:r>
              <a:rPr lang="en-US" altLang="en-US" dirty="0">
                <a:ea typeface="ヒラギノ角ゴ Pro W3" pitchFamily="-84" charset="-128"/>
              </a:rPr>
              <a:t> 26 industries, yet the ratio of exports was low in the least productive sectors of the United States.</a:t>
            </a:r>
            <a:endParaRPr lang="en-US" dirty="0"/>
          </a:p>
        </p:txBody>
      </p:sp>
    </p:spTree>
    <p:extLst>
      <p:ext uri="{BB962C8B-B14F-4D97-AF65-F5344CB8AC3E}">
        <p14:creationId xmlns:p14="http://schemas.microsoft.com/office/powerpoint/2010/main" val="21949080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185F-BF3B-4990-87A2-230C9EE5D6BF}"/>
              </a:ext>
            </a:extLst>
          </p:cNvPr>
          <p:cNvSpPr>
            <a:spLocks noGrp="1"/>
          </p:cNvSpPr>
          <p:nvPr>
            <p:ph type="title"/>
          </p:nvPr>
        </p:nvSpPr>
        <p:spPr/>
        <p:txBody>
          <a:bodyPr/>
          <a:lstStyle/>
          <a:p>
            <a:r>
              <a:rPr lang="en-US" altLang="en-US" sz="3600" dirty="0">
                <a:ea typeface="ヒラギノ角ゴ Pro W3" pitchFamily="-84" charset="-128"/>
              </a:rPr>
              <a:t>Figure 3.6 Productivity and Exports</a:t>
            </a:r>
            <a:endParaRPr lang="en-IN" dirty="0"/>
          </a:p>
        </p:txBody>
      </p:sp>
      <p:pic>
        <p:nvPicPr>
          <p:cNvPr id="6" name="Content Placeholder 5" descr="A scatter diagram plots the ratio of U S to British exports versus the ratio of U S to British productivity. For long description in Notes pane, press F6.">
            <a:extLst>
              <a:ext uri="{FF2B5EF4-FFF2-40B4-BE49-F238E27FC236}">
                <a16:creationId xmlns:a16="http://schemas.microsoft.com/office/drawing/2014/main" id="{5B09CD23-CD35-4D19-90EB-CB5F451FAFD6}"/>
              </a:ext>
            </a:extLst>
          </p:cNvPr>
          <p:cNvPicPr>
            <a:picLocks noGrp="1" noChangeAspect="1"/>
          </p:cNvPicPr>
          <p:nvPr>
            <p:ph sz="quarter" idx="13"/>
          </p:nvPr>
        </p:nvPicPr>
        <p:blipFill>
          <a:blip r:embed="rId3"/>
          <a:stretch>
            <a:fillRect/>
          </a:stretch>
        </p:blipFill>
        <p:spPr>
          <a:xfrm>
            <a:off x="2979101" y="1649443"/>
            <a:ext cx="3185799" cy="3321366"/>
          </a:xfrm>
        </p:spPr>
      </p:pic>
      <p:sp>
        <p:nvSpPr>
          <p:cNvPr id="4" name="Content Placeholder 3">
            <a:extLst>
              <a:ext uri="{FF2B5EF4-FFF2-40B4-BE49-F238E27FC236}">
                <a16:creationId xmlns:a16="http://schemas.microsoft.com/office/drawing/2014/main" id="{E7D9B654-51F0-4245-8081-1D5A2509ED08}"/>
              </a:ext>
            </a:extLst>
          </p:cNvPr>
          <p:cNvSpPr>
            <a:spLocks noGrp="1"/>
          </p:cNvSpPr>
          <p:nvPr>
            <p:ph sz="quarter" idx="14"/>
          </p:nvPr>
        </p:nvSpPr>
        <p:spPr>
          <a:xfrm>
            <a:off x="457200" y="5202619"/>
            <a:ext cx="8229600" cy="1105557"/>
          </a:xfrm>
        </p:spPr>
        <p:txBody>
          <a:bodyPr/>
          <a:lstStyle/>
          <a:p>
            <a:pPr marL="432" indent="0">
              <a:buNone/>
            </a:pPr>
            <a:r>
              <a:rPr lang="en-US" sz="2000" dirty="0"/>
              <a:t>A comparative study showed that U.S. exports were high relative to British exports in industries in which the United States had high relative labor productivity. Each dot represents a different industry.</a:t>
            </a:r>
          </a:p>
        </p:txBody>
      </p:sp>
    </p:spTree>
    <p:extLst>
      <p:ext uri="{BB962C8B-B14F-4D97-AF65-F5344CB8AC3E}">
        <p14:creationId xmlns:p14="http://schemas.microsoft.com/office/powerpoint/2010/main" val="22352430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A0F6-C722-4423-90CB-339A5C886756}"/>
              </a:ext>
            </a:extLst>
          </p:cNvPr>
          <p:cNvSpPr>
            <a:spLocks noGrp="1"/>
          </p:cNvSpPr>
          <p:nvPr>
            <p:ph type="title"/>
          </p:nvPr>
        </p:nvSpPr>
        <p:spPr/>
        <p:txBody>
          <a:bodyPr/>
          <a:lstStyle/>
          <a:p>
            <a:r>
              <a:rPr lang="en-US" altLang="en-US" dirty="0">
                <a:ea typeface="ヒラギノ角ゴ Pro W3" pitchFamily="-84" charset="-128"/>
              </a:rPr>
              <a:t>Empirical Evidence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B9419CF5-14E1-403A-A08A-21C90881FB00}"/>
              </a:ext>
            </a:extLst>
          </p:cNvPr>
          <p:cNvSpPr>
            <a:spLocks noGrp="1"/>
          </p:cNvSpPr>
          <p:nvPr>
            <p:ph sz="quarter" idx="13"/>
          </p:nvPr>
        </p:nvSpPr>
        <p:spPr>
          <a:xfrm>
            <a:off x="457199" y="1556327"/>
            <a:ext cx="8449733" cy="4150790"/>
          </a:xfrm>
        </p:spPr>
        <p:txBody>
          <a:bodyPr/>
          <a:lstStyle/>
          <a:p>
            <a:r>
              <a:rPr lang="en-US" altLang="en-US" sz="2400" dirty="0">
                <a:ea typeface="ヒラギノ角ゴ Pro W3" pitchFamily="-84" charset="-128"/>
              </a:rPr>
              <a:t>A very poor country like Bangladesh can have comparative advantage in clothing despite being less productive in clothing than other countries such as China because it is even less productive compared to China in other sectors.</a:t>
            </a:r>
          </a:p>
          <a:p>
            <a:pPr lvl="1"/>
            <a:r>
              <a:rPr lang="en-US" altLang="en-US" sz="2400" dirty="0">
                <a:ea typeface="ヒラギノ角ゴ Pro W3" pitchFamily="-84" charset="-128"/>
              </a:rPr>
              <a:t>Productivity (output per worker) in Bangladesh is only 28 percent of China’</a:t>
            </a:r>
            <a:r>
              <a:rPr lang="en-US" altLang="ja-JP" sz="2400" dirty="0">
                <a:ea typeface="ヒラギノ角ゴ Pro W3" pitchFamily="-84" charset="-128"/>
              </a:rPr>
              <a:t>s on average.</a:t>
            </a:r>
          </a:p>
          <a:p>
            <a:pPr lvl="1"/>
            <a:r>
              <a:rPr lang="en-US" altLang="en-US" sz="2400" dirty="0">
                <a:ea typeface="ヒラギノ角ゴ Pro W3" pitchFamily="-84" charset="-128"/>
              </a:rPr>
              <a:t>In apparel, productivity in Bangladesh was about 77 percent of China’</a:t>
            </a:r>
            <a:r>
              <a:rPr lang="en-US" altLang="ja-JP" sz="2400" dirty="0">
                <a:ea typeface="ヒラギノ角ゴ Pro W3" pitchFamily="-84" charset="-128"/>
              </a:rPr>
              <a:t>s, creating strong comparative advantage in apparel for Bangladesh.</a:t>
            </a:r>
            <a:endParaRPr lang="en-US" sz="2400" dirty="0"/>
          </a:p>
        </p:txBody>
      </p:sp>
    </p:spTree>
    <p:extLst>
      <p:ext uri="{BB962C8B-B14F-4D97-AF65-F5344CB8AC3E}">
        <p14:creationId xmlns:p14="http://schemas.microsoft.com/office/powerpoint/2010/main" val="23514057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F783-261B-488A-8CAE-4868EB60A487}"/>
              </a:ext>
            </a:extLst>
          </p:cNvPr>
          <p:cNvSpPr>
            <a:spLocks noGrp="1"/>
          </p:cNvSpPr>
          <p:nvPr>
            <p:ph type="title"/>
          </p:nvPr>
        </p:nvSpPr>
        <p:spPr/>
        <p:txBody>
          <a:bodyPr/>
          <a:lstStyle/>
          <a:p>
            <a:r>
              <a:rPr lang="en-US" altLang="en-US" sz="3200" dirty="0">
                <a:ea typeface="ヒラギノ角ゴ Pro W3" pitchFamily="-84" charset="-128"/>
              </a:rPr>
              <a:t>Table 3.3 Bangladesh Versus China, 2011</a:t>
            </a:r>
            <a:endParaRPr lang="en-IN" sz="3200" dirty="0"/>
          </a:p>
        </p:txBody>
      </p:sp>
      <p:graphicFrame>
        <p:nvGraphicFramePr>
          <p:cNvPr id="5" name="Table 5">
            <a:extLst>
              <a:ext uri="{FF2B5EF4-FFF2-40B4-BE49-F238E27FC236}">
                <a16:creationId xmlns:a16="http://schemas.microsoft.com/office/drawing/2014/main" id="{2B49B8CE-56C5-42C3-B589-C361CA4433BE}"/>
              </a:ext>
            </a:extLst>
          </p:cNvPr>
          <p:cNvGraphicFramePr>
            <a:graphicFrameLocks noGrp="1"/>
          </p:cNvGraphicFramePr>
          <p:nvPr>
            <p:ph sz="quarter" idx="13"/>
            <p:extLst>
              <p:ext uri="{D42A27DB-BD31-4B8C-83A1-F6EECF244321}">
                <p14:modId xmlns:p14="http://schemas.microsoft.com/office/powerpoint/2010/main" val="2953427623"/>
              </p:ext>
            </p:extLst>
          </p:nvPr>
        </p:nvGraphicFramePr>
        <p:xfrm>
          <a:off x="457200" y="1797444"/>
          <a:ext cx="8229600" cy="1381760"/>
        </p:xfrm>
        <a:graphic>
          <a:graphicData uri="http://schemas.openxmlformats.org/drawingml/2006/table">
            <a:tbl>
              <a:tblPr firstRow="1" bandRow="1">
                <a:tableStyleId>{2D5ABB26-0587-4C30-8999-92F81FD0307C}</a:tableStyleId>
              </a:tblPr>
              <a:tblGrid>
                <a:gridCol w="1960179">
                  <a:extLst>
                    <a:ext uri="{9D8B030D-6E8A-4147-A177-3AD203B41FA5}">
                      <a16:colId xmlns:a16="http://schemas.microsoft.com/office/drawing/2014/main" val="3642105133"/>
                    </a:ext>
                  </a:extLst>
                </a:gridCol>
                <a:gridCol w="2837793">
                  <a:extLst>
                    <a:ext uri="{9D8B030D-6E8A-4147-A177-3AD203B41FA5}">
                      <a16:colId xmlns:a16="http://schemas.microsoft.com/office/drawing/2014/main" val="955795650"/>
                    </a:ext>
                  </a:extLst>
                </a:gridCol>
                <a:gridCol w="3431628">
                  <a:extLst>
                    <a:ext uri="{9D8B030D-6E8A-4147-A177-3AD203B41FA5}">
                      <a16:colId xmlns:a16="http://schemas.microsoft.com/office/drawing/2014/main" val="3892337293"/>
                    </a:ext>
                  </a:extLst>
                </a:gridCol>
              </a:tblGrid>
              <a:tr h="276466">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noProof="0" dirty="0"/>
                        <a:t>Bangladeshi Output per Worker 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noProof="0" dirty="0"/>
                        <a:t>Bangladeshi exports</a:t>
                      </a:r>
                    </a:p>
                    <a:p>
                      <a:pPr algn="ctr"/>
                      <a:r>
                        <a:rPr lang="en-US" sz="1800" b="1" noProof="0" dirty="0"/>
                        <a:t>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999065"/>
                  </a:ext>
                </a:extLst>
              </a:tr>
              <a:tr h="370840">
                <a:tc>
                  <a:txBody>
                    <a:bodyPr/>
                    <a:lstStyle/>
                    <a:p>
                      <a:r>
                        <a:rPr lang="en-US" sz="1800" b="0" noProof="0" dirty="0"/>
                        <a:t>All industries</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28.5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71675"/>
                  </a:ext>
                </a:extLst>
              </a:tr>
              <a:tr h="370840">
                <a:tc>
                  <a:txBody>
                    <a:bodyPr/>
                    <a:lstStyle/>
                    <a:p>
                      <a:r>
                        <a:rPr lang="en-US" sz="1800" b="0" noProof="0" dirty="0"/>
                        <a:t>Apparel</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634701"/>
                  </a:ext>
                </a:extLst>
              </a:tr>
            </a:tbl>
          </a:graphicData>
        </a:graphic>
      </p:graphicFrame>
      <p:sp>
        <p:nvSpPr>
          <p:cNvPr id="4" name="Content Placeholder 3">
            <a:extLst>
              <a:ext uri="{FF2B5EF4-FFF2-40B4-BE49-F238E27FC236}">
                <a16:creationId xmlns:a16="http://schemas.microsoft.com/office/drawing/2014/main" id="{17EB3AFD-76B8-4BD7-8F1A-ADB744CFF9F6}"/>
              </a:ext>
            </a:extLst>
          </p:cNvPr>
          <p:cNvSpPr>
            <a:spLocks noGrp="1"/>
          </p:cNvSpPr>
          <p:nvPr>
            <p:ph sz="quarter" idx="14"/>
          </p:nvPr>
        </p:nvSpPr>
        <p:spPr>
          <a:xfrm>
            <a:off x="457200" y="3415560"/>
            <a:ext cx="8229600" cy="699239"/>
          </a:xfrm>
        </p:spPr>
        <p:txBody>
          <a:bodyPr/>
          <a:lstStyle/>
          <a:p>
            <a:pPr marL="432" indent="0">
              <a:buNone/>
            </a:pPr>
            <a:r>
              <a:rPr lang="en-US" sz="1600" b="1" dirty="0"/>
              <a:t>Source: </a:t>
            </a:r>
            <a:r>
              <a:rPr lang="en-US" sz="1600" dirty="0"/>
              <a:t>McKinsey and Company, “Bangladesh’s ready-made garments industry: The challenge of growth,” 2012; U</a:t>
            </a:r>
            <a:r>
              <a:rPr lang="en-US" sz="100" dirty="0"/>
              <a:t> </a:t>
            </a:r>
            <a:r>
              <a:rPr lang="en-US" sz="1600" dirty="0"/>
              <a:t>N Monthly Bulletin of Statistics.</a:t>
            </a:r>
          </a:p>
        </p:txBody>
      </p:sp>
    </p:spTree>
    <p:extLst>
      <p:ext uri="{BB962C8B-B14F-4D97-AF65-F5344CB8AC3E}">
        <p14:creationId xmlns:p14="http://schemas.microsoft.com/office/powerpoint/2010/main" val="20082293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F1B9-2C9B-4DFB-B233-DD4C7027FF46}"/>
              </a:ext>
            </a:extLst>
          </p:cNvPr>
          <p:cNvSpPr>
            <a:spLocks noGrp="1"/>
          </p:cNvSpPr>
          <p:nvPr>
            <p:ph type="title"/>
          </p:nvPr>
        </p:nvSpPr>
        <p:spPr/>
        <p:txBody>
          <a:bodyPr/>
          <a:lstStyle/>
          <a:p>
            <a:r>
              <a:rPr lang="en-US" altLang="en-US" sz="3600" dirty="0">
                <a:ea typeface="ヒラギノ角ゴ Pro W3" pitchFamily="-84" charset="-128"/>
              </a:rPr>
              <a:t>Empirical Evidence </a:t>
            </a:r>
            <a:r>
              <a:rPr lang="en-US" altLang="en-US" sz="2000" b="0" dirty="0">
                <a:ea typeface="ヒラギノ角ゴ Pro W3" pitchFamily="-84" charset="-128"/>
              </a:rPr>
              <a:t>(3 of 3)</a:t>
            </a:r>
            <a:endParaRPr lang="en-IN" dirty="0"/>
          </a:p>
        </p:txBody>
      </p:sp>
      <p:sp>
        <p:nvSpPr>
          <p:cNvPr id="3" name="Content Placeholder 2">
            <a:extLst>
              <a:ext uri="{FF2B5EF4-FFF2-40B4-BE49-F238E27FC236}">
                <a16:creationId xmlns:a16="http://schemas.microsoft.com/office/drawing/2014/main" id="{6A93E23E-BA73-449D-B258-17F07EA7DBBD}"/>
              </a:ext>
            </a:extLst>
          </p:cNvPr>
          <p:cNvSpPr>
            <a:spLocks noGrp="1"/>
          </p:cNvSpPr>
          <p:nvPr>
            <p:ph sz="quarter" idx="13"/>
          </p:nvPr>
        </p:nvSpPr>
        <p:spPr>
          <a:xfrm>
            <a:off x="457200" y="1556327"/>
            <a:ext cx="8229600" cy="2679342"/>
          </a:xfrm>
        </p:spPr>
        <p:txBody>
          <a:bodyPr/>
          <a:lstStyle/>
          <a:p>
            <a:r>
              <a:rPr lang="en-US" altLang="en-US" sz="2400" dirty="0">
                <a:ea typeface="ヒラギノ角ゴ Pro W3" pitchFamily="-84" charset="-128"/>
              </a:rPr>
              <a:t>The main implications of the Ricardian model are well supported by empirical evidence:</a:t>
            </a:r>
          </a:p>
          <a:p>
            <a:pPr lvl="1"/>
            <a:r>
              <a:rPr lang="en-US" altLang="en-US" sz="2400" dirty="0">
                <a:ea typeface="ヒラギノ角ゴ Pro W3" pitchFamily="-84" charset="-128"/>
              </a:rPr>
              <a:t>productivity differences play an important role in international trade</a:t>
            </a:r>
          </a:p>
          <a:p>
            <a:pPr lvl="1"/>
            <a:r>
              <a:rPr lang="en-US" altLang="en-US" sz="2400" dirty="0">
                <a:ea typeface="ヒラギノ角ゴ Pro W3" pitchFamily="-84" charset="-128"/>
              </a:rPr>
              <a:t>comparative advantage (not absolute advantage) matters for trade</a:t>
            </a:r>
            <a:endParaRPr lang="en-US" sz="2400" dirty="0"/>
          </a:p>
        </p:txBody>
      </p:sp>
    </p:spTree>
    <p:extLst>
      <p:ext uri="{BB962C8B-B14F-4D97-AF65-F5344CB8AC3E}">
        <p14:creationId xmlns:p14="http://schemas.microsoft.com/office/powerpoint/2010/main" val="3899819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C0B7-8B76-4B8E-B635-4A92B52A0531}"/>
              </a:ext>
            </a:extLst>
          </p:cNvPr>
          <p:cNvSpPr>
            <a:spLocks noGrp="1"/>
          </p:cNvSpPr>
          <p:nvPr>
            <p:ph type="title"/>
          </p:nvPr>
        </p:nvSpPr>
        <p:spPr/>
        <p:txBody>
          <a:bodyPr/>
          <a:lstStyle/>
          <a:p>
            <a:r>
              <a:rPr lang="en-US" altLang="en-US" sz="3600" dirty="0">
                <a:ea typeface="ヒラギノ角ゴ Pro W3" pitchFamily="-84" charset="-128"/>
              </a:rPr>
              <a:t>Summary </a:t>
            </a:r>
            <a:r>
              <a:rPr lang="en-US" altLang="en-US" sz="2000" b="0" dirty="0">
                <a:ea typeface="ヒラギノ角ゴ Pro W3" pitchFamily="-84" charset="-128"/>
              </a:rPr>
              <a:t>(1 of 2)</a:t>
            </a:r>
            <a:endParaRPr lang="en-IN" dirty="0"/>
          </a:p>
        </p:txBody>
      </p:sp>
      <p:sp>
        <p:nvSpPr>
          <p:cNvPr id="3" name="Content Placeholder 2">
            <a:extLst>
              <a:ext uri="{FF2B5EF4-FFF2-40B4-BE49-F238E27FC236}">
                <a16:creationId xmlns:a16="http://schemas.microsoft.com/office/drawing/2014/main" id="{C97434C0-A3D4-40DF-886E-D4CDA56C3F36}"/>
              </a:ext>
            </a:extLst>
          </p:cNvPr>
          <p:cNvSpPr>
            <a:spLocks noGrp="1"/>
          </p:cNvSpPr>
          <p:nvPr>
            <p:ph sz="quarter" idx="13"/>
          </p:nvPr>
        </p:nvSpPr>
        <p:spPr>
          <a:xfrm>
            <a:off x="457200" y="1556327"/>
            <a:ext cx="7885289" cy="3677825"/>
          </a:xfrm>
        </p:spPr>
        <p:txBody>
          <a:bodyPr/>
          <a:lstStyle/>
          <a:p>
            <a:pPr marL="432000" indent="-432000">
              <a:buFont typeface="+mj-lt"/>
              <a:buAutoNum type="arabicPeriod"/>
            </a:pPr>
            <a:r>
              <a:rPr lang="en-US" altLang="en-US" sz="2400" dirty="0">
                <a:ea typeface="ヒラギノ角ゴ Pro W3" pitchFamily="-84" charset="-128"/>
              </a:rPr>
              <a:t>Differences in the productivity of labor across countries generate comparative advantage.</a:t>
            </a:r>
          </a:p>
          <a:p>
            <a:pPr marL="432000" indent="-432000">
              <a:buFont typeface="+mj-lt"/>
              <a:buAutoNum type="arabicPeriod"/>
            </a:pPr>
            <a:r>
              <a:rPr lang="en-US" altLang="en-US" sz="2400" dirty="0">
                <a:ea typeface="ヒラギノ角ゴ Pro W3" pitchFamily="-84" charset="-128"/>
              </a:rPr>
              <a:t>A country has a comparative advantage in producing a good when its opportunity cost of producing that good is lower than other countries.</a:t>
            </a:r>
          </a:p>
          <a:p>
            <a:pPr marL="432000" indent="-432000">
              <a:buFont typeface="+mj-lt"/>
              <a:buAutoNum type="arabicPeriod"/>
            </a:pPr>
            <a:r>
              <a:rPr lang="en-US" altLang="en-US" sz="2400" dirty="0">
                <a:ea typeface="ヒラギノ角ゴ Pro W3" pitchFamily="-84" charset="-128"/>
              </a:rPr>
              <a:t>Countries export goods in which they have a comparative advantage</a:t>
            </a:r>
            <a:r>
              <a:rPr lang="en-US" altLang="en-US" sz="2400" dirty="0">
                <a:latin typeface="Times New Roman" panose="02020603050405020304" pitchFamily="18" charset="0"/>
                <a:ea typeface="ヒラギノ角ゴ Pro W3" pitchFamily="-84" charset="-128"/>
                <a:cs typeface="Times New Roman" panose="02020603050405020304" pitchFamily="18" charset="0"/>
              </a:rPr>
              <a:t>—</a:t>
            </a:r>
            <a:r>
              <a:rPr lang="en-US" altLang="en-US" sz="2400" dirty="0">
                <a:ea typeface="ヒラギノ角ゴ Pro W3" pitchFamily="-84" charset="-128"/>
              </a:rPr>
              <a:t>high productivity </a:t>
            </a:r>
            <a:r>
              <a:rPr lang="en-US" altLang="en-US" sz="2400" b="1" dirty="0">
                <a:ea typeface="ヒラギノ角ゴ Pro W3" pitchFamily="-84" charset="-128"/>
              </a:rPr>
              <a:t>or</a:t>
            </a:r>
            <a:r>
              <a:rPr lang="en-US" altLang="en-US" sz="2400" dirty="0">
                <a:ea typeface="ヒラギノ角ゴ Pro W3" pitchFamily="-84" charset="-128"/>
              </a:rPr>
              <a:t> low wages give countries a cost advantage.</a:t>
            </a:r>
            <a:endParaRPr lang="en-US" sz="2400" dirty="0"/>
          </a:p>
        </p:txBody>
      </p:sp>
    </p:spTree>
    <p:extLst>
      <p:ext uri="{BB962C8B-B14F-4D97-AF65-F5344CB8AC3E}">
        <p14:creationId xmlns:p14="http://schemas.microsoft.com/office/powerpoint/2010/main" val="14555871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C0B7-8B76-4B8E-B635-4A92B52A0531}"/>
              </a:ext>
            </a:extLst>
          </p:cNvPr>
          <p:cNvSpPr>
            <a:spLocks noGrp="1"/>
          </p:cNvSpPr>
          <p:nvPr>
            <p:ph type="title"/>
          </p:nvPr>
        </p:nvSpPr>
        <p:spPr/>
        <p:txBody>
          <a:bodyPr/>
          <a:lstStyle/>
          <a:p>
            <a:r>
              <a:rPr lang="en-US" altLang="en-US" sz="3600" dirty="0">
                <a:ea typeface="ヒラギノ角ゴ Pro W3" pitchFamily="-84" charset="-128"/>
              </a:rPr>
              <a:t>Summary </a:t>
            </a:r>
            <a:r>
              <a:rPr lang="en-US" altLang="en-US" sz="2000" b="0" dirty="0">
                <a:ea typeface="ヒラギノ角ゴ Pro W3" pitchFamily="-84" charset="-128"/>
              </a:rPr>
              <a:t>(2 of 2)</a:t>
            </a:r>
            <a:endParaRPr lang="en-IN" dirty="0"/>
          </a:p>
        </p:txBody>
      </p:sp>
      <p:sp>
        <p:nvSpPr>
          <p:cNvPr id="3" name="Content Placeholder 2">
            <a:extLst>
              <a:ext uri="{FF2B5EF4-FFF2-40B4-BE49-F238E27FC236}">
                <a16:creationId xmlns:a16="http://schemas.microsoft.com/office/drawing/2014/main" id="{C97434C0-A3D4-40DF-886E-D4CDA56C3F36}"/>
              </a:ext>
            </a:extLst>
          </p:cNvPr>
          <p:cNvSpPr>
            <a:spLocks noGrp="1"/>
          </p:cNvSpPr>
          <p:nvPr>
            <p:ph sz="quarter" idx="13"/>
          </p:nvPr>
        </p:nvSpPr>
        <p:spPr>
          <a:xfrm>
            <a:off x="457199" y="1556327"/>
            <a:ext cx="8472311" cy="4329466"/>
          </a:xfrm>
        </p:spPr>
        <p:txBody>
          <a:bodyPr/>
          <a:lstStyle/>
          <a:p>
            <a:pPr marL="432000" indent="-432000">
              <a:buFont typeface="+mj-lt"/>
              <a:buAutoNum type="arabicPeriod" startAt="4"/>
            </a:pPr>
            <a:r>
              <a:rPr lang="en-US" altLang="en-US" sz="2400" dirty="0">
                <a:ea typeface="ヒラギノ角ゴ Pro W3" pitchFamily="-84" charset="-128"/>
              </a:rPr>
              <a:t>With trade, the relative price settles in between what the relative prices were in each country before trade.</a:t>
            </a:r>
          </a:p>
          <a:p>
            <a:pPr marL="432000" indent="-432000">
              <a:buFont typeface="+mj-lt"/>
              <a:buAutoNum type="arabicPeriod" startAt="4"/>
            </a:pPr>
            <a:r>
              <a:rPr lang="en-US" altLang="en-US" sz="2400" dirty="0">
                <a:ea typeface="ヒラギノ角ゴ Pro W3" pitchFamily="-84" charset="-128"/>
              </a:rPr>
              <a:t>Trade benefits all countries due to the relative price of the exported good rising: income for workers who produce exports rises, and imported goods become less expensive.</a:t>
            </a:r>
          </a:p>
          <a:p>
            <a:pPr marL="432000" indent="-432000">
              <a:buFont typeface="+mj-lt"/>
              <a:buAutoNum type="arabicPeriod" startAt="4"/>
            </a:pPr>
            <a:r>
              <a:rPr lang="en-US" altLang="en-US" sz="2400" dirty="0">
                <a:ea typeface="ヒラギノ角ゴ Pro W3" pitchFamily="-84" charset="-128"/>
              </a:rPr>
              <a:t>Empirical evidence supports trade based on comparative advantage, although transportation costs and other factors prevent complete specialization in production.</a:t>
            </a:r>
          </a:p>
        </p:txBody>
      </p:sp>
    </p:spTree>
    <p:extLst>
      <p:ext uri="{BB962C8B-B14F-4D97-AF65-F5344CB8AC3E}">
        <p14:creationId xmlns:p14="http://schemas.microsoft.com/office/powerpoint/2010/main" val="3633928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149528</TotalTime>
  <Words>6627</Words>
  <Application>Microsoft Office PowerPoint</Application>
  <PresentationFormat>On-screen Show (4:3)</PresentationFormat>
  <Paragraphs>509</Paragraphs>
  <Slides>83</Slides>
  <Notes>22</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83</vt:i4>
      </vt:variant>
    </vt:vector>
  </HeadingPairs>
  <TitlesOfParts>
    <vt:vector size="93" baseType="lpstr">
      <vt:lpstr>ＭＳ Ｐゴシック</vt:lpstr>
      <vt:lpstr>ヒラギノ角ゴ Pro W3</vt:lpstr>
      <vt:lpstr>Verdana</vt:lpstr>
      <vt:lpstr>Times New Roman</vt:lpstr>
      <vt:lpstr>Noto Sans Symbols</vt:lpstr>
      <vt:lpstr>Arial</vt:lpstr>
      <vt:lpstr>Times</vt:lpstr>
      <vt:lpstr>USHE</vt:lpstr>
      <vt:lpstr>USHE_slide options</vt:lpstr>
      <vt:lpstr>Equation</vt:lpstr>
      <vt:lpstr>International Economics: Theory and Policy</vt:lpstr>
      <vt:lpstr>Learning Objectives</vt:lpstr>
      <vt:lpstr>Preview</vt:lpstr>
      <vt:lpstr>Introduction</vt:lpstr>
      <vt:lpstr>The Concept of Comparative Advantage (1 of 6)</vt:lpstr>
      <vt:lpstr>The Concept of Comparative Advantage (2 of 6)</vt:lpstr>
      <vt:lpstr>The Concept of Comparative Advantage (3 of 6)</vt:lpstr>
      <vt:lpstr>The Concept of Comparative Advantage (4 of 6)</vt:lpstr>
      <vt:lpstr>The Concept of Comparative Advantage (5 of 6)</vt:lpstr>
      <vt:lpstr>Table 3.1 Hypothetical Changes in Production</vt:lpstr>
      <vt:lpstr>The Concept of Comparative Advantage (6 of 6)</vt:lpstr>
      <vt:lpstr>A One-Factor Economy (1 of 4)</vt:lpstr>
      <vt:lpstr>A One-Factor Economy (2 of 4)</vt:lpstr>
      <vt:lpstr>A One-Factor Economy (3 of 4)</vt:lpstr>
      <vt:lpstr>A One-Factor Economy (4 of 4)</vt:lpstr>
      <vt:lpstr>Production Possibilities (1 of 6)</vt:lpstr>
      <vt:lpstr>Production Possibilities (2 of 6)</vt:lpstr>
      <vt:lpstr>Production Possibilities (3 of 6)</vt:lpstr>
      <vt:lpstr>Figure 3.1 Home’s Production Possibility Frontier</vt:lpstr>
      <vt:lpstr>Production Possibilities (4 of 6)</vt:lpstr>
      <vt:lpstr>Production Possibilities (5 of 6)</vt:lpstr>
      <vt:lpstr>Production Possibilities (6 of 6)</vt:lpstr>
      <vt:lpstr>Relative Prices and Supply (1 of 7)</vt:lpstr>
      <vt:lpstr>Relative Prices and Supply (2 of 7)</vt:lpstr>
      <vt:lpstr>Relative Prices and Supply (3 of 7)</vt:lpstr>
      <vt:lpstr>Relative Prices and Supply (4 of 7)</vt:lpstr>
      <vt:lpstr>Relative Prices and Supply (5 of 7)</vt:lpstr>
      <vt:lpstr>Relative Prices and Supply (6 of 7)</vt:lpstr>
      <vt:lpstr>Relative Prices and Supply (7 of 7)</vt:lpstr>
      <vt:lpstr>Trade in the Ricardian Model (1 of 4)</vt:lpstr>
      <vt:lpstr>Trade in the Ricardian Model (2 of 4)</vt:lpstr>
      <vt:lpstr>Trade in the Ricardian Model (3 of 4)</vt:lpstr>
      <vt:lpstr>Figure 3.2 Foreign’s Production Possibility Frontier</vt:lpstr>
      <vt:lpstr>Trade in the Ricardian Model (4 of 4)</vt:lpstr>
      <vt:lpstr>Determining the Relative Price after Trade (1 of 8)</vt:lpstr>
      <vt:lpstr>Determining the Relative Price after Trade (2 of 8)</vt:lpstr>
      <vt:lpstr>Determining the Relative Price after Trade (3 of 8)</vt:lpstr>
      <vt:lpstr>Determining the Relative Price after Trade (4 of 8)</vt:lpstr>
      <vt:lpstr>Determining the Relative Price after Trade (5 of 8)</vt:lpstr>
      <vt:lpstr>Determining the Relative Price after Trade (6 of 8)</vt:lpstr>
      <vt:lpstr>Determining the Relative Price after Trade (7 of 8)</vt:lpstr>
      <vt:lpstr>Determining the Relative Price after Trade (8 of 8)</vt:lpstr>
      <vt:lpstr>Figure 3.3 World Relative Supply and Demand</vt:lpstr>
      <vt:lpstr>The Gains from Trade (1 of 4)</vt:lpstr>
      <vt:lpstr>The Gains from Trade (2 of 4)</vt:lpstr>
      <vt:lpstr>The Gains from Trade (3 of 4)</vt:lpstr>
      <vt:lpstr>The Gains from Trade (4 of 4)</vt:lpstr>
      <vt:lpstr>Figure 3.4 Trade Expands Consumption Possibilities</vt:lpstr>
      <vt:lpstr>A Numerical Example (1 of 5)</vt:lpstr>
      <vt:lpstr>A Numerical Example (2 of 5)</vt:lpstr>
      <vt:lpstr>A Numerical Example (3 of 5)</vt:lpstr>
      <vt:lpstr>A Numerical Example (4 of 5)</vt:lpstr>
      <vt:lpstr>A Numerical Example (5 of 5)</vt:lpstr>
      <vt:lpstr>Relative Wages (1 of 5)</vt:lpstr>
      <vt:lpstr>Relative Wages (2 of 5)</vt:lpstr>
      <vt:lpstr>Relative Wages (3 of 5)</vt:lpstr>
      <vt:lpstr>Relative Wages (4 of 5)</vt:lpstr>
      <vt:lpstr>Relative Wages (5 of 5)</vt:lpstr>
      <vt:lpstr>Do Wages Reflect Productivity? (1 of 2)</vt:lpstr>
      <vt:lpstr>Productivity and Wages</vt:lpstr>
      <vt:lpstr>Do Wages Reflect Productivity? (2 of 2)</vt:lpstr>
      <vt:lpstr>Misconceptions about Comparative Advantage (1 of 3)</vt:lpstr>
      <vt:lpstr>Misconceptions about Comparative Advantage (2 of 3)</vt:lpstr>
      <vt:lpstr>Misconceptions about Comparative Advantage (3 of 3)</vt:lpstr>
      <vt:lpstr>Comparative Advantage with Many Goods (1 of 7)</vt:lpstr>
      <vt:lpstr>Comparative Advantage with Many Goods (2 of 7)</vt:lpstr>
      <vt:lpstr>Table 3.2 Home and Foreign Unit Labor Requirements</vt:lpstr>
      <vt:lpstr>Comparative Advantage with Many Goods (3 of 7)</vt:lpstr>
      <vt:lpstr>Comparative Advantage with Many Goods (4 of 7)</vt:lpstr>
      <vt:lpstr>Comparative Advantage with Many Goods (5 of 7)</vt:lpstr>
      <vt:lpstr>Comparative Advantage with Many Goods (6 of 7)</vt:lpstr>
      <vt:lpstr>Figure 3.5 Determination of Relative Wages</vt:lpstr>
      <vt:lpstr>Comparative Advantage with Many Goods (7 of 7)</vt:lpstr>
      <vt:lpstr>Transportation Costs and Nontraded Goods (1 of 2)</vt:lpstr>
      <vt:lpstr>Transportation Costs and Nontraded Goods (2 of 2)</vt:lpstr>
      <vt:lpstr>Empirical Evidence (1 of 3)</vt:lpstr>
      <vt:lpstr>Figure 3.6 Productivity and Exports</vt:lpstr>
      <vt:lpstr>Empirical Evidence (2 of 3)</vt:lpstr>
      <vt:lpstr>Table 3.3 Bangladesh Versus China, 2011</vt:lpstr>
      <vt:lpstr>Empirical Evidence (3 of 3)</vt:lpstr>
      <vt:lpstr>Summary (1 of 2)</vt:lpstr>
      <vt:lpstr>Summary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3, Labor Productivity and Comparative Advantage: The Ricardian Model</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experience._x000d_
</dc:description>
  <cp:lastModifiedBy>admin</cp:lastModifiedBy>
  <cp:revision>1124</cp:revision>
  <dcterms:modified xsi:type="dcterms:W3CDTF">2021-11-05T04:45:11Z</dcterms:modified>
</cp:coreProperties>
</file>