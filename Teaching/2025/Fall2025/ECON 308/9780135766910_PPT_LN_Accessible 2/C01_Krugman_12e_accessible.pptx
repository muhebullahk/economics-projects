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25"/>
  </p:notesMasterIdLst>
  <p:handoutMasterIdLst>
    <p:handoutMasterId r:id="rId26"/>
  </p:handoutMasterIdLst>
  <p:sldIdLst>
    <p:sldId id="330" r:id="rId3"/>
    <p:sldId id="331" r:id="rId4"/>
    <p:sldId id="334" r:id="rId5"/>
    <p:sldId id="336" r:id="rId6"/>
    <p:sldId id="337" r:id="rId7"/>
    <p:sldId id="338" r:id="rId8"/>
    <p:sldId id="339" r:id="rId9"/>
    <p:sldId id="340" r:id="rId10"/>
    <p:sldId id="341" r:id="rId11"/>
    <p:sldId id="343" r:id="rId12"/>
    <p:sldId id="344" r:id="rId13"/>
    <p:sldId id="345" r:id="rId14"/>
    <p:sldId id="346" r:id="rId15"/>
    <p:sldId id="347" r:id="rId16"/>
    <p:sldId id="348" r:id="rId17"/>
    <p:sldId id="349" r:id="rId18"/>
    <p:sldId id="350" r:id="rId19"/>
    <p:sldId id="351" r:id="rId20"/>
    <p:sldId id="352" r:id="rId21"/>
    <p:sldId id="353" r:id="rId22"/>
    <p:sldId id="342" r:id="rId23"/>
    <p:sldId id="298" r:id="rId24"/>
  </p:sldIdLst>
  <p:sldSz cx="9144000" cy="6858000" type="screen4x3"/>
  <p:notesSz cx="6858000" cy="9144000"/>
  <p:embeddedFontLst>
    <p:embeddedFont>
      <p:font typeface="Noto Sans Symbols" panose="020B0604020202020204" charset="0"/>
      <p:regular r:id="rId27"/>
      <p:bold r:id="rId28"/>
      <p:italic r:id="rId29"/>
      <p:boldItalic r:id="rId30"/>
    </p:embeddedFont>
    <p:embeddedFont>
      <p:font typeface="Verdana" panose="020B0604030504040204" pitchFamily="34"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363" userDrawn="1">
          <p15:clr>
            <a:srgbClr val="A4A3A4"/>
          </p15:clr>
        </p15:guide>
        <p15:guide id="3" orient="horz" pos="4178" userDrawn="1">
          <p15:clr>
            <a:srgbClr val="A4A3A4"/>
          </p15:clr>
        </p15:guide>
        <p15:guide id="4" orient="horz" pos="119" userDrawn="1">
          <p15:clr>
            <a:srgbClr val="A4A3A4"/>
          </p15:clr>
        </p15:guide>
        <p15:guide id="5" orient="horz" pos="709" userDrawn="1">
          <p15:clr>
            <a:srgbClr val="A4A3A4"/>
          </p15:clr>
        </p15:guide>
        <p15:guide id="6" orient="horz" pos="1071"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07" autoAdjust="0"/>
    <p:restoredTop sz="95110" autoAdjust="0"/>
  </p:normalViewPr>
  <p:slideViewPr>
    <p:cSldViewPr snapToGrid="0" snapToObjects="1">
      <p:cViewPr varScale="1">
        <p:scale>
          <a:sx n="77" d="100"/>
          <a:sy n="77" d="100"/>
        </p:scale>
        <p:origin x="900" y="84"/>
      </p:cViewPr>
      <p:guideLst>
        <p:guide orient="horz" pos="3997"/>
        <p:guide pos="363"/>
        <p:guide orient="horz" pos="4178"/>
        <p:guide orient="horz" pos="119"/>
        <p:guide orient="horz" pos="709"/>
        <p:guide orient="horz" pos="1071"/>
        <p:guide pos="635"/>
      </p:guideLst>
    </p:cSldViewPr>
  </p:slideViewPr>
  <p:outlineViewPr>
    <p:cViewPr>
      <p:scale>
        <a:sx n="33" d="100"/>
        <a:sy n="33" d="100"/>
      </p:scale>
      <p:origin x="0" y="-16746"/>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9"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font" Target="fonts/font8.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33" Type="http://schemas.openxmlformats.org/officeDocument/2006/relationships/font" Target="fonts/font7.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6.fntdata"/><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2.fntdata"/><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10/22/2021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research.stlouisfed.org/"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r>
              <a:rPr lang="en-US" sz="1200" b="0" i="0" u="none" strike="noStrike" kern="1200" cap="none" dirty="0" smtClean="0">
                <a:solidFill>
                  <a:schemeClr val="dk1"/>
                </a:solidFill>
                <a:latin typeface="Arial"/>
                <a:ea typeface="Arial"/>
                <a:cs typeface="Arial"/>
                <a:sym typeface="Arial"/>
              </a:rPr>
              <a:t>)</a:t>
            </a:r>
          </a:p>
          <a:p>
            <a:endParaRPr lang="en-IN" sz="1200" b="0" i="0" u="none" strike="noStrike" kern="1200" cap="none" dirty="0" smtClean="0">
              <a:solidFill>
                <a:schemeClr val="dk1"/>
              </a:solidFill>
              <a:latin typeface="Arial"/>
              <a:cs typeface="Arial"/>
              <a:sym typeface="Arial"/>
            </a:endParaRPr>
          </a:p>
          <a:p>
            <a:r>
              <a:rPr lang="en-US" sz="1200" b="0" i="0" u="none" strike="noStrike" kern="1200" cap="none" dirty="0" smtClean="0">
                <a:solidFill>
                  <a:schemeClr val="dk1"/>
                </a:solidFill>
                <a:effectLst/>
                <a:latin typeface="Arial"/>
                <a:ea typeface="Arial"/>
                <a:cs typeface="Arial"/>
                <a:sym typeface="Arial"/>
              </a:rPr>
              <a:t>Slides in this presentation contain hyperlinks. JAWS users should be able to get a list of links by using INSERT+F7</a:t>
            </a:r>
            <a:r>
              <a:rPr lang="en-US" dirty="0" smtClean="0"/>
              <a:t> </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hlinkClick r:id="rId3" tooltip=" https://research.stlouisfed.org/"/>
              </a:rPr>
              <a:t>https://research.stlouisfed.org/</a:t>
            </a:r>
            <a:endParaRPr lang="en-US" dirty="0" smtClean="0"/>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u="none" strike="noStrike" kern="1200" cap="none" dirty="0" smtClean="0">
              <a:solidFill>
                <a:schemeClr val="dk1"/>
              </a:solidFill>
              <a:effectLst/>
              <a:latin typeface="Arial"/>
              <a:ea typeface="Arial"/>
              <a:cs typeface="Arial"/>
              <a:sym typeface="Arial"/>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cap="none" dirty="0" smtClean="0">
                <a:solidFill>
                  <a:schemeClr val="dk1"/>
                </a:solidFill>
                <a:effectLst/>
                <a:latin typeface="Arial"/>
                <a:ea typeface="Arial"/>
                <a:cs typeface="Arial"/>
                <a:sym typeface="Arial"/>
              </a:rPr>
              <a:t>The graph depicts exports and imports as a percentage of U S national income versus year, from 19 60 to 20 19. 7 shaded areas indicate U S recessions. The plot for exports generally rises from (19 60, 5.0) to (20 19, 12.0). A significant drop occurs from (20 07, 12.0) to (20 09, 10.5), before a rise to (20 11, 13.0). The plot for imports generally rises from (19 60, 4.0) to (20 19, 14.5). A significant drop in the imports plot occurs from (20 07, 17.3), to (20 09, 13.0), before a rise back to (20 11, 17.0). The shaded areas for U S recessions, by years, are as follows. 19 70 to 19 72, 19 74 to 19 76, 19 80 to 19 81, 19 82 to 19 83, 19 91 to 19 92, 20 03 to 20 04, and 20 08 to 20 11.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29563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cap="none" dirty="0" smtClean="0">
                <a:solidFill>
                  <a:schemeClr val="dk1"/>
                </a:solidFill>
                <a:effectLst/>
                <a:latin typeface="Arial"/>
                <a:ea typeface="Arial"/>
                <a:cs typeface="Arial"/>
                <a:sym typeface="Arial"/>
              </a:rPr>
              <a:t>The graph depicts exports and imports as a percentage of national income for the following 6 countries. U S, 15%. Canada, 33%. South Korea, 42%. Mexico 43%. Germany, 45%. Belgium, 87%. All values are estimated.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69789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22</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6"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2022, 2018, 2015</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6"/>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hyperlink" Target="https://research.stlouisfed.or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 xmlns:adec="http://schemas.microsoft.com/office/drawing/2017/decorative" val="1"/>
              </a:ext>
            </a:extLst>
          </p:cNvPr>
          <p:cNvSpPr>
            <a:spLocks noGrp="1"/>
          </p:cNvSpPr>
          <p:nvPr>
            <p:ph type="title"/>
          </p:nvPr>
        </p:nvSpPr>
        <p:spPr>
          <a:xfrm>
            <a:off x="457199" y="143692"/>
            <a:ext cx="8229601" cy="987333"/>
          </a:xfrm>
        </p:spPr>
        <p:txBody>
          <a:bodyPr anchor="ctr"/>
          <a:lstStyle/>
          <a:p>
            <a:r>
              <a:rPr lang="en-US" sz="3200" dirty="0"/>
              <a:t>International Economics: Theory and Policy</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 xmlns:adec="http://schemas.microsoft.com/office/drawing/2017/decorative" val="1"/>
              </a:ext>
            </a:extLst>
          </p:cNvPr>
          <p:cNvSpPr>
            <a:spLocks noGrp="1"/>
          </p:cNvSpPr>
          <p:nvPr>
            <p:ph type="body" idx="1"/>
          </p:nvPr>
        </p:nvSpPr>
        <p:spPr>
          <a:xfrm>
            <a:off x="457200" y="1212419"/>
            <a:ext cx="8229600" cy="413524"/>
          </a:xfrm>
        </p:spPr>
        <p:txBody>
          <a:bodyPr anchor="ctr"/>
          <a:lstStyle/>
          <a:p>
            <a:r>
              <a:rPr lang="en-US" dirty="0"/>
              <a:t>Twelfth</a:t>
            </a:r>
            <a:r>
              <a:rPr lang="en-US" dirty="0">
                <a:solidFill>
                  <a:schemeClr val="tx2"/>
                </a:solidFill>
              </a:rPr>
              <a:t> Edition</a:t>
            </a:r>
          </a:p>
        </p:txBody>
      </p:sp>
      <p:pic>
        <p:nvPicPr>
          <p:cNvPr id="9" name="Picture 8" descr="Front Cover: International Economics: Theory and Policy, Twelfth Edition by Krugman, Obstfeld and Melitz.">
            <a:extLst>
              <a:ext uri="{FF2B5EF4-FFF2-40B4-BE49-F238E27FC236}">
                <a16:creationId xmlns:a16="http://schemas.microsoft.com/office/drawing/2014/main" id="{D7D46880-8461-406A-8001-EA9E0EE58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578" y="1704436"/>
            <a:ext cx="3544562" cy="4430702"/>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 xmlns:adec="http://schemas.microsoft.com/office/drawing/2017/decorative" val="1"/>
              </a:ext>
            </a:extLst>
          </p:cNvPr>
          <p:cNvSpPr>
            <a:spLocks noGrp="1"/>
          </p:cNvSpPr>
          <p:nvPr>
            <p:ph sz="quarter" idx="14"/>
          </p:nvPr>
        </p:nvSpPr>
        <p:spPr>
          <a:xfrm>
            <a:off x="5029200" y="1906104"/>
            <a:ext cx="3657600" cy="1186345"/>
          </a:xfrm>
        </p:spPr>
        <p:txBody>
          <a:bodyPr/>
          <a:lstStyle/>
          <a:p>
            <a:pPr marL="0" algn="ctr"/>
            <a:r>
              <a:rPr lang="en-US" b="1" dirty="0">
                <a:latin typeface="+mn-lt"/>
              </a:rPr>
              <a:t>Chapter 1</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 xmlns:adec="http://schemas.microsoft.com/office/drawing/2017/decorative" val="1"/>
              </a:ext>
            </a:extLst>
          </p:cNvPr>
          <p:cNvSpPr>
            <a:spLocks noGrp="1"/>
          </p:cNvSpPr>
          <p:nvPr>
            <p:ph sz="quarter" idx="15"/>
          </p:nvPr>
        </p:nvSpPr>
        <p:spPr>
          <a:xfrm>
            <a:off x="5029200" y="3252789"/>
            <a:ext cx="3657600" cy="1786139"/>
          </a:xfrm>
        </p:spPr>
        <p:txBody>
          <a:bodyPr/>
          <a:lstStyle/>
          <a:p>
            <a:pPr lvl="0">
              <a:buSzPct val="25000"/>
            </a:pPr>
            <a:r>
              <a:rPr lang="en-US" dirty="0" smtClean="0"/>
              <a:t>Introduction</a:t>
            </a:r>
            <a:endParaRPr lang="en-US" dirty="0">
              <a:solidFill>
                <a:schemeClr val="tx1"/>
              </a:solidFill>
            </a:endParaRP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 xmlns:adec="http://schemas.microsoft.com/office/drawing/2017/decorative" val="1"/>
              </a:ext>
            </a:extLst>
          </p:cNvPr>
          <p:cNvSpPr>
            <a:spLocks noGrp="1"/>
          </p:cNvSpPr>
          <p:nvPr>
            <p:ph sz="quarter" idx="17"/>
          </p:nvPr>
        </p:nvSpPr>
        <p:spPr>
          <a:xfrm>
            <a:off x="2173000" y="6415232"/>
            <a:ext cx="6589712" cy="228600"/>
          </a:xfrm>
        </p:spPr>
        <p:txBody>
          <a:bodyPr/>
          <a:lstStyle/>
          <a:p>
            <a:pPr marL="0" indent="0"/>
            <a:r>
              <a:rPr lang="en-US" altLang="en-US" sz="1200" b="0" dirty="0" smtClean="0">
                <a:latin typeface="Verdana"/>
                <a:cs typeface="Verdana" panose="020B0604030504040204" pitchFamily="34" charset="0"/>
              </a:rPr>
              <a:t>Copyright © </a:t>
            </a:r>
            <a:r>
              <a:rPr lang="en-US" dirty="0" smtClean="0"/>
              <a:t>2022, 2018, 2015 </a:t>
            </a:r>
            <a:r>
              <a:rPr lang="en-US" altLang="en-US" sz="1200" b="0" dirty="0" smtClean="0">
                <a:latin typeface="Verdana"/>
                <a:cs typeface="Verdana" panose="020B0604030504040204" pitchFamily="34" charset="0"/>
              </a:rPr>
              <a:t>Pearson Education, Inc. All Rights Reserved</a:t>
            </a:r>
            <a:endParaRPr lang="en-US" altLang="en-US" sz="1200" b="0" dirty="0">
              <a:latin typeface="Verdana"/>
              <a:cs typeface="Verdana" panose="020B0604030504040204" pitchFamily="34" charset="0"/>
            </a:endParaRP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Learning Objectives</a:t>
            </a:r>
            <a:endParaRPr lang="en-US" dirty="0"/>
          </a:p>
        </p:txBody>
      </p:sp>
      <p:sp>
        <p:nvSpPr>
          <p:cNvPr id="4" name="Content Placeholder 3"/>
          <p:cNvSpPr>
            <a:spLocks noGrp="1"/>
          </p:cNvSpPr>
          <p:nvPr>
            <p:ph sz="quarter" idx="13"/>
          </p:nvPr>
        </p:nvSpPr>
        <p:spPr>
          <a:xfrm>
            <a:off x="457200" y="1556327"/>
            <a:ext cx="8046720" cy="4586896"/>
          </a:xfrm>
        </p:spPr>
        <p:txBody>
          <a:bodyPr/>
          <a:lstStyle/>
          <a:p>
            <a:pPr marL="0" indent="0">
              <a:buNone/>
              <a:defRPr/>
            </a:pPr>
            <a:r>
              <a:rPr lang="en-US" sz="2400" b="1" dirty="0">
                <a:solidFill>
                  <a:srgbClr val="007FA3"/>
                </a:solidFill>
              </a:rPr>
              <a:t>1.1</a:t>
            </a:r>
            <a:r>
              <a:rPr lang="en-US" sz="2400" b="1" dirty="0">
                <a:solidFill>
                  <a:schemeClr val="bg2"/>
                </a:solidFill>
              </a:rPr>
              <a:t> </a:t>
            </a:r>
            <a:r>
              <a:rPr lang="en-US" sz="2400" dirty="0"/>
              <a:t>Distinguish between international and domestic economic issues.</a:t>
            </a:r>
          </a:p>
          <a:p>
            <a:pPr marL="0" indent="0">
              <a:buNone/>
              <a:defRPr/>
            </a:pPr>
            <a:r>
              <a:rPr lang="en-US" sz="2400" b="1" dirty="0">
                <a:solidFill>
                  <a:srgbClr val="007FA3"/>
                </a:solidFill>
              </a:rPr>
              <a:t>1.2</a:t>
            </a:r>
            <a:r>
              <a:rPr lang="en-US" sz="2400" b="1" dirty="0">
                <a:solidFill>
                  <a:schemeClr val="bg2"/>
                </a:solidFill>
              </a:rPr>
              <a:t> </a:t>
            </a:r>
            <a:r>
              <a:rPr lang="en-US" sz="2400" dirty="0"/>
              <a:t>Explain why seven themes recur in international economics and discuss their significance.</a:t>
            </a:r>
          </a:p>
          <a:p>
            <a:pPr marL="0" indent="0">
              <a:buNone/>
              <a:defRPr/>
            </a:pPr>
            <a:r>
              <a:rPr lang="en-US" sz="2400" b="1" dirty="0">
                <a:solidFill>
                  <a:srgbClr val="007FA3"/>
                </a:solidFill>
              </a:rPr>
              <a:t>1.3</a:t>
            </a:r>
            <a:r>
              <a:rPr lang="en-US" sz="2400" b="1" dirty="0">
                <a:solidFill>
                  <a:schemeClr val="bg2"/>
                </a:solidFill>
              </a:rPr>
              <a:t> </a:t>
            </a:r>
            <a:r>
              <a:rPr lang="en-US" sz="2400" dirty="0"/>
              <a:t>Distinguish between the trade and monetary aspects of international economics.</a:t>
            </a:r>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DAB96-3F38-46F9-8CD3-51FA71A841AE}"/>
              </a:ext>
            </a:extLst>
          </p:cNvPr>
          <p:cNvSpPr>
            <a:spLocks noGrp="1"/>
          </p:cNvSpPr>
          <p:nvPr>
            <p:ph type="title"/>
          </p:nvPr>
        </p:nvSpPr>
        <p:spPr/>
        <p:txBody>
          <a:bodyPr/>
          <a:lstStyle/>
          <a:p>
            <a:r>
              <a:rPr lang="en-US" sz="3600" dirty="0">
                <a:ea typeface="Verdana" panose="020B0604030504040204" pitchFamily="34" charset="0"/>
              </a:rPr>
              <a:t>Preview</a:t>
            </a:r>
            <a:endParaRPr lang="en-IN" dirty="0"/>
          </a:p>
        </p:txBody>
      </p:sp>
      <p:sp>
        <p:nvSpPr>
          <p:cNvPr id="3" name="Content Placeholder 2">
            <a:extLst>
              <a:ext uri="{FF2B5EF4-FFF2-40B4-BE49-F238E27FC236}">
                <a16:creationId xmlns:a16="http://schemas.microsoft.com/office/drawing/2014/main" id="{8280B47D-2EA4-469A-BD08-CCB144214DF4}"/>
              </a:ext>
            </a:extLst>
          </p:cNvPr>
          <p:cNvSpPr>
            <a:spLocks noGrp="1"/>
          </p:cNvSpPr>
          <p:nvPr>
            <p:ph sz="quarter" idx="13"/>
          </p:nvPr>
        </p:nvSpPr>
        <p:spPr/>
        <p:txBody>
          <a:bodyPr/>
          <a:lstStyle/>
          <a:p>
            <a:r>
              <a:rPr lang="en-US" altLang="en-US" sz="2400" dirty="0">
                <a:ea typeface="Verdana" panose="020B0604030504040204" pitchFamily="34" charset="0"/>
                <a:cs typeface="Verdana" panose="020B0604030504040204" pitchFamily="34" charset="0"/>
              </a:rPr>
              <a:t>What is international economics about?</a:t>
            </a:r>
          </a:p>
          <a:p>
            <a:r>
              <a:rPr lang="en-US" altLang="en-US" sz="2400" dirty="0">
                <a:ea typeface="Verdana" panose="020B0604030504040204" pitchFamily="34" charset="0"/>
                <a:cs typeface="Verdana" panose="020B0604030504040204" pitchFamily="34" charset="0"/>
              </a:rPr>
              <a:t>International trade topics: Gains from trade, explaining patterns and volume of trade, effects of government policies on trade</a:t>
            </a:r>
          </a:p>
          <a:p>
            <a:r>
              <a:rPr lang="en-US" altLang="en-US" sz="2400" dirty="0">
                <a:ea typeface="Verdana" panose="020B0604030504040204" pitchFamily="34" charset="0"/>
                <a:cs typeface="Verdana" panose="020B0604030504040204" pitchFamily="34" charset="0"/>
              </a:rPr>
              <a:t>International finance topics: Balance of payments, exchange rate determination, international policy coordination, capital markets</a:t>
            </a:r>
          </a:p>
          <a:p>
            <a:r>
              <a:rPr lang="en-US" altLang="en-US" sz="2400" dirty="0">
                <a:ea typeface="Verdana" panose="020B0604030504040204" pitchFamily="34" charset="0"/>
                <a:cs typeface="Verdana" panose="020B0604030504040204" pitchFamily="34" charset="0"/>
              </a:rPr>
              <a:t>International trade versus finance</a:t>
            </a:r>
            <a:endParaRPr lang="en-IN" dirty="0"/>
          </a:p>
        </p:txBody>
      </p:sp>
    </p:spTree>
    <p:extLst>
      <p:ext uri="{BB962C8B-B14F-4D97-AF65-F5344CB8AC3E}">
        <p14:creationId xmlns:p14="http://schemas.microsoft.com/office/powerpoint/2010/main" val="1348958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D10D1-D42C-4A24-B11A-1BF0AB1DEF77}"/>
              </a:ext>
            </a:extLst>
          </p:cNvPr>
          <p:cNvSpPr>
            <a:spLocks noGrp="1"/>
          </p:cNvSpPr>
          <p:nvPr>
            <p:ph type="title"/>
          </p:nvPr>
        </p:nvSpPr>
        <p:spPr>
          <a:xfrm>
            <a:off x="457200" y="215371"/>
            <a:ext cx="7605132" cy="1097279"/>
          </a:xfrm>
        </p:spPr>
        <p:txBody>
          <a:bodyPr/>
          <a:lstStyle/>
          <a:p>
            <a:r>
              <a:rPr lang="en-US" altLang="en-US" sz="3200" dirty="0">
                <a:ea typeface="Verdana" panose="020B0604030504040204" pitchFamily="34" charset="0"/>
              </a:rPr>
              <a:t>What Is International Economics About? </a:t>
            </a:r>
            <a:r>
              <a:rPr lang="en-US" altLang="en-US" sz="2000" b="0" dirty="0">
                <a:ea typeface="Verdana" panose="020B0604030504040204" pitchFamily="34" charset="0"/>
              </a:rPr>
              <a:t>(1 of 3)</a:t>
            </a:r>
            <a:endParaRPr lang="en-IN" sz="2000" b="0" dirty="0"/>
          </a:p>
        </p:txBody>
      </p:sp>
      <p:sp>
        <p:nvSpPr>
          <p:cNvPr id="3" name="Content Placeholder 2">
            <a:extLst>
              <a:ext uri="{FF2B5EF4-FFF2-40B4-BE49-F238E27FC236}">
                <a16:creationId xmlns:a16="http://schemas.microsoft.com/office/drawing/2014/main" id="{424EAFDB-D6C9-40CE-BA24-BDA7A20BFF42}"/>
              </a:ext>
            </a:extLst>
          </p:cNvPr>
          <p:cNvSpPr>
            <a:spLocks noGrp="1"/>
          </p:cNvSpPr>
          <p:nvPr>
            <p:ph sz="quarter" idx="13"/>
          </p:nvPr>
        </p:nvSpPr>
        <p:spPr>
          <a:xfrm>
            <a:off x="457200" y="1556327"/>
            <a:ext cx="8098971" cy="4586896"/>
          </a:xfrm>
        </p:spPr>
        <p:txBody>
          <a:bodyPr/>
          <a:lstStyle/>
          <a:p>
            <a:r>
              <a:rPr lang="en-US" altLang="en-US" sz="2400" dirty="0"/>
              <a:t>International economics is about how nations interact through trade of goods and services, flows of money, and investment.</a:t>
            </a:r>
          </a:p>
          <a:p>
            <a:r>
              <a:rPr lang="en-US" altLang="en-US" sz="2400" dirty="0"/>
              <a:t>International economics is an old subject, but continues to grow in importance.</a:t>
            </a:r>
          </a:p>
          <a:p>
            <a:r>
              <a:rPr lang="en-US" altLang="en-US" sz="2400" dirty="0"/>
              <a:t>Nations are now more closely linked than ever before.</a:t>
            </a:r>
            <a:endParaRPr lang="en-US" sz="2400" dirty="0"/>
          </a:p>
        </p:txBody>
      </p:sp>
    </p:spTree>
    <p:extLst>
      <p:ext uri="{BB962C8B-B14F-4D97-AF65-F5344CB8AC3E}">
        <p14:creationId xmlns:p14="http://schemas.microsoft.com/office/powerpoint/2010/main" val="1463126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D10D1-D42C-4A24-B11A-1BF0AB1DEF77}"/>
              </a:ext>
            </a:extLst>
          </p:cNvPr>
          <p:cNvSpPr>
            <a:spLocks noGrp="1"/>
          </p:cNvSpPr>
          <p:nvPr>
            <p:ph type="title"/>
          </p:nvPr>
        </p:nvSpPr>
        <p:spPr>
          <a:xfrm>
            <a:off x="457200" y="215371"/>
            <a:ext cx="7605132" cy="1097279"/>
          </a:xfrm>
        </p:spPr>
        <p:txBody>
          <a:bodyPr/>
          <a:lstStyle/>
          <a:p>
            <a:r>
              <a:rPr lang="en-US" altLang="en-US" sz="3200" dirty="0">
                <a:ea typeface="Verdana" panose="020B0604030504040204" pitchFamily="34" charset="0"/>
              </a:rPr>
              <a:t>What Is International Economics About? </a:t>
            </a:r>
            <a:r>
              <a:rPr lang="en-US" altLang="en-US" sz="2000" b="0" dirty="0">
                <a:ea typeface="Verdana" panose="020B0604030504040204" pitchFamily="34" charset="0"/>
              </a:rPr>
              <a:t>(2 of 3)</a:t>
            </a:r>
            <a:endParaRPr lang="en-IN" sz="2000" b="0" dirty="0"/>
          </a:p>
        </p:txBody>
      </p:sp>
      <p:sp>
        <p:nvSpPr>
          <p:cNvPr id="3" name="Content Placeholder 2">
            <a:extLst>
              <a:ext uri="{FF2B5EF4-FFF2-40B4-BE49-F238E27FC236}">
                <a16:creationId xmlns:a16="http://schemas.microsoft.com/office/drawing/2014/main" id="{424EAFDB-D6C9-40CE-BA24-BDA7A20BFF42}"/>
              </a:ext>
            </a:extLst>
          </p:cNvPr>
          <p:cNvSpPr>
            <a:spLocks noGrp="1"/>
          </p:cNvSpPr>
          <p:nvPr>
            <p:ph sz="quarter" idx="13"/>
          </p:nvPr>
        </p:nvSpPr>
        <p:spPr>
          <a:xfrm>
            <a:off x="457200" y="1556327"/>
            <a:ext cx="8138160" cy="4586896"/>
          </a:xfrm>
        </p:spPr>
        <p:txBody>
          <a:bodyPr/>
          <a:lstStyle/>
          <a:p>
            <a:r>
              <a:rPr lang="en-US" altLang="en-US" sz="2400" dirty="0"/>
              <a:t>U.S. exports and imports as shares of gross domestic product have been on an upward trend.</a:t>
            </a:r>
          </a:p>
          <a:p>
            <a:pPr lvl="1"/>
            <a:r>
              <a:rPr lang="en-US" altLang="en-US" sz="2400" dirty="0"/>
              <a:t>International trade has roughly tripled in importance compared to the economy as a whole in the past 60 years.</a:t>
            </a:r>
          </a:p>
          <a:p>
            <a:pPr lvl="1"/>
            <a:r>
              <a:rPr lang="en-US" altLang="en-US" sz="2400" dirty="0"/>
              <a:t>Both imports and exports fell substantially in 2009 due to the recession.</a:t>
            </a:r>
          </a:p>
          <a:p>
            <a:pPr lvl="1"/>
            <a:r>
              <a:rPr lang="en-US" sz="2400" dirty="0"/>
              <a:t>Both imports and exports fell again in 2020 due to the COVID-19 pandemic.</a:t>
            </a:r>
          </a:p>
        </p:txBody>
      </p:sp>
    </p:spTree>
    <p:extLst>
      <p:ext uri="{BB962C8B-B14F-4D97-AF65-F5344CB8AC3E}">
        <p14:creationId xmlns:p14="http://schemas.microsoft.com/office/powerpoint/2010/main" val="1986315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861B0-B1E5-4B63-A130-29019CE8B754}"/>
              </a:ext>
            </a:extLst>
          </p:cNvPr>
          <p:cNvSpPr>
            <a:spLocks noGrp="1"/>
          </p:cNvSpPr>
          <p:nvPr>
            <p:ph type="title"/>
          </p:nvPr>
        </p:nvSpPr>
        <p:spPr/>
        <p:txBody>
          <a:bodyPr/>
          <a:lstStyle/>
          <a:p>
            <a:r>
              <a:rPr lang="en-US" altLang="en-US" sz="3200" dirty="0">
                <a:ea typeface="Verdana" panose="020B0604030504040204" pitchFamily="34" charset="0"/>
              </a:rPr>
              <a:t>Figure 1.1 Exports and Imports as a Percentage of U.S. National Income</a:t>
            </a:r>
            <a:endParaRPr lang="en-IN" sz="3200" dirty="0"/>
          </a:p>
        </p:txBody>
      </p:sp>
      <p:pic>
        <p:nvPicPr>
          <p:cNvPr id="6" name="Content Placeholder 5" descr="A graph depicts the exports and imports as a percentage of U S national income. For long description in Notes pane, press F6.">
            <a:extLst>
              <a:ext uri="{FF2B5EF4-FFF2-40B4-BE49-F238E27FC236}">
                <a16:creationId xmlns:a16="http://schemas.microsoft.com/office/drawing/2014/main" id="{E487543E-B431-42A4-A490-7E8B94F31AEB}"/>
              </a:ext>
            </a:extLst>
          </p:cNvPr>
          <p:cNvPicPr>
            <a:picLocks noGrp="1" noChangeAspect="1"/>
          </p:cNvPicPr>
          <p:nvPr>
            <p:ph sz="quarter" idx="13"/>
          </p:nvPr>
        </p:nvPicPr>
        <p:blipFill>
          <a:blip r:embed="rId3"/>
          <a:stretch>
            <a:fillRect/>
          </a:stretch>
        </p:blipFill>
        <p:spPr>
          <a:xfrm>
            <a:off x="1971496" y="1692510"/>
            <a:ext cx="5201007" cy="3121919"/>
          </a:xfrm>
        </p:spPr>
      </p:pic>
      <p:sp>
        <p:nvSpPr>
          <p:cNvPr id="4" name="Content Placeholder 3">
            <a:extLst>
              <a:ext uri="{FF2B5EF4-FFF2-40B4-BE49-F238E27FC236}">
                <a16:creationId xmlns:a16="http://schemas.microsoft.com/office/drawing/2014/main" id="{231304DA-5C88-4BF1-86F6-65B9D0D1E7F6}"/>
              </a:ext>
            </a:extLst>
          </p:cNvPr>
          <p:cNvSpPr>
            <a:spLocks noGrp="1"/>
          </p:cNvSpPr>
          <p:nvPr>
            <p:ph sz="quarter" idx="14"/>
          </p:nvPr>
        </p:nvSpPr>
        <p:spPr>
          <a:xfrm>
            <a:off x="457200" y="4937470"/>
            <a:ext cx="8386354" cy="757725"/>
          </a:xfrm>
        </p:spPr>
        <p:txBody>
          <a:bodyPr/>
          <a:lstStyle/>
          <a:p>
            <a:pPr marL="0" indent="0">
              <a:spcBef>
                <a:spcPts val="1000"/>
              </a:spcBef>
              <a:buNone/>
            </a:pPr>
            <a:r>
              <a:rPr lang="en-US" sz="2000" dirty="0"/>
              <a:t>(Shaded areas indicate U.S. recessions.) Both imports and exports have risen as a share of the U.S. economy, but imports have risen more</a:t>
            </a:r>
            <a:r>
              <a:rPr lang="en-US" sz="2000" dirty="0" smtClean="0"/>
              <a:t>.</a:t>
            </a:r>
            <a:endParaRPr lang="en-US" sz="2000" dirty="0"/>
          </a:p>
        </p:txBody>
      </p:sp>
      <p:sp>
        <p:nvSpPr>
          <p:cNvPr id="18" name="Content Placeholder 17"/>
          <p:cNvSpPr>
            <a:spLocks noGrp="1"/>
          </p:cNvSpPr>
          <p:nvPr>
            <p:ph sz="quarter" idx="15"/>
          </p:nvPr>
        </p:nvSpPr>
        <p:spPr>
          <a:xfrm>
            <a:off x="457200" y="5807717"/>
            <a:ext cx="4648200" cy="434188"/>
          </a:xfrm>
        </p:spPr>
        <p:txBody>
          <a:bodyPr/>
          <a:lstStyle/>
          <a:p>
            <a:pPr marL="432" indent="0">
              <a:buNone/>
            </a:pPr>
            <a:r>
              <a:rPr lang="en-US" b="1" dirty="0"/>
              <a:t>Source: </a:t>
            </a:r>
            <a:r>
              <a:rPr lang="en-US" dirty="0"/>
              <a:t>U.S. Bureau of Economic Analysis,</a:t>
            </a:r>
          </a:p>
        </p:txBody>
      </p:sp>
      <p:sp>
        <p:nvSpPr>
          <p:cNvPr id="36" name="Text Placeholder 35"/>
          <p:cNvSpPr>
            <a:spLocks noGrp="1"/>
          </p:cNvSpPr>
          <p:nvPr>
            <p:ph type="body" sz="quarter" idx="33"/>
          </p:nvPr>
        </p:nvSpPr>
        <p:spPr>
          <a:xfrm>
            <a:off x="5177744" y="5884063"/>
            <a:ext cx="2805112" cy="337990"/>
          </a:xfrm>
        </p:spPr>
        <p:txBody>
          <a:bodyPr lIns="0" tIns="0" rIns="0" bIns="0"/>
          <a:lstStyle/>
          <a:p>
            <a:pPr marL="432" indent="0">
              <a:buNone/>
            </a:pPr>
            <a:r>
              <a:rPr lang="en-US" sz="1800" dirty="0" smtClean="0">
                <a:hlinkClick r:id="rId4" tooltip="https://research.stlouisfed.org/"/>
              </a:rPr>
              <a:t>research.stlouisfed.org</a:t>
            </a:r>
            <a:endParaRPr lang="en-US" sz="1800" dirty="0"/>
          </a:p>
        </p:txBody>
      </p:sp>
    </p:spTree>
    <p:extLst>
      <p:ext uri="{BB962C8B-B14F-4D97-AF65-F5344CB8AC3E}">
        <p14:creationId xmlns:p14="http://schemas.microsoft.com/office/powerpoint/2010/main" val="221619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D10D1-D42C-4A24-B11A-1BF0AB1DEF77}"/>
              </a:ext>
            </a:extLst>
          </p:cNvPr>
          <p:cNvSpPr>
            <a:spLocks noGrp="1"/>
          </p:cNvSpPr>
          <p:nvPr>
            <p:ph type="title"/>
          </p:nvPr>
        </p:nvSpPr>
        <p:spPr>
          <a:xfrm>
            <a:off x="457200" y="215371"/>
            <a:ext cx="7605132" cy="1097279"/>
          </a:xfrm>
        </p:spPr>
        <p:txBody>
          <a:bodyPr/>
          <a:lstStyle/>
          <a:p>
            <a:r>
              <a:rPr lang="en-US" altLang="en-US" sz="3200" dirty="0">
                <a:ea typeface="Verdana" panose="020B0604030504040204" pitchFamily="34" charset="0"/>
              </a:rPr>
              <a:t>What Is International Economics About? </a:t>
            </a:r>
            <a:r>
              <a:rPr lang="en-US" altLang="en-US" sz="2000" b="0" dirty="0">
                <a:ea typeface="Verdana" panose="020B0604030504040204" pitchFamily="34" charset="0"/>
              </a:rPr>
              <a:t>(3 of 3)</a:t>
            </a:r>
            <a:endParaRPr lang="en-IN" sz="2000" b="0" dirty="0"/>
          </a:p>
        </p:txBody>
      </p:sp>
      <p:sp>
        <p:nvSpPr>
          <p:cNvPr id="3" name="Content Placeholder 2">
            <a:extLst>
              <a:ext uri="{FF2B5EF4-FFF2-40B4-BE49-F238E27FC236}">
                <a16:creationId xmlns:a16="http://schemas.microsoft.com/office/drawing/2014/main" id="{424EAFDB-D6C9-40CE-BA24-BDA7A20BFF42}"/>
              </a:ext>
            </a:extLst>
          </p:cNvPr>
          <p:cNvSpPr>
            <a:spLocks noGrp="1"/>
          </p:cNvSpPr>
          <p:nvPr>
            <p:ph sz="quarter" idx="13"/>
          </p:nvPr>
        </p:nvSpPr>
        <p:spPr/>
        <p:txBody>
          <a:bodyPr/>
          <a:lstStyle/>
          <a:p>
            <a:r>
              <a:rPr lang="en-US" altLang="en-US" sz="2400" dirty="0">
                <a:ea typeface="Verdana" panose="020B0604030504040204" pitchFamily="34" charset="0"/>
                <a:cs typeface="Verdana" panose="020B0604030504040204" pitchFamily="34" charset="0"/>
              </a:rPr>
              <a:t>Compared to the United States, other countries are even more tied to international trade.</a:t>
            </a:r>
          </a:p>
          <a:p>
            <a:pPr lvl="1"/>
            <a:r>
              <a:rPr lang="en-US" altLang="en-US" sz="2400" dirty="0">
                <a:ea typeface="Verdana" panose="020B0604030504040204" pitchFamily="34" charset="0"/>
                <a:cs typeface="Verdana" panose="020B0604030504040204" pitchFamily="34" charset="0"/>
              </a:rPr>
              <a:t>Their imports and exports as a share of GDP are substantially higher.</a:t>
            </a:r>
          </a:p>
          <a:p>
            <a:pPr lvl="1"/>
            <a:r>
              <a:rPr lang="en-US" altLang="en-US" sz="2400" dirty="0">
                <a:ea typeface="Verdana" panose="020B0604030504040204" pitchFamily="34" charset="0"/>
                <a:cs typeface="Verdana" panose="020B0604030504040204" pitchFamily="34" charset="0"/>
              </a:rPr>
              <a:t>The United States, due to its size and diversity of resources, relies less on international trade than almost any other country.</a:t>
            </a:r>
            <a:endParaRPr lang="en-US" sz="2400" dirty="0"/>
          </a:p>
        </p:txBody>
      </p:sp>
    </p:spTree>
    <p:extLst>
      <p:ext uri="{BB962C8B-B14F-4D97-AF65-F5344CB8AC3E}">
        <p14:creationId xmlns:p14="http://schemas.microsoft.com/office/powerpoint/2010/main" val="2858123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6F5DE-6110-4EB6-8A8C-5A5E627F995C}"/>
              </a:ext>
            </a:extLst>
          </p:cNvPr>
          <p:cNvSpPr>
            <a:spLocks noGrp="1"/>
          </p:cNvSpPr>
          <p:nvPr>
            <p:ph type="title"/>
          </p:nvPr>
        </p:nvSpPr>
        <p:spPr/>
        <p:txBody>
          <a:bodyPr/>
          <a:lstStyle/>
          <a:p>
            <a:r>
              <a:rPr lang="en-US" sz="3000" dirty="0"/>
              <a:t>Figure 1.2 Average of Exports and Imports as Percentages of National Income in 2018</a:t>
            </a:r>
            <a:endParaRPr lang="en-IN" sz="3000" dirty="0"/>
          </a:p>
        </p:txBody>
      </p:sp>
      <p:pic>
        <p:nvPicPr>
          <p:cNvPr id="6" name="Content Placeholder 5" descr="A bar graph depicts the average of exports and imports as percentages of national income in 20 18. For long description in Notes pane, press F6.">
            <a:extLst>
              <a:ext uri="{FF2B5EF4-FFF2-40B4-BE49-F238E27FC236}">
                <a16:creationId xmlns:a16="http://schemas.microsoft.com/office/drawing/2014/main" id="{98294615-712E-4622-8B15-64C3933F4EE2}"/>
              </a:ext>
            </a:extLst>
          </p:cNvPr>
          <p:cNvPicPr>
            <a:picLocks noGrp="1" noChangeAspect="1"/>
          </p:cNvPicPr>
          <p:nvPr>
            <p:ph sz="quarter" idx="13"/>
          </p:nvPr>
        </p:nvPicPr>
        <p:blipFill>
          <a:blip r:embed="rId3"/>
          <a:stretch>
            <a:fillRect/>
          </a:stretch>
        </p:blipFill>
        <p:spPr>
          <a:xfrm>
            <a:off x="1586733" y="1682119"/>
            <a:ext cx="5970535" cy="3354580"/>
          </a:xfrm>
        </p:spPr>
      </p:pic>
      <p:sp>
        <p:nvSpPr>
          <p:cNvPr id="4" name="Content Placeholder 3">
            <a:extLst>
              <a:ext uri="{FF2B5EF4-FFF2-40B4-BE49-F238E27FC236}">
                <a16:creationId xmlns:a16="http://schemas.microsoft.com/office/drawing/2014/main" id="{FDCC4FA9-1CC7-4C3A-B65E-2723DD8FC17C}"/>
              </a:ext>
            </a:extLst>
          </p:cNvPr>
          <p:cNvSpPr>
            <a:spLocks noGrp="1"/>
          </p:cNvSpPr>
          <p:nvPr>
            <p:ph sz="quarter" idx="14"/>
          </p:nvPr>
        </p:nvSpPr>
        <p:spPr>
          <a:xfrm>
            <a:off x="457200" y="5163009"/>
            <a:ext cx="8229600" cy="1181565"/>
          </a:xfrm>
        </p:spPr>
        <p:txBody>
          <a:bodyPr/>
          <a:lstStyle/>
          <a:p>
            <a:pPr marL="0" indent="0">
              <a:buNone/>
            </a:pPr>
            <a:r>
              <a:rPr lang="en-US" sz="2000" dirty="0"/>
              <a:t>International trade is even more important to most other countries than it is to the United States.</a:t>
            </a:r>
          </a:p>
          <a:p>
            <a:pPr marL="0" indent="0">
              <a:spcBef>
                <a:spcPts val="1000"/>
              </a:spcBef>
              <a:buNone/>
            </a:pPr>
            <a:r>
              <a:rPr lang="en-US" sz="1800" b="1" dirty="0"/>
              <a:t>Source: </a:t>
            </a:r>
            <a:r>
              <a:rPr lang="en-US" sz="1800" dirty="0"/>
              <a:t>World Bank</a:t>
            </a:r>
          </a:p>
        </p:txBody>
      </p:sp>
    </p:spTree>
    <p:extLst>
      <p:ext uri="{BB962C8B-B14F-4D97-AF65-F5344CB8AC3E}">
        <p14:creationId xmlns:p14="http://schemas.microsoft.com/office/powerpoint/2010/main" val="1266969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4C399-C48E-4AB8-A51A-D9E6877EBCEA}"/>
              </a:ext>
            </a:extLst>
          </p:cNvPr>
          <p:cNvSpPr>
            <a:spLocks noGrp="1"/>
          </p:cNvSpPr>
          <p:nvPr>
            <p:ph type="title"/>
          </p:nvPr>
        </p:nvSpPr>
        <p:spPr/>
        <p:txBody>
          <a:bodyPr/>
          <a:lstStyle/>
          <a:p>
            <a:r>
              <a:rPr lang="en-US" altLang="en-US" sz="3600" dirty="0">
                <a:ea typeface="Verdana" panose="020B0604030504040204" pitchFamily="34" charset="0"/>
              </a:rPr>
              <a:t>The Gains from Trade </a:t>
            </a:r>
            <a:r>
              <a:rPr lang="en-US" altLang="en-US" sz="2000" b="0" dirty="0">
                <a:ea typeface="Verdana" panose="020B0604030504040204" pitchFamily="34" charset="0"/>
              </a:rPr>
              <a:t>(1 of 4)</a:t>
            </a:r>
            <a:endParaRPr lang="en-IN" dirty="0"/>
          </a:p>
        </p:txBody>
      </p:sp>
      <p:sp>
        <p:nvSpPr>
          <p:cNvPr id="4" name="Content Placeholder 3">
            <a:extLst>
              <a:ext uri="{FF2B5EF4-FFF2-40B4-BE49-F238E27FC236}">
                <a16:creationId xmlns:a16="http://schemas.microsoft.com/office/drawing/2014/main" id="{13068F19-7DE0-41EF-A45B-91FF8B68BD0E}"/>
              </a:ext>
            </a:extLst>
          </p:cNvPr>
          <p:cNvSpPr>
            <a:spLocks noGrp="1"/>
          </p:cNvSpPr>
          <p:nvPr>
            <p:ph sz="quarter" idx="13"/>
          </p:nvPr>
        </p:nvSpPr>
        <p:spPr>
          <a:xfrm>
            <a:off x="466602" y="1552575"/>
            <a:ext cx="8220197" cy="1854296"/>
          </a:xfrm>
        </p:spPr>
        <p:txBody>
          <a:bodyPr/>
          <a:lstStyle/>
          <a:p>
            <a:r>
              <a:rPr lang="en-US" altLang="en-US" sz="2400" dirty="0">
                <a:ea typeface="Verdana" panose="020B0604030504040204" pitchFamily="34" charset="0"/>
                <a:cs typeface="Verdana" panose="020B0604030504040204" pitchFamily="34" charset="0"/>
              </a:rPr>
              <a:t>The most important insight of all international economics is that there are gains from trade.</a:t>
            </a:r>
          </a:p>
          <a:p>
            <a:r>
              <a:rPr lang="en-US" altLang="en-US" sz="2400" dirty="0">
                <a:ea typeface="Verdana" panose="020B0604030504040204" pitchFamily="34" charset="0"/>
                <a:cs typeface="Verdana" panose="020B0604030504040204" pitchFamily="34" charset="0"/>
              </a:rPr>
              <a:t>Countries selling goods and services to each other almost always generate mutual benefits.</a:t>
            </a:r>
            <a:endParaRPr lang="en-IN" dirty="0"/>
          </a:p>
        </p:txBody>
      </p:sp>
      <p:sp>
        <p:nvSpPr>
          <p:cNvPr id="5" name="Content Placeholder 4">
            <a:extLst>
              <a:ext uri="{FF2B5EF4-FFF2-40B4-BE49-F238E27FC236}">
                <a16:creationId xmlns:a16="http://schemas.microsoft.com/office/drawing/2014/main" id="{A262C943-2104-4157-B8B2-606DA62F790D}"/>
              </a:ext>
            </a:extLst>
          </p:cNvPr>
          <p:cNvSpPr>
            <a:spLocks noGrp="1"/>
          </p:cNvSpPr>
          <p:nvPr>
            <p:ph sz="quarter" idx="14"/>
          </p:nvPr>
        </p:nvSpPr>
        <p:spPr>
          <a:xfrm>
            <a:off x="468313" y="3488431"/>
            <a:ext cx="8218486" cy="886348"/>
          </a:xfrm>
        </p:spPr>
        <p:txBody>
          <a:bodyPr/>
          <a:lstStyle/>
          <a:p>
            <a:pPr marL="741600" lvl="1" indent="-428400">
              <a:buFont typeface="+mj-lt"/>
              <a:buAutoNum type="arabicPeriod"/>
            </a:pPr>
            <a:r>
              <a:rPr lang="en-US" altLang="en-US" sz="2400" dirty="0">
                <a:ea typeface="Verdana" panose="020B0604030504040204" pitchFamily="34" charset="0"/>
                <a:cs typeface="Verdana" panose="020B0604030504040204" pitchFamily="34" charset="0"/>
              </a:rPr>
              <a:t>When a buyer and a seller engage in a voluntary transaction, both can be made better off.</a:t>
            </a:r>
          </a:p>
        </p:txBody>
      </p:sp>
      <p:sp>
        <p:nvSpPr>
          <p:cNvPr id="6" name="Content Placeholder 5">
            <a:extLst>
              <a:ext uri="{FF2B5EF4-FFF2-40B4-BE49-F238E27FC236}">
                <a16:creationId xmlns:a16="http://schemas.microsoft.com/office/drawing/2014/main" id="{BB5B68C2-EC75-40B4-8773-DD9B4B2E5F9E}"/>
              </a:ext>
            </a:extLst>
          </p:cNvPr>
          <p:cNvSpPr>
            <a:spLocks noGrp="1"/>
          </p:cNvSpPr>
          <p:nvPr>
            <p:ph sz="quarter" idx="15"/>
          </p:nvPr>
        </p:nvSpPr>
        <p:spPr>
          <a:xfrm>
            <a:off x="468313" y="4448695"/>
            <a:ext cx="8218487" cy="886348"/>
          </a:xfrm>
        </p:spPr>
        <p:txBody>
          <a:bodyPr/>
          <a:lstStyle/>
          <a:p>
            <a:pPr lvl="2"/>
            <a:r>
              <a:rPr lang="en-US" altLang="en-US" sz="2400" dirty="0">
                <a:ea typeface="Verdana" panose="020B0604030504040204" pitchFamily="34" charset="0"/>
                <a:cs typeface="Verdana" panose="020B0604030504040204" pitchFamily="34" charset="0"/>
              </a:rPr>
              <a:t>Norwegian consumers import oranges that they would have a hard time producing.</a:t>
            </a:r>
            <a:endParaRPr lang="en-IN" dirty="0"/>
          </a:p>
        </p:txBody>
      </p:sp>
    </p:spTree>
    <p:extLst>
      <p:ext uri="{BB962C8B-B14F-4D97-AF65-F5344CB8AC3E}">
        <p14:creationId xmlns:p14="http://schemas.microsoft.com/office/powerpoint/2010/main" val="4201994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4C399-C48E-4AB8-A51A-D9E6877EBCEA}"/>
              </a:ext>
            </a:extLst>
          </p:cNvPr>
          <p:cNvSpPr>
            <a:spLocks noGrp="1"/>
          </p:cNvSpPr>
          <p:nvPr>
            <p:ph type="title"/>
          </p:nvPr>
        </p:nvSpPr>
        <p:spPr/>
        <p:txBody>
          <a:bodyPr/>
          <a:lstStyle/>
          <a:p>
            <a:r>
              <a:rPr lang="en-US" altLang="en-US" sz="3600" dirty="0">
                <a:ea typeface="Verdana" panose="020B0604030504040204" pitchFamily="34" charset="0"/>
              </a:rPr>
              <a:t>The Gains from Trade </a:t>
            </a:r>
            <a:r>
              <a:rPr lang="en-US" altLang="en-US" sz="2000" b="0" dirty="0">
                <a:ea typeface="Verdana" panose="020B0604030504040204" pitchFamily="34" charset="0"/>
              </a:rPr>
              <a:t>(2 of 4)</a:t>
            </a:r>
            <a:endParaRPr lang="en-IN" dirty="0"/>
          </a:p>
        </p:txBody>
      </p:sp>
      <p:sp>
        <p:nvSpPr>
          <p:cNvPr id="12" name="Content Placeholder 11">
            <a:extLst>
              <a:ext uri="{FF2B5EF4-FFF2-40B4-BE49-F238E27FC236}">
                <a16:creationId xmlns:a16="http://schemas.microsoft.com/office/drawing/2014/main" id="{0C4F25DC-0A45-4DD7-A248-FC5301473089}"/>
              </a:ext>
            </a:extLst>
          </p:cNvPr>
          <p:cNvSpPr>
            <a:spLocks noGrp="1"/>
          </p:cNvSpPr>
          <p:nvPr>
            <p:ph sz="quarter" idx="13"/>
          </p:nvPr>
        </p:nvSpPr>
        <p:spPr>
          <a:xfrm>
            <a:off x="457200" y="1556326"/>
            <a:ext cx="8229600" cy="888424"/>
          </a:xfrm>
        </p:spPr>
        <p:txBody>
          <a:bodyPr/>
          <a:lstStyle/>
          <a:p>
            <a:pPr marL="741600" lvl="1" indent="-428400">
              <a:buFont typeface="+mj-lt"/>
              <a:buAutoNum type="arabicPeriod" startAt="2"/>
            </a:pPr>
            <a:r>
              <a:rPr lang="en-US" altLang="en-US" dirty="0">
                <a:ea typeface="Verdana" panose="020B0604030504040204" pitchFamily="34" charset="0"/>
                <a:cs typeface="Verdana" panose="020B0604030504040204" pitchFamily="34" charset="0"/>
              </a:rPr>
              <a:t>How could a country that is the most (least) efficient producer of everything gain from trade?</a:t>
            </a:r>
          </a:p>
        </p:txBody>
      </p:sp>
      <p:sp>
        <p:nvSpPr>
          <p:cNvPr id="13" name="Content Placeholder 12">
            <a:extLst>
              <a:ext uri="{FF2B5EF4-FFF2-40B4-BE49-F238E27FC236}">
                <a16:creationId xmlns:a16="http://schemas.microsoft.com/office/drawing/2014/main" id="{003C4D84-3309-4B3C-BEAB-7683924BBB3C}"/>
              </a:ext>
            </a:extLst>
          </p:cNvPr>
          <p:cNvSpPr>
            <a:spLocks noGrp="1"/>
          </p:cNvSpPr>
          <p:nvPr>
            <p:ph sz="quarter" idx="14"/>
          </p:nvPr>
        </p:nvSpPr>
        <p:spPr>
          <a:xfrm>
            <a:off x="457200" y="2518443"/>
            <a:ext cx="8229600" cy="2902642"/>
          </a:xfrm>
        </p:spPr>
        <p:txBody>
          <a:bodyPr/>
          <a:lstStyle/>
          <a:p>
            <a:pPr lvl="2"/>
            <a:r>
              <a:rPr lang="en-US" altLang="en-US" sz="2400" dirty="0">
                <a:ea typeface="Verdana" panose="020B0604030504040204" pitchFamily="34" charset="0"/>
                <a:cs typeface="Verdana" panose="020B0604030504040204" pitchFamily="34" charset="0"/>
              </a:rPr>
              <a:t>Countries use finite resources to produce what most productive at (compared to their other production choices), then trade those products for what they want to consume.</a:t>
            </a:r>
          </a:p>
          <a:p>
            <a:pPr lvl="2"/>
            <a:r>
              <a:rPr lang="en-US" altLang="en-US" sz="2400" dirty="0">
                <a:ea typeface="Verdana" panose="020B0604030504040204" pitchFamily="34" charset="0"/>
                <a:cs typeface="Verdana" panose="020B0604030504040204" pitchFamily="34" charset="0"/>
              </a:rPr>
              <a:t>Countries can specialize in production, while consuming many goods and services through trade.</a:t>
            </a:r>
            <a:endParaRPr lang="en-IN" dirty="0"/>
          </a:p>
        </p:txBody>
      </p:sp>
    </p:spTree>
    <p:extLst>
      <p:ext uri="{BB962C8B-B14F-4D97-AF65-F5344CB8AC3E}">
        <p14:creationId xmlns:p14="http://schemas.microsoft.com/office/powerpoint/2010/main" val="2799803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4C399-C48E-4AB8-A51A-D9E6877EBCEA}"/>
              </a:ext>
            </a:extLst>
          </p:cNvPr>
          <p:cNvSpPr>
            <a:spLocks noGrp="1"/>
          </p:cNvSpPr>
          <p:nvPr>
            <p:ph type="title"/>
          </p:nvPr>
        </p:nvSpPr>
        <p:spPr/>
        <p:txBody>
          <a:bodyPr/>
          <a:lstStyle/>
          <a:p>
            <a:r>
              <a:rPr lang="en-US" altLang="en-US" sz="3600" dirty="0">
                <a:ea typeface="Verdana" panose="020B0604030504040204" pitchFamily="34" charset="0"/>
              </a:rPr>
              <a:t>The Gains from Trade </a:t>
            </a:r>
            <a:r>
              <a:rPr lang="en-US" altLang="en-US" sz="2000" b="0" dirty="0">
                <a:ea typeface="Verdana" panose="020B0604030504040204" pitchFamily="34" charset="0"/>
              </a:rPr>
              <a:t>(3 of 4)</a:t>
            </a:r>
            <a:endParaRPr lang="en-IN" dirty="0"/>
          </a:p>
        </p:txBody>
      </p:sp>
      <p:sp>
        <p:nvSpPr>
          <p:cNvPr id="12" name="Content Placeholder 11">
            <a:extLst>
              <a:ext uri="{FF2B5EF4-FFF2-40B4-BE49-F238E27FC236}">
                <a16:creationId xmlns:a16="http://schemas.microsoft.com/office/drawing/2014/main" id="{0C4F25DC-0A45-4DD7-A248-FC5301473089}"/>
              </a:ext>
            </a:extLst>
          </p:cNvPr>
          <p:cNvSpPr>
            <a:spLocks noGrp="1"/>
          </p:cNvSpPr>
          <p:nvPr>
            <p:ph sz="quarter" idx="13"/>
          </p:nvPr>
        </p:nvSpPr>
        <p:spPr>
          <a:xfrm>
            <a:off x="457200" y="1556326"/>
            <a:ext cx="8321040" cy="4420727"/>
          </a:xfrm>
        </p:spPr>
        <p:txBody>
          <a:bodyPr/>
          <a:lstStyle/>
          <a:p>
            <a:pPr marL="741600" lvl="1" indent="-429768">
              <a:buFont typeface="+mj-lt"/>
              <a:buAutoNum type="arabicPeriod" startAt="3"/>
            </a:pPr>
            <a:r>
              <a:rPr lang="en-US" altLang="en-US" dirty="0">
                <a:ea typeface="Verdana" panose="020B0604030504040204" pitchFamily="34" charset="0"/>
                <a:cs typeface="Verdana" panose="020B0604030504040204" pitchFamily="34" charset="0"/>
              </a:rPr>
              <a:t>Trade benefits countries by allowing them to export goods made with relatively abundant resources and imports goods made with relatively scarce resources.</a:t>
            </a:r>
          </a:p>
          <a:p>
            <a:pPr marL="741600" lvl="1" indent="-429768">
              <a:buFont typeface="+mj-lt"/>
              <a:buAutoNum type="arabicPeriod" startAt="3"/>
            </a:pPr>
            <a:r>
              <a:rPr lang="en-US" altLang="en-US" dirty="0">
                <a:ea typeface="Verdana" panose="020B0604030504040204" pitchFamily="34" charset="0"/>
                <a:cs typeface="Verdana" panose="020B0604030504040204" pitchFamily="34" charset="0"/>
              </a:rPr>
              <a:t>When countries specialize, they may be more efficient due to large-scale production.</a:t>
            </a:r>
          </a:p>
          <a:p>
            <a:pPr marL="741600" lvl="1" indent="-429768">
              <a:buFont typeface="+mj-lt"/>
              <a:buAutoNum type="arabicPeriod" startAt="3"/>
            </a:pPr>
            <a:r>
              <a:rPr lang="en-US" altLang="en-US" dirty="0">
                <a:ea typeface="Verdana" panose="020B0604030504040204" pitchFamily="34" charset="0"/>
                <a:cs typeface="Verdana" panose="020B0604030504040204" pitchFamily="34" charset="0"/>
              </a:rPr>
              <a:t>Countries may also gain by trading current resources for future resources (international borrowing and lending) and due to international migration</a:t>
            </a:r>
            <a:r>
              <a:rPr lang="en-US" altLang="en-US" dirty="0"/>
              <a:t>.</a:t>
            </a:r>
            <a:endParaRPr lang="en-US" dirty="0"/>
          </a:p>
        </p:txBody>
      </p:sp>
    </p:spTree>
    <p:extLst>
      <p:ext uri="{BB962C8B-B14F-4D97-AF65-F5344CB8AC3E}">
        <p14:creationId xmlns:p14="http://schemas.microsoft.com/office/powerpoint/2010/main" val="22767169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4C399-C48E-4AB8-A51A-D9E6877EBCEA}"/>
              </a:ext>
            </a:extLst>
          </p:cNvPr>
          <p:cNvSpPr>
            <a:spLocks noGrp="1"/>
          </p:cNvSpPr>
          <p:nvPr>
            <p:ph type="title"/>
          </p:nvPr>
        </p:nvSpPr>
        <p:spPr/>
        <p:txBody>
          <a:bodyPr/>
          <a:lstStyle/>
          <a:p>
            <a:r>
              <a:rPr lang="en-US" altLang="en-US" sz="3600" dirty="0">
                <a:ea typeface="Verdana" panose="020B0604030504040204" pitchFamily="34" charset="0"/>
              </a:rPr>
              <a:t>The Gains from Trade </a:t>
            </a:r>
            <a:r>
              <a:rPr lang="en-US" altLang="en-US" sz="2000" b="0" dirty="0">
                <a:ea typeface="Verdana" panose="020B0604030504040204" pitchFamily="34" charset="0"/>
              </a:rPr>
              <a:t>(4 of 4)</a:t>
            </a:r>
            <a:endParaRPr lang="en-IN" dirty="0"/>
          </a:p>
        </p:txBody>
      </p:sp>
      <p:sp>
        <p:nvSpPr>
          <p:cNvPr id="12" name="Content Placeholder 11">
            <a:extLst>
              <a:ext uri="{FF2B5EF4-FFF2-40B4-BE49-F238E27FC236}">
                <a16:creationId xmlns:a16="http://schemas.microsoft.com/office/drawing/2014/main" id="{0C4F25DC-0A45-4DD7-A248-FC5301473089}"/>
              </a:ext>
            </a:extLst>
          </p:cNvPr>
          <p:cNvSpPr>
            <a:spLocks noGrp="1"/>
          </p:cNvSpPr>
          <p:nvPr>
            <p:ph sz="quarter" idx="13"/>
          </p:nvPr>
        </p:nvSpPr>
        <p:spPr>
          <a:xfrm>
            <a:off x="457200" y="1556327"/>
            <a:ext cx="8229600" cy="3495176"/>
          </a:xfrm>
        </p:spPr>
        <p:txBody>
          <a:bodyPr/>
          <a:lstStyle/>
          <a:p>
            <a:r>
              <a:rPr lang="en-US" altLang="en-US" sz="2400" dirty="0">
                <a:ea typeface="Verdana" panose="020B0604030504040204" pitchFamily="34" charset="0"/>
                <a:cs typeface="Verdana" panose="020B0604030504040204" pitchFamily="34" charset="0"/>
              </a:rPr>
              <a:t>Trade is predicted to benefit </a:t>
            </a:r>
            <a:r>
              <a:rPr lang="en-US" altLang="en-US" sz="2400" b="1" dirty="0">
                <a:ea typeface="Verdana" panose="020B0604030504040204" pitchFamily="34" charset="0"/>
                <a:cs typeface="Verdana" panose="020B0604030504040204" pitchFamily="34" charset="0"/>
              </a:rPr>
              <a:t>countries as a whole</a:t>
            </a:r>
            <a:r>
              <a:rPr lang="en-US" altLang="en-US" sz="2400" dirty="0">
                <a:ea typeface="Verdana" panose="020B0604030504040204" pitchFamily="34" charset="0"/>
                <a:cs typeface="Verdana" panose="020B0604030504040204" pitchFamily="34" charset="0"/>
              </a:rPr>
              <a:t> in several ways, but trade may harm </a:t>
            </a:r>
            <a:r>
              <a:rPr lang="en-US" altLang="en-US" sz="2400" b="1" dirty="0">
                <a:ea typeface="Verdana" panose="020B0604030504040204" pitchFamily="34" charset="0"/>
                <a:cs typeface="Verdana" panose="020B0604030504040204" pitchFamily="34" charset="0"/>
              </a:rPr>
              <a:t>particular groups within a country</a:t>
            </a:r>
            <a:r>
              <a:rPr lang="en-US" altLang="en-US" sz="2400" dirty="0">
                <a:ea typeface="Verdana" panose="020B0604030504040204" pitchFamily="34" charset="0"/>
                <a:cs typeface="Verdana" panose="020B0604030504040204" pitchFamily="34" charset="0"/>
              </a:rPr>
              <a:t>.</a:t>
            </a:r>
          </a:p>
          <a:p>
            <a:pPr lvl="1"/>
            <a:r>
              <a:rPr lang="en-US" altLang="en-US" sz="2400" dirty="0">
                <a:ea typeface="Verdana" panose="020B0604030504040204" pitchFamily="34" charset="0"/>
                <a:cs typeface="Verdana" panose="020B0604030504040204" pitchFamily="34" charset="0"/>
              </a:rPr>
              <a:t>International trade can harm the owners of resources that are used relatively intensively in industries that compete with imports.</a:t>
            </a:r>
          </a:p>
          <a:p>
            <a:pPr lvl="1"/>
            <a:r>
              <a:rPr lang="en-US" altLang="en-US" sz="2400" dirty="0">
                <a:ea typeface="Verdana" panose="020B0604030504040204" pitchFamily="34" charset="0"/>
                <a:cs typeface="Verdana" panose="020B0604030504040204" pitchFamily="34" charset="0"/>
              </a:rPr>
              <a:t>Trade may therefore affect the distribution of income within a country.</a:t>
            </a:r>
            <a:endParaRPr lang="en-US" sz="2400" dirty="0"/>
          </a:p>
        </p:txBody>
      </p:sp>
    </p:spTree>
    <p:extLst>
      <p:ext uri="{BB962C8B-B14F-4D97-AF65-F5344CB8AC3E}">
        <p14:creationId xmlns:p14="http://schemas.microsoft.com/office/powerpoint/2010/main" val="3136929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E4F1A-F7F3-4C4F-8949-EC99B86A2F34}"/>
              </a:ext>
            </a:extLst>
          </p:cNvPr>
          <p:cNvSpPr>
            <a:spLocks noGrp="1"/>
          </p:cNvSpPr>
          <p:nvPr>
            <p:ph type="title"/>
          </p:nvPr>
        </p:nvSpPr>
        <p:spPr/>
        <p:txBody>
          <a:bodyPr/>
          <a:lstStyle/>
          <a:p>
            <a:r>
              <a:rPr lang="en-US" altLang="en-US" sz="3600" dirty="0"/>
              <a:t>The Pattern of Trade</a:t>
            </a:r>
            <a:endParaRPr lang="en-IN" dirty="0"/>
          </a:p>
        </p:txBody>
      </p:sp>
      <p:sp>
        <p:nvSpPr>
          <p:cNvPr id="3" name="Content Placeholder 2">
            <a:extLst>
              <a:ext uri="{FF2B5EF4-FFF2-40B4-BE49-F238E27FC236}">
                <a16:creationId xmlns:a16="http://schemas.microsoft.com/office/drawing/2014/main" id="{69D2C7F4-AD16-430C-9054-F34210D89E3F}"/>
              </a:ext>
            </a:extLst>
          </p:cNvPr>
          <p:cNvSpPr>
            <a:spLocks noGrp="1"/>
          </p:cNvSpPr>
          <p:nvPr>
            <p:ph sz="quarter" idx="13"/>
          </p:nvPr>
        </p:nvSpPr>
        <p:spPr>
          <a:xfrm>
            <a:off x="457200" y="1556327"/>
            <a:ext cx="8503920" cy="4586896"/>
          </a:xfrm>
        </p:spPr>
        <p:txBody>
          <a:bodyPr/>
          <a:lstStyle/>
          <a:p>
            <a:r>
              <a:rPr lang="en-US" altLang="en-US" dirty="0"/>
              <a:t>The pattern of trade describes who sells what to whom.</a:t>
            </a:r>
          </a:p>
          <a:p>
            <a:r>
              <a:rPr lang="en-US" altLang="en-US" dirty="0"/>
              <a:t>Differences in </a:t>
            </a:r>
            <a:r>
              <a:rPr lang="en-US" altLang="en-US" b="1" dirty="0"/>
              <a:t>climate and resources</a:t>
            </a:r>
            <a:r>
              <a:rPr lang="en-US" altLang="en-US" dirty="0"/>
              <a:t> explain why Brazil exports coffee, and Saudi Arabia exports oil.</a:t>
            </a:r>
          </a:p>
          <a:p>
            <a:r>
              <a:rPr lang="en-US" altLang="en-US" dirty="0"/>
              <a:t>But why does Japan export automobiles, while the U.S. exports aircraft?</a:t>
            </a:r>
          </a:p>
          <a:p>
            <a:r>
              <a:rPr lang="en-US" altLang="en-US" dirty="0"/>
              <a:t>Why some countries export certain products can stem from differences in:</a:t>
            </a:r>
          </a:p>
          <a:p>
            <a:pPr lvl="1"/>
            <a:r>
              <a:rPr lang="en-US" altLang="en-US" b="1" dirty="0"/>
              <a:t>Labor productivity</a:t>
            </a:r>
          </a:p>
          <a:p>
            <a:pPr lvl="1"/>
            <a:r>
              <a:rPr lang="en-US" altLang="en-US" b="1" dirty="0"/>
              <a:t>Relative supplies of capital, labor, and land</a:t>
            </a:r>
            <a:r>
              <a:rPr lang="en-US" altLang="en-US" dirty="0"/>
              <a:t> and their use in the production of different goods and services</a:t>
            </a:r>
            <a:endParaRPr lang="en-US" dirty="0"/>
          </a:p>
        </p:txBody>
      </p:sp>
    </p:spTree>
    <p:extLst>
      <p:ext uri="{BB962C8B-B14F-4D97-AF65-F5344CB8AC3E}">
        <p14:creationId xmlns:p14="http://schemas.microsoft.com/office/powerpoint/2010/main" val="2577713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415BF-F79D-48A1-9EB9-58C8C2C16E3B}"/>
              </a:ext>
            </a:extLst>
          </p:cNvPr>
          <p:cNvSpPr>
            <a:spLocks noGrp="1"/>
          </p:cNvSpPr>
          <p:nvPr>
            <p:ph type="title"/>
          </p:nvPr>
        </p:nvSpPr>
        <p:spPr>
          <a:xfrm>
            <a:off x="457200" y="215371"/>
            <a:ext cx="7872761" cy="1097279"/>
          </a:xfrm>
        </p:spPr>
        <p:txBody>
          <a:bodyPr/>
          <a:lstStyle/>
          <a:p>
            <a:r>
              <a:rPr lang="en-US" altLang="en-US" sz="3200" dirty="0"/>
              <a:t>Effects of Government Policies on Trade </a:t>
            </a:r>
            <a:r>
              <a:rPr lang="en-US" altLang="en-US" sz="2000" b="0" dirty="0"/>
              <a:t>(1 of 2)</a:t>
            </a:r>
            <a:endParaRPr lang="en-IN" dirty="0"/>
          </a:p>
        </p:txBody>
      </p:sp>
      <p:sp>
        <p:nvSpPr>
          <p:cNvPr id="3" name="Content Placeholder 2">
            <a:extLst>
              <a:ext uri="{FF2B5EF4-FFF2-40B4-BE49-F238E27FC236}">
                <a16:creationId xmlns:a16="http://schemas.microsoft.com/office/drawing/2014/main" id="{99705B6F-4F26-4187-9B1B-87F4A19CECBE}"/>
              </a:ext>
            </a:extLst>
          </p:cNvPr>
          <p:cNvSpPr>
            <a:spLocks noGrp="1"/>
          </p:cNvSpPr>
          <p:nvPr>
            <p:ph sz="quarter" idx="13"/>
          </p:nvPr>
        </p:nvSpPr>
        <p:spPr/>
        <p:txBody>
          <a:bodyPr/>
          <a:lstStyle/>
          <a:p>
            <a:r>
              <a:rPr lang="en-US" altLang="en-US" sz="2400" dirty="0"/>
              <a:t>Policy makers affect the amount of trade through</a:t>
            </a:r>
          </a:p>
          <a:p>
            <a:pPr lvl="1"/>
            <a:r>
              <a:rPr lang="en-US" altLang="en-US" sz="2400" b="1" dirty="0"/>
              <a:t>Tariffs:</a:t>
            </a:r>
            <a:r>
              <a:rPr lang="en-US" altLang="en-US" sz="2400" dirty="0"/>
              <a:t> a tax on imports or exports,</a:t>
            </a:r>
          </a:p>
          <a:p>
            <a:pPr lvl="1"/>
            <a:r>
              <a:rPr lang="en-US" altLang="en-US" sz="2400" b="1" dirty="0"/>
              <a:t>Quotas:</a:t>
            </a:r>
            <a:r>
              <a:rPr lang="en-US" altLang="en-US" sz="2400" dirty="0"/>
              <a:t> a quantity restriction on imports or exports,</a:t>
            </a:r>
          </a:p>
          <a:p>
            <a:pPr lvl="1"/>
            <a:r>
              <a:rPr lang="en-US" altLang="en-US" sz="2400" b="1" dirty="0"/>
              <a:t>Export subsidies:</a:t>
            </a:r>
            <a:r>
              <a:rPr lang="en-US" altLang="en-US" sz="2400" dirty="0"/>
              <a:t> a payment to producers that export, or</a:t>
            </a:r>
          </a:p>
          <a:p>
            <a:pPr lvl="1"/>
            <a:r>
              <a:rPr lang="en-US" altLang="en-US" sz="2400" dirty="0"/>
              <a:t>Through other regulations (e.g., product specifications) </a:t>
            </a:r>
            <a:br>
              <a:rPr lang="en-US" altLang="en-US" sz="2400" dirty="0"/>
            </a:br>
            <a:r>
              <a:rPr lang="en-US" altLang="en-US" sz="2400" dirty="0"/>
              <a:t>that exclude foreign products from the market, but still allow domestic products.</a:t>
            </a:r>
          </a:p>
          <a:p>
            <a:r>
              <a:rPr lang="en-US" altLang="en-US" sz="2400" dirty="0"/>
              <a:t>What are the costs and benefits of these policies?</a:t>
            </a:r>
            <a:endParaRPr lang="en-US" sz="2400" dirty="0"/>
          </a:p>
        </p:txBody>
      </p:sp>
    </p:spTree>
    <p:extLst>
      <p:ext uri="{BB962C8B-B14F-4D97-AF65-F5344CB8AC3E}">
        <p14:creationId xmlns:p14="http://schemas.microsoft.com/office/powerpoint/2010/main" val="1176472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415BF-F79D-48A1-9EB9-58C8C2C16E3B}"/>
              </a:ext>
            </a:extLst>
          </p:cNvPr>
          <p:cNvSpPr>
            <a:spLocks noGrp="1"/>
          </p:cNvSpPr>
          <p:nvPr>
            <p:ph type="title"/>
          </p:nvPr>
        </p:nvSpPr>
        <p:spPr>
          <a:xfrm>
            <a:off x="457200" y="215371"/>
            <a:ext cx="7872761" cy="1097279"/>
          </a:xfrm>
        </p:spPr>
        <p:txBody>
          <a:bodyPr/>
          <a:lstStyle/>
          <a:p>
            <a:r>
              <a:rPr lang="en-US" altLang="en-US" sz="3200" dirty="0"/>
              <a:t>Effects of Government Policies on Trade </a:t>
            </a:r>
            <a:r>
              <a:rPr lang="en-US" altLang="en-US" sz="2000" b="0" dirty="0"/>
              <a:t>(2 of 2)</a:t>
            </a:r>
            <a:endParaRPr lang="en-IN" dirty="0"/>
          </a:p>
        </p:txBody>
      </p:sp>
      <p:sp>
        <p:nvSpPr>
          <p:cNvPr id="3" name="Content Placeholder 2">
            <a:extLst>
              <a:ext uri="{FF2B5EF4-FFF2-40B4-BE49-F238E27FC236}">
                <a16:creationId xmlns:a16="http://schemas.microsoft.com/office/drawing/2014/main" id="{99705B6F-4F26-4187-9B1B-87F4A19CECBE}"/>
              </a:ext>
            </a:extLst>
          </p:cNvPr>
          <p:cNvSpPr>
            <a:spLocks noGrp="1"/>
          </p:cNvSpPr>
          <p:nvPr>
            <p:ph sz="quarter" idx="13"/>
          </p:nvPr>
        </p:nvSpPr>
        <p:spPr/>
        <p:txBody>
          <a:bodyPr/>
          <a:lstStyle/>
          <a:p>
            <a:r>
              <a:rPr lang="en-US" altLang="en-US" sz="2400" dirty="0"/>
              <a:t>If a government restricts trade, what are the costs if foreign governments respond likewise?</a:t>
            </a:r>
          </a:p>
          <a:p>
            <a:r>
              <a:rPr lang="en-US" altLang="en-US" sz="2400" dirty="0"/>
              <a:t>Trade policies are often chosen to cater to special interest groups, rather than to maximize national welfare.</a:t>
            </a:r>
          </a:p>
          <a:p>
            <a:r>
              <a:rPr lang="en-US" altLang="en-US" sz="2400" dirty="0"/>
              <a:t>Governments tend to adopt tariffs, then negotiate them down in exchange for reduction in trade barriers of other countries.</a:t>
            </a:r>
            <a:endParaRPr lang="en-US" sz="2400" dirty="0"/>
          </a:p>
        </p:txBody>
      </p:sp>
    </p:spTree>
    <p:extLst>
      <p:ext uri="{BB962C8B-B14F-4D97-AF65-F5344CB8AC3E}">
        <p14:creationId xmlns:p14="http://schemas.microsoft.com/office/powerpoint/2010/main" val="1515470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4EE31-9B45-4BA8-B2DF-80496BFDFAED}"/>
              </a:ext>
            </a:extLst>
          </p:cNvPr>
          <p:cNvSpPr>
            <a:spLocks noGrp="1"/>
          </p:cNvSpPr>
          <p:nvPr>
            <p:ph type="title"/>
          </p:nvPr>
        </p:nvSpPr>
        <p:spPr/>
        <p:txBody>
          <a:bodyPr/>
          <a:lstStyle/>
          <a:p>
            <a:r>
              <a:rPr lang="en-US" altLang="en-US" sz="3600" dirty="0"/>
              <a:t>International Finance Topics</a:t>
            </a:r>
            <a:endParaRPr lang="en-IN" dirty="0"/>
          </a:p>
        </p:txBody>
      </p:sp>
      <p:sp>
        <p:nvSpPr>
          <p:cNvPr id="3" name="Content Placeholder 2">
            <a:extLst>
              <a:ext uri="{FF2B5EF4-FFF2-40B4-BE49-F238E27FC236}">
                <a16:creationId xmlns:a16="http://schemas.microsoft.com/office/drawing/2014/main" id="{3D9BCC81-510D-4395-818D-3F054875AB2C}"/>
              </a:ext>
            </a:extLst>
          </p:cNvPr>
          <p:cNvSpPr>
            <a:spLocks noGrp="1"/>
          </p:cNvSpPr>
          <p:nvPr>
            <p:ph sz="quarter" idx="13"/>
          </p:nvPr>
        </p:nvSpPr>
        <p:spPr/>
        <p:txBody>
          <a:bodyPr/>
          <a:lstStyle/>
          <a:p>
            <a:r>
              <a:rPr lang="en-US" altLang="en-US" sz="2400" dirty="0"/>
              <a:t>Exchanging risky assets such as stocks and bonds can benefit all countries by diversification that reduces the variability of income</a:t>
            </a:r>
            <a:r>
              <a:rPr lang="en-US" altLang="en-US" sz="2400" dirty="0">
                <a:latin typeface="Times New Roman" panose="02020603050405020304" pitchFamily="18" charset="0"/>
                <a:cs typeface="Times New Roman" panose="02020603050405020304" pitchFamily="18" charset="0"/>
              </a:rPr>
              <a:t>—</a:t>
            </a:r>
            <a:r>
              <a:rPr lang="en-US" altLang="en-US" sz="2400" dirty="0"/>
              <a:t>another source of gains from trade.</a:t>
            </a:r>
          </a:p>
          <a:p>
            <a:r>
              <a:rPr lang="en-US" altLang="en-US" sz="2400" dirty="0"/>
              <a:t>Most international trade involves monetary transactions.</a:t>
            </a:r>
          </a:p>
          <a:p>
            <a:r>
              <a:rPr lang="en-US" altLang="en-US" sz="2400" dirty="0"/>
              <a:t>Many monetary events have important consequences for international trade.</a:t>
            </a:r>
            <a:endParaRPr lang="en-US" sz="2400" dirty="0"/>
          </a:p>
        </p:txBody>
      </p:sp>
    </p:spTree>
    <p:extLst>
      <p:ext uri="{BB962C8B-B14F-4D97-AF65-F5344CB8AC3E}">
        <p14:creationId xmlns:p14="http://schemas.microsoft.com/office/powerpoint/2010/main" val="25635572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CE195-DCCB-4296-8822-0BE0697117EC}"/>
              </a:ext>
            </a:extLst>
          </p:cNvPr>
          <p:cNvSpPr>
            <a:spLocks noGrp="1"/>
          </p:cNvSpPr>
          <p:nvPr>
            <p:ph type="title"/>
          </p:nvPr>
        </p:nvSpPr>
        <p:spPr/>
        <p:txBody>
          <a:bodyPr/>
          <a:lstStyle/>
          <a:p>
            <a:r>
              <a:rPr lang="en-US" altLang="en-US" sz="3600" dirty="0" smtClean="0"/>
              <a:t>Balance of Payments</a:t>
            </a:r>
            <a:endParaRPr lang="en-US" dirty="0"/>
          </a:p>
        </p:txBody>
      </p:sp>
      <p:sp>
        <p:nvSpPr>
          <p:cNvPr id="3" name="Content Placeholder 2">
            <a:extLst>
              <a:ext uri="{FF2B5EF4-FFF2-40B4-BE49-F238E27FC236}">
                <a16:creationId xmlns:a16="http://schemas.microsoft.com/office/drawing/2014/main" id="{ECA1F1E5-1E91-4EEC-BE03-76FC43EDC2A1}"/>
              </a:ext>
            </a:extLst>
          </p:cNvPr>
          <p:cNvSpPr>
            <a:spLocks noGrp="1"/>
          </p:cNvSpPr>
          <p:nvPr>
            <p:ph sz="quarter" idx="13"/>
          </p:nvPr>
        </p:nvSpPr>
        <p:spPr>
          <a:xfrm>
            <a:off x="457200" y="1556326"/>
            <a:ext cx="8229600" cy="4788911"/>
          </a:xfrm>
        </p:spPr>
        <p:txBody>
          <a:bodyPr/>
          <a:lstStyle/>
          <a:p>
            <a:r>
              <a:rPr lang="en-US" altLang="en-US" sz="2400" dirty="0" smtClean="0"/>
              <a:t>Governments measure the value of exports and imports, as well as the value of financial assets that flow into and out of their countries.</a:t>
            </a:r>
          </a:p>
          <a:p>
            <a:pPr lvl="1"/>
            <a:r>
              <a:rPr lang="en-US" altLang="en-US" sz="2400" dirty="0" smtClean="0"/>
              <a:t>Trade deficits, where countries import more than they export in value, may be offset by net inflows of financial assets.</a:t>
            </a:r>
          </a:p>
          <a:p>
            <a:r>
              <a:rPr lang="en-US" altLang="en-US" sz="2400" dirty="0" smtClean="0"/>
              <a:t>The </a:t>
            </a:r>
            <a:r>
              <a:rPr lang="en-US" altLang="en-US" sz="2400" b="1" dirty="0" smtClean="0"/>
              <a:t>official settlements balance</a:t>
            </a:r>
            <a:r>
              <a:rPr lang="en-US" altLang="en-US" sz="2400" dirty="0" smtClean="0"/>
              <a:t>, or the balance of payments, measures the balance of funds that central banks use for official international payments.</a:t>
            </a:r>
          </a:p>
          <a:p>
            <a:r>
              <a:rPr lang="en-US" altLang="en-US" sz="2400" dirty="0" smtClean="0"/>
              <a:t>All three values are measured in the government</a:t>
            </a:r>
            <a:r>
              <a:rPr lang="en-US" altLang="ja-JP" sz="2400" dirty="0" smtClean="0"/>
              <a:t>’s </a:t>
            </a:r>
            <a:r>
              <a:rPr lang="en-US" altLang="ja-JP" sz="2400" b="1" dirty="0" smtClean="0"/>
              <a:t>national income accounts</a:t>
            </a:r>
            <a:r>
              <a:rPr lang="en-US" altLang="ja-JP" sz="2400" dirty="0" smtClean="0"/>
              <a:t>.</a:t>
            </a:r>
            <a:endParaRPr lang="en-US" sz="2400" dirty="0"/>
          </a:p>
        </p:txBody>
      </p:sp>
    </p:spTree>
    <p:extLst>
      <p:ext uri="{BB962C8B-B14F-4D97-AF65-F5344CB8AC3E}">
        <p14:creationId xmlns:p14="http://schemas.microsoft.com/office/powerpoint/2010/main" val="1255668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5735A-BCFF-4610-907D-71EB6AEB05B8}"/>
              </a:ext>
            </a:extLst>
          </p:cNvPr>
          <p:cNvSpPr>
            <a:spLocks noGrp="1"/>
          </p:cNvSpPr>
          <p:nvPr>
            <p:ph type="title"/>
          </p:nvPr>
        </p:nvSpPr>
        <p:spPr/>
        <p:txBody>
          <a:bodyPr/>
          <a:lstStyle/>
          <a:p>
            <a:r>
              <a:rPr lang="en-US" altLang="en-US" sz="3600" dirty="0"/>
              <a:t>Exchange Rate Determination</a:t>
            </a:r>
            <a:endParaRPr lang="en-IN" dirty="0"/>
          </a:p>
        </p:txBody>
      </p:sp>
      <p:sp>
        <p:nvSpPr>
          <p:cNvPr id="3" name="Content Placeholder 2">
            <a:extLst>
              <a:ext uri="{FF2B5EF4-FFF2-40B4-BE49-F238E27FC236}">
                <a16:creationId xmlns:a16="http://schemas.microsoft.com/office/drawing/2014/main" id="{830DB1AE-9C4F-498F-A376-555122D87C9A}"/>
              </a:ext>
            </a:extLst>
          </p:cNvPr>
          <p:cNvSpPr>
            <a:spLocks noGrp="1"/>
          </p:cNvSpPr>
          <p:nvPr>
            <p:ph sz="quarter" idx="13"/>
          </p:nvPr>
        </p:nvSpPr>
        <p:spPr>
          <a:xfrm>
            <a:off x="457200" y="1556326"/>
            <a:ext cx="8229600" cy="4788911"/>
          </a:xfrm>
        </p:spPr>
        <p:txBody>
          <a:bodyPr/>
          <a:lstStyle/>
          <a:p>
            <a:r>
              <a:rPr lang="en-US" altLang="en-US" sz="2400" b="1" dirty="0"/>
              <a:t>Exchange rates</a:t>
            </a:r>
            <a:r>
              <a:rPr lang="en-US" altLang="en-US" sz="2400" dirty="0"/>
              <a:t> are an important financial issue for most governments.</a:t>
            </a:r>
          </a:p>
          <a:p>
            <a:r>
              <a:rPr lang="en-US" altLang="en-US" sz="2400" dirty="0"/>
              <a:t>Exchange rates measure how much domestic currency can be exchanged for foreign currency and thus affect how much:</a:t>
            </a:r>
          </a:p>
          <a:p>
            <a:pPr lvl="1"/>
            <a:r>
              <a:rPr lang="en-US" altLang="en-US" dirty="0"/>
              <a:t>Goods denominated in foreign currency (imports) cost in the domestic country.</a:t>
            </a:r>
          </a:p>
          <a:p>
            <a:pPr lvl="1"/>
            <a:r>
              <a:rPr lang="en-US" altLang="en-US" sz="2400" dirty="0"/>
              <a:t>Goods denominated in domestic currency (exports) cost in foreign markets.</a:t>
            </a:r>
          </a:p>
          <a:p>
            <a:r>
              <a:rPr lang="en-US" altLang="en-US" sz="2400" dirty="0"/>
              <a:t>Some exchange rates change continually (float) while others are fixed for periods of time.</a:t>
            </a:r>
            <a:endParaRPr lang="en-US" sz="2400" b="1" dirty="0"/>
          </a:p>
        </p:txBody>
      </p:sp>
    </p:spTree>
    <p:extLst>
      <p:ext uri="{BB962C8B-B14F-4D97-AF65-F5344CB8AC3E}">
        <p14:creationId xmlns:p14="http://schemas.microsoft.com/office/powerpoint/2010/main" val="34109286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7FA83-87DA-47E2-9578-F32F5133898A}"/>
              </a:ext>
            </a:extLst>
          </p:cNvPr>
          <p:cNvSpPr>
            <a:spLocks noGrp="1"/>
          </p:cNvSpPr>
          <p:nvPr>
            <p:ph type="title"/>
          </p:nvPr>
        </p:nvSpPr>
        <p:spPr/>
        <p:txBody>
          <a:bodyPr/>
          <a:lstStyle/>
          <a:p>
            <a:r>
              <a:rPr lang="en-US" altLang="en-US" sz="3600" dirty="0" smtClean="0"/>
              <a:t>International Policy Coordination</a:t>
            </a:r>
            <a:endParaRPr lang="en-US" dirty="0"/>
          </a:p>
        </p:txBody>
      </p:sp>
      <p:sp>
        <p:nvSpPr>
          <p:cNvPr id="3" name="Content Placeholder 2">
            <a:extLst>
              <a:ext uri="{FF2B5EF4-FFF2-40B4-BE49-F238E27FC236}">
                <a16:creationId xmlns:a16="http://schemas.microsoft.com/office/drawing/2014/main" id="{7009A9F1-AD08-41DC-9D8D-B3A1C185C3A7}"/>
              </a:ext>
            </a:extLst>
          </p:cNvPr>
          <p:cNvSpPr>
            <a:spLocks noGrp="1"/>
          </p:cNvSpPr>
          <p:nvPr>
            <p:ph sz="quarter" idx="13"/>
          </p:nvPr>
        </p:nvSpPr>
        <p:spPr/>
        <p:txBody>
          <a:bodyPr/>
          <a:lstStyle/>
          <a:p>
            <a:r>
              <a:rPr lang="en-US" altLang="en-US" sz="2400" dirty="0" smtClean="0"/>
              <a:t>In an integrated economy, one country</a:t>
            </a:r>
            <a:r>
              <a:rPr lang="en-US" altLang="en-US" dirty="0" smtClean="0"/>
              <a:t>’</a:t>
            </a:r>
            <a:r>
              <a:rPr lang="en-US" altLang="ja-JP" sz="2400" dirty="0" smtClean="0"/>
              <a:t>s economic policies usually affect other countries as well, leading to the need for some degree of policy coordination.</a:t>
            </a:r>
          </a:p>
          <a:p>
            <a:pPr lvl="1"/>
            <a:r>
              <a:rPr lang="en-US" altLang="en-US" sz="2400" dirty="0" smtClean="0"/>
              <a:t>Depends on type of exchange rate regime.</a:t>
            </a:r>
          </a:p>
          <a:p>
            <a:r>
              <a:rPr lang="en-US" altLang="en-US" sz="2400" dirty="0" smtClean="0"/>
              <a:t>Capital markets, where money is exchanged for promises to pay in the future, have special concerns in an international setting:</a:t>
            </a:r>
          </a:p>
          <a:p>
            <a:pPr lvl="1"/>
            <a:r>
              <a:rPr lang="en-US" altLang="en-US" sz="2400" dirty="0" smtClean="0"/>
              <a:t>Currency fluctuations can alter the value paid.</a:t>
            </a:r>
          </a:p>
          <a:p>
            <a:pPr lvl="1"/>
            <a:r>
              <a:rPr lang="en-US" altLang="en-US" sz="2400" dirty="0" smtClean="0"/>
              <a:t>Countries, especially developing ones, might default on debt.</a:t>
            </a:r>
            <a:endParaRPr lang="en-US" sz="2400" b="1" dirty="0"/>
          </a:p>
        </p:txBody>
      </p:sp>
    </p:spTree>
    <p:extLst>
      <p:ext uri="{BB962C8B-B14F-4D97-AF65-F5344CB8AC3E}">
        <p14:creationId xmlns:p14="http://schemas.microsoft.com/office/powerpoint/2010/main" val="14933958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5E58A-95B8-4792-9218-9AFA926FAD8C}"/>
              </a:ext>
            </a:extLst>
          </p:cNvPr>
          <p:cNvSpPr>
            <a:spLocks noGrp="1"/>
          </p:cNvSpPr>
          <p:nvPr>
            <p:ph type="title"/>
          </p:nvPr>
        </p:nvSpPr>
        <p:spPr/>
        <p:txBody>
          <a:bodyPr/>
          <a:lstStyle/>
          <a:p>
            <a:r>
              <a:rPr lang="en-US" altLang="en-US" sz="3600" dirty="0"/>
              <a:t>The International Capital Market</a:t>
            </a:r>
            <a:endParaRPr lang="en-IN" dirty="0"/>
          </a:p>
        </p:txBody>
      </p:sp>
      <p:sp>
        <p:nvSpPr>
          <p:cNvPr id="3" name="Content Placeholder 2">
            <a:extLst>
              <a:ext uri="{FF2B5EF4-FFF2-40B4-BE49-F238E27FC236}">
                <a16:creationId xmlns:a16="http://schemas.microsoft.com/office/drawing/2014/main" id="{48B9A342-1264-449C-A4E9-611375C12C04}"/>
              </a:ext>
            </a:extLst>
          </p:cNvPr>
          <p:cNvSpPr>
            <a:spLocks noGrp="1"/>
          </p:cNvSpPr>
          <p:nvPr>
            <p:ph sz="quarter" idx="13"/>
          </p:nvPr>
        </p:nvSpPr>
        <p:spPr/>
        <p:txBody>
          <a:bodyPr/>
          <a:lstStyle/>
          <a:p>
            <a:r>
              <a:rPr lang="en-US" altLang="en-US" sz="2400" dirty="0"/>
              <a:t>Capital markets are arrangements by which individuals and firms exchange money now for promises to pay in the future.</a:t>
            </a:r>
          </a:p>
          <a:p>
            <a:r>
              <a:rPr lang="en-US" altLang="en-US" sz="2400" dirty="0"/>
              <a:t>International capital markets cope with special regulations that countries impose on foreign investments.</a:t>
            </a:r>
          </a:p>
          <a:p>
            <a:pPr lvl="1"/>
            <a:r>
              <a:rPr lang="en-US" altLang="en-US" sz="2400" dirty="0"/>
              <a:t>Special risks of currency fluctuations and national default and</a:t>
            </a:r>
          </a:p>
          <a:p>
            <a:pPr lvl="1"/>
            <a:r>
              <a:rPr lang="en-US" altLang="en-US" sz="2400" dirty="0"/>
              <a:t>Sometimes offer opportunities to evade regulations placed on domestic markets.</a:t>
            </a:r>
            <a:endParaRPr lang="en-US" sz="2400" b="1" dirty="0"/>
          </a:p>
        </p:txBody>
      </p:sp>
    </p:spTree>
    <p:extLst>
      <p:ext uri="{BB962C8B-B14F-4D97-AF65-F5344CB8AC3E}">
        <p14:creationId xmlns:p14="http://schemas.microsoft.com/office/powerpoint/2010/main" val="16871090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D6D46F18-1F29-421D-A1CA-F49C54A941B7}"/>
              </a:ext>
            </a:extLst>
          </p:cNvPr>
          <p:cNvSpPr>
            <a:spLocks noGrp="1"/>
          </p:cNvSpPr>
          <p:nvPr>
            <p:ph type="title"/>
          </p:nvPr>
        </p:nvSpPr>
        <p:spPr/>
        <p:txBody>
          <a:bodyPr/>
          <a:lstStyle/>
          <a:p>
            <a:r>
              <a:rPr lang="en-US" altLang="en-US" sz="3600" dirty="0"/>
              <a:t>International Trade Versus Finance</a:t>
            </a:r>
            <a:endParaRPr lang="en-IN" dirty="0"/>
          </a:p>
        </p:txBody>
      </p:sp>
      <p:sp>
        <p:nvSpPr>
          <p:cNvPr id="10" name="Content Placeholder 9">
            <a:extLst>
              <a:ext uri="{FF2B5EF4-FFF2-40B4-BE49-F238E27FC236}">
                <a16:creationId xmlns:a16="http://schemas.microsoft.com/office/drawing/2014/main" id="{3CBC1800-A94F-4DB3-8290-0169AF8BADF6}"/>
              </a:ext>
            </a:extLst>
          </p:cNvPr>
          <p:cNvSpPr>
            <a:spLocks noGrp="1"/>
          </p:cNvSpPr>
          <p:nvPr>
            <p:ph sz="quarter" idx="13"/>
          </p:nvPr>
        </p:nvSpPr>
        <p:spPr>
          <a:xfrm>
            <a:off x="457200" y="1556327"/>
            <a:ext cx="7606145" cy="4586896"/>
          </a:xfrm>
        </p:spPr>
        <p:txBody>
          <a:bodyPr/>
          <a:lstStyle/>
          <a:p>
            <a:r>
              <a:rPr lang="en-US" altLang="en-US" sz="2400" dirty="0" smtClean="0"/>
              <a:t>International trade focuses on transactions involving movement of goods and services across nations.</a:t>
            </a:r>
          </a:p>
          <a:p>
            <a:pPr lvl="1"/>
            <a:r>
              <a:rPr lang="en-US" altLang="en-US" sz="2400" dirty="0" smtClean="0"/>
              <a:t>International trade theory (Econ/Trade Chapters 2–8) and policy (Econ/Trade Chapters 9–12).</a:t>
            </a:r>
          </a:p>
          <a:p>
            <a:r>
              <a:rPr lang="en-US" altLang="en-US" sz="2400" dirty="0" smtClean="0"/>
              <a:t>International </a:t>
            </a:r>
            <a:r>
              <a:rPr lang="en-US" altLang="en-US" sz="2400" dirty="0"/>
              <a:t>finance focuses on financial or monetary transactions across nations.</a:t>
            </a:r>
          </a:p>
          <a:p>
            <a:pPr lvl="1"/>
            <a:r>
              <a:rPr lang="en-US" altLang="en-US" sz="2400" dirty="0"/>
              <a:t>International monetary theory (Econ Chapters 13–18/Finance Chapters 2</a:t>
            </a:r>
            <a:r>
              <a:rPr lang="en-US" altLang="en-US" sz="2400" dirty="0">
                <a:cs typeface="Times New Roman" panose="02020603050405020304" pitchFamily="18" charset="0"/>
              </a:rPr>
              <a:t>–</a:t>
            </a:r>
            <a:r>
              <a:rPr lang="en-US" altLang="en-US" sz="2400" dirty="0"/>
              <a:t>7) and policy (Econ Chapters 19–22/Finance Chapters 8</a:t>
            </a:r>
            <a:r>
              <a:rPr lang="en-US" altLang="en-US" sz="2400" dirty="0">
                <a:cs typeface="Times New Roman" panose="02020603050405020304" pitchFamily="18" charset="0"/>
              </a:rPr>
              <a:t>–</a:t>
            </a:r>
            <a:r>
              <a:rPr lang="en-US" altLang="en-US" sz="2400" dirty="0"/>
              <a:t>11).</a:t>
            </a:r>
            <a:endParaRPr lang="en-US" sz="2400" b="1" dirty="0"/>
          </a:p>
        </p:txBody>
      </p:sp>
    </p:spTree>
    <p:extLst>
      <p:ext uri="{BB962C8B-B14F-4D97-AF65-F5344CB8AC3E}">
        <p14:creationId xmlns:p14="http://schemas.microsoft.com/office/powerpoint/2010/main" val="1678024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147661</TotalTime>
  <Words>1719</Words>
  <Application>Microsoft Office PowerPoint</Application>
  <PresentationFormat>On-screen Show (4:3)</PresentationFormat>
  <Paragraphs>116</Paragraphs>
  <Slides>22</Slides>
  <Notes>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22</vt:i4>
      </vt:variant>
    </vt:vector>
  </HeadingPairs>
  <TitlesOfParts>
    <vt:vector size="28" baseType="lpstr">
      <vt:lpstr>Times New Roman</vt:lpstr>
      <vt:lpstr>Arial</vt:lpstr>
      <vt:lpstr>Noto Sans Symbols</vt:lpstr>
      <vt:lpstr>Verdana</vt:lpstr>
      <vt:lpstr>USHE</vt:lpstr>
      <vt:lpstr>USHE_slide options</vt:lpstr>
      <vt:lpstr>International Economics: Theory and Policy</vt:lpstr>
      <vt:lpstr>Learning Objectives</vt:lpstr>
      <vt:lpstr>Preview</vt:lpstr>
      <vt:lpstr>What Is International Economics About? (1 of 3)</vt:lpstr>
      <vt:lpstr>What Is International Economics About? (2 of 3)</vt:lpstr>
      <vt:lpstr>Figure 1.1 Exports and Imports as a Percentage of U.S. National Income</vt:lpstr>
      <vt:lpstr>What Is International Economics About? (3 of 3)</vt:lpstr>
      <vt:lpstr>Figure 1.2 Average of Exports and Imports as Percentages of National Income in 2018</vt:lpstr>
      <vt:lpstr>The Gains from Trade (1 of 4)</vt:lpstr>
      <vt:lpstr>The Gains from Trade (2 of 4)</vt:lpstr>
      <vt:lpstr>The Gains from Trade (3 of 4)</vt:lpstr>
      <vt:lpstr>The Gains from Trade (4 of 4)</vt:lpstr>
      <vt:lpstr>The Pattern of Trade</vt:lpstr>
      <vt:lpstr>Effects of Government Policies on Trade (1 of 2)</vt:lpstr>
      <vt:lpstr>Effects of Government Policies on Trade (2 of 2)</vt:lpstr>
      <vt:lpstr>International Finance Topics</vt:lpstr>
      <vt:lpstr>Balance of Payments</vt:lpstr>
      <vt:lpstr>Exchange Rate Determination</vt:lpstr>
      <vt:lpstr>International Policy Coordination</vt:lpstr>
      <vt:lpstr>The International Capital Market</vt:lpstr>
      <vt:lpstr>International Trade Versus Finance</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1, Introduction</dc:title>
  <dc:subject>Business</dc:subject>
  <dc:creator>Krugman/Obstfeld/Melitz</dc:creator>
  <cp:keywords>International Economics</cp:keywords>
  <dc:description>Long description alt-text is inserted in the notes pane; This presentation contains the hyperlinks.</dc:description>
  <cp:lastModifiedBy>admin</cp:lastModifiedBy>
  <cp:revision>935</cp:revision>
  <dcterms:modified xsi:type="dcterms:W3CDTF">2021-10-22T14:23:53Z</dcterms:modified>
</cp:coreProperties>
</file>