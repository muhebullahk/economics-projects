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4"/>
  </p:notesMasterIdLst>
  <p:handoutMasterIdLst>
    <p:handoutMasterId r:id="rId65"/>
  </p:handoutMasterIdLst>
  <p:sldIdLst>
    <p:sldId id="330" r:id="rId3"/>
    <p:sldId id="331" r:id="rId4"/>
    <p:sldId id="334" r:id="rId5"/>
    <p:sldId id="333" r:id="rId6"/>
    <p:sldId id="332" r:id="rId7"/>
    <p:sldId id="335" r:id="rId8"/>
    <p:sldId id="336" r:id="rId9"/>
    <p:sldId id="337" r:id="rId10"/>
    <p:sldId id="338" r:id="rId11"/>
    <p:sldId id="339" r:id="rId12"/>
    <p:sldId id="340" r:id="rId13"/>
    <p:sldId id="344" r:id="rId14"/>
    <p:sldId id="342" r:id="rId15"/>
    <p:sldId id="343" r:id="rId16"/>
    <p:sldId id="345" r:id="rId17"/>
    <p:sldId id="346" r:id="rId18"/>
    <p:sldId id="347" r:id="rId19"/>
    <p:sldId id="348" r:id="rId20"/>
    <p:sldId id="349" r:id="rId21"/>
    <p:sldId id="350" r:id="rId22"/>
    <p:sldId id="351" r:id="rId23"/>
    <p:sldId id="352" r:id="rId24"/>
    <p:sldId id="353" r:id="rId25"/>
    <p:sldId id="354" r:id="rId26"/>
    <p:sldId id="355" r:id="rId27"/>
    <p:sldId id="356" r:id="rId28"/>
    <p:sldId id="357" r:id="rId29"/>
    <p:sldId id="358" r:id="rId30"/>
    <p:sldId id="359" r:id="rId31"/>
    <p:sldId id="360" r:id="rId32"/>
    <p:sldId id="361" r:id="rId33"/>
    <p:sldId id="362" r:id="rId34"/>
    <p:sldId id="363" r:id="rId35"/>
    <p:sldId id="364" r:id="rId36"/>
    <p:sldId id="365" r:id="rId37"/>
    <p:sldId id="366" r:id="rId38"/>
    <p:sldId id="367" r:id="rId39"/>
    <p:sldId id="368" r:id="rId40"/>
    <p:sldId id="369" r:id="rId41"/>
    <p:sldId id="370" r:id="rId42"/>
    <p:sldId id="371" r:id="rId43"/>
    <p:sldId id="372" r:id="rId44"/>
    <p:sldId id="373" r:id="rId45"/>
    <p:sldId id="374" r:id="rId46"/>
    <p:sldId id="375" r:id="rId47"/>
    <p:sldId id="376" r:id="rId48"/>
    <p:sldId id="377" r:id="rId49"/>
    <p:sldId id="378" r:id="rId50"/>
    <p:sldId id="379" r:id="rId51"/>
    <p:sldId id="380" r:id="rId52"/>
    <p:sldId id="381" r:id="rId53"/>
    <p:sldId id="382" r:id="rId54"/>
    <p:sldId id="383" r:id="rId55"/>
    <p:sldId id="384" r:id="rId56"/>
    <p:sldId id="385" r:id="rId57"/>
    <p:sldId id="386" r:id="rId58"/>
    <p:sldId id="387" r:id="rId59"/>
    <p:sldId id="388" r:id="rId60"/>
    <p:sldId id="389" r:id="rId61"/>
    <p:sldId id="390" r:id="rId62"/>
    <p:sldId id="298" r:id="rId63"/>
  </p:sldIdLst>
  <p:sldSz cx="9144000" cy="6858000" type="screen4x3"/>
  <p:notesSz cx="6858000" cy="9144000"/>
  <p:embeddedFontLst>
    <p:embeddedFont>
      <p:font typeface="Calibri" panose="020F0502020204030204" pitchFamily="34" charset="0"/>
      <p:regular r:id="rId66"/>
      <p:bold r:id="rId67"/>
      <p:italic r:id="rId68"/>
      <p:boldItalic r:id="rId69"/>
    </p:embeddedFont>
    <p:embeddedFont>
      <p:font typeface="Verdana" panose="020B0604030504040204" pitchFamily="34" charset="0"/>
      <p:regular r:id="rId70"/>
      <p:bold r:id="rId71"/>
      <p:italic r:id="rId72"/>
      <p:boldItalic r:id="rId73"/>
    </p:embeddedFont>
    <p:embeddedFont>
      <p:font typeface="Noto Sans Symbols" panose="020B0604020202020204" charset="0"/>
      <p:regular r:id="rId74"/>
      <p:bold r:id="rId75"/>
      <p:italic r:id="rId76"/>
      <p:boldItalic r:id="rId77"/>
    </p:embeddedFont>
    <p:embeddedFont>
      <p:font typeface="Times" panose="02020603050405020304" pitchFamily="18" charset="0"/>
      <p:regular r:id="rId78"/>
      <p:bold r:id="rId79"/>
      <p:italic r:id="rId80"/>
      <p:boldItalic r:id="rId8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vinothkumar baskar" initials="vb" lastIdx="1" clrIdx="7">
    <p:extLst>
      <p:ext uri="{19B8F6BF-5375-455C-9EA6-DF929625EA0E}">
        <p15:presenceInfo xmlns:p15="http://schemas.microsoft.com/office/powerpoint/2012/main" userId="23e251370824c243" providerId="Windows Liv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83196" autoAdjust="0"/>
  </p:normalViewPr>
  <p:slideViewPr>
    <p:cSldViewPr snapToGrid="0" snapToObjects="1">
      <p:cViewPr varScale="1">
        <p:scale>
          <a:sx n="67" d="100"/>
          <a:sy n="67" d="100"/>
        </p:scale>
        <p:origin x="2058" y="60"/>
      </p:cViewPr>
      <p:guideLst>
        <p:guide orient="horz" pos="3997"/>
        <p:guide pos="295"/>
        <p:guide orient="horz" pos="4178"/>
        <p:guide orient="horz" pos="119"/>
        <p:guide orient="horz" pos="709"/>
        <p:guide orient="horz" pos="1071"/>
        <p:guide pos="635"/>
      </p:guideLst>
    </p:cSldViewPr>
  </p:slideViewPr>
  <p:outlineViewPr>
    <p:cViewPr>
      <p:scale>
        <a:sx n="33" d="100"/>
        <a:sy n="33" d="100"/>
      </p:scale>
      <p:origin x="0" y="-4629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font" Target="fonts/font3.fntdata"/><Relationship Id="rId76" Type="http://schemas.openxmlformats.org/officeDocument/2006/relationships/font" Target="fonts/font11.fntdata"/><Relationship Id="rId8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1.fntdata"/><Relationship Id="rId74" Type="http://schemas.openxmlformats.org/officeDocument/2006/relationships/font" Target="fonts/font9.fntdata"/><Relationship Id="rId79" Type="http://schemas.openxmlformats.org/officeDocument/2006/relationships/font" Target="fonts/font14.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commentAuthors" Target="commentAuthor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7.fntdata"/><Relationship Id="rId80" Type="http://schemas.openxmlformats.org/officeDocument/2006/relationships/font" Target="fonts/font15.fntdata"/><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font" Target="fonts/font16.fntdata"/><Relationship Id="rId8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33.wmf"/><Relationship Id="rId18" Type="http://schemas.openxmlformats.org/officeDocument/2006/relationships/image" Target="../media/image38.wmf"/><Relationship Id="rId3" Type="http://schemas.openxmlformats.org/officeDocument/2006/relationships/image" Target="../media/image23.wmf"/><Relationship Id="rId21" Type="http://schemas.openxmlformats.org/officeDocument/2006/relationships/image" Target="../media/image41.wmf"/><Relationship Id="rId7" Type="http://schemas.openxmlformats.org/officeDocument/2006/relationships/image" Target="../media/image27.wmf"/><Relationship Id="rId12" Type="http://schemas.openxmlformats.org/officeDocument/2006/relationships/image" Target="../media/image32.wmf"/><Relationship Id="rId17" Type="http://schemas.openxmlformats.org/officeDocument/2006/relationships/image" Target="../media/image37.wmf"/><Relationship Id="rId25" Type="http://schemas.openxmlformats.org/officeDocument/2006/relationships/image" Target="../media/image45.wmf"/><Relationship Id="rId2" Type="http://schemas.openxmlformats.org/officeDocument/2006/relationships/image" Target="../media/image22.wmf"/><Relationship Id="rId16" Type="http://schemas.openxmlformats.org/officeDocument/2006/relationships/image" Target="../media/image36.wmf"/><Relationship Id="rId20" Type="http://schemas.openxmlformats.org/officeDocument/2006/relationships/image" Target="../media/image40.wmf"/><Relationship Id="rId1" Type="http://schemas.openxmlformats.org/officeDocument/2006/relationships/image" Target="../media/image21.wmf"/><Relationship Id="rId6" Type="http://schemas.openxmlformats.org/officeDocument/2006/relationships/image" Target="../media/image26.wmf"/><Relationship Id="rId11" Type="http://schemas.openxmlformats.org/officeDocument/2006/relationships/image" Target="../media/image31.wmf"/><Relationship Id="rId24" Type="http://schemas.openxmlformats.org/officeDocument/2006/relationships/image" Target="../media/image44.wmf"/><Relationship Id="rId5" Type="http://schemas.openxmlformats.org/officeDocument/2006/relationships/image" Target="../media/image25.wmf"/><Relationship Id="rId15" Type="http://schemas.openxmlformats.org/officeDocument/2006/relationships/image" Target="../media/image35.wmf"/><Relationship Id="rId23" Type="http://schemas.openxmlformats.org/officeDocument/2006/relationships/image" Target="../media/image43.wmf"/><Relationship Id="rId10" Type="http://schemas.openxmlformats.org/officeDocument/2006/relationships/image" Target="../media/image30.wmf"/><Relationship Id="rId19" Type="http://schemas.openxmlformats.org/officeDocument/2006/relationships/image" Target="../media/image39.wmf"/><Relationship Id="rId4" Type="http://schemas.openxmlformats.org/officeDocument/2006/relationships/image" Target="../media/image24.wmf"/><Relationship Id="rId9" Type="http://schemas.openxmlformats.org/officeDocument/2006/relationships/image" Target="../media/image29.wmf"/><Relationship Id="rId14" Type="http://schemas.openxmlformats.org/officeDocument/2006/relationships/image" Target="../media/image34.wmf"/><Relationship Id="rId22"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11/10/2021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9935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plot U S dollars per pound dips from 1.46 on May 30 to 1.42 after June 10. The rate then rose to 1.48 on June 23. This is the date of the Britain’s referendum to leave the E U. The week following the vote, the rate dropped to 1.32, to 1.28 after July 6. The rate then continued to fluctuate between 1.30 and 1.35 past August 12. All values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31296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Times New Roman" panose="02020603050405020304" pitchFamily="18" charset="0"/>
              </a:rPr>
              <a:t>The horizontal axis ranges from 19 78 to 20 19 in increments of 1 year. The vertical axis ranges from negative 10 to 20 in increments of 5. The annual inflation line for Ireland starts at (19 79, 5), rises to (19 82, 17), falls to (19 87, 0), rises and falls intermittently, and then rises to (2001, 3.4). The annual inflation falls to (2009, negative 7.2), rises to (20 12, negative 0.2), and then ends at (20 19, negative 2). The inflation rate for Italy starts at (19 78, 9.1), passes through (19 81, 18), (19 88, 2.2), (19 99, negative 0.2), and ends at (20 19, negative 1.2). The inflation rate for France starts at (19 78, 6.2), passes through (19 81, 11), (19 88, 0), (19 99, negative 0.2), and ends at (20 19, negative 0.8). The inflation rate for Denmark starts at (19 78, 7.8), passes through (19 81, 8.9), (19 87, 1), (2001, 0.1), and ends at (20 19, negative 1.3). The inflation rate for Belgium starts at (19 78, 1.8), passes through (19 81, 4.1), (19 88, negative 1), (19 99, negative 1.2), and ends at (20 19, negative 0.7). The inflation rate for Netherlands starts at (19 78, 1.6), passes through (19 84, 5.8), (19 88, negative 2.1), (19 99, negative 0.9), and ends at (20 19, negative 0.2).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7816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12922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91932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G </a:t>
            </a:r>
            <a:r>
              <a:rPr lang="en-US" sz="1800" b="0" i="0" u="none" strike="noStrike" dirty="0" err="1">
                <a:solidFill>
                  <a:srgbClr val="000000"/>
                </a:solidFill>
                <a:effectLst/>
                <a:latin typeface="Calibri" panose="020F0502020204030204" pitchFamily="34" charset="0"/>
              </a:rPr>
              <a:t>G</a:t>
            </a:r>
            <a:r>
              <a:rPr lang="en-US" sz="1800" b="0" i="0" u="none" strike="noStrike" dirty="0">
                <a:solidFill>
                  <a:srgbClr val="000000"/>
                </a:solidFill>
                <a:effectLst/>
                <a:latin typeface="Calibri" panose="020F0502020204030204" pitchFamily="34" charset="0"/>
              </a:rPr>
              <a:t> schedule and L </a:t>
            </a:r>
            <a:r>
              <a:rPr lang="en-US" sz="1800" b="0" i="0" u="none" strike="noStrike" dirty="0" err="1">
                <a:solidFill>
                  <a:srgbClr val="000000"/>
                </a:solidFill>
                <a:effectLst/>
                <a:latin typeface="Calibri" panose="020F0502020204030204" pitchFamily="34" charset="0"/>
              </a:rPr>
              <a:t>L</a:t>
            </a:r>
            <a:r>
              <a:rPr lang="en-US" sz="1800" b="0" i="0" u="none" strike="noStrike" dirty="0">
                <a:solidFill>
                  <a:srgbClr val="000000"/>
                </a:solidFill>
                <a:effectLst/>
                <a:latin typeface="Calibri" panose="020F0502020204030204" pitchFamily="34" charset="0"/>
              </a:rPr>
              <a:t> schedule intersect at point 1. Losses exceed gains in the area left of point 1, where x = theta sub 1. Losses exceed gains to the left of point 1, and gains exceed losses to the right of point 1.</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6450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rising G </a:t>
            </a:r>
            <a:r>
              <a:rPr lang="en-US" sz="1800" b="0" i="0" u="none" strike="noStrike" dirty="0" err="1">
                <a:solidFill>
                  <a:srgbClr val="000000"/>
                </a:solidFill>
                <a:effectLst/>
                <a:latin typeface="Calibri" panose="020F0502020204030204" pitchFamily="34" charset="0"/>
              </a:rPr>
              <a:t>G</a:t>
            </a:r>
            <a:r>
              <a:rPr lang="en-US" sz="1800" b="0" i="0" u="none" strike="noStrike" dirty="0">
                <a:solidFill>
                  <a:srgbClr val="000000"/>
                </a:solidFill>
                <a:effectLst/>
                <a:latin typeface="Calibri" panose="020F0502020204030204" pitchFamily="34" charset="0"/>
              </a:rPr>
              <a:t> schedule intersects the falling L </a:t>
            </a:r>
            <a:r>
              <a:rPr lang="en-US" sz="1800" b="0" i="0" u="none" strike="noStrike" dirty="0" err="1">
                <a:solidFill>
                  <a:srgbClr val="000000"/>
                </a:solidFill>
                <a:effectLst/>
                <a:latin typeface="Calibri" panose="020F0502020204030204" pitchFamily="34" charset="0"/>
              </a:rPr>
              <a:t>L</a:t>
            </a:r>
            <a:r>
              <a:rPr lang="en-US" sz="1800" b="0" i="0" u="none" strike="noStrike" dirty="0">
                <a:solidFill>
                  <a:srgbClr val="000000"/>
                </a:solidFill>
                <a:effectLst/>
                <a:latin typeface="Calibri" panose="020F0502020204030204" pitchFamily="34" charset="0"/>
              </a:rPr>
              <a:t> super 1 schedule at point 1, where x = theta sub 1. Schedule L </a:t>
            </a:r>
            <a:r>
              <a:rPr lang="en-US" sz="1800" b="0" i="0" u="none" strike="noStrike" dirty="0" err="1">
                <a:solidFill>
                  <a:srgbClr val="000000"/>
                </a:solidFill>
                <a:effectLst/>
                <a:latin typeface="Calibri" panose="020F0502020204030204" pitchFamily="34" charset="0"/>
              </a:rPr>
              <a:t>L</a:t>
            </a:r>
            <a:r>
              <a:rPr lang="en-US" sz="1800" b="0" i="0" u="none" strike="noStrike" dirty="0">
                <a:solidFill>
                  <a:srgbClr val="000000"/>
                </a:solidFill>
                <a:effectLst/>
                <a:latin typeface="Calibri" panose="020F0502020204030204" pitchFamily="34" charset="0"/>
              </a:rPr>
              <a:t> super 2 is shifted up and to the right, with a new intersection at point 2, where x = theta sub 2, to the right of x= theta sub 1.</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95917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plot for Spain generally falls from (19 94, 24) through (2000, 14) to (2007, 7) and then rises to (20 12, 26) and falls to (20 16, 20). The plot for Ireland generally falls from (19 92, 16) to (2000, 4) and then rises to (2007, 5); the plot then rises sharply to (20 12, 15) and falls to (20 16, 7). The plot for Greece generally rises from (19 92, 8) to (19 98, 13) and then generally falls through (2000, 10) to (2008, 7), before rising sharply to (20 14, 27) and falling to (20 16, 25). The plot for Italy rises from (19 92, 8) to 19 96, 11) and then generally falls through (2000, 10) to (2007, 6), before generally rising to (20 16, 12). The plot for Germany generally rises from (19 92, 6) through (2000, 7) to (2006, 11) and then generally falls to (20 16, 5). The plot for Portugal rises from (19 92, 4) to (19 96, 6) and then falls to (2000, 4) before rising again through (2008, 7) to (20 14, 16) and falling to (20 16, 12).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02989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From 19 98 to 2007, the plots for 5 countries, Italy, Spain, Ireland, Portugal, and Germany, between a range of negative 1 and 1. In 20 12, plots spike to varying points and diverge through 20 16. The plot for Italy spikes to 4 in 20 12 and generally falls to 1 in 20 16. The plot for Spain spikes to 5 in the beginning of 20 14 and generally falls to 2 in 20 16. The plot for Ireland spikes to 7 in 20 12 and generally falls to 1 in 20 16. The plot for Portugal spikes to 12 in 20 12 and generally falls to 3 in 20 16. The plot for Greece spikes to 36 in 20 12, generally falls to 5 at the beginning to 20 16, spikes again to 15, and then falls to 8, during 20 16.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9885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graph plots 5 countries: Italy, Greece, Portugal, Spain, and Ireland. In 19 97, the plots for all countries range between roughly 96 and 102. From 2001 to 19 99, the plots rise to at varying rates. The plot for Italy generally rises from (2001, 95) to (2009, 107) and then generally falls to (20 15, 96). The plot for Greece generally rises from (2001, 92) to (2009, 110) and then generally falls to (20 15, 87). The plot for Portugal generally rises from (2001, 98) to (2009, 111) and then generally falls to (20 15, 105). The plot for Spain generally rises from (2001, 97) to (2009, 117) and the generally falls to (20 15, 102). The plot for Ireland generally rises from (2001, 100) to (2009, 120) and then generally falls to (20 15, 98). All values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20647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Times New Roman" panose="02020603050405020304" pitchFamily="18" charset="0"/>
              </a:rPr>
              <a:t>The graph for Ireland rises from (19 97, negative 7.5), through (2003, 0), (2008, 8), (20 14, negative 5), and (20 18, 0). The graph for Greece rises from (19 96, 0), through (2008, negative 5), (20 12, 22), and (20 18, 5). The graph for Italy rises from (19 97, 0), through (2006, negative 2), (20 12, 1), (20 14, 0), and (20 18, 0). The graph for Spain falls from (19 96, 0), through (2008, negative 1), (20 12, 5), and (20 18, 1). The graph for Portugal rises from (19 97, 0), through (2006, negative 2), (2008, 10), (20 14, negative 7), and (20 18, 0).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64484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graph plots 5 countries: Italy, Greece, Portugal, Spain, and Ireland. The plot for Italy generally falls from (19 95, 110) to (2007, 100) and then rises to (20 15, 132). The plot for Greece generally rises from (19 95, 95) through (2007, 102) to (20 15, 178). The plot for Portugal generally falls from (19 95, 59) to (2000, 50) and then generally rises through (2007, 70) to (20 15, 128). The plot for Spain generally falls from (19 95, 63) to (2007, 37) and then rises to (20 15, 99). The plot for Ireland falls from (19 95, 80) to (2007, 22) and then rises to (20 13, 121) and falls to (20 15, 98).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3312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61</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8.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7.xml"/><Relationship Id="rId7" Type="http://schemas.openxmlformats.org/officeDocument/2006/relationships/oleObject" Target="../embeddings/oleObject5.bin"/><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notesSlide" Target="../notesSlides/notesSlide8.xml"/><Relationship Id="rId7" Type="http://schemas.openxmlformats.org/officeDocument/2006/relationships/oleObject" Target="../embeddings/oleObject7.bin"/><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3" Type="http://schemas.openxmlformats.org/officeDocument/2006/relationships/oleObject" Target="../embeddings/oleObject13.bin"/><Relationship Id="rId18" Type="http://schemas.openxmlformats.org/officeDocument/2006/relationships/image" Target="../media/image28.wmf"/><Relationship Id="rId26" Type="http://schemas.openxmlformats.org/officeDocument/2006/relationships/image" Target="../media/image32.wmf"/><Relationship Id="rId39" Type="http://schemas.openxmlformats.org/officeDocument/2006/relationships/oleObject" Target="../embeddings/oleObject26.bin"/><Relationship Id="rId3" Type="http://schemas.openxmlformats.org/officeDocument/2006/relationships/oleObject" Target="../embeddings/oleObject8.bin"/><Relationship Id="rId21" Type="http://schemas.openxmlformats.org/officeDocument/2006/relationships/oleObject" Target="../embeddings/oleObject17.bin"/><Relationship Id="rId34" Type="http://schemas.openxmlformats.org/officeDocument/2006/relationships/image" Target="../media/image36.wmf"/><Relationship Id="rId42" Type="http://schemas.openxmlformats.org/officeDocument/2006/relationships/image" Target="../media/image40.wmf"/><Relationship Id="rId47" Type="http://schemas.openxmlformats.org/officeDocument/2006/relationships/oleObject" Target="../embeddings/oleObject30.bin"/><Relationship Id="rId50" Type="http://schemas.openxmlformats.org/officeDocument/2006/relationships/image" Target="../media/image44.wmf"/><Relationship Id="rId7" Type="http://schemas.openxmlformats.org/officeDocument/2006/relationships/oleObject" Target="../embeddings/oleObject10.bin"/><Relationship Id="rId12" Type="http://schemas.openxmlformats.org/officeDocument/2006/relationships/image" Target="../media/image25.wmf"/><Relationship Id="rId17" Type="http://schemas.openxmlformats.org/officeDocument/2006/relationships/oleObject" Target="../embeddings/oleObject15.bin"/><Relationship Id="rId25" Type="http://schemas.openxmlformats.org/officeDocument/2006/relationships/oleObject" Target="../embeddings/oleObject19.bin"/><Relationship Id="rId33" Type="http://schemas.openxmlformats.org/officeDocument/2006/relationships/oleObject" Target="../embeddings/oleObject23.bin"/><Relationship Id="rId38" Type="http://schemas.openxmlformats.org/officeDocument/2006/relationships/image" Target="../media/image38.wmf"/><Relationship Id="rId46" Type="http://schemas.openxmlformats.org/officeDocument/2006/relationships/image" Target="../media/image42.wmf"/><Relationship Id="rId2" Type="http://schemas.openxmlformats.org/officeDocument/2006/relationships/slideLayout" Target="../slideLayouts/slideLayout3.xml"/><Relationship Id="rId16" Type="http://schemas.openxmlformats.org/officeDocument/2006/relationships/image" Target="../media/image27.wmf"/><Relationship Id="rId20" Type="http://schemas.openxmlformats.org/officeDocument/2006/relationships/image" Target="../media/image29.wmf"/><Relationship Id="rId29" Type="http://schemas.openxmlformats.org/officeDocument/2006/relationships/oleObject" Target="../embeddings/oleObject21.bin"/><Relationship Id="rId41" Type="http://schemas.openxmlformats.org/officeDocument/2006/relationships/oleObject" Target="../embeddings/oleObject27.bin"/><Relationship Id="rId1" Type="http://schemas.openxmlformats.org/officeDocument/2006/relationships/vmlDrawing" Target="../drawings/vmlDrawing5.vml"/><Relationship Id="rId6" Type="http://schemas.openxmlformats.org/officeDocument/2006/relationships/image" Target="../media/image22.wmf"/><Relationship Id="rId11" Type="http://schemas.openxmlformats.org/officeDocument/2006/relationships/oleObject" Target="../embeddings/oleObject12.bin"/><Relationship Id="rId24" Type="http://schemas.openxmlformats.org/officeDocument/2006/relationships/image" Target="../media/image31.wmf"/><Relationship Id="rId32" Type="http://schemas.openxmlformats.org/officeDocument/2006/relationships/image" Target="../media/image35.wmf"/><Relationship Id="rId37" Type="http://schemas.openxmlformats.org/officeDocument/2006/relationships/oleObject" Target="../embeddings/oleObject25.bin"/><Relationship Id="rId40" Type="http://schemas.openxmlformats.org/officeDocument/2006/relationships/image" Target="../media/image39.wmf"/><Relationship Id="rId45" Type="http://schemas.openxmlformats.org/officeDocument/2006/relationships/oleObject" Target="../embeddings/oleObject29.bin"/><Relationship Id="rId5" Type="http://schemas.openxmlformats.org/officeDocument/2006/relationships/oleObject" Target="../embeddings/oleObject9.bin"/><Relationship Id="rId15" Type="http://schemas.openxmlformats.org/officeDocument/2006/relationships/oleObject" Target="../embeddings/oleObject14.bin"/><Relationship Id="rId23" Type="http://schemas.openxmlformats.org/officeDocument/2006/relationships/oleObject" Target="../embeddings/oleObject18.bin"/><Relationship Id="rId28" Type="http://schemas.openxmlformats.org/officeDocument/2006/relationships/image" Target="../media/image33.wmf"/><Relationship Id="rId36" Type="http://schemas.openxmlformats.org/officeDocument/2006/relationships/image" Target="../media/image37.wmf"/><Relationship Id="rId49" Type="http://schemas.openxmlformats.org/officeDocument/2006/relationships/oleObject" Target="../embeddings/oleObject31.bin"/><Relationship Id="rId10" Type="http://schemas.openxmlformats.org/officeDocument/2006/relationships/image" Target="../media/image24.wmf"/><Relationship Id="rId19" Type="http://schemas.openxmlformats.org/officeDocument/2006/relationships/oleObject" Target="../embeddings/oleObject16.bin"/><Relationship Id="rId31" Type="http://schemas.openxmlformats.org/officeDocument/2006/relationships/oleObject" Target="../embeddings/oleObject22.bin"/><Relationship Id="rId44" Type="http://schemas.openxmlformats.org/officeDocument/2006/relationships/image" Target="../media/image41.wmf"/><Relationship Id="rId52" Type="http://schemas.openxmlformats.org/officeDocument/2006/relationships/image" Target="../media/image45.wmf"/><Relationship Id="rId4" Type="http://schemas.openxmlformats.org/officeDocument/2006/relationships/image" Target="../media/image21.wmf"/><Relationship Id="rId9" Type="http://schemas.openxmlformats.org/officeDocument/2006/relationships/oleObject" Target="../embeddings/oleObject11.bin"/><Relationship Id="rId14" Type="http://schemas.openxmlformats.org/officeDocument/2006/relationships/image" Target="../media/image26.wmf"/><Relationship Id="rId22" Type="http://schemas.openxmlformats.org/officeDocument/2006/relationships/image" Target="../media/image30.wmf"/><Relationship Id="rId27" Type="http://schemas.openxmlformats.org/officeDocument/2006/relationships/oleObject" Target="../embeddings/oleObject20.bin"/><Relationship Id="rId30" Type="http://schemas.openxmlformats.org/officeDocument/2006/relationships/image" Target="../media/image34.wmf"/><Relationship Id="rId35" Type="http://schemas.openxmlformats.org/officeDocument/2006/relationships/oleObject" Target="../embeddings/oleObject24.bin"/><Relationship Id="rId43" Type="http://schemas.openxmlformats.org/officeDocument/2006/relationships/oleObject" Target="../embeddings/oleObject28.bin"/><Relationship Id="rId48" Type="http://schemas.openxmlformats.org/officeDocument/2006/relationships/image" Target="../media/image43.wmf"/><Relationship Id="rId8" Type="http://schemas.openxmlformats.org/officeDocument/2006/relationships/image" Target="../media/image23.wmf"/><Relationship Id="rId51" Type="http://schemas.openxmlformats.org/officeDocument/2006/relationships/oleObject" Target="../embeddings/oleObject32.bin"/></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4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a:t>Twelfth</a:t>
            </a:r>
            <a:r>
              <a:rPr lang="en-US">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a:latin typeface="+mn-lt"/>
              </a:rPr>
              <a:t>Chapter 21</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 xmlns:adec="http://schemas.microsoft.com/office/drawing/2017/decorative" val="1"/>
              </a:ext>
            </a:extLst>
          </p:cNvPr>
          <p:cNvSpPr>
            <a:spLocks noGrp="1"/>
          </p:cNvSpPr>
          <p:nvPr>
            <p:ph sz="quarter" idx="15"/>
          </p:nvPr>
        </p:nvSpPr>
        <p:spPr>
          <a:xfrm>
            <a:off x="5029200" y="3252789"/>
            <a:ext cx="3657600" cy="976311"/>
          </a:xfrm>
        </p:spPr>
        <p:txBody>
          <a:bodyPr/>
          <a:lstStyle/>
          <a:p>
            <a:pPr lvl="0">
              <a:buSzPct val="25000"/>
            </a:pPr>
            <a:r>
              <a:rPr lang="en-US" altLang="en-US" dirty="0"/>
              <a:t>Optimum Currency Areas and the Euro</a:t>
            </a:r>
            <a:endParaRPr lang="en-US" dirty="0">
              <a:solidFill>
                <a:schemeClr val="tx1"/>
              </a:solidFill>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Learning Objectives </a:t>
            </a:r>
            <a:r>
              <a:rPr lang="en-US" sz="2000" b="0"/>
              <a:t>(1 of 2)</a:t>
            </a:r>
            <a:endParaRPr lang="en-US"/>
          </a:p>
        </p:txBody>
      </p:sp>
      <p:sp>
        <p:nvSpPr>
          <p:cNvPr id="4" name="Content Placeholder 3"/>
          <p:cNvSpPr>
            <a:spLocks noGrp="1"/>
          </p:cNvSpPr>
          <p:nvPr>
            <p:ph sz="quarter" idx="13"/>
          </p:nvPr>
        </p:nvSpPr>
        <p:spPr/>
        <p:txBody>
          <a:bodyPr/>
          <a:lstStyle/>
          <a:p>
            <a:pPr marL="0" indent="0">
              <a:buNone/>
            </a:pPr>
            <a:r>
              <a:rPr lang="en-US" b="1">
                <a:solidFill>
                  <a:srgbClr val="007FA3"/>
                </a:solidFill>
                <a:ea typeface="Verdana" panose="020B0604030504040204" pitchFamily="34" charset="0"/>
                <a:cs typeface="Verdana" panose="020B0604030504040204" pitchFamily="34" charset="0"/>
              </a:rPr>
              <a:t>21.1</a:t>
            </a:r>
            <a:r>
              <a:rPr lang="en-US" b="1">
                <a:solidFill>
                  <a:schemeClr val="accent1"/>
                </a:solidFill>
                <a:ea typeface="Verdana" panose="020B0604030504040204" pitchFamily="34" charset="0"/>
                <a:cs typeface="Verdana" panose="020B0604030504040204" pitchFamily="34" charset="0"/>
              </a:rPr>
              <a:t> </a:t>
            </a:r>
            <a:r>
              <a:rPr lang="en-US"/>
              <a:t>Discuss why Europeans have long sought to stabilize their mutual exchange rates while floating against the U.S. dollar.</a:t>
            </a:r>
          </a:p>
          <a:p>
            <a:pPr marL="0" indent="0">
              <a:buNone/>
            </a:pPr>
            <a:r>
              <a:rPr lang="en-US" b="1">
                <a:solidFill>
                  <a:srgbClr val="007FA3"/>
                </a:solidFill>
                <a:ea typeface="Verdana" panose="020B0604030504040204" pitchFamily="34" charset="0"/>
                <a:cs typeface="Verdana" panose="020B0604030504040204" pitchFamily="34" charset="0"/>
              </a:rPr>
              <a:t>21.2</a:t>
            </a:r>
            <a:r>
              <a:rPr lang="en-US"/>
              <a:t> Describe how the European Union, through the Maastricht Treaty of 1991, placed itself on the road to having a single currency, the euro, issued and managed by a European Central Bank (E</a:t>
            </a:r>
            <a:r>
              <a:rPr lang="en-US" sz="100"/>
              <a:t> </a:t>
            </a:r>
            <a:r>
              <a:rPr lang="en-US"/>
              <a:t>C</a:t>
            </a:r>
            <a:r>
              <a:rPr lang="en-US" sz="100"/>
              <a:t> </a:t>
            </a:r>
            <a:r>
              <a:rPr lang="en-US"/>
              <a:t>B).</a:t>
            </a:r>
            <a:endParaRPr lang="en-US">
              <a:ea typeface="Verdana" panose="020B0604030504040204" pitchFamily="34" charset="0"/>
              <a:cs typeface="Verdana" panose="020B0604030504040204" pitchFamily="34" charset="0"/>
            </a:endParaRPr>
          </a:p>
          <a:p>
            <a:pPr marL="0" indent="0">
              <a:buNone/>
            </a:pPr>
            <a:r>
              <a:rPr lang="en-US" b="1">
                <a:solidFill>
                  <a:srgbClr val="007FA3"/>
                </a:solidFill>
                <a:ea typeface="Verdana" panose="020B0604030504040204" pitchFamily="34" charset="0"/>
                <a:cs typeface="Verdana" panose="020B0604030504040204" pitchFamily="34" charset="0"/>
              </a:rPr>
              <a:t>21.3</a:t>
            </a:r>
            <a:r>
              <a:rPr lang="en-US" b="1">
                <a:solidFill>
                  <a:schemeClr val="accent1"/>
                </a:solidFill>
                <a:ea typeface="Verdana" panose="020B0604030504040204" pitchFamily="34" charset="0"/>
                <a:cs typeface="Verdana" panose="020B0604030504040204" pitchFamily="34" charset="0"/>
              </a:rPr>
              <a:t> </a:t>
            </a:r>
            <a:r>
              <a:rPr lang="en-US"/>
              <a:t>Detail the structure of the E</a:t>
            </a:r>
            <a:r>
              <a:rPr lang="en-US" sz="100"/>
              <a:t> </a:t>
            </a:r>
            <a:r>
              <a:rPr lang="en-US"/>
              <a:t>C</a:t>
            </a:r>
            <a:r>
              <a:rPr lang="en-US" sz="100"/>
              <a:t> </a:t>
            </a:r>
            <a:r>
              <a:rPr lang="en-US"/>
              <a:t>B, the European System of Central Banks, and the European Union’s arrangements for coordinating member states’ economic policies.</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Learning Objectives </a:t>
            </a:r>
            <a:r>
              <a:rPr lang="en-US" sz="2000" b="0"/>
              <a:t>(2 of 2)</a:t>
            </a:r>
            <a:endParaRPr lang="en-US"/>
          </a:p>
        </p:txBody>
      </p:sp>
      <p:sp>
        <p:nvSpPr>
          <p:cNvPr id="7" name="Content Placeholder 6"/>
          <p:cNvSpPr>
            <a:spLocks noGrp="1"/>
          </p:cNvSpPr>
          <p:nvPr>
            <p:ph sz="quarter" idx="13"/>
          </p:nvPr>
        </p:nvSpPr>
        <p:spPr>
          <a:xfrm>
            <a:off x="457200" y="1556327"/>
            <a:ext cx="8229600" cy="2832793"/>
          </a:xfrm>
        </p:spPr>
        <p:txBody>
          <a:bodyPr/>
          <a:lstStyle/>
          <a:p>
            <a:pPr marL="0" indent="0">
              <a:buNone/>
            </a:pPr>
            <a:r>
              <a:rPr lang="en-US" b="1">
                <a:solidFill>
                  <a:srgbClr val="007FA3"/>
                </a:solidFill>
                <a:ea typeface="Verdana" panose="020B0604030504040204" pitchFamily="34" charset="0"/>
                <a:cs typeface="Verdana" panose="020B0604030504040204" pitchFamily="34" charset="0"/>
              </a:rPr>
              <a:t>21.4 </a:t>
            </a:r>
            <a:r>
              <a:rPr lang="en-US"/>
              <a:t>Articulate the main lessons of the theory of optimum currency areas.</a:t>
            </a:r>
          </a:p>
          <a:p>
            <a:pPr marL="0" indent="0">
              <a:buNone/>
            </a:pPr>
            <a:r>
              <a:rPr lang="en-US" b="1">
                <a:solidFill>
                  <a:srgbClr val="007FA3"/>
                </a:solidFill>
                <a:ea typeface="Verdana" panose="020B0604030504040204" pitchFamily="34" charset="0"/>
                <a:cs typeface="Verdana" panose="020B0604030504040204" pitchFamily="34" charset="0"/>
              </a:rPr>
              <a:t>21.5</a:t>
            </a:r>
            <a:r>
              <a:rPr lang="en-US"/>
              <a:t> Recount how the 19 countries using the euro have fared so far in their currency union, and the steps they are taking in response to their prolonged economic crisis.</a:t>
            </a:r>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ea typeface="Verdana" panose="020B0604030504040204" pitchFamily="34" charset="0"/>
              </a:rPr>
              <a:t>Preview</a:t>
            </a:r>
            <a:endParaRPr lang="en-IN" dirty="0"/>
          </a:p>
        </p:txBody>
      </p:sp>
      <p:sp>
        <p:nvSpPr>
          <p:cNvPr id="2" name="Content Placeholder 1"/>
          <p:cNvSpPr>
            <a:spLocks noGrp="1"/>
          </p:cNvSpPr>
          <p:nvPr>
            <p:ph sz="quarter" idx="13"/>
          </p:nvPr>
        </p:nvSpPr>
        <p:spPr/>
        <p:txBody>
          <a:bodyPr/>
          <a:lstStyle/>
          <a:p>
            <a:pPr>
              <a:spcBef>
                <a:spcPct val="50000"/>
              </a:spcBef>
            </a:pPr>
            <a:r>
              <a:rPr lang="en-US" altLang="en-US" dirty="0"/>
              <a:t>The European Union</a:t>
            </a:r>
          </a:p>
          <a:p>
            <a:pPr>
              <a:spcBef>
                <a:spcPct val="50000"/>
              </a:spcBef>
            </a:pPr>
            <a:r>
              <a:rPr lang="en-US" altLang="en-US" dirty="0"/>
              <a:t>The European Monetary System</a:t>
            </a:r>
          </a:p>
          <a:p>
            <a:pPr>
              <a:spcBef>
                <a:spcPct val="50000"/>
              </a:spcBef>
            </a:pPr>
            <a:r>
              <a:rPr lang="en-US" altLang="en-US" dirty="0"/>
              <a:t>Policies of the E</a:t>
            </a:r>
            <a:r>
              <a:rPr lang="en-US" altLang="en-US" sz="100" dirty="0"/>
              <a:t> </a:t>
            </a:r>
            <a:r>
              <a:rPr lang="en-US" altLang="en-US" dirty="0"/>
              <a:t>U and the E</a:t>
            </a:r>
            <a:r>
              <a:rPr lang="en-US" altLang="en-US" sz="100" dirty="0"/>
              <a:t> </a:t>
            </a:r>
            <a:r>
              <a:rPr lang="en-US" altLang="en-US" dirty="0"/>
              <a:t>M</a:t>
            </a:r>
            <a:r>
              <a:rPr lang="en-US" altLang="en-US" sz="100" dirty="0"/>
              <a:t> </a:t>
            </a:r>
            <a:r>
              <a:rPr lang="en-US" altLang="en-US" dirty="0"/>
              <a:t>S</a:t>
            </a:r>
          </a:p>
          <a:p>
            <a:pPr>
              <a:spcBef>
                <a:spcPct val="50000"/>
              </a:spcBef>
            </a:pPr>
            <a:r>
              <a:rPr lang="en-US" altLang="en-US" dirty="0"/>
              <a:t>Theory of optimal currency areas</a:t>
            </a:r>
          </a:p>
          <a:p>
            <a:pPr>
              <a:spcBef>
                <a:spcPct val="50000"/>
              </a:spcBef>
            </a:pPr>
            <a:r>
              <a:rPr lang="en-US" altLang="en-US" dirty="0"/>
              <a:t>Is the E</a:t>
            </a:r>
            <a:r>
              <a:rPr lang="en-US" altLang="en-US" sz="100" dirty="0"/>
              <a:t> </a:t>
            </a:r>
            <a:r>
              <a:rPr lang="en-US" altLang="en-US" dirty="0"/>
              <a:t>U an optimal currency area?</a:t>
            </a:r>
          </a:p>
          <a:p>
            <a:pPr>
              <a:spcBef>
                <a:spcPct val="50000"/>
              </a:spcBef>
            </a:pPr>
            <a:r>
              <a:rPr lang="en-US" altLang="en-US" dirty="0"/>
              <a:t>Other considerations of an economic and  monetary union</a:t>
            </a: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the E</a:t>
            </a:r>
            <a:r>
              <a:rPr lang="en-US" altLang="en-US" sz="100" dirty="0"/>
              <a:t> </a:t>
            </a:r>
            <a:r>
              <a:rPr lang="en-US" altLang="en-US" dirty="0"/>
              <a:t>U?</a:t>
            </a:r>
            <a:endParaRPr lang="en-IN" dirty="0"/>
          </a:p>
        </p:txBody>
      </p:sp>
      <p:sp>
        <p:nvSpPr>
          <p:cNvPr id="3" name="Content Placeholder 2"/>
          <p:cNvSpPr>
            <a:spLocks noGrp="1"/>
          </p:cNvSpPr>
          <p:nvPr>
            <p:ph sz="quarter" idx="13"/>
          </p:nvPr>
        </p:nvSpPr>
        <p:spPr/>
        <p:txBody>
          <a:bodyPr/>
          <a:lstStyle/>
          <a:p>
            <a:r>
              <a:rPr lang="en-US" altLang="en-US" sz="2000" dirty="0"/>
              <a:t>The European Union is a system of international institutions, the first of which originated in 1957, which now represents 27 European countries through the following bodies:</a:t>
            </a:r>
          </a:p>
          <a:p>
            <a:pPr lvl="1"/>
            <a:r>
              <a:rPr lang="en-US" altLang="en-US" sz="2000" b="1" dirty="0"/>
              <a:t>European Parliament:</a:t>
            </a:r>
            <a:r>
              <a:rPr lang="en-US" altLang="en-US" sz="2000" dirty="0"/>
              <a:t> elected by citizens of member countries</a:t>
            </a:r>
          </a:p>
          <a:p>
            <a:pPr lvl="1"/>
            <a:r>
              <a:rPr lang="en-US" altLang="en-US" sz="2000" b="1" dirty="0"/>
              <a:t>Council of the European Union:</a:t>
            </a:r>
            <a:r>
              <a:rPr lang="en-US" altLang="en-US" sz="2000" dirty="0"/>
              <a:t> appointed by governments </a:t>
            </a:r>
            <a:br>
              <a:rPr lang="en-US" altLang="en-US" sz="2000" dirty="0"/>
            </a:br>
            <a:r>
              <a:rPr lang="en-US" altLang="en-US" sz="2000" dirty="0"/>
              <a:t>of the member countries</a:t>
            </a:r>
          </a:p>
          <a:p>
            <a:pPr lvl="1"/>
            <a:r>
              <a:rPr lang="en-US" altLang="en-US" sz="2000" b="1" dirty="0"/>
              <a:t>European Commission:</a:t>
            </a:r>
            <a:r>
              <a:rPr lang="en-US" altLang="en-US" sz="2000" dirty="0"/>
              <a:t> executive body </a:t>
            </a:r>
          </a:p>
          <a:p>
            <a:pPr lvl="1"/>
            <a:r>
              <a:rPr lang="en-US" altLang="en-US" sz="2000" b="1" dirty="0"/>
              <a:t>Court of Justice:</a:t>
            </a:r>
            <a:r>
              <a:rPr lang="en-US" altLang="en-US" sz="2000" dirty="0"/>
              <a:t> interprets E</a:t>
            </a:r>
            <a:r>
              <a:rPr lang="en-US" altLang="en-US" sz="100" dirty="0"/>
              <a:t> </a:t>
            </a:r>
            <a:r>
              <a:rPr lang="en-US" altLang="en-US" sz="2000" dirty="0"/>
              <a:t>U law</a:t>
            </a:r>
          </a:p>
          <a:p>
            <a:pPr lvl="1"/>
            <a:r>
              <a:rPr lang="en-US" altLang="en-US" sz="2000" b="1" dirty="0"/>
              <a:t>European Central Bank</a:t>
            </a:r>
            <a:r>
              <a:rPr lang="en-US" altLang="en-US" sz="2000" dirty="0"/>
              <a:t>, which conducts monetary policy through a system of member country banks called the </a:t>
            </a:r>
            <a:r>
              <a:rPr lang="en-US" altLang="en-US" sz="2000" b="1" dirty="0"/>
              <a:t>European System of Central Banks</a:t>
            </a:r>
            <a:endParaRPr lang="en-IN" sz="2000" dirty="0"/>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the E</a:t>
            </a:r>
            <a:r>
              <a:rPr lang="en-US" altLang="en-US" sz="100" dirty="0"/>
              <a:t> </a:t>
            </a:r>
            <a:r>
              <a:rPr lang="en-US" altLang="en-US" dirty="0"/>
              <a:t>M</a:t>
            </a:r>
            <a:r>
              <a:rPr lang="en-US" altLang="en-US" sz="100" dirty="0"/>
              <a:t> </a:t>
            </a:r>
            <a:r>
              <a:rPr lang="en-US" altLang="en-US" dirty="0"/>
              <a:t>S?</a:t>
            </a:r>
            <a:endParaRPr lang="en-IN" dirty="0"/>
          </a:p>
        </p:txBody>
      </p:sp>
      <p:sp>
        <p:nvSpPr>
          <p:cNvPr id="3" name="Content Placeholder 2"/>
          <p:cNvSpPr>
            <a:spLocks noGrp="1"/>
          </p:cNvSpPr>
          <p:nvPr>
            <p:ph sz="quarter" idx="13"/>
          </p:nvPr>
        </p:nvSpPr>
        <p:spPr/>
        <p:txBody>
          <a:bodyPr/>
          <a:lstStyle/>
          <a:p>
            <a:r>
              <a:rPr lang="en-US" altLang="en-US" dirty="0"/>
              <a:t>The </a:t>
            </a:r>
            <a:r>
              <a:rPr lang="en-US" altLang="en-US" b="1" dirty="0"/>
              <a:t>European Monetary System</a:t>
            </a:r>
            <a:r>
              <a:rPr lang="en-US" altLang="en-US" dirty="0"/>
              <a:t> was originally a system of fixed exchange rates implemented in 1979 through an </a:t>
            </a:r>
            <a:r>
              <a:rPr lang="en-US" altLang="en-US" b="1" dirty="0"/>
              <a:t>exchange rate mechanism</a:t>
            </a:r>
            <a:r>
              <a:rPr lang="en-US" altLang="en-US" dirty="0"/>
              <a:t> (E</a:t>
            </a:r>
            <a:r>
              <a:rPr lang="en-US" altLang="en-US" sz="100" dirty="0"/>
              <a:t> </a:t>
            </a:r>
            <a:r>
              <a:rPr lang="en-US" altLang="en-US" dirty="0"/>
              <a:t>R</a:t>
            </a:r>
            <a:r>
              <a:rPr lang="en-US" altLang="en-US" sz="100" dirty="0"/>
              <a:t> </a:t>
            </a:r>
            <a:r>
              <a:rPr lang="en-US" altLang="en-US" dirty="0"/>
              <a:t>M).</a:t>
            </a:r>
          </a:p>
          <a:p>
            <a:r>
              <a:rPr lang="en-US" altLang="en-US" dirty="0"/>
              <a:t>The E</a:t>
            </a:r>
            <a:r>
              <a:rPr lang="en-US" altLang="en-US" sz="100" dirty="0"/>
              <a:t> </a:t>
            </a:r>
            <a:r>
              <a:rPr lang="en-US" altLang="en-US" dirty="0"/>
              <a:t>M</a:t>
            </a:r>
            <a:r>
              <a:rPr lang="en-US" altLang="en-US" sz="100" dirty="0"/>
              <a:t> </a:t>
            </a:r>
            <a:r>
              <a:rPr lang="en-US" altLang="en-US" dirty="0"/>
              <a:t>S has since developed into an </a:t>
            </a:r>
            <a:r>
              <a:rPr lang="en-US" altLang="en-US" b="1" dirty="0"/>
              <a:t>economic and monetary union </a:t>
            </a:r>
            <a:r>
              <a:rPr lang="en-US" altLang="en-US" dirty="0"/>
              <a:t>(E</a:t>
            </a:r>
            <a:r>
              <a:rPr lang="en-US" altLang="en-US" sz="100" dirty="0"/>
              <a:t> </a:t>
            </a:r>
            <a:r>
              <a:rPr lang="en-US" altLang="en-US" dirty="0"/>
              <a:t>M</a:t>
            </a:r>
            <a:r>
              <a:rPr lang="en-US" altLang="en-US" sz="100" dirty="0"/>
              <a:t> </a:t>
            </a:r>
            <a:r>
              <a:rPr lang="en-US" altLang="en-US" dirty="0"/>
              <a:t>U), a more extensive system of coordinated economic and monetary policies.</a:t>
            </a:r>
          </a:p>
          <a:p>
            <a:pPr lvl="1"/>
            <a:r>
              <a:rPr lang="en-US" altLang="en-US" dirty="0"/>
              <a:t>The EMS has replaced the exchange rate mechanism for most members with a common currency under the economic and monetary union.</a:t>
            </a:r>
            <a:endParaRPr lang="en-IN" dirty="0"/>
          </a:p>
        </p:txBody>
      </p:sp>
    </p:spTree>
    <p:extLst>
      <p:ext uri="{BB962C8B-B14F-4D97-AF65-F5344CB8AC3E}">
        <p14:creationId xmlns:p14="http://schemas.microsoft.com/office/powerpoint/2010/main" val="28984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Membership of the Economic and Monetary Union</a:t>
            </a:r>
            <a:endParaRPr lang="en-IN" sz="3200" dirty="0"/>
          </a:p>
        </p:txBody>
      </p:sp>
      <p:sp>
        <p:nvSpPr>
          <p:cNvPr id="3" name="Content Placeholder 2"/>
          <p:cNvSpPr>
            <a:spLocks noGrp="1"/>
          </p:cNvSpPr>
          <p:nvPr>
            <p:ph sz="quarter" idx="13"/>
          </p:nvPr>
        </p:nvSpPr>
        <p:spPr>
          <a:xfrm>
            <a:off x="457200" y="1556328"/>
            <a:ext cx="8229600" cy="868218"/>
          </a:xfrm>
        </p:spPr>
        <p:txBody>
          <a:bodyPr/>
          <a:lstStyle/>
          <a:p>
            <a:pPr marL="255600"/>
            <a:r>
              <a:rPr lang="en-US" altLang="en-US" dirty="0"/>
              <a:t>To be part of the economic and monetary union, E</a:t>
            </a:r>
            <a:r>
              <a:rPr lang="en-US" altLang="en-US" sz="100" dirty="0"/>
              <a:t> </a:t>
            </a:r>
            <a:r>
              <a:rPr lang="en-US" altLang="en-US" dirty="0"/>
              <a:t>M</a:t>
            </a:r>
            <a:r>
              <a:rPr lang="en-US" altLang="en-US" sz="100" dirty="0"/>
              <a:t> </a:t>
            </a:r>
            <a:r>
              <a:rPr lang="en-US" altLang="en-US" dirty="0"/>
              <a:t>S members must</a:t>
            </a:r>
          </a:p>
        </p:txBody>
      </p:sp>
      <p:sp>
        <p:nvSpPr>
          <p:cNvPr id="4" name="Content Placeholder 3"/>
          <p:cNvSpPr>
            <a:spLocks noGrp="1"/>
          </p:cNvSpPr>
          <p:nvPr>
            <p:ph sz="quarter" idx="14"/>
          </p:nvPr>
        </p:nvSpPr>
        <p:spPr>
          <a:xfrm>
            <a:off x="457200" y="2495034"/>
            <a:ext cx="8229600" cy="3443023"/>
          </a:xfrm>
        </p:spPr>
        <p:txBody>
          <a:bodyPr/>
          <a:lstStyle/>
          <a:p>
            <a:pPr marL="741600" lvl="1" indent="-428400">
              <a:buFont typeface="Times" pitchFamily="-1" charset="0"/>
              <a:buAutoNum type="arabicPeriod"/>
            </a:pPr>
            <a:r>
              <a:rPr lang="en-US" altLang="en-US" dirty="0"/>
              <a:t>adhere to the E</a:t>
            </a:r>
            <a:r>
              <a:rPr lang="en-US" altLang="en-US" sz="100" dirty="0"/>
              <a:t> </a:t>
            </a:r>
            <a:r>
              <a:rPr lang="en-US" altLang="en-US" dirty="0"/>
              <a:t>R</a:t>
            </a:r>
            <a:r>
              <a:rPr lang="en-US" altLang="en-US" sz="100" dirty="0"/>
              <a:t> </a:t>
            </a:r>
            <a:r>
              <a:rPr lang="en-US" altLang="en-US" dirty="0"/>
              <a:t>M: exchange rates were fixed in specified bands around a target exchange rate.</a:t>
            </a:r>
          </a:p>
          <a:p>
            <a:pPr marL="741600" lvl="1" indent="-428400">
              <a:buFont typeface="Times" pitchFamily="-1" charset="0"/>
              <a:buAutoNum type="arabicPeriod"/>
            </a:pPr>
            <a:r>
              <a:rPr lang="en-US" altLang="en-US" dirty="0"/>
              <a:t>follow restrained fiscal and monetary policies as determined by Council of the European Union and the European Central Bank.</a:t>
            </a:r>
          </a:p>
          <a:p>
            <a:pPr marL="741600" lvl="1" indent="-428400">
              <a:buFont typeface="Times" pitchFamily="-1" charset="0"/>
              <a:buAutoNum type="arabicPeriod"/>
            </a:pPr>
            <a:r>
              <a:rPr lang="en-US" altLang="en-US" dirty="0"/>
              <a:t>replace the national currency with the euro, whose circulation is determined by the European System of Central Banks.</a:t>
            </a:r>
            <a:endParaRPr lang="en-IN" dirty="0"/>
          </a:p>
        </p:txBody>
      </p:sp>
    </p:spTree>
    <p:extLst>
      <p:ext uri="{BB962C8B-B14F-4D97-AF65-F5344CB8AC3E}">
        <p14:creationId xmlns:p14="http://schemas.microsoft.com/office/powerpoint/2010/main" val="3287140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Membership of the E</a:t>
            </a:r>
            <a:r>
              <a:rPr lang="en-US" altLang="en-US" sz="100" dirty="0"/>
              <a:t> </a:t>
            </a:r>
            <a:r>
              <a:rPr lang="en-US" altLang="en-US" dirty="0"/>
              <a:t>U</a:t>
            </a:r>
            <a:endParaRPr lang="en-IN" dirty="0"/>
          </a:p>
        </p:txBody>
      </p:sp>
      <p:sp>
        <p:nvSpPr>
          <p:cNvPr id="3" name="Content Placeholder 2"/>
          <p:cNvSpPr>
            <a:spLocks noGrp="1"/>
          </p:cNvSpPr>
          <p:nvPr>
            <p:ph sz="quarter" idx="13"/>
          </p:nvPr>
        </p:nvSpPr>
        <p:spPr>
          <a:xfrm>
            <a:off x="457200" y="1556327"/>
            <a:ext cx="8229600" cy="870989"/>
          </a:xfrm>
        </p:spPr>
        <p:txBody>
          <a:bodyPr/>
          <a:lstStyle/>
          <a:p>
            <a:pPr marL="255600"/>
            <a:r>
              <a:rPr lang="en-US" altLang="en-US" dirty="0"/>
              <a:t>To be a member of the E</a:t>
            </a:r>
            <a:r>
              <a:rPr lang="en-US" altLang="en-US" sz="100" dirty="0"/>
              <a:t> </a:t>
            </a:r>
            <a:r>
              <a:rPr lang="en-US" altLang="en-US" dirty="0"/>
              <a:t>U, a country must, among other things, </a:t>
            </a:r>
          </a:p>
        </p:txBody>
      </p:sp>
      <p:sp>
        <p:nvSpPr>
          <p:cNvPr id="4" name="Content Placeholder 3"/>
          <p:cNvSpPr>
            <a:spLocks noGrp="1"/>
          </p:cNvSpPr>
          <p:nvPr>
            <p:ph sz="quarter" idx="14"/>
          </p:nvPr>
        </p:nvSpPr>
        <p:spPr>
          <a:xfrm>
            <a:off x="457200" y="2558781"/>
            <a:ext cx="8229600" cy="3742268"/>
          </a:xfrm>
        </p:spPr>
        <p:txBody>
          <a:bodyPr/>
          <a:lstStyle/>
          <a:p>
            <a:pPr marL="741600" lvl="1" indent="-428400">
              <a:buFont typeface="Times" pitchFamily="-1" charset="0"/>
              <a:buAutoNum type="arabicPeriod"/>
            </a:pPr>
            <a:r>
              <a:rPr lang="en-US" altLang="en-US" dirty="0"/>
              <a:t>have low barriers that limit trade and flows of financial assets</a:t>
            </a:r>
          </a:p>
          <a:p>
            <a:pPr marL="741600" lvl="1" indent="-428400">
              <a:buFont typeface="Times" pitchFamily="-1" charset="0"/>
              <a:buAutoNum type="arabicPeriod"/>
            </a:pPr>
            <a:r>
              <a:rPr lang="en-US" altLang="en-US" dirty="0"/>
              <a:t>adopt common rules for emigration and immigration to ease the movement of people</a:t>
            </a:r>
          </a:p>
          <a:p>
            <a:pPr marL="741600" lvl="1" indent="-428400">
              <a:buFont typeface="Times" pitchFamily="-1" charset="0"/>
              <a:buAutoNum type="arabicPeriod"/>
            </a:pPr>
            <a:r>
              <a:rPr lang="en-US" altLang="en-US" dirty="0"/>
              <a:t>establish common workplace safety and consumer protection rules</a:t>
            </a:r>
          </a:p>
          <a:p>
            <a:pPr marL="741600" lvl="1" indent="-428400">
              <a:buFont typeface="Times" pitchFamily="-1" charset="0"/>
              <a:buAutoNum type="arabicPeriod"/>
            </a:pPr>
            <a:r>
              <a:rPr lang="en-US" altLang="en-US" dirty="0"/>
              <a:t>establish certain political and legal institutions that are consistent with the E U’s definition of liberal democracy.</a:t>
            </a:r>
            <a:endParaRPr lang="en-IN" dirty="0"/>
          </a:p>
        </p:txBody>
      </p:sp>
    </p:spTree>
    <p:extLst>
      <p:ext uri="{BB962C8B-B14F-4D97-AF65-F5344CB8AC3E}">
        <p14:creationId xmlns:p14="http://schemas.microsoft.com/office/powerpoint/2010/main" val="2280486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21.1 Members of the Euro Zone as of January 1, 2021</a:t>
            </a:r>
            <a:endParaRPr lang="en-IN" sz="3200" dirty="0"/>
          </a:p>
        </p:txBody>
      </p:sp>
      <p:sp>
        <p:nvSpPr>
          <p:cNvPr id="3" name="Content Placeholder 2"/>
          <p:cNvSpPr>
            <a:spLocks noGrp="1"/>
          </p:cNvSpPr>
          <p:nvPr>
            <p:ph sz="quarter" idx="13"/>
          </p:nvPr>
        </p:nvSpPr>
        <p:spPr>
          <a:xfrm>
            <a:off x="457200" y="1552575"/>
            <a:ext cx="3991970" cy="3862473"/>
          </a:xfrm>
        </p:spPr>
        <p:txBody>
          <a:bodyPr/>
          <a:lstStyle/>
          <a:p>
            <a:pPr marL="432" indent="0">
              <a:buNone/>
            </a:pPr>
            <a:r>
              <a:rPr lang="en-US" sz="2000" dirty="0"/>
              <a:t>The heavily shaded countries on the map are the 19 members of EMU: Austria, Belgium, Cyprus, Estonia, Finland, France, Germany, Greece, Ireland, Italy, Latvia, Lithuania, Luxembourg, Malta, the Netherlands, Portugal, the Slovak Republic, Slovenia, and Spain. The United Kingdom never adopted the euro, and it left the EU in 2020 owing to the exit referendum of June 2016.</a:t>
            </a:r>
            <a:endParaRPr lang="en-IN" sz="2000" dirty="0"/>
          </a:p>
        </p:txBody>
      </p:sp>
      <p:pic>
        <p:nvPicPr>
          <p:cNvPr id="5" name="Content Placeholder 4" descr="A map of Europe, Scandinavia, and Eastern Europe depicts 19 members of the Euro zone as heavily shaded. 8 countries are lightly shaded, noting they are not in the euro zone. The U K is etched, indicating it is in the process of exiting the E U. &#10;"/>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4592408" y="1712434"/>
            <a:ext cx="4196223" cy="3453931"/>
          </a:xfrm>
        </p:spPr>
      </p:pic>
    </p:spTree>
    <p:extLst>
      <p:ext uri="{BB962C8B-B14F-4D97-AF65-F5344CB8AC3E}">
        <p14:creationId xmlns:p14="http://schemas.microsoft.com/office/powerpoint/2010/main" val="74928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Table 21.1 A Brief Glossary of </a:t>
            </a:r>
            <a:r>
              <a:rPr lang="en-US" altLang="en-US" sz="3200" dirty="0" err="1"/>
              <a:t>Euronyms</a:t>
            </a:r>
            <a:endParaRPr lang="en-IN"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4006049600"/>
              </p:ext>
            </p:extLst>
          </p:nvPr>
        </p:nvGraphicFramePr>
        <p:xfrm>
          <a:off x="457200" y="1555750"/>
          <a:ext cx="5763491" cy="4332432"/>
        </p:xfrm>
        <a:graphic>
          <a:graphicData uri="http://schemas.openxmlformats.org/drawingml/2006/table">
            <a:tbl>
              <a:tblPr firstCol="1" bandRow="1">
                <a:tableStyleId>{40F9630F-82C1-40B7-BC3A-925EFCFF5E92}</a:tableStyleId>
              </a:tblPr>
              <a:tblGrid>
                <a:gridCol w="1357745">
                  <a:extLst>
                    <a:ext uri="{9D8B030D-6E8A-4147-A177-3AD203B41FA5}">
                      <a16:colId xmlns:a16="http://schemas.microsoft.com/office/drawing/2014/main" val="586571204"/>
                    </a:ext>
                  </a:extLst>
                </a:gridCol>
                <a:gridCol w="4405746">
                  <a:extLst>
                    <a:ext uri="{9D8B030D-6E8A-4147-A177-3AD203B41FA5}">
                      <a16:colId xmlns:a16="http://schemas.microsoft.com/office/drawing/2014/main" val="394361248"/>
                    </a:ext>
                  </a:extLst>
                </a:gridCol>
              </a:tblGrid>
              <a:tr h="333264">
                <a:tc>
                  <a:txBody>
                    <a:bodyPr/>
                    <a:lstStyle/>
                    <a:p>
                      <a:r>
                        <a:rPr lang="en-US" b="0" dirty="0">
                          <a:solidFill>
                            <a:schemeClr val="tx1"/>
                          </a:solidFill>
                          <a:latin typeface="+mn-lt"/>
                        </a:rPr>
                        <a:t>E</a:t>
                      </a:r>
                      <a:r>
                        <a:rPr lang="en-US" sz="100" b="0" dirty="0">
                          <a:solidFill>
                            <a:schemeClr val="tx1"/>
                          </a:solidFill>
                          <a:latin typeface="+mn-lt"/>
                        </a:rPr>
                        <a:t> </a:t>
                      </a:r>
                      <a:r>
                        <a:rPr lang="en-US" b="0" dirty="0">
                          <a:solidFill>
                            <a:schemeClr val="tx1"/>
                          </a:solidFill>
                          <a:latin typeface="+mn-lt"/>
                        </a:rPr>
                        <a:t>C</a:t>
                      </a:r>
                      <a:r>
                        <a:rPr lang="en-US" sz="100" b="0" dirty="0">
                          <a:solidFill>
                            <a:schemeClr val="tx1"/>
                          </a:solidFill>
                          <a:latin typeface="+mn-lt"/>
                        </a:rPr>
                        <a:t> </a:t>
                      </a:r>
                      <a:r>
                        <a:rPr lang="en-US" b="0" dirty="0">
                          <a:solidFill>
                            <a:schemeClr val="tx1"/>
                          </a:solidFill>
                          <a:latin typeface="+mn-lt"/>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European Central Bank</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1663106"/>
                  </a:ext>
                </a:extLst>
              </a:tr>
              <a:tr h="3332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mn-lt"/>
                        </a:rPr>
                        <a:t>E</a:t>
                      </a:r>
                      <a:r>
                        <a:rPr lang="en-US" sz="100" b="0" dirty="0">
                          <a:solidFill>
                            <a:schemeClr val="tx1"/>
                          </a:solidFill>
                          <a:latin typeface="+mn-lt"/>
                        </a:rPr>
                        <a:t> </a:t>
                      </a:r>
                      <a:r>
                        <a:rPr lang="en-US" b="0" dirty="0" err="1">
                          <a:solidFill>
                            <a:schemeClr val="tx1"/>
                          </a:solidFill>
                          <a:latin typeface="+mn-lt"/>
                        </a:rPr>
                        <a:t>E</a:t>
                      </a:r>
                      <a:r>
                        <a:rPr lang="en-US" sz="100" b="0" dirty="0">
                          <a:solidFill>
                            <a:schemeClr val="tx1"/>
                          </a:solidFill>
                          <a:latin typeface="+mn-lt"/>
                        </a:rPr>
                        <a:t> </a:t>
                      </a:r>
                      <a:r>
                        <a:rPr lang="en-US" b="0" dirty="0">
                          <a:solidFill>
                            <a:schemeClr val="tx1"/>
                          </a:solidFill>
                          <a:latin typeface="+mn-lt"/>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0" i="0" u="none" strike="noStrike" kern="1200" baseline="0" dirty="0">
                          <a:solidFill>
                            <a:schemeClr val="tx1"/>
                          </a:solidFill>
                          <a:latin typeface="+mn-lt"/>
                          <a:ea typeface="+mn-ea"/>
                          <a:cs typeface="+mn-cs"/>
                        </a:rPr>
                        <a:t>European Economic Area</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5050558"/>
                  </a:ext>
                </a:extLst>
              </a:tr>
              <a:tr h="3332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mn-lt"/>
                        </a:rPr>
                        <a:t>E</a:t>
                      </a:r>
                      <a:r>
                        <a:rPr lang="en-US" sz="100" b="0" dirty="0">
                          <a:solidFill>
                            <a:schemeClr val="tx1"/>
                          </a:solidFill>
                          <a:latin typeface="+mn-lt"/>
                        </a:rPr>
                        <a:t> </a:t>
                      </a:r>
                      <a:r>
                        <a:rPr lang="en-US" b="0" dirty="0">
                          <a:solidFill>
                            <a:schemeClr val="tx1"/>
                          </a:solidFill>
                          <a:latin typeface="+mn-lt"/>
                        </a:rPr>
                        <a:t>F</a:t>
                      </a:r>
                      <a:r>
                        <a:rPr lang="en-US" sz="100" b="0" dirty="0">
                          <a:solidFill>
                            <a:schemeClr val="tx1"/>
                          </a:solidFill>
                          <a:latin typeface="+mn-lt"/>
                        </a:rPr>
                        <a:t> </a:t>
                      </a:r>
                      <a:r>
                        <a:rPr lang="en-US" b="0" dirty="0">
                          <a:solidFill>
                            <a:schemeClr val="tx1"/>
                          </a:solidFill>
                          <a:latin typeface="+mn-lt"/>
                        </a:rPr>
                        <a:t>S</a:t>
                      </a:r>
                      <a:r>
                        <a:rPr lang="en-US" sz="100" b="0" dirty="0">
                          <a:solidFill>
                            <a:schemeClr val="tx1"/>
                          </a:solidFill>
                          <a:latin typeface="+mn-lt"/>
                        </a:rPr>
                        <a:t> </a:t>
                      </a:r>
                      <a:r>
                        <a:rPr lang="en-US" b="0" dirty="0">
                          <a:solidFill>
                            <a:schemeClr val="tx1"/>
                          </a:solidFill>
                          <a:latin typeface="+mn-lt"/>
                        </a:rPr>
                        <a:t>F</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European Financial Stability Facility</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4179335"/>
                  </a:ext>
                </a:extLst>
              </a:tr>
              <a:tr h="333264">
                <a:tc>
                  <a:txBody>
                    <a:bodyPr/>
                    <a:lstStyle/>
                    <a:p>
                      <a:r>
                        <a:rPr lang="en-US" b="0" dirty="0">
                          <a:solidFill>
                            <a:schemeClr val="tx1"/>
                          </a:solidFill>
                          <a:latin typeface="+mn-lt"/>
                        </a:rPr>
                        <a:t>E</a:t>
                      </a:r>
                      <a:r>
                        <a:rPr lang="en-US" sz="100" b="0" dirty="0">
                          <a:solidFill>
                            <a:schemeClr val="tx1"/>
                          </a:solidFill>
                          <a:latin typeface="+mn-lt"/>
                        </a:rPr>
                        <a:t> </a:t>
                      </a:r>
                      <a:r>
                        <a:rPr lang="en-US" b="0" dirty="0">
                          <a:solidFill>
                            <a:schemeClr val="tx1"/>
                          </a:solidFill>
                          <a:latin typeface="+mn-lt"/>
                        </a:rPr>
                        <a:t>M</a:t>
                      </a:r>
                      <a:r>
                        <a:rPr lang="en-US" sz="100" b="0" dirty="0">
                          <a:solidFill>
                            <a:schemeClr val="tx1"/>
                          </a:solidFill>
                          <a:latin typeface="+mn-lt"/>
                        </a:rPr>
                        <a:t> </a:t>
                      </a:r>
                      <a:r>
                        <a:rPr lang="en-US" b="0" dirty="0">
                          <a:solidFill>
                            <a:schemeClr val="tx1"/>
                          </a:solidFill>
                          <a:latin typeface="+mn-lt"/>
                        </a:rPr>
                        <a: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European Monetary System</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201895"/>
                  </a:ext>
                </a:extLst>
              </a:tr>
              <a:tr h="333264">
                <a:tc>
                  <a:txBody>
                    <a:bodyPr/>
                    <a:lstStyle/>
                    <a:p>
                      <a:r>
                        <a:rPr lang="en-US" b="0" dirty="0">
                          <a:solidFill>
                            <a:schemeClr val="tx1"/>
                          </a:solidFill>
                          <a:latin typeface="+mn-lt"/>
                        </a:rPr>
                        <a:t>E</a:t>
                      </a:r>
                      <a:r>
                        <a:rPr lang="en-US" sz="100" b="0" dirty="0">
                          <a:solidFill>
                            <a:schemeClr val="tx1"/>
                          </a:solidFill>
                          <a:latin typeface="+mn-lt"/>
                        </a:rPr>
                        <a:t> </a:t>
                      </a:r>
                      <a:r>
                        <a:rPr lang="en-US" b="0" dirty="0">
                          <a:solidFill>
                            <a:schemeClr val="tx1"/>
                          </a:solidFill>
                          <a:latin typeface="+mn-lt"/>
                        </a:rPr>
                        <a:t>M</a:t>
                      </a:r>
                      <a:r>
                        <a:rPr lang="en-US" sz="100" b="0" dirty="0">
                          <a:solidFill>
                            <a:schemeClr val="tx1"/>
                          </a:solidFill>
                          <a:latin typeface="+mn-lt"/>
                        </a:rPr>
                        <a:t> </a:t>
                      </a:r>
                      <a:r>
                        <a:rPr lang="en-US" b="0" dirty="0">
                          <a:solidFill>
                            <a:schemeClr val="tx1"/>
                          </a:solidFill>
                          <a:latin typeface="+mn-lt"/>
                        </a:rPr>
                        <a:t>U</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Economic and Monetary Union</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896244"/>
                  </a:ext>
                </a:extLst>
              </a:tr>
              <a:tr h="3332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mn-lt"/>
                        </a:rPr>
                        <a:t>E</a:t>
                      </a:r>
                      <a:r>
                        <a:rPr lang="en-US" sz="100" b="0" dirty="0">
                          <a:solidFill>
                            <a:schemeClr val="tx1"/>
                          </a:solidFill>
                          <a:latin typeface="+mn-lt"/>
                        </a:rPr>
                        <a:t> </a:t>
                      </a:r>
                      <a:r>
                        <a:rPr lang="en-US" b="0" dirty="0">
                          <a:solidFill>
                            <a:schemeClr val="tx1"/>
                          </a:solidFill>
                          <a:latin typeface="+mn-lt"/>
                        </a:rPr>
                        <a:t>R</a:t>
                      </a:r>
                      <a:r>
                        <a:rPr lang="en-US" sz="100" b="0" dirty="0">
                          <a:solidFill>
                            <a:schemeClr val="tx1"/>
                          </a:solidFill>
                          <a:latin typeface="+mn-lt"/>
                        </a:rPr>
                        <a:t> </a:t>
                      </a:r>
                      <a:r>
                        <a:rPr lang="en-US" b="0" dirty="0">
                          <a:solidFill>
                            <a:schemeClr val="tx1"/>
                          </a:solidFill>
                          <a:latin typeface="+mn-lt"/>
                        </a:rPr>
                        <a:t>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Exchange Rate Mechanism</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9458484"/>
                  </a:ext>
                </a:extLst>
              </a:tr>
              <a:tr h="333264">
                <a:tc>
                  <a:txBody>
                    <a:bodyPr/>
                    <a:lstStyle/>
                    <a:p>
                      <a:r>
                        <a:rPr lang="en-US" b="0" dirty="0">
                          <a:solidFill>
                            <a:schemeClr val="tx1"/>
                          </a:solidFill>
                          <a:latin typeface="+mn-lt"/>
                        </a:rPr>
                        <a:t>E</a:t>
                      </a:r>
                      <a:r>
                        <a:rPr lang="en-US" sz="100" b="0" dirty="0">
                          <a:solidFill>
                            <a:schemeClr val="tx1"/>
                          </a:solidFill>
                          <a:latin typeface="+mn-lt"/>
                        </a:rPr>
                        <a:t> </a:t>
                      </a:r>
                      <a:r>
                        <a:rPr lang="en-US" b="0" dirty="0">
                          <a:solidFill>
                            <a:schemeClr val="tx1"/>
                          </a:solidFill>
                          <a:latin typeface="+mn-lt"/>
                        </a:rPr>
                        <a:t>S</a:t>
                      </a:r>
                      <a:r>
                        <a:rPr lang="en-US" sz="100" b="0" dirty="0">
                          <a:solidFill>
                            <a:schemeClr val="tx1"/>
                          </a:solidFill>
                          <a:latin typeface="+mn-lt"/>
                        </a:rPr>
                        <a:t> </a:t>
                      </a:r>
                      <a:r>
                        <a:rPr lang="en-US" b="0" dirty="0">
                          <a:solidFill>
                            <a:schemeClr val="tx1"/>
                          </a:solidFill>
                          <a:latin typeface="+mn-lt"/>
                        </a:rPr>
                        <a:t>C</a:t>
                      </a:r>
                      <a:r>
                        <a:rPr lang="en-US" sz="100" b="0" dirty="0">
                          <a:solidFill>
                            <a:schemeClr val="tx1"/>
                          </a:solidFill>
                          <a:latin typeface="+mn-lt"/>
                        </a:rPr>
                        <a:t> </a:t>
                      </a:r>
                      <a:r>
                        <a:rPr lang="en-US" b="0" dirty="0">
                          <a:solidFill>
                            <a:schemeClr val="tx1"/>
                          </a:solidFill>
                          <a:latin typeface="+mn-lt"/>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European System of Central Banks</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3705818"/>
                  </a:ext>
                </a:extLst>
              </a:tr>
              <a:tr h="3332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mn-lt"/>
                        </a:rPr>
                        <a:t>E</a:t>
                      </a:r>
                      <a:r>
                        <a:rPr lang="en-US" sz="100" b="0" dirty="0">
                          <a:solidFill>
                            <a:schemeClr val="tx1"/>
                          </a:solidFill>
                          <a:latin typeface="+mn-lt"/>
                        </a:rPr>
                        <a:t> </a:t>
                      </a:r>
                      <a:r>
                        <a:rPr lang="en-US" b="0" dirty="0">
                          <a:solidFill>
                            <a:schemeClr val="tx1"/>
                          </a:solidFill>
                          <a:latin typeface="+mn-lt"/>
                        </a:rPr>
                        <a:t>S</a:t>
                      </a:r>
                      <a:r>
                        <a:rPr lang="en-US" sz="100" b="0" dirty="0">
                          <a:solidFill>
                            <a:schemeClr val="tx1"/>
                          </a:solidFill>
                          <a:latin typeface="+mn-lt"/>
                        </a:rPr>
                        <a:t> </a:t>
                      </a:r>
                      <a:r>
                        <a:rPr lang="en-US" b="0" dirty="0">
                          <a:solidFill>
                            <a:schemeClr val="tx1"/>
                          </a:solidFill>
                          <a:latin typeface="+mn-lt"/>
                        </a:rPr>
                        <a:t>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European Stability Mechanism</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631626"/>
                  </a:ext>
                </a:extLst>
              </a:tr>
              <a:tr h="333264">
                <a:tc>
                  <a:txBody>
                    <a:bodyPr/>
                    <a:lstStyle/>
                    <a:p>
                      <a:r>
                        <a:rPr lang="en-US" b="0" dirty="0">
                          <a:solidFill>
                            <a:schemeClr val="tx1"/>
                          </a:solidFill>
                          <a:latin typeface="+mn-lt"/>
                        </a:rPr>
                        <a:t>E</a:t>
                      </a:r>
                      <a:r>
                        <a:rPr lang="en-US" sz="100" b="0" dirty="0">
                          <a:solidFill>
                            <a:schemeClr val="tx1"/>
                          </a:solidFill>
                          <a:latin typeface="+mn-lt"/>
                        </a:rPr>
                        <a:t> </a:t>
                      </a:r>
                      <a:r>
                        <a:rPr lang="en-US" b="0" dirty="0">
                          <a:solidFill>
                            <a:schemeClr val="tx1"/>
                          </a:solidFill>
                          <a:latin typeface="+mn-lt"/>
                        </a:rPr>
                        <a:t>U</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European Union</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1777775"/>
                  </a:ext>
                </a:extLst>
              </a:tr>
              <a:tr h="333264">
                <a:tc>
                  <a:txBody>
                    <a:bodyPr/>
                    <a:lstStyle/>
                    <a:p>
                      <a:r>
                        <a:rPr lang="en-US" b="0" dirty="0">
                          <a:solidFill>
                            <a:schemeClr val="tx1"/>
                          </a:solidFill>
                          <a:latin typeface="+mn-lt"/>
                        </a:rPr>
                        <a:t>O</a:t>
                      </a:r>
                      <a:r>
                        <a:rPr lang="en-US" sz="100" b="0" dirty="0">
                          <a:solidFill>
                            <a:schemeClr val="tx1"/>
                          </a:solidFill>
                          <a:latin typeface="+mn-lt"/>
                        </a:rPr>
                        <a:t> </a:t>
                      </a:r>
                      <a:r>
                        <a:rPr lang="en-US" b="0" dirty="0">
                          <a:solidFill>
                            <a:schemeClr val="tx1"/>
                          </a:solidFill>
                          <a:latin typeface="+mn-lt"/>
                        </a:rPr>
                        <a:t>M</a:t>
                      </a:r>
                      <a:r>
                        <a:rPr lang="en-US" sz="100" b="0" dirty="0">
                          <a:solidFill>
                            <a:schemeClr val="tx1"/>
                          </a:solidFill>
                          <a:latin typeface="+mn-lt"/>
                        </a:rPr>
                        <a:t> </a:t>
                      </a:r>
                      <a:r>
                        <a:rPr lang="en-US" b="0" dirty="0">
                          <a:solidFill>
                            <a:schemeClr val="tx1"/>
                          </a:solidFill>
                          <a:latin typeface="+mn-lt"/>
                        </a:rPr>
                        <a:t>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Outright Monetary Transactions</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352342"/>
                  </a:ext>
                </a:extLst>
              </a:tr>
              <a:tr h="333264">
                <a:tc>
                  <a:txBody>
                    <a:bodyPr/>
                    <a:lstStyle/>
                    <a:p>
                      <a:r>
                        <a:rPr lang="en-US" b="0" dirty="0">
                          <a:solidFill>
                            <a:schemeClr val="tx1"/>
                          </a:solidFill>
                          <a:latin typeface="+mn-lt"/>
                        </a:rPr>
                        <a:t>S</a:t>
                      </a:r>
                      <a:r>
                        <a:rPr lang="en-US" sz="100" b="0" dirty="0">
                          <a:solidFill>
                            <a:schemeClr val="tx1"/>
                          </a:solidFill>
                          <a:latin typeface="+mn-lt"/>
                        </a:rPr>
                        <a:t> </a:t>
                      </a:r>
                      <a:r>
                        <a:rPr lang="en-US" b="0" dirty="0">
                          <a:solidFill>
                            <a:schemeClr val="tx1"/>
                          </a:solidFill>
                          <a:latin typeface="+mn-lt"/>
                        </a:rPr>
                        <a:t>G</a:t>
                      </a:r>
                      <a:r>
                        <a:rPr lang="en-US" sz="100" b="0" dirty="0">
                          <a:solidFill>
                            <a:schemeClr val="tx1"/>
                          </a:solidFill>
                          <a:latin typeface="+mn-lt"/>
                        </a:rPr>
                        <a:t> </a:t>
                      </a:r>
                      <a:r>
                        <a:rPr lang="en-US" b="0" dirty="0">
                          <a:solidFill>
                            <a:schemeClr val="tx1"/>
                          </a:solidFill>
                          <a:latin typeface="+mn-lt"/>
                        </a:rPr>
                        <a:t>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Stability and Growth Pact</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8682774"/>
                  </a:ext>
                </a:extLst>
              </a:tr>
              <a:tr h="333264">
                <a:tc>
                  <a:txBody>
                    <a:bodyPr/>
                    <a:lstStyle/>
                    <a:p>
                      <a:r>
                        <a:rPr lang="en-US" b="0" dirty="0">
                          <a:solidFill>
                            <a:schemeClr val="tx1"/>
                          </a:solidFill>
                          <a:latin typeface="+mn-lt"/>
                        </a:rPr>
                        <a:t>S</a:t>
                      </a:r>
                      <a:r>
                        <a:rPr lang="en-US" sz="100" b="0" dirty="0">
                          <a:solidFill>
                            <a:schemeClr val="tx1"/>
                          </a:solidFill>
                          <a:latin typeface="+mn-lt"/>
                        </a:rPr>
                        <a:t> </a:t>
                      </a:r>
                      <a:r>
                        <a:rPr lang="en-US" b="0" dirty="0">
                          <a:solidFill>
                            <a:schemeClr val="tx1"/>
                          </a:solidFill>
                          <a:latin typeface="+mn-lt"/>
                        </a:rPr>
                        <a:t>R</a:t>
                      </a:r>
                      <a:r>
                        <a:rPr lang="en-US" sz="100" b="0" dirty="0">
                          <a:solidFill>
                            <a:schemeClr val="tx1"/>
                          </a:solidFill>
                          <a:latin typeface="+mn-lt"/>
                        </a:rPr>
                        <a:t> </a:t>
                      </a:r>
                      <a:r>
                        <a:rPr lang="en-US" b="0" dirty="0">
                          <a:solidFill>
                            <a:schemeClr val="tx1"/>
                          </a:solidFill>
                          <a:latin typeface="+mn-lt"/>
                        </a:rPr>
                        <a:t>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Single Resolution Mechanism</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1277650"/>
                  </a:ext>
                </a:extLst>
              </a:tr>
              <a:tr h="3332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mn-lt"/>
                        </a:rPr>
                        <a:t>S</a:t>
                      </a:r>
                      <a:r>
                        <a:rPr lang="en-US" sz="100" b="0" dirty="0">
                          <a:solidFill>
                            <a:schemeClr val="tx1"/>
                          </a:solidFill>
                          <a:latin typeface="+mn-lt"/>
                        </a:rPr>
                        <a:t> </a:t>
                      </a:r>
                      <a:r>
                        <a:rPr lang="en-US" b="0" dirty="0" err="1">
                          <a:solidFill>
                            <a:schemeClr val="tx1"/>
                          </a:solidFill>
                          <a:latin typeface="+mn-lt"/>
                        </a:rPr>
                        <a:t>S</a:t>
                      </a:r>
                      <a:r>
                        <a:rPr lang="en-US" sz="100" b="0" dirty="0">
                          <a:solidFill>
                            <a:schemeClr val="tx1"/>
                          </a:solidFill>
                          <a:latin typeface="+mn-lt"/>
                        </a:rPr>
                        <a:t> </a:t>
                      </a:r>
                      <a:r>
                        <a:rPr lang="en-US" b="0" dirty="0">
                          <a:solidFill>
                            <a:schemeClr val="tx1"/>
                          </a:solidFill>
                          <a:latin typeface="+mn-lt"/>
                        </a:rPr>
                        <a:t>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tx1"/>
                          </a:solidFill>
                          <a:latin typeface="+mn-lt"/>
                          <a:ea typeface="+mn-ea"/>
                          <a:cs typeface="+mn-cs"/>
                        </a:rPr>
                        <a:t>Single Supervisory Mechanism</a:t>
                      </a:r>
                      <a:endParaRPr lang="en-US" sz="14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9365651"/>
                  </a:ext>
                </a:extLst>
              </a:tr>
            </a:tbl>
          </a:graphicData>
        </a:graphic>
      </p:graphicFrame>
    </p:spTree>
    <p:extLst>
      <p:ext uri="{BB962C8B-B14F-4D97-AF65-F5344CB8AC3E}">
        <p14:creationId xmlns:p14="http://schemas.microsoft.com/office/powerpoint/2010/main" val="2818221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Why the E</a:t>
            </a:r>
            <a:r>
              <a:rPr lang="en-US" altLang="en-US" sz="100"/>
              <a:t> </a:t>
            </a:r>
            <a:r>
              <a:rPr lang="en-US" altLang="en-US"/>
              <a:t>U?</a:t>
            </a:r>
            <a:endParaRPr lang="en-US"/>
          </a:p>
        </p:txBody>
      </p:sp>
      <p:sp>
        <p:nvSpPr>
          <p:cNvPr id="3" name="Content Placeholder 2"/>
          <p:cNvSpPr>
            <a:spLocks noGrp="1"/>
          </p:cNvSpPr>
          <p:nvPr>
            <p:ph sz="quarter" idx="13"/>
          </p:nvPr>
        </p:nvSpPr>
        <p:spPr>
          <a:xfrm>
            <a:off x="457200" y="1632989"/>
            <a:ext cx="8229600" cy="500611"/>
          </a:xfrm>
        </p:spPr>
        <p:txBody>
          <a:bodyPr/>
          <a:lstStyle/>
          <a:p>
            <a:pPr marL="255600"/>
            <a:r>
              <a:rPr lang="en-US" altLang="en-US" sz="2200"/>
              <a:t>Countries that established the E</a:t>
            </a:r>
            <a:r>
              <a:rPr lang="en-US" altLang="en-US" sz="100"/>
              <a:t> </a:t>
            </a:r>
            <a:r>
              <a:rPr lang="en-US" altLang="en-US" sz="2200"/>
              <a:t>U and E</a:t>
            </a:r>
            <a:r>
              <a:rPr lang="en-US" altLang="en-US" sz="100"/>
              <a:t> </a:t>
            </a:r>
            <a:r>
              <a:rPr lang="en-US" altLang="en-US" sz="2200"/>
              <a:t>M</a:t>
            </a:r>
            <a:r>
              <a:rPr lang="en-US" altLang="en-US" sz="100"/>
              <a:t> </a:t>
            </a:r>
            <a:r>
              <a:rPr lang="en-US" altLang="en-US" sz="2200"/>
              <a:t>S had several goals</a:t>
            </a:r>
          </a:p>
        </p:txBody>
      </p:sp>
      <p:sp>
        <p:nvSpPr>
          <p:cNvPr id="4" name="Content Placeholder 3"/>
          <p:cNvSpPr>
            <a:spLocks noGrp="1"/>
          </p:cNvSpPr>
          <p:nvPr>
            <p:ph sz="quarter" idx="14"/>
          </p:nvPr>
        </p:nvSpPr>
        <p:spPr>
          <a:xfrm>
            <a:off x="457200" y="2201322"/>
            <a:ext cx="8229600" cy="3842029"/>
          </a:xfrm>
        </p:spPr>
        <p:txBody>
          <a:bodyPr/>
          <a:lstStyle/>
          <a:p>
            <a:pPr marL="741600" lvl="1" indent="-428400">
              <a:buFont typeface="Times" pitchFamily="-1" charset="0"/>
              <a:buAutoNum type="arabicPeriod"/>
            </a:pPr>
            <a:r>
              <a:rPr lang="en-US" altLang="en-US" sz="2200"/>
              <a:t>To enhance Europe’</a:t>
            </a:r>
            <a:r>
              <a:rPr lang="en-US" altLang="ja-JP" sz="2200"/>
              <a:t>s</a:t>
            </a:r>
            <a:r>
              <a:rPr lang="en-US" altLang="ja-JP" sz="2200" b="1"/>
              <a:t> power in international affairs</a:t>
            </a:r>
            <a:r>
              <a:rPr lang="en-US" altLang="ja-JP" sz="2200"/>
              <a:t>: as a union of countries, the E</a:t>
            </a:r>
            <a:r>
              <a:rPr lang="en-US" altLang="ja-JP" sz="100"/>
              <a:t> </a:t>
            </a:r>
            <a:r>
              <a:rPr lang="en-US" altLang="ja-JP" sz="2200"/>
              <a:t>U could represent more economic and political power in the world.</a:t>
            </a:r>
          </a:p>
          <a:p>
            <a:pPr marL="741600" lvl="1" indent="-428400">
              <a:buFont typeface="Times" pitchFamily="-1" charset="0"/>
              <a:buAutoNum type="arabicPeriod"/>
            </a:pPr>
            <a:r>
              <a:rPr lang="en-US" altLang="en-US" sz="2200"/>
              <a:t>To make Europe a </a:t>
            </a:r>
            <a:r>
              <a:rPr lang="en-US" altLang="en-US" sz="2200" b="1"/>
              <a:t>unified market</a:t>
            </a:r>
            <a:r>
              <a:rPr lang="en-US" altLang="en-US" sz="2200"/>
              <a:t>: a large market with free trade, free flows of financial assets, and free migration of people—in addition to fixed exchange rates or a common currency—was believed to foster economic growth and economic well-being.</a:t>
            </a:r>
          </a:p>
          <a:p>
            <a:pPr marL="741600" lvl="1" indent="-428400">
              <a:buFont typeface="Times" pitchFamily="-1" charset="0"/>
              <a:buAutoNum type="arabicPeriod"/>
            </a:pPr>
            <a:r>
              <a:rPr lang="en-US" altLang="en-US" sz="2200"/>
              <a:t>To make Europe </a:t>
            </a:r>
            <a:r>
              <a:rPr lang="en-US" altLang="en-US" sz="2200" b="1"/>
              <a:t>politically stable and peaceful</a:t>
            </a:r>
            <a:r>
              <a:rPr lang="en-US" altLang="en-US" sz="2200"/>
              <a:t>.</a:t>
            </a:r>
            <a:endParaRPr lang="en-US"/>
          </a:p>
        </p:txBody>
      </p:sp>
    </p:spTree>
    <p:extLst>
      <p:ext uri="{BB962C8B-B14F-4D97-AF65-F5344CB8AC3E}">
        <p14:creationId xmlns:p14="http://schemas.microsoft.com/office/powerpoint/2010/main" val="63866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Why the Euro (E</a:t>
            </a:r>
            <a:r>
              <a:rPr lang="en-US" altLang="en-US" sz="100" dirty="0"/>
              <a:t> </a:t>
            </a:r>
            <a:r>
              <a:rPr lang="en-US" altLang="en-US" dirty="0"/>
              <a:t>M</a:t>
            </a:r>
            <a:r>
              <a:rPr lang="en-US" altLang="en-US" sz="100" dirty="0"/>
              <a:t> </a:t>
            </a:r>
            <a:r>
              <a:rPr lang="en-US" altLang="en-US" dirty="0"/>
              <a:t>U)?</a:t>
            </a:r>
            <a:endParaRPr lang="en-IN" dirty="0"/>
          </a:p>
        </p:txBody>
      </p:sp>
      <p:sp>
        <p:nvSpPr>
          <p:cNvPr id="3" name="Content Placeholder 2"/>
          <p:cNvSpPr>
            <a:spLocks noGrp="1"/>
          </p:cNvSpPr>
          <p:nvPr>
            <p:ph sz="quarter" idx="13"/>
          </p:nvPr>
        </p:nvSpPr>
        <p:spPr>
          <a:xfrm>
            <a:off x="457200" y="1556327"/>
            <a:ext cx="8229600" cy="438728"/>
          </a:xfrm>
        </p:spPr>
        <p:txBody>
          <a:bodyPr/>
          <a:lstStyle/>
          <a:p>
            <a:pPr marL="432" indent="0">
              <a:buNone/>
            </a:pPr>
            <a:r>
              <a:rPr lang="en-US" altLang="en-US" sz="2000" dirty="0"/>
              <a:t>E</a:t>
            </a:r>
            <a:r>
              <a:rPr lang="en-US" altLang="en-US" sz="100" dirty="0"/>
              <a:t> </a:t>
            </a:r>
            <a:r>
              <a:rPr lang="en-US" altLang="en-US" sz="2000" dirty="0"/>
              <a:t>U members adopted the euro for four main reasons:</a:t>
            </a:r>
            <a:endParaRPr lang="en-IN" sz="2000" dirty="0"/>
          </a:p>
        </p:txBody>
      </p:sp>
      <p:sp>
        <p:nvSpPr>
          <p:cNvPr id="4" name="Content Placeholder 3"/>
          <p:cNvSpPr>
            <a:spLocks noGrp="1"/>
          </p:cNvSpPr>
          <p:nvPr>
            <p:ph sz="quarter" idx="14"/>
          </p:nvPr>
        </p:nvSpPr>
        <p:spPr>
          <a:xfrm>
            <a:off x="457200" y="2065545"/>
            <a:ext cx="8229600" cy="3775530"/>
          </a:xfrm>
        </p:spPr>
        <p:txBody>
          <a:bodyPr/>
          <a:lstStyle/>
          <a:p>
            <a:pPr marL="741600" lvl="1" indent="-428400">
              <a:buFont typeface="Times" pitchFamily="-1" charset="0"/>
              <a:buAutoNum type="arabicPeriod"/>
            </a:pPr>
            <a:r>
              <a:rPr lang="en-US" altLang="en-US" sz="2000" b="1" dirty="0"/>
              <a:t>Unified market</a:t>
            </a:r>
            <a:r>
              <a:rPr lang="en-US" altLang="en-US" sz="2000" dirty="0"/>
              <a:t>: the belief that greater market integration and economic growth would occur.</a:t>
            </a:r>
          </a:p>
          <a:p>
            <a:pPr marL="741600" lvl="1" indent="-428400">
              <a:buFont typeface="Times" pitchFamily="-1" charset="0"/>
              <a:buAutoNum type="arabicPeriod"/>
            </a:pPr>
            <a:r>
              <a:rPr lang="en-US" altLang="en-US" sz="2000" b="1" dirty="0"/>
              <a:t>Political stability</a:t>
            </a:r>
            <a:r>
              <a:rPr lang="en-US" altLang="en-US" sz="2000" dirty="0"/>
              <a:t>: the belief that a common currency would make political interests more uniform.</a:t>
            </a:r>
          </a:p>
          <a:p>
            <a:pPr marL="741600" lvl="1" indent="-428400">
              <a:buFont typeface="Times" pitchFamily="-1" charset="0"/>
              <a:buAutoNum type="arabicPeriod"/>
            </a:pPr>
            <a:r>
              <a:rPr lang="en-US" altLang="en-US" sz="2000" b="1" dirty="0"/>
              <a:t>The belief that</a:t>
            </a:r>
            <a:r>
              <a:rPr lang="en-US" altLang="en-US" sz="2000" dirty="0"/>
              <a:t> </a:t>
            </a:r>
            <a:r>
              <a:rPr lang="en-US" altLang="en-US" sz="2000" b="1" dirty="0"/>
              <a:t>German influence</a:t>
            </a:r>
            <a:r>
              <a:rPr lang="en-US" altLang="en-US" sz="2000" dirty="0"/>
              <a:t> under the E</a:t>
            </a:r>
            <a:r>
              <a:rPr lang="en-US" altLang="en-US" sz="100" dirty="0"/>
              <a:t> </a:t>
            </a:r>
            <a:r>
              <a:rPr lang="en-US" altLang="en-US" sz="2000" dirty="0"/>
              <a:t>M</a:t>
            </a:r>
            <a:r>
              <a:rPr lang="en-US" altLang="en-US" sz="100" dirty="0"/>
              <a:t> </a:t>
            </a:r>
            <a:r>
              <a:rPr lang="en-US" altLang="en-US" sz="2000" dirty="0"/>
              <a:t>S </a:t>
            </a:r>
            <a:r>
              <a:rPr lang="en-US" altLang="en-US" sz="2000" b="1" dirty="0"/>
              <a:t>would be moderated</a:t>
            </a:r>
            <a:r>
              <a:rPr lang="en-US" altLang="en-US" sz="2000" dirty="0"/>
              <a:t> under a European System of Central Banks.</a:t>
            </a:r>
          </a:p>
          <a:p>
            <a:pPr marL="741600" lvl="1" indent="-428400">
              <a:buFont typeface="Times" pitchFamily="-1" charset="0"/>
              <a:buAutoNum type="arabicPeriod"/>
            </a:pPr>
            <a:r>
              <a:rPr lang="en-US" altLang="en-US" sz="2000" b="1" dirty="0"/>
              <a:t>Elimination of the possibility of devaluations/ revaluations</a:t>
            </a:r>
            <a:r>
              <a:rPr lang="en-US" altLang="en-US" sz="2000" dirty="0"/>
              <a:t>: with free flows of financial assets, capital flight and speculation could occur in an E</a:t>
            </a:r>
            <a:r>
              <a:rPr lang="en-US" altLang="en-US" sz="100" dirty="0"/>
              <a:t> </a:t>
            </a:r>
            <a:r>
              <a:rPr lang="en-US" altLang="en-US" sz="2000" dirty="0"/>
              <a:t>M</a:t>
            </a:r>
            <a:r>
              <a:rPr lang="en-US" altLang="en-US" sz="100" dirty="0"/>
              <a:t> </a:t>
            </a:r>
            <a:r>
              <a:rPr lang="en-US" altLang="en-US" sz="2000" dirty="0"/>
              <a:t>S with separate currencies, but it would be more difficult for them to occur in an E</a:t>
            </a:r>
            <a:r>
              <a:rPr lang="en-US" altLang="en-US" sz="100" dirty="0"/>
              <a:t> </a:t>
            </a:r>
            <a:r>
              <a:rPr lang="en-US" altLang="en-US" sz="2000" dirty="0"/>
              <a:t>M</a:t>
            </a:r>
            <a:r>
              <a:rPr lang="en-US" altLang="en-US" sz="100" dirty="0"/>
              <a:t> </a:t>
            </a:r>
            <a:r>
              <a:rPr lang="en-US" altLang="en-US" sz="2000" dirty="0"/>
              <a:t>S with a single currency.</a:t>
            </a:r>
            <a:endParaRPr lang="en-IN" sz="2000" dirty="0"/>
          </a:p>
        </p:txBody>
      </p:sp>
    </p:spTree>
    <p:extLst>
      <p:ext uri="{BB962C8B-B14F-4D97-AF65-F5344CB8AC3E}">
        <p14:creationId xmlns:p14="http://schemas.microsoft.com/office/powerpoint/2010/main" val="3934873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E</a:t>
            </a:r>
            <a:r>
              <a:rPr lang="en-US" altLang="en-US" sz="100" dirty="0"/>
              <a:t> </a:t>
            </a:r>
            <a:r>
              <a:rPr lang="en-US" altLang="en-US" dirty="0"/>
              <a:t>M</a:t>
            </a:r>
            <a:r>
              <a:rPr lang="en-US" altLang="en-US" sz="100" dirty="0"/>
              <a:t> </a:t>
            </a:r>
            <a:r>
              <a:rPr lang="en-US" altLang="en-US" dirty="0"/>
              <a:t>S: 1979–1998 </a:t>
            </a:r>
            <a:r>
              <a:rPr lang="en-US" altLang="en-US" sz="2000" b="0" dirty="0"/>
              <a:t>(1 of 4)</a:t>
            </a:r>
            <a:endParaRPr lang="en-IN" dirty="0"/>
          </a:p>
        </p:txBody>
      </p:sp>
      <p:sp>
        <p:nvSpPr>
          <p:cNvPr id="3" name="Content Placeholder 2"/>
          <p:cNvSpPr>
            <a:spLocks noGrp="1"/>
          </p:cNvSpPr>
          <p:nvPr>
            <p:ph sz="quarter" idx="13"/>
          </p:nvPr>
        </p:nvSpPr>
        <p:spPr>
          <a:xfrm>
            <a:off x="457200" y="1552575"/>
            <a:ext cx="8229600" cy="763052"/>
          </a:xfrm>
        </p:spPr>
        <p:txBody>
          <a:bodyPr lIns="0" tIns="0" rIns="0" bIns="0"/>
          <a:lstStyle/>
          <a:p>
            <a:r>
              <a:rPr lang="en-US" altLang="en-US" dirty="0"/>
              <a:t>From 1979 to 1993, the E</a:t>
            </a:r>
            <a:r>
              <a:rPr lang="en-US" altLang="en-US" sz="100" dirty="0"/>
              <a:t> </a:t>
            </a:r>
            <a:r>
              <a:rPr lang="en-US" altLang="en-US" dirty="0"/>
              <a:t>M</a:t>
            </a:r>
            <a:r>
              <a:rPr lang="en-US" altLang="en-US" sz="100" dirty="0"/>
              <a:t> </a:t>
            </a:r>
            <a:r>
              <a:rPr lang="en-US" altLang="en-US" dirty="0"/>
              <a:t>S defined the exchange </a:t>
            </a:r>
            <a:br>
              <a:rPr lang="en-US" altLang="en-US" dirty="0"/>
            </a:br>
            <a:r>
              <a:rPr lang="en-US" altLang="en-US" dirty="0"/>
              <a:t>rate mechanism to allow most currencies to fluctuate</a:t>
            </a:r>
            <a:endParaRPr lang="en-IN" dirty="0"/>
          </a:p>
        </p:txBody>
      </p:sp>
      <p:graphicFrame>
        <p:nvGraphicFramePr>
          <p:cNvPr id="18" name="Object 17" descr="+ or minus 2.25% "/>
          <p:cNvGraphicFramePr>
            <a:graphicFrameLocks noChangeAspect="1"/>
          </p:cNvGraphicFramePr>
          <p:nvPr>
            <p:extLst>
              <p:ext uri="{D42A27DB-BD31-4B8C-83A1-F6EECF244321}">
                <p14:modId xmlns:p14="http://schemas.microsoft.com/office/powerpoint/2010/main" val="2392617509"/>
              </p:ext>
            </p:extLst>
          </p:nvPr>
        </p:nvGraphicFramePr>
        <p:xfrm>
          <a:off x="684188" y="2388856"/>
          <a:ext cx="1460174" cy="346482"/>
        </p:xfrm>
        <a:graphic>
          <a:graphicData uri="http://schemas.openxmlformats.org/presentationml/2006/ole">
            <mc:AlternateContent xmlns:mc="http://schemas.openxmlformats.org/markup-compatibility/2006">
              <mc:Choice xmlns:v="urn:schemas-microsoft-com:vml" Requires="v">
                <p:oleObj spid="_x0000_s1028" name="Equation" r:id="rId3" imgW="749160" imgH="177480" progId="Equation.DSMT4">
                  <p:embed/>
                </p:oleObj>
              </mc:Choice>
              <mc:Fallback>
                <p:oleObj name="Equation" r:id="rId3" imgW="749160" imgH="177480" progId="Equation.DSMT4">
                  <p:embed/>
                  <p:pic>
                    <p:nvPicPr>
                      <p:cNvPr id="0" name=""/>
                      <p:cNvPicPr/>
                      <p:nvPr/>
                    </p:nvPicPr>
                    <p:blipFill>
                      <a:blip r:embed="rId4"/>
                      <a:stretch>
                        <a:fillRect/>
                      </a:stretch>
                    </p:blipFill>
                    <p:spPr>
                      <a:xfrm>
                        <a:off x="684188" y="2388856"/>
                        <a:ext cx="1460174" cy="346482"/>
                      </a:xfrm>
                      <a:prstGeom prst="rect">
                        <a:avLst/>
                      </a:prstGeom>
                    </p:spPr>
                  </p:pic>
                </p:oleObj>
              </mc:Fallback>
            </mc:AlternateContent>
          </a:graphicData>
        </a:graphic>
      </p:graphicFrame>
      <p:sp>
        <p:nvSpPr>
          <p:cNvPr id="19" name="Content Placeholder 18"/>
          <p:cNvSpPr>
            <a:spLocks noGrp="1"/>
          </p:cNvSpPr>
          <p:nvPr>
            <p:ph sz="quarter" idx="14"/>
          </p:nvPr>
        </p:nvSpPr>
        <p:spPr>
          <a:xfrm>
            <a:off x="2269671" y="2374384"/>
            <a:ext cx="6518727" cy="426086"/>
          </a:xfrm>
        </p:spPr>
        <p:txBody>
          <a:bodyPr lIns="0" tIns="0" rIns="0" bIns="0"/>
          <a:lstStyle/>
          <a:p>
            <a:pPr marL="432" indent="0">
              <a:buNone/>
            </a:pPr>
            <a:r>
              <a:rPr lang="en-US" altLang="en-US" dirty="0"/>
              <a:t>around target exchange rates.</a:t>
            </a:r>
            <a:endParaRPr lang="en-IN" dirty="0"/>
          </a:p>
        </p:txBody>
      </p:sp>
      <p:sp>
        <p:nvSpPr>
          <p:cNvPr id="5" name="Content Placeholder 4"/>
          <p:cNvSpPr>
            <a:spLocks noGrp="1"/>
          </p:cNvSpPr>
          <p:nvPr>
            <p:ph sz="quarter" idx="15"/>
          </p:nvPr>
        </p:nvSpPr>
        <p:spPr>
          <a:xfrm>
            <a:off x="457201" y="2940362"/>
            <a:ext cx="8229600" cy="397923"/>
          </a:xfrm>
        </p:spPr>
        <p:txBody>
          <a:bodyPr lIns="0" tIns="0" rIns="0" bIns="0"/>
          <a:lstStyle/>
          <a:p>
            <a:r>
              <a:rPr lang="en-US" altLang="en-US" dirty="0"/>
              <a:t>The exchange rate mechanism allowed larger fluctuations</a:t>
            </a:r>
          </a:p>
        </p:txBody>
      </p:sp>
      <p:graphicFrame>
        <p:nvGraphicFramePr>
          <p:cNvPr id="17" name="Object 16" descr="left parenthesis + or minus 6 % right parenthesis"/>
          <p:cNvGraphicFramePr>
            <a:graphicFrameLocks noChangeAspect="1"/>
          </p:cNvGraphicFramePr>
          <p:nvPr>
            <p:extLst>
              <p:ext uri="{D42A27DB-BD31-4B8C-83A1-F6EECF244321}">
                <p14:modId xmlns:p14="http://schemas.microsoft.com/office/powerpoint/2010/main" val="3607472124"/>
              </p:ext>
            </p:extLst>
          </p:nvPr>
        </p:nvGraphicFramePr>
        <p:xfrm>
          <a:off x="716595" y="3395047"/>
          <a:ext cx="1237435" cy="395980"/>
        </p:xfrm>
        <a:graphic>
          <a:graphicData uri="http://schemas.openxmlformats.org/presentationml/2006/ole">
            <mc:AlternateContent xmlns:mc="http://schemas.openxmlformats.org/markup-compatibility/2006">
              <mc:Choice xmlns:v="urn:schemas-microsoft-com:vml" Requires="v">
                <p:oleObj spid="_x0000_s1029" name="Equation" r:id="rId5" imgW="634680" imgH="203040" progId="Equation.DSMT4">
                  <p:embed/>
                </p:oleObj>
              </mc:Choice>
              <mc:Fallback>
                <p:oleObj name="Equation" r:id="rId5" imgW="634680" imgH="203040" progId="Equation.DSMT4">
                  <p:embed/>
                  <p:pic>
                    <p:nvPicPr>
                      <p:cNvPr id="0" name=""/>
                      <p:cNvPicPr/>
                      <p:nvPr/>
                    </p:nvPicPr>
                    <p:blipFill>
                      <a:blip r:embed="rId6"/>
                      <a:stretch>
                        <a:fillRect/>
                      </a:stretch>
                    </p:blipFill>
                    <p:spPr>
                      <a:xfrm>
                        <a:off x="716595" y="3395047"/>
                        <a:ext cx="1237435" cy="395980"/>
                      </a:xfrm>
                      <a:prstGeom prst="rect">
                        <a:avLst/>
                      </a:prstGeom>
                    </p:spPr>
                  </p:pic>
                </p:oleObj>
              </mc:Fallback>
            </mc:AlternateContent>
          </a:graphicData>
        </a:graphic>
      </p:graphicFrame>
      <p:sp>
        <p:nvSpPr>
          <p:cNvPr id="6" name="Content Placeholder 5"/>
          <p:cNvSpPr>
            <a:spLocks noGrp="1"/>
          </p:cNvSpPr>
          <p:nvPr>
            <p:ph sz="quarter" idx="16"/>
          </p:nvPr>
        </p:nvSpPr>
        <p:spPr>
          <a:xfrm>
            <a:off x="2053817" y="3395047"/>
            <a:ext cx="6681971" cy="415879"/>
          </a:xfrm>
        </p:spPr>
        <p:txBody>
          <a:bodyPr lIns="0" tIns="0" rIns="0" bIns="0"/>
          <a:lstStyle/>
          <a:p>
            <a:pPr marL="432" indent="0">
              <a:buNone/>
            </a:pPr>
            <a:r>
              <a:rPr lang="en-US" altLang="en-US" dirty="0"/>
              <a:t>for currencies of Portugal, Spain, Britain (until </a:t>
            </a:r>
          </a:p>
        </p:txBody>
      </p:sp>
      <p:sp>
        <p:nvSpPr>
          <p:cNvPr id="7" name="Content Placeholder 6"/>
          <p:cNvSpPr>
            <a:spLocks noGrp="1"/>
          </p:cNvSpPr>
          <p:nvPr>
            <p:ph sz="quarter" idx="17"/>
          </p:nvPr>
        </p:nvSpPr>
        <p:spPr>
          <a:xfrm>
            <a:off x="760061" y="3855536"/>
            <a:ext cx="6516747" cy="415779"/>
          </a:xfrm>
        </p:spPr>
        <p:txBody>
          <a:bodyPr lIns="0" tIns="0" rIns="0" bIns="0"/>
          <a:lstStyle/>
          <a:p>
            <a:pPr marL="432" indent="0">
              <a:buNone/>
            </a:pPr>
            <a:r>
              <a:rPr lang="en-US" altLang="en-US" dirty="0">
                <a:solidFill>
                  <a:schemeClr val="tx1"/>
                </a:solidFill>
              </a:rPr>
              <a:t>1992), and Italy (until 1990).</a:t>
            </a:r>
          </a:p>
        </p:txBody>
      </p:sp>
      <p:sp>
        <p:nvSpPr>
          <p:cNvPr id="8" name="Content Placeholder 7"/>
          <p:cNvSpPr>
            <a:spLocks noGrp="1"/>
          </p:cNvSpPr>
          <p:nvPr>
            <p:ph sz="quarter" idx="18"/>
          </p:nvPr>
        </p:nvSpPr>
        <p:spPr>
          <a:xfrm>
            <a:off x="462595" y="4329920"/>
            <a:ext cx="8224206" cy="1954845"/>
          </a:xfrm>
        </p:spPr>
        <p:txBody>
          <a:bodyPr lIns="0" tIns="0" rIns="0"/>
          <a:lstStyle/>
          <a:p>
            <a:pPr lvl="1"/>
            <a:r>
              <a:rPr lang="en-US" altLang="en-US" dirty="0"/>
              <a:t>These countries wanted greater flexibility with monetary policy.</a:t>
            </a:r>
          </a:p>
          <a:p>
            <a:pPr lvl="1"/>
            <a:r>
              <a:rPr lang="en-US" altLang="en-US" dirty="0"/>
              <a:t>The wider bands were also intended to prevent speculation caused by differing monetary and fiscal policies.</a:t>
            </a:r>
            <a:endParaRPr lang="en-IN" dirty="0"/>
          </a:p>
        </p:txBody>
      </p:sp>
    </p:spTree>
    <p:extLst>
      <p:ext uri="{BB962C8B-B14F-4D97-AF65-F5344CB8AC3E}">
        <p14:creationId xmlns:p14="http://schemas.microsoft.com/office/powerpoint/2010/main" val="2145680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EMS: 1979–1998 </a:t>
            </a:r>
            <a:r>
              <a:rPr lang="en-US" altLang="en-US" sz="2000" b="0" dirty="0"/>
              <a:t>(2 of 4)</a:t>
            </a:r>
            <a:endParaRPr lang="en-IN" dirty="0"/>
          </a:p>
        </p:txBody>
      </p:sp>
      <p:sp>
        <p:nvSpPr>
          <p:cNvPr id="3" name="Content Placeholder 2"/>
          <p:cNvSpPr>
            <a:spLocks noGrp="1"/>
          </p:cNvSpPr>
          <p:nvPr>
            <p:ph sz="quarter" idx="13"/>
          </p:nvPr>
        </p:nvSpPr>
        <p:spPr/>
        <p:txBody>
          <a:bodyPr/>
          <a:lstStyle/>
          <a:p>
            <a:pPr>
              <a:spcBef>
                <a:spcPct val="50000"/>
              </a:spcBef>
              <a:buNone/>
            </a:pPr>
            <a:r>
              <a:rPr lang="en-US" altLang="en-US" dirty="0"/>
              <a:t>To prevent speculation, </a:t>
            </a:r>
          </a:p>
          <a:p>
            <a:r>
              <a:rPr lang="en-US" altLang="en-US" dirty="0"/>
              <a:t>early in the E</a:t>
            </a:r>
            <a:r>
              <a:rPr lang="en-US" altLang="en-US" sz="100" dirty="0"/>
              <a:t> </a:t>
            </a:r>
            <a:r>
              <a:rPr lang="en-US" altLang="en-US" dirty="0"/>
              <a:t>M</a:t>
            </a:r>
            <a:r>
              <a:rPr lang="en-US" altLang="en-US" sz="100" dirty="0"/>
              <a:t> </a:t>
            </a:r>
            <a:r>
              <a:rPr lang="en-US" altLang="en-US" dirty="0"/>
              <a:t>S some </a:t>
            </a:r>
            <a:r>
              <a:rPr lang="en-US" altLang="en-US" b="1" dirty="0"/>
              <a:t>exchange controls </a:t>
            </a:r>
            <a:r>
              <a:rPr lang="en-US" altLang="en-US" dirty="0"/>
              <a:t>were also enforced to limit trading of currencies.</a:t>
            </a:r>
          </a:p>
          <a:p>
            <a:pPr lvl="1"/>
            <a:r>
              <a:rPr lang="en-US" altLang="en-US" dirty="0"/>
              <a:t>But from 1987 to 1990 these controls were lifted in order to make the E</a:t>
            </a:r>
            <a:r>
              <a:rPr lang="en-US" altLang="en-US" sz="100" dirty="0"/>
              <a:t> </a:t>
            </a:r>
            <a:r>
              <a:rPr lang="en-US" altLang="en-US" dirty="0"/>
              <a:t>U a common market for financial assets.</a:t>
            </a:r>
          </a:p>
          <a:p>
            <a:r>
              <a:rPr lang="en-US" altLang="en-US" dirty="0"/>
              <a:t>A </a:t>
            </a:r>
            <a:r>
              <a:rPr lang="en-US" altLang="en-US" b="1" dirty="0"/>
              <a:t>credit system </a:t>
            </a:r>
            <a:r>
              <a:rPr lang="en-US" altLang="en-US" dirty="0"/>
              <a:t>was also developed among E</a:t>
            </a:r>
            <a:r>
              <a:rPr lang="en-US" altLang="en-US" sz="100" dirty="0"/>
              <a:t> </a:t>
            </a:r>
            <a:r>
              <a:rPr lang="en-US" altLang="en-US" dirty="0"/>
              <a:t>M</a:t>
            </a:r>
            <a:r>
              <a:rPr lang="en-US" altLang="en-US" sz="100" dirty="0"/>
              <a:t> </a:t>
            </a:r>
            <a:r>
              <a:rPr lang="en-US" altLang="en-US" dirty="0"/>
              <a:t>S members to lend to countries that needed assets and currencies that were in high demand in the foreign exchange markets.</a:t>
            </a:r>
            <a:endParaRPr lang="en-IN" dirty="0"/>
          </a:p>
        </p:txBody>
      </p:sp>
    </p:spTree>
    <p:extLst>
      <p:ext uri="{BB962C8B-B14F-4D97-AF65-F5344CB8AC3E}">
        <p14:creationId xmlns:p14="http://schemas.microsoft.com/office/powerpoint/2010/main" val="3423875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EMS: 1979–1998 </a:t>
            </a:r>
            <a:r>
              <a:rPr lang="en-US" altLang="en-US" sz="2000" b="0" dirty="0"/>
              <a:t>(3 of 4)</a:t>
            </a:r>
            <a:endParaRPr lang="en-IN" dirty="0"/>
          </a:p>
        </p:txBody>
      </p:sp>
      <p:sp>
        <p:nvSpPr>
          <p:cNvPr id="3" name="Content Placeholder 2"/>
          <p:cNvSpPr>
            <a:spLocks noGrp="1"/>
          </p:cNvSpPr>
          <p:nvPr>
            <p:ph sz="quarter" idx="13"/>
          </p:nvPr>
        </p:nvSpPr>
        <p:spPr>
          <a:xfrm>
            <a:off x="457200" y="1552574"/>
            <a:ext cx="8229600" cy="3005571"/>
          </a:xfrm>
        </p:spPr>
        <p:txBody>
          <a:bodyPr lIns="0" tIns="0" rIns="0" bIns="0"/>
          <a:lstStyle/>
          <a:p>
            <a:r>
              <a:rPr lang="en-US" altLang="en-US" dirty="0"/>
              <a:t>But because of differences in monetary and fiscal policies across the E</a:t>
            </a:r>
            <a:r>
              <a:rPr lang="en-US" altLang="en-US" sz="100" dirty="0"/>
              <a:t> </a:t>
            </a:r>
            <a:r>
              <a:rPr lang="en-US" altLang="en-US" dirty="0"/>
              <a:t>M</a:t>
            </a:r>
            <a:r>
              <a:rPr lang="en-US" altLang="en-US" sz="100" dirty="0"/>
              <a:t> </a:t>
            </a:r>
            <a:r>
              <a:rPr lang="en-US" altLang="en-US" dirty="0"/>
              <a:t>S, market participants began buying German assets (because of high German interest rates) and selling other E</a:t>
            </a:r>
            <a:r>
              <a:rPr lang="en-US" altLang="en-US" sz="100" dirty="0"/>
              <a:t> </a:t>
            </a:r>
            <a:r>
              <a:rPr lang="en-US" altLang="en-US" dirty="0"/>
              <a:t>M</a:t>
            </a:r>
            <a:r>
              <a:rPr lang="en-US" altLang="en-US" sz="100" dirty="0"/>
              <a:t> </a:t>
            </a:r>
            <a:r>
              <a:rPr lang="en-US" altLang="en-US" dirty="0"/>
              <a:t>S assets.</a:t>
            </a:r>
          </a:p>
          <a:p>
            <a:r>
              <a:rPr lang="en-US" altLang="en-US" dirty="0"/>
              <a:t>As a result, Britain left the E</a:t>
            </a:r>
            <a:r>
              <a:rPr lang="en-US" altLang="en-US" sz="100" dirty="0"/>
              <a:t> </a:t>
            </a:r>
            <a:r>
              <a:rPr lang="en-US" altLang="en-US" dirty="0"/>
              <a:t>M</a:t>
            </a:r>
            <a:r>
              <a:rPr lang="en-US" altLang="en-US" sz="100" dirty="0"/>
              <a:t> </a:t>
            </a:r>
            <a:r>
              <a:rPr lang="en-US" altLang="en-US" dirty="0"/>
              <a:t>S in 1992 and allowed the pound to float against other European currencies.</a:t>
            </a:r>
          </a:p>
          <a:p>
            <a:r>
              <a:rPr lang="en-US" altLang="en-US" dirty="0"/>
              <a:t>As a result, the exchange rate mechanism was redefined</a:t>
            </a:r>
            <a:endParaRPr lang="en-IN" dirty="0"/>
          </a:p>
        </p:txBody>
      </p:sp>
      <p:sp>
        <p:nvSpPr>
          <p:cNvPr id="4" name="Content Placeholder 3"/>
          <p:cNvSpPr>
            <a:spLocks noGrp="1"/>
          </p:cNvSpPr>
          <p:nvPr>
            <p:ph sz="quarter" idx="14"/>
          </p:nvPr>
        </p:nvSpPr>
        <p:spPr>
          <a:xfrm>
            <a:off x="442523" y="4631284"/>
            <a:ext cx="4219966" cy="404843"/>
          </a:xfrm>
        </p:spPr>
        <p:txBody>
          <a:bodyPr lIns="0" tIns="0" rIns="0" bIns="0"/>
          <a:lstStyle/>
          <a:p>
            <a:pPr marL="255600" indent="0">
              <a:buNone/>
            </a:pPr>
            <a:r>
              <a:rPr lang="en-US" altLang="en-US" dirty="0"/>
              <a:t>in 1993 to allow for bands of</a:t>
            </a:r>
            <a:endParaRPr lang="en-IN" dirty="0"/>
          </a:p>
        </p:txBody>
      </p:sp>
      <p:graphicFrame>
        <p:nvGraphicFramePr>
          <p:cNvPr id="7" name="Object 6" descr="+ or minus 15% "/>
          <p:cNvGraphicFramePr>
            <a:graphicFrameLocks noChangeAspect="1"/>
          </p:cNvGraphicFramePr>
          <p:nvPr>
            <p:extLst>
              <p:ext uri="{D42A27DB-BD31-4B8C-83A1-F6EECF244321}">
                <p14:modId xmlns:p14="http://schemas.microsoft.com/office/powerpoint/2010/main" val="53691658"/>
              </p:ext>
            </p:extLst>
          </p:nvPr>
        </p:nvGraphicFramePr>
        <p:xfrm>
          <a:off x="4713288" y="4651375"/>
          <a:ext cx="1123950" cy="315913"/>
        </p:xfrm>
        <a:graphic>
          <a:graphicData uri="http://schemas.openxmlformats.org/presentationml/2006/ole">
            <mc:AlternateContent xmlns:mc="http://schemas.openxmlformats.org/markup-compatibility/2006">
              <mc:Choice xmlns:v="urn:schemas-microsoft-com:vml" Requires="v">
                <p:oleObj spid="_x0000_s2051" name="Equation" r:id="rId3" imgW="634680" imgH="177480" progId="Equation.DSMT4">
                  <p:embed/>
                </p:oleObj>
              </mc:Choice>
              <mc:Fallback>
                <p:oleObj name="Equation" r:id="rId3" imgW="634680" imgH="177480" progId="Equation.DSMT4">
                  <p:embed/>
                  <p:pic>
                    <p:nvPicPr>
                      <p:cNvPr id="0" name=""/>
                      <p:cNvPicPr/>
                      <p:nvPr/>
                    </p:nvPicPr>
                    <p:blipFill>
                      <a:blip r:embed="rId4"/>
                      <a:stretch>
                        <a:fillRect/>
                      </a:stretch>
                    </p:blipFill>
                    <p:spPr>
                      <a:xfrm>
                        <a:off x="4713288" y="4651375"/>
                        <a:ext cx="1123950" cy="315913"/>
                      </a:xfrm>
                      <a:prstGeom prst="rect">
                        <a:avLst/>
                      </a:prstGeom>
                    </p:spPr>
                  </p:pic>
                </p:oleObj>
              </mc:Fallback>
            </mc:AlternateContent>
          </a:graphicData>
        </a:graphic>
      </p:graphicFrame>
      <p:sp>
        <p:nvSpPr>
          <p:cNvPr id="5" name="Content Placeholder 4"/>
          <p:cNvSpPr>
            <a:spLocks noGrp="1"/>
          </p:cNvSpPr>
          <p:nvPr>
            <p:ph sz="quarter" idx="15"/>
          </p:nvPr>
        </p:nvSpPr>
        <p:spPr>
          <a:xfrm>
            <a:off x="5932102" y="4613193"/>
            <a:ext cx="2983298" cy="417447"/>
          </a:xfrm>
        </p:spPr>
        <p:txBody>
          <a:bodyPr lIns="0" tIns="0" rIns="0" bIns="0"/>
          <a:lstStyle/>
          <a:p>
            <a:pPr marL="432" indent="0">
              <a:buNone/>
            </a:pPr>
            <a:r>
              <a:rPr lang="en-US" altLang="en-US" dirty="0"/>
              <a:t>of the target value in</a:t>
            </a:r>
            <a:endParaRPr lang="en-IN" dirty="0"/>
          </a:p>
        </p:txBody>
      </p:sp>
      <p:sp>
        <p:nvSpPr>
          <p:cNvPr id="6" name="Content Placeholder 5"/>
          <p:cNvSpPr>
            <a:spLocks noGrp="1"/>
          </p:cNvSpPr>
          <p:nvPr>
            <p:ph sz="quarter" idx="16"/>
          </p:nvPr>
        </p:nvSpPr>
        <p:spPr>
          <a:xfrm>
            <a:off x="415006" y="5090625"/>
            <a:ext cx="7885416" cy="831029"/>
          </a:xfrm>
        </p:spPr>
        <p:txBody>
          <a:bodyPr lIns="0" tIns="0" rIns="0" bIns="0"/>
          <a:lstStyle/>
          <a:p>
            <a:pPr marL="255600" indent="0">
              <a:buNone/>
            </a:pPr>
            <a:r>
              <a:rPr lang="en-US" altLang="en-US" dirty="0"/>
              <a:t>order devalue many currencies relative to the deutschemark.</a:t>
            </a:r>
            <a:endParaRPr lang="en-IN" dirty="0"/>
          </a:p>
        </p:txBody>
      </p:sp>
    </p:spTree>
    <p:extLst>
      <p:ext uri="{BB962C8B-B14F-4D97-AF65-F5344CB8AC3E}">
        <p14:creationId xmlns:p14="http://schemas.microsoft.com/office/powerpoint/2010/main" val="2851529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The EMS: 1979–1998 </a:t>
            </a:r>
            <a:r>
              <a:rPr lang="en-US" altLang="en-US" sz="2000" b="0"/>
              <a:t>(4 of 4)</a:t>
            </a:r>
            <a:endParaRPr lang="en-US"/>
          </a:p>
        </p:txBody>
      </p:sp>
      <p:sp>
        <p:nvSpPr>
          <p:cNvPr id="3" name="Content Placeholder 2"/>
          <p:cNvSpPr>
            <a:spLocks noGrp="1"/>
          </p:cNvSpPr>
          <p:nvPr>
            <p:ph sz="quarter" idx="13"/>
          </p:nvPr>
        </p:nvSpPr>
        <p:spPr>
          <a:xfrm>
            <a:off x="457200" y="1556327"/>
            <a:ext cx="8229600" cy="3697317"/>
          </a:xfrm>
        </p:spPr>
        <p:txBody>
          <a:bodyPr/>
          <a:lstStyle/>
          <a:p>
            <a:r>
              <a:rPr lang="en-US" altLang="en-US"/>
              <a:t>But eventually, each E</a:t>
            </a:r>
            <a:r>
              <a:rPr lang="en-US" altLang="en-US" sz="100"/>
              <a:t> </a:t>
            </a:r>
            <a:r>
              <a:rPr lang="en-US" altLang="en-US"/>
              <a:t>M</a:t>
            </a:r>
            <a:r>
              <a:rPr lang="en-US" altLang="en-US" sz="100"/>
              <a:t> </a:t>
            </a:r>
            <a:r>
              <a:rPr lang="en-US" altLang="en-US"/>
              <a:t>S member adopted similarly restrained fiscal and monetary policies, and the inflation rates in the E</a:t>
            </a:r>
            <a:r>
              <a:rPr lang="en-US" altLang="en-US" sz="100"/>
              <a:t> </a:t>
            </a:r>
            <a:r>
              <a:rPr lang="en-US" altLang="en-US"/>
              <a:t>M</a:t>
            </a:r>
            <a:r>
              <a:rPr lang="en-US" altLang="en-US" sz="100"/>
              <a:t> </a:t>
            </a:r>
            <a:r>
              <a:rPr lang="en-US" altLang="en-US"/>
              <a:t>S eventually converged (and speculation slowed or stopped).</a:t>
            </a:r>
          </a:p>
          <a:p>
            <a:pPr lvl="1"/>
            <a:r>
              <a:rPr lang="en-US" altLang="en-US"/>
              <a:t>In effect, E</a:t>
            </a:r>
            <a:r>
              <a:rPr lang="en-US" altLang="en-US" sz="100"/>
              <a:t> </a:t>
            </a:r>
            <a:r>
              <a:rPr lang="en-US" altLang="en-US"/>
              <a:t>M</a:t>
            </a:r>
            <a:r>
              <a:rPr lang="en-US" altLang="en-US" sz="100"/>
              <a:t> </a:t>
            </a:r>
            <a:r>
              <a:rPr lang="en-US" altLang="en-US"/>
              <a:t>S members were following the restrained monetary policies of Germany, which has traditionally had low inflation.</a:t>
            </a:r>
          </a:p>
          <a:p>
            <a:pPr lvl="1"/>
            <a:r>
              <a:rPr lang="en-US" altLang="en-US"/>
              <a:t>Under the E</a:t>
            </a:r>
            <a:r>
              <a:rPr lang="en-US" altLang="en-US" sz="100"/>
              <a:t> </a:t>
            </a:r>
            <a:r>
              <a:rPr lang="en-US" altLang="en-US"/>
              <a:t>M</a:t>
            </a:r>
            <a:r>
              <a:rPr lang="en-US" altLang="en-US" sz="100"/>
              <a:t> </a:t>
            </a:r>
            <a:r>
              <a:rPr lang="en-US" altLang="en-US"/>
              <a:t>S exchange rate mechanism of fixed bands, Germany was </a:t>
            </a:r>
            <a:r>
              <a:rPr lang="en-US" altLang="ja-JP"/>
              <a:t>“exporting” its monetary policy.</a:t>
            </a:r>
            <a:endParaRPr lang="en-US"/>
          </a:p>
        </p:txBody>
      </p:sp>
    </p:spTree>
    <p:extLst>
      <p:ext uri="{BB962C8B-B14F-4D97-AF65-F5344CB8AC3E}">
        <p14:creationId xmlns:p14="http://schemas.microsoft.com/office/powerpoint/2010/main" val="3493877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Brexit </a:t>
            </a:r>
            <a:r>
              <a:rPr lang="en-US" altLang="en-US" sz="2000" b="0" dirty="0"/>
              <a:t>(1 of 2)</a:t>
            </a:r>
            <a:endParaRPr lang="en-US" sz="2000" dirty="0"/>
          </a:p>
        </p:txBody>
      </p:sp>
      <p:sp>
        <p:nvSpPr>
          <p:cNvPr id="3" name="Content Placeholder 2"/>
          <p:cNvSpPr>
            <a:spLocks noGrp="1"/>
          </p:cNvSpPr>
          <p:nvPr>
            <p:ph sz="quarter" idx="13"/>
          </p:nvPr>
        </p:nvSpPr>
        <p:spPr/>
        <p:txBody>
          <a:bodyPr/>
          <a:lstStyle/>
          <a:p>
            <a:r>
              <a:rPr lang="en-US"/>
              <a:t>On June 23, 2016, British citizens voted to leave the E</a:t>
            </a:r>
            <a:r>
              <a:rPr lang="en-US" sz="100"/>
              <a:t> </a:t>
            </a:r>
            <a:r>
              <a:rPr lang="en-US"/>
              <a:t>U.</a:t>
            </a:r>
          </a:p>
          <a:p>
            <a:pPr lvl="1"/>
            <a:r>
              <a:rPr lang="en-US"/>
              <a:t>Britain had never adopted the euro.</a:t>
            </a:r>
          </a:p>
          <a:p>
            <a:r>
              <a:rPr lang="en-US"/>
              <a:t>Stock markets across the world tumbled, and the pound sterling plummeted.</a:t>
            </a:r>
          </a:p>
          <a:p>
            <a:r>
              <a:rPr lang="en-US"/>
              <a:t>Voters want to limit immigration from Eastern Europe, and the benefits, such as medical care, the U</a:t>
            </a:r>
            <a:r>
              <a:rPr lang="en-US" sz="100"/>
              <a:t> </a:t>
            </a:r>
            <a:r>
              <a:rPr lang="en-US"/>
              <a:t>K government must provide immigrants under E</a:t>
            </a:r>
            <a:r>
              <a:rPr lang="en-US" sz="100"/>
              <a:t> </a:t>
            </a:r>
            <a:r>
              <a:rPr lang="en-US"/>
              <a:t>U law.</a:t>
            </a:r>
          </a:p>
          <a:p>
            <a:pPr lvl="1"/>
            <a:r>
              <a:rPr lang="en-US"/>
              <a:t>Desire to “Take Back Control” from E</a:t>
            </a:r>
            <a:r>
              <a:rPr lang="en-US" sz="100"/>
              <a:t> </a:t>
            </a:r>
            <a:r>
              <a:rPr lang="en-US"/>
              <a:t>U regulations in many dimensions.</a:t>
            </a:r>
          </a:p>
          <a:p>
            <a:r>
              <a:rPr lang="en-US"/>
              <a:t>Britain had to negotiate trade deals with every county.</a:t>
            </a:r>
          </a:p>
        </p:txBody>
      </p:sp>
    </p:spTree>
    <p:extLst>
      <p:ext uri="{BB962C8B-B14F-4D97-AF65-F5344CB8AC3E}">
        <p14:creationId xmlns:p14="http://schemas.microsoft.com/office/powerpoint/2010/main" val="1926639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Brexit </a:t>
            </a:r>
            <a:r>
              <a:rPr lang="en-US" altLang="en-US" sz="2000" b="0"/>
              <a:t>(2 of 2)</a:t>
            </a:r>
            <a:endParaRPr lang="en-US" sz="2000"/>
          </a:p>
        </p:txBody>
      </p:sp>
      <p:sp>
        <p:nvSpPr>
          <p:cNvPr id="3" name="Content Placeholder 2"/>
          <p:cNvSpPr>
            <a:spLocks noGrp="1"/>
          </p:cNvSpPr>
          <p:nvPr>
            <p:ph sz="quarter" idx="13"/>
          </p:nvPr>
        </p:nvSpPr>
        <p:spPr>
          <a:xfrm>
            <a:off x="457200" y="1556327"/>
            <a:ext cx="8229600" cy="4146204"/>
          </a:xfrm>
        </p:spPr>
        <p:txBody>
          <a:bodyPr/>
          <a:lstStyle/>
          <a:p>
            <a:r>
              <a:rPr lang="en-US" sz="2200"/>
              <a:t>Under 2019 withdrawal agreement bill, Brexit took place January 31, 2020 with an 11-month transition period during which Britain continued to follow E</a:t>
            </a:r>
            <a:r>
              <a:rPr lang="en-US" sz="100"/>
              <a:t> </a:t>
            </a:r>
            <a:r>
              <a:rPr lang="en-US" sz="2200"/>
              <a:t>U rules and kept frictionless trade with other E</a:t>
            </a:r>
            <a:r>
              <a:rPr lang="en-US" sz="100"/>
              <a:t> </a:t>
            </a:r>
            <a:r>
              <a:rPr lang="en-US" sz="2200"/>
              <a:t>U countries.</a:t>
            </a:r>
          </a:p>
          <a:p>
            <a:pPr lvl="1"/>
            <a:r>
              <a:rPr lang="en-US" sz="2200"/>
              <a:t>Added time to negotiate permanent trade agreements. </a:t>
            </a:r>
          </a:p>
          <a:p>
            <a:pPr lvl="1"/>
            <a:r>
              <a:rPr lang="en-US" sz="2200"/>
              <a:t>A last minute deal achieved mostly tariff and quota-free trade between Britain and the E</a:t>
            </a:r>
            <a:r>
              <a:rPr lang="en-US" sz="100"/>
              <a:t> </a:t>
            </a:r>
            <a:r>
              <a:rPr lang="en-US" sz="2200"/>
              <a:t>U.</a:t>
            </a:r>
          </a:p>
          <a:p>
            <a:pPr lvl="1"/>
            <a:r>
              <a:rPr lang="en-US" sz="2200"/>
              <a:t>To keep boundary between Northern Ireland (part of United Kingdom) and the Republic of Ireland free of border controls led to Northern Ireland still partially in the E</a:t>
            </a:r>
            <a:r>
              <a:rPr lang="en-US" sz="100"/>
              <a:t> </a:t>
            </a:r>
            <a:r>
              <a:rPr lang="en-US" sz="2200"/>
              <a:t>U single market and administrative checks on imports.</a:t>
            </a:r>
          </a:p>
        </p:txBody>
      </p:sp>
    </p:spTree>
    <p:extLst>
      <p:ext uri="{BB962C8B-B14F-4D97-AF65-F5344CB8AC3E}">
        <p14:creationId xmlns:p14="http://schemas.microsoft.com/office/powerpoint/2010/main" val="2041103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U.S. Dollars per Pound, 05/2016-08/2018</a:t>
            </a:r>
            <a:endParaRPr lang="en-IN" sz="3200" dirty="0"/>
          </a:p>
        </p:txBody>
      </p:sp>
      <p:pic>
        <p:nvPicPr>
          <p:cNvPr id="7" name="Content Placeholder 6" descr="A graph plots U S dollars per pound versus dates, May thirtieth, 20 16 to August twelfth, 20 16.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146529" y="1560361"/>
            <a:ext cx="4850940" cy="4049554"/>
          </a:xfrm>
        </p:spPr>
      </p:pic>
      <p:sp>
        <p:nvSpPr>
          <p:cNvPr id="6" name="Content Placeholder 5"/>
          <p:cNvSpPr>
            <a:spLocks noGrp="1"/>
          </p:cNvSpPr>
          <p:nvPr>
            <p:ph sz="quarter" idx="14"/>
          </p:nvPr>
        </p:nvSpPr>
        <p:spPr>
          <a:xfrm>
            <a:off x="457200" y="5727003"/>
            <a:ext cx="8229600" cy="471649"/>
          </a:xfrm>
        </p:spPr>
        <p:txBody>
          <a:bodyPr/>
          <a:lstStyle/>
          <a:p>
            <a:pPr marL="432" indent="0">
              <a:buNone/>
            </a:pPr>
            <a:r>
              <a:rPr lang="en-US" sz="2200" b="1" dirty="0"/>
              <a:t>Source: </a:t>
            </a:r>
            <a:r>
              <a:rPr lang="en-US" sz="2200" dirty="0"/>
              <a:t>Global financial data.</a:t>
            </a:r>
            <a:endParaRPr lang="en-IN" sz="2200" dirty="0"/>
          </a:p>
        </p:txBody>
      </p:sp>
    </p:spTree>
    <p:extLst>
      <p:ext uri="{BB962C8B-B14F-4D97-AF65-F5344CB8AC3E}">
        <p14:creationId xmlns:p14="http://schemas.microsoft.com/office/powerpoint/2010/main" val="1507638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Figure 21.2 Inflation Convergence for Six Original E</a:t>
            </a:r>
            <a:r>
              <a:rPr lang="en-US" altLang="en-US" sz="100" dirty="0"/>
              <a:t> </a:t>
            </a:r>
            <a:r>
              <a:rPr lang="en-US" altLang="en-US" sz="3200" dirty="0"/>
              <a:t>M</a:t>
            </a:r>
            <a:r>
              <a:rPr lang="en-US" altLang="en-US" sz="100" dirty="0"/>
              <a:t> </a:t>
            </a:r>
            <a:r>
              <a:rPr lang="en-US" altLang="en-US" sz="3200" dirty="0"/>
              <a:t>S Members, 1978–2019</a:t>
            </a:r>
            <a:endParaRPr lang="en-IN" sz="3200" dirty="0"/>
          </a:p>
        </p:txBody>
      </p:sp>
      <p:pic>
        <p:nvPicPr>
          <p:cNvPr id="7" name="Content Placeholder 6" descr="A graph plots the differences between inflation rates of 6 E M S members relative to Germany.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671826" y="1443815"/>
            <a:ext cx="3800348" cy="3589595"/>
          </a:xfrm>
        </p:spPr>
      </p:pic>
      <p:sp>
        <p:nvSpPr>
          <p:cNvPr id="6" name="Content Placeholder 5"/>
          <p:cNvSpPr>
            <a:spLocks noGrp="1"/>
          </p:cNvSpPr>
          <p:nvPr>
            <p:ph sz="quarter" idx="14"/>
          </p:nvPr>
        </p:nvSpPr>
        <p:spPr>
          <a:xfrm>
            <a:off x="457200" y="5138848"/>
            <a:ext cx="8229600" cy="1155815"/>
          </a:xfrm>
        </p:spPr>
        <p:txBody>
          <a:bodyPr/>
          <a:lstStyle/>
          <a:p>
            <a:pPr marL="0" indent="0">
              <a:buNone/>
            </a:pPr>
            <a:r>
              <a:rPr lang="en-US" sz="1600" dirty="0"/>
              <a:t>Shown are the differences between domestic inflation and German inflation for six of the original EMS members: Belgium, Denmark, France, Ireland, Italy, and the Netherlands.</a:t>
            </a:r>
          </a:p>
          <a:p>
            <a:pPr marL="0" indent="0">
              <a:spcBef>
                <a:spcPts val="600"/>
              </a:spcBef>
              <a:buNone/>
            </a:pPr>
            <a:r>
              <a:rPr lang="en-US" sz="1600" b="1" dirty="0"/>
              <a:t>Source: </a:t>
            </a:r>
            <a:r>
              <a:rPr lang="en-US" sz="1600" dirty="0"/>
              <a:t>CPI inflation rates from International Monetary Fund</a:t>
            </a:r>
            <a:r>
              <a:rPr lang="en-US" sz="1600" i="1" dirty="0"/>
              <a:t>, </a:t>
            </a:r>
            <a:r>
              <a:rPr lang="en-US" sz="1600" b="1" dirty="0"/>
              <a:t>International Financial Statistics,</a:t>
            </a:r>
            <a:r>
              <a:rPr lang="en-US" sz="1600" dirty="0"/>
              <a:t> and B</a:t>
            </a:r>
            <a:r>
              <a:rPr lang="en-US" sz="100" dirty="0"/>
              <a:t> </a:t>
            </a:r>
            <a:r>
              <a:rPr lang="en-US" sz="1600" dirty="0"/>
              <a:t>L</a:t>
            </a:r>
            <a:r>
              <a:rPr lang="en-US" sz="100" dirty="0"/>
              <a:t> </a:t>
            </a:r>
            <a:r>
              <a:rPr lang="en-US" sz="1600" dirty="0"/>
              <a:t>S.</a:t>
            </a:r>
            <a:endParaRPr lang="en-IN" sz="1600" dirty="0"/>
          </a:p>
        </p:txBody>
      </p:sp>
    </p:spTree>
    <p:extLst>
      <p:ext uri="{BB962C8B-B14F-4D97-AF65-F5344CB8AC3E}">
        <p14:creationId xmlns:p14="http://schemas.microsoft.com/office/powerpoint/2010/main" val="4068305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Policies of the E</a:t>
            </a:r>
            <a:r>
              <a:rPr lang="en-US" altLang="en-US" sz="100" dirty="0"/>
              <a:t> </a:t>
            </a:r>
            <a:r>
              <a:rPr lang="en-US" altLang="en-US" dirty="0"/>
              <a:t>U and E</a:t>
            </a:r>
            <a:r>
              <a:rPr lang="en-US" altLang="en-US" sz="100" dirty="0"/>
              <a:t> </a:t>
            </a:r>
            <a:r>
              <a:rPr lang="en-US" altLang="en-US" dirty="0"/>
              <a:t>M</a:t>
            </a:r>
            <a:r>
              <a:rPr lang="en-US" altLang="en-US" sz="100" dirty="0"/>
              <a:t> </a:t>
            </a:r>
            <a:r>
              <a:rPr lang="en-US" altLang="en-US" dirty="0"/>
              <a:t>S </a:t>
            </a:r>
            <a:r>
              <a:rPr lang="en-US" altLang="en-US" sz="2000" b="0" dirty="0"/>
              <a:t>(1 of 4)</a:t>
            </a:r>
            <a:endParaRPr lang="en-IN" dirty="0"/>
          </a:p>
        </p:txBody>
      </p:sp>
      <p:sp>
        <p:nvSpPr>
          <p:cNvPr id="3" name="Content Placeholder 2"/>
          <p:cNvSpPr>
            <a:spLocks noGrp="1"/>
          </p:cNvSpPr>
          <p:nvPr>
            <p:ph sz="quarter" idx="13"/>
          </p:nvPr>
        </p:nvSpPr>
        <p:spPr/>
        <p:txBody>
          <a:bodyPr/>
          <a:lstStyle/>
          <a:p>
            <a:pPr>
              <a:spcBef>
                <a:spcPts val="1000"/>
              </a:spcBef>
            </a:pPr>
            <a:r>
              <a:rPr lang="en-US" altLang="en-US" sz="2200" dirty="0"/>
              <a:t>The</a:t>
            </a:r>
            <a:r>
              <a:rPr lang="en-US" altLang="en-US" sz="2200" i="1" dirty="0"/>
              <a:t> </a:t>
            </a:r>
            <a:r>
              <a:rPr lang="en-US" altLang="en-US" sz="2200" b="1" dirty="0"/>
              <a:t>Single European Act of 1986</a:t>
            </a:r>
            <a:r>
              <a:rPr lang="en-US" altLang="en-US" sz="2200" dirty="0"/>
              <a:t> recommended that many barriers to trade, financial asset flows, and immigration be removed by December 1992.</a:t>
            </a:r>
          </a:p>
          <a:p>
            <a:pPr lvl="1"/>
            <a:r>
              <a:rPr lang="en-US" altLang="en-US" sz="2200" dirty="0"/>
              <a:t>It also allowed E</a:t>
            </a:r>
            <a:r>
              <a:rPr lang="en-US" altLang="en-US" sz="100" dirty="0"/>
              <a:t>  </a:t>
            </a:r>
            <a:r>
              <a:rPr lang="en-US" altLang="en-US" sz="2200" dirty="0"/>
              <a:t>U policy to be approved with less than unanimous consent among members. </a:t>
            </a:r>
          </a:p>
          <a:p>
            <a:pPr>
              <a:spcBef>
                <a:spcPts val="1000"/>
              </a:spcBef>
            </a:pPr>
            <a:r>
              <a:rPr lang="en-US" altLang="en-US" sz="2200" dirty="0"/>
              <a:t>The</a:t>
            </a:r>
            <a:r>
              <a:rPr lang="en-US" altLang="en-US" sz="2200" i="1" dirty="0"/>
              <a:t> </a:t>
            </a:r>
            <a:r>
              <a:rPr lang="en-US" altLang="en-US" sz="2200" b="1" dirty="0"/>
              <a:t>Maastricht Treaty</a:t>
            </a:r>
            <a:r>
              <a:rPr lang="en-US" altLang="en-US" sz="2200" dirty="0"/>
              <a:t>, proposed in 1991, required the three provisions to transform the E</a:t>
            </a:r>
            <a:r>
              <a:rPr lang="en-US" altLang="en-US" sz="100" dirty="0"/>
              <a:t>  </a:t>
            </a:r>
            <a:r>
              <a:rPr lang="en-US" altLang="en-US" sz="2200" dirty="0"/>
              <a:t>M</a:t>
            </a:r>
            <a:r>
              <a:rPr lang="en-US" altLang="en-US" sz="100" dirty="0"/>
              <a:t>  </a:t>
            </a:r>
            <a:r>
              <a:rPr lang="en-US" altLang="en-US" sz="2200" dirty="0"/>
              <a:t>S into an economic and monetary union.</a:t>
            </a:r>
          </a:p>
          <a:p>
            <a:pPr lvl="1"/>
            <a:r>
              <a:rPr lang="en-US" altLang="en-US" sz="2200" dirty="0"/>
              <a:t>It also required standardizing regulations and centralizing foreign and defense policies among E</a:t>
            </a:r>
            <a:r>
              <a:rPr lang="en-US" altLang="en-US" sz="100" dirty="0"/>
              <a:t>  </a:t>
            </a:r>
            <a:r>
              <a:rPr lang="en-US" altLang="en-US" sz="2200" dirty="0"/>
              <a:t>U countries.</a:t>
            </a:r>
          </a:p>
          <a:p>
            <a:pPr lvl="1"/>
            <a:r>
              <a:rPr lang="en-US" altLang="en-US" sz="2200" dirty="0"/>
              <a:t>Some E</a:t>
            </a:r>
            <a:r>
              <a:rPr lang="en-US" altLang="en-US" sz="100" dirty="0"/>
              <a:t>  </a:t>
            </a:r>
            <a:r>
              <a:rPr lang="en-US" altLang="en-US" sz="2200" dirty="0"/>
              <a:t>U/E</a:t>
            </a:r>
            <a:r>
              <a:rPr lang="en-US" altLang="en-US" sz="100" dirty="0"/>
              <a:t> </a:t>
            </a:r>
            <a:r>
              <a:rPr lang="en-US" altLang="en-US" sz="2200" dirty="0"/>
              <a:t>M</a:t>
            </a:r>
            <a:r>
              <a:rPr lang="en-US" altLang="en-US" sz="100" dirty="0"/>
              <a:t> </a:t>
            </a:r>
            <a:r>
              <a:rPr lang="en-US" altLang="en-US" sz="2200" dirty="0"/>
              <a:t>S members have not ratified all of the clauses.</a:t>
            </a:r>
            <a:endParaRPr lang="en-IN" sz="2200" dirty="0"/>
          </a:p>
        </p:txBody>
      </p:sp>
    </p:spTree>
    <p:extLst>
      <p:ext uri="{BB962C8B-B14F-4D97-AF65-F5344CB8AC3E}">
        <p14:creationId xmlns:p14="http://schemas.microsoft.com/office/powerpoint/2010/main" val="4196776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Policies of the E</a:t>
            </a:r>
            <a:r>
              <a:rPr lang="en-US" altLang="en-US" sz="100" dirty="0"/>
              <a:t> </a:t>
            </a:r>
            <a:r>
              <a:rPr lang="en-US" altLang="en-US" dirty="0"/>
              <a:t>U and E</a:t>
            </a:r>
            <a:r>
              <a:rPr lang="en-US" altLang="en-US" sz="100" dirty="0"/>
              <a:t> </a:t>
            </a:r>
            <a:r>
              <a:rPr lang="en-US" altLang="en-US" dirty="0"/>
              <a:t>M</a:t>
            </a:r>
            <a:r>
              <a:rPr lang="en-US" altLang="en-US" sz="100" dirty="0"/>
              <a:t> </a:t>
            </a:r>
            <a:r>
              <a:rPr lang="en-US" altLang="en-US" dirty="0"/>
              <a:t>S </a:t>
            </a:r>
            <a:r>
              <a:rPr lang="en-US" altLang="en-US" sz="2000" b="0" dirty="0"/>
              <a:t>(2 of 4)</a:t>
            </a:r>
            <a:endParaRPr lang="en-IN" dirty="0"/>
          </a:p>
        </p:txBody>
      </p:sp>
      <p:sp>
        <p:nvSpPr>
          <p:cNvPr id="5" name="Content Placeholder 4"/>
          <p:cNvSpPr>
            <a:spLocks noGrp="1"/>
          </p:cNvSpPr>
          <p:nvPr>
            <p:ph sz="quarter" idx="13"/>
          </p:nvPr>
        </p:nvSpPr>
        <p:spPr>
          <a:xfrm>
            <a:off x="461030" y="1556326"/>
            <a:ext cx="8225770" cy="804489"/>
          </a:xfrm>
        </p:spPr>
        <p:txBody>
          <a:bodyPr/>
          <a:lstStyle/>
          <a:p>
            <a:r>
              <a:rPr lang="en-US" altLang="en-US" sz="2200" dirty="0"/>
              <a:t>The Maastricht Treaty requires that members that want to </a:t>
            </a:r>
            <a:r>
              <a:rPr lang="en-US" altLang="en-US" sz="2200" b="1" dirty="0"/>
              <a:t>enter</a:t>
            </a:r>
            <a:r>
              <a:rPr lang="en-US" altLang="en-US" sz="2200" dirty="0"/>
              <a:t> the economic and monetary union </a:t>
            </a:r>
          </a:p>
        </p:txBody>
      </p:sp>
      <p:sp>
        <p:nvSpPr>
          <p:cNvPr id="7" name="Content Placeholder 6"/>
          <p:cNvSpPr>
            <a:spLocks noGrp="1"/>
          </p:cNvSpPr>
          <p:nvPr>
            <p:ph sz="quarter" idx="14"/>
          </p:nvPr>
        </p:nvSpPr>
        <p:spPr>
          <a:xfrm>
            <a:off x="477186" y="2465579"/>
            <a:ext cx="8209613" cy="2559532"/>
          </a:xfrm>
        </p:spPr>
        <p:txBody>
          <a:bodyPr/>
          <a:lstStyle/>
          <a:p>
            <a:pPr marL="432000" indent="-432000">
              <a:buFont typeface="Times" pitchFamily="-1" charset="0"/>
              <a:buAutoNum type="arabicPeriod"/>
            </a:pPr>
            <a:r>
              <a:rPr lang="en-US" altLang="en-US" sz="2200" dirty="0"/>
              <a:t>attain exchange rate stability defined by the E</a:t>
            </a:r>
            <a:r>
              <a:rPr lang="en-US" altLang="en-US" sz="100" dirty="0"/>
              <a:t> </a:t>
            </a:r>
            <a:r>
              <a:rPr lang="en-US" altLang="en-US" sz="2200" dirty="0"/>
              <a:t>R</a:t>
            </a:r>
            <a:r>
              <a:rPr lang="en-US" altLang="en-US" sz="100" dirty="0"/>
              <a:t> </a:t>
            </a:r>
            <a:r>
              <a:rPr lang="en-US" altLang="en-US" sz="2200" dirty="0"/>
              <a:t>M before adopting the euro.</a:t>
            </a:r>
          </a:p>
          <a:p>
            <a:pPr marL="432000" indent="-432000">
              <a:buFont typeface="Times" pitchFamily="-1" charset="0"/>
              <a:buAutoNum type="arabicPeriod"/>
            </a:pPr>
            <a:r>
              <a:rPr lang="en-US" altLang="en-US" sz="2200" dirty="0"/>
              <a:t>attain price stability: a maximum inflation rate of </a:t>
            </a:r>
            <a:br>
              <a:rPr lang="en-US" altLang="en-US" sz="2200" dirty="0"/>
            </a:br>
            <a:r>
              <a:rPr lang="en-US" altLang="en-US" sz="2200" dirty="0"/>
              <a:t>1.5% above the average of the three lowest national inflation rates among E</a:t>
            </a:r>
            <a:r>
              <a:rPr lang="en-US" altLang="en-US" sz="100" dirty="0"/>
              <a:t> </a:t>
            </a:r>
            <a:r>
              <a:rPr lang="en-US" altLang="en-US" sz="2200" dirty="0"/>
              <a:t>U members.</a:t>
            </a:r>
          </a:p>
          <a:p>
            <a:pPr marL="432000" indent="-432000">
              <a:buFont typeface="Times" pitchFamily="-1" charset="0"/>
              <a:buAutoNum type="arabicPeriod"/>
            </a:pPr>
            <a:r>
              <a:rPr lang="en-US" altLang="en-US" sz="2200" dirty="0"/>
              <a:t>maintain a restrictive fiscal policy:</a:t>
            </a:r>
            <a:endParaRPr lang="en-IN" sz="2200" dirty="0"/>
          </a:p>
        </p:txBody>
      </p:sp>
      <p:sp>
        <p:nvSpPr>
          <p:cNvPr id="8" name="Content Placeholder 7"/>
          <p:cNvSpPr>
            <a:spLocks noGrp="1"/>
          </p:cNvSpPr>
          <p:nvPr>
            <p:ph sz="quarter" idx="15"/>
          </p:nvPr>
        </p:nvSpPr>
        <p:spPr>
          <a:xfrm>
            <a:off x="483936" y="5120640"/>
            <a:ext cx="7986738" cy="969190"/>
          </a:xfrm>
        </p:spPr>
        <p:txBody>
          <a:bodyPr tIns="0" bIns="0"/>
          <a:lstStyle/>
          <a:p>
            <a:pPr marL="740664" lvl="1" indent="-283464"/>
            <a:r>
              <a:rPr lang="en-US" altLang="en-US" sz="2200" dirty="0"/>
              <a:t>a maximum ratio of government deficit to G</a:t>
            </a:r>
            <a:r>
              <a:rPr lang="en-US" altLang="en-US" sz="100" dirty="0"/>
              <a:t> </a:t>
            </a:r>
            <a:r>
              <a:rPr lang="en-US" altLang="en-US" sz="2200" dirty="0"/>
              <a:t>D</a:t>
            </a:r>
            <a:r>
              <a:rPr lang="en-US" altLang="en-US" sz="100" dirty="0"/>
              <a:t> </a:t>
            </a:r>
            <a:r>
              <a:rPr lang="en-US" altLang="en-US" sz="2200" dirty="0"/>
              <a:t>P of 3%.</a:t>
            </a:r>
          </a:p>
          <a:p>
            <a:pPr marL="740664" lvl="1" indent="-283464"/>
            <a:r>
              <a:rPr lang="en-US" altLang="en-US" sz="2200" dirty="0"/>
              <a:t>a maximum ratio of government debt to G</a:t>
            </a:r>
            <a:r>
              <a:rPr lang="en-US" altLang="en-US" sz="100" dirty="0"/>
              <a:t> </a:t>
            </a:r>
            <a:r>
              <a:rPr lang="en-US" altLang="en-US" sz="2200" dirty="0"/>
              <a:t>D</a:t>
            </a:r>
            <a:r>
              <a:rPr lang="en-US" altLang="en-US" sz="100" dirty="0"/>
              <a:t> </a:t>
            </a:r>
            <a:r>
              <a:rPr lang="en-US" altLang="en-US" sz="2200" dirty="0"/>
              <a:t>P of 60%.</a:t>
            </a:r>
          </a:p>
        </p:txBody>
      </p:sp>
    </p:spTree>
    <p:extLst>
      <p:ext uri="{BB962C8B-B14F-4D97-AF65-F5344CB8AC3E}">
        <p14:creationId xmlns:p14="http://schemas.microsoft.com/office/powerpoint/2010/main" val="1631321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en-US" altLang="en-US"/>
              <a:t>Policies of the E</a:t>
            </a:r>
            <a:r>
              <a:rPr lang="en-US" altLang="en-US" sz="100"/>
              <a:t> </a:t>
            </a:r>
            <a:r>
              <a:rPr lang="en-US" altLang="en-US"/>
              <a:t>U and E</a:t>
            </a:r>
            <a:r>
              <a:rPr lang="en-US" altLang="en-US" sz="100"/>
              <a:t> </a:t>
            </a:r>
            <a:r>
              <a:rPr lang="en-US" altLang="en-US"/>
              <a:t>M</a:t>
            </a:r>
            <a:r>
              <a:rPr lang="en-US" altLang="en-US" sz="100"/>
              <a:t> </a:t>
            </a:r>
            <a:r>
              <a:rPr lang="en-US" altLang="en-US"/>
              <a:t>S </a:t>
            </a:r>
            <a:r>
              <a:rPr lang="en-US" altLang="en-US" sz="2000" b="0"/>
              <a:t>(3 of 4)</a:t>
            </a:r>
            <a:endParaRPr lang="en-US"/>
          </a:p>
        </p:txBody>
      </p:sp>
      <p:sp>
        <p:nvSpPr>
          <p:cNvPr id="20" name="Content Placeholder 19"/>
          <p:cNvSpPr>
            <a:spLocks noGrp="1"/>
          </p:cNvSpPr>
          <p:nvPr>
            <p:ph sz="quarter" idx="13"/>
          </p:nvPr>
        </p:nvSpPr>
        <p:spPr>
          <a:xfrm>
            <a:off x="457200" y="1625488"/>
            <a:ext cx="8232128" cy="812912"/>
          </a:xfrm>
        </p:spPr>
        <p:txBody>
          <a:bodyPr/>
          <a:lstStyle/>
          <a:p>
            <a:r>
              <a:rPr lang="en-US" altLang="en-US" sz="2200"/>
              <a:t>The Maastricht Treaty requires that members that want to </a:t>
            </a:r>
            <a:r>
              <a:rPr lang="en-US" altLang="en-US" sz="2200" b="1"/>
              <a:t>remain</a:t>
            </a:r>
            <a:r>
              <a:rPr lang="en-US" altLang="en-US" sz="2200"/>
              <a:t> in the economic and monetary union </a:t>
            </a:r>
          </a:p>
        </p:txBody>
      </p:sp>
      <p:sp>
        <p:nvSpPr>
          <p:cNvPr id="21" name="Content Placeholder 20"/>
          <p:cNvSpPr>
            <a:spLocks noGrp="1"/>
          </p:cNvSpPr>
          <p:nvPr>
            <p:ph sz="quarter" idx="14"/>
          </p:nvPr>
        </p:nvSpPr>
        <p:spPr>
          <a:xfrm>
            <a:off x="457200" y="2512824"/>
            <a:ext cx="8232127" cy="498749"/>
          </a:xfrm>
        </p:spPr>
        <p:txBody>
          <a:bodyPr/>
          <a:lstStyle/>
          <a:p>
            <a:pPr marL="432000" indent="-432000">
              <a:buFont typeface="+mj-lt"/>
              <a:buAutoNum type="arabicPeriod"/>
            </a:pPr>
            <a:r>
              <a:rPr lang="en-US" altLang="en-US" sz="2200"/>
              <a:t>maintain a restrictive fiscal policy:</a:t>
            </a:r>
            <a:endParaRPr lang="en-US" sz="2200"/>
          </a:p>
        </p:txBody>
      </p:sp>
      <p:sp>
        <p:nvSpPr>
          <p:cNvPr id="22" name="Content Placeholder 21"/>
          <p:cNvSpPr>
            <a:spLocks noGrp="1"/>
          </p:cNvSpPr>
          <p:nvPr>
            <p:ph sz="quarter" idx="15"/>
          </p:nvPr>
        </p:nvSpPr>
        <p:spPr>
          <a:xfrm>
            <a:off x="457200" y="3109553"/>
            <a:ext cx="8229600" cy="1549533"/>
          </a:xfrm>
        </p:spPr>
        <p:txBody>
          <a:bodyPr tIns="0" bIns="0"/>
          <a:lstStyle/>
          <a:p>
            <a:pPr marL="740664" lvl="1" indent="-283464"/>
            <a:r>
              <a:rPr lang="en-US" altLang="en-US" sz="2200"/>
              <a:t>a maximum ratio of government deficit to G</a:t>
            </a:r>
            <a:r>
              <a:rPr lang="en-US" altLang="en-US" sz="100"/>
              <a:t> </a:t>
            </a:r>
            <a:r>
              <a:rPr lang="en-US" altLang="en-US" sz="2200"/>
              <a:t>D</a:t>
            </a:r>
            <a:r>
              <a:rPr lang="en-US" altLang="en-US" sz="100"/>
              <a:t> </a:t>
            </a:r>
            <a:r>
              <a:rPr lang="en-US" altLang="en-US" sz="2200"/>
              <a:t>P of 3%.</a:t>
            </a:r>
          </a:p>
          <a:p>
            <a:pPr marL="740664" lvl="1" indent="-283464"/>
            <a:r>
              <a:rPr lang="en-US" altLang="en-US" sz="2200"/>
              <a:t>a maximum ratio of government debt to G</a:t>
            </a:r>
            <a:r>
              <a:rPr lang="en-US" altLang="en-US" sz="100"/>
              <a:t> </a:t>
            </a:r>
            <a:r>
              <a:rPr lang="en-US" altLang="en-US" sz="2200"/>
              <a:t>D</a:t>
            </a:r>
            <a:r>
              <a:rPr lang="en-US" altLang="en-US" sz="100"/>
              <a:t> </a:t>
            </a:r>
            <a:r>
              <a:rPr lang="en-US" altLang="en-US" sz="2200"/>
              <a:t>P of 60%.</a:t>
            </a:r>
          </a:p>
          <a:p>
            <a:pPr marL="740664" lvl="1" indent="-283464"/>
            <a:r>
              <a:rPr lang="en-US" altLang="en-US" sz="2200"/>
              <a:t>Financial penalties are imposed on countries with </a:t>
            </a:r>
            <a:r>
              <a:rPr lang="en-US" altLang="ja-JP" sz="2200"/>
              <a:t>“excessive” deficits or debt.</a:t>
            </a:r>
            <a:endParaRPr lang="en-US" sz="2200"/>
          </a:p>
        </p:txBody>
      </p:sp>
      <p:sp>
        <p:nvSpPr>
          <p:cNvPr id="23" name="Content Placeholder 22"/>
          <p:cNvSpPr>
            <a:spLocks noGrp="1"/>
          </p:cNvSpPr>
          <p:nvPr>
            <p:ph sz="quarter" idx="16"/>
          </p:nvPr>
        </p:nvSpPr>
        <p:spPr>
          <a:xfrm>
            <a:off x="457200" y="4724878"/>
            <a:ext cx="8229600" cy="1157365"/>
          </a:xfrm>
        </p:spPr>
        <p:txBody>
          <a:bodyPr/>
          <a:lstStyle/>
          <a:p>
            <a:r>
              <a:rPr lang="en-US" altLang="en-US" sz="2200"/>
              <a:t>The </a:t>
            </a:r>
            <a:r>
              <a:rPr lang="en-US" altLang="en-US" sz="2200" b="1"/>
              <a:t>Stability and Growth Pact</a:t>
            </a:r>
            <a:r>
              <a:rPr lang="en-US" altLang="en-US" sz="2200"/>
              <a:t>, negotiated in 1997, also allows for financial penalties on countries with “</a:t>
            </a:r>
            <a:r>
              <a:rPr lang="en-US" altLang="ja-JP" sz="2200"/>
              <a:t>excessive” deficits or debt.</a:t>
            </a:r>
            <a:endParaRPr lang="en-US" sz="2200"/>
          </a:p>
        </p:txBody>
      </p:sp>
    </p:spTree>
    <p:extLst>
      <p:ext uri="{BB962C8B-B14F-4D97-AF65-F5344CB8AC3E}">
        <p14:creationId xmlns:p14="http://schemas.microsoft.com/office/powerpoint/2010/main" val="647350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Policies of the EU and EMS </a:t>
            </a:r>
            <a:r>
              <a:rPr lang="en-US" altLang="en-US" sz="2000" b="0" dirty="0"/>
              <a:t>(4 of 4)</a:t>
            </a:r>
            <a:endParaRPr lang="en-IN" dirty="0"/>
          </a:p>
        </p:txBody>
      </p:sp>
      <p:sp>
        <p:nvSpPr>
          <p:cNvPr id="3" name="Content Placeholder 2"/>
          <p:cNvSpPr>
            <a:spLocks noGrp="1"/>
          </p:cNvSpPr>
          <p:nvPr>
            <p:ph sz="quarter" idx="13"/>
          </p:nvPr>
        </p:nvSpPr>
        <p:spPr/>
        <p:txBody>
          <a:bodyPr/>
          <a:lstStyle/>
          <a:p>
            <a:r>
              <a:rPr lang="en-US" altLang="en-US" sz="2200" dirty="0"/>
              <a:t>The euro was adopted in 1999, and the previous exchange rate mechanism became obsolete.</a:t>
            </a:r>
          </a:p>
          <a:p>
            <a:r>
              <a:rPr lang="en-US" altLang="en-US" sz="2200" dirty="0"/>
              <a:t>But a new exchange rate mechanism—E</a:t>
            </a:r>
            <a:r>
              <a:rPr lang="en-US" altLang="en-US" sz="100" dirty="0"/>
              <a:t> </a:t>
            </a:r>
            <a:r>
              <a:rPr lang="en-US" altLang="en-US" sz="2200" dirty="0"/>
              <a:t>R</a:t>
            </a:r>
            <a:r>
              <a:rPr lang="en-US" altLang="en-US" sz="100" dirty="0"/>
              <a:t> </a:t>
            </a:r>
            <a:r>
              <a:rPr lang="en-US" altLang="en-US" sz="2200" dirty="0"/>
              <a:t>M 2—was established between the economic and monetary union and outside countries.</a:t>
            </a:r>
          </a:p>
          <a:p>
            <a:pPr lvl="1"/>
            <a:r>
              <a:rPr lang="en-US" altLang="en-US" sz="2200" dirty="0"/>
              <a:t>It allowed countries (either within or outside the E</a:t>
            </a:r>
            <a:r>
              <a:rPr lang="en-US" altLang="en-US" sz="100" dirty="0"/>
              <a:t> </a:t>
            </a:r>
            <a:r>
              <a:rPr lang="en-US" altLang="en-US" sz="2200" dirty="0"/>
              <a:t>U) that wanted to enter the economic and monetary union in the future to maintain stable exchange rates before doing so.</a:t>
            </a:r>
          </a:p>
          <a:p>
            <a:pPr lvl="1"/>
            <a:r>
              <a:rPr lang="en-US" altLang="en-US" sz="2200" dirty="0"/>
              <a:t>It allowed E</a:t>
            </a:r>
            <a:r>
              <a:rPr lang="en-US" altLang="en-US" sz="100" dirty="0"/>
              <a:t> </a:t>
            </a:r>
            <a:r>
              <a:rPr lang="en-US" altLang="en-US" sz="2200" dirty="0"/>
              <a:t>U members outside of the economic and monetary union to maintain fixed exchange rates if desired.</a:t>
            </a:r>
          </a:p>
        </p:txBody>
      </p:sp>
    </p:spTree>
    <p:extLst>
      <p:ext uri="{BB962C8B-B14F-4D97-AF65-F5344CB8AC3E}">
        <p14:creationId xmlns:p14="http://schemas.microsoft.com/office/powerpoint/2010/main" val="2375825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 </a:t>
            </a:r>
            <a:r>
              <a:rPr lang="en-US" altLang="en-US" sz="2000" b="0" dirty="0"/>
              <a:t>(1 of 12)</a:t>
            </a:r>
            <a:endParaRPr lang="en-IN" dirty="0"/>
          </a:p>
        </p:txBody>
      </p:sp>
      <p:sp>
        <p:nvSpPr>
          <p:cNvPr id="3" name="Content Placeholder 2"/>
          <p:cNvSpPr>
            <a:spLocks noGrp="1"/>
          </p:cNvSpPr>
          <p:nvPr>
            <p:ph sz="quarter" idx="13"/>
          </p:nvPr>
        </p:nvSpPr>
        <p:spPr/>
        <p:txBody>
          <a:bodyPr/>
          <a:lstStyle/>
          <a:p>
            <a:r>
              <a:rPr lang="en-US" altLang="en-US" dirty="0"/>
              <a:t>The theory of </a:t>
            </a:r>
            <a:r>
              <a:rPr lang="en-US" altLang="en-US" b="1" dirty="0"/>
              <a:t>optimum currency areas</a:t>
            </a:r>
            <a:r>
              <a:rPr lang="en-US" altLang="en-US" dirty="0"/>
              <a:t> argues that the optimal area for a system of fixed exchange rates, or a common currency, is one that is </a:t>
            </a:r>
            <a:r>
              <a:rPr lang="en-US" altLang="en-US" b="1" dirty="0"/>
              <a:t>highly economically integrated</a:t>
            </a:r>
            <a:r>
              <a:rPr lang="en-US" altLang="en-US" dirty="0"/>
              <a:t>.</a:t>
            </a:r>
            <a:r>
              <a:rPr lang="en-US" altLang="en-US" b="1" dirty="0"/>
              <a:t> </a:t>
            </a:r>
          </a:p>
          <a:p>
            <a:pPr lvl="1"/>
            <a:r>
              <a:rPr lang="en-US" altLang="en-US" dirty="0"/>
              <a:t>economic integration means free flows of</a:t>
            </a:r>
          </a:p>
          <a:p>
            <a:pPr lvl="2"/>
            <a:r>
              <a:rPr lang="en-US" altLang="en-US" dirty="0"/>
              <a:t>goods and services (trade)</a:t>
            </a:r>
          </a:p>
          <a:p>
            <a:pPr lvl="2"/>
            <a:r>
              <a:rPr lang="en-US" altLang="en-US" dirty="0"/>
              <a:t>financial capital (assets) and physical capital</a:t>
            </a:r>
          </a:p>
          <a:p>
            <a:pPr lvl="2"/>
            <a:r>
              <a:rPr lang="en-US" altLang="en-US" dirty="0"/>
              <a:t>workers/labor (immigration and emigration)</a:t>
            </a:r>
          </a:p>
          <a:p>
            <a:r>
              <a:rPr lang="en-US" altLang="en-US" dirty="0"/>
              <a:t>The theory was developed by Robert Mundell in 1961.</a:t>
            </a:r>
          </a:p>
        </p:txBody>
      </p:sp>
    </p:spTree>
    <p:extLst>
      <p:ext uri="{BB962C8B-B14F-4D97-AF65-F5344CB8AC3E}">
        <p14:creationId xmlns:p14="http://schemas.microsoft.com/office/powerpoint/2010/main" val="1360476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 </a:t>
            </a:r>
            <a:r>
              <a:rPr lang="en-US" altLang="en-US" sz="2000" b="0" dirty="0"/>
              <a:t>(2 of 12)</a:t>
            </a:r>
            <a:endParaRPr lang="en-IN" sz="2000" dirty="0"/>
          </a:p>
        </p:txBody>
      </p:sp>
      <p:sp>
        <p:nvSpPr>
          <p:cNvPr id="3" name="Content Placeholder 2"/>
          <p:cNvSpPr>
            <a:spLocks noGrp="1"/>
          </p:cNvSpPr>
          <p:nvPr>
            <p:ph sz="quarter" idx="13"/>
          </p:nvPr>
        </p:nvSpPr>
        <p:spPr/>
        <p:txBody>
          <a:bodyPr/>
          <a:lstStyle/>
          <a:p>
            <a:r>
              <a:rPr lang="en-US" altLang="en-US" dirty="0"/>
              <a:t>Fixed exchange rates have costs and benefits for countries deciding whether to adhere to them.</a:t>
            </a:r>
          </a:p>
          <a:p>
            <a:r>
              <a:rPr lang="en-US" altLang="en-US" dirty="0"/>
              <a:t>Benefits of fixed exchange rates are that </a:t>
            </a:r>
            <a:br>
              <a:rPr lang="en-US" altLang="en-US" dirty="0"/>
            </a:br>
            <a:r>
              <a:rPr lang="en-US" altLang="en-US" dirty="0"/>
              <a:t>they avoid the uncertainty and international transaction costs that floating exchange </a:t>
            </a:r>
            <a:br>
              <a:rPr lang="en-US" altLang="en-US" dirty="0"/>
            </a:br>
            <a:r>
              <a:rPr lang="en-US" altLang="en-US" dirty="0"/>
              <a:t>rates involve.</a:t>
            </a:r>
          </a:p>
          <a:p>
            <a:r>
              <a:rPr lang="en-US" altLang="en-US" dirty="0"/>
              <a:t>The gain that would occur if a country joined a fixed exchange rate system is called the </a:t>
            </a:r>
            <a:r>
              <a:rPr lang="en-US" altLang="en-US" b="1" dirty="0"/>
              <a:t>monetary efficiency gain</a:t>
            </a:r>
            <a:r>
              <a:rPr lang="en-US" altLang="en-US" dirty="0"/>
              <a:t>.</a:t>
            </a:r>
            <a:endParaRPr lang="en-IN" dirty="0"/>
          </a:p>
        </p:txBody>
      </p:sp>
    </p:spTree>
    <p:extLst>
      <p:ext uri="{BB962C8B-B14F-4D97-AF65-F5344CB8AC3E}">
        <p14:creationId xmlns:p14="http://schemas.microsoft.com/office/powerpoint/2010/main" val="2556552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 </a:t>
            </a:r>
            <a:r>
              <a:rPr lang="en-US" altLang="en-US" sz="2000" b="0" dirty="0"/>
              <a:t>(3 of 12)</a:t>
            </a:r>
            <a:endParaRPr lang="en-IN" sz="2000" dirty="0"/>
          </a:p>
        </p:txBody>
      </p:sp>
      <p:sp>
        <p:nvSpPr>
          <p:cNvPr id="3" name="Content Placeholder 2"/>
          <p:cNvSpPr>
            <a:spLocks noGrp="1"/>
          </p:cNvSpPr>
          <p:nvPr>
            <p:ph sz="quarter" idx="13"/>
          </p:nvPr>
        </p:nvSpPr>
        <p:spPr>
          <a:xfrm>
            <a:off x="457200" y="1556327"/>
            <a:ext cx="8229600" cy="1581011"/>
          </a:xfrm>
        </p:spPr>
        <p:txBody>
          <a:bodyPr/>
          <a:lstStyle/>
          <a:p>
            <a:pPr marL="255600"/>
            <a:r>
              <a:rPr lang="en-US" altLang="en-US" sz="2000" dirty="0"/>
              <a:t>The monetary efficiency gain of joining a fixed exchange rate system depends on the amount of economic integration. </a:t>
            </a:r>
          </a:p>
          <a:p>
            <a:pPr marL="255600"/>
            <a:r>
              <a:rPr lang="en-US" altLang="en-US" sz="2000" dirty="0"/>
              <a:t>Joining fixed exchange rate system would be beneficial for a country if</a:t>
            </a:r>
            <a:endParaRPr lang="en-IN" sz="2000" dirty="0"/>
          </a:p>
        </p:txBody>
      </p:sp>
      <p:sp>
        <p:nvSpPr>
          <p:cNvPr id="4" name="Content Placeholder 3"/>
          <p:cNvSpPr>
            <a:spLocks noGrp="1"/>
          </p:cNvSpPr>
          <p:nvPr>
            <p:ph sz="quarter" idx="14"/>
          </p:nvPr>
        </p:nvSpPr>
        <p:spPr>
          <a:xfrm>
            <a:off x="457200" y="3220177"/>
            <a:ext cx="8229600" cy="2886080"/>
          </a:xfrm>
        </p:spPr>
        <p:txBody>
          <a:bodyPr/>
          <a:lstStyle/>
          <a:p>
            <a:pPr marL="741600" lvl="1" indent="-428400">
              <a:buFont typeface="Times" pitchFamily="-1" charset="0"/>
              <a:buAutoNum type="arabicPeriod"/>
            </a:pPr>
            <a:r>
              <a:rPr lang="en-US" altLang="en-US" sz="2000" dirty="0"/>
              <a:t>trade is extensive between it and member countries, because transaction costs would be greatly reduced.</a:t>
            </a:r>
          </a:p>
          <a:p>
            <a:pPr marL="741600" lvl="1" indent="-428400">
              <a:buFont typeface="Times" pitchFamily="-1" charset="0"/>
              <a:buAutoNum type="arabicPeriod"/>
            </a:pPr>
            <a:r>
              <a:rPr lang="en-US" altLang="en-US" sz="2000" dirty="0"/>
              <a:t>financial assets flow freely between it and member countries, because the uncertainty about rates of return would be greatly reduced.</a:t>
            </a:r>
          </a:p>
          <a:p>
            <a:pPr marL="741600" lvl="1" indent="-428400">
              <a:buFont typeface="Times" pitchFamily="-1" charset="0"/>
              <a:buAutoNum type="arabicPeriod"/>
            </a:pPr>
            <a:r>
              <a:rPr lang="en-US" altLang="en-US" sz="2000" dirty="0"/>
              <a:t>people migrate freely between it and member countries, because the uncertainty about the purchasing power of wages would be greatly reduced.</a:t>
            </a:r>
            <a:endParaRPr lang="en-IN" sz="2000" dirty="0"/>
          </a:p>
        </p:txBody>
      </p:sp>
    </p:spTree>
    <p:extLst>
      <p:ext uri="{BB962C8B-B14F-4D97-AF65-F5344CB8AC3E}">
        <p14:creationId xmlns:p14="http://schemas.microsoft.com/office/powerpoint/2010/main" val="23730747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 </a:t>
            </a:r>
            <a:r>
              <a:rPr lang="en-US" altLang="en-US" sz="2000" b="0" dirty="0"/>
              <a:t>(4 of 12)</a:t>
            </a:r>
            <a:endParaRPr lang="en-IN" sz="2000" dirty="0"/>
          </a:p>
        </p:txBody>
      </p:sp>
      <p:sp>
        <p:nvSpPr>
          <p:cNvPr id="3" name="Content Placeholder 2"/>
          <p:cNvSpPr>
            <a:spLocks noGrp="1"/>
          </p:cNvSpPr>
          <p:nvPr>
            <p:ph sz="quarter" idx="13"/>
          </p:nvPr>
        </p:nvSpPr>
        <p:spPr/>
        <p:txBody>
          <a:bodyPr/>
          <a:lstStyle/>
          <a:p>
            <a:r>
              <a:rPr lang="en-US" altLang="en-US" dirty="0"/>
              <a:t>In general, as the degree of economic integration increases, the monetary efficiency gain increases.</a:t>
            </a:r>
          </a:p>
          <a:p>
            <a:r>
              <a:rPr lang="en-US" altLang="en-US" dirty="0"/>
              <a:t>Draw a graph of the monetary efficiency gain as a function of the degree of economic integration.</a:t>
            </a:r>
            <a:endParaRPr lang="en-IN" dirty="0"/>
          </a:p>
        </p:txBody>
      </p:sp>
    </p:spTree>
    <p:extLst>
      <p:ext uri="{BB962C8B-B14F-4D97-AF65-F5344CB8AC3E}">
        <p14:creationId xmlns:p14="http://schemas.microsoft.com/office/powerpoint/2010/main" val="3531693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Figure 21.3 The </a:t>
            </a:r>
            <a:r>
              <a:rPr lang="en-US" altLang="en-US" i="1" dirty="0"/>
              <a:t>G</a:t>
            </a:r>
            <a:r>
              <a:rPr lang="en-US" altLang="en-US" sz="100" i="1" dirty="0"/>
              <a:t> </a:t>
            </a:r>
            <a:r>
              <a:rPr lang="en-US" altLang="en-US" i="1" dirty="0"/>
              <a:t>G</a:t>
            </a:r>
            <a:r>
              <a:rPr lang="en-US" altLang="en-US" dirty="0"/>
              <a:t> Schedule</a:t>
            </a:r>
            <a:endParaRPr lang="en-IN" dirty="0"/>
          </a:p>
        </p:txBody>
      </p:sp>
      <p:pic>
        <p:nvPicPr>
          <p:cNvPr id="5" name="Content Placeholder 4" descr="The G G schedule plots monetary efficiency gain for the joining country versus degree of economic integration between the joining country and the exchange rate area on the x-axis. The plot for G G is a rising line. &#10;"/>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014445" y="1672214"/>
            <a:ext cx="3115110" cy="3115110"/>
          </a:xfrm>
        </p:spPr>
      </p:pic>
      <p:sp>
        <p:nvSpPr>
          <p:cNvPr id="4" name="Content Placeholder 3"/>
          <p:cNvSpPr>
            <a:spLocks noGrp="1"/>
          </p:cNvSpPr>
          <p:nvPr>
            <p:ph sz="quarter" idx="14"/>
          </p:nvPr>
        </p:nvSpPr>
        <p:spPr>
          <a:xfrm>
            <a:off x="457200" y="5092262"/>
            <a:ext cx="8229600" cy="1090824"/>
          </a:xfrm>
        </p:spPr>
        <p:txBody>
          <a:bodyPr/>
          <a:lstStyle/>
          <a:p>
            <a:pPr marL="432" indent="0">
              <a:buNone/>
            </a:pPr>
            <a:r>
              <a:rPr lang="en-US" sz="2000" dirty="0"/>
              <a:t>The upward-sloping </a:t>
            </a:r>
            <a:r>
              <a:rPr lang="en-US" sz="2000" i="1" dirty="0"/>
              <a:t>G</a:t>
            </a:r>
            <a:r>
              <a:rPr lang="en-US" sz="100" i="1" dirty="0"/>
              <a:t> </a:t>
            </a:r>
            <a:r>
              <a:rPr lang="en-US" sz="2000" i="1" dirty="0"/>
              <a:t>G </a:t>
            </a:r>
            <a:r>
              <a:rPr lang="en-US" sz="2000" dirty="0"/>
              <a:t>schedule shows that a country’s monetary efficiency gain from joining a fixed exchange rate area rises as the country’s economic integration with the area rises.</a:t>
            </a:r>
            <a:endParaRPr lang="en-IN" sz="2000" dirty="0"/>
          </a:p>
        </p:txBody>
      </p:sp>
    </p:spTree>
    <p:extLst>
      <p:ext uri="{BB962C8B-B14F-4D97-AF65-F5344CB8AC3E}">
        <p14:creationId xmlns:p14="http://schemas.microsoft.com/office/powerpoint/2010/main" val="1879987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Theory of Optimum Currency Areas </a:t>
            </a:r>
            <a:r>
              <a:rPr lang="en-US" altLang="en-US" sz="2000" b="0"/>
              <a:t>(5 of 12)</a:t>
            </a:r>
            <a:endParaRPr lang="en-US" sz="2000"/>
          </a:p>
        </p:txBody>
      </p:sp>
      <p:sp>
        <p:nvSpPr>
          <p:cNvPr id="3" name="Content Placeholder 2"/>
          <p:cNvSpPr>
            <a:spLocks noGrp="1"/>
          </p:cNvSpPr>
          <p:nvPr>
            <p:ph sz="quarter" idx="13"/>
          </p:nvPr>
        </p:nvSpPr>
        <p:spPr/>
        <p:txBody>
          <a:bodyPr/>
          <a:lstStyle/>
          <a:p>
            <a:pPr>
              <a:spcBef>
                <a:spcPts val="1000"/>
              </a:spcBef>
              <a:buNone/>
            </a:pPr>
            <a:r>
              <a:rPr lang="en-US" altLang="en-US" sz="2200" dirty="0"/>
              <a:t>When considering the monetary efficiency gain,</a:t>
            </a:r>
          </a:p>
          <a:p>
            <a:pPr>
              <a:spcBef>
                <a:spcPts val="1000"/>
              </a:spcBef>
            </a:pPr>
            <a:r>
              <a:rPr lang="en-US" altLang="en-US" sz="2200" dirty="0"/>
              <a:t>we have assumed that the members of the fixed exchange rate system would maintain stable prices.</a:t>
            </a:r>
          </a:p>
          <a:p>
            <a:pPr lvl="1"/>
            <a:r>
              <a:rPr lang="en-US" altLang="en-US" sz="2200" dirty="0"/>
              <a:t>But when variable inflation exists among member countries, then joining the system would not reduce uncertainty (as much).</a:t>
            </a:r>
          </a:p>
          <a:p>
            <a:pPr>
              <a:spcBef>
                <a:spcPts val="1000"/>
              </a:spcBef>
            </a:pPr>
            <a:r>
              <a:rPr lang="en-US" altLang="en-US" sz="2200" dirty="0"/>
              <a:t>we have assumed that a new member would be fully committed to a fixed exchange rate system.</a:t>
            </a:r>
          </a:p>
          <a:p>
            <a:pPr lvl="1"/>
            <a:r>
              <a:rPr lang="en-US" altLang="en-US" sz="2200" dirty="0"/>
              <a:t>But if a new member is likely to leave the fixed exchange rate system, then joining the system would not reduce uncertainty (as much).</a:t>
            </a:r>
            <a:endParaRPr lang="en-US" sz="2200" dirty="0"/>
          </a:p>
        </p:txBody>
      </p:sp>
    </p:spTree>
    <p:extLst>
      <p:ext uri="{BB962C8B-B14F-4D97-AF65-F5344CB8AC3E}">
        <p14:creationId xmlns:p14="http://schemas.microsoft.com/office/powerpoint/2010/main" val="487000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 </a:t>
            </a:r>
            <a:r>
              <a:rPr lang="en-US" altLang="en-US" sz="2000" b="0" dirty="0"/>
              <a:t>(6 of 12)</a:t>
            </a:r>
            <a:endParaRPr lang="en-IN" dirty="0"/>
          </a:p>
        </p:txBody>
      </p:sp>
      <p:sp>
        <p:nvSpPr>
          <p:cNvPr id="3" name="Content Placeholder 2"/>
          <p:cNvSpPr>
            <a:spLocks noGrp="1"/>
          </p:cNvSpPr>
          <p:nvPr>
            <p:ph sz="quarter" idx="13"/>
          </p:nvPr>
        </p:nvSpPr>
        <p:spPr/>
        <p:txBody>
          <a:bodyPr/>
          <a:lstStyle/>
          <a:p>
            <a:r>
              <a:rPr lang="en-US" altLang="en-US" dirty="0"/>
              <a:t>Economic integration also allows prices to converge between members of a fixed exchange rate system and a potential member.</a:t>
            </a:r>
          </a:p>
          <a:p>
            <a:pPr lvl="1"/>
            <a:r>
              <a:rPr lang="en-US" altLang="en-US" dirty="0"/>
              <a:t>The law of one price is expected to hold better when markets are integrated.</a:t>
            </a:r>
            <a:endParaRPr lang="en-IN" dirty="0"/>
          </a:p>
        </p:txBody>
      </p:sp>
    </p:spTree>
    <p:extLst>
      <p:ext uri="{BB962C8B-B14F-4D97-AF65-F5344CB8AC3E}">
        <p14:creationId xmlns:p14="http://schemas.microsoft.com/office/powerpoint/2010/main" val="4420242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 </a:t>
            </a:r>
            <a:r>
              <a:rPr lang="en-US" altLang="en-US" sz="2000" b="0" dirty="0"/>
              <a:t>(7 of 12)</a:t>
            </a:r>
            <a:endParaRPr lang="en-IN" sz="2000" dirty="0"/>
          </a:p>
        </p:txBody>
      </p:sp>
      <p:sp>
        <p:nvSpPr>
          <p:cNvPr id="3" name="Content Placeholder 2"/>
          <p:cNvSpPr>
            <a:spLocks noGrp="1"/>
          </p:cNvSpPr>
          <p:nvPr>
            <p:ph sz="quarter" idx="13"/>
          </p:nvPr>
        </p:nvSpPr>
        <p:spPr/>
        <p:txBody>
          <a:bodyPr/>
          <a:lstStyle/>
          <a:p>
            <a:r>
              <a:rPr lang="en-US" altLang="en-US" dirty="0"/>
              <a:t>Costs of fixed exchange rates are that they require the loss of monetary policy for stabilizing output and employment, and the loss of automatic adjustment of exchange rates to changes in aggregate demand.</a:t>
            </a:r>
          </a:p>
          <a:p>
            <a:r>
              <a:rPr lang="en-US" altLang="en-US" dirty="0"/>
              <a:t>Define this loss that would occur if a country joined a fixed exchange rate system as the </a:t>
            </a:r>
            <a:r>
              <a:rPr lang="en-US" altLang="en-US" b="1" dirty="0"/>
              <a:t>economic stability loss</a:t>
            </a:r>
            <a:r>
              <a:rPr lang="en-US" altLang="en-US" dirty="0"/>
              <a:t>.</a:t>
            </a:r>
            <a:endParaRPr lang="en-IN" dirty="0"/>
          </a:p>
        </p:txBody>
      </p:sp>
    </p:spTree>
    <p:extLst>
      <p:ext uri="{BB962C8B-B14F-4D97-AF65-F5344CB8AC3E}">
        <p14:creationId xmlns:p14="http://schemas.microsoft.com/office/powerpoint/2010/main" val="4121891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 </a:t>
            </a:r>
            <a:r>
              <a:rPr lang="en-US" altLang="en-US" sz="2000" b="0" dirty="0"/>
              <a:t>(8 of 12)</a:t>
            </a:r>
            <a:endParaRPr lang="en-IN" dirty="0"/>
          </a:p>
        </p:txBody>
      </p:sp>
      <p:sp>
        <p:nvSpPr>
          <p:cNvPr id="3" name="Content Placeholder 2"/>
          <p:cNvSpPr>
            <a:spLocks noGrp="1"/>
          </p:cNvSpPr>
          <p:nvPr>
            <p:ph sz="quarter" idx="13"/>
          </p:nvPr>
        </p:nvSpPr>
        <p:spPr>
          <a:xfrm>
            <a:off x="457200" y="1556327"/>
            <a:ext cx="8229600" cy="1680359"/>
          </a:xfrm>
        </p:spPr>
        <p:txBody>
          <a:bodyPr/>
          <a:lstStyle/>
          <a:p>
            <a:pPr marL="255600"/>
            <a:r>
              <a:rPr lang="en-US" altLang="en-US" sz="2200" dirty="0"/>
              <a:t>The economic stability loss of joining a fixed exchange rate system also depends on the amount of economic integration. </a:t>
            </a:r>
          </a:p>
          <a:p>
            <a:pPr marL="255600"/>
            <a:r>
              <a:rPr lang="en-US" altLang="en-US" sz="2200" dirty="0"/>
              <a:t>After joining a fixed exchange rate system, if the new member faces a fall in aggregate demand:</a:t>
            </a:r>
            <a:endParaRPr lang="en-IN" sz="2200" dirty="0"/>
          </a:p>
        </p:txBody>
      </p:sp>
      <p:sp>
        <p:nvSpPr>
          <p:cNvPr id="4" name="Content Placeholder 3"/>
          <p:cNvSpPr>
            <a:spLocks noGrp="1"/>
          </p:cNvSpPr>
          <p:nvPr>
            <p:ph sz="quarter" idx="14"/>
          </p:nvPr>
        </p:nvSpPr>
        <p:spPr>
          <a:xfrm>
            <a:off x="457200" y="3324780"/>
            <a:ext cx="8229600" cy="2633835"/>
          </a:xfrm>
        </p:spPr>
        <p:txBody>
          <a:bodyPr/>
          <a:lstStyle/>
          <a:p>
            <a:pPr marL="741600" lvl="1" indent="-428400">
              <a:buFont typeface="Times" pitchFamily="-1" charset="0"/>
              <a:buAutoNum type="arabicPeriod"/>
            </a:pPr>
            <a:r>
              <a:rPr lang="en-US" altLang="en-US" sz="2200" dirty="0"/>
              <a:t>Relative prices will tend to fall, which will lead other members to increase aggregate demand greatly if economic integration is extensive, so that the economic loss is not as great.</a:t>
            </a:r>
          </a:p>
          <a:p>
            <a:pPr marL="741600" lvl="1" indent="-428400">
              <a:buFont typeface="Times" pitchFamily="-1" charset="0"/>
              <a:buAutoNum type="arabicPeriod"/>
            </a:pPr>
            <a:r>
              <a:rPr lang="en-US" altLang="en-US" sz="2200" dirty="0"/>
              <a:t>Financial assets or labor will migrate to areas with higher returns or wages if economic integration is extensive, so that the economic loss is not as great.</a:t>
            </a:r>
            <a:endParaRPr lang="en-IN" sz="2200" dirty="0"/>
          </a:p>
        </p:txBody>
      </p:sp>
    </p:spTree>
    <p:extLst>
      <p:ext uri="{BB962C8B-B14F-4D97-AF65-F5344CB8AC3E}">
        <p14:creationId xmlns:p14="http://schemas.microsoft.com/office/powerpoint/2010/main" val="28678109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 </a:t>
            </a:r>
            <a:r>
              <a:rPr lang="en-US" altLang="en-US" sz="2000" b="0" dirty="0"/>
              <a:t>(9 of 12)</a:t>
            </a:r>
            <a:endParaRPr lang="en-IN" dirty="0"/>
          </a:p>
        </p:txBody>
      </p:sp>
      <p:sp>
        <p:nvSpPr>
          <p:cNvPr id="3" name="Content Placeholder 2"/>
          <p:cNvSpPr>
            <a:spLocks noGrp="1"/>
          </p:cNvSpPr>
          <p:nvPr>
            <p:ph sz="quarter" idx="13"/>
          </p:nvPr>
        </p:nvSpPr>
        <p:spPr>
          <a:xfrm>
            <a:off x="457200" y="1556327"/>
            <a:ext cx="8229600" cy="1230416"/>
          </a:xfrm>
        </p:spPr>
        <p:txBody>
          <a:bodyPr/>
          <a:lstStyle/>
          <a:p>
            <a:pPr marL="741600" lvl="1" indent="-428400">
              <a:buFont typeface="+mj-lt"/>
              <a:buAutoNum type="arabicPeriod" startAt="3"/>
            </a:pPr>
            <a:r>
              <a:rPr lang="en-US" altLang="en-US" dirty="0"/>
              <a:t>The loss of the automatic adjustment of flexible exchange rates is not as great if goods and services markets are integrated. Why?</a:t>
            </a:r>
            <a:endParaRPr lang="en-IN" dirty="0"/>
          </a:p>
        </p:txBody>
      </p:sp>
      <p:sp>
        <p:nvSpPr>
          <p:cNvPr id="4" name="Content Placeholder 3"/>
          <p:cNvSpPr>
            <a:spLocks noGrp="1"/>
          </p:cNvSpPr>
          <p:nvPr>
            <p:ph sz="quarter" idx="14"/>
          </p:nvPr>
        </p:nvSpPr>
        <p:spPr>
          <a:xfrm>
            <a:off x="457200" y="2854996"/>
            <a:ext cx="8229600" cy="3193208"/>
          </a:xfrm>
        </p:spPr>
        <p:txBody>
          <a:bodyPr/>
          <a:lstStyle/>
          <a:p>
            <a:pPr marL="255600" lvl="1" indent="-255600">
              <a:spcBef>
                <a:spcPts val="1500"/>
              </a:spcBef>
              <a:buFontTx/>
              <a:buChar char="•"/>
            </a:pPr>
            <a:r>
              <a:rPr lang="en-US" altLang="en-US" dirty="0"/>
              <a:t>Consider what would have happened if the country did not join the fixed exchange rate system:  </a:t>
            </a:r>
          </a:p>
          <a:p>
            <a:pPr marL="741600" lvl="2" indent="-284400">
              <a:buFontTx/>
              <a:buChar char="–"/>
            </a:pPr>
            <a:r>
              <a:rPr lang="en-US" altLang="en-US" dirty="0"/>
              <a:t>the automatic adjustment would have caused a depreciation of the domestic currency and an appreciation of foreign currencies, which would have caused an increase in many prices for domestic consumers when goods and services markets are integrated.</a:t>
            </a:r>
            <a:endParaRPr lang="en-IN" dirty="0"/>
          </a:p>
        </p:txBody>
      </p:sp>
    </p:spTree>
    <p:extLst>
      <p:ext uri="{BB962C8B-B14F-4D97-AF65-F5344CB8AC3E}">
        <p14:creationId xmlns:p14="http://schemas.microsoft.com/office/powerpoint/2010/main" val="1693494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a:t>
            </a:r>
            <a:r>
              <a:rPr lang="en-US" altLang="en-US" sz="2000" dirty="0"/>
              <a:t> </a:t>
            </a:r>
            <a:r>
              <a:rPr lang="en-US" altLang="en-US" sz="2000" b="0" dirty="0"/>
              <a:t>(10 of 12)</a:t>
            </a:r>
            <a:endParaRPr lang="en-IN" sz="2000" dirty="0"/>
          </a:p>
        </p:txBody>
      </p:sp>
      <p:sp>
        <p:nvSpPr>
          <p:cNvPr id="3" name="Content Placeholder 2"/>
          <p:cNvSpPr>
            <a:spLocks noGrp="1"/>
          </p:cNvSpPr>
          <p:nvPr>
            <p:ph sz="quarter" idx="13"/>
          </p:nvPr>
        </p:nvSpPr>
        <p:spPr/>
        <p:txBody>
          <a:bodyPr/>
          <a:lstStyle/>
          <a:p>
            <a:r>
              <a:rPr lang="en-US" altLang="en-US" dirty="0"/>
              <a:t>In general, as the degree of economic integration increases, the economic stability loss decreases.</a:t>
            </a:r>
          </a:p>
          <a:p>
            <a:r>
              <a:rPr lang="en-US" altLang="en-US" dirty="0"/>
              <a:t>Draw a graph of the economic stability loss as a function of the degree of economic integration.</a:t>
            </a:r>
            <a:endParaRPr lang="en-IN" dirty="0"/>
          </a:p>
        </p:txBody>
      </p:sp>
    </p:spTree>
    <p:extLst>
      <p:ext uri="{BB962C8B-B14F-4D97-AF65-F5344CB8AC3E}">
        <p14:creationId xmlns:p14="http://schemas.microsoft.com/office/powerpoint/2010/main" val="18682843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Figure 21.4 The </a:t>
            </a:r>
            <a:r>
              <a:rPr lang="en-US" altLang="en-US" i="1"/>
              <a:t>L</a:t>
            </a:r>
            <a:r>
              <a:rPr lang="en-US" altLang="en-US" sz="100" i="1"/>
              <a:t> </a:t>
            </a:r>
            <a:r>
              <a:rPr lang="en-US" altLang="en-US" i="1"/>
              <a:t>L</a:t>
            </a:r>
            <a:r>
              <a:rPr lang="en-US" altLang="en-US"/>
              <a:t> Schedule</a:t>
            </a:r>
            <a:endParaRPr lang="en-US"/>
          </a:p>
        </p:txBody>
      </p:sp>
      <p:pic>
        <p:nvPicPr>
          <p:cNvPr id="5" name="Content Placeholder 4" descr="The L L schedule plots economic stability loss for the joining country versus degree of economic integration between the joining country and the exchange rate area. The plot for L L is a falling line."/>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863929" y="1566445"/>
            <a:ext cx="3416141" cy="3384704"/>
          </a:xfrm>
        </p:spPr>
      </p:pic>
      <p:sp>
        <p:nvSpPr>
          <p:cNvPr id="4" name="Content Placeholder 3"/>
          <p:cNvSpPr>
            <a:spLocks noGrp="1"/>
          </p:cNvSpPr>
          <p:nvPr>
            <p:ph sz="quarter" idx="14"/>
          </p:nvPr>
        </p:nvSpPr>
        <p:spPr>
          <a:xfrm>
            <a:off x="457200" y="5248165"/>
            <a:ext cx="8229600" cy="1031984"/>
          </a:xfrm>
        </p:spPr>
        <p:txBody>
          <a:bodyPr tIns="36000"/>
          <a:lstStyle/>
          <a:p>
            <a:pPr marL="432" indent="0">
              <a:buNone/>
            </a:pPr>
            <a:r>
              <a:rPr lang="en-US" sz="2000"/>
              <a:t>The downward-sloping </a:t>
            </a:r>
            <a:r>
              <a:rPr lang="en-US" sz="2000" i="1"/>
              <a:t>L</a:t>
            </a:r>
            <a:r>
              <a:rPr lang="en-US" sz="100" i="1"/>
              <a:t> </a:t>
            </a:r>
            <a:r>
              <a:rPr lang="en-US" sz="2000" i="1"/>
              <a:t>L </a:t>
            </a:r>
            <a:r>
              <a:rPr lang="en-US" sz="2000"/>
              <a:t>schedule shows that a country’s economic stability loss from joining a fixed exchange rate area falls as the country’s economic integration with the area rises.</a:t>
            </a:r>
          </a:p>
        </p:txBody>
      </p:sp>
    </p:spTree>
    <p:extLst>
      <p:ext uri="{BB962C8B-B14F-4D97-AF65-F5344CB8AC3E}">
        <p14:creationId xmlns:p14="http://schemas.microsoft.com/office/powerpoint/2010/main" val="2180548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a:t>
            </a:r>
            <a:r>
              <a:rPr lang="en-US" altLang="en-US" sz="2000" dirty="0"/>
              <a:t> </a:t>
            </a:r>
            <a:r>
              <a:rPr lang="en-US" altLang="en-US" sz="2000" b="0" dirty="0"/>
              <a:t>(11 of 12)</a:t>
            </a:r>
            <a:endParaRPr lang="en-IN" sz="2000" dirty="0"/>
          </a:p>
        </p:txBody>
      </p:sp>
      <p:sp>
        <p:nvSpPr>
          <p:cNvPr id="3" name="Content Placeholder 2"/>
          <p:cNvSpPr>
            <a:spLocks noGrp="1"/>
          </p:cNvSpPr>
          <p:nvPr>
            <p:ph sz="quarter" idx="13"/>
          </p:nvPr>
        </p:nvSpPr>
        <p:spPr/>
        <p:txBody>
          <a:bodyPr/>
          <a:lstStyle/>
          <a:p>
            <a:r>
              <a:rPr lang="en-US" altLang="en-US" dirty="0"/>
              <a:t>At some critical point measuring the degree of integration, the monetary efficiency gain will exceed the economic stability loss for a member considering whether to join a fixed exchange rate system.</a:t>
            </a:r>
            <a:endParaRPr lang="en-IN" dirty="0"/>
          </a:p>
        </p:txBody>
      </p:sp>
    </p:spTree>
    <p:extLst>
      <p:ext uri="{BB962C8B-B14F-4D97-AF65-F5344CB8AC3E}">
        <p14:creationId xmlns:p14="http://schemas.microsoft.com/office/powerpoint/2010/main" val="1554906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21.5 Deciding When to Peg the Exchange Rate</a:t>
            </a:r>
            <a:endParaRPr lang="en-IN" sz="3200" dirty="0"/>
          </a:p>
        </p:txBody>
      </p:sp>
      <p:pic>
        <p:nvPicPr>
          <p:cNvPr id="22" name="Content Placeholder 21" descr="The graph plots gains and losses for the joining country versus degree of economic integration between the joining country and the exchange rate area.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3083467" y="1552575"/>
            <a:ext cx="2977066" cy="2986088"/>
          </a:xfrm>
        </p:spPr>
      </p:pic>
      <p:sp>
        <p:nvSpPr>
          <p:cNvPr id="9" name="Content Placeholder 8"/>
          <p:cNvSpPr>
            <a:spLocks noGrp="1"/>
          </p:cNvSpPr>
          <p:nvPr>
            <p:ph sz="quarter" idx="14"/>
          </p:nvPr>
        </p:nvSpPr>
        <p:spPr>
          <a:xfrm>
            <a:off x="457200" y="4745016"/>
            <a:ext cx="8229600" cy="305953"/>
          </a:xfrm>
        </p:spPr>
        <p:txBody>
          <a:bodyPr tIns="0" bIns="0"/>
          <a:lstStyle/>
          <a:p>
            <a:pPr marL="432" indent="0">
              <a:buNone/>
            </a:pPr>
            <a:r>
              <a:rPr lang="en-US" sz="1800" dirty="0"/>
              <a:t>The intersection of </a:t>
            </a:r>
            <a:r>
              <a:rPr lang="en-US" sz="1800" i="1" dirty="0"/>
              <a:t>G</a:t>
            </a:r>
            <a:r>
              <a:rPr lang="en-US" sz="100" i="1" dirty="0"/>
              <a:t> </a:t>
            </a:r>
            <a:r>
              <a:rPr lang="en-US" sz="1800" i="1" dirty="0" err="1"/>
              <a:t>G</a:t>
            </a:r>
            <a:r>
              <a:rPr lang="en-US" sz="1800" i="1" dirty="0"/>
              <a:t> </a:t>
            </a:r>
            <a:r>
              <a:rPr lang="en-US" sz="1800" dirty="0"/>
              <a:t>and </a:t>
            </a:r>
            <a:r>
              <a:rPr lang="en-US" sz="1800" i="1" dirty="0"/>
              <a:t>L</a:t>
            </a:r>
            <a:r>
              <a:rPr lang="en-US" sz="100" i="1" dirty="0"/>
              <a:t> </a:t>
            </a:r>
            <a:r>
              <a:rPr lang="en-US" sz="1800" i="1" dirty="0" err="1"/>
              <a:t>L</a:t>
            </a:r>
            <a:r>
              <a:rPr lang="en-US" sz="1800" i="1" dirty="0"/>
              <a:t> </a:t>
            </a:r>
            <a:r>
              <a:rPr lang="en-US" sz="1800" dirty="0"/>
              <a:t>at point 1 determines a critical level of economic</a:t>
            </a:r>
            <a:endParaRPr lang="en-IN" sz="1800" dirty="0"/>
          </a:p>
        </p:txBody>
      </p:sp>
      <p:sp>
        <p:nvSpPr>
          <p:cNvPr id="10" name="Content Placeholder 9"/>
          <p:cNvSpPr>
            <a:spLocks noGrp="1"/>
          </p:cNvSpPr>
          <p:nvPr>
            <p:ph sz="quarter" idx="15"/>
          </p:nvPr>
        </p:nvSpPr>
        <p:spPr>
          <a:xfrm>
            <a:off x="457201" y="5122860"/>
            <a:ext cx="1315958" cy="305953"/>
          </a:xfrm>
        </p:spPr>
        <p:txBody>
          <a:bodyPr tIns="0" bIns="0"/>
          <a:lstStyle/>
          <a:p>
            <a:pPr marL="432" indent="0">
              <a:buNone/>
            </a:pPr>
            <a:r>
              <a:rPr lang="en-US" sz="1800" dirty="0"/>
              <a:t>integration,</a:t>
            </a:r>
            <a:endParaRPr lang="en-IN" sz="1800" dirty="0"/>
          </a:p>
        </p:txBody>
      </p:sp>
      <p:graphicFrame>
        <p:nvGraphicFramePr>
          <p:cNvPr id="23" name="Object 22" descr="Theta sub 1,"/>
          <p:cNvGraphicFramePr>
            <a:graphicFrameLocks noChangeAspect="1"/>
          </p:cNvGraphicFramePr>
          <p:nvPr>
            <p:extLst>
              <p:ext uri="{D42A27DB-BD31-4B8C-83A1-F6EECF244321}">
                <p14:modId xmlns:p14="http://schemas.microsoft.com/office/powerpoint/2010/main" val="317370010"/>
              </p:ext>
            </p:extLst>
          </p:nvPr>
        </p:nvGraphicFramePr>
        <p:xfrm>
          <a:off x="1862362" y="5111614"/>
          <a:ext cx="294599" cy="318454"/>
        </p:xfrm>
        <a:graphic>
          <a:graphicData uri="http://schemas.openxmlformats.org/presentationml/2006/ole">
            <mc:AlternateContent xmlns:mc="http://schemas.openxmlformats.org/markup-compatibility/2006">
              <mc:Choice xmlns:v="urn:schemas-microsoft-com:vml" Requires="v">
                <p:oleObj spid="_x0000_s3076" name="Equation" r:id="rId5" imgW="304560" imgH="330120" progId="Equation.DSMT4">
                  <p:embed/>
                </p:oleObj>
              </mc:Choice>
              <mc:Fallback>
                <p:oleObj name="Equation" r:id="rId5" imgW="304560" imgH="330120" progId="Equation.DSMT4">
                  <p:embed/>
                  <p:pic>
                    <p:nvPicPr>
                      <p:cNvPr id="0" name=""/>
                      <p:cNvPicPr/>
                      <p:nvPr/>
                    </p:nvPicPr>
                    <p:blipFill>
                      <a:blip r:embed="rId6"/>
                      <a:stretch>
                        <a:fillRect/>
                      </a:stretch>
                    </p:blipFill>
                    <p:spPr>
                      <a:xfrm>
                        <a:off x="1862362" y="5111614"/>
                        <a:ext cx="294599" cy="318454"/>
                      </a:xfrm>
                      <a:prstGeom prst="rect">
                        <a:avLst/>
                      </a:prstGeom>
                    </p:spPr>
                  </p:pic>
                </p:oleObj>
              </mc:Fallback>
            </mc:AlternateContent>
          </a:graphicData>
        </a:graphic>
      </p:graphicFrame>
      <p:sp>
        <p:nvSpPr>
          <p:cNvPr id="11" name="Content Placeholder 10"/>
          <p:cNvSpPr>
            <a:spLocks noGrp="1"/>
          </p:cNvSpPr>
          <p:nvPr>
            <p:ph sz="quarter" idx="16"/>
          </p:nvPr>
        </p:nvSpPr>
        <p:spPr>
          <a:xfrm>
            <a:off x="2232446" y="5132422"/>
            <a:ext cx="6526925" cy="339462"/>
          </a:xfrm>
        </p:spPr>
        <p:txBody>
          <a:bodyPr lIns="0" tIns="0" bIns="0"/>
          <a:lstStyle/>
          <a:p>
            <a:pPr marL="432" indent="0">
              <a:buNone/>
            </a:pPr>
            <a:r>
              <a:rPr lang="en-US" sz="1800" dirty="0"/>
              <a:t>between a fixed exchange rate area and a country considering</a:t>
            </a:r>
            <a:endParaRPr lang="en-IN" sz="1800" dirty="0"/>
          </a:p>
        </p:txBody>
      </p:sp>
      <p:sp>
        <p:nvSpPr>
          <p:cNvPr id="12" name="Content Placeholder 11"/>
          <p:cNvSpPr>
            <a:spLocks noGrp="1"/>
          </p:cNvSpPr>
          <p:nvPr>
            <p:ph sz="quarter" idx="17"/>
          </p:nvPr>
        </p:nvSpPr>
        <p:spPr>
          <a:xfrm>
            <a:off x="441433" y="5551114"/>
            <a:ext cx="5060733" cy="298143"/>
          </a:xfrm>
        </p:spPr>
        <p:txBody>
          <a:bodyPr tIns="0" bIns="0"/>
          <a:lstStyle/>
          <a:p>
            <a:pPr marL="432" indent="0">
              <a:buNone/>
            </a:pPr>
            <a:r>
              <a:rPr lang="en-US" sz="1800" dirty="0"/>
              <a:t>whether to join. At any level of integration above</a:t>
            </a:r>
            <a:endParaRPr lang="en-IN" sz="1800" dirty="0"/>
          </a:p>
        </p:txBody>
      </p:sp>
      <p:graphicFrame>
        <p:nvGraphicFramePr>
          <p:cNvPr id="24" name="Object 23" descr="Theta sub 1,"/>
          <p:cNvGraphicFramePr>
            <a:graphicFrameLocks noChangeAspect="1"/>
          </p:cNvGraphicFramePr>
          <p:nvPr>
            <p:extLst>
              <p:ext uri="{D42A27DB-BD31-4B8C-83A1-F6EECF244321}">
                <p14:modId xmlns:p14="http://schemas.microsoft.com/office/powerpoint/2010/main" val="2365481425"/>
              </p:ext>
            </p:extLst>
          </p:nvPr>
        </p:nvGraphicFramePr>
        <p:xfrm>
          <a:off x="5579138" y="5512590"/>
          <a:ext cx="304380" cy="329307"/>
        </p:xfrm>
        <a:graphic>
          <a:graphicData uri="http://schemas.openxmlformats.org/presentationml/2006/ole">
            <mc:AlternateContent xmlns:mc="http://schemas.openxmlformats.org/markup-compatibility/2006">
              <mc:Choice xmlns:v="urn:schemas-microsoft-com:vml" Requires="v">
                <p:oleObj spid="_x0000_s3077" name="Equation" r:id="rId7" imgW="304560" imgH="330120" progId="Equation.DSMT4">
                  <p:embed/>
                </p:oleObj>
              </mc:Choice>
              <mc:Fallback>
                <p:oleObj name="Equation" r:id="rId7" imgW="304560" imgH="330120" progId="Equation.DSMT4">
                  <p:embed/>
                  <p:pic>
                    <p:nvPicPr>
                      <p:cNvPr id="0" name=""/>
                      <p:cNvPicPr/>
                      <p:nvPr/>
                    </p:nvPicPr>
                    <p:blipFill>
                      <a:blip r:embed="rId8"/>
                      <a:stretch>
                        <a:fillRect/>
                      </a:stretch>
                    </p:blipFill>
                    <p:spPr>
                      <a:xfrm>
                        <a:off x="5579138" y="5512590"/>
                        <a:ext cx="304380" cy="329307"/>
                      </a:xfrm>
                      <a:prstGeom prst="rect">
                        <a:avLst/>
                      </a:prstGeom>
                    </p:spPr>
                  </p:pic>
                </p:oleObj>
              </mc:Fallback>
            </mc:AlternateContent>
          </a:graphicData>
        </a:graphic>
      </p:graphicFrame>
      <p:sp>
        <p:nvSpPr>
          <p:cNvPr id="13" name="Content Placeholder 12"/>
          <p:cNvSpPr>
            <a:spLocks noGrp="1"/>
          </p:cNvSpPr>
          <p:nvPr>
            <p:ph sz="quarter" idx="18"/>
          </p:nvPr>
        </p:nvSpPr>
        <p:spPr>
          <a:xfrm>
            <a:off x="5999153" y="5561946"/>
            <a:ext cx="2774731" cy="301825"/>
          </a:xfrm>
        </p:spPr>
        <p:txBody>
          <a:bodyPr lIns="0" tIns="0" bIns="0"/>
          <a:lstStyle/>
          <a:p>
            <a:pPr marL="432" indent="0">
              <a:buNone/>
            </a:pPr>
            <a:r>
              <a:rPr lang="en-US" sz="1800" dirty="0"/>
              <a:t>the decision to join yields</a:t>
            </a:r>
            <a:endParaRPr lang="en-IN" sz="1800" dirty="0"/>
          </a:p>
        </p:txBody>
      </p:sp>
      <p:sp>
        <p:nvSpPr>
          <p:cNvPr id="14" name="Content Placeholder 13"/>
          <p:cNvSpPr>
            <a:spLocks noGrp="1"/>
          </p:cNvSpPr>
          <p:nvPr>
            <p:ph sz="quarter" idx="19"/>
          </p:nvPr>
        </p:nvSpPr>
        <p:spPr>
          <a:xfrm>
            <a:off x="425655" y="5921010"/>
            <a:ext cx="5604100" cy="305619"/>
          </a:xfrm>
        </p:spPr>
        <p:txBody>
          <a:bodyPr tIns="0" bIns="0"/>
          <a:lstStyle/>
          <a:p>
            <a:pPr marL="432" indent="0">
              <a:buNone/>
            </a:pPr>
            <a:r>
              <a:rPr lang="en-US" sz="1800" dirty="0"/>
              <a:t>positive net economic benefits to the joining country.</a:t>
            </a:r>
            <a:endParaRPr lang="en-IN" sz="1800" dirty="0"/>
          </a:p>
        </p:txBody>
      </p:sp>
    </p:spTree>
    <p:extLst>
      <p:ext uri="{BB962C8B-B14F-4D97-AF65-F5344CB8AC3E}">
        <p14:creationId xmlns:p14="http://schemas.microsoft.com/office/powerpoint/2010/main" val="12956285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Theory of Optimum Currency Areas</a:t>
            </a:r>
            <a:r>
              <a:rPr lang="en-US" altLang="en-US" sz="2000" dirty="0"/>
              <a:t> </a:t>
            </a:r>
            <a:r>
              <a:rPr lang="en-US" altLang="en-US" sz="2000" b="0" dirty="0"/>
              <a:t>(12 of 12)</a:t>
            </a:r>
            <a:endParaRPr lang="en-IN" sz="2000" dirty="0"/>
          </a:p>
        </p:txBody>
      </p:sp>
      <p:sp>
        <p:nvSpPr>
          <p:cNvPr id="3" name="Content Placeholder 2"/>
          <p:cNvSpPr>
            <a:spLocks noGrp="1"/>
          </p:cNvSpPr>
          <p:nvPr>
            <p:ph sz="quarter" idx="13"/>
          </p:nvPr>
        </p:nvSpPr>
        <p:spPr/>
        <p:txBody>
          <a:bodyPr/>
          <a:lstStyle/>
          <a:p>
            <a:r>
              <a:rPr lang="en-US" altLang="en-US" dirty="0"/>
              <a:t>There could be an event that causes the frequency or magnitude of changes in aggregate demand to increase for a country.</a:t>
            </a:r>
          </a:p>
          <a:p>
            <a:r>
              <a:rPr lang="en-US" altLang="en-US" dirty="0"/>
              <a:t>If so, the economic stability loss would be greater for every measure of economic integration between a new member and members of a fixed exchange rate system.</a:t>
            </a:r>
          </a:p>
          <a:p>
            <a:r>
              <a:rPr lang="en-US" altLang="en-US" dirty="0"/>
              <a:t>How would this affect the critical point where the monetary efficiency gain equals economic stability loss?</a:t>
            </a:r>
            <a:endParaRPr lang="en-IN" dirty="0"/>
          </a:p>
        </p:txBody>
      </p:sp>
    </p:spTree>
    <p:extLst>
      <p:ext uri="{BB962C8B-B14F-4D97-AF65-F5344CB8AC3E}">
        <p14:creationId xmlns:p14="http://schemas.microsoft.com/office/powerpoint/2010/main" val="1939834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21.6 An Increase in Output Market Variability</a:t>
            </a:r>
            <a:endParaRPr lang="en-IN" sz="3200" dirty="0"/>
          </a:p>
        </p:txBody>
      </p:sp>
      <p:pic>
        <p:nvPicPr>
          <p:cNvPr id="17" name="Content Placeholder 16" descr="The graph plots the gains and losses for the joining country versus degree of economic integration between the joining country and the exchange rate area.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3014445" y="1373482"/>
            <a:ext cx="3115110" cy="3153215"/>
          </a:xfrm>
        </p:spPr>
      </p:pic>
      <p:sp>
        <p:nvSpPr>
          <p:cNvPr id="4" name="Content Placeholder 3"/>
          <p:cNvSpPr>
            <a:spLocks noGrp="1"/>
          </p:cNvSpPr>
          <p:nvPr>
            <p:ph sz="quarter" idx="14"/>
          </p:nvPr>
        </p:nvSpPr>
        <p:spPr>
          <a:xfrm>
            <a:off x="425668" y="4754530"/>
            <a:ext cx="8229600" cy="267413"/>
          </a:xfrm>
        </p:spPr>
        <p:txBody>
          <a:bodyPr tIns="0" bIns="0"/>
          <a:lstStyle/>
          <a:p>
            <a:pPr marL="432" indent="0">
              <a:buNone/>
            </a:pPr>
            <a:r>
              <a:rPr lang="en-US" sz="1600" dirty="0"/>
              <a:t>A rise in the size and frequency of country-specific disturbances to the joining country’s</a:t>
            </a:r>
            <a:endParaRPr lang="en-IN" sz="1600" dirty="0"/>
          </a:p>
        </p:txBody>
      </p:sp>
      <p:sp>
        <p:nvSpPr>
          <p:cNvPr id="5" name="Content Placeholder 4"/>
          <p:cNvSpPr>
            <a:spLocks noGrp="1"/>
          </p:cNvSpPr>
          <p:nvPr>
            <p:ph sz="quarter" idx="15"/>
          </p:nvPr>
        </p:nvSpPr>
        <p:spPr>
          <a:xfrm>
            <a:off x="429425" y="5129031"/>
            <a:ext cx="4866114" cy="267413"/>
          </a:xfrm>
        </p:spPr>
        <p:txBody>
          <a:bodyPr tIns="0" bIns="0"/>
          <a:lstStyle/>
          <a:p>
            <a:pPr marL="432" indent="0">
              <a:buNone/>
            </a:pPr>
            <a:r>
              <a:rPr lang="en-US" sz="1600" dirty="0"/>
              <a:t>product markets shifts the </a:t>
            </a:r>
            <a:r>
              <a:rPr lang="en-US" sz="1600" i="1" dirty="0"/>
              <a:t>L</a:t>
            </a:r>
            <a:r>
              <a:rPr lang="en-US" sz="100" i="1" dirty="0"/>
              <a:t> </a:t>
            </a:r>
            <a:r>
              <a:rPr lang="en-US" sz="1600" i="1" dirty="0" err="1"/>
              <a:t>L</a:t>
            </a:r>
            <a:r>
              <a:rPr lang="en-US" sz="1600" i="1" dirty="0"/>
              <a:t> </a:t>
            </a:r>
            <a:r>
              <a:rPr lang="en-US" sz="1600" dirty="0"/>
              <a:t>schedule upward from</a:t>
            </a:r>
            <a:endParaRPr lang="en-IN" sz="1600" dirty="0"/>
          </a:p>
        </p:txBody>
      </p:sp>
      <p:graphicFrame>
        <p:nvGraphicFramePr>
          <p:cNvPr id="18" name="Object 17" descr="L L super 1 to L L super 2"/>
          <p:cNvGraphicFramePr>
            <a:graphicFrameLocks noChangeAspect="1"/>
          </p:cNvGraphicFramePr>
          <p:nvPr>
            <p:extLst>
              <p:ext uri="{D42A27DB-BD31-4B8C-83A1-F6EECF244321}">
                <p14:modId xmlns:p14="http://schemas.microsoft.com/office/powerpoint/2010/main" val="3928169262"/>
              </p:ext>
            </p:extLst>
          </p:nvPr>
        </p:nvGraphicFramePr>
        <p:xfrm>
          <a:off x="5396602" y="5129724"/>
          <a:ext cx="734711" cy="267168"/>
        </p:xfrm>
        <a:graphic>
          <a:graphicData uri="http://schemas.openxmlformats.org/presentationml/2006/ole">
            <mc:AlternateContent xmlns:mc="http://schemas.openxmlformats.org/markup-compatibility/2006">
              <mc:Choice xmlns:v="urn:schemas-microsoft-com:vml" Requires="v">
                <p:oleObj spid="_x0000_s4100" name="Equation" r:id="rId5" imgW="977760" imgH="355320" progId="Equation.DSMT4">
                  <p:embed/>
                </p:oleObj>
              </mc:Choice>
              <mc:Fallback>
                <p:oleObj name="Equation" r:id="rId5" imgW="977760" imgH="355320" progId="Equation.DSMT4">
                  <p:embed/>
                  <p:pic>
                    <p:nvPicPr>
                      <p:cNvPr id="0" name=""/>
                      <p:cNvPicPr/>
                      <p:nvPr/>
                    </p:nvPicPr>
                    <p:blipFill>
                      <a:blip r:embed="rId6"/>
                      <a:stretch>
                        <a:fillRect/>
                      </a:stretch>
                    </p:blipFill>
                    <p:spPr>
                      <a:xfrm>
                        <a:off x="5396602" y="5129724"/>
                        <a:ext cx="734711" cy="267168"/>
                      </a:xfrm>
                      <a:prstGeom prst="rect">
                        <a:avLst/>
                      </a:prstGeom>
                    </p:spPr>
                  </p:pic>
                </p:oleObj>
              </mc:Fallback>
            </mc:AlternateContent>
          </a:graphicData>
        </a:graphic>
      </p:graphicFrame>
      <p:sp>
        <p:nvSpPr>
          <p:cNvPr id="6" name="Content Placeholder 5"/>
          <p:cNvSpPr>
            <a:spLocks noGrp="1"/>
          </p:cNvSpPr>
          <p:nvPr>
            <p:ph sz="quarter" idx="16"/>
          </p:nvPr>
        </p:nvSpPr>
        <p:spPr>
          <a:xfrm>
            <a:off x="6245677" y="5100399"/>
            <a:ext cx="2711643" cy="289483"/>
          </a:xfrm>
        </p:spPr>
        <p:txBody>
          <a:bodyPr tIns="0" bIns="0"/>
          <a:lstStyle/>
          <a:p>
            <a:pPr marL="432" indent="0">
              <a:buNone/>
            </a:pPr>
            <a:r>
              <a:rPr lang="en-US" sz="1600" dirty="0"/>
              <a:t>because for a given level of</a:t>
            </a:r>
            <a:endParaRPr lang="en-IN" sz="1600" dirty="0"/>
          </a:p>
        </p:txBody>
      </p:sp>
      <p:sp>
        <p:nvSpPr>
          <p:cNvPr id="7" name="Content Placeholder 6"/>
          <p:cNvSpPr>
            <a:spLocks noGrp="1"/>
          </p:cNvSpPr>
          <p:nvPr>
            <p:ph sz="quarter" idx="17"/>
          </p:nvPr>
        </p:nvSpPr>
        <p:spPr>
          <a:xfrm>
            <a:off x="399144" y="5466861"/>
            <a:ext cx="8198068" cy="527538"/>
          </a:xfrm>
        </p:spPr>
        <p:txBody>
          <a:bodyPr tIns="0"/>
          <a:lstStyle/>
          <a:p>
            <a:pPr marL="432" indent="0">
              <a:buNone/>
            </a:pPr>
            <a:r>
              <a:rPr lang="en-US" sz="1600" dirty="0"/>
              <a:t>economic integration with the fixed exchange rate area, the country’s economic stability loss from pegging its exchange rate rises. The shift in </a:t>
            </a:r>
            <a:r>
              <a:rPr lang="en-US" sz="1600" i="1" dirty="0"/>
              <a:t>L</a:t>
            </a:r>
            <a:r>
              <a:rPr lang="en-US" sz="100" i="1" dirty="0"/>
              <a:t> </a:t>
            </a:r>
            <a:r>
              <a:rPr lang="en-US" sz="1600" i="1" dirty="0" err="1"/>
              <a:t>L</a:t>
            </a:r>
            <a:r>
              <a:rPr lang="en-US" sz="1600" i="1" dirty="0"/>
              <a:t> </a:t>
            </a:r>
            <a:r>
              <a:rPr lang="en-US" sz="1600" dirty="0"/>
              <a:t>raises the critical level of</a:t>
            </a:r>
            <a:endParaRPr lang="en-IN" sz="1600" dirty="0"/>
          </a:p>
        </p:txBody>
      </p:sp>
      <p:sp>
        <p:nvSpPr>
          <p:cNvPr id="8" name="Content Placeholder 7"/>
          <p:cNvSpPr>
            <a:spLocks noGrp="1"/>
          </p:cNvSpPr>
          <p:nvPr>
            <p:ph sz="quarter" idx="18"/>
          </p:nvPr>
        </p:nvSpPr>
        <p:spPr>
          <a:xfrm>
            <a:off x="384631" y="6056067"/>
            <a:ext cx="6046470" cy="301644"/>
          </a:xfrm>
        </p:spPr>
        <p:txBody>
          <a:bodyPr tIns="0"/>
          <a:lstStyle/>
          <a:p>
            <a:pPr marL="432" indent="0">
              <a:buNone/>
            </a:pPr>
            <a:r>
              <a:rPr lang="en-US" sz="1600" dirty="0"/>
              <a:t>economic integration at which the exchange rate area is joined to</a:t>
            </a:r>
            <a:endParaRPr lang="en-IN" sz="1600" dirty="0"/>
          </a:p>
        </p:txBody>
      </p:sp>
      <p:graphicFrame>
        <p:nvGraphicFramePr>
          <p:cNvPr id="20" name="Object 19" descr="Theta sub 2."/>
          <p:cNvGraphicFramePr>
            <a:graphicFrameLocks noChangeAspect="1"/>
          </p:cNvGraphicFramePr>
          <p:nvPr>
            <p:extLst>
              <p:ext uri="{D42A27DB-BD31-4B8C-83A1-F6EECF244321}">
                <p14:modId xmlns:p14="http://schemas.microsoft.com/office/powerpoint/2010/main" val="408193203"/>
              </p:ext>
            </p:extLst>
          </p:nvPr>
        </p:nvGraphicFramePr>
        <p:xfrm>
          <a:off x="6551262" y="6058585"/>
          <a:ext cx="272893" cy="272893"/>
        </p:xfrm>
        <a:graphic>
          <a:graphicData uri="http://schemas.openxmlformats.org/presentationml/2006/ole">
            <mc:AlternateContent xmlns:mc="http://schemas.openxmlformats.org/markup-compatibility/2006">
              <mc:Choice xmlns:v="urn:schemas-microsoft-com:vml" Requires="v">
                <p:oleObj spid="_x0000_s4101" name="Equation" r:id="rId7" imgW="330120" imgH="330120" progId="Equation.DSMT4">
                  <p:embed/>
                </p:oleObj>
              </mc:Choice>
              <mc:Fallback>
                <p:oleObj name="Equation" r:id="rId7" imgW="330120" imgH="330120" progId="Equation.DSMT4">
                  <p:embed/>
                  <p:pic>
                    <p:nvPicPr>
                      <p:cNvPr id="0" name=""/>
                      <p:cNvPicPr/>
                      <p:nvPr/>
                    </p:nvPicPr>
                    <p:blipFill>
                      <a:blip r:embed="rId8"/>
                      <a:stretch>
                        <a:fillRect/>
                      </a:stretch>
                    </p:blipFill>
                    <p:spPr>
                      <a:xfrm>
                        <a:off x="6551262" y="6058585"/>
                        <a:ext cx="272893" cy="272893"/>
                      </a:xfrm>
                      <a:prstGeom prst="rect">
                        <a:avLst/>
                      </a:prstGeom>
                    </p:spPr>
                  </p:pic>
                </p:oleObj>
              </mc:Fallback>
            </mc:AlternateContent>
          </a:graphicData>
        </a:graphic>
      </p:graphicFrame>
    </p:spTree>
    <p:extLst>
      <p:ext uri="{BB962C8B-B14F-4D97-AF65-F5344CB8AC3E}">
        <p14:creationId xmlns:p14="http://schemas.microsoft.com/office/powerpoint/2010/main" val="2872652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148286" cy="1219291"/>
          </a:xfrm>
        </p:spPr>
        <p:txBody>
          <a:bodyPr/>
          <a:lstStyle/>
          <a:p>
            <a:r>
              <a:rPr lang="en-US" altLang="en-US" sz="3200" dirty="0"/>
              <a:t>Is the E</a:t>
            </a:r>
            <a:r>
              <a:rPr lang="en-US" altLang="en-US" sz="100" dirty="0"/>
              <a:t> </a:t>
            </a:r>
            <a:r>
              <a:rPr lang="en-US" altLang="en-US" sz="3200" dirty="0"/>
              <a:t>U an Optimum Currency Area? </a:t>
            </a:r>
            <a:r>
              <a:rPr lang="en-US" altLang="en-US" sz="2000" b="0" dirty="0"/>
              <a:t>(1 of 4)</a:t>
            </a:r>
            <a:endParaRPr lang="en-IN" sz="2000" dirty="0"/>
          </a:p>
        </p:txBody>
      </p:sp>
      <p:sp>
        <p:nvSpPr>
          <p:cNvPr id="3" name="Content Placeholder 2"/>
          <p:cNvSpPr>
            <a:spLocks noGrp="1"/>
          </p:cNvSpPr>
          <p:nvPr>
            <p:ph sz="quarter" idx="13"/>
          </p:nvPr>
        </p:nvSpPr>
        <p:spPr/>
        <p:txBody>
          <a:bodyPr/>
          <a:lstStyle/>
          <a:p>
            <a:r>
              <a:rPr lang="en-US" altLang="en-US" dirty="0"/>
              <a:t>If the E</a:t>
            </a:r>
            <a:r>
              <a:rPr lang="en-US" altLang="en-US" sz="100" dirty="0"/>
              <a:t> </a:t>
            </a:r>
            <a:r>
              <a:rPr lang="en-US" altLang="en-US" dirty="0"/>
              <a:t>U/E</a:t>
            </a:r>
            <a:r>
              <a:rPr lang="en-US" altLang="en-US" sz="100" dirty="0"/>
              <a:t> </a:t>
            </a:r>
            <a:r>
              <a:rPr lang="en-US" altLang="en-US" dirty="0"/>
              <a:t>M</a:t>
            </a:r>
            <a:r>
              <a:rPr lang="en-US" altLang="en-US" sz="100" dirty="0"/>
              <a:t> </a:t>
            </a:r>
            <a:r>
              <a:rPr lang="en-US" altLang="en-US" dirty="0"/>
              <a:t>S/economic and monetary union can be expected to benefit members, we expect that its members have a high degree of economic integration:</a:t>
            </a:r>
          </a:p>
          <a:p>
            <a:pPr lvl="1"/>
            <a:r>
              <a:rPr lang="en-US" altLang="en-US" dirty="0"/>
              <a:t>large trade volumes as a fraction of G</a:t>
            </a:r>
            <a:r>
              <a:rPr lang="en-US" altLang="en-US" sz="100" dirty="0"/>
              <a:t> </a:t>
            </a:r>
            <a:r>
              <a:rPr lang="en-US" altLang="en-US" dirty="0"/>
              <a:t>D</a:t>
            </a:r>
            <a:r>
              <a:rPr lang="en-US" altLang="en-US" sz="100" dirty="0"/>
              <a:t> </a:t>
            </a:r>
            <a:r>
              <a:rPr lang="en-US" altLang="en-US" dirty="0"/>
              <a:t>P</a:t>
            </a:r>
          </a:p>
          <a:p>
            <a:pPr lvl="1"/>
            <a:r>
              <a:rPr lang="en-US" altLang="en-US" dirty="0"/>
              <a:t>a large amount of foreign financial investment </a:t>
            </a:r>
            <a:br>
              <a:rPr lang="en-US" altLang="en-US" dirty="0"/>
            </a:br>
            <a:r>
              <a:rPr lang="en-US" altLang="en-US" dirty="0"/>
              <a:t>and foreign direct investment relative to total investment</a:t>
            </a:r>
          </a:p>
          <a:p>
            <a:pPr lvl="1"/>
            <a:r>
              <a:rPr lang="en-US" altLang="en-US" dirty="0"/>
              <a:t>a large amount of migration across borders as a fraction of total labor force</a:t>
            </a:r>
            <a:endParaRPr lang="en-IN" dirty="0"/>
          </a:p>
        </p:txBody>
      </p:sp>
    </p:spTree>
    <p:extLst>
      <p:ext uri="{BB962C8B-B14F-4D97-AF65-F5344CB8AC3E}">
        <p14:creationId xmlns:p14="http://schemas.microsoft.com/office/powerpoint/2010/main" val="26866196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21.7 Unemployment Rates in Selected E</a:t>
            </a:r>
            <a:r>
              <a:rPr lang="en-US" altLang="en-US" sz="100" dirty="0"/>
              <a:t> </a:t>
            </a:r>
            <a:r>
              <a:rPr lang="en-US" altLang="en-US" sz="3200" dirty="0"/>
              <a:t>U Countries</a:t>
            </a:r>
            <a:endParaRPr lang="en-IN" sz="3200" dirty="0"/>
          </a:p>
        </p:txBody>
      </p:sp>
      <p:pic>
        <p:nvPicPr>
          <p:cNvPr id="5" name="Content Placeholder 4" descr="The graph plots unemployment rate in percent versus year, 19 92 to 20 16, with plots for 6 countries: Spain, Ireland, Greece, Italy, Germany, and Portugal.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402717" y="1445989"/>
            <a:ext cx="4338565" cy="3346443"/>
          </a:xfrm>
        </p:spPr>
      </p:pic>
      <p:sp>
        <p:nvSpPr>
          <p:cNvPr id="4" name="Content Placeholder 3"/>
          <p:cNvSpPr>
            <a:spLocks noGrp="1"/>
          </p:cNvSpPr>
          <p:nvPr>
            <p:ph sz="quarter" idx="14"/>
          </p:nvPr>
        </p:nvSpPr>
        <p:spPr>
          <a:xfrm>
            <a:off x="457200" y="4983909"/>
            <a:ext cx="8229600" cy="1315291"/>
          </a:xfrm>
        </p:spPr>
        <p:txBody>
          <a:bodyPr/>
          <a:lstStyle/>
          <a:p>
            <a:pPr marL="0" indent="0">
              <a:buNone/>
            </a:pPr>
            <a:r>
              <a:rPr lang="en-US" sz="1800" dirty="0"/>
              <a:t>Widely divergent unemployment rates moved closer together after the euro’s launch in 1999 but since the late 2000s have moved sharply apart again.</a:t>
            </a:r>
          </a:p>
          <a:p>
            <a:pPr marL="0" indent="0">
              <a:spcBef>
                <a:spcPts val="600"/>
              </a:spcBef>
              <a:buNone/>
            </a:pPr>
            <a:r>
              <a:rPr lang="en-US" sz="1800" b="1" dirty="0"/>
              <a:t>Source: </a:t>
            </a:r>
            <a:r>
              <a:rPr lang="en-US" sz="1800" dirty="0"/>
              <a:t>International Monetary Fund, </a:t>
            </a:r>
            <a:r>
              <a:rPr lang="en-US" sz="1800" b="1" dirty="0"/>
              <a:t>World Economic Outlook</a:t>
            </a:r>
            <a:r>
              <a:rPr lang="en-US" sz="1800" i="1" dirty="0"/>
              <a:t> </a:t>
            </a:r>
            <a:r>
              <a:rPr lang="en-US" sz="1800" dirty="0"/>
              <a:t>database, April 2020. Numbers for 2020 are I</a:t>
            </a:r>
            <a:r>
              <a:rPr lang="en-US" sz="100" dirty="0"/>
              <a:t> </a:t>
            </a:r>
            <a:r>
              <a:rPr lang="en-US" sz="1800" dirty="0"/>
              <a:t>M</a:t>
            </a:r>
            <a:r>
              <a:rPr lang="en-US" sz="100" dirty="0"/>
              <a:t> </a:t>
            </a:r>
            <a:r>
              <a:rPr lang="en-US" sz="1800" dirty="0"/>
              <a:t>F forecasts.</a:t>
            </a:r>
            <a:endParaRPr lang="en-IN" sz="1800" dirty="0"/>
          </a:p>
        </p:txBody>
      </p:sp>
    </p:spTree>
    <p:extLst>
      <p:ext uri="{BB962C8B-B14F-4D97-AF65-F5344CB8AC3E}">
        <p14:creationId xmlns:p14="http://schemas.microsoft.com/office/powerpoint/2010/main" val="3371769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307943" cy="1097279"/>
          </a:xfrm>
        </p:spPr>
        <p:txBody>
          <a:bodyPr/>
          <a:lstStyle/>
          <a:p>
            <a:r>
              <a:rPr lang="en-US" altLang="en-US" sz="3200" dirty="0"/>
              <a:t>Is the E</a:t>
            </a:r>
            <a:r>
              <a:rPr lang="en-US" altLang="en-US" sz="100" dirty="0"/>
              <a:t> </a:t>
            </a:r>
            <a:r>
              <a:rPr lang="en-US" altLang="en-US" sz="3200" dirty="0"/>
              <a:t>U an Optimum Currency Area? </a:t>
            </a:r>
            <a:r>
              <a:rPr lang="en-US" altLang="en-US" sz="2000" b="0" dirty="0"/>
              <a:t>(2 of 4)</a:t>
            </a:r>
            <a:endParaRPr lang="en-IN" sz="2000" dirty="0"/>
          </a:p>
        </p:txBody>
      </p:sp>
      <p:sp>
        <p:nvSpPr>
          <p:cNvPr id="3" name="Content Placeholder 2"/>
          <p:cNvSpPr>
            <a:spLocks noGrp="1"/>
          </p:cNvSpPr>
          <p:nvPr>
            <p:ph sz="quarter" idx="13"/>
          </p:nvPr>
        </p:nvSpPr>
        <p:spPr>
          <a:xfrm>
            <a:off x="457200" y="1556327"/>
            <a:ext cx="8048171" cy="4586896"/>
          </a:xfrm>
        </p:spPr>
        <p:txBody>
          <a:bodyPr/>
          <a:lstStyle/>
          <a:p>
            <a:r>
              <a:rPr lang="en-US" altLang="en-US" dirty="0"/>
              <a:t>Deviations from the law of one price also occur in many E</a:t>
            </a:r>
            <a:r>
              <a:rPr lang="en-US" altLang="en-US" sz="100" dirty="0"/>
              <a:t> </a:t>
            </a:r>
            <a:r>
              <a:rPr lang="en-US" altLang="en-US" dirty="0"/>
              <a:t>U markets.</a:t>
            </a:r>
          </a:p>
          <a:p>
            <a:pPr lvl="1"/>
            <a:r>
              <a:rPr lang="en-US" altLang="en-US" dirty="0"/>
              <a:t>If E</a:t>
            </a:r>
            <a:r>
              <a:rPr lang="en-US" altLang="en-US" sz="100" dirty="0"/>
              <a:t> </a:t>
            </a:r>
            <a:r>
              <a:rPr lang="en-US" altLang="en-US" dirty="0"/>
              <a:t>U markets were greatly integrated, then the (currency-adjusted) prices of goods and services should be nearly the same across markets.</a:t>
            </a:r>
          </a:p>
          <a:p>
            <a:pPr lvl="1"/>
            <a:r>
              <a:rPr lang="en-US" altLang="en-US" dirty="0"/>
              <a:t>The price of the same B</a:t>
            </a:r>
            <a:r>
              <a:rPr lang="en-US" altLang="en-US" sz="100" dirty="0"/>
              <a:t> </a:t>
            </a:r>
            <a:r>
              <a:rPr lang="en-US" altLang="en-US" dirty="0"/>
              <a:t>M</a:t>
            </a:r>
            <a:r>
              <a:rPr lang="en-US" altLang="en-US" sz="100" dirty="0"/>
              <a:t> </a:t>
            </a:r>
            <a:r>
              <a:rPr lang="en-US" altLang="en-US" dirty="0"/>
              <a:t>W car varies 29.5% between British and Dutch markets.</a:t>
            </a:r>
            <a:endParaRPr lang="en-IN" dirty="0"/>
          </a:p>
        </p:txBody>
      </p:sp>
    </p:spTree>
    <p:extLst>
      <p:ext uri="{BB962C8B-B14F-4D97-AF65-F5344CB8AC3E}">
        <p14:creationId xmlns:p14="http://schemas.microsoft.com/office/powerpoint/2010/main" val="5923117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235371" cy="1097279"/>
          </a:xfrm>
        </p:spPr>
        <p:txBody>
          <a:bodyPr/>
          <a:lstStyle/>
          <a:p>
            <a:r>
              <a:rPr lang="en-US" altLang="en-US" sz="3200" dirty="0"/>
              <a:t>Is the E</a:t>
            </a:r>
            <a:r>
              <a:rPr lang="en-US" altLang="en-US" sz="100" dirty="0"/>
              <a:t> </a:t>
            </a:r>
            <a:r>
              <a:rPr lang="en-US" altLang="en-US" sz="3200" dirty="0"/>
              <a:t>U an Optimum Currency Area? </a:t>
            </a:r>
            <a:r>
              <a:rPr lang="en-US" altLang="en-US" sz="2000" b="0" dirty="0"/>
              <a:t>(3 of 4)</a:t>
            </a:r>
            <a:endParaRPr lang="en-IN" dirty="0"/>
          </a:p>
        </p:txBody>
      </p:sp>
      <p:sp>
        <p:nvSpPr>
          <p:cNvPr id="3" name="Content Placeholder 2"/>
          <p:cNvSpPr>
            <a:spLocks noGrp="1"/>
          </p:cNvSpPr>
          <p:nvPr>
            <p:ph sz="quarter" idx="13"/>
          </p:nvPr>
        </p:nvSpPr>
        <p:spPr/>
        <p:txBody>
          <a:bodyPr/>
          <a:lstStyle/>
          <a:p>
            <a:r>
              <a:rPr lang="en-US" altLang="en-US" dirty="0"/>
              <a:t>Regional migration is not extensive in the E</a:t>
            </a:r>
            <a:r>
              <a:rPr lang="en-US" altLang="en-US" sz="100" dirty="0"/>
              <a:t> </a:t>
            </a:r>
            <a:r>
              <a:rPr lang="en-US" altLang="en-US" dirty="0"/>
              <a:t>U.</a:t>
            </a:r>
          </a:p>
          <a:p>
            <a:r>
              <a:rPr lang="en-US" altLang="en-US" dirty="0"/>
              <a:t>Europe has many languages and cultures, which hinder migration and labor mobility.</a:t>
            </a:r>
          </a:p>
          <a:p>
            <a:r>
              <a:rPr lang="en-US" altLang="en-US" dirty="0"/>
              <a:t>Unions and regulations also impede labor movements between industries and countries.</a:t>
            </a:r>
          </a:p>
          <a:p>
            <a:r>
              <a:rPr lang="en-US" altLang="en-US" dirty="0"/>
              <a:t>Differences of U.S. unemployment rates across regions are smaller and less persistent than differences of national unemployment rates in the E</a:t>
            </a:r>
            <a:r>
              <a:rPr lang="en-US" altLang="en-US" sz="100" dirty="0"/>
              <a:t> </a:t>
            </a:r>
            <a:r>
              <a:rPr lang="en-US" altLang="en-US" dirty="0"/>
              <a:t>U, indicating a lack of E</a:t>
            </a:r>
            <a:r>
              <a:rPr lang="en-US" altLang="en-US" sz="100" dirty="0"/>
              <a:t> </a:t>
            </a:r>
            <a:r>
              <a:rPr lang="en-US" altLang="en-US" dirty="0"/>
              <a:t>U labor mobility.</a:t>
            </a:r>
            <a:endParaRPr lang="en-IN" dirty="0"/>
          </a:p>
        </p:txBody>
      </p:sp>
    </p:spTree>
    <p:extLst>
      <p:ext uri="{BB962C8B-B14F-4D97-AF65-F5344CB8AC3E}">
        <p14:creationId xmlns:p14="http://schemas.microsoft.com/office/powerpoint/2010/main" val="10619346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600" dirty="0"/>
              <a:t>Table 21.2 People Changing Region of Residence in the 1990s (Percent of Total Population)</a:t>
            </a:r>
            <a:endParaRPr lang="en-IN" sz="2600" dirty="0"/>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2309834690"/>
              </p:ext>
            </p:extLst>
          </p:nvPr>
        </p:nvGraphicFramePr>
        <p:xfrm>
          <a:off x="457200" y="1765258"/>
          <a:ext cx="8229600" cy="741680"/>
        </p:xfrm>
        <a:graphic>
          <a:graphicData uri="http://schemas.openxmlformats.org/drawingml/2006/table">
            <a:tbl>
              <a:tblPr firstRow="1" bandRow="1">
                <a:tableStyleId>{40F9630F-82C1-40B7-BC3A-925EFCFF5E92}</a:tableStyleId>
              </a:tblPr>
              <a:tblGrid>
                <a:gridCol w="2057400">
                  <a:extLst>
                    <a:ext uri="{9D8B030D-6E8A-4147-A177-3AD203B41FA5}">
                      <a16:colId xmlns:a16="http://schemas.microsoft.com/office/drawing/2014/main" val="1457400099"/>
                    </a:ext>
                  </a:extLst>
                </a:gridCol>
                <a:gridCol w="2057400">
                  <a:extLst>
                    <a:ext uri="{9D8B030D-6E8A-4147-A177-3AD203B41FA5}">
                      <a16:colId xmlns:a16="http://schemas.microsoft.com/office/drawing/2014/main" val="1562367866"/>
                    </a:ext>
                  </a:extLst>
                </a:gridCol>
                <a:gridCol w="2057400">
                  <a:extLst>
                    <a:ext uri="{9D8B030D-6E8A-4147-A177-3AD203B41FA5}">
                      <a16:colId xmlns:a16="http://schemas.microsoft.com/office/drawing/2014/main" val="2251690179"/>
                    </a:ext>
                  </a:extLst>
                </a:gridCol>
                <a:gridCol w="2057400">
                  <a:extLst>
                    <a:ext uri="{9D8B030D-6E8A-4147-A177-3AD203B41FA5}">
                      <a16:colId xmlns:a16="http://schemas.microsoft.com/office/drawing/2014/main" val="1424718712"/>
                    </a:ext>
                  </a:extLst>
                </a:gridCol>
              </a:tblGrid>
              <a:tr h="370840">
                <a:tc>
                  <a:txBody>
                    <a:bodyPr/>
                    <a:lstStyle/>
                    <a:p>
                      <a:pPr algn="ctr"/>
                      <a:r>
                        <a:rPr lang="en-US" sz="1800" dirty="0"/>
                        <a:t>Britain</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Germany</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Italy</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United States</a:t>
                      </a:r>
                    </a:p>
                  </a:txBody>
                  <a:tcPr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9434403"/>
                  </a:ext>
                </a:extLst>
              </a:tr>
              <a:tr h="370840">
                <a:tc>
                  <a:txBody>
                    <a:bodyPr/>
                    <a:lstStyle/>
                    <a:p>
                      <a:pPr algn="ctr"/>
                      <a:r>
                        <a:rPr lang="en-US" sz="1800" dirty="0"/>
                        <a:t>1.7</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1.1</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0.5</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3.1</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646687"/>
                  </a:ext>
                </a:extLst>
              </a:tr>
            </a:tbl>
          </a:graphicData>
        </a:graphic>
      </p:graphicFrame>
      <p:sp>
        <p:nvSpPr>
          <p:cNvPr id="4" name="Content Placeholder 3"/>
          <p:cNvSpPr>
            <a:spLocks noGrp="1"/>
          </p:cNvSpPr>
          <p:nvPr>
            <p:ph sz="quarter" idx="14"/>
          </p:nvPr>
        </p:nvSpPr>
        <p:spPr>
          <a:xfrm>
            <a:off x="457200" y="2937398"/>
            <a:ext cx="8229600" cy="1361025"/>
          </a:xfrm>
        </p:spPr>
        <p:txBody>
          <a:bodyPr/>
          <a:lstStyle/>
          <a:p>
            <a:pPr marL="432" indent="0">
              <a:buNone/>
            </a:pPr>
            <a:r>
              <a:rPr lang="en-US" sz="1600" b="1" dirty="0"/>
              <a:t>Sources: </a:t>
            </a:r>
            <a:r>
              <a:rPr lang="en-US" sz="1600" dirty="0"/>
              <a:t>Peter Huber, “Inter-regional Mobility in Europe: A Note on the Cross-Country Evidence,” </a:t>
            </a:r>
            <a:r>
              <a:rPr lang="en-US" sz="1600" b="1" dirty="0"/>
              <a:t>Applied Economics Letters</a:t>
            </a:r>
            <a:r>
              <a:rPr lang="en-US" sz="1600" i="1" dirty="0"/>
              <a:t> </a:t>
            </a:r>
            <a:r>
              <a:rPr lang="en-US" sz="1600" dirty="0"/>
              <a:t>11 (August 2004), pp. 619–624; and “Geographical Mobility, 2003–2004,” U.S. Department of Commerce, March 2004. Table data are for Britain in 1996, Germany in 1990, Italy in 1999, and the United States in 1999.</a:t>
            </a:r>
            <a:endParaRPr lang="en-IN" sz="1600" dirty="0"/>
          </a:p>
        </p:txBody>
      </p:sp>
    </p:spTree>
    <p:extLst>
      <p:ext uri="{BB962C8B-B14F-4D97-AF65-F5344CB8AC3E}">
        <p14:creationId xmlns:p14="http://schemas.microsoft.com/office/powerpoint/2010/main" val="35960226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Table 21.3 Assets of Some Individual Banks as a Ratio to National Output, End-2011</a:t>
            </a:r>
            <a:endParaRPr lang="en-IN" sz="3000" dirty="0"/>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374848846"/>
              </p:ext>
            </p:extLst>
          </p:nvPr>
        </p:nvGraphicFramePr>
        <p:xfrm>
          <a:off x="457200" y="1622582"/>
          <a:ext cx="8229600" cy="3456501"/>
        </p:xfrm>
        <a:graphic>
          <a:graphicData uri="http://schemas.openxmlformats.org/drawingml/2006/table">
            <a:tbl>
              <a:tblPr firstRow="1" bandRow="1">
                <a:tableStyleId>{40F9630F-82C1-40B7-BC3A-925EFCFF5E92}</a:tableStyleId>
              </a:tblPr>
              <a:tblGrid>
                <a:gridCol w="2743200">
                  <a:extLst>
                    <a:ext uri="{9D8B030D-6E8A-4147-A177-3AD203B41FA5}">
                      <a16:colId xmlns:a16="http://schemas.microsoft.com/office/drawing/2014/main" val="3004322254"/>
                    </a:ext>
                  </a:extLst>
                </a:gridCol>
                <a:gridCol w="2743200">
                  <a:extLst>
                    <a:ext uri="{9D8B030D-6E8A-4147-A177-3AD203B41FA5}">
                      <a16:colId xmlns:a16="http://schemas.microsoft.com/office/drawing/2014/main" val="3048020313"/>
                    </a:ext>
                  </a:extLst>
                </a:gridCol>
                <a:gridCol w="2743200">
                  <a:extLst>
                    <a:ext uri="{9D8B030D-6E8A-4147-A177-3AD203B41FA5}">
                      <a16:colId xmlns:a16="http://schemas.microsoft.com/office/drawing/2014/main" val="2054483594"/>
                    </a:ext>
                  </a:extLst>
                </a:gridCol>
              </a:tblGrid>
              <a:tr h="321869">
                <a:tc>
                  <a:txBody>
                    <a:bodyPr/>
                    <a:lstStyle/>
                    <a:p>
                      <a:pPr algn="ctr"/>
                      <a:r>
                        <a:rPr lang="en-US" sz="1600" dirty="0"/>
                        <a:t>Bank</a:t>
                      </a:r>
                    </a:p>
                  </a:txBody>
                  <a:tcPr marL="36000" marR="36000" marT="36000" marB="3600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t>Home country</a:t>
                      </a:r>
                    </a:p>
                  </a:txBody>
                  <a:tcPr marL="36000" marR="36000" marT="36000" marB="3600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t>Bank assets</a:t>
                      </a:r>
                    </a:p>
                  </a:txBody>
                  <a:tcPr marL="36000" marR="36000" marT="36000" marB="3600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6872473"/>
                  </a:ext>
                </a:extLst>
              </a:tr>
              <a:tr h="321869">
                <a:tc>
                  <a:txBody>
                    <a:bodyPr/>
                    <a:lstStyle/>
                    <a:p>
                      <a:r>
                        <a:rPr lang="en-US" sz="1600" dirty="0"/>
                        <a:t>Erste Group Bank</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Austria</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0.68</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759004"/>
                  </a:ext>
                </a:extLst>
              </a:tr>
              <a:tr h="321869">
                <a:tc>
                  <a:txBody>
                    <a:bodyPr/>
                    <a:lstStyle/>
                    <a:p>
                      <a:r>
                        <a:rPr lang="en-US" sz="1600" dirty="0"/>
                        <a:t>Dexia</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Belgium</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1.10</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5306140"/>
                  </a:ext>
                </a:extLst>
              </a:tr>
              <a:tr h="321869">
                <a:tc>
                  <a:txBody>
                    <a:bodyPr/>
                    <a:lstStyle/>
                    <a:p>
                      <a:r>
                        <a:rPr lang="en-US" sz="1600" dirty="0"/>
                        <a:t>BNP Paribus</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France</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0.97</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9209247"/>
                  </a:ext>
                </a:extLst>
              </a:tr>
              <a:tr h="321869">
                <a:tc>
                  <a:txBody>
                    <a:bodyPr/>
                    <a:lstStyle/>
                    <a:p>
                      <a:r>
                        <a:rPr lang="en-US" sz="1600" dirty="0"/>
                        <a:t>Deutsche</a:t>
                      </a:r>
                      <a:r>
                        <a:rPr lang="en-US" sz="1600" baseline="0" dirty="0"/>
                        <a:t> Bank</a:t>
                      </a:r>
                      <a:endParaRPr lang="en-US" sz="1600" dirty="0"/>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Germany</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0.82</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0259021"/>
                  </a:ext>
                </a:extLst>
              </a:tr>
              <a:tr h="321869">
                <a:tc>
                  <a:txBody>
                    <a:bodyPr/>
                    <a:lstStyle/>
                    <a:p>
                      <a:r>
                        <a:rPr lang="en-US" sz="1600" dirty="0"/>
                        <a:t>Bank of Ireland</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Ireland</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0.95</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657568"/>
                  </a:ext>
                </a:extLst>
              </a:tr>
              <a:tr h="321869">
                <a:tc>
                  <a:txBody>
                    <a:bodyPr/>
                    <a:lstStyle/>
                    <a:p>
                      <a:r>
                        <a:rPr lang="en-US" sz="1600" dirty="0"/>
                        <a:t>UniCredit</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Italy</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0.59</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510267"/>
                  </a:ext>
                </a:extLst>
              </a:tr>
              <a:tr h="321869">
                <a:tc>
                  <a:txBody>
                    <a:bodyPr/>
                    <a:lstStyle/>
                    <a:p>
                      <a:r>
                        <a:rPr lang="en-US" sz="1600" dirty="0"/>
                        <a:t>ING Group</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Netherlands</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2.12</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5245328"/>
                  </a:ext>
                </a:extLst>
              </a:tr>
              <a:tr h="526131">
                <a:tc>
                  <a:txBody>
                    <a:bodyPr/>
                    <a:lstStyle/>
                    <a:p>
                      <a:r>
                        <a:rPr lang="en-US" sz="1600" dirty="0"/>
                        <a:t>Banco Commercial Portugues</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Portugal</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0.57</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2702161"/>
                  </a:ext>
                </a:extLst>
              </a:tr>
              <a:tr h="321869">
                <a:tc>
                  <a:txBody>
                    <a:bodyPr/>
                    <a:lstStyle/>
                    <a:p>
                      <a:r>
                        <a:rPr lang="en-US" sz="1600" dirty="0"/>
                        <a:t>Banco Santander</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Spain</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1.19</a:t>
                      </a:r>
                    </a:p>
                  </a:txBody>
                  <a:tcPr marL="36000" marR="36000" marT="36000" marB="3600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3052831"/>
                  </a:ext>
                </a:extLst>
              </a:tr>
            </a:tbl>
          </a:graphicData>
        </a:graphic>
      </p:graphicFrame>
      <p:sp>
        <p:nvSpPr>
          <p:cNvPr id="4" name="Content Placeholder 3"/>
          <p:cNvSpPr>
            <a:spLocks noGrp="1"/>
          </p:cNvSpPr>
          <p:nvPr>
            <p:ph sz="quarter" idx="14"/>
          </p:nvPr>
        </p:nvSpPr>
        <p:spPr>
          <a:xfrm>
            <a:off x="457200" y="5239171"/>
            <a:ext cx="8229600" cy="1040979"/>
          </a:xfrm>
        </p:spPr>
        <p:txBody>
          <a:bodyPr lIns="0" tIns="0" rIns="0" bIns="0"/>
          <a:lstStyle/>
          <a:p>
            <a:pPr marL="432" indent="0">
              <a:buNone/>
            </a:pPr>
            <a:r>
              <a:rPr lang="en-US" sz="1600" b="1" dirty="0"/>
              <a:t>Source: </a:t>
            </a:r>
            <a:r>
              <a:rPr lang="en-US" sz="1600" dirty="0"/>
              <a:t>G</a:t>
            </a:r>
            <a:r>
              <a:rPr lang="en-US" sz="100" dirty="0"/>
              <a:t> </a:t>
            </a:r>
            <a:r>
              <a:rPr lang="en-US" sz="1600" dirty="0"/>
              <a:t>D</a:t>
            </a:r>
            <a:r>
              <a:rPr lang="en-US" sz="100" dirty="0"/>
              <a:t> </a:t>
            </a:r>
            <a:r>
              <a:rPr lang="en-US" sz="1600" dirty="0"/>
              <a:t>P data from International Monetary Fund, </a:t>
            </a:r>
            <a:r>
              <a:rPr lang="en-US" sz="1600" b="1" dirty="0"/>
              <a:t>World Economic Outlook </a:t>
            </a:r>
            <a:r>
              <a:rPr lang="en-US" sz="1600" dirty="0"/>
              <a:t>database. Data on bank assets from Viral V. Acharya and </a:t>
            </a:r>
            <a:r>
              <a:rPr lang="en-US" sz="1600" dirty="0" err="1"/>
              <a:t>Sascha</a:t>
            </a:r>
            <a:r>
              <a:rPr lang="en-US" sz="1600" dirty="0"/>
              <a:t> Steffen, “The ‘Greatest’ Carry Trade Ever? Understanding Eurozone Bank Risks,” Discussion Paper 9432, Centre for Economic Policy Research, April 2013.</a:t>
            </a:r>
            <a:endParaRPr lang="en-IN" sz="1600" dirty="0"/>
          </a:p>
        </p:txBody>
      </p:sp>
    </p:spTree>
    <p:extLst>
      <p:ext uri="{BB962C8B-B14F-4D97-AF65-F5344CB8AC3E}">
        <p14:creationId xmlns:p14="http://schemas.microsoft.com/office/powerpoint/2010/main" val="3965628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21.8 Nominal Government Borrowing Spreads Over Germany</a:t>
            </a:r>
            <a:endParaRPr lang="en-IN" sz="3200" dirty="0"/>
          </a:p>
        </p:txBody>
      </p:sp>
      <p:pic>
        <p:nvPicPr>
          <p:cNvPr id="5" name="Content Placeholder 4" descr="The graph plots national bond rate less than the German bond rate, as percent per year, versus year, 19 9 to 20 16.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159694" y="1470762"/>
            <a:ext cx="4824612" cy="3581515"/>
          </a:xfrm>
        </p:spPr>
      </p:pic>
      <p:sp>
        <p:nvSpPr>
          <p:cNvPr id="4" name="Content Placeholder 3"/>
          <p:cNvSpPr>
            <a:spLocks noGrp="1"/>
          </p:cNvSpPr>
          <p:nvPr>
            <p:ph sz="quarter" idx="14"/>
          </p:nvPr>
        </p:nvSpPr>
        <p:spPr>
          <a:xfrm>
            <a:off x="457200" y="5141685"/>
            <a:ext cx="8229600" cy="1211036"/>
          </a:xfrm>
        </p:spPr>
        <p:txBody>
          <a:bodyPr/>
          <a:lstStyle/>
          <a:p>
            <a:pPr marL="0" indent="0">
              <a:buNone/>
            </a:pPr>
            <a:r>
              <a:rPr lang="en-US" sz="1600" dirty="0"/>
              <a:t>Euro countries’ long-term government bond yields converged to Germany’s level as they prepared to join the euro. The yields began to diverge again with the global financial crisis of 2007–2009 and moved sharply apart after the euro crisis broke out late in 2009.</a:t>
            </a:r>
          </a:p>
          <a:p>
            <a:pPr marL="0" indent="0">
              <a:spcBef>
                <a:spcPts val="500"/>
              </a:spcBef>
              <a:buNone/>
            </a:pPr>
            <a:r>
              <a:rPr lang="en-US" sz="1600" b="1" dirty="0"/>
              <a:t>Source: </a:t>
            </a:r>
            <a:r>
              <a:rPr lang="en-US" sz="1600" dirty="0"/>
              <a:t>Federal Reserve Economic Data (F</a:t>
            </a:r>
            <a:r>
              <a:rPr lang="en-US" sz="100" dirty="0"/>
              <a:t> </a:t>
            </a:r>
            <a:r>
              <a:rPr lang="en-US" sz="1600" dirty="0"/>
              <a:t>R</a:t>
            </a:r>
            <a:r>
              <a:rPr lang="en-US" sz="100" dirty="0"/>
              <a:t> </a:t>
            </a:r>
            <a:r>
              <a:rPr lang="en-US" sz="1600" dirty="0"/>
              <a:t>E</a:t>
            </a:r>
            <a:r>
              <a:rPr lang="en-US" sz="100" dirty="0"/>
              <a:t> </a:t>
            </a:r>
            <a:r>
              <a:rPr lang="en-US" sz="1600" dirty="0"/>
              <a:t>D), </a:t>
            </a:r>
            <a:r>
              <a:rPr lang="en-US" sz="1600" b="1" dirty="0"/>
              <a:t>1</a:t>
            </a:r>
            <a:r>
              <a:rPr lang="en-US" sz="1600" dirty="0"/>
              <a:t>0-year government bond  yields.</a:t>
            </a:r>
            <a:endParaRPr lang="en-IN" sz="1600" dirty="0"/>
          </a:p>
        </p:txBody>
      </p:sp>
    </p:spTree>
    <p:extLst>
      <p:ext uri="{BB962C8B-B14F-4D97-AF65-F5344CB8AC3E}">
        <p14:creationId xmlns:p14="http://schemas.microsoft.com/office/powerpoint/2010/main" val="25529535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21.9 Real Appreciation in Peripheral Euro Zone Countries</a:t>
            </a:r>
            <a:endParaRPr lang="en-IN" sz="3200" dirty="0"/>
          </a:p>
        </p:txBody>
      </p:sp>
      <p:pic>
        <p:nvPicPr>
          <p:cNvPr id="7" name="Content Placeholder 6" descr="The graph depicts harmonized competitiveness indicators, based on G D P deflators, with increase = real appreciation and 19 99 = 100, versus year, 19 95 to 20 15.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351535" y="1467482"/>
            <a:ext cx="4440930" cy="3594655"/>
          </a:xfrm>
        </p:spPr>
      </p:pic>
      <p:sp>
        <p:nvSpPr>
          <p:cNvPr id="4" name="Content Placeholder 3"/>
          <p:cNvSpPr>
            <a:spLocks noGrp="1"/>
          </p:cNvSpPr>
          <p:nvPr>
            <p:ph sz="quarter" idx="14"/>
          </p:nvPr>
        </p:nvSpPr>
        <p:spPr>
          <a:xfrm>
            <a:off x="457200" y="5161642"/>
            <a:ext cx="8229600" cy="1195615"/>
          </a:xfrm>
        </p:spPr>
        <p:txBody>
          <a:bodyPr/>
          <a:lstStyle/>
          <a:p>
            <a:pPr marL="0" indent="0">
              <a:buNone/>
            </a:pPr>
            <a:r>
              <a:rPr lang="en-US" sz="1600" dirty="0"/>
              <a:t>After entry into the euro, real appreciation set in for peripheral euro zone countries, most noticeably the two with massive housing booms, Ireland and Spain.</a:t>
            </a:r>
          </a:p>
          <a:p>
            <a:pPr marL="0" indent="0">
              <a:spcBef>
                <a:spcPts val="600"/>
              </a:spcBef>
              <a:buNone/>
            </a:pPr>
            <a:r>
              <a:rPr lang="en-US" sz="1600" b="1" dirty="0"/>
              <a:t>Source: </a:t>
            </a:r>
            <a:r>
              <a:rPr lang="en-US" sz="1600" dirty="0"/>
              <a:t>E</a:t>
            </a:r>
            <a:r>
              <a:rPr lang="en-US" sz="100" dirty="0"/>
              <a:t> </a:t>
            </a:r>
            <a:r>
              <a:rPr lang="en-US" sz="1600" dirty="0"/>
              <a:t>C</a:t>
            </a:r>
            <a:r>
              <a:rPr lang="en-US" sz="100" dirty="0"/>
              <a:t> </a:t>
            </a:r>
            <a:r>
              <a:rPr lang="en-US" sz="1600" dirty="0"/>
              <a:t>B. Harmonized multilateral competitiveness index based on G</a:t>
            </a:r>
            <a:r>
              <a:rPr lang="en-US" sz="100" dirty="0"/>
              <a:t> </a:t>
            </a:r>
            <a:r>
              <a:rPr lang="en-US" sz="1600" dirty="0"/>
              <a:t>D</a:t>
            </a:r>
            <a:r>
              <a:rPr lang="en-US" sz="100" dirty="0"/>
              <a:t> </a:t>
            </a:r>
            <a:r>
              <a:rPr lang="en-US" sz="1600" dirty="0"/>
              <a:t>P deflators. An increase in the index is a real appreciation (loss in competitiveness).</a:t>
            </a:r>
            <a:endParaRPr lang="en-IN" sz="1600" dirty="0"/>
          </a:p>
        </p:txBody>
      </p:sp>
    </p:spTree>
    <p:extLst>
      <p:ext uri="{BB962C8B-B14F-4D97-AF65-F5344CB8AC3E}">
        <p14:creationId xmlns:p14="http://schemas.microsoft.com/office/powerpoint/2010/main" val="36370395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21.10 Divergent Real Interest Rates in the Euro Zone</a:t>
            </a:r>
            <a:endParaRPr lang="en-IN" sz="3200" dirty="0"/>
          </a:p>
        </p:txBody>
      </p:sp>
      <p:pic>
        <p:nvPicPr>
          <p:cNvPr id="5" name="Content Placeholder 4" descr="The graph plots national real interest rate less German rate, percent per year, versus the years from 19 96 to 20 18.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390226" y="1415684"/>
            <a:ext cx="4363547" cy="2926044"/>
          </a:xfrm>
        </p:spPr>
      </p:pic>
      <p:sp>
        <p:nvSpPr>
          <p:cNvPr id="4" name="Content Placeholder 3"/>
          <p:cNvSpPr>
            <a:spLocks noGrp="1"/>
          </p:cNvSpPr>
          <p:nvPr>
            <p:ph sz="quarter" idx="14"/>
          </p:nvPr>
        </p:nvSpPr>
        <p:spPr>
          <a:xfrm>
            <a:off x="457200" y="4448627"/>
            <a:ext cx="8229600" cy="1923143"/>
          </a:xfrm>
        </p:spPr>
        <p:txBody>
          <a:bodyPr lIns="0" rIns="0"/>
          <a:lstStyle/>
          <a:p>
            <a:pPr marL="0" indent="0">
              <a:buNone/>
            </a:pPr>
            <a:r>
              <a:rPr lang="en-US" sz="1600" dirty="0"/>
              <a:t>As the 1999 launch date for the euro approached, nominal long-term bond rates in prospective member countries converged, leading to lower real interest rates in those countries with relatively high inflation. The graph shows each country’s long-term real interest rate minus Germany’s long-term real interest rate. Real interest rates are average nominal rates on 10-year government bonds minus the same year’s inflation rate.</a:t>
            </a:r>
          </a:p>
          <a:p>
            <a:pPr marL="0" indent="0">
              <a:spcBef>
                <a:spcPts val="500"/>
              </a:spcBef>
              <a:buNone/>
            </a:pPr>
            <a:r>
              <a:rPr lang="en-US" sz="1600" b="1" dirty="0"/>
              <a:t>Source</a:t>
            </a:r>
            <a:r>
              <a:rPr lang="en-US" sz="1600" dirty="0"/>
              <a:t>: Federal Reserve Economic Data (F</a:t>
            </a:r>
            <a:r>
              <a:rPr lang="en-US" sz="100" dirty="0"/>
              <a:t> </a:t>
            </a:r>
            <a:r>
              <a:rPr lang="en-US" sz="1600" dirty="0"/>
              <a:t>R</a:t>
            </a:r>
            <a:r>
              <a:rPr lang="en-US" sz="100" dirty="0"/>
              <a:t> </a:t>
            </a:r>
            <a:r>
              <a:rPr lang="en-US" sz="1600" dirty="0"/>
              <a:t>E</a:t>
            </a:r>
            <a:r>
              <a:rPr lang="en-US" sz="100" dirty="0"/>
              <a:t> </a:t>
            </a:r>
            <a:r>
              <a:rPr lang="en-US" sz="1600" dirty="0"/>
              <a:t>D). Long-term government bond yields (10-year maturity, not seasonally adjusted, and G</a:t>
            </a:r>
            <a:r>
              <a:rPr lang="en-US" sz="100" dirty="0"/>
              <a:t> </a:t>
            </a:r>
            <a:r>
              <a:rPr lang="en-US" sz="1600" dirty="0"/>
              <a:t>D</a:t>
            </a:r>
            <a:r>
              <a:rPr lang="en-US" sz="100" dirty="0"/>
              <a:t> </a:t>
            </a:r>
            <a:r>
              <a:rPr lang="en-US" sz="1600" dirty="0"/>
              <a:t>P implicit price deflator index (2015 = 100).</a:t>
            </a:r>
            <a:endParaRPr lang="en-IN" sz="1600" dirty="0"/>
          </a:p>
        </p:txBody>
      </p:sp>
    </p:spTree>
    <p:extLst>
      <p:ext uri="{BB962C8B-B14F-4D97-AF65-F5344CB8AC3E}">
        <p14:creationId xmlns:p14="http://schemas.microsoft.com/office/powerpoint/2010/main" val="39872666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t>Table 21.4 Current Account Balances of Euro Zone Countries, 2005–2009 (percent of G</a:t>
            </a:r>
            <a:r>
              <a:rPr lang="en-US" altLang="en-US" sz="100" dirty="0"/>
              <a:t> </a:t>
            </a:r>
            <a:r>
              <a:rPr lang="en-US" altLang="en-US" sz="2800" dirty="0"/>
              <a:t>D</a:t>
            </a:r>
            <a:r>
              <a:rPr lang="en-US" altLang="en-US" sz="100" dirty="0"/>
              <a:t> </a:t>
            </a:r>
            <a:r>
              <a:rPr lang="en-US" altLang="en-US" sz="2800" dirty="0"/>
              <a:t>P)</a:t>
            </a:r>
            <a:endParaRPr lang="en-IN" sz="28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602201767"/>
              </p:ext>
            </p:extLst>
          </p:nvPr>
        </p:nvGraphicFramePr>
        <p:xfrm>
          <a:off x="457200" y="1555750"/>
          <a:ext cx="8229599" cy="2225040"/>
        </p:xfrm>
        <a:graphic>
          <a:graphicData uri="http://schemas.openxmlformats.org/drawingml/2006/table">
            <a:tbl>
              <a:tblPr firstRow="1" bandRow="1">
                <a:tableStyleId>{40F9630F-82C1-40B7-BC3A-925EFCFF5E92}</a:tableStyleId>
              </a:tblPr>
              <a:tblGrid>
                <a:gridCol w="1175657">
                  <a:extLst>
                    <a:ext uri="{9D8B030D-6E8A-4147-A177-3AD203B41FA5}">
                      <a16:colId xmlns:a16="http://schemas.microsoft.com/office/drawing/2014/main" val="3904234296"/>
                    </a:ext>
                  </a:extLst>
                </a:gridCol>
                <a:gridCol w="1175657">
                  <a:extLst>
                    <a:ext uri="{9D8B030D-6E8A-4147-A177-3AD203B41FA5}">
                      <a16:colId xmlns:a16="http://schemas.microsoft.com/office/drawing/2014/main" val="741070187"/>
                    </a:ext>
                  </a:extLst>
                </a:gridCol>
                <a:gridCol w="1175657">
                  <a:extLst>
                    <a:ext uri="{9D8B030D-6E8A-4147-A177-3AD203B41FA5}">
                      <a16:colId xmlns:a16="http://schemas.microsoft.com/office/drawing/2014/main" val="2974662224"/>
                    </a:ext>
                  </a:extLst>
                </a:gridCol>
                <a:gridCol w="1175657">
                  <a:extLst>
                    <a:ext uri="{9D8B030D-6E8A-4147-A177-3AD203B41FA5}">
                      <a16:colId xmlns:a16="http://schemas.microsoft.com/office/drawing/2014/main" val="897428276"/>
                    </a:ext>
                  </a:extLst>
                </a:gridCol>
                <a:gridCol w="1175657">
                  <a:extLst>
                    <a:ext uri="{9D8B030D-6E8A-4147-A177-3AD203B41FA5}">
                      <a16:colId xmlns:a16="http://schemas.microsoft.com/office/drawing/2014/main" val="1357112793"/>
                    </a:ext>
                  </a:extLst>
                </a:gridCol>
                <a:gridCol w="1175657">
                  <a:extLst>
                    <a:ext uri="{9D8B030D-6E8A-4147-A177-3AD203B41FA5}">
                      <a16:colId xmlns:a16="http://schemas.microsoft.com/office/drawing/2014/main" val="1923847231"/>
                    </a:ext>
                  </a:extLst>
                </a:gridCol>
                <a:gridCol w="1175657">
                  <a:extLst>
                    <a:ext uri="{9D8B030D-6E8A-4147-A177-3AD203B41FA5}">
                      <a16:colId xmlns:a16="http://schemas.microsoft.com/office/drawing/2014/main" val="2170923237"/>
                    </a:ext>
                  </a:extLst>
                </a:gridCol>
              </a:tblGrid>
              <a:tr h="370840">
                <a:tc>
                  <a:txBody>
                    <a:bodyPr/>
                    <a:lstStyle/>
                    <a:p>
                      <a:pPr algn="ctr"/>
                      <a:r>
                        <a:rPr lang="en-US" sz="100" dirty="0">
                          <a:solidFill>
                            <a:schemeClr val="tx1"/>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Greece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Ireland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Italy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Portugal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Spain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Germany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5710718"/>
                  </a:ext>
                </a:extLst>
              </a:tr>
              <a:tr h="370840">
                <a:tc>
                  <a:txBody>
                    <a:bodyPr/>
                    <a:lstStyle/>
                    <a:p>
                      <a:r>
                        <a:rPr lang="en-US" sz="1600" dirty="0">
                          <a:solidFill>
                            <a:schemeClr val="tx1"/>
                          </a:solidFill>
                        </a:rPr>
                        <a:t>2005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7.5</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3.5</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1.7</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9.4</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7.4</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690511"/>
                  </a:ext>
                </a:extLst>
              </a:tr>
              <a:tr h="370840">
                <a:tc>
                  <a:txBody>
                    <a:bodyPr/>
                    <a:lstStyle/>
                    <a:p>
                      <a:r>
                        <a:rPr lang="en-US" sz="1600" dirty="0">
                          <a:solidFill>
                            <a:schemeClr val="tx1"/>
                          </a:solidFill>
                        </a:rPr>
                        <a:t>2006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11.2</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4.1</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2.6</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9.9</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9.0</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5169260"/>
                  </a:ext>
                </a:extLst>
              </a:tr>
              <a:tr h="370840">
                <a:tc>
                  <a:txBody>
                    <a:bodyPr/>
                    <a:lstStyle/>
                    <a:p>
                      <a:r>
                        <a:rPr lang="en-US" sz="1600" dirty="0">
                          <a:solidFill>
                            <a:schemeClr val="tx1"/>
                          </a:solidFill>
                        </a:rPr>
                        <a:t>2007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14.6</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5.3</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2.4</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9.4</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10.0</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08625"/>
                  </a:ext>
                </a:extLst>
              </a:tr>
              <a:tr h="370840">
                <a:tc>
                  <a:txBody>
                    <a:bodyPr/>
                    <a:lstStyle/>
                    <a:p>
                      <a:r>
                        <a:rPr lang="en-US" sz="1600" dirty="0">
                          <a:solidFill>
                            <a:schemeClr val="tx1"/>
                          </a:solidFill>
                        </a:rPr>
                        <a:t>2008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14.6</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5.3</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2.6</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12.0</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9.8</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128686"/>
                  </a:ext>
                </a:extLst>
              </a:tr>
              <a:tr h="370840">
                <a:tc>
                  <a:txBody>
                    <a:bodyPr/>
                    <a:lstStyle/>
                    <a:p>
                      <a:r>
                        <a:rPr lang="en-US" sz="1600" dirty="0">
                          <a:solidFill>
                            <a:schemeClr val="tx1"/>
                          </a:solidFill>
                        </a:rPr>
                        <a:t>2009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11.2</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2.9</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3.1</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10.3</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 b="0" i="0" u="none" strike="noStrike" cap="none" dirty="0">
                          <a:solidFill>
                            <a:schemeClr val="dk1"/>
                          </a:solidFill>
                          <a:effectLst/>
                          <a:latin typeface="+mn-lt"/>
                          <a:ea typeface="Arial"/>
                          <a:cs typeface="Arial"/>
                          <a:sym typeface="Arial"/>
                        </a:rPr>
                        <a:t>negative 5.4</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1395706"/>
                  </a:ext>
                </a:extLst>
              </a:tr>
            </a:tbl>
          </a:graphicData>
        </a:graphic>
      </p:graphicFrame>
      <p:graphicFrame>
        <p:nvGraphicFramePr>
          <p:cNvPr id="3" name="Object 2">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86068513"/>
              </p:ext>
            </p:extLst>
          </p:nvPr>
        </p:nvGraphicFramePr>
        <p:xfrm>
          <a:off x="2015043" y="1993824"/>
          <a:ext cx="414909" cy="215138"/>
        </p:xfrm>
        <a:graphic>
          <a:graphicData uri="http://schemas.openxmlformats.org/presentationml/2006/ole">
            <mc:AlternateContent xmlns:mc="http://schemas.openxmlformats.org/markup-compatibility/2006">
              <mc:Choice xmlns:v="urn:schemas-microsoft-com:vml" Requires="v">
                <p:oleObj spid="_x0000_s5147" name="Equation" r:id="rId3" imgW="342720" imgH="177480" progId="Equation.DSMT4">
                  <p:embed/>
                </p:oleObj>
              </mc:Choice>
              <mc:Fallback>
                <p:oleObj name="Equation" r:id="rId3" imgW="342720" imgH="177480" progId="Equation.DSMT4">
                  <p:embed/>
                  <p:pic>
                    <p:nvPicPr>
                      <p:cNvPr id="0" name=""/>
                      <p:cNvPicPr/>
                      <p:nvPr/>
                    </p:nvPicPr>
                    <p:blipFill>
                      <a:blip r:embed="rId4"/>
                      <a:stretch>
                        <a:fillRect/>
                      </a:stretch>
                    </p:blipFill>
                    <p:spPr>
                      <a:xfrm>
                        <a:off x="2015043" y="1993824"/>
                        <a:ext cx="414909" cy="215138"/>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639400362"/>
              </p:ext>
            </p:extLst>
          </p:nvPr>
        </p:nvGraphicFramePr>
        <p:xfrm>
          <a:off x="3125391" y="1993821"/>
          <a:ext cx="414909" cy="215138"/>
        </p:xfrm>
        <a:graphic>
          <a:graphicData uri="http://schemas.openxmlformats.org/presentationml/2006/ole">
            <mc:AlternateContent xmlns:mc="http://schemas.openxmlformats.org/markup-compatibility/2006">
              <mc:Choice xmlns:v="urn:schemas-microsoft-com:vml" Requires="v">
                <p:oleObj spid="_x0000_s5148" name="Equation" r:id="rId5" imgW="342720" imgH="177480" progId="Equation.DSMT4">
                  <p:embed/>
                </p:oleObj>
              </mc:Choice>
              <mc:Fallback>
                <p:oleObj name="Equation" r:id="rId5" imgW="342720" imgH="177480" progId="Equation.DSMT4">
                  <p:embed/>
                  <p:pic>
                    <p:nvPicPr>
                      <p:cNvPr id="0" name=""/>
                      <p:cNvPicPr/>
                      <p:nvPr/>
                    </p:nvPicPr>
                    <p:blipFill>
                      <a:blip r:embed="rId6"/>
                      <a:stretch>
                        <a:fillRect/>
                      </a:stretch>
                    </p:blipFill>
                    <p:spPr>
                      <a:xfrm>
                        <a:off x="3125391" y="1993821"/>
                        <a:ext cx="414909" cy="215138"/>
                      </a:xfrm>
                      <a:prstGeom prst="rect">
                        <a:avLst/>
                      </a:prstGeom>
                      <a:solidFill>
                        <a:schemeClr val="bg1"/>
                      </a:solidFill>
                    </p:spPr>
                  </p:pic>
                </p:oleObj>
              </mc:Fallback>
            </mc:AlternateContent>
          </a:graphicData>
        </a:graphic>
      </p:graphicFrame>
      <p:graphicFrame>
        <p:nvGraphicFramePr>
          <p:cNvPr id="14" name="Object 13">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53731704"/>
              </p:ext>
            </p:extLst>
          </p:nvPr>
        </p:nvGraphicFramePr>
        <p:xfrm>
          <a:off x="4333698" y="2010152"/>
          <a:ext cx="414909" cy="215138"/>
        </p:xfrm>
        <a:graphic>
          <a:graphicData uri="http://schemas.openxmlformats.org/presentationml/2006/ole">
            <mc:AlternateContent xmlns:mc="http://schemas.openxmlformats.org/markup-compatibility/2006">
              <mc:Choice xmlns:v="urn:schemas-microsoft-com:vml" Requires="v">
                <p:oleObj spid="_x0000_s5149" name="Equation" r:id="rId7" imgW="342720" imgH="177480" progId="Equation.DSMT4">
                  <p:embed/>
                </p:oleObj>
              </mc:Choice>
              <mc:Fallback>
                <p:oleObj name="Equation" r:id="rId7" imgW="342720" imgH="177480" progId="Equation.DSMT4">
                  <p:embed/>
                  <p:pic>
                    <p:nvPicPr>
                      <p:cNvPr id="0" name=""/>
                      <p:cNvPicPr/>
                      <p:nvPr/>
                    </p:nvPicPr>
                    <p:blipFill>
                      <a:blip r:embed="rId8"/>
                      <a:stretch>
                        <a:fillRect/>
                      </a:stretch>
                    </p:blipFill>
                    <p:spPr>
                      <a:xfrm>
                        <a:off x="4333698" y="2010152"/>
                        <a:ext cx="414909" cy="215138"/>
                      </a:xfrm>
                      <a:prstGeom prst="rect">
                        <a:avLst/>
                      </a:prstGeom>
                      <a:solidFill>
                        <a:schemeClr val="bg1"/>
                      </a:solidFill>
                    </p:spPr>
                  </p:pic>
                </p:oleObj>
              </mc:Fallback>
            </mc:AlternateContent>
          </a:graphicData>
        </a:graphic>
      </p:graphicFrame>
      <p:graphicFrame>
        <p:nvGraphicFramePr>
          <p:cNvPr id="19" name="Object 18">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10960942"/>
              </p:ext>
            </p:extLst>
          </p:nvPr>
        </p:nvGraphicFramePr>
        <p:xfrm>
          <a:off x="5558353" y="2010147"/>
          <a:ext cx="414909" cy="215138"/>
        </p:xfrm>
        <a:graphic>
          <a:graphicData uri="http://schemas.openxmlformats.org/presentationml/2006/ole">
            <mc:AlternateContent xmlns:mc="http://schemas.openxmlformats.org/markup-compatibility/2006">
              <mc:Choice xmlns:v="urn:schemas-microsoft-com:vml" Requires="v">
                <p:oleObj spid="_x0000_s5150" name="Equation" r:id="rId9" imgW="342720" imgH="177480" progId="Equation.DSMT4">
                  <p:embed/>
                </p:oleObj>
              </mc:Choice>
              <mc:Fallback>
                <p:oleObj name="Equation" r:id="rId9" imgW="342720" imgH="177480" progId="Equation.DSMT4">
                  <p:embed/>
                  <p:pic>
                    <p:nvPicPr>
                      <p:cNvPr id="0" name=""/>
                      <p:cNvPicPr/>
                      <p:nvPr/>
                    </p:nvPicPr>
                    <p:blipFill>
                      <a:blip r:embed="rId10"/>
                      <a:stretch>
                        <a:fillRect/>
                      </a:stretch>
                    </p:blipFill>
                    <p:spPr>
                      <a:xfrm>
                        <a:off x="5558353" y="2010147"/>
                        <a:ext cx="414909" cy="215138"/>
                      </a:xfrm>
                      <a:prstGeom prst="rect">
                        <a:avLst/>
                      </a:prstGeom>
                      <a:solidFill>
                        <a:schemeClr val="bg1"/>
                      </a:solidFill>
                    </p:spPr>
                  </p:pic>
                </p:oleObj>
              </mc:Fallback>
            </mc:AlternateContent>
          </a:graphicData>
        </a:graphic>
      </p:graphicFrame>
      <p:graphicFrame>
        <p:nvGraphicFramePr>
          <p:cNvPr id="24" name="Object 23">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98729109"/>
              </p:ext>
            </p:extLst>
          </p:nvPr>
        </p:nvGraphicFramePr>
        <p:xfrm>
          <a:off x="6782982" y="1977494"/>
          <a:ext cx="414909" cy="215138"/>
        </p:xfrm>
        <a:graphic>
          <a:graphicData uri="http://schemas.openxmlformats.org/presentationml/2006/ole">
            <mc:AlternateContent xmlns:mc="http://schemas.openxmlformats.org/markup-compatibility/2006">
              <mc:Choice xmlns:v="urn:schemas-microsoft-com:vml" Requires="v">
                <p:oleObj spid="_x0000_s5151" name="Equation" r:id="rId11" imgW="342720" imgH="177480" progId="Equation.DSMT4">
                  <p:embed/>
                </p:oleObj>
              </mc:Choice>
              <mc:Fallback>
                <p:oleObj name="Equation" r:id="rId11" imgW="342720" imgH="177480" progId="Equation.DSMT4">
                  <p:embed/>
                  <p:pic>
                    <p:nvPicPr>
                      <p:cNvPr id="0" name=""/>
                      <p:cNvPicPr/>
                      <p:nvPr/>
                    </p:nvPicPr>
                    <p:blipFill>
                      <a:blip r:embed="rId12"/>
                      <a:stretch>
                        <a:fillRect/>
                      </a:stretch>
                    </p:blipFill>
                    <p:spPr>
                      <a:xfrm>
                        <a:off x="6782982" y="1977494"/>
                        <a:ext cx="414909" cy="215138"/>
                      </a:xfrm>
                      <a:prstGeom prst="rect">
                        <a:avLst/>
                      </a:prstGeom>
                      <a:solidFill>
                        <a:schemeClr val="bg1"/>
                      </a:solidFill>
                    </p:spPr>
                  </p:pic>
                </p:oleObj>
              </mc:Fallback>
            </mc:AlternateContent>
          </a:graphicData>
        </a:graphic>
      </p:graphicFrame>
      <p:graphicFrame>
        <p:nvGraphicFramePr>
          <p:cNvPr id="5" name="Object 4">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73173550"/>
              </p:ext>
            </p:extLst>
          </p:nvPr>
        </p:nvGraphicFramePr>
        <p:xfrm>
          <a:off x="1952616" y="2369385"/>
          <a:ext cx="507111" cy="215138"/>
        </p:xfrm>
        <a:graphic>
          <a:graphicData uri="http://schemas.openxmlformats.org/presentationml/2006/ole">
            <mc:AlternateContent xmlns:mc="http://schemas.openxmlformats.org/markup-compatibility/2006">
              <mc:Choice xmlns:v="urn:schemas-microsoft-com:vml" Requires="v">
                <p:oleObj spid="_x0000_s5152" name="Equation" r:id="rId13" imgW="419040" imgH="177480" progId="Equation.DSMT4">
                  <p:embed/>
                </p:oleObj>
              </mc:Choice>
              <mc:Fallback>
                <p:oleObj name="Equation" r:id="rId13" imgW="419040" imgH="177480" progId="Equation.DSMT4">
                  <p:embed/>
                  <p:pic>
                    <p:nvPicPr>
                      <p:cNvPr id="0" name=""/>
                      <p:cNvPicPr/>
                      <p:nvPr/>
                    </p:nvPicPr>
                    <p:blipFill>
                      <a:blip r:embed="rId14"/>
                      <a:stretch>
                        <a:fillRect/>
                      </a:stretch>
                    </p:blipFill>
                    <p:spPr>
                      <a:xfrm>
                        <a:off x="1952616" y="2369385"/>
                        <a:ext cx="507111" cy="215138"/>
                      </a:xfrm>
                      <a:prstGeom prst="rect">
                        <a:avLst/>
                      </a:prstGeom>
                      <a:solidFill>
                        <a:schemeClr val="bg1"/>
                      </a:solidFill>
                    </p:spPr>
                  </p:pic>
                </p:oleObj>
              </mc:Fallback>
            </mc:AlternateContent>
          </a:graphicData>
        </a:graphic>
      </p:graphicFrame>
      <p:graphicFrame>
        <p:nvGraphicFramePr>
          <p:cNvPr id="10" name="Object 9">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21443874"/>
              </p:ext>
            </p:extLst>
          </p:nvPr>
        </p:nvGraphicFramePr>
        <p:xfrm>
          <a:off x="3108092" y="2353056"/>
          <a:ext cx="384175" cy="215138"/>
        </p:xfrm>
        <a:graphic>
          <a:graphicData uri="http://schemas.openxmlformats.org/presentationml/2006/ole">
            <mc:AlternateContent xmlns:mc="http://schemas.openxmlformats.org/markup-compatibility/2006">
              <mc:Choice xmlns:v="urn:schemas-microsoft-com:vml" Requires="v">
                <p:oleObj spid="_x0000_s5153" name="Equation" r:id="rId15" imgW="317160" imgH="177480" progId="Equation.DSMT4">
                  <p:embed/>
                </p:oleObj>
              </mc:Choice>
              <mc:Fallback>
                <p:oleObj name="Equation" r:id="rId15" imgW="317160" imgH="177480" progId="Equation.DSMT4">
                  <p:embed/>
                  <p:pic>
                    <p:nvPicPr>
                      <p:cNvPr id="0" name=""/>
                      <p:cNvPicPr/>
                      <p:nvPr/>
                    </p:nvPicPr>
                    <p:blipFill>
                      <a:blip r:embed="rId16"/>
                      <a:stretch>
                        <a:fillRect/>
                      </a:stretch>
                    </p:blipFill>
                    <p:spPr>
                      <a:xfrm>
                        <a:off x="3108092" y="2353056"/>
                        <a:ext cx="384175" cy="215138"/>
                      </a:xfrm>
                      <a:prstGeom prst="rect">
                        <a:avLst/>
                      </a:prstGeom>
                      <a:solidFill>
                        <a:schemeClr val="bg1"/>
                      </a:solidFill>
                    </p:spPr>
                  </p:pic>
                </p:oleObj>
              </mc:Fallback>
            </mc:AlternateContent>
          </a:graphicData>
        </a:graphic>
      </p:graphicFrame>
      <p:graphicFrame>
        <p:nvGraphicFramePr>
          <p:cNvPr id="15" name="Object 14">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46107465"/>
              </p:ext>
            </p:extLst>
          </p:nvPr>
        </p:nvGraphicFramePr>
        <p:xfrm>
          <a:off x="4317378" y="2369385"/>
          <a:ext cx="414909" cy="215138"/>
        </p:xfrm>
        <a:graphic>
          <a:graphicData uri="http://schemas.openxmlformats.org/presentationml/2006/ole">
            <mc:AlternateContent xmlns:mc="http://schemas.openxmlformats.org/markup-compatibility/2006">
              <mc:Choice xmlns:v="urn:schemas-microsoft-com:vml" Requires="v">
                <p:oleObj spid="_x0000_s5154" name="Equation" r:id="rId17" imgW="342720" imgH="177480" progId="Equation.DSMT4">
                  <p:embed/>
                </p:oleObj>
              </mc:Choice>
              <mc:Fallback>
                <p:oleObj name="Equation" r:id="rId17" imgW="342720" imgH="177480" progId="Equation.DSMT4">
                  <p:embed/>
                  <p:pic>
                    <p:nvPicPr>
                      <p:cNvPr id="0" name=""/>
                      <p:cNvPicPr/>
                      <p:nvPr/>
                    </p:nvPicPr>
                    <p:blipFill>
                      <a:blip r:embed="rId18"/>
                      <a:stretch>
                        <a:fillRect/>
                      </a:stretch>
                    </p:blipFill>
                    <p:spPr>
                      <a:xfrm>
                        <a:off x="4317378" y="2369385"/>
                        <a:ext cx="414909" cy="215138"/>
                      </a:xfrm>
                      <a:prstGeom prst="rect">
                        <a:avLst/>
                      </a:prstGeom>
                      <a:solidFill>
                        <a:schemeClr val="bg1"/>
                      </a:solidFill>
                    </p:spPr>
                  </p:pic>
                </p:oleObj>
              </mc:Fallback>
            </mc:AlternateContent>
          </a:graphicData>
        </a:graphic>
      </p:graphicFrame>
      <p:graphicFrame>
        <p:nvGraphicFramePr>
          <p:cNvPr id="20" name="Object 19">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292164454"/>
              </p:ext>
            </p:extLst>
          </p:nvPr>
        </p:nvGraphicFramePr>
        <p:xfrm>
          <a:off x="5542021" y="2353056"/>
          <a:ext cx="414909" cy="215138"/>
        </p:xfrm>
        <a:graphic>
          <a:graphicData uri="http://schemas.openxmlformats.org/presentationml/2006/ole">
            <mc:AlternateContent xmlns:mc="http://schemas.openxmlformats.org/markup-compatibility/2006">
              <mc:Choice xmlns:v="urn:schemas-microsoft-com:vml" Requires="v">
                <p:oleObj spid="_x0000_s5155" name="Equation" r:id="rId19" imgW="342720" imgH="177480" progId="Equation.DSMT4">
                  <p:embed/>
                </p:oleObj>
              </mc:Choice>
              <mc:Fallback>
                <p:oleObj name="Equation" r:id="rId19" imgW="342720" imgH="177480" progId="Equation.DSMT4">
                  <p:embed/>
                  <p:pic>
                    <p:nvPicPr>
                      <p:cNvPr id="0" name=""/>
                      <p:cNvPicPr/>
                      <p:nvPr/>
                    </p:nvPicPr>
                    <p:blipFill>
                      <a:blip r:embed="rId20"/>
                      <a:stretch>
                        <a:fillRect/>
                      </a:stretch>
                    </p:blipFill>
                    <p:spPr>
                      <a:xfrm>
                        <a:off x="5542021" y="2353056"/>
                        <a:ext cx="414909" cy="215138"/>
                      </a:xfrm>
                      <a:prstGeom prst="rect">
                        <a:avLst/>
                      </a:prstGeom>
                      <a:solidFill>
                        <a:schemeClr val="bg1"/>
                      </a:solidFill>
                    </p:spPr>
                  </p:pic>
                </p:oleObj>
              </mc:Fallback>
            </mc:AlternateContent>
          </a:graphicData>
        </a:graphic>
      </p:graphicFrame>
      <p:graphicFrame>
        <p:nvGraphicFramePr>
          <p:cNvPr id="25" name="Object 24">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41127647"/>
              </p:ext>
            </p:extLst>
          </p:nvPr>
        </p:nvGraphicFramePr>
        <p:xfrm>
          <a:off x="6766662" y="2353056"/>
          <a:ext cx="414909" cy="215138"/>
        </p:xfrm>
        <a:graphic>
          <a:graphicData uri="http://schemas.openxmlformats.org/presentationml/2006/ole">
            <mc:AlternateContent xmlns:mc="http://schemas.openxmlformats.org/markup-compatibility/2006">
              <mc:Choice xmlns:v="urn:schemas-microsoft-com:vml" Requires="v">
                <p:oleObj spid="_x0000_s5156" name="Equation" r:id="rId21" imgW="342720" imgH="177480" progId="Equation.DSMT4">
                  <p:embed/>
                </p:oleObj>
              </mc:Choice>
              <mc:Fallback>
                <p:oleObj name="Equation" r:id="rId21" imgW="342720" imgH="177480" progId="Equation.DSMT4">
                  <p:embed/>
                  <p:pic>
                    <p:nvPicPr>
                      <p:cNvPr id="0" name=""/>
                      <p:cNvPicPr/>
                      <p:nvPr/>
                    </p:nvPicPr>
                    <p:blipFill>
                      <a:blip r:embed="rId22"/>
                      <a:stretch>
                        <a:fillRect/>
                      </a:stretch>
                    </p:blipFill>
                    <p:spPr>
                      <a:xfrm>
                        <a:off x="6766662" y="2353056"/>
                        <a:ext cx="414909" cy="215138"/>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54665859"/>
              </p:ext>
            </p:extLst>
          </p:nvPr>
        </p:nvGraphicFramePr>
        <p:xfrm>
          <a:off x="1944931" y="2712289"/>
          <a:ext cx="522478" cy="215138"/>
        </p:xfrm>
        <a:graphic>
          <a:graphicData uri="http://schemas.openxmlformats.org/presentationml/2006/ole">
            <mc:AlternateContent xmlns:mc="http://schemas.openxmlformats.org/markup-compatibility/2006">
              <mc:Choice xmlns:v="urn:schemas-microsoft-com:vml" Requires="v">
                <p:oleObj spid="_x0000_s5157" name="Equation" r:id="rId23" imgW="431640" imgH="177480" progId="Equation.DSMT4">
                  <p:embed/>
                </p:oleObj>
              </mc:Choice>
              <mc:Fallback>
                <p:oleObj name="Equation" r:id="rId23" imgW="431640" imgH="177480" progId="Equation.DSMT4">
                  <p:embed/>
                  <p:pic>
                    <p:nvPicPr>
                      <p:cNvPr id="0" name=""/>
                      <p:cNvPicPr/>
                      <p:nvPr/>
                    </p:nvPicPr>
                    <p:blipFill>
                      <a:blip r:embed="rId24"/>
                      <a:stretch>
                        <a:fillRect/>
                      </a:stretch>
                    </p:blipFill>
                    <p:spPr>
                      <a:xfrm>
                        <a:off x="1944931" y="2712289"/>
                        <a:ext cx="522478" cy="215138"/>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72921892"/>
              </p:ext>
            </p:extLst>
          </p:nvPr>
        </p:nvGraphicFramePr>
        <p:xfrm>
          <a:off x="3109062" y="2744940"/>
          <a:ext cx="414909" cy="215138"/>
        </p:xfrm>
        <a:graphic>
          <a:graphicData uri="http://schemas.openxmlformats.org/presentationml/2006/ole">
            <mc:AlternateContent xmlns:mc="http://schemas.openxmlformats.org/markup-compatibility/2006">
              <mc:Choice xmlns:v="urn:schemas-microsoft-com:vml" Requires="v">
                <p:oleObj spid="_x0000_s5158" name="Equation" r:id="rId25" imgW="342720" imgH="177480" progId="Equation.DSMT4">
                  <p:embed/>
                </p:oleObj>
              </mc:Choice>
              <mc:Fallback>
                <p:oleObj name="Equation" r:id="rId25" imgW="342720" imgH="177480" progId="Equation.DSMT4">
                  <p:embed/>
                  <p:pic>
                    <p:nvPicPr>
                      <p:cNvPr id="0" name=""/>
                      <p:cNvPicPr/>
                      <p:nvPr/>
                    </p:nvPicPr>
                    <p:blipFill>
                      <a:blip r:embed="rId26"/>
                      <a:stretch>
                        <a:fillRect/>
                      </a:stretch>
                    </p:blipFill>
                    <p:spPr>
                      <a:xfrm>
                        <a:off x="3109062" y="2744940"/>
                        <a:ext cx="414909" cy="215138"/>
                      </a:xfrm>
                      <a:prstGeom prst="rect">
                        <a:avLst/>
                      </a:prstGeom>
                      <a:solidFill>
                        <a:schemeClr val="bg1"/>
                      </a:solidFill>
                    </p:spPr>
                  </p:pic>
                </p:oleObj>
              </mc:Fallback>
            </mc:AlternateContent>
          </a:graphicData>
        </a:graphic>
      </p:graphicFrame>
      <p:graphicFrame>
        <p:nvGraphicFramePr>
          <p:cNvPr id="16" name="Object 15">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27306641"/>
              </p:ext>
            </p:extLst>
          </p:nvPr>
        </p:nvGraphicFramePr>
        <p:xfrm>
          <a:off x="4317369" y="2728622"/>
          <a:ext cx="414909" cy="215138"/>
        </p:xfrm>
        <a:graphic>
          <a:graphicData uri="http://schemas.openxmlformats.org/presentationml/2006/ole">
            <mc:AlternateContent xmlns:mc="http://schemas.openxmlformats.org/markup-compatibility/2006">
              <mc:Choice xmlns:v="urn:schemas-microsoft-com:vml" Requires="v">
                <p:oleObj spid="_x0000_s5159" name="Equation" r:id="rId27" imgW="342720" imgH="177480" progId="Equation.DSMT4">
                  <p:embed/>
                </p:oleObj>
              </mc:Choice>
              <mc:Fallback>
                <p:oleObj name="Equation" r:id="rId27" imgW="342720" imgH="177480" progId="Equation.DSMT4">
                  <p:embed/>
                  <p:pic>
                    <p:nvPicPr>
                      <p:cNvPr id="0" name=""/>
                      <p:cNvPicPr/>
                      <p:nvPr/>
                    </p:nvPicPr>
                    <p:blipFill>
                      <a:blip r:embed="rId28"/>
                      <a:stretch>
                        <a:fillRect/>
                      </a:stretch>
                    </p:blipFill>
                    <p:spPr>
                      <a:xfrm>
                        <a:off x="4317369" y="2728622"/>
                        <a:ext cx="414909" cy="215138"/>
                      </a:xfrm>
                      <a:prstGeom prst="rect">
                        <a:avLst/>
                      </a:prstGeom>
                      <a:solidFill>
                        <a:schemeClr val="bg1"/>
                      </a:solidFill>
                    </p:spPr>
                  </p:pic>
                </p:oleObj>
              </mc:Fallback>
            </mc:AlternateContent>
          </a:graphicData>
        </a:graphic>
      </p:graphicFrame>
      <p:graphicFrame>
        <p:nvGraphicFramePr>
          <p:cNvPr id="21" name="Object 20">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700893837"/>
              </p:ext>
            </p:extLst>
          </p:nvPr>
        </p:nvGraphicFramePr>
        <p:xfrm>
          <a:off x="5558349" y="2728620"/>
          <a:ext cx="414909" cy="215138"/>
        </p:xfrm>
        <a:graphic>
          <a:graphicData uri="http://schemas.openxmlformats.org/presentationml/2006/ole">
            <mc:AlternateContent xmlns:mc="http://schemas.openxmlformats.org/markup-compatibility/2006">
              <mc:Choice xmlns:v="urn:schemas-microsoft-com:vml" Requires="v">
                <p:oleObj spid="_x0000_s5160" name="Equation" r:id="rId29" imgW="342720" imgH="177480" progId="Equation.DSMT4">
                  <p:embed/>
                </p:oleObj>
              </mc:Choice>
              <mc:Fallback>
                <p:oleObj name="Equation" r:id="rId29" imgW="342720" imgH="177480" progId="Equation.DSMT4">
                  <p:embed/>
                  <p:pic>
                    <p:nvPicPr>
                      <p:cNvPr id="0" name=""/>
                      <p:cNvPicPr/>
                      <p:nvPr/>
                    </p:nvPicPr>
                    <p:blipFill>
                      <a:blip r:embed="rId30"/>
                      <a:stretch>
                        <a:fillRect/>
                      </a:stretch>
                    </p:blipFill>
                    <p:spPr>
                      <a:xfrm>
                        <a:off x="5558349" y="2728620"/>
                        <a:ext cx="414909" cy="215138"/>
                      </a:xfrm>
                      <a:prstGeom prst="rect">
                        <a:avLst/>
                      </a:prstGeom>
                      <a:solidFill>
                        <a:schemeClr val="bg1"/>
                      </a:solidFill>
                    </p:spPr>
                  </p:pic>
                </p:oleObj>
              </mc:Fallback>
            </mc:AlternateContent>
          </a:graphicData>
        </a:graphic>
      </p:graphicFrame>
      <p:graphicFrame>
        <p:nvGraphicFramePr>
          <p:cNvPr id="26" name="Object 25">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54984481"/>
              </p:ext>
            </p:extLst>
          </p:nvPr>
        </p:nvGraphicFramePr>
        <p:xfrm>
          <a:off x="6712870" y="2712294"/>
          <a:ext cx="522478" cy="215138"/>
        </p:xfrm>
        <a:graphic>
          <a:graphicData uri="http://schemas.openxmlformats.org/presentationml/2006/ole">
            <mc:AlternateContent xmlns:mc="http://schemas.openxmlformats.org/markup-compatibility/2006">
              <mc:Choice xmlns:v="urn:schemas-microsoft-com:vml" Requires="v">
                <p:oleObj spid="_x0000_s5161" name="Equation" r:id="rId31" imgW="431640" imgH="177480" progId="Equation.DSMT4">
                  <p:embed/>
                </p:oleObj>
              </mc:Choice>
              <mc:Fallback>
                <p:oleObj name="Equation" r:id="rId31" imgW="431640" imgH="177480" progId="Equation.DSMT4">
                  <p:embed/>
                  <p:pic>
                    <p:nvPicPr>
                      <p:cNvPr id="0" name=""/>
                      <p:cNvPicPr/>
                      <p:nvPr/>
                    </p:nvPicPr>
                    <p:blipFill>
                      <a:blip r:embed="rId32"/>
                      <a:stretch>
                        <a:fillRect/>
                      </a:stretch>
                    </p:blipFill>
                    <p:spPr>
                      <a:xfrm>
                        <a:off x="6712870" y="2712294"/>
                        <a:ext cx="522478" cy="215138"/>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730801021"/>
              </p:ext>
            </p:extLst>
          </p:nvPr>
        </p:nvGraphicFramePr>
        <p:xfrm>
          <a:off x="1944928" y="3120513"/>
          <a:ext cx="522478" cy="215138"/>
        </p:xfrm>
        <a:graphic>
          <a:graphicData uri="http://schemas.openxmlformats.org/presentationml/2006/ole">
            <mc:AlternateContent xmlns:mc="http://schemas.openxmlformats.org/markup-compatibility/2006">
              <mc:Choice xmlns:v="urn:schemas-microsoft-com:vml" Requires="v">
                <p:oleObj spid="_x0000_s5162" name="Equation" r:id="rId33" imgW="431640" imgH="177480" progId="Equation.DSMT4">
                  <p:embed/>
                </p:oleObj>
              </mc:Choice>
              <mc:Fallback>
                <p:oleObj name="Equation" r:id="rId33" imgW="431640" imgH="177480" progId="Equation.DSMT4">
                  <p:embed/>
                  <p:pic>
                    <p:nvPicPr>
                      <p:cNvPr id="0" name=""/>
                      <p:cNvPicPr/>
                      <p:nvPr/>
                    </p:nvPicPr>
                    <p:blipFill>
                      <a:blip r:embed="rId34"/>
                      <a:stretch>
                        <a:fillRect/>
                      </a:stretch>
                    </p:blipFill>
                    <p:spPr>
                      <a:xfrm>
                        <a:off x="1944928" y="3120513"/>
                        <a:ext cx="522478" cy="215138"/>
                      </a:xfrm>
                      <a:prstGeom prst="rect">
                        <a:avLst/>
                      </a:prstGeom>
                      <a:solidFill>
                        <a:schemeClr val="bg1"/>
                      </a:solidFill>
                    </p:spPr>
                  </p:pic>
                </p:oleObj>
              </mc:Fallback>
            </mc:AlternateContent>
          </a:graphicData>
        </a:graphic>
      </p:graphicFrame>
      <p:graphicFrame>
        <p:nvGraphicFramePr>
          <p:cNvPr id="12" name="Object 11">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469166096"/>
              </p:ext>
            </p:extLst>
          </p:nvPr>
        </p:nvGraphicFramePr>
        <p:xfrm>
          <a:off x="3092729" y="3120501"/>
          <a:ext cx="414909" cy="215138"/>
        </p:xfrm>
        <a:graphic>
          <a:graphicData uri="http://schemas.openxmlformats.org/presentationml/2006/ole">
            <mc:AlternateContent xmlns:mc="http://schemas.openxmlformats.org/markup-compatibility/2006">
              <mc:Choice xmlns:v="urn:schemas-microsoft-com:vml" Requires="v">
                <p:oleObj spid="_x0000_s5163" name="Equation" r:id="rId35" imgW="342720" imgH="177480" progId="Equation.DSMT4">
                  <p:embed/>
                </p:oleObj>
              </mc:Choice>
              <mc:Fallback>
                <p:oleObj name="Equation" r:id="rId35" imgW="342720" imgH="177480" progId="Equation.DSMT4">
                  <p:embed/>
                  <p:pic>
                    <p:nvPicPr>
                      <p:cNvPr id="0" name=""/>
                      <p:cNvPicPr/>
                      <p:nvPr/>
                    </p:nvPicPr>
                    <p:blipFill>
                      <a:blip r:embed="rId36"/>
                      <a:stretch>
                        <a:fillRect/>
                      </a:stretch>
                    </p:blipFill>
                    <p:spPr>
                      <a:xfrm>
                        <a:off x="3092729" y="3120501"/>
                        <a:ext cx="414909" cy="215138"/>
                      </a:xfrm>
                      <a:prstGeom prst="rect">
                        <a:avLst/>
                      </a:prstGeom>
                      <a:solidFill>
                        <a:schemeClr val="bg1"/>
                      </a:solidFill>
                    </p:spPr>
                  </p:pic>
                </p:oleObj>
              </mc:Fallback>
            </mc:AlternateContent>
          </a:graphicData>
        </a:graphic>
      </p:graphicFrame>
      <p:graphicFrame>
        <p:nvGraphicFramePr>
          <p:cNvPr id="17" name="Object 16">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7782375"/>
              </p:ext>
            </p:extLst>
          </p:nvPr>
        </p:nvGraphicFramePr>
        <p:xfrm>
          <a:off x="4317372" y="3104179"/>
          <a:ext cx="414909" cy="215138"/>
        </p:xfrm>
        <a:graphic>
          <a:graphicData uri="http://schemas.openxmlformats.org/presentationml/2006/ole">
            <mc:AlternateContent xmlns:mc="http://schemas.openxmlformats.org/markup-compatibility/2006">
              <mc:Choice xmlns:v="urn:schemas-microsoft-com:vml" Requires="v">
                <p:oleObj spid="_x0000_s5164" name="Equation" r:id="rId37" imgW="342720" imgH="177480" progId="Equation.DSMT4">
                  <p:embed/>
                </p:oleObj>
              </mc:Choice>
              <mc:Fallback>
                <p:oleObj name="Equation" r:id="rId37" imgW="342720" imgH="177480" progId="Equation.DSMT4">
                  <p:embed/>
                  <p:pic>
                    <p:nvPicPr>
                      <p:cNvPr id="0" name=""/>
                      <p:cNvPicPr/>
                      <p:nvPr/>
                    </p:nvPicPr>
                    <p:blipFill>
                      <a:blip r:embed="rId38"/>
                      <a:stretch>
                        <a:fillRect/>
                      </a:stretch>
                    </p:blipFill>
                    <p:spPr>
                      <a:xfrm>
                        <a:off x="4317372" y="3104179"/>
                        <a:ext cx="414909" cy="215138"/>
                      </a:xfrm>
                      <a:prstGeom prst="rect">
                        <a:avLst/>
                      </a:prstGeom>
                      <a:solidFill>
                        <a:schemeClr val="bg1"/>
                      </a:solidFill>
                    </p:spPr>
                  </p:pic>
                </p:oleObj>
              </mc:Fallback>
            </mc:AlternateContent>
          </a:graphicData>
        </a:graphic>
      </p:graphicFrame>
      <p:graphicFrame>
        <p:nvGraphicFramePr>
          <p:cNvPr id="22" name="Object 21">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540786830"/>
              </p:ext>
            </p:extLst>
          </p:nvPr>
        </p:nvGraphicFramePr>
        <p:xfrm>
          <a:off x="5504569" y="3087845"/>
          <a:ext cx="522478" cy="215138"/>
        </p:xfrm>
        <a:graphic>
          <a:graphicData uri="http://schemas.openxmlformats.org/presentationml/2006/ole">
            <mc:AlternateContent xmlns:mc="http://schemas.openxmlformats.org/markup-compatibility/2006">
              <mc:Choice xmlns:v="urn:schemas-microsoft-com:vml" Requires="v">
                <p:oleObj spid="_x0000_s5165" name="Equation" r:id="rId39" imgW="431640" imgH="177480" progId="Equation.DSMT4">
                  <p:embed/>
                </p:oleObj>
              </mc:Choice>
              <mc:Fallback>
                <p:oleObj name="Equation" r:id="rId39" imgW="431640" imgH="177480" progId="Equation.DSMT4">
                  <p:embed/>
                  <p:pic>
                    <p:nvPicPr>
                      <p:cNvPr id="0" name=""/>
                      <p:cNvPicPr/>
                      <p:nvPr/>
                    </p:nvPicPr>
                    <p:blipFill>
                      <a:blip r:embed="rId40"/>
                      <a:stretch>
                        <a:fillRect/>
                      </a:stretch>
                    </p:blipFill>
                    <p:spPr>
                      <a:xfrm>
                        <a:off x="5504569" y="3087845"/>
                        <a:ext cx="522478" cy="215138"/>
                      </a:xfrm>
                      <a:prstGeom prst="rect">
                        <a:avLst/>
                      </a:prstGeom>
                      <a:solidFill>
                        <a:schemeClr val="bg1"/>
                      </a:solidFill>
                    </p:spPr>
                  </p:pic>
                </p:oleObj>
              </mc:Fallback>
            </mc:AlternateContent>
          </a:graphicData>
        </a:graphic>
      </p:graphicFrame>
      <p:graphicFrame>
        <p:nvGraphicFramePr>
          <p:cNvPr id="27" name="Object 26">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51497529"/>
              </p:ext>
            </p:extLst>
          </p:nvPr>
        </p:nvGraphicFramePr>
        <p:xfrm>
          <a:off x="6734012" y="3087846"/>
          <a:ext cx="414909" cy="215138"/>
        </p:xfrm>
        <a:graphic>
          <a:graphicData uri="http://schemas.openxmlformats.org/presentationml/2006/ole">
            <mc:AlternateContent xmlns:mc="http://schemas.openxmlformats.org/markup-compatibility/2006">
              <mc:Choice xmlns:v="urn:schemas-microsoft-com:vml" Requires="v">
                <p:oleObj spid="_x0000_s5166" name="Equation" r:id="rId41" imgW="342720" imgH="177480" progId="Equation.DSMT4">
                  <p:embed/>
                </p:oleObj>
              </mc:Choice>
              <mc:Fallback>
                <p:oleObj name="Equation" r:id="rId41" imgW="342720" imgH="177480" progId="Equation.DSMT4">
                  <p:embed/>
                  <p:pic>
                    <p:nvPicPr>
                      <p:cNvPr id="0" name=""/>
                      <p:cNvPicPr/>
                      <p:nvPr/>
                    </p:nvPicPr>
                    <p:blipFill>
                      <a:blip r:embed="rId42"/>
                      <a:stretch>
                        <a:fillRect/>
                      </a:stretch>
                    </p:blipFill>
                    <p:spPr>
                      <a:xfrm>
                        <a:off x="6734012" y="3087846"/>
                        <a:ext cx="414909" cy="215138"/>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47470175"/>
              </p:ext>
            </p:extLst>
          </p:nvPr>
        </p:nvGraphicFramePr>
        <p:xfrm>
          <a:off x="1919962" y="3479714"/>
          <a:ext cx="507111" cy="215138"/>
        </p:xfrm>
        <a:graphic>
          <a:graphicData uri="http://schemas.openxmlformats.org/presentationml/2006/ole">
            <mc:AlternateContent xmlns:mc="http://schemas.openxmlformats.org/markup-compatibility/2006">
              <mc:Choice xmlns:v="urn:schemas-microsoft-com:vml" Requires="v">
                <p:oleObj spid="_x0000_s5167" name="Equation" r:id="rId43" imgW="419040" imgH="177480" progId="Equation.DSMT4">
                  <p:embed/>
                </p:oleObj>
              </mc:Choice>
              <mc:Fallback>
                <p:oleObj name="Equation" r:id="rId43" imgW="419040" imgH="177480" progId="Equation.DSMT4">
                  <p:embed/>
                  <p:pic>
                    <p:nvPicPr>
                      <p:cNvPr id="0" name=""/>
                      <p:cNvPicPr/>
                      <p:nvPr/>
                    </p:nvPicPr>
                    <p:blipFill>
                      <a:blip r:embed="rId44"/>
                      <a:stretch>
                        <a:fillRect/>
                      </a:stretch>
                    </p:blipFill>
                    <p:spPr>
                      <a:xfrm>
                        <a:off x="1919962" y="3479714"/>
                        <a:ext cx="507111" cy="215138"/>
                      </a:xfrm>
                      <a:prstGeom prst="rect">
                        <a:avLst/>
                      </a:prstGeom>
                      <a:solidFill>
                        <a:schemeClr val="bg1"/>
                      </a:solidFill>
                    </p:spPr>
                  </p:pic>
                </p:oleObj>
              </mc:Fallback>
            </mc:AlternateContent>
          </a:graphicData>
        </a:graphic>
      </p:graphicFrame>
      <p:graphicFrame>
        <p:nvGraphicFramePr>
          <p:cNvPr id="13" name="Object 12">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56505571"/>
              </p:ext>
            </p:extLst>
          </p:nvPr>
        </p:nvGraphicFramePr>
        <p:xfrm>
          <a:off x="3092736" y="3479718"/>
          <a:ext cx="414909" cy="215138"/>
        </p:xfrm>
        <a:graphic>
          <a:graphicData uri="http://schemas.openxmlformats.org/presentationml/2006/ole">
            <mc:AlternateContent xmlns:mc="http://schemas.openxmlformats.org/markup-compatibility/2006">
              <mc:Choice xmlns:v="urn:schemas-microsoft-com:vml" Requires="v">
                <p:oleObj spid="_x0000_s5168" name="Equation" r:id="rId45" imgW="342720" imgH="177480" progId="Equation.DSMT4">
                  <p:embed/>
                </p:oleObj>
              </mc:Choice>
              <mc:Fallback>
                <p:oleObj name="Equation" r:id="rId45" imgW="342720" imgH="177480" progId="Equation.DSMT4">
                  <p:embed/>
                  <p:pic>
                    <p:nvPicPr>
                      <p:cNvPr id="0" name=""/>
                      <p:cNvPicPr/>
                      <p:nvPr/>
                    </p:nvPicPr>
                    <p:blipFill>
                      <a:blip r:embed="rId46"/>
                      <a:stretch>
                        <a:fillRect/>
                      </a:stretch>
                    </p:blipFill>
                    <p:spPr>
                      <a:xfrm>
                        <a:off x="3092736" y="3479718"/>
                        <a:ext cx="414909" cy="215138"/>
                      </a:xfrm>
                      <a:prstGeom prst="rect">
                        <a:avLst/>
                      </a:prstGeom>
                      <a:solidFill>
                        <a:schemeClr val="bg1"/>
                      </a:solidFill>
                    </p:spPr>
                  </p:pic>
                </p:oleObj>
              </mc:Fallback>
            </mc:AlternateContent>
          </a:graphicData>
        </a:graphic>
      </p:graphicFrame>
      <p:graphicFrame>
        <p:nvGraphicFramePr>
          <p:cNvPr id="18" name="Object 17">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60641852"/>
              </p:ext>
            </p:extLst>
          </p:nvPr>
        </p:nvGraphicFramePr>
        <p:xfrm>
          <a:off x="4349070" y="3479738"/>
          <a:ext cx="384175" cy="215138"/>
        </p:xfrm>
        <a:graphic>
          <a:graphicData uri="http://schemas.openxmlformats.org/presentationml/2006/ole">
            <mc:AlternateContent xmlns:mc="http://schemas.openxmlformats.org/markup-compatibility/2006">
              <mc:Choice xmlns:v="urn:schemas-microsoft-com:vml" Requires="v">
                <p:oleObj spid="_x0000_s5169" name="Equation" r:id="rId47" imgW="317160" imgH="177480" progId="Equation.DSMT4">
                  <p:embed/>
                </p:oleObj>
              </mc:Choice>
              <mc:Fallback>
                <p:oleObj name="Equation" r:id="rId47" imgW="317160" imgH="177480" progId="Equation.DSMT4">
                  <p:embed/>
                  <p:pic>
                    <p:nvPicPr>
                      <p:cNvPr id="0" name=""/>
                      <p:cNvPicPr/>
                      <p:nvPr/>
                    </p:nvPicPr>
                    <p:blipFill>
                      <a:blip r:embed="rId48"/>
                      <a:stretch>
                        <a:fillRect/>
                      </a:stretch>
                    </p:blipFill>
                    <p:spPr>
                      <a:xfrm>
                        <a:off x="4349070" y="3479738"/>
                        <a:ext cx="384175" cy="215138"/>
                      </a:xfrm>
                      <a:prstGeom prst="rect">
                        <a:avLst/>
                      </a:prstGeom>
                      <a:solidFill>
                        <a:schemeClr val="bg1"/>
                      </a:solidFill>
                    </p:spPr>
                  </p:pic>
                </p:oleObj>
              </mc:Fallback>
            </mc:AlternateContent>
          </a:graphicData>
        </a:graphic>
      </p:graphicFrame>
      <p:graphicFrame>
        <p:nvGraphicFramePr>
          <p:cNvPr id="23" name="Object 22">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65907219"/>
              </p:ext>
            </p:extLst>
          </p:nvPr>
        </p:nvGraphicFramePr>
        <p:xfrm>
          <a:off x="5504565" y="3463395"/>
          <a:ext cx="522478" cy="215138"/>
        </p:xfrm>
        <a:graphic>
          <a:graphicData uri="http://schemas.openxmlformats.org/presentationml/2006/ole">
            <mc:AlternateContent xmlns:mc="http://schemas.openxmlformats.org/markup-compatibility/2006">
              <mc:Choice xmlns:v="urn:schemas-microsoft-com:vml" Requires="v">
                <p:oleObj spid="_x0000_s5170" name="Equation" r:id="rId49" imgW="431640" imgH="177480" progId="Equation.DSMT4">
                  <p:embed/>
                </p:oleObj>
              </mc:Choice>
              <mc:Fallback>
                <p:oleObj name="Equation" r:id="rId49" imgW="431640" imgH="177480" progId="Equation.DSMT4">
                  <p:embed/>
                  <p:pic>
                    <p:nvPicPr>
                      <p:cNvPr id="0" name=""/>
                      <p:cNvPicPr/>
                      <p:nvPr/>
                    </p:nvPicPr>
                    <p:blipFill>
                      <a:blip r:embed="rId50"/>
                      <a:stretch>
                        <a:fillRect/>
                      </a:stretch>
                    </p:blipFill>
                    <p:spPr>
                      <a:xfrm>
                        <a:off x="5504565" y="3463395"/>
                        <a:ext cx="522478" cy="215138"/>
                      </a:xfrm>
                      <a:prstGeom prst="rect">
                        <a:avLst/>
                      </a:prstGeom>
                      <a:solidFill>
                        <a:schemeClr val="bg1"/>
                      </a:solidFill>
                    </p:spPr>
                  </p:pic>
                </p:oleObj>
              </mc:Fallback>
            </mc:AlternateContent>
          </a:graphicData>
        </a:graphic>
      </p:graphicFrame>
      <p:graphicFrame>
        <p:nvGraphicFramePr>
          <p:cNvPr id="28" name="Object 27">
            <a:extLst>
              <a:ext uri="{C183D7F6-B498-43B3-948B-1728B52AA6E4}">
                <adec:decorative xmlns=""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051552966"/>
              </p:ext>
            </p:extLst>
          </p:nvPr>
        </p:nvGraphicFramePr>
        <p:xfrm>
          <a:off x="6734003" y="3479720"/>
          <a:ext cx="414909" cy="215138"/>
        </p:xfrm>
        <a:graphic>
          <a:graphicData uri="http://schemas.openxmlformats.org/presentationml/2006/ole">
            <mc:AlternateContent xmlns:mc="http://schemas.openxmlformats.org/markup-compatibility/2006">
              <mc:Choice xmlns:v="urn:schemas-microsoft-com:vml" Requires="v">
                <p:oleObj spid="_x0000_s5171" name="Equation" r:id="rId51" imgW="342720" imgH="177480" progId="Equation.DSMT4">
                  <p:embed/>
                </p:oleObj>
              </mc:Choice>
              <mc:Fallback>
                <p:oleObj name="Equation" r:id="rId51" imgW="342720" imgH="177480" progId="Equation.DSMT4">
                  <p:embed/>
                  <p:pic>
                    <p:nvPicPr>
                      <p:cNvPr id="0" name=""/>
                      <p:cNvPicPr/>
                      <p:nvPr/>
                    </p:nvPicPr>
                    <p:blipFill>
                      <a:blip r:embed="rId52"/>
                      <a:stretch>
                        <a:fillRect/>
                      </a:stretch>
                    </p:blipFill>
                    <p:spPr>
                      <a:xfrm>
                        <a:off x="6734003" y="3479720"/>
                        <a:ext cx="414909" cy="215138"/>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4120385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21.11 Gross Public Debt to G</a:t>
            </a:r>
            <a:r>
              <a:rPr lang="en-US" altLang="en-US" sz="100" dirty="0"/>
              <a:t> </a:t>
            </a:r>
            <a:r>
              <a:rPr lang="en-US" altLang="en-US" sz="3200" dirty="0"/>
              <a:t>D</a:t>
            </a:r>
            <a:r>
              <a:rPr lang="en-US" altLang="en-US" sz="100" dirty="0"/>
              <a:t> </a:t>
            </a:r>
            <a:r>
              <a:rPr lang="en-US" altLang="en-US" sz="3200" dirty="0"/>
              <a:t>P Ratios in the Euro Area</a:t>
            </a:r>
            <a:endParaRPr lang="en-IN" sz="3200" dirty="0"/>
          </a:p>
        </p:txBody>
      </p:sp>
      <p:pic>
        <p:nvPicPr>
          <p:cNvPr id="5" name="Content Placeholder 4" descr="The graph depicts general government gross debt in percent of G D P versus year, 19 95 to 20 15.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852233" y="1634119"/>
            <a:ext cx="5439534" cy="3048425"/>
          </a:xfrm>
        </p:spPr>
      </p:pic>
      <p:sp>
        <p:nvSpPr>
          <p:cNvPr id="4" name="Content Placeholder 3"/>
          <p:cNvSpPr>
            <a:spLocks noGrp="1"/>
          </p:cNvSpPr>
          <p:nvPr>
            <p:ph sz="quarter" idx="14"/>
          </p:nvPr>
        </p:nvSpPr>
        <p:spPr>
          <a:xfrm>
            <a:off x="457200" y="4934856"/>
            <a:ext cx="8229600" cy="1422400"/>
          </a:xfrm>
        </p:spPr>
        <p:txBody>
          <a:bodyPr/>
          <a:lstStyle/>
          <a:p>
            <a:pPr marL="0" indent="0">
              <a:buNone/>
            </a:pPr>
            <a:r>
              <a:rPr lang="en-US" sz="1800" dirty="0"/>
              <a:t>Public debts in the euro area grew rapidly after 2007, in part due to the need for governments to support their weak banks.</a:t>
            </a:r>
          </a:p>
          <a:p>
            <a:pPr marL="0" indent="0">
              <a:buNone/>
            </a:pPr>
            <a:r>
              <a:rPr lang="en-US" sz="1800" b="1" dirty="0"/>
              <a:t>Source: </a:t>
            </a:r>
            <a:r>
              <a:rPr lang="en-US" sz="1800" dirty="0"/>
              <a:t>International Monetary Fund, </a:t>
            </a:r>
            <a:r>
              <a:rPr lang="en-US" sz="1800" b="1" dirty="0"/>
              <a:t>World Economic Outlook</a:t>
            </a:r>
            <a:r>
              <a:rPr lang="en-US" sz="1800" i="1" dirty="0"/>
              <a:t> </a:t>
            </a:r>
            <a:r>
              <a:rPr lang="en-US" sz="1800" dirty="0"/>
              <a:t>database, October 2019.</a:t>
            </a:r>
            <a:endParaRPr lang="en-IN" sz="1800" dirty="0"/>
          </a:p>
        </p:txBody>
      </p:sp>
    </p:spTree>
    <p:extLst>
      <p:ext uri="{BB962C8B-B14F-4D97-AF65-F5344CB8AC3E}">
        <p14:creationId xmlns:p14="http://schemas.microsoft.com/office/powerpoint/2010/main" val="26624979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8229600" cy="1251479"/>
          </a:xfrm>
        </p:spPr>
        <p:txBody>
          <a:bodyPr/>
          <a:lstStyle/>
          <a:p>
            <a:r>
              <a:rPr lang="en-US" altLang="en-US"/>
              <a:t>Is the E</a:t>
            </a:r>
            <a:r>
              <a:rPr lang="en-US" altLang="en-US" sz="100"/>
              <a:t> </a:t>
            </a:r>
            <a:r>
              <a:rPr lang="en-US" altLang="en-US"/>
              <a:t>U an Optimum Currency Area? </a:t>
            </a:r>
            <a:r>
              <a:rPr lang="en-US" altLang="en-US" sz="2000" b="0"/>
              <a:t>(4 of 4)</a:t>
            </a:r>
            <a:endParaRPr lang="en-US"/>
          </a:p>
        </p:txBody>
      </p:sp>
      <p:sp>
        <p:nvSpPr>
          <p:cNvPr id="3" name="Content Placeholder 2"/>
          <p:cNvSpPr>
            <a:spLocks noGrp="1"/>
          </p:cNvSpPr>
          <p:nvPr>
            <p:ph sz="quarter" idx="13"/>
          </p:nvPr>
        </p:nvSpPr>
        <p:spPr>
          <a:xfrm>
            <a:off x="457200" y="1733549"/>
            <a:ext cx="8229600" cy="4409673"/>
          </a:xfrm>
        </p:spPr>
        <p:txBody>
          <a:bodyPr/>
          <a:lstStyle/>
          <a:p>
            <a:r>
              <a:rPr lang="en-US" altLang="en-US"/>
              <a:t>There is evidence that financial assets were able to move more freely within the E</a:t>
            </a:r>
            <a:r>
              <a:rPr lang="en-US" altLang="en-US" sz="100"/>
              <a:t> </a:t>
            </a:r>
            <a:r>
              <a:rPr lang="en-US" altLang="en-US"/>
              <a:t>U after 1992 and 1999.</a:t>
            </a:r>
          </a:p>
          <a:p>
            <a:r>
              <a:rPr lang="en-US" altLang="en-US"/>
              <a:t>But capital mobility without labor mobility can make the economic stability loss greater.</a:t>
            </a:r>
          </a:p>
          <a:p>
            <a:pPr lvl="1"/>
            <a:r>
              <a:rPr lang="en-US" altLang="en-US"/>
              <a:t>After a reduction of aggregate demand in a particular E</a:t>
            </a:r>
            <a:r>
              <a:rPr lang="en-US" altLang="en-US" sz="100"/>
              <a:t> </a:t>
            </a:r>
            <a:r>
              <a:rPr lang="en-US" altLang="en-US"/>
              <a:t>U country, financial assets could be easily transferred elsewhere while labor is stuck.</a:t>
            </a:r>
          </a:p>
          <a:p>
            <a:pPr lvl="1"/>
            <a:r>
              <a:rPr lang="en-US" altLang="en-US"/>
              <a:t>The loss of financial assets could further reduce production and employment.</a:t>
            </a:r>
            <a:endParaRPr lang="en-US"/>
          </a:p>
        </p:txBody>
      </p:sp>
    </p:spTree>
    <p:extLst>
      <p:ext uri="{BB962C8B-B14F-4D97-AF65-F5344CB8AC3E}">
        <p14:creationId xmlns:p14="http://schemas.microsoft.com/office/powerpoint/2010/main" val="657841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a:t>Other Considerations for an E</a:t>
            </a:r>
            <a:r>
              <a:rPr lang="en-US" altLang="en-US" sz="100"/>
              <a:t> </a:t>
            </a:r>
            <a:r>
              <a:rPr lang="en-US" altLang="en-US" sz="3400"/>
              <a:t>M</a:t>
            </a:r>
            <a:r>
              <a:rPr lang="en-US" altLang="en-US" sz="100"/>
              <a:t> </a:t>
            </a:r>
            <a:r>
              <a:rPr lang="en-US" altLang="en-US" sz="3400"/>
              <a:t>U</a:t>
            </a:r>
            <a:r>
              <a:rPr lang="en-US" altLang="en-US" sz="2000"/>
              <a:t> </a:t>
            </a:r>
            <a:r>
              <a:rPr lang="en-US" altLang="en-US" sz="2000" b="0"/>
              <a:t>(1 of 3)</a:t>
            </a:r>
            <a:endParaRPr lang="en-US" sz="2000"/>
          </a:p>
        </p:txBody>
      </p:sp>
      <p:sp>
        <p:nvSpPr>
          <p:cNvPr id="3" name="Content Placeholder 2"/>
          <p:cNvSpPr>
            <a:spLocks noGrp="1"/>
          </p:cNvSpPr>
          <p:nvPr>
            <p:ph sz="quarter" idx="13"/>
          </p:nvPr>
        </p:nvSpPr>
        <p:spPr/>
        <p:txBody>
          <a:bodyPr/>
          <a:lstStyle/>
          <a:p>
            <a:r>
              <a:rPr lang="en-US" altLang="en-US"/>
              <a:t>The </a:t>
            </a:r>
            <a:r>
              <a:rPr lang="en-US" altLang="en-US" b="1"/>
              <a:t>structure of the economies </a:t>
            </a:r>
            <a:r>
              <a:rPr lang="en-US" altLang="en-US"/>
              <a:t>in the EU</a:t>
            </a:r>
            <a:r>
              <a:rPr lang="en-US" altLang="ja-JP"/>
              <a:t>’s economic and monetary union is important for determining how members respond to aggregate demand shocks.</a:t>
            </a:r>
          </a:p>
          <a:p>
            <a:pPr lvl="1"/>
            <a:r>
              <a:rPr lang="en-US" altLang="en-US"/>
              <a:t>The economies of E</a:t>
            </a:r>
            <a:r>
              <a:rPr lang="en-US" altLang="en-US" sz="100"/>
              <a:t> </a:t>
            </a:r>
            <a:r>
              <a:rPr lang="en-US" altLang="en-US"/>
              <a:t>U members are similar in the sense that there is a high volume of </a:t>
            </a:r>
            <a:r>
              <a:rPr lang="en-US" altLang="en-US" b="1"/>
              <a:t>intra-industry trade </a:t>
            </a:r>
            <a:r>
              <a:rPr lang="en-US" altLang="en-US"/>
              <a:t>relative to the total volume.</a:t>
            </a:r>
          </a:p>
          <a:p>
            <a:pPr lvl="1"/>
            <a:r>
              <a:rPr lang="en-US" altLang="en-US"/>
              <a:t>They are different in the sense that Northern European countries have </a:t>
            </a:r>
            <a:r>
              <a:rPr lang="en-US" altLang="en-US" b="1"/>
              <a:t>high levels of physical capital per worker and more skilled labor</a:t>
            </a:r>
            <a:r>
              <a:rPr lang="en-US" altLang="en-US"/>
              <a:t>, compared with Southern European countries.</a:t>
            </a:r>
          </a:p>
        </p:txBody>
      </p:sp>
    </p:spTree>
    <p:extLst>
      <p:ext uri="{BB962C8B-B14F-4D97-AF65-F5344CB8AC3E}">
        <p14:creationId xmlns:p14="http://schemas.microsoft.com/office/powerpoint/2010/main" val="27588607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Other Considerations for an E</a:t>
            </a:r>
            <a:r>
              <a:rPr lang="en-US" altLang="en-US" sz="100" dirty="0"/>
              <a:t> </a:t>
            </a:r>
            <a:r>
              <a:rPr lang="en-US" altLang="en-US" sz="3400" dirty="0"/>
              <a:t>M</a:t>
            </a:r>
            <a:r>
              <a:rPr lang="en-US" altLang="en-US" sz="100" dirty="0"/>
              <a:t> </a:t>
            </a:r>
            <a:r>
              <a:rPr lang="en-US" altLang="en-US" sz="3400" dirty="0"/>
              <a:t>U</a:t>
            </a:r>
            <a:r>
              <a:rPr lang="en-US" altLang="en-US" sz="2000" dirty="0"/>
              <a:t> </a:t>
            </a:r>
            <a:r>
              <a:rPr lang="en-US" altLang="en-US" sz="2000" b="0" dirty="0"/>
              <a:t>(2 of 3)</a:t>
            </a:r>
            <a:endParaRPr lang="en-IN" sz="2000" dirty="0"/>
          </a:p>
        </p:txBody>
      </p:sp>
      <p:sp>
        <p:nvSpPr>
          <p:cNvPr id="3" name="Content Placeholder 2"/>
          <p:cNvSpPr>
            <a:spLocks noGrp="1"/>
          </p:cNvSpPr>
          <p:nvPr>
            <p:ph sz="quarter" idx="13"/>
          </p:nvPr>
        </p:nvSpPr>
        <p:spPr/>
        <p:txBody>
          <a:bodyPr/>
          <a:lstStyle/>
          <a:p>
            <a:pPr lvl="1"/>
            <a:r>
              <a:rPr lang="en-US" altLang="en-US" dirty="0"/>
              <a:t>How an E</a:t>
            </a:r>
            <a:r>
              <a:rPr lang="en-US" altLang="en-US" sz="100" dirty="0"/>
              <a:t> </a:t>
            </a:r>
            <a:r>
              <a:rPr lang="en-US" altLang="en-US" dirty="0"/>
              <a:t>U member responds to aggregate demand shocks may depend on how the structure of its economy compares to that of fellow E</a:t>
            </a:r>
            <a:r>
              <a:rPr lang="en-US" altLang="en-US" sz="100" dirty="0"/>
              <a:t> </a:t>
            </a:r>
            <a:r>
              <a:rPr lang="en-US" altLang="en-US" dirty="0"/>
              <a:t>U members.</a:t>
            </a:r>
          </a:p>
          <a:p>
            <a:pPr lvl="1"/>
            <a:r>
              <a:rPr lang="en-US" altLang="en-US" dirty="0"/>
              <a:t>For example, the effects on an E</a:t>
            </a:r>
            <a:r>
              <a:rPr lang="en-US" altLang="en-US" sz="100" dirty="0"/>
              <a:t> </a:t>
            </a:r>
            <a:r>
              <a:rPr lang="en-US" altLang="en-US" dirty="0"/>
              <a:t>U member of a reduction in aggregate demand caused by a reduction in demand in the software industry will depend on whether the E</a:t>
            </a:r>
            <a:r>
              <a:rPr lang="en-US" altLang="en-US" sz="100" dirty="0"/>
              <a:t> </a:t>
            </a:r>
            <a:r>
              <a:rPr lang="en-US" altLang="en-US" dirty="0"/>
              <a:t>U member has a large number of workers skilled in programming relative to fellow E</a:t>
            </a:r>
            <a:r>
              <a:rPr lang="en-US" altLang="en-US" sz="100" dirty="0"/>
              <a:t> </a:t>
            </a:r>
            <a:r>
              <a:rPr lang="en-US" altLang="en-US" dirty="0"/>
              <a:t>U members.</a:t>
            </a:r>
            <a:endParaRPr lang="en-IN" dirty="0"/>
          </a:p>
        </p:txBody>
      </p:sp>
    </p:spTree>
    <p:extLst>
      <p:ext uri="{BB962C8B-B14F-4D97-AF65-F5344CB8AC3E}">
        <p14:creationId xmlns:p14="http://schemas.microsoft.com/office/powerpoint/2010/main" val="37268160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a:t>Other Considerations for an E</a:t>
            </a:r>
            <a:r>
              <a:rPr lang="en-US" altLang="en-US" sz="100"/>
              <a:t> </a:t>
            </a:r>
            <a:r>
              <a:rPr lang="en-US" altLang="en-US" sz="3400"/>
              <a:t>M</a:t>
            </a:r>
            <a:r>
              <a:rPr lang="en-US" altLang="en-US" sz="100"/>
              <a:t> </a:t>
            </a:r>
            <a:r>
              <a:rPr lang="en-US" altLang="en-US" sz="3400"/>
              <a:t>U</a:t>
            </a:r>
            <a:r>
              <a:rPr lang="en-US" altLang="en-US"/>
              <a:t> </a:t>
            </a:r>
            <a:r>
              <a:rPr lang="en-US" altLang="en-US" sz="2000" b="0"/>
              <a:t>(3 of 3)</a:t>
            </a:r>
            <a:endParaRPr lang="en-US"/>
          </a:p>
        </p:txBody>
      </p:sp>
      <p:sp>
        <p:nvSpPr>
          <p:cNvPr id="3" name="Content Placeholder 2"/>
          <p:cNvSpPr>
            <a:spLocks noGrp="1"/>
          </p:cNvSpPr>
          <p:nvPr>
            <p:ph sz="quarter" idx="13"/>
          </p:nvPr>
        </p:nvSpPr>
        <p:spPr/>
        <p:txBody>
          <a:bodyPr/>
          <a:lstStyle/>
          <a:p>
            <a:r>
              <a:rPr lang="en-US" altLang="en-US"/>
              <a:t>The </a:t>
            </a:r>
            <a:r>
              <a:rPr lang="en-US" altLang="en-US" b="1"/>
              <a:t>amount of transfers</a:t>
            </a:r>
            <a:r>
              <a:rPr lang="en-US" altLang="en-US"/>
              <a:t> among the E</a:t>
            </a:r>
            <a:r>
              <a:rPr lang="en-US" altLang="en-US" sz="100"/>
              <a:t> </a:t>
            </a:r>
            <a:r>
              <a:rPr lang="en-US" altLang="en-US"/>
              <a:t>U members may also affect how E</a:t>
            </a:r>
            <a:r>
              <a:rPr lang="en-US" altLang="en-US" sz="100"/>
              <a:t> </a:t>
            </a:r>
            <a:r>
              <a:rPr lang="en-US" altLang="en-US"/>
              <a:t>U economies respond to aggregate demand shocks.</a:t>
            </a:r>
          </a:p>
          <a:p>
            <a:pPr marL="740664" lvl="1" indent="-283464"/>
            <a:r>
              <a:rPr lang="en-US" altLang="en-US"/>
              <a:t>Fiscal payments between countries in the E</a:t>
            </a:r>
            <a:r>
              <a:rPr lang="en-US" altLang="en-US" sz="100"/>
              <a:t> </a:t>
            </a:r>
            <a:r>
              <a:rPr lang="en-US" altLang="en-US"/>
              <a:t>U</a:t>
            </a:r>
            <a:r>
              <a:rPr lang="en-US" altLang="ja-JP"/>
              <a:t>’s federal system, or </a:t>
            </a:r>
            <a:r>
              <a:rPr lang="en-US" altLang="ja-JP" b="1"/>
              <a:t>fiscal federalism</a:t>
            </a:r>
            <a:r>
              <a:rPr lang="en-US" altLang="ja-JP"/>
              <a:t>, may help offset the economic stability loss from joining an economic and monetary union.</a:t>
            </a:r>
          </a:p>
          <a:p>
            <a:pPr lvl="1"/>
            <a:r>
              <a:rPr lang="en-US" altLang="en-US"/>
              <a:t>But relative to interregional transfers in the United States, little fiscal federalism occurs among E</a:t>
            </a:r>
            <a:r>
              <a:rPr lang="en-US" altLang="en-US" sz="100"/>
              <a:t> </a:t>
            </a:r>
            <a:r>
              <a:rPr lang="en-US" altLang="en-US"/>
              <a:t>U members.</a:t>
            </a:r>
            <a:endParaRPr lang="en-US"/>
          </a:p>
        </p:txBody>
      </p:sp>
    </p:spTree>
    <p:extLst>
      <p:ext uri="{BB962C8B-B14F-4D97-AF65-F5344CB8AC3E}">
        <p14:creationId xmlns:p14="http://schemas.microsoft.com/office/powerpoint/2010/main" val="2495074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Future of E</a:t>
            </a:r>
            <a:r>
              <a:rPr lang="en-US" altLang="en-US" sz="100" dirty="0"/>
              <a:t> </a:t>
            </a:r>
            <a:r>
              <a:rPr lang="en-US" altLang="en-US" dirty="0"/>
              <a:t>M</a:t>
            </a:r>
            <a:r>
              <a:rPr lang="en-US" altLang="en-US" sz="100" dirty="0"/>
              <a:t> </a:t>
            </a:r>
            <a:r>
              <a:rPr lang="en-US" altLang="en-US" dirty="0"/>
              <a:t>U </a:t>
            </a:r>
            <a:r>
              <a:rPr lang="en-US" altLang="en-US" sz="2000" b="0" dirty="0"/>
              <a:t>(1 of 2)</a:t>
            </a:r>
            <a:endParaRPr lang="en-IN" dirty="0"/>
          </a:p>
        </p:txBody>
      </p:sp>
      <p:sp>
        <p:nvSpPr>
          <p:cNvPr id="3" name="Content Placeholder 2"/>
          <p:cNvSpPr>
            <a:spLocks noGrp="1"/>
          </p:cNvSpPr>
          <p:nvPr>
            <p:ph sz="quarter" idx="13"/>
          </p:nvPr>
        </p:nvSpPr>
        <p:spPr/>
        <p:txBody>
          <a:bodyPr/>
          <a:lstStyle/>
          <a:p>
            <a:r>
              <a:rPr lang="en-US" altLang="en-US" dirty="0"/>
              <a:t>E</a:t>
            </a:r>
            <a:r>
              <a:rPr lang="en-US" altLang="en-US" sz="100" dirty="0"/>
              <a:t> </a:t>
            </a:r>
            <a:r>
              <a:rPr lang="en-US" altLang="en-US" dirty="0"/>
              <a:t>M</a:t>
            </a:r>
            <a:r>
              <a:rPr lang="en-US" altLang="en-US" sz="100" dirty="0"/>
              <a:t> </a:t>
            </a:r>
            <a:r>
              <a:rPr lang="en-US" altLang="en-US" dirty="0"/>
              <a:t>U must overcome some difficult challenges, however, if it is to survive its current crisis and prosper.</a:t>
            </a:r>
          </a:p>
          <a:p>
            <a:pPr marL="740664" lvl="1" indent="-283464"/>
            <a:r>
              <a:rPr lang="en-US" altLang="en-US" dirty="0"/>
              <a:t>Europe is not an optimum currency area. Therefore, asymmetric economic developments within different countries of the euro zone—developments that might well call for different national interest rates under a regime of individual national currencies—will remain hard to handle through monetary policy.</a:t>
            </a:r>
            <a:endParaRPr lang="en-IN" dirty="0"/>
          </a:p>
        </p:txBody>
      </p:sp>
    </p:spTree>
    <p:extLst>
      <p:ext uri="{BB962C8B-B14F-4D97-AF65-F5344CB8AC3E}">
        <p14:creationId xmlns:p14="http://schemas.microsoft.com/office/powerpoint/2010/main" val="12957785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Future of E</a:t>
            </a:r>
            <a:r>
              <a:rPr lang="en-US" altLang="en-US" sz="100" dirty="0"/>
              <a:t> </a:t>
            </a:r>
            <a:r>
              <a:rPr lang="en-US" altLang="en-US" dirty="0"/>
              <a:t>M</a:t>
            </a:r>
            <a:r>
              <a:rPr lang="en-US" altLang="en-US" sz="100" dirty="0"/>
              <a:t> </a:t>
            </a:r>
            <a:r>
              <a:rPr lang="en-US" altLang="en-US" dirty="0"/>
              <a:t>U </a:t>
            </a:r>
            <a:r>
              <a:rPr lang="en-US" altLang="en-US" sz="2000" b="0" dirty="0"/>
              <a:t>(2 of 2)</a:t>
            </a:r>
            <a:endParaRPr lang="en-IN" dirty="0"/>
          </a:p>
        </p:txBody>
      </p:sp>
      <p:sp>
        <p:nvSpPr>
          <p:cNvPr id="3" name="Content Placeholder 2"/>
          <p:cNvSpPr>
            <a:spLocks noGrp="1"/>
          </p:cNvSpPr>
          <p:nvPr>
            <p:ph sz="quarter" idx="13"/>
          </p:nvPr>
        </p:nvSpPr>
        <p:spPr>
          <a:xfrm>
            <a:off x="457200" y="1556326"/>
            <a:ext cx="8229600" cy="4787323"/>
          </a:xfrm>
        </p:spPr>
        <p:txBody>
          <a:bodyPr/>
          <a:lstStyle/>
          <a:p>
            <a:pPr marL="740664" lvl="1" indent="-283464"/>
            <a:r>
              <a:rPr lang="en-US" altLang="en-US" dirty="0"/>
              <a:t>In most E</a:t>
            </a:r>
            <a:r>
              <a:rPr lang="en-US" altLang="en-US" sz="100" dirty="0"/>
              <a:t> </a:t>
            </a:r>
            <a:r>
              <a:rPr lang="en-US" altLang="en-US" dirty="0"/>
              <a:t>U countries, labor markets remain highly unionized and subject to employment taxes and regulations that impede labor mobility between industries and regions. The result has been persistently high levels of unemployment. Unless labor markets become much more flexible, individual euro zone countries will have a hard time adjusting toward full employment and competitive real exchange rates. Other structural problems also abound.</a:t>
            </a:r>
          </a:p>
          <a:p>
            <a:r>
              <a:rPr lang="en-US" altLang="en-US" dirty="0"/>
              <a:t>Thus, the euro faces significant challenges in the years ahead.</a:t>
            </a:r>
            <a:endParaRPr lang="en-IN" dirty="0"/>
          </a:p>
        </p:txBody>
      </p:sp>
    </p:spTree>
    <p:extLst>
      <p:ext uri="{BB962C8B-B14F-4D97-AF65-F5344CB8AC3E}">
        <p14:creationId xmlns:p14="http://schemas.microsoft.com/office/powerpoint/2010/main" val="8353928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(1 of 3)</a:t>
            </a:r>
            <a:endParaRPr lang="en-IN" dirty="0"/>
          </a:p>
        </p:txBody>
      </p:sp>
      <p:sp>
        <p:nvSpPr>
          <p:cNvPr id="3" name="Content Placeholder 2"/>
          <p:cNvSpPr>
            <a:spLocks noGrp="1"/>
          </p:cNvSpPr>
          <p:nvPr>
            <p:ph sz="quarter" idx="13"/>
          </p:nvPr>
        </p:nvSpPr>
        <p:spPr>
          <a:xfrm>
            <a:off x="457200" y="1556327"/>
            <a:ext cx="8229600" cy="2972130"/>
          </a:xfrm>
        </p:spPr>
        <p:txBody>
          <a:bodyPr/>
          <a:lstStyle/>
          <a:p>
            <a:pPr marL="457200" indent="-457200">
              <a:spcBef>
                <a:spcPts val="600"/>
              </a:spcBef>
              <a:buFont typeface="Times" pitchFamily="-1" charset="0"/>
              <a:buAutoNum type="arabicPeriod"/>
            </a:pPr>
            <a:r>
              <a:rPr lang="en-US" altLang="en-US" sz="2200" dirty="0"/>
              <a:t>The E</a:t>
            </a:r>
            <a:r>
              <a:rPr lang="en-US" altLang="en-US" sz="100" dirty="0"/>
              <a:t> </a:t>
            </a:r>
            <a:r>
              <a:rPr lang="en-US" altLang="en-US" sz="2200" dirty="0"/>
              <a:t>M</a:t>
            </a:r>
            <a:r>
              <a:rPr lang="en-US" altLang="en-US" sz="100" dirty="0"/>
              <a:t> </a:t>
            </a:r>
            <a:r>
              <a:rPr lang="en-US" altLang="en-US" sz="2200" dirty="0"/>
              <a:t>S was first a system of fixed exchange rates but later developed into a more extensive coordination of economic and monetary policies: an economic and monetary union.</a:t>
            </a:r>
          </a:p>
          <a:p>
            <a:pPr marL="457200" indent="-457200">
              <a:spcBef>
                <a:spcPts val="600"/>
              </a:spcBef>
              <a:buFont typeface="Times" pitchFamily="-1" charset="0"/>
              <a:buAutoNum type="arabicPeriod"/>
            </a:pPr>
            <a:r>
              <a:rPr lang="en-US" altLang="en-US" sz="2200" dirty="0"/>
              <a:t>The Single European Act of 1986 recommended that E</a:t>
            </a:r>
            <a:r>
              <a:rPr lang="en-US" altLang="en-US" sz="100" dirty="0"/>
              <a:t> </a:t>
            </a:r>
            <a:r>
              <a:rPr lang="en-US" altLang="en-US" sz="2200" dirty="0"/>
              <a:t>U members remove barriers to trade, capital flows, and immigration by the end of 1992.</a:t>
            </a:r>
          </a:p>
          <a:p>
            <a:pPr marL="457200" indent="-457200">
              <a:spcBef>
                <a:spcPts val="600"/>
              </a:spcBef>
              <a:buFont typeface="Times" pitchFamily="-1" charset="0"/>
              <a:buAutoNum type="arabicPeriod" startAt="3"/>
            </a:pPr>
            <a:r>
              <a:rPr lang="en-US" altLang="en-US" sz="2200" dirty="0"/>
              <a:t>The Maastricht Treaty outlined three requirements for the E</a:t>
            </a:r>
            <a:r>
              <a:rPr lang="en-US" altLang="en-US" sz="100" dirty="0"/>
              <a:t> </a:t>
            </a:r>
            <a:r>
              <a:rPr lang="en-US" altLang="en-US" sz="2200" dirty="0"/>
              <a:t>M</a:t>
            </a:r>
            <a:r>
              <a:rPr lang="en-US" altLang="en-US" sz="100" dirty="0"/>
              <a:t> </a:t>
            </a:r>
            <a:r>
              <a:rPr lang="en-US" altLang="en-US" sz="2200" dirty="0"/>
              <a:t>S to become an economic and monetary union.</a:t>
            </a:r>
          </a:p>
        </p:txBody>
      </p:sp>
      <p:sp>
        <p:nvSpPr>
          <p:cNvPr id="4" name="Content Placeholder 3"/>
          <p:cNvSpPr>
            <a:spLocks noGrp="1"/>
          </p:cNvSpPr>
          <p:nvPr>
            <p:ph sz="quarter" idx="14"/>
          </p:nvPr>
        </p:nvSpPr>
        <p:spPr>
          <a:xfrm>
            <a:off x="457200" y="4580165"/>
            <a:ext cx="8229600" cy="1257300"/>
          </a:xfrm>
        </p:spPr>
        <p:txBody>
          <a:bodyPr/>
          <a:lstStyle/>
          <a:p>
            <a:pPr marL="740664" lvl="1" indent="-283464"/>
            <a:r>
              <a:rPr lang="en-US" altLang="en-US" sz="2200" dirty="0"/>
              <a:t>It also standardized many regulations and gave the E</a:t>
            </a:r>
            <a:r>
              <a:rPr lang="en-US" altLang="en-US" sz="100" dirty="0"/>
              <a:t> </a:t>
            </a:r>
            <a:r>
              <a:rPr lang="en-US" altLang="en-US" sz="2200" dirty="0"/>
              <a:t>U institutions more control over defense policies.</a:t>
            </a:r>
          </a:p>
          <a:p>
            <a:pPr marL="740664" lvl="1" indent="-283464"/>
            <a:r>
              <a:rPr lang="en-US" altLang="en-US" sz="2200" dirty="0"/>
              <a:t>It also set up penalties for spendthrift E</a:t>
            </a:r>
            <a:r>
              <a:rPr lang="en-US" altLang="en-US" sz="100" dirty="0"/>
              <a:t> </a:t>
            </a:r>
            <a:r>
              <a:rPr lang="en-US" altLang="en-US" sz="2200" dirty="0"/>
              <a:t>M</a:t>
            </a:r>
            <a:r>
              <a:rPr lang="en-US" altLang="en-US" sz="100" dirty="0"/>
              <a:t> </a:t>
            </a:r>
            <a:r>
              <a:rPr lang="en-US" altLang="en-US" sz="2200" dirty="0"/>
              <a:t>U members.</a:t>
            </a:r>
          </a:p>
        </p:txBody>
      </p:sp>
    </p:spTree>
    <p:extLst>
      <p:ext uri="{BB962C8B-B14F-4D97-AF65-F5344CB8AC3E}">
        <p14:creationId xmlns:p14="http://schemas.microsoft.com/office/powerpoint/2010/main" val="1495480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(2 of 3)</a:t>
            </a:r>
            <a:endParaRPr lang="en-IN" dirty="0"/>
          </a:p>
        </p:txBody>
      </p:sp>
      <p:sp>
        <p:nvSpPr>
          <p:cNvPr id="3" name="Content Placeholder 2"/>
          <p:cNvSpPr>
            <a:spLocks noGrp="1"/>
          </p:cNvSpPr>
          <p:nvPr>
            <p:ph sz="quarter" idx="13"/>
          </p:nvPr>
        </p:nvSpPr>
        <p:spPr>
          <a:xfrm>
            <a:off x="457200" y="1556327"/>
            <a:ext cx="8229600" cy="2231902"/>
          </a:xfrm>
        </p:spPr>
        <p:txBody>
          <a:bodyPr/>
          <a:lstStyle/>
          <a:p>
            <a:pPr marL="457200" indent="-457200">
              <a:spcBef>
                <a:spcPts val="600"/>
              </a:spcBef>
              <a:spcAft>
                <a:spcPct val="50000"/>
              </a:spcAft>
              <a:buFont typeface="+mj-lt"/>
              <a:buAutoNum type="arabicPeriod" startAt="4"/>
            </a:pPr>
            <a:r>
              <a:rPr lang="en-US" altLang="en-US" dirty="0"/>
              <a:t>A new exchange rate mechanism was defined in 1999 vis-à-vis the euro, when the euro came into existence.</a:t>
            </a:r>
          </a:p>
          <a:p>
            <a:pPr marL="457200" indent="-457200">
              <a:spcBef>
                <a:spcPts val="600"/>
              </a:spcBef>
              <a:buFont typeface="Times" pitchFamily="-1" charset="0"/>
              <a:buAutoNum type="arabicPeriod" startAt="5"/>
            </a:pPr>
            <a:r>
              <a:rPr lang="en-US" altLang="en-US" dirty="0"/>
              <a:t>An optimum currency area is a union of countries  with a high degree of economic integration among goods and services, financial assets, and labor markets.</a:t>
            </a:r>
          </a:p>
        </p:txBody>
      </p:sp>
      <p:sp>
        <p:nvSpPr>
          <p:cNvPr id="4" name="Content Placeholder 3"/>
          <p:cNvSpPr>
            <a:spLocks noGrp="1"/>
          </p:cNvSpPr>
          <p:nvPr>
            <p:ph sz="quarter" idx="14"/>
          </p:nvPr>
        </p:nvSpPr>
        <p:spPr>
          <a:xfrm>
            <a:off x="457200" y="3855809"/>
            <a:ext cx="8229600" cy="1352429"/>
          </a:xfrm>
        </p:spPr>
        <p:txBody>
          <a:bodyPr tIns="0"/>
          <a:lstStyle/>
          <a:p>
            <a:pPr lvl="1"/>
            <a:r>
              <a:rPr lang="en-US" altLang="en-US" dirty="0"/>
              <a:t>It is an area where the monetary efficiency gain of joining a fixed exchange rate system is at least as large as the economic stability loss.</a:t>
            </a:r>
            <a:endParaRPr lang="en-IN" dirty="0"/>
          </a:p>
        </p:txBody>
      </p:sp>
    </p:spTree>
    <p:extLst>
      <p:ext uri="{BB962C8B-B14F-4D97-AF65-F5344CB8AC3E}">
        <p14:creationId xmlns:p14="http://schemas.microsoft.com/office/powerpoint/2010/main" val="30546189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(3 of 3)</a:t>
            </a:r>
            <a:endParaRPr lang="en-IN" dirty="0"/>
          </a:p>
        </p:txBody>
      </p:sp>
      <p:sp>
        <p:nvSpPr>
          <p:cNvPr id="3" name="Content Placeholder 2"/>
          <p:cNvSpPr>
            <a:spLocks noGrp="1"/>
          </p:cNvSpPr>
          <p:nvPr>
            <p:ph sz="quarter" idx="13"/>
          </p:nvPr>
        </p:nvSpPr>
        <p:spPr>
          <a:xfrm>
            <a:off x="457200" y="1556327"/>
            <a:ext cx="8091714" cy="4586896"/>
          </a:xfrm>
        </p:spPr>
        <p:txBody>
          <a:bodyPr/>
          <a:lstStyle/>
          <a:p>
            <a:pPr marL="457200" indent="-457200">
              <a:spcBef>
                <a:spcPts val="600"/>
              </a:spcBef>
              <a:buFont typeface="+mj-lt"/>
              <a:buAutoNum type="arabicPeriod" startAt="6"/>
            </a:pPr>
            <a:r>
              <a:rPr lang="en-US" altLang="en-US" dirty="0"/>
              <a:t>The E</a:t>
            </a:r>
            <a:r>
              <a:rPr lang="en-US" altLang="en-US" sz="100" dirty="0"/>
              <a:t> </a:t>
            </a:r>
            <a:r>
              <a:rPr lang="en-US" altLang="en-US" dirty="0"/>
              <a:t>U does not have a large degree of labor mobility due to differences in culture and due to unionization and regulation.</a:t>
            </a:r>
          </a:p>
          <a:p>
            <a:pPr marL="457200" indent="-457200">
              <a:spcBef>
                <a:spcPts val="600"/>
              </a:spcBef>
              <a:buFont typeface="Times" pitchFamily="-1" charset="0"/>
              <a:buAutoNum type="arabicPeriod" startAt="6"/>
            </a:pPr>
            <a:r>
              <a:rPr lang="en-US" altLang="en-US" dirty="0"/>
              <a:t>The E</a:t>
            </a:r>
            <a:r>
              <a:rPr lang="en-US" altLang="en-US" sz="100" dirty="0"/>
              <a:t> </a:t>
            </a:r>
            <a:r>
              <a:rPr lang="en-US" altLang="en-US" dirty="0"/>
              <a:t>U is not an optimum currency area.</a:t>
            </a:r>
            <a:endParaRPr lang="en-IN" dirty="0"/>
          </a:p>
        </p:txBody>
      </p:sp>
    </p:spTree>
    <p:extLst>
      <p:ext uri="{BB962C8B-B14F-4D97-AF65-F5344CB8AC3E}">
        <p14:creationId xmlns:p14="http://schemas.microsoft.com/office/powerpoint/2010/main" val="1166993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147893</TotalTime>
  <Words>6316</Words>
  <Application>Microsoft Office PowerPoint</Application>
  <PresentationFormat>On-screen Show (4:3)</PresentationFormat>
  <Paragraphs>392</Paragraphs>
  <Slides>61</Slides>
  <Notes>14</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61</vt:i4>
      </vt:variant>
    </vt:vector>
  </HeadingPairs>
  <TitlesOfParts>
    <vt:vector size="70" baseType="lpstr">
      <vt:lpstr>Calibri</vt:lpstr>
      <vt:lpstr>Verdana</vt:lpstr>
      <vt:lpstr>Times New Roman</vt:lpstr>
      <vt:lpstr>Noto Sans Symbols</vt:lpstr>
      <vt:lpstr>Arial</vt:lpstr>
      <vt:lpstr>Times</vt:lpstr>
      <vt:lpstr>USHE</vt:lpstr>
      <vt:lpstr>USHE_slide options</vt:lpstr>
      <vt:lpstr>Equation</vt:lpstr>
      <vt:lpstr>International Economics: Theory and Policy</vt:lpstr>
      <vt:lpstr>Learning Objectives (1 of 2)</vt:lpstr>
      <vt:lpstr>Learning Objectives (2 of 2)</vt:lpstr>
      <vt:lpstr>Preview</vt:lpstr>
      <vt:lpstr>What Is the E U?</vt:lpstr>
      <vt:lpstr>What Is the E M S?</vt:lpstr>
      <vt:lpstr>Membership of the Economic and Monetary Union</vt:lpstr>
      <vt:lpstr>Membership of the E U</vt:lpstr>
      <vt:lpstr>Figure 21.1 Members of the Euro Zone as of January 1, 2021</vt:lpstr>
      <vt:lpstr>Table 21.1 A Brief Glossary of Euronyms</vt:lpstr>
      <vt:lpstr>Why the E U?</vt:lpstr>
      <vt:lpstr>Why the Euro (E M U)?</vt:lpstr>
      <vt:lpstr>The E M S: 1979–1998 (1 of 4)</vt:lpstr>
      <vt:lpstr>The EMS: 1979–1998 (2 of 4)</vt:lpstr>
      <vt:lpstr>The EMS: 1979–1998 (3 of 4)</vt:lpstr>
      <vt:lpstr>The EMS: 1979–1998 (4 of 4)</vt:lpstr>
      <vt:lpstr>Brexit (1 of 2)</vt:lpstr>
      <vt:lpstr>Brexit (2 of 2)</vt:lpstr>
      <vt:lpstr>U.S. Dollars per Pound, 05/2016-08/2018</vt:lpstr>
      <vt:lpstr>Figure 21.2 Inflation Convergence for Six Original E M S Members, 1978–2019</vt:lpstr>
      <vt:lpstr>Policies of the E U and E M S (1 of 4)</vt:lpstr>
      <vt:lpstr>Policies of the E U and E M S (2 of 4)</vt:lpstr>
      <vt:lpstr>Policies of the E U and E M S (3 of 4)</vt:lpstr>
      <vt:lpstr>Policies of the EU and EMS (4 of 4)</vt:lpstr>
      <vt:lpstr>Theory of Optimum Currency Areas (1 of 12)</vt:lpstr>
      <vt:lpstr>Theory of Optimum Currency Areas (2 of 12)</vt:lpstr>
      <vt:lpstr>Theory of Optimum Currency Areas (3 of 12)</vt:lpstr>
      <vt:lpstr>Theory of Optimum Currency Areas (4 of 12)</vt:lpstr>
      <vt:lpstr>Figure 21.3 The G G Schedule</vt:lpstr>
      <vt:lpstr>Theory of Optimum Currency Areas (5 of 12)</vt:lpstr>
      <vt:lpstr>Theory of Optimum Currency Areas (6 of 12)</vt:lpstr>
      <vt:lpstr>Theory of Optimum Currency Areas (7 of 12)</vt:lpstr>
      <vt:lpstr>Theory of Optimum Currency Areas (8 of 12)</vt:lpstr>
      <vt:lpstr>Theory of Optimum Currency Areas (9 of 12)</vt:lpstr>
      <vt:lpstr>Theory of Optimum Currency Areas (10 of 12)</vt:lpstr>
      <vt:lpstr>Figure 21.4 The L L Schedule</vt:lpstr>
      <vt:lpstr>Theory of Optimum Currency Areas (11 of 12)</vt:lpstr>
      <vt:lpstr>Figure 21.5 Deciding When to Peg the Exchange Rate</vt:lpstr>
      <vt:lpstr>Theory of Optimum Currency Areas (12 of 12)</vt:lpstr>
      <vt:lpstr>Figure 21.6 An Increase in Output Market Variability</vt:lpstr>
      <vt:lpstr>Is the E U an Optimum Currency Area? (1 of 4)</vt:lpstr>
      <vt:lpstr>Figure 21.7 Unemployment Rates in Selected E U Countries</vt:lpstr>
      <vt:lpstr>Is the E U an Optimum Currency Area? (2 of 4)</vt:lpstr>
      <vt:lpstr>Is the E U an Optimum Currency Area? (3 of 4)</vt:lpstr>
      <vt:lpstr>Table 21.2 People Changing Region of Residence in the 1990s (Percent of Total Population)</vt:lpstr>
      <vt:lpstr>Table 21.3 Assets of Some Individual Banks as a Ratio to National Output, End-2011</vt:lpstr>
      <vt:lpstr>Figure 21.8 Nominal Government Borrowing Spreads Over Germany</vt:lpstr>
      <vt:lpstr>Figure 21.9 Real Appreciation in Peripheral Euro Zone Countries</vt:lpstr>
      <vt:lpstr>Figure 21.10 Divergent Real Interest Rates in the Euro Zone</vt:lpstr>
      <vt:lpstr>Table 21.4 Current Account Balances of Euro Zone Countries, 2005–2009 (percent of G D P)</vt:lpstr>
      <vt:lpstr>Figure 21.11 Gross Public Debt to G D P Ratios in the Euro Area</vt:lpstr>
      <vt:lpstr>Is the E U an Optimum Currency Area? (4 of 4)</vt:lpstr>
      <vt:lpstr>Other Considerations for an E M U (1 of 3)</vt:lpstr>
      <vt:lpstr>Other Considerations for an E M U (2 of 3)</vt:lpstr>
      <vt:lpstr>Other Considerations for an E M U (3 of 3)</vt:lpstr>
      <vt:lpstr>The Future of E M U (1 of 2)</vt:lpstr>
      <vt:lpstr>The Future of E M U (2 of 2)</vt:lpstr>
      <vt:lpstr>Summary (1 of 3)</vt:lpstr>
      <vt:lpstr>Summary (2 of 3)</vt:lpstr>
      <vt:lpstr>Summary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21, Optimum Currency Areas and the Euro</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dc:description>
  <cp:lastModifiedBy>admin</cp:lastModifiedBy>
  <cp:revision>1045</cp:revision>
  <dcterms:modified xsi:type="dcterms:W3CDTF">2021-11-10T09:19:01Z</dcterms:modified>
</cp:coreProperties>
</file>