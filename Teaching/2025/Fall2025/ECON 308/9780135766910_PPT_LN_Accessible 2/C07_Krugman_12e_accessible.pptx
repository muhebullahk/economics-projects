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svg" ContentType="image/svg+xml"/>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47"/>
  </p:notesMasterIdLst>
  <p:handoutMasterIdLst>
    <p:handoutMasterId r:id="rId48"/>
  </p:handoutMasterIdLst>
  <p:sldIdLst>
    <p:sldId id="330" r:id="rId3"/>
    <p:sldId id="336" r:id="rId4"/>
    <p:sldId id="337" r:id="rId5"/>
    <p:sldId id="338" r:id="rId6"/>
    <p:sldId id="339" r:id="rId7"/>
    <p:sldId id="340" r:id="rId8"/>
    <p:sldId id="331" r:id="rId9"/>
    <p:sldId id="334" r:id="rId10"/>
    <p:sldId id="333" r:id="rId11"/>
    <p:sldId id="341" r:id="rId12"/>
    <p:sldId id="342" r:id="rId13"/>
    <p:sldId id="343" r:id="rId14"/>
    <p:sldId id="344" r:id="rId15"/>
    <p:sldId id="345" r:id="rId16"/>
    <p:sldId id="346" r:id="rId17"/>
    <p:sldId id="347" r:id="rId18"/>
    <p:sldId id="349" r:id="rId19"/>
    <p:sldId id="350" r:id="rId20"/>
    <p:sldId id="351" r:id="rId21"/>
    <p:sldId id="352" r:id="rId22"/>
    <p:sldId id="353" r:id="rId23"/>
    <p:sldId id="354" r:id="rId24"/>
    <p:sldId id="376" r:id="rId25"/>
    <p:sldId id="356" r:id="rId26"/>
    <p:sldId id="357" r:id="rId27"/>
    <p:sldId id="358" r:id="rId28"/>
    <p:sldId id="360" r:id="rId29"/>
    <p:sldId id="359" r:id="rId30"/>
    <p:sldId id="361" r:id="rId31"/>
    <p:sldId id="362" r:id="rId32"/>
    <p:sldId id="363" r:id="rId33"/>
    <p:sldId id="364" r:id="rId34"/>
    <p:sldId id="365" r:id="rId35"/>
    <p:sldId id="366" r:id="rId36"/>
    <p:sldId id="367" r:id="rId37"/>
    <p:sldId id="368" r:id="rId38"/>
    <p:sldId id="369" r:id="rId39"/>
    <p:sldId id="370" r:id="rId40"/>
    <p:sldId id="371" r:id="rId41"/>
    <p:sldId id="372" r:id="rId42"/>
    <p:sldId id="373" r:id="rId43"/>
    <p:sldId id="374" r:id="rId44"/>
    <p:sldId id="375" r:id="rId45"/>
    <p:sldId id="298" r:id="rId46"/>
  </p:sldIdLst>
  <p:sldSz cx="9144000" cy="6858000" type="screen4x3"/>
  <p:notesSz cx="6858000" cy="9144000"/>
  <p:embeddedFontLst>
    <p:embeddedFont>
      <p:font typeface="Verdana" panose="020B0604030504040204" pitchFamily="34" charset="0"/>
      <p:regular r:id="rId49"/>
      <p:bold r:id="rId50"/>
      <p:italic r:id="rId51"/>
      <p:boldItalic r:id="rId52"/>
    </p:embeddedFont>
    <p:embeddedFont>
      <p:font typeface="Noto Sans Symbols" panose="020B0604020202020204" charset="0"/>
      <p:regular r:id="rId53"/>
      <p:bold r:id="rId54"/>
      <p:italic r:id="rId55"/>
      <p:boldItalic r:id="rId56"/>
    </p:embeddedFont>
    <p:embeddedFont>
      <p:font typeface="Times" panose="02020603050405020304" pitchFamily="18" charset="0"/>
      <p:regular r:id="rId57"/>
      <p:bold r:id="rId58"/>
      <p:italic r:id="rId59"/>
      <p:boldItalic r:id="rId60"/>
    </p:embeddedFont>
    <p:embeddedFont>
      <p:font typeface="ＭＳ Ｐゴシック" panose="020B0600070205080204" pitchFamily="34" charset="-128"/>
      <p:regular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93" autoAdjust="0"/>
    <p:restoredTop sz="95110" autoAdjust="0"/>
  </p:normalViewPr>
  <p:slideViewPr>
    <p:cSldViewPr snapToGrid="0" snapToObjects="1">
      <p:cViewPr varScale="1">
        <p:scale>
          <a:sx n="73" d="100"/>
          <a:sy n="73" d="100"/>
        </p:scale>
        <p:origin x="1188" y="72"/>
      </p:cViewPr>
      <p:guideLst>
        <p:guide orient="horz" pos="3997"/>
        <p:guide pos="295"/>
        <p:guide orient="horz" pos="4178"/>
        <p:guide orient="horz" pos="119"/>
        <p:guide orient="horz" pos="822"/>
        <p:guide orient="horz" pos="981"/>
        <p:guide pos="635"/>
      </p:guideLst>
    </p:cSldViewPr>
  </p:slideViewPr>
  <p:outlineViewPr>
    <p:cViewPr>
      <p:scale>
        <a:sx n="33" d="100"/>
        <a:sy n="33" d="100"/>
      </p:scale>
      <p:origin x="0" y="-35796"/>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font" Target="fonts/font13.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56" Type="http://schemas.openxmlformats.org/officeDocument/2006/relationships/font" Target="fonts/font8.fntdata"/><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3.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1.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6.fntdata"/><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4"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5" Type="http://schemas.openxmlformats.org/officeDocument/2006/relationships/image" Target="../media/image20.wmf"/><Relationship Id="rId4"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3793790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4257213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4064951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3396105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458031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a typeface="ＭＳ Ｐゴシック" pitchFamily="34" charset="-128"/>
              </a:rPr>
              <a:t>The Ay C, average cost, curve is falls with decreasing steepness to almost flat, or forward-falling. It intersects the steeply falling D curve, a line, at point 1, where x = Q sub 1 and y = P sub 1.</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2329856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a typeface="ＭＳ Ｐゴシック" pitchFamily="34" charset="-128"/>
              </a:rPr>
              <a:t>The first graph plots price, cost per button versus Chinese button production and consumption. A forward falling Ay C China curve intersects a steeply falling D China curve at y = P China. The second graph plots price, cost per button versus U S button production and consumption. A forward falling Ay C U S curve intersects a steeply falling D U S curve at y = P U S. The intersection point is higher than the intersection point for China in the first graph.</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877024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a typeface="ＭＳ Ｐゴシック" pitchFamily="34" charset="-128"/>
              </a:rPr>
              <a:t>Curve D China intersects the curve for Ay C China at (Q sub 1, P sub 1). Curve D world intersects the curve for Ay C China at (Q sub 2, P sub 2). The intersection for D world is lower and to the right of the intersection for D China.</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437723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a typeface="ＭＳ Ｐゴシック" pitchFamily="34" charset="-128"/>
              </a:rPr>
              <a:t>The curve for D world falls with decreasing steepness and intersects the curve for Ay C China, which falls less steeply, at point 1, at (Q sub 1, P sub 1). The curve for Ay C Vietnam is below and parallel to Ay C China, and falls with decreasing steepness from y = C sub 0, which is roughly midway between y = P sub 1 and the y-intercept of the Ay C China curve. The Ay C Vietnam curve intersects the D world curve at point 2, which is lower and to the right of point 1.</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27</a:t>
            </a:fld>
            <a:endParaRPr lang="en-US" dirty="0"/>
          </a:p>
        </p:txBody>
      </p:sp>
    </p:spTree>
    <p:extLst>
      <p:ext uri="{BB962C8B-B14F-4D97-AF65-F5344CB8AC3E}">
        <p14:creationId xmlns:p14="http://schemas.microsoft.com/office/powerpoint/2010/main" val="2480804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a typeface="ＭＳ Ｐゴシック" pitchFamily="34" charset="-128"/>
              </a:rPr>
              <a:t>Curve Ay C Swiss is above and parallel to curve Ay C Thai; both fall with decreasing steepness. Curve D world intersects curve Ay C Swiss at point 1, where y = P sub 1. Curve Ay C Thai intercepts the y-axis at C sub 0. Curve D Thai intersects curve Ay C Thai at point 2, which is below and to the left of point 1, where y = P sub 2.</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31</a:t>
            </a:fld>
            <a:endParaRPr lang="en-US" dirty="0"/>
          </a:p>
        </p:txBody>
      </p:sp>
    </p:spTree>
    <p:extLst>
      <p:ext uri="{BB962C8B-B14F-4D97-AF65-F5344CB8AC3E}">
        <p14:creationId xmlns:p14="http://schemas.microsoft.com/office/powerpoint/2010/main" val="23537562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34</a:t>
            </a:fld>
            <a:endParaRPr lang="en-US" dirty="0"/>
          </a:p>
        </p:txBody>
      </p:sp>
    </p:spTree>
    <p:extLst>
      <p:ext uri="{BB962C8B-B14F-4D97-AF65-F5344CB8AC3E}">
        <p14:creationId xmlns:p14="http://schemas.microsoft.com/office/powerpoint/2010/main" val="1313148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44</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10/22/2021</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68707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3809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06490"/>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10/22/2021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199" y="2606024"/>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199" y="3122403"/>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199" y="3638782"/>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457199" y="4093981"/>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457199" y="4515422"/>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57199" y="4989191"/>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457199" y="5437879"/>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457199" y="5861167"/>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2617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10/22/2021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508783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10/22/2021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644116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image" Target="../media/image1.jpg"/><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9"/>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 id="2147483684" r:id="rId15"/>
    <p:sldLayoutId id="2147483685" r:id="rId16"/>
    <p:sldLayoutId id="2147483686"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notesSlide" Target="../notesSlides/notesSlide7.xml"/><Relationship Id="rId7" Type="http://schemas.openxmlformats.org/officeDocument/2006/relationships/oleObject" Target="../embeddings/oleObject2.bin"/><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1.bin"/><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notesSlide" Target="../notesSlides/notesSlide8.xml"/><Relationship Id="rId7" Type="http://schemas.openxmlformats.org/officeDocument/2006/relationships/oleObject" Target="../embeddings/oleObject4.bin"/><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notesSlide" Target="../notesSlides/notesSlide9.xml"/><Relationship Id="rId7" Type="http://schemas.openxmlformats.org/officeDocument/2006/relationships/oleObject" Target="../embeddings/oleObject6.bin"/><Relationship Id="rId2" Type="http://schemas.openxmlformats.org/officeDocument/2006/relationships/slideLayout" Target="../slideLayouts/slideLayout10.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notesSlide" Target="../notesSlides/notesSlide10.xml"/><Relationship Id="rId7" Type="http://schemas.openxmlformats.org/officeDocument/2006/relationships/oleObject" Target="../embeddings/oleObject8.bin"/><Relationship Id="rId12" Type="http://schemas.openxmlformats.org/officeDocument/2006/relationships/image" Target="../media/image14.wmf"/><Relationship Id="rId2" Type="http://schemas.openxmlformats.org/officeDocument/2006/relationships/slideLayout" Target="../slideLayouts/slideLayout17.xml"/><Relationship Id="rId1" Type="http://schemas.openxmlformats.org/officeDocument/2006/relationships/vmlDrawing" Target="../drawings/vmlDrawing4.vml"/><Relationship Id="rId6" Type="http://schemas.openxmlformats.org/officeDocument/2006/relationships/image" Target="../media/image11.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13.wmf"/><Relationship Id="rId4" Type="http://schemas.openxmlformats.org/officeDocument/2006/relationships/image" Target="../media/image15.tmp"/><Relationship Id="rId9" Type="http://schemas.openxmlformats.org/officeDocument/2006/relationships/oleObject" Target="../embeddings/oleObject9.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5.bin"/><Relationship Id="rId3" Type="http://schemas.openxmlformats.org/officeDocument/2006/relationships/notesSlide" Target="../notesSlides/notesSlide11.xml"/><Relationship Id="rId7" Type="http://schemas.openxmlformats.org/officeDocument/2006/relationships/oleObject" Target="../embeddings/oleObject12.bin"/><Relationship Id="rId12" Type="http://schemas.openxmlformats.org/officeDocument/2006/relationships/image" Target="../media/image19.wmf"/><Relationship Id="rId2" Type="http://schemas.openxmlformats.org/officeDocument/2006/relationships/slideLayout" Target="../slideLayouts/slideLayout17.xml"/><Relationship Id="rId1" Type="http://schemas.openxmlformats.org/officeDocument/2006/relationships/vmlDrawing" Target="../drawings/vmlDrawing5.vml"/><Relationship Id="rId6" Type="http://schemas.openxmlformats.org/officeDocument/2006/relationships/image" Target="../media/image16.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18.wmf"/><Relationship Id="rId4" Type="http://schemas.openxmlformats.org/officeDocument/2006/relationships/image" Target="../media/image21.tmp"/><Relationship Id="rId9" Type="http://schemas.openxmlformats.org/officeDocument/2006/relationships/oleObject" Target="../embeddings/oleObject13.bin"/><Relationship Id="rId14" Type="http://schemas.openxmlformats.org/officeDocument/2006/relationships/image" Target="../media/image20.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xml"/><Relationship Id="rId1" Type="http://schemas.openxmlformats.org/officeDocument/2006/relationships/vmlDrawing" Target="../drawings/vmlDrawing6.vml"/><Relationship Id="rId6" Type="http://schemas.openxmlformats.org/officeDocument/2006/relationships/image" Target="../media/image22.wmf"/><Relationship Id="rId5" Type="http://schemas.openxmlformats.org/officeDocument/2006/relationships/oleObject" Target="../embeddings/oleObject16.bin"/><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a:t>
            </a:r>
            <a:r>
              <a:rPr lang="en-US" b="1" dirty="0" smtClean="0">
                <a:latin typeface="+mn-lt"/>
              </a:rPr>
              <a:t>7</a:t>
            </a:r>
            <a:endParaRPr lang="en-US" b="1" dirty="0">
              <a:latin typeface="+mn-lt"/>
            </a:endParaRP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1319211"/>
          </a:xfrm>
        </p:spPr>
        <p:txBody>
          <a:bodyPr/>
          <a:lstStyle/>
          <a:p>
            <a:r>
              <a:rPr lang="en-US" altLang="en-US" dirty="0"/>
              <a:t>External Economies of Scale and the International Location of Production</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dirty="0" smtClean="0">
                <a:latin typeface="Verdana"/>
                <a:cs typeface="Verdana" panose="020B0604030504040204" pitchFamily="34" charset="0"/>
              </a:rPr>
              <a:t>Copyright © </a:t>
            </a:r>
            <a:r>
              <a:rPr lang="en-US" dirty="0" smtClean="0"/>
              <a:t>2022, 2018, 2015 </a:t>
            </a:r>
            <a:r>
              <a:rPr lang="en-US" altLang="en-US" sz="1200" b="0" dirty="0" smtClean="0">
                <a:latin typeface="Verdana"/>
                <a:cs typeface="Verdana" panose="020B0604030504040204" pitchFamily="34" charset="0"/>
              </a:rPr>
              <a:t>Pearson Education, Inc. All Rights Reserved</a:t>
            </a:r>
            <a:endParaRPr lang="en-US" altLang="en-US" sz="1200" b="0" dirty="0">
              <a:latin typeface="Verdana"/>
              <a:cs typeface="Verdana" panose="020B0604030504040204" pitchFamily="34" charset="0"/>
            </a:endParaRP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mj-lt"/>
              </a:rPr>
              <a:t>Learning Objectives</a:t>
            </a:r>
            <a:endParaRPr lang="en-US" sz="3600" dirty="0">
              <a:latin typeface="+mj-lt"/>
            </a:endParaRPr>
          </a:p>
        </p:txBody>
      </p:sp>
      <p:sp>
        <p:nvSpPr>
          <p:cNvPr id="4" name="Content Placeholder 3"/>
          <p:cNvSpPr>
            <a:spLocks noGrp="1"/>
          </p:cNvSpPr>
          <p:nvPr>
            <p:ph sz="quarter" idx="13"/>
          </p:nvPr>
        </p:nvSpPr>
        <p:spPr>
          <a:xfrm>
            <a:off x="457200" y="1556327"/>
            <a:ext cx="8069283" cy="4586896"/>
          </a:xfrm>
        </p:spPr>
        <p:txBody>
          <a:bodyPr/>
          <a:lstStyle/>
          <a:p>
            <a:pPr marL="0" indent="0">
              <a:buNone/>
            </a:pPr>
            <a:r>
              <a:rPr lang="en-US" b="1" dirty="0">
                <a:solidFill>
                  <a:schemeClr val="tx2"/>
                </a:solidFill>
              </a:rPr>
              <a:t>7.1</a:t>
            </a:r>
            <a:r>
              <a:rPr lang="en-US" b="1" dirty="0">
                <a:solidFill>
                  <a:schemeClr val="bg2"/>
                </a:solidFill>
              </a:rPr>
              <a:t> </a:t>
            </a:r>
            <a:r>
              <a:rPr lang="en-US" dirty="0"/>
              <a:t>Recognize why international trade often occurs from increasing returns to scale.</a:t>
            </a:r>
          </a:p>
          <a:p>
            <a:pPr marL="0" indent="0">
              <a:buNone/>
            </a:pPr>
            <a:r>
              <a:rPr lang="en-US" b="1" dirty="0">
                <a:solidFill>
                  <a:srgbClr val="007FA3"/>
                </a:solidFill>
                <a:ea typeface="Verdana" panose="020B0604030504040204" pitchFamily="34" charset="0"/>
                <a:cs typeface="Verdana" panose="020B0604030504040204" pitchFamily="34" charset="0"/>
              </a:rPr>
              <a:t>7.2 </a:t>
            </a:r>
            <a:r>
              <a:rPr lang="en-US" dirty="0"/>
              <a:t>Understand the differences between internal and external economies of scale.</a:t>
            </a:r>
          </a:p>
          <a:p>
            <a:pPr marL="0" indent="0">
              <a:buNone/>
            </a:pPr>
            <a:r>
              <a:rPr lang="en-US" b="1" dirty="0">
                <a:solidFill>
                  <a:srgbClr val="007FA3"/>
                </a:solidFill>
                <a:ea typeface="Verdana" panose="020B0604030504040204" pitchFamily="34" charset="0"/>
                <a:cs typeface="Verdana" panose="020B0604030504040204" pitchFamily="34" charset="0"/>
              </a:rPr>
              <a:t>7.3 </a:t>
            </a:r>
            <a:r>
              <a:rPr lang="en-US" dirty="0"/>
              <a:t>Discuss the sources of external economies.</a:t>
            </a:r>
          </a:p>
          <a:p>
            <a:pPr marL="0" indent="0">
              <a:buNone/>
            </a:pPr>
            <a:r>
              <a:rPr lang="en-US" b="1" dirty="0">
                <a:solidFill>
                  <a:srgbClr val="007FA3"/>
                </a:solidFill>
                <a:ea typeface="Verdana" panose="020B0604030504040204" pitchFamily="34" charset="0"/>
                <a:cs typeface="Verdana" panose="020B0604030504040204" pitchFamily="34" charset="0"/>
              </a:rPr>
              <a:t>7.4 </a:t>
            </a:r>
            <a:r>
              <a:rPr lang="en-US" dirty="0"/>
              <a:t>Discuss the roles of external economies and knowledge spillovers in shaping comparative advantage and international trade patterns.</a:t>
            </a:r>
          </a:p>
        </p:txBody>
      </p:sp>
    </p:spTree>
    <p:extLst>
      <p:ext uri="{BB962C8B-B14F-4D97-AF65-F5344CB8AC3E}">
        <p14:creationId xmlns:p14="http://schemas.microsoft.com/office/powerpoint/2010/main" val="310421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smtClean="0">
                <a:latin typeface="+mj-lt"/>
                <a:ea typeface="ヒラギノ角ゴ Pro W3" pitchFamily="-84" charset="-128"/>
              </a:rPr>
              <a:t>Preview</a:t>
            </a:r>
            <a:endParaRPr lang="en-US" sz="3600" dirty="0">
              <a:latin typeface="+mj-lt"/>
            </a:endParaRPr>
          </a:p>
        </p:txBody>
      </p:sp>
      <p:sp>
        <p:nvSpPr>
          <p:cNvPr id="4" name="Content Placeholder 3"/>
          <p:cNvSpPr>
            <a:spLocks noGrp="1"/>
          </p:cNvSpPr>
          <p:nvPr>
            <p:ph sz="quarter" idx="13"/>
          </p:nvPr>
        </p:nvSpPr>
        <p:spPr/>
        <p:txBody>
          <a:bodyPr/>
          <a:lstStyle/>
          <a:p>
            <a:r>
              <a:rPr lang="en-US" altLang="en-US" dirty="0"/>
              <a:t>Types of economies of scale</a:t>
            </a:r>
          </a:p>
          <a:p>
            <a:r>
              <a:rPr lang="en-US" altLang="en-US" dirty="0"/>
              <a:t>Economies of scale and market structure</a:t>
            </a:r>
          </a:p>
          <a:p>
            <a:r>
              <a:rPr lang="en-US" altLang="en-US" dirty="0"/>
              <a:t>The theory of external economies</a:t>
            </a:r>
          </a:p>
          <a:p>
            <a:r>
              <a:rPr lang="en-US" altLang="en-US" dirty="0"/>
              <a:t>External economies and international trade</a:t>
            </a:r>
          </a:p>
          <a:p>
            <a:r>
              <a:rPr lang="en-US" altLang="en-US" dirty="0"/>
              <a:t>Dynamic increasing returns</a:t>
            </a:r>
          </a:p>
          <a:p>
            <a:r>
              <a:rPr lang="en-US" altLang="en-US" dirty="0"/>
              <a:t>International trade and economic geography</a:t>
            </a:r>
            <a:endParaRPr lang="en-US" dirty="0"/>
          </a:p>
        </p:txBody>
      </p:sp>
    </p:spTree>
    <p:extLst>
      <p:ext uri="{BB962C8B-B14F-4D97-AF65-F5344CB8AC3E}">
        <p14:creationId xmlns:p14="http://schemas.microsoft.com/office/powerpoint/2010/main" val="984702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smtClean="0">
                <a:latin typeface="+mj-lt"/>
                <a:cs typeface="Times New Roman" panose="02020603050405020304" pitchFamily="18" charset="0"/>
              </a:rPr>
              <a:t>Introduction </a:t>
            </a:r>
            <a:r>
              <a:rPr lang="en-US" altLang="en-US" sz="2000" b="0" dirty="0" smtClean="0">
                <a:latin typeface="+mj-lt"/>
                <a:cs typeface="Times New Roman" panose="02020603050405020304" pitchFamily="18" charset="0"/>
              </a:rPr>
              <a:t>(1 of 4)</a:t>
            </a:r>
            <a:endParaRPr lang="en-US" sz="2000" b="0" dirty="0">
              <a:latin typeface="+mj-lt"/>
              <a:cs typeface="Times New Roman" panose="02020603050405020304" pitchFamily="18" charset="0"/>
            </a:endParaRPr>
          </a:p>
        </p:txBody>
      </p:sp>
      <p:sp>
        <p:nvSpPr>
          <p:cNvPr id="4" name="Content Placeholder 3"/>
          <p:cNvSpPr>
            <a:spLocks noGrp="1"/>
          </p:cNvSpPr>
          <p:nvPr>
            <p:ph sz="quarter" idx="13"/>
          </p:nvPr>
        </p:nvSpPr>
        <p:spPr/>
        <p:txBody>
          <a:bodyPr/>
          <a:lstStyle/>
          <a:p>
            <a:r>
              <a:rPr lang="en-US" altLang="en-US" dirty="0"/>
              <a:t>The models of comparative advantage thus far assumed </a:t>
            </a:r>
            <a:r>
              <a:rPr lang="en-US" altLang="en-US" b="1" dirty="0"/>
              <a:t>constant returns to scale:</a:t>
            </a:r>
          </a:p>
          <a:p>
            <a:pPr lvl="1"/>
            <a:r>
              <a:rPr lang="en-US" altLang="en-US" dirty="0"/>
              <a:t>When inputs to an industry increase at a certain rate, output increases at the same rate.</a:t>
            </a:r>
          </a:p>
          <a:p>
            <a:pPr lvl="1"/>
            <a:r>
              <a:rPr lang="en-US" altLang="en-US" dirty="0"/>
              <a:t>If inputs to an industry were doubled, industry output would double as well.</a:t>
            </a:r>
            <a:endParaRPr lang="en-US" dirty="0"/>
          </a:p>
        </p:txBody>
      </p:sp>
    </p:spTree>
    <p:extLst>
      <p:ext uri="{BB962C8B-B14F-4D97-AF65-F5344CB8AC3E}">
        <p14:creationId xmlns:p14="http://schemas.microsoft.com/office/powerpoint/2010/main" val="2011662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smtClean="0">
                <a:latin typeface="+mj-lt"/>
                <a:cs typeface="Times New Roman" panose="02020603050405020304" pitchFamily="18" charset="0"/>
              </a:rPr>
              <a:t>Introduction </a:t>
            </a:r>
            <a:r>
              <a:rPr lang="en-US" altLang="en-US" sz="2000" b="0" dirty="0" smtClean="0">
                <a:latin typeface="+mj-lt"/>
                <a:cs typeface="Times New Roman" panose="02020603050405020304" pitchFamily="18" charset="0"/>
              </a:rPr>
              <a:t>(2 of 4)</a:t>
            </a:r>
            <a:endParaRPr lang="en-US" sz="2000" b="0" dirty="0">
              <a:latin typeface="+mj-lt"/>
              <a:cs typeface="Times New Roman" panose="02020603050405020304" pitchFamily="18" charset="0"/>
            </a:endParaRPr>
          </a:p>
        </p:txBody>
      </p:sp>
      <p:sp>
        <p:nvSpPr>
          <p:cNvPr id="4" name="Content Placeholder 3"/>
          <p:cNvSpPr>
            <a:spLocks noGrp="1"/>
          </p:cNvSpPr>
          <p:nvPr>
            <p:ph sz="quarter" idx="13"/>
          </p:nvPr>
        </p:nvSpPr>
        <p:spPr/>
        <p:txBody>
          <a:bodyPr/>
          <a:lstStyle/>
          <a:p>
            <a:r>
              <a:rPr lang="en-US" altLang="en-US" dirty="0"/>
              <a:t>But there may be </a:t>
            </a:r>
            <a:r>
              <a:rPr lang="en-US" altLang="en-US" b="1" dirty="0"/>
              <a:t>increasing returns to scale</a:t>
            </a:r>
            <a:r>
              <a:rPr lang="en-US" altLang="en-US" dirty="0"/>
              <a:t> or </a:t>
            </a:r>
            <a:r>
              <a:rPr lang="en-US" altLang="en-US" b="1" dirty="0"/>
              <a:t>economies of scale:</a:t>
            </a:r>
            <a:endParaRPr lang="en-US" altLang="en-US" dirty="0"/>
          </a:p>
          <a:p>
            <a:pPr lvl="1"/>
            <a:r>
              <a:rPr lang="en-US" altLang="en-US" dirty="0"/>
              <a:t>This means that when inputs to an industry increase at a certain rate, output increases at a faster rate.</a:t>
            </a:r>
          </a:p>
          <a:p>
            <a:pPr lvl="1"/>
            <a:r>
              <a:rPr lang="en-US" altLang="en-US" dirty="0"/>
              <a:t>A larger scale is more efficient: the cost per unit of output falls as a firm or an industry increases output.</a:t>
            </a:r>
            <a:endParaRPr lang="en-US" dirty="0"/>
          </a:p>
        </p:txBody>
      </p:sp>
    </p:spTree>
    <p:extLst>
      <p:ext uri="{BB962C8B-B14F-4D97-AF65-F5344CB8AC3E}">
        <p14:creationId xmlns:p14="http://schemas.microsoft.com/office/powerpoint/2010/main" val="1954210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smtClean="0">
                <a:latin typeface="+mj-lt"/>
                <a:cs typeface="Times New Roman" panose="02020603050405020304" pitchFamily="18" charset="0"/>
              </a:rPr>
              <a:t>Introduction </a:t>
            </a:r>
            <a:r>
              <a:rPr lang="en-US" altLang="en-US" sz="2000" b="0" dirty="0" smtClean="0">
                <a:latin typeface="+mj-lt"/>
                <a:cs typeface="Times New Roman" panose="02020603050405020304" pitchFamily="18" charset="0"/>
              </a:rPr>
              <a:t>(3 of 4)</a:t>
            </a:r>
            <a:endParaRPr lang="en-US" sz="2000" b="0" dirty="0">
              <a:latin typeface="+mj-lt"/>
              <a:cs typeface="Times New Roman" panose="02020603050405020304" pitchFamily="18" charset="0"/>
            </a:endParaRPr>
          </a:p>
        </p:txBody>
      </p:sp>
      <p:sp>
        <p:nvSpPr>
          <p:cNvPr id="4" name="Content Placeholder 3"/>
          <p:cNvSpPr>
            <a:spLocks noGrp="1"/>
          </p:cNvSpPr>
          <p:nvPr>
            <p:ph sz="quarter" idx="13"/>
          </p:nvPr>
        </p:nvSpPr>
        <p:spPr/>
        <p:txBody>
          <a:bodyPr/>
          <a:lstStyle/>
          <a:p>
            <a:r>
              <a:rPr lang="en-US" altLang="en-US" dirty="0"/>
              <a:t>For example, suppose an industry produces widgets using only one input, labor.</a:t>
            </a:r>
          </a:p>
          <a:p>
            <a:r>
              <a:rPr lang="en-US" altLang="en-US" dirty="0"/>
              <a:t>Consider how the amount of labor required depends on the number of widgets produced.</a:t>
            </a:r>
          </a:p>
          <a:p>
            <a:r>
              <a:rPr lang="en-US" altLang="en-US" dirty="0"/>
              <a:t>The presence of economies of scale may be seen from the fact that</a:t>
            </a:r>
          </a:p>
          <a:p>
            <a:pPr lvl="1"/>
            <a:r>
              <a:rPr lang="en-US" altLang="en-US" dirty="0"/>
              <a:t>doubling the input of labor more than doubles the industry’s output.</a:t>
            </a:r>
          </a:p>
          <a:p>
            <a:pPr lvl="1"/>
            <a:r>
              <a:rPr lang="en-US" altLang="en-US" dirty="0"/>
              <a:t>the average amount of labor used to produce each widget is less when the industry produces more.</a:t>
            </a:r>
            <a:endParaRPr lang="en-US" dirty="0"/>
          </a:p>
        </p:txBody>
      </p:sp>
    </p:spTree>
    <p:extLst>
      <p:ext uri="{BB962C8B-B14F-4D97-AF65-F5344CB8AC3E}">
        <p14:creationId xmlns:p14="http://schemas.microsoft.com/office/powerpoint/2010/main" val="3005397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Table 7.1 Relationship of Input to Output for a Hypothetical Industry</a:t>
            </a:r>
            <a:endParaRPr lang="en-IN" sz="3200" dirty="0"/>
          </a:p>
        </p:txBody>
      </p:sp>
      <p:graphicFrame>
        <p:nvGraphicFramePr>
          <p:cNvPr id="3" name="Content Placeholder 2"/>
          <p:cNvGraphicFramePr>
            <a:graphicFrameLocks noGrp="1"/>
          </p:cNvGraphicFramePr>
          <p:nvPr>
            <p:ph sz="quarter" idx="13"/>
            <p:extLst>
              <p:ext uri="{D42A27DB-BD31-4B8C-83A1-F6EECF244321}">
                <p14:modId xmlns:p14="http://schemas.microsoft.com/office/powerpoint/2010/main" val="476797367"/>
              </p:ext>
            </p:extLst>
          </p:nvPr>
        </p:nvGraphicFramePr>
        <p:xfrm>
          <a:off x="457200" y="1555750"/>
          <a:ext cx="8229600" cy="2595880"/>
        </p:xfrm>
        <a:graphic>
          <a:graphicData uri="http://schemas.openxmlformats.org/drawingml/2006/table">
            <a:tbl>
              <a:tblPr firstRow="1" bandRow="1">
                <a:tableStyleId>{2D5ABB26-0587-4C30-8999-92F81FD0307C}</a:tableStyleId>
              </a:tblPr>
              <a:tblGrid>
                <a:gridCol w="2743200">
                  <a:extLst>
                    <a:ext uri="{9D8B030D-6E8A-4147-A177-3AD203B41FA5}">
                      <a16:colId xmlns:a16="http://schemas.microsoft.com/office/drawing/2014/main" val="2359112540"/>
                    </a:ext>
                  </a:extLst>
                </a:gridCol>
                <a:gridCol w="2743200">
                  <a:extLst>
                    <a:ext uri="{9D8B030D-6E8A-4147-A177-3AD203B41FA5}">
                      <a16:colId xmlns:a16="http://schemas.microsoft.com/office/drawing/2014/main" val="3676975366"/>
                    </a:ext>
                  </a:extLst>
                </a:gridCol>
                <a:gridCol w="2743200">
                  <a:extLst>
                    <a:ext uri="{9D8B030D-6E8A-4147-A177-3AD203B41FA5}">
                      <a16:colId xmlns:a16="http://schemas.microsoft.com/office/drawing/2014/main" val="264207619"/>
                    </a:ext>
                  </a:extLst>
                </a:gridCol>
              </a:tblGrid>
              <a:tr h="370840">
                <a:tc>
                  <a:txBody>
                    <a:bodyPr/>
                    <a:lstStyle/>
                    <a:p>
                      <a:pPr algn="ctr"/>
                      <a:r>
                        <a:rPr lang="en-US" sz="1800" b="1" dirty="0"/>
                        <a:t>Output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Total Labor Input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Average Labor Input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9103640"/>
                  </a:ext>
                </a:extLst>
              </a:tr>
              <a:tr h="370840">
                <a:tc>
                  <a:txBody>
                    <a:bodyPr/>
                    <a:lstStyle/>
                    <a:p>
                      <a:pPr algn="ctr"/>
                      <a:r>
                        <a:rPr lang="en-US" sz="1800" dirty="0" smtClean="0"/>
                        <a:t>5</a:t>
                      </a: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smtClean="0"/>
                        <a:t>2</a:t>
                      </a: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6428768"/>
                  </a:ext>
                </a:extLst>
              </a:tr>
              <a:tr h="370840">
                <a:tc>
                  <a:txBody>
                    <a:bodyPr/>
                    <a:lstStyle/>
                    <a:p>
                      <a:pPr algn="ctr"/>
                      <a:r>
                        <a:rPr lang="en-US" sz="180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smtClean="0"/>
                        <a:t>1.5</a:t>
                      </a: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4073104"/>
                  </a:ext>
                </a:extLst>
              </a:tr>
              <a:tr h="370840">
                <a:tc>
                  <a:txBody>
                    <a:bodyPr/>
                    <a:lstStyle/>
                    <a:p>
                      <a:pPr algn="ctr"/>
                      <a:r>
                        <a:rPr lang="en-US" sz="1800" dirty="0"/>
                        <a:t>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smtClean="0"/>
                        <a:t>1.333333</a:t>
                      </a: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9210777"/>
                  </a:ext>
                </a:extLst>
              </a:tr>
              <a:tr h="370840">
                <a:tc>
                  <a:txBody>
                    <a:bodyPr/>
                    <a:lstStyle/>
                    <a:p>
                      <a:pPr algn="ctr"/>
                      <a:r>
                        <a:rPr lang="en-US" sz="1800" dirty="0"/>
                        <a:t>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smtClean="0"/>
                        <a:t>1.25</a:t>
                      </a: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97740609"/>
                  </a:ext>
                </a:extLst>
              </a:tr>
              <a:tr h="370840">
                <a:tc>
                  <a:txBody>
                    <a:bodyPr/>
                    <a:lstStyle/>
                    <a:p>
                      <a:pPr algn="ctr"/>
                      <a:r>
                        <a:rPr lang="en-US" sz="1800" dirty="0"/>
                        <a:t>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smtClean="0"/>
                        <a:t>1.2</a:t>
                      </a: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0816138"/>
                  </a:ext>
                </a:extLst>
              </a:tr>
              <a:tr h="370840">
                <a:tc>
                  <a:txBody>
                    <a:bodyPr/>
                    <a:lstStyle/>
                    <a:p>
                      <a:pPr algn="ctr"/>
                      <a:r>
                        <a:rPr lang="en-US" sz="1800" dirty="0"/>
                        <a:t>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35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smtClean="0"/>
                        <a:t>1.166667</a:t>
                      </a: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560353"/>
                  </a:ext>
                </a:extLst>
              </a:tr>
            </a:tbl>
          </a:graphicData>
        </a:graphic>
      </p:graphicFrame>
    </p:spTree>
    <p:extLst>
      <p:ext uri="{BB962C8B-B14F-4D97-AF65-F5344CB8AC3E}">
        <p14:creationId xmlns:p14="http://schemas.microsoft.com/office/powerpoint/2010/main" val="1703878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Introduction </a:t>
            </a:r>
            <a:r>
              <a:rPr lang="en-US" altLang="en-US" sz="2000" b="0" dirty="0"/>
              <a:t>(4 of 4)</a:t>
            </a:r>
            <a:endParaRPr lang="en-IN" dirty="0"/>
          </a:p>
        </p:txBody>
      </p:sp>
      <p:sp>
        <p:nvSpPr>
          <p:cNvPr id="7" name="Content Placeholder 6"/>
          <p:cNvSpPr>
            <a:spLocks noGrp="1"/>
          </p:cNvSpPr>
          <p:nvPr>
            <p:ph sz="quarter" idx="13"/>
          </p:nvPr>
        </p:nvSpPr>
        <p:spPr>
          <a:xfrm>
            <a:off x="457200" y="1556327"/>
            <a:ext cx="8229600" cy="4225042"/>
          </a:xfrm>
        </p:spPr>
        <p:txBody>
          <a:bodyPr/>
          <a:lstStyle/>
          <a:p>
            <a:r>
              <a:rPr lang="en-US" altLang="en-US" dirty="0"/>
              <a:t>Mutually beneficial trade can arise as a result of economies of scale</a:t>
            </a:r>
            <a:r>
              <a:rPr lang="en-US" altLang="en-US" dirty="0" smtClean="0"/>
              <a:t>.</a:t>
            </a:r>
            <a:endParaRPr lang="en-US" altLang="en-US" dirty="0"/>
          </a:p>
          <a:p>
            <a:r>
              <a:rPr lang="en-US" altLang="en-US" dirty="0"/>
              <a:t>International trade permits each country to produce a limited range of goods without sacrificing variety in consumption.</a:t>
            </a:r>
          </a:p>
          <a:p>
            <a:r>
              <a:rPr lang="en-US" altLang="en-US" dirty="0"/>
              <a:t>With trade, a country can take advantage of economies of scale to produce more efficiently than if it tried to produce everything for itself</a:t>
            </a:r>
            <a:r>
              <a:rPr lang="en-US" altLang="en-US" dirty="0" smtClean="0"/>
              <a:t>.</a:t>
            </a:r>
            <a:endParaRPr lang="en-US" dirty="0"/>
          </a:p>
        </p:txBody>
      </p:sp>
    </p:spTree>
    <p:extLst>
      <p:ext uri="{BB962C8B-B14F-4D97-AF65-F5344CB8AC3E}">
        <p14:creationId xmlns:p14="http://schemas.microsoft.com/office/powerpoint/2010/main" val="1348958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t>Economies of Scale and Market Structure </a:t>
            </a:r>
            <a:r>
              <a:rPr lang="en-US" altLang="en-US" sz="2000" b="0" dirty="0"/>
              <a:t>(1 of 2)</a:t>
            </a:r>
            <a:endParaRPr lang="en-IN" dirty="0"/>
          </a:p>
        </p:txBody>
      </p:sp>
      <p:sp>
        <p:nvSpPr>
          <p:cNvPr id="2" name="Content Placeholder 1"/>
          <p:cNvSpPr>
            <a:spLocks noGrp="1"/>
          </p:cNvSpPr>
          <p:nvPr>
            <p:ph sz="quarter" idx="13"/>
          </p:nvPr>
        </p:nvSpPr>
        <p:spPr/>
        <p:txBody>
          <a:bodyPr/>
          <a:lstStyle/>
          <a:p>
            <a:r>
              <a:rPr lang="en-US" altLang="en-US" dirty="0"/>
              <a:t>Economies of scale could mean either that larger firms or a larger industry would be more efficient.</a:t>
            </a:r>
          </a:p>
          <a:p>
            <a:r>
              <a:rPr lang="en-US" altLang="en-US" b="1" dirty="0"/>
              <a:t>External economies of scale</a:t>
            </a:r>
            <a:r>
              <a:rPr lang="en-US" altLang="en-US" dirty="0"/>
              <a:t> occur when the cost per unit of output depends on the </a:t>
            </a:r>
            <a:r>
              <a:rPr lang="en-US" altLang="en-US" b="1" dirty="0"/>
              <a:t>size of the industry</a:t>
            </a:r>
            <a:r>
              <a:rPr lang="en-US" altLang="en-US" dirty="0"/>
              <a:t>.</a:t>
            </a:r>
          </a:p>
          <a:p>
            <a:r>
              <a:rPr lang="en-US" altLang="en-US" b="1" dirty="0"/>
              <a:t>Internal economies of scale</a:t>
            </a:r>
            <a:r>
              <a:rPr lang="en-US" altLang="en-US" dirty="0"/>
              <a:t> occur when the cost per unit of output depends on the </a:t>
            </a:r>
            <a:r>
              <a:rPr lang="en-US" altLang="en-US" b="1" dirty="0"/>
              <a:t>size of the firm</a:t>
            </a:r>
            <a:r>
              <a:rPr lang="en-US" altLang="en-US" dirty="0" smtClean="0"/>
              <a:t>.</a:t>
            </a:r>
            <a:endParaRPr lang="en-US" dirty="0"/>
          </a:p>
        </p:txBody>
      </p:sp>
    </p:spTree>
    <p:extLst>
      <p:ext uri="{BB962C8B-B14F-4D97-AF65-F5344CB8AC3E}">
        <p14:creationId xmlns:p14="http://schemas.microsoft.com/office/powerpoint/2010/main" val="4092937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t>Economies of Scale and Market Structure </a:t>
            </a:r>
            <a:r>
              <a:rPr lang="en-US" altLang="en-US" sz="2000" b="0" dirty="0" smtClean="0"/>
              <a:t>(2 </a:t>
            </a:r>
            <a:r>
              <a:rPr lang="en-US" altLang="en-US" sz="2000" b="0" dirty="0"/>
              <a:t>of 2)</a:t>
            </a:r>
            <a:endParaRPr lang="en-IN" dirty="0"/>
          </a:p>
        </p:txBody>
      </p:sp>
      <p:sp>
        <p:nvSpPr>
          <p:cNvPr id="2" name="Content Placeholder 1"/>
          <p:cNvSpPr>
            <a:spLocks noGrp="1"/>
          </p:cNvSpPr>
          <p:nvPr>
            <p:ph sz="quarter" idx="13"/>
          </p:nvPr>
        </p:nvSpPr>
        <p:spPr/>
        <p:txBody>
          <a:bodyPr/>
          <a:lstStyle/>
          <a:p>
            <a:r>
              <a:rPr lang="en-US" altLang="en-US" dirty="0"/>
              <a:t>Both external and internal economies of scale are important causes of international trade.</a:t>
            </a:r>
          </a:p>
          <a:p>
            <a:r>
              <a:rPr lang="en-US" altLang="en-US" dirty="0"/>
              <a:t>They have different implications for the structure of industries:</a:t>
            </a:r>
          </a:p>
          <a:p>
            <a:pPr lvl="1"/>
            <a:r>
              <a:rPr lang="en-US" altLang="en-US" dirty="0"/>
              <a:t>An industry where economies of scale are purely external will typically consist of many small firms and be perfectly competitive.</a:t>
            </a:r>
          </a:p>
          <a:p>
            <a:pPr lvl="1"/>
            <a:r>
              <a:rPr lang="en-US" altLang="en-US" dirty="0"/>
              <a:t>Internal economies of scale result when large firms have a cost advantage over small firms, causing the industry to become imperfectly competitive.</a:t>
            </a:r>
            <a:endParaRPr lang="en-US" b="1" dirty="0"/>
          </a:p>
        </p:txBody>
      </p:sp>
    </p:spTree>
    <p:extLst>
      <p:ext uri="{BB962C8B-B14F-4D97-AF65-F5344CB8AC3E}">
        <p14:creationId xmlns:p14="http://schemas.microsoft.com/office/powerpoint/2010/main" val="79340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a:t>(1 of 6)</a:t>
            </a:r>
            <a:endParaRPr lang="en-US" dirty="0"/>
          </a:p>
        </p:txBody>
      </p:sp>
      <p:sp>
        <p:nvSpPr>
          <p:cNvPr id="3" name="Content Placeholder 2"/>
          <p:cNvSpPr>
            <a:spLocks noGrp="1"/>
          </p:cNvSpPr>
          <p:nvPr>
            <p:ph sz="quarter" idx="13"/>
          </p:nvPr>
        </p:nvSpPr>
        <p:spPr/>
        <p:txBody>
          <a:bodyPr/>
          <a:lstStyle/>
          <a:p>
            <a:r>
              <a:rPr lang="en-US" altLang="en-US" dirty="0"/>
              <a:t>This chapter deals with a model of external economies; the next chapter will cover internal economies.</a:t>
            </a:r>
          </a:p>
          <a:p>
            <a:r>
              <a:rPr lang="en-US" altLang="en-US" dirty="0"/>
              <a:t>Many modern examples of industries that seem to be powerful external economies:</a:t>
            </a:r>
          </a:p>
          <a:p>
            <a:pPr lvl="1"/>
            <a:r>
              <a:rPr lang="en-US" altLang="en-US" dirty="0"/>
              <a:t>In the United States, the semiconductor industry is concentrated in Silicon Valley, investment banking in New York, and the entertainment industry in Hollywood</a:t>
            </a:r>
            <a:r>
              <a:rPr lang="en-US" altLang="en-US" dirty="0" smtClean="0"/>
              <a:t>.</a:t>
            </a:r>
            <a:endParaRPr lang="en-US" b="1" dirty="0"/>
          </a:p>
        </p:txBody>
      </p:sp>
    </p:spTree>
    <p:extLst>
      <p:ext uri="{BB962C8B-B14F-4D97-AF65-F5344CB8AC3E}">
        <p14:creationId xmlns:p14="http://schemas.microsoft.com/office/powerpoint/2010/main" val="562395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smtClean="0"/>
              <a:t>(2 </a:t>
            </a:r>
            <a:r>
              <a:rPr lang="en-US" altLang="en-US" sz="2000" b="0" dirty="0"/>
              <a:t>of 6)</a:t>
            </a:r>
            <a:endParaRPr lang="en-US" dirty="0"/>
          </a:p>
        </p:txBody>
      </p:sp>
      <p:sp>
        <p:nvSpPr>
          <p:cNvPr id="3" name="Content Placeholder 2"/>
          <p:cNvSpPr>
            <a:spLocks noGrp="1"/>
          </p:cNvSpPr>
          <p:nvPr>
            <p:ph sz="quarter" idx="13"/>
          </p:nvPr>
        </p:nvSpPr>
        <p:spPr/>
        <p:txBody>
          <a:bodyPr/>
          <a:lstStyle/>
          <a:p>
            <a:pPr lvl="1"/>
            <a:r>
              <a:rPr lang="en-US" altLang="en-US" dirty="0"/>
              <a:t>In developing countries such as China, external economies are pervasive in manufacturing.</a:t>
            </a:r>
          </a:p>
          <a:p>
            <a:pPr lvl="2"/>
            <a:r>
              <a:rPr lang="en-US" altLang="en-US" dirty="0"/>
              <a:t>One town in China produces most of the world’s underwear production, another produces nearly all cigarette lighters.</a:t>
            </a:r>
          </a:p>
          <a:p>
            <a:pPr lvl="1"/>
            <a:r>
              <a:rPr lang="en-US" altLang="en-US" dirty="0"/>
              <a:t>External economies played a key role in India’s emergence as a major exporter of information services.</a:t>
            </a:r>
          </a:p>
          <a:p>
            <a:pPr lvl="2"/>
            <a:r>
              <a:rPr lang="en-US" altLang="en-US" dirty="0"/>
              <a:t>Indian information services companies are still clustered in Bangalore.</a:t>
            </a:r>
            <a:endParaRPr lang="en-US" b="1" dirty="0"/>
          </a:p>
        </p:txBody>
      </p:sp>
    </p:spTree>
    <p:extLst>
      <p:ext uri="{BB962C8B-B14F-4D97-AF65-F5344CB8AC3E}">
        <p14:creationId xmlns:p14="http://schemas.microsoft.com/office/powerpoint/2010/main" val="166700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smtClean="0"/>
              <a:t>(3 </a:t>
            </a:r>
            <a:r>
              <a:rPr lang="en-US" altLang="en-US" sz="2000" b="0" dirty="0"/>
              <a:t>of 6)</a:t>
            </a:r>
            <a:endParaRPr lang="en-US" dirty="0"/>
          </a:p>
        </p:txBody>
      </p:sp>
      <p:sp>
        <p:nvSpPr>
          <p:cNvPr id="4" name="Content Placeholder 3"/>
          <p:cNvSpPr>
            <a:spLocks noGrp="1"/>
          </p:cNvSpPr>
          <p:nvPr>
            <p:ph sz="quarter" idx="13"/>
          </p:nvPr>
        </p:nvSpPr>
        <p:spPr>
          <a:xfrm>
            <a:off x="457200" y="1556327"/>
            <a:ext cx="8116784" cy="4586896"/>
          </a:xfrm>
        </p:spPr>
        <p:txBody>
          <a:bodyPr/>
          <a:lstStyle/>
          <a:p>
            <a:r>
              <a:rPr lang="en-US" altLang="en-US" dirty="0"/>
              <a:t>For a variety of reasons, concentrating production of an industry in one or a few locations can reduce the industry’s costs, even if the individual firms in the industry remain small.</a:t>
            </a:r>
          </a:p>
          <a:p>
            <a:r>
              <a:rPr lang="en-US" altLang="en-US" dirty="0"/>
              <a:t>External economies may exist for a few reasons</a:t>
            </a:r>
            <a:r>
              <a:rPr lang="en-US" altLang="en-US" dirty="0" smtClean="0"/>
              <a:t>:</a:t>
            </a:r>
            <a:endParaRPr lang="en-US" dirty="0"/>
          </a:p>
        </p:txBody>
      </p:sp>
    </p:spTree>
    <p:extLst>
      <p:ext uri="{BB962C8B-B14F-4D97-AF65-F5344CB8AC3E}">
        <p14:creationId xmlns:p14="http://schemas.microsoft.com/office/powerpoint/2010/main" val="2940676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smtClean="0"/>
              <a:t>(4 </a:t>
            </a:r>
            <a:r>
              <a:rPr lang="en-US" altLang="en-US" sz="2000" b="0" dirty="0"/>
              <a:t>of 6)</a:t>
            </a:r>
            <a:endParaRPr lang="en-US" dirty="0"/>
          </a:p>
        </p:txBody>
      </p:sp>
      <p:sp>
        <p:nvSpPr>
          <p:cNvPr id="4" name="Content Placeholder 3"/>
          <p:cNvSpPr>
            <a:spLocks noGrp="1"/>
          </p:cNvSpPr>
          <p:nvPr>
            <p:ph sz="quarter" idx="13"/>
          </p:nvPr>
        </p:nvSpPr>
        <p:spPr>
          <a:xfrm>
            <a:off x="457199" y="1556327"/>
            <a:ext cx="8318665" cy="1246250"/>
          </a:xfrm>
        </p:spPr>
        <p:txBody>
          <a:bodyPr/>
          <a:lstStyle/>
          <a:p>
            <a:pPr marL="432000" indent="-432000">
              <a:buFont typeface="+mj-lt"/>
              <a:buAutoNum type="arabicPeriod"/>
            </a:pPr>
            <a:r>
              <a:rPr lang="en-US" altLang="en-US" b="1" dirty="0"/>
              <a:t>Specialized equipment or services</a:t>
            </a:r>
            <a:r>
              <a:rPr lang="en-US" altLang="en-US" dirty="0"/>
              <a:t> may be needed for the industry, but are only supplied by other firms if the industry is large and concentrated</a:t>
            </a:r>
            <a:r>
              <a:rPr lang="en-US" altLang="en-US" dirty="0" smtClean="0"/>
              <a:t>.</a:t>
            </a:r>
            <a:endParaRPr lang="en-US" altLang="en-US" dirty="0"/>
          </a:p>
        </p:txBody>
      </p:sp>
      <p:sp>
        <p:nvSpPr>
          <p:cNvPr id="3" name="Content Placeholder 2"/>
          <p:cNvSpPr>
            <a:spLocks noGrp="1"/>
          </p:cNvSpPr>
          <p:nvPr>
            <p:ph sz="quarter" idx="14"/>
          </p:nvPr>
        </p:nvSpPr>
        <p:spPr>
          <a:xfrm>
            <a:off x="457200" y="2885705"/>
            <a:ext cx="8229600" cy="2505694"/>
          </a:xfrm>
        </p:spPr>
        <p:txBody>
          <a:bodyPr tIns="0"/>
          <a:lstStyle/>
          <a:p>
            <a:pPr lvl="1"/>
            <a:r>
              <a:rPr lang="en-US" altLang="en-US" dirty="0"/>
              <a:t>For example, Silicon Valley in California has a large concentration of silicon chip companies, which are serviced by companies that make special machines for manufacturing silicon chips.</a:t>
            </a:r>
          </a:p>
          <a:p>
            <a:pPr lvl="1"/>
            <a:r>
              <a:rPr lang="en-US" altLang="en-US" dirty="0"/>
              <a:t>These machines are cheaper and more easily available there than elsewhere.</a:t>
            </a:r>
            <a:endParaRPr lang="en-US" dirty="0"/>
          </a:p>
        </p:txBody>
      </p:sp>
    </p:spTree>
    <p:extLst>
      <p:ext uri="{BB962C8B-B14F-4D97-AF65-F5344CB8AC3E}">
        <p14:creationId xmlns:p14="http://schemas.microsoft.com/office/powerpoint/2010/main" val="2541630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smtClean="0"/>
              <a:t>(5 </a:t>
            </a:r>
            <a:r>
              <a:rPr lang="en-US" altLang="en-US" sz="2000" b="0" dirty="0"/>
              <a:t>of 6)</a:t>
            </a:r>
            <a:endParaRPr lang="en-US" dirty="0"/>
          </a:p>
        </p:txBody>
      </p:sp>
      <p:sp>
        <p:nvSpPr>
          <p:cNvPr id="4" name="Content Placeholder 3"/>
          <p:cNvSpPr>
            <a:spLocks noGrp="1"/>
          </p:cNvSpPr>
          <p:nvPr>
            <p:ph sz="quarter" idx="13"/>
          </p:nvPr>
        </p:nvSpPr>
        <p:spPr>
          <a:xfrm>
            <a:off x="457200" y="1556327"/>
            <a:ext cx="8104909" cy="4586896"/>
          </a:xfrm>
        </p:spPr>
        <p:txBody>
          <a:bodyPr/>
          <a:lstStyle/>
          <a:p>
            <a:pPr marL="432000" indent="-432000">
              <a:buFont typeface="+mj-lt"/>
              <a:buAutoNum type="arabicPeriod" startAt="2"/>
            </a:pPr>
            <a:r>
              <a:rPr lang="en-US" altLang="en-US" b="1" dirty="0"/>
              <a:t>Labor pooling:</a:t>
            </a:r>
            <a:r>
              <a:rPr lang="en-US" altLang="en-US" dirty="0"/>
              <a:t> a large and concentrated industry may attract a pool of workers, reducing employee search and hiring costs for each firm.</a:t>
            </a:r>
          </a:p>
          <a:p>
            <a:pPr marL="432000" indent="-432000">
              <a:buFont typeface="+mj-lt"/>
              <a:buAutoNum type="arabicPeriod" startAt="2"/>
            </a:pPr>
            <a:r>
              <a:rPr lang="en-US" altLang="en-US" b="1" dirty="0"/>
              <a:t>Knowledge spillovers:</a:t>
            </a:r>
            <a:r>
              <a:rPr lang="en-US" altLang="en-US" dirty="0"/>
              <a:t> workers from different firms may more easily share ideas that benefit each firm when a large and concentrated industry exists.</a:t>
            </a:r>
            <a:endParaRPr lang="en-US" dirty="0"/>
          </a:p>
        </p:txBody>
      </p:sp>
    </p:spTree>
    <p:extLst>
      <p:ext uri="{BB962C8B-B14F-4D97-AF65-F5344CB8AC3E}">
        <p14:creationId xmlns:p14="http://schemas.microsoft.com/office/powerpoint/2010/main" val="4211414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smtClean="0"/>
              <a:t>(6 </a:t>
            </a:r>
            <a:r>
              <a:rPr lang="en-US" altLang="en-US" sz="2000" b="0" dirty="0"/>
              <a:t>of 6)</a:t>
            </a:r>
            <a:endParaRPr lang="en-US" dirty="0"/>
          </a:p>
        </p:txBody>
      </p:sp>
      <p:sp>
        <p:nvSpPr>
          <p:cNvPr id="4" name="Content Placeholder 3"/>
          <p:cNvSpPr>
            <a:spLocks noGrp="1"/>
          </p:cNvSpPr>
          <p:nvPr>
            <p:ph sz="quarter" idx="13"/>
          </p:nvPr>
        </p:nvSpPr>
        <p:spPr/>
        <p:txBody>
          <a:bodyPr/>
          <a:lstStyle/>
          <a:p>
            <a:r>
              <a:rPr lang="en-US" altLang="en-US" dirty="0"/>
              <a:t>Represent external economies simply by assuming that the larger the industry, the lower the industry’s costs.</a:t>
            </a:r>
          </a:p>
          <a:p>
            <a:r>
              <a:rPr lang="en-US" altLang="en-US" dirty="0"/>
              <a:t>There is a </a:t>
            </a:r>
            <a:r>
              <a:rPr lang="en-US" altLang="en-US" b="1" dirty="0"/>
              <a:t>forward-falling supply curve: </a:t>
            </a:r>
            <a:r>
              <a:rPr lang="en-US" altLang="en-US" dirty="0"/>
              <a:t>the larger the industry’s output, the lower the price at which firms are willing to sell.</a:t>
            </a:r>
          </a:p>
          <a:p>
            <a:r>
              <a:rPr lang="en-US" altLang="en-US" dirty="0"/>
              <a:t>Without international trade, the unusual slope of the supply curve doesn’t matter much.</a:t>
            </a:r>
            <a:endParaRPr lang="en-US" dirty="0"/>
          </a:p>
        </p:txBody>
      </p:sp>
    </p:spTree>
    <p:extLst>
      <p:ext uri="{BB962C8B-B14F-4D97-AF65-F5344CB8AC3E}">
        <p14:creationId xmlns:p14="http://schemas.microsoft.com/office/powerpoint/2010/main" val="1962480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smtClean="0">
                <a:latin typeface="+mj-lt"/>
                <a:cs typeface="Times New Roman" panose="02020603050405020304" pitchFamily="18" charset="0"/>
              </a:rPr>
              <a:t>Figure 7.1 External Economies and Market Equilibrium</a:t>
            </a:r>
            <a:endParaRPr lang="en-US" sz="3200" b="0" dirty="0">
              <a:latin typeface="+mj-lt"/>
              <a:cs typeface="Times New Roman" panose="02020603050405020304" pitchFamily="18" charset="0"/>
            </a:endParaRPr>
          </a:p>
        </p:txBody>
      </p:sp>
      <p:pic>
        <p:nvPicPr>
          <p:cNvPr id="20" name="Content Placeholder 19" descr="A graph plots price, cost per widget versus the quantity of widgets produced, demanded.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962059" y="1558491"/>
            <a:ext cx="3219882" cy="2869571"/>
          </a:xfrm>
        </p:spPr>
      </p:pic>
      <p:sp>
        <p:nvSpPr>
          <p:cNvPr id="14" name="Content Placeholder 13"/>
          <p:cNvSpPr>
            <a:spLocks noGrp="1"/>
          </p:cNvSpPr>
          <p:nvPr>
            <p:ph sz="quarter" idx="14"/>
          </p:nvPr>
        </p:nvSpPr>
        <p:spPr>
          <a:xfrm>
            <a:off x="457200" y="4550772"/>
            <a:ext cx="8232128" cy="1422516"/>
          </a:xfrm>
        </p:spPr>
        <p:txBody>
          <a:bodyPr tIns="0" rIns="0"/>
          <a:lstStyle/>
          <a:p>
            <a:pPr marL="432" indent="0">
              <a:buNone/>
            </a:pPr>
            <a:r>
              <a:rPr lang="en-US" sz="1800" dirty="0"/>
              <a:t>When there are external economies of scale, the average cost of producing a good falls as the quantity produced rises. Given competition among many producers, the downward-sloping average cost curve </a:t>
            </a:r>
            <a:r>
              <a:rPr lang="en-US" sz="1800" i="1" dirty="0"/>
              <a:t>A</a:t>
            </a:r>
            <a:r>
              <a:rPr lang="en-US" sz="100" i="1" dirty="0"/>
              <a:t> </a:t>
            </a:r>
            <a:r>
              <a:rPr lang="en-US" sz="1800" i="1" dirty="0"/>
              <a:t>C </a:t>
            </a:r>
            <a:r>
              <a:rPr lang="en-US" sz="1800" dirty="0"/>
              <a:t>can be interpreted as a </a:t>
            </a:r>
            <a:r>
              <a:rPr lang="en-US" sz="1800" b="1" dirty="0"/>
              <a:t>forward-falling supply curve</a:t>
            </a:r>
            <a:r>
              <a:rPr lang="en-US" sz="1800" dirty="0">
                <a:solidFill>
                  <a:srgbClr val="FF0000"/>
                </a:solidFill>
              </a:rPr>
              <a:t>.</a:t>
            </a:r>
            <a:r>
              <a:rPr lang="en-US" sz="1800" dirty="0"/>
              <a:t> As in ordinary supply-and-demand analysis, market equilibrium is at point 1, where the supply curve intersects the </a:t>
            </a:r>
            <a:r>
              <a:rPr lang="en-US" sz="1800" dirty="0" smtClean="0"/>
              <a:t>demand</a:t>
            </a:r>
            <a:endParaRPr lang="en-US" sz="1800" dirty="0"/>
          </a:p>
        </p:txBody>
      </p:sp>
      <p:sp>
        <p:nvSpPr>
          <p:cNvPr id="15" name="Content Placeholder 14"/>
          <p:cNvSpPr>
            <a:spLocks noGrp="1"/>
          </p:cNvSpPr>
          <p:nvPr>
            <p:ph sz="quarter" idx="15"/>
          </p:nvPr>
        </p:nvSpPr>
        <p:spPr>
          <a:xfrm>
            <a:off x="457200" y="6025358"/>
            <a:ext cx="4478594" cy="303448"/>
          </a:xfrm>
        </p:spPr>
        <p:txBody>
          <a:bodyPr tIns="0"/>
          <a:lstStyle/>
          <a:p>
            <a:pPr marL="432" indent="0">
              <a:buNone/>
            </a:pPr>
            <a:r>
              <a:rPr lang="en-US" sz="1800" dirty="0" smtClean="0"/>
              <a:t>curve, D. The equilibrium level of output is</a:t>
            </a:r>
            <a:endParaRPr lang="en-US" sz="1800" dirty="0"/>
          </a:p>
        </p:txBody>
      </p:sp>
      <p:graphicFrame>
        <p:nvGraphicFramePr>
          <p:cNvPr id="18" name="Object 17" descr="Q sub1,"/>
          <p:cNvGraphicFramePr>
            <a:graphicFrameLocks noChangeAspect="1"/>
          </p:cNvGraphicFramePr>
          <p:nvPr>
            <p:extLst>
              <p:ext uri="{D42A27DB-BD31-4B8C-83A1-F6EECF244321}">
                <p14:modId xmlns:p14="http://schemas.microsoft.com/office/powerpoint/2010/main" val="975084917"/>
              </p:ext>
            </p:extLst>
          </p:nvPr>
        </p:nvGraphicFramePr>
        <p:xfrm>
          <a:off x="5018155" y="6018876"/>
          <a:ext cx="334694" cy="334694"/>
        </p:xfrm>
        <a:graphic>
          <a:graphicData uri="http://schemas.openxmlformats.org/presentationml/2006/ole">
            <mc:AlternateContent xmlns:mc="http://schemas.openxmlformats.org/markup-compatibility/2006">
              <mc:Choice xmlns:v="urn:schemas-microsoft-com:vml" Requires="v">
                <p:oleObj spid="_x0000_s1200" name="Equation" r:id="rId5" imgW="228600" imgH="228600" progId="Equation.DSMT4">
                  <p:embed/>
                </p:oleObj>
              </mc:Choice>
              <mc:Fallback>
                <p:oleObj name="Equation" r:id="rId5" imgW="228600" imgH="228600" progId="Equation.DSMT4">
                  <p:embed/>
                  <p:pic>
                    <p:nvPicPr>
                      <p:cNvPr id="18" name="Object 17"/>
                      <p:cNvPicPr/>
                      <p:nvPr/>
                    </p:nvPicPr>
                    <p:blipFill>
                      <a:blip r:embed="rId6"/>
                      <a:stretch>
                        <a:fillRect/>
                      </a:stretch>
                    </p:blipFill>
                    <p:spPr>
                      <a:xfrm>
                        <a:off x="5018155" y="6018876"/>
                        <a:ext cx="334694" cy="334694"/>
                      </a:xfrm>
                      <a:prstGeom prst="rect">
                        <a:avLst/>
                      </a:prstGeom>
                    </p:spPr>
                  </p:pic>
                </p:oleObj>
              </mc:Fallback>
            </mc:AlternateContent>
          </a:graphicData>
        </a:graphic>
      </p:graphicFrame>
      <p:sp>
        <p:nvSpPr>
          <p:cNvPr id="16" name="Content Placeholder 15"/>
          <p:cNvSpPr>
            <a:spLocks noGrp="1"/>
          </p:cNvSpPr>
          <p:nvPr>
            <p:ph sz="quarter" idx="16"/>
          </p:nvPr>
        </p:nvSpPr>
        <p:spPr>
          <a:xfrm>
            <a:off x="5432244" y="6029610"/>
            <a:ext cx="2156088" cy="342468"/>
          </a:xfrm>
        </p:spPr>
        <p:txBody>
          <a:bodyPr lIns="0" tIns="0" rIns="0"/>
          <a:lstStyle/>
          <a:p>
            <a:pPr marL="432" indent="0">
              <a:buNone/>
            </a:pPr>
            <a:r>
              <a:rPr lang="en-US" sz="1800" dirty="0" smtClean="0"/>
              <a:t>the equilibrium price</a:t>
            </a:r>
            <a:endParaRPr lang="en-US" sz="1800" dirty="0"/>
          </a:p>
        </p:txBody>
      </p:sp>
      <p:graphicFrame>
        <p:nvGraphicFramePr>
          <p:cNvPr id="19" name="Object 18" descr="P sub 1."/>
          <p:cNvGraphicFramePr>
            <a:graphicFrameLocks noChangeAspect="1"/>
          </p:cNvGraphicFramePr>
          <p:nvPr>
            <p:extLst>
              <p:ext uri="{D42A27DB-BD31-4B8C-83A1-F6EECF244321}">
                <p14:modId xmlns:p14="http://schemas.microsoft.com/office/powerpoint/2010/main" val="2833429478"/>
              </p:ext>
            </p:extLst>
          </p:nvPr>
        </p:nvGraphicFramePr>
        <p:xfrm>
          <a:off x="7674146" y="6027776"/>
          <a:ext cx="298450" cy="334962"/>
        </p:xfrm>
        <a:graphic>
          <a:graphicData uri="http://schemas.openxmlformats.org/presentationml/2006/ole">
            <mc:AlternateContent xmlns:mc="http://schemas.openxmlformats.org/markup-compatibility/2006">
              <mc:Choice xmlns:v="urn:schemas-microsoft-com:vml" Requires="v">
                <p:oleObj spid="_x0000_s1201" name="Equation" r:id="rId7" imgW="203040" imgH="228600" progId="Equation.DSMT4">
                  <p:embed/>
                </p:oleObj>
              </mc:Choice>
              <mc:Fallback>
                <p:oleObj name="Equation" r:id="rId7" imgW="203040" imgH="228600" progId="Equation.DSMT4">
                  <p:embed/>
                  <p:pic>
                    <p:nvPicPr>
                      <p:cNvPr id="19" name="Object 18"/>
                      <p:cNvPicPr/>
                      <p:nvPr/>
                    </p:nvPicPr>
                    <p:blipFill>
                      <a:blip r:embed="rId8"/>
                      <a:stretch>
                        <a:fillRect/>
                      </a:stretch>
                    </p:blipFill>
                    <p:spPr>
                      <a:xfrm>
                        <a:off x="7674146" y="6027776"/>
                        <a:ext cx="298450" cy="334962"/>
                      </a:xfrm>
                      <a:prstGeom prst="rect">
                        <a:avLst/>
                      </a:prstGeom>
                    </p:spPr>
                  </p:pic>
                </p:oleObj>
              </mc:Fallback>
            </mc:AlternateContent>
          </a:graphicData>
        </a:graphic>
      </p:graphicFrame>
    </p:spTree>
    <p:extLst>
      <p:ext uri="{BB962C8B-B14F-4D97-AF65-F5344CB8AC3E}">
        <p14:creationId xmlns:p14="http://schemas.microsoft.com/office/powerpoint/2010/main" val="2845763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External Economies and International Trade </a:t>
            </a:r>
            <a:r>
              <a:rPr lang="en-US" altLang="en-US" sz="2000" b="0" dirty="0"/>
              <a:t>(1 of 10)</a:t>
            </a:r>
            <a:endParaRPr lang="en-US" sz="2000" dirty="0"/>
          </a:p>
        </p:txBody>
      </p:sp>
      <p:sp>
        <p:nvSpPr>
          <p:cNvPr id="13" name="Content Placeholder 12"/>
          <p:cNvSpPr>
            <a:spLocks noGrp="1"/>
          </p:cNvSpPr>
          <p:nvPr>
            <p:ph sz="quarter" idx="13"/>
          </p:nvPr>
        </p:nvSpPr>
        <p:spPr/>
        <p:txBody>
          <a:bodyPr/>
          <a:lstStyle/>
          <a:p>
            <a:r>
              <a:rPr lang="en-US" altLang="en-US" dirty="0"/>
              <a:t>Prior to international trade, equilibrium prices and output for each country would be at the point where the domestic supply curve intersects the domestic demand curve.</a:t>
            </a:r>
          </a:p>
          <a:p>
            <a:r>
              <a:rPr lang="en-US" altLang="en-US" dirty="0"/>
              <a:t>Suppose Chinese button prices in the absence of trade would be lower than U.S. button prices</a:t>
            </a:r>
            <a:r>
              <a:rPr lang="en-US" altLang="en-US" dirty="0" smtClean="0"/>
              <a:t>.</a:t>
            </a:r>
            <a:endParaRPr lang="en-US" dirty="0"/>
          </a:p>
        </p:txBody>
      </p:sp>
    </p:spTree>
    <p:extLst>
      <p:ext uri="{BB962C8B-B14F-4D97-AF65-F5344CB8AC3E}">
        <p14:creationId xmlns:p14="http://schemas.microsoft.com/office/powerpoint/2010/main" val="2098442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smtClean="0">
                <a:latin typeface="+mj-lt"/>
              </a:rPr>
              <a:t>Figure 7.2 External Economies Before Trade</a:t>
            </a:r>
            <a:endParaRPr lang="en-US" sz="3200" b="0" dirty="0">
              <a:latin typeface="+mj-lt"/>
            </a:endParaRPr>
          </a:p>
        </p:txBody>
      </p:sp>
      <p:pic>
        <p:nvPicPr>
          <p:cNvPr id="13" name="Content Placeholder 12" descr="2 graphs of the price of buttons in China and the U S.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1349341" y="1566866"/>
            <a:ext cx="6445319" cy="3726498"/>
          </a:xfrm>
        </p:spPr>
      </p:pic>
      <p:sp>
        <p:nvSpPr>
          <p:cNvPr id="3" name="Content Placeholder 2"/>
          <p:cNvSpPr>
            <a:spLocks noGrp="1"/>
          </p:cNvSpPr>
          <p:nvPr>
            <p:ph sz="quarter" idx="14"/>
          </p:nvPr>
        </p:nvSpPr>
        <p:spPr>
          <a:xfrm>
            <a:off x="457201" y="5393729"/>
            <a:ext cx="6164580" cy="342051"/>
          </a:xfrm>
        </p:spPr>
        <p:txBody>
          <a:bodyPr tIns="0"/>
          <a:lstStyle/>
          <a:p>
            <a:pPr marL="0" indent="0">
              <a:buNone/>
            </a:pPr>
            <a:r>
              <a:rPr lang="en-US" sz="2000" dirty="0"/>
              <a:t>In the absence of trade, the price of buttons in China</a:t>
            </a:r>
            <a:r>
              <a:rPr lang="en-US" sz="2000" dirty="0" smtClean="0"/>
              <a:t>,</a:t>
            </a:r>
            <a:endParaRPr lang="en-US" sz="2000" dirty="0"/>
          </a:p>
        </p:txBody>
      </p:sp>
      <p:graphicFrame>
        <p:nvGraphicFramePr>
          <p:cNvPr id="9" name="Object 8" descr="P sub China,"/>
          <p:cNvGraphicFramePr>
            <a:graphicFrameLocks noChangeAspect="1"/>
          </p:cNvGraphicFramePr>
          <p:nvPr>
            <p:extLst>
              <p:ext uri="{D42A27DB-BD31-4B8C-83A1-F6EECF244321}">
                <p14:modId xmlns:p14="http://schemas.microsoft.com/office/powerpoint/2010/main" val="3702863054"/>
              </p:ext>
            </p:extLst>
          </p:nvPr>
        </p:nvGraphicFramePr>
        <p:xfrm>
          <a:off x="6664325" y="5384800"/>
          <a:ext cx="819150" cy="368300"/>
        </p:xfrm>
        <a:graphic>
          <a:graphicData uri="http://schemas.openxmlformats.org/presentationml/2006/ole">
            <mc:AlternateContent xmlns:mc="http://schemas.openxmlformats.org/markup-compatibility/2006">
              <mc:Choice xmlns:v="urn:schemas-microsoft-com:vml" Requires="v">
                <p:oleObj spid="_x0000_s2224" name="Equation" r:id="rId5" imgW="507960" imgH="228600" progId="Equation.DSMT4">
                  <p:embed/>
                </p:oleObj>
              </mc:Choice>
              <mc:Fallback>
                <p:oleObj name="Equation" r:id="rId5" imgW="507960" imgH="228600" progId="Equation.DSMT4">
                  <p:embed/>
                  <p:pic>
                    <p:nvPicPr>
                      <p:cNvPr id="9" name="Object 8"/>
                      <p:cNvPicPr/>
                      <p:nvPr/>
                    </p:nvPicPr>
                    <p:blipFill>
                      <a:blip r:embed="rId6"/>
                      <a:stretch>
                        <a:fillRect/>
                      </a:stretch>
                    </p:blipFill>
                    <p:spPr>
                      <a:xfrm>
                        <a:off x="6664325" y="5384800"/>
                        <a:ext cx="819150" cy="368300"/>
                      </a:xfrm>
                      <a:prstGeom prst="rect">
                        <a:avLst/>
                      </a:prstGeom>
                    </p:spPr>
                  </p:pic>
                </p:oleObj>
              </mc:Fallback>
            </mc:AlternateContent>
          </a:graphicData>
        </a:graphic>
      </p:graphicFrame>
      <p:sp>
        <p:nvSpPr>
          <p:cNvPr id="8" name="Content Placeholder 7"/>
          <p:cNvSpPr>
            <a:spLocks noGrp="1"/>
          </p:cNvSpPr>
          <p:nvPr>
            <p:ph sz="quarter" idx="15"/>
          </p:nvPr>
        </p:nvSpPr>
        <p:spPr>
          <a:xfrm>
            <a:off x="457200" y="5823287"/>
            <a:ext cx="6216429" cy="340008"/>
          </a:xfrm>
        </p:spPr>
        <p:txBody>
          <a:bodyPr tIns="0"/>
          <a:lstStyle/>
          <a:p>
            <a:pPr marL="432" indent="0">
              <a:buNone/>
            </a:pPr>
            <a:r>
              <a:rPr lang="en-US" sz="2000" dirty="0" smtClean="0"/>
              <a:t>is lower than the price of buttons in the United States,</a:t>
            </a:r>
            <a:endParaRPr lang="en-US" sz="2000" dirty="0"/>
          </a:p>
        </p:txBody>
      </p:sp>
      <p:graphicFrame>
        <p:nvGraphicFramePr>
          <p:cNvPr id="10" name="Object 9" descr="P sub U S."/>
          <p:cNvGraphicFramePr>
            <a:graphicFrameLocks noChangeAspect="1"/>
          </p:cNvGraphicFramePr>
          <p:nvPr>
            <p:extLst>
              <p:ext uri="{D42A27DB-BD31-4B8C-83A1-F6EECF244321}">
                <p14:modId xmlns:p14="http://schemas.microsoft.com/office/powerpoint/2010/main" val="3269929787"/>
              </p:ext>
            </p:extLst>
          </p:nvPr>
        </p:nvGraphicFramePr>
        <p:xfrm>
          <a:off x="6718664" y="5816300"/>
          <a:ext cx="511674" cy="367355"/>
        </p:xfrm>
        <a:graphic>
          <a:graphicData uri="http://schemas.openxmlformats.org/presentationml/2006/ole">
            <mc:AlternateContent xmlns:mc="http://schemas.openxmlformats.org/markup-compatibility/2006">
              <mc:Choice xmlns:v="urn:schemas-microsoft-com:vml" Requires="v">
                <p:oleObj spid="_x0000_s2225" name="Equation" r:id="rId7" imgW="317160" imgH="228600" progId="Equation.DSMT4">
                  <p:embed/>
                </p:oleObj>
              </mc:Choice>
              <mc:Fallback>
                <p:oleObj name="Equation" r:id="rId7" imgW="317160" imgH="228600" progId="Equation.DSMT4">
                  <p:embed/>
                  <p:pic>
                    <p:nvPicPr>
                      <p:cNvPr id="10" name="Object 9"/>
                      <p:cNvPicPr/>
                      <p:nvPr/>
                    </p:nvPicPr>
                    <p:blipFill>
                      <a:blip r:embed="rId8"/>
                      <a:stretch>
                        <a:fillRect/>
                      </a:stretch>
                    </p:blipFill>
                    <p:spPr>
                      <a:xfrm>
                        <a:off x="6718664" y="5816300"/>
                        <a:ext cx="511674" cy="367355"/>
                      </a:xfrm>
                      <a:prstGeom prst="rect">
                        <a:avLst/>
                      </a:prstGeom>
                    </p:spPr>
                  </p:pic>
                </p:oleObj>
              </mc:Fallback>
            </mc:AlternateContent>
          </a:graphicData>
        </a:graphic>
      </p:graphicFrame>
    </p:spTree>
    <p:extLst>
      <p:ext uri="{BB962C8B-B14F-4D97-AF65-F5344CB8AC3E}">
        <p14:creationId xmlns:p14="http://schemas.microsoft.com/office/powerpoint/2010/main" val="711634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External Economies and International Trade </a:t>
            </a:r>
            <a:r>
              <a:rPr lang="en-US" altLang="en-US" sz="2000" b="0" dirty="0"/>
              <a:t>(2 of 10)</a:t>
            </a:r>
            <a:endParaRPr lang="en-US" dirty="0"/>
          </a:p>
        </p:txBody>
      </p:sp>
      <p:sp>
        <p:nvSpPr>
          <p:cNvPr id="7" name="Content Placeholder 6"/>
          <p:cNvSpPr>
            <a:spLocks noGrp="1"/>
          </p:cNvSpPr>
          <p:nvPr>
            <p:ph sz="quarter" idx="13"/>
          </p:nvPr>
        </p:nvSpPr>
        <p:spPr/>
        <p:txBody>
          <a:bodyPr/>
          <a:lstStyle/>
          <a:p>
            <a:r>
              <a:rPr lang="en-US" altLang="en-US" dirty="0"/>
              <a:t>What will happen when the countries open up the potential for trade in buttons?</a:t>
            </a:r>
          </a:p>
          <a:p>
            <a:r>
              <a:rPr lang="en-US" altLang="en-US" dirty="0"/>
              <a:t>The Chinese button industry will expand, while the U.S. button industry will contract.</a:t>
            </a:r>
          </a:p>
          <a:p>
            <a:r>
              <a:rPr lang="en-US" altLang="en-US" dirty="0"/>
              <a:t>This process feeds on itself: As the Chinese industry’s output rises, its costs will fall further; as the U.S. industry’s output falls, its costs will rise.</a:t>
            </a:r>
          </a:p>
          <a:p>
            <a:r>
              <a:rPr lang="en-US" altLang="en-US" dirty="0"/>
              <a:t>In the end, all button production will be in China</a:t>
            </a:r>
            <a:r>
              <a:rPr lang="en-US" altLang="en-US" dirty="0" smtClean="0"/>
              <a:t>.</a:t>
            </a:r>
            <a:endParaRPr lang="en-US" dirty="0"/>
          </a:p>
        </p:txBody>
      </p:sp>
    </p:spTree>
    <p:extLst>
      <p:ext uri="{BB962C8B-B14F-4D97-AF65-F5344CB8AC3E}">
        <p14:creationId xmlns:p14="http://schemas.microsoft.com/office/powerpoint/2010/main" val="3371078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External Economies and International Trade </a:t>
            </a:r>
            <a:r>
              <a:rPr lang="en-US" altLang="en-US" sz="2000" b="0" dirty="0" smtClean="0"/>
              <a:t>(3 </a:t>
            </a:r>
            <a:r>
              <a:rPr lang="en-US" altLang="en-US" sz="2000" b="0" dirty="0"/>
              <a:t>of 10)</a:t>
            </a:r>
            <a:endParaRPr lang="en-US" dirty="0"/>
          </a:p>
        </p:txBody>
      </p:sp>
      <p:sp>
        <p:nvSpPr>
          <p:cNvPr id="7" name="Content Placeholder 6"/>
          <p:cNvSpPr>
            <a:spLocks noGrp="1"/>
          </p:cNvSpPr>
          <p:nvPr>
            <p:ph sz="quarter" idx="13"/>
          </p:nvPr>
        </p:nvSpPr>
        <p:spPr>
          <a:xfrm>
            <a:off x="457199" y="1556327"/>
            <a:ext cx="8283039" cy="4586896"/>
          </a:xfrm>
        </p:spPr>
        <p:txBody>
          <a:bodyPr/>
          <a:lstStyle/>
          <a:p>
            <a:r>
              <a:rPr lang="en-US" altLang="en-US" dirty="0"/>
              <a:t>How does this concentration of production affect prices?</a:t>
            </a:r>
          </a:p>
          <a:p>
            <a:r>
              <a:rPr lang="en-US" altLang="en-US" dirty="0"/>
              <a:t>Chinese button prices were lower than U.S. button prices before trade.</a:t>
            </a:r>
          </a:p>
          <a:p>
            <a:r>
              <a:rPr lang="en-US" altLang="en-US" dirty="0"/>
              <a:t>Because China’s supply curve is forward-falling, increased production as a result of trade leads to a button price that is lower than the price before trade.</a:t>
            </a:r>
          </a:p>
          <a:p>
            <a:r>
              <a:rPr lang="en-US" altLang="en-US" b="1" dirty="0"/>
              <a:t>Trade leads to prices that are lower than the prices in either country before trade!</a:t>
            </a:r>
          </a:p>
        </p:txBody>
      </p:sp>
    </p:spTree>
    <p:extLst>
      <p:ext uri="{BB962C8B-B14F-4D97-AF65-F5344CB8AC3E}">
        <p14:creationId xmlns:p14="http://schemas.microsoft.com/office/powerpoint/2010/main" val="814518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External Economies and International Trade </a:t>
            </a:r>
            <a:r>
              <a:rPr lang="en-US" altLang="en-US" sz="2000" b="0" dirty="0"/>
              <a:t>(4 of 10)</a:t>
            </a:r>
            <a:endParaRPr lang="en-US" dirty="0"/>
          </a:p>
        </p:txBody>
      </p:sp>
      <p:sp>
        <p:nvSpPr>
          <p:cNvPr id="3" name="Content Placeholder 2"/>
          <p:cNvSpPr>
            <a:spLocks noGrp="1"/>
          </p:cNvSpPr>
          <p:nvPr>
            <p:ph sz="quarter" idx="13"/>
          </p:nvPr>
        </p:nvSpPr>
        <p:spPr>
          <a:xfrm>
            <a:off x="457200" y="1556327"/>
            <a:ext cx="8116784" cy="4586896"/>
          </a:xfrm>
        </p:spPr>
        <p:txBody>
          <a:bodyPr/>
          <a:lstStyle/>
          <a:p>
            <a:r>
              <a:rPr lang="en-US" altLang="en-US" dirty="0"/>
              <a:t>This is very different from the implications of models without increasing returns</a:t>
            </a:r>
            <a:r>
              <a:rPr lang="en-US" altLang="en-US" dirty="0" smtClean="0"/>
              <a:t>.</a:t>
            </a:r>
            <a:endParaRPr lang="en-US" altLang="en-US" dirty="0"/>
          </a:p>
          <a:p>
            <a:r>
              <a:rPr lang="en-US" altLang="en-US" dirty="0"/>
              <a:t>In the standard trade model, relative prices converge as a result of trade</a:t>
            </a:r>
            <a:r>
              <a:rPr lang="en-US" altLang="en-US" dirty="0" smtClean="0"/>
              <a:t>.</a:t>
            </a:r>
            <a:endParaRPr lang="en-US" altLang="en-US" dirty="0"/>
          </a:p>
          <a:p>
            <a:r>
              <a:rPr lang="en-US" altLang="en-US" dirty="0"/>
              <a:t>If cloth is relatively cheap in the home country and relatively expensive in the foreign country before trade opens, the effect of trade was to raise cloth prices in Home and reduce them in Foreign.</a:t>
            </a:r>
          </a:p>
          <a:p>
            <a:r>
              <a:rPr lang="en-US" altLang="en-US" b="1" dirty="0"/>
              <a:t>With external economies, by contrast, the effect of trade is to reduce prices everywhere</a:t>
            </a:r>
            <a:r>
              <a:rPr lang="en-US" altLang="en-US" b="1" dirty="0" smtClean="0"/>
              <a:t>.</a:t>
            </a:r>
            <a:endParaRPr lang="en-US" altLang="en-US" b="1" dirty="0"/>
          </a:p>
        </p:txBody>
      </p:sp>
    </p:spTree>
    <p:extLst>
      <p:ext uri="{BB962C8B-B14F-4D97-AF65-F5344CB8AC3E}">
        <p14:creationId xmlns:p14="http://schemas.microsoft.com/office/powerpoint/2010/main" val="2240269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smtClean="0">
                <a:latin typeface="+mj-lt"/>
              </a:rPr>
              <a:t>Figure 7.3 Trade and Prices</a:t>
            </a:r>
            <a:endParaRPr lang="en-US" sz="2000" b="0" dirty="0">
              <a:latin typeface="+mj-lt"/>
            </a:endParaRPr>
          </a:p>
        </p:txBody>
      </p:sp>
      <p:pic>
        <p:nvPicPr>
          <p:cNvPr id="23" name="Content Placeholder 22" descr="A graph shows price, cost per button versus the quantity of buttons produced, demanded.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692890" y="1554446"/>
            <a:ext cx="3758220" cy="3349341"/>
          </a:xfrm>
        </p:spPr>
      </p:pic>
      <p:sp>
        <p:nvSpPr>
          <p:cNvPr id="8" name="Content Placeholder 7"/>
          <p:cNvSpPr>
            <a:spLocks noGrp="1"/>
          </p:cNvSpPr>
          <p:nvPr>
            <p:ph sz="quarter" idx="16"/>
          </p:nvPr>
        </p:nvSpPr>
        <p:spPr>
          <a:xfrm>
            <a:off x="457200" y="5004166"/>
            <a:ext cx="8229600" cy="577905"/>
          </a:xfrm>
        </p:spPr>
        <p:txBody>
          <a:bodyPr tIns="0" rIns="0"/>
          <a:lstStyle/>
          <a:p>
            <a:pPr marL="0" indent="0">
              <a:buNone/>
            </a:pPr>
            <a:r>
              <a:rPr lang="en-US" sz="1800" dirty="0"/>
              <a:t>When trade is opened, China ends up producing buttons for the world market, which consists both of its own domestic market and of the U.S. market. </a:t>
            </a:r>
            <a:r>
              <a:rPr lang="en-US" sz="1800" dirty="0" smtClean="0"/>
              <a:t>Output</a:t>
            </a:r>
            <a:endParaRPr lang="en-US" sz="1800" dirty="0"/>
          </a:p>
        </p:txBody>
      </p:sp>
      <p:sp>
        <p:nvSpPr>
          <p:cNvPr id="7" name="Content Placeholder 6"/>
          <p:cNvSpPr>
            <a:spLocks noGrp="1"/>
          </p:cNvSpPr>
          <p:nvPr>
            <p:ph sz="quarter" idx="17"/>
          </p:nvPr>
        </p:nvSpPr>
        <p:spPr>
          <a:xfrm>
            <a:off x="457200" y="5657841"/>
            <a:ext cx="1205345" cy="330626"/>
          </a:xfrm>
        </p:spPr>
        <p:txBody>
          <a:bodyPr tIns="0" rIns="0"/>
          <a:lstStyle/>
          <a:p>
            <a:pPr marL="432" indent="0">
              <a:buNone/>
            </a:pPr>
            <a:r>
              <a:rPr lang="en-US" sz="1800" dirty="0" smtClean="0"/>
              <a:t>rises from</a:t>
            </a:r>
            <a:endParaRPr lang="en-US" sz="1800" dirty="0"/>
          </a:p>
        </p:txBody>
      </p:sp>
      <p:graphicFrame>
        <p:nvGraphicFramePr>
          <p:cNvPr id="14" name="Object 13" descr="Q sub 1 to Q sub 2,"/>
          <p:cNvGraphicFramePr>
            <a:graphicFrameLocks noChangeAspect="1"/>
          </p:cNvGraphicFramePr>
          <p:nvPr>
            <p:extLst>
              <p:ext uri="{D42A27DB-BD31-4B8C-83A1-F6EECF244321}">
                <p14:modId xmlns:p14="http://schemas.microsoft.com/office/powerpoint/2010/main" val="1710459901"/>
              </p:ext>
            </p:extLst>
          </p:nvPr>
        </p:nvGraphicFramePr>
        <p:xfrm>
          <a:off x="1740310" y="5654507"/>
          <a:ext cx="912425" cy="333959"/>
        </p:xfrm>
        <a:graphic>
          <a:graphicData uri="http://schemas.openxmlformats.org/presentationml/2006/ole">
            <mc:AlternateContent xmlns:mc="http://schemas.openxmlformats.org/markup-compatibility/2006">
              <mc:Choice xmlns:v="urn:schemas-microsoft-com:vml" Requires="v">
                <p:oleObj spid="_x0000_s7330" name="Equation" r:id="rId5" imgW="622080" imgH="228600" progId="Equation.DSMT4">
                  <p:embed/>
                </p:oleObj>
              </mc:Choice>
              <mc:Fallback>
                <p:oleObj name="Equation" r:id="rId5" imgW="622080" imgH="228600" progId="Equation.DSMT4">
                  <p:embed/>
                  <p:pic>
                    <p:nvPicPr>
                      <p:cNvPr id="14" name="Object 13"/>
                      <p:cNvPicPr/>
                      <p:nvPr/>
                    </p:nvPicPr>
                    <p:blipFill>
                      <a:blip r:embed="rId6"/>
                      <a:stretch>
                        <a:fillRect/>
                      </a:stretch>
                    </p:blipFill>
                    <p:spPr>
                      <a:xfrm>
                        <a:off x="1740310" y="5654507"/>
                        <a:ext cx="912425" cy="333959"/>
                      </a:xfrm>
                      <a:prstGeom prst="rect">
                        <a:avLst/>
                      </a:prstGeom>
                    </p:spPr>
                  </p:pic>
                </p:oleObj>
              </mc:Fallback>
            </mc:AlternateContent>
          </a:graphicData>
        </a:graphic>
      </p:graphicFrame>
      <p:sp>
        <p:nvSpPr>
          <p:cNvPr id="9" name="Content Placeholder 8"/>
          <p:cNvSpPr>
            <a:spLocks noGrp="1"/>
          </p:cNvSpPr>
          <p:nvPr>
            <p:ph sz="quarter" idx="18"/>
          </p:nvPr>
        </p:nvSpPr>
        <p:spPr>
          <a:xfrm>
            <a:off x="2742216" y="5663729"/>
            <a:ext cx="4418605" cy="313731"/>
          </a:xfrm>
        </p:spPr>
        <p:txBody>
          <a:bodyPr lIns="0" tIns="0" rIns="0"/>
          <a:lstStyle/>
          <a:p>
            <a:pPr marL="432" indent="0">
              <a:buNone/>
            </a:pPr>
            <a:r>
              <a:rPr lang="en-US" sz="1800" dirty="0" smtClean="0"/>
              <a:t>leading to a fall in the price of buttons from</a:t>
            </a:r>
            <a:endParaRPr lang="en-US" sz="1800" dirty="0"/>
          </a:p>
        </p:txBody>
      </p:sp>
      <p:graphicFrame>
        <p:nvGraphicFramePr>
          <p:cNvPr id="15" name="Object 14" descr="P sub 1 to P sub 2,"/>
          <p:cNvGraphicFramePr>
            <a:graphicFrameLocks noChangeAspect="1"/>
          </p:cNvGraphicFramePr>
          <p:nvPr>
            <p:extLst>
              <p:ext uri="{D42A27DB-BD31-4B8C-83A1-F6EECF244321}">
                <p14:modId xmlns:p14="http://schemas.microsoft.com/office/powerpoint/2010/main" val="2188939255"/>
              </p:ext>
            </p:extLst>
          </p:nvPr>
        </p:nvGraphicFramePr>
        <p:xfrm>
          <a:off x="7214297" y="5648008"/>
          <a:ext cx="856368" cy="333959"/>
        </p:xfrm>
        <a:graphic>
          <a:graphicData uri="http://schemas.openxmlformats.org/presentationml/2006/ole">
            <mc:AlternateContent xmlns:mc="http://schemas.openxmlformats.org/markup-compatibility/2006">
              <mc:Choice xmlns:v="urn:schemas-microsoft-com:vml" Requires="v">
                <p:oleObj spid="_x0000_s7331" name="Equation" r:id="rId7" imgW="583920" imgH="228600" progId="Equation.DSMT4">
                  <p:embed/>
                </p:oleObj>
              </mc:Choice>
              <mc:Fallback>
                <p:oleObj name="Equation" r:id="rId7" imgW="583920" imgH="228600" progId="Equation.DSMT4">
                  <p:embed/>
                  <p:pic>
                    <p:nvPicPr>
                      <p:cNvPr id="15" name="Object 14"/>
                      <p:cNvPicPr/>
                      <p:nvPr/>
                    </p:nvPicPr>
                    <p:blipFill>
                      <a:blip r:embed="rId8"/>
                      <a:stretch>
                        <a:fillRect/>
                      </a:stretch>
                    </p:blipFill>
                    <p:spPr>
                      <a:xfrm>
                        <a:off x="7214297" y="5648008"/>
                        <a:ext cx="856368" cy="333959"/>
                      </a:xfrm>
                      <a:prstGeom prst="rect">
                        <a:avLst/>
                      </a:prstGeom>
                    </p:spPr>
                  </p:pic>
                </p:oleObj>
              </mc:Fallback>
            </mc:AlternateContent>
          </a:graphicData>
        </a:graphic>
      </p:graphicFrame>
      <p:sp>
        <p:nvSpPr>
          <p:cNvPr id="10" name="Content Placeholder 9"/>
          <p:cNvSpPr>
            <a:spLocks noGrp="1"/>
          </p:cNvSpPr>
          <p:nvPr>
            <p:ph sz="quarter" idx="19"/>
          </p:nvPr>
        </p:nvSpPr>
        <p:spPr>
          <a:xfrm>
            <a:off x="457200" y="6048790"/>
            <a:ext cx="7380514" cy="310735"/>
          </a:xfrm>
        </p:spPr>
        <p:txBody>
          <a:bodyPr tIns="0" rIns="0"/>
          <a:lstStyle/>
          <a:p>
            <a:pPr marL="432" indent="0">
              <a:buNone/>
            </a:pPr>
            <a:r>
              <a:rPr lang="en-US" sz="1800" dirty="0" smtClean="0"/>
              <a:t>which is lower than the price of buttons in either country before trade.</a:t>
            </a:r>
            <a:endParaRPr lang="en-US" sz="1800" dirty="0"/>
          </a:p>
        </p:txBody>
      </p:sp>
    </p:spTree>
    <p:extLst>
      <p:ext uri="{BB962C8B-B14F-4D97-AF65-F5344CB8AC3E}">
        <p14:creationId xmlns:p14="http://schemas.microsoft.com/office/powerpoint/2010/main" val="2334918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n-lt"/>
                <a:cs typeface="Times New Roman" panose="02020603050405020304" pitchFamily="18" charset="0"/>
              </a:rPr>
              <a:t>External Economies and International Trade </a:t>
            </a:r>
            <a:r>
              <a:rPr lang="en-US" altLang="en-US" sz="2000" b="0" dirty="0">
                <a:latin typeface="+mn-lt"/>
                <a:cs typeface="Times New Roman" panose="02020603050405020304" pitchFamily="18" charset="0"/>
              </a:rPr>
              <a:t>(5 of 10)</a:t>
            </a:r>
            <a:endParaRPr lang="en-US" sz="2000" dirty="0">
              <a:latin typeface="+mn-lt"/>
              <a:cs typeface="Times New Roman" panose="02020603050405020304" pitchFamily="18" charset="0"/>
            </a:endParaRPr>
          </a:p>
        </p:txBody>
      </p:sp>
      <p:sp>
        <p:nvSpPr>
          <p:cNvPr id="13" name="Content Placeholder 12"/>
          <p:cNvSpPr>
            <a:spLocks noGrp="1"/>
          </p:cNvSpPr>
          <p:nvPr>
            <p:ph sz="quarter" idx="13"/>
          </p:nvPr>
        </p:nvSpPr>
        <p:spPr/>
        <p:txBody>
          <a:bodyPr/>
          <a:lstStyle/>
          <a:p>
            <a:r>
              <a:rPr lang="en-US" altLang="en-US" dirty="0"/>
              <a:t>What might cause one country to have an initial advantage from having a lower price?</a:t>
            </a:r>
          </a:p>
          <a:p>
            <a:r>
              <a:rPr lang="en-US" altLang="en-US" dirty="0"/>
              <a:t>One possibility is comparative advantage due to underlying differences in technology and resources.</a:t>
            </a:r>
          </a:p>
          <a:p>
            <a:r>
              <a:rPr lang="en-US" altLang="en-US" dirty="0"/>
              <a:t>If external economies exist, however, the pattern of trade could be due to historical accidents:</a:t>
            </a:r>
          </a:p>
          <a:p>
            <a:pPr lvl="1"/>
            <a:r>
              <a:rPr lang="en-US" altLang="en-US" dirty="0"/>
              <a:t>Countries that start as large producers in certain industries tend to remain large producers even if another country could potentially produce more cheaply</a:t>
            </a:r>
            <a:r>
              <a:rPr lang="en-US" altLang="en-US" dirty="0" smtClean="0"/>
              <a:t>.</a:t>
            </a:r>
            <a:endParaRPr lang="en-US" altLang="en-US" b="1" dirty="0"/>
          </a:p>
        </p:txBody>
      </p:sp>
    </p:spTree>
    <p:extLst>
      <p:ext uri="{BB962C8B-B14F-4D97-AF65-F5344CB8AC3E}">
        <p14:creationId xmlns:p14="http://schemas.microsoft.com/office/powerpoint/2010/main" val="2255928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External Economies and International Trade </a:t>
            </a:r>
            <a:r>
              <a:rPr lang="en-US" altLang="en-US" sz="2000" b="0" dirty="0" smtClean="0">
                <a:cs typeface="Times New Roman" panose="02020603050405020304" pitchFamily="18" charset="0"/>
              </a:rPr>
              <a:t>(6 </a:t>
            </a:r>
            <a:r>
              <a:rPr lang="en-US" altLang="en-US" sz="2000" b="0" dirty="0">
                <a:cs typeface="Times New Roman" panose="02020603050405020304" pitchFamily="18" charset="0"/>
              </a:rPr>
              <a:t>of 10)</a:t>
            </a:r>
            <a:endParaRPr lang="en-US" sz="2000" dirty="0"/>
          </a:p>
        </p:txBody>
      </p:sp>
      <p:sp>
        <p:nvSpPr>
          <p:cNvPr id="3" name="Content Placeholder 2"/>
          <p:cNvSpPr>
            <a:spLocks noGrp="1"/>
          </p:cNvSpPr>
          <p:nvPr>
            <p:ph sz="quarter" idx="13"/>
          </p:nvPr>
        </p:nvSpPr>
        <p:spPr>
          <a:xfrm>
            <a:off x="457200" y="1556327"/>
            <a:ext cx="8104909" cy="4586896"/>
          </a:xfrm>
        </p:spPr>
        <p:txBody>
          <a:bodyPr/>
          <a:lstStyle/>
          <a:p>
            <a:r>
              <a:rPr lang="en-US" altLang="en-US" dirty="0"/>
              <a:t>A tufted blanket, crafted as a wedding gift by a 19th-century teenager, gave rise to the cluster of carpet manufacturers around Dalton, Georgia.</a:t>
            </a:r>
          </a:p>
          <a:p>
            <a:r>
              <a:rPr lang="en-US" altLang="en-US" dirty="0"/>
              <a:t>Silicon Valley may owe its existence to two Stanford graduates named Hewlett and Packard who started a business in a garage there</a:t>
            </a:r>
            <a:r>
              <a:rPr lang="en-US" altLang="en-US" dirty="0" smtClean="0"/>
              <a:t>.</a:t>
            </a:r>
            <a:endParaRPr lang="en-US" altLang="en-US" b="1" dirty="0"/>
          </a:p>
        </p:txBody>
      </p:sp>
    </p:spTree>
    <p:extLst>
      <p:ext uri="{BB962C8B-B14F-4D97-AF65-F5344CB8AC3E}">
        <p14:creationId xmlns:p14="http://schemas.microsoft.com/office/powerpoint/2010/main" val="2666929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External Economies and International Trade </a:t>
            </a:r>
            <a:r>
              <a:rPr lang="en-US" altLang="en-US" sz="2000" b="0" dirty="0" smtClean="0">
                <a:cs typeface="Times New Roman" panose="02020603050405020304" pitchFamily="18" charset="0"/>
              </a:rPr>
              <a:t>(7 </a:t>
            </a:r>
            <a:r>
              <a:rPr lang="en-US" altLang="en-US" sz="2000" b="0" dirty="0">
                <a:cs typeface="Times New Roman" panose="02020603050405020304" pitchFamily="18" charset="0"/>
              </a:rPr>
              <a:t>of 10)</a:t>
            </a:r>
            <a:endParaRPr lang="en-US" sz="2000" dirty="0"/>
          </a:p>
        </p:txBody>
      </p:sp>
      <p:sp>
        <p:nvSpPr>
          <p:cNvPr id="3" name="Content Placeholder 2"/>
          <p:cNvSpPr>
            <a:spLocks noGrp="1"/>
          </p:cNvSpPr>
          <p:nvPr>
            <p:ph sz="quarter" idx="13"/>
          </p:nvPr>
        </p:nvSpPr>
        <p:spPr>
          <a:xfrm>
            <a:off x="457200" y="1556327"/>
            <a:ext cx="8294914" cy="4795312"/>
          </a:xfrm>
        </p:spPr>
        <p:txBody>
          <a:bodyPr/>
          <a:lstStyle/>
          <a:p>
            <a:pPr>
              <a:spcBef>
                <a:spcPts val="1200"/>
              </a:spcBef>
            </a:pPr>
            <a:r>
              <a:rPr lang="en-US" altLang="en-US" dirty="0"/>
              <a:t>Assume that the Vietnamese cost curve lies below the Chinese curve because Vietnamese wages are lower than Chinese wages.</a:t>
            </a:r>
          </a:p>
          <a:p>
            <a:pPr>
              <a:spcBef>
                <a:spcPts val="1200"/>
              </a:spcBef>
            </a:pPr>
            <a:r>
              <a:rPr lang="en-US" altLang="en-US" dirty="0"/>
              <a:t>At any given level of production, Vietnam could manufacture buttons more cheaply than China.</a:t>
            </a:r>
          </a:p>
          <a:p>
            <a:pPr>
              <a:spcBef>
                <a:spcPts val="1200"/>
              </a:spcBef>
            </a:pPr>
            <a:r>
              <a:rPr lang="en-US" altLang="en-US" dirty="0"/>
              <a:t>One might hope that this would always imply that Vietnam will in fact supply the world market.</a:t>
            </a:r>
          </a:p>
          <a:p>
            <a:pPr>
              <a:spcBef>
                <a:spcPts val="1200"/>
              </a:spcBef>
            </a:pPr>
            <a:r>
              <a:rPr lang="en-US" altLang="en-US" dirty="0"/>
              <a:t>But this need not always be the case if China has enough of a head start.</a:t>
            </a:r>
          </a:p>
          <a:p>
            <a:pPr>
              <a:spcBef>
                <a:spcPts val="1200"/>
              </a:spcBef>
            </a:pPr>
            <a:r>
              <a:rPr lang="en-US" altLang="en-US" b="1" dirty="0"/>
              <a:t>No guarantee that the right country will produce a good that is subject to external economies.</a:t>
            </a:r>
          </a:p>
        </p:txBody>
      </p:sp>
    </p:spTree>
    <p:extLst>
      <p:ext uri="{BB962C8B-B14F-4D97-AF65-F5344CB8AC3E}">
        <p14:creationId xmlns:p14="http://schemas.microsoft.com/office/powerpoint/2010/main" val="3312006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smtClean="0">
                <a:latin typeface="+mj-lt"/>
              </a:rPr>
              <a:t>Figure 7.4 The Importance of Established Advantage</a:t>
            </a:r>
            <a:endParaRPr lang="en-US" sz="3200" b="0" dirty="0">
              <a:latin typeface="+mj-lt"/>
            </a:endParaRPr>
          </a:p>
        </p:txBody>
      </p:sp>
      <p:pic>
        <p:nvPicPr>
          <p:cNvPr id="14" name="Content Placeholder 13" descr="A graph shows price, cost per button, versus quantity of buttons produced and demanded. For long description in Notes pane, press F6."/>
          <p:cNvPicPr>
            <a:picLocks noGrp="1" noChangeAspect="1"/>
          </p:cNvPicPr>
          <p:nvPr>
            <p:ph idx="21"/>
          </p:nvPr>
        </p:nvPicPr>
        <p:blipFill>
          <a:blip r:embed="rId4">
            <a:extLst>
              <a:ext uri="{28A0092B-C50C-407E-A947-70E740481C1C}">
                <a14:useLocalDpi xmlns:a14="http://schemas.microsoft.com/office/drawing/2010/main" val="0"/>
              </a:ext>
            </a:extLst>
          </a:blip>
          <a:stretch>
            <a:fillRect/>
          </a:stretch>
        </p:blipFill>
        <p:spPr>
          <a:xfrm>
            <a:off x="3290389" y="1550818"/>
            <a:ext cx="2767999" cy="2386657"/>
          </a:xfrm>
        </p:spPr>
      </p:pic>
      <p:sp>
        <p:nvSpPr>
          <p:cNvPr id="4" name="Content Placeholder 3"/>
          <p:cNvSpPr>
            <a:spLocks noGrp="1"/>
          </p:cNvSpPr>
          <p:nvPr>
            <p:ph idx="1"/>
          </p:nvPr>
        </p:nvSpPr>
        <p:spPr>
          <a:xfrm>
            <a:off x="457201" y="4056414"/>
            <a:ext cx="3473531" cy="301826"/>
          </a:xfrm>
        </p:spPr>
        <p:txBody>
          <a:bodyPr tIns="0"/>
          <a:lstStyle/>
          <a:p>
            <a:pPr marL="0" indent="0">
              <a:buNone/>
            </a:pPr>
            <a:r>
              <a:rPr lang="en-US" dirty="0">
                <a:latin typeface="+mn-lt"/>
              </a:rPr>
              <a:t>The average cost curve for Vietnam</a:t>
            </a:r>
            <a:r>
              <a:rPr lang="en-US" dirty="0" smtClean="0">
                <a:latin typeface="+mn-lt"/>
              </a:rPr>
              <a:t>,</a:t>
            </a:r>
            <a:endParaRPr lang="en-US" dirty="0">
              <a:latin typeface="+mn-lt"/>
            </a:endParaRPr>
          </a:p>
        </p:txBody>
      </p:sp>
      <p:graphicFrame>
        <p:nvGraphicFramePr>
          <p:cNvPr id="15" name="Object 14" descr="A C sub VIETNAM, "/>
          <p:cNvGraphicFramePr>
            <a:graphicFrameLocks noChangeAspect="1"/>
          </p:cNvGraphicFramePr>
          <p:nvPr>
            <p:extLst>
              <p:ext uri="{D42A27DB-BD31-4B8C-83A1-F6EECF244321}">
                <p14:modId xmlns:p14="http://schemas.microsoft.com/office/powerpoint/2010/main" val="3952227283"/>
              </p:ext>
            </p:extLst>
          </p:nvPr>
        </p:nvGraphicFramePr>
        <p:xfrm>
          <a:off x="3975071" y="4056449"/>
          <a:ext cx="1032238" cy="303599"/>
        </p:xfrm>
        <a:graphic>
          <a:graphicData uri="http://schemas.openxmlformats.org/presentationml/2006/ole">
            <mc:AlternateContent xmlns:mc="http://schemas.openxmlformats.org/markup-compatibility/2006">
              <mc:Choice xmlns:v="urn:schemas-microsoft-com:vml" Requires="v">
                <p:oleObj spid="_x0000_s4446" name="Equation" r:id="rId5" imgW="774360" imgH="228600" progId="Equation.DSMT4">
                  <p:embed/>
                </p:oleObj>
              </mc:Choice>
              <mc:Fallback>
                <p:oleObj name="Equation" r:id="rId5" imgW="774360" imgH="228600" progId="Equation.DSMT4">
                  <p:embed/>
                  <p:pic>
                    <p:nvPicPr>
                      <p:cNvPr id="15" name="Object 14"/>
                      <p:cNvPicPr/>
                      <p:nvPr/>
                    </p:nvPicPr>
                    <p:blipFill>
                      <a:blip r:embed="rId6"/>
                      <a:stretch>
                        <a:fillRect/>
                      </a:stretch>
                    </p:blipFill>
                    <p:spPr>
                      <a:xfrm>
                        <a:off x="3975071" y="4056449"/>
                        <a:ext cx="1032238" cy="303599"/>
                      </a:xfrm>
                      <a:prstGeom prst="rect">
                        <a:avLst/>
                      </a:prstGeom>
                    </p:spPr>
                  </p:pic>
                </p:oleObj>
              </mc:Fallback>
            </mc:AlternateContent>
          </a:graphicData>
        </a:graphic>
      </p:graphicFrame>
      <p:sp>
        <p:nvSpPr>
          <p:cNvPr id="3" name="Content Placeholder 2"/>
          <p:cNvSpPr>
            <a:spLocks noGrp="1"/>
          </p:cNvSpPr>
          <p:nvPr>
            <p:ph idx="13"/>
          </p:nvPr>
        </p:nvSpPr>
        <p:spPr>
          <a:xfrm>
            <a:off x="5099149" y="4056449"/>
            <a:ext cx="2619812" cy="289916"/>
          </a:xfrm>
        </p:spPr>
        <p:txBody>
          <a:bodyPr lIns="0" tIns="0"/>
          <a:lstStyle/>
          <a:p>
            <a:pPr marL="0" indent="0">
              <a:buNone/>
            </a:pPr>
            <a:r>
              <a:rPr lang="en-US" dirty="0" smtClean="0">
                <a:latin typeface="+mn-lt"/>
              </a:rPr>
              <a:t>lies below the average cost</a:t>
            </a:r>
            <a:endParaRPr lang="en-US" dirty="0">
              <a:latin typeface="+mn-lt"/>
            </a:endParaRPr>
          </a:p>
        </p:txBody>
      </p:sp>
      <p:sp>
        <p:nvSpPr>
          <p:cNvPr id="6" name="Content Placeholder 5"/>
          <p:cNvSpPr>
            <a:spLocks noGrp="1"/>
          </p:cNvSpPr>
          <p:nvPr>
            <p:ph idx="14"/>
          </p:nvPr>
        </p:nvSpPr>
        <p:spPr>
          <a:xfrm>
            <a:off x="457200" y="4438438"/>
            <a:ext cx="1620982" cy="287940"/>
          </a:xfrm>
        </p:spPr>
        <p:txBody>
          <a:bodyPr tIns="0"/>
          <a:lstStyle/>
          <a:p>
            <a:pPr marL="0" indent="0">
              <a:buNone/>
            </a:pPr>
            <a:r>
              <a:rPr lang="en-US" dirty="0" smtClean="0">
                <a:latin typeface="+mn-lt"/>
              </a:rPr>
              <a:t>curve for China,</a:t>
            </a:r>
            <a:endParaRPr lang="en-US" dirty="0">
              <a:latin typeface="+mn-lt"/>
            </a:endParaRPr>
          </a:p>
        </p:txBody>
      </p:sp>
      <p:graphicFrame>
        <p:nvGraphicFramePr>
          <p:cNvPr id="16" name="Object 15" descr="A C sub CHINA, "/>
          <p:cNvGraphicFramePr>
            <a:graphicFrameLocks noChangeAspect="1"/>
          </p:cNvGraphicFramePr>
          <p:nvPr>
            <p:extLst>
              <p:ext uri="{D42A27DB-BD31-4B8C-83A1-F6EECF244321}">
                <p14:modId xmlns:p14="http://schemas.microsoft.com/office/powerpoint/2010/main" val="1947622362"/>
              </p:ext>
            </p:extLst>
          </p:nvPr>
        </p:nvGraphicFramePr>
        <p:xfrm>
          <a:off x="2139643" y="4424747"/>
          <a:ext cx="846229" cy="304380"/>
        </p:xfrm>
        <a:graphic>
          <a:graphicData uri="http://schemas.openxmlformats.org/presentationml/2006/ole">
            <mc:AlternateContent xmlns:mc="http://schemas.openxmlformats.org/markup-compatibility/2006">
              <mc:Choice xmlns:v="urn:schemas-microsoft-com:vml" Requires="v">
                <p:oleObj spid="_x0000_s4447" name="Equation" r:id="rId7" imgW="634680" imgH="228600" progId="Equation.DSMT4">
                  <p:embed/>
                </p:oleObj>
              </mc:Choice>
              <mc:Fallback>
                <p:oleObj name="Equation" r:id="rId7" imgW="634680" imgH="228600" progId="Equation.DSMT4">
                  <p:embed/>
                  <p:pic>
                    <p:nvPicPr>
                      <p:cNvPr id="16" name="Object 15"/>
                      <p:cNvPicPr/>
                      <p:nvPr/>
                    </p:nvPicPr>
                    <p:blipFill>
                      <a:blip r:embed="rId8"/>
                      <a:stretch>
                        <a:fillRect/>
                      </a:stretch>
                    </p:blipFill>
                    <p:spPr>
                      <a:xfrm>
                        <a:off x="2139643" y="4424747"/>
                        <a:ext cx="846229" cy="304380"/>
                      </a:xfrm>
                      <a:prstGeom prst="rect">
                        <a:avLst/>
                      </a:prstGeom>
                    </p:spPr>
                  </p:pic>
                </p:oleObj>
              </mc:Fallback>
            </mc:AlternateContent>
          </a:graphicData>
        </a:graphic>
      </p:graphicFrame>
      <p:sp>
        <p:nvSpPr>
          <p:cNvPr id="7" name="Content Placeholder 6"/>
          <p:cNvSpPr>
            <a:spLocks noGrp="1"/>
          </p:cNvSpPr>
          <p:nvPr>
            <p:ph idx="15"/>
          </p:nvPr>
        </p:nvSpPr>
        <p:spPr>
          <a:xfrm>
            <a:off x="3094831" y="4438438"/>
            <a:ext cx="5099143" cy="287939"/>
          </a:xfrm>
        </p:spPr>
        <p:txBody>
          <a:bodyPr lIns="0" tIns="0"/>
          <a:lstStyle/>
          <a:p>
            <a:pPr marL="0" indent="0">
              <a:buNone/>
            </a:pPr>
            <a:r>
              <a:rPr lang="en-US" dirty="0" smtClean="0">
                <a:latin typeface="+mn-lt"/>
              </a:rPr>
              <a:t>Thus Vietnam could potentially supply the world market</a:t>
            </a:r>
            <a:endParaRPr lang="en-US" dirty="0">
              <a:latin typeface="+mn-lt"/>
            </a:endParaRPr>
          </a:p>
        </p:txBody>
      </p:sp>
      <p:sp>
        <p:nvSpPr>
          <p:cNvPr id="8" name="Content Placeholder 7"/>
          <p:cNvSpPr>
            <a:spLocks noGrp="1"/>
          </p:cNvSpPr>
          <p:nvPr>
            <p:ph idx="16"/>
          </p:nvPr>
        </p:nvSpPr>
        <p:spPr>
          <a:xfrm>
            <a:off x="457199" y="4812816"/>
            <a:ext cx="7439892" cy="305447"/>
          </a:xfrm>
        </p:spPr>
        <p:txBody>
          <a:bodyPr tIns="0"/>
          <a:lstStyle/>
          <a:p>
            <a:pPr marL="0" indent="0">
              <a:buNone/>
            </a:pPr>
            <a:r>
              <a:rPr lang="en-US" dirty="0" smtClean="0">
                <a:latin typeface="+mn-lt"/>
              </a:rPr>
              <a:t>more cheaply than China. If the Chinese industry gets established first, however,</a:t>
            </a:r>
            <a:endParaRPr lang="en-US" dirty="0">
              <a:latin typeface="+mn-lt"/>
            </a:endParaRPr>
          </a:p>
        </p:txBody>
      </p:sp>
      <p:sp>
        <p:nvSpPr>
          <p:cNvPr id="9" name="Content Placeholder 8"/>
          <p:cNvSpPr>
            <a:spLocks noGrp="1"/>
          </p:cNvSpPr>
          <p:nvPr>
            <p:ph idx="17"/>
          </p:nvPr>
        </p:nvSpPr>
        <p:spPr>
          <a:xfrm>
            <a:off x="457200" y="5174582"/>
            <a:ext cx="3853544" cy="299939"/>
          </a:xfrm>
        </p:spPr>
        <p:txBody>
          <a:bodyPr tIns="0"/>
          <a:lstStyle/>
          <a:p>
            <a:pPr marL="0" indent="0">
              <a:buNone/>
            </a:pPr>
            <a:r>
              <a:rPr lang="en-US" dirty="0" smtClean="0">
                <a:latin typeface="+mn-lt"/>
              </a:rPr>
              <a:t>it may be able to sell buttons at the price</a:t>
            </a:r>
            <a:endParaRPr lang="en-US" dirty="0">
              <a:latin typeface="+mn-lt"/>
            </a:endParaRPr>
          </a:p>
        </p:txBody>
      </p:sp>
      <p:graphicFrame>
        <p:nvGraphicFramePr>
          <p:cNvPr id="17" name="Object 16" descr="P sub 1,"/>
          <p:cNvGraphicFramePr>
            <a:graphicFrameLocks noChangeAspect="1"/>
          </p:cNvGraphicFramePr>
          <p:nvPr>
            <p:extLst>
              <p:ext uri="{D42A27DB-BD31-4B8C-83A1-F6EECF244321}">
                <p14:modId xmlns:p14="http://schemas.microsoft.com/office/powerpoint/2010/main" val="2069791357"/>
              </p:ext>
            </p:extLst>
          </p:nvPr>
        </p:nvGraphicFramePr>
        <p:xfrm>
          <a:off x="4367929" y="5168625"/>
          <a:ext cx="270268" cy="303068"/>
        </p:xfrm>
        <a:graphic>
          <a:graphicData uri="http://schemas.openxmlformats.org/presentationml/2006/ole">
            <mc:AlternateContent xmlns:mc="http://schemas.openxmlformats.org/markup-compatibility/2006">
              <mc:Choice xmlns:v="urn:schemas-microsoft-com:vml" Requires="v">
                <p:oleObj spid="_x0000_s4448" name="Equation" r:id="rId9" imgW="203040" imgH="228600" progId="Equation.DSMT4">
                  <p:embed/>
                </p:oleObj>
              </mc:Choice>
              <mc:Fallback>
                <p:oleObj name="Equation" r:id="rId9" imgW="203040" imgH="228600" progId="Equation.DSMT4">
                  <p:embed/>
                  <p:pic>
                    <p:nvPicPr>
                      <p:cNvPr id="17" name="Object 16"/>
                      <p:cNvPicPr/>
                      <p:nvPr/>
                    </p:nvPicPr>
                    <p:blipFill>
                      <a:blip r:embed="rId10"/>
                      <a:stretch>
                        <a:fillRect/>
                      </a:stretch>
                    </p:blipFill>
                    <p:spPr>
                      <a:xfrm>
                        <a:off x="4367929" y="5168625"/>
                        <a:ext cx="270268" cy="303068"/>
                      </a:xfrm>
                      <a:prstGeom prst="rect">
                        <a:avLst/>
                      </a:prstGeom>
                    </p:spPr>
                  </p:pic>
                </p:oleObj>
              </mc:Fallback>
            </mc:AlternateContent>
          </a:graphicData>
        </a:graphic>
      </p:graphicFrame>
      <p:sp>
        <p:nvSpPr>
          <p:cNvPr id="10" name="Content Placeholder 9"/>
          <p:cNvSpPr>
            <a:spLocks noGrp="1"/>
          </p:cNvSpPr>
          <p:nvPr>
            <p:ph idx="18"/>
          </p:nvPr>
        </p:nvSpPr>
        <p:spPr>
          <a:xfrm>
            <a:off x="4695382" y="5174582"/>
            <a:ext cx="2216057" cy="297111"/>
          </a:xfrm>
        </p:spPr>
        <p:txBody>
          <a:bodyPr lIns="0" tIns="0"/>
          <a:lstStyle/>
          <a:p>
            <a:pPr marL="0" indent="0">
              <a:buNone/>
            </a:pPr>
            <a:r>
              <a:rPr lang="en-US" dirty="0" smtClean="0">
                <a:latin typeface="+mn-lt"/>
              </a:rPr>
              <a:t>which is below the cost</a:t>
            </a:r>
            <a:endParaRPr lang="en-US" dirty="0">
              <a:latin typeface="+mn-lt"/>
            </a:endParaRPr>
          </a:p>
        </p:txBody>
      </p:sp>
      <p:graphicFrame>
        <p:nvGraphicFramePr>
          <p:cNvPr id="18" name="Object 17" descr="C sub 0"/>
          <p:cNvGraphicFramePr>
            <a:graphicFrameLocks noChangeAspect="1"/>
          </p:cNvGraphicFramePr>
          <p:nvPr>
            <p:extLst>
              <p:ext uri="{D42A27DB-BD31-4B8C-83A1-F6EECF244321}">
                <p14:modId xmlns:p14="http://schemas.microsoft.com/office/powerpoint/2010/main" val="2899569051"/>
              </p:ext>
            </p:extLst>
          </p:nvPr>
        </p:nvGraphicFramePr>
        <p:xfrm>
          <a:off x="6966751" y="5167965"/>
          <a:ext cx="277291" cy="310944"/>
        </p:xfrm>
        <a:graphic>
          <a:graphicData uri="http://schemas.openxmlformats.org/presentationml/2006/ole">
            <mc:AlternateContent xmlns:mc="http://schemas.openxmlformats.org/markup-compatibility/2006">
              <mc:Choice xmlns:v="urn:schemas-microsoft-com:vml" Requires="v">
                <p:oleObj spid="_x0000_s4449" name="Equation" r:id="rId11" imgW="203040" imgH="228600" progId="Equation.DSMT4">
                  <p:embed/>
                </p:oleObj>
              </mc:Choice>
              <mc:Fallback>
                <p:oleObj name="Equation" r:id="rId11" imgW="203040" imgH="228600" progId="Equation.DSMT4">
                  <p:embed/>
                  <p:pic>
                    <p:nvPicPr>
                      <p:cNvPr id="18" name="Object 17"/>
                      <p:cNvPicPr/>
                      <p:nvPr/>
                    </p:nvPicPr>
                    <p:blipFill>
                      <a:blip r:embed="rId12"/>
                      <a:stretch>
                        <a:fillRect/>
                      </a:stretch>
                    </p:blipFill>
                    <p:spPr>
                      <a:xfrm>
                        <a:off x="6966751" y="5167965"/>
                        <a:ext cx="277291" cy="310944"/>
                      </a:xfrm>
                      <a:prstGeom prst="rect">
                        <a:avLst/>
                      </a:prstGeom>
                    </p:spPr>
                  </p:pic>
                </p:oleObj>
              </mc:Fallback>
            </mc:AlternateContent>
          </a:graphicData>
        </a:graphic>
      </p:graphicFrame>
      <p:sp>
        <p:nvSpPr>
          <p:cNvPr id="11" name="Content Placeholder 10"/>
          <p:cNvSpPr>
            <a:spLocks noGrp="1"/>
          </p:cNvSpPr>
          <p:nvPr>
            <p:ph idx="19"/>
          </p:nvPr>
        </p:nvSpPr>
        <p:spPr>
          <a:xfrm>
            <a:off x="480949" y="5557680"/>
            <a:ext cx="8229600" cy="771863"/>
          </a:xfrm>
        </p:spPr>
        <p:txBody>
          <a:bodyPr tIns="0"/>
          <a:lstStyle/>
          <a:p>
            <a:pPr marL="0" indent="0">
              <a:buNone/>
            </a:pPr>
            <a:r>
              <a:rPr lang="en-US" dirty="0" smtClean="0">
                <a:latin typeface="+mn-lt"/>
              </a:rPr>
              <a:t>that an individual Vietnamese firm would face if it began production on its own. So a pattern of specialization established by historical accident may persist even when new producers could potentially have lower costs.</a:t>
            </a:r>
            <a:endParaRPr lang="en-US" dirty="0">
              <a:latin typeface="+mn-lt"/>
            </a:endParaRPr>
          </a:p>
        </p:txBody>
      </p:sp>
    </p:spTree>
    <p:extLst>
      <p:ext uri="{BB962C8B-B14F-4D97-AF65-F5344CB8AC3E}">
        <p14:creationId xmlns:p14="http://schemas.microsoft.com/office/powerpoint/2010/main" val="3225968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External Economies and International Trade </a:t>
            </a:r>
            <a:r>
              <a:rPr lang="en-US" altLang="en-US" sz="2000" b="0" dirty="0" smtClean="0">
                <a:cs typeface="Times New Roman" panose="02020603050405020304" pitchFamily="18" charset="0"/>
              </a:rPr>
              <a:t>(8 </a:t>
            </a:r>
            <a:r>
              <a:rPr lang="en-US" altLang="en-US" sz="2000" b="0" dirty="0">
                <a:cs typeface="Times New Roman" panose="02020603050405020304" pitchFamily="18" charset="0"/>
              </a:rPr>
              <a:t>of 10)</a:t>
            </a:r>
            <a:endParaRPr lang="en-US" sz="2000" dirty="0"/>
          </a:p>
        </p:txBody>
      </p:sp>
      <p:sp>
        <p:nvSpPr>
          <p:cNvPr id="3" name="Content Placeholder 2"/>
          <p:cNvSpPr>
            <a:spLocks noGrp="1"/>
          </p:cNvSpPr>
          <p:nvPr>
            <p:ph sz="quarter" idx="13"/>
          </p:nvPr>
        </p:nvSpPr>
        <p:spPr>
          <a:xfrm>
            <a:off x="457200" y="1556327"/>
            <a:ext cx="8229600" cy="4795312"/>
          </a:xfrm>
        </p:spPr>
        <p:txBody>
          <a:bodyPr/>
          <a:lstStyle/>
          <a:p>
            <a:pPr>
              <a:spcBef>
                <a:spcPts val="1200"/>
              </a:spcBef>
            </a:pPr>
            <a:r>
              <a:rPr lang="en-US" altLang="en-US" dirty="0"/>
              <a:t>Trade based on external economies has an ambiguous effect on national welfare.</a:t>
            </a:r>
          </a:p>
          <a:p>
            <a:pPr lvl="1"/>
            <a:r>
              <a:rPr lang="en-US" altLang="en-US" dirty="0"/>
              <a:t>There will be gains to the world economy by concentrating production of industries with external economies.</a:t>
            </a:r>
          </a:p>
          <a:p>
            <a:pPr lvl="1"/>
            <a:r>
              <a:rPr lang="en-US" altLang="en-US" b="1" dirty="0"/>
              <a:t>It’s possible that a country is worse off with trade than it would have been without trade:</a:t>
            </a:r>
            <a:r>
              <a:rPr lang="en-US" altLang="en-US" dirty="0"/>
              <a:t> a country may be better off if it produces everything for its domestic market rather than pay for imports.</a:t>
            </a:r>
            <a:endParaRPr lang="en-US" altLang="en-US" b="1" dirty="0"/>
          </a:p>
        </p:txBody>
      </p:sp>
    </p:spTree>
    <p:extLst>
      <p:ext uri="{BB962C8B-B14F-4D97-AF65-F5344CB8AC3E}">
        <p14:creationId xmlns:p14="http://schemas.microsoft.com/office/powerpoint/2010/main" val="2806446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External Economies and International Trade </a:t>
            </a:r>
            <a:r>
              <a:rPr lang="en-US" altLang="en-US" sz="2000" b="0" dirty="0" smtClean="0">
                <a:cs typeface="Times New Roman" panose="02020603050405020304" pitchFamily="18" charset="0"/>
              </a:rPr>
              <a:t>(9 </a:t>
            </a:r>
            <a:r>
              <a:rPr lang="en-US" altLang="en-US" sz="2000" b="0" dirty="0">
                <a:cs typeface="Times New Roman" panose="02020603050405020304" pitchFamily="18" charset="0"/>
              </a:rPr>
              <a:t>of 10)</a:t>
            </a:r>
            <a:endParaRPr lang="en-US" sz="2000" dirty="0"/>
          </a:p>
        </p:txBody>
      </p:sp>
      <p:sp>
        <p:nvSpPr>
          <p:cNvPr id="3" name="Content Placeholder 2"/>
          <p:cNvSpPr>
            <a:spLocks noGrp="1"/>
          </p:cNvSpPr>
          <p:nvPr>
            <p:ph sz="quarter" idx="13"/>
          </p:nvPr>
        </p:nvSpPr>
        <p:spPr>
          <a:xfrm>
            <a:off x="457200" y="1556327"/>
            <a:ext cx="8310563" cy="4795312"/>
          </a:xfrm>
        </p:spPr>
        <p:txBody>
          <a:bodyPr/>
          <a:lstStyle/>
          <a:p>
            <a:pPr>
              <a:spcBef>
                <a:spcPts val="1200"/>
              </a:spcBef>
            </a:pPr>
            <a:r>
              <a:rPr lang="en-US" altLang="en-US" dirty="0"/>
              <a:t>Imagine that Thailand could make watches more cheaply, but Switzerland got there first.</a:t>
            </a:r>
          </a:p>
          <a:p>
            <a:pPr>
              <a:spcBef>
                <a:spcPts val="1200"/>
              </a:spcBef>
            </a:pPr>
            <a:r>
              <a:rPr lang="en-US" altLang="en-US" dirty="0"/>
              <a:t>The price of watches could be lower in Thailand with no trade.</a:t>
            </a:r>
          </a:p>
          <a:p>
            <a:pPr>
              <a:spcBef>
                <a:spcPts val="1200"/>
              </a:spcBef>
            </a:pPr>
            <a:r>
              <a:rPr lang="en-US" altLang="en-US" dirty="0"/>
              <a:t>Trade could make Thailand worse off, creating an incentive to protect its potential watch industry from foreign competition.</a:t>
            </a:r>
          </a:p>
          <a:p>
            <a:pPr>
              <a:spcBef>
                <a:spcPts val="1200"/>
              </a:spcBef>
            </a:pPr>
            <a:r>
              <a:rPr lang="en-US" altLang="en-US" dirty="0"/>
              <a:t>What if Thailand reverts to autarky?</a:t>
            </a:r>
            <a:endParaRPr lang="en-US" altLang="en-US" b="1" dirty="0"/>
          </a:p>
        </p:txBody>
      </p:sp>
    </p:spTree>
    <p:extLst>
      <p:ext uri="{BB962C8B-B14F-4D97-AF65-F5344CB8AC3E}">
        <p14:creationId xmlns:p14="http://schemas.microsoft.com/office/powerpoint/2010/main" val="1975502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External Economies and International Trade </a:t>
            </a:r>
            <a:r>
              <a:rPr lang="en-US" altLang="en-US" sz="2000" b="0" dirty="0" smtClean="0">
                <a:cs typeface="Times New Roman" panose="02020603050405020304" pitchFamily="18" charset="0"/>
              </a:rPr>
              <a:t>(10 </a:t>
            </a:r>
            <a:r>
              <a:rPr lang="en-US" altLang="en-US" sz="2000" b="0" dirty="0">
                <a:cs typeface="Times New Roman" panose="02020603050405020304" pitchFamily="18" charset="0"/>
              </a:rPr>
              <a:t>of 10)</a:t>
            </a:r>
            <a:endParaRPr lang="en-US" sz="2000" dirty="0"/>
          </a:p>
        </p:txBody>
      </p:sp>
      <p:sp>
        <p:nvSpPr>
          <p:cNvPr id="3" name="Content Placeholder 2"/>
          <p:cNvSpPr>
            <a:spLocks noGrp="1"/>
          </p:cNvSpPr>
          <p:nvPr>
            <p:ph sz="quarter" idx="13"/>
          </p:nvPr>
        </p:nvSpPr>
        <p:spPr>
          <a:xfrm>
            <a:off x="457200" y="1556327"/>
            <a:ext cx="8229600" cy="4795312"/>
          </a:xfrm>
        </p:spPr>
        <p:txBody>
          <a:bodyPr/>
          <a:lstStyle/>
          <a:p>
            <a:pPr>
              <a:spcBef>
                <a:spcPts val="1200"/>
              </a:spcBef>
            </a:pPr>
            <a:r>
              <a:rPr lang="en-US" altLang="en-US" dirty="0"/>
              <a:t>Note that it’s still to the benefit of the </a:t>
            </a:r>
            <a:r>
              <a:rPr lang="en-US" altLang="en-US" b="1" dirty="0"/>
              <a:t>world</a:t>
            </a:r>
            <a:r>
              <a:rPr lang="en-US" altLang="en-US" i="1" dirty="0"/>
              <a:t> </a:t>
            </a:r>
            <a:r>
              <a:rPr lang="en-US" altLang="en-US" dirty="0"/>
              <a:t>economy to take advantage of the gains from concentrating industries.</a:t>
            </a:r>
          </a:p>
          <a:p>
            <a:pPr>
              <a:spcBef>
                <a:spcPts val="1200"/>
              </a:spcBef>
            </a:pPr>
            <a:r>
              <a:rPr lang="en-US" altLang="en-US" dirty="0"/>
              <a:t>Each country wanting to reap the benefits of housing an industry with economies of scale creates trade conflicts.</a:t>
            </a:r>
          </a:p>
          <a:p>
            <a:pPr>
              <a:spcBef>
                <a:spcPts val="1200"/>
              </a:spcBef>
            </a:pPr>
            <a:r>
              <a:rPr lang="en-US" altLang="en-US" dirty="0"/>
              <a:t>Overall, it’s better for the world that each industry with external economies be concentrated </a:t>
            </a:r>
            <a:r>
              <a:rPr lang="en-US" altLang="en-US" b="1" dirty="0"/>
              <a:t>somewhere</a:t>
            </a:r>
            <a:r>
              <a:rPr lang="en-US" altLang="en-US" dirty="0"/>
              <a:t>.</a:t>
            </a:r>
          </a:p>
        </p:txBody>
      </p:sp>
    </p:spTree>
    <p:extLst>
      <p:ext uri="{BB962C8B-B14F-4D97-AF65-F5344CB8AC3E}">
        <p14:creationId xmlns:p14="http://schemas.microsoft.com/office/powerpoint/2010/main" val="3865676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smtClean="0">
                <a:latin typeface="+mj-lt"/>
              </a:rPr>
              <a:t>Figure 7.5 External Economies and Losses from Trade</a:t>
            </a:r>
            <a:endParaRPr lang="en-US" sz="3200" b="0" dirty="0">
              <a:latin typeface="+mj-lt"/>
            </a:endParaRPr>
          </a:p>
        </p:txBody>
      </p:sp>
      <p:pic>
        <p:nvPicPr>
          <p:cNvPr id="21" name="Content Placeholder 20" descr="A graph shows price, cost per watch versus quantity of watches produced and demanded. For long description in Notes pane, press F6."/>
          <p:cNvPicPr>
            <a:picLocks noGrp="1" noChangeAspect="1"/>
          </p:cNvPicPr>
          <p:nvPr>
            <p:ph idx="20"/>
          </p:nvPr>
        </p:nvPicPr>
        <p:blipFill>
          <a:blip r:embed="rId4">
            <a:extLst>
              <a:ext uri="{28A0092B-C50C-407E-A947-70E740481C1C}">
                <a14:useLocalDpi xmlns:a14="http://schemas.microsoft.com/office/drawing/2010/main" val="0"/>
              </a:ext>
            </a:extLst>
          </a:blip>
          <a:stretch>
            <a:fillRect/>
          </a:stretch>
        </p:blipFill>
        <p:spPr>
          <a:xfrm>
            <a:off x="3075234" y="1567765"/>
            <a:ext cx="2993533" cy="2691231"/>
          </a:xfrm>
        </p:spPr>
      </p:pic>
      <p:sp>
        <p:nvSpPr>
          <p:cNvPr id="4" name="Content Placeholder 3"/>
          <p:cNvSpPr>
            <a:spLocks noGrp="1"/>
          </p:cNvSpPr>
          <p:nvPr>
            <p:ph idx="1"/>
          </p:nvPr>
        </p:nvSpPr>
        <p:spPr>
          <a:xfrm>
            <a:off x="457200" y="4347669"/>
            <a:ext cx="8229600" cy="537490"/>
          </a:xfrm>
        </p:spPr>
        <p:txBody>
          <a:bodyPr tIns="0"/>
          <a:lstStyle/>
          <a:p>
            <a:pPr marL="0" indent="0">
              <a:buNone/>
            </a:pPr>
            <a:r>
              <a:rPr lang="en-US" dirty="0">
                <a:latin typeface="+mn-lt"/>
              </a:rPr>
              <a:t>When there are external economies, trade can potentially leave a country worse off than it would be in the absence of trade. In this example, Thailand </a:t>
            </a:r>
            <a:r>
              <a:rPr lang="en-US" dirty="0" smtClean="0">
                <a:latin typeface="+mn-lt"/>
              </a:rPr>
              <a:t>imports </a:t>
            </a:r>
            <a:r>
              <a:rPr lang="en-US" dirty="0"/>
              <a:t>watches </a:t>
            </a:r>
            <a:r>
              <a:rPr lang="en-US" dirty="0" smtClean="0"/>
              <a:t>from</a:t>
            </a:r>
            <a:endParaRPr lang="en-US" dirty="0">
              <a:latin typeface="+mn-lt"/>
            </a:endParaRPr>
          </a:p>
        </p:txBody>
      </p:sp>
      <p:sp>
        <p:nvSpPr>
          <p:cNvPr id="3" name="Content Placeholder 2"/>
          <p:cNvSpPr>
            <a:spLocks noGrp="1"/>
          </p:cNvSpPr>
          <p:nvPr>
            <p:ph idx="13"/>
          </p:nvPr>
        </p:nvSpPr>
        <p:spPr>
          <a:xfrm>
            <a:off x="457200" y="4946731"/>
            <a:ext cx="4933249" cy="290285"/>
          </a:xfrm>
        </p:spPr>
        <p:txBody>
          <a:bodyPr tIns="0" rIns="0"/>
          <a:lstStyle/>
          <a:p>
            <a:pPr marL="0" indent="0">
              <a:buNone/>
            </a:pPr>
            <a:r>
              <a:rPr lang="en-US" dirty="0" smtClean="0">
                <a:latin typeface="+mn-lt"/>
              </a:rPr>
              <a:t>Switzerland, which is able to supply the world market</a:t>
            </a:r>
            <a:endParaRPr lang="en-US" dirty="0">
              <a:latin typeface="+mn-lt"/>
            </a:endParaRPr>
          </a:p>
        </p:txBody>
      </p:sp>
      <p:graphicFrame>
        <p:nvGraphicFramePr>
          <p:cNvPr id="9" name="Object 8" descr="left parenthesis D sub WORLD right parenthesis "/>
          <p:cNvGraphicFramePr>
            <a:graphicFrameLocks noChangeAspect="1"/>
          </p:cNvGraphicFramePr>
          <p:nvPr>
            <p:extLst>
              <p:ext uri="{D42A27DB-BD31-4B8C-83A1-F6EECF244321}">
                <p14:modId xmlns:p14="http://schemas.microsoft.com/office/powerpoint/2010/main" val="296613942"/>
              </p:ext>
            </p:extLst>
          </p:nvPr>
        </p:nvGraphicFramePr>
        <p:xfrm>
          <a:off x="5457347" y="4939068"/>
          <a:ext cx="894773" cy="304380"/>
        </p:xfrm>
        <a:graphic>
          <a:graphicData uri="http://schemas.openxmlformats.org/presentationml/2006/ole">
            <mc:AlternateContent xmlns:mc="http://schemas.openxmlformats.org/markup-compatibility/2006">
              <mc:Choice xmlns:v="urn:schemas-microsoft-com:vml" Requires="v">
                <p:oleObj spid="_x0000_s5557" name="Equation" r:id="rId5" imgW="672840" imgH="228600" progId="Equation.DSMT4">
                  <p:embed/>
                </p:oleObj>
              </mc:Choice>
              <mc:Fallback>
                <p:oleObj name="Equation" r:id="rId5" imgW="672840" imgH="228600" progId="Equation.DSMT4">
                  <p:embed/>
                  <p:pic>
                    <p:nvPicPr>
                      <p:cNvPr id="9" name="Object 8"/>
                      <p:cNvPicPr/>
                      <p:nvPr/>
                    </p:nvPicPr>
                    <p:blipFill>
                      <a:blip r:embed="rId6"/>
                      <a:stretch>
                        <a:fillRect/>
                      </a:stretch>
                    </p:blipFill>
                    <p:spPr>
                      <a:xfrm>
                        <a:off x="5457347" y="4939068"/>
                        <a:ext cx="894773" cy="304380"/>
                      </a:xfrm>
                      <a:prstGeom prst="rect">
                        <a:avLst/>
                      </a:prstGeom>
                    </p:spPr>
                  </p:pic>
                </p:oleObj>
              </mc:Fallback>
            </mc:AlternateContent>
          </a:graphicData>
        </a:graphic>
      </p:graphicFrame>
      <p:sp>
        <p:nvSpPr>
          <p:cNvPr id="13" name="Content Placeholder 12"/>
          <p:cNvSpPr>
            <a:spLocks noGrp="1"/>
          </p:cNvSpPr>
          <p:nvPr>
            <p:ph idx="14"/>
          </p:nvPr>
        </p:nvSpPr>
        <p:spPr>
          <a:xfrm>
            <a:off x="6419019" y="4939068"/>
            <a:ext cx="967433" cy="298195"/>
          </a:xfrm>
        </p:spPr>
        <p:txBody>
          <a:bodyPr lIns="0" tIns="0"/>
          <a:lstStyle/>
          <a:p>
            <a:pPr marL="0" indent="0">
              <a:buNone/>
            </a:pPr>
            <a:r>
              <a:rPr lang="en-US" dirty="0" smtClean="0">
                <a:latin typeface="+mn-lt"/>
              </a:rPr>
              <a:t>at a price</a:t>
            </a:r>
            <a:endParaRPr lang="en-US" dirty="0">
              <a:latin typeface="+mn-lt"/>
            </a:endParaRPr>
          </a:p>
        </p:txBody>
      </p:sp>
      <p:graphicFrame>
        <p:nvGraphicFramePr>
          <p:cNvPr id="8" name="Object 7" descr="left parenthesis P sub 1 right parenthesis "/>
          <p:cNvGraphicFramePr>
            <a:graphicFrameLocks noChangeAspect="1"/>
          </p:cNvGraphicFramePr>
          <p:nvPr>
            <p:extLst>
              <p:ext uri="{D42A27DB-BD31-4B8C-83A1-F6EECF244321}">
                <p14:modId xmlns:p14="http://schemas.microsoft.com/office/powerpoint/2010/main" val="2048484348"/>
              </p:ext>
            </p:extLst>
          </p:nvPr>
        </p:nvGraphicFramePr>
        <p:xfrm>
          <a:off x="7439004" y="4939713"/>
          <a:ext cx="371292" cy="304380"/>
        </p:xfrm>
        <a:graphic>
          <a:graphicData uri="http://schemas.openxmlformats.org/presentationml/2006/ole">
            <mc:AlternateContent xmlns:mc="http://schemas.openxmlformats.org/markup-compatibility/2006">
              <mc:Choice xmlns:v="urn:schemas-microsoft-com:vml" Requires="v">
                <p:oleObj spid="_x0000_s5558" name="Equation" r:id="rId7" imgW="279360" imgH="228600" progId="Equation.DSMT4">
                  <p:embed/>
                </p:oleObj>
              </mc:Choice>
              <mc:Fallback>
                <p:oleObj name="Equation" r:id="rId7" imgW="279360" imgH="228600" progId="Equation.DSMT4">
                  <p:embed/>
                  <p:pic>
                    <p:nvPicPr>
                      <p:cNvPr id="8" name="Object 7"/>
                      <p:cNvPicPr/>
                      <p:nvPr/>
                    </p:nvPicPr>
                    <p:blipFill>
                      <a:blip r:embed="rId8"/>
                      <a:stretch>
                        <a:fillRect/>
                      </a:stretch>
                    </p:blipFill>
                    <p:spPr>
                      <a:xfrm>
                        <a:off x="7439004" y="4939713"/>
                        <a:ext cx="371292" cy="304380"/>
                      </a:xfrm>
                      <a:prstGeom prst="rect">
                        <a:avLst/>
                      </a:prstGeom>
                    </p:spPr>
                  </p:pic>
                </p:oleObj>
              </mc:Fallback>
            </mc:AlternateContent>
          </a:graphicData>
        </a:graphic>
      </p:graphicFrame>
      <p:sp>
        <p:nvSpPr>
          <p:cNvPr id="14" name="Content Placeholder 13"/>
          <p:cNvSpPr>
            <a:spLocks noGrp="1"/>
          </p:cNvSpPr>
          <p:nvPr>
            <p:ph idx="15"/>
          </p:nvPr>
        </p:nvSpPr>
        <p:spPr>
          <a:xfrm>
            <a:off x="457200" y="5303048"/>
            <a:ext cx="7879278" cy="313978"/>
          </a:xfrm>
        </p:spPr>
        <p:txBody>
          <a:bodyPr tIns="0"/>
          <a:lstStyle/>
          <a:p>
            <a:pPr marL="0" indent="0">
              <a:buNone/>
            </a:pPr>
            <a:r>
              <a:rPr lang="en-US" dirty="0" smtClean="0">
                <a:latin typeface="+mn-lt"/>
              </a:rPr>
              <a:t>low enough to block entry by Thai producers, who must initially </a:t>
            </a:r>
            <a:r>
              <a:rPr lang="en-US" dirty="0" smtClean="0"/>
              <a:t>produce the watches</a:t>
            </a:r>
            <a:endParaRPr lang="en-US" dirty="0">
              <a:latin typeface="+mn-lt"/>
            </a:endParaRPr>
          </a:p>
        </p:txBody>
      </p:sp>
      <p:sp>
        <p:nvSpPr>
          <p:cNvPr id="15" name="Content Placeholder 14"/>
          <p:cNvSpPr>
            <a:spLocks noGrp="1"/>
          </p:cNvSpPr>
          <p:nvPr>
            <p:ph idx="16"/>
          </p:nvPr>
        </p:nvSpPr>
        <p:spPr>
          <a:xfrm>
            <a:off x="457199" y="5672623"/>
            <a:ext cx="794085" cy="277782"/>
          </a:xfrm>
        </p:spPr>
        <p:txBody>
          <a:bodyPr tIns="0"/>
          <a:lstStyle/>
          <a:p>
            <a:pPr marL="0" indent="0">
              <a:buNone/>
            </a:pPr>
            <a:r>
              <a:rPr lang="en-US" dirty="0" smtClean="0">
                <a:latin typeface="+mn-lt"/>
              </a:rPr>
              <a:t>at cost</a:t>
            </a:r>
            <a:endParaRPr lang="en-US" dirty="0">
              <a:latin typeface="+mn-lt"/>
            </a:endParaRPr>
          </a:p>
        </p:txBody>
      </p:sp>
      <p:graphicFrame>
        <p:nvGraphicFramePr>
          <p:cNvPr id="10" name="Object 9" descr="C sub 0."/>
          <p:cNvGraphicFramePr>
            <a:graphicFrameLocks noChangeAspect="1"/>
          </p:cNvGraphicFramePr>
          <p:nvPr>
            <p:extLst>
              <p:ext uri="{D42A27DB-BD31-4B8C-83A1-F6EECF244321}">
                <p14:modId xmlns:p14="http://schemas.microsoft.com/office/powerpoint/2010/main" val="1533629979"/>
              </p:ext>
            </p:extLst>
          </p:nvPr>
        </p:nvGraphicFramePr>
        <p:xfrm>
          <a:off x="1309884" y="5671585"/>
          <a:ext cx="321435" cy="304380"/>
        </p:xfrm>
        <a:graphic>
          <a:graphicData uri="http://schemas.openxmlformats.org/presentationml/2006/ole">
            <mc:AlternateContent xmlns:mc="http://schemas.openxmlformats.org/markup-compatibility/2006">
              <mc:Choice xmlns:v="urn:schemas-microsoft-com:vml" Requires="v">
                <p:oleObj spid="_x0000_s5559" name="Equation" r:id="rId9" imgW="241200" imgH="228600" progId="Equation.DSMT4">
                  <p:embed/>
                </p:oleObj>
              </mc:Choice>
              <mc:Fallback>
                <p:oleObj name="Equation" r:id="rId9" imgW="241200" imgH="228600" progId="Equation.DSMT4">
                  <p:embed/>
                  <p:pic>
                    <p:nvPicPr>
                      <p:cNvPr id="10" name="Object 9"/>
                      <p:cNvPicPr/>
                      <p:nvPr/>
                    </p:nvPicPr>
                    <p:blipFill>
                      <a:blip r:embed="rId10"/>
                      <a:stretch>
                        <a:fillRect/>
                      </a:stretch>
                    </p:blipFill>
                    <p:spPr>
                      <a:xfrm>
                        <a:off x="1309884" y="5671585"/>
                        <a:ext cx="321435" cy="304380"/>
                      </a:xfrm>
                      <a:prstGeom prst="rect">
                        <a:avLst/>
                      </a:prstGeom>
                    </p:spPr>
                  </p:pic>
                </p:oleObj>
              </mc:Fallback>
            </mc:AlternateContent>
          </a:graphicData>
        </a:graphic>
      </p:graphicFrame>
      <p:sp>
        <p:nvSpPr>
          <p:cNvPr id="16" name="Content Placeholder 15"/>
          <p:cNvSpPr>
            <a:spLocks noGrp="1"/>
          </p:cNvSpPr>
          <p:nvPr>
            <p:ph idx="17"/>
          </p:nvPr>
        </p:nvSpPr>
        <p:spPr>
          <a:xfrm>
            <a:off x="1725544" y="5687487"/>
            <a:ext cx="6230923" cy="292435"/>
          </a:xfrm>
        </p:spPr>
        <p:txBody>
          <a:bodyPr lIns="0" tIns="0"/>
          <a:lstStyle/>
          <a:p>
            <a:pPr marL="0" indent="0">
              <a:buNone/>
            </a:pPr>
            <a:r>
              <a:rPr lang="en-US" dirty="0" smtClean="0">
                <a:latin typeface="+mn-lt"/>
              </a:rPr>
              <a:t>Yet if Thailand were to block all trade in watches, </a:t>
            </a:r>
            <a:r>
              <a:rPr lang="en-US" dirty="0" smtClean="0"/>
              <a:t>it would be able to</a:t>
            </a:r>
            <a:endParaRPr lang="en-US" dirty="0">
              <a:latin typeface="+mn-lt"/>
            </a:endParaRPr>
          </a:p>
        </p:txBody>
      </p:sp>
      <p:sp>
        <p:nvSpPr>
          <p:cNvPr id="17" name="Content Placeholder 16"/>
          <p:cNvSpPr>
            <a:spLocks noGrp="1"/>
          </p:cNvSpPr>
          <p:nvPr>
            <p:ph idx="18"/>
          </p:nvPr>
        </p:nvSpPr>
        <p:spPr>
          <a:xfrm>
            <a:off x="457200" y="6046427"/>
            <a:ext cx="2601778" cy="283118"/>
          </a:xfrm>
        </p:spPr>
        <p:txBody>
          <a:bodyPr tIns="0"/>
          <a:lstStyle/>
          <a:p>
            <a:pPr marL="0" indent="0">
              <a:buNone/>
            </a:pPr>
            <a:r>
              <a:rPr lang="en-US" dirty="0" smtClean="0">
                <a:latin typeface="+mn-lt"/>
              </a:rPr>
              <a:t>supply its domestic market</a:t>
            </a:r>
            <a:endParaRPr lang="en-US" dirty="0">
              <a:latin typeface="+mn-lt"/>
            </a:endParaRPr>
          </a:p>
        </p:txBody>
      </p:sp>
      <p:graphicFrame>
        <p:nvGraphicFramePr>
          <p:cNvPr id="11" name="Object 10" descr="left parenthesis D sub THAI right parenthesis"/>
          <p:cNvGraphicFramePr>
            <a:graphicFrameLocks noChangeAspect="1"/>
          </p:cNvGraphicFramePr>
          <p:nvPr>
            <p:extLst>
              <p:ext uri="{D42A27DB-BD31-4B8C-83A1-F6EECF244321}">
                <p14:modId xmlns:p14="http://schemas.microsoft.com/office/powerpoint/2010/main" val="1950014881"/>
              </p:ext>
            </p:extLst>
          </p:nvPr>
        </p:nvGraphicFramePr>
        <p:xfrm>
          <a:off x="3129436" y="6062387"/>
          <a:ext cx="613054" cy="276709"/>
        </p:xfrm>
        <a:graphic>
          <a:graphicData uri="http://schemas.openxmlformats.org/presentationml/2006/ole">
            <mc:AlternateContent xmlns:mc="http://schemas.openxmlformats.org/markup-compatibility/2006">
              <mc:Choice xmlns:v="urn:schemas-microsoft-com:vml" Requires="v">
                <p:oleObj spid="_x0000_s5560" name="Equation" r:id="rId11" imgW="507960" imgH="228600" progId="Equation.DSMT4">
                  <p:embed/>
                </p:oleObj>
              </mc:Choice>
              <mc:Fallback>
                <p:oleObj name="Equation" r:id="rId11" imgW="507960" imgH="228600" progId="Equation.DSMT4">
                  <p:embed/>
                  <p:pic>
                    <p:nvPicPr>
                      <p:cNvPr id="11" name="Object 10"/>
                      <p:cNvPicPr/>
                      <p:nvPr/>
                    </p:nvPicPr>
                    <p:blipFill>
                      <a:blip r:embed="rId12"/>
                      <a:stretch>
                        <a:fillRect/>
                      </a:stretch>
                    </p:blipFill>
                    <p:spPr>
                      <a:xfrm>
                        <a:off x="3129436" y="6062387"/>
                        <a:ext cx="613054" cy="276709"/>
                      </a:xfrm>
                      <a:prstGeom prst="rect">
                        <a:avLst/>
                      </a:prstGeom>
                    </p:spPr>
                  </p:pic>
                </p:oleObj>
              </mc:Fallback>
            </mc:AlternateContent>
          </a:graphicData>
        </a:graphic>
      </p:graphicFrame>
      <p:sp>
        <p:nvSpPr>
          <p:cNvPr id="18" name="Content Placeholder 17"/>
          <p:cNvSpPr>
            <a:spLocks noGrp="1"/>
          </p:cNvSpPr>
          <p:nvPr>
            <p:ph idx="19"/>
          </p:nvPr>
        </p:nvSpPr>
        <p:spPr>
          <a:xfrm>
            <a:off x="3812948" y="6046428"/>
            <a:ext cx="1720953" cy="292668"/>
          </a:xfrm>
        </p:spPr>
        <p:txBody>
          <a:bodyPr lIns="0" tIns="0"/>
          <a:lstStyle/>
          <a:p>
            <a:pPr marL="0" indent="0">
              <a:buNone/>
            </a:pPr>
            <a:r>
              <a:rPr lang="en-US" dirty="0" smtClean="0">
                <a:latin typeface="+mn-lt"/>
              </a:rPr>
              <a:t>at the lower price,</a:t>
            </a:r>
            <a:endParaRPr lang="en-US" dirty="0">
              <a:latin typeface="+mn-lt"/>
            </a:endParaRPr>
          </a:p>
        </p:txBody>
      </p:sp>
      <p:graphicFrame>
        <p:nvGraphicFramePr>
          <p:cNvPr id="12" name="Object 11" descr="P sub 2."/>
          <p:cNvGraphicFramePr>
            <a:graphicFrameLocks noChangeAspect="1"/>
          </p:cNvGraphicFramePr>
          <p:nvPr>
            <p:extLst>
              <p:ext uri="{D42A27DB-BD31-4B8C-83A1-F6EECF244321}">
                <p14:modId xmlns:p14="http://schemas.microsoft.com/office/powerpoint/2010/main" val="15379259"/>
              </p:ext>
            </p:extLst>
          </p:nvPr>
        </p:nvGraphicFramePr>
        <p:xfrm>
          <a:off x="5600353" y="6046428"/>
          <a:ext cx="304380" cy="304380"/>
        </p:xfrm>
        <a:graphic>
          <a:graphicData uri="http://schemas.openxmlformats.org/presentationml/2006/ole">
            <mc:AlternateContent xmlns:mc="http://schemas.openxmlformats.org/markup-compatibility/2006">
              <mc:Choice xmlns:v="urn:schemas-microsoft-com:vml" Requires="v">
                <p:oleObj spid="_x0000_s5561" name="Equation" r:id="rId13" imgW="228600" imgH="228600" progId="Equation.DSMT4">
                  <p:embed/>
                </p:oleObj>
              </mc:Choice>
              <mc:Fallback>
                <p:oleObj name="Equation" r:id="rId13" imgW="228600" imgH="228600" progId="Equation.DSMT4">
                  <p:embed/>
                  <p:pic>
                    <p:nvPicPr>
                      <p:cNvPr id="12" name="Object 11"/>
                      <p:cNvPicPr/>
                      <p:nvPr/>
                    </p:nvPicPr>
                    <p:blipFill>
                      <a:blip r:embed="rId14"/>
                      <a:stretch>
                        <a:fillRect/>
                      </a:stretch>
                    </p:blipFill>
                    <p:spPr>
                      <a:xfrm>
                        <a:off x="5600353" y="6046428"/>
                        <a:ext cx="304380" cy="304380"/>
                      </a:xfrm>
                      <a:prstGeom prst="rect">
                        <a:avLst/>
                      </a:prstGeom>
                    </p:spPr>
                  </p:pic>
                </p:oleObj>
              </mc:Fallback>
            </mc:AlternateContent>
          </a:graphicData>
        </a:graphic>
      </p:graphicFrame>
    </p:spTree>
    <p:extLst>
      <p:ext uri="{BB962C8B-B14F-4D97-AF65-F5344CB8AC3E}">
        <p14:creationId xmlns:p14="http://schemas.microsoft.com/office/powerpoint/2010/main" val="3645888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en-US" dirty="0"/>
              <a:t>Dynamic Increasing Returns </a:t>
            </a:r>
            <a:r>
              <a:rPr lang="en-US" altLang="en-US" sz="2000" b="0" dirty="0"/>
              <a:t>(1 of 3)</a:t>
            </a:r>
            <a:endParaRPr lang="en-US" dirty="0"/>
          </a:p>
        </p:txBody>
      </p:sp>
      <p:sp>
        <p:nvSpPr>
          <p:cNvPr id="14" name="Content Placeholder 13"/>
          <p:cNvSpPr>
            <a:spLocks noGrp="1"/>
          </p:cNvSpPr>
          <p:nvPr>
            <p:ph sz="quarter" idx="13"/>
          </p:nvPr>
        </p:nvSpPr>
        <p:spPr/>
        <p:txBody>
          <a:bodyPr/>
          <a:lstStyle/>
          <a:p>
            <a:pPr>
              <a:spcBef>
                <a:spcPts val="1200"/>
              </a:spcBef>
            </a:pPr>
            <a:r>
              <a:rPr lang="en-US" altLang="en-US" dirty="0"/>
              <a:t>So far, we have considered cases where external economies depend on the amount of </a:t>
            </a:r>
            <a:r>
              <a:rPr lang="en-US" altLang="en-US" b="1" dirty="0"/>
              <a:t>current output</a:t>
            </a:r>
            <a:r>
              <a:rPr lang="en-US" altLang="en-US" i="1" dirty="0"/>
              <a:t> </a:t>
            </a:r>
            <a:r>
              <a:rPr lang="en-US" altLang="en-US" dirty="0"/>
              <a:t>at a point in time.</a:t>
            </a:r>
          </a:p>
          <a:p>
            <a:pPr>
              <a:spcBef>
                <a:spcPts val="1200"/>
              </a:spcBef>
            </a:pPr>
            <a:r>
              <a:rPr lang="en-US" altLang="en-US" dirty="0"/>
              <a:t>But external economies may also depend on the amount of </a:t>
            </a:r>
            <a:r>
              <a:rPr lang="en-US" altLang="en-US" b="1" dirty="0"/>
              <a:t>cumulative output over time</a:t>
            </a:r>
            <a:r>
              <a:rPr lang="en-US" altLang="en-US" dirty="0"/>
              <a:t>.</a:t>
            </a:r>
          </a:p>
          <a:p>
            <a:pPr>
              <a:spcBef>
                <a:spcPts val="1200"/>
              </a:spcBef>
            </a:pPr>
            <a:r>
              <a:rPr lang="en-US" altLang="en-US" b="1" dirty="0"/>
              <a:t>Dynamic increasing returns to scale </a:t>
            </a:r>
            <a:r>
              <a:rPr lang="en-US" altLang="en-US" dirty="0"/>
              <a:t>exist if average costs fall as cumulative output over time rises.</a:t>
            </a:r>
          </a:p>
          <a:p>
            <a:pPr lvl="1"/>
            <a:r>
              <a:rPr lang="en-US" altLang="en-US" dirty="0"/>
              <a:t>Dynamic increasing returns to scale imply dynamic external economies of scale</a:t>
            </a:r>
            <a:r>
              <a:rPr lang="en-US" altLang="en-US" dirty="0" smtClean="0"/>
              <a:t>.</a:t>
            </a:r>
            <a:endParaRPr lang="en-US" altLang="en-US" b="1" dirty="0"/>
          </a:p>
        </p:txBody>
      </p:sp>
    </p:spTree>
    <p:extLst>
      <p:ext uri="{BB962C8B-B14F-4D97-AF65-F5344CB8AC3E}">
        <p14:creationId xmlns:p14="http://schemas.microsoft.com/office/powerpoint/2010/main" val="4023410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en-US" dirty="0"/>
              <a:t>Dynamic Increasing Returns </a:t>
            </a:r>
            <a:r>
              <a:rPr lang="en-US" altLang="en-US" sz="2000" b="0" dirty="0" smtClean="0"/>
              <a:t>(2 </a:t>
            </a:r>
            <a:r>
              <a:rPr lang="en-US" altLang="en-US" sz="2000" b="0" dirty="0"/>
              <a:t>of 3)</a:t>
            </a:r>
            <a:endParaRPr lang="en-US" dirty="0"/>
          </a:p>
        </p:txBody>
      </p:sp>
      <p:sp>
        <p:nvSpPr>
          <p:cNvPr id="14" name="Content Placeholder 13"/>
          <p:cNvSpPr>
            <a:spLocks noGrp="1"/>
          </p:cNvSpPr>
          <p:nvPr>
            <p:ph sz="quarter" idx="13"/>
          </p:nvPr>
        </p:nvSpPr>
        <p:spPr>
          <a:xfrm>
            <a:off x="457200" y="1556327"/>
            <a:ext cx="8057408" cy="4586896"/>
          </a:xfrm>
        </p:spPr>
        <p:txBody>
          <a:bodyPr/>
          <a:lstStyle/>
          <a:p>
            <a:pPr>
              <a:spcBef>
                <a:spcPts val="1200"/>
              </a:spcBef>
            </a:pPr>
            <a:r>
              <a:rPr lang="en-US" altLang="en-US" dirty="0"/>
              <a:t>Dynamic increasing returns to scale could arise if the cost of production depends on the accumulation of knowledge and experience, which depend on the production process over time.</a:t>
            </a:r>
          </a:p>
          <a:p>
            <a:pPr>
              <a:spcBef>
                <a:spcPts val="1200"/>
              </a:spcBef>
            </a:pPr>
            <a:r>
              <a:rPr lang="en-US" altLang="en-US" dirty="0"/>
              <a:t>A graphical representation of dynamic increasing returns to scale is called a </a:t>
            </a:r>
            <a:r>
              <a:rPr lang="en-US" altLang="en-US" b="1" dirty="0"/>
              <a:t>learning curve</a:t>
            </a:r>
            <a:r>
              <a:rPr lang="en-US" altLang="en-US" dirty="0"/>
              <a:t>.</a:t>
            </a:r>
            <a:endParaRPr lang="en-US" altLang="en-US" b="1" dirty="0"/>
          </a:p>
        </p:txBody>
      </p:sp>
    </p:spTree>
    <p:extLst>
      <p:ext uri="{BB962C8B-B14F-4D97-AF65-F5344CB8AC3E}">
        <p14:creationId xmlns:p14="http://schemas.microsoft.com/office/powerpoint/2010/main" val="13824336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smtClean="0">
                <a:latin typeface="+mj-lt"/>
              </a:rPr>
              <a:t>Figure 7.6 The Learning Curve</a:t>
            </a:r>
            <a:endParaRPr lang="en-US" sz="2000" b="0" dirty="0">
              <a:latin typeface="+mj-lt"/>
            </a:endParaRPr>
          </a:p>
        </p:txBody>
      </p:sp>
      <p:pic>
        <p:nvPicPr>
          <p:cNvPr id="6" name="Content Placeholder 5" descr="A graph plots unit cost versus cumulative output. Curve L falls with decreasing steepness through a point at (Q sub L, C sub 1). Curve L asterisk, below and parallel to curve L, falls from a point on the y-axis where y = C sub 0 asterisk, which is above y = C sub 1."/>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867884" y="1565281"/>
            <a:ext cx="3408232" cy="3044573"/>
          </a:xfrm>
        </p:spPr>
      </p:pic>
      <p:sp>
        <p:nvSpPr>
          <p:cNvPr id="3" name="Content Placeholder 2"/>
          <p:cNvSpPr>
            <a:spLocks noGrp="1"/>
          </p:cNvSpPr>
          <p:nvPr>
            <p:ph sz="quarter" idx="14"/>
          </p:nvPr>
        </p:nvSpPr>
        <p:spPr>
          <a:xfrm>
            <a:off x="459731" y="4681984"/>
            <a:ext cx="8085754" cy="1255676"/>
          </a:xfrm>
        </p:spPr>
        <p:txBody>
          <a:bodyPr lIns="0" tIns="0" rIns="0" bIns="0"/>
          <a:lstStyle/>
          <a:p>
            <a:pPr marL="0" indent="0">
              <a:buNone/>
            </a:pPr>
            <a:r>
              <a:rPr lang="en-US" sz="2000" dirty="0"/>
              <a:t>The learning curve shows that unit cost is lower the greater the cumulative output of a country’s industry to date. A country that has extensive experience in an industry (</a:t>
            </a:r>
            <a:r>
              <a:rPr lang="en-US" sz="2000" i="1" dirty="0"/>
              <a:t>L</a:t>
            </a:r>
            <a:r>
              <a:rPr lang="en-US" sz="2000" dirty="0"/>
              <a:t>) may have a lower unit cost than a country with </a:t>
            </a:r>
            <a:r>
              <a:rPr lang="en-US" sz="2000" dirty="0" smtClean="0"/>
              <a:t>little </a:t>
            </a:r>
            <a:r>
              <a:rPr lang="en-US" sz="2000" dirty="0"/>
              <a:t>or no experience</a:t>
            </a:r>
            <a:r>
              <a:rPr lang="en-US" sz="2000" dirty="0" smtClean="0"/>
              <a:t>, </a:t>
            </a:r>
            <a:r>
              <a:rPr lang="en-US" sz="2000" dirty="0"/>
              <a:t>even if that second country’s </a:t>
            </a:r>
          </a:p>
        </p:txBody>
      </p:sp>
      <p:sp>
        <p:nvSpPr>
          <p:cNvPr id="5" name="Content Placeholder 4"/>
          <p:cNvSpPr>
            <a:spLocks noGrp="1"/>
          </p:cNvSpPr>
          <p:nvPr>
            <p:ph sz="quarter" idx="15"/>
          </p:nvPr>
        </p:nvSpPr>
        <p:spPr>
          <a:xfrm>
            <a:off x="459731" y="5995719"/>
            <a:ext cx="1725330" cy="329292"/>
          </a:xfrm>
        </p:spPr>
        <p:txBody>
          <a:bodyPr lIns="0" tIns="0" rIns="0"/>
          <a:lstStyle/>
          <a:p>
            <a:pPr marL="432" indent="0">
              <a:buNone/>
            </a:pPr>
            <a:r>
              <a:rPr lang="en-US" sz="2000" dirty="0" smtClean="0"/>
              <a:t>learning curve</a:t>
            </a:r>
            <a:endParaRPr lang="en-US" sz="2000" dirty="0"/>
          </a:p>
        </p:txBody>
      </p:sp>
      <p:graphicFrame>
        <p:nvGraphicFramePr>
          <p:cNvPr id="12" name="Object 11" descr="left parenthesis L to the asterisk power right parenthesis."/>
          <p:cNvGraphicFramePr>
            <a:graphicFrameLocks noChangeAspect="1"/>
          </p:cNvGraphicFramePr>
          <p:nvPr>
            <p:extLst>
              <p:ext uri="{D42A27DB-BD31-4B8C-83A1-F6EECF244321}">
                <p14:modId xmlns:p14="http://schemas.microsoft.com/office/powerpoint/2010/main" val="749136634"/>
              </p:ext>
            </p:extLst>
          </p:nvPr>
        </p:nvGraphicFramePr>
        <p:xfrm>
          <a:off x="2237344" y="6017083"/>
          <a:ext cx="427664" cy="297505"/>
        </p:xfrm>
        <a:graphic>
          <a:graphicData uri="http://schemas.openxmlformats.org/presentationml/2006/ole">
            <mc:AlternateContent xmlns:mc="http://schemas.openxmlformats.org/markup-compatibility/2006">
              <mc:Choice xmlns:v="urn:schemas-microsoft-com:vml" Requires="v">
                <p:oleObj spid="_x0000_s6231" name="Equation" r:id="rId5" imgW="291960" imgH="203040" progId="Equation.DSMT4">
                  <p:embed/>
                </p:oleObj>
              </mc:Choice>
              <mc:Fallback>
                <p:oleObj name="Equation" r:id="rId5" imgW="291960" imgH="203040" progId="Equation.DSMT4">
                  <p:embed/>
                  <p:pic>
                    <p:nvPicPr>
                      <p:cNvPr id="12" name="Object 11"/>
                      <p:cNvPicPr/>
                      <p:nvPr/>
                    </p:nvPicPr>
                    <p:blipFill>
                      <a:blip r:embed="rId6"/>
                      <a:stretch>
                        <a:fillRect/>
                      </a:stretch>
                    </p:blipFill>
                    <p:spPr>
                      <a:xfrm>
                        <a:off x="2237344" y="6017083"/>
                        <a:ext cx="427664" cy="297505"/>
                      </a:xfrm>
                      <a:prstGeom prst="rect">
                        <a:avLst/>
                      </a:prstGeom>
                    </p:spPr>
                  </p:pic>
                </p:oleObj>
              </mc:Fallback>
            </mc:AlternateContent>
          </a:graphicData>
        </a:graphic>
      </p:graphicFrame>
      <p:sp>
        <p:nvSpPr>
          <p:cNvPr id="7" name="Content Placeholder 6"/>
          <p:cNvSpPr>
            <a:spLocks noGrp="1"/>
          </p:cNvSpPr>
          <p:nvPr>
            <p:ph sz="quarter" idx="16"/>
          </p:nvPr>
        </p:nvSpPr>
        <p:spPr>
          <a:xfrm>
            <a:off x="2717291" y="5995376"/>
            <a:ext cx="5634229" cy="329635"/>
          </a:xfrm>
        </p:spPr>
        <p:txBody>
          <a:bodyPr lIns="0" tIns="0" rIns="0" bIns="0"/>
          <a:lstStyle/>
          <a:p>
            <a:pPr marL="432" indent="0">
              <a:buNone/>
            </a:pPr>
            <a:r>
              <a:rPr lang="en-US" sz="2000" dirty="0" smtClean="0"/>
              <a:t>is lower—for example, because of lower wages.</a:t>
            </a:r>
            <a:endParaRPr lang="en-US" sz="2000" dirty="0"/>
          </a:p>
        </p:txBody>
      </p:sp>
    </p:spTree>
    <p:extLst>
      <p:ext uri="{BB962C8B-B14F-4D97-AF65-F5344CB8AC3E}">
        <p14:creationId xmlns:p14="http://schemas.microsoft.com/office/powerpoint/2010/main" val="718250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ltLang="en-US" dirty="0"/>
              <a:t>Dynamic Increasing Returns </a:t>
            </a:r>
            <a:r>
              <a:rPr lang="en-US" altLang="en-US" sz="2000" b="0" dirty="0"/>
              <a:t>(3 of 3)</a:t>
            </a:r>
            <a:endParaRPr lang="en-US" dirty="0"/>
          </a:p>
        </p:txBody>
      </p:sp>
      <p:sp>
        <p:nvSpPr>
          <p:cNvPr id="8" name="Content Placeholder 7"/>
          <p:cNvSpPr>
            <a:spLocks noGrp="1"/>
          </p:cNvSpPr>
          <p:nvPr>
            <p:ph sz="quarter" idx="13"/>
          </p:nvPr>
        </p:nvSpPr>
        <p:spPr>
          <a:xfrm>
            <a:off x="457200" y="1556327"/>
            <a:ext cx="8021782" cy="4586896"/>
          </a:xfrm>
        </p:spPr>
        <p:txBody>
          <a:bodyPr/>
          <a:lstStyle/>
          <a:p>
            <a:pPr>
              <a:spcBef>
                <a:spcPts val="1200"/>
              </a:spcBef>
            </a:pPr>
            <a:r>
              <a:rPr lang="en-US" altLang="en-US" dirty="0"/>
              <a:t>Like external economies of scale at a point in time, dynamic increasing returns to scale can lock in an initial advantage or a head start in an industry.</a:t>
            </a:r>
          </a:p>
          <a:p>
            <a:pPr>
              <a:spcBef>
                <a:spcPts val="1200"/>
              </a:spcBef>
            </a:pPr>
            <a:r>
              <a:rPr lang="en-US" altLang="en-US" dirty="0"/>
              <a:t>Can also be used to justify protectionism.</a:t>
            </a:r>
          </a:p>
          <a:p>
            <a:pPr lvl="1"/>
            <a:r>
              <a:rPr lang="en-US" altLang="en-US" dirty="0"/>
              <a:t>Temporary protection of industries enables them to gain experience: </a:t>
            </a:r>
            <a:r>
              <a:rPr lang="en-US" altLang="en-US" b="1" dirty="0"/>
              <a:t>infant industry argument</a:t>
            </a:r>
            <a:r>
              <a:rPr lang="en-US" altLang="en-US" dirty="0"/>
              <a:t>.</a:t>
            </a:r>
          </a:p>
          <a:p>
            <a:pPr lvl="1"/>
            <a:r>
              <a:rPr lang="en-US" altLang="en-US" dirty="0"/>
              <a:t>But temporary is often for a long time, and it is hard to identify when external economies of scale really exist</a:t>
            </a:r>
            <a:r>
              <a:rPr lang="en-US" altLang="en-US" dirty="0" smtClean="0"/>
              <a:t>.</a:t>
            </a:r>
            <a:endParaRPr lang="en-US" altLang="en-US" b="1" dirty="0"/>
          </a:p>
        </p:txBody>
      </p:sp>
    </p:spTree>
    <p:extLst>
      <p:ext uri="{BB962C8B-B14F-4D97-AF65-F5344CB8AC3E}">
        <p14:creationId xmlns:p14="http://schemas.microsoft.com/office/powerpoint/2010/main" val="1831517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Interregional Trade and Economic Geography </a:t>
            </a:r>
            <a:r>
              <a:rPr lang="en-US" altLang="en-US" sz="2000" b="0" dirty="0"/>
              <a:t>(1 of 3)</a:t>
            </a:r>
            <a:endParaRPr lang="en-US" dirty="0"/>
          </a:p>
        </p:txBody>
      </p:sp>
      <p:sp>
        <p:nvSpPr>
          <p:cNvPr id="3" name="Content Placeholder 2"/>
          <p:cNvSpPr>
            <a:spLocks noGrp="1"/>
          </p:cNvSpPr>
          <p:nvPr>
            <p:ph sz="quarter" idx="13"/>
          </p:nvPr>
        </p:nvSpPr>
        <p:spPr/>
        <p:txBody>
          <a:bodyPr/>
          <a:lstStyle/>
          <a:p>
            <a:pPr>
              <a:spcBef>
                <a:spcPts val="1200"/>
              </a:spcBef>
            </a:pPr>
            <a:r>
              <a:rPr lang="en-US" altLang="en-US" dirty="0"/>
              <a:t>External economies may also be important for </a:t>
            </a:r>
            <a:r>
              <a:rPr lang="en-US" altLang="en-US" b="1" dirty="0"/>
              <a:t>interregional trade </a:t>
            </a:r>
            <a:r>
              <a:rPr lang="en-US" altLang="en-US" dirty="0"/>
              <a:t>within a country.</a:t>
            </a:r>
          </a:p>
          <a:p>
            <a:pPr lvl="1"/>
            <a:r>
              <a:rPr lang="en-US" altLang="en-US" dirty="0"/>
              <a:t>Many movie producers located in Los Angeles produce movies for consumers throughout the United States.</a:t>
            </a:r>
          </a:p>
          <a:p>
            <a:pPr lvl="1"/>
            <a:r>
              <a:rPr lang="en-US" altLang="en-US" dirty="0"/>
              <a:t>Many financial firms located in New York provide financial services for consumers throughout the United States</a:t>
            </a:r>
            <a:r>
              <a:rPr lang="en-US" altLang="en-US" dirty="0" smtClean="0"/>
              <a:t>.</a:t>
            </a:r>
            <a:endParaRPr lang="en-US" altLang="en-US" b="1" dirty="0"/>
          </a:p>
        </p:txBody>
      </p:sp>
    </p:spTree>
    <p:extLst>
      <p:ext uri="{BB962C8B-B14F-4D97-AF65-F5344CB8AC3E}">
        <p14:creationId xmlns:p14="http://schemas.microsoft.com/office/powerpoint/2010/main" val="3062927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Interregional Trade and Economic Geography </a:t>
            </a:r>
            <a:r>
              <a:rPr lang="en-US" altLang="en-US" sz="2000" b="0" dirty="0" smtClean="0"/>
              <a:t>(2 </a:t>
            </a:r>
            <a:r>
              <a:rPr lang="en-US" altLang="en-US" sz="2000" b="0" dirty="0"/>
              <a:t>of 3)</a:t>
            </a:r>
            <a:endParaRPr lang="en-US" dirty="0"/>
          </a:p>
        </p:txBody>
      </p:sp>
      <p:sp>
        <p:nvSpPr>
          <p:cNvPr id="3" name="Content Placeholder 2"/>
          <p:cNvSpPr>
            <a:spLocks noGrp="1"/>
          </p:cNvSpPr>
          <p:nvPr>
            <p:ph sz="quarter" idx="13"/>
          </p:nvPr>
        </p:nvSpPr>
        <p:spPr/>
        <p:txBody>
          <a:bodyPr/>
          <a:lstStyle/>
          <a:p>
            <a:pPr>
              <a:spcBef>
                <a:spcPts val="1200"/>
              </a:spcBef>
            </a:pPr>
            <a:r>
              <a:rPr lang="en-US" altLang="en-US" dirty="0"/>
              <a:t>Some </a:t>
            </a:r>
            <a:r>
              <a:rPr lang="en-US" altLang="en-US" dirty="0"/>
              <a:t>nontradable</a:t>
            </a:r>
            <a:r>
              <a:rPr lang="en-US" altLang="en-US" dirty="0"/>
              <a:t> goods like veterinary services must usually be supplied locally.</a:t>
            </a:r>
          </a:p>
          <a:p>
            <a:pPr>
              <a:spcBef>
                <a:spcPts val="1200"/>
              </a:spcBef>
            </a:pPr>
            <a:r>
              <a:rPr lang="en-US" altLang="en-US" dirty="0"/>
              <a:t>If external economies exist, the pattern of trade may be due to historical accidents:</a:t>
            </a:r>
          </a:p>
          <a:p>
            <a:pPr lvl="1"/>
            <a:r>
              <a:rPr lang="en-US" altLang="en-US" dirty="0"/>
              <a:t>Regions that start as large producers in certain industries tend to remain large producers even if another region could potentially produce more cheaply</a:t>
            </a:r>
            <a:r>
              <a:rPr lang="en-US" altLang="en-US" dirty="0" smtClean="0"/>
              <a:t>.</a:t>
            </a:r>
            <a:endParaRPr lang="en-US" altLang="en-US" b="1" dirty="0"/>
          </a:p>
        </p:txBody>
      </p:sp>
    </p:spTree>
    <p:extLst>
      <p:ext uri="{BB962C8B-B14F-4D97-AF65-F5344CB8AC3E}">
        <p14:creationId xmlns:p14="http://schemas.microsoft.com/office/powerpoint/2010/main" val="24060037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Table 7.2 Some Examples of Tradable and </a:t>
            </a:r>
            <a:r>
              <a:rPr lang="en-US" altLang="en-US" sz="3200" dirty="0"/>
              <a:t>Nontradable</a:t>
            </a:r>
            <a:r>
              <a:rPr lang="en-US" altLang="en-US" sz="3200" dirty="0"/>
              <a:t> Industries</a:t>
            </a:r>
            <a:endParaRPr lang="en-US" sz="3200" dirty="0"/>
          </a:p>
        </p:txBody>
      </p:sp>
      <p:graphicFrame>
        <p:nvGraphicFramePr>
          <p:cNvPr id="6" name="Content Placeholder 5"/>
          <p:cNvGraphicFramePr>
            <a:graphicFrameLocks noGrp="1"/>
          </p:cNvGraphicFramePr>
          <p:nvPr>
            <p:ph sz="quarter" idx="13"/>
            <p:extLst>
              <p:ext uri="{D42A27DB-BD31-4B8C-83A1-F6EECF244321}">
                <p14:modId xmlns:p14="http://schemas.microsoft.com/office/powerpoint/2010/main" val="678022608"/>
              </p:ext>
            </p:extLst>
          </p:nvPr>
        </p:nvGraphicFramePr>
        <p:xfrm>
          <a:off x="457200" y="1595080"/>
          <a:ext cx="8229600" cy="1615440"/>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3985607147"/>
                    </a:ext>
                  </a:extLst>
                </a:gridCol>
                <a:gridCol w="4114800">
                  <a:extLst>
                    <a:ext uri="{9D8B030D-6E8A-4147-A177-3AD203B41FA5}">
                      <a16:colId xmlns:a16="http://schemas.microsoft.com/office/drawing/2014/main" val="2757576152"/>
                    </a:ext>
                  </a:extLst>
                </a:gridCol>
              </a:tblGrid>
              <a:tr h="370840">
                <a:tc>
                  <a:txBody>
                    <a:bodyPr/>
                    <a:lstStyle/>
                    <a:p>
                      <a:r>
                        <a:rPr lang="en-US" sz="2200" b="1" dirty="0"/>
                        <a:t>Tradable Industries</a:t>
                      </a:r>
                      <a:endParaRPr lang="en-US" sz="2200" b="1"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1" dirty="0"/>
                        <a:t>Nontradable Industries</a:t>
                      </a:r>
                      <a:endParaRPr lang="en-US" sz="2200" b="1"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8059907"/>
                  </a:ext>
                </a:extLst>
              </a:tr>
              <a:tr h="370840">
                <a:tc>
                  <a:txBody>
                    <a:bodyPr/>
                    <a:lstStyle/>
                    <a:p>
                      <a:r>
                        <a:rPr lang="en-US" sz="2200" dirty="0"/>
                        <a:t>Aircraft manufacturing</a:t>
                      </a:r>
                      <a:endParaRPr lang="en-US" sz="2200" dirty="0">
                        <a:latin typeface="+mn-lt"/>
                      </a:endParaRPr>
                    </a:p>
                  </a:txBody>
                  <a:tcPr>
                    <a:lnT w="12700" cap="flat" cmpd="sng" algn="ctr">
                      <a:solidFill>
                        <a:schemeClr val="tx1"/>
                      </a:solidFill>
                      <a:prstDash val="solid"/>
                      <a:round/>
                      <a:headEnd type="none" w="med" len="med"/>
                      <a:tailEnd type="none" w="med" len="med"/>
                    </a:lnT>
                  </a:tcPr>
                </a:tc>
                <a:tc>
                  <a:txBody>
                    <a:bodyPr/>
                    <a:lstStyle/>
                    <a:p>
                      <a:r>
                        <a:rPr lang="en-US" sz="2200" u="none" strike="noStrike" kern="1200" baseline="0" dirty="0"/>
                        <a:t>Ready-mix concrete manufacturing</a:t>
                      </a:r>
                      <a:endParaRPr lang="en-US" sz="2200" dirty="0">
                        <a:latin typeface="+mn-lt"/>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01172568"/>
                  </a:ext>
                </a:extLst>
              </a:tr>
              <a:tr h="370840">
                <a:tc>
                  <a:txBody>
                    <a:bodyPr/>
                    <a:lstStyle/>
                    <a:p>
                      <a:r>
                        <a:rPr lang="en-US" sz="2200" dirty="0"/>
                        <a:t>Software publishing</a:t>
                      </a:r>
                      <a:endParaRPr lang="en-US" sz="2200" dirty="0">
                        <a:latin typeface="+mn-lt"/>
                      </a:endParaRPr>
                    </a:p>
                  </a:txBody>
                  <a:tcPr>
                    <a:lnB w="12700" cap="flat" cmpd="sng" algn="ctr">
                      <a:solidFill>
                        <a:schemeClr val="tx1"/>
                      </a:solidFill>
                      <a:prstDash val="solid"/>
                      <a:round/>
                      <a:headEnd type="none" w="med" len="med"/>
                      <a:tailEnd type="none" w="med" len="med"/>
                    </a:lnB>
                  </a:tcPr>
                </a:tc>
                <a:tc>
                  <a:txBody>
                    <a:bodyPr/>
                    <a:lstStyle/>
                    <a:p>
                      <a:r>
                        <a:rPr lang="en-US" sz="2200" dirty="0"/>
                        <a:t>Tax preparation services</a:t>
                      </a:r>
                      <a:endParaRPr lang="en-US" sz="2200" dirty="0">
                        <a:latin typeface="+mn-lt"/>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9480227"/>
                  </a:ext>
                </a:extLst>
              </a:tr>
            </a:tbl>
          </a:graphicData>
        </a:graphic>
      </p:graphicFrame>
      <p:sp>
        <p:nvSpPr>
          <p:cNvPr id="5" name="Content Placeholder 4"/>
          <p:cNvSpPr>
            <a:spLocks noGrp="1"/>
          </p:cNvSpPr>
          <p:nvPr>
            <p:ph sz="quarter" idx="14"/>
          </p:nvPr>
        </p:nvSpPr>
        <p:spPr>
          <a:xfrm>
            <a:off x="457200" y="3408219"/>
            <a:ext cx="8229600" cy="926275"/>
          </a:xfrm>
        </p:spPr>
        <p:txBody>
          <a:bodyPr/>
          <a:lstStyle/>
          <a:p>
            <a:pPr marL="432" indent="0">
              <a:buNone/>
            </a:pPr>
            <a:r>
              <a:rPr lang="en-US" sz="1600" b="1" dirty="0"/>
              <a:t>Source: </a:t>
            </a:r>
            <a:r>
              <a:rPr lang="en-US" sz="1600" dirty="0"/>
              <a:t>Antoine Gervais and J. Bradford Jensen, “The tradability of services: Geographic concentration and trade costs,” working paper, Peterson Institute for International Economics, 2015</a:t>
            </a:r>
            <a:r>
              <a:rPr lang="en-US" sz="1600" dirty="0" smtClean="0"/>
              <a:t>.</a:t>
            </a:r>
            <a:endParaRPr lang="en-US" sz="1600" dirty="0"/>
          </a:p>
        </p:txBody>
      </p:sp>
    </p:spTree>
    <p:extLst>
      <p:ext uri="{BB962C8B-B14F-4D97-AF65-F5344CB8AC3E}">
        <p14:creationId xmlns:p14="http://schemas.microsoft.com/office/powerpoint/2010/main" val="2021407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Interregional Trade and Economic Geography </a:t>
            </a:r>
            <a:r>
              <a:rPr lang="en-US" altLang="en-US" sz="2000" b="0" dirty="0"/>
              <a:t>(3 of 3)</a:t>
            </a:r>
            <a:endParaRPr lang="en-US" dirty="0"/>
          </a:p>
        </p:txBody>
      </p:sp>
      <p:sp>
        <p:nvSpPr>
          <p:cNvPr id="5" name="Content Placeholder 4"/>
          <p:cNvSpPr>
            <a:spLocks noGrp="1"/>
          </p:cNvSpPr>
          <p:nvPr>
            <p:ph sz="quarter" idx="13"/>
          </p:nvPr>
        </p:nvSpPr>
        <p:spPr/>
        <p:txBody>
          <a:bodyPr/>
          <a:lstStyle/>
          <a:p>
            <a:pPr>
              <a:spcBef>
                <a:spcPts val="1200"/>
              </a:spcBef>
            </a:pPr>
            <a:r>
              <a:rPr lang="en-US" altLang="en-US" sz="2200" dirty="0"/>
              <a:t>More broadly, </a:t>
            </a:r>
            <a:r>
              <a:rPr lang="en-US" altLang="en-US" sz="2200" b="1" dirty="0"/>
              <a:t>economic geography</a:t>
            </a:r>
            <a:r>
              <a:rPr lang="en-US" altLang="en-US" sz="2200" dirty="0"/>
              <a:t> refers to the study of international trade, interregional trade, and the organization of economic activity in metropolitan and rural areas.</a:t>
            </a:r>
          </a:p>
          <a:p>
            <a:pPr lvl="1"/>
            <a:r>
              <a:rPr lang="en-US" altLang="en-US" sz="2200" dirty="0"/>
              <a:t>Economic geography studies how humans transact with each other across space.</a:t>
            </a:r>
          </a:p>
          <a:p>
            <a:pPr lvl="2"/>
            <a:r>
              <a:rPr lang="en-US" altLang="en-US" sz="2200" dirty="0"/>
              <a:t>Communication changes such as the Internet, e-mail, text mail, video conferencing, and mobile phones (as well as modern transportation) are changing how humans transact with each other across space</a:t>
            </a:r>
            <a:r>
              <a:rPr lang="en-US" altLang="en-US" sz="2200" dirty="0" smtClean="0"/>
              <a:t>.</a:t>
            </a:r>
            <a:endParaRPr lang="en-US" altLang="en-US" sz="2200" b="1" dirty="0"/>
          </a:p>
        </p:txBody>
      </p:sp>
    </p:spTree>
    <p:extLst>
      <p:ext uri="{BB962C8B-B14F-4D97-AF65-F5344CB8AC3E}">
        <p14:creationId xmlns:p14="http://schemas.microsoft.com/office/powerpoint/2010/main" val="37967633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(1 of 4)</a:t>
            </a:r>
            <a:endParaRPr lang="en-US" dirty="0"/>
          </a:p>
        </p:txBody>
      </p:sp>
      <p:sp>
        <p:nvSpPr>
          <p:cNvPr id="3" name="Content Placeholder 2"/>
          <p:cNvSpPr>
            <a:spLocks noGrp="1"/>
          </p:cNvSpPr>
          <p:nvPr>
            <p:ph sz="quarter" idx="13"/>
          </p:nvPr>
        </p:nvSpPr>
        <p:spPr/>
        <p:txBody>
          <a:bodyPr/>
          <a:lstStyle/>
          <a:p>
            <a:pPr marL="432000" indent="-432000">
              <a:buFont typeface="+mj-lt"/>
              <a:buAutoNum type="arabicPeriod"/>
            </a:pPr>
            <a:r>
              <a:rPr lang="en-US" altLang="en-US" dirty="0"/>
              <a:t>Trade need not be the result of comparative advantage. Instead, it can result from increasing returns or economies of scale, that is, from a tendency of unit costs to be lower with larger output.</a:t>
            </a:r>
          </a:p>
          <a:p>
            <a:pPr marL="432000" indent="-432000">
              <a:buFont typeface="+mj-lt"/>
              <a:buAutoNum type="arabicPeriod"/>
            </a:pPr>
            <a:r>
              <a:rPr lang="en-US" altLang="en-US" dirty="0"/>
              <a:t>Economies of scale give countries an incentive to specialize and trade even in the absence of differences in resources or technology between countries.</a:t>
            </a:r>
          </a:p>
          <a:p>
            <a:pPr marL="432000" indent="-432000">
              <a:buFont typeface="+mj-lt"/>
              <a:buAutoNum type="arabicPeriod"/>
            </a:pPr>
            <a:r>
              <a:rPr lang="en-US" altLang="en-US" dirty="0"/>
              <a:t>Economies of scale can be internal (depending on the size of the firm) or external (depending on the size of the industry</a:t>
            </a:r>
            <a:r>
              <a:rPr lang="en-US" altLang="en-US" dirty="0" smtClean="0"/>
              <a:t>).</a:t>
            </a:r>
            <a:endParaRPr lang="en-US" altLang="en-US" dirty="0"/>
          </a:p>
        </p:txBody>
      </p:sp>
    </p:spTree>
    <p:extLst>
      <p:ext uri="{BB962C8B-B14F-4D97-AF65-F5344CB8AC3E}">
        <p14:creationId xmlns:p14="http://schemas.microsoft.com/office/powerpoint/2010/main" val="35480794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smtClean="0"/>
              <a:t>(2 </a:t>
            </a:r>
            <a:r>
              <a:rPr lang="en-US" altLang="en-US" sz="2000" b="0" dirty="0"/>
              <a:t>of 4)</a:t>
            </a:r>
            <a:endParaRPr lang="en-US" dirty="0"/>
          </a:p>
        </p:txBody>
      </p:sp>
      <p:sp>
        <p:nvSpPr>
          <p:cNvPr id="3" name="Content Placeholder 2"/>
          <p:cNvSpPr>
            <a:spLocks noGrp="1"/>
          </p:cNvSpPr>
          <p:nvPr>
            <p:ph sz="quarter" idx="13"/>
          </p:nvPr>
        </p:nvSpPr>
        <p:spPr>
          <a:xfrm>
            <a:off x="457200" y="1556327"/>
            <a:ext cx="8259288" cy="2018146"/>
          </a:xfrm>
        </p:spPr>
        <p:txBody>
          <a:bodyPr/>
          <a:lstStyle/>
          <a:p>
            <a:pPr marL="432000" indent="-432000">
              <a:buFont typeface="+mj-lt"/>
              <a:buAutoNum type="arabicPeriod" startAt="4"/>
            </a:pPr>
            <a:r>
              <a:rPr lang="en-US" altLang="en-US" sz="2200" dirty="0"/>
              <a:t>Economies of scale can lead to a breakdown of perfect competition, unless they take the form of external economies, which occur at the level of the industry instead of the firm.</a:t>
            </a:r>
            <a:endParaRPr lang="en-US" altLang="en-US" sz="2200" b="1" dirty="0"/>
          </a:p>
          <a:p>
            <a:pPr marL="432000" indent="-432000">
              <a:buFont typeface="+mj-lt"/>
              <a:buAutoNum type="arabicPeriod" startAt="4"/>
            </a:pPr>
            <a:r>
              <a:rPr lang="en-US" altLang="en-US" sz="2200" dirty="0"/>
              <a:t>External economies give an important role to history and accident in determining the pattern of international trade</a:t>
            </a:r>
            <a:r>
              <a:rPr lang="en-US" altLang="en-US" sz="2200" dirty="0" smtClean="0"/>
              <a:t>.</a:t>
            </a:r>
            <a:endParaRPr lang="en-US" altLang="en-US" sz="2200" dirty="0"/>
          </a:p>
        </p:txBody>
      </p:sp>
      <p:sp>
        <p:nvSpPr>
          <p:cNvPr id="4" name="Content Placeholder 3"/>
          <p:cNvSpPr>
            <a:spLocks noGrp="1"/>
          </p:cNvSpPr>
          <p:nvPr>
            <p:ph sz="quarter" idx="14"/>
          </p:nvPr>
        </p:nvSpPr>
        <p:spPr>
          <a:xfrm>
            <a:off x="457200" y="3645725"/>
            <a:ext cx="8259288" cy="1448789"/>
          </a:xfrm>
        </p:spPr>
        <p:txBody>
          <a:bodyPr tIns="0"/>
          <a:lstStyle/>
          <a:p>
            <a:pPr lvl="1"/>
            <a:r>
              <a:rPr lang="en-US" altLang="en-US" sz="2200" dirty="0"/>
              <a:t>When external economies are important, a country starting with a large advantage may retain that advantage even if another country could potentially produce the same goods more cheaply.</a:t>
            </a:r>
            <a:endParaRPr lang="en-US" altLang="en-US" sz="2200" b="1" dirty="0"/>
          </a:p>
        </p:txBody>
      </p:sp>
    </p:spTree>
    <p:extLst>
      <p:ext uri="{BB962C8B-B14F-4D97-AF65-F5344CB8AC3E}">
        <p14:creationId xmlns:p14="http://schemas.microsoft.com/office/powerpoint/2010/main" val="23798664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(3 of 4)</a:t>
            </a:r>
            <a:endParaRPr lang="en-US" dirty="0"/>
          </a:p>
        </p:txBody>
      </p:sp>
      <p:sp>
        <p:nvSpPr>
          <p:cNvPr id="3" name="Content Placeholder 2"/>
          <p:cNvSpPr>
            <a:spLocks noGrp="1"/>
          </p:cNvSpPr>
          <p:nvPr>
            <p:ph sz="quarter" idx="13"/>
          </p:nvPr>
        </p:nvSpPr>
        <p:spPr>
          <a:xfrm>
            <a:off x="457200" y="1552574"/>
            <a:ext cx="8229600" cy="893743"/>
          </a:xfrm>
        </p:spPr>
        <p:txBody>
          <a:bodyPr/>
          <a:lstStyle/>
          <a:p>
            <a:pPr marL="432000" indent="-432000">
              <a:spcBef>
                <a:spcPts val="1200"/>
              </a:spcBef>
              <a:buFont typeface="+mj-lt"/>
              <a:buAutoNum type="arabicPeriod" startAt="6"/>
            </a:pPr>
            <a:r>
              <a:rPr lang="en-US" altLang="en-US" dirty="0"/>
              <a:t>When external economies are important, countries can conceivably lose from trade</a:t>
            </a:r>
            <a:r>
              <a:rPr lang="en-US" altLang="en-US" dirty="0" smtClean="0"/>
              <a:t>.</a:t>
            </a:r>
          </a:p>
        </p:txBody>
      </p:sp>
      <p:sp>
        <p:nvSpPr>
          <p:cNvPr id="4" name="Content Placeholder 3"/>
          <p:cNvSpPr>
            <a:spLocks noGrp="1"/>
          </p:cNvSpPr>
          <p:nvPr>
            <p:ph sz="quarter" idx="14"/>
          </p:nvPr>
        </p:nvSpPr>
        <p:spPr>
          <a:xfrm>
            <a:off x="457200" y="2505692"/>
            <a:ext cx="8229600" cy="795648"/>
          </a:xfrm>
        </p:spPr>
        <p:txBody>
          <a:bodyPr tIns="0"/>
          <a:lstStyle/>
          <a:p>
            <a:pPr lvl="1"/>
            <a:r>
              <a:rPr lang="en-US" altLang="en-US" dirty="0"/>
              <a:t>Also the free-trade price can fall below the price before trade in both countries.</a:t>
            </a:r>
          </a:p>
        </p:txBody>
      </p:sp>
      <p:sp>
        <p:nvSpPr>
          <p:cNvPr id="5" name="Content Placeholder 4"/>
          <p:cNvSpPr>
            <a:spLocks noGrp="1"/>
          </p:cNvSpPr>
          <p:nvPr>
            <p:ph sz="quarter" idx="15"/>
          </p:nvPr>
        </p:nvSpPr>
        <p:spPr>
          <a:xfrm>
            <a:off x="457200" y="3372590"/>
            <a:ext cx="8229600" cy="1246908"/>
          </a:xfrm>
        </p:spPr>
        <p:txBody>
          <a:bodyPr tIns="0"/>
          <a:lstStyle/>
          <a:p>
            <a:pPr marL="432000" lvl="1" indent="-432000">
              <a:spcBef>
                <a:spcPts val="1500"/>
              </a:spcBef>
              <a:buFont typeface="+mj-lt"/>
              <a:buAutoNum type="arabicPeriod" startAt="7"/>
            </a:pPr>
            <a:r>
              <a:rPr lang="en-US" altLang="en-US" dirty="0"/>
              <a:t>Economic geography refers to how humans transact with each other across space, including through international trade and interregional trade.</a:t>
            </a:r>
          </a:p>
        </p:txBody>
      </p:sp>
    </p:spTree>
    <p:extLst>
      <p:ext uri="{BB962C8B-B14F-4D97-AF65-F5344CB8AC3E}">
        <p14:creationId xmlns:p14="http://schemas.microsoft.com/office/powerpoint/2010/main" val="1460191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smtClean="0"/>
              <a:t>(4 </a:t>
            </a:r>
            <a:r>
              <a:rPr lang="en-US" altLang="en-US" sz="2000" b="0" dirty="0"/>
              <a:t>of 4)</a:t>
            </a:r>
            <a:endParaRPr lang="en-US" dirty="0"/>
          </a:p>
        </p:txBody>
      </p:sp>
      <p:sp>
        <p:nvSpPr>
          <p:cNvPr id="3" name="Content Placeholder 2"/>
          <p:cNvSpPr>
            <a:spLocks noGrp="1"/>
          </p:cNvSpPr>
          <p:nvPr>
            <p:ph sz="quarter" idx="13"/>
          </p:nvPr>
        </p:nvSpPr>
        <p:spPr>
          <a:xfrm>
            <a:off x="457200" y="1556327"/>
            <a:ext cx="7998031" cy="2718790"/>
          </a:xfrm>
        </p:spPr>
        <p:txBody>
          <a:bodyPr/>
          <a:lstStyle/>
          <a:p>
            <a:pPr marL="432000" indent="-432000">
              <a:buFont typeface="Times" pitchFamily="-1" charset="0"/>
              <a:buAutoNum type="arabicPeriod" startAt="8"/>
            </a:pPr>
            <a:r>
              <a:rPr lang="en-US" altLang="en-US" dirty="0"/>
              <a:t>Trade based on external economies of scale may increase or decrease national welfare, and countries may benefit from temporary protectionism if their industries exhibit external economies of scale either at a point in time or over time.</a:t>
            </a:r>
          </a:p>
        </p:txBody>
      </p:sp>
    </p:spTree>
    <p:extLst>
      <p:ext uri="{BB962C8B-B14F-4D97-AF65-F5344CB8AC3E}">
        <p14:creationId xmlns:p14="http://schemas.microsoft.com/office/powerpoint/2010/main" val="2958797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147613</TotalTime>
  <Words>3464</Words>
  <Application>Microsoft Office PowerPoint</Application>
  <PresentationFormat>On-screen Show (4:3)</PresentationFormat>
  <Paragraphs>239</Paragraphs>
  <Slides>44</Slides>
  <Notes>13</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2</vt:i4>
      </vt:variant>
      <vt:variant>
        <vt:lpstr>Slide Titles</vt:lpstr>
      </vt:variant>
      <vt:variant>
        <vt:i4>44</vt:i4>
      </vt:variant>
    </vt:vector>
  </HeadingPairs>
  <TitlesOfParts>
    <vt:vector size="55" baseType="lpstr">
      <vt:lpstr>Times New Roman</vt:lpstr>
      <vt:lpstr>Verdana</vt:lpstr>
      <vt:lpstr>Noto Sans Symbols</vt:lpstr>
      <vt:lpstr>Times</vt:lpstr>
      <vt:lpstr>Arial</vt:lpstr>
      <vt:lpstr>ヒラギノ角ゴ Pro W3</vt:lpstr>
      <vt:lpstr>ＭＳ Ｐゴシック</vt:lpstr>
      <vt:lpstr>USHE</vt:lpstr>
      <vt:lpstr>USHE_slide options</vt:lpstr>
      <vt:lpstr>Equation</vt:lpstr>
      <vt:lpstr>MathType 6.0 Equation</vt:lpstr>
      <vt:lpstr>International Economics: Theory and Policy</vt:lpstr>
      <vt:lpstr>Learning Objectives</vt:lpstr>
      <vt:lpstr>Preview</vt:lpstr>
      <vt:lpstr>Introduction (1 of 4)</vt:lpstr>
      <vt:lpstr>Introduction (2 of 4)</vt:lpstr>
      <vt:lpstr>Introduction (3 of 4)</vt:lpstr>
      <vt:lpstr>Table 7.1 Relationship of Input to Output for a Hypothetical Industry</vt:lpstr>
      <vt:lpstr>Introduction (4 of 4)</vt:lpstr>
      <vt:lpstr>Economies of Scale and Market Structure (1 of 2)</vt:lpstr>
      <vt:lpstr>Economies of Scale and Market Structure (2 of 2)</vt:lpstr>
      <vt:lpstr>The Theory of External Economies (1 of 6)</vt:lpstr>
      <vt:lpstr>The Theory of External Economies (2 of 6)</vt:lpstr>
      <vt:lpstr>The Theory of External Economies (3 of 6)</vt:lpstr>
      <vt:lpstr>The Theory of External Economies (4 of 6)</vt:lpstr>
      <vt:lpstr>The Theory of External Economies (5 of 6)</vt:lpstr>
      <vt:lpstr>The Theory of External Economies (6 of 6)</vt:lpstr>
      <vt:lpstr>Figure 7.1 External Economies and Market Equilibrium</vt:lpstr>
      <vt:lpstr>External Economies and International Trade (1 of 10)</vt:lpstr>
      <vt:lpstr>Figure 7.2 External Economies Before Trade</vt:lpstr>
      <vt:lpstr>External Economies and International Trade (2 of 10)</vt:lpstr>
      <vt:lpstr>External Economies and International Trade (3 of 10)</vt:lpstr>
      <vt:lpstr>External Economies and International Trade (4 of 10)</vt:lpstr>
      <vt:lpstr>Figure 7.3 Trade and Prices</vt:lpstr>
      <vt:lpstr>External Economies and International Trade (5 of 10)</vt:lpstr>
      <vt:lpstr>External Economies and International Trade (6 of 10)</vt:lpstr>
      <vt:lpstr>External Economies and International Trade (7 of 10)</vt:lpstr>
      <vt:lpstr>Figure 7.4 The Importance of Established Advantage</vt:lpstr>
      <vt:lpstr>External Economies and International Trade (8 of 10)</vt:lpstr>
      <vt:lpstr>External Economies and International Trade (9 of 10)</vt:lpstr>
      <vt:lpstr>External Economies and International Trade (10 of 10)</vt:lpstr>
      <vt:lpstr>Figure 7.5 External Economies and Losses from Trade</vt:lpstr>
      <vt:lpstr>Dynamic Increasing Returns (1 of 3)</vt:lpstr>
      <vt:lpstr>Dynamic Increasing Returns (2 of 3)</vt:lpstr>
      <vt:lpstr>Figure 7.6 The Learning Curve</vt:lpstr>
      <vt:lpstr>Dynamic Increasing Returns (3 of 3)</vt:lpstr>
      <vt:lpstr>Interregional Trade and Economic Geography (1 of 3)</vt:lpstr>
      <vt:lpstr>Interregional Trade and Economic Geography (2 of 3)</vt:lpstr>
      <vt:lpstr>Table 7.2 Some Examples of Tradable and Nontradable Industries</vt:lpstr>
      <vt:lpstr>Interregional Trade and Economic Geography (3 of 3)</vt:lpstr>
      <vt:lpstr>Summary (1 of 4)</vt:lpstr>
      <vt:lpstr>Summary (2 of 4)</vt:lpstr>
      <vt:lpstr>Summary (3 of 4)</vt:lpstr>
      <vt:lpstr>Summary (4 of 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7, External Economies of Scale and the International Location of Production</dc:title>
  <dc:subject>Business</dc:subject>
  <dc:creator>Krugman/Obstfeld/Melitz</dc:creator>
  <cp:keywords>International Economics</cp:keywords>
  <dc:description>Long description alt-text is inserted in the notes pane.</dc:description>
  <cp:lastModifiedBy>Windows User</cp:lastModifiedBy>
  <cp:revision>970</cp:revision>
  <dcterms:modified xsi:type="dcterms:W3CDTF">2021-10-22T14:53:23Z</dcterms:modified>
</cp:coreProperties>
</file>