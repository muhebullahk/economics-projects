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54"/>
  </p:notesMasterIdLst>
  <p:handoutMasterIdLst>
    <p:handoutMasterId r:id="rId55"/>
  </p:handoutMasterIdLst>
  <p:sldIdLst>
    <p:sldId id="330" r:id="rId3"/>
    <p:sldId id="331" r:id="rId4"/>
    <p:sldId id="334" r:id="rId5"/>
    <p:sldId id="333" r:id="rId6"/>
    <p:sldId id="332"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81" r:id="rId25"/>
    <p:sldId id="353" r:id="rId26"/>
    <p:sldId id="354" r:id="rId27"/>
    <p:sldId id="355" r:id="rId28"/>
    <p:sldId id="356" r:id="rId29"/>
    <p:sldId id="357" r:id="rId30"/>
    <p:sldId id="358" r:id="rId31"/>
    <p:sldId id="359" r:id="rId32"/>
    <p:sldId id="360" r:id="rId33"/>
    <p:sldId id="361" r:id="rId34"/>
    <p:sldId id="362" r:id="rId35"/>
    <p:sldId id="382" r:id="rId36"/>
    <p:sldId id="364" r:id="rId37"/>
    <p:sldId id="366" r:id="rId38"/>
    <p:sldId id="365" r:id="rId39"/>
    <p:sldId id="367" r:id="rId40"/>
    <p:sldId id="368" r:id="rId41"/>
    <p:sldId id="369" r:id="rId42"/>
    <p:sldId id="383" r:id="rId43"/>
    <p:sldId id="387" r:id="rId44"/>
    <p:sldId id="388" r:id="rId45"/>
    <p:sldId id="386" r:id="rId46"/>
    <p:sldId id="385" r:id="rId47"/>
    <p:sldId id="375" r:id="rId48"/>
    <p:sldId id="378" r:id="rId49"/>
    <p:sldId id="376" r:id="rId50"/>
    <p:sldId id="379" r:id="rId51"/>
    <p:sldId id="380" r:id="rId52"/>
    <p:sldId id="298" r:id="rId53"/>
  </p:sldIdLst>
  <p:sldSz cx="9144000" cy="6858000" type="screen4x3"/>
  <p:notesSz cx="6858000" cy="9144000"/>
  <p:embeddedFontLst>
    <p:embeddedFont>
      <p:font typeface="ＭＳ Ｐゴシック" panose="020B0600070205080204" pitchFamily="34" charset="-128"/>
      <p:regular r:id="rId56"/>
    </p:embeddedFont>
    <p:embeddedFont>
      <p:font typeface="Calibri" panose="020F0502020204030204" pitchFamily="34" charset="0"/>
      <p:regular r:id="rId57"/>
      <p:bold r:id="rId58"/>
      <p:italic r:id="rId59"/>
      <p:boldItalic r:id="rId60"/>
    </p:embeddedFont>
    <p:embeddedFont>
      <p:font typeface="SimSun-ExtB" panose="02010609060101010101" pitchFamily="49" charset="-122"/>
      <p:regular r:id="rId61"/>
    </p:embeddedFont>
    <p:embeddedFont>
      <p:font typeface="Verdana" panose="020B0604030504040204" pitchFamily="34" charset="0"/>
      <p:regular r:id="rId62"/>
      <p:bold r:id="rId63"/>
      <p:italic r:id="rId64"/>
      <p:boldItalic r:id="rId65"/>
    </p:embeddedFont>
    <p:embeddedFont>
      <p:font typeface="Noto Sans Symbols" panose="020B0604020202020204" charset="0"/>
      <p:regular r:id="rId66"/>
      <p:bold r:id="rId67"/>
      <p:italic r:id="rId68"/>
      <p:boldItalic r:id="rId69"/>
    </p:embeddedFont>
    <p:embeddedFont>
      <p:font typeface="Times" panose="02020603050405020304" pitchFamily="18"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55" autoAdjust="0"/>
    <p:restoredTop sz="96122" autoAdjust="0"/>
  </p:normalViewPr>
  <p:slideViewPr>
    <p:cSldViewPr snapToGrid="0" snapToObjects="1">
      <p:cViewPr varScale="1">
        <p:scale>
          <a:sx n="81" d="100"/>
          <a:sy n="81" d="100"/>
        </p:scale>
        <p:origin x="1644" y="90"/>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2926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63" Type="http://schemas.openxmlformats.org/officeDocument/2006/relationships/font" Target="fonts/font8.fntdata"/><Relationship Id="rId68" Type="http://schemas.openxmlformats.org/officeDocument/2006/relationships/font" Target="fonts/font13.fntdata"/><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1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61"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font" Target="fonts/font18.fntdata"/><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bar graph plots billions of dollars versus U S G N P and its components. The following list provides amount in billions of dollars, by category. G N P, 22,000. consumption, 14,000. investment, 3,500. government purchases, 3,000. current account, negative 500.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27814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858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double line graph plots the U S current account and net foreign wealth in billions of dollars versus year, 19 76 to 20 18. The plot for current account generally falls from (19 76, 0) through (2004, negative 500) and then generally rises to (20 18, negative 400). The plot for net foreign wealth generally rises from (19 76, 0) to (19 80, 300) and then generally falls through (19 97, negative 1,000) to (2004, negative 2,200). The plot then rises to (2007, negative 1,200), falls to (2008, negative 4,000), rises again to (20 10, negative 2,500), and then falls to (20 18, negative 11,500).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8185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3974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bar graph plots the global current account discrepancy since 19 80, with percent of world output versus year, 19 80 to 20 19. Between 19 80 and 2003, except for 19 97, the percent of world output is negative. 19 82, negative 0.9. 19 91, negative 0.65. 2003, negative 0.1. Between 2005 and 20 14, the world output is positive. 2005, 0.12. 20 10, 0.42. 20 16, 0.36. 20 19, 0.35.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1001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bar graph plots the G D P growth, with percent per year versus year, 19 99 to 20 20. Between 2007 and 20 10 and in 20 20, the percent of G D P is negative. 2007, negative 5. 20 09, negative 6. 20 20, negative 7. Between 19 99 and 20 19, the percent of G D P is positive. 19 99, 10. 2003, 2.5. 20 10, 2. 20 15, 26. 20 19, 6.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02737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double line graph plots gross foreign assets, and gross foreign liabilities, for the U S, with assets and liabilities as a ratio to G N P versus year, 19 76 to 20 19. The plot for gross foreign assets generally rises from (19 76, 0.2) through (19 89, 0.41), (2002, 0.62), (20 14, 1.4) to (20 18, 1.38). The plot for gross foreign liabilities generally rises from (19 76, 0.15) through (19 89, 0.41), (2002, 0.85), (20 13, 1.7) to (20 18, 1.9).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89391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1, U S net international investment position, line 4 less line 36, Negative 9,674.4 Negative 1,376.1 Negative 395.5, Negative 980.5 left parenthesis 4 right parenthesis, left parenthesis 4 right parenthesis, left parenthesis 4 right parenthesis, Negative 11,050.5. Row 2. 2, Net international investment position excluding financial derivatives, line 5 less line 37, Negative 9,716.5 Negative 1,354.2 Negative 357.2, Negative 997.0 Negative 1,104.9, 119.5, Negative 11,070.7. Row 3. 3, Financial derivatives other than reserves, net, line 6 less line 38, 42, Negative 21.9, Negative 38.3, 16.4, left parenthesis 4 right parenthesis, left parenthesis 4 right parenthesis, left parenthesis 4 right parenthesis, 20.2. Row 4. 4, U S assets 25233.8, 3919, left parenthesis 3 right parenthesis, left parenthesis 3 right parenthesis, left parenthesis 3 right parenthesis, left parenthesis 3 right parenthesis, left parenthesis 3 right parenthesis, 29,152.8. Row 5. 5, Assets excluding financial derivatives, sum of lines 7, 10, 21, and 27, 23784.2, 3578.2, 440.8, 3,137.4, 3,080.1, 128.3, Negative 71.0, 27,362.4. Row 6. 6, Financial derivatives other than reserves, gross positive fair value, line 15., 1449.6, 340.8, left parenthesis 3 right parenthesis, left parenthesis 3 right parenthesis, left parenthesis 3 right parenthesis, left parenthesis 3 right parenthesis, left parenthesis 3 right parenthesis, 1,790.4. Continued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8598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Continuation of the table. 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Blank, By functional category, Blank, Blank, Blank, Blank, Blank, Blank, Blank, Blank. Row 2. 7, Direct investment at market value, 7443.9, 1354.7, 188.5, 1,166.3, 1,104.5, 40 5, 21.3, 8,798.7. Row 3. 8, Equity, 6149.4, 1335.6, 173.5, 1,162.1, 1,104.5, 40.5, 17.1, 7,485.0. Row 4. 9, Debt instruments, 1294.5, 19.1, 14.9, 4.2, Nil, Nil, 4.2, 1,313.6. Row 5. 10, Portfolio investment, 11433.6, 1942.3, 46.6, 1,895.7, 1,914.0, 86.6, Negative 104.9, 13,375.9. Row 6. 11, Equity and investment fund shares, 7899.6, 1559.5, Negative 191.3, 1,750.8, 1,682.8, 77.5, Negative 9.4, 9,459.1. Row 7. 12, Debt securities, 3534, 382.8, 237.9, 144.9, 231.2, 9.2, Negative 95.5, 3,916.8. Row 8. 13, Short term, 651.6, 82.4, 167.6, Negative 85.2.Nil, 14.8, Negative 100.0, 734.0. Row 9. 14, Long term, 2882.4, 300.3, 70.3, 230.0, 231.2, Negative 5.7, 4.5, 3,182.8. Row 10. 15, Financial derivatives other than reserves, gross positive fair value, 1449.6, 340.8, left parenthesis 3 right parenthesis, left parenthesis 3 right parenthesis, left parenthesis 3 right parenthesis, left parenthesis 3 right parenthesis, left parenthesis 3 right parenthesis, 1,790.4. Row 11. 16, Over the counter contracts, 1,408.9, 346.4, left parenthesis 3 right parenthesis, left parenthesis 3 right parenthesis, left parenthesis 3 right parenthesis, left parenthesis 3 right parenthesis, left parenthesis 3 right parenthesis, 1,755.3. Continued.</a:t>
            </a:r>
            <a:r>
              <a:rPr lang="en-US" sz="2800"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0777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Continuation of the table.  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17, Single currency interest rate contracts, 928.8, 368.7, Left parenthesis 3 right parenthesis, Left parenthesis 3 right parenthesis, Left parenthesis 3 right parenthesis, Left parenthesis 3 right parenthesis, Left parenthesis 3 right parenthesis, 1297.5. Row 2. 18, Foreign exchange contracts, 303.6, Negative 15.5, Left parenthesis 3 right parenthesis, Left parenthesis 3 right parenthesis, Left parenthesis 3 right parenthesis, Left parenthesis 3 right parenthesis, Left parenthesis 3 right parenthesis, 288.1. Row 3. 19, Other Contracts, 176.4, Negative 6.8, Left parenthesis 3 right parenthesis, Left parenthesis 3 right parenthesis, Left parenthesis 3 right parenthesis, Left parenthesis 3 right parenthesis, Left parenthesis 3 right parenthesis, 169.7. Row 4. 20, Exchange traded contracts, 40.7, Negative 5.6, Left parenthesis 3 right parenthesis, Left parenthesis 3 right parenthesis, Left parenthesis 3 right parenthesis, Left parenthesis 3 right parenthesis, Left parenthesis 3 right parenthesis, 35.1. Row 5. 21, Other investment, 4457.6, 215.8, 201.1, 14.8, 0, 2.1, 12.7, 4,673.4. Row 6. 22, Other equity, 66.7, 1.4, 1.4, 0.0, 0, Nil, 0.0, 68.0. Row 7. 23, Currency and deposits, 1854.1, 156.5, 132.6, 23.9, Nil, Left parenthesis asterisk right parenthesis, 23.9, 2,010.6. Row 8. 24, Loans, 2484.4, 56.9, 66.1, Negative 9.2, Nil, 2.0, Negative 11.2, 2,541.4. Row 9. 25, Insurance technical reserves, N A, N A, N A, N A, N A, N A, N A, N A. Row 10. 26, Trade credit and advances, 52.4, 1, 1.0, left parenthesis asterisk right parenthesis, Nil, Left parenthesis asterisk right parenthesis, 0.0, 53.3. Row 11. 27, Reserve assets, 449.1, 65.3, 4.7, 60.7, 61.6, Negative 1.0, 0.0, 514.4. Row 12. 28, Monetary gold, 334.5, 61.6, 0.0, 61.6, 61.6, Nil, 0.0, 396.1. Row 13. 29, Special drawing rights, 50.8, Negative 0.1, 0.2, Negative 0.3, Blank, Negative 0.3, 0.0, 50.7. Continued.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81692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Continuation of the table. 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30, Reserve position in the monetary fund, 22, 4.1, 4.3, Negative 0.1, Nil, Negative 0.1, 0, 26.2. Row 2. 31, Other reserve assets, 41.8, Negative 0.4, 0.2, Negative 0.5, 0.0, Negative 0.5, 0.0, 41.4. Row 3. 32, Currency and deposits, 27.3, 1.9, Left parenthesis asterisk right parenthesis 1.9, Nil, Negative 0.3, 2.2, 29.3. Row 4. 33, Securities, 14.5, Negative 2.3, 0.2, Negative 2.5, 0.0, Negative 0.2, Negative 2.2, 12.1. Row 5. 34, Financial derivatives, Nil, Nil, Nil, Nil, Nil, Nil, Nil, Nil. Row 6. 35, Other claims, 0, 0, 0.0, 0.0, Nil, 0.0, 0.0, 0.0. Row 7. 36, U S liabilities, 34908.2, 5295.1, Left parenthesis 3 right parenthesis Left parenthesis 3 right parenthesis Left parenthesis 3 right parenthesis Left parenthesis 3 right parenthesis Left parenthesis 3 right parenthesis 40,203.3. Row 8. 37, Liabilities excluding financial derivatives, sum of lines 39, 42, and 57, 33500.7, 4932.4, 798.0, 4,134.4, 4,185.0, 8.8, Negative 59.4, 38,433.0. Row 9. 38, Financial derivatives other than reserves, gross negative fair value, line 51, 1407.5, 362.7, Left parenthesis 3 right parenthesis Left parenthesis 3 right parenthesis Left parenthesis 3 right parenthesis Left parenthesis 3 right parenthesis Left parenthesis 3 right parenthesis 1,770.3. Continued</a:t>
            </a:r>
            <a:r>
              <a:rPr lang="en-US" sz="2800"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4992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Continuation of the table. 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Blank, By functional category, Blank, Blank, Blank, Blank, Blank, Blank, Blank, Blank. Row 2. 39, Direct Investment at market value, 8401.7, 2145.4, 351.6, 1,793.8, 1,743.2, Nil, 50.5, 10,547.1. Row 3. 40, Equity, 6725.5, 2038.7, 290.3, 1,748.4, 1,743.2, Nil, 5.2, 8,764.2. Row 4. 41, Debt instruments, 1676.2, 106.7, 61.3, 45.4, Nil, Nil, 45.4, 1,782.9. Row 5. 42, Portfolio investment, 18844.2, 2545.6, 180.0, 2,365.6, 2,441.8, 9.1, Negative 85.3, 21,389.8. Row 6. 43, Equity and investment fund shares, 7539.2, 1681, Negative 244.1, 1,925.1, 1,944.3, Nil, Negative 19.3, 9,220.2. Row 7. 44, Debt securities, 11304.9, 864.6, 424.0, 440.6, 497.5, 9.1, Negative 66.0, 12,169.6. Row 8. 45, Short term, 982.2, Negative 44.9, Negative 43.2, Negative 1.8, Nil, Negative 1.8, 0.0, 937.3. Row 9. 46, Treasury bills and certificates, 746.7, Negative 40.4, Negative 40.4, 0.0, Nil, Nil, 0.0, 706.2. Row 10. 47, Other short term securities, 235.5, Negative 4.5, Negative 2.7, Negative 1.8, Nil, Negative 1.8, 0.0, 231.1. Row 11. 48, Long term, 10,322.7, 909.5, 467.2, 442.3, 497.5, 10.9, Negative 66.0, 11,232.3. Row 12. 49, Treasury bonds and notes, 5,523.5, 461.1, 266.1, 195.0, 198.6, Nil, Negative 3.6, 5,984.6. Continued.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0703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Continuation of the table. 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50, Other long term securities, 4799.3, 448.4, 201.1, 247.3, 298.9, 10.9, Negative 62.4, 5247.7. Row 2. 51, Financial securities other than reserves, gross negative fair value, 1407.5, 362.7, Left parenthesis 3 right parenthesis Left parenthesis 3 right parenthesis Left parenthesis 3 right parenthesis Left parenthesis 3 right parenthesis Left parenthesis 3 right parenthesis 1,770.3. Row 3. 52, Over the counter contracts, 1366.2, 371.8, Left parenthesis 3 right parenthesis Left parenthesis 3 right parenthesis Left parenthesis 3 right parenthesis Left parenthesis 3 right parenthesis Left parenthesis 3 right parenthesis 1,738.0. Row 4. 53, Singe currency interest rate contracts, 893.7, 382.6, Left parenthesis 3 right parenthesis Left parenthesis 3 right parenthesis Left parenthesis 3 right parenthesis Left parenthesis 3 right parenthesis Left parenthesis 3 right parenthesis 1,276.3. Row 5. 54, Foreign exchange contracts, 299, Negative 2.9, Left parenthesis 3 right parenthesis Left parenthesis 3 right parenthesis Left parenthesis 3 right parenthesis Left parenthesis 3 right parenthesis Left parenthesis 3 right parenthesis 296.1. Row 6. 55, Other contracts, 173.6, Negative 8.0, Left parenthesis 3 right parenthesis Left parenthesis 3 right parenthesis Left parenthesis 3 right parenthesis Left parenthesis 3 right parenthesis Left parenthesis 3 right parenthesis 165.7. Row 7. 56, Exchange traded contracts, 41.3, Negative 9.1, Left parenthesis 3 right parenthesis Left parenthesis 3 right parenthesis Left parenthesis 3 right parenthesis Left parenthesis 3 right parenthesis Left parenthesis 3 right parenthesis 32.2. Row 8. 57, Other investment, 6254.8, 241.3, 266.4, Negative 25.0, Nil, Negative 0.3, Negative 24.7, 6,496.2. Row 9. 58, Other equity, N A, N A, N A, N A, N A, N A, N A, N A. Row 10. 59, Currency and deposits, 3257.2, 201.6, 204.1, Negative 2.5, Nil, Negative 0.7, Negative 1.8, 3,458.8. Row 11. 60, Loans, 2,749.7, 32.7, 52.4, Negative 19.7, Nil, 0.6, Negative 20.3, 2,782.5. Continued.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6439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Continuation of the table. The columns have the following headings from left to right. Line, Type of investment, Yearend position 20 18 super r, Change in position in 20 19, total, Change in position in 20 19, attributable to, financial transactions, Change in position in 20 19, attributable to, other changes in position, total, Change in position in 20 19, attributable to, other changes in position, price changes, Change in position in 20 19, attributable to, other changes in position, exchange rate changes super 1 , Change in position in 20 19, attributable to, other changes in position, changes in volume and valuation n </a:t>
            </a:r>
            <a:r>
              <a:rPr lang="en-US" sz="1800" b="0" i="0" u="none" strike="noStrike" dirty="0" err="1">
                <a:solidFill>
                  <a:srgbClr val="000000"/>
                </a:solidFill>
                <a:effectLst/>
                <a:latin typeface="Calibri" panose="020F0502020204030204" pitchFamily="34" charset="0"/>
              </a:rPr>
              <a:t>i</a:t>
            </a:r>
            <a:r>
              <a:rPr lang="en-US" sz="1800" b="0" i="0" u="none" strike="noStrike" dirty="0">
                <a:solidFill>
                  <a:srgbClr val="000000"/>
                </a:solidFill>
                <a:effectLst/>
                <a:latin typeface="Calibri" panose="020F0502020204030204" pitchFamily="34" charset="0"/>
              </a:rPr>
              <a:t> e super 2, Yearend position, 20 19 super r. The row entries are as follows. Row 1. 61, Insurance technical reserves, N A, N A, N A, N A, N A, N A, N A, N A. Row 2. 62, Trade credit and advances, 198.8, 7.3, 9.8, Negative 2.6, Nil, Left parenthesis asterisk right parenthesis, Negative 2.6, 206.1. Row 3. 63, Special drawing rights and allocations, 49.1, Negative 0.3, 0.0, Negative 0.3, Nil, Negative 0.3, 0.0, 48.8.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83604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1.wmf"/><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8.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2.bin"/><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8.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8.vml"/><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20.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0.vml"/><Relationship Id="rId4"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1.vml"/><Relationship Id="rId4" Type="http://schemas.openxmlformats.org/officeDocument/2006/relationships/image" Target="../media/image22.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23.wmf"/><Relationship Id="rId4" Type="http://schemas.openxmlformats.org/officeDocument/2006/relationships/oleObject" Target="../embeddings/oleObject1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8.xml"/><Relationship Id="rId1" Type="http://schemas.openxmlformats.org/officeDocument/2006/relationships/vmlDrawing" Target="../drawings/vmlDrawing13.vml"/><Relationship Id="rId4" Type="http://schemas.openxmlformats.org/officeDocument/2006/relationships/image" Target="../media/image23.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4.vml"/><Relationship Id="rId6" Type="http://schemas.openxmlformats.org/officeDocument/2006/relationships/image" Target="../media/image26.wmf"/><Relationship Id="rId5" Type="http://schemas.openxmlformats.org/officeDocument/2006/relationships/oleObject" Target="../embeddings/oleObject22.bin"/><Relationship Id="rId4" Type="http://schemas.openxmlformats.org/officeDocument/2006/relationships/image" Target="../media/image25.wmf"/></Relationships>
</file>

<file path=ppt/slides/_rels/slide34.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image" Target="../media/image29.wmf"/><Relationship Id="rId5" Type="http://schemas.openxmlformats.org/officeDocument/2006/relationships/oleObject" Target="../embeddings/oleObject25.bin"/><Relationship Id="rId4" Type="http://schemas.openxmlformats.org/officeDocument/2006/relationships/image" Target="../media/image28.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notesSlide" Target="../notesSlides/notesSlide15.xml"/><Relationship Id="rId7" Type="http://schemas.openxmlformats.org/officeDocument/2006/relationships/oleObject" Target="../embeddings/oleObject28.bin"/><Relationship Id="rId2" Type="http://schemas.openxmlformats.org/officeDocument/2006/relationships/slideLayout" Target="../slideLayouts/slideLayout9.xml"/><Relationship Id="rId1" Type="http://schemas.openxmlformats.org/officeDocument/2006/relationships/vmlDrawing" Target="../drawings/vmlDrawing16.vml"/><Relationship Id="rId6" Type="http://schemas.openxmlformats.org/officeDocument/2006/relationships/image" Target="../media/image39.wmf"/><Relationship Id="rId5" Type="http://schemas.openxmlformats.org/officeDocument/2006/relationships/oleObject" Target="../embeddings/oleObject27.bin"/><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8.xml"/><Relationship Id="rId1" Type="http://schemas.openxmlformats.org/officeDocument/2006/relationships/vmlDrawing" Target="../drawings/vmlDrawing17.vml"/><Relationship Id="rId4" Type="http://schemas.openxmlformats.org/officeDocument/2006/relationships/image" Target="../media/image42.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4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2403987"/>
            <a:ext cx="3657600" cy="688462"/>
          </a:xfrm>
        </p:spPr>
        <p:txBody>
          <a:bodyPr/>
          <a:lstStyle/>
          <a:p>
            <a:pPr marL="0" algn="ctr"/>
            <a:r>
              <a:rPr lang="en-US" b="1" dirty="0">
                <a:latin typeface="+mn-lt"/>
              </a:rPr>
              <a:t>Chapter 13</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201019"/>
          </a:xfrm>
        </p:spPr>
        <p:txBody>
          <a:bodyPr/>
          <a:lstStyle/>
          <a:p>
            <a:r>
              <a:rPr lang="en-US" altLang="en-US" dirty="0">
                <a:latin typeface="Arial (Body)"/>
              </a:rPr>
              <a:t>National Income Accounting and the Balance of Payments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2022, 2018, 2015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a:t>
            </a:r>
            <a:endParaRPr lang="en-IN" dirty="0"/>
          </a:p>
        </p:txBody>
      </p:sp>
      <p:sp>
        <p:nvSpPr>
          <p:cNvPr id="4" name="Content Placeholder 3"/>
          <p:cNvSpPr>
            <a:spLocks noGrp="1"/>
          </p:cNvSpPr>
          <p:nvPr>
            <p:ph sz="quarter" idx="13"/>
          </p:nvPr>
        </p:nvSpPr>
        <p:spPr>
          <a:xfrm>
            <a:off x="457199" y="1556327"/>
            <a:ext cx="8362335" cy="4586896"/>
          </a:xfrm>
        </p:spPr>
        <p:txBody>
          <a:bodyPr lIns="0" tIns="0" rIns="0" bIns="0"/>
          <a:lstStyle/>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13.1</a:t>
            </a:r>
            <a:r>
              <a:rPr lang="en-US" dirty="0">
                <a:latin typeface="Arial (Body)"/>
                <a:ea typeface="Verdana" panose="020B0604030504040204" pitchFamily="34" charset="0"/>
                <a:cs typeface="Verdana" panose="020B0604030504040204" pitchFamily="34" charset="0"/>
              </a:rPr>
              <a:t> </a:t>
            </a:r>
            <a:r>
              <a:rPr lang="en-US" dirty="0">
                <a:latin typeface="Arial (Body)"/>
              </a:rPr>
              <a:t>Discuss concept of current account balance.</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13.2</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Use the current account balance to extend national income accounting to open economies.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13.3</a:t>
            </a:r>
            <a:r>
              <a:rPr lang="en-US" dirty="0">
                <a:latin typeface="Arial (Body)"/>
                <a:ea typeface="Verdana" panose="020B0604030504040204" pitchFamily="34" charset="0"/>
                <a:cs typeface="Verdana" panose="020B0604030504040204" pitchFamily="34" charset="0"/>
              </a:rPr>
              <a:t> </a:t>
            </a:r>
            <a:r>
              <a:rPr lang="en-US" dirty="0">
                <a:latin typeface="Arial (Body)"/>
              </a:rPr>
              <a:t>Apply national income accounting to the interaction of saving, investment, and net exports.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13.4</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Describe balance of payments accounts and explain their relationship to the current account balance.</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13.5</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Relate the current account to changes in a country’s net foreign wealth.</a:t>
            </a:r>
            <a:endParaRPr lang="en-IN" dirty="0"/>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Preview</a:t>
            </a:r>
            <a:endParaRPr lang="en-IN" dirty="0"/>
          </a:p>
        </p:txBody>
      </p:sp>
      <p:sp>
        <p:nvSpPr>
          <p:cNvPr id="3" name="Content Placeholder 2"/>
          <p:cNvSpPr>
            <a:spLocks noGrp="1"/>
          </p:cNvSpPr>
          <p:nvPr>
            <p:ph sz="quarter" idx="13"/>
          </p:nvPr>
        </p:nvSpPr>
        <p:spPr/>
        <p:txBody>
          <a:bodyPr lIns="0" tIns="0" rIns="0" bIns="0"/>
          <a:lstStyle/>
          <a:p>
            <a:pPr eaLnBrk="1" hangingPunct="1"/>
            <a:r>
              <a:rPr lang="en-US" altLang="en-US" dirty="0">
                <a:latin typeface="Arial (Body)"/>
              </a:rPr>
              <a:t>National income accounts</a:t>
            </a:r>
          </a:p>
          <a:p>
            <a:pPr lvl="1" eaLnBrk="1" hangingPunct="1"/>
            <a:r>
              <a:rPr lang="en-US" altLang="en-US" dirty="0">
                <a:latin typeface="Arial (Body)"/>
              </a:rPr>
              <a:t>measures of national income</a:t>
            </a:r>
          </a:p>
          <a:p>
            <a:pPr lvl="1" eaLnBrk="1" hangingPunct="1"/>
            <a:r>
              <a:rPr lang="en-US" altLang="en-US" dirty="0">
                <a:latin typeface="Arial (Body)"/>
              </a:rPr>
              <a:t>measures of value of production</a:t>
            </a:r>
          </a:p>
          <a:p>
            <a:pPr lvl="1" eaLnBrk="1" hangingPunct="1"/>
            <a:r>
              <a:rPr lang="en-US" altLang="en-US" dirty="0">
                <a:latin typeface="Arial (Body)"/>
              </a:rPr>
              <a:t>measures of value of expenditure</a:t>
            </a:r>
          </a:p>
          <a:p>
            <a:pPr eaLnBrk="1" hangingPunct="1"/>
            <a:r>
              <a:rPr lang="en-US" altLang="en-US" dirty="0">
                <a:latin typeface="Arial (Body)"/>
              </a:rPr>
              <a:t>National saving, investment, and the current account</a:t>
            </a:r>
          </a:p>
          <a:p>
            <a:pPr eaLnBrk="1" hangingPunct="1"/>
            <a:r>
              <a:rPr lang="en-US" altLang="en-US" dirty="0">
                <a:latin typeface="Arial (Body)"/>
              </a:rPr>
              <a:t>Balance of payments accounts</a:t>
            </a:r>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The National Income Accounts </a:t>
            </a:r>
            <a:r>
              <a:rPr lang="en-US" altLang="en-US" sz="2000" b="0" dirty="0"/>
              <a:t>(1 of 5)</a:t>
            </a:r>
            <a:endParaRPr lang="en-IN" dirty="0"/>
          </a:p>
        </p:txBody>
      </p:sp>
      <p:sp>
        <p:nvSpPr>
          <p:cNvPr id="2" name="Content Placeholder 1"/>
          <p:cNvSpPr>
            <a:spLocks noGrp="1"/>
          </p:cNvSpPr>
          <p:nvPr>
            <p:ph sz="quarter" idx="13"/>
          </p:nvPr>
        </p:nvSpPr>
        <p:spPr>
          <a:xfrm>
            <a:off x="457200" y="1556327"/>
            <a:ext cx="8291514" cy="4586896"/>
          </a:xfrm>
        </p:spPr>
        <p:txBody>
          <a:bodyPr lIns="0" tIns="0" rIns="0" bIns="0"/>
          <a:lstStyle/>
          <a:p>
            <a:pPr eaLnBrk="1" hangingPunct="1"/>
            <a:r>
              <a:rPr lang="en-US" altLang="en-US" dirty="0">
                <a:latin typeface="Arial (Body)"/>
              </a:rPr>
              <a:t>Records the value of </a:t>
            </a:r>
            <a:r>
              <a:rPr lang="en-US" altLang="en-US" b="1" dirty="0">
                <a:latin typeface="Arial (Body)"/>
              </a:rPr>
              <a:t>national income</a:t>
            </a:r>
            <a:r>
              <a:rPr lang="en-US" altLang="en-US" dirty="0">
                <a:latin typeface="Arial (Body)"/>
              </a:rPr>
              <a:t> that results from </a:t>
            </a:r>
            <a:r>
              <a:rPr lang="en-US" altLang="en-US" b="1" dirty="0">
                <a:latin typeface="Arial (Body)"/>
              </a:rPr>
              <a:t>production and expenditure.</a:t>
            </a:r>
          </a:p>
          <a:p>
            <a:pPr lvl="1" eaLnBrk="1" hangingPunct="1"/>
            <a:r>
              <a:rPr lang="en-US" altLang="en-US" dirty="0">
                <a:latin typeface="Arial (Body)"/>
              </a:rPr>
              <a:t>Producers earn income from buyers who spend money on goods and services.</a:t>
            </a:r>
          </a:p>
          <a:p>
            <a:pPr lvl="1" eaLnBrk="1" hangingPunct="1"/>
            <a:r>
              <a:rPr lang="en-US" altLang="en-US" dirty="0">
                <a:latin typeface="Arial (Body)"/>
              </a:rPr>
              <a:t>The amount of expenditure by buyers = </a:t>
            </a:r>
            <a:br>
              <a:rPr lang="en-US" altLang="en-US" dirty="0">
                <a:latin typeface="Arial (Body)"/>
              </a:rPr>
            </a:br>
            <a:r>
              <a:rPr lang="en-US" altLang="en-US" dirty="0">
                <a:latin typeface="Arial (Body)"/>
              </a:rPr>
              <a:t>the amount of income for sellers = </a:t>
            </a:r>
            <a:br>
              <a:rPr lang="en-US" altLang="en-US" dirty="0">
                <a:latin typeface="Arial (Body)"/>
              </a:rPr>
            </a:br>
            <a:r>
              <a:rPr lang="en-US" altLang="en-US" dirty="0">
                <a:latin typeface="Arial (Body)"/>
              </a:rPr>
              <a:t>the value of production.</a:t>
            </a:r>
          </a:p>
          <a:p>
            <a:pPr lvl="1" eaLnBrk="1" hangingPunct="1"/>
            <a:r>
              <a:rPr lang="en-US" altLang="en-US" b="1" dirty="0">
                <a:latin typeface="Arial (Body)"/>
              </a:rPr>
              <a:t>National income</a:t>
            </a:r>
            <a:r>
              <a:rPr lang="en-US" altLang="en-US" i="1" dirty="0">
                <a:latin typeface="Arial (Body)"/>
              </a:rPr>
              <a:t> </a:t>
            </a:r>
            <a:r>
              <a:rPr lang="en-US" altLang="en-US" dirty="0">
                <a:latin typeface="Arial (Body)"/>
              </a:rPr>
              <a:t>is often defined to be the income earned by a nation’</a:t>
            </a:r>
            <a:r>
              <a:rPr lang="en-US" altLang="ja-JP" dirty="0">
                <a:latin typeface="Arial (Body)"/>
              </a:rPr>
              <a:t>s factors of production.</a:t>
            </a:r>
            <a:endParaRPr lang="en-US" altLang="en-US" dirty="0">
              <a:latin typeface="Arial (Body)"/>
            </a:endParaRPr>
          </a:p>
        </p:txBody>
      </p:sp>
    </p:spTree>
    <p:extLst>
      <p:ext uri="{BB962C8B-B14F-4D97-AF65-F5344CB8AC3E}">
        <p14:creationId xmlns:p14="http://schemas.microsoft.com/office/powerpoint/2010/main" val="40929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National Income Accounts </a:t>
            </a:r>
            <a:r>
              <a:rPr lang="en-US" altLang="en-US" sz="2000" b="0" dirty="0"/>
              <a:t>(2 of 5)</a:t>
            </a:r>
            <a:endParaRPr lang="en-IN" dirty="0"/>
          </a:p>
        </p:txBody>
      </p:sp>
      <p:sp>
        <p:nvSpPr>
          <p:cNvPr id="3" name="Content Placeholder 2"/>
          <p:cNvSpPr>
            <a:spLocks noGrp="1"/>
          </p:cNvSpPr>
          <p:nvPr>
            <p:ph sz="quarter" idx="13"/>
          </p:nvPr>
        </p:nvSpPr>
        <p:spPr/>
        <p:txBody>
          <a:bodyPr lIns="0" tIns="0" rIns="0" bIns="0"/>
          <a:lstStyle/>
          <a:p>
            <a:pPr eaLnBrk="1" hangingPunct="1"/>
            <a:r>
              <a:rPr lang="en-US" altLang="en-US" b="1" dirty="0">
                <a:latin typeface="Arial (Body)"/>
              </a:rPr>
              <a:t>Gross national product</a:t>
            </a:r>
            <a:r>
              <a:rPr lang="en-US" altLang="en-US" dirty="0">
                <a:latin typeface="Arial (Body)"/>
              </a:rPr>
              <a:t>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is the value of all final goods and services produced by a nation’</a:t>
            </a:r>
            <a:r>
              <a:rPr lang="en-US" altLang="ja-JP" dirty="0">
                <a:latin typeface="Arial (Body)"/>
              </a:rPr>
              <a:t>s factors of production in a given time period.</a:t>
            </a:r>
          </a:p>
          <a:p>
            <a:pPr lvl="1" eaLnBrk="1" hangingPunct="1"/>
            <a:r>
              <a:rPr lang="en-US" altLang="en-US" dirty="0">
                <a:latin typeface="Arial (Body)"/>
              </a:rPr>
              <a:t>What are factors of production? Factors that are used to produce goods and services: workers (labor services), physical capital (such as buildings and equipment), natural resources, and others.</a:t>
            </a:r>
          </a:p>
          <a:p>
            <a:pPr lvl="1" eaLnBrk="1" hangingPunct="1"/>
            <a:r>
              <a:rPr lang="en-US" altLang="en-US" dirty="0">
                <a:latin typeface="Arial (Body)"/>
              </a:rPr>
              <a:t>The value of final goods and services produced by U.S.-owned factors of production are counted as U.S.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a:t>
            </a:r>
            <a:endParaRPr lang="en-IN" dirty="0"/>
          </a:p>
        </p:txBody>
      </p:sp>
    </p:spTree>
    <p:extLst>
      <p:ext uri="{BB962C8B-B14F-4D97-AF65-F5344CB8AC3E}">
        <p14:creationId xmlns:p14="http://schemas.microsoft.com/office/powerpoint/2010/main" val="174719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The National Income Accounts </a:t>
            </a:r>
            <a:r>
              <a:rPr lang="en-US" altLang="en-US" sz="2000" b="0" dirty="0"/>
              <a:t>(3 of 5)</a:t>
            </a:r>
            <a:endParaRPr lang="en-IN" dirty="0"/>
          </a:p>
        </p:txBody>
      </p:sp>
      <p:sp>
        <p:nvSpPr>
          <p:cNvPr id="5" name="Content Placeholder 4"/>
          <p:cNvSpPr>
            <a:spLocks noGrp="1"/>
          </p:cNvSpPr>
          <p:nvPr>
            <p:ph sz="quarter" idx="13"/>
          </p:nvPr>
        </p:nvSpPr>
        <p:spPr>
          <a:xfrm>
            <a:off x="457200" y="1556328"/>
            <a:ext cx="8229600" cy="796454"/>
          </a:xfrm>
        </p:spPr>
        <p:txBody>
          <a:bodyPr lIns="0" tIns="0" rIns="0" bIns="0"/>
          <a:lstStyle/>
          <a:p>
            <a:pPr marL="255600"/>
            <a:r>
              <a:rPr lang="en-US" altLang="en-US" dirty="0">
                <a:latin typeface="Arial (Body)"/>
              </a:rPr>
              <a:t>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is calculated by adding the value of expenditure on final goods and services produced:</a:t>
            </a:r>
          </a:p>
        </p:txBody>
      </p:sp>
      <p:sp>
        <p:nvSpPr>
          <p:cNvPr id="31" name="Content Placeholder 30"/>
          <p:cNvSpPr>
            <a:spLocks noGrp="1"/>
          </p:cNvSpPr>
          <p:nvPr>
            <p:ph sz="quarter" idx="14"/>
          </p:nvPr>
        </p:nvSpPr>
        <p:spPr>
          <a:xfrm>
            <a:off x="457200" y="2476073"/>
            <a:ext cx="8229600" cy="3609417"/>
          </a:xfrm>
        </p:spPr>
        <p:txBody>
          <a:bodyPr lIns="0" tIns="0" rIns="0" bIns="0"/>
          <a:lstStyle/>
          <a:p>
            <a:pPr marL="432000" indent="-432000">
              <a:buFont typeface="+mj-lt"/>
              <a:buAutoNum type="arabicPeriod"/>
            </a:pPr>
            <a:r>
              <a:rPr lang="en-US" altLang="en-US" dirty="0">
                <a:latin typeface="Arial (Body)"/>
              </a:rPr>
              <a:t>Consumption: expenditure by domestic </a:t>
            </a:r>
            <a:r>
              <a:rPr lang="en-US" altLang="en-US" dirty="0" smtClean="0">
                <a:latin typeface="Arial (Body)"/>
              </a:rPr>
              <a:t>consumers</a:t>
            </a:r>
            <a:endParaRPr lang="en-US" altLang="en-US" dirty="0">
              <a:latin typeface="Arial (Body)"/>
            </a:endParaRPr>
          </a:p>
          <a:p>
            <a:pPr marL="432000" indent="-432000">
              <a:buFont typeface="+mj-lt"/>
              <a:buAutoNum type="arabicPeriod"/>
            </a:pPr>
            <a:r>
              <a:rPr lang="en-US" altLang="en-US" dirty="0">
                <a:latin typeface="Arial (Body)"/>
              </a:rPr>
              <a:t>Investment: expenditure by firms on buildings and </a:t>
            </a:r>
            <a:r>
              <a:rPr lang="en-US" altLang="en-US" dirty="0" smtClean="0">
                <a:latin typeface="Arial (Body)"/>
              </a:rPr>
              <a:t>equipment</a:t>
            </a:r>
            <a:endParaRPr lang="en-US" altLang="en-US" dirty="0">
              <a:latin typeface="Arial (Body)"/>
            </a:endParaRPr>
          </a:p>
          <a:p>
            <a:pPr marL="432000" indent="-432000">
              <a:buFont typeface="+mj-lt"/>
              <a:buAutoNum type="arabicPeriod"/>
            </a:pPr>
            <a:r>
              <a:rPr lang="en-US" altLang="en-US" dirty="0">
                <a:latin typeface="Arial (Body)"/>
              </a:rPr>
              <a:t>Government purchases: expenditure by governments on goods and services</a:t>
            </a:r>
          </a:p>
          <a:p>
            <a:pPr marL="432000" indent="-432000">
              <a:buFont typeface="+mj-lt"/>
              <a:buAutoNum type="arabicPeriod"/>
            </a:pPr>
            <a:r>
              <a:rPr lang="en-US" altLang="en-US" dirty="0">
                <a:latin typeface="Arial (Body)"/>
              </a:rPr>
              <a:t>Current account balance (exports minus imports): net expenditure by foreigners on domestic goods and services</a:t>
            </a:r>
            <a:endParaRPr lang="en-IN" dirty="0"/>
          </a:p>
        </p:txBody>
      </p:sp>
    </p:spTree>
    <p:extLst>
      <p:ext uri="{BB962C8B-B14F-4D97-AF65-F5344CB8AC3E}">
        <p14:creationId xmlns:p14="http://schemas.microsoft.com/office/powerpoint/2010/main" val="28984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cs typeface="Times New Roman" panose="02020603050405020304" pitchFamily="18" charset="0"/>
              </a:rPr>
              <a:t>Figure 13.1 U.S. GNP and Its Components</a:t>
            </a:r>
            <a:endParaRPr lang="en-IN" sz="3200" dirty="0">
              <a:cs typeface="Times New Roman" panose="02020603050405020304" pitchFamily="18" charset="0"/>
            </a:endParaRPr>
          </a:p>
        </p:txBody>
      </p:sp>
      <p:pic>
        <p:nvPicPr>
          <p:cNvPr id="5" name="Content Placeholder 4" descr="A bar graph depicts G N P and its componen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37207" y="1568191"/>
            <a:ext cx="4110680" cy="3205178"/>
          </a:xfrm>
        </p:spPr>
      </p:pic>
      <p:sp>
        <p:nvSpPr>
          <p:cNvPr id="4" name="Content Placeholder 3"/>
          <p:cNvSpPr>
            <a:spLocks noGrp="1"/>
          </p:cNvSpPr>
          <p:nvPr>
            <p:ph sz="quarter" idx="14"/>
          </p:nvPr>
        </p:nvSpPr>
        <p:spPr>
          <a:xfrm>
            <a:off x="457200" y="4929984"/>
            <a:ext cx="8497614" cy="1313160"/>
          </a:xfrm>
        </p:spPr>
        <p:txBody>
          <a:bodyPr lIns="0" tIns="0" rIns="0" bIns="0"/>
          <a:lstStyle/>
          <a:p>
            <a:pPr marL="0" indent="0">
              <a:buNone/>
            </a:pPr>
            <a:r>
              <a:rPr lang="en-US" sz="1800" dirty="0">
                <a:latin typeface="Arial (Body)"/>
              </a:rPr>
              <a:t>America’s gross national product for the first quarter of 2020 can be broken down into the four components shown.</a:t>
            </a:r>
          </a:p>
          <a:p>
            <a:pPr marL="0" indent="0">
              <a:spcBef>
                <a:spcPts val="600"/>
              </a:spcBef>
              <a:buNone/>
            </a:pPr>
            <a:r>
              <a:rPr lang="en-US" sz="1800" b="1" dirty="0">
                <a:latin typeface="Arial (Body)"/>
              </a:rPr>
              <a:t>Source: </a:t>
            </a:r>
            <a:r>
              <a:rPr lang="en-US" sz="1800" dirty="0">
                <a:latin typeface="Arial (Body)"/>
              </a:rPr>
              <a:t>U.S. Department of Commerce, Bureau of Economic Analysis. The figure shows 2016:Q</a:t>
            </a:r>
            <a:r>
              <a:rPr lang="en-US" sz="100" dirty="0">
                <a:latin typeface="Arial (Body)"/>
              </a:rPr>
              <a:t> </a:t>
            </a:r>
            <a:r>
              <a:rPr lang="en-US" sz="1800" dirty="0">
                <a:latin typeface="Arial (Body)"/>
              </a:rPr>
              <a:t>I G</a:t>
            </a:r>
            <a:r>
              <a:rPr lang="en-US" sz="100" dirty="0">
                <a:latin typeface="Arial (Body)"/>
              </a:rPr>
              <a:t> </a:t>
            </a:r>
            <a:r>
              <a:rPr lang="en-US" sz="1800" dirty="0">
                <a:latin typeface="Arial (Body)"/>
              </a:rPr>
              <a:t>N</a:t>
            </a:r>
            <a:r>
              <a:rPr lang="en-US" sz="100" dirty="0">
                <a:latin typeface="Arial (Body)"/>
              </a:rPr>
              <a:t> </a:t>
            </a:r>
            <a:r>
              <a:rPr lang="en-US" sz="1800" dirty="0">
                <a:latin typeface="Arial (Body)"/>
              </a:rPr>
              <a:t>P and its components at an annual rate, seasonally adjusted.</a:t>
            </a:r>
            <a:endParaRPr lang="en-IN" sz="1800" dirty="0"/>
          </a:p>
        </p:txBody>
      </p:sp>
    </p:spTree>
    <p:extLst>
      <p:ext uri="{BB962C8B-B14F-4D97-AF65-F5344CB8AC3E}">
        <p14:creationId xmlns:p14="http://schemas.microsoft.com/office/powerpoint/2010/main" val="1301164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National Income Accounts </a:t>
            </a:r>
            <a:r>
              <a:rPr lang="en-US" altLang="en-US" sz="2000" b="0" dirty="0"/>
              <a:t>(4 of 5)</a:t>
            </a:r>
            <a:endParaRPr lang="en-IN" dirty="0"/>
          </a:p>
        </p:txBody>
      </p:sp>
      <p:sp>
        <p:nvSpPr>
          <p:cNvPr id="3" name="Content Placeholder 2"/>
          <p:cNvSpPr>
            <a:spLocks noGrp="1"/>
          </p:cNvSpPr>
          <p:nvPr>
            <p:ph sz="quarter" idx="13"/>
          </p:nvPr>
        </p:nvSpPr>
        <p:spPr>
          <a:xfrm>
            <a:off x="457200" y="1556327"/>
            <a:ext cx="8229600" cy="1155123"/>
          </a:xfrm>
        </p:spPr>
        <p:txBody>
          <a:bodyPr lIns="0" tIns="0" rIns="0" bIns="0"/>
          <a:lstStyle/>
          <a:p>
            <a:pPr marL="255600"/>
            <a:r>
              <a:rPr lang="en-US" altLang="en-US" dirty="0">
                <a:latin typeface="Arial (Body)"/>
              </a:rPr>
              <a:t>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is one measure of national income, but a more precise measure of national income is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adjusted for following:</a:t>
            </a:r>
          </a:p>
        </p:txBody>
      </p:sp>
      <p:sp>
        <p:nvSpPr>
          <p:cNvPr id="4" name="Content Placeholder 3"/>
          <p:cNvSpPr>
            <a:spLocks noGrp="1"/>
          </p:cNvSpPr>
          <p:nvPr>
            <p:ph sz="quarter" idx="14"/>
          </p:nvPr>
        </p:nvSpPr>
        <p:spPr>
          <a:xfrm>
            <a:off x="457200" y="2841351"/>
            <a:ext cx="8229600" cy="3220402"/>
          </a:xfrm>
        </p:spPr>
        <p:txBody>
          <a:bodyPr lIns="0" tIns="0" rIns="0" bIns="0"/>
          <a:lstStyle/>
          <a:p>
            <a:pPr marL="432000" indent="-432000">
              <a:buFont typeface="+mj-lt"/>
              <a:buAutoNum type="arabicPeriod"/>
            </a:pPr>
            <a:r>
              <a:rPr lang="en-US" altLang="en-US" b="1" dirty="0">
                <a:latin typeface="Arial (Body)"/>
              </a:rPr>
              <a:t>Depreciation</a:t>
            </a:r>
            <a:r>
              <a:rPr lang="en-US" altLang="en-US" dirty="0">
                <a:latin typeface="Arial (Body)"/>
              </a:rPr>
              <a:t> of physical capital results in a loss of income to capital owners, so the amount of depreciation is subtracted from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a:t>
            </a:r>
          </a:p>
          <a:p>
            <a:pPr marL="432000" indent="-432000">
              <a:buFont typeface="+mj-lt"/>
              <a:buAutoNum type="arabicPeriod"/>
            </a:pPr>
            <a:r>
              <a:rPr lang="en-US" altLang="en-US" b="1" dirty="0">
                <a:latin typeface="Arial (Body)"/>
              </a:rPr>
              <a:t>Unilateral transfers</a:t>
            </a:r>
            <a:r>
              <a:rPr lang="en-US" altLang="en-US" dirty="0">
                <a:latin typeface="Arial (Body)"/>
              </a:rPr>
              <a:t> to and from other countries can change national income: payments of expatriate workers sent to their home countries, foreign aid, and pension payments sent to expatriate retirees.</a:t>
            </a:r>
            <a:endParaRPr lang="en-IN" dirty="0"/>
          </a:p>
        </p:txBody>
      </p:sp>
    </p:spTree>
    <p:extLst>
      <p:ext uri="{BB962C8B-B14F-4D97-AF65-F5344CB8AC3E}">
        <p14:creationId xmlns:p14="http://schemas.microsoft.com/office/powerpoint/2010/main" val="3639032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National Income Accounts </a:t>
            </a:r>
            <a:r>
              <a:rPr lang="en-US" altLang="en-US" sz="2000" b="0" dirty="0"/>
              <a:t>(5 of 5)</a:t>
            </a:r>
            <a:endParaRPr lang="en-IN" dirty="0"/>
          </a:p>
        </p:txBody>
      </p:sp>
      <p:sp>
        <p:nvSpPr>
          <p:cNvPr id="3" name="Content Placeholder 2"/>
          <p:cNvSpPr>
            <a:spLocks noGrp="1"/>
          </p:cNvSpPr>
          <p:nvPr>
            <p:ph sz="quarter" idx="13"/>
          </p:nvPr>
        </p:nvSpPr>
        <p:spPr>
          <a:xfrm>
            <a:off x="457200" y="1552575"/>
            <a:ext cx="8232128" cy="1982788"/>
          </a:xfrm>
        </p:spPr>
        <p:txBody>
          <a:bodyPr lIns="0" tIns="0" rIns="0" bIns="0"/>
          <a:lstStyle/>
          <a:p>
            <a:pPr eaLnBrk="1" hangingPunct="1"/>
            <a:r>
              <a:rPr lang="en-US" altLang="en-US" dirty="0">
                <a:latin typeface="Arial (Body)"/>
              </a:rPr>
              <a:t>Another approximate measure of national income is </a:t>
            </a:r>
            <a:r>
              <a:rPr lang="en-US" altLang="en-US" b="1" dirty="0">
                <a:latin typeface="Arial (Body)"/>
              </a:rPr>
              <a:t>gross domestic product</a:t>
            </a:r>
            <a:r>
              <a:rPr lang="en-US" altLang="en-US" dirty="0">
                <a:latin typeface="Arial (Body)"/>
              </a:rPr>
              <a:t> (G</a:t>
            </a:r>
            <a:r>
              <a:rPr lang="en-US" altLang="en-US" sz="100" dirty="0">
                <a:latin typeface="Arial (Body)"/>
              </a:rPr>
              <a:t> </a:t>
            </a:r>
            <a:r>
              <a:rPr lang="en-US" altLang="en-US" dirty="0">
                <a:latin typeface="Arial (Body)"/>
              </a:rPr>
              <a:t>D</a:t>
            </a:r>
            <a:r>
              <a:rPr lang="en-US" altLang="en-US" sz="100" dirty="0">
                <a:latin typeface="Arial (Body)"/>
              </a:rPr>
              <a:t> </a:t>
            </a:r>
            <a:r>
              <a:rPr lang="en-US" altLang="en-US" dirty="0">
                <a:latin typeface="Arial (Body)"/>
              </a:rPr>
              <a:t>P):</a:t>
            </a:r>
          </a:p>
          <a:p>
            <a:pPr lvl="1" indent="-284400" eaLnBrk="1" hangingPunct="1">
              <a:buFontTx/>
              <a:buNone/>
            </a:pPr>
            <a:r>
              <a:rPr lang="en-US" altLang="en-US" dirty="0">
                <a:solidFill>
                  <a:srgbClr val="007FA3"/>
                </a:solidFill>
                <a:latin typeface="Arial (Body)"/>
              </a:rPr>
              <a:t>–</a:t>
            </a:r>
            <a:r>
              <a:rPr lang="en-US" altLang="en-US" dirty="0">
                <a:latin typeface="Arial (Body)"/>
              </a:rPr>
              <a:t> Gross domestic product measures the final value of all goods and services that are produced </a:t>
            </a:r>
            <a:r>
              <a:rPr lang="en-US" altLang="en-US" b="1" dirty="0">
                <a:latin typeface="Arial (Body)"/>
              </a:rPr>
              <a:t>within a country </a:t>
            </a:r>
            <a:r>
              <a:rPr lang="en-US" altLang="en-US" dirty="0">
                <a:latin typeface="Arial (Body)"/>
              </a:rPr>
              <a:t>in a given time period.</a:t>
            </a:r>
          </a:p>
        </p:txBody>
      </p:sp>
      <p:sp>
        <p:nvSpPr>
          <p:cNvPr id="4" name="Content Placeholder 3"/>
          <p:cNvSpPr>
            <a:spLocks noGrp="1"/>
          </p:cNvSpPr>
          <p:nvPr>
            <p:ph sz="quarter" idx="14"/>
          </p:nvPr>
        </p:nvSpPr>
        <p:spPr>
          <a:xfrm>
            <a:off x="919656" y="3614493"/>
            <a:ext cx="362607" cy="396875"/>
          </a:xfrm>
        </p:spPr>
        <p:txBody>
          <a:bodyPr lIns="0" tIns="0" rIns="0" bIns="0"/>
          <a:lstStyle/>
          <a:p>
            <a:pPr marL="0" lvl="1" indent="0"/>
            <a:r>
              <a:rPr lang="en-US" altLang="en-US" dirty="0">
                <a:latin typeface="Arial (Body)"/>
              </a:rPr>
              <a:t> </a:t>
            </a:r>
            <a:r>
              <a:rPr lang="en-US" altLang="en-US" sz="100" dirty="0">
                <a:latin typeface="Arial (Body)"/>
              </a:rPr>
              <a:t> </a:t>
            </a:r>
            <a:endParaRPr lang="en-IN" dirty="0"/>
          </a:p>
        </p:txBody>
      </p:sp>
      <p:graphicFrame>
        <p:nvGraphicFramePr>
          <p:cNvPr id="6" name="Object 5" descr="G D P =G N P minus payments"/>
          <p:cNvGraphicFramePr>
            <a:graphicFrameLocks noChangeAspect="1"/>
          </p:cNvGraphicFramePr>
          <p:nvPr>
            <p:extLst>
              <p:ext uri="{D42A27DB-BD31-4B8C-83A1-F6EECF244321}">
                <p14:modId xmlns:p14="http://schemas.microsoft.com/office/powerpoint/2010/main" val="2949253427"/>
              </p:ext>
            </p:extLst>
          </p:nvPr>
        </p:nvGraphicFramePr>
        <p:xfrm>
          <a:off x="1321352" y="3655249"/>
          <a:ext cx="3217863" cy="396875"/>
        </p:xfrm>
        <a:graphic>
          <a:graphicData uri="http://schemas.openxmlformats.org/presentationml/2006/ole">
            <mc:AlternateContent xmlns:mc="http://schemas.openxmlformats.org/markup-compatibility/2006">
              <mc:Choice xmlns:v="urn:schemas-microsoft-com:vml" Requires="v">
                <p:oleObj spid="_x0000_s1063" name="Equation" r:id="rId3" imgW="1650960" imgH="203040" progId="Equation.DSMT4">
                  <p:embed/>
                </p:oleObj>
              </mc:Choice>
              <mc:Fallback>
                <p:oleObj name="Equation" r:id="rId3" imgW="1650960" imgH="203040" progId="Equation.DSMT4">
                  <p:embed/>
                  <p:pic>
                    <p:nvPicPr>
                      <p:cNvPr id="0" name=""/>
                      <p:cNvPicPr/>
                      <p:nvPr/>
                    </p:nvPicPr>
                    <p:blipFill>
                      <a:blip r:embed="rId4"/>
                      <a:stretch>
                        <a:fillRect/>
                      </a:stretch>
                    </p:blipFill>
                    <p:spPr>
                      <a:xfrm>
                        <a:off x="1321352" y="3655249"/>
                        <a:ext cx="3217863" cy="396875"/>
                      </a:xfrm>
                      <a:prstGeom prst="rect">
                        <a:avLst/>
                      </a:prstGeom>
                    </p:spPr>
                  </p:pic>
                </p:oleObj>
              </mc:Fallback>
            </mc:AlternateContent>
          </a:graphicData>
        </a:graphic>
      </p:graphicFrame>
      <p:sp>
        <p:nvSpPr>
          <p:cNvPr id="5" name="Content Placeholder 4"/>
          <p:cNvSpPr>
            <a:spLocks noGrp="1"/>
          </p:cNvSpPr>
          <p:nvPr>
            <p:ph sz="quarter" idx="15"/>
          </p:nvPr>
        </p:nvSpPr>
        <p:spPr>
          <a:xfrm>
            <a:off x="4669717" y="3643833"/>
            <a:ext cx="3568700" cy="393701"/>
          </a:xfrm>
        </p:spPr>
        <p:txBody>
          <a:bodyPr lIns="0" tIns="0" rIns="0" bIns="0"/>
          <a:lstStyle/>
          <a:p>
            <a:pPr marL="0" lvl="1" indent="0">
              <a:buNone/>
            </a:pPr>
            <a:r>
              <a:rPr lang="en-US" altLang="en-US" dirty="0">
                <a:latin typeface="Arial (Body)"/>
              </a:rPr>
              <a:t>from foreign countries for</a:t>
            </a:r>
            <a:endParaRPr lang="en-IN" dirty="0"/>
          </a:p>
        </p:txBody>
      </p:sp>
      <p:sp>
        <p:nvSpPr>
          <p:cNvPr id="8" name="Content Placeholder 5"/>
          <p:cNvSpPr>
            <a:spLocks noGrp="1"/>
          </p:cNvSpPr>
          <p:nvPr>
            <p:ph sz="quarter" idx="16"/>
          </p:nvPr>
        </p:nvSpPr>
        <p:spPr>
          <a:xfrm>
            <a:off x="457200" y="4094164"/>
            <a:ext cx="8244828" cy="912552"/>
          </a:xfrm>
        </p:spPr>
        <p:txBody>
          <a:bodyPr lIns="0" tIns="0" rIns="0" bIns="0"/>
          <a:lstStyle/>
          <a:p>
            <a:pPr marL="741600" lvl="1" indent="0">
              <a:buNone/>
            </a:pPr>
            <a:r>
              <a:rPr lang="en-US" altLang="en-US" dirty="0">
                <a:latin typeface="Arial (Body)"/>
              </a:rPr>
              <a:t>factors of production + payments to foreign countries for factors of production</a:t>
            </a:r>
            <a:endParaRPr lang="en-IN" dirty="0"/>
          </a:p>
        </p:txBody>
      </p:sp>
    </p:spTree>
    <p:extLst>
      <p:ext uri="{BB962C8B-B14F-4D97-AF65-F5344CB8AC3E}">
        <p14:creationId xmlns:p14="http://schemas.microsoft.com/office/powerpoint/2010/main" val="65053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National Income Accounting for an Open Economy</a:t>
            </a:r>
            <a:r>
              <a:rPr lang="en-US" altLang="en-US" dirty="0"/>
              <a:t> </a:t>
            </a:r>
            <a:r>
              <a:rPr lang="en-US" altLang="en-US" sz="2000" b="0" dirty="0"/>
              <a:t>(1 of 2)</a:t>
            </a:r>
            <a:endParaRPr lang="en-IN" dirty="0"/>
          </a:p>
        </p:txBody>
      </p:sp>
      <p:sp>
        <p:nvSpPr>
          <p:cNvPr id="17" name="Content Placeholder 16"/>
          <p:cNvSpPr>
            <a:spLocks noGrp="1"/>
          </p:cNvSpPr>
          <p:nvPr>
            <p:ph sz="quarter" idx="13"/>
          </p:nvPr>
        </p:nvSpPr>
        <p:spPr>
          <a:xfrm>
            <a:off x="457200" y="1552575"/>
            <a:ext cx="8229600" cy="469408"/>
          </a:xfrm>
        </p:spPr>
        <p:txBody>
          <a:bodyPr lIns="0" tIns="0" rIns="0" bIns="0"/>
          <a:lstStyle/>
          <a:p>
            <a:r>
              <a:rPr lang="en-US" altLang="en-US" dirty="0">
                <a:latin typeface="Arial (Body)"/>
              </a:rPr>
              <a:t>The national income identity for an open economy is</a:t>
            </a:r>
            <a:endParaRPr lang="en-US" altLang="en-US" i="1" dirty="0">
              <a:latin typeface="Arial (Body)"/>
            </a:endParaRPr>
          </a:p>
        </p:txBody>
      </p:sp>
      <p:graphicFrame>
        <p:nvGraphicFramePr>
          <p:cNvPr id="35" name="Object 34" descr="Y = C + I + G + E X minus I M = C + I + G + C A"/>
          <p:cNvGraphicFramePr>
            <a:graphicFrameLocks noChangeAspect="1"/>
          </p:cNvGraphicFramePr>
          <p:nvPr>
            <p:extLst>
              <p:ext uri="{D42A27DB-BD31-4B8C-83A1-F6EECF244321}">
                <p14:modId xmlns:p14="http://schemas.microsoft.com/office/powerpoint/2010/main" val="1032435625"/>
              </p:ext>
            </p:extLst>
          </p:nvPr>
        </p:nvGraphicFramePr>
        <p:xfrm>
          <a:off x="2796151" y="2176048"/>
          <a:ext cx="3348501" cy="925603"/>
        </p:xfrm>
        <a:graphic>
          <a:graphicData uri="http://schemas.openxmlformats.org/presentationml/2006/ole">
            <mc:AlternateContent xmlns:mc="http://schemas.openxmlformats.org/markup-compatibility/2006">
              <mc:Choice xmlns:v="urn:schemas-microsoft-com:vml" Requires="v">
                <p:oleObj spid="_x0000_s2087" name="Equation" r:id="rId4" imgW="1562040" imgH="431640" progId="Equation.DSMT4">
                  <p:embed/>
                </p:oleObj>
              </mc:Choice>
              <mc:Fallback>
                <p:oleObj name="Equation" r:id="rId4" imgW="1562040" imgH="431640" progId="Equation.DSMT4">
                  <p:embed/>
                  <p:pic>
                    <p:nvPicPr>
                      <p:cNvPr id="0" name=""/>
                      <p:cNvPicPr/>
                      <p:nvPr/>
                    </p:nvPicPr>
                    <p:blipFill>
                      <a:blip r:embed="rId5"/>
                      <a:stretch>
                        <a:fillRect/>
                      </a:stretch>
                    </p:blipFill>
                    <p:spPr>
                      <a:xfrm>
                        <a:off x="2796151" y="2176048"/>
                        <a:ext cx="3348501" cy="925603"/>
                      </a:xfrm>
                      <a:prstGeom prst="rect">
                        <a:avLst/>
                      </a:prstGeom>
                    </p:spPr>
                  </p:pic>
                </p:oleObj>
              </mc:Fallback>
            </mc:AlternateContent>
          </a:graphicData>
        </a:graphic>
      </p:graphicFrame>
      <p:sp>
        <p:nvSpPr>
          <p:cNvPr id="18" name="Content Placeholder 17"/>
          <p:cNvSpPr>
            <a:spLocks noGrp="1"/>
          </p:cNvSpPr>
          <p:nvPr>
            <p:ph sz="quarter" idx="14"/>
          </p:nvPr>
        </p:nvSpPr>
        <p:spPr>
          <a:xfrm>
            <a:off x="457199" y="3392427"/>
            <a:ext cx="8297501" cy="1799683"/>
          </a:xfrm>
        </p:spPr>
        <p:txBody>
          <a:bodyPr lIns="0" tIns="0" rIns="0" bIns="0"/>
          <a:lstStyle/>
          <a:p>
            <a:pPr lvl="1"/>
            <a:r>
              <a:rPr lang="en-US" altLang="en-US" dirty="0">
                <a:latin typeface="Arial (Body)"/>
              </a:rPr>
              <a:t>where </a:t>
            </a:r>
            <a:r>
              <a:rPr lang="en-US" altLang="en-US" i="1" dirty="0">
                <a:latin typeface="Arial (Body)"/>
              </a:rPr>
              <a:t>C + I + G </a:t>
            </a:r>
            <a:r>
              <a:rPr lang="en-US" altLang="en-US" dirty="0">
                <a:latin typeface="Arial (Body)"/>
              </a:rPr>
              <a:t>is expenditure by domestic individuals and institutions</a:t>
            </a:r>
          </a:p>
          <a:p>
            <a:pPr lvl="1"/>
            <a:r>
              <a:rPr lang="en-US" altLang="en-US" dirty="0">
                <a:latin typeface="Arial (Body)"/>
              </a:rPr>
              <a:t>and </a:t>
            </a:r>
            <a:r>
              <a:rPr lang="en-US" altLang="en-US" i="1" dirty="0">
                <a:latin typeface="Arial (Body)"/>
              </a:rPr>
              <a:t>C</a:t>
            </a:r>
            <a:r>
              <a:rPr lang="en-US" altLang="en-US" sz="100" i="1" dirty="0">
                <a:latin typeface="Arial (Body)"/>
              </a:rPr>
              <a:t> </a:t>
            </a:r>
            <a:r>
              <a:rPr lang="en-US" altLang="en-US" i="1" dirty="0">
                <a:latin typeface="Arial (Body)"/>
              </a:rPr>
              <a:t>A</a:t>
            </a:r>
            <a:r>
              <a:rPr lang="en-US" altLang="en-US" dirty="0">
                <a:latin typeface="Arial (Body)"/>
              </a:rPr>
              <a:t> is net expenditure by foreign individuals and institutions</a:t>
            </a:r>
            <a:endParaRPr lang="en-IN" dirty="0"/>
          </a:p>
        </p:txBody>
      </p:sp>
    </p:spTree>
    <p:extLst>
      <p:ext uri="{BB962C8B-B14F-4D97-AF65-F5344CB8AC3E}">
        <p14:creationId xmlns:p14="http://schemas.microsoft.com/office/powerpoint/2010/main" val="3317301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sz="2800" dirty="0"/>
              <a:t>National Income Accounting for an Open Economy</a:t>
            </a:r>
            <a:r>
              <a:rPr lang="en-US" altLang="en-US" dirty="0"/>
              <a:t> </a:t>
            </a:r>
            <a:r>
              <a:rPr lang="en-US" altLang="en-US" sz="2000" b="0" dirty="0"/>
              <a:t>(2 of 2)</a:t>
            </a:r>
            <a:endParaRPr lang="en-IN" dirty="0"/>
          </a:p>
        </p:txBody>
      </p:sp>
      <p:graphicFrame>
        <p:nvGraphicFramePr>
          <p:cNvPr id="19" name="Object 18" descr="C A = E X minus I M = Y minus left parenthesis C + I + G right parenthesis"/>
          <p:cNvGraphicFramePr>
            <a:graphicFrameLocks noChangeAspect="1"/>
          </p:cNvGraphicFramePr>
          <p:nvPr>
            <p:extLst>
              <p:ext uri="{D42A27DB-BD31-4B8C-83A1-F6EECF244321}">
                <p14:modId xmlns:p14="http://schemas.microsoft.com/office/powerpoint/2010/main" val="826499237"/>
              </p:ext>
            </p:extLst>
          </p:nvPr>
        </p:nvGraphicFramePr>
        <p:xfrm>
          <a:off x="2780871" y="1512684"/>
          <a:ext cx="3397324" cy="359982"/>
        </p:xfrm>
        <a:graphic>
          <a:graphicData uri="http://schemas.openxmlformats.org/presentationml/2006/ole">
            <mc:AlternateContent xmlns:mc="http://schemas.openxmlformats.org/markup-compatibility/2006">
              <mc:Choice xmlns:v="urn:schemas-microsoft-com:vml" Requires="v">
                <p:oleObj spid="_x0000_s3111" name="Equation" r:id="rId3" imgW="1917360" imgH="203040" progId="Equation.DSMT4">
                  <p:embed/>
                </p:oleObj>
              </mc:Choice>
              <mc:Fallback>
                <p:oleObj name="Equation" r:id="rId3" imgW="1917360" imgH="203040" progId="Equation.DSMT4">
                  <p:embed/>
                  <p:pic>
                    <p:nvPicPr>
                      <p:cNvPr id="0" name=""/>
                      <p:cNvPicPr/>
                      <p:nvPr/>
                    </p:nvPicPr>
                    <p:blipFill>
                      <a:blip r:embed="rId4"/>
                      <a:stretch>
                        <a:fillRect/>
                      </a:stretch>
                    </p:blipFill>
                    <p:spPr>
                      <a:xfrm>
                        <a:off x="2780871" y="1512684"/>
                        <a:ext cx="3397324" cy="359982"/>
                      </a:xfrm>
                      <a:prstGeom prst="rect">
                        <a:avLst/>
                      </a:prstGeom>
                    </p:spPr>
                  </p:pic>
                </p:oleObj>
              </mc:Fallback>
            </mc:AlternateContent>
          </a:graphicData>
        </a:graphic>
      </p:graphicFrame>
      <p:sp>
        <p:nvSpPr>
          <p:cNvPr id="18" name="Content Placeholder 17"/>
          <p:cNvSpPr>
            <a:spLocks noGrp="1"/>
          </p:cNvSpPr>
          <p:nvPr>
            <p:ph sz="quarter" idx="13"/>
          </p:nvPr>
        </p:nvSpPr>
        <p:spPr>
          <a:xfrm>
            <a:off x="457200" y="2034283"/>
            <a:ext cx="8318500" cy="3791164"/>
          </a:xfrm>
        </p:spPr>
        <p:txBody>
          <a:bodyPr lIns="0" tIns="0" rIns="0" bIns="0"/>
          <a:lstStyle/>
          <a:p>
            <a:pPr eaLnBrk="1" hangingPunct="1"/>
            <a:r>
              <a:rPr lang="en-US" altLang="en-US" sz="2000" dirty="0">
                <a:latin typeface="Arial (Body)"/>
              </a:rPr>
              <a:t>When production &gt; domestic expenditure, exports &gt; imports: current account &gt; 0 and trade balance &gt; 0</a:t>
            </a:r>
          </a:p>
          <a:p>
            <a:pPr lvl="1" eaLnBrk="1" hangingPunct="1"/>
            <a:r>
              <a:rPr lang="en-US" altLang="en-US" sz="2000" dirty="0">
                <a:latin typeface="Arial (Body)"/>
              </a:rPr>
              <a:t>when a country exports more than it imports, it earns more income from exports than it spends on imports</a:t>
            </a:r>
          </a:p>
          <a:p>
            <a:pPr lvl="1" eaLnBrk="1" hangingPunct="1"/>
            <a:r>
              <a:rPr lang="en-US" altLang="en-US" sz="2000" dirty="0">
                <a:latin typeface="Arial (Body)"/>
              </a:rPr>
              <a:t>net foreign wealth is increasing</a:t>
            </a:r>
          </a:p>
          <a:p>
            <a:pPr eaLnBrk="1" hangingPunct="1"/>
            <a:r>
              <a:rPr lang="en-US" altLang="en-US" sz="2000" dirty="0">
                <a:latin typeface="Arial (Body)"/>
              </a:rPr>
              <a:t>When production &lt; domestic expenditure, exports &lt; imports: current account &lt; 0 and trade balance &lt; 0</a:t>
            </a:r>
          </a:p>
          <a:p>
            <a:pPr lvl="1" eaLnBrk="1" hangingPunct="1"/>
            <a:r>
              <a:rPr lang="en-US" altLang="en-US" sz="2000" dirty="0">
                <a:latin typeface="Arial (Body)"/>
              </a:rPr>
              <a:t>when a country exports less than it imports, it earns less income from exports than it spends on imports</a:t>
            </a:r>
          </a:p>
          <a:p>
            <a:pPr lvl="1" eaLnBrk="1" hangingPunct="1"/>
            <a:r>
              <a:rPr lang="en-US" altLang="en-US" sz="2000" dirty="0">
                <a:latin typeface="Arial (Body)"/>
              </a:rPr>
              <a:t>net foreign wealth is decreasing</a:t>
            </a:r>
            <a:endParaRPr lang="en-IN" sz="2000" dirty="0"/>
          </a:p>
        </p:txBody>
      </p:sp>
    </p:spTree>
    <p:extLst>
      <p:ext uri="{BB962C8B-B14F-4D97-AF65-F5344CB8AC3E}">
        <p14:creationId xmlns:p14="http://schemas.microsoft.com/office/powerpoint/2010/main" val="4196616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Table 13.1 National Income Accounts for </a:t>
            </a:r>
            <a:r>
              <a:rPr lang="en-US" altLang="en-US" sz="2800" dirty="0" err="1"/>
              <a:t>Agraria</a:t>
            </a:r>
            <a:r>
              <a:rPr lang="en-US" altLang="en-US" sz="2800" dirty="0"/>
              <a:t>, an Open Economy (Bushels of Wheat)</a:t>
            </a:r>
            <a:endParaRPr lang="en-IN" sz="2800" dirty="0"/>
          </a:p>
        </p:txBody>
      </p:sp>
      <p:graphicFrame>
        <p:nvGraphicFramePr>
          <p:cNvPr id="3" name="Content Placeholder 2"/>
          <p:cNvGraphicFramePr>
            <a:graphicFrameLocks noGrp="1"/>
          </p:cNvGraphicFramePr>
          <p:nvPr>
            <p:ph sz="quarter" idx="14"/>
            <p:extLst>
              <p:ext uri="{D42A27DB-BD31-4B8C-83A1-F6EECF244321}">
                <p14:modId xmlns:p14="http://schemas.microsoft.com/office/powerpoint/2010/main" val="956727617"/>
              </p:ext>
            </p:extLst>
          </p:nvPr>
        </p:nvGraphicFramePr>
        <p:xfrm>
          <a:off x="457200" y="1608138"/>
          <a:ext cx="8318661" cy="869560"/>
        </p:xfrm>
        <a:graphic>
          <a:graphicData uri="http://schemas.openxmlformats.org/drawingml/2006/table">
            <a:tbl>
              <a:tblPr firstRow="1" bandRow="1">
                <a:tableStyleId>{40F9630F-82C1-40B7-BC3A-925EFCFF5E92}</a:tableStyleId>
              </a:tblPr>
              <a:tblGrid>
                <a:gridCol w="1321117">
                  <a:extLst>
                    <a:ext uri="{9D8B030D-6E8A-4147-A177-3AD203B41FA5}">
                      <a16:colId xmlns:a16="http://schemas.microsoft.com/office/drawing/2014/main" val="3924172578"/>
                    </a:ext>
                  </a:extLst>
                </a:gridCol>
                <a:gridCol w="335280">
                  <a:extLst>
                    <a:ext uri="{9D8B030D-6E8A-4147-A177-3AD203B41FA5}">
                      <a16:colId xmlns:a16="http://schemas.microsoft.com/office/drawing/2014/main" val="819328748"/>
                    </a:ext>
                  </a:extLst>
                </a:gridCol>
                <a:gridCol w="1190625">
                  <a:extLst>
                    <a:ext uri="{9D8B030D-6E8A-4147-A177-3AD203B41FA5}">
                      <a16:colId xmlns:a16="http://schemas.microsoft.com/office/drawing/2014/main" val="404647509"/>
                    </a:ext>
                  </a:extLst>
                </a:gridCol>
                <a:gridCol w="335280">
                  <a:extLst>
                    <a:ext uri="{9D8B030D-6E8A-4147-A177-3AD203B41FA5}">
                      <a16:colId xmlns:a16="http://schemas.microsoft.com/office/drawing/2014/main" val="3128383628"/>
                    </a:ext>
                  </a:extLst>
                </a:gridCol>
                <a:gridCol w="1167130">
                  <a:extLst>
                    <a:ext uri="{9D8B030D-6E8A-4147-A177-3AD203B41FA5}">
                      <a16:colId xmlns:a16="http://schemas.microsoft.com/office/drawing/2014/main" val="159064284"/>
                    </a:ext>
                  </a:extLst>
                </a:gridCol>
                <a:gridCol w="335280">
                  <a:extLst>
                    <a:ext uri="{9D8B030D-6E8A-4147-A177-3AD203B41FA5}">
                      <a16:colId xmlns:a16="http://schemas.microsoft.com/office/drawing/2014/main" val="3776051553"/>
                    </a:ext>
                  </a:extLst>
                </a:gridCol>
                <a:gridCol w="1322751">
                  <a:extLst>
                    <a:ext uri="{9D8B030D-6E8A-4147-A177-3AD203B41FA5}">
                      <a16:colId xmlns:a16="http://schemas.microsoft.com/office/drawing/2014/main" val="4255445654"/>
                    </a:ext>
                  </a:extLst>
                </a:gridCol>
                <a:gridCol w="335280">
                  <a:extLst>
                    <a:ext uri="{9D8B030D-6E8A-4147-A177-3AD203B41FA5}">
                      <a16:colId xmlns:a16="http://schemas.microsoft.com/office/drawing/2014/main" val="3848521368"/>
                    </a:ext>
                  </a:extLst>
                </a:gridCol>
                <a:gridCol w="892493">
                  <a:extLst>
                    <a:ext uri="{9D8B030D-6E8A-4147-A177-3AD203B41FA5}">
                      <a16:colId xmlns:a16="http://schemas.microsoft.com/office/drawing/2014/main" val="2418187961"/>
                    </a:ext>
                  </a:extLst>
                </a:gridCol>
                <a:gridCol w="335280">
                  <a:extLst>
                    <a:ext uri="{9D8B030D-6E8A-4147-A177-3AD203B41FA5}">
                      <a16:colId xmlns:a16="http://schemas.microsoft.com/office/drawing/2014/main" val="413201543"/>
                    </a:ext>
                  </a:extLst>
                </a:gridCol>
                <a:gridCol w="748145">
                  <a:extLst>
                    <a:ext uri="{9D8B030D-6E8A-4147-A177-3AD203B41FA5}">
                      <a16:colId xmlns:a16="http://schemas.microsoft.com/office/drawing/2014/main" val="742653617"/>
                    </a:ext>
                  </a:extLst>
                </a:gridCol>
              </a:tblGrid>
              <a:tr h="370840">
                <a:tc>
                  <a:txBody>
                    <a:bodyPr/>
                    <a:lstStyle/>
                    <a:p>
                      <a:pPr algn="ctr"/>
                      <a:r>
                        <a:rPr lang="en-US" sz="1400" dirty="0">
                          <a:solidFill>
                            <a:schemeClr val="tx1"/>
                          </a:solidFill>
                          <a:latin typeface="Arial (Body)"/>
                        </a:rPr>
                        <a:t>G</a:t>
                      </a:r>
                      <a:r>
                        <a:rPr lang="en-US" sz="100" dirty="0">
                          <a:solidFill>
                            <a:schemeClr val="tx1"/>
                          </a:solidFill>
                          <a:latin typeface="Arial (Body)"/>
                        </a:rPr>
                        <a:t> </a:t>
                      </a:r>
                      <a:r>
                        <a:rPr lang="en-US" sz="1400" dirty="0">
                          <a:solidFill>
                            <a:schemeClr val="tx1"/>
                          </a:solidFill>
                          <a:latin typeface="Arial (Body)"/>
                        </a:rPr>
                        <a:t>N</a:t>
                      </a:r>
                      <a:r>
                        <a:rPr lang="en-US" sz="100" dirty="0">
                          <a:solidFill>
                            <a:schemeClr val="tx1"/>
                          </a:solidFill>
                          <a:latin typeface="Arial (Body)"/>
                        </a:rPr>
                        <a:t> </a:t>
                      </a:r>
                      <a:r>
                        <a:rPr lang="en-US" sz="1400" dirty="0">
                          <a:solidFill>
                            <a:schemeClr val="tx1"/>
                          </a:solidFill>
                          <a:latin typeface="Arial (Body)"/>
                        </a:rPr>
                        <a:t>P</a:t>
                      </a:r>
                    </a:p>
                    <a:p>
                      <a:pPr algn="ctr"/>
                      <a:r>
                        <a:rPr lang="en-US" sz="1400" dirty="0">
                          <a:solidFill>
                            <a:schemeClr val="tx1"/>
                          </a:solidFill>
                          <a:latin typeface="Arial (Body)"/>
                        </a:rPr>
                        <a:t>(total output)</a:t>
                      </a:r>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Consumption</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Investment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Government</a:t>
                      </a:r>
                      <a:r>
                        <a:rPr lang="en-US" sz="1400" baseline="0" dirty="0">
                          <a:solidFill>
                            <a:schemeClr val="tx1"/>
                          </a:solidFill>
                          <a:latin typeface="Arial (Body)"/>
                        </a:rPr>
                        <a:t> purchases</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Exports</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 b="1" i="0" u="none" strike="noStrike" cap="none" dirty="0">
                          <a:solidFill>
                            <a:schemeClr val="dk1"/>
                          </a:solidFill>
                          <a:effectLst/>
                          <a:latin typeface="Arial"/>
                          <a:ea typeface="Arial"/>
                          <a:cs typeface="Arial"/>
                          <a:sym typeface="Arial"/>
                        </a:rPr>
                        <a:t>minus</a:t>
                      </a:r>
                      <a:endParaRPr lang="en-IN" sz="100" dirty="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Imports</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6481162"/>
                  </a:ext>
                </a:extLst>
              </a:tr>
              <a:tr h="370840">
                <a:tc>
                  <a:txBody>
                    <a:bodyPr/>
                    <a:lstStyle/>
                    <a:p>
                      <a:pPr algn="ctr"/>
                      <a:r>
                        <a:rPr lang="en-US" sz="1400" dirty="0">
                          <a:solidFill>
                            <a:schemeClr val="tx1"/>
                          </a:solidFill>
                          <a:latin typeface="Arial (Body)"/>
                        </a:rPr>
                        <a:t>100</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 b="0" i="0" u="none" strike="noStrike" cap="none" dirty="0">
                          <a:solidFill>
                            <a:schemeClr val="dk1"/>
                          </a:solidFill>
                          <a:effectLst/>
                          <a:latin typeface="Arial"/>
                          <a:ea typeface="Arial"/>
                          <a:cs typeface="Arial"/>
                          <a:sym typeface="Arial"/>
                        </a:rPr>
                        <a:t>75 to the a power</a:t>
                      </a:r>
                      <a:endParaRPr lang="en-IN" sz="100" dirty="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25</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10</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a:solidFill>
                            <a:schemeClr val="tx1"/>
                          </a:solidFill>
                          <a:latin typeface="Arial (Body)"/>
                        </a:rPr>
                        <a:t>10</a:t>
                      </a:r>
                      <a:endParaRPr lang="en-IN" dirty="0"/>
                    </a:p>
                  </a:txBody>
                  <a:tcPr marL="0" marR="0"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 b="0" i="0" u="none" strike="noStrike" cap="none" dirty="0">
                          <a:solidFill>
                            <a:schemeClr val="dk1"/>
                          </a:solidFill>
                          <a:effectLst/>
                          <a:latin typeface="Arial"/>
                          <a:ea typeface="Arial"/>
                          <a:cs typeface="Arial"/>
                          <a:sym typeface="Arial"/>
                        </a:rPr>
                        <a:t>minus</a:t>
                      </a:r>
                      <a:endParaRPr lang="en-IN" sz="100" dirty="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 b="0" i="0" u="none" strike="noStrike" cap="none" dirty="0">
                          <a:solidFill>
                            <a:schemeClr val="dk1"/>
                          </a:solidFill>
                          <a:effectLst/>
                          <a:latin typeface="Arial"/>
                          <a:ea typeface="Arial"/>
                          <a:cs typeface="Arial"/>
                          <a:sym typeface="Arial"/>
                        </a:rPr>
                        <a:t>20 to the b power</a:t>
                      </a:r>
                      <a:endParaRPr lang="en-IN" sz="100" dirty="0"/>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2072827"/>
                  </a:ext>
                </a:extLst>
              </a:tr>
            </a:tbl>
          </a:graphicData>
        </a:graphic>
      </p:graphicFrame>
      <p:graphicFrame>
        <p:nvGraphicFramePr>
          <p:cNvPr id="4" name="Object 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716555868"/>
              </p:ext>
            </p:extLst>
          </p:nvPr>
        </p:nvGraphicFramePr>
        <p:xfrm>
          <a:off x="7762889" y="1729480"/>
          <a:ext cx="185941" cy="148753"/>
        </p:xfrm>
        <a:graphic>
          <a:graphicData uri="http://schemas.openxmlformats.org/presentationml/2006/ole">
            <mc:AlternateContent xmlns:mc="http://schemas.openxmlformats.org/markup-compatibility/2006">
              <mc:Choice xmlns:v="urn:schemas-microsoft-com:vml" Requires="v">
                <p:oleObj spid="_x0000_s4283" name="Equation" r:id="rId3" imgW="126720" imgH="101520" progId="Equation.DSMT4">
                  <p:embed/>
                </p:oleObj>
              </mc:Choice>
              <mc:Fallback>
                <p:oleObj name="Equation" r:id="rId3" imgW="126720" imgH="101520" progId="Equation.DSMT4">
                  <p:embed/>
                  <p:pic>
                    <p:nvPicPr>
                      <p:cNvPr id="0" name=""/>
                      <p:cNvPicPr/>
                      <p:nvPr/>
                    </p:nvPicPr>
                    <p:blipFill>
                      <a:blip r:embed="rId4"/>
                      <a:stretch>
                        <a:fillRect/>
                      </a:stretch>
                    </p:blipFill>
                    <p:spPr>
                      <a:xfrm>
                        <a:off x="7762889" y="1729480"/>
                        <a:ext cx="185941" cy="148753"/>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19127175"/>
              </p:ext>
            </p:extLst>
          </p:nvPr>
        </p:nvGraphicFramePr>
        <p:xfrm>
          <a:off x="2569936" y="2157415"/>
          <a:ext cx="266700" cy="203200"/>
        </p:xfrm>
        <a:graphic>
          <a:graphicData uri="http://schemas.openxmlformats.org/presentationml/2006/ole">
            <mc:AlternateContent xmlns:mc="http://schemas.openxmlformats.org/markup-compatibility/2006">
              <mc:Choice xmlns:v="urn:schemas-microsoft-com:vml" Requires="v">
                <p:oleObj spid="_x0000_s4284" name="Equation" r:id="rId5" imgW="266400" imgH="203040" progId="Equation.DSMT4">
                  <p:embed/>
                </p:oleObj>
              </mc:Choice>
              <mc:Fallback>
                <p:oleObj name="Equation" r:id="rId5" imgW="266400" imgH="203040" progId="Equation.DSMT4">
                  <p:embed/>
                  <p:pic>
                    <p:nvPicPr>
                      <p:cNvPr id="0" name=""/>
                      <p:cNvPicPr/>
                      <p:nvPr/>
                    </p:nvPicPr>
                    <p:blipFill>
                      <a:blip r:embed="rId6"/>
                      <a:stretch>
                        <a:fillRect/>
                      </a:stretch>
                    </p:blipFill>
                    <p:spPr>
                      <a:xfrm>
                        <a:off x="2569936" y="2157415"/>
                        <a:ext cx="266700" cy="203200"/>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36828440"/>
              </p:ext>
            </p:extLst>
          </p:nvPr>
        </p:nvGraphicFramePr>
        <p:xfrm>
          <a:off x="7760452" y="2196161"/>
          <a:ext cx="169037" cy="135230"/>
        </p:xfrm>
        <a:graphic>
          <a:graphicData uri="http://schemas.openxmlformats.org/presentationml/2006/ole">
            <mc:AlternateContent xmlns:mc="http://schemas.openxmlformats.org/markup-compatibility/2006">
              <mc:Choice xmlns:v="urn:schemas-microsoft-com:vml" Requires="v">
                <p:oleObj spid="_x0000_s4285" name="Equation" r:id="rId7" imgW="126720" imgH="101520" progId="Equation.DSMT4">
                  <p:embed/>
                </p:oleObj>
              </mc:Choice>
              <mc:Fallback>
                <p:oleObj name="Equation" r:id="rId7" imgW="126720" imgH="101520" progId="Equation.DSMT4">
                  <p:embed/>
                  <p:pic>
                    <p:nvPicPr>
                      <p:cNvPr id="0" name=""/>
                      <p:cNvPicPr/>
                      <p:nvPr/>
                    </p:nvPicPr>
                    <p:blipFill>
                      <a:blip r:embed="rId8"/>
                      <a:stretch>
                        <a:fillRect/>
                      </a:stretch>
                    </p:blipFill>
                    <p:spPr>
                      <a:xfrm>
                        <a:off x="7760452" y="2196161"/>
                        <a:ext cx="169037" cy="135230"/>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54726419"/>
              </p:ext>
            </p:extLst>
          </p:nvPr>
        </p:nvGraphicFramePr>
        <p:xfrm>
          <a:off x="8284529" y="2157284"/>
          <a:ext cx="274782" cy="209357"/>
        </p:xfrm>
        <a:graphic>
          <a:graphicData uri="http://schemas.openxmlformats.org/presentationml/2006/ole">
            <mc:AlternateContent xmlns:mc="http://schemas.openxmlformats.org/markup-compatibility/2006">
              <mc:Choice xmlns:v="urn:schemas-microsoft-com:vml" Requires="v">
                <p:oleObj spid="_x0000_s4286" name="Equation" r:id="rId9" imgW="266400" imgH="203040" progId="Equation.DSMT4">
                  <p:embed/>
                </p:oleObj>
              </mc:Choice>
              <mc:Fallback>
                <p:oleObj name="Equation" r:id="rId9" imgW="266400" imgH="203040" progId="Equation.DSMT4">
                  <p:embed/>
                  <p:pic>
                    <p:nvPicPr>
                      <p:cNvPr id="0" name=""/>
                      <p:cNvPicPr/>
                      <p:nvPr/>
                    </p:nvPicPr>
                    <p:blipFill>
                      <a:blip r:embed="rId10"/>
                      <a:stretch>
                        <a:fillRect/>
                      </a:stretch>
                    </p:blipFill>
                    <p:spPr>
                      <a:xfrm>
                        <a:off x="8284529" y="2157284"/>
                        <a:ext cx="274782" cy="209357"/>
                      </a:xfrm>
                      <a:prstGeom prst="rect">
                        <a:avLst/>
                      </a:prstGeom>
                      <a:solidFill>
                        <a:schemeClr val="bg1"/>
                      </a:solidFill>
                    </p:spPr>
                  </p:pic>
                </p:oleObj>
              </mc:Fallback>
            </mc:AlternateContent>
          </a:graphicData>
        </a:graphic>
      </p:graphicFrame>
      <p:graphicFrame>
        <p:nvGraphicFramePr>
          <p:cNvPr id="5" name="Object 4" descr="Where superscript a = 55 bushels of wheat + left parenthesis 0.5 bushel per gallon right parenthesis times left parenthesis 40 gallons of milk right parenthesis. Superscript b = 0.5 bushel per gallon times 40 gallons of milk."/>
          <p:cNvGraphicFramePr>
            <a:graphicFrameLocks noChangeAspect="1"/>
          </p:cNvGraphicFramePr>
          <p:nvPr>
            <p:extLst>
              <p:ext uri="{D42A27DB-BD31-4B8C-83A1-F6EECF244321}">
                <p14:modId xmlns:p14="http://schemas.microsoft.com/office/powerpoint/2010/main" val="3069770929"/>
              </p:ext>
            </p:extLst>
          </p:nvPr>
        </p:nvGraphicFramePr>
        <p:xfrm>
          <a:off x="457200" y="2903482"/>
          <a:ext cx="8099577" cy="834605"/>
        </p:xfrm>
        <a:graphic>
          <a:graphicData uri="http://schemas.openxmlformats.org/presentationml/2006/ole">
            <mc:AlternateContent xmlns:mc="http://schemas.openxmlformats.org/markup-compatibility/2006">
              <mc:Choice xmlns:v="urn:schemas-microsoft-com:vml" Requires="v">
                <p:oleObj spid="_x0000_s4287" name="Equation" r:id="rId11" imgW="4572000" imgH="495000" progId="Equation.DSMT4">
                  <p:embed/>
                </p:oleObj>
              </mc:Choice>
              <mc:Fallback>
                <p:oleObj name="Equation" r:id="rId11" imgW="4572000" imgH="495000" progId="Equation.DSMT4">
                  <p:embed/>
                  <p:pic>
                    <p:nvPicPr>
                      <p:cNvPr id="0" name=""/>
                      <p:cNvPicPr/>
                      <p:nvPr/>
                    </p:nvPicPr>
                    <p:blipFill>
                      <a:blip r:embed="rId12"/>
                      <a:stretch>
                        <a:fillRect/>
                      </a:stretch>
                    </p:blipFill>
                    <p:spPr>
                      <a:xfrm>
                        <a:off x="457200" y="2903482"/>
                        <a:ext cx="8099577" cy="834605"/>
                      </a:xfrm>
                      <a:prstGeom prst="rect">
                        <a:avLst/>
                      </a:prstGeom>
                    </p:spPr>
                  </p:pic>
                </p:oleObj>
              </mc:Fallback>
            </mc:AlternateContent>
          </a:graphicData>
        </a:graphic>
      </p:graphicFrame>
    </p:spTree>
    <p:extLst>
      <p:ext uri="{BB962C8B-B14F-4D97-AF65-F5344CB8AC3E}">
        <p14:creationId xmlns:p14="http://schemas.microsoft.com/office/powerpoint/2010/main" val="2840997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SimSun-ExtB" panose="02010609060101010101" pitchFamily="49" charset="-122"/>
              </a:rPr>
              <a:t>Saving and the Current Account</a:t>
            </a:r>
            <a:endParaRPr lang="en-IN" dirty="0">
              <a:ea typeface="SimSun-ExtB" panose="02010609060101010101" pitchFamily="49" charset="-122"/>
            </a:endParaRPr>
          </a:p>
        </p:txBody>
      </p:sp>
      <p:sp>
        <p:nvSpPr>
          <p:cNvPr id="3" name="Content Placeholder 2"/>
          <p:cNvSpPr>
            <a:spLocks noGrp="1"/>
          </p:cNvSpPr>
          <p:nvPr>
            <p:ph sz="quarter" idx="13"/>
          </p:nvPr>
        </p:nvSpPr>
        <p:spPr>
          <a:xfrm>
            <a:off x="457200" y="1556327"/>
            <a:ext cx="8229600" cy="827277"/>
          </a:xfrm>
        </p:spPr>
        <p:txBody>
          <a:bodyPr lIns="0" tIns="0" rIns="0" bIns="0"/>
          <a:lstStyle/>
          <a:p>
            <a:r>
              <a:rPr lang="en-US" altLang="en-US" dirty="0">
                <a:latin typeface="Arial (Body)"/>
              </a:rPr>
              <a:t>National saving (</a:t>
            </a:r>
            <a:r>
              <a:rPr lang="en-US" altLang="en-US" i="1" dirty="0">
                <a:latin typeface="Arial (Body)"/>
              </a:rPr>
              <a:t>S</a:t>
            </a:r>
            <a:r>
              <a:rPr lang="en-US" altLang="en-US" dirty="0">
                <a:latin typeface="Arial (Body)"/>
              </a:rPr>
              <a:t>) = national income (</a:t>
            </a:r>
            <a:r>
              <a:rPr lang="en-US" altLang="en-US" i="1" dirty="0">
                <a:latin typeface="Arial (Body)"/>
              </a:rPr>
              <a:t>Y</a:t>
            </a:r>
            <a:r>
              <a:rPr lang="en-US" altLang="en-US" dirty="0">
                <a:latin typeface="Arial (Body)"/>
              </a:rPr>
              <a:t>) that is not spent on consumption (</a:t>
            </a:r>
            <a:r>
              <a:rPr lang="en-US" altLang="en-US" i="1" dirty="0">
                <a:latin typeface="Arial (Body)"/>
              </a:rPr>
              <a:t>C</a:t>
            </a:r>
            <a:r>
              <a:rPr lang="en-US" altLang="en-US" dirty="0">
                <a:latin typeface="Arial (Body)"/>
              </a:rPr>
              <a:t>) or government purchases (</a:t>
            </a:r>
            <a:r>
              <a:rPr lang="en-US" altLang="en-US" i="1" dirty="0">
                <a:latin typeface="Arial (Body)"/>
              </a:rPr>
              <a:t>G</a:t>
            </a:r>
            <a:r>
              <a:rPr lang="en-US" altLang="en-US" dirty="0">
                <a:latin typeface="Arial (Body)"/>
              </a:rPr>
              <a:t>).</a:t>
            </a:r>
          </a:p>
        </p:txBody>
      </p:sp>
      <p:graphicFrame>
        <p:nvGraphicFramePr>
          <p:cNvPr id="5" name="Object 4" descr="S = Y minus C minus G"/>
          <p:cNvGraphicFramePr>
            <a:graphicFrameLocks noChangeAspect="1"/>
          </p:cNvGraphicFramePr>
          <p:nvPr>
            <p:extLst>
              <p:ext uri="{D42A27DB-BD31-4B8C-83A1-F6EECF244321}">
                <p14:modId xmlns:p14="http://schemas.microsoft.com/office/powerpoint/2010/main" val="2463625615"/>
              </p:ext>
            </p:extLst>
          </p:nvPr>
        </p:nvGraphicFramePr>
        <p:xfrm>
          <a:off x="3092381" y="2623477"/>
          <a:ext cx="2096216" cy="419243"/>
        </p:xfrm>
        <a:graphic>
          <a:graphicData uri="http://schemas.openxmlformats.org/presentationml/2006/ole">
            <mc:AlternateContent xmlns:mc="http://schemas.openxmlformats.org/markup-compatibility/2006">
              <mc:Choice xmlns:v="urn:schemas-microsoft-com:vml" Requires="v">
                <p:oleObj spid="_x0000_s5196" name="Equation" r:id="rId3" imgW="888840" imgH="177480" progId="Equation.DSMT4">
                  <p:embed/>
                </p:oleObj>
              </mc:Choice>
              <mc:Fallback>
                <p:oleObj name="Equation" r:id="rId3" imgW="888840" imgH="177480" progId="Equation.DSMT4">
                  <p:embed/>
                  <p:pic>
                    <p:nvPicPr>
                      <p:cNvPr id="0" name=""/>
                      <p:cNvPicPr/>
                      <p:nvPr/>
                    </p:nvPicPr>
                    <p:blipFill>
                      <a:blip r:embed="rId4"/>
                      <a:stretch>
                        <a:fillRect/>
                      </a:stretch>
                    </p:blipFill>
                    <p:spPr>
                      <a:xfrm>
                        <a:off x="3092381" y="2623477"/>
                        <a:ext cx="2096216" cy="419243"/>
                      </a:xfrm>
                      <a:prstGeom prst="rect">
                        <a:avLst/>
                      </a:prstGeom>
                    </p:spPr>
                  </p:pic>
                </p:oleObj>
              </mc:Fallback>
            </mc:AlternateContent>
          </a:graphicData>
        </a:graphic>
      </p:graphicFrame>
      <p:sp>
        <p:nvSpPr>
          <p:cNvPr id="4" name="Content Placeholder 3"/>
          <p:cNvSpPr>
            <a:spLocks noGrp="1"/>
          </p:cNvSpPr>
          <p:nvPr>
            <p:ph sz="quarter" idx="14"/>
          </p:nvPr>
        </p:nvSpPr>
        <p:spPr>
          <a:xfrm>
            <a:off x="457200" y="3304106"/>
            <a:ext cx="8329448" cy="846655"/>
          </a:xfrm>
        </p:spPr>
        <p:txBody>
          <a:bodyPr lIns="0" tIns="0" rIns="0" bIns="0"/>
          <a:lstStyle/>
          <a:p>
            <a:r>
              <a:rPr lang="en-US" altLang="en-US" dirty="0">
                <a:latin typeface="Arial (Body)"/>
              </a:rPr>
              <a:t>An open economy can save by building up its capital stock or by acquiring foreign wealth.</a:t>
            </a:r>
          </a:p>
        </p:txBody>
      </p:sp>
      <p:graphicFrame>
        <p:nvGraphicFramePr>
          <p:cNvPr id="6" name="Object 5" descr="S = I + C A"/>
          <p:cNvGraphicFramePr>
            <a:graphicFrameLocks noChangeAspect="1"/>
          </p:cNvGraphicFramePr>
          <p:nvPr>
            <p:extLst>
              <p:ext uri="{D42A27DB-BD31-4B8C-83A1-F6EECF244321}">
                <p14:modId xmlns:p14="http://schemas.microsoft.com/office/powerpoint/2010/main" val="645553995"/>
              </p:ext>
            </p:extLst>
          </p:nvPr>
        </p:nvGraphicFramePr>
        <p:xfrm>
          <a:off x="3176081" y="4276123"/>
          <a:ext cx="1497297" cy="381130"/>
        </p:xfrm>
        <a:graphic>
          <a:graphicData uri="http://schemas.openxmlformats.org/presentationml/2006/ole">
            <mc:AlternateContent xmlns:mc="http://schemas.openxmlformats.org/markup-compatibility/2006">
              <mc:Choice xmlns:v="urn:schemas-microsoft-com:vml" Requires="v">
                <p:oleObj spid="_x0000_s5197" name="Equation" r:id="rId5" imgW="698400" imgH="177480" progId="Equation.DSMT4">
                  <p:embed/>
                </p:oleObj>
              </mc:Choice>
              <mc:Fallback>
                <p:oleObj name="Equation" r:id="rId5" imgW="698400" imgH="177480" progId="Equation.DSMT4">
                  <p:embed/>
                  <p:pic>
                    <p:nvPicPr>
                      <p:cNvPr id="0" name=""/>
                      <p:cNvPicPr/>
                      <p:nvPr/>
                    </p:nvPicPr>
                    <p:blipFill>
                      <a:blip r:embed="rId6"/>
                      <a:stretch>
                        <a:fillRect/>
                      </a:stretch>
                    </p:blipFill>
                    <p:spPr>
                      <a:xfrm>
                        <a:off x="3176081" y="4276123"/>
                        <a:ext cx="1497297" cy="381130"/>
                      </a:xfrm>
                      <a:prstGeom prst="rect">
                        <a:avLst/>
                      </a:prstGeom>
                    </p:spPr>
                  </p:pic>
                </p:oleObj>
              </mc:Fallback>
            </mc:AlternateContent>
          </a:graphicData>
        </a:graphic>
      </p:graphicFrame>
    </p:spTree>
    <p:extLst>
      <p:ext uri="{BB962C8B-B14F-4D97-AF65-F5344CB8AC3E}">
        <p14:creationId xmlns:p14="http://schemas.microsoft.com/office/powerpoint/2010/main" val="946579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a:t>Private and Government Saving</a:t>
            </a:r>
            <a:endParaRPr lang="en-IN" dirty="0"/>
          </a:p>
        </p:txBody>
      </p:sp>
      <p:sp>
        <p:nvSpPr>
          <p:cNvPr id="6" name="Content Placeholder 5"/>
          <p:cNvSpPr>
            <a:spLocks noGrp="1"/>
          </p:cNvSpPr>
          <p:nvPr>
            <p:ph sz="quarter" idx="13"/>
          </p:nvPr>
        </p:nvSpPr>
        <p:spPr>
          <a:xfrm>
            <a:off x="461030" y="1556326"/>
            <a:ext cx="8225770" cy="1152000"/>
          </a:xfrm>
        </p:spPr>
        <p:txBody>
          <a:bodyPr lIns="0" tIns="0" rIns="0" bIns="0"/>
          <a:lstStyle/>
          <a:p>
            <a:r>
              <a:rPr lang="en-US" altLang="en-US" b="1" dirty="0">
                <a:latin typeface="Arial (Body)"/>
              </a:rPr>
              <a:t>Private saving </a:t>
            </a:r>
            <a:r>
              <a:rPr lang="en-US" altLang="en-US" dirty="0">
                <a:latin typeface="Arial (Body)"/>
              </a:rPr>
              <a:t>is the part of disposable income (national income, </a:t>
            </a:r>
            <a:r>
              <a:rPr lang="en-US" altLang="en-US" i="1" dirty="0">
                <a:latin typeface="Arial (Body)"/>
              </a:rPr>
              <a:t>Y</a:t>
            </a:r>
            <a:r>
              <a:rPr lang="en-US" altLang="en-US" dirty="0">
                <a:latin typeface="Arial (Body)"/>
              </a:rPr>
              <a:t>, minus taxes, </a:t>
            </a:r>
            <a:r>
              <a:rPr lang="en-US" altLang="en-US" i="1" dirty="0">
                <a:latin typeface="Arial (Body)"/>
              </a:rPr>
              <a:t>T</a:t>
            </a:r>
            <a:r>
              <a:rPr lang="en-US" altLang="en-US" dirty="0">
                <a:latin typeface="Arial (Body)"/>
              </a:rPr>
              <a:t>)</a:t>
            </a:r>
            <a:r>
              <a:rPr lang="en-US" altLang="en-US" i="1" dirty="0">
                <a:latin typeface="Arial (Body)"/>
              </a:rPr>
              <a:t> </a:t>
            </a:r>
            <a:r>
              <a:rPr lang="en-US" altLang="en-US" dirty="0">
                <a:latin typeface="Arial (Body)"/>
              </a:rPr>
              <a:t>that is saved rather than consumed:</a:t>
            </a:r>
            <a:endParaRPr lang="en-US" dirty="0"/>
          </a:p>
        </p:txBody>
      </p:sp>
      <p:graphicFrame>
        <p:nvGraphicFramePr>
          <p:cNvPr id="9" name="Object 8" descr="S to the P power = Y minus T minus C"/>
          <p:cNvGraphicFramePr>
            <a:graphicFrameLocks noChangeAspect="1"/>
          </p:cNvGraphicFramePr>
          <p:nvPr>
            <p:extLst>
              <p:ext uri="{D42A27DB-BD31-4B8C-83A1-F6EECF244321}">
                <p14:modId xmlns:p14="http://schemas.microsoft.com/office/powerpoint/2010/main" val="924841237"/>
              </p:ext>
            </p:extLst>
          </p:nvPr>
        </p:nvGraphicFramePr>
        <p:xfrm>
          <a:off x="3465064" y="2853963"/>
          <a:ext cx="1905651" cy="445477"/>
        </p:xfrm>
        <a:graphic>
          <a:graphicData uri="http://schemas.openxmlformats.org/presentationml/2006/ole">
            <mc:AlternateContent xmlns:mc="http://schemas.openxmlformats.org/markup-compatibility/2006">
              <mc:Choice xmlns:v="urn:schemas-microsoft-com:vml" Requires="v">
                <p:oleObj spid="_x0000_s6257" name="Equation" r:id="rId3" imgW="977760" imgH="228600" progId="Equation.DSMT4">
                  <p:embed/>
                </p:oleObj>
              </mc:Choice>
              <mc:Fallback>
                <p:oleObj name="Equation" r:id="rId3" imgW="977760" imgH="228600" progId="Equation.DSMT4">
                  <p:embed/>
                  <p:pic>
                    <p:nvPicPr>
                      <p:cNvPr id="0" name=""/>
                      <p:cNvPicPr/>
                      <p:nvPr/>
                    </p:nvPicPr>
                    <p:blipFill>
                      <a:blip r:embed="rId4"/>
                      <a:stretch>
                        <a:fillRect/>
                      </a:stretch>
                    </p:blipFill>
                    <p:spPr>
                      <a:xfrm>
                        <a:off x="3465064" y="2853963"/>
                        <a:ext cx="1905651" cy="445477"/>
                      </a:xfrm>
                      <a:prstGeom prst="rect">
                        <a:avLst/>
                      </a:prstGeom>
                    </p:spPr>
                  </p:pic>
                </p:oleObj>
              </mc:Fallback>
            </mc:AlternateContent>
          </a:graphicData>
        </a:graphic>
      </p:graphicFrame>
      <p:sp>
        <p:nvSpPr>
          <p:cNvPr id="7" name="Content Placeholder 6"/>
          <p:cNvSpPr>
            <a:spLocks noGrp="1"/>
          </p:cNvSpPr>
          <p:nvPr>
            <p:ph sz="quarter" idx="14"/>
          </p:nvPr>
        </p:nvSpPr>
        <p:spPr>
          <a:xfrm>
            <a:off x="461030" y="3528699"/>
            <a:ext cx="8225770" cy="871285"/>
          </a:xfrm>
        </p:spPr>
        <p:txBody>
          <a:bodyPr lIns="0" tIns="0" rIns="0" bIns="0"/>
          <a:lstStyle/>
          <a:p>
            <a:r>
              <a:rPr lang="en-US" altLang="en-US" b="1" dirty="0">
                <a:latin typeface="Arial (Body)"/>
              </a:rPr>
              <a:t>Government saving </a:t>
            </a:r>
            <a:r>
              <a:rPr lang="en-US" altLang="en-US" dirty="0">
                <a:latin typeface="Arial (Body)"/>
              </a:rPr>
              <a:t>is net tax revenue, </a:t>
            </a:r>
            <a:r>
              <a:rPr lang="en-US" altLang="en-US" i="1" dirty="0">
                <a:latin typeface="Arial (Body)"/>
              </a:rPr>
              <a:t>T</a:t>
            </a:r>
            <a:r>
              <a:rPr lang="en-US" altLang="en-US" dirty="0">
                <a:latin typeface="Arial (Body)"/>
              </a:rPr>
              <a:t>, minus  government purchases, </a:t>
            </a:r>
            <a:r>
              <a:rPr lang="en-US" altLang="en-US" i="1" dirty="0">
                <a:latin typeface="Arial (Body)"/>
              </a:rPr>
              <a:t>G:</a:t>
            </a:r>
            <a:endParaRPr lang="en-US" dirty="0"/>
          </a:p>
        </p:txBody>
      </p:sp>
      <p:graphicFrame>
        <p:nvGraphicFramePr>
          <p:cNvPr id="10" name="Object 9" descr="S to the g power = T minus G"/>
          <p:cNvGraphicFramePr>
            <a:graphicFrameLocks noChangeAspect="1"/>
          </p:cNvGraphicFramePr>
          <p:nvPr>
            <p:extLst>
              <p:ext uri="{D42A27DB-BD31-4B8C-83A1-F6EECF244321}">
                <p14:modId xmlns:p14="http://schemas.microsoft.com/office/powerpoint/2010/main" val="2988952584"/>
              </p:ext>
            </p:extLst>
          </p:nvPr>
        </p:nvGraphicFramePr>
        <p:xfrm>
          <a:off x="3565092" y="4461426"/>
          <a:ext cx="1578841" cy="489238"/>
        </p:xfrm>
        <a:graphic>
          <a:graphicData uri="http://schemas.openxmlformats.org/presentationml/2006/ole">
            <mc:AlternateContent xmlns:mc="http://schemas.openxmlformats.org/markup-compatibility/2006">
              <mc:Choice xmlns:v="urn:schemas-microsoft-com:vml" Requires="v">
                <p:oleObj spid="_x0000_s6258" name="Equation" r:id="rId5" imgW="736560" imgH="228600" progId="Equation.DSMT4">
                  <p:embed/>
                </p:oleObj>
              </mc:Choice>
              <mc:Fallback>
                <p:oleObj name="Equation" r:id="rId5" imgW="736560" imgH="228600" progId="Equation.DSMT4">
                  <p:embed/>
                  <p:pic>
                    <p:nvPicPr>
                      <p:cNvPr id="9" name="Object 8"/>
                      <p:cNvPicPr/>
                      <p:nvPr/>
                    </p:nvPicPr>
                    <p:blipFill>
                      <a:blip r:embed="rId6"/>
                      <a:stretch>
                        <a:fillRect/>
                      </a:stretch>
                    </p:blipFill>
                    <p:spPr>
                      <a:xfrm>
                        <a:off x="3565092" y="4461426"/>
                        <a:ext cx="1578841" cy="489238"/>
                      </a:xfrm>
                      <a:prstGeom prst="rect">
                        <a:avLst/>
                      </a:prstGeom>
                    </p:spPr>
                  </p:pic>
                </p:oleObj>
              </mc:Fallback>
            </mc:AlternateContent>
          </a:graphicData>
        </a:graphic>
      </p:graphicFrame>
      <p:sp>
        <p:nvSpPr>
          <p:cNvPr id="8" name="Content Placeholder 7"/>
          <p:cNvSpPr>
            <a:spLocks noGrp="1"/>
          </p:cNvSpPr>
          <p:nvPr>
            <p:ph sz="quarter" idx="15"/>
          </p:nvPr>
        </p:nvSpPr>
        <p:spPr>
          <a:xfrm>
            <a:off x="461031" y="5133989"/>
            <a:ext cx="8225770" cy="449426"/>
          </a:xfrm>
        </p:spPr>
        <p:txBody>
          <a:bodyPr lIns="0" tIns="0" rIns="0" bIns="0"/>
          <a:lstStyle/>
          <a:p>
            <a:r>
              <a:rPr lang="en-US" altLang="en-US" dirty="0">
                <a:latin typeface="Arial (Body)"/>
              </a:rPr>
              <a:t>Private and government saving add up to national saving.</a:t>
            </a:r>
            <a:endParaRPr lang="en-US" dirty="0"/>
          </a:p>
        </p:txBody>
      </p:sp>
      <p:graphicFrame>
        <p:nvGraphicFramePr>
          <p:cNvPr id="11" name="Object 10" descr="S = left parenthesis Y minus T minus C right parenthesis + left parenthesis T minus G right parenthesis = S to the P power + S to the g power"/>
          <p:cNvGraphicFramePr>
            <a:graphicFrameLocks noChangeAspect="1"/>
          </p:cNvGraphicFramePr>
          <p:nvPr>
            <p:extLst>
              <p:ext uri="{D42A27DB-BD31-4B8C-83A1-F6EECF244321}">
                <p14:modId xmlns:p14="http://schemas.microsoft.com/office/powerpoint/2010/main" val="3976870553"/>
              </p:ext>
            </p:extLst>
          </p:nvPr>
        </p:nvGraphicFramePr>
        <p:xfrm>
          <a:off x="2341202" y="5711990"/>
          <a:ext cx="4818784" cy="544080"/>
        </p:xfrm>
        <a:graphic>
          <a:graphicData uri="http://schemas.openxmlformats.org/presentationml/2006/ole">
            <mc:AlternateContent xmlns:mc="http://schemas.openxmlformats.org/markup-compatibility/2006">
              <mc:Choice xmlns:v="urn:schemas-microsoft-com:vml" Requires="v">
                <p:oleObj spid="_x0000_s6259" name="Equation" r:id="rId7" imgW="2247840" imgH="253800" progId="Equation.DSMT4">
                  <p:embed/>
                </p:oleObj>
              </mc:Choice>
              <mc:Fallback>
                <p:oleObj name="Equation" r:id="rId7" imgW="2247840" imgH="253800" progId="Equation.DSMT4">
                  <p:embed/>
                  <p:pic>
                    <p:nvPicPr>
                      <p:cNvPr id="10" name="Object 9"/>
                      <p:cNvPicPr/>
                      <p:nvPr/>
                    </p:nvPicPr>
                    <p:blipFill>
                      <a:blip r:embed="rId8"/>
                      <a:stretch>
                        <a:fillRect/>
                      </a:stretch>
                    </p:blipFill>
                    <p:spPr>
                      <a:xfrm>
                        <a:off x="2341202" y="5711990"/>
                        <a:ext cx="4818784" cy="544080"/>
                      </a:xfrm>
                      <a:prstGeom prst="rect">
                        <a:avLst/>
                      </a:prstGeom>
                    </p:spPr>
                  </p:pic>
                </p:oleObj>
              </mc:Fallback>
            </mc:AlternateContent>
          </a:graphicData>
        </a:graphic>
      </p:graphicFrame>
    </p:spTree>
    <p:extLst>
      <p:ext uri="{BB962C8B-B14F-4D97-AF65-F5344CB8AC3E}">
        <p14:creationId xmlns:p14="http://schemas.microsoft.com/office/powerpoint/2010/main" val="770254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800" dirty="0"/>
              <a:t>Figure 13.2 The U.S. Current Account and Net International Investment Position, 1976–2019</a:t>
            </a:r>
            <a:endParaRPr lang="en-IN" sz="2800" dirty="0"/>
          </a:p>
        </p:txBody>
      </p:sp>
      <p:pic>
        <p:nvPicPr>
          <p:cNvPr id="9" name="Content Placeholder 8" descr="A double line graph depicts U S current account balances and foreign wealth.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840591" y="1534567"/>
            <a:ext cx="5462819" cy="3402361"/>
          </a:xfrm>
        </p:spPr>
      </p:pic>
      <p:sp>
        <p:nvSpPr>
          <p:cNvPr id="8" name="Content Placeholder 7"/>
          <p:cNvSpPr>
            <a:spLocks noGrp="1"/>
          </p:cNvSpPr>
          <p:nvPr>
            <p:ph sz="quarter" idx="14"/>
          </p:nvPr>
        </p:nvSpPr>
        <p:spPr>
          <a:xfrm>
            <a:off x="457199" y="5053602"/>
            <a:ext cx="8350469" cy="1242096"/>
          </a:xfrm>
        </p:spPr>
        <p:txBody>
          <a:bodyPr lIns="0" tIns="0" rIns="0" bIns="0"/>
          <a:lstStyle/>
          <a:p>
            <a:pPr marL="0" indent="0">
              <a:buNone/>
            </a:pPr>
            <a:r>
              <a:rPr lang="en-US" sz="1800" dirty="0">
                <a:latin typeface="Arial (Body)"/>
              </a:rPr>
              <a:t>A string of current account deficits starting in the early 1980s reduced America’s net foreign wealth until, by the early 21st century, the country had accumulated a substantial net foreign debt.</a:t>
            </a:r>
          </a:p>
          <a:p>
            <a:pPr marL="0" indent="0">
              <a:spcBef>
                <a:spcPts val="600"/>
              </a:spcBef>
              <a:buNone/>
            </a:pPr>
            <a:r>
              <a:rPr lang="en-US" sz="1800" b="1" dirty="0">
                <a:latin typeface="Arial (Body)"/>
              </a:rPr>
              <a:t>Source: </a:t>
            </a:r>
            <a:r>
              <a:rPr lang="en-US" sz="1800" dirty="0">
                <a:latin typeface="Arial (Body)"/>
              </a:rPr>
              <a:t>U.S. Department of Commerce, Bureau of Economic Analysis.</a:t>
            </a:r>
            <a:endParaRPr lang="en-IN" sz="1800" dirty="0"/>
          </a:p>
        </p:txBody>
      </p:sp>
    </p:spTree>
    <p:extLst>
      <p:ext uri="{BB962C8B-B14F-4D97-AF65-F5344CB8AC3E}">
        <p14:creationId xmlns:p14="http://schemas.microsoft.com/office/powerpoint/2010/main" val="313508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(1 of 2)</a:t>
            </a:r>
            <a:endParaRPr lang="en-IN" dirty="0"/>
          </a:p>
        </p:txBody>
      </p:sp>
      <p:sp>
        <p:nvSpPr>
          <p:cNvPr id="3" name="Content Placeholder 2"/>
          <p:cNvSpPr>
            <a:spLocks noGrp="1"/>
          </p:cNvSpPr>
          <p:nvPr>
            <p:ph sz="quarter" idx="13"/>
          </p:nvPr>
        </p:nvSpPr>
        <p:spPr>
          <a:xfrm>
            <a:off x="481351" y="1581293"/>
            <a:ext cx="8249694" cy="1343106"/>
          </a:xfrm>
        </p:spPr>
        <p:txBody>
          <a:bodyPr lIns="0" tIns="0" rIns="0" bIns="0"/>
          <a:lstStyle/>
          <a:p>
            <a:pPr eaLnBrk="1" hangingPunct="1"/>
            <a:r>
              <a:rPr lang="en-US" altLang="en-US" dirty="0">
                <a:latin typeface="Arial (Body)"/>
              </a:rPr>
              <a:t>A country’</a:t>
            </a:r>
            <a:r>
              <a:rPr lang="en-US" altLang="ja-JP" dirty="0">
                <a:latin typeface="Arial (Body)"/>
              </a:rPr>
              <a:t>s balance of payments accounts for its payments to and its receipts from foreigners.</a:t>
            </a:r>
          </a:p>
          <a:p>
            <a:pPr eaLnBrk="1" hangingPunct="1"/>
            <a:r>
              <a:rPr lang="en-US" altLang="en-US" dirty="0">
                <a:latin typeface="Arial (Body)"/>
              </a:rPr>
              <a:t>An international transaction involves two parties, and each</a:t>
            </a:r>
            <a:endParaRPr lang="en-IN" dirty="0"/>
          </a:p>
        </p:txBody>
      </p:sp>
      <p:sp>
        <p:nvSpPr>
          <p:cNvPr id="6" name="Content Placeholder 3"/>
          <p:cNvSpPr>
            <a:spLocks noGrp="1"/>
          </p:cNvSpPr>
          <p:nvPr>
            <p:ph sz="quarter" idx="14"/>
          </p:nvPr>
        </p:nvSpPr>
        <p:spPr>
          <a:xfrm>
            <a:off x="475662" y="3006564"/>
            <a:ext cx="8211138" cy="403837"/>
          </a:xfrm>
        </p:spPr>
        <p:txBody>
          <a:bodyPr lIns="0" tIns="0" rIns="0" bIns="0"/>
          <a:lstStyle/>
          <a:p>
            <a:pPr marL="255600" indent="0">
              <a:buNone/>
            </a:pPr>
            <a:r>
              <a:rPr lang="en-US" altLang="en-US" dirty="0">
                <a:latin typeface="Arial (Body)"/>
              </a:rPr>
              <a:t>transaction enters the accounts twice: once as a credit (+)</a:t>
            </a:r>
            <a:endParaRPr lang="en-IN" dirty="0"/>
          </a:p>
        </p:txBody>
      </p:sp>
      <p:sp>
        <p:nvSpPr>
          <p:cNvPr id="4" name="Content Placeholder 3"/>
          <p:cNvSpPr>
            <a:spLocks noGrp="1"/>
          </p:cNvSpPr>
          <p:nvPr>
            <p:ph sz="quarter" idx="15"/>
          </p:nvPr>
        </p:nvSpPr>
        <p:spPr>
          <a:xfrm>
            <a:off x="630197" y="3488052"/>
            <a:ext cx="2900403" cy="384767"/>
          </a:xfrm>
        </p:spPr>
        <p:txBody>
          <a:bodyPr tIns="0"/>
          <a:lstStyle/>
          <a:p>
            <a:pPr marL="432" indent="0">
              <a:buNone/>
            </a:pPr>
            <a:r>
              <a:rPr lang="en-US" altLang="en-US" dirty="0">
                <a:latin typeface="Arial (Body)"/>
              </a:rPr>
              <a:t>and once as a debit</a:t>
            </a:r>
            <a:endParaRPr lang="en-IN" dirty="0"/>
          </a:p>
        </p:txBody>
      </p:sp>
      <p:graphicFrame>
        <p:nvGraphicFramePr>
          <p:cNvPr id="7" name="Object 6" descr="left parenthesis minus symbol right parenthesis."/>
          <p:cNvGraphicFramePr>
            <a:graphicFrameLocks noChangeAspect="1"/>
          </p:cNvGraphicFramePr>
          <p:nvPr>
            <p:extLst>
              <p:ext uri="{D42A27DB-BD31-4B8C-83A1-F6EECF244321}">
                <p14:modId xmlns:p14="http://schemas.microsoft.com/office/powerpoint/2010/main" val="1400775394"/>
              </p:ext>
            </p:extLst>
          </p:nvPr>
        </p:nvGraphicFramePr>
        <p:xfrm>
          <a:off x="3595394" y="3450869"/>
          <a:ext cx="519112" cy="449262"/>
        </p:xfrm>
        <a:graphic>
          <a:graphicData uri="http://schemas.openxmlformats.org/presentationml/2006/ole">
            <mc:AlternateContent xmlns:mc="http://schemas.openxmlformats.org/markup-compatibility/2006">
              <mc:Choice xmlns:v="urn:schemas-microsoft-com:vml" Requires="v">
                <p:oleObj spid="_x0000_s7207" name="Equation" r:id="rId3" imgW="291960" imgH="253800" progId="Equation.DSMT4">
                  <p:embed/>
                </p:oleObj>
              </mc:Choice>
              <mc:Fallback>
                <p:oleObj name="Equation" r:id="rId3" imgW="291960" imgH="253800" progId="Equation.DSMT4">
                  <p:embed/>
                  <p:pic>
                    <p:nvPicPr>
                      <p:cNvPr id="0" name=""/>
                      <p:cNvPicPr/>
                      <p:nvPr/>
                    </p:nvPicPr>
                    <p:blipFill>
                      <a:blip r:embed="rId4"/>
                      <a:stretch>
                        <a:fillRect/>
                      </a:stretch>
                    </p:blipFill>
                    <p:spPr>
                      <a:xfrm>
                        <a:off x="3595394" y="3450869"/>
                        <a:ext cx="519112" cy="449262"/>
                      </a:xfrm>
                      <a:prstGeom prst="rect">
                        <a:avLst/>
                      </a:prstGeom>
                    </p:spPr>
                  </p:pic>
                </p:oleObj>
              </mc:Fallback>
            </mc:AlternateContent>
          </a:graphicData>
        </a:graphic>
      </p:graphicFrame>
    </p:spTree>
    <p:extLst>
      <p:ext uri="{BB962C8B-B14F-4D97-AF65-F5344CB8AC3E}">
        <p14:creationId xmlns:p14="http://schemas.microsoft.com/office/powerpoint/2010/main" val="147841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(2 of 2)</a:t>
            </a:r>
            <a:endParaRPr lang="en-IN" dirty="0"/>
          </a:p>
        </p:txBody>
      </p:sp>
      <p:sp>
        <p:nvSpPr>
          <p:cNvPr id="3" name="Content Placeholder 2"/>
          <p:cNvSpPr>
            <a:spLocks noGrp="1"/>
          </p:cNvSpPr>
          <p:nvPr>
            <p:ph sz="quarter" idx="13"/>
          </p:nvPr>
        </p:nvSpPr>
        <p:spPr/>
        <p:txBody>
          <a:bodyPr lIns="0" tIns="0" rIns="0" bIns="0"/>
          <a:lstStyle/>
          <a:p>
            <a:pPr eaLnBrk="1" hangingPunct="1"/>
            <a:r>
              <a:rPr lang="en-US" altLang="en-US" dirty="0">
                <a:latin typeface="Arial (Body)"/>
              </a:rPr>
              <a:t>The balance of payments accounts are separated into three broad accounts:</a:t>
            </a:r>
          </a:p>
          <a:p>
            <a:pPr lvl="1" eaLnBrk="1" hangingPunct="1"/>
            <a:r>
              <a:rPr lang="en-US" altLang="en-US" b="1" dirty="0">
                <a:latin typeface="Arial (Body)"/>
              </a:rPr>
              <a:t>current account</a:t>
            </a:r>
            <a:r>
              <a:rPr lang="en-US" altLang="en-US" dirty="0">
                <a:latin typeface="Arial (Body)"/>
              </a:rPr>
              <a:t>: accounts for flows of goods and services (imports and exports).</a:t>
            </a:r>
          </a:p>
          <a:p>
            <a:pPr lvl="1" eaLnBrk="1" hangingPunct="1"/>
            <a:r>
              <a:rPr lang="en-US" altLang="en-US" b="1" dirty="0">
                <a:latin typeface="Arial (Body)"/>
              </a:rPr>
              <a:t>financial account</a:t>
            </a:r>
            <a:r>
              <a:rPr lang="en-US" altLang="en-US" dirty="0">
                <a:latin typeface="Arial (Body)"/>
              </a:rPr>
              <a:t>: accounts for flows of financial assets (financial capital).</a:t>
            </a:r>
          </a:p>
          <a:p>
            <a:pPr lvl="1" eaLnBrk="1" hangingPunct="1"/>
            <a:r>
              <a:rPr lang="en-US" altLang="en-US" b="1" dirty="0">
                <a:latin typeface="Arial (Body)"/>
              </a:rPr>
              <a:t>capital account</a:t>
            </a:r>
            <a:r>
              <a:rPr lang="en-US" altLang="en-US" dirty="0">
                <a:latin typeface="Arial (Body)"/>
              </a:rPr>
              <a:t>: flows of special categories of assets (capital): typically non-market, non-produced, or intangible assets such as debt forgiveness, copyrights, and trademarks.</a:t>
            </a:r>
          </a:p>
        </p:txBody>
      </p:sp>
    </p:spTree>
    <p:extLst>
      <p:ext uri="{BB962C8B-B14F-4D97-AF65-F5344CB8AC3E}">
        <p14:creationId xmlns:p14="http://schemas.microsoft.com/office/powerpoint/2010/main" val="2960877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Examples of Balance of Payments Accounting </a:t>
            </a:r>
            <a:r>
              <a:rPr lang="en-US" altLang="en-US" sz="2000" b="0" dirty="0"/>
              <a:t>(1 of 4)</a:t>
            </a:r>
            <a:endParaRPr lang="en-IN" dirty="0"/>
          </a:p>
        </p:txBody>
      </p:sp>
      <p:sp>
        <p:nvSpPr>
          <p:cNvPr id="5" name="Content Placeholder 4"/>
          <p:cNvSpPr>
            <a:spLocks noGrp="1"/>
          </p:cNvSpPr>
          <p:nvPr>
            <p:ph sz="quarter" idx="13"/>
          </p:nvPr>
        </p:nvSpPr>
        <p:spPr>
          <a:xfrm>
            <a:off x="457200" y="1556327"/>
            <a:ext cx="8229600" cy="1027216"/>
          </a:xfrm>
        </p:spPr>
        <p:txBody>
          <a:bodyPr lIns="0" tIns="0" rIns="0" bIns="0"/>
          <a:lstStyle/>
          <a:p>
            <a:r>
              <a:rPr lang="en-US" altLang="en-US" dirty="0">
                <a:latin typeface="Arial (Body)"/>
              </a:rPr>
              <a:t>You import a fax machine from Olivetti.</a:t>
            </a:r>
          </a:p>
          <a:p>
            <a:r>
              <a:rPr lang="en-US" altLang="en-US" dirty="0">
                <a:latin typeface="Arial (Body)"/>
              </a:rPr>
              <a:t>Olivetti deposits your check in a U.S. bank.</a:t>
            </a:r>
            <a:endParaRPr lang="en-US" dirty="0"/>
          </a:p>
        </p:txBody>
      </p:sp>
      <p:graphicFrame>
        <p:nvGraphicFramePr>
          <p:cNvPr id="2" name="Content Placeholder 1"/>
          <p:cNvGraphicFramePr>
            <a:graphicFrameLocks noGrp="1"/>
          </p:cNvGraphicFramePr>
          <p:nvPr>
            <p:ph sz="quarter" idx="14"/>
            <p:extLst>
              <p:ext uri="{D42A27DB-BD31-4B8C-83A1-F6EECF244321}">
                <p14:modId xmlns:p14="http://schemas.microsoft.com/office/powerpoint/2010/main" val="377978122"/>
              </p:ext>
            </p:extLst>
          </p:nvPr>
        </p:nvGraphicFramePr>
        <p:xfrm>
          <a:off x="457201" y="3971925"/>
          <a:ext cx="8129926" cy="741680"/>
        </p:xfrm>
        <a:graphic>
          <a:graphicData uri="http://schemas.openxmlformats.org/drawingml/2006/table">
            <a:tbl>
              <a:tblPr firstCol="1" bandRow="1">
                <a:tableStyleId>{40F9630F-82C1-40B7-BC3A-925EFCFF5E92}</a:tableStyleId>
              </a:tblPr>
              <a:tblGrid>
                <a:gridCol w="6558280">
                  <a:extLst>
                    <a:ext uri="{9D8B030D-6E8A-4147-A177-3AD203B41FA5}">
                      <a16:colId xmlns:a16="http://schemas.microsoft.com/office/drawing/2014/main" val="2692431530"/>
                    </a:ext>
                  </a:extLst>
                </a:gridCol>
                <a:gridCol w="1571646">
                  <a:extLst>
                    <a:ext uri="{9D8B030D-6E8A-4147-A177-3AD203B41FA5}">
                      <a16:colId xmlns:a16="http://schemas.microsoft.com/office/drawing/2014/main" val="3384364235"/>
                    </a:ext>
                  </a:extLst>
                </a:gridCol>
              </a:tblGrid>
              <a:tr h="370840">
                <a:tc>
                  <a:txBody>
                    <a:bodyPr/>
                    <a:lstStyle/>
                    <a:p>
                      <a:r>
                        <a:rPr kumimoji="0" lang="en-US" altLang="en-US" sz="1800" b="0" i="0" u="none" strike="noStrike" cap="none" normalizeH="0" baseline="0" dirty="0">
                          <a:ln>
                            <a:noFill/>
                          </a:ln>
                          <a:solidFill>
                            <a:schemeClr val="tx1"/>
                          </a:solidFill>
                          <a:effectLst/>
                          <a:latin typeface="Arial (Body)"/>
                          <a:ea typeface="ＭＳ Ｐゴシック" pitchFamily="34" charset="-128"/>
                        </a:rPr>
                        <a:t>Fax machine purchase </a:t>
                      </a:r>
                      <a:r>
                        <a:rPr kumimoji="0" lang="en-US" altLang="en-US" sz="1800" b="1" i="0" u="none" strike="noStrike" cap="none" normalizeH="0" baseline="0" dirty="0">
                          <a:ln>
                            <a:noFill/>
                          </a:ln>
                          <a:solidFill>
                            <a:schemeClr val="tx1"/>
                          </a:solidFill>
                          <a:effectLst/>
                          <a:latin typeface="Arial (Body)"/>
                          <a:ea typeface="ＭＳ Ｐゴシック" pitchFamily="34" charset="-128"/>
                        </a:rPr>
                        <a:t>(Current account, U.S. good import)</a:t>
                      </a:r>
                      <a:endParaRPr lang="en-US" sz="18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cap="none" normalizeH="0" baseline="0" dirty="0">
                          <a:ln>
                            <a:noFill/>
                          </a:ln>
                          <a:solidFill>
                            <a:schemeClr val="tx1"/>
                          </a:solidFill>
                          <a:effectLst/>
                          <a:latin typeface="+mn-lt"/>
                          <a:ea typeface="ＭＳ Ｐゴシック" pitchFamily="34" charset="-128"/>
                        </a:rPr>
                        <a:t> </a:t>
                      </a:r>
                      <a:r>
                        <a:rPr lang="en-US" sz="100" b="0" i="0" u="none" strike="noStrike" cap="none" dirty="0">
                          <a:solidFill>
                            <a:schemeClr val="dk1"/>
                          </a:solidFill>
                          <a:effectLst/>
                          <a:latin typeface="Arial"/>
                          <a:ea typeface="Arial"/>
                          <a:cs typeface="Arial"/>
                          <a:sym typeface="Arial"/>
                        </a:rPr>
                        <a:t>negative $1000</a:t>
                      </a:r>
                      <a:endParaRPr lang="en-US" sz="100" b="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8922730"/>
                  </a:ext>
                </a:extLst>
              </a:tr>
              <a:tr h="370840">
                <a:tc>
                  <a:txBody>
                    <a:bodyPr/>
                    <a:lstStyle/>
                    <a:p>
                      <a:r>
                        <a:rPr kumimoji="0" lang="en-US" altLang="en-US" sz="1800" b="0" i="0" u="none" strike="noStrike" cap="none" normalizeH="0" baseline="0" dirty="0">
                          <a:ln>
                            <a:noFill/>
                          </a:ln>
                          <a:solidFill>
                            <a:schemeClr val="tx1"/>
                          </a:solidFill>
                          <a:effectLst/>
                          <a:latin typeface="Arial (Body)"/>
                          <a:ea typeface="ＭＳ Ｐゴシック" pitchFamily="34" charset="-128"/>
                        </a:rPr>
                        <a:t>Sale of bank deposit </a:t>
                      </a:r>
                      <a:r>
                        <a:rPr kumimoji="0" lang="en-US" altLang="en-US" sz="1800" b="1" i="0" u="none" strike="noStrike" cap="none" normalizeH="0" baseline="0" dirty="0">
                          <a:ln>
                            <a:noFill/>
                          </a:ln>
                          <a:solidFill>
                            <a:schemeClr val="tx1"/>
                          </a:solidFill>
                          <a:effectLst/>
                          <a:latin typeface="Arial (Body)"/>
                          <a:ea typeface="ＭＳ Ｐゴシック" pitchFamily="34" charset="-128"/>
                        </a:rPr>
                        <a:t>(Financial account, U.S. asset sale)</a:t>
                      </a:r>
                      <a:endParaRPr lang="en-US" sz="18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en-US" sz="1800" b="0" i="0" u="none" strike="noStrike" cap="none" normalizeH="0" baseline="0" dirty="0">
                          <a:ln>
                            <a:noFill/>
                          </a:ln>
                          <a:solidFill>
                            <a:schemeClr val="tx1"/>
                          </a:solidFill>
                          <a:effectLst/>
                          <a:latin typeface="+mn-lt"/>
                          <a:ea typeface="ＭＳ Ｐゴシック" pitchFamily="34" charset="-128"/>
                        </a:rPr>
                        <a:t> +$1000</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9644502"/>
                  </a:ext>
                </a:extLst>
              </a:tr>
            </a:tbl>
          </a:graphicData>
        </a:graphic>
      </p:graphicFrame>
      <p:graphicFrame>
        <p:nvGraphicFramePr>
          <p:cNvPr id="3" name="Object 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593562736"/>
              </p:ext>
            </p:extLst>
          </p:nvPr>
        </p:nvGraphicFramePr>
        <p:xfrm>
          <a:off x="7138328" y="3994754"/>
          <a:ext cx="898525" cy="306387"/>
        </p:xfrm>
        <a:graphic>
          <a:graphicData uri="http://schemas.openxmlformats.org/presentationml/2006/ole">
            <mc:AlternateContent xmlns:mc="http://schemas.openxmlformats.org/markup-compatibility/2006">
              <mc:Choice xmlns:v="urn:schemas-microsoft-com:vml" Requires="v">
                <p:oleObj spid="_x0000_s8231" name="Equation" r:id="rId3" imgW="558720" imgH="190440" progId="Equation.DSMT4">
                  <p:embed/>
                </p:oleObj>
              </mc:Choice>
              <mc:Fallback>
                <p:oleObj name="Equation" r:id="rId3" imgW="558720" imgH="190440" progId="Equation.DSMT4">
                  <p:embed/>
                  <p:pic>
                    <p:nvPicPr>
                      <p:cNvPr id="0" name=""/>
                      <p:cNvPicPr/>
                      <p:nvPr/>
                    </p:nvPicPr>
                    <p:blipFill>
                      <a:blip r:embed="rId4"/>
                      <a:stretch>
                        <a:fillRect/>
                      </a:stretch>
                    </p:blipFill>
                    <p:spPr>
                      <a:xfrm>
                        <a:off x="7138328" y="3994754"/>
                        <a:ext cx="898525" cy="30638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23439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Examples of Balance of Payments Accounting </a:t>
            </a:r>
            <a:r>
              <a:rPr lang="en-US" altLang="en-US" sz="2000" b="0" dirty="0"/>
              <a:t>(2 of 4)</a:t>
            </a:r>
            <a:endParaRPr lang="en-IN" dirty="0"/>
          </a:p>
        </p:txBody>
      </p:sp>
      <p:sp>
        <p:nvSpPr>
          <p:cNvPr id="3" name="Content Placeholder 2"/>
          <p:cNvSpPr>
            <a:spLocks noGrp="1"/>
          </p:cNvSpPr>
          <p:nvPr>
            <p:ph sz="quarter" idx="13"/>
          </p:nvPr>
        </p:nvSpPr>
        <p:spPr>
          <a:xfrm>
            <a:off x="457200" y="1556327"/>
            <a:ext cx="8229600" cy="1361044"/>
          </a:xfrm>
        </p:spPr>
        <p:txBody>
          <a:bodyPr lIns="0" tIns="0" rIns="0" bIns="0"/>
          <a:lstStyle/>
          <a:p>
            <a:r>
              <a:rPr lang="en-US" altLang="en-US" dirty="0">
                <a:latin typeface="Arial (Body)"/>
              </a:rPr>
              <a:t>You buy lunch in France and pay by credit card.</a:t>
            </a:r>
          </a:p>
          <a:p>
            <a:r>
              <a:rPr lang="en-US" altLang="en-US" dirty="0">
                <a:latin typeface="Arial (Body)"/>
              </a:rPr>
              <a:t>French restaurant receives payment from your credit card company.</a:t>
            </a:r>
            <a:endParaRPr lang="en-US" dirty="0"/>
          </a:p>
        </p:txBody>
      </p:sp>
      <p:graphicFrame>
        <p:nvGraphicFramePr>
          <p:cNvPr id="5" name="Content Placeholder 4"/>
          <p:cNvGraphicFramePr>
            <a:graphicFrameLocks noGrp="1"/>
          </p:cNvGraphicFramePr>
          <p:nvPr>
            <p:ph sz="quarter" idx="14"/>
            <p:extLst>
              <p:ext uri="{D42A27DB-BD31-4B8C-83A1-F6EECF244321}">
                <p14:modId xmlns:p14="http://schemas.microsoft.com/office/powerpoint/2010/main" val="2453286903"/>
              </p:ext>
            </p:extLst>
          </p:nvPr>
        </p:nvGraphicFramePr>
        <p:xfrm>
          <a:off x="457202" y="3971925"/>
          <a:ext cx="8173412" cy="767080"/>
        </p:xfrm>
        <a:graphic>
          <a:graphicData uri="http://schemas.openxmlformats.org/drawingml/2006/table">
            <a:tbl>
              <a:tblPr firstCol="1" bandRow="1">
                <a:tableStyleId>{40F9630F-82C1-40B7-BC3A-925EFCFF5E92}</a:tableStyleId>
              </a:tblPr>
              <a:tblGrid>
                <a:gridCol w="6937693">
                  <a:extLst>
                    <a:ext uri="{9D8B030D-6E8A-4147-A177-3AD203B41FA5}">
                      <a16:colId xmlns:a16="http://schemas.microsoft.com/office/drawing/2014/main" val="2683636058"/>
                    </a:ext>
                  </a:extLst>
                </a:gridCol>
                <a:gridCol w="1235719">
                  <a:extLst>
                    <a:ext uri="{9D8B030D-6E8A-4147-A177-3AD203B41FA5}">
                      <a16:colId xmlns:a16="http://schemas.microsoft.com/office/drawing/2014/main" val="751516096"/>
                    </a:ext>
                  </a:extLst>
                </a:gridCol>
              </a:tblGrid>
              <a:tr h="370840">
                <a:tc>
                  <a:txBody>
                    <a:bodyPr/>
                    <a:lstStyle/>
                    <a:p>
                      <a:r>
                        <a:rPr kumimoji="0" lang="en-US" altLang="en-US" sz="1800" b="0" i="0" u="none" strike="noStrike" cap="none" normalizeH="0" baseline="0" dirty="0">
                          <a:ln>
                            <a:noFill/>
                          </a:ln>
                          <a:solidFill>
                            <a:schemeClr val="tx1"/>
                          </a:solidFill>
                          <a:effectLst/>
                          <a:latin typeface="Arial (Body)"/>
                          <a:ea typeface="ＭＳ Ｐゴシック" pitchFamily="34" charset="-128"/>
                        </a:rPr>
                        <a:t>Meal purchase </a:t>
                      </a:r>
                      <a:r>
                        <a:rPr kumimoji="0" lang="en-US" altLang="en-US" sz="1800" b="1" i="0" u="none" strike="noStrike" cap="none" normalizeH="0" baseline="0" dirty="0">
                          <a:ln>
                            <a:noFill/>
                          </a:ln>
                          <a:solidFill>
                            <a:schemeClr val="tx1"/>
                          </a:solidFill>
                          <a:effectLst/>
                          <a:latin typeface="Arial (Body)"/>
                          <a:ea typeface="ＭＳ Ｐゴシック" pitchFamily="34" charset="-128"/>
                        </a:rPr>
                        <a:t>(Current account, U.S. service import)</a:t>
                      </a:r>
                      <a:endParaRPr lang="en-US" sz="18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b="1" i="0" u="none" strike="noStrike" cap="none" dirty="0">
                          <a:solidFill>
                            <a:schemeClr val="dk1"/>
                          </a:solidFill>
                          <a:effectLst/>
                          <a:latin typeface="Arial"/>
                          <a:ea typeface="Arial"/>
                          <a:cs typeface="Arial"/>
                          <a:sym typeface="Arial"/>
                        </a:rPr>
                        <a:t>negative $200</a:t>
                      </a:r>
                      <a:endParaRPr lang="en-IN" sz="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344556"/>
                  </a:ext>
                </a:extLst>
              </a:tr>
              <a:tr h="370840">
                <a:tc>
                  <a:txBody>
                    <a:bodyPr/>
                    <a:lstStyle/>
                    <a:p>
                      <a:r>
                        <a:rPr kumimoji="0" lang="en-US" altLang="en-US" sz="1800" b="0" i="0" u="none" strike="noStrike" cap="none" normalizeH="0" baseline="0" dirty="0">
                          <a:ln>
                            <a:noFill/>
                          </a:ln>
                          <a:solidFill>
                            <a:schemeClr val="tx1"/>
                          </a:solidFill>
                          <a:effectLst/>
                          <a:latin typeface="Arial (Body)"/>
                          <a:ea typeface="ＭＳ Ｐゴシック" pitchFamily="34" charset="-128"/>
                        </a:rPr>
                        <a:t>Sale of credit card claim </a:t>
                      </a:r>
                      <a:r>
                        <a:rPr kumimoji="0" lang="en-US" altLang="en-US" sz="1800" b="1" i="0" u="none" strike="noStrike" cap="none" normalizeH="0" baseline="0" dirty="0">
                          <a:ln>
                            <a:noFill/>
                          </a:ln>
                          <a:solidFill>
                            <a:schemeClr val="tx1"/>
                          </a:solidFill>
                          <a:effectLst/>
                          <a:latin typeface="Arial (Body)"/>
                          <a:ea typeface="ＭＳ Ｐゴシック" pitchFamily="34" charset="-128"/>
                        </a:rPr>
                        <a:t>(Financial account, U.S. asset sale)</a:t>
                      </a:r>
                      <a:endParaRPr lang="en-US" sz="18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en-US" sz="2000" b="0" i="0" u="none" strike="noStrike" cap="none" normalizeH="0" baseline="0" dirty="0">
                          <a:ln>
                            <a:noFill/>
                          </a:ln>
                          <a:solidFill>
                            <a:schemeClr val="tx1"/>
                          </a:solidFill>
                          <a:effectLst/>
                          <a:latin typeface="Arial (Body)"/>
                          <a:ea typeface="ＭＳ Ｐゴシック" pitchFamily="34" charset="-128"/>
                        </a:rPr>
                        <a:t> +$200</a:t>
                      </a:r>
                      <a:endParaRPr lang="en-IN"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1495082"/>
                  </a:ext>
                </a:extLst>
              </a:tr>
            </a:tbl>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233477308"/>
              </p:ext>
            </p:extLst>
          </p:nvPr>
        </p:nvGraphicFramePr>
        <p:xfrm>
          <a:off x="7463769" y="3995147"/>
          <a:ext cx="786631" cy="318542"/>
        </p:xfrm>
        <a:graphic>
          <a:graphicData uri="http://schemas.openxmlformats.org/presentationml/2006/ole">
            <mc:AlternateContent xmlns:mc="http://schemas.openxmlformats.org/markup-compatibility/2006">
              <mc:Choice xmlns:v="urn:schemas-microsoft-com:vml" Requires="v">
                <p:oleObj spid="_x0000_s9255" name="Equation" r:id="rId3" imgW="469800" imgH="190440" progId="Equation.DSMT4">
                  <p:embed/>
                </p:oleObj>
              </mc:Choice>
              <mc:Fallback>
                <p:oleObj name="Equation" r:id="rId3" imgW="469800" imgH="190440" progId="Equation.DSMT4">
                  <p:embed/>
                  <p:pic>
                    <p:nvPicPr>
                      <p:cNvPr id="0" name=""/>
                      <p:cNvPicPr/>
                      <p:nvPr/>
                    </p:nvPicPr>
                    <p:blipFill>
                      <a:blip r:embed="rId4"/>
                      <a:stretch>
                        <a:fillRect/>
                      </a:stretch>
                    </p:blipFill>
                    <p:spPr>
                      <a:xfrm>
                        <a:off x="7463769" y="3995147"/>
                        <a:ext cx="786631" cy="31854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848572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Examples of Balance of Payments Accounting </a:t>
            </a:r>
            <a:r>
              <a:rPr lang="en-US" altLang="en-US" sz="2000" b="0" dirty="0"/>
              <a:t>(3 of 4)</a:t>
            </a:r>
            <a:endParaRPr lang="en-IN" dirty="0"/>
          </a:p>
        </p:txBody>
      </p:sp>
      <p:sp>
        <p:nvSpPr>
          <p:cNvPr id="3" name="Content Placeholder 2"/>
          <p:cNvSpPr>
            <a:spLocks noGrp="1"/>
          </p:cNvSpPr>
          <p:nvPr>
            <p:ph sz="quarter" idx="13"/>
          </p:nvPr>
        </p:nvSpPr>
        <p:spPr>
          <a:xfrm>
            <a:off x="457200" y="1556327"/>
            <a:ext cx="8229600" cy="1128816"/>
          </a:xfrm>
        </p:spPr>
        <p:txBody>
          <a:bodyPr lIns="0" tIns="0" rIns="0" bIns="0"/>
          <a:lstStyle/>
          <a:p>
            <a:r>
              <a:rPr lang="en-US" altLang="en-US" dirty="0">
                <a:latin typeface="Arial (Body)"/>
              </a:rPr>
              <a:t>You buy a share of B</a:t>
            </a:r>
            <a:r>
              <a:rPr lang="en-US" altLang="en-US" sz="100" dirty="0">
                <a:latin typeface="Arial (Body)"/>
              </a:rPr>
              <a:t> </a:t>
            </a:r>
            <a:r>
              <a:rPr lang="en-US" altLang="en-US" dirty="0">
                <a:latin typeface="Arial (Body)"/>
              </a:rPr>
              <a:t>P.</a:t>
            </a:r>
          </a:p>
          <a:p>
            <a:r>
              <a:rPr lang="en-US" altLang="en-US" dirty="0">
                <a:latin typeface="Arial (Body)"/>
              </a:rPr>
              <a:t>B</a:t>
            </a:r>
            <a:r>
              <a:rPr lang="en-US" altLang="en-US" sz="100" dirty="0">
                <a:latin typeface="Arial (Body)"/>
              </a:rPr>
              <a:t> </a:t>
            </a:r>
            <a:r>
              <a:rPr lang="en-US" altLang="en-US" dirty="0">
                <a:latin typeface="Arial (Body)"/>
              </a:rPr>
              <a:t>P deposits the money in a U.S. bank.</a:t>
            </a:r>
          </a:p>
        </p:txBody>
      </p:sp>
      <p:graphicFrame>
        <p:nvGraphicFramePr>
          <p:cNvPr id="5" name="Content Placeholder 4"/>
          <p:cNvGraphicFramePr>
            <a:graphicFrameLocks noGrp="1"/>
          </p:cNvGraphicFramePr>
          <p:nvPr>
            <p:ph sz="quarter" idx="14"/>
            <p:extLst>
              <p:ext uri="{D42A27DB-BD31-4B8C-83A1-F6EECF244321}">
                <p14:modId xmlns:p14="http://schemas.microsoft.com/office/powerpoint/2010/main" val="1356643292"/>
              </p:ext>
            </p:extLst>
          </p:nvPr>
        </p:nvGraphicFramePr>
        <p:xfrm>
          <a:off x="457201" y="3971925"/>
          <a:ext cx="8106228" cy="781729"/>
        </p:xfrm>
        <a:graphic>
          <a:graphicData uri="http://schemas.openxmlformats.org/drawingml/2006/table">
            <a:tbl>
              <a:tblPr firstCol="1" bandRow="1">
                <a:tableStyleId>{40F9630F-82C1-40B7-BC3A-925EFCFF5E92}</a:tableStyleId>
              </a:tblPr>
              <a:tblGrid>
                <a:gridCol w="6885186">
                  <a:extLst>
                    <a:ext uri="{9D8B030D-6E8A-4147-A177-3AD203B41FA5}">
                      <a16:colId xmlns:a16="http://schemas.microsoft.com/office/drawing/2014/main" val="3261486027"/>
                    </a:ext>
                  </a:extLst>
                </a:gridCol>
                <a:gridCol w="1221042">
                  <a:extLst>
                    <a:ext uri="{9D8B030D-6E8A-4147-A177-3AD203B41FA5}">
                      <a16:colId xmlns:a16="http://schemas.microsoft.com/office/drawing/2014/main" val="3097672081"/>
                    </a:ext>
                  </a:extLst>
                </a:gridCol>
              </a:tblGrid>
              <a:tr h="410889">
                <a:tc>
                  <a:txBody>
                    <a:bodyPr/>
                    <a:lstStyle/>
                    <a:p>
                      <a:r>
                        <a:rPr kumimoji="0" lang="en-US" altLang="en-US" sz="1800" b="0" i="0" u="none" strike="noStrike" cap="none" normalizeH="0" baseline="0" dirty="0">
                          <a:ln>
                            <a:noFill/>
                          </a:ln>
                          <a:solidFill>
                            <a:schemeClr val="tx1"/>
                          </a:solidFill>
                          <a:effectLst/>
                          <a:latin typeface="Arial (Body)"/>
                          <a:ea typeface="ＭＳ Ｐゴシック" pitchFamily="34" charset="-128"/>
                        </a:rPr>
                        <a:t>Stock purchase </a:t>
                      </a:r>
                      <a:r>
                        <a:rPr kumimoji="0" lang="en-US" altLang="en-US" sz="1800" b="1" i="0" u="none" strike="noStrike" cap="none" normalizeH="0" baseline="0" dirty="0">
                          <a:ln>
                            <a:noFill/>
                          </a:ln>
                          <a:solidFill>
                            <a:schemeClr val="tx1"/>
                          </a:solidFill>
                          <a:effectLst/>
                          <a:latin typeface="Arial (Body)"/>
                          <a:ea typeface="ＭＳ Ｐゴシック" pitchFamily="34" charset="-128"/>
                        </a:rPr>
                        <a:t>(Financial account, U.S. asset purchase)</a:t>
                      </a:r>
                      <a:endParaRPr lang="en-US" sz="18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US" sz="100" b="0" dirty="0">
                          <a:solidFill>
                            <a:srgbClr val="000000"/>
                          </a:solidFill>
                          <a:effectLst/>
                          <a:latin typeface="+mn-lt"/>
                          <a:ea typeface="Calibri" panose="020F0502020204030204" pitchFamily="34" charset="0"/>
                          <a:cs typeface="Calibri" panose="020F0502020204030204" pitchFamily="34" charset="0"/>
                        </a:rPr>
                        <a:t>negative $95</a:t>
                      </a:r>
                      <a:endParaRPr lang="en-IN" sz="100" b="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7311519"/>
                  </a:ext>
                </a:extLst>
              </a:tr>
              <a:tr h="370840">
                <a:tc>
                  <a:txBody>
                    <a:bodyPr/>
                    <a:lstStyle/>
                    <a:p>
                      <a:r>
                        <a:rPr kumimoji="0" lang="en-US" altLang="en-US" sz="1800" b="0" i="0" u="none" strike="noStrike" cap="none" normalizeH="0" baseline="0" dirty="0">
                          <a:ln>
                            <a:noFill/>
                          </a:ln>
                          <a:solidFill>
                            <a:schemeClr val="tx1"/>
                          </a:solidFill>
                          <a:effectLst/>
                          <a:latin typeface="Arial (Body)"/>
                          <a:ea typeface="ＭＳ Ｐゴシック" pitchFamily="34" charset="-128"/>
                        </a:rPr>
                        <a:t>Bank deposit </a:t>
                      </a:r>
                      <a:r>
                        <a:rPr kumimoji="0" lang="en-US" altLang="en-US" sz="1800" b="1" i="0" u="none" strike="noStrike" cap="none" normalizeH="0" baseline="0" dirty="0">
                          <a:ln>
                            <a:noFill/>
                          </a:ln>
                          <a:solidFill>
                            <a:schemeClr val="tx1"/>
                          </a:solidFill>
                          <a:effectLst/>
                          <a:latin typeface="Arial (Body)"/>
                          <a:ea typeface="ＭＳ Ｐゴシック" pitchFamily="34" charset="-128"/>
                        </a:rPr>
                        <a:t>(Financial account, U.S. asset sale)</a:t>
                      </a:r>
                      <a:endParaRPr lang="en-US" sz="1800" dirty="0">
                        <a:solidFill>
                          <a:schemeClr val="tx1"/>
                        </a:solidFill>
                        <a:latin typeface="Arial (Body)"/>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en-US" sz="1800" b="0" i="0" u="none" strike="noStrike" cap="none" normalizeH="0" baseline="0" dirty="0">
                          <a:ln>
                            <a:noFill/>
                          </a:ln>
                          <a:solidFill>
                            <a:schemeClr val="tx1"/>
                          </a:solidFill>
                          <a:effectLst/>
                          <a:latin typeface="+mn-lt"/>
                          <a:ea typeface="ＭＳ Ｐゴシック" pitchFamily="34" charset="-128"/>
                        </a:rPr>
                        <a:t>+$95</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7216126"/>
                  </a:ext>
                </a:extLst>
              </a:tr>
            </a:tbl>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362806268"/>
              </p:ext>
            </p:extLst>
          </p:nvPr>
        </p:nvGraphicFramePr>
        <p:xfrm>
          <a:off x="7390084" y="4038054"/>
          <a:ext cx="577850" cy="277813"/>
        </p:xfrm>
        <a:graphic>
          <a:graphicData uri="http://schemas.openxmlformats.org/presentationml/2006/ole">
            <mc:AlternateContent xmlns:mc="http://schemas.openxmlformats.org/markup-compatibility/2006">
              <mc:Choice xmlns:v="urn:schemas-microsoft-com:vml" Requires="v">
                <p:oleObj spid="_x0000_s10279" name="Equation" r:id="rId3" imgW="393480" imgH="190440" progId="Equation.DSMT4">
                  <p:embed/>
                </p:oleObj>
              </mc:Choice>
              <mc:Fallback>
                <p:oleObj name="Equation" r:id="rId3" imgW="393480" imgH="190440" progId="Equation.DSMT4">
                  <p:embed/>
                  <p:pic>
                    <p:nvPicPr>
                      <p:cNvPr id="0" name=""/>
                      <p:cNvPicPr/>
                      <p:nvPr/>
                    </p:nvPicPr>
                    <p:blipFill>
                      <a:blip r:embed="rId4"/>
                      <a:stretch>
                        <a:fillRect/>
                      </a:stretch>
                    </p:blipFill>
                    <p:spPr>
                      <a:xfrm>
                        <a:off x="7390084" y="4038054"/>
                        <a:ext cx="577850" cy="277813"/>
                      </a:xfrm>
                      <a:prstGeom prst="rect">
                        <a:avLst/>
                      </a:prstGeom>
                      <a:solidFill>
                        <a:schemeClr val="lt1"/>
                      </a:solidFill>
                    </p:spPr>
                  </p:pic>
                </p:oleObj>
              </mc:Fallback>
            </mc:AlternateContent>
          </a:graphicData>
        </a:graphic>
      </p:graphicFrame>
    </p:spTree>
    <p:extLst>
      <p:ext uri="{BB962C8B-B14F-4D97-AF65-F5344CB8AC3E}">
        <p14:creationId xmlns:p14="http://schemas.microsoft.com/office/powerpoint/2010/main" val="2954340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Examples of Balance of Payments Accounting </a:t>
            </a:r>
            <a:r>
              <a:rPr lang="en-US" altLang="en-US" sz="2000" b="0" dirty="0"/>
              <a:t>(4 of 4)</a:t>
            </a:r>
            <a:endParaRPr lang="en-IN" dirty="0"/>
          </a:p>
        </p:txBody>
      </p:sp>
      <p:sp>
        <p:nvSpPr>
          <p:cNvPr id="3" name="Content Placeholder 2"/>
          <p:cNvSpPr>
            <a:spLocks noGrp="1"/>
          </p:cNvSpPr>
          <p:nvPr>
            <p:ph sz="quarter" idx="13"/>
          </p:nvPr>
        </p:nvSpPr>
        <p:spPr>
          <a:xfrm>
            <a:off x="457200" y="1556326"/>
            <a:ext cx="8229600" cy="1709387"/>
          </a:xfrm>
        </p:spPr>
        <p:txBody>
          <a:bodyPr lIns="0" tIns="0" rIns="0" bIns="0"/>
          <a:lstStyle/>
          <a:p>
            <a:pPr eaLnBrk="1" hangingPunct="1"/>
            <a:r>
              <a:rPr lang="en-US" altLang="en-US" dirty="0">
                <a:latin typeface="Arial (Body)"/>
              </a:rPr>
              <a:t>U.S. banks forgive a $5,000 debt owed by the government of </a:t>
            </a:r>
            <a:r>
              <a:rPr lang="en-US" altLang="en-US" dirty="0" err="1">
                <a:latin typeface="Arial (Body)"/>
              </a:rPr>
              <a:t>Bygonia</a:t>
            </a:r>
            <a:r>
              <a:rPr lang="en-US" altLang="en-US" dirty="0">
                <a:latin typeface="Arial (Body)"/>
              </a:rPr>
              <a:t> through debt restructuring.</a:t>
            </a:r>
          </a:p>
          <a:p>
            <a:pPr eaLnBrk="1" hangingPunct="1"/>
            <a:r>
              <a:rPr lang="en-US" altLang="en-US" dirty="0">
                <a:latin typeface="Arial (Body)"/>
              </a:rPr>
              <a:t>U.S. banks who hold the debt thereby reduce the debt by crediting </a:t>
            </a:r>
            <a:r>
              <a:rPr lang="en-US" altLang="en-US" dirty="0" err="1">
                <a:latin typeface="Arial (Body)"/>
              </a:rPr>
              <a:t>Bygonia’s</a:t>
            </a:r>
            <a:r>
              <a:rPr lang="en-US" altLang="en-US" dirty="0">
                <a:latin typeface="Arial (Body)"/>
              </a:rPr>
              <a:t> bank accounts.</a:t>
            </a:r>
            <a:endParaRPr lang="en-IN" dirty="0"/>
          </a:p>
        </p:txBody>
      </p:sp>
      <p:graphicFrame>
        <p:nvGraphicFramePr>
          <p:cNvPr id="5" name="Content Placeholder 4"/>
          <p:cNvGraphicFramePr>
            <a:graphicFrameLocks noGrp="1"/>
          </p:cNvGraphicFramePr>
          <p:nvPr>
            <p:ph sz="quarter" idx="14"/>
            <p:extLst>
              <p:ext uri="{D42A27DB-BD31-4B8C-83A1-F6EECF244321}">
                <p14:modId xmlns:p14="http://schemas.microsoft.com/office/powerpoint/2010/main" val="262071765"/>
              </p:ext>
            </p:extLst>
          </p:nvPr>
        </p:nvGraphicFramePr>
        <p:xfrm>
          <a:off x="457202" y="3971925"/>
          <a:ext cx="8120741" cy="1280160"/>
        </p:xfrm>
        <a:graphic>
          <a:graphicData uri="http://schemas.openxmlformats.org/drawingml/2006/table">
            <a:tbl>
              <a:tblPr firstCol="1" bandRow="1">
                <a:tableStyleId>{40F9630F-82C1-40B7-BC3A-925EFCFF5E92}</a:tableStyleId>
              </a:tblPr>
              <a:tblGrid>
                <a:gridCol w="6706539">
                  <a:extLst>
                    <a:ext uri="{9D8B030D-6E8A-4147-A177-3AD203B41FA5}">
                      <a16:colId xmlns:a16="http://schemas.microsoft.com/office/drawing/2014/main" val="3425034198"/>
                    </a:ext>
                  </a:extLst>
                </a:gridCol>
                <a:gridCol w="1414202">
                  <a:extLst>
                    <a:ext uri="{9D8B030D-6E8A-4147-A177-3AD203B41FA5}">
                      <a16:colId xmlns:a16="http://schemas.microsoft.com/office/drawing/2014/main" val="345201300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cap="none" normalizeH="0" baseline="0" dirty="0">
                          <a:ln>
                            <a:noFill/>
                          </a:ln>
                          <a:solidFill>
                            <a:schemeClr val="tx1"/>
                          </a:solidFill>
                          <a:effectLst/>
                          <a:latin typeface="+mn-lt"/>
                          <a:ea typeface="ＭＳ Ｐゴシック" pitchFamily="34" charset="-128"/>
                        </a:rPr>
                        <a:t>U.S. banks debt forgiveness </a:t>
                      </a:r>
                      <a:r>
                        <a:rPr kumimoji="0" lang="en-US" altLang="en-US" sz="1800" b="1" i="0" u="none" strike="noStrike" cap="none" normalizeH="0" baseline="0" dirty="0">
                          <a:ln>
                            <a:noFill/>
                          </a:ln>
                          <a:solidFill>
                            <a:schemeClr val="tx1"/>
                          </a:solidFill>
                          <a:effectLst/>
                          <a:latin typeface="+mn-lt"/>
                          <a:ea typeface="ＭＳ Ｐゴシック" pitchFamily="34" charset="-128"/>
                        </a:rPr>
                        <a:t>(capital account, U.S. transfer payment)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 b="1" i="0" u="none" strike="noStrike" cap="none" dirty="0">
                          <a:solidFill>
                            <a:schemeClr val="dk1"/>
                          </a:solidFill>
                          <a:effectLst/>
                          <a:latin typeface="Arial"/>
                          <a:ea typeface="Arial"/>
                          <a:cs typeface="Arial"/>
                          <a:sym typeface="Arial"/>
                        </a:rPr>
                        <a:t>negative $5,000</a:t>
                      </a:r>
                      <a:endParaRPr lang="en-IN" sz="1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5460816"/>
                  </a:ext>
                </a:extLst>
              </a:tr>
              <a:tr h="370840">
                <a:tc>
                  <a:txBody>
                    <a:bodyPr/>
                    <a:lstStyle/>
                    <a:p>
                      <a:r>
                        <a:rPr kumimoji="0" lang="en-US" altLang="en-US" sz="1800" b="0" i="0" u="none" strike="noStrike" cap="none" normalizeH="0" baseline="0" dirty="0">
                          <a:ln>
                            <a:noFill/>
                          </a:ln>
                          <a:solidFill>
                            <a:schemeClr val="tx1"/>
                          </a:solidFill>
                          <a:effectLst/>
                          <a:latin typeface="+mn-lt"/>
                          <a:ea typeface="ＭＳ Ｐゴシック" pitchFamily="34" charset="-128"/>
                        </a:rPr>
                        <a:t>Reduction in bank’s claims on </a:t>
                      </a:r>
                      <a:r>
                        <a:rPr kumimoji="0" lang="en-US" altLang="en-US" sz="1800" b="0" i="0" u="none" strike="noStrike" cap="none" normalizeH="0" baseline="0" dirty="0" err="1">
                          <a:ln>
                            <a:noFill/>
                          </a:ln>
                          <a:solidFill>
                            <a:schemeClr val="tx1"/>
                          </a:solidFill>
                          <a:effectLst/>
                          <a:latin typeface="+mn-lt"/>
                          <a:ea typeface="ＭＳ Ｐゴシック" pitchFamily="34" charset="-128"/>
                        </a:rPr>
                        <a:t>Bygonia</a:t>
                      </a:r>
                      <a:r>
                        <a:rPr kumimoji="0" lang="en-US" altLang="en-US" sz="1800" b="0" i="0" u="none" strike="noStrike" cap="none" normalizeH="0" baseline="0" dirty="0">
                          <a:ln>
                            <a:noFill/>
                          </a:ln>
                          <a:solidFill>
                            <a:schemeClr val="tx1"/>
                          </a:solidFill>
                          <a:effectLst/>
                          <a:latin typeface="+mn-lt"/>
                          <a:ea typeface="ＭＳ Ｐゴシック" pitchFamily="34" charset="-128"/>
                        </a:rPr>
                        <a:t> </a:t>
                      </a:r>
                      <a:r>
                        <a:rPr kumimoji="0" lang="en-US" altLang="en-US" sz="1800" b="1" i="0" u="none" strike="noStrike" cap="none" normalizeH="0" baseline="0" dirty="0">
                          <a:ln>
                            <a:noFill/>
                          </a:ln>
                          <a:solidFill>
                            <a:schemeClr val="tx1"/>
                          </a:solidFill>
                          <a:effectLst/>
                          <a:latin typeface="+mn-lt"/>
                          <a:ea typeface="ＭＳ Ｐゴシック" pitchFamily="34" charset="-128"/>
                        </a:rPr>
                        <a:t>(financial account, U.S. asset sale)</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0" lang="en-US" altLang="en-US" sz="1800" b="0" i="0" u="none" strike="noStrike" cap="none" normalizeH="0" baseline="0" dirty="0">
                          <a:ln>
                            <a:noFill/>
                          </a:ln>
                          <a:solidFill>
                            <a:schemeClr val="tx1"/>
                          </a:solidFill>
                          <a:effectLst/>
                          <a:latin typeface="+mn-lt"/>
                          <a:ea typeface="ＭＳ Ｐゴシック" pitchFamily="34" charset="-128"/>
                        </a:rPr>
                        <a:t>+$5,000</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22075349"/>
                  </a:ext>
                </a:extLst>
              </a:tr>
            </a:tbl>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183403514"/>
              </p:ext>
            </p:extLst>
          </p:nvPr>
        </p:nvGraphicFramePr>
        <p:xfrm>
          <a:off x="7224838" y="4173313"/>
          <a:ext cx="981768" cy="306803"/>
        </p:xfrm>
        <a:graphic>
          <a:graphicData uri="http://schemas.openxmlformats.org/presentationml/2006/ole">
            <mc:AlternateContent xmlns:mc="http://schemas.openxmlformats.org/markup-compatibility/2006">
              <mc:Choice xmlns:v="urn:schemas-microsoft-com:vml" Requires="v">
                <p:oleObj spid="_x0000_s11303" name="Equation" r:id="rId3" imgW="609480" imgH="190440" progId="Equation.DSMT4">
                  <p:embed/>
                </p:oleObj>
              </mc:Choice>
              <mc:Fallback>
                <p:oleObj name="Equation" r:id="rId3" imgW="609480" imgH="190440" progId="Equation.DSMT4">
                  <p:embed/>
                  <p:pic>
                    <p:nvPicPr>
                      <p:cNvPr id="0" name=""/>
                      <p:cNvPicPr/>
                      <p:nvPr/>
                    </p:nvPicPr>
                    <p:blipFill>
                      <a:blip r:embed="rId4"/>
                      <a:stretch>
                        <a:fillRect/>
                      </a:stretch>
                    </p:blipFill>
                    <p:spPr>
                      <a:xfrm>
                        <a:off x="7224838" y="4173313"/>
                        <a:ext cx="981768" cy="30680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856009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sz="2800" dirty="0"/>
              <a:t>How Do the Balance of Payments Accounts Balance?</a:t>
            </a:r>
            <a:endParaRPr lang="en-IN" sz="2800" dirty="0"/>
          </a:p>
        </p:txBody>
      </p:sp>
      <p:sp>
        <p:nvSpPr>
          <p:cNvPr id="6" name="Content Placeholder 5"/>
          <p:cNvSpPr>
            <a:spLocks noGrp="1"/>
          </p:cNvSpPr>
          <p:nvPr>
            <p:ph sz="quarter" idx="13"/>
          </p:nvPr>
        </p:nvSpPr>
        <p:spPr>
          <a:xfrm>
            <a:off x="457200" y="1556327"/>
            <a:ext cx="8229600" cy="892583"/>
          </a:xfrm>
        </p:spPr>
        <p:txBody>
          <a:bodyPr lIns="0" tIns="0" rIns="0" bIns="0"/>
          <a:lstStyle/>
          <a:p>
            <a:pPr eaLnBrk="1" hangingPunct="1"/>
            <a:r>
              <a:rPr lang="en-US" altLang="en-US" sz="2200" dirty="0">
                <a:latin typeface="Arial (Body)"/>
              </a:rPr>
              <a:t>Due to the double entry of each transaction, the balance of payments accounts will balance by the following equation:</a:t>
            </a:r>
          </a:p>
        </p:txBody>
      </p:sp>
      <p:sp>
        <p:nvSpPr>
          <p:cNvPr id="2" name="Content Placeholder 1">
            <a:extLst>
              <a:ext uri="{FF2B5EF4-FFF2-40B4-BE49-F238E27FC236}">
                <a16:creationId xmlns:a16="http://schemas.microsoft.com/office/drawing/2014/main" id="{CDA6F087-B856-4EE2-B6F3-0445B1FBE839}"/>
              </a:ext>
            </a:extLst>
          </p:cNvPr>
          <p:cNvSpPr>
            <a:spLocks noGrp="1"/>
          </p:cNvSpPr>
          <p:nvPr>
            <p:ph sz="quarter" idx="14"/>
          </p:nvPr>
        </p:nvSpPr>
        <p:spPr>
          <a:xfrm>
            <a:off x="457199" y="2784259"/>
            <a:ext cx="8413531" cy="600075"/>
          </a:xfrm>
        </p:spPr>
        <p:txBody>
          <a:bodyPr/>
          <a:lstStyle/>
          <a:p>
            <a:pPr marL="432" indent="0">
              <a:buNone/>
            </a:pPr>
            <a:r>
              <a:rPr lang="en-US" altLang="en-US" sz="2400" b="1" dirty="0">
                <a:latin typeface="Arial (Body)"/>
              </a:rPr>
              <a:t>current account + financial account + capital account = 0</a:t>
            </a:r>
            <a:endParaRPr lang="en-IN" sz="2400" dirty="0"/>
          </a:p>
        </p:txBody>
      </p:sp>
    </p:spTree>
    <p:extLst>
      <p:ext uri="{BB962C8B-B14F-4D97-AF65-F5344CB8AC3E}">
        <p14:creationId xmlns:p14="http://schemas.microsoft.com/office/powerpoint/2010/main" val="60164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(1 of 8)</a:t>
            </a:r>
            <a:endParaRPr lang="en-IN" dirty="0"/>
          </a:p>
        </p:txBody>
      </p:sp>
      <p:sp>
        <p:nvSpPr>
          <p:cNvPr id="3" name="Content Placeholder 2"/>
          <p:cNvSpPr>
            <a:spLocks noGrp="1"/>
          </p:cNvSpPr>
          <p:nvPr>
            <p:ph sz="quarter" idx="13"/>
          </p:nvPr>
        </p:nvSpPr>
        <p:spPr>
          <a:xfrm>
            <a:off x="466602" y="1552575"/>
            <a:ext cx="8220197" cy="511175"/>
          </a:xfrm>
        </p:spPr>
        <p:txBody>
          <a:bodyPr/>
          <a:lstStyle/>
          <a:p>
            <a:pPr marL="432" indent="0">
              <a:buNone/>
            </a:pPr>
            <a:r>
              <a:rPr lang="en-US" altLang="en-US" dirty="0">
                <a:latin typeface="Arial (Body)"/>
              </a:rPr>
              <a:t>The three broad accounts are more finely divided:</a:t>
            </a:r>
            <a:endParaRPr lang="en-IN" dirty="0"/>
          </a:p>
        </p:txBody>
      </p:sp>
      <p:sp>
        <p:nvSpPr>
          <p:cNvPr id="4" name="Content Placeholder 3"/>
          <p:cNvSpPr>
            <a:spLocks noGrp="1"/>
          </p:cNvSpPr>
          <p:nvPr>
            <p:ph sz="quarter" idx="14"/>
          </p:nvPr>
        </p:nvSpPr>
        <p:spPr>
          <a:xfrm>
            <a:off x="466602" y="2153713"/>
            <a:ext cx="6154915" cy="518370"/>
          </a:xfrm>
        </p:spPr>
        <p:txBody>
          <a:bodyPr/>
          <a:lstStyle/>
          <a:p>
            <a:r>
              <a:rPr lang="en-US" altLang="en-US" b="1" dirty="0">
                <a:latin typeface="Arial (Body)"/>
              </a:rPr>
              <a:t>Current account</a:t>
            </a:r>
            <a:r>
              <a:rPr lang="en-US" altLang="en-US" dirty="0">
                <a:latin typeface="Arial (Body)"/>
              </a:rPr>
              <a:t>: imports and exports</a:t>
            </a:r>
          </a:p>
        </p:txBody>
      </p:sp>
      <p:sp>
        <p:nvSpPr>
          <p:cNvPr id="5" name="Content Placeholder 4"/>
          <p:cNvSpPr>
            <a:spLocks noGrp="1"/>
          </p:cNvSpPr>
          <p:nvPr>
            <p:ph sz="quarter" idx="15"/>
          </p:nvPr>
        </p:nvSpPr>
        <p:spPr>
          <a:xfrm>
            <a:off x="466602" y="2868952"/>
            <a:ext cx="8220197" cy="2648980"/>
          </a:xfrm>
        </p:spPr>
        <p:txBody>
          <a:bodyPr tIns="0" rIns="0" bIns="0"/>
          <a:lstStyle/>
          <a:p>
            <a:pPr marL="741600" lvl="1" indent="-428400">
              <a:buFont typeface="+mj-lt"/>
              <a:buAutoNum type="arabicPeriod"/>
            </a:pPr>
            <a:r>
              <a:rPr lang="en-US" altLang="en-US" dirty="0">
                <a:latin typeface="Arial (Body)"/>
              </a:rPr>
              <a:t>merchandise (goods like D</a:t>
            </a:r>
            <a:r>
              <a:rPr lang="en-US" altLang="en-US" sz="100" dirty="0">
                <a:latin typeface="Arial (Body)"/>
              </a:rPr>
              <a:t> </a:t>
            </a:r>
            <a:r>
              <a:rPr lang="en-US" altLang="en-US" dirty="0">
                <a:latin typeface="Arial (Body)"/>
              </a:rPr>
              <a:t>V</a:t>
            </a:r>
            <a:r>
              <a:rPr lang="en-US" altLang="en-US" sz="100" dirty="0">
                <a:latin typeface="Arial (Body)"/>
              </a:rPr>
              <a:t> </a:t>
            </a:r>
            <a:r>
              <a:rPr lang="en-US" altLang="en-US" dirty="0">
                <a:latin typeface="Arial (Body)"/>
              </a:rPr>
              <a:t>D</a:t>
            </a:r>
            <a:r>
              <a:rPr lang="en-US" altLang="en-US" sz="100" dirty="0">
                <a:latin typeface="Arial (Body)"/>
              </a:rPr>
              <a:t> </a:t>
            </a:r>
            <a:r>
              <a:rPr lang="en-US" altLang="en-US" dirty="0">
                <a:latin typeface="Arial (Body)"/>
              </a:rPr>
              <a:t>s) </a:t>
            </a:r>
          </a:p>
          <a:p>
            <a:pPr marL="741600" lvl="1" indent="-428400">
              <a:buFont typeface="+mj-lt"/>
              <a:buAutoNum type="arabicPeriod" startAt="2"/>
            </a:pPr>
            <a:r>
              <a:rPr lang="en-US" altLang="en-US" dirty="0">
                <a:latin typeface="Arial (Body)"/>
              </a:rPr>
              <a:t>services (payments for legal services, shipping services, tourist meals, etc.)</a:t>
            </a:r>
          </a:p>
          <a:p>
            <a:pPr marL="741600" lvl="1" indent="-428400">
              <a:buFont typeface="+mj-lt"/>
              <a:buAutoNum type="arabicPeriod" startAt="3"/>
            </a:pPr>
            <a:r>
              <a:rPr lang="en-US" altLang="en-US" dirty="0">
                <a:latin typeface="Arial (Body)"/>
              </a:rPr>
              <a:t>income receipts (interest and dividend payments, earnings of firms and workers operating in foreign countries)</a:t>
            </a:r>
          </a:p>
        </p:txBody>
      </p:sp>
    </p:spTree>
    <p:extLst>
      <p:ext uri="{BB962C8B-B14F-4D97-AF65-F5344CB8AC3E}">
        <p14:creationId xmlns:p14="http://schemas.microsoft.com/office/powerpoint/2010/main" val="1770624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(2 of 8)</a:t>
            </a:r>
            <a:endParaRPr lang="en-IN" dirty="0"/>
          </a:p>
        </p:txBody>
      </p:sp>
      <p:sp>
        <p:nvSpPr>
          <p:cNvPr id="3" name="Content Placeholder 2"/>
          <p:cNvSpPr>
            <a:spLocks noGrp="1"/>
          </p:cNvSpPr>
          <p:nvPr>
            <p:ph sz="quarter" idx="13"/>
          </p:nvPr>
        </p:nvSpPr>
        <p:spPr>
          <a:xfrm>
            <a:off x="457200" y="1556327"/>
            <a:ext cx="8229600" cy="2844223"/>
          </a:xfrm>
        </p:spPr>
        <p:txBody>
          <a:bodyPr/>
          <a:lstStyle/>
          <a:p>
            <a:r>
              <a:rPr lang="en-US" altLang="en-US" b="1" dirty="0">
                <a:latin typeface="Arial (Body)"/>
              </a:rPr>
              <a:t>Current account</a:t>
            </a:r>
            <a:r>
              <a:rPr lang="en-US" altLang="en-US" dirty="0">
                <a:latin typeface="Arial (Body)"/>
              </a:rPr>
              <a:t>: </a:t>
            </a:r>
            <a:r>
              <a:rPr lang="en-US" altLang="en-US" b="1" dirty="0">
                <a:latin typeface="Arial (Body)"/>
              </a:rPr>
              <a:t>net unilateral transfers </a:t>
            </a:r>
          </a:p>
          <a:p>
            <a:pPr lvl="1"/>
            <a:r>
              <a:rPr lang="en-US" altLang="en-US" dirty="0">
                <a:latin typeface="Arial (Body)"/>
              </a:rPr>
              <a:t>gifts (transfers) across countries that do not purchase a good or service nor serve as income for goods and services produced</a:t>
            </a:r>
          </a:p>
          <a:p>
            <a:r>
              <a:rPr lang="en-US" altLang="en-US" b="1" dirty="0">
                <a:latin typeface="Arial (Body)"/>
              </a:rPr>
              <a:t>Capital account</a:t>
            </a:r>
            <a:r>
              <a:rPr lang="en-US" altLang="en-US" dirty="0">
                <a:latin typeface="Arial (Body)"/>
              </a:rPr>
              <a:t>: records special transfers of assets, but this is a minor account for the United States</a:t>
            </a:r>
            <a:endParaRPr lang="en-IN" dirty="0"/>
          </a:p>
        </p:txBody>
      </p:sp>
    </p:spTree>
    <p:extLst>
      <p:ext uri="{BB962C8B-B14F-4D97-AF65-F5344CB8AC3E}">
        <p14:creationId xmlns:p14="http://schemas.microsoft.com/office/powerpoint/2010/main" val="3553917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(3 of 8)</a:t>
            </a:r>
            <a:endParaRPr lang="en-IN" dirty="0"/>
          </a:p>
        </p:txBody>
      </p:sp>
      <p:sp>
        <p:nvSpPr>
          <p:cNvPr id="3" name="Content Placeholder 2"/>
          <p:cNvSpPr>
            <a:spLocks noGrp="1"/>
          </p:cNvSpPr>
          <p:nvPr>
            <p:ph sz="quarter" idx="13"/>
          </p:nvPr>
        </p:nvSpPr>
        <p:spPr>
          <a:xfrm>
            <a:off x="466602" y="1552575"/>
            <a:ext cx="8220197" cy="3096000"/>
          </a:xfrm>
        </p:spPr>
        <p:txBody>
          <a:bodyPr lIns="0" tIns="0" rIns="0" bIns="0"/>
          <a:lstStyle/>
          <a:p>
            <a:pPr eaLnBrk="1" hangingPunct="1"/>
            <a:r>
              <a:rPr lang="en-US" altLang="en-US" sz="2000" b="1" dirty="0"/>
              <a:t>Financial account</a:t>
            </a:r>
            <a:r>
              <a:rPr lang="en-US" altLang="en-US" sz="2000" dirty="0"/>
              <a:t>: the difference between sales of domestic assets to foreigners and purchases of foreign assets by domestic citizens.</a:t>
            </a:r>
          </a:p>
          <a:p>
            <a:pPr eaLnBrk="1" hangingPunct="1"/>
            <a:r>
              <a:rPr lang="en-US" altLang="en-US" sz="2000" b="1" dirty="0"/>
              <a:t>Financial inflow </a:t>
            </a:r>
          </a:p>
          <a:p>
            <a:pPr lvl="1" eaLnBrk="1" hangingPunct="1"/>
            <a:r>
              <a:rPr lang="en-US" altLang="en-US" sz="2000" dirty="0"/>
              <a:t>Foreigners loan to domestic citizens by buying domestic assets.  </a:t>
            </a:r>
          </a:p>
          <a:p>
            <a:pPr lvl="1" eaLnBrk="1" hangingPunct="1"/>
            <a:r>
              <a:rPr lang="en-US" altLang="en-US" sz="2000" dirty="0"/>
              <a:t>Domestic assets sold to foreigners are a credit (+) because the domestic economy acquires money during the transaction.</a:t>
            </a:r>
          </a:p>
          <a:p>
            <a:pPr eaLnBrk="1" hangingPunct="1"/>
            <a:r>
              <a:rPr lang="en-US" altLang="en-US" sz="2000" b="1" dirty="0"/>
              <a:t>Financial outflow </a:t>
            </a:r>
          </a:p>
          <a:p>
            <a:pPr lvl="1" eaLnBrk="1" hangingPunct="1"/>
            <a:r>
              <a:rPr lang="en-US" altLang="en-US" sz="2000" dirty="0"/>
              <a:t>Domestic citizens loan to foreigners by buying foreign assets.</a:t>
            </a:r>
          </a:p>
        </p:txBody>
      </p:sp>
      <p:sp>
        <p:nvSpPr>
          <p:cNvPr id="6" name="Content Placeholder 3"/>
          <p:cNvSpPr>
            <a:spLocks noGrp="1"/>
          </p:cNvSpPr>
          <p:nvPr>
            <p:ph sz="quarter" idx="14"/>
          </p:nvPr>
        </p:nvSpPr>
        <p:spPr>
          <a:xfrm>
            <a:off x="467474" y="4793621"/>
            <a:ext cx="7391413" cy="360000"/>
          </a:xfrm>
        </p:spPr>
        <p:txBody>
          <a:bodyPr lIns="0" tIns="0" rIns="0" bIns="0"/>
          <a:lstStyle/>
          <a:p>
            <a:pPr lvl="1"/>
            <a:r>
              <a:rPr lang="en-US" altLang="en-US" sz="2000" dirty="0"/>
              <a:t>Foreign assets purchased by domestic citizens are a debit</a:t>
            </a:r>
            <a:endParaRPr lang="en-IN" sz="2000" dirty="0"/>
          </a:p>
        </p:txBody>
      </p:sp>
      <p:graphicFrame>
        <p:nvGraphicFramePr>
          <p:cNvPr id="4" name="Object 3" descr="left parenthesis minus symbol right parenthesis"/>
          <p:cNvGraphicFramePr>
            <a:graphicFrameLocks noChangeAspect="1"/>
          </p:cNvGraphicFramePr>
          <p:nvPr>
            <p:extLst>
              <p:ext uri="{D42A27DB-BD31-4B8C-83A1-F6EECF244321}">
                <p14:modId xmlns:p14="http://schemas.microsoft.com/office/powerpoint/2010/main" val="292691674"/>
              </p:ext>
            </p:extLst>
          </p:nvPr>
        </p:nvGraphicFramePr>
        <p:xfrm>
          <a:off x="7962165" y="4778314"/>
          <a:ext cx="404979" cy="359982"/>
        </p:xfrm>
        <a:graphic>
          <a:graphicData uri="http://schemas.openxmlformats.org/presentationml/2006/ole">
            <mc:AlternateContent xmlns:mc="http://schemas.openxmlformats.org/markup-compatibility/2006">
              <mc:Choice xmlns:v="urn:schemas-microsoft-com:vml" Requires="v">
                <p:oleObj spid="_x0000_s12327"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7962165" y="4778314"/>
                        <a:ext cx="404979" cy="359982"/>
                      </a:xfrm>
                      <a:prstGeom prst="rect">
                        <a:avLst/>
                      </a:prstGeom>
                    </p:spPr>
                  </p:pic>
                </p:oleObj>
              </mc:Fallback>
            </mc:AlternateContent>
          </a:graphicData>
        </a:graphic>
      </p:graphicFrame>
      <p:sp>
        <p:nvSpPr>
          <p:cNvPr id="7" name="Content Placeholder 4"/>
          <p:cNvSpPr>
            <a:spLocks noGrp="1"/>
          </p:cNvSpPr>
          <p:nvPr>
            <p:ph sz="quarter" idx="15"/>
          </p:nvPr>
        </p:nvSpPr>
        <p:spPr>
          <a:xfrm>
            <a:off x="469900" y="5217271"/>
            <a:ext cx="8216899" cy="700640"/>
          </a:xfrm>
        </p:spPr>
        <p:txBody>
          <a:bodyPr lIns="0" tIns="0" rIns="0" bIns="0"/>
          <a:lstStyle/>
          <a:p>
            <a:pPr marL="741600" lvl="1" indent="0">
              <a:buNone/>
            </a:pPr>
            <a:r>
              <a:rPr lang="en-US" altLang="en-US" sz="2000" dirty="0"/>
              <a:t>because the domestic economy gives up money during the transaction.</a:t>
            </a:r>
            <a:endParaRPr lang="en-IN" sz="2000" dirty="0"/>
          </a:p>
        </p:txBody>
      </p:sp>
    </p:spTree>
    <p:extLst>
      <p:ext uri="{BB962C8B-B14F-4D97-AF65-F5344CB8AC3E}">
        <p14:creationId xmlns:p14="http://schemas.microsoft.com/office/powerpoint/2010/main" val="528432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Balance of Payments Accounts </a:t>
            </a:r>
            <a:r>
              <a:rPr lang="en-US" altLang="en-US" sz="2000" b="0" dirty="0"/>
              <a:t>(4 of 8)</a:t>
            </a:r>
            <a:endParaRPr lang="en-IN" dirty="0"/>
          </a:p>
        </p:txBody>
      </p:sp>
      <p:sp>
        <p:nvSpPr>
          <p:cNvPr id="7" name="Content Placeholder 6"/>
          <p:cNvSpPr>
            <a:spLocks noGrp="1"/>
          </p:cNvSpPr>
          <p:nvPr>
            <p:ph sz="quarter" idx="13"/>
          </p:nvPr>
        </p:nvSpPr>
        <p:spPr>
          <a:xfrm>
            <a:off x="457200" y="1556327"/>
            <a:ext cx="7803931" cy="624898"/>
          </a:xfrm>
        </p:spPr>
        <p:txBody>
          <a:bodyPr/>
          <a:lstStyle/>
          <a:p>
            <a:pPr eaLnBrk="1" hangingPunct="1"/>
            <a:r>
              <a:rPr lang="en-US" altLang="en-US" b="1" dirty="0">
                <a:latin typeface="Arial (Body)"/>
              </a:rPr>
              <a:t>Financial account</a:t>
            </a:r>
            <a:r>
              <a:rPr lang="en-US" altLang="en-US" dirty="0">
                <a:latin typeface="Arial (Body)"/>
              </a:rPr>
              <a:t> has at least three subcategories:</a:t>
            </a:r>
          </a:p>
        </p:txBody>
      </p:sp>
      <p:sp>
        <p:nvSpPr>
          <p:cNvPr id="2" name="Content Placeholder 1"/>
          <p:cNvSpPr>
            <a:spLocks noGrp="1"/>
          </p:cNvSpPr>
          <p:nvPr>
            <p:ph sz="quarter" idx="14"/>
          </p:nvPr>
        </p:nvSpPr>
        <p:spPr>
          <a:xfrm>
            <a:off x="457200" y="2265306"/>
            <a:ext cx="8229600" cy="1489075"/>
          </a:xfrm>
        </p:spPr>
        <p:txBody>
          <a:bodyPr/>
          <a:lstStyle/>
          <a:p>
            <a:pPr marL="741600" lvl="1" indent="-428400">
              <a:buFont typeface="Times" pitchFamily="-1" charset="0"/>
              <a:buAutoNum type="arabicPeriod"/>
            </a:pPr>
            <a:r>
              <a:rPr lang="en-US" altLang="en-US" dirty="0">
                <a:latin typeface="Arial (Body)"/>
              </a:rPr>
              <a:t>Official (international) reserve assets </a:t>
            </a:r>
          </a:p>
          <a:p>
            <a:pPr marL="741600" lvl="1" indent="-428400">
              <a:buFont typeface="Times" pitchFamily="-1" charset="0"/>
              <a:buAutoNum type="arabicPeriod"/>
            </a:pPr>
            <a:r>
              <a:rPr lang="en-US" altLang="en-US" dirty="0">
                <a:latin typeface="Arial (Body)"/>
              </a:rPr>
              <a:t>All other assets</a:t>
            </a:r>
          </a:p>
          <a:p>
            <a:pPr marL="741600" lvl="1" indent="-428400">
              <a:buFont typeface="Times" pitchFamily="-1" charset="0"/>
              <a:buAutoNum type="arabicPeriod"/>
            </a:pPr>
            <a:r>
              <a:rPr lang="en-US" altLang="en-US" dirty="0">
                <a:latin typeface="Arial (Body)"/>
              </a:rPr>
              <a:t>Statistical discrepancy</a:t>
            </a:r>
          </a:p>
        </p:txBody>
      </p:sp>
    </p:spTree>
    <p:extLst>
      <p:ext uri="{BB962C8B-B14F-4D97-AF65-F5344CB8AC3E}">
        <p14:creationId xmlns:p14="http://schemas.microsoft.com/office/powerpoint/2010/main" val="579370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(5 of 8)</a:t>
            </a:r>
            <a:endParaRPr lang="en-IN" dirty="0"/>
          </a:p>
        </p:txBody>
      </p:sp>
      <p:sp>
        <p:nvSpPr>
          <p:cNvPr id="3" name="Content Placeholder 2"/>
          <p:cNvSpPr>
            <a:spLocks noGrp="1"/>
          </p:cNvSpPr>
          <p:nvPr>
            <p:ph sz="quarter" idx="13"/>
          </p:nvPr>
        </p:nvSpPr>
        <p:spPr>
          <a:xfrm>
            <a:off x="457200" y="1556327"/>
            <a:ext cx="8229600" cy="3758623"/>
          </a:xfrm>
        </p:spPr>
        <p:txBody>
          <a:bodyPr/>
          <a:lstStyle/>
          <a:p>
            <a:pPr eaLnBrk="1" hangingPunct="1"/>
            <a:r>
              <a:rPr lang="en-US" altLang="en-US" b="1" dirty="0">
                <a:latin typeface="Arial (Body)"/>
              </a:rPr>
              <a:t>Statistical discrepancy</a:t>
            </a:r>
          </a:p>
          <a:p>
            <a:pPr lvl="1" eaLnBrk="1" hangingPunct="1"/>
            <a:r>
              <a:rPr lang="en-US" altLang="en-US" dirty="0">
                <a:latin typeface="Arial (Body)"/>
              </a:rPr>
              <a:t>Data from a transaction may come from different sources that differ in coverage, accuracy, and timing. </a:t>
            </a:r>
          </a:p>
          <a:p>
            <a:pPr lvl="1" eaLnBrk="1" hangingPunct="1"/>
            <a:r>
              <a:rPr lang="en-US" altLang="en-US" dirty="0">
                <a:latin typeface="Arial (Body)"/>
              </a:rPr>
              <a:t>The balance of payments accounts therefore seldom balance in practice.</a:t>
            </a:r>
          </a:p>
          <a:p>
            <a:pPr lvl="1" eaLnBrk="1" hangingPunct="1"/>
            <a:r>
              <a:rPr lang="en-US" altLang="en-US" dirty="0">
                <a:latin typeface="Arial (Body)"/>
              </a:rPr>
              <a:t>The statistical discrepancy is the account added to or subtracted from the financial account to make it balance with the current account and capital account.</a:t>
            </a:r>
          </a:p>
        </p:txBody>
      </p:sp>
    </p:spTree>
    <p:extLst>
      <p:ext uri="{BB962C8B-B14F-4D97-AF65-F5344CB8AC3E}">
        <p14:creationId xmlns:p14="http://schemas.microsoft.com/office/powerpoint/2010/main" val="2170178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Balance of Payments Accounts </a:t>
            </a:r>
            <a:r>
              <a:rPr lang="en-US" altLang="en-US" sz="2000" b="0" dirty="0"/>
              <a:t>(6 of 8)</a:t>
            </a:r>
            <a:endParaRPr lang="en-IN" dirty="0"/>
          </a:p>
        </p:txBody>
      </p:sp>
      <p:sp>
        <p:nvSpPr>
          <p:cNvPr id="3" name="Content Placeholder 2"/>
          <p:cNvSpPr>
            <a:spLocks noGrp="1"/>
          </p:cNvSpPr>
          <p:nvPr>
            <p:ph sz="quarter" idx="13"/>
          </p:nvPr>
        </p:nvSpPr>
        <p:spPr>
          <a:xfrm>
            <a:off x="457200" y="1556327"/>
            <a:ext cx="7930055" cy="4586896"/>
          </a:xfrm>
        </p:spPr>
        <p:txBody>
          <a:bodyPr/>
          <a:lstStyle/>
          <a:p>
            <a:r>
              <a:rPr lang="en-US" sz="2000" dirty="0">
                <a:latin typeface="Arial (Body)"/>
              </a:rPr>
              <a:t>An economy’s </a:t>
            </a:r>
            <a:r>
              <a:rPr lang="en-US" sz="2000" b="1" dirty="0">
                <a:latin typeface="Arial (Body)"/>
              </a:rPr>
              <a:t>central bank </a:t>
            </a:r>
            <a:r>
              <a:rPr lang="en-US" sz="2000" dirty="0">
                <a:latin typeface="Arial (Body)"/>
              </a:rPr>
              <a:t>is the institution responsible for managing the supply of money. </a:t>
            </a:r>
          </a:p>
          <a:p>
            <a:pPr lvl="1"/>
            <a:r>
              <a:rPr lang="en-US" sz="2000" dirty="0">
                <a:latin typeface="Arial (Body)"/>
              </a:rPr>
              <a:t>In the United States, the central bank is the Federal Reserve.</a:t>
            </a:r>
          </a:p>
          <a:p>
            <a:r>
              <a:rPr lang="en-US" sz="2000" dirty="0">
                <a:latin typeface="Arial (Body)"/>
              </a:rPr>
              <a:t>Central banks often buy or sell international reserves in private asset markets to affect macroeconomic conditions in their economies. </a:t>
            </a:r>
          </a:p>
          <a:p>
            <a:r>
              <a:rPr lang="en-US" sz="2000" dirty="0">
                <a:latin typeface="Arial (Body)"/>
              </a:rPr>
              <a:t>Official transactions of this type are called </a:t>
            </a:r>
            <a:r>
              <a:rPr lang="en-US" sz="2000" b="1" dirty="0">
                <a:latin typeface="Arial (Body)"/>
              </a:rPr>
              <a:t>official foreign exchange intervention</a:t>
            </a:r>
            <a:r>
              <a:rPr lang="en-US" sz="2000" dirty="0">
                <a:latin typeface="Arial (Body)"/>
              </a:rPr>
              <a:t>. </a:t>
            </a:r>
          </a:p>
          <a:p>
            <a:r>
              <a:rPr lang="en-US" sz="2000" dirty="0">
                <a:latin typeface="Arial (Body)"/>
              </a:rPr>
              <a:t>One reason why foreign exchange intervention can alter macroeconomic conditions is that it is a way for the central bank to inject money into the economy or withdraw it from circulation</a:t>
            </a:r>
            <a:endParaRPr lang="en-IN" sz="2000" dirty="0"/>
          </a:p>
        </p:txBody>
      </p:sp>
    </p:spTree>
    <p:extLst>
      <p:ext uri="{BB962C8B-B14F-4D97-AF65-F5344CB8AC3E}">
        <p14:creationId xmlns:p14="http://schemas.microsoft.com/office/powerpoint/2010/main" val="1375635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Balance of Payments Accounts </a:t>
            </a:r>
            <a:r>
              <a:rPr lang="en-US" altLang="en-US" sz="2000" b="0" dirty="0"/>
              <a:t>(7 of 8)</a:t>
            </a:r>
            <a:endParaRPr lang="en-IN" dirty="0"/>
          </a:p>
        </p:txBody>
      </p:sp>
      <p:sp>
        <p:nvSpPr>
          <p:cNvPr id="5" name="Content Placeholder 4"/>
          <p:cNvSpPr>
            <a:spLocks noGrp="1"/>
          </p:cNvSpPr>
          <p:nvPr>
            <p:ph sz="quarter" idx="13"/>
          </p:nvPr>
        </p:nvSpPr>
        <p:spPr>
          <a:xfrm>
            <a:off x="457200" y="1552576"/>
            <a:ext cx="8367486" cy="2709862"/>
          </a:xfrm>
        </p:spPr>
        <p:txBody>
          <a:bodyPr lIns="0" tIns="0" rIns="0" bIns="0"/>
          <a:lstStyle/>
          <a:p>
            <a:pPr eaLnBrk="1" hangingPunct="1"/>
            <a:r>
              <a:rPr lang="en-US" altLang="en-US" sz="2000" b="1" dirty="0">
                <a:latin typeface="Arial (Body)"/>
              </a:rPr>
              <a:t>Official (international) reserve assets</a:t>
            </a:r>
            <a:r>
              <a:rPr lang="en-US" altLang="en-US" sz="2000" dirty="0">
                <a:latin typeface="Arial (Body)"/>
              </a:rPr>
              <a:t>: foreign assets held by central banks to cushion against financial instability.</a:t>
            </a:r>
          </a:p>
          <a:p>
            <a:pPr lvl="1" indent="-284400" eaLnBrk="1" hangingPunct="1"/>
            <a:r>
              <a:rPr lang="en-US" altLang="en-US" sz="2000" dirty="0">
                <a:latin typeface="Arial (Body)"/>
              </a:rPr>
              <a:t>Assets include government bonds, currency, gold, and accounts at the International Monetary Fund.</a:t>
            </a:r>
          </a:p>
          <a:p>
            <a:pPr lvl="1" indent="-284400" eaLnBrk="1" hangingPunct="1"/>
            <a:r>
              <a:rPr lang="en-US" altLang="en-US" sz="2000" dirty="0">
                <a:latin typeface="Arial (Body)"/>
              </a:rPr>
              <a:t>Official reserve assets owned by (sold to) foreign central banks are a credit (+) because the domestic central bank can spend more money to cushion against instability.</a:t>
            </a:r>
          </a:p>
          <a:p>
            <a:pPr lvl="1" indent="-284400" eaLnBrk="1" hangingPunct="1"/>
            <a:r>
              <a:rPr lang="en-US" altLang="en-US" sz="2000" dirty="0">
                <a:latin typeface="Arial (Body)"/>
              </a:rPr>
              <a:t>Official reserve assets owned by (purchased by) the domestic</a:t>
            </a:r>
            <a:endParaRPr lang="en-IN" sz="2000" dirty="0"/>
          </a:p>
        </p:txBody>
      </p:sp>
      <p:sp>
        <p:nvSpPr>
          <p:cNvPr id="6" name="Content Placeholder 5"/>
          <p:cNvSpPr>
            <a:spLocks noGrp="1"/>
          </p:cNvSpPr>
          <p:nvPr>
            <p:ph sz="quarter" idx="14"/>
          </p:nvPr>
        </p:nvSpPr>
        <p:spPr>
          <a:xfrm>
            <a:off x="457200" y="4394760"/>
            <a:ext cx="3517900" cy="361950"/>
          </a:xfrm>
        </p:spPr>
        <p:txBody>
          <a:bodyPr lIns="0" tIns="0" rIns="0" bIns="0"/>
          <a:lstStyle/>
          <a:p>
            <a:pPr marL="741600" lvl="1" indent="0">
              <a:buNone/>
            </a:pPr>
            <a:r>
              <a:rPr lang="en-US" altLang="en-US" sz="2000" dirty="0">
                <a:latin typeface="Arial (Body)"/>
              </a:rPr>
              <a:t>central bank are a debit</a:t>
            </a:r>
            <a:endParaRPr lang="en-IN" sz="2000" dirty="0"/>
          </a:p>
        </p:txBody>
      </p:sp>
      <p:graphicFrame>
        <p:nvGraphicFramePr>
          <p:cNvPr id="9" name="Object 8" descr="left parenthesis minus symbol right parenthesis"/>
          <p:cNvGraphicFramePr>
            <a:graphicFrameLocks noChangeAspect="1"/>
          </p:cNvGraphicFramePr>
          <p:nvPr>
            <p:extLst>
              <p:ext uri="{D42A27DB-BD31-4B8C-83A1-F6EECF244321}">
                <p14:modId xmlns:p14="http://schemas.microsoft.com/office/powerpoint/2010/main" val="2119689235"/>
              </p:ext>
            </p:extLst>
          </p:nvPr>
        </p:nvGraphicFramePr>
        <p:xfrm>
          <a:off x="4040498" y="4396422"/>
          <a:ext cx="368163" cy="327256"/>
        </p:xfrm>
        <a:graphic>
          <a:graphicData uri="http://schemas.openxmlformats.org/presentationml/2006/ole">
            <mc:AlternateContent xmlns:mc="http://schemas.openxmlformats.org/markup-compatibility/2006">
              <mc:Choice xmlns:v="urn:schemas-microsoft-com:vml" Requires="v">
                <p:oleObj spid="_x0000_s13351" name="Equation" r:id="rId3" imgW="228600" imgH="203040" progId="Equation.DSMT4">
                  <p:embed/>
                </p:oleObj>
              </mc:Choice>
              <mc:Fallback>
                <p:oleObj name="Equation" r:id="rId3" imgW="228600" imgH="203040" progId="Equation.DSMT4">
                  <p:embed/>
                  <p:pic>
                    <p:nvPicPr>
                      <p:cNvPr id="4" name="Object 3"/>
                      <p:cNvPicPr/>
                      <p:nvPr/>
                    </p:nvPicPr>
                    <p:blipFill>
                      <a:blip r:embed="rId4"/>
                      <a:stretch>
                        <a:fillRect/>
                      </a:stretch>
                    </p:blipFill>
                    <p:spPr>
                      <a:xfrm>
                        <a:off x="4040498" y="4396422"/>
                        <a:ext cx="368163" cy="327256"/>
                      </a:xfrm>
                      <a:prstGeom prst="rect">
                        <a:avLst/>
                      </a:prstGeom>
                    </p:spPr>
                  </p:pic>
                </p:oleObj>
              </mc:Fallback>
            </mc:AlternateContent>
          </a:graphicData>
        </a:graphic>
      </p:graphicFrame>
      <p:sp>
        <p:nvSpPr>
          <p:cNvPr id="7" name="Content Placeholder 6"/>
          <p:cNvSpPr>
            <a:spLocks noGrp="1"/>
          </p:cNvSpPr>
          <p:nvPr>
            <p:ph sz="quarter" idx="15"/>
          </p:nvPr>
        </p:nvSpPr>
        <p:spPr>
          <a:xfrm>
            <a:off x="4507396" y="4394761"/>
            <a:ext cx="4103204" cy="328918"/>
          </a:xfrm>
        </p:spPr>
        <p:txBody>
          <a:bodyPr lIns="0" tIns="0" rIns="0" bIns="0"/>
          <a:lstStyle/>
          <a:p>
            <a:pPr marL="0" lvl="1" indent="0">
              <a:buNone/>
            </a:pPr>
            <a:r>
              <a:rPr lang="en-US" altLang="en-US" sz="2000" dirty="0">
                <a:latin typeface="Arial (Body)"/>
              </a:rPr>
              <a:t>because the domestic central bank</a:t>
            </a:r>
            <a:endParaRPr lang="en-IN" sz="2000" dirty="0"/>
          </a:p>
        </p:txBody>
      </p:sp>
      <p:sp>
        <p:nvSpPr>
          <p:cNvPr id="8" name="Content Placeholder 7"/>
          <p:cNvSpPr>
            <a:spLocks noGrp="1"/>
          </p:cNvSpPr>
          <p:nvPr>
            <p:ph sz="quarter" idx="16"/>
          </p:nvPr>
        </p:nvSpPr>
        <p:spPr>
          <a:xfrm>
            <a:off x="457201" y="4827222"/>
            <a:ext cx="6815958" cy="477634"/>
          </a:xfrm>
        </p:spPr>
        <p:txBody>
          <a:bodyPr lIns="0" tIns="0" rIns="0" bIns="0"/>
          <a:lstStyle/>
          <a:p>
            <a:pPr marL="741600" lvl="1" indent="0">
              <a:buNone/>
            </a:pPr>
            <a:r>
              <a:rPr lang="en-US" altLang="en-US" sz="2000" dirty="0"/>
              <a:t>can spend less money to cushion against instability.</a:t>
            </a:r>
            <a:endParaRPr lang="en-IN" sz="2000" dirty="0"/>
          </a:p>
        </p:txBody>
      </p:sp>
    </p:spTree>
    <p:extLst>
      <p:ext uri="{BB962C8B-B14F-4D97-AF65-F5344CB8AC3E}">
        <p14:creationId xmlns:p14="http://schemas.microsoft.com/office/powerpoint/2010/main" val="4147997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dirty="0"/>
              <a:t>Balance of Payments Accounts </a:t>
            </a:r>
            <a:r>
              <a:rPr lang="en-US" altLang="en-US" sz="2000" b="0" dirty="0"/>
              <a:t>(8 of 8)</a:t>
            </a:r>
            <a:endParaRPr lang="en-IN" dirty="0"/>
          </a:p>
        </p:txBody>
      </p:sp>
      <p:sp>
        <p:nvSpPr>
          <p:cNvPr id="8" name="Content Placeholder 7"/>
          <p:cNvSpPr>
            <a:spLocks noGrp="1"/>
          </p:cNvSpPr>
          <p:nvPr>
            <p:ph sz="quarter" idx="13"/>
          </p:nvPr>
        </p:nvSpPr>
        <p:spPr>
          <a:xfrm>
            <a:off x="457199" y="1556326"/>
            <a:ext cx="8338457" cy="4641274"/>
          </a:xfrm>
        </p:spPr>
        <p:txBody>
          <a:bodyPr/>
          <a:lstStyle/>
          <a:p>
            <a:pPr eaLnBrk="1" hangingPunct="1"/>
            <a:r>
              <a:rPr lang="en-US" altLang="en-US" sz="2200" dirty="0">
                <a:latin typeface="Arial (Body)"/>
              </a:rPr>
              <a:t>The negative value of the official reserve assets is called the </a:t>
            </a:r>
            <a:r>
              <a:rPr lang="en-US" altLang="en-US" sz="2200" b="1" dirty="0">
                <a:latin typeface="Arial (Body)"/>
              </a:rPr>
              <a:t>official settlements balance</a:t>
            </a:r>
            <a:r>
              <a:rPr lang="en-US" altLang="en-US" sz="2200" dirty="0">
                <a:latin typeface="Arial (Body)"/>
              </a:rPr>
              <a:t> or “</a:t>
            </a:r>
            <a:r>
              <a:rPr lang="en-US" altLang="ja-JP" sz="2200" dirty="0">
                <a:latin typeface="Arial (Body)"/>
              </a:rPr>
              <a:t>balance of payments.”</a:t>
            </a:r>
          </a:p>
          <a:p>
            <a:pPr lvl="1" eaLnBrk="1" hangingPunct="1"/>
            <a:r>
              <a:rPr lang="en-US" altLang="en-US" sz="2200" dirty="0">
                <a:latin typeface="Arial (Body)"/>
              </a:rPr>
              <a:t>It is the sum of the current account, the capital account, the non-reserve portion of the financial account, and the statistical discrepancy.</a:t>
            </a:r>
          </a:p>
          <a:p>
            <a:pPr lvl="1" eaLnBrk="1" hangingPunct="1"/>
            <a:r>
              <a:rPr lang="en-US" altLang="en-US" sz="2200" dirty="0">
                <a:latin typeface="Arial (Body)"/>
              </a:rPr>
              <a:t>A negative official settlements balance may indicate that a country </a:t>
            </a:r>
          </a:p>
          <a:p>
            <a:pPr lvl="2" eaLnBrk="1" hangingPunct="1"/>
            <a:r>
              <a:rPr lang="en-US" altLang="en-US" sz="2200" dirty="0">
                <a:latin typeface="Arial (Body)"/>
              </a:rPr>
              <a:t>is depleting its official international reserve assets, or </a:t>
            </a:r>
          </a:p>
          <a:p>
            <a:pPr lvl="2" eaLnBrk="1" hangingPunct="1"/>
            <a:r>
              <a:rPr lang="en-US" altLang="en-US" sz="2200" dirty="0">
                <a:latin typeface="Arial (Body)"/>
              </a:rPr>
              <a:t>may be incurring large debts to foreign central banks so that the domestic central bank can spend a lot to protect against financial instability.</a:t>
            </a:r>
            <a:endParaRPr lang="en-IN" sz="2200" dirty="0"/>
          </a:p>
        </p:txBody>
      </p:sp>
    </p:spTree>
    <p:extLst>
      <p:ext uri="{BB962C8B-B14F-4D97-AF65-F5344CB8AC3E}">
        <p14:creationId xmlns:p14="http://schemas.microsoft.com/office/powerpoint/2010/main" val="3452856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Mystery of the Missing Deficit</a:t>
            </a:r>
            <a:r>
              <a:rPr lang="en-US" altLang="en-US" dirty="0"/>
              <a:t> </a:t>
            </a:r>
            <a:r>
              <a:rPr lang="en-US" altLang="en-US" sz="2000" b="0" dirty="0"/>
              <a:t>(1 of 1)</a:t>
            </a:r>
            <a:endParaRPr lang="en-IN" dirty="0"/>
          </a:p>
        </p:txBody>
      </p:sp>
      <p:sp>
        <p:nvSpPr>
          <p:cNvPr id="3" name="Content Placeholder 2"/>
          <p:cNvSpPr>
            <a:spLocks noGrp="1"/>
          </p:cNvSpPr>
          <p:nvPr>
            <p:ph sz="quarter" idx="13"/>
          </p:nvPr>
        </p:nvSpPr>
        <p:spPr>
          <a:xfrm>
            <a:off x="457200" y="1556327"/>
            <a:ext cx="8229600" cy="4499416"/>
          </a:xfrm>
        </p:spPr>
        <p:txBody>
          <a:bodyPr/>
          <a:lstStyle/>
          <a:p>
            <a:pPr eaLnBrk="1" hangingPunct="1"/>
            <a:r>
              <a:rPr lang="en-US" altLang="en-US" dirty="0">
                <a:latin typeface="Arial (Body)"/>
              </a:rPr>
              <a:t>Because each country’s exports are other countries’ imports, the world’s current account balances must add up to zero. But they don’t.</a:t>
            </a:r>
          </a:p>
          <a:p>
            <a:pPr eaLnBrk="1" hangingPunct="1"/>
            <a:r>
              <a:rPr lang="en-US" altLang="en-US" dirty="0">
                <a:latin typeface="Arial (Body)"/>
              </a:rPr>
              <a:t>In all but one year between 1980 and 2003, the sum of global current accounts was negative.</a:t>
            </a:r>
          </a:p>
          <a:p>
            <a:pPr lvl="1"/>
            <a:r>
              <a:rPr lang="en-US" altLang="en-US" dirty="0">
                <a:latin typeface="Arial (Body)"/>
              </a:rPr>
              <a:t>Partly due to incomplete reporting of international investment income?</a:t>
            </a:r>
          </a:p>
          <a:p>
            <a:pPr eaLnBrk="1" hangingPunct="1"/>
            <a:r>
              <a:rPr lang="en-US" altLang="en-US" dirty="0">
                <a:latin typeface="Arial (Body)"/>
              </a:rPr>
              <a:t>Since 2004, the measured global current account has been positive.</a:t>
            </a:r>
          </a:p>
          <a:p>
            <a:pPr lvl="1"/>
            <a:r>
              <a:rPr lang="en-US" altLang="en-US" dirty="0">
                <a:latin typeface="Arial (Body)"/>
              </a:rPr>
              <a:t>Partly due to growing international trade in services?</a:t>
            </a:r>
          </a:p>
        </p:txBody>
      </p:sp>
    </p:spTree>
    <p:extLst>
      <p:ext uri="{BB962C8B-B14F-4D97-AF65-F5344CB8AC3E}">
        <p14:creationId xmlns:p14="http://schemas.microsoft.com/office/powerpoint/2010/main" val="2717408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Global Current Account Discrepancy Since 1980</a:t>
            </a:r>
            <a:endParaRPr lang="en-IN" sz="3200" dirty="0"/>
          </a:p>
        </p:txBody>
      </p:sp>
      <p:pic>
        <p:nvPicPr>
          <p:cNvPr id="6" name="Content Placeholder 5" descr="A bar graph depicts account discrepancy.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09780" y="1560918"/>
            <a:ext cx="3924438" cy="3036544"/>
          </a:xfrm>
        </p:spPr>
      </p:pic>
      <p:sp>
        <p:nvSpPr>
          <p:cNvPr id="5" name="Content Placeholder 4"/>
          <p:cNvSpPr>
            <a:spLocks noGrp="1"/>
          </p:cNvSpPr>
          <p:nvPr>
            <p:ph sz="quarter" idx="14"/>
          </p:nvPr>
        </p:nvSpPr>
        <p:spPr>
          <a:xfrm>
            <a:off x="457200" y="4676629"/>
            <a:ext cx="8229600" cy="1629576"/>
          </a:xfrm>
        </p:spPr>
        <p:txBody>
          <a:bodyPr/>
          <a:lstStyle/>
          <a:p>
            <a:pPr marL="0" indent="0">
              <a:buFont typeface="Arial" panose="020B0604020202020204" pitchFamily="34" charset="0"/>
              <a:buNone/>
            </a:pPr>
            <a:r>
              <a:rPr lang="en-US" sz="1800" dirty="0">
                <a:latin typeface="Arial (Body)"/>
              </a:rPr>
              <a:t>Once big and negative, implying missing current account credits, the world’s current account balance has become big and positive, implying missing current account debits.</a:t>
            </a:r>
          </a:p>
          <a:p>
            <a:pPr marL="0" indent="0">
              <a:spcBef>
                <a:spcPts val="600"/>
              </a:spcBef>
              <a:buFont typeface="Arial" panose="020B0604020202020204" pitchFamily="34" charset="0"/>
              <a:buNone/>
            </a:pPr>
            <a:r>
              <a:rPr lang="en-US" sz="1800" b="1" dirty="0">
                <a:latin typeface="Arial (Body)"/>
              </a:rPr>
              <a:t>Source: </a:t>
            </a:r>
            <a:r>
              <a:rPr lang="en-US" sz="1800" dirty="0">
                <a:latin typeface="Arial (Body)"/>
              </a:rPr>
              <a:t>International Monetary Fund, </a:t>
            </a:r>
            <a:r>
              <a:rPr lang="en-US" sz="1800" b="1" dirty="0">
                <a:latin typeface="Arial (Body)"/>
              </a:rPr>
              <a:t>World Economic Outlook </a:t>
            </a:r>
            <a:r>
              <a:rPr lang="en-US" sz="1800" dirty="0">
                <a:latin typeface="Arial (Body)"/>
              </a:rPr>
              <a:t>database, October 2019.</a:t>
            </a:r>
            <a:endParaRPr lang="en-IN" sz="1800" dirty="0"/>
          </a:p>
        </p:txBody>
      </p:sp>
    </p:spTree>
    <p:extLst>
      <p:ext uri="{BB962C8B-B14F-4D97-AF65-F5344CB8AC3E}">
        <p14:creationId xmlns:p14="http://schemas.microsoft.com/office/powerpoint/2010/main" val="2502920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cs typeface="Times New Roman" panose="02020603050405020304" pitchFamily="18" charset="0"/>
              </a:rPr>
              <a:t>Table 13.2 U.S. Balance of Payments Accounts for 2019 (Billions of Dollars) </a:t>
            </a:r>
            <a:r>
              <a:rPr lang="en-US" altLang="en-US" sz="2000" b="0" dirty="0">
                <a:cs typeface="Times New Roman" panose="02020603050405020304" pitchFamily="18" charset="0"/>
              </a:rPr>
              <a:t>(1 of 2)</a:t>
            </a:r>
            <a:endParaRPr lang="en-IN" sz="2000" b="0" dirty="0">
              <a:cs typeface="Times New Roman" panose="02020603050405020304" pitchFamily="18" charset="0"/>
            </a:endParaRPr>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445552258"/>
              </p:ext>
            </p:extLst>
          </p:nvPr>
        </p:nvGraphicFramePr>
        <p:xfrm>
          <a:off x="457200" y="1555750"/>
          <a:ext cx="7917498" cy="3709680"/>
        </p:xfrm>
        <a:graphic>
          <a:graphicData uri="http://schemas.openxmlformats.org/drawingml/2006/table">
            <a:tbl>
              <a:tblPr firstRow="1" bandRow="1">
                <a:tableStyleId>{40F9630F-82C1-40B7-BC3A-925EFCFF5E92}</a:tableStyleId>
              </a:tblPr>
              <a:tblGrid>
                <a:gridCol w="1427480">
                  <a:extLst>
                    <a:ext uri="{9D8B030D-6E8A-4147-A177-3AD203B41FA5}">
                      <a16:colId xmlns:a16="http://schemas.microsoft.com/office/drawing/2014/main" val="3520439532"/>
                    </a:ext>
                  </a:extLst>
                </a:gridCol>
                <a:gridCol w="3746818">
                  <a:extLst>
                    <a:ext uri="{9D8B030D-6E8A-4147-A177-3AD203B41FA5}">
                      <a16:colId xmlns:a16="http://schemas.microsoft.com/office/drawing/2014/main" val="2752802505"/>
                    </a:ext>
                  </a:extLst>
                </a:gridCol>
                <a:gridCol w="2743200">
                  <a:extLst>
                    <a:ext uri="{9D8B030D-6E8A-4147-A177-3AD203B41FA5}">
                      <a16:colId xmlns:a16="http://schemas.microsoft.com/office/drawing/2014/main" val="4162093639"/>
                    </a:ext>
                  </a:extLst>
                </a:gridCol>
              </a:tblGrid>
              <a:tr h="2284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mn-lt"/>
                        </a:rPr>
                        <a:t>Current Account</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47695187"/>
                  </a:ext>
                </a:extLst>
              </a:tr>
              <a:tr h="338661">
                <a:tc>
                  <a:txBody>
                    <a:bodyPr/>
                    <a:lstStyle/>
                    <a:p>
                      <a:r>
                        <a:rPr lang="en-US" sz="1200" dirty="0">
                          <a:latin typeface="+mn-lt"/>
                        </a:rPr>
                        <a:t>(1)</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Exports and current transfer receipts</a:t>
                      </a:r>
                    </a:p>
                    <a:p>
                      <a:r>
                        <a:rPr lang="en-US" sz="1200" dirty="0">
                          <a:latin typeface="+mn-lt"/>
                        </a:rPr>
                        <a:t>    Of which:</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b="1" dirty="0">
                          <a:latin typeface="+mn-lt"/>
                        </a:rPr>
                        <a:t>3,805.94</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80805597"/>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Goods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1,652.44</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54441466"/>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Services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875.83</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58878532"/>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Income receipts (primary income)</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1,135.69</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13804758"/>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Current transfer receipts (secondary income)</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141.98</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41654983"/>
                  </a:ext>
                </a:extLst>
              </a:tr>
              <a:tr h="338661">
                <a:tc>
                  <a:txBody>
                    <a:bodyPr/>
                    <a:lstStyle/>
                    <a:p>
                      <a:r>
                        <a:rPr lang="en-US" sz="1200" dirty="0">
                          <a:latin typeface="+mn-lt"/>
                        </a:rPr>
                        <a:t>(2)</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Imports and current transfer payments</a:t>
                      </a:r>
                    </a:p>
                    <a:p>
                      <a:r>
                        <a:rPr lang="en-US" sz="1200" dirty="0">
                          <a:latin typeface="+mn-lt"/>
                        </a:rPr>
                        <a:t>     Of which:</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4,286.16</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11267182"/>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Goods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2,516.77</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594636391"/>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Services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588.36</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29250911"/>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Income receipts (primary income)</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899.35</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54732232"/>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Current transfer receipts (secondary income)</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281.69</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857029831"/>
                  </a:ext>
                </a:extLst>
              </a:tr>
              <a:tr h="228464">
                <a:tc>
                  <a:txBody>
                    <a:bodyPr/>
                    <a:lstStyle/>
                    <a:p>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b="1" i="0" dirty="0">
                          <a:latin typeface="+mn-lt"/>
                        </a:rPr>
                        <a:t>Balance on current account </a:t>
                      </a:r>
                      <a:r>
                        <a:rPr lang="en-US" sz="1400" b="0" i="0" u="none" strike="noStrike" cap="none" dirty="0">
                          <a:solidFill>
                            <a:schemeClr val="dk1"/>
                          </a:solidFill>
                          <a:effectLst/>
                          <a:latin typeface="Arial"/>
                          <a:ea typeface="Arial"/>
                          <a:cs typeface="Arial"/>
                          <a:sym typeface="Arial"/>
                        </a:rPr>
                        <a:t>l</a:t>
                      </a:r>
                      <a:r>
                        <a:rPr lang="en-US" sz="100" b="0" i="0" u="none" strike="noStrike" cap="none" dirty="0">
                          <a:solidFill>
                            <a:schemeClr val="dk1"/>
                          </a:solidFill>
                          <a:effectLst/>
                          <a:latin typeface="Arial"/>
                          <a:ea typeface="Arial"/>
                          <a:cs typeface="Arial"/>
                          <a:sym typeface="Arial"/>
                        </a:rPr>
                        <a:t>eft bracket left parenthesis 1 right parenthesis minus left parenthesis 2 right parenthesis right bracket</a:t>
                      </a:r>
                      <a:endParaRPr lang="en-IN" sz="100" b="1" i="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00" b="0" i="0" u="none" strike="noStrike" cap="none" dirty="0">
                          <a:solidFill>
                            <a:schemeClr val="dk1"/>
                          </a:solidFill>
                          <a:effectLst/>
                          <a:latin typeface="Arial"/>
                          <a:ea typeface="Arial"/>
                          <a:cs typeface="Arial"/>
                          <a:sym typeface="Arial"/>
                        </a:rPr>
                        <a:t>negative 480.22</a:t>
                      </a:r>
                      <a:endParaRPr lang="en-IN" sz="1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031310745"/>
                  </a:ext>
                </a:extLst>
              </a:tr>
              <a:tr h="228464">
                <a:tc>
                  <a:txBody>
                    <a:bodyPr/>
                    <a:lstStyle/>
                    <a:p>
                      <a:r>
                        <a:rPr lang="en-US" sz="1200" dirty="0">
                          <a:latin typeface="+mn-lt"/>
                        </a:rPr>
                        <a:t>(3)</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latin typeface="+mn-lt"/>
                        </a:rPr>
                        <a:t>Capital Account</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100" b="0" i="0" u="none" strike="noStrike" cap="none" dirty="0">
                          <a:solidFill>
                            <a:schemeClr val="dk1"/>
                          </a:solidFill>
                          <a:effectLst/>
                          <a:latin typeface="Arial"/>
                          <a:ea typeface="Arial"/>
                          <a:cs typeface="Arial"/>
                          <a:sym typeface="Arial"/>
                        </a:rPr>
                        <a:t>negative 6.24</a:t>
                      </a:r>
                      <a:endParaRPr lang="en-IN" sz="1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2724307"/>
                  </a:ext>
                </a:extLst>
              </a:tr>
            </a:tbl>
          </a:graphicData>
        </a:graphic>
      </p:graphicFrame>
      <p:graphicFrame>
        <p:nvGraphicFramePr>
          <p:cNvPr id="3" name="Object 2">
            <a:extLst>
              <a:ext uri="{FF2B5EF4-FFF2-40B4-BE49-F238E27FC236}">
                <a16:creationId xmlns:a16="http://schemas.microsoft.com/office/drawing/2014/main" id="{E94317D1-D695-4AAF-8C0E-934DAD97FF3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88691117"/>
              </p:ext>
            </p:extLst>
          </p:nvPr>
        </p:nvGraphicFramePr>
        <p:xfrm>
          <a:off x="4040700" y="4772932"/>
          <a:ext cx="622300" cy="203200"/>
        </p:xfrm>
        <a:graphic>
          <a:graphicData uri="http://schemas.openxmlformats.org/presentationml/2006/ole">
            <mc:AlternateContent xmlns:mc="http://schemas.openxmlformats.org/markup-compatibility/2006">
              <mc:Choice xmlns:v="urn:schemas-microsoft-com:vml" Requires="v">
                <p:oleObj spid="_x0000_s14449" name="Equation" r:id="rId3" imgW="622080" imgH="203040" progId="Equation.DSMT4">
                  <p:embed/>
                </p:oleObj>
              </mc:Choice>
              <mc:Fallback>
                <p:oleObj name="Equation" r:id="rId3" imgW="622080" imgH="203040" progId="Equation.DSMT4">
                  <p:embed/>
                  <p:pic>
                    <p:nvPicPr>
                      <p:cNvPr id="0" name=""/>
                      <p:cNvPicPr/>
                      <p:nvPr/>
                    </p:nvPicPr>
                    <p:blipFill>
                      <a:blip r:embed="rId4"/>
                      <a:stretch>
                        <a:fillRect/>
                      </a:stretch>
                    </p:blipFill>
                    <p:spPr>
                      <a:xfrm>
                        <a:off x="4040700" y="4772932"/>
                        <a:ext cx="622300" cy="203200"/>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829141358"/>
              </p:ext>
            </p:extLst>
          </p:nvPr>
        </p:nvGraphicFramePr>
        <p:xfrm>
          <a:off x="7710714" y="4766582"/>
          <a:ext cx="609600" cy="177800"/>
        </p:xfrm>
        <a:graphic>
          <a:graphicData uri="http://schemas.openxmlformats.org/presentationml/2006/ole">
            <mc:AlternateContent xmlns:mc="http://schemas.openxmlformats.org/markup-compatibility/2006">
              <mc:Choice xmlns:v="urn:schemas-microsoft-com:vml" Requires="v">
                <p:oleObj spid="_x0000_s14450" name="Equation" r:id="rId5" imgW="609480" imgH="177480" progId="Equation.DSMT4">
                  <p:embed/>
                </p:oleObj>
              </mc:Choice>
              <mc:Fallback>
                <p:oleObj name="Equation" r:id="rId5" imgW="609480" imgH="177480" progId="Equation.DSMT4">
                  <p:embed/>
                  <p:pic>
                    <p:nvPicPr>
                      <p:cNvPr id="0" name=""/>
                      <p:cNvPicPr/>
                      <p:nvPr/>
                    </p:nvPicPr>
                    <p:blipFill>
                      <a:blip r:embed="rId6"/>
                      <a:stretch>
                        <a:fillRect/>
                      </a:stretch>
                    </p:blipFill>
                    <p:spPr>
                      <a:xfrm>
                        <a:off x="7710714" y="4766582"/>
                        <a:ext cx="609600" cy="177800"/>
                      </a:xfrm>
                      <a:prstGeom prst="rect">
                        <a:avLst/>
                      </a:prstGeom>
                      <a:solidFill>
                        <a:schemeClr val="lt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148509079"/>
              </p:ext>
            </p:extLst>
          </p:nvPr>
        </p:nvGraphicFramePr>
        <p:xfrm>
          <a:off x="7901210" y="5027842"/>
          <a:ext cx="431800" cy="177800"/>
        </p:xfrm>
        <a:graphic>
          <a:graphicData uri="http://schemas.openxmlformats.org/presentationml/2006/ole">
            <mc:AlternateContent xmlns:mc="http://schemas.openxmlformats.org/markup-compatibility/2006">
              <mc:Choice xmlns:v="urn:schemas-microsoft-com:vml" Requires="v">
                <p:oleObj spid="_x0000_s14451" name="Equation" r:id="rId7" imgW="431640" imgH="177480" progId="Equation.DSMT4">
                  <p:embed/>
                </p:oleObj>
              </mc:Choice>
              <mc:Fallback>
                <p:oleObj name="Equation" r:id="rId7" imgW="431640" imgH="177480" progId="Equation.DSMT4">
                  <p:embed/>
                  <p:pic>
                    <p:nvPicPr>
                      <p:cNvPr id="0" name=""/>
                      <p:cNvPicPr/>
                      <p:nvPr/>
                    </p:nvPicPr>
                    <p:blipFill>
                      <a:blip r:embed="rId8"/>
                      <a:stretch>
                        <a:fillRect/>
                      </a:stretch>
                    </p:blipFill>
                    <p:spPr>
                      <a:xfrm>
                        <a:off x="7901210" y="5027842"/>
                        <a:ext cx="431800" cy="177800"/>
                      </a:xfrm>
                      <a:prstGeom prst="rect">
                        <a:avLst/>
                      </a:prstGeom>
                      <a:solidFill>
                        <a:schemeClr val="lt1"/>
                      </a:solidFill>
                    </p:spPr>
                  </p:pic>
                </p:oleObj>
              </mc:Fallback>
            </mc:AlternateContent>
          </a:graphicData>
        </a:graphic>
      </p:graphicFrame>
      <p:sp>
        <p:nvSpPr>
          <p:cNvPr id="4" name="Content Placeholder 3"/>
          <p:cNvSpPr>
            <a:spLocks noGrp="1"/>
          </p:cNvSpPr>
          <p:nvPr>
            <p:ph sz="quarter" idx="14"/>
          </p:nvPr>
        </p:nvSpPr>
        <p:spPr>
          <a:xfrm>
            <a:off x="457200" y="5573482"/>
            <a:ext cx="8229600" cy="663121"/>
          </a:xfrm>
        </p:spPr>
        <p:txBody>
          <a:bodyPr/>
          <a:lstStyle/>
          <a:p>
            <a:pPr marL="432" indent="0">
              <a:buNone/>
            </a:pPr>
            <a:r>
              <a:rPr lang="en-US" sz="1600" b="1" dirty="0">
                <a:latin typeface="Arial (Body)"/>
              </a:rPr>
              <a:t>Source: </a:t>
            </a:r>
            <a:r>
              <a:rPr lang="en-US" sz="1600" dirty="0">
                <a:latin typeface="Arial (Body)"/>
              </a:rPr>
              <a:t>U.S. Department of Commerce, Bureau of Economic Analysis, June 196, 2020, release. Totals may differ from sums because of rounding.</a:t>
            </a:r>
            <a:endParaRPr lang="en-IN" sz="1600" dirty="0"/>
          </a:p>
        </p:txBody>
      </p:sp>
    </p:spTree>
    <p:extLst>
      <p:ext uri="{BB962C8B-B14F-4D97-AF65-F5344CB8AC3E}">
        <p14:creationId xmlns:p14="http://schemas.microsoft.com/office/powerpoint/2010/main" val="2213501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cs typeface="Times New Roman" panose="02020603050405020304" pitchFamily="18" charset="0"/>
              </a:rPr>
              <a:t>Table 13.2 U.S. Balance of Payments Accounts for 2019 (Billions of Dollars) </a:t>
            </a:r>
            <a:r>
              <a:rPr lang="en-US" altLang="en-US" sz="2000" b="0" dirty="0">
                <a:cs typeface="Times New Roman" panose="02020603050405020304" pitchFamily="18" charset="0"/>
              </a:rPr>
              <a:t>(2 of 2)</a:t>
            </a:r>
            <a:endParaRPr lang="en-IN" sz="2000" b="0" dirty="0">
              <a:cs typeface="Times New Roman" panose="02020603050405020304" pitchFamily="18" charset="0"/>
            </a:endParaRPr>
          </a:p>
        </p:txBody>
      </p:sp>
      <p:graphicFrame>
        <p:nvGraphicFramePr>
          <p:cNvPr id="5" name="Content Placeholder 4"/>
          <p:cNvGraphicFramePr>
            <a:graphicFrameLocks noGrp="1"/>
          </p:cNvGraphicFramePr>
          <p:nvPr>
            <p:ph sz="quarter" idx="13"/>
            <p:extLst>
              <p:ext uri="{D42A27DB-BD31-4B8C-83A1-F6EECF244321}">
                <p14:modId xmlns:p14="http://schemas.microsoft.com/office/powerpoint/2010/main" val="1509516295"/>
              </p:ext>
            </p:extLst>
          </p:nvPr>
        </p:nvGraphicFramePr>
        <p:xfrm>
          <a:off x="457200" y="1555750"/>
          <a:ext cx="8229600" cy="3618981"/>
        </p:xfrm>
        <a:graphic>
          <a:graphicData uri="http://schemas.openxmlformats.org/drawingml/2006/table">
            <a:tbl>
              <a:tblPr firstRow="1" bandRow="1">
                <a:tableStyleId>{40F9630F-82C1-40B7-BC3A-925EFCFF5E92}</a:tableStyleId>
              </a:tblPr>
              <a:tblGrid>
                <a:gridCol w="1856859">
                  <a:extLst>
                    <a:ext uri="{9D8B030D-6E8A-4147-A177-3AD203B41FA5}">
                      <a16:colId xmlns:a16="http://schemas.microsoft.com/office/drawing/2014/main" val="3520439532"/>
                    </a:ext>
                  </a:extLst>
                </a:gridCol>
                <a:gridCol w="3651542">
                  <a:extLst>
                    <a:ext uri="{9D8B030D-6E8A-4147-A177-3AD203B41FA5}">
                      <a16:colId xmlns:a16="http://schemas.microsoft.com/office/drawing/2014/main" val="2752802505"/>
                    </a:ext>
                  </a:extLst>
                </a:gridCol>
                <a:gridCol w="2721199">
                  <a:extLst>
                    <a:ext uri="{9D8B030D-6E8A-4147-A177-3AD203B41FA5}">
                      <a16:colId xmlns:a16="http://schemas.microsoft.com/office/drawing/2014/main" val="4162093639"/>
                    </a:ext>
                  </a:extLst>
                </a:gridCol>
              </a:tblGrid>
              <a:tr h="2284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mn-lt"/>
                        </a:rPr>
                        <a:t>Financial Account</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47695187"/>
                  </a:ext>
                </a:extLst>
              </a:tr>
              <a:tr h="338661">
                <a:tc>
                  <a:txBody>
                    <a:bodyPr/>
                    <a:lstStyle/>
                    <a:p>
                      <a:r>
                        <a:rPr lang="en-US" sz="1200" dirty="0">
                          <a:latin typeface="+mn-lt"/>
                        </a:rPr>
                        <a:t>(4)</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Net U.S. acquisition of financial assets, excluding financial derivatives</a:t>
                      </a:r>
                    </a:p>
                    <a:p>
                      <a:r>
                        <a:rPr lang="en-US" sz="1200" dirty="0">
                          <a:latin typeface="+mn-lt"/>
                        </a:rPr>
                        <a:t>     Of which:</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b="1" dirty="0">
                          <a:latin typeface="+mn-lt"/>
                        </a:rPr>
                        <a:t>440.75</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80805597"/>
                  </a:ext>
                </a:extLst>
              </a:tr>
              <a:tr h="228464">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Official reserve assets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4.66</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54441466"/>
                  </a:ext>
                </a:extLst>
              </a:tr>
              <a:tr h="228464">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Other assets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436.09</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58878532"/>
                  </a:ext>
                </a:extLst>
              </a:tr>
              <a:tr h="228464">
                <a:tc>
                  <a:txBody>
                    <a:bodyPr/>
                    <a:lstStyle/>
                    <a:p>
                      <a:r>
                        <a:rPr lang="en-US" sz="1200" dirty="0">
                          <a:latin typeface="+mn-lt"/>
                        </a:rPr>
                        <a:t>(5)</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Net U.S. incurrence of liabilities, excluding financial derivatives Of which:</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b="1" dirty="0">
                          <a:latin typeface="+mn-lt"/>
                        </a:rPr>
                        <a:t>797.96</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13804758"/>
                  </a:ext>
                </a:extLst>
              </a:tr>
              <a:tr h="228464">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Official reserve assets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61.63</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41654983"/>
                  </a:ext>
                </a:extLst>
              </a:tr>
              <a:tr h="338661">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Other assets</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dirty="0">
                          <a:latin typeface="+mn-lt"/>
                        </a:rPr>
                        <a:t>736.33</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11267182"/>
                  </a:ext>
                </a:extLst>
              </a:tr>
              <a:tr h="228464">
                <a:tc>
                  <a:txBody>
                    <a:bodyPr/>
                    <a:lstStyle/>
                    <a:p>
                      <a:r>
                        <a:rPr lang="en-US" sz="1200" dirty="0">
                          <a:latin typeface="+mn-lt"/>
                        </a:rPr>
                        <a:t>(6)</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dirty="0">
                          <a:latin typeface="+mn-lt"/>
                        </a:rPr>
                        <a:t>Financial derivatives, other than reserves, net</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00" b="0" i="0" u="none" strike="noStrike" cap="none" dirty="0">
                          <a:solidFill>
                            <a:schemeClr val="dk1"/>
                          </a:solidFill>
                          <a:effectLst/>
                          <a:latin typeface="Arial"/>
                          <a:ea typeface="Arial"/>
                          <a:cs typeface="Arial"/>
                          <a:sym typeface="Arial"/>
                        </a:rPr>
                        <a:t>negative 38.34</a:t>
                      </a:r>
                      <a:endParaRPr lang="en-IN" sz="1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594636391"/>
                  </a:ext>
                </a:extLst>
              </a:tr>
              <a:tr h="228464">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200" b="1" i="0" dirty="0">
                          <a:latin typeface="+mn-lt"/>
                        </a:rPr>
                        <a:t>Net financial flows </a:t>
                      </a:r>
                      <a:r>
                        <a:rPr lang="en-US" sz="100" b="0" i="0" u="none" strike="noStrike" cap="none" dirty="0">
                          <a:solidFill>
                            <a:schemeClr val="dk1"/>
                          </a:solidFill>
                          <a:effectLst/>
                          <a:latin typeface="Arial"/>
                          <a:ea typeface="Arial"/>
                          <a:cs typeface="Arial"/>
                          <a:sym typeface="Arial"/>
                        </a:rPr>
                        <a:t>Left bracket left parenthesis 4 right parenthesis minus left parenthesis 5 right parenthesis minus left parenthesis 6 right parenthesis right bracket</a:t>
                      </a:r>
                      <a:endParaRPr lang="en-IN" sz="100" b="1" i="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00" b="0" i="0" u="none" strike="noStrike" cap="none" dirty="0">
                          <a:solidFill>
                            <a:schemeClr val="dk1"/>
                          </a:solidFill>
                          <a:effectLst/>
                          <a:latin typeface="Arial"/>
                          <a:ea typeface="Arial"/>
                          <a:cs typeface="Arial"/>
                          <a:sym typeface="Arial"/>
                        </a:rPr>
                        <a:t>negative 395.54</a:t>
                      </a:r>
                      <a:endParaRPr lang="en-IN" sz="1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29250911"/>
                  </a:ext>
                </a:extLst>
              </a:tr>
              <a:tr h="228464">
                <a:tc>
                  <a:txBody>
                    <a:bodyPr/>
                    <a:lstStyle/>
                    <a:p>
                      <a:r>
                        <a:rPr lang="en-US" sz="1200" b="1" dirty="0">
                          <a:latin typeface="+mn-lt"/>
                        </a:rPr>
                        <a:t>Statistical Discrepancy</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1200" b="1" dirty="0">
                          <a:latin typeface="+mn-lt"/>
                        </a:rPr>
                        <a:t>90.92</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54732232"/>
                  </a:ext>
                </a:extLst>
              </a:tr>
              <a:tr h="228464">
                <a:tc>
                  <a:txBody>
                    <a:bodyPr/>
                    <a:lstStyle/>
                    <a:p>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b="1" dirty="0">
                          <a:latin typeface="+mn-lt"/>
                        </a:rPr>
                        <a:t>[</a:t>
                      </a:r>
                      <a:r>
                        <a:rPr lang="en-US" sz="1200" dirty="0">
                          <a:latin typeface="+mn-lt"/>
                        </a:rPr>
                        <a:t>Net financial flows less sum of current and capital accounts</a:t>
                      </a:r>
                      <a:r>
                        <a:rPr lang="en-US" sz="1200" b="1" dirty="0">
                          <a:latin typeface="+mn-lt"/>
                        </a:rPr>
                        <a:t>]</a:t>
                      </a:r>
                      <a:endParaRPr lang="en-IN" sz="1200" dirty="0">
                        <a:latin typeface="+mn-lt"/>
                      </a:endParaRP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IN" sz="100" dirty="0">
                          <a:latin typeface="+mn-lt"/>
                        </a:rPr>
                        <a:t>Blank</a:t>
                      </a:r>
                    </a:p>
                  </a:txBody>
                  <a:tcPr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7029831"/>
                  </a:ext>
                </a:extLst>
              </a:tr>
            </a:tbl>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273784372"/>
              </p:ext>
            </p:extLst>
          </p:nvPr>
        </p:nvGraphicFramePr>
        <p:xfrm>
          <a:off x="8060285" y="3975902"/>
          <a:ext cx="572770" cy="195580"/>
        </p:xfrm>
        <a:graphic>
          <a:graphicData uri="http://schemas.openxmlformats.org/presentationml/2006/ole">
            <mc:AlternateContent xmlns:mc="http://schemas.openxmlformats.org/markup-compatibility/2006">
              <mc:Choice xmlns:v="urn:schemas-microsoft-com:vml" Requires="v">
                <p:oleObj spid="_x0000_s15473" name="Equation" r:id="rId3" imgW="520560" imgH="177480" progId="Equation.DSMT4">
                  <p:embed/>
                </p:oleObj>
              </mc:Choice>
              <mc:Fallback>
                <p:oleObj name="Equation" r:id="rId3" imgW="520560" imgH="177480" progId="Equation.DSMT4">
                  <p:embed/>
                  <p:pic>
                    <p:nvPicPr>
                      <p:cNvPr id="6" name="Object 5"/>
                      <p:cNvPicPr/>
                      <p:nvPr/>
                    </p:nvPicPr>
                    <p:blipFill>
                      <a:blip r:embed="rId4"/>
                      <a:stretch>
                        <a:fillRect/>
                      </a:stretch>
                    </p:blipFill>
                    <p:spPr>
                      <a:xfrm>
                        <a:off x="8060285" y="3975902"/>
                        <a:ext cx="572770" cy="195580"/>
                      </a:xfrm>
                      <a:prstGeom prst="rect">
                        <a:avLst/>
                      </a:prstGeom>
                      <a:solidFill>
                        <a:schemeClr val="bg1"/>
                      </a:solidFill>
                    </p:spPr>
                  </p:pic>
                </p:oleObj>
              </mc:Fallback>
            </mc:AlternateContent>
          </a:graphicData>
        </a:graphic>
      </p:graphicFrame>
      <p:graphicFrame>
        <p:nvGraphicFramePr>
          <p:cNvPr id="3" name="Object 2">
            <a:extLst>
              <a:ext uri="{FF2B5EF4-FFF2-40B4-BE49-F238E27FC236}">
                <a16:creationId xmlns:a16="http://schemas.microsoft.com/office/drawing/2014/main" id="{0DF853E1-5EF2-4C0C-BCA7-6C50231E9421}"/>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659709"/>
              </p:ext>
            </p:extLst>
          </p:nvPr>
        </p:nvGraphicFramePr>
        <p:xfrm>
          <a:off x="3784905" y="4276847"/>
          <a:ext cx="854365" cy="184727"/>
        </p:xfrm>
        <a:graphic>
          <a:graphicData uri="http://schemas.openxmlformats.org/presentationml/2006/ole">
            <mc:AlternateContent xmlns:mc="http://schemas.openxmlformats.org/markup-compatibility/2006">
              <mc:Choice xmlns:v="urn:schemas-microsoft-com:vml" Requires="v">
                <p:oleObj spid="_x0000_s15474" name="Equation" r:id="rId5" imgW="939600" imgH="203040" progId="Equation.DSMT4">
                  <p:embed/>
                </p:oleObj>
              </mc:Choice>
              <mc:Fallback>
                <p:oleObj name="Equation" r:id="rId5" imgW="939600" imgH="203040" progId="Equation.DSMT4">
                  <p:embed/>
                  <p:pic>
                    <p:nvPicPr>
                      <p:cNvPr id="0" name=""/>
                      <p:cNvPicPr/>
                      <p:nvPr/>
                    </p:nvPicPr>
                    <p:blipFill>
                      <a:blip r:embed="rId6"/>
                      <a:stretch>
                        <a:fillRect/>
                      </a:stretch>
                    </p:blipFill>
                    <p:spPr>
                      <a:xfrm>
                        <a:off x="3784905" y="4276847"/>
                        <a:ext cx="854365" cy="184727"/>
                      </a:xfrm>
                      <a:prstGeom prst="rect">
                        <a:avLst/>
                      </a:prstGeom>
                      <a:solidFill>
                        <a:schemeClr val="lt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68714201"/>
              </p:ext>
            </p:extLst>
          </p:nvPr>
        </p:nvGraphicFramePr>
        <p:xfrm>
          <a:off x="8060285" y="4218427"/>
          <a:ext cx="596900" cy="177800"/>
        </p:xfrm>
        <a:graphic>
          <a:graphicData uri="http://schemas.openxmlformats.org/presentationml/2006/ole">
            <mc:AlternateContent xmlns:mc="http://schemas.openxmlformats.org/markup-compatibility/2006">
              <mc:Choice xmlns:v="urn:schemas-microsoft-com:vml" Requires="v">
                <p:oleObj spid="_x0000_s15475" name="Equation" r:id="rId7" imgW="596880" imgH="177480" progId="Equation.DSMT4">
                  <p:embed/>
                </p:oleObj>
              </mc:Choice>
              <mc:Fallback>
                <p:oleObj name="Equation" r:id="rId7" imgW="596880" imgH="177480" progId="Equation.DSMT4">
                  <p:embed/>
                  <p:pic>
                    <p:nvPicPr>
                      <p:cNvPr id="7" name="Object 6"/>
                      <p:cNvPicPr/>
                      <p:nvPr/>
                    </p:nvPicPr>
                    <p:blipFill>
                      <a:blip r:embed="rId8"/>
                      <a:stretch>
                        <a:fillRect/>
                      </a:stretch>
                    </p:blipFill>
                    <p:spPr>
                      <a:xfrm>
                        <a:off x="8060285" y="4218427"/>
                        <a:ext cx="596900" cy="177800"/>
                      </a:xfrm>
                      <a:prstGeom prst="rect">
                        <a:avLst/>
                      </a:prstGeom>
                      <a:solidFill>
                        <a:schemeClr val="bg1"/>
                      </a:solidFill>
                    </p:spPr>
                  </p:pic>
                </p:oleObj>
              </mc:Fallback>
            </mc:AlternateContent>
          </a:graphicData>
        </a:graphic>
      </p:graphicFrame>
      <p:sp>
        <p:nvSpPr>
          <p:cNvPr id="4" name="Content Placeholder 3"/>
          <p:cNvSpPr>
            <a:spLocks noGrp="1"/>
          </p:cNvSpPr>
          <p:nvPr>
            <p:ph sz="quarter" idx="14"/>
          </p:nvPr>
        </p:nvSpPr>
        <p:spPr>
          <a:xfrm>
            <a:off x="457200" y="5529942"/>
            <a:ext cx="8229600" cy="663121"/>
          </a:xfrm>
        </p:spPr>
        <p:txBody>
          <a:bodyPr/>
          <a:lstStyle/>
          <a:p>
            <a:pPr marL="0" indent="0">
              <a:buNone/>
            </a:pPr>
            <a:r>
              <a:rPr lang="en-US" sz="1600" b="1" dirty="0">
                <a:latin typeface="Arial (Body)"/>
              </a:rPr>
              <a:t>Source: </a:t>
            </a:r>
            <a:r>
              <a:rPr lang="en-US" sz="1600" dirty="0">
                <a:latin typeface="Arial (Body)"/>
              </a:rPr>
              <a:t>U.S. Department of Commerce, Bureau of Economic Analysis, June 196, 2020, release. Totals may differ from sums because of rounding.</a:t>
            </a:r>
          </a:p>
        </p:txBody>
      </p:sp>
    </p:spTree>
    <p:extLst>
      <p:ext uri="{BB962C8B-B14F-4D97-AF65-F5344CB8AC3E}">
        <p14:creationId xmlns:p14="http://schemas.microsoft.com/office/powerpoint/2010/main" val="6525456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Multinationals’ Profit Shifting and Ireland’s Volatile GDP</a:t>
            </a:r>
            <a:endParaRPr lang="en-IN" dirty="0"/>
          </a:p>
        </p:txBody>
      </p:sp>
      <p:sp>
        <p:nvSpPr>
          <p:cNvPr id="3" name="Content Placeholder 2"/>
          <p:cNvSpPr>
            <a:spLocks noGrp="1"/>
          </p:cNvSpPr>
          <p:nvPr>
            <p:ph sz="quarter" idx="13"/>
          </p:nvPr>
        </p:nvSpPr>
        <p:spPr/>
        <p:txBody>
          <a:bodyPr/>
          <a:lstStyle/>
          <a:p>
            <a:pPr eaLnBrk="1" hangingPunct="1"/>
            <a:r>
              <a:rPr lang="en-US" altLang="en-US" sz="2200" dirty="0">
                <a:latin typeface="Arial (Body)"/>
              </a:rPr>
              <a:t>Ireland’s G</a:t>
            </a:r>
            <a:r>
              <a:rPr lang="en-US" altLang="en-US" sz="100" dirty="0">
                <a:latin typeface="Arial (Body)"/>
              </a:rPr>
              <a:t> </a:t>
            </a:r>
            <a:r>
              <a:rPr lang="en-US" altLang="en-US" sz="2200" dirty="0">
                <a:latin typeface="Arial (Body)"/>
              </a:rPr>
              <a:t>D</a:t>
            </a:r>
            <a:r>
              <a:rPr lang="en-US" altLang="en-US" sz="100" dirty="0">
                <a:latin typeface="Arial (Body)"/>
              </a:rPr>
              <a:t> </a:t>
            </a:r>
            <a:r>
              <a:rPr lang="en-US" altLang="en-US" sz="2200" dirty="0">
                <a:latin typeface="Arial (Body)"/>
              </a:rPr>
              <a:t>P rose by a whopping 26.3% between 2014 and 2015, an outlier compared to growth rates since 1999.</a:t>
            </a:r>
          </a:p>
          <a:p>
            <a:pPr eaLnBrk="1" hangingPunct="1"/>
            <a:r>
              <a:rPr lang="en-US" altLang="ja-JP" sz="2200" dirty="0">
                <a:latin typeface="Arial (Body)"/>
              </a:rPr>
              <a:t>No massive increase in factors of production such as employment occurred.</a:t>
            </a:r>
          </a:p>
          <a:p>
            <a:pPr eaLnBrk="1" hangingPunct="1"/>
            <a:r>
              <a:rPr lang="en-US" altLang="ja-JP" sz="2200" dirty="0">
                <a:latin typeface="Arial (Body)"/>
              </a:rPr>
              <a:t>In large part, was an accounting phenomenon reflecting tax avoidance by large multinationals from other countries.</a:t>
            </a:r>
          </a:p>
          <a:p>
            <a:pPr lvl="1"/>
            <a:r>
              <a:rPr lang="en-US" altLang="ja-JP" sz="2200" dirty="0">
                <a:latin typeface="Arial (Body)"/>
              </a:rPr>
              <a:t>Ireland’s comparatively low corporate tax rate of 12.5% leads to multinationals allocating their intellectual property (I</a:t>
            </a:r>
            <a:r>
              <a:rPr lang="en-US" altLang="ja-JP" sz="100" dirty="0">
                <a:latin typeface="Arial (Body)"/>
              </a:rPr>
              <a:t> </a:t>
            </a:r>
            <a:r>
              <a:rPr lang="en-US" altLang="ja-JP" sz="2200" dirty="0">
                <a:latin typeface="Arial (Body)"/>
              </a:rPr>
              <a:t>P) assets to Ireland (and other low-tax havens such as Bermuda).</a:t>
            </a:r>
          </a:p>
          <a:p>
            <a:r>
              <a:rPr lang="en-US" altLang="ja-JP" sz="2200" dirty="0">
                <a:latin typeface="Arial (Body)"/>
              </a:rPr>
              <a:t>G</a:t>
            </a:r>
            <a:r>
              <a:rPr lang="en-US" altLang="ja-JP" sz="100" dirty="0">
                <a:latin typeface="Arial (Body)"/>
              </a:rPr>
              <a:t> </a:t>
            </a:r>
            <a:r>
              <a:rPr lang="en-US" altLang="ja-JP" sz="2200" dirty="0">
                <a:latin typeface="Arial (Body)"/>
              </a:rPr>
              <a:t>D</a:t>
            </a:r>
            <a:r>
              <a:rPr lang="en-US" altLang="ja-JP" sz="100" dirty="0">
                <a:latin typeface="Arial (Body)"/>
              </a:rPr>
              <a:t> </a:t>
            </a:r>
            <a:r>
              <a:rPr lang="en-US" altLang="ja-JP" sz="2200" dirty="0">
                <a:latin typeface="Arial (Body)"/>
              </a:rPr>
              <a:t>P has shortcomings as a measure of economic welfare.</a:t>
            </a:r>
            <a:endParaRPr lang="en-IN" sz="2200" dirty="0"/>
          </a:p>
        </p:txBody>
      </p:sp>
    </p:spTree>
    <p:extLst>
      <p:ext uri="{BB962C8B-B14F-4D97-AF65-F5344CB8AC3E}">
        <p14:creationId xmlns:p14="http://schemas.microsoft.com/office/powerpoint/2010/main" val="29520833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Real G</a:t>
            </a:r>
            <a:r>
              <a:rPr lang="en-US" altLang="en-US" sz="100" dirty="0"/>
              <a:t> </a:t>
            </a:r>
            <a:r>
              <a:rPr lang="en-US" altLang="en-US" sz="3200" dirty="0"/>
              <a:t>D</a:t>
            </a:r>
            <a:r>
              <a:rPr lang="en-US" altLang="en-US" sz="100" dirty="0"/>
              <a:t> </a:t>
            </a:r>
            <a:r>
              <a:rPr lang="en-US" altLang="en-US" sz="3200" dirty="0"/>
              <a:t>P Growth in Ireland Since 1999</a:t>
            </a:r>
            <a:endParaRPr lang="en-IN" sz="3200" dirty="0"/>
          </a:p>
        </p:txBody>
      </p:sp>
      <p:pic>
        <p:nvPicPr>
          <p:cNvPr id="5" name="Content Placeholder 4" descr="A bar graph depicts real G D P growth.  For long description in Notes pane, press F6. "/>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98032" y="1572749"/>
            <a:ext cx="6147934" cy="3560954"/>
          </a:xfrm>
        </p:spPr>
      </p:pic>
      <p:sp>
        <p:nvSpPr>
          <p:cNvPr id="4" name="Content Placeholder 3"/>
          <p:cNvSpPr>
            <a:spLocks noGrp="1"/>
          </p:cNvSpPr>
          <p:nvPr>
            <p:ph sz="quarter" idx="14"/>
          </p:nvPr>
        </p:nvSpPr>
        <p:spPr>
          <a:xfrm>
            <a:off x="457200" y="5285200"/>
            <a:ext cx="8229600" cy="938893"/>
          </a:xfrm>
        </p:spPr>
        <p:txBody>
          <a:bodyPr/>
          <a:lstStyle/>
          <a:p>
            <a:pPr marL="0" indent="0">
              <a:buFont typeface="Arial" panose="020B0604020202020204" pitchFamily="34" charset="0"/>
              <a:buNone/>
            </a:pPr>
            <a:r>
              <a:rPr lang="en-US" sz="1600" dirty="0">
                <a:latin typeface="Arial (Body)"/>
              </a:rPr>
              <a:t>The huge jump in Ireland’s 2015 real G</a:t>
            </a:r>
            <a:r>
              <a:rPr lang="en-US" sz="100" dirty="0">
                <a:latin typeface="Arial (Body)"/>
              </a:rPr>
              <a:t> </a:t>
            </a:r>
            <a:r>
              <a:rPr lang="en-US" sz="1600" dirty="0">
                <a:latin typeface="Arial (Body)"/>
              </a:rPr>
              <a:t>D</a:t>
            </a:r>
            <a:r>
              <a:rPr lang="en-US" sz="100" dirty="0">
                <a:latin typeface="Arial (Body)"/>
              </a:rPr>
              <a:t> </a:t>
            </a:r>
            <a:r>
              <a:rPr lang="en-US" sz="1600" dirty="0">
                <a:latin typeface="Arial (Body)"/>
              </a:rPr>
              <a:t>P was mostly an artifact of creative accounting. </a:t>
            </a:r>
          </a:p>
          <a:p>
            <a:pPr marL="0" indent="0">
              <a:spcBef>
                <a:spcPts val="600"/>
              </a:spcBef>
              <a:buFont typeface="Arial" panose="020B0604020202020204" pitchFamily="34" charset="0"/>
              <a:buNone/>
            </a:pPr>
            <a:r>
              <a:rPr lang="en-US" sz="1600" b="1" dirty="0">
                <a:latin typeface="Arial (Body)"/>
              </a:rPr>
              <a:t>Source: </a:t>
            </a:r>
            <a:r>
              <a:rPr lang="en-US" sz="1600" dirty="0">
                <a:latin typeface="Arial (Body)"/>
              </a:rPr>
              <a:t>International Monetary Fund, </a:t>
            </a:r>
            <a:r>
              <a:rPr lang="en-US" sz="1600" b="1" dirty="0">
                <a:latin typeface="Arial (Body)"/>
              </a:rPr>
              <a:t>World Economic Outlook</a:t>
            </a:r>
            <a:r>
              <a:rPr lang="en-US" sz="1600" i="1" dirty="0">
                <a:latin typeface="Arial (Body)"/>
              </a:rPr>
              <a:t> </a:t>
            </a:r>
            <a:r>
              <a:rPr lang="en-US" sz="1600" dirty="0">
                <a:latin typeface="Arial (Body)"/>
              </a:rPr>
              <a:t>database, April 2019. Data point for 2020 is a projection</a:t>
            </a:r>
            <a:endParaRPr lang="en-IN" sz="1600" dirty="0"/>
          </a:p>
        </p:txBody>
      </p:sp>
    </p:spTree>
    <p:extLst>
      <p:ext uri="{BB962C8B-B14F-4D97-AF65-F5344CB8AC3E}">
        <p14:creationId xmlns:p14="http://schemas.microsoft.com/office/powerpoint/2010/main" val="1263836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U.S. Balance of Payments Accounts </a:t>
            </a:r>
            <a:r>
              <a:rPr lang="en-US" altLang="en-US" sz="2000" b="0" dirty="0"/>
              <a:t>(1 of 2)</a:t>
            </a:r>
            <a:endParaRPr lang="en-IN" dirty="0"/>
          </a:p>
        </p:txBody>
      </p:sp>
      <p:sp>
        <p:nvSpPr>
          <p:cNvPr id="3" name="Content Placeholder 2"/>
          <p:cNvSpPr>
            <a:spLocks noGrp="1"/>
          </p:cNvSpPr>
          <p:nvPr>
            <p:ph sz="quarter" idx="13"/>
          </p:nvPr>
        </p:nvSpPr>
        <p:spPr>
          <a:xfrm>
            <a:off x="457200" y="1556327"/>
            <a:ext cx="8229600" cy="3972114"/>
          </a:xfrm>
        </p:spPr>
        <p:txBody>
          <a:bodyPr/>
          <a:lstStyle/>
          <a:p>
            <a:pPr eaLnBrk="1" hangingPunct="1"/>
            <a:r>
              <a:rPr lang="en-US" altLang="en-US" dirty="0">
                <a:latin typeface="Arial (Body)"/>
              </a:rPr>
              <a:t>The United States has the most negative net foreign wealth in the world, and so is therefore the world’</a:t>
            </a:r>
            <a:r>
              <a:rPr lang="en-US" altLang="ja-JP" dirty="0">
                <a:latin typeface="Arial (Body)"/>
              </a:rPr>
              <a:t>s largest debtor nation.</a:t>
            </a:r>
          </a:p>
          <a:p>
            <a:pPr eaLnBrk="1" hangingPunct="1"/>
            <a:r>
              <a:rPr lang="en-US" altLang="en-US" dirty="0">
                <a:latin typeface="Arial (Body)"/>
              </a:rPr>
              <a:t>Its current account deficit in 2012 was $440 billion dollars, so that net foreign wealth continues to decrease.</a:t>
            </a:r>
          </a:p>
          <a:p>
            <a:r>
              <a:rPr lang="en-US" altLang="en-US" dirty="0">
                <a:latin typeface="Arial (Body)"/>
              </a:rPr>
              <a:t>The value of foreign assets held by the United States has grown since 1980, but liabilities of the United States (debt held by foreigners) have grown faster.</a:t>
            </a:r>
          </a:p>
        </p:txBody>
      </p:sp>
    </p:spTree>
    <p:extLst>
      <p:ext uri="{BB962C8B-B14F-4D97-AF65-F5344CB8AC3E}">
        <p14:creationId xmlns:p14="http://schemas.microsoft.com/office/powerpoint/2010/main" val="62971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13.3 U.S. Gross Foreign Assets and Liabilities, 1976–2019</a:t>
            </a:r>
            <a:endParaRPr lang="en-IN" sz="3200" dirty="0"/>
          </a:p>
        </p:txBody>
      </p:sp>
      <p:pic>
        <p:nvPicPr>
          <p:cNvPr id="5" name="Content Placeholder 4" descr="A double line graph depicts gross foreign assets and liabiliti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42273" y="1564497"/>
            <a:ext cx="3859453" cy="3456227"/>
          </a:xfrm>
        </p:spPr>
      </p:pic>
      <p:sp>
        <p:nvSpPr>
          <p:cNvPr id="4" name="Content Placeholder 3"/>
          <p:cNvSpPr>
            <a:spLocks noGrp="1"/>
          </p:cNvSpPr>
          <p:nvPr>
            <p:ph sz="quarter" idx="14"/>
          </p:nvPr>
        </p:nvSpPr>
        <p:spPr>
          <a:xfrm>
            <a:off x="457200" y="5094514"/>
            <a:ext cx="8229600" cy="1233714"/>
          </a:xfrm>
        </p:spPr>
        <p:txBody>
          <a:bodyPr/>
          <a:lstStyle/>
          <a:p>
            <a:pPr marL="0" indent="0">
              <a:buNone/>
            </a:pPr>
            <a:r>
              <a:rPr lang="en-US" sz="1600" dirty="0">
                <a:latin typeface="Arial (Body)"/>
              </a:rPr>
              <a:t>Since 1976, both the foreign assets and the liabilities of the United States have increased sharply. But liabilities have risen more quickly, leaving the United States with a substantial net foreign debt.</a:t>
            </a:r>
          </a:p>
          <a:p>
            <a:pPr marL="0" indent="0">
              <a:spcBef>
                <a:spcPts val="600"/>
              </a:spcBef>
              <a:buNone/>
            </a:pPr>
            <a:r>
              <a:rPr lang="en-US" sz="1600" b="1" dirty="0">
                <a:latin typeface="Arial (Body)"/>
              </a:rPr>
              <a:t>Source: </a:t>
            </a:r>
            <a:r>
              <a:rPr lang="en-US" sz="1600" dirty="0">
                <a:latin typeface="Arial (Body)"/>
              </a:rPr>
              <a:t>U.S. Department of Commerce, Bureau of Economic Analysis.</a:t>
            </a:r>
            <a:endParaRPr lang="en-IN" sz="1600" dirty="0"/>
          </a:p>
        </p:txBody>
      </p:sp>
    </p:spTree>
    <p:extLst>
      <p:ext uri="{BB962C8B-B14F-4D97-AF65-F5344CB8AC3E}">
        <p14:creationId xmlns:p14="http://schemas.microsoft.com/office/powerpoint/2010/main" val="4236796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sz="3200" dirty="0"/>
              <a:t>U.S. Balance of Payments Accounts </a:t>
            </a:r>
            <a:r>
              <a:rPr lang="en-US" altLang="en-US" sz="2000" b="0" dirty="0"/>
              <a:t>(2 of 2)</a:t>
            </a:r>
            <a:endParaRPr lang="en-IN" dirty="0"/>
          </a:p>
        </p:txBody>
      </p:sp>
      <p:sp>
        <p:nvSpPr>
          <p:cNvPr id="6" name="Content Placeholder 5"/>
          <p:cNvSpPr>
            <a:spLocks noGrp="1"/>
          </p:cNvSpPr>
          <p:nvPr>
            <p:ph sz="quarter" idx="13"/>
          </p:nvPr>
        </p:nvSpPr>
        <p:spPr>
          <a:xfrm>
            <a:off x="457200" y="1556327"/>
            <a:ext cx="8229600" cy="4213852"/>
          </a:xfrm>
        </p:spPr>
        <p:txBody>
          <a:bodyPr/>
          <a:lstStyle/>
          <a:p>
            <a:pPr eaLnBrk="1" hangingPunct="1"/>
            <a:r>
              <a:rPr lang="en-US" altLang="en-US" dirty="0">
                <a:latin typeface="Arial (Body)"/>
              </a:rPr>
              <a:t>About 70% of foreign assets held by the United States are denominated in foreign currencies and almost all of U.S. liabilities (debt) are denominated in dollars.</a:t>
            </a:r>
          </a:p>
          <a:p>
            <a:pPr eaLnBrk="1" hangingPunct="1"/>
            <a:r>
              <a:rPr lang="en-US" altLang="en-US" dirty="0">
                <a:latin typeface="Arial (Body)"/>
              </a:rPr>
              <a:t>Changes in the exchange rate influence value of net foreign wealth (gross foreign assets minus gross foreign liabilities).</a:t>
            </a:r>
          </a:p>
          <a:p>
            <a:pPr lvl="1"/>
            <a:r>
              <a:rPr lang="en-US" altLang="en-US" dirty="0">
                <a:latin typeface="Arial (Body)"/>
              </a:rPr>
              <a:t>Appreciation of the value of foreign currencies makes foreign assets held by the United States more valuable, but does not change the dollar value of dollar-denominated debt for the United States</a:t>
            </a:r>
          </a:p>
        </p:txBody>
      </p:sp>
    </p:spTree>
    <p:extLst>
      <p:ext uri="{BB962C8B-B14F-4D97-AF65-F5344CB8AC3E}">
        <p14:creationId xmlns:p14="http://schemas.microsoft.com/office/powerpoint/2010/main" val="4184059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(1 of 8)</a:t>
            </a:r>
            <a:endParaRPr lang="en-IN" sz="2000" dirty="0"/>
          </a:p>
        </p:txBody>
      </p:sp>
      <p:pic>
        <p:nvPicPr>
          <p:cNvPr id="26" name="Content Placeholder 25" descr="A table lists the change in the year-end U S net international investment position. For long description in Notes pane, press F6.">
            <a:extLst>
              <a:ext uri="{FF2B5EF4-FFF2-40B4-BE49-F238E27FC236}">
                <a16:creationId xmlns:a16="http://schemas.microsoft.com/office/drawing/2014/main" id="{BC78E11D-12D7-403E-A6B5-2A1C6E59D7C5}"/>
              </a:ext>
            </a:extLst>
          </p:cNvPr>
          <p:cNvPicPr>
            <a:picLocks noGrp="1" noChangeAspect="1"/>
          </p:cNvPicPr>
          <p:nvPr>
            <p:ph sz="quarter" idx="13"/>
          </p:nvPr>
        </p:nvPicPr>
        <p:blipFill>
          <a:blip r:embed="rId3"/>
          <a:stretch>
            <a:fillRect/>
          </a:stretch>
        </p:blipFill>
        <p:spPr>
          <a:xfrm>
            <a:off x="515658" y="1550224"/>
            <a:ext cx="8112683" cy="4277413"/>
          </a:xfrm>
        </p:spPr>
      </p:pic>
    </p:spTree>
    <p:extLst>
      <p:ext uri="{BB962C8B-B14F-4D97-AF65-F5344CB8AC3E}">
        <p14:creationId xmlns:p14="http://schemas.microsoft.com/office/powerpoint/2010/main" val="1595768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(2 of 8)</a:t>
            </a:r>
            <a:endParaRPr lang="en-IN" sz="2000" dirty="0"/>
          </a:p>
        </p:txBody>
      </p:sp>
      <p:pic>
        <p:nvPicPr>
          <p:cNvPr id="18" name="Content Placeholder 17" descr="A table lists the change in the year-end U S net international investment position. For long description in Notes pane, press F6.">
            <a:extLst>
              <a:ext uri="{FF2B5EF4-FFF2-40B4-BE49-F238E27FC236}">
                <a16:creationId xmlns:a16="http://schemas.microsoft.com/office/drawing/2014/main" id="{353291F9-EC10-486F-89CF-27FFDFB9C64F}"/>
              </a:ext>
            </a:extLst>
          </p:cNvPr>
          <p:cNvPicPr>
            <a:picLocks noGrp="1" noChangeAspect="1"/>
          </p:cNvPicPr>
          <p:nvPr>
            <p:ph sz="quarter" idx="13"/>
          </p:nvPr>
        </p:nvPicPr>
        <p:blipFill>
          <a:blip r:embed="rId3"/>
          <a:stretch>
            <a:fillRect/>
          </a:stretch>
        </p:blipFill>
        <p:spPr>
          <a:xfrm>
            <a:off x="497376" y="1577498"/>
            <a:ext cx="8149249" cy="4544379"/>
          </a:xfrm>
        </p:spPr>
      </p:pic>
    </p:spTree>
    <p:extLst>
      <p:ext uri="{BB962C8B-B14F-4D97-AF65-F5344CB8AC3E}">
        <p14:creationId xmlns:p14="http://schemas.microsoft.com/office/powerpoint/2010/main" val="28860022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(3 of 8)</a:t>
            </a:r>
            <a:endParaRPr lang="en-IN" sz="2000" dirty="0"/>
          </a:p>
        </p:txBody>
      </p:sp>
      <p:pic>
        <p:nvPicPr>
          <p:cNvPr id="7" name="Content Placeholder 6" descr="A table lists the change in the year-end U S net international investment position. For long description in Notes pane, press F6.">
            <a:extLst>
              <a:ext uri="{FF2B5EF4-FFF2-40B4-BE49-F238E27FC236}">
                <a16:creationId xmlns:a16="http://schemas.microsoft.com/office/drawing/2014/main" id="{18523AA3-449F-451B-8ED3-E4C576806B77}"/>
              </a:ext>
            </a:extLst>
          </p:cNvPr>
          <p:cNvPicPr>
            <a:picLocks noGrp="1" noChangeAspect="1"/>
          </p:cNvPicPr>
          <p:nvPr>
            <p:ph sz="quarter" idx="13"/>
          </p:nvPr>
        </p:nvPicPr>
        <p:blipFill>
          <a:blip r:embed="rId3"/>
          <a:stretch>
            <a:fillRect/>
          </a:stretch>
        </p:blipFill>
        <p:spPr>
          <a:xfrm>
            <a:off x="457200" y="1603067"/>
            <a:ext cx="8229600" cy="4493241"/>
          </a:xfrm>
        </p:spPr>
      </p:pic>
    </p:spTree>
    <p:extLst>
      <p:ext uri="{BB962C8B-B14F-4D97-AF65-F5344CB8AC3E}">
        <p14:creationId xmlns:p14="http://schemas.microsoft.com/office/powerpoint/2010/main" val="2985541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(4 of 8)</a:t>
            </a:r>
            <a:endParaRPr lang="en-IN" sz="2000" dirty="0"/>
          </a:p>
        </p:txBody>
      </p:sp>
      <p:pic>
        <p:nvPicPr>
          <p:cNvPr id="8" name="Content Placeholder 7" descr="A table lists the change in the year-end U S net international investment position. For long description in Notes pane, press F6.">
            <a:extLst>
              <a:ext uri="{FF2B5EF4-FFF2-40B4-BE49-F238E27FC236}">
                <a16:creationId xmlns:a16="http://schemas.microsoft.com/office/drawing/2014/main" id="{4702B69E-9E7E-42F5-8272-CD2163184825}"/>
              </a:ext>
            </a:extLst>
          </p:cNvPr>
          <p:cNvPicPr>
            <a:picLocks noGrp="1" noChangeAspect="1"/>
          </p:cNvPicPr>
          <p:nvPr>
            <p:ph sz="quarter" idx="13"/>
          </p:nvPr>
        </p:nvPicPr>
        <p:blipFill>
          <a:blip r:embed="rId3"/>
          <a:stretch>
            <a:fillRect/>
          </a:stretch>
        </p:blipFill>
        <p:spPr>
          <a:xfrm>
            <a:off x="469791" y="1558147"/>
            <a:ext cx="8204418" cy="4372228"/>
          </a:xfrm>
        </p:spPr>
      </p:pic>
    </p:spTree>
    <p:extLst>
      <p:ext uri="{BB962C8B-B14F-4D97-AF65-F5344CB8AC3E}">
        <p14:creationId xmlns:p14="http://schemas.microsoft.com/office/powerpoint/2010/main" val="14806974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(5 of 8)</a:t>
            </a:r>
            <a:endParaRPr lang="en-IN" sz="2000" dirty="0"/>
          </a:p>
        </p:txBody>
      </p:sp>
      <p:pic>
        <p:nvPicPr>
          <p:cNvPr id="27" name="Content Placeholder 26" descr="A table lists the change in the year-end U S net international investment position. For long description in Notes pane, press F6.">
            <a:extLst>
              <a:ext uri="{FF2B5EF4-FFF2-40B4-BE49-F238E27FC236}">
                <a16:creationId xmlns:a16="http://schemas.microsoft.com/office/drawing/2014/main" id="{AE0CC7AF-A92B-46D1-90CB-F979A4A48C86}"/>
              </a:ext>
            </a:extLst>
          </p:cNvPr>
          <p:cNvPicPr>
            <a:picLocks noGrp="1" noChangeAspect="1"/>
          </p:cNvPicPr>
          <p:nvPr>
            <p:ph sz="quarter" idx="13"/>
          </p:nvPr>
        </p:nvPicPr>
        <p:blipFill>
          <a:blip r:embed="rId3"/>
          <a:stretch>
            <a:fillRect/>
          </a:stretch>
        </p:blipFill>
        <p:spPr>
          <a:xfrm>
            <a:off x="441660" y="1568242"/>
            <a:ext cx="8260681" cy="4617187"/>
          </a:xfrm>
        </p:spPr>
      </p:pic>
    </p:spTree>
    <p:extLst>
      <p:ext uri="{BB962C8B-B14F-4D97-AF65-F5344CB8AC3E}">
        <p14:creationId xmlns:p14="http://schemas.microsoft.com/office/powerpoint/2010/main" val="21442548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(6 of 8)</a:t>
            </a:r>
            <a:endParaRPr lang="en-IN" sz="2000" dirty="0"/>
          </a:p>
        </p:txBody>
      </p:sp>
      <p:pic>
        <p:nvPicPr>
          <p:cNvPr id="24" name="Content Placeholder 23" descr="A table lists the change in the year-end U S net international investment position. For long description in Notes pane, press F6.">
            <a:extLst>
              <a:ext uri="{FF2B5EF4-FFF2-40B4-BE49-F238E27FC236}">
                <a16:creationId xmlns:a16="http://schemas.microsoft.com/office/drawing/2014/main" id="{FDE0093D-77A8-4141-BAD4-070DB528646A}"/>
              </a:ext>
            </a:extLst>
          </p:cNvPr>
          <p:cNvPicPr>
            <a:picLocks noGrp="1" noChangeAspect="1"/>
          </p:cNvPicPr>
          <p:nvPr>
            <p:ph sz="quarter" idx="13"/>
          </p:nvPr>
        </p:nvPicPr>
        <p:blipFill>
          <a:blip r:embed="rId3"/>
          <a:stretch>
            <a:fillRect/>
          </a:stretch>
        </p:blipFill>
        <p:spPr>
          <a:xfrm>
            <a:off x="445086" y="1539393"/>
            <a:ext cx="8253827" cy="4540126"/>
          </a:xfrm>
        </p:spPr>
      </p:pic>
    </p:spTree>
    <p:extLst>
      <p:ext uri="{BB962C8B-B14F-4D97-AF65-F5344CB8AC3E}">
        <p14:creationId xmlns:p14="http://schemas.microsoft.com/office/powerpoint/2010/main" val="1492248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(7 of 8)</a:t>
            </a:r>
            <a:endParaRPr lang="en-IN" sz="2000" dirty="0"/>
          </a:p>
        </p:txBody>
      </p:sp>
      <p:pic>
        <p:nvPicPr>
          <p:cNvPr id="9" name="Content Placeholder 8" descr="A table lists the change in the year-end U S net international investment position. For long description in Notes pane, press F6.">
            <a:extLst>
              <a:ext uri="{FF2B5EF4-FFF2-40B4-BE49-F238E27FC236}">
                <a16:creationId xmlns:a16="http://schemas.microsoft.com/office/drawing/2014/main" id="{7454A0BC-6A84-4AF2-BFE2-9FD8F767618A}"/>
              </a:ext>
            </a:extLst>
          </p:cNvPr>
          <p:cNvPicPr>
            <a:picLocks noGrp="1" noChangeAspect="1"/>
          </p:cNvPicPr>
          <p:nvPr>
            <p:ph sz="quarter" idx="13"/>
          </p:nvPr>
        </p:nvPicPr>
        <p:blipFill>
          <a:blip r:embed="rId4"/>
          <a:stretch>
            <a:fillRect/>
          </a:stretch>
        </p:blipFill>
        <p:spPr>
          <a:xfrm>
            <a:off x="498141" y="1582430"/>
            <a:ext cx="7873081" cy="2292965"/>
          </a:xfrm>
        </p:spPr>
      </p:pic>
      <p:sp>
        <p:nvSpPr>
          <p:cNvPr id="4" name="Content Placeholder 11"/>
          <p:cNvSpPr>
            <a:spLocks noGrp="1"/>
          </p:cNvSpPr>
          <p:nvPr>
            <p:ph sz="quarter" idx="14"/>
          </p:nvPr>
        </p:nvSpPr>
        <p:spPr>
          <a:xfrm>
            <a:off x="447676" y="4057044"/>
            <a:ext cx="4429124" cy="343247"/>
          </a:xfrm>
        </p:spPr>
        <p:txBody>
          <a:bodyPr lIns="0" tIns="0" rIns="0" bIns="0"/>
          <a:lstStyle/>
          <a:p>
            <a:pPr marL="0" indent="0">
              <a:spcBef>
                <a:spcPts val="200"/>
              </a:spcBef>
              <a:buNone/>
            </a:pPr>
            <a:r>
              <a:rPr lang="en-US" sz="1600" dirty="0">
                <a:latin typeface="Arial (Body)"/>
              </a:rPr>
              <a:t>r Revised; n.a. Not available.  . . . Not applicable</a:t>
            </a:r>
            <a:endParaRPr lang="en-IN" sz="1600" dirty="0"/>
          </a:p>
        </p:txBody>
      </p:sp>
      <p:graphicFrame>
        <p:nvGraphicFramePr>
          <p:cNvPr id="5" name="Object 4" descr="left parenthesis asterisk right parenthesis"/>
          <p:cNvGraphicFramePr>
            <a:graphicFrameLocks noChangeAspect="1"/>
          </p:cNvGraphicFramePr>
          <p:nvPr>
            <p:extLst>
              <p:ext uri="{D42A27DB-BD31-4B8C-83A1-F6EECF244321}">
                <p14:modId xmlns:p14="http://schemas.microsoft.com/office/powerpoint/2010/main" val="148440101"/>
              </p:ext>
            </p:extLst>
          </p:nvPr>
        </p:nvGraphicFramePr>
        <p:xfrm>
          <a:off x="4937415" y="4051300"/>
          <a:ext cx="273050" cy="271463"/>
        </p:xfrm>
        <a:graphic>
          <a:graphicData uri="http://schemas.openxmlformats.org/presentationml/2006/ole">
            <mc:AlternateContent xmlns:mc="http://schemas.openxmlformats.org/markup-compatibility/2006">
              <mc:Choice xmlns:v="urn:schemas-microsoft-com:vml" Requires="v">
                <p:oleObj spid="_x0000_s16460" name="Equation" r:id="rId5" imgW="203040" imgH="203040" progId="Equation.DSMT4">
                  <p:embed/>
                </p:oleObj>
              </mc:Choice>
              <mc:Fallback>
                <p:oleObj name="Equation" r:id="rId5" imgW="203040" imgH="203040" progId="Equation.DSMT4">
                  <p:embed/>
                  <p:pic>
                    <p:nvPicPr>
                      <p:cNvPr id="0" name=""/>
                      <p:cNvPicPr/>
                      <p:nvPr/>
                    </p:nvPicPr>
                    <p:blipFill>
                      <a:blip r:embed="rId6"/>
                      <a:stretch>
                        <a:fillRect/>
                      </a:stretch>
                    </p:blipFill>
                    <p:spPr>
                      <a:xfrm>
                        <a:off x="4937415" y="4051300"/>
                        <a:ext cx="273050" cy="271463"/>
                      </a:xfrm>
                      <a:prstGeom prst="rect">
                        <a:avLst/>
                      </a:prstGeom>
                    </p:spPr>
                  </p:pic>
                </p:oleObj>
              </mc:Fallback>
            </mc:AlternateContent>
          </a:graphicData>
        </a:graphic>
      </p:graphicFrame>
      <p:sp>
        <p:nvSpPr>
          <p:cNvPr id="13" name="Content Placeholder 12"/>
          <p:cNvSpPr>
            <a:spLocks noGrp="1"/>
          </p:cNvSpPr>
          <p:nvPr>
            <p:ph sz="quarter" idx="15"/>
          </p:nvPr>
        </p:nvSpPr>
        <p:spPr>
          <a:xfrm>
            <a:off x="5296412" y="4076094"/>
            <a:ext cx="2265141" cy="264678"/>
          </a:xfrm>
        </p:spPr>
        <p:txBody>
          <a:bodyPr lIns="0" tIns="0" rIns="0" bIns="0"/>
          <a:lstStyle/>
          <a:p>
            <a:pPr marL="0" indent="0">
              <a:spcBef>
                <a:spcPts val="200"/>
              </a:spcBef>
              <a:buNone/>
            </a:pPr>
            <a:r>
              <a:rPr lang="en-US" sz="1600" dirty="0">
                <a:latin typeface="Arial (Body)"/>
              </a:rPr>
              <a:t>Value between zero and</a:t>
            </a:r>
            <a:endParaRPr lang="en-IN" sz="1600" dirty="0"/>
          </a:p>
        </p:txBody>
      </p:sp>
      <p:graphicFrame>
        <p:nvGraphicFramePr>
          <p:cNvPr id="30" name="Object 29" descr="+ or minus $50 million"/>
          <p:cNvGraphicFramePr>
            <a:graphicFrameLocks noChangeAspect="1"/>
          </p:cNvGraphicFramePr>
          <p:nvPr>
            <p:extLst>
              <p:ext uri="{D42A27DB-BD31-4B8C-83A1-F6EECF244321}">
                <p14:modId xmlns:p14="http://schemas.microsoft.com/office/powerpoint/2010/main" val="635497184"/>
              </p:ext>
            </p:extLst>
          </p:nvPr>
        </p:nvGraphicFramePr>
        <p:xfrm>
          <a:off x="498141" y="4453373"/>
          <a:ext cx="1290828" cy="230505"/>
        </p:xfrm>
        <a:graphic>
          <a:graphicData uri="http://schemas.openxmlformats.org/presentationml/2006/ole">
            <mc:AlternateContent xmlns:mc="http://schemas.openxmlformats.org/markup-compatibility/2006">
              <mc:Choice xmlns:v="urn:schemas-microsoft-com:vml" Requires="v">
                <p:oleObj spid="_x0000_s16461" name="Equation" r:id="rId7" imgW="1066680" imgH="190440" progId="Equation.DSMT4">
                  <p:embed/>
                </p:oleObj>
              </mc:Choice>
              <mc:Fallback>
                <p:oleObj name="Equation" r:id="rId7" imgW="1066680" imgH="190440" progId="Equation.DSMT4">
                  <p:embed/>
                  <p:pic>
                    <p:nvPicPr>
                      <p:cNvPr id="0" name=""/>
                      <p:cNvPicPr/>
                      <p:nvPr/>
                    </p:nvPicPr>
                    <p:blipFill>
                      <a:blip r:embed="rId8"/>
                      <a:stretch>
                        <a:fillRect/>
                      </a:stretch>
                    </p:blipFill>
                    <p:spPr>
                      <a:xfrm>
                        <a:off x="498141" y="4453373"/>
                        <a:ext cx="1290828" cy="230505"/>
                      </a:xfrm>
                      <a:prstGeom prst="rect">
                        <a:avLst/>
                      </a:prstGeom>
                    </p:spPr>
                  </p:pic>
                </p:oleObj>
              </mc:Fallback>
            </mc:AlternateContent>
          </a:graphicData>
        </a:graphic>
      </p:graphicFrame>
      <p:sp>
        <p:nvSpPr>
          <p:cNvPr id="14" name="Content Placeholder 13"/>
          <p:cNvSpPr>
            <a:spLocks noGrp="1"/>
          </p:cNvSpPr>
          <p:nvPr>
            <p:ph sz="quarter" idx="16"/>
          </p:nvPr>
        </p:nvSpPr>
        <p:spPr>
          <a:xfrm>
            <a:off x="457200" y="4940517"/>
            <a:ext cx="8385676" cy="583984"/>
          </a:xfrm>
        </p:spPr>
        <p:txBody>
          <a:bodyPr lIns="0" tIns="0" rIns="0" bIns="0"/>
          <a:lstStyle/>
          <a:p>
            <a:pPr marL="432000" indent="-432000">
              <a:buFont typeface="+mj-lt"/>
              <a:buAutoNum type="arabicPeriod"/>
            </a:pPr>
            <a:r>
              <a:rPr lang="en-US" sz="1600" dirty="0">
                <a:latin typeface="Arial (Body)"/>
              </a:rPr>
              <a:t>Represents gains or losses on foreign-currency-denominated assets and liabilities due to their revaluation at current exchange rates.</a:t>
            </a:r>
          </a:p>
        </p:txBody>
      </p:sp>
    </p:spTree>
    <p:extLst>
      <p:ext uri="{BB962C8B-B14F-4D97-AF65-F5344CB8AC3E}">
        <p14:creationId xmlns:p14="http://schemas.microsoft.com/office/powerpoint/2010/main" val="6933509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Table 13.3 </a:t>
            </a:r>
            <a:r>
              <a:rPr lang="en-US" sz="2400" dirty="0"/>
              <a:t>Change in the Yearend U.S. Net International Investment Position (Billions of Dollars) </a:t>
            </a:r>
            <a:r>
              <a:rPr lang="en-US" sz="2000" b="0" dirty="0"/>
              <a:t>(8 of 8)</a:t>
            </a:r>
            <a:endParaRPr lang="en-IN" sz="2000" dirty="0"/>
          </a:p>
        </p:txBody>
      </p:sp>
      <p:sp>
        <p:nvSpPr>
          <p:cNvPr id="3" name="Content Placeholder 2"/>
          <p:cNvSpPr>
            <a:spLocks noGrp="1"/>
          </p:cNvSpPr>
          <p:nvPr>
            <p:ph sz="quarter" idx="13"/>
          </p:nvPr>
        </p:nvSpPr>
        <p:spPr>
          <a:xfrm>
            <a:off x="457200" y="1556327"/>
            <a:ext cx="8424863" cy="3465616"/>
          </a:xfrm>
        </p:spPr>
        <p:txBody>
          <a:bodyPr lIns="0" tIns="0" rIns="0" bIns="0"/>
          <a:lstStyle/>
          <a:p>
            <a:pPr marL="432000" indent="-432000">
              <a:buFont typeface="+mj-lt"/>
              <a:buAutoNum type="arabicPeriod" startAt="2"/>
            </a:pPr>
            <a:r>
              <a:rPr lang="en-US" sz="1800" dirty="0">
                <a:latin typeface="Arial (Body)"/>
              </a:rPr>
              <a:t>Includes changes due to year-to-year shifts in the composition of reporting panels and to the incorporation of more comprehensive survey results. Also includes capital gains and losses of direct investment affiliates and changes in positions that cannot be allocated to financial transactions, price changes, or exchange-rate changes.</a:t>
            </a:r>
          </a:p>
          <a:p>
            <a:pPr marL="432000" indent="-432000">
              <a:buFont typeface="+mj-lt"/>
              <a:buAutoNum type="arabicPeriod" startAt="2"/>
            </a:pPr>
            <a:r>
              <a:rPr lang="en-US" sz="1800" dirty="0">
                <a:latin typeface="Arial (Body)"/>
              </a:rPr>
              <a:t>Financial transactions and other changes in financial derivatives positions are available only on a net basis, which is shown on line 3; they are not separately available for gross positive fair values and gross negative fair values of financial derivatives.</a:t>
            </a:r>
          </a:p>
          <a:p>
            <a:pPr marL="432000" indent="-432000">
              <a:buFont typeface="+mj-lt"/>
              <a:buAutoNum type="arabicPeriod" startAt="2"/>
            </a:pPr>
            <a:r>
              <a:rPr lang="en-US" sz="1800" dirty="0">
                <a:latin typeface="Arial (Body)"/>
              </a:rPr>
              <a:t>Data are not separately available for price changes, exchange-rate changes, and changes in volume and valuation not included elsewhere.</a:t>
            </a:r>
            <a:endParaRPr lang="en-IN" sz="1800" dirty="0"/>
          </a:p>
        </p:txBody>
      </p:sp>
      <p:sp>
        <p:nvSpPr>
          <p:cNvPr id="4" name="Content Placeholder 3"/>
          <p:cNvSpPr>
            <a:spLocks noGrp="1"/>
          </p:cNvSpPr>
          <p:nvPr>
            <p:ph sz="quarter" idx="14"/>
          </p:nvPr>
        </p:nvSpPr>
        <p:spPr>
          <a:xfrm>
            <a:off x="457200" y="5192066"/>
            <a:ext cx="8229600" cy="884270"/>
          </a:xfrm>
        </p:spPr>
        <p:txBody>
          <a:bodyPr/>
          <a:lstStyle/>
          <a:p>
            <a:pPr marL="0" indent="0">
              <a:spcBef>
                <a:spcPts val="200"/>
              </a:spcBef>
              <a:buNone/>
            </a:pPr>
            <a:r>
              <a:rPr lang="en-US" sz="1800" b="1" dirty="0">
                <a:latin typeface="Arial (Body)"/>
              </a:rPr>
              <a:t>Note: </a:t>
            </a:r>
            <a:r>
              <a:rPr lang="en-US" sz="1800" dirty="0">
                <a:latin typeface="Arial (Body)"/>
              </a:rPr>
              <a:t>Details may not add to totals because of rounding.</a:t>
            </a:r>
          </a:p>
          <a:p>
            <a:pPr marL="0" indent="0">
              <a:spcBef>
                <a:spcPts val="200"/>
              </a:spcBef>
              <a:buNone/>
            </a:pPr>
            <a:r>
              <a:rPr lang="en-US" sz="1800" b="1" dirty="0">
                <a:latin typeface="Arial (Body)"/>
              </a:rPr>
              <a:t>Source: </a:t>
            </a:r>
            <a:r>
              <a:rPr lang="en-US" sz="1800" dirty="0">
                <a:latin typeface="Arial (Body)"/>
              </a:rPr>
              <a:t>U.S. Bureau of Economic Analysis, June 20, 2020.</a:t>
            </a:r>
          </a:p>
        </p:txBody>
      </p:sp>
    </p:spTree>
    <p:extLst>
      <p:ext uri="{BB962C8B-B14F-4D97-AF65-F5344CB8AC3E}">
        <p14:creationId xmlns:p14="http://schemas.microsoft.com/office/powerpoint/2010/main" val="368121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3)</a:t>
            </a:r>
            <a:endParaRPr lang="en-IN" dirty="0"/>
          </a:p>
        </p:txBody>
      </p:sp>
      <p:sp>
        <p:nvSpPr>
          <p:cNvPr id="3" name="Content Placeholder 2"/>
          <p:cNvSpPr>
            <a:spLocks noGrp="1"/>
          </p:cNvSpPr>
          <p:nvPr>
            <p:ph sz="quarter" idx="13"/>
          </p:nvPr>
        </p:nvSpPr>
        <p:spPr>
          <a:xfrm>
            <a:off x="457200" y="1556327"/>
            <a:ext cx="8105775" cy="4586896"/>
          </a:xfrm>
        </p:spPr>
        <p:txBody>
          <a:bodyPr/>
          <a:lstStyle/>
          <a:p>
            <a:pPr marL="432000" indent="-432000">
              <a:buFont typeface="+mj-lt"/>
              <a:buAutoNum type="arabicPeriod"/>
            </a:pPr>
            <a:r>
              <a:rPr lang="en-US" altLang="en-US" dirty="0">
                <a:latin typeface="Arial (Body)"/>
              </a:rPr>
              <a:t>A country’</a:t>
            </a:r>
            <a:r>
              <a:rPr lang="en-US" altLang="ja-JP" dirty="0">
                <a:latin typeface="Arial (Body)"/>
              </a:rPr>
              <a:t>s G</a:t>
            </a:r>
            <a:r>
              <a:rPr lang="en-US" altLang="ja-JP" sz="100" dirty="0">
                <a:latin typeface="Arial (Body)"/>
              </a:rPr>
              <a:t> </a:t>
            </a:r>
            <a:r>
              <a:rPr lang="en-US" altLang="ja-JP" dirty="0">
                <a:latin typeface="Arial (Body)"/>
              </a:rPr>
              <a:t>N</a:t>
            </a:r>
            <a:r>
              <a:rPr lang="en-US" altLang="ja-JP" sz="100" dirty="0">
                <a:latin typeface="Arial (Body)"/>
              </a:rPr>
              <a:t> </a:t>
            </a:r>
            <a:r>
              <a:rPr lang="en-US" altLang="ja-JP" dirty="0">
                <a:latin typeface="Arial (Body)"/>
              </a:rPr>
              <a:t>P is roughly equal to the income received by its factors of production.</a:t>
            </a:r>
          </a:p>
          <a:p>
            <a:pPr marL="432000" indent="-432000">
              <a:buFont typeface="+mj-lt"/>
              <a:buAutoNum type="arabicPeriod"/>
            </a:pPr>
            <a:r>
              <a:rPr lang="en-US" altLang="en-US" dirty="0">
                <a:latin typeface="Arial (Body)"/>
              </a:rPr>
              <a:t>In an open economy,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equals the sum of consumption, investment, government purchases, and the current account.</a:t>
            </a:r>
          </a:p>
          <a:p>
            <a:pPr marL="432000" indent="-432000">
              <a:buFont typeface="+mj-lt"/>
              <a:buAutoNum type="arabicPeriod"/>
            </a:pPr>
            <a:r>
              <a:rPr lang="en-US" altLang="en-US" dirty="0">
                <a:latin typeface="Arial (Body)"/>
              </a:rPr>
              <a:t>G</a:t>
            </a:r>
            <a:r>
              <a:rPr lang="en-US" altLang="en-US" sz="100" dirty="0">
                <a:latin typeface="Arial (Body)"/>
              </a:rPr>
              <a:t> </a:t>
            </a:r>
            <a:r>
              <a:rPr lang="en-US" altLang="en-US" dirty="0">
                <a:latin typeface="Arial (Body)"/>
              </a:rPr>
              <a:t>D</a:t>
            </a:r>
            <a:r>
              <a:rPr lang="en-US" altLang="en-US" sz="100" dirty="0">
                <a:latin typeface="Arial (Body)"/>
              </a:rPr>
              <a:t> </a:t>
            </a:r>
            <a:r>
              <a:rPr lang="en-US" altLang="en-US" dirty="0">
                <a:latin typeface="Arial (Body)"/>
              </a:rPr>
              <a:t>P is equal to G</a:t>
            </a:r>
            <a:r>
              <a:rPr lang="en-US" altLang="en-US" sz="100" dirty="0">
                <a:latin typeface="Arial (Body)"/>
              </a:rPr>
              <a:t> </a:t>
            </a:r>
            <a:r>
              <a:rPr lang="en-US" altLang="en-US" dirty="0">
                <a:latin typeface="Arial (Body)"/>
              </a:rPr>
              <a:t>N</a:t>
            </a:r>
            <a:r>
              <a:rPr lang="en-US" altLang="en-US" sz="100" dirty="0">
                <a:latin typeface="Arial (Body)"/>
              </a:rPr>
              <a:t> </a:t>
            </a:r>
            <a:r>
              <a:rPr lang="en-US" altLang="en-US" dirty="0">
                <a:latin typeface="Arial (Body)"/>
              </a:rPr>
              <a:t>P minus net income from foreign countries for factors of production. It measures the value of output produced within a country’</a:t>
            </a:r>
            <a:r>
              <a:rPr lang="en-US" altLang="ja-JP" dirty="0">
                <a:latin typeface="Arial (Body)"/>
              </a:rPr>
              <a:t>s borders.</a:t>
            </a:r>
            <a:endParaRPr lang="en-US" altLang="en-US" dirty="0">
              <a:latin typeface="Arial (Body)"/>
            </a:endParaRPr>
          </a:p>
        </p:txBody>
      </p:sp>
    </p:spTree>
    <p:extLst>
      <p:ext uri="{BB962C8B-B14F-4D97-AF65-F5344CB8AC3E}">
        <p14:creationId xmlns:p14="http://schemas.microsoft.com/office/powerpoint/2010/main" val="4017362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(2 of 3)</a:t>
            </a:r>
            <a:endParaRPr lang="en-IN" dirty="0"/>
          </a:p>
        </p:txBody>
      </p:sp>
      <p:sp>
        <p:nvSpPr>
          <p:cNvPr id="3" name="Content Placeholder 2"/>
          <p:cNvSpPr>
            <a:spLocks noGrp="1"/>
          </p:cNvSpPr>
          <p:nvPr>
            <p:ph sz="quarter" idx="13"/>
          </p:nvPr>
        </p:nvSpPr>
        <p:spPr>
          <a:xfrm>
            <a:off x="457200" y="1552575"/>
            <a:ext cx="7429500" cy="376238"/>
          </a:xfrm>
        </p:spPr>
        <p:txBody>
          <a:bodyPr lIns="0" tIns="0" rIns="0" bIns="0"/>
          <a:lstStyle/>
          <a:p>
            <a:pPr marL="432000" indent="-432000" eaLnBrk="1" hangingPunct="1">
              <a:buFont typeface="Times" pitchFamily="-1" charset="0"/>
              <a:buAutoNum type="arabicPeriod" startAt="4"/>
            </a:pPr>
            <a:r>
              <a:rPr lang="en-US" altLang="en-US" sz="2200" dirty="0">
                <a:latin typeface="Arial (Body)"/>
              </a:rPr>
              <a:t>National saving minus domestic investment equals the</a:t>
            </a:r>
          </a:p>
        </p:txBody>
      </p:sp>
      <p:sp>
        <p:nvSpPr>
          <p:cNvPr id="4" name="Content Placeholder 3"/>
          <p:cNvSpPr>
            <a:spLocks noGrp="1"/>
          </p:cNvSpPr>
          <p:nvPr>
            <p:ph sz="quarter" idx="14"/>
          </p:nvPr>
        </p:nvSpPr>
        <p:spPr>
          <a:xfrm>
            <a:off x="858093" y="2032000"/>
            <a:ext cx="2065216" cy="400898"/>
          </a:xfrm>
        </p:spPr>
        <p:txBody>
          <a:bodyPr lIns="0" tIns="0" rIns="0" bIns="0"/>
          <a:lstStyle/>
          <a:p>
            <a:pPr marL="432000" indent="-432000">
              <a:buNone/>
            </a:pPr>
            <a:r>
              <a:rPr lang="en-US" altLang="en-US" sz="2200" dirty="0">
                <a:latin typeface="Arial (Body)"/>
              </a:rPr>
              <a:t>current account</a:t>
            </a:r>
            <a:endParaRPr lang="en-IN" sz="2200" dirty="0"/>
          </a:p>
        </p:txBody>
      </p:sp>
      <p:graphicFrame>
        <p:nvGraphicFramePr>
          <p:cNvPr id="6" name="Object 5" descr="left parenthesis approximately equals exports minus imports right parenthesis."/>
          <p:cNvGraphicFramePr>
            <a:graphicFrameLocks noChangeAspect="1"/>
          </p:cNvGraphicFramePr>
          <p:nvPr>
            <p:extLst>
              <p:ext uri="{D42A27DB-BD31-4B8C-83A1-F6EECF244321}">
                <p14:modId xmlns:p14="http://schemas.microsoft.com/office/powerpoint/2010/main" val="1288643405"/>
              </p:ext>
            </p:extLst>
          </p:nvPr>
        </p:nvGraphicFramePr>
        <p:xfrm>
          <a:off x="3016821" y="2020640"/>
          <a:ext cx="3172334" cy="449976"/>
        </p:xfrm>
        <a:graphic>
          <a:graphicData uri="http://schemas.openxmlformats.org/presentationml/2006/ole">
            <mc:AlternateContent xmlns:mc="http://schemas.openxmlformats.org/markup-compatibility/2006">
              <mc:Choice xmlns:v="urn:schemas-microsoft-com:vml" Requires="v">
                <p:oleObj spid="_x0000_s17447" name="Equation" r:id="rId3" imgW="1790640" imgH="253800" progId="Equation.DSMT4">
                  <p:embed/>
                </p:oleObj>
              </mc:Choice>
              <mc:Fallback>
                <p:oleObj name="Equation" r:id="rId3" imgW="1790640" imgH="253800" progId="Equation.DSMT4">
                  <p:embed/>
                  <p:pic>
                    <p:nvPicPr>
                      <p:cNvPr id="0" name=""/>
                      <p:cNvPicPr/>
                      <p:nvPr/>
                    </p:nvPicPr>
                    <p:blipFill>
                      <a:blip r:embed="rId4"/>
                      <a:stretch>
                        <a:fillRect/>
                      </a:stretch>
                    </p:blipFill>
                    <p:spPr>
                      <a:xfrm>
                        <a:off x="3016821" y="2020640"/>
                        <a:ext cx="3172334" cy="449976"/>
                      </a:xfrm>
                      <a:prstGeom prst="rect">
                        <a:avLst/>
                      </a:prstGeom>
                    </p:spPr>
                  </p:pic>
                </p:oleObj>
              </mc:Fallback>
            </mc:AlternateContent>
          </a:graphicData>
        </a:graphic>
      </p:graphicFrame>
      <p:sp>
        <p:nvSpPr>
          <p:cNvPr id="7" name="Content Placeholder 6"/>
          <p:cNvSpPr>
            <a:spLocks noGrp="1"/>
          </p:cNvSpPr>
          <p:nvPr>
            <p:ph sz="quarter" idx="15"/>
          </p:nvPr>
        </p:nvSpPr>
        <p:spPr>
          <a:xfrm>
            <a:off x="457200" y="2563586"/>
            <a:ext cx="8048170" cy="1624530"/>
          </a:xfrm>
        </p:spPr>
        <p:txBody>
          <a:bodyPr lIns="0" tIns="0" rIns="0" bIns="0"/>
          <a:lstStyle/>
          <a:p>
            <a:pPr marL="432000" indent="-432000" eaLnBrk="1" hangingPunct="1">
              <a:buFont typeface="+mj-lt"/>
              <a:buAutoNum type="arabicPeriod" startAt="5"/>
            </a:pPr>
            <a:r>
              <a:rPr lang="en-US" altLang="en-US" sz="2200" dirty="0">
                <a:latin typeface="Arial (Body)"/>
              </a:rPr>
              <a:t>The current account equals the country’</a:t>
            </a:r>
            <a:r>
              <a:rPr lang="en-US" altLang="ja-JP" sz="2200" dirty="0">
                <a:latin typeface="Arial (Body)"/>
              </a:rPr>
              <a:t>s net foreign investment (net outflows of financial assets).</a:t>
            </a:r>
          </a:p>
          <a:p>
            <a:pPr marL="432000" indent="-432000" eaLnBrk="1" hangingPunct="1">
              <a:buFont typeface="Times" pitchFamily="-1" charset="0"/>
              <a:buAutoNum type="arabicPeriod" startAt="5"/>
            </a:pPr>
            <a:r>
              <a:rPr lang="en-US" altLang="en-US" sz="2200" dirty="0">
                <a:latin typeface="Arial (Body)"/>
              </a:rPr>
              <a:t>The balance of payments accounts records flows of goods and services and flows of financial assets across countries.</a:t>
            </a:r>
          </a:p>
        </p:txBody>
      </p:sp>
      <p:sp>
        <p:nvSpPr>
          <p:cNvPr id="8" name="Content Placeholder 7"/>
          <p:cNvSpPr>
            <a:spLocks noGrp="1"/>
          </p:cNvSpPr>
          <p:nvPr>
            <p:ph sz="quarter" idx="16"/>
          </p:nvPr>
        </p:nvSpPr>
        <p:spPr>
          <a:xfrm>
            <a:off x="457199" y="4279246"/>
            <a:ext cx="8048171" cy="1856082"/>
          </a:xfrm>
        </p:spPr>
        <p:txBody>
          <a:bodyPr lIns="0" tIns="0" rIns="0" bIns="0"/>
          <a:lstStyle/>
          <a:p>
            <a:pPr lvl="1" indent="-284400"/>
            <a:r>
              <a:rPr lang="en-US" altLang="en-US" sz="2200" dirty="0">
                <a:latin typeface="Arial (Body)"/>
              </a:rPr>
              <a:t>It has three parts: current account, capital account, and financial account, which balance each other.</a:t>
            </a:r>
          </a:p>
          <a:p>
            <a:pPr lvl="1" indent="-284400"/>
            <a:r>
              <a:rPr lang="en-US" altLang="en-US" sz="2200" dirty="0">
                <a:latin typeface="Arial (Body)"/>
              </a:rPr>
              <a:t>Transactions of goods and services appear in the current account; transactions of financial assets appear in the financial account.</a:t>
            </a:r>
          </a:p>
        </p:txBody>
      </p:sp>
    </p:spTree>
    <p:extLst>
      <p:ext uri="{BB962C8B-B14F-4D97-AF65-F5344CB8AC3E}">
        <p14:creationId xmlns:p14="http://schemas.microsoft.com/office/powerpoint/2010/main" val="304295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3)</a:t>
            </a:r>
            <a:endParaRPr lang="en-IN" dirty="0"/>
          </a:p>
        </p:txBody>
      </p:sp>
      <p:sp>
        <p:nvSpPr>
          <p:cNvPr id="3" name="Content Placeholder 2"/>
          <p:cNvSpPr>
            <a:spLocks noGrp="1"/>
          </p:cNvSpPr>
          <p:nvPr>
            <p:ph sz="quarter" idx="13"/>
          </p:nvPr>
        </p:nvSpPr>
        <p:spPr/>
        <p:txBody>
          <a:bodyPr/>
          <a:lstStyle/>
          <a:p>
            <a:pPr marL="432000" indent="-432000" eaLnBrk="1" hangingPunct="1">
              <a:buFont typeface="Times" pitchFamily="-1" charset="0"/>
              <a:buAutoNum type="arabicPeriod" startAt="7"/>
            </a:pPr>
            <a:r>
              <a:rPr lang="en-US" altLang="en-US" dirty="0">
                <a:latin typeface="Arial (Body)"/>
              </a:rPr>
              <a:t>Official international reserve assets are a component of the financial account, which records official assets held by central banks.</a:t>
            </a:r>
          </a:p>
          <a:p>
            <a:pPr marL="432000" indent="-432000" eaLnBrk="1" hangingPunct="1">
              <a:buFont typeface="Times" pitchFamily="-1" charset="0"/>
              <a:buAutoNum type="arabicPeriod" startAt="7"/>
            </a:pPr>
            <a:r>
              <a:rPr lang="en-US" altLang="en-US" dirty="0">
                <a:latin typeface="Arial (Body)"/>
              </a:rPr>
              <a:t>The official settlements balance is the negative value of official international reserve assets, and it shows a central bank’</a:t>
            </a:r>
            <a:r>
              <a:rPr lang="en-US" altLang="ja-JP" dirty="0">
                <a:latin typeface="Arial (Body)"/>
              </a:rPr>
              <a:t>s holdings of foreign assets relative to foreign central banks’ holdings of domestic assets.</a:t>
            </a:r>
          </a:p>
          <a:p>
            <a:pPr marL="432000" indent="-432000">
              <a:buFont typeface="Times" pitchFamily="-1" charset="0"/>
              <a:buAutoNum type="arabicPeriod" startAt="7"/>
            </a:pPr>
            <a:r>
              <a:rPr lang="en-US" altLang="en-US" dirty="0">
                <a:latin typeface="Arial (Body)"/>
              </a:rPr>
              <a:t>The United States is the largest debtor nation, and its foreign debt continues to grow because its current account continues to be negative.</a:t>
            </a:r>
            <a:endParaRPr lang="en-IN" dirty="0"/>
          </a:p>
        </p:txBody>
      </p:sp>
    </p:spTree>
    <p:extLst>
      <p:ext uri="{BB962C8B-B14F-4D97-AF65-F5344CB8AC3E}">
        <p14:creationId xmlns:p14="http://schemas.microsoft.com/office/powerpoint/2010/main" val="42547940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148818</TotalTime>
  <Words>7287</Words>
  <Application>Microsoft Office PowerPoint</Application>
  <PresentationFormat>On-screen Show (4:3)</PresentationFormat>
  <Paragraphs>346</Paragraphs>
  <Slides>51</Slides>
  <Notes>16</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51</vt:i4>
      </vt:variant>
    </vt:vector>
  </HeadingPairs>
  <TitlesOfParts>
    <vt:vector size="63" baseType="lpstr">
      <vt:lpstr>ＭＳ Ｐゴシック</vt:lpstr>
      <vt:lpstr>Calibri</vt:lpstr>
      <vt:lpstr>SimSun-ExtB</vt:lpstr>
      <vt:lpstr>Arial (Body)</vt:lpstr>
      <vt:lpstr>Verdana</vt:lpstr>
      <vt:lpstr>Times New Roman</vt:lpstr>
      <vt:lpstr>Noto Sans Symbols</vt:lpstr>
      <vt:lpstr>Arial</vt:lpstr>
      <vt:lpstr>Times</vt:lpstr>
      <vt:lpstr>USHE</vt:lpstr>
      <vt:lpstr>USHE_slide options</vt:lpstr>
      <vt:lpstr>Equation</vt:lpstr>
      <vt:lpstr>International Economics: Theory and Policy</vt:lpstr>
      <vt:lpstr>Learning Objectives</vt:lpstr>
      <vt:lpstr>Preview</vt:lpstr>
      <vt:lpstr>The National Income Accounts (1 of 5)</vt:lpstr>
      <vt:lpstr>The National Income Accounts (2 of 5)</vt:lpstr>
      <vt:lpstr>The National Income Accounts (3 of 5)</vt:lpstr>
      <vt:lpstr>Figure 13.1 U.S. GNP and Its Components</vt:lpstr>
      <vt:lpstr>The National Income Accounts (4 of 5)</vt:lpstr>
      <vt:lpstr>The National Income Accounts (5 of 5)</vt:lpstr>
      <vt:lpstr>National Income Accounting for an Open Economy (1 of 2)</vt:lpstr>
      <vt:lpstr>National Income Accounting for an Open Economy (2 of 2)</vt:lpstr>
      <vt:lpstr>Table 13.1 National Income Accounts for Agraria, an Open Economy (Bushels of Wheat)</vt:lpstr>
      <vt:lpstr>Saving and the Current Account</vt:lpstr>
      <vt:lpstr>Private and Government Saving</vt:lpstr>
      <vt:lpstr>Figure 13.2 The U.S. Current Account and Net International Investment Position, 1976–2019</vt:lpstr>
      <vt:lpstr>Balance of Payments Accounts (1 of 2)</vt:lpstr>
      <vt:lpstr>Balance of Payments Accounts (2 of 2)</vt:lpstr>
      <vt:lpstr>Examples of Balance of Payments Accounting (1 of 4)</vt:lpstr>
      <vt:lpstr>Examples of Balance of Payments Accounting (2 of 4)</vt:lpstr>
      <vt:lpstr>Examples of Balance of Payments Accounting (3 of 4)</vt:lpstr>
      <vt:lpstr>Examples of Balance of Payments Accounting (4 of 4)</vt:lpstr>
      <vt:lpstr>How Do the Balance of Payments Accounts Balance?</vt:lpstr>
      <vt:lpstr>Balance of Payments Accounts (1 of 8)</vt:lpstr>
      <vt:lpstr>Balance of Payments Accounts (2 of 8)</vt:lpstr>
      <vt:lpstr>Balance of Payments Accounts (3 of 8)</vt:lpstr>
      <vt:lpstr>Balance of Payments Accounts (4 of 8)</vt:lpstr>
      <vt:lpstr>Balance of Payments Accounts (5 of 8)</vt:lpstr>
      <vt:lpstr>Balance of Payments Accounts (6 of 8)</vt:lpstr>
      <vt:lpstr>Balance of Payments Accounts (7 of 8)</vt:lpstr>
      <vt:lpstr>Balance of Payments Accounts (8 of 8)</vt:lpstr>
      <vt:lpstr>The Mystery of the Missing Deficit (1 of 1)</vt:lpstr>
      <vt:lpstr>The Global Current Account Discrepancy Since 1980</vt:lpstr>
      <vt:lpstr>Table 13.2 U.S. Balance of Payments Accounts for 2019 (Billions of Dollars) (1 of 2)</vt:lpstr>
      <vt:lpstr>Table 13.2 U.S. Balance of Payments Accounts for 2019 (Billions of Dollars) (2 of 2)</vt:lpstr>
      <vt:lpstr>Multinationals’ Profit Shifting and Ireland’s Volatile GDP</vt:lpstr>
      <vt:lpstr>Real G D P Growth in Ireland Since 1999</vt:lpstr>
      <vt:lpstr>U.S. Balance of Payments Accounts (1 of 2)</vt:lpstr>
      <vt:lpstr>Figure 13.3 U.S. Gross Foreign Assets and Liabilities, 1976–2019</vt:lpstr>
      <vt:lpstr>U.S. Balance of Payments Accounts (2 of 2)</vt:lpstr>
      <vt:lpstr>Table 13.3 Change in the Yearend U.S. Net International Investment Position (Billions of Dollars) (1 of 8)</vt:lpstr>
      <vt:lpstr>Table 13.3 Change in the Yearend U.S. Net International Investment Position (Billions of Dollars) (2 of 8)</vt:lpstr>
      <vt:lpstr>Table 13.3 Change in the Yearend U.S. Net International Investment Position (Billions of Dollars) (3 of 8)</vt:lpstr>
      <vt:lpstr>Table 13.3 Change in the Yearend U.S. Net International Investment Position (Billions of Dollars) (4 of 8)</vt:lpstr>
      <vt:lpstr>Table 13.3 Change in the Yearend U.S. Net International Investment Position (Billions of Dollars) (5 of 8)</vt:lpstr>
      <vt:lpstr>Table 13.3 Change in the Yearend U.S. Net International Investment Position (Billions of Dollars) (6 of 8)</vt:lpstr>
      <vt:lpstr>Table 13.3 Change in the Yearend U.S. Net International Investment Position (Billions of Dollars) (7 of 8)</vt:lpstr>
      <vt:lpstr>Table 13.3 Change in the Yearend U.S. Net International Investment Position (Billions of Dollars) (8 of 8)</vt:lpstr>
      <vt:lpstr>Summary (1 of 3)</vt:lpstr>
      <vt:lpstr>Summary (2 of 3)</vt:lpstr>
      <vt:lpstr>Summary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13, National Income Accounting and the Balance of Payments</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dc:description>
  <cp:lastModifiedBy>admin</cp:lastModifiedBy>
  <cp:revision>1149</cp:revision>
  <dcterms:modified xsi:type="dcterms:W3CDTF">2021-11-10T09:16:34Z</dcterms:modified>
</cp:coreProperties>
</file>