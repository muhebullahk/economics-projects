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31"/>
  </p:notesMasterIdLst>
  <p:handoutMasterIdLst>
    <p:handoutMasterId r:id="rId32"/>
  </p:handoutMasterIdLst>
  <p:sldIdLst>
    <p:sldId id="330" r:id="rId3"/>
    <p:sldId id="331" r:id="rId4"/>
    <p:sldId id="334" r:id="rId5"/>
    <p:sldId id="333" r:id="rId6"/>
    <p:sldId id="332" r:id="rId7"/>
    <p:sldId id="335" r:id="rId8"/>
    <p:sldId id="336" r:id="rId9"/>
    <p:sldId id="337" r:id="rId10"/>
    <p:sldId id="338" r:id="rId11"/>
    <p:sldId id="339" r:id="rId12"/>
    <p:sldId id="341" r:id="rId13"/>
    <p:sldId id="340" r:id="rId14"/>
    <p:sldId id="343" r:id="rId15"/>
    <p:sldId id="342" r:id="rId16"/>
    <p:sldId id="344" r:id="rId17"/>
    <p:sldId id="345" r:id="rId18"/>
    <p:sldId id="346" r:id="rId19"/>
    <p:sldId id="347" r:id="rId20"/>
    <p:sldId id="348" r:id="rId21"/>
    <p:sldId id="349" r:id="rId22"/>
    <p:sldId id="350" r:id="rId23"/>
    <p:sldId id="352" r:id="rId24"/>
    <p:sldId id="353" r:id="rId25"/>
    <p:sldId id="351" r:id="rId26"/>
    <p:sldId id="354" r:id="rId27"/>
    <p:sldId id="355" r:id="rId28"/>
    <p:sldId id="356" r:id="rId29"/>
    <p:sldId id="298" r:id="rId30"/>
  </p:sldIdLst>
  <p:sldSz cx="9144000" cy="6858000" type="screen4x3"/>
  <p:notesSz cx="6858000" cy="9144000"/>
  <p:embeddedFontLst>
    <p:embeddedFont>
      <p:font typeface="Calibri" panose="020F050202020403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
      <p:font typeface="Noto Sans Symbols" panose="020B0604020202020204" charset="0"/>
      <p:regular r:id="rId41"/>
      <p:bold r:id="rId42"/>
      <p:italic r:id="rId43"/>
      <p:boldItalic r:id="rId44"/>
    </p:embeddedFont>
    <p:embeddedFont>
      <p:font typeface="Times" panose="02020603050405020304" pitchFamily="18"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72"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981" userDrawn="1">
          <p15:clr>
            <a:srgbClr val="A4A3A4"/>
          </p15:clr>
        </p15:guide>
        <p15:guide id="7" pos="638" userDrawn="1">
          <p15:clr>
            <a:srgbClr val="A4A3A4"/>
          </p15:clr>
        </p15:guide>
        <p15:guide id="8" pos="930" userDrawn="1">
          <p15:clr>
            <a:srgbClr val="A4A3A4"/>
          </p15:clr>
        </p15:guide>
        <p15:guide id="9"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53" autoAdjust="0"/>
    <p:restoredTop sz="88398" autoAdjust="0"/>
  </p:normalViewPr>
  <p:slideViewPr>
    <p:cSldViewPr snapToGrid="0" snapToObjects="1">
      <p:cViewPr varScale="1">
        <p:scale>
          <a:sx n="81" d="100"/>
          <a:sy n="81" d="100"/>
        </p:scale>
        <p:origin x="1992" y="90"/>
      </p:cViewPr>
      <p:guideLst>
        <p:guide orient="horz" pos="3997"/>
        <p:guide pos="272"/>
        <p:guide orient="horz" pos="4178"/>
        <p:guide orient="horz" pos="119"/>
        <p:guide orient="horz" pos="709"/>
        <p:guide orient="horz" pos="981"/>
        <p:guide pos="638"/>
        <p:guide pos="930"/>
        <p:guide orient="horz" pos="82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2.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6.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a:t>
            </a:r>
            <a:r>
              <a:rPr lang="en-US"/>
              <a:t>JAWS users should be able to get a list of links by using INSERT+F7</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bar graph depicts percentage versus decades, 19 89 to 20 18. From 19 89 to 19 95, the traffic rates in Brazil generally fall from 42% to 15%. From 19 96 to 19 98 the percentage rose each decade from 15% to 18%. In 19 98, it started to fall again each decade, from 18% to 11% in 20 07. From 20 07, the percentage rose to 14%, in 20 13 and then fell to 11%, in 20 18. From 19 90 to 19 97, the tariff rates in India generally fall from 82% to 30%. From 19 97 to 20 00, the percentage rose each decade from 30% to 35%. In 20 01, it started to fall again each decade, from 34% to 30% in 20 03. In 20 04, the tariff rate rose to 30% and fell again to from 20 05 to 20 18, at 10%.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346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graph plots the Exports as a percentage of G D P versus year, 19 60 to 20 18. The plot generally rises from (19 60, 9) through (19 74, 12), falls to (19 85, 11), rises through (19 91, 17), to (2005, 31,) and ends at (20 18, 24).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49605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 triple line graph plots the G D P per capita as a percent of the U S level versus year, 19 50 to 20 13, for South Korea, China and India. The plot for South Korea generally rises from (19 50, 8) though (19 96, 46) and (20 19, 68). The plot for China generally rises from (19 50, 5) through (19 96, 7) to (20 19, 19). The plot for India generally rises from (19 50, 3) through (19 96, 5) to (20 19, 9).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14911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 triple line graph plots exports as a percentage of G D P versus year, 19 60 to 20 11, for South Korea, China and India. The plot for South Korea generally rises from (19 63, 5) to (19 87, 38), dips to (19 93, 25), then generally rises to (20 11, 57). The plot for China generally rises from (19 70, 3) through (20 01, 22), then rises to (20 06, 38), dips to (20 09, 28), and rises to (20 11, 32). The plot for India generally rises from (19 60, 4) through (19 84, 5) to (20 11, 21).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3480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28</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Four Content_ 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935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867744"/>
            <a:ext cx="8229600" cy="94513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Content Placeholder 6">
            <a:extLst>
              <a:ext uri="{FF2B5EF4-FFF2-40B4-BE49-F238E27FC236}">
                <a16:creationId xmlns:a16="http://schemas.microsoft.com/office/drawing/2014/main" id="{389BC823-47E6-42C2-871B-F1514A4B185A}"/>
              </a:ext>
            </a:extLst>
          </p:cNvPr>
          <p:cNvSpPr>
            <a:spLocks noGrp="1"/>
          </p:cNvSpPr>
          <p:nvPr>
            <p:ph sz="quarter" idx="15"/>
          </p:nvPr>
        </p:nvSpPr>
        <p:spPr>
          <a:xfrm>
            <a:off x="457200" y="3966175"/>
            <a:ext cx="8229600" cy="94513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240F70FE-CACB-4083-8EAA-78B716864821}"/>
              </a:ext>
            </a:extLst>
          </p:cNvPr>
          <p:cNvSpPr>
            <a:spLocks noGrp="1"/>
          </p:cNvSpPr>
          <p:nvPr>
            <p:ph type="body" sz="quarter" idx="16"/>
          </p:nvPr>
        </p:nvSpPr>
        <p:spPr>
          <a:xfrm>
            <a:off x="560388" y="5081588"/>
            <a:ext cx="8126412" cy="51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Content Placeholder 6">
            <a:extLst>
              <a:ext uri="{FF2B5EF4-FFF2-40B4-BE49-F238E27FC236}">
                <a16:creationId xmlns:a16="http://schemas.microsoft.com/office/drawing/2014/main" id="{554EC29E-00B0-4D6C-8002-83C1F470B978}"/>
              </a:ext>
            </a:extLst>
          </p:cNvPr>
          <p:cNvSpPr>
            <a:spLocks noGrp="1"/>
          </p:cNvSpPr>
          <p:nvPr>
            <p:ph sz="quarter" idx="17"/>
          </p:nvPr>
        </p:nvSpPr>
        <p:spPr>
          <a:xfrm>
            <a:off x="457200" y="5766221"/>
            <a:ext cx="8229600" cy="94513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5">
            <a:extLst>
              <a:ext uri="{FF2B5EF4-FFF2-40B4-BE49-F238E27FC236}">
                <a16:creationId xmlns:a16="http://schemas.microsoft.com/office/drawing/2014/main" id="{A9728878-7AE1-4ED5-8C51-143DFDCAA61B}"/>
              </a:ext>
            </a:extLst>
          </p:cNvPr>
          <p:cNvSpPr>
            <a:spLocks noGrp="1"/>
          </p:cNvSpPr>
          <p:nvPr>
            <p:ph type="body" sz="quarter" idx="18"/>
          </p:nvPr>
        </p:nvSpPr>
        <p:spPr>
          <a:xfrm>
            <a:off x="560388" y="6948488"/>
            <a:ext cx="8126412" cy="51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6">
            <a:extLst>
              <a:ext uri="{FF2B5EF4-FFF2-40B4-BE49-F238E27FC236}">
                <a16:creationId xmlns:a16="http://schemas.microsoft.com/office/drawing/2014/main" id="{1A9A4A29-DA06-43F5-9654-629C6772CD60}"/>
              </a:ext>
            </a:extLst>
          </p:cNvPr>
          <p:cNvSpPr>
            <a:spLocks noGrp="1"/>
          </p:cNvSpPr>
          <p:nvPr>
            <p:ph sz="quarter" idx="19"/>
          </p:nvPr>
        </p:nvSpPr>
        <p:spPr>
          <a:xfrm>
            <a:off x="560388" y="7772821"/>
            <a:ext cx="8229600" cy="94513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73498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3" r:id="rId4"/>
    <p:sldLayoutId id="2147483676" r:id="rId5"/>
    <p:sldLayoutId id="2147483677" r:id="rId6"/>
    <p:sldLayoutId id="2147483678" r:id="rId7"/>
    <p:sldLayoutId id="2147483679" r:id="rId8"/>
    <p:sldLayoutId id="2147483680"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hyperlink" Target="http://data.worldbank.org/indicator/NE.IMP.GNFS.ZS" TargetMode="External"/><Relationship Id="rId4" Type="http://schemas.openxmlformats.org/officeDocument/2006/relationships/hyperlink" Target="http://data.worldbank.org/indicator/NE.EXP.GNFS.Z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solidFill>
                  <a:schemeClr val="tx2"/>
                </a:solidFill>
              </a:rPr>
              <a:t>Twelfth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solidFill>
                  <a:schemeClr val="tx1"/>
                </a:solidFill>
              </a:rPr>
              <a:t>Chapter 11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288972" y="3190880"/>
            <a:ext cx="3210791" cy="1028266"/>
          </a:xfrm>
        </p:spPr>
        <p:txBody>
          <a:bodyPr/>
          <a:lstStyle/>
          <a:p>
            <a:r>
              <a:rPr lang="en-US" altLang="en-US" dirty="0">
                <a:solidFill>
                  <a:schemeClr val="tx1"/>
                </a:solidFill>
              </a:rPr>
              <a:t>Trade Policy in Developing Countries</a:t>
            </a:r>
            <a:endParaRPr lang="en-US" dirty="0">
              <a:solidFill>
                <a:schemeClr val="tx1"/>
              </a:solidFill>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a typeface="Verdana" panose="020B0604030504040204" pitchFamily="34" charset="0"/>
              </a:rPr>
              <a:t>Learning Objectives</a:t>
            </a:r>
            <a:endParaRPr lang="en-US" dirty="0"/>
          </a:p>
        </p:txBody>
      </p:sp>
      <p:sp>
        <p:nvSpPr>
          <p:cNvPr id="4" name="Content Placeholder 3"/>
          <p:cNvSpPr>
            <a:spLocks noGrp="1"/>
          </p:cNvSpPr>
          <p:nvPr>
            <p:ph sz="quarter" idx="13"/>
          </p:nvPr>
        </p:nvSpPr>
        <p:spPr/>
        <p:txBody>
          <a:bodyPr/>
          <a:lstStyle/>
          <a:p>
            <a:pPr marL="0" indent="0">
              <a:buNone/>
            </a:pPr>
            <a:r>
              <a:rPr lang="en-US" b="1" dirty="0">
                <a:solidFill>
                  <a:srgbClr val="007FA3"/>
                </a:solidFill>
                <a:latin typeface="Arial (Body)"/>
                <a:ea typeface="Verdana" panose="020B0604030504040204" pitchFamily="34" charset="0"/>
                <a:cs typeface="Verdana" panose="020B0604030504040204" pitchFamily="34" charset="0"/>
              </a:rPr>
              <a:t>11.1</a:t>
            </a:r>
            <a:r>
              <a:rPr lang="en-US" dirty="0">
                <a:latin typeface="Arial (Body)"/>
                <a:ea typeface="Verdana" panose="020B0604030504040204" pitchFamily="34" charset="0"/>
                <a:cs typeface="Verdana" panose="020B0604030504040204" pitchFamily="34" charset="0"/>
              </a:rPr>
              <a:t> </a:t>
            </a:r>
            <a:r>
              <a:rPr lang="en-US" dirty="0">
                <a:latin typeface="Arial (Body)"/>
              </a:rPr>
              <a:t>Recapitulate the case for protectionism as it has been historically practiced in developing countries and discuss import-substitution-led industrialization and the “infant industry” argument.</a:t>
            </a:r>
            <a:endParaRPr lang="en-US" dirty="0">
              <a:latin typeface="Arial (Body)"/>
              <a:ea typeface="Verdana" panose="020B0604030504040204" pitchFamily="34" charset="0"/>
              <a:cs typeface="Verdana" panose="020B0604030504040204" pitchFamily="34" charset="0"/>
            </a:endParaRP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11.2 </a:t>
            </a:r>
            <a:r>
              <a:rPr lang="en-US" dirty="0">
                <a:latin typeface="Arial (Body)"/>
              </a:rPr>
              <a:t>Summarize the basic ideas behind “economic dualism” and its relationship to international trade.</a:t>
            </a:r>
            <a:endParaRPr lang="en-US" b="1" dirty="0">
              <a:solidFill>
                <a:srgbClr val="007FA3"/>
              </a:solidFill>
              <a:latin typeface="Arial (Body)"/>
              <a:ea typeface="Verdana" panose="020B0604030504040204" pitchFamily="34" charset="0"/>
              <a:cs typeface="Verdana" panose="020B0604030504040204" pitchFamily="34" charset="0"/>
            </a:endParaRP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11.3</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Discuss the recent economic history of the Asian countries, such as China and India, and detail the relationship between their rapid economic growth and their participation in international trade.</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cs typeface="Times New Roman" panose="02020603050405020304" pitchFamily="18" charset="0"/>
              </a:rPr>
              <a:t>Preview</a:t>
            </a:r>
            <a:endParaRPr lang="en-IN" dirty="0">
              <a:cs typeface="Times New Roman" panose="02020603050405020304" pitchFamily="18" charset="0"/>
            </a:endParaRPr>
          </a:p>
        </p:txBody>
      </p:sp>
      <p:sp>
        <p:nvSpPr>
          <p:cNvPr id="7" name="Content Placeholder 6"/>
          <p:cNvSpPr>
            <a:spLocks noGrp="1"/>
          </p:cNvSpPr>
          <p:nvPr>
            <p:ph sz="quarter" idx="13"/>
          </p:nvPr>
        </p:nvSpPr>
        <p:spPr/>
        <p:txBody>
          <a:bodyPr/>
          <a:lstStyle/>
          <a:p>
            <a:pPr eaLnBrk="1" hangingPunct="1"/>
            <a:r>
              <a:rPr lang="en-US" altLang="en-US" dirty="0">
                <a:latin typeface="Arial (Body)"/>
              </a:rPr>
              <a:t>Import-substituting industrialization</a:t>
            </a:r>
          </a:p>
          <a:p>
            <a:pPr eaLnBrk="1" hangingPunct="1"/>
            <a:r>
              <a:rPr lang="en-US" altLang="en-US" dirty="0">
                <a:latin typeface="Arial (Body)"/>
              </a:rPr>
              <a:t>Trade liberalization since 1985</a:t>
            </a:r>
          </a:p>
          <a:p>
            <a:pPr eaLnBrk="1" hangingPunct="1"/>
            <a:r>
              <a:rPr lang="en-US" altLang="en-US" dirty="0">
                <a:latin typeface="Arial (Body)"/>
              </a:rPr>
              <a:t>Trade and growth: takeoff in Asia</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cs typeface="Times New Roman" panose="02020603050405020304" pitchFamily="18" charset="0"/>
              </a:rPr>
              <a:t>Introduction</a:t>
            </a:r>
            <a:endParaRPr lang="en-IN" dirty="0">
              <a:cs typeface="Times New Roman" panose="02020603050405020304" pitchFamily="18" charset="0"/>
            </a:endParaRPr>
          </a:p>
        </p:txBody>
      </p:sp>
      <p:sp>
        <p:nvSpPr>
          <p:cNvPr id="2" name="Content Placeholder 1"/>
          <p:cNvSpPr>
            <a:spLocks noGrp="1"/>
          </p:cNvSpPr>
          <p:nvPr>
            <p:ph sz="quarter" idx="13"/>
          </p:nvPr>
        </p:nvSpPr>
        <p:spPr/>
        <p:txBody>
          <a:bodyPr/>
          <a:lstStyle/>
          <a:p>
            <a:pPr eaLnBrk="1" hangingPunct="1"/>
            <a:r>
              <a:rPr lang="en-US" altLang="en-US" dirty="0">
                <a:latin typeface="Arial (Body)"/>
              </a:rPr>
              <a:t>Which countries are “</a:t>
            </a:r>
            <a:r>
              <a:rPr lang="en-US" altLang="ja-JP" dirty="0">
                <a:latin typeface="Arial (Body)"/>
              </a:rPr>
              <a:t>developing countries”?</a:t>
            </a:r>
          </a:p>
          <a:p>
            <a:pPr eaLnBrk="1" hangingPunct="1"/>
            <a:r>
              <a:rPr lang="en-US" altLang="en-US" dirty="0">
                <a:latin typeface="Arial (Body)"/>
              </a:rPr>
              <a:t>The term “</a:t>
            </a:r>
            <a:r>
              <a:rPr lang="en-US" altLang="ja-JP" dirty="0">
                <a:latin typeface="Arial (Body)"/>
              </a:rPr>
              <a:t>developing countries” does not have a precise definition, but it is a name given to many low- and middle-income countries.</a:t>
            </a:r>
            <a:endParaRPr lang="en-US" altLang="en-US" dirty="0">
              <a:latin typeface="Arial (Body)"/>
            </a:endParaRP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452624" cy="1097279"/>
          </a:xfrm>
        </p:spPr>
        <p:txBody>
          <a:bodyPr anchor="ctr"/>
          <a:lstStyle/>
          <a:p>
            <a:r>
              <a:rPr lang="en-US" altLang="en-US" sz="2600" dirty="0">
                <a:cs typeface="Times New Roman" panose="02020603050405020304" pitchFamily="18" charset="0"/>
              </a:rPr>
              <a:t>Table 11.1 Gross Domestic Product per Capita, 2019 (Dollars, Adjusted for Differences in Price Levels)</a:t>
            </a:r>
            <a:endParaRPr lang="en-IN" sz="2600" dirty="0">
              <a:cs typeface="Times New Roman" panose="02020603050405020304" pitchFamily="18" charset="0"/>
            </a:endParaRPr>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3323501547"/>
              </p:ext>
            </p:extLst>
          </p:nvPr>
        </p:nvGraphicFramePr>
        <p:xfrm>
          <a:off x="457200" y="1654073"/>
          <a:ext cx="8229600" cy="2773680"/>
        </p:xfrm>
        <a:graphic>
          <a:graphicData uri="http://schemas.openxmlformats.org/drawingml/2006/table">
            <a:tbl>
              <a:tblPr firstCol="1" bandRow="1">
                <a:tableStyleId>{2D5ABB26-0587-4C30-8999-92F81FD0307C}</a:tableStyleId>
              </a:tblPr>
              <a:tblGrid>
                <a:gridCol w="4114800">
                  <a:extLst>
                    <a:ext uri="{9D8B030D-6E8A-4147-A177-3AD203B41FA5}">
                      <a16:colId xmlns:a16="http://schemas.microsoft.com/office/drawing/2014/main" val="270111687"/>
                    </a:ext>
                  </a:extLst>
                </a:gridCol>
                <a:gridCol w="4114800">
                  <a:extLst>
                    <a:ext uri="{9D8B030D-6E8A-4147-A177-3AD203B41FA5}">
                      <a16:colId xmlns:a16="http://schemas.microsoft.com/office/drawing/2014/main" val="742603687"/>
                    </a:ext>
                  </a:extLst>
                </a:gridCol>
              </a:tblGrid>
              <a:tr h="370840">
                <a:tc>
                  <a:txBody>
                    <a:bodyPr/>
                    <a:lstStyle/>
                    <a:p>
                      <a:r>
                        <a:rPr lang="en-US" sz="2000" dirty="0"/>
                        <a:t>United States</a:t>
                      </a:r>
                      <a:endParaRPr lang="en-US" sz="2000" b="0" dirty="0">
                        <a:solidFill>
                          <a:schemeClr val="tx1"/>
                        </a:solidFill>
                        <a:latin typeface="Arial (Body)"/>
                      </a:endParaRPr>
                    </a:p>
                  </a:txBody>
                  <a:tcPr marL="123444" marR="123444">
                    <a:lnT w="12700" cap="flat" cmpd="sng" algn="ctr">
                      <a:solidFill>
                        <a:schemeClr val="tx1"/>
                      </a:solidFill>
                      <a:prstDash val="solid"/>
                      <a:round/>
                      <a:headEnd type="none" w="med" len="med"/>
                      <a:tailEnd type="none" w="med" len="med"/>
                    </a:lnT>
                  </a:tcPr>
                </a:tc>
                <a:tc>
                  <a:txBody>
                    <a:bodyPr/>
                    <a:lstStyle/>
                    <a:p>
                      <a:pPr algn="ctr"/>
                      <a:r>
                        <a:rPr lang="en-US" sz="2000" dirty="0"/>
                        <a:t>64,747</a:t>
                      </a:r>
                      <a:endParaRPr lang="en-US" sz="2000" b="0" dirty="0">
                        <a:solidFill>
                          <a:schemeClr val="tx1"/>
                        </a:solidFill>
                        <a:latin typeface="Arial (Body)"/>
                      </a:endParaRPr>
                    </a:p>
                  </a:txBody>
                  <a:tcPr marL="123444" marR="123444">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72960328"/>
                  </a:ext>
                </a:extLst>
              </a:tr>
              <a:tr h="370840">
                <a:tc>
                  <a:txBody>
                    <a:bodyPr/>
                    <a:lstStyle/>
                    <a:p>
                      <a:r>
                        <a:rPr lang="en-US" sz="2000" dirty="0"/>
                        <a:t>Germany</a:t>
                      </a:r>
                      <a:endParaRPr lang="en-US" sz="2000" dirty="0">
                        <a:solidFill>
                          <a:schemeClr val="tx1"/>
                        </a:solidFill>
                        <a:latin typeface="Arial (Body)"/>
                      </a:endParaRPr>
                    </a:p>
                  </a:txBody>
                  <a:tcPr marL="123444" marR="123444"/>
                </a:tc>
                <a:tc>
                  <a:txBody>
                    <a:bodyPr/>
                    <a:lstStyle/>
                    <a:p>
                      <a:pPr algn="ctr"/>
                      <a:r>
                        <a:rPr lang="en-US" sz="2000" dirty="0"/>
                        <a:t>55,110</a:t>
                      </a:r>
                      <a:endParaRPr lang="en-US" sz="2000" dirty="0">
                        <a:solidFill>
                          <a:schemeClr val="tx1"/>
                        </a:solidFill>
                        <a:latin typeface="Arial (Body)"/>
                      </a:endParaRPr>
                    </a:p>
                  </a:txBody>
                  <a:tcPr marL="123444" marR="123444"/>
                </a:tc>
                <a:extLst>
                  <a:ext uri="{0D108BD9-81ED-4DB2-BD59-A6C34878D82A}">
                    <a16:rowId xmlns:a16="http://schemas.microsoft.com/office/drawing/2014/main" val="347695822"/>
                  </a:ext>
                </a:extLst>
              </a:tr>
              <a:tr h="370840">
                <a:tc>
                  <a:txBody>
                    <a:bodyPr/>
                    <a:lstStyle/>
                    <a:p>
                      <a:r>
                        <a:rPr lang="en-US" sz="2000" dirty="0"/>
                        <a:t>Japan</a:t>
                      </a:r>
                      <a:endParaRPr lang="en-US" sz="2000" dirty="0">
                        <a:solidFill>
                          <a:schemeClr val="tx1"/>
                        </a:solidFill>
                        <a:latin typeface="Arial (Body)"/>
                      </a:endParaRPr>
                    </a:p>
                  </a:txBody>
                  <a:tcPr marL="123444" marR="123444"/>
                </a:tc>
                <a:tc>
                  <a:txBody>
                    <a:bodyPr/>
                    <a:lstStyle/>
                    <a:p>
                      <a:pPr algn="ctr"/>
                      <a:r>
                        <a:rPr lang="en-US" sz="2000" dirty="0"/>
                        <a:t>43,445</a:t>
                      </a:r>
                      <a:endParaRPr lang="en-US" sz="2000" dirty="0">
                        <a:solidFill>
                          <a:schemeClr val="tx1"/>
                        </a:solidFill>
                        <a:latin typeface="Arial (Body)"/>
                      </a:endParaRPr>
                    </a:p>
                  </a:txBody>
                  <a:tcPr marL="123444" marR="123444"/>
                </a:tc>
                <a:extLst>
                  <a:ext uri="{0D108BD9-81ED-4DB2-BD59-A6C34878D82A}">
                    <a16:rowId xmlns:a16="http://schemas.microsoft.com/office/drawing/2014/main" val="1513685225"/>
                  </a:ext>
                </a:extLst>
              </a:tr>
              <a:tr h="370840">
                <a:tc>
                  <a:txBody>
                    <a:bodyPr/>
                    <a:lstStyle/>
                    <a:p>
                      <a:r>
                        <a:rPr lang="en-US" sz="2000" dirty="0"/>
                        <a:t>South Korea</a:t>
                      </a:r>
                      <a:endParaRPr lang="en-US" sz="2000" b="0" dirty="0">
                        <a:solidFill>
                          <a:schemeClr val="tx1"/>
                        </a:solidFill>
                        <a:latin typeface="Arial (Body)"/>
                      </a:endParaRPr>
                    </a:p>
                  </a:txBody>
                  <a:tcPr marL="123444" marR="123444"/>
                </a:tc>
                <a:tc>
                  <a:txBody>
                    <a:bodyPr/>
                    <a:lstStyle/>
                    <a:p>
                      <a:pPr algn="ctr"/>
                      <a:r>
                        <a:rPr lang="en-US" sz="2000" dirty="0"/>
                        <a:t>44,203</a:t>
                      </a:r>
                      <a:endParaRPr lang="en-US" sz="2000" dirty="0">
                        <a:solidFill>
                          <a:schemeClr val="bg1"/>
                        </a:solidFill>
                        <a:latin typeface="Arial (Body)"/>
                      </a:endParaRPr>
                    </a:p>
                  </a:txBody>
                  <a:tcPr marL="123444" marR="123444"/>
                </a:tc>
                <a:extLst>
                  <a:ext uri="{0D108BD9-81ED-4DB2-BD59-A6C34878D82A}">
                    <a16:rowId xmlns:a16="http://schemas.microsoft.com/office/drawing/2014/main" val="516524092"/>
                  </a:ext>
                </a:extLst>
              </a:tr>
              <a:tr h="370840">
                <a:tc>
                  <a:txBody>
                    <a:bodyPr/>
                    <a:lstStyle/>
                    <a:p>
                      <a:r>
                        <a:rPr lang="en-US" sz="2000" dirty="0"/>
                        <a:t>Mexico</a:t>
                      </a:r>
                      <a:endParaRPr lang="en-US" sz="2000" dirty="0">
                        <a:solidFill>
                          <a:schemeClr val="tx1"/>
                        </a:solidFill>
                        <a:latin typeface="Arial (Body)"/>
                      </a:endParaRPr>
                    </a:p>
                  </a:txBody>
                  <a:tcPr marL="123444" marR="123444"/>
                </a:tc>
                <a:tc>
                  <a:txBody>
                    <a:bodyPr/>
                    <a:lstStyle/>
                    <a:p>
                      <a:pPr algn="ctr"/>
                      <a:r>
                        <a:rPr lang="en-US" sz="2000" dirty="0"/>
                        <a:t>21,294</a:t>
                      </a:r>
                      <a:endParaRPr lang="en-US" sz="2000" dirty="0">
                        <a:solidFill>
                          <a:schemeClr val="tx1"/>
                        </a:solidFill>
                        <a:latin typeface="Arial (Body)"/>
                      </a:endParaRPr>
                    </a:p>
                  </a:txBody>
                  <a:tcPr marL="123444" marR="123444"/>
                </a:tc>
                <a:extLst>
                  <a:ext uri="{0D108BD9-81ED-4DB2-BD59-A6C34878D82A}">
                    <a16:rowId xmlns:a16="http://schemas.microsoft.com/office/drawing/2014/main" val="952544098"/>
                  </a:ext>
                </a:extLst>
              </a:tr>
              <a:tr h="370840">
                <a:tc>
                  <a:txBody>
                    <a:bodyPr/>
                    <a:lstStyle/>
                    <a:p>
                      <a:r>
                        <a:rPr lang="en-US" sz="2000" dirty="0"/>
                        <a:t>China</a:t>
                      </a:r>
                      <a:endParaRPr lang="en-US" sz="2000" dirty="0">
                        <a:solidFill>
                          <a:schemeClr val="tx1"/>
                        </a:solidFill>
                        <a:latin typeface="Arial (Body)"/>
                      </a:endParaRPr>
                    </a:p>
                  </a:txBody>
                  <a:tcPr marL="123444" marR="123444"/>
                </a:tc>
                <a:tc>
                  <a:txBody>
                    <a:bodyPr/>
                    <a:lstStyle/>
                    <a:p>
                      <a:pPr algn="ctr"/>
                      <a:r>
                        <a:rPr lang="en-US" sz="2000" dirty="0"/>
                        <a:t>13,548</a:t>
                      </a:r>
                      <a:endParaRPr lang="en-US" sz="2000" dirty="0">
                        <a:solidFill>
                          <a:schemeClr val="tx1"/>
                        </a:solidFill>
                        <a:latin typeface="Arial (Body)"/>
                      </a:endParaRPr>
                    </a:p>
                  </a:txBody>
                  <a:tcPr marL="123444" marR="123444"/>
                </a:tc>
                <a:extLst>
                  <a:ext uri="{0D108BD9-81ED-4DB2-BD59-A6C34878D82A}">
                    <a16:rowId xmlns:a16="http://schemas.microsoft.com/office/drawing/2014/main" val="3395327240"/>
                  </a:ext>
                </a:extLst>
              </a:tr>
              <a:tr h="370840">
                <a:tc>
                  <a:txBody>
                    <a:bodyPr/>
                    <a:lstStyle/>
                    <a:p>
                      <a:r>
                        <a:rPr lang="en-US" sz="2000" dirty="0"/>
                        <a:t>Bangladesh</a:t>
                      </a:r>
                      <a:endParaRPr lang="en-US" sz="2000" dirty="0">
                        <a:solidFill>
                          <a:schemeClr val="tx1"/>
                        </a:solidFill>
                        <a:latin typeface="Arial (Body)"/>
                      </a:endParaRPr>
                    </a:p>
                  </a:txBody>
                  <a:tcPr marL="123444" marR="123444">
                    <a:lnB w="12700" cap="flat" cmpd="sng" algn="ctr">
                      <a:solidFill>
                        <a:schemeClr val="tx1"/>
                      </a:solidFill>
                      <a:prstDash val="solid"/>
                      <a:round/>
                      <a:headEnd type="none" w="med" len="med"/>
                      <a:tailEnd type="none" w="med" len="med"/>
                    </a:lnB>
                  </a:tcPr>
                </a:tc>
                <a:tc>
                  <a:txBody>
                    <a:bodyPr/>
                    <a:lstStyle/>
                    <a:p>
                      <a:pPr marL="0" lvl="0" algn="ctr"/>
                      <a:r>
                        <a:rPr lang="en-US" sz="2000" dirty="0"/>
                        <a:t>4,513</a:t>
                      </a:r>
                      <a:endParaRPr lang="en-US" sz="2000" dirty="0">
                        <a:solidFill>
                          <a:schemeClr val="tx1"/>
                        </a:solidFill>
                        <a:latin typeface="Arial (Body)"/>
                      </a:endParaRPr>
                    </a:p>
                  </a:txBody>
                  <a:tcPr marL="123444" marR="12344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2511906"/>
                  </a:ext>
                </a:extLst>
              </a:tr>
            </a:tbl>
          </a:graphicData>
        </a:graphic>
      </p:graphicFrame>
      <p:sp>
        <p:nvSpPr>
          <p:cNvPr id="3" name="Content Placeholder 2"/>
          <p:cNvSpPr>
            <a:spLocks noGrp="1"/>
          </p:cNvSpPr>
          <p:nvPr>
            <p:ph sz="quarter" idx="14"/>
          </p:nvPr>
        </p:nvSpPr>
        <p:spPr>
          <a:xfrm>
            <a:off x="457200" y="4701551"/>
            <a:ext cx="6307282" cy="514685"/>
          </a:xfrm>
        </p:spPr>
        <p:txBody>
          <a:bodyPr/>
          <a:lstStyle/>
          <a:p>
            <a:pPr marL="432" indent="0">
              <a:buNone/>
            </a:pPr>
            <a:r>
              <a:rPr lang="en-US" sz="2000" b="1" dirty="0">
                <a:latin typeface="Arial (Body)"/>
              </a:rPr>
              <a:t>Source: </a:t>
            </a:r>
            <a:r>
              <a:rPr lang="en-US" sz="2000" dirty="0">
                <a:latin typeface="Arial (Body)"/>
              </a:rPr>
              <a:t>Conference Board Total Economy Database.</a:t>
            </a:r>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Import-Substituting Industrialization </a:t>
            </a:r>
            <a:r>
              <a:rPr lang="en-US" altLang="en-US" sz="2000" b="0" dirty="0"/>
              <a:t>(1 of 4)</a:t>
            </a:r>
            <a:endParaRPr lang="en-US" dirty="0"/>
          </a:p>
        </p:txBody>
      </p:sp>
      <p:sp>
        <p:nvSpPr>
          <p:cNvPr id="3" name="Content Placeholder 2"/>
          <p:cNvSpPr>
            <a:spLocks noGrp="1"/>
          </p:cNvSpPr>
          <p:nvPr>
            <p:ph sz="quarter" idx="13"/>
          </p:nvPr>
        </p:nvSpPr>
        <p:spPr>
          <a:xfrm>
            <a:off x="457200" y="1556327"/>
            <a:ext cx="8229600" cy="2537691"/>
          </a:xfrm>
        </p:spPr>
        <p:txBody>
          <a:bodyPr/>
          <a:lstStyle/>
          <a:p>
            <a:pPr eaLnBrk="1" hangingPunct="1"/>
            <a:r>
              <a:rPr lang="en-US" altLang="en-US" dirty="0">
                <a:latin typeface="Arial (Body)"/>
              </a:rPr>
              <a:t>Import-substituting industrialization was a trade policy adopted by many low- and middle-income countries before the 1980s.</a:t>
            </a:r>
          </a:p>
          <a:p>
            <a:pPr eaLnBrk="1" hangingPunct="1"/>
            <a:r>
              <a:rPr lang="en-US" altLang="en-US" dirty="0">
                <a:latin typeface="Arial (Body)"/>
              </a:rPr>
              <a:t>The policy aimed to encourage domestic industries by limiting competing imports.</a:t>
            </a:r>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sz="2600" dirty="0">
                <a:cs typeface="Times New Roman" panose="02020603050405020304" pitchFamily="18" charset="0"/>
              </a:rPr>
              <a:t>Table 11.2 Effective Protection of Manufacturing in Some Developing Countries (Percent)</a:t>
            </a:r>
            <a:endParaRPr lang="en-US" sz="2600" dirty="0">
              <a:cs typeface="Times New Roman" panose="02020603050405020304" pitchFamily="18" charset="0"/>
            </a:endParaRPr>
          </a:p>
        </p:txBody>
      </p:sp>
      <p:graphicFrame>
        <p:nvGraphicFramePr>
          <p:cNvPr id="8" name="Content Placeholder 7"/>
          <p:cNvGraphicFramePr>
            <a:graphicFrameLocks noGrp="1"/>
          </p:cNvGraphicFramePr>
          <p:nvPr>
            <p:ph sz="quarter" idx="13"/>
            <p:extLst>
              <p:ext uri="{D42A27DB-BD31-4B8C-83A1-F6EECF244321}">
                <p14:modId xmlns:p14="http://schemas.microsoft.com/office/powerpoint/2010/main" val="3610217477"/>
              </p:ext>
            </p:extLst>
          </p:nvPr>
        </p:nvGraphicFramePr>
        <p:xfrm>
          <a:off x="457200" y="1762227"/>
          <a:ext cx="8229600" cy="1981200"/>
        </p:xfrm>
        <a:graphic>
          <a:graphicData uri="http://schemas.openxmlformats.org/drawingml/2006/table">
            <a:tbl>
              <a:tblPr firstCol="1" bandRow="1">
                <a:tableStyleId>{2D5ABB26-0587-4C30-8999-92F81FD0307C}</a:tableStyleId>
              </a:tblPr>
              <a:tblGrid>
                <a:gridCol w="4114800">
                  <a:extLst>
                    <a:ext uri="{9D8B030D-6E8A-4147-A177-3AD203B41FA5}">
                      <a16:colId xmlns:a16="http://schemas.microsoft.com/office/drawing/2014/main" val="898893747"/>
                    </a:ext>
                  </a:extLst>
                </a:gridCol>
                <a:gridCol w="4114800">
                  <a:extLst>
                    <a:ext uri="{9D8B030D-6E8A-4147-A177-3AD203B41FA5}">
                      <a16:colId xmlns:a16="http://schemas.microsoft.com/office/drawing/2014/main" val="3644053837"/>
                    </a:ext>
                  </a:extLst>
                </a:gridCol>
              </a:tblGrid>
              <a:tr h="370840">
                <a:tc>
                  <a:txBody>
                    <a:bodyPr/>
                    <a:lstStyle/>
                    <a:p>
                      <a:r>
                        <a:rPr lang="en-US" sz="2000" dirty="0"/>
                        <a:t>Mexico (1960)</a:t>
                      </a:r>
                      <a:endParaRPr lang="en-US" sz="2000" b="0" dirty="0">
                        <a:solidFill>
                          <a:schemeClr val="tx1"/>
                        </a:solidFill>
                        <a:latin typeface="Arial (Body)"/>
                      </a:endParaRPr>
                    </a:p>
                  </a:txBody>
                  <a:tcPr marL="98755" marR="98755">
                    <a:lnT w="12700" cap="flat" cmpd="sng" algn="ctr">
                      <a:solidFill>
                        <a:schemeClr val="tx1"/>
                      </a:solidFill>
                      <a:prstDash val="solid"/>
                      <a:round/>
                      <a:headEnd type="none" w="med" len="med"/>
                      <a:tailEnd type="none" w="med" len="med"/>
                    </a:lnT>
                  </a:tcPr>
                </a:tc>
                <a:tc>
                  <a:txBody>
                    <a:bodyPr/>
                    <a:lstStyle/>
                    <a:p>
                      <a:pPr algn="ctr"/>
                      <a:r>
                        <a:rPr lang="en-US" sz="2000" dirty="0"/>
                        <a:t>26</a:t>
                      </a:r>
                      <a:endParaRPr lang="en-US" sz="2000" b="0" dirty="0">
                        <a:solidFill>
                          <a:schemeClr val="tx1"/>
                        </a:solidFill>
                        <a:latin typeface="Arial (Body)"/>
                      </a:endParaRPr>
                    </a:p>
                  </a:txBody>
                  <a:tcPr marL="98755" marR="98755">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00539205"/>
                  </a:ext>
                </a:extLst>
              </a:tr>
              <a:tr h="370840">
                <a:tc>
                  <a:txBody>
                    <a:bodyPr/>
                    <a:lstStyle/>
                    <a:p>
                      <a:r>
                        <a:rPr lang="en-US" sz="2000" dirty="0"/>
                        <a:t>Philippines (1965)</a:t>
                      </a:r>
                      <a:endParaRPr lang="en-US" sz="2000" dirty="0">
                        <a:solidFill>
                          <a:schemeClr val="tx1"/>
                        </a:solidFill>
                        <a:latin typeface="Arial (Body)"/>
                      </a:endParaRPr>
                    </a:p>
                  </a:txBody>
                  <a:tcPr marL="98755" marR="98755"/>
                </a:tc>
                <a:tc>
                  <a:txBody>
                    <a:bodyPr/>
                    <a:lstStyle/>
                    <a:p>
                      <a:pPr algn="ctr"/>
                      <a:r>
                        <a:rPr lang="en-US" sz="2000" dirty="0"/>
                        <a:t>61</a:t>
                      </a:r>
                      <a:endParaRPr lang="en-US" sz="2000" dirty="0">
                        <a:solidFill>
                          <a:schemeClr val="tx1"/>
                        </a:solidFill>
                        <a:latin typeface="Arial (Body)"/>
                      </a:endParaRPr>
                    </a:p>
                  </a:txBody>
                  <a:tcPr marL="98755" marR="98755"/>
                </a:tc>
                <a:extLst>
                  <a:ext uri="{0D108BD9-81ED-4DB2-BD59-A6C34878D82A}">
                    <a16:rowId xmlns:a16="http://schemas.microsoft.com/office/drawing/2014/main" val="3345277670"/>
                  </a:ext>
                </a:extLst>
              </a:tr>
              <a:tr h="370840">
                <a:tc>
                  <a:txBody>
                    <a:bodyPr/>
                    <a:lstStyle/>
                    <a:p>
                      <a:r>
                        <a:rPr lang="en-US" sz="2000" dirty="0"/>
                        <a:t>Brazil (1966)</a:t>
                      </a:r>
                      <a:endParaRPr lang="en-US" sz="2000" dirty="0">
                        <a:solidFill>
                          <a:schemeClr val="tx1"/>
                        </a:solidFill>
                        <a:latin typeface="Arial (Body)"/>
                      </a:endParaRPr>
                    </a:p>
                  </a:txBody>
                  <a:tcPr marL="98755" marR="98755"/>
                </a:tc>
                <a:tc>
                  <a:txBody>
                    <a:bodyPr/>
                    <a:lstStyle/>
                    <a:p>
                      <a:pPr algn="ctr"/>
                      <a:r>
                        <a:rPr lang="en-US" sz="2000" dirty="0"/>
                        <a:t>113</a:t>
                      </a:r>
                      <a:endParaRPr lang="en-US" sz="2000" dirty="0">
                        <a:solidFill>
                          <a:schemeClr val="tx1"/>
                        </a:solidFill>
                        <a:latin typeface="Arial (Body)"/>
                      </a:endParaRPr>
                    </a:p>
                  </a:txBody>
                  <a:tcPr marL="98755" marR="98755"/>
                </a:tc>
                <a:extLst>
                  <a:ext uri="{0D108BD9-81ED-4DB2-BD59-A6C34878D82A}">
                    <a16:rowId xmlns:a16="http://schemas.microsoft.com/office/drawing/2014/main" val="3926101127"/>
                  </a:ext>
                </a:extLst>
              </a:tr>
              <a:tr h="370840">
                <a:tc>
                  <a:txBody>
                    <a:bodyPr/>
                    <a:lstStyle/>
                    <a:p>
                      <a:r>
                        <a:rPr lang="en-US" sz="2000" dirty="0"/>
                        <a:t>Chile (1961)</a:t>
                      </a:r>
                      <a:endParaRPr lang="en-US" sz="2000" dirty="0">
                        <a:solidFill>
                          <a:schemeClr val="tx1"/>
                        </a:solidFill>
                        <a:latin typeface="Arial (Body)"/>
                      </a:endParaRPr>
                    </a:p>
                  </a:txBody>
                  <a:tcPr marL="98755" marR="98755"/>
                </a:tc>
                <a:tc>
                  <a:txBody>
                    <a:bodyPr/>
                    <a:lstStyle/>
                    <a:p>
                      <a:pPr algn="ctr"/>
                      <a:r>
                        <a:rPr lang="en-US" sz="2000" dirty="0"/>
                        <a:t>182</a:t>
                      </a:r>
                      <a:endParaRPr lang="en-US" sz="2000" dirty="0">
                        <a:solidFill>
                          <a:schemeClr val="tx1"/>
                        </a:solidFill>
                        <a:latin typeface="Arial (Body)"/>
                      </a:endParaRPr>
                    </a:p>
                  </a:txBody>
                  <a:tcPr marL="98755" marR="98755"/>
                </a:tc>
                <a:extLst>
                  <a:ext uri="{0D108BD9-81ED-4DB2-BD59-A6C34878D82A}">
                    <a16:rowId xmlns:a16="http://schemas.microsoft.com/office/drawing/2014/main" val="2175375326"/>
                  </a:ext>
                </a:extLst>
              </a:tr>
              <a:tr h="370840">
                <a:tc>
                  <a:txBody>
                    <a:bodyPr/>
                    <a:lstStyle/>
                    <a:p>
                      <a:r>
                        <a:rPr lang="en-US" sz="2000" dirty="0"/>
                        <a:t>Pakistan (1963)</a:t>
                      </a:r>
                      <a:endParaRPr lang="en-US" sz="2000" dirty="0">
                        <a:solidFill>
                          <a:schemeClr val="tx1"/>
                        </a:solidFill>
                        <a:latin typeface="Arial (Body)"/>
                      </a:endParaRPr>
                    </a:p>
                  </a:txBody>
                  <a:tcPr marL="98755" marR="98755">
                    <a:lnB w="12700" cap="flat" cmpd="sng" algn="ctr">
                      <a:solidFill>
                        <a:schemeClr val="tx1"/>
                      </a:solidFill>
                      <a:prstDash val="solid"/>
                      <a:round/>
                      <a:headEnd type="none" w="med" len="med"/>
                      <a:tailEnd type="none" w="med" len="med"/>
                    </a:lnB>
                  </a:tcPr>
                </a:tc>
                <a:tc>
                  <a:txBody>
                    <a:bodyPr/>
                    <a:lstStyle/>
                    <a:p>
                      <a:pPr algn="ctr"/>
                      <a:r>
                        <a:rPr lang="en-US" sz="2000" dirty="0"/>
                        <a:t>271</a:t>
                      </a:r>
                      <a:endParaRPr lang="en-US" sz="2000" dirty="0">
                        <a:solidFill>
                          <a:schemeClr val="tx1"/>
                        </a:solidFill>
                        <a:latin typeface="Arial (Body)"/>
                      </a:endParaRPr>
                    </a:p>
                  </a:txBody>
                  <a:tcPr marL="98755" marR="9875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9823392"/>
                  </a:ext>
                </a:extLst>
              </a:tr>
            </a:tbl>
          </a:graphicData>
        </a:graphic>
      </p:graphicFrame>
      <p:sp>
        <p:nvSpPr>
          <p:cNvPr id="7" name="Content Placeholder 6"/>
          <p:cNvSpPr>
            <a:spLocks noGrp="1"/>
          </p:cNvSpPr>
          <p:nvPr>
            <p:ph sz="quarter" idx="14"/>
          </p:nvPr>
        </p:nvSpPr>
        <p:spPr>
          <a:xfrm>
            <a:off x="457200" y="3964016"/>
            <a:ext cx="8229600" cy="811578"/>
          </a:xfrm>
        </p:spPr>
        <p:txBody>
          <a:bodyPr/>
          <a:lstStyle/>
          <a:p>
            <a:pPr marL="432" indent="0">
              <a:buNone/>
            </a:pPr>
            <a:r>
              <a:rPr lang="en-US" sz="2000" b="1" dirty="0">
                <a:latin typeface="Arial (Body)"/>
              </a:rPr>
              <a:t>Source: </a:t>
            </a:r>
            <a:r>
              <a:rPr lang="en-US" sz="2000" dirty="0">
                <a:latin typeface="Arial (Body)"/>
              </a:rPr>
              <a:t>Bela Balassa, </a:t>
            </a:r>
            <a:r>
              <a:rPr lang="en-US" sz="2000" b="1" dirty="0">
                <a:latin typeface="Arial (Body)"/>
              </a:rPr>
              <a:t>The Structure of Protection in Developing Countries</a:t>
            </a:r>
            <a:r>
              <a:rPr lang="en-US" sz="2000" i="1" dirty="0">
                <a:latin typeface="Arial (Body)"/>
              </a:rPr>
              <a:t> </a:t>
            </a:r>
            <a:r>
              <a:rPr lang="en-US" sz="2000" dirty="0">
                <a:latin typeface="Arial (Body)"/>
              </a:rPr>
              <a:t>(Baltimore: Johns Hopkins Press, 1971), p. 82.</a:t>
            </a:r>
          </a:p>
        </p:txBody>
      </p:sp>
    </p:spTree>
    <p:extLst>
      <p:ext uri="{BB962C8B-B14F-4D97-AF65-F5344CB8AC3E}">
        <p14:creationId xmlns:p14="http://schemas.microsoft.com/office/powerpoint/2010/main" val="3563603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Import-Substituting Industrialization </a:t>
            </a:r>
            <a:r>
              <a:rPr lang="en-US" altLang="en-US" sz="2000" b="0" dirty="0"/>
              <a:t>(2 of 4)</a:t>
            </a:r>
            <a:endParaRPr lang="en-US" dirty="0"/>
          </a:p>
        </p:txBody>
      </p:sp>
      <p:sp>
        <p:nvSpPr>
          <p:cNvPr id="5" name="Content Placeholder 4"/>
          <p:cNvSpPr>
            <a:spLocks noGrp="1"/>
          </p:cNvSpPr>
          <p:nvPr>
            <p:ph sz="quarter" idx="13"/>
          </p:nvPr>
        </p:nvSpPr>
        <p:spPr>
          <a:xfrm>
            <a:off x="457200" y="1556327"/>
            <a:ext cx="8229600" cy="4210628"/>
          </a:xfrm>
        </p:spPr>
        <p:txBody>
          <a:bodyPr/>
          <a:lstStyle/>
          <a:p>
            <a:pPr eaLnBrk="1" hangingPunct="1"/>
            <a:r>
              <a:rPr lang="en-US" altLang="en-US" dirty="0">
                <a:latin typeface="Arial (Body)"/>
              </a:rPr>
              <a:t>The principal justification of this policy was/is the </a:t>
            </a:r>
            <a:r>
              <a:rPr lang="en-US" altLang="en-US" b="1" dirty="0">
                <a:latin typeface="Arial (Body)"/>
              </a:rPr>
              <a:t>infant industry argument</a:t>
            </a:r>
            <a:r>
              <a:rPr lang="en-US" altLang="en-US" dirty="0">
                <a:latin typeface="Arial (Body)"/>
              </a:rPr>
              <a:t>:</a:t>
            </a:r>
            <a:r>
              <a:rPr lang="en-US" altLang="en-US" i="1" dirty="0">
                <a:latin typeface="Arial (Body)"/>
              </a:rPr>
              <a:t> </a:t>
            </a:r>
          </a:p>
          <a:p>
            <a:pPr lvl="1" eaLnBrk="1" hangingPunct="1"/>
            <a:r>
              <a:rPr lang="en-US" altLang="en-US" dirty="0">
                <a:latin typeface="Arial (Body)"/>
              </a:rPr>
              <a:t>Countries may have a potential comparative advantage in some industries, but these industries cannot initially compete with well-established industries in other countries.</a:t>
            </a:r>
          </a:p>
          <a:p>
            <a:pPr lvl="1" eaLnBrk="1" hangingPunct="1"/>
            <a:r>
              <a:rPr lang="en-US" altLang="en-US" dirty="0">
                <a:latin typeface="Arial (Body)"/>
              </a:rPr>
              <a:t>To allow these industries to establish themselves, governments should temporarily support them until they have grown strong enough to compete internationally.</a:t>
            </a:r>
          </a:p>
        </p:txBody>
      </p:sp>
    </p:spTree>
    <p:extLst>
      <p:ext uri="{BB962C8B-B14F-4D97-AF65-F5344CB8AC3E}">
        <p14:creationId xmlns:p14="http://schemas.microsoft.com/office/powerpoint/2010/main" val="1347316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Problems with the Infant Industry Argument</a:t>
            </a:r>
            <a:endParaRPr lang="en-US" sz="3200"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3556000"/>
          </a:xfrm>
        </p:spPr>
        <p:txBody>
          <a:bodyPr/>
          <a:lstStyle/>
          <a:p>
            <a:pPr marL="432000" indent="-432000" eaLnBrk="1" hangingPunct="1">
              <a:buFont typeface="Times" pitchFamily="-1" charset="0"/>
              <a:buAutoNum type="arabicPeriod"/>
            </a:pPr>
            <a:r>
              <a:rPr lang="en-US" altLang="en-US" dirty="0">
                <a:latin typeface="Arial (Body)"/>
              </a:rPr>
              <a:t>It may be wasteful to support industries now that will have a comparative advantage in the future.</a:t>
            </a:r>
          </a:p>
          <a:p>
            <a:pPr marL="432000" indent="-432000" eaLnBrk="1" hangingPunct="1">
              <a:buFont typeface="Times" pitchFamily="-1" charset="0"/>
              <a:buAutoNum type="arabicPeriod"/>
            </a:pPr>
            <a:r>
              <a:rPr lang="en-US" altLang="en-US" dirty="0">
                <a:latin typeface="Arial (Body)"/>
              </a:rPr>
              <a:t>With protection, infant industries may never “</a:t>
            </a:r>
            <a:r>
              <a:rPr lang="en-US" altLang="ja-JP" dirty="0">
                <a:latin typeface="Arial (Body)"/>
              </a:rPr>
              <a:t>grow up” or become competitive.</a:t>
            </a:r>
          </a:p>
          <a:p>
            <a:pPr marL="432000" indent="-432000" eaLnBrk="1" hangingPunct="1">
              <a:buFont typeface="Times" pitchFamily="-1" charset="0"/>
              <a:buAutoNum type="arabicPeriod"/>
            </a:pPr>
            <a:r>
              <a:rPr lang="en-US" altLang="en-US" dirty="0">
                <a:latin typeface="Arial (Body)"/>
              </a:rPr>
              <a:t>There is no justification for government intervention unless there is a market failure that prevents the private sector from investing in the infant industry.</a:t>
            </a:r>
          </a:p>
        </p:txBody>
      </p:sp>
    </p:spTree>
    <p:extLst>
      <p:ext uri="{BB962C8B-B14F-4D97-AF65-F5344CB8AC3E}">
        <p14:creationId xmlns:p14="http://schemas.microsoft.com/office/powerpoint/2010/main" val="3894500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Infant Industries and Market Failures </a:t>
            </a:r>
            <a:r>
              <a:rPr lang="en-US" altLang="en-US" sz="2000" b="0" dirty="0">
                <a:cs typeface="Times New Roman" panose="02020603050405020304" pitchFamily="18" charset="0"/>
              </a:rPr>
              <a:t>(1 of 2)</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66602" y="1552575"/>
            <a:ext cx="8220197" cy="814705"/>
          </a:xfrm>
        </p:spPr>
        <p:txBody>
          <a:bodyPr/>
          <a:lstStyle/>
          <a:p>
            <a:pPr marL="255600"/>
            <a:r>
              <a:rPr lang="en-US" altLang="en-US" sz="2200" dirty="0">
                <a:latin typeface="Arial (Body)"/>
              </a:rPr>
              <a:t>Two arguments for how market failures prevent infant industries from becoming competitive:</a:t>
            </a:r>
          </a:p>
        </p:txBody>
      </p:sp>
      <p:sp>
        <p:nvSpPr>
          <p:cNvPr id="4" name="Content Placeholder 3">
            <a:extLst>
              <a:ext uri="{FF2B5EF4-FFF2-40B4-BE49-F238E27FC236}">
                <a16:creationId xmlns:a16="http://schemas.microsoft.com/office/drawing/2014/main" id="{CF9E68D2-DFC0-4711-8D10-73E34C02D3D9}"/>
              </a:ext>
            </a:extLst>
          </p:cNvPr>
          <p:cNvSpPr>
            <a:spLocks noGrp="1"/>
          </p:cNvSpPr>
          <p:nvPr>
            <p:ph sz="quarter" idx="14"/>
          </p:nvPr>
        </p:nvSpPr>
        <p:spPr>
          <a:xfrm>
            <a:off x="475905" y="2420896"/>
            <a:ext cx="5207922" cy="482323"/>
          </a:xfrm>
        </p:spPr>
        <p:txBody>
          <a:bodyPr/>
          <a:lstStyle/>
          <a:p>
            <a:pPr marL="432000" indent="-432000">
              <a:buFont typeface="+mj-lt"/>
              <a:buAutoNum type="arabicPeriod"/>
            </a:pPr>
            <a:r>
              <a:rPr lang="en-US" altLang="en-US" sz="2200" dirty="0">
                <a:latin typeface="Arial (Body)"/>
              </a:rPr>
              <a:t>Imperfect financial asset markets</a:t>
            </a:r>
          </a:p>
        </p:txBody>
      </p:sp>
      <p:sp>
        <p:nvSpPr>
          <p:cNvPr id="5" name="Content Placeholder 4">
            <a:extLst>
              <a:ext uri="{FF2B5EF4-FFF2-40B4-BE49-F238E27FC236}">
                <a16:creationId xmlns:a16="http://schemas.microsoft.com/office/drawing/2014/main" id="{FB5B43E3-FEE4-47E4-93A7-338A82528F33}"/>
              </a:ext>
            </a:extLst>
          </p:cNvPr>
          <p:cNvSpPr>
            <a:spLocks noGrp="1"/>
          </p:cNvSpPr>
          <p:nvPr>
            <p:ph sz="quarter" idx="15"/>
          </p:nvPr>
        </p:nvSpPr>
        <p:spPr>
          <a:xfrm>
            <a:off x="475905" y="3021084"/>
            <a:ext cx="7982296" cy="2943298"/>
          </a:xfrm>
        </p:spPr>
        <p:txBody>
          <a:bodyPr tIns="0" rIns="0" bIns="0"/>
          <a:lstStyle/>
          <a:p>
            <a:pPr marL="741600" lvl="1"/>
            <a:r>
              <a:rPr lang="en-US" altLang="en-US" sz="2200" dirty="0">
                <a:latin typeface="Arial (Body)"/>
              </a:rPr>
              <a:t>Because of poorly working financial laws and markets (and more generally, a lack of property rights), firms cannot or do not save and borrow to invest sufficiently in their production processes.</a:t>
            </a:r>
          </a:p>
          <a:p>
            <a:pPr marL="741600" lvl="1"/>
            <a:r>
              <a:rPr lang="en-US" altLang="en-US" sz="2200" dirty="0">
                <a:latin typeface="Arial (Body)"/>
              </a:rPr>
              <a:t>If creating better functioning markets and enforcing laws is not feasible, then high tariffs would be a second-best policy to increase profits in new industries, leading to more rapid growth.</a:t>
            </a:r>
          </a:p>
        </p:txBody>
      </p:sp>
    </p:spTree>
    <p:extLst>
      <p:ext uri="{BB962C8B-B14F-4D97-AF65-F5344CB8AC3E}">
        <p14:creationId xmlns:p14="http://schemas.microsoft.com/office/powerpoint/2010/main" val="521057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Infant Industries and Market Failures </a:t>
            </a:r>
            <a:r>
              <a:rPr lang="en-US" altLang="en-US" sz="2000" b="0" dirty="0">
                <a:cs typeface="Times New Roman" panose="02020603050405020304" pitchFamily="18" charset="0"/>
              </a:rPr>
              <a:t>(2 of 2)</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5018809" cy="563418"/>
          </a:xfrm>
        </p:spPr>
        <p:txBody>
          <a:bodyPr/>
          <a:lstStyle/>
          <a:p>
            <a:pPr marL="432000" indent="-432000" eaLnBrk="1" hangingPunct="1">
              <a:buFont typeface="Times" pitchFamily="-1" charset="0"/>
              <a:buAutoNum type="arabicPeriod" startAt="2"/>
            </a:pPr>
            <a:r>
              <a:rPr lang="en-US" altLang="en-US" dirty="0">
                <a:latin typeface="Arial (Body)"/>
              </a:rPr>
              <a:t>The problem of appropriability </a:t>
            </a:r>
          </a:p>
        </p:txBody>
      </p:sp>
      <p:sp>
        <p:nvSpPr>
          <p:cNvPr id="4" name="Content Placeholder 3">
            <a:extLst>
              <a:ext uri="{FF2B5EF4-FFF2-40B4-BE49-F238E27FC236}">
                <a16:creationId xmlns:a16="http://schemas.microsoft.com/office/drawing/2014/main" id="{487D2041-54EE-48D9-90C9-C747CC8AAA3F}"/>
              </a:ext>
            </a:extLst>
          </p:cNvPr>
          <p:cNvSpPr>
            <a:spLocks noGrp="1"/>
          </p:cNvSpPr>
          <p:nvPr>
            <p:ph sz="quarter" idx="14"/>
          </p:nvPr>
        </p:nvSpPr>
        <p:spPr>
          <a:xfrm>
            <a:off x="457200" y="2249171"/>
            <a:ext cx="8011391" cy="3580130"/>
          </a:xfrm>
        </p:spPr>
        <p:txBody>
          <a:bodyPr tIns="0" rIns="0" bIns="0"/>
          <a:lstStyle/>
          <a:p>
            <a:pPr marL="741600" lvl="1"/>
            <a:r>
              <a:rPr lang="en-US" altLang="en-US" dirty="0">
                <a:latin typeface="Arial (Body)"/>
              </a:rPr>
              <a:t>Firms may not be able to privately appropriate the benefits of their investment in new industries because those benefits are public goods.</a:t>
            </a:r>
          </a:p>
          <a:p>
            <a:pPr marL="741600" lvl="1"/>
            <a:r>
              <a:rPr lang="en-US" altLang="en-US" dirty="0">
                <a:latin typeface="Arial (Body)"/>
              </a:rPr>
              <a:t>The knowledge created when starting an industry may not be appropriable (may be a public good) because of a lack of property rights.</a:t>
            </a:r>
          </a:p>
          <a:p>
            <a:pPr marL="741600" lvl="1"/>
            <a:r>
              <a:rPr lang="en-US" altLang="en-US" dirty="0">
                <a:latin typeface="Arial (Body)"/>
              </a:rPr>
              <a:t>If establishing a system of property rights is not feasible, then high tariffs would be a second-best policy to encourage growth in new industries.</a:t>
            </a:r>
          </a:p>
        </p:txBody>
      </p:sp>
    </p:spTree>
    <p:extLst>
      <p:ext uri="{BB962C8B-B14F-4D97-AF65-F5344CB8AC3E}">
        <p14:creationId xmlns:p14="http://schemas.microsoft.com/office/powerpoint/2010/main" val="1921537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Import-Substituting Industrialization </a:t>
            </a:r>
            <a:r>
              <a:rPr lang="en-US" altLang="en-US" sz="2000" b="0" dirty="0">
                <a:cs typeface="Times New Roman" panose="02020603050405020304" pitchFamily="18" charset="0"/>
              </a:rPr>
              <a:t>(3 of 4)</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Import-substituting industrialization in Latin American countries worked to encourage manufacturing industries in the 1950s and 1960s.</a:t>
            </a:r>
          </a:p>
          <a:p>
            <a:pPr eaLnBrk="1" hangingPunct="1"/>
            <a:r>
              <a:rPr lang="en-US" altLang="en-US" dirty="0">
                <a:latin typeface="Arial (Body)"/>
              </a:rPr>
              <a:t>But economic development, not encouraging manufacturing, was the ultimate goal of the policy.</a:t>
            </a:r>
          </a:p>
          <a:p>
            <a:pPr eaLnBrk="1" hangingPunct="1"/>
            <a:r>
              <a:rPr lang="en-US" altLang="en-US" dirty="0">
                <a:latin typeface="Arial (Body)"/>
              </a:rPr>
              <a:t>Did import-substituting industrialization promote economic development?</a:t>
            </a:r>
          </a:p>
          <a:p>
            <a:pPr lvl="1" eaLnBrk="1" hangingPunct="1"/>
            <a:r>
              <a:rPr lang="en-US" altLang="en-US" dirty="0">
                <a:latin typeface="Arial (Body)"/>
              </a:rPr>
              <a:t>No, countries adopting these policies grew more slowly than others.</a:t>
            </a:r>
          </a:p>
        </p:txBody>
      </p:sp>
    </p:spTree>
    <p:extLst>
      <p:ext uri="{BB962C8B-B14F-4D97-AF65-F5344CB8AC3E}">
        <p14:creationId xmlns:p14="http://schemas.microsoft.com/office/powerpoint/2010/main" val="1444213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Import-Substituting Industrialization </a:t>
            </a:r>
            <a:r>
              <a:rPr lang="en-US" altLang="en-US" sz="2000" b="0" dirty="0">
                <a:cs typeface="Times New Roman" panose="02020603050405020304" pitchFamily="18" charset="0"/>
              </a:rPr>
              <a:t>(4 of 4)</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It appeared that the infant industry argument was not as valid as some had initially believed.</a:t>
            </a:r>
          </a:p>
          <a:p>
            <a:pPr eaLnBrk="1" hangingPunct="1"/>
            <a:r>
              <a:rPr lang="en-US" altLang="en-US" dirty="0">
                <a:latin typeface="Arial (Body)"/>
              </a:rPr>
              <a:t>New industries did not become competitive despite or because of trade restrictions.</a:t>
            </a:r>
          </a:p>
          <a:p>
            <a:pPr eaLnBrk="1" hangingPunct="1"/>
            <a:r>
              <a:rPr lang="en-US" altLang="en-US" dirty="0">
                <a:latin typeface="Arial (Body)"/>
              </a:rPr>
              <a:t>Import-substitution industrialization involved costs and promoted wasteful use of resources:</a:t>
            </a:r>
          </a:p>
          <a:p>
            <a:pPr lvl="1" eaLnBrk="1" hangingPunct="1"/>
            <a:r>
              <a:rPr lang="en-US" altLang="en-US" dirty="0">
                <a:latin typeface="Arial (Body)"/>
              </a:rPr>
              <a:t>It involved complex, time-consuming regulations.</a:t>
            </a:r>
          </a:p>
          <a:p>
            <a:pPr lvl="1" eaLnBrk="1" hangingPunct="1"/>
            <a:r>
              <a:rPr lang="en-US" altLang="en-US" dirty="0">
                <a:latin typeface="Arial (Body)"/>
              </a:rPr>
              <a:t>It set high tariff rates for consumers, including firms that needed to buy imported inputs for their products.</a:t>
            </a:r>
          </a:p>
          <a:p>
            <a:pPr lvl="1" eaLnBrk="1" hangingPunct="1"/>
            <a:r>
              <a:rPr lang="en-US" altLang="en-US" dirty="0">
                <a:latin typeface="Arial (Body)"/>
              </a:rPr>
              <a:t>It promoted inefficiently small industries.</a:t>
            </a:r>
          </a:p>
        </p:txBody>
      </p:sp>
    </p:spTree>
    <p:extLst>
      <p:ext uri="{BB962C8B-B14F-4D97-AF65-F5344CB8AC3E}">
        <p14:creationId xmlns:p14="http://schemas.microsoft.com/office/powerpoint/2010/main" val="962567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Liberalization </a:t>
            </a:r>
            <a:r>
              <a:rPr lang="en-US" altLang="en-US" sz="2000" b="0" dirty="0">
                <a:cs typeface="Times New Roman" panose="02020603050405020304" pitchFamily="18" charset="0"/>
              </a:rPr>
              <a:t>(1 of 4)</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r>
              <a:rPr lang="en-US" altLang="en-US" dirty="0">
                <a:latin typeface="Arial (Body)"/>
              </a:rPr>
              <a:t>Some low- and middle-income countries that had relatively free trade had higher average economic growth than those that followed import substitution.</a:t>
            </a:r>
          </a:p>
          <a:p>
            <a:r>
              <a:rPr lang="en-US" altLang="en-US" dirty="0">
                <a:latin typeface="Arial (Body)"/>
              </a:rPr>
              <a:t>By the mid-1980s, many governments had lost faith in import substitution and began to liberalize trade.</a:t>
            </a:r>
          </a:p>
          <a:p>
            <a:pPr lvl="1"/>
            <a:r>
              <a:rPr lang="en-US" altLang="en-US" dirty="0">
                <a:latin typeface="Arial (Body)"/>
              </a:rPr>
              <a:t>Dramatic fall in tariff rates in India and Brazil, and less drastic reductions in many other developing countries.</a:t>
            </a:r>
          </a:p>
        </p:txBody>
      </p:sp>
    </p:spTree>
    <p:extLst>
      <p:ext uri="{BB962C8B-B14F-4D97-AF65-F5344CB8AC3E}">
        <p14:creationId xmlns:p14="http://schemas.microsoft.com/office/powerpoint/2010/main" val="2768410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Liberalization </a:t>
            </a:r>
            <a:r>
              <a:rPr lang="en-US" altLang="en-US" sz="2000" b="0" dirty="0">
                <a:cs typeface="Times New Roman" panose="02020603050405020304" pitchFamily="18" charset="0"/>
              </a:rPr>
              <a:t>(2 of 4)</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4345709"/>
          </a:xfrm>
        </p:spPr>
        <p:txBody>
          <a:bodyPr/>
          <a:lstStyle/>
          <a:p>
            <a:pPr eaLnBrk="1" hangingPunct="1"/>
            <a:r>
              <a:rPr lang="en-US" altLang="en-US" dirty="0">
                <a:latin typeface="Arial (Body)"/>
              </a:rPr>
              <a:t>Trade liberalization in developing countries occurred along with a dramatic increase in the volume of trade.</a:t>
            </a:r>
          </a:p>
          <a:p>
            <a:pPr lvl="1" eaLnBrk="1" hangingPunct="1"/>
            <a:r>
              <a:rPr lang="en-US" altLang="en-US" dirty="0">
                <a:latin typeface="Arial (Body)"/>
              </a:rPr>
              <a:t>The share of trade in G</a:t>
            </a:r>
            <a:r>
              <a:rPr lang="en-US" altLang="en-US" sz="100" dirty="0">
                <a:latin typeface="Arial (Body)"/>
              </a:rPr>
              <a:t> </a:t>
            </a:r>
            <a:r>
              <a:rPr lang="en-US" altLang="en-US" dirty="0">
                <a:latin typeface="Arial (Body)"/>
              </a:rPr>
              <a:t>D</a:t>
            </a:r>
            <a:r>
              <a:rPr lang="en-US" altLang="en-US" sz="100" dirty="0">
                <a:latin typeface="Arial (Body)"/>
              </a:rPr>
              <a:t> </a:t>
            </a:r>
            <a:r>
              <a:rPr lang="en-US" altLang="en-US" dirty="0">
                <a:latin typeface="Arial (Body)"/>
              </a:rPr>
              <a:t>P has tripled over 1970–1998, with most of the growth happening after 1985. </a:t>
            </a:r>
          </a:p>
          <a:p>
            <a:pPr lvl="1" eaLnBrk="1" hangingPunct="1"/>
            <a:r>
              <a:rPr lang="en-US" altLang="en-US" dirty="0">
                <a:latin typeface="Arial (Body)"/>
              </a:rPr>
              <a:t>The share of manufactured goods in developing-country exports surged, coming to dominate the exports of the biggest developing economies.</a:t>
            </a:r>
          </a:p>
          <a:p>
            <a:pPr eaLnBrk="1" hangingPunct="1"/>
            <a:r>
              <a:rPr lang="en-US" altLang="en-US" dirty="0">
                <a:latin typeface="Arial (Body)"/>
              </a:rPr>
              <a:t>A number of developing countries have achieved extraordinary growth while becoming more, not less, open to trade.</a:t>
            </a:r>
          </a:p>
        </p:txBody>
      </p:sp>
    </p:spTree>
    <p:extLst>
      <p:ext uri="{BB962C8B-B14F-4D97-AF65-F5344CB8AC3E}">
        <p14:creationId xmlns:p14="http://schemas.microsoft.com/office/powerpoint/2010/main" val="298503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11.1 Tariff Rates in Developing Countries</a:t>
            </a:r>
            <a:endParaRPr lang="en-US" sz="3200" dirty="0"/>
          </a:p>
        </p:txBody>
      </p:sp>
      <p:pic>
        <p:nvPicPr>
          <p:cNvPr id="8" name="Content Placeholder 7" descr="A bar graph plots the traffic rates in developing countri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682206" y="1559592"/>
            <a:ext cx="5779588" cy="3080114"/>
          </a:xfrm>
        </p:spPr>
      </p:pic>
      <p:sp>
        <p:nvSpPr>
          <p:cNvPr id="5" name="Content Placeholder 4"/>
          <p:cNvSpPr>
            <a:spLocks noGrp="1"/>
          </p:cNvSpPr>
          <p:nvPr>
            <p:ph sz="quarter" idx="14"/>
          </p:nvPr>
        </p:nvSpPr>
        <p:spPr>
          <a:xfrm>
            <a:off x="457199" y="4758005"/>
            <a:ext cx="8410575" cy="1601231"/>
          </a:xfrm>
        </p:spPr>
        <p:txBody>
          <a:bodyPr tIns="0" rIns="0" bIns="0"/>
          <a:lstStyle/>
          <a:p>
            <a:pPr marL="0" indent="0">
              <a:buNone/>
            </a:pPr>
            <a:r>
              <a:rPr lang="en-US" sz="1600" dirty="0">
                <a:latin typeface="Arial (Body)"/>
              </a:rPr>
              <a:t>One measure of the shift away from import-substituting industrialization is the sharp drop in tariff rates in developing countries, which have fallen from an average of more than 30 percent in the early 1980s to only about 10 percent today. Countries that once had especially strong import-substitution policies, like India and Brazil, have also seen the steepest declines in tariff rates.</a:t>
            </a:r>
          </a:p>
          <a:p>
            <a:pPr marL="0" indent="0">
              <a:spcBef>
                <a:spcPts val="600"/>
              </a:spcBef>
              <a:buNone/>
            </a:pPr>
            <a:r>
              <a:rPr lang="en-US" sz="1600" b="1" dirty="0">
                <a:latin typeface="Arial (Body)"/>
              </a:rPr>
              <a:t>Source: </a:t>
            </a:r>
            <a:r>
              <a:rPr lang="en-US" sz="1600" dirty="0">
                <a:latin typeface="Arial (Body)"/>
              </a:rPr>
              <a:t>World Bank.</a:t>
            </a:r>
          </a:p>
        </p:txBody>
      </p:sp>
    </p:spTree>
    <p:extLst>
      <p:ext uri="{BB962C8B-B14F-4D97-AF65-F5344CB8AC3E}">
        <p14:creationId xmlns:p14="http://schemas.microsoft.com/office/powerpoint/2010/main" val="301963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Figure 11.2 The Growth of Developing-Country Trade</a:t>
            </a:r>
            <a:endParaRPr lang="en-US" sz="3200" dirty="0">
              <a:cs typeface="Times New Roman" panose="02020603050405020304" pitchFamily="18" charset="0"/>
            </a:endParaRPr>
          </a:p>
        </p:txBody>
      </p:sp>
      <p:pic>
        <p:nvPicPr>
          <p:cNvPr id="5" name="Content Placeholder 4" descr="A graph depicts the growth of developing country trade.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rcRect l="9657" r="8635"/>
          <a:stretch/>
        </p:blipFill>
        <p:spPr>
          <a:xfrm>
            <a:off x="1614878" y="1575423"/>
            <a:ext cx="6142845" cy="2990090"/>
          </a:xfrm>
        </p:spPr>
      </p:pic>
      <p:sp>
        <p:nvSpPr>
          <p:cNvPr id="4" name="Content Placeholder 3"/>
          <p:cNvSpPr>
            <a:spLocks noGrp="1"/>
          </p:cNvSpPr>
          <p:nvPr>
            <p:ph sz="quarter" idx="14"/>
          </p:nvPr>
        </p:nvSpPr>
        <p:spPr>
          <a:xfrm>
            <a:off x="454660" y="4755600"/>
            <a:ext cx="8229600" cy="645076"/>
          </a:xfrm>
        </p:spPr>
        <p:txBody>
          <a:bodyPr/>
          <a:lstStyle/>
          <a:p>
            <a:pPr marL="0" indent="0">
              <a:spcBef>
                <a:spcPts val="600"/>
              </a:spcBef>
              <a:buNone/>
            </a:pPr>
            <a:r>
              <a:rPr lang="en-US" sz="1600" dirty="0">
                <a:latin typeface="Arial (Body)"/>
              </a:rPr>
              <a:t>Beginning in the 1980s, many developing countries began shifting away from import-substitution policies. One result has been a large rise in exports as a percentage of G</a:t>
            </a:r>
            <a:r>
              <a:rPr lang="en-US" sz="100" dirty="0">
                <a:latin typeface="Arial (Body)"/>
              </a:rPr>
              <a:t> </a:t>
            </a:r>
            <a:r>
              <a:rPr lang="en-US" sz="1600" dirty="0">
                <a:latin typeface="Arial (Body)"/>
              </a:rPr>
              <a:t>D</a:t>
            </a:r>
            <a:r>
              <a:rPr lang="en-US" sz="100" dirty="0">
                <a:latin typeface="Arial (Body)"/>
              </a:rPr>
              <a:t> </a:t>
            </a:r>
            <a:r>
              <a:rPr lang="en-US" sz="1600" dirty="0">
                <a:latin typeface="Arial (Body)"/>
              </a:rPr>
              <a:t>P.</a:t>
            </a:r>
          </a:p>
        </p:txBody>
      </p:sp>
      <p:sp>
        <p:nvSpPr>
          <p:cNvPr id="3" name="Content Placeholder 2">
            <a:extLst>
              <a:ext uri="{FF2B5EF4-FFF2-40B4-BE49-F238E27FC236}">
                <a16:creationId xmlns:a16="http://schemas.microsoft.com/office/drawing/2014/main" id="{6597FC75-0F9B-4909-BB99-1EAF8964E998}"/>
              </a:ext>
            </a:extLst>
          </p:cNvPr>
          <p:cNvSpPr>
            <a:spLocks noGrp="1"/>
          </p:cNvSpPr>
          <p:nvPr>
            <p:ph sz="quarter" idx="15"/>
          </p:nvPr>
        </p:nvSpPr>
        <p:spPr>
          <a:xfrm>
            <a:off x="454661" y="5441915"/>
            <a:ext cx="955040" cy="417865"/>
          </a:xfrm>
        </p:spPr>
        <p:txBody>
          <a:bodyPr/>
          <a:lstStyle/>
          <a:p>
            <a:pPr marL="432" indent="0">
              <a:buNone/>
            </a:pPr>
            <a:r>
              <a:rPr lang="en-US" sz="1600" b="1" dirty="0">
                <a:latin typeface="Arial (Body)"/>
              </a:rPr>
              <a:t>Source:</a:t>
            </a:r>
            <a:endParaRPr lang="en-US" sz="1600" dirty="0">
              <a:latin typeface="Arial (Body)"/>
            </a:endParaRPr>
          </a:p>
        </p:txBody>
      </p:sp>
      <p:sp>
        <p:nvSpPr>
          <p:cNvPr id="6" name="Text Placeholder 5">
            <a:extLst>
              <a:ext uri="{FF2B5EF4-FFF2-40B4-BE49-F238E27FC236}">
                <a16:creationId xmlns:a16="http://schemas.microsoft.com/office/drawing/2014/main" id="{4D04AFA8-D2EA-41F2-8ED0-8164F3A19AE3}"/>
              </a:ext>
            </a:extLst>
          </p:cNvPr>
          <p:cNvSpPr>
            <a:spLocks noGrp="1"/>
          </p:cNvSpPr>
          <p:nvPr>
            <p:ph type="body" sz="quarter" idx="16"/>
          </p:nvPr>
        </p:nvSpPr>
        <p:spPr>
          <a:xfrm>
            <a:off x="1476376" y="5576889"/>
            <a:ext cx="4867274" cy="282891"/>
          </a:xfrm>
        </p:spPr>
        <p:txBody>
          <a:bodyPr lIns="0" tIns="0" rIns="0" bIns="0"/>
          <a:lstStyle/>
          <a:p>
            <a:pPr marL="0" indent="0">
              <a:buNone/>
            </a:pPr>
            <a:r>
              <a:rPr lang="en-IN" b="0" i="0" u="none" strike="noStrike" baseline="0" dirty="0">
                <a:latin typeface="+mn-lt"/>
                <a:hlinkClick r:id="rId4" tooltip="http://data.worldbank.org/indicator/NE.EXP.GNFS.ZS"/>
              </a:rPr>
              <a:t>http://data.worldbank.org/indicator/NE.EXP.GNFS.ZS</a:t>
            </a:r>
            <a:endParaRPr lang="en-IN" dirty="0">
              <a:latin typeface="+mn-lt"/>
            </a:endParaRPr>
          </a:p>
        </p:txBody>
      </p:sp>
      <p:sp>
        <p:nvSpPr>
          <p:cNvPr id="7" name="Content Placeholder 6">
            <a:extLst>
              <a:ext uri="{FF2B5EF4-FFF2-40B4-BE49-F238E27FC236}">
                <a16:creationId xmlns:a16="http://schemas.microsoft.com/office/drawing/2014/main" id="{BB2950D9-AE41-440B-9255-5FEB4B8D6C20}"/>
              </a:ext>
            </a:extLst>
          </p:cNvPr>
          <p:cNvSpPr>
            <a:spLocks noGrp="1"/>
          </p:cNvSpPr>
          <p:nvPr>
            <p:ph sz="quarter" idx="17"/>
          </p:nvPr>
        </p:nvSpPr>
        <p:spPr>
          <a:xfrm>
            <a:off x="6390004" y="5620490"/>
            <a:ext cx="134619" cy="239290"/>
          </a:xfrm>
        </p:spPr>
        <p:txBody>
          <a:bodyPr lIns="0" tIns="0" rIns="0" bIns="0"/>
          <a:lstStyle/>
          <a:p>
            <a:pPr marL="432" indent="0">
              <a:buNone/>
            </a:pPr>
            <a:r>
              <a:rPr lang="en-IN" sz="100" dirty="0"/>
              <a:t> </a:t>
            </a:r>
            <a:r>
              <a:rPr lang="en-IN" sz="1200" dirty="0"/>
              <a:t>,</a:t>
            </a:r>
          </a:p>
        </p:txBody>
      </p:sp>
      <p:sp>
        <p:nvSpPr>
          <p:cNvPr id="8" name="Text Placeholder 7">
            <a:extLst>
              <a:ext uri="{FF2B5EF4-FFF2-40B4-BE49-F238E27FC236}">
                <a16:creationId xmlns:a16="http://schemas.microsoft.com/office/drawing/2014/main" id="{EBF6FA7E-AAC1-4051-858D-2FEFD2C88F11}"/>
              </a:ext>
            </a:extLst>
          </p:cNvPr>
          <p:cNvSpPr>
            <a:spLocks noGrp="1"/>
          </p:cNvSpPr>
          <p:nvPr>
            <p:ph type="body" sz="quarter" idx="18"/>
          </p:nvPr>
        </p:nvSpPr>
        <p:spPr>
          <a:xfrm>
            <a:off x="1454151" y="6016948"/>
            <a:ext cx="4867274" cy="333052"/>
          </a:xfrm>
        </p:spPr>
        <p:txBody>
          <a:bodyPr lIns="0" tIns="0" rIns="0" bIns="0"/>
          <a:lstStyle/>
          <a:p>
            <a:pPr marL="0" indent="0">
              <a:buNone/>
            </a:pPr>
            <a:r>
              <a:rPr lang="en-IN" b="0" i="0" u="none" strike="noStrike" baseline="0" dirty="0">
                <a:latin typeface="+mn-lt"/>
                <a:hlinkClick r:id="rId5" tooltip="http://data.worldbank.org/indicator/NE.IMP.GNFS.ZS"/>
              </a:rPr>
              <a:t>http://data.worldbank.org/indicator/NE.IMP.GNFS.ZS</a:t>
            </a:r>
            <a:endParaRPr lang="en-IN" dirty="0">
              <a:latin typeface="+mn-lt"/>
            </a:endParaRPr>
          </a:p>
        </p:txBody>
      </p:sp>
    </p:spTree>
    <p:extLst>
      <p:ext uri="{BB962C8B-B14F-4D97-AF65-F5344CB8AC3E}">
        <p14:creationId xmlns:p14="http://schemas.microsoft.com/office/powerpoint/2010/main" val="3641602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Liberalization </a:t>
            </a:r>
            <a:r>
              <a:rPr lang="en-US" altLang="en-US" sz="2000" b="0" dirty="0">
                <a:cs typeface="Times New Roman" panose="02020603050405020304" pitchFamily="18" charset="0"/>
              </a:rPr>
              <a:t>(3 of 4)</a:t>
            </a:r>
            <a:endParaRPr lang="en-US" dirty="0">
              <a:cs typeface="Times New Roman" panose="02020603050405020304" pitchFamily="18" charset="0"/>
            </a:endParaRPr>
          </a:p>
        </p:txBody>
      </p:sp>
      <p:sp>
        <p:nvSpPr>
          <p:cNvPr id="5" name="Content Placeholder 4"/>
          <p:cNvSpPr>
            <a:spLocks noGrp="1"/>
          </p:cNvSpPr>
          <p:nvPr>
            <p:ph sz="quarter" idx="13"/>
          </p:nvPr>
        </p:nvSpPr>
        <p:spPr>
          <a:xfrm>
            <a:off x="457200" y="1556327"/>
            <a:ext cx="8229600" cy="3673595"/>
          </a:xfrm>
        </p:spPr>
        <p:txBody>
          <a:bodyPr/>
          <a:lstStyle/>
          <a:p>
            <a:pPr eaLnBrk="1" hangingPunct="1"/>
            <a:r>
              <a:rPr lang="en-US" altLang="en-US" dirty="0">
                <a:latin typeface="Arial (Body)"/>
              </a:rPr>
              <a:t>Has trade liberalization promoted development? The evidence is mixed.</a:t>
            </a:r>
          </a:p>
          <a:p>
            <a:pPr lvl="1" eaLnBrk="1" hangingPunct="1"/>
            <a:r>
              <a:rPr lang="en-US" altLang="en-US" dirty="0">
                <a:latin typeface="Arial (Body)"/>
              </a:rPr>
              <a:t>Growth rates in Brazil and other Latin American countries have been slower since trade liberalization than they were during import-substituting industrialization.</a:t>
            </a:r>
          </a:p>
          <a:p>
            <a:pPr lvl="2" eaLnBrk="1" hangingPunct="1"/>
            <a:r>
              <a:rPr lang="en-US" altLang="en-US" dirty="0">
                <a:latin typeface="Arial (Body)"/>
              </a:rPr>
              <a:t>But unstable macroeconomic policies and financial crises contributed to slower growth since the 1980s.</a:t>
            </a:r>
          </a:p>
        </p:txBody>
      </p:sp>
    </p:spTree>
    <p:extLst>
      <p:ext uri="{BB962C8B-B14F-4D97-AF65-F5344CB8AC3E}">
        <p14:creationId xmlns:p14="http://schemas.microsoft.com/office/powerpoint/2010/main" val="2347591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Liberalization </a:t>
            </a:r>
            <a:r>
              <a:rPr lang="en-US" altLang="en-US" sz="2000" b="0" dirty="0">
                <a:cs typeface="Times New Roman" panose="02020603050405020304" pitchFamily="18" charset="0"/>
              </a:rPr>
              <a:t>(4 of 4)</a:t>
            </a:r>
            <a:endParaRPr lang="en-US" dirty="0">
              <a:cs typeface="Times New Roman" panose="02020603050405020304" pitchFamily="18" charset="0"/>
            </a:endParaRPr>
          </a:p>
        </p:txBody>
      </p:sp>
      <p:sp>
        <p:nvSpPr>
          <p:cNvPr id="5" name="Content Placeholder 4"/>
          <p:cNvSpPr>
            <a:spLocks noGrp="1"/>
          </p:cNvSpPr>
          <p:nvPr>
            <p:ph sz="quarter" idx="13"/>
          </p:nvPr>
        </p:nvSpPr>
        <p:spPr>
          <a:xfrm>
            <a:off x="457200" y="1556327"/>
            <a:ext cx="8229600" cy="2651991"/>
          </a:xfrm>
        </p:spPr>
        <p:txBody>
          <a:bodyPr/>
          <a:lstStyle/>
          <a:p>
            <a:pPr lvl="1" eaLnBrk="1" hangingPunct="1"/>
            <a:r>
              <a:rPr lang="en-US" altLang="en-US" dirty="0">
                <a:latin typeface="Arial (Body)"/>
              </a:rPr>
              <a:t>Other countries like India have grown rapidly since liberalizing trade in the 1980s, but it is unclear to what degree liberalized trade contributed to growth.</a:t>
            </a:r>
          </a:p>
          <a:p>
            <a:pPr lvl="1" eaLnBrk="1" hangingPunct="1"/>
            <a:r>
              <a:rPr lang="en-US" altLang="en-US" dirty="0">
                <a:latin typeface="Arial (Body)"/>
              </a:rPr>
              <a:t>Some economists also argue that trade liberalization has contributed to income inequality, as the Heckscher-Ohlin model predicts.</a:t>
            </a:r>
          </a:p>
        </p:txBody>
      </p:sp>
    </p:spTree>
    <p:extLst>
      <p:ext uri="{BB962C8B-B14F-4D97-AF65-F5344CB8AC3E}">
        <p14:creationId xmlns:p14="http://schemas.microsoft.com/office/powerpoint/2010/main" val="1287814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and Growth: Takeoff in Asia </a:t>
            </a:r>
            <a:r>
              <a:rPr lang="en-US" altLang="en-US" sz="2000" b="0" dirty="0"/>
              <a:t>(1 of 3)</a:t>
            </a:r>
            <a:endParaRPr lang="en-US" dirty="0"/>
          </a:p>
        </p:txBody>
      </p:sp>
      <p:sp>
        <p:nvSpPr>
          <p:cNvPr id="3" name="Content Placeholder 2"/>
          <p:cNvSpPr>
            <a:spLocks noGrp="1"/>
          </p:cNvSpPr>
          <p:nvPr>
            <p:ph sz="quarter" idx="13"/>
          </p:nvPr>
        </p:nvSpPr>
        <p:spPr>
          <a:xfrm>
            <a:off x="457200" y="1556327"/>
            <a:ext cx="8229600" cy="4314537"/>
          </a:xfrm>
        </p:spPr>
        <p:txBody>
          <a:bodyPr/>
          <a:lstStyle/>
          <a:p>
            <a:pPr eaLnBrk="1" hangingPunct="1"/>
            <a:r>
              <a:rPr lang="en-US" altLang="en-US" dirty="0">
                <a:latin typeface="Arial (Body)"/>
              </a:rPr>
              <a:t>Instead of import substitution, several countries in East Asia adopted trade policies that promoted exports in targeted industries.</a:t>
            </a:r>
          </a:p>
          <a:p>
            <a:pPr lvl="1" eaLnBrk="1" hangingPunct="1"/>
            <a:r>
              <a:rPr lang="en-US" altLang="en-US" dirty="0">
                <a:latin typeface="Arial (Body)"/>
              </a:rPr>
              <a:t>Japan, Hong Kong, Taiwan, South Korea, Singapore, Malaysia, Thailand, Indonesia, and China have experienced rapid growth in various export sectors and rapid economic growth in general.</a:t>
            </a:r>
          </a:p>
          <a:p>
            <a:r>
              <a:rPr lang="en-US" altLang="en-US" dirty="0">
                <a:latin typeface="Arial (Body)"/>
              </a:rPr>
              <a:t>These high-performance Asian economies generated a high volume of exports and imports relative to total production.</a:t>
            </a:r>
          </a:p>
        </p:txBody>
      </p:sp>
    </p:spTree>
    <p:extLst>
      <p:ext uri="{BB962C8B-B14F-4D97-AF65-F5344CB8AC3E}">
        <p14:creationId xmlns:p14="http://schemas.microsoft.com/office/powerpoint/2010/main" val="2190382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and Growth: Takeoff in Asia </a:t>
            </a:r>
            <a:r>
              <a:rPr lang="en-US" altLang="en-US" sz="2000" b="0" dirty="0"/>
              <a:t>(2 of 3)</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rPr>
              <a:t>Their policy reforms were followed by a large increase in openness, as measured by their share of exports in G</a:t>
            </a:r>
            <a:r>
              <a:rPr lang="en-US" altLang="en-US" sz="100" dirty="0">
                <a:latin typeface="Arial (Body)"/>
              </a:rPr>
              <a:t> </a:t>
            </a:r>
            <a:r>
              <a:rPr lang="en-US" altLang="en-US" dirty="0">
                <a:latin typeface="Arial (Body)"/>
              </a:rPr>
              <a:t>D</a:t>
            </a:r>
            <a:r>
              <a:rPr lang="en-US" altLang="en-US" sz="100" dirty="0">
                <a:latin typeface="Arial (Body)"/>
              </a:rPr>
              <a:t> </a:t>
            </a:r>
            <a:r>
              <a:rPr lang="en-US" altLang="en-US" dirty="0">
                <a:latin typeface="Arial (Body)"/>
              </a:rPr>
              <a:t>P.</a:t>
            </a:r>
          </a:p>
          <a:p>
            <a:pPr eaLnBrk="1" hangingPunct="1"/>
            <a:r>
              <a:rPr lang="en-US" altLang="en-US" dirty="0">
                <a:latin typeface="Arial (Body)"/>
              </a:rPr>
              <a:t>So it is possible to develop through export-oriented growth.</a:t>
            </a:r>
          </a:p>
          <a:p>
            <a:pPr eaLnBrk="1" hangingPunct="1"/>
            <a:r>
              <a:rPr lang="en-US" altLang="en-US" dirty="0">
                <a:latin typeface="Arial (Body)"/>
              </a:rPr>
              <a:t>However, Latin American nations such as Mexico and Brazil, which also sharply liberalized trade and shifted toward exports, did not see comparable economic takeoffs.</a:t>
            </a:r>
          </a:p>
          <a:p>
            <a:pPr eaLnBrk="1" hangingPunct="1"/>
            <a:r>
              <a:rPr lang="en-US" altLang="en-US" dirty="0">
                <a:latin typeface="Arial (Body)"/>
              </a:rPr>
              <a:t>These Latin American results suggest that other factors must have played a crucial role in the Asian miracle.</a:t>
            </a:r>
          </a:p>
        </p:txBody>
      </p:sp>
    </p:spTree>
    <p:extLst>
      <p:ext uri="{BB962C8B-B14F-4D97-AF65-F5344CB8AC3E}">
        <p14:creationId xmlns:p14="http://schemas.microsoft.com/office/powerpoint/2010/main" val="3273383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Figure 11.3 The Asian Takeoff</a:t>
            </a:r>
            <a:endParaRPr lang="en-US" dirty="0">
              <a:cs typeface="Times New Roman" panose="02020603050405020304" pitchFamily="18" charset="0"/>
            </a:endParaRPr>
          </a:p>
        </p:txBody>
      </p:sp>
      <p:pic>
        <p:nvPicPr>
          <p:cNvPr id="6" name="Content Placeholder 5" descr="A graph depicts G D P for 3 Asian countri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616982" y="1550922"/>
            <a:ext cx="5910036" cy="3219580"/>
          </a:xfrm>
        </p:spPr>
      </p:pic>
      <p:sp>
        <p:nvSpPr>
          <p:cNvPr id="5" name="Content Placeholder 4"/>
          <p:cNvSpPr>
            <a:spLocks noGrp="1"/>
          </p:cNvSpPr>
          <p:nvPr>
            <p:ph sz="quarter" idx="14"/>
          </p:nvPr>
        </p:nvSpPr>
        <p:spPr>
          <a:xfrm>
            <a:off x="457200" y="4846638"/>
            <a:ext cx="8229600" cy="1512602"/>
          </a:xfrm>
        </p:spPr>
        <p:txBody>
          <a:bodyPr/>
          <a:lstStyle/>
          <a:p>
            <a:pPr marL="0" indent="0">
              <a:buNone/>
            </a:pPr>
            <a:r>
              <a:rPr lang="en-US" sz="1600" dirty="0">
                <a:latin typeface="Arial (Body)"/>
              </a:rPr>
              <a:t>Beginning in the 1960s, a series of economies began converging on advanced-country levels of income. Here we show G</a:t>
            </a:r>
            <a:r>
              <a:rPr lang="en-US" sz="100" dirty="0">
                <a:latin typeface="Arial (Body)"/>
              </a:rPr>
              <a:t> </a:t>
            </a:r>
            <a:r>
              <a:rPr lang="en-US" sz="1600" dirty="0">
                <a:latin typeface="Arial (Body)"/>
              </a:rPr>
              <a:t>D</a:t>
            </a:r>
            <a:r>
              <a:rPr lang="en-US" sz="100" dirty="0">
                <a:latin typeface="Arial (Body)"/>
              </a:rPr>
              <a:t> </a:t>
            </a:r>
            <a:r>
              <a:rPr lang="en-US" sz="1600" dirty="0">
                <a:latin typeface="Arial (Body)"/>
              </a:rPr>
              <a:t>P per capita as a percentage of its level in the United States, using a proportional scale to highlight the changes. South Korea began its ascent in the 1960s, China at the end of the 1970s, and India about a decade later.</a:t>
            </a:r>
          </a:p>
          <a:p>
            <a:pPr marL="0" indent="0">
              <a:spcBef>
                <a:spcPts val="600"/>
              </a:spcBef>
              <a:buNone/>
            </a:pPr>
            <a:r>
              <a:rPr lang="en-US" sz="1600" b="1" dirty="0">
                <a:latin typeface="Arial (Body)"/>
              </a:rPr>
              <a:t>Source: </a:t>
            </a:r>
            <a:r>
              <a:rPr lang="en-US" sz="1600" dirty="0">
                <a:latin typeface="Arial (Body)"/>
              </a:rPr>
              <a:t>Total Economy Database.</a:t>
            </a:r>
          </a:p>
        </p:txBody>
      </p:sp>
    </p:spTree>
    <p:extLst>
      <p:ext uri="{BB962C8B-B14F-4D97-AF65-F5344CB8AC3E}">
        <p14:creationId xmlns:p14="http://schemas.microsoft.com/office/powerpoint/2010/main" val="2545264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Figure 11.4 Asia’s</a:t>
            </a:r>
            <a:r>
              <a:rPr lang="en-US" altLang="ja-JP" dirty="0">
                <a:cs typeface="Times New Roman" panose="02020603050405020304" pitchFamily="18" charset="0"/>
              </a:rPr>
              <a:t> Surging Trade</a:t>
            </a:r>
            <a:endParaRPr lang="en-US" dirty="0">
              <a:cs typeface="Times New Roman" panose="02020603050405020304" pitchFamily="18" charset="0"/>
            </a:endParaRPr>
          </a:p>
        </p:txBody>
      </p:sp>
      <p:pic>
        <p:nvPicPr>
          <p:cNvPr id="3" name="Content Placeholder 2" descr="A graph depicts surging trade for 3 Asian countrie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rcRect l="4682" t="1344" r="2635" b="976"/>
          <a:stretch/>
        </p:blipFill>
        <p:spPr>
          <a:xfrm>
            <a:off x="1490646" y="1568728"/>
            <a:ext cx="6410361" cy="4044392"/>
          </a:xfrm>
        </p:spPr>
      </p:pic>
      <p:sp>
        <p:nvSpPr>
          <p:cNvPr id="5" name="Content Placeholder 4"/>
          <p:cNvSpPr>
            <a:spLocks noGrp="1"/>
          </p:cNvSpPr>
          <p:nvPr>
            <p:ph sz="quarter" idx="14"/>
          </p:nvPr>
        </p:nvSpPr>
        <p:spPr>
          <a:xfrm>
            <a:off x="457199" y="5785362"/>
            <a:ext cx="2390775" cy="443067"/>
          </a:xfrm>
        </p:spPr>
        <p:txBody>
          <a:bodyPr/>
          <a:lstStyle/>
          <a:p>
            <a:pPr marL="0" indent="0">
              <a:buNone/>
            </a:pPr>
            <a:r>
              <a:rPr lang="en-US" sz="1800" b="1" dirty="0">
                <a:latin typeface="Arial (Body)"/>
              </a:rPr>
              <a:t>Source: </a:t>
            </a:r>
            <a:r>
              <a:rPr lang="en-US" sz="1800" dirty="0">
                <a:latin typeface="Arial (Body)"/>
              </a:rPr>
              <a:t>World Bank</a:t>
            </a:r>
          </a:p>
        </p:txBody>
      </p:sp>
    </p:spTree>
    <p:extLst>
      <p:ext uri="{BB962C8B-B14F-4D97-AF65-F5344CB8AC3E}">
        <p14:creationId xmlns:p14="http://schemas.microsoft.com/office/powerpoint/2010/main" val="1907420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and Growth: Takeoff in Asia </a:t>
            </a:r>
            <a:r>
              <a:rPr lang="en-US" altLang="en-US" sz="2000" b="0" dirty="0"/>
              <a:t>(3 of 3)</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rPr>
              <a:t>It’</a:t>
            </a:r>
            <a:r>
              <a:rPr lang="en-US" altLang="ja-JP" dirty="0">
                <a:latin typeface="Arial (Body)"/>
              </a:rPr>
              <a:t>s unclear if the high volume of exports and imports </a:t>
            </a:r>
            <a:r>
              <a:rPr lang="en-US" altLang="ja-JP" b="1" dirty="0">
                <a:latin typeface="Arial (Body)"/>
              </a:rPr>
              <a:t>caused</a:t>
            </a:r>
            <a:r>
              <a:rPr lang="en-US" altLang="ja-JP" i="1" dirty="0">
                <a:latin typeface="Arial (Body)"/>
              </a:rPr>
              <a:t> </a:t>
            </a:r>
            <a:r>
              <a:rPr lang="en-US" altLang="ja-JP" dirty="0">
                <a:latin typeface="Arial (Body)"/>
              </a:rPr>
              <a:t>rapid economic growth or was merely </a:t>
            </a:r>
            <a:r>
              <a:rPr lang="en-US" altLang="ja-JP" b="1" dirty="0">
                <a:latin typeface="Arial (Body)"/>
              </a:rPr>
              <a:t>correlated</a:t>
            </a:r>
            <a:r>
              <a:rPr lang="en-US" altLang="ja-JP" dirty="0">
                <a:latin typeface="Arial (Body)"/>
              </a:rPr>
              <a:t> with rapid economic growth.</a:t>
            </a:r>
          </a:p>
          <a:p>
            <a:pPr lvl="1" eaLnBrk="1" hangingPunct="1"/>
            <a:r>
              <a:rPr lang="en-US" altLang="en-US" dirty="0">
                <a:latin typeface="Arial (Body)"/>
              </a:rPr>
              <a:t>High saving and investment rates could have led to both rapid economic growth in general and rapid economic growth in export sectors. </a:t>
            </a:r>
          </a:p>
          <a:p>
            <a:pPr lvl="1" eaLnBrk="1" hangingPunct="1"/>
            <a:r>
              <a:rPr lang="en-US" altLang="en-US" dirty="0">
                <a:latin typeface="Arial (Body)"/>
              </a:rPr>
              <a:t>Rapid growth in education led to high literacy and numeracy rates important for a productive labor force.</a:t>
            </a:r>
          </a:p>
          <a:p>
            <a:pPr lvl="1" eaLnBrk="1" hangingPunct="1"/>
            <a:r>
              <a:rPr lang="en-US" altLang="en-US" dirty="0">
                <a:latin typeface="Arial (Body)"/>
              </a:rPr>
              <a:t>These nations also undertook other economic reforms.</a:t>
            </a:r>
          </a:p>
        </p:txBody>
      </p:sp>
    </p:spTree>
    <p:extLst>
      <p:ext uri="{BB962C8B-B14F-4D97-AF65-F5344CB8AC3E}">
        <p14:creationId xmlns:p14="http://schemas.microsoft.com/office/powerpoint/2010/main" val="1367159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3)</a:t>
            </a:r>
            <a:endParaRPr lang="en-US" dirty="0"/>
          </a:p>
        </p:txBody>
      </p:sp>
      <p:sp>
        <p:nvSpPr>
          <p:cNvPr id="3" name="Content Placeholder 2"/>
          <p:cNvSpPr>
            <a:spLocks noGrp="1"/>
          </p:cNvSpPr>
          <p:nvPr>
            <p:ph sz="quarter" idx="13"/>
          </p:nvPr>
        </p:nvSpPr>
        <p:spPr>
          <a:xfrm>
            <a:off x="457200" y="1556327"/>
            <a:ext cx="8229600" cy="2558473"/>
          </a:xfrm>
        </p:spPr>
        <p:txBody>
          <a:bodyPr/>
          <a:lstStyle/>
          <a:p>
            <a:pPr marL="432000" indent="-432000" eaLnBrk="1" hangingPunct="1">
              <a:buFont typeface="Times" pitchFamily="-1" charset="0"/>
              <a:buAutoNum type="arabicPeriod"/>
            </a:pPr>
            <a:r>
              <a:rPr lang="en-US" altLang="en-US" dirty="0">
                <a:latin typeface="Arial (Body)"/>
              </a:rPr>
              <a:t>Import-substituting industrialization aimed to promote economic growth by restricting imports that competed with domestic products in low- and middle-income countries. </a:t>
            </a:r>
          </a:p>
          <a:p>
            <a:pPr marL="432000" indent="-432000" eaLnBrk="1" hangingPunct="1">
              <a:buFont typeface="Times" pitchFamily="-1" charset="0"/>
              <a:buAutoNum type="arabicPeriod"/>
            </a:pPr>
            <a:r>
              <a:rPr lang="en-US" altLang="en-US" dirty="0">
                <a:latin typeface="Arial (Body)"/>
              </a:rPr>
              <a:t>The infant industry argument says that new industries need temporary trade protection due to market failures:</a:t>
            </a:r>
          </a:p>
        </p:txBody>
      </p:sp>
      <p:sp>
        <p:nvSpPr>
          <p:cNvPr id="4" name="Content Placeholder 3">
            <a:extLst>
              <a:ext uri="{FF2B5EF4-FFF2-40B4-BE49-F238E27FC236}">
                <a16:creationId xmlns:a16="http://schemas.microsoft.com/office/drawing/2014/main" id="{CCC86BEF-79F7-408E-A2A8-2A19D4F91A45}"/>
              </a:ext>
            </a:extLst>
          </p:cNvPr>
          <p:cNvSpPr>
            <a:spLocks noGrp="1"/>
          </p:cNvSpPr>
          <p:nvPr>
            <p:ph sz="quarter" idx="14"/>
          </p:nvPr>
        </p:nvSpPr>
        <p:spPr>
          <a:xfrm>
            <a:off x="457200" y="4261856"/>
            <a:ext cx="7959436" cy="1726349"/>
          </a:xfrm>
        </p:spPr>
        <p:txBody>
          <a:bodyPr tIns="0" rIns="0" bIns="0"/>
          <a:lstStyle/>
          <a:p>
            <a:pPr marL="741600" lvl="1"/>
            <a:r>
              <a:rPr lang="en-US" altLang="en-US" dirty="0">
                <a:latin typeface="Arial (Body)"/>
              </a:rPr>
              <a:t>imperfect asset markets that restrict saving, borrowing, and investment in production processes</a:t>
            </a:r>
          </a:p>
          <a:p>
            <a:pPr marL="741600" lvl="1"/>
            <a:r>
              <a:rPr lang="en-US" altLang="en-US" dirty="0">
                <a:latin typeface="Arial (Body)"/>
              </a:rPr>
              <a:t>problems of appropriating gains from private investment in production processes</a:t>
            </a:r>
          </a:p>
        </p:txBody>
      </p:sp>
    </p:spTree>
    <p:extLst>
      <p:ext uri="{BB962C8B-B14F-4D97-AF65-F5344CB8AC3E}">
        <p14:creationId xmlns:p14="http://schemas.microsoft.com/office/powerpoint/2010/main" val="2210035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Summary </a:t>
            </a:r>
            <a:r>
              <a:rPr lang="en-US" altLang="en-US" sz="2000" b="0"/>
              <a:t>(2 of 3)</a:t>
            </a:r>
            <a:endParaRPr lang="en-US" dirty="0"/>
          </a:p>
        </p:txBody>
      </p:sp>
      <p:sp>
        <p:nvSpPr>
          <p:cNvPr id="3" name="Content Placeholder 2"/>
          <p:cNvSpPr>
            <a:spLocks noGrp="1"/>
          </p:cNvSpPr>
          <p:nvPr>
            <p:ph sz="quarter" idx="13"/>
          </p:nvPr>
        </p:nvSpPr>
        <p:spPr/>
        <p:txBody>
          <a:bodyPr/>
          <a:lstStyle/>
          <a:p>
            <a:pPr marL="432000" indent="-432000" eaLnBrk="1" hangingPunct="1">
              <a:buFont typeface="Times" pitchFamily="-1" charset="0"/>
              <a:buAutoNum type="arabicPeriod" startAt="3"/>
            </a:pPr>
            <a:r>
              <a:rPr lang="en-US" altLang="en-US" dirty="0">
                <a:latin typeface="Arial (Body)"/>
              </a:rPr>
              <a:t>Import-substituting industrialization was tried in the 1950s and 1960s but by the mid-1980s it was abandoned for trade liberalization.</a:t>
            </a:r>
          </a:p>
          <a:p>
            <a:pPr marL="432000" indent="-432000" eaLnBrk="1" hangingPunct="1">
              <a:buFont typeface="Times" pitchFamily="-1" charset="0"/>
              <a:buAutoNum type="arabicPeriod" startAt="3"/>
            </a:pPr>
            <a:r>
              <a:rPr lang="en-US" altLang="en-US" dirty="0">
                <a:latin typeface="Arial (Body)"/>
              </a:rPr>
              <a:t>The effect of liberalized trade on national welfare is still being debated.</a:t>
            </a:r>
          </a:p>
        </p:txBody>
      </p:sp>
      <p:sp>
        <p:nvSpPr>
          <p:cNvPr id="6" name="Content Placeholder 5">
            <a:extLst>
              <a:ext uri="{FF2B5EF4-FFF2-40B4-BE49-F238E27FC236}">
                <a16:creationId xmlns:a16="http://schemas.microsoft.com/office/drawing/2014/main" id="{F5F4918B-19B8-4541-8A9C-E4B0C5285DBA}"/>
              </a:ext>
            </a:extLst>
          </p:cNvPr>
          <p:cNvSpPr>
            <a:spLocks noGrp="1"/>
          </p:cNvSpPr>
          <p:nvPr>
            <p:ph sz="quarter" idx="14"/>
          </p:nvPr>
        </p:nvSpPr>
        <p:spPr>
          <a:xfrm>
            <a:off x="457200" y="3930361"/>
            <a:ext cx="7969827" cy="2085975"/>
          </a:xfrm>
        </p:spPr>
        <p:txBody>
          <a:bodyPr tIns="0" rIns="0" bIns="0"/>
          <a:lstStyle/>
          <a:p>
            <a:pPr marL="741600" lvl="1"/>
            <a:r>
              <a:rPr lang="en-US" altLang="en-US" dirty="0">
                <a:latin typeface="Arial (Body)"/>
              </a:rPr>
              <a:t>Trade helped growth in some sectors, but saying that trade </a:t>
            </a:r>
            <a:r>
              <a:rPr lang="en-US" altLang="en-US" b="1" dirty="0">
                <a:latin typeface="Arial (Body)"/>
              </a:rPr>
              <a:t>caused</a:t>
            </a:r>
            <a:r>
              <a:rPr lang="en-US" altLang="en-US" dirty="0">
                <a:latin typeface="Arial (Body)"/>
              </a:rPr>
              <a:t> higher overall economic growth has attracted some skepticism.</a:t>
            </a:r>
          </a:p>
          <a:p>
            <a:pPr marL="741600" lvl="1"/>
            <a:r>
              <a:rPr lang="en-US" altLang="en-US" dirty="0">
                <a:latin typeface="Arial (Body)"/>
              </a:rPr>
              <a:t>Some argue that trade has caused increased income inequality.</a:t>
            </a:r>
          </a:p>
        </p:txBody>
      </p:sp>
    </p:spTree>
    <p:extLst>
      <p:ext uri="{BB962C8B-B14F-4D97-AF65-F5344CB8AC3E}">
        <p14:creationId xmlns:p14="http://schemas.microsoft.com/office/powerpoint/2010/main" val="1386602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3)</a:t>
            </a:r>
            <a:endParaRPr lang="en-US" dirty="0"/>
          </a:p>
        </p:txBody>
      </p:sp>
      <p:sp>
        <p:nvSpPr>
          <p:cNvPr id="3" name="Content Placeholder 2"/>
          <p:cNvSpPr>
            <a:spLocks noGrp="1"/>
          </p:cNvSpPr>
          <p:nvPr>
            <p:ph sz="quarter" idx="13"/>
          </p:nvPr>
        </p:nvSpPr>
        <p:spPr>
          <a:xfrm>
            <a:off x="457200" y="1556327"/>
            <a:ext cx="8229600" cy="927100"/>
          </a:xfrm>
        </p:spPr>
        <p:txBody>
          <a:bodyPr/>
          <a:lstStyle/>
          <a:p>
            <a:pPr marL="432000" indent="-432000" eaLnBrk="1" hangingPunct="1">
              <a:buFont typeface="Times" pitchFamily="-1" charset="0"/>
              <a:buAutoNum type="arabicPeriod" startAt="5"/>
            </a:pPr>
            <a:r>
              <a:rPr lang="en-US" altLang="en-US" dirty="0">
                <a:latin typeface="Arial (Body)"/>
              </a:rPr>
              <a:t>Several East Asian economies adopted export-oriented instead of import-substituting industrialization.</a:t>
            </a:r>
          </a:p>
        </p:txBody>
      </p:sp>
      <p:sp>
        <p:nvSpPr>
          <p:cNvPr id="4" name="Content Placeholder 3">
            <a:extLst>
              <a:ext uri="{FF2B5EF4-FFF2-40B4-BE49-F238E27FC236}">
                <a16:creationId xmlns:a16="http://schemas.microsoft.com/office/drawing/2014/main" id="{4F8D214D-258F-4776-83A1-564A16D02CC5}"/>
              </a:ext>
            </a:extLst>
          </p:cNvPr>
          <p:cNvSpPr>
            <a:spLocks noGrp="1"/>
          </p:cNvSpPr>
          <p:nvPr>
            <p:ph sz="quarter" idx="14"/>
          </p:nvPr>
        </p:nvSpPr>
        <p:spPr>
          <a:xfrm>
            <a:off x="457200" y="2602777"/>
            <a:ext cx="8229600" cy="2105025"/>
          </a:xfrm>
        </p:spPr>
        <p:txBody>
          <a:bodyPr tIns="0" rIns="0" bIns="0"/>
          <a:lstStyle/>
          <a:p>
            <a:pPr marL="741600" lvl="1"/>
            <a:r>
              <a:rPr lang="en-US" altLang="en-US" dirty="0">
                <a:latin typeface="Arial (Body)"/>
              </a:rPr>
              <a:t>High export and import volumes and relatively low trade restrictions were characteristics of this policy.</a:t>
            </a:r>
          </a:p>
          <a:p>
            <a:pPr marL="741600" lvl="1"/>
            <a:r>
              <a:rPr lang="en-US" altLang="en-US" dirty="0">
                <a:latin typeface="Arial (Body)"/>
              </a:rPr>
              <a:t>It’</a:t>
            </a:r>
            <a:r>
              <a:rPr lang="en-US" altLang="ja-JP" dirty="0">
                <a:latin typeface="Arial (Body)"/>
              </a:rPr>
              <a:t>s unclear to what degree this policy contributed to overall economic growth, especially since other countries have not had similar successes.</a:t>
            </a:r>
            <a:endParaRPr lang="en-IN" dirty="0"/>
          </a:p>
        </p:txBody>
      </p:sp>
    </p:spTree>
    <p:extLst>
      <p:ext uri="{BB962C8B-B14F-4D97-AF65-F5344CB8AC3E}">
        <p14:creationId xmlns:p14="http://schemas.microsoft.com/office/powerpoint/2010/main" val="3945541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147772</TotalTime>
  <Words>2399</Words>
  <Application>Microsoft Office PowerPoint</Application>
  <PresentationFormat>On-screen Show (4:3)</PresentationFormat>
  <Paragraphs>155</Paragraphs>
  <Slides>28</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Calibri</vt:lpstr>
      <vt:lpstr>Verdana</vt:lpstr>
      <vt:lpstr>Arial (Body)</vt:lpstr>
      <vt:lpstr>Times New Roman</vt:lpstr>
      <vt:lpstr>Noto Sans Symbols</vt:lpstr>
      <vt:lpstr>Arial</vt:lpstr>
      <vt:lpstr>Times</vt:lpstr>
      <vt:lpstr>USHE</vt:lpstr>
      <vt:lpstr>USHE_slide options</vt:lpstr>
      <vt:lpstr>International Economics: Theory and Policy</vt:lpstr>
      <vt:lpstr>Learning Objectives</vt:lpstr>
      <vt:lpstr>Preview</vt:lpstr>
      <vt:lpstr>Introduction</vt:lpstr>
      <vt:lpstr>Table 11.1 Gross Domestic Product per Capita, 2019 (Dollars, Adjusted for Differences in Price Levels)</vt:lpstr>
      <vt:lpstr>Import-Substituting Industrialization (1 of 4)</vt:lpstr>
      <vt:lpstr>Table 11.2 Effective Protection of Manufacturing in Some Developing Countries (Percent)</vt:lpstr>
      <vt:lpstr>Import-Substituting Industrialization (2 of 4)</vt:lpstr>
      <vt:lpstr>Problems with the Infant Industry Argument</vt:lpstr>
      <vt:lpstr>Infant Industries and Market Failures (1 of 2)</vt:lpstr>
      <vt:lpstr>Infant Industries and Market Failures (2 of 2)</vt:lpstr>
      <vt:lpstr>Import-Substituting Industrialization (3 of 4)</vt:lpstr>
      <vt:lpstr>Import-Substituting Industrialization (4 of 4)</vt:lpstr>
      <vt:lpstr>Trade Liberalization (1 of 4)</vt:lpstr>
      <vt:lpstr>Trade Liberalization (2 of 4)</vt:lpstr>
      <vt:lpstr>Figure 11.1 Tariff Rates in Developing Countries</vt:lpstr>
      <vt:lpstr>Figure 11.2 The Growth of Developing-Country Trade</vt:lpstr>
      <vt:lpstr>Trade Liberalization (3 of 4)</vt:lpstr>
      <vt:lpstr>Trade Liberalization (4 of 4)</vt:lpstr>
      <vt:lpstr>Trade and Growth: Takeoff in Asia (1 of 3)</vt:lpstr>
      <vt:lpstr>Trade and Growth: Takeoff in Asia (2 of 3)</vt:lpstr>
      <vt:lpstr>Figure 11.3 The Asian Takeoff</vt:lpstr>
      <vt:lpstr>Figure 11.4 Asia’s Surging Trade</vt:lpstr>
      <vt:lpstr>Trade and Growth: Takeoff in Asia (3 of 3)</vt:lpstr>
      <vt:lpstr>Summary (1 of 3)</vt:lpstr>
      <vt:lpstr>Summary (2 of 3)</vt:lpstr>
      <vt:lpstr>Summary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11, Trade Policy in Developing Countries</dc:title>
  <dc:subject>Business</dc:subject>
  <dc:creator>Krugman/Obstfeld/Melitz</dc:creator>
  <cp:keywords>International Economics</cp:keywords>
  <dc:description>Long description alt-text is inserted in the notes pane; This presentation contains the hyperlinks.</dc:description>
  <cp:lastModifiedBy>admin</cp:lastModifiedBy>
  <cp:revision>937</cp:revision>
  <dcterms:modified xsi:type="dcterms:W3CDTF">2021-11-10T09:15:30Z</dcterms:modified>
</cp:coreProperties>
</file>