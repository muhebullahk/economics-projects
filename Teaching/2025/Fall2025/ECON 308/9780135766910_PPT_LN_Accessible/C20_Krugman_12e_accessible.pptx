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4"/>
  </p:notesMasterIdLst>
  <p:handoutMasterIdLst>
    <p:handoutMasterId r:id="rId65"/>
  </p:handoutMasterIdLst>
  <p:sldIdLst>
    <p:sldId id="330" r:id="rId3"/>
    <p:sldId id="612" r:id="rId4"/>
    <p:sldId id="613" r:id="rId5"/>
    <p:sldId id="334" r:id="rId6"/>
    <p:sldId id="333" r:id="rId7"/>
    <p:sldId id="521" r:id="rId8"/>
    <p:sldId id="522" r:id="rId9"/>
    <p:sldId id="614" r:id="rId10"/>
    <p:sldId id="615" r:id="rId11"/>
    <p:sldId id="616" r:id="rId12"/>
    <p:sldId id="617" r:id="rId13"/>
    <p:sldId id="618" r:id="rId14"/>
    <p:sldId id="619" r:id="rId15"/>
    <p:sldId id="620" r:id="rId16"/>
    <p:sldId id="621" r:id="rId17"/>
    <p:sldId id="622" r:id="rId18"/>
    <p:sldId id="623" r:id="rId19"/>
    <p:sldId id="624" r:id="rId20"/>
    <p:sldId id="625" r:id="rId21"/>
    <p:sldId id="626" r:id="rId22"/>
    <p:sldId id="627" r:id="rId23"/>
    <p:sldId id="628" r:id="rId24"/>
    <p:sldId id="629" r:id="rId25"/>
    <p:sldId id="630" r:id="rId26"/>
    <p:sldId id="631" r:id="rId27"/>
    <p:sldId id="632" r:id="rId28"/>
    <p:sldId id="633" r:id="rId29"/>
    <p:sldId id="634" r:id="rId30"/>
    <p:sldId id="635" r:id="rId31"/>
    <p:sldId id="636" r:id="rId32"/>
    <p:sldId id="637" r:id="rId33"/>
    <p:sldId id="638" r:id="rId34"/>
    <p:sldId id="639" r:id="rId35"/>
    <p:sldId id="640" r:id="rId36"/>
    <p:sldId id="641" r:id="rId37"/>
    <p:sldId id="642" r:id="rId38"/>
    <p:sldId id="643" r:id="rId39"/>
    <p:sldId id="644" r:id="rId40"/>
    <p:sldId id="645" r:id="rId41"/>
    <p:sldId id="646" r:id="rId42"/>
    <p:sldId id="647" r:id="rId43"/>
    <p:sldId id="648" r:id="rId44"/>
    <p:sldId id="649" r:id="rId45"/>
    <p:sldId id="650" r:id="rId46"/>
    <p:sldId id="651" r:id="rId47"/>
    <p:sldId id="652" r:id="rId48"/>
    <p:sldId id="653" r:id="rId49"/>
    <p:sldId id="654" r:id="rId50"/>
    <p:sldId id="655" r:id="rId51"/>
    <p:sldId id="656" r:id="rId52"/>
    <p:sldId id="657" r:id="rId53"/>
    <p:sldId id="658" r:id="rId54"/>
    <p:sldId id="659" r:id="rId55"/>
    <p:sldId id="660" r:id="rId56"/>
    <p:sldId id="661" r:id="rId57"/>
    <p:sldId id="662" r:id="rId58"/>
    <p:sldId id="663" r:id="rId59"/>
    <p:sldId id="664" r:id="rId60"/>
    <p:sldId id="665" r:id="rId61"/>
    <p:sldId id="666" r:id="rId62"/>
    <p:sldId id="298" r:id="rId63"/>
  </p:sldIdLst>
  <p:sldSz cx="9144000" cy="6858000" type="screen4x3"/>
  <p:notesSz cx="6858000" cy="9144000"/>
  <p:embeddedFontLst>
    <p:embeddedFont>
      <p:font typeface="Calibri" panose="020F0502020204030204" pitchFamily="34" charset="0"/>
      <p:regular r:id="rId66"/>
      <p:bold r:id="rId67"/>
      <p:italic r:id="rId68"/>
      <p:boldItalic r:id="rId69"/>
    </p:embeddedFont>
    <p:embeddedFont>
      <p:font typeface="Verdana" panose="020B0604030504040204" pitchFamily="34" charset="0"/>
      <p:regular r:id="rId70"/>
      <p:bold r:id="rId71"/>
      <p:italic r:id="rId72"/>
      <p:boldItalic r:id="rId73"/>
    </p:embeddedFont>
    <p:embeddedFont>
      <p:font typeface="Noto Sans Symbols" panose="020B0604020202020204" charset="0"/>
      <p:regular r:id="rId74"/>
      <p:bold r:id="rId75"/>
      <p:italic r:id="rId76"/>
      <p:boldItalic r:id="rId77"/>
    </p:embeddedFont>
    <p:embeddedFont>
      <p:font typeface="Times" panose="02020603050405020304" pitchFamily="18" charset="0"/>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Ramkumar P" initials="RP" lastIdx="14" clrIdx="7">
    <p:extLst>
      <p:ext uri="{19B8F6BF-5375-455C-9EA6-DF929625EA0E}">
        <p15:presenceInfo xmlns:p15="http://schemas.microsoft.com/office/powerpoint/2012/main" userId="S-1-5-21-2752970185-40930380-1894245210-1593" providerId="AD"/>
      </p:ext>
    </p:extLst>
  </p:cmAuthor>
  <p:cmAuthor id="1" name="Ruchi Sachdev" initials="" lastIdx="8" clrIdx="1"/>
  <p:cmAuthor id="8" name="Vinoth" initials="V" lastIdx="1" clrIdx="8">
    <p:extLst>
      <p:ext uri="{19B8F6BF-5375-455C-9EA6-DF929625EA0E}">
        <p15:presenceInfo xmlns:p15="http://schemas.microsoft.com/office/powerpoint/2012/main" userId="feeb60013dec6650" providerId="Windows Liv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71445" autoAdjust="0"/>
  </p:normalViewPr>
  <p:slideViewPr>
    <p:cSldViewPr snapToGrid="0" snapToObjects="1">
      <p:cViewPr varScale="1">
        <p:scale>
          <a:sx n="81" d="100"/>
          <a:sy n="81" d="100"/>
        </p:scale>
        <p:origin x="846" y="90"/>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4702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font" Target="fonts/font3.fntdata"/><Relationship Id="rId76" Type="http://schemas.openxmlformats.org/officeDocument/2006/relationships/font" Target="fonts/font11.fntdata"/><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1.fntdata"/><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11/5/2021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Four Boxes are </a:t>
            </a:r>
            <a:r>
              <a:rPr lang="en-IN" dirty="0" err="1" smtClean="0"/>
              <a:t>labeled</a:t>
            </a:r>
            <a:r>
              <a:rPr lang="en-IN" dirty="0" smtClean="0"/>
              <a:t>, home goods and services, foreign goods and services, home assets, and foreign assets, respectively. Double headed arrows extend from each home entity to each foreign entity.</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8396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number of crises for emerging slash developing countries generally increased from 2 in 19 76 to 15 in 19 83, then decreased to 3 in 19 86 before increasing again to a peak of 27 in 19 95. The number of crises for emerging slash developing countries then generally decreased to 0 in 2006 and 2007, before rising to 8 in 2008, 2009, and 20 10. The number of crises for advanced countries was 1 in 19 77 through 19 81, 1 in 19 88, and then 3 to 2 in 19 91 to 19 95. There were additional crises, 1 per year, in 19 97 through 2001, and then 2 in 2007. In 2008 through 20 11, there were 18 per year.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1239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Times New Roman" panose="02020603050405020304" pitchFamily="18" charset="0"/>
              </a:rPr>
              <a:t>The plot for dollar volume rises from (19 99, 4) through (2004, 12), (20 12, 11), to (20 19, 12). The plot for dollar liabilities rises from (19 99, 4) through (2004, 12), (20 12, 11.5), to (20 19, 10). The plot for euro volume rises from (19 99, 1) through (2004, 4), (20 12, 3), to (20 19, 3.5). The plot for euro liabilities rises from (19 99, 1) through (2004, 3.5), (20 12, 3) to (20 19, 2).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6472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A regression line rises from (20, 21) through (25, 23) to (34, 26). Most countries shown are concentrated between (17, 20) and (27, 25), including Scandinavia, Great Britain, Turkey, U S, Canada, Ireland, Spain, Finland, Austria, Japan, and Norway. The farther outlier is Korea at (34, 32).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2365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plot generally falls from (19 90, 0.05) to (2006, negative 0.02) and then spikes from (2008, 0.04) to (2009, 0.98) before falling to (20 10, 0.04). The plot then rises to 0.20 in mid 20 10 and fluctuates at roughly the same level to 20 20. All values are estimated.</a:t>
            </a:r>
            <a:r>
              <a:rPr lang="en-US" sz="1800" dirty="0"/>
              <a:t> </a:t>
            </a:r>
            <a:endParaRPr lang="en-IN" sz="180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02051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5">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88207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671853"/>
            <a:ext cx="8229600" cy="51217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74AAF22-7E52-4BB8-A19A-B8136D7E604E}"/>
              </a:ext>
            </a:extLst>
          </p:cNvPr>
          <p:cNvSpPr>
            <a:spLocks noGrp="1"/>
          </p:cNvSpPr>
          <p:nvPr>
            <p:ph sz="quarter" idx="15"/>
          </p:nvPr>
        </p:nvSpPr>
        <p:spPr>
          <a:xfrm>
            <a:off x="457200" y="3523697"/>
            <a:ext cx="8229600" cy="512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6C83B4D9-DE07-4E83-8378-A2C310A8B3D1}"/>
              </a:ext>
            </a:extLst>
          </p:cNvPr>
          <p:cNvSpPr>
            <a:spLocks noGrp="1"/>
          </p:cNvSpPr>
          <p:nvPr>
            <p:ph sz="quarter" idx="16"/>
          </p:nvPr>
        </p:nvSpPr>
        <p:spPr>
          <a:xfrm>
            <a:off x="457200" y="4396670"/>
            <a:ext cx="8229600"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BA90310-CB6B-49A6-9445-8C566ACD43CA}"/>
              </a:ext>
            </a:extLst>
          </p:cNvPr>
          <p:cNvSpPr>
            <a:spLocks noGrp="1"/>
          </p:cNvSpPr>
          <p:nvPr>
            <p:ph sz="quarter" idx="17"/>
          </p:nvPr>
        </p:nvSpPr>
        <p:spPr>
          <a:xfrm>
            <a:off x="457200" y="5217528"/>
            <a:ext cx="8091487" cy="512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797A2497-49FC-4E97-BA53-834BEE3AA41C}"/>
              </a:ext>
            </a:extLst>
          </p:cNvPr>
          <p:cNvSpPr>
            <a:spLocks noGrp="1"/>
          </p:cNvSpPr>
          <p:nvPr>
            <p:ph sz="quarter" idx="18"/>
          </p:nvPr>
        </p:nvSpPr>
        <p:spPr>
          <a:xfrm>
            <a:off x="457200" y="6038386"/>
            <a:ext cx="8229600" cy="6381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6E158B03-35ED-4C86-A177-C036F37E31D1}"/>
              </a:ext>
            </a:extLst>
          </p:cNvPr>
          <p:cNvSpPr>
            <a:spLocks noGrp="1"/>
          </p:cNvSpPr>
          <p:nvPr>
            <p:ph sz="quarter" idx="19"/>
          </p:nvPr>
        </p:nvSpPr>
        <p:spPr>
          <a:xfrm>
            <a:off x="457200" y="6858000"/>
            <a:ext cx="8229600" cy="93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583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70196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525348"/>
            <a:ext cx="8229600" cy="5919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053872F-BA18-402C-9D97-50510F81EABD}"/>
              </a:ext>
            </a:extLst>
          </p:cNvPr>
          <p:cNvSpPr>
            <a:spLocks noGrp="1"/>
          </p:cNvSpPr>
          <p:nvPr>
            <p:ph sz="quarter" idx="15"/>
          </p:nvPr>
        </p:nvSpPr>
        <p:spPr>
          <a:xfrm>
            <a:off x="457200" y="3227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EE83C8D-0F22-41E2-ACD5-80F91A191294}"/>
              </a:ext>
            </a:extLst>
          </p:cNvPr>
          <p:cNvSpPr>
            <a:spLocks noGrp="1"/>
          </p:cNvSpPr>
          <p:nvPr>
            <p:ph sz="quarter" idx="16"/>
          </p:nvPr>
        </p:nvSpPr>
        <p:spPr>
          <a:xfrm>
            <a:off x="457200" y="3989388"/>
            <a:ext cx="8229600" cy="513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1321ED12-B362-438C-859F-FE5720E1A9D6}"/>
              </a:ext>
            </a:extLst>
          </p:cNvPr>
          <p:cNvSpPr>
            <a:spLocks noGrp="1"/>
          </p:cNvSpPr>
          <p:nvPr>
            <p:ph sz="quarter" idx="17"/>
          </p:nvPr>
        </p:nvSpPr>
        <p:spPr>
          <a:xfrm>
            <a:off x="457200" y="4737967"/>
            <a:ext cx="8229600" cy="563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6FC96A21-DAFB-4ED2-A2EB-105BDC411856}"/>
              </a:ext>
            </a:extLst>
          </p:cNvPr>
          <p:cNvSpPr>
            <a:spLocks noGrp="1"/>
          </p:cNvSpPr>
          <p:nvPr>
            <p:ph sz="quarter" idx="18"/>
          </p:nvPr>
        </p:nvSpPr>
        <p:spPr>
          <a:xfrm>
            <a:off x="457200" y="5486400"/>
            <a:ext cx="8229600" cy="77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a:extLst>
              <a:ext uri="{FF2B5EF4-FFF2-40B4-BE49-F238E27FC236}">
                <a16:creationId xmlns:a16="http://schemas.microsoft.com/office/drawing/2014/main" id="{B23C4FAB-A7AB-4E6D-B5ED-0B0DF610851B}"/>
              </a:ext>
            </a:extLst>
          </p:cNvPr>
          <p:cNvSpPr>
            <a:spLocks noGrp="1"/>
          </p:cNvSpPr>
          <p:nvPr>
            <p:ph sz="quarter" idx="19"/>
          </p:nvPr>
        </p:nvSpPr>
        <p:spPr>
          <a:xfrm>
            <a:off x="457200" y="6386513"/>
            <a:ext cx="8229600" cy="471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1436023-CACB-4C2B-A51A-8EF87B2F5208}"/>
              </a:ext>
            </a:extLst>
          </p:cNvPr>
          <p:cNvSpPr>
            <a:spLocks noGrp="1"/>
          </p:cNvSpPr>
          <p:nvPr>
            <p:ph sz="quarter" idx="20"/>
          </p:nvPr>
        </p:nvSpPr>
        <p:spPr>
          <a:xfrm>
            <a:off x="457200" y="7037388"/>
            <a:ext cx="82296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473BEC7-659D-41CA-98BA-DC8EE7B83CCD}"/>
              </a:ext>
            </a:extLst>
          </p:cNvPr>
          <p:cNvSpPr>
            <a:spLocks noGrp="1"/>
          </p:cNvSpPr>
          <p:nvPr>
            <p:ph sz="quarter" idx="21"/>
          </p:nvPr>
        </p:nvSpPr>
        <p:spPr>
          <a:xfrm>
            <a:off x="457200" y="7896225"/>
            <a:ext cx="8382000" cy="67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57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2800">
                <a:solidFill>
                  <a:srgbClr val="007FA3"/>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95330" y="5181600"/>
            <a:ext cx="8229600" cy="916856"/>
          </a:xfrm>
        </p:spPr>
        <p:txBody>
          <a:bodyPr anchor="b"/>
          <a:lstStyle>
            <a:lvl1pPr marL="0" indent="0">
              <a:spcBef>
                <a:spcPts val="0"/>
              </a:spcBef>
              <a:buNone/>
              <a:defRPr sz="1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lvl1pPr>
              <a:defRPr b="1"/>
            </a:lvl1p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11/5/2021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76999"/>
          </a:xfrm>
          <a:prstGeom prst="rect">
            <a:avLst/>
          </a:prstGeom>
          <a:noFill/>
        </p:spPr>
        <p:txBody>
          <a:bodyPr wrap="square" rtlCol="0">
            <a:spAutoFit/>
          </a:bodyPr>
          <a:lstStyle/>
          <a:p>
            <a:pPr algn="r">
              <a:buClrTx/>
              <a:defRPr/>
            </a:pPr>
            <a:r>
              <a:rPr lang="en-US" altLang="en-US" sz="1200" dirty="0">
                <a:latin typeface="Verdana" panose="020B0604030504040204" pitchFamily="34" charset="0"/>
                <a:ea typeface="Verdana" panose="020B0604030504040204" pitchFamily="34" charset="0"/>
                <a:cs typeface="Verdana" panose="020B0604030504040204" pitchFamily="34" charset="0"/>
              </a:rPr>
              <a:t>Copyright © 2022, 2018, 2015, 2012 Pearson Education, Inc. All Rights Reserved</a:t>
            </a:r>
          </a:p>
        </p:txBody>
      </p:sp>
    </p:spTree>
    <p:extLst>
      <p:ext uri="{BB962C8B-B14F-4D97-AF65-F5344CB8AC3E}">
        <p14:creationId xmlns:p14="http://schemas.microsoft.com/office/powerpoint/2010/main" val="178373071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jp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9"/>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4" r:id="rId4"/>
    <p:sldLayoutId id="2147483683" r:id="rId5"/>
    <p:sldLayoutId id="2147483676" r:id="rId6"/>
    <p:sldLayoutId id="2147483677" r:id="rId7"/>
    <p:sldLayoutId id="2147483678" r:id="rId8"/>
    <p:sldLayoutId id="2147483679" r:id="rId9"/>
    <p:sldLayoutId id="2147483680" r:id="rId10"/>
    <p:sldLayoutId id="2147483681" r:id="rId11"/>
    <p:sldLayoutId id="2147483671" r:id="rId12"/>
    <p:sldLayoutId id="2147483673" r:id="rId13"/>
    <p:sldLayoutId id="2147483670" r:id="rId14"/>
    <p:sldLayoutId id="2147483669" r:id="rId15"/>
    <p:sldLayoutId id="2147483655" r:id="rId16"/>
    <p:sldLayoutId id="2147483691"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4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16.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6.vml"/><Relationship Id="rId4" Type="http://schemas.openxmlformats.org/officeDocument/2006/relationships/image" Target="../media/image17.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18.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a:latin typeface="+mn-lt"/>
              </a:rPr>
              <a:t>Chapter 20</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030453"/>
          </a:xfrm>
        </p:spPr>
        <p:txBody>
          <a:bodyPr/>
          <a:lstStyle/>
          <a:p>
            <a:pPr algn="ctr"/>
            <a:r>
              <a:rPr lang="en-US" altLang="en-US" dirty="0">
                <a:latin typeface="Arial (Body)"/>
              </a:rPr>
              <a:t>Financial Globalization: Opportunity and Crisis</a:t>
            </a:r>
            <a:endParaRPr lang="en-US" dirty="0">
              <a:latin typeface="Arial (Body)"/>
              <a:ea typeface="Verdana" panose="020B0604030504040204" pitchFamily="34" charset="0"/>
              <a:cs typeface="Verdana" panose="020B060403050404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Learning Objectives </a:t>
            </a:r>
            <a:r>
              <a:rPr lang="en-US" sz="2000" b="0"/>
              <a:t>(1 of 2)</a:t>
            </a:r>
          </a:p>
        </p:txBody>
      </p:sp>
      <p:sp>
        <p:nvSpPr>
          <p:cNvPr id="4" name="Content Placeholder 3"/>
          <p:cNvSpPr>
            <a:spLocks noGrp="1"/>
          </p:cNvSpPr>
          <p:nvPr>
            <p:ph sz="quarter" idx="13"/>
          </p:nvPr>
        </p:nvSpPr>
        <p:spPr>
          <a:xfrm>
            <a:off x="457200" y="1556327"/>
            <a:ext cx="8229600" cy="4370944"/>
          </a:xfrm>
        </p:spPr>
        <p:txBody>
          <a:bodyPr/>
          <a:lstStyle/>
          <a:p>
            <a:pPr marL="0" indent="0">
              <a:buNone/>
              <a:tabLst>
                <a:tab pos="625475" algn="l"/>
              </a:tabLst>
            </a:pPr>
            <a:r>
              <a:rPr lang="en-US" b="1">
                <a:solidFill>
                  <a:srgbClr val="007FA3"/>
                </a:solidFill>
                <a:latin typeface="Arial (Body)"/>
                <a:ea typeface="Verdana" panose="020B0604030504040204" pitchFamily="34" charset="0"/>
                <a:cs typeface="Verdana" panose="020B0604030504040204" pitchFamily="34" charset="0"/>
              </a:rPr>
              <a:t>20.1</a:t>
            </a:r>
            <a:r>
              <a:rPr lang="en-US" b="1">
                <a:solidFill>
                  <a:schemeClr val="accent1"/>
                </a:solidFill>
                <a:latin typeface="Arial (Body)"/>
                <a:ea typeface="Verdana" panose="020B0604030504040204" pitchFamily="34" charset="0"/>
                <a:cs typeface="Verdana" panose="020B0604030504040204" pitchFamily="34" charset="0"/>
              </a:rPr>
              <a:t> </a:t>
            </a:r>
            <a:r>
              <a:rPr lang="en-US">
                <a:latin typeface="Arial (Body)"/>
              </a:rPr>
              <a:t>Understand the economic function of international portfolio diversification.</a:t>
            </a:r>
          </a:p>
          <a:p>
            <a:pPr marL="0" indent="0">
              <a:buNone/>
            </a:pPr>
            <a:r>
              <a:rPr lang="en-US" b="1">
                <a:solidFill>
                  <a:srgbClr val="007FA3"/>
                </a:solidFill>
                <a:latin typeface="Arial (Body)"/>
                <a:ea typeface="Verdana" panose="020B0604030504040204" pitchFamily="34" charset="0"/>
                <a:cs typeface="Verdana" panose="020B0604030504040204" pitchFamily="34" charset="0"/>
              </a:rPr>
              <a:t>20.2</a:t>
            </a:r>
            <a:r>
              <a:rPr lang="en-US">
                <a:latin typeface="Arial (Body)"/>
              </a:rPr>
              <a:t> Explain factors leading to the explosive recent growth of international financial markets.</a:t>
            </a:r>
          </a:p>
          <a:p>
            <a:pPr marL="0" indent="0">
              <a:buNone/>
            </a:pPr>
            <a:r>
              <a:rPr lang="en-US" b="1">
                <a:solidFill>
                  <a:srgbClr val="007FA3"/>
                </a:solidFill>
                <a:latin typeface="Arial (Body)"/>
                <a:ea typeface="Verdana" panose="020B0604030504040204" pitchFamily="34" charset="0"/>
                <a:cs typeface="Verdana" panose="020B0604030504040204" pitchFamily="34" charset="0"/>
              </a:rPr>
              <a:t>20.3</a:t>
            </a:r>
            <a:r>
              <a:rPr lang="en-US">
                <a:latin typeface="Arial (Body)"/>
              </a:rPr>
              <a:t> Analyze problems in the regulation and supervision of international banks and non</a:t>
            </a:r>
            <a:r>
              <a:rPr lang="en-US">
                <a:solidFill>
                  <a:srgbClr val="FF0000"/>
                </a:solidFill>
                <a:latin typeface="Arial (Body)"/>
              </a:rPr>
              <a:t>-</a:t>
            </a:r>
            <a:r>
              <a:rPr lang="en-US">
                <a:latin typeface="Arial (Body)"/>
              </a:rPr>
              <a:t>bank financial institutions.</a:t>
            </a:r>
          </a:p>
          <a:p>
            <a:pPr marL="0" indent="0">
              <a:buNone/>
            </a:pPr>
            <a:r>
              <a:rPr lang="en-US" b="1">
                <a:solidFill>
                  <a:srgbClr val="007FA3"/>
                </a:solidFill>
                <a:latin typeface="Arial (Body)"/>
                <a:ea typeface="Verdana" panose="020B0604030504040204" pitchFamily="34" charset="0"/>
                <a:cs typeface="Verdana" panose="020B0604030504040204" pitchFamily="34" charset="0"/>
              </a:rPr>
              <a:t>20.4</a:t>
            </a:r>
            <a:r>
              <a:rPr lang="en-US">
                <a:latin typeface="Arial (Body)"/>
              </a:rPr>
              <a:t> Describe some different methods that have been used to measure the degree of international financial integration.</a:t>
            </a:r>
          </a:p>
        </p:txBody>
      </p:sp>
    </p:spTree>
    <p:extLst>
      <p:ext uri="{BB962C8B-B14F-4D97-AF65-F5344CB8AC3E}">
        <p14:creationId xmlns:p14="http://schemas.microsoft.com/office/powerpoint/2010/main" val="4202600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Learning Objectives </a:t>
            </a:r>
            <a:r>
              <a:rPr lang="en-US" sz="2000" b="0"/>
              <a:t>(2 of 2)</a:t>
            </a:r>
          </a:p>
        </p:txBody>
      </p:sp>
      <p:sp>
        <p:nvSpPr>
          <p:cNvPr id="4" name="Content Placeholder 3"/>
          <p:cNvSpPr>
            <a:spLocks noGrp="1"/>
          </p:cNvSpPr>
          <p:nvPr>
            <p:ph sz="quarter" idx="13"/>
          </p:nvPr>
        </p:nvSpPr>
        <p:spPr>
          <a:xfrm>
            <a:off x="457200" y="1556327"/>
            <a:ext cx="8229600" cy="4370944"/>
          </a:xfrm>
        </p:spPr>
        <p:txBody>
          <a:bodyPr/>
          <a:lstStyle/>
          <a:p>
            <a:pPr marL="0" indent="0">
              <a:buNone/>
            </a:pPr>
            <a:r>
              <a:rPr lang="en-US" b="1">
                <a:solidFill>
                  <a:srgbClr val="007FA3"/>
                </a:solidFill>
                <a:latin typeface="Arial (Body)"/>
                <a:ea typeface="Verdana" panose="020B0604030504040204" pitchFamily="34" charset="0"/>
                <a:cs typeface="Verdana" panose="020B0604030504040204" pitchFamily="34" charset="0"/>
              </a:rPr>
              <a:t>20.5</a:t>
            </a:r>
            <a:r>
              <a:rPr lang="en-US">
                <a:latin typeface="Arial (Body)"/>
              </a:rPr>
              <a:t> Understand the factors leading to the worldwide financial crisis that started in 2007.</a:t>
            </a:r>
          </a:p>
          <a:p>
            <a:pPr marL="0" indent="0">
              <a:buNone/>
            </a:pPr>
            <a:r>
              <a:rPr lang="en-US" b="1">
                <a:solidFill>
                  <a:srgbClr val="007FA3"/>
                </a:solidFill>
                <a:latin typeface="Arial (Body)"/>
                <a:ea typeface="Verdana" panose="020B0604030504040204" pitchFamily="34" charset="0"/>
                <a:cs typeface="Verdana" panose="020B0604030504040204" pitchFamily="34" charset="0"/>
              </a:rPr>
              <a:t>20.6</a:t>
            </a:r>
            <a:r>
              <a:rPr lang="en-US">
                <a:latin typeface="Arial (Body)"/>
              </a:rPr>
              <a:t> Evaluate the performance of the international capital market in linking the economies of the industrial countries.</a:t>
            </a:r>
            <a:r>
              <a:rPr lang="en-US" sz="2400" b="1">
                <a:solidFill>
                  <a:srgbClr val="007FA3"/>
                </a:solidFill>
                <a:latin typeface="Arial (Body)"/>
                <a:ea typeface="Verdana" panose="020B0604030504040204" pitchFamily="34" charset="0"/>
                <a:cs typeface="Verdana" panose="020B0604030504040204" pitchFamily="34" charset="0"/>
              </a:rPr>
              <a:t> </a:t>
            </a:r>
            <a:endParaRPr lang="en-US">
              <a:latin typeface="Arial (Body)"/>
            </a:endParaRPr>
          </a:p>
        </p:txBody>
      </p:sp>
    </p:spTree>
    <p:extLst>
      <p:ext uri="{BB962C8B-B14F-4D97-AF65-F5344CB8AC3E}">
        <p14:creationId xmlns:p14="http://schemas.microsoft.com/office/powerpoint/2010/main" val="3757574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t>Preview</a:t>
            </a:r>
            <a:endParaRPr lang="en-IN" dirty="0"/>
          </a:p>
        </p:txBody>
      </p:sp>
      <p:sp>
        <p:nvSpPr>
          <p:cNvPr id="7" name="Content Placeholder 6"/>
          <p:cNvSpPr>
            <a:spLocks noGrp="1"/>
          </p:cNvSpPr>
          <p:nvPr>
            <p:ph sz="quarter" idx="13"/>
          </p:nvPr>
        </p:nvSpPr>
        <p:spPr>
          <a:xfrm>
            <a:off x="457200" y="1556327"/>
            <a:ext cx="8229600" cy="4522740"/>
          </a:xfrm>
        </p:spPr>
        <p:txBody>
          <a:bodyPr tIns="36000"/>
          <a:lstStyle/>
          <a:p>
            <a:pPr eaLnBrk="1" hangingPunct="1"/>
            <a:r>
              <a:rPr lang="en-US" altLang="en-US" sz="2400" dirty="0">
                <a:latin typeface="Arial (Body)"/>
              </a:rPr>
              <a:t>Gains from trade</a:t>
            </a:r>
          </a:p>
          <a:p>
            <a:pPr eaLnBrk="1" hangingPunct="1"/>
            <a:r>
              <a:rPr lang="en-US" altLang="en-US" sz="2400" dirty="0">
                <a:latin typeface="Arial (Body)"/>
              </a:rPr>
              <a:t>Portfolio diversification</a:t>
            </a:r>
          </a:p>
          <a:p>
            <a:pPr eaLnBrk="1" hangingPunct="1"/>
            <a:r>
              <a:rPr lang="en-US" altLang="en-US" sz="2400" dirty="0">
                <a:latin typeface="Arial (Body)"/>
              </a:rPr>
              <a:t>Players in the international capital markets</a:t>
            </a:r>
          </a:p>
          <a:p>
            <a:pPr eaLnBrk="1" hangingPunct="1"/>
            <a:r>
              <a:rPr lang="en-US" altLang="en-US" sz="2400" dirty="0">
                <a:latin typeface="Arial (Body)"/>
              </a:rPr>
              <a:t>Attainable policies with international capital markets</a:t>
            </a:r>
          </a:p>
          <a:p>
            <a:pPr eaLnBrk="1" hangingPunct="1"/>
            <a:r>
              <a:rPr lang="en-US" altLang="en-US" sz="2400" dirty="0">
                <a:latin typeface="Arial (Body)"/>
              </a:rPr>
              <a:t>Offshore banking and offshore currency trading</a:t>
            </a:r>
          </a:p>
          <a:p>
            <a:pPr eaLnBrk="1" hangingPunct="1"/>
            <a:r>
              <a:rPr lang="en-US" altLang="en-US" sz="2400" dirty="0">
                <a:latin typeface="Arial (Body)"/>
              </a:rPr>
              <a:t>Regulation of international banking</a:t>
            </a:r>
          </a:p>
          <a:p>
            <a:pPr eaLnBrk="1" hangingPunct="1"/>
            <a:r>
              <a:rPr lang="en-US" altLang="en-US" sz="2400" dirty="0">
                <a:latin typeface="Arial (Body)"/>
              </a:rPr>
              <a:t>Tests of how well international capital markets allow portfolio diversification, allow intertemporal trade, and transmit information</a:t>
            </a:r>
          </a:p>
        </p:txBody>
      </p:sp>
    </p:spTree>
    <p:extLst>
      <p:ext uri="{BB962C8B-B14F-4D97-AF65-F5344CB8AC3E}">
        <p14:creationId xmlns:p14="http://schemas.microsoft.com/office/powerpoint/2010/main" val="1348958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International Capital Markets</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7"/>
            <a:ext cx="8229600" cy="4746502"/>
          </a:xfrm>
        </p:spPr>
        <p:txBody>
          <a:bodyPr/>
          <a:lstStyle/>
          <a:p>
            <a:pPr eaLnBrk="1" hangingPunct="1"/>
            <a:r>
              <a:rPr lang="en-US" altLang="en-US" sz="2200" dirty="0">
                <a:latin typeface="Arial (Body)"/>
              </a:rPr>
              <a:t>International asset (capital) markets are a group of markets (in London, Tokyo, New York, Singapore, and other financial cities) that trade different types of financial and physical assets (capital), including</a:t>
            </a:r>
          </a:p>
          <a:p>
            <a:pPr lvl="1" eaLnBrk="1" hangingPunct="1"/>
            <a:r>
              <a:rPr lang="en-US" altLang="en-US" sz="2200" dirty="0">
                <a:latin typeface="Arial (Body)"/>
              </a:rPr>
              <a:t>stocks </a:t>
            </a:r>
          </a:p>
          <a:p>
            <a:pPr lvl="1" eaLnBrk="1" hangingPunct="1"/>
            <a:r>
              <a:rPr lang="en-US" altLang="en-US" sz="2200" dirty="0">
                <a:latin typeface="Arial (Body)"/>
              </a:rPr>
              <a:t>bonds (government and private sector) </a:t>
            </a:r>
          </a:p>
          <a:p>
            <a:pPr lvl="1" eaLnBrk="1" hangingPunct="1"/>
            <a:r>
              <a:rPr lang="en-US" altLang="en-US" sz="2200" dirty="0">
                <a:latin typeface="Arial (Body)"/>
              </a:rPr>
              <a:t>deposits denominated in different currencies</a:t>
            </a:r>
          </a:p>
          <a:p>
            <a:pPr lvl="1" eaLnBrk="1" hangingPunct="1"/>
            <a:r>
              <a:rPr lang="en-US" altLang="en-US" sz="2200" dirty="0">
                <a:latin typeface="Arial (Body)"/>
              </a:rPr>
              <a:t>commodities (such as petroleum, wheat, bauxite, gold)</a:t>
            </a:r>
          </a:p>
          <a:p>
            <a:pPr lvl="1" eaLnBrk="1" hangingPunct="1"/>
            <a:r>
              <a:rPr lang="en-US" altLang="en-US" sz="2200" dirty="0">
                <a:latin typeface="Arial (Body)"/>
              </a:rPr>
              <a:t>forward contracts, futures contracts, swaps, options contracts</a:t>
            </a:r>
          </a:p>
          <a:p>
            <a:pPr lvl="1" eaLnBrk="1" hangingPunct="1"/>
            <a:r>
              <a:rPr lang="en-US" altLang="en-US" sz="2200" dirty="0">
                <a:latin typeface="Arial (Body)"/>
              </a:rPr>
              <a:t>real estate and land</a:t>
            </a:r>
          </a:p>
          <a:p>
            <a:pPr lvl="1" eaLnBrk="1" hangingPunct="1"/>
            <a:r>
              <a:rPr lang="en-US" altLang="en-US" sz="2200" dirty="0">
                <a:latin typeface="Arial (Body)"/>
              </a:rPr>
              <a:t>factories and equipment </a:t>
            </a:r>
          </a:p>
        </p:txBody>
      </p:sp>
    </p:spTree>
    <p:extLst>
      <p:ext uri="{BB962C8B-B14F-4D97-AF65-F5344CB8AC3E}">
        <p14:creationId xmlns:p14="http://schemas.microsoft.com/office/powerpoint/2010/main" val="409293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Gains from Trade</a:t>
            </a:r>
            <a:r>
              <a:rPr lang="en-US" altLang="en-US" sz="2000" b="0" dirty="0"/>
              <a:t> (1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How have international capital markets increased the gains from trade?</a:t>
            </a:r>
          </a:p>
          <a:p>
            <a:pPr eaLnBrk="1" hangingPunct="1"/>
            <a:r>
              <a:rPr lang="en-US" altLang="en-US" dirty="0">
                <a:latin typeface="Arial (Body)"/>
              </a:rPr>
              <a:t>When a buyer and a seller engage in a voluntary transaction, both receive something that they want and both can be made better off.</a:t>
            </a:r>
          </a:p>
          <a:p>
            <a:pPr eaLnBrk="1" hangingPunct="1"/>
            <a:r>
              <a:rPr lang="en-US" altLang="en-US" dirty="0">
                <a:latin typeface="Arial (Body)"/>
              </a:rPr>
              <a:t>A buyer and seller can trade</a:t>
            </a:r>
          </a:p>
          <a:p>
            <a:pPr lvl="1" eaLnBrk="1" hangingPunct="1"/>
            <a:r>
              <a:rPr lang="en-US" altLang="en-US" dirty="0">
                <a:latin typeface="Arial (Body)"/>
              </a:rPr>
              <a:t>goods or services for other goods or services</a:t>
            </a:r>
          </a:p>
          <a:p>
            <a:pPr lvl="1" eaLnBrk="1" hangingPunct="1"/>
            <a:r>
              <a:rPr lang="en-US" altLang="en-US" dirty="0">
                <a:latin typeface="Arial (Body)"/>
              </a:rPr>
              <a:t>goods or services for assets</a:t>
            </a:r>
          </a:p>
          <a:p>
            <a:pPr lvl="1" eaLnBrk="1" hangingPunct="1"/>
            <a:r>
              <a:rPr lang="en-US" altLang="en-US" dirty="0">
                <a:latin typeface="Arial (Body)"/>
              </a:rPr>
              <a:t>assets for assets</a:t>
            </a:r>
          </a:p>
        </p:txBody>
      </p:sp>
    </p:spTree>
    <p:extLst>
      <p:ext uri="{BB962C8B-B14F-4D97-AF65-F5344CB8AC3E}">
        <p14:creationId xmlns:p14="http://schemas.microsoft.com/office/powerpoint/2010/main" val="414681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A diagram of the 3 types of international transaction shows boxes for home and foreign goods and services, and assets. Arrows indicate that countries can exchange goods and services for other goods and services, or for assets, and assets for other assets.">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cs typeface="Times New Roman" panose="02020603050405020304" pitchFamily="18" charset="0"/>
              </a:rPr>
              <a:t>Figure 20.1 The Three Types of International Transaction</a:t>
            </a:r>
            <a:endParaRPr lang="en-US" sz="3200" dirty="0"/>
          </a:p>
        </p:txBody>
      </p:sp>
      <p:pic>
        <p:nvPicPr>
          <p:cNvPr id="7" name="Content Placeholder 6" descr="An illustration depicts 3 types of international transactions. For long description in Notes pane, press F6.">
            <a:extLst>
              <a:ext uri="{FF2B5EF4-FFF2-40B4-BE49-F238E27FC236}">
                <a16:creationId xmlns:a16="http://schemas.microsoft.com/office/drawing/2014/main" id="{5627F819-B487-423C-81F6-CF6345EA0FBC}"/>
              </a:ext>
            </a:extLst>
          </p:cNvPr>
          <p:cNvPicPr>
            <a:picLocks noGrp="1" noChangeAspect="1"/>
          </p:cNvPicPr>
          <p:nvPr>
            <p:ph sz="quarter" idx="13"/>
          </p:nvPr>
        </p:nvPicPr>
        <p:blipFill>
          <a:blip r:embed="rId3"/>
          <a:stretch>
            <a:fillRect/>
          </a:stretch>
        </p:blipFill>
        <p:spPr>
          <a:xfrm>
            <a:off x="2313425" y="1516886"/>
            <a:ext cx="4517148" cy="3581514"/>
          </a:xfrm>
        </p:spPr>
      </p:pic>
      <p:sp>
        <p:nvSpPr>
          <p:cNvPr id="5" name="Content Placeholder 4" descr="A diagram of the 3 types of international transaction shows boxes for home and foreign goods and services, and assets. Arrows indicate that countries can exchange goods and services for other goods and services, or for assets, and assets for other assets.">
            <a:extLst>
              <a:ext uri="{FF2B5EF4-FFF2-40B4-BE49-F238E27FC236}">
                <a16:creationId xmlns:a16="http://schemas.microsoft.com/office/drawing/2014/main" id="{BF4848F5-B644-4229-98B0-787ABFB1E4DB}"/>
              </a:ext>
            </a:extLst>
          </p:cNvPr>
          <p:cNvSpPr>
            <a:spLocks noGrp="1"/>
          </p:cNvSpPr>
          <p:nvPr>
            <p:ph sz="quarter" idx="14"/>
          </p:nvPr>
        </p:nvSpPr>
        <p:spPr>
          <a:xfrm>
            <a:off x="457200" y="5390148"/>
            <a:ext cx="8229600" cy="880024"/>
          </a:xfrm>
        </p:spPr>
        <p:txBody>
          <a:bodyPr/>
          <a:lstStyle/>
          <a:p>
            <a:pPr marL="432" indent="0">
              <a:buNone/>
            </a:pPr>
            <a:r>
              <a:rPr lang="en-US" sz="1600" dirty="0">
                <a:latin typeface="Arial (Body)"/>
              </a:rPr>
              <a:t>Residents of different countries can trade goods and services for other goods and services, goods and services for assets (that is, for future goods and services), and assets for other assets. All three types of exchange lead to gains from trade.</a:t>
            </a:r>
            <a:endParaRPr lang="en-US" sz="1600" dirty="0"/>
          </a:p>
        </p:txBody>
      </p:sp>
    </p:spTree>
    <p:extLst>
      <p:ext uri="{BB962C8B-B14F-4D97-AF65-F5344CB8AC3E}">
        <p14:creationId xmlns:p14="http://schemas.microsoft.com/office/powerpoint/2010/main" val="2341816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Gains from Trade</a:t>
            </a:r>
            <a:r>
              <a:rPr lang="en-US" altLang="en-US" sz="2000" b="0" dirty="0"/>
              <a:t> (2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The theory of </a:t>
            </a:r>
            <a:r>
              <a:rPr lang="en-US" altLang="en-US" b="1" dirty="0">
                <a:latin typeface="Arial (Body)"/>
              </a:rPr>
              <a:t>comparative advantage </a:t>
            </a:r>
            <a:r>
              <a:rPr lang="en-US" altLang="en-US" dirty="0">
                <a:latin typeface="Arial (Body)"/>
              </a:rPr>
              <a:t>describes the gains from trade of goods and services for other goods and services: </a:t>
            </a:r>
          </a:p>
          <a:p>
            <a:pPr lvl="1" eaLnBrk="1" hangingPunct="1"/>
            <a:r>
              <a:rPr lang="en-US" altLang="en-US" dirty="0">
                <a:latin typeface="Arial (Body)"/>
              </a:rPr>
              <a:t>With a finite amount of resources and time, use those resources and time to produce what you are most productive at (compared to alternatives), then trade those products for goods and services that you want.</a:t>
            </a:r>
          </a:p>
          <a:p>
            <a:pPr lvl="1" eaLnBrk="1" hangingPunct="1"/>
            <a:r>
              <a:rPr lang="en-US" altLang="en-US" dirty="0">
                <a:latin typeface="Arial (Body)"/>
              </a:rPr>
              <a:t>Be a specialist in production, while enjoying many goods and services as a consumer through trade.</a:t>
            </a:r>
          </a:p>
        </p:txBody>
      </p:sp>
    </p:spTree>
    <p:extLst>
      <p:ext uri="{BB962C8B-B14F-4D97-AF65-F5344CB8AC3E}">
        <p14:creationId xmlns:p14="http://schemas.microsoft.com/office/powerpoint/2010/main" val="366608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Gains from Trade</a:t>
            </a:r>
            <a:r>
              <a:rPr lang="en-US" altLang="en-US" sz="2000" b="0" dirty="0"/>
              <a:t> (3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sz="2200" dirty="0">
                <a:latin typeface="Arial (Body)"/>
              </a:rPr>
              <a:t>The theory of </a:t>
            </a:r>
            <a:r>
              <a:rPr lang="en-US" altLang="en-US" sz="2200" b="1" dirty="0">
                <a:latin typeface="Arial (Body)"/>
              </a:rPr>
              <a:t>intertemporal trade </a:t>
            </a:r>
            <a:r>
              <a:rPr lang="en-US" altLang="en-US" sz="2200" dirty="0">
                <a:latin typeface="Arial (Body)"/>
              </a:rPr>
              <a:t>describes the gains from trade of goods and services for assets,  of goods and services today for claims to goods and services in the future (today’</a:t>
            </a:r>
            <a:r>
              <a:rPr lang="en-US" altLang="ja-JP" sz="2200" dirty="0">
                <a:latin typeface="Arial (Body)"/>
              </a:rPr>
              <a:t>s assets). </a:t>
            </a:r>
          </a:p>
          <a:p>
            <a:pPr lvl="1" eaLnBrk="1" hangingPunct="1"/>
            <a:r>
              <a:rPr lang="en-US" altLang="en-US" sz="2200" dirty="0">
                <a:latin typeface="Arial (Body)"/>
              </a:rPr>
              <a:t>Savers want to buy assets (claims to future goods and services) and borrowers want to use assets to consume or invest in more goods and services than they can buy with current income.</a:t>
            </a:r>
          </a:p>
          <a:p>
            <a:pPr lvl="1" eaLnBrk="1" hangingPunct="1"/>
            <a:r>
              <a:rPr lang="en-US" altLang="en-US" sz="2200" dirty="0">
                <a:latin typeface="Arial (Body)"/>
              </a:rPr>
              <a:t>Savers earn a rate of return on their assets, while borrowers are able to use goods and services when they want to use them: they both can be made better off.</a:t>
            </a:r>
          </a:p>
        </p:txBody>
      </p:sp>
    </p:spTree>
    <p:extLst>
      <p:ext uri="{BB962C8B-B14F-4D97-AF65-F5344CB8AC3E}">
        <p14:creationId xmlns:p14="http://schemas.microsoft.com/office/powerpoint/2010/main" val="3805984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Gains from Trade</a:t>
            </a:r>
            <a:r>
              <a:rPr lang="en-US" altLang="en-US" sz="2000" b="0" dirty="0"/>
              <a:t> (4 of 4)</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p:txBody>
          <a:bodyPr/>
          <a:lstStyle/>
          <a:p>
            <a:pPr eaLnBrk="1" hangingPunct="1"/>
            <a:r>
              <a:rPr lang="en-US" altLang="en-US" dirty="0">
                <a:latin typeface="Arial (Body)"/>
              </a:rPr>
              <a:t>The theory of </a:t>
            </a:r>
            <a:r>
              <a:rPr lang="en-US" altLang="en-US" b="1" dirty="0">
                <a:latin typeface="Arial (Body)"/>
              </a:rPr>
              <a:t>portfolio diversification </a:t>
            </a:r>
            <a:r>
              <a:rPr lang="en-US" altLang="en-US" dirty="0">
                <a:latin typeface="Arial (Body)"/>
              </a:rPr>
              <a:t>describes the gains from trade of assets for assets, of assets with one type of risk for assets with another type of risk.</a:t>
            </a:r>
          </a:p>
          <a:p>
            <a:pPr lvl="1" eaLnBrk="1" hangingPunct="1"/>
            <a:r>
              <a:rPr lang="en-US" altLang="en-US" dirty="0">
                <a:latin typeface="Arial (Body)"/>
              </a:rPr>
              <a:t>Investing in a diverse set, or portfolio, of assets is a way for investors to avoid or reduce risk. </a:t>
            </a:r>
          </a:p>
          <a:p>
            <a:pPr lvl="1" eaLnBrk="1" hangingPunct="1"/>
            <a:r>
              <a:rPr lang="en-US" altLang="en-US" dirty="0">
                <a:latin typeface="Arial (Body)"/>
              </a:rPr>
              <a:t>Most people most of the time want to avoid risk: they would rather have a sure gain of wealth than invest in risky assets when other factors are constant.</a:t>
            </a:r>
          </a:p>
          <a:p>
            <a:pPr lvl="2" eaLnBrk="1" hangingPunct="1"/>
            <a:r>
              <a:rPr lang="en-US" altLang="en-US" dirty="0">
                <a:latin typeface="Arial (Body)"/>
              </a:rPr>
              <a:t>People usually display </a:t>
            </a:r>
            <a:r>
              <a:rPr lang="en-US" altLang="en-US" b="1" dirty="0">
                <a:latin typeface="Arial (Body)"/>
              </a:rPr>
              <a:t>risk aversion</a:t>
            </a:r>
            <a:r>
              <a:rPr lang="en-US" altLang="en-US" dirty="0">
                <a:latin typeface="Arial (Body)"/>
              </a:rPr>
              <a:t>: they are usually averse to risk.</a:t>
            </a:r>
          </a:p>
        </p:txBody>
      </p:sp>
    </p:spTree>
    <p:extLst>
      <p:ext uri="{BB962C8B-B14F-4D97-AF65-F5344CB8AC3E}">
        <p14:creationId xmlns:p14="http://schemas.microsoft.com/office/powerpoint/2010/main" val="1142211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Portfolio Diversification </a:t>
            </a:r>
            <a:r>
              <a:rPr lang="en-US" altLang="en-US" sz="2000" b="0" dirty="0"/>
              <a:t>(1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7"/>
            <a:ext cx="8229600" cy="1986727"/>
          </a:xfrm>
        </p:spPr>
        <p:txBody>
          <a:bodyPr/>
          <a:lstStyle/>
          <a:p>
            <a:pPr eaLnBrk="1" hangingPunct="1">
              <a:lnSpc>
                <a:spcPct val="95000"/>
              </a:lnSpc>
            </a:pPr>
            <a:r>
              <a:rPr lang="en-US" altLang="en-US" sz="2200" dirty="0">
                <a:latin typeface="Arial (Body)"/>
              </a:rPr>
              <a:t>Suppose that two countries have an asset of farmland that yields a crop, depending on the weather.</a:t>
            </a:r>
          </a:p>
          <a:p>
            <a:pPr eaLnBrk="1" hangingPunct="1">
              <a:spcBef>
                <a:spcPct val="50000"/>
              </a:spcBef>
            </a:pPr>
            <a:r>
              <a:rPr lang="en-US" altLang="en-US" sz="2200" dirty="0">
                <a:latin typeface="Arial (Body)"/>
              </a:rPr>
              <a:t>The yield (return) of the asset is uncertain, but with bad weather the land can produce 20 tons of potatoes, while with good weather the land can produce 100 tons of potatoes.</a:t>
            </a:r>
          </a:p>
        </p:txBody>
      </p:sp>
      <p:sp>
        <p:nvSpPr>
          <p:cNvPr id="6" name="Content Placeholder 5">
            <a:extLst>
              <a:ext uri="{FF2B5EF4-FFF2-40B4-BE49-F238E27FC236}">
                <a16:creationId xmlns:a16="http://schemas.microsoft.com/office/drawing/2014/main" id="{F88A6269-4DAC-4231-8B04-281C655B22A5}"/>
              </a:ext>
            </a:extLst>
          </p:cNvPr>
          <p:cNvSpPr>
            <a:spLocks noGrp="1"/>
          </p:cNvSpPr>
          <p:nvPr>
            <p:ph sz="quarter" idx="14"/>
          </p:nvPr>
        </p:nvSpPr>
        <p:spPr>
          <a:xfrm>
            <a:off x="457200" y="3760425"/>
            <a:ext cx="4680857" cy="512178"/>
          </a:xfrm>
        </p:spPr>
        <p:txBody>
          <a:bodyPr/>
          <a:lstStyle/>
          <a:p>
            <a:pPr indent="-255600" eaLnBrk="1" hangingPunct="1"/>
            <a:r>
              <a:rPr lang="en-US" altLang="en-US" sz="2200" dirty="0">
                <a:latin typeface="+mn-lt"/>
              </a:rPr>
              <a:t>On average, the land will produce</a:t>
            </a:r>
            <a:endParaRPr lang="en-US" sz="2200" dirty="0">
              <a:latin typeface="+mn-lt"/>
            </a:endParaRPr>
          </a:p>
        </p:txBody>
      </p:sp>
      <p:graphicFrame>
        <p:nvGraphicFramePr>
          <p:cNvPr id="10" name="Object 9" descr="1 half times 20 + 1 half times 100 = 60 tons">
            <a:extLst>
              <a:ext uri="{FF2B5EF4-FFF2-40B4-BE49-F238E27FC236}">
                <a16:creationId xmlns:a16="http://schemas.microsoft.com/office/drawing/2014/main" id="{D6BC00CB-9991-402D-916E-E8B59C16E04C}"/>
              </a:ext>
            </a:extLst>
          </p:cNvPr>
          <p:cNvGraphicFramePr>
            <a:graphicFrameLocks noChangeAspect="1"/>
          </p:cNvGraphicFramePr>
          <p:nvPr>
            <p:extLst>
              <p:ext uri="{D42A27DB-BD31-4B8C-83A1-F6EECF244321}">
                <p14:modId xmlns:p14="http://schemas.microsoft.com/office/powerpoint/2010/main" val="1023120212"/>
              </p:ext>
            </p:extLst>
          </p:nvPr>
        </p:nvGraphicFramePr>
        <p:xfrm>
          <a:off x="5203382" y="3731716"/>
          <a:ext cx="2687076" cy="603379"/>
        </p:xfrm>
        <a:graphic>
          <a:graphicData uri="http://schemas.openxmlformats.org/presentationml/2006/ole">
            <mc:AlternateContent xmlns:mc="http://schemas.openxmlformats.org/markup-compatibility/2006">
              <mc:Choice xmlns:v="urn:schemas-microsoft-com:vml" Requires="v">
                <p:oleObj spid="_x0000_s62838" name="Equation" r:id="rId3" imgW="1752480" imgH="393480" progId="Equation.DSMT4">
                  <p:embed/>
                </p:oleObj>
              </mc:Choice>
              <mc:Fallback>
                <p:oleObj name="Equation" r:id="rId3" imgW="1752480" imgH="393480" progId="Equation.DSMT4">
                  <p:embed/>
                  <p:pic>
                    <p:nvPicPr>
                      <p:cNvPr id="0" name=""/>
                      <p:cNvPicPr/>
                      <p:nvPr/>
                    </p:nvPicPr>
                    <p:blipFill>
                      <a:blip r:embed="rId4"/>
                      <a:stretch>
                        <a:fillRect/>
                      </a:stretch>
                    </p:blipFill>
                    <p:spPr>
                      <a:xfrm>
                        <a:off x="5203382" y="3731716"/>
                        <a:ext cx="2687076" cy="603379"/>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745B8C6-0E30-490E-8BB6-FE9863DCCB8C}"/>
              </a:ext>
            </a:extLst>
          </p:cNvPr>
          <p:cNvSpPr>
            <a:spLocks noGrp="1"/>
          </p:cNvSpPr>
          <p:nvPr>
            <p:ph sz="quarter" idx="15"/>
          </p:nvPr>
        </p:nvSpPr>
        <p:spPr>
          <a:xfrm>
            <a:off x="457200" y="4498969"/>
            <a:ext cx="8229600" cy="419395"/>
          </a:xfrm>
        </p:spPr>
        <p:txBody>
          <a:bodyPr tIns="36000"/>
          <a:lstStyle/>
          <a:p>
            <a:pPr indent="-255600"/>
            <a:r>
              <a:rPr lang="en-US" altLang="en-US" sz="2200" dirty="0">
                <a:latin typeface="Arial (Body)"/>
              </a:rPr>
              <a:t>if bad weather and good weather are equally likely (both with a</a:t>
            </a:r>
            <a:endParaRPr lang="en-US" sz="2200" dirty="0"/>
          </a:p>
        </p:txBody>
      </p:sp>
      <p:sp>
        <p:nvSpPr>
          <p:cNvPr id="5" name="Content Placeholder 4"/>
          <p:cNvSpPr>
            <a:spLocks noGrp="1"/>
          </p:cNvSpPr>
          <p:nvPr>
            <p:ph sz="quarter" idx="16"/>
          </p:nvPr>
        </p:nvSpPr>
        <p:spPr>
          <a:xfrm>
            <a:off x="457199" y="4975646"/>
            <a:ext cx="2105891" cy="386064"/>
          </a:xfrm>
        </p:spPr>
        <p:txBody>
          <a:bodyPr tIns="0"/>
          <a:lstStyle/>
          <a:p>
            <a:pPr marL="255600" indent="0">
              <a:buNone/>
            </a:pPr>
            <a:r>
              <a:rPr lang="en-US" altLang="en-US" sz="2200" dirty="0">
                <a:latin typeface="Arial (Body)"/>
              </a:rPr>
              <a:t>probability of</a:t>
            </a:r>
          </a:p>
        </p:txBody>
      </p:sp>
      <p:graphicFrame>
        <p:nvGraphicFramePr>
          <p:cNvPr id="12" name="Object 11" descr="1 half right parenthesis"/>
          <p:cNvGraphicFramePr>
            <a:graphicFrameLocks noChangeAspect="1"/>
          </p:cNvGraphicFramePr>
          <p:nvPr>
            <p:extLst>
              <p:ext uri="{D42A27DB-BD31-4B8C-83A1-F6EECF244321}">
                <p14:modId xmlns:p14="http://schemas.microsoft.com/office/powerpoint/2010/main" val="3889583232"/>
              </p:ext>
            </p:extLst>
          </p:nvPr>
        </p:nvGraphicFramePr>
        <p:xfrm>
          <a:off x="2652973" y="4988035"/>
          <a:ext cx="593151" cy="327256"/>
        </p:xfrm>
        <a:graphic>
          <a:graphicData uri="http://schemas.openxmlformats.org/presentationml/2006/ole">
            <mc:AlternateContent xmlns:mc="http://schemas.openxmlformats.org/markup-compatibility/2006">
              <mc:Choice xmlns:v="urn:schemas-microsoft-com:vml" Requires="v">
                <p:oleObj spid="_x0000_s62839" name="Equation" r:id="rId5" imgW="368280" imgH="203040" progId="Equation.DSMT4">
                  <p:embed/>
                </p:oleObj>
              </mc:Choice>
              <mc:Fallback>
                <p:oleObj name="Equation" r:id="rId5" imgW="368280" imgH="203040" progId="Equation.DSMT4">
                  <p:embed/>
                  <p:pic>
                    <p:nvPicPr>
                      <p:cNvPr id="0" name=""/>
                      <p:cNvPicPr/>
                      <p:nvPr/>
                    </p:nvPicPr>
                    <p:blipFill>
                      <a:blip r:embed="rId6"/>
                      <a:stretch>
                        <a:fillRect/>
                      </a:stretch>
                    </p:blipFill>
                    <p:spPr>
                      <a:xfrm>
                        <a:off x="2652973" y="4988035"/>
                        <a:ext cx="593151" cy="327256"/>
                      </a:xfrm>
                      <a:prstGeom prst="rect">
                        <a:avLst/>
                      </a:prstGeom>
                    </p:spPr>
                  </p:pic>
                </p:oleObj>
              </mc:Fallback>
            </mc:AlternateContent>
          </a:graphicData>
        </a:graphic>
      </p:graphicFrame>
      <p:sp>
        <p:nvSpPr>
          <p:cNvPr id="8" name="Content Placeholder 7"/>
          <p:cNvSpPr>
            <a:spLocks noGrp="1"/>
          </p:cNvSpPr>
          <p:nvPr>
            <p:ph sz="quarter" idx="17"/>
          </p:nvPr>
        </p:nvSpPr>
        <p:spPr>
          <a:xfrm>
            <a:off x="457200" y="5442659"/>
            <a:ext cx="8091487" cy="413801"/>
          </a:xfrm>
        </p:spPr>
        <p:txBody>
          <a:bodyPr tIns="0"/>
          <a:lstStyle/>
          <a:p>
            <a:pPr lvl="1" indent="-284400"/>
            <a:r>
              <a:rPr lang="en-US" altLang="en-US" sz="2200" dirty="0">
                <a:latin typeface="Arial (Body)"/>
              </a:rPr>
              <a:t>The </a:t>
            </a:r>
            <a:r>
              <a:rPr lang="en-US" altLang="en-US" sz="2200" b="1" dirty="0">
                <a:latin typeface="Arial (Body)"/>
              </a:rPr>
              <a:t>expected value</a:t>
            </a:r>
            <a:r>
              <a:rPr lang="en-US" altLang="en-US" sz="2200" dirty="0">
                <a:latin typeface="Arial (Body)"/>
              </a:rPr>
              <a:t> of the yield is 60 tons.</a:t>
            </a:r>
            <a:endParaRPr lang="en-US" sz="2200" dirty="0"/>
          </a:p>
        </p:txBody>
      </p:sp>
    </p:spTree>
    <p:extLst>
      <p:ext uri="{BB962C8B-B14F-4D97-AF65-F5344CB8AC3E}">
        <p14:creationId xmlns:p14="http://schemas.microsoft.com/office/powerpoint/2010/main" val="3496114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Portfolio Diversification </a:t>
            </a:r>
            <a:r>
              <a:rPr lang="en-US" altLang="en-US" sz="2000" b="0" dirty="0"/>
              <a:t>(2 of 3)</a:t>
            </a:r>
            <a:endParaRPr lang="en-US" dirty="0"/>
          </a:p>
        </p:txBody>
      </p:sp>
      <p:sp>
        <p:nvSpPr>
          <p:cNvPr id="3" name="Content Placeholder 2">
            <a:extLst>
              <a:ext uri="{FF2B5EF4-FFF2-40B4-BE49-F238E27FC236}">
                <a16:creationId xmlns:a16="http://schemas.microsoft.com/office/drawing/2014/main" id="{F08A9FC3-BDC2-45F9-9B4B-EA3365D7FC12}"/>
              </a:ext>
            </a:extLst>
          </p:cNvPr>
          <p:cNvSpPr>
            <a:spLocks noGrp="1"/>
          </p:cNvSpPr>
          <p:nvPr>
            <p:ph sz="quarter" idx="13"/>
          </p:nvPr>
        </p:nvSpPr>
        <p:spPr>
          <a:xfrm>
            <a:off x="457200" y="1556328"/>
            <a:ext cx="8343900" cy="4221018"/>
          </a:xfrm>
        </p:spPr>
        <p:txBody>
          <a:bodyPr/>
          <a:lstStyle/>
          <a:p>
            <a:pPr eaLnBrk="1" hangingPunct="1"/>
            <a:r>
              <a:rPr lang="en-US" altLang="en-US" sz="2200" dirty="0">
                <a:latin typeface="Arial (Body)"/>
              </a:rPr>
              <a:t>Suppose that historical records show that when the domestic country has good weather (high yields), the foreign country has bad weather (low yields).</a:t>
            </a:r>
          </a:p>
          <a:p>
            <a:pPr lvl="1" eaLnBrk="1" hangingPunct="1"/>
            <a:r>
              <a:rPr lang="en-US" altLang="en-US" sz="2200" dirty="0">
                <a:latin typeface="Arial (Body)"/>
              </a:rPr>
              <a:t>and that we can assume that the future will be like the past.</a:t>
            </a:r>
          </a:p>
          <a:p>
            <a:pPr eaLnBrk="1" hangingPunct="1"/>
            <a:r>
              <a:rPr lang="en-US" altLang="en-US" sz="2200" dirty="0">
                <a:latin typeface="Arial (Body)"/>
              </a:rPr>
              <a:t>What could the two countries do to avoid suffering from a bad potato crop?</a:t>
            </a:r>
          </a:p>
          <a:p>
            <a:pPr eaLnBrk="1" hangingPunct="1"/>
            <a:r>
              <a:rPr lang="en-US" altLang="en-US" sz="2200" dirty="0">
                <a:latin typeface="Arial (Body)"/>
              </a:rPr>
              <a:t>Sell 50% of one’</a:t>
            </a:r>
            <a:r>
              <a:rPr lang="en-US" altLang="ja-JP" sz="2200" dirty="0">
                <a:latin typeface="Arial (Body)"/>
              </a:rPr>
              <a:t>s assets to the other party and buy 50% of the other party’s assets: </a:t>
            </a:r>
          </a:p>
          <a:p>
            <a:pPr lvl="1" eaLnBrk="1" hangingPunct="1"/>
            <a:r>
              <a:rPr lang="en-US" altLang="en-US" sz="2200" dirty="0">
                <a:latin typeface="Arial (Body)"/>
              </a:rPr>
              <a:t>diversify the portfolios of assets so that both countries always achieve the portfolio’s </a:t>
            </a:r>
            <a:r>
              <a:rPr lang="en-US" altLang="ja-JP" sz="2200" dirty="0">
                <a:latin typeface="Arial (Body)"/>
              </a:rPr>
              <a:t>expected (average) values.</a:t>
            </a:r>
            <a:endParaRPr lang="en-US" altLang="en-US" sz="2200" dirty="0">
              <a:latin typeface="Arial (Body)"/>
            </a:endParaRPr>
          </a:p>
        </p:txBody>
      </p:sp>
    </p:spTree>
    <p:extLst>
      <p:ext uri="{BB962C8B-B14F-4D97-AF65-F5344CB8AC3E}">
        <p14:creationId xmlns:p14="http://schemas.microsoft.com/office/powerpoint/2010/main" val="2866541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Portfolio Diversification </a:t>
            </a:r>
            <a:r>
              <a:rPr lang="en-US" altLang="en-US" sz="2000" b="0" dirty="0"/>
              <a:t>(3 of 3)</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7"/>
            <a:ext cx="8091487" cy="1710806"/>
          </a:xfrm>
        </p:spPr>
        <p:txBody>
          <a:bodyPr/>
          <a:lstStyle/>
          <a:p>
            <a:pPr eaLnBrk="1" hangingPunct="1"/>
            <a:r>
              <a:rPr lang="en-US" altLang="en-US" sz="2000" dirty="0">
                <a:latin typeface="Arial (Body)"/>
              </a:rPr>
              <a:t>With portfolio diversification, both countries could always enjoy a moderate potato yield and not experience the vicissitudes of feast and famine. </a:t>
            </a:r>
          </a:p>
          <a:p>
            <a:pPr lvl="1" eaLnBrk="1" hangingPunct="1"/>
            <a:r>
              <a:rPr lang="en-US" altLang="en-US" sz="2000" dirty="0">
                <a:latin typeface="Arial (Body)"/>
              </a:rPr>
              <a:t>If the domestic country’</a:t>
            </a:r>
            <a:r>
              <a:rPr lang="en-US" altLang="ja-JP" sz="2000" dirty="0">
                <a:latin typeface="Arial (Body)"/>
              </a:rPr>
              <a:t>s yield is 20 and the foreign country’s yield is 100, then both countries receive</a:t>
            </a:r>
            <a:endParaRPr lang="en-US" sz="2000" dirty="0"/>
          </a:p>
        </p:txBody>
      </p:sp>
      <p:graphicFrame>
        <p:nvGraphicFramePr>
          <p:cNvPr id="11" name="Object 10" descr="50% times 20 + 50% times 100 = 60.">
            <a:extLst>
              <a:ext uri="{FF2B5EF4-FFF2-40B4-BE49-F238E27FC236}">
                <a16:creationId xmlns:a16="http://schemas.microsoft.com/office/drawing/2014/main" id="{939CDBB6-39F1-428C-8239-E3FBD9AE1506}"/>
              </a:ext>
            </a:extLst>
          </p:cNvPr>
          <p:cNvGraphicFramePr>
            <a:graphicFrameLocks noChangeAspect="1"/>
          </p:cNvGraphicFramePr>
          <p:nvPr>
            <p:extLst>
              <p:ext uri="{D42A27DB-BD31-4B8C-83A1-F6EECF244321}">
                <p14:modId xmlns:p14="http://schemas.microsoft.com/office/powerpoint/2010/main" val="2231390406"/>
              </p:ext>
            </p:extLst>
          </p:nvPr>
        </p:nvGraphicFramePr>
        <p:xfrm>
          <a:off x="1289495" y="3349594"/>
          <a:ext cx="2965133" cy="286385"/>
        </p:xfrm>
        <a:graphic>
          <a:graphicData uri="http://schemas.openxmlformats.org/presentationml/2006/ole">
            <mc:AlternateContent xmlns:mc="http://schemas.openxmlformats.org/markup-compatibility/2006">
              <mc:Choice xmlns:v="urn:schemas-microsoft-com:vml" Requires="v">
                <p:oleObj spid="_x0000_s65116" name="Equation" r:id="rId3" imgW="1841400" imgH="177480" progId="Equation.DSMT4">
                  <p:embed/>
                </p:oleObj>
              </mc:Choice>
              <mc:Fallback>
                <p:oleObj name="Equation" r:id="rId3" imgW="1841400" imgH="177480" progId="Equation.DSMT4">
                  <p:embed/>
                  <p:pic>
                    <p:nvPicPr>
                      <p:cNvPr id="0" name=""/>
                      <p:cNvPicPr/>
                      <p:nvPr/>
                    </p:nvPicPr>
                    <p:blipFill>
                      <a:blip r:embed="rId4"/>
                      <a:stretch>
                        <a:fillRect/>
                      </a:stretch>
                    </p:blipFill>
                    <p:spPr>
                      <a:xfrm>
                        <a:off x="1289495" y="3349594"/>
                        <a:ext cx="2965133" cy="286385"/>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4F87762C-9ED1-47CE-B0D6-EBBF036951DD}"/>
              </a:ext>
            </a:extLst>
          </p:cNvPr>
          <p:cNvSpPr>
            <a:spLocks noGrp="1"/>
          </p:cNvSpPr>
          <p:nvPr>
            <p:ph sz="quarter" idx="16"/>
          </p:nvPr>
        </p:nvSpPr>
        <p:spPr>
          <a:xfrm>
            <a:off x="457200" y="3820599"/>
            <a:ext cx="8229600" cy="751401"/>
          </a:xfrm>
        </p:spPr>
        <p:txBody>
          <a:bodyPr/>
          <a:lstStyle/>
          <a:p>
            <a:pPr lvl="1" indent="-284400"/>
            <a:r>
              <a:rPr lang="en-US" altLang="en-US" sz="2000" dirty="0">
                <a:latin typeface="Arial (Body)"/>
              </a:rPr>
              <a:t>If the domestic country</a:t>
            </a:r>
            <a:r>
              <a:rPr lang="en-US" altLang="ja-JP" sz="2000" dirty="0">
                <a:latin typeface="Arial (Body)"/>
              </a:rPr>
              <a:t>’s yield is 100 and the foreign country’s yield is 20, then both countries receive</a:t>
            </a:r>
            <a:endParaRPr lang="en-US" sz="2000" dirty="0">
              <a:latin typeface="Arial (Body)"/>
            </a:endParaRPr>
          </a:p>
        </p:txBody>
      </p:sp>
      <p:graphicFrame>
        <p:nvGraphicFramePr>
          <p:cNvPr id="12" name="Object 11" descr="50% times 100 + 50% times 20 = 60.">
            <a:extLst>
              <a:ext uri="{FF2B5EF4-FFF2-40B4-BE49-F238E27FC236}">
                <a16:creationId xmlns:a16="http://schemas.microsoft.com/office/drawing/2014/main" id="{418515B5-30E0-49EB-A185-6B95326CEB7C}"/>
              </a:ext>
            </a:extLst>
          </p:cNvPr>
          <p:cNvGraphicFramePr>
            <a:graphicFrameLocks noChangeAspect="1"/>
          </p:cNvGraphicFramePr>
          <p:nvPr>
            <p:extLst>
              <p:ext uri="{D42A27DB-BD31-4B8C-83A1-F6EECF244321}">
                <p14:modId xmlns:p14="http://schemas.microsoft.com/office/powerpoint/2010/main" val="664209428"/>
              </p:ext>
            </p:extLst>
          </p:nvPr>
        </p:nvGraphicFramePr>
        <p:xfrm>
          <a:off x="1296456" y="4639157"/>
          <a:ext cx="2982955" cy="285932"/>
        </p:xfrm>
        <a:graphic>
          <a:graphicData uri="http://schemas.openxmlformats.org/presentationml/2006/ole">
            <mc:AlternateContent xmlns:mc="http://schemas.openxmlformats.org/markup-compatibility/2006">
              <mc:Choice xmlns:v="urn:schemas-microsoft-com:vml" Requires="v">
                <p:oleObj spid="_x0000_s65117" name="Equation" r:id="rId5" imgW="1841400" imgH="177480" progId="Equation.DSMT4">
                  <p:embed/>
                </p:oleObj>
              </mc:Choice>
              <mc:Fallback>
                <p:oleObj name="Equation" r:id="rId5" imgW="1841400" imgH="177480" progId="Equation.DSMT4">
                  <p:embed/>
                  <p:pic>
                    <p:nvPicPr>
                      <p:cNvPr id="0" name=""/>
                      <p:cNvPicPr/>
                      <p:nvPr/>
                    </p:nvPicPr>
                    <p:blipFill>
                      <a:blip r:embed="rId6"/>
                      <a:stretch>
                        <a:fillRect/>
                      </a:stretch>
                    </p:blipFill>
                    <p:spPr>
                      <a:xfrm>
                        <a:off x="1296456" y="4639157"/>
                        <a:ext cx="2982955" cy="28593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9F03483-5DA1-4D7D-9C96-0B71170D7F61}"/>
              </a:ext>
            </a:extLst>
          </p:cNvPr>
          <p:cNvSpPr>
            <a:spLocks noGrp="1"/>
          </p:cNvSpPr>
          <p:nvPr>
            <p:ph sz="quarter" idx="17"/>
          </p:nvPr>
        </p:nvSpPr>
        <p:spPr>
          <a:xfrm>
            <a:off x="457200" y="5081952"/>
            <a:ext cx="8091487" cy="776169"/>
          </a:xfrm>
        </p:spPr>
        <p:txBody>
          <a:bodyPr/>
          <a:lstStyle/>
          <a:p>
            <a:pPr lvl="1" indent="-284400"/>
            <a:r>
              <a:rPr lang="en-US" altLang="en-US" sz="2000" dirty="0">
                <a:latin typeface="Arial (Body)"/>
              </a:rPr>
              <a:t>If both countries are risk averse, then both countries could be made better off through portfolio diversification.</a:t>
            </a:r>
            <a:endParaRPr lang="en-US" sz="2000" dirty="0">
              <a:latin typeface="Arial (Body)"/>
            </a:endParaRPr>
          </a:p>
        </p:txBody>
      </p:sp>
    </p:spTree>
    <p:extLst>
      <p:ext uri="{BB962C8B-B14F-4D97-AF65-F5344CB8AC3E}">
        <p14:creationId xmlns:p14="http://schemas.microsoft.com/office/powerpoint/2010/main" val="3374601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Classification of Assets</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8"/>
            <a:ext cx="8229600" cy="419242"/>
          </a:xfrm>
        </p:spPr>
        <p:txBody>
          <a:bodyPr/>
          <a:lstStyle/>
          <a:p>
            <a:pPr marL="533400" indent="-533400" eaLnBrk="1" hangingPunct="1">
              <a:lnSpc>
                <a:spcPct val="90000"/>
              </a:lnSpc>
              <a:spcBef>
                <a:spcPct val="50000"/>
              </a:spcBef>
              <a:buFontTx/>
              <a:buNone/>
            </a:pPr>
            <a:r>
              <a:rPr lang="en-US" altLang="en-US" sz="2000" dirty="0">
                <a:latin typeface="Arial (Body)"/>
              </a:rPr>
              <a:t>Assets can be classified as either</a:t>
            </a:r>
          </a:p>
        </p:txBody>
      </p:sp>
      <p:sp>
        <p:nvSpPr>
          <p:cNvPr id="7" name="Content Placeholder 6">
            <a:extLst>
              <a:ext uri="{FF2B5EF4-FFF2-40B4-BE49-F238E27FC236}">
                <a16:creationId xmlns:a16="http://schemas.microsoft.com/office/drawing/2014/main" id="{4F87762C-9ED1-47CE-B0D6-EBBF036951DD}"/>
              </a:ext>
            </a:extLst>
          </p:cNvPr>
          <p:cNvSpPr>
            <a:spLocks noGrp="1"/>
          </p:cNvSpPr>
          <p:nvPr>
            <p:ph sz="quarter" idx="16"/>
          </p:nvPr>
        </p:nvSpPr>
        <p:spPr>
          <a:xfrm>
            <a:off x="457200" y="2039452"/>
            <a:ext cx="8229600" cy="426658"/>
          </a:xfrm>
        </p:spPr>
        <p:txBody>
          <a:bodyPr/>
          <a:lstStyle/>
          <a:p>
            <a:pPr marL="432000" indent="-432000" eaLnBrk="1" hangingPunct="1">
              <a:spcBef>
                <a:spcPts val="600"/>
              </a:spcBef>
              <a:buFont typeface="Times" pitchFamily="-1" charset="0"/>
              <a:buAutoNum type="arabicPeriod"/>
            </a:pPr>
            <a:r>
              <a:rPr lang="en-US" altLang="en-US" sz="2000" dirty="0">
                <a:latin typeface="Arial (Body)"/>
              </a:rPr>
              <a:t>Debt instruments</a:t>
            </a:r>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7"/>
          </p:nvPr>
        </p:nvSpPr>
        <p:spPr>
          <a:xfrm>
            <a:off x="457200" y="2523937"/>
            <a:ext cx="8229600" cy="1022827"/>
          </a:xfrm>
        </p:spPr>
        <p:txBody>
          <a:bodyPr/>
          <a:lstStyle/>
          <a:p>
            <a:pPr marL="740664" lvl="1" indent="-283464" eaLnBrk="1" hangingPunct="1">
              <a:lnSpc>
                <a:spcPct val="90000"/>
              </a:lnSpc>
            </a:pPr>
            <a:r>
              <a:rPr lang="en-US" altLang="en-US" sz="2000" dirty="0">
                <a:latin typeface="Arial (Body)"/>
              </a:rPr>
              <a:t>Examples include bonds and deposits.</a:t>
            </a:r>
          </a:p>
          <a:p>
            <a:pPr marL="740664" lvl="1" indent="-283464" eaLnBrk="1" hangingPunct="1">
              <a:lnSpc>
                <a:spcPct val="90000"/>
              </a:lnSpc>
            </a:pPr>
            <a:r>
              <a:rPr lang="en-US" altLang="en-US" sz="2000" dirty="0">
                <a:latin typeface="Arial (Body)"/>
              </a:rPr>
              <a:t>They specify that the issuer must repay a </a:t>
            </a:r>
            <a:r>
              <a:rPr lang="en-US" altLang="en-US" sz="2000" b="1" dirty="0">
                <a:latin typeface="Arial (Body)"/>
              </a:rPr>
              <a:t>fixed</a:t>
            </a:r>
            <a:r>
              <a:rPr lang="en-US" altLang="en-US" sz="2000" dirty="0">
                <a:latin typeface="Arial (Body)"/>
              </a:rPr>
              <a:t> amount regardless of economic conditions.</a:t>
            </a:r>
          </a:p>
        </p:txBody>
      </p:sp>
      <p:sp>
        <p:nvSpPr>
          <p:cNvPr id="6" name="Content Placeholder 5">
            <a:extLst>
              <a:ext uri="{FF2B5EF4-FFF2-40B4-BE49-F238E27FC236}">
                <a16:creationId xmlns:a16="http://schemas.microsoft.com/office/drawing/2014/main" id="{66488350-1B05-4439-B1F5-EBC54EE70C77}"/>
              </a:ext>
            </a:extLst>
          </p:cNvPr>
          <p:cNvSpPr>
            <a:spLocks noGrp="1"/>
          </p:cNvSpPr>
          <p:nvPr>
            <p:ph sz="quarter" idx="18"/>
          </p:nvPr>
        </p:nvSpPr>
        <p:spPr>
          <a:xfrm>
            <a:off x="457200" y="3624250"/>
            <a:ext cx="8229600" cy="947750"/>
          </a:xfrm>
        </p:spPr>
        <p:txBody>
          <a:bodyPr/>
          <a:lstStyle/>
          <a:p>
            <a:pPr marL="741600" lvl="1" indent="0">
              <a:buNone/>
            </a:pPr>
            <a:r>
              <a:rPr lang="en-US" altLang="en-US" sz="2000" dirty="0">
                <a:latin typeface="Arial (Body)"/>
              </a:rPr>
              <a:t>or</a:t>
            </a:r>
          </a:p>
          <a:p>
            <a:pPr marL="432000" indent="-432000">
              <a:buFont typeface="+mj-lt"/>
              <a:buAutoNum type="arabicPeriod" startAt="2"/>
            </a:pPr>
            <a:r>
              <a:rPr lang="en-US" altLang="en-US" sz="2000" dirty="0">
                <a:latin typeface="Arial (Body)"/>
              </a:rPr>
              <a:t>Equity instruments</a:t>
            </a:r>
            <a:endParaRPr lang="en-US" sz="2000" dirty="0"/>
          </a:p>
        </p:txBody>
      </p:sp>
      <p:sp>
        <p:nvSpPr>
          <p:cNvPr id="9" name="Content Placeholder 8">
            <a:extLst>
              <a:ext uri="{FF2B5EF4-FFF2-40B4-BE49-F238E27FC236}">
                <a16:creationId xmlns:a16="http://schemas.microsoft.com/office/drawing/2014/main" id="{2A7BC6C9-A789-4A87-B148-B68721194E53}"/>
              </a:ext>
            </a:extLst>
          </p:cNvPr>
          <p:cNvSpPr>
            <a:spLocks noGrp="1"/>
          </p:cNvSpPr>
          <p:nvPr>
            <p:ph sz="quarter" idx="19"/>
          </p:nvPr>
        </p:nvSpPr>
        <p:spPr>
          <a:xfrm>
            <a:off x="457200" y="4625292"/>
            <a:ext cx="8229600" cy="1155016"/>
          </a:xfrm>
        </p:spPr>
        <p:txBody>
          <a:bodyPr/>
          <a:lstStyle/>
          <a:p>
            <a:pPr marL="740664" lvl="1" indent="-283464" eaLnBrk="1" hangingPunct="1"/>
            <a:r>
              <a:rPr lang="en-US" altLang="en-US" sz="2000" dirty="0">
                <a:latin typeface="+mn-lt"/>
              </a:rPr>
              <a:t>Examples include stocks or a title to real estate.</a:t>
            </a:r>
          </a:p>
          <a:p>
            <a:pPr marL="740664" lvl="1" indent="-283464" eaLnBrk="1" hangingPunct="1"/>
            <a:r>
              <a:rPr lang="en-US" altLang="en-US" sz="2000" dirty="0">
                <a:latin typeface="+mn-lt"/>
              </a:rPr>
              <a:t>They specify ownership (equity = ownership) of </a:t>
            </a:r>
            <a:r>
              <a:rPr lang="en-US" altLang="en-US" sz="2000" b="1" dirty="0">
                <a:latin typeface="+mn-lt"/>
              </a:rPr>
              <a:t>variable</a:t>
            </a:r>
            <a:r>
              <a:rPr lang="en-US" altLang="en-US" sz="2000" dirty="0">
                <a:latin typeface="+mn-lt"/>
              </a:rPr>
              <a:t> profits or returns, which vary according to economic conditions.</a:t>
            </a:r>
            <a:endParaRPr lang="en-US" sz="2000" dirty="0">
              <a:latin typeface="+mn-lt"/>
            </a:endParaRPr>
          </a:p>
        </p:txBody>
      </p:sp>
    </p:spTree>
    <p:extLst>
      <p:ext uri="{BB962C8B-B14F-4D97-AF65-F5344CB8AC3E}">
        <p14:creationId xmlns:p14="http://schemas.microsoft.com/office/powerpoint/2010/main" val="63378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International Capital Markets </a:t>
            </a:r>
            <a:r>
              <a:rPr lang="en-US" altLang="en-US" sz="2000" b="0" dirty="0"/>
              <a:t>(1 of 3)</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8"/>
            <a:ext cx="8229600" cy="512178"/>
          </a:xfrm>
        </p:spPr>
        <p:txBody>
          <a:bodyPr/>
          <a:lstStyle/>
          <a:p>
            <a:pPr marL="533400" indent="-533400" eaLnBrk="1" hangingPunct="1">
              <a:buFontTx/>
              <a:buNone/>
            </a:pPr>
            <a:r>
              <a:rPr lang="en-US" altLang="en-US" dirty="0">
                <a:latin typeface="Arial (Body)"/>
              </a:rPr>
              <a:t>The participants:</a:t>
            </a:r>
          </a:p>
        </p:txBody>
      </p:sp>
      <p:sp>
        <p:nvSpPr>
          <p:cNvPr id="21" name="Content Placeholder 20">
            <a:extLst>
              <a:ext uri="{FF2B5EF4-FFF2-40B4-BE49-F238E27FC236}">
                <a16:creationId xmlns:a16="http://schemas.microsoft.com/office/drawing/2014/main" id="{B74F227F-16F7-4BCB-BEFE-F7679AA11633}"/>
              </a:ext>
            </a:extLst>
          </p:cNvPr>
          <p:cNvSpPr>
            <a:spLocks noGrp="1"/>
          </p:cNvSpPr>
          <p:nvPr>
            <p:ph sz="quarter" idx="16"/>
          </p:nvPr>
        </p:nvSpPr>
        <p:spPr>
          <a:xfrm>
            <a:off x="457200" y="2132074"/>
            <a:ext cx="8229600" cy="472581"/>
          </a:xfrm>
        </p:spPr>
        <p:txBody>
          <a:bodyPr/>
          <a:lstStyle/>
          <a:p>
            <a:pPr marL="432000" indent="-432000" eaLnBrk="1" hangingPunct="1">
              <a:buFont typeface="Times" pitchFamily="-1" charset="0"/>
              <a:buAutoNum type="arabicPeriod"/>
            </a:pPr>
            <a:r>
              <a:rPr lang="en-US" altLang="en-US" sz="2400" dirty="0">
                <a:latin typeface="Arial (Body)"/>
              </a:rPr>
              <a:t>Commercial banks and other depository institutions:</a:t>
            </a:r>
            <a:endParaRPr lang="en-US" sz="2400" dirty="0"/>
          </a:p>
        </p:txBody>
      </p:sp>
      <p:sp>
        <p:nvSpPr>
          <p:cNvPr id="23" name="Content Placeholder 22">
            <a:extLst>
              <a:ext uri="{FF2B5EF4-FFF2-40B4-BE49-F238E27FC236}">
                <a16:creationId xmlns:a16="http://schemas.microsoft.com/office/drawing/2014/main" id="{9A8E7AFA-D7CC-44A6-8897-BBC7EB4A249C}"/>
              </a:ext>
            </a:extLst>
          </p:cNvPr>
          <p:cNvSpPr>
            <a:spLocks noGrp="1"/>
          </p:cNvSpPr>
          <p:nvPr>
            <p:ph sz="quarter" idx="17"/>
          </p:nvPr>
        </p:nvSpPr>
        <p:spPr>
          <a:xfrm>
            <a:off x="457200" y="2668205"/>
            <a:ext cx="8229600" cy="2933976"/>
          </a:xfrm>
        </p:spPr>
        <p:txBody>
          <a:bodyPr/>
          <a:lstStyle/>
          <a:p>
            <a:pPr marL="740664" lvl="1" indent="-283464" eaLnBrk="1" hangingPunct="1"/>
            <a:r>
              <a:rPr lang="en-US" altLang="en-US" sz="2400" dirty="0">
                <a:latin typeface="Arial (Body)"/>
              </a:rPr>
              <a:t>Accept deposits. </a:t>
            </a:r>
          </a:p>
          <a:p>
            <a:pPr marL="740664" lvl="1" indent="-283464" eaLnBrk="1" hangingPunct="1"/>
            <a:r>
              <a:rPr lang="en-US" altLang="en-US" sz="2400" dirty="0">
                <a:latin typeface="Arial (Body)"/>
              </a:rPr>
              <a:t>Lend to commercial businesses, other banks, governments, and/or individuals.</a:t>
            </a:r>
          </a:p>
          <a:p>
            <a:pPr marL="740664" lvl="1" indent="-283464" eaLnBrk="1" hangingPunct="1"/>
            <a:r>
              <a:rPr lang="en-US" altLang="en-US" sz="2400" dirty="0">
                <a:latin typeface="Arial (Body)"/>
              </a:rPr>
              <a:t>Buy and sell bonds and other assets. </a:t>
            </a:r>
          </a:p>
          <a:p>
            <a:pPr marL="740664" lvl="1" indent="-283464" eaLnBrk="1" hangingPunct="1"/>
            <a:r>
              <a:rPr lang="en-US" altLang="en-US" sz="2400" dirty="0">
                <a:latin typeface="Arial (Body)"/>
              </a:rPr>
              <a:t>Some commercial banks </a:t>
            </a:r>
            <a:r>
              <a:rPr lang="en-US" altLang="en-US" sz="2400" b="1" dirty="0">
                <a:latin typeface="Arial (Body)"/>
              </a:rPr>
              <a:t>underwrite</a:t>
            </a:r>
            <a:r>
              <a:rPr lang="en-US" altLang="en-US" sz="2400" dirty="0">
                <a:latin typeface="Arial (Body)"/>
              </a:rPr>
              <a:t> new stocks and bonds by agreeing to find buyers for those assets at a specified price.</a:t>
            </a:r>
          </a:p>
        </p:txBody>
      </p:sp>
    </p:spTree>
    <p:extLst>
      <p:ext uri="{BB962C8B-B14F-4D97-AF65-F5344CB8AC3E}">
        <p14:creationId xmlns:p14="http://schemas.microsoft.com/office/powerpoint/2010/main" val="1564556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International Capital Markets </a:t>
            </a:r>
            <a:r>
              <a:rPr lang="en-US" altLang="en-US" sz="2000" b="0" dirty="0"/>
              <a:t>(2 of 3)</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7"/>
            <a:ext cx="8229600" cy="876629"/>
          </a:xfrm>
        </p:spPr>
        <p:txBody>
          <a:bodyPr/>
          <a:lstStyle/>
          <a:p>
            <a:pPr marL="432000" indent="-432000" eaLnBrk="1" hangingPunct="1">
              <a:buFont typeface="Times" pitchFamily="-1" charset="0"/>
              <a:buAutoNum type="arabicPeriod" startAt="2"/>
            </a:pPr>
            <a:r>
              <a:rPr lang="en-US" altLang="en-US" dirty="0">
                <a:latin typeface="Arial (Body)"/>
              </a:rPr>
              <a:t>Non-bank financial institutions such as securities firms, pension funds, insurance companies, mutual funds:</a:t>
            </a:r>
          </a:p>
        </p:txBody>
      </p:sp>
      <p:sp>
        <p:nvSpPr>
          <p:cNvPr id="21" name="Content Placeholder 20">
            <a:extLst>
              <a:ext uri="{FF2B5EF4-FFF2-40B4-BE49-F238E27FC236}">
                <a16:creationId xmlns:a16="http://schemas.microsoft.com/office/drawing/2014/main" id="{B74F227F-16F7-4BCB-BEFE-F7679AA11633}"/>
              </a:ext>
            </a:extLst>
          </p:cNvPr>
          <p:cNvSpPr>
            <a:spLocks noGrp="1"/>
          </p:cNvSpPr>
          <p:nvPr>
            <p:ph sz="quarter" idx="16"/>
          </p:nvPr>
        </p:nvSpPr>
        <p:spPr>
          <a:xfrm>
            <a:off x="457200" y="2505428"/>
            <a:ext cx="8229600" cy="3658560"/>
          </a:xfrm>
        </p:spPr>
        <p:txBody>
          <a:bodyPr/>
          <a:lstStyle/>
          <a:p>
            <a:pPr marL="740664" lvl="1" indent="-283464" eaLnBrk="1" hangingPunct="1"/>
            <a:r>
              <a:rPr lang="en-US" altLang="en-US" sz="2400" dirty="0">
                <a:latin typeface="Arial (Body)"/>
              </a:rPr>
              <a:t>Securities firms specialize in underwriting stocks and bonds (securities) and in making various investments.</a:t>
            </a:r>
          </a:p>
          <a:p>
            <a:pPr marL="740664" lvl="1" indent="-283464" eaLnBrk="1" hangingPunct="1"/>
            <a:r>
              <a:rPr lang="en-US" altLang="en-US" sz="2400" dirty="0">
                <a:latin typeface="Arial (Body)"/>
              </a:rPr>
              <a:t>Pension funds accept funds from workers and invest them until the workers retire.</a:t>
            </a:r>
          </a:p>
          <a:p>
            <a:pPr marL="740664" lvl="1" indent="-283464" eaLnBrk="1" hangingPunct="1"/>
            <a:r>
              <a:rPr lang="en-US" altLang="en-US" sz="2400" dirty="0">
                <a:latin typeface="Arial (Body)"/>
              </a:rPr>
              <a:t>Insurance companies accept premiums from policy holders and invest them until an accident or another unexpected event occurs.</a:t>
            </a:r>
          </a:p>
          <a:p>
            <a:pPr marL="740664" lvl="1" indent="-283464" eaLnBrk="1" hangingPunct="1"/>
            <a:r>
              <a:rPr lang="en-US" altLang="en-US" sz="2400" dirty="0">
                <a:latin typeface="Arial (Body)"/>
              </a:rPr>
              <a:t>Mutual funds accept funds from investors and invest them in a diversified portfolio of stocks. </a:t>
            </a:r>
          </a:p>
        </p:txBody>
      </p:sp>
    </p:spTree>
    <p:extLst>
      <p:ext uri="{BB962C8B-B14F-4D97-AF65-F5344CB8AC3E}">
        <p14:creationId xmlns:p14="http://schemas.microsoft.com/office/powerpoint/2010/main" val="1400889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International Capital Markets </a:t>
            </a:r>
            <a:r>
              <a:rPr lang="en-US" altLang="en-US" sz="2000" b="0" dirty="0"/>
              <a:t>(3 of 3)</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6"/>
            <a:ext cx="8229600" cy="468000"/>
          </a:xfrm>
        </p:spPr>
        <p:txBody>
          <a:bodyPr/>
          <a:lstStyle/>
          <a:p>
            <a:pPr marL="432000" indent="-432000" eaLnBrk="1" hangingPunct="1">
              <a:buFont typeface="Times" pitchFamily="-1" charset="0"/>
              <a:buAutoNum type="arabicPeriod" startAt="3"/>
            </a:pPr>
            <a:r>
              <a:rPr lang="en-US" altLang="en-US" sz="2200" dirty="0">
                <a:latin typeface="Arial (Body)"/>
              </a:rPr>
              <a:t>Private firms: </a:t>
            </a:r>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7"/>
          </p:nvPr>
        </p:nvSpPr>
        <p:spPr>
          <a:xfrm>
            <a:off x="457200" y="2089970"/>
            <a:ext cx="8229600" cy="1626605"/>
          </a:xfrm>
        </p:spPr>
        <p:txBody>
          <a:bodyPr/>
          <a:lstStyle/>
          <a:p>
            <a:pPr marL="740664" lvl="1" indent="-283464" eaLnBrk="1" hangingPunct="1"/>
            <a:r>
              <a:rPr lang="en-US" altLang="en-US" sz="2200" dirty="0">
                <a:latin typeface="Arial (Body)"/>
              </a:rPr>
              <a:t>Corporations may issue stock, may issue bonds, or may borrow to acquire funds for investment purposes.</a:t>
            </a:r>
          </a:p>
          <a:p>
            <a:pPr marL="740664" lvl="1" indent="-283464" eaLnBrk="1" hangingPunct="1"/>
            <a:r>
              <a:rPr lang="en-US" altLang="en-US" sz="2200" dirty="0">
                <a:latin typeface="Arial (Body)"/>
              </a:rPr>
              <a:t>Other private firms may issue bonds or may borrow from commercial banks.</a:t>
            </a:r>
          </a:p>
        </p:txBody>
      </p:sp>
      <p:sp>
        <p:nvSpPr>
          <p:cNvPr id="6" name="Content Placeholder 5">
            <a:extLst>
              <a:ext uri="{FF2B5EF4-FFF2-40B4-BE49-F238E27FC236}">
                <a16:creationId xmlns:a16="http://schemas.microsoft.com/office/drawing/2014/main" id="{66488350-1B05-4439-B1F5-EBC54EE70C77}"/>
              </a:ext>
            </a:extLst>
          </p:cNvPr>
          <p:cNvSpPr>
            <a:spLocks noGrp="1"/>
          </p:cNvSpPr>
          <p:nvPr>
            <p:ph sz="quarter" idx="18"/>
          </p:nvPr>
        </p:nvSpPr>
        <p:spPr>
          <a:xfrm>
            <a:off x="457200" y="3792027"/>
            <a:ext cx="8229600" cy="475173"/>
          </a:xfrm>
        </p:spPr>
        <p:txBody>
          <a:bodyPr/>
          <a:lstStyle/>
          <a:p>
            <a:pPr marL="432000" indent="-432000" eaLnBrk="1" hangingPunct="1">
              <a:buFont typeface="Times" pitchFamily="-1" charset="0"/>
              <a:buAutoNum type="arabicPeriod" startAt="4"/>
            </a:pPr>
            <a:r>
              <a:rPr lang="en-US" altLang="en-US" sz="2200" dirty="0">
                <a:latin typeface="Arial (Body)"/>
              </a:rPr>
              <a:t>Central banks and government agencies:</a:t>
            </a:r>
          </a:p>
        </p:txBody>
      </p:sp>
      <p:sp>
        <p:nvSpPr>
          <p:cNvPr id="9" name="Content Placeholder 8">
            <a:extLst>
              <a:ext uri="{FF2B5EF4-FFF2-40B4-BE49-F238E27FC236}">
                <a16:creationId xmlns:a16="http://schemas.microsoft.com/office/drawing/2014/main" id="{2A7BC6C9-A789-4A87-B148-B68721194E53}"/>
              </a:ext>
            </a:extLst>
          </p:cNvPr>
          <p:cNvSpPr>
            <a:spLocks noGrp="1"/>
          </p:cNvSpPr>
          <p:nvPr>
            <p:ph sz="quarter" idx="19"/>
          </p:nvPr>
        </p:nvSpPr>
        <p:spPr>
          <a:xfrm>
            <a:off x="457200" y="4354567"/>
            <a:ext cx="8229600" cy="1618225"/>
          </a:xfrm>
        </p:spPr>
        <p:txBody>
          <a:bodyPr/>
          <a:lstStyle/>
          <a:p>
            <a:pPr marL="740664" lvl="1" indent="-283464" eaLnBrk="1" hangingPunct="1"/>
            <a:r>
              <a:rPr lang="en-US" altLang="en-US" sz="2200" dirty="0">
                <a:latin typeface="Arial (Body)"/>
              </a:rPr>
              <a:t>Central banks sometimes intervene in foreign exchange markets.</a:t>
            </a:r>
          </a:p>
          <a:p>
            <a:pPr marL="740664" lvl="1" indent="-283464" eaLnBrk="1" hangingPunct="1"/>
            <a:r>
              <a:rPr lang="en-US" altLang="en-US" sz="2200" dirty="0">
                <a:latin typeface="Arial (Body)"/>
              </a:rPr>
              <a:t>Government agencies issue bonds to acquire funds, and may borrow from commercial banks or securities firms.</a:t>
            </a:r>
          </a:p>
        </p:txBody>
      </p:sp>
    </p:spTree>
    <p:extLst>
      <p:ext uri="{BB962C8B-B14F-4D97-AF65-F5344CB8AC3E}">
        <p14:creationId xmlns:p14="http://schemas.microsoft.com/office/powerpoint/2010/main" val="807379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Offshore Banking </a:t>
            </a:r>
            <a:r>
              <a:rPr lang="en-US" altLang="en-US" sz="2000" b="0" dirty="0"/>
              <a:t>(1 of 2)</a:t>
            </a:r>
            <a:endParaRPr lang="en-US" dirty="0"/>
          </a:p>
        </p:txBody>
      </p:sp>
      <p:sp>
        <p:nvSpPr>
          <p:cNvPr id="4" name="Content Placeholder 3">
            <a:extLst>
              <a:ext uri="{FF2B5EF4-FFF2-40B4-BE49-F238E27FC236}">
                <a16:creationId xmlns:a16="http://schemas.microsoft.com/office/drawing/2014/main" id="{347D385F-FDF7-4A5E-B7D5-07964228303E}"/>
              </a:ext>
            </a:extLst>
          </p:cNvPr>
          <p:cNvSpPr>
            <a:spLocks noGrp="1"/>
          </p:cNvSpPr>
          <p:nvPr>
            <p:ph sz="quarter" idx="13"/>
          </p:nvPr>
        </p:nvSpPr>
        <p:spPr>
          <a:xfrm>
            <a:off x="457200" y="1556325"/>
            <a:ext cx="8229600" cy="1768766"/>
          </a:xfrm>
        </p:spPr>
        <p:txBody>
          <a:bodyPr/>
          <a:lstStyle/>
          <a:p>
            <a:pPr eaLnBrk="1" hangingPunct="1"/>
            <a:r>
              <a:rPr lang="en-US" altLang="en-US" b="1" dirty="0">
                <a:latin typeface="Arial (Body)"/>
              </a:rPr>
              <a:t>Offshore banking</a:t>
            </a:r>
            <a:r>
              <a:rPr lang="en-US" altLang="en-US" i="1" dirty="0">
                <a:latin typeface="Arial (Body)"/>
              </a:rPr>
              <a:t> </a:t>
            </a:r>
            <a:r>
              <a:rPr lang="en-US" altLang="en-US" dirty="0">
                <a:latin typeface="Arial (Body)"/>
              </a:rPr>
              <a:t>refers to banking outside of the boundaries of a country.  </a:t>
            </a:r>
          </a:p>
          <a:p>
            <a:pPr eaLnBrk="1" hangingPunct="1"/>
            <a:r>
              <a:rPr lang="en-US" altLang="en-US" dirty="0">
                <a:latin typeface="Arial (Body)"/>
              </a:rPr>
              <a:t>There are at least three types of offshore banking institutions, which are regulated differently:</a:t>
            </a:r>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7"/>
          </p:nvPr>
        </p:nvSpPr>
        <p:spPr>
          <a:xfrm>
            <a:off x="457200" y="3397063"/>
            <a:ext cx="8229600" cy="1626605"/>
          </a:xfrm>
        </p:spPr>
        <p:txBody>
          <a:bodyPr/>
          <a:lstStyle/>
          <a:p>
            <a:pPr marL="741600" lvl="1" indent="-428400" eaLnBrk="1" hangingPunct="1">
              <a:spcBef>
                <a:spcPts val="1500"/>
              </a:spcBef>
              <a:buFont typeface="Times" pitchFamily="-1" charset="0"/>
              <a:buAutoNum type="arabicPeriod"/>
            </a:pPr>
            <a:r>
              <a:rPr lang="en-US" altLang="en-US" sz="2400" dirty="0">
                <a:latin typeface="Arial (Body)"/>
              </a:rPr>
              <a:t>An </a:t>
            </a:r>
            <a:r>
              <a:rPr lang="en-US" altLang="en-US" sz="2400" b="1" dirty="0">
                <a:latin typeface="Arial (Body)"/>
              </a:rPr>
              <a:t>agency office</a:t>
            </a:r>
            <a:r>
              <a:rPr lang="en-US" altLang="en-US" sz="2400" dirty="0">
                <a:latin typeface="Arial (Body)"/>
              </a:rPr>
              <a:t> in a foreign country makes loans and transfers, but does not accept deposits, and is therefore not subject to depository regulations in either the domestic or foreign country.</a:t>
            </a:r>
          </a:p>
        </p:txBody>
      </p:sp>
    </p:spTree>
    <p:extLst>
      <p:ext uri="{BB962C8B-B14F-4D97-AF65-F5344CB8AC3E}">
        <p14:creationId xmlns:p14="http://schemas.microsoft.com/office/powerpoint/2010/main" val="1600190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Offshore Banking </a:t>
            </a:r>
            <a:r>
              <a:rPr lang="en-US" altLang="en-US" sz="2000" b="0" dirty="0"/>
              <a:t>(2 of 2)</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29600" cy="3253179"/>
          </a:xfrm>
        </p:spPr>
        <p:txBody>
          <a:bodyPr/>
          <a:lstStyle/>
          <a:p>
            <a:pPr marL="741600" lvl="1" indent="-428400">
              <a:buFont typeface="+mj-lt"/>
              <a:buAutoNum type="arabicPeriod" startAt="2"/>
            </a:pPr>
            <a:r>
              <a:rPr lang="en-US" altLang="en-US" dirty="0">
                <a:latin typeface="Arial (Body)"/>
              </a:rPr>
              <a:t>A </a:t>
            </a:r>
            <a:r>
              <a:rPr lang="en-US" altLang="en-US" b="1" dirty="0">
                <a:latin typeface="Arial (Body)"/>
              </a:rPr>
              <a:t>subsidiary bank</a:t>
            </a:r>
            <a:r>
              <a:rPr lang="en-US" altLang="en-US" dirty="0">
                <a:latin typeface="Arial (Body)"/>
              </a:rPr>
              <a:t> in a foreign country follows the regulations of the foreign country, not the domestic regulations of the domestic parent. </a:t>
            </a:r>
          </a:p>
          <a:p>
            <a:pPr marL="741600" lvl="1" indent="-428400">
              <a:buFont typeface="+mj-lt"/>
              <a:buAutoNum type="arabicPeriod" startAt="2"/>
            </a:pPr>
            <a:r>
              <a:rPr lang="en-US" altLang="en-US" dirty="0">
                <a:latin typeface="Arial (Body)"/>
              </a:rPr>
              <a:t>A </a:t>
            </a:r>
            <a:r>
              <a:rPr lang="en-US" altLang="en-US" b="1" dirty="0">
                <a:latin typeface="Arial (Body)"/>
              </a:rPr>
              <a:t>foreign branch </a:t>
            </a:r>
            <a:r>
              <a:rPr lang="en-US" altLang="en-US" dirty="0">
                <a:latin typeface="Arial (Body)"/>
              </a:rPr>
              <a:t>of a domestic bank is often subject to both domestic and foreign regulations, but sometimes may choose the more lenient regulations of the two.</a:t>
            </a:r>
          </a:p>
        </p:txBody>
      </p:sp>
    </p:spTree>
    <p:extLst>
      <p:ext uri="{BB962C8B-B14F-4D97-AF65-F5344CB8AC3E}">
        <p14:creationId xmlns:p14="http://schemas.microsoft.com/office/powerpoint/2010/main" val="4267408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Offshore Currency Trading </a:t>
            </a:r>
            <a:r>
              <a:rPr lang="en-US" altLang="en-US" sz="2000" b="0" dirty="0"/>
              <a:t>(1 of 3)</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p:txBody>
          <a:bodyPr/>
          <a:lstStyle/>
          <a:p>
            <a:pPr indent="-255600" eaLnBrk="1" hangingPunct="1"/>
            <a:r>
              <a:rPr lang="en-US" altLang="en-US" dirty="0">
                <a:latin typeface="Arial (Body)"/>
              </a:rPr>
              <a:t>An </a:t>
            </a:r>
            <a:r>
              <a:rPr lang="en-US" altLang="en-US" b="1" dirty="0">
                <a:latin typeface="Arial (Body)"/>
              </a:rPr>
              <a:t>offshore currency deposit</a:t>
            </a:r>
            <a:r>
              <a:rPr lang="en-US" altLang="en-US" dirty="0">
                <a:latin typeface="Arial (Body)"/>
              </a:rPr>
              <a:t> is a bank deposit denominated in a currency other than the currency that circulates where the bank resides.</a:t>
            </a:r>
          </a:p>
          <a:p>
            <a:pPr lvl="1" indent="-284400" eaLnBrk="1" hangingPunct="1"/>
            <a:r>
              <a:rPr lang="en-US" altLang="en-US" dirty="0">
                <a:latin typeface="Arial (Body)"/>
              </a:rPr>
              <a:t>An offshore currency deposit may be deposited in a subsidiary bank, a foreign branch, a foreign bank, or another depository institution located in a foreign country.</a:t>
            </a:r>
          </a:p>
          <a:p>
            <a:pPr lvl="1" indent="-284400" eaLnBrk="1" hangingPunct="1"/>
            <a:r>
              <a:rPr lang="en-US" altLang="en-US" dirty="0">
                <a:latin typeface="Arial (Body)"/>
              </a:rPr>
              <a:t>Offshore currency deposits are sometimes (confusingly) referred to as </a:t>
            </a:r>
            <a:r>
              <a:rPr lang="en-US" altLang="en-US" b="1" dirty="0">
                <a:latin typeface="Arial (Body)"/>
              </a:rPr>
              <a:t>eurocurrency deposits</a:t>
            </a:r>
            <a:r>
              <a:rPr lang="en-US" altLang="en-US" dirty="0">
                <a:latin typeface="Arial (Body)"/>
              </a:rPr>
              <a:t>, because these deposits were historically made in European banks.</a:t>
            </a:r>
          </a:p>
        </p:txBody>
      </p:sp>
    </p:spTree>
    <p:extLst>
      <p:ext uri="{BB962C8B-B14F-4D97-AF65-F5344CB8AC3E}">
        <p14:creationId xmlns:p14="http://schemas.microsoft.com/office/powerpoint/2010/main" val="2724273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Offshore Currency Trading </a:t>
            </a:r>
            <a:r>
              <a:rPr lang="en-US" altLang="en-US" sz="2000" b="0" dirty="0"/>
              <a:t>(2 of 3)</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p:txBody>
          <a:bodyPr/>
          <a:lstStyle/>
          <a:p>
            <a:pPr marL="533400" indent="-533400" eaLnBrk="1" hangingPunct="1">
              <a:buFontTx/>
              <a:buNone/>
            </a:pPr>
            <a:r>
              <a:rPr lang="en-US" altLang="en-US" dirty="0">
                <a:latin typeface="Arial (Body)"/>
              </a:rPr>
              <a:t>Offshore currency trading has grown for three reasons:</a:t>
            </a:r>
          </a:p>
          <a:p>
            <a:pPr marL="741600" lvl="1" indent="-429768" eaLnBrk="1" hangingPunct="1">
              <a:buFontTx/>
              <a:buAutoNum type="arabicPeriod"/>
            </a:pPr>
            <a:r>
              <a:rPr lang="en-US" altLang="en-US" dirty="0">
                <a:latin typeface="Arial (Body)"/>
              </a:rPr>
              <a:t>growth in international trade and international business</a:t>
            </a:r>
          </a:p>
          <a:p>
            <a:pPr marL="741600" lvl="1" indent="-429768" eaLnBrk="1" hangingPunct="1">
              <a:buFontTx/>
              <a:buAutoNum type="arabicPeriod"/>
            </a:pPr>
            <a:r>
              <a:rPr lang="en-US" altLang="en-US" dirty="0">
                <a:latin typeface="Arial (Body)"/>
              </a:rPr>
              <a:t>avoidance of domestic regulations and taxes</a:t>
            </a:r>
          </a:p>
          <a:p>
            <a:pPr marL="741600" lvl="1" indent="-429768" eaLnBrk="1" hangingPunct="1">
              <a:buFontTx/>
              <a:buAutoNum type="arabicPeriod"/>
            </a:pPr>
            <a:r>
              <a:rPr lang="en-US" altLang="en-US" dirty="0">
                <a:latin typeface="Arial (Body)"/>
              </a:rPr>
              <a:t>political factors (e.g., to avoid confiscation by a government because of political events)</a:t>
            </a:r>
          </a:p>
        </p:txBody>
      </p:sp>
    </p:spTree>
    <p:extLst>
      <p:ext uri="{BB962C8B-B14F-4D97-AF65-F5344CB8AC3E}">
        <p14:creationId xmlns:p14="http://schemas.microsoft.com/office/powerpoint/2010/main" val="1578281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Offshore Currency Trading </a:t>
            </a:r>
            <a:r>
              <a:rPr lang="en-US" altLang="en-US" sz="2000" b="0" dirty="0"/>
              <a:t>(3 of 3)</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51371" cy="4586896"/>
          </a:xfrm>
        </p:spPr>
        <p:txBody>
          <a:bodyPr/>
          <a:lstStyle/>
          <a:p>
            <a:pPr indent="-255600" eaLnBrk="1" hangingPunct="1"/>
            <a:r>
              <a:rPr lang="en-US" altLang="en-US" sz="2200" b="1" dirty="0">
                <a:latin typeface="Arial (Body)"/>
              </a:rPr>
              <a:t>Reserve requirements</a:t>
            </a:r>
            <a:r>
              <a:rPr lang="en-US" altLang="en-US" sz="2200" dirty="0">
                <a:latin typeface="Arial (Body)"/>
              </a:rPr>
              <a:t> are the primary example of a domestic regulation that banks have tried to avoid through offshore currency trading.</a:t>
            </a:r>
          </a:p>
          <a:p>
            <a:pPr lvl="1" indent="-284400" eaLnBrk="1" hangingPunct="1"/>
            <a:r>
              <a:rPr lang="en-US" altLang="en-US" sz="2200" dirty="0">
                <a:latin typeface="Arial (Body)"/>
              </a:rPr>
              <a:t>Depository institutions in the United States and other countries are required to hold a fraction of </a:t>
            </a:r>
            <a:r>
              <a:rPr lang="en-US" altLang="en-US" sz="2200" b="1" dirty="0">
                <a:latin typeface="Arial (Body)"/>
              </a:rPr>
              <a:t>domestic currency </a:t>
            </a:r>
            <a:r>
              <a:rPr lang="en-US" altLang="en-US" sz="2200" dirty="0">
                <a:latin typeface="Arial (Body)"/>
              </a:rPr>
              <a:t>deposits on reserve at the central bank.</a:t>
            </a:r>
          </a:p>
          <a:p>
            <a:pPr lvl="1" indent="-284400" eaLnBrk="1" hangingPunct="1"/>
            <a:r>
              <a:rPr lang="en-US" altLang="en-US" sz="2200" dirty="0">
                <a:latin typeface="Arial (Body)"/>
              </a:rPr>
              <a:t>These reserves cannot be lent to customers and do not earn interest in many countries, therefore the reserve requirement reduces income for banks.</a:t>
            </a:r>
          </a:p>
          <a:p>
            <a:pPr lvl="1" indent="-284400" eaLnBrk="1" hangingPunct="1"/>
            <a:r>
              <a:rPr lang="en-US" altLang="en-US" sz="2200" dirty="0">
                <a:latin typeface="Arial (Body)"/>
              </a:rPr>
              <a:t>But offshore currency deposits in many countries are not subject to this requirement, and thus can earn interest on the full amount of the deposit. </a:t>
            </a:r>
          </a:p>
        </p:txBody>
      </p:sp>
    </p:spTree>
    <p:extLst>
      <p:ext uri="{BB962C8B-B14F-4D97-AF65-F5344CB8AC3E}">
        <p14:creationId xmlns:p14="http://schemas.microsoft.com/office/powerpoint/2010/main" val="2794106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Banking and Financial Fragility</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p:txBody>
          <a:bodyPr/>
          <a:lstStyle/>
          <a:p>
            <a:pPr indent="-255600" eaLnBrk="1" hangingPunct="1"/>
            <a:r>
              <a:rPr lang="en-US" altLang="en-US" sz="2400" dirty="0">
                <a:latin typeface="Arial (Body)"/>
              </a:rPr>
              <a:t>Banks fail because they do not have enough or the right kind of assets to pay for their liabilities.</a:t>
            </a:r>
          </a:p>
          <a:p>
            <a:pPr lvl="1" indent="-284400" eaLnBrk="1" hangingPunct="1"/>
            <a:r>
              <a:rPr lang="en-US" altLang="en-US" sz="2400" dirty="0">
                <a:latin typeface="Arial (Body)"/>
              </a:rPr>
              <a:t>The principal liability for commercial banks and other depository institutions is the value of deposits, and banks fail when they cannot pay their depositors.</a:t>
            </a:r>
          </a:p>
          <a:p>
            <a:pPr lvl="1" indent="-284400" eaLnBrk="1" hangingPunct="1"/>
            <a:r>
              <a:rPr lang="en-US" altLang="en-US" sz="2400" dirty="0">
                <a:latin typeface="Arial (Body)"/>
              </a:rPr>
              <a:t>If the value of assets decline, say because many loans go into default, then liabilities could become greater than the value of assets and bankruptcy could result.</a:t>
            </a:r>
          </a:p>
          <a:p>
            <a:pPr indent="-255600" eaLnBrk="1" hangingPunct="1"/>
            <a:r>
              <a:rPr lang="en-US" altLang="en-US" sz="2400" dirty="0">
                <a:latin typeface="Arial (Body)"/>
              </a:rPr>
              <a:t>In many countries there are several types of regulations to avoid bank failure or its effects.</a:t>
            </a:r>
          </a:p>
        </p:txBody>
      </p:sp>
    </p:spTree>
    <p:extLst>
      <p:ext uri="{BB962C8B-B14F-4D97-AF65-F5344CB8AC3E}">
        <p14:creationId xmlns:p14="http://schemas.microsoft.com/office/powerpoint/2010/main" val="9196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Government Safeguards against Financial Instability </a:t>
            </a:r>
            <a:r>
              <a:rPr lang="en-US" altLang="en-US" sz="2000" b="0" dirty="0"/>
              <a:t>(1 of 5)</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29600" cy="508000"/>
          </a:xfrm>
        </p:spPr>
        <p:txBody>
          <a:bodyPr/>
          <a:lstStyle/>
          <a:p>
            <a:pPr marL="432000" indent="-432000" eaLnBrk="1" hangingPunct="1">
              <a:buFont typeface="Times" pitchFamily="-1" charset="0"/>
              <a:buAutoNum type="arabicPeriod"/>
            </a:pPr>
            <a:r>
              <a:rPr lang="en-US" altLang="en-US" b="1" dirty="0">
                <a:latin typeface="Arial (Body)"/>
              </a:rPr>
              <a:t>Deposit insurance</a:t>
            </a:r>
            <a:endParaRPr lang="en-US" altLang="en-US" sz="2400" dirty="0">
              <a:latin typeface="Arial (Body)"/>
            </a:endParaRPr>
          </a:p>
        </p:txBody>
      </p:sp>
      <p:sp>
        <p:nvSpPr>
          <p:cNvPr id="3" name="Content Placeholder 2">
            <a:extLst>
              <a:ext uri="{FF2B5EF4-FFF2-40B4-BE49-F238E27FC236}">
                <a16:creationId xmlns:a16="http://schemas.microsoft.com/office/drawing/2014/main" id="{B35F569E-B1B6-4523-B775-649D58862DD0}"/>
              </a:ext>
            </a:extLst>
          </p:cNvPr>
          <p:cNvSpPr>
            <a:spLocks noGrp="1"/>
          </p:cNvSpPr>
          <p:nvPr>
            <p:ph sz="quarter" idx="14"/>
          </p:nvPr>
        </p:nvSpPr>
        <p:spPr>
          <a:xfrm>
            <a:off x="457200" y="2143125"/>
            <a:ext cx="8229600" cy="3966730"/>
          </a:xfrm>
        </p:spPr>
        <p:txBody>
          <a:bodyPr/>
          <a:lstStyle/>
          <a:p>
            <a:pPr marL="741600" lvl="1" indent="-284400" eaLnBrk="1" hangingPunct="1"/>
            <a:r>
              <a:rPr lang="en-US" altLang="en-US" dirty="0">
                <a:latin typeface="Arial (Body)"/>
              </a:rPr>
              <a:t>Insures depositors against losses up to $100,000 in the United States when banks fail.</a:t>
            </a:r>
          </a:p>
          <a:p>
            <a:pPr marL="741600" lvl="1" indent="-284400" eaLnBrk="1" hangingPunct="1"/>
            <a:r>
              <a:rPr lang="en-US" altLang="en-US" dirty="0">
                <a:latin typeface="Arial (Body)"/>
              </a:rPr>
              <a:t>Prevents bank panics due to a lack of information: because depositors cannot determine the financial health of a bank, they may quickly withdraw their funds if they are not sure that a bank is financially healthy enough to pay for them.</a:t>
            </a:r>
            <a:endParaRPr lang="en-US" dirty="0"/>
          </a:p>
        </p:txBody>
      </p:sp>
    </p:spTree>
    <p:extLst>
      <p:ext uri="{BB962C8B-B14F-4D97-AF65-F5344CB8AC3E}">
        <p14:creationId xmlns:p14="http://schemas.microsoft.com/office/powerpoint/2010/main" val="1890119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Government Safeguards against Financial Instability </a:t>
            </a:r>
            <a:r>
              <a:rPr lang="en-US" altLang="en-US" sz="2000" b="0" dirty="0"/>
              <a:t>(2 of 5)</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28617"/>
            <a:ext cx="8229600" cy="3129973"/>
          </a:xfrm>
        </p:spPr>
        <p:txBody>
          <a:bodyPr/>
          <a:lstStyle/>
          <a:p>
            <a:pPr marL="741600" lvl="1" indent="-284400" eaLnBrk="1" hangingPunct="1"/>
            <a:r>
              <a:rPr lang="en-US" altLang="en-US" dirty="0">
                <a:latin typeface="Arial (Body)"/>
              </a:rPr>
              <a:t>Creates a moral hazard for banks to take excessive risk because they are no longer fully responsible for failure.</a:t>
            </a:r>
          </a:p>
          <a:p>
            <a:pPr marL="1144800" lvl="2" indent="-230400" eaLnBrk="1" hangingPunct="1"/>
            <a:r>
              <a:rPr lang="en-US" altLang="en-US" b="1" dirty="0">
                <a:latin typeface="Arial (Body)"/>
              </a:rPr>
              <a:t>Moral hazard</a:t>
            </a:r>
            <a:r>
              <a:rPr lang="en-US" altLang="en-US" dirty="0">
                <a:latin typeface="Arial (Body)"/>
              </a:rPr>
              <a:t>: a hazard that a party in a transaction will engage in activities that would be considered inappropriate (e.g., too risky) according to another party who is not fully informed about those activities </a:t>
            </a:r>
          </a:p>
        </p:txBody>
      </p:sp>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4726459"/>
            <a:ext cx="8091487" cy="514022"/>
          </a:xfrm>
        </p:spPr>
        <p:txBody>
          <a:bodyPr/>
          <a:lstStyle/>
          <a:p>
            <a:pPr marL="432000" indent="-432000" eaLnBrk="1" hangingPunct="1">
              <a:buFont typeface="Times" pitchFamily="-1" charset="0"/>
              <a:buAutoNum type="arabicPeriod" startAt="2"/>
            </a:pPr>
            <a:r>
              <a:rPr lang="en-US" altLang="en-US" sz="2400" b="1" dirty="0">
                <a:latin typeface="Arial (Body)"/>
              </a:rPr>
              <a:t>Reserve requirements</a:t>
            </a:r>
            <a:endParaRPr lang="en-US" sz="2400" dirty="0"/>
          </a:p>
        </p:txBody>
      </p:sp>
      <p:sp>
        <p:nvSpPr>
          <p:cNvPr id="9" name="Content Placeholder 8">
            <a:extLst>
              <a:ext uri="{FF2B5EF4-FFF2-40B4-BE49-F238E27FC236}">
                <a16:creationId xmlns:a16="http://schemas.microsoft.com/office/drawing/2014/main" id="{7CE3810D-28C4-4A25-BEEC-8CCED6CCF913}"/>
              </a:ext>
            </a:extLst>
          </p:cNvPr>
          <p:cNvSpPr>
            <a:spLocks noGrp="1"/>
          </p:cNvSpPr>
          <p:nvPr>
            <p:ph sz="quarter" idx="18"/>
          </p:nvPr>
        </p:nvSpPr>
        <p:spPr>
          <a:xfrm>
            <a:off x="388143" y="5303323"/>
            <a:ext cx="8229600" cy="864000"/>
          </a:xfrm>
        </p:spPr>
        <p:txBody>
          <a:bodyPr/>
          <a:lstStyle/>
          <a:p>
            <a:pPr marL="741600" lvl="1" indent="-284400"/>
            <a:r>
              <a:rPr lang="en-US" altLang="en-US" sz="2400" dirty="0">
                <a:latin typeface="Arial (Body)"/>
              </a:rPr>
              <a:t>Banks required to maintain some deposits on reserve at the central bank in case they need cash.</a:t>
            </a:r>
            <a:endParaRPr lang="en-US" sz="2400" dirty="0">
              <a:latin typeface="Arial (Body)"/>
            </a:endParaRPr>
          </a:p>
        </p:txBody>
      </p:sp>
    </p:spTree>
    <p:extLst>
      <p:ext uri="{BB962C8B-B14F-4D97-AF65-F5344CB8AC3E}">
        <p14:creationId xmlns:p14="http://schemas.microsoft.com/office/powerpoint/2010/main" val="2694323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Government Safeguards against Financial Instability </a:t>
            </a:r>
            <a:r>
              <a:rPr lang="en-US" altLang="en-US" sz="2000" b="0" dirty="0"/>
              <a:t>(3 of 5)</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8"/>
            <a:ext cx="8229600" cy="519794"/>
          </a:xfrm>
        </p:spPr>
        <p:txBody>
          <a:bodyPr/>
          <a:lstStyle/>
          <a:p>
            <a:pPr marL="432000" indent="-432000" eaLnBrk="1" hangingPunct="1">
              <a:buFont typeface="Times" pitchFamily="-1" charset="0"/>
              <a:buAutoNum type="arabicPeriod" startAt="3"/>
            </a:pPr>
            <a:r>
              <a:rPr lang="en-US" altLang="en-US" sz="2200" b="1" dirty="0">
                <a:latin typeface="Arial (Body)"/>
              </a:rPr>
              <a:t>Capital requirements and asset restrictions</a:t>
            </a:r>
          </a:p>
        </p:txBody>
      </p:sp>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2148596"/>
            <a:ext cx="8229600" cy="2257149"/>
          </a:xfrm>
        </p:spPr>
        <p:txBody>
          <a:bodyPr/>
          <a:lstStyle/>
          <a:p>
            <a:pPr marL="741600" lvl="1" indent="-284400" eaLnBrk="1" hangingPunct="1"/>
            <a:r>
              <a:rPr lang="en-US" altLang="en-US" sz="2200" dirty="0">
                <a:latin typeface="Arial (Body)"/>
              </a:rPr>
              <a:t>Higher bank capital (net worth) means banks have more funds available to cover the cost of failed assets.</a:t>
            </a:r>
          </a:p>
          <a:p>
            <a:pPr marL="741600" lvl="1" indent="-284400" eaLnBrk="1" hangingPunct="1"/>
            <a:r>
              <a:rPr lang="en-US" altLang="en-US" sz="2200" dirty="0">
                <a:latin typeface="Arial (Body)"/>
              </a:rPr>
              <a:t>Asset restrictions reduce risky investments by preventing a bank from holding too many risky assets and encourage diversification by preventing a bank from holding too much of one asset.</a:t>
            </a:r>
          </a:p>
        </p:txBody>
      </p:sp>
      <p:sp>
        <p:nvSpPr>
          <p:cNvPr id="9" name="Content Placeholder 8">
            <a:extLst>
              <a:ext uri="{FF2B5EF4-FFF2-40B4-BE49-F238E27FC236}">
                <a16:creationId xmlns:a16="http://schemas.microsoft.com/office/drawing/2014/main" id="{7CE3810D-28C4-4A25-BEEC-8CCED6CCF913}"/>
              </a:ext>
            </a:extLst>
          </p:cNvPr>
          <p:cNvSpPr>
            <a:spLocks noGrp="1"/>
          </p:cNvSpPr>
          <p:nvPr>
            <p:ph sz="quarter" idx="18"/>
          </p:nvPr>
        </p:nvSpPr>
        <p:spPr>
          <a:xfrm>
            <a:off x="457200" y="4462389"/>
            <a:ext cx="8229600" cy="460427"/>
          </a:xfrm>
        </p:spPr>
        <p:txBody>
          <a:bodyPr/>
          <a:lstStyle/>
          <a:p>
            <a:pPr marL="432000" indent="-432000" eaLnBrk="1" hangingPunct="1">
              <a:spcBef>
                <a:spcPts val="600"/>
              </a:spcBef>
              <a:buFont typeface="Times" pitchFamily="-1" charset="0"/>
              <a:buAutoNum type="arabicPeriod" startAt="4"/>
            </a:pPr>
            <a:r>
              <a:rPr lang="en-US" altLang="en-US" sz="2200" b="1" dirty="0">
                <a:latin typeface="Arial (Body)"/>
              </a:rPr>
              <a:t>Bank examination</a:t>
            </a:r>
          </a:p>
        </p:txBody>
      </p:sp>
      <p:sp>
        <p:nvSpPr>
          <p:cNvPr id="10" name="Content Placeholder 9">
            <a:extLst>
              <a:ext uri="{FF2B5EF4-FFF2-40B4-BE49-F238E27FC236}">
                <a16:creationId xmlns:a16="http://schemas.microsoft.com/office/drawing/2014/main" id="{A2D79B88-C84F-4CE7-B9C8-767168CF53EF}"/>
              </a:ext>
            </a:extLst>
          </p:cNvPr>
          <p:cNvSpPr>
            <a:spLocks noGrp="1"/>
          </p:cNvSpPr>
          <p:nvPr>
            <p:ph sz="quarter" idx="19"/>
          </p:nvPr>
        </p:nvSpPr>
        <p:spPr>
          <a:xfrm>
            <a:off x="457200" y="4986480"/>
            <a:ext cx="8229600" cy="805214"/>
          </a:xfrm>
        </p:spPr>
        <p:txBody>
          <a:bodyPr/>
          <a:lstStyle/>
          <a:p>
            <a:pPr marL="741600" lvl="1" indent="-284400"/>
            <a:r>
              <a:rPr lang="en-US" altLang="en-US" sz="2200" dirty="0">
                <a:latin typeface="Arial (Body)"/>
              </a:rPr>
              <a:t>Regular examination prevents banks from engaging in risky activities.</a:t>
            </a:r>
            <a:endParaRPr lang="en-US" sz="2200" dirty="0"/>
          </a:p>
        </p:txBody>
      </p:sp>
    </p:spTree>
    <p:extLst>
      <p:ext uri="{BB962C8B-B14F-4D97-AF65-F5344CB8AC3E}">
        <p14:creationId xmlns:p14="http://schemas.microsoft.com/office/powerpoint/2010/main" val="3779387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Government Safeguards against Financial Instability </a:t>
            </a:r>
            <a:r>
              <a:rPr lang="en-US" altLang="en-US" sz="2000" b="0" dirty="0"/>
              <a:t>(4 of 5)</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8"/>
            <a:ext cx="8229600" cy="519794"/>
          </a:xfrm>
        </p:spPr>
        <p:txBody>
          <a:bodyPr/>
          <a:lstStyle/>
          <a:p>
            <a:pPr marL="432000" indent="-432000" eaLnBrk="1" hangingPunct="1">
              <a:buFont typeface="Times" pitchFamily="-1" charset="0"/>
              <a:buAutoNum type="arabicPeriod" startAt="5"/>
            </a:pPr>
            <a:r>
              <a:rPr lang="en-US" altLang="en-US" b="1" dirty="0">
                <a:latin typeface="Arial (Body)"/>
              </a:rPr>
              <a:t>Lender of last resort</a:t>
            </a:r>
            <a:r>
              <a:rPr lang="en-US" altLang="en-US" dirty="0">
                <a:latin typeface="Arial (Body)"/>
              </a:rPr>
              <a:t> </a:t>
            </a:r>
          </a:p>
        </p:txBody>
      </p:sp>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2148596"/>
            <a:ext cx="8229600" cy="3182928"/>
          </a:xfrm>
        </p:spPr>
        <p:txBody>
          <a:bodyPr/>
          <a:lstStyle/>
          <a:p>
            <a:pPr marL="741600" lvl="1" indent="-284400" eaLnBrk="1" hangingPunct="1"/>
            <a:r>
              <a:rPr lang="en-US" altLang="en-US" sz="2400" dirty="0">
                <a:latin typeface="Arial (Body)"/>
              </a:rPr>
              <a:t>In the United States, the Federal Reserve System may lend to banks with inadequate reserves (cash).</a:t>
            </a:r>
          </a:p>
          <a:p>
            <a:pPr marL="741600" lvl="1" indent="-284400" eaLnBrk="1" hangingPunct="1"/>
            <a:r>
              <a:rPr lang="en-US" altLang="en-US" sz="2400" dirty="0">
                <a:latin typeface="Arial (Body)"/>
              </a:rPr>
              <a:t>Prevents bank panics.</a:t>
            </a:r>
          </a:p>
          <a:p>
            <a:pPr marL="741600" lvl="1" indent="-284400" eaLnBrk="1" hangingPunct="1"/>
            <a:r>
              <a:rPr lang="en-US" altLang="en-US" sz="2400" dirty="0">
                <a:latin typeface="Arial (Body)"/>
              </a:rPr>
              <a:t>Acts as insurance for depositors and banks, in addition to deposit insurance.</a:t>
            </a:r>
          </a:p>
          <a:p>
            <a:pPr marL="741600" lvl="1" indent="-284400" eaLnBrk="1" hangingPunct="1"/>
            <a:r>
              <a:rPr lang="en-US" altLang="en-US" sz="2400" dirty="0">
                <a:latin typeface="Arial (Body)"/>
              </a:rPr>
              <a:t>Creates a moral hazard for banks to take excessive risk because they are not fully responsible for the risk.</a:t>
            </a:r>
          </a:p>
        </p:txBody>
      </p:sp>
    </p:spTree>
    <p:extLst>
      <p:ext uri="{BB962C8B-B14F-4D97-AF65-F5344CB8AC3E}">
        <p14:creationId xmlns:p14="http://schemas.microsoft.com/office/powerpoint/2010/main" val="1548789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Government Safeguards against Financial Instability </a:t>
            </a:r>
            <a:r>
              <a:rPr lang="en-US" altLang="en-US" sz="2000" b="0" dirty="0"/>
              <a:t>(5 of 5)</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8"/>
            <a:ext cx="8229600" cy="519794"/>
          </a:xfrm>
        </p:spPr>
        <p:txBody>
          <a:bodyPr/>
          <a:lstStyle/>
          <a:p>
            <a:pPr marL="432000" indent="-432000" eaLnBrk="1" hangingPunct="1">
              <a:spcBef>
                <a:spcPts val="600"/>
              </a:spcBef>
              <a:buFont typeface="Times" pitchFamily="-1" charset="0"/>
              <a:buAutoNum type="arabicPeriod" startAt="6"/>
            </a:pPr>
            <a:r>
              <a:rPr lang="en-US" altLang="en-US" b="1" dirty="0">
                <a:latin typeface="Arial (Body)"/>
              </a:rPr>
              <a:t>Government-organized bailouts</a:t>
            </a:r>
          </a:p>
        </p:txBody>
      </p:sp>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2134740"/>
            <a:ext cx="8229600" cy="3852400"/>
          </a:xfrm>
        </p:spPr>
        <p:txBody>
          <a:bodyPr/>
          <a:lstStyle/>
          <a:p>
            <a:pPr marL="741600" lvl="1" indent="-284400" eaLnBrk="1" hangingPunct="1"/>
            <a:r>
              <a:rPr lang="en-US" altLang="en-US" sz="2400" dirty="0">
                <a:latin typeface="Arial (Body)"/>
              </a:rPr>
              <a:t>Failing all else, the central bank or fiscal authorities may organize the purchase of a failing bank by healthier institutions, sometimes throwing their own money into the deal as a sweetener.</a:t>
            </a:r>
          </a:p>
          <a:p>
            <a:pPr marL="741600" lvl="1" indent="-284400" eaLnBrk="1" hangingPunct="1"/>
            <a:r>
              <a:rPr lang="en-US" altLang="en-US" sz="2400" dirty="0">
                <a:latin typeface="Arial (Body)"/>
              </a:rPr>
              <a:t>In this case, bankruptcy is avoided thanks to the government</a:t>
            </a:r>
            <a:r>
              <a:rPr lang="en-US" altLang="ja-JP" sz="2400" dirty="0">
                <a:latin typeface="Arial (Body)"/>
              </a:rPr>
              <a:t>’s intervention as a crisis manager, but perhaps at public expense.</a:t>
            </a:r>
          </a:p>
          <a:p>
            <a:pPr marL="255600" indent="-255600" eaLnBrk="1" hangingPunct="1"/>
            <a:r>
              <a:rPr lang="en-US" altLang="en-US" sz="2400" dirty="0">
                <a:latin typeface="Arial (Body)"/>
              </a:rPr>
              <a:t>Safeguards were not nearly sufficient to prevent the financial crisis of 2007–2009.</a:t>
            </a:r>
          </a:p>
        </p:txBody>
      </p:sp>
    </p:spTree>
    <p:extLst>
      <p:ext uri="{BB962C8B-B14F-4D97-AF65-F5344CB8AC3E}">
        <p14:creationId xmlns:p14="http://schemas.microsoft.com/office/powerpoint/2010/main" val="3986888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cs typeface="Times New Roman" panose="02020603050405020304" pitchFamily="18" charset="0"/>
              </a:rPr>
              <a:t>Figure 20.2 Frequency of Systemic Banking Crises by Country Income Level, 1976–2017</a:t>
            </a:r>
            <a:endParaRPr lang="en-US" sz="3000" dirty="0"/>
          </a:p>
        </p:txBody>
      </p:sp>
      <p:pic>
        <p:nvPicPr>
          <p:cNvPr id="4" name="Content Placeholder 3" descr="A graph of the systemic banking crises plots the number of ongoing crises versus year, 19 70 to 20 11 with differentiation between emerging slash developing and the advanced countries. For long description in Notes pane, press F6.">
            <a:extLst>
              <a:ext uri="{FF2B5EF4-FFF2-40B4-BE49-F238E27FC236}">
                <a16:creationId xmlns:a16="http://schemas.microsoft.com/office/drawing/2014/main" id="{3AF43E30-3D19-4A44-84B0-A18274373951}"/>
              </a:ext>
            </a:extLst>
          </p:cNvPr>
          <p:cNvPicPr>
            <a:picLocks noGrp="1" noChangeAspect="1"/>
          </p:cNvPicPr>
          <p:nvPr>
            <p:ph sz="quarter" idx="13"/>
          </p:nvPr>
        </p:nvPicPr>
        <p:blipFill>
          <a:blip r:embed="rId3"/>
          <a:stretch>
            <a:fillRect/>
          </a:stretch>
        </p:blipFill>
        <p:spPr>
          <a:xfrm>
            <a:off x="2248039" y="1575347"/>
            <a:ext cx="4647920" cy="3272425"/>
          </a:xfrm>
        </p:spPr>
      </p:pic>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4927852"/>
            <a:ext cx="8021782" cy="1443919"/>
          </a:xfrm>
        </p:spPr>
        <p:txBody>
          <a:bodyPr/>
          <a:lstStyle/>
          <a:p>
            <a:pPr marL="0" indent="0">
              <a:spcBef>
                <a:spcPts val="600"/>
              </a:spcBef>
              <a:buNone/>
            </a:pPr>
            <a:r>
              <a:rPr lang="en-US" dirty="0">
                <a:latin typeface="+mn-lt"/>
              </a:rPr>
              <a:t>Generalized banking crises have been plentiful around the world since the mid-1970s, mainly in poorer countries, but starting in 2008, a substantial number of richer countries were also hit hard.</a:t>
            </a:r>
          </a:p>
          <a:p>
            <a:pPr marL="0" indent="0">
              <a:spcBef>
                <a:spcPts val="600"/>
              </a:spcBef>
              <a:buNone/>
            </a:pPr>
            <a:r>
              <a:rPr lang="en-US" b="1" dirty="0">
                <a:latin typeface="+mn-lt"/>
              </a:rPr>
              <a:t>Source:</a:t>
            </a:r>
            <a:r>
              <a:rPr lang="en-US" dirty="0">
                <a:latin typeface="+mn-lt"/>
              </a:rPr>
              <a:t> Reproduced from Laeven and Valencia, </a:t>
            </a:r>
            <a:r>
              <a:rPr lang="en-US" b="1" dirty="0">
                <a:latin typeface="+mn-lt"/>
              </a:rPr>
              <a:t>op. cit.</a:t>
            </a:r>
            <a:r>
              <a:rPr lang="en-US" dirty="0">
                <a:latin typeface="+mn-lt"/>
              </a:rPr>
              <a:t> Thanks to Luc Laeven for supplying these data</a:t>
            </a:r>
            <a:endParaRPr lang="en-US" b="1" dirty="0">
              <a:latin typeface="+mn-lt"/>
            </a:endParaRPr>
          </a:p>
        </p:txBody>
      </p:sp>
    </p:spTree>
    <p:extLst>
      <p:ext uri="{BB962C8B-B14F-4D97-AF65-F5344CB8AC3E}">
        <p14:creationId xmlns:p14="http://schemas.microsoft.com/office/powerpoint/2010/main" val="4010971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Difficulties in Regulating International Banking </a:t>
            </a:r>
            <a:r>
              <a:rPr lang="en-US" altLang="en-US" sz="1800" b="0" dirty="0"/>
              <a:t>(1 of 4)</a:t>
            </a:r>
            <a:endParaRPr lang="en-US" sz="3000" dirty="0"/>
          </a:p>
        </p:txBody>
      </p:sp>
      <p:sp>
        <p:nvSpPr>
          <p:cNvPr id="5" name="Content Placeholder 4">
            <a:extLst>
              <a:ext uri="{FF2B5EF4-FFF2-40B4-BE49-F238E27FC236}">
                <a16:creationId xmlns:a16="http://schemas.microsoft.com/office/drawing/2014/main" id="{B45A3AC3-A083-41CD-A74E-C4597293F971}"/>
              </a:ext>
            </a:extLst>
          </p:cNvPr>
          <p:cNvSpPr>
            <a:spLocks noGrp="1"/>
          </p:cNvSpPr>
          <p:nvPr>
            <p:ph sz="quarter" idx="13"/>
          </p:nvPr>
        </p:nvSpPr>
        <p:spPr>
          <a:xfrm>
            <a:off x="457200" y="1556327"/>
            <a:ext cx="8362950" cy="3668816"/>
          </a:xfrm>
        </p:spPr>
        <p:txBody>
          <a:bodyPr/>
          <a:lstStyle/>
          <a:p>
            <a:pPr marL="432000" indent="-432000" eaLnBrk="1" hangingPunct="1">
              <a:buFont typeface="Times" pitchFamily="-1" charset="0"/>
              <a:buAutoNum type="arabicPeriod"/>
            </a:pPr>
            <a:r>
              <a:rPr lang="en-US" altLang="en-US" dirty="0">
                <a:latin typeface="Arial (Body)"/>
              </a:rPr>
              <a:t>Deposit insurance in the United States covers losses up to $100,000, but since the size of deposits in international banking is often much larger, the amount of insurance is often minimal. </a:t>
            </a:r>
          </a:p>
          <a:p>
            <a:pPr marL="432000" indent="-432000" eaLnBrk="1" hangingPunct="1">
              <a:buFont typeface="Times" pitchFamily="-1" charset="0"/>
              <a:buAutoNum type="arabicPeriod"/>
            </a:pPr>
            <a:r>
              <a:rPr lang="en-US" altLang="en-US" dirty="0">
                <a:latin typeface="Arial (Body)"/>
              </a:rPr>
              <a:t>Reserve requirements also act as a form of insurance for depositors, but countries cannot impose reserve requirements on foreign currency deposits in agency offices, foreign branches, or subsidiary banks of domestic banks.</a:t>
            </a:r>
            <a:endParaRPr lang="en-US" dirty="0"/>
          </a:p>
        </p:txBody>
      </p:sp>
    </p:spTree>
    <p:extLst>
      <p:ext uri="{BB962C8B-B14F-4D97-AF65-F5344CB8AC3E}">
        <p14:creationId xmlns:p14="http://schemas.microsoft.com/office/powerpoint/2010/main" val="2942281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Difficulties in Regulating International Banking </a:t>
            </a:r>
            <a:r>
              <a:rPr lang="en-US" altLang="en-US" sz="1800" b="0" dirty="0"/>
              <a:t>(2 of 4)</a:t>
            </a:r>
            <a:endParaRPr lang="en-US" sz="3000" dirty="0"/>
          </a:p>
        </p:txBody>
      </p:sp>
      <p:sp>
        <p:nvSpPr>
          <p:cNvPr id="5" name="Content Placeholder 4">
            <a:extLst>
              <a:ext uri="{FF2B5EF4-FFF2-40B4-BE49-F238E27FC236}">
                <a16:creationId xmlns:a16="http://schemas.microsoft.com/office/drawing/2014/main" id="{B45A3AC3-A083-41CD-A74E-C4597293F971}"/>
              </a:ext>
            </a:extLst>
          </p:cNvPr>
          <p:cNvSpPr>
            <a:spLocks noGrp="1"/>
          </p:cNvSpPr>
          <p:nvPr>
            <p:ph sz="quarter" idx="13"/>
          </p:nvPr>
        </p:nvSpPr>
        <p:spPr>
          <a:xfrm>
            <a:off x="457200" y="1556327"/>
            <a:ext cx="8229600" cy="868218"/>
          </a:xfrm>
        </p:spPr>
        <p:txBody>
          <a:bodyPr/>
          <a:lstStyle/>
          <a:p>
            <a:pPr marL="432000" indent="-432000" eaLnBrk="1" hangingPunct="1">
              <a:buFont typeface="Times" pitchFamily="-1" charset="0"/>
              <a:buAutoNum type="arabicPeriod" startAt="3"/>
            </a:pPr>
            <a:r>
              <a:rPr lang="en-US" altLang="en-US" dirty="0">
                <a:latin typeface="Arial (Body)"/>
              </a:rPr>
              <a:t>Bank examination, capital requirements, and asset restrictions are more difficult internationally.</a:t>
            </a:r>
          </a:p>
        </p:txBody>
      </p:sp>
      <p:sp>
        <p:nvSpPr>
          <p:cNvPr id="3" name="Content Placeholder 2">
            <a:extLst>
              <a:ext uri="{FF2B5EF4-FFF2-40B4-BE49-F238E27FC236}">
                <a16:creationId xmlns:a16="http://schemas.microsoft.com/office/drawing/2014/main" id="{5EB0B83A-3CBE-4F1C-906F-20C4ECDC5291}"/>
              </a:ext>
            </a:extLst>
          </p:cNvPr>
          <p:cNvSpPr>
            <a:spLocks noGrp="1"/>
          </p:cNvSpPr>
          <p:nvPr>
            <p:ph sz="quarter" idx="14"/>
          </p:nvPr>
        </p:nvSpPr>
        <p:spPr>
          <a:xfrm>
            <a:off x="457200" y="2479326"/>
            <a:ext cx="8229600" cy="3622112"/>
          </a:xfrm>
        </p:spPr>
        <p:txBody>
          <a:bodyPr/>
          <a:lstStyle/>
          <a:p>
            <a:pPr marL="741600" lvl="1" indent="-284400" eaLnBrk="1" hangingPunct="1"/>
            <a:r>
              <a:rPr lang="en-US" altLang="en-US" dirty="0">
                <a:latin typeface="Arial (Body)"/>
              </a:rPr>
              <a:t>Distance and language barriers make monitoring difficult.</a:t>
            </a:r>
          </a:p>
          <a:p>
            <a:pPr marL="741600" lvl="1" indent="-284400" eaLnBrk="1" hangingPunct="1"/>
            <a:r>
              <a:rPr lang="en-US" altLang="en-US" dirty="0">
                <a:latin typeface="Arial (Body)"/>
              </a:rPr>
              <a:t>Different assets with different characteristics (e.g., risk) exist in different countries, making judgment difficult.</a:t>
            </a:r>
          </a:p>
          <a:p>
            <a:pPr marL="741600" lvl="1" indent="-284400" eaLnBrk="1" hangingPunct="1"/>
            <a:r>
              <a:rPr lang="en-US" altLang="en-US" dirty="0">
                <a:latin typeface="Arial (Body)"/>
              </a:rPr>
              <a:t>Jurisdiction is not clear in the case of subsidiary banks: for example, if a subsidiary of an Italian bank is located in London but primarily has offshore U.S. dollar deposits, which regulators have jurisdiction?</a:t>
            </a:r>
            <a:endParaRPr lang="en-US" dirty="0"/>
          </a:p>
        </p:txBody>
      </p:sp>
    </p:spTree>
    <p:extLst>
      <p:ext uri="{BB962C8B-B14F-4D97-AF65-F5344CB8AC3E}">
        <p14:creationId xmlns:p14="http://schemas.microsoft.com/office/powerpoint/2010/main" val="219060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Difficulties in Regulating International Banking </a:t>
            </a:r>
            <a:r>
              <a:rPr lang="en-US" altLang="en-US" sz="1800" b="0" dirty="0"/>
              <a:t>(3 of 4)</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8"/>
            <a:ext cx="8229600" cy="507999"/>
          </a:xfrm>
        </p:spPr>
        <p:txBody>
          <a:bodyPr/>
          <a:lstStyle/>
          <a:p>
            <a:pPr marL="432000" indent="-432000" eaLnBrk="1" hangingPunct="1">
              <a:buFont typeface="Times" pitchFamily="-1" charset="0"/>
              <a:buAutoNum type="arabicPeriod" startAt="4"/>
            </a:pPr>
            <a:r>
              <a:rPr lang="en-US" altLang="en-US" dirty="0">
                <a:latin typeface="Arial (Body)"/>
              </a:rPr>
              <a:t>No international lender of last resort for banks exists.</a:t>
            </a:r>
          </a:p>
        </p:txBody>
      </p:sp>
      <p:sp>
        <p:nvSpPr>
          <p:cNvPr id="7" name="Content Placeholder 6">
            <a:extLst>
              <a:ext uri="{FF2B5EF4-FFF2-40B4-BE49-F238E27FC236}">
                <a16:creationId xmlns:a16="http://schemas.microsoft.com/office/drawing/2014/main" id="{F5551AE7-7286-4015-B157-EC67D4C0966E}"/>
              </a:ext>
            </a:extLst>
          </p:cNvPr>
          <p:cNvSpPr>
            <a:spLocks noGrp="1"/>
          </p:cNvSpPr>
          <p:nvPr>
            <p:ph sz="quarter" idx="17"/>
          </p:nvPr>
        </p:nvSpPr>
        <p:spPr>
          <a:xfrm>
            <a:off x="457200" y="2141172"/>
            <a:ext cx="8098971" cy="929586"/>
          </a:xfrm>
        </p:spPr>
        <p:txBody>
          <a:bodyPr/>
          <a:lstStyle/>
          <a:p>
            <a:pPr marL="741600" lvl="1" indent="-284400" eaLnBrk="1" hangingPunct="1"/>
            <a:r>
              <a:rPr lang="en-US" altLang="en-US" sz="2400" dirty="0">
                <a:latin typeface="Arial (Body)"/>
              </a:rPr>
              <a:t>The I</a:t>
            </a:r>
            <a:r>
              <a:rPr lang="en-US" altLang="en-US" sz="100" dirty="0">
                <a:latin typeface="Arial (Body)"/>
              </a:rPr>
              <a:t> </a:t>
            </a:r>
            <a:r>
              <a:rPr lang="en-US" altLang="en-US" sz="2400" dirty="0">
                <a:latin typeface="Arial (Body)"/>
              </a:rPr>
              <a:t>M</a:t>
            </a:r>
            <a:r>
              <a:rPr lang="en-US" altLang="en-US" sz="100" dirty="0">
                <a:latin typeface="Arial (Body)"/>
              </a:rPr>
              <a:t> </a:t>
            </a:r>
            <a:r>
              <a:rPr lang="en-US" altLang="en-US" sz="2400" dirty="0">
                <a:latin typeface="Arial (Body)"/>
              </a:rPr>
              <a:t>F sometimes acts a </a:t>
            </a:r>
            <a:r>
              <a:rPr lang="en-IN" altLang="en-US" sz="2400" dirty="0">
                <a:latin typeface="Arial (Body)"/>
              </a:rPr>
              <a:t>“</a:t>
            </a:r>
            <a:r>
              <a:rPr lang="en-US" altLang="ja-JP" sz="2400" dirty="0">
                <a:latin typeface="Arial (Body)"/>
              </a:rPr>
              <a:t>lender of last resort</a:t>
            </a:r>
            <a:r>
              <a:rPr lang="en-IN" altLang="ja-JP" sz="2400" dirty="0">
                <a:latin typeface="Arial (Body)"/>
              </a:rPr>
              <a:t>”</a:t>
            </a:r>
            <a:r>
              <a:rPr lang="en-US" altLang="ja-JP" sz="2400" dirty="0">
                <a:latin typeface="Arial (Body)"/>
              </a:rPr>
              <a:t> for </a:t>
            </a:r>
            <a:r>
              <a:rPr lang="en-US" altLang="ja-JP" sz="2400" b="1" dirty="0">
                <a:latin typeface="Arial (Body)"/>
              </a:rPr>
              <a:t>governments</a:t>
            </a:r>
            <a:r>
              <a:rPr lang="en-US" altLang="ja-JP" sz="2400" dirty="0">
                <a:latin typeface="Arial (Body)"/>
              </a:rPr>
              <a:t> with balance of payments problems.</a:t>
            </a:r>
          </a:p>
        </p:txBody>
      </p:sp>
      <p:sp>
        <p:nvSpPr>
          <p:cNvPr id="9" name="Content Placeholder 8">
            <a:extLst>
              <a:ext uri="{FF2B5EF4-FFF2-40B4-BE49-F238E27FC236}">
                <a16:creationId xmlns:a16="http://schemas.microsoft.com/office/drawing/2014/main" id="{7CE3810D-28C4-4A25-BEEC-8CCED6CCF913}"/>
              </a:ext>
            </a:extLst>
          </p:cNvPr>
          <p:cNvSpPr>
            <a:spLocks noGrp="1"/>
          </p:cNvSpPr>
          <p:nvPr>
            <p:ph sz="quarter" idx="18"/>
          </p:nvPr>
        </p:nvSpPr>
        <p:spPr>
          <a:xfrm>
            <a:off x="457200" y="3154422"/>
            <a:ext cx="8098971" cy="1256272"/>
          </a:xfrm>
        </p:spPr>
        <p:txBody>
          <a:bodyPr/>
          <a:lstStyle/>
          <a:p>
            <a:pPr marL="432000" indent="-432000" eaLnBrk="1" hangingPunct="1">
              <a:buFont typeface="Times" pitchFamily="-1" charset="0"/>
              <a:buAutoNum type="arabicPeriod" startAt="5"/>
            </a:pPr>
            <a:r>
              <a:rPr lang="en-US" altLang="en-US" sz="2400" dirty="0">
                <a:latin typeface="Arial (Body)"/>
              </a:rPr>
              <a:t>The activities of nonbank financial institutions are growing in international banking, but they lack the regulation and supervision that banks have.</a:t>
            </a:r>
          </a:p>
        </p:txBody>
      </p:sp>
    </p:spTree>
    <p:extLst>
      <p:ext uri="{BB962C8B-B14F-4D97-AF65-F5344CB8AC3E}">
        <p14:creationId xmlns:p14="http://schemas.microsoft.com/office/powerpoint/2010/main" val="2554429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Difficulties in Regulating International Banking </a:t>
            </a:r>
            <a:r>
              <a:rPr lang="en-US" altLang="en-US" sz="1800" b="0" dirty="0"/>
              <a:t>(4 of 4)</a:t>
            </a:r>
            <a:endParaRPr lang="en-US"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29600" cy="1256271"/>
          </a:xfrm>
        </p:spPr>
        <p:txBody>
          <a:bodyPr/>
          <a:lstStyle/>
          <a:p>
            <a:pPr marL="432000" indent="-432000" eaLnBrk="1" hangingPunct="1">
              <a:buFont typeface="+mj-lt"/>
              <a:buAutoNum type="arabicPeriod" startAt="6"/>
            </a:pPr>
            <a:r>
              <a:rPr lang="en-US" altLang="en-US" dirty="0">
                <a:latin typeface="Arial (Body)"/>
              </a:rPr>
              <a:t>Derivatives and securitized assets make it harder to assess financial stability and risk because these assets are not accounted for on the traditional balance</a:t>
            </a:r>
            <a:endParaRPr lang="en-US" altLang="en-US" sz="2400" dirty="0">
              <a:latin typeface="Arial (Body)"/>
            </a:endParaRPr>
          </a:p>
        </p:txBody>
      </p:sp>
      <p:sp>
        <p:nvSpPr>
          <p:cNvPr id="9" name="Content Placeholder 8">
            <a:extLst>
              <a:ext uri="{FF2B5EF4-FFF2-40B4-BE49-F238E27FC236}">
                <a16:creationId xmlns:a16="http://schemas.microsoft.com/office/drawing/2014/main" id="{7CE3810D-28C4-4A25-BEEC-8CCED6CCF913}"/>
              </a:ext>
            </a:extLst>
          </p:cNvPr>
          <p:cNvSpPr>
            <a:spLocks noGrp="1"/>
          </p:cNvSpPr>
          <p:nvPr>
            <p:ph sz="quarter" idx="18"/>
          </p:nvPr>
        </p:nvSpPr>
        <p:spPr>
          <a:xfrm>
            <a:off x="457200" y="2880124"/>
            <a:ext cx="8098971" cy="976883"/>
          </a:xfrm>
        </p:spPr>
        <p:txBody>
          <a:bodyPr/>
          <a:lstStyle/>
          <a:p>
            <a:pPr marL="741600" lvl="1" indent="-284400" eaLnBrk="1" hangingPunct="1"/>
            <a:r>
              <a:rPr lang="en-US" altLang="en-US" sz="2400" dirty="0">
                <a:latin typeface="Arial (Body)"/>
              </a:rPr>
              <a:t>A securitized asset is a combination of different illiquid assets like loans that is sold as a security.</a:t>
            </a:r>
          </a:p>
        </p:txBody>
      </p:sp>
    </p:spTree>
    <p:extLst>
      <p:ext uri="{BB962C8B-B14F-4D97-AF65-F5344CB8AC3E}">
        <p14:creationId xmlns:p14="http://schemas.microsoft.com/office/powerpoint/2010/main" val="3411765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Financial Trilemma </a:t>
            </a:r>
            <a:r>
              <a:rPr lang="en-US" altLang="en-US" sz="2000" b="0" dirty="0"/>
              <a:t>(1 of 4)</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343900" cy="3538187"/>
          </a:xfrm>
        </p:spPr>
        <p:txBody>
          <a:bodyPr/>
          <a:lstStyle/>
          <a:p>
            <a:pPr eaLnBrk="1" hangingPunct="1"/>
            <a:r>
              <a:rPr lang="en-US" altLang="en-US" dirty="0">
                <a:latin typeface="Arial (Body)"/>
              </a:rPr>
              <a:t>Regulations of the type used in the United States and other countries become even less effective in an international environment where banks can shift their business among different regulatory jurisdictions. </a:t>
            </a:r>
          </a:p>
          <a:p>
            <a:pPr eaLnBrk="1" hangingPunct="1"/>
            <a:r>
              <a:rPr lang="en-US" altLang="en-US" dirty="0">
                <a:latin typeface="Arial (Body)"/>
              </a:rPr>
              <a:t>To see why an international banking system is harder to regulate than a national system, look at how the effectiveness of the U.S. safeguards described earlier is reduced as a result of offshore banking activities.</a:t>
            </a:r>
          </a:p>
        </p:txBody>
      </p:sp>
    </p:spTree>
    <p:extLst>
      <p:ext uri="{BB962C8B-B14F-4D97-AF65-F5344CB8AC3E}">
        <p14:creationId xmlns:p14="http://schemas.microsoft.com/office/powerpoint/2010/main" val="1183814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Financial Trilemma </a:t>
            </a:r>
            <a:r>
              <a:rPr lang="en-US" altLang="en-US" sz="2000" b="0" dirty="0"/>
              <a:t>(2 of 4)</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343900" cy="3538187"/>
          </a:xfrm>
        </p:spPr>
        <p:txBody>
          <a:bodyPr/>
          <a:lstStyle/>
          <a:p>
            <a:pPr marL="432000" indent="-432000" eaLnBrk="1" hangingPunct="1">
              <a:buFont typeface="Verdana" pitchFamily="34" charset="0"/>
              <a:buAutoNum type="arabicPeriod"/>
            </a:pPr>
            <a:r>
              <a:rPr lang="en-US" altLang="en-US" sz="2400" dirty="0">
                <a:latin typeface="Arial (Body)"/>
              </a:rPr>
              <a:t>Deposit insurance is essentially absent in international banking.</a:t>
            </a:r>
          </a:p>
          <a:p>
            <a:pPr marL="432000" indent="-432000" eaLnBrk="1" hangingPunct="1">
              <a:buFont typeface="Verdana" pitchFamily="34" charset="0"/>
              <a:buAutoNum type="arabicPeriod"/>
            </a:pPr>
            <a:r>
              <a:rPr lang="en-US" altLang="en-US" sz="2400" dirty="0">
                <a:latin typeface="Arial (Body)"/>
              </a:rPr>
              <a:t>While Eurobanks derived a competitive advantage from escaping the required reserve tax, there was a social cost by reducing the stability of the banking system. </a:t>
            </a:r>
          </a:p>
        </p:txBody>
      </p:sp>
    </p:spTree>
    <p:extLst>
      <p:ext uri="{BB962C8B-B14F-4D97-AF65-F5344CB8AC3E}">
        <p14:creationId xmlns:p14="http://schemas.microsoft.com/office/powerpoint/2010/main" val="8925807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Financial Trilemma </a:t>
            </a:r>
            <a:r>
              <a:rPr lang="en-US" altLang="en-US" sz="2000" b="0" dirty="0"/>
              <a:t>(3 of 4)</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343900" cy="3538187"/>
          </a:xfrm>
        </p:spPr>
        <p:txBody>
          <a:bodyPr/>
          <a:lstStyle/>
          <a:p>
            <a:pPr marL="432000" indent="-432000" eaLnBrk="1" hangingPunct="1">
              <a:buFont typeface="+mj-lt"/>
              <a:buAutoNum type="arabicPeriod" startAt="3"/>
            </a:pPr>
            <a:r>
              <a:rPr lang="en-US" altLang="en-US" dirty="0">
                <a:latin typeface="Arial (Body)"/>
              </a:rPr>
              <a:t>Bank examination to enforce capital requirements and asset restrictions is difficult in an international setting. </a:t>
            </a:r>
          </a:p>
          <a:p>
            <a:pPr marL="432000" indent="-432000" eaLnBrk="1" hangingPunct="1">
              <a:buFont typeface="Verdana" pitchFamily="34" charset="0"/>
              <a:buAutoNum type="arabicPeriod" startAt="3"/>
            </a:pPr>
            <a:r>
              <a:rPr lang="en-US" altLang="en-US" dirty="0">
                <a:latin typeface="Arial (Body)"/>
              </a:rPr>
              <a:t>Several governments may have to share operational and financial responsibility for a rescue or reorganization.</a:t>
            </a:r>
          </a:p>
        </p:txBody>
      </p:sp>
    </p:spTree>
    <p:extLst>
      <p:ext uri="{BB962C8B-B14F-4D97-AF65-F5344CB8AC3E}">
        <p14:creationId xmlns:p14="http://schemas.microsoft.com/office/powerpoint/2010/main" val="2493672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The Financial Trilemma </a:t>
            </a:r>
            <a:r>
              <a:rPr lang="en-US" altLang="en-US" sz="2000" b="0" dirty="0"/>
              <a:t>(4 of 4)</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29600" cy="1224000"/>
          </a:xfrm>
        </p:spPr>
        <p:txBody>
          <a:bodyPr/>
          <a:lstStyle/>
          <a:p>
            <a:pPr marL="255600"/>
            <a:r>
              <a:rPr lang="en-US" altLang="en-US" sz="2400" dirty="0">
                <a:latin typeface="Arial (Body)"/>
              </a:rPr>
              <a:t>A </a:t>
            </a:r>
            <a:r>
              <a:rPr lang="en-US" altLang="en-US" sz="2400" b="1" dirty="0">
                <a:latin typeface="Arial (Body)"/>
              </a:rPr>
              <a:t>financial trilemma </a:t>
            </a:r>
            <a:r>
              <a:rPr lang="en-US" altLang="en-US" sz="2400" dirty="0">
                <a:latin typeface="Arial (Body)"/>
              </a:rPr>
              <a:t>constrains what policymakers in an open economy can achieve. At most two goals from the following list of three are simultaneously feasible:</a:t>
            </a:r>
            <a:endParaRPr lang="en-US" altLang="en-US" dirty="0">
              <a:latin typeface="Arial (Body)"/>
            </a:endParaRPr>
          </a:p>
        </p:txBody>
      </p:sp>
      <p:sp>
        <p:nvSpPr>
          <p:cNvPr id="3" name="Content Placeholder 2">
            <a:extLst>
              <a:ext uri="{FF2B5EF4-FFF2-40B4-BE49-F238E27FC236}">
                <a16:creationId xmlns:a16="http://schemas.microsoft.com/office/drawing/2014/main" id="{4955DBB7-C1DA-46C6-BB13-7FCBD6E1FA84}"/>
              </a:ext>
            </a:extLst>
          </p:cNvPr>
          <p:cNvSpPr>
            <a:spLocks noGrp="1"/>
          </p:cNvSpPr>
          <p:nvPr>
            <p:ph sz="quarter" idx="14"/>
          </p:nvPr>
        </p:nvSpPr>
        <p:spPr>
          <a:xfrm>
            <a:off x="457200" y="2982792"/>
            <a:ext cx="8229600" cy="2105025"/>
          </a:xfrm>
        </p:spPr>
        <p:txBody>
          <a:bodyPr/>
          <a:lstStyle/>
          <a:p>
            <a:pPr marL="432000" indent="-432000" eaLnBrk="1" hangingPunct="1">
              <a:buFont typeface="Verdana" pitchFamily="34" charset="0"/>
              <a:buAutoNum type="arabicPeriod"/>
            </a:pPr>
            <a:r>
              <a:rPr lang="en-US" altLang="en-US" sz="2400" dirty="0">
                <a:latin typeface="Arial (Body)"/>
              </a:rPr>
              <a:t> Financial stability.</a:t>
            </a:r>
          </a:p>
          <a:p>
            <a:pPr marL="432000" indent="-432000" eaLnBrk="1" hangingPunct="1">
              <a:buFont typeface="Verdana" pitchFamily="34" charset="0"/>
              <a:buAutoNum type="arabicPeriod"/>
            </a:pPr>
            <a:r>
              <a:rPr lang="en-US" altLang="en-US" sz="2400" dirty="0">
                <a:latin typeface="Arial (Body)"/>
              </a:rPr>
              <a:t> National control over financial safeguard policy.</a:t>
            </a:r>
          </a:p>
          <a:p>
            <a:pPr marL="432000" indent="-432000" eaLnBrk="1" hangingPunct="1">
              <a:buFont typeface="Verdana" pitchFamily="34" charset="0"/>
              <a:buAutoNum type="arabicPeriod"/>
            </a:pPr>
            <a:r>
              <a:rPr lang="en-US" altLang="en-US" sz="2400" dirty="0">
                <a:latin typeface="Arial (Body)"/>
              </a:rPr>
              <a:t> Freedom of international capital movements</a:t>
            </a:r>
            <a:endParaRPr lang="en-US" dirty="0"/>
          </a:p>
        </p:txBody>
      </p:sp>
    </p:spTree>
    <p:extLst>
      <p:ext uri="{BB962C8B-B14F-4D97-AF65-F5344CB8AC3E}">
        <p14:creationId xmlns:p14="http://schemas.microsoft.com/office/powerpoint/2010/main" val="2307768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International Regulatory Cooperation </a:t>
            </a:r>
            <a:r>
              <a:rPr lang="en-US" altLang="en-US" sz="2000" b="0" dirty="0"/>
              <a:t>(1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082643" cy="3783116"/>
          </a:xfrm>
        </p:spPr>
        <p:txBody>
          <a:bodyPr/>
          <a:lstStyle/>
          <a:p>
            <a:pPr eaLnBrk="1" hangingPunct="1"/>
            <a:r>
              <a:rPr lang="en-US" altLang="en-US" b="1" dirty="0">
                <a:latin typeface="Arial (Body)"/>
              </a:rPr>
              <a:t>Basel accords</a:t>
            </a:r>
            <a:r>
              <a:rPr lang="en-US" altLang="en-US" dirty="0">
                <a:latin typeface="Arial (Body)"/>
              </a:rPr>
              <a:t> (in 1988 and 2006) provide standard regulations and accounting for international financial institutions.</a:t>
            </a:r>
          </a:p>
          <a:p>
            <a:pPr marL="741600" lvl="1" eaLnBrk="1" hangingPunct="1"/>
            <a:r>
              <a:rPr lang="en-US" altLang="en-US" dirty="0">
                <a:latin typeface="Arial (Body)"/>
              </a:rPr>
              <a:t>1988 accords tried to make bank capital measurements standard across countries.</a:t>
            </a:r>
          </a:p>
          <a:p>
            <a:pPr marL="741600" lvl="1" eaLnBrk="1" hangingPunct="1"/>
            <a:r>
              <a:rPr lang="en-US" altLang="en-US" dirty="0">
                <a:latin typeface="Arial (Body)"/>
              </a:rPr>
              <a:t>They developed risk-based capital requirements, where more risky assets require a higher amount of bank capital.</a:t>
            </a:r>
          </a:p>
        </p:txBody>
      </p:sp>
    </p:spTree>
    <p:extLst>
      <p:ext uri="{BB962C8B-B14F-4D97-AF65-F5344CB8AC3E}">
        <p14:creationId xmlns:p14="http://schemas.microsoft.com/office/powerpoint/2010/main" val="4115838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International Regulatory Cooperation </a:t>
            </a:r>
            <a:r>
              <a:rPr lang="en-US" altLang="en-US" sz="2000" b="0" dirty="0"/>
              <a:t>(2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2574"/>
            <a:ext cx="8229600" cy="1606261"/>
          </a:xfrm>
        </p:spPr>
        <p:txBody>
          <a:bodyPr/>
          <a:lstStyle/>
          <a:p>
            <a:pPr eaLnBrk="1" hangingPunct="1"/>
            <a:r>
              <a:rPr lang="en-US" altLang="en-US" b="1" dirty="0">
                <a:latin typeface="Arial (Body)"/>
              </a:rPr>
              <a:t>Core principles of effective banking supervision </a:t>
            </a:r>
            <a:r>
              <a:rPr lang="en-US" altLang="en-US" dirty="0">
                <a:latin typeface="Arial (Body)"/>
              </a:rPr>
              <a:t>was developed by the Basel Committee in 1997 for countries without adequate banking regulations and accounting standards.</a:t>
            </a:r>
          </a:p>
        </p:txBody>
      </p:sp>
      <p:sp>
        <p:nvSpPr>
          <p:cNvPr id="17" name="Content Placeholder 16">
            <a:extLst>
              <a:ext uri="{FF2B5EF4-FFF2-40B4-BE49-F238E27FC236}">
                <a16:creationId xmlns:a16="http://schemas.microsoft.com/office/drawing/2014/main" id="{ABAA4BAA-1B65-44A6-BDD4-D6DE96D2941F}"/>
              </a:ext>
            </a:extLst>
          </p:cNvPr>
          <p:cNvSpPr>
            <a:spLocks noGrp="1"/>
          </p:cNvSpPr>
          <p:nvPr>
            <p:ph sz="quarter" idx="14"/>
          </p:nvPr>
        </p:nvSpPr>
        <p:spPr>
          <a:xfrm>
            <a:off x="457200" y="3214297"/>
            <a:ext cx="8229600" cy="484866"/>
          </a:xfrm>
        </p:spPr>
        <p:txBody>
          <a:bodyPr/>
          <a:lstStyle/>
          <a:p>
            <a:r>
              <a:rPr lang="en-US" altLang="en-US" dirty="0">
                <a:latin typeface="Arial (Body)"/>
              </a:rPr>
              <a:t>The financial crisis made obvious the inadequacies of the</a:t>
            </a:r>
            <a:endParaRPr lang="en-IN" dirty="0"/>
          </a:p>
        </p:txBody>
      </p:sp>
      <p:graphicFrame>
        <p:nvGraphicFramePr>
          <p:cNvPr id="30" name="Object 29" descr="Basel two">
            <a:extLst>
              <a:ext uri="{FF2B5EF4-FFF2-40B4-BE49-F238E27FC236}">
                <a16:creationId xmlns:a16="http://schemas.microsoft.com/office/drawing/2014/main" id="{01358E11-5A54-4DE9-89A5-0694BC969862}"/>
              </a:ext>
            </a:extLst>
          </p:cNvPr>
          <p:cNvGraphicFramePr>
            <a:graphicFrameLocks noChangeAspect="1"/>
          </p:cNvGraphicFramePr>
          <p:nvPr>
            <p:extLst>
              <p:ext uri="{D42A27DB-BD31-4B8C-83A1-F6EECF244321}">
                <p14:modId xmlns:p14="http://schemas.microsoft.com/office/powerpoint/2010/main" val="1646664402"/>
              </p:ext>
            </p:extLst>
          </p:nvPr>
        </p:nvGraphicFramePr>
        <p:xfrm>
          <a:off x="821450" y="3799169"/>
          <a:ext cx="1023231" cy="355906"/>
        </p:xfrm>
        <a:graphic>
          <a:graphicData uri="http://schemas.openxmlformats.org/presentationml/2006/ole">
            <mc:AlternateContent xmlns:mc="http://schemas.openxmlformats.org/markup-compatibility/2006">
              <mc:Choice xmlns:v="urn:schemas-microsoft-com:vml" Requires="v">
                <p:oleObj spid="_x0000_s66762" name="Equation" r:id="rId3" imgW="876240" imgH="304560" progId="Equation.DSMT4">
                  <p:embed/>
                </p:oleObj>
              </mc:Choice>
              <mc:Fallback>
                <p:oleObj name="Equation" r:id="rId3" imgW="876240" imgH="304560" progId="Equation.DSMT4">
                  <p:embed/>
                  <p:pic>
                    <p:nvPicPr>
                      <p:cNvPr id="0" name=""/>
                      <p:cNvPicPr/>
                      <p:nvPr/>
                    </p:nvPicPr>
                    <p:blipFill>
                      <a:blip r:embed="rId4"/>
                      <a:stretch>
                        <a:fillRect/>
                      </a:stretch>
                    </p:blipFill>
                    <p:spPr>
                      <a:xfrm>
                        <a:off x="821450" y="3799169"/>
                        <a:ext cx="1023231" cy="355906"/>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D134FA80-0C27-4741-B409-D5D42AE634BF}"/>
              </a:ext>
            </a:extLst>
          </p:cNvPr>
          <p:cNvSpPr>
            <a:spLocks noGrp="1"/>
          </p:cNvSpPr>
          <p:nvPr>
            <p:ph sz="quarter" idx="15"/>
          </p:nvPr>
        </p:nvSpPr>
        <p:spPr>
          <a:xfrm>
            <a:off x="1995058" y="3755017"/>
            <a:ext cx="6068291" cy="416501"/>
          </a:xfrm>
        </p:spPr>
        <p:txBody>
          <a:bodyPr lIns="0" tIns="0" bIns="0"/>
          <a:lstStyle/>
          <a:p>
            <a:pPr marL="432" indent="0">
              <a:buNone/>
            </a:pPr>
            <a:r>
              <a:rPr lang="en-US" altLang="en-US" dirty="0">
                <a:latin typeface="Arial (Body)"/>
              </a:rPr>
              <a:t>regulatory framework, so in 2010 the Basel</a:t>
            </a:r>
            <a:endParaRPr lang="en-IN" dirty="0"/>
          </a:p>
        </p:txBody>
      </p:sp>
      <p:sp>
        <p:nvSpPr>
          <p:cNvPr id="19" name="Content Placeholder 18">
            <a:extLst>
              <a:ext uri="{FF2B5EF4-FFF2-40B4-BE49-F238E27FC236}">
                <a16:creationId xmlns:a16="http://schemas.microsoft.com/office/drawing/2014/main" id="{039A3138-98DF-4437-8DA0-3609D22FCFD6}"/>
              </a:ext>
            </a:extLst>
          </p:cNvPr>
          <p:cNvSpPr>
            <a:spLocks noGrp="1"/>
          </p:cNvSpPr>
          <p:nvPr>
            <p:ph sz="quarter" idx="16"/>
          </p:nvPr>
        </p:nvSpPr>
        <p:spPr>
          <a:xfrm>
            <a:off x="712635" y="4221019"/>
            <a:ext cx="7974165" cy="766622"/>
          </a:xfrm>
        </p:spPr>
        <p:txBody>
          <a:bodyPr tIns="0" bIns="0"/>
          <a:lstStyle/>
          <a:p>
            <a:pPr marL="432" indent="0">
              <a:buNone/>
            </a:pPr>
            <a:r>
              <a:rPr lang="en-US" altLang="en-US" dirty="0">
                <a:latin typeface="Arial (Body)"/>
              </a:rPr>
              <a:t>Committee proposed a tougher set of capital standards and regulatory safeguards for international banks, </a:t>
            </a:r>
            <a:r>
              <a:rPr lang="en-US" altLang="en-US" b="1" dirty="0">
                <a:latin typeface="Arial (Body)"/>
              </a:rPr>
              <a:t>Basel</a:t>
            </a:r>
            <a:endParaRPr lang="en-IN" dirty="0"/>
          </a:p>
        </p:txBody>
      </p:sp>
      <p:graphicFrame>
        <p:nvGraphicFramePr>
          <p:cNvPr id="31" name="Object 30" descr="three.">
            <a:extLst>
              <a:ext uri="{FF2B5EF4-FFF2-40B4-BE49-F238E27FC236}">
                <a16:creationId xmlns:a16="http://schemas.microsoft.com/office/drawing/2014/main" id="{ABC68F4A-C92D-4603-9D3F-8DB779834080}"/>
              </a:ext>
            </a:extLst>
          </p:cNvPr>
          <p:cNvGraphicFramePr>
            <a:graphicFrameLocks noChangeAspect="1"/>
          </p:cNvGraphicFramePr>
          <p:nvPr>
            <p:extLst>
              <p:ext uri="{D42A27DB-BD31-4B8C-83A1-F6EECF244321}">
                <p14:modId xmlns:p14="http://schemas.microsoft.com/office/powerpoint/2010/main" val="2897121494"/>
              </p:ext>
            </p:extLst>
          </p:nvPr>
        </p:nvGraphicFramePr>
        <p:xfrm>
          <a:off x="842376" y="5065775"/>
          <a:ext cx="368012" cy="291523"/>
        </p:xfrm>
        <a:graphic>
          <a:graphicData uri="http://schemas.openxmlformats.org/presentationml/2006/ole">
            <mc:AlternateContent xmlns:mc="http://schemas.openxmlformats.org/markup-compatibility/2006">
              <mc:Choice xmlns:v="urn:schemas-microsoft-com:vml" Requires="v">
                <p:oleObj spid="_x0000_s66763" name="Equation" r:id="rId5" imgW="304560" imgH="241200" progId="Equation.DSMT4">
                  <p:embed/>
                </p:oleObj>
              </mc:Choice>
              <mc:Fallback>
                <p:oleObj name="Equation" r:id="rId5" imgW="304560" imgH="241200" progId="Equation.DSMT4">
                  <p:embed/>
                  <p:pic>
                    <p:nvPicPr>
                      <p:cNvPr id="0" name=""/>
                      <p:cNvPicPr/>
                      <p:nvPr/>
                    </p:nvPicPr>
                    <p:blipFill>
                      <a:blip r:embed="rId6"/>
                      <a:stretch>
                        <a:fillRect/>
                      </a:stretch>
                    </p:blipFill>
                    <p:spPr>
                      <a:xfrm>
                        <a:off x="842376" y="5065775"/>
                        <a:ext cx="368012" cy="291523"/>
                      </a:xfrm>
                      <a:prstGeom prst="rect">
                        <a:avLst/>
                      </a:prstGeom>
                    </p:spPr>
                  </p:pic>
                </p:oleObj>
              </mc:Fallback>
            </mc:AlternateContent>
          </a:graphicData>
        </a:graphic>
      </p:graphicFrame>
    </p:spTree>
    <p:extLst>
      <p:ext uri="{BB962C8B-B14F-4D97-AF65-F5344CB8AC3E}">
        <p14:creationId xmlns:p14="http://schemas.microsoft.com/office/powerpoint/2010/main" val="383043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000" dirty="0"/>
              <a:t>International Regulatory Cooperation </a:t>
            </a:r>
            <a:r>
              <a:rPr lang="en-US" altLang="en-US" sz="2000" b="0" dirty="0"/>
              <a:t>(3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200" y="1556327"/>
            <a:ext cx="8229600" cy="3293259"/>
          </a:xfrm>
        </p:spPr>
        <p:txBody>
          <a:bodyPr/>
          <a:lstStyle/>
          <a:p>
            <a:pPr eaLnBrk="1" hangingPunct="1"/>
            <a:r>
              <a:rPr lang="en-US" altLang="en-US" dirty="0">
                <a:latin typeface="Arial (Body)"/>
              </a:rPr>
              <a:t>In April 2009, at the height of the global crisis, the Financial Stability Forum became the </a:t>
            </a:r>
            <a:r>
              <a:rPr lang="en-US" altLang="en-US" b="1" dirty="0">
                <a:latin typeface="Arial (Body)"/>
              </a:rPr>
              <a:t>Financial Stability Board</a:t>
            </a:r>
            <a:r>
              <a:rPr lang="en-US" altLang="en-US" dirty="0">
                <a:latin typeface="Arial (Body)"/>
              </a:rPr>
              <a:t> (F</a:t>
            </a:r>
            <a:r>
              <a:rPr lang="en-US" altLang="en-US" sz="100" dirty="0">
                <a:latin typeface="Arial (Body)"/>
              </a:rPr>
              <a:t> </a:t>
            </a:r>
            <a:r>
              <a:rPr lang="en-US" altLang="en-US" dirty="0">
                <a:latin typeface="Arial (Body)"/>
              </a:rPr>
              <a:t>S</a:t>
            </a:r>
            <a:r>
              <a:rPr lang="en-US" altLang="en-US" sz="100" dirty="0">
                <a:latin typeface="Arial (Body)"/>
              </a:rPr>
              <a:t> </a:t>
            </a:r>
            <a:r>
              <a:rPr lang="en-US" altLang="en-US" dirty="0">
                <a:latin typeface="Arial (Body)"/>
              </a:rPr>
              <a:t>B), with a broader membership (including a number of emerging market economies) and a larger permanent staff.</a:t>
            </a:r>
          </a:p>
          <a:p>
            <a:pPr eaLnBrk="1" hangingPunct="1"/>
            <a:r>
              <a:rPr lang="en-US" altLang="en-US" dirty="0">
                <a:latin typeface="Arial (Body)"/>
              </a:rPr>
              <a:t>Many countries have embarked on far-reaching </a:t>
            </a:r>
            <a:r>
              <a:rPr lang="en-US" altLang="en-US" b="1" dirty="0">
                <a:latin typeface="Arial (Body)"/>
              </a:rPr>
              <a:t>national reforms </a:t>
            </a:r>
            <a:r>
              <a:rPr lang="en-US" altLang="en-US" dirty="0">
                <a:latin typeface="Arial (Body)"/>
              </a:rPr>
              <a:t>of their financial systems.</a:t>
            </a:r>
          </a:p>
        </p:txBody>
      </p:sp>
    </p:spTree>
    <p:extLst>
      <p:ext uri="{BB962C8B-B14F-4D97-AF65-F5344CB8AC3E}">
        <p14:creationId xmlns:p14="http://schemas.microsoft.com/office/powerpoint/2010/main" val="800782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latin typeface="+mn-lt"/>
              </a:rPr>
              <a:t>The Macroprudential Perspective</a:t>
            </a:r>
            <a:endParaRPr lang="en-US" dirty="0">
              <a:latin typeface="+mn-lt"/>
            </a:endParaRPr>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199" y="1556327"/>
            <a:ext cx="8376557" cy="4632202"/>
          </a:xfrm>
        </p:spPr>
        <p:txBody>
          <a:bodyPr/>
          <a:lstStyle/>
          <a:p>
            <a:r>
              <a:rPr lang="en-US" altLang="en-US" dirty="0">
                <a:latin typeface="Arial (Body)"/>
              </a:rPr>
              <a:t>Ensuring that each individual financial institution is sound will not ensure that the financial system as a whole is sound.</a:t>
            </a:r>
          </a:p>
          <a:p>
            <a:pPr eaLnBrk="1" hangingPunct="1"/>
            <a:r>
              <a:rPr lang="en-US" altLang="en-US" dirty="0">
                <a:latin typeface="Arial (Body)"/>
              </a:rPr>
              <a:t>National financial regulators often face fierce lobbying from their home financial institutions, which argue that stricter rules would put them at a disadvantage relative to foreign rivals.</a:t>
            </a:r>
          </a:p>
          <a:p>
            <a:pPr eaLnBrk="1" hangingPunct="1"/>
            <a:r>
              <a:rPr lang="en-US" altLang="en-US" dirty="0">
                <a:latin typeface="Arial (Body)"/>
              </a:rPr>
              <a:t>The Basel multilateral process plays an essential role in allowing governments to overcome domestic political pressures against adequate oversight and control of the financial sector.</a:t>
            </a:r>
          </a:p>
        </p:txBody>
      </p:sp>
    </p:spTree>
    <p:extLst>
      <p:ext uri="{BB962C8B-B14F-4D97-AF65-F5344CB8AC3E}">
        <p14:creationId xmlns:p14="http://schemas.microsoft.com/office/powerpoint/2010/main" val="626641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800" dirty="0"/>
              <a:t>The </a:t>
            </a:r>
            <a:r>
              <a:rPr lang="en-US" sz="2800" dirty="0"/>
              <a:t>Global Financial Crisis of 2007–2009</a:t>
            </a:r>
            <a:r>
              <a:rPr lang="en-US" altLang="en-US" sz="2800" dirty="0"/>
              <a:t> </a:t>
            </a:r>
            <a:r>
              <a:rPr lang="en-US" altLang="en-US" sz="2000" b="0" dirty="0"/>
              <a:t>(1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199" y="1556327"/>
            <a:ext cx="8376557" cy="4716000"/>
          </a:xfrm>
        </p:spPr>
        <p:txBody>
          <a:bodyPr/>
          <a:lstStyle/>
          <a:p>
            <a:r>
              <a:rPr lang="en-US" sz="2200" dirty="0">
                <a:latin typeface="Arial (Body)"/>
              </a:rPr>
              <a:t>The global financial and economic meltdown of 2007–2009 was the worst since the Great Depression. </a:t>
            </a:r>
          </a:p>
          <a:p>
            <a:r>
              <a:rPr lang="en-US" sz="2200" dirty="0">
                <a:latin typeface="Arial (Body)"/>
              </a:rPr>
              <a:t>Banks throughout the world failed or required extensive government support to survive; the global financial system froze; and the entire world economy was thrown into recession. </a:t>
            </a:r>
          </a:p>
          <a:p>
            <a:r>
              <a:rPr lang="en-US" sz="2200" dirty="0">
                <a:latin typeface="Arial (Body)"/>
              </a:rPr>
              <a:t>Unlike some recessions, this one originated in a shock to financial markets, and the shock was transmitted from country to country by financial markets, at lightning speed.</a:t>
            </a:r>
          </a:p>
          <a:p>
            <a:r>
              <a:rPr lang="en-US" sz="2200" dirty="0">
                <a:latin typeface="Arial (Body)"/>
              </a:rPr>
              <a:t>The crisis had a seemingly unlikely source: the U.S. mortgage market.</a:t>
            </a:r>
            <a:endParaRPr lang="en-US" altLang="en-US" sz="2200" dirty="0">
              <a:latin typeface="Arial (Body)"/>
            </a:endParaRPr>
          </a:p>
        </p:txBody>
      </p:sp>
    </p:spTree>
    <p:extLst>
      <p:ext uri="{BB962C8B-B14F-4D97-AF65-F5344CB8AC3E}">
        <p14:creationId xmlns:p14="http://schemas.microsoft.com/office/powerpoint/2010/main" val="24255301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800" dirty="0"/>
              <a:t>The </a:t>
            </a:r>
            <a:r>
              <a:rPr lang="en-US" sz="2800" dirty="0"/>
              <a:t>Global Financial Crisis of 2007–2009</a:t>
            </a:r>
            <a:r>
              <a:rPr lang="en-US" altLang="en-US" sz="2800" dirty="0"/>
              <a:t> </a:t>
            </a:r>
            <a:r>
              <a:rPr lang="en-US" altLang="en-US" sz="2000" b="0" dirty="0"/>
              <a:t>(2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199" y="1556327"/>
            <a:ext cx="8376557" cy="4716000"/>
          </a:xfrm>
        </p:spPr>
        <p:txBody>
          <a:bodyPr/>
          <a:lstStyle/>
          <a:p>
            <a:r>
              <a:rPr lang="en-US" dirty="0">
                <a:latin typeface="Arial (Body)"/>
              </a:rPr>
              <a:t>In the mid-2000s, U.S. interest rates were very low and U.S. home prices bubbled upward, with mortgage lenders extending loans to borrowers with shaky credit. </a:t>
            </a:r>
          </a:p>
          <a:p>
            <a:r>
              <a:rPr lang="en-US" dirty="0">
                <a:latin typeface="Arial (Body)"/>
              </a:rPr>
              <a:t>Then U.S. interest rates started moving up as the Federal Reserve gradually tightened monetary policy to ward off inflation. </a:t>
            </a:r>
          </a:p>
          <a:p>
            <a:pPr lvl="1"/>
            <a:r>
              <a:rPr lang="en-US" dirty="0">
                <a:latin typeface="Arial (Body)"/>
              </a:rPr>
              <a:t>U.S. housing prices started to decline in 2006.</a:t>
            </a:r>
          </a:p>
          <a:p>
            <a:r>
              <a:rPr lang="en-US" dirty="0">
                <a:latin typeface="Arial (Body)"/>
              </a:rPr>
              <a:t>As subprime borrowers increasingly missed their payments during 2007, lenders became more aware of the risks they faced and pulled back from markets.</a:t>
            </a:r>
          </a:p>
        </p:txBody>
      </p:sp>
    </p:spTree>
    <p:extLst>
      <p:ext uri="{BB962C8B-B14F-4D97-AF65-F5344CB8AC3E}">
        <p14:creationId xmlns:p14="http://schemas.microsoft.com/office/powerpoint/2010/main" val="5682206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2800" dirty="0"/>
              <a:t>The </a:t>
            </a:r>
            <a:r>
              <a:rPr lang="en-US" sz="2800" dirty="0"/>
              <a:t>Global Financial Crisis of 2007–2009</a:t>
            </a:r>
            <a:r>
              <a:rPr lang="en-US" altLang="en-US" sz="2800" dirty="0"/>
              <a:t> </a:t>
            </a:r>
            <a:r>
              <a:rPr lang="en-US" altLang="en-US" sz="2000" b="0" dirty="0"/>
              <a:t>(3 of 3)</a:t>
            </a:r>
            <a:endParaRPr lang="en-US" sz="2000" dirty="0"/>
          </a:p>
        </p:txBody>
      </p:sp>
      <p:sp>
        <p:nvSpPr>
          <p:cNvPr id="8" name="Content Placeholder 7">
            <a:extLst>
              <a:ext uri="{FF2B5EF4-FFF2-40B4-BE49-F238E27FC236}">
                <a16:creationId xmlns:a16="http://schemas.microsoft.com/office/drawing/2014/main" id="{99F03483-5DA1-4D7D-9C96-0B71170D7F61}"/>
              </a:ext>
            </a:extLst>
          </p:cNvPr>
          <p:cNvSpPr>
            <a:spLocks noGrp="1"/>
          </p:cNvSpPr>
          <p:nvPr>
            <p:ph sz="quarter" idx="13"/>
          </p:nvPr>
        </p:nvSpPr>
        <p:spPr>
          <a:xfrm>
            <a:off x="457199" y="1556327"/>
            <a:ext cx="8376557" cy="4716000"/>
          </a:xfrm>
        </p:spPr>
        <p:txBody>
          <a:bodyPr/>
          <a:lstStyle/>
          <a:p>
            <a:r>
              <a:rPr lang="en-US" dirty="0">
                <a:latin typeface="Arial (Body)"/>
              </a:rPr>
              <a:t>Despite central banks providing markets with extensive liquidity support, stock markets fell everywhere.</a:t>
            </a:r>
          </a:p>
          <a:p>
            <a:r>
              <a:rPr lang="en-US" dirty="0">
                <a:latin typeface="Arial (Body)"/>
              </a:rPr>
              <a:t>The U.S. economy slipped into recession late in 2007, pushed by lack of credit and a collapsing housing market.</a:t>
            </a:r>
          </a:p>
          <a:p>
            <a:r>
              <a:rPr lang="en-US" dirty="0">
                <a:latin typeface="Arial (Body)"/>
              </a:rPr>
              <a:t>American money market mutual funds suffered a run and had their liabilities guaranteed by the U.S. Treasury.</a:t>
            </a:r>
          </a:p>
          <a:p>
            <a:r>
              <a:rPr lang="en-US" dirty="0">
                <a:latin typeface="Arial (Body)"/>
              </a:rPr>
              <a:t>The U.S. Congress allocated $700 billion to buy troubled assets from banks, in hopes that of allowing them to resume normal lending.</a:t>
            </a:r>
          </a:p>
          <a:p>
            <a:r>
              <a:rPr lang="en-US" dirty="0">
                <a:latin typeface="Arial (Body)"/>
              </a:rPr>
              <a:t>These problems spread globally. Recovery was quite slow.</a:t>
            </a:r>
            <a:endParaRPr lang="en-US" altLang="en-US" dirty="0">
              <a:latin typeface="Arial (Body)"/>
            </a:endParaRPr>
          </a:p>
        </p:txBody>
      </p:sp>
    </p:spTree>
    <p:extLst>
      <p:ext uri="{BB962C8B-B14F-4D97-AF65-F5344CB8AC3E}">
        <p14:creationId xmlns:p14="http://schemas.microsoft.com/office/powerpoint/2010/main" val="4178290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Cross-Border Bank Positions in Dollars and Euros, 1999–2019</a:t>
            </a:r>
            <a:endParaRPr lang="en-US" sz="3200" dirty="0"/>
          </a:p>
        </p:txBody>
      </p:sp>
      <p:pic>
        <p:nvPicPr>
          <p:cNvPr id="6" name="Content Placeholder 5" descr="The graph plots trillions of U S dollars versus decades of years, from 19 99 to 20 19. For long description in Notes pane, press F6.">
            <a:extLst>
              <a:ext uri="{FF2B5EF4-FFF2-40B4-BE49-F238E27FC236}">
                <a16:creationId xmlns:a16="http://schemas.microsoft.com/office/drawing/2014/main" id="{A3DF598F-A949-4002-AC21-C6387C325005}"/>
              </a:ext>
            </a:extLst>
          </p:cNvPr>
          <p:cNvPicPr>
            <a:picLocks noGrp="1" noChangeAspect="1"/>
          </p:cNvPicPr>
          <p:nvPr>
            <p:ph sz="quarter" idx="13"/>
          </p:nvPr>
        </p:nvPicPr>
        <p:blipFill>
          <a:blip r:embed="rId3"/>
          <a:stretch>
            <a:fillRect/>
          </a:stretch>
        </p:blipFill>
        <p:spPr>
          <a:xfrm>
            <a:off x="2153051" y="1481840"/>
            <a:ext cx="4837897" cy="3036856"/>
          </a:xfrm>
        </p:spPr>
      </p:pic>
      <p:sp>
        <p:nvSpPr>
          <p:cNvPr id="4" name="Content Placeholder 3">
            <a:extLst>
              <a:ext uri="{FF2B5EF4-FFF2-40B4-BE49-F238E27FC236}">
                <a16:creationId xmlns:a16="http://schemas.microsoft.com/office/drawing/2014/main" id="{097FE3C1-AFCF-462B-9AC1-B054AC541D01}"/>
              </a:ext>
            </a:extLst>
          </p:cNvPr>
          <p:cNvSpPr>
            <a:spLocks noGrp="1"/>
          </p:cNvSpPr>
          <p:nvPr>
            <p:ph sz="quarter" idx="14"/>
          </p:nvPr>
        </p:nvSpPr>
        <p:spPr>
          <a:xfrm>
            <a:off x="457200" y="4739369"/>
            <a:ext cx="8229600" cy="1568521"/>
          </a:xfrm>
        </p:spPr>
        <p:txBody>
          <a:bodyPr/>
          <a:lstStyle/>
          <a:p>
            <a:pPr marL="0" indent="0">
              <a:buNone/>
            </a:pPr>
            <a:r>
              <a:rPr lang="en-US" sz="2000" dirty="0">
                <a:latin typeface="Arial (Body)"/>
              </a:rPr>
              <a:t>Data on international banking transactions illustrate how the U.S. dollar is the world’s premier funding currency, far outstripping the euro.</a:t>
            </a:r>
          </a:p>
          <a:p>
            <a:pPr marL="0" indent="0">
              <a:buNone/>
            </a:pPr>
            <a:r>
              <a:rPr lang="en-US" sz="2000" b="1" dirty="0">
                <a:latin typeface="Arial (Body)"/>
              </a:rPr>
              <a:t>Source: </a:t>
            </a:r>
            <a:r>
              <a:rPr lang="en-US" sz="2000" dirty="0">
                <a:latin typeface="Arial (Body)"/>
              </a:rPr>
              <a:t>Bank for international Settlements</a:t>
            </a:r>
            <a:r>
              <a:rPr lang="en-US" sz="2000" i="1" dirty="0">
                <a:latin typeface="Arial (Body)"/>
              </a:rPr>
              <a:t>, </a:t>
            </a:r>
            <a:r>
              <a:rPr lang="en-US" sz="2000" dirty="0">
                <a:latin typeface="Arial (Body)"/>
              </a:rPr>
              <a:t>Locational Banking Statistics</a:t>
            </a:r>
            <a:r>
              <a:rPr lang="en-US" sz="2000" i="1" dirty="0">
                <a:latin typeface="Arial (Body)"/>
              </a:rPr>
              <a:t> </a:t>
            </a:r>
            <a:r>
              <a:rPr lang="en-US" sz="2000" dirty="0">
                <a:latin typeface="Arial (Body)"/>
              </a:rPr>
              <a:t>data on reporting banks.</a:t>
            </a:r>
            <a:endParaRPr lang="en-US" sz="2000" dirty="0"/>
          </a:p>
        </p:txBody>
      </p:sp>
    </p:spTree>
    <p:extLst>
      <p:ext uri="{BB962C8B-B14F-4D97-AF65-F5344CB8AC3E}">
        <p14:creationId xmlns:p14="http://schemas.microsoft.com/office/powerpoint/2010/main" val="2702266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International Portfolio Diversification </a:t>
            </a:r>
            <a:r>
              <a:rPr lang="en-US" altLang="en-US" sz="2000" b="0" dirty="0"/>
              <a:t>(1 of 2)</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6"/>
            <a:ext cx="8229600" cy="4664860"/>
          </a:xfrm>
        </p:spPr>
        <p:txBody>
          <a:bodyPr/>
          <a:lstStyle/>
          <a:p>
            <a:r>
              <a:rPr lang="en-US" altLang="en-US" sz="2200" dirty="0">
                <a:latin typeface="Arial (Body)"/>
              </a:rPr>
              <a:t>In 2008, U.S.-owned assets in foreign countries represented about 46.6% of U.S. capital, while foreign assets in the United States represented about 54.7% of U.S. capital.</a:t>
            </a:r>
          </a:p>
          <a:p>
            <a:pPr lvl="1"/>
            <a:r>
              <a:rPr lang="en-US" altLang="en-US" sz="2200" dirty="0">
                <a:latin typeface="Arial (Body)"/>
              </a:rPr>
              <a:t>These percentages are about 5 times as large as percentages from 1970, indicating that international capital markets have allowed investors to diversify.</a:t>
            </a:r>
          </a:p>
          <a:p>
            <a:pPr lvl="1"/>
            <a:r>
              <a:rPr lang="en-US" altLang="en-US" sz="2200" dirty="0">
                <a:latin typeface="Arial (Body)"/>
              </a:rPr>
              <a:t>In a fully diversified world economy, about 80% of U.S. capital would be owned by foreigners, while U.S. residents</a:t>
            </a:r>
            <a:r>
              <a:rPr lang="en-IN" altLang="en-US" sz="2200" dirty="0">
                <a:latin typeface="Arial (Body)"/>
              </a:rPr>
              <a:t>’ </a:t>
            </a:r>
            <a:r>
              <a:rPr lang="en-US" altLang="ja-JP" sz="2200" dirty="0">
                <a:latin typeface="Arial (Body)"/>
              </a:rPr>
              <a:t>claims on foreigners would equal around 80% of U.S. capital.</a:t>
            </a:r>
          </a:p>
          <a:p>
            <a:r>
              <a:rPr lang="en-US" altLang="en-US" sz="2200" dirty="0">
                <a:latin typeface="Arial (Body)"/>
              </a:rPr>
              <a:t>Likewise, foreign assets and liabilities as a percent of G</a:t>
            </a:r>
            <a:r>
              <a:rPr lang="en-US" altLang="en-US" sz="100" dirty="0">
                <a:latin typeface="Arial (Body)"/>
              </a:rPr>
              <a:t> </a:t>
            </a:r>
            <a:r>
              <a:rPr lang="en-US" altLang="en-US" sz="2200" dirty="0">
                <a:latin typeface="Arial (Body)"/>
              </a:rPr>
              <a:t>D</a:t>
            </a:r>
            <a:r>
              <a:rPr lang="en-US" altLang="en-US" sz="100" dirty="0">
                <a:latin typeface="Arial (Body)"/>
              </a:rPr>
              <a:t> </a:t>
            </a:r>
            <a:r>
              <a:rPr lang="en-US" altLang="en-US" sz="2200" dirty="0">
                <a:latin typeface="Arial (Body)"/>
              </a:rPr>
              <a:t>P has grown for the United States and other countries.</a:t>
            </a:r>
            <a:endParaRPr lang="en-US" sz="2200" dirty="0"/>
          </a:p>
        </p:txBody>
      </p:sp>
    </p:spTree>
    <p:extLst>
      <p:ext uri="{BB962C8B-B14F-4D97-AF65-F5344CB8AC3E}">
        <p14:creationId xmlns:p14="http://schemas.microsoft.com/office/powerpoint/2010/main" val="10014941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International Portfolio Diversification </a:t>
            </a:r>
            <a:r>
              <a:rPr lang="en-US" altLang="en-US" sz="2000" b="0" dirty="0"/>
              <a:t>(2 of 2)</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6"/>
            <a:ext cx="8229600" cy="4664860"/>
          </a:xfrm>
        </p:spPr>
        <p:txBody>
          <a:bodyPr/>
          <a:lstStyle/>
          <a:p>
            <a:pPr eaLnBrk="1" hangingPunct="1"/>
            <a:r>
              <a:rPr lang="en-US" altLang="en-US" dirty="0">
                <a:latin typeface="Arial (Body)"/>
              </a:rPr>
              <a:t>Still, some economists argue that it would be optimal if investors diversified more by investing more in foreign assets, avoiding the </a:t>
            </a:r>
            <a:r>
              <a:rPr lang="en-IN" altLang="en-US" dirty="0">
                <a:latin typeface="Arial (Body)"/>
              </a:rPr>
              <a:t>“</a:t>
            </a:r>
            <a:r>
              <a:rPr lang="en-US" altLang="ja-JP" dirty="0">
                <a:latin typeface="Arial (Body)"/>
              </a:rPr>
              <a:t>home bias</a:t>
            </a:r>
            <a:r>
              <a:rPr lang="en-IN" altLang="ja-JP" dirty="0">
                <a:latin typeface="Arial (Body)"/>
              </a:rPr>
              <a:t>”</a:t>
            </a:r>
            <a:r>
              <a:rPr lang="en-US" altLang="ja-JP" dirty="0">
                <a:latin typeface="Arial (Body)"/>
              </a:rPr>
              <a:t> of investment.</a:t>
            </a:r>
            <a:endParaRPr lang="en-US" altLang="en-US" dirty="0">
              <a:latin typeface="Arial (Body)"/>
            </a:endParaRPr>
          </a:p>
        </p:txBody>
      </p:sp>
    </p:spTree>
    <p:extLst>
      <p:ext uri="{BB962C8B-B14F-4D97-AF65-F5344CB8AC3E}">
        <p14:creationId xmlns:p14="http://schemas.microsoft.com/office/powerpoint/2010/main" val="3019552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International Intertemporal Trade </a:t>
            </a:r>
            <a:r>
              <a:rPr lang="en-US" altLang="en-US" sz="2000" b="0" dirty="0"/>
              <a:t>(1 of 2)</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7"/>
            <a:ext cx="8229600" cy="1350159"/>
          </a:xfrm>
        </p:spPr>
        <p:txBody>
          <a:bodyPr/>
          <a:lstStyle/>
          <a:p>
            <a:pPr eaLnBrk="1" hangingPunct="1">
              <a:lnSpc>
                <a:spcPct val="90000"/>
              </a:lnSpc>
            </a:pPr>
            <a:r>
              <a:rPr lang="en-US" altLang="en-US" sz="2200" dirty="0">
                <a:latin typeface="Arial (Body)"/>
              </a:rPr>
              <a:t>If some countries borrow for investment projects (for future production and consumption) while others lend to these countries, then national saving and investment levels should not be highly correlated.</a:t>
            </a:r>
          </a:p>
        </p:txBody>
      </p:sp>
      <p:sp>
        <p:nvSpPr>
          <p:cNvPr id="4" name="Content Placeholder 3">
            <a:extLst>
              <a:ext uri="{FF2B5EF4-FFF2-40B4-BE49-F238E27FC236}">
                <a16:creationId xmlns:a16="http://schemas.microsoft.com/office/drawing/2014/main" id="{7DE97513-F5A2-45F3-9F37-BDDE4CA7FDDB}"/>
              </a:ext>
            </a:extLst>
          </p:cNvPr>
          <p:cNvSpPr>
            <a:spLocks noGrp="1"/>
          </p:cNvSpPr>
          <p:nvPr>
            <p:ph sz="quarter" idx="15"/>
          </p:nvPr>
        </p:nvSpPr>
        <p:spPr>
          <a:xfrm>
            <a:off x="920501" y="2970349"/>
            <a:ext cx="367970" cy="469535"/>
          </a:xfrm>
        </p:spPr>
        <p:txBody>
          <a:bodyPr/>
          <a:lstStyle/>
          <a:p>
            <a:pPr marL="0" indent="0">
              <a:buFont typeface="Arial" panose="020B0604020202020204" pitchFamily="34" charset="0"/>
              <a:buChar char="–"/>
            </a:pPr>
            <a:r>
              <a:rPr lang="en-US" sz="2200" dirty="0">
                <a:latin typeface="+mn-lt"/>
              </a:rPr>
              <a:t> </a:t>
            </a:r>
            <a:r>
              <a:rPr lang="en-US" sz="100" dirty="0">
                <a:latin typeface="+mn-lt"/>
              </a:rPr>
              <a:t> </a:t>
            </a:r>
          </a:p>
        </p:txBody>
      </p:sp>
      <p:graphicFrame>
        <p:nvGraphicFramePr>
          <p:cNvPr id="10" name="Object 9" descr="Recall that national saving minus investment = current account">
            <a:extLst>
              <a:ext uri="{FF2B5EF4-FFF2-40B4-BE49-F238E27FC236}">
                <a16:creationId xmlns:a16="http://schemas.microsoft.com/office/drawing/2014/main" id="{466DAD7D-1B18-4B0E-8242-7B1C3CE96CDC}"/>
              </a:ext>
            </a:extLst>
          </p:cNvPr>
          <p:cNvGraphicFramePr>
            <a:graphicFrameLocks noChangeAspect="1"/>
          </p:cNvGraphicFramePr>
          <p:nvPr>
            <p:extLst>
              <p:ext uri="{D42A27DB-BD31-4B8C-83A1-F6EECF244321}">
                <p14:modId xmlns:p14="http://schemas.microsoft.com/office/powerpoint/2010/main" val="3844734529"/>
              </p:ext>
            </p:extLst>
          </p:nvPr>
        </p:nvGraphicFramePr>
        <p:xfrm>
          <a:off x="1334874" y="3082286"/>
          <a:ext cx="6680800" cy="348302"/>
        </p:xfrm>
        <a:graphic>
          <a:graphicData uri="http://schemas.openxmlformats.org/presentationml/2006/ole">
            <mc:AlternateContent xmlns:mc="http://schemas.openxmlformats.org/markup-compatibility/2006">
              <mc:Choice xmlns:v="urn:schemas-microsoft-com:vml" Requires="v">
                <p:oleObj spid="_x0000_s73838" name="Equation" r:id="rId3" imgW="3886200" imgH="203040" progId="Equation.DSMT4">
                  <p:embed/>
                </p:oleObj>
              </mc:Choice>
              <mc:Fallback>
                <p:oleObj name="Equation" r:id="rId3" imgW="3886200" imgH="203040" progId="Equation.DSMT4">
                  <p:embed/>
                  <p:pic>
                    <p:nvPicPr>
                      <p:cNvPr id="0" name=""/>
                      <p:cNvPicPr/>
                      <p:nvPr/>
                    </p:nvPicPr>
                    <p:blipFill>
                      <a:blip r:embed="rId4"/>
                      <a:stretch>
                        <a:fillRect/>
                      </a:stretch>
                    </p:blipFill>
                    <p:spPr>
                      <a:xfrm>
                        <a:off x="1334874" y="3082286"/>
                        <a:ext cx="6680800" cy="348302"/>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71739682-D3F7-4513-9310-11BB90112377}"/>
              </a:ext>
            </a:extLst>
          </p:cNvPr>
          <p:cNvSpPr>
            <a:spLocks noGrp="1"/>
          </p:cNvSpPr>
          <p:nvPr>
            <p:ph sz="quarter" idx="16"/>
          </p:nvPr>
        </p:nvSpPr>
        <p:spPr>
          <a:xfrm>
            <a:off x="457200" y="3509298"/>
            <a:ext cx="8229600" cy="2430674"/>
          </a:xfrm>
        </p:spPr>
        <p:txBody>
          <a:bodyPr/>
          <a:lstStyle/>
          <a:p>
            <a:pPr lvl="1" indent="-284400" eaLnBrk="1" hangingPunct="1"/>
            <a:r>
              <a:rPr lang="en-US" altLang="en-US" sz="2200" dirty="0">
                <a:latin typeface="Arial (Body)"/>
              </a:rPr>
              <a:t>Some countries should have large current account surpluses as they save a lot and lend to foreign countries.</a:t>
            </a:r>
          </a:p>
          <a:p>
            <a:pPr lvl="1" indent="-284400" eaLnBrk="1" hangingPunct="1"/>
            <a:r>
              <a:rPr lang="en-US" altLang="en-US" sz="2200" dirty="0">
                <a:latin typeface="Arial (Body)"/>
              </a:rPr>
              <a:t>Some countries should have large current account deficits as they borrow a lot from foreign countries.</a:t>
            </a:r>
          </a:p>
          <a:p>
            <a:pPr indent="-255600" eaLnBrk="1" hangingPunct="1"/>
            <a:r>
              <a:rPr lang="en-US" altLang="en-US" sz="2200" dirty="0">
                <a:latin typeface="Arial (Body)"/>
              </a:rPr>
              <a:t>In reality, national saving and investment levels are highly correlated.</a:t>
            </a:r>
            <a:endParaRPr lang="en-US" dirty="0"/>
          </a:p>
        </p:txBody>
      </p:sp>
    </p:spTree>
    <p:extLst>
      <p:ext uri="{BB962C8B-B14F-4D97-AF65-F5344CB8AC3E}">
        <p14:creationId xmlns:p14="http://schemas.microsoft.com/office/powerpoint/2010/main" val="3201099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cs typeface="Times New Roman" panose="02020603050405020304" pitchFamily="18" charset="0"/>
              </a:rPr>
              <a:t>Figure 20.3 Saving and Investment Rates for 24 Countries, 1990–2019 Averages</a:t>
            </a:r>
            <a:endParaRPr lang="en-US" sz="2000" dirty="0"/>
          </a:p>
        </p:txBody>
      </p:sp>
      <p:pic>
        <p:nvPicPr>
          <p:cNvPr id="9" name="Content Placeholder 8" descr="The scatter diagram of 24 countries plots investment to G D P versus saving to G D P. For long description in Notes pane, press F6.">
            <a:extLst>
              <a:ext uri="{FF2B5EF4-FFF2-40B4-BE49-F238E27FC236}">
                <a16:creationId xmlns:a16="http://schemas.microsoft.com/office/drawing/2014/main" id="{BA473871-8CCC-4721-96AD-FAA8F9F829F4}"/>
              </a:ext>
            </a:extLst>
          </p:cNvPr>
          <p:cNvPicPr>
            <a:picLocks noGrp="1" noChangeAspect="1"/>
          </p:cNvPicPr>
          <p:nvPr>
            <p:ph sz="quarter" idx="13"/>
          </p:nvPr>
        </p:nvPicPr>
        <p:blipFill>
          <a:blip r:embed="rId3"/>
          <a:stretch>
            <a:fillRect/>
          </a:stretch>
        </p:blipFill>
        <p:spPr>
          <a:xfrm>
            <a:off x="2921512" y="1431645"/>
            <a:ext cx="3300975" cy="3300975"/>
          </a:xfrm>
        </p:spPr>
      </p:pic>
      <p:sp>
        <p:nvSpPr>
          <p:cNvPr id="6" name="Content Placeholder 5">
            <a:extLst>
              <a:ext uri="{FF2B5EF4-FFF2-40B4-BE49-F238E27FC236}">
                <a16:creationId xmlns:a16="http://schemas.microsoft.com/office/drawing/2014/main" id="{71739682-D3F7-4513-9310-11BB90112377}"/>
              </a:ext>
            </a:extLst>
          </p:cNvPr>
          <p:cNvSpPr>
            <a:spLocks noGrp="1"/>
          </p:cNvSpPr>
          <p:nvPr>
            <p:ph sz="quarter" idx="16"/>
          </p:nvPr>
        </p:nvSpPr>
        <p:spPr>
          <a:xfrm>
            <a:off x="365520" y="4801054"/>
            <a:ext cx="8229600" cy="1556203"/>
          </a:xfrm>
        </p:spPr>
        <p:txBody>
          <a:bodyPr tIns="0"/>
          <a:lstStyle/>
          <a:p>
            <a:pPr marL="0" indent="0">
              <a:spcBef>
                <a:spcPts val="600"/>
              </a:spcBef>
              <a:buNone/>
            </a:pPr>
            <a:r>
              <a:rPr lang="en-US" sz="1800" dirty="0">
                <a:latin typeface="Arial (Body)"/>
              </a:rPr>
              <a:t>O</a:t>
            </a:r>
            <a:r>
              <a:rPr lang="en-US" sz="100" dirty="0">
                <a:latin typeface="Arial (Body)"/>
              </a:rPr>
              <a:t> </a:t>
            </a:r>
            <a:r>
              <a:rPr lang="en-US" sz="1800" dirty="0">
                <a:latin typeface="Arial (Body)"/>
              </a:rPr>
              <a:t>E</a:t>
            </a:r>
            <a:r>
              <a:rPr lang="en-US" sz="100" dirty="0">
                <a:latin typeface="Arial (Body)"/>
              </a:rPr>
              <a:t> </a:t>
            </a:r>
            <a:r>
              <a:rPr lang="en-US" sz="1800" dirty="0">
                <a:latin typeface="Arial (Body)"/>
              </a:rPr>
              <a:t>C</a:t>
            </a:r>
            <a:r>
              <a:rPr lang="en-US" sz="100" dirty="0">
                <a:latin typeface="Arial (Body)"/>
              </a:rPr>
              <a:t> </a:t>
            </a:r>
            <a:r>
              <a:rPr lang="en-US" sz="1800" dirty="0">
                <a:latin typeface="Arial (Body)"/>
              </a:rPr>
              <a:t>D countries’ saving and investment ratios to output tend to be positively related. The straight regression line in the graph represents a statistician’s best guess of the level of the investment ratio, conditional on the saving ratio, in this country sample.</a:t>
            </a:r>
          </a:p>
          <a:p>
            <a:pPr marL="0" indent="0">
              <a:spcBef>
                <a:spcPts val="600"/>
              </a:spcBef>
              <a:buNone/>
            </a:pPr>
            <a:r>
              <a:rPr lang="en-US" sz="1800" b="1" dirty="0">
                <a:latin typeface="Arial (Body)"/>
              </a:rPr>
              <a:t>Source: </a:t>
            </a:r>
            <a:r>
              <a:rPr lang="en-US" sz="1800" dirty="0">
                <a:latin typeface="Arial (Body)"/>
              </a:rPr>
              <a:t>World Bank</a:t>
            </a:r>
            <a:r>
              <a:rPr lang="en-US" sz="1800" i="1" dirty="0">
                <a:latin typeface="Arial (Body)"/>
              </a:rPr>
              <a:t>, </a:t>
            </a:r>
            <a:r>
              <a:rPr lang="en-US" sz="1800" b="1" dirty="0">
                <a:latin typeface="Arial (Body)"/>
              </a:rPr>
              <a:t>World Development Indicators.</a:t>
            </a:r>
            <a:endParaRPr lang="en-US" sz="1800" dirty="0"/>
          </a:p>
        </p:txBody>
      </p:sp>
    </p:spTree>
    <p:extLst>
      <p:ext uri="{BB962C8B-B14F-4D97-AF65-F5344CB8AC3E}">
        <p14:creationId xmlns:p14="http://schemas.microsoft.com/office/powerpoint/2010/main" val="240384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International Intertemporal Trade </a:t>
            </a:r>
            <a:r>
              <a:rPr lang="en-US" altLang="en-US" sz="2000" b="0" dirty="0"/>
              <a:t>(2 of 2)</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6"/>
            <a:ext cx="8229600" cy="4664860"/>
          </a:xfrm>
        </p:spPr>
        <p:txBody>
          <a:bodyPr/>
          <a:lstStyle/>
          <a:p>
            <a:pPr eaLnBrk="1" hangingPunct="1"/>
            <a:r>
              <a:rPr lang="en-US" altLang="en-US" dirty="0">
                <a:latin typeface="Arial (Body)"/>
              </a:rPr>
              <a:t>Are international capital markets unable to allow countries to engage in much intertemporal trade?</a:t>
            </a:r>
          </a:p>
          <a:p>
            <a:pPr eaLnBrk="1" hangingPunct="1"/>
            <a:r>
              <a:rPr lang="en-US" altLang="en-US" dirty="0">
                <a:latin typeface="Arial (Body)"/>
              </a:rPr>
              <a:t>Not necessarily: factors that generate a high saving rate, such as rapid growth in production and income, may also generate a high investment rate.</a:t>
            </a:r>
          </a:p>
          <a:p>
            <a:pPr eaLnBrk="1" hangingPunct="1"/>
            <a:r>
              <a:rPr lang="en-US" altLang="en-US" dirty="0">
                <a:latin typeface="Arial (Body)"/>
              </a:rPr>
              <a:t>Governments may also enact policies to avoid large current account deficits or surpluses.</a:t>
            </a:r>
          </a:p>
        </p:txBody>
      </p:sp>
    </p:spTree>
    <p:extLst>
      <p:ext uri="{BB962C8B-B14F-4D97-AF65-F5344CB8AC3E}">
        <p14:creationId xmlns:p14="http://schemas.microsoft.com/office/powerpoint/2010/main" val="439652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Information Transmission and Financial Capital Mobility </a:t>
            </a:r>
            <a:r>
              <a:rPr lang="en-US" altLang="en-US" sz="2000" b="0" dirty="0"/>
              <a:t>(1 of 5)</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6"/>
            <a:ext cx="8229600" cy="4664860"/>
          </a:xfrm>
        </p:spPr>
        <p:txBody>
          <a:bodyPr/>
          <a:lstStyle/>
          <a:p>
            <a:pPr eaLnBrk="1" hangingPunct="1"/>
            <a:r>
              <a:rPr lang="en-US" altLang="en-US" dirty="0">
                <a:latin typeface="Arial (Body)"/>
              </a:rPr>
              <a:t>We should expect that interest rates on offshore currency deposits and those on domestic currency deposits within a country should be the same if </a:t>
            </a:r>
          </a:p>
          <a:p>
            <a:pPr lvl="1" eaLnBrk="1" hangingPunct="1"/>
            <a:r>
              <a:rPr lang="en-US" altLang="en-US" dirty="0">
                <a:latin typeface="Arial (Body)"/>
              </a:rPr>
              <a:t>the two types of deposits are treated as perfect substitutes,</a:t>
            </a:r>
          </a:p>
          <a:p>
            <a:pPr lvl="1" eaLnBrk="1" hangingPunct="1"/>
            <a:r>
              <a:rPr lang="en-US" altLang="en-US" dirty="0">
                <a:latin typeface="Arial (Body)"/>
              </a:rPr>
              <a:t>assets can flow freely across borders, and </a:t>
            </a:r>
          </a:p>
          <a:p>
            <a:pPr lvl="1" eaLnBrk="1" hangingPunct="1"/>
            <a:r>
              <a:rPr lang="en-US" altLang="en-US" dirty="0">
                <a:latin typeface="Arial (Body)"/>
              </a:rPr>
              <a:t>international capital markets are able to quickly and easily transmit information about any differences in rates. </a:t>
            </a:r>
          </a:p>
        </p:txBody>
      </p:sp>
    </p:spTree>
    <p:extLst>
      <p:ext uri="{BB962C8B-B14F-4D97-AF65-F5344CB8AC3E}">
        <p14:creationId xmlns:p14="http://schemas.microsoft.com/office/powerpoint/2010/main" val="8717366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Information Transmission and Financial Capital Mobility </a:t>
            </a:r>
            <a:r>
              <a:rPr lang="en-US" altLang="en-US" sz="2000" b="0" dirty="0"/>
              <a:t>(2 of 5)</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6"/>
            <a:ext cx="8229600" cy="4664860"/>
          </a:xfrm>
        </p:spPr>
        <p:txBody>
          <a:bodyPr/>
          <a:lstStyle/>
          <a:p>
            <a:pPr eaLnBrk="1" hangingPunct="1"/>
            <a:r>
              <a:rPr lang="en-US" altLang="en-US" sz="2200" dirty="0">
                <a:latin typeface="Arial (Body)"/>
              </a:rPr>
              <a:t>In fact, differences in interest rates have approached zero as financial capital mobility has grown and information processing has become faster and cheaper through computers and telecommunications. </a:t>
            </a:r>
          </a:p>
        </p:txBody>
      </p:sp>
    </p:spTree>
    <p:extLst>
      <p:ext uri="{BB962C8B-B14F-4D97-AF65-F5344CB8AC3E}">
        <p14:creationId xmlns:p14="http://schemas.microsoft.com/office/powerpoint/2010/main" val="4116376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cs typeface="Times New Roman" panose="02020603050405020304" pitchFamily="18" charset="0"/>
              </a:rPr>
              <a:t>Figure 20.4 Comparing Onshore and Offshore Interest Rates for the Dollar</a:t>
            </a:r>
            <a:endParaRPr lang="en-US" sz="2000" dirty="0"/>
          </a:p>
        </p:txBody>
      </p:sp>
      <p:pic>
        <p:nvPicPr>
          <p:cNvPr id="7" name="Content Placeholder 6" descr="The graph plots percent per year versus year, 19 90 to 20 20, with a plot for the London 3 month Eurodollar rate less U S 3 month money market rate. For long description in Notes pane, press F6.">
            <a:extLst>
              <a:ext uri="{FF2B5EF4-FFF2-40B4-BE49-F238E27FC236}">
                <a16:creationId xmlns:a16="http://schemas.microsoft.com/office/drawing/2014/main" id="{02377BDD-6318-4434-8F44-0E058C18A735}"/>
              </a:ext>
            </a:extLst>
          </p:cNvPr>
          <p:cNvPicPr>
            <a:picLocks noGrp="1" noChangeAspect="1"/>
          </p:cNvPicPr>
          <p:nvPr>
            <p:ph sz="quarter" idx="13"/>
          </p:nvPr>
        </p:nvPicPr>
        <p:blipFill>
          <a:blip r:embed="rId3"/>
          <a:stretch>
            <a:fillRect/>
          </a:stretch>
        </p:blipFill>
        <p:spPr>
          <a:xfrm>
            <a:off x="1915963" y="1505558"/>
            <a:ext cx="5312075" cy="3283342"/>
          </a:xfrm>
        </p:spPr>
      </p:pic>
      <p:sp>
        <p:nvSpPr>
          <p:cNvPr id="4" name="Content Placeholder 3">
            <a:extLst>
              <a:ext uri="{FF2B5EF4-FFF2-40B4-BE49-F238E27FC236}">
                <a16:creationId xmlns:a16="http://schemas.microsoft.com/office/drawing/2014/main" id="{508F1D70-62D0-4CAF-A62E-B12DC102EF45}"/>
              </a:ext>
            </a:extLst>
          </p:cNvPr>
          <p:cNvSpPr>
            <a:spLocks noGrp="1"/>
          </p:cNvSpPr>
          <p:nvPr>
            <p:ph sz="quarter" idx="14"/>
          </p:nvPr>
        </p:nvSpPr>
        <p:spPr>
          <a:xfrm>
            <a:off x="457200" y="5009612"/>
            <a:ext cx="8229600" cy="1342206"/>
          </a:xfrm>
        </p:spPr>
        <p:txBody>
          <a:bodyPr/>
          <a:lstStyle/>
          <a:p>
            <a:pPr marL="432" indent="0">
              <a:buNone/>
            </a:pPr>
            <a:r>
              <a:rPr lang="en-US" sz="1600" dirty="0"/>
              <a:t>The difference between the London and U.S. interest rates on dollar deposits is usually very close to zero, but it spiked up sharply in the fall of 2008 as the investment bank Lehman Brothers collapsed and has remained volatile.</a:t>
            </a:r>
          </a:p>
          <a:p>
            <a:pPr marL="432" indent="0">
              <a:buNone/>
            </a:pPr>
            <a:r>
              <a:rPr lang="en-US" sz="1600" b="1" dirty="0"/>
              <a:t>Source:</a:t>
            </a:r>
            <a:r>
              <a:rPr lang="en-US" sz="1600" dirty="0"/>
              <a:t> Board of Governors of the Federal Reserve System and O</a:t>
            </a:r>
            <a:r>
              <a:rPr lang="en-US" sz="100" dirty="0"/>
              <a:t> </a:t>
            </a:r>
            <a:r>
              <a:rPr lang="en-US" sz="1600" dirty="0"/>
              <a:t>E</a:t>
            </a:r>
            <a:r>
              <a:rPr lang="en-US" sz="100" dirty="0"/>
              <a:t> </a:t>
            </a:r>
            <a:r>
              <a:rPr lang="en-US" sz="1600" dirty="0"/>
              <a:t>C</a:t>
            </a:r>
            <a:r>
              <a:rPr lang="en-US" sz="100" dirty="0"/>
              <a:t> </a:t>
            </a:r>
            <a:r>
              <a:rPr lang="en-US" sz="1600" dirty="0"/>
              <a:t>D, monthly data.</a:t>
            </a:r>
            <a:endParaRPr lang="en-US" sz="2000" dirty="0"/>
          </a:p>
        </p:txBody>
      </p:sp>
    </p:spTree>
    <p:extLst>
      <p:ext uri="{BB962C8B-B14F-4D97-AF65-F5344CB8AC3E}">
        <p14:creationId xmlns:p14="http://schemas.microsoft.com/office/powerpoint/2010/main" val="2335757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Information Transmission and Financial Capital Mobility </a:t>
            </a:r>
            <a:r>
              <a:rPr lang="en-US" altLang="en-US" sz="2000" b="0" dirty="0"/>
              <a:t>(3 of 5)</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7"/>
            <a:ext cx="8229600" cy="794987"/>
          </a:xfrm>
        </p:spPr>
        <p:txBody>
          <a:bodyPr/>
          <a:lstStyle/>
          <a:p>
            <a:pPr eaLnBrk="1" hangingPunct="1"/>
            <a:r>
              <a:rPr lang="en-US" altLang="en-US" sz="2000" dirty="0">
                <a:latin typeface="Arial (Body)"/>
              </a:rPr>
              <a:t>If assets are treated as perfect substitutes, then we expect interest parity to hold on average:</a:t>
            </a:r>
            <a:endParaRPr lang="en-US" altLang="en-US" sz="2000" baseline="-25000" dirty="0">
              <a:latin typeface="Arial (Body)"/>
            </a:endParaRPr>
          </a:p>
        </p:txBody>
      </p:sp>
      <p:graphicFrame>
        <p:nvGraphicFramePr>
          <p:cNvPr id="4" name="Object 3" descr="R sub t minus R to the asterisk power sub t = start fraction left parenthesis E to the e power sub start expression t + 1 end expression minus E sub t right parenthesis over E sub t end fraction">
            <a:extLst>
              <a:ext uri="{FF2B5EF4-FFF2-40B4-BE49-F238E27FC236}">
                <a16:creationId xmlns:a16="http://schemas.microsoft.com/office/drawing/2014/main" id="{4B5E0DDF-2673-4BB0-8735-914E51B86EC8}"/>
              </a:ext>
            </a:extLst>
          </p:cNvPr>
          <p:cNvGraphicFramePr>
            <a:graphicFrameLocks noChangeAspect="1"/>
          </p:cNvGraphicFramePr>
          <p:nvPr>
            <p:extLst>
              <p:ext uri="{D42A27DB-BD31-4B8C-83A1-F6EECF244321}">
                <p14:modId xmlns:p14="http://schemas.microsoft.com/office/powerpoint/2010/main" val="1643175539"/>
              </p:ext>
            </p:extLst>
          </p:nvPr>
        </p:nvGraphicFramePr>
        <p:xfrm>
          <a:off x="3375530" y="2532785"/>
          <a:ext cx="2391352" cy="839932"/>
        </p:xfrm>
        <a:graphic>
          <a:graphicData uri="http://schemas.openxmlformats.org/presentationml/2006/ole">
            <mc:AlternateContent xmlns:mc="http://schemas.openxmlformats.org/markup-compatibility/2006">
              <mc:Choice xmlns:v="urn:schemas-microsoft-com:vml" Requires="v">
                <p:oleObj spid="_x0000_s75864" name="Equation" r:id="rId3" imgW="2630382" imgH="923642" progId="Equation.DSMT4">
                  <p:embed/>
                </p:oleObj>
              </mc:Choice>
              <mc:Fallback>
                <p:oleObj name="Equation" r:id="rId3" imgW="2630382" imgH="923642" progId="Equation.DSMT4">
                  <p:embed/>
                  <p:pic>
                    <p:nvPicPr>
                      <p:cNvPr id="0" name=""/>
                      <p:cNvPicPr/>
                      <p:nvPr/>
                    </p:nvPicPr>
                    <p:blipFill>
                      <a:blip r:embed="rId4"/>
                      <a:stretch>
                        <a:fillRect/>
                      </a:stretch>
                    </p:blipFill>
                    <p:spPr>
                      <a:xfrm>
                        <a:off x="3375530" y="2532785"/>
                        <a:ext cx="2391352" cy="839932"/>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3559917"/>
            <a:ext cx="8229600" cy="2710542"/>
          </a:xfrm>
        </p:spPr>
        <p:txBody>
          <a:bodyPr tIns="0"/>
          <a:lstStyle/>
          <a:p>
            <a:r>
              <a:rPr lang="en-US" altLang="en-US" sz="2000" dirty="0">
                <a:latin typeface="Arial (Body)"/>
              </a:rPr>
              <a:t>Under this condition, the interest rate difference is the market</a:t>
            </a:r>
            <a:r>
              <a:rPr lang="en-IN" altLang="en-US" sz="2000" dirty="0">
                <a:latin typeface="Arial (Body)"/>
              </a:rPr>
              <a:t>’</a:t>
            </a:r>
            <a:r>
              <a:rPr lang="en-US" altLang="ja-JP" sz="2000" dirty="0">
                <a:latin typeface="Arial (Body)"/>
              </a:rPr>
              <a:t>s forecast of expected changes in the exchange rate. </a:t>
            </a:r>
          </a:p>
          <a:p>
            <a:pPr lvl="1"/>
            <a:r>
              <a:rPr lang="en-US" altLang="en-US" sz="2000" dirty="0">
                <a:latin typeface="Arial (Body)"/>
              </a:rPr>
              <a:t>If we replace expected exchange rates with actual future exchange rates, we can test how well the market predicts exchange rate changes.</a:t>
            </a:r>
          </a:p>
          <a:p>
            <a:pPr lvl="1"/>
            <a:r>
              <a:rPr lang="en-US" altLang="en-US" sz="2000" dirty="0">
                <a:latin typeface="Arial (Body)"/>
              </a:rPr>
              <a:t>But interest rate differentials fail to predict large swings in actual exchange rates and even fail to predict in which direction actual exchange rates change.</a:t>
            </a:r>
            <a:endParaRPr lang="en-IN" sz="2000" dirty="0">
              <a:latin typeface="Arial (Body)"/>
            </a:endParaRPr>
          </a:p>
        </p:txBody>
      </p:sp>
    </p:spTree>
    <p:extLst>
      <p:ext uri="{BB962C8B-B14F-4D97-AF65-F5344CB8AC3E}">
        <p14:creationId xmlns:p14="http://schemas.microsoft.com/office/powerpoint/2010/main" val="13132619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Information Transmission and Financial Capital Mobility </a:t>
            </a:r>
            <a:r>
              <a:rPr lang="en-US" altLang="en-US" sz="2000" b="0" dirty="0"/>
              <a:t>(4 of 5)</a:t>
            </a:r>
            <a:endParaRPr lang="en-US" sz="2000" dirty="0"/>
          </a:p>
        </p:txBody>
      </p:sp>
      <p:sp>
        <p:nvSpPr>
          <p:cNvPr id="5" name="Content Placeholder 4">
            <a:extLst>
              <a:ext uri="{FF2B5EF4-FFF2-40B4-BE49-F238E27FC236}">
                <a16:creationId xmlns:a16="http://schemas.microsoft.com/office/drawing/2014/main" id="{DB97F782-5E3C-4547-8B58-6EBBC67EDF9E}"/>
              </a:ext>
            </a:extLst>
          </p:cNvPr>
          <p:cNvSpPr>
            <a:spLocks noGrp="1"/>
          </p:cNvSpPr>
          <p:nvPr>
            <p:ph sz="quarter" idx="13"/>
          </p:nvPr>
        </p:nvSpPr>
        <p:spPr>
          <a:xfrm>
            <a:off x="457200" y="1556327"/>
            <a:ext cx="8229600" cy="1497116"/>
          </a:xfrm>
        </p:spPr>
        <p:txBody>
          <a:bodyPr/>
          <a:lstStyle/>
          <a:p>
            <a:pPr eaLnBrk="1" hangingPunct="1">
              <a:spcBef>
                <a:spcPts val="1000"/>
              </a:spcBef>
            </a:pPr>
            <a:r>
              <a:rPr lang="en-US" altLang="en-US" sz="2000" dirty="0">
                <a:latin typeface="Arial (Body)"/>
              </a:rPr>
              <a:t>Given that there are few restrictions on financial capital in most major countries, does this mean that international capital markets are unable to process and transmit information about interest rates?</a:t>
            </a:r>
          </a:p>
          <a:p>
            <a:pPr eaLnBrk="1" hangingPunct="1">
              <a:spcBef>
                <a:spcPts val="1000"/>
              </a:spcBef>
            </a:pPr>
            <a:r>
              <a:rPr lang="en-US" altLang="en-US" sz="2000" dirty="0">
                <a:latin typeface="Arial (Body)"/>
              </a:rPr>
              <a:t>Not necessarily: if assets are imperfect substitutes, then</a:t>
            </a:r>
          </a:p>
        </p:txBody>
      </p:sp>
      <p:graphicFrame>
        <p:nvGraphicFramePr>
          <p:cNvPr id="6" name="Object 5" descr="R sub t minus R to the asterisk power sub t = start fraction left parenthesis E to the e power sub start expression t + 1 end expression minus E sub t right parenthesis over E sub t end fraction + rho sub t">
            <a:extLst>
              <a:ext uri="{FF2B5EF4-FFF2-40B4-BE49-F238E27FC236}">
                <a16:creationId xmlns:a16="http://schemas.microsoft.com/office/drawing/2014/main" id="{7F46C62E-C666-47C2-92CA-082E270CEFA0}"/>
              </a:ext>
            </a:extLst>
          </p:cNvPr>
          <p:cNvGraphicFramePr>
            <a:graphicFrameLocks noChangeAspect="1"/>
          </p:cNvGraphicFramePr>
          <p:nvPr>
            <p:extLst>
              <p:ext uri="{D42A27DB-BD31-4B8C-83A1-F6EECF244321}">
                <p14:modId xmlns:p14="http://schemas.microsoft.com/office/powerpoint/2010/main" val="1836579826"/>
              </p:ext>
            </p:extLst>
          </p:nvPr>
        </p:nvGraphicFramePr>
        <p:xfrm>
          <a:off x="3098027" y="3319153"/>
          <a:ext cx="2946359" cy="804349"/>
        </p:xfrm>
        <a:graphic>
          <a:graphicData uri="http://schemas.openxmlformats.org/presentationml/2006/ole">
            <mc:AlternateContent xmlns:mc="http://schemas.openxmlformats.org/markup-compatibility/2006">
              <mc:Choice xmlns:v="urn:schemas-microsoft-com:vml" Requires="v">
                <p:oleObj spid="_x0000_s76885" name="Equation" r:id="rId3" imgW="1765080" imgH="482400" progId="Equation.DSMT4">
                  <p:embed/>
                </p:oleObj>
              </mc:Choice>
              <mc:Fallback>
                <p:oleObj name="Equation" r:id="rId3" imgW="1765080" imgH="482400" progId="Equation.DSMT4">
                  <p:embed/>
                  <p:pic>
                    <p:nvPicPr>
                      <p:cNvPr id="0" name=""/>
                      <p:cNvPicPr/>
                      <p:nvPr/>
                    </p:nvPicPr>
                    <p:blipFill>
                      <a:blip r:embed="rId4"/>
                      <a:stretch>
                        <a:fillRect/>
                      </a:stretch>
                    </p:blipFill>
                    <p:spPr>
                      <a:xfrm>
                        <a:off x="3098027" y="3319153"/>
                        <a:ext cx="2946359" cy="804349"/>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4405086"/>
            <a:ext cx="8066314" cy="1497116"/>
          </a:xfrm>
        </p:spPr>
        <p:txBody>
          <a:bodyPr/>
          <a:lstStyle/>
          <a:p>
            <a:pPr lvl="1"/>
            <a:r>
              <a:rPr lang="en-US" altLang="en-US" sz="2000" dirty="0">
                <a:latin typeface="Arial (Body)"/>
              </a:rPr>
              <a:t>Interest rate differentials are associated with exchange rate changes and with risk premiums that change over time.</a:t>
            </a:r>
          </a:p>
          <a:p>
            <a:pPr lvl="1"/>
            <a:r>
              <a:rPr lang="en-US" altLang="en-US" sz="2000" dirty="0">
                <a:latin typeface="Arial (Body)"/>
              </a:rPr>
              <a:t>Changes in risk premiums may drive changes in exchange rates rather than interest rate differentials.</a:t>
            </a:r>
            <a:endParaRPr lang="en-US" sz="2000" dirty="0"/>
          </a:p>
        </p:txBody>
      </p:sp>
    </p:spTree>
    <p:extLst>
      <p:ext uri="{BB962C8B-B14F-4D97-AF65-F5344CB8AC3E}">
        <p14:creationId xmlns:p14="http://schemas.microsoft.com/office/powerpoint/2010/main" val="1762286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200" dirty="0"/>
              <a:t>Extent of Information Transmission and Financial Capital Mobility </a:t>
            </a:r>
            <a:r>
              <a:rPr lang="en-US" altLang="en-US" sz="2000" b="0" dirty="0"/>
              <a:t>(5 of 5)</a:t>
            </a:r>
            <a:endParaRPr lang="en-US" sz="2000" dirty="0"/>
          </a:p>
        </p:txBody>
      </p:sp>
      <p:graphicFrame>
        <p:nvGraphicFramePr>
          <p:cNvPr id="8" name="Object 7" descr="R sub t minus R to the asterisk power sub t = start fraction left parenthesis E to the e power sub start expression t + 1 end expression minus E sub t right parenthesis over E sub t end fraction + rho sub t">
            <a:extLst>
              <a:ext uri="{FF2B5EF4-FFF2-40B4-BE49-F238E27FC236}">
                <a16:creationId xmlns:a16="http://schemas.microsoft.com/office/drawing/2014/main" id="{1084E78A-6C0C-4E9F-8BF4-86D5900157C2}"/>
              </a:ext>
            </a:extLst>
          </p:cNvPr>
          <p:cNvGraphicFramePr>
            <a:graphicFrameLocks noChangeAspect="1"/>
          </p:cNvGraphicFramePr>
          <p:nvPr>
            <p:extLst>
              <p:ext uri="{D42A27DB-BD31-4B8C-83A1-F6EECF244321}">
                <p14:modId xmlns:p14="http://schemas.microsoft.com/office/powerpoint/2010/main" val="1220915443"/>
              </p:ext>
            </p:extLst>
          </p:nvPr>
        </p:nvGraphicFramePr>
        <p:xfrm>
          <a:off x="2978235" y="1833254"/>
          <a:ext cx="3024243" cy="878502"/>
        </p:xfrm>
        <a:graphic>
          <a:graphicData uri="http://schemas.openxmlformats.org/presentationml/2006/ole">
            <mc:AlternateContent xmlns:mc="http://schemas.openxmlformats.org/markup-compatibility/2006">
              <mc:Choice xmlns:v="urn:schemas-microsoft-com:vml" Requires="v">
                <p:oleObj spid="_x0000_s77906" name="Equation" r:id="rId3" imgW="3755221" imgH="1089840" progId="Equation.DSMT4">
                  <p:embed/>
                </p:oleObj>
              </mc:Choice>
              <mc:Fallback>
                <p:oleObj name="Equation" r:id="rId3" imgW="3755221" imgH="1089840" progId="Equation.DSMT4">
                  <p:embed/>
                  <p:pic>
                    <p:nvPicPr>
                      <p:cNvPr id="0" name=""/>
                      <p:cNvPicPr/>
                      <p:nvPr/>
                    </p:nvPicPr>
                    <p:blipFill>
                      <a:blip r:embed="rId4"/>
                      <a:stretch>
                        <a:fillRect/>
                      </a:stretch>
                    </p:blipFill>
                    <p:spPr>
                      <a:xfrm>
                        <a:off x="2978235" y="1833254"/>
                        <a:ext cx="3024243" cy="878502"/>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198" y="3109686"/>
            <a:ext cx="8229601" cy="2906486"/>
          </a:xfrm>
        </p:spPr>
        <p:txBody>
          <a:bodyPr/>
          <a:lstStyle/>
          <a:p>
            <a:r>
              <a:rPr lang="en-US" altLang="en-US" dirty="0">
                <a:latin typeface="Arial (Body)"/>
              </a:rPr>
              <a:t>Since both expected changes in exchange rates and risk premiums are functions of expectations and since expectations are unobservable, </a:t>
            </a:r>
          </a:p>
          <a:p>
            <a:pPr lvl="1" eaLnBrk="1" hangingPunct="1"/>
            <a:r>
              <a:rPr lang="en-US" altLang="en-US" dirty="0">
                <a:latin typeface="Arial (Body)"/>
              </a:rPr>
              <a:t>it is difficult to test if international capital markets are able to process and transmit information about interest rates.</a:t>
            </a:r>
          </a:p>
        </p:txBody>
      </p:sp>
    </p:spTree>
    <p:extLst>
      <p:ext uri="{BB962C8B-B14F-4D97-AF65-F5344CB8AC3E}">
        <p14:creationId xmlns:p14="http://schemas.microsoft.com/office/powerpoint/2010/main" val="16647926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dirty="0"/>
              <a:t>Exchange Rate Predictability </a:t>
            </a:r>
            <a:endParaRPr lang="en-US" dirty="0"/>
          </a:p>
        </p:txBody>
      </p:sp>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1714500"/>
            <a:ext cx="8392886" cy="4294414"/>
          </a:xfrm>
        </p:spPr>
        <p:txBody>
          <a:bodyPr/>
          <a:lstStyle/>
          <a:p>
            <a:pPr eaLnBrk="1" hangingPunct="1"/>
            <a:r>
              <a:rPr lang="en-US" altLang="en-US" dirty="0">
                <a:latin typeface="Arial (Body)"/>
              </a:rPr>
              <a:t>In fact, it is hard to predict exchange rate changes over short horizons based on money supply growth, government spending growth, G</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P growth, and other </a:t>
            </a:r>
            <a:r>
              <a:rPr lang="en-IN" altLang="en-US" dirty="0">
                <a:latin typeface="Arial (Body)"/>
              </a:rPr>
              <a:t>“</a:t>
            </a:r>
            <a:r>
              <a:rPr lang="en-US" altLang="ja-JP" dirty="0">
                <a:latin typeface="Arial (Body)"/>
              </a:rPr>
              <a:t>fundamental</a:t>
            </a:r>
            <a:r>
              <a:rPr lang="en-IN" altLang="ja-JP" dirty="0">
                <a:latin typeface="Arial (Body)"/>
              </a:rPr>
              <a:t>”</a:t>
            </a:r>
            <a:r>
              <a:rPr lang="en-US" altLang="ja-JP" dirty="0">
                <a:latin typeface="Arial (Body)"/>
              </a:rPr>
              <a:t> economic variables.</a:t>
            </a:r>
          </a:p>
          <a:p>
            <a:pPr lvl="1" eaLnBrk="1" hangingPunct="1"/>
            <a:r>
              <a:rPr lang="en-US" altLang="en-US" dirty="0">
                <a:latin typeface="Arial (Body)"/>
              </a:rPr>
              <a:t>The best prediction for tomorrow’</a:t>
            </a:r>
            <a:r>
              <a:rPr lang="en-US" altLang="ja-JP" dirty="0">
                <a:latin typeface="Arial (Body)"/>
              </a:rPr>
              <a:t>s exchange rate appears to be today’s exchange rate, regardless of economic variables.</a:t>
            </a:r>
          </a:p>
          <a:p>
            <a:pPr lvl="1" eaLnBrk="1" hangingPunct="1"/>
            <a:r>
              <a:rPr lang="en-US" altLang="en-US" dirty="0">
                <a:latin typeface="Arial (Body)"/>
              </a:rPr>
              <a:t>But over long time horizons (more than 1 year), economic variables do better at predicting actual exchange rates.</a:t>
            </a:r>
          </a:p>
        </p:txBody>
      </p:sp>
    </p:spTree>
    <p:extLst>
      <p:ext uri="{BB962C8B-B14F-4D97-AF65-F5344CB8AC3E}">
        <p14:creationId xmlns:p14="http://schemas.microsoft.com/office/powerpoint/2010/main" val="19202435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(1 of 3)</a:t>
            </a:r>
            <a:endParaRPr lang="en-US" dirty="0"/>
          </a:p>
        </p:txBody>
      </p:sp>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1714500"/>
            <a:ext cx="8392886" cy="4572000"/>
          </a:xfrm>
        </p:spPr>
        <p:txBody>
          <a:bodyPr/>
          <a:lstStyle/>
          <a:p>
            <a:pPr marL="432000" indent="-432000" eaLnBrk="1" hangingPunct="1">
              <a:buFont typeface="Times" pitchFamily="-1" charset="0"/>
              <a:buAutoNum type="arabicPeriod"/>
            </a:pPr>
            <a:r>
              <a:rPr lang="en-US" altLang="en-US" dirty="0">
                <a:latin typeface="Arial (Body)"/>
              </a:rPr>
              <a:t>Gains from trade of goods and services for other goods and services are described by the theory of comparative advantage.</a:t>
            </a:r>
          </a:p>
          <a:p>
            <a:pPr marL="432000" indent="-432000" eaLnBrk="1" hangingPunct="1">
              <a:buFont typeface="Times" pitchFamily="-1" charset="0"/>
              <a:buAutoNum type="arabicPeriod"/>
            </a:pPr>
            <a:r>
              <a:rPr lang="en-US" altLang="en-US" dirty="0">
                <a:latin typeface="Arial (Body)"/>
              </a:rPr>
              <a:t>Gains from trade of goods and services for assets are described by the theory of intertemporal trade.</a:t>
            </a:r>
          </a:p>
          <a:p>
            <a:pPr marL="432000" indent="-432000" eaLnBrk="1" hangingPunct="1">
              <a:buFont typeface="Times" pitchFamily="-1" charset="0"/>
              <a:buAutoNum type="arabicPeriod"/>
            </a:pPr>
            <a:r>
              <a:rPr lang="en-US" altLang="en-US" dirty="0">
                <a:latin typeface="Arial (Body)"/>
              </a:rPr>
              <a:t>Gains from trade of assets for assets are described by the theory of portfolio diversification.</a:t>
            </a:r>
          </a:p>
          <a:p>
            <a:pPr marL="432000" indent="-432000" eaLnBrk="1" hangingPunct="1">
              <a:buFont typeface="Times" pitchFamily="-1" charset="0"/>
              <a:buAutoNum type="arabicPeriod"/>
            </a:pPr>
            <a:r>
              <a:rPr lang="en-US" altLang="en-US" dirty="0">
                <a:latin typeface="Arial (Body)"/>
              </a:rPr>
              <a:t>Policy makers can choose only two of the following: a fixed exchange rate, a monetary policy for domestic goals, free international flows of assets.</a:t>
            </a:r>
          </a:p>
        </p:txBody>
      </p:sp>
    </p:spTree>
    <p:extLst>
      <p:ext uri="{BB962C8B-B14F-4D97-AF65-F5344CB8AC3E}">
        <p14:creationId xmlns:p14="http://schemas.microsoft.com/office/powerpoint/2010/main" val="37535468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(2 of 3)</a:t>
            </a:r>
            <a:endParaRPr lang="en-US" dirty="0"/>
          </a:p>
        </p:txBody>
      </p:sp>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1714500"/>
            <a:ext cx="8392886" cy="4572000"/>
          </a:xfrm>
        </p:spPr>
        <p:txBody>
          <a:bodyPr/>
          <a:lstStyle/>
          <a:p>
            <a:pPr marL="432000" indent="-432000" eaLnBrk="1" hangingPunct="1">
              <a:buFont typeface="Times" pitchFamily="-1" charset="0"/>
              <a:buAutoNum type="arabicPeriod" startAt="5"/>
            </a:pPr>
            <a:r>
              <a:rPr lang="en-US" altLang="en-US" dirty="0">
                <a:latin typeface="Arial (Body)"/>
              </a:rPr>
              <a:t>Several types of offshore banks deal in offshore currency trading, which developed as international trade grew and as banks tried to avoid domestic regulations.</a:t>
            </a:r>
          </a:p>
          <a:p>
            <a:pPr marL="432000" indent="-432000" eaLnBrk="1" hangingPunct="1">
              <a:buFont typeface="Times" pitchFamily="-1" charset="0"/>
              <a:buAutoNum type="arabicPeriod" startAt="5"/>
            </a:pPr>
            <a:r>
              <a:rPr lang="en-US" altLang="en-US" dirty="0">
                <a:latin typeface="Arial (Body)"/>
              </a:rPr>
              <a:t>Domestic banks are regulated by deposit insurance, reserve requirements, capital requirements, restrictions on assets, and bank examinations. The central bank also acts as a lender of last resort.</a:t>
            </a:r>
          </a:p>
          <a:p>
            <a:pPr marL="432000" indent="-432000" eaLnBrk="1" hangingPunct="1">
              <a:buFont typeface="Times" pitchFamily="-1" charset="0"/>
              <a:buAutoNum type="arabicPeriod" startAt="5"/>
            </a:pPr>
            <a:r>
              <a:rPr lang="en-US" altLang="en-US" dirty="0">
                <a:latin typeface="Arial (Body)"/>
              </a:rPr>
              <a:t>International banking is generally not regulated in the same manner as domestic banking, and there is no international lender of last resort.</a:t>
            </a:r>
          </a:p>
        </p:txBody>
      </p:sp>
    </p:spTree>
    <p:extLst>
      <p:ext uri="{BB962C8B-B14F-4D97-AF65-F5344CB8AC3E}">
        <p14:creationId xmlns:p14="http://schemas.microsoft.com/office/powerpoint/2010/main" val="6988423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8FD5-9E5B-4789-86F3-F452F415E889}"/>
              </a:ext>
            </a:extLst>
          </p:cNvPr>
          <p:cNvSpPr>
            <a:spLocks noGrp="1"/>
          </p:cNvSpPr>
          <p:nvPr>
            <p:ph type="title"/>
          </p:nvPr>
        </p:nvSpPr>
        <p:spPr/>
        <p:txBody>
          <a:bodyPr/>
          <a:lstStyle/>
          <a:p>
            <a:r>
              <a:rPr lang="en-US" altLang="en-US" sz="3600" dirty="0"/>
              <a:t>Summary </a:t>
            </a:r>
            <a:r>
              <a:rPr lang="en-US" altLang="en-US" sz="2000" b="0" dirty="0"/>
              <a:t>(3 of 3)</a:t>
            </a:r>
            <a:endParaRPr lang="en-US" dirty="0"/>
          </a:p>
        </p:txBody>
      </p:sp>
      <p:sp>
        <p:nvSpPr>
          <p:cNvPr id="3" name="Content Placeholder 2">
            <a:extLst>
              <a:ext uri="{FF2B5EF4-FFF2-40B4-BE49-F238E27FC236}">
                <a16:creationId xmlns:a16="http://schemas.microsoft.com/office/drawing/2014/main" id="{BF59E261-387A-4DD5-8FA6-D9B5E96CC0D7}"/>
              </a:ext>
            </a:extLst>
          </p:cNvPr>
          <p:cNvSpPr>
            <a:spLocks noGrp="1"/>
          </p:cNvSpPr>
          <p:nvPr>
            <p:ph sz="quarter" idx="14"/>
          </p:nvPr>
        </p:nvSpPr>
        <p:spPr>
          <a:xfrm>
            <a:off x="457200" y="1714500"/>
            <a:ext cx="8392886" cy="4572000"/>
          </a:xfrm>
        </p:spPr>
        <p:txBody>
          <a:bodyPr/>
          <a:lstStyle/>
          <a:p>
            <a:pPr marL="432000" indent="-432000" eaLnBrk="1" hangingPunct="1">
              <a:buFont typeface="Times" pitchFamily="-1" charset="0"/>
              <a:buAutoNum type="arabicPeriod" startAt="8"/>
            </a:pPr>
            <a:r>
              <a:rPr lang="en-US" altLang="en-US" dirty="0">
                <a:latin typeface="Arial (Body)"/>
              </a:rPr>
              <a:t>As international capital markets have developed, diversification of assets across countries has grown and differences between interests rates on offshore currency deposits and domestic currency deposits within a country have shrunk.</a:t>
            </a:r>
          </a:p>
          <a:p>
            <a:pPr marL="432000" indent="-432000" eaLnBrk="1" hangingPunct="1">
              <a:buFont typeface="Times" pitchFamily="-1" charset="0"/>
              <a:buAutoNum type="arabicPeriod" startAt="8"/>
            </a:pPr>
            <a:r>
              <a:rPr lang="en-US" altLang="en-US" dirty="0">
                <a:latin typeface="Arial (Body)"/>
              </a:rPr>
              <a:t>If foreign and domestic assets are perfect substitutes, then interest rates in international capital markets do not predict exchange rate changes well.</a:t>
            </a:r>
          </a:p>
          <a:p>
            <a:pPr marL="432000" indent="-432000" eaLnBrk="1" hangingPunct="1">
              <a:buFont typeface="Times" pitchFamily="-1" charset="0"/>
              <a:buAutoNum type="arabicPeriod" startAt="8"/>
            </a:pPr>
            <a:r>
              <a:rPr lang="en-US" altLang="en-US" dirty="0">
                <a:latin typeface="Arial (Body)"/>
              </a:rPr>
              <a:t>Even economic variables do not predict exchange rate changes well in the short run.</a:t>
            </a:r>
          </a:p>
        </p:txBody>
      </p:sp>
    </p:spTree>
    <p:extLst>
      <p:ext uri="{BB962C8B-B14F-4D97-AF65-F5344CB8AC3E}">
        <p14:creationId xmlns:p14="http://schemas.microsoft.com/office/powerpoint/2010/main" val="3382314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150624</TotalTime>
  <Words>5103</Words>
  <Application>Microsoft Office PowerPoint</Application>
  <PresentationFormat>On-screen Show (4:3)</PresentationFormat>
  <Paragraphs>296</Paragraphs>
  <Slides>61</Slides>
  <Notes>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61</vt:i4>
      </vt:variant>
    </vt:vector>
  </HeadingPairs>
  <TitlesOfParts>
    <vt:vector size="71" baseType="lpstr">
      <vt:lpstr>Calibri</vt:lpstr>
      <vt:lpstr>Verdana</vt:lpstr>
      <vt:lpstr>Times New Roman</vt:lpstr>
      <vt:lpstr>Arial (Body)</vt:lpstr>
      <vt:lpstr>Noto Sans Symbols</vt:lpstr>
      <vt:lpstr>Arial</vt:lpstr>
      <vt:lpstr>Times</vt:lpstr>
      <vt:lpstr>USHE</vt:lpstr>
      <vt:lpstr>USHE_slide options</vt:lpstr>
      <vt:lpstr>Equation</vt:lpstr>
      <vt:lpstr>International Economics: Theory and Policy</vt:lpstr>
      <vt:lpstr>Learning Objectives (1 of 2)</vt:lpstr>
      <vt:lpstr>Learning Objectives (2 of 2)</vt:lpstr>
      <vt:lpstr>Preview</vt:lpstr>
      <vt:lpstr>International Capital Markets</vt:lpstr>
      <vt:lpstr>Gains from Trade (1 of 4)</vt:lpstr>
      <vt:lpstr>Figure 20.1 The Three Types of International Transaction</vt:lpstr>
      <vt:lpstr>Gains from Trade (2 of 4)</vt:lpstr>
      <vt:lpstr>Gains from Trade (3 of 4)</vt:lpstr>
      <vt:lpstr>Gains from Trade (4 of 4)</vt:lpstr>
      <vt:lpstr>Portfolio Diversification (1 of 3)</vt:lpstr>
      <vt:lpstr>Portfolio Diversification (2 of 3)</vt:lpstr>
      <vt:lpstr>Portfolio Diversification (3 of 3)</vt:lpstr>
      <vt:lpstr>Classification of Assets</vt:lpstr>
      <vt:lpstr>International Capital Markets (1 of 3)</vt:lpstr>
      <vt:lpstr>International Capital Markets (2 of 3)</vt:lpstr>
      <vt:lpstr>International Capital Markets (3 of 3)</vt:lpstr>
      <vt:lpstr>Offshore Banking (1 of 2)</vt:lpstr>
      <vt:lpstr>Offshore Banking (2 of 2)</vt:lpstr>
      <vt:lpstr>Offshore Currency Trading (1 of 3)</vt:lpstr>
      <vt:lpstr>Offshore Currency Trading (2 of 3)</vt:lpstr>
      <vt:lpstr>Offshore Currency Trading (3 of 3)</vt:lpstr>
      <vt:lpstr>Banking and Financial Fragility</vt:lpstr>
      <vt:lpstr>Government Safeguards against Financial Instability (1 of 5)</vt:lpstr>
      <vt:lpstr>Government Safeguards against Financial Instability (2 of 5)</vt:lpstr>
      <vt:lpstr>Government Safeguards against Financial Instability (3 of 5)</vt:lpstr>
      <vt:lpstr>Government Safeguards against Financial Instability (4 of 5)</vt:lpstr>
      <vt:lpstr>Government Safeguards against Financial Instability (5 of 5)</vt:lpstr>
      <vt:lpstr>Figure 20.2 Frequency of Systemic Banking Crises by Country Income Level, 1976–2017</vt:lpstr>
      <vt:lpstr>Difficulties in Regulating International Banking (1 of 4)</vt:lpstr>
      <vt:lpstr>Difficulties in Regulating International Banking (2 of 4)</vt:lpstr>
      <vt:lpstr>Difficulties in Regulating International Banking (3 of 4)</vt:lpstr>
      <vt:lpstr>Difficulties in Regulating International Banking (4 of 4)</vt:lpstr>
      <vt:lpstr>The Financial Trilemma (1 of 4)</vt:lpstr>
      <vt:lpstr>The Financial Trilemma (2 of 4)</vt:lpstr>
      <vt:lpstr>The Financial Trilemma (3 of 4)</vt:lpstr>
      <vt:lpstr>The Financial Trilemma (4 of 4)</vt:lpstr>
      <vt:lpstr>International Regulatory Cooperation (1 of 3)</vt:lpstr>
      <vt:lpstr>International Regulatory Cooperation (2 of 3)</vt:lpstr>
      <vt:lpstr>International Regulatory Cooperation (3 of 3)</vt:lpstr>
      <vt:lpstr>The Macroprudential Perspective</vt:lpstr>
      <vt:lpstr>The Global Financial Crisis of 2007–2009 (1 of 3)</vt:lpstr>
      <vt:lpstr>The Global Financial Crisis of 2007–2009 (2 of 3)</vt:lpstr>
      <vt:lpstr>The Global Financial Crisis of 2007–2009 (3 of 3)</vt:lpstr>
      <vt:lpstr>Cross-Border Bank Positions in Dollars and Euros, 1999–2019</vt:lpstr>
      <vt:lpstr>Extent of International Portfolio Diversification (1 of 2)</vt:lpstr>
      <vt:lpstr>Extent of International Portfolio Diversification (2 of 2)</vt:lpstr>
      <vt:lpstr>Extent of International Intertemporal Trade (1 of 2)</vt:lpstr>
      <vt:lpstr>Figure 20.3 Saving and Investment Rates for 24 Countries, 1990–2019 Averages</vt:lpstr>
      <vt:lpstr>Extent of International Intertemporal Trade (2 of 2)</vt:lpstr>
      <vt:lpstr>Extent of Information Transmission and Financial Capital Mobility (1 of 5)</vt:lpstr>
      <vt:lpstr>Extent of Information Transmission and Financial Capital Mobility (2 of 5)</vt:lpstr>
      <vt:lpstr>Figure 20.4 Comparing Onshore and Offshore Interest Rates for the Dollar</vt:lpstr>
      <vt:lpstr>Extent of Information Transmission and Financial Capital Mobility (3 of 5)</vt:lpstr>
      <vt:lpstr>Extent of Information Transmission and Financial Capital Mobility (4 of 5)</vt:lpstr>
      <vt:lpstr>Extent of Information Transmission and Financial Capital Mobility (5 of 5)</vt:lpstr>
      <vt:lpstr>Exchange Rate Predictability </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20, Financial Globalization: Opportunity and Crisis</dc:title>
  <dc:subject>Business</dc:subject>
  <dc:creator>Krugman/Obstfeld/Melitz</dc:creator>
  <cp:keywords>International Economics</cp:keywords>
  <dc:description>Long description alt-text is inserted in the notes pane;</dc:description>
  <cp:lastModifiedBy>admin</cp:lastModifiedBy>
  <cp:revision>3065</cp:revision>
  <dcterms:modified xsi:type="dcterms:W3CDTF">2021-11-05T04:48:59Z</dcterms:modified>
</cp:coreProperties>
</file>