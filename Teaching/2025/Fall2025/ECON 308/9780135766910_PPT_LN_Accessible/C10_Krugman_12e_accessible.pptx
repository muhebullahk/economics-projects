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7"/>
  </p:notesMasterIdLst>
  <p:handoutMasterIdLst>
    <p:handoutMasterId r:id="rId68"/>
  </p:handoutMasterIdLst>
  <p:sldIdLst>
    <p:sldId id="330" r:id="rId3"/>
    <p:sldId id="393" r:id="rId4"/>
    <p:sldId id="334" r:id="rId5"/>
    <p:sldId id="333" r:id="rId6"/>
    <p:sldId id="332"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354" r:id="rId27"/>
    <p:sldId id="355" r:id="rId28"/>
    <p:sldId id="356" r:id="rId29"/>
    <p:sldId id="357" r:id="rId30"/>
    <p:sldId id="358" r:id="rId31"/>
    <p:sldId id="359" r:id="rId32"/>
    <p:sldId id="360" r:id="rId33"/>
    <p:sldId id="361" r:id="rId34"/>
    <p:sldId id="362" r:id="rId35"/>
    <p:sldId id="363" r:id="rId36"/>
    <p:sldId id="364" r:id="rId37"/>
    <p:sldId id="368" r:id="rId38"/>
    <p:sldId id="365" r:id="rId39"/>
    <p:sldId id="366" r:id="rId40"/>
    <p:sldId id="369" r:id="rId41"/>
    <p:sldId id="367" r:id="rId42"/>
    <p:sldId id="370" r:id="rId43"/>
    <p:sldId id="371" r:id="rId44"/>
    <p:sldId id="372" r:id="rId45"/>
    <p:sldId id="373" r:id="rId46"/>
    <p:sldId id="374" r:id="rId47"/>
    <p:sldId id="375" r:id="rId48"/>
    <p:sldId id="376" r:id="rId49"/>
    <p:sldId id="377" r:id="rId50"/>
    <p:sldId id="378" r:id="rId51"/>
    <p:sldId id="379" r:id="rId52"/>
    <p:sldId id="380" r:id="rId53"/>
    <p:sldId id="381" r:id="rId54"/>
    <p:sldId id="382" r:id="rId55"/>
    <p:sldId id="383" r:id="rId56"/>
    <p:sldId id="384" r:id="rId57"/>
    <p:sldId id="385" r:id="rId58"/>
    <p:sldId id="386" r:id="rId59"/>
    <p:sldId id="387" r:id="rId60"/>
    <p:sldId id="394" r:id="rId61"/>
    <p:sldId id="389" r:id="rId62"/>
    <p:sldId id="390" r:id="rId63"/>
    <p:sldId id="391" r:id="rId64"/>
    <p:sldId id="392" r:id="rId65"/>
    <p:sldId id="298" r:id="rId66"/>
  </p:sldIdLst>
  <p:sldSz cx="9144000" cy="6858000" type="screen4x3"/>
  <p:notesSz cx="6858000" cy="9144000"/>
  <p:embeddedFontLst>
    <p:embeddedFont>
      <p:font typeface="ＭＳ Ｐゴシック" panose="020B0600070205080204" pitchFamily="34" charset="-128"/>
      <p:regular r:id="rId69"/>
    </p:embeddedFont>
    <p:embeddedFont>
      <p:font typeface="Verdana" panose="020B0604030504040204" pitchFamily="34" charset="0"/>
      <p:regular r:id="rId70"/>
      <p:bold r:id="rId71"/>
      <p:italic r:id="rId72"/>
      <p:boldItalic r:id="rId73"/>
    </p:embeddedFont>
    <p:embeddedFont>
      <p:font typeface="Noto Sans Symbols" panose="020B0604020202020204" charset="0"/>
      <p:regular r:id="rId74"/>
      <p:bold r:id="rId75"/>
      <p:italic r:id="rId76"/>
      <p:boldItalic r:id="rId77"/>
    </p:embeddedFont>
    <p:embeddedFont>
      <p:font typeface="Times" panose="02020603050405020304" pitchFamily="18" charset="0"/>
      <p:regular r:id="rId78"/>
      <p:bold r:id="rId79"/>
      <p:italic r:id="rId80"/>
      <p:boldItalic r:id="rId8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86957" autoAdjust="0"/>
  </p:normalViewPr>
  <p:slideViewPr>
    <p:cSldViewPr snapToGrid="0" snapToObjects="1">
      <p:cViewPr varScale="1">
        <p:scale>
          <a:sx n="70" d="100"/>
          <a:sy n="70" d="100"/>
        </p:scale>
        <p:origin x="1950" y="66"/>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5024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handoutMaster" Target="handoutMasters/handoutMaster1.xml"/><Relationship Id="rId76" Type="http://schemas.openxmlformats.org/officeDocument/2006/relationships/font" Target="fonts/font8.fntdata"/><Relationship Id="rId8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font" Target="fonts/font6.fntdata"/><Relationship Id="rId79" Type="http://schemas.openxmlformats.org/officeDocument/2006/relationships/font" Target="fonts/font11.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commentAuthors" Target="commentAuthor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4.fntdata"/><Relationship Id="rId80" Type="http://schemas.openxmlformats.org/officeDocument/2006/relationships/font" Target="fonts/font12.fntdata"/><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font" Target="fonts/font13.fntdata"/><Relationship Id="rId8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11/10/2021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their intersection on the y-axis are 2 lines, at y = world price and, above, y = world price plus tariff. Points are plotted on the S and D curves at y = world price plus tariff. A shaded triangle shape has the S curve as a left boundary, y = world price as the bottom boundary, and the point at y = world price plus tariff as the right boundary. This triangle represents production distortion. A second triangle has the D curve as the right boundary, y = world price as the bottom boundary, the point at y = world price plus tariff as the left boundary. This triangle represents consumption distortion.</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7268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upside-down U-shaped curve extends from the y-axis, with point 1 at its peak, x = optimum tariff, t sub o. As the curve falls to the right with increasing steepness, the curve changes to a horizontal line at x = prohibitive tariff rate, t sub p.</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1212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the point of intersection is a horizontal line at y = P sub W + t, which crosses the S curve at (S super 2, P sub W + t) and the D curve at (D super 2, P sub W + t). These points form the top vertices for two separate shaded triangles that each have outer boundaries of the curves. The inner boundaries are the vertical lines at x = S super 2 and x = D super 2, respectively. The lower boundaries of the triangles are the horizontal line at y = P sub W.  The shaded left triangle is ay and the shaded right triangle is b. Panel b shows a graph of dollars versus quantity, Q. A falling curve with decreasing steepness is the marginal social benefit. The area below the curve, between x = S super 1 and x = S super 2, with the x-axis as the lower boundary, is the shaded area c, which aligns with shaded area ay from the first graph.</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85079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dashed lines are drawn from the y-axis to the line. Y = t sub M intersects the line at x = median voter. Y = t sub B intersects the line at a higher point, and y = t sub Ay at the highest point.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07910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The tariff rate in percent for the U S is plotted versus year, 18 91 to 20 16. From 18 91 to 19 12, the tariff rate gradually declines from 48% to 40%. In 19 21, a large dip to 15% occurs and then in 19 32 the tariff rate rises to a peak of 59%. Until 19 48, the rate drops rapidly to 12%. From 19 48 to 20 16, the rate declines gradually, with a tariff rate of 4% in 20 16.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32177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trade on both sides: U S, 10; Japan, 10. Free trade from one side, protection by the other: U S, negative 10; Japan, 20. Protection from one side, free trade by the other: U S, 20; Japan, negative 10. Protection on both sides: U S, negative 5; Japan, negative 5.</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4068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start at the y-axis., and intersect at y = P sub F. Y = P sub F is roughly midway y = P sub W, which intersects the foreign export supply line below; and y = P tilde, which intersects the home import demand line above. The distance between the upper and lower horizontal lines represents, 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13546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 curve rises through y = P sub W, then through (Q super 1, P sub F) and (Q super 2, P tilde). The D curve falls through (D super 2, P tilde) and then (D super 1, P sub F). Between y = P tilde above and y = P sub F below, shaded triangular areas below the S and D curves, and between x = Q super 1 and x = Q super 1, for the S curve, and x = D super 2 and x = D super 1, for the D curve, represent loss. A shaded square area between y = P sub F above, y = P sub W below, x = Q super 2 at the left, and x = D super 2 at the right, represents gain.</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15222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64</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9.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notesSlide" Target="../notesSlides/notesSlide5.xml"/><Relationship Id="rId7" Type="http://schemas.openxmlformats.org/officeDocument/2006/relationships/oleObject" Target="../embeddings/oleObject4.bin"/><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3.bin"/><Relationship Id="rId10" Type="http://schemas.openxmlformats.org/officeDocument/2006/relationships/image" Target="../media/image10.wmf"/><Relationship Id="rId4" Type="http://schemas.openxmlformats.org/officeDocument/2006/relationships/image" Target="../media/image11.jpg"/><Relationship Id="rId9"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7.bin"/><Relationship Id="rId4" Type="http://schemas.openxmlformats.org/officeDocument/2006/relationships/image" Target="../media/image14.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9.bin"/><Relationship Id="rId4" Type="http://schemas.openxmlformats.org/officeDocument/2006/relationships/image" Target="../media/image16.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10</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 xmlns:adec="http://schemas.microsoft.com/office/drawing/2017/decorative" val="1"/>
              </a:ext>
            </a:extLst>
          </p:cNvPr>
          <p:cNvSpPr>
            <a:spLocks noGrp="1"/>
          </p:cNvSpPr>
          <p:nvPr>
            <p:ph sz="quarter" idx="15"/>
          </p:nvPr>
        </p:nvSpPr>
        <p:spPr>
          <a:xfrm>
            <a:off x="5029200" y="3252790"/>
            <a:ext cx="3657600" cy="970076"/>
          </a:xfrm>
        </p:spPr>
        <p:txBody>
          <a:bodyPr/>
          <a:lstStyle/>
          <a:p>
            <a:r>
              <a:rPr lang="en-US" altLang="en-US" dirty="0">
                <a:ea typeface="ヒラギノ角ゴ Pro W3" pitchFamily="-84" charset="-128"/>
                <a:cs typeface="Arial" panose="020B0604020202020204" pitchFamily="34" charset="0"/>
              </a:rPr>
              <a:t>The Political Economy of Trade Policy</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cs typeface="Verdana" panose="020B0604030504040204" pitchFamily="34" charset="0"/>
              </a:rPr>
              <a:t>Copyright © </a:t>
            </a:r>
            <a:r>
              <a:rPr lang="en-US" dirty="0"/>
              <a:t>2022, 2018, 2015 </a:t>
            </a:r>
            <a:r>
              <a:rPr lang="en-US" altLang="en-US" sz="1200" b="0" dirty="0">
                <a:latin typeface="Verdana"/>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Learning Objectives</a:t>
            </a:r>
            <a:endParaRPr lang="en-IN" dirty="0"/>
          </a:p>
        </p:txBody>
      </p:sp>
      <p:sp>
        <p:nvSpPr>
          <p:cNvPr id="3" name="Content Placeholder 2"/>
          <p:cNvSpPr>
            <a:spLocks noGrp="1"/>
          </p:cNvSpPr>
          <p:nvPr>
            <p:ph sz="quarter" idx="13"/>
          </p:nvPr>
        </p:nvSpPr>
        <p:spPr>
          <a:xfrm>
            <a:off x="457200" y="1556326"/>
            <a:ext cx="8229600" cy="4788911"/>
          </a:xfrm>
        </p:spPr>
        <p:txBody>
          <a:bodyPr/>
          <a:lstStyle/>
          <a:p>
            <a:pPr marL="432" indent="0">
              <a:buNone/>
            </a:pPr>
            <a:r>
              <a:rPr lang="en-US" b="1" dirty="0">
                <a:solidFill>
                  <a:srgbClr val="007FA3"/>
                </a:solidFill>
                <a:latin typeface="Arial (Body)"/>
                <a:ea typeface="Verdana" panose="020B0604030504040204" pitchFamily="34" charset="0"/>
                <a:cs typeface="Arial" panose="020B0604020202020204" pitchFamily="34" charset="0"/>
              </a:rPr>
              <a:t>10.1</a:t>
            </a:r>
            <a:r>
              <a:rPr lang="en-US" dirty="0">
                <a:latin typeface="Arial (Body)"/>
                <a:ea typeface="Verdana" panose="020B0604030504040204" pitchFamily="34" charset="0"/>
                <a:cs typeface="Arial" panose="020B0604020202020204" pitchFamily="34" charset="0"/>
              </a:rPr>
              <a:t> </a:t>
            </a:r>
            <a:r>
              <a:rPr lang="en-US" dirty="0">
                <a:latin typeface="Arial (Body)"/>
                <a:cs typeface="Arial" panose="020B0604020202020204" pitchFamily="34" charset="0"/>
              </a:rPr>
              <a:t>Articulate arguments for free trade that go beyond the conventional gains from trade.</a:t>
            </a:r>
          </a:p>
          <a:p>
            <a:pPr marL="432" indent="0">
              <a:buNone/>
            </a:pPr>
            <a:r>
              <a:rPr lang="en-US" b="1" dirty="0">
                <a:solidFill>
                  <a:srgbClr val="007FA3"/>
                </a:solidFill>
                <a:latin typeface="Arial (Body)"/>
                <a:ea typeface="Verdana" panose="020B0604030504040204" pitchFamily="34" charset="0"/>
                <a:cs typeface="Arial" panose="020B0604020202020204" pitchFamily="34" charset="0"/>
              </a:rPr>
              <a:t>10.2 </a:t>
            </a:r>
            <a:r>
              <a:rPr lang="en-US" dirty="0">
                <a:latin typeface="Arial (Body)"/>
                <a:cs typeface="Arial" panose="020B0604020202020204" pitchFamily="34" charset="0"/>
              </a:rPr>
              <a:t>Evaluate national welfare arguments against free trade.</a:t>
            </a:r>
          </a:p>
          <a:p>
            <a:pPr marL="432" indent="0">
              <a:buNone/>
            </a:pPr>
            <a:r>
              <a:rPr lang="en-US" b="1" dirty="0">
                <a:solidFill>
                  <a:srgbClr val="007FA3"/>
                </a:solidFill>
                <a:latin typeface="Arial (Body)"/>
                <a:ea typeface="Verdana" panose="020B0604030504040204" pitchFamily="34" charset="0"/>
                <a:cs typeface="Arial" panose="020B0604020202020204" pitchFamily="34" charset="0"/>
              </a:rPr>
              <a:t>10.3</a:t>
            </a:r>
            <a:r>
              <a:rPr lang="en-US" b="1" dirty="0">
                <a:solidFill>
                  <a:schemeClr val="accent1"/>
                </a:solidFill>
                <a:latin typeface="Arial (Body)"/>
                <a:ea typeface="Verdana" panose="020B0604030504040204" pitchFamily="34" charset="0"/>
                <a:cs typeface="Arial" panose="020B0604020202020204" pitchFamily="34" charset="0"/>
              </a:rPr>
              <a:t> </a:t>
            </a:r>
            <a:r>
              <a:rPr lang="en-US" dirty="0">
                <a:latin typeface="Arial (Body)"/>
                <a:cs typeface="Arial" panose="020B0604020202020204" pitchFamily="34" charset="0"/>
              </a:rPr>
              <a:t>Relate the theory and evidence behind “political economy” views of trade policy.</a:t>
            </a:r>
          </a:p>
          <a:p>
            <a:pPr marL="432" indent="0">
              <a:buNone/>
            </a:pPr>
            <a:r>
              <a:rPr lang="en-US" b="1" dirty="0">
                <a:solidFill>
                  <a:srgbClr val="007FA3"/>
                </a:solidFill>
                <a:latin typeface="Arial (Body)"/>
                <a:ea typeface="Verdana" panose="020B0604030504040204" pitchFamily="34" charset="0"/>
                <a:cs typeface="Arial" panose="020B0604020202020204" pitchFamily="34" charset="0"/>
              </a:rPr>
              <a:t>10.4</a:t>
            </a:r>
            <a:r>
              <a:rPr lang="en-US" b="1" dirty="0">
                <a:solidFill>
                  <a:schemeClr val="accent1"/>
                </a:solidFill>
                <a:latin typeface="Arial (Body)"/>
                <a:ea typeface="Verdana" panose="020B0604030504040204" pitchFamily="34" charset="0"/>
                <a:cs typeface="Arial" panose="020B0604020202020204" pitchFamily="34" charset="0"/>
              </a:rPr>
              <a:t> </a:t>
            </a:r>
            <a:r>
              <a:rPr lang="en-US" dirty="0">
                <a:latin typeface="Arial (Body)"/>
                <a:cs typeface="Arial" panose="020B0604020202020204" pitchFamily="34" charset="0"/>
              </a:rPr>
              <a:t>Explain how international negotiations and agreements have promoted world trade.</a:t>
            </a:r>
          </a:p>
          <a:p>
            <a:pPr marL="432" indent="0">
              <a:buNone/>
            </a:pPr>
            <a:r>
              <a:rPr lang="en-US" b="1" dirty="0">
                <a:solidFill>
                  <a:srgbClr val="007FA3"/>
                </a:solidFill>
                <a:latin typeface="Arial (Body)"/>
                <a:ea typeface="Verdana" panose="020B0604030504040204" pitchFamily="34" charset="0"/>
                <a:cs typeface="Arial" panose="020B0604020202020204" pitchFamily="34" charset="0"/>
              </a:rPr>
              <a:t>10.5</a:t>
            </a:r>
            <a:r>
              <a:rPr lang="en-US" dirty="0">
                <a:latin typeface="Arial (Body)"/>
                <a:cs typeface="Arial" panose="020B0604020202020204" pitchFamily="34" charset="0"/>
              </a:rPr>
              <a:t> Discuss the special issues raised by preferential trade agreements.</a:t>
            </a:r>
          </a:p>
        </p:txBody>
      </p:sp>
    </p:spTree>
    <p:extLst>
      <p:ext uri="{BB962C8B-B14F-4D97-AF65-F5344CB8AC3E}">
        <p14:creationId xmlns:p14="http://schemas.microsoft.com/office/powerpoint/2010/main" val="3714759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Preview</a:t>
            </a:r>
            <a:endParaRPr lang="en-US" dirty="0"/>
          </a:p>
        </p:txBody>
      </p:sp>
      <p:sp>
        <p:nvSpPr>
          <p:cNvPr id="2" name="Content Placeholder 1"/>
          <p:cNvSpPr>
            <a:spLocks noGrp="1"/>
          </p:cNvSpPr>
          <p:nvPr>
            <p:ph sz="quarter" idx="13"/>
          </p:nvPr>
        </p:nvSpPr>
        <p:spPr/>
        <p:txBody>
          <a:bodyPr/>
          <a:lstStyle/>
          <a:p>
            <a:pPr eaLnBrk="1" hangingPunct="1"/>
            <a:r>
              <a:rPr lang="en-US" altLang="en-US" dirty="0">
                <a:latin typeface="Arial (Body)"/>
                <a:ea typeface="ヒラギノ角ゴ Pro W3" pitchFamily="-84" charset="-128"/>
              </a:rPr>
              <a:t>The cases for free trade</a:t>
            </a:r>
          </a:p>
          <a:p>
            <a:pPr eaLnBrk="1" hangingPunct="1"/>
            <a:r>
              <a:rPr lang="en-US" altLang="en-US" dirty="0">
                <a:latin typeface="Arial (Body)"/>
                <a:ea typeface="ヒラギノ角ゴ Pro W3" pitchFamily="-84" charset="-128"/>
              </a:rPr>
              <a:t>The cases against free trade</a:t>
            </a:r>
          </a:p>
          <a:p>
            <a:pPr eaLnBrk="1" hangingPunct="1"/>
            <a:r>
              <a:rPr lang="en-US" altLang="en-US" dirty="0">
                <a:latin typeface="Arial (Body)"/>
                <a:ea typeface="ヒラギノ角ゴ Pro W3" pitchFamily="-84" charset="-128"/>
              </a:rPr>
              <a:t>Political models of trade policy</a:t>
            </a:r>
          </a:p>
          <a:p>
            <a:pPr eaLnBrk="1" hangingPunct="1"/>
            <a:r>
              <a:rPr lang="en-US" altLang="en-US" dirty="0">
                <a:latin typeface="Arial (Body)"/>
                <a:ea typeface="ヒラギノ角ゴ Pro W3" pitchFamily="-84" charset="-128"/>
              </a:rPr>
              <a:t>International negotiations of trade policy and the World Trade Organization</a:t>
            </a:r>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The Cases for Free Trade </a:t>
            </a:r>
            <a:r>
              <a:rPr lang="en-US" altLang="en-US" sz="2000" b="0" dirty="0">
                <a:ea typeface="ヒラギノ角ゴ Pro W3" pitchFamily="-84" charset="-128"/>
              </a:rPr>
              <a:t>(1 of 6)</a:t>
            </a:r>
            <a:endParaRPr lang="en-US" dirty="0"/>
          </a:p>
        </p:txBody>
      </p:sp>
      <p:sp>
        <p:nvSpPr>
          <p:cNvPr id="2" name="Content Placeholder 1"/>
          <p:cNvSpPr>
            <a:spLocks noGrp="1"/>
          </p:cNvSpPr>
          <p:nvPr>
            <p:ph sz="quarter" idx="13"/>
          </p:nvPr>
        </p:nvSpPr>
        <p:spPr>
          <a:xfrm>
            <a:off x="457200" y="1556327"/>
            <a:ext cx="8152410" cy="4586896"/>
          </a:xfrm>
        </p:spPr>
        <p:txBody>
          <a:bodyPr/>
          <a:lstStyle/>
          <a:p>
            <a:pPr eaLnBrk="1" hangingPunct="1"/>
            <a:r>
              <a:rPr lang="en-US" altLang="en-US" dirty="0">
                <a:latin typeface="Arial (Body)"/>
                <a:ea typeface="ヒラギノ角ゴ Pro W3" pitchFamily="-84" charset="-128"/>
              </a:rPr>
              <a:t>The first case for free trade is the argument that producers and consumers </a:t>
            </a:r>
            <a:r>
              <a:rPr lang="en-US" altLang="en-US" b="1" dirty="0">
                <a:latin typeface="Arial (Body)"/>
                <a:ea typeface="ヒラギノ角ゴ Pro W3" pitchFamily="-84" charset="-128"/>
              </a:rPr>
              <a:t>allocate resources most efficiently</a:t>
            </a:r>
            <a:r>
              <a:rPr lang="en-US" altLang="en-US" dirty="0">
                <a:latin typeface="Arial (Body)"/>
                <a:ea typeface="ヒラギノ角ゴ Pro W3" pitchFamily="-84" charset="-128"/>
              </a:rPr>
              <a:t> when governments do not distort market prices through trade policy.</a:t>
            </a:r>
          </a:p>
          <a:p>
            <a:pPr lvl="1" eaLnBrk="1" hangingPunct="1"/>
            <a:r>
              <a:rPr lang="en-US" altLang="en-US" dirty="0">
                <a:latin typeface="Arial (Body)"/>
                <a:ea typeface="ヒラギノ角ゴ Pro W3" pitchFamily="-84" charset="-128"/>
              </a:rPr>
              <a:t>National welfare of a small country is highest with free trade.</a:t>
            </a:r>
          </a:p>
          <a:p>
            <a:pPr lvl="1" eaLnBrk="1" hangingPunct="1"/>
            <a:r>
              <a:rPr lang="en-US" altLang="en-US" dirty="0">
                <a:latin typeface="Arial (Body)"/>
                <a:ea typeface="ヒラギノ角ゴ Pro W3" pitchFamily="-84" charset="-128"/>
              </a:rPr>
              <a:t>With restricted trade, consumers pay higher prices and consume too little while firms produce too much.</a:t>
            </a: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10.1 The Efficiency Case for Free Trade</a:t>
            </a:r>
            <a:endParaRPr lang="en-US" sz="3200" dirty="0"/>
          </a:p>
        </p:txBody>
      </p:sp>
      <p:pic>
        <p:nvPicPr>
          <p:cNvPr id="4" name="Content Placeholder 3" descr="A graph plots price, P versus quantity, Q. A rising S curve intersects a falling D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547987" y="1569972"/>
            <a:ext cx="4048024" cy="3525697"/>
          </a:xfrm>
        </p:spPr>
      </p:pic>
      <p:sp>
        <p:nvSpPr>
          <p:cNvPr id="3" name="Content Placeholder 2"/>
          <p:cNvSpPr>
            <a:spLocks noGrp="1"/>
          </p:cNvSpPr>
          <p:nvPr>
            <p:ph sz="quarter" idx="14"/>
          </p:nvPr>
        </p:nvSpPr>
        <p:spPr>
          <a:xfrm>
            <a:off x="457200" y="5303098"/>
            <a:ext cx="8229600" cy="892736"/>
          </a:xfrm>
        </p:spPr>
        <p:txBody>
          <a:bodyPr/>
          <a:lstStyle/>
          <a:p>
            <a:pPr marL="432" indent="0">
              <a:buNone/>
            </a:pPr>
            <a:r>
              <a:rPr lang="en-US" dirty="0">
                <a:latin typeface="Arial (Body)"/>
              </a:rPr>
              <a:t>A trade restriction, such as a tariff, leads to production and consumption distortions.</a:t>
            </a:r>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for Free Trade </a:t>
            </a:r>
            <a:r>
              <a:rPr lang="en-US" altLang="en-US" sz="2000" b="0" dirty="0">
                <a:ea typeface="ヒラギノ角ゴ Pro W3" pitchFamily="-84" charset="-128"/>
              </a:rPr>
              <a:t>(2 of 6)</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However, because tariff rates are already low for most countries, the estimated benefits of moving to free trade are only a small fraction of national income for most countries.</a:t>
            </a:r>
          </a:p>
          <a:p>
            <a:pPr lvl="1" eaLnBrk="1" hangingPunct="1"/>
            <a:r>
              <a:rPr lang="en-US" altLang="en-US" dirty="0">
                <a:latin typeface="Arial (Body)"/>
                <a:ea typeface="ヒラギノ角ゴ Pro W3" pitchFamily="-84" charset="-128"/>
              </a:rPr>
              <a:t>For the world as a whole, protection costs less than 1 percent of G</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D</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P.</a:t>
            </a:r>
          </a:p>
          <a:p>
            <a:pPr lvl="1" eaLnBrk="1" hangingPunct="1"/>
            <a:r>
              <a:rPr lang="en-US" altLang="en-US" dirty="0">
                <a:latin typeface="Arial (Body)"/>
                <a:ea typeface="ヒラギノ角ゴ Pro W3" pitchFamily="-84" charset="-128"/>
              </a:rPr>
              <a:t>The gains from free trade are somewhat smaller for advanced economies such as the United States and Europe and somewhat larger for poorer developing countries.</a:t>
            </a:r>
          </a:p>
        </p:txBody>
      </p:sp>
    </p:spTree>
    <p:extLst>
      <p:ext uri="{BB962C8B-B14F-4D97-AF65-F5344CB8AC3E}">
        <p14:creationId xmlns:p14="http://schemas.microsoft.com/office/powerpoint/2010/main" val="28984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Table 10.1 Benefits of a Move to Worldwide Free Trade (percent of G</a:t>
            </a:r>
            <a:r>
              <a:rPr lang="en-US" altLang="en-US" sz="100" dirty="0">
                <a:ea typeface="ヒラギノ角ゴ Pro W3" pitchFamily="-84" charset="-128"/>
              </a:rPr>
              <a:t> </a:t>
            </a:r>
            <a:r>
              <a:rPr lang="en-US" altLang="en-US" sz="3200" dirty="0">
                <a:ea typeface="ヒラギノ角ゴ Pro W3" pitchFamily="-84" charset="-128"/>
              </a:rPr>
              <a:t>D</a:t>
            </a:r>
            <a:r>
              <a:rPr lang="en-US" altLang="en-US" sz="100" dirty="0">
                <a:ea typeface="ヒラギノ角ゴ Pro W3" pitchFamily="-84" charset="-128"/>
              </a:rPr>
              <a:t> </a:t>
            </a:r>
            <a:r>
              <a:rPr lang="en-US" altLang="en-US" sz="3200" dirty="0">
                <a:ea typeface="ヒラギノ角ゴ Pro W3" pitchFamily="-84" charset="-128"/>
              </a:rPr>
              <a:t>P)</a:t>
            </a:r>
            <a:endParaRPr lang="en-US"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3520043648"/>
              </p:ext>
            </p:extLst>
          </p:nvPr>
        </p:nvGraphicFramePr>
        <p:xfrm>
          <a:off x="457200" y="1555750"/>
          <a:ext cx="5183579" cy="1981200"/>
        </p:xfrm>
        <a:graphic>
          <a:graphicData uri="http://schemas.openxmlformats.org/drawingml/2006/table">
            <a:tbl>
              <a:tblPr firstCol="1" bandRow="1">
                <a:tableStyleId>{2D5ABB26-0587-4C30-8999-92F81FD0307C}</a:tableStyleId>
              </a:tblPr>
              <a:tblGrid>
                <a:gridCol w="2856016">
                  <a:extLst>
                    <a:ext uri="{9D8B030D-6E8A-4147-A177-3AD203B41FA5}">
                      <a16:colId xmlns:a16="http://schemas.microsoft.com/office/drawing/2014/main" val="344012375"/>
                    </a:ext>
                  </a:extLst>
                </a:gridCol>
                <a:gridCol w="2327563">
                  <a:extLst>
                    <a:ext uri="{9D8B030D-6E8A-4147-A177-3AD203B41FA5}">
                      <a16:colId xmlns:a16="http://schemas.microsoft.com/office/drawing/2014/main" val="3066102406"/>
                    </a:ext>
                  </a:extLst>
                </a:gridCol>
              </a:tblGrid>
              <a:tr h="370840">
                <a:tc>
                  <a:txBody>
                    <a:bodyPr/>
                    <a:lstStyle/>
                    <a:p>
                      <a:pPr algn="l"/>
                      <a:r>
                        <a:rPr lang="en-US" sz="2000" b="0" dirty="0"/>
                        <a:t>United States</a:t>
                      </a:r>
                      <a:endParaRPr lang="en-US" sz="2000" b="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0" dirty="0"/>
                        <a:t>0.57</a:t>
                      </a:r>
                      <a:endParaRPr lang="en-US" sz="2000" b="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20945763"/>
                  </a:ext>
                </a:extLst>
              </a:tr>
              <a:tr h="370840">
                <a:tc>
                  <a:txBody>
                    <a:bodyPr/>
                    <a:lstStyle/>
                    <a:p>
                      <a:r>
                        <a:rPr lang="en-US" sz="2000" dirty="0"/>
                        <a:t>European</a:t>
                      </a:r>
                      <a:r>
                        <a:rPr lang="en-US" sz="2000" baseline="0" dirty="0"/>
                        <a:t> Union</a:t>
                      </a:r>
                      <a:endParaRPr lang="en-US" sz="20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0.61</a:t>
                      </a:r>
                      <a:endParaRPr lang="en-US" sz="20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6188579"/>
                  </a:ext>
                </a:extLst>
              </a:tr>
              <a:tr h="370840">
                <a:tc>
                  <a:txBody>
                    <a:bodyPr/>
                    <a:lstStyle/>
                    <a:p>
                      <a:r>
                        <a:rPr lang="en-US" sz="2000" dirty="0"/>
                        <a:t>Japan</a:t>
                      </a:r>
                      <a:endParaRPr lang="en-US" sz="20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0.85</a:t>
                      </a:r>
                      <a:endParaRPr lang="en-US" sz="20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1358094"/>
                  </a:ext>
                </a:extLst>
              </a:tr>
              <a:tr h="370840">
                <a:tc>
                  <a:txBody>
                    <a:bodyPr/>
                    <a:lstStyle/>
                    <a:p>
                      <a:r>
                        <a:rPr lang="en-US" sz="2000" dirty="0"/>
                        <a:t>Developing countries</a:t>
                      </a:r>
                      <a:endParaRPr lang="en-US" sz="20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1.4</a:t>
                      </a:r>
                      <a:endParaRPr lang="en-US" sz="20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1120203"/>
                  </a:ext>
                </a:extLst>
              </a:tr>
              <a:tr h="370840">
                <a:tc>
                  <a:txBody>
                    <a:bodyPr/>
                    <a:lstStyle/>
                    <a:p>
                      <a:r>
                        <a:rPr lang="en-US" sz="2000" dirty="0"/>
                        <a:t>World</a:t>
                      </a:r>
                      <a:endParaRPr lang="en-US" sz="20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0.93</a:t>
                      </a:r>
                      <a:endParaRPr lang="en-US" sz="20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5718776"/>
                  </a:ext>
                </a:extLst>
              </a:tr>
            </a:tbl>
          </a:graphicData>
        </a:graphic>
      </p:graphicFrame>
      <p:sp>
        <p:nvSpPr>
          <p:cNvPr id="5" name="Content Placeholder 4"/>
          <p:cNvSpPr>
            <a:spLocks noGrp="1"/>
          </p:cNvSpPr>
          <p:nvPr>
            <p:ph sz="quarter" idx="14"/>
          </p:nvPr>
        </p:nvSpPr>
        <p:spPr>
          <a:xfrm>
            <a:off x="457200" y="3780050"/>
            <a:ext cx="8229600" cy="661321"/>
          </a:xfrm>
        </p:spPr>
        <p:txBody>
          <a:bodyPr/>
          <a:lstStyle/>
          <a:p>
            <a:pPr marL="432" indent="0">
              <a:buNone/>
            </a:pPr>
            <a:r>
              <a:rPr lang="en-US" sz="1600" b="1" dirty="0">
                <a:latin typeface="Arial (Body)"/>
              </a:rPr>
              <a:t>Source: </a:t>
            </a:r>
            <a:r>
              <a:rPr lang="en-US" sz="1600" dirty="0">
                <a:latin typeface="Arial (Body)"/>
              </a:rPr>
              <a:t>William Cline, </a:t>
            </a:r>
            <a:r>
              <a:rPr lang="en-US" sz="1600" b="1" dirty="0">
                <a:latin typeface="Arial (Body)"/>
              </a:rPr>
              <a:t>Trade Policy and Global Poverty </a:t>
            </a:r>
            <a:r>
              <a:rPr lang="en-US" sz="1600" dirty="0">
                <a:latin typeface="Arial (Body)"/>
              </a:rPr>
              <a:t>(Washington, D.C.: Institute for International Economics, 2004), p.180.</a:t>
            </a:r>
          </a:p>
        </p:txBody>
      </p:sp>
    </p:spTree>
    <p:extLst>
      <p:ext uri="{BB962C8B-B14F-4D97-AF65-F5344CB8AC3E}">
        <p14:creationId xmlns:p14="http://schemas.microsoft.com/office/powerpoint/2010/main" val="3695011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for Free Trade </a:t>
            </a:r>
            <a:r>
              <a:rPr lang="en-US" altLang="en-US" sz="2000" b="0" dirty="0">
                <a:ea typeface="ヒラギノ角ゴ Pro W3" pitchFamily="-84" charset="-128"/>
              </a:rPr>
              <a:t>(3 of 6)</a:t>
            </a:r>
            <a:endParaRPr lang="en-US" dirty="0"/>
          </a:p>
        </p:txBody>
      </p:sp>
      <p:sp>
        <p:nvSpPr>
          <p:cNvPr id="5" name="Content Placeholder 4"/>
          <p:cNvSpPr>
            <a:spLocks noGrp="1"/>
          </p:cNvSpPr>
          <p:nvPr>
            <p:ph sz="quarter" idx="13"/>
          </p:nvPr>
        </p:nvSpPr>
        <p:spPr/>
        <p:txBody>
          <a:bodyPr/>
          <a:lstStyle/>
          <a:p>
            <a:pPr eaLnBrk="1" hangingPunct="1"/>
            <a:r>
              <a:rPr lang="en-US" altLang="en-US" dirty="0">
                <a:latin typeface="Arial (Body)"/>
                <a:ea typeface="ヒラギノ角ゴ Pro W3" pitchFamily="-84" charset="-128"/>
              </a:rPr>
              <a:t>Free trade allows firms or industry to take advantage of </a:t>
            </a:r>
            <a:r>
              <a:rPr lang="en-US" altLang="en-US" b="1" dirty="0">
                <a:latin typeface="Arial (Body)"/>
                <a:ea typeface="ヒラギノ角ゴ Pro W3" pitchFamily="-84" charset="-128"/>
              </a:rPr>
              <a:t>economies of scale</a:t>
            </a:r>
            <a:r>
              <a:rPr lang="en-US" altLang="en-US" dirty="0">
                <a:latin typeface="Arial (Body)"/>
                <a:ea typeface="ヒラギノ角ゴ Pro W3" pitchFamily="-84" charset="-128"/>
              </a:rPr>
              <a:t>.</a:t>
            </a:r>
          </a:p>
          <a:p>
            <a:pPr eaLnBrk="1" hangingPunct="1"/>
            <a:r>
              <a:rPr lang="en-US" altLang="en-US" dirty="0">
                <a:latin typeface="Arial (Body)"/>
                <a:ea typeface="ヒラギノ角ゴ Pro W3" pitchFamily="-84" charset="-128"/>
              </a:rPr>
              <a:t>Protected markets limit gains from external economies of scale by inhibiting the concentration of industries:</a:t>
            </a:r>
          </a:p>
          <a:p>
            <a:pPr lvl="1" eaLnBrk="1" hangingPunct="1"/>
            <a:r>
              <a:rPr lang="en-US" altLang="en-US" dirty="0">
                <a:latin typeface="Arial (Body)"/>
                <a:ea typeface="ヒラギノ角ゴ Pro W3" pitchFamily="-84" charset="-128"/>
              </a:rPr>
              <a:t>Too many firms to enter the protected industry.</a:t>
            </a:r>
          </a:p>
          <a:p>
            <a:pPr lvl="1" eaLnBrk="1" hangingPunct="1"/>
            <a:r>
              <a:rPr lang="en-US" altLang="en-US" dirty="0">
                <a:latin typeface="Arial (Body)"/>
                <a:ea typeface="ヒラギノ角ゴ Pro W3" pitchFamily="-84" charset="-128"/>
              </a:rPr>
              <a:t>The scale of production of each firm becomes inefficient.</a:t>
            </a:r>
          </a:p>
        </p:txBody>
      </p:sp>
    </p:spTree>
    <p:extLst>
      <p:ext uri="{BB962C8B-B14F-4D97-AF65-F5344CB8AC3E}">
        <p14:creationId xmlns:p14="http://schemas.microsoft.com/office/powerpoint/2010/main" val="641168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for Free Trade </a:t>
            </a:r>
            <a:r>
              <a:rPr lang="en-US" altLang="en-US" sz="2000" b="0" dirty="0">
                <a:ea typeface="ヒラギノ角ゴ Pro W3" pitchFamily="-84" charset="-128"/>
              </a:rPr>
              <a:t>(4 of 6)</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Free trade provides </a:t>
            </a:r>
            <a:r>
              <a:rPr lang="en-US" altLang="en-US" b="1" dirty="0">
                <a:latin typeface="Arial (Body)"/>
                <a:ea typeface="ヒラギノ角ゴ Pro W3" pitchFamily="-84" charset="-128"/>
              </a:rPr>
              <a:t>competition and opportunities for innovation </a:t>
            </a:r>
            <a:r>
              <a:rPr lang="en-US" altLang="en-US" dirty="0">
                <a:latin typeface="Arial (Body)"/>
                <a:ea typeface="ヒラギノ角ゴ Pro W3" pitchFamily="-84" charset="-128"/>
              </a:rPr>
              <a:t>(dynamic benefits).</a:t>
            </a:r>
          </a:p>
          <a:p>
            <a:pPr eaLnBrk="1" hangingPunct="1"/>
            <a:r>
              <a:rPr lang="en-US" altLang="en-US" dirty="0">
                <a:latin typeface="Arial (Body)"/>
                <a:ea typeface="ヒラギノ角ゴ Pro W3" pitchFamily="-84" charset="-128"/>
              </a:rPr>
              <a:t>By providing entrepreneurs with an incentive to seek new ways to export or compete with imports, free trade offers more opportunities for learning and innovation.</a:t>
            </a:r>
          </a:p>
        </p:txBody>
      </p:sp>
    </p:spTree>
    <p:extLst>
      <p:ext uri="{BB962C8B-B14F-4D97-AF65-F5344CB8AC3E}">
        <p14:creationId xmlns:p14="http://schemas.microsoft.com/office/powerpoint/2010/main" val="2196702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for Free Trade </a:t>
            </a:r>
            <a:r>
              <a:rPr lang="en-US" altLang="en-US" sz="2000" b="0" dirty="0">
                <a:ea typeface="ヒラギノ角ゴ Pro W3" pitchFamily="-84" charset="-128"/>
              </a:rPr>
              <a:t>(5 of 6)</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Free trade avoids the loss of resources through </a:t>
            </a:r>
            <a:r>
              <a:rPr lang="en-US" altLang="en-US" b="1" dirty="0">
                <a:latin typeface="Arial (Body)"/>
                <a:ea typeface="ヒラギノ角ゴ Pro W3" pitchFamily="-84" charset="-128"/>
              </a:rPr>
              <a:t>rent seeking</a:t>
            </a:r>
            <a:r>
              <a:rPr lang="en-US" altLang="en-US" dirty="0">
                <a:latin typeface="Arial (Body)"/>
                <a:ea typeface="ヒラギノ角ゴ Pro W3" pitchFamily="-84" charset="-128"/>
              </a:rPr>
              <a:t>.</a:t>
            </a:r>
          </a:p>
          <a:p>
            <a:pPr lvl="1" eaLnBrk="1" hangingPunct="1"/>
            <a:r>
              <a:rPr lang="en-US" altLang="en-US" dirty="0">
                <a:latin typeface="Arial (Body)"/>
                <a:ea typeface="ヒラギノ角ゴ Pro W3" pitchFamily="-84" charset="-128"/>
              </a:rPr>
              <a:t>Spend time and other resources seeking quota rights and the profit that they will earn.</a:t>
            </a:r>
          </a:p>
        </p:txBody>
      </p:sp>
    </p:spTree>
    <p:extLst>
      <p:ext uri="{BB962C8B-B14F-4D97-AF65-F5344CB8AC3E}">
        <p14:creationId xmlns:p14="http://schemas.microsoft.com/office/powerpoint/2010/main" val="3274862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for Free Trade </a:t>
            </a:r>
            <a:r>
              <a:rPr lang="en-US" altLang="en-US" sz="2000" b="0" dirty="0">
                <a:ea typeface="ヒラギノ角ゴ Pro W3" pitchFamily="-84" charset="-128"/>
              </a:rPr>
              <a:t>(6 of 6)</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The </a:t>
            </a:r>
            <a:r>
              <a:rPr lang="en-US" altLang="en-US" b="1" dirty="0">
                <a:latin typeface="Arial (Body)"/>
                <a:ea typeface="ヒラギノ角ゴ Pro W3" pitchFamily="-84" charset="-128"/>
              </a:rPr>
              <a:t>political argument for free trade</a:t>
            </a:r>
            <a:r>
              <a:rPr lang="en-US" altLang="en-US" dirty="0">
                <a:latin typeface="Arial (Body)"/>
                <a:ea typeface="ヒラギノ角ゴ Pro W3" pitchFamily="-84" charset="-128"/>
              </a:rPr>
              <a:t> says that free trade is the best </a:t>
            </a:r>
            <a:r>
              <a:rPr lang="en-US" altLang="en-US" b="1" dirty="0">
                <a:latin typeface="Arial (Body)"/>
                <a:ea typeface="ヒラギノ角ゴ Pro W3" pitchFamily="-84" charset="-128"/>
              </a:rPr>
              <a:t>feasible</a:t>
            </a:r>
            <a:r>
              <a:rPr lang="en-US" altLang="en-US" dirty="0">
                <a:latin typeface="Arial (Body)"/>
                <a:ea typeface="ヒラギノ角ゴ Pro W3" pitchFamily="-84" charset="-128"/>
              </a:rPr>
              <a:t> political policy, even though there may be better policies in principle.</a:t>
            </a:r>
          </a:p>
          <a:p>
            <a:pPr lvl="1" eaLnBrk="1" hangingPunct="1"/>
            <a:r>
              <a:rPr lang="en-US" altLang="en-US" dirty="0">
                <a:latin typeface="Arial (Body)"/>
                <a:ea typeface="ヒラギノ角ゴ Pro W3" pitchFamily="-84" charset="-128"/>
              </a:rPr>
              <a:t>Any policy that deviates from free trade would be quickly manipulated by political groups, leading to decreased national welfare.</a:t>
            </a:r>
          </a:p>
        </p:txBody>
      </p:sp>
    </p:spTree>
    <p:extLst>
      <p:ext uri="{BB962C8B-B14F-4D97-AF65-F5344CB8AC3E}">
        <p14:creationId xmlns:p14="http://schemas.microsoft.com/office/powerpoint/2010/main" val="1904291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against Free Trade </a:t>
            </a:r>
            <a:r>
              <a:rPr lang="en-US" altLang="en-US" sz="2000" b="0" dirty="0">
                <a:ea typeface="ヒラギノ角ゴ Pro W3" pitchFamily="-84" charset="-128"/>
              </a:rPr>
              <a:t>(1 of 8)</a:t>
            </a:r>
            <a:endParaRPr lang="en-US" dirty="0"/>
          </a:p>
        </p:txBody>
      </p:sp>
      <p:sp>
        <p:nvSpPr>
          <p:cNvPr id="3" name="Content Placeholder 2"/>
          <p:cNvSpPr>
            <a:spLocks noGrp="1"/>
          </p:cNvSpPr>
          <p:nvPr>
            <p:ph sz="quarter" idx="13"/>
          </p:nvPr>
        </p:nvSpPr>
        <p:spPr>
          <a:xfrm>
            <a:off x="457200" y="1556327"/>
            <a:ext cx="8104909" cy="4586896"/>
          </a:xfrm>
        </p:spPr>
        <p:txBody>
          <a:bodyPr/>
          <a:lstStyle/>
          <a:p>
            <a:pPr eaLnBrk="1" hangingPunct="1"/>
            <a:r>
              <a:rPr lang="en-US" altLang="en-US" dirty="0">
                <a:ea typeface="ヒラギノ角ゴ Pro W3" pitchFamily="-84" charset="-128"/>
              </a:rPr>
              <a:t>For a </a:t>
            </a:r>
            <a:r>
              <a:rPr lang="en-US" altLang="en-US" dirty="0">
                <a:ea typeface="ヒラギノ角ゴ Pro W3" pitchFamily="-84" charset="-128"/>
                <a:cs typeface="Arial" pitchFamily="34" charset="0"/>
              </a:rPr>
              <a:t>“</a:t>
            </a:r>
            <a:r>
              <a:rPr lang="en-US" altLang="ja-JP" dirty="0">
                <a:ea typeface="ヒラギノ角ゴ Pro W3" pitchFamily="-84" charset="-128"/>
              </a:rPr>
              <a:t>large</a:t>
            </a:r>
            <a:r>
              <a:rPr lang="en-US" altLang="ja-JP" dirty="0">
                <a:ea typeface="ヒラギノ角ゴ Pro W3" pitchFamily="-84" charset="-128"/>
                <a:cs typeface="Arial" pitchFamily="34" charset="0"/>
              </a:rPr>
              <a:t>”</a:t>
            </a:r>
            <a:r>
              <a:rPr lang="en-US" altLang="ja-JP" dirty="0">
                <a:ea typeface="ヒラギノ角ゴ Pro W3" pitchFamily="-84" charset="-128"/>
              </a:rPr>
              <a:t> country, a tariff lowers the price of imports in world markets and generates a </a:t>
            </a:r>
            <a:r>
              <a:rPr lang="en-US" altLang="ja-JP" b="1" dirty="0">
                <a:ea typeface="ヒラギノ角ゴ Pro W3" pitchFamily="-84" charset="-128"/>
              </a:rPr>
              <a:t>terms of trade gain</a:t>
            </a:r>
            <a:r>
              <a:rPr lang="en-US" altLang="ja-JP" dirty="0">
                <a:ea typeface="ヒラギノ角ゴ Pro W3" pitchFamily="-84" charset="-128"/>
              </a:rPr>
              <a:t>.</a:t>
            </a:r>
          </a:p>
          <a:p>
            <a:pPr lvl="1" eaLnBrk="1" hangingPunct="1"/>
            <a:r>
              <a:rPr lang="en-US" altLang="en-US" dirty="0">
                <a:ea typeface="ヒラギノ角ゴ Pro W3" pitchFamily="-84" charset="-128"/>
              </a:rPr>
              <a:t>This benefit may exceed the losses caused by distortions in production and consumption.</a:t>
            </a:r>
          </a:p>
          <a:p>
            <a:pPr eaLnBrk="1" hangingPunct="1"/>
            <a:r>
              <a:rPr lang="en-US" altLang="en-US" dirty="0">
                <a:ea typeface="ヒラギノ角ゴ Pro W3" pitchFamily="-84" charset="-128"/>
              </a:rPr>
              <a:t>A small tariff will lead to an increase in national welfare for a large country.</a:t>
            </a:r>
          </a:p>
          <a:p>
            <a:pPr lvl="1" eaLnBrk="1" hangingPunct="1"/>
            <a:r>
              <a:rPr lang="en-US" altLang="en-US" dirty="0">
                <a:ea typeface="ヒラギノ角ゴ Pro W3" pitchFamily="-84" charset="-128"/>
              </a:rPr>
              <a:t>But at some tariff rate, the national welfare will begin to decrease as the economic efficiency loss exceeds the terms of trade gain.</a:t>
            </a:r>
          </a:p>
        </p:txBody>
      </p:sp>
    </p:spTree>
    <p:extLst>
      <p:ext uri="{BB962C8B-B14F-4D97-AF65-F5344CB8AC3E}">
        <p14:creationId xmlns:p14="http://schemas.microsoft.com/office/powerpoint/2010/main" val="1385149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10.2 The Optimum Tariff</a:t>
            </a:r>
            <a:endParaRPr lang="en-US" dirty="0"/>
          </a:p>
        </p:txBody>
      </p:sp>
      <p:pic>
        <p:nvPicPr>
          <p:cNvPr id="8" name="Content Placeholder 7" descr="A graph plots national welfare versus tariff rate.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601078" y="1595109"/>
            <a:ext cx="3941842" cy="3439057"/>
          </a:xfrm>
        </p:spPr>
      </p:pic>
      <p:sp>
        <p:nvSpPr>
          <p:cNvPr id="5" name="Content Placeholder 4"/>
          <p:cNvSpPr>
            <a:spLocks noGrp="1"/>
          </p:cNvSpPr>
          <p:nvPr>
            <p:ph sz="quarter" idx="14"/>
          </p:nvPr>
        </p:nvSpPr>
        <p:spPr>
          <a:xfrm>
            <a:off x="457200" y="5211785"/>
            <a:ext cx="4744065" cy="403124"/>
          </a:xfrm>
        </p:spPr>
        <p:txBody>
          <a:bodyPr/>
          <a:lstStyle/>
          <a:p>
            <a:pPr marL="432" indent="0">
              <a:buNone/>
            </a:pPr>
            <a:r>
              <a:rPr lang="en-US" sz="1800" dirty="0"/>
              <a:t>For a large country, there is an optimum tariff</a:t>
            </a:r>
          </a:p>
        </p:txBody>
      </p:sp>
      <p:graphicFrame>
        <p:nvGraphicFramePr>
          <p:cNvPr id="9" name="Object 8" descr="t sub o"/>
          <p:cNvGraphicFramePr>
            <a:graphicFrameLocks noChangeAspect="1"/>
          </p:cNvGraphicFramePr>
          <p:nvPr>
            <p:extLst>
              <p:ext uri="{D42A27DB-BD31-4B8C-83A1-F6EECF244321}">
                <p14:modId xmlns:p14="http://schemas.microsoft.com/office/powerpoint/2010/main" val="26504642"/>
              </p:ext>
            </p:extLst>
          </p:nvPr>
        </p:nvGraphicFramePr>
        <p:xfrm>
          <a:off x="5263370" y="5270496"/>
          <a:ext cx="224989" cy="368163"/>
        </p:xfrm>
        <a:graphic>
          <a:graphicData uri="http://schemas.openxmlformats.org/presentationml/2006/ole">
            <mc:AlternateContent xmlns:mc="http://schemas.openxmlformats.org/markup-compatibility/2006">
              <mc:Choice xmlns:v="urn:schemas-microsoft-com:vml" Requires="v">
                <p:oleObj spid="_x0000_s1027" name="Equation" r:id="rId5" imgW="139680" imgH="228600" progId="Equation.DSMT4">
                  <p:embed/>
                </p:oleObj>
              </mc:Choice>
              <mc:Fallback>
                <p:oleObj name="Equation" r:id="rId5" imgW="139680" imgH="228600" progId="Equation.DSMT4">
                  <p:embed/>
                  <p:pic>
                    <p:nvPicPr>
                      <p:cNvPr id="0" name=""/>
                      <p:cNvPicPr/>
                      <p:nvPr/>
                    </p:nvPicPr>
                    <p:blipFill>
                      <a:blip r:embed="rId6"/>
                      <a:stretch>
                        <a:fillRect/>
                      </a:stretch>
                    </p:blipFill>
                    <p:spPr>
                      <a:xfrm>
                        <a:off x="5263370" y="5270496"/>
                        <a:ext cx="224989" cy="368163"/>
                      </a:xfrm>
                      <a:prstGeom prst="rect">
                        <a:avLst/>
                      </a:prstGeom>
                    </p:spPr>
                  </p:pic>
                </p:oleObj>
              </mc:Fallback>
            </mc:AlternateContent>
          </a:graphicData>
        </a:graphic>
      </p:graphicFrame>
      <p:sp>
        <p:nvSpPr>
          <p:cNvPr id="6" name="Content Placeholder 5"/>
          <p:cNvSpPr>
            <a:spLocks noGrp="1"/>
          </p:cNvSpPr>
          <p:nvPr>
            <p:ph sz="quarter" idx="15"/>
          </p:nvPr>
        </p:nvSpPr>
        <p:spPr>
          <a:xfrm>
            <a:off x="5574214" y="5211785"/>
            <a:ext cx="2616784" cy="403124"/>
          </a:xfrm>
        </p:spPr>
        <p:txBody>
          <a:bodyPr lIns="0"/>
          <a:lstStyle/>
          <a:p>
            <a:pPr marL="432" indent="0">
              <a:buNone/>
            </a:pPr>
            <a:r>
              <a:rPr lang="en-US" sz="1800" dirty="0"/>
              <a:t>at which the marginal</a:t>
            </a:r>
          </a:p>
        </p:txBody>
      </p:sp>
      <p:sp>
        <p:nvSpPr>
          <p:cNvPr id="7" name="Content Placeholder 6"/>
          <p:cNvSpPr>
            <a:spLocks noGrp="1"/>
          </p:cNvSpPr>
          <p:nvPr>
            <p:ph sz="quarter" idx="16"/>
          </p:nvPr>
        </p:nvSpPr>
        <p:spPr>
          <a:xfrm>
            <a:off x="457200" y="5692868"/>
            <a:ext cx="8232128" cy="636676"/>
          </a:xfrm>
        </p:spPr>
        <p:txBody>
          <a:bodyPr tIns="0"/>
          <a:lstStyle/>
          <a:p>
            <a:pPr marL="432" indent="0">
              <a:buNone/>
            </a:pPr>
            <a:r>
              <a:rPr lang="en-US" sz="1800" dirty="0"/>
              <a:t>gain from improved terms of trade just equals the marginal efficiency loss from production and consumption distortion.</a:t>
            </a:r>
          </a:p>
        </p:txBody>
      </p:sp>
    </p:spTree>
    <p:extLst>
      <p:ext uri="{BB962C8B-B14F-4D97-AF65-F5344CB8AC3E}">
        <p14:creationId xmlns:p14="http://schemas.microsoft.com/office/powerpoint/2010/main" val="2065585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against Free Trade </a:t>
            </a:r>
            <a:r>
              <a:rPr lang="en-US" altLang="en-US" sz="2000" b="0" dirty="0">
                <a:ea typeface="ヒラギノ角ゴ Pro W3" pitchFamily="-84" charset="-128"/>
              </a:rPr>
              <a:t>(2 of 8)</a:t>
            </a:r>
            <a:endParaRPr lang="en-US" dirty="0"/>
          </a:p>
        </p:txBody>
      </p:sp>
      <p:sp>
        <p:nvSpPr>
          <p:cNvPr id="7" name="Content Placeholder 6"/>
          <p:cNvSpPr>
            <a:spLocks noGrp="1"/>
          </p:cNvSpPr>
          <p:nvPr>
            <p:ph sz="quarter" idx="13"/>
          </p:nvPr>
        </p:nvSpPr>
        <p:spPr>
          <a:xfrm>
            <a:off x="457200" y="1552575"/>
            <a:ext cx="7653647" cy="501856"/>
          </a:xfrm>
        </p:spPr>
        <p:txBody>
          <a:bodyPr/>
          <a:lstStyle/>
          <a:p>
            <a:r>
              <a:rPr lang="en-US" altLang="en-US" dirty="0">
                <a:latin typeface="Arial (Body)"/>
                <a:ea typeface="ヒラギノ角ゴ Pro W3" pitchFamily="-84" charset="-128"/>
              </a:rPr>
              <a:t>A tariff rate that completely prohibits imports leaves a</a:t>
            </a:r>
            <a:endParaRPr lang="en-US" dirty="0"/>
          </a:p>
        </p:txBody>
      </p:sp>
      <p:sp>
        <p:nvSpPr>
          <p:cNvPr id="8" name="Content Placeholder 7"/>
          <p:cNvSpPr>
            <a:spLocks noGrp="1"/>
          </p:cNvSpPr>
          <p:nvPr>
            <p:ph sz="quarter" idx="14"/>
          </p:nvPr>
        </p:nvSpPr>
        <p:spPr>
          <a:xfrm>
            <a:off x="457200" y="2148497"/>
            <a:ext cx="4672940" cy="404698"/>
          </a:xfrm>
        </p:spPr>
        <p:txBody>
          <a:bodyPr tIns="0" rIns="0"/>
          <a:lstStyle/>
          <a:p>
            <a:pPr marL="255600" indent="0">
              <a:buNone/>
            </a:pPr>
            <a:r>
              <a:rPr lang="en-US" altLang="en-US" dirty="0">
                <a:latin typeface="Arial (Body)"/>
                <a:ea typeface="ヒラギノ角ゴ Pro W3" pitchFamily="-84" charset="-128"/>
              </a:rPr>
              <a:t>country worse off, but tariff rate</a:t>
            </a:r>
            <a:endParaRPr lang="en-US" dirty="0"/>
          </a:p>
        </p:txBody>
      </p:sp>
      <p:graphicFrame>
        <p:nvGraphicFramePr>
          <p:cNvPr id="21" name="Object 20" descr="t sub o"/>
          <p:cNvGraphicFramePr>
            <a:graphicFrameLocks noChangeAspect="1"/>
          </p:cNvGraphicFramePr>
          <p:nvPr>
            <p:extLst>
              <p:ext uri="{D42A27DB-BD31-4B8C-83A1-F6EECF244321}">
                <p14:modId xmlns:p14="http://schemas.microsoft.com/office/powerpoint/2010/main" val="1333831656"/>
              </p:ext>
            </p:extLst>
          </p:nvPr>
        </p:nvGraphicFramePr>
        <p:xfrm>
          <a:off x="5180013" y="2120900"/>
          <a:ext cx="322262" cy="444500"/>
        </p:xfrm>
        <a:graphic>
          <a:graphicData uri="http://schemas.openxmlformats.org/presentationml/2006/ole">
            <mc:AlternateContent xmlns:mc="http://schemas.openxmlformats.org/markup-compatibility/2006">
              <mc:Choice xmlns:v="urn:schemas-microsoft-com:vml" Requires="v">
                <p:oleObj spid="_x0000_s2051" name="Equation" r:id="rId3" imgW="164880" imgH="228600" progId="Equation.DSMT4">
                  <p:embed/>
                </p:oleObj>
              </mc:Choice>
              <mc:Fallback>
                <p:oleObj name="Equation" r:id="rId3" imgW="164880" imgH="228600" progId="Equation.DSMT4">
                  <p:embed/>
                  <p:pic>
                    <p:nvPicPr>
                      <p:cNvPr id="9" name="Object 8"/>
                      <p:cNvPicPr/>
                      <p:nvPr/>
                    </p:nvPicPr>
                    <p:blipFill>
                      <a:blip r:embed="rId4"/>
                      <a:stretch>
                        <a:fillRect/>
                      </a:stretch>
                    </p:blipFill>
                    <p:spPr>
                      <a:xfrm>
                        <a:off x="5180013" y="2120900"/>
                        <a:ext cx="322262" cy="444500"/>
                      </a:xfrm>
                      <a:prstGeom prst="rect">
                        <a:avLst/>
                      </a:prstGeom>
                    </p:spPr>
                  </p:pic>
                </p:oleObj>
              </mc:Fallback>
            </mc:AlternateContent>
          </a:graphicData>
        </a:graphic>
      </p:graphicFrame>
      <p:sp>
        <p:nvSpPr>
          <p:cNvPr id="9" name="Content Placeholder 8"/>
          <p:cNvSpPr>
            <a:spLocks noGrp="1"/>
          </p:cNvSpPr>
          <p:nvPr>
            <p:ph sz="quarter" idx="15"/>
          </p:nvPr>
        </p:nvSpPr>
        <p:spPr>
          <a:xfrm>
            <a:off x="5547055" y="2148497"/>
            <a:ext cx="2112531" cy="417346"/>
          </a:xfrm>
        </p:spPr>
        <p:txBody>
          <a:bodyPr lIns="0" tIns="0" rIns="0"/>
          <a:lstStyle/>
          <a:p>
            <a:pPr marL="432" indent="0">
              <a:buNone/>
            </a:pPr>
            <a:r>
              <a:rPr lang="en-US" altLang="en-US" dirty="0">
                <a:latin typeface="Arial (Body)"/>
                <a:ea typeface="ヒラギノ角ゴ Pro W3" pitchFamily="-84" charset="-128"/>
              </a:rPr>
              <a:t>may exist that</a:t>
            </a:r>
            <a:endParaRPr lang="en-US" dirty="0"/>
          </a:p>
        </p:txBody>
      </p:sp>
      <p:sp>
        <p:nvSpPr>
          <p:cNvPr id="10" name="Content Placeholder 9"/>
          <p:cNvSpPr>
            <a:spLocks noGrp="1"/>
          </p:cNvSpPr>
          <p:nvPr>
            <p:ph sz="quarter" idx="16"/>
          </p:nvPr>
        </p:nvSpPr>
        <p:spPr>
          <a:xfrm>
            <a:off x="457200" y="2631776"/>
            <a:ext cx="6988629" cy="420182"/>
          </a:xfrm>
        </p:spPr>
        <p:txBody>
          <a:bodyPr tIns="0"/>
          <a:lstStyle/>
          <a:p>
            <a:pPr marL="255600" indent="0">
              <a:buNone/>
            </a:pPr>
            <a:r>
              <a:rPr lang="en-US" altLang="en-US" dirty="0">
                <a:latin typeface="Arial (Body)"/>
                <a:ea typeface="ヒラギノ角ゴ Pro W3" pitchFamily="-84" charset="-128"/>
              </a:rPr>
              <a:t>maximizes national welfare: an </a:t>
            </a:r>
            <a:r>
              <a:rPr lang="en-US" altLang="en-US" b="1" dirty="0">
                <a:latin typeface="Arial (Body)"/>
                <a:ea typeface="ヒラギノ角ゴ Pro W3" pitchFamily="-84" charset="-128"/>
              </a:rPr>
              <a:t>optimum tariff</a:t>
            </a:r>
            <a:r>
              <a:rPr lang="en-US" altLang="en-US" dirty="0">
                <a:latin typeface="Arial (Body)"/>
                <a:ea typeface="ヒラギノ角ゴ Pro W3" pitchFamily="-84" charset="-128"/>
              </a:rPr>
              <a:t>.</a:t>
            </a:r>
          </a:p>
        </p:txBody>
      </p:sp>
      <p:sp>
        <p:nvSpPr>
          <p:cNvPr id="11" name="Content Placeholder 10"/>
          <p:cNvSpPr>
            <a:spLocks noGrp="1"/>
          </p:cNvSpPr>
          <p:nvPr>
            <p:ph sz="quarter" idx="17"/>
          </p:nvPr>
        </p:nvSpPr>
        <p:spPr>
          <a:xfrm>
            <a:off x="457200" y="3119437"/>
            <a:ext cx="8116784" cy="2628221"/>
          </a:xfrm>
        </p:spPr>
        <p:txBody>
          <a:bodyPr/>
          <a:lstStyle/>
          <a:p>
            <a:r>
              <a:rPr lang="en-US" altLang="en-US" dirty="0">
                <a:latin typeface="Arial (Body)"/>
                <a:ea typeface="ヒラギノ角ゴ Pro W3" pitchFamily="-84" charset="-128"/>
              </a:rPr>
              <a:t>For some large countries like the United States, an import tariff and/or export tax could improve national welfare at the expense of other countries.</a:t>
            </a:r>
          </a:p>
          <a:p>
            <a:r>
              <a:rPr lang="en-US" altLang="en-US" dirty="0">
                <a:latin typeface="Arial (Body)"/>
                <a:ea typeface="ヒラギノ角ゴ Pro W3" pitchFamily="-84" charset="-128"/>
              </a:rPr>
              <a:t>But this argument ignores the likelihood that other countries may retaliate against large countries by enacting their own trade restrictions.</a:t>
            </a:r>
          </a:p>
        </p:txBody>
      </p:sp>
    </p:spTree>
    <p:extLst>
      <p:ext uri="{BB962C8B-B14F-4D97-AF65-F5344CB8AC3E}">
        <p14:creationId xmlns:p14="http://schemas.microsoft.com/office/powerpoint/2010/main" val="1936617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against Free Trade </a:t>
            </a:r>
            <a:r>
              <a:rPr lang="en-US" altLang="en-US" sz="2000" b="0" dirty="0">
                <a:ea typeface="ヒラギノ角ゴ Pro W3" pitchFamily="-84" charset="-128"/>
              </a:rPr>
              <a:t>(3 of 8)</a:t>
            </a:r>
            <a:endParaRPr lang="en-US" dirty="0"/>
          </a:p>
        </p:txBody>
      </p:sp>
      <p:sp>
        <p:nvSpPr>
          <p:cNvPr id="17" name="Content Placeholder 16"/>
          <p:cNvSpPr>
            <a:spLocks noGrp="1"/>
          </p:cNvSpPr>
          <p:nvPr>
            <p:ph sz="quarter" idx="13"/>
          </p:nvPr>
        </p:nvSpPr>
        <p:spPr/>
        <p:txBody>
          <a:bodyPr/>
          <a:lstStyle/>
          <a:p>
            <a:pPr eaLnBrk="1" hangingPunct="1"/>
            <a:r>
              <a:rPr lang="en-US" altLang="en-US" dirty="0">
                <a:latin typeface="Arial (Body)"/>
                <a:ea typeface="ヒラギノ角ゴ Pro W3" pitchFamily="-84" charset="-128"/>
              </a:rPr>
              <a:t>An export </a:t>
            </a:r>
            <a:r>
              <a:rPr lang="en-US" altLang="en-US" b="1" dirty="0">
                <a:latin typeface="Arial (Body)"/>
                <a:ea typeface="ヒラギノ角ゴ Pro W3" pitchFamily="-84" charset="-128"/>
              </a:rPr>
              <a:t>tax</a:t>
            </a:r>
            <a:r>
              <a:rPr lang="en-US" altLang="en-US" dirty="0">
                <a:latin typeface="Arial (Body)"/>
                <a:ea typeface="ヒラギノ角ゴ Pro W3" pitchFamily="-84" charset="-128"/>
              </a:rPr>
              <a:t> (a negative export subsidy) that completely prohibits exports leaves a country worse off, but an export tax rate may exist that maximizes national welfare through the terms of trade.</a:t>
            </a:r>
          </a:p>
          <a:p>
            <a:pPr lvl="1" eaLnBrk="1" hangingPunct="1"/>
            <a:r>
              <a:rPr lang="en-US" altLang="en-US" dirty="0">
                <a:latin typeface="Arial (Body)"/>
                <a:ea typeface="ヒラギノ角ゴ Pro W3" pitchFamily="-84" charset="-128"/>
              </a:rPr>
              <a:t>An export subsidy lowers the terms of trade for a large country; an export tax raises the terms of trade for a large country.</a:t>
            </a:r>
          </a:p>
          <a:p>
            <a:pPr lvl="1" eaLnBrk="1" hangingPunct="1"/>
            <a:r>
              <a:rPr lang="en-US" altLang="en-US" dirty="0">
                <a:latin typeface="Arial (Body)"/>
                <a:ea typeface="ヒラギノ角ゴ Pro W3" pitchFamily="-84" charset="-128"/>
              </a:rPr>
              <a:t>An export tax may raise the price of exports in the world market, increasing the terms of trade.</a:t>
            </a:r>
          </a:p>
        </p:txBody>
      </p:sp>
    </p:spTree>
    <p:extLst>
      <p:ext uri="{BB962C8B-B14F-4D97-AF65-F5344CB8AC3E}">
        <p14:creationId xmlns:p14="http://schemas.microsoft.com/office/powerpoint/2010/main" val="3457157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against Free Trade </a:t>
            </a:r>
            <a:r>
              <a:rPr lang="en-US" altLang="en-US" sz="2000" b="0" dirty="0">
                <a:ea typeface="ヒラギノ角ゴ Pro W3" pitchFamily="-84" charset="-128"/>
              </a:rPr>
              <a:t>(4 of 8)</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A second argument against free trade is that </a:t>
            </a:r>
            <a:r>
              <a:rPr lang="en-US" altLang="en-US" b="1" dirty="0">
                <a:latin typeface="Arial (Body)"/>
                <a:ea typeface="ヒラギノ角ゴ Pro W3" pitchFamily="-84" charset="-128"/>
              </a:rPr>
              <a:t>domestic market failures</a:t>
            </a:r>
            <a:r>
              <a:rPr lang="en-US" altLang="en-US" dirty="0">
                <a:latin typeface="Arial (Body)"/>
                <a:ea typeface="ヒラギノ角ゴ Pro W3" pitchFamily="-84" charset="-128"/>
              </a:rPr>
              <a:t> may exist that cause free trade to be a suboptimal policy.</a:t>
            </a:r>
          </a:p>
          <a:p>
            <a:pPr lvl="1" eaLnBrk="1" hangingPunct="1"/>
            <a:r>
              <a:rPr lang="en-US" altLang="en-US" dirty="0">
                <a:latin typeface="Arial (Body)"/>
                <a:ea typeface="ヒラギノ角ゴ Pro W3" pitchFamily="-84" charset="-128"/>
              </a:rPr>
              <a:t>The economic efficiency loss calculations using consumer and producer surplus assume that markets function well.</a:t>
            </a:r>
          </a:p>
        </p:txBody>
      </p:sp>
    </p:spTree>
    <p:extLst>
      <p:ext uri="{BB962C8B-B14F-4D97-AF65-F5344CB8AC3E}">
        <p14:creationId xmlns:p14="http://schemas.microsoft.com/office/powerpoint/2010/main" val="3254852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against Free Trade </a:t>
            </a:r>
            <a:r>
              <a:rPr lang="en-US" altLang="en-US" sz="2000" b="0" dirty="0">
                <a:ea typeface="ヒラギノ角ゴ Pro W3" pitchFamily="-84" charset="-128"/>
              </a:rPr>
              <a:t>(5 of 8)</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Types of market failures include</a:t>
            </a:r>
          </a:p>
          <a:p>
            <a:pPr marL="740664" lvl="1" indent="-283464" eaLnBrk="1" hangingPunct="1"/>
            <a:r>
              <a:rPr lang="en-US" altLang="en-US" dirty="0">
                <a:latin typeface="Arial (Body)"/>
                <a:ea typeface="ヒラギノ角ゴ Pro W3" pitchFamily="-84" charset="-128"/>
              </a:rPr>
              <a:t>Persistently high underemployment of workers</a:t>
            </a:r>
          </a:p>
          <a:p>
            <a:pPr lvl="2" eaLnBrk="1" hangingPunct="1"/>
            <a:r>
              <a:rPr lang="en-US" altLang="en-US" dirty="0">
                <a:latin typeface="Arial (Body)"/>
                <a:ea typeface="ヒラギノ角ゴ Pro W3" pitchFamily="-84" charset="-128"/>
              </a:rPr>
              <a:t>surpluses that are not eliminated in the market for labor because wages do not adjust</a:t>
            </a:r>
          </a:p>
          <a:p>
            <a:pPr marL="740664" lvl="1" indent="-283464" eaLnBrk="1" hangingPunct="1"/>
            <a:r>
              <a:rPr lang="en-US" altLang="en-US" dirty="0">
                <a:latin typeface="Arial (Body)"/>
                <a:ea typeface="ヒラギノ角ゴ Pro W3" pitchFamily="-84" charset="-128"/>
              </a:rPr>
              <a:t>Persistently high underutilization of structures, equipment, and other forms of capital </a:t>
            </a:r>
          </a:p>
          <a:p>
            <a:pPr lvl="2" eaLnBrk="1" hangingPunct="1"/>
            <a:r>
              <a:rPr lang="en-US" altLang="en-US" dirty="0">
                <a:latin typeface="Arial (Body)"/>
                <a:ea typeface="ヒラギノ角ゴ Pro W3" pitchFamily="-84" charset="-128"/>
              </a:rPr>
              <a:t>surpluses that are not eliminated in the market for capital because prices do not adjust</a:t>
            </a:r>
          </a:p>
          <a:p>
            <a:pPr marL="740664" lvl="1" indent="-283464" eaLnBrk="1" hangingPunct="1"/>
            <a:r>
              <a:rPr lang="en-US" altLang="en-US" dirty="0">
                <a:latin typeface="Arial (Body)"/>
                <a:ea typeface="ヒラギノ角ゴ Pro W3" pitchFamily="-84" charset="-128"/>
              </a:rPr>
              <a:t>Property rights not well defined or well enforced</a:t>
            </a:r>
          </a:p>
        </p:txBody>
      </p:sp>
    </p:spTree>
    <p:extLst>
      <p:ext uri="{BB962C8B-B14F-4D97-AF65-F5344CB8AC3E}">
        <p14:creationId xmlns:p14="http://schemas.microsoft.com/office/powerpoint/2010/main" val="159771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against Free Trade </a:t>
            </a:r>
            <a:r>
              <a:rPr lang="en-US" altLang="en-US" sz="2000" b="0" dirty="0">
                <a:ea typeface="ヒラギノ角ゴ Pro W3" pitchFamily="-84" charset="-128"/>
              </a:rPr>
              <a:t>(6 of 8)</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Types of market failures include</a:t>
            </a:r>
          </a:p>
          <a:p>
            <a:pPr lvl="1" eaLnBrk="1" hangingPunct="1"/>
            <a:r>
              <a:rPr lang="en-US" altLang="en-US" dirty="0">
                <a:latin typeface="Arial (Body)"/>
                <a:ea typeface="ヒラギノ角ゴ Pro W3" pitchFamily="-84" charset="-128"/>
              </a:rPr>
              <a:t>technological benefits for society discovered through private production, but from which private firms cannot fully profit</a:t>
            </a:r>
          </a:p>
          <a:p>
            <a:pPr lvl="1" eaLnBrk="1" hangingPunct="1"/>
            <a:r>
              <a:rPr lang="en-US" altLang="en-US" dirty="0">
                <a:latin typeface="Arial (Body)"/>
                <a:ea typeface="ヒラギノ角ゴ Pro W3" pitchFamily="-84" charset="-128"/>
              </a:rPr>
              <a:t>environmental costs for society caused by private production, but for which private firms do not fully pay</a:t>
            </a:r>
          </a:p>
          <a:p>
            <a:pPr lvl="1" eaLnBrk="1" hangingPunct="1"/>
            <a:r>
              <a:rPr lang="en-US" altLang="en-US" dirty="0">
                <a:latin typeface="Arial (Body)"/>
                <a:ea typeface="ヒラギノ角ゴ Pro W3" pitchFamily="-84" charset="-128"/>
              </a:rPr>
              <a:t>sellers that are not well informed about the (opportunity) cost of production or buyers that are not well informed about value from consumption</a:t>
            </a:r>
          </a:p>
        </p:txBody>
      </p:sp>
    </p:spTree>
    <p:extLst>
      <p:ext uri="{BB962C8B-B14F-4D97-AF65-F5344CB8AC3E}">
        <p14:creationId xmlns:p14="http://schemas.microsoft.com/office/powerpoint/2010/main" val="842345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against Free Trade </a:t>
            </a:r>
            <a:r>
              <a:rPr lang="en-US" altLang="en-US" sz="2000" b="0" dirty="0">
                <a:ea typeface="ヒラギノ角ゴ Pro W3" pitchFamily="-84" charset="-128"/>
              </a:rPr>
              <a:t>(7 of 8)</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Economists calculate the </a:t>
            </a:r>
            <a:r>
              <a:rPr lang="en-US" altLang="en-US" b="1" dirty="0">
                <a:latin typeface="Arial (Body)"/>
                <a:ea typeface="ヒラギノ角ゴ Pro W3" pitchFamily="-84" charset="-128"/>
              </a:rPr>
              <a:t>marginal social benefit</a:t>
            </a:r>
            <a:r>
              <a:rPr lang="en-US" altLang="en-US" dirty="0">
                <a:latin typeface="Arial (Body)"/>
                <a:ea typeface="ヒラギノ角ゴ Pro W3" pitchFamily="-84" charset="-128"/>
              </a:rPr>
              <a:t> to represent the additional benefit to society from private production.</a:t>
            </a:r>
          </a:p>
          <a:p>
            <a:pPr lvl="1" eaLnBrk="1" hangingPunct="1"/>
            <a:r>
              <a:rPr lang="en-US" altLang="en-US" dirty="0">
                <a:latin typeface="Arial (Body)"/>
                <a:ea typeface="ヒラギノ角ゴ Pro W3" pitchFamily="-84" charset="-128"/>
              </a:rPr>
              <a:t>With a market failure, marginal social benefit is not accurately measured by the producer surplus of private firms, so that economic efficiency loss calculations are misleading.</a:t>
            </a:r>
          </a:p>
          <a:p>
            <a:pPr eaLnBrk="1" hangingPunct="1"/>
            <a:r>
              <a:rPr lang="en-US" altLang="en-US" dirty="0">
                <a:latin typeface="Arial (Body)"/>
                <a:ea typeface="ヒラギノ角ゴ Pro W3" pitchFamily="-84" charset="-128"/>
              </a:rPr>
              <a:t>It’</a:t>
            </a:r>
            <a:r>
              <a:rPr lang="en-US" altLang="ja-JP" dirty="0">
                <a:latin typeface="Arial (Body)"/>
                <a:ea typeface="ヒラギノ角ゴ Pro W3" pitchFamily="-84" charset="-128"/>
              </a:rPr>
              <a:t>s possible that when a tariff increases domestic production, the benefit to domestic society will increase due to a market failure.</a:t>
            </a:r>
            <a:endParaRPr lang="en-US" altLang="en-US" dirty="0">
              <a:latin typeface="Arial (Body)"/>
              <a:ea typeface="ヒラギノ角ゴ Pro W3" pitchFamily="-84" charset="-128"/>
            </a:endParaRPr>
          </a:p>
        </p:txBody>
      </p:sp>
    </p:spTree>
    <p:extLst>
      <p:ext uri="{BB962C8B-B14F-4D97-AF65-F5344CB8AC3E}">
        <p14:creationId xmlns:p14="http://schemas.microsoft.com/office/powerpoint/2010/main" val="44408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10.3 The Domestic Market Failure Argument for a Tariff</a:t>
            </a:r>
            <a:endParaRPr lang="en-US" sz="3200" dirty="0"/>
          </a:p>
        </p:txBody>
      </p:sp>
      <p:pic>
        <p:nvPicPr>
          <p:cNvPr id="6" name="Content Placeholder 5" descr="Panel ay is a graph of price versus quantity, Q, with a rising S curve that intersects a falling D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252785" y="1581103"/>
            <a:ext cx="2638431" cy="3928718"/>
          </a:xfrm>
        </p:spPr>
      </p:pic>
      <p:sp>
        <p:nvSpPr>
          <p:cNvPr id="5" name="Content Placeholder 4"/>
          <p:cNvSpPr>
            <a:spLocks noGrp="1"/>
          </p:cNvSpPr>
          <p:nvPr>
            <p:ph sz="quarter" idx="14"/>
          </p:nvPr>
        </p:nvSpPr>
        <p:spPr>
          <a:xfrm>
            <a:off x="457200" y="5612024"/>
            <a:ext cx="8229600" cy="733213"/>
          </a:xfrm>
        </p:spPr>
        <p:txBody>
          <a:bodyPr/>
          <a:lstStyle/>
          <a:p>
            <a:pPr marL="432" indent="0">
              <a:buNone/>
            </a:pPr>
            <a:r>
              <a:rPr lang="en-US" sz="1800" dirty="0">
                <a:latin typeface="Arial (Body)"/>
              </a:rPr>
              <a:t>If production of a good yields extra social benefits [measured in panel (</a:t>
            </a:r>
            <a:r>
              <a:rPr lang="en-US" sz="1800" i="1" dirty="0">
                <a:latin typeface="Arial (Body)"/>
              </a:rPr>
              <a:t>b</a:t>
            </a:r>
            <a:r>
              <a:rPr lang="en-US" sz="1800" dirty="0">
                <a:latin typeface="Arial (Body)"/>
              </a:rPr>
              <a:t>) by area </a:t>
            </a:r>
            <a:r>
              <a:rPr lang="en-US" sz="1800" i="1" dirty="0">
                <a:latin typeface="Arial (Body)"/>
              </a:rPr>
              <a:t>c</a:t>
            </a:r>
            <a:r>
              <a:rPr lang="en-US" sz="1800" dirty="0">
                <a:latin typeface="Arial (Body)"/>
              </a:rPr>
              <a:t>] not captured as producer surplus, a tariff can increase welfare.</a:t>
            </a:r>
          </a:p>
        </p:txBody>
      </p:sp>
    </p:spTree>
    <p:extLst>
      <p:ext uri="{BB962C8B-B14F-4D97-AF65-F5344CB8AC3E}">
        <p14:creationId xmlns:p14="http://schemas.microsoft.com/office/powerpoint/2010/main" val="71436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The Cases against Free Trade </a:t>
            </a:r>
            <a:r>
              <a:rPr lang="en-US" altLang="en-US" sz="2000" b="0" dirty="0">
                <a:ea typeface="ヒラギノ角ゴ Pro W3" pitchFamily="-84" charset="-128"/>
              </a:rPr>
              <a:t>(8 of 8)</a:t>
            </a:r>
            <a:endParaRPr lang="en-US" dirty="0"/>
          </a:p>
        </p:txBody>
      </p:sp>
      <p:sp>
        <p:nvSpPr>
          <p:cNvPr id="5" name="Content Placeholder 4"/>
          <p:cNvSpPr>
            <a:spLocks noGrp="1"/>
          </p:cNvSpPr>
          <p:nvPr>
            <p:ph sz="quarter" idx="13"/>
          </p:nvPr>
        </p:nvSpPr>
        <p:spPr>
          <a:xfrm>
            <a:off x="457200" y="1556327"/>
            <a:ext cx="7974281" cy="4586896"/>
          </a:xfrm>
        </p:spPr>
        <p:txBody>
          <a:bodyPr/>
          <a:lstStyle/>
          <a:p>
            <a:pPr eaLnBrk="1" hangingPunct="1"/>
            <a:r>
              <a:rPr lang="en-US" altLang="en-US" dirty="0">
                <a:latin typeface="Arial (Body)"/>
                <a:ea typeface="ヒラギノ角ゴ Pro W3" pitchFamily="-84" charset="-128"/>
              </a:rPr>
              <a:t>The domestic market failure argument against free trade is an example of a more general argument called the </a:t>
            </a:r>
            <a:r>
              <a:rPr lang="en-US" altLang="en-US" b="1" dirty="0">
                <a:latin typeface="Arial (Body)"/>
                <a:ea typeface="ヒラギノ角ゴ Pro W3" pitchFamily="-84" charset="-128"/>
              </a:rPr>
              <a:t>theory of the second best</a:t>
            </a:r>
            <a:r>
              <a:rPr lang="en-US" altLang="en-US" dirty="0">
                <a:latin typeface="Arial (Body)"/>
                <a:ea typeface="ヒラギノ角ゴ Pro W3" pitchFamily="-84" charset="-128"/>
              </a:rPr>
              <a:t>.</a:t>
            </a:r>
          </a:p>
          <a:p>
            <a:pPr eaLnBrk="1" hangingPunct="1"/>
            <a:r>
              <a:rPr lang="en-US" altLang="en-US" dirty="0">
                <a:latin typeface="Arial (Body)"/>
                <a:ea typeface="ヒラギノ角ゴ Pro W3" pitchFamily="-84" charset="-128"/>
              </a:rPr>
              <a:t>Government intervention that distorts market incentives in one market may increase national welfare by offsetting the consequences of market failures elsewhere.</a:t>
            </a:r>
          </a:p>
          <a:p>
            <a:pPr lvl="1" eaLnBrk="1" hangingPunct="1"/>
            <a:r>
              <a:rPr lang="en-US" altLang="en-US" dirty="0">
                <a:latin typeface="Arial (Body)"/>
                <a:ea typeface="ヒラギノ角ゴ Pro W3" pitchFamily="-84" charset="-128"/>
              </a:rPr>
              <a:t>If the best policy, fixing the market failures, is not feasible, then government intervention in another market may be the </a:t>
            </a:r>
            <a:r>
              <a:rPr lang="en-US" altLang="ja-JP" dirty="0">
                <a:latin typeface="Arial (Body)"/>
                <a:ea typeface="ヒラギノ角ゴ Pro W3" pitchFamily="-84" charset="-128"/>
              </a:rPr>
              <a:t>“second-best” way of fixing the problem.</a:t>
            </a:r>
            <a:endParaRPr lang="en-US" altLang="en-US" dirty="0">
              <a:latin typeface="Arial (Body)"/>
              <a:ea typeface="ヒラギノ角ゴ Pro W3" pitchFamily="-84" charset="-128"/>
            </a:endParaRPr>
          </a:p>
        </p:txBody>
      </p:sp>
    </p:spTree>
    <p:extLst>
      <p:ext uri="{BB962C8B-B14F-4D97-AF65-F5344CB8AC3E}">
        <p14:creationId xmlns:p14="http://schemas.microsoft.com/office/powerpoint/2010/main" val="3721026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Counter-Arguments </a:t>
            </a:r>
            <a:r>
              <a:rPr lang="en-US" altLang="en-US" sz="2000" b="0" dirty="0">
                <a:ea typeface="ＭＳ Ｐゴシック" pitchFamily="34" charset="-128"/>
              </a:rPr>
              <a:t>(1 of 2)</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ＭＳ Ｐゴシック" pitchFamily="34" charset="-128"/>
              </a:rPr>
              <a:t>Economists supporting free trade counter-argue that domestic market failures should be corrected by a </a:t>
            </a:r>
            <a:r>
              <a:rPr lang="en-US" altLang="ja-JP" dirty="0">
                <a:latin typeface="Arial (Body)"/>
                <a:ea typeface="ＭＳ Ｐゴシック" pitchFamily="34" charset="-128"/>
              </a:rPr>
              <a:t>“first-best” policy: a domestic policy aimed directly at the source of the problem.</a:t>
            </a:r>
          </a:p>
          <a:p>
            <a:pPr lvl="1" eaLnBrk="1" hangingPunct="1"/>
            <a:r>
              <a:rPr lang="en-US" altLang="en-US" dirty="0">
                <a:latin typeface="Arial (Body)"/>
                <a:ea typeface="ＭＳ Ｐゴシック" pitchFamily="34" charset="-128"/>
              </a:rPr>
              <a:t>If persistently high underemployment of labor is a problem, then the cost of labor or production of labor-intensive products could be subsidized by the government.</a:t>
            </a:r>
          </a:p>
          <a:p>
            <a:pPr lvl="1" eaLnBrk="1" hangingPunct="1"/>
            <a:r>
              <a:rPr lang="en-US" altLang="en-US" dirty="0">
                <a:latin typeface="Arial (Body)"/>
                <a:ea typeface="ＭＳ Ｐゴシック" pitchFamily="34" charset="-128"/>
              </a:rPr>
              <a:t>This policy could avoid economic efficiency losses due to a tariff.</a:t>
            </a:r>
            <a:endParaRPr lang="en-US" altLang="en-US" dirty="0">
              <a:latin typeface="Arial (Body)"/>
              <a:ea typeface="ヒラギノ角ゴ Pro W3" pitchFamily="-84" charset="-128"/>
            </a:endParaRPr>
          </a:p>
        </p:txBody>
      </p:sp>
    </p:spTree>
    <p:extLst>
      <p:ext uri="{BB962C8B-B14F-4D97-AF65-F5344CB8AC3E}">
        <p14:creationId xmlns:p14="http://schemas.microsoft.com/office/powerpoint/2010/main" val="877860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Counter-Arguments </a:t>
            </a:r>
            <a:r>
              <a:rPr lang="en-US" altLang="en-US" sz="2000" b="0" dirty="0">
                <a:ea typeface="ＭＳ Ｐゴシック" pitchFamily="34" charset="-128"/>
              </a:rPr>
              <a:t>(2 of 2)</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ＭＳ Ｐゴシック" pitchFamily="34" charset="-128"/>
              </a:rPr>
              <a:t>Unclear when and to what degree a market failure exists in the real world.</a:t>
            </a:r>
          </a:p>
          <a:p>
            <a:pPr eaLnBrk="1" hangingPunct="1"/>
            <a:r>
              <a:rPr lang="en-US" altLang="en-US" dirty="0">
                <a:latin typeface="Arial (Body)"/>
                <a:ea typeface="ＭＳ Ｐゴシック" pitchFamily="34" charset="-128"/>
              </a:rPr>
              <a:t>Government policies to address market failures are likely to be manipulated by politically powerful groups.</a:t>
            </a:r>
          </a:p>
          <a:p>
            <a:pPr eaLnBrk="1" hangingPunct="1"/>
            <a:r>
              <a:rPr lang="en-US" altLang="en-US" dirty="0">
                <a:latin typeface="Arial (Body)"/>
                <a:ea typeface="ＭＳ Ｐゴシック" pitchFamily="34" charset="-128"/>
              </a:rPr>
              <a:t>Due to distorting the incentives of producers and consumers, trade policy may have </a:t>
            </a:r>
            <a:r>
              <a:rPr lang="en-US" altLang="en-US" b="1" dirty="0">
                <a:latin typeface="Arial (Body)"/>
                <a:ea typeface="ＭＳ Ｐゴシック" pitchFamily="34" charset="-128"/>
              </a:rPr>
              <a:t>unintended</a:t>
            </a:r>
            <a:r>
              <a:rPr lang="en-US" altLang="en-US" i="1" dirty="0">
                <a:latin typeface="Arial (Body)"/>
                <a:ea typeface="ＭＳ Ｐゴシック" pitchFamily="34" charset="-128"/>
              </a:rPr>
              <a:t> </a:t>
            </a:r>
            <a:r>
              <a:rPr lang="en-US" altLang="en-US" b="1" dirty="0">
                <a:latin typeface="Arial (Body)"/>
                <a:ea typeface="ＭＳ Ｐゴシック" pitchFamily="34" charset="-128"/>
              </a:rPr>
              <a:t>consequences</a:t>
            </a:r>
            <a:r>
              <a:rPr lang="en-US" altLang="en-US" dirty="0">
                <a:latin typeface="Arial (Body)"/>
                <a:ea typeface="ＭＳ Ｐゴシック" pitchFamily="34" charset="-128"/>
              </a:rPr>
              <a:t> that make a situation worse, not better.</a:t>
            </a:r>
            <a:endParaRPr lang="en-US" altLang="en-US" dirty="0">
              <a:latin typeface="Arial (Body)"/>
              <a:ea typeface="ヒラギノ角ゴ Pro W3" pitchFamily="-84" charset="-128"/>
            </a:endParaRPr>
          </a:p>
        </p:txBody>
      </p:sp>
    </p:spTree>
    <p:extLst>
      <p:ext uri="{BB962C8B-B14F-4D97-AF65-F5344CB8AC3E}">
        <p14:creationId xmlns:p14="http://schemas.microsoft.com/office/powerpoint/2010/main" val="3837823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Political Models of Trade Policy</a:t>
            </a:r>
            <a:endParaRPr lang="en-US" dirty="0"/>
          </a:p>
        </p:txBody>
      </p:sp>
      <p:sp>
        <p:nvSpPr>
          <p:cNvPr id="3" name="Content Placeholder 2"/>
          <p:cNvSpPr>
            <a:spLocks noGrp="1"/>
          </p:cNvSpPr>
          <p:nvPr>
            <p:ph sz="quarter" idx="13"/>
          </p:nvPr>
        </p:nvSpPr>
        <p:spPr>
          <a:xfrm>
            <a:off x="457200" y="1556327"/>
            <a:ext cx="8229600" cy="1424379"/>
          </a:xfrm>
        </p:spPr>
        <p:txBody>
          <a:bodyPr/>
          <a:lstStyle/>
          <a:p>
            <a:pPr eaLnBrk="1" hangingPunct="1"/>
            <a:r>
              <a:rPr lang="en-US" altLang="en-US" dirty="0">
                <a:latin typeface="Arial (Body)"/>
                <a:ea typeface="ヒラギノ角ゴ Pro W3" pitchFamily="-84" charset="-128"/>
              </a:rPr>
              <a:t>How is trade policy determined?</a:t>
            </a:r>
          </a:p>
          <a:p>
            <a:pPr eaLnBrk="1" hangingPunct="1"/>
            <a:r>
              <a:rPr lang="en-US" altLang="en-US" dirty="0">
                <a:latin typeface="Arial (Body)"/>
                <a:ea typeface="ヒラギノ角ゴ Pro W3" pitchFamily="-84" charset="-128"/>
              </a:rPr>
              <a:t>Models of governments maximizing political success rather than national welfare:</a:t>
            </a:r>
          </a:p>
        </p:txBody>
      </p:sp>
      <p:sp>
        <p:nvSpPr>
          <p:cNvPr id="4" name="Content Placeholder 3"/>
          <p:cNvSpPr>
            <a:spLocks noGrp="1"/>
          </p:cNvSpPr>
          <p:nvPr>
            <p:ph sz="quarter" idx="14"/>
          </p:nvPr>
        </p:nvSpPr>
        <p:spPr>
          <a:xfrm>
            <a:off x="457200" y="3059093"/>
            <a:ext cx="8229600" cy="1862043"/>
          </a:xfrm>
        </p:spPr>
        <p:txBody>
          <a:bodyPr/>
          <a:lstStyle/>
          <a:p>
            <a:pPr marL="741600" lvl="1" indent="-429768" eaLnBrk="1" hangingPunct="1">
              <a:buFont typeface="Times" pitchFamily="-84" charset="0"/>
              <a:buAutoNum type="arabicPeriod"/>
            </a:pPr>
            <a:r>
              <a:rPr lang="en-US" altLang="en-US" dirty="0">
                <a:latin typeface="Arial (Body)"/>
                <a:ea typeface="ヒラギノ角ゴ Pro W3" pitchFamily="-84" charset="-128"/>
              </a:rPr>
              <a:t>Median voter theorem</a:t>
            </a:r>
          </a:p>
          <a:p>
            <a:pPr marL="741600" lvl="1" indent="-429768" eaLnBrk="1" hangingPunct="1">
              <a:buFont typeface="Times" pitchFamily="-84" charset="0"/>
              <a:buAutoNum type="arabicPeriod"/>
            </a:pPr>
            <a:r>
              <a:rPr lang="en-US" altLang="en-US" dirty="0">
                <a:latin typeface="Arial (Body)"/>
                <a:ea typeface="ヒラギノ角ゴ Pro W3" pitchFamily="-84" charset="-128"/>
              </a:rPr>
              <a:t>Collective action</a:t>
            </a:r>
          </a:p>
          <a:p>
            <a:pPr marL="741600" lvl="1" indent="-429768" eaLnBrk="1" hangingPunct="1">
              <a:buFont typeface="Times" pitchFamily="-84" charset="0"/>
              <a:buAutoNum type="arabicPeriod"/>
            </a:pPr>
            <a:r>
              <a:rPr lang="en-US" altLang="en-US" dirty="0">
                <a:latin typeface="Arial (Body)"/>
                <a:ea typeface="ヒラギノ角ゴ Pro W3" pitchFamily="-84" charset="-128"/>
              </a:rPr>
              <a:t>A model that combines aspects of collective action and the median voter theorem</a:t>
            </a:r>
          </a:p>
        </p:txBody>
      </p:sp>
    </p:spTree>
    <p:extLst>
      <p:ext uri="{BB962C8B-B14F-4D97-AF65-F5344CB8AC3E}">
        <p14:creationId xmlns:p14="http://schemas.microsoft.com/office/powerpoint/2010/main" val="4084356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Median Voter </a:t>
            </a:r>
            <a:r>
              <a:rPr lang="en-US" altLang="en-US" sz="2000" b="0" dirty="0">
                <a:ea typeface="ヒラギノ角ゴ Pro W3" pitchFamily="-84" charset="-128"/>
              </a:rPr>
              <a:t>(1 of 3)</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The median voter theorem predicts that democratic political parties pick their policies to court the voter in the middle of the ideological spectrum (i.e., the median voter).</a:t>
            </a:r>
          </a:p>
          <a:p>
            <a:pPr eaLnBrk="1" hangingPunct="1"/>
            <a:r>
              <a:rPr lang="en-US" altLang="en-US" dirty="0">
                <a:latin typeface="Arial (Body)"/>
                <a:ea typeface="ヒラギノ角ゴ Pro W3" pitchFamily="-84" charset="-128"/>
              </a:rPr>
              <a:t>Suppose the level of a tariff rate is the policy issue.</a:t>
            </a:r>
          </a:p>
          <a:p>
            <a:pPr lvl="1" eaLnBrk="1" hangingPunct="1"/>
            <a:r>
              <a:rPr lang="en-US" altLang="en-US" dirty="0">
                <a:latin typeface="Arial (Body)"/>
                <a:ea typeface="ヒラギノ角ゴ Pro W3" pitchFamily="-84" charset="-128"/>
              </a:rPr>
              <a:t>Line up all the voters according to the tariff rate they prefer, starting with those who favor the lowest rate.</a:t>
            </a:r>
          </a:p>
        </p:txBody>
      </p:sp>
    </p:spTree>
    <p:extLst>
      <p:ext uri="{BB962C8B-B14F-4D97-AF65-F5344CB8AC3E}">
        <p14:creationId xmlns:p14="http://schemas.microsoft.com/office/powerpoint/2010/main" val="4082787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Median Voter </a:t>
            </a:r>
            <a:r>
              <a:rPr lang="en-US" altLang="en-US" sz="2000" b="0" dirty="0">
                <a:ea typeface="ヒラギノ角ゴ Pro W3" pitchFamily="-84" charset="-128"/>
              </a:rPr>
              <a:t>(2 of 3)</a:t>
            </a:r>
            <a:endParaRPr lang="en-US" dirty="0"/>
          </a:p>
        </p:txBody>
      </p:sp>
      <p:sp>
        <p:nvSpPr>
          <p:cNvPr id="3" name="Content Placeholder 2"/>
          <p:cNvSpPr>
            <a:spLocks noGrp="1"/>
          </p:cNvSpPr>
          <p:nvPr>
            <p:ph sz="quarter" idx="13"/>
          </p:nvPr>
        </p:nvSpPr>
        <p:spPr>
          <a:xfrm>
            <a:off x="466602" y="1552576"/>
            <a:ext cx="8220197" cy="489980"/>
          </a:xfrm>
        </p:spPr>
        <p:txBody>
          <a:bodyPr/>
          <a:lstStyle/>
          <a:p>
            <a:pPr eaLnBrk="1" hangingPunct="1"/>
            <a:r>
              <a:rPr lang="en-US" altLang="en-US" dirty="0">
                <a:latin typeface="Arial (Body)"/>
                <a:ea typeface="ヒラギノ角ゴ Pro W3" pitchFamily="-84" charset="-128"/>
              </a:rPr>
              <a:t>Assumptions of the model:</a:t>
            </a:r>
          </a:p>
        </p:txBody>
      </p:sp>
      <p:sp>
        <p:nvSpPr>
          <p:cNvPr id="4" name="Content Placeholder 3"/>
          <p:cNvSpPr>
            <a:spLocks noGrp="1"/>
          </p:cNvSpPr>
          <p:nvPr>
            <p:ph sz="quarter" idx="14"/>
          </p:nvPr>
        </p:nvSpPr>
        <p:spPr>
          <a:xfrm>
            <a:off x="466602" y="2113807"/>
            <a:ext cx="8220197" cy="1330035"/>
          </a:xfrm>
        </p:spPr>
        <p:txBody>
          <a:bodyPr/>
          <a:lstStyle/>
          <a:p>
            <a:pPr marL="741600" lvl="1" indent="-429768" eaLnBrk="1" hangingPunct="1">
              <a:buFont typeface="Times" pitchFamily="-84" charset="0"/>
              <a:buAutoNum type="arabicPeriod"/>
            </a:pPr>
            <a:r>
              <a:rPr lang="en-US" altLang="en-US" dirty="0">
                <a:latin typeface="Arial (Body)"/>
                <a:ea typeface="ヒラギノ角ゴ Pro W3" pitchFamily="-84" charset="-128"/>
              </a:rPr>
              <a:t>There are two competing political parties.</a:t>
            </a:r>
          </a:p>
          <a:p>
            <a:pPr marL="741600" lvl="1" indent="-429768" eaLnBrk="1" hangingPunct="1">
              <a:buFont typeface="Times" pitchFamily="-84" charset="0"/>
              <a:buAutoNum type="arabicPeriod"/>
            </a:pPr>
            <a:r>
              <a:rPr lang="en-US" altLang="en-US" dirty="0">
                <a:latin typeface="Arial (Body)"/>
                <a:ea typeface="ヒラギノ角ゴ Pro W3" pitchFamily="-84" charset="-128"/>
              </a:rPr>
              <a:t>The objective of each party is to get elected by majority vote.</a:t>
            </a:r>
            <a:endParaRPr lang="en-US" dirty="0"/>
          </a:p>
        </p:txBody>
      </p:sp>
      <p:sp>
        <p:nvSpPr>
          <p:cNvPr id="5" name="Content Placeholder 4"/>
          <p:cNvSpPr>
            <a:spLocks noGrp="1"/>
          </p:cNvSpPr>
          <p:nvPr>
            <p:ph sz="quarter" idx="15"/>
          </p:nvPr>
        </p:nvSpPr>
        <p:spPr>
          <a:xfrm>
            <a:off x="466602" y="3515094"/>
            <a:ext cx="8062256" cy="1757550"/>
          </a:xfrm>
        </p:spPr>
        <p:txBody>
          <a:bodyPr/>
          <a:lstStyle/>
          <a:p>
            <a:r>
              <a:rPr lang="en-US" altLang="en-US" dirty="0">
                <a:latin typeface="Arial (Body)"/>
                <a:ea typeface="ヒラギノ角ゴ Pro W3" pitchFamily="-84" charset="-128"/>
              </a:rPr>
              <a:t>What policies will the parties promise to follow?</a:t>
            </a:r>
          </a:p>
          <a:p>
            <a:pPr lvl="1"/>
            <a:r>
              <a:rPr lang="en-US" altLang="en-US" dirty="0">
                <a:latin typeface="Arial (Body)"/>
                <a:ea typeface="ヒラギノ角ゴ Pro W3" pitchFamily="-84" charset="-128"/>
              </a:rPr>
              <a:t>Both parties will offer the same tariff policy to court the median voter (the voter in the middle of the spectrum) in order to capture the most votes.</a:t>
            </a:r>
          </a:p>
        </p:txBody>
      </p:sp>
    </p:spTree>
    <p:extLst>
      <p:ext uri="{BB962C8B-B14F-4D97-AF65-F5344CB8AC3E}">
        <p14:creationId xmlns:p14="http://schemas.microsoft.com/office/powerpoint/2010/main" val="535042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10.4 Political Competition</a:t>
            </a:r>
            <a:endParaRPr lang="en-US" dirty="0"/>
          </a:p>
        </p:txBody>
      </p:sp>
      <p:pic>
        <p:nvPicPr>
          <p:cNvPr id="28" name="Content Placeholder 27" descr="The graph plots preferred tariff rate versus voters. A rising line is political support.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777877" y="1575497"/>
            <a:ext cx="3588246" cy="3042385"/>
          </a:xfrm>
        </p:spPr>
      </p:pic>
      <p:sp>
        <p:nvSpPr>
          <p:cNvPr id="5" name="Content Placeholder 4"/>
          <p:cNvSpPr>
            <a:spLocks noGrp="1"/>
          </p:cNvSpPr>
          <p:nvPr>
            <p:ph sz="quarter" idx="14"/>
          </p:nvPr>
        </p:nvSpPr>
        <p:spPr>
          <a:xfrm>
            <a:off x="457200" y="4761753"/>
            <a:ext cx="8021782" cy="414865"/>
          </a:xfrm>
        </p:spPr>
        <p:txBody>
          <a:bodyPr/>
          <a:lstStyle/>
          <a:p>
            <a:pPr marL="432" indent="0">
              <a:buNone/>
            </a:pPr>
            <a:r>
              <a:rPr lang="en-US" sz="1800" dirty="0">
                <a:latin typeface="Arial (Body)"/>
              </a:rPr>
              <a:t>Voters are lined up in order of the tariff rate they prefer. If one party proposes</a:t>
            </a:r>
            <a:endParaRPr lang="en-US" sz="1800" dirty="0"/>
          </a:p>
        </p:txBody>
      </p:sp>
      <p:sp>
        <p:nvSpPr>
          <p:cNvPr id="6" name="Content Placeholder 5"/>
          <p:cNvSpPr>
            <a:spLocks noGrp="1"/>
          </p:cNvSpPr>
          <p:nvPr>
            <p:ph sz="quarter" idx="15"/>
          </p:nvPr>
        </p:nvSpPr>
        <p:spPr>
          <a:xfrm>
            <a:off x="457200" y="5249318"/>
            <a:ext cx="1578077" cy="320210"/>
          </a:xfrm>
        </p:spPr>
        <p:txBody>
          <a:bodyPr tIns="0"/>
          <a:lstStyle/>
          <a:p>
            <a:pPr marL="432" indent="0">
              <a:buNone/>
            </a:pPr>
            <a:r>
              <a:rPr lang="en-US" sz="1800" dirty="0">
                <a:latin typeface="Arial (Body)"/>
              </a:rPr>
              <a:t>a high tariff of</a:t>
            </a:r>
            <a:endParaRPr lang="en-US" sz="1800" dirty="0"/>
          </a:p>
        </p:txBody>
      </p:sp>
      <p:graphicFrame>
        <p:nvGraphicFramePr>
          <p:cNvPr id="25" name="Object 24" descr="t sub A,"/>
          <p:cNvGraphicFramePr>
            <a:graphicFrameLocks noChangeAspect="1"/>
          </p:cNvGraphicFramePr>
          <p:nvPr>
            <p:extLst>
              <p:ext uri="{D42A27DB-BD31-4B8C-83A1-F6EECF244321}">
                <p14:modId xmlns:p14="http://schemas.microsoft.com/office/powerpoint/2010/main" val="2716187844"/>
              </p:ext>
            </p:extLst>
          </p:nvPr>
        </p:nvGraphicFramePr>
        <p:xfrm>
          <a:off x="2100394" y="5234521"/>
          <a:ext cx="291912" cy="350295"/>
        </p:xfrm>
        <a:graphic>
          <a:graphicData uri="http://schemas.openxmlformats.org/presentationml/2006/ole">
            <mc:AlternateContent xmlns:mc="http://schemas.openxmlformats.org/markup-compatibility/2006">
              <mc:Choice xmlns:v="urn:schemas-microsoft-com:vml" Requires="v">
                <p:oleObj spid="_x0000_s3077" name="Equation" r:id="rId5" imgW="190440" imgH="228600" progId="Equation.DSMT4">
                  <p:embed/>
                </p:oleObj>
              </mc:Choice>
              <mc:Fallback>
                <p:oleObj name="Equation" r:id="rId5" imgW="190440" imgH="228600" progId="Equation.DSMT4">
                  <p:embed/>
                  <p:pic>
                    <p:nvPicPr>
                      <p:cNvPr id="0" name=""/>
                      <p:cNvPicPr/>
                      <p:nvPr/>
                    </p:nvPicPr>
                    <p:blipFill>
                      <a:blip r:embed="rId6"/>
                      <a:stretch>
                        <a:fillRect/>
                      </a:stretch>
                    </p:blipFill>
                    <p:spPr>
                      <a:xfrm>
                        <a:off x="2100394" y="5234521"/>
                        <a:ext cx="291912" cy="350295"/>
                      </a:xfrm>
                      <a:prstGeom prst="rect">
                        <a:avLst/>
                      </a:prstGeom>
                    </p:spPr>
                  </p:pic>
                </p:oleObj>
              </mc:Fallback>
            </mc:AlternateContent>
          </a:graphicData>
        </a:graphic>
      </p:graphicFrame>
      <p:sp>
        <p:nvSpPr>
          <p:cNvPr id="7" name="Content Placeholder 6"/>
          <p:cNvSpPr>
            <a:spLocks noGrp="1"/>
          </p:cNvSpPr>
          <p:nvPr>
            <p:ph sz="quarter" idx="16"/>
          </p:nvPr>
        </p:nvSpPr>
        <p:spPr>
          <a:xfrm>
            <a:off x="2457423" y="5248829"/>
            <a:ext cx="6021559" cy="320699"/>
          </a:xfrm>
        </p:spPr>
        <p:txBody>
          <a:bodyPr lIns="0" tIns="0"/>
          <a:lstStyle/>
          <a:p>
            <a:pPr marL="432" indent="0">
              <a:buNone/>
            </a:pPr>
            <a:r>
              <a:rPr lang="en-US" sz="1800" dirty="0">
                <a:latin typeface="Arial (Body)"/>
              </a:rPr>
              <a:t>the other party can win over most of the voters by offering</a:t>
            </a:r>
            <a:endParaRPr lang="en-US" sz="1800" dirty="0"/>
          </a:p>
        </p:txBody>
      </p:sp>
      <p:sp>
        <p:nvSpPr>
          <p:cNvPr id="8" name="Content Placeholder 7"/>
          <p:cNvSpPr>
            <a:spLocks noGrp="1"/>
          </p:cNvSpPr>
          <p:nvPr>
            <p:ph sz="quarter" idx="17"/>
          </p:nvPr>
        </p:nvSpPr>
        <p:spPr>
          <a:xfrm>
            <a:off x="457201" y="5627247"/>
            <a:ext cx="2679290" cy="310418"/>
          </a:xfrm>
        </p:spPr>
        <p:txBody>
          <a:bodyPr tIns="0"/>
          <a:lstStyle/>
          <a:p>
            <a:pPr marL="432" indent="0">
              <a:buNone/>
            </a:pPr>
            <a:r>
              <a:rPr lang="en-US" sz="1800" dirty="0">
                <a:latin typeface="Arial (Body)"/>
              </a:rPr>
              <a:t>a Somewhat lower tariff,</a:t>
            </a:r>
            <a:endParaRPr lang="en-US" sz="1800" dirty="0"/>
          </a:p>
        </p:txBody>
      </p:sp>
      <p:graphicFrame>
        <p:nvGraphicFramePr>
          <p:cNvPr id="26" name="Object 25" descr="t sub B."/>
          <p:cNvGraphicFramePr>
            <a:graphicFrameLocks noChangeAspect="1"/>
          </p:cNvGraphicFramePr>
          <p:nvPr>
            <p:extLst>
              <p:ext uri="{D42A27DB-BD31-4B8C-83A1-F6EECF244321}">
                <p14:modId xmlns:p14="http://schemas.microsoft.com/office/powerpoint/2010/main" val="1637160171"/>
              </p:ext>
            </p:extLst>
          </p:nvPr>
        </p:nvGraphicFramePr>
        <p:xfrm>
          <a:off x="3197592" y="5629631"/>
          <a:ext cx="268029" cy="321633"/>
        </p:xfrm>
        <a:graphic>
          <a:graphicData uri="http://schemas.openxmlformats.org/presentationml/2006/ole">
            <mc:AlternateContent xmlns:mc="http://schemas.openxmlformats.org/markup-compatibility/2006">
              <mc:Choice xmlns:v="urn:schemas-microsoft-com:vml" Requires="v">
                <p:oleObj spid="_x0000_s3078" name="Equation" r:id="rId7" imgW="190440" imgH="228600" progId="Equation.DSMT4">
                  <p:embed/>
                </p:oleObj>
              </mc:Choice>
              <mc:Fallback>
                <p:oleObj name="Equation" r:id="rId7" imgW="190440" imgH="228600" progId="Equation.DSMT4">
                  <p:embed/>
                  <p:pic>
                    <p:nvPicPr>
                      <p:cNvPr id="25" name="Object 24"/>
                      <p:cNvPicPr/>
                      <p:nvPr/>
                    </p:nvPicPr>
                    <p:blipFill>
                      <a:blip r:embed="rId8"/>
                      <a:stretch>
                        <a:fillRect/>
                      </a:stretch>
                    </p:blipFill>
                    <p:spPr>
                      <a:xfrm>
                        <a:off x="3197592" y="5629631"/>
                        <a:ext cx="268029" cy="321633"/>
                      </a:xfrm>
                      <a:prstGeom prst="rect">
                        <a:avLst/>
                      </a:prstGeom>
                    </p:spPr>
                  </p:pic>
                </p:oleObj>
              </mc:Fallback>
            </mc:AlternateContent>
          </a:graphicData>
        </a:graphic>
      </p:graphicFrame>
      <p:sp>
        <p:nvSpPr>
          <p:cNvPr id="9" name="Content Placeholder 8"/>
          <p:cNvSpPr>
            <a:spLocks noGrp="1"/>
          </p:cNvSpPr>
          <p:nvPr>
            <p:ph sz="quarter" idx="18"/>
          </p:nvPr>
        </p:nvSpPr>
        <p:spPr>
          <a:xfrm>
            <a:off x="3529405" y="5626758"/>
            <a:ext cx="4664571" cy="310907"/>
          </a:xfrm>
        </p:spPr>
        <p:txBody>
          <a:bodyPr lIns="0" tIns="0"/>
          <a:lstStyle/>
          <a:p>
            <a:pPr marL="432" indent="0">
              <a:buNone/>
            </a:pPr>
            <a:r>
              <a:rPr lang="en-US" sz="1800" dirty="0">
                <a:latin typeface="Arial (Body)"/>
              </a:rPr>
              <a:t>This Political Competition drives both parties</a:t>
            </a:r>
            <a:endParaRPr lang="en-US" sz="1800" dirty="0"/>
          </a:p>
        </p:txBody>
      </p:sp>
      <p:sp>
        <p:nvSpPr>
          <p:cNvPr id="10" name="Content Placeholder 9"/>
          <p:cNvSpPr>
            <a:spLocks noGrp="1"/>
          </p:cNvSpPr>
          <p:nvPr>
            <p:ph sz="quarter" idx="19"/>
          </p:nvPr>
        </p:nvSpPr>
        <p:spPr>
          <a:xfrm>
            <a:off x="457200" y="6015927"/>
            <a:ext cx="2767385" cy="325498"/>
          </a:xfrm>
        </p:spPr>
        <p:txBody>
          <a:bodyPr tIns="0"/>
          <a:lstStyle/>
          <a:p>
            <a:pPr marL="432" indent="0">
              <a:buNone/>
            </a:pPr>
            <a:r>
              <a:rPr lang="en-US" sz="1800" dirty="0">
                <a:latin typeface="Arial (Body)"/>
              </a:rPr>
              <a:t>to propose tariffs close to</a:t>
            </a:r>
            <a:endParaRPr lang="en-US" sz="1800" dirty="0"/>
          </a:p>
        </p:txBody>
      </p:sp>
      <p:graphicFrame>
        <p:nvGraphicFramePr>
          <p:cNvPr id="27" name="Object 26" descr="t sub M,"/>
          <p:cNvGraphicFramePr>
            <a:graphicFrameLocks noChangeAspect="1"/>
          </p:cNvGraphicFramePr>
          <p:nvPr>
            <p:extLst>
              <p:ext uri="{D42A27DB-BD31-4B8C-83A1-F6EECF244321}">
                <p14:modId xmlns:p14="http://schemas.microsoft.com/office/powerpoint/2010/main" val="1349046196"/>
              </p:ext>
            </p:extLst>
          </p:nvPr>
        </p:nvGraphicFramePr>
        <p:xfrm>
          <a:off x="3272241" y="6010712"/>
          <a:ext cx="316057" cy="334818"/>
        </p:xfrm>
        <a:graphic>
          <a:graphicData uri="http://schemas.openxmlformats.org/presentationml/2006/ole">
            <mc:AlternateContent xmlns:mc="http://schemas.openxmlformats.org/markup-compatibility/2006">
              <mc:Choice xmlns:v="urn:schemas-microsoft-com:vml" Requires="v">
                <p:oleObj spid="_x0000_s3079" name="Equation" r:id="rId9" imgW="215640" imgH="228600" progId="Equation.DSMT4">
                  <p:embed/>
                </p:oleObj>
              </mc:Choice>
              <mc:Fallback>
                <p:oleObj name="Equation" r:id="rId9" imgW="215640" imgH="228600" progId="Equation.DSMT4">
                  <p:embed/>
                  <p:pic>
                    <p:nvPicPr>
                      <p:cNvPr id="25" name="Object 24"/>
                      <p:cNvPicPr/>
                      <p:nvPr/>
                    </p:nvPicPr>
                    <p:blipFill>
                      <a:blip r:embed="rId10"/>
                      <a:stretch>
                        <a:fillRect/>
                      </a:stretch>
                    </p:blipFill>
                    <p:spPr>
                      <a:xfrm>
                        <a:off x="3272241" y="6010712"/>
                        <a:ext cx="316057" cy="334818"/>
                      </a:xfrm>
                      <a:prstGeom prst="rect">
                        <a:avLst/>
                      </a:prstGeom>
                    </p:spPr>
                  </p:pic>
                </p:oleObj>
              </mc:Fallback>
            </mc:AlternateContent>
          </a:graphicData>
        </a:graphic>
      </p:graphicFrame>
      <p:sp>
        <p:nvSpPr>
          <p:cNvPr id="18" name="Content Placeholder 17"/>
          <p:cNvSpPr>
            <a:spLocks noGrp="1"/>
          </p:cNvSpPr>
          <p:nvPr>
            <p:ph sz="quarter" idx="20"/>
          </p:nvPr>
        </p:nvSpPr>
        <p:spPr>
          <a:xfrm>
            <a:off x="3635954" y="6010713"/>
            <a:ext cx="4118633" cy="330712"/>
          </a:xfrm>
        </p:spPr>
        <p:txBody>
          <a:bodyPr lIns="0" tIns="0"/>
          <a:lstStyle/>
          <a:p>
            <a:pPr marL="432" indent="0">
              <a:buNone/>
            </a:pPr>
            <a:r>
              <a:rPr lang="en-US" sz="1800" dirty="0">
                <a:latin typeface="Arial (Body)"/>
              </a:rPr>
              <a:t>the tariff preferred by the median voter.</a:t>
            </a:r>
            <a:endParaRPr lang="en-US" sz="1800" dirty="0"/>
          </a:p>
        </p:txBody>
      </p:sp>
    </p:spTree>
    <p:extLst>
      <p:ext uri="{BB962C8B-B14F-4D97-AF65-F5344CB8AC3E}">
        <p14:creationId xmlns:p14="http://schemas.microsoft.com/office/powerpoint/2010/main" val="1520449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Median Voter </a:t>
            </a:r>
            <a:r>
              <a:rPr lang="en-US" altLang="en-US" sz="2000" b="0" dirty="0">
                <a:ea typeface="ヒラギノ角ゴ Pro W3" pitchFamily="-84" charset="-128"/>
              </a:rPr>
              <a:t>(3 of 3)</a:t>
            </a:r>
            <a:endParaRPr lang="en-US" dirty="0"/>
          </a:p>
        </p:txBody>
      </p:sp>
      <p:sp>
        <p:nvSpPr>
          <p:cNvPr id="17" name="Content Placeholder 16"/>
          <p:cNvSpPr>
            <a:spLocks noGrp="1"/>
          </p:cNvSpPr>
          <p:nvPr>
            <p:ph sz="quarter" idx="13"/>
          </p:nvPr>
        </p:nvSpPr>
        <p:spPr>
          <a:xfrm>
            <a:off x="457200" y="1556327"/>
            <a:ext cx="8116784" cy="4586896"/>
          </a:xfrm>
        </p:spPr>
        <p:txBody>
          <a:bodyPr/>
          <a:lstStyle/>
          <a:p>
            <a:pPr eaLnBrk="1" hangingPunct="1"/>
            <a:r>
              <a:rPr lang="en-US" altLang="en-US" dirty="0">
                <a:latin typeface="Arial (Body)"/>
                <a:ea typeface="ヒラギノ角ゴ Pro W3" pitchFamily="-84" charset="-128"/>
              </a:rPr>
              <a:t>Thus, the median voter theorem implies that a two-party democracy should enact trade policy based on how many voters it pleases.</a:t>
            </a:r>
          </a:p>
          <a:p>
            <a:pPr lvl="1" eaLnBrk="1" hangingPunct="1"/>
            <a:r>
              <a:rPr lang="en-US" altLang="en-US" dirty="0">
                <a:latin typeface="Arial (Body)"/>
                <a:ea typeface="ヒラギノ角ゴ Pro W3" pitchFamily="-84" charset="-128"/>
              </a:rPr>
              <a:t>A policy that inflicts large losses on a few people (import-competing producers) but benefits a large number of people (consumers) should be chosen.</a:t>
            </a:r>
          </a:p>
          <a:p>
            <a:pPr eaLnBrk="1" hangingPunct="1"/>
            <a:r>
              <a:rPr lang="en-US" altLang="en-US" dirty="0">
                <a:latin typeface="Arial (Body)"/>
                <a:ea typeface="ヒラギノ角ゴ Pro W3" pitchFamily="-84" charset="-128"/>
              </a:rPr>
              <a:t>But trade policy doesn't</a:t>
            </a:r>
            <a:r>
              <a:rPr lang="en-US" altLang="ja-JP" dirty="0">
                <a:latin typeface="Arial (Body)"/>
                <a:ea typeface="ヒラギノ角ゴ Pro W3" pitchFamily="-84" charset="-128"/>
              </a:rPr>
              <a:t> follow this prediction.</a:t>
            </a:r>
            <a:endParaRPr lang="en-US" altLang="en-US" dirty="0">
              <a:latin typeface="Arial (Body)"/>
              <a:ea typeface="ヒラギノ角ゴ Pro W3" pitchFamily="-84" charset="-128"/>
            </a:endParaRPr>
          </a:p>
        </p:txBody>
      </p:sp>
    </p:spTree>
    <p:extLst>
      <p:ext uri="{BB962C8B-B14F-4D97-AF65-F5344CB8AC3E}">
        <p14:creationId xmlns:p14="http://schemas.microsoft.com/office/powerpoint/2010/main" val="14504069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Collective Action </a:t>
            </a:r>
            <a:r>
              <a:rPr lang="en-US" altLang="en-US" sz="2000" b="0" dirty="0">
                <a:ea typeface="ヒラギノ角ゴ Pro W3" pitchFamily="-84" charset="-128"/>
              </a:rPr>
              <a:t>(1 of 2)</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Political activity is often described as a </a:t>
            </a:r>
            <a:r>
              <a:rPr lang="en-US" altLang="en-US" b="1" dirty="0">
                <a:latin typeface="Arial (Body)"/>
                <a:ea typeface="ヒラギノ角ゴ Pro W3" pitchFamily="-84" charset="-128"/>
              </a:rPr>
              <a:t>collective action problem</a:t>
            </a:r>
            <a:r>
              <a:rPr lang="en-US" altLang="en-US" dirty="0">
                <a:latin typeface="Arial (Body)"/>
                <a:ea typeface="ヒラギノ角ゴ Pro W3" pitchFamily="-84" charset="-128"/>
              </a:rPr>
              <a:t>:</a:t>
            </a:r>
          </a:p>
          <a:p>
            <a:pPr lvl="1" eaLnBrk="1" hangingPunct="1">
              <a:spcBef>
                <a:spcPts val="0"/>
              </a:spcBef>
            </a:pPr>
            <a:r>
              <a:rPr lang="en-US" altLang="en-US" dirty="0">
                <a:latin typeface="Arial (Body)"/>
                <a:ea typeface="ヒラギノ角ゴ Pro W3" pitchFamily="-84" charset="-128"/>
              </a:rPr>
              <a:t>While consumers </a:t>
            </a:r>
            <a:r>
              <a:rPr lang="en-US" altLang="en-US" b="1" dirty="0">
                <a:latin typeface="Arial (Body)"/>
                <a:ea typeface="ヒラギノ角ゴ Pro W3" pitchFamily="-84" charset="-128"/>
              </a:rPr>
              <a:t>as a</a:t>
            </a:r>
            <a:r>
              <a:rPr lang="en-US" altLang="en-US" i="1" dirty="0">
                <a:latin typeface="Arial (Body)"/>
                <a:ea typeface="ヒラギノ角ゴ Pro W3" pitchFamily="-84" charset="-128"/>
              </a:rPr>
              <a:t> </a:t>
            </a:r>
            <a:r>
              <a:rPr lang="en-US" altLang="en-US" b="1" dirty="0">
                <a:latin typeface="Arial (Body)"/>
                <a:ea typeface="ヒラギノ角ゴ Pro W3" pitchFamily="-84" charset="-128"/>
              </a:rPr>
              <a:t>group</a:t>
            </a:r>
            <a:r>
              <a:rPr lang="en-US" altLang="en-US" dirty="0">
                <a:latin typeface="Arial (Body)"/>
                <a:ea typeface="ヒラギノ角ゴ Pro W3" pitchFamily="-84" charset="-128"/>
              </a:rPr>
              <a:t> have an incentive to advocate free trade, each </a:t>
            </a:r>
            <a:r>
              <a:rPr lang="en-US" altLang="en-US" b="1" dirty="0">
                <a:latin typeface="Arial (Body)"/>
                <a:ea typeface="ヒラギノ角ゴ Pro W3" pitchFamily="-84" charset="-128"/>
              </a:rPr>
              <a:t>individual</a:t>
            </a:r>
            <a:r>
              <a:rPr lang="en-US" altLang="en-US" dirty="0">
                <a:latin typeface="Arial (Body)"/>
                <a:ea typeface="ヒラギノ角ゴ Pro W3" pitchFamily="-84" charset="-128"/>
              </a:rPr>
              <a:t> consumer has no incentive because his benefit is not large compared to the cost and time required to advocate free trade.</a:t>
            </a:r>
          </a:p>
          <a:p>
            <a:pPr lvl="1" eaLnBrk="1" hangingPunct="1">
              <a:spcBef>
                <a:spcPts val="0"/>
              </a:spcBef>
            </a:pPr>
            <a:r>
              <a:rPr lang="en-US" altLang="en-US" dirty="0">
                <a:latin typeface="Arial (Body)"/>
                <a:ea typeface="ヒラギノ角ゴ Pro W3" pitchFamily="-84" charset="-128"/>
              </a:rPr>
              <a:t>Policies that impose large losses for society as a whole but small losses on each individual may therefore not face strong opposition.</a:t>
            </a:r>
          </a:p>
        </p:txBody>
      </p:sp>
    </p:spTree>
    <p:extLst>
      <p:ext uri="{BB962C8B-B14F-4D97-AF65-F5344CB8AC3E}">
        <p14:creationId xmlns:p14="http://schemas.microsoft.com/office/powerpoint/2010/main" val="4162174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Collective Action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However, for groups who suffer large losses from free trade (e.g., unemployment), each individual in that group has a strong incentive to advocate the policy he desires.</a:t>
            </a:r>
          </a:p>
          <a:p>
            <a:pPr lvl="1" eaLnBrk="1" hangingPunct="1"/>
            <a:r>
              <a:rPr lang="en-US" altLang="en-US" dirty="0">
                <a:latin typeface="Arial (Body)"/>
                <a:ea typeface="ヒラギノ角ゴ Pro W3" pitchFamily="-84" charset="-128"/>
              </a:rPr>
              <a:t>In this case, the cost and time required to advocate restricted trade is small compared to the cost of unemployment.</a:t>
            </a:r>
          </a:p>
        </p:txBody>
      </p:sp>
    </p:spTree>
    <p:extLst>
      <p:ext uri="{BB962C8B-B14F-4D97-AF65-F5344CB8AC3E}">
        <p14:creationId xmlns:p14="http://schemas.microsoft.com/office/powerpoint/2010/main" val="842634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A Model of Trade Policy</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While politicians may win elections partly because they advocate popular policies as implied by the median voter theorem, they also require funds to run campaigns.</a:t>
            </a:r>
          </a:p>
          <a:p>
            <a:pPr eaLnBrk="1" hangingPunct="1"/>
            <a:r>
              <a:rPr lang="en-US" altLang="en-US" dirty="0">
                <a:latin typeface="Arial (Body)"/>
                <a:ea typeface="ヒラギノ角ゴ Pro W3" pitchFamily="-84" charset="-128"/>
              </a:rPr>
              <a:t>These funds may especially come from groups who do not have a collective action problem and are willing to advocate a special interest policy.</a:t>
            </a:r>
          </a:p>
          <a:p>
            <a:pPr eaLnBrk="1" hangingPunct="1"/>
            <a:r>
              <a:rPr lang="en-US" altLang="en-US" dirty="0">
                <a:latin typeface="Arial (Body)"/>
                <a:ea typeface="ヒラギノ角ゴ Pro W3" pitchFamily="-84" charset="-128"/>
              </a:rPr>
              <a:t>Models of trade restrictions try to measure the trade-off between the reduction in welfare of constituents as a whole and the increase in campaign contributions from special interests.</a:t>
            </a:r>
          </a:p>
        </p:txBody>
      </p:sp>
    </p:spTree>
    <p:extLst>
      <p:ext uri="{BB962C8B-B14F-4D97-AF65-F5344CB8AC3E}">
        <p14:creationId xmlns:p14="http://schemas.microsoft.com/office/powerpoint/2010/main" val="1011327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Which Industries Are Protected? </a:t>
            </a:r>
            <a:r>
              <a:rPr lang="en-US" altLang="en-US" sz="2000" b="0" dirty="0">
                <a:ea typeface="ヒラギノ角ゴ Pro W3" pitchFamily="-84" charset="-128"/>
              </a:rPr>
              <a:t>(1 of 2)</a:t>
            </a:r>
            <a:endParaRPr lang="en-US" dirty="0"/>
          </a:p>
        </p:txBody>
      </p:sp>
      <p:sp>
        <p:nvSpPr>
          <p:cNvPr id="3" name="Content Placeholder 2"/>
          <p:cNvSpPr>
            <a:spLocks noGrp="1"/>
          </p:cNvSpPr>
          <p:nvPr>
            <p:ph sz="quarter" idx="13"/>
          </p:nvPr>
        </p:nvSpPr>
        <p:spPr/>
        <p:txBody>
          <a:bodyPr/>
          <a:lstStyle/>
          <a:p>
            <a:pPr eaLnBrk="1" hangingPunct="1"/>
            <a:r>
              <a:rPr lang="en-US" altLang="en-US" b="1" dirty="0">
                <a:ea typeface="ヒラギノ角ゴ Pro W3" pitchFamily="-84" charset="-128"/>
              </a:rPr>
              <a:t>Agriculture</a:t>
            </a:r>
            <a:r>
              <a:rPr lang="en-US" altLang="en-US" dirty="0">
                <a:ea typeface="ヒラギノ角ゴ Pro W3" pitchFamily="-84" charset="-128"/>
              </a:rPr>
              <a:t>: In the United States, Europe, and Japan, farmers make up a small fraction of the electorate but receive generous subsidies and trade protection.</a:t>
            </a:r>
          </a:p>
          <a:p>
            <a:pPr lvl="1" eaLnBrk="1" hangingPunct="1"/>
            <a:r>
              <a:rPr lang="en-US" altLang="en-US" dirty="0">
                <a:ea typeface="ヒラギノ角ゴ Pro W3" pitchFamily="-84" charset="-128"/>
              </a:rPr>
              <a:t>Examples: European Union’</a:t>
            </a:r>
            <a:r>
              <a:rPr lang="en-US" altLang="ja-JP" dirty="0">
                <a:ea typeface="ヒラギノ角ゴ Pro W3" pitchFamily="-84" charset="-128"/>
              </a:rPr>
              <a:t>s Common Agricultural Policy, Japan’s 1000% tariff on imported rice, America’s sugar quota.</a:t>
            </a:r>
            <a:endParaRPr lang="en-US" altLang="en-US" dirty="0">
              <a:ea typeface="ヒラギノ角ゴ Pro W3" pitchFamily="-84" charset="-128"/>
            </a:endParaRPr>
          </a:p>
        </p:txBody>
      </p:sp>
    </p:spTree>
    <p:extLst>
      <p:ext uri="{BB962C8B-B14F-4D97-AF65-F5344CB8AC3E}">
        <p14:creationId xmlns:p14="http://schemas.microsoft.com/office/powerpoint/2010/main" val="1208600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Which Industries Are Protected?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p:txBody>
          <a:bodyPr/>
          <a:lstStyle/>
          <a:p>
            <a:pPr eaLnBrk="1" hangingPunct="1"/>
            <a:r>
              <a:rPr lang="en-US" altLang="en-US" b="1" dirty="0">
                <a:latin typeface="Arial (Body)"/>
                <a:ea typeface="ヒラギノ角ゴ Pro W3" pitchFamily="-84" charset="-128"/>
              </a:rPr>
              <a:t>Clothing</a:t>
            </a:r>
            <a:r>
              <a:rPr lang="en-US" altLang="en-US" dirty="0">
                <a:latin typeface="Arial (Body)"/>
                <a:ea typeface="ヒラギノ角ゴ Pro W3" pitchFamily="-84" charset="-128"/>
              </a:rPr>
              <a:t>: textiles (fabrication of cloth) and apparel (assembly of cloth into clothing).</a:t>
            </a:r>
          </a:p>
          <a:p>
            <a:pPr lvl="1" eaLnBrk="1" hangingPunct="1">
              <a:spcBef>
                <a:spcPts val="1500"/>
              </a:spcBef>
            </a:pPr>
            <a:r>
              <a:rPr lang="en-US" altLang="en-US" dirty="0">
                <a:latin typeface="Arial (Body)"/>
                <a:ea typeface="ヒラギノ角ゴ Pro W3" pitchFamily="-84" charset="-128"/>
              </a:rPr>
              <a:t>Until 2005, quota licenses granted to textile and apparel exporters were specified in the Multi-Fiber Agreement between the United States and many other nations.</a:t>
            </a:r>
          </a:p>
          <a:p>
            <a:pPr lvl="1" eaLnBrk="1" hangingPunct="1">
              <a:spcBef>
                <a:spcPts val="1500"/>
              </a:spcBef>
            </a:pPr>
            <a:r>
              <a:rPr lang="en-US" altLang="en-US" dirty="0">
                <a:latin typeface="Arial (Body)"/>
                <a:ea typeface="ヒラギノ角ゴ Pro W3" pitchFamily="-84" charset="-128"/>
              </a:rPr>
              <a:t>Phase-out of M</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F</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A drastically reduced the costs of U.S. protection, from 14.1b in 2002 (11.8b from textiles and apparel) to 2.6b estimate for 2015 (only 0.5b from textiles and apparel).</a:t>
            </a:r>
          </a:p>
        </p:txBody>
      </p:sp>
    </p:spTree>
    <p:extLst>
      <p:ext uri="{BB962C8B-B14F-4D97-AF65-F5344CB8AC3E}">
        <p14:creationId xmlns:p14="http://schemas.microsoft.com/office/powerpoint/2010/main" val="4139698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Table 10.2 Welfare Costs of U.S. Protection ($ billion)</a:t>
            </a:r>
            <a:endParaRPr lang="en-US" sz="3200" dirty="0"/>
          </a:p>
        </p:txBody>
      </p:sp>
      <p:graphicFrame>
        <p:nvGraphicFramePr>
          <p:cNvPr id="6" name="Content Placeholder 5"/>
          <p:cNvGraphicFramePr>
            <a:graphicFrameLocks noGrp="1"/>
          </p:cNvGraphicFramePr>
          <p:nvPr>
            <p:ph sz="quarter" idx="13"/>
            <p:extLst>
              <p:ext uri="{D42A27DB-BD31-4B8C-83A1-F6EECF244321}">
                <p14:modId xmlns:p14="http://schemas.microsoft.com/office/powerpoint/2010/main" val="255785897"/>
              </p:ext>
            </p:extLst>
          </p:nvPr>
        </p:nvGraphicFramePr>
        <p:xfrm>
          <a:off x="457200" y="1555750"/>
          <a:ext cx="8229600" cy="1112520"/>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val="4154798940"/>
                    </a:ext>
                  </a:extLst>
                </a:gridCol>
                <a:gridCol w="2743200">
                  <a:extLst>
                    <a:ext uri="{9D8B030D-6E8A-4147-A177-3AD203B41FA5}">
                      <a16:colId xmlns:a16="http://schemas.microsoft.com/office/drawing/2014/main" val="2721611456"/>
                    </a:ext>
                  </a:extLst>
                </a:gridCol>
                <a:gridCol w="2743200">
                  <a:extLst>
                    <a:ext uri="{9D8B030D-6E8A-4147-A177-3AD203B41FA5}">
                      <a16:colId xmlns:a16="http://schemas.microsoft.com/office/drawing/2014/main" val="1033269313"/>
                    </a:ext>
                  </a:extLst>
                </a:gridCol>
              </a:tblGrid>
              <a:tr h="370840">
                <a:tc>
                  <a:txBody>
                    <a:bodyPr/>
                    <a:lstStyle/>
                    <a:p>
                      <a:pPr algn="ctr"/>
                      <a:r>
                        <a:rPr lang="en-US" sz="100" dirty="0"/>
                        <a:t>blank</a:t>
                      </a:r>
                      <a:endParaRPr lang="en-US" sz="100" dirty="0">
                        <a:solidFill>
                          <a:schemeClr val="bg1"/>
                        </a:solidFill>
                        <a:latin typeface="Arial (Body)"/>
                      </a:endParaRPr>
                    </a:p>
                  </a:txBody>
                  <a:tcPr marL="99753" marR="99753"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t>2002 Estimate</a:t>
                      </a:r>
                      <a:endParaRPr lang="en-US" sz="1800" b="1" dirty="0">
                        <a:solidFill>
                          <a:schemeClr val="tx1"/>
                        </a:solidFill>
                        <a:latin typeface="Arial (Body)"/>
                      </a:endParaRPr>
                    </a:p>
                  </a:txBody>
                  <a:tcPr marL="99753" marR="99753"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t>2015 Projected?</a:t>
                      </a:r>
                      <a:endParaRPr lang="en-US" sz="1800" b="1" dirty="0">
                        <a:solidFill>
                          <a:schemeClr val="tx1"/>
                        </a:solidFill>
                        <a:latin typeface="Arial (Body)"/>
                      </a:endParaRPr>
                    </a:p>
                  </a:txBody>
                  <a:tcPr marL="99753" marR="99753"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7439605"/>
                  </a:ext>
                </a:extLst>
              </a:tr>
              <a:tr h="370840">
                <a:tc>
                  <a:txBody>
                    <a:bodyPr/>
                    <a:lstStyle/>
                    <a:p>
                      <a:r>
                        <a:rPr lang="en-US" sz="1800" dirty="0"/>
                        <a:t>Total</a:t>
                      </a:r>
                      <a:endParaRPr lang="en-US" sz="1800" dirty="0">
                        <a:solidFill>
                          <a:schemeClr val="tx1"/>
                        </a:solidFill>
                        <a:latin typeface="Arial (Body)"/>
                      </a:endParaRPr>
                    </a:p>
                  </a:txBody>
                  <a:tcPr marL="99753" marR="99753">
                    <a:lnT w="12700" cap="flat" cmpd="sng" algn="ctr">
                      <a:solidFill>
                        <a:schemeClr val="tx1"/>
                      </a:solidFill>
                      <a:prstDash val="solid"/>
                      <a:round/>
                      <a:headEnd type="none" w="med" len="med"/>
                      <a:tailEnd type="none" w="med" len="med"/>
                    </a:lnT>
                  </a:tcPr>
                </a:tc>
                <a:tc>
                  <a:txBody>
                    <a:bodyPr/>
                    <a:lstStyle/>
                    <a:p>
                      <a:pPr algn="ctr"/>
                      <a:r>
                        <a:rPr lang="en-US" sz="1800" dirty="0"/>
                        <a:t>14.1</a:t>
                      </a:r>
                      <a:endParaRPr lang="en-US" sz="1800" dirty="0">
                        <a:solidFill>
                          <a:schemeClr val="tx1"/>
                        </a:solidFill>
                        <a:latin typeface="Arial (Body)"/>
                      </a:endParaRPr>
                    </a:p>
                  </a:txBody>
                  <a:tcPr marL="99753" marR="99753">
                    <a:lnT w="12700" cap="flat" cmpd="sng" algn="ctr">
                      <a:solidFill>
                        <a:schemeClr val="tx1"/>
                      </a:solidFill>
                      <a:prstDash val="solid"/>
                      <a:round/>
                      <a:headEnd type="none" w="med" len="med"/>
                      <a:tailEnd type="none" w="med" len="med"/>
                    </a:lnT>
                  </a:tcPr>
                </a:tc>
                <a:tc>
                  <a:txBody>
                    <a:bodyPr/>
                    <a:lstStyle/>
                    <a:p>
                      <a:pPr algn="ctr"/>
                      <a:r>
                        <a:rPr lang="en-US" sz="1800" dirty="0"/>
                        <a:t>2.6</a:t>
                      </a:r>
                      <a:endParaRPr lang="en-US" sz="1800" dirty="0">
                        <a:solidFill>
                          <a:schemeClr val="tx1"/>
                        </a:solidFill>
                        <a:latin typeface="Arial (Body)"/>
                      </a:endParaRPr>
                    </a:p>
                  </a:txBody>
                  <a:tcPr marL="99753" marR="99753">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53947034"/>
                  </a:ext>
                </a:extLst>
              </a:tr>
              <a:tr h="370840">
                <a:tc>
                  <a:txBody>
                    <a:bodyPr/>
                    <a:lstStyle/>
                    <a:p>
                      <a:r>
                        <a:rPr lang="en-US" sz="1800" dirty="0"/>
                        <a:t>Textiles and apparel</a:t>
                      </a:r>
                      <a:endParaRPr lang="en-US" sz="1800" dirty="0">
                        <a:solidFill>
                          <a:schemeClr val="tx1"/>
                        </a:solidFill>
                        <a:latin typeface="Arial (Body)"/>
                      </a:endParaRPr>
                    </a:p>
                  </a:txBody>
                  <a:tcPr marL="99753" marR="99753">
                    <a:lnB w="12700" cap="flat" cmpd="sng" algn="ctr">
                      <a:solidFill>
                        <a:schemeClr val="tx1"/>
                      </a:solidFill>
                      <a:prstDash val="solid"/>
                      <a:round/>
                      <a:headEnd type="none" w="med" len="med"/>
                      <a:tailEnd type="none" w="med" len="med"/>
                    </a:lnB>
                  </a:tcPr>
                </a:tc>
                <a:tc>
                  <a:txBody>
                    <a:bodyPr/>
                    <a:lstStyle/>
                    <a:p>
                      <a:pPr algn="ctr"/>
                      <a:r>
                        <a:rPr lang="en-US" sz="1800" dirty="0"/>
                        <a:t>11.8</a:t>
                      </a:r>
                      <a:endParaRPr lang="en-US" sz="1800" dirty="0">
                        <a:solidFill>
                          <a:schemeClr val="tx1"/>
                        </a:solidFill>
                        <a:latin typeface="Arial (Body)"/>
                      </a:endParaRPr>
                    </a:p>
                  </a:txBody>
                  <a:tcPr marL="99753" marR="99753">
                    <a:lnB w="12700" cap="flat" cmpd="sng" algn="ctr">
                      <a:solidFill>
                        <a:schemeClr val="tx1"/>
                      </a:solidFill>
                      <a:prstDash val="solid"/>
                      <a:round/>
                      <a:headEnd type="none" w="med" len="med"/>
                      <a:tailEnd type="none" w="med" len="med"/>
                    </a:lnB>
                  </a:tcPr>
                </a:tc>
                <a:tc>
                  <a:txBody>
                    <a:bodyPr/>
                    <a:lstStyle/>
                    <a:p>
                      <a:pPr algn="ctr"/>
                      <a:r>
                        <a:rPr lang="en-US" sz="1800" dirty="0"/>
                        <a:t>0.5</a:t>
                      </a:r>
                      <a:endParaRPr lang="en-US" sz="1800" dirty="0">
                        <a:solidFill>
                          <a:schemeClr val="tx1"/>
                        </a:solidFill>
                        <a:latin typeface="Arial (Body)"/>
                      </a:endParaRPr>
                    </a:p>
                  </a:txBody>
                  <a:tcPr marL="99753" marR="99753">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6111270"/>
                  </a:ext>
                </a:extLst>
              </a:tr>
            </a:tbl>
          </a:graphicData>
        </a:graphic>
      </p:graphicFrame>
      <p:sp>
        <p:nvSpPr>
          <p:cNvPr id="5" name="Content Placeholder 4"/>
          <p:cNvSpPr>
            <a:spLocks noGrp="1"/>
          </p:cNvSpPr>
          <p:nvPr>
            <p:ph sz="quarter" idx="14"/>
          </p:nvPr>
        </p:nvSpPr>
        <p:spPr>
          <a:xfrm>
            <a:off x="457200" y="2792620"/>
            <a:ext cx="4767943" cy="425595"/>
          </a:xfrm>
        </p:spPr>
        <p:txBody>
          <a:bodyPr/>
          <a:lstStyle/>
          <a:p>
            <a:pPr marL="432" indent="0">
              <a:buNone/>
            </a:pPr>
            <a:r>
              <a:rPr lang="en-US" sz="1600" b="1" dirty="0">
                <a:latin typeface="Arial (Body)"/>
              </a:rPr>
              <a:t>Source: </a:t>
            </a:r>
            <a:r>
              <a:rPr lang="en-US" sz="1600" dirty="0">
                <a:latin typeface="Arial (Body)"/>
              </a:rPr>
              <a:t>U.S. International Trade Commission.</a:t>
            </a:r>
          </a:p>
        </p:txBody>
      </p:sp>
    </p:spTree>
    <p:extLst>
      <p:ext uri="{BB962C8B-B14F-4D97-AF65-F5344CB8AC3E}">
        <p14:creationId xmlns:p14="http://schemas.microsoft.com/office/powerpoint/2010/main" val="2398543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ea typeface="ヒラギノ角ゴ Pro W3" pitchFamily="-84" charset="-128"/>
              </a:rPr>
              <a:t>International Negotiations of Trade Policy </a:t>
            </a:r>
            <a:r>
              <a:rPr lang="en-US" altLang="en-US" sz="2000" b="0" dirty="0">
                <a:ea typeface="ヒラギノ角ゴ Pro W3" pitchFamily="-84" charset="-128"/>
              </a:rPr>
              <a:t>(1 of 4)</a:t>
            </a:r>
            <a:endParaRPr lang="en-US" dirty="0"/>
          </a:p>
        </p:txBody>
      </p:sp>
      <p:sp>
        <p:nvSpPr>
          <p:cNvPr id="5" name="Content Placeholder 4"/>
          <p:cNvSpPr>
            <a:spLocks noGrp="1"/>
          </p:cNvSpPr>
          <p:nvPr>
            <p:ph sz="quarter" idx="13"/>
          </p:nvPr>
        </p:nvSpPr>
        <p:spPr/>
        <p:txBody>
          <a:bodyPr/>
          <a:lstStyle/>
          <a:p>
            <a:pPr eaLnBrk="1" hangingPunct="1"/>
            <a:r>
              <a:rPr lang="en-US" altLang="en-US" dirty="0">
                <a:latin typeface="Arial (Body)"/>
                <a:ea typeface="ヒラギノ角ゴ Pro W3" pitchFamily="-84" charset="-128"/>
              </a:rPr>
              <a:t>After rising sharply at the beginning of the 1930s, the average U.S. tariff rate has decreased substantially from the mid-1930s to 1998.</a:t>
            </a:r>
          </a:p>
          <a:p>
            <a:pPr eaLnBrk="1" hangingPunct="1"/>
            <a:r>
              <a:rPr lang="en-US" altLang="en-US" dirty="0">
                <a:latin typeface="Arial (Body)"/>
                <a:ea typeface="ヒラギノ角ゴ Pro W3" pitchFamily="-84" charset="-128"/>
              </a:rPr>
              <a:t>Since 1944, much of the reduction in tariffs and other trade restrictions has come about through international negotiations.</a:t>
            </a:r>
          </a:p>
          <a:p>
            <a:pPr lvl="1" eaLnBrk="1" hangingPunct="1"/>
            <a:r>
              <a:rPr lang="en-US" altLang="en-US" dirty="0">
                <a:latin typeface="Arial (Body)"/>
                <a:ea typeface="ヒラギノ角ゴ Pro W3" pitchFamily="-84" charset="-128"/>
              </a:rPr>
              <a:t>The </a:t>
            </a:r>
            <a:r>
              <a:rPr lang="en-US" altLang="en-US" b="1" dirty="0">
                <a:latin typeface="Arial (Body)"/>
                <a:ea typeface="ヒラギノ角ゴ Pro W3" pitchFamily="-84" charset="-128"/>
              </a:rPr>
              <a:t>General Agreement of Tariffs and Trade</a:t>
            </a:r>
            <a:r>
              <a:rPr lang="en-US" altLang="en-US" dirty="0">
                <a:latin typeface="Arial (Body)"/>
                <a:ea typeface="ヒラギノ角ゴ Pro W3" pitchFamily="-84" charset="-128"/>
              </a:rPr>
              <a:t> was begun in 1947 as a provisional international agreement and was replaced by a more formal international institution called the </a:t>
            </a:r>
            <a:r>
              <a:rPr lang="en-US" altLang="en-US" b="1" dirty="0">
                <a:latin typeface="Arial (Body)"/>
                <a:ea typeface="ヒラギノ角ゴ Pro W3" pitchFamily="-84" charset="-128"/>
              </a:rPr>
              <a:t>World Trade Organization</a:t>
            </a:r>
            <a:r>
              <a:rPr lang="en-US" altLang="en-US" dirty="0">
                <a:latin typeface="Arial (Body)"/>
                <a:ea typeface="ヒラギノ角ゴ Pro W3" pitchFamily="-84" charset="-128"/>
              </a:rPr>
              <a:t> in 1995.</a:t>
            </a:r>
          </a:p>
        </p:txBody>
      </p:sp>
    </p:spTree>
    <p:extLst>
      <p:ext uri="{BB962C8B-B14F-4D97-AF65-F5344CB8AC3E}">
        <p14:creationId xmlns:p14="http://schemas.microsoft.com/office/powerpoint/2010/main" val="13900954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10.5 The U.S. Tariff Rate</a:t>
            </a:r>
            <a:endParaRPr lang="en-US" dirty="0"/>
          </a:p>
        </p:txBody>
      </p:sp>
      <p:pic>
        <p:nvPicPr>
          <p:cNvPr id="6" name="Content Placeholder 5" descr="A graph depicts the average U S tariff rates on import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669043" y="1555750"/>
            <a:ext cx="7805915" cy="3949700"/>
          </a:xfrm>
        </p:spPr>
      </p:pic>
      <p:sp>
        <p:nvSpPr>
          <p:cNvPr id="5" name="Content Placeholder 4"/>
          <p:cNvSpPr>
            <a:spLocks noGrp="1"/>
          </p:cNvSpPr>
          <p:nvPr>
            <p:ph sz="quarter" idx="14"/>
          </p:nvPr>
        </p:nvSpPr>
        <p:spPr>
          <a:xfrm>
            <a:off x="457200" y="5630175"/>
            <a:ext cx="8229600" cy="698705"/>
          </a:xfrm>
        </p:spPr>
        <p:txBody>
          <a:bodyPr/>
          <a:lstStyle/>
          <a:p>
            <a:pPr marL="432" indent="0">
              <a:buNone/>
            </a:pPr>
            <a:r>
              <a:rPr lang="en-US" sz="1800" dirty="0">
                <a:latin typeface="Arial (Body)"/>
              </a:rPr>
              <a:t>After rising sharply at the beginning of the 1930s, the average tariff rate of the United States has steadily declined until the eve of the U.S.-China trade war.</a:t>
            </a:r>
          </a:p>
        </p:txBody>
      </p:sp>
    </p:spTree>
    <p:extLst>
      <p:ext uri="{BB962C8B-B14F-4D97-AF65-F5344CB8AC3E}">
        <p14:creationId xmlns:p14="http://schemas.microsoft.com/office/powerpoint/2010/main" val="3179557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ea typeface="ヒラギノ角ゴ Pro W3" pitchFamily="-84" charset="-128"/>
              </a:rPr>
              <a:t>International Negotiations of Trade Policy </a:t>
            </a:r>
            <a:r>
              <a:rPr lang="en-US" altLang="en-US" sz="2000" b="0" dirty="0">
                <a:ea typeface="ヒラギノ角ゴ Pro W3" pitchFamily="-84" charset="-128"/>
              </a:rPr>
              <a:t>(2 of 4)</a:t>
            </a:r>
            <a:endParaRPr lang="en-US" dirty="0"/>
          </a:p>
        </p:txBody>
      </p:sp>
      <p:sp>
        <p:nvSpPr>
          <p:cNvPr id="5" name="Content Placeholder 4"/>
          <p:cNvSpPr>
            <a:spLocks noGrp="1"/>
          </p:cNvSpPr>
          <p:nvPr>
            <p:ph sz="quarter" idx="13"/>
          </p:nvPr>
        </p:nvSpPr>
        <p:spPr/>
        <p:txBody>
          <a:bodyPr/>
          <a:lstStyle/>
          <a:p>
            <a:pPr eaLnBrk="1" hangingPunct="1"/>
            <a:r>
              <a:rPr lang="en-US" altLang="en-US" dirty="0">
                <a:latin typeface="Arial (Body)"/>
                <a:ea typeface="ヒラギノ角ゴ Pro W3" pitchFamily="-84" charset="-128"/>
              </a:rPr>
              <a:t>Multilateral negotiations mobilize exporters to support free trade if they believe export markets will expand.</a:t>
            </a:r>
          </a:p>
          <a:p>
            <a:pPr lvl="1" eaLnBrk="1" hangingPunct="1"/>
            <a:r>
              <a:rPr lang="en-US" altLang="en-US" dirty="0">
                <a:latin typeface="Arial (Body)"/>
                <a:ea typeface="ヒラギノ角ゴ Pro W3" pitchFamily="-84" charset="-128"/>
              </a:rPr>
              <a:t>This support would be lacking in a unilateral push for free trade. The multilateral approach counteracts the support for restricted trade by import-competing groups.</a:t>
            </a:r>
          </a:p>
        </p:txBody>
      </p:sp>
    </p:spTree>
    <p:extLst>
      <p:ext uri="{BB962C8B-B14F-4D97-AF65-F5344CB8AC3E}">
        <p14:creationId xmlns:p14="http://schemas.microsoft.com/office/powerpoint/2010/main" val="1286207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ea typeface="ヒラギノ角ゴ Pro W3" pitchFamily="-84" charset="-128"/>
              </a:rPr>
              <a:t>International Negotiations of Trade Policy </a:t>
            </a:r>
            <a:r>
              <a:rPr lang="en-US" altLang="en-US" sz="2000" b="0" dirty="0">
                <a:ea typeface="ヒラギノ角ゴ Pro W3" pitchFamily="-84" charset="-128"/>
              </a:rPr>
              <a:t>(3 of 4)</a:t>
            </a:r>
            <a:endParaRPr lang="en-US" dirty="0"/>
          </a:p>
        </p:txBody>
      </p:sp>
      <p:sp>
        <p:nvSpPr>
          <p:cNvPr id="5" name="Content Placeholder 4"/>
          <p:cNvSpPr>
            <a:spLocks noGrp="1"/>
          </p:cNvSpPr>
          <p:nvPr>
            <p:ph sz="quarter" idx="13"/>
          </p:nvPr>
        </p:nvSpPr>
        <p:spPr>
          <a:xfrm>
            <a:off x="457200" y="1556327"/>
            <a:ext cx="7784275" cy="4586896"/>
          </a:xfrm>
        </p:spPr>
        <p:txBody>
          <a:bodyPr/>
          <a:lstStyle/>
          <a:p>
            <a:pPr eaLnBrk="1" hangingPunct="1"/>
            <a:r>
              <a:rPr lang="en-US" altLang="en-US" dirty="0">
                <a:latin typeface="Arial (Body)"/>
                <a:ea typeface="ヒラギノ角ゴ Pro W3" pitchFamily="-84" charset="-128"/>
              </a:rPr>
              <a:t>Multilateral negotiations also help avoid a trade war between countries, where each country enacts trade restrictions.</a:t>
            </a:r>
          </a:p>
          <a:p>
            <a:pPr eaLnBrk="1" hangingPunct="1">
              <a:spcBef>
                <a:spcPct val="50000"/>
              </a:spcBef>
            </a:pPr>
            <a:r>
              <a:rPr lang="en-US" altLang="en-US" dirty="0">
                <a:latin typeface="Arial (Body)"/>
                <a:ea typeface="ヒラギノ角ゴ Pro W3" pitchFamily="-84" charset="-128"/>
              </a:rPr>
              <a:t>A trade war could result if each country has an incentive to adopt protection, </a:t>
            </a:r>
            <a:r>
              <a:rPr lang="en-US" altLang="en-US" b="1" dirty="0">
                <a:latin typeface="Arial (Body)"/>
                <a:ea typeface="ヒラギノ角ゴ Pro W3" pitchFamily="-84" charset="-128"/>
              </a:rPr>
              <a:t>regardless of what other countries do</a:t>
            </a:r>
            <a:r>
              <a:rPr lang="en-US" altLang="en-US" dirty="0">
                <a:latin typeface="Arial (Body)"/>
                <a:ea typeface="ヒラギノ角ゴ Pro W3" pitchFamily="-84" charset="-128"/>
              </a:rPr>
              <a:t>.</a:t>
            </a:r>
          </a:p>
          <a:p>
            <a:pPr lvl="1" eaLnBrk="1" hangingPunct="1"/>
            <a:r>
              <a:rPr lang="en-US" altLang="en-US" dirty="0">
                <a:latin typeface="Arial (Body)"/>
                <a:ea typeface="ヒラギノ角ゴ Pro W3" pitchFamily="-84" charset="-128"/>
              </a:rPr>
              <a:t>All countries could enact trade restrictions, </a:t>
            </a:r>
            <a:r>
              <a:rPr lang="en-US" altLang="en-US" b="1" dirty="0">
                <a:latin typeface="Arial (Body)"/>
                <a:ea typeface="ヒラギノ角ゴ Pro W3" pitchFamily="-84" charset="-128"/>
              </a:rPr>
              <a:t>even if it is in the interest of all countries to have free trade</a:t>
            </a:r>
            <a:r>
              <a:rPr lang="en-US" altLang="en-US" dirty="0">
                <a:latin typeface="Arial (Body)"/>
                <a:ea typeface="ヒラギノ角ゴ Pro W3" pitchFamily="-84" charset="-128"/>
              </a:rPr>
              <a:t>.</a:t>
            </a:r>
          </a:p>
          <a:p>
            <a:pPr lvl="1" eaLnBrk="1" hangingPunct="1"/>
            <a:r>
              <a:rPr lang="en-US" altLang="en-US" dirty="0">
                <a:latin typeface="Arial (Body)"/>
                <a:ea typeface="ヒラギノ角ゴ Pro W3" pitchFamily="-84" charset="-128"/>
              </a:rPr>
              <a:t>Countries need an agreement that prevents a trade war or eliminates the protection from one.</a:t>
            </a:r>
          </a:p>
        </p:txBody>
      </p:sp>
    </p:spTree>
    <p:extLst>
      <p:ext uri="{BB962C8B-B14F-4D97-AF65-F5344CB8AC3E}">
        <p14:creationId xmlns:p14="http://schemas.microsoft.com/office/powerpoint/2010/main" val="1907476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Table 10.3 The Problem of Trade Warfare</a:t>
            </a:r>
            <a:endParaRPr lang="en-US" sz="3200" dirty="0"/>
          </a:p>
        </p:txBody>
      </p:sp>
      <p:pic>
        <p:nvPicPr>
          <p:cNvPr id="4" name="Content Placeholder 3" descr="A decision matrix represents the outcomes of trade warfare between the United States and Japan, using free trade and protection valu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72615" y="1581620"/>
            <a:ext cx="8198770" cy="2533175"/>
          </a:xfrm>
        </p:spPr>
      </p:pic>
    </p:spTree>
    <p:extLst>
      <p:ext uri="{BB962C8B-B14F-4D97-AF65-F5344CB8AC3E}">
        <p14:creationId xmlns:p14="http://schemas.microsoft.com/office/powerpoint/2010/main" val="3594595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ea typeface="ヒラギノ角ゴ Pro W3" pitchFamily="-84" charset="-128"/>
              </a:rPr>
              <a:t>International Negotiations of Trade Policy </a:t>
            </a:r>
            <a:r>
              <a:rPr lang="en-US" altLang="en-US" sz="2000" b="0" dirty="0">
                <a:ea typeface="ヒラギノ角ゴ Pro W3" pitchFamily="-84" charset="-128"/>
              </a:rPr>
              <a:t>(4 of 4)</a:t>
            </a:r>
            <a:endParaRPr lang="en-US" dirty="0"/>
          </a:p>
        </p:txBody>
      </p:sp>
      <p:sp>
        <p:nvSpPr>
          <p:cNvPr id="17" name="Content Placeholder 16"/>
          <p:cNvSpPr>
            <a:spLocks noGrp="1"/>
          </p:cNvSpPr>
          <p:nvPr>
            <p:ph sz="quarter" idx="13"/>
          </p:nvPr>
        </p:nvSpPr>
        <p:spPr>
          <a:xfrm>
            <a:off x="457200" y="1593309"/>
            <a:ext cx="7309262" cy="387941"/>
          </a:xfrm>
        </p:spPr>
        <p:txBody>
          <a:bodyPr tIns="0" rIns="0"/>
          <a:lstStyle/>
          <a:p>
            <a:r>
              <a:rPr lang="en-US" altLang="en-US" sz="2200" dirty="0">
                <a:latin typeface="Arial (Body)"/>
                <a:ea typeface="ヒラギノ角ゴ Pro W3" pitchFamily="-84" charset="-128"/>
              </a:rPr>
              <a:t>In this example, each country acting individually would</a:t>
            </a:r>
            <a:endParaRPr lang="en-US" sz="2200" dirty="0"/>
          </a:p>
        </p:txBody>
      </p:sp>
      <p:sp>
        <p:nvSpPr>
          <p:cNvPr id="3" name="Content Placeholder 2"/>
          <p:cNvSpPr>
            <a:spLocks noGrp="1"/>
          </p:cNvSpPr>
          <p:nvPr>
            <p:ph sz="quarter" idx="14"/>
          </p:nvPr>
        </p:nvSpPr>
        <p:spPr>
          <a:xfrm>
            <a:off x="457201" y="2058490"/>
            <a:ext cx="3841668" cy="377150"/>
          </a:xfrm>
        </p:spPr>
        <p:txBody>
          <a:bodyPr tIns="0" rIns="0"/>
          <a:lstStyle/>
          <a:p>
            <a:pPr marL="255600" indent="0">
              <a:buNone/>
            </a:pPr>
            <a:r>
              <a:rPr lang="en-US" altLang="en-US" sz="2200" dirty="0">
                <a:latin typeface="Arial (Body)"/>
                <a:ea typeface="ヒラギノ角ゴ Pro W3" pitchFamily="-84" charset="-128"/>
              </a:rPr>
              <a:t>be better off with protection</a:t>
            </a:r>
            <a:endParaRPr lang="en-US" sz="2200" dirty="0"/>
          </a:p>
        </p:txBody>
      </p:sp>
      <p:graphicFrame>
        <p:nvGraphicFramePr>
          <p:cNvPr id="18" name="Object 17" descr="left parenthesis 20 is greater than 10 right parenthesis"/>
          <p:cNvGraphicFramePr>
            <a:graphicFrameLocks noChangeAspect="1"/>
          </p:cNvGraphicFramePr>
          <p:nvPr>
            <p:extLst>
              <p:ext uri="{D42A27DB-BD31-4B8C-83A1-F6EECF244321}">
                <p14:modId xmlns:p14="http://schemas.microsoft.com/office/powerpoint/2010/main" val="63660142"/>
              </p:ext>
            </p:extLst>
          </p:nvPr>
        </p:nvGraphicFramePr>
        <p:xfrm>
          <a:off x="4387785" y="2092935"/>
          <a:ext cx="1022674" cy="327256"/>
        </p:xfrm>
        <a:graphic>
          <a:graphicData uri="http://schemas.openxmlformats.org/presentationml/2006/ole">
            <mc:AlternateContent xmlns:mc="http://schemas.openxmlformats.org/markup-compatibility/2006">
              <mc:Choice xmlns:v="urn:schemas-microsoft-com:vml" Requires="v">
                <p:oleObj spid="_x0000_s4100" name="Equation" r:id="rId3" imgW="634680" imgH="203040" progId="Equation.DSMT4">
                  <p:embed/>
                </p:oleObj>
              </mc:Choice>
              <mc:Fallback>
                <p:oleObj name="Equation" r:id="rId3" imgW="634680" imgH="203040" progId="Equation.DSMT4">
                  <p:embed/>
                  <p:pic>
                    <p:nvPicPr>
                      <p:cNvPr id="0" name=""/>
                      <p:cNvPicPr/>
                      <p:nvPr/>
                    </p:nvPicPr>
                    <p:blipFill>
                      <a:blip r:embed="rId4"/>
                      <a:stretch>
                        <a:fillRect/>
                      </a:stretch>
                    </p:blipFill>
                    <p:spPr>
                      <a:xfrm>
                        <a:off x="4387785" y="2092935"/>
                        <a:ext cx="1022674" cy="327256"/>
                      </a:xfrm>
                      <a:prstGeom prst="rect">
                        <a:avLst/>
                      </a:prstGeom>
                    </p:spPr>
                  </p:pic>
                </p:oleObj>
              </mc:Fallback>
            </mc:AlternateContent>
          </a:graphicData>
        </a:graphic>
      </p:graphicFrame>
      <p:sp>
        <p:nvSpPr>
          <p:cNvPr id="4" name="Content Placeholder 3"/>
          <p:cNvSpPr>
            <a:spLocks noGrp="1"/>
          </p:cNvSpPr>
          <p:nvPr>
            <p:ph sz="quarter" idx="15"/>
          </p:nvPr>
        </p:nvSpPr>
        <p:spPr>
          <a:xfrm>
            <a:off x="5499995" y="2058790"/>
            <a:ext cx="2385222" cy="361401"/>
          </a:xfrm>
        </p:spPr>
        <p:txBody>
          <a:bodyPr lIns="0" tIns="0" rIns="0"/>
          <a:lstStyle/>
          <a:p>
            <a:pPr marL="432" indent="0">
              <a:buNone/>
            </a:pPr>
            <a:r>
              <a:rPr lang="en-US" altLang="en-US" sz="2200" dirty="0">
                <a:latin typeface="Arial (Body)"/>
                <a:ea typeface="ヒラギノ角ゴ Pro W3" pitchFamily="-84" charset="-128"/>
              </a:rPr>
              <a:t>but both would be</a:t>
            </a:r>
            <a:endParaRPr lang="en-US" sz="2200" dirty="0"/>
          </a:p>
        </p:txBody>
      </p:sp>
      <p:sp>
        <p:nvSpPr>
          <p:cNvPr id="6" name="Content Placeholder 5"/>
          <p:cNvSpPr>
            <a:spLocks noGrp="1"/>
          </p:cNvSpPr>
          <p:nvPr>
            <p:ph sz="quarter" idx="16"/>
          </p:nvPr>
        </p:nvSpPr>
        <p:spPr>
          <a:xfrm>
            <a:off x="457200" y="2483546"/>
            <a:ext cx="7012379" cy="369470"/>
          </a:xfrm>
        </p:spPr>
        <p:txBody>
          <a:bodyPr tIns="0" rIns="0"/>
          <a:lstStyle/>
          <a:p>
            <a:pPr marL="255600" indent="0">
              <a:buNone/>
            </a:pPr>
            <a:r>
              <a:rPr lang="en-US" altLang="en-US" sz="2200" dirty="0">
                <a:latin typeface="Arial (Body)"/>
                <a:ea typeface="ヒラギノ角ゴ Pro W3" pitchFamily="-84" charset="-128"/>
              </a:rPr>
              <a:t>better off if both chose free trade than if both choose</a:t>
            </a:r>
            <a:endParaRPr lang="en-US" sz="2200" dirty="0"/>
          </a:p>
        </p:txBody>
      </p:sp>
      <p:sp>
        <p:nvSpPr>
          <p:cNvPr id="7" name="Content Placeholder 6"/>
          <p:cNvSpPr>
            <a:spLocks noGrp="1"/>
          </p:cNvSpPr>
          <p:nvPr>
            <p:ph sz="quarter" idx="17"/>
          </p:nvPr>
        </p:nvSpPr>
        <p:spPr>
          <a:xfrm>
            <a:off x="457200" y="2913895"/>
            <a:ext cx="1727860" cy="373657"/>
          </a:xfrm>
        </p:spPr>
        <p:txBody>
          <a:bodyPr tIns="0" rIns="0"/>
          <a:lstStyle/>
          <a:p>
            <a:pPr marL="255600" indent="0">
              <a:buNone/>
            </a:pPr>
            <a:r>
              <a:rPr lang="en-US" altLang="en-US" sz="2200" dirty="0">
                <a:latin typeface="Arial (Body)"/>
                <a:ea typeface="ヒラギノ角ゴ Pro W3" pitchFamily="-84" charset="-128"/>
              </a:rPr>
              <a:t>protection</a:t>
            </a:r>
            <a:endParaRPr lang="en-US" sz="2200" dirty="0"/>
          </a:p>
        </p:txBody>
      </p:sp>
      <p:graphicFrame>
        <p:nvGraphicFramePr>
          <p:cNvPr id="19" name="Object 18" descr="left parenthesis 10 is greater than negative 5 right parenthesis."/>
          <p:cNvGraphicFramePr>
            <a:graphicFrameLocks noChangeAspect="1"/>
          </p:cNvGraphicFramePr>
          <p:nvPr>
            <p:extLst>
              <p:ext uri="{D42A27DB-BD31-4B8C-83A1-F6EECF244321}">
                <p14:modId xmlns:p14="http://schemas.microsoft.com/office/powerpoint/2010/main" val="3254888249"/>
              </p:ext>
            </p:extLst>
          </p:nvPr>
        </p:nvGraphicFramePr>
        <p:xfrm>
          <a:off x="2266348" y="2948422"/>
          <a:ext cx="1084035" cy="327256"/>
        </p:xfrm>
        <a:graphic>
          <a:graphicData uri="http://schemas.openxmlformats.org/presentationml/2006/ole">
            <mc:AlternateContent xmlns:mc="http://schemas.openxmlformats.org/markup-compatibility/2006">
              <mc:Choice xmlns:v="urn:schemas-microsoft-com:vml" Requires="v">
                <p:oleObj spid="_x0000_s4101" name="Equation" r:id="rId5" imgW="672840" imgH="203040" progId="Equation.DSMT4">
                  <p:embed/>
                </p:oleObj>
              </mc:Choice>
              <mc:Fallback>
                <p:oleObj name="Equation" r:id="rId5" imgW="672840" imgH="203040" progId="Equation.DSMT4">
                  <p:embed/>
                  <p:pic>
                    <p:nvPicPr>
                      <p:cNvPr id="0" name=""/>
                      <p:cNvPicPr/>
                      <p:nvPr/>
                    </p:nvPicPr>
                    <p:blipFill>
                      <a:blip r:embed="rId6"/>
                      <a:stretch>
                        <a:fillRect/>
                      </a:stretch>
                    </p:blipFill>
                    <p:spPr>
                      <a:xfrm>
                        <a:off x="2266348" y="2948422"/>
                        <a:ext cx="1084035" cy="327256"/>
                      </a:xfrm>
                      <a:prstGeom prst="rect">
                        <a:avLst/>
                      </a:prstGeom>
                    </p:spPr>
                  </p:pic>
                </p:oleObj>
              </mc:Fallback>
            </mc:AlternateContent>
          </a:graphicData>
        </a:graphic>
      </p:graphicFrame>
      <p:sp>
        <p:nvSpPr>
          <p:cNvPr id="8" name="Content Placeholder 7"/>
          <p:cNvSpPr>
            <a:spLocks noGrp="1"/>
          </p:cNvSpPr>
          <p:nvPr>
            <p:ph sz="quarter" idx="18"/>
          </p:nvPr>
        </p:nvSpPr>
        <p:spPr>
          <a:xfrm>
            <a:off x="457200" y="3450313"/>
            <a:ext cx="8229600" cy="2753842"/>
          </a:xfrm>
        </p:spPr>
        <p:txBody>
          <a:bodyPr tIns="0" rIns="0"/>
          <a:lstStyle/>
          <a:p>
            <a:pPr eaLnBrk="1" hangingPunct="1"/>
            <a:r>
              <a:rPr lang="en-US" altLang="en-US" sz="2200" dirty="0">
                <a:latin typeface="Arial (Body)"/>
                <a:ea typeface="ヒラギノ角ゴ Pro W3" pitchFamily="-84" charset="-128"/>
              </a:rPr>
              <a:t>If Japan and the United States can establish a binding agreement to maintain free trade, both can avoid the temptation of protection and both can be made better off.</a:t>
            </a:r>
          </a:p>
          <a:p>
            <a:pPr lvl="1" eaLnBrk="1" hangingPunct="1"/>
            <a:r>
              <a:rPr lang="en-US" altLang="en-US" sz="2200" dirty="0">
                <a:latin typeface="Arial (Body)"/>
                <a:ea typeface="ヒラギノ角ゴ Pro W3" pitchFamily="-84" charset="-128"/>
              </a:rPr>
              <a:t>Or if the damage has already been done, both countries can agree to return to free trade.</a:t>
            </a:r>
          </a:p>
        </p:txBody>
      </p:sp>
    </p:spTree>
    <p:extLst>
      <p:ext uri="{BB962C8B-B14F-4D97-AF65-F5344CB8AC3E}">
        <p14:creationId xmlns:p14="http://schemas.microsoft.com/office/powerpoint/2010/main" val="15918291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Trade Agreements: A Brief History</a:t>
            </a:r>
            <a:endParaRPr lang="en-US" sz="3200" dirty="0"/>
          </a:p>
        </p:txBody>
      </p:sp>
      <p:sp>
        <p:nvSpPr>
          <p:cNvPr id="19" name="Content Placeholder 18"/>
          <p:cNvSpPr>
            <a:spLocks noGrp="1"/>
          </p:cNvSpPr>
          <p:nvPr>
            <p:ph sz="quarter" idx="13"/>
          </p:nvPr>
        </p:nvSpPr>
        <p:spPr>
          <a:xfrm>
            <a:off x="457200" y="1556326"/>
            <a:ext cx="8229600" cy="4788912"/>
          </a:xfrm>
        </p:spPr>
        <p:txBody>
          <a:bodyPr/>
          <a:lstStyle/>
          <a:p>
            <a:pPr eaLnBrk="1" hangingPunct="1"/>
            <a:r>
              <a:rPr lang="en-US" altLang="en-US" sz="2200" dirty="0">
                <a:latin typeface="Arial (Body)"/>
                <a:ea typeface="ヒラギノ角ゴ Pro W3" pitchFamily="-84" charset="-128"/>
              </a:rPr>
              <a:t>In 1930, the United States passed a remarkably irresponsible tariff law, the Smoot-Hawley Act.</a:t>
            </a:r>
          </a:p>
          <a:p>
            <a:pPr lvl="1" eaLnBrk="1" hangingPunct="1"/>
            <a:r>
              <a:rPr lang="en-US" altLang="en-US" sz="2200" dirty="0">
                <a:latin typeface="Arial (Body)"/>
                <a:ea typeface="ヒラギノ角ゴ Pro W3" pitchFamily="-84" charset="-128"/>
              </a:rPr>
              <a:t>Tariff rates rose steeply and U.S. trade fell sharply.</a:t>
            </a:r>
          </a:p>
          <a:p>
            <a:pPr eaLnBrk="1" hangingPunct="1"/>
            <a:r>
              <a:rPr lang="en-US" altLang="en-US" sz="2200" dirty="0">
                <a:latin typeface="Arial (Body)"/>
                <a:ea typeface="ヒラギノ角ゴ Pro W3" pitchFamily="-84" charset="-128"/>
              </a:rPr>
              <a:t>Initial attempts to reduce tariff rates were undertaken through bilateral trade negotiations:</a:t>
            </a:r>
          </a:p>
          <a:p>
            <a:pPr lvl="1" eaLnBrk="1" hangingPunct="1"/>
            <a:r>
              <a:rPr lang="en-US" altLang="en-US" sz="2200" dirty="0">
                <a:latin typeface="Arial (Body)"/>
                <a:ea typeface="ヒラギノ角ゴ Pro W3" pitchFamily="-84" charset="-128"/>
              </a:rPr>
              <a:t>The United States offered to lower tariffs on some imports if another country would lower its tariffs on some U.S. exports.</a:t>
            </a:r>
          </a:p>
          <a:p>
            <a:pPr eaLnBrk="1" hangingPunct="1"/>
            <a:r>
              <a:rPr lang="en-US" altLang="en-US" sz="2200" dirty="0">
                <a:latin typeface="Arial (Body)"/>
                <a:ea typeface="ヒラギノ角ゴ Pro W3" pitchFamily="-84" charset="-128"/>
              </a:rPr>
              <a:t>Bilateral negotiations, however, do not take full advantage of international coordination.</a:t>
            </a:r>
          </a:p>
          <a:p>
            <a:pPr lvl="1" eaLnBrk="1" hangingPunct="1"/>
            <a:r>
              <a:rPr lang="en-US" altLang="en-US" sz="2200" dirty="0">
                <a:latin typeface="Arial (Body)"/>
                <a:ea typeface="ヒラギノ角ゴ Pro W3" pitchFamily="-84" charset="-128"/>
              </a:rPr>
              <a:t>Benefits can “</a:t>
            </a:r>
            <a:r>
              <a:rPr lang="en-US" altLang="ja-JP" sz="2200" dirty="0">
                <a:latin typeface="Arial (Body)"/>
                <a:ea typeface="ヒラギノ角ゴ Pro W3" pitchFamily="-84" charset="-128"/>
              </a:rPr>
              <a:t>spill over” to countries that have not made any concessions.</a:t>
            </a:r>
            <a:endParaRPr lang="en-US" altLang="en-US" sz="2200" dirty="0">
              <a:latin typeface="Arial (Body)"/>
              <a:ea typeface="ヒラギノ角ゴ Pro W3" pitchFamily="-84" charset="-128"/>
            </a:endParaRPr>
          </a:p>
        </p:txBody>
      </p:sp>
    </p:spTree>
    <p:extLst>
      <p:ext uri="{BB962C8B-B14F-4D97-AF65-F5344CB8AC3E}">
        <p14:creationId xmlns:p14="http://schemas.microsoft.com/office/powerpoint/2010/main" val="4157473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World Trade Organization </a:t>
            </a:r>
            <a:r>
              <a:rPr lang="en-US" altLang="en-US" sz="2000" b="0" dirty="0">
                <a:ea typeface="ヒラギノ角ゴ Pro W3" pitchFamily="-84" charset="-128"/>
              </a:rPr>
              <a:t>(1 of 7)</a:t>
            </a:r>
            <a:endParaRPr lang="en-US" dirty="0"/>
          </a:p>
        </p:txBody>
      </p:sp>
      <p:sp>
        <p:nvSpPr>
          <p:cNvPr id="3" name="Content Placeholder 2"/>
          <p:cNvSpPr>
            <a:spLocks noGrp="1"/>
          </p:cNvSpPr>
          <p:nvPr>
            <p:ph sz="quarter" idx="13"/>
          </p:nvPr>
        </p:nvSpPr>
        <p:spPr/>
        <p:txBody>
          <a:bodyPr/>
          <a:lstStyle/>
          <a:p>
            <a:pPr marL="255600"/>
            <a:r>
              <a:rPr lang="en-US" altLang="en-US" dirty="0">
                <a:latin typeface="Arial (Body)"/>
                <a:ea typeface="ヒラギノ角ゴ Pro W3" pitchFamily="-84" charset="-128"/>
              </a:rPr>
              <a:t>In 1947, a group of 23 countries began trade negotiations under a provisional set of rules that became known as the General Agreement on Tariffs and Trade, or G</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A</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p>
          <a:p>
            <a:pPr marL="255600"/>
            <a:r>
              <a:rPr lang="en-US" altLang="en-US" dirty="0">
                <a:latin typeface="Arial (Body)"/>
                <a:ea typeface="ヒラギノ角ゴ Pro W3" pitchFamily="-84" charset="-128"/>
              </a:rPr>
              <a:t>In 1995, the </a:t>
            </a:r>
            <a:r>
              <a:rPr lang="en-US" altLang="en-US" b="1" dirty="0">
                <a:latin typeface="Arial (Body)"/>
                <a:ea typeface="ヒラギノ角ゴ Pro W3" pitchFamily="-84" charset="-128"/>
              </a:rPr>
              <a:t>World Trade Organization, </a:t>
            </a:r>
            <a:r>
              <a:rPr lang="en-US" altLang="en-US" dirty="0">
                <a:latin typeface="Arial (Body)"/>
                <a:ea typeface="ヒラギノ角ゴ Pro W3" pitchFamily="-84" charset="-128"/>
              </a:rPr>
              <a:t>or </a:t>
            </a:r>
            <a:r>
              <a:rPr lang="en-US" altLang="en-US" b="1" dirty="0">
                <a:latin typeface="Arial (Body)"/>
                <a:ea typeface="ヒラギノ角ゴ Pro W3" pitchFamily="-84" charset="-128"/>
              </a:rPr>
              <a:t>W</a:t>
            </a:r>
            <a:r>
              <a:rPr lang="en-US" altLang="en-US" sz="100" b="1" dirty="0">
                <a:latin typeface="Arial (Body)"/>
                <a:ea typeface="ヒラギノ角ゴ Pro W3" pitchFamily="-84" charset="-128"/>
              </a:rPr>
              <a:t> </a:t>
            </a:r>
            <a:r>
              <a:rPr lang="en-US" altLang="en-US" b="1" dirty="0">
                <a:latin typeface="Arial (Body)"/>
                <a:ea typeface="ヒラギノ角ゴ Pro W3" pitchFamily="-84" charset="-128"/>
              </a:rPr>
              <a:t>T</a:t>
            </a:r>
            <a:r>
              <a:rPr lang="en-US" altLang="en-US" sz="100" b="1" dirty="0">
                <a:latin typeface="Arial (Body)"/>
                <a:ea typeface="ヒラギノ角ゴ Pro W3" pitchFamily="-84" charset="-128"/>
              </a:rPr>
              <a:t> </a:t>
            </a:r>
            <a:r>
              <a:rPr lang="en-US" altLang="en-US" b="1" dirty="0">
                <a:latin typeface="Arial (Body)"/>
                <a:ea typeface="ヒラギノ角ゴ Pro W3" pitchFamily="-84" charset="-128"/>
              </a:rPr>
              <a:t>O</a:t>
            </a:r>
            <a:r>
              <a:rPr lang="en-US" altLang="en-US" dirty="0">
                <a:latin typeface="Arial (Body)"/>
                <a:ea typeface="ヒラギノ角ゴ Pro W3" pitchFamily="-84" charset="-128"/>
              </a:rPr>
              <a:t>, was established as a formal organization for implementing multilateral trade negotiations (and policing them).</a:t>
            </a:r>
          </a:p>
        </p:txBody>
      </p:sp>
    </p:spTree>
    <p:extLst>
      <p:ext uri="{BB962C8B-B14F-4D97-AF65-F5344CB8AC3E}">
        <p14:creationId xmlns:p14="http://schemas.microsoft.com/office/powerpoint/2010/main" val="34096278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World Trade Organization </a:t>
            </a:r>
            <a:r>
              <a:rPr lang="en-US" altLang="en-US" sz="2000" b="0" dirty="0">
                <a:ea typeface="ヒラギノ角ゴ Pro W3" pitchFamily="-84" charset="-128"/>
              </a:rPr>
              <a:t>(2 of 7)</a:t>
            </a:r>
            <a:endParaRPr lang="en-US" dirty="0"/>
          </a:p>
        </p:txBody>
      </p:sp>
      <p:sp>
        <p:nvSpPr>
          <p:cNvPr id="3" name="Content Placeholder 2"/>
          <p:cNvSpPr>
            <a:spLocks noGrp="1"/>
          </p:cNvSpPr>
          <p:nvPr>
            <p:ph sz="quarter" idx="13"/>
          </p:nvPr>
        </p:nvSpPr>
        <p:spPr>
          <a:xfrm>
            <a:off x="457200" y="1556327"/>
            <a:ext cx="8229600" cy="901865"/>
          </a:xfrm>
        </p:spPr>
        <p:txBody>
          <a:bodyPr/>
          <a:lstStyle/>
          <a:p>
            <a:pPr marL="255600"/>
            <a:r>
              <a:rPr lang="en-US" altLang="en-US" dirty="0">
                <a:ea typeface="ヒラギノ角ゴ Pro W3" pitchFamily="-84" charset="-128"/>
              </a:rPr>
              <a:t>W</a:t>
            </a:r>
            <a:r>
              <a:rPr lang="en-US" altLang="en-US" sz="100" dirty="0">
                <a:ea typeface="ヒラギノ角ゴ Pro W3" pitchFamily="-84" charset="-128"/>
              </a:rPr>
              <a:t> </a:t>
            </a:r>
            <a:r>
              <a:rPr lang="en-US" altLang="en-US" dirty="0">
                <a:ea typeface="ヒラギノ角ゴ Pro W3" pitchFamily="-84" charset="-128"/>
              </a:rPr>
              <a:t>T</a:t>
            </a:r>
            <a:r>
              <a:rPr lang="en-US" altLang="en-US" sz="100" dirty="0">
                <a:ea typeface="ヒラギノ角ゴ Pro W3" pitchFamily="-84" charset="-128"/>
              </a:rPr>
              <a:t> </a:t>
            </a:r>
            <a:r>
              <a:rPr lang="en-US" altLang="en-US" dirty="0">
                <a:ea typeface="ヒラギノ角ゴ Pro W3" pitchFamily="-84" charset="-128"/>
              </a:rPr>
              <a:t>O negotiations address trade restrictions in at least three ways:</a:t>
            </a:r>
          </a:p>
        </p:txBody>
      </p:sp>
      <p:sp>
        <p:nvSpPr>
          <p:cNvPr id="4" name="Content Placeholder 3"/>
          <p:cNvSpPr>
            <a:spLocks noGrp="1"/>
          </p:cNvSpPr>
          <p:nvPr>
            <p:ph sz="quarter" idx="14"/>
          </p:nvPr>
        </p:nvSpPr>
        <p:spPr>
          <a:xfrm>
            <a:off x="457200" y="2529447"/>
            <a:ext cx="8229600" cy="1531914"/>
          </a:xfrm>
        </p:spPr>
        <p:txBody>
          <a:bodyPr/>
          <a:lstStyle/>
          <a:p>
            <a:pPr marL="432000" indent="-432000" eaLnBrk="1" hangingPunct="1">
              <a:buFont typeface="+mj-lt"/>
              <a:buAutoNum type="arabicPeriod"/>
            </a:pPr>
            <a:r>
              <a:rPr lang="en-US" altLang="en-US" b="1" dirty="0">
                <a:ea typeface="ヒラギノ角ゴ Pro W3" pitchFamily="-84" charset="-128"/>
              </a:rPr>
              <a:t>Reducing tariff rates</a:t>
            </a:r>
            <a:r>
              <a:rPr lang="en-US" altLang="en-US" dirty="0">
                <a:ea typeface="ヒラギノ角ゴ Pro W3" pitchFamily="-84" charset="-128"/>
              </a:rPr>
              <a:t> through multilateral negotiations.</a:t>
            </a:r>
            <a:endParaRPr lang="en-US" altLang="en-US" b="1" dirty="0">
              <a:ea typeface="ヒラギノ角ゴ Pro W3" pitchFamily="-84" charset="-128"/>
            </a:endParaRPr>
          </a:p>
          <a:p>
            <a:pPr marL="432000" indent="-432000" eaLnBrk="1" hangingPunct="1">
              <a:buFont typeface="+mj-lt"/>
              <a:buAutoNum type="arabicPeriod"/>
            </a:pPr>
            <a:r>
              <a:rPr lang="en-US" altLang="en-US" b="1" dirty="0">
                <a:ea typeface="ヒラギノ角ゴ Pro W3" pitchFamily="-84" charset="-128"/>
              </a:rPr>
              <a:t>Binding tariff rates</a:t>
            </a:r>
            <a:r>
              <a:rPr lang="en-US" altLang="en-US" dirty="0">
                <a:ea typeface="ヒラギノ角ゴ Pro W3" pitchFamily="-84" charset="-128"/>
              </a:rPr>
              <a:t>: a tariff is “</a:t>
            </a:r>
            <a:r>
              <a:rPr lang="en-US" altLang="ja-JP" dirty="0">
                <a:ea typeface="ヒラギノ角ゴ Pro W3" pitchFamily="-84" charset="-128"/>
              </a:rPr>
              <a:t>bound” by having the imposing country agree not to raise it in the future.</a:t>
            </a:r>
            <a:endParaRPr lang="en-US" altLang="en-US" dirty="0">
              <a:ea typeface="ヒラギノ角ゴ Pro W3" pitchFamily="-84" charset="-128"/>
            </a:endParaRPr>
          </a:p>
        </p:txBody>
      </p:sp>
    </p:spTree>
    <p:extLst>
      <p:ext uri="{BB962C8B-B14F-4D97-AF65-F5344CB8AC3E}">
        <p14:creationId xmlns:p14="http://schemas.microsoft.com/office/powerpoint/2010/main" val="26099269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World Trade Organization </a:t>
            </a:r>
            <a:r>
              <a:rPr lang="en-US" altLang="en-US" sz="2000" b="0" dirty="0">
                <a:ea typeface="ヒラギノ角ゴ Pro W3" pitchFamily="-84" charset="-128"/>
              </a:rPr>
              <a:t>(3 of 7)</a:t>
            </a:r>
            <a:endParaRPr lang="en-US" dirty="0"/>
          </a:p>
        </p:txBody>
      </p:sp>
      <p:sp>
        <p:nvSpPr>
          <p:cNvPr id="3" name="Content Placeholder 2"/>
          <p:cNvSpPr>
            <a:spLocks noGrp="1"/>
          </p:cNvSpPr>
          <p:nvPr>
            <p:ph sz="quarter" idx="13"/>
          </p:nvPr>
        </p:nvSpPr>
        <p:spPr>
          <a:xfrm>
            <a:off x="457200" y="1556328"/>
            <a:ext cx="8229600" cy="1590634"/>
          </a:xfrm>
        </p:spPr>
        <p:txBody>
          <a:bodyPr/>
          <a:lstStyle/>
          <a:p>
            <a:pPr marL="432000" indent="-432000" eaLnBrk="1" hangingPunct="1">
              <a:buFont typeface="Times" pitchFamily="-84" charset="0"/>
              <a:buAutoNum type="arabicPeriod" startAt="3"/>
            </a:pPr>
            <a:r>
              <a:rPr lang="en-US" altLang="en-US" b="1" dirty="0">
                <a:latin typeface="Arial (Body)"/>
                <a:ea typeface="ヒラギノ角ゴ Pro W3" pitchFamily="-84" charset="-128"/>
              </a:rPr>
              <a:t>Eliminating nontariff barriers</a:t>
            </a:r>
            <a:r>
              <a:rPr lang="en-US" altLang="en-US" dirty="0">
                <a:latin typeface="Arial (Body)"/>
                <a:ea typeface="ヒラギノ角ゴ Pro W3" pitchFamily="-84" charset="-128"/>
              </a:rPr>
              <a:t>: quotas and export subsidies are changed to tariffs because the costs of tariff protection are more apparent and easier to negotiate.</a:t>
            </a:r>
          </a:p>
        </p:txBody>
      </p:sp>
      <p:sp>
        <p:nvSpPr>
          <p:cNvPr id="4" name="Content Placeholder 3"/>
          <p:cNvSpPr>
            <a:spLocks noGrp="1"/>
          </p:cNvSpPr>
          <p:nvPr>
            <p:ph sz="quarter" idx="14"/>
          </p:nvPr>
        </p:nvSpPr>
        <p:spPr>
          <a:xfrm>
            <a:off x="457200" y="3218217"/>
            <a:ext cx="8229600" cy="1460664"/>
          </a:xfrm>
        </p:spPr>
        <p:txBody>
          <a:bodyPr/>
          <a:lstStyle/>
          <a:p>
            <a:pPr marL="741600" lvl="1"/>
            <a:r>
              <a:rPr lang="en-US" altLang="en-US" dirty="0">
                <a:latin typeface="Arial (Body)"/>
                <a:ea typeface="ヒラギノ角ゴ Pro W3" pitchFamily="-84" charset="-128"/>
              </a:rPr>
              <a:t>Subsidies for agricultural exports are an exception.</a:t>
            </a:r>
          </a:p>
          <a:p>
            <a:pPr marL="741600" lvl="1"/>
            <a:r>
              <a:rPr lang="en-US" altLang="en-US" dirty="0">
                <a:latin typeface="Arial (Body)"/>
                <a:ea typeface="ヒラギノ角ゴ Pro W3" pitchFamily="-84" charset="-128"/>
              </a:rPr>
              <a:t>Exceptions are also allowed for </a:t>
            </a:r>
            <a:r>
              <a:rPr lang="en-US" altLang="ja-JP" dirty="0">
                <a:latin typeface="Arial (Body)"/>
                <a:ea typeface="ヒラギノ角ゴ Pro W3" pitchFamily="-84" charset="-128"/>
              </a:rPr>
              <a:t>“market disruptions” caused by a surge in imports.</a:t>
            </a:r>
            <a:endParaRPr lang="en-US" altLang="en-US" dirty="0">
              <a:latin typeface="Arial (Body)"/>
              <a:ea typeface="ヒラギノ角ゴ Pro W3" pitchFamily="-84" charset="-128"/>
            </a:endParaRPr>
          </a:p>
        </p:txBody>
      </p:sp>
    </p:spTree>
    <p:extLst>
      <p:ext uri="{BB962C8B-B14F-4D97-AF65-F5344CB8AC3E}">
        <p14:creationId xmlns:p14="http://schemas.microsoft.com/office/powerpoint/2010/main" val="34299200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World Trade Organization </a:t>
            </a:r>
            <a:r>
              <a:rPr lang="en-US" altLang="en-US" sz="2000" b="0" dirty="0">
                <a:ea typeface="ヒラギノ角ゴ Pro W3" pitchFamily="-84" charset="-128"/>
              </a:rPr>
              <a:t>(4 of 7)</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The World Trade Organization is based on a number of agreements:</a:t>
            </a:r>
          </a:p>
          <a:p>
            <a:pPr lvl="1" eaLnBrk="1" hangingPunct="1"/>
            <a:r>
              <a:rPr lang="en-US" altLang="en-US" b="1" dirty="0">
                <a:latin typeface="Arial (Body)"/>
                <a:ea typeface="ヒラギノ角ゴ Pro W3" pitchFamily="-84" charset="-128"/>
              </a:rPr>
              <a:t>General Agreement on Tariffs and Trade</a:t>
            </a:r>
            <a:r>
              <a:rPr lang="en-US" altLang="en-US" dirty="0">
                <a:latin typeface="Arial (Body)"/>
                <a:ea typeface="ヒラギノ角ゴ Pro W3" pitchFamily="-84" charset="-128"/>
              </a:rPr>
              <a:t>: covers trade in goods.</a:t>
            </a:r>
          </a:p>
          <a:p>
            <a:pPr lvl="1" eaLnBrk="1" hangingPunct="1"/>
            <a:r>
              <a:rPr lang="en-US" altLang="en-US" b="1" dirty="0">
                <a:latin typeface="Arial (Body)"/>
                <a:ea typeface="ヒラギノ角ゴ Pro W3" pitchFamily="-84" charset="-128"/>
              </a:rPr>
              <a:t>General Agreement on Tariffs and Services</a:t>
            </a:r>
            <a:r>
              <a:rPr lang="en-US" altLang="en-US" dirty="0">
                <a:latin typeface="Arial (Body)"/>
                <a:ea typeface="ヒラギノ角ゴ Pro W3" pitchFamily="-84" charset="-128"/>
              </a:rPr>
              <a:t>: covers trade in services (e.g., insurance, consulting, legal services, banking).</a:t>
            </a:r>
          </a:p>
          <a:p>
            <a:pPr lvl="1" eaLnBrk="1" hangingPunct="1"/>
            <a:r>
              <a:rPr lang="en-US" altLang="en-US" b="1" dirty="0">
                <a:latin typeface="Arial (Body)"/>
                <a:ea typeface="ヒラギノ角ゴ Pro W3" pitchFamily="-84" charset="-128"/>
              </a:rPr>
              <a:t>Agreement on Trade-Related Aspects of Intellectual Property:</a:t>
            </a:r>
            <a:r>
              <a:rPr lang="en-US" altLang="en-US" dirty="0">
                <a:latin typeface="Arial (Body)"/>
                <a:ea typeface="ヒラギノ角ゴ Pro W3" pitchFamily="-84" charset="-128"/>
              </a:rPr>
              <a:t> covers international property rights (e.g., patents and copyrights).</a:t>
            </a:r>
          </a:p>
        </p:txBody>
      </p:sp>
    </p:spTree>
    <p:extLst>
      <p:ext uri="{BB962C8B-B14F-4D97-AF65-F5344CB8AC3E}">
        <p14:creationId xmlns:p14="http://schemas.microsoft.com/office/powerpoint/2010/main" val="9425047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World Trade Organization </a:t>
            </a:r>
            <a:r>
              <a:rPr lang="en-US" altLang="en-US" sz="2000" b="0" dirty="0">
                <a:ea typeface="ヒラギノ角ゴ Pro W3" pitchFamily="-84" charset="-128"/>
              </a:rPr>
              <a:t>(5 of 7)</a:t>
            </a:r>
            <a:endParaRPr lang="en-US" dirty="0"/>
          </a:p>
        </p:txBody>
      </p:sp>
      <p:sp>
        <p:nvSpPr>
          <p:cNvPr id="3" name="Content Placeholder 2"/>
          <p:cNvSpPr>
            <a:spLocks noGrp="1"/>
          </p:cNvSpPr>
          <p:nvPr>
            <p:ph sz="quarter" idx="13"/>
          </p:nvPr>
        </p:nvSpPr>
        <p:spPr/>
        <p:txBody>
          <a:bodyPr/>
          <a:lstStyle/>
          <a:p>
            <a:pPr lvl="1" eaLnBrk="1" hangingPunct="1"/>
            <a:r>
              <a:rPr lang="en-US" altLang="en-US" b="1" dirty="0">
                <a:latin typeface="Arial (Body)"/>
                <a:ea typeface="ヒラギノ角ゴ Pro W3" pitchFamily="-84" charset="-128"/>
              </a:rPr>
              <a:t>The dispute settlement procedure</a:t>
            </a:r>
            <a:r>
              <a:rPr lang="en-US" altLang="en-US" dirty="0">
                <a:latin typeface="Arial (Body)"/>
                <a:ea typeface="ヒラギノ角ゴ Pro W3" pitchFamily="-84" charset="-128"/>
              </a:rPr>
              <a:t>: a formal procedure where countries in a trade dispute can bring their case to a panel of W</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O experts to rule upon.</a:t>
            </a:r>
          </a:p>
          <a:p>
            <a:pPr lvl="2" eaLnBrk="1" hangingPunct="1"/>
            <a:r>
              <a:rPr lang="en-US" altLang="en-US" dirty="0">
                <a:latin typeface="Arial (Body)"/>
                <a:ea typeface="ヒラギノ角ゴ Pro W3" pitchFamily="-84" charset="-128"/>
              </a:rPr>
              <a:t>The panel decides whether member counties are breaking their agreements.</a:t>
            </a:r>
          </a:p>
          <a:p>
            <a:pPr lvl="2" eaLnBrk="1" hangingPunct="1"/>
            <a:r>
              <a:rPr lang="en-US" altLang="en-US" dirty="0">
                <a:latin typeface="Arial (Body)"/>
                <a:ea typeface="ヒラギノ角ゴ Pro W3" pitchFamily="-84" charset="-128"/>
              </a:rPr>
              <a:t>A country that refuses to adhere to the panel’</a:t>
            </a:r>
            <a:r>
              <a:rPr lang="en-US" altLang="ja-JP" dirty="0">
                <a:latin typeface="Arial (Body)"/>
                <a:ea typeface="ヒラギノ角ゴ Pro W3" pitchFamily="-84" charset="-128"/>
              </a:rPr>
              <a:t>s decision may be punished by the W</a:t>
            </a:r>
            <a:r>
              <a:rPr lang="en-US" altLang="ja-JP" sz="100" dirty="0">
                <a:latin typeface="Arial (Body)"/>
                <a:ea typeface="ヒラギノ角ゴ Pro W3" pitchFamily="-84" charset="-128"/>
              </a:rPr>
              <a:t> </a:t>
            </a:r>
            <a:r>
              <a:rPr lang="en-US" altLang="ja-JP" dirty="0">
                <a:latin typeface="Arial (Body)"/>
                <a:ea typeface="ヒラギノ角ゴ Pro W3" pitchFamily="-84" charset="-128"/>
              </a:rPr>
              <a:t>T</a:t>
            </a:r>
            <a:r>
              <a:rPr lang="en-US" altLang="ja-JP" sz="100" dirty="0">
                <a:latin typeface="Arial (Body)"/>
                <a:ea typeface="ヒラギノ角ゴ Pro W3" pitchFamily="-84" charset="-128"/>
              </a:rPr>
              <a:t> </a:t>
            </a:r>
            <a:r>
              <a:rPr lang="en-US" altLang="ja-JP" dirty="0">
                <a:latin typeface="Arial (Body)"/>
                <a:ea typeface="ヒラギノ角ゴ Pro W3" pitchFamily="-84" charset="-128"/>
              </a:rPr>
              <a:t>O allowing other countries to impose trade restrictions on its exports.</a:t>
            </a:r>
            <a:endParaRPr lang="en-US" altLang="en-US" dirty="0">
              <a:latin typeface="Arial (Body)"/>
              <a:ea typeface="ヒラギノ角ゴ Pro W3" pitchFamily="-84" charset="-128"/>
            </a:endParaRPr>
          </a:p>
        </p:txBody>
      </p:sp>
    </p:spTree>
    <p:extLst>
      <p:ext uri="{BB962C8B-B14F-4D97-AF65-F5344CB8AC3E}">
        <p14:creationId xmlns:p14="http://schemas.microsoft.com/office/powerpoint/2010/main" val="21358841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World Trade Organization </a:t>
            </a:r>
            <a:r>
              <a:rPr lang="en-US" altLang="en-US" sz="2000" b="0" dirty="0">
                <a:ea typeface="ヒラギノ角ゴ Pro W3" pitchFamily="-84" charset="-128"/>
              </a:rPr>
              <a:t>(6 of 7)</a:t>
            </a:r>
            <a:endParaRPr lang="en-US" dirty="0"/>
          </a:p>
        </p:txBody>
      </p:sp>
      <p:sp>
        <p:nvSpPr>
          <p:cNvPr id="3" name="Content Placeholder 2"/>
          <p:cNvSpPr>
            <a:spLocks noGrp="1"/>
          </p:cNvSpPr>
          <p:nvPr>
            <p:ph sz="quarter" idx="13"/>
          </p:nvPr>
        </p:nvSpPr>
        <p:spPr>
          <a:xfrm>
            <a:off x="457200" y="1556327"/>
            <a:ext cx="8116784" cy="4586896"/>
          </a:xfrm>
        </p:spPr>
        <p:txBody>
          <a:bodyPr/>
          <a:lstStyle/>
          <a:p>
            <a:pPr eaLnBrk="1" hangingPunct="1"/>
            <a:r>
              <a:rPr lang="en-US" altLang="en-US" dirty="0">
                <a:latin typeface="Arial (Body)"/>
                <a:ea typeface="ヒラギノ角ゴ Pro W3" pitchFamily="-84" charset="-128"/>
              </a:rPr>
              <a:t>The G</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A</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 multilateral negotiations in the Uruguay Round, ratified in 1994:</a:t>
            </a:r>
          </a:p>
          <a:p>
            <a:pPr lvl="1" eaLnBrk="1" hangingPunct="1"/>
            <a:r>
              <a:rPr lang="en-US" altLang="en-US" dirty="0">
                <a:latin typeface="Arial (Body)"/>
                <a:ea typeface="ヒラギノ角ゴ Pro W3" pitchFamily="-84" charset="-128"/>
              </a:rPr>
              <a:t>agreed that all quantitative restrictions (e.g., quotas) on trade in textiles and clothing as previously specified in the Multi-Fiber Agreement were to be eliminated by 2005.</a:t>
            </a:r>
          </a:p>
          <a:p>
            <a:pPr eaLnBrk="1" hangingPunct="1"/>
            <a:r>
              <a:rPr lang="en-US" altLang="en-US" dirty="0">
                <a:latin typeface="Arial (Body)"/>
                <a:ea typeface="ヒラギノ角ゴ Pro W3" pitchFamily="-84" charset="-128"/>
              </a:rPr>
              <a:t>Quotas on imports from China had to be temporarily reimposed due to surge in Chinese clothing exports when M</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F</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A expired.</a:t>
            </a:r>
          </a:p>
        </p:txBody>
      </p:sp>
    </p:spTree>
    <p:extLst>
      <p:ext uri="{BB962C8B-B14F-4D97-AF65-F5344CB8AC3E}">
        <p14:creationId xmlns:p14="http://schemas.microsoft.com/office/powerpoint/2010/main" val="5616813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World Trade Organization </a:t>
            </a:r>
            <a:r>
              <a:rPr lang="en-US" altLang="en-US" sz="2000" b="0" dirty="0">
                <a:ea typeface="ヒラギノ角ゴ Pro W3" pitchFamily="-84" charset="-128"/>
              </a:rPr>
              <a:t>(7 of 7)</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In 2001, a new round of negotiations was started in Doha, Qatar, but these negotiations never produced an agreement.</a:t>
            </a:r>
          </a:p>
          <a:p>
            <a:pPr lvl="1" eaLnBrk="1" hangingPunct="1"/>
            <a:r>
              <a:rPr lang="en-US" altLang="en-US" dirty="0">
                <a:latin typeface="Arial (Body)"/>
                <a:ea typeface="ヒラギノ角ゴ Pro W3" pitchFamily="-84" charset="-128"/>
              </a:rPr>
              <a:t>Most of the remaining forms of protection are in agriculture, textiles, and clothing—industries that are politically well organized.</a:t>
            </a:r>
          </a:p>
        </p:txBody>
      </p:sp>
    </p:spTree>
    <p:extLst>
      <p:ext uri="{BB962C8B-B14F-4D97-AF65-F5344CB8AC3E}">
        <p14:creationId xmlns:p14="http://schemas.microsoft.com/office/powerpoint/2010/main" val="33550622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ea typeface="ヒラギノ角ゴ Pro W3" pitchFamily="-84" charset="-128"/>
              </a:rPr>
              <a:t>Table 10.4 Percentage Distribution of Potential Gains from Free Trade</a:t>
            </a:r>
            <a:endParaRPr lang="en-US" sz="3200" dirty="0"/>
          </a:p>
        </p:txBody>
      </p:sp>
      <p:graphicFrame>
        <p:nvGraphicFramePr>
          <p:cNvPr id="7" name="Content Placeholder 6"/>
          <p:cNvGraphicFramePr>
            <a:graphicFrameLocks noGrp="1"/>
          </p:cNvGraphicFramePr>
          <p:nvPr>
            <p:ph sz="quarter" idx="13"/>
            <p:extLst>
              <p:ext uri="{D42A27DB-BD31-4B8C-83A1-F6EECF244321}">
                <p14:modId xmlns:p14="http://schemas.microsoft.com/office/powerpoint/2010/main" val="530769755"/>
              </p:ext>
            </p:extLst>
          </p:nvPr>
        </p:nvGraphicFramePr>
        <p:xfrm>
          <a:off x="457200" y="1555750"/>
          <a:ext cx="8229600" cy="205740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656676565"/>
                    </a:ext>
                  </a:extLst>
                </a:gridCol>
                <a:gridCol w="1645920">
                  <a:extLst>
                    <a:ext uri="{9D8B030D-6E8A-4147-A177-3AD203B41FA5}">
                      <a16:colId xmlns:a16="http://schemas.microsoft.com/office/drawing/2014/main" val="3797853467"/>
                    </a:ext>
                  </a:extLst>
                </a:gridCol>
                <a:gridCol w="1645920">
                  <a:extLst>
                    <a:ext uri="{9D8B030D-6E8A-4147-A177-3AD203B41FA5}">
                      <a16:colId xmlns:a16="http://schemas.microsoft.com/office/drawing/2014/main" val="4240558328"/>
                    </a:ext>
                  </a:extLst>
                </a:gridCol>
                <a:gridCol w="1645920">
                  <a:extLst>
                    <a:ext uri="{9D8B030D-6E8A-4147-A177-3AD203B41FA5}">
                      <a16:colId xmlns:a16="http://schemas.microsoft.com/office/drawing/2014/main" val="2170491507"/>
                    </a:ext>
                  </a:extLst>
                </a:gridCol>
                <a:gridCol w="1645920">
                  <a:extLst>
                    <a:ext uri="{9D8B030D-6E8A-4147-A177-3AD203B41FA5}">
                      <a16:colId xmlns:a16="http://schemas.microsoft.com/office/drawing/2014/main" val="2661273707"/>
                    </a:ext>
                  </a:extLst>
                </a:gridCol>
              </a:tblGrid>
              <a:tr h="370840">
                <a:tc>
                  <a:txBody>
                    <a:bodyPr/>
                    <a:lstStyle/>
                    <a:p>
                      <a:pPr algn="ctr"/>
                      <a:r>
                        <a:rPr lang="en-US" sz="1400" b="1" dirty="0"/>
                        <a:t>Economy</a:t>
                      </a:r>
                      <a:endParaRPr lang="en-US" sz="1400" b="1" dirty="0">
                        <a:solidFill>
                          <a:schemeClr val="tx1"/>
                        </a:solidFill>
                        <a:latin typeface="Arial (Body)"/>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Full Liberalization of</a:t>
                      </a:r>
                    </a:p>
                    <a:p>
                      <a:pPr algn="ctr"/>
                      <a:r>
                        <a:rPr lang="en-US" sz="1400" b="1" dirty="0"/>
                        <a:t>Agriculture</a:t>
                      </a:r>
                      <a:r>
                        <a:rPr lang="en-US" sz="1400" b="1" baseline="0" dirty="0"/>
                        <a:t> and Food</a:t>
                      </a:r>
                      <a:endParaRPr lang="en-US" sz="1400" b="1" dirty="0">
                        <a:solidFill>
                          <a:schemeClr val="tx1"/>
                        </a:solidFill>
                        <a:latin typeface="Arial (Body)"/>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Full Liberalization of</a:t>
                      </a:r>
                    </a:p>
                    <a:p>
                      <a:pPr algn="ctr"/>
                      <a:r>
                        <a:rPr lang="en-US" sz="1400" b="1" dirty="0"/>
                        <a:t>Textiles and Clothing</a:t>
                      </a:r>
                      <a:endParaRPr lang="en-US" sz="1400" b="1" dirty="0">
                        <a:solidFill>
                          <a:schemeClr val="tx1"/>
                        </a:solidFill>
                        <a:latin typeface="Arial (Body)"/>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Full Liberalization of</a:t>
                      </a:r>
                    </a:p>
                    <a:p>
                      <a:pPr algn="ctr"/>
                      <a:r>
                        <a:rPr lang="en-US" sz="1400" b="1" dirty="0"/>
                        <a:t>Other Merchandise</a:t>
                      </a:r>
                      <a:endParaRPr lang="en-US" sz="1400" b="1" dirty="0">
                        <a:solidFill>
                          <a:schemeClr val="tx1"/>
                        </a:solidFill>
                        <a:latin typeface="Arial (Body)"/>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Full Liberalization of</a:t>
                      </a:r>
                    </a:p>
                    <a:p>
                      <a:pPr algn="ctr"/>
                      <a:r>
                        <a:rPr lang="en-US" sz="1400" b="1" dirty="0"/>
                        <a:t>All Goods</a:t>
                      </a:r>
                      <a:endParaRPr lang="en-US" sz="1400" b="1" dirty="0">
                        <a:solidFill>
                          <a:schemeClr val="tx1"/>
                        </a:solidFill>
                        <a:latin typeface="Arial (Body)"/>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6910505"/>
                  </a:ext>
                </a:extLst>
              </a:tr>
              <a:tr h="370840">
                <a:tc>
                  <a:txBody>
                    <a:bodyPr/>
                    <a:lstStyle/>
                    <a:p>
                      <a:r>
                        <a:rPr lang="en-US" sz="1400" dirty="0"/>
                        <a:t>Developed</a:t>
                      </a:r>
                      <a:endParaRPr lang="en-US" sz="1400" dirty="0">
                        <a:solidFill>
                          <a:schemeClr val="tx1"/>
                        </a:solidFill>
                        <a:latin typeface="Arial (Body)"/>
                      </a:endParaRPr>
                    </a:p>
                  </a:txBody>
                  <a:tcPr>
                    <a:lnT w="12700" cap="flat" cmpd="sng" algn="ctr">
                      <a:solidFill>
                        <a:schemeClr val="tx1"/>
                      </a:solidFill>
                      <a:prstDash val="solid"/>
                      <a:round/>
                      <a:headEnd type="none" w="med" len="med"/>
                      <a:tailEnd type="none" w="med" len="med"/>
                    </a:lnT>
                  </a:tcPr>
                </a:tc>
                <a:tc>
                  <a:txBody>
                    <a:bodyPr/>
                    <a:lstStyle/>
                    <a:p>
                      <a:pPr algn="ctr"/>
                      <a:r>
                        <a:rPr lang="en-US" sz="1400" dirty="0"/>
                        <a:t>46</a:t>
                      </a:r>
                      <a:endParaRPr lang="en-US" sz="1400" dirty="0">
                        <a:solidFill>
                          <a:schemeClr val="tx1"/>
                        </a:solidFill>
                        <a:latin typeface="Arial (Body)"/>
                      </a:endParaRPr>
                    </a:p>
                  </a:txBody>
                  <a:tcPr>
                    <a:lnT w="12700" cap="flat" cmpd="sng" algn="ctr">
                      <a:solidFill>
                        <a:schemeClr val="tx1"/>
                      </a:solidFill>
                      <a:prstDash val="solid"/>
                      <a:round/>
                      <a:headEnd type="none" w="med" len="med"/>
                      <a:tailEnd type="none" w="med" len="med"/>
                    </a:lnT>
                  </a:tcPr>
                </a:tc>
                <a:tc>
                  <a:txBody>
                    <a:bodyPr/>
                    <a:lstStyle/>
                    <a:p>
                      <a:pPr algn="ctr"/>
                      <a:r>
                        <a:rPr lang="en-US" sz="1400" dirty="0"/>
                        <a:t>6</a:t>
                      </a:r>
                      <a:endParaRPr lang="en-US" sz="1400" dirty="0">
                        <a:solidFill>
                          <a:schemeClr val="tx1"/>
                        </a:solidFill>
                        <a:latin typeface="Arial (Body)"/>
                      </a:endParaRPr>
                    </a:p>
                  </a:txBody>
                  <a:tcPr>
                    <a:lnT w="12700" cap="flat" cmpd="sng" algn="ctr">
                      <a:solidFill>
                        <a:schemeClr val="tx1"/>
                      </a:solidFill>
                      <a:prstDash val="solid"/>
                      <a:round/>
                      <a:headEnd type="none" w="med" len="med"/>
                      <a:tailEnd type="none" w="med" len="med"/>
                    </a:lnT>
                  </a:tcPr>
                </a:tc>
                <a:tc>
                  <a:txBody>
                    <a:bodyPr/>
                    <a:lstStyle/>
                    <a:p>
                      <a:pPr algn="ctr"/>
                      <a:r>
                        <a:rPr lang="en-US" sz="1400" dirty="0"/>
                        <a:t>3</a:t>
                      </a:r>
                      <a:endParaRPr lang="en-US" sz="1400" dirty="0">
                        <a:solidFill>
                          <a:schemeClr val="tx1"/>
                        </a:solidFill>
                        <a:latin typeface="Arial (Body)"/>
                      </a:endParaRPr>
                    </a:p>
                  </a:txBody>
                  <a:tcPr>
                    <a:lnT w="12700" cap="flat" cmpd="sng" algn="ctr">
                      <a:solidFill>
                        <a:schemeClr val="tx1"/>
                      </a:solidFill>
                      <a:prstDash val="solid"/>
                      <a:round/>
                      <a:headEnd type="none" w="med" len="med"/>
                      <a:tailEnd type="none" w="med" len="med"/>
                    </a:lnT>
                  </a:tcPr>
                </a:tc>
                <a:tc>
                  <a:txBody>
                    <a:bodyPr/>
                    <a:lstStyle/>
                    <a:p>
                      <a:pPr algn="ctr"/>
                      <a:r>
                        <a:rPr lang="en-US" sz="1400" dirty="0"/>
                        <a:t> 55</a:t>
                      </a:r>
                      <a:endParaRPr lang="en-US" sz="1400" dirty="0">
                        <a:solidFill>
                          <a:schemeClr val="tx1"/>
                        </a:solidFill>
                        <a:latin typeface="Arial (Body)"/>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72090559"/>
                  </a:ext>
                </a:extLst>
              </a:tr>
              <a:tr h="370840">
                <a:tc>
                  <a:txBody>
                    <a:bodyPr/>
                    <a:lstStyle/>
                    <a:p>
                      <a:r>
                        <a:rPr lang="en-US" sz="1400" dirty="0"/>
                        <a:t>Developing</a:t>
                      </a:r>
                      <a:endParaRPr lang="en-US" sz="1400" dirty="0">
                        <a:solidFill>
                          <a:schemeClr val="tx1"/>
                        </a:solidFill>
                        <a:latin typeface="Arial (Body)"/>
                      </a:endParaRPr>
                    </a:p>
                  </a:txBody>
                  <a:tcPr/>
                </a:tc>
                <a:tc>
                  <a:txBody>
                    <a:bodyPr/>
                    <a:lstStyle/>
                    <a:p>
                      <a:pPr algn="ctr"/>
                      <a:r>
                        <a:rPr lang="en-US" sz="1400" dirty="0"/>
                        <a:t>17</a:t>
                      </a:r>
                      <a:endParaRPr lang="en-US" sz="1400" dirty="0">
                        <a:solidFill>
                          <a:schemeClr val="tx1"/>
                        </a:solidFill>
                        <a:latin typeface="Arial (Body)"/>
                      </a:endParaRPr>
                    </a:p>
                  </a:txBody>
                  <a:tcPr/>
                </a:tc>
                <a:tc>
                  <a:txBody>
                    <a:bodyPr/>
                    <a:lstStyle/>
                    <a:p>
                      <a:pPr algn="ctr"/>
                      <a:r>
                        <a:rPr lang="en-US" sz="1400" dirty="0"/>
                        <a:t>8</a:t>
                      </a:r>
                      <a:endParaRPr lang="en-US" sz="1400" dirty="0">
                        <a:solidFill>
                          <a:schemeClr val="tx1"/>
                        </a:solidFill>
                        <a:latin typeface="Arial (Body)"/>
                      </a:endParaRPr>
                    </a:p>
                  </a:txBody>
                  <a:tcPr/>
                </a:tc>
                <a:tc>
                  <a:txBody>
                    <a:bodyPr/>
                    <a:lstStyle/>
                    <a:p>
                      <a:pPr algn="ctr"/>
                      <a:r>
                        <a:rPr lang="en-US" sz="1400" dirty="0"/>
                        <a:t>20</a:t>
                      </a:r>
                      <a:endParaRPr lang="en-US" sz="1400" dirty="0">
                        <a:solidFill>
                          <a:schemeClr val="tx1"/>
                        </a:solidFill>
                        <a:latin typeface="Arial (Body)"/>
                      </a:endParaRPr>
                    </a:p>
                  </a:txBody>
                  <a:tcPr/>
                </a:tc>
                <a:tc>
                  <a:txBody>
                    <a:bodyPr/>
                    <a:lstStyle/>
                    <a:p>
                      <a:pPr algn="ctr"/>
                      <a:r>
                        <a:rPr lang="en-US" sz="1400" dirty="0"/>
                        <a:t> 45</a:t>
                      </a:r>
                      <a:endParaRPr lang="en-US" sz="1400" dirty="0">
                        <a:solidFill>
                          <a:schemeClr val="tx1"/>
                        </a:solidFill>
                        <a:latin typeface="Arial (Body)"/>
                      </a:endParaRPr>
                    </a:p>
                  </a:txBody>
                  <a:tcPr/>
                </a:tc>
                <a:extLst>
                  <a:ext uri="{0D108BD9-81ED-4DB2-BD59-A6C34878D82A}">
                    <a16:rowId xmlns:a16="http://schemas.microsoft.com/office/drawing/2014/main" val="2812172956"/>
                  </a:ext>
                </a:extLst>
              </a:tr>
              <a:tr h="370840">
                <a:tc>
                  <a:txBody>
                    <a:bodyPr/>
                    <a:lstStyle/>
                    <a:p>
                      <a:r>
                        <a:rPr lang="en-US" sz="1400" dirty="0"/>
                        <a:t>All</a:t>
                      </a:r>
                      <a:endParaRPr lang="en-US" sz="1400" dirty="0">
                        <a:solidFill>
                          <a:schemeClr val="tx1"/>
                        </a:solidFill>
                        <a:latin typeface="Arial (Body)"/>
                      </a:endParaRPr>
                    </a:p>
                  </a:txBody>
                  <a:tcPr>
                    <a:lnB w="12700" cap="flat" cmpd="sng" algn="ctr">
                      <a:solidFill>
                        <a:schemeClr val="tx1"/>
                      </a:solidFill>
                      <a:prstDash val="solid"/>
                      <a:round/>
                      <a:headEnd type="none" w="med" len="med"/>
                      <a:tailEnd type="none" w="med" len="med"/>
                    </a:lnB>
                  </a:tcPr>
                </a:tc>
                <a:tc>
                  <a:txBody>
                    <a:bodyPr/>
                    <a:lstStyle/>
                    <a:p>
                      <a:pPr algn="ctr"/>
                      <a:r>
                        <a:rPr lang="en-US" sz="1400" dirty="0"/>
                        <a:t>63</a:t>
                      </a:r>
                      <a:endParaRPr lang="en-US" sz="1400" dirty="0">
                        <a:solidFill>
                          <a:schemeClr val="tx1"/>
                        </a:solidFill>
                        <a:latin typeface="Arial (Body)"/>
                      </a:endParaRPr>
                    </a:p>
                  </a:txBody>
                  <a:tcPr>
                    <a:lnB w="12700" cap="flat" cmpd="sng" algn="ctr">
                      <a:solidFill>
                        <a:schemeClr val="tx1"/>
                      </a:solidFill>
                      <a:prstDash val="solid"/>
                      <a:round/>
                      <a:headEnd type="none" w="med" len="med"/>
                      <a:tailEnd type="none" w="med" len="med"/>
                    </a:lnB>
                  </a:tcPr>
                </a:tc>
                <a:tc>
                  <a:txBody>
                    <a:bodyPr/>
                    <a:lstStyle/>
                    <a:p>
                      <a:pPr algn="ctr"/>
                      <a:r>
                        <a:rPr lang="en-US" sz="1400" dirty="0"/>
                        <a:t>14</a:t>
                      </a:r>
                      <a:endParaRPr lang="en-US" sz="1400" dirty="0">
                        <a:solidFill>
                          <a:schemeClr val="tx1"/>
                        </a:solidFill>
                        <a:latin typeface="Arial (Body)"/>
                      </a:endParaRPr>
                    </a:p>
                  </a:txBody>
                  <a:tcPr>
                    <a:lnB w="12700" cap="flat" cmpd="sng" algn="ctr">
                      <a:solidFill>
                        <a:schemeClr val="tx1"/>
                      </a:solidFill>
                      <a:prstDash val="solid"/>
                      <a:round/>
                      <a:headEnd type="none" w="med" len="med"/>
                      <a:tailEnd type="none" w="med" len="med"/>
                    </a:lnB>
                  </a:tcPr>
                </a:tc>
                <a:tc>
                  <a:txBody>
                    <a:bodyPr/>
                    <a:lstStyle/>
                    <a:p>
                      <a:pPr algn="ctr"/>
                      <a:r>
                        <a:rPr lang="en-US" sz="1400" dirty="0"/>
                        <a:t>23</a:t>
                      </a:r>
                      <a:endParaRPr lang="en-US" sz="1400" dirty="0">
                        <a:solidFill>
                          <a:schemeClr val="tx1"/>
                        </a:solidFill>
                        <a:latin typeface="Arial (Body)"/>
                      </a:endParaRPr>
                    </a:p>
                  </a:txBody>
                  <a:tcPr>
                    <a:lnB w="12700" cap="flat" cmpd="sng" algn="ctr">
                      <a:solidFill>
                        <a:schemeClr val="tx1"/>
                      </a:solidFill>
                      <a:prstDash val="solid"/>
                      <a:round/>
                      <a:headEnd type="none" w="med" len="med"/>
                      <a:tailEnd type="none" w="med" len="med"/>
                    </a:lnB>
                  </a:tcPr>
                </a:tc>
                <a:tc>
                  <a:txBody>
                    <a:bodyPr/>
                    <a:lstStyle/>
                    <a:p>
                      <a:pPr algn="ctr"/>
                      <a:r>
                        <a:rPr lang="en-US" sz="1400" dirty="0"/>
                        <a:t>100</a:t>
                      </a:r>
                      <a:endParaRPr lang="en-US" sz="1400" dirty="0">
                        <a:solidFill>
                          <a:schemeClr val="tx1"/>
                        </a:solidFill>
                        <a:latin typeface="Arial (Body)"/>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0815602"/>
                  </a:ext>
                </a:extLst>
              </a:tr>
            </a:tbl>
          </a:graphicData>
        </a:graphic>
      </p:graphicFrame>
      <p:sp>
        <p:nvSpPr>
          <p:cNvPr id="6" name="Content Placeholder 5"/>
          <p:cNvSpPr>
            <a:spLocks noGrp="1"/>
          </p:cNvSpPr>
          <p:nvPr>
            <p:ph sz="quarter" idx="14"/>
          </p:nvPr>
        </p:nvSpPr>
        <p:spPr>
          <a:xfrm>
            <a:off x="457200" y="3770046"/>
            <a:ext cx="8229600" cy="683201"/>
          </a:xfrm>
        </p:spPr>
        <p:txBody>
          <a:bodyPr/>
          <a:lstStyle/>
          <a:p>
            <a:pPr marL="432" indent="0">
              <a:buNone/>
            </a:pPr>
            <a:r>
              <a:rPr lang="en-US" sz="1600" b="1" dirty="0">
                <a:latin typeface="Arial (Body)"/>
              </a:rPr>
              <a:t>Source: </a:t>
            </a:r>
            <a:r>
              <a:rPr lang="en-US" sz="1600" dirty="0">
                <a:latin typeface="Arial (Body)"/>
              </a:rPr>
              <a:t>Kym Anderson and Will Martin, “Agricultural Trade Reform and the Doha Agenda,” </a:t>
            </a:r>
            <a:r>
              <a:rPr lang="en-US" sz="1600" b="1" dirty="0">
                <a:latin typeface="Arial (Body)"/>
              </a:rPr>
              <a:t>The World Economy </a:t>
            </a:r>
            <a:r>
              <a:rPr lang="en-US" sz="1600" dirty="0">
                <a:latin typeface="Arial (Body)"/>
              </a:rPr>
              <a:t>28 (September 2005), p</a:t>
            </a:r>
            <a:r>
              <a:rPr lang="en-US" sz="100" dirty="0">
                <a:latin typeface="Arial (Body)"/>
              </a:rPr>
              <a:t> </a:t>
            </a:r>
            <a:r>
              <a:rPr lang="en-US" sz="1600" dirty="0">
                <a:latin typeface="Arial (Body)"/>
              </a:rPr>
              <a:t>p. 1301–1327.</a:t>
            </a:r>
          </a:p>
        </p:txBody>
      </p:sp>
    </p:spTree>
    <p:extLst>
      <p:ext uri="{BB962C8B-B14F-4D97-AF65-F5344CB8AC3E}">
        <p14:creationId xmlns:p14="http://schemas.microsoft.com/office/powerpoint/2010/main" val="1430827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Do Agricultural Subsidies in Rich Countries Hurt Poor Countries?</a:t>
            </a:r>
            <a:endParaRPr lang="en-US" sz="3200" dirty="0"/>
          </a:p>
        </p:txBody>
      </p:sp>
      <p:sp>
        <p:nvSpPr>
          <p:cNvPr id="3" name="Content Placeholder 2"/>
          <p:cNvSpPr>
            <a:spLocks noGrp="1"/>
          </p:cNvSpPr>
          <p:nvPr>
            <p:ph sz="quarter" idx="13"/>
          </p:nvPr>
        </p:nvSpPr>
        <p:spPr>
          <a:xfrm>
            <a:off x="457200" y="1556326"/>
            <a:ext cx="8229600" cy="3025505"/>
          </a:xfrm>
        </p:spPr>
        <p:txBody>
          <a:bodyPr/>
          <a:lstStyle/>
          <a:p>
            <a:pPr eaLnBrk="1" hangingPunct="1"/>
            <a:r>
              <a:rPr lang="en-US" altLang="en-US" dirty="0">
                <a:latin typeface="Arial (Body)"/>
                <a:ea typeface="ヒラギノ角ゴ Pro W3" pitchFamily="-84" charset="-128"/>
              </a:rPr>
              <a:t>We learned in Chapter 9 that subsidies lower the </a:t>
            </a:r>
            <a:r>
              <a:rPr lang="en-US" altLang="en-US" b="1" dirty="0">
                <a:latin typeface="Arial (Body)"/>
                <a:ea typeface="ヒラギノ角ゴ Pro W3" pitchFamily="-84" charset="-128"/>
              </a:rPr>
              <a:t>world</a:t>
            </a:r>
            <a:r>
              <a:rPr lang="en-US" altLang="en-US" dirty="0">
                <a:latin typeface="Arial (Body)"/>
                <a:ea typeface="ヒラギノ角ゴ Pro W3" pitchFamily="-84" charset="-128"/>
              </a:rPr>
              <a:t> price of products.</a:t>
            </a:r>
          </a:p>
          <a:p>
            <a:pPr lvl="1" eaLnBrk="1" hangingPunct="1"/>
            <a:r>
              <a:rPr lang="en-US" altLang="en-US" dirty="0">
                <a:latin typeface="Arial (Body)"/>
                <a:ea typeface="ヒラギノ角ゴ Pro W3" pitchFamily="-84" charset="-128"/>
              </a:rPr>
              <a:t>Since importing countries benefit from cheaper food, why would poor countries want rich countries to remove their agricultural subsidies?</a:t>
            </a:r>
          </a:p>
          <a:p>
            <a:pPr lvl="1" eaLnBrk="1" hangingPunct="1"/>
            <a:r>
              <a:rPr lang="en-US" altLang="en-US" dirty="0">
                <a:latin typeface="Arial (Body)"/>
                <a:ea typeface="ヒラギノ角ゴ Pro W3" pitchFamily="-84" charset="-128"/>
              </a:rPr>
              <a:t>Subsidies harm farmers in poor countries who compete with farmers in rich countries.</a:t>
            </a:r>
          </a:p>
        </p:txBody>
      </p:sp>
    </p:spTree>
    <p:extLst>
      <p:ext uri="{BB962C8B-B14F-4D97-AF65-F5344CB8AC3E}">
        <p14:creationId xmlns:p14="http://schemas.microsoft.com/office/powerpoint/2010/main" val="754311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Table 10.5 Percentage Gains in Income under Two Doha Scenarios</a:t>
            </a:r>
            <a:endParaRPr lang="en-US" sz="3200" dirty="0"/>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3330233219"/>
              </p:ext>
            </p:extLst>
          </p:nvPr>
        </p:nvGraphicFramePr>
        <p:xfrm>
          <a:off x="1418302" y="2145686"/>
          <a:ext cx="6307395" cy="2377440"/>
        </p:xfrm>
        <a:graphic>
          <a:graphicData uri="http://schemas.openxmlformats.org/drawingml/2006/table">
            <a:tbl>
              <a:tblPr firstRow="1" bandRow="1">
                <a:tableStyleId>{2D5ABB26-0587-4C30-8999-92F81FD0307C}</a:tableStyleId>
              </a:tblPr>
              <a:tblGrid>
                <a:gridCol w="2102465">
                  <a:extLst>
                    <a:ext uri="{9D8B030D-6E8A-4147-A177-3AD203B41FA5}">
                      <a16:colId xmlns:a16="http://schemas.microsoft.com/office/drawing/2014/main" val="766278609"/>
                    </a:ext>
                  </a:extLst>
                </a:gridCol>
                <a:gridCol w="2102465">
                  <a:extLst>
                    <a:ext uri="{9D8B030D-6E8A-4147-A177-3AD203B41FA5}">
                      <a16:colId xmlns:a16="http://schemas.microsoft.com/office/drawing/2014/main" val="2501938495"/>
                    </a:ext>
                  </a:extLst>
                </a:gridCol>
                <a:gridCol w="2102465">
                  <a:extLst>
                    <a:ext uri="{9D8B030D-6E8A-4147-A177-3AD203B41FA5}">
                      <a16:colId xmlns:a16="http://schemas.microsoft.com/office/drawing/2014/main" val="598900939"/>
                    </a:ext>
                  </a:extLst>
                </a:gridCol>
              </a:tblGrid>
              <a:tr h="370840">
                <a:tc>
                  <a:txBody>
                    <a:bodyPr/>
                    <a:lstStyle/>
                    <a:p>
                      <a:pPr algn="ctr"/>
                      <a:r>
                        <a:rPr lang="en-US" sz="100" dirty="0"/>
                        <a:t>blank</a:t>
                      </a:r>
                      <a:endParaRPr lang="en-US" sz="100" dirty="0">
                        <a:solidFill>
                          <a:schemeClr val="bg1"/>
                        </a:solidFill>
                        <a:latin typeface="Arial (Body)"/>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Ambitious</a:t>
                      </a:r>
                      <a:endParaRPr lang="en-US" sz="2000" b="1" dirty="0">
                        <a:latin typeface="Arial (Body)"/>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Less Ambitious</a:t>
                      </a:r>
                      <a:endParaRPr lang="en-US" sz="2000" b="1" dirty="0">
                        <a:latin typeface="Arial (Body)"/>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5468757"/>
                  </a:ext>
                </a:extLst>
              </a:tr>
              <a:tr h="370840">
                <a:tc>
                  <a:txBody>
                    <a:bodyPr/>
                    <a:lstStyle/>
                    <a:p>
                      <a:r>
                        <a:rPr lang="en-US" sz="2000" dirty="0"/>
                        <a:t>High-income</a:t>
                      </a:r>
                      <a:endParaRPr lang="en-US" sz="2000" dirty="0">
                        <a:latin typeface="Arial (Body)"/>
                      </a:endParaRPr>
                    </a:p>
                  </a:txBody>
                  <a:tcPr>
                    <a:lnT w="12700" cap="flat" cmpd="sng" algn="ctr">
                      <a:solidFill>
                        <a:schemeClr val="tx1"/>
                      </a:solidFill>
                      <a:prstDash val="solid"/>
                      <a:round/>
                      <a:headEnd type="none" w="med" len="med"/>
                      <a:tailEnd type="none" w="med" len="med"/>
                    </a:lnT>
                  </a:tcPr>
                </a:tc>
                <a:tc>
                  <a:txBody>
                    <a:bodyPr/>
                    <a:lstStyle/>
                    <a:p>
                      <a:pPr algn="ctr"/>
                      <a:r>
                        <a:rPr lang="en-US" sz="2000" dirty="0"/>
                        <a:t> 0.20</a:t>
                      </a:r>
                      <a:endParaRPr lang="en-US" sz="2000" dirty="0">
                        <a:latin typeface="Arial (Body)"/>
                      </a:endParaRPr>
                    </a:p>
                  </a:txBody>
                  <a:tcPr>
                    <a:lnT w="12700" cap="flat" cmpd="sng" algn="ctr">
                      <a:solidFill>
                        <a:schemeClr val="tx1"/>
                      </a:solidFill>
                      <a:prstDash val="solid"/>
                      <a:round/>
                      <a:headEnd type="none" w="med" len="med"/>
                      <a:tailEnd type="none" w="med" len="med"/>
                    </a:lnT>
                  </a:tcPr>
                </a:tc>
                <a:tc>
                  <a:txBody>
                    <a:bodyPr/>
                    <a:lstStyle/>
                    <a:p>
                      <a:pPr algn="ctr"/>
                      <a:r>
                        <a:rPr lang="en-US" sz="2000" dirty="0"/>
                        <a:t> 0.05</a:t>
                      </a:r>
                      <a:endParaRPr lang="en-US" sz="2000" dirty="0">
                        <a:latin typeface="Arial (Body)"/>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8920343"/>
                  </a:ext>
                </a:extLst>
              </a:tr>
              <a:tr h="370840">
                <a:tc>
                  <a:txBody>
                    <a:bodyPr/>
                    <a:lstStyle/>
                    <a:p>
                      <a:r>
                        <a:rPr lang="en-US" sz="2000" dirty="0"/>
                        <a:t>Middle-income</a:t>
                      </a:r>
                      <a:endParaRPr lang="en-US" sz="2000" dirty="0">
                        <a:latin typeface="Arial (Body)"/>
                      </a:endParaRPr>
                    </a:p>
                  </a:txBody>
                  <a:tcPr/>
                </a:tc>
                <a:tc>
                  <a:txBody>
                    <a:bodyPr/>
                    <a:lstStyle/>
                    <a:p>
                      <a:pPr algn="ctr"/>
                      <a:r>
                        <a:rPr lang="en-US" sz="2000" dirty="0"/>
                        <a:t> 0.10</a:t>
                      </a:r>
                      <a:endParaRPr lang="en-US" sz="2000" dirty="0">
                        <a:latin typeface="Arial (Body)"/>
                      </a:endParaRPr>
                    </a:p>
                  </a:txBody>
                  <a:tcPr/>
                </a:tc>
                <a:tc>
                  <a:txBody>
                    <a:bodyPr/>
                    <a:lstStyle/>
                    <a:p>
                      <a:pPr algn="ctr"/>
                      <a:r>
                        <a:rPr lang="en-US" sz="2000" dirty="0"/>
                        <a:t> 0.00</a:t>
                      </a:r>
                      <a:endParaRPr lang="en-US" sz="2000" dirty="0">
                        <a:latin typeface="Arial (Body)"/>
                      </a:endParaRPr>
                    </a:p>
                  </a:txBody>
                  <a:tcPr/>
                </a:tc>
                <a:extLst>
                  <a:ext uri="{0D108BD9-81ED-4DB2-BD59-A6C34878D82A}">
                    <a16:rowId xmlns:a16="http://schemas.microsoft.com/office/drawing/2014/main" val="643390521"/>
                  </a:ext>
                </a:extLst>
              </a:tr>
              <a:tr h="370840">
                <a:tc>
                  <a:txBody>
                    <a:bodyPr/>
                    <a:lstStyle/>
                    <a:p>
                      <a:r>
                        <a:rPr lang="en-US" sz="2000" dirty="0"/>
                        <a:t>China</a:t>
                      </a:r>
                      <a:endParaRPr lang="en-US" sz="2000" dirty="0">
                        <a:latin typeface="Arial (Body)"/>
                      </a:endParaRPr>
                    </a:p>
                  </a:txBody>
                  <a:tcPr/>
                </a:tc>
                <a:tc>
                  <a:txBody>
                    <a:bodyPr/>
                    <a:lstStyle/>
                    <a:p>
                      <a:pPr algn="ctr"/>
                      <a:r>
                        <a:rPr lang="en-US" sz="100" b="0" i="0" u="none" strike="noStrike" cap="none" dirty="0">
                          <a:solidFill>
                            <a:schemeClr val="tx1"/>
                          </a:solidFill>
                          <a:effectLst/>
                          <a:latin typeface="+mn-lt"/>
                          <a:ea typeface="+mn-ea"/>
                          <a:cs typeface="+mn-cs"/>
                          <a:sym typeface="Arial"/>
                        </a:rPr>
                        <a:t>negative 0.02</a:t>
                      </a:r>
                      <a:endParaRPr lang="en-US" sz="100" dirty="0">
                        <a:latin typeface="Arial (Body)"/>
                      </a:endParaRPr>
                    </a:p>
                  </a:txBody>
                  <a:tcPr anchor="ctr"/>
                </a:tc>
                <a:tc>
                  <a:txBody>
                    <a:bodyPr/>
                    <a:lstStyle/>
                    <a:p>
                      <a:pPr algn="ctr"/>
                      <a:r>
                        <a:rPr lang="en-US" sz="100" b="0" i="0" u="none" strike="noStrike" cap="none" dirty="0">
                          <a:solidFill>
                            <a:schemeClr val="tx1"/>
                          </a:solidFill>
                          <a:effectLst/>
                          <a:latin typeface="+mn-lt"/>
                          <a:ea typeface="+mn-ea"/>
                          <a:cs typeface="+mn-cs"/>
                          <a:sym typeface="Arial"/>
                        </a:rPr>
                        <a:t>negative 0.05</a:t>
                      </a:r>
                      <a:endParaRPr lang="en-US" sz="100" dirty="0">
                        <a:latin typeface="Arial (Body)"/>
                      </a:endParaRPr>
                    </a:p>
                  </a:txBody>
                  <a:tcPr anchor="ctr"/>
                </a:tc>
                <a:extLst>
                  <a:ext uri="{0D108BD9-81ED-4DB2-BD59-A6C34878D82A}">
                    <a16:rowId xmlns:a16="http://schemas.microsoft.com/office/drawing/2014/main" val="3442038596"/>
                  </a:ext>
                </a:extLst>
              </a:tr>
              <a:tr h="370840">
                <a:tc>
                  <a:txBody>
                    <a:bodyPr/>
                    <a:lstStyle/>
                    <a:p>
                      <a:r>
                        <a:rPr lang="en-US" sz="2000" dirty="0"/>
                        <a:t>Low-income</a:t>
                      </a:r>
                      <a:endParaRPr lang="en-US" sz="2000" dirty="0">
                        <a:latin typeface="Arial (Body)"/>
                      </a:endParaRPr>
                    </a:p>
                  </a:txBody>
                  <a:tcPr/>
                </a:tc>
                <a:tc>
                  <a:txBody>
                    <a:bodyPr/>
                    <a:lstStyle/>
                    <a:p>
                      <a:pPr algn="ctr"/>
                      <a:r>
                        <a:rPr lang="en-US" sz="2000" dirty="0"/>
                        <a:t> 0.05</a:t>
                      </a:r>
                      <a:endParaRPr lang="en-US" sz="2000" dirty="0">
                        <a:latin typeface="Arial (Body)"/>
                      </a:endParaRPr>
                    </a:p>
                  </a:txBody>
                  <a:tcPr/>
                </a:tc>
                <a:tc>
                  <a:txBody>
                    <a:bodyPr/>
                    <a:lstStyle/>
                    <a:p>
                      <a:pPr algn="ctr"/>
                      <a:r>
                        <a:rPr lang="en-US" sz="2000" dirty="0"/>
                        <a:t> 0.01</a:t>
                      </a:r>
                      <a:endParaRPr lang="en-US" sz="2000" dirty="0">
                        <a:latin typeface="Arial (Body)"/>
                      </a:endParaRPr>
                    </a:p>
                  </a:txBody>
                  <a:tcPr/>
                </a:tc>
                <a:extLst>
                  <a:ext uri="{0D108BD9-81ED-4DB2-BD59-A6C34878D82A}">
                    <a16:rowId xmlns:a16="http://schemas.microsoft.com/office/drawing/2014/main" val="2676611327"/>
                  </a:ext>
                </a:extLst>
              </a:tr>
              <a:tr h="370840">
                <a:tc>
                  <a:txBody>
                    <a:bodyPr/>
                    <a:lstStyle/>
                    <a:p>
                      <a:r>
                        <a:rPr lang="en-US" sz="2000" dirty="0"/>
                        <a:t>World</a:t>
                      </a:r>
                      <a:endParaRPr lang="en-US" sz="2000" dirty="0">
                        <a:latin typeface="Arial (Body)"/>
                      </a:endParaRPr>
                    </a:p>
                  </a:txBody>
                  <a:tcPr>
                    <a:lnB w="12700" cap="flat" cmpd="sng" algn="ctr">
                      <a:solidFill>
                        <a:schemeClr val="tx1"/>
                      </a:solidFill>
                      <a:prstDash val="solid"/>
                      <a:round/>
                      <a:headEnd type="none" w="med" len="med"/>
                      <a:tailEnd type="none" w="med" len="med"/>
                    </a:lnB>
                  </a:tcPr>
                </a:tc>
                <a:tc>
                  <a:txBody>
                    <a:bodyPr/>
                    <a:lstStyle/>
                    <a:p>
                      <a:pPr algn="ctr"/>
                      <a:r>
                        <a:rPr lang="en-US" sz="2000" dirty="0"/>
                        <a:t> 0.18</a:t>
                      </a:r>
                      <a:endParaRPr lang="en-US" sz="2000" dirty="0">
                        <a:latin typeface="Arial (Body)"/>
                      </a:endParaRPr>
                    </a:p>
                  </a:txBody>
                  <a:tcPr>
                    <a:lnB w="12700" cap="flat" cmpd="sng" algn="ctr">
                      <a:solidFill>
                        <a:schemeClr val="tx1"/>
                      </a:solidFill>
                      <a:prstDash val="solid"/>
                      <a:round/>
                      <a:headEnd type="none" w="med" len="med"/>
                      <a:tailEnd type="none" w="med" len="med"/>
                    </a:lnB>
                  </a:tcPr>
                </a:tc>
                <a:tc>
                  <a:txBody>
                    <a:bodyPr/>
                    <a:lstStyle/>
                    <a:p>
                      <a:pPr algn="ctr"/>
                      <a:r>
                        <a:rPr lang="en-US" sz="2000" dirty="0"/>
                        <a:t> 0.04</a:t>
                      </a:r>
                      <a:endParaRPr lang="en-US" sz="2000" dirty="0">
                        <a:latin typeface="Arial (Body)"/>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8208458"/>
                  </a:ext>
                </a:extLst>
              </a:tr>
            </a:tbl>
          </a:graphicData>
        </a:graphic>
      </p:graphicFrame>
      <p:graphicFrame>
        <p:nvGraphicFramePr>
          <p:cNvPr id="4" name="Object 3">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35123671"/>
              </p:ext>
            </p:extLst>
          </p:nvPr>
        </p:nvGraphicFramePr>
        <p:xfrm>
          <a:off x="4194127" y="3393776"/>
          <a:ext cx="695419" cy="286349"/>
        </p:xfrm>
        <a:graphic>
          <a:graphicData uri="http://schemas.openxmlformats.org/presentationml/2006/ole">
            <mc:AlternateContent xmlns:mc="http://schemas.openxmlformats.org/markup-compatibility/2006">
              <mc:Choice xmlns:v="urn:schemas-microsoft-com:vml" Requires="v">
                <p:oleObj spid="_x0000_s5124" name="Equation" r:id="rId3" imgW="431640" imgH="177480" progId="Equation.DSMT4">
                  <p:embed/>
                </p:oleObj>
              </mc:Choice>
              <mc:Fallback>
                <p:oleObj name="Equation" r:id="rId3" imgW="431640" imgH="177480" progId="Equation.DSMT4">
                  <p:embed/>
                  <p:pic>
                    <p:nvPicPr>
                      <p:cNvPr id="0" name=""/>
                      <p:cNvPicPr/>
                      <p:nvPr/>
                    </p:nvPicPr>
                    <p:blipFill>
                      <a:blip r:embed="rId4"/>
                      <a:stretch>
                        <a:fillRect/>
                      </a:stretch>
                    </p:blipFill>
                    <p:spPr>
                      <a:xfrm>
                        <a:off x="4194127" y="3393776"/>
                        <a:ext cx="695419" cy="286349"/>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71724541"/>
              </p:ext>
            </p:extLst>
          </p:nvPr>
        </p:nvGraphicFramePr>
        <p:xfrm>
          <a:off x="6301537" y="3393776"/>
          <a:ext cx="695419" cy="286349"/>
        </p:xfrm>
        <a:graphic>
          <a:graphicData uri="http://schemas.openxmlformats.org/presentationml/2006/ole">
            <mc:AlternateContent xmlns:mc="http://schemas.openxmlformats.org/markup-compatibility/2006">
              <mc:Choice xmlns:v="urn:schemas-microsoft-com:vml" Requires="v">
                <p:oleObj spid="_x0000_s5125" name="Equation" r:id="rId5" imgW="431640" imgH="177480" progId="Equation.DSMT4">
                  <p:embed/>
                </p:oleObj>
              </mc:Choice>
              <mc:Fallback>
                <p:oleObj name="Equation" r:id="rId5" imgW="431640" imgH="177480" progId="Equation.DSMT4">
                  <p:embed/>
                  <p:pic>
                    <p:nvPicPr>
                      <p:cNvPr id="0" name=""/>
                      <p:cNvPicPr/>
                      <p:nvPr/>
                    </p:nvPicPr>
                    <p:blipFill>
                      <a:blip r:embed="rId6"/>
                      <a:stretch>
                        <a:fillRect/>
                      </a:stretch>
                    </p:blipFill>
                    <p:spPr>
                      <a:xfrm>
                        <a:off x="6301537" y="3393776"/>
                        <a:ext cx="695419" cy="286349"/>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0873271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Preferential Trading Agreements </a:t>
            </a:r>
            <a:r>
              <a:rPr lang="en-US" altLang="en-US" sz="2000" b="0" dirty="0">
                <a:ea typeface="ヒラギノ角ゴ Pro W3" pitchFamily="-84" charset="-128"/>
              </a:rPr>
              <a:t>(1 of 5)</a:t>
            </a:r>
            <a:endParaRPr lang="en-US" dirty="0"/>
          </a:p>
        </p:txBody>
      </p:sp>
      <p:sp>
        <p:nvSpPr>
          <p:cNvPr id="5" name="Content Placeholder 4"/>
          <p:cNvSpPr>
            <a:spLocks noGrp="1"/>
          </p:cNvSpPr>
          <p:nvPr>
            <p:ph sz="quarter" idx="13"/>
          </p:nvPr>
        </p:nvSpPr>
        <p:spPr/>
        <p:txBody>
          <a:bodyPr/>
          <a:lstStyle/>
          <a:p>
            <a:pPr eaLnBrk="1" hangingPunct="1"/>
            <a:r>
              <a:rPr lang="en-US" altLang="en-US" dirty="0">
                <a:latin typeface="Arial (Body)"/>
                <a:ea typeface="ヒラギノ角ゴ Pro W3" pitchFamily="-84" charset="-128"/>
              </a:rPr>
              <a:t>Preferential trading agreements are trade agreements between countries in which they lower tariffs for each other but not for the rest of the world.</a:t>
            </a:r>
          </a:p>
          <a:p>
            <a:pPr eaLnBrk="1" hangingPunct="1"/>
            <a:r>
              <a:rPr lang="en-US" altLang="en-US" dirty="0">
                <a:latin typeface="Arial (Body)"/>
                <a:ea typeface="ヒラギノ角ゴ Pro W3" pitchFamily="-84" charset="-128"/>
              </a:rPr>
              <a:t>Under the W</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O, such discriminatory trade policies are generally not allowed:</a:t>
            </a:r>
          </a:p>
          <a:p>
            <a:pPr lvl="1" eaLnBrk="1" hangingPunct="1"/>
            <a:r>
              <a:rPr lang="en-US" altLang="en-US" dirty="0">
                <a:latin typeface="Arial (Body)"/>
                <a:ea typeface="ヒラギノ角ゴ Pro W3" pitchFamily="-84" charset="-128"/>
              </a:rPr>
              <a:t>Each country in the W</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O promises that all countries will pay tariffs no higher than the nation that pays the lowest: called the </a:t>
            </a:r>
            <a:r>
              <a:rPr lang="en-US" altLang="ja-JP" dirty="0">
                <a:latin typeface="Arial (Body)"/>
                <a:ea typeface="ヒラギノ角ゴ Pro W3" pitchFamily="-84" charset="-128"/>
              </a:rPr>
              <a:t>“most favored nation” (M</a:t>
            </a:r>
            <a:r>
              <a:rPr lang="en-US" altLang="ja-JP" sz="100" dirty="0">
                <a:latin typeface="Arial (Body)"/>
                <a:ea typeface="ヒラギノ角ゴ Pro W3" pitchFamily="-84" charset="-128"/>
              </a:rPr>
              <a:t> </a:t>
            </a:r>
            <a:r>
              <a:rPr lang="en-US" altLang="ja-JP" dirty="0">
                <a:latin typeface="Arial (Body)"/>
                <a:ea typeface="ヒラギノ角ゴ Pro W3" pitchFamily="-84" charset="-128"/>
              </a:rPr>
              <a:t>F</a:t>
            </a:r>
            <a:r>
              <a:rPr lang="en-US" altLang="ja-JP" sz="100" dirty="0">
                <a:latin typeface="Arial (Body)"/>
                <a:ea typeface="ヒラギノ角ゴ Pro W3" pitchFamily="-84" charset="-128"/>
              </a:rPr>
              <a:t> </a:t>
            </a:r>
            <a:r>
              <a:rPr lang="en-US" altLang="ja-JP" dirty="0">
                <a:latin typeface="Arial (Body)"/>
                <a:ea typeface="ヒラギノ角ゴ Pro W3" pitchFamily="-84" charset="-128"/>
              </a:rPr>
              <a:t>N) principle.</a:t>
            </a:r>
          </a:p>
          <a:p>
            <a:pPr lvl="1" eaLnBrk="1" hangingPunct="1"/>
            <a:r>
              <a:rPr lang="en-US" altLang="en-US" dirty="0">
                <a:latin typeface="Arial (Body)"/>
                <a:ea typeface="ヒラギノ角ゴ Pro W3" pitchFamily="-84" charset="-128"/>
              </a:rPr>
              <a:t>An exception is allowed only if the lowest tariff rate is set at zero.</a:t>
            </a:r>
          </a:p>
        </p:txBody>
      </p:sp>
    </p:spTree>
    <p:extLst>
      <p:ext uri="{BB962C8B-B14F-4D97-AF65-F5344CB8AC3E}">
        <p14:creationId xmlns:p14="http://schemas.microsoft.com/office/powerpoint/2010/main" val="24044161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Preferential Trading Agreements </a:t>
            </a:r>
            <a:r>
              <a:rPr lang="en-US" altLang="en-US" sz="2000" b="0" dirty="0">
                <a:ea typeface="ヒラギノ角ゴ Pro W3" pitchFamily="-84" charset="-128"/>
              </a:rPr>
              <a:t>(2 of 5)</a:t>
            </a:r>
            <a:endParaRPr lang="en-US" dirty="0"/>
          </a:p>
        </p:txBody>
      </p:sp>
      <p:sp>
        <p:nvSpPr>
          <p:cNvPr id="3" name="Content Placeholder 2"/>
          <p:cNvSpPr>
            <a:spLocks noGrp="1"/>
          </p:cNvSpPr>
          <p:nvPr>
            <p:ph sz="quarter" idx="13"/>
          </p:nvPr>
        </p:nvSpPr>
        <p:spPr>
          <a:xfrm>
            <a:off x="457200" y="1556327"/>
            <a:ext cx="8229600" cy="882073"/>
          </a:xfrm>
        </p:spPr>
        <p:txBody>
          <a:bodyPr/>
          <a:lstStyle/>
          <a:p>
            <a:pPr marL="255600"/>
            <a:r>
              <a:rPr lang="en-US" altLang="en-US" dirty="0">
                <a:latin typeface="Arial (Body)"/>
                <a:ea typeface="ヒラギノ角ゴ Pro W3" pitchFamily="-84" charset="-128"/>
              </a:rPr>
              <a:t>There are two types of preferential trading agreements in which tariff rates are set at or near zero:</a:t>
            </a:r>
          </a:p>
        </p:txBody>
      </p:sp>
      <p:sp>
        <p:nvSpPr>
          <p:cNvPr id="4" name="Content Placeholder 3"/>
          <p:cNvSpPr>
            <a:spLocks noGrp="1"/>
          </p:cNvSpPr>
          <p:nvPr>
            <p:ph sz="quarter" idx="14"/>
          </p:nvPr>
        </p:nvSpPr>
        <p:spPr>
          <a:xfrm>
            <a:off x="457200" y="2505207"/>
            <a:ext cx="8229600" cy="2555308"/>
          </a:xfrm>
        </p:spPr>
        <p:txBody>
          <a:bodyPr/>
          <a:lstStyle/>
          <a:p>
            <a:pPr marL="432000" indent="-432000" eaLnBrk="1" hangingPunct="1">
              <a:buFont typeface="Times" pitchFamily="-84" charset="0"/>
              <a:buAutoNum type="arabicPeriod"/>
            </a:pPr>
            <a:r>
              <a:rPr lang="en-US" altLang="en-US" dirty="0">
                <a:latin typeface="Arial (Body)"/>
                <a:ea typeface="ヒラギノ角ゴ Pro W3" pitchFamily="-84" charset="-128"/>
              </a:rPr>
              <a:t>A </a:t>
            </a:r>
            <a:r>
              <a:rPr lang="en-US" altLang="en-US" b="1" dirty="0">
                <a:latin typeface="Arial (Body)"/>
                <a:ea typeface="ヒラギノ角ゴ Pro W3" pitchFamily="-84" charset="-128"/>
              </a:rPr>
              <a:t>free trade area</a:t>
            </a:r>
            <a:r>
              <a:rPr lang="en-US" altLang="en-US" dirty="0">
                <a:latin typeface="Arial (Body)"/>
                <a:ea typeface="ヒラギノ角ゴ Pro W3" pitchFamily="-84" charset="-128"/>
              </a:rPr>
              <a:t>: an agreement that allows free trade among members, but each member can have its own trade policy towards non-member countries.</a:t>
            </a:r>
          </a:p>
          <a:p>
            <a:pPr marL="741600" lvl="1"/>
            <a:r>
              <a:rPr lang="en-US" altLang="en-US" dirty="0">
                <a:latin typeface="Arial (Body)"/>
                <a:ea typeface="ヒラギノ角ゴ Pro W3" pitchFamily="-84" charset="-128"/>
              </a:rPr>
              <a:t>An example is the North America Free Trade Agreement (N</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A</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F</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A), now the U.S.-Mexico-Canada Agreement (U</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S</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M</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C</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A).</a:t>
            </a:r>
          </a:p>
        </p:txBody>
      </p:sp>
    </p:spTree>
    <p:extLst>
      <p:ext uri="{BB962C8B-B14F-4D97-AF65-F5344CB8AC3E}">
        <p14:creationId xmlns:p14="http://schemas.microsoft.com/office/powerpoint/2010/main" val="38907781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Preferential Trading Agreements </a:t>
            </a:r>
            <a:r>
              <a:rPr lang="en-US" altLang="en-US" sz="2000" b="0" dirty="0">
                <a:ea typeface="ヒラギノ角ゴ Pro W3" pitchFamily="-84" charset="-128"/>
              </a:rPr>
              <a:t>(3 of 5)</a:t>
            </a:r>
            <a:endParaRPr lang="en-US" dirty="0"/>
          </a:p>
        </p:txBody>
      </p:sp>
      <p:sp>
        <p:nvSpPr>
          <p:cNvPr id="3" name="Content Placeholder 2"/>
          <p:cNvSpPr>
            <a:spLocks noGrp="1"/>
          </p:cNvSpPr>
          <p:nvPr>
            <p:ph sz="quarter" idx="13"/>
          </p:nvPr>
        </p:nvSpPr>
        <p:spPr>
          <a:xfrm>
            <a:off x="457200" y="1556327"/>
            <a:ext cx="8229600" cy="2978095"/>
          </a:xfrm>
        </p:spPr>
        <p:txBody>
          <a:bodyPr/>
          <a:lstStyle/>
          <a:p>
            <a:pPr marL="432000" indent="-432000" eaLnBrk="1" hangingPunct="1">
              <a:buFont typeface="Times" pitchFamily="-84" charset="0"/>
              <a:buAutoNum type="arabicPeriod" startAt="2"/>
            </a:pPr>
            <a:r>
              <a:rPr lang="en-US" altLang="en-US" dirty="0">
                <a:latin typeface="Arial (Body)"/>
                <a:ea typeface="ヒラギノ角ゴ Pro W3" pitchFamily="-84" charset="-128"/>
              </a:rPr>
              <a:t>A </a:t>
            </a:r>
            <a:r>
              <a:rPr lang="en-US" altLang="en-US" b="1" dirty="0">
                <a:latin typeface="Arial (Body)"/>
                <a:ea typeface="ヒラギノ角ゴ Pro W3" pitchFamily="-84" charset="-128"/>
              </a:rPr>
              <a:t>customs union</a:t>
            </a:r>
            <a:r>
              <a:rPr lang="en-US" altLang="en-US" dirty="0">
                <a:latin typeface="Arial (Body)"/>
                <a:ea typeface="ヒラギノ角ゴ Pro W3" pitchFamily="-84" charset="-128"/>
              </a:rPr>
              <a:t>: an agreement that allows free trade among members and requires a common external trade policy towards non-member countries.</a:t>
            </a:r>
          </a:p>
          <a:p>
            <a:pPr marL="741600" lvl="1"/>
            <a:r>
              <a:rPr lang="en-US" altLang="en-US" dirty="0">
                <a:latin typeface="Arial (Body)"/>
                <a:ea typeface="ヒラギノ角ゴ Pro W3" pitchFamily="-84" charset="-128"/>
              </a:rPr>
              <a:t>An example is the European Union.</a:t>
            </a:r>
          </a:p>
        </p:txBody>
      </p:sp>
    </p:spTree>
    <p:extLst>
      <p:ext uri="{BB962C8B-B14F-4D97-AF65-F5344CB8AC3E}">
        <p14:creationId xmlns:p14="http://schemas.microsoft.com/office/powerpoint/2010/main" val="19422939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Preferential Trading Agreements </a:t>
            </a:r>
            <a:r>
              <a:rPr lang="en-US" altLang="en-US" sz="2000" b="0" dirty="0">
                <a:ea typeface="ヒラギノ角ゴ Pro W3" pitchFamily="-84" charset="-128"/>
              </a:rPr>
              <a:t>(4 of 5)</a:t>
            </a:r>
            <a:endParaRPr lang="en-US" dirty="0"/>
          </a:p>
        </p:txBody>
      </p:sp>
      <p:sp>
        <p:nvSpPr>
          <p:cNvPr id="3" name="Content Placeholder 2"/>
          <p:cNvSpPr>
            <a:spLocks noGrp="1"/>
          </p:cNvSpPr>
          <p:nvPr>
            <p:ph sz="quarter" idx="13"/>
          </p:nvPr>
        </p:nvSpPr>
        <p:spPr>
          <a:xfrm>
            <a:off x="457200" y="1556327"/>
            <a:ext cx="8296275" cy="4586896"/>
          </a:xfrm>
        </p:spPr>
        <p:txBody>
          <a:bodyPr/>
          <a:lstStyle/>
          <a:p>
            <a:pPr eaLnBrk="1" hangingPunct="1"/>
            <a:r>
              <a:rPr lang="en-US" altLang="en-US" dirty="0">
                <a:latin typeface="Arial (Body)"/>
                <a:ea typeface="ヒラギノ角ゴ Pro W3" pitchFamily="-84" charset="-128"/>
              </a:rPr>
              <a:t>Are preferential trading agreements necessarily good for national welfare?</a:t>
            </a:r>
          </a:p>
          <a:p>
            <a:pPr eaLnBrk="1" hangingPunct="1"/>
            <a:r>
              <a:rPr lang="en-US" altLang="en-US" dirty="0">
                <a:latin typeface="Arial (Body)"/>
                <a:ea typeface="ヒラギノ角ゴ Pro W3" pitchFamily="-84" charset="-128"/>
              </a:rPr>
              <a:t>No, it is possible that national welfare decreases under a preferential trading agreement.</a:t>
            </a:r>
          </a:p>
          <a:p>
            <a:pPr eaLnBrk="1" hangingPunct="1"/>
            <a:r>
              <a:rPr lang="en-US" altLang="en-US" dirty="0">
                <a:latin typeface="Arial (Body)"/>
                <a:ea typeface="ヒラギノ角ゴ Pro W3" pitchFamily="-84" charset="-128"/>
              </a:rPr>
              <a:t>How? Rather than gaining tariff revenue from inexpensive imports from world markets, a country may import expensive products from member countries but not gain any tariff revenue.</a:t>
            </a:r>
          </a:p>
        </p:txBody>
      </p:sp>
    </p:spTree>
    <p:extLst>
      <p:ext uri="{BB962C8B-B14F-4D97-AF65-F5344CB8AC3E}">
        <p14:creationId xmlns:p14="http://schemas.microsoft.com/office/powerpoint/2010/main" val="4269296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Preferential Trading Agreements </a:t>
            </a:r>
            <a:r>
              <a:rPr lang="en-US" altLang="en-US" sz="2000" b="0" dirty="0">
                <a:ea typeface="ヒラギノ角ゴ Pro W3" pitchFamily="-84" charset="-128"/>
              </a:rPr>
              <a:t>(5 of 5)</a:t>
            </a:r>
            <a:endParaRPr lang="en-US" dirty="0"/>
          </a:p>
        </p:txBody>
      </p:sp>
      <p:sp>
        <p:nvSpPr>
          <p:cNvPr id="3" name="Content Placeholder 2"/>
          <p:cNvSpPr>
            <a:spLocks noGrp="1"/>
          </p:cNvSpPr>
          <p:nvPr>
            <p:ph sz="quarter" idx="13"/>
          </p:nvPr>
        </p:nvSpPr>
        <p:spPr>
          <a:xfrm>
            <a:off x="457200" y="1556326"/>
            <a:ext cx="8210811" cy="4788912"/>
          </a:xfrm>
        </p:spPr>
        <p:txBody>
          <a:bodyPr/>
          <a:lstStyle/>
          <a:p>
            <a:pPr eaLnBrk="1" hangingPunct="1"/>
            <a:r>
              <a:rPr lang="en-US" altLang="en-US" dirty="0">
                <a:latin typeface="Arial (Body)"/>
                <a:ea typeface="ヒラギノ角ゴ Pro W3" pitchFamily="-84" charset="-128"/>
              </a:rPr>
              <a:t>Preferential trading agreements increase national welfare when new trade is created, but not when existing trade from the outside world is diverted to trade with member countries.</a:t>
            </a:r>
          </a:p>
          <a:p>
            <a:pPr eaLnBrk="1" hangingPunct="1">
              <a:spcBef>
                <a:spcPct val="50000"/>
              </a:spcBef>
            </a:pPr>
            <a:r>
              <a:rPr lang="en-US" altLang="en-US" dirty="0">
                <a:latin typeface="Arial (Body)"/>
                <a:ea typeface="ヒラギノ角ゴ Pro W3" pitchFamily="-84" charset="-128"/>
              </a:rPr>
              <a:t>Trade creation</a:t>
            </a:r>
          </a:p>
          <a:p>
            <a:pPr lvl="1" eaLnBrk="1" hangingPunct="1"/>
            <a:r>
              <a:rPr lang="en-US" altLang="en-US" dirty="0">
                <a:latin typeface="Arial (Body)"/>
                <a:ea typeface="ヒラギノ角ゴ Pro W3" pitchFamily="-84" charset="-128"/>
              </a:rPr>
              <a:t>occurs when high-cost domestic production is replaced by </a:t>
            </a:r>
            <a:r>
              <a:rPr lang="en-US" altLang="en-US" b="1" dirty="0">
                <a:latin typeface="Arial (Body)"/>
                <a:ea typeface="ヒラギノ角ゴ Pro W3" pitchFamily="-84" charset="-128"/>
              </a:rPr>
              <a:t>low-cost imports from other members.</a:t>
            </a:r>
          </a:p>
          <a:p>
            <a:pPr eaLnBrk="1" hangingPunct="1">
              <a:spcBef>
                <a:spcPct val="50000"/>
              </a:spcBef>
            </a:pPr>
            <a:r>
              <a:rPr lang="en-US" altLang="en-US" dirty="0">
                <a:latin typeface="Arial (Body)"/>
                <a:ea typeface="ヒラギノ角ゴ Pro W3" pitchFamily="-84" charset="-128"/>
              </a:rPr>
              <a:t>Trade diversion</a:t>
            </a:r>
          </a:p>
          <a:p>
            <a:pPr lvl="1" eaLnBrk="1" hangingPunct="1"/>
            <a:r>
              <a:rPr lang="en-US" altLang="en-US" dirty="0">
                <a:latin typeface="Arial (Body)"/>
                <a:ea typeface="ヒラギノ角ゴ Pro W3" pitchFamily="-84" charset="-128"/>
              </a:rPr>
              <a:t>occurs when low-cost </a:t>
            </a:r>
            <a:r>
              <a:rPr lang="en-US" altLang="en-US" b="1" dirty="0">
                <a:latin typeface="Arial (Body)"/>
                <a:ea typeface="ヒラギノ角ゴ Pro W3" pitchFamily="-84" charset="-128"/>
              </a:rPr>
              <a:t>imports</a:t>
            </a:r>
            <a:r>
              <a:rPr lang="en-US" altLang="en-US" dirty="0">
                <a:latin typeface="Arial (Body)"/>
                <a:ea typeface="ヒラギノ角ゴ Pro W3" pitchFamily="-84" charset="-128"/>
              </a:rPr>
              <a:t> from non-members are diverted to </a:t>
            </a:r>
            <a:r>
              <a:rPr lang="en-US" altLang="en-US" b="1" dirty="0">
                <a:latin typeface="Arial (Body)"/>
                <a:ea typeface="ヒラギノ角ゴ Pro W3" pitchFamily="-84" charset="-128"/>
              </a:rPr>
              <a:t>high-cost imports from member nations.</a:t>
            </a:r>
          </a:p>
        </p:txBody>
      </p:sp>
    </p:spTree>
    <p:extLst>
      <p:ext uri="{BB962C8B-B14F-4D97-AF65-F5344CB8AC3E}">
        <p14:creationId xmlns:p14="http://schemas.microsoft.com/office/powerpoint/2010/main" val="17976844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Brexit</a:t>
            </a:r>
            <a:endParaRPr lang="en-US" sz="2000" dirty="0"/>
          </a:p>
        </p:txBody>
      </p:sp>
      <p:sp>
        <p:nvSpPr>
          <p:cNvPr id="3" name="Content Placeholder 2"/>
          <p:cNvSpPr>
            <a:spLocks noGrp="1"/>
          </p:cNvSpPr>
          <p:nvPr>
            <p:ph sz="quarter" idx="13"/>
          </p:nvPr>
        </p:nvSpPr>
        <p:spPr/>
        <p:txBody>
          <a:bodyPr/>
          <a:lstStyle/>
          <a:p>
            <a:pPr eaLnBrk="1" hangingPunct="1"/>
            <a:r>
              <a:rPr lang="en-US" altLang="en-US" sz="2200" dirty="0">
                <a:latin typeface="Arial (Body)"/>
                <a:ea typeface="ヒラギノ角ゴ Pro W3" pitchFamily="-84" charset="-128"/>
              </a:rPr>
              <a:t>In 2016, the European Union experienced a shock when Britain voted by a narrow majority to leave.</a:t>
            </a:r>
          </a:p>
          <a:p>
            <a:pPr eaLnBrk="1" hangingPunct="1">
              <a:spcBef>
                <a:spcPct val="50000"/>
              </a:spcBef>
            </a:pPr>
            <a:r>
              <a:rPr lang="en-US" altLang="en-US" sz="2200" dirty="0">
                <a:latin typeface="Arial (Body)"/>
                <a:ea typeface="ヒラギノ角ゴ Pro W3" pitchFamily="-84" charset="-128"/>
              </a:rPr>
              <a:t>Why exit? The decision was likely more about objections to standardized regulations and free movement of people among member countries than it was about free trade.</a:t>
            </a:r>
          </a:p>
          <a:p>
            <a:pPr lvl="1"/>
            <a:r>
              <a:rPr lang="en-US" altLang="en-US" sz="2200" dirty="0">
                <a:latin typeface="Arial (Body)"/>
                <a:ea typeface="ヒラギノ角ゴ Pro W3" pitchFamily="-84" charset="-128"/>
              </a:rPr>
              <a:t>New members from former Communist countries in Eastern Europe, such as Romania and Bulgaria, created a rising flow of immigrants to richer European nations.</a:t>
            </a:r>
          </a:p>
          <a:p>
            <a:pPr lvl="1"/>
            <a:r>
              <a:rPr lang="en-US" altLang="en-US" sz="2200" dirty="0">
                <a:latin typeface="Arial (Body)"/>
                <a:ea typeface="ヒラギノ角ゴ Pro W3" pitchFamily="-84" charset="-128"/>
              </a:rPr>
              <a:t>Concern that immigrants take jobs and overburden public services (ignoring potential benefits).</a:t>
            </a:r>
          </a:p>
          <a:p>
            <a:pPr lvl="1"/>
            <a:r>
              <a:rPr lang="en-US" altLang="en-US" sz="2200" dirty="0">
                <a:latin typeface="Arial (Body)"/>
                <a:ea typeface="ヒラギノ角ゴ Pro W3" pitchFamily="-84" charset="-128"/>
              </a:rPr>
              <a:t>Also fears that national identity is being undermined.</a:t>
            </a:r>
          </a:p>
        </p:txBody>
      </p:sp>
    </p:spTree>
    <p:extLst>
      <p:ext uri="{BB962C8B-B14F-4D97-AF65-F5344CB8AC3E}">
        <p14:creationId xmlns:p14="http://schemas.microsoft.com/office/powerpoint/2010/main" val="21332963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Trans Pacific Partnership (T</a:t>
            </a:r>
            <a:r>
              <a:rPr lang="en-US" altLang="en-US" sz="100" dirty="0">
                <a:ea typeface="ヒラギノ角ゴ Pro W3" pitchFamily="-84" charset="-128"/>
              </a:rPr>
              <a:t>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P)</a:t>
            </a:r>
            <a:endParaRPr lang="en-US" dirty="0"/>
          </a:p>
        </p:txBody>
      </p:sp>
      <p:sp>
        <p:nvSpPr>
          <p:cNvPr id="3" name="Content Placeholder 2"/>
          <p:cNvSpPr>
            <a:spLocks noGrp="1"/>
          </p:cNvSpPr>
          <p:nvPr>
            <p:ph sz="quarter" idx="13"/>
          </p:nvPr>
        </p:nvSpPr>
        <p:spPr>
          <a:xfrm>
            <a:off x="457200" y="1556326"/>
            <a:ext cx="8229600" cy="4788911"/>
          </a:xfrm>
        </p:spPr>
        <p:txBody>
          <a:bodyPr/>
          <a:lstStyle/>
          <a:p>
            <a:pPr eaLnBrk="1" hangingPunct="1"/>
            <a:r>
              <a:rPr lang="en-US" altLang="en-US" sz="2200" dirty="0">
                <a:latin typeface="Arial (Body)"/>
                <a:ea typeface="ヒラギノ角ゴ Pro W3" pitchFamily="-84" charset="-128"/>
              </a:rPr>
              <a:t>Negotiators from twelve countries around the Pacific Rim, including the united States but not China, agreed on a proposal for a new economic agreement called the trans Pacific Partnership (T</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P</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P) in 2016.</a:t>
            </a:r>
          </a:p>
          <a:p>
            <a:pPr eaLnBrk="1" hangingPunct="1"/>
            <a:r>
              <a:rPr lang="en-US" altLang="en-US" sz="2200"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P</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P not approved due to backlash against globalization.</a:t>
            </a:r>
          </a:p>
          <a:p>
            <a:pPr lvl="1"/>
            <a:r>
              <a:rPr lang="en-US" altLang="en-US" sz="2200" dirty="0">
                <a:latin typeface="Arial (Body)"/>
                <a:ea typeface="ヒラギノ角ゴ Pro W3" pitchFamily="-84" charset="-128"/>
              </a:rPr>
              <a:t>Conventional barriers to trade such as import quotas and tariffs were already largely eliminated so not much room for improvement there.</a:t>
            </a:r>
          </a:p>
          <a:p>
            <a:pPr lvl="1"/>
            <a:r>
              <a:rPr lang="en-US" altLang="en-US" sz="2200" dirty="0">
                <a:latin typeface="Arial (Body)"/>
                <a:ea typeface="ヒラギノ角ゴ Pro W3" pitchFamily="-84" charset="-128"/>
              </a:rPr>
              <a:t>Tried to strengthen intellectual property rights to better enforce patents and copyrights across borders, and to advance dispute settlement between private business and national governments.</a:t>
            </a:r>
          </a:p>
        </p:txBody>
      </p:sp>
    </p:spTree>
    <p:extLst>
      <p:ext uri="{BB962C8B-B14F-4D97-AF65-F5344CB8AC3E}">
        <p14:creationId xmlns:p14="http://schemas.microsoft.com/office/powerpoint/2010/main" val="25659554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(1 of 3)</a:t>
            </a:r>
            <a:endParaRPr lang="en-IN" dirty="0"/>
          </a:p>
        </p:txBody>
      </p:sp>
      <p:sp>
        <p:nvSpPr>
          <p:cNvPr id="4" name="Content Placeholder 3"/>
          <p:cNvSpPr>
            <a:spLocks noGrp="1"/>
          </p:cNvSpPr>
          <p:nvPr>
            <p:ph sz="quarter" idx="13"/>
          </p:nvPr>
        </p:nvSpPr>
        <p:spPr>
          <a:xfrm>
            <a:off x="457200" y="1552574"/>
            <a:ext cx="8229600" cy="514221"/>
          </a:xfrm>
        </p:spPr>
        <p:txBody>
          <a:bodyPr/>
          <a:lstStyle/>
          <a:p>
            <a:pPr marL="432000" indent="-432000" eaLnBrk="1" hangingPunct="1">
              <a:buFont typeface="Times" pitchFamily="-84" charset="0"/>
              <a:buAutoNum type="arabicPeriod"/>
            </a:pPr>
            <a:r>
              <a:rPr lang="en-US" altLang="en-US" dirty="0">
                <a:latin typeface="Arial (Body)"/>
                <a:ea typeface="ヒラギノ角ゴ Pro W3" pitchFamily="-84" charset="-128"/>
              </a:rPr>
              <a:t>The cases for free trade are that freer trade</a:t>
            </a:r>
          </a:p>
        </p:txBody>
      </p:sp>
      <p:sp>
        <p:nvSpPr>
          <p:cNvPr id="5" name="Content Placeholder 4"/>
          <p:cNvSpPr>
            <a:spLocks noGrp="1"/>
          </p:cNvSpPr>
          <p:nvPr>
            <p:ph sz="quarter" idx="14"/>
          </p:nvPr>
        </p:nvSpPr>
        <p:spPr>
          <a:xfrm>
            <a:off x="457200" y="2116564"/>
            <a:ext cx="8229600" cy="2042077"/>
          </a:xfrm>
        </p:spPr>
        <p:txBody>
          <a:bodyPr tIns="0"/>
          <a:lstStyle/>
          <a:p>
            <a:pPr marL="741600" lvl="1"/>
            <a:r>
              <a:rPr lang="en-US" altLang="en-US" dirty="0">
                <a:latin typeface="Arial (Body)"/>
                <a:ea typeface="ヒラギノ角ゴ Pro W3" pitchFamily="-84" charset="-128"/>
              </a:rPr>
              <a:t>allows consumers and producers to allocate their resources freely and efficiently, without </a:t>
            </a:r>
            <a:br>
              <a:rPr lang="en-US" altLang="en-US" dirty="0">
                <a:latin typeface="Arial (Body)"/>
                <a:ea typeface="ヒラギノ角ゴ Pro W3" pitchFamily="-84" charset="-128"/>
              </a:rPr>
            </a:br>
            <a:r>
              <a:rPr lang="en-US" altLang="en-US" dirty="0">
                <a:latin typeface="Arial (Body)"/>
                <a:ea typeface="ヒラギノ角ゴ Pro W3" pitchFamily="-84" charset="-128"/>
              </a:rPr>
              <a:t>price distortions.</a:t>
            </a:r>
          </a:p>
          <a:p>
            <a:pPr marL="741600" lvl="1"/>
            <a:r>
              <a:rPr lang="en-US" altLang="en-US" dirty="0">
                <a:latin typeface="Arial (Body)"/>
                <a:ea typeface="ヒラギノ角ゴ Pro W3" pitchFamily="-84" charset="-128"/>
              </a:rPr>
              <a:t>may allow for economies of scale.</a:t>
            </a:r>
          </a:p>
          <a:p>
            <a:pPr marL="741600" lvl="1"/>
            <a:r>
              <a:rPr lang="en-US" altLang="en-US" dirty="0">
                <a:latin typeface="Arial (Body)"/>
                <a:ea typeface="ヒラギノ角ゴ Pro W3" pitchFamily="-84" charset="-128"/>
              </a:rPr>
              <a:t>increases competition and innovation.</a:t>
            </a:r>
          </a:p>
        </p:txBody>
      </p:sp>
      <p:sp>
        <p:nvSpPr>
          <p:cNvPr id="6" name="Content Placeholder 5"/>
          <p:cNvSpPr>
            <a:spLocks noGrp="1"/>
          </p:cNvSpPr>
          <p:nvPr>
            <p:ph sz="quarter" idx="15"/>
          </p:nvPr>
        </p:nvSpPr>
        <p:spPr>
          <a:xfrm>
            <a:off x="457200" y="4208409"/>
            <a:ext cx="8229600" cy="801741"/>
          </a:xfrm>
        </p:spPr>
        <p:txBody>
          <a:bodyPr tIns="0"/>
          <a:lstStyle/>
          <a:p>
            <a:pPr marL="432000" indent="-432000" eaLnBrk="1" hangingPunct="1">
              <a:buFont typeface="+mj-lt"/>
              <a:buAutoNum type="arabicPeriod" startAt="2"/>
            </a:pPr>
            <a:r>
              <a:rPr lang="en-US" altLang="en-US" dirty="0">
                <a:latin typeface="Arial (Body)"/>
                <a:ea typeface="ヒラギノ角ゴ Pro W3" pitchFamily="-84" charset="-128"/>
              </a:rPr>
              <a:t>The cases against free trade are that trade restrictions may allow</a:t>
            </a:r>
          </a:p>
        </p:txBody>
      </p:sp>
      <p:sp>
        <p:nvSpPr>
          <p:cNvPr id="7" name="Content Placeholder 6"/>
          <p:cNvSpPr>
            <a:spLocks noGrp="1"/>
          </p:cNvSpPr>
          <p:nvPr>
            <p:ph sz="quarter" idx="16"/>
          </p:nvPr>
        </p:nvSpPr>
        <p:spPr>
          <a:xfrm>
            <a:off x="457200" y="5072444"/>
            <a:ext cx="8229600" cy="1265726"/>
          </a:xfrm>
        </p:spPr>
        <p:txBody>
          <a:bodyPr tIns="0"/>
          <a:lstStyle/>
          <a:p>
            <a:pPr marL="741600" lvl="1"/>
            <a:r>
              <a:rPr lang="en-US" altLang="en-US" dirty="0">
                <a:latin typeface="Arial (Body)"/>
                <a:ea typeface="ヒラギノ角ゴ Pro W3" pitchFamily="-84" charset="-128"/>
              </a:rPr>
              <a:t>terms of trade gains.</a:t>
            </a:r>
          </a:p>
          <a:p>
            <a:pPr marL="741600" lvl="1"/>
            <a:r>
              <a:rPr lang="en-US" altLang="en-US" dirty="0">
                <a:latin typeface="Arial (Body)"/>
                <a:ea typeface="ヒラギノ角ゴ Pro W3" pitchFamily="-84" charset="-128"/>
              </a:rPr>
              <a:t>a government to address a market failure when better policies are not feasible.</a:t>
            </a:r>
          </a:p>
        </p:txBody>
      </p:sp>
    </p:spTree>
    <p:extLst>
      <p:ext uri="{BB962C8B-B14F-4D97-AF65-F5344CB8AC3E}">
        <p14:creationId xmlns:p14="http://schemas.microsoft.com/office/powerpoint/2010/main" val="30251954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(2 of 3)</a:t>
            </a:r>
            <a:endParaRPr lang="en-US" dirty="0"/>
          </a:p>
        </p:txBody>
      </p:sp>
      <p:sp>
        <p:nvSpPr>
          <p:cNvPr id="3" name="Content Placeholder 2"/>
          <p:cNvSpPr>
            <a:spLocks noGrp="1"/>
          </p:cNvSpPr>
          <p:nvPr>
            <p:ph sz="quarter" idx="13"/>
          </p:nvPr>
        </p:nvSpPr>
        <p:spPr>
          <a:xfrm>
            <a:off x="457200" y="1556326"/>
            <a:ext cx="8229600" cy="4755983"/>
          </a:xfrm>
        </p:spPr>
        <p:txBody>
          <a:bodyPr/>
          <a:lstStyle/>
          <a:p>
            <a:pPr marL="432000" indent="-432000" eaLnBrk="1" hangingPunct="1">
              <a:buFont typeface="Times" pitchFamily="-84" charset="0"/>
              <a:buAutoNum type="arabicPeriod" startAt="3"/>
            </a:pPr>
            <a:r>
              <a:rPr lang="en-US" altLang="en-US" dirty="0">
                <a:latin typeface="Arial (Body)"/>
                <a:ea typeface="ヒラギノ角ゴ Pro W3" pitchFamily="-84" charset="-128"/>
              </a:rPr>
              <a:t>Models of trade policy choice consider the incentives politicians face given their desire to be reelected, and the tendency for groups that gain from protection to be better organized than consumers who lose.</a:t>
            </a:r>
          </a:p>
          <a:p>
            <a:pPr marL="432000" indent="-432000" eaLnBrk="1" hangingPunct="1">
              <a:buFont typeface="Times" pitchFamily="-84" charset="0"/>
              <a:buAutoNum type="arabicPeriod" startAt="3"/>
            </a:pPr>
            <a:r>
              <a:rPr lang="en-US" altLang="en-US" dirty="0">
                <a:latin typeface="Arial (Body)"/>
                <a:ea typeface="ヒラギノ角ゴ Pro W3" pitchFamily="-84" charset="-128"/>
              </a:rPr>
              <a:t>Agricultural and clothing industries are the most protected industries in many countries.</a:t>
            </a:r>
          </a:p>
        </p:txBody>
      </p:sp>
    </p:spTree>
    <p:extLst>
      <p:ext uri="{BB962C8B-B14F-4D97-AF65-F5344CB8AC3E}">
        <p14:creationId xmlns:p14="http://schemas.microsoft.com/office/powerpoint/2010/main" val="10144036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(3 of 3)</a:t>
            </a:r>
            <a:endParaRPr lang="en-US" dirty="0"/>
          </a:p>
        </p:txBody>
      </p:sp>
      <p:sp>
        <p:nvSpPr>
          <p:cNvPr id="3" name="Content Placeholder 2"/>
          <p:cNvSpPr>
            <a:spLocks noGrp="1"/>
          </p:cNvSpPr>
          <p:nvPr>
            <p:ph sz="quarter" idx="13"/>
          </p:nvPr>
        </p:nvSpPr>
        <p:spPr>
          <a:xfrm>
            <a:off x="457200" y="1556326"/>
            <a:ext cx="8204662" cy="4755983"/>
          </a:xfrm>
        </p:spPr>
        <p:txBody>
          <a:bodyPr/>
          <a:lstStyle/>
          <a:p>
            <a:pPr marL="432000" indent="-432000" eaLnBrk="1" hangingPunct="1">
              <a:buFont typeface="Times" pitchFamily="-84" charset="0"/>
              <a:buAutoNum type="arabicPeriod" startAt="5"/>
            </a:pPr>
            <a:r>
              <a:rPr lang="en-US" altLang="en-US" dirty="0">
                <a:latin typeface="Arial (Body)"/>
                <a:ea typeface="ヒラギノ角ゴ Pro W3" pitchFamily="-84" charset="-128"/>
              </a:rPr>
              <a:t>Multilateral negotiations of free trade may mobilize domestic political support for free trade, as well as make countries agree not to engage in a trade war.</a:t>
            </a:r>
          </a:p>
          <a:p>
            <a:pPr marL="432000" indent="-432000" eaLnBrk="1" hangingPunct="1">
              <a:buFont typeface="Times" pitchFamily="-84" charset="0"/>
              <a:buAutoNum type="arabicPeriod" startAt="5"/>
            </a:pPr>
            <a:r>
              <a:rPr lang="en-US" altLang="en-US" dirty="0">
                <a:latin typeface="Arial (Body)"/>
                <a:ea typeface="ヒラギノ角ゴ Pro W3" pitchFamily="-84" charset="-128"/>
              </a:rPr>
              <a:t>The W</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O and its predecessor have reduced tariffs substantially in the last 50 years, and the W</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T</a:t>
            </a:r>
            <a:r>
              <a:rPr lang="en-US" altLang="en-US" sz="100" dirty="0">
                <a:latin typeface="Arial (Body)"/>
                <a:ea typeface="ヒラギノ角ゴ Pro W3" pitchFamily="-84" charset="-128"/>
              </a:rPr>
              <a:t> </a:t>
            </a:r>
            <a:r>
              <a:rPr lang="en-US" altLang="en-US" dirty="0">
                <a:latin typeface="Arial (Body)"/>
                <a:ea typeface="ヒラギノ角ゴ Pro W3" pitchFamily="-84" charset="-128"/>
              </a:rPr>
              <a:t>O has a dispute settlement procedure for trade disputes.</a:t>
            </a:r>
          </a:p>
          <a:p>
            <a:pPr marL="432000" indent="-432000" eaLnBrk="1" hangingPunct="1">
              <a:buFont typeface="Times" pitchFamily="-84" charset="0"/>
              <a:buAutoNum type="arabicPeriod" startAt="5"/>
            </a:pPr>
            <a:r>
              <a:rPr lang="en-US" altLang="en-US" dirty="0">
                <a:latin typeface="Arial (Body)"/>
                <a:ea typeface="ヒラギノ角ゴ Pro W3" pitchFamily="-84" charset="-128"/>
              </a:rPr>
              <a:t>A preferential trading agreement is beneficial for a country if it creates new trade but is harmful if it diverts existing trade to higher-cost alternatives.</a:t>
            </a:r>
          </a:p>
        </p:txBody>
      </p:sp>
    </p:spTree>
    <p:extLst>
      <p:ext uri="{BB962C8B-B14F-4D97-AF65-F5344CB8AC3E}">
        <p14:creationId xmlns:p14="http://schemas.microsoft.com/office/powerpoint/2010/main" val="41940527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10A.1 Effects of a Tariff on Prices</a:t>
            </a:r>
            <a:endParaRPr lang="en-US" sz="3200" dirty="0"/>
          </a:p>
        </p:txBody>
      </p:sp>
      <p:pic>
        <p:nvPicPr>
          <p:cNvPr id="8" name="Content Placeholder 7" descr="A graph shows price versus quantity, with plots for foreign export supply as a rising line, and home import demand as a falling lin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291355" y="1592159"/>
            <a:ext cx="4561291" cy="3527089"/>
          </a:xfrm>
        </p:spPr>
      </p:pic>
      <p:sp>
        <p:nvSpPr>
          <p:cNvPr id="7" name="Content Placeholder 6"/>
          <p:cNvSpPr>
            <a:spLocks noGrp="1"/>
          </p:cNvSpPr>
          <p:nvPr>
            <p:ph sz="quarter" idx="14"/>
          </p:nvPr>
        </p:nvSpPr>
        <p:spPr>
          <a:xfrm>
            <a:off x="457200" y="5316762"/>
            <a:ext cx="8229600" cy="919992"/>
          </a:xfrm>
        </p:spPr>
        <p:txBody>
          <a:bodyPr/>
          <a:lstStyle/>
          <a:p>
            <a:pPr marL="432" indent="0">
              <a:buNone/>
            </a:pPr>
            <a:r>
              <a:rPr lang="en-US" dirty="0">
                <a:latin typeface="Arial (Body)"/>
              </a:rPr>
              <a:t>In a linear model, we can calculate the exact effect of a tariff on prices.</a:t>
            </a:r>
          </a:p>
        </p:txBody>
      </p:sp>
    </p:spTree>
    <p:extLst>
      <p:ext uri="{BB962C8B-B14F-4D97-AF65-F5344CB8AC3E}">
        <p14:creationId xmlns:p14="http://schemas.microsoft.com/office/powerpoint/2010/main" val="29223594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10A.2 Welfare Effects of a Tariff</a:t>
            </a:r>
            <a:endParaRPr lang="en-US" sz="3200" dirty="0"/>
          </a:p>
        </p:txBody>
      </p:sp>
      <p:pic>
        <p:nvPicPr>
          <p:cNvPr id="5" name="Content Placeholder 4" descr="A graph shows price, P versus quantity, Q, with a rising S curve and falling D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770025" y="1588496"/>
            <a:ext cx="3603950" cy="3567113"/>
          </a:xfrm>
        </p:spPr>
      </p:pic>
      <p:sp>
        <p:nvSpPr>
          <p:cNvPr id="4" name="Content Placeholder 3"/>
          <p:cNvSpPr>
            <a:spLocks noGrp="1"/>
          </p:cNvSpPr>
          <p:nvPr>
            <p:ph sz="quarter" idx="14"/>
          </p:nvPr>
        </p:nvSpPr>
        <p:spPr>
          <a:xfrm>
            <a:off x="457200" y="5348749"/>
            <a:ext cx="8229600" cy="905182"/>
          </a:xfrm>
        </p:spPr>
        <p:txBody>
          <a:bodyPr/>
          <a:lstStyle/>
          <a:p>
            <a:pPr marL="432" indent="0">
              <a:buNone/>
            </a:pPr>
            <a:r>
              <a:rPr lang="en-US" dirty="0">
                <a:latin typeface="Arial (Body)"/>
              </a:rPr>
              <a:t>The net benefit of a tariff is equal to the area of the colored rectangle minus the area of the two shaded triangles.</a:t>
            </a:r>
          </a:p>
        </p:txBody>
      </p:sp>
    </p:spTree>
    <p:extLst>
      <p:ext uri="{BB962C8B-B14F-4D97-AF65-F5344CB8AC3E}">
        <p14:creationId xmlns:p14="http://schemas.microsoft.com/office/powerpoint/2010/main" val="24255680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148044</TotalTime>
  <Words>5035</Words>
  <Application>Microsoft Office PowerPoint</Application>
  <PresentationFormat>On-screen Show (4:3)</PresentationFormat>
  <Paragraphs>344</Paragraphs>
  <Slides>64</Slides>
  <Notes>10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64</vt:i4>
      </vt:variant>
    </vt:vector>
  </HeadingPairs>
  <TitlesOfParts>
    <vt:vector size="75" baseType="lpstr">
      <vt:lpstr>ＭＳ Ｐゴシック</vt:lpstr>
      <vt:lpstr>Verdana</vt:lpstr>
      <vt:lpstr>Arial (Body)</vt:lpstr>
      <vt:lpstr>Times New Roman</vt:lpstr>
      <vt:lpstr>Noto Sans Symbols</vt:lpstr>
      <vt:lpstr>Arial</vt:lpstr>
      <vt:lpstr>Times</vt:lpstr>
      <vt:lpstr>ヒラギノ角ゴ Pro W3</vt:lpstr>
      <vt:lpstr>USHE</vt:lpstr>
      <vt:lpstr>USHE_slide options</vt:lpstr>
      <vt:lpstr>Equation</vt:lpstr>
      <vt:lpstr>International Economics: Theory and Policy</vt:lpstr>
      <vt:lpstr>Learning Objectives</vt:lpstr>
      <vt:lpstr>Preview</vt:lpstr>
      <vt:lpstr>The Cases for Free Trade (1 of 6)</vt:lpstr>
      <vt:lpstr>Figure 10.1 The Efficiency Case for Free Trade</vt:lpstr>
      <vt:lpstr>The Cases for Free Trade (2 of 6)</vt:lpstr>
      <vt:lpstr>Table 10.1 Benefits of a Move to Worldwide Free Trade (percent of G D P)</vt:lpstr>
      <vt:lpstr>The Cases for Free Trade (3 of 6)</vt:lpstr>
      <vt:lpstr>The Cases for Free Trade (4 of 6)</vt:lpstr>
      <vt:lpstr>The Cases for Free Trade (5 of 6)</vt:lpstr>
      <vt:lpstr>The Cases for Free Trade (6 of 6)</vt:lpstr>
      <vt:lpstr>The Cases against Free Trade (1 of 8)</vt:lpstr>
      <vt:lpstr>Figure 10.2 The Optimum Tariff</vt:lpstr>
      <vt:lpstr>The Cases against Free Trade (2 of 8)</vt:lpstr>
      <vt:lpstr>The Cases against Free Trade (3 of 8)</vt:lpstr>
      <vt:lpstr>The Cases against Free Trade (4 of 8)</vt:lpstr>
      <vt:lpstr>The Cases against Free Trade (5 of 8)</vt:lpstr>
      <vt:lpstr>The Cases against Free Trade (6 of 8)</vt:lpstr>
      <vt:lpstr>The Cases against Free Trade (7 of 8)</vt:lpstr>
      <vt:lpstr>Figure 10.3 The Domestic Market Failure Argument for a Tariff</vt:lpstr>
      <vt:lpstr>The Cases against Free Trade (8 of 8)</vt:lpstr>
      <vt:lpstr>Counter-Arguments (1 of 2)</vt:lpstr>
      <vt:lpstr>Counter-Arguments (2 of 2)</vt:lpstr>
      <vt:lpstr>Political Models of Trade Policy</vt:lpstr>
      <vt:lpstr>Median Voter (1 of 3)</vt:lpstr>
      <vt:lpstr>Median Voter (2 of 3)</vt:lpstr>
      <vt:lpstr>Figure 10.4 Political Competition</vt:lpstr>
      <vt:lpstr>Median Voter (3 of 3)</vt:lpstr>
      <vt:lpstr>Collective Action (1 of 2)</vt:lpstr>
      <vt:lpstr>Collective Action (2 of 2)</vt:lpstr>
      <vt:lpstr>A Model of Trade Policy</vt:lpstr>
      <vt:lpstr>Which Industries Are Protected? (1 of 2)</vt:lpstr>
      <vt:lpstr>Which Industries Are Protected? (2 of 2)</vt:lpstr>
      <vt:lpstr>Table 10.2 Welfare Costs of U.S. Protection ($ billion)</vt:lpstr>
      <vt:lpstr>International Negotiations of Trade Policy (1 of 4)</vt:lpstr>
      <vt:lpstr>Figure 10.5 The U.S. Tariff Rate</vt:lpstr>
      <vt:lpstr>International Negotiations of Trade Policy (2 of 4)</vt:lpstr>
      <vt:lpstr>International Negotiations of Trade Policy (3 of 4)</vt:lpstr>
      <vt:lpstr>Table 10.3 The Problem of Trade Warfare</vt:lpstr>
      <vt:lpstr>International Negotiations of Trade Policy (4 of 4)</vt:lpstr>
      <vt:lpstr>International Trade Agreements: A Brief History</vt:lpstr>
      <vt:lpstr>World Trade Organization (1 of 7)</vt:lpstr>
      <vt:lpstr>World Trade Organization (2 of 7)</vt:lpstr>
      <vt:lpstr>World Trade Organization (3 of 7)</vt:lpstr>
      <vt:lpstr>World Trade Organization (4 of 7)</vt:lpstr>
      <vt:lpstr>World Trade Organization (5 of 7)</vt:lpstr>
      <vt:lpstr>World Trade Organization (6 of 7)</vt:lpstr>
      <vt:lpstr>World Trade Organization (7 of 7)</vt:lpstr>
      <vt:lpstr>Table 10.4 Percentage Distribution of Potential Gains from Free Trade</vt:lpstr>
      <vt:lpstr>Do Agricultural Subsidies in Rich Countries Hurt Poor Countries?</vt:lpstr>
      <vt:lpstr>Table 10.5 Percentage Gains in Income under Two Doha Scenarios</vt:lpstr>
      <vt:lpstr>Preferential Trading Agreements (1 of 5)</vt:lpstr>
      <vt:lpstr>Preferential Trading Agreements (2 of 5)</vt:lpstr>
      <vt:lpstr>Preferential Trading Agreements (3 of 5)</vt:lpstr>
      <vt:lpstr>Preferential Trading Agreements (4 of 5)</vt:lpstr>
      <vt:lpstr>Preferential Trading Agreements (5 of 5)</vt:lpstr>
      <vt:lpstr>Brexit</vt:lpstr>
      <vt:lpstr>Trans Pacific Partnership (T P P)</vt:lpstr>
      <vt:lpstr>Summary (1 of 3)</vt:lpstr>
      <vt:lpstr>Summary (2 of 3)</vt:lpstr>
      <vt:lpstr>Summary (3 of 3)</vt:lpstr>
      <vt:lpstr>Figure 10A.1 Effects of a Tariff on Prices</vt:lpstr>
      <vt:lpstr>Figure 10A.2 Welfare Effects of a Tariff</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10, The Political Economy of Trade Policy</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dc:description>
  <cp:lastModifiedBy>admin</cp:lastModifiedBy>
  <cp:revision>985</cp:revision>
  <dcterms:modified xsi:type="dcterms:W3CDTF">2021-11-10T09:15:12Z</dcterms:modified>
</cp:coreProperties>
</file>