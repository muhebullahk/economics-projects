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79"/>
  </p:notesMasterIdLst>
  <p:handoutMasterIdLst>
    <p:handoutMasterId r:id="rId80"/>
  </p:handoutMasterIdLst>
  <p:sldIdLst>
    <p:sldId id="330" r:id="rId3"/>
    <p:sldId id="331" r:id="rId4"/>
    <p:sldId id="336" r:id="rId5"/>
    <p:sldId id="337" r:id="rId6"/>
    <p:sldId id="334" r:id="rId7"/>
    <p:sldId id="339" r:id="rId8"/>
    <p:sldId id="338" r:id="rId9"/>
    <p:sldId id="340" r:id="rId10"/>
    <p:sldId id="341" r:id="rId11"/>
    <p:sldId id="342" r:id="rId12"/>
    <p:sldId id="343" r:id="rId13"/>
    <p:sldId id="344" r:id="rId14"/>
    <p:sldId id="345" r:id="rId15"/>
    <p:sldId id="332" r:id="rId16"/>
    <p:sldId id="346" r:id="rId17"/>
    <p:sldId id="347" r:id="rId18"/>
    <p:sldId id="348" r:id="rId19"/>
    <p:sldId id="349" r:id="rId20"/>
    <p:sldId id="350" r:id="rId21"/>
    <p:sldId id="351" r:id="rId22"/>
    <p:sldId id="352" r:id="rId23"/>
    <p:sldId id="353" r:id="rId24"/>
    <p:sldId id="354" r:id="rId25"/>
    <p:sldId id="355" r:id="rId26"/>
    <p:sldId id="356" r:id="rId27"/>
    <p:sldId id="357" r:id="rId28"/>
    <p:sldId id="358" r:id="rId29"/>
    <p:sldId id="359" r:id="rId30"/>
    <p:sldId id="360" r:id="rId31"/>
    <p:sldId id="361" r:id="rId32"/>
    <p:sldId id="362" r:id="rId33"/>
    <p:sldId id="363" r:id="rId34"/>
    <p:sldId id="364" r:id="rId35"/>
    <p:sldId id="365" r:id="rId36"/>
    <p:sldId id="366" r:id="rId37"/>
    <p:sldId id="367" r:id="rId38"/>
    <p:sldId id="368" r:id="rId39"/>
    <p:sldId id="369" r:id="rId40"/>
    <p:sldId id="370" r:id="rId41"/>
    <p:sldId id="372" r:id="rId42"/>
    <p:sldId id="371" r:id="rId43"/>
    <p:sldId id="373" r:id="rId44"/>
    <p:sldId id="374" r:id="rId45"/>
    <p:sldId id="375" r:id="rId46"/>
    <p:sldId id="376" r:id="rId47"/>
    <p:sldId id="377" r:id="rId48"/>
    <p:sldId id="378" r:id="rId49"/>
    <p:sldId id="380" r:id="rId50"/>
    <p:sldId id="379" r:id="rId51"/>
    <p:sldId id="382" r:id="rId52"/>
    <p:sldId id="381" r:id="rId53"/>
    <p:sldId id="383" r:id="rId54"/>
    <p:sldId id="384" r:id="rId55"/>
    <p:sldId id="385" r:id="rId56"/>
    <p:sldId id="386" r:id="rId57"/>
    <p:sldId id="387" r:id="rId58"/>
    <p:sldId id="388" r:id="rId59"/>
    <p:sldId id="389" r:id="rId60"/>
    <p:sldId id="390" r:id="rId61"/>
    <p:sldId id="391" r:id="rId62"/>
    <p:sldId id="392" r:id="rId63"/>
    <p:sldId id="393" r:id="rId64"/>
    <p:sldId id="394" r:id="rId65"/>
    <p:sldId id="395" r:id="rId66"/>
    <p:sldId id="396" r:id="rId67"/>
    <p:sldId id="397" r:id="rId68"/>
    <p:sldId id="398" r:id="rId69"/>
    <p:sldId id="399" r:id="rId70"/>
    <p:sldId id="400" r:id="rId71"/>
    <p:sldId id="401" r:id="rId72"/>
    <p:sldId id="402" r:id="rId73"/>
    <p:sldId id="403" r:id="rId74"/>
    <p:sldId id="404" r:id="rId75"/>
    <p:sldId id="405" r:id="rId76"/>
    <p:sldId id="406" r:id="rId77"/>
    <p:sldId id="298" r:id="rId78"/>
  </p:sldIdLst>
  <p:sldSz cx="9144000" cy="6858000" type="screen4x3"/>
  <p:notesSz cx="6858000" cy="9144000"/>
  <p:embeddedFontLst>
    <p:embeddedFont>
      <p:font typeface="Noto Sans Symbols" panose="020B0604020202020204" charset="0"/>
      <p:regular r:id="rId81"/>
      <p:bold r:id="rId82"/>
      <p:italic r:id="rId83"/>
      <p:boldItalic r:id="rId84"/>
    </p:embeddedFont>
    <p:embeddedFont>
      <p:font typeface="Times" panose="02020603050405020304" pitchFamily="18" charset="0"/>
      <p:regular r:id="rId85"/>
      <p:bold r:id="rId86"/>
      <p:italic r:id="rId87"/>
      <p:boldItalic r:id="rId88"/>
    </p:embeddedFont>
    <p:embeddedFont>
      <p:font typeface="Verdana" panose="020B0604030504040204" pitchFamily="34" charset="0"/>
      <p:regular r:id="rId89"/>
      <p:bold r:id="rId90"/>
      <p:italic r:id="rId91"/>
      <p:boldItalic r:id="rId9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52" userDrawn="1">
          <p15:clr>
            <a:srgbClr val="A4A3A4"/>
          </p15:clr>
        </p15:guide>
        <p15:guide id="2" pos="340" userDrawn="1">
          <p15:clr>
            <a:srgbClr val="A4A3A4"/>
          </p15:clr>
        </p15:guide>
        <p15:guide id="3" orient="horz" pos="4178" userDrawn="1">
          <p15:clr>
            <a:srgbClr val="A4A3A4"/>
          </p15:clr>
        </p15:guide>
        <p15:guide id="4" orient="horz" pos="119" userDrawn="1">
          <p15:clr>
            <a:srgbClr val="A4A3A4"/>
          </p15:clr>
        </p15:guide>
        <p15:guide id="5" orient="horz" pos="709" userDrawn="1">
          <p15:clr>
            <a:srgbClr val="A4A3A4"/>
          </p15:clr>
        </p15:guide>
        <p15:guide id="6" orient="horz" pos="1071" userDrawn="1">
          <p15:clr>
            <a:srgbClr val="A4A3A4"/>
          </p15:clr>
        </p15:guide>
        <p15:guide id="7" pos="63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56" autoAdjust="0"/>
    <p:restoredTop sz="68770" autoAdjust="0"/>
  </p:normalViewPr>
  <p:slideViewPr>
    <p:cSldViewPr snapToGrid="0" snapToObjects="1">
      <p:cViewPr varScale="1">
        <p:scale>
          <a:sx n="110" d="100"/>
          <a:sy n="110" d="100"/>
        </p:scale>
        <p:origin x="1416" y="108"/>
      </p:cViewPr>
      <p:guideLst>
        <p:guide orient="horz" pos="3952"/>
        <p:guide pos="340"/>
        <p:guide orient="horz" pos="4178"/>
        <p:guide orient="horz" pos="119"/>
        <p:guide orient="horz" pos="709"/>
        <p:guide orient="horz" pos="1071"/>
        <p:guide pos="635"/>
      </p:guideLst>
    </p:cSldViewPr>
  </p:slideViewPr>
  <p:outlineViewPr>
    <p:cViewPr>
      <p:scale>
        <a:sx n="33" d="100"/>
        <a:sy n="33" d="100"/>
      </p:scale>
      <p:origin x="0" y="-23580"/>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font" Target="fonts/font4.fntdata"/><Relationship Id="rId89" Type="http://schemas.openxmlformats.org/officeDocument/2006/relationships/font" Target="fonts/font9.fntdata"/><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notesMaster" Target="notesMasters/notesMaster1.xml"/><Relationship Id="rId5" Type="http://schemas.openxmlformats.org/officeDocument/2006/relationships/slide" Target="slides/slide3.xml"/><Relationship Id="rId90" Type="http://schemas.openxmlformats.org/officeDocument/2006/relationships/font" Target="fonts/font10.fntdata"/><Relationship Id="rId95" Type="http://schemas.openxmlformats.org/officeDocument/2006/relationships/viewProps" Target="view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handoutMaster" Target="handoutMasters/handoutMaster1.xml"/><Relationship Id="rId85" Type="http://schemas.openxmlformats.org/officeDocument/2006/relationships/font" Target="fonts/font5.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font" Target="fonts/font3.fntdata"/><Relationship Id="rId88" Type="http://schemas.openxmlformats.org/officeDocument/2006/relationships/font" Target="fonts/font8.fntdata"/><Relationship Id="rId91" Type="http://schemas.openxmlformats.org/officeDocument/2006/relationships/font" Target="fonts/font11.fntdata"/><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font" Target="fonts/font1.fntdata"/><Relationship Id="rId86" Type="http://schemas.openxmlformats.org/officeDocument/2006/relationships/font" Target="fonts/font6.fntdata"/><Relationship Id="rId9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font" Target="fonts/font12.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font" Target="fonts/font7.fntdata"/><Relationship Id="rId61" Type="http://schemas.openxmlformats.org/officeDocument/2006/relationships/slide" Target="slides/slide59.xml"/><Relationship Id="rId82" Type="http://schemas.openxmlformats.org/officeDocument/2006/relationships/font" Target="fonts/font2.fntdata"/><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10/22/2021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depicts net exports, current account as a percentage of G D P, and international investment position as a percent of G D P, versus year. There are 3 plots, for New Zealand’s net exports, N X slash G D P, current account, C A slash G D P, and international investment position, I I P slash G D P. The plot for N X slash G D P falls from (19 92, 3.6) to (2000, 0.4), then rises to a peak at (2002, 3.8) before falling again to (2006, negative 1.8). The plot then rises to (2009, 2.2), then falls to (20 14, 1.3), and ends at (20 19, 0). The plot for C A slash G D P falls from (19 92, negative 2.2) to (19 96, negative 5), rises to a peak at (2002, negative 1), falls to (2006, negative 7.8), then rises to (20 10, negative 1.4) before falling again to (20 15, negative 2.5), and ends at (20 19, negative 3). The plot for I I P slash G D P falls from (19 92, negative 65) to (19 98, negative 85), then rises to (2002, negative 65) before falling again to (2009, negative 84). The plot then rises to (20 14, negative 65) and ends at (20 19, negative 55). All values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458387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edges and vertices are labeled clockwise from the top as follows: top vertex, exchange rate stability; right side, fixed exchange rate; lower right vertex, freedom of financial flows; base, floating exchange rate; lower left vertex, monetary policy autonomy; left side, financial controls.</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17574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rising line, X X, C Ay = X, intersects a falling line, I I, Y = Y super f. This intersection is point 1 at the center of the graph. The intersection divides the graph into four equal areas, noted as zones 1 to 4. The following list provides information from the zones, clockwise from the top: zone 1, overemployment, excessive current account surplus; zone 2, overemployment, excessive current deficit; zone 3, underemployment, excessive current account deficit; zone 4, underemployment, excessive current account surplus.</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323406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X X rises, as line I I falls, intersecting at point 1. Point 3 is on line I I, below and to the right of point 1. Point 4 is on line X X, below and to the left of point 1, at the same y-value as point 3. Point 2 also shares the same y-value, located between points 4 and 3, and closer to point 4. A rising arrow points from point 2 to point 1. The distance from point 2 to point 1 on the x-axis is the spending increase that results in internal and external balance. The distance on the y-axis from point 1 to points 4, 2, and 3 is the devaluation that results in internal and external balance.</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132006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X super 2 is plotted below X X super 1, and has a lesser slope. I I super 2 is plotted below I I super 1, and also has a lesser slope. X X super 2 intersects I I super 2 and point 2, below point 1 at the same x-value. The vertical distance between point 1 and point 2 = the exchange rate times the change in the foreign price level, over the foreign price level.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444782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 ay is the floating exchange rate, and has two rising parallel lines, D D super 1 and, above and to the left, D D super 2. The falling line Ay Ay super 1 intersects D D super 1 at point 1 and D D super 2 at point 2. Point 1 is below and to the right of point 2; point 1 is located at (Y super 1, E super 1); point 2 is at (Y super 2, E super 2). Graph b is the fixed exchange rate, and adds a second falling line Ay Ay super 2 to a duplicate of graph ay. Ay Ay super 2 is to the left of and parallel to Ay Ay super 1. The intersection of D D super 2 and Ay Ay super 2 is point 3 at (Y super 3, E super 1) with Y super 3 left of Y super 2 on the x-axis.</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676523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plots the U S dollar effective exchange rate index, 20 10 = 100, December, end of month, versus year, 19 75 to 20 19. The real index is below the nominal index until 2007 and they track closely together with two peaks in 19 84 and 2001. The plot for real index rises from (19 75, 115) to (19 84, 142), then falls to (19 91, 97), rises again to (2001, 126), and then falls to (2007, 96). The plot then rises to (20 16, 130) and ends at (20 19, 125). The plot for normal index rises from (19 75, 138) to (19 85, 168), then falls to (19 95, 112). The plot then rises to (2001, 140), falls to (20 12, 98), then rises to (20 16, 132) and ends at (20 19, 120). All values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091280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stacked bar graph depicts current account surplus and deficit in billions of U S dollars versus year for 10 countries or regions. The 10 countries or regions are as follows. Sub Saharan Africa, Latin America and the Caribbean, Other emerging slash developing Asia, China, Japan, Middle East and Central Asia, Emerging slash developing Europe, Other advanced economies, United States, Euro area. The vertical axis ranges from negative 1500 to 1500 in increments of 500. From 19 99 to 2006, the U S deficit grew from negative 250 in 19 99 through negative 800 in 2006. It then declined through negative 1000 in 2008 to negative 320 in 20 14, and grew to negative 600 in 20 19. Most other identified nations or regions, including China, newly industrial Asia, Middle East and North Africa, and the Euro area, increased in surplus from a combined 280 in 19 99 to 750 in 2008, then decreased to 600 in 2009 before increasing again to 1000 in 20 19. All values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740541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plots real interest rates in percent per year versus year from June 19 99 to June 20 20. There are 4 plots for the United States, United Kingdom, Germany, and Japan. The 4 plots fall from a range of 1.8 to 4 in 19 99 to a range of 0 to negative 2 in 20 20. The plots for the United States and Japan fall below 0 to negative 0.7 between 2007 and 2008, before rising above 0 in 2009. The plots for the United States, United Kingdom, Germany, and Japan fall below 0 to negative 3 between 20 11 and 20 20, on a number of occasions. All values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52663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graphs are as follows. A line graph titled, quarterly world G D P, 20 19 Q 1 = 100, plots G D P output versus period from 20 19 Q 1. The horizontal axis plots the period from Q 1 of 20 19 to Q 4 in 20 21. The vertical axis ranges from 85 to 115 in increments of 5. The data plotted are as follows. The line graph for emerging market and developing economies except China, starts at (20 19 Q 1, 100), rises to (20 20 Q 1, 101), declines sharply to (20 20 Q 2, 90), and then rises through (20 21 Q 1, 100) and (20 21 Q 4, 102.5). The line graph for China starts at (20 19 Q 1, 100), rises to (20 19 Q 4, 105), falls sharply to (20 20 Q 1, 92.5), and then rises through (20 20 Q 2, 100), (20 20 Q 4, 107.5), and (20 21 Q 4, 112.5). The line graph for advanced economies starts at (20 19 Q 1, 100), rises to (20 19 Q 4, 101), falls sharply to (20 20 Q 2, 87.3), and then rises through (20 20 Q 4, 94.5), and (20 21 Q 4, 98.5). The line graph for the world starts at (20 19 Q 1, 100), rises to (20 19 Q 4, 102), falls to (20 20 Q 2, 95), and then rises through (20 20 Q 4, 99), and (20 21 Q 4, 105). All values are estimated. A bar graph titled, change in government debt and deficits, in percent of G D P. The graph has two sections, government debt and overall fiscal balance, where the period of global financial crisis of 2008 and COVID 19 pandemic are plotted. The vertical axis ranges from negative 15 to 25 in increments of 5. The bins plotted are as follows. Government debt. Global financial crisis. 2008, 2.5. 2009, 10.5. 20 10, 2. COVID 19 pandemic. 20 19, 1.5. 20 20, 18.7. 20 21, 1.9. Overall fiscal balance. Global financial crisis. 2008, negative 2.1. 2009, negative 4.9. 20 10, 1.2. COVID 19 pandemic. 20 19, negative 0.8. 20 20, negative 10.0. 20 21, 5.8. All values are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567442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depicts inflation in percent per year versus year, with 4 plots, for the United States, Euro area, Switzerland, and Japan. The plot for the United States rises from (20 10, negative 0.1) to (20 12, 3.4), then falls to 0.2 near the end of 20 16, rises to 2.0 during 20 19 and ends at (20 20, 2.00). The plot for Euro area rises from (20 10, 0.3) to (20 12, 2.6), then falls to 0.1 near the end of 20 16, rises to 1.6 in 20 18 and then falls to (20 20, 1.2). The plot for Switzerland rises from (20 10, negative 0.2) to (20 11, 0.7), then falls to negative 0.8 in the second half of 20 12. The plot then rises to 0 near the end of 20 14, falls to negative 1.3 in 20 16, then rises again to 1.00 during 20 19 and ends at (20 20, 0). The plot for Japan rises from (20 10, negative 1.5) through 0 in mid 20 12, falls to negative 0.4 in the first half of 20 13, then rises to a peak at 1 in the first half of 20 19. The plot then falls to 0 during 20 20. All values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424423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scatter diagram plots percent changes in foreign currency price of the U S dollar, 19 73 to 20 19, versus percentage change in the foreign price level less percent change in the U S price level for 19 73 to 20 19. A line of best fit rises at a 45 degree angle through the following points. Japan, (negative 50, negative 60). Germany, (negative 51, negative 35). Canada, (0, 35). France, (1, 25). U K (90, 75). Italy, (165, 185). All values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208836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following list provides data from the matrix. Home and foreign both somewhat restrictive: results are the same for both, inflation drops 1% and unemployment rises 1%. Home somewhat restrictive and foreign very restrictive: home inflation is unchanged and unemployment rises 0.5%, foreign inflation drops 2% and inflation rises 1.75%. Home very restrictive and foreign somewhat restrictive: home inflation drops 2% and unemployment rises 1.75%, foreign inflation is unchanged and unemployment rises 0.5%. Both home and foreign very restrictive: both entities have the same result of inflation dropping 1.25% and unemployment rising 1.5%.</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735879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following list provides data from the matrix. Home and foreign both somewhat restrictive: results are the same for both, 1. Home somewhat restrictive and foreign very restrictive: home 0, foreign 8 sevenths. Home very restrictive and foreign somewhat restrictive: home 8 sevenths, foreign 0. Both home and foreign very restrictive: both entities have the same result of 5 sixths.</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164853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76</a:t>
            </a:fld>
            <a:endParaRPr lang="en-US" dirty="0"/>
          </a:p>
        </p:txBody>
      </p:sp>
    </p:spTree>
    <p:extLst>
      <p:ext uri="{BB962C8B-B14F-4D97-AF65-F5344CB8AC3E}">
        <p14:creationId xmlns:p14="http://schemas.microsoft.com/office/powerpoint/2010/main" val="124403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4672" y="1552575"/>
            <a:ext cx="1350979"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130226" y="1552575"/>
            <a:ext cx="1350979"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3863656" y="1552575"/>
            <a:ext cx="1350979"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5666531" y="1552575"/>
            <a:ext cx="1350979"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765A2CB8-F17E-42BF-AF56-843E1D5BB934}"/>
              </a:ext>
            </a:extLst>
          </p:cNvPr>
          <p:cNvSpPr>
            <a:spLocks noGrp="1"/>
          </p:cNvSpPr>
          <p:nvPr>
            <p:ph sz="quarter" idx="17"/>
          </p:nvPr>
        </p:nvSpPr>
        <p:spPr>
          <a:xfrm>
            <a:off x="7245350" y="1552575"/>
            <a:ext cx="1441450" cy="4438650"/>
          </a:xfrm>
        </p:spPr>
        <p:txBody>
          <a:bodyPr/>
          <a:lstStyle>
            <a:lvl1pPr>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534371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image" Target="../media/image1.jpg"/><Relationship Id="rId2" Type="http://schemas.openxmlformats.org/officeDocument/2006/relationships/slideLayout" Target="../slideLayouts/slideLayout3.xml"/><Relationship Id="rId16"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2022, 2018, 2015</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7"/>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76" r:id="rId4"/>
    <p:sldLayoutId id="2147483677" r:id="rId5"/>
    <p:sldLayoutId id="2147483678" r:id="rId6"/>
    <p:sldLayoutId id="2147483679" r:id="rId7"/>
    <p:sldLayoutId id="2147483683" r:id="rId8"/>
    <p:sldLayoutId id="2147483680" r:id="rId9"/>
    <p:sldLayoutId id="2147483681" r:id="rId10"/>
    <p:sldLayoutId id="2147483671" r:id="rId11"/>
    <p:sldLayoutId id="2147483673" r:id="rId12"/>
    <p:sldLayoutId id="2147483670" r:id="rId13"/>
    <p:sldLayoutId id="2147483669" r:id="rId14"/>
    <p:sldLayoutId id="2147483655"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11.xml"/><Relationship Id="rId5" Type="http://schemas.openxmlformats.org/officeDocument/2006/relationships/image" Target="../media/image4.wmf"/><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3.bin"/><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4.bin"/><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5.bin"/><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10.xml"/><Relationship Id="rId5" Type="http://schemas.openxmlformats.org/officeDocument/2006/relationships/image" Target="../media/image11.wmf"/><Relationship Id="rId4" Type="http://schemas.openxmlformats.org/officeDocument/2006/relationships/oleObject" Target="../embeddings/oleObject6.bin"/></Relationships>
</file>

<file path=ppt/slides/_rels/slide3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9.bin"/><Relationship Id="rId13" Type="http://schemas.openxmlformats.org/officeDocument/2006/relationships/image" Target="../media/image19.wmf"/><Relationship Id="rId3" Type="http://schemas.openxmlformats.org/officeDocument/2006/relationships/image" Target="../media/image14.jpg"/><Relationship Id="rId7" Type="http://schemas.openxmlformats.org/officeDocument/2006/relationships/image" Target="../media/image16.wmf"/><Relationship Id="rId12" Type="http://schemas.openxmlformats.org/officeDocument/2006/relationships/oleObject" Target="../embeddings/oleObject11.bin"/><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oleObject" Target="../embeddings/oleObject8.bin"/><Relationship Id="rId11" Type="http://schemas.openxmlformats.org/officeDocument/2006/relationships/image" Target="../media/image18.wmf"/><Relationship Id="rId5" Type="http://schemas.openxmlformats.org/officeDocument/2006/relationships/image" Target="../media/image15.wmf"/><Relationship Id="rId15" Type="http://schemas.openxmlformats.org/officeDocument/2006/relationships/image" Target="../media/image20.wmf"/><Relationship Id="rId10" Type="http://schemas.openxmlformats.org/officeDocument/2006/relationships/oleObject" Target="../embeddings/oleObject10.bin"/><Relationship Id="rId4" Type="http://schemas.openxmlformats.org/officeDocument/2006/relationships/oleObject" Target="../embeddings/oleObject7.bin"/><Relationship Id="rId9" Type="http://schemas.openxmlformats.org/officeDocument/2006/relationships/image" Target="../media/image17.wmf"/><Relationship Id="rId14" Type="http://schemas.openxmlformats.org/officeDocument/2006/relationships/oleObject" Target="../embeddings/oleObject12.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3.bin"/><Relationship Id="rId1" Type="http://schemas.openxmlformats.org/officeDocument/2006/relationships/slideLayout" Target="../slideLayouts/slideLayout10.xml"/><Relationship Id="rId6" Type="http://schemas.openxmlformats.org/officeDocument/2006/relationships/image" Target="../media/image22.wmf"/><Relationship Id="rId5" Type="http://schemas.openxmlformats.org/officeDocument/2006/relationships/oleObject" Target="../embeddings/oleObject15.bin"/><Relationship Id="rId4" Type="http://schemas.openxmlformats.org/officeDocument/2006/relationships/oleObject" Target="../embeddings/oleObject14.bin"/></Relationships>
</file>

<file path=ppt/slides/_rels/slide5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16.bin"/><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30.wmf"/><Relationship Id="rId4" Type="http://schemas.openxmlformats.org/officeDocument/2006/relationships/oleObject" Target="../embeddings/oleObject17.bin"/></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5.xml"/><Relationship Id="rId1" Type="http://schemas.openxmlformats.org/officeDocument/2006/relationships/slideLayout" Target="../slideLayouts/slideLayout9.xml"/><Relationship Id="rId5" Type="http://schemas.openxmlformats.org/officeDocument/2006/relationships/image" Target="../media/image33.wmf"/><Relationship Id="rId4" Type="http://schemas.openxmlformats.org/officeDocument/2006/relationships/oleObject" Target="../embeddings/oleObject18.bin"/></Relationships>
</file>

<file path=ppt/slides/_rels/slide7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3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val="1"/>
              </a:ext>
            </a:extLst>
          </p:cNvPr>
          <p:cNvSpPr>
            <a:spLocks noGrp="1"/>
          </p:cNvSpPr>
          <p:nvPr>
            <p:ph type="title"/>
          </p:nvPr>
        </p:nvSpPr>
        <p:spPr>
          <a:xfrm>
            <a:off x="457199" y="143692"/>
            <a:ext cx="8229601" cy="987333"/>
          </a:xfrm>
        </p:spPr>
        <p:txBody>
          <a:bodyPr anchor="ctr"/>
          <a:lstStyle/>
          <a:p>
            <a:r>
              <a:rPr lang="en-US" sz="3200" dirty="0"/>
              <a:t>International Economics: Theory and Policy</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val="1"/>
              </a:ext>
            </a:extLst>
          </p:cNvPr>
          <p:cNvSpPr>
            <a:spLocks noGrp="1"/>
          </p:cNvSpPr>
          <p:nvPr>
            <p:ph type="body" idx="1"/>
          </p:nvPr>
        </p:nvSpPr>
        <p:spPr>
          <a:xfrm>
            <a:off x="457200" y="1212419"/>
            <a:ext cx="8229600" cy="413524"/>
          </a:xfrm>
        </p:spPr>
        <p:txBody>
          <a:bodyPr anchor="ctr"/>
          <a:lstStyle/>
          <a:p>
            <a:r>
              <a:rPr lang="en-US" dirty="0"/>
              <a:t>Twelfth</a:t>
            </a:r>
            <a:r>
              <a:rPr lang="en-US" dirty="0">
                <a:solidFill>
                  <a:schemeClr val="tx2"/>
                </a:solidFill>
              </a:rPr>
              <a:t> Edition</a:t>
            </a:r>
          </a:p>
        </p:txBody>
      </p:sp>
      <p:pic>
        <p:nvPicPr>
          <p:cNvPr id="9" name="Picture 8" descr="Front Cover: International Economics: Theory and Policy, Twelfth Edition by Krugman, Obstfeld and Melitz.">
            <a:extLst>
              <a:ext uri="{FF2B5EF4-FFF2-40B4-BE49-F238E27FC236}">
                <a16:creationId xmlns:a16="http://schemas.microsoft.com/office/drawing/2014/main" id="{D7D46880-8461-406A-8001-EA9E0EE58E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578" y="1704436"/>
            <a:ext cx="3544562" cy="4430702"/>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1"/>
              </a:ext>
            </a:extLst>
          </p:cNvPr>
          <p:cNvSpPr>
            <a:spLocks noGrp="1"/>
          </p:cNvSpPr>
          <p:nvPr>
            <p:ph sz="quarter" idx="14"/>
          </p:nvPr>
        </p:nvSpPr>
        <p:spPr>
          <a:xfrm>
            <a:off x="5029200" y="1906104"/>
            <a:ext cx="3657600" cy="1186345"/>
          </a:xfrm>
        </p:spPr>
        <p:txBody>
          <a:bodyPr/>
          <a:lstStyle/>
          <a:p>
            <a:pPr marL="0" algn="ctr"/>
            <a:r>
              <a:rPr lang="en-US" b="1" dirty="0">
                <a:latin typeface="+mn-lt"/>
              </a:rPr>
              <a:t>Chapter 19</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val="1"/>
              </a:ext>
            </a:extLst>
          </p:cNvPr>
          <p:cNvSpPr>
            <a:spLocks noGrp="1"/>
          </p:cNvSpPr>
          <p:nvPr>
            <p:ph sz="quarter" idx="15"/>
          </p:nvPr>
        </p:nvSpPr>
        <p:spPr>
          <a:xfrm>
            <a:off x="5029200" y="3252789"/>
            <a:ext cx="3657600" cy="1786139"/>
          </a:xfrm>
        </p:spPr>
        <p:txBody>
          <a:bodyPr/>
          <a:lstStyle/>
          <a:p>
            <a:pPr algn="ctr"/>
            <a:r>
              <a:rPr lang="en-US" altLang="en-US" dirty="0">
                <a:latin typeface="Arial (Body)"/>
                <a:ea typeface="Verdana" panose="020B0604030504040204" pitchFamily="34" charset="0"/>
                <a:cs typeface="Verdana" panose="020B0604030504040204" pitchFamily="34" charset="0"/>
              </a:rPr>
              <a:t>I</a:t>
            </a:r>
            <a:r>
              <a:rPr lang="en-US" altLang="en-US" dirty="0">
                <a:latin typeface="Arial (Body)"/>
              </a:rPr>
              <a:t>nternational Monetary Systems: An Historical Overview</a:t>
            </a:r>
            <a:endParaRPr lang="en-US" dirty="0">
              <a:latin typeface="Arial (Body)"/>
              <a:ea typeface="Verdana" panose="020B0604030504040204" pitchFamily="34" charset="0"/>
              <a:cs typeface="Verdana" panose="020B0604030504040204" pitchFamily="34" charset="0"/>
            </a:endParaRP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val="1"/>
              </a:ext>
            </a:extLst>
          </p:cNvPr>
          <p:cNvSpPr>
            <a:spLocks noGrp="1"/>
          </p:cNvSpPr>
          <p:nvPr>
            <p:ph sz="quarter" idx="17"/>
          </p:nvPr>
        </p:nvSpPr>
        <p:spPr>
          <a:xfrm>
            <a:off x="2173000" y="6415232"/>
            <a:ext cx="6589712" cy="228600"/>
          </a:xfrm>
        </p:spPr>
        <p:txBody>
          <a:bodyPr/>
          <a:lstStyle/>
          <a:p>
            <a:pPr marL="0" indent="0"/>
            <a:r>
              <a:rPr lang="en-US" altLang="en-US" sz="1200" b="0" dirty="0">
                <a:latin typeface="Verdana"/>
                <a:cs typeface="Verdana" panose="020B0604030504040204" pitchFamily="34" charset="0"/>
              </a:rPr>
              <a:t>Copyright © </a:t>
            </a:r>
            <a:r>
              <a:rPr lang="en-US" dirty="0"/>
              <a:t>2022, 2018, 2015 </a:t>
            </a:r>
            <a:r>
              <a:rPr lang="en-US" altLang="en-US" sz="1200" b="0" dirty="0">
                <a:latin typeface="Verdana"/>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a typeface="Verdana" panose="020B0604030504040204" pitchFamily="34" charset="0"/>
              </a:rPr>
              <a:t>Learning Objectives </a:t>
            </a:r>
            <a:r>
              <a:rPr lang="en-US" sz="2000" b="0" dirty="0">
                <a:ea typeface="Verdana" panose="020B0604030504040204" pitchFamily="34" charset="0"/>
              </a:rPr>
              <a:t>(1 of 3)</a:t>
            </a:r>
            <a:endParaRPr lang="en-IN" sz="2000" dirty="0"/>
          </a:p>
        </p:txBody>
      </p:sp>
      <p:sp>
        <p:nvSpPr>
          <p:cNvPr id="4" name="Content Placeholder 3"/>
          <p:cNvSpPr>
            <a:spLocks noGrp="1"/>
          </p:cNvSpPr>
          <p:nvPr>
            <p:ph sz="quarter" idx="13"/>
          </p:nvPr>
        </p:nvSpPr>
        <p:spPr/>
        <p:txBody>
          <a:bodyPr/>
          <a:lstStyle/>
          <a:p>
            <a:pPr marL="0" indent="0">
              <a:buNone/>
            </a:pPr>
            <a:r>
              <a:rPr lang="en-US" sz="2400" b="1" dirty="0">
                <a:solidFill>
                  <a:srgbClr val="007FA3"/>
                </a:solidFill>
                <a:latin typeface="Arial (Body)"/>
                <a:ea typeface="Verdana" panose="020B0604030504040204" pitchFamily="34" charset="0"/>
                <a:cs typeface="Verdana" panose="020B0604030504040204" pitchFamily="34" charset="0"/>
              </a:rPr>
              <a:t>19.1</a:t>
            </a:r>
            <a:r>
              <a:rPr lang="en-US" sz="2400" dirty="0">
                <a:latin typeface="Arial (Body)"/>
                <a:ea typeface="Verdana" panose="020B0604030504040204" pitchFamily="34" charset="0"/>
                <a:cs typeface="Verdana" panose="020B0604030504040204" pitchFamily="34" charset="0"/>
              </a:rPr>
              <a:t> </a:t>
            </a:r>
            <a:r>
              <a:rPr lang="en-US" dirty="0">
                <a:latin typeface="Arial (Body)"/>
              </a:rPr>
              <a:t>Explain how the goals of internal and external balance motivate economic policy makers in open economies.</a:t>
            </a:r>
          </a:p>
          <a:p>
            <a:pPr marL="0" indent="0">
              <a:buNone/>
            </a:pPr>
            <a:r>
              <a:rPr lang="en-US" b="1" dirty="0">
                <a:solidFill>
                  <a:srgbClr val="007FA3"/>
                </a:solidFill>
                <a:latin typeface="Arial (Body)"/>
                <a:ea typeface="Verdana" panose="020B0604030504040204" pitchFamily="34" charset="0"/>
                <a:cs typeface="Verdana" panose="020B0604030504040204" pitchFamily="34" charset="0"/>
              </a:rPr>
              <a:t>19.2 </a:t>
            </a:r>
            <a:r>
              <a:rPr lang="en-US" dirty="0">
                <a:latin typeface="Arial (Body)"/>
              </a:rPr>
              <a:t>Understand the monetary trilemma that policy makers in open economies inevitably face and how alternative international monetary systems address the trilemma in different ways.</a:t>
            </a:r>
          </a:p>
        </p:txBody>
      </p:sp>
    </p:spTree>
    <p:extLst>
      <p:ext uri="{BB962C8B-B14F-4D97-AF65-F5344CB8AC3E}">
        <p14:creationId xmlns:p14="http://schemas.microsoft.com/office/powerpoint/2010/main" val="1703878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a typeface="Verdana" panose="020B0604030504040204" pitchFamily="34" charset="0"/>
              </a:rPr>
              <a:t>Learning Objectives </a:t>
            </a:r>
            <a:r>
              <a:rPr lang="en-US" sz="2000" b="0" dirty="0">
                <a:ea typeface="Verdana" panose="020B0604030504040204" pitchFamily="34" charset="0"/>
              </a:rPr>
              <a:t>(2 of 3)</a:t>
            </a:r>
            <a:endParaRPr lang="en-IN" sz="2000" dirty="0"/>
          </a:p>
        </p:txBody>
      </p:sp>
      <p:sp>
        <p:nvSpPr>
          <p:cNvPr id="36" name="Content Placeholder 35">
            <a:extLst>
              <a:ext uri="{FF2B5EF4-FFF2-40B4-BE49-F238E27FC236}">
                <a16:creationId xmlns:a16="http://schemas.microsoft.com/office/drawing/2014/main" id="{29F9727F-221B-43F4-823C-12F1E37BEA88}"/>
              </a:ext>
            </a:extLst>
          </p:cNvPr>
          <p:cNvSpPr>
            <a:spLocks noGrp="1"/>
          </p:cNvSpPr>
          <p:nvPr>
            <p:ph sz="quarter" idx="13"/>
          </p:nvPr>
        </p:nvSpPr>
        <p:spPr>
          <a:xfrm>
            <a:off x="457200" y="1559441"/>
            <a:ext cx="8423564" cy="498727"/>
          </a:xfrm>
        </p:spPr>
        <p:txBody>
          <a:bodyPr/>
          <a:lstStyle/>
          <a:p>
            <a:pPr marL="432" indent="0">
              <a:buNone/>
            </a:pPr>
            <a:r>
              <a:rPr lang="en-US" sz="2400" b="1" dirty="0">
                <a:solidFill>
                  <a:srgbClr val="007FA3"/>
                </a:solidFill>
                <a:latin typeface="Arial (Body)"/>
                <a:ea typeface="Verdana" panose="020B0604030504040204" pitchFamily="34" charset="0"/>
                <a:cs typeface="Verdana" panose="020B0604030504040204" pitchFamily="34" charset="0"/>
              </a:rPr>
              <a:t>19.3</a:t>
            </a:r>
            <a:r>
              <a:rPr lang="en-US" sz="2400" dirty="0">
                <a:latin typeface="Arial (Body)"/>
              </a:rPr>
              <a:t> Describe the structure of the international gold standard</a:t>
            </a:r>
            <a:endParaRPr lang="en-IN" sz="2400" dirty="0"/>
          </a:p>
        </p:txBody>
      </p:sp>
      <p:sp>
        <p:nvSpPr>
          <p:cNvPr id="37" name="Content Placeholder 36">
            <a:extLst>
              <a:ext uri="{FF2B5EF4-FFF2-40B4-BE49-F238E27FC236}">
                <a16:creationId xmlns:a16="http://schemas.microsoft.com/office/drawing/2014/main" id="{806C3C52-935A-4BAE-959B-2F11D7D8A330}"/>
              </a:ext>
            </a:extLst>
          </p:cNvPr>
          <p:cNvSpPr>
            <a:spLocks noGrp="1"/>
          </p:cNvSpPr>
          <p:nvPr>
            <p:ph sz="quarter" idx="14"/>
          </p:nvPr>
        </p:nvSpPr>
        <p:spPr>
          <a:xfrm>
            <a:off x="457201" y="2114192"/>
            <a:ext cx="8229600" cy="421902"/>
          </a:xfrm>
        </p:spPr>
        <p:txBody>
          <a:bodyPr tIns="0" bIns="0"/>
          <a:lstStyle/>
          <a:p>
            <a:pPr marL="432" indent="0">
              <a:buNone/>
            </a:pPr>
            <a:r>
              <a:rPr lang="en-US" sz="2400" dirty="0">
                <a:latin typeface="Arial (Body)"/>
              </a:rPr>
              <a:t>that linked countries’ exchange rates and policies prior</a:t>
            </a:r>
            <a:endParaRPr lang="en-IN" sz="2400" dirty="0"/>
          </a:p>
        </p:txBody>
      </p:sp>
      <p:sp>
        <p:nvSpPr>
          <p:cNvPr id="38" name="Content Placeholder 37">
            <a:extLst>
              <a:ext uri="{FF2B5EF4-FFF2-40B4-BE49-F238E27FC236}">
                <a16:creationId xmlns:a16="http://schemas.microsoft.com/office/drawing/2014/main" id="{62C1F659-FDA8-49F2-9264-10B073549812}"/>
              </a:ext>
            </a:extLst>
          </p:cNvPr>
          <p:cNvSpPr>
            <a:spLocks noGrp="1"/>
          </p:cNvSpPr>
          <p:nvPr>
            <p:ph sz="quarter" idx="15"/>
          </p:nvPr>
        </p:nvSpPr>
        <p:spPr>
          <a:xfrm>
            <a:off x="457201" y="2614696"/>
            <a:ext cx="1995054" cy="394306"/>
          </a:xfrm>
        </p:spPr>
        <p:txBody>
          <a:bodyPr tIns="0" bIns="0"/>
          <a:lstStyle/>
          <a:p>
            <a:pPr marL="432" indent="0">
              <a:buNone/>
            </a:pPr>
            <a:r>
              <a:rPr lang="en-US" sz="2400" dirty="0">
                <a:latin typeface="Arial (Body)"/>
              </a:rPr>
              <a:t>to World War</a:t>
            </a:r>
            <a:endParaRPr lang="en-IN" sz="2400" dirty="0"/>
          </a:p>
        </p:txBody>
      </p:sp>
      <p:graphicFrame>
        <p:nvGraphicFramePr>
          <p:cNvPr id="60" name="Object 59" descr="One">
            <a:extLst>
              <a:ext uri="{FF2B5EF4-FFF2-40B4-BE49-F238E27FC236}">
                <a16:creationId xmlns:a16="http://schemas.microsoft.com/office/drawing/2014/main" id="{E57EEBCE-2C84-4D66-A733-0F474A5D16C6}"/>
              </a:ext>
            </a:extLst>
          </p:cNvPr>
          <p:cNvGraphicFramePr>
            <a:graphicFrameLocks noChangeAspect="1"/>
          </p:cNvGraphicFramePr>
          <p:nvPr>
            <p:extLst>
              <p:ext uri="{D42A27DB-BD31-4B8C-83A1-F6EECF244321}">
                <p14:modId xmlns:p14="http://schemas.microsoft.com/office/powerpoint/2010/main" val="1326028304"/>
              </p:ext>
            </p:extLst>
          </p:nvPr>
        </p:nvGraphicFramePr>
        <p:xfrm>
          <a:off x="2572406" y="2659834"/>
          <a:ext cx="92202" cy="291973"/>
        </p:xfrm>
        <a:graphic>
          <a:graphicData uri="http://schemas.openxmlformats.org/presentationml/2006/ole">
            <mc:AlternateContent xmlns:mc="http://schemas.openxmlformats.org/markup-compatibility/2006">
              <mc:Choice xmlns:v="urn:schemas-microsoft-com:vml" Requires="v">
                <p:oleObj name="Equation" r:id="rId2" imgW="75960" imgH="241200" progId="Equation.DSMT4">
                  <p:embed/>
                </p:oleObj>
              </mc:Choice>
              <mc:Fallback>
                <p:oleObj name="Equation" r:id="rId2" imgW="75960" imgH="241200" progId="Equation.DSMT4">
                  <p:embed/>
                  <p:pic>
                    <p:nvPicPr>
                      <p:cNvPr id="0" name=""/>
                      <p:cNvPicPr/>
                      <p:nvPr/>
                    </p:nvPicPr>
                    <p:blipFill>
                      <a:blip r:embed="rId3"/>
                      <a:stretch>
                        <a:fillRect/>
                      </a:stretch>
                    </p:blipFill>
                    <p:spPr>
                      <a:xfrm>
                        <a:off x="2572406" y="2659834"/>
                        <a:ext cx="92202" cy="291973"/>
                      </a:xfrm>
                      <a:prstGeom prst="rect">
                        <a:avLst/>
                      </a:prstGeom>
                    </p:spPr>
                  </p:pic>
                </p:oleObj>
              </mc:Fallback>
            </mc:AlternateContent>
          </a:graphicData>
        </a:graphic>
      </p:graphicFrame>
      <p:sp>
        <p:nvSpPr>
          <p:cNvPr id="39" name="Content Placeholder 38">
            <a:extLst>
              <a:ext uri="{FF2B5EF4-FFF2-40B4-BE49-F238E27FC236}">
                <a16:creationId xmlns:a16="http://schemas.microsoft.com/office/drawing/2014/main" id="{6E39A100-77D1-4AB8-A893-4E23DCF2D145}"/>
              </a:ext>
            </a:extLst>
          </p:cNvPr>
          <p:cNvSpPr>
            <a:spLocks noGrp="1"/>
          </p:cNvSpPr>
          <p:nvPr>
            <p:ph sz="quarter" idx="16"/>
          </p:nvPr>
        </p:nvSpPr>
        <p:spPr>
          <a:xfrm>
            <a:off x="2812469" y="2608289"/>
            <a:ext cx="5486400" cy="394716"/>
          </a:xfrm>
        </p:spPr>
        <p:txBody>
          <a:bodyPr tIns="0" bIns="0"/>
          <a:lstStyle/>
          <a:p>
            <a:pPr marL="432" indent="0">
              <a:buNone/>
            </a:pPr>
            <a:r>
              <a:rPr lang="en-US" sz="2400" dirty="0">
                <a:latin typeface="Arial (Body)"/>
              </a:rPr>
              <a:t>and the role of the Great Depression of</a:t>
            </a:r>
            <a:endParaRPr lang="en-IN" sz="2400" dirty="0"/>
          </a:p>
        </p:txBody>
      </p:sp>
      <p:sp>
        <p:nvSpPr>
          <p:cNvPr id="40" name="Content Placeholder 39">
            <a:extLst>
              <a:ext uri="{FF2B5EF4-FFF2-40B4-BE49-F238E27FC236}">
                <a16:creationId xmlns:a16="http://schemas.microsoft.com/office/drawing/2014/main" id="{8E6631A0-611E-4899-A932-CBE664CD51FC}"/>
              </a:ext>
            </a:extLst>
          </p:cNvPr>
          <p:cNvSpPr>
            <a:spLocks noGrp="1"/>
          </p:cNvSpPr>
          <p:nvPr>
            <p:ph sz="quarter" idx="17"/>
          </p:nvPr>
        </p:nvSpPr>
        <p:spPr>
          <a:xfrm>
            <a:off x="457200" y="3072280"/>
            <a:ext cx="8229600" cy="823416"/>
          </a:xfrm>
        </p:spPr>
        <p:txBody>
          <a:bodyPr tIns="0" bIns="0"/>
          <a:lstStyle/>
          <a:p>
            <a:pPr marL="432" indent="0">
              <a:buNone/>
            </a:pPr>
            <a:r>
              <a:rPr lang="en-US" sz="2400" dirty="0">
                <a:latin typeface="Arial (Body)"/>
              </a:rPr>
              <a:t>the 1930s in ending efforts to restore the pre-1914 world monetary order.</a:t>
            </a:r>
          </a:p>
        </p:txBody>
      </p:sp>
      <p:sp>
        <p:nvSpPr>
          <p:cNvPr id="41" name="Content Placeholder 40">
            <a:extLst>
              <a:ext uri="{FF2B5EF4-FFF2-40B4-BE49-F238E27FC236}">
                <a16:creationId xmlns:a16="http://schemas.microsoft.com/office/drawing/2014/main" id="{5E6DF7C5-EC78-4A2A-A1B7-EFEAC5BB2588}"/>
              </a:ext>
            </a:extLst>
          </p:cNvPr>
          <p:cNvSpPr>
            <a:spLocks noGrp="1"/>
          </p:cNvSpPr>
          <p:nvPr>
            <p:ph sz="quarter" idx="18"/>
          </p:nvPr>
        </p:nvSpPr>
        <p:spPr>
          <a:xfrm>
            <a:off x="457201" y="4055433"/>
            <a:ext cx="5389417" cy="394442"/>
          </a:xfrm>
        </p:spPr>
        <p:txBody>
          <a:bodyPr tIns="0" bIns="0"/>
          <a:lstStyle/>
          <a:p>
            <a:pPr marL="432" indent="0">
              <a:buNone/>
            </a:pPr>
            <a:r>
              <a:rPr lang="en-US" sz="2400" b="1" dirty="0">
                <a:solidFill>
                  <a:srgbClr val="007FA3"/>
                </a:solidFill>
                <a:latin typeface="Arial (Body)"/>
                <a:ea typeface="Verdana" panose="020B0604030504040204" pitchFamily="34" charset="0"/>
                <a:cs typeface="Verdana" panose="020B0604030504040204" pitchFamily="34" charset="0"/>
              </a:rPr>
              <a:t>19.4</a:t>
            </a:r>
            <a:r>
              <a:rPr lang="en-US" sz="2400" b="1" dirty="0">
                <a:solidFill>
                  <a:schemeClr val="accent1"/>
                </a:solidFill>
                <a:latin typeface="Arial (Body)"/>
                <a:ea typeface="Verdana" panose="020B0604030504040204" pitchFamily="34" charset="0"/>
                <a:cs typeface="Verdana" panose="020B0604030504040204" pitchFamily="34" charset="0"/>
              </a:rPr>
              <a:t> </a:t>
            </a:r>
            <a:r>
              <a:rPr lang="en-US" sz="2400" dirty="0">
                <a:latin typeface="Arial (Body)"/>
              </a:rPr>
              <a:t>Discuss how the post–World War</a:t>
            </a:r>
            <a:endParaRPr lang="en-IN" sz="2400" dirty="0"/>
          </a:p>
        </p:txBody>
      </p:sp>
      <p:graphicFrame>
        <p:nvGraphicFramePr>
          <p:cNvPr id="61" name="Object 60" descr="Two">
            <a:extLst>
              <a:ext uri="{FF2B5EF4-FFF2-40B4-BE49-F238E27FC236}">
                <a16:creationId xmlns:a16="http://schemas.microsoft.com/office/drawing/2014/main" id="{74CE5A34-653A-48E4-BC51-DE75768C6B00}"/>
              </a:ext>
            </a:extLst>
          </p:cNvPr>
          <p:cNvGraphicFramePr>
            <a:graphicFrameLocks noChangeAspect="1"/>
          </p:cNvGraphicFramePr>
          <p:nvPr>
            <p:extLst>
              <p:ext uri="{D42A27DB-BD31-4B8C-83A1-F6EECF244321}">
                <p14:modId xmlns:p14="http://schemas.microsoft.com/office/powerpoint/2010/main" val="3568010689"/>
              </p:ext>
            </p:extLst>
          </p:nvPr>
        </p:nvGraphicFramePr>
        <p:xfrm>
          <a:off x="5941580" y="4087603"/>
          <a:ext cx="184150" cy="292100"/>
        </p:xfrm>
        <a:graphic>
          <a:graphicData uri="http://schemas.openxmlformats.org/presentationml/2006/ole">
            <mc:AlternateContent xmlns:mc="http://schemas.openxmlformats.org/markup-compatibility/2006">
              <mc:Choice xmlns:v="urn:schemas-microsoft-com:vml" Requires="v">
                <p:oleObj name="Equation" r:id="rId4" imgW="152280" imgH="241200" progId="Equation.DSMT4">
                  <p:embed/>
                </p:oleObj>
              </mc:Choice>
              <mc:Fallback>
                <p:oleObj name="Equation" r:id="rId4" imgW="152280" imgH="241200" progId="Equation.DSMT4">
                  <p:embed/>
                  <p:pic>
                    <p:nvPicPr>
                      <p:cNvPr id="60" name="Object 59">
                        <a:extLst>
                          <a:ext uri="{FF2B5EF4-FFF2-40B4-BE49-F238E27FC236}">
                            <a16:creationId xmlns:a16="http://schemas.microsoft.com/office/drawing/2014/main" id="{E57EEBCE-2C84-4D66-A733-0F474A5D16C6}"/>
                          </a:ext>
                        </a:extLst>
                      </p:cNvPr>
                      <p:cNvPicPr/>
                      <p:nvPr/>
                    </p:nvPicPr>
                    <p:blipFill>
                      <a:blip r:embed="rId5"/>
                      <a:stretch>
                        <a:fillRect/>
                      </a:stretch>
                    </p:blipFill>
                    <p:spPr>
                      <a:xfrm>
                        <a:off x="5941580" y="4087603"/>
                        <a:ext cx="184150" cy="292100"/>
                      </a:xfrm>
                      <a:prstGeom prst="rect">
                        <a:avLst/>
                      </a:prstGeom>
                    </p:spPr>
                  </p:pic>
                </p:oleObj>
              </mc:Fallback>
            </mc:AlternateContent>
          </a:graphicData>
        </a:graphic>
      </p:graphicFrame>
      <p:sp>
        <p:nvSpPr>
          <p:cNvPr id="42" name="Content Placeholder 41">
            <a:extLst>
              <a:ext uri="{FF2B5EF4-FFF2-40B4-BE49-F238E27FC236}">
                <a16:creationId xmlns:a16="http://schemas.microsoft.com/office/drawing/2014/main" id="{63A7DAAB-77EE-4B0F-9ED2-C0BCB4FFBF54}"/>
              </a:ext>
            </a:extLst>
          </p:cNvPr>
          <p:cNvSpPr>
            <a:spLocks noGrp="1"/>
          </p:cNvSpPr>
          <p:nvPr>
            <p:ph sz="quarter" idx="19"/>
          </p:nvPr>
        </p:nvSpPr>
        <p:spPr>
          <a:xfrm>
            <a:off x="6220692" y="4048829"/>
            <a:ext cx="2341418" cy="395774"/>
          </a:xfrm>
        </p:spPr>
        <p:txBody>
          <a:bodyPr tIns="0" bIns="0"/>
          <a:lstStyle/>
          <a:p>
            <a:pPr marL="432" indent="0">
              <a:buNone/>
            </a:pPr>
            <a:r>
              <a:rPr lang="en-US" sz="2400" dirty="0">
                <a:latin typeface="Arial (Body)"/>
              </a:rPr>
              <a:t>Bretton Woods</a:t>
            </a:r>
            <a:endParaRPr lang="en-IN" sz="2400" dirty="0"/>
          </a:p>
        </p:txBody>
      </p:sp>
      <p:sp>
        <p:nvSpPr>
          <p:cNvPr id="43" name="Content Placeholder 42">
            <a:extLst>
              <a:ext uri="{FF2B5EF4-FFF2-40B4-BE49-F238E27FC236}">
                <a16:creationId xmlns:a16="http://schemas.microsoft.com/office/drawing/2014/main" id="{C941DF64-C9EB-49E0-A68C-43B30665B7DF}"/>
              </a:ext>
            </a:extLst>
          </p:cNvPr>
          <p:cNvSpPr>
            <a:spLocks noGrp="1"/>
          </p:cNvSpPr>
          <p:nvPr>
            <p:ph sz="quarter" idx="20"/>
          </p:nvPr>
        </p:nvSpPr>
        <p:spPr>
          <a:xfrm>
            <a:off x="457201" y="4506026"/>
            <a:ext cx="8229600" cy="1135338"/>
          </a:xfrm>
        </p:spPr>
        <p:txBody>
          <a:bodyPr tIns="0" bIns="0"/>
          <a:lstStyle/>
          <a:p>
            <a:pPr marL="432" indent="0">
              <a:buNone/>
            </a:pPr>
            <a:r>
              <a:rPr lang="en-US" sz="2400" dirty="0">
                <a:latin typeface="Arial (Body)"/>
              </a:rPr>
              <a:t>system of globally fixed exchange rates was designed to combine exchange rate stability with limited autonomy of national macroeconomic policies.</a:t>
            </a:r>
            <a:endParaRPr lang="en-IN" sz="2400" dirty="0"/>
          </a:p>
        </p:txBody>
      </p:sp>
    </p:spTree>
    <p:extLst>
      <p:ext uri="{BB962C8B-B14F-4D97-AF65-F5344CB8AC3E}">
        <p14:creationId xmlns:p14="http://schemas.microsoft.com/office/powerpoint/2010/main" val="1765596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a typeface="Verdana" panose="020B0604030504040204" pitchFamily="34" charset="0"/>
              </a:rPr>
              <a:t>Learning Objectives </a:t>
            </a:r>
            <a:r>
              <a:rPr lang="en-US" sz="2000" b="0" dirty="0">
                <a:ea typeface="Verdana" panose="020B0604030504040204" pitchFamily="34" charset="0"/>
              </a:rPr>
              <a:t>(3 of 3)</a:t>
            </a:r>
            <a:endParaRPr lang="en-IN" sz="2000" dirty="0"/>
          </a:p>
        </p:txBody>
      </p:sp>
      <p:sp>
        <p:nvSpPr>
          <p:cNvPr id="4" name="Content Placeholder 3"/>
          <p:cNvSpPr>
            <a:spLocks noGrp="1"/>
          </p:cNvSpPr>
          <p:nvPr>
            <p:ph sz="quarter" idx="13"/>
          </p:nvPr>
        </p:nvSpPr>
        <p:spPr>
          <a:xfrm>
            <a:off x="457199" y="1556327"/>
            <a:ext cx="8415867" cy="4586896"/>
          </a:xfrm>
        </p:spPr>
        <p:txBody>
          <a:bodyPr/>
          <a:lstStyle/>
          <a:p>
            <a:pPr marL="0" indent="0">
              <a:buNone/>
            </a:pPr>
            <a:r>
              <a:rPr lang="en-US" b="1" dirty="0">
                <a:solidFill>
                  <a:srgbClr val="007FA3"/>
                </a:solidFill>
                <a:latin typeface="Arial (Body)"/>
                <a:ea typeface="Verdana" panose="020B0604030504040204" pitchFamily="34" charset="0"/>
                <a:cs typeface="Verdana" panose="020B0604030504040204" pitchFamily="34" charset="0"/>
              </a:rPr>
              <a:t>19.5</a:t>
            </a:r>
            <a:r>
              <a:rPr lang="en-US" dirty="0">
                <a:latin typeface="Arial (Body)"/>
                <a:ea typeface="Verdana" panose="020B0604030504040204" pitchFamily="34" charset="0"/>
                <a:cs typeface="Verdana" panose="020B0604030504040204" pitchFamily="34" charset="0"/>
              </a:rPr>
              <a:t> </a:t>
            </a:r>
            <a:r>
              <a:rPr lang="en-US" dirty="0">
                <a:latin typeface="Arial (Body)"/>
              </a:rPr>
              <a:t>Explain how the Bretton Woods system collapsed in 1973 and why many economists at the time favored an international financial system such as the current one based on floating dollar exchange rates.</a:t>
            </a:r>
          </a:p>
          <a:p>
            <a:pPr marL="0" indent="0">
              <a:buNone/>
              <a:tabLst>
                <a:tab pos="685800" algn="l"/>
              </a:tabLst>
            </a:pPr>
            <a:r>
              <a:rPr lang="en-US" b="1" dirty="0">
                <a:solidFill>
                  <a:srgbClr val="007FA3"/>
                </a:solidFill>
                <a:latin typeface="Arial (Body)"/>
                <a:ea typeface="Verdana" panose="020B0604030504040204" pitchFamily="34" charset="0"/>
                <a:cs typeface="Verdana" panose="020B0604030504040204" pitchFamily="34" charset="0"/>
              </a:rPr>
              <a:t>19.6 </a:t>
            </a:r>
            <a:r>
              <a:rPr lang="en-US" dirty="0">
                <a:latin typeface="Arial (Body)"/>
              </a:rPr>
              <a:t>Summarize how the monetary and fiscal policies of a large country such as the United States are transmitted abroad under floating exchange rates.</a:t>
            </a:r>
          </a:p>
          <a:p>
            <a:pPr marL="0" indent="0">
              <a:buNone/>
            </a:pPr>
            <a:r>
              <a:rPr lang="en-US" b="1" dirty="0">
                <a:solidFill>
                  <a:srgbClr val="007FA3"/>
                </a:solidFill>
                <a:latin typeface="Arial (Body)"/>
                <a:ea typeface="Verdana" panose="020B0604030504040204" pitchFamily="34" charset="0"/>
                <a:cs typeface="Verdana" panose="020B0604030504040204" pitchFamily="34" charset="0"/>
              </a:rPr>
              <a:t>19.7</a:t>
            </a:r>
            <a:r>
              <a:rPr lang="en-US" dirty="0">
                <a:latin typeface="Arial (Body)"/>
              </a:rPr>
              <a:t> Discuss how the world economy has performed in recent years and what lessons the post-1973 experience teaches about the need for international policy coordination.</a:t>
            </a:r>
          </a:p>
        </p:txBody>
      </p:sp>
    </p:spTree>
    <p:extLst>
      <p:ext uri="{BB962C8B-B14F-4D97-AF65-F5344CB8AC3E}">
        <p14:creationId xmlns:p14="http://schemas.microsoft.com/office/powerpoint/2010/main" val="7860940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cs typeface="Times New Roman" panose="02020603050405020304" pitchFamily="18" charset="0"/>
              </a:rPr>
              <a:t>Preview </a:t>
            </a:r>
            <a:r>
              <a:rPr lang="en-US" altLang="en-US" sz="2000" b="0" dirty="0">
                <a:cs typeface="Times New Roman" panose="02020603050405020304" pitchFamily="18" charset="0"/>
              </a:rPr>
              <a:t>(1 of 2)</a:t>
            </a:r>
            <a:endParaRPr lang="en-IN" sz="2000" dirty="0">
              <a:cs typeface="Times New Roman" panose="02020603050405020304" pitchFamily="18" charset="0"/>
            </a:endParaRPr>
          </a:p>
        </p:txBody>
      </p:sp>
      <p:sp>
        <p:nvSpPr>
          <p:cNvPr id="7" name="Content Placeholder 6"/>
          <p:cNvSpPr>
            <a:spLocks noGrp="1"/>
          </p:cNvSpPr>
          <p:nvPr>
            <p:ph sz="quarter" idx="13"/>
          </p:nvPr>
        </p:nvSpPr>
        <p:spPr>
          <a:xfrm>
            <a:off x="457199" y="1556327"/>
            <a:ext cx="8449733" cy="3362914"/>
          </a:xfrm>
        </p:spPr>
        <p:txBody>
          <a:bodyPr/>
          <a:lstStyle/>
          <a:p>
            <a:pPr eaLnBrk="1" hangingPunct="1"/>
            <a:r>
              <a:rPr lang="en-US" altLang="en-US" dirty="0">
                <a:latin typeface="Arial (Body)"/>
              </a:rPr>
              <a:t>Goals of macroeconomic policies—internal and external balance</a:t>
            </a:r>
          </a:p>
          <a:p>
            <a:pPr eaLnBrk="1" hangingPunct="1"/>
            <a:r>
              <a:rPr lang="en-US" altLang="en-US" dirty="0">
                <a:latin typeface="Arial (Body)"/>
              </a:rPr>
              <a:t>Gold standard era 1870–1914</a:t>
            </a:r>
          </a:p>
          <a:p>
            <a:pPr eaLnBrk="1" hangingPunct="1"/>
            <a:r>
              <a:rPr lang="en-US" altLang="en-US" dirty="0">
                <a:latin typeface="Arial (Body)"/>
              </a:rPr>
              <a:t>International monetary system during interwar period 1918–1939 </a:t>
            </a:r>
          </a:p>
          <a:p>
            <a:pPr eaLnBrk="1" hangingPunct="1"/>
            <a:r>
              <a:rPr lang="en-US" altLang="en-US" dirty="0">
                <a:latin typeface="Arial (Body)"/>
              </a:rPr>
              <a:t>Bretton Woods system of fixed exchange rates 1944–1973</a:t>
            </a:r>
          </a:p>
        </p:txBody>
      </p:sp>
    </p:spTree>
    <p:extLst>
      <p:ext uri="{BB962C8B-B14F-4D97-AF65-F5344CB8AC3E}">
        <p14:creationId xmlns:p14="http://schemas.microsoft.com/office/powerpoint/2010/main" val="1348958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cs typeface="Times New Roman" panose="02020603050405020304" pitchFamily="18" charset="0"/>
              </a:rPr>
              <a:t>Preview </a:t>
            </a:r>
            <a:r>
              <a:rPr lang="en-US" altLang="en-US" sz="2000" b="0" dirty="0">
                <a:cs typeface="Times New Roman" panose="02020603050405020304" pitchFamily="18" charset="0"/>
              </a:rPr>
              <a:t>(2 of 2)</a:t>
            </a:r>
            <a:endParaRPr lang="en-IN" sz="2000" dirty="0">
              <a:cs typeface="Times New Roman" panose="02020603050405020304" pitchFamily="18" charset="0"/>
            </a:endParaRPr>
          </a:p>
        </p:txBody>
      </p:sp>
      <p:sp>
        <p:nvSpPr>
          <p:cNvPr id="7" name="Content Placeholder 6"/>
          <p:cNvSpPr>
            <a:spLocks noGrp="1"/>
          </p:cNvSpPr>
          <p:nvPr>
            <p:ph sz="quarter" idx="13"/>
          </p:nvPr>
        </p:nvSpPr>
        <p:spPr>
          <a:xfrm>
            <a:off x="457200" y="1556327"/>
            <a:ext cx="8229600" cy="3362914"/>
          </a:xfrm>
        </p:spPr>
        <p:txBody>
          <a:bodyPr/>
          <a:lstStyle/>
          <a:p>
            <a:pPr eaLnBrk="1" hangingPunct="1"/>
            <a:r>
              <a:rPr lang="en-US" altLang="en-US" dirty="0">
                <a:latin typeface="Arial (Body)"/>
              </a:rPr>
              <a:t>Collapse of the Bretton Woods system </a:t>
            </a:r>
          </a:p>
          <a:p>
            <a:pPr eaLnBrk="1" hangingPunct="1"/>
            <a:r>
              <a:rPr lang="en-US" altLang="en-US" dirty="0">
                <a:latin typeface="Arial (Body)"/>
              </a:rPr>
              <a:t>Arguments for floating exchange rates</a:t>
            </a:r>
          </a:p>
          <a:p>
            <a:pPr eaLnBrk="1" hangingPunct="1"/>
            <a:r>
              <a:rPr lang="en-US" altLang="en-US" dirty="0">
                <a:latin typeface="Arial (Body)"/>
              </a:rPr>
              <a:t>Macroeconomic interdependence under a floating exchange rate</a:t>
            </a:r>
          </a:p>
          <a:p>
            <a:pPr eaLnBrk="1" hangingPunct="1"/>
            <a:r>
              <a:rPr lang="en-US" altLang="en-US" dirty="0">
                <a:latin typeface="Arial (Body)"/>
              </a:rPr>
              <a:t>Foreign exchange markets since 1973</a:t>
            </a:r>
          </a:p>
        </p:txBody>
      </p:sp>
    </p:spTree>
    <p:extLst>
      <p:ext uri="{BB962C8B-B14F-4D97-AF65-F5344CB8AC3E}">
        <p14:creationId xmlns:p14="http://schemas.microsoft.com/office/powerpoint/2010/main" val="3599165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1976D59-A06B-4C04-A528-7E38D6891743}"/>
              </a:ext>
            </a:extLst>
          </p:cNvPr>
          <p:cNvSpPr>
            <a:spLocks noGrp="1"/>
          </p:cNvSpPr>
          <p:nvPr>
            <p:ph type="title"/>
          </p:nvPr>
        </p:nvSpPr>
        <p:spPr/>
        <p:txBody>
          <a:bodyPr/>
          <a:lstStyle/>
          <a:p>
            <a:r>
              <a:rPr lang="en-US" altLang="en-US" dirty="0"/>
              <a:t>Macroeconomic Policy Goals </a:t>
            </a:r>
            <a:r>
              <a:rPr lang="en-US" altLang="en-US" sz="2000" b="0" dirty="0"/>
              <a:t>(1 of 3)</a:t>
            </a:r>
            <a:endParaRPr lang="en-IN" sz="2000" dirty="0"/>
          </a:p>
        </p:txBody>
      </p:sp>
      <p:sp>
        <p:nvSpPr>
          <p:cNvPr id="6" name="Content Placeholder 5">
            <a:extLst>
              <a:ext uri="{FF2B5EF4-FFF2-40B4-BE49-F238E27FC236}">
                <a16:creationId xmlns:a16="http://schemas.microsoft.com/office/drawing/2014/main" id="{12EEC7C2-6E8D-4AF3-9097-724D766CCCF9}"/>
              </a:ext>
            </a:extLst>
          </p:cNvPr>
          <p:cNvSpPr>
            <a:spLocks noGrp="1"/>
          </p:cNvSpPr>
          <p:nvPr>
            <p:ph sz="quarter" idx="13"/>
          </p:nvPr>
        </p:nvSpPr>
        <p:spPr/>
        <p:txBody>
          <a:bodyPr/>
          <a:lstStyle/>
          <a:p>
            <a:pPr eaLnBrk="1" hangingPunct="1"/>
            <a:r>
              <a:rPr lang="en-US" altLang="ja-JP" sz="2300" b="1" dirty="0">
                <a:solidFill>
                  <a:schemeClr val="tx1"/>
                </a:solidFill>
                <a:latin typeface="Arial (Body)"/>
              </a:rPr>
              <a:t>Internal balance</a:t>
            </a:r>
            <a:r>
              <a:rPr lang="en-US" altLang="ja-JP" sz="2300" dirty="0">
                <a:solidFill>
                  <a:schemeClr val="tx1"/>
                </a:solidFill>
                <a:latin typeface="Arial (Body)"/>
              </a:rPr>
              <a:t> describes the macroeconomic goals of producing at </a:t>
            </a:r>
            <a:r>
              <a:rPr lang="en-US" altLang="ja-JP" sz="2300" b="1" dirty="0">
                <a:solidFill>
                  <a:schemeClr val="tx1"/>
                </a:solidFill>
                <a:latin typeface="Arial (Body)"/>
              </a:rPr>
              <a:t>potential output</a:t>
            </a:r>
            <a:r>
              <a:rPr lang="en-US" altLang="ja-JP" sz="2300" dirty="0">
                <a:solidFill>
                  <a:schemeClr val="tx1"/>
                </a:solidFill>
                <a:latin typeface="Arial (Body)"/>
              </a:rPr>
              <a:t> (at “full employment”) and of </a:t>
            </a:r>
            <a:r>
              <a:rPr lang="en-US" altLang="ja-JP" sz="2300" b="1" dirty="0">
                <a:solidFill>
                  <a:schemeClr val="tx1"/>
                </a:solidFill>
                <a:latin typeface="Arial (Body)"/>
              </a:rPr>
              <a:t>price stability </a:t>
            </a:r>
            <a:r>
              <a:rPr lang="en-US" altLang="ja-JP" sz="2300" dirty="0">
                <a:solidFill>
                  <a:schemeClr val="tx1"/>
                </a:solidFill>
                <a:latin typeface="Arial (Body)"/>
              </a:rPr>
              <a:t>(low inflation).</a:t>
            </a:r>
          </a:p>
          <a:p>
            <a:pPr lvl="1" eaLnBrk="1" hangingPunct="1"/>
            <a:r>
              <a:rPr lang="en-US" altLang="en-US" sz="2300" dirty="0">
                <a:solidFill>
                  <a:schemeClr val="tx1"/>
                </a:solidFill>
                <a:latin typeface="Arial (Body)"/>
              </a:rPr>
              <a:t>An unsustainable use of resources (overemployment) tends to increase prices; an ineffective use of resources (underemployment) tends to decrease prices.</a:t>
            </a:r>
          </a:p>
          <a:p>
            <a:pPr eaLnBrk="1" hangingPunct="1"/>
            <a:r>
              <a:rPr lang="en-US" altLang="en-US" sz="2300" dirty="0">
                <a:solidFill>
                  <a:schemeClr val="tx1"/>
                </a:solidFill>
                <a:latin typeface="Arial (Body)"/>
              </a:rPr>
              <a:t>Volatile aggregate demand and output tend to create volatile prices.</a:t>
            </a:r>
          </a:p>
          <a:p>
            <a:pPr lvl="1" eaLnBrk="1" hangingPunct="1"/>
            <a:r>
              <a:rPr lang="en-US" altLang="en-US" sz="2300" dirty="0">
                <a:solidFill>
                  <a:schemeClr val="tx1"/>
                </a:solidFill>
                <a:latin typeface="Arial (Body)"/>
              </a:rPr>
              <a:t>Price-level movements reduce economy’</a:t>
            </a:r>
            <a:r>
              <a:rPr lang="en-US" altLang="ja-JP" sz="2300" dirty="0">
                <a:solidFill>
                  <a:schemeClr val="tx1"/>
                </a:solidFill>
                <a:latin typeface="Arial (Body)"/>
              </a:rPr>
              <a:t>s efficiency by making the real value of the monetary unit less certain and thus a less useful guide for economic decisions.</a:t>
            </a:r>
            <a:endParaRPr lang="en-US" altLang="en-US" sz="2300" dirty="0">
              <a:solidFill>
                <a:schemeClr val="tx1"/>
              </a:solidFill>
              <a:latin typeface="Arial (Body)"/>
            </a:endParaRPr>
          </a:p>
        </p:txBody>
      </p:sp>
    </p:spTree>
    <p:extLst>
      <p:ext uri="{BB962C8B-B14F-4D97-AF65-F5344CB8AC3E}">
        <p14:creationId xmlns:p14="http://schemas.microsoft.com/office/powerpoint/2010/main" val="2804317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1976D59-A06B-4C04-A528-7E38D6891743}"/>
              </a:ext>
            </a:extLst>
          </p:cNvPr>
          <p:cNvSpPr>
            <a:spLocks noGrp="1"/>
          </p:cNvSpPr>
          <p:nvPr>
            <p:ph type="title"/>
          </p:nvPr>
        </p:nvSpPr>
        <p:spPr/>
        <p:txBody>
          <a:bodyPr/>
          <a:lstStyle/>
          <a:p>
            <a:r>
              <a:rPr lang="en-US" altLang="en-US" dirty="0"/>
              <a:t>Macroeconomic Policy Goals </a:t>
            </a:r>
            <a:r>
              <a:rPr lang="en-US" altLang="en-US" sz="2000" b="0" dirty="0"/>
              <a:t>(2 of 3)</a:t>
            </a:r>
            <a:endParaRPr lang="en-IN" sz="2000" dirty="0"/>
          </a:p>
        </p:txBody>
      </p:sp>
      <p:sp>
        <p:nvSpPr>
          <p:cNvPr id="6" name="Content Placeholder 5">
            <a:extLst>
              <a:ext uri="{FF2B5EF4-FFF2-40B4-BE49-F238E27FC236}">
                <a16:creationId xmlns:a16="http://schemas.microsoft.com/office/drawing/2014/main" id="{12EEC7C2-6E8D-4AF3-9097-724D766CCCF9}"/>
              </a:ext>
            </a:extLst>
          </p:cNvPr>
          <p:cNvSpPr>
            <a:spLocks noGrp="1"/>
          </p:cNvSpPr>
          <p:nvPr>
            <p:ph sz="quarter" idx="13"/>
          </p:nvPr>
        </p:nvSpPr>
        <p:spPr/>
        <p:txBody>
          <a:bodyPr/>
          <a:lstStyle/>
          <a:p>
            <a:pPr eaLnBrk="1" hangingPunct="1"/>
            <a:r>
              <a:rPr lang="en-US" altLang="ja-JP" b="1" dirty="0">
                <a:latin typeface="Arial (Body)"/>
              </a:rPr>
              <a:t>External balance</a:t>
            </a:r>
            <a:r>
              <a:rPr lang="en-US" altLang="ja-JP" dirty="0">
                <a:latin typeface="Arial (Body)"/>
              </a:rPr>
              <a:t> is achieved when a current account is</a:t>
            </a:r>
          </a:p>
          <a:p>
            <a:pPr lvl="1" eaLnBrk="1" hangingPunct="1"/>
            <a:r>
              <a:rPr lang="en-US" altLang="en-US" dirty="0">
                <a:latin typeface="Arial (Body)"/>
              </a:rPr>
              <a:t>neither so deeply in deficit that the country may be unable to repay its foreign debts,</a:t>
            </a:r>
          </a:p>
          <a:p>
            <a:pPr lvl="1" eaLnBrk="1" hangingPunct="1"/>
            <a:r>
              <a:rPr lang="en-US" altLang="en-US" dirty="0">
                <a:latin typeface="Arial (Body)"/>
              </a:rPr>
              <a:t>nor so strongly in surplus that foreigners are put in that position. </a:t>
            </a:r>
          </a:p>
          <a:p>
            <a:pPr lvl="2" eaLnBrk="1" hangingPunct="1"/>
            <a:r>
              <a:rPr lang="en-US" altLang="en-US" dirty="0">
                <a:latin typeface="Arial (Body)"/>
              </a:rPr>
              <a:t>For example, pressure on Japan in the 1980s and China in the 2000s.</a:t>
            </a:r>
          </a:p>
          <a:p>
            <a:pPr eaLnBrk="1" hangingPunct="1"/>
            <a:r>
              <a:rPr lang="en-US" altLang="en-US" dirty="0">
                <a:latin typeface="Arial (Body)"/>
              </a:rPr>
              <a:t>An </a:t>
            </a:r>
            <a:r>
              <a:rPr lang="en-US" altLang="en-US" b="1" dirty="0">
                <a:latin typeface="Arial (Body)"/>
              </a:rPr>
              <a:t>intertemporal budget constraint </a:t>
            </a:r>
            <a:r>
              <a:rPr lang="en-US" altLang="en-US" dirty="0">
                <a:latin typeface="Arial (Body)"/>
              </a:rPr>
              <a:t>limits each country’</a:t>
            </a:r>
            <a:r>
              <a:rPr lang="en-US" altLang="ja-JP" dirty="0">
                <a:latin typeface="Arial (Body)"/>
              </a:rPr>
              <a:t>s spending over time to levels that it can repay (with interest).</a:t>
            </a:r>
            <a:endParaRPr lang="en-US" altLang="en-US" dirty="0">
              <a:latin typeface="Arial (Body)"/>
            </a:endParaRPr>
          </a:p>
        </p:txBody>
      </p:sp>
    </p:spTree>
    <p:extLst>
      <p:ext uri="{BB962C8B-B14F-4D97-AF65-F5344CB8AC3E}">
        <p14:creationId xmlns:p14="http://schemas.microsoft.com/office/powerpoint/2010/main" val="2310859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1976D59-A06B-4C04-A528-7E38D6891743}"/>
              </a:ext>
            </a:extLst>
          </p:cNvPr>
          <p:cNvSpPr>
            <a:spLocks noGrp="1"/>
          </p:cNvSpPr>
          <p:nvPr>
            <p:ph type="title"/>
          </p:nvPr>
        </p:nvSpPr>
        <p:spPr/>
        <p:txBody>
          <a:bodyPr/>
          <a:lstStyle/>
          <a:p>
            <a:r>
              <a:rPr lang="en-US" altLang="en-US" dirty="0"/>
              <a:t>Macroeconomic Policy Goals </a:t>
            </a:r>
            <a:r>
              <a:rPr lang="en-US" altLang="en-US" sz="2000" b="0" dirty="0"/>
              <a:t>(3 of 3)</a:t>
            </a:r>
            <a:endParaRPr lang="en-IN" sz="2000" dirty="0"/>
          </a:p>
        </p:txBody>
      </p:sp>
      <p:sp>
        <p:nvSpPr>
          <p:cNvPr id="6" name="Content Placeholder 5">
            <a:extLst>
              <a:ext uri="{FF2B5EF4-FFF2-40B4-BE49-F238E27FC236}">
                <a16:creationId xmlns:a16="http://schemas.microsoft.com/office/drawing/2014/main" id="{12EEC7C2-6E8D-4AF3-9097-724D766CCCF9}"/>
              </a:ext>
            </a:extLst>
          </p:cNvPr>
          <p:cNvSpPr>
            <a:spLocks noGrp="1"/>
          </p:cNvSpPr>
          <p:nvPr>
            <p:ph sz="quarter" idx="13"/>
          </p:nvPr>
        </p:nvSpPr>
        <p:spPr>
          <a:xfrm>
            <a:off x="457199" y="1556327"/>
            <a:ext cx="8348133" cy="4586896"/>
          </a:xfrm>
        </p:spPr>
        <p:txBody>
          <a:bodyPr/>
          <a:lstStyle/>
          <a:p>
            <a:r>
              <a:rPr lang="en-US" dirty="0">
                <a:latin typeface="Arial (Body)"/>
              </a:rPr>
              <a:t>When countries begin to have trouble meeting their payments on past foreign loans, foreign creditors become reluctant to lend them new funds and may even demand immediate repayment of the earlier loans. </a:t>
            </a:r>
          </a:p>
          <a:p>
            <a:r>
              <a:rPr lang="en-US" dirty="0">
                <a:latin typeface="Arial (Body)"/>
              </a:rPr>
              <a:t>Such an event is called a </a:t>
            </a:r>
            <a:r>
              <a:rPr lang="en-US" b="1" dirty="0">
                <a:latin typeface="Arial (Body)"/>
              </a:rPr>
              <a:t>sudden stop </a:t>
            </a:r>
            <a:r>
              <a:rPr lang="en-US" dirty="0">
                <a:latin typeface="Arial (Body)"/>
              </a:rPr>
              <a:t>in foreign lending.</a:t>
            </a:r>
          </a:p>
          <a:p>
            <a:r>
              <a:rPr lang="en-US" dirty="0">
                <a:latin typeface="Arial (Body)"/>
              </a:rPr>
              <a:t>In such cases, the home government may have to take severe action to reduce the country’s desired borrowing from foreigners to feasible levels as well as to repay maturing loans that foreigners are unwilling to renew. </a:t>
            </a:r>
          </a:p>
        </p:txBody>
      </p:sp>
    </p:spTree>
    <p:extLst>
      <p:ext uri="{BB962C8B-B14F-4D97-AF65-F5344CB8AC3E}">
        <p14:creationId xmlns:p14="http://schemas.microsoft.com/office/powerpoint/2010/main" val="364795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C1120-5C46-41CA-B0D8-6F509C85CF30}"/>
              </a:ext>
            </a:extLst>
          </p:cNvPr>
          <p:cNvSpPr>
            <a:spLocks noGrp="1"/>
          </p:cNvSpPr>
          <p:nvPr>
            <p:ph type="title"/>
          </p:nvPr>
        </p:nvSpPr>
        <p:spPr/>
        <p:txBody>
          <a:bodyPr/>
          <a:lstStyle/>
          <a:p>
            <a:r>
              <a:rPr lang="en-US" altLang="en-US" sz="3200" dirty="0">
                <a:latin typeface="+mn-lt"/>
              </a:rPr>
              <a:t>Can A Country Borrow Forever? The Case of New Zealand</a:t>
            </a:r>
            <a:endParaRPr lang="en-IN" sz="3200" dirty="0">
              <a:latin typeface="+mn-lt"/>
            </a:endParaRPr>
          </a:p>
        </p:txBody>
      </p:sp>
      <p:sp>
        <p:nvSpPr>
          <p:cNvPr id="3" name="Content Placeholder 2">
            <a:extLst>
              <a:ext uri="{FF2B5EF4-FFF2-40B4-BE49-F238E27FC236}">
                <a16:creationId xmlns:a16="http://schemas.microsoft.com/office/drawing/2014/main" id="{415B0874-66B1-4B21-BADC-62CF925F0226}"/>
              </a:ext>
            </a:extLst>
          </p:cNvPr>
          <p:cNvSpPr>
            <a:spLocks noGrp="1"/>
          </p:cNvSpPr>
          <p:nvPr>
            <p:ph sz="quarter" idx="13"/>
          </p:nvPr>
        </p:nvSpPr>
        <p:spPr>
          <a:xfrm>
            <a:off x="457200" y="1556327"/>
            <a:ext cx="8438444" cy="4586896"/>
          </a:xfrm>
        </p:spPr>
        <p:txBody>
          <a:bodyPr/>
          <a:lstStyle/>
          <a:p>
            <a:pPr eaLnBrk="1" hangingPunct="1"/>
            <a:r>
              <a:rPr lang="en-US" altLang="en-US" sz="2200" dirty="0">
                <a:latin typeface="Arial (Body)"/>
              </a:rPr>
              <a:t>New Zealand has run current account deficits every year for as far back as official statistics have been recorded.</a:t>
            </a:r>
          </a:p>
          <a:p>
            <a:pPr eaLnBrk="1" hangingPunct="1"/>
            <a:r>
              <a:rPr lang="en-US" altLang="en-US" sz="2200" dirty="0">
                <a:latin typeface="Arial (Body)"/>
              </a:rPr>
              <a:t>Lenders continue to extend credit and do not seem worried about whether they will be repaid.</a:t>
            </a:r>
          </a:p>
          <a:p>
            <a:pPr eaLnBrk="1" hangingPunct="1"/>
            <a:r>
              <a:rPr lang="en-US" altLang="en-US" sz="2200" dirty="0">
                <a:latin typeface="Arial (Body)"/>
              </a:rPr>
              <a:t>Appears that a country can borrow year after year without going broke, as long as does not borrow too much.</a:t>
            </a:r>
          </a:p>
          <a:p>
            <a:r>
              <a:rPr lang="en-US" altLang="en-US" sz="2200" dirty="0">
                <a:latin typeface="Arial (Body)"/>
              </a:rPr>
              <a:t>By holding net exports to G</a:t>
            </a:r>
            <a:r>
              <a:rPr lang="en-US" altLang="en-US" sz="100" dirty="0">
                <a:latin typeface="Arial (Body)"/>
              </a:rPr>
              <a:t> </a:t>
            </a:r>
            <a:r>
              <a:rPr lang="en-US" altLang="en-US" sz="2200" dirty="0">
                <a:latin typeface="Arial (Body)"/>
              </a:rPr>
              <a:t>D</a:t>
            </a:r>
            <a:r>
              <a:rPr lang="en-US" altLang="en-US" sz="100" dirty="0">
                <a:latin typeface="Arial (Body)"/>
              </a:rPr>
              <a:t> </a:t>
            </a:r>
            <a:r>
              <a:rPr lang="en-US" altLang="en-US" sz="2200" dirty="0">
                <a:latin typeface="Arial (Body)"/>
              </a:rPr>
              <a:t>P constant at the right value, a country (like New Zealand) with initial net foreign debt will perpetually run deficits in its current account while still maintaining a constant ratio of net foreign liabilities to national output.</a:t>
            </a:r>
          </a:p>
        </p:txBody>
      </p:sp>
    </p:spTree>
    <p:extLst>
      <p:ext uri="{BB962C8B-B14F-4D97-AF65-F5344CB8AC3E}">
        <p14:creationId xmlns:p14="http://schemas.microsoft.com/office/powerpoint/2010/main" val="1613914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15CF9-0782-4637-BBB6-A814AD9C5231}"/>
              </a:ext>
            </a:extLst>
          </p:cNvPr>
          <p:cNvSpPr>
            <a:spLocks noGrp="1"/>
          </p:cNvSpPr>
          <p:nvPr>
            <p:ph type="title"/>
          </p:nvPr>
        </p:nvSpPr>
        <p:spPr/>
        <p:txBody>
          <a:bodyPr/>
          <a:lstStyle/>
          <a:p>
            <a:r>
              <a:rPr lang="en-US" altLang="en-US" sz="2600" dirty="0">
                <a:cs typeface="Times New Roman" panose="02020603050405020304" pitchFamily="18" charset="0"/>
              </a:rPr>
              <a:t>New Zealand’s Net Exports, Current Account, and Net International Investment Position, 1992–2019</a:t>
            </a:r>
            <a:endParaRPr lang="en-IN" sz="2600" dirty="0">
              <a:cs typeface="Times New Roman" panose="02020603050405020304" pitchFamily="18" charset="0"/>
            </a:endParaRPr>
          </a:p>
        </p:txBody>
      </p:sp>
      <p:pic>
        <p:nvPicPr>
          <p:cNvPr id="6" name="Content Placeholder 5" descr="A triple line graph depicts New Zealand’s net exports, current account, and investment position. For long description in Notes pane, press F6.">
            <a:extLst>
              <a:ext uri="{FF2B5EF4-FFF2-40B4-BE49-F238E27FC236}">
                <a16:creationId xmlns:a16="http://schemas.microsoft.com/office/drawing/2014/main" id="{552123A8-3EA3-47FC-BB77-893D2A705647}"/>
              </a:ext>
            </a:extLst>
          </p:cNvPr>
          <p:cNvPicPr>
            <a:picLocks noGrp="1" noChangeAspect="1"/>
          </p:cNvPicPr>
          <p:nvPr>
            <p:ph sz="quarter" idx="13"/>
          </p:nvPr>
        </p:nvPicPr>
        <p:blipFill>
          <a:blip r:embed="rId3"/>
          <a:stretch>
            <a:fillRect/>
          </a:stretch>
        </p:blipFill>
        <p:spPr>
          <a:xfrm>
            <a:off x="2066149" y="1601494"/>
            <a:ext cx="5011703" cy="3321366"/>
          </a:xfrm>
        </p:spPr>
      </p:pic>
      <p:sp>
        <p:nvSpPr>
          <p:cNvPr id="4" name="Content Placeholder 3">
            <a:extLst>
              <a:ext uri="{FF2B5EF4-FFF2-40B4-BE49-F238E27FC236}">
                <a16:creationId xmlns:a16="http://schemas.microsoft.com/office/drawing/2014/main" id="{A5172419-C9D9-4FEA-8F0F-C9E8690C3F52}"/>
              </a:ext>
            </a:extLst>
          </p:cNvPr>
          <p:cNvSpPr>
            <a:spLocks noGrp="1"/>
          </p:cNvSpPr>
          <p:nvPr>
            <p:ph sz="quarter" idx="14"/>
          </p:nvPr>
        </p:nvSpPr>
        <p:spPr>
          <a:xfrm>
            <a:off x="457200" y="5022868"/>
            <a:ext cx="8229600" cy="1247305"/>
          </a:xfrm>
        </p:spPr>
        <p:txBody>
          <a:bodyPr/>
          <a:lstStyle/>
          <a:p>
            <a:pPr marL="0" indent="0">
              <a:spcBef>
                <a:spcPts val="600"/>
              </a:spcBef>
              <a:buNone/>
            </a:pPr>
            <a:r>
              <a:rPr lang="en-US" sz="1800" dirty="0">
                <a:latin typeface="Arial (Body)"/>
              </a:rPr>
              <a:t>New Zealand has consistently had a current account deficit for decades, yet its net foreign liabilities have averaged about 70 percent of G</a:t>
            </a:r>
            <a:r>
              <a:rPr lang="en-US" sz="100" dirty="0">
                <a:latin typeface="Arial (Body)"/>
              </a:rPr>
              <a:t> </a:t>
            </a:r>
            <a:r>
              <a:rPr lang="en-US" sz="1800" dirty="0">
                <a:latin typeface="Arial (Body)"/>
              </a:rPr>
              <a:t>D</a:t>
            </a:r>
            <a:r>
              <a:rPr lang="en-US" sz="100" dirty="0">
                <a:latin typeface="Arial (Body)"/>
              </a:rPr>
              <a:t> </a:t>
            </a:r>
            <a:r>
              <a:rPr lang="en-US" sz="1800" dirty="0">
                <a:latin typeface="Arial (Body)"/>
              </a:rPr>
              <a:t>P and have been falling in recent years.</a:t>
            </a:r>
          </a:p>
          <a:p>
            <a:pPr marL="0" indent="0">
              <a:spcBef>
                <a:spcPts val="600"/>
              </a:spcBef>
              <a:buNone/>
            </a:pPr>
            <a:r>
              <a:rPr lang="en-US" sz="1400" b="1" dirty="0">
                <a:latin typeface="Arial (Body)"/>
              </a:rPr>
              <a:t>Source: </a:t>
            </a:r>
            <a:r>
              <a:rPr lang="en-US" sz="1400" dirty="0">
                <a:latin typeface="Arial (Body)"/>
              </a:rPr>
              <a:t>Statistics New Zealand.</a:t>
            </a:r>
          </a:p>
        </p:txBody>
      </p:sp>
    </p:spTree>
    <p:extLst>
      <p:ext uri="{BB962C8B-B14F-4D97-AF65-F5344CB8AC3E}">
        <p14:creationId xmlns:p14="http://schemas.microsoft.com/office/powerpoint/2010/main" val="20085227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779A1-8B0B-43E7-9E3B-940C9B516FA3}"/>
              </a:ext>
            </a:extLst>
          </p:cNvPr>
          <p:cNvSpPr>
            <a:spLocks noGrp="1"/>
          </p:cNvSpPr>
          <p:nvPr>
            <p:ph type="title"/>
          </p:nvPr>
        </p:nvSpPr>
        <p:spPr/>
        <p:txBody>
          <a:bodyPr/>
          <a:lstStyle/>
          <a:p>
            <a:r>
              <a:rPr lang="en-US" altLang="en-US" dirty="0">
                <a:latin typeface="+mn-lt"/>
                <a:cs typeface="Times New Roman" panose="02020603050405020304" pitchFamily="18" charset="0"/>
              </a:rPr>
              <a:t>The Open-Economy Trilemma </a:t>
            </a:r>
            <a:r>
              <a:rPr lang="en-US" altLang="en-US" sz="2000" b="0" dirty="0">
                <a:latin typeface="+mn-lt"/>
                <a:cs typeface="Times New Roman" panose="02020603050405020304" pitchFamily="18" charset="0"/>
              </a:rPr>
              <a:t>(1 of 2)</a:t>
            </a:r>
            <a:endParaRPr lang="en-IN" sz="2000" dirty="0">
              <a:latin typeface="+mn-lt"/>
              <a:cs typeface="Times New Roman" panose="02020603050405020304" pitchFamily="18" charset="0"/>
            </a:endParaRPr>
          </a:p>
        </p:txBody>
      </p:sp>
      <p:sp>
        <p:nvSpPr>
          <p:cNvPr id="3" name="Content Placeholder 2">
            <a:extLst>
              <a:ext uri="{FF2B5EF4-FFF2-40B4-BE49-F238E27FC236}">
                <a16:creationId xmlns:a16="http://schemas.microsoft.com/office/drawing/2014/main" id="{3B0573D7-C4A8-4706-B935-BDC2FCA2B7A8}"/>
              </a:ext>
            </a:extLst>
          </p:cNvPr>
          <p:cNvSpPr>
            <a:spLocks noGrp="1"/>
          </p:cNvSpPr>
          <p:nvPr>
            <p:ph sz="quarter" idx="13"/>
          </p:nvPr>
        </p:nvSpPr>
        <p:spPr>
          <a:xfrm>
            <a:off x="468313" y="1552575"/>
            <a:ext cx="8229600" cy="2008043"/>
          </a:xfrm>
        </p:spPr>
        <p:txBody>
          <a:bodyPr/>
          <a:lstStyle/>
          <a:p>
            <a:pPr eaLnBrk="1" hangingPunct="1"/>
            <a:r>
              <a:rPr lang="en-US" altLang="en-US" sz="2200" dirty="0">
                <a:latin typeface="Arial (Body)"/>
              </a:rPr>
              <a:t>A country that fixes its currency’</a:t>
            </a:r>
            <a:r>
              <a:rPr lang="en-US" altLang="ja-JP" sz="2200" dirty="0">
                <a:latin typeface="Arial (Body)"/>
              </a:rPr>
              <a:t>s exchange rate while allowing free international capital movements gives up control over domestic monetary policy. </a:t>
            </a:r>
          </a:p>
          <a:p>
            <a:pPr eaLnBrk="1" hangingPunct="1"/>
            <a:r>
              <a:rPr lang="en-US" altLang="en-US" sz="2200" dirty="0">
                <a:latin typeface="Arial (Body)"/>
              </a:rPr>
              <a:t>A country that fixes its exchange rate can have control over domestic monetary policy if it restricts international</a:t>
            </a:r>
            <a:endParaRPr lang="en-IN" sz="2200" dirty="0"/>
          </a:p>
        </p:txBody>
      </p:sp>
      <p:sp>
        <p:nvSpPr>
          <p:cNvPr id="4" name="Content Placeholder 3">
            <a:extLst>
              <a:ext uri="{FF2B5EF4-FFF2-40B4-BE49-F238E27FC236}">
                <a16:creationId xmlns:a16="http://schemas.microsoft.com/office/drawing/2014/main" id="{6C1C3B48-3891-4BC3-9142-BCF6FB3E1947}"/>
              </a:ext>
            </a:extLst>
          </p:cNvPr>
          <p:cNvSpPr>
            <a:spLocks noGrp="1"/>
          </p:cNvSpPr>
          <p:nvPr>
            <p:ph sz="quarter" idx="14"/>
          </p:nvPr>
        </p:nvSpPr>
        <p:spPr>
          <a:xfrm>
            <a:off x="479426" y="3634642"/>
            <a:ext cx="4902802" cy="383585"/>
          </a:xfrm>
        </p:spPr>
        <p:txBody>
          <a:bodyPr tIns="0" bIns="0"/>
          <a:lstStyle/>
          <a:p>
            <a:pPr marL="255600" indent="0">
              <a:buNone/>
            </a:pPr>
            <a:r>
              <a:rPr lang="en-US" altLang="en-US" sz="2200" dirty="0">
                <a:latin typeface="Arial (Body)"/>
              </a:rPr>
              <a:t>financial flows so that interest parity</a:t>
            </a:r>
            <a:endParaRPr lang="en-IN" sz="2200" dirty="0"/>
          </a:p>
        </p:txBody>
      </p:sp>
      <p:graphicFrame>
        <p:nvGraphicFramePr>
          <p:cNvPr id="7" name="Object 6" descr="R = R to the asterisk power">
            <a:extLst>
              <a:ext uri="{FF2B5EF4-FFF2-40B4-BE49-F238E27FC236}">
                <a16:creationId xmlns:a16="http://schemas.microsoft.com/office/drawing/2014/main" id="{7D40FE79-E564-4EEB-A01E-8F7AE5B50DBB}"/>
              </a:ext>
            </a:extLst>
          </p:cNvPr>
          <p:cNvGraphicFramePr>
            <a:graphicFrameLocks noChangeAspect="1"/>
          </p:cNvGraphicFramePr>
          <p:nvPr>
            <p:extLst>
              <p:ext uri="{D42A27DB-BD31-4B8C-83A1-F6EECF244321}">
                <p14:modId xmlns:p14="http://schemas.microsoft.com/office/powerpoint/2010/main" val="3599826673"/>
              </p:ext>
            </p:extLst>
          </p:nvPr>
        </p:nvGraphicFramePr>
        <p:xfrm>
          <a:off x="5474923" y="3700544"/>
          <a:ext cx="839235" cy="265649"/>
        </p:xfrm>
        <a:graphic>
          <a:graphicData uri="http://schemas.openxmlformats.org/presentationml/2006/ole">
            <mc:AlternateContent xmlns:mc="http://schemas.openxmlformats.org/markup-compatibility/2006">
              <mc:Choice xmlns:v="urn:schemas-microsoft-com:vml" Requires="v">
                <p:oleObj name="Equation" r:id="rId2" imgW="520560" imgH="164880" progId="Equation.DSMT4">
                  <p:embed/>
                </p:oleObj>
              </mc:Choice>
              <mc:Fallback>
                <p:oleObj name="Equation" r:id="rId2" imgW="520560" imgH="164880" progId="Equation.DSMT4">
                  <p:embed/>
                  <p:pic>
                    <p:nvPicPr>
                      <p:cNvPr id="7" name="Object 6">
                        <a:extLst>
                          <a:ext uri="{FF2B5EF4-FFF2-40B4-BE49-F238E27FC236}">
                            <a16:creationId xmlns:a16="http://schemas.microsoft.com/office/drawing/2014/main" id="{8F88F3A9-82AC-4F9C-9C3E-46E773D0BE94}"/>
                          </a:ext>
                        </a:extLst>
                      </p:cNvPr>
                      <p:cNvPicPr/>
                      <p:nvPr/>
                    </p:nvPicPr>
                    <p:blipFill>
                      <a:blip r:embed="rId3"/>
                      <a:stretch>
                        <a:fillRect/>
                      </a:stretch>
                    </p:blipFill>
                    <p:spPr>
                      <a:xfrm>
                        <a:off x="5474923" y="3700544"/>
                        <a:ext cx="839235" cy="265649"/>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F4054E34-F4A3-4982-A144-51AF3811BB98}"/>
              </a:ext>
            </a:extLst>
          </p:cNvPr>
          <p:cNvSpPr>
            <a:spLocks noGrp="1"/>
          </p:cNvSpPr>
          <p:nvPr>
            <p:ph sz="quarter" idx="15"/>
          </p:nvPr>
        </p:nvSpPr>
        <p:spPr>
          <a:xfrm>
            <a:off x="6414755" y="3636589"/>
            <a:ext cx="1982169" cy="372011"/>
          </a:xfrm>
        </p:spPr>
        <p:txBody>
          <a:bodyPr tIns="0" bIns="0"/>
          <a:lstStyle/>
          <a:p>
            <a:pPr marL="432" indent="0">
              <a:buNone/>
            </a:pPr>
            <a:r>
              <a:rPr lang="en-US" altLang="en-US" sz="2200" dirty="0">
                <a:latin typeface="Arial (Body)"/>
              </a:rPr>
              <a:t>need not hold.</a:t>
            </a:r>
          </a:p>
        </p:txBody>
      </p:sp>
      <p:sp>
        <p:nvSpPr>
          <p:cNvPr id="6" name="Content Placeholder 5">
            <a:extLst>
              <a:ext uri="{FF2B5EF4-FFF2-40B4-BE49-F238E27FC236}">
                <a16:creationId xmlns:a16="http://schemas.microsoft.com/office/drawing/2014/main" id="{D8E84096-3A89-4002-A8B5-554D7204BA73}"/>
              </a:ext>
            </a:extLst>
          </p:cNvPr>
          <p:cNvSpPr>
            <a:spLocks noGrp="1"/>
          </p:cNvSpPr>
          <p:nvPr>
            <p:ph sz="quarter" idx="16"/>
          </p:nvPr>
        </p:nvSpPr>
        <p:spPr>
          <a:xfrm>
            <a:off x="457200" y="4130562"/>
            <a:ext cx="8232128" cy="1203769"/>
          </a:xfrm>
        </p:spPr>
        <p:txBody>
          <a:bodyPr/>
          <a:lstStyle/>
          <a:p>
            <a:r>
              <a:rPr lang="en-US" altLang="en-US" sz="2200" dirty="0">
                <a:latin typeface="Arial (Body)"/>
              </a:rPr>
              <a:t>Or a country can allow international capital to flow freely and have control over domestic monetary policy if it allows the exchange rate to float.</a:t>
            </a:r>
            <a:endParaRPr lang="en-IN" sz="2200" dirty="0"/>
          </a:p>
        </p:txBody>
      </p:sp>
    </p:spTree>
    <p:extLst>
      <p:ext uri="{BB962C8B-B14F-4D97-AF65-F5344CB8AC3E}">
        <p14:creationId xmlns:p14="http://schemas.microsoft.com/office/powerpoint/2010/main" val="1802915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779A1-8B0B-43E7-9E3B-940C9B516FA3}"/>
              </a:ext>
            </a:extLst>
          </p:cNvPr>
          <p:cNvSpPr>
            <a:spLocks noGrp="1"/>
          </p:cNvSpPr>
          <p:nvPr>
            <p:ph type="title"/>
          </p:nvPr>
        </p:nvSpPr>
        <p:spPr/>
        <p:txBody>
          <a:bodyPr/>
          <a:lstStyle/>
          <a:p>
            <a:r>
              <a:rPr lang="en-US" altLang="en-US" dirty="0">
                <a:latin typeface="+mn-lt"/>
                <a:cs typeface="Times New Roman" panose="02020603050405020304" pitchFamily="18" charset="0"/>
              </a:rPr>
              <a:t>The Open-Economy Trilemma </a:t>
            </a:r>
            <a:r>
              <a:rPr lang="en-US" altLang="en-US" sz="2000" b="0" dirty="0">
                <a:latin typeface="+mn-lt"/>
                <a:cs typeface="Times New Roman" panose="02020603050405020304" pitchFamily="18" charset="0"/>
              </a:rPr>
              <a:t>(2 of 2)</a:t>
            </a:r>
            <a:endParaRPr lang="en-IN" sz="2000" dirty="0">
              <a:latin typeface="+mn-lt"/>
              <a:cs typeface="Times New Roman" panose="02020603050405020304" pitchFamily="18" charset="0"/>
            </a:endParaRPr>
          </a:p>
        </p:txBody>
      </p:sp>
      <p:sp>
        <p:nvSpPr>
          <p:cNvPr id="13" name="Content Placeholder 12">
            <a:extLst>
              <a:ext uri="{FF2B5EF4-FFF2-40B4-BE49-F238E27FC236}">
                <a16:creationId xmlns:a16="http://schemas.microsoft.com/office/drawing/2014/main" id="{44E28A4B-5A9F-4691-92CF-69D5DDCE27F1}"/>
              </a:ext>
            </a:extLst>
          </p:cNvPr>
          <p:cNvSpPr>
            <a:spLocks noGrp="1"/>
          </p:cNvSpPr>
          <p:nvPr>
            <p:ph sz="quarter" idx="13"/>
          </p:nvPr>
        </p:nvSpPr>
        <p:spPr>
          <a:xfrm>
            <a:off x="457200" y="1556327"/>
            <a:ext cx="8229600" cy="863488"/>
          </a:xfrm>
        </p:spPr>
        <p:txBody>
          <a:bodyPr/>
          <a:lstStyle/>
          <a:p>
            <a:r>
              <a:rPr lang="en-US" altLang="en-US" dirty="0">
                <a:latin typeface="Arial (Body)"/>
              </a:rPr>
              <a:t>Impossible for a country to achieve more than two items from the following list:</a:t>
            </a:r>
          </a:p>
        </p:txBody>
      </p:sp>
      <p:sp>
        <p:nvSpPr>
          <p:cNvPr id="14" name="Content Placeholder 13">
            <a:extLst>
              <a:ext uri="{FF2B5EF4-FFF2-40B4-BE49-F238E27FC236}">
                <a16:creationId xmlns:a16="http://schemas.microsoft.com/office/drawing/2014/main" id="{157DE225-5DC5-4FE2-B4E8-0A1B0BCACC70}"/>
              </a:ext>
            </a:extLst>
          </p:cNvPr>
          <p:cNvSpPr>
            <a:spLocks noGrp="1"/>
          </p:cNvSpPr>
          <p:nvPr>
            <p:ph sz="quarter" idx="14"/>
          </p:nvPr>
        </p:nvSpPr>
        <p:spPr>
          <a:xfrm>
            <a:off x="457200" y="2534768"/>
            <a:ext cx="8229600" cy="1559080"/>
          </a:xfrm>
        </p:spPr>
        <p:txBody>
          <a:bodyPr/>
          <a:lstStyle/>
          <a:p>
            <a:pPr marL="741600" lvl="1" indent="-428400">
              <a:buFont typeface="+mj-lt"/>
              <a:buAutoNum type="arabicPeriod"/>
            </a:pPr>
            <a:r>
              <a:rPr lang="en-US" altLang="en-US" dirty="0">
                <a:latin typeface="Arial (Body)"/>
              </a:rPr>
              <a:t>Exchange rate stability.</a:t>
            </a:r>
          </a:p>
          <a:p>
            <a:pPr marL="741600" lvl="1" indent="-428400">
              <a:buFont typeface="+mj-lt"/>
              <a:buAutoNum type="arabicPeriod"/>
            </a:pPr>
            <a:r>
              <a:rPr lang="en-US" altLang="en-US" dirty="0">
                <a:latin typeface="Arial (Body)"/>
              </a:rPr>
              <a:t>Monetary policy oriented toward domestic goals.</a:t>
            </a:r>
          </a:p>
          <a:p>
            <a:pPr marL="741600" lvl="1" indent="-428400">
              <a:buFont typeface="+mj-lt"/>
              <a:buAutoNum type="arabicPeriod"/>
            </a:pPr>
            <a:r>
              <a:rPr lang="en-US" altLang="en-US" dirty="0">
                <a:latin typeface="Arial (Body)"/>
              </a:rPr>
              <a:t>Freedom of international capital movements.</a:t>
            </a:r>
          </a:p>
        </p:txBody>
      </p:sp>
    </p:spTree>
    <p:extLst>
      <p:ext uri="{BB962C8B-B14F-4D97-AF65-F5344CB8AC3E}">
        <p14:creationId xmlns:p14="http://schemas.microsoft.com/office/powerpoint/2010/main" val="2376673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6D58B-7601-49E7-ADFD-E68E19A8FA9E}"/>
              </a:ext>
            </a:extLst>
          </p:cNvPr>
          <p:cNvSpPr>
            <a:spLocks noGrp="1"/>
          </p:cNvSpPr>
          <p:nvPr>
            <p:ph type="title"/>
          </p:nvPr>
        </p:nvSpPr>
        <p:spPr/>
        <p:txBody>
          <a:bodyPr/>
          <a:lstStyle/>
          <a:p>
            <a:r>
              <a:rPr lang="en-US" altLang="en-US" sz="3200" dirty="0">
                <a:cs typeface="Times New Roman" panose="02020603050405020304" pitchFamily="18" charset="0"/>
              </a:rPr>
              <a:t>Figure 19.1 The Monetary Trilemma for Open Economies</a:t>
            </a:r>
            <a:endParaRPr lang="en-IN" sz="3200" dirty="0">
              <a:cs typeface="Times New Roman" panose="02020603050405020304" pitchFamily="18" charset="0"/>
            </a:endParaRPr>
          </a:p>
        </p:txBody>
      </p:sp>
      <p:pic>
        <p:nvPicPr>
          <p:cNvPr id="11" name="Content Placeholder 10" descr="A diagram for open economies is an equilateral triangle. For long description in Notes pane, press F6.">
            <a:extLst>
              <a:ext uri="{FF2B5EF4-FFF2-40B4-BE49-F238E27FC236}">
                <a16:creationId xmlns:a16="http://schemas.microsoft.com/office/drawing/2014/main" id="{84A1341F-0B87-4B15-B35D-4B1C28496F74}"/>
              </a:ext>
            </a:extLst>
          </p:cNvPr>
          <p:cNvPicPr>
            <a:picLocks noGrp="1" noChangeAspect="1"/>
          </p:cNvPicPr>
          <p:nvPr>
            <p:ph sz="quarter" idx="13"/>
          </p:nvPr>
        </p:nvPicPr>
        <p:blipFill>
          <a:blip r:embed="rId3"/>
          <a:stretch>
            <a:fillRect/>
          </a:stretch>
        </p:blipFill>
        <p:spPr>
          <a:xfrm>
            <a:off x="2767728" y="1712186"/>
            <a:ext cx="3608545" cy="2901608"/>
          </a:xfrm>
        </p:spPr>
      </p:pic>
      <p:sp>
        <p:nvSpPr>
          <p:cNvPr id="4" name="Content Placeholder 3">
            <a:extLst>
              <a:ext uri="{FF2B5EF4-FFF2-40B4-BE49-F238E27FC236}">
                <a16:creationId xmlns:a16="http://schemas.microsoft.com/office/drawing/2014/main" id="{14A64D53-214A-46F8-B8BF-50AEC9BEE1C1}"/>
              </a:ext>
            </a:extLst>
          </p:cNvPr>
          <p:cNvSpPr>
            <a:spLocks noGrp="1"/>
          </p:cNvSpPr>
          <p:nvPr>
            <p:ph sz="quarter" idx="14"/>
          </p:nvPr>
        </p:nvSpPr>
        <p:spPr>
          <a:xfrm>
            <a:off x="457199" y="4755711"/>
            <a:ext cx="8314267" cy="1521775"/>
          </a:xfrm>
        </p:spPr>
        <p:txBody>
          <a:bodyPr/>
          <a:lstStyle/>
          <a:p>
            <a:pPr marL="432" indent="0">
              <a:buNone/>
            </a:pPr>
            <a:r>
              <a:rPr lang="en-US" sz="1800" dirty="0">
                <a:latin typeface="Arial (Body)"/>
              </a:rPr>
              <a:t>The vertices of the triangle show three features that policy makers in open economies would prefer their monetary system to achieve. Unfortunately, at most two can coexist. Each of the three policy regime labels along the triangle’s edges (floating exchange rate, fixed exchange rate, financial controls) is consistent with the two goals that it lies between in the diagram.</a:t>
            </a:r>
          </a:p>
        </p:txBody>
      </p:sp>
    </p:spTree>
    <p:extLst>
      <p:ext uri="{BB962C8B-B14F-4D97-AF65-F5344CB8AC3E}">
        <p14:creationId xmlns:p14="http://schemas.microsoft.com/office/powerpoint/2010/main" val="17471944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B0BDE-92A0-4F88-8502-08A718BE600C}"/>
              </a:ext>
            </a:extLst>
          </p:cNvPr>
          <p:cNvSpPr>
            <a:spLocks noGrp="1"/>
          </p:cNvSpPr>
          <p:nvPr>
            <p:ph type="title"/>
          </p:nvPr>
        </p:nvSpPr>
        <p:spPr/>
        <p:txBody>
          <a:bodyPr/>
          <a:lstStyle/>
          <a:p>
            <a:r>
              <a:rPr lang="en-US" altLang="en-US" sz="3200" dirty="0">
                <a:cs typeface="Times New Roman" panose="02020603050405020304" pitchFamily="18" charset="0"/>
              </a:rPr>
              <a:t>Macroeconomic Policy under the Gold Standard 1870–1914</a:t>
            </a:r>
            <a:endParaRPr lang="en-IN" sz="32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F7DEE958-D28A-4825-9CC4-3151359A5983}"/>
              </a:ext>
            </a:extLst>
          </p:cNvPr>
          <p:cNvSpPr>
            <a:spLocks noGrp="1"/>
          </p:cNvSpPr>
          <p:nvPr>
            <p:ph sz="quarter" idx="13"/>
          </p:nvPr>
        </p:nvSpPr>
        <p:spPr/>
        <p:txBody>
          <a:bodyPr/>
          <a:lstStyle/>
          <a:p>
            <a:pPr eaLnBrk="1" hangingPunct="1"/>
            <a:r>
              <a:rPr lang="en-US" altLang="en-US" dirty="0">
                <a:solidFill>
                  <a:schemeClr val="tx1"/>
                </a:solidFill>
                <a:latin typeface="Arial (Body)"/>
              </a:rPr>
              <a:t>The gold standard from 1870 to 1914 and after 1918 had mechanisms that prevented flows of gold reserves (the balance of payments) from becoming too positive or too negative.</a:t>
            </a:r>
          </a:p>
          <a:p>
            <a:pPr lvl="1" eaLnBrk="1" hangingPunct="1"/>
            <a:r>
              <a:rPr lang="en-US" altLang="en-US" dirty="0">
                <a:solidFill>
                  <a:schemeClr val="tx1"/>
                </a:solidFill>
                <a:latin typeface="Arial (Body)"/>
              </a:rPr>
              <a:t>Prices tended to adjust according the amount of gold circulating in an economy, which had effects on the flows of goods and services: the current account.</a:t>
            </a:r>
          </a:p>
          <a:p>
            <a:pPr lvl="1" eaLnBrk="1" hangingPunct="1"/>
            <a:r>
              <a:rPr lang="en-US" altLang="en-US" dirty="0">
                <a:solidFill>
                  <a:schemeClr val="tx1"/>
                </a:solidFill>
                <a:latin typeface="Arial (Body)"/>
              </a:rPr>
              <a:t>Central banks influenced financial asset flows, so that the non-reserve part of the financial account matched the current account in order to reduce gold outflows or inflows.</a:t>
            </a:r>
          </a:p>
        </p:txBody>
      </p:sp>
    </p:spTree>
    <p:extLst>
      <p:ext uri="{BB962C8B-B14F-4D97-AF65-F5344CB8AC3E}">
        <p14:creationId xmlns:p14="http://schemas.microsoft.com/office/powerpoint/2010/main" val="302943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12BEE-67C5-4AAA-8B66-AB0D0E51F3F4}"/>
              </a:ext>
            </a:extLst>
          </p:cNvPr>
          <p:cNvSpPr>
            <a:spLocks noGrp="1"/>
          </p:cNvSpPr>
          <p:nvPr>
            <p:ph type="title"/>
          </p:nvPr>
        </p:nvSpPr>
        <p:spPr/>
        <p:txBody>
          <a:bodyPr/>
          <a:lstStyle/>
          <a:p>
            <a:r>
              <a:rPr lang="en-US" altLang="en-US" sz="3200" dirty="0"/>
              <a:t>Macroeconomic Policy under the Gold Standard </a:t>
            </a:r>
            <a:r>
              <a:rPr lang="en-US" altLang="en-US" sz="2000" b="0" dirty="0"/>
              <a:t>(1 of 5)</a:t>
            </a:r>
            <a:endParaRPr lang="en-IN" sz="2000" dirty="0"/>
          </a:p>
        </p:txBody>
      </p:sp>
      <p:sp>
        <p:nvSpPr>
          <p:cNvPr id="3" name="Content Placeholder 2">
            <a:extLst>
              <a:ext uri="{FF2B5EF4-FFF2-40B4-BE49-F238E27FC236}">
                <a16:creationId xmlns:a16="http://schemas.microsoft.com/office/drawing/2014/main" id="{3DF506E0-1242-4F45-AB1C-AF22E326926E}"/>
              </a:ext>
            </a:extLst>
          </p:cNvPr>
          <p:cNvSpPr>
            <a:spLocks noGrp="1"/>
          </p:cNvSpPr>
          <p:nvPr>
            <p:ph sz="quarter" idx="13"/>
          </p:nvPr>
        </p:nvSpPr>
        <p:spPr/>
        <p:txBody>
          <a:bodyPr/>
          <a:lstStyle/>
          <a:p>
            <a:pPr eaLnBrk="1" hangingPunct="1"/>
            <a:r>
              <a:rPr lang="en-US" altLang="en-US" sz="2000" b="1" dirty="0">
                <a:solidFill>
                  <a:schemeClr val="tx1"/>
                </a:solidFill>
                <a:latin typeface="Arial (Body)"/>
              </a:rPr>
              <a:t>Price-specie-flow mechanism</a:t>
            </a:r>
            <a:r>
              <a:rPr lang="en-US" altLang="en-US" sz="2000" dirty="0">
                <a:solidFill>
                  <a:schemeClr val="tx1"/>
                </a:solidFill>
                <a:latin typeface="Arial (Body)"/>
              </a:rPr>
              <a:t> is the adjustment of prices as gold (“</a:t>
            </a:r>
            <a:r>
              <a:rPr lang="en-US" altLang="ja-JP" sz="2000" dirty="0">
                <a:solidFill>
                  <a:schemeClr val="tx1"/>
                </a:solidFill>
                <a:latin typeface="Arial (Body)"/>
              </a:rPr>
              <a:t>specie”) flows into or out of a country, causing an adjustment in the flow of goods.</a:t>
            </a:r>
          </a:p>
          <a:p>
            <a:pPr lvl="1" eaLnBrk="1" hangingPunct="1"/>
            <a:r>
              <a:rPr lang="en-US" altLang="en-US" sz="2000" dirty="0">
                <a:solidFill>
                  <a:schemeClr val="tx1"/>
                </a:solidFill>
                <a:latin typeface="Arial (Body)"/>
              </a:rPr>
              <a:t>An inflow of gold tends to inflate prices. </a:t>
            </a:r>
          </a:p>
          <a:p>
            <a:pPr lvl="1" eaLnBrk="1" hangingPunct="1"/>
            <a:r>
              <a:rPr lang="en-US" altLang="en-US" sz="2000" dirty="0">
                <a:solidFill>
                  <a:schemeClr val="tx1"/>
                </a:solidFill>
                <a:latin typeface="Arial (Body)"/>
              </a:rPr>
              <a:t>An outflow of gold tends to deflate prices.</a:t>
            </a:r>
          </a:p>
          <a:p>
            <a:pPr lvl="1" eaLnBrk="1" hangingPunct="1"/>
            <a:r>
              <a:rPr lang="en-US" altLang="en-US" sz="2000" dirty="0">
                <a:solidFill>
                  <a:schemeClr val="tx1"/>
                </a:solidFill>
                <a:latin typeface="Arial (Body)"/>
              </a:rPr>
              <a:t>If a domestic country has a current account surplus in excess of the non-reserve financial account, gold earned from exports flows into the country—raising prices in that country and lowering prices in foreign countries.</a:t>
            </a:r>
          </a:p>
          <a:p>
            <a:pPr lvl="2"/>
            <a:r>
              <a:rPr lang="en-US" altLang="en-US" sz="2000" dirty="0">
                <a:solidFill>
                  <a:schemeClr val="tx1"/>
                </a:solidFill>
                <a:latin typeface="Arial (Body)"/>
              </a:rPr>
              <a:t>Goods from the domestic country become expensive and goods from foreign countries become cheap, reducing the current account surplus of the domestic country and the deficits of the foreign countries.</a:t>
            </a:r>
          </a:p>
        </p:txBody>
      </p:sp>
    </p:spTree>
    <p:extLst>
      <p:ext uri="{BB962C8B-B14F-4D97-AF65-F5344CB8AC3E}">
        <p14:creationId xmlns:p14="http://schemas.microsoft.com/office/powerpoint/2010/main" val="3585351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12BEE-67C5-4AAA-8B66-AB0D0E51F3F4}"/>
              </a:ext>
            </a:extLst>
          </p:cNvPr>
          <p:cNvSpPr>
            <a:spLocks noGrp="1"/>
          </p:cNvSpPr>
          <p:nvPr>
            <p:ph type="title"/>
          </p:nvPr>
        </p:nvSpPr>
        <p:spPr/>
        <p:txBody>
          <a:bodyPr/>
          <a:lstStyle/>
          <a:p>
            <a:r>
              <a:rPr lang="en-US" altLang="en-US" sz="3200" dirty="0"/>
              <a:t>Macroeconomic Policy under the Gold Standard </a:t>
            </a:r>
            <a:r>
              <a:rPr lang="en-US" altLang="en-US" sz="2000" b="0" dirty="0"/>
              <a:t>(2 of 5)</a:t>
            </a:r>
            <a:endParaRPr lang="en-IN" sz="2000" dirty="0"/>
          </a:p>
        </p:txBody>
      </p:sp>
      <p:sp>
        <p:nvSpPr>
          <p:cNvPr id="3" name="Content Placeholder 2">
            <a:extLst>
              <a:ext uri="{FF2B5EF4-FFF2-40B4-BE49-F238E27FC236}">
                <a16:creationId xmlns:a16="http://schemas.microsoft.com/office/drawing/2014/main" id="{3DF506E0-1242-4F45-AB1C-AF22E326926E}"/>
              </a:ext>
            </a:extLst>
          </p:cNvPr>
          <p:cNvSpPr>
            <a:spLocks noGrp="1"/>
          </p:cNvSpPr>
          <p:nvPr>
            <p:ph sz="quarter" idx="13"/>
          </p:nvPr>
        </p:nvSpPr>
        <p:spPr>
          <a:xfrm>
            <a:off x="457199" y="1556327"/>
            <a:ext cx="8354291" cy="2295237"/>
          </a:xfrm>
        </p:spPr>
        <p:txBody>
          <a:bodyPr/>
          <a:lstStyle/>
          <a:p>
            <a:pPr eaLnBrk="1" hangingPunct="1"/>
            <a:r>
              <a:rPr lang="en-US" altLang="en-US" dirty="0">
                <a:latin typeface="Arial (Body)"/>
              </a:rPr>
              <a:t>Thus, price-specie-flow mechanism of the gold standard could automatically reduce current account surpluses and deficits, achieving a measure of external balance for all countries.</a:t>
            </a:r>
          </a:p>
        </p:txBody>
      </p:sp>
    </p:spTree>
    <p:extLst>
      <p:ext uri="{BB962C8B-B14F-4D97-AF65-F5344CB8AC3E}">
        <p14:creationId xmlns:p14="http://schemas.microsoft.com/office/powerpoint/2010/main" val="18635851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12BEE-67C5-4AAA-8B66-AB0D0E51F3F4}"/>
              </a:ext>
            </a:extLst>
          </p:cNvPr>
          <p:cNvSpPr>
            <a:spLocks noGrp="1"/>
          </p:cNvSpPr>
          <p:nvPr>
            <p:ph type="title"/>
          </p:nvPr>
        </p:nvSpPr>
        <p:spPr/>
        <p:txBody>
          <a:bodyPr/>
          <a:lstStyle/>
          <a:p>
            <a:r>
              <a:rPr lang="en-US" altLang="en-US" sz="3200" dirty="0"/>
              <a:t>Macroeconomic Policy under the Gold Standard </a:t>
            </a:r>
            <a:r>
              <a:rPr lang="en-US" altLang="en-US" sz="2000" b="0" dirty="0"/>
              <a:t>(3 of 5)</a:t>
            </a:r>
            <a:endParaRPr lang="en-IN" sz="2000" dirty="0"/>
          </a:p>
        </p:txBody>
      </p:sp>
      <p:sp>
        <p:nvSpPr>
          <p:cNvPr id="3" name="Content Placeholder 2">
            <a:extLst>
              <a:ext uri="{FF2B5EF4-FFF2-40B4-BE49-F238E27FC236}">
                <a16:creationId xmlns:a16="http://schemas.microsoft.com/office/drawing/2014/main" id="{3DF506E0-1242-4F45-AB1C-AF22E326926E}"/>
              </a:ext>
            </a:extLst>
          </p:cNvPr>
          <p:cNvSpPr>
            <a:spLocks noGrp="1"/>
          </p:cNvSpPr>
          <p:nvPr>
            <p:ph sz="quarter" idx="13"/>
          </p:nvPr>
        </p:nvSpPr>
        <p:spPr>
          <a:xfrm>
            <a:off x="457200" y="1556327"/>
            <a:ext cx="8229600" cy="4521088"/>
          </a:xfrm>
        </p:spPr>
        <p:txBody>
          <a:bodyPr/>
          <a:lstStyle/>
          <a:p>
            <a:pPr eaLnBrk="1" hangingPunct="1">
              <a:spcBef>
                <a:spcPct val="50000"/>
              </a:spcBef>
            </a:pPr>
            <a:r>
              <a:rPr lang="en-US" altLang="en-US" sz="2000" dirty="0">
                <a:latin typeface="Arial (Body)"/>
              </a:rPr>
              <a:t>The </a:t>
            </a:r>
            <a:r>
              <a:rPr lang="en-US" altLang="ja-JP" sz="2000" b="1" dirty="0">
                <a:latin typeface="Arial (Body)"/>
              </a:rPr>
              <a:t>Rules of the Game</a:t>
            </a:r>
            <a:r>
              <a:rPr lang="en-US" altLang="ja-JP" sz="2000" dirty="0">
                <a:latin typeface="Arial (Body)"/>
              </a:rPr>
              <a:t> under the gold standard refer to another adjustment process that was theoretically carried out by central banks:</a:t>
            </a:r>
          </a:p>
          <a:p>
            <a:pPr lvl="1" eaLnBrk="1" hangingPunct="1"/>
            <a:r>
              <a:rPr lang="en-US" altLang="en-US" sz="2000" dirty="0">
                <a:latin typeface="Arial (Body)"/>
              </a:rPr>
              <a:t>The selling of domestic assets to acquire money when gold exited the country as payments for imports. This decreased the money supply and increased interest rates, attracting financial inflows to match a current account deficit.</a:t>
            </a:r>
          </a:p>
          <a:p>
            <a:pPr lvl="2" eaLnBrk="1" hangingPunct="1"/>
            <a:r>
              <a:rPr lang="en-US" altLang="en-US" sz="2000" dirty="0">
                <a:latin typeface="Arial (Body)"/>
              </a:rPr>
              <a:t>This reversed or reduced gold outflows.</a:t>
            </a:r>
          </a:p>
          <a:p>
            <a:pPr lvl="1" eaLnBrk="1" hangingPunct="1"/>
            <a:r>
              <a:rPr lang="en-US" altLang="en-US" sz="2000" dirty="0">
                <a:latin typeface="Arial (Body)"/>
              </a:rPr>
              <a:t>The buying of domestic assets when gold enters the country as income from exports. This increased the money supply and decreased interest rates, reducing financial inflows to match the current account.</a:t>
            </a:r>
          </a:p>
          <a:p>
            <a:pPr lvl="2" eaLnBrk="1" hangingPunct="1"/>
            <a:r>
              <a:rPr lang="en-US" altLang="en-US" sz="2000" dirty="0">
                <a:latin typeface="Arial (Body)"/>
              </a:rPr>
              <a:t>This reversed or reduced gold inflows.</a:t>
            </a:r>
          </a:p>
        </p:txBody>
      </p:sp>
    </p:spTree>
    <p:extLst>
      <p:ext uri="{BB962C8B-B14F-4D97-AF65-F5344CB8AC3E}">
        <p14:creationId xmlns:p14="http://schemas.microsoft.com/office/powerpoint/2010/main" val="32716351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12BEE-67C5-4AAA-8B66-AB0D0E51F3F4}"/>
              </a:ext>
            </a:extLst>
          </p:cNvPr>
          <p:cNvSpPr>
            <a:spLocks noGrp="1"/>
          </p:cNvSpPr>
          <p:nvPr>
            <p:ph type="title"/>
          </p:nvPr>
        </p:nvSpPr>
        <p:spPr/>
        <p:txBody>
          <a:bodyPr/>
          <a:lstStyle/>
          <a:p>
            <a:r>
              <a:rPr lang="en-US" altLang="en-US" sz="3200" dirty="0"/>
              <a:t>Macroeconomic Policy under the Gold Standard </a:t>
            </a:r>
            <a:r>
              <a:rPr lang="en-US" altLang="en-US" sz="2000" b="0" dirty="0"/>
              <a:t>(4 of 5)</a:t>
            </a:r>
            <a:endParaRPr lang="en-IN" sz="2000" dirty="0"/>
          </a:p>
        </p:txBody>
      </p:sp>
      <p:sp>
        <p:nvSpPr>
          <p:cNvPr id="3" name="Content Placeholder 2">
            <a:extLst>
              <a:ext uri="{FF2B5EF4-FFF2-40B4-BE49-F238E27FC236}">
                <a16:creationId xmlns:a16="http://schemas.microsoft.com/office/drawing/2014/main" id="{3DF506E0-1242-4F45-AB1C-AF22E326926E}"/>
              </a:ext>
            </a:extLst>
          </p:cNvPr>
          <p:cNvSpPr>
            <a:spLocks noGrp="1"/>
          </p:cNvSpPr>
          <p:nvPr>
            <p:ph sz="quarter" idx="13"/>
          </p:nvPr>
        </p:nvSpPr>
        <p:spPr>
          <a:xfrm>
            <a:off x="457200" y="1556327"/>
            <a:ext cx="8229600" cy="4650509"/>
          </a:xfrm>
        </p:spPr>
        <p:txBody>
          <a:bodyPr/>
          <a:lstStyle/>
          <a:p>
            <a:pPr eaLnBrk="1" hangingPunct="1"/>
            <a:r>
              <a:rPr lang="en-US" altLang="en-US" dirty="0">
                <a:latin typeface="Arial (Body)"/>
              </a:rPr>
              <a:t>Banks with decreasing gold reserves had a strong incentive to practice the rules of the game: they could not redeem currency without sufficient gold.</a:t>
            </a:r>
          </a:p>
          <a:p>
            <a:pPr eaLnBrk="1" hangingPunct="1"/>
            <a:r>
              <a:rPr lang="en-US" altLang="en-US" dirty="0">
                <a:latin typeface="Arial (Body)"/>
              </a:rPr>
              <a:t>Banks with increasing gold reserves had a weak incentive to practice the rules of the game: gold did not earn interest, but domestic assets did.</a:t>
            </a:r>
          </a:p>
          <a:p>
            <a:pPr eaLnBrk="1" hangingPunct="1"/>
            <a:r>
              <a:rPr lang="en-US" altLang="en-US" dirty="0">
                <a:latin typeface="Arial (Body)"/>
              </a:rPr>
              <a:t>In practice, central banks with increasing gold reserves seldom followed the rules.</a:t>
            </a:r>
          </a:p>
          <a:p>
            <a:pPr eaLnBrk="1" hangingPunct="1"/>
            <a:r>
              <a:rPr lang="en-US" altLang="en-US" dirty="0">
                <a:latin typeface="Arial (Body)"/>
              </a:rPr>
              <a:t>And central banks often sterilized gold flows, trying to prevent any effect on money supplies and prices.</a:t>
            </a:r>
          </a:p>
        </p:txBody>
      </p:sp>
    </p:spTree>
    <p:extLst>
      <p:ext uri="{BB962C8B-B14F-4D97-AF65-F5344CB8AC3E}">
        <p14:creationId xmlns:p14="http://schemas.microsoft.com/office/powerpoint/2010/main" val="24425680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12BEE-67C5-4AAA-8B66-AB0D0E51F3F4}"/>
              </a:ext>
            </a:extLst>
          </p:cNvPr>
          <p:cNvSpPr>
            <a:spLocks noGrp="1"/>
          </p:cNvSpPr>
          <p:nvPr>
            <p:ph type="title"/>
          </p:nvPr>
        </p:nvSpPr>
        <p:spPr/>
        <p:txBody>
          <a:bodyPr/>
          <a:lstStyle/>
          <a:p>
            <a:r>
              <a:rPr lang="en-US" altLang="en-US" sz="3200" dirty="0"/>
              <a:t>Macroeconomic Policy under the Gold Standard </a:t>
            </a:r>
            <a:r>
              <a:rPr lang="en-US" altLang="en-US" sz="2000" b="0" dirty="0"/>
              <a:t>(5 of 5)</a:t>
            </a:r>
            <a:endParaRPr lang="en-IN" sz="2000" dirty="0"/>
          </a:p>
        </p:txBody>
      </p:sp>
      <p:sp>
        <p:nvSpPr>
          <p:cNvPr id="3" name="Content Placeholder 2">
            <a:extLst>
              <a:ext uri="{FF2B5EF4-FFF2-40B4-BE49-F238E27FC236}">
                <a16:creationId xmlns:a16="http://schemas.microsoft.com/office/drawing/2014/main" id="{3DF506E0-1242-4F45-AB1C-AF22E326926E}"/>
              </a:ext>
            </a:extLst>
          </p:cNvPr>
          <p:cNvSpPr>
            <a:spLocks noGrp="1"/>
          </p:cNvSpPr>
          <p:nvPr>
            <p:ph sz="quarter" idx="13"/>
          </p:nvPr>
        </p:nvSpPr>
        <p:spPr>
          <a:xfrm>
            <a:off x="457199" y="1556328"/>
            <a:ext cx="8449733" cy="3405966"/>
          </a:xfrm>
        </p:spPr>
        <p:txBody>
          <a:bodyPr/>
          <a:lstStyle/>
          <a:p>
            <a:pPr eaLnBrk="1" hangingPunct="1"/>
            <a:r>
              <a:rPr lang="en-US" altLang="en-US" dirty="0">
                <a:latin typeface="Arial (Body)"/>
              </a:rPr>
              <a:t>The gold standard’</a:t>
            </a:r>
            <a:r>
              <a:rPr lang="en-US" altLang="ja-JP" dirty="0">
                <a:latin typeface="Arial (Body)"/>
              </a:rPr>
              <a:t>s record for internal balance was mixed.</a:t>
            </a:r>
          </a:p>
          <a:p>
            <a:pPr lvl="1" eaLnBrk="1" hangingPunct="1"/>
            <a:r>
              <a:rPr lang="en-US" altLang="en-US" dirty="0">
                <a:latin typeface="Arial (Body)"/>
              </a:rPr>
              <a:t>The United States suffered from deflation, recessions, and financial instability during the 1870s, 1880s, and 1890s while trying to adhere to a gold standard.</a:t>
            </a:r>
          </a:p>
          <a:p>
            <a:pPr lvl="1" eaLnBrk="1" hangingPunct="1"/>
            <a:r>
              <a:rPr lang="en-US" altLang="en-US" dirty="0">
                <a:latin typeface="Arial (Body)"/>
              </a:rPr>
              <a:t>The U.S. unemployment rate was 6.8% on average from 1890 to 1913, but it was less than 5.7% on average from 1946 to 1992.</a:t>
            </a:r>
          </a:p>
        </p:txBody>
      </p:sp>
    </p:spTree>
    <p:extLst>
      <p:ext uri="{BB962C8B-B14F-4D97-AF65-F5344CB8AC3E}">
        <p14:creationId xmlns:p14="http://schemas.microsoft.com/office/powerpoint/2010/main" val="28152888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80B81-AABF-41FA-93CD-38485DA36E73}"/>
              </a:ext>
            </a:extLst>
          </p:cNvPr>
          <p:cNvSpPr>
            <a:spLocks noGrp="1"/>
          </p:cNvSpPr>
          <p:nvPr>
            <p:ph type="title"/>
          </p:nvPr>
        </p:nvSpPr>
        <p:spPr/>
        <p:txBody>
          <a:bodyPr/>
          <a:lstStyle/>
          <a:p>
            <a:r>
              <a:rPr lang="en-US" altLang="en-US" sz="3600" dirty="0">
                <a:cs typeface="Times New Roman" panose="02020603050405020304" pitchFamily="18" charset="0"/>
              </a:rPr>
              <a:t>Interwar Years: 1918–1939</a:t>
            </a:r>
            <a:endParaRPr lang="en-IN"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76E8D666-D818-459B-B935-29AD7395CA5B}"/>
              </a:ext>
            </a:extLst>
          </p:cNvPr>
          <p:cNvSpPr>
            <a:spLocks noGrp="1"/>
          </p:cNvSpPr>
          <p:nvPr>
            <p:ph sz="quarter" idx="13"/>
          </p:nvPr>
        </p:nvSpPr>
        <p:spPr/>
        <p:txBody>
          <a:bodyPr/>
          <a:lstStyle/>
          <a:p>
            <a:pPr eaLnBrk="1" hangingPunct="1"/>
            <a:r>
              <a:rPr lang="en-US" altLang="en-US" sz="2200" dirty="0">
                <a:latin typeface="Arial (Body)"/>
              </a:rPr>
              <a:t>The gold standard was stopped in 1914 due to war, but after 1918 it was attempted again.</a:t>
            </a:r>
          </a:p>
          <a:p>
            <a:pPr lvl="1" eaLnBrk="1" hangingPunct="1"/>
            <a:r>
              <a:rPr lang="en-US" altLang="en-US" sz="2200" dirty="0">
                <a:latin typeface="Arial (Body)"/>
              </a:rPr>
              <a:t>The United States reinstated the gold standard from 1919 to 1933 at $20.67 per ounce and from 1934 to 1944 at $35.00 per ounce (a devaluation of the dollar).</a:t>
            </a:r>
          </a:p>
          <a:p>
            <a:pPr lvl="1" eaLnBrk="1" hangingPunct="1"/>
            <a:r>
              <a:rPr lang="en-US" altLang="en-US" sz="2200" dirty="0">
                <a:latin typeface="Arial (Body)"/>
              </a:rPr>
              <a:t>The United Kingdom reinstated the gold standard from 1925 to 1931.</a:t>
            </a:r>
          </a:p>
          <a:p>
            <a:pPr eaLnBrk="1" hangingPunct="1"/>
            <a:r>
              <a:rPr lang="en-US" altLang="en-US" sz="2200" dirty="0">
                <a:latin typeface="Arial (Body)"/>
              </a:rPr>
              <a:t>But countries that adhered to the gold standard for the longest time, without devaluing their currencies, suffered most from reduced output and employment during the 1930s.</a:t>
            </a:r>
          </a:p>
        </p:txBody>
      </p:sp>
    </p:spTree>
    <p:extLst>
      <p:ext uri="{BB962C8B-B14F-4D97-AF65-F5344CB8AC3E}">
        <p14:creationId xmlns:p14="http://schemas.microsoft.com/office/powerpoint/2010/main" val="40961592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2BF1E-442B-4274-86C2-3800108EA415}"/>
              </a:ext>
            </a:extLst>
          </p:cNvPr>
          <p:cNvSpPr>
            <a:spLocks noGrp="1"/>
          </p:cNvSpPr>
          <p:nvPr>
            <p:ph type="title"/>
          </p:nvPr>
        </p:nvSpPr>
        <p:spPr/>
        <p:txBody>
          <a:bodyPr/>
          <a:lstStyle/>
          <a:p>
            <a:r>
              <a:rPr lang="en-US" altLang="en-US" sz="3600" dirty="0">
                <a:cs typeface="Times New Roman" panose="02020603050405020304" pitchFamily="18" charset="0"/>
              </a:rPr>
              <a:t>Bretton Woods System: 1944–1973</a:t>
            </a:r>
            <a:endParaRPr lang="en-IN"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24F92245-EF16-4D76-A36C-31AC4A9A1C7B}"/>
              </a:ext>
            </a:extLst>
          </p:cNvPr>
          <p:cNvSpPr>
            <a:spLocks noGrp="1"/>
          </p:cNvSpPr>
          <p:nvPr>
            <p:ph sz="quarter" idx="13"/>
          </p:nvPr>
        </p:nvSpPr>
        <p:spPr/>
        <p:txBody>
          <a:bodyPr/>
          <a:lstStyle/>
          <a:p>
            <a:pPr eaLnBrk="1" hangingPunct="1"/>
            <a:r>
              <a:rPr lang="en-US" altLang="en-US" dirty="0">
                <a:latin typeface="Arial (Body)"/>
              </a:rPr>
              <a:t>In July 1944, 44 countries met in Bretton Woods, N</a:t>
            </a:r>
            <a:r>
              <a:rPr lang="en-US" altLang="en-US" sz="100" dirty="0">
                <a:latin typeface="Arial (Body)"/>
              </a:rPr>
              <a:t> </a:t>
            </a:r>
            <a:r>
              <a:rPr lang="en-US" altLang="en-US" dirty="0">
                <a:latin typeface="Arial (Body)"/>
              </a:rPr>
              <a:t>H, to design the Bretton Woods system: </a:t>
            </a:r>
          </a:p>
          <a:p>
            <a:pPr marL="740664" lvl="1" indent="-283464" eaLnBrk="1" hangingPunct="1"/>
            <a:r>
              <a:rPr lang="en-US" altLang="en-US" dirty="0">
                <a:latin typeface="Arial (Body)"/>
              </a:rPr>
              <a:t>a fixed exchange rate against the U.S. dollar and a fixed dollar price of gold ($35 per ounce).</a:t>
            </a:r>
          </a:p>
          <a:p>
            <a:pPr eaLnBrk="1" hangingPunct="1"/>
            <a:r>
              <a:rPr lang="en-US" altLang="en-US" dirty="0">
                <a:latin typeface="Arial (Body)"/>
              </a:rPr>
              <a:t>They also established other institutions:</a:t>
            </a:r>
            <a:endParaRPr lang="en-IN" dirty="0"/>
          </a:p>
        </p:txBody>
      </p:sp>
      <p:sp>
        <p:nvSpPr>
          <p:cNvPr id="4" name="Content Placeholder 3">
            <a:extLst>
              <a:ext uri="{FF2B5EF4-FFF2-40B4-BE49-F238E27FC236}">
                <a16:creationId xmlns:a16="http://schemas.microsoft.com/office/drawing/2014/main" id="{CE848A26-036E-4796-9854-57C0E07695F7}"/>
              </a:ext>
            </a:extLst>
          </p:cNvPr>
          <p:cNvSpPr>
            <a:spLocks noGrp="1"/>
          </p:cNvSpPr>
          <p:nvPr>
            <p:ph sz="quarter" idx="14"/>
          </p:nvPr>
        </p:nvSpPr>
        <p:spPr>
          <a:xfrm>
            <a:off x="457200" y="3888795"/>
            <a:ext cx="8229600" cy="2105025"/>
          </a:xfrm>
        </p:spPr>
        <p:txBody>
          <a:bodyPr/>
          <a:lstStyle/>
          <a:p>
            <a:pPr marL="741600" lvl="1" indent="-428400" eaLnBrk="1" hangingPunct="1">
              <a:buFont typeface="+mj-lt"/>
              <a:buAutoNum type="arabicPeriod"/>
            </a:pPr>
            <a:r>
              <a:rPr lang="en-US" altLang="en-US" sz="2400" dirty="0">
                <a:latin typeface="Arial (Body)"/>
              </a:rPr>
              <a:t>The International Monetary Fund</a:t>
            </a:r>
          </a:p>
          <a:p>
            <a:pPr marL="741600" lvl="1" indent="-428400" eaLnBrk="1" hangingPunct="1">
              <a:buFont typeface="+mj-lt"/>
              <a:buAutoNum type="arabicPeriod"/>
            </a:pPr>
            <a:r>
              <a:rPr lang="en-US" altLang="en-US" sz="2400" dirty="0">
                <a:latin typeface="Arial (Body)"/>
              </a:rPr>
              <a:t>The World Bank</a:t>
            </a:r>
          </a:p>
          <a:p>
            <a:pPr marL="741600" lvl="1" indent="-428400" eaLnBrk="1" hangingPunct="1">
              <a:buFont typeface="+mj-lt"/>
              <a:buAutoNum type="arabicPeriod"/>
            </a:pPr>
            <a:r>
              <a:rPr lang="en-US" altLang="en-US" sz="2400" dirty="0">
                <a:latin typeface="Arial (Body)"/>
              </a:rPr>
              <a:t>General Agreement on Trade and Tariffs (G</a:t>
            </a:r>
            <a:r>
              <a:rPr lang="en-US" altLang="en-US" sz="100" dirty="0">
                <a:latin typeface="Arial (Body)"/>
              </a:rPr>
              <a:t> </a:t>
            </a:r>
            <a:r>
              <a:rPr lang="en-US" altLang="en-US" sz="2400" dirty="0">
                <a:latin typeface="Arial (Body)"/>
              </a:rPr>
              <a:t>A</a:t>
            </a:r>
            <a:r>
              <a:rPr lang="en-US" altLang="en-US" sz="100" dirty="0">
                <a:latin typeface="Arial (Body)"/>
              </a:rPr>
              <a:t> </a:t>
            </a:r>
            <a:r>
              <a:rPr lang="en-US" altLang="en-US" sz="2400" dirty="0">
                <a:latin typeface="Arial (Body)"/>
              </a:rPr>
              <a:t>T</a:t>
            </a:r>
            <a:r>
              <a:rPr lang="en-US" altLang="en-US" sz="100" dirty="0">
                <a:latin typeface="Arial (Body)"/>
              </a:rPr>
              <a:t> </a:t>
            </a:r>
            <a:r>
              <a:rPr lang="en-US" altLang="en-US" sz="2400" dirty="0">
                <a:latin typeface="Arial (Body)"/>
              </a:rPr>
              <a:t>T), the predecessor to the World Trade Organization (W</a:t>
            </a:r>
            <a:r>
              <a:rPr lang="en-US" altLang="en-US" sz="100" dirty="0">
                <a:latin typeface="Arial (Body)"/>
              </a:rPr>
              <a:t> </a:t>
            </a:r>
            <a:r>
              <a:rPr lang="en-US" altLang="en-US" sz="2400" dirty="0">
                <a:latin typeface="Arial (Body)"/>
              </a:rPr>
              <a:t>T</a:t>
            </a:r>
            <a:r>
              <a:rPr lang="en-US" altLang="en-US" sz="100" dirty="0">
                <a:latin typeface="Arial (Body)"/>
              </a:rPr>
              <a:t> </a:t>
            </a:r>
            <a:r>
              <a:rPr lang="en-US" altLang="en-US" sz="2400" dirty="0">
                <a:latin typeface="Arial (Body)"/>
              </a:rPr>
              <a:t>O).</a:t>
            </a:r>
          </a:p>
        </p:txBody>
      </p:sp>
    </p:spTree>
    <p:extLst>
      <p:ext uri="{BB962C8B-B14F-4D97-AF65-F5344CB8AC3E}">
        <p14:creationId xmlns:p14="http://schemas.microsoft.com/office/powerpoint/2010/main" val="22493184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888F3-8C27-49B1-AEB8-23A64802CD73}"/>
              </a:ext>
            </a:extLst>
          </p:cNvPr>
          <p:cNvSpPr>
            <a:spLocks noGrp="1"/>
          </p:cNvSpPr>
          <p:nvPr>
            <p:ph type="title"/>
          </p:nvPr>
        </p:nvSpPr>
        <p:spPr/>
        <p:txBody>
          <a:bodyPr/>
          <a:lstStyle/>
          <a:p>
            <a:r>
              <a:rPr lang="en-US" altLang="en-US" sz="3600" dirty="0">
                <a:cs typeface="Times New Roman" panose="02020603050405020304" pitchFamily="18" charset="0"/>
              </a:rPr>
              <a:t>International Monetary Fund </a:t>
            </a:r>
            <a:r>
              <a:rPr lang="en-US" altLang="en-US" sz="2000" b="0" dirty="0">
                <a:cs typeface="Times New Roman" panose="02020603050405020304" pitchFamily="18" charset="0"/>
              </a:rPr>
              <a:t>(1 of 2)</a:t>
            </a:r>
            <a:endParaRPr lang="en-IN"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A33933F8-5ECA-4722-AA26-28505066AB94}"/>
              </a:ext>
            </a:extLst>
          </p:cNvPr>
          <p:cNvSpPr>
            <a:spLocks noGrp="1"/>
          </p:cNvSpPr>
          <p:nvPr>
            <p:ph sz="quarter" idx="13"/>
          </p:nvPr>
        </p:nvSpPr>
        <p:spPr/>
        <p:txBody>
          <a:bodyPr/>
          <a:lstStyle/>
          <a:p>
            <a:pPr eaLnBrk="1" hangingPunct="1"/>
            <a:r>
              <a:rPr lang="en-US" altLang="en-US" sz="2200" dirty="0">
                <a:latin typeface="Arial (Body)"/>
              </a:rPr>
              <a:t>The I</a:t>
            </a:r>
            <a:r>
              <a:rPr lang="en-US" altLang="en-US" sz="100" dirty="0">
                <a:latin typeface="Arial (Body)"/>
              </a:rPr>
              <a:t> </a:t>
            </a:r>
            <a:r>
              <a:rPr lang="en-US" altLang="en-US" sz="2200" dirty="0">
                <a:latin typeface="Arial (Body)"/>
              </a:rPr>
              <a:t>M</a:t>
            </a:r>
            <a:r>
              <a:rPr lang="en-US" altLang="en-US" sz="100" dirty="0">
                <a:latin typeface="Arial (Body)"/>
              </a:rPr>
              <a:t> </a:t>
            </a:r>
            <a:r>
              <a:rPr lang="en-US" altLang="en-US" sz="2200" dirty="0">
                <a:latin typeface="Arial (Body)"/>
              </a:rPr>
              <a:t>F was constructed to lend to countries with persistent balance of payments deficits (or current account deficits), and to approve of devaluations.</a:t>
            </a:r>
          </a:p>
          <a:p>
            <a:pPr lvl="1" eaLnBrk="1" hangingPunct="1"/>
            <a:r>
              <a:rPr lang="en-US" altLang="en-US" sz="2200" dirty="0">
                <a:latin typeface="Arial (Body)"/>
              </a:rPr>
              <a:t>Loans were made from a fund paid for by members in gold and currencies.</a:t>
            </a:r>
          </a:p>
          <a:p>
            <a:pPr lvl="1" eaLnBrk="1" hangingPunct="1"/>
            <a:r>
              <a:rPr lang="en-US" altLang="en-US" sz="2200" dirty="0">
                <a:latin typeface="Arial (Body)"/>
              </a:rPr>
              <a:t>Each country had a quota, which determined its contribution to the fund and the maximum amount it could borrow.</a:t>
            </a:r>
          </a:p>
          <a:p>
            <a:pPr lvl="1" eaLnBrk="1" hangingPunct="1"/>
            <a:r>
              <a:rPr lang="en-US" altLang="en-US" sz="2200" dirty="0">
                <a:latin typeface="Arial (Body)"/>
              </a:rPr>
              <a:t>Large loans were made conditional on the supervision of domestic policies by the I</a:t>
            </a:r>
            <a:r>
              <a:rPr lang="en-US" altLang="en-US" sz="100" dirty="0">
                <a:latin typeface="Arial (Body)"/>
              </a:rPr>
              <a:t> </a:t>
            </a:r>
            <a:r>
              <a:rPr lang="en-US" altLang="en-US" sz="2200" dirty="0">
                <a:latin typeface="Arial (Body)"/>
              </a:rPr>
              <a:t>M</a:t>
            </a:r>
            <a:r>
              <a:rPr lang="en-US" altLang="en-US" sz="100" dirty="0">
                <a:latin typeface="Arial (Body)"/>
              </a:rPr>
              <a:t> </a:t>
            </a:r>
            <a:r>
              <a:rPr lang="en-US" altLang="en-US" sz="2200" dirty="0">
                <a:latin typeface="Arial (Body)"/>
              </a:rPr>
              <a:t>F: </a:t>
            </a:r>
            <a:r>
              <a:rPr lang="en-US" altLang="en-US" sz="2200" b="1" dirty="0">
                <a:latin typeface="Arial (Body)"/>
              </a:rPr>
              <a:t>I</a:t>
            </a:r>
            <a:r>
              <a:rPr lang="en-US" altLang="en-US" sz="100" b="1" dirty="0">
                <a:latin typeface="Arial (Body)"/>
              </a:rPr>
              <a:t> </a:t>
            </a:r>
            <a:r>
              <a:rPr lang="en-US" altLang="en-US" sz="2200" b="1" dirty="0">
                <a:latin typeface="Arial (Body)"/>
              </a:rPr>
              <a:t>M</a:t>
            </a:r>
            <a:r>
              <a:rPr lang="en-US" altLang="en-US" sz="100" b="1" dirty="0">
                <a:latin typeface="Arial (Body)"/>
              </a:rPr>
              <a:t> </a:t>
            </a:r>
            <a:r>
              <a:rPr lang="en-US" altLang="en-US" sz="2200" b="1" dirty="0">
                <a:latin typeface="Arial (Body)"/>
              </a:rPr>
              <a:t>F conditionality</a:t>
            </a:r>
            <a:r>
              <a:rPr lang="en-US" altLang="en-US" sz="2200" dirty="0">
                <a:latin typeface="Arial (Body)"/>
              </a:rPr>
              <a:t>.</a:t>
            </a:r>
          </a:p>
          <a:p>
            <a:pPr lvl="1" eaLnBrk="1" hangingPunct="1"/>
            <a:r>
              <a:rPr lang="en-US" altLang="en-US" sz="2200" dirty="0">
                <a:latin typeface="Arial (Body)"/>
              </a:rPr>
              <a:t>Devaluations could occur if the I</a:t>
            </a:r>
            <a:r>
              <a:rPr lang="en-US" altLang="en-US" sz="100" dirty="0">
                <a:latin typeface="Arial (Body)"/>
              </a:rPr>
              <a:t> </a:t>
            </a:r>
            <a:r>
              <a:rPr lang="en-US" altLang="en-US" sz="2200" dirty="0">
                <a:latin typeface="Arial (Body)"/>
              </a:rPr>
              <a:t>M</a:t>
            </a:r>
            <a:r>
              <a:rPr lang="en-US" altLang="en-US" sz="100" dirty="0">
                <a:latin typeface="Arial (Body)"/>
              </a:rPr>
              <a:t> </a:t>
            </a:r>
            <a:r>
              <a:rPr lang="en-US" altLang="en-US" sz="2200" dirty="0">
                <a:latin typeface="Arial (Body)"/>
              </a:rPr>
              <a:t>F determined that the economy was experiencing a “</a:t>
            </a:r>
            <a:r>
              <a:rPr lang="en-US" altLang="ja-JP" sz="2200" dirty="0">
                <a:latin typeface="Arial (Body)"/>
              </a:rPr>
              <a:t>fundamental disequilibrium.”</a:t>
            </a:r>
            <a:endParaRPr lang="en-US" altLang="en-US" sz="2200" dirty="0">
              <a:latin typeface="Arial (Body)"/>
            </a:endParaRPr>
          </a:p>
        </p:txBody>
      </p:sp>
    </p:spTree>
    <p:extLst>
      <p:ext uri="{BB962C8B-B14F-4D97-AF65-F5344CB8AC3E}">
        <p14:creationId xmlns:p14="http://schemas.microsoft.com/office/powerpoint/2010/main" val="38407561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888F3-8C27-49B1-AEB8-23A64802CD73}"/>
              </a:ext>
            </a:extLst>
          </p:cNvPr>
          <p:cNvSpPr>
            <a:spLocks noGrp="1"/>
          </p:cNvSpPr>
          <p:nvPr>
            <p:ph type="title"/>
          </p:nvPr>
        </p:nvSpPr>
        <p:spPr/>
        <p:txBody>
          <a:bodyPr/>
          <a:lstStyle/>
          <a:p>
            <a:r>
              <a:rPr lang="en-US" altLang="en-US" sz="3600" dirty="0">
                <a:cs typeface="Times New Roman" panose="02020603050405020304" pitchFamily="18" charset="0"/>
              </a:rPr>
              <a:t>International Monetary Fund </a:t>
            </a:r>
            <a:r>
              <a:rPr lang="en-US" altLang="en-US" sz="2000" b="0" dirty="0">
                <a:cs typeface="Times New Roman" panose="02020603050405020304" pitchFamily="18" charset="0"/>
              </a:rPr>
              <a:t>(2 of 2)</a:t>
            </a:r>
            <a:endParaRPr lang="en-IN"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A33933F8-5ECA-4722-AA26-28505066AB94}"/>
              </a:ext>
            </a:extLst>
          </p:cNvPr>
          <p:cNvSpPr>
            <a:spLocks noGrp="1"/>
          </p:cNvSpPr>
          <p:nvPr>
            <p:ph sz="quarter" idx="13"/>
          </p:nvPr>
        </p:nvSpPr>
        <p:spPr>
          <a:xfrm>
            <a:off x="457200" y="1556327"/>
            <a:ext cx="8229600" cy="3417117"/>
          </a:xfrm>
        </p:spPr>
        <p:txBody>
          <a:bodyPr/>
          <a:lstStyle/>
          <a:p>
            <a:pPr eaLnBrk="1" hangingPunct="1"/>
            <a:r>
              <a:rPr lang="en-US" altLang="en-US" dirty="0">
                <a:latin typeface="Arial (Body)"/>
              </a:rPr>
              <a:t>Due to borrowing and occasional devaluations, the I</a:t>
            </a:r>
            <a:r>
              <a:rPr lang="en-US" altLang="en-US" sz="100" dirty="0">
                <a:latin typeface="Arial (Body)"/>
              </a:rPr>
              <a:t> </a:t>
            </a:r>
            <a:r>
              <a:rPr lang="en-US" altLang="en-US" dirty="0">
                <a:latin typeface="Arial (Body)"/>
              </a:rPr>
              <a:t>M</a:t>
            </a:r>
            <a:r>
              <a:rPr lang="en-US" altLang="en-US" sz="100" dirty="0">
                <a:latin typeface="Arial (Body)"/>
              </a:rPr>
              <a:t> </a:t>
            </a:r>
            <a:r>
              <a:rPr lang="en-US" altLang="en-US" dirty="0">
                <a:latin typeface="Arial (Body)"/>
              </a:rPr>
              <a:t>F was believed to give countries enough flexibility to attain an external balance, yet allow them to maintain an internal balance and stable exchange rates.</a:t>
            </a:r>
          </a:p>
          <a:p>
            <a:pPr lvl="1" eaLnBrk="1" hangingPunct="1"/>
            <a:r>
              <a:rPr lang="en-US" altLang="en-US" dirty="0">
                <a:latin typeface="Arial (Body)"/>
              </a:rPr>
              <a:t>The volatility of exchange rates during 1918–1939, caused by devaluations and the vagaries of the gold standard, was viewed as a source of economic instability.</a:t>
            </a:r>
          </a:p>
        </p:txBody>
      </p:sp>
    </p:spTree>
    <p:extLst>
      <p:ext uri="{BB962C8B-B14F-4D97-AF65-F5344CB8AC3E}">
        <p14:creationId xmlns:p14="http://schemas.microsoft.com/office/powerpoint/2010/main" val="11505069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7DBA4-E855-432E-95E0-E344B5B1D380}"/>
              </a:ext>
            </a:extLst>
          </p:cNvPr>
          <p:cNvSpPr>
            <a:spLocks noGrp="1"/>
          </p:cNvSpPr>
          <p:nvPr>
            <p:ph type="title"/>
          </p:nvPr>
        </p:nvSpPr>
        <p:spPr/>
        <p:txBody>
          <a:bodyPr/>
          <a:lstStyle/>
          <a:p>
            <a:r>
              <a:rPr lang="en-US" altLang="en-US" sz="3600" dirty="0"/>
              <a:t>Bretton Woods System </a:t>
            </a:r>
            <a:r>
              <a:rPr lang="en-US" altLang="en-US" sz="2000" b="0" dirty="0"/>
              <a:t>(1 of 2)</a:t>
            </a:r>
            <a:endParaRPr lang="en-IN" dirty="0"/>
          </a:p>
        </p:txBody>
      </p:sp>
      <p:sp>
        <p:nvSpPr>
          <p:cNvPr id="3" name="Content Placeholder 2">
            <a:extLst>
              <a:ext uri="{FF2B5EF4-FFF2-40B4-BE49-F238E27FC236}">
                <a16:creationId xmlns:a16="http://schemas.microsoft.com/office/drawing/2014/main" id="{931A8ED9-4C7A-410F-8EFE-A332472293EB}"/>
              </a:ext>
            </a:extLst>
          </p:cNvPr>
          <p:cNvSpPr>
            <a:spLocks noGrp="1"/>
          </p:cNvSpPr>
          <p:nvPr>
            <p:ph sz="quarter" idx="13"/>
          </p:nvPr>
        </p:nvSpPr>
        <p:spPr>
          <a:xfrm>
            <a:off x="457199" y="1556327"/>
            <a:ext cx="8312727" cy="4197702"/>
          </a:xfrm>
        </p:spPr>
        <p:txBody>
          <a:bodyPr/>
          <a:lstStyle/>
          <a:p>
            <a:pPr eaLnBrk="1" hangingPunct="1"/>
            <a:r>
              <a:rPr lang="en-US" altLang="en-US" dirty="0">
                <a:latin typeface="Arial (Body)"/>
              </a:rPr>
              <a:t>In order to avoid sudden changes in the financial account (possibly causing a balance of payments crisis), countries in the Bretton Woods system often prevented flows of financial assets across countries.</a:t>
            </a:r>
          </a:p>
          <a:p>
            <a:pPr eaLnBrk="1" hangingPunct="1"/>
            <a:r>
              <a:rPr lang="en-US" altLang="en-US" dirty="0">
                <a:latin typeface="Arial (Body)"/>
              </a:rPr>
              <a:t>Yet they encouraged flows of goods and services because of the view that trade benefits all economies.</a:t>
            </a:r>
          </a:p>
          <a:p>
            <a:pPr lvl="1" eaLnBrk="1" hangingPunct="1"/>
            <a:r>
              <a:rPr lang="en-US" altLang="en-US" dirty="0">
                <a:latin typeface="Arial (Body)"/>
                <a:ea typeface="ＭＳ Ｐゴシック" pitchFamily="34" charset="-128"/>
              </a:rPr>
              <a:t>Currencies were gradually made convertible (exchangeable) between member countries to encourage trade in goods and services valued in different currencies.</a:t>
            </a:r>
          </a:p>
        </p:txBody>
      </p:sp>
    </p:spTree>
    <p:extLst>
      <p:ext uri="{BB962C8B-B14F-4D97-AF65-F5344CB8AC3E}">
        <p14:creationId xmlns:p14="http://schemas.microsoft.com/office/powerpoint/2010/main" val="18540083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7DBA4-E855-432E-95E0-E344B5B1D380}"/>
              </a:ext>
            </a:extLst>
          </p:cNvPr>
          <p:cNvSpPr>
            <a:spLocks noGrp="1"/>
          </p:cNvSpPr>
          <p:nvPr>
            <p:ph type="title"/>
          </p:nvPr>
        </p:nvSpPr>
        <p:spPr/>
        <p:txBody>
          <a:bodyPr/>
          <a:lstStyle/>
          <a:p>
            <a:r>
              <a:rPr lang="en-US" altLang="en-US" sz="3600" dirty="0"/>
              <a:t>Bretton Woods System </a:t>
            </a:r>
            <a:r>
              <a:rPr lang="en-US" altLang="en-US" sz="2000" b="0" dirty="0"/>
              <a:t>(2 of 2)</a:t>
            </a:r>
            <a:endParaRPr lang="en-IN" dirty="0"/>
          </a:p>
        </p:txBody>
      </p:sp>
      <p:sp>
        <p:nvSpPr>
          <p:cNvPr id="3" name="Content Placeholder 2">
            <a:extLst>
              <a:ext uri="{FF2B5EF4-FFF2-40B4-BE49-F238E27FC236}">
                <a16:creationId xmlns:a16="http://schemas.microsoft.com/office/drawing/2014/main" id="{931A8ED9-4C7A-410F-8EFE-A332472293EB}"/>
              </a:ext>
            </a:extLst>
          </p:cNvPr>
          <p:cNvSpPr>
            <a:spLocks noGrp="1"/>
          </p:cNvSpPr>
          <p:nvPr>
            <p:ph sz="quarter" idx="13"/>
          </p:nvPr>
        </p:nvSpPr>
        <p:spPr>
          <a:xfrm>
            <a:off x="457200" y="1556327"/>
            <a:ext cx="8229600" cy="3606688"/>
          </a:xfrm>
        </p:spPr>
        <p:txBody>
          <a:bodyPr/>
          <a:lstStyle/>
          <a:p>
            <a:pPr eaLnBrk="1" hangingPunct="1"/>
            <a:r>
              <a:rPr lang="en-US" altLang="en-US" dirty="0">
                <a:latin typeface="Arial (Body)"/>
              </a:rPr>
              <a:t>Under a system of fixed exchange rates, all countries but the United States had ineffective monetary policies for internal balance.</a:t>
            </a:r>
          </a:p>
          <a:p>
            <a:pPr eaLnBrk="1" hangingPunct="1"/>
            <a:r>
              <a:rPr lang="en-US" altLang="en-US" dirty="0">
                <a:latin typeface="Arial (Body)"/>
              </a:rPr>
              <a:t>The principal tool for internal balance was fiscal policy (government purchases or taxes).</a:t>
            </a:r>
          </a:p>
          <a:p>
            <a:pPr eaLnBrk="1" hangingPunct="1"/>
            <a:r>
              <a:rPr lang="en-US" altLang="en-US" dirty="0">
                <a:latin typeface="Arial (Body)"/>
              </a:rPr>
              <a:t>The principal tools for external balance were borrowing from the I</a:t>
            </a:r>
            <a:r>
              <a:rPr lang="en-US" altLang="en-US" sz="100" dirty="0">
                <a:latin typeface="Arial (Body)"/>
              </a:rPr>
              <a:t> </a:t>
            </a:r>
            <a:r>
              <a:rPr lang="en-US" altLang="en-US" dirty="0">
                <a:latin typeface="Arial (Body)"/>
              </a:rPr>
              <a:t>M</a:t>
            </a:r>
            <a:r>
              <a:rPr lang="en-US" altLang="en-US" sz="100" dirty="0">
                <a:latin typeface="Arial (Body)"/>
              </a:rPr>
              <a:t> </a:t>
            </a:r>
            <a:r>
              <a:rPr lang="en-US" altLang="en-US" dirty="0">
                <a:latin typeface="Arial (Body)"/>
              </a:rPr>
              <a:t>F, restrictions on financial asset flows, and infrequent changes in exchange rates.</a:t>
            </a:r>
          </a:p>
        </p:txBody>
      </p:sp>
    </p:spTree>
    <p:extLst>
      <p:ext uri="{BB962C8B-B14F-4D97-AF65-F5344CB8AC3E}">
        <p14:creationId xmlns:p14="http://schemas.microsoft.com/office/powerpoint/2010/main" val="41837198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44567-0335-4952-AF0C-CF4A286418E9}"/>
              </a:ext>
            </a:extLst>
          </p:cNvPr>
          <p:cNvSpPr>
            <a:spLocks noGrp="1"/>
          </p:cNvSpPr>
          <p:nvPr>
            <p:ph type="title"/>
          </p:nvPr>
        </p:nvSpPr>
        <p:spPr>
          <a:xfrm>
            <a:off x="457200" y="215371"/>
            <a:ext cx="8229600" cy="1097279"/>
          </a:xfrm>
        </p:spPr>
        <p:txBody>
          <a:bodyPr/>
          <a:lstStyle/>
          <a:p>
            <a:r>
              <a:rPr lang="en-US" altLang="en-US" sz="2800" dirty="0"/>
              <a:t>Policies for Internal and External Balance </a:t>
            </a:r>
            <a:r>
              <a:rPr lang="en-US" altLang="en-US" sz="2000" b="0" dirty="0"/>
              <a:t>(1 of 4)</a:t>
            </a:r>
            <a:endParaRPr lang="en-IN" sz="2000" dirty="0"/>
          </a:p>
        </p:txBody>
      </p:sp>
      <p:sp>
        <p:nvSpPr>
          <p:cNvPr id="3" name="Content Placeholder 2">
            <a:extLst>
              <a:ext uri="{FF2B5EF4-FFF2-40B4-BE49-F238E27FC236}">
                <a16:creationId xmlns:a16="http://schemas.microsoft.com/office/drawing/2014/main" id="{26F9BFB7-7FF8-4F32-859A-1E7222187F05}"/>
              </a:ext>
            </a:extLst>
          </p:cNvPr>
          <p:cNvSpPr>
            <a:spLocks noGrp="1"/>
          </p:cNvSpPr>
          <p:nvPr>
            <p:ph sz="quarter" idx="13"/>
          </p:nvPr>
        </p:nvSpPr>
        <p:spPr>
          <a:xfrm>
            <a:off x="457200" y="1556328"/>
            <a:ext cx="8020756" cy="1053058"/>
          </a:xfrm>
        </p:spPr>
        <p:txBody>
          <a:bodyPr/>
          <a:lstStyle/>
          <a:p>
            <a:r>
              <a:rPr lang="en-US" altLang="ja-JP" sz="2000" dirty="0"/>
              <a:t>Suppose internal balance in the short run occurs when production is at potential output or when “full employment” equals aggregate demand:</a:t>
            </a:r>
          </a:p>
        </p:txBody>
      </p:sp>
      <p:graphicFrame>
        <p:nvGraphicFramePr>
          <p:cNvPr id="5" name="Object 4" descr="Y to the f power = C + I + G + C A left parenthesis start fraction E P to the asterisk power over P end fraction, A right parenthesis, equals A + C A left parenthesis start fraction E P to the asterisk power over P end fraction, A right parenthesis">
            <a:extLst>
              <a:ext uri="{FF2B5EF4-FFF2-40B4-BE49-F238E27FC236}">
                <a16:creationId xmlns:a16="http://schemas.microsoft.com/office/drawing/2014/main" id="{9166312A-9E57-43E2-996D-B8E8F60D7013}"/>
              </a:ext>
            </a:extLst>
          </p:cNvPr>
          <p:cNvGraphicFramePr>
            <a:graphicFrameLocks noChangeAspect="1"/>
          </p:cNvGraphicFramePr>
          <p:nvPr>
            <p:extLst>
              <p:ext uri="{D42A27DB-BD31-4B8C-83A1-F6EECF244321}">
                <p14:modId xmlns:p14="http://schemas.microsoft.com/office/powerpoint/2010/main" val="3416188242"/>
              </p:ext>
            </p:extLst>
          </p:nvPr>
        </p:nvGraphicFramePr>
        <p:xfrm>
          <a:off x="3077574" y="2773057"/>
          <a:ext cx="2990440" cy="1395653"/>
        </p:xfrm>
        <a:graphic>
          <a:graphicData uri="http://schemas.openxmlformats.org/presentationml/2006/ole">
            <mc:AlternateContent xmlns:mc="http://schemas.openxmlformats.org/markup-compatibility/2006">
              <mc:Choice xmlns:v="urn:schemas-microsoft-com:vml" Requires="v">
                <p:oleObj name="Equation" r:id="rId2" imgW="1904760" imgH="888840" progId="Equation.DSMT4">
                  <p:embed/>
                </p:oleObj>
              </mc:Choice>
              <mc:Fallback>
                <p:oleObj name="Equation" r:id="rId2" imgW="1904760" imgH="888840" progId="Equation.DSMT4">
                  <p:embed/>
                  <p:pic>
                    <p:nvPicPr>
                      <p:cNvPr id="0" name=""/>
                      <p:cNvPicPr/>
                      <p:nvPr/>
                    </p:nvPicPr>
                    <p:blipFill>
                      <a:blip r:embed="rId3"/>
                      <a:stretch>
                        <a:fillRect/>
                      </a:stretch>
                    </p:blipFill>
                    <p:spPr>
                      <a:xfrm>
                        <a:off x="3077574" y="2773057"/>
                        <a:ext cx="2990440" cy="1395653"/>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1203FB1D-A81B-4C64-AA79-FEA8A1511A39}"/>
              </a:ext>
            </a:extLst>
          </p:cNvPr>
          <p:cNvSpPr>
            <a:spLocks noGrp="1"/>
          </p:cNvSpPr>
          <p:nvPr>
            <p:ph sz="quarter" idx="14"/>
          </p:nvPr>
        </p:nvSpPr>
        <p:spPr>
          <a:xfrm>
            <a:off x="457200" y="4316906"/>
            <a:ext cx="8229600" cy="1846313"/>
          </a:xfrm>
        </p:spPr>
        <p:txBody>
          <a:bodyPr/>
          <a:lstStyle/>
          <a:p>
            <a:pPr>
              <a:spcBef>
                <a:spcPct val="50000"/>
              </a:spcBef>
            </a:pPr>
            <a:r>
              <a:rPr lang="en-US" altLang="en-US" sz="2000" dirty="0"/>
              <a:t>An increase in government purchases (or a decrease in taxes) increases aggregate demand and output above its full employment level.</a:t>
            </a:r>
          </a:p>
          <a:p>
            <a:pPr>
              <a:spcBef>
                <a:spcPct val="50000"/>
              </a:spcBef>
            </a:pPr>
            <a:r>
              <a:rPr lang="en-US" altLang="en-US" sz="2000" dirty="0"/>
              <a:t>To restore internal balance in the short run, a revaluation (a fall in </a:t>
            </a:r>
            <a:r>
              <a:rPr lang="en-US" altLang="en-US" sz="2000" i="1" dirty="0"/>
              <a:t>E</a:t>
            </a:r>
            <a:r>
              <a:rPr lang="en-US" altLang="en-US" sz="2000" dirty="0"/>
              <a:t>) must occur.</a:t>
            </a:r>
            <a:endParaRPr lang="en-US" sz="2000" dirty="0"/>
          </a:p>
        </p:txBody>
      </p:sp>
    </p:spTree>
    <p:extLst>
      <p:ext uri="{BB962C8B-B14F-4D97-AF65-F5344CB8AC3E}">
        <p14:creationId xmlns:p14="http://schemas.microsoft.com/office/powerpoint/2010/main" val="3887629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44567-0335-4952-AF0C-CF4A286418E9}"/>
              </a:ext>
            </a:extLst>
          </p:cNvPr>
          <p:cNvSpPr>
            <a:spLocks noGrp="1"/>
          </p:cNvSpPr>
          <p:nvPr>
            <p:ph type="title"/>
          </p:nvPr>
        </p:nvSpPr>
        <p:spPr>
          <a:xfrm>
            <a:off x="457200" y="215371"/>
            <a:ext cx="8229600" cy="1097279"/>
          </a:xfrm>
        </p:spPr>
        <p:txBody>
          <a:bodyPr/>
          <a:lstStyle/>
          <a:p>
            <a:r>
              <a:rPr lang="en-US" altLang="en-US" sz="2800" dirty="0"/>
              <a:t>Policies for Internal and External Balance </a:t>
            </a:r>
            <a:r>
              <a:rPr lang="en-US" altLang="en-US" sz="2000" b="0" dirty="0"/>
              <a:t>(2 of 4)</a:t>
            </a:r>
            <a:endParaRPr lang="en-IN" sz="2000" dirty="0"/>
          </a:p>
        </p:txBody>
      </p:sp>
      <p:sp>
        <p:nvSpPr>
          <p:cNvPr id="3" name="Content Placeholder 2">
            <a:extLst>
              <a:ext uri="{FF2B5EF4-FFF2-40B4-BE49-F238E27FC236}">
                <a16:creationId xmlns:a16="http://schemas.microsoft.com/office/drawing/2014/main" id="{26F9BFB7-7FF8-4F32-859A-1E7222187F05}"/>
              </a:ext>
            </a:extLst>
          </p:cNvPr>
          <p:cNvSpPr>
            <a:spLocks noGrp="1"/>
          </p:cNvSpPr>
          <p:nvPr>
            <p:ph sz="quarter" idx="13"/>
          </p:nvPr>
        </p:nvSpPr>
        <p:spPr>
          <a:xfrm>
            <a:off x="457200" y="1556328"/>
            <a:ext cx="8229600" cy="791761"/>
          </a:xfrm>
        </p:spPr>
        <p:txBody>
          <a:bodyPr/>
          <a:lstStyle/>
          <a:p>
            <a:pPr eaLnBrk="1" hangingPunct="1">
              <a:spcBef>
                <a:spcPct val="50000"/>
              </a:spcBef>
            </a:pPr>
            <a:r>
              <a:rPr lang="en-US" altLang="en-US" sz="2000" dirty="0">
                <a:latin typeface="Arial (Body)"/>
              </a:rPr>
              <a:t>Suppose external balance in the short run occurs when the current account achieves some value </a:t>
            </a:r>
            <a:r>
              <a:rPr lang="en-US" altLang="en-US" sz="2000" i="1" dirty="0">
                <a:latin typeface="Arial (Body)"/>
              </a:rPr>
              <a:t>X</a:t>
            </a:r>
            <a:r>
              <a:rPr lang="en-US" altLang="en-US" sz="2000" dirty="0">
                <a:latin typeface="Arial (Body)"/>
              </a:rPr>
              <a:t>:</a:t>
            </a:r>
          </a:p>
        </p:txBody>
      </p:sp>
      <p:graphicFrame>
        <p:nvGraphicFramePr>
          <p:cNvPr id="5" name="Object 4" descr="C A left parenthesis start fraction E P to the asterisk power over P end fraction, Y minus T right parenthesis = X">
            <a:extLst>
              <a:ext uri="{FF2B5EF4-FFF2-40B4-BE49-F238E27FC236}">
                <a16:creationId xmlns:a16="http://schemas.microsoft.com/office/drawing/2014/main" id="{9166312A-9E57-43E2-996D-B8E8F60D7013}"/>
              </a:ext>
            </a:extLst>
          </p:cNvPr>
          <p:cNvGraphicFramePr>
            <a:graphicFrameLocks noChangeAspect="1"/>
          </p:cNvGraphicFramePr>
          <p:nvPr>
            <p:extLst>
              <p:ext uri="{D42A27DB-BD31-4B8C-83A1-F6EECF244321}">
                <p14:modId xmlns:p14="http://schemas.microsoft.com/office/powerpoint/2010/main" val="3348280585"/>
              </p:ext>
            </p:extLst>
          </p:nvPr>
        </p:nvGraphicFramePr>
        <p:xfrm>
          <a:off x="3397887" y="2553234"/>
          <a:ext cx="2349814" cy="688441"/>
        </p:xfrm>
        <a:graphic>
          <a:graphicData uri="http://schemas.openxmlformats.org/presentationml/2006/ole">
            <mc:AlternateContent xmlns:mc="http://schemas.openxmlformats.org/markup-compatibility/2006">
              <mc:Choice xmlns:v="urn:schemas-microsoft-com:vml" Requires="v">
                <p:oleObj name="Equation" r:id="rId2" imgW="1473120" imgH="431640" progId="Equation.DSMT4">
                  <p:embed/>
                </p:oleObj>
              </mc:Choice>
              <mc:Fallback>
                <p:oleObj name="Equation" r:id="rId2" imgW="1473120" imgH="431640" progId="Equation.DSMT4">
                  <p:embed/>
                  <p:pic>
                    <p:nvPicPr>
                      <p:cNvPr id="5" name="Object 4">
                        <a:extLst>
                          <a:ext uri="{FF2B5EF4-FFF2-40B4-BE49-F238E27FC236}">
                            <a16:creationId xmlns:a16="http://schemas.microsoft.com/office/drawing/2014/main" id="{9166312A-9E57-43E2-996D-B8E8F60D7013}"/>
                          </a:ext>
                        </a:extLst>
                      </p:cNvPr>
                      <p:cNvPicPr/>
                      <p:nvPr/>
                    </p:nvPicPr>
                    <p:blipFill>
                      <a:blip r:embed="rId3"/>
                      <a:stretch>
                        <a:fillRect/>
                      </a:stretch>
                    </p:blipFill>
                    <p:spPr>
                      <a:xfrm>
                        <a:off x="3397887" y="2553234"/>
                        <a:ext cx="2349814" cy="688441"/>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1203FB1D-A81B-4C64-AA79-FEA8A1511A39}"/>
              </a:ext>
            </a:extLst>
          </p:cNvPr>
          <p:cNvSpPr>
            <a:spLocks noGrp="1"/>
          </p:cNvSpPr>
          <p:nvPr>
            <p:ph sz="quarter" idx="14"/>
          </p:nvPr>
        </p:nvSpPr>
        <p:spPr>
          <a:xfrm>
            <a:off x="457200" y="3464505"/>
            <a:ext cx="8404578" cy="2037919"/>
          </a:xfrm>
        </p:spPr>
        <p:txBody>
          <a:bodyPr/>
          <a:lstStyle/>
          <a:p>
            <a:pPr>
              <a:spcBef>
                <a:spcPct val="50000"/>
              </a:spcBef>
            </a:pPr>
            <a:r>
              <a:rPr lang="en-US" altLang="en-US" sz="2000" dirty="0">
                <a:latin typeface="Arial (Body)"/>
              </a:rPr>
              <a:t>An increase in government purchases (or a decrease in taxes) increases aggregate demand, output and income, decreasing the current account.</a:t>
            </a:r>
          </a:p>
          <a:p>
            <a:pPr>
              <a:spcBef>
                <a:spcPct val="50000"/>
              </a:spcBef>
            </a:pPr>
            <a:r>
              <a:rPr lang="en-US" altLang="en-US" sz="2000" dirty="0">
                <a:latin typeface="Arial (Body)"/>
              </a:rPr>
              <a:t>To restore external balance in the short run, a devaluation (a rise in </a:t>
            </a:r>
            <a:r>
              <a:rPr lang="en-US" altLang="en-US" sz="2000" i="1" dirty="0">
                <a:latin typeface="Arial (Body)"/>
              </a:rPr>
              <a:t>E</a:t>
            </a:r>
            <a:r>
              <a:rPr lang="en-US" altLang="en-US" sz="2000" dirty="0">
                <a:latin typeface="Arial (Body)"/>
              </a:rPr>
              <a:t>) must occur.</a:t>
            </a:r>
          </a:p>
        </p:txBody>
      </p:sp>
    </p:spTree>
    <p:extLst>
      <p:ext uri="{BB962C8B-B14F-4D97-AF65-F5344CB8AC3E}">
        <p14:creationId xmlns:p14="http://schemas.microsoft.com/office/powerpoint/2010/main" val="31351131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DB40A-8E7D-4206-8993-7AC749DCA878}"/>
              </a:ext>
            </a:extLst>
          </p:cNvPr>
          <p:cNvSpPr>
            <a:spLocks noGrp="1"/>
          </p:cNvSpPr>
          <p:nvPr>
            <p:ph type="title"/>
          </p:nvPr>
        </p:nvSpPr>
        <p:spPr>
          <a:xfrm>
            <a:off x="457200" y="215371"/>
            <a:ext cx="8341519" cy="1097279"/>
          </a:xfrm>
        </p:spPr>
        <p:txBody>
          <a:bodyPr/>
          <a:lstStyle/>
          <a:p>
            <a:r>
              <a:rPr lang="en-US" altLang="en-US" sz="2600" dirty="0"/>
              <a:t>Figure 19.2 Internal Balance (</a:t>
            </a:r>
            <a:r>
              <a:rPr lang="en-US" altLang="en-US" sz="2600" i="1" dirty="0"/>
              <a:t>I</a:t>
            </a:r>
            <a:r>
              <a:rPr lang="en-US" altLang="en-US" sz="100" i="1" dirty="0"/>
              <a:t> </a:t>
            </a:r>
            <a:r>
              <a:rPr lang="en-US" altLang="en-US" sz="2600" i="1" dirty="0"/>
              <a:t>I</a:t>
            </a:r>
            <a:r>
              <a:rPr lang="en-US" altLang="en-US" sz="2600" dirty="0"/>
              <a:t>), External Balance (</a:t>
            </a:r>
            <a:r>
              <a:rPr lang="en-US" altLang="en-US" sz="2600" i="1" dirty="0"/>
              <a:t>X</a:t>
            </a:r>
            <a:r>
              <a:rPr lang="en-US" altLang="en-US" sz="100" i="1" dirty="0"/>
              <a:t> </a:t>
            </a:r>
            <a:r>
              <a:rPr lang="en-US" altLang="en-US" sz="2600" i="1" dirty="0"/>
              <a:t>X</a:t>
            </a:r>
            <a:r>
              <a:rPr lang="en-US" altLang="en-US" sz="2600" dirty="0"/>
              <a:t>), and the “</a:t>
            </a:r>
            <a:r>
              <a:rPr lang="en-US" altLang="ja-JP" sz="2600" dirty="0"/>
              <a:t>Four Zones of Economic Discomfort”</a:t>
            </a:r>
            <a:endParaRPr lang="en-IN" sz="2600" dirty="0"/>
          </a:p>
        </p:txBody>
      </p:sp>
      <p:pic>
        <p:nvPicPr>
          <p:cNvPr id="35" name="Content Placeholder 34" descr="A graph plots the exchange rate, E versus domestic spending, Ay. For long description in Notes pane, press F6.">
            <a:extLst>
              <a:ext uri="{FF2B5EF4-FFF2-40B4-BE49-F238E27FC236}">
                <a16:creationId xmlns:a16="http://schemas.microsoft.com/office/drawing/2014/main" id="{8DEC69FA-7473-4F5F-A862-9B3CCA804C46}"/>
              </a:ext>
            </a:extLst>
          </p:cNvPr>
          <p:cNvPicPr>
            <a:picLocks noGrp="1" noChangeAspect="1"/>
          </p:cNvPicPr>
          <p:nvPr>
            <p:ph sz="quarter" idx="13"/>
          </p:nvPr>
        </p:nvPicPr>
        <p:blipFill>
          <a:blip r:embed="rId3"/>
          <a:stretch>
            <a:fillRect/>
          </a:stretch>
        </p:blipFill>
        <p:spPr>
          <a:xfrm>
            <a:off x="2955624" y="1662316"/>
            <a:ext cx="3197705" cy="3056309"/>
          </a:xfrm>
        </p:spPr>
      </p:pic>
      <p:sp>
        <p:nvSpPr>
          <p:cNvPr id="19" name="Content Placeholder 18">
            <a:extLst>
              <a:ext uri="{FF2B5EF4-FFF2-40B4-BE49-F238E27FC236}">
                <a16:creationId xmlns:a16="http://schemas.microsoft.com/office/drawing/2014/main" id="{7D0D6A4E-3627-4B5C-9D48-845E29CAF3B2}"/>
              </a:ext>
            </a:extLst>
          </p:cNvPr>
          <p:cNvSpPr>
            <a:spLocks noGrp="1"/>
          </p:cNvSpPr>
          <p:nvPr>
            <p:ph sz="quarter" idx="14"/>
          </p:nvPr>
        </p:nvSpPr>
        <p:spPr>
          <a:xfrm>
            <a:off x="480060" y="4824293"/>
            <a:ext cx="7834884" cy="319926"/>
          </a:xfrm>
        </p:spPr>
        <p:txBody>
          <a:bodyPr lIns="0" tIns="0" rIns="0" bIns="0"/>
          <a:lstStyle/>
          <a:p>
            <a:pPr marL="432" indent="0">
              <a:buNone/>
            </a:pPr>
            <a:r>
              <a:rPr lang="en-US" sz="1800" dirty="0"/>
              <a:t>The diagram shows what different levels of the exchange rate, </a:t>
            </a:r>
            <a:r>
              <a:rPr lang="en-US" sz="1800" i="1" dirty="0"/>
              <a:t>E</a:t>
            </a:r>
            <a:r>
              <a:rPr lang="en-US" sz="1800" dirty="0"/>
              <a:t>, and overall</a:t>
            </a:r>
            <a:endParaRPr lang="en-IN" sz="1800" dirty="0"/>
          </a:p>
        </p:txBody>
      </p:sp>
      <p:sp>
        <p:nvSpPr>
          <p:cNvPr id="20" name="Content Placeholder 19">
            <a:extLst>
              <a:ext uri="{FF2B5EF4-FFF2-40B4-BE49-F238E27FC236}">
                <a16:creationId xmlns:a16="http://schemas.microsoft.com/office/drawing/2014/main" id="{2DFF2693-A612-426A-BD09-6793FB7FF6A8}"/>
              </a:ext>
            </a:extLst>
          </p:cNvPr>
          <p:cNvSpPr>
            <a:spLocks noGrp="1"/>
          </p:cNvSpPr>
          <p:nvPr>
            <p:ph sz="quarter" idx="15"/>
          </p:nvPr>
        </p:nvSpPr>
        <p:spPr>
          <a:xfrm>
            <a:off x="480059" y="5219828"/>
            <a:ext cx="8054341" cy="326171"/>
          </a:xfrm>
        </p:spPr>
        <p:txBody>
          <a:bodyPr lIns="0" tIns="0" rIns="0" bIns="0"/>
          <a:lstStyle/>
          <a:p>
            <a:pPr marL="432" indent="0">
              <a:buNone/>
            </a:pPr>
            <a:r>
              <a:rPr lang="en-US" sz="1800" dirty="0"/>
              <a:t>domestic spending, </a:t>
            </a:r>
            <a:r>
              <a:rPr lang="en-US" sz="1800" i="1" dirty="0"/>
              <a:t>A</a:t>
            </a:r>
            <a:r>
              <a:rPr lang="en-US" sz="1800" dirty="0"/>
              <a:t>, imply for employment and the current account. Along </a:t>
            </a:r>
            <a:r>
              <a:rPr lang="en-US" sz="1800" i="1" dirty="0"/>
              <a:t>I</a:t>
            </a:r>
            <a:r>
              <a:rPr lang="en-US" sz="100" i="1" dirty="0"/>
              <a:t> </a:t>
            </a:r>
            <a:r>
              <a:rPr lang="en-US" sz="1800" i="1" dirty="0"/>
              <a:t>I</a:t>
            </a:r>
            <a:r>
              <a:rPr lang="en-US" sz="1800" dirty="0"/>
              <a:t>,</a:t>
            </a:r>
            <a:endParaRPr lang="en-IN" sz="1800" dirty="0"/>
          </a:p>
        </p:txBody>
      </p:sp>
      <p:sp>
        <p:nvSpPr>
          <p:cNvPr id="21" name="Content Placeholder 20">
            <a:extLst>
              <a:ext uri="{FF2B5EF4-FFF2-40B4-BE49-F238E27FC236}">
                <a16:creationId xmlns:a16="http://schemas.microsoft.com/office/drawing/2014/main" id="{76EF4849-1F69-4B04-B965-8DA88179D8AC}"/>
              </a:ext>
            </a:extLst>
          </p:cNvPr>
          <p:cNvSpPr>
            <a:spLocks noGrp="1"/>
          </p:cNvSpPr>
          <p:nvPr>
            <p:ph sz="quarter" idx="16"/>
          </p:nvPr>
        </p:nvSpPr>
        <p:spPr>
          <a:xfrm>
            <a:off x="512717" y="5597851"/>
            <a:ext cx="3759708" cy="316122"/>
          </a:xfrm>
        </p:spPr>
        <p:txBody>
          <a:bodyPr lIns="0" tIns="0" rIns="0" bIns="0"/>
          <a:lstStyle/>
          <a:p>
            <a:pPr marL="432" indent="0">
              <a:buNone/>
            </a:pPr>
            <a:r>
              <a:rPr lang="en-US" sz="1800" dirty="0"/>
              <a:t>output is at its full-employment level,</a:t>
            </a:r>
            <a:endParaRPr lang="en-IN" sz="1800" dirty="0"/>
          </a:p>
        </p:txBody>
      </p:sp>
      <p:graphicFrame>
        <p:nvGraphicFramePr>
          <p:cNvPr id="33" name="Object 32" descr="Y to the f power.">
            <a:extLst>
              <a:ext uri="{FF2B5EF4-FFF2-40B4-BE49-F238E27FC236}">
                <a16:creationId xmlns:a16="http://schemas.microsoft.com/office/drawing/2014/main" id="{3B4DEC18-47F3-4532-8ACD-68D0AA94B6D0}"/>
              </a:ext>
            </a:extLst>
          </p:cNvPr>
          <p:cNvGraphicFramePr>
            <a:graphicFrameLocks noChangeAspect="1"/>
          </p:cNvGraphicFramePr>
          <p:nvPr>
            <p:extLst>
              <p:ext uri="{D42A27DB-BD31-4B8C-83A1-F6EECF244321}">
                <p14:modId xmlns:p14="http://schemas.microsoft.com/office/powerpoint/2010/main" val="3365149578"/>
              </p:ext>
            </p:extLst>
          </p:nvPr>
        </p:nvGraphicFramePr>
        <p:xfrm>
          <a:off x="4377834" y="5603948"/>
          <a:ext cx="353287" cy="278912"/>
        </p:xfrm>
        <a:graphic>
          <a:graphicData uri="http://schemas.openxmlformats.org/presentationml/2006/ole">
            <mc:AlternateContent xmlns:mc="http://schemas.openxmlformats.org/markup-compatibility/2006">
              <mc:Choice xmlns:v="urn:schemas-microsoft-com:vml" Requires="v">
                <p:oleObj name="Equation" r:id="rId4" imgW="241200" imgH="190440" progId="Equation.DSMT4">
                  <p:embed/>
                </p:oleObj>
              </mc:Choice>
              <mc:Fallback>
                <p:oleObj name="Equation" r:id="rId4" imgW="241200" imgH="190440" progId="Equation.DSMT4">
                  <p:embed/>
                  <p:pic>
                    <p:nvPicPr>
                      <p:cNvPr id="0" name=""/>
                      <p:cNvPicPr/>
                      <p:nvPr/>
                    </p:nvPicPr>
                    <p:blipFill>
                      <a:blip r:embed="rId5"/>
                      <a:stretch>
                        <a:fillRect/>
                      </a:stretch>
                    </p:blipFill>
                    <p:spPr>
                      <a:xfrm>
                        <a:off x="4377834" y="5603948"/>
                        <a:ext cx="353287" cy="278912"/>
                      </a:xfrm>
                      <a:prstGeom prst="rect">
                        <a:avLst/>
                      </a:prstGeom>
                    </p:spPr>
                  </p:pic>
                </p:oleObj>
              </mc:Fallback>
            </mc:AlternateContent>
          </a:graphicData>
        </a:graphic>
      </p:graphicFrame>
      <p:sp>
        <p:nvSpPr>
          <p:cNvPr id="22" name="Content Placeholder 21">
            <a:extLst>
              <a:ext uri="{FF2B5EF4-FFF2-40B4-BE49-F238E27FC236}">
                <a16:creationId xmlns:a16="http://schemas.microsoft.com/office/drawing/2014/main" id="{BDB08730-646B-46B6-9ADA-4050C57F4567}"/>
              </a:ext>
            </a:extLst>
          </p:cNvPr>
          <p:cNvSpPr>
            <a:spLocks noGrp="1"/>
          </p:cNvSpPr>
          <p:nvPr>
            <p:ph sz="quarter" idx="17"/>
          </p:nvPr>
        </p:nvSpPr>
        <p:spPr>
          <a:xfrm>
            <a:off x="4818062" y="5598366"/>
            <a:ext cx="3233408" cy="313944"/>
          </a:xfrm>
        </p:spPr>
        <p:txBody>
          <a:bodyPr lIns="0" tIns="0" rIns="0" bIns="0"/>
          <a:lstStyle/>
          <a:p>
            <a:pPr marL="432" indent="0">
              <a:buNone/>
            </a:pPr>
            <a:r>
              <a:rPr lang="en-US" sz="1800" dirty="0"/>
              <a:t>Along </a:t>
            </a:r>
            <a:r>
              <a:rPr lang="en-US" sz="1800" i="1" dirty="0"/>
              <a:t>X</a:t>
            </a:r>
            <a:r>
              <a:rPr lang="en-US" sz="100" i="1" dirty="0"/>
              <a:t> </a:t>
            </a:r>
            <a:r>
              <a:rPr lang="en-US" sz="1800" i="1" dirty="0"/>
              <a:t>X</a:t>
            </a:r>
            <a:r>
              <a:rPr lang="en-US" sz="1800" dirty="0"/>
              <a:t>, the current account</a:t>
            </a:r>
            <a:endParaRPr lang="en-IN" sz="1800" dirty="0"/>
          </a:p>
        </p:txBody>
      </p:sp>
      <p:sp>
        <p:nvSpPr>
          <p:cNvPr id="23" name="Content Placeholder 22">
            <a:extLst>
              <a:ext uri="{FF2B5EF4-FFF2-40B4-BE49-F238E27FC236}">
                <a16:creationId xmlns:a16="http://schemas.microsoft.com/office/drawing/2014/main" id="{97914D44-5ADD-4555-B857-2AF068D431A8}"/>
              </a:ext>
            </a:extLst>
          </p:cNvPr>
          <p:cNvSpPr>
            <a:spLocks noGrp="1"/>
          </p:cNvSpPr>
          <p:nvPr>
            <p:ph sz="quarter" idx="18"/>
          </p:nvPr>
        </p:nvSpPr>
        <p:spPr>
          <a:xfrm>
            <a:off x="497478" y="5978047"/>
            <a:ext cx="2354579" cy="305241"/>
          </a:xfrm>
        </p:spPr>
        <p:txBody>
          <a:bodyPr lIns="0" tIns="0" rIns="0" bIns="0"/>
          <a:lstStyle/>
          <a:p>
            <a:pPr marL="432" indent="0">
              <a:buNone/>
            </a:pPr>
            <a:r>
              <a:rPr lang="en-US" sz="1800" dirty="0"/>
              <a:t>is at its target level, </a:t>
            </a:r>
            <a:r>
              <a:rPr lang="en-US" sz="1800" i="1" dirty="0"/>
              <a:t>X</a:t>
            </a:r>
            <a:r>
              <a:rPr lang="en-US" sz="1800" dirty="0"/>
              <a:t>.</a:t>
            </a:r>
          </a:p>
        </p:txBody>
      </p:sp>
    </p:spTree>
    <p:extLst>
      <p:ext uri="{BB962C8B-B14F-4D97-AF65-F5344CB8AC3E}">
        <p14:creationId xmlns:p14="http://schemas.microsoft.com/office/powerpoint/2010/main" val="39647994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F5BCD9F-3804-4F99-9262-F5435AFA9D6F}"/>
              </a:ext>
            </a:extLst>
          </p:cNvPr>
          <p:cNvSpPr>
            <a:spLocks noGrp="1"/>
          </p:cNvSpPr>
          <p:nvPr>
            <p:ph type="title"/>
          </p:nvPr>
        </p:nvSpPr>
        <p:spPr/>
        <p:txBody>
          <a:bodyPr/>
          <a:lstStyle/>
          <a:p>
            <a:r>
              <a:rPr lang="en-US" altLang="en-US" sz="3200" dirty="0">
                <a:cs typeface="Times New Roman" panose="02020603050405020304" pitchFamily="18" charset="0"/>
              </a:rPr>
              <a:t>Figure 19.3 Policies to Bring about Internal and External Balance</a:t>
            </a:r>
            <a:endParaRPr lang="en-IN" sz="3200" dirty="0">
              <a:cs typeface="Times New Roman" panose="02020603050405020304" pitchFamily="18" charset="0"/>
            </a:endParaRPr>
          </a:p>
        </p:txBody>
      </p:sp>
      <p:pic>
        <p:nvPicPr>
          <p:cNvPr id="8" name="Content Placeholder 7" descr="A graph shows exchange rate, E versus domestic spending, Ay. For long description in Notes pane, press F6.">
            <a:extLst>
              <a:ext uri="{FF2B5EF4-FFF2-40B4-BE49-F238E27FC236}">
                <a16:creationId xmlns:a16="http://schemas.microsoft.com/office/drawing/2014/main" id="{05310E9B-F303-4A48-A691-E783516B73C9}"/>
              </a:ext>
            </a:extLst>
          </p:cNvPr>
          <p:cNvPicPr>
            <a:picLocks noGrp="1" noChangeAspect="1"/>
          </p:cNvPicPr>
          <p:nvPr>
            <p:ph sz="quarter" idx="13"/>
          </p:nvPr>
        </p:nvPicPr>
        <p:blipFill>
          <a:blip r:embed="rId3"/>
          <a:stretch>
            <a:fillRect/>
          </a:stretch>
        </p:blipFill>
        <p:spPr>
          <a:xfrm>
            <a:off x="2914941" y="1608582"/>
            <a:ext cx="3314118" cy="3223684"/>
          </a:xfrm>
        </p:spPr>
      </p:pic>
      <p:sp>
        <p:nvSpPr>
          <p:cNvPr id="6" name="Content Placeholder 5">
            <a:extLst>
              <a:ext uri="{FF2B5EF4-FFF2-40B4-BE49-F238E27FC236}">
                <a16:creationId xmlns:a16="http://schemas.microsoft.com/office/drawing/2014/main" id="{9A1A101F-AE52-4FDE-B6F1-C09D50214566}"/>
              </a:ext>
            </a:extLst>
          </p:cNvPr>
          <p:cNvSpPr>
            <a:spLocks noGrp="1"/>
          </p:cNvSpPr>
          <p:nvPr>
            <p:ph sz="quarter" idx="14"/>
          </p:nvPr>
        </p:nvSpPr>
        <p:spPr>
          <a:xfrm>
            <a:off x="468775" y="4930255"/>
            <a:ext cx="8229600" cy="1380235"/>
          </a:xfrm>
        </p:spPr>
        <p:txBody>
          <a:bodyPr/>
          <a:lstStyle/>
          <a:p>
            <a:pPr marL="432" indent="0">
              <a:buNone/>
            </a:pPr>
            <a:r>
              <a:rPr lang="en-US" sz="1600" dirty="0">
                <a:latin typeface="Arial (Body)"/>
              </a:rPr>
              <a:t>Unless the currency is devalued and the level of domestic spending rises, internal and external balance (point 1) cannot be reached. Acting alone, a change in fiscal policy, for example, enables the economy to attain </a:t>
            </a:r>
            <a:r>
              <a:rPr lang="en-US" sz="1600" b="1" dirty="0">
                <a:latin typeface="Arial (Body)"/>
              </a:rPr>
              <a:t>either</a:t>
            </a:r>
            <a:r>
              <a:rPr lang="en-US" sz="1600" i="1" dirty="0">
                <a:latin typeface="Arial (Body)"/>
              </a:rPr>
              <a:t> </a:t>
            </a:r>
            <a:r>
              <a:rPr lang="en-US" sz="1600" dirty="0">
                <a:latin typeface="Arial (Body)"/>
              </a:rPr>
              <a:t>internal balance (point 3) </a:t>
            </a:r>
            <a:r>
              <a:rPr lang="en-US" sz="1600" b="1" dirty="0">
                <a:latin typeface="Arial (Body)"/>
              </a:rPr>
              <a:t>or</a:t>
            </a:r>
            <a:r>
              <a:rPr lang="en-US" sz="1600" i="1" dirty="0">
                <a:latin typeface="Arial (Body)"/>
              </a:rPr>
              <a:t> </a:t>
            </a:r>
            <a:r>
              <a:rPr lang="en-US" sz="1600" dirty="0">
                <a:latin typeface="Arial (Body)"/>
              </a:rPr>
              <a:t>external balance (point 4), but only at the cost of increasing the economy’s distance from the goal that is sacrificed.</a:t>
            </a:r>
          </a:p>
        </p:txBody>
      </p:sp>
    </p:spTree>
    <p:extLst>
      <p:ext uri="{BB962C8B-B14F-4D97-AF65-F5344CB8AC3E}">
        <p14:creationId xmlns:p14="http://schemas.microsoft.com/office/powerpoint/2010/main" val="18204385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44567-0335-4952-AF0C-CF4A286418E9}"/>
              </a:ext>
            </a:extLst>
          </p:cNvPr>
          <p:cNvSpPr>
            <a:spLocks noGrp="1"/>
          </p:cNvSpPr>
          <p:nvPr>
            <p:ph type="title"/>
          </p:nvPr>
        </p:nvSpPr>
        <p:spPr>
          <a:xfrm>
            <a:off x="457200" y="215371"/>
            <a:ext cx="8229600" cy="1097279"/>
          </a:xfrm>
        </p:spPr>
        <p:txBody>
          <a:bodyPr/>
          <a:lstStyle/>
          <a:p>
            <a:r>
              <a:rPr lang="en-US" altLang="en-US" sz="2800" dirty="0"/>
              <a:t>Policies for Internal and External Balance </a:t>
            </a:r>
            <a:r>
              <a:rPr lang="en-US" altLang="en-US" sz="2000" b="0" dirty="0"/>
              <a:t>(3 of 4)</a:t>
            </a:r>
            <a:endParaRPr lang="en-IN" sz="2000" dirty="0"/>
          </a:p>
        </p:txBody>
      </p:sp>
      <p:sp>
        <p:nvSpPr>
          <p:cNvPr id="3" name="Content Placeholder 2">
            <a:extLst>
              <a:ext uri="{FF2B5EF4-FFF2-40B4-BE49-F238E27FC236}">
                <a16:creationId xmlns:a16="http://schemas.microsoft.com/office/drawing/2014/main" id="{26F9BFB7-7FF8-4F32-859A-1E7222187F05}"/>
              </a:ext>
            </a:extLst>
          </p:cNvPr>
          <p:cNvSpPr>
            <a:spLocks noGrp="1"/>
          </p:cNvSpPr>
          <p:nvPr>
            <p:ph sz="quarter" idx="13"/>
          </p:nvPr>
        </p:nvSpPr>
        <p:spPr>
          <a:xfrm>
            <a:off x="457200" y="1556327"/>
            <a:ext cx="8229600" cy="3640705"/>
          </a:xfrm>
        </p:spPr>
        <p:txBody>
          <a:bodyPr/>
          <a:lstStyle/>
          <a:p>
            <a:pPr eaLnBrk="1" hangingPunct="1"/>
            <a:r>
              <a:rPr lang="en-US" altLang="en-US" dirty="0">
                <a:latin typeface="Arial (Body)"/>
              </a:rPr>
              <a:t>But under the fixed exchange rates of the Bretton Woods system, devaluations were supposed to be infrequent, and fiscal policy was supposed to be the main policy tool to achieve both internal and external balance.</a:t>
            </a:r>
          </a:p>
          <a:p>
            <a:pPr eaLnBrk="1" hangingPunct="1"/>
            <a:r>
              <a:rPr lang="en-US" altLang="en-US" dirty="0">
                <a:latin typeface="Arial (Body)"/>
              </a:rPr>
              <a:t>But in general, fiscal policy cannot attain both internal balance and external balance at the same time.</a:t>
            </a:r>
          </a:p>
          <a:p>
            <a:pPr eaLnBrk="1" hangingPunct="1"/>
            <a:r>
              <a:rPr lang="en-US" altLang="en-US" dirty="0">
                <a:latin typeface="Arial (Body)"/>
              </a:rPr>
              <a:t>A devaluation, however, can attain both internal balance and external balance at the same time.</a:t>
            </a:r>
          </a:p>
        </p:txBody>
      </p:sp>
    </p:spTree>
    <p:extLst>
      <p:ext uri="{BB962C8B-B14F-4D97-AF65-F5344CB8AC3E}">
        <p14:creationId xmlns:p14="http://schemas.microsoft.com/office/powerpoint/2010/main" val="30398764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44567-0335-4952-AF0C-CF4A286418E9}"/>
              </a:ext>
            </a:extLst>
          </p:cNvPr>
          <p:cNvSpPr>
            <a:spLocks noGrp="1"/>
          </p:cNvSpPr>
          <p:nvPr>
            <p:ph type="title"/>
          </p:nvPr>
        </p:nvSpPr>
        <p:spPr>
          <a:xfrm>
            <a:off x="457200" y="215371"/>
            <a:ext cx="8229600" cy="1097279"/>
          </a:xfrm>
        </p:spPr>
        <p:txBody>
          <a:bodyPr/>
          <a:lstStyle/>
          <a:p>
            <a:r>
              <a:rPr lang="en-US" altLang="en-US" sz="2800" dirty="0"/>
              <a:t>Policies for Internal and External Balance </a:t>
            </a:r>
            <a:r>
              <a:rPr lang="en-US" altLang="en-US" sz="2000" b="0" dirty="0"/>
              <a:t>(4 of 4)</a:t>
            </a:r>
            <a:endParaRPr lang="en-IN" sz="2000" dirty="0"/>
          </a:p>
        </p:txBody>
      </p:sp>
      <p:sp>
        <p:nvSpPr>
          <p:cNvPr id="3" name="Content Placeholder 2">
            <a:extLst>
              <a:ext uri="{FF2B5EF4-FFF2-40B4-BE49-F238E27FC236}">
                <a16:creationId xmlns:a16="http://schemas.microsoft.com/office/drawing/2014/main" id="{26F9BFB7-7FF8-4F32-859A-1E7222187F05}"/>
              </a:ext>
            </a:extLst>
          </p:cNvPr>
          <p:cNvSpPr>
            <a:spLocks noGrp="1"/>
          </p:cNvSpPr>
          <p:nvPr>
            <p:ph sz="quarter" idx="13"/>
          </p:nvPr>
        </p:nvSpPr>
        <p:spPr>
          <a:xfrm>
            <a:off x="457200" y="1556327"/>
            <a:ext cx="7885289" cy="4550962"/>
          </a:xfrm>
        </p:spPr>
        <p:txBody>
          <a:bodyPr/>
          <a:lstStyle/>
          <a:p>
            <a:pPr eaLnBrk="1" hangingPunct="1"/>
            <a:r>
              <a:rPr lang="en-US" altLang="en-US" dirty="0">
                <a:latin typeface="Arial (Body)"/>
              </a:rPr>
              <a:t>Under the Bretton Woods system, policy makers generally used fiscal policy to try to achieve internal balance for political reasons.</a:t>
            </a:r>
          </a:p>
          <a:p>
            <a:pPr eaLnBrk="1" hangingPunct="1">
              <a:spcBef>
                <a:spcPct val="50000"/>
              </a:spcBef>
            </a:pPr>
            <a:r>
              <a:rPr lang="en-US" altLang="en-US" dirty="0">
                <a:latin typeface="Arial (Body)"/>
              </a:rPr>
              <a:t>Thus, an inability to adjust exchange rates </a:t>
            </a:r>
            <a:br>
              <a:rPr lang="en-US" altLang="en-US" dirty="0">
                <a:latin typeface="Arial (Body)"/>
              </a:rPr>
            </a:br>
            <a:r>
              <a:rPr lang="en-US" altLang="en-US" dirty="0">
                <a:latin typeface="Arial (Body)"/>
              </a:rPr>
              <a:t>left countries facing external imbalances </a:t>
            </a:r>
            <a:br>
              <a:rPr lang="en-US" altLang="en-US" dirty="0">
                <a:latin typeface="Arial (Body)"/>
              </a:rPr>
            </a:br>
            <a:r>
              <a:rPr lang="en-US" altLang="en-US" dirty="0">
                <a:latin typeface="Arial (Body)"/>
              </a:rPr>
              <a:t>over time.</a:t>
            </a:r>
          </a:p>
          <a:p>
            <a:pPr lvl="1" eaLnBrk="1" hangingPunct="1"/>
            <a:r>
              <a:rPr lang="en-US" altLang="en-US" dirty="0">
                <a:latin typeface="Arial (Body)"/>
              </a:rPr>
              <a:t>Infrequent devaluations or revaluations helped restore external and internal balance, but speculators also tried to anticipate them, which could cause greater internal or external imbalances.</a:t>
            </a:r>
          </a:p>
        </p:txBody>
      </p:sp>
    </p:spTree>
    <p:extLst>
      <p:ext uri="{BB962C8B-B14F-4D97-AF65-F5344CB8AC3E}">
        <p14:creationId xmlns:p14="http://schemas.microsoft.com/office/powerpoint/2010/main" val="3733652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9B49A-D815-4124-9C78-636C966381A8}"/>
              </a:ext>
            </a:extLst>
          </p:cNvPr>
          <p:cNvSpPr>
            <a:spLocks noGrp="1"/>
          </p:cNvSpPr>
          <p:nvPr>
            <p:ph type="title"/>
          </p:nvPr>
        </p:nvSpPr>
        <p:spPr/>
        <p:txBody>
          <a:bodyPr/>
          <a:lstStyle/>
          <a:p>
            <a:r>
              <a:rPr lang="en-US" altLang="en-US" sz="3200" dirty="0"/>
              <a:t>U.S. External Balance Problems under Bretton Woods </a:t>
            </a:r>
            <a:r>
              <a:rPr lang="en-US" altLang="en-US" sz="2000" b="0" dirty="0"/>
              <a:t>(1 of 3)</a:t>
            </a:r>
            <a:endParaRPr lang="en-IN" dirty="0"/>
          </a:p>
        </p:txBody>
      </p:sp>
      <p:sp>
        <p:nvSpPr>
          <p:cNvPr id="3" name="Content Placeholder 2">
            <a:extLst>
              <a:ext uri="{FF2B5EF4-FFF2-40B4-BE49-F238E27FC236}">
                <a16:creationId xmlns:a16="http://schemas.microsoft.com/office/drawing/2014/main" id="{1F733B62-4FD4-45B1-BC52-A20EEA928915}"/>
              </a:ext>
            </a:extLst>
          </p:cNvPr>
          <p:cNvSpPr>
            <a:spLocks noGrp="1"/>
          </p:cNvSpPr>
          <p:nvPr>
            <p:ph sz="quarter" idx="13"/>
          </p:nvPr>
        </p:nvSpPr>
        <p:spPr>
          <a:xfrm>
            <a:off x="457200" y="1556327"/>
            <a:ext cx="8318500" cy="4586896"/>
          </a:xfrm>
        </p:spPr>
        <p:txBody>
          <a:bodyPr/>
          <a:lstStyle/>
          <a:p>
            <a:pPr eaLnBrk="1" hangingPunct="1"/>
            <a:r>
              <a:rPr lang="en-US" altLang="en-US" dirty="0">
                <a:latin typeface="Arial (Body)"/>
              </a:rPr>
              <a:t>The collapse of the Bretton Woods system was caused primarily by imbalances of the United States during the 1960s and 1970s.</a:t>
            </a:r>
          </a:p>
          <a:p>
            <a:pPr lvl="1" eaLnBrk="1" hangingPunct="1"/>
            <a:r>
              <a:rPr lang="en-US" altLang="en-US" dirty="0">
                <a:latin typeface="Arial (Body)"/>
              </a:rPr>
              <a:t>The U.S. current account surplus became a deficit in 1971.</a:t>
            </a:r>
          </a:p>
          <a:p>
            <a:pPr lvl="1" eaLnBrk="1" hangingPunct="1"/>
            <a:r>
              <a:rPr lang="en-US" altLang="en-US" dirty="0">
                <a:latin typeface="Arial (Body)"/>
              </a:rPr>
              <a:t>Rapidly increasing government purchases increased aggregate demand and output, as well as prices.</a:t>
            </a:r>
          </a:p>
          <a:p>
            <a:pPr lvl="1" eaLnBrk="1" hangingPunct="1"/>
            <a:r>
              <a:rPr lang="en-US" altLang="en-US" dirty="0">
                <a:latin typeface="Arial (Body)"/>
              </a:rPr>
              <a:t>Rising prices and a growing money supply caused the U.S. dollar to become overvalued in terms of gold and in terms of foreign currencies.</a:t>
            </a:r>
          </a:p>
        </p:txBody>
      </p:sp>
    </p:spTree>
    <p:extLst>
      <p:ext uri="{BB962C8B-B14F-4D97-AF65-F5344CB8AC3E}">
        <p14:creationId xmlns:p14="http://schemas.microsoft.com/office/powerpoint/2010/main" val="26087967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9B49A-D815-4124-9C78-636C966381A8}"/>
              </a:ext>
            </a:extLst>
          </p:cNvPr>
          <p:cNvSpPr>
            <a:spLocks noGrp="1"/>
          </p:cNvSpPr>
          <p:nvPr>
            <p:ph type="title"/>
          </p:nvPr>
        </p:nvSpPr>
        <p:spPr/>
        <p:txBody>
          <a:bodyPr/>
          <a:lstStyle/>
          <a:p>
            <a:r>
              <a:rPr lang="en-US" altLang="en-US" sz="3200" dirty="0"/>
              <a:t>U.S. External Balance Problems under Bretton Woods </a:t>
            </a:r>
            <a:r>
              <a:rPr lang="en-US" altLang="en-US" sz="2000" b="0" dirty="0"/>
              <a:t>(2 of 3)</a:t>
            </a:r>
            <a:endParaRPr lang="en-IN" dirty="0"/>
          </a:p>
        </p:txBody>
      </p:sp>
      <p:sp>
        <p:nvSpPr>
          <p:cNvPr id="3" name="Content Placeholder 2">
            <a:extLst>
              <a:ext uri="{FF2B5EF4-FFF2-40B4-BE49-F238E27FC236}">
                <a16:creationId xmlns:a16="http://schemas.microsoft.com/office/drawing/2014/main" id="{1F733B62-4FD4-45B1-BC52-A20EEA928915}"/>
              </a:ext>
            </a:extLst>
          </p:cNvPr>
          <p:cNvSpPr>
            <a:spLocks noGrp="1"/>
          </p:cNvSpPr>
          <p:nvPr>
            <p:ph sz="quarter" idx="13"/>
          </p:nvPr>
        </p:nvSpPr>
        <p:spPr>
          <a:xfrm>
            <a:off x="457200" y="1556327"/>
            <a:ext cx="8229600" cy="4161567"/>
          </a:xfrm>
        </p:spPr>
        <p:txBody>
          <a:bodyPr/>
          <a:lstStyle/>
          <a:p>
            <a:pPr eaLnBrk="1" hangingPunct="1"/>
            <a:r>
              <a:rPr lang="en-US" altLang="en-US" sz="2200" dirty="0">
                <a:latin typeface="Arial (Body)"/>
              </a:rPr>
              <a:t>Another problem was that as foreign economies grew, their need for official international reserves to maintain fixed exchange rates grew as well.</a:t>
            </a:r>
          </a:p>
          <a:p>
            <a:pPr eaLnBrk="1" hangingPunct="1"/>
            <a:r>
              <a:rPr lang="en-US" altLang="en-US" sz="2200" dirty="0">
                <a:latin typeface="Arial (Body)"/>
              </a:rPr>
              <a:t>But this rate of growth was faster than the growth rate of the gold reserves that central banks held.</a:t>
            </a:r>
          </a:p>
          <a:p>
            <a:pPr lvl="1" eaLnBrk="1" hangingPunct="1"/>
            <a:r>
              <a:rPr lang="en-US" altLang="en-US" sz="2200" dirty="0">
                <a:latin typeface="Arial (Body)"/>
              </a:rPr>
              <a:t>Supply of gold from new discoveries was growing slowly.</a:t>
            </a:r>
          </a:p>
          <a:p>
            <a:pPr lvl="1" eaLnBrk="1" hangingPunct="1"/>
            <a:r>
              <a:rPr lang="en-US" altLang="en-US" sz="2200" dirty="0">
                <a:latin typeface="Arial (Body)"/>
              </a:rPr>
              <a:t>Holding dollar-denominated assets was the alternative.</a:t>
            </a:r>
          </a:p>
          <a:p>
            <a:pPr eaLnBrk="1" hangingPunct="1"/>
            <a:r>
              <a:rPr lang="en-US" altLang="en-US" sz="2200" dirty="0">
                <a:latin typeface="Arial (Body)"/>
              </a:rPr>
              <a:t>At some point, dollar-denominated assets held by foreign central banks would be greater than the amount of gold held by the Federal Reserve.</a:t>
            </a:r>
          </a:p>
        </p:txBody>
      </p:sp>
    </p:spTree>
    <p:extLst>
      <p:ext uri="{BB962C8B-B14F-4D97-AF65-F5344CB8AC3E}">
        <p14:creationId xmlns:p14="http://schemas.microsoft.com/office/powerpoint/2010/main" val="30372459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9B49A-D815-4124-9C78-636C966381A8}"/>
              </a:ext>
            </a:extLst>
          </p:cNvPr>
          <p:cNvSpPr>
            <a:spLocks noGrp="1"/>
          </p:cNvSpPr>
          <p:nvPr>
            <p:ph type="title"/>
          </p:nvPr>
        </p:nvSpPr>
        <p:spPr/>
        <p:txBody>
          <a:bodyPr/>
          <a:lstStyle/>
          <a:p>
            <a:r>
              <a:rPr lang="en-US" altLang="en-US" sz="3200" dirty="0"/>
              <a:t>U.S. External Balance Problems under Bretton Woods </a:t>
            </a:r>
            <a:r>
              <a:rPr lang="en-US" altLang="en-US" sz="2000" b="0" dirty="0"/>
              <a:t>(3 of 3)</a:t>
            </a:r>
            <a:endParaRPr lang="en-IN" dirty="0"/>
          </a:p>
        </p:txBody>
      </p:sp>
      <p:sp>
        <p:nvSpPr>
          <p:cNvPr id="3" name="Content Placeholder 2">
            <a:extLst>
              <a:ext uri="{FF2B5EF4-FFF2-40B4-BE49-F238E27FC236}">
                <a16:creationId xmlns:a16="http://schemas.microsoft.com/office/drawing/2014/main" id="{1F733B62-4FD4-45B1-BC52-A20EEA928915}"/>
              </a:ext>
            </a:extLst>
          </p:cNvPr>
          <p:cNvSpPr>
            <a:spLocks noGrp="1"/>
          </p:cNvSpPr>
          <p:nvPr>
            <p:ph sz="quarter" idx="13"/>
          </p:nvPr>
        </p:nvSpPr>
        <p:spPr>
          <a:xfrm>
            <a:off x="457200" y="1556327"/>
            <a:ext cx="8229600" cy="4358336"/>
          </a:xfrm>
        </p:spPr>
        <p:txBody>
          <a:bodyPr/>
          <a:lstStyle/>
          <a:p>
            <a:pPr eaLnBrk="1" hangingPunct="1"/>
            <a:r>
              <a:rPr lang="en-US" altLang="en-US" dirty="0">
                <a:latin typeface="Arial (Body)"/>
              </a:rPr>
              <a:t>The Federal Reserve would eventually not have enough gold: foreigners would </a:t>
            </a:r>
            <a:r>
              <a:rPr lang="en-US" altLang="en-US" b="1" dirty="0">
                <a:latin typeface="Arial (Body)"/>
              </a:rPr>
              <a:t>lose confidence</a:t>
            </a:r>
            <a:r>
              <a:rPr lang="en-US" altLang="en-US" dirty="0">
                <a:latin typeface="Arial (Body)"/>
              </a:rPr>
              <a:t> in the ability of the Federal Reserve to maintain the fixed price of gold at $35/ounce, and therefore would rush to redeem their dollar assets before the gold ran out.</a:t>
            </a:r>
          </a:p>
          <a:p>
            <a:pPr lvl="1" eaLnBrk="1" hangingPunct="1"/>
            <a:r>
              <a:rPr lang="en-US" altLang="en-US" dirty="0">
                <a:latin typeface="Arial (Body)"/>
              </a:rPr>
              <a:t>This problem is similar to what any central bank may face when it tries to maintain a fixed exchange rate.</a:t>
            </a:r>
          </a:p>
          <a:p>
            <a:pPr lvl="1" eaLnBrk="1" hangingPunct="1"/>
            <a:r>
              <a:rPr lang="en-US" altLang="en-US" dirty="0">
                <a:latin typeface="Arial (Body)"/>
              </a:rPr>
              <a:t>If markets perceive that the central bank does not have enough official international reserve assets to maintain a fixed rate, a balance of payments crisis is inevitable.</a:t>
            </a:r>
            <a:endParaRPr lang="el-GR" altLang="en-US" dirty="0">
              <a:latin typeface="Arial (Body)"/>
            </a:endParaRPr>
          </a:p>
        </p:txBody>
      </p:sp>
    </p:spTree>
    <p:extLst>
      <p:ext uri="{BB962C8B-B14F-4D97-AF65-F5344CB8AC3E}">
        <p14:creationId xmlns:p14="http://schemas.microsoft.com/office/powerpoint/2010/main" val="1352591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2ACC2-009A-488D-BA74-0824F5F9F810}"/>
              </a:ext>
            </a:extLst>
          </p:cNvPr>
          <p:cNvSpPr>
            <a:spLocks noGrp="1"/>
          </p:cNvSpPr>
          <p:nvPr>
            <p:ph type="title"/>
          </p:nvPr>
        </p:nvSpPr>
        <p:spPr/>
        <p:txBody>
          <a:bodyPr/>
          <a:lstStyle/>
          <a:p>
            <a:r>
              <a:rPr lang="en-US" altLang="en-US" sz="3000" dirty="0"/>
              <a:t>Collapse of the Bretton Woods System </a:t>
            </a:r>
            <a:r>
              <a:rPr lang="en-US" altLang="en-US" sz="2000" b="0" dirty="0"/>
              <a:t>(1 of 5)</a:t>
            </a:r>
            <a:endParaRPr lang="en-IN" sz="2000" dirty="0"/>
          </a:p>
        </p:txBody>
      </p:sp>
      <p:sp>
        <p:nvSpPr>
          <p:cNvPr id="3" name="Content Placeholder 2">
            <a:extLst>
              <a:ext uri="{FF2B5EF4-FFF2-40B4-BE49-F238E27FC236}">
                <a16:creationId xmlns:a16="http://schemas.microsoft.com/office/drawing/2014/main" id="{55CCB482-FE8C-482E-8C6B-D9A12A03FDEA}"/>
              </a:ext>
            </a:extLst>
          </p:cNvPr>
          <p:cNvSpPr>
            <a:spLocks noGrp="1"/>
          </p:cNvSpPr>
          <p:nvPr>
            <p:ph sz="quarter" idx="13"/>
          </p:nvPr>
        </p:nvSpPr>
        <p:spPr>
          <a:xfrm>
            <a:off x="457200" y="1556326"/>
            <a:ext cx="8331200" cy="4450773"/>
          </a:xfrm>
        </p:spPr>
        <p:txBody>
          <a:bodyPr/>
          <a:lstStyle/>
          <a:p>
            <a:pPr eaLnBrk="1" hangingPunct="1"/>
            <a:r>
              <a:rPr lang="en-US" altLang="en-US" sz="2200" dirty="0">
                <a:latin typeface="Arial (Body)"/>
              </a:rPr>
              <a:t>The United States was not willing to reduce government purchases or increase taxes significantly, nor reduce money supply growth.</a:t>
            </a:r>
          </a:p>
          <a:p>
            <a:pPr eaLnBrk="1" hangingPunct="1"/>
            <a:r>
              <a:rPr lang="en-US" altLang="en-US" sz="2200" dirty="0">
                <a:latin typeface="Arial (Body)"/>
              </a:rPr>
              <a:t>These policies would have reduced aggregate demand, output, and inflation and increased unemployment.</a:t>
            </a:r>
          </a:p>
          <a:p>
            <a:pPr lvl="1"/>
            <a:r>
              <a:rPr lang="en-US" altLang="en-US" sz="2200" dirty="0">
                <a:latin typeface="Arial (Body)"/>
              </a:rPr>
              <a:t>The United States could have attained some semblance of external balance at a cost of a slower economy.</a:t>
            </a:r>
          </a:p>
          <a:p>
            <a:pPr eaLnBrk="1" hangingPunct="1"/>
            <a:r>
              <a:rPr lang="en-US" altLang="en-US" sz="2200" dirty="0">
                <a:latin typeface="Arial (Body)"/>
              </a:rPr>
              <a:t>A devaluation, however, could have avoided the costs of low output and high unemployment and still have attained external balance (an increased current account and official international reserves).</a:t>
            </a:r>
          </a:p>
        </p:txBody>
      </p:sp>
    </p:spTree>
    <p:extLst>
      <p:ext uri="{BB962C8B-B14F-4D97-AF65-F5344CB8AC3E}">
        <p14:creationId xmlns:p14="http://schemas.microsoft.com/office/powerpoint/2010/main" val="8148542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2ACC2-009A-488D-BA74-0824F5F9F810}"/>
              </a:ext>
            </a:extLst>
          </p:cNvPr>
          <p:cNvSpPr>
            <a:spLocks noGrp="1"/>
          </p:cNvSpPr>
          <p:nvPr>
            <p:ph type="title"/>
          </p:nvPr>
        </p:nvSpPr>
        <p:spPr/>
        <p:txBody>
          <a:bodyPr/>
          <a:lstStyle/>
          <a:p>
            <a:r>
              <a:rPr lang="en-US" altLang="en-US" sz="3000" dirty="0"/>
              <a:t>Collapse of the Bretton Woods System </a:t>
            </a:r>
            <a:r>
              <a:rPr lang="en-US" altLang="en-US" sz="2000" b="0" dirty="0"/>
              <a:t>(2 of 5)</a:t>
            </a:r>
            <a:endParaRPr lang="en-IN" sz="2000" dirty="0"/>
          </a:p>
        </p:txBody>
      </p:sp>
      <p:sp>
        <p:nvSpPr>
          <p:cNvPr id="3" name="Content Placeholder 2">
            <a:extLst>
              <a:ext uri="{FF2B5EF4-FFF2-40B4-BE49-F238E27FC236}">
                <a16:creationId xmlns:a16="http://schemas.microsoft.com/office/drawing/2014/main" id="{55CCB482-FE8C-482E-8C6B-D9A12A03FDEA}"/>
              </a:ext>
            </a:extLst>
          </p:cNvPr>
          <p:cNvSpPr>
            <a:spLocks noGrp="1"/>
          </p:cNvSpPr>
          <p:nvPr>
            <p:ph sz="quarter" idx="13"/>
          </p:nvPr>
        </p:nvSpPr>
        <p:spPr>
          <a:xfrm>
            <a:off x="457200" y="1556327"/>
            <a:ext cx="8229600" cy="3574473"/>
          </a:xfrm>
        </p:spPr>
        <p:txBody>
          <a:bodyPr/>
          <a:lstStyle/>
          <a:p>
            <a:r>
              <a:rPr lang="en-US" altLang="en-US" dirty="0">
                <a:latin typeface="Arial (Body)"/>
              </a:rPr>
              <a:t>The imbalances of the United States , in turn, caused speculation about the value of the U.S. dollar, which caused imbalances for other countries and made the system of fixed exchange rates harder to maintain.</a:t>
            </a:r>
          </a:p>
          <a:p>
            <a:pPr lvl="1" eaLnBrk="1" hangingPunct="1"/>
            <a:r>
              <a:rPr lang="en-US" altLang="en-US" dirty="0">
                <a:latin typeface="Arial (Body)"/>
              </a:rPr>
              <a:t>Financial markets had the perception that the </a:t>
            </a:r>
            <a:br>
              <a:rPr lang="en-US" altLang="en-US" dirty="0">
                <a:latin typeface="Arial (Body)"/>
              </a:rPr>
            </a:br>
            <a:r>
              <a:rPr lang="en-US" altLang="en-US" dirty="0">
                <a:latin typeface="Arial (Body)"/>
              </a:rPr>
              <a:t>U.S. economy was experiencing a “</a:t>
            </a:r>
            <a:r>
              <a:rPr lang="en-US" altLang="ja-JP" dirty="0">
                <a:latin typeface="Arial (Body)"/>
              </a:rPr>
              <a:t>fundamental disequilibrium” and that a devaluation would </a:t>
            </a:r>
            <a:br>
              <a:rPr lang="en-US" altLang="ja-JP" dirty="0">
                <a:latin typeface="Arial (Body)"/>
              </a:rPr>
            </a:br>
            <a:r>
              <a:rPr lang="en-US" altLang="ja-JP" dirty="0">
                <a:latin typeface="Arial (Body)"/>
              </a:rPr>
              <a:t>be necessary.</a:t>
            </a:r>
            <a:endParaRPr lang="en-US" altLang="en-US" dirty="0">
              <a:latin typeface="Arial (Body)"/>
            </a:endParaRPr>
          </a:p>
        </p:txBody>
      </p:sp>
    </p:spTree>
    <p:extLst>
      <p:ext uri="{BB962C8B-B14F-4D97-AF65-F5344CB8AC3E}">
        <p14:creationId xmlns:p14="http://schemas.microsoft.com/office/powerpoint/2010/main" val="30925620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2ACC2-009A-488D-BA74-0824F5F9F810}"/>
              </a:ext>
            </a:extLst>
          </p:cNvPr>
          <p:cNvSpPr>
            <a:spLocks noGrp="1"/>
          </p:cNvSpPr>
          <p:nvPr>
            <p:ph type="title"/>
          </p:nvPr>
        </p:nvSpPr>
        <p:spPr/>
        <p:txBody>
          <a:bodyPr/>
          <a:lstStyle/>
          <a:p>
            <a:r>
              <a:rPr lang="en-US" altLang="en-US" sz="3000" dirty="0"/>
              <a:t>Collapse of the Bretton Woods System </a:t>
            </a:r>
            <a:r>
              <a:rPr lang="en-US" altLang="en-US" sz="2000" b="0" dirty="0"/>
              <a:t>(3 of 5)</a:t>
            </a:r>
            <a:endParaRPr lang="en-IN" sz="2000" dirty="0"/>
          </a:p>
        </p:txBody>
      </p:sp>
      <p:sp>
        <p:nvSpPr>
          <p:cNvPr id="3" name="Content Placeholder 2">
            <a:extLst>
              <a:ext uri="{FF2B5EF4-FFF2-40B4-BE49-F238E27FC236}">
                <a16:creationId xmlns:a16="http://schemas.microsoft.com/office/drawing/2014/main" id="{55CCB482-FE8C-482E-8C6B-D9A12A03FDEA}"/>
              </a:ext>
            </a:extLst>
          </p:cNvPr>
          <p:cNvSpPr>
            <a:spLocks noGrp="1"/>
          </p:cNvSpPr>
          <p:nvPr>
            <p:ph sz="quarter" idx="13"/>
          </p:nvPr>
        </p:nvSpPr>
        <p:spPr>
          <a:xfrm>
            <a:off x="457200" y="1556327"/>
            <a:ext cx="8331200" cy="4670853"/>
          </a:xfrm>
        </p:spPr>
        <p:txBody>
          <a:bodyPr/>
          <a:lstStyle/>
          <a:p>
            <a:pPr eaLnBrk="1" hangingPunct="1"/>
            <a:r>
              <a:rPr lang="en-US" altLang="en-US" sz="2200" dirty="0">
                <a:latin typeface="Arial (Body)"/>
              </a:rPr>
              <a:t>First, speculation about a devaluation of the dollar caused investors to buy large quantities of gold.</a:t>
            </a:r>
          </a:p>
          <a:p>
            <a:pPr lvl="1" eaLnBrk="1" hangingPunct="1"/>
            <a:r>
              <a:rPr lang="en-US" altLang="en-US" sz="2200" dirty="0">
                <a:latin typeface="Arial (Body)"/>
              </a:rPr>
              <a:t>The Federal Reserve sold large quantities of gold in March 1968, but closed markets afterwards.</a:t>
            </a:r>
          </a:p>
          <a:p>
            <a:pPr lvl="1" eaLnBrk="1" hangingPunct="1"/>
            <a:r>
              <a:rPr lang="en-US" altLang="en-US" sz="2200" dirty="0">
                <a:latin typeface="Arial (Body)"/>
              </a:rPr>
              <a:t>Thereafter, individuals and private institutions were no longer allowed to redeem gold from the Federal Reserve or other central banks.</a:t>
            </a:r>
          </a:p>
          <a:p>
            <a:pPr lvl="1" eaLnBrk="1" hangingPunct="1"/>
            <a:r>
              <a:rPr lang="en-US" altLang="en-US" sz="2200" dirty="0">
                <a:latin typeface="Arial (Body)"/>
              </a:rPr>
              <a:t>The Federal Reserve would sell only to other central banks at $35/ounce. </a:t>
            </a:r>
          </a:p>
          <a:p>
            <a:pPr lvl="1"/>
            <a:r>
              <a:rPr lang="en-US" altLang="en-US" sz="2200" dirty="0">
                <a:latin typeface="Arial (Body)"/>
              </a:rPr>
              <a:t>But even this arrangement did not hold: the United States devalued its dollar in terms of gold in December 1971 to $38/ounce.</a:t>
            </a:r>
          </a:p>
        </p:txBody>
      </p:sp>
    </p:spTree>
    <p:extLst>
      <p:ext uri="{BB962C8B-B14F-4D97-AF65-F5344CB8AC3E}">
        <p14:creationId xmlns:p14="http://schemas.microsoft.com/office/powerpoint/2010/main" val="20956981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2ACC2-009A-488D-BA74-0824F5F9F810}"/>
              </a:ext>
            </a:extLst>
          </p:cNvPr>
          <p:cNvSpPr>
            <a:spLocks noGrp="1"/>
          </p:cNvSpPr>
          <p:nvPr>
            <p:ph type="title"/>
          </p:nvPr>
        </p:nvSpPr>
        <p:spPr/>
        <p:txBody>
          <a:bodyPr/>
          <a:lstStyle/>
          <a:p>
            <a:r>
              <a:rPr lang="en-US" altLang="en-US" sz="3000" dirty="0"/>
              <a:t>Collapse of the Bretton Woods System </a:t>
            </a:r>
            <a:r>
              <a:rPr lang="en-US" altLang="en-US" sz="2000" b="0" dirty="0"/>
              <a:t>(4 of 5)</a:t>
            </a:r>
            <a:endParaRPr lang="en-IN" sz="2000" dirty="0"/>
          </a:p>
        </p:txBody>
      </p:sp>
      <p:sp>
        <p:nvSpPr>
          <p:cNvPr id="3" name="Content Placeholder 2">
            <a:extLst>
              <a:ext uri="{FF2B5EF4-FFF2-40B4-BE49-F238E27FC236}">
                <a16:creationId xmlns:a16="http://schemas.microsoft.com/office/drawing/2014/main" id="{55CCB482-FE8C-482E-8C6B-D9A12A03FDEA}"/>
              </a:ext>
            </a:extLst>
          </p:cNvPr>
          <p:cNvSpPr>
            <a:spLocks noGrp="1"/>
          </p:cNvSpPr>
          <p:nvPr>
            <p:ph sz="quarter" idx="13"/>
          </p:nvPr>
        </p:nvSpPr>
        <p:spPr>
          <a:xfrm>
            <a:off x="457200" y="1556327"/>
            <a:ext cx="8359422" cy="4745413"/>
          </a:xfrm>
        </p:spPr>
        <p:txBody>
          <a:bodyPr/>
          <a:lstStyle/>
          <a:p>
            <a:pPr eaLnBrk="1" hangingPunct="1"/>
            <a:r>
              <a:rPr lang="en-US" altLang="en-US" sz="2200" dirty="0">
                <a:latin typeface="Arial (Body)"/>
              </a:rPr>
              <a:t>Second, speculation about a devaluation of the dollar in terms of other currencies caused investors to buy large quantities of foreign currency assets.</a:t>
            </a:r>
          </a:p>
          <a:p>
            <a:pPr lvl="1" eaLnBrk="1" hangingPunct="1"/>
            <a:r>
              <a:rPr lang="en-US" altLang="en-US" sz="2200" dirty="0">
                <a:latin typeface="Arial (Body)"/>
              </a:rPr>
              <a:t>A coordinated devaluation of the dollar against foreign currencies of about 8% occurred in December 1971.</a:t>
            </a:r>
          </a:p>
          <a:p>
            <a:pPr lvl="1" eaLnBrk="1" hangingPunct="1"/>
            <a:r>
              <a:rPr lang="en-US" altLang="en-US" sz="2200" dirty="0">
                <a:latin typeface="Arial (Body)"/>
              </a:rPr>
              <a:t>Speculation about another devaluation occurred: European central banks sold huge quantities of European currencies in early February 1973, but closed markets afterward. </a:t>
            </a:r>
          </a:p>
          <a:p>
            <a:pPr lvl="1" eaLnBrk="1" hangingPunct="1"/>
            <a:r>
              <a:rPr lang="en-US" altLang="en-US" sz="2200" dirty="0">
                <a:latin typeface="Arial (Body)"/>
              </a:rPr>
              <a:t>Central banks in Japan and Europe stopped selling their currencies and stopped purchasing of dollars in March 1973, and allowed demand and supply of currencies to push the value of the dollar downward.</a:t>
            </a:r>
          </a:p>
        </p:txBody>
      </p:sp>
    </p:spTree>
    <p:extLst>
      <p:ext uri="{BB962C8B-B14F-4D97-AF65-F5344CB8AC3E}">
        <p14:creationId xmlns:p14="http://schemas.microsoft.com/office/powerpoint/2010/main" val="36380633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45AA4-8AF5-4431-8E32-73565C6AE590}"/>
              </a:ext>
            </a:extLst>
          </p:cNvPr>
          <p:cNvSpPr>
            <a:spLocks noGrp="1"/>
          </p:cNvSpPr>
          <p:nvPr>
            <p:ph type="title"/>
          </p:nvPr>
        </p:nvSpPr>
        <p:spPr/>
        <p:txBody>
          <a:bodyPr/>
          <a:lstStyle/>
          <a:p>
            <a:r>
              <a:rPr lang="en-US" altLang="en-US" sz="3000" dirty="0">
                <a:cs typeface="Times New Roman" panose="02020603050405020304" pitchFamily="18" charset="0"/>
              </a:rPr>
              <a:t>Table 19.1 Inflation Rates in Industrial Countries, 1966–1972 (Percent Per Year)</a:t>
            </a:r>
            <a:endParaRPr lang="en-US" sz="3000" dirty="0">
              <a:cs typeface="Times New Roman" panose="02020603050405020304" pitchFamily="18" charset="0"/>
            </a:endParaRPr>
          </a:p>
        </p:txBody>
      </p:sp>
      <p:graphicFrame>
        <p:nvGraphicFramePr>
          <p:cNvPr id="5" name="Table 5">
            <a:extLst>
              <a:ext uri="{FF2B5EF4-FFF2-40B4-BE49-F238E27FC236}">
                <a16:creationId xmlns:a16="http://schemas.microsoft.com/office/drawing/2014/main" id="{776C399B-F8DD-4641-A22D-4F2A7C15C362}"/>
              </a:ext>
            </a:extLst>
          </p:cNvPr>
          <p:cNvGraphicFramePr>
            <a:graphicFrameLocks noGrp="1"/>
          </p:cNvGraphicFramePr>
          <p:nvPr>
            <p:ph sz="quarter" idx="13"/>
            <p:extLst>
              <p:ext uri="{D42A27DB-BD31-4B8C-83A1-F6EECF244321}">
                <p14:modId xmlns:p14="http://schemas.microsoft.com/office/powerpoint/2010/main" val="1270060988"/>
              </p:ext>
            </p:extLst>
          </p:nvPr>
        </p:nvGraphicFramePr>
        <p:xfrm>
          <a:off x="539750" y="1700213"/>
          <a:ext cx="8229600" cy="2433320"/>
        </p:xfrm>
        <a:graphic>
          <a:graphicData uri="http://schemas.openxmlformats.org/drawingml/2006/table">
            <a:tbl>
              <a:tblPr firstRow="1" bandRow="1">
                <a:tableStyleId>{2D5ABB26-0587-4C30-8999-92F81FD0307C}</a:tableStyleId>
              </a:tblPr>
              <a:tblGrid>
                <a:gridCol w="1028700">
                  <a:extLst>
                    <a:ext uri="{9D8B030D-6E8A-4147-A177-3AD203B41FA5}">
                      <a16:colId xmlns:a16="http://schemas.microsoft.com/office/drawing/2014/main" val="3839609793"/>
                    </a:ext>
                  </a:extLst>
                </a:gridCol>
                <a:gridCol w="1028700">
                  <a:extLst>
                    <a:ext uri="{9D8B030D-6E8A-4147-A177-3AD203B41FA5}">
                      <a16:colId xmlns:a16="http://schemas.microsoft.com/office/drawing/2014/main" val="1805479315"/>
                    </a:ext>
                  </a:extLst>
                </a:gridCol>
                <a:gridCol w="1028700">
                  <a:extLst>
                    <a:ext uri="{9D8B030D-6E8A-4147-A177-3AD203B41FA5}">
                      <a16:colId xmlns:a16="http://schemas.microsoft.com/office/drawing/2014/main" val="1032118005"/>
                    </a:ext>
                  </a:extLst>
                </a:gridCol>
                <a:gridCol w="1028700">
                  <a:extLst>
                    <a:ext uri="{9D8B030D-6E8A-4147-A177-3AD203B41FA5}">
                      <a16:colId xmlns:a16="http://schemas.microsoft.com/office/drawing/2014/main" val="3693463421"/>
                    </a:ext>
                  </a:extLst>
                </a:gridCol>
                <a:gridCol w="1028700">
                  <a:extLst>
                    <a:ext uri="{9D8B030D-6E8A-4147-A177-3AD203B41FA5}">
                      <a16:colId xmlns:a16="http://schemas.microsoft.com/office/drawing/2014/main" val="3560968971"/>
                    </a:ext>
                  </a:extLst>
                </a:gridCol>
                <a:gridCol w="1028700">
                  <a:extLst>
                    <a:ext uri="{9D8B030D-6E8A-4147-A177-3AD203B41FA5}">
                      <a16:colId xmlns:a16="http://schemas.microsoft.com/office/drawing/2014/main" val="2228734576"/>
                    </a:ext>
                  </a:extLst>
                </a:gridCol>
                <a:gridCol w="1028700">
                  <a:extLst>
                    <a:ext uri="{9D8B030D-6E8A-4147-A177-3AD203B41FA5}">
                      <a16:colId xmlns:a16="http://schemas.microsoft.com/office/drawing/2014/main" val="2694207396"/>
                    </a:ext>
                  </a:extLst>
                </a:gridCol>
                <a:gridCol w="1028700">
                  <a:extLst>
                    <a:ext uri="{9D8B030D-6E8A-4147-A177-3AD203B41FA5}">
                      <a16:colId xmlns:a16="http://schemas.microsoft.com/office/drawing/2014/main" val="1917082535"/>
                    </a:ext>
                  </a:extLst>
                </a:gridCol>
              </a:tblGrid>
              <a:tr h="370840">
                <a:tc>
                  <a:txBody>
                    <a:bodyPr/>
                    <a:lstStyle/>
                    <a:p>
                      <a:r>
                        <a:rPr lang="en-US" sz="1600" b="1" dirty="0">
                          <a:solidFill>
                            <a:schemeClr val="tx1"/>
                          </a:solidFill>
                          <a:latin typeface="Arial (Body)"/>
                        </a:rPr>
                        <a:t>Country</a:t>
                      </a:r>
                      <a:endParaRPr lang="en-IN" sz="16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dirty="0">
                          <a:solidFill>
                            <a:schemeClr val="tx1"/>
                          </a:solidFill>
                          <a:latin typeface="Arial (Body)"/>
                        </a:rPr>
                        <a:t>1966</a:t>
                      </a:r>
                      <a:endParaRPr lang="en-IN" sz="16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dirty="0">
                          <a:solidFill>
                            <a:schemeClr val="tx1"/>
                          </a:solidFill>
                          <a:latin typeface="Arial (Body)"/>
                        </a:rPr>
                        <a:t>1967</a:t>
                      </a:r>
                      <a:endParaRPr lang="en-IN" sz="16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dirty="0">
                          <a:solidFill>
                            <a:schemeClr val="tx1"/>
                          </a:solidFill>
                          <a:latin typeface="Arial (Body)"/>
                        </a:rPr>
                        <a:t>1968</a:t>
                      </a:r>
                      <a:endParaRPr lang="en-IN" sz="16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dirty="0">
                          <a:solidFill>
                            <a:schemeClr val="tx1"/>
                          </a:solidFill>
                          <a:latin typeface="Arial (Body)"/>
                        </a:rPr>
                        <a:t>1969</a:t>
                      </a:r>
                      <a:endParaRPr lang="en-IN" sz="16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dirty="0">
                          <a:solidFill>
                            <a:schemeClr val="tx1"/>
                          </a:solidFill>
                          <a:latin typeface="Arial (Body)"/>
                        </a:rPr>
                        <a:t>1970</a:t>
                      </a:r>
                      <a:endParaRPr lang="en-IN" sz="16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dirty="0">
                          <a:solidFill>
                            <a:schemeClr val="tx1"/>
                          </a:solidFill>
                          <a:latin typeface="Arial (Body)"/>
                        </a:rPr>
                        <a:t>1971</a:t>
                      </a:r>
                      <a:endParaRPr lang="en-IN" sz="16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dirty="0">
                          <a:solidFill>
                            <a:schemeClr val="tx1"/>
                          </a:solidFill>
                          <a:latin typeface="Arial (Body)"/>
                        </a:rPr>
                        <a:t>1972</a:t>
                      </a:r>
                      <a:endParaRPr lang="en-IN" sz="16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16638534"/>
                  </a:ext>
                </a:extLst>
              </a:tr>
              <a:tr h="370840">
                <a:tc>
                  <a:txBody>
                    <a:bodyPr/>
                    <a:lstStyle/>
                    <a:p>
                      <a:r>
                        <a:rPr lang="en-US" sz="1600" dirty="0">
                          <a:solidFill>
                            <a:schemeClr val="tx1"/>
                          </a:solidFill>
                          <a:latin typeface="Arial (Body)"/>
                        </a:rPr>
                        <a:t>Britain</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3.6</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2.6</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4.6</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5.2</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6.5</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9.7</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6.9</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63702331"/>
                  </a:ext>
                </a:extLst>
              </a:tr>
              <a:tr h="370840">
                <a:tc>
                  <a:txBody>
                    <a:bodyPr/>
                    <a:lstStyle/>
                    <a:p>
                      <a:r>
                        <a:rPr lang="en-US" sz="1600" dirty="0">
                          <a:solidFill>
                            <a:schemeClr val="tx1"/>
                          </a:solidFill>
                          <a:latin typeface="Arial (Body)"/>
                        </a:rPr>
                        <a:t>France</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2.8</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2.8</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4.4</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6.5</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5.3</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5.5</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6.2</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1939719"/>
                  </a:ext>
                </a:extLst>
              </a:tr>
              <a:tr h="370840">
                <a:tc>
                  <a:txBody>
                    <a:bodyPr/>
                    <a:lstStyle/>
                    <a:p>
                      <a:r>
                        <a:rPr lang="en-US" sz="1600" dirty="0">
                          <a:solidFill>
                            <a:schemeClr val="tx1"/>
                          </a:solidFill>
                          <a:latin typeface="Arial (Body)"/>
                        </a:rPr>
                        <a:t>Germany</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3.4</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1.4</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2.9</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1.9</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3.4</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5.3</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5.5</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2122250"/>
                  </a:ext>
                </a:extLst>
              </a:tr>
              <a:tr h="370840">
                <a:tc>
                  <a:txBody>
                    <a:bodyPr/>
                    <a:lstStyle/>
                    <a:p>
                      <a:r>
                        <a:rPr lang="en-US" sz="1600" dirty="0">
                          <a:solidFill>
                            <a:schemeClr val="tx1"/>
                          </a:solidFill>
                          <a:latin typeface="Arial (Body)"/>
                        </a:rPr>
                        <a:t>Italy</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2.1</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2.1</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1.2</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2.8</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5.1</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5.2</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5.3</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50320194"/>
                  </a:ext>
                </a:extLst>
              </a:tr>
              <a:tr h="370840">
                <a:tc>
                  <a:txBody>
                    <a:bodyPr/>
                    <a:lstStyle/>
                    <a:p>
                      <a:r>
                        <a:rPr lang="en-US" sz="1600" dirty="0">
                          <a:solidFill>
                            <a:schemeClr val="tx1"/>
                          </a:solidFill>
                          <a:latin typeface="Arial (Body)"/>
                        </a:rPr>
                        <a:t>United States</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2.9</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3.1</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4.2</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5.5</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5.7</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4.4</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Arial (Body)"/>
                        </a:rPr>
                        <a:t>3.2</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37445301"/>
                  </a:ext>
                </a:extLst>
              </a:tr>
            </a:tbl>
          </a:graphicData>
        </a:graphic>
      </p:graphicFrame>
      <p:sp>
        <p:nvSpPr>
          <p:cNvPr id="4" name="Content Placeholder 3">
            <a:extLst>
              <a:ext uri="{FF2B5EF4-FFF2-40B4-BE49-F238E27FC236}">
                <a16:creationId xmlns:a16="http://schemas.microsoft.com/office/drawing/2014/main" id="{5A410C42-3DDD-4099-A77B-9C9398EA7F2A}"/>
              </a:ext>
            </a:extLst>
          </p:cNvPr>
          <p:cNvSpPr>
            <a:spLocks noGrp="1"/>
          </p:cNvSpPr>
          <p:nvPr>
            <p:ph sz="quarter" idx="14"/>
          </p:nvPr>
        </p:nvSpPr>
        <p:spPr>
          <a:xfrm>
            <a:off x="457200" y="4426688"/>
            <a:ext cx="8229600" cy="843811"/>
          </a:xfrm>
        </p:spPr>
        <p:txBody>
          <a:bodyPr/>
          <a:lstStyle/>
          <a:p>
            <a:pPr marL="432" indent="0">
              <a:buNone/>
            </a:pPr>
            <a:r>
              <a:rPr lang="en-US" sz="1400" b="1" dirty="0">
                <a:latin typeface="Arial (Body)"/>
              </a:rPr>
              <a:t>Source: </a:t>
            </a:r>
            <a:r>
              <a:rPr lang="en-US" sz="1400" dirty="0">
                <a:latin typeface="Arial (Body)"/>
              </a:rPr>
              <a:t>Organization for Economic Cooperation and Development. </a:t>
            </a:r>
            <a:r>
              <a:rPr lang="en-US" sz="1400" b="1" dirty="0">
                <a:latin typeface="Arial (Body)"/>
              </a:rPr>
              <a:t>Main Economic Indicators: Historical Statistics</a:t>
            </a:r>
            <a:r>
              <a:rPr lang="en-US" sz="1400" i="1" dirty="0">
                <a:latin typeface="Arial (Body)"/>
              </a:rPr>
              <a:t>, </a:t>
            </a:r>
            <a:r>
              <a:rPr lang="en-US" sz="1400" b="1" dirty="0">
                <a:latin typeface="Arial (Body)"/>
              </a:rPr>
              <a:t>1964–1983.</a:t>
            </a:r>
            <a:r>
              <a:rPr lang="en-US" sz="1400" dirty="0">
                <a:latin typeface="Arial (Body)"/>
              </a:rPr>
              <a:t> Paris: O</a:t>
            </a:r>
            <a:r>
              <a:rPr lang="en-US" sz="200" dirty="0">
                <a:latin typeface="Arial (Body)"/>
              </a:rPr>
              <a:t> </a:t>
            </a:r>
            <a:r>
              <a:rPr lang="en-US" sz="1400" dirty="0">
                <a:latin typeface="Arial (Body)"/>
              </a:rPr>
              <a:t>E</a:t>
            </a:r>
            <a:r>
              <a:rPr lang="en-US" sz="200" dirty="0">
                <a:latin typeface="Arial (Body)"/>
              </a:rPr>
              <a:t> </a:t>
            </a:r>
            <a:r>
              <a:rPr lang="en-US" sz="1400" dirty="0">
                <a:latin typeface="Arial (Body)"/>
              </a:rPr>
              <a:t>C</a:t>
            </a:r>
            <a:r>
              <a:rPr lang="en-US" sz="200" dirty="0">
                <a:latin typeface="Arial (Body)"/>
              </a:rPr>
              <a:t> </a:t>
            </a:r>
            <a:r>
              <a:rPr lang="en-US" sz="1400" dirty="0">
                <a:latin typeface="Arial (Body)"/>
              </a:rPr>
              <a:t>D, 1984. Figures are percentage increases in each year’s average consumer price index over that of the previous year.</a:t>
            </a:r>
          </a:p>
        </p:txBody>
      </p:sp>
    </p:spTree>
    <p:extLst>
      <p:ext uri="{BB962C8B-B14F-4D97-AF65-F5344CB8AC3E}">
        <p14:creationId xmlns:p14="http://schemas.microsoft.com/office/powerpoint/2010/main" val="29143656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2ACC2-009A-488D-BA74-0824F5F9F810}"/>
              </a:ext>
            </a:extLst>
          </p:cNvPr>
          <p:cNvSpPr>
            <a:spLocks noGrp="1"/>
          </p:cNvSpPr>
          <p:nvPr>
            <p:ph type="title"/>
          </p:nvPr>
        </p:nvSpPr>
        <p:spPr/>
        <p:txBody>
          <a:bodyPr/>
          <a:lstStyle/>
          <a:p>
            <a:r>
              <a:rPr lang="en-US" altLang="en-US" sz="3000" dirty="0"/>
              <a:t>Collapse of the Bretton Woods System </a:t>
            </a:r>
            <a:r>
              <a:rPr lang="en-US" altLang="en-US" sz="2000" b="0" dirty="0"/>
              <a:t>(5 of 5)</a:t>
            </a:r>
            <a:endParaRPr lang="en-IN" sz="2000" dirty="0"/>
          </a:p>
        </p:txBody>
      </p:sp>
      <p:sp>
        <p:nvSpPr>
          <p:cNvPr id="3" name="Content Placeholder 2">
            <a:extLst>
              <a:ext uri="{FF2B5EF4-FFF2-40B4-BE49-F238E27FC236}">
                <a16:creationId xmlns:a16="http://schemas.microsoft.com/office/drawing/2014/main" id="{55CCB482-FE8C-482E-8C6B-D9A12A03FDEA}"/>
              </a:ext>
            </a:extLst>
          </p:cNvPr>
          <p:cNvSpPr>
            <a:spLocks noGrp="1"/>
          </p:cNvSpPr>
          <p:nvPr>
            <p:ph sz="quarter" idx="13"/>
          </p:nvPr>
        </p:nvSpPr>
        <p:spPr>
          <a:xfrm>
            <a:off x="457200" y="1556328"/>
            <a:ext cx="8049491" cy="4442690"/>
          </a:xfrm>
        </p:spPr>
        <p:txBody>
          <a:bodyPr/>
          <a:lstStyle/>
          <a:p>
            <a:pPr eaLnBrk="1" hangingPunct="1"/>
            <a:r>
              <a:rPr lang="en-US" altLang="en-US" dirty="0">
                <a:latin typeface="Arial (Headings)"/>
              </a:rPr>
              <a:t>The Bretton Woods system collapsed in 1973 because central banks were unwilling to continue to buy overvalued dollar-denominated assets and to sell undervalued foreign currency–denominated assets.</a:t>
            </a:r>
          </a:p>
          <a:p>
            <a:pPr eaLnBrk="1" hangingPunct="1"/>
            <a:r>
              <a:rPr lang="en-US" altLang="en-US" dirty="0">
                <a:latin typeface="Arial (Headings)"/>
              </a:rPr>
              <a:t>In 1973, central banks thought they would temporarily stop trading in the foreign exchange market and would let exchange rates adjust to supply and demand, and then would reimpose fixed exchange rates soon.</a:t>
            </a:r>
          </a:p>
          <a:p>
            <a:pPr eaLnBrk="1" hangingPunct="1"/>
            <a:r>
              <a:rPr lang="en-US" altLang="en-US" dirty="0">
                <a:latin typeface="Arial (Headings)"/>
              </a:rPr>
              <a:t>But no new global system of fixed rates was started again.</a:t>
            </a:r>
          </a:p>
        </p:txBody>
      </p:sp>
    </p:spTree>
    <p:extLst>
      <p:ext uri="{BB962C8B-B14F-4D97-AF65-F5344CB8AC3E}">
        <p14:creationId xmlns:p14="http://schemas.microsoft.com/office/powerpoint/2010/main" val="37342603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D6955-7B18-44D4-A174-56477FFC1FE1}"/>
              </a:ext>
            </a:extLst>
          </p:cNvPr>
          <p:cNvSpPr>
            <a:spLocks noGrp="1"/>
          </p:cNvSpPr>
          <p:nvPr>
            <p:ph type="title"/>
          </p:nvPr>
        </p:nvSpPr>
        <p:spPr/>
        <p:txBody>
          <a:bodyPr/>
          <a:lstStyle/>
          <a:p>
            <a:r>
              <a:rPr lang="en-US" altLang="en-US" sz="2800" dirty="0">
                <a:cs typeface="Times New Roman" panose="02020603050405020304" pitchFamily="18" charset="0"/>
              </a:rPr>
              <a:t>Figure 19.4 Effect on Internal and External Balance of a Rise in the Foreign Price Level, </a:t>
            </a:r>
            <a:r>
              <a:rPr lang="en-US" altLang="en-US" sz="2800" i="1" dirty="0">
                <a:cs typeface="Times New Roman" panose="02020603050405020304" pitchFamily="18" charset="0"/>
              </a:rPr>
              <a:t>P*</a:t>
            </a:r>
            <a:endParaRPr lang="en-IN" sz="2800" dirty="0">
              <a:cs typeface="Times New Roman" panose="02020603050405020304" pitchFamily="18" charset="0"/>
            </a:endParaRPr>
          </a:p>
        </p:txBody>
      </p:sp>
      <p:pic>
        <p:nvPicPr>
          <p:cNvPr id="6" name="Content Placeholder 5" descr="A graph shows exchange rate, E versus domestic spending, Ay, with plots for a rising line X X super 1, and a falling line, I I super 1 intersecting at point 1. For long description in Notes pane, press F6.">
            <a:extLst>
              <a:ext uri="{FF2B5EF4-FFF2-40B4-BE49-F238E27FC236}">
                <a16:creationId xmlns:a16="http://schemas.microsoft.com/office/drawing/2014/main" id="{D87A0013-CBBB-4094-8AA8-A8F1FBD28EF1}"/>
              </a:ext>
            </a:extLst>
          </p:cNvPr>
          <p:cNvPicPr>
            <a:picLocks noGrp="1" noChangeAspect="1"/>
          </p:cNvPicPr>
          <p:nvPr>
            <p:ph sz="quarter" idx="13"/>
          </p:nvPr>
        </p:nvPicPr>
        <p:blipFill>
          <a:blip r:embed="rId3"/>
          <a:stretch>
            <a:fillRect/>
          </a:stretch>
        </p:blipFill>
        <p:spPr>
          <a:xfrm>
            <a:off x="2698317" y="1631913"/>
            <a:ext cx="3747365" cy="3617330"/>
          </a:xfrm>
        </p:spPr>
      </p:pic>
      <p:sp>
        <p:nvSpPr>
          <p:cNvPr id="4" name="Content Placeholder 3">
            <a:extLst>
              <a:ext uri="{FF2B5EF4-FFF2-40B4-BE49-F238E27FC236}">
                <a16:creationId xmlns:a16="http://schemas.microsoft.com/office/drawing/2014/main" id="{1CC792E5-1A59-4E4F-832B-F4347A57EB9A}"/>
              </a:ext>
            </a:extLst>
          </p:cNvPr>
          <p:cNvSpPr>
            <a:spLocks noGrp="1"/>
          </p:cNvSpPr>
          <p:nvPr>
            <p:ph sz="quarter" idx="14"/>
          </p:nvPr>
        </p:nvSpPr>
        <p:spPr>
          <a:xfrm>
            <a:off x="457200" y="5371522"/>
            <a:ext cx="8229600" cy="966278"/>
          </a:xfrm>
        </p:spPr>
        <p:txBody>
          <a:bodyPr/>
          <a:lstStyle/>
          <a:p>
            <a:pPr marL="432" indent="0">
              <a:buNone/>
            </a:pPr>
            <a:r>
              <a:rPr lang="en-US" sz="1800" dirty="0">
                <a:latin typeface="Arial (Body)"/>
              </a:rPr>
              <a:t>After </a:t>
            </a:r>
            <a:r>
              <a:rPr lang="en-US" sz="1800" i="1" dirty="0">
                <a:latin typeface="Arial (Body)"/>
              </a:rPr>
              <a:t>P</a:t>
            </a:r>
            <a:r>
              <a:rPr lang="en-US" sz="1800" dirty="0">
                <a:latin typeface="Arial (Body)"/>
              </a:rPr>
              <a:t>* rises, point 1 is in zone 1 (overemployment and an excessive surplus). Revaluation (a fall in </a:t>
            </a:r>
            <a:r>
              <a:rPr lang="en-US" sz="1800" i="1" dirty="0">
                <a:latin typeface="Arial (Body)"/>
              </a:rPr>
              <a:t>E</a:t>
            </a:r>
            <a:r>
              <a:rPr lang="en-US" sz="1800" dirty="0">
                <a:latin typeface="Arial (Body)"/>
              </a:rPr>
              <a:t>) restores balance immediately by moving the policy setting to point 2.</a:t>
            </a:r>
          </a:p>
        </p:txBody>
      </p:sp>
    </p:spTree>
    <p:extLst>
      <p:ext uri="{BB962C8B-B14F-4D97-AF65-F5344CB8AC3E}">
        <p14:creationId xmlns:p14="http://schemas.microsoft.com/office/powerpoint/2010/main" val="18438544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BF30F-A182-4420-9B8F-930EF86D7883}"/>
              </a:ext>
            </a:extLst>
          </p:cNvPr>
          <p:cNvSpPr>
            <a:spLocks noGrp="1"/>
          </p:cNvSpPr>
          <p:nvPr>
            <p:ph type="title"/>
          </p:nvPr>
        </p:nvSpPr>
        <p:spPr/>
        <p:txBody>
          <a:bodyPr/>
          <a:lstStyle/>
          <a:p>
            <a:r>
              <a:rPr lang="en-US" altLang="en-US" sz="3200" dirty="0">
                <a:cs typeface="Times New Roman" panose="02020603050405020304" pitchFamily="18" charset="0"/>
              </a:rPr>
              <a:t>Case for Floating Exchange Rates </a:t>
            </a:r>
            <a:r>
              <a:rPr lang="en-US" altLang="en-US" sz="2000" b="0" dirty="0">
                <a:cs typeface="Times New Roman" panose="02020603050405020304" pitchFamily="18" charset="0"/>
              </a:rPr>
              <a:t>(1 of 6)</a:t>
            </a:r>
            <a:endParaRPr lang="en-IN" sz="2000" dirty="0">
              <a:cs typeface="Times New Roman" panose="02020603050405020304" pitchFamily="18" charset="0"/>
            </a:endParaRPr>
          </a:p>
        </p:txBody>
      </p:sp>
      <p:sp>
        <p:nvSpPr>
          <p:cNvPr id="4" name="Content Placeholder 3">
            <a:extLst>
              <a:ext uri="{FF2B5EF4-FFF2-40B4-BE49-F238E27FC236}">
                <a16:creationId xmlns:a16="http://schemas.microsoft.com/office/drawing/2014/main" id="{B18B2A73-6450-4766-833F-4DF6C726566F}"/>
              </a:ext>
            </a:extLst>
          </p:cNvPr>
          <p:cNvSpPr>
            <a:spLocks noGrp="1"/>
          </p:cNvSpPr>
          <p:nvPr>
            <p:ph sz="quarter" idx="13"/>
          </p:nvPr>
        </p:nvSpPr>
        <p:spPr>
          <a:xfrm>
            <a:off x="457200" y="1556327"/>
            <a:ext cx="8229600" cy="527116"/>
          </a:xfrm>
        </p:spPr>
        <p:txBody>
          <a:bodyPr/>
          <a:lstStyle/>
          <a:p>
            <a:pPr marL="432000" indent="-432000">
              <a:buFont typeface="+mj-lt"/>
              <a:buAutoNum type="arabicPeriod"/>
            </a:pPr>
            <a:r>
              <a:rPr lang="en-US" altLang="en-US" dirty="0">
                <a:latin typeface="Arial (Body)"/>
              </a:rPr>
              <a:t>Monetary policy autonomy</a:t>
            </a:r>
          </a:p>
        </p:txBody>
      </p:sp>
      <p:sp>
        <p:nvSpPr>
          <p:cNvPr id="5" name="Content Placeholder 4">
            <a:extLst>
              <a:ext uri="{FF2B5EF4-FFF2-40B4-BE49-F238E27FC236}">
                <a16:creationId xmlns:a16="http://schemas.microsoft.com/office/drawing/2014/main" id="{5EB52B0E-69CA-441E-86C6-CD12F3295393}"/>
              </a:ext>
            </a:extLst>
          </p:cNvPr>
          <p:cNvSpPr>
            <a:spLocks noGrp="1"/>
          </p:cNvSpPr>
          <p:nvPr>
            <p:ph sz="quarter" idx="14"/>
          </p:nvPr>
        </p:nvSpPr>
        <p:spPr>
          <a:xfrm>
            <a:off x="457200" y="2160912"/>
            <a:ext cx="8229600" cy="2440450"/>
          </a:xfrm>
        </p:spPr>
        <p:txBody>
          <a:bodyPr/>
          <a:lstStyle/>
          <a:p>
            <a:pPr marL="740664" lvl="1" indent="-283464" eaLnBrk="1" hangingPunct="1"/>
            <a:r>
              <a:rPr lang="en-US" altLang="en-US" sz="2400" dirty="0">
                <a:latin typeface="Arial (Body)"/>
              </a:rPr>
              <a:t>Without a need to trade currency in foreign exchange markets, central banks are more free to influence the domestic money supply, interest rates, and inflation.</a:t>
            </a:r>
          </a:p>
          <a:p>
            <a:pPr marL="740664" lvl="1" indent="-283464" eaLnBrk="1" hangingPunct="1"/>
            <a:r>
              <a:rPr lang="en-US" altLang="en-US" sz="2400" dirty="0">
                <a:latin typeface="Arial (Body)"/>
              </a:rPr>
              <a:t>Central banks can more freely react to changes in aggregate demand, output, and prices in order to achieve internal balance.</a:t>
            </a:r>
            <a:endParaRPr lang="en-IN" dirty="0"/>
          </a:p>
        </p:txBody>
      </p:sp>
    </p:spTree>
    <p:extLst>
      <p:ext uri="{BB962C8B-B14F-4D97-AF65-F5344CB8AC3E}">
        <p14:creationId xmlns:p14="http://schemas.microsoft.com/office/powerpoint/2010/main" val="32625175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BF30F-A182-4420-9B8F-930EF86D7883}"/>
              </a:ext>
            </a:extLst>
          </p:cNvPr>
          <p:cNvSpPr>
            <a:spLocks noGrp="1"/>
          </p:cNvSpPr>
          <p:nvPr>
            <p:ph type="title"/>
          </p:nvPr>
        </p:nvSpPr>
        <p:spPr/>
        <p:txBody>
          <a:bodyPr/>
          <a:lstStyle/>
          <a:p>
            <a:r>
              <a:rPr lang="en-US" altLang="en-US" sz="3200" dirty="0">
                <a:cs typeface="Times New Roman" panose="02020603050405020304" pitchFamily="18" charset="0"/>
              </a:rPr>
              <a:t>Case for Floating Exchange Rates </a:t>
            </a:r>
            <a:r>
              <a:rPr lang="en-US" altLang="en-US" sz="2000" b="0" dirty="0">
                <a:cs typeface="Times New Roman" panose="02020603050405020304" pitchFamily="18" charset="0"/>
              </a:rPr>
              <a:t>(2 of 6)</a:t>
            </a:r>
            <a:endParaRPr lang="en-IN" sz="2000" dirty="0">
              <a:cs typeface="Times New Roman" panose="02020603050405020304" pitchFamily="18" charset="0"/>
            </a:endParaRPr>
          </a:p>
        </p:txBody>
      </p:sp>
      <p:sp>
        <p:nvSpPr>
          <p:cNvPr id="4" name="Content Placeholder 3">
            <a:extLst>
              <a:ext uri="{FF2B5EF4-FFF2-40B4-BE49-F238E27FC236}">
                <a16:creationId xmlns:a16="http://schemas.microsoft.com/office/drawing/2014/main" id="{B18B2A73-6450-4766-833F-4DF6C726566F}"/>
              </a:ext>
            </a:extLst>
          </p:cNvPr>
          <p:cNvSpPr>
            <a:spLocks noGrp="1"/>
          </p:cNvSpPr>
          <p:nvPr>
            <p:ph sz="quarter" idx="13"/>
          </p:nvPr>
        </p:nvSpPr>
        <p:spPr>
          <a:xfrm>
            <a:off x="457200" y="1556327"/>
            <a:ext cx="8229600" cy="494146"/>
          </a:xfrm>
        </p:spPr>
        <p:txBody>
          <a:bodyPr/>
          <a:lstStyle/>
          <a:p>
            <a:pPr marL="432000" indent="-432000" eaLnBrk="1" hangingPunct="1">
              <a:spcBef>
                <a:spcPts val="600"/>
              </a:spcBef>
              <a:buFont typeface="Times" pitchFamily="-1" charset="0"/>
              <a:buAutoNum type="arabicPeriod" startAt="2"/>
            </a:pPr>
            <a:r>
              <a:rPr lang="en-US" altLang="en-US" sz="2200" dirty="0">
                <a:latin typeface="Arial (Body)"/>
              </a:rPr>
              <a:t>Automatic stabilization</a:t>
            </a:r>
          </a:p>
        </p:txBody>
      </p:sp>
      <p:sp>
        <p:nvSpPr>
          <p:cNvPr id="5" name="Content Placeholder 4">
            <a:extLst>
              <a:ext uri="{FF2B5EF4-FFF2-40B4-BE49-F238E27FC236}">
                <a16:creationId xmlns:a16="http://schemas.microsoft.com/office/drawing/2014/main" id="{5EB52B0E-69CA-441E-86C6-CD12F3295393}"/>
              </a:ext>
            </a:extLst>
          </p:cNvPr>
          <p:cNvSpPr>
            <a:spLocks noGrp="1"/>
          </p:cNvSpPr>
          <p:nvPr>
            <p:ph sz="quarter" idx="14"/>
          </p:nvPr>
        </p:nvSpPr>
        <p:spPr>
          <a:xfrm>
            <a:off x="457200" y="2134357"/>
            <a:ext cx="8229600" cy="3771535"/>
          </a:xfrm>
        </p:spPr>
        <p:txBody>
          <a:bodyPr/>
          <a:lstStyle/>
          <a:p>
            <a:pPr marL="740664" lvl="1" indent="-283464" eaLnBrk="1" hangingPunct="1"/>
            <a:r>
              <a:rPr lang="en-US" altLang="en-US" sz="2200" dirty="0">
                <a:latin typeface="Arial (Body)"/>
              </a:rPr>
              <a:t>Flexible exchange rates change the prices of a country’</a:t>
            </a:r>
            <a:r>
              <a:rPr lang="en-US" altLang="ja-JP" sz="2200" dirty="0">
                <a:latin typeface="Arial (Body)"/>
              </a:rPr>
              <a:t>s products and help reduce “fundamental disequilibria.”</a:t>
            </a:r>
          </a:p>
          <a:p>
            <a:pPr marL="740664" lvl="1" indent="-283464"/>
            <a:r>
              <a:rPr lang="en-US" altLang="en-US" sz="2200" dirty="0">
                <a:latin typeface="Arial (Body)"/>
              </a:rPr>
              <a:t>One fundamental disequilibrium is caused by an excessive increase in money supply and government purchases, leading to inflation, as we saw in the United States during 1965–1972.</a:t>
            </a:r>
          </a:p>
          <a:p>
            <a:pPr marL="740664" lvl="1" indent="-283464" eaLnBrk="1" hangingPunct="1"/>
            <a:r>
              <a:rPr lang="en-US" altLang="en-US" sz="2200" dirty="0">
                <a:latin typeface="Arial (Body)"/>
              </a:rPr>
              <a:t>Inflation causes the currency’</a:t>
            </a:r>
            <a:r>
              <a:rPr lang="en-US" altLang="ja-JP" sz="2200" dirty="0">
                <a:latin typeface="Arial (Body)"/>
              </a:rPr>
              <a:t>s purchasing power to fall, both domestically and internationally, and flexible exchange rates can automatically adjust to account for this fall in value, as purchasing power parity predicts.</a:t>
            </a:r>
            <a:endParaRPr lang="en-IN" sz="2200" dirty="0"/>
          </a:p>
        </p:txBody>
      </p:sp>
    </p:spTree>
    <p:extLst>
      <p:ext uri="{BB962C8B-B14F-4D97-AF65-F5344CB8AC3E}">
        <p14:creationId xmlns:p14="http://schemas.microsoft.com/office/powerpoint/2010/main" val="10999832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BF30F-A182-4420-9B8F-930EF86D7883}"/>
              </a:ext>
            </a:extLst>
          </p:cNvPr>
          <p:cNvSpPr>
            <a:spLocks noGrp="1"/>
          </p:cNvSpPr>
          <p:nvPr>
            <p:ph type="title"/>
          </p:nvPr>
        </p:nvSpPr>
        <p:spPr/>
        <p:txBody>
          <a:bodyPr/>
          <a:lstStyle/>
          <a:p>
            <a:r>
              <a:rPr lang="en-US" altLang="en-US" sz="3200" dirty="0">
                <a:cs typeface="Times New Roman" panose="02020603050405020304" pitchFamily="18" charset="0"/>
              </a:rPr>
              <a:t>Case for Floating Exchange Rates </a:t>
            </a:r>
            <a:r>
              <a:rPr lang="en-US" altLang="en-US" sz="2000" b="0" dirty="0">
                <a:cs typeface="Times New Roman" panose="02020603050405020304" pitchFamily="18" charset="0"/>
              </a:rPr>
              <a:t>(3 of 6)</a:t>
            </a:r>
            <a:endParaRPr lang="en-IN" sz="2000" dirty="0">
              <a:cs typeface="Times New Roman" panose="02020603050405020304" pitchFamily="18" charset="0"/>
            </a:endParaRPr>
          </a:p>
        </p:txBody>
      </p:sp>
      <p:sp>
        <p:nvSpPr>
          <p:cNvPr id="4" name="Content Placeholder 3">
            <a:extLst>
              <a:ext uri="{FF2B5EF4-FFF2-40B4-BE49-F238E27FC236}">
                <a16:creationId xmlns:a16="http://schemas.microsoft.com/office/drawing/2014/main" id="{B18B2A73-6450-4766-833F-4DF6C726566F}"/>
              </a:ext>
            </a:extLst>
          </p:cNvPr>
          <p:cNvSpPr>
            <a:spLocks noGrp="1"/>
          </p:cNvSpPr>
          <p:nvPr>
            <p:ph sz="quarter" idx="13"/>
          </p:nvPr>
        </p:nvSpPr>
        <p:spPr>
          <a:xfrm>
            <a:off x="457200" y="1556326"/>
            <a:ext cx="8229600" cy="3212443"/>
          </a:xfrm>
        </p:spPr>
        <p:txBody>
          <a:bodyPr/>
          <a:lstStyle/>
          <a:p>
            <a:pPr lvl="1" eaLnBrk="1" hangingPunct="1"/>
            <a:r>
              <a:rPr lang="en-US" altLang="en-US" dirty="0">
                <a:latin typeface="Arial (Body)"/>
              </a:rPr>
              <a:t>Another fundamental disequilibrium could be caused by a change in aggregate demand for a country’</a:t>
            </a:r>
            <a:r>
              <a:rPr lang="en-US" altLang="ja-JP" dirty="0">
                <a:latin typeface="Arial (Body)"/>
              </a:rPr>
              <a:t>s products.</a:t>
            </a:r>
          </a:p>
          <a:p>
            <a:pPr lvl="1" eaLnBrk="1" hangingPunct="1"/>
            <a:r>
              <a:rPr lang="en-US" altLang="en-US" dirty="0">
                <a:latin typeface="Arial (Body)"/>
              </a:rPr>
              <a:t>Flexible exchange rates would automatically adjust to stabilize high or low aggregate demand and output, thereby keeping output closer to its normal level and also stabilizing price changes in the long run. </a:t>
            </a:r>
          </a:p>
        </p:txBody>
      </p:sp>
    </p:spTree>
    <p:extLst>
      <p:ext uri="{BB962C8B-B14F-4D97-AF65-F5344CB8AC3E}">
        <p14:creationId xmlns:p14="http://schemas.microsoft.com/office/powerpoint/2010/main" val="26278658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24760-F460-4350-B7D2-F0A342802A62}"/>
              </a:ext>
            </a:extLst>
          </p:cNvPr>
          <p:cNvSpPr>
            <a:spLocks noGrp="1"/>
          </p:cNvSpPr>
          <p:nvPr>
            <p:ph type="title"/>
          </p:nvPr>
        </p:nvSpPr>
        <p:spPr/>
        <p:txBody>
          <a:bodyPr/>
          <a:lstStyle/>
          <a:p>
            <a:r>
              <a:rPr lang="en-US" altLang="en-US" sz="3200" dirty="0"/>
              <a:t>Figure 19.5 Effects of a Fall in Export Demand</a:t>
            </a:r>
            <a:endParaRPr lang="en-IN" sz="3200" dirty="0"/>
          </a:p>
        </p:txBody>
      </p:sp>
      <p:pic>
        <p:nvPicPr>
          <p:cNvPr id="25" name="Content Placeholder 24" descr="2 graphs, ay and b, plot the exchange rate, E versus output, Y. For long description in Notes pane, press F6.">
            <a:extLst>
              <a:ext uri="{FF2B5EF4-FFF2-40B4-BE49-F238E27FC236}">
                <a16:creationId xmlns:a16="http://schemas.microsoft.com/office/drawing/2014/main" id="{D090CEE4-5D7A-4A55-97F7-A333E2382433}"/>
              </a:ext>
            </a:extLst>
          </p:cNvPr>
          <p:cNvPicPr>
            <a:picLocks noGrp="1" noChangeAspect="1"/>
          </p:cNvPicPr>
          <p:nvPr>
            <p:ph sz="quarter" idx="13"/>
          </p:nvPr>
        </p:nvPicPr>
        <p:blipFill>
          <a:blip r:embed="rId3"/>
          <a:stretch>
            <a:fillRect/>
          </a:stretch>
        </p:blipFill>
        <p:spPr>
          <a:xfrm>
            <a:off x="3528647" y="1477596"/>
            <a:ext cx="2009773" cy="3092346"/>
          </a:xfrm>
        </p:spPr>
      </p:pic>
      <p:sp>
        <p:nvSpPr>
          <p:cNvPr id="4" name="Content Placeholder 3">
            <a:extLst>
              <a:ext uri="{FF2B5EF4-FFF2-40B4-BE49-F238E27FC236}">
                <a16:creationId xmlns:a16="http://schemas.microsoft.com/office/drawing/2014/main" id="{9CAC6FBD-B0B2-4655-BF6A-048934F5B932}"/>
              </a:ext>
            </a:extLst>
          </p:cNvPr>
          <p:cNvSpPr>
            <a:spLocks noGrp="1"/>
          </p:cNvSpPr>
          <p:nvPr>
            <p:ph sz="quarter" idx="14"/>
          </p:nvPr>
        </p:nvSpPr>
        <p:spPr>
          <a:xfrm>
            <a:off x="513469" y="4675752"/>
            <a:ext cx="5689419" cy="284178"/>
          </a:xfrm>
        </p:spPr>
        <p:txBody>
          <a:bodyPr lIns="0" tIns="0" rIns="0" bIns="0"/>
          <a:lstStyle/>
          <a:p>
            <a:pPr marL="432" indent="0">
              <a:buNone/>
            </a:pPr>
            <a:r>
              <a:rPr lang="en-US" sz="1600" dirty="0">
                <a:latin typeface="Arial (Body)"/>
              </a:rPr>
              <a:t>The response to a fall in export demand (seen in the shift from</a:t>
            </a:r>
            <a:endParaRPr lang="en-IN" sz="1600" dirty="0"/>
          </a:p>
        </p:txBody>
      </p:sp>
      <p:graphicFrame>
        <p:nvGraphicFramePr>
          <p:cNvPr id="17" name="Object 16" descr="D D super 1 to D D super 2 right parenthesis">
            <a:extLst>
              <a:ext uri="{FF2B5EF4-FFF2-40B4-BE49-F238E27FC236}">
                <a16:creationId xmlns:a16="http://schemas.microsoft.com/office/drawing/2014/main" id="{7AAE321C-C5AA-4AB4-80F7-A69AA67DACC1}"/>
              </a:ext>
            </a:extLst>
          </p:cNvPr>
          <p:cNvGraphicFramePr>
            <a:graphicFrameLocks noChangeAspect="1"/>
          </p:cNvGraphicFramePr>
          <p:nvPr>
            <p:extLst>
              <p:ext uri="{D42A27DB-BD31-4B8C-83A1-F6EECF244321}">
                <p14:modId xmlns:p14="http://schemas.microsoft.com/office/powerpoint/2010/main" val="2717914826"/>
              </p:ext>
            </p:extLst>
          </p:nvPr>
        </p:nvGraphicFramePr>
        <p:xfrm>
          <a:off x="6244776" y="4660614"/>
          <a:ext cx="1166813" cy="303213"/>
        </p:xfrm>
        <a:graphic>
          <a:graphicData uri="http://schemas.openxmlformats.org/presentationml/2006/ole">
            <mc:AlternateContent xmlns:mc="http://schemas.openxmlformats.org/markup-compatibility/2006">
              <mc:Choice xmlns:v="urn:schemas-microsoft-com:vml" Requires="v">
                <p:oleObj name="Equation" r:id="rId4" imgW="876240" imgH="228600" progId="Equation.DSMT4">
                  <p:embed/>
                </p:oleObj>
              </mc:Choice>
              <mc:Fallback>
                <p:oleObj name="Equation" r:id="rId4" imgW="876240" imgH="228600" progId="Equation.DSMT4">
                  <p:embed/>
                  <p:pic>
                    <p:nvPicPr>
                      <p:cNvPr id="0" name=""/>
                      <p:cNvPicPr/>
                      <p:nvPr/>
                    </p:nvPicPr>
                    <p:blipFill>
                      <a:blip r:embed="rId5"/>
                      <a:stretch>
                        <a:fillRect/>
                      </a:stretch>
                    </p:blipFill>
                    <p:spPr>
                      <a:xfrm>
                        <a:off x="6244776" y="4660614"/>
                        <a:ext cx="1166813" cy="303213"/>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CC92E0BE-CD1C-42AC-B1D2-9E000022703B}"/>
              </a:ext>
            </a:extLst>
          </p:cNvPr>
          <p:cNvSpPr>
            <a:spLocks noGrp="1"/>
          </p:cNvSpPr>
          <p:nvPr>
            <p:ph sz="quarter" idx="15"/>
          </p:nvPr>
        </p:nvSpPr>
        <p:spPr>
          <a:xfrm>
            <a:off x="7511418" y="4666836"/>
            <a:ext cx="1211303" cy="296787"/>
          </a:xfrm>
        </p:spPr>
        <p:txBody>
          <a:bodyPr lIns="0" tIns="0" rIns="0" bIns="0"/>
          <a:lstStyle/>
          <a:p>
            <a:pPr marL="432" indent="0">
              <a:buNone/>
            </a:pPr>
            <a:r>
              <a:rPr lang="en-US" sz="1600" dirty="0">
                <a:latin typeface="Arial (Body)"/>
              </a:rPr>
              <a:t>differs under</a:t>
            </a:r>
            <a:endParaRPr lang="en-IN" sz="1600" dirty="0"/>
          </a:p>
        </p:txBody>
      </p:sp>
      <p:sp>
        <p:nvSpPr>
          <p:cNvPr id="6" name="Content Placeholder 5">
            <a:extLst>
              <a:ext uri="{FF2B5EF4-FFF2-40B4-BE49-F238E27FC236}">
                <a16:creationId xmlns:a16="http://schemas.microsoft.com/office/drawing/2014/main" id="{26DC0257-F04E-4BF7-9FE8-E8BC96502E97}"/>
              </a:ext>
            </a:extLst>
          </p:cNvPr>
          <p:cNvSpPr>
            <a:spLocks noGrp="1"/>
          </p:cNvSpPr>
          <p:nvPr>
            <p:ph sz="quarter" idx="16"/>
          </p:nvPr>
        </p:nvSpPr>
        <p:spPr>
          <a:xfrm>
            <a:off x="502356" y="5017944"/>
            <a:ext cx="6962172" cy="288347"/>
          </a:xfrm>
        </p:spPr>
        <p:txBody>
          <a:bodyPr lIns="0" tIns="0" rIns="0" bIns="0"/>
          <a:lstStyle/>
          <a:p>
            <a:pPr marL="432" indent="0">
              <a:buNone/>
            </a:pPr>
            <a:r>
              <a:rPr lang="en-US" sz="1600" dirty="0">
                <a:latin typeface="Arial (Body)"/>
              </a:rPr>
              <a:t>floating and fixed exchange rates. (a) With a floating rate, output falls only to</a:t>
            </a:r>
            <a:endParaRPr lang="en-IN" sz="1600" dirty="0"/>
          </a:p>
        </p:txBody>
      </p:sp>
      <p:graphicFrame>
        <p:nvGraphicFramePr>
          <p:cNvPr id="18" name="Object 17" descr="Y super 2">
            <a:extLst>
              <a:ext uri="{FF2B5EF4-FFF2-40B4-BE49-F238E27FC236}">
                <a16:creationId xmlns:a16="http://schemas.microsoft.com/office/drawing/2014/main" id="{682B2274-F753-4C95-A255-01E49BCC8DFB}"/>
              </a:ext>
            </a:extLst>
          </p:cNvPr>
          <p:cNvGraphicFramePr>
            <a:graphicFrameLocks noChangeAspect="1"/>
          </p:cNvGraphicFramePr>
          <p:nvPr>
            <p:extLst>
              <p:ext uri="{D42A27DB-BD31-4B8C-83A1-F6EECF244321}">
                <p14:modId xmlns:p14="http://schemas.microsoft.com/office/powerpoint/2010/main" val="2400842490"/>
              </p:ext>
            </p:extLst>
          </p:nvPr>
        </p:nvGraphicFramePr>
        <p:xfrm>
          <a:off x="7563556" y="5021306"/>
          <a:ext cx="270459" cy="253556"/>
        </p:xfrm>
        <a:graphic>
          <a:graphicData uri="http://schemas.openxmlformats.org/presentationml/2006/ole">
            <mc:AlternateContent xmlns:mc="http://schemas.openxmlformats.org/markup-compatibility/2006">
              <mc:Choice xmlns:v="urn:schemas-microsoft-com:vml" Requires="v">
                <p:oleObj name="Equation" r:id="rId6" imgW="203040" imgH="190440" progId="Equation.DSMT4">
                  <p:embed/>
                </p:oleObj>
              </mc:Choice>
              <mc:Fallback>
                <p:oleObj name="Equation" r:id="rId6" imgW="203040" imgH="190440" progId="Equation.DSMT4">
                  <p:embed/>
                  <p:pic>
                    <p:nvPicPr>
                      <p:cNvPr id="0" name=""/>
                      <p:cNvPicPr/>
                      <p:nvPr/>
                    </p:nvPicPr>
                    <p:blipFill>
                      <a:blip r:embed="rId7"/>
                      <a:stretch>
                        <a:fillRect/>
                      </a:stretch>
                    </p:blipFill>
                    <p:spPr>
                      <a:xfrm>
                        <a:off x="7563556" y="5021306"/>
                        <a:ext cx="270459" cy="253556"/>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35FF7B2D-88FA-4E8B-90F9-D91D7262F1FF}"/>
              </a:ext>
            </a:extLst>
          </p:cNvPr>
          <p:cNvSpPr>
            <a:spLocks noGrp="1"/>
          </p:cNvSpPr>
          <p:nvPr>
            <p:ph sz="quarter" idx="17"/>
          </p:nvPr>
        </p:nvSpPr>
        <p:spPr>
          <a:xfrm>
            <a:off x="7912944" y="5017944"/>
            <a:ext cx="734995" cy="288348"/>
          </a:xfrm>
        </p:spPr>
        <p:txBody>
          <a:bodyPr lIns="0" tIns="0" rIns="0" bIns="0"/>
          <a:lstStyle/>
          <a:p>
            <a:pPr marL="432" indent="0">
              <a:buNone/>
            </a:pPr>
            <a:r>
              <a:rPr lang="en-US" sz="1600" dirty="0">
                <a:latin typeface="Arial (Body)"/>
              </a:rPr>
              <a:t>as the</a:t>
            </a:r>
            <a:endParaRPr lang="en-IN" sz="1600" dirty="0"/>
          </a:p>
        </p:txBody>
      </p:sp>
      <p:sp>
        <p:nvSpPr>
          <p:cNvPr id="8" name="Content Placeholder 7">
            <a:extLst>
              <a:ext uri="{FF2B5EF4-FFF2-40B4-BE49-F238E27FC236}">
                <a16:creationId xmlns:a16="http://schemas.microsoft.com/office/drawing/2014/main" id="{41E5CCE0-174A-405A-AB0D-089CFB4F9943}"/>
              </a:ext>
            </a:extLst>
          </p:cNvPr>
          <p:cNvSpPr>
            <a:spLocks noGrp="1"/>
          </p:cNvSpPr>
          <p:nvPr>
            <p:ph sz="quarter" idx="18"/>
          </p:nvPr>
        </p:nvSpPr>
        <p:spPr>
          <a:xfrm>
            <a:off x="502357" y="5377815"/>
            <a:ext cx="2205990" cy="272415"/>
          </a:xfrm>
        </p:spPr>
        <p:txBody>
          <a:bodyPr lIns="0" tIns="0" rIns="0" bIns="0"/>
          <a:lstStyle/>
          <a:p>
            <a:pPr marL="432" indent="0">
              <a:buNone/>
            </a:pPr>
            <a:r>
              <a:rPr lang="en-US" sz="1600" dirty="0">
                <a:latin typeface="Arial (Body)"/>
              </a:rPr>
              <a:t>currency’s depreciation</a:t>
            </a:r>
            <a:endParaRPr lang="en-IN" sz="1600" dirty="0"/>
          </a:p>
        </p:txBody>
      </p:sp>
      <p:graphicFrame>
        <p:nvGraphicFramePr>
          <p:cNvPr id="19" name="Object 18" descr="left parenthesis form E super 1 to E super 2 right parenthesis">
            <a:extLst>
              <a:ext uri="{FF2B5EF4-FFF2-40B4-BE49-F238E27FC236}">
                <a16:creationId xmlns:a16="http://schemas.microsoft.com/office/drawing/2014/main" id="{D7B5A0E1-847D-4F2A-BB2D-95A5571A88E2}"/>
              </a:ext>
            </a:extLst>
          </p:cNvPr>
          <p:cNvGraphicFramePr>
            <a:graphicFrameLocks noChangeAspect="1"/>
          </p:cNvGraphicFramePr>
          <p:nvPr>
            <p:extLst>
              <p:ext uri="{D42A27DB-BD31-4B8C-83A1-F6EECF244321}">
                <p14:modId xmlns:p14="http://schemas.microsoft.com/office/powerpoint/2010/main" val="3598293338"/>
              </p:ext>
            </p:extLst>
          </p:nvPr>
        </p:nvGraphicFramePr>
        <p:xfrm>
          <a:off x="2796294" y="5361853"/>
          <a:ext cx="1306512" cy="276225"/>
        </p:xfrm>
        <a:graphic>
          <a:graphicData uri="http://schemas.openxmlformats.org/presentationml/2006/ole">
            <mc:AlternateContent xmlns:mc="http://schemas.openxmlformats.org/markup-compatibility/2006">
              <mc:Choice xmlns:v="urn:schemas-microsoft-com:vml" Requires="v">
                <p:oleObj name="Equation" r:id="rId8" imgW="1079280" imgH="228600" progId="Equation.DSMT4">
                  <p:embed/>
                </p:oleObj>
              </mc:Choice>
              <mc:Fallback>
                <p:oleObj name="Equation" r:id="rId8" imgW="1079280" imgH="228600" progId="Equation.DSMT4">
                  <p:embed/>
                  <p:pic>
                    <p:nvPicPr>
                      <p:cNvPr id="0" name=""/>
                      <p:cNvPicPr/>
                      <p:nvPr/>
                    </p:nvPicPr>
                    <p:blipFill>
                      <a:blip r:embed="rId9"/>
                      <a:stretch>
                        <a:fillRect/>
                      </a:stretch>
                    </p:blipFill>
                    <p:spPr>
                      <a:xfrm>
                        <a:off x="2796294" y="5361853"/>
                        <a:ext cx="1306512" cy="276225"/>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CBB44A10-A11B-4FC1-8D96-0B0AFCADA5AE}"/>
              </a:ext>
            </a:extLst>
          </p:cNvPr>
          <p:cNvSpPr>
            <a:spLocks noGrp="1"/>
          </p:cNvSpPr>
          <p:nvPr>
            <p:ph sz="quarter" idx="19"/>
          </p:nvPr>
        </p:nvSpPr>
        <p:spPr>
          <a:xfrm>
            <a:off x="4216773" y="5355986"/>
            <a:ext cx="4382178" cy="268960"/>
          </a:xfrm>
        </p:spPr>
        <p:txBody>
          <a:bodyPr lIns="0" tIns="0" rIns="0" bIns="0"/>
          <a:lstStyle/>
          <a:p>
            <a:pPr marL="432" indent="0">
              <a:buNone/>
            </a:pPr>
            <a:r>
              <a:rPr lang="en-US" sz="1600" dirty="0">
                <a:latin typeface="Arial (Body)"/>
              </a:rPr>
              <a:t>shifts demand back toward domestic goods. (b)</a:t>
            </a:r>
            <a:endParaRPr lang="en-IN" sz="1600" dirty="0"/>
          </a:p>
        </p:txBody>
      </p:sp>
      <p:sp>
        <p:nvSpPr>
          <p:cNvPr id="10" name="Content Placeholder 9">
            <a:extLst>
              <a:ext uri="{FF2B5EF4-FFF2-40B4-BE49-F238E27FC236}">
                <a16:creationId xmlns:a16="http://schemas.microsoft.com/office/drawing/2014/main" id="{0CEAA544-3148-4E61-B15C-D4FD6A32FEA3}"/>
              </a:ext>
            </a:extLst>
          </p:cNvPr>
          <p:cNvSpPr>
            <a:spLocks noGrp="1"/>
          </p:cNvSpPr>
          <p:nvPr>
            <p:ph sz="quarter" idx="20"/>
          </p:nvPr>
        </p:nvSpPr>
        <p:spPr>
          <a:xfrm>
            <a:off x="513469" y="5727302"/>
            <a:ext cx="2930207" cy="285570"/>
          </a:xfrm>
        </p:spPr>
        <p:txBody>
          <a:bodyPr lIns="0" tIns="0" rIns="0" bIns="0"/>
          <a:lstStyle/>
          <a:p>
            <a:pPr marL="432" indent="0">
              <a:buNone/>
            </a:pPr>
            <a:r>
              <a:rPr lang="en-US" sz="1600" dirty="0">
                <a:latin typeface="Arial (Body)"/>
              </a:rPr>
              <a:t>With the exchange rate fixed at</a:t>
            </a:r>
            <a:endParaRPr lang="en-IN" sz="1600" dirty="0"/>
          </a:p>
        </p:txBody>
      </p:sp>
      <p:graphicFrame>
        <p:nvGraphicFramePr>
          <p:cNvPr id="20" name="Object 19" descr="E super 1.">
            <a:extLst>
              <a:ext uri="{FF2B5EF4-FFF2-40B4-BE49-F238E27FC236}">
                <a16:creationId xmlns:a16="http://schemas.microsoft.com/office/drawing/2014/main" id="{563B3179-28F3-41BB-B15C-C8580B7B29B8}"/>
              </a:ext>
            </a:extLst>
          </p:cNvPr>
          <p:cNvGraphicFramePr>
            <a:graphicFrameLocks noChangeAspect="1"/>
          </p:cNvGraphicFramePr>
          <p:nvPr>
            <p:extLst>
              <p:ext uri="{D42A27DB-BD31-4B8C-83A1-F6EECF244321}">
                <p14:modId xmlns:p14="http://schemas.microsoft.com/office/powerpoint/2010/main" val="2149976398"/>
              </p:ext>
            </p:extLst>
          </p:nvPr>
        </p:nvGraphicFramePr>
        <p:xfrm>
          <a:off x="3537354" y="5711659"/>
          <a:ext cx="304267" cy="287363"/>
        </p:xfrm>
        <a:graphic>
          <a:graphicData uri="http://schemas.openxmlformats.org/presentationml/2006/ole">
            <mc:AlternateContent xmlns:mc="http://schemas.openxmlformats.org/markup-compatibility/2006">
              <mc:Choice xmlns:v="urn:schemas-microsoft-com:vml" Requires="v">
                <p:oleObj name="Equation" r:id="rId10" imgW="228600" imgH="215640" progId="Equation.DSMT4">
                  <p:embed/>
                </p:oleObj>
              </mc:Choice>
              <mc:Fallback>
                <p:oleObj name="Equation" r:id="rId10" imgW="228600" imgH="215640" progId="Equation.DSMT4">
                  <p:embed/>
                  <p:pic>
                    <p:nvPicPr>
                      <p:cNvPr id="0" name=""/>
                      <p:cNvPicPr/>
                      <p:nvPr/>
                    </p:nvPicPr>
                    <p:blipFill>
                      <a:blip r:embed="rId11"/>
                      <a:stretch>
                        <a:fillRect/>
                      </a:stretch>
                    </p:blipFill>
                    <p:spPr>
                      <a:xfrm>
                        <a:off x="3537354" y="5711659"/>
                        <a:ext cx="304267" cy="287363"/>
                      </a:xfrm>
                      <a:prstGeom prst="rect">
                        <a:avLst/>
                      </a:prstGeom>
                    </p:spPr>
                  </p:pic>
                </p:oleObj>
              </mc:Fallback>
            </mc:AlternateContent>
          </a:graphicData>
        </a:graphic>
      </p:graphicFrame>
      <p:sp>
        <p:nvSpPr>
          <p:cNvPr id="11" name="Content Placeholder 10">
            <a:extLst>
              <a:ext uri="{FF2B5EF4-FFF2-40B4-BE49-F238E27FC236}">
                <a16:creationId xmlns:a16="http://schemas.microsoft.com/office/drawing/2014/main" id="{1E2042FA-B1EA-42E3-BF0D-CF9E5CF6574E}"/>
              </a:ext>
            </a:extLst>
          </p:cNvPr>
          <p:cNvSpPr>
            <a:spLocks noGrp="1"/>
          </p:cNvSpPr>
          <p:nvPr>
            <p:ph sz="quarter" idx="21"/>
          </p:nvPr>
        </p:nvSpPr>
        <p:spPr>
          <a:xfrm>
            <a:off x="3935758" y="5727302"/>
            <a:ext cx="2290488" cy="267104"/>
          </a:xfrm>
        </p:spPr>
        <p:txBody>
          <a:bodyPr lIns="0" tIns="0" rIns="0" bIns="0"/>
          <a:lstStyle/>
          <a:p>
            <a:pPr marL="432" indent="0">
              <a:buNone/>
            </a:pPr>
            <a:r>
              <a:rPr lang="en-US" sz="1600" dirty="0">
                <a:latin typeface="Arial (Body)"/>
              </a:rPr>
              <a:t>output falls all the way to</a:t>
            </a:r>
            <a:endParaRPr lang="en-IN" sz="1600" dirty="0"/>
          </a:p>
        </p:txBody>
      </p:sp>
      <p:graphicFrame>
        <p:nvGraphicFramePr>
          <p:cNvPr id="21" name="Object 20" descr="Y cubed">
            <a:extLst>
              <a:ext uri="{FF2B5EF4-FFF2-40B4-BE49-F238E27FC236}">
                <a16:creationId xmlns:a16="http://schemas.microsoft.com/office/drawing/2014/main" id="{6004BA38-E3A0-4785-B6BA-E82F029C9507}"/>
              </a:ext>
            </a:extLst>
          </p:cNvPr>
          <p:cNvGraphicFramePr>
            <a:graphicFrameLocks noChangeAspect="1"/>
          </p:cNvGraphicFramePr>
          <p:nvPr>
            <p:extLst>
              <p:ext uri="{D42A27DB-BD31-4B8C-83A1-F6EECF244321}">
                <p14:modId xmlns:p14="http://schemas.microsoft.com/office/powerpoint/2010/main" val="1285416455"/>
              </p:ext>
            </p:extLst>
          </p:nvPr>
        </p:nvGraphicFramePr>
        <p:xfrm>
          <a:off x="6275025" y="5725296"/>
          <a:ext cx="327256" cy="227545"/>
        </p:xfrm>
        <a:graphic>
          <a:graphicData uri="http://schemas.openxmlformats.org/presentationml/2006/ole">
            <mc:AlternateContent xmlns:mc="http://schemas.openxmlformats.org/markup-compatibility/2006">
              <mc:Choice xmlns:v="urn:schemas-microsoft-com:vml" Requires="v">
                <p:oleObj name="Equation" r:id="rId12" imgW="203040" imgH="190440" progId="Equation.DSMT4">
                  <p:embed/>
                </p:oleObj>
              </mc:Choice>
              <mc:Fallback>
                <p:oleObj name="Equation" r:id="rId12" imgW="203040" imgH="190440" progId="Equation.DSMT4">
                  <p:embed/>
                  <p:pic>
                    <p:nvPicPr>
                      <p:cNvPr id="0" name=""/>
                      <p:cNvPicPr/>
                      <p:nvPr/>
                    </p:nvPicPr>
                    <p:blipFill>
                      <a:blip r:embed="rId13"/>
                      <a:stretch>
                        <a:fillRect/>
                      </a:stretch>
                    </p:blipFill>
                    <p:spPr>
                      <a:xfrm>
                        <a:off x="6275025" y="5725296"/>
                        <a:ext cx="327256" cy="227545"/>
                      </a:xfrm>
                      <a:prstGeom prst="rect">
                        <a:avLst/>
                      </a:prstGeom>
                    </p:spPr>
                  </p:pic>
                </p:oleObj>
              </mc:Fallback>
            </mc:AlternateContent>
          </a:graphicData>
        </a:graphic>
      </p:graphicFrame>
      <p:sp>
        <p:nvSpPr>
          <p:cNvPr id="12" name="Content Placeholder 11">
            <a:extLst>
              <a:ext uri="{FF2B5EF4-FFF2-40B4-BE49-F238E27FC236}">
                <a16:creationId xmlns:a16="http://schemas.microsoft.com/office/drawing/2014/main" id="{A0A68212-CF64-4397-AAB3-CF44D058BEAA}"/>
              </a:ext>
            </a:extLst>
          </p:cNvPr>
          <p:cNvSpPr>
            <a:spLocks noGrp="1"/>
          </p:cNvSpPr>
          <p:nvPr>
            <p:ph sz="quarter" idx="22"/>
          </p:nvPr>
        </p:nvSpPr>
        <p:spPr>
          <a:xfrm>
            <a:off x="6669092" y="5699931"/>
            <a:ext cx="948689" cy="269992"/>
          </a:xfrm>
        </p:spPr>
        <p:txBody>
          <a:bodyPr lIns="0" tIns="0" rIns="0" bIns="0"/>
          <a:lstStyle/>
          <a:p>
            <a:pPr marL="432" indent="0">
              <a:buNone/>
            </a:pPr>
            <a:r>
              <a:rPr lang="en-US" sz="1600" dirty="0">
                <a:latin typeface="Arial (Body)"/>
              </a:rPr>
              <a:t>as the</a:t>
            </a:r>
            <a:endParaRPr lang="en-IN" sz="1600" dirty="0"/>
          </a:p>
        </p:txBody>
      </p:sp>
      <p:sp>
        <p:nvSpPr>
          <p:cNvPr id="13" name="Content Placeholder 12">
            <a:extLst>
              <a:ext uri="{FF2B5EF4-FFF2-40B4-BE49-F238E27FC236}">
                <a16:creationId xmlns:a16="http://schemas.microsoft.com/office/drawing/2014/main" id="{FAED0375-8A42-4E3D-A234-A3EBD4F61400}"/>
              </a:ext>
            </a:extLst>
          </p:cNvPr>
          <p:cNvSpPr>
            <a:spLocks noGrp="1"/>
          </p:cNvSpPr>
          <p:nvPr>
            <p:ph sz="quarter" idx="23"/>
          </p:nvPr>
        </p:nvSpPr>
        <p:spPr>
          <a:xfrm>
            <a:off x="513469" y="6063199"/>
            <a:ext cx="5970587" cy="286802"/>
          </a:xfrm>
        </p:spPr>
        <p:txBody>
          <a:bodyPr lIns="0" tIns="0" rIns="0" bIns="0"/>
          <a:lstStyle/>
          <a:p>
            <a:pPr marL="432" indent="0">
              <a:buNone/>
            </a:pPr>
            <a:r>
              <a:rPr lang="en-US" sz="1600" dirty="0">
                <a:latin typeface="Arial (Body)"/>
              </a:rPr>
              <a:t>central bank reduces the money supply (reflected in the shift from</a:t>
            </a:r>
            <a:endParaRPr lang="en-IN" sz="1600" dirty="0"/>
          </a:p>
        </p:txBody>
      </p:sp>
      <p:graphicFrame>
        <p:nvGraphicFramePr>
          <p:cNvPr id="22" name="Object 21" descr="A A super 1 to A A super 2 right parenthesis.">
            <a:extLst>
              <a:ext uri="{FF2B5EF4-FFF2-40B4-BE49-F238E27FC236}">
                <a16:creationId xmlns:a16="http://schemas.microsoft.com/office/drawing/2014/main" id="{85D9A470-F1F4-46DD-95AA-AECC2246963B}"/>
              </a:ext>
            </a:extLst>
          </p:cNvPr>
          <p:cNvGraphicFramePr>
            <a:graphicFrameLocks noChangeAspect="1"/>
          </p:cNvGraphicFramePr>
          <p:nvPr>
            <p:extLst>
              <p:ext uri="{D42A27DB-BD31-4B8C-83A1-F6EECF244321}">
                <p14:modId xmlns:p14="http://schemas.microsoft.com/office/powerpoint/2010/main" val="4084131126"/>
              </p:ext>
            </p:extLst>
          </p:nvPr>
        </p:nvGraphicFramePr>
        <p:xfrm>
          <a:off x="6550478" y="6064896"/>
          <a:ext cx="1060323" cy="276606"/>
        </p:xfrm>
        <a:graphic>
          <a:graphicData uri="http://schemas.openxmlformats.org/presentationml/2006/ole">
            <mc:AlternateContent xmlns:mc="http://schemas.openxmlformats.org/markup-compatibility/2006">
              <mc:Choice xmlns:v="urn:schemas-microsoft-com:vml" Requires="v">
                <p:oleObj name="Equation" r:id="rId14" imgW="876240" imgH="228600" progId="Equation.DSMT4">
                  <p:embed/>
                </p:oleObj>
              </mc:Choice>
              <mc:Fallback>
                <p:oleObj name="Equation" r:id="rId14" imgW="876240" imgH="228600" progId="Equation.DSMT4">
                  <p:embed/>
                  <p:pic>
                    <p:nvPicPr>
                      <p:cNvPr id="0" name=""/>
                      <p:cNvPicPr/>
                      <p:nvPr/>
                    </p:nvPicPr>
                    <p:blipFill>
                      <a:blip r:embed="rId15"/>
                      <a:stretch>
                        <a:fillRect/>
                      </a:stretch>
                    </p:blipFill>
                    <p:spPr>
                      <a:xfrm>
                        <a:off x="6550478" y="6064896"/>
                        <a:ext cx="1060323" cy="276606"/>
                      </a:xfrm>
                      <a:prstGeom prst="rect">
                        <a:avLst/>
                      </a:prstGeom>
                    </p:spPr>
                  </p:pic>
                </p:oleObj>
              </mc:Fallback>
            </mc:AlternateContent>
          </a:graphicData>
        </a:graphic>
      </p:graphicFrame>
    </p:spTree>
    <p:extLst>
      <p:ext uri="{BB962C8B-B14F-4D97-AF65-F5344CB8AC3E}">
        <p14:creationId xmlns:p14="http://schemas.microsoft.com/office/powerpoint/2010/main" val="17421385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BF30F-A182-4420-9B8F-930EF86D7883}"/>
              </a:ext>
            </a:extLst>
          </p:cNvPr>
          <p:cNvSpPr>
            <a:spLocks noGrp="1"/>
          </p:cNvSpPr>
          <p:nvPr>
            <p:ph type="title"/>
          </p:nvPr>
        </p:nvSpPr>
        <p:spPr/>
        <p:txBody>
          <a:bodyPr/>
          <a:lstStyle/>
          <a:p>
            <a:r>
              <a:rPr lang="en-US" altLang="en-US" sz="3200" dirty="0">
                <a:cs typeface="Times New Roman" panose="02020603050405020304" pitchFamily="18" charset="0"/>
              </a:rPr>
              <a:t>Case for Floating Exchange Rates </a:t>
            </a:r>
            <a:r>
              <a:rPr lang="en-US" altLang="en-US" sz="2000" b="0" dirty="0">
                <a:cs typeface="Times New Roman" panose="02020603050405020304" pitchFamily="18" charset="0"/>
              </a:rPr>
              <a:t>(4 of 6)</a:t>
            </a:r>
            <a:endParaRPr lang="en-IN" sz="2000" dirty="0">
              <a:cs typeface="Times New Roman" panose="02020603050405020304" pitchFamily="18" charset="0"/>
            </a:endParaRPr>
          </a:p>
        </p:txBody>
      </p:sp>
      <p:sp>
        <p:nvSpPr>
          <p:cNvPr id="4" name="Content Placeholder 3">
            <a:extLst>
              <a:ext uri="{FF2B5EF4-FFF2-40B4-BE49-F238E27FC236}">
                <a16:creationId xmlns:a16="http://schemas.microsoft.com/office/drawing/2014/main" id="{B18B2A73-6450-4766-833F-4DF6C726566F}"/>
              </a:ext>
            </a:extLst>
          </p:cNvPr>
          <p:cNvSpPr>
            <a:spLocks noGrp="1"/>
          </p:cNvSpPr>
          <p:nvPr>
            <p:ph sz="quarter" idx="13"/>
          </p:nvPr>
        </p:nvSpPr>
        <p:spPr>
          <a:xfrm>
            <a:off x="457200" y="1556326"/>
            <a:ext cx="8229600" cy="4543532"/>
          </a:xfrm>
        </p:spPr>
        <p:txBody>
          <a:bodyPr/>
          <a:lstStyle/>
          <a:p>
            <a:pPr lvl="1" eaLnBrk="1" hangingPunct="1"/>
            <a:r>
              <a:rPr lang="en-US" altLang="en-US" dirty="0">
                <a:latin typeface="Arial (Body)"/>
              </a:rPr>
              <a:t>In the long run, a real depreciation of domestic products occurs as prices fall (due to low aggregate demand, output, and employment) under fixed exchange rates.</a:t>
            </a:r>
          </a:p>
          <a:p>
            <a:pPr lvl="1" eaLnBrk="1" hangingPunct="1"/>
            <a:r>
              <a:rPr lang="en-US" altLang="en-US" dirty="0">
                <a:latin typeface="Arial (Body)"/>
              </a:rPr>
              <a:t>In the short run and long run, a real depreciation of domestic products occurs through a nominal depreciation under flexible exchange rates.</a:t>
            </a:r>
          </a:p>
          <a:p>
            <a:pPr eaLnBrk="1" hangingPunct="1"/>
            <a:r>
              <a:rPr lang="en-US" altLang="en-US" dirty="0">
                <a:latin typeface="Arial (Body)"/>
              </a:rPr>
              <a:t>Fixed exchange rates cannot survive for long in a world with divergent macroeconomic policies and other changes that affect national aggregate demand and national income differently.</a:t>
            </a:r>
          </a:p>
        </p:txBody>
      </p:sp>
    </p:spTree>
    <p:extLst>
      <p:ext uri="{BB962C8B-B14F-4D97-AF65-F5344CB8AC3E}">
        <p14:creationId xmlns:p14="http://schemas.microsoft.com/office/powerpoint/2010/main" val="32511725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BF30F-A182-4420-9B8F-930EF86D7883}"/>
              </a:ext>
            </a:extLst>
          </p:cNvPr>
          <p:cNvSpPr>
            <a:spLocks noGrp="1"/>
          </p:cNvSpPr>
          <p:nvPr>
            <p:ph type="title"/>
          </p:nvPr>
        </p:nvSpPr>
        <p:spPr/>
        <p:txBody>
          <a:bodyPr/>
          <a:lstStyle/>
          <a:p>
            <a:r>
              <a:rPr lang="en-US" altLang="en-US" sz="3200" dirty="0">
                <a:cs typeface="Times New Roman" panose="02020603050405020304" pitchFamily="18" charset="0"/>
              </a:rPr>
              <a:t>Case for Floating Exchange Rates </a:t>
            </a:r>
            <a:r>
              <a:rPr lang="en-US" altLang="en-US" sz="2000" b="0" dirty="0">
                <a:cs typeface="Times New Roman" panose="02020603050405020304" pitchFamily="18" charset="0"/>
              </a:rPr>
              <a:t>(5 of 6)</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C1970D45-1822-4024-B201-A6609C97F28A}"/>
              </a:ext>
            </a:extLst>
          </p:cNvPr>
          <p:cNvSpPr>
            <a:spLocks noGrp="1"/>
          </p:cNvSpPr>
          <p:nvPr>
            <p:ph sz="quarter" idx="13"/>
          </p:nvPr>
        </p:nvSpPr>
        <p:spPr>
          <a:xfrm>
            <a:off x="457200" y="1556327"/>
            <a:ext cx="8077200" cy="882073"/>
          </a:xfrm>
        </p:spPr>
        <p:txBody>
          <a:bodyPr/>
          <a:lstStyle/>
          <a:p>
            <a:pPr marL="432000" indent="-432000">
              <a:buFont typeface="+mj-lt"/>
              <a:buAutoNum type="arabicPeriod" startAt="3"/>
            </a:pPr>
            <a:r>
              <a:rPr lang="en-US" altLang="en-US" dirty="0">
                <a:latin typeface="Arial (Body)"/>
              </a:rPr>
              <a:t>Flexible exchange rates may also prevent speculation in some cases.</a:t>
            </a:r>
          </a:p>
        </p:txBody>
      </p:sp>
      <p:sp>
        <p:nvSpPr>
          <p:cNvPr id="5" name="Content Placeholder 4">
            <a:extLst>
              <a:ext uri="{FF2B5EF4-FFF2-40B4-BE49-F238E27FC236}">
                <a16:creationId xmlns:a16="http://schemas.microsoft.com/office/drawing/2014/main" id="{0D33F384-8B82-4507-90BE-4C5FBF8CFED4}"/>
              </a:ext>
            </a:extLst>
          </p:cNvPr>
          <p:cNvSpPr>
            <a:spLocks noGrp="1"/>
          </p:cNvSpPr>
          <p:nvPr>
            <p:ph sz="quarter" idx="14"/>
          </p:nvPr>
        </p:nvSpPr>
        <p:spPr>
          <a:xfrm>
            <a:off x="457200" y="2534904"/>
            <a:ext cx="8229600" cy="1294556"/>
          </a:xfrm>
        </p:spPr>
        <p:txBody>
          <a:bodyPr/>
          <a:lstStyle/>
          <a:p>
            <a:pPr lvl="1"/>
            <a:r>
              <a:rPr lang="en-US" altLang="en-US" sz="2400" dirty="0">
                <a:latin typeface="Arial (Body)"/>
              </a:rPr>
              <a:t>Fixed exchange rates are unsustainable if markets believe that the central bank does not have enough official international reserves.</a:t>
            </a:r>
            <a:endParaRPr lang="en-IN" dirty="0"/>
          </a:p>
        </p:txBody>
      </p:sp>
    </p:spTree>
    <p:extLst>
      <p:ext uri="{BB962C8B-B14F-4D97-AF65-F5344CB8AC3E}">
        <p14:creationId xmlns:p14="http://schemas.microsoft.com/office/powerpoint/2010/main" val="23403596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BF30F-A182-4420-9B8F-930EF86D7883}"/>
              </a:ext>
            </a:extLst>
          </p:cNvPr>
          <p:cNvSpPr>
            <a:spLocks noGrp="1"/>
          </p:cNvSpPr>
          <p:nvPr>
            <p:ph type="title"/>
          </p:nvPr>
        </p:nvSpPr>
        <p:spPr/>
        <p:txBody>
          <a:bodyPr/>
          <a:lstStyle/>
          <a:p>
            <a:r>
              <a:rPr lang="en-US" altLang="en-US" sz="3200" dirty="0">
                <a:cs typeface="Times New Roman" panose="02020603050405020304" pitchFamily="18" charset="0"/>
              </a:rPr>
              <a:t>Case for Floating Exchange Rates </a:t>
            </a:r>
            <a:r>
              <a:rPr lang="en-US" altLang="en-US" sz="2000" b="0" dirty="0">
                <a:cs typeface="Times New Roman" panose="02020603050405020304" pitchFamily="18" charset="0"/>
              </a:rPr>
              <a:t>(6 of 6)</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C1970D45-1822-4024-B201-A6609C97F28A}"/>
              </a:ext>
            </a:extLst>
          </p:cNvPr>
          <p:cNvSpPr>
            <a:spLocks noGrp="1"/>
          </p:cNvSpPr>
          <p:nvPr>
            <p:ph sz="quarter" idx="13"/>
          </p:nvPr>
        </p:nvSpPr>
        <p:spPr>
          <a:xfrm>
            <a:off x="457200" y="1556327"/>
            <a:ext cx="8229600" cy="521855"/>
          </a:xfrm>
        </p:spPr>
        <p:txBody>
          <a:bodyPr/>
          <a:lstStyle/>
          <a:p>
            <a:pPr marL="432000" indent="-432000" eaLnBrk="1" hangingPunct="1">
              <a:spcBef>
                <a:spcPts val="600"/>
              </a:spcBef>
              <a:buFont typeface="Times" pitchFamily="-1" charset="0"/>
              <a:buAutoNum type="arabicPeriod" startAt="4"/>
            </a:pPr>
            <a:r>
              <a:rPr lang="en-US" altLang="en-US" dirty="0">
                <a:latin typeface="Arial (Body)"/>
              </a:rPr>
              <a:t>Symmetry (not possible under Bretton Woods)</a:t>
            </a:r>
          </a:p>
        </p:txBody>
      </p:sp>
      <p:sp>
        <p:nvSpPr>
          <p:cNvPr id="5" name="Content Placeholder 4">
            <a:extLst>
              <a:ext uri="{FF2B5EF4-FFF2-40B4-BE49-F238E27FC236}">
                <a16:creationId xmlns:a16="http://schemas.microsoft.com/office/drawing/2014/main" id="{0D33F384-8B82-4507-90BE-4C5FBF8CFED4}"/>
              </a:ext>
            </a:extLst>
          </p:cNvPr>
          <p:cNvSpPr>
            <a:spLocks noGrp="1"/>
          </p:cNvSpPr>
          <p:nvPr>
            <p:ph sz="quarter" idx="14"/>
          </p:nvPr>
        </p:nvSpPr>
        <p:spPr>
          <a:xfrm>
            <a:off x="457200" y="2143473"/>
            <a:ext cx="8229600" cy="2162660"/>
          </a:xfrm>
        </p:spPr>
        <p:txBody>
          <a:bodyPr/>
          <a:lstStyle/>
          <a:p>
            <a:pPr marL="740664" lvl="1" indent="-283464"/>
            <a:r>
              <a:rPr lang="en-US" altLang="en-US" sz="2400" dirty="0">
                <a:latin typeface="Arial (Body)"/>
              </a:rPr>
              <a:t>The United States is now allowed to adjust its exchange rate, like other countries.</a:t>
            </a:r>
          </a:p>
          <a:p>
            <a:pPr marL="740664" lvl="1" indent="-283464"/>
            <a:r>
              <a:rPr lang="en-US" altLang="en-US" sz="2400" dirty="0">
                <a:latin typeface="Arial (Body)"/>
              </a:rPr>
              <a:t>Other countries are allowed to adjust their money supplies for macroeconomic goals, like the United States could.</a:t>
            </a:r>
            <a:endParaRPr lang="en-IN" dirty="0"/>
          </a:p>
        </p:txBody>
      </p:sp>
    </p:spTree>
    <p:extLst>
      <p:ext uri="{BB962C8B-B14F-4D97-AF65-F5344CB8AC3E}">
        <p14:creationId xmlns:p14="http://schemas.microsoft.com/office/powerpoint/2010/main" val="14130011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192AA-FB42-4513-ACFC-F32588D91A34}"/>
              </a:ext>
            </a:extLst>
          </p:cNvPr>
          <p:cNvSpPr>
            <a:spLocks noGrp="1"/>
          </p:cNvSpPr>
          <p:nvPr>
            <p:ph type="title"/>
          </p:nvPr>
        </p:nvSpPr>
        <p:spPr/>
        <p:txBody>
          <a:bodyPr/>
          <a:lstStyle/>
          <a:p>
            <a:r>
              <a:rPr lang="en-US" altLang="en-US" dirty="0">
                <a:cs typeface="Times New Roman" panose="02020603050405020304" pitchFamily="18" charset="0"/>
              </a:rPr>
              <a:t>Since 1973 </a:t>
            </a:r>
            <a:r>
              <a:rPr lang="en-US" altLang="en-US" sz="2000" b="0" dirty="0">
                <a:cs typeface="Times New Roman" panose="02020603050405020304" pitchFamily="18" charset="0"/>
              </a:rPr>
              <a:t>(1 of 6)</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E1B60DAF-3554-41DD-9E02-FD3819415A09}"/>
              </a:ext>
            </a:extLst>
          </p:cNvPr>
          <p:cNvSpPr>
            <a:spLocks noGrp="1"/>
          </p:cNvSpPr>
          <p:nvPr>
            <p:ph sz="quarter" idx="13"/>
          </p:nvPr>
        </p:nvSpPr>
        <p:spPr/>
        <p:txBody>
          <a:bodyPr/>
          <a:lstStyle/>
          <a:p>
            <a:pPr eaLnBrk="1" hangingPunct="1"/>
            <a:r>
              <a:rPr lang="en-US" altLang="en-US" dirty="0">
                <a:latin typeface="Arial (Body)"/>
              </a:rPr>
              <a:t>In 1975, I</a:t>
            </a:r>
            <a:r>
              <a:rPr lang="en-US" altLang="en-US" sz="100" dirty="0">
                <a:latin typeface="Arial (Body)"/>
              </a:rPr>
              <a:t> </a:t>
            </a:r>
            <a:r>
              <a:rPr lang="en-US" altLang="en-US" dirty="0">
                <a:latin typeface="Arial (Body)"/>
              </a:rPr>
              <a:t>M</a:t>
            </a:r>
            <a:r>
              <a:rPr lang="en-US" altLang="en-US" sz="100" dirty="0">
                <a:latin typeface="Arial (Body)"/>
              </a:rPr>
              <a:t> </a:t>
            </a:r>
            <a:r>
              <a:rPr lang="en-US" altLang="en-US" dirty="0">
                <a:latin typeface="Arial (Body)"/>
              </a:rPr>
              <a:t>F members met in Rambouillet, France to allow flexible exchange rates, but to prevent “</a:t>
            </a:r>
            <a:r>
              <a:rPr lang="en-US" altLang="ja-JP" dirty="0">
                <a:latin typeface="Arial (Body)"/>
              </a:rPr>
              <a:t>erratic fluctuations.”</a:t>
            </a:r>
          </a:p>
          <a:p>
            <a:pPr eaLnBrk="1" hangingPunct="1"/>
            <a:r>
              <a:rPr lang="en-US" altLang="en-US" dirty="0">
                <a:latin typeface="Arial (Body)"/>
              </a:rPr>
              <a:t>In 1976 in Kingston, Jamaica, they amended the articles of agreement for I</a:t>
            </a:r>
            <a:r>
              <a:rPr lang="en-US" altLang="en-US" sz="100" dirty="0">
                <a:latin typeface="Arial (Body)"/>
              </a:rPr>
              <a:t> </a:t>
            </a:r>
            <a:r>
              <a:rPr lang="en-US" altLang="en-US" dirty="0">
                <a:latin typeface="Arial (Body)"/>
              </a:rPr>
              <a:t>M</a:t>
            </a:r>
            <a:r>
              <a:rPr lang="en-US" altLang="en-US" sz="100" dirty="0">
                <a:latin typeface="Arial (Body)"/>
              </a:rPr>
              <a:t> </a:t>
            </a:r>
            <a:r>
              <a:rPr lang="en-US" altLang="en-US" dirty="0">
                <a:latin typeface="Arial (Body)"/>
              </a:rPr>
              <a:t>F membership to formally endorse flexible rates, </a:t>
            </a:r>
          </a:p>
          <a:p>
            <a:pPr lvl="1" eaLnBrk="1" hangingPunct="1"/>
            <a:r>
              <a:rPr lang="en-US" altLang="en-US" dirty="0">
                <a:latin typeface="Arial (Body)"/>
              </a:rPr>
              <a:t>but prevented members from “</a:t>
            </a:r>
            <a:r>
              <a:rPr lang="en-US" altLang="ja-JP" dirty="0">
                <a:latin typeface="Arial (Body)"/>
              </a:rPr>
              <a:t>manipulating exchange rates … to gain an unfair competitive advantage”: no expenditure-switching policies were allowed.</a:t>
            </a:r>
          </a:p>
          <a:p>
            <a:pPr lvl="1" eaLnBrk="1" hangingPunct="1"/>
            <a:r>
              <a:rPr lang="en-US" altLang="en-US" dirty="0">
                <a:latin typeface="Arial (Body)"/>
              </a:rPr>
              <a:t>The articles allowed “</a:t>
            </a:r>
            <a:r>
              <a:rPr lang="en-US" altLang="ja-JP" dirty="0">
                <a:latin typeface="Arial (Body)"/>
              </a:rPr>
              <a:t>surveillance” of members by other members to be sure they were acting fairly.</a:t>
            </a:r>
            <a:endParaRPr lang="en-US" altLang="en-US" dirty="0">
              <a:latin typeface="Arial (Body)"/>
            </a:endParaRPr>
          </a:p>
        </p:txBody>
      </p:sp>
    </p:spTree>
    <p:extLst>
      <p:ext uri="{BB962C8B-B14F-4D97-AF65-F5344CB8AC3E}">
        <p14:creationId xmlns:p14="http://schemas.microsoft.com/office/powerpoint/2010/main" val="9954576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192AA-FB42-4513-ACFC-F32588D91A34}"/>
              </a:ext>
            </a:extLst>
          </p:cNvPr>
          <p:cNvSpPr>
            <a:spLocks noGrp="1"/>
          </p:cNvSpPr>
          <p:nvPr>
            <p:ph type="title"/>
          </p:nvPr>
        </p:nvSpPr>
        <p:spPr/>
        <p:txBody>
          <a:bodyPr/>
          <a:lstStyle/>
          <a:p>
            <a:r>
              <a:rPr lang="en-US" altLang="en-US" dirty="0">
                <a:cs typeface="Times New Roman" panose="02020603050405020304" pitchFamily="18" charset="0"/>
              </a:rPr>
              <a:t>Since 1973 </a:t>
            </a:r>
            <a:r>
              <a:rPr lang="en-US" altLang="en-US" sz="2000" b="0" dirty="0">
                <a:cs typeface="Times New Roman" panose="02020603050405020304" pitchFamily="18" charset="0"/>
              </a:rPr>
              <a:t>(2 of 6)</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E1B60DAF-3554-41DD-9E02-FD3819415A09}"/>
              </a:ext>
            </a:extLst>
          </p:cNvPr>
          <p:cNvSpPr>
            <a:spLocks noGrp="1"/>
          </p:cNvSpPr>
          <p:nvPr>
            <p:ph sz="quarter" idx="13"/>
          </p:nvPr>
        </p:nvSpPr>
        <p:spPr>
          <a:xfrm>
            <a:off x="457200" y="1556327"/>
            <a:ext cx="8229600" cy="3061972"/>
          </a:xfrm>
        </p:spPr>
        <p:txBody>
          <a:bodyPr/>
          <a:lstStyle/>
          <a:p>
            <a:r>
              <a:rPr lang="en-US" altLang="en-US" dirty="0">
                <a:latin typeface="Arial (Body)"/>
              </a:rPr>
              <a:t>Due to contractionary monetary policy and expansive fiscal policy in the United States , the dollar appreciated by about 50% relative to 15 currencies from 1980 to 1985.</a:t>
            </a:r>
          </a:p>
          <a:p>
            <a:pPr lvl="1" eaLnBrk="1" hangingPunct="1"/>
            <a:r>
              <a:rPr lang="en-US" altLang="en-US" dirty="0">
                <a:latin typeface="Arial (Body)"/>
              </a:rPr>
              <a:t>This contributed to a growing current account deficit by making imports cheaper and U.S. goods more expensive.</a:t>
            </a:r>
          </a:p>
        </p:txBody>
      </p:sp>
    </p:spTree>
    <p:extLst>
      <p:ext uri="{BB962C8B-B14F-4D97-AF65-F5344CB8AC3E}">
        <p14:creationId xmlns:p14="http://schemas.microsoft.com/office/powerpoint/2010/main" val="24584163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D2C1E029-A0D8-4F73-8B96-8D0E7D2D01AA}"/>
              </a:ext>
            </a:extLst>
          </p:cNvPr>
          <p:cNvSpPr>
            <a:spLocks noGrp="1"/>
          </p:cNvSpPr>
          <p:nvPr>
            <p:ph type="title"/>
          </p:nvPr>
        </p:nvSpPr>
        <p:spPr/>
        <p:txBody>
          <a:bodyPr/>
          <a:lstStyle/>
          <a:p>
            <a:r>
              <a:rPr lang="en-US" altLang="en-US" sz="3200" dirty="0"/>
              <a:t>Table 19.2 Macroeconomic Data for Key Industrial Regions, 1963–2019 </a:t>
            </a:r>
            <a:r>
              <a:rPr lang="en-US" altLang="en-US" sz="2000" b="0" dirty="0"/>
              <a:t>(1 of 2)</a:t>
            </a:r>
            <a:endParaRPr lang="en-IN" sz="2000" b="0" dirty="0"/>
          </a:p>
        </p:txBody>
      </p:sp>
      <p:sp>
        <p:nvSpPr>
          <p:cNvPr id="11" name="Content Placeholder 10">
            <a:extLst>
              <a:ext uri="{FF2B5EF4-FFF2-40B4-BE49-F238E27FC236}">
                <a16:creationId xmlns:a16="http://schemas.microsoft.com/office/drawing/2014/main" id="{7C5A7F82-FEA0-4D73-909B-7C493FF19BAE}"/>
              </a:ext>
            </a:extLst>
          </p:cNvPr>
          <p:cNvSpPr>
            <a:spLocks noGrp="1"/>
          </p:cNvSpPr>
          <p:nvPr>
            <p:ph sz="quarter" idx="13"/>
          </p:nvPr>
        </p:nvSpPr>
        <p:spPr>
          <a:xfrm>
            <a:off x="457201" y="1552575"/>
            <a:ext cx="2499360" cy="352425"/>
          </a:xfrm>
        </p:spPr>
        <p:txBody>
          <a:bodyPr/>
          <a:lstStyle/>
          <a:p>
            <a:pPr marL="432" indent="0">
              <a:buNone/>
            </a:pPr>
            <a:r>
              <a:rPr lang="en-US" sz="1400" b="1" dirty="0">
                <a:latin typeface="Arial (Body)"/>
              </a:rPr>
              <a:t>Inflation (percent per year)</a:t>
            </a:r>
            <a:endParaRPr lang="en-IN" sz="1400" dirty="0">
              <a:latin typeface="Arial (Body)"/>
            </a:endParaRPr>
          </a:p>
        </p:txBody>
      </p:sp>
      <p:graphicFrame>
        <p:nvGraphicFramePr>
          <p:cNvPr id="4" name="Table 4">
            <a:extLst>
              <a:ext uri="{FF2B5EF4-FFF2-40B4-BE49-F238E27FC236}">
                <a16:creationId xmlns:a16="http://schemas.microsoft.com/office/drawing/2014/main" id="{0546DB5E-9067-417B-8A87-1AC4F64F238D}"/>
              </a:ext>
            </a:extLst>
          </p:cNvPr>
          <p:cNvGraphicFramePr>
            <a:graphicFrameLocks noGrp="1"/>
          </p:cNvGraphicFramePr>
          <p:nvPr>
            <p:ph sz="quarter" idx="14"/>
            <p:extLst>
              <p:ext uri="{D42A27DB-BD31-4B8C-83A1-F6EECF244321}">
                <p14:modId xmlns:p14="http://schemas.microsoft.com/office/powerpoint/2010/main" val="3632890203"/>
              </p:ext>
            </p:extLst>
          </p:nvPr>
        </p:nvGraphicFramePr>
        <p:xfrm>
          <a:off x="457200" y="2025650"/>
          <a:ext cx="8229600" cy="1483360"/>
        </p:xfrm>
        <a:graphic>
          <a:graphicData uri="http://schemas.openxmlformats.org/drawingml/2006/table">
            <a:tbl>
              <a:tblPr firstRow="1" bandRow="1">
                <a:tableStyleId>{40F9630F-82C1-40B7-BC3A-925EFCFF5E92}</a:tableStyleId>
              </a:tblPr>
              <a:tblGrid>
                <a:gridCol w="1168400">
                  <a:extLst>
                    <a:ext uri="{9D8B030D-6E8A-4147-A177-3AD203B41FA5}">
                      <a16:colId xmlns:a16="http://schemas.microsoft.com/office/drawing/2014/main" val="450938796"/>
                    </a:ext>
                  </a:extLst>
                </a:gridCol>
                <a:gridCol w="1003300">
                  <a:extLst>
                    <a:ext uri="{9D8B030D-6E8A-4147-A177-3AD203B41FA5}">
                      <a16:colId xmlns:a16="http://schemas.microsoft.com/office/drawing/2014/main" val="2520302263"/>
                    </a:ext>
                  </a:extLst>
                </a:gridCol>
                <a:gridCol w="990600">
                  <a:extLst>
                    <a:ext uri="{9D8B030D-6E8A-4147-A177-3AD203B41FA5}">
                      <a16:colId xmlns:a16="http://schemas.microsoft.com/office/drawing/2014/main" val="1189986881"/>
                    </a:ext>
                  </a:extLst>
                </a:gridCol>
                <a:gridCol w="952500">
                  <a:extLst>
                    <a:ext uri="{9D8B030D-6E8A-4147-A177-3AD203B41FA5}">
                      <a16:colId xmlns:a16="http://schemas.microsoft.com/office/drawing/2014/main" val="2938048454"/>
                    </a:ext>
                  </a:extLst>
                </a:gridCol>
                <a:gridCol w="1028700">
                  <a:extLst>
                    <a:ext uri="{9D8B030D-6E8A-4147-A177-3AD203B41FA5}">
                      <a16:colId xmlns:a16="http://schemas.microsoft.com/office/drawing/2014/main" val="1331054329"/>
                    </a:ext>
                  </a:extLst>
                </a:gridCol>
                <a:gridCol w="1028700">
                  <a:extLst>
                    <a:ext uri="{9D8B030D-6E8A-4147-A177-3AD203B41FA5}">
                      <a16:colId xmlns:a16="http://schemas.microsoft.com/office/drawing/2014/main" val="1402083076"/>
                    </a:ext>
                  </a:extLst>
                </a:gridCol>
                <a:gridCol w="1028700">
                  <a:extLst>
                    <a:ext uri="{9D8B030D-6E8A-4147-A177-3AD203B41FA5}">
                      <a16:colId xmlns:a16="http://schemas.microsoft.com/office/drawing/2014/main" val="1810114044"/>
                    </a:ext>
                  </a:extLst>
                </a:gridCol>
                <a:gridCol w="1028700">
                  <a:extLst>
                    <a:ext uri="{9D8B030D-6E8A-4147-A177-3AD203B41FA5}">
                      <a16:colId xmlns:a16="http://schemas.microsoft.com/office/drawing/2014/main" val="212178106"/>
                    </a:ext>
                  </a:extLst>
                </a:gridCol>
              </a:tblGrid>
              <a:tr h="370840">
                <a:tc>
                  <a:txBody>
                    <a:bodyPr/>
                    <a:lstStyle/>
                    <a:p>
                      <a:r>
                        <a:rPr lang="en-US" sz="1200" b="1" i="0" u="none" strike="noStrike" kern="1200" baseline="0" noProof="0" dirty="0">
                          <a:solidFill>
                            <a:schemeClr val="tx1"/>
                          </a:solidFill>
                          <a:latin typeface="+mn-lt"/>
                          <a:ea typeface="+mn-ea"/>
                          <a:cs typeface="+mn-cs"/>
                        </a:rPr>
                        <a:t>Period</a:t>
                      </a:r>
                      <a:endParaRPr lang="en-US" sz="1200" noProof="0" dirty="0">
                        <a:solidFill>
                          <a:schemeClr val="tx1"/>
                        </a:solidFill>
                        <a:latin typeface="+mn-lt"/>
                      </a:endParaRPr>
                    </a:p>
                  </a:txBody>
                  <a:tcP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u="none" strike="noStrike" kern="1200" baseline="0" noProof="0" dirty="0">
                          <a:solidFill>
                            <a:schemeClr val="tx1"/>
                          </a:solidFill>
                          <a:latin typeface="+mn-lt"/>
                          <a:ea typeface="+mn-ea"/>
                          <a:cs typeface="+mn-cs"/>
                        </a:rPr>
                        <a:t>1963–1972</a:t>
                      </a:r>
                      <a:endParaRPr lang="en-US" sz="1200" noProof="0" dirty="0">
                        <a:solidFill>
                          <a:schemeClr val="tx1"/>
                        </a:solidFill>
                        <a:latin typeface="+mn-lt"/>
                      </a:endParaRPr>
                    </a:p>
                  </a:txBody>
                  <a:tcPr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u="none" strike="noStrike" kern="1200" baseline="0" noProof="0" dirty="0">
                          <a:solidFill>
                            <a:schemeClr val="tx1"/>
                          </a:solidFill>
                          <a:latin typeface="+mn-lt"/>
                          <a:ea typeface="+mn-ea"/>
                          <a:cs typeface="+mn-cs"/>
                        </a:rPr>
                        <a:t>1973–1982</a:t>
                      </a:r>
                      <a:endParaRPr lang="en-US" sz="1200" noProof="0" dirty="0">
                        <a:solidFill>
                          <a:schemeClr val="tx1"/>
                        </a:solidFill>
                        <a:latin typeface="+mn-lt"/>
                      </a:endParaRPr>
                    </a:p>
                  </a:txBody>
                  <a:tcPr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u="none" strike="noStrike" kern="1200" baseline="0" noProof="0" dirty="0">
                          <a:solidFill>
                            <a:schemeClr val="tx1"/>
                          </a:solidFill>
                          <a:latin typeface="+mn-lt"/>
                          <a:ea typeface="+mn-ea"/>
                          <a:cs typeface="+mn-cs"/>
                        </a:rPr>
                        <a:t>1983–1992</a:t>
                      </a:r>
                      <a:endParaRPr lang="en-US" sz="1200" noProof="0" dirty="0">
                        <a:solidFill>
                          <a:schemeClr val="tx1"/>
                        </a:solidFill>
                        <a:latin typeface="+mn-lt"/>
                      </a:endParaRPr>
                    </a:p>
                  </a:txBody>
                  <a:tcPr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u="none" strike="noStrike" kern="1200" baseline="0" noProof="0" dirty="0">
                          <a:solidFill>
                            <a:schemeClr val="tx1"/>
                          </a:solidFill>
                          <a:latin typeface="+mn-lt"/>
                          <a:ea typeface="+mn-ea"/>
                          <a:cs typeface="+mn-cs"/>
                        </a:rPr>
                        <a:t>1993–2006</a:t>
                      </a:r>
                      <a:endParaRPr lang="en-US" sz="1200" noProof="0" dirty="0">
                        <a:solidFill>
                          <a:schemeClr val="tx1"/>
                        </a:solidFill>
                        <a:latin typeface="+mn-lt"/>
                      </a:endParaRPr>
                    </a:p>
                  </a:txBody>
                  <a:tcPr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u="none" strike="noStrike" kern="1200" baseline="0" noProof="0" dirty="0">
                          <a:solidFill>
                            <a:schemeClr val="tx1"/>
                          </a:solidFill>
                          <a:latin typeface="+mn-lt"/>
                          <a:ea typeface="+mn-ea"/>
                          <a:cs typeface="+mn-cs"/>
                        </a:rPr>
                        <a:t>2007–2009</a:t>
                      </a:r>
                      <a:endParaRPr lang="en-US" sz="1200" noProof="0" dirty="0">
                        <a:solidFill>
                          <a:schemeClr val="tx1"/>
                        </a:solidFill>
                        <a:latin typeface="+mn-lt"/>
                      </a:endParaRPr>
                    </a:p>
                  </a:txBody>
                  <a:tcPr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u="none" strike="noStrike" kern="1200" baseline="0" noProof="0" dirty="0">
                          <a:solidFill>
                            <a:schemeClr val="tx1"/>
                          </a:solidFill>
                          <a:latin typeface="+mn-lt"/>
                          <a:ea typeface="+mn-ea"/>
                          <a:cs typeface="+mn-cs"/>
                        </a:rPr>
                        <a:t>2010–2015</a:t>
                      </a:r>
                      <a:endParaRPr lang="en-US" sz="1200" noProof="0" dirty="0">
                        <a:solidFill>
                          <a:schemeClr val="tx1"/>
                        </a:solidFill>
                        <a:latin typeface="+mn-lt"/>
                      </a:endParaRPr>
                    </a:p>
                  </a:txBody>
                  <a:tcPr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b="1" i="0" u="none" strike="noStrike" cap="none" baseline="0" noProof="0" dirty="0">
                          <a:solidFill>
                            <a:schemeClr val="tx1"/>
                          </a:solidFill>
                          <a:latin typeface="+mn-lt"/>
                          <a:ea typeface="Arial"/>
                          <a:cs typeface="Arial"/>
                          <a:sym typeface="Arial"/>
                        </a:rPr>
                        <a:t>2016–2019</a:t>
                      </a:r>
                      <a:endParaRPr lang="en-US" sz="1200" noProof="0" dirty="0">
                        <a:solidFill>
                          <a:schemeClr val="tx1"/>
                        </a:solidFill>
                        <a:latin typeface="+mn-lt"/>
                      </a:endParaRPr>
                    </a:p>
                  </a:txBody>
                  <a:tcPr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1711127"/>
                  </a:ext>
                </a:extLst>
              </a:tr>
              <a:tr h="370840">
                <a:tc>
                  <a:txBody>
                    <a:bodyPr/>
                    <a:lstStyle/>
                    <a:p>
                      <a:r>
                        <a:rPr lang="en-US" sz="1200" b="0" i="0" u="none" strike="noStrike" kern="1200" baseline="0" noProof="0" dirty="0">
                          <a:solidFill>
                            <a:schemeClr val="tx1"/>
                          </a:solidFill>
                          <a:latin typeface="+mn-lt"/>
                          <a:ea typeface="+mn-ea"/>
                          <a:cs typeface="+mn-cs"/>
                        </a:rPr>
                        <a:t>United States</a:t>
                      </a:r>
                      <a:endParaRPr lang="en-US" sz="1200" noProof="0" dirty="0">
                        <a:solidFill>
                          <a:schemeClr val="tx1"/>
                        </a:solidFill>
                        <a:latin typeface="+mn-lt"/>
                      </a:endParaRPr>
                    </a:p>
                  </a:txBody>
                  <a:tcP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noProof="0" dirty="0">
                          <a:solidFill>
                            <a:schemeClr val="tx1"/>
                          </a:solidFill>
                          <a:latin typeface="+mn-lt"/>
                        </a:rPr>
                        <a:t>3.3</a:t>
                      </a:r>
                    </a:p>
                  </a:txBody>
                  <a:tcPr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noProof="0" dirty="0">
                          <a:solidFill>
                            <a:schemeClr val="tx1"/>
                          </a:solidFill>
                          <a:latin typeface="+mn-lt"/>
                        </a:rPr>
                        <a:t>8.8</a:t>
                      </a:r>
                    </a:p>
                  </a:txBody>
                  <a:tcPr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noProof="0" dirty="0">
                          <a:solidFill>
                            <a:schemeClr val="tx1"/>
                          </a:solidFill>
                          <a:latin typeface="+mn-lt"/>
                        </a:rPr>
                        <a:t>3.8</a:t>
                      </a:r>
                    </a:p>
                  </a:txBody>
                  <a:tcPr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noProof="0" dirty="0">
                          <a:solidFill>
                            <a:schemeClr val="tx1"/>
                          </a:solidFill>
                          <a:latin typeface="+mn-lt"/>
                        </a:rPr>
                        <a:t>2.6</a:t>
                      </a:r>
                    </a:p>
                  </a:txBody>
                  <a:tcPr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noProof="0" dirty="0">
                          <a:solidFill>
                            <a:schemeClr val="tx1"/>
                          </a:solidFill>
                          <a:latin typeface="+mn-lt"/>
                        </a:rPr>
                        <a:t>2.1</a:t>
                      </a:r>
                    </a:p>
                  </a:txBody>
                  <a:tcPr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noProof="0" dirty="0">
                          <a:solidFill>
                            <a:schemeClr val="tx1"/>
                          </a:solidFill>
                          <a:latin typeface="+mn-lt"/>
                        </a:rPr>
                        <a:t>1.7</a:t>
                      </a:r>
                    </a:p>
                  </a:txBody>
                  <a:tcPr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noProof="0" dirty="0">
                          <a:solidFill>
                            <a:schemeClr val="tx1"/>
                          </a:solidFill>
                          <a:latin typeface="+mn-lt"/>
                        </a:rPr>
                        <a:t>1.9</a:t>
                      </a:r>
                    </a:p>
                  </a:txBody>
                  <a:tcP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4149016"/>
                  </a:ext>
                </a:extLst>
              </a:tr>
              <a:tr h="370840">
                <a:tc>
                  <a:txBody>
                    <a:bodyPr/>
                    <a:lstStyle/>
                    <a:p>
                      <a:r>
                        <a:rPr lang="en-US" sz="1200" b="0" i="0" u="none" strike="noStrike" kern="1200" baseline="0" noProof="0" dirty="0">
                          <a:solidFill>
                            <a:schemeClr val="tx1"/>
                          </a:solidFill>
                          <a:latin typeface="+mn-lt"/>
                          <a:ea typeface="+mn-ea"/>
                          <a:cs typeface="+mn-cs"/>
                        </a:rPr>
                        <a:t>Europe</a:t>
                      </a:r>
                      <a:endParaRPr lang="en-US" sz="1200" noProof="0" dirty="0">
                        <a:solidFill>
                          <a:schemeClr val="tx1"/>
                        </a:solidFill>
                        <a:latin typeface="+mn-lt"/>
                      </a:endParaRPr>
                    </a:p>
                  </a:txBody>
                  <a:tcP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noProof="0" dirty="0">
                          <a:solidFill>
                            <a:schemeClr val="tx1"/>
                          </a:solidFill>
                          <a:latin typeface="+mn-lt"/>
                        </a:rPr>
                        <a:t>3.9</a:t>
                      </a:r>
                    </a:p>
                  </a:txBody>
                  <a:tcPr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noProof="0" dirty="0">
                          <a:solidFill>
                            <a:schemeClr val="tx1"/>
                          </a:solidFill>
                          <a:latin typeface="+mn-lt"/>
                        </a:rPr>
                        <a:t>10.1</a:t>
                      </a:r>
                    </a:p>
                  </a:txBody>
                  <a:tcPr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noProof="0" dirty="0">
                          <a:solidFill>
                            <a:schemeClr val="tx1"/>
                          </a:solidFill>
                          <a:latin typeface="+mn-lt"/>
                        </a:rPr>
                        <a:t>5.8</a:t>
                      </a:r>
                    </a:p>
                  </a:txBody>
                  <a:tcPr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noProof="0" dirty="0">
                          <a:solidFill>
                            <a:schemeClr val="tx1"/>
                          </a:solidFill>
                          <a:latin typeface="+mn-lt"/>
                        </a:rPr>
                        <a:t>3.1</a:t>
                      </a:r>
                    </a:p>
                  </a:txBody>
                  <a:tcPr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noProof="0" dirty="0">
                          <a:solidFill>
                            <a:schemeClr val="tx1"/>
                          </a:solidFill>
                          <a:latin typeface="+mn-lt"/>
                        </a:rPr>
                        <a:t>2.5</a:t>
                      </a:r>
                    </a:p>
                  </a:txBody>
                  <a:tcPr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noProof="0" dirty="0">
                          <a:solidFill>
                            <a:schemeClr val="tx1"/>
                          </a:solidFill>
                          <a:latin typeface="+mn-lt"/>
                        </a:rPr>
                        <a:t>1.5</a:t>
                      </a:r>
                    </a:p>
                  </a:txBody>
                  <a:tcPr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noProof="0" dirty="0">
                          <a:solidFill>
                            <a:schemeClr val="tx1"/>
                          </a:solidFill>
                          <a:latin typeface="+mn-lt"/>
                        </a:rPr>
                        <a:t>1.2</a:t>
                      </a:r>
                    </a:p>
                  </a:txBody>
                  <a:tcP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014624"/>
                  </a:ext>
                </a:extLst>
              </a:tr>
              <a:tr h="370840">
                <a:tc>
                  <a:txBody>
                    <a:bodyPr/>
                    <a:lstStyle/>
                    <a:p>
                      <a:r>
                        <a:rPr lang="en-US" sz="1200" b="0" i="0" u="none" strike="noStrike" kern="1200" baseline="0" noProof="0" dirty="0">
                          <a:solidFill>
                            <a:schemeClr val="tx1"/>
                          </a:solidFill>
                          <a:latin typeface="+mn-lt"/>
                          <a:ea typeface="+mn-ea"/>
                          <a:cs typeface="+mn-cs"/>
                        </a:rPr>
                        <a:t>Japan</a:t>
                      </a:r>
                      <a:endParaRPr lang="en-US" sz="1200" noProof="0" dirty="0">
                        <a:solidFill>
                          <a:schemeClr val="tx1"/>
                        </a:solidFill>
                        <a:latin typeface="+mn-lt"/>
                      </a:endParaRPr>
                    </a:p>
                  </a:txBody>
                  <a:tcP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noProof="0" dirty="0">
                          <a:solidFill>
                            <a:schemeClr val="tx1"/>
                          </a:solidFill>
                          <a:latin typeface="+mn-lt"/>
                        </a:rPr>
                        <a:t>5.5</a:t>
                      </a:r>
                    </a:p>
                  </a:txBody>
                  <a:tcPr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noProof="0" dirty="0">
                          <a:solidFill>
                            <a:schemeClr val="tx1"/>
                          </a:solidFill>
                          <a:latin typeface="+mn-lt"/>
                        </a:rPr>
                        <a:t>8.7</a:t>
                      </a:r>
                    </a:p>
                  </a:txBody>
                  <a:tcPr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noProof="0" dirty="0">
                          <a:solidFill>
                            <a:schemeClr val="tx1"/>
                          </a:solidFill>
                          <a:latin typeface="+mn-lt"/>
                        </a:rPr>
                        <a:t>1.8</a:t>
                      </a:r>
                    </a:p>
                  </a:txBody>
                  <a:tcPr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noProof="0" dirty="0">
                          <a:solidFill>
                            <a:schemeClr val="tx1"/>
                          </a:solidFill>
                          <a:latin typeface="+mn-lt"/>
                        </a:rPr>
                        <a:t>0.1</a:t>
                      </a:r>
                    </a:p>
                  </a:txBody>
                  <a:tcPr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noProof="0" dirty="0">
                          <a:solidFill>
                            <a:schemeClr val="tx1"/>
                          </a:solidFill>
                          <a:latin typeface="+mn-lt"/>
                        </a:rPr>
                        <a:t>0.0</a:t>
                      </a:r>
                    </a:p>
                  </a:txBody>
                  <a:tcPr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noProof="0" dirty="0">
                          <a:solidFill>
                            <a:schemeClr val="tx1"/>
                          </a:solidFill>
                          <a:latin typeface="+mn-lt"/>
                        </a:rPr>
                        <a:t>0.5</a:t>
                      </a:r>
                    </a:p>
                  </a:txBody>
                  <a:tcPr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noProof="0" dirty="0">
                          <a:solidFill>
                            <a:schemeClr val="tx1"/>
                          </a:solidFill>
                          <a:latin typeface="+mn-lt"/>
                        </a:rPr>
                        <a:t>0.5</a:t>
                      </a:r>
                    </a:p>
                  </a:txBody>
                  <a:tcP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2181573"/>
                  </a:ext>
                </a:extLst>
              </a:tr>
            </a:tbl>
          </a:graphicData>
        </a:graphic>
      </p:graphicFrame>
      <p:sp>
        <p:nvSpPr>
          <p:cNvPr id="13" name="Content Placeholder 12">
            <a:extLst>
              <a:ext uri="{FF2B5EF4-FFF2-40B4-BE49-F238E27FC236}">
                <a16:creationId xmlns:a16="http://schemas.microsoft.com/office/drawing/2014/main" id="{6DD06E09-1E65-43DC-BA78-6D66E21DAFED}"/>
              </a:ext>
            </a:extLst>
          </p:cNvPr>
          <p:cNvSpPr>
            <a:spLocks noGrp="1"/>
          </p:cNvSpPr>
          <p:nvPr>
            <p:ph sz="quarter" idx="15"/>
          </p:nvPr>
        </p:nvSpPr>
        <p:spPr>
          <a:xfrm>
            <a:off x="457200" y="3779271"/>
            <a:ext cx="4011769" cy="345308"/>
          </a:xfrm>
        </p:spPr>
        <p:txBody>
          <a:bodyPr/>
          <a:lstStyle/>
          <a:p>
            <a:pPr marL="432" indent="0">
              <a:buNone/>
            </a:pPr>
            <a:r>
              <a:rPr lang="en-US" sz="1400" b="1" dirty="0">
                <a:latin typeface="Arial (Body)"/>
              </a:rPr>
              <a:t>Unemployment (percent of labor force)</a:t>
            </a:r>
            <a:endParaRPr lang="en-IN" sz="1400" dirty="0"/>
          </a:p>
        </p:txBody>
      </p:sp>
      <p:graphicFrame>
        <p:nvGraphicFramePr>
          <p:cNvPr id="7" name="Table 7">
            <a:extLst>
              <a:ext uri="{FF2B5EF4-FFF2-40B4-BE49-F238E27FC236}">
                <a16:creationId xmlns:a16="http://schemas.microsoft.com/office/drawing/2014/main" id="{F35E9201-6229-4053-85C3-531A6691E5B6}"/>
              </a:ext>
            </a:extLst>
          </p:cNvPr>
          <p:cNvGraphicFramePr>
            <a:graphicFrameLocks noGrp="1"/>
          </p:cNvGraphicFramePr>
          <p:nvPr>
            <p:ph sz="quarter" idx="16"/>
            <p:extLst>
              <p:ext uri="{D42A27DB-BD31-4B8C-83A1-F6EECF244321}">
                <p14:modId xmlns:p14="http://schemas.microsoft.com/office/powerpoint/2010/main" val="4082077112"/>
              </p:ext>
            </p:extLst>
          </p:nvPr>
        </p:nvGraphicFramePr>
        <p:xfrm>
          <a:off x="457200" y="4380230"/>
          <a:ext cx="8229600" cy="1569720"/>
        </p:xfrm>
        <a:graphic>
          <a:graphicData uri="http://schemas.openxmlformats.org/drawingml/2006/table">
            <a:tbl>
              <a:tblPr firstRow="1" bandRow="1">
                <a:tableStyleId>{40F9630F-82C1-40B7-BC3A-925EFCFF5E92}</a:tableStyleId>
              </a:tblPr>
              <a:tblGrid>
                <a:gridCol w="1028700">
                  <a:extLst>
                    <a:ext uri="{9D8B030D-6E8A-4147-A177-3AD203B41FA5}">
                      <a16:colId xmlns:a16="http://schemas.microsoft.com/office/drawing/2014/main" val="53811984"/>
                    </a:ext>
                  </a:extLst>
                </a:gridCol>
                <a:gridCol w="1028700">
                  <a:extLst>
                    <a:ext uri="{9D8B030D-6E8A-4147-A177-3AD203B41FA5}">
                      <a16:colId xmlns:a16="http://schemas.microsoft.com/office/drawing/2014/main" val="4179276829"/>
                    </a:ext>
                  </a:extLst>
                </a:gridCol>
                <a:gridCol w="1028700">
                  <a:extLst>
                    <a:ext uri="{9D8B030D-6E8A-4147-A177-3AD203B41FA5}">
                      <a16:colId xmlns:a16="http://schemas.microsoft.com/office/drawing/2014/main" val="445373328"/>
                    </a:ext>
                  </a:extLst>
                </a:gridCol>
                <a:gridCol w="1028700">
                  <a:extLst>
                    <a:ext uri="{9D8B030D-6E8A-4147-A177-3AD203B41FA5}">
                      <a16:colId xmlns:a16="http://schemas.microsoft.com/office/drawing/2014/main" val="2728116229"/>
                    </a:ext>
                  </a:extLst>
                </a:gridCol>
                <a:gridCol w="1028700">
                  <a:extLst>
                    <a:ext uri="{9D8B030D-6E8A-4147-A177-3AD203B41FA5}">
                      <a16:colId xmlns:a16="http://schemas.microsoft.com/office/drawing/2014/main" val="2986173287"/>
                    </a:ext>
                  </a:extLst>
                </a:gridCol>
                <a:gridCol w="1028700">
                  <a:extLst>
                    <a:ext uri="{9D8B030D-6E8A-4147-A177-3AD203B41FA5}">
                      <a16:colId xmlns:a16="http://schemas.microsoft.com/office/drawing/2014/main" val="3486342915"/>
                    </a:ext>
                  </a:extLst>
                </a:gridCol>
                <a:gridCol w="1028700">
                  <a:extLst>
                    <a:ext uri="{9D8B030D-6E8A-4147-A177-3AD203B41FA5}">
                      <a16:colId xmlns:a16="http://schemas.microsoft.com/office/drawing/2014/main" val="125778588"/>
                    </a:ext>
                  </a:extLst>
                </a:gridCol>
                <a:gridCol w="1028700">
                  <a:extLst>
                    <a:ext uri="{9D8B030D-6E8A-4147-A177-3AD203B41FA5}">
                      <a16:colId xmlns:a16="http://schemas.microsoft.com/office/drawing/2014/main" val="1146696353"/>
                    </a:ext>
                  </a:extLst>
                </a:gridCol>
              </a:tblGrid>
              <a:tr h="370840">
                <a:tc>
                  <a:txBody>
                    <a:bodyPr/>
                    <a:lstStyle/>
                    <a:p>
                      <a:r>
                        <a:rPr lang="en-US" sz="1200" b="1" i="0" u="none" strike="noStrike" kern="1200" baseline="0" noProof="0" dirty="0">
                          <a:solidFill>
                            <a:schemeClr val="tx1"/>
                          </a:solidFill>
                          <a:latin typeface="+mn-lt"/>
                          <a:ea typeface="+mn-ea"/>
                          <a:cs typeface="+mn-cs"/>
                        </a:rPr>
                        <a:t>Period</a:t>
                      </a:r>
                      <a:endParaRPr lang="en-US" sz="1200" noProof="0" dirty="0">
                        <a:solidFill>
                          <a:schemeClr val="tx1"/>
                        </a:solidFill>
                        <a:latin typeface="+mn-lt"/>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0" u="none" strike="noStrike" kern="1200" baseline="0" noProof="0" dirty="0">
                          <a:solidFill>
                            <a:schemeClr val="tx1"/>
                          </a:solidFill>
                          <a:latin typeface="+mn-lt"/>
                          <a:ea typeface="+mn-ea"/>
                          <a:cs typeface="+mn-cs"/>
                        </a:rPr>
                        <a:t>1963–1972</a:t>
                      </a:r>
                      <a:endParaRPr lang="en-US" sz="1200" noProof="0" dirty="0">
                        <a:solidFill>
                          <a:schemeClr val="tx1"/>
                        </a:solidFill>
                        <a:latin typeface="+mn-lt"/>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0" u="none" strike="noStrike" kern="1200" baseline="0" noProof="0" dirty="0">
                          <a:solidFill>
                            <a:schemeClr val="tx1"/>
                          </a:solidFill>
                          <a:latin typeface="+mn-lt"/>
                          <a:ea typeface="+mn-ea"/>
                          <a:cs typeface="+mn-cs"/>
                        </a:rPr>
                        <a:t>1973–1982</a:t>
                      </a:r>
                      <a:endParaRPr lang="en-US" sz="1200" noProof="0" dirty="0">
                        <a:solidFill>
                          <a:schemeClr val="tx1"/>
                        </a:solidFill>
                        <a:latin typeface="+mn-lt"/>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0" u="none" strike="noStrike" kern="1200" baseline="0" noProof="0" dirty="0">
                          <a:solidFill>
                            <a:schemeClr val="tx1"/>
                          </a:solidFill>
                          <a:latin typeface="+mn-lt"/>
                          <a:ea typeface="+mn-ea"/>
                          <a:cs typeface="+mn-cs"/>
                        </a:rPr>
                        <a:t>1983–1992</a:t>
                      </a:r>
                      <a:endParaRPr lang="en-US" sz="1200" noProof="0" dirty="0">
                        <a:solidFill>
                          <a:schemeClr val="tx1"/>
                        </a:solidFill>
                        <a:latin typeface="+mn-lt"/>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0" u="none" strike="noStrike" kern="1200" baseline="0" noProof="0" dirty="0">
                          <a:solidFill>
                            <a:schemeClr val="tx1"/>
                          </a:solidFill>
                          <a:latin typeface="+mn-lt"/>
                          <a:ea typeface="+mn-ea"/>
                          <a:cs typeface="+mn-cs"/>
                        </a:rPr>
                        <a:t>1993–2006</a:t>
                      </a:r>
                      <a:endParaRPr lang="en-US" sz="1200" noProof="0" dirty="0">
                        <a:solidFill>
                          <a:schemeClr val="tx1"/>
                        </a:solidFill>
                        <a:latin typeface="+mn-lt"/>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0" u="none" strike="noStrike" kern="1200" baseline="0" noProof="0" dirty="0">
                          <a:solidFill>
                            <a:schemeClr val="tx1"/>
                          </a:solidFill>
                          <a:latin typeface="+mn-lt"/>
                          <a:ea typeface="+mn-ea"/>
                          <a:cs typeface="+mn-cs"/>
                        </a:rPr>
                        <a:t>2007–2009</a:t>
                      </a:r>
                      <a:endParaRPr lang="en-US" sz="1200" noProof="0" dirty="0">
                        <a:solidFill>
                          <a:schemeClr val="tx1"/>
                        </a:solidFill>
                        <a:latin typeface="+mn-lt"/>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0" u="none" strike="noStrike" kern="1200" baseline="0" noProof="0" dirty="0">
                          <a:solidFill>
                            <a:schemeClr val="tx1"/>
                          </a:solidFill>
                          <a:latin typeface="+mn-lt"/>
                          <a:ea typeface="+mn-ea"/>
                          <a:cs typeface="+mn-cs"/>
                        </a:rPr>
                        <a:t>2010–2015</a:t>
                      </a:r>
                      <a:endParaRPr lang="en-US" sz="1200" noProof="0" dirty="0">
                        <a:solidFill>
                          <a:schemeClr val="tx1"/>
                        </a:solidFill>
                        <a:latin typeface="+mn-lt"/>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1" i="0" u="none" strike="noStrike" cap="none" baseline="0" noProof="0" dirty="0">
                          <a:solidFill>
                            <a:schemeClr val="tx1"/>
                          </a:solidFill>
                          <a:latin typeface="+mn-lt"/>
                          <a:ea typeface="Arial"/>
                          <a:cs typeface="Arial"/>
                          <a:sym typeface="Arial"/>
                        </a:rPr>
                        <a:t>2016–2019</a:t>
                      </a:r>
                      <a:endParaRPr lang="en-US" sz="1200" noProof="0" dirty="0">
                        <a:solidFill>
                          <a:schemeClr val="tx1"/>
                        </a:solidFill>
                        <a:latin typeface="+mn-lt"/>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4901727"/>
                  </a:ext>
                </a:extLst>
              </a:tr>
              <a:tr h="370840">
                <a:tc>
                  <a:txBody>
                    <a:bodyPr/>
                    <a:lstStyle/>
                    <a:p>
                      <a:r>
                        <a:rPr lang="en-US" sz="1200" b="0" i="0" u="none" strike="noStrike" kern="1200" baseline="0" noProof="0" dirty="0">
                          <a:solidFill>
                            <a:schemeClr val="tx1"/>
                          </a:solidFill>
                          <a:latin typeface="+mn-lt"/>
                          <a:ea typeface="+mn-ea"/>
                          <a:cs typeface="+mn-cs"/>
                        </a:rPr>
                        <a:t>United States</a:t>
                      </a:r>
                      <a:endParaRPr lang="en-US" sz="1200" noProof="0" dirty="0">
                        <a:solidFill>
                          <a:schemeClr val="tx1"/>
                        </a:solidFill>
                        <a:latin typeface="+mn-lt"/>
                      </a:endParaRPr>
                    </a:p>
                  </a:txBody>
                  <a:tcPr>
                    <a:lnT w="12700" cap="flat" cmpd="sng" algn="ctr">
                      <a:solidFill>
                        <a:schemeClr val="tx1"/>
                      </a:solidFill>
                      <a:prstDash val="solid"/>
                      <a:round/>
                      <a:headEnd type="none" w="med" len="med"/>
                      <a:tailEnd type="none" w="med" len="med"/>
                    </a:lnT>
                    <a:noFill/>
                  </a:tcPr>
                </a:tc>
                <a:tc>
                  <a:txBody>
                    <a:bodyPr/>
                    <a:lstStyle/>
                    <a:p>
                      <a:pPr algn="ctr"/>
                      <a:r>
                        <a:rPr lang="en-US" sz="1200" noProof="0" dirty="0">
                          <a:solidFill>
                            <a:schemeClr val="tx1"/>
                          </a:solidFill>
                          <a:latin typeface="+mn-lt"/>
                        </a:rPr>
                        <a:t>4.7</a:t>
                      </a:r>
                    </a:p>
                  </a:txBody>
                  <a:tcPr anchor="ctr">
                    <a:lnT w="12700" cap="flat" cmpd="sng" algn="ctr">
                      <a:solidFill>
                        <a:schemeClr val="tx1"/>
                      </a:solidFill>
                      <a:prstDash val="solid"/>
                      <a:round/>
                      <a:headEnd type="none" w="med" len="med"/>
                      <a:tailEnd type="none" w="med" len="med"/>
                    </a:lnT>
                    <a:noFill/>
                  </a:tcPr>
                </a:tc>
                <a:tc>
                  <a:txBody>
                    <a:bodyPr/>
                    <a:lstStyle/>
                    <a:p>
                      <a:pPr algn="ctr"/>
                      <a:r>
                        <a:rPr lang="en-US" sz="1200" noProof="0" dirty="0">
                          <a:solidFill>
                            <a:schemeClr val="tx1"/>
                          </a:solidFill>
                          <a:latin typeface="+mn-lt"/>
                        </a:rPr>
                        <a:t>7.0</a:t>
                      </a:r>
                    </a:p>
                  </a:txBody>
                  <a:tcPr anchor="ctr">
                    <a:lnT w="12700" cap="flat" cmpd="sng" algn="ctr">
                      <a:solidFill>
                        <a:schemeClr val="tx1"/>
                      </a:solidFill>
                      <a:prstDash val="solid"/>
                      <a:round/>
                      <a:headEnd type="none" w="med" len="med"/>
                      <a:tailEnd type="none" w="med" len="med"/>
                    </a:lnT>
                    <a:noFill/>
                  </a:tcPr>
                </a:tc>
                <a:tc>
                  <a:txBody>
                    <a:bodyPr/>
                    <a:lstStyle/>
                    <a:p>
                      <a:pPr algn="ctr"/>
                      <a:r>
                        <a:rPr lang="en-US" sz="1200" noProof="0" dirty="0">
                          <a:solidFill>
                            <a:schemeClr val="tx1"/>
                          </a:solidFill>
                          <a:latin typeface="+mn-lt"/>
                        </a:rPr>
                        <a:t>6.8</a:t>
                      </a:r>
                    </a:p>
                  </a:txBody>
                  <a:tcPr anchor="ctr">
                    <a:lnT w="12700" cap="flat" cmpd="sng" algn="ctr">
                      <a:solidFill>
                        <a:schemeClr val="tx1"/>
                      </a:solidFill>
                      <a:prstDash val="solid"/>
                      <a:round/>
                      <a:headEnd type="none" w="med" len="med"/>
                      <a:tailEnd type="none" w="med" len="med"/>
                    </a:lnT>
                    <a:noFill/>
                  </a:tcPr>
                </a:tc>
                <a:tc>
                  <a:txBody>
                    <a:bodyPr/>
                    <a:lstStyle/>
                    <a:p>
                      <a:pPr algn="ctr"/>
                      <a:r>
                        <a:rPr lang="en-US" sz="1200" noProof="0" dirty="0">
                          <a:solidFill>
                            <a:schemeClr val="tx1"/>
                          </a:solidFill>
                          <a:latin typeface="+mn-lt"/>
                        </a:rPr>
                        <a:t>5.3</a:t>
                      </a:r>
                    </a:p>
                  </a:txBody>
                  <a:tcPr anchor="ctr">
                    <a:lnT w="12700" cap="flat" cmpd="sng" algn="ctr">
                      <a:solidFill>
                        <a:schemeClr val="tx1"/>
                      </a:solidFill>
                      <a:prstDash val="solid"/>
                      <a:round/>
                      <a:headEnd type="none" w="med" len="med"/>
                      <a:tailEnd type="none" w="med" len="med"/>
                    </a:lnT>
                    <a:noFill/>
                  </a:tcPr>
                </a:tc>
                <a:tc>
                  <a:txBody>
                    <a:bodyPr/>
                    <a:lstStyle/>
                    <a:p>
                      <a:pPr algn="ctr"/>
                      <a:r>
                        <a:rPr lang="en-US" sz="1200" noProof="0" dirty="0">
                          <a:solidFill>
                            <a:schemeClr val="tx1"/>
                          </a:solidFill>
                          <a:latin typeface="+mn-lt"/>
                        </a:rPr>
                        <a:t>6.6</a:t>
                      </a:r>
                    </a:p>
                  </a:txBody>
                  <a:tcPr anchor="ctr">
                    <a:lnT w="12700" cap="flat" cmpd="sng" algn="ctr">
                      <a:solidFill>
                        <a:schemeClr val="tx1"/>
                      </a:solidFill>
                      <a:prstDash val="solid"/>
                      <a:round/>
                      <a:headEnd type="none" w="med" len="med"/>
                      <a:tailEnd type="none" w="med" len="med"/>
                    </a:lnT>
                    <a:noFill/>
                  </a:tcPr>
                </a:tc>
                <a:tc>
                  <a:txBody>
                    <a:bodyPr/>
                    <a:lstStyle/>
                    <a:p>
                      <a:pPr algn="ctr"/>
                      <a:r>
                        <a:rPr lang="en-US" sz="1200" noProof="0" dirty="0">
                          <a:solidFill>
                            <a:schemeClr val="tx1"/>
                          </a:solidFill>
                          <a:latin typeface="+mn-lt"/>
                        </a:rPr>
                        <a:t>7.6</a:t>
                      </a:r>
                    </a:p>
                  </a:txBody>
                  <a:tcPr anchor="ctr">
                    <a:lnT w="12700" cap="flat" cmpd="sng" algn="ctr">
                      <a:solidFill>
                        <a:schemeClr val="tx1"/>
                      </a:solidFill>
                      <a:prstDash val="solid"/>
                      <a:round/>
                      <a:headEnd type="none" w="med" len="med"/>
                      <a:tailEnd type="none" w="med" len="med"/>
                    </a:lnT>
                    <a:noFill/>
                  </a:tcPr>
                </a:tc>
                <a:tc>
                  <a:txBody>
                    <a:bodyPr/>
                    <a:lstStyle/>
                    <a:p>
                      <a:r>
                        <a:rPr lang="en-US" sz="1200" noProof="0" dirty="0">
                          <a:solidFill>
                            <a:schemeClr val="tx1"/>
                          </a:solidFill>
                          <a:latin typeface="+mn-lt"/>
                        </a:rPr>
                        <a:t>4.2</a:t>
                      </a: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35815991"/>
                  </a:ext>
                </a:extLst>
              </a:tr>
              <a:tr h="370840">
                <a:tc>
                  <a:txBody>
                    <a:bodyPr/>
                    <a:lstStyle/>
                    <a:p>
                      <a:r>
                        <a:rPr lang="en-US" sz="1200" b="0" i="0" u="none" strike="noStrike" kern="1200" baseline="0" noProof="0" dirty="0">
                          <a:solidFill>
                            <a:schemeClr val="tx1"/>
                          </a:solidFill>
                          <a:latin typeface="+mn-lt"/>
                          <a:ea typeface="+mn-ea"/>
                          <a:cs typeface="+mn-cs"/>
                        </a:rPr>
                        <a:t>Europe</a:t>
                      </a:r>
                      <a:endParaRPr lang="en-US" sz="1200" noProof="0" dirty="0">
                        <a:solidFill>
                          <a:schemeClr val="tx1"/>
                        </a:solidFill>
                        <a:latin typeface="+mn-lt"/>
                      </a:endParaRPr>
                    </a:p>
                  </a:txBody>
                  <a:tcPr>
                    <a:noFill/>
                  </a:tcPr>
                </a:tc>
                <a:tc>
                  <a:txBody>
                    <a:bodyPr/>
                    <a:lstStyle/>
                    <a:p>
                      <a:pPr algn="ctr"/>
                      <a:r>
                        <a:rPr lang="en-US" sz="1200" noProof="0" dirty="0">
                          <a:solidFill>
                            <a:schemeClr val="tx1"/>
                          </a:solidFill>
                          <a:latin typeface="+mn-lt"/>
                        </a:rPr>
                        <a:t>1.9</a:t>
                      </a:r>
                    </a:p>
                  </a:txBody>
                  <a:tcPr anchor="ctr">
                    <a:noFill/>
                  </a:tcPr>
                </a:tc>
                <a:tc>
                  <a:txBody>
                    <a:bodyPr/>
                    <a:lstStyle/>
                    <a:p>
                      <a:pPr algn="ctr"/>
                      <a:r>
                        <a:rPr lang="en-US" sz="1200" noProof="0" dirty="0">
                          <a:solidFill>
                            <a:schemeClr val="tx1"/>
                          </a:solidFill>
                          <a:latin typeface="+mn-lt"/>
                        </a:rPr>
                        <a:t>5.5</a:t>
                      </a:r>
                    </a:p>
                  </a:txBody>
                  <a:tcPr anchor="ctr">
                    <a:noFill/>
                  </a:tcPr>
                </a:tc>
                <a:tc>
                  <a:txBody>
                    <a:bodyPr/>
                    <a:lstStyle/>
                    <a:p>
                      <a:pPr algn="ctr"/>
                      <a:r>
                        <a:rPr lang="en-US" sz="1200" noProof="0" dirty="0">
                          <a:solidFill>
                            <a:schemeClr val="tx1"/>
                          </a:solidFill>
                          <a:latin typeface="+mn-lt"/>
                        </a:rPr>
                        <a:t>9.4</a:t>
                      </a:r>
                    </a:p>
                  </a:txBody>
                  <a:tcPr anchor="ctr">
                    <a:noFill/>
                  </a:tcPr>
                </a:tc>
                <a:tc>
                  <a:txBody>
                    <a:bodyPr/>
                    <a:lstStyle/>
                    <a:p>
                      <a:pPr algn="ctr"/>
                      <a:r>
                        <a:rPr lang="en-US" sz="1200" noProof="0" dirty="0">
                          <a:solidFill>
                            <a:schemeClr val="tx1"/>
                          </a:solidFill>
                          <a:latin typeface="+mn-lt"/>
                        </a:rPr>
                        <a:t>10.2</a:t>
                      </a:r>
                    </a:p>
                  </a:txBody>
                  <a:tcPr anchor="ctr">
                    <a:noFill/>
                  </a:tcPr>
                </a:tc>
                <a:tc>
                  <a:txBody>
                    <a:bodyPr/>
                    <a:lstStyle/>
                    <a:p>
                      <a:pPr algn="ctr"/>
                      <a:r>
                        <a:rPr lang="en-US" sz="1200" noProof="0" dirty="0">
                          <a:solidFill>
                            <a:schemeClr val="tx1"/>
                          </a:solidFill>
                          <a:latin typeface="+mn-lt"/>
                        </a:rPr>
                        <a:t>7.9</a:t>
                      </a:r>
                    </a:p>
                  </a:txBody>
                  <a:tcPr anchor="ctr">
                    <a:noFill/>
                  </a:tcPr>
                </a:tc>
                <a:tc>
                  <a:txBody>
                    <a:bodyPr/>
                    <a:lstStyle/>
                    <a:p>
                      <a:pPr algn="ctr"/>
                      <a:r>
                        <a:rPr lang="en-US" sz="1200" noProof="0" dirty="0">
                          <a:solidFill>
                            <a:schemeClr val="tx1"/>
                          </a:solidFill>
                          <a:latin typeface="+mn-lt"/>
                        </a:rPr>
                        <a:t>10.4</a:t>
                      </a:r>
                    </a:p>
                  </a:txBody>
                  <a:tcPr anchor="ctr">
                    <a:noFill/>
                  </a:tcPr>
                </a:tc>
                <a:tc>
                  <a:txBody>
                    <a:bodyPr/>
                    <a:lstStyle/>
                    <a:p>
                      <a:r>
                        <a:rPr lang="en-US" sz="1200" noProof="0" dirty="0">
                          <a:solidFill>
                            <a:schemeClr val="tx1"/>
                          </a:solidFill>
                          <a:latin typeface="+mn-lt"/>
                        </a:rPr>
                        <a:t>7.8</a:t>
                      </a:r>
                    </a:p>
                  </a:txBody>
                  <a:tcPr>
                    <a:noFill/>
                  </a:tcPr>
                </a:tc>
                <a:extLst>
                  <a:ext uri="{0D108BD9-81ED-4DB2-BD59-A6C34878D82A}">
                    <a16:rowId xmlns:a16="http://schemas.microsoft.com/office/drawing/2014/main" val="3636235911"/>
                  </a:ext>
                </a:extLst>
              </a:tr>
              <a:tr h="370840">
                <a:tc>
                  <a:txBody>
                    <a:bodyPr/>
                    <a:lstStyle/>
                    <a:p>
                      <a:r>
                        <a:rPr lang="en-US" sz="1200" b="0" i="0" u="none" strike="noStrike" kern="1200" baseline="0" noProof="0" dirty="0">
                          <a:solidFill>
                            <a:schemeClr val="tx1"/>
                          </a:solidFill>
                          <a:latin typeface="+mn-lt"/>
                          <a:ea typeface="+mn-ea"/>
                          <a:cs typeface="+mn-cs"/>
                        </a:rPr>
                        <a:t>Japan</a:t>
                      </a:r>
                      <a:endParaRPr lang="en-US" sz="1200" noProof="0" dirty="0">
                        <a:solidFill>
                          <a:schemeClr val="tx1"/>
                        </a:solidFill>
                        <a:latin typeface="+mn-lt"/>
                      </a:endParaRPr>
                    </a:p>
                  </a:txBody>
                  <a:tcPr>
                    <a:lnB w="12700" cap="flat" cmpd="sng" algn="ctr">
                      <a:solidFill>
                        <a:schemeClr val="tx1"/>
                      </a:solidFill>
                      <a:prstDash val="solid"/>
                      <a:round/>
                      <a:headEnd type="none" w="med" len="med"/>
                      <a:tailEnd type="none" w="med" len="med"/>
                    </a:lnB>
                    <a:noFill/>
                  </a:tcPr>
                </a:tc>
                <a:tc>
                  <a:txBody>
                    <a:bodyPr/>
                    <a:lstStyle/>
                    <a:p>
                      <a:pPr algn="ctr"/>
                      <a:r>
                        <a:rPr lang="en-US" sz="1200" noProof="0" dirty="0">
                          <a:solidFill>
                            <a:schemeClr val="tx1"/>
                          </a:solidFill>
                          <a:latin typeface="+mn-lt"/>
                        </a:rPr>
                        <a:t>1.2</a:t>
                      </a:r>
                    </a:p>
                  </a:txBody>
                  <a:tcPr anchor="ctr">
                    <a:lnB w="12700" cap="flat" cmpd="sng" algn="ctr">
                      <a:solidFill>
                        <a:schemeClr val="tx1"/>
                      </a:solidFill>
                      <a:prstDash val="solid"/>
                      <a:round/>
                      <a:headEnd type="none" w="med" len="med"/>
                      <a:tailEnd type="none" w="med" len="med"/>
                    </a:lnB>
                    <a:noFill/>
                  </a:tcPr>
                </a:tc>
                <a:tc>
                  <a:txBody>
                    <a:bodyPr/>
                    <a:lstStyle/>
                    <a:p>
                      <a:pPr algn="ctr"/>
                      <a:r>
                        <a:rPr lang="en-US" sz="1200" noProof="0" dirty="0">
                          <a:solidFill>
                            <a:schemeClr val="tx1"/>
                          </a:solidFill>
                          <a:latin typeface="+mn-lt"/>
                        </a:rPr>
                        <a:t>1.9</a:t>
                      </a:r>
                    </a:p>
                  </a:txBody>
                  <a:tcPr anchor="ctr">
                    <a:lnB w="12700" cap="flat" cmpd="sng" algn="ctr">
                      <a:solidFill>
                        <a:schemeClr val="tx1"/>
                      </a:solidFill>
                      <a:prstDash val="solid"/>
                      <a:round/>
                      <a:headEnd type="none" w="med" len="med"/>
                      <a:tailEnd type="none" w="med" len="med"/>
                    </a:lnB>
                    <a:noFill/>
                  </a:tcPr>
                </a:tc>
                <a:tc>
                  <a:txBody>
                    <a:bodyPr/>
                    <a:lstStyle/>
                    <a:p>
                      <a:pPr algn="ctr"/>
                      <a:r>
                        <a:rPr lang="en-US" sz="1200" noProof="0" dirty="0">
                          <a:solidFill>
                            <a:schemeClr val="tx1"/>
                          </a:solidFill>
                          <a:latin typeface="+mn-lt"/>
                        </a:rPr>
                        <a:t>2.5</a:t>
                      </a:r>
                    </a:p>
                  </a:txBody>
                  <a:tcPr anchor="ctr">
                    <a:lnB w="12700" cap="flat" cmpd="sng" algn="ctr">
                      <a:solidFill>
                        <a:schemeClr val="tx1"/>
                      </a:solidFill>
                      <a:prstDash val="solid"/>
                      <a:round/>
                      <a:headEnd type="none" w="med" len="med"/>
                      <a:tailEnd type="none" w="med" len="med"/>
                    </a:lnB>
                    <a:noFill/>
                  </a:tcPr>
                </a:tc>
                <a:tc>
                  <a:txBody>
                    <a:bodyPr/>
                    <a:lstStyle/>
                    <a:p>
                      <a:pPr algn="ctr"/>
                      <a:r>
                        <a:rPr lang="en-US" sz="1200" noProof="0" dirty="0">
                          <a:solidFill>
                            <a:schemeClr val="tx1"/>
                          </a:solidFill>
                          <a:latin typeface="+mn-lt"/>
                        </a:rPr>
                        <a:t>4.1</a:t>
                      </a:r>
                    </a:p>
                  </a:txBody>
                  <a:tcPr anchor="ctr">
                    <a:lnB w="12700" cap="flat" cmpd="sng" algn="ctr">
                      <a:solidFill>
                        <a:schemeClr val="tx1"/>
                      </a:solidFill>
                      <a:prstDash val="solid"/>
                      <a:round/>
                      <a:headEnd type="none" w="med" len="med"/>
                      <a:tailEnd type="none" w="med" len="med"/>
                    </a:lnB>
                    <a:noFill/>
                  </a:tcPr>
                </a:tc>
                <a:tc>
                  <a:txBody>
                    <a:bodyPr/>
                    <a:lstStyle/>
                    <a:p>
                      <a:pPr algn="ctr"/>
                      <a:r>
                        <a:rPr lang="en-US" sz="1200" noProof="0" dirty="0">
                          <a:solidFill>
                            <a:schemeClr val="tx1"/>
                          </a:solidFill>
                          <a:latin typeface="+mn-lt"/>
                        </a:rPr>
                        <a:t>4.3</a:t>
                      </a:r>
                    </a:p>
                  </a:txBody>
                  <a:tcPr anchor="ctr">
                    <a:lnB w="12700" cap="flat" cmpd="sng" algn="ctr">
                      <a:solidFill>
                        <a:schemeClr val="tx1"/>
                      </a:solidFill>
                      <a:prstDash val="solid"/>
                      <a:round/>
                      <a:headEnd type="none" w="med" len="med"/>
                      <a:tailEnd type="none" w="med" len="med"/>
                    </a:lnB>
                    <a:noFill/>
                  </a:tcPr>
                </a:tc>
                <a:tc>
                  <a:txBody>
                    <a:bodyPr/>
                    <a:lstStyle/>
                    <a:p>
                      <a:pPr algn="ctr"/>
                      <a:r>
                        <a:rPr lang="en-US" sz="1200" noProof="0" dirty="0">
                          <a:solidFill>
                            <a:schemeClr val="tx1"/>
                          </a:solidFill>
                          <a:latin typeface="+mn-lt"/>
                        </a:rPr>
                        <a:t>4.2</a:t>
                      </a:r>
                    </a:p>
                  </a:txBody>
                  <a:tcPr anchor="ctr">
                    <a:lnB w="12700" cap="flat" cmpd="sng" algn="ctr">
                      <a:solidFill>
                        <a:schemeClr val="tx1"/>
                      </a:solidFill>
                      <a:prstDash val="solid"/>
                      <a:round/>
                      <a:headEnd type="none" w="med" len="med"/>
                      <a:tailEnd type="none" w="med" len="med"/>
                    </a:lnB>
                    <a:noFill/>
                  </a:tcPr>
                </a:tc>
                <a:tc>
                  <a:txBody>
                    <a:bodyPr/>
                    <a:lstStyle/>
                    <a:p>
                      <a:r>
                        <a:rPr lang="en-US" sz="1200" noProof="0" dirty="0">
                          <a:solidFill>
                            <a:schemeClr val="tx1"/>
                          </a:solidFill>
                          <a:latin typeface="+mn-lt"/>
                        </a:rPr>
                        <a:t>2.6</a:t>
                      </a: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860555"/>
                  </a:ext>
                </a:extLst>
              </a:tr>
            </a:tbl>
          </a:graphicData>
        </a:graphic>
      </p:graphicFrame>
    </p:spTree>
    <p:extLst>
      <p:ext uri="{BB962C8B-B14F-4D97-AF65-F5344CB8AC3E}">
        <p14:creationId xmlns:p14="http://schemas.microsoft.com/office/powerpoint/2010/main" val="6661322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D2C1E029-A0D8-4F73-8B96-8D0E7D2D01AA}"/>
              </a:ext>
            </a:extLst>
          </p:cNvPr>
          <p:cNvSpPr>
            <a:spLocks noGrp="1"/>
          </p:cNvSpPr>
          <p:nvPr>
            <p:ph type="title"/>
          </p:nvPr>
        </p:nvSpPr>
        <p:spPr/>
        <p:txBody>
          <a:bodyPr/>
          <a:lstStyle/>
          <a:p>
            <a:r>
              <a:rPr lang="en-US" altLang="en-US" sz="3200" dirty="0"/>
              <a:t>Table 19.2 Macroeconomic Data for Key Industrial Regions, 1963–2019 </a:t>
            </a:r>
            <a:r>
              <a:rPr lang="en-US" altLang="en-US" sz="2000" b="0" dirty="0"/>
              <a:t>(2 of 2)</a:t>
            </a:r>
            <a:endParaRPr lang="en-US" sz="2000" b="0" dirty="0"/>
          </a:p>
        </p:txBody>
      </p:sp>
      <p:sp>
        <p:nvSpPr>
          <p:cNvPr id="11" name="Content Placeholder 10">
            <a:extLst>
              <a:ext uri="{FF2B5EF4-FFF2-40B4-BE49-F238E27FC236}">
                <a16:creationId xmlns:a16="http://schemas.microsoft.com/office/drawing/2014/main" id="{7C5A7F82-FEA0-4D73-909B-7C493FF19BAE}"/>
              </a:ext>
            </a:extLst>
          </p:cNvPr>
          <p:cNvSpPr>
            <a:spLocks noGrp="1"/>
          </p:cNvSpPr>
          <p:nvPr>
            <p:ph sz="quarter" idx="13"/>
          </p:nvPr>
        </p:nvSpPr>
        <p:spPr>
          <a:xfrm>
            <a:off x="457200" y="1552575"/>
            <a:ext cx="4427315" cy="390525"/>
          </a:xfrm>
        </p:spPr>
        <p:txBody>
          <a:bodyPr/>
          <a:lstStyle/>
          <a:p>
            <a:pPr marL="0" indent="0">
              <a:buNone/>
            </a:pPr>
            <a:r>
              <a:rPr lang="en-US" sz="1400" b="1" dirty="0">
                <a:latin typeface="Arial (Body)"/>
              </a:rPr>
              <a:t>Per Capita Real GDP Growth (percent per year)</a:t>
            </a:r>
            <a:endParaRPr lang="en-US" sz="1400" dirty="0">
              <a:latin typeface="Arial (Body)"/>
            </a:endParaRPr>
          </a:p>
        </p:txBody>
      </p:sp>
      <p:graphicFrame>
        <p:nvGraphicFramePr>
          <p:cNvPr id="4" name="Table 4">
            <a:extLst>
              <a:ext uri="{FF2B5EF4-FFF2-40B4-BE49-F238E27FC236}">
                <a16:creationId xmlns:a16="http://schemas.microsoft.com/office/drawing/2014/main" id="{EE94BF7C-AAEE-4B69-B83B-E55AC86B9ED2}"/>
              </a:ext>
            </a:extLst>
          </p:cNvPr>
          <p:cNvGraphicFramePr>
            <a:graphicFrameLocks noGrp="1"/>
          </p:cNvGraphicFramePr>
          <p:nvPr>
            <p:ph sz="quarter" idx="14"/>
            <p:extLst>
              <p:ext uri="{D42A27DB-BD31-4B8C-83A1-F6EECF244321}">
                <p14:modId xmlns:p14="http://schemas.microsoft.com/office/powerpoint/2010/main" val="2192684323"/>
              </p:ext>
            </p:extLst>
          </p:nvPr>
        </p:nvGraphicFramePr>
        <p:xfrm>
          <a:off x="457200" y="2049900"/>
          <a:ext cx="8229600" cy="1569720"/>
        </p:xfrm>
        <a:graphic>
          <a:graphicData uri="http://schemas.openxmlformats.org/drawingml/2006/table">
            <a:tbl>
              <a:tblPr firstRow="1" bandRow="1">
                <a:tableStyleId>{40F9630F-82C1-40B7-BC3A-925EFCFF5E92}</a:tableStyleId>
              </a:tblPr>
              <a:tblGrid>
                <a:gridCol w="1028700">
                  <a:extLst>
                    <a:ext uri="{9D8B030D-6E8A-4147-A177-3AD203B41FA5}">
                      <a16:colId xmlns:a16="http://schemas.microsoft.com/office/drawing/2014/main" val="993085244"/>
                    </a:ext>
                  </a:extLst>
                </a:gridCol>
                <a:gridCol w="1028700">
                  <a:extLst>
                    <a:ext uri="{9D8B030D-6E8A-4147-A177-3AD203B41FA5}">
                      <a16:colId xmlns:a16="http://schemas.microsoft.com/office/drawing/2014/main" val="212661679"/>
                    </a:ext>
                  </a:extLst>
                </a:gridCol>
                <a:gridCol w="1028700">
                  <a:extLst>
                    <a:ext uri="{9D8B030D-6E8A-4147-A177-3AD203B41FA5}">
                      <a16:colId xmlns:a16="http://schemas.microsoft.com/office/drawing/2014/main" val="2227441240"/>
                    </a:ext>
                  </a:extLst>
                </a:gridCol>
                <a:gridCol w="1028700">
                  <a:extLst>
                    <a:ext uri="{9D8B030D-6E8A-4147-A177-3AD203B41FA5}">
                      <a16:colId xmlns:a16="http://schemas.microsoft.com/office/drawing/2014/main" val="243380062"/>
                    </a:ext>
                  </a:extLst>
                </a:gridCol>
                <a:gridCol w="1028700">
                  <a:extLst>
                    <a:ext uri="{9D8B030D-6E8A-4147-A177-3AD203B41FA5}">
                      <a16:colId xmlns:a16="http://schemas.microsoft.com/office/drawing/2014/main" val="1010317342"/>
                    </a:ext>
                  </a:extLst>
                </a:gridCol>
                <a:gridCol w="1028700">
                  <a:extLst>
                    <a:ext uri="{9D8B030D-6E8A-4147-A177-3AD203B41FA5}">
                      <a16:colId xmlns:a16="http://schemas.microsoft.com/office/drawing/2014/main" val="4139249029"/>
                    </a:ext>
                  </a:extLst>
                </a:gridCol>
                <a:gridCol w="1028700">
                  <a:extLst>
                    <a:ext uri="{9D8B030D-6E8A-4147-A177-3AD203B41FA5}">
                      <a16:colId xmlns:a16="http://schemas.microsoft.com/office/drawing/2014/main" val="449069430"/>
                    </a:ext>
                  </a:extLst>
                </a:gridCol>
                <a:gridCol w="1028700">
                  <a:extLst>
                    <a:ext uri="{9D8B030D-6E8A-4147-A177-3AD203B41FA5}">
                      <a16:colId xmlns:a16="http://schemas.microsoft.com/office/drawing/2014/main" val="2526293480"/>
                    </a:ext>
                  </a:extLst>
                </a:gridCol>
              </a:tblGrid>
              <a:tr h="370840">
                <a:tc>
                  <a:txBody>
                    <a:bodyPr/>
                    <a:lstStyle/>
                    <a:p>
                      <a:r>
                        <a:rPr lang="en-US" sz="1200" b="1" i="0" u="none" strike="noStrike" kern="1200" baseline="0" noProof="0" dirty="0">
                          <a:solidFill>
                            <a:schemeClr val="tx1"/>
                          </a:solidFill>
                          <a:latin typeface="+mn-lt"/>
                          <a:ea typeface="+mn-ea"/>
                          <a:cs typeface="+mn-cs"/>
                        </a:rPr>
                        <a:t>Period</a:t>
                      </a:r>
                      <a:endParaRPr lang="en-US" sz="1200" noProof="0" dirty="0">
                        <a:solidFill>
                          <a:schemeClr val="tx1"/>
                        </a:solidFill>
                        <a:latin typeface="+mn-lt"/>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0" u="none" strike="noStrike" kern="1200" baseline="0" noProof="0" dirty="0">
                          <a:solidFill>
                            <a:schemeClr val="tx1"/>
                          </a:solidFill>
                          <a:latin typeface="+mn-lt"/>
                          <a:ea typeface="+mn-ea"/>
                          <a:cs typeface="+mn-cs"/>
                        </a:rPr>
                        <a:t>1963–1972</a:t>
                      </a:r>
                      <a:endParaRPr lang="en-US" sz="1200" noProof="0" dirty="0">
                        <a:solidFill>
                          <a:schemeClr val="tx1"/>
                        </a:solidFill>
                        <a:latin typeface="+mn-lt"/>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0" u="none" strike="noStrike" kern="1200" baseline="0" noProof="0" dirty="0">
                          <a:solidFill>
                            <a:schemeClr val="tx1"/>
                          </a:solidFill>
                          <a:latin typeface="+mn-lt"/>
                          <a:ea typeface="+mn-ea"/>
                          <a:cs typeface="+mn-cs"/>
                        </a:rPr>
                        <a:t>1973–1982</a:t>
                      </a:r>
                      <a:endParaRPr lang="en-US" sz="1200" noProof="0" dirty="0">
                        <a:solidFill>
                          <a:schemeClr val="tx1"/>
                        </a:solidFill>
                        <a:latin typeface="+mn-lt"/>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0" u="none" strike="noStrike" kern="1200" baseline="0" noProof="0" dirty="0">
                          <a:solidFill>
                            <a:schemeClr val="tx1"/>
                          </a:solidFill>
                          <a:latin typeface="+mn-lt"/>
                          <a:ea typeface="+mn-ea"/>
                          <a:cs typeface="+mn-cs"/>
                        </a:rPr>
                        <a:t>1983–1992</a:t>
                      </a:r>
                      <a:endParaRPr lang="en-US" sz="1200" noProof="0" dirty="0">
                        <a:solidFill>
                          <a:schemeClr val="tx1"/>
                        </a:solidFill>
                        <a:latin typeface="+mn-lt"/>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0" u="none" strike="noStrike" kern="1200" baseline="0" noProof="0" dirty="0">
                          <a:solidFill>
                            <a:schemeClr val="tx1"/>
                          </a:solidFill>
                          <a:latin typeface="+mn-lt"/>
                          <a:ea typeface="+mn-ea"/>
                          <a:cs typeface="+mn-cs"/>
                        </a:rPr>
                        <a:t>1993–2006</a:t>
                      </a:r>
                      <a:endParaRPr lang="en-US" sz="1200" noProof="0" dirty="0">
                        <a:solidFill>
                          <a:schemeClr val="tx1"/>
                        </a:solidFill>
                        <a:latin typeface="+mn-lt"/>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0" u="none" strike="noStrike" kern="1200" baseline="0" noProof="0" dirty="0">
                          <a:solidFill>
                            <a:schemeClr val="tx1"/>
                          </a:solidFill>
                          <a:latin typeface="+mn-lt"/>
                          <a:ea typeface="+mn-ea"/>
                          <a:cs typeface="+mn-cs"/>
                        </a:rPr>
                        <a:t>2007–2009</a:t>
                      </a:r>
                      <a:endParaRPr lang="en-US" sz="1200" noProof="0" dirty="0">
                        <a:solidFill>
                          <a:schemeClr val="tx1"/>
                        </a:solidFill>
                        <a:latin typeface="+mn-lt"/>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0" u="none" strike="noStrike" kern="1200" baseline="0" noProof="0" dirty="0">
                          <a:solidFill>
                            <a:schemeClr val="tx1"/>
                          </a:solidFill>
                          <a:latin typeface="+mn-lt"/>
                          <a:ea typeface="+mn-ea"/>
                          <a:cs typeface="+mn-cs"/>
                        </a:rPr>
                        <a:t>2010–2015</a:t>
                      </a:r>
                      <a:endParaRPr lang="en-US" sz="1200" noProof="0" dirty="0">
                        <a:solidFill>
                          <a:schemeClr val="tx1"/>
                        </a:solidFill>
                        <a:latin typeface="+mn-lt"/>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1" i="0" u="none" strike="noStrike" cap="none" baseline="0" noProof="0" dirty="0">
                          <a:solidFill>
                            <a:schemeClr val="tx1"/>
                          </a:solidFill>
                          <a:latin typeface="+mn-lt"/>
                          <a:ea typeface="Arial"/>
                          <a:cs typeface="Arial"/>
                          <a:sym typeface="Arial"/>
                        </a:rPr>
                        <a:t>2016–2019</a:t>
                      </a:r>
                      <a:endParaRPr lang="en-US" sz="1200" noProof="0" dirty="0">
                        <a:solidFill>
                          <a:schemeClr val="tx1"/>
                        </a:solidFill>
                        <a:latin typeface="+mn-lt"/>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046910"/>
                  </a:ext>
                </a:extLst>
              </a:tr>
              <a:tr h="370840">
                <a:tc>
                  <a:txBody>
                    <a:bodyPr/>
                    <a:lstStyle/>
                    <a:p>
                      <a:r>
                        <a:rPr lang="en-US" sz="1200" b="0" i="0" u="none" strike="noStrike" kern="1200" baseline="0" noProof="0" dirty="0">
                          <a:solidFill>
                            <a:schemeClr val="tx1"/>
                          </a:solidFill>
                          <a:latin typeface="+mn-lt"/>
                          <a:ea typeface="+mn-ea"/>
                          <a:cs typeface="+mn-cs"/>
                        </a:rPr>
                        <a:t>United States</a:t>
                      </a:r>
                      <a:endParaRPr lang="en-US" sz="1200" noProof="0" dirty="0">
                        <a:solidFill>
                          <a:schemeClr val="tx1"/>
                        </a:solidFill>
                        <a:latin typeface="+mn-lt"/>
                      </a:endParaRPr>
                    </a:p>
                  </a:txBody>
                  <a:tcPr>
                    <a:lnT w="12700" cap="flat" cmpd="sng" algn="ctr">
                      <a:solidFill>
                        <a:schemeClr val="tx1"/>
                      </a:solidFill>
                      <a:prstDash val="solid"/>
                      <a:round/>
                      <a:headEnd type="none" w="med" len="med"/>
                      <a:tailEnd type="none" w="med" len="med"/>
                    </a:lnT>
                    <a:noFill/>
                  </a:tcPr>
                </a:tc>
                <a:tc>
                  <a:txBody>
                    <a:bodyPr/>
                    <a:lstStyle/>
                    <a:p>
                      <a:pPr algn="ctr"/>
                      <a:r>
                        <a:rPr lang="en-US" sz="1200" noProof="0" dirty="0">
                          <a:solidFill>
                            <a:schemeClr val="tx1"/>
                          </a:solidFill>
                          <a:latin typeface="+mn-lt"/>
                        </a:rPr>
                        <a:t>4.0</a:t>
                      </a:r>
                    </a:p>
                  </a:txBody>
                  <a:tcPr anchor="ctr">
                    <a:lnT w="12700" cap="flat" cmpd="sng" algn="ctr">
                      <a:solidFill>
                        <a:schemeClr val="tx1"/>
                      </a:solidFill>
                      <a:prstDash val="solid"/>
                      <a:round/>
                      <a:headEnd type="none" w="med" len="med"/>
                      <a:tailEnd type="none" w="med" len="med"/>
                    </a:lnT>
                    <a:noFill/>
                  </a:tcPr>
                </a:tc>
                <a:tc>
                  <a:txBody>
                    <a:bodyPr/>
                    <a:lstStyle/>
                    <a:p>
                      <a:pPr algn="ctr"/>
                      <a:r>
                        <a:rPr lang="en-US" sz="1200" noProof="0" dirty="0">
                          <a:solidFill>
                            <a:schemeClr val="tx1"/>
                          </a:solidFill>
                          <a:latin typeface="+mn-lt"/>
                        </a:rPr>
                        <a:t>2.3</a:t>
                      </a:r>
                    </a:p>
                  </a:txBody>
                  <a:tcPr anchor="ctr">
                    <a:lnT w="12700" cap="flat" cmpd="sng" algn="ctr">
                      <a:solidFill>
                        <a:schemeClr val="tx1"/>
                      </a:solidFill>
                      <a:prstDash val="solid"/>
                      <a:round/>
                      <a:headEnd type="none" w="med" len="med"/>
                      <a:tailEnd type="none" w="med" len="med"/>
                    </a:lnT>
                    <a:noFill/>
                  </a:tcPr>
                </a:tc>
                <a:tc>
                  <a:txBody>
                    <a:bodyPr/>
                    <a:lstStyle/>
                    <a:p>
                      <a:pPr algn="ctr"/>
                      <a:r>
                        <a:rPr lang="en-US" sz="1200" noProof="0" dirty="0">
                          <a:solidFill>
                            <a:schemeClr val="tx1"/>
                          </a:solidFill>
                          <a:latin typeface="+mn-lt"/>
                        </a:rPr>
                        <a:t>3.5</a:t>
                      </a:r>
                    </a:p>
                  </a:txBody>
                  <a:tcPr anchor="ctr">
                    <a:lnT w="12700" cap="flat" cmpd="sng" algn="ctr">
                      <a:solidFill>
                        <a:schemeClr val="tx1"/>
                      </a:solidFill>
                      <a:prstDash val="solid"/>
                      <a:round/>
                      <a:headEnd type="none" w="med" len="med"/>
                      <a:tailEnd type="none" w="med" len="med"/>
                    </a:lnT>
                    <a:noFill/>
                  </a:tcPr>
                </a:tc>
                <a:tc>
                  <a:txBody>
                    <a:bodyPr/>
                    <a:lstStyle/>
                    <a:p>
                      <a:pPr algn="ctr"/>
                      <a:r>
                        <a:rPr lang="en-US" sz="1200" noProof="0" dirty="0">
                          <a:solidFill>
                            <a:schemeClr val="tx1"/>
                          </a:solidFill>
                          <a:latin typeface="+mn-lt"/>
                        </a:rPr>
                        <a:t>3.2</a:t>
                      </a:r>
                    </a:p>
                  </a:txBody>
                  <a:tcPr anchor="ctr">
                    <a:lnT w="12700" cap="flat" cmpd="sng" algn="ctr">
                      <a:solidFill>
                        <a:schemeClr val="tx1"/>
                      </a:solidFill>
                      <a:prstDash val="solid"/>
                      <a:round/>
                      <a:headEnd type="none" w="med" len="med"/>
                      <a:tailEnd type="none" w="med" len="med"/>
                    </a:lnT>
                    <a:noFill/>
                  </a:tcPr>
                </a:tc>
                <a:tc>
                  <a:txBody>
                    <a:bodyPr/>
                    <a:lstStyle/>
                    <a:p>
                      <a:pPr algn="ctr"/>
                      <a:r>
                        <a:rPr lang="en-US" sz="200" b="0" i="0" u="none" strike="noStrike" cap="none" noProof="0" dirty="0">
                          <a:solidFill>
                            <a:schemeClr val="tx1"/>
                          </a:solidFill>
                          <a:effectLst/>
                          <a:latin typeface="+mn-lt"/>
                          <a:ea typeface="Arial"/>
                          <a:cs typeface="Arial"/>
                          <a:sym typeface="Arial"/>
                        </a:rPr>
                        <a:t>negative 0.3</a:t>
                      </a:r>
                      <a:endParaRPr lang="en-US" sz="200" noProof="0" dirty="0">
                        <a:solidFill>
                          <a:schemeClr val="tx1"/>
                        </a:solidFill>
                        <a:latin typeface="+mn-lt"/>
                      </a:endParaRPr>
                    </a:p>
                  </a:txBody>
                  <a:tcPr anchor="ctr">
                    <a:lnT w="12700" cap="flat" cmpd="sng" algn="ctr">
                      <a:solidFill>
                        <a:schemeClr val="tx1"/>
                      </a:solidFill>
                      <a:prstDash val="solid"/>
                      <a:round/>
                      <a:headEnd type="none" w="med" len="med"/>
                      <a:tailEnd type="none" w="med" len="med"/>
                    </a:lnT>
                    <a:noFill/>
                  </a:tcPr>
                </a:tc>
                <a:tc>
                  <a:txBody>
                    <a:bodyPr/>
                    <a:lstStyle/>
                    <a:p>
                      <a:pPr algn="ctr"/>
                      <a:r>
                        <a:rPr lang="en-US" sz="1200" noProof="0" dirty="0">
                          <a:solidFill>
                            <a:schemeClr val="tx1"/>
                          </a:solidFill>
                          <a:latin typeface="+mn-lt"/>
                        </a:rPr>
                        <a:t>2.2</a:t>
                      </a:r>
                    </a:p>
                  </a:txBody>
                  <a:tcPr anchor="ctr">
                    <a:lnT w="12700" cap="flat" cmpd="sng" algn="ctr">
                      <a:solidFill>
                        <a:schemeClr val="tx1"/>
                      </a:solidFill>
                      <a:prstDash val="solid"/>
                      <a:round/>
                      <a:headEnd type="none" w="med" len="med"/>
                      <a:tailEnd type="none" w="med" len="med"/>
                    </a:lnT>
                    <a:noFill/>
                  </a:tcPr>
                </a:tc>
                <a:tc>
                  <a:txBody>
                    <a:bodyPr/>
                    <a:lstStyle/>
                    <a:p>
                      <a:r>
                        <a:rPr lang="en-US" sz="1200" noProof="0" dirty="0">
                          <a:solidFill>
                            <a:schemeClr val="tx1"/>
                          </a:solidFill>
                          <a:latin typeface="+mn-lt"/>
                        </a:rPr>
                        <a:t>2.2</a:t>
                      </a:r>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707810605"/>
                  </a:ext>
                </a:extLst>
              </a:tr>
              <a:tr h="370840">
                <a:tc>
                  <a:txBody>
                    <a:bodyPr/>
                    <a:lstStyle/>
                    <a:p>
                      <a:r>
                        <a:rPr lang="en-US" sz="1200" b="0" i="0" u="none" strike="noStrike" kern="1200" baseline="0" noProof="0" dirty="0">
                          <a:solidFill>
                            <a:schemeClr val="tx1"/>
                          </a:solidFill>
                          <a:latin typeface="+mn-lt"/>
                          <a:ea typeface="+mn-ea"/>
                          <a:cs typeface="+mn-cs"/>
                        </a:rPr>
                        <a:t>Europe</a:t>
                      </a:r>
                      <a:endParaRPr lang="en-US" sz="1200" noProof="0" dirty="0">
                        <a:solidFill>
                          <a:schemeClr val="tx1"/>
                        </a:solidFill>
                        <a:latin typeface="+mn-lt"/>
                      </a:endParaRPr>
                    </a:p>
                  </a:txBody>
                  <a:tcPr>
                    <a:noFill/>
                  </a:tcPr>
                </a:tc>
                <a:tc>
                  <a:txBody>
                    <a:bodyPr/>
                    <a:lstStyle/>
                    <a:p>
                      <a:pPr algn="ctr"/>
                      <a:r>
                        <a:rPr lang="en-US" sz="100" noProof="0" dirty="0">
                          <a:solidFill>
                            <a:schemeClr val="tx1"/>
                          </a:solidFill>
                          <a:latin typeface="+mn-lt"/>
                        </a:rPr>
                        <a:t>Blank</a:t>
                      </a:r>
                    </a:p>
                  </a:txBody>
                  <a:tcPr anchor="ctr">
                    <a:noFill/>
                  </a:tcPr>
                </a:tc>
                <a:tc>
                  <a:txBody>
                    <a:bodyPr/>
                    <a:lstStyle/>
                    <a:p>
                      <a:pPr algn="ctr"/>
                      <a:r>
                        <a:rPr lang="en-US" sz="1200" noProof="0" dirty="0">
                          <a:solidFill>
                            <a:schemeClr val="tx1"/>
                          </a:solidFill>
                          <a:latin typeface="+mn-lt"/>
                        </a:rPr>
                        <a:t>2.6</a:t>
                      </a:r>
                    </a:p>
                  </a:txBody>
                  <a:tcPr anchor="ctr">
                    <a:noFill/>
                  </a:tcPr>
                </a:tc>
                <a:tc>
                  <a:txBody>
                    <a:bodyPr/>
                    <a:lstStyle/>
                    <a:p>
                      <a:pPr algn="ctr"/>
                      <a:r>
                        <a:rPr lang="en-US" sz="1200" noProof="0" dirty="0">
                          <a:solidFill>
                            <a:schemeClr val="tx1"/>
                          </a:solidFill>
                          <a:latin typeface="+mn-lt"/>
                        </a:rPr>
                        <a:t>2.5</a:t>
                      </a:r>
                    </a:p>
                  </a:txBody>
                  <a:tcPr anchor="ctr">
                    <a:noFill/>
                  </a:tcPr>
                </a:tc>
                <a:tc>
                  <a:txBody>
                    <a:bodyPr/>
                    <a:lstStyle/>
                    <a:p>
                      <a:pPr algn="ctr"/>
                      <a:r>
                        <a:rPr lang="en-US" sz="1200" noProof="0" dirty="0">
                          <a:solidFill>
                            <a:schemeClr val="tx1"/>
                          </a:solidFill>
                          <a:latin typeface="+mn-lt"/>
                        </a:rPr>
                        <a:t>2.2</a:t>
                      </a:r>
                    </a:p>
                  </a:txBody>
                  <a:tcPr anchor="ctr">
                    <a:noFill/>
                  </a:tcPr>
                </a:tc>
                <a:tc>
                  <a:txBody>
                    <a:bodyPr/>
                    <a:lstStyle/>
                    <a:p>
                      <a:pPr algn="ctr"/>
                      <a:r>
                        <a:rPr lang="en-US" sz="200" b="0" i="0" u="none" strike="noStrike" cap="none" noProof="0" dirty="0">
                          <a:solidFill>
                            <a:schemeClr val="tx1"/>
                          </a:solidFill>
                          <a:effectLst/>
                          <a:latin typeface="+mn-lt"/>
                          <a:ea typeface="Arial"/>
                          <a:cs typeface="Arial"/>
                          <a:sym typeface="Arial"/>
                        </a:rPr>
                        <a:t>negative 0.3</a:t>
                      </a:r>
                      <a:endParaRPr lang="en-US" sz="200" noProof="0" dirty="0">
                        <a:solidFill>
                          <a:schemeClr val="tx1"/>
                        </a:solidFill>
                        <a:latin typeface="+mn-lt"/>
                      </a:endParaRPr>
                    </a:p>
                  </a:txBody>
                  <a:tcPr anchor="ctr">
                    <a:noFill/>
                  </a:tcPr>
                </a:tc>
                <a:tc>
                  <a:txBody>
                    <a:bodyPr/>
                    <a:lstStyle/>
                    <a:p>
                      <a:pPr algn="ctr"/>
                      <a:r>
                        <a:rPr lang="en-US" sz="1200" noProof="0" dirty="0">
                          <a:solidFill>
                            <a:schemeClr val="tx1"/>
                          </a:solidFill>
                          <a:latin typeface="+mn-lt"/>
                        </a:rPr>
                        <a:t>1.2</a:t>
                      </a:r>
                    </a:p>
                  </a:txBody>
                  <a:tcPr anchor="ctr">
                    <a:noFill/>
                  </a:tcPr>
                </a:tc>
                <a:tc>
                  <a:txBody>
                    <a:bodyPr/>
                    <a:lstStyle/>
                    <a:p>
                      <a:r>
                        <a:rPr lang="en-US" sz="1200" noProof="0" dirty="0">
                          <a:solidFill>
                            <a:schemeClr val="tx1"/>
                          </a:solidFill>
                          <a:latin typeface="+mn-lt"/>
                        </a:rPr>
                        <a:t>2.3</a:t>
                      </a:r>
                    </a:p>
                  </a:txBody>
                  <a:tcPr>
                    <a:noFill/>
                  </a:tcPr>
                </a:tc>
                <a:extLst>
                  <a:ext uri="{0D108BD9-81ED-4DB2-BD59-A6C34878D82A}">
                    <a16:rowId xmlns:a16="http://schemas.microsoft.com/office/drawing/2014/main" val="1495690045"/>
                  </a:ext>
                </a:extLst>
              </a:tr>
              <a:tr h="370840">
                <a:tc>
                  <a:txBody>
                    <a:bodyPr/>
                    <a:lstStyle/>
                    <a:p>
                      <a:r>
                        <a:rPr lang="en-US" sz="1200" b="0" i="0" u="none" strike="noStrike" kern="1200" baseline="0" noProof="0" dirty="0">
                          <a:solidFill>
                            <a:schemeClr val="tx1"/>
                          </a:solidFill>
                          <a:latin typeface="+mn-lt"/>
                          <a:ea typeface="+mn-ea"/>
                          <a:cs typeface="+mn-cs"/>
                        </a:rPr>
                        <a:t>Japan</a:t>
                      </a:r>
                      <a:endParaRPr lang="en-US" sz="1200" noProof="0" dirty="0">
                        <a:solidFill>
                          <a:schemeClr val="tx1"/>
                        </a:solidFill>
                        <a:latin typeface="+mn-lt"/>
                      </a:endParaRPr>
                    </a:p>
                  </a:txBody>
                  <a:tcPr>
                    <a:lnB w="12700" cap="flat" cmpd="sng" algn="ctr">
                      <a:solidFill>
                        <a:schemeClr val="tx1"/>
                      </a:solidFill>
                      <a:prstDash val="solid"/>
                      <a:round/>
                      <a:headEnd type="none" w="med" len="med"/>
                      <a:tailEnd type="none" w="med" len="med"/>
                    </a:lnB>
                    <a:noFill/>
                  </a:tcPr>
                </a:tc>
                <a:tc>
                  <a:txBody>
                    <a:bodyPr/>
                    <a:lstStyle/>
                    <a:p>
                      <a:pPr algn="ctr"/>
                      <a:r>
                        <a:rPr lang="en-US" sz="1200" noProof="0" dirty="0">
                          <a:solidFill>
                            <a:schemeClr val="tx1"/>
                          </a:solidFill>
                          <a:latin typeface="+mn-lt"/>
                        </a:rPr>
                        <a:t>7.9</a:t>
                      </a:r>
                    </a:p>
                  </a:txBody>
                  <a:tcPr anchor="ctr">
                    <a:lnB w="12700" cap="flat" cmpd="sng" algn="ctr">
                      <a:solidFill>
                        <a:schemeClr val="tx1"/>
                      </a:solidFill>
                      <a:prstDash val="solid"/>
                      <a:round/>
                      <a:headEnd type="none" w="med" len="med"/>
                      <a:tailEnd type="none" w="med" len="med"/>
                    </a:lnB>
                    <a:noFill/>
                  </a:tcPr>
                </a:tc>
                <a:tc>
                  <a:txBody>
                    <a:bodyPr/>
                    <a:lstStyle/>
                    <a:p>
                      <a:pPr algn="ctr"/>
                      <a:r>
                        <a:rPr lang="en-US" sz="1200" noProof="0" dirty="0">
                          <a:solidFill>
                            <a:schemeClr val="tx1"/>
                          </a:solidFill>
                          <a:latin typeface="+mn-lt"/>
                        </a:rPr>
                        <a:t>3.7</a:t>
                      </a:r>
                    </a:p>
                  </a:txBody>
                  <a:tcPr anchor="ctr">
                    <a:lnB w="12700" cap="flat" cmpd="sng" algn="ctr">
                      <a:solidFill>
                        <a:schemeClr val="tx1"/>
                      </a:solidFill>
                      <a:prstDash val="solid"/>
                      <a:round/>
                      <a:headEnd type="none" w="med" len="med"/>
                      <a:tailEnd type="none" w="med" len="med"/>
                    </a:lnB>
                    <a:noFill/>
                  </a:tcPr>
                </a:tc>
                <a:tc>
                  <a:txBody>
                    <a:bodyPr/>
                    <a:lstStyle/>
                    <a:p>
                      <a:pPr algn="ctr"/>
                      <a:r>
                        <a:rPr lang="en-US" sz="1200" noProof="0" dirty="0">
                          <a:solidFill>
                            <a:schemeClr val="tx1"/>
                          </a:solidFill>
                          <a:latin typeface="+mn-lt"/>
                        </a:rPr>
                        <a:t>4.0</a:t>
                      </a:r>
                    </a:p>
                  </a:txBody>
                  <a:tcPr anchor="ctr">
                    <a:lnB w="12700" cap="flat" cmpd="sng" algn="ctr">
                      <a:solidFill>
                        <a:schemeClr val="tx1"/>
                      </a:solidFill>
                      <a:prstDash val="solid"/>
                      <a:round/>
                      <a:headEnd type="none" w="med" len="med"/>
                      <a:tailEnd type="none" w="med" len="med"/>
                    </a:lnB>
                    <a:noFill/>
                  </a:tcPr>
                </a:tc>
                <a:tc>
                  <a:txBody>
                    <a:bodyPr/>
                    <a:lstStyle/>
                    <a:p>
                      <a:pPr algn="ctr"/>
                      <a:r>
                        <a:rPr lang="en-US" sz="1200" noProof="0" dirty="0">
                          <a:solidFill>
                            <a:schemeClr val="tx1"/>
                          </a:solidFill>
                          <a:latin typeface="+mn-lt"/>
                        </a:rPr>
                        <a:t>1.1</a:t>
                      </a:r>
                    </a:p>
                  </a:txBody>
                  <a:tcPr anchor="ctr">
                    <a:lnB w="12700" cap="flat" cmpd="sng" algn="ctr">
                      <a:solidFill>
                        <a:schemeClr val="tx1"/>
                      </a:solidFill>
                      <a:prstDash val="solid"/>
                      <a:round/>
                      <a:headEnd type="none" w="med" len="med"/>
                      <a:tailEnd type="none" w="med" len="med"/>
                    </a:lnB>
                    <a:noFill/>
                  </a:tcPr>
                </a:tc>
                <a:tc>
                  <a:txBody>
                    <a:bodyPr/>
                    <a:lstStyle/>
                    <a:p>
                      <a:pPr algn="ctr"/>
                      <a:r>
                        <a:rPr lang="en-US" sz="200" b="0" i="0" u="none" strike="noStrike" cap="none" noProof="0" dirty="0">
                          <a:solidFill>
                            <a:schemeClr val="tx1"/>
                          </a:solidFill>
                          <a:effectLst/>
                          <a:latin typeface="+mn-lt"/>
                          <a:ea typeface="Arial"/>
                          <a:cs typeface="Arial"/>
                          <a:sym typeface="Arial"/>
                        </a:rPr>
                        <a:t>negative 1.7</a:t>
                      </a:r>
                      <a:endParaRPr lang="en-US" sz="200" noProof="0" dirty="0">
                        <a:solidFill>
                          <a:schemeClr val="tx1"/>
                        </a:solidFill>
                        <a:latin typeface="+mn-lt"/>
                      </a:endParaRPr>
                    </a:p>
                  </a:txBody>
                  <a:tcPr anchor="ctr">
                    <a:lnB w="12700" cap="flat" cmpd="sng" algn="ctr">
                      <a:solidFill>
                        <a:schemeClr val="tx1"/>
                      </a:solidFill>
                      <a:prstDash val="solid"/>
                      <a:round/>
                      <a:headEnd type="none" w="med" len="med"/>
                      <a:tailEnd type="none" w="med" len="med"/>
                    </a:lnB>
                    <a:noFill/>
                  </a:tcPr>
                </a:tc>
                <a:tc>
                  <a:txBody>
                    <a:bodyPr/>
                    <a:lstStyle/>
                    <a:p>
                      <a:pPr algn="ctr"/>
                      <a:r>
                        <a:rPr lang="en-US" sz="1200" noProof="0" dirty="0">
                          <a:solidFill>
                            <a:schemeClr val="tx1"/>
                          </a:solidFill>
                          <a:latin typeface="+mn-lt"/>
                        </a:rPr>
                        <a:t>1.5</a:t>
                      </a:r>
                    </a:p>
                  </a:txBody>
                  <a:tcPr anchor="ctr">
                    <a:lnB w="12700" cap="flat" cmpd="sng" algn="ctr">
                      <a:solidFill>
                        <a:schemeClr val="tx1"/>
                      </a:solidFill>
                      <a:prstDash val="solid"/>
                      <a:round/>
                      <a:headEnd type="none" w="med" len="med"/>
                      <a:tailEnd type="none" w="med" len="med"/>
                    </a:lnB>
                    <a:noFill/>
                  </a:tcPr>
                </a:tc>
                <a:tc>
                  <a:txBody>
                    <a:bodyPr/>
                    <a:lstStyle/>
                    <a:p>
                      <a:r>
                        <a:rPr lang="en-US" sz="1200" noProof="0" dirty="0">
                          <a:solidFill>
                            <a:schemeClr val="tx1"/>
                          </a:solidFill>
                          <a:latin typeface="+mn-lt"/>
                        </a:rPr>
                        <a:t>1.1</a:t>
                      </a: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7065708"/>
                  </a:ext>
                </a:extLst>
              </a:tr>
            </a:tbl>
          </a:graphicData>
        </a:graphic>
      </p:graphicFrame>
      <p:graphicFrame>
        <p:nvGraphicFramePr>
          <p:cNvPr id="8" name="Object 7">
            <a:extLst>
              <a:ext uri="{FF2B5EF4-FFF2-40B4-BE49-F238E27FC236}">
                <a16:creationId xmlns:a16="http://schemas.microsoft.com/office/drawing/2014/main" id="{2E8F7F8E-774A-453C-8FA2-731471D7781D}"/>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15703514"/>
              </p:ext>
            </p:extLst>
          </p:nvPr>
        </p:nvGraphicFramePr>
        <p:xfrm>
          <a:off x="5866231" y="2517377"/>
          <a:ext cx="377190" cy="195580"/>
        </p:xfrm>
        <a:graphic>
          <a:graphicData uri="http://schemas.openxmlformats.org/presentationml/2006/ole">
            <mc:AlternateContent xmlns:mc="http://schemas.openxmlformats.org/markup-compatibility/2006">
              <mc:Choice xmlns:v="urn:schemas-microsoft-com:vml" Requires="v">
                <p:oleObj name="Equation" r:id="rId2" imgW="342720" imgH="177480" progId="Equation.DSMT4">
                  <p:embed/>
                </p:oleObj>
              </mc:Choice>
              <mc:Fallback>
                <p:oleObj name="Equation" r:id="rId2" imgW="342720" imgH="177480" progId="Equation.DSMT4">
                  <p:embed/>
                  <p:pic>
                    <p:nvPicPr>
                      <p:cNvPr id="0" name=""/>
                      <p:cNvPicPr/>
                      <p:nvPr/>
                    </p:nvPicPr>
                    <p:blipFill>
                      <a:blip r:embed="rId3"/>
                      <a:stretch>
                        <a:fillRect/>
                      </a:stretch>
                    </p:blipFill>
                    <p:spPr>
                      <a:xfrm>
                        <a:off x="5866231" y="2517377"/>
                        <a:ext cx="377190" cy="195580"/>
                      </a:xfrm>
                      <a:prstGeom prst="rect">
                        <a:avLst/>
                      </a:prstGeom>
                      <a:solidFill>
                        <a:schemeClr val="lt1"/>
                      </a:solidFill>
                    </p:spPr>
                  </p:pic>
                </p:oleObj>
              </mc:Fallback>
            </mc:AlternateContent>
          </a:graphicData>
        </a:graphic>
      </p:graphicFrame>
      <p:graphicFrame>
        <p:nvGraphicFramePr>
          <p:cNvPr id="12" name="Object 11">
            <a:extLst>
              <a:ext uri="{FF2B5EF4-FFF2-40B4-BE49-F238E27FC236}">
                <a16:creationId xmlns:a16="http://schemas.microsoft.com/office/drawing/2014/main" id="{A93C3877-DE00-471E-BEBE-4CF559FC76BE}"/>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097016323"/>
              </p:ext>
            </p:extLst>
          </p:nvPr>
        </p:nvGraphicFramePr>
        <p:xfrm>
          <a:off x="5866231" y="2957144"/>
          <a:ext cx="377190" cy="195580"/>
        </p:xfrm>
        <a:graphic>
          <a:graphicData uri="http://schemas.openxmlformats.org/presentationml/2006/ole">
            <mc:AlternateContent xmlns:mc="http://schemas.openxmlformats.org/markup-compatibility/2006">
              <mc:Choice xmlns:v="urn:schemas-microsoft-com:vml" Requires="v">
                <p:oleObj name="Equation" r:id="rId4" imgW="342720" imgH="177480" progId="Equation.DSMT4">
                  <p:embed/>
                </p:oleObj>
              </mc:Choice>
              <mc:Fallback>
                <p:oleObj name="Equation" r:id="rId4" imgW="342720" imgH="177480" progId="Equation.DSMT4">
                  <p:embed/>
                  <p:pic>
                    <p:nvPicPr>
                      <p:cNvPr id="8" name="Object 7">
                        <a:extLst>
                          <a:ext uri="{FF2B5EF4-FFF2-40B4-BE49-F238E27FC236}">
                            <a16:creationId xmlns:a16="http://schemas.microsoft.com/office/drawing/2014/main" id="{2E8F7F8E-774A-453C-8FA2-731471D7781D}"/>
                          </a:ext>
                        </a:extLst>
                      </p:cNvPr>
                      <p:cNvPicPr/>
                      <p:nvPr/>
                    </p:nvPicPr>
                    <p:blipFill>
                      <a:blip r:embed="rId3"/>
                      <a:stretch>
                        <a:fillRect/>
                      </a:stretch>
                    </p:blipFill>
                    <p:spPr>
                      <a:xfrm>
                        <a:off x="5866231" y="2957144"/>
                        <a:ext cx="377190" cy="195580"/>
                      </a:xfrm>
                      <a:prstGeom prst="rect">
                        <a:avLst/>
                      </a:prstGeom>
                      <a:solidFill>
                        <a:schemeClr val="lt1"/>
                      </a:solidFill>
                    </p:spPr>
                  </p:pic>
                </p:oleObj>
              </mc:Fallback>
            </mc:AlternateContent>
          </a:graphicData>
        </a:graphic>
      </p:graphicFrame>
      <p:graphicFrame>
        <p:nvGraphicFramePr>
          <p:cNvPr id="14" name="Object 13">
            <a:extLst>
              <a:ext uri="{FF2B5EF4-FFF2-40B4-BE49-F238E27FC236}">
                <a16:creationId xmlns:a16="http://schemas.microsoft.com/office/drawing/2014/main" id="{BD5C4BA7-944A-43D7-8F81-D5911FF1C79E}"/>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129322783"/>
              </p:ext>
            </p:extLst>
          </p:nvPr>
        </p:nvGraphicFramePr>
        <p:xfrm>
          <a:off x="5861253" y="3324954"/>
          <a:ext cx="377825" cy="182562"/>
        </p:xfrm>
        <a:graphic>
          <a:graphicData uri="http://schemas.openxmlformats.org/presentationml/2006/ole">
            <mc:AlternateContent xmlns:mc="http://schemas.openxmlformats.org/markup-compatibility/2006">
              <mc:Choice xmlns:v="urn:schemas-microsoft-com:vml" Requires="v">
                <p:oleObj name="Equation" r:id="rId5" imgW="342720" imgH="164880" progId="Equation.DSMT4">
                  <p:embed/>
                </p:oleObj>
              </mc:Choice>
              <mc:Fallback>
                <p:oleObj name="Equation" r:id="rId5" imgW="342720" imgH="164880" progId="Equation.DSMT4">
                  <p:embed/>
                  <p:pic>
                    <p:nvPicPr>
                      <p:cNvPr id="12" name="Object 11">
                        <a:extLst>
                          <a:ext uri="{FF2B5EF4-FFF2-40B4-BE49-F238E27FC236}">
                            <a16:creationId xmlns:a16="http://schemas.microsoft.com/office/drawing/2014/main" id="{A93C3877-DE00-471E-BEBE-4CF559FC76BE}"/>
                          </a:ext>
                        </a:extLst>
                      </p:cNvPr>
                      <p:cNvPicPr/>
                      <p:nvPr/>
                    </p:nvPicPr>
                    <p:blipFill>
                      <a:blip r:embed="rId6"/>
                      <a:stretch>
                        <a:fillRect/>
                      </a:stretch>
                    </p:blipFill>
                    <p:spPr>
                      <a:xfrm>
                        <a:off x="5861253" y="3324954"/>
                        <a:ext cx="377825" cy="182562"/>
                      </a:xfrm>
                      <a:prstGeom prst="rect">
                        <a:avLst/>
                      </a:prstGeom>
                      <a:solidFill>
                        <a:schemeClr val="lt1"/>
                      </a:solidFill>
                    </p:spPr>
                  </p:pic>
                </p:oleObj>
              </mc:Fallback>
            </mc:AlternateContent>
          </a:graphicData>
        </a:graphic>
      </p:graphicFrame>
      <p:sp>
        <p:nvSpPr>
          <p:cNvPr id="13" name="Content Placeholder 12">
            <a:extLst>
              <a:ext uri="{FF2B5EF4-FFF2-40B4-BE49-F238E27FC236}">
                <a16:creationId xmlns:a16="http://schemas.microsoft.com/office/drawing/2014/main" id="{6DD06E09-1E65-43DC-BA78-6D66E21DAFED}"/>
              </a:ext>
            </a:extLst>
          </p:cNvPr>
          <p:cNvSpPr>
            <a:spLocks noGrp="1"/>
          </p:cNvSpPr>
          <p:nvPr>
            <p:ph sz="quarter" idx="15"/>
          </p:nvPr>
        </p:nvSpPr>
        <p:spPr>
          <a:xfrm>
            <a:off x="457200" y="3788233"/>
            <a:ext cx="5341716" cy="403761"/>
          </a:xfrm>
        </p:spPr>
        <p:txBody>
          <a:bodyPr/>
          <a:lstStyle/>
          <a:p>
            <a:pPr marL="432" indent="0">
              <a:buNone/>
            </a:pPr>
            <a:r>
              <a:rPr lang="en-US" sz="1400" b="1" dirty="0">
                <a:latin typeface="Arial (Body)"/>
              </a:rPr>
              <a:t>Source: </a:t>
            </a:r>
            <a:r>
              <a:rPr lang="en-US" sz="1400" dirty="0">
                <a:latin typeface="Arial (Body)"/>
              </a:rPr>
              <a:t>International Monetary Fund, Eurostat, and World Bank.</a:t>
            </a:r>
            <a:endParaRPr lang="en-US" sz="1400" dirty="0"/>
          </a:p>
        </p:txBody>
      </p:sp>
    </p:spTree>
    <p:extLst>
      <p:ext uri="{BB962C8B-B14F-4D97-AF65-F5344CB8AC3E}">
        <p14:creationId xmlns:p14="http://schemas.microsoft.com/office/powerpoint/2010/main" val="6730112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276F4-DF01-4434-AF9D-05E55AE32B86}"/>
              </a:ext>
            </a:extLst>
          </p:cNvPr>
          <p:cNvSpPr>
            <a:spLocks noGrp="1"/>
          </p:cNvSpPr>
          <p:nvPr>
            <p:ph type="title"/>
          </p:nvPr>
        </p:nvSpPr>
        <p:spPr/>
        <p:txBody>
          <a:bodyPr/>
          <a:lstStyle/>
          <a:p>
            <a:r>
              <a:rPr lang="en-US" altLang="en-US" sz="3000" dirty="0">
                <a:cs typeface="Times New Roman" panose="02020603050405020304" pitchFamily="18" charset="0"/>
              </a:rPr>
              <a:t>Figure 19.6 Nominal and Real Effective Dollar Exchange Rate Indexes, 1975–2019</a:t>
            </a:r>
            <a:endParaRPr lang="en-IN" sz="3000" dirty="0">
              <a:cs typeface="Times New Roman" panose="02020603050405020304" pitchFamily="18" charset="0"/>
            </a:endParaRPr>
          </a:p>
        </p:txBody>
      </p:sp>
      <p:pic>
        <p:nvPicPr>
          <p:cNvPr id="6" name="Content Placeholder 5" descr="A graph depicts the nominal and real effective dollar exchange rate indexes. For long description in Notes pane, press F6.">
            <a:extLst>
              <a:ext uri="{FF2B5EF4-FFF2-40B4-BE49-F238E27FC236}">
                <a16:creationId xmlns:a16="http://schemas.microsoft.com/office/drawing/2014/main" id="{4008DDD8-F2B7-40F9-831C-768BD9CAB912}"/>
              </a:ext>
            </a:extLst>
          </p:cNvPr>
          <p:cNvPicPr>
            <a:picLocks noGrp="1" noChangeAspect="1"/>
          </p:cNvPicPr>
          <p:nvPr>
            <p:ph sz="quarter" idx="13"/>
          </p:nvPr>
        </p:nvPicPr>
        <p:blipFill>
          <a:blip r:embed="rId3"/>
          <a:stretch>
            <a:fillRect/>
          </a:stretch>
        </p:blipFill>
        <p:spPr>
          <a:xfrm>
            <a:off x="2315528" y="1642940"/>
            <a:ext cx="4512944" cy="3110915"/>
          </a:xfrm>
        </p:spPr>
      </p:pic>
      <p:sp>
        <p:nvSpPr>
          <p:cNvPr id="4" name="Content Placeholder 3">
            <a:extLst>
              <a:ext uri="{FF2B5EF4-FFF2-40B4-BE49-F238E27FC236}">
                <a16:creationId xmlns:a16="http://schemas.microsoft.com/office/drawing/2014/main" id="{02272658-195B-4338-9E57-8BB724D97B64}"/>
              </a:ext>
            </a:extLst>
          </p:cNvPr>
          <p:cNvSpPr>
            <a:spLocks noGrp="1"/>
          </p:cNvSpPr>
          <p:nvPr>
            <p:ph sz="quarter" idx="14"/>
          </p:nvPr>
        </p:nvSpPr>
        <p:spPr>
          <a:xfrm>
            <a:off x="457200" y="4859834"/>
            <a:ext cx="8229600" cy="1417514"/>
          </a:xfrm>
        </p:spPr>
        <p:txBody>
          <a:bodyPr tIns="0" bIns="0"/>
          <a:lstStyle/>
          <a:p>
            <a:pPr marL="0" indent="0">
              <a:buNone/>
            </a:pPr>
            <a:r>
              <a:rPr lang="en-US" sz="1800" dirty="0">
                <a:latin typeface="Arial (Body)"/>
              </a:rPr>
              <a:t>The indexes are measures of the nominal and real value of the U.S. dollar in terms of a basket of foreign currencies. An increase in the indexes is a dollar appreciation; a decrease, a dollar depreciation. For both indexes, the 2005 value is 100.</a:t>
            </a:r>
          </a:p>
          <a:p>
            <a:pPr marL="0" indent="0">
              <a:spcBef>
                <a:spcPts val="500"/>
              </a:spcBef>
              <a:buNone/>
            </a:pPr>
            <a:r>
              <a:rPr lang="en-US" sz="1400" b="1" dirty="0">
                <a:latin typeface="Arial (Body)"/>
              </a:rPr>
              <a:t>Source: </a:t>
            </a:r>
            <a:r>
              <a:rPr lang="en-US" sz="1400" dirty="0">
                <a:latin typeface="Arial (Body)"/>
              </a:rPr>
              <a:t>Bank for International Settlements.</a:t>
            </a:r>
          </a:p>
        </p:txBody>
      </p:sp>
    </p:spTree>
    <p:extLst>
      <p:ext uri="{BB962C8B-B14F-4D97-AF65-F5344CB8AC3E}">
        <p14:creationId xmlns:p14="http://schemas.microsoft.com/office/powerpoint/2010/main" val="17243645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192AA-FB42-4513-ACFC-F32588D91A34}"/>
              </a:ext>
            </a:extLst>
          </p:cNvPr>
          <p:cNvSpPr>
            <a:spLocks noGrp="1"/>
          </p:cNvSpPr>
          <p:nvPr>
            <p:ph type="title"/>
          </p:nvPr>
        </p:nvSpPr>
        <p:spPr/>
        <p:txBody>
          <a:bodyPr/>
          <a:lstStyle/>
          <a:p>
            <a:r>
              <a:rPr lang="en-US" altLang="en-US" dirty="0">
                <a:cs typeface="Times New Roman" panose="02020603050405020304" pitchFamily="18" charset="0"/>
              </a:rPr>
              <a:t>Since 1973 </a:t>
            </a:r>
            <a:r>
              <a:rPr lang="en-US" altLang="en-US" sz="2000" b="0" dirty="0">
                <a:cs typeface="Times New Roman" panose="02020603050405020304" pitchFamily="18" charset="0"/>
              </a:rPr>
              <a:t>(3 of 6)</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E1B60DAF-3554-41DD-9E02-FD3819415A09}"/>
              </a:ext>
            </a:extLst>
          </p:cNvPr>
          <p:cNvSpPr>
            <a:spLocks noGrp="1"/>
          </p:cNvSpPr>
          <p:nvPr>
            <p:ph sz="quarter" idx="13"/>
          </p:nvPr>
        </p:nvSpPr>
        <p:spPr>
          <a:xfrm>
            <a:off x="457200" y="1556327"/>
            <a:ext cx="8229600" cy="4717473"/>
          </a:xfrm>
        </p:spPr>
        <p:txBody>
          <a:bodyPr/>
          <a:lstStyle/>
          <a:p>
            <a:r>
              <a:rPr lang="en-US" altLang="en-US" dirty="0">
                <a:latin typeface="Arial (Body)"/>
              </a:rPr>
              <a:t>To reduce the value of the U</a:t>
            </a:r>
            <a:r>
              <a:rPr lang="en-US" altLang="en-US" sz="100" dirty="0">
                <a:latin typeface="Arial (Body)"/>
              </a:rPr>
              <a:t> </a:t>
            </a:r>
            <a:r>
              <a:rPr lang="en-US" altLang="en-US" dirty="0">
                <a:latin typeface="Arial (Body)"/>
              </a:rPr>
              <a:t>S $, the United States, Germany, Japan, Britain, and France announced in 1985 that their central banks would jointly intervene in the foreign exchange markets in order to reduce the value of the dollar.</a:t>
            </a:r>
          </a:p>
          <a:p>
            <a:pPr lvl="1"/>
            <a:r>
              <a:rPr lang="en-US" altLang="en-US" dirty="0">
                <a:latin typeface="Arial (Body)"/>
              </a:rPr>
              <a:t>The dollar dropped sharply the next day and continued to drop as the United States continued a more expansionary monetary policy, pushing down interest rates.</a:t>
            </a:r>
          </a:p>
          <a:p>
            <a:pPr lvl="1" eaLnBrk="1" hangingPunct="1"/>
            <a:r>
              <a:rPr lang="en-US" altLang="en-US" dirty="0">
                <a:latin typeface="Arial (Body)"/>
              </a:rPr>
              <a:t>The agreement was called the Plaza Accords, because it was announced at the Plaza Hotel in New York.</a:t>
            </a:r>
          </a:p>
        </p:txBody>
      </p:sp>
    </p:spTree>
    <p:extLst>
      <p:ext uri="{BB962C8B-B14F-4D97-AF65-F5344CB8AC3E}">
        <p14:creationId xmlns:p14="http://schemas.microsoft.com/office/powerpoint/2010/main" val="11671029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192AA-FB42-4513-ACFC-F32588D91A34}"/>
              </a:ext>
            </a:extLst>
          </p:cNvPr>
          <p:cNvSpPr>
            <a:spLocks noGrp="1"/>
          </p:cNvSpPr>
          <p:nvPr>
            <p:ph type="title"/>
          </p:nvPr>
        </p:nvSpPr>
        <p:spPr/>
        <p:txBody>
          <a:bodyPr/>
          <a:lstStyle/>
          <a:p>
            <a:r>
              <a:rPr lang="en-US" altLang="en-US" dirty="0">
                <a:cs typeface="Times New Roman" panose="02020603050405020304" pitchFamily="18" charset="0"/>
              </a:rPr>
              <a:t>Since 1973 </a:t>
            </a:r>
            <a:r>
              <a:rPr lang="en-US" altLang="en-US" sz="2000" b="0" dirty="0">
                <a:cs typeface="Times New Roman" panose="02020603050405020304" pitchFamily="18" charset="0"/>
              </a:rPr>
              <a:t>(4 of 6)</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E1B60DAF-3554-41DD-9E02-FD3819415A09}"/>
              </a:ext>
            </a:extLst>
          </p:cNvPr>
          <p:cNvSpPr>
            <a:spLocks noGrp="1"/>
          </p:cNvSpPr>
          <p:nvPr>
            <p:ph sz="quarter" idx="13"/>
          </p:nvPr>
        </p:nvSpPr>
        <p:spPr>
          <a:xfrm>
            <a:off x="457200" y="1552575"/>
            <a:ext cx="8229600" cy="1904303"/>
          </a:xfrm>
        </p:spPr>
        <p:txBody>
          <a:bodyPr/>
          <a:lstStyle/>
          <a:p>
            <a:pPr eaLnBrk="1" hangingPunct="1"/>
            <a:r>
              <a:rPr lang="en-US" altLang="en-US" sz="2200" dirty="0">
                <a:latin typeface="Arial (Body)"/>
              </a:rPr>
              <a:t>After the value of the dollar fell, countries were interested in stabilizing exchange rates.</a:t>
            </a:r>
          </a:p>
          <a:p>
            <a:pPr lvl="1"/>
            <a:r>
              <a:rPr lang="en-US" altLang="en-US" sz="2200" dirty="0">
                <a:latin typeface="Arial (Body)"/>
              </a:rPr>
              <a:t>United States, Germany, Japan, Britain, France, and Canada announced renewed cooperation in 1987, pledging to stabilize exchange rates.</a:t>
            </a:r>
          </a:p>
        </p:txBody>
      </p:sp>
      <p:sp>
        <p:nvSpPr>
          <p:cNvPr id="7" name="Content Placeholder 6">
            <a:extLst>
              <a:ext uri="{FF2B5EF4-FFF2-40B4-BE49-F238E27FC236}">
                <a16:creationId xmlns:a16="http://schemas.microsoft.com/office/drawing/2014/main" id="{A65FF0C0-B356-446C-9387-0E3449D6A776}"/>
              </a:ext>
            </a:extLst>
          </p:cNvPr>
          <p:cNvSpPr>
            <a:spLocks noGrp="1"/>
          </p:cNvSpPr>
          <p:nvPr>
            <p:ph sz="quarter" idx="14"/>
          </p:nvPr>
        </p:nvSpPr>
        <p:spPr>
          <a:xfrm>
            <a:off x="457200" y="3524336"/>
            <a:ext cx="4861932" cy="465773"/>
          </a:xfrm>
        </p:spPr>
        <p:txBody>
          <a:bodyPr/>
          <a:lstStyle/>
          <a:p>
            <a:pPr lvl="1"/>
            <a:r>
              <a:rPr lang="en-US" altLang="en-US" sz="2200" dirty="0">
                <a:latin typeface="Arial (Body)"/>
              </a:rPr>
              <a:t>They calculated zones of about</a:t>
            </a:r>
            <a:endParaRPr lang="en-IN" sz="2200" dirty="0"/>
          </a:p>
        </p:txBody>
      </p:sp>
      <p:graphicFrame>
        <p:nvGraphicFramePr>
          <p:cNvPr id="10" name="Object 9" descr="+ or minus 5 % ">
            <a:extLst>
              <a:ext uri="{FF2B5EF4-FFF2-40B4-BE49-F238E27FC236}">
                <a16:creationId xmlns:a16="http://schemas.microsoft.com/office/drawing/2014/main" id="{72FE85DF-6FEF-45D9-BF9F-1EE3C69E8845}"/>
              </a:ext>
            </a:extLst>
          </p:cNvPr>
          <p:cNvGraphicFramePr>
            <a:graphicFrameLocks noChangeAspect="1"/>
          </p:cNvGraphicFramePr>
          <p:nvPr>
            <p:extLst>
              <p:ext uri="{D42A27DB-BD31-4B8C-83A1-F6EECF244321}">
                <p14:modId xmlns:p14="http://schemas.microsoft.com/office/powerpoint/2010/main" val="3817520710"/>
              </p:ext>
            </p:extLst>
          </p:nvPr>
        </p:nvGraphicFramePr>
        <p:xfrm>
          <a:off x="5410887" y="3582085"/>
          <a:ext cx="877454" cy="382480"/>
        </p:xfrm>
        <a:graphic>
          <a:graphicData uri="http://schemas.openxmlformats.org/presentationml/2006/ole">
            <mc:AlternateContent xmlns:mc="http://schemas.openxmlformats.org/markup-compatibility/2006">
              <mc:Choice xmlns:v="urn:schemas-microsoft-com:vml" Requires="v">
                <p:oleObj name="Equation" r:id="rId2" imgW="495000" imgH="215640" progId="Equation.DSMT4">
                  <p:embed/>
                </p:oleObj>
              </mc:Choice>
              <mc:Fallback>
                <p:oleObj name="Equation" r:id="rId2" imgW="495000" imgH="215640" progId="Equation.DSMT4">
                  <p:embed/>
                  <p:pic>
                    <p:nvPicPr>
                      <p:cNvPr id="0" name=""/>
                      <p:cNvPicPr/>
                      <p:nvPr/>
                    </p:nvPicPr>
                    <p:blipFill>
                      <a:blip r:embed="rId3"/>
                      <a:stretch>
                        <a:fillRect/>
                      </a:stretch>
                    </p:blipFill>
                    <p:spPr>
                      <a:xfrm>
                        <a:off x="5410887" y="3582085"/>
                        <a:ext cx="877454" cy="382480"/>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FE0ED1F0-182E-4ABC-8E84-90EFAAAC9A01}"/>
              </a:ext>
            </a:extLst>
          </p:cNvPr>
          <p:cNvSpPr>
            <a:spLocks noGrp="1"/>
          </p:cNvSpPr>
          <p:nvPr>
            <p:ph sz="quarter" idx="15"/>
          </p:nvPr>
        </p:nvSpPr>
        <p:spPr>
          <a:xfrm>
            <a:off x="6393949" y="3580441"/>
            <a:ext cx="1836876" cy="400092"/>
          </a:xfrm>
        </p:spPr>
        <p:txBody>
          <a:bodyPr lIns="0" tIns="0" rIns="0" bIns="0"/>
          <a:lstStyle/>
          <a:p>
            <a:pPr marL="0" lvl="1" indent="0">
              <a:buNone/>
            </a:pPr>
            <a:r>
              <a:rPr lang="en-US" altLang="en-US" sz="2200" dirty="0">
                <a:latin typeface="Arial (Body)"/>
              </a:rPr>
              <a:t>around which</a:t>
            </a:r>
            <a:endParaRPr lang="en-IN" sz="2200" dirty="0"/>
          </a:p>
        </p:txBody>
      </p:sp>
      <p:sp>
        <p:nvSpPr>
          <p:cNvPr id="9" name="Content Placeholder 8">
            <a:extLst>
              <a:ext uri="{FF2B5EF4-FFF2-40B4-BE49-F238E27FC236}">
                <a16:creationId xmlns:a16="http://schemas.microsoft.com/office/drawing/2014/main" id="{40C9B054-84D4-4DB0-8F6A-DD5F082B32C4}"/>
              </a:ext>
            </a:extLst>
          </p:cNvPr>
          <p:cNvSpPr>
            <a:spLocks noGrp="1"/>
          </p:cNvSpPr>
          <p:nvPr>
            <p:ph sz="quarter" idx="16"/>
          </p:nvPr>
        </p:nvSpPr>
        <p:spPr>
          <a:xfrm>
            <a:off x="468313" y="4051988"/>
            <a:ext cx="8351596" cy="1343513"/>
          </a:xfrm>
        </p:spPr>
        <p:txBody>
          <a:bodyPr tIns="0"/>
          <a:lstStyle/>
          <a:p>
            <a:pPr marL="741600" lvl="1" indent="0">
              <a:buNone/>
            </a:pPr>
            <a:r>
              <a:rPr lang="en-US" altLang="en-US" sz="2200" dirty="0">
                <a:latin typeface="Arial (Body)"/>
              </a:rPr>
              <a:t>current exchange rates were allowed to fluctuate.</a:t>
            </a:r>
          </a:p>
          <a:p>
            <a:pPr lvl="1"/>
            <a:r>
              <a:rPr lang="en-US" altLang="en-US" sz="2200" dirty="0">
                <a:latin typeface="Arial (Body)"/>
              </a:rPr>
              <a:t>The agreement was called the Louvre Accords, because it was announced at the Louvre in Paris.</a:t>
            </a:r>
          </a:p>
        </p:txBody>
      </p:sp>
    </p:spTree>
    <p:extLst>
      <p:ext uri="{BB962C8B-B14F-4D97-AF65-F5344CB8AC3E}">
        <p14:creationId xmlns:p14="http://schemas.microsoft.com/office/powerpoint/2010/main" val="34922245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192AA-FB42-4513-ACFC-F32588D91A34}"/>
              </a:ext>
            </a:extLst>
          </p:cNvPr>
          <p:cNvSpPr>
            <a:spLocks noGrp="1"/>
          </p:cNvSpPr>
          <p:nvPr>
            <p:ph type="title"/>
          </p:nvPr>
        </p:nvSpPr>
        <p:spPr/>
        <p:txBody>
          <a:bodyPr/>
          <a:lstStyle/>
          <a:p>
            <a:r>
              <a:rPr lang="en-US" altLang="en-US" dirty="0">
                <a:cs typeface="Times New Roman" panose="02020603050405020304" pitchFamily="18" charset="0"/>
              </a:rPr>
              <a:t>Since 1973 </a:t>
            </a:r>
            <a:r>
              <a:rPr lang="en-US" altLang="en-US" sz="2000" b="0" dirty="0">
                <a:cs typeface="Times New Roman" panose="02020603050405020304" pitchFamily="18" charset="0"/>
              </a:rPr>
              <a:t>(5 of 6)</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E1B60DAF-3554-41DD-9E02-FD3819415A09}"/>
              </a:ext>
            </a:extLst>
          </p:cNvPr>
          <p:cNvSpPr>
            <a:spLocks noGrp="1"/>
          </p:cNvSpPr>
          <p:nvPr>
            <p:ph sz="quarter" idx="13"/>
          </p:nvPr>
        </p:nvSpPr>
        <p:spPr>
          <a:xfrm>
            <a:off x="457199" y="1556327"/>
            <a:ext cx="8354292" cy="3640706"/>
          </a:xfrm>
        </p:spPr>
        <p:txBody>
          <a:bodyPr/>
          <a:lstStyle/>
          <a:p>
            <a:pPr eaLnBrk="1" hangingPunct="1"/>
            <a:r>
              <a:rPr lang="en-US" altLang="en-US" dirty="0">
                <a:latin typeface="Arial (Body)"/>
              </a:rPr>
              <a:t>It is not at all apparent that the Louvre Accords succeeded in stabilizing exchange rates.</a:t>
            </a:r>
          </a:p>
          <a:p>
            <a:pPr lvl="1" eaLnBrk="1" hangingPunct="1"/>
            <a:r>
              <a:rPr lang="en-US" altLang="en-US" dirty="0">
                <a:latin typeface="Arial (Body)"/>
              </a:rPr>
              <a:t>The stock market crash in October 1987 made production, employment, and price stability the primary goals for the U.S. central bank, and exchange rate stability became less important.</a:t>
            </a:r>
          </a:p>
          <a:p>
            <a:pPr lvl="1" eaLnBrk="1" hangingPunct="1"/>
            <a:r>
              <a:rPr lang="en-US" altLang="en-US" dirty="0">
                <a:latin typeface="Arial (Body)"/>
              </a:rPr>
              <a:t>New targets were (secretly) made after October 1987, but central banks had abandoned these targets by the early 1990s.</a:t>
            </a:r>
          </a:p>
        </p:txBody>
      </p:sp>
    </p:spTree>
    <p:extLst>
      <p:ext uri="{BB962C8B-B14F-4D97-AF65-F5344CB8AC3E}">
        <p14:creationId xmlns:p14="http://schemas.microsoft.com/office/powerpoint/2010/main" val="27578777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192AA-FB42-4513-ACFC-F32588D91A34}"/>
              </a:ext>
            </a:extLst>
          </p:cNvPr>
          <p:cNvSpPr>
            <a:spLocks noGrp="1"/>
          </p:cNvSpPr>
          <p:nvPr>
            <p:ph type="title"/>
          </p:nvPr>
        </p:nvSpPr>
        <p:spPr/>
        <p:txBody>
          <a:bodyPr/>
          <a:lstStyle/>
          <a:p>
            <a:r>
              <a:rPr lang="en-US" altLang="en-US" dirty="0">
                <a:cs typeface="Times New Roman" panose="02020603050405020304" pitchFamily="18" charset="0"/>
              </a:rPr>
              <a:t>Since 1973 </a:t>
            </a:r>
            <a:r>
              <a:rPr lang="en-US" altLang="en-US" sz="2000" b="0" dirty="0">
                <a:cs typeface="Times New Roman" panose="02020603050405020304" pitchFamily="18" charset="0"/>
              </a:rPr>
              <a:t>(6 of 6)</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E1B60DAF-3554-41DD-9E02-FD3819415A09}"/>
              </a:ext>
            </a:extLst>
          </p:cNvPr>
          <p:cNvSpPr>
            <a:spLocks noGrp="1"/>
          </p:cNvSpPr>
          <p:nvPr>
            <p:ph sz="quarter" idx="13"/>
          </p:nvPr>
        </p:nvSpPr>
        <p:spPr>
          <a:xfrm>
            <a:off x="457200" y="1556327"/>
            <a:ext cx="8229600" cy="3987946"/>
          </a:xfrm>
        </p:spPr>
        <p:txBody>
          <a:bodyPr/>
          <a:lstStyle/>
          <a:p>
            <a:pPr eaLnBrk="1" hangingPunct="1"/>
            <a:r>
              <a:rPr lang="en-US" altLang="en-US" dirty="0">
                <a:latin typeface="Arial (Body)"/>
              </a:rPr>
              <a:t>Many fixed exchange rate systems have nonetheless developed since 1973.</a:t>
            </a:r>
          </a:p>
          <a:p>
            <a:pPr lvl="1" eaLnBrk="1" hangingPunct="1"/>
            <a:r>
              <a:rPr lang="en-US" altLang="en-US" dirty="0">
                <a:latin typeface="Arial (Body)"/>
              </a:rPr>
              <a:t>European monetary system and euro zone (studied in Econ Chapter 21/Finance Chapter 10).</a:t>
            </a:r>
          </a:p>
          <a:p>
            <a:pPr lvl="1" eaLnBrk="1" hangingPunct="1"/>
            <a:r>
              <a:rPr lang="en-US" altLang="en-US" dirty="0">
                <a:latin typeface="Arial (Body)"/>
              </a:rPr>
              <a:t>The Chinese central bank currently fixes the value of its currency.</a:t>
            </a:r>
          </a:p>
          <a:p>
            <a:pPr lvl="1" eaLnBrk="1" hangingPunct="1"/>
            <a:r>
              <a:rPr lang="en-US" altLang="en-US" dirty="0">
                <a:latin typeface="Arial (Body)"/>
              </a:rPr>
              <a:t>A</a:t>
            </a:r>
            <a:r>
              <a:rPr lang="en-US" altLang="en-US" sz="100" dirty="0">
                <a:latin typeface="Arial (Body)"/>
              </a:rPr>
              <a:t> </a:t>
            </a:r>
            <a:r>
              <a:rPr lang="en-US" altLang="en-US" dirty="0">
                <a:latin typeface="Arial (Body)"/>
              </a:rPr>
              <a:t>S</a:t>
            </a:r>
            <a:r>
              <a:rPr lang="en-US" altLang="en-US" sz="100" dirty="0">
                <a:latin typeface="Arial (Body)"/>
              </a:rPr>
              <a:t> </a:t>
            </a:r>
            <a:r>
              <a:rPr lang="en-US" altLang="en-US" dirty="0">
                <a:latin typeface="Arial (Body)"/>
              </a:rPr>
              <a:t>E</a:t>
            </a:r>
            <a:r>
              <a:rPr lang="en-US" altLang="en-US" sz="100" dirty="0">
                <a:latin typeface="Arial (Body)"/>
              </a:rPr>
              <a:t> </a:t>
            </a:r>
            <a:r>
              <a:rPr lang="en-US" altLang="en-US" dirty="0">
                <a:latin typeface="Arial (Body)"/>
              </a:rPr>
              <a:t>A</a:t>
            </a:r>
            <a:r>
              <a:rPr lang="en-US" altLang="en-US" sz="100" dirty="0">
                <a:latin typeface="Arial (Body)"/>
              </a:rPr>
              <a:t> </a:t>
            </a:r>
            <a:r>
              <a:rPr lang="en-US" altLang="en-US" dirty="0">
                <a:latin typeface="Arial (Body)"/>
              </a:rPr>
              <a:t>N countries have considered a fixed exchange rates and policy coordination.</a:t>
            </a:r>
          </a:p>
          <a:p>
            <a:pPr eaLnBrk="1" hangingPunct="1"/>
            <a:r>
              <a:rPr lang="en-US" altLang="en-US" dirty="0">
                <a:latin typeface="Arial (Body)"/>
              </a:rPr>
              <a:t>No system is right for all countries at all times.</a:t>
            </a:r>
          </a:p>
        </p:txBody>
      </p:sp>
    </p:spTree>
    <p:extLst>
      <p:ext uri="{BB962C8B-B14F-4D97-AF65-F5344CB8AC3E}">
        <p14:creationId xmlns:p14="http://schemas.microsoft.com/office/powerpoint/2010/main" val="31051974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200C4-1DA3-4137-A9BC-5DDDAB248AAD}"/>
              </a:ext>
            </a:extLst>
          </p:cNvPr>
          <p:cNvSpPr>
            <a:spLocks noGrp="1"/>
          </p:cNvSpPr>
          <p:nvPr>
            <p:ph type="title"/>
          </p:nvPr>
        </p:nvSpPr>
        <p:spPr/>
        <p:txBody>
          <a:bodyPr/>
          <a:lstStyle/>
          <a:p>
            <a:r>
              <a:rPr lang="en-US" altLang="en-US" sz="3200" dirty="0">
                <a:cs typeface="Times New Roman" panose="02020603050405020304" pitchFamily="18" charset="0"/>
              </a:rPr>
              <a:t>Macroeconomic Interdependence under Floating Exchange Rates </a:t>
            </a:r>
            <a:r>
              <a:rPr lang="en-US" altLang="en-US" sz="2000" b="0" dirty="0">
                <a:cs typeface="Times New Roman" panose="02020603050405020304" pitchFamily="18" charset="0"/>
              </a:rPr>
              <a:t>(1 of 5)</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29491F0A-644C-4375-9030-EFC68AF9F332}"/>
              </a:ext>
            </a:extLst>
          </p:cNvPr>
          <p:cNvSpPr>
            <a:spLocks noGrp="1"/>
          </p:cNvSpPr>
          <p:nvPr>
            <p:ph sz="quarter" idx="13"/>
          </p:nvPr>
        </p:nvSpPr>
        <p:spPr>
          <a:xfrm>
            <a:off x="457199" y="1556327"/>
            <a:ext cx="8393289" cy="4586896"/>
          </a:xfrm>
        </p:spPr>
        <p:txBody>
          <a:bodyPr/>
          <a:lstStyle/>
          <a:p>
            <a:pPr eaLnBrk="1" hangingPunct="1"/>
            <a:r>
              <a:rPr lang="en-US" altLang="en-US" dirty="0">
                <a:latin typeface="Arial (Body)"/>
              </a:rPr>
              <a:t>Previously, we assumed that countries are “</a:t>
            </a:r>
            <a:r>
              <a:rPr lang="en-US" altLang="ja-JP" dirty="0">
                <a:latin typeface="Arial (Body)"/>
              </a:rPr>
              <a:t>small” in that their policies do not affect world markets.</a:t>
            </a:r>
          </a:p>
          <a:p>
            <a:pPr lvl="1" eaLnBrk="1" hangingPunct="1"/>
            <a:r>
              <a:rPr lang="en-US" altLang="en-US" dirty="0">
                <a:latin typeface="Arial (Body)"/>
              </a:rPr>
              <a:t>For example, a depreciation of the domestic currency was assumed to have no significant influence on aggregate demand, output, and prices in foreign countries. </a:t>
            </a:r>
          </a:p>
          <a:p>
            <a:pPr lvl="1" eaLnBrk="1" hangingPunct="1"/>
            <a:r>
              <a:rPr lang="en-US" altLang="en-US" dirty="0">
                <a:latin typeface="Arial (Body)"/>
              </a:rPr>
              <a:t>For countries like Costa Rica, this may be an accurate description.</a:t>
            </a:r>
          </a:p>
          <a:p>
            <a:r>
              <a:rPr lang="en-US" altLang="en-US" dirty="0">
                <a:latin typeface="Arial (Body)"/>
              </a:rPr>
              <a:t>However, large economies such as the United States, E</a:t>
            </a:r>
            <a:r>
              <a:rPr lang="en-US" altLang="en-US" sz="100" dirty="0">
                <a:latin typeface="Arial (Body)"/>
              </a:rPr>
              <a:t> </a:t>
            </a:r>
            <a:r>
              <a:rPr lang="en-US" altLang="en-US" dirty="0">
                <a:latin typeface="Arial (Body)"/>
              </a:rPr>
              <a:t>U, Japan, and China are interdependent because policies in one country affect other economies.</a:t>
            </a:r>
          </a:p>
        </p:txBody>
      </p:sp>
    </p:spTree>
    <p:extLst>
      <p:ext uri="{BB962C8B-B14F-4D97-AF65-F5344CB8AC3E}">
        <p14:creationId xmlns:p14="http://schemas.microsoft.com/office/powerpoint/2010/main" val="39865911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200C4-1DA3-4137-A9BC-5DDDAB248AAD}"/>
              </a:ext>
            </a:extLst>
          </p:cNvPr>
          <p:cNvSpPr>
            <a:spLocks noGrp="1"/>
          </p:cNvSpPr>
          <p:nvPr>
            <p:ph type="title"/>
          </p:nvPr>
        </p:nvSpPr>
        <p:spPr/>
        <p:txBody>
          <a:bodyPr/>
          <a:lstStyle/>
          <a:p>
            <a:r>
              <a:rPr lang="en-US" altLang="en-US" sz="3200" dirty="0">
                <a:cs typeface="Times New Roman" panose="02020603050405020304" pitchFamily="18" charset="0"/>
              </a:rPr>
              <a:t>Macroeconomic Interdependence under Floating Exchange Rates </a:t>
            </a:r>
            <a:r>
              <a:rPr lang="en-US" altLang="en-US" sz="2000" b="0" dirty="0">
                <a:cs typeface="Times New Roman" panose="02020603050405020304" pitchFamily="18" charset="0"/>
              </a:rPr>
              <a:t>(2 of 5)</a:t>
            </a:r>
            <a:endParaRPr lang="en-IN" sz="2000" dirty="0">
              <a:cs typeface="Times New Roman" panose="02020603050405020304" pitchFamily="18" charset="0"/>
            </a:endParaRPr>
          </a:p>
        </p:txBody>
      </p:sp>
      <p:sp>
        <p:nvSpPr>
          <p:cNvPr id="4" name="Content Placeholder 3">
            <a:extLst>
              <a:ext uri="{FF2B5EF4-FFF2-40B4-BE49-F238E27FC236}">
                <a16:creationId xmlns:a16="http://schemas.microsoft.com/office/drawing/2014/main" id="{437A17C4-BD4C-4C57-BEE5-94E99957DF42}"/>
              </a:ext>
            </a:extLst>
          </p:cNvPr>
          <p:cNvSpPr>
            <a:spLocks noGrp="1"/>
          </p:cNvSpPr>
          <p:nvPr>
            <p:ph sz="quarter" idx="13"/>
          </p:nvPr>
        </p:nvSpPr>
        <p:spPr>
          <a:xfrm>
            <a:off x="454672" y="1552576"/>
            <a:ext cx="8232128" cy="692913"/>
          </a:xfrm>
        </p:spPr>
        <p:txBody>
          <a:bodyPr/>
          <a:lstStyle/>
          <a:p>
            <a:r>
              <a:rPr lang="en-US" altLang="en-US" sz="1800" dirty="0">
                <a:latin typeface="Arial (Body)"/>
              </a:rPr>
              <a:t>If the United States permanently increases the money supply, the </a:t>
            </a:r>
            <a:r>
              <a:rPr lang="en-US" altLang="en-US" sz="1800" i="1" dirty="0">
                <a:latin typeface="Arial (Body)"/>
              </a:rPr>
              <a:t>D</a:t>
            </a:r>
            <a:r>
              <a:rPr lang="en-US" altLang="en-US" sz="100" i="1" dirty="0">
                <a:latin typeface="Arial (Body)"/>
              </a:rPr>
              <a:t> </a:t>
            </a:r>
            <a:r>
              <a:rPr lang="en-US" altLang="en-US" sz="1800" i="1" dirty="0">
                <a:latin typeface="Arial (Body)"/>
              </a:rPr>
              <a:t>D-A</a:t>
            </a:r>
            <a:r>
              <a:rPr lang="en-US" altLang="en-US" sz="100" i="1" dirty="0">
                <a:latin typeface="Arial (Body)"/>
              </a:rPr>
              <a:t> </a:t>
            </a:r>
            <a:r>
              <a:rPr lang="en-US" altLang="en-US" sz="1800" i="1" dirty="0">
                <a:latin typeface="Arial (Body)"/>
              </a:rPr>
              <a:t>A</a:t>
            </a:r>
            <a:r>
              <a:rPr lang="en-US" altLang="en-US" sz="1800" dirty="0">
                <a:latin typeface="Arial (Body)"/>
              </a:rPr>
              <a:t> model predicts for the short run:</a:t>
            </a:r>
            <a:endParaRPr lang="en-IN" sz="1800" dirty="0"/>
          </a:p>
        </p:txBody>
      </p:sp>
      <p:sp>
        <p:nvSpPr>
          <p:cNvPr id="5" name="Content Placeholder 4">
            <a:extLst>
              <a:ext uri="{FF2B5EF4-FFF2-40B4-BE49-F238E27FC236}">
                <a16:creationId xmlns:a16="http://schemas.microsoft.com/office/drawing/2014/main" id="{271C5DA5-EC1F-40E4-9A83-E14EC7FA3244}"/>
              </a:ext>
            </a:extLst>
          </p:cNvPr>
          <p:cNvSpPr>
            <a:spLocks noGrp="1"/>
          </p:cNvSpPr>
          <p:nvPr>
            <p:ph sz="quarter" idx="14"/>
          </p:nvPr>
        </p:nvSpPr>
        <p:spPr>
          <a:xfrm>
            <a:off x="454672" y="2324206"/>
            <a:ext cx="8232128" cy="778645"/>
          </a:xfrm>
        </p:spPr>
        <p:txBody>
          <a:bodyPr/>
          <a:lstStyle/>
          <a:p>
            <a:pPr marL="741600" lvl="1" indent="-428400" eaLnBrk="1" hangingPunct="1">
              <a:buFont typeface="Times" pitchFamily="-1" charset="0"/>
              <a:buAutoNum type="arabicPeriod"/>
            </a:pPr>
            <a:r>
              <a:rPr lang="en-US" altLang="en-US" sz="1800" dirty="0">
                <a:latin typeface="Arial (Body)"/>
              </a:rPr>
              <a:t>an increase in U.S. output and income</a:t>
            </a:r>
          </a:p>
          <a:p>
            <a:pPr marL="741600" lvl="1" indent="-428400" eaLnBrk="1" hangingPunct="1">
              <a:buFont typeface="Times" pitchFamily="-1" charset="0"/>
              <a:buAutoNum type="arabicPeriod"/>
            </a:pPr>
            <a:r>
              <a:rPr lang="en-US" altLang="en-US" sz="1800" dirty="0">
                <a:latin typeface="Arial (Body)"/>
              </a:rPr>
              <a:t>a depreciation of the U.S. dollar</a:t>
            </a:r>
            <a:endParaRPr lang="en-IN" sz="1800" dirty="0"/>
          </a:p>
        </p:txBody>
      </p:sp>
      <p:sp>
        <p:nvSpPr>
          <p:cNvPr id="6" name="Content Placeholder 5">
            <a:extLst>
              <a:ext uri="{FF2B5EF4-FFF2-40B4-BE49-F238E27FC236}">
                <a16:creationId xmlns:a16="http://schemas.microsoft.com/office/drawing/2014/main" id="{0E6D7A86-A2E4-49B6-87BC-415B10CE3295}"/>
              </a:ext>
            </a:extLst>
          </p:cNvPr>
          <p:cNvSpPr>
            <a:spLocks noGrp="1"/>
          </p:cNvSpPr>
          <p:nvPr>
            <p:ph sz="quarter" idx="15"/>
          </p:nvPr>
        </p:nvSpPr>
        <p:spPr>
          <a:xfrm>
            <a:off x="468313" y="3174825"/>
            <a:ext cx="8218487" cy="413501"/>
          </a:xfrm>
        </p:spPr>
        <p:txBody>
          <a:bodyPr/>
          <a:lstStyle/>
          <a:p>
            <a:r>
              <a:rPr lang="en-US" altLang="en-US" sz="1800" dirty="0">
                <a:latin typeface="Arial (Body)"/>
              </a:rPr>
              <a:t>What would be the effects for Japan?</a:t>
            </a:r>
            <a:endParaRPr lang="en-IN" sz="1800" dirty="0"/>
          </a:p>
        </p:txBody>
      </p:sp>
      <p:sp>
        <p:nvSpPr>
          <p:cNvPr id="7" name="Content Placeholder 6">
            <a:extLst>
              <a:ext uri="{FF2B5EF4-FFF2-40B4-BE49-F238E27FC236}">
                <a16:creationId xmlns:a16="http://schemas.microsoft.com/office/drawing/2014/main" id="{B64C064C-9CEF-4DE3-92BA-B7FD012AD4E8}"/>
              </a:ext>
            </a:extLst>
          </p:cNvPr>
          <p:cNvSpPr>
            <a:spLocks noGrp="1"/>
          </p:cNvSpPr>
          <p:nvPr>
            <p:ph sz="quarter" idx="16"/>
          </p:nvPr>
        </p:nvSpPr>
        <p:spPr>
          <a:xfrm>
            <a:off x="468312" y="3644422"/>
            <a:ext cx="8455769" cy="1578743"/>
          </a:xfrm>
        </p:spPr>
        <p:txBody>
          <a:bodyPr/>
          <a:lstStyle/>
          <a:p>
            <a:pPr marL="741600" lvl="1" indent="-428400" eaLnBrk="1" hangingPunct="1">
              <a:buFont typeface="Times" pitchFamily="-1" charset="0"/>
              <a:buAutoNum type="arabicPeriod"/>
            </a:pPr>
            <a:r>
              <a:rPr lang="en-US" altLang="en-US" sz="1800" dirty="0">
                <a:latin typeface="Arial (Body)"/>
              </a:rPr>
              <a:t>an increase in U.S. output and income would raise demand for Japanese products, thereby </a:t>
            </a:r>
            <a:r>
              <a:rPr lang="en-US" altLang="en-US" sz="1800" b="1" dirty="0">
                <a:latin typeface="Arial (Body)"/>
              </a:rPr>
              <a:t>increasing aggregate demand and output in Japan</a:t>
            </a:r>
            <a:r>
              <a:rPr lang="en-US" altLang="en-US" sz="1800" dirty="0">
                <a:latin typeface="Arial (Body)"/>
              </a:rPr>
              <a:t>.</a:t>
            </a:r>
          </a:p>
          <a:p>
            <a:pPr marL="741600" lvl="1" indent="-428400" eaLnBrk="1" hangingPunct="1">
              <a:buFont typeface="Times" pitchFamily="-1" charset="0"/>
              <a:buAutoNum type="arabicPeriod"/>
            </a:pPr>
            <a:r>
              <a:rPr lang="en-US" altLang="en-US" sz="1800" dirty="0">
                <a:latin typeface="Arial (Body)"/>
              </a:rPr>
              <a:t>a depreciation of the U.S. dollar means an appreciation of the yen, lowering demand for Japanese products, thereby </a:t>
            </a:r>
            <a:r>
              <a:rPr lang="en-US" altLang="en-US" sz="1800" b="1" dirty="0">
                <a:latin typeface="Arial (Body)"/>
              </a:rPr>
              <a:t>decreasing aggregate demand and output in Japan</a:t>
            </a:r>
            <a:r>
              <a:rPr lang="en-US" altLang="en-US" sz="1800" dirty="0">
                <a:latin typeface="Arial (Body)"/>
              </a:rPr>
              <a:t>. </a:t>
            </a:r>
          </a:p>
        </p:txBody>
      </p:sp>
      <p:sp>
        <p:nvSpPr>
          <p:cNvPr id="8" name="Content Placeholder 7">
            <a:extLst>
              <a:ext uri="{FF2B5EF4-FFF2-40B4-BE49-F238E27FC236}">
                <a16:creationId xmlns:a16="http://schemas.microsoft.com/office/drawing/2014/main" id="{BAFC83F0-7CB6-4951-8381-268846110317}"/>
              </a:ext>
            </a:extLst>
          </p:cNvPr>
          <p:cNvSpPr>
            <a:spLocks noGrp="1"/>
          </p:cNvSpPr>
          <p:nvPr>
            <p:ph sz="quarter" idx="17"/>
          </p:nvPr>
        </p:nvSpPr>
        <p:spPr>
          <a:xfrm>
            <a:off x="454672" y="5277623"/>
            <a:ext cx="5509248" cy="488637"/>
          </a:xfrm>
        </p:spPr>
        <p:txBody>
          <a:bodyPr/>
          <a:lstStyle/>
          <a:p>
            <a:pPr lvl="1" indent="-284400"/>
            <a:r>
              <a:rPr lang="en-US" altLang="en-US" sz="1800" dirty="0">
                <a:latin typeface="Arial (Body)"/>
              </a:rPr>
              <a:t>The total effect of (1) and (2) is ambiguous.</a:t>
            </a:r>
          </a:p>
        </p:txBody>
      </p:sp>
    </p:spTree>
    <p:extLst>
      <p:ext uri="{BB962C8B-B14F-4D97-AF65-F5344CB8AC3E}">
        <p14:creationId xmlns:p14="http://schemas.microsoft.com/office/powerpoint/2010/main" val="7058599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200C4-1DA3-4137-A9BC-5DDDAB248AAD}"/>
              </a:ext>
            </a:extLst>
          </p:cNvPr>
          <p:cNvSpPr>
            <a:spLocks noGrp="1"/>
          </p:cNvSpPr>
          <p:nvPr>
            <p:ph type="title"/>
          </p:nvPr>
        </p:nvSpPr>
        <p:spPr/>
        <p:txBody>
          <a:bodyPr/>
          <a:lstStyle/>
          <a:p>
            <a:r>
              <a:rPr lang="en-US" altLang="en-US" sz="3200" dirty="0">
                <a:cs typeface="Times New Roman" panose="02020603050405020304" pitchFamily="18" charset="0"/>
              </a:rPr>
              <a:t>Macroeconomic Interdependence under Floating Exchange Rates </a:t>
            </a:r>
            <a:r>
              <a:rPr lang="en-US" altLang="en-US" sz="2000" b="0" dirty="0">
                <a:cs typeface="Times New Roman" panose="02020603050405020304" pitchFamily="18" charset="0"/>
              </a:rPr>
              <a:t>(3 of 5)</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29491F0A-644C-4375-9030-EFC68AF9F332}"/>
              </a:ext>
            </a:extLst>
          </p:cNvPr>
          <p:cNvSpPr>
            <a:spLocks noGrp="1"/>
          </p:cNvSpPr>
          <p:nvPr>
            <p:ph sz="quarter" idx="13"/>
          </p:nvPr>
        </p:nvSpPr>
        <p:spPr/>
        <p:txBody>
          <a:bodyPr/>
          <a:lstStyle/>
          <a:p>
            <a:r>
              <a:rPr lang="en-US" altLang="en-US" sz="2200" dirty="0">
                <a:latin typeface="Arial (Body)"/>
              </a:rPr>
              <a:t>If the United States permanently increases government purchases, the </a:t>
            </a:r>
            <a:r>
              <a:rPr lang="en-US" altLang="en-US" sz="2200" i="1" dirty="0">
                <a:latin typeface="Arial (Body)"/>
              </a:rPr>
              <a:t>D</a:t>
            </a:r>
            <a:r>
              <a:rPr lang="en-US" altLang="en-US" sz="100" i="1" dirty="0">
                <a:latin typeface="Arial (Body)"/>
              </a:rPr>
              <a:t> </a:t>
            </a:r>
            <a:r>
              <a:rPr lang="en-US" altLang="en-US" sz="2200" i="1" dirty="0">
                <a:latin typeface="Arial (Body)"/>
              </a:rPr>
              <a:t>D-A</a:t>
            </a:r>
            <a:r>
              <a:rPr lang="en-US" altLang="en-US" sz="100" i="1" dirty="0">
                <a:latin typeface="Arial (Body)"/>
              </a:rPr>
              <a:t> </a:t>
            </a:r>
            <a:r>
              <a:rPr lang="en-US" altLang="en-US" sz="2200" i="1" dirty="0">
                <a:latin typeface="Arial (Body)"/>
              </a:rPr>
              <a:t>A</a:t>
            </a:r>
            <a:r>
              <a:rPr lang="en-US" altLang="en-US" sz="2200" dirty="0">
                <a:latin typeface="Arial (Body)"/>
              </a:rPr>
              <a:t> model predicts:</a:t>
            </a:r>
          </a:p>
          <a:p>
            <a:pPr marL="740664" lvl="1" indent="-283464" eaLnBrk="1" hangingPunct="1"/>
            <a:r>
              <a:rPr lang="en-US" altLang="en-US" sz="2200" dirty="0">
                <a:latin typeface="Arial (Body)"/>
              </a:rPr>
              <a:t> an appreciation of the U.S. dollar. </a:t>
            </a:r>
          </a:p>
          <a:p>
            <a:pPr eaLnBrk="1" hangingPunct="1"/>
            <a:r>
              <a:rPr lang="en-US" altLang="en-US" sz="2200" dirty="0">
                <a:latin typeface="Arial (Body)"/>
              </a:rPr>
              <a:t>What would be the effects for Japan?</a:t>
            </a:r>
          </a:p>
          <a:p>
            <a:pPr marL="740664" lvl="1" indent="-283464" eaLnBrk="1" hangingPunct="1"/>
            <a:r>
              <a:rPr lang="en-US" altLang="en-US" sz="2200" dirty="0">
                <a:latin typeface="Arial (Body)"/>
              </a:rPr>
              <a:t>an appreciation of the U.S. dollar means an depreciation of the yen, raising demand for Japanese products, thereby increasing aggregate demand and output in Japan. </a:t>
            </a:r>
          </a:p>
          <a:p>
            <a:r>
              <a:rPr lang="en-US" altLang="en-US" sz="2200" dirty="0">
                <a:latin typeface="Arial (Body)"/>
              </a:rPr>
              <a:t>What would be the subsequent effects for the United States ?</a:t>
            </a:r>
          </a:p>
          <a:p>
            <a:pPr marL="740664" lvl="1" indent="-283464"/>
            <a:r>
              <a:rPr lang="en-US" altLang="en-US" sz="2200" dirty="0">
                <a:latin typeface="Arial (Body)"/>
              </a:rPr>
              <a:t>Higher Japanese output and income means that more income is spent on U.S. products, increasing aggregate demand and output in the United States in the short run.</a:t>
            </a:r>
          </a:p>
        </p:txBody>
      </p:sp>
    </p:spTree>
    <p:extLst>
      <p:ext uri="{BB962C8B-B14F-4D97-AF65-F5344CB8AC3E}">
        <p14:creationId xmlns:p14="http://schemas.microsoft.com/office/powerpoint/2010/main" val="2854281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200C4-1DA3-4137-A9BC-5DDDAB248AAD}"/>
              </a:ext>
            </a:extLst>
          </p:cNvPr>
          <p:cNvSpPr>
            <a:spLocks noGrp="1"/>
          </p:cNvSpPr>
          <p:nvPr>
            <p:ph type="title"/>
          </p:nvPr>
        </p:nvSpPr>
        <p:spPr/>
        <p:txBody>
          <a:bodyPr/>
          <a:lstStyle/>
          <a:p>
            <a:r>
              <a:rPr lang="en-US" altLang="en-US" sz="3200" dirty="0">
                <a:cs typeface="Times New Roman" panose="02020603050405020304" pitchFamily="18" charset="0"/>
              </a:rPr>
              <a:t>Macroeconomic Interdependence under Floating Exchange Rates </a:t>
            </a:r>
            <a:r>
              <a:rPr lang="en-US" altLang="en-US" sz="2000" b="0" dirty="0">
                <a:cs typeface="Times New Roman" panose="02020603050405020304" pitchFamily="18" charset="0"/>
              </a:rPr>
              <a:t>(4 of 5)</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29491F0A-644C-4375-9030-EFC68AF9F332}"/>
              </a:ext>
            </a:extLst>
          </p:cNvPr>
          <p:cNvSpPr>
            <a:spLocks noGrp="1"/>
          </p:cNvSpPr>
          <p:nvPr>
            <p:ph sz="quarter" idx="13"/>
          </p:nvPr>
        </p:nvSpPr>
        <p:spPr>
          <a:xfrm>
            <a:off x="457199" y="1556327"/>
            <a:ext cx="8354291" cy="2147572"/>
          </a:xfrm>
        </p:spPr>
        <p:txBody>
          <a:bodyPr/>
          <a:lstStyle/>
          <a:p>
            <a:r>
              <a:rPr lang="en-US" altLang="en-US" dirty="0">
                <a:latin typeface="Arial (Body)"/>
              </a:rPr>
              <a:t>In fact, the United States has depended on saved funds from many countries, while it has borrowed heavily.</a:t>
            </a:r>
          </a:p>
          <a:p>
            <a:pPr lvl="1"/>
            <a:r>
              <a:rPr lang="en-US" altLang="en-US" dirty="0">
                <a:latin typeface="Arial (Body)"/>
              </a:rPr>
              <a:t>The United States has run a current account deficit for many years due to its low saving and high investment expenditure.</a:t>
            </a:r>
          </a:p>
        </p:txBody>
      </p:sp>
    </p:spTree>
    <p:extLst>
      <p:ext uri="{BB962C8B-B14F-4D97-AF65-F5344CB8AC3E}">
        <p14:creationId xmlns:p14="http://schemas.microsoft.com/office/powerpoint/2010/main" val="9816501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B88E9-1792-4CED-95E2-3A2DA1417149}"/>
              </a:ext>
            </a:extLst>
          </p:cNvPr>
          <p:cNvSpPr>
            <a:spLocks noGrp="1"/>
          </p:cNvSpPr>
          <p:nvPr>
            <p:ph type="title"/>
          </p:nvPr>
        </p:nvSpPr>
        <p:spPr/>
        <p:txBody>
          <a:bodyPr/>
          <a:lstStyle/>
          <a:p>
            <a:r>
              <a:rPr lang="en-US" altLang="en-US" sz="3200" dirty="0">
                <a:cs typeface="Times New Roman" panose="02020603050405020304" pitchFamily="18" charset="0"/>
              </a:rPr>
              <a:t>Figure 19.7 Global External Imbalances, 1999–2019</a:t>
            </a:r>
            <a:endParaRPr lang="en-IN" sz="32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299A94C9-2AA2-4C33-B6A1-D8A8527E0EF9}"/>
              </a:ext>
            </a:extLst>
          </p:cNvPr>
          <p:cNvSpPr>
            <a:spLocks noGrp="1"/>
          </p:cNvSpPr>
          <p:nvPr>
            <p:ph sz="quarter" idx="13"/>
          </p:nvPr>
        </p:nvSpPr>
        <p:spPr>
          <a:xfrm>
            <a:off x="457200" y="1556326"/>
            <a:ext cx="3516489" cy="4520623"/>
          </a:xfrm>
        </p:spPr>
        <p:txBody>
          <a:bodyPr/>
          <a:lstStyle/>
          <a:p>
            <a:pPr marL="0" indent="0">
              <a:buNone/>
            </a:pPr>
            <a:r>
              <a:rPr lang="en-US" sz="1800" dirty="0"/>
              <a:t>During the first half of the 2000s, the large increase in the U.S. current account deficit was matched by increases in the surpluses of Asian countries (notably China), Latin America, and oil exporters. After 2008 the imbalances shrank temporarily, but have since increased, with the euro area developing a big surplus.</a:t>
            </a:r>
          </a:p>
          <a:p>
            <a:pPr marL="0" indent="0">
              <a:buNone/>
            </a:pPr>
            <a:r>
              <a:rPr lang="en-US" sz="1400" b="1" i="0" u="none" strike="noStrike" baseline="0" dirty="0"/>
              <a:t>Source: </a:t>
            </a:r>
            <a:r>
              <a:rPr lang="en-US" sz="1400" b="0" i="0" u="none" strike="noStrike" baseline="0" dirty="0"/>
              <a:t>International Monetary Fund, </a:t>
            </a:r>
            <a:r>
              <a:rPr lang="en-US" sz="1400" b="1" u="none" strike="noStrike" baseline="0" dirty="0"/>
              <a:t>World Economic Outlook </a:t>
            </a:r>
            <a:r>
              <a:rPr lang="en-US" sz="1400" b="0" i="0" u="none" strike="noStrike" baseline="0" dirty="0"/>
              <a:t>database, October 2019. Numbers for 2019 are projections.</a:t>
            </a:r>
            <a:endParaRPr lang="en-US" sz="1400" dirty="0"/>
          </a:p>
        </p:txBody>
      </p:sp>
      <p:pic>
        <p:nvPicPr>
          <p:cNvPr id="6" name="Content Placeholder 5" descr="A graph depicts global external imbalances from 19 99 to 20 19. For long description in Notes pane, press F6.">
            <a:extLst>
              <a:ext uri="{FF2B5EF4-FFF2-40B4-BE49-F238E27FC236}">
                <a16:creationId xmlns:a16="http://schemas.microsoft.com/office/drawing/2014/main" id="{4C66CD9F-0AAA-4B2C-B316-A64D1767D2BA}"/>
              </a:ext>
            </a:extLst>
          </p:cNvPr>
          <p:cNvPicPr>
            <a:picLocks noGrp="1" noChangeAspect="1"/>
          </p:cNvPicPr>
          <p:nvPr>
            <p:ph sz="quarter" idx="14"/>
          </p:nvPr>
        </p:nvPicPr>
        <p:blipFill>
          <a:blip r:embed="rId3"/>
          <a:stretch>
            <a:fillRect/>
          </a:stretch>
        </p:blipFill>
        <p:spPr>
          <a:xfrm>
            <a:off x="4373028" y="1696967"/>
            <a:ext cx="4468483" cy="3981457"/>
          </a:xfrm>
        </p:spPr>
      </p:pic>
    </p:spTree>
    <p:extLst>
      <p:ext uri="{BB962C8B-B14F-4D97-AF65-F5344CB8AC3E}">
        <p14:creationId xmlns:p14="http://schemas.microsoft.com/office/powerpoint/2010/main" val="371438382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200C4-1DA3-4137-A9BC-5DDDAB248AAD}"/>
              </a:ext>
            </a:extLst>
          </p:cNvPr>
          <p:cNvSpPr>
            <a:spLocks noGrp="1"/>
          </p:cNvSpPr>
          <p:nvPr>
            <p:ph type="title"/>
          </p:nvPr>
        </p:nvSpPr>
        <p:spPr/>
        <p:txBody>
          <a:bodyPr/>
          <a:lstStyle/>
          <a:p>
            <a:r>
              <a:rPr lang="en-US" altLang="en-US" sz="3200" dirty="0">
                <a:cs typeface="Times New Roman" panose="02020603050405020304" pitchFamily="18" charset="0"/>
              </a:rPr>
              <a:t>Macroeconomic Interdependence under Floating Exchange Rates </a:t>
            </a:r>
            <a:r>
              <a:rPr lang="en-US" altLang="en-US" sz="2000" b="0" dirty="0">
                <a:cs typeface="Times New Roman" panose="02020603050405020304" pitchFamily="18" charset="0"/>
              </a:rPr>
              <a:t>(5 of 5)</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29491F0A-644C-4375-9030-EFC68AF9F332}"/>
              </a:ext>
            </a:extLst>
          </p:cNvPr>
          <p:cNvSpPr>
            <a:spLocks noGrp="1"/>
          </p:cNvSpPr>
          <p:nvPr>
            <p:ph sz="quarter" idx="13"/>
          </p:nvPr>
        </p:nvSpPr>
        <p:spPr>
          <a:xfrm>
            <a:off x="457200" y="1556326"/>
            <a:ext cx="8229600" cy="2772605"/>
          </a:xfrm>
        </p:spPr>
        <p:txBody>
          <a:bodyPr/>
          <a:lstStyle/>
          <a:p>
            <a:r>
              <a:rPr lang="en-US" altLang="en-US" dirty="0">
                <a:latin typeface="Arial (Body)"/>
              </a:rPr>
              <a:t>But as foreign countries spend more and lend less to the United States,</a:t>
            </a:r>
          </a:p>
          <a:p>
            <a:pPr lvl="1" eaLnBrk="1" hangingPunct="1"/>
            <a:r>
              <a:rPr lang="en-US" altLang="en-US" dirty="0">
                <a:latin typeface="Arial (Body)"/>
              </a:rPr>
              <a:t>interest rates are rising slightly</a:t>
            </a:r>
          </a:p>
          <a:p>
            <a:pPr lvl="1" eaLnBrk="1" hangingPunct="1"/>
            <a:r>
              <a:rPr lang="en-US" altLang="en-US" dirty="0">
                <a:latin typeface="Arial (Body)"/>
              </a:rPr>
              <a:t>the U.S. dollar is depreciating </a:t>
            </a:r>
          </a:p>
          <a:p>
            <a:pPr lvl="1" eaLnBrk="1" hangingPunct="1"/>
            <a:r>
              <a:rPr lang="en-US" altLang="en-US" dirty="0">
                <a:latin typeface="Arial (Body)"/>
              </a:rPr>
              <a:t>the U.S. current account is increasing (becoming less negative).</a:t>
            </a:r>
          </a:p>
        </p:txBody>
      </p:sp>
    </p:spTree>
    <p:extLst>
      <p:ext uri="{BB962C8B-B14F-4D97-AF65-F5344CB8AC3E}">
        <p14:creationId xmlns:p14="http://schemas.microsoft.com/office/powerpoint/2010/main" val="211483176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02CBE-45E1-4501-96F1-7E4B1D31ACFA}"/>
              </a:ext>
            </a:extLst>
          </p:cNvPr>
          <p:cNvSpPr>
            <a:spLocks noGrp="1"/>
          </p:cNvSpPr>
          <p:nvPr>
            <p:ph type="title"/>
          </p:nvPr>
        </p:nvSpPr>
        <p:spPr>
          <a:xfrm>
            <a:off x="457200" y="88899"/>
            <a:ext cx="8229600" cy="1223751"/>
          </a:xfrm>
        </p:spPr>
        <p:txBody>
          <a:bodyPr/>
          <a:lstStyle/>
          <a:p>
            <a:r>
              <a:rPr lang="en-US" altLang="en-US" sz="2400" dirty="0">
                <a:cs typeface="Times New Roman" panose="02020603050405020304" pitchFamily="18" charset="0"/>
              </a:rPr>
              <a:t>Figure 19.8: Long-Term Real Interest Rates for the United States, Germany, Japan, and the United Kingdom, 1999–2020</a:t>
            </a:r>
            <a:endParaRPr lang="en-IN" sz="2400" dirty="0">
              <a:cs typeface="Times New Roman" panose="02020603050405020304" pitchFamily="18" charset="0"/>
            </a:endParaRPr>
          </a:p>
        </p:txBody>
      </p:sp>
      <p:pic>
        <p:nvPicPr>
          <p:cNvPr id="6" name="Content Placeholder 5" descr="A graph depicts long term interest rates for the U.S., Germany, Japan, and the U.K. For long description in Notes pane, press F6.">
            <a:extLst>
              <a:ext uri="{FF2B5EF4-FFF2-40B4-BE49-F238E27FC236}">
                <a16:creationId xmlns:a16="http://schemas.microsoft.com/office/drawing/2014/main" id="{C81F7225-B753-408B-B386-C506510E398D}"/>
              </a:ext>
            </a:extLst>
          </p:cNvPr>
          <p:cNvPicPr>
            <a:picLocks noGrp="1" noChangeAspect="1"/>
          </p:cNvPicPr>
          <p:nvPr>
            <p:ph sz="quarter" idx="13"/>
          </p:nvPr>
        </p:nvPicPr>
        <p:blipFill>
          <a:blip r:embed="rId3"/>
          <a:stretch>
            <a:fillRect/>
          </a:stretch>
        </p:blipFill>
        <p:spPr>
          <a:xfrm>
            <a:off x="1844177" y="1573260"/>
            <a:ext cx="5455645" cy="3617330"/>
          </a:xfrm>
        </p:spPr>
      </p:pic>
      <p:sp>
        <p:nvSpPr>
          <p:cNvPr id="4" name="Content Placeholder 3">
            <a:extLst>
              <a:ext uri="{FF2B5EF4-FFF2-40B4-BE49-F238E27FC236}">
                <a16:creationId xmlns:a16="http://schemas.microsoft.com/office/drawing/2014/main" id="{0AD721F8-5912-4CDE-8D57-E765DDDB7A99}"/>
              </a:ext>
            </a:extLst>
          </p:cNvPr>
          <p:cNvSpPr>
            <a:spLocks noGrp="1"/>
          </p:cNvSpPr>
          <p:nvPr>
            <p:ph sz="quarter" idx="14"/>
          </p:nvPr>
        </p:nvSpPr>
        <p:spPr>
          <a:xfrm>
            <a:off x="457200" y="5300040"/>
            <a:ext cx="8229600" cy="973760"/>
          </a:xfrm>
        </p:spPr>
        <p:txBody>
          <a:bodyPr tIns="0" bIns="0"/>
          <a:lstStyle/>
          <a:p>
            <a:pPr marL="0" indent="0">
              <a:spcBef>
                <a:spcPts val="600"/>
              </a:spcBef>
              <a:buNone/>
            </a:pPr>
            <a:r>
              <a:rPr lang="en-US" sz="1600" dirty="0"/>
              <a:t>Real interest rates fell to low levels in the 2000s. Many countries followed the same trend.</a:t>
            </a:r>
          </a:p>
          <a:p>
            <a:pPr marL="432" indent="0" algn="l">
              <a:spcBef>
                <a:spcPts val="600"/>
              </a:spcBef>
              <a:buNone/>
            </a:pPr>
            <a:r>
              <a:rPr lang="en-US" sz="1200" b="1" i="0" u="none" strike="noStrike" baseline="0" dirty="0"/>
              <a:t>Source: </a:t>
            </a:r>
            <a:r>
              <a:rPr lang="en-US" sz="1200" b="0" i="0" u="none" strike="noStrike" baseline="0" dirty="0"/>
              <a:t>O</a:t>
            </a:r>
            <a:r>
              <a:rPr lang="en-US" sz="100" b="0" i="0" u="none" strike="noStrike" baseline="0" dirty="0"/>
              <a:t> </a:t>
            </a:r>
            <a:r>
              <a:rPr lang="en-US" sz="1200" b="0" i="0" u="none" strike="noStrike" baseline="0" dirty="0"/>
              <a:t>E</a:t>
            </a:r>
            <a:r>
              <a:rPr lang="en-US" sz="100" b="0" i="0" u="none" strike="noStrike" baseline="0" dirty="0"/>
              <a:t> </a:t>
            </a:r>
            <a:r>
              <a:rPr lang="en-US" sz="1200" b="0" i="0" u="none" strike="noStrike" baseline="0" dirty="0"/>
              <a:t>C</a:t>
            </a:r>
            <a:r>
              <a:rPr lang="en-US" sz="100" b="0" i="0" u="none" strike="noStrike" baseline="0" dirty="0"/>
              <a:t> </a:t>
            </a:r>
            <a:r>
              <a:rPr lang="en-US" sz="1200" b="0" i="0" u="none" strike="noStrike" baseline="0" dirty="0"/>
              <a:t>D. Real interest rates are six-month moving averages of monthly nominal interest rates on 10-year government bonds less inflation over the preceding year.</a:t>
            </a:r>
            <a:endParaRPr lang="en-US" sz="1200" dirty="0"/>
          </a:p>
        </p:txBody>
      </p:sp>
    </p:spTree>
    <p:extLst>
      <p:ext uri="{BB962C8B-B14F-4D97-AF65-F5344CB8AC3E}">
        <p14:creationId xmlns:p14="http://schemas.microsoft.com/office/powerpoint/2010/main" val="9425890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8412F-04D7-4FE5-80E4-D391AF79095A}"/>
              </a:ext>
            </a:extLst>
          </p:cNvPr>
          <p:cNvSpPr>
            <a:spLocks noGrp="1"/>
          </p:cNvSpPr>
          <p:nvPr>
            <p:ph type="title"/>
          </p:nvPr>
        </p:nvSpPr>
        <p:spPr/>
        <p:txBody>
          <a:bodyPr/>
          <a:lstStyle/>
          <a:p>
            <a:r>
              <a:rPr lang="en-US" altLang="en-US" sz="2800" dirty="0"/>
              <a:t>Figure 19.9 Immediate Output and Fiscal Consequences of the Global Pandemic Crisis</a:t>
            </a:r>
            <a:endParaRPr lang="en-IN" sz="2800" dirty="0"/>
          </a:p>
        </p:txBody>
      </p:sp>
      <p:pic>
        <p:nvPicPr>
          <p:cNvPr id="11" name="Content Placeholder 10" descr="Two graphs represent the immediate output and fiscal consequences of the global pandemic. For long description in Notes pane, press F6.">
            <a:extLst>
              <a:ext uri="{FF2B5EF4-FFF2-40B4-BE49-F238E27FC236}">
                <a16:creationId xmlns:a16="http://schemas.microsoft.com/office/drawing/2014/main" id="{27CBDF5E-E102-4A92-986C-9E5266EE238F}"/>
              </a:ext>
            </a:extLst>
          </p:cNvPr>
          <p:cNvPicPr>
            <a:picLocks noGrp="1" noChangeAspect="1"/>
          </p:cNvPicPr>
          <p:nvPr>
            <p:ph sz="quarter" idx="13"/>
          </p:nvPr>
        </p:nvPicPr>
        <p:blipFill>
          <a:blip r:embed="rId3"/>
          <a:stretch>
            <a:fillRect/>
          </a:stretch>
        </p:blipFill>
        <p:spPr>
          <a:xfrm>
            <a:off x="568520" y="1548660"/>
            <a:ext cx="2597605" cy="4751278"/>
          </a:xfrm>
        </p:spPr>
      </p:pic>
      <p:sp>
        <p:nvSpPr>
          <p:cNvPr id="5" name="Content Placeholder 4">
            <a:extLst>
              <a:ext uri="{FF2B5EF4-FFF2-40B4-BE49-F238E27FC236}">
                <a16:creationId xmlns:a16="http://schemas.microsoft.com/office/drawing/2014/main" id="{0103CCA0-59B5-4E57-A080-011A907F806D}"/>
              </a:ext>
            </a:extLst>
          </p:cNvPr>
          <p:cNvSpPr>
            <a:spLocks noGrp="1"/>
          </p:cNvSpPr>
          <p:nvPr>
            <p:ph sz="quarter" idx="15"/>
          </p:nvPr>
        </p:nvSpPr>
        <p:spPr>
          <a:xfrm>
            <a:off x="3934690" y="1543691"/>
            <a:ext cx="4938377" cy="2317110"/>
          </a:xfrm>
        </p:spPr>
        <p:txBody>
          <a:bodyPr/>
          <a:lstStyle/>
          <a:p>
            <a:pPr marL="0" indent="0">
              <a:spcBef>
                <a:spcPts val="600"/>
              </a:spcBef>
              <a:buNone/>
            </a:pPr>
            <a:r>
              <a:rPr lang="en-US" sz="1600" dirty="0"/>
              <a:t>Global output levels declined sharply because of the pandemic lockdown, while governments responded with fiscal measures even more aggressive than during earlier global financial crisis. Panel (a) shows indices of the level of G</a:t>
            </a:r>
            <a:r>
              <a:rPr lang="en-US" sz="100" dirty="0"/>
              <a:t> </a:t>
            </a:r>
            <a:r>
              <a:rPr lang="en-US" sz="1600" dirty="0"/>
              <a:t>D</a:t>
            </a:r>
            <a:r>
              <a:rPr lang="en-US" sz="100" dirty="0"/>
              <a:t> </a:t>
            </a:r>
            <a:r>
              <a:rPr lang="en-US" sz="1600" dirty="0"/>
              <a:t>P. Panel (b) shows aggregate global pubic debt and deficits.</a:t>
            </a:r>
          </a:p>
          <a:p>
            <a:pPr marL="0" indent="0">
              <a:spcBef>
                <a:spcPts val="600"/>
              </a:spcBef>
              <a:buNone/>
            </a:pPr>
            <a:r>
              <a:rPr lang="en-US" sz="1200" b="1" i="0" u="none" strike="noStrike" baseline="0" dirty="0"/>
              <a:t>Source: </a:t>
            </a:r>
            <a:r>
              <a:rPr lang="en-US" sz="1200" b="0" i="0" u="none" strike="noStrike" baseline="0" dirty="0"/>
              <a:t>International Monetary Fund, </a:t>
            </a:r>
            <a:r>
              <a:rPr lang="en-US" sz="1200" b="1" u="none" strike="noStrike" baseline="0" dirty="0"/>
              <a:t>World Economic Outlook,</a:t>
            </a:r>
            <a:r>
              <a:rPr lang="en-US" sz="1200" b="0" i="0" u="none" strike="noStrike" baseline="0" dirty="0"/>
              <a:t> June 2020 update, based on I</a:t>
            </a:r>
            <a:r>
              <a:rPr lang="en-US" sz="100" b="0" i="0" u="none" strike="noStrike" baseline="0" dirty="0"/>
              <a:t> </a:t>
            </a:r>
            <a:r>
              <a:rPr lang="en-US" sz="1200" b="0" i="0" u="none" strike="noStrike" baseline="0" dirty="0"/>
              <a:t>M</a:t>
            </a:r>
            <a:r>
              <a:rPr lang="en-US" sz="100" b="0" i="0" u="none" strike="noStrike" baseline="0" dirty="0"/>
              <a:t> </a:t>
            </a:r>
            <a:r>
              <a:rPr lang="en-US" sz="1200" b="0" i="0" u="none" strike="noStrike" baseline="0" dirty="0"/>
              <a:t>F staff estimates.</a:t>
            </a:r>
            <a:endParaRPr lang="en-US" sz="1200" dirty="0"/>
          </a:p>
        </p:txBody>
      </p:sp>
    </p:spTree>
    <p:extLst>
      <p:ext uri="{BB962C8B-B14F-4D97-AF65-F5344CB8AC3E}">
        <p14:creationId xmlns:p14="http://schemas.microsoft.com/office/powerpoint/2010/main" val="26471471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2DCF4-D408-4F89-85FF-FB083F59EFB3}"/>
              </a:ext>
            </a:extLst>
          </p:cNvPr>
          <p:cNvSpPr>
            <a:spLocks noGrp="1"/>
          </p:cNvSpPr>
          <p:nvPr>
            <p:ph type="title"/>
          </p:nvPr>
        </p:nvSpPr>
        <p:spPr/>
        <p:txBody>
          <a:bodyPr/>
          <a:lstStyle/>
          <a:p>
            <a:r>
              <a:rPr lang="en-US" altLang="en-US" sz="3200" dirty="0">
                <a:cs typeface="Times New Roman" panose="02020603050405020304" pitchFamily="18" charset="0"/>
              </a:rPr>
              <a:t>Recent Inflation Rates in Some Advanced Countries</a:t>
            </a:r>
            <a:endParaRPr lang="en-IN" sz="3200" dirty="0">
              <a:cs typeface="Times New Roman" panose="02020603050405020304" pitchFamily="18" charset="0"/>
            </a:endParaRPr>
          </a:p>
        </p:txBody>
      </p:sp>
      <p:pic>
        <p:nvPicPr>
          <p:cNvPr id="6" name="Content Placeholder 5" descr="A graph depicts recent inflation in some advanced economies. For long description in Notes pane, press F6.">
            <a:extLst>
              <a:ext uri="{FF2B5EF4-FFF2-40B4-BE49-F238E27FC236}">
                <a16:creationId xmlns:a16="http://schemas.microsoft.com/office/drawing/2014/main" id="{522C48BA-E37D-4167-868B-27D996223EC9}"/>
              </a:ext>
            </a:extLst>
          </p:cNvPr>
          <p:cNvPicPr>
            <a:picLocks noGrp="1" noChangeAspect="1"/>
          </p:cNvPicPr>
          <p:nvPr>
            <p:ph sz="quarter" idx="13"/>
          </p:nvPr>
        </p:nvPicPr>
        <p:blipFill>
          <a:blip r:embed="rId3"/>
          <a:stretch>
            <a:fillRect/>
          </a:stretch>
        </p:blipFill>
        <p:spPr>
          <a:xfrm>
            <a:off x="1842742" y="1578352"/>
            <a:ext cx="5458516" cy="3340544"/>
          </a:xfrm>
        </p:spPr>
      </p:pic>
      <p:sp>
        <p:nvSpPr>
          <p:cNvPr id="4" name="Content Placeholder 3">
            <a:extLst>
              <a:ext uri="{FF2B5EF4-FFF2-40B4-BE49-F238E27FC236}">
                <a16:creationId xmlns:a16="http://schemas.microsoft.com/office/drawing/2014/main" id="{28A8E809-DF2D-4592-B442-78B9FBBDED6F}"/>
              </a:ext>
            </a:extLst>
          </p:cNvPr>
          <p:cNvSpPr>
            <a:spLocks noGrp="1"/>
          </p:cNvSpPr>
          <p:nvPr>
            <p:ph sz="quarter" idx="14"/>
          </p:nvPr>
        </p:nvSpPr>
        <p:spPr>
          <a:xfrm>
            <a:off x="457200" y="5039153"/>
            <a:ext cx="8229600" cy="1233287"/>
          </a:xfrm>
        </p:spPr>
        <p:txBody>
          <a:bodyPr/>
          <a:lstStyle/>
          <a:p>
            <a:pPr marL="0" indent="0">
              <a:spcBef>
                <a:spcPts val="600"/>
              </a:spcBef>
              <a:buNone/>
            </a:pPr>
            <a:r>
              <a:rPr lang="en-US" sz="1800" dirty="0">
                <a:latin typeface="Arial (Body)"/>
              </a:rPr>
              <a:t>The numbers shown are 12-month moving averages of monthly year-over-year inflation rates. Japan’s C</a:t>
            </a:r>
            <a:r>
              <a:rPr lang="en-US" sz="100" dirty="0">
                <a:latin typeface="Arial (Body)"/>
              </a:rPr>
              <a:t> </a:t>
            </a:r>
            <a:r>
              <a:rPr lang="en-US" sz="1800" dirty="0">
                <a:latin typeface="Arial (Body)"/>
              </a:rPr>
              <a:t>P</a:t>
            </a:r>
            <a:r>
              <a:rPr lang="en-US" sz="100" dirty="0">
                <a:latin typeface="Arial (Body)"/>
              </a:rPr>
              <a:t> </a:t>
            </a:r>
            <a:r>
              <a:rPr lang="en-US" sz="1800" dirty="0">
                <a:latin typeface="Arial (Body)"/>
              </a:rPr>
              <a:t>I has been adjusted for the April 2014 and October 2019 increases in its consumption tax rates.</a:t>
            </a:r>
          </a:p>
          <a:p>
            <a:pPr marL="0" indent="0">
              <a:spcBef>
                <a:spcPts val="600"/>
              </a:spcBef>
              <a:buNone/>
            </a:pPr>
            <a:r>
              <a:rPr lang="en-US" sz="1200" b="1" dirty="0">
                <a:latin typeface="Arial (Body)"/>
              </a:rPr>
              <a:t>Sources: </a:t>
            </a:r>
            <a:r>
              <a:rPr lang="en-US" sz="1200" dirty="0">
                <a:latin typeface="Arial (Body)"/>
              </a:rPr>
              <a:t>O</a:t>
            </a:r>
            <a:r>
              <a:rPr lang="en-US" sz="100" dirty="0">
                <a:latin typeface="Arial (Body)"/>
              </a:rPr>
              <a:t> </a:t>
            </a:r>
            <a:r>
              <a:rPr lang="en-US" sz="1200" dirty="0">
                <a:latin typeface="Arial (Body)"/>
              </a:rPr>
              <a:t>E</a:t>
            </a:r>
            <a:r>
              <a:rPr lang="en-US" sz="100" dirty="0">
                <a:latin typeface="Arial (Body)"/>
              </a:rPr>
              <a:t> </a:t>
            </a:r>
            <a:r>
              <a:rPr lang="en-US" sz="1200" dirty="0">
                <a:latin typeface="Arial (Body)"/>
              </a:rPr>
              <a:t>C</a:t>
            </a:r>
            <a:r>
              <a:rPr lang="en-US" sz="100" dirty="0">
                <a:latin typeface="Arial (Body)"/>
              </a:rPr>
              <a:t> </a:t>
            </a:r>
            <a:r>
              <a:rPr lang="en-US" sz="1200" dirty="0">
                <a:latin typeface="Arial (Body)"/>
              </a:rPr>
              <a:t>D and Statistics Bureau of Japan.</a:t>
            </a:r>
          </a:p>
        </p:txBody>
      </p:sp>
    </p:spTree>
    <p:extLst>
      <p:ext uri="{BB962C8B-B14F-4D97-AF65-F5344CB8AC3E}">
        <p14:creationId xmlns:p14="http://schemas.microsoft.com/office/powerpoint/2010/main" val="227498127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6AE73-E860-47CE-9226-6877D5180F11}"/>
              </a:ext>
            </a:extLst>
          </p:cNvPr>
          <p:cNvSpPr>
            <a:spLocks noGrp="1"/>
          </p:cNvSpPr>
          <p:nvPr>
            <p:ph type="title"/>
          </p:nvPr>
        </p:nvSpPr>
        <p:spPr/>
        <p:txBody>
          <a:bodyPr/>
          <a:lstStyle/>
          <a:p>
            <a:r>
              <a:rPr lang="en-US" altLang="en-US" sz="3200" dirty="0"/>
              <a:t>Figure 19.10 Exchange Rate Trends and Inflation Differentials, 1973–2019</a:t>
            </a:r>
            <a:endParaRPr lang="en-IN" sz="3200" dirty="0"/>
          </a:p>
        </p:txBody>
      </p:sp>
      <p:pic>
        <p:nvPicPr>
          <p:cNvPr id="11" name="Content Placeholder 10" descr="A scatterplot depicts exchange rate trends and inflation differentials. For long description in Notes pane, press F6.">
            <a:extLst>
              <a:ext uri="{FF2B5EF4-FFF2-40B4-BE49-F238E27FC236}">
                <a16:creationId xmlns:a16="http://schemas.microsoft.com/office/drawing/2014/main" id="{CD39C29E-F84D-4FE7-BE7F-FE8D7D2DC91C}"/>
              </a:ext>
            </a:extLst>
          </p:cNvPr>
          <p:cNvPicPr>
            <a:picLocks noGrp="1" noChangeAspect="1"/>
          </p:cNvPicPr>
          <p:nvPr>
            <p:ph sz="quarter" idx="13"/>
          </p:nvPr>
        </p:nvPicPr>
        <p:blipFill>
          <a:blip r:embed="rId3"/>
          <a:stretch>
            <a:fillRect/>
          </a:stretch>
        </p:blipFill>
        <p:spPr>
          <a:xfrm>
            <a:off x="522592" y="1716684"/>
            <a:ext cx="4316188" cy="4399726"/>
          </a:xfrm>
        </p:spPr>
      </p:pic>
      <p:sp>
        <p:nvSpPr>
          <p:cNvPr id="4" name="Content Placeholder 3">
            <a:extLst>
              <a:ext uri="{FF2B5EF4-FFF2-40B4-BE49-F238E27FC236}">
                <a16:creationId xmlns:a16="http://schemas.microsoft.com/office/drawing/2014/main" id="{7CCE4BAD-20DD-46FF-B16C-7473BCEDF3AF}"/>
              </a:ext>
            </a:extLst>
          </p:cNvPr>
          <p:cNvSpPr>
            <a:spLocks noGrp="1"/>
          </p:cNvSpPr>
          <p:nvPr>
            <p:ph sz="quarter" idx="14"/>
          </p:nvPr>
        </p:nvSpPr>
        <p:spPr>
          <a:xfrm>
            <a:off x="5008178" y="1569020"/>
            <a:ext cx="3860269" cy="1851514"/>
          </a:xfrm>
        </p:spPr>
        <p:txBody>
          <a:bodyPr/>
          <a:lstStyle/>
          <a:p>
            <a:pPr marL="432" indent="0">
              <a:buNone/>
            </a:pPr>
            <a:r>
              <a:rPr lang="en-US" sz="1600" dirty="0">
                <a:latin typeface="Arial (Body)"/>
              </a:rPr>
              <a:t>Over the floating-rate period as a whole, higher inflation has been associated with greater currency depreciation. The exact relationship predicted by relative P</a:t>
            </a:r>
            <a:r>
              <a:rPr lang="en-US" sz="100" dirty="0">
                <a:latin typeface="Arial (Body)"/>
              </a:rPr>
              <a:t> </a:t>
            </a:r>
            <a:r>
              <a:rPr lang="en-US" sz="1600" dirty="0">
                <a:latin typeface="Arial (Body)"/>
              </a:rPr>
              <a:t>P</a:t>
            </a:r>
            <a:r>
              <a:rPr lang="en-US" sz="100" dirty="0">
                <a:latin typeface="Arial (Body)"/>
              </a:rPr>
              <a:t> </a:t>
            </a:r>
            <a:r>
              <a:rPr lang="en-US" sz="1600" dirty="0">
                <a:latin typeface="Arial (Body)"/>
              </a:rPr>
              <a:t>P, however, has not held for most countries. The inflation difference on the horizontal axis is calculated as</a:t>
            </a:r>
          </a:p>
        </p:txBody>
      </p:sp>
      <p:graphicFrame>
        <p:nvGraphicFramePr>
          <p:cNvPr id="9" name="Object 8" descr="start fraction left parenthesis pi minus pi sub U S right parenthesis over left parenthesis start fraction 1 + pi sub U S over 100 end fraction right parenthesis end fraction">
            <a:extLst>
              <a:ext uri="{FF2B5EF4-FFF2-40B4-BE49-F238E27FC236}">
                <a16:creationId xmlns:a16="http://schemas.microsoft.com/office/drawing/2014/main" id="{4F0963AA-F03A-4E6C-96FC-32ADE02EFBCA}"/>
              </a:ext>
            </a:extLst>
          </p:cNvPr>
          <p:cNvGraphicFramePr>
            <a:graphicFrameLocks noChangeAspect="1"/>
          </p:cNvGraphicFramePr>
          <p:nvPr>
            <p:extLst>
              <p:ext uri="{D42A27DB-BD31-4B8C-83A1-F6EECF244321}">
                <p14:modId xmlns:p14="http://schemas.microsoft.com/office/powerpoint/2010/main" val="3741463470"/>
              </p:ext>
            </p:extLst>
          </p:nvPr>
        </p:nvGraphicFramePr>
        <p:xfrm>
          <a:off x="5051009" y="3520321"/>
          <a:ext cx="783717" cy="783717"/>
        </p:xfrm>
        <a:graphic>
          <a:graphicData uri="http://schemas.openxmlformats.org/presentationml/2006/ole">
            <mc:AlternateContent xmlns:mc="http://schemas.openxmlformats.org/markup-compatibility/2006">
              <mc:Choice xmlns:v="urn:schemas-microsoft-com:vml" Requires="v">
                <p:oleObj name="Equation" r:id="rId4" imgW="647640" imgH="647640" progId="Equation.DSMT4">
                  <p:embed/>
                </p:oleObj>
              </mc:Choice>
              <mc:Fallback>
                <p:oleObj name="Equation" r:id="rId4" imgW="647640" imgH="647640" progId="Equation.DSMT4">
                  <p:embed/>
                  <p:pic>
                    <p:nvPicPr>
                      <p:cNvPr id="0" name=""/>
                      <p:cNvPicPr/>
                      <p:nvPr/>
                    </p:nvPicPr>
                    <p:blipFill>
                      <a:blip r:embed="rId5"/>
                      <a:stretch>
                        <a:fillRect/>
                      </a:stretch>
                    </p:blipFill>
                    <p:spPr>
                      <a:xfrm>
                        <a:off x="5051009" y="3520321"/>
                        <a:ext cx="783717" cy="783717"/>
                      </a:xfrm>
                      <a:prstGeom prst="rect">
                        <a:avLst/>
                      </a:prstGeom>
                    </p:spPr>
                  </p:pic>
                </p:oleObj>
              </mc:Fallback>
            </mc:AlternateContent>
          </a:graphicData>
        </a:graphic>
      </p:graphicFrame>
      <p:sp>
        <p:nvSpPr>
          <p:cNvPr id="70" name="Content Placeholder 69">
            <a:extLst>
              <a:ext uri="{FF2B5EF4-FFF2-40B4-BE49-F238E27FC236}">
                <a16:creationId xmlns:a16="http://schemas.microsoft.com/office/drawing/2014/main" id="{F8D8F4ED-FB24-4AE0-A807-5162FD2C2C5D}"/>
              </a:ext>
            </a:extLst>
          </p:cNvPr>
          <p:cNvSpPr>
            <a:spLocks noGrp="1"/>
          </p:cNvSpPr>
          <p:nvPr>
            <p:ph sz="quarter" idx="15"/>
          </p:nvPr>
        </p:nvSpPr>
        <p:spPr>
          <a:xfrm>
            <a:off x="5939196" y="3578686"/>
            <a:ext cx="2917293" cy="374398"/>
          </a:xfrm>
        </p:spPr>
        <p:txBody>
          <a:bodyPr/>
          <a:lstStyle/>
          <a:p>
            <a:pPr marL="432" indent="0">
              <a:buNone/>
            </a:pPr>
            <a:r>
              <a:rPr lang="en-US" sz="1600" dirty="0"/>
              <a:t>using the exact relative P</a:t>
            </a:r>
            <a:r>
              <a:rPr lang="en-US" sz="100" dirty="0"/>
              <a:t> </a:t>
            </a:r>
            <a:r>
              <a:rPr lang="en-US" sz="1600" dirty="0"/>
              <a:t>P</a:t>
            </a:r>
            <a:r>
              <a:rPr lang="en-US" sz="100" dirty="0"/>
              <a:t> </a:t>
            </a:r>
            <a:r>
              <a:rPr lang="en-US" sz="1600" dirty="0"/>
              <a:t>P</a:t>
            </a:r>
          </a:p>
        </p:txBody>
      </p:sp>
      <p:sp>
        <p:nvSpPr>
          <p:cNvPr id="6" name="Content Placeholder 5">
            <a:extLst>
              <a:ext uri="{FF2B5EF4-FFF2-40B4-BE49-F238E27FC236}">
                <a16:creationId xmlns:a16="http://schemas.microsoft.com/office/drawing/2014/main" id="{EDFB7116-C7BF-4538-ADF1-D72AC279AC9D}"/>
              </a:ext>
            </a:extLst>
          </p:cNvPr>
          <p:cNvSpPr>
            <a:spLocks noGrp="1"/>
          </p:cNvSpPr>
          <p:nvPr>
            <p:ph sz="quarter" idx="16"/>
          </p:nvPr>
        </p:nvSpPr>
        <p:spPr>
          <a:xfrm>
            <a:off x="5051009" y="4377314"/>
            <a:ext cx="3923658" cy="973619"/>
          </a:xfrm>
        </p:spPr>
        <p:txBody>
          <a:bodyPr/>
          <a:lstStyle/>
          <a:p>
            <a:pPr marL="432" indent="0">
              <a:buNone/>
            </a:pPr>
            <a:r>
              <a:rPr lang="en-US" sz="1600" dirty="0"/>
              <a:t>relation given in footnote 1 of Chapter 16.</a:t>
            </a:r>
          </a:p>
          <a:p>
            <a:pPr marL="432" indent="0">
              <a:buNone/>
            </a:pPr>
            <a:r>
              <a:rPr lang="en-US" sz="1200" b="1" dirty="0"/>
              <a:t>Source: </a:t>
            </a:r>
            <a:r>
              <a:rPr lang="en-US" sz="1200" dirty="0"/>
              <a:t>International Monetary Fund, </a:t>
            </a:r>
            <a:r>
              <a:rPr lang="en-US" sz="1200" b="1" dirty="0"/>
              <a:t>International Financial Statistics</a:t>
            </a:r>
            <a:r>
              <a:rPr lang="en-US" sz="1200" i="1" dirty="0"/>
              <a:t> </a:t>
            </a:r>
            <a:r>
              <a:rPr lang="en-US" sz="1200" dirty="0"/>
              <a:t>and Global Financial Data.</a:t>
            </a:r>
            <a:endParaRPr lang="en-IN" sz="1200" dirty="0"/>
          </a:p>
        </p:txBody>
      </p:sp>
    </p:spTree>
    <p:extLst>
      <p:ext uri="{BB962C8B-B14F-4D97-AF65-F5344CB8AC3E}">
        <p14:creationId xmlns:p14="http://schemas.microsoft.com/office/powerpoint/2010/main" val="141052213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472DD-F7E6-4117-B919-E9396297C61B}"/>
              </a:ext>
            </a:extLst>
          </p:cNvPr>
          <p:cNvSpPr>
            <a:spLocks noGrp="1"/>
          </p:cNvSpPr>
          <p:nvPr>
            <p:ph type="title"/>
          </p:nvPr>
        </p:nvSpPr>
        <p:spPr/>
        <p:txBody>
          <a:bodyPr/>
          <a:lstStyle/>
          <a:p>
            <a:r>
              <a:rPr lang="en-US" altLang="en-US" dirty="0">
                <a:cs typeface="Times New Roman" panose="02020603050405020304" pitchFamily="18" charset="0"/>
              </a:rPr>
              <a:t>Summary </a:t>
            </a:r>
            <a:r>
              <a:rPr lang="en-US" altLang="en-US" sz="2000" b="0" dirty="0">
                <a:cs typeface="Times New Roman" panose="02020603050405020304" pitchFamily="18" charset="0"/>
              </a:rPr>
              <a:t>(1 of 5)</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BB4B7F18-732E-4022-A8C9-F5B34759D29B}"/>
              </a:ext>
            </a:extLst>
          </p:cNvPr>
          <p:cNvSpPr>
            <a:spLocks noGrp="1"/>
          </p:cNvSpPr>
          <p:nvPr>
            <p:ph sz="quarter" idx="13"/>
          </p:nvPr>
        </p:nvSpPr>
        <p:spPr>
          <a:xfrm>
            <a:off x="457200" y="1556327"/>
            <a:ext cx="8404578" cy="2654429"/>
          </a:xfrm>
        </p:spPr>
        <p:txBody>
          <a:bodyPr/>
          <a:lstStyle/>
          <a:p>
            <a:pPr marL="432000" indent="-432000" eaLnBrk="1" hangingPunct="1">
              <a:buFont typeface="Times" pitchFamily="-1" charset="0"/>
              <a:buAutoNum type="arabicPeriod"/>
            </a:pPr>
            <a:r>
              <a:rPr lang="en-US" altLang="en-US" sz="2000" b="1" dirty="0"/>
              <a:t>Internal balance</a:t>
            </a:r>
            <a:r>
              <a:rPr lang="en-US" altLang="en-US" sz="2000" i="1" dirty="0"/>
              <a:t> </a:t>
            </a:r>
            <a:r>
              <a:rPr lang="en-US" altLang="en-US" sz="2000" dirty="0"/>
              <a:t>means that an economy enjoys normal output and employment and price stability.</a:t>
            </a:r>
          </a:p>
          <a:p>
            <a:pPr marL="432000" indent="-432000" eaLnBrk="1" hangingPunct="1">
              <a:buFont typeface="Times" pitchFamily="-1" charset="0"/>
              <a:buAutoNum type="arabicPeriod"/>
            </a:pPr>
            <a:r>
              <a:rPr lang="en-US" altLang="en-US" sz="2000" b="1" dirty="0"/>
              <a:t>External balance</a:t>
            </a:r>
            <a:r>
              <a:rPr lang="en-US" altLang="en-US" sz="2000" i="1" dirty="0"/>
              <a:t> </a:t>
            </a:r>
            <a:r>
              <a:rPr lang="en-US" altLang="en-US" sz="2000" dirty="0"/>
              <a:t>roughly means a stable level of official international reserves or a current account that is not too positive or too negative.</a:t>
            </a:r>
          </a:p>
          <a:p>
            <a:pPr marL="432000" indent="-432000" eaLnBrk="1" hangingPunct="1">
              <a:buFont typeface="Times" pitchFamily="-1" charset="0"/>
              <a:buAutoNum type="arabicPeriod"/>
            </a:pPr>
            <a:r>
              <a:rPr lang="en-US" altLang="en-US" sz="2000" dirty="0"/>
              <a:t>The gold standard had two mechanisms that helped to prevent external imbalances:</a:t>
            </a:r>
            <a:endParaRPr lang="en-IN" sz="2000" dirty="0"/>
          </a:p>
        </p:txBody>
      </p:sp>
      <p:sp>
        <p:nvSpPr>
          <p:cNvPr id="4" name="Content Placeholder 3">
            <a:extLst>
              <a:ext uri="{FF2B5EF4-FFF2-40B4-BE49-F238E27FC236}">
                <a16:creationId xmlns:a16="http://schemas.microsoft.com/office/drawing/2014/main" id="{D147751C-5460-49A9-98D2-BDF3EAE9D29A}"/>
              </a:ext>
            </a:extLst>
          </p:cNvPr>
          <p:cNvSpPr>
            <a:spLocks noGrp="1"/>
          </p:cNvSpPr>
          <p:nvPr>
            <p:ph sz="quarter" idx="14"/>
          </p:nvPr>
        </p:nvSpPr>
        <p:spPr>
          <a:xfrm>
            <a:off x="457200" y="4273086"/>
            <a:ext cx="8229600" cy="1483113"/>
          </a:xfrm>
        </p:spPr>
        <p:txBody>
          <a:bodyPr/>
          <a:lstStyle/>
          <a:p>
            <a:pPr marL="740664" lvl="1" indent="-283464" eaLnBrk="1" hangingPunct="1"/>
            <a:r>
              <a:rPr lang="en-US" altLang="en-US" sz="2000" dirty="0">
                <a:latin typeface="Arial (Body)"/>
              </a:rPr>
              <a:t>Price-specie-flow mechanism: the automatic adjustment of prices as gold flows into or out of a country.</a:t>
            </a:r>
          </a:p>
          <a:p>
            <a:pPr marL="740664" lvl="1" indent="-283464" eaLnBrk="1" hangingPunct="1"/>
            <a:r>
              <a:rPr lang="en-US" altLang="en-US" sz="2000" dirty="0">
                <a:latin typeface="Arial (Body)"/>
              </a:rPr>
              <a:t>Rules of the game: buying or selling of domestic assets by central banks to influence flows of financial assets.</a:t>
            </a:r>
            <a:endParaRPr lang="en-IN" sz="2000" dirty="0"/>
          </a:p>
        </p:txBody>
      </p:sp>
    </p:spTree>
    <p:extLst>
      <p:ext uri="{BB962C8B-B14F-4D97-AF65-F5344CB8AC3E}">
        <p14:creationId xmlns:p14="http://schemas.microsoft.com/office/powerpoint/2010/main" val="25005676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472DD-F7E6-4117-B919-E9396297C61B}"/>
              </a:ext>
            </a:extLst>
          </p:cNvPr>
          <p:cNvSpPr>
            <a:spLocks noGrp="1"/>
          </p:cNvSpPr>
          <p:nvPr>
            <p:ph type="title"/>
          </p:nvPr>
        </p:nvSpPr>
        <p:spPr/>
        <p:txBody>
          <a:bodyPr/>
          <a:lstStyle/>
          <a:p>
            <a:r>
              <a:rPr lang="en-US" altLang="en-US" dirty="0">
                <a:cs typeface="Times New Roman" panose="02020603050405020304" pitchFamily="18" charset="0"/>
              </a:rPr>
              <a:t>Summary </a:t>
            </a:r>
            <a:r>
              <a:rPr lang="en-US" altLang="en-US" sz="2000" b="0" dirty="0">
                <a:cs typeface="Times New Roman" panose="02020603050405020304" pitchFamily="18" charset="0"/>
              </a:rPr>
              <a:t>(2 of 5)</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BB4B7F18-732E-4022-A8C9-F5B34759D29B}"/>
              </a:ext>
            </a:extLst>
          </p:cNvPr>
          <p:cNvSpPr>
            <a:spLocks noGrp="1"/>
          </p:cNvSpPr>
          <p:nvPr>
            <p:ph sz="quarter" idx="13"/>
          </p:nvPr>
        </p:nvSpPr>
        <p:spPr>
          <a:xfrm>
            <a:off x="457200" y="1556326"/>
            <a:ext cx="8229600" cy="3561774"/>
          </a:xfrm>
        </p:spPr>
        <p:txBody>
          <a:bodyPr/>
          <a:lstStyle/>
          <a:p>
            <a:pPr marL="432000" indent="-432000" eaLnBrk="1" hangingPunct="1">
              <a:buFont typeface="Times" pitchFamily="-1" charset="0"/>
              <a:buAutoNum type="arabicPeriod" startAt="4"/>
            </a:pPr>
            <a:r>
              <a:rPr lang="en-US" altLang="en-US" sz="2000" dirty="0">
                <a:latin typeface="Arial (Body)"/>
              </a:rPr>
              <a:t>The Bretton Woods agreement in 1944 established fixed exchange rates, using the U.S. dollar as the reserve currency.</a:t>
            </a:r>
          </a:p>
          <a:p>
            <a:pPr marL="432000" indent="-432000" eaLnBrk="1" hangingPunct="1">
              <a:buFont typeface="Times" pitchFamily="-1" charset="0"/>
              <a:buAutoNum type="arabicPeriod" startAt="4"/>
            </a:pPr>
            <a:r>
              <a:rPr lang="en-US" altLang="en-US" sz="2000" dirty="0">
                <a:latin typeface="Arial (Body)"/>
              </a:rPr>
              <a:t>The I</a:t>
            </a:r>
            <a:r>
              <a:rPr lang="en-US" altLang="en-US" sz="100" dirty="0">
                <a:latin typeface="Arial (Body)"/>
              </a:rPr>
              <a:t> </a:t>
            </a:r>
            <a:r>
              <a:rPr lang="en-US" altLang="en-US" sz="2000" dirty="0">
                <a:latin typeface="Arial (Body)"/>
              </a:rPr>
              <a:t>M</a:t>
            </a:r>
            <a:r>
              <a:rPr lang="en-US" altLang="en-US" sz="100" dirty="0">
                <a:latin typeface="Arial (Body)"/>
              </a:rPr>
              <a:t> </a:t>
            </a:r>
            <a:r>
              <a:rPr lang="en-US" altLang="en-US" sz="2000" dirty="0">
                <a:latin typeface="Arial (Body)"/>
              </a:rPr>
              <a:t>F was also established to provide countries with financing for balance of payments deficits and to judge if changes in fixed rates were necessary.</a:t>
            </a:r>
          </a:p>
          <a:p>
            <a:pPr marL="432000" indent="-432000" eaLnBrk="1" hangingPunct="1">
              <a:buFont typeface="Times" pitchFamily="-1" charset="0"/>
              <a:buAutoNum type="arabicPeriod" startAt="4"/>
            </a:pPr>
            <a:r>
              <a:rPr lang="en-US" altLang="en-US" sz="2000" dirty="0">
                <a:latin typeface="Arial (Body)"/>
              </a:rPr>
              <a:t>Under the Bretton Woods system, fiscal policies were used to achieve internal and external balance, but they could not do both simultaneously, so external imbalances often resulted.</a:t>
            </a:r>
          </a:p>
        </p:txBody>
      </p:sp>
    </p:spTree>
    <p:extLst>
      <p:ext uri="{BB962C8B-B14F-4D97-AF65-F5344CB8AC3E}">
        <p14:creationId xmlns:p14="http://schemas.microsoft.com/office/powerpoint/2010/main" val="102473500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472DD-F7E6-4117-B919-E9396297C61B}"/>
              </a:ext>
            </a:extLst>
          </p:cNvPr>
          <p:cNvSpPr>
            <a:spLocks noGrp="1"/>
          </p:cNvSpPr>
          <p:nvPr>
            <p:ph type="title"/>
          </p:nvPr>
        </p:nvSpPr>
        <p:spPr/>
        <p:txBody>
          <a:bodyPr/>
          <a:lstStyle/>
          <a:p>
            <a:r>
              <a:rPr lang="en-US" altLang="en-US" dirty="0">
                <a:cs typeface="Times New Roman" panose="02020603050405020304" pitchFamily="18" charset="0"/>
              </a:rPr>
              <a:t>Summary </a:t>
            </a:r>
            <a:r>
              <a:rPr lang="en-US" altLang="en-US" sz="2000" b="0" dirty="0">
                <a:cs typeface="Times New Roman" panose="02020603050405020304" pitchFamily="18" charset="0"/>
              </a:rPr>
              <a:t>(3 of 5)</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BB4B7F18-732E-4022-A8C9-F5B34759D29B}"/>
              </a:ext>
            </a:extLst>
          </p:cNvPr>
          <p:cNvSpPr>
            <a:spLocks noGrp="1"/>
          </p:cNvSpPr>
          <p:nvPr>
            <p:ph sz="quarter" idx="13"/>
          </p:nvPr>
        </p:nvSpPr>
        <p:spPr>
          <a:xfrm>
            <a:off x="457200" y="1556327"/>
            <a:ext cx="8229600" cy="2357752"/>
          </a:xfrm>
        </p:spPr>
        <p:txBody>
          <a:bodyPr/>
          <a:lstStyle/>
          <a:p>
            <a:pPr marL="432000" indent="-432000">
              <a:buFont typeface="Times" pitchFamily="-1" charset="0"/>
              <a:buAutoNum type="arabicPeriod" startAt="7"/>
            </a:pPr>
            <a:r>
              <a:rPr lang="en-US" altLang="en-US" sz="2000" dirty="0">
                <a:latin typeface="Arial (Body)"/>
              </a:rPr>
              <a:t>Internal and external imbalances of the United States —caused by rapid growth in government purchases and the money supply—and speculation about the value of the U.S. dollar in terms of gold and other currencies ultimately broke the Bretton Woods system.</a:t>
            </a:r>
          </a:p>
          <a:p>
            <a:pPr marL="432000" indent="-432000" eaLnBrk="1" hangingPunct="1">
              <a:buFont typeface="Times" pitchFamily="-1" charset="0"/>
              <a:buAutoNum type="arabicPeriod" startAt="7"/>
            </a:pPr>
            <a:r>
              <a:rPr lang="en-US" altLang="en-US" sz="2000" dirty="0">
                <a:latin typeface="Arial (Body)"/>
              </a:rPr>
              <a:t>High inflation from U.S. macroeconomic policies was transferred to other countries late in the Bretton Woods system.</a:t>
            </a:r>
          </a:p>
        </p:txBody>
      </p:sp>
    </p:spTree>
    <p:extLst>
      <p:ext uri="{BB962C8B-B14F-4D97-AF65-F5344CB8AC3E}">
        <p14:creationId xmlns:p14="http://schemas.microsoft.com/office/powerpoint/2010/main" val="100342487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472DD-F7E6-4117-B919-E9396297C61B}"/>
              </a:ext>
            </a:extLst>
          </p:cNvPr>
          <p:cNvSpPr>
            <a:spLocks noGrp="1"/>
          </p:cNvSpPr>
          <p:nvPr>
            <p:ph type="title"/>
          </p:nvPr>
        </p:nvSpPr>
        <p:spPr/>
        <p:txBody>
          <a:bodyPr/>
          <a:lstStyle/>
          <a:p>
            <a:r>
              <a:rPr lang="en-US" altLang="en-US" dirty="0">
                <a:cs typeface="Times New Roman" panose="02020603050405020304" pitchFamily="18" charset="0"/>
              </a:rPr>
              <a:t>Summary </a:t>
            </a:r>
            <a:r>
              <a:rPr lang="en-US" altLang="en-US" sz="2000" b="0" dirty="0">
                <a:cs typeface="Times New Roman" panose="02020603050405020304" pitchFamily="18" charset="0"/>
              </a:rPr>
              <a:t>(4 of 5)</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BB4B7F18-732E-4022-A8C9-F5B34759D29B}"/>
              </a:ext>
            </a:extLst>
          </p:cNvPr>
          <p:cNvSpPr>
            <a:spLocks noGrp="1"/>
          </p:cNvSpPr>
          <p:nvPr>
            <p:ph sz="quarter" idx="13"/>
          </p:nvPr>
        </p:nvSpPr>
        <p:spPr>
          <a:xfrm>
            <a:off x="457200" y="1556326"/>
            <a:ext cx="8229600" cy="2669985"/>
          </a:xfrm>
        </p:spPr>
        <p:txBody>
          <a:bodyPr/>
          <a:lstStyle/>
          <a:p>
            <a:pPr marL="432000" indent="-432000" eaLnBrk="1" hangingPunct="1">
              <a:buFont typeface="Times" pitchFamily="-1" charset="0"/>
              <a:buAutoNum type="arabicPeriod" startAt="9"/>
            </a:pPr>
            <a:r>
              <a:rPr lang="en-US" altLang="en-US" sz="2000" dirty="0">
                <a:latin typeface="Arial (Body)"/>
              </a:rPr>
              <a:t>Arguments for flexible exchange rates are that they allow monetary policy autonomy, can stabilize the economy as aggregate demand and output change, and can limit some forms of speculation.</a:t>
            </a:r>
          </a:p>
          <a:p>
            <a:pPr marL="432000" indent="-432000" eaLnBrk="1" hangingPunct="1">
              <a:buFont typeface="Times" pitchFamily="-1" charset="0"/>
              <a:buAutoNum type="arabicPeriod" startAt="9"/>
            </a:pPr>
            <a:r>
              <a:rPr lang="en-US" altLang="en-US" sz="2000" dirty="0">
                <a:latin typeface="Arial (Body)"/>
              </a:rPr>
              <a:t> Arguments against flexible exchange rates are that they allow expenditure switching policies, can make aggregate demand and output more volatile because of uncoordinated policies across countries, and make exchange rates more volatile. </a:t>
            </a:r>
          </a:p>
        </p:txBody>
      </p:sp>
    </p:spTree>
    <p:extLst>
      <p:ext uri="{BB962C8B-B14F-4D97-AF65-F5344CB8AC3E}">
        <p14:creationId xmlns:p14="http://schemas.microsoft.com/office/powerpoint/2010/main" val="283634942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472DD-F7E6-4117-B919-E9396297C61B}"/>
              </a:ext>
            </a:extLst>
          </p:cNvPr>
          <p:cNvSpPr>
            <a:spLocks noGrp="1"/>
          </p:cNvSpPr>
          <p:nvPr>
            <p:ph type="title"/>
          </p:nvPr>
        </p:nvSpPr>
        <p:spPr/>
        <p:txBody>
          <a:bodyPr/>
          <a:lstStyle/>
          <a:p>
            <a:r>
              <a:rPr lang="en-US" altLang="en-US" dirty="0">
                <a:cs typeface="Times New Roman" panose="02020603050405020304" pitchFamily="18" charset="0"/>
              </a:rPr>
              <a:t>Summary </a:t>
            </a:r>
            <a:r>
              <a:rPr lang="en-US" altLang="en-US" sz="2000" b="0" dirty="0">
                <a:cs typeface="Times New Roman" panose="02020603050405020304" pitchFamily="18" charset="0"/>
              </a:rPr>
              <a:t>(5 of 5)</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BB4B7F18-732E-4022-A8C9-F5B34759D29B}"/>
              </a:ext>
            </a:extLst>
          </p:cNvPr>
          <p:cNvSpPr>
            <a:spLocks noGrp="1"/>
          </p:cNvSpPr>
          <p:nvPr>
            <p:ph sz="quarter" idx="13"/>
          </p:nvPr>
        </p:nvSpPr>
        <p:spPr>
          <a:xfrm>
            <a:off x="466603" y="1552576"/>
            <a:ext cx="8210794" cy="744576"/>
          </a:xfrm>
        </p:spPr>
        <p:txBody>
          <a:bodyPr/>
          <a:lstStyle/>
          <a:p>
            <a:pPr marL="432000" indent="-432000">
              <a:buFont typeface="+mj-lt"/>
              <a:buAutoNum type="arabicPeriod" startAt="11"/>
            </a:pPr>
            <a:r>
              <a:rPr lang="en-US" altLang="en-US" sz="2000" dirty="0">
                <a:latin typeface="Arial (Body)"/>
              </a:rPr>
              <a:t>Since 1973, countries have engaged in two major global efforts to influence exchange rates:</a:t>
            </a:r>
          </a:p>
        </p:txBody>
      </p:sp>
      <p:sp>
        <p:nvSpPr>
          <p:cNvPr id="4" name="Content Placeholder 3">
            <a:extLst>
              <a:ext uri="{FF2B5EF4-FFF2-40B4-BE49-F238E27FC236}">
                <a16:creationId xmlns:a16="http://schemas.microsoft.com/office/drawing/2014/main" id="{33E2737D-313F-45C1-BC0D-B86558C0F623}"/>
              </a:ext>
            </a:extLst>
          </p:cNvPr>
          <p:cNvSpPr>
            <a:spLocks noGrp="1"/>
          </p:cNvSpPr>
          <p:nvPr>
            <p:ph sz="quarter" idx="14"/>
          </p:nvPr>
        </p:nvSpPr>
        <p:spPr>
          <a:xfrm>
            <a:off x="468313" y="2355872"/>
            <a:ext cx="8218487" cy="1497284"/>
          </a:xfrm>
        </p:spPr>
        <p:txBody>
          <a:bodyPr/>
          <a:lstStyle/>
          <a:p>
            <a:pPr marL="740664" lvl="1" indent="-283464" eaLnBrk="1" hangingPunct="1"/>
            <a:r>
              <a:rPr lang="en-US" altLang="en-US" sz="2000" dirty="0">
                <a:latin typeface="Arial (Body)"/>
              </a:rPr>
              <a:t>The Plaza Accords reduced the value of the dollar relative to other major currencies.</a:t>
            </a:r>
          </a:p>
          <a:p>
            <a:pPr marL="740664" lvl="1" indent="-283464" eaLnBrk="1" hangingPunct="1"/>
            <a:r>
              <a:rPr lang="en-US" altLang="en-US" sz="2000" dirty="0">
                <a:latin typeface="Arial (Body)"/>
              </a:rPr>
              <a:t>The Louvre Accords agreement was intended to stabilize exchange rates, but it was quickly abandoned.</a:t>
            </a:r>
            <a:endParaRPr lang="en-IN" sz="2000" dirty="0"/>
          </a:p>
        </p:txBody>
      </p:sp>
      <p:sp>
        <p:nvSpPr>
          <p:cNvPr id="5" name="Content Placeholder 4">
            <a:extLst>
              <a:ext uri="{FF2B5EF4-FFF2-40B4-BE49-F238E27FC236}">
                <a16:creationId xmlns:a16="http://schemas.microsoft.com/office/drawing/2014/main" id="{C7466FC2-0750-4928-ACA1-6D0747A582B5}"/>
              </a:ext>
            </a:extLst>
          </p:cNvPr>
          <p:cNvSpPr>
            <a:spLocks noGrp="1"/>
          </p:cNvSpPr>
          <p:nvPr>
            <p:ph sz="quarter" idx="15"/>
          </p:nvPr>
        </p:nvSpPr>
        <p:spPr>
          <a:xfrm>
            <a:off x="468314" y="3922752"/>
            <a:ext cx="8209084" cy="1497284"/>
          </a:xfrm>
        </p:spPr>
        <p:txBody>
          <a:bodyPr/>
          <a:lstStyle/>
          <a:p>
            <a:pPr marL="432000" indent="-432000">
              <a:buFont typeface="+mj-lt"/>
              <a:buAutoNum type="arabicPeriod" startAt="12"/>
            </a:pPr>
            <a:r>
              <a:rPr lang="en-US" altLang="en-US" sz="2000" dirty="0">
                <a:latin typeface="Arial (Body)"/>
              </a:rPr>
              <a:t>Models of large countries account for the influence that domestic macroeconomic policies have in foreign countries.</a:t>
            </a:r>
            <a:endParaRPr lang="en-IN" sz="2000" dirty="0"/>
          </a:p>
        </p:txBody>
      </p:sp>
    </p:spTree>
    <p:extLst>
      <p:ext uri="{BB962C8B-B14F-4D97-AF65-F5344CB8AC3E}">
        <p14:creationId xmlns:p14="http://schemas.microsoft.com/office/powerpoint/2010/main" val="130299507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3F913-94E1-4C3A-97CE-6F8859AE7BAB}"/>
              </a:ext>
            </a:extLst>
          </p:cNvPr>
          <p:cNvSpPr>
            <a:spLocks noGrp="1"/>
          </p:cNvSpPr>
          <p:nvPr>
            <p:ph type="title"/>
          </p:nvPr>
        </p:nvSpPr>
        <p:spPr>
          <a:xfrm>
            <a:off x="457200" y="215371"/>
            <a:ext cx="8229600" cy="1097279"/>
          </a:xfrm>
        </p:spPr>
        <p:txBody>
          <a:bodyPr/>
          <a:lstStyle/>
          <a:p>
            <a:r>
              <a:rPr lang="en-US" altLang="en-US" sz="2400" dirty="0">
                <a:cs typeface="Times New Roman" panose="02020603050405020304" pitchFamily="18" charset="0"/>
              </a:rPr>
              <a:t>Figure 19A.1 Hypothetical Effects of Different Monetary Policy Combinations on Inflation and Unemployment</a:t>
            </a:r>
            <a:endParaRPr lang="en-IN" sz="2400" dirty="0">
              <a:cs typeface="Times New Roman" panose="02020603050405020304" pitchFamily="18" charset="0"/>
            </a:endParaRPr>
          </a:p>
        </p:txBody>
      </p:sp>
      <p:pic>
        <p:nvPicPr>
          <p:cNvPr id="6" name="Content Placeholder 5" descr="The somewhat restrictive and very restrictive monetary policies for home and foreign have differing outcomes for each combination. For long description in Notes pane, press F6.">
            <a:extLst>
              <a:ext uri="{FF2B5EF4-FFF2-40B4-BE49-F238E27FC236}">
                <a16:creationId xmlns:a16="http://schemas.microsoft.com/office/drawing/2014/main" id="{E0C4E7E6-D8D7-4834-B9CD-1365D8A266F9}"/>
              </a:ext>
            </a:extLst>
          </p:cNvPr>
          <p:cNvPicPr>
            <a:picLocks noGrp="1" noChangeAspect="1"/>
          </p:cNvPicPr>
          <p:nvPr>
            <p:ph sz="quarter" idx="13"/>
          </p:nvPr>
        </p:nvPicPr>
        <p:blipFill>
          <a:blip r:embed="rId3"/>
          <a:stretch>
            <a:fillRect/>
          </a:stretch>
        </p:blipFill>
        <p:spPr>
          <a:xfrm>
            <a:off x="1501630" y="1715138"/>
            <a:ext cx="6140741" cy="3653503"/>
          </a:xfrm>
        </p:spPr>
      </p:pic>
      <p:sp>
        <p:nvSpPr>
          <p:cNvPr id="4" name="Content Placeholder 3">
            <a:extLst>
              <a:ext uri="{FF2B5EF4-FFF2-40B4-BE49-F238E27FC236}">
                <a16:creationId xmlns:a16="http://schemas.microsoft.com/office/drawing/2014/main" id="{B75580F8-39ED-40B2-9663-3D90639FCD36}"/>
              </a:ext>
            </a:extLst>
          </p:cNvPr>
          <p:cNvSpPr>
            <a:spLocks noGrp="1"/>
          </p:cNvSpPr>
          <p:nvPr>
            <p:ph sz="quarter" idx="14"/>
          </p:nvPr>
        </p:nvSpPr>
        <p:spPr>
          <a:xfrm>
            <a:off x="457200" y="5580270"/>
            <a:ext cx="8229600" cy="695846"/>
          </a:xfrm>
        </p:spPr>
        <p:txBody>
          <a:bodyPr/>
          <a:lstStyle/>
          <a:p>
            <a:pPr marL="432" indent="0">
              <a:buNone/>
            </a:pPr>
            <a:r>
              <a:rPr lang="en-US" sz="1800" dirty="0">
                <a:latin typeface="Arial (Body)"/>
              </a:rPr>
              <a:t>Monetary policy choices in one country affect the outcomes of monetary policy choices made abroad.</a:t>
            </a:r>
          </a:p>
        </p:txBody>
      </p:sp>
    </p:spTree>
    <p:extLst>
      <p:ext uri="{BB962C8B-B14F-4D97-AF65-F5344CB8AC3E}">
        <p14:creationId xmlns:p14="http://schemas.microsoft.com/office/powerpoint/2010/main" val="142402873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4E5A9-E518-4129-A575-012901CADF0E}"/>
              </a:ext>
            </a:extLst>
          </p:cNvPr>
          <p:cNvSpPr>
            <a:spLocks noGrp="1"/>
          </p:cNvSpPr>
          <p:nvPr>
            <p:ph type="title"/>
          </p:nvPr>
        </p:nvSpPr>
        <p:spPr/>
        <p:txBody>
          <a:bodyPr/>
          <a:lstStyle/>
          <a:p>
            <a:r>
              <a:rPr lang="en-US" altLang="en-US" sz="3200" dirty="0">
                <a:cs typeface="Times New Roman" panose="02020603050405020304" pitchFamily="18" charset="0"/>
              </a:rPr>
              <a:t>Figure 19A.2 Payoff Matrix for Different Monetary Policy Moves</a:t>
            </a:r>
            <a:endParaRPr lang="en-IN" sz="3200" dirty="0">
              <a:cs typeface="Times New Roman" panose="02020603050405020304" pitchFamily="18" charset="0"/>
            </a:endParaRPr>
          </a:p>
        </p:txBody>
      </p:sp>
      <p:pic>
        <p:nvPicPr>
          <p:cNvPr id="10" name="Content Placeholder 9" descr="The somewhat restrictive and very restrictive monetary policy moves for home and foreign have differing outcomes for each combination. For long description in Notes pane, press F6.">
            <a:extLst>
              <a:ext uri="{FF2B5EF4-FFF2-40B4-BE49-F238E27FC236}">
                <a16:creationId xmlns:a16="http://schemas.microsoft.com/office/drawing/2014/main" id="{F9DB0BD9-D234-4698-9DEC-007EFF1AE238}"/>
              </a:ext>
            </a:extLst>
          </p:cNvPr>
          <p:cNvPicPr>
            <a:picLocks noGrp="1" noChangeAspect="1"/>
          </p:cNvPicPr>
          <p:nvPr>
            <p:ph sz="quarter" idx="13"/>
          </p:nvPr>
        </p:nvPicPr>
        <p:blipFill>
          <a:blip r:embed="rId3"/>
          <a:stretch>
            <a:fillRect/>
          </a:stretch>
        </p:blipFill>
        <p:spPr>
          <a:xfrm>
            <a:off x="1897913" y="1567414"/>
            <a:ext cx="4591206" cy="2731719"/>
          </a:xfrm>
        </p:spPr>
      </p:pic>
      <p:sp>
        <p:nvSpPr>
          <p:cNvPr id="4" name="Content Placeholder 3">
            <a:extLst>
              <a:ext uri="{FF2B5EF4-FFF2-40B4-BE49-F238E27FC236}">
                <a16:creationId xmlns:a16="http://schemas.microsoft.com/office/drawing/2014/main" id="{51A70AF7-1AAF-4FF5-8DC9-3CFC35CB707C}"/>
              </a:ext>
            </a:extLst>
          </p:cNvPr>
          <p:cNvSpPr>
            <a:spLocks noGrp="1"/>
          </p:cNvSpPr>
          <p:nvPr>
            <p:ph sz="quarter" idx="14"/>
          </p:nvPr>
        </p:nvSpPr>
        <p:spPr>
          <a:xfrm>
            <a:off x="468314" y="4573239"/>
            <a:ext cx="8218486" cy="379761"/>
          </a:xfrm>
        </p:spPr>
        <p:txBody>
          <a:bodyPr/>
          <a:lstStyle/>
          <a:p>
            <a:pPr marL="432" indent="0">
              <a:buNone/>
            </a:pPr>
            <a:r>
              <a:rPr lang="en-US" sz="1600" dirty="0">
                <a:latin typeface="Arial (Body)"/>
              </a:rPr>
              <a:t>Each entry equals the reduction in inflation per unit rise in the unemployment rate</a:t>
            </a:r>
          </a:p>
        </p:txBody>
      </p:sp>
      <p:graphicFrame>
        <p:nvGraphicFramePr>
          <p:cNvPr id="8" name="Object 7" descr="left parenthesis Calculated as minus start fraction delta pi over delta U end fraction right parenthesis.">
            <a:extLst>
              <a:ext uri="{FF2B5EF4-FFF2-40B4-BE49-F238E27FC236}">
                <a16:creationId xmlns:a16="http://schemas.microsoft.com/office/drawing/2014/main" id="{A4AE2AC1-4D61-4C71-91B8-C2B4C12A798E}"/>
              </a:ext>
            </a:extLst>
          </p:cNvPr>
          <p:cNvGraphicFramePr>
            <a:graphicFrameLocks noChangeAspect="1"/>
          </p:cNvGraphicFramePr>
          <p:nvPr>
            <p:extLst>
              <p:ext uri="{D42A27DB-BD31-4B8C-83A1-F6EECF244321}">
                <p14:modId xmlns:p14="http://schemas.microsoft.com/office/powerpoint/2010/main" val="3429114720"/>
              </p:ext>
            </p:extLst>
          </p:nvPr>
        </p:nvGraphicFramePr>
        <p:xfrm>
          <a:off x="531943" y="5004926"/>
          <a:ext cx="1893522" cy="527703"/>
        </p:xfrm>
        <a:graphic>
          <a:graphicData uri="http://schemas.openxmlformats.org/presentationml/2006/ole">
            <mc:AlternateContent xmlns:mc="http://schemas.openxmlformats.org/markup-compatibility/2006">
              <mc:Choice xmlns:v="urn:schemas-microsoft-com:vml" Requires="v">
                <p:oleObj name="Equation" r:id="rId4" imgW="1549080" imgH="431640" progId="Equation.DSMT4">
                  <p:embed/>
                </p:oleObj>
              </mc:Choice>
              <mc:Fallback>
                <p:oleObj name="Equation" r:id="rId4" imgW="1549080" imgH="431640" progId="Equation.DSMT4">
                  <p:embed/>
                  <p:pic>
                    <p:nvPicPr>
                      <p:cNvPr id="0" name=""/>
                      <p:cNvPicPr/>
                      <p:nvPr/>
                    </p:nvPicPr>
                    <p:blipFill>
                      <a:blip r:embed="rId5"/>
                      <a:stretch>
                        <a:fillRect/>
                      </a:stretch>
                    </p:blipFill>
                    <p:spPr>
                      <a:xfrm>
                        <a:off x="531943" y="5004926"/>
                        <a:ext cx="1893522" cy="527703"/>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04E735FA-7D3B-406D-8E8F-F8855631B9A5}"/>
              </a:ext>
            </a:extLst>
          </p:cNvPr>
          <p:cNvSpPr>
            <a:spLocks noGrp="1"/>
          </p:cNvSpPr>
          <p:nvPr>
            <p:ph sz="quarter" idx="15"/>
          </p:nvPr>
        </p:nvSpPr>
        <p:spPr>
          <a:xfrm>
            <a:off x="2504146" y="5028342"/>
            <a:ext cx="4981491" cy="435913"/>
          </a:xfrm>
        </p:spPr>
        <p:txBody>
          <a:bodyPr/>
          <a:lstStyle/>
          <a:p>
            <a:pPr marL="432" indent="0">
              <a:buNone/>
            </a:pPr>
            <a:r>
              <a:rPr lang="en-US" sz="1600" dirty="0">
                <a:latin typeface="Arial (Body)"/>
              </a:rPr>
              <a:t>If each country “goes it alone,” they both choose very</a:t>
            </a:r>
            <a:endParaRPr lang="en-US" sz="1600" dirty="0"/>
          </a:p>
        </p:txBody>
      </p:sp>
      <p:sp>
        <p:nvSpPr>
          <p:cNvPr id="6" name="Content Placeholder 5">
            <a:extLst>
              <a:ext uri="{FF2B5EF4-FFF2-40B4-BE49-F238E27FC236}">
                <a16:creationId xmlns:a16="http://schemas.microsoft.com/office/drawing/2014/main" id="{813C200D-7C6A-4491-8B95-533B3E378457}"/>
              </a:ext>
            </a:extLst>
          </p:cNvPr>
          <p:cNvSpPr>
            <a:spLocks noGrp="1"/>
          </p:cNvSpPr>
          <p:nvPr>
            <p:ph sz="quarter" idx="16"/>
          </p:nvPr>
        </p:nvSpPr>
        <p:spPr>
          <a:xfrm>
            <a:off x="468315" y="5594385"/>
            <a:ext cx="8364450" cy="644452"/>
          </a:xfrm>
        </p:spPr>
        <p:txBody>
          <a:bodyPr/>
          <a:lstStyle/>
          <a:p>
            <a:pPr marL="432" indent="0">
              <a:buNone/>
            </a:pPr>
            <a:r>
              <a:rPr lang="en-US" sz="1600" dirty="0"/>
              <a:t>restrictive policies. Somewhat restrictive policies, if adopted by both countries, lead to an outcome better for both.</a:t>
            </a:r>
          </a:p>
        </p:txBody>
      </p:sp>
    </p:spTree>
    <p:extLst>
      <p:ext uri="{BB962C8B-B14F-4D97-AF65-F5344CB8AC3E}">
        <p14:creationId xmlns:p14="http://schemas.microsoft.com/office/powerpoint/2010/main" val="38908110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148177</TotalTime>
  <Words>8614</Words>
  <Application>Microsoft Office PowerPoint</Application>
  <PresentationFormat>On-screen Show (4:3)</PresentationFormat>
  <Paragraphs>513</Paragraphs>
  <Slides>76</Slides>
  <Notes>16</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76</vt:i4>
      </vt:variant>
    </vt:vector>
  </HeadingPairs>
  <TitlesOfParts>
    <vt:vector size="86" baseType="lpstr">
      <vt:lpstr>Arial</vt:lpstr>
      <vt:lpstr>Arial (Body)</vt:lpstr>
      <vt:lpstr>Times New Roman</vt:lpstr>
      <vt:lpstr>Times</vt:lpstr>
      <vt:lpstr>Verdana</vt:lpstr>
      <vt:lpstr>Arial (Headings)</vt:lpstr>
      <vt:lpstr>Noto Sans Symbols</vt:lpstr>
      <vt:lpstr>USHE</vt:lpstr>
      <vt:lpstr>USHE_slide options</vt:lpstr>
      <vt:lpstr>Equation</vt:lpstr>
      <vt:lpstr>International Economics: Theory and Policy</vt:lpstr>
      <vt:lpstr>Learning Objectives (1 of 3)</vt:lpstr>
      <vt:lpstr>Learning Objectives (2 of 3)</vt:lpstr>
      <vt:lpstr>Learning Objectives (3 of 3)</vt:lpstr>
      <vt:lpstr>Preview (1 of 2)</vt:lpstr>
      <vt:lpstr>Preview (2 of 2)</vt:lpstr>
      <vt:lpstr>Macroeconomic Policy Goals (1 of 3)</vt:lpstr>
      <vt:lpstr>Macroeconomic Policy Goals (2 of 3)</vt:lpstr>
      <vt:lpstr>Macroeconomic Policy Goals (3 of 3)</vt:lpstr>
      <vt:lpstr>Can A Country Borrow Forever? The Case of New Zealand</vt:lpstr>
      <vt:lpstr>New Zealand’s Net Exports, Current Account, and Net International Investment Position, 1992–2019</vt:lpstr>
      <vt:lpstr>The Open-Economy Trilemma (1 of 2)</vt:lpstr>
      <vt:lpstr>The Open-Economy Trilemma (2 of 2)</vt:lpstr>
      <vt:lpstr>Figure 19.1 The Monetary Trilemma for Open Economies</vt:lpstr>
      <vt:lpstr>Macroeconomic Policy under the Gold Standard 1870–1914</vt:lpstr>
      <vt:lpstr>Macroeconomic Policy under the Gold Standard (1 of 5)</vt:lpstr>
      <vt:lpstr>Macroeconomic Policy under the Gold Standard (2 of 5)</vt:lpstr>
      <vt:lpstr>Macroeconomic Policy under the Gold Standard (3 of 5)</vt:lpstr>
      <vt:lpstr>Macroeconomic Policy under the Gold Standard (4 of 5)</vt:lpstr>
      <vt:lpstr>Macroeconomic Policy under the Gold Standard (5 of 5)</vt:lpstr>
      <vt:lpstr>Interwar Years: 1918–1939</vt:lpstr>
      <vt:lpstr>Bretton Woods System: 1944–1973</vt:lpstr>
      <vt:lpstr>International Monetary Fund (1 of 2)</vt:lpstr>
      <vt:lpstr>International Monetary Fund (2 of 2)</vt:lpstr>
      <vt:lpstr>Bretton Woods System (1 of 2)</vt:lpstr>
      <vt:lpstr>Bretton Woods System (2 of 2)</vt:lpstr>
      <vt:lpstr>Policies for Internal and External Balance (1 of 4)</vt:lpstr>
      <vt:lpstr>Policies for Internal and External Balance (2 of 4)</vt:lpstr>
      <vt:lpstr>Figure 19.2 Internal Balance (I I), External Balance (X X), and the “Four Zones of Economic Discomfort”</vt:lpstr>
      <vt:lpstr>Figure 19.3 Policies to Bring about Internal and External Balance</vt:lpstr>
      <vt:lpstr>Policies for Internal and External Balance (3 of 4)</vt:lpstr>
      <vt:lpstr>Policies for Internal and External Balance (4 of 4)</vt:lpstr>
      <vt:lpstr>U.S. External Balance Problems under Bretton Woods (1 of 3)</vt:lpstr>
      <vt:lpstr>U.S. External Balance Problems under Bretton Woods (2 of 3)</vt:lpstr>
      <vt:lpstr>U.S. External Balance Problems under Bretton Woods (3 of 3)</vt:lpstr>
      <vt:lpstr>Collapse of the Bretton Woods System (1 of 5)</vt:lpstr>
      <vt:lpstr>Collapse of the Bretton Woods System (2 of 5)</vt:lpstr>
      <vt:lpstr>Collapse of the Bretton Woods System (3 of 5)</vt:lpstr>
      <vt:lpstr>Collapse of the Bretton Woods System (4 of 5)</vt:lpstr>
      <vt:lpstr>Table 19.1 Inflation Rates in Industrial Countries, 1966–1972 (Percent Per Year)</vt:lpstr>
      <vt:lpstr>Collapse of the Bretton Woods System (5 of 5)</vt:lpstr>
      <vt:lpstr>Figure 19.4 Effect on Internal and External Balance of a Rise in the Foreign Price Level, P*</vt:lpstr>
      <vt:lpstr>Case for Floating Exchange Rates (1 of 6)</vt:lpstr>
      <vt:lpstr>Case for Floating Exchange Rates (2 of 6)</vt:lpstr>
      <vt:lpstr>Case for Floating Exchange Rates (3 of 6)</vt:lpstr>
      <vt:lpstr>Figure 19.5 Effects of a Fall in Export Demand</vt:lpstr>
      <vt:lpstr>Case for Floating Exchange Rates (4 of 6)</vt:lpstr>
      <vt:lpstr>Case for Floating Exchange Rates (5 of 6)</vt:lpstr>
      <vt:lpstr>Case for Floating Exchange Rates (6 of 6)</vt:lpstr>
      <vt:lpstr>Since 1973 (1 of 6)</vt:lpstr>
      <vt:lpstr>Since 1973 (2 of 6)</vt:lpstr>
      <vt:lpstr>Table 19.2 Macroeconomic Data for Key Industrial Regions, 1963–2019 (1 of 2)</vt:lpstr>
      <vt:lpstr>Table 19.2 Macroeconomic Data for Key Industrial Regions, 1963–2019 (2 of 2)</vt:lpstr>
      <vt:lpstr>Figure 19.6 Nominal and Real Effective Dollar Exchange Rate Indexes, 1975–2019</vt:lpstr>
      <vt:lpstr>Since 1973 (3 of 6)</vt:lpstr>
      <vt:lpstr>Since 1973 (4 of 6)</vt:lpstr>
      <vt:lpstr>Since 1973 (5 of 6)</vt:lpstr>
      <vt:lpstr>Since 1973 (6 of 6)</vt:lpstr>
      <vt:lpstr>Macroeconomic Interdependence under Floating Exchange Rates (1 of 5)</vt:lpstr>
      <vt:lpstr>Macroeconomic Interdependence under Floating Exchange Rates (2 of 5)</vt:lpstr>
      <vt:lpstr>Macroeconomic Interdependence under Floating Exchange Rates (3 of 5)</vt:lpstr>
      <vt:lpstr>Macroeconomic Interdependence under Floating Exchange Rates (4 of 5)</vt:lpstr>
      <vt:lpstr>Figure 19.7 Global External Imbalances, 1999–2019</vt:lpstr>
      <vt:lpstr>Macroeconomic Interdependence under Floating Exchange Rates (5 of 5)</vt:lpstr>
      <vt:lpstr>Figure 19.8: Long-Term Real Interest Rates for the United States, Germany, Japan, and the United Kingdom, 1999–2020</vt:lpstr>
      <vt:lpstr>Figure 19.9 Immediate Output and Fiscal Consequences of the Global Pandemic Crisis</vt:lpstr>
      <vt:lpstr>Recent Inflation Rates in Some Advanced Countries</vt:lpstr>
      <vt:lpstr>Figure 19.10 Exchange Rate Trends and Inflation Differentials, 1973–2019</vt:lpstr>
      <vt:lpstr>Summary (1 of 5)</vt:lpstr>
      <vt:lpstr>Summary (2 of 5)</vt:lpstr>
      <vt:lpstr>Summary (3 of 5)</vt:lpstr>
      <vt:lpstr>Summary (4 of 5)</vt:lpstr>
      <vt:lpstr>Summary (5 of 5)</vt:lpstr>
      <vt:lpstr>Figure 19A.1 Hypothetical Effects of Different Monetary Policy Combinations on Inflation and Unemployment</vt:lpstr>
      <vt:lpstr>Figure 19A.2 Payoff Matrix for Different Monetary Policy Moves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19, International Monetary Systems: An Historical Overview</dc:title>
  <dc:subject>Business</dc:subject>
  <dc:creator>Krugman/Obstfeld/Melitz</dc:creator>
  <cp:keywords>International Economics</cp:keywords>
  <dc:description>Long description alt-text is inserted in the notes pane; Alt text for images/math equations within table cells have been placed behind the object intentionally to provide a better screen reader user experience.</dc:description>
  <cp:lastModifiedBy>Chellapandi Murugan</cp:lastModifiedBy>
  <cp:revision>1013</cp:revision>
  <dcterms:modified xsi:type="dcterms:W3CDTF">2021-10-22T15:48:59Z</dcterms:modified>
</cp:coreProperties>
</file>