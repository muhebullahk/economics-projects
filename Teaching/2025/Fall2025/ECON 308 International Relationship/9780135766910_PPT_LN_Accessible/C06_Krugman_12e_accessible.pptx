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6"/>
  </p:notesMasterIdLst>
  <p:handoutMasterIdLst>
    <p:handoutMasterId r:id="rId67"/>
  </p:handoutMasterIdLst>
  <p:sldIdLst>
    <p:sldId id="330" r:id="rId3"/>
    <p:sldId id="392" r:id="rId4"/>
    <p:sldId id="334" r:id="rId5"/>
    <p:sldId id="333" r:id="rId6"/>
    <p:sldId id="332" r:id="rId7"/>
    <p:sldId id="335" r:id="rId8"/>
    <p:sldId id="336" r:id="rId9"/>
    <p:sldId id="337" r:id="rId10"/>
    <p:sldId id="338" r:id="rId11"/>
    <p:sldId id="339" r:id="rId12"/>
    <p:sldId id="340" r:id="rId13"/>
    <p:sldId id="341" r:id="rId14"/>
    <p:sldId id="342" r:id="rId15"/>
    <p:sldId id="343" r:id="rId16"/>
    <p:sldId id="345" r:id="rId17"/>
    <p:sldId id="344" r:id="rId18"/>
    <p:sldId id="346" r:id="rId19"/>
    <p:sldId id="347" r:id="rId20"/>
    <p:sldId id="348" r:id="rId21"/>
    <p:sldId id="349" r:id="rId22"/>
    <p:sldId id="350" r:id="rId23"/>
    <p:sldId id="351" r:id="rId24"/>
    <p:sldId id="352" r:id="rId25"/>
    <p:sldId id="353" r:id="rId26"/>
    <p:sldId id="354" r:id="rId27"/>
    <p:sldId id="355" r:id="rId28"/>
    <p:sldId id="356" r:id="rId29"/>
    <p:sldId id="357" r:id="rId30"/>
    <p:sldId id="358" r:id="rId31"/>
    <p:sldId id="359"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 id="373" r:id="rId46"/>
    <p:sldId id="374" r:id="rId47"/>
    <p:sldId id="375" r:id="rId48"/>
    <p:sldId id="376" r:id="rId49"/>
    <p:sldId id="377" r:id="rId50"/>
    <p:sldId id="378" r:id="rId51"/>
    <p:sldId id="379" r:id="rId52"/>
    <p:sldId id="380" r:id="rId53"/>
    <p:sldId id="381" r:id="rId54"/>
    <p:sldId id="382" r:id="rId55"/>
    <p:sldId id="383" r:id="rId56"/>
    <p:sldId id="384" r:id="rId57"/>
    <p:sldId id="385" r:id="rId58"/>
    <p:sldId id="386" r:id="rId59"/>
    <p:sldId id="387" r:id="rId60"/>
    <p:sldId id="388" r:id="rId61"/>
    <p:sldId id="389" r:id="rId62"/>
    <p:sldId id="390" r:id="rId63"/>
    <p:sldId id="391" r:id="rId64"/>
    <p:sldId id="298" r:id="rId65"/>
  </p:sldIdLst>
  <p:sldSz cx="9144000" cy="6858000" type="screen4x3"/>
  <p:notesSz cx="6858000" cy="9144000"/>
  <p:embeddedFontLst>
    <p:embeddedFont>
      <p:font typeface="Times" panose="02020603050405020304" pitchFamily="18" charset="0"/>
      <p:regular r:id="rId68"/>
      <p:bold r:id="rId69"/>
      <p:italic r:id="rId70"/>
      <p:boldItalic r:id="rId71"/>
    </p:embeddedFont>
    <p:embeddedFont>
      <p:font typeface="Noto Sans Symbols" panose="020B0604020202020204" charset="0"/>
      <p:regular r:id="rId72"/>
      <p:bold r:id="rId73"/>
      <p:italic r:id="rId74"/>
      <p:boldItalic r:id="rId75"/>
    </p:embeddedFont>
    <p:embeddedFont>
      <p:font typeface="Verdana" panose="020B0604030504040204" pitchFamily="34" charset="0"/>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89" autoAdjust="0"/>
    <p:restoredTop sz="78731" autoAdjust="0"/>
  </p:normalViewPr>
  <p:slideViewPr>
    <p:cSldViewPr snapToGrid="0" snapToObjects="1">
      <p:cViewPr varScale="1">
        <p:scale>
          <a:sx n="63" d="100"/>
          <a:sy n="63" d="100"/>
        </p:scale>
        <p:origin x="1488" y="66"/>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5055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font" Target="fonts/font1.fntdata"/><Relationship Id="rId76" Type="http://schemas.openxmlformats.org/officeDocument/2006/relationships/font" Target="fonts/font9.fntdata"/><Relationship Id="rId84"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5.fntdata"/><Relationship Id="rId80"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3.fntdata"/><Relationship Id="rId75" Type="http://schemas.openxmlformats.org/officeDocument/2006/relationships/font" Target="fonts/font8.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e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9.e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production possibility frontier, T T, falls with decreasing steepness from y to x-axis, through point Q. Point Q intersects an isovalue line, with 3 parallel isovalue lines below the point and one above.</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98696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T T, falls through points Q super 1 then Q super 2. At point Q super 1, x – Q sub C super 1, y = Q sub F super 1, and slope = V V super 1, left parenthesis, P sub C over P sub F, right parenthesis, super 1. At point Q super 2, x = Q sub C super 2, y = Q sub F super 2, and the slope is less steep, V V super 2, left parenthesis, P sub C over P sub F, right parenthesis, super 2. The second graph in panel b plots the relative supply of cloth, P sub C over P sub F, versus the relative quantity of cloth, Q sub C over Q sub F. The plot for R S rises with increasing steepness through point 1 then point 2. At point 1, x = Q sub C super 1 over Q sub F super 1, and y = P sub C over P sub F, super 1. At point 2, x = Q sub C super 2 over Q sub F super 2, and y = P sub C over P sub F, super 2.</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839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T T falls with increasing steepness from y to x-axis, through point Q, at roughly the midpoint. An isovalue line passes through point Q on the curve and extends to point D above the curve to the left. The horizontal difference between points D and Q represents cloth exports. The vertical difference between points D and Q represents food imports. An indifference curve opens to the right through point D. There are 4 more parallel indifference curves, 2 below and 2 above point 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6810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T T falls with increasing steepness through points D super 3, Q super 1, and Q super 2. An indifference curve intersects point D super 3, with a parallel indifference curve above and to the left of D super 3, with point D super 1. An isovalue line with slope V V super 2, left parenthesis P sub C over P sub F, right parenthesis, super 2, intersects point Q super 2 on the T T curve. The line also intersects point D super 2 on an indifference curve above and to the right of the curve with point D super 1. Another isovalue line, with slope V V super 1, left parenthesis P sub C over P sub F, right parenthesis, super 1, intersects point Q super 1 on curve T T, and point D super 1 on the indifference curve. The slope of this line is less steep than the one that passes through point Q super 2 on curve T 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66182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Start fraction left parenthesis Q sub C + Q to the asterisk power sub C right parenthesis over left parenthesis Q sub F + Q to the asterisk power sub F right parenthesis end fraction and start fraction left parenthesis D sub C + D to the asterisk power sub C right parenthesis over left parenthesis D sub F + D to the asterisk power sub F right parenthesis end fraction. </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26348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parallel R S curves rise with increasing steepness, from left to right: R S asterisk, R S super world, and R S. The R D curve falls with decreasing steepness through all R S curves, intersecting the R S super world curve at point 1, where y = P sub C over P sub F, super 1.</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9918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production possibility frontier falls to the right with increasing steepness, through point Q. A point Q, x = Q sub C, and y = Q sub F. An isovalue line falls through point D above the curve to point Q on the curve. At point D, x = D sub C, and y = D sub F. The vertical difference between D sub F and Q sub F on the y-axis represents home’s food imports. The horizontal difference between D sub C and Q sub C on the x-axis represents home’s cloth exports.On the second graph, the foreign production possibility frontier is flipped, compared to the home curve, beginning higher on the y-axis and falling with increasing steepness. The curve passes through point Q asterisk, where x = Q sub C asterisk and y = Q sub F asterisk. The isovalue line has the same slope but intersects the frontier at Q asterisk and then falls through point D asterisk. Foreign’s food exports on the y-axis is the difference of Q sub F asterisk and D sub F asterisk. Foreign’s cloth imports on the x-axis is the difference between Q sub C asterisk and D sub C asterisk.</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3695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T T super 1 is to the left of and below curve T T super 2; both curves fall with increasing steepness. Points with the same slope are plotted on each curve; on T T super 2, the point is lower and to the right. Graph b, growth biased toward food, plots food production, Q sub F, versus cloth production, Q sub C. Curve T T super 1 is to the left of and below curve T T super 3; both curves fall with increasing steepness. Points with the same slope, less steep than the lines in graph ay, are plotted on each curve; on T T super 3, the point is higher and to the left.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6687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price of cloth is on the y-axis versus the relative quantity of cloth on the x-axis. Three parallel R S curves, rise with increasing steepness, from left to right as follows: R S super 3, R S super 1, and R S super 2. A line with arrows at each end intersects all 3 curves. As the rises, to the left, growth is biased toward food. As the falls, to the right, growth is biased toward cloth.</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16401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ay, cloth-biased growth, shows curve R S super 1 above and to the left of curve R S super 2; both rise with increasing steepness. The R D curve falls with increasing steepness, intersecting R S super 1 at point 1, where y = P sub C over P sub F, super 1; and intersecting R S super 2 at point 2, where y = P sub C over P sub F, super 2. Graph b, food-biased growth, shows curve R S super 3 above and to the left of R S super 1; both rise with increasing steepness. The R D curve falls with increasing steepness, intersecting R S super 1 at point 1, where y = P sub C over P sub F, super 1; and intersecting R S super 3 at point 3, where y = P sub C over P sub F, super 3.</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00684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double line graph of the terms of trade between China and the United States plots the terms of trade versus years 19 80 to 20 18. The plot for U S generally rises from (19 81, 95) to (19 95, 105), and then generally falls through (2008, 97), (20 14, 98), and (20 18, 100). After a brief rise, the plot for China falls steeply from (19 81, 120) to (19 86, 85). It then generally rises through (19 89, 103) to (19 98, 110), and then generally falls through (2008, 90), (20 14, 83), and (20 18, 86).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2998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rising R S curves intersect 2 falling R D curves. R S super 1 intersects R D super 1 at point 1, where y = P sub C over P sub F, super 1. R S super 1 is shifted up and to the left for R super 2, and R D super 1 shifts up and to the right for R D super 2. R S super 2 intersects R D super 2 at point 2, where y = P sub C over P sub F, super 2. Point 2 is above and slightly to the right of point 1.</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9227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rising R S curves intersect 2 falling R D curves. R S super 1 intersects R D super 1 at point 1, where y = P sub C over P sub F, super 1. R S super 1 is shifted down and to the right for R super 2, and R D super 1 shifts down and to the left for R D super 2. R S super 2 intersects R D super 2 at point 2, where y = P sub C over P sub F, super 2. Point 2 is below and slightly to the left of point 1.</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565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falls with increasing steepness through point Q. Three parallel isovalue lines have a slope of negative, 1 + r. The isovalue line furthest to the right is tangent to the curve at point Q. A point Q, Q sub C and y = Q sub F. The horizontal distance between the point where the curve intersects the x-axis and x = Q sub C, to the left, represents a decrease in investment.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78803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falls with increasing steepness through point Q. At point Q, x = Q sub C and y = Q sub F. An isovalue line represents the intertemporal budget constraint, D sub C + D sub F, over, 1 + r, = Q sub C +, Q sub F over 1 + r. The line intersects the curve at point Q. </a:t>
            </a:r>
          </a:p>
          <a:p>
            <a:r>
              <a:rPr lang="en-US" dirty="0"/>
              <a:t>Above the curve, higher on the isovalue line is point D. An indifference curve passes through point D and another indifference curve is parallel to the left. At point D, x = D sub C and y = D sub F. On the y-axis the difference between point D sub F and Q sub F represents imports. On the x-axis, the difference between Q sub C and D sub C represents exports.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34849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falls with increasing steepness through point Q asterisk. At point Q asterisk, x = Q sub C asterisk and y = Q sub F asterisk. An isovalue line represents the intertemporal budget constraint, D sub C asterisk + D sub F asterisk, over, 1 + r, = Q sub C asterisk +, Q sub F asterisk over 1 + r. Below point Q and to the right of the curve, is point D asterisk on the isovalue line. An indifference curve passes through point D asterisk. At point D, x = D sub C asterisk and y = D sub F asterisk. On the y-axis the difference between point Q asterisk sub F and D asterisk sub F represents exports. On the x-axis, the difference between D sub C asterisk and Q sub C asterisk represents imports.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71223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63</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wmf"/><Relationship Id="rId2" Type="http://schemas.openxmlformats.org/officeDocument/2006/relationships/slideLayout" Target="../slideLayouts/slideLayout10.xml"/><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7.bin"/><Relationship Id="rId10" Type="http://schemas.openxmlformats.org/officeDocument/2006/relationships/image" Target="../media/image12.wmf"/><Relationship Id="rId4" Type="http://schemas.openxmlformats.org/officeDocument/2006/relationships/image" Target="../media/image9.emf"/><Relationship Id="rId9"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14.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12.bin"/><Relationship Id="rId10" Type="http://schemas.openxmlformats.org/officeDocument/2006/relationships/image" Target="../media/image17.wmf"/><Relationship Id="rId4" Type="http://schemas.openxmlformats.org/officeDocument/2006/relationships/image" Target="../media/image9.emf"/><Relationship Id="rId9"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8.xml"/><Relationship Id="rId1" Type="http://schemas.openxmlformats.org/officeDocument/2006/relationships/vmlDrawing" Target="../drawings/vmlDrawing5.vml"/><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notesSlide" Target="../notesSlides/notesSlide5.xml"/><Relationship Id="rId7" Type="http://schemas.openxmlformats.org/officeDocument/2006/relationships/oleObject" Target="../embeddings/oleObject17.bin"/><Relationship Id="rId2" Type="http://schemas.openxmlformats.org/officeDocument/2006/relationships/slideLayout" Target="../slideLayouts/slideLayout10.xml"/><Relationship Id="rId1" Type="http://schemas.openxmlformats.org/officeDocument/2006/relationships/vmlDrawing" Target="../drawings/vmlDrawing6.vml"/><Relationship Id="rId6" Type="http://schemas.openxmlformats.org/officeDocument/2006/relationships/image" Target="../media/image20.wmf"/><Relationship Id="rId5" Type="http://schemas.openxmlformats.org/officeDocument/2006/relationships/oleObject" Target="../embeddings/oleObject16.bin"/><Relationship Id="rId10" Type="http://schemas.openxmlformats.org/officeDocument/2006/relationships/image" Target="../media/image22.wmf"/><Relationship Id="rId4" Type="http://schemas.openxmlformats.org/officeDocument/2006/relationships/image" Target="../media/image23.jpg"/><Relationship Id="rId9"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vmlDrawing" Target="../drawings/vmlDrawing7.vml"/><Relationship Id="rId5" Type="http://schemas.openxmlformats.org/officeDocument/2006/relationships/image" Target="../media/image24.wmf"/><Relationship Id="rId4" Type="http://schemas.openxmlformats.org/officeDocument/2006/relationships/oleObject" Target="../embeddings/oleObject19.bin"/></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notesSlide" Target="../notesSlides/notesSlide10.xml"/><Relationship Id="rId7" Type="http://schemas.openxmlformats.org/officeDocument/2006/relationships/oleObject" Target="../embeddings/oleObject21.bin"/><Relationship Id="rId2" Type="http://schemas.openxmlformats.org/officeDocument/2006/relationships/slideLayout" Target="../slideLayouts/slideLayout9.xml"/><Relationship Id="rId1" Type="http://schemas.openxmlformats.org/officeDocument/2006/relationships/vmlDrawing" Target="../drawings/vmlDrawing8.vml"/><Relationship Id="rId6" Type="http://schemas.openxmlformats.org/officeDocument/2006/relationships/image" Target="../media/image28.wmf"/><Relationship Id="rId5" Type="http://schemas.openxmlformats.org/officeDocument/2006/relationships/oleObject" Target="../embeddings/oleObject20.bin"/><Relationship Id="rId4"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notesSlide" Target="../notesSlides/notesSlide13.xml"/><Relationship Id="rId7" Type="http://schemas.openxmlformats.org/officeDocument/2006/relationships/oleObject" Target="../embeddings/oleObject23.bin"/><Relationship Id="rId2" Type="http://schemas.openxmlformats.org/officeDocument/2006/relationships/slideLayout" Target="../slideLayouts/slideLayout9.xml"/><Relationship Id="rId1" Type="http://schemas.openxmlformats.org/officeDocument/2006/relationships/vmlDrawing" Target="../drawings/vmlDrawing9.vml"/><Relationship Id="rId6" Type="http://schemas.openxmlformats.org/officeDocument/2006/relationships/image" Target="../media/image33.wmf"/><Relationship Id="rId5" Type="http://schemas.openxmlformats.org/officeDocument/2006/relationships/oleObject" Target="../embeddings/oleObject22.bin"/><Relationship Id="rId10" Type="http://schemas.openxmlformats.org/officeDocument/2006/relationships/image" Target="../media/image35.wmf"/><Relationship Id="rId4" Type="http://schemas.openxmlformats.org/officeDocument/2006/relationships/image" Target="../media/image36.jpg"/><Relationship Id="rId9" Type="http://schemas.openxmlformats.org/officeDocument/2006/relationships/oleObject" Target="../embeddings/oleObject24.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7.wmf"/><Relationship Id="rId5" Type="http://schemas.openxmlformats.org/officeDocument/2006/relationships/oleObject" Target="../embeddings/oleObject25.bin"/><Relationship Id="rId4" Type="http://schemas.openxmlformats.org/officeDocument/2006/relationships/image" Target="../media/image3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9.xml"/><Relationship Id="rId1" Type="http://schemas.openxmlformats.org/officeDocument/2006/relationships/vmlDrawing" Target="../drawings/vmlDrawing11.vml"/><Relationship Id="rId6" Type="http://schemas.openxmlformats.org/officeDocument/2006/relationships/image" Target="../media/image41.wmf"/><Relationship Id="rId5" Type="http://schemas.openxmlformats.org/officeDocument/2006/relationships/oleObject" Target="../embeddings/oleObject27.bin"/><Relationship Id="rId4" Type="http://schemas.openxmlformats.org/officeDocument/2006/relationships/image" Target="../media/image40.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0.xml"/><Relationship Id="rId1" Type="http://schemas.openxmlformats.org/officeDocument/2006/relationships/vmlDrawing" Target="../drawings/vmlDrawing12.vml"/><Relationship Id="rId4" Type="http://schemas.openxmlformats.org/officeDocument/2006/relationships/image" Target="../media/image43.wmf"/></Relationships>
</file>

<file path=ppt/slides/_rels/slide59.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3.xml"/><Relationship Id="rId1" Type="http://schemas.openxmlformats.org/officeDocument/2006/relationships/vmlDrawing" Target="../drawings/vmlDrawing13.vml"/><Relationship Id="rId6" Type="http://schemas.openxmlformats.org/officeDocument/2006/relationships/image" Target="../media/image45.wmf"/><Relationship Id="rId5" Type="http://schemas.openxmlformats.org/officeDocument/2006/relationships/oleObject" Target="../embeddings/oleObject30.bin"/><Relationship Id="rId4" Type="http://schemas.openxmlformats.org/officeDocument/2006/relationships/image" Target="../media/image44.wmf"/></Relationships>
</file>

<file path=ppt/slides/_rels/slide6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notesSlide" Target="../notesSlides/notesSlide16.xml"/><Relationship Id="rId7" Type="http://schemas.openxmlformats.org/officeDocument/2006/relationships/oleObject" Target="../embeddings/oleObject33.bin"/><Relationship Id="rId2" Type="http://schemas.openxmlformats.org/officeDocument/2006/relationships/slideLayout" Target="../slideLayouts/slideLayout9.xml"/><Relationship Id="rId1" Type="http://schemas.openxmlformats.org/officeDocument/2006/relationships/vmlDrawing" Target="../drawings/vmlDrawing14.vml"/><Relationship Id="rId6" Type="http://schemas.openxmlformats.org/officeDocument/2006/relationships/image" Target="../media/image48.wmf"/><Relationship Id="rId5" Type="http://schemas.openxmlformats.org/officeDocument/2006/relationships/oleObject" Target="../embeddings/oleObject32.bin"/><Relationship Id="rId4" Type="http://schemas.openxmlformats.org/officeDocument/2006/relationships/image" Target="../media/image50.jpg"/></Relationships>
</file>

<file path=ppt/slides/_rels/slide62.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notesSlide" Target="../notesSlides/notesSlide17.xml"/><Relationship Id="rId7" Type="http://schemas.openxmlformats.org/officeDocument/2006/relationships/oleObject" Target="../embeddings/oleObject35.bin"/><Relationship Id="rId12" Type="http://schemas.openxmlformats.org/officeDocument/2006/relationships/image" Target="../media/image54.wmf"/><Relationship Id="rId2" Type="http://schemas.openxmlformats.org/officeDocument/2006/relationships/slideLayout" Target="../slideLayouts/slideLayout9.xml"/><Relationship Id="rId1" Type="http://schemas.openxmlformats.org/officeDocument/2006/relationships/vmlDrawing" Target="../drawings/vmlDrawing15.vml"/><Relationship Id="rId6" Type="http://schemas.openxmlformats.org/officeDocument/2006/relationships/image" Target="../media/image51.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53.wmf"/><Relationship Id="rId4" Type="http://schemas.openxmlformats.org/officeDocument/2006/relationships/image" Target="../media/image55.jpg"/><Relationship Id="rId9" Type="http://schemas.openxmlformats.org/officeDocument/2006/relationships/oleObject" Target="../embeddings/oleObject36.bin"/></Relationships>
</file>

<file path=ppt/slides/_rels/slide6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6</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677527"/>
          </a:xfrm>
        </p:spPr>
        <p:txBody>
          <a:bodyPr/>
          <a:lstStyle/>
          <a:p>
            <a:r>
              <a:rPr lang="en-US" altLang="en-US" dirty="0">
                <a:ea typeface="ヒラギノ角ゴ Pro W3" pitchFamily="-84" charset="-128"/>
              </a:rPr>
              <a:t>The Standard Trade Model</a:t>
            </a:r>
            <a:endParaRPr lang="en-US" dirty="0">
              <a:latin typeface="Verdana" panose="020B0604030504040204" pitchFamily="34" charset="0"/>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a:t>
            </a:r>
            <a:r>
              <a:rPr lang="en-US" sz="2000" b="0" dirty="0"/>
              <a:t>(1 of 2)</a:t>
            </a:r>
            <a:endParaRPr lang="en-IN" dirty="0"/>
          </a:p>
        </p:txBody>
      </p:sp>
      <p:sp>
        <p:nvSpPr>
          <p:cNvPr id="3" name="Content Placeholder 2"/>
          <p:cNvSpPr>
            <a:spLocks noGrp="1"/>
          </p:cNvSpPr>
          <p:nvPr>
            <p:ph sz="quarter" idx="13"/>
          </p:nvPr>
        </p:nvSpPr>
        <p:spPr/>
        <p:txBody>
          <a:bodyPr/>
          <a:lstStyle/>
          <a:p>
            <a:pPr marL="0" indent="0">
              <a:buNone/>
            </a:pPr>
            <a:r>
              <a:rPr lang="en-US" b="1" dirty="0">
                <a:solidFill>
                  <a:srgbClr val="007FA3"/>
                </a:solidFill>
                <a:ea typeface="Verdana" panose="020B0604030504040204" pitchFamily="34" charset="0"/>
                <a:cs typeface="Verdana" panose="020B0604030504040204" pitchFamily="34" charset="0"/>
              </a:rPr>
              <a:t>6.1</a:t>
            </a:r>
            <a:r>
              <a:rPr lang="en-US" dirty="0"/>
              <a:t> Understand how the components of the standard trade model, production possibilities frontiers, isovalue lines, and indifference curves fit together to illustrate how trade patterns are established by a combination of supply-side and demand-side factors.</a:t>
            </a:r>
          </a:p>
          <a:p>
            <a:pPr marL="0" indent="0">
              <a:buNone/>
            </a:pPr>
            <a:r>
              <a:rPr lang="en-US" b="1" dirty="0">
                <a:solidFill>
                  <a:srgbClr val="007FA3"/>
                </a:solidFill>
                <a:ea typeface="Verdana" panose="020B0604030504040204" pitchFamily="34" charset="0"/>
                <a:cs typeface="Verdana" panose="020B0604030504040204" pitchFamily="34" charset="0"/>
              </a:rPr>
              <a:t>6.2 </a:t>
            </a:r>
            <a:r>
              <a:rPr lang="en-US" dirty="0"/>
              <a:t>Recognize how changes in the terms of trade and economic growth affect the welfare of nations engaged in international trade.</a:t>
            </a:r>
            <a:endParaRPr lang="en-US" b="1" dirty="0">
              <a:solidFill>
                <a:srgbClr val="007FA3"/>
              </a:solidFill>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38229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Learning Objectives </a:t>
            </a:r>
            <a:r>
              <a:rPr lang="en-US" sz="2000" b="0" dirty="0"/>
              <a:t>(2 of 2)</a:t>
            </a:r>
            <a:endParaRPr lang="en-US" dirty="0"/>
          </a:p>
        </p:txBody>
      </p:sp>
      <p:sp>
        <p:nvSpPr>
          <p:cNvPr id="7" name="Content Placeholder 6"/>
          <p:cNvSpPr>
            <a:spLocks noGrp="1"/>
          </p:cNvSpPr>
          <p:nvPr>
            <p:ph sz="quarter" idx="13"/>
          </p:nvPr>
        </p:nvSpPr>
        <p:spPr>
          <a:xfrm>
            <a:off x="457200" y="1556327"/>
            <a:ext cx="8229600" cy="4215208"/>
          </a:xfrm>
        </p:spPr>
        <p:txBody>
          <a:bodyPr/>
          <a:lstStyle/>
          <a:p>
            <a:pPr marL="0" indent="0">
              <a:buNone/>
            </a:pPr>
            <a:r>
              <a:rPr lang="en-US" b="1" dirty="0">
                <a:solidFill>
                  <a:srgbClr val="007FA3"/>
                </a:solidFill>
                <a:ea typeface="Verdana" panose="020B0604030504040204" pitchFamily="34" charset="0"/>
                <a:cs typeface="Verdana" panose="020B0604030504040204" pitchFamily="34" charset="0"/>
              </a:rPr>
              <a:t>6.3</a:t>
            </a:r>
            <a:r>
              <a:rPr lang="en-US" b="1" dirty="0">
                <a:solidFill>
                  <a:schemeClr val="accent1"/>
                </a:solidFill>
                <a:ea typeface="Verdana" panose="020B0604030504040204" pitchFamily="34" charset="0"/>
                <a:cs typeface="Verdana" panose="020B0604030504040204" pitchFamily="34" charset="0"/>
              </a:rPr>
              <a:t> </a:t>
            </a:r>
            <a:r>
              <a:rPr lang="en-US" dirty="0"/>
              <a:t>Understand the effects of tariffs and subsidies on trade patterns and the welfare of trading nations and on the distribution of income within countries.</a:t>
            </a:r>
            <a:endParaRPr lang="en-US" altLang="en-US" dirty="0">
              <a:ea typeface="Verdana" panose="020B0604030504040204" pitchFamily="34" charset="0"/>
              <a:cs typeface="Verdana" panose="020B0604030504040204" pitchFamily="34" charset="0"/>
            </a:endParaRPr>
          </a:p>
          <a:p>
            <a:pPr marL="0" indent="0">
              <a:buNone/>
            </a:pPr>
            <a:r>
              <a:rPr lang="en-US" b="1" dirty="0">
                <a:solidFill>
                  <a:srgbClr val="007FA3"/>
                </a:solidFill>
                <a:ea typeface="Verdana" panose="020B0604030504040204" pitchFamily="34" charset="0"/>
                <a:cs typeface="Verdana" panose="020B0604030504040204" pitchFamily="34" charset="0"/>
              </a:rPr>
              <a:t>6.4</a:t>
            </a:r>
            <a:r>
              <a:rPr lang="en-US" b="1" dirty="0">
                <a:solidFill>
                  <a:schemeClr val="accent1"/>
                </a:solidFill>
                <a:ea typeface="Verdana" panose="020B0604030504040204" pitchFamily="34" charset="0"/>
                <a:cs typeface="Verdana" panose="020B0604030504040204" pitchFamily="34" charset="0"/>
              </a:rPr>
              <a:t> </a:t>
            </a:r>
            <a:r>
              <a:rPr lang="en-US" dirty="0"/>
              <a:t>Relate international borrowing and lending to the standard trade model, where goods are exchanged over time.</a:t>
            </a:r>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Preview</a:t>
            </a:r>
            <a:endParaRPr lang="en-US" dirty="0"/>
          </a:p>
        </p:txBody>
      </p:sp>
      <p:sp>
        <p:nvSpPr>
          <p:cNvPr id="2" name="Content Placeholder 1"/>
          <p:cNvSpPr>
            <a:spLocks noGrp="1"/>
          </p:cNvSpPr>
          <p:nvPr>
            <p:ph sz="quarter" idx="13"/>
          </p:nvPr>
        </p:nvSpPr>
        <p:spPr/>
        <p:txBody>
          <a:bodyPr/>
          <a:lstStyle/>
          <a:p>
            <a:r>
              <a:rPr lang="en-US" altLang="en-US" dirty="0">
                <a:ea typeface="ヒラギノ角ゴ Pro W3" pitchFamily="-84" charset="-128"/>
              </a:rPr>
              <a:t>Relative supply and relative demand</a:t>
            </a:r>
          </a:p>
          <a:p>
            <a:r>
              <a:rPr lang="en-US" altLang="en-US" dirty="0">
                <a:ea typeface="ヒラギノ角ゴ Pro W3" pitchFamily="-84" charset="-128"/>
              </a:rPr>
              <a:t>The terms of trade and welfare</a:t>
            </a:r>
          </a:p>
          <a:p>
            <a:r>
              <a:rPr lang="en-US" altLang="en-US" dirty="0">
                <a:ea typeface="ヒラギノ角ゴ Pro W3" pitchFamily="-84" charset="-128"/>
              </a:rPr>
              <a:t>Effects of economic growth, import tariffs, and export subsidies</a:t>
            </a:r>
          </a:p>
          <a:p>
            <a:r>
              <a:rPr lang="en-US" altLang="en-US" dirty="0">
                <a:ea typeface="ヒラギノ角ゴ Pro W3" pitchFamily="-84" charset="-128"/>
              </a:rPr>
              <a:t>International borrowing and lending</a:t>
            </a:r>
            <a:endParaRPr lang="en-US" dirty="0"/>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Introduction </a:t>
            </a:r>
            <a:r>
              <a:rPr lang="en-US" altLang="en-US" sz="2000" b="0" dirty="0">
                <a:ea typeface="ヒラギノ角ゴ Pro W3" pitchFamily="-84" charset="-128"/>
              </a:rPr>
              <a:t>(1 of 3)</a:t>
            </a:r>
            <a:endParaRPr lang="en-US" dirty="0"/>
          </a:p>
        </p:txBody>
      </p:sp>
      <p:sp>
        <p:nvSpPr>
          <p:cNvPr id="12" name="Content Placeholder 11"/>
          <p:cNvSpPr>
            <a:spLocks noGrp="1"/>
          </p:cNvSpPr>
          <p:nvPr>
            <p:ph sz="quarter" idx="13"/>
          </p:nvPr>
        </p:nvSpPr>
        <p:spPr>
          <a:xfrm>
            <a:off x="457200" y="1556327"/>
            <a:ext cx="8229600" cy="3170052"/>
          </a:xfrm>
        </p:spPr>
        <p:txBody>
          <a:bodyPr/>
          <a:lstStyle/>
          <a:p>
            <a:pPr marL="255600"/>
            <a:r>
              <a:rPr lang="en-US" altLang="en-US" b="1" dirty="0">
                <a:ea typeface="ヒラギノ角ゴ Pro W3" pitchFamily="-84" charset="-128"/>
              </a:rPr>
              <a:t>Standard trade model </a:t>
            </a:r>
            <a:r>
              <a:rPr lang="en-US" altLang="en-US" dirty="0">
                <a:ea typeface="ヒラギノ角ゴ Pro W3" pitchFamily="-84" charset="-128"/>
              </a:rPr>
              <a:t>is a general model that includes Ricardian, specific factors, and Heckscher-Ohlin models as special cases.</a:t>
            </a:r>
          </a:p>
          <a:p>
            <a:pPr marL="741600" lvl="1"/>
            <a:r>
              <a:rPr lang="en-US" altLang="en-US" dirty="0">
                <a:ea typeface="ヒラギノ角ゴ Pro W3" pitchFamily="-84" charset="-128"/>
              </a:rPr>
              <a:t>Two goods, food (F) and cloth (C).</a:t>
            </a:r>
          </a:p>
          <a:p>
            <a:pPr marL="741600" lvl="1">
              <a:spcBef>
                <a:spcPct val="50000"/>
              </a:spcBef>
            </a:pPr>
            <a:r>
              <a:rPr lang="en-US" altLang="en-US" dirty="0">
                <a:ea typeface="ヒラギノ角ゴ Pro W3" pitchFamily="-84" charset="-128"/>
              </a:rPr>
              <a:t>Each country</a:t>
            </a:r>
            <a:r>
              <a:rPr lang="en-US" altLang="ja-JP" dirty="0">
                <a:ea typeface="ヒラギノ角ゴ Pro W3" pitchFamily="-84" charset="-128"/>
              </a:rPr>
              <a:t>’s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F</a:t>
            </a:r>
            <a:r>
              <a:rPr lang="en-US" altLang="ja-JP" dirty="0">
                <a:ea typeface="ヒラギノ角ゴ Pro W3" pitchFamily="-84" charset="-128"/>
              </a:rPr>
              <a:t> is a smooth curve.</a:t>
            </a:r>
            <a:endParaRPr lang="en-US" dirty="0"/>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Introduction </a:t>
            </a:r>
            <a:r>
              <a:rPr lang="en-US" altLang="en-US" sz="2000" b="0" dirty="0">
                <a:ea typeface="ヒラギノ角ゴ Pro W3" pitchFamily="-84" charset="-128"/>
              </a:rPr>
              <a:t>(2 of 3)</a:t>
            </a:r>
            <a:endParaRPr lang="en-US" dirty="0"/>
          </a:p>
        </p:txBody>
      </p:sp>
      <p:sp>
        <p:nvSpPr>
          <p:cNvPr id="2" name="Content Placeholder 1"/>
          <p:cNvSpPr>
            <a:spLocks noGrp="1"/>
          </p:cNvSpPr>
          <p:nvPr>
            <p:ph sz="quarter" idx="13"/>
          </p:nvPr>
        </p:nvSpPr>
        <p:spPr/>
        <p:txBody>
          <a:bodyPr/>
          <a:lstStyle/>
          <a:p>
            <a:pPr marL="255600"/>
            <a:r>
              <a:rPr lang="en-US" altLang="en-US" dirty="0">
                <a:ea typeface="ヒラギノ角ゴ Pro W3" pitchFamily="-84" charset="-128"/>
              </a:rPr>
              <a:t>Differences in </a:t>
            </a:r>
            <a:r>
              <a:rPr lang="en-US" altLang="en-US" b="1" dirty="0">
                <a:ea typeface="ヒラギノ角ゴ Pro W3" pitchFamily="-84" charset="-128"/>
              </a:rPr>
              <a:t>labor services, labor skills, physical capital, land, and technology</a:t>
            </a:r>
            <a:r>
              <a:rPr lang="en-US" altLang="en-US" dirty="0">
                <a:ea typeface="ヒラギノ角ゴ Pro W3" pitchFamily="-84" charset="-128"/>
              </a:rPr>
              <a:t> between countries cause differences in production possibility frontiers.</a:t>
            </a:r>
          </a:p>
          <a:p>
            <a:pPr marL="255600"/>
            <a:r>
              <a:rPr lang="en-US" altLang="en-US" dirty="0">
                <a:ea typeface="ヒラギノ角ゴ Pro W3" pitchFamily="-84" charset="-128"/>
              </a:rPr>
              <a:t>A country’</a:t>
            </a:r>
            <a:r>
              <a:rPr lang="en-US" altLang="ja-JP" dirty="0">
                <a:ea typeface="ヒラギノ角ゴ Pro W3" pitchFamily="-84" charset="-128"/>
              </a:rPr>
              <a:t>s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F</a:t>
            </a:r>
            <a:r>
              <a:rPr lang="en-US" altLang="ja-JP" dirty="0">
                <a:ea typeface="ヒラギノ角ゴ Pro W3" pitchFamily="-84" charset="-128"/>
              </a:rPr>
              <a:t> determines its relative supply function.</a:t>
            </a:r>
          </a:p>
          <a:p>
            <a:pPr marL="255600"/>
            <a:r>
              <a:rPr lang="en-US" altLang="en-US" dirty="0">
                <a:ea typeface="ヒラギノ角ゴ Pro W3" pitchFamily="-84" charset="-128"/>
              </a:rPr>
              <a:t>National relative supply functions determine a world relative supply function, which along with world relative demand determines the equilibrium under international trade.</a:t>
            </a:r>
            <a:endParaRPr lang="en-US" dirty="0"/>
          </a:p>
        </p:txBody>
      </p:sp>
    </p:spTree>
    <p:extLst>
      <p:ext uri="{BB962C8B-B14F-4D97-AF65-F5344CB8AC3E}">
        <p14:creationId xmlns:p14="http://schemas.microsoft.com/office/powerpoint/2010/main" val="28984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Introduction </a:t>
            </a:r>
            <a:r>
              <a:rPr lang="en-US" altLang="en-US" sz="2000" b="0" dirty="0">
                <a:ea typeface="ヒラギノ角ゴ Pro W3" pitchFamily="-84" charset="-128"/>
              </a:rPr>
              <a:t>(3 of 3)</a:t>
            </a:r>
            <a:endParaRPr lang="en-US" dirty="0"/>
          </a:p>
        </p:txBody>
      </p:sp>
      <p:sp>
        <p:nvSpPr>
          <p:cNvPr id="3" name="Content Placeholder 2"/>
          <p:cNvSpPr>
            <a:spLocks noGrp="1"/>
          </p:cNvSpPr>
          <p:nvPr>
            <p:ph sz="quarter" idx="13"/>
          </p:nvPr>
        </p:nvSpPr>
        <p:spPr>
          <a:xfrm>
            <a:off x="457200" y="1556328"/>
            <a:ext cx="8229600" cy="474354"/>
          </a:xfrm>
        </p:spPr>
        <p:txBody>
          <a:bodyPr/>
          <a:lstStyle/>
          <a:p>
            <a:pPr marL="255600"/>
            <a:r>
              <a:rPr lang="en-US" sz="2200" dirty="0"/>
              <a:t>The standard trade model is built on four key relationships:</a:t>
            </a:r>
          </a:p>
        </p:txBody>
      </p:sp>
      <p:sp>
        <p:nvSpPr>
          <p:cNvPr id="4" name="Content Placeholder 3"/>
          <p:cNvSpPr>
            <a:spLocks noGrp="1"/>
          </p:cNvSpPr>
          <p:nvPr>
            <p:ph sz="quarter" idx="14"/>
          </p:nvPr>
        </p:nvSpPr>
        <p:spPr>
          <a:xfrm>
            <a:off x="457200" y="2141309"/>
            <a:ext cx="8229600" cy="3959392"/>
          </a:xfrm>
        </p:spPr>
        <p:txBody>
          <a:bodyPr/>
          <a:lstStyle/>
          <a:p>
            <a:pPr marL="432000" indent="-432000">
              <a:buFont typeface="+mj-lt"/>
              <a:buAutoNum type="arabicPeriod"/>
            </a:pPr>
            <a:r>
              <a:rPr lang="en-US" sz="2200" dirty="0"/>
              <a:t>the relationship between the production possibility frontier and the relative supply curve,</a:t>
            </a:r>
          </a:p>
          <a:p>
            <a:pPr marL="432000" indent="-432000">
              <a:buFont typeface="+mj-lt"/>
              <a:buAutoNum type="arabicPeriod"/>
            </a:pPr>
            <a:r>
              <a:rPr lang="en-US" sz="2200" dirty="0"/>
              <a:t>the relationship between relative prices and relative demand,</a:t>
            </a:r>
          </a:p>
          <a:p>
            <a:pPr marL="432000" indent="-432000">
              <a:buFont typeface="+mj-lt"/>
              <a:buAutoNum type="arabicPeriod"/>
            </a:pPr>
            <a:r>
              <a:rPr lang="en-US" sz="2200" dirty="0"/>
              <a:t>the determination of world equilibrium by world relative supply and world relative demand, and </a:t>
            </a:r>
          </a:p>
          <a:p>
            <a:pPr marL="432000" indent="-432000">
              <a:buFont typeface="+mj-lt"/>
              <a:buAutoNum type="arabicPeriod"/>
            </a:pPr>
            <a:r>
              <a:rPr lang="en-US" sz="2200" dirty="0"/>
              <a:t>the effect of the terms of trade—the price of a country’s exports divided by the price of its imports—on a nation’s welfare.</a:t>
            </a:r>
          </a:p>
        </p:txBody>
      </p:sp>
    </p:spTree>
    <p:extLst>
      <p:ext uri="{BB962C8B-B14F-4D97-AF65-F5344CB8AC3E}">
        <p14:creationId xmlns:p14="http://schemas.microsoft.com/office/powerpoint/2010/main" val="1802218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Production Possibilities and Relative Supply </a:t>
            </a:r>
            <a:r>
              <a:rPr lang="en-US" altLang="en-US" sz="2000" b="0" dirty="0">
                <a:ea typeface="ヒラギノ角ゴ Pro W3" pitchFamily="-84" charset="-128"/>
              </a:rPr>
              <a:t>(1 of 2)</a:t>
            </a:r>
            <a:endParaRPr lang="en-US" dirty="0"/>
          </a:p>
        </p:txBody>
      </p:sp>
      <p:sp>
        <p:nvSpPr>
          <p:cNvPr id="18" name="Content Placeholder 17"/>
          <p:cNvSpPr>
            <a:spLocks noGrp="1"/>
          </p:cNvSpPr>
          <p:nvPr>
            <p:ph sz="quarter" idx="13"/>
          </p:nvPr>
        </p:nvSpPr>
        <p:spPr>
          <a:xfrm>
            <a:off x="457200" y="1593309"/>
            <a:ext cx="8229600" cy="520626"/>
          </a:xfrm>
        </p:spPr>
        <p:txBody>
          <a:bodyPr/>
          <a:lstStyle/>
          <a:p>
            <a:r>
              <a:rPr lang="en-US" altLang="en-US" sz="2400" dirty="0">
                <a:ea typeface="ヒラギノ角ゴ Pro W3" pitchFamily="-84" charset="-128"/>
              </a:rPr>
              <a:t>What a country produces depends on the relative price of</a:t>
            </a:r>
            <a:endParaRPr lang="en-US" sz="2400" dirty="0"/>
          </a:p>
        </p:txBody>
      </p:sp>
      <p:sp>
        <p:nvSpPr>
          <p:cNvPr id="19" name="Content Placeholder 18"/>
          <p:cNvSpPr>
            <a:spLocks noGrp="1"/>
          </p:cNvSpPr>
          <p:nvPr>
            <p:ph sz="quarter" idx="14"/>
          </p:nvPr>
        </p:nvSpPr>
        <p:spPr>
          <a:xfrm>
            <a:off x="457200" y="2370902"/>
            <a:ext cx="2138516" cy="514801"/>
          </a:xfrm>
        </p:spPr>
        <p:txBody>
          <a:bodyPr/>
          <a:lstStyle/>
          <a:p>
            <a:pPr marL="255600" indent="0">
              <a:buNone/>
            </a:pPr>
            <a:r>
              <a:rPr lang="en-US" altLang="en-US" sz="2400" dirty="0">
                <a:ea typeface="ヒラギノ角ゴ Pro W3" pitchFamily="-84" charset="-128"/>
              </a:rPr>
              <a:t>cloth to food</a:t>
            </a:r>
            <a:endParaRPr lang="en-US" sz="2400" dirty="0"/>
          </a:p>
        </p:txBody>
      </p:sp>
      <p:graphicFrame>
        <p:nvGraphicFramePr>
          <p:cNvPr id="42" name="Object 41" descr="Start fraction P sub C over P sub F end fraction. "/>
          <p:cNvGraphicFramePr>
            <a:graphicFrameLocks noChangeAspect="1"/>
          </p:cNvGraphicFramePr>
          <p:nvPr>
            <p:extLst>
              <p:ext uri="{D42A27DB-BD31-4B8C-83A1-F6EECF244321}">
                <p14:modId xmlns:p14="http://schemas.microsoft.com/office/powerpoint/2010/main" val="2437942458"/>
              </p:ext>
            </p:extLst>
          </p:nvPr>
        </p:nvGraphicFramePr>
        <p:xfrm>
          <a:off x="2686117" y="2180024"/>
          <a:ext cx="544471" cy="866205"/>
        </p:xfrm>
        <a:graphic>
          <a:graphicData uri="http://schemas.openxmlformats.org/presentationml/2006/ole">
            <mc:AlternateContent xmlns:mc="http://schemas.openxmlformats.org/markup-compatibility/2006">
              <mc:Choice xmlns:v="urn:schemas-microsoft-com:vml" Requires="v">
                <p:oleObj spid="_x0000_s1026" name="Equation" r:id="rId3" imgW="279360" imgH="444240" progId="Equation.DSMT4">
                  <p:embed/>
                </p:oleObj>
              </mc:Choice>
              <mc:Fallback>
                <p:oleObj name="Equation" r:id="rId3" imgW="279360" imgH="444240" progId="Equation.DSMT4">
                  <p:embed/>
                  <p:pic>
                    <p:nvPicPr>
                      <p:cNvPr id="0" name=""/>
                      <p:cNvPicPr/>
                      <p:nvPr/>
                    </p:nvPicPr>
                    <p:blipFill>
                      <a:blip r:embed="rId4"/>
                      <a:stretch>
                        <a:fillRect/>
                      </a:stretch>
                    </p:blipFill>
                    <p:spPr>
                      <a:xfrm>
                        <a:off x="2686117" y="2180024"/>
                        <a:ext cx="544471" cy="866205"/>
                      </a:xfrm>
                      <a:prstGeom prst="rect">
                        <a:avLst/>
                      </a:prstGeom>
                    </p:spPr>
                  </p:pic>
                </p:oleObj>
              </mc:Fallback>
            </mc:AlternateContent>
          </a:graphicData>
        </a:graphic>
      </p:graphicFrame>
      <p:sp>
        <p:nvSpPr>
          <p:cNvPr id="20" name="Content Placeholder 19"/>
          <p:cNvSpPr>
            <a:spLocks noGrp="1"/>
          </p:cNvSpPr>
          <p:nvPr>
            <p:ph sz="quarter" idx="15"/>
          </p:nvPr>
        </p:nvSpPr>
        <p:spPr>
          <a:xfrm>
            <a:off x="457200" y="3085377"/>
            <a:ext cx="6356350" cy="405968"/>
          </a:xfrm>
        </p:spPr>
        <p:txBody>
          <a:bodyPr tIns="0" rIns="0"/>
          <a:lstStyle/>
          <a:p>
            <a:r>
              <a:rPr lang="en-US" altLang="en-US" sz="2400" dirty="0">
                <a:ea typeface="ヒラギノ角ゴ Pro W3" pitchFamily="-84" charset="-128"/>
              </a:rPr>
              <a:t>An economy chooses its production of cloth</a:t>
            </a:r>
            <a:endParaRPr lang="en-US" sz="2400" dirty="0"/>
          </a:p>
        </p:txBody>
      </p:sp>
      <p:graphicFrame>
        <p:nvGraphicFramePr>
          <p:cNvPr id="43" name="Object 42" descr="Q sub C "/>
          <p:cNvGraphicFramePr>
            <a:graphicFrameLocks noChangeAspect="1"/>
          </p:cNvGraphicFramePr>
          <p:nvPr>
            <p:extLst>
              <p:ext uri="{D42A27DB-BD31-4B8C-83A1-F6EECF244321}">
                <p14:modId xmlns:p14="http://schemas.microsoft.com/office/powerpoint/2010/main" val="745841668"/>
              </p:ext>
            </p:extLst>
          </p:nvPr>
        </p:nvGraphicFramePr>
        <p:xfrm>
          <a:off x="6862635" y="3082403"/>
          <a:ext cx="407988" cy="433387"/>
        </p:xfrm>
        <a:graphic>
          <a:graphicData uri="http://schemas.openxmlformats.org/presentationml/2006/ole">
            <mc:AlternateContent xmlns:mc="http://schemas.openxmlformats.org/markup-compatibility/2006">
              <mc:Choice xmlns:v="urn:schemas-microsoft-com:vml" Requires="v">
                <p:oleObj spid="_x0000_s1027" name="Equation" r:id="rId5" imgW="215640" imgH="228600" progId="Equation.DSMT4">
                  <p:embed/>
                </p:oleObj>
              </mc:Choice>
              <mc:Fallback>
                <p:oleObj name="Equation" r:id="rId5" imgW="215640" imgH="228600" progId="Equation.DSMT4">
                  <p:embed/>
                  <p:pic>
                    <p:nvPicPr>
                      <p:cNvPr id="0" name=""/>
                      <p:cNvPicPr/>
                      <p:nvPr/>
                    </p:nvPicPr>
                    <p:blipFill>
                      <a:blip r:embed="rId6"/>
                      <a:stretch>
                        <a:fillRect/>
                      </a:stretch>
                    </p:blipFill>
                    <p:spPr>
                      <a:xfrm>
                        <a:off x="6862635" y="3082403"/>
                        <a:ext cx="407988" cy="433387"/>
                      </a:xfrm>
                      <a:prstGeom prst="rect">
                        <a:avLst/>
                      </a:prstGeom>
                    </p:spPr>
                  </p:pic>
                </p:oleObj>
              </mc:Fallback>
            </mc:AlternateContent>
          </a:graphicData>
        </a:graphic>
      </p:graphicFrame>
      <p:sp>
        <p:nvSpPr>
          <p:cNvPr id="21" name="Content Placeholder 20"/>
          <p:cNvSpPr>
            <a:spLocks noGrp="1"/>
          </p:cNvSpPr>
          <p:nvPr>
            <p:ph sz="quarter" idx="16"/>
          </p:nvPr>
        </p:nvSpPr>
        <p:spPr>
          <a:xfrm>
            <a:off x="7344276" y="3085377"/>
            <a:ext cx="1342523" cy="405968"/>
          </a:xfrm>
        </p:spPr>
        <p:txBody>
          <a:bodyPr lIns="0" tIns="0" rIns="0"/>
          <a:lstStyle/>
          <a:p>
            <a:pPr marL="432" indent="0">
              <a:buNone/>
            </a:pPr>
            <a:r>
              <a:rPr lang="en-US" altLang="en-US" sz="2400" dirty="0">
                <a:ea typeface="ヒラギノ角ゴ Pro W3" pitchFamily="-84" charset="-128"/>
              </a:rPr>
              <a:t>and food</a:t>
            </a:r>
            <a:endParaRPr lang="en-US" sz="2400" dirty="0"/>
          </a:p>
        </p:txBody>
      </p:sp>
      <p:graphicFrame>
        <p:nvGraphicFramePr>
          <p:cNvPr id="44" name="Object 43" descr="Q sub F "/>
          <p:cNvGraphicFramePr>
            <a:graphicFrameLocks noChangeAspect="1"/>
          </p:cNvGraphicFramePr>
          <p:nvPr>
            <p:extLst>
              <p:ext uri="{D42A27DB-BD31-4B8C-83A1-F6EECF244321}">
                <p14:modId xmlns:p14="http://schemas.microsoft.com/office/powerpoint/2010/main" val="1143647204"/>
              </p:ext>
            </p:extLst>
          </p:nvPr>
        </p:nvGraphicFramePr>
        <p:xfrm>
          <a:off x="767746" y="3577202"/>
          <a:ext cx="406400" cy="433387"/>
        </p:xfrm>
        <a:graphic>
          <a:graphicData uri="http://schemas.openxmlformats.org/presentationml/2006/ole">
            <mc:AlternateContent xmlns:mc="http://schemas.openxmlformats.org/markup-compatibility/2006">
              <mc:Choice xmlns:v="urn:schemas-microsoft-com:vml" Requires="v">
                <p:oleObj spid="_x0000_s1028" name="Equation" r:id="rId7" imgW="215640" imgH="228600" progId="Equation.DSMT4">
                  <p:embed/>
                </p:oleObj>
              </mc:Choice>
              <mc:Fallback>
                <p:oleObj name="Equation" r:id="rId7" imgW="215640" imgH="228600" progId="Equation.DSMT4">
                  <p:embed/>
                  <p:pic>
                    <p:nvPicPr>
                      <p:cNvPr id="43" name="Object 42"/>
                      <p:cNvPicPr/>
                      <p:nvPr/>
                    </p:nvPicPr>
                    <p:blipFill>
                      <a:blip r:embed="rId8"/>
                      <a:stretch>
                        <a:fillRect/>
                      </a:stretch>
                    </p:blipFill>
                    <p:spPr>
                      <a:xfrm>
                        <a:off x="767746" y="3577202"/>
                        <a:ext cx="406400" cy="433387"/>
                      </a:xfrm>
                      <a:prstGeom prst="rect">
                        <a:avLst/>
                      </a:prstGeom>
                    </p:spPr>
                  </p:pic>
                </p:oleObj>
              </mc:Fallback>
            </mc:AlternateContent>
          </a:graphicData>
        </a:graphic>
      </p:graphicFrame>
      <p:sp>
        <p:nvSpPr>
          <p:cNvPr id="22" name="Content Placeholder 21"/>
          <p:cNvSpPr>
            <a:spLocks noGrp="1"/>
          </p:cNvSpPr>
          <p:nvPr>
            <p:ph sz="quarter" idx="17"/>
          </p:nvPr>
        </p:nvSpPr>
        <p:spPr>
          <a:xfrm>
            <a:off x="1309426" y="3574394"/>
            <a:ext cx="4758866" cy="415715"/>
          </a:xfrm>
        </p:spPr>
        <p:txBody>
          <a:bodyPr lIns="0" tIns="0" rIns="0"/>
          <a:lstStyle/>
          <a:p>
            <a:pPr marL="432" indent="0">
              <a:buNone/>
            </a:pPr>
            <a:r>
              <a:rPr lang="en-US" altLang="en-US" sz="2400" dirty="0">
                <a:ea typeface="ヒラギノ角ゴ Pro W3" pitchFamily="-84" charset="-128"/>
              </a:rPr>
              <a:t>to maximize the value of its output</a:t>
            </a:r>
            <a:endParaRPr lang="en-US" sz="2400" dirty="0"/>
          </a:p>
        </p:txBody>
      </p:sp>
      <p:graphicFrame>
        <p:nvGraphicFramePr>
          <p:cNvPr id="45" name="Object 44" descr="V = P sub C Q sub C + P sub F Q sub F,"/>
          <p:cNvGraphicFramePr>
            <a:graphicFrameLocks noChangeAspect="1"/>
          </p:cNvGraphicFramePr>
          <p:nvPr>
            <p:extLst>
              <p:ext uri="{D42A27DB-BD31-4B8C-83A1-F6EECF244321}">
                <p14:modId xmlns:p14="http://schemas.microsoft.com/office/powerpoint/2010/main" val="2185252040"/>
              </p:ext>
            </p:extLst>
          </p:nvPr>
        </p:nvGraphicFramePr>
        <p:xfrm>
          <a:off x="6156072" y="3585130"/>
          <a:ext cx="1979898" cy="404979"/>
        </p:xfrm>
        <a:graphic>
          <a:graphicData uri="http://schemas.openxmlformats.org/presentationml/2006/ole">
            <mc:AlternateContent xmlns:mc="http://schemas.openxmlformats.org/markup-compatibility/2006">
              <mc:Choice xmlns:v="urn:schemas-microsoft-com:vml" Requires="v">
                <p:oleObj spid="_x0000_s1029" name="Equation" r:id="rId9" imgW="1117440" imgH="228600" progId="Equation.DSMT4">
                  <p:embed/>
                </p:oleObj>
              </mc:Choice>
              <mc:Fallback>
                <p:oleObj name="Equation" r:id="rId9" imgW="1117440" imgH="228600" progId="Equation.DSMT4">
                  <p:embed/>
                  <p:pic>
                    <p:nvPicPr>
                      <p:cNvPr id="0" name=""/>
                      <p:cNvPicPr/>
                      <p:nvPr/>
                    </p:nvPicPr>
                    <p:blipFill>
                      <a:blip r:embed="rId10"/>
                      <a:stretch>
                        <a:fillRect/>
                      </a:stretch>
                    </p:blipFill>
                    <p:spPr>
                      <a:xfrm>
                        <a:off x="6156072" y="3585130"/>
                        <a:ext cx="1979898" cy="404979"/>
                      </a:xfrm>
                      <a:prstGeom prst="rect">
                        <a:avLst/>
                      </a:prstGeom>
                    </p:spPr>
                  </p:pic>
                </p:oleObj>
              </mc:Fallback>
            </mc:AlternateContent>
          </a:graphicData>
        </a:graphic>
      </p:graphicFrame>
      <p:sp>
        <p:nvSpPr>
          <p:cNvPr id="23" name="Content Placeholder 22"/>
          <p:cNvSpPr>
            <a:spLocks noGrp="1"/>
          </p:cNvSpPr>
          <p:nvPr>
            <p:ph sz="quarter" idx="18"/>
          </p:nvPr>
        </p:nvSpPr>
        <p:spPr>
          <a:xfrm>
            <a:off x="457200" y="4061284"/>
            <a:ext cx="5064826" cy="427589"/>
          </a:xfrm>
        </p:spPr>
        <p:txBody>
          <a:bodyPr tIns="0"/>
          <a:lstStyle/>
          <a:p>
            <a:pPr marL="255600" indent="0">
              <a:buNone/>
            </a:pPr>
            <a:r>
              <a:rPr lang="en-US" altLang="en-US" sz="2400" dirty="0">
                <a:ea typeface="ヒラギノ角ゴ Pro W3" pitchFamily="-84" charset="-128"/>
              </a:rPr>
              <a:t>given the prices of cloth and food.</a:t>
            </a:r>
            <a:endParaRPr lang="en-US" sz="2400" dirty="0"/>
          </a:p>
        </p:txBody>
      </p:sp>
      <p:sp>
        <p:nvSpPr>
          <p:cNvPr id="24" name="Content Placeholder 23"/>
          <p:cNvSpPr>
            <a:spLocks noGrp="1"/>
          </p:cNvSpPr>
          <p:nvPr>
            <p:ph sz="quarter" idx="19"/>
          </p:nvPr>
        </p:nvSpPr>
        <p:spPr>
          <a:xfrm>
            <a:off x="457200" y="4539570"/>
            <a:ext cx="5817962" cy="400566"/>
          </a:xfrm>
        </p:spPr>
        <p:txBody>
          <a:bodyPr tIns="0"/>
          <a:lstStyle/>
          <a:p>
            <a:pPr lvl="1"/>
            <a:r>
              <a:rPr lang="en-US" altLang="en-US" sz="2400" dirty="0">
                <a:ea typeface="ヒラギノ角ゴ Pro W3" pitchFamily="-84" charset="-128"/>
              </a:rPr>
              <a:t>The slope of an isovalue line equals</a:t>
            </a:r>
          </a:p>
        </p:txBody>
      </p:sp>
      <p:graphicFrame>
        <p:nvGraphicFramePr>
          <p:cNvPr id="46" name="Object 45" descr="negative left parenthesis P sub C over P sub F right parenthesis. "/>
          <p:cNvGraphicFramePr>
            <a:graphicFrameLocks noChangeAspect="1"/>
          </p:cNvGraphicFramePr>
          <p:nvPr>
            <p:extLst>
              <p:ext uri="{D42A27DB-BD31-4B8C-83A1-F6EECF244321}">
                <p14:modId xmlns:p14="http://schemas.microsoft.com/office/powerpoint/2010/main" val="2266734988"/>
              </p:ext>
            </p:extLst>
          </p:nvPr>
        </p:nvGraphicFramePr>
        <p:xfrm>
          <a:off x="6337828" y="4363111"/>
          <a:ext cx="859046" cy="777233"/>
        </p:xfrm>
        <a:graphic>
          <a:graphicData uri="http://schemas.openxmlformats.org/presentationml/2006/ole">
            <mc:AlternateContent xmlns:mc="http://schemas.openxmlformats.org/markup-compatibility/2006">
              <mc:Choice xmlns:v="urn:schemas-microsoft-com:vml" Requires="v">
                <p:oleObj spid="_x0000_s1030" name="Equation" r:id="rId11" imgW="533160" imgH="482400" progId="Equation.DSMT4">
                  <p:embed/>
                </p:oleObj>
              </mc:Choice>
              <mc:Fallback>
                <p:oleObj name="Equation" r:id="rId11" imgW="533160" imgH="482400" progId="Equation.DSMT4">
                  <p:embed/>
                  <p:pic>
                    <p:nvPicPr>
                      <p:cNvPr id="0" name=""/>
                      <p:cNvPicPr/>
                      <p:nvPr/>
                    </p:nvPicPr>
                    <p:blipFill>
                      <a:blip r:embed="rId12"/>
                      <a:stretch>
                        <a:fillRect/>
                      </a:stretch>
                    </p:blipFill>
                    <p:spPr>
                      <a:xfrm>
                        <a:off x="6337828" y="4363111"/>
                        <a:ext cx="859046" cy="777233"/>
                      </a:xfrm>
                      <a:prstGeom prst="rect">
                        <a:avLst/>
                      </a:prstGeom>
                    </p:spPr>
                  </p:pic>
                </p:oleObj>
              </mc:Fallback>
            </mc:AlternateContent>
          </a:graphicData>
        </a:graphic>
      </p:graphicFrame>
      <p:sp>
        <p:nvSpPr>
          <p:cNvPr id="25" name="Content Placeholder 24"/>
          <p:cNvSpPr>
            <a:spLocks noGrp="1"/>
          </p:cNvSpPr>
          <p:nvPr>
            <p:ph sz="quarter" idx="20"/>
          </p:nvPr>
        </p:nvSpPr>
        <p:spPr>
          <a:xfrm>
            <a:off x="457201" y="5191042"/>
            <a:ext cx="8229600" cy="797320"/>
          </a:xfrm>
        </p:spPr>
        <p:txBody>
          <a:bodyPr tIns="0"/>
          <a:lstStyle/>
          <a:p>
            <a:pPr lvl="1"/>
            <a:r>
              <a:rPr lang="en-US" altLang="en-US" sz="2400" dirty="0">
                <a:ea typeface="ヒラギノ角ゴ Pro W3" pitchFamily="-84" charset="-128"/>
              </a:rPr>
              <a:t>Produce at point where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is tangent to isovalue line.</a:t>
            </a:r>
          </a:p>
        </p:txBody>
      </p:sp>
    </p:spTree>
    <p:extLst>
      <p:ext uri="{BB962C8B-B14F-4D97-AF65-F5344CB8AC3E}">
        <p14:creationId xmlns:p14="http://schemas.microsoft.com/office/powerpoint/2010/main" val="1368947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6.1 Relative Prices Determine the Economy’</a:t>
            </a:r>
            <a:r>
              <a:rPr lang="en-US" altLang="ja-JP" sz="3200" dirty="0">
                <a:ea typeface="ヒラギノ角ゴ Pro W3" pitchFamily="-84" charset="-128"/>
              </a:rPr>
              <a:t>s Output</a:t>
            </a:r>
            <a:endParaRPr lang="en-US" sz="3200" dirty="0"/>
          </a:p>
        </p:txBody>
      </p:sp>
      <p:pic>
        <p:nvPicPr>
          <p:cNvPr id="29" name="Content Placeholder 28" descr="A graph shows food production, Q sub F, versus cloth production,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962322" y="1557338"/>
            <a:ext cx="3219356" cy="3399423"/>
          </a:xfrm>
        </p:spPr>
      </p:pic>
      <p:sp>
        <p:nvSpPr>
          <p:cNvPr id="28" name="Content Placeholder 27"/>
          <p:cNvSpPr>
            <a:spLocks noGrp="1"/>
          </p:cNvSpPr>
          <p:nvPr>
            <p:ph sz="quarter" idx="14"/>
          </p:nvPr>
        </p:nvSpPr>
        <p:spPr>
          <a:xfrm>
            <a:off x="457200" y="5100312"/>
            <a:ext cx="8229600" cy="1244926"/>
          </a:xfrm>
        </p:spPr>
        <p:txBody>
          <a:bodyPr tIns="36000"/>
          <a:lstStyle/>
          <a:p>
            <a:pPr marL="432" indent="0">
              <a:buNone/>
            </a:pPr>
            <a:r>
              <a:rPr lang="en-US" dirty="0"/>
              <a:t>An economy whose production possibility frontier is </a:t>
            </a:r>
            <a:r>
              <a:rPr lang="en-US" i="1" dirty="0"/>
              <a:t>T</a:t>
            </a:r>
            <a:r>
              <a:rPr lang="en-US" sz="100" i="1" dirty="0"/>
              <a:t> </a:t>
            </a:r>
            <a:r>
              <a:rPr lang="en-US" i="1" dirty="0"/>
              <a:t>T </a:t>
            </a:r>
            <a:r>
              <a:rPr lang="en-US" dirty="0"/>
              <a:t>will produce at </a:t>
            </a:r>
            <a:r>
              <a:rPr lang="en-US" i="1" dirty="0"/>
              <a:t>Q</a:t>
            </a:r>
            <a:r>
              <a:rPr lang="en-US" dirty="0"/>
              <a:t>, which is on the highest possible isovalue line.</a:t>
            </a:r>
          </a:p>
        </p:txBody>
      </p:sp>
    </p:spTree>
    <p:extLst>
      <p:ext uri="{BB962C8B-B14F-4D97-AF65-F5344CB8AC3E}">
        <p14:creationId xmlns:p14="http://schemas.microsoft.com/office/powerpoint/2010/main" val="2198922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xmlns="" val="1"/>
              </a:ext>
            </a:extLst>
          </p:cNvPr>
          <p:cNvSpPr>
            <a:spLocks noGrp="1"/>
          </p:cNvSpPr>
          <p:nvPr>
            <p:ph type="title"/>
          </p:nvPr>
        </p:nvSpPr>
        <p:spPr/>
        <p:txBody>
          <a:bodyPr/>
          <a:lstStyle/>
          <a:p>
            <a:r>
              <a:rPr lang="en-US" altLang="en-US" sz="3200" dirty="0">
                <a:ea typeface="ヒラギノ角ゴ Pro W3" pitchFamily="-84" charset="-128"/>
              </a:rPr>
              <a:t>Production Possibilities and Relative Supply </a:t>
            </a:r>
            <a:r>
              <a:rPr lang="en-US" altLang="en-US" sz="2000" b="0" dirty="0">
                <a:ea typeface="ヒラギノ角ゴ Pro W3" pitchFamily="-84" charset="-128"/>
              </a:rPr>
              <a:t>(2 of 2)</a:t>
            </a:r>
            <a:endParaRPr lang="en-US" dirty="0"/>
          </a:p>
        </p:txBody>
      </p:sp>
      <p:sp>
        <p:nvSpPr>
          <p:cNvPr id="5" name="Content Placeholder 4"/>
          <p:cNvSpPr>
            <a:spLocks noGrp="1"/>
          </p:cNvSpPr>
          <p:nvPr>
            <p:ph sz="quarter" idx="13"/>
          </p:nvPr>
        </p:nvSpPr>
        <p:spPr>
          <a:xfrm>
            <a:off x="457200" y="1552574"/>
            <a:ext cx="5196348" cy="535671"/>
          </a:xfrm>
        </p:spPr>
        <p:txBody>
          <a:bodyPr/>
          <a:lstStyle/>
          <a:p>
            <a:r>
              <a:rPr lang="en-US" altLang="en-US" dirty="0">
                <a:ea typeface="ヒラギノ角ゴ Pro W3" pitchFamily="-84" charset="-128"/>
              </a:rPr>
              <a:t>Relative prices and relative supply:</a:t>
            </a:r>
          </a:p>
        </p:txBody>
      </p:sp>
      <p:sp>
        <p:nvSpPr>
          <p:cNvPr id="6" name="Content Placeholder 5">
            <a:extLst>
              <a:ext uri="{C183D7F6-B498-43B3-948B-1728B52AA6E4}">
                <adec:decorative xmlns:adec="http://schemas.microsoft.com/office/drawing/2017/decorative" xmlns="" val="1"/>
              </a:ext>
            </a:extLst>
          </p:cNvPr>
          <p:cNvSpPr>
            <a:spLocks noGrp="1"/>
          </p:cNvSpPr>
          <p:nvPr>
            <p:ph sz="quarter" idx="14"/>
          </p:nvPr>
        </p:nvSpPr>
        <p:spPr>
          <a:xfrm>
            <a:off x="457200" y="2163217"/>
            <a:ext cx="7310438" cy="417146"/>
          </a:xfrm>
        </p:spPr>
        <p:txBody>
          <a:bodyPr tIns="0"/>
          <a:lstStyle/>
          <a:p>
            <a:pPr lvl="1"/>
            <a:r>
              <a:rPr lang="en-US" altLang="en-US" dirty="0">
                <a:ea typeface="ヒラギノ角ゴ Pro W3" pitchFamily="-84" charset="-128"/>
              </a:rPr>
              <a:t>An increase in the price of cloth relative to food</a:t>
            </a:r>
            <a:endParaRPr lang="en-US" dirty="0"/>
          </a:p>
        </p:txBody>
      </p:sp>
      <p:graphicFrame>
        <p:nvGraphicFramePr>
          <p:cNvPr id="20" name="Object 19" descr="Start fraction P sub C over P sub F end fraction."/>
          <p:cNvGraphicFramePr>
            <a:graphicFrameLocks noChangeAspect="1"/>
          </p:cNvGraphicFramePr>
          <p:nvPr>
            <p:extLst>
              <p:ext uri="{D42A27DB-BD31-4B8C-83A1-F6EECF244321}">
                <p14:modId xmlns:p14="http://schemas.microsoft.com/office/powerpoint/2010/main" val="2656410814"/>
              </p:ext>
            </p:extLst>
          </p:nvPr>
        </p:nvGraphicFramePr>
        <p:xfrm>
          <a:off x="7854960" y="2024605"/>
          <a:ext cx="438150" cy="838200"/>
        </p:xfrm>
        <a:graphic>
          <a:graphicData uri="http://schemas.openxmlformats.org/presentationml/2006/ole">
            <mc:AlternateContent xmlns:mc="http://schemas.openxmlformats.org/markup-compatibility/2006">
              <mc:Choice xmlns:v="urn:schemas-microsoft-com:vml" Requires="v">
                <p:oleObj spid="_x0000_s2050" name="Equation" r:id="rId3" imgW="438222" imgH="838314" progId="Equation.DSMT4">
                  <p:embed/>
                </p:oleObj>
              </mc:Choice>
              <mc:Fallback>
                <p:oleObj name="Equation" r:id="rId3" imgW="438222" imgH="838314" progId="Equation.DSMT4">
                  <p:embed/>
                  <p:pic>
                    <p:nvPicPr>
                      <p:cNvPr id="0" name=""/>
                      <p:cNvPicPr/>
                      <p:nvPr/>
                    </p:nvPicPr>
                    <p:blipFill>
                      <a:blip r:embed="rId4"/>
                      <a:stretch>
                        <a:fillRect/>
                      </a:stretch>
                    </p:blipFill>
                    <p:spPr>
                      <a:xfrm>
                        <a:off x="7854960" y="2024605"/>
                        <a:ext cx="438150" cy="838200"/>
                      </a:xfrm>
                      <a:prstGeom prst="rect">
                        <a:avLst/>
                      </a:prstGeom>
                    </p:spPr>
                  </p:pic>
                </p:oleObj>
              </mc:Fallback>
            </mc:AlternateContent>
          </a:graphicData>
        </a:graphic>
      </p:graphicFrame>
      <p:sp>
        <p:nvSpPr>
          <p:cNvPr id="7" name="Content Placeholder 6">
            <a:extLst>
              <a:ext uri="{C183D7F6-B498-43B3-948B-1728B52AA6E4}">
                <adec:decorative xmlns:adec="http://schemas.microsoft.com/office/drawing/2017/decorative" xmlns="" val="1"/>
              </a:ext>
            </a:extLst>
          </p:cNvPr>
          <p:cNvSpPr>
            <a:spLocks noGrp="1"/>
          </p:cNvSpPr>
          <p:nvPr>
            <p:ph sz="quarter" idx="15"/>
          </p:nvPr>
        </p:nvSpPr>
        <p:spPr>
          <a:xfrm>
            <a:off x="457199" y="2655334"/>
            <a:ext cx="5314335" cy="426069"/>
          </a:xfrm>
        </p:spPr>
        <p:txBody>
          <a:bodyPr tIns="0"/>
          <a:lstStyle/>
          <a:p>
            <a:pPr marL="741600" lvl="1" indent="0">
              <a:buNone/>
            </a:pPr>
            <a:r>
              <a:rPr lang="en-US" altLang="en-US" dirty="0">
                <a:ea typeface="ヒラギノ角ゴ Pro W3" pitchFamily="-84" charset="-128"/>
              </a:rPr>
              <a:t>makes the isovalue line steeper.</a:t>
            </a:r>
            <a:endParaRPr lang="en-US" dirty="0"/>
          </a:p>
        </p:txBody>
      </p:sp>
      <p:sp>
        <p:nvSpPr>
          <p:cNvPr id="8" name="Content Placeholder 7">
            <a:extLst>
              <a:ext uri="{C183D7F6-B498-43B3-948B-1728B52AA6E4}">
                <adec:decorative xmlns:adec="http://schemas.microsoft.com/office/drawing/2017/decorative" xmlns="" val="1"/>
              </a:ext>
            </a:extLst>
          </p:cNvPr>
          <p:cNvSpPr>
            <a:spLocks noGrp="1"/>
          </p:cNvSpPr>
          <p:nvPr>
            <p:ph sz="quarter" idx="16"/>
          </p:nvPr>
        </p:nvSpPr>
        <p:spPr>
          <a:xfrm>
            <a:off x="457200" y="3156374"/>
            <a:ext cx="4665406" cy="409630"/>
          </a:xfrm>
        </p:spPr>
        <p:txBody>
          <a:bodyPr tIns="0"/>
          <a:lstStyle/>
          <a:p>
            <a:pPr lvl="1"/>
            <a:r>
              <a:rPr lang="en-US" altLang="en-US" dirty="0">
                <a:ea typeface="ヒラギノ角ゴ Pro W3" pitchFamily="-84" charset="-128"/>
              </a:rPr>
              <a:t>Production shifts from point</a:t>
            </a:r>
          </a:p>
        </p:txBody>
      </p:sp>
      <p:graphicFrame>
        <p:nvGraphicFramePr>
          <p:cNvPr id="21" name="Object 20" descr="Q to the first power "/>
          <p:cNvGraphicFramePr>
            <a:graphicFrameLocks noChangeAspect="1"/>
          </p:cNvGraphicFramePr>
          <p:nvPr>
            <p:extLst>
              <p:ext uri="{D42A27DB-BD31-4B8C-83A1-F6EECF244321}">
                <p14:modId xmlns:p14="http://schemas.microsoft.com/office/powerpoint/2010/main" val="1098913280"/>
              </p:ext>
            </p:extLst>
          </p:nvPr>
        </p:nvGraphicFramePr>
        <p:xfrm>
          <a:off x="5212982" y="3145316"/>
          <a:ext cx="371475" cy="420688"/>
        </p:xfrm>
        <a:graphic>
          <a:graphicData uri="http://schemas.openxmlformats.org/presentationml/2006/ole">
            <mc:AlternateContent xmlns:mc="http://schemas.openxmlformats.org/markup-compatibility/2006">
              <mc:Choice xmlns:v="urn:schemas-microsoft-com:vml" Requires="v">
                <p:oleObj spid="_x0000_s2051" name="Equation" r:id="rId5" imgW="190440" imgH="215640" progId="Equation.DSMT4">
                  <p:embed/>
                </p:oleObj>
              </mc:Choice>
              <mc:Fallback>
                <p:oleObj name="Equation" r:id="rId5" imgW="190440" imgH="215640" progId="Equation.DSMT4">
                  <p:embed/>
                  <p:pic>
                    <p:nvPicPr>
                      <p:cNvPr id="10" name="Object 9"/>
                      <p:cNvPicPr/>
                      <p:nvPr/>
                    </p:nvPicPr>
                    <p:blipFill>
                      <a:blip r:embed="rId6"/>
                      <a:stretch>
                        <a:fillRect/>
                      </a:stretch>
                    </p:blipFill>
                    <p:spPr>
                      <a:xfrm>
                        <a:off x="5212982" y="3145316"/>
                        <a:ext cx="371475" cy="420688"/>
                      </a:xfrm>
                      <a:prstGeom prst="rect">
                        <a:avLst/>
                      </a:prstGeom>
                    </p:spPr>
                  </p:pic>
                </p:oleObj>
              </mc:Fallback>
            </mc:AlternateContent>
          </a:graphicData>
        </a:graphic>
      </p:graphicFrame>
      <p:sp>
        <p:nvSpPr>
          <p:cNvPr id="9" name="Content Placeholder 8">
            <a:extLst>
              <a:ext uri="{C183D7F6-B498-43B3-948B-1728B52AA6E4}">
                <adec:decorative xmlns:adec="http://schemas.microsoft.com/office/drawing/2017/decorative" xmlns="" val="1"/>
              </a:ext>
            </a:extLst>
          </p:cNvPr>
          <p:cNvSpPr>
            <a:spLocks noGrp="1"/>
          </p:cNvSpPr>
          <p:nvPr>
            <p:ph sz="quarter" idx="17"/>
          </p:nvPr>
        </p:nvSpPr>
        <p:spPr>
          <a:xfrm>
            <a:off x="5698004" y="3156375"/>
            <a:ext cx="1141207" cy="409629"/>
          </a:xfrm>
        </p:spPr>
        <p:txBody>
          <a:bodyPr lIns="0" tIns="0"/>
          <a:lstStyle/>
          <a:p>
            <a:pPr marL="0" lvl="1" indent="0">
              <a:buNone/>
            </a:pPr>
            <a:r>
              <a:rPr lang="en-US" dirty="0"/>
              <a:t>to point</a:t>
            </a:r>
          </a:p>
        </p:txBody>
      </p:sp>
      <p:graphicFrame>
        <p:nvGraphicFramePr>
          <p:cNvPr id="23" name="Object 22" descr="Q squared"/>
          <p:cNvGraphicFramePr>
            <a:graphicFrameLocks noChangeAspect="1"/>
          </p:cNvGraphicFramePr>
          <p:nvPr>
            <p:extLst>
              <p:ext uri="{D42A27DB-BD31-4B8C-83A1-F6EECF244321}">
                <p14:modId xmlns:p14="http://schemas.microsoft.com/office/powerpoint/2010/main" val="2158877868"/>
              </p:ext>
            </p:extLst>
          </p:nvPr>
        </p:nvGraphicFramePr>
        <p:xfrm>
          <a:off x="6931263" y="3156374"/>
          <a:ext cx="420688" cy="420688"/>
        </p:xfrm>
        <a:graphic>
          <a:graphicData uri="http://schemas.openxmlformats.org/presentationml/2006/ole">
            <mc:AlternateContent xmlns:mc="http://schemas.openxmlformats.org/markup-compatibility/2006">
              <mc:Choice xmlns:v="urn:schemas-microsoft-com:vml" Requires="v">
                <p:oleObj spid="_x0000_s2052" name="Equation" r:id="rId7" imgW="215640" imgH="215640" progId="Equation.DSMT4">
                  <p:embed/>
                </p:oleObj>
              </mc:Choice>
              <mc:Fallback>
                <p:oleObj name="Equation" r:id="rId7" imgW="215640" imgH="215640" progId="Equation.DSMT4">
                  <p:embed/>
                  <p:pic>
                    <p:nvPicPr>
                      <p:cNvPr id="21" name="Object 20"/>
                      <p:cNvPicPr/>
                      <p:nvPr/>
                    </p:nvPicPr>
                    <p:blipFill>
                      <a:blip r:embed="rId8"/>
                      <a:stretch>
                        <a:fillRect/>
                      </a:stretch>
                    </p:blipFill>
                    <p:spPr>
                      <a:xfrm>
                        <a:off x="6931263" y="3156374"/>
                        <a:ext cx="420688" cy="420688"/>
                      </a:xfrm>
                      <a:prstGeom prst="rect">
                        <a:avLst/>
                      </a:prstGeom>
                    </p:spPr>
                  </p:pic>
                </p:oleObj>
              </mc:Fallback>
            </mc:AlternateContent>
          </a:graphicData>
        </a:graphic>
      </p:graphicFrame>
      <p:sp>
        <p:nvSpPr>
          <p:cNvPr id="10" name="Content Placeholder 9">
            <a:extLst>
              <a:ext uri="{C183D7F6-B498-43B3-948B-1728B52AA6E4}">
                <adec:decorative xmlns:adec="http://schemas.microsoft.com/office/drawing/2017/decorative" xmlns="" val="1"/>
              </a:ext>
            </a:extLst>
          </p:cNvPr>
          <p:cNvSpPr>
            <a:spLocks noGrp="1"/>
          </p:cNvSpPr>
          <p:nvPr>
            <p:ph sz="quarter" idx="18"/>
          </p:nvPr>
        </p:nvSpPr>
        <p:spPr>
          <a:xfrm>
            <a:off x="457200" y="3835366"/>
            <a:ext cx="5019368" cy="410957"/>
          </a:xfrm>
        </p:spPr>
        <p:txBody>
          <a:bodyPr tIns="0"/>
          <a:lstStyle/>
          <a:p>
            <a:pPr lvl="1"/>
            <a:r>
              <a:rPr lang="en-US" altLang="en-US" dirty="0">
                <a:ea typeface="ヒラギノ角ゴ Pro W3" pitchFamily="-84" charset="-128"/>
              </a:rPr>
              <a:t>Supply of cloth relative to food</a:t>
            </a:r>
          </a:p>
        </p:txBody>
      </p:sp>
      <p:graphicFrame>
        <p:nvGraphicFramePr>
          <p:cNvPr id="26" name="Object 25" descr="Start fraction Q sub C over Q sub F end fraction"/>
          <p:cNvGraphicFramePr>
            <a:graphicFrameLocks noChangeAspect="1"/>
          </p:cNvGraphicFramePr>
          <p:nvPr>
            <p:extLst>
              <p:ext uri="{D42A27DB-BD31-4B8C-83A1-F6EECF244321}">
                <p14:modId xmlns:p14="http://schemas.microsoft.com/office/powerpoint/2010/main" val="3788221448"/>
              </p:ext>
            </p:extLst>
          </p:nvPr>
        </p:nvGraphicFramePr>
        <p:xfrm>
          <a:off x="5556440" y="3650536"/>
          <a:ext cx="449976" cy="787459"/>
        </p:xfrm>
        <a:graphic>
          <a:graphicData uri="http://schemas.openxmlformats.org/presentationml/2006/ole">
            <mc:AlternateContent xmlns:mc="http://schemas.openxmlformats.org/markup-compatibility/2006">
              <mc:Choice xmlns:v="urn:schemas-microsoft-com:vml" Requires="v">
                <p:oleObj spid="_x0000_s2053" name="Equation" r:id="rId9" imgW="253800" imgH="444240" progId="Equation.DSMT4">
                  <p:embed/>
                </p:oleObj>
              </mc:Choice>
              <mc:Fallback>
                <p:oleObj name="Equation" r:id="rId9" imgW="253800" imgH="444240" progId="Equation.DSMT4">
                  <p:embed/>
                  <p:pic>
                    <p:nvPicPr>
                      <p:cNvPr id="0" name=""/>
                      <p:cNvPicPr/>
                      <p:nvPr/>
                    </p:nvPicPr>
                    <p:blipFill>
                      <a:blip r:embed="rId10"/>
                      <a:stretch>
                        <a:fillRect/>
                      </a:stretch>
                    </p:blipFill>
                    <p:spPr>
                      <a:xfrm>
                        <a:off x="5556440" y="3650536"/>
                        <a:ext cx="449976" cy="787459"/>
                      </a:xfrm>
                      <a:prstGeom prst="rect">
                        <a:avLst/>
                      </a:prstGeom>
                    </p:spPr>
                  </p:pic>
                </p:oleObj>
              </mc:Fallback>
            </mc:AlternateContent>
          </a:graphicData>
        </a:graphic>
      </p:graphicFrame>
      <p:sp>
        <p:nvSpPr>
          <p:cNvPr id="11" name="Content Placeholder 10"/>
          <p:cNvSpPr>
            <a:spLocks noGrp="1"/>
          </p:cNvSpPr>
          <p:nvPr>
            <p:ph sz="quarter" idx="19"/>
          </p:nvPr>
        </p:nvSpPr>
        <p:spPr>
          <a:xfrm>
            <a:off x="6120286" y="3835366"/>
            <a:ext cx="929356" cy="410957"/>
          </a:xfrm>
        </p:spPr>
        <p:txBody>
          <a:bodyPr lIns="0" tIns="0" rIns="0"/>
          <a:lstStyle/>
          <a:p>
            <a:pPr marL="0" lvl="1" indent="0">
              <a:buNone/>
            </a:pPr>
            <a:r>
              <a:rPr lang="en-US" dirty="0"/>
              <a:t>rises.</a:t>
            </a:r>
          </a:p>
        </p:txBody>
      </p:sp>
      <p:sp>
        <p:nvSpPr>
          <p:cNvPr id="12" name="Content Placeholder 11"/>
          <p:cNvSpPr>
            <a:spLocks noGrp="1"/>
          </p:cNvSpPr>
          <p:nvPr>
            <p:ph sz="quarter" idx="20"/>
          </p:nvPr>
        </p:nvSpPr>
        <p:spPr>
          <a:xfrm>
            <a:off x="457200" y="4522527"/>
            <a:ext cx="7684718" cy="788509"/>
          </a:xfrm>
        </p:spPr>
        <p:txBody>
          <a:bodyPr tIns="0"/>
          <a:lstStyle/>
          <a:p>
            <a:pPr lvl="1"/>
            <a:r>
              <a:rPr lang="en-US" altLang="en-US" dirty="0">
                <a:ea typeface="ヒラギノ角ゴ Pro W3" pitchFamily="-84" charset="-128"/>
              </a:rPr>
              <a:t>Relative supply of cloth to food increases with the relative price of cloth to food.</a:t>
            </a:r>
          </a:p>
        </p:txBody>
      </p:sp>
    </p:spTree>
    <p:extLst>
      <p:ext uri="{BB962C8B-B14F-4D97-AF65-F5344CB8AC3E}">
        <p14:creationId xmlns:p14="http://schemas.microsoft.com/office/powerpoint/2010/main" val="2927985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ea typeface="ヒラギノ角ゴ Pro W3" pitchFamily="-84" charset="-128"/>
              </a:rPr>
              <a:t>Figure 6.2 How an Increase in the Relative Price of Cloth Affects Relative Supply</a:t>
            </a:r>
            <a:endParaRPr lang="en-US" sz="3000" dirty="0"/>
          </a:p>
        </p:txBody>
      </p:sp>
      <p:pic>
        <p:nvPicPr>
          <p:cNvPr id="19" name="Content Placeholder 18" descr="The graph in panel a of curve T T plots food production, Q sub F, versus cloth production,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99727" y="1614742"/>
            <a:ext cx="5144546" cy="2927350"/>
          </a:xfrm>
        </p:spPr>
      </p:pic>
      <p:sp>
        <p:nvSpPr>
          <p:cNvPr id="18" name="Content Placeholder 17"/>
          <p:cNvSpPr>
            <a:spLocks noGrp="1"/>
          </p:cNvSpPr>
          <p:nvPr>
            <p:ph sz="quarter" idx="14"/>
          </p:nvPr>
        </p:nvSpPr>
        <p:spPr>
          <a:xfrm>
            <a:off x="457200" y="4626541"/>
            <a:ext cx="8229600" cy="1675199"/>
          </a:xfrm>
        </p:spPr>
        <p:txBody>
          <a:bodyPr/>
          <a:lstStyle/>
          <a:p>
            <a:pPr marL="432" indent="0">
              <a:buNone/>
            </a:pPr>
            <a:r>
              <a:rPr lang="en-US" sz="2000" dirty="0"/>
              <a:t>In panel (a), the isovalue lines become steeper when the relative price of cloth rises. As a result, the economy produces more cloth and less food. Panel (b) shows the relative supply curve associated with the production possibilities frontier </a:t>
            </a:r>
            <a:r>
              <a:rPr lang="en-US" sz="2000" i="1" dirty="0"/>
              <a:t>T</a:t>
            </a:r>
            <a:r>
              <a:rPr lang="en-US" sz="100" i="1" dirty="0"/>
              <a:t> </a:t>
            </a:r>
            <a:r>
              <a:rPr lang="en-US" sz="2000" i="1" dirty="0"/>
              <a:t>T. </a:t>
            </a:r>
            <a:r>
              <a:rPr lang="en-US" sz="2000" dirty="0"/>
              <a:t>The rise in the relative price of cloth leads to an increase in the relative production of cloth.</a:t>
            </a:r>
          </a:p>
        </p:txBody>
      </p:sp>
    </p:spTree>
    <p:extLst>
      <p:ext uri="{BB962C8B-B14F-4D97-AF65-F5344CB8AC3E}">
        <p14:creationId xmlns:p14="http://schemas.microsoft.com/office/powerpoint/2010/main" val="3974255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(1 of 6)</a:t>
            </a:r>
            <a:endParaRPr lang="en-US" dirty="0"/>
          </a:p>
        </p:txBody>
      </p:sp>
      <p:sp>
        <p:nvSpPr>
          <p:cNvPr id="3" name="Content Placeholder 2"/>
          <p:cNvSpPr>
            <a:spLocks noGrp="1"/>
          </p:cNvSpPr>
          <p:nvPr>
            <p:ph sz="quarter" idx="13"/>
          </p:nvPr>
        </p:nvSpPr>
        <p:spPr>
          <a:xfrm>
            <a:off x="457200" y="1556327"/>
            <a:ext cx="8229600" cy="901738"/>
          </a:xfrm>
        </p:spPr>
        <p:txBody>
          <a:bodyPr/>
          <a:lstStyle/>
          <a:p>
            <a:r>
              <a:rPr lang="en-US" altLang="en-US" dirty="0">
                <a:ea typeface="ヒラギノ角ゴ Pro W3" pitchFamily="-84" charset="-128"/>
              </a:rPr>
              <a:t>The value of the economy</a:t>
            </a:r>
            <a:r>
              <a:rPr lang="en-US" altLang="ja-JP" dirty="0">
                <a:ea typeface="ヒラギノ角ゴ Pro W3" pitchFamily="-84" charset="-128"/>
              </a:rPr>
              <a:t>’s consumption must equal the value of the economy’s production.</a:t>
            </a:r>
            <a:endParaRPr lang="en-US" dirty="0"/>
          </a:p>
        </p:txBody>
      </p:sp>
      <p:graphicFrame>
        <p:nvGraphicFramePr>
          <p:cNvPr id="5" name="Object 4" descr="P sub C D sub C + P sub F D sub F = P sub C Q sub C + P sub F Q sub F = V "/>
          <p:cNvGraphicFramePr>
            <a:graphicFrameLocks noChangeAspect="1"/>
          </p:cNvGraphicFramePr>
          <p:nvPr>
            <p:extLst>
              <p:ext uri="{D42A27DB-BD31-4B8C-83A1-F6EECF244321}">
                <p14:modId xmlns:p14="http://schemas.microsoft.com/office/powerpoint/2010/main" val="583478622"/>
              </p:ext>
            </p:extLst>
          </p:nvPr>
        </p:nvGraphicFramePr>
        <p:xfrm>
          <a:off x="2682099" y="2774843"/>
          <a:ext cx="3779802" cy="404979"/>
        </p:xfrm>
        <a:graphic>
          <a:graphicData uri="http://schemas.openxmlformats.org/presentationml/2006/ole">
            <mc:AlternateContent xmlns:mc="http://schemas.openxmlformats.org/markup-compatibility/2006">
              <mc:Choice xmlns:v="urn:schemas-microsoft-com:vml" Requires="v">
                <p:oleObj spid="_x0000_s3074" name="Equation" r:id="rId3" imgW="2133360" imgH="228600" progId="Equation.DSMT4">
                  <p:embed/>
                </p:oleObj>
              </mc:Choice>
              <mc:Fallback>
                <p:oleObj name="Equation" r:id="rId3" imgW="2133360" imgH="228600" progId="Equation.DSMT4">
                  <p:embed/>
                  <p:pic>
                    <p:nvPicPr>
                      <p:cNvPr id="0" name=""/>
                      <p:cNvPicPr/>
                      <p:nvPr/>
                    </p:nvPicPr>
                    <p:blipFill>
                      <a:blip r:embed="rId4"/>
                      <a:stretch>
                        <a:fillRect/>
                      </a:stretch>
                    </p:blipFill>
                    <p:spPr>
                      <a:xfrm>
                        <a:off x="2682099" y="2774843"/>
                        <a:ext cx="3779802" cy="404979"/>
                      </a:xfrm>
                      <a:prstGeom prst="rect">
                        <a:avLst/>
                      </a:prstGeom>
                    </p:spPr>
                  </p:pic>
                </p:oleObj>
              </mc:Fallback>
            </mc:AlternateContent>
          </a:graphicData>
        </a:graphic>
      </p:graphicFrame>
      <p:sp>
        <p:nvSpPr>
          <p:cNvPr id="4" name="Content Placeholder 3"/>
          <p:cNvSpPr>
            <a:spLocks noGrp="1"/>
          </p:cNvSpPr>
          <p:nvPr>
            <p:ph sz="quarter" idx="14"/>
          </p:nvPr>
        </p:nvSpPr>
        <p:spPr>
          <a:xfrm>
            <a:off x="457200" y="3458706"/>
            <a:ext cx="8229600" cy="2585834"/>
          </a:xfrm>
        </p:spPr>
        <p:txBody>
          <a:bodyPr/>
          <a:lstStyle/>
          <a:p>
            <a:r>
              <a:rPr lang="en-US" altLang="en-US" dirty="0">
                <a:ea typeface="ヒラギノ角ゴ Pro W3" pitchFamily="-84" charset="-128"/>
              </a:rPr>
              <a:t>Assume that the economy</a:t>
            </a:r>
            <a:r>
              <a:rPr lang="en-US" altLang="ja-JP" dirty="0">
                <a:ea typeface="ヒラギノ角ゴ Pro W3" pitchFamily="-84" charset="-128"/>
              </a:rPr>
              <a:t>’s consumption decisions may be represented as if they were based on the tastes of a single representative consumer.</a:t>
            </a:r>
          </a:p>
          <a:p>
            <a:r>
              <a:rPr lang="en-US" altLang="en-US" dirty="0">
                <a:ea typeface="ヒラギノ角ゴ Pro W3" pitchFamily="-84" charset="-128"/>
              </a:rPr>
              <a:t>An </a:t>
            </a:r>
            <a:r>
              <a:rPr lang="en-US" altLang="en-US" b="1" dirty="0">
                <a:ea typeface="ヒラギノ角ゴ Pro W3" pitchFamily="-84" charset="-128"/>
              </a:rPr>
              <a:t>indifference curve </a:t>
            </a:r>
            <a:r>
              <a:rPr lang="en-US" altLang="en-US" dirty="0">
                <a:ea typeface="ヒラギノ角ゴ Pro W3" pitchFamily="-84" charset="-128"/>
              </a:rPr>
              <a:t>represents combinations</a:t>
            </a:r>
            <a:r>
              <a:rPr lang="en-US" altLang="en-US" b="1" dirty="0">
                <a:ea typeface="ヒラギノ角ゴ Pro W3" pitchFamily="-84" charset="-128"/>
              </a:rPr>
              <a:t> </a:t>
            </a:r>
            <a:r>
              <a:rPr lang="en-US" altLang="en-US" dirty="0">
                <a:ea typeface="ヒラギノ角ゴ Pro W3" pitchFamily="-84" charset="-128"/>
              </a:rPr>
              <a:t>of cloth and food that leave the consumer equally well off (indifferent).</a:t>
            </a:r>
            <a:endParaRPr lang="en-US" dirty="0"/>
          </a:p>
        </p:txBody>
      </p:sp>
    </p:spTree>
    <p:extLst>
      <p:ext uri="{BB962C8B-B14F-4D97-AF65-F5344CB8AC3E}">
        <p14:creationId xmlns:p14="http://schemas.microsoft.com/office/powerpoint/2010/main" val="1103373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(2 of 6)</a:t>
            </a:r>
            <a:endParaRPr lang="en-US" dirty="0"/>
          </a:p>
        </p:txBody>
      </p:sp>
      <p:sp>
        <p:nvSpPr>
          <p:cNvPr id="3" name="Content Placeholder 2"/>
          <p:cNvSpPr>
            <a:spLocks noGrp="1"/>
          </p:cNvSpPr>
          <p:nvPr>
            <p:ph sz="quarter" idx="13"/>
          </p:nvPr>
        </p:nvSpPr>
        <p:spPr>
          <a:xfrm>
            <a:off x="457200" y="1556327"/>
            <a:ext cx="8229600" cy="4028396"/>
          </a:xfrm>
        </p:spPr>
        <p:txBody>
          <a:bodyPr/>
          <a:lstStyle/>
          <a:p>
            <a:r>
              <a:rPr lang="en-US" altLang="en-US" dirty="0">
                <a:ea typeface="ヒラギノ角ゴ Pro W3" pitchFamily="-84" charset="-128"/>
              </a:rPr>
              <a:t>Indifference curves</a:t>
            </a:r>
          </a:p>
          <a:p>
            <a:pPr lvl="1"/>
            <a:r>
              <a:rPr lang="en-US" altLang="en-US" dirty="0">
                <a:ea typeface="ヒラギノ角ゴ Pro W3" pitchFamily="-84" charset="-128"/>
              </a:rPr>
              <a:t>are downward sloping—if you have less cloth, then you must have more food to be equally satisfied.</a:t>
            </a:r>
          </a:p>
          <a:p>
            <a:pPr lvl="1">
              <a:spcBef>
                <a:spcPct val="50000"/>
              </a:spcBef>
            </a:pPr>
            <a:r>
              <a:rPr lang="en-US" altLang="en-US" dirty="0">
                <a:ea typeface="ヒラギノ角ゴ Pro W3" pitchFamily="-84" charset="-128"/>
              </a:rPr>
              <a:t>that lie farther from the origin make consumers more satisfied—they prefer having more of both goods.</a:t>
            </a:r>
          </a:p>
          <a:p>
            <a:pPr lvl="1">
              <a:spcBef>
                <a:spcPct val="50000"/>
              </a:spcBef>
            </a:pPr>
            <a:r>
              <a:rPr lang="en-US" altLang="en-US" dirty="0">
                <a:ea typeface="ヒラギノ角ゴ Pro W3" pitchFamily="-84" charset="-128"/>
              </a:rPr>
              <a:t>become flatter when they move to the right—with more cloth and less food, an extra yard of cloth becomes less valuable in terms of how many calories of food you are willing to give up for it.</a:t>
            </a:r>
            <a:endParaRPr lang="en-US" dirty="0"/>
          </a:p>
        </p:txBody>
      </p:sp>
    </p:spTree>
    <p:extLst>
      <p:ext uri="{BB962C8B-B14F-4D97-AF65-F5344CB8AC3E}">
        <p14:creationId xmlns:p14="http://schemas.microsoft.com/office/powerpoint/2010/main" val="928312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(3 of 6)</a:t>
            </a:r>
            <a:endParaRPr lang="en-US" dirty="0"/>
          </a:p>
        </p:txBody>
      </p:sp>
      <p:sp>
        <p:nvSpPr>
          <p:cNvPr id="3" name="Content Placeholder 2"/>
          <p:cNvSpPr>
            <a:spLocks noGrp="1"/>
          </p:cNvSpPr>
          <p:nvPr>
            <p:ph sz="quarter" idx="13"/>
          </p:nvPr>
        </p:nvSpPr>
        <p:spPr>
          <a:xfrm>
            <a:off x="457200" y="1556326"/>
            <a:ext cx="8104909" cy="4175879"/>
          </a:xfrm>
        </p:spPr>
        <p:txBody>
          <a:bodyPr/>
          <a:lstStyle/>
          <a:p>
            <a:r>
              <a:rPr lang="en-US" altLang="en-US" dirty="0">
                <a:ea typeface="ヒラギノ角ゴ Pro W3" pitchFamily="-84" charset="-128"/>
              </a:rPr>
              <a:t>Consumption choice is based on preferences and relative price of goods:</a:t>
            </a:r>
          </a:p>
          <a:p>
            <a:pPr lvl="1"/>
            <a:r>
              <a:rPr lang="en-US" altLang="en-US" dirty="0">
                <a:ea typeface="ヒラギノ角ゴ Pro W3" pitchFamily="-84" charset="-128"/>
              </a:rPr>
              <a:t>Consume at point </a:t>
            </a:r>
            <a:r>
              <a:rPr lang="en-US" altLang="en-US" i="1" dirty="0">
                <a:ea typeface="ヒラギノ角ゴ Pro W3" pitchFamily="-84" charset="-128"/>
              </a:rPr>
              <a:t>D</a:t>
            </a:r>
            <a:r>
              <a:rPr lang="en-US" altLang="en-US" dirty="0">
                <a:ea typeface="ヒラギノ角ゴ Pro W3" pitchFamily="-84" charset="-128"/>
              </a:rPr>
              <a:t> where the isovalue line is tangent to the indifference curve.</a:t>
            </a:r>
          </a:p>
          <a:p>
            <a:r>
              <a:rPr lang="en-US" altLang="en-US" dirty="0">
                <a:ea typeface="ヒラギノ角ゴ Pro W3" pitchFamily="-84" charset="-128"/>
              </a:rPr>
              <a:t>Economy exports cloth—the quantity of cloth produced exceeds the quantity of cloth consumed—and imports food.</a:t>
            </a:r>
            <a:endParaRPr lang="en-US" dirty="0"/>
          </a:p>
        </p:txBody>
      </p:sp>
    </p:spTree>
    <p:extLst>
      <p:ext uri="{BB962C8B-B14F-4D97-AF65-F5344CB8AC3E}">
        <p14:creationId xmlns:p14="http://schemas.microsoft.com/office/powerpoint/2010/main" val="3393652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(4 of 6)</a:t>
            </a:r>
            <a:endParaRPr lang="en-US" sz="2000" dirty="0"/>
          </a:p>
        </p:txBody>
      </p:sp>
      <p:sp>
        <p:nvSpPr>
          <p:cNvPr id="5" name="Content Placeholder 4"/>
          <p:cNvSpPr>
            <a:spLocks noGrp="1"/>
          </p:cNvSpPr>
          <p:nvPr>
            <p:ph sz="quarter" idx="13"/>
          </p:nvPr>
        </p:nvSpPr>
        <p:spPr>
          <a:xfrm>
            <a:off x="457200" y="1552575"/>
            <a:ext cx="5196348" cy="469408"/>
          </a:xfrm>
        </p:spPr>
        <p:txBody>
          <a:bodyPr/>
          <a:lstStyle/>
          <a:p>
            <a:r>
              <a:rPr lang="en-US" altLang="en-US" sz="2200" dirty="0">
                <a:ea typeface="ヒラギノ角ゴ Pro W3" pitchFamily="-84" charset="-128"/>
              </a:rPr>
              <a:t>Relative prices and relative supply:</a:t>
            </a:r>
          </a:p>
        </p:txBody>
      </p:sp>
      <p:sp>
        <p:nvSpPr>
          <p:cNvPr id="6" name="Content Placeholder 5"/>
          <p:cNvSpPr>
            <a:spLocks noGrp="1"/>
          </p:cNvSpPr>
          <p:nvPr>
            <p:ph sz="quarter" idx="14"/>
          </p:nvPr>
        </p:nvSpPr>
        <p:spPr>
          <a:xfrm>
            <a:off x="457201" y="2163216"/>
            <a:ext cx="5872347" cy="378103"/>
          </a:xfrm>
        </p:spPr>
        <p:txBody>
          <a:bodyPr tIns="0"/>
          <a:lstStyle/>
          <a:p>
            <a:pPr lvl="1"/>
            <a:r>
              <a:rPr lang="en-US" altLang="en-US" sz="2200" dirty="0">
                <a:ea typeface="ヒラギノ角ゴ Pro W3" pitchFamily="-84" charset="-128"/>
              </a:rPr>
              <a:t>An increase in the relative price of cloth</a:t>
            </a:r>
            <a:endParaRPr lang="en-US" sz="2200" dirty="0"/>
          </a:p>
        </p:txBody>
      </p:sp>
      <p:graphicFrame>
        <p:nvGraphicFramePr>
          <p:cNvPr id="20" name="Object 19" descr="Start fraction P sub C over P sub F end fraction"/>
          <p:cNvGraphicFramePr>
            <a:graphicFrameLocks noChangeAspect="1"/>
          </p:cNvGraphicFramePr>
          <p:nvPr>
            <p:extLst>
              <p:ext uri="{D42A27DB-BD31-4B8C-83A1-F6EECF244321}">
                <p14:modId xmlns:p14="http://schemas.microsoft.com/office/powerpoint/2010/main" val="2845291989"/>
              </p:ext>
            </p:extLst>
          </p:nvPr>
        </p:nvGraphicFramePr>
        <p:xfrm>
          <a:off x="6391873" y="2064271"/>
          <a:ext cx="347977" cy="665697"/>
        </p:xfrm>
        <a:graphic>
          <a:graphicData uri="http://schemas.openxmlformats.org/presentationml/2006/ole">
            <mc:AlternateContent xmlns:mc="http://schemas.openxmlformats.org/markup-compatibility/2006">
              <mc:Choice xmlns:v="urn:schemas-microsoft-com:vml" Requires="v">
                <p:oleObj spid="_x0000_s4098" name="Equation" r:id="rId3" imgW="438222" imgH="838314" progId="Equation.DSMT4">
                  <p:embed/>
                </p:oleObj>
              </mc:Choice>
              <mc:Fallback>
                <p:oleObj name="Equation" r:id="rId3" imgW="438222" imgH="838314" progId="Equation.DSMT4">
                  <p:embed/>
                  <p:pic>
                    <p:nvPicPr>
                      <p:cNvPr id="20" name="Object 19"/>
                      <p:cNvPicPr/>
                      <p:nvPr/>
                    </p:nvPicPr>
                    <p:blipFill>
                      <a:blip r:embed="rId4"/>
                      <a:stretch>
                        <a:fillRect/>
                      </a:stretch>
                    </p:blipFill>
                    <p:spPr>
                      <a:xfrm>
                        <a:off x="6391873" y="2064271"/>
                        <a:ext cx="347977" cy="665697"/>
                      </a:xfrm>
                      <a:prstGeom prst="rect">
                        <a:avLst/>
                      </a:prstGeom>
                    </p:spPr>
                  </p:pic>
                </p:oleObj>
              </mc:Fallback>
            </mc:AlternateContent>
          </a:graphicData>
        </a:graphic>
      </p:graphicFrame>
      <p:sp>
        <p:nvSpPr>
          <p:cNvPr id="7" name="Content Placeholder 6"/>
          <p:cNvSpPr>
            <a:spLocks noGrp="1"/>
          </p:cNvSpPr>
          <p:nvPr>
            <p:ph sz="quarter" idx="15"/>
          </p:nvPr>
        </p:nvSpPr>
        <p:spPr>
          <a:xfrm>
            <a:off x="6820531" y="2159950"/>
            <a:ext cx="1029058" cy="381370"/>
          </a:xfrm>
        </p:spPr>
        <p:txBody>
          <a:bodyPr lIns="0" tIns="0"/>
          <a:lstStyle/>
          <a:p>
            <a:pPr marL="0" lvl="1" indent="0">
              <a:buNone/>
            </a:pPr>
            <a:r>
              <a:rPr lang="en-US" altLang="en-US" sz="2200" dirty="0">
                <a:ea typeface="ヒラギノ角ゴ Pro W3" pitchFamily="-84" charset="-128"/>
              </a:rPr>
              <a:t>causes</a:t>
            </a:r>
            <a:endParaRPr lang="en-US" sz="2200" dirty="0"/>
          </a:p>
        </p:txBody>
      </p:sp>
      <p:sp>
        <p:nvSpPr>
          <p:cNvPr id="8" name="Content Placeholder 7"/>
          <p:cNvSpPr>
            <a:spLocks noGrp="1"/>
          </p:cNvSpPr>
          <p:nvPr>
            <p:ph sz="quarter" idx="16"/>
          </p:nvPr>
        </p:nvSpPr>
        <p:spPr>
          <a:xfrm>
            <a:off x="457199" y="2820204"/>
            <a:ext cx="5657851" cy="374259"/>
          </a:xfrm>
        </p:spPr>
        <p:txBody>
          <a:bodyPr tIns="0"/>
          <a:lstStyle/>
          <a:p>
            <a:pPr marL="741600" lvl="1" indent="0">
              <a:buNone/>
            </a:pPr>
            <a:r>
              <a:rPr lang="en-US" altLang="en-US" sz="2200" dirty="0">
                <a:ea typeface="ヒラギノ角ゴ Pro W3" pitchFamily="-84" charset="-128"/>
              </a:rPr>
              <a:t>consumption choice to shift from point</a:t>
            </a:r>
            <a:endParaRPr lang="en-US" sz="2200" dirty="0"/>
          </a:p>
        </p:txBody>
      </p:sp>
      <p:graphicFrame>
        <p:nvGraphicFramePr>
          <p:cNvPr id="21" name="Object 20" descr="D to the first power"/>
          <p:cNvGraphicFramePr>
            <a:graphicFrameLocks noChangeAspect="1"/>
          </p:cNvGraphicFramePr>
          <p:nvPr>
            <p:extLst>
              <p:ext uri="{D42A27DB-BD31-4B8C-83A1-F6EECF244321}">
                <p14:modId xmlns:p14="http://schemas.microsoft.com/office/powerpoint/2010/main" val="2634404722"/>
              </p:ext>
            </p:extLst>
          </p:nvPr>
        </p:nvGraphicFramePr>
        <p:xfrm>
          <a:off x="6199216" y="2813086"/>
          <a:ext cx="337705" cy="336262"/>
        </p:xfrm>
        <a:graphic>
          <a:graphicData uri="http://schemas.openxmlformats.org/presentationml/2006/ole">
            <mc:AlternateContent xmlns:mc="http://schemas.openxmlformats.org/markup-compatibility/2006">
              <mc:Choice xmlns:v="urn:schemas-microsoft-com:vml" Requires="v">
                <p:oleObj spid="_x0000_s4099" name="Equation" r:id="rId5" imgW="190440" imgH="190440" progId="Equation.DSMT4">
                  <p:embed/>
                </p:oleObj>
              </mc:Choice>
              <mc:Fallback>
                <p:oleObj name="Equation" r:id="rId5" imgW="190440" imgH="190440" progId="Equation.DSMT4">
                  <p:embed/>
                  <p:pic>
                    <p:nvPicPr>
                      <p:cNvPr id="21" name="Object 20"/>
                      <p:cNvPicPr/>
                      <p:nvPr/>
                    </p:nvPicPr>
                    <p:blipFill>
                      <a:blip r:embed="rId6"/>
                      <a:stretch>
                        <a:fillRect/>
                      </a:stretch>
                    </p:blipFill>
                    <p:spPr>
                      <a:xfrm>
                        <a:off x="6199216" y="2813086"/>
                        <a:ext cx="337705" cy="336262"/>
                      </a:xfrm>
                      <a:prstGeom prst="rect">
                        <a:avLst/>
                      </a:prstGeom>
                    </p:spPr>
                  </p:pic>
                </p:oleObj>
              </mc:Fallback>
            </mc:AlternateContent>
          </a:graphicData>
        </a:graphic>
      </p:graphicFrame>
      <p:sp>
        <p:nvSpPr>
          <p:cNvPr id="9" name="Content Placeholder 8"/>
          <p:cNvSpPr>
            <a:spLocks noGrp="1"/>
          </p:cNvSpPr>
          <p:nvPr>
            <p:ph sz="quarter" idx="17"/>
          </p:nvPr>
        </p:nvSpPr>
        <p:spPr>
          <a:xfrm>
            <a:off x="6632338" y="2820204"/>
            <a:ext cx="1062874" cy="387725"/>
          </a:xfrm>
        </p:spPr>
        <p:txBody>
          <a:bodyPr lIns="0" tIns="0"/>
          <a:lstStyle/>
          <a:p>
            <a:pPr marL="0" lvl="1" indent="0">
              <a:buNone/>
            </a:pPr>
            <a:r>
              <a:rPr lang="en-US" sz="2200" dirty="0"/>
              <a:t>to point</a:t>
            </a:r>
          </a:p>
        </p:txBody>
      </p:sp>
      <p:graphicFrame>
        <p:nvGraphicFramePr>
          <p:cNvPr id="23" name="Object 22" descr="D squared"/>
          <p:cNvGraphicFramePr>
            <a:graphicFrameLocks noChangeAspect="1"/>
          </p:cNvGraphicFramePr>
          <p:nvPr>
            <p:extLst>
              <p:ext uri="{D42A27DB-BD31-4B8C-83A1-F6EECF244321}">
                <p14:modId xmlns:p14="http://schemas.microsoft.com/office/powerpoint/2010/main" val="1039216265"/>
              </p:ext>
            </p:extLst>
          </p:nvPr>
        </p:nvGraphicFramePr>
        <p:xfrm>
          <a:off x="7763956" y="2804933"/>
          <a:ext cx="382444" cy="336262"/>
        </p:xfrm>
        <a:graphic>
          <a:graphicData uri="http://schemas.openxmlformats.org/presentationml/2006/ole">
            <mc:AlternateContent xmlns:mc="http://schemas.openxmlformats.org/markup-compatibility/2006">
              <mc:Choice xmlns:v="urn:schemas-microsoft-com:vml" Requires="v">
                <p:oleObj spid="_x0000_s4100" name="Equation" r:id="rId7" imgW="215640" imgH="190440" progId="Equation.DSMT4">
                  <p:embed/>
                </p:oleObj>
              </mc:Choice>
              <mc:Fallback>
                <p:oleObj name="Equation" r:id="rId7" imgW="215640" imgH="190440" progId="Equation.DSMT4">
                  <p:embed/>
                  <p:pic>
                    <p:nvPicPr>
                      <p:cNvPr id="23" name="Object 22"/>
                      <p:cNvPicPr/>
                      <p:nvPr/>
                    </p:nvPicPr>
                    <p:blipFill>
                      <a:blip r:embed="rId8"/>
                      <a:stretch>
                        <a:fillRect/>
                      </a:stretch>
                    </p:blipFill>
                    <p:spPr>
                      <a:xfrm>
                        <a:off x="7763956" y="2804933"/>
                        <a:ext cx="382444" cy="336262"/>
                      </a:xfrm>
                      <a:prstGeom prst="rect">
                        <a:avLst/>
                      </a:prstGeom>
                    </p:spPr>
                  </p:pic>
                </p:oleObj>
              </mc:Fallback>
            </mc:AlternateContent>
          </a:graphicData>
        </a:graphic>
      </p:graphicFrame>
      <p:sp>
        <p:nvSpPr>
          <p:cNvPr id="10" name="Content Placeholder 9"/>
          <p:cNvSpPr>
            <a:spLocks noGrp="1"/>
          </p:cNvSpPr>
          <p:nvPr>
            <p:ph sz="quarter" idx="18"/>
          </p:nvPr>
        </p:nvSpPr>
        <p:spPr>
          <a:xfrm>
            <a:off x="457200" y="3449599"/>
            <a:ext cx="5022850" cy="386133"/>
          </a:xfrm>
        </p:spPr>
        <p:txBody>
          <a:bodyPr tIns="0"/>
          <a:lstStyle/>
          <a:p>
            <a:pPr lvl="1"/>
            <a:r>
              <a:rPr lang="en-US" altLang="en-US" sz="2200" dirty="0">
                <a:ea typeface="ヒラギノ角ゴ Pro W3" pitchFamily="-84" charset="-128"/>
              </a:rPr>
              <a:t>Demand for cloth relative to food</a:t>
            </a:r>
          </a:p>
        </p:txBody>
      </p:sp>
      <p:graphicFrame>
        <p:nvGraphicFramePr>
          <p:cNvPr id="26" name="Object 25" descr="Start fraction D sub C over D sub F end fraction"/>
          <p:cNvGraphicFramePr>
            <a:graphicFrameLocks noChangeAspect="1"/>
          </p:cNvGraphicFramePr>
          <p:nvPr>
            <p:extLst>
              <p:ext uri="{D42A27DB-BD31-4B8C-83A1-F6EECF244321}">
                <p14:modId xmlns:p14="http://schemas.microsoft.com/office/powerpoint/2010/main" val="829848124"/>
              </p:ext>
            </p:extLst>
          </p:nvPr>
        </p:nvGraphicFramePr>
        <p:xfrm>
          <a:off x="5558471" y="3300922"/>
          <a:ext cx="409069" cy="715872"/>
        </p:xfrm>
        <a:graphic>
          <a:graphicData uri="http://schemas.openxmlformats.org/presentationml/2006/ole">
            <mc:AlternateContent xmlns:mc="http://schemas.openxmlformats.org/markup-compatibility/2006">
              <mc:Choice xmlns:v="urn:schemas-microsoft-com:vml" Requires="v">
                <p:oleObj spid="_x0000_s4101" name="Equation" r:id="rId9" imgW="253800" imgH="444240" progId="Equation.DSMT4">
                  <p:embed/>
                </p:oleObj>
              </mc:Choice>
              <mc:Fallback>
                <p:oleObj name="Equation" r:id="rId9" imgW="253800" imgH="444240" progId="Equation.DSMT4">
                  <p:embed/>
                  <p:pic>
                    <p:nvPicPr>
                      <p:cNvPr id="26" name="Object 25"/>
                      <p:cNvPicPr/>
                      <p:nvPr/>
                    </p:nvPicPr>
                    <p:blipFill>
                      <a:blip r:embed="rId10"/>
                      <a:stretch>
                        <a:fillRect/>
                      </a:stretch>
                    </p:blipFill>
                    <p:spPr>
                      <a:xfrm>
                        <a:off x="5558471" y="3300922"/>
                        <a:ext cx="409069" cy="715872"/>
                      </a:xfrm>
                      <a:prstGeom prst="rect">
                        <a:avLst/>
                      </a:prstGeom>
                    </p:spPr>
                  </p:pic>
                </p:oleObj>
              </mc:Fallback>
            </mc:AlternateContent>
          </a:graphicData>
        </a:graphic>
      </p:graphicFrame>
      <p:sp>
        <p:nvSpPr>
          <p:cNvPr id="11" name="Content Placeholder 10"/>
          <p:cNvSpPr>
            <a:spLocks noGrp="1"/>
          </p:cNvSpPr>
          <p:nvPr>
            <p:ph sz="quarter" idx="19"/>
          </p:nvPr>
        </p:nvSpPr>
        <p:spPr>
          <a:xfrm>
            <a:off x="6044568" y="3449597"/>
            <a:ext cx="728463" cy="386135"/>
          </a:xfrm>
        </p:spPr>
        <p:txBody>
          <a:bodyPr lIns="0" tIns="0"/>
          <a:lstStyle/>
          <a:p>
            <a:pPr marL="0" lvl="1" indent="0">
              <a:buNone/>
            </a:pPr>
            <a:r>
              <a:rPr lang="en-US" sz="2200" dirty="0"/>
              <a:t>falls.</a:t>
            </a:r>
          </a:p>
        </p:txBody>
      </p:sp>
      <p:sp>
        <p:nvSpPr>
          <p:cNvPr id="12" name="Content Placeholder 11"/>
          <p:cNvSpPr>
            <a:spLocks noGrp="1"/>
          </p:cNvSpPr>
          <p:nvPr>
            <p:ph sz="quarter" idx="20"/>
          </p:nvPr>
        </p:nvSpPr>
        <p:spPr>
          <a:xfrm>
            <a:off x="457200" y="4081376"/>
            <a:ext cx="8229600" cy="726297"/>
          </a:xfrm>
        </p:spPr>
        <p:txBody>
          <a:bodyPr tIns="0"/>
          <a:lstStyle/>
          <a:p>
            <a:pPr lvl="1"/>
            <a:r>
              <a:rPr lang="en-US" altLang="en-US" sz="2200" dirty="0">
                <a:ea typeface="ヒラギノ角ゴ Pro W3" pitchFamily="-84" charset="-128"/>
              </a:rPr>
              <a:t>Relative supply of cloth to food increases with the relative price of cloth to food.</a:t>
            </a:r>
          </a:p>
        </p:txBody>
      </p:sp>
    </p:spTree>
    <p:extLst>
      <p:ext uri="{BB962C8B-B14F-4D97-AF65-F5344CB8AC3E}">
        <p14:creationId xmlns:p14="http://schemas.microsoft.com/office/powerpoint/2010/main" val="1351875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6.3 Production, Consumption, and Trade in the Standard Model</a:t>
            </a:r>
            <a:endParaRPr lang="en-US" sz="3200" dirty="0"/>
          </a:p>
        </p:txBody>
      </p:sp>
      <p:pic>
        <p:nvPicPr>
          <p:cNvPr id="5" name="Content Placeholder 4" descr="The graph shows quantity of food, Q sub F, versus quantity of cloth,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138877" y="1572376"/>
            <a:ext cx="2866246" cy="2816225"/>
          </a:xfrm>
        </p:spPr>
      </p:pic>
      <p:sp>
        <p:nvSpPr>
          <p:cNvPr id="4" name="Content Placeholder 3"/>
          <p:cNvSpPr>
            <a:spLocks noGrp="1"/>
          </p:cNvSpPr>
          <p:nvPr>
            <p:ph sz="quarter" idx="14"/>
          </p:nvPr>
        </p:nvSpPr>
        <p:spPr>
          <a:xfrm>
            <a:off x="457200" y="4561065"/>
            <a:ext cx="8229600" cy="1774658"/>
          </a:xfrm>
        </p:spPr>
        <p:txBody>
          <a:bodyPr/>
          <a:lstStyle/>
          <a:p>
            <a:pPr marL="432" indent="0">
              <a:buNone/>
            </a:pPr>
            <a:r>
              <a:rPr lang="en-US" sz="1800" dirty="0"/>
              <a:t>The economy produces at point </a:t>
            </a:r>
            <a:r>
              <a:rPr lang="en-US" sz="1800" i="1" dirty="0"/>
              <a:t>Q</a:t>
            </a:r>
            <a:r>
              <a:rPr lang="en-US" sz="1800" dirty="0"/>
              <a:t>, where the production possibility frontier is tangent to the highest possible isovalue line. It consumes at point </a:t>
            </a:r>
            <a:r>
              <a:rPr lang="en-US" sz="1800" i="1" dirty="0"/>
              <a:t>D</a:t>
            </a:r>
            <a:r>
              <a:rPr lang="en-US" sz="1800" dirty="0"/>
              <a:t>, where that isovalue line is tangent to the highest possible indifference curve. The economy produces more cloth than it consumes and therefore exports cloth; correspondingly, it consumes more food than it produces and therefore imports food.</a:t>
            </a:r>
          </a:p>
        </p:txBody>
      </p:sp>
    </p:spTree>
    <p:extLst>
      <p:ext uri="{BB962C8B-B14F-4D97-AF65-F5344CB8AC3E}">
        <p14:creationId xmlns:p14="http://schemas.microsoft.com/office/powerpoint/2010/main" val="2613058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(5 of 6)</a:t>
            </a:r>
            <a:endParaRPr lang="en-US" dirty="0"/>
          </a:p>
        </p:txBody>
      </p:sp>
      <p:sp>
        <p:nvSpPr>
          <p:cNvPr id="3" name="Content Placeholder 2"/>
          <p:cNvSpPr>
            <a:spLocks noGrp="1"/>
          </p:cNvSpPr>
          <p:nvPr>
            <p:ph sz="quarter" idx="13"/>
          </p:nvPr>
        </p:nvSpPr>
        <p:spPr>
          <a:xfrm>
            <a:off x="457200" y="1556326"/>
            <a:ext cx="8229600" cy="3146303"/>
          </a:xfrm>
        </p:spPr>
        <p:txBody>
          <a:bodyPr/>
          <a:lstStyle/>
          <a:p>
            <a:r>
              <a:rPr lang="en-US" altLang="en-US" dirty="0">
                <a:ea typeface="ヒラギノ角ゴ Pro W3" pitchFamily="-84" charset="-128"/>
              </a:rPr>
              <a:t>An economy that exports cloth is better off when the price of cloth rises relative to the price of food: </a:t>
            </a:r>
          </a:p>
          <a:p>
            <a:pPr lvl="1"/>
            <a:r>
              <a:rPr lang="en-US" altLang="en-US" dirty="0">
                <a:ea typeface="ヒラギノ角ゴ Pro W3" pitchFamily="-84" charset="-128"/>
              </a:rPr>
              <a:t>the isovalue line becomes steeper and a higher indifference curve can be reached.</a:t>
            </a:r>
          </a:p>
          <a:p>
            <a:r>
              <a:rPr lang="en-US" altLang="en-US" dirty="0">
                <a:ea typeface="ヒラギノ角ゴ Pro W3" pitchFamily="-84" charset="-128"/>
              </a:rPr>
              <a:t>A higher relative price of cloth means that more calories of food can be imported for every yard of cloth exported.</a:t>
            </a:r>
            <a:endParaRPr lang="en-US" dirty="0"/>
          </a:p>
        </p:txBody>
      </p:sp>
    </p:spTree>
    <p:extLst>
      <p:ext uri="{BB962C8B-B14F-4D97-AF65-F5344CB8AC3E}">
        <p14:creationId xmlns:p14="http://schemas.microsoft.com/office/powerpoint/2010/main" val="3835762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(6 of 6)</a:t>
            </a:r>
            <a:endParaRPr lang="en-US" dirty="0"/>
          </a:p>
        </p:txBody>
      </p:sp>
      <p:sp>
        <p:nvSpPr>
          <p:cNvPr id="3" name="Content Placeholder 2"/>
          <p:cNvSpPr>
            <a:spLocks noGrp="1"/>
          </p:cNvSpPr>
          <p:nvPr>
            <p:ph sz="quarter" idx="13"/>
          </p:nvPr>
        </p:nvSpPr>
        <p:spPr>
          <a:xfrm>
            <a:off x="457200" y="1552575"/>
            <a:ext cx="8229600" cy="1689389"/>
          </a:xfrm>
        </p:spPr>
        <p:txBody>
          <a:bodyPr/>
          <a:lstStyle/>
          <a:p>
            <a:r>
              <a:rPr lang="en-US" altLang="en-US" dirty="0">
                <a:ea typeface="ヒラギノ角ゴ Pro W3" pitchFamily="-84" charset="-128"/>
              </a:rPr>
              <a:t>If the economy cannot trade: </a:t>
            </a:r>
          </a:p>
          <a:p>
            <a:pPr lvl="1" indent="-284400"/>
            <a:r>
              <a:rPr lang="en-US" altLang="en-US" dirty="0">
                <a:ea typeface="ヒラギノ角ゴ Pro W3" pitchFamily="-84" charset="-128"/>
              </a:rPr>
              <a:t>The relative price of cloth to food is determined by the intersection of relative demand and relative supply for that country.</a:t>
            </a:r>
          </a:p>
        </p:txBody>
      </p:sp>
      <p:sp>
        <p:nvSpPr>
          <p:cNvPr id="5" name="Content Placeholder 4"/>
          <p:cNvSpPr>
            <a:spLocks noGrp="1"/>
          </p:cNvSpPr>
          <p:nvPr>
            <p:ph sz="quarter" idx="14"/>
          </p:nvPr>
        </p:nvSpPr>
        <p:spPr>
          <a:xfrm>
            <a:off x="457200" y="3300152"/>
            <a:ext cx="5119688" cy="404950"/>
          </a:xfrm>
        </p:spPr>
        <p:txBody>
          <a:bodyPr tIns="0" rIns="0"/>
          <a:lstStyle/>
          <a:p>
            <a:pPr lvl="1" indent="-284400"/>
            <a:r>
              <a:rPr lang="en-US" altLang="en-US" dirty="0">
                <a:ea typeface="ヒラギノ角ゴ Pro W3" pitchFamily="-84" charset="-128"/>
              </a:rPr>
              <a:t>Consume and produce at point</a:t>
            </a:r>
            <a:endParaRPr lang="en-US" dirty="0"/>
          </a:p>
        </p:txBody>
      </p:sp>
      <p:graphicFrame>
        <p:nvGraphicFramePr>
          <p:cNvPr id="8" name="Object 7" descr="D cubed"/>
          <p:cNvGraphicFramePr>
            <a:graphicFrameLocks noChangeAspect="1"/>
          </p:cNvGraphicFramePr>
          <p:nvPr>
            <p:extLst>
              <p:ext uri="{D42A27DB-BD31-4B8C-83A1-F6EECF244321}">
                <p14:modId xmlns:p14="http://schemas.microsoft.com/office/powerpoint/2010/main" val="2152253069"/>
              </p:ext>
            </p:extLst>
          </p:nvPr>
        </p:nvGraphicFramePr>
        <p:xfrm>
          <a:off x="5659694" y="3299572"/>
          <a:ext cx="382480" cy="337483"/>
        </p:xfrm>
        <a:graphic>
          <a:graphicData uri="http://schemas.openxmlformats.org/presentationml/2006/ole">
            <mc:AlternateContent xmlns:mc="http://schemas.openxmlformats.org/markup-compatibility/2006">
              <mc:Choice xmlns:v="urn:schemas-microsoft-com:vml" Requires="v">
                <p:oleObj spid="_x0000_s5122" name="Equation" r:id="rId3" imgW="215640" imgH="190440" progId="Equation.DSMT4">
                  <p:embed/>
                </p:oleObj>
              </mc:Choice>
              <mc:Fallback>
                <p:oleObj name="Equation" r:id="rId3" imgW="215640" imgH="190440" progId="Equation.DSMT4">
                  <p:embed/>
                  <p:pic>
                    <p:nvPicPr>
                      <p:cNvPr id="0" name=""/>
                      <p:cNvPicPr/>
                      <p:nvPr/>
                    </p:nvPicPr>
                    <p:blipFill>
                      <a:blip r:embed="rId4"/>
                      <a:stretch>
                        <a:fillRect/>
                      </a:stretch>
                    </p:blipFill>
                    <p:spPr>
                      <a:xfrm>
                        <a:off x="5659694" y="3299572"/>
                        <a:ext cx="382480" cy="337483"/>
                      </a:xfrm>
                      <a:prstGeom prst="rect">
                        <a:avLst/>
                      </a:prstGeom>
                    </p:spPr>
                  </p:pic>
                </p:oleObj>
              </mc:Fallback>
            </mc:AlternateContent>
          </a:graphicData>
        </a:graphic>
      </p:graphicFrame>
      <p:sp>
        <p:nvSpPr>
          <p:cNvPr id="6" name="Content Placeholder 5"/>
          <p:cNvSpPr>
            <a:spLocks noGrp="1"/>
          </p:cNvSpPr>
          <p:nvPr>
            <p:ph sz="quarter" idx="15"/>
          </p:nvPr>
        </p:nvSpPr>
        <p:spPr>
          <a:xfrm>
            <a:off x="6126275" y="3299009"/>
            <a:ext cx="1497684" cy="406093"/>
          </a:xfrm>
        </p:spPr>
        <p:txBody>
          <a:bodyPr lIns="0" tIns="0"/>
          <a:lstStyle/>
          <a:p>
            <a:pPr marL="0" lvl="1" indent="0">
              <a:buNone/>
            </a:pPr>
            <a:r>
              <a:rPr lang="en-US" altLang="en-US" dirty="0">
                <a:ea typeface="ヒラギノ角ゴ Pro W3" pitchFamily="-84" charset="-128"/>
              </a:rPr>
              <a:t>where the</a:t>
            </a:r>
            <a:endParaRPr lang="en-US" dirty="0"/>
          </a:p>
        </p:txBody>
      </p:sp>
      <p:sp>
        <p:nvSpPr>
          <p:cNvPr id="7" name="Content Placeholder 6"/>
          <p:cNvSpPr>
            <a:spLocks noGrp="1"/>
          </p:cNvSpPr>
          <p:nvPr>
            <p:ph sz="quarter" idx="16"/>
          </p:nvPr>
        </p:nvSpPr>
        <p:spPr>
          <a:xfrm>
            <a:off x="457200" y="3762148"/>
            <a:ext cx="8232128" cy="821728"/>
          </a:xfrm>
        </p:spPr>
        <p:txBody>
          <a:bodyPr tIns="0"/>
          <a:lstStyle/>
          <a:p>
            <a:pPr marL="741600" lvl="1" indent="0">
              <a:spcBef>
                <a:spcPts val="1500"/>
              </a:spcBef>
              <a:buNone/>
            </a:pPr>
            <a:r>
              <a:rPr lang="en-US" altLang="en-US" dirty="0">
                <a:ea typeface="ヒラギノ角ゴ Pro W3" pitchFamily="-84" charset="-128"/>
              </a:rPr>
              <a:t>indifference curve is tangent to the production possibilities frontier.</a:t>
            </a:r>
            <a:endParaRPr lang="en-US" dirty="0"/>
          </a:p>
        </p:txBody>
      </p:sp>
    </p:spTree>
    <p:extLst>
      <p:ext uri="{BB962C8B-B14F-4D97-AF65-F5344CB8AC3E}">
        <p14:creationId xmlns:p14="http://schemas.microsoft.com/office/powerpoint/2010/main" val="2868087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ea typeface="ヒラギノ角ゴ Pro W3" pitchFamily="-84" charset="-128"/>
              </a:rPr>
              <a:t>Figure 6.4 Effects of a Rise in the Relative Price of Cloth and Gains from Trade</a:t>
            </a:r>
            <a:endParaRPr lang="en-US" sz="3000" dirty="0"/>
          </a:p>
        </p:txBody>
      </p:sp>
      <p:pic>
        <p:nvPicPr>
          <p:cNvPr id="4" name="Content Placeholder 3" descr="The graph in panel a, production and consumption, plots quantity of food, Q sub F, versus quantity of cloth, Q sub C.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727340" y="1577907"/>
            <a:ext cx="3689321" cy="2219461"/>
          </a:xfrm>
        </p:spPr>
      </p:pic>
      <p:sp>
        <p:nvSpPr>
          <p:cNvPr id="8" name="Content Placeholder 7"/>
          <p:cNvSpPr>
            <a:spLocks noGrp="1"/>
          </p:cNvSpPr>
          <p:nvPr>
            <p:ph sz="quarter" idx="14"/>
          </p:nvPr>
        </p:nvSpPr>
        <p:spPr>
          <a:xfrm>
            <a:off x="457200" y="3891937"/>
            <a:ext cx="8229600" cy="668146"/>
          </a:xfrm>
        </p:spPr>
        <p:txBody>
          <a:bodyPr/>
          <a:lstStyle/>
          <a:p>
            <a:pPr marL="432" indent="0">
              <a:buNone/>
            </a:pPr>
            <a:r>
              <a:rPr lang="en-US" dirty="0"/>
              <a:t>In panel (a), the slope of the isovalue lines is equal to minus the relative price of cloth. As a result, when that relative price rises, all isovalue lines become</a:t>
            </a:r>
          </a:p>
        </p:txBody>
      </p:sp>
      <p:sp>
        <p:nvSpPr>
          <p:cNvPr id="9" name="Content Placeholder 8"/>
          <p:cNvSpPr>
            <a:spLocks noGrp="1"/>
          </p:cNvSpPr>
          <p:nvPr>
            <p:ph sz="quarter" idx="15"/>
          </p:nvPr>
        </p:nvSpPr>
        <p:spPr>
          <a:xfrm>
            <a:off x="457201" y="4624375"/>
            <a:ext cx="3295650" cy="296556"/>
          </a:xfrm>
        </p:spPr>
        <p:txBody>
          <a:bodyPr tIns="0" rIns="0"/>
          <a:lstStyle/>
          <a:p>
            <a:pPr marL="432" indent="0">
              <a:buNone/>
            </a:pPr>
            <a:r>
              <a:rPr lang="en-US" dirty="0"/>
              <a:t>steeper. Production shifts from</a:t>
            </a:r>
          </a:p>
        </p:txBody>
      </p:sp>
      <p:graphicFrame>
        <p:nvGraphicFramePr>
          <p:cNvPr id="31" name="Object 30" descr="Q sub 1 to Q sub 2"/>
          <p:cNvGraphicFramePr>
            <a:graphicFrameLocks noChangeAspect="1"/>
          </p:cNvGraphicFramePr>
          <p:nvPr>
            <p:extLst>
              <p:ext uri="{D42A27DB-BD31-4B8C-83A1-F6EECF244321}">
                <p14:modId xmlns:p14="http://schemas.microsoft.com/office/powerpoint/2010/main" val="3134353225"/>
              </p:ext>
            </p:extLst>
          </p:nvPr>
        </p:nvGraphicFramePr>
        <p:xfrm>
          <a:off x="3829277" y="4631087"/>
          <a:ext cx="748776" cy="314262"/>
        </p:xfrm>
        <a:graphic>
          <a:graphicData uri="http://schemas.openxmlformats.org/presentationml/2006/ole">
            <mc:AlternateContent xmlns:mc="http://schemas.openxmlformats.org/markup-compatibility/2006">
              <mc:Choice xmlns:v="urn:schemas-microsoft-com:vml" Requires="v">
                <p:oleObj spid="_x0000_s6146" name="Equation" r:id="rId5" imgW="545760" imgH="228600" progId="Equation.DSMT4">
                  <p:embed/>
                </p:oleObj>
              </mc:Choice>
              <mc:Fallback>
                <p:oleObj name="Equation" r:id="rId5" imgW="545760" imgH="228600" progId="Equation.DSMT4">
                  <p:embed/>
                  <p:pic>
                    <p:nvPicPr>
                      <p:cNvPr id="0" name=""/>
                      <p:cNvPicPr/>
                      <p:nvPr/>
                    </p:nvPicPr>
                    <p:blipFill>
                      <a:blip r:embed="rId6"/>
                      <a:stretch>
                        <a:fillRect/>
                      </a:stretch>
                    </p:blipFill>
                    <p:spPr>
                      <a:xfrm>
                        <a:off x="3829277" y="4631087"/>
                        <a:ext cx="748776" cy="314262"/>
                      </a:xfrm>
                      <a:prstGeom prst="rect">
                        <a:avLst/>
                      </a:prstGeom>
                    </p:spPr>
                  </p:pic>
                </p:oleObj>
              </mc:Fallback>
            </mc:AlternateContent>
          </a:graphicData>
        </a:graphic>
      </p:graphicFrame>
      <p:sp>
        <p:nvSpPr>
          <p:cNvPr id="10" name="Content Placeholder 9"/>
          <p:cNvSpPr>
            <a:spLocks noGrp="1"/>
          </p:cNvSpPr>
          <p:nvPr>
            <p:ph sz="quarter" idx="16"/>
          </p:nvPr>
        </p:nvSpPr>
        <p:spPr>
          <a:xfrm>
            <a:off x="4667941" y="4620605"/>
            <a:ext cx="2991643" cy="300326"/>
          </a:xfrm>
        </p:spPr>
        <p:txBody>
          <a:bodyPr lIns="0" tIns="0" rIns="0" bIns="0"/>
          <a:lstStyle/>
          <a:p>
            <a:pPr marL="432" indent="0">
              <a:buNone/>
            </a:pPr>
            <a:r>
              <a:rPr lang="en-US" dirty="0"/>
              <a:t>and consumption shifts from</a:t>
            </a:r>
          </a:p>
        </p:txBody>
      </p:sp>
      <p:graphicFrame>
        <p:nvGraphicFramePr>
          <p:cNvPr id="32" name="Object 31" descr="D sub 1 to D sub 2."/>
          <p:cNvGraphicFramePr>
            <a:graphicFrameLocks noChangeAspect="1"/>
          </p:cNvGraphicFramePr>
          <p:nvPr>
            <p:extLst>
              <p:ext uri="{D42A27DB-BD31-4B8C-83A1-F6EECF244321}">
                <p14:modId xmlns:p14="http://schemas.microsoft.com/office/powerpoint/2010/main" val="2517243622"/>
              </p:ext>
            </p:extLst>
          </p:nvPr>
        </p:nvGraphicFramePr>
        <p:xfrm>
          <a:off x="7727356" y="4632658"/>
          <a:ext cx="793750" cy="311150"/>
        </p:xfrm>
        <a:graphic>
          <a:graphicData uri="http://schemas.openxmlformats.org/presentationml/2006/ole">
            <mc:AlternateContent xmlns:mc="http://schemas.openxmlformats.org/markup-compatibility/2006">
              <mc:Choice xmlns:v="urn:schemas-microsoft-com:vml" Requires="v">
                <p:oleObj spid="_x0000_s6147" name="Equation" r:id="rId7" imgW="583920" imgH="228600" progId="Equation.DSMT4">
                  <p:embed/>
                </p:oleObj>
              </mc:Choice>
              <mc:Fallback>
                <p:oleObj name="Equation" r:id="rId7" imgW="583920" imgH="228600" progId="Equation.DSMT4">
                  <p:embed/>
                  <p:pic>
                    <p:nvPicPr>
                      <p:cNvPr id="31" name="Object 30"/>
                      <p:cNvPicPr/>
                      <p:nvPr/>
                    </p:nvPicPr>
                    <p:blipFill>
                      <a:blip r:embed="rId8"/>
                      <a:stretch>
                        <a:fillRect/>
                      </a:stretch>
                    </p:blipFill>
                    <p:spPr>
                      <a:xfrm>
                        <a:off x="7727356" y="4632658"/>
                        <a:ext cx="793750" cy="311150"/>
                      </a:xfrm>
                      <a:prstGeom prst="rect">
                        <a:avLst/>
                      </a:prstGeom>
                    </p:spPr>
                  </p:pic>
                </p:oleObj>
              </mc:Fallback>
            </mc:AlternateContent>
          </a:graphicData>
        </a:graphic>
      </p:graphicFrame>
      <p:sp>
        <p:nvSpPr>
          <p:cNvPr id="11" name="Content Placeholder 10"/>
          <p:cNvSpPr>
            <a:spLocks noGrp="1"/>
          </p:cNvSpPr>
          <p:nvPr>
            <p:ph sz="quarter" idx="17"/>
          </p:nvPr>
        </p:nvSpPr>
        <p:spPr>
          <a:xfrm>
            <a:off x="457199" y="4980375"/>
            <a:ext cx="6958013" cy="353625"/>
          </a:xfrm>
        </p:spPr>
        <p:txBody>
          <a:bodyPr lIns="90000" tIns="36000" rIns="0"/>
          <a:lstStyle/>
          <a:p>
            <a:pPr marL="432" indent="0">
              <a:buNone/>
            </a:pPr>
            <a:r>
              <a:rPr lang="en-US" dirty="0"/>
              <a:t>the economy cannot trade, then it produces and consumes at point</a:t>
            </a:r>
          </a:p>
        </p:txBody>
      </p:sp>
      <p:graphicFrame>
        <p:nvGraphicFramePr>
          <p:cNvPr id="33" name="Object 32" descr="D sub 3. "/>
          <p:cNvGraphicFramePr>
            <a:graphicFrameLocks noChangeAspect="1"/>
          </p:cNvGraphicFramePr>
          <p:nvPr>
            <p:extLst>
              <p:ext uri="{D42A27DB-BD31-4B8C-83A1-F6EECF244321}">
                <p14:modId xmlns:p14="http://schemas.microsoft.com/office/powerpoint/2010/main" val="3278216816"/>
              </p:ext>
            </p:extLst>
          </p:nvPr>
        </p:nvGraphicFramePr>
        <p:xfrm>
          <a:off x="7464141" y="5019805"/>
          <a:ext cx="356166" cy="338876"/>
        </p:xfrm>
        <a:graphic>
          <a:graphicData uri="http://schemas.openxmlformats.org/presentationml/2006/ole">
            <mc:AlternateContent xmlns:mc="http://schemas.openxmlformats.org/markup-compatibility/2006">
              <mc:Choice xmlns:v="urn:schemas-microsoft-com:vml" Requires="v">
                <p:oleObj spid="_x0000_s6148" name="Equation" r:id="rId9" imgW="241200" imgH="228600" progId="Equation.DSMT4">
                  <p:embed/>
                </p:oleObj>
              </mc:Choice>
              <mc:Fallback>
                <p:oleObj name="Equation" r:id="rId9" imgW="241200" imgH="228600" progId="Equation.DSMT4">
                  <p:embed/>
                  <p:pic>
                    <p:nvPicPr>
                      <p:cNvPr id="32" name="Object 31"/>
                      <p:cNvPicPr/>
                      <p:nvPr/>
                    </p:nvPicPr>
                    <p:blipFill>
                      <a:blip r:embed="rId10"/>
                      <a:stretch>
                        <a:fillRect/>
                      </a:stretch>
                    </p:blipFill>
                    <p:spPr>
                      <a:xfrm>
                        <a:off x="7464141" y="5019805"/>
                        <a:ext cx="356166" cy="338876"/>
                      </a:xfrm>
                      <a:prstGeom prst="rect">
                        <a:avLst/>
                      </a:prstGeom>
                    </p:spPr>
                  </p:pic>
                </p:oleObj>
              </mc:Fallback>
            </mc:AlternateContent>
          </a:graphicData>
        </a:graphic>
      </p:graphicFrame>
      <p:sp>
        <p:nvSpPr>
          <p:cNvPr id="12" name="Content Placeholder 11"/>
          <p:cNvSpPr>
            <a:spLocks noGrp="1"/>
          </p:cNvSpPr>
          <p:nvPr>
            <p:ph sz="quarter" idx="18"/>
          </p:nvPr>
        </p:nvSpPr>
        <p:spPr>
          <a:xfrm>
            <a:off x="457201" y="5404700"/>
            <a:ext cx="8229600" cy="913005"/>
          </a:xfrm>
        </p:spPr>
        <p:txBody>
          <a:bodyPr lIns="90000" tIns="0" rIns="0" bIns="0"/>
          <a:lstStyle/>
          <a:p>
            <a:pPr marL="432" indent="0">
              <a:buNone/>
            </a:pPr>
            <a:r>
              <a:rPr lang="en-US" dirty="0"/>
              <a:t>Panel (b) shows the effects of the rise in the relative price of cloth on relative production (move from 1 to 2) and relative demand (move from 1 to 2). If the economy cannot trade, then it consumes and produces at point 3.</a:t>
            </a:r>
          </a:p>
        </p:txBody>
      </p:sp>
    </p:spTree>
    <p:extLst>
      <p:ext uri="{BB962C8B-B14F-4D97-AF65-F5344CB8AC3E}">
        <p14:creationId xmlns:p14="http://schemas.microsoft.com/office/powerpoint/2010/main" val="2294650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p:cNvSpPr>
            <a:spLocks noGrp="1"/>
          </p:cNvSpPr>
          <p:nvPr>
            <p:ph type="title"/>
          </p:nvPr>
        </p:nvSpPr>
        <p:spPr/>
        <p:txBody>
          <a:bodyPr/>
          <a:lstStyle/>
          <a:p>
            <a:r>
              <a:rPr lang="en-US" sz="3200" dirty="0"/>
              <a:t>U.S. Consumer Gains from Chinese Imports </a:t>
            </a:r>
            <a:r>
              <a:rPr lang="en-US" sz="2000" b="0" dirty="0"/>
              <a:t>(1 of 2)</a:t>
            </a:r>
            <a:endParaRPr lang="en-US" dirty="0"/>
          </a:p>
        </p:txBody>
      </p:sp>
      <p:sp>
        <p:nvSpPr>
          <p:cNvPr id="28" name="Content Placeholder 27"/>
          <p:cNvSpPr>
            <a:spLocks noGrp="1"/>
          </p:cNvSpPr>
          <p:nvPr>
            <p:ph sz="quarter" idx="13"/>
          </p:nvPr>
        </p:nvSpPr>
        <p:spPr>
          <a:xfrm>
            <a:off x="457200" y="1556327"/>
            <a:ext cx="8081158" cy="4586896"/>
          </a:xfrm>
        </p:spPr>
        <p:txBody>
          <a:bodyPr/>
          <a:lstStyle/>
          <a:p>
            <a:r>
              <a:rPr lang="en-US" dirty="0"/>
              <a:t>The aggregate gains from trade are in large part driven by consumers’ access to cheaper imported goods.</a:t>
            </a:r>
          </a:p>
          <a:p>
            <a:r>
              <a:rPr lang="en-US" dirty="0"/>
              <a:t>Increased trade between the United States and China has increased the purchasing power of U.S. consumers.</a:t>
            </a:r>
          </a:p>
          <a:p>
            <a:r>
              <a:rPr lang="en-US" dirty="0"/>
              <a:t>A recent study finds that increased trade with China between 2000 and 2007 induced large reductions in prices, generating substantial increases in the purchasing power of U.S. households.</a:t>
            </a:r>
          </a:p>
          <a:p>
            <a:r>
              <a:rPr lang="en-US" dirty="0"/>
              <a:t>On average those gains represented $1,500 per household per year.</a:t>
            </a:r>
          </a:p>
        </p:txBody>
      </p:sp>
    </p:spTree>
    <p:extLst>
      <p:ext uri="{BB962C8B-B14F-4D97-AF65-F5344CB8AC3E}">
        <p14:creationId xmlns:p14="http://schemas.microsoft.com/office/powerpoint/2010/main" val="314610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p:cNvSpPr>
            <a:spLocks noGrp="1"/>
          </p:cNvSpPr>
          <p:nvPr>
            <p:ph type="title"/>
          </p:nvPr>
        </p:nvSpPr>
        <p:spPr/>
        <p:txBody>
          <a:bodyPr/>
          <a:lstStyle/>
          <a:p>
            <a:r>
              <a:rPr lang="en-US" sz="3200" dirty="0"/>
              <a:t>U.S. Consumer Gains from Chinese Imports </a:t>
            </a:r>
            <a:r>
              <a:rPr lang="en-US" sz="2000" b="0" dirty="0"/>
              <a:t>(2 of 2)</a:t>
            </a:r>
            <a:endParaRPr lang="en-US" dirty="0"/>
          </a:p>
        </p:txBody>
      </p:sp>
      <p:sp>
        <p:nvSpPr>
          <p:cNvPr id="2" name="Content Placeholder 1"/>
          <p:cNvSpPr>
            <a:spLocks noGrp="1"/>
          </p:cNvSpPr>
          <p:nvPr>
            <p:ph sz="quarter" idx="13"/>
          </p:nvPr>
        </p:nvSpPr>
        <p:spPr/>
        <p:txBody>
          <a:bodyPr/>
          <a:lstStyle/>
          <a:p>
            <a:r>
              <a:rPr lang="en-US" dirty="0"/>
              <a:t>Over half of those gains were generated by price reductions of U.S. produced goods in response to the increased competition from Chinese imports. </a:t>
            </a:r>
          </a:p>
          <a:p>
            <a:r>
              <a:rPr lang="en-US" dirty="0"/>
              <a:t>And because those price decreases were more pronounced for goods consumed by relatively poorer households with annual incomes below $30,000, the average $1,500 gain was 36 percent higher for those households relative to richer households with income above $100,000.</a:t>
            </a:r>
          </a:p>
        </p:txBody>
      </p:sp>
    </p:spTree>
    <p:extLst>
      <p:ext uri="{BB962C8B-B14F-4D97-AF65-F5344CB8AC3E}">
        <p14:creationId xmlns:p14="http://schemas.microsoft.com/office/powerpoint/2010/main" val="3159665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The Welfare Effects of Changes in the Terms of Trade</a:t>
            </a:r>
            <a:endParaRPr lang="en-US" sz="3200"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The </a:t>
            </a:r>
            <a:r>
              <a:rPr lang="en-US" altLang="en-US" b="1" dirty="0">
                <a:ea typeface="ヒラギノ角ゴ Pro W3" pitchFamily="-84" charset="-128"/>
              </a:rPr>
              <a:t>terms of trade</a:t>
            </a:r>
            <a:r>
              <a:rPr lang="en-US" altLang="en-US" dirty="0">
                <a:ea typeface="ヒラギノ角ゴ Pro W3" pitchFamily="-84" charset="-128"/>
              </a:rPr>
              <a:t> refers to the price of exports relative to the price of imports.</a:t>
            </a:r>
          </a:p>
          <a:p>
            <a:pPr lvl="1"/>
            <a:r>
              <a:rPr lang="en-US" altLang="en-US" dirty="0">
                <a:ea typeface="ヒラギノ角ゴ Pro W3" pitchFamily="-84" charset="-128"/>
              </a:rPr>
              <a:t>When a country exports cloth and the relative </a:t>
            </a:r>
            <a:br>
              <a:rPr lang="en-US" altLang="en-US" dirty="0">
                <a:ea typeface="ヒラギノ角ゴ Pro W3" pitchFamily="-84" charset="-128"/>
              </a:rPr>
            </a:br>
            <a:r>
              <a:rPr lang="en-US" altLang="en-US" dirty="0">
                <a:ea typeface="ヒラギノ角ゴ Pro W3" pitchFamily="-84" charset="-128"/>
              </a:rPr>
              <a:t>price of cloth increases, the terms of trade rise.</a:t>
            </a:r>
          </a:p>
          <a:p>
            <a:r>
              <a:rPr lang="en-US" altLang="en-US" dirty="0">
                <a:ea typeface="ヒラギノ角ゴ Pro W3" pitchFamily="-84" charset="-128"/>
              </a:rPr>
              <a:t>Because a higher relative price for exports means that the country can afford to buy more imports, an increase in the terms of trade increases a country’ </a:t>
            </a:r>
            <a:r>
              <a:rPr lang="en-US" altLang="ja-JP" dirty="0">
                <a:ea typeface="ヒラギノ角ゴ Pro W3" pitchFamily="-84" charset="-128"/>
              </a:rPr>
              <a:t>s welfare.</a:t>
            </a:r>
          </a:p>
          <a:p>
            <a:r>
              <a:rPr lang="en-US" altLang="en-US" dirty="0">
                <a:ea typeface="ヒラギノ角ゴ Pro W3" pitchFamily="-84" charset="-128"/>
              </a:rPr>
              <a:t>A decline in the terms of trade decreases a country’</a:t>
            </a:r>
            <a:r>
              <a:rPr lang="en-US" altLang="ja-JP" dirty="0">
                <a:ea typeface="ヒラギノ角ゴ Pro W3" pitchFamily="-84" charset="-128"/>
              </a:rPr>
              <a:t>s welfare.</a:t>
            </a:r>
            <a:endParaRPr lang="en-US" dirty="0"/>
          </a:p>
        </p:txBody>
      </p:sp>
    </p:spTree>
    <p:extLst>
      <p:ext uri="{BB962C8B-B14F-4D97-AF65-F5344CB8AC3E}">
        <p14:creationId xmlns:p14="http://schemas.microsoft.com/office/powerpoint/2010/main" val="3418262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Determining Relative Prices</a:t>
            </a:r>
            <a:endParaRPr lang="en-US" dirty="0"/>
          </a:p>
        </p:txBody>
      </p:sp>
      <p:sp>
        <p:nvSpPr>
          <p:cNvPr id="3" name="Content Placeholder 2"/>
          <p:cNvSpPr>
            <a:spLocks noGrp="1"/>
          </p:cNvSpPr>
          <p:nvPr>
            <p:ph sz="quarter" idx="13"/>
          </p:nvPr>
        </p:nvSpPr>
        <p:spPr>
          <a:xfrm>
            <a:off x="457200" y="1556327"/>
            <a:ext cx="8229600" cy="3523673"/>
          </a:xfrm>
        </p:spPr>
        <p:txBody>
          <a:bodyPr/>
          <a:lstStyle/>
          <a:p>
            <a:r>
              <a:rPr lang="en-US" altLang="en-US" dirty="0">
                <a:ea typeface="ヒラギノ角ゴ Pro W3" pitchFamily="-84" charset="-128"/>
              </a:rPr>
              <a:t>To determine the price of cloth relative to the price food, use relative supply and relative demand.</a:t>
            </a:r>
          </a:p>
          <a:p>
            <a:pPr lvl="1"/>
            <a:r>
              <a:rPr lang="en-US" altLang="en-US" b="1" dirty="0">
                <a:ea typeface="ヒラギノ角ゴ Pro W3" pitchFamily="-84" charset="-128"/>
              </a:rPr>
              <a:t>World</a:t>
            </a:r>
            <a:r>
              <a:rPr lang="en-US" altLang="en-US" i="1" dirty="0">
                <a:ea typeface="ヒラギノ角ゴ Pro W3" pitchFamily="-84" charset="-128"/>
              </a:rPr>
              <a:t> </a:t>
            </a:r>
            <a:r>
              <a:rPr lang="en-US" altLang="en-US" dirty="0">
                <a:ea typeface="ヒラギノ角ゴ Pro W3" pitchFamily="-84" charset="-128"/>
              </a:rPr>
              <a:t>supply of cloth relative to food at each relative price.</a:t>
            </a:r>
          </a:p>
          <a:p>
            <a:pPr lvl="1">
              <a:spcBef>
                <a:spcPct val="50000"/>
              </a:spcBef>
            </a:pPr>
            <a:r>
              <a:rPr lang="en-US" altLang="en-US" b="1" dirty="0">
                <a:ea typeface="ヒラギノ角ゴ Pro W3" pitchFamily="-84" charset="-128"/>
              </a:rPr>
              <a:t>World </a:t>
            </a:r>
            <a:r>
              <a:rPr lang="en-US" altLang="en-US" dirty="0">
                <a:ea typeface="ヒラギノ角ゴ Pro W3" pitchFamily="-84" charset="-128"/>
              </a:rPr>
              <a:t>demand for cloth relative to food at each relative price.</a:t>
            </a:r>
          </a:p>
          <a:p>
            <a:pPr lvl="1">
              <a:spcBef>
                <a:spcPct val="50000"/>
              </a:spcBef>
            </a:pPr>
            <a:r>
              <a:rPr lang="en-US" altLang="en-US" dirty="0">
                <a:ea typeface="ヒラギノ角ゴ Pro W3" pitchFamily="-84" charset="-128"/>
              </a:rPr>
              <a:t>World quantities are the sum of quantities from the two countries in the world:</a:t>
            </a:r>
            <a:endParaRPr lang="en-US" dirty="0"/>
          </a:p>
        </p:txBody>
      </p:sp>
      <p:graphicFrame>
        <p:nvGraphicFramePr>
          <p:cNvPr id="4" name="Object 3" descr="An expression. For long description in Notes pane, press F6."/>
          <p:cNvGraphicFramePr>
            <a:graphicFrameLocks noChangeAspect="1"/>
          </p:cNvGraphicFramePr>
          <p:nvPr>
            <p:extLst>
              <p:ext uri="{D42A27DB-BD31-4B8C-83A1-F6EECF244321}">
                <p14:modId xmlns:p14="http://schemas.microsoft.com/office/powerpoint/2010/main" val="949963776"/>
              </p:ext>
            </p:extLst>
          </p:nvPr>
        </p:nvGraphicFramePr>
        <p:xfrm>
          <a:off x="2907086" y="5234472"/>
          <a:ext cx="3329827" cy="989948"/>
        </p:xfrm>
        <a:graphic>
          <a:graphicData uri="http://schemas.openxmlformats.org/presentationml/2006/ole">
            <mc:AlternateContent xmlns:mc="http://schemas.openxmlformats.org/markup-compatibility/2006">
              <mc:Choice xmlns:v="urn:schemas-microsoft-com:vml" Requires="v">
                <p:oleObj spid="_x0000_s7170" name="Equation" r:id="rId4" imgW="1879560" imgH="558720" progId="Equation.DSMT4">
                  <p:embed/>
                </p:oleObj>
              </mc:Choice>
              <mc:Fallback>
                <p:oleObj name="Equation" r:id="rId4" imgW="1879560" imgH="558720" progId="Equation.DSMT4">
                  <p:embed/>
                  <p:pic>
                    <p:nvPicPr>
                      <p:cNvPr id="0" name=""/>
                      <p:cNvPicPr/>
                      <p:nvPr/>
                    </p:nvPicPr>
                    <p:blipFill>
                      <a:blip r:embed="rId5"/>
                      <a:stretch>
                        <a:fillRect/>
                      </a:stretch>
                    </p:blipFill>
                    <p:spPr>
                      <a:xfrm>
                        <a:off x="2907086" y="5234472"/>
                        <a:ext cx="3329827" cy="989948"/>
                      </a:xfrm>
                      <a:prstGeom prst="rect">
                        <a:avLst/>
                      </a:prstGeom>
                    </p:spPr>
                  </p:pic>
                </p:oleObj>
              </mc:Fallback>
            </mc:AlternateContent>
          </a:graphicData>
        </a:graphic>
      </p:graphicFrame>
    </p:spTree>
    <p:extLst>
      <p:ext uri="{BB962C8B-B14F-4D97-AF65-F5344CB8AC3E}">
        <p14:creationId xmlns:p14="http://schemas.microsoft.com/office/powerpoint/2010/main" val="3211260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6.5a Equilibrium Relative Price with Trade and Associated Trade Flows</a:t>
            </a:r>
            <a:endParaRPr lang="en-US" sz="3200" dirty="0"/>
          </a:p>
        </p:txBody>
      </p:sp>
      <p:pic>
        <p:nvPicPr>
          <p:cNvPr id="5" name="Content Placeholder 4" descr="The first graph, panel ay, is of relative supply and demand, and shows the relative price of cloth, P sub C over P sub F, versus the relative quantity of cloth, Q sub C over Q sub 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57683" y="1578868"/>
            <a:ext cx="4428635" cy="4505750"/>
          </a:xfrm>
        </p:spPr>
      </p:pic>
    </p:spTree>
    <p:extLst>
      <p:ext uri="{BB962C8B-B14F-4D97-AF65-F5344CB8AC3E}">
        <p14:creationId xmlns:p14="http://schemas.microsoft.com/office/powerpoint/2010/main" val="774166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6.5b Equilibrium Relative Price with Trade and Associated Trade Flows</a:t>
            </a:r>
            <a:endParaRPr lang="en-US" sz="3200" dirty="0"/>
          </a:p>
        </p:txBody>
      </p:sp>
      <p:pic>
        <p:nvPicPr>
          <p:cNvPr id="5" name="Content Placeholder 4" descr="Two graphs: home, and foreign. Both graphs show the quantity of food, Q sub F, versus the quantity of cloth,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27121" y="1597034"/>
            <a:ext cx="8089759" cy="4540671"/>
          </a:xfrm>
        </p:spPr>
      </p:pic>
    </p:spTree>
    <p:extLst>
      <p:ext uri="{BB962C8B-B14F-4D97-AF65-F5344CB8AC3E}">
        <p14:creationId xmlns:p14="http://schemas.microsoft.com/office/powerpoint/2010/main" val="4270330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(1 of 5)</a:t>
            </a:r>
            <a:endParaRPr lang="en-US"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Is economic growth in China good for the standard of living in the United States?</a:t>
            </a:r>
          </a:p>
          <a:p>
            <a:r>
              <a:rPr lang="en-US" altLang="en-US" dirty="0">
                <a:ea typeface="ヒラギノ角ゴ Pro W3" pitchFamily="-84" charset="-128"/>
              </a:rPr>
              <a:t>Is growth in a country more or less valuable when it is integrated in the world economy?</a:t>
            </a:r>
          </a:p>
          <a:p>
            <a:r>
              <a:rPr lang="en-US" altLang="en-US" dirty="0">
                <a:ea typeface="ヒラギノ角ゴ Pro W3" pitchFamily="-84" charset="-128"/>
              </a:rPr>
              <a:t>The standard trade model gives us precise answers to these questions.</a:t>
            </a:r>
            <a:endParaRPr lang="en-US" dirty="0"/>
          </a:p>
        </p:txBody>
      </p:sp>
    </p:spTree>
    <p:extLst>
      <p:ext uri="{BB962C8B-B14F-4D97-AF65-F5344CB8AC3E}">
        <p14:creationId xmlns:p14="http://schemas.microsoft.com/office/powerpoint/2010/main" val="3877380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(2 of 5)</a:t>
            </a:r>
            <a:endParaRPr lang="en-US"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Growth is usually </a:t>
            </a:r>
            <a:r>
              <a:rPr lang="en-US" altLang="en-US" b="1" dirty="0">
                <a:ea typeface="ヒラギノ角ゴ Pro W3" pitchFamily="-84" charset="-128"/>
              </a:rPr>
              <a:t>biased</a:t>
            </a:r>
            <a:r>
              <a:rPr lang="en-US" altLang="en-US" dirty="0">
                <a:ea typeface="ヒラギノ角ゴ Pro W3" pitchFamily="-84" charset="-128"/>
              </a:rPr>
              <a:t>: it occurs in one sector more than others, causing relative supply to change.</a:t>
            </a:r>
          </a:p>
          <a:p>
            <a:pPr lvl="1"/>
            <a:r>
              <a:rPr lang="en-US" altLang="en-US" dirty="0">
                <a:ea typeface="ヒラギノ角ゴ Pro W3" pitchFamily="-84" charset="-128"/>
              </a:rPr>
              <a:t>Rapid growth has occurred in U.S. computer industries but relatively little growth has occurred in U.S. textile industries.</a:t>
            </a:r>
          </a:p>
          <a:p>
            <a:pPr lvl="1"/>
            <a:r>
              <a:rPr lang="en-US" altLang="en-US" dirty="0">
                <a:ea typeface="ヒラギノ角ゴ Pro W3" pitchFamily="-84" charset="-128"/>
              </a:rPr>
              <a:t>In the Ricardian model, technological progress in one sector causes biased growth.</a:t>
            </a:r>
          </a:p>
          <a:p>
            <a:pPr lvl="1"/>
            <a:r>
              <a:rPr lang="en-US" altLang="en-US" dirty="0">
                <a:ea typeface="ヒラギノ角ゴ Pro W3" pitchFamily="-84" charset="-128"/>
              </a:rPr>
              <a:t>In the Heckscher-Ohlin model, an increase in one factor of production causes biased growth.</a:t>
            </a:r>
            <a:endParaRPr lang="en-US" dirty="0"/>
          </a:p>
        </p:txBody>
      </p:sp>
    </p:spTree>
    <p:extLst>
      <p:ext uri="{BB962C8B-B14F-4D97-AF65-F5344CB8AC3E}">
        <p14:creationId xmlns:p14="http://schemas.microsoft.com/office/powerpoint/2010/main" val="1863057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6.6 Biased Growth </a:t>
            </a:r>
            <a:r>
              <a:rPr lang="en-US" altLang="en-US" sz="2000" b="0" dirty="0">
                <a:ea typeface="ヒラギノ角ゴ Pro W3" pitchFamily="-84" charset="-128"/>
              </a:rPr>
              <a:t>(1 of 2)</a:t>
            </a:r>
            <a:endParaRPr lang="en-US" dirty="0"/>
          </a:p>
        </p:txBody>
      </p:sp>
      <p:pic>
        <p:nvPicPr>
          <p:cNvPr id="4" name="Content Placeholder 3" descr="Graph ay, growth biased toward cloth, plots food production, Q sub F, versus cloth production,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875924" y="1574673"/>
            <a:ext cx="5392153" cy="3465560"/>
          </a:xfrm>
        </p:spPr>
      </p:pic>
      <p:sp>
        <p:nvSpPr>
          <p:cNvPr id="5" name="Content Placeholder 4"/>
          <p:cNvSpPr>
            <a:spLocks noGrp="1"/>
          </p:cNvSpPr>
          <p:nvPr>
            <p:ph sz="quarter" idx="14"/>
          </p:nvPr>
        </p:nvSpPr>
        <p:spPr>
          <a:xfrm>
            <a:off x="457200" y="5249920"/>
            <a:ext cx="8229600" cy="1080211"/>
          </a:xfrm>
        </p:spPr>
        <p:txBody>
          <a:bodyPr/>
          <a:lstStyle/>
          <a:p>
            <a:pPr marL="432" indent="0">
              <a:buNone/>
            </a:pPr>
            <a:r>
              <a:rPr lang="en-US" sz="2000" dirty="0"/>
              <a:t>Growth is biased when it shifts production possibilities out more toward one good than toward another. In case (a), growth is biased toward cloth, while in case (b), growth is biased toward food.</a:t>
            </a:r>
          </a:p>
        </p:txBody>
      </p:sp>
    </p:spTree>
    <p:extLst>
      <p:ext uri="{BB962C8B-B14F-4D97-AF65-F5344CB8AC3E}">
        <p14:creationId xmlns:p14="http://schemas.microsoft.com/office/powerpoint/2010/main" val="3822733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6.6 Biased Growth </a:t>
            </a:r>
            <a:r>
              <a:rPr lang="en-US" altLang="en-US" sz="2000" b="0" dirty="0">
                <a:ea typeface="ヒラギノ角ゴ Pro W3" pitchFamily="-84" charset="-128"/>
              </a:rPr>
              <a:t>(2 of 2)</a:t>
            </a:r>
            <a:endParaRPr lang="en-US" dirty="0"/>
          </a:p>
        </p:txBody>
      </p:sp>
      <p:pic>
        <p:nvPicPr>
          <p:cNvPr id="4" name="Content Placeholder 3" descr="Graph c shows the effects of biased growth on relative supply.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3338177" y="1569436"/>
            <a:ext cx="2688884" cy="2858770"/>
          </a:xfrm>
        </p:spPr>
      </p:pic>
      <p:sp>
        <p:nvSpPr>
          <p:cNvPr id="6" name="Content Placeholder 5"/>
          <p:cNvSpPr>
            <a:spLocks noGrp="1"/>
          </p:cNvSpPr>
          <p:nvPr>
            <p:ph sz="quarter" idx="14"/>
          </p:nvPr>
        </p:nvSpPr>
        <p:spPr>
          <a:xfrm>
            <a:off x="457200" y="4539053"/>
            <a:ext cx="8010525" cy="414865"/>
          </a:xfrm>
        </p:spPr>
        <p:txBody>
          <a:bodyPr lIns="90000" tIns="36000"/>
          <a:lstStyle/>
          <a:p>
            <a:pPr marL="432" indent="0">
              <a:buNone/>
            </a:pPr>
            <a:r>
              <a:rPr lang="en-US" sz="2200" dirty="0"/>
              <a:t>The associated shifts in the relative supply curve are shown in</a:t>
            </a:r>
          </a:p>
        </p:txBody>
      </p:sp>
      <p:sp>
        <p:nvSpPr>
          <p:cNvPr id="7" name="Content Placeholder 6"/>
          <p:cNvSpPr>
            <a:spLocks noGrp="1"/>
          </p:cNvSpPr>
          <p:nvPr>
            <p:ph sz="quarter" idx="15"/>
          </p:nvPr>
        </p:nvSpPr>
        <p:spPr>
          <a:xfrm>
            <a:off x="457200" y="5014562"/>
            <a:ext cx="3352799" cy="400583"/>
          </a:xfrm>
        </p:spPr>
        <p:txBody>
          <a:bodyPr tIns="0"/>
          <a:lstStyle/>
          <a:p>
            <a:pPr marL="432" indent="0">
              <a:buNone/>
            </a:pPr>
            <a:r>
              <a:rPr lang="en-US" sz="2200" dirty="0"/>
              <a:t>panel (c): shift to the right</a:t>
            </a:r>
          </a:p>
        </p:txBody>
      </p:sp>
      <p:graphicFrame>
        <p:nvGraphicFramePr>
          <p:cNvPr id="25" name="Object 24" descr="left parenthesis from R S to the first power to R S squared right parenthesis "/>
          <p:cNvGraphicFramePr>
            <a:graphicFrameLocks noChangeAspect="1"/>
          </p:cNvGraphicFramePr>
          <p:nvPr>
            <p:extLst>
              <p:ext uri="{D42A27DB-BD31-4B8C-83A1-F6EECF244321}">
                <p14:modId xmlns:p14="http://schemas.microsoft.com/office/powerpoint/2010/main" val="3762314977"/>
              </p:ext>
            </p:extLst>
          </p:nvPr>
        </p:nvGraphicFramePr>
        <p:xfrm>
          <a:off x="3910013" y="5030788"/>
          <a:ext cx="2024062" cy="365125"/>
        </p:xfrm>
        <a:graphic>
          <a:graphicData uri="http://schemas.openxmlformats.org/presentationml/2006/ole">
            <mc:AlternateContent xmlns:mc="http://schemas.openxmlformats.org/markup-compatibility/2006">
              <mc:Choice xmlns:v="urn:schemas-microsoft-com:vml" Requires="v">
                <p:oleObj spid="_x0000_s8194" name="Equation" r:id="rId5" imgW="1269720" imgH="228600" progId="Equation.DSMT4">
                  <p:embed/>
                </p:oleObj>
              </mc:Choice>
              <mc:Fallback>
                <p:oleObj name="Equation" r:id="rId5" imgW="1269720" imgH="228600" progId="Equation.DSMT4">
                  <p:embed/>
                  <p:pic>
                    <p:nvPicPr>
                      <p:cNvPr id="8" name="Object 7"/>
                      <p:cNvPicPr/>
                      <p:nvPr/>
                    </p:nvPicPr>
                    <p:blipFill>
                      <a:blip r:embed="rId6"/>
                      <a:stretch>
                        <a:fillRect/>
                      </a:stretch>
                    </p:blipFill>
                    <p:spPr>
                      <a:xfrm>
                        <a:off x="3910013" y="5030788"/>
                        <a:ext cx="2024062" cy="365125"/>
                      </a:xfrm>
                      <a:prstGeom prst="rect">
                        <a:avLst/>
                      </a:prstGeom>
                    </p:spPr>
                  </p:pic>
                </p:oleObj>
              </mc:Fallback>
            </mc:AlternateContent>
          </a:graphicData>
        </a:graphic>
      </p:graphicFrame>
      <p:sp>
        <p:nvSpPr>
          <p:cNvPr id="8" name="Content Placeholder 7"/>
          <p:cNvSpPr>
            <a:spLocks noGrp="1"/>
          </p:cNvSpPr>
          <p:nvPr>
            <p:ph sz="quarter" idx="16"/>
          </p:nvPr>
        </p:nvSpPr>
        <p:spPr>
          <a:xfrm>
            <a:off x="6057900" y="5014562"/>
            <a:ext cx="2005445" cy="400583"/>
          </a:xfrm>
        </p:spPr>
        <p:txBody>
          <a:bodyPr lIns="0" tIns="0"/>
          <a:lstStyle/>
          <a:p>
            <a:pPr marL="432" indent="0">
              <a:buNone/>
            </a:pPr>
            <a:r>
              <a:rPr lang="en-US" sz="2200" dirty="0"/>
              <a:t>when growth is</a:t>
            </a:r>
          </a:p>
        </p:txBody>
      </p:sp>
      <p:sp>
        <p:nvSpPr>
          <p:cNvPr id="9" name="Content Placeholder 8"/>
          <p:cNvSpPr>
            <a:spLocks noGrp="1"/>
          </p:cNvSpPr>
          <p:nvPr>
            <p:ph sz="quarter" idx="17"/>
          </p:nvPr>
        </p:nvSpPr>
        <p:spPr>
          <a:xfrm>
            <a:off x="457200" y="5487792"/>
            <a:ext cx="5088577" cy="390492"/>
          </a:xfrm>
        </p:spPr>
        <p:txBody>
          <a:bodyPr tIns="0"/>
          <a:lstStyle/>
          <a:p>
            <a:pPr marL="432" indent="0">
              <a:buNone/>
            </a:pPr>
            <a:r>
              <a:rPr lang="en-US" sz="2200" dirty="0"/>
              <a:t>biased toward cloth, and shift to the left</a:t>
            </a:r>
          </a:p>
        </p:txBody>
      </p:sp>
      <p:graphicFrame>
        <p:nvGraphicFramePr>
          <p:cNvPr id="26" name="Object 25" descr="left parenthesis from R S to the first power to R S cubed right parenthesis "/>
          <p:cNvGraphicFramePr>
            <a:graphicFrameLocks noChangeAspect="1"/>
          </p:cNvGraphicFramePr>
          <p:nvPr>
            <p:extLst>
              <p:ext uri="{D42A27DB-BD31-4B8C-83A1-F6EECF244321}">
                <p14:modId xmlns:p14="http://schemas.microsoft.com/office/powerpoint/2010/main" val="4087359229"/>
              </p:ext>
            </p:extLst>
          </p:nvPr>
        </p:nvGraphicFramePr>
        <p:xfrm>
          <a:off x="5620638" y="5498338"/>
          <a:ext cx="2044700" cy="368300"/>
        </p:xfrm>
        <a:graphic>
          <a:graphicData uri="http://schemas.openxmlformats.org/presentationml/2006/ole">
            <mc:AlternateContent xmlns:mc="http://schemas.openxmlformats.org/markup-compatibility/2006">
              <mc:Choice xmlns:v="urn:schemas-microsoft-com:vml" Requires="v">
                <p:oleObj spid="_x0000_s8195" name="Equation" r:id="rId7" imgW="1269720" imgH="228600" progId="Equation.DSMT4">
                  <p:embed/>
                </p:oleObj>
              </mc:Choice>
              <mc:Fallback>
                <p:oleObj name="Equation" r:id="rId7" imgW="1269720" imgH="228600" progId="Equation.DSMT4">
                  <p:embed/>
                  <p:pic>
                    <p:nvPicPr>
                      <p:cNvPr id="9" name="Object 8"/>
                      <p:cNvPicPr/>
                      <p:nvPr/>
                    </p:nvPicPr>
                    <p:blipFill>
                      <a:blip r:embed="rId8"/>
                      <a:stretch>
                        <a:fillRect/>
                      </a:stretch>
                    </p:blipFill>
                    <p:spPr>
                      <a:xfrm>
                        <a:off x="5620638" y="5498338"/>
                        <a:ext cx="2044700" cy="368300"/>
                      </a:xfrm>
                      <a:prstGeom prst="rect">
                        <a:avLst/>
                      </a:prstGeom>
                    </p:spPr>
                  </p:pic>
                </p:oleObj>
              </mc:Fallback>
            </mc:AlternateContent>
          </a:graphicData>
        </a:graphic>
      </p:graphicFrame>
      <p:sp>
        <p:nvSpPr>
          <p:cNvPr id="10" name="Content Placeholder 9"/>
          <p:cNvSpPr>
            <a:spLocks noGrp="1"/>
          </p:cNvSpPr>
          <p:nvPr>
            <p:ph sz="quarter" idx="18"/>
          </p:nvPr>
        </p:nvSpPr>
        <p:spPr>
          <a:xfrm>
            <a:off x="457201" y="5945261"/>
            <a:ext cx="4684816" cy="396160"/>
          </a:xfrm>
        </p:spPr>
        <p:txBody>
          <a:bodyPr tIns="0"/>
          <a:lstStyle/>
          <a:p>
            <a:pPr marL="432" indent="0">
              <a:buNone/>
            </a:pPr>
            <a:r>
              <a:rPr lang="en-US" sz="2200" dirty="0"/>
              <a:t>when growth is biased toward food.</a:t>
            </a:r>
          </a:p>
        </p:txBody>
      </p:sp>
    </p:spTree>
    <p:extLst>
      <p:ext uri="{BB962C8B-B14F-4D97-AF65-F5344CB8AC3E}">
        <p14:creationId xmlns:p14="http://schemas.microsoft.com/office/powerpoint/2010/main" val="4131618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(3 of 5)</a:t>
            </a:r>
            <a:endParaRPr lang="en-US" dirty="0"/>
          </a:p>
        </p:txBody>
      </p:sp>
      <p:sp>
        <p:nvSpPr>
          <p:cNvPr id="17" name="Content Placeholder 16"/>
          <p:cNvSpPr>
            <a:spLocks noGrp="1"/>
          </p:cNvSpPr>
          <p:nvPr>
            <p:ph sz="quarter" idx="13"/>
          </p:nvPr>
        </p:nvSpPr>
        <p:spPr>
          <a:xfrm>
            <a:off x="457199" y="1556326"/>
            <a:ext cx="8283039" cy="4768273"/>
          </a:xfrm>
        </p:spPr>
        <p:txBody>
          <a:bodyPr/>
          <a:lstStyle/>
          <a:p>
            <a:r>
              <a:rPr lang="en-US" altLang="en-US" dirty="0">
                <a:ea typeface="ヒラギノ角ゴ Pro W3" pitchFamily="-84" charset="-128"/>
              </a:rPr>
              <a:t>Biased growth and the resulting change in relative supply causes a change in the terms of trade.</a:t>
            </a:r>
          </a:p>
          <a:p>
            <a:pPr lvl="1"/>
            <a:r>
              <a:rPr lang="en-US" altLang="en-US" dirty="0">
                <a:ea typeface="ヒラギノ角ゴ Pro W3" pitchFamily="-84" charset="-128"/>
              </a:rPr>
              <a:t>Biased growth in the cloth industry (in either the home or foreign country) will lower the price of cloth relative to the price of food and lower the terms of trade for cloth exporters.</a:t>
            </a:r>
          </a:p>
          <a:p>
            <a:pPr lvl="1"/>
            <a:r>
              <a:rPr lang="en-US" altLang="en-US" dirty="0">
                <a:ea typeface="ヒラギノ角ゴ Pro W3" pitchFamily="-84" charset="-128"/>
              </a:rPr>
              <a:t>Biased growth in the food industry (in either the home or foreign country) will raise the price of cloth relative to the price of food and raise the terms of trade for cloth exporters.</a:t>
            </a:r>
          </a:p>
          <a:p>
            <a:pPr lvl="1"/>
            <a:r>
              <a:rPr lang="en-US" altLang="en-US" dirty="0">
                <a:ea typeface="ヒラギノ角ゴ Pro W3" pitchFamily="-84" charset="-128"/>
              </a:rPr>
              <a:t>Suppose that the home country exports cloth and </a:t>
            </a:r>
            <a:br>
              <a:rPr lang="en-US" altLang="en-US" dirty="0">
                <a:ea typeface="ヒラギノ角ゴ Pro W3" pitchFamily="-84" charset="-128"/>
              </a:rPr>
            </a:br>
            <a:r>
              <a:rPr lang="en-US" altLang="en-US" dirty="0">
                <a:ea typeface="ヒラギノ角ゴ Pro W3" pitchFamily="-84" charset="-128"/>
              </a:rPr>
              <a:t>imports food.</a:t>
            </a:r>
            <a:endParaRPr lang="en-US" dirty="0"/>
          </a:p>
        </p:txBody>
      </p:sp>
    </p:spTree>
    <p:extLst>
      <p:ext uri="{BB962C8B-B14F-4D97-AF65-F5344CB8AC3E}">
        <p14:creationId xmlns:p14="http://schemas.microsoft.com/office/powerpoint/2010/main" val="908832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6.7 Growth and World Relative Supply</a:t>
            </a:r>
            <a:endParaRPr lang="en-US" sz="3200" dirty="0"/>
          </a:p>
        </p:txBody>
      </p:sp>
      <p:pic>
        <p:nvPicPr>
          <p:cNvPr id="6" name="Content Placeholder 5" descr="Graphs ay and b plot the relative price of cloth, P sub C over P sub F, versus the relative quantity of cloth, Q sub C + Q sub C asterisk, over, Q sub F + S sub F asterisk.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33745" y="1555750"/>
            <a:ext cx="5276511" cy="3835400"/>
          </a:xfrm>
        </p:spPr>
      </p:pic>
      <p:sp>
        <p:nvSpPr>
          <p:cNvPr id="5" name="Content Placeholder 4"/>
          <p:cNvSpPr>
            <a:spLocks noGrp="1"/>
          </p:cNvSpPr>
          <p:nvPr>
            <p:ph sz="quarter" idx="14"/>
          </p:nvPr>
        </p:nvSpPr>
        <p:spPr>
          <a:xfrm>
            <a:off x="457200" y="5475898"/>
            <a:ext cx="8229600" cy="811578"/>
          </a:xfrm>
        </p:spPr>
        <p:txBody>
          <a:bodyPr/>
          <a:lstStyle/>
          <a:p>
            <a:pPr marL="432" indent="0">
              <a:buNone/>
            </a:pPr>
            <a:r>
              <a:rPr lang="en-US" sz="2000" dirty="0"/>
              <a:t>Growth biased toward cloth shifts the </a:t>
            </a:r>
            <a:r>
              <a:rPr lang="en-US" sz="2000" i="1" dirty="0"/>
              <a:t>R</a:t>
            </a:r>
            <a:r>
              <a:rPr lang="en-US" sz="100" i="1" dirty="0"/>
              <a:t> </a:t>
            </a:r>
            <a:r>
              <a:rPr lang="en-US" sz="2000" i="1" dirty="0"/>
              <a:t>S </a:t>
            </a:r>
            <a:r>
              <a:rPr lang="en-US" sz="2000" dirty="0"/>
              <a:t>curve for the world to the right (a), while growth biased toward food shifts it to the left (b).</a:t>
            </a:r>
          </a:p>
        </p:txBody>
      </p:sp>
    </p:spTree>
    <p:extLst>
      <p:ext uri="{BB962C8B-B14F-4D97-AF65-F5344CB8AC3E}">
        <p14:creationId xmlns:p14="http://schemas.microsoft.com/office/powerpoint/2010/main" val="2193272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(4 of 5)</a:t>
            </a:r>
            <a:endParaRPr lang="en-US" dirty="0"/>
          </a:p>
        </p:txBody>
      </p:sp>
      <p:sp>
        <p:nvSpPr>
          <p:cNvPr id="3" name="Content Placeholder 2"/>
          <p:cNvSpPr>
            <a:spLocks noGrp="1"/>
          </p:cNvSpPr>
          <p:nvPr>
            <p:ph sz="quarter" idx="13"/>
          </p:nvPr>
        </p:nvSpPr>
        <p:spPr>
          <a:xfrm>
            <a:off x="457200" y="1556327"/>
            <a:ext cx="8229600" cy="3958648"/>
          </a:xfrm>
        </p:spPr>
        <p:txBody>
          <a:bodyPr/>
          <a:lstStyle/>
          <a:p>
            <a:r>
              <a:rPr lang="en-US" altLang="en-US" sz="2200" b="1" dirty="0">
                <a:ea typeface="ヒラギノ角ゴ Pro W3" pitchFamily="-84" charset="-128"/>
              </a:rPr>
              <a:t>Export-biased growth</a:t>
            </a:r>
            <a:r>
              <a:rPr lang="en-US" altLang="en-US" sz="2200" dirty="0">
                <a:ea typeface="ヒラギノ角ゴ Pro W3" pitchFamily="-84" charset="-128"/>
              </a:rPr>
              <a:t> is growth that expands a country’</a:t>
            </a:r>
            <a:r>
              <a:rPr lang="en-US" altLang="ja-JP" sz="2200" dirty="0">
                <a:ea typeface="ヒラギノ角ゴ Pro W3" pitchFamily="-84" charset="-128"/>
              </a:rPr>
              <a:t>s production possibilities disproportionately in that country’s export sector.</a:t>
            </a:r>
          </a:p>
          <a:p>
            <a:pPr lvl="1"/>
            <a:r>
              <a:rPr lang="en-US" altLang="en-US" sz="2200" dirty="0">
                <a:ea typeface="ヒラギノ角ゴ Pro W3" pitchFamily="-84" charset="-128"/>
              </a:rPr>
              <a:t>Biased growth in the food industry in the foreign country is export-biased growth for the foreign country.</a:t>
            </a:r>
          </a:p>
          <a:p>
            <a:r>
              <a:rPr lang="en-US" altLang="en-US" sz="2200" b="1" dirty="0">
                <a:ea typeface="ヒラギノ角ゴ Pro W3" pitchFamily="-84" charset="-128"/>
              </a:rPr>
              <a:t>Import-biased growth</a:t>
            </a:r>
            <a:r>
              <a:rPr lang="en-US" altLang="en-US" sz="2200" dirty="0">
                <a:ea typeface="ヒラギノ角ゴ Pro W3" pitchFamily="-84" charset="-128"/>
              </a:rPr>
              <a:t> is growth that expands a country’</a:t>
            </a:r>
            <a:r>
              <a:rPr lang="en-US" altLang="ja-JP" sz="2200" dirty="0">
                <a:ea typeface="ヒラギノ角ゴ Pro W3" pitchFamily="-84" charset="-128"/>
              </a:rPr>
              <a:t>s production possibilities disproportionately in that country’s import sector.</a:t>
            </a:r>
          </a:p>
          <a:p>
            <a:pPr lvl="1"/>
            <a:r>
              <a:rPr lang="en-US" altLang="en-US" sz="2200" dirty="0">
                <a:ea typeface="ヒラギノ角ゴ Pro W3" pitchFamily="-84" charset="-128"/>
              </a:rPr>
              <a:t>Biased growth in cloth production in the foreign country is import-biased growth for the foreign country.</a:t>
            </a:r>
            <a:endParaRPr lang="en-US" sz="2200" dirty="0"/>
          </a:p>
        </p:txBody>
      </p:sp>
    </p:spTree>
    <p:extLst>
      <p:ext uri="{BB962C8B-B14F-4D97-AF65-F5344CB8AC3E}">
        <p14:creationId xmlns:p14="http://schemas.microsoft.com/office/powerpoint/2010/main" val="1757302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(5 of 5)</a:t>
            </a:r>
            <a:endParaRPr lang="en-US" dirty="0"/>
          </a:p>
        </p:txBody>
      </p:sp>
      <p:sp>
        <p:nvSpPr>
          <p:cNvPr id="3" name="Content Placeholder 2"/>
          <p:cNvSpPr>
            <a:spLocks noGrp="1"/>
          </p:cNvSpPr>
          <p:nvPr>
            <p:ph sz="quarter" idx="13"/>
          </p:nvPr>
        </p:nvSpPr>
        <p:spPr>
          <a:xfrm>
            <a:off x="457200" y="1556327"/>
            <a:ext cx="8367486" cy="2644198"/>
          </a:xfrm>
        </p:spPr>
        <p:txBody>
          <a:bodyPr/>
          <a:lstStyle/>
          <a:p>
            <a:r>
              <a:rPr lang="en-US" altLang="en-US" dirty="0">
                <a:ea typeface="ヒラギノ角ゴ Pro W3" pitchFamily="-84" charset="-128"/>
              </a:rPr>
              <a:t>Export-biased growth reduces a country’</a:t>
            </a:r>
            <a:r>
              <a:rPr lang="en-US" altLang="ja-JP" dirty="0">
                <a:ea typeface="ヒラギノ角ゴ Pro W3" pitchFamily="-84" charset="-128"/>
              </a:rPr>
              <a:t>s terms of trade, reducing its welfare and increasing the welfare of foreign countries.</a:t>
            </a:r>
          </a:p>
          <a:p>
            <a:r>
              <a:rPr lang="en-US" altLang="en-US" dirty="0">
                <a:ea typeface="ヒラギノ角ゴ Pro W3" pitchFamily="-84" charset="-128"/>
              </a:rPr>
              <a:t>Import-biased growth increases a country</a:t>
            </a:r>
            <a:r>
              <a:rPr lang="en-US" altLang="ja-JP" dirty="0">
                <a:ea typeface="ヒラギノ角ゴ Pro W3" pitchFamily="-84" charset="-128"/>
              </a:rPr>
              <a:t>’s terms of trade, increasing its welfare and decreasing the welfare of foreign countries.</a:t>
            </a:r>
            <a:endParaRPr lang="en-US" dirty="0"/>
          </a:p>
        </p:txBody>
      </p:sp>
    </p:spTree>
    <p:extLst>
      <p:ext uri="{BB962C8B-B14F-4D97-AF65-F5344CB8AC3E}">
        <p14:creationId xmlns:p14="http://schemas.microsoft.com/office/powerpoint/2010/main" val="655696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Has the Growth of Newly Industrializing</a:t>
            </a:r>
            <a:br>
              <a:rPr lang="en-US" altLang="en-US" sz="3200" dirty="0">
                <a:ea typeface="ヒラギノ角ゴ Pro W3" pitchFamily="-84" charset="-128"/>
              </a:rPr>
            </a:br>
            <a:r>
              <a:rPr lang="en-US" altLang="en-US" sz="3200" dirty="0">
                <a:ea typeface="ヒラギノ角ゴ Pro W3" pitchFamily="-84" charset="-128"/>
              </a:rPr>
              <a:t>Economies Hurt Advanced Nations? </a:t>
            </a:r>
            <a:r>
              <a:rPr lang="en-US" altLang="en-US" sz="2000" b="0" dirty="0">
                <a:ea typeface="ヒラギノ角ゴ Pro W3" pitchFamily="-84" charset="-128"/>
              </a:rPr>
              <a:t>(1 of 3)</a:t>
            </a:r>
            <a:endParaRPr lang="en-US" sz="2000" dirty="0"/>
          </a:p>
        </p:txBody>
      </p:sp>
      <p:sp>
        <p:nvSpPr>
          <p:cNvPr id="5" name="Content Placeholder 4"/>
          <p:cNvSpPr>
            <a:spLocks noGrp="1"/>
          </p:cNvSpPr>
          <p:nvPr>
            <p:ph sz="quarter" idx="13"/>
          </p:nvPr>
        </p:nvSpPr>
        <p:spPr/>
        <p:txBody>
          <a:bodyPr/>
          <a:lstStyle/>
          <a:p>
            <a:r>
              <a:rPr lang="en-US" dirty="0"/>
              <a:t>Has the United States suffered from a deterioration in its terms of trade as some of its main trading partners (such as China) experienced rapid growth?</a:t>
            </a:r>
          </a:p>
          <a:p>
            <a:pPr lvl="1"/>
            <a:r>
              <a:rPr lang="en-US" dirty="0"/>
              <a:t>This would represent an aggregate income loss for the United States.</a:t>
            </a:r>
          </a:p>
          <a:p>
            <a:r>
              <a:rPr lang="en-US" altLang="en-US" dirty="0">
                <a:ea typeface="ヒラギノ角ゴ Pro W3" pitchFamily="-84" charset="-128"/>
              </a:rPr>
              <a:t>The standard trade model predicts that if the growth in China is mainly </a:t>
            </a:r>
            <a:r>
              <a:rPr lang="en-US" altLang="en-US" b="1" dirty="0">
                <a:ea typeface="ヒラギノ角ゴ Pro W3" pitchFamily="-84" charset="-128"/>
              </a:rPr>
              <a:t>import-biased</a:t>
            </a:r>
            <a:r>
              <a:rPr lang="en-US" altLang="en-US" dirty="0">
                <a:ea typeface="ヒラギノ角ゴ Pro W3" pitchFamily="-84" charset="-128"/>
              </a:rPr>
              <a:t>, the growth in sectors that compete with U.S. exports would reduce the U.S. terms of trade.</a:t>
            </a:r>
            <a:endParaRPr lang="en-US" dirty="0"/>
          </a:p>
        </p:txBody>
      </p:sp>
    </p:spTree>
    <p:extLst>
      <p:ext uri="{BB962C8B-B14F-4D97-AF65-F5344CB8AC3E}">
        <p14:creationId xmlns:p14="http://schemas.microsoft.com/office/powerpoint/2010/main" val="3384191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Has the Growth of Newly Industrializing</a:t>
            </a:r>
            <a:br>
              <a:rPr lang="en-US" altLang="en-US" sz="3200" dirty="0">
                <a:ea typeface="ヒラギノ角ゴ Pro W3" pitchFamily="-84" charset="-128"/>
              </a:rPr>
            </a:br>
            <a:r>
              <a:rPr lang="en-US" altLang="en-US" sz="3200" dirty="0">
                <a:ea typeface="ヒラギノ角ゴ Pro W3" pitchFamily="-84" charset="-128"/>
              </a:rPr>
              <a:t>Economies Hurt Advanced Nations? </a:t>
            </a:r>
            <a:r>
              <a:rPr lang="en-US" altLang="en-US" sz="2000" b="0" dirty="0">
                <a:ea typeface="ヒラギノ角ゴ Pro W3" pitchFamily="-84" charset="-128"/>
              </a:rPr>
              <a:t>(2 of 3)</a:t>
            </a:r>
            <a:endParaRPr lang="en-US" sz="2000" dirty="0"/>
          </a:p>
        </p:txBody>
      </p:sp>
      <p:sp>
        <p:nvSpPr>
          <p:cNvPr id="5" name="Content Placeholder 4"/>
          <p:cNvSpPr>
            <a:spLocks noGrp="1"/>
          </p:cNvSpPr>
          <p:nvPr>
            <p:ph sz="quarter" idx="13"/>
          </p:nvPr>
        </p:nvSpPr>
        <p:spPr/>
        <p:txBody>
          <a:bodyPr/>
          <a:lstStyle/>
          <a:p>
            <a:r>
              <a:rPr lang="en-US" altLang="en-US" dirty="0">
                <a:ea typeface="ヒラギノ角ゴ Pro W3" pitchFamily="-84" charset="-128"/>
              </a:rPr>
              <a:t>But data indicates that changes in the U.S. terms of trade have been small with no clear trend over last few decades.</a:t>
            </a:r>
          </a:p>
          <a:p>
            <a:pPr lvl="1"/>
            <a:r>
              <a:rPr lang="en-US" dirty="0"/>
              <a:t>The U.S. terms of trade in 2014 was essentially at the same level as it was in 1980.</a:t>
            </a:r>
            <a:endParaRPr lang="en-US" altLang="en-US" dirty="0">
              <a:ea typeface="ヒラギノ角ゴ Pro W3" pitchFamily="-84" charset="-128"/>
            </a:endParaRPr>
          </a:p>
          <a:p>
            <a:r>
              <a:rPr lang="en-US" altLang="en-US" dirty="0">
                <a:ea typeface="ヒラギノ角ゴ Pro W3" pitchFamily="-84" charset="-128"/>
              </a:rPr>
              <a:t>The terms of trade for China have deteriorated over the past decade, suggesting their recent growth may have been export-biased.</a:t>
            </a:r>
            <a:endParaRPr lang="en-US" dirty="0"/>
          </a:p>
        </p:txBody>
      </p:sp>
    </p:spTree>
    <p:extLst>
      <p:ext uri="{BB962C8B-B14F-4D97-AF65-F5344CB8AC3E}">
        <p14:creationId xmlns:p14="http://schemas.microsoft.com/office/powerpoint/2010/main" val="1974944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Has the Growth of Newly Industrializing</a:t>
            </a:r>
            <a:br>
              <a:rPr lang="en-US" altLang="en-US" sz="3200" dirty="0">
                <a:ea typeface="ヒラギノ角ゴ Pro W3" pitchFamily="-84" charset="-128"/>
              </a:rPr>
            </a:br>
            <a:r>
              <a:rPr lang="en-US" altLang="en-US" sz="3200" dirty="0">
                <a:ea typeface="ヒラギノ角ゴ Pro W3" pitchFamily="-84" charset="-128"/>
              </a:rPr>
              <a:t>Economies Hurt Advanced Nations? </a:t>
            </a:r>
            <a:r>
              <a:rPr lang="en-US" altLang="en-US" sz="2000" b="0" dirty="0">
                <a:ea typeface="ヒラギノ角ゴ Pro W3" pitchFamily="-84" charset="-128"/>
              </a:rPr>
              <a:t>(3 of 3)</a:t>
            </a:r>
            <a:endParaRPr lang="en-US" sz="2000" dirty="0"/>
          </a:p>
        </p:txBody>
      </p:sp>
      <p:sp>
        <p:nvSpPr>
          <p:cNvPr id="5" name="Content Placeholder 4"/>
          <p:cNvSpPr>
            <a:spLocks noGrp="1"/>
          </p:cNvSpPr>
          <p:nvPr>
            <p:ph sz="quarter" idx="13"/>
          </p:nvPr>
        </p:nvSpPr>
        <p:spPr/>
        <p:txBody>
          <a:bodyPr/>
          <a:lstStyle/>
          <a:p>
            <a:r>
              <a:rPr lang="en-US" dirty="0"/>
              <a:t>Like the United States, most developed countries tend to experience mild swings in their terms of trade, around 1 percent or less a year (on average).</a:t>
            </a:r>
          </a:p>
          <a:p>
            <a:r>
              <a:rPr lang="en-US" dirty="0"/>
              <a:t>Some developing countries’ exports are heavily concentrated in mineral and agricultural sectors.</a:t>
            </a:r>
          </a:p>
          <a:p>
            <a:pPr lvl="1"/>
            <a:r>
              <a:rPr lang="en-US" dirty="0"/>
              <a:t>The prices of those goods on world markets are very volatile, leading to large swings in the terms of trade.</a:t>
            </a:r>
          </a:p>
          <a:p>
            <a:pPr lvl="1"/>
            <a:r>
              <a:rPr lang="en-US" dirty="0"/>
              <a:t>These swings in turn translate into substantial changes in welfare.</a:t>
            </a:r>
          </a:p>
        </p:txBody>
      </p:sp>
    </p:spTree>
    <p:extLst>
      <p:ext uri="{BB962C8B-B14F-4D97-AF65-F5344CB8AC3E}">
        <p14:creationId xmlns:p14="http://schemas.microsoft.com/office/powerpoint/2010/main" val="23371240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6.8 Evolution of the Terms of Trade for the United States and China</a:t>
            </a:r>
            <a:endParaRPr lang="en-US" sz="3200" dirty="0"/>
          </a:p>
        </p:txBody>
      </p:sp>
      <p:pic>
        <p:nvPicPr>
          <p:cNvPr id="6" name="Content Placeholder 5" descr="A graph showing evolution of the terms of trade for the U S and China.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746551" y="1557172"/>
            <a:ext cx="5650897" cy="4087466"/>
          </a:xfrm>
        </p:spPr>
      </p:pic>
      <p:sp>
        <p:nvSpPr>
          <p:cNvPr id="5" name="Content Placeholder 4"/>
          <p:cNvSpPr>
            <a:spLocks noGrp="1"/>
          </p:cNvSpPr>
          <p:nvPr>
            <p:ph sz="quarter" idx="14"/>
          </p:nvPr>
        </p:nvSpPr>
        <p:spPr>
          <a:xfrm>
            <a:off x="457200" y="5858325"/>
            <a:ext cx="5183579" cy="293093"/>
          </a:xfrm>
        </p:spPr>
        <p:txBody>
          <a:bodyPr tIns="0"/>
          <a:lstStyle/>
          <a:p>
            <a:pPr marL="432" indent="0">
              <a:buNone/>
            </a:pPr>
            <a:r>
              <a:rPr lang="en-US" sz="1600" b="1" dirty="0"/>
              <a:t>Source: </a:t>
            </a:r>
            <a:r>
              <a:rPr lang="en-US" sz="1600" dirty="0"/>
              <a:t>World Development Indicators, World Bank.</a:t>
            </a:r>
          </a:p>
        </p:txBody>
      </p:sp>
    </p:spTree>
    <p:extLst>
      <p:ext uri="{BB962C8B-B14F-4D97-AF65-F5344CB8AC3E}">
        <p14:creationId xmlns:p14="http://schemas.microsoft.com/office/powerpoint/2010/main" val="33037793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Import Tariffs and Export Subsidies: Simultaneous Shifts in </a:t>
            </a:r>
            <a:r>
              <a:rPr lang="en-US" altLang="en-US" sz="3200" i="1" dirty="0">
                <a:ea typeface="ヒラギノ角ゴ Pro W3" pitchFamily="-84" charset="-128"/>
              </a:rPr>
              <a:t>R</a:t>
            </a:r>
            <a:r>
              <a:rPr lang="en-US" altLang="en-US" sz="100" i="1" dirty="0">
                <a:ea typeface="ヒラギノ角ゴ Pro W3" pitchFamily="-84" charset="-128"/>
              </a:rPr>
              <a:t> </a:t>
            </a:r>
            <a:r>
              <a:rPr lang="en-US" altLang="en-US" sz="3200" i="1" dirty="0">
                <a:ea typeface="ヒラギノ角ゴ Pro W3" pitchFamily="-84" charset="-128"/>
              </a:rPr>
              <a:t>S</a:t>
            </a:r>
            <a:r>
              <a:rPr lang="en-US" altLang="en-US" sz="3200" dirty="0">
                <a:ea typeface="ヒラギノ角ゴ Pro W3" pitchFamily="-84" charset="-128"/>
              </a:rPr>
              <a:t> and </a:t>
            </a:r>
            <a:r>
              <a:rPr lang="en-US" altLang="en-US" sz="3200" i="1" dirty="0">
                <a:ea typeface="ヒラギノ角ゴ Pro W3" pitchFamily="-84" charset="-128"/>
              </a:rPr>
              <a:t>R</a:t>
            </a:r>
            <a:r>
              <a:rPr lang="en-US" altLang="en-US" sz="100" i="1" dirty="0">
                <a:ea typeface="ヒラギノ角ゴ Pro W3" pitchFamily="-84" charset="-128"/>
              </a:rPr>
              <a:t> </a:t>
            </a:r>
            <a:r>
              <a:rPr lang="en-US" altLang="en-US" sz="3200" i="1" dirty="0">
                <a:ea typeface="ヒラギノ角ゴ Pro W3" pitchFamily="-84" charset="-128"/>
              </a:rPr>
              <a:t>D</a:t>
            </a:r>
            <a:endParaRPr lang="en-US" sz="3200" dirty="0"/>
          </a:p>
        </p:txBody>
      </p:sp>
      <p:sp>
        <p:nvSpPr>
          <p:cNvPr id="3" name="Content Placeholder 2"/>
          <p:cNvSpPr>
            <a:spLocks noGrp="1"/>
          </p:cNvSpPr>
          <p:nvPr>
            <p:ph sz="quarter" idx="13"/>
          </p:nvPr>
        </p:nvSpPr>
        <p:spPr>
          <a:xfrm>
            <a:off x="457200" y="1556326"/>
            <a:ext cx="8229600" cy="3891973"/>
          </a:xfrm>
        </p:spPr>
        <p:txBody>
          <a:bodyPr/>
          <a:lstStyle/>
          <a:p>
            <a:r>
              <a:rPr lang="en-US" altLang="en-US" b="1" dirty="0">
                <a:ea typeface="ヒラギノ角ゴ Pro W3" pitchFamily="-84" charset="-128"/>
              </a:rPr>
              <a:t>Import tariffs</a:t>
            </a:r>
            <a:r>
              <a:rPr lang="en-US" altLang="en-US" dirty="0">
                <a:ea typeface="ヒラギノ角ゴ Pro W3" pitchFamily="-84" charset="-128"/>
              </a:rPr>
              <a:t> are taxes levied on imports.</a:t>
            </a:r>
          </a:p>
          <a:p>
            <a:r>
              <a:rPr lang="en-US" altLang="en-US" b="1" dirty="0">
                <a:ea typeface="ヒラギノ角ゴ Pro W3" pitchFamily="-84" charset="-128"/>
              </a:rPr>
              <a:t>Export subsidies</a:t>
            </a:r>
            <a:r>
              <a:rPr lang="en-US" altLang="en-US" dirty="0">
                <a:ea typeface="ヒラギノ角ゴ Pro W3" pitchFamily="-84" charset="-128"/>
              </a:rPr>
              <a:t> are payments given to domestic producers that export.</a:t>
            </a:r>
          </a:p>
          <a:p>
            <a:r>
              <a:rPr lang="en-US" altLang="en-US" dirty="0">
                <a:ea typeface="ヒラギノ角ゴ Pro W3" pitchFamily="-84" charset="-128"/>
              </a:rPr>
              <a:t>Both policies influence the terms of trade and therefore national welfare.</a:t>
            </a:r>
          </a:p>
          <a:p>
            <a:r>
              <a:rPr lang="en-US" altLang="en-US" dirty="0">
                <a:ea typeface="ヒラギノ角ゴ Pro W3" pitchFamily="-84" charset="-128"/>
              </a:rPr>
              <a:t>Import tariffs and export subsidies drive a wedge between prices in world markets and prices in domestic markets.</a:t>
            </a:r>
            <a:endParaRPr lang="en-US" dirty="0"/>
          </a:p>
        </p:txBody>
      </p:sp>
    </p:spTree>
    <p:extLst>
      <p:ext uri="{BB962C8B-B14F-4D97-AF65-F5344CB8AC3E}">
        <p14:creationId xmlns:p14="http://schemas.microsoft.com/office/powerpoint/2010/main" val="20174846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Relative Price and Supply Effects of a Tariff </a:t>
            </a:r>
            <a:r>
              <a:rPr lang="en-US" altLang="en-US" sz="2000" b="0" dirty="0">
                <a:ea typeface="ヒラギノ角ゴ Pro W3" pitchFamily="-84" charset="-128"/>
              </a:rPr>
              <a:t>(1 of 2)</a:t>
            </a:r>
            <a:endParaRPr lang="en-US" dirty="0"/>
          </a:p>
        </p:txBody>
      </p:sp>
      <p:sp>
        <p:nvSpPr>
          <p:cNvPr id="5" name="Content Placeholder 4"/>
          <p:cNvSpPr>
            <a:spLocks noGrp="1"/>
          </p:cNvSpPr>
          <p:nvPr>
            <p:ph sz="quarter" idx="13"/>
          </p:nvPr>
        </p:nvSpPr>
        <p:spPr/>
        <p:txBody>
          <a:bodyPr/>
          <a:lstStyle/>
          <a:p>
            <a:r>
              <a:rPr lang="en-US" altLang="en-US" sz="2200" dirty="0">
                <a:ea typeface="ヒラギノ角ゴ Pro W3" pitchFamily="-84" charset="-128"/>
              </a:rPr>
              <a:t>If the home country imposes a tariff on food imports, the price of food relative to the price of cloth rises for domestic consumers.</a:t>
            </a:r>
          </a:p>
          <a:p>
            <a:pPr lvl="1"/>
            <a:r>
              <a:rPr lang="en-US" altLang="en-US" sz="2200" dirty="0">
                <a:ea typeface="ヒラギノ角ゴ Pro W3" pitchFamily="-84" charset="-128"/>
              </a:rPr>
              <a:t>Likewise, the price of cloth relative to the price of food falls for domestic consumers.</a:t>
            </a:r>
          </a:p>
          <a:p>
            <a:pPr lvl="1">
              <a:spcBef>
                <a:spcPct val="50000"/>
              </a:spcBef>
            </a:pPr>
            <a:r>
              <a:rPr lang="en-US" altLang="en-US" sz="2200" dirty="0">
                <a:ea typeface="ヒラギノ角ゴ Pro W3" pitchFamily="-84" charset="-128"/>
              </a:rPr>
              <a:t>Domestic producers will receive a lower relative price of cloth, and therefore will be more willing to switch to food production: relative supply of cloth will decrease.</a:t>
            </a:r>
          </a:p>
          <a:p>
            <a:pPr lvl="1">
              <a:spcBef>
                <a:spcPct val="50000"/>
              </a:spcBef>
            </a:pPr>
            <a:r>
              <a:rPr lang="en-US" altLang="en-US" sz="2200" dirty="0">
                <a:ea typeface="ヒラギノ角ゴ Pro W3" pitchFamily="-84" charset="-128"/>
              </a:rPr>
              <a:t>Domestic consumers will pay a lower relative price for cloth, and therefore will be more willing to switch to cloth consumption: relative demand for cloth will increase.</a:t>
            </a:r>
            <a:endParaRPr lang="en-US" sz="2200" dirty="0"/>
          </a:p>
        </p:txBody>
      </p:sp>
    </p:spTree>
    <p:extLst>
      <p:ext uri="{BB962C8B-B14F-4D97-AF65-F5344CB8AC3E}">
        <p14:creationId xmlns:p14="http://schemas.microsoft.com/office/powerpoint/2010/main" val="12066634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Relative Price and Supply Effects of a Tariff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When the home country imposes an import tariff, the terms of trade increase and the welfare of the country may increase.</a:t>
            </a:r>
          </a:p>
          <a:p>
            <a:r>
              <a:rPr lang="en-US" altLang="en-US" dirty="0">
                <a:ea typeface="ヒラギノ角ゴ Pro W3" pitchFamily="-84" charset="-128"/>
              </a:rPr>
              <a:t>The magnitude of this effect depends on the size of the home country relative to the world economy.</a:t>
            </a:r>
          </a:p>
          <a:p>
            <a:pPr lvl="1"/>
            <a:r>
              <a:rPr lang="en-US" altLang="en-US" dirty="0">
                <a:ea typeface="ヒラギノ角ゴ Pro W3" pitchFamily="-84" charset="-128"/>
              </a:rPr>
              <a:t>If the country is a small part of the world economy, its tariff (or subsidy) policies will not have much effect on world relative supply and demand, and thus on the terms of trade.</a:t>
            </a:r>
          </a:p>
          <a:p>
            <a:pPr lvl="1"/>
            <a:r>
              <a:rPr lang="en-US" altLang="en-US" dirty="0">
                <a:ea typeface="ヒラギノ角ゴ Pro W3" pitchFamily="-84" charset="-128"/>
              </a:rPr>
              <a:t>But for large countries, a tariff may maximize national welfare at the expense of foreign countries.</a:t>
            </a:r>
            <a:endParaRPr lang="en-US" dirty="0"/>
          </a:p>
        </p:txBody>
      </p:sp>
    </p:spTree>
    <p:extLst>
      <p:ext uri="{BB962C8B-B14F-4D97-AF65-F5344CB8AC3E}">
        <p14:creationId xmlns:p14="http://schemas.microsoft.com/office/powerpoint/2010/main" val="3337180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6.9 Effects of a Food Tariff on the Terms of Trade</a:t>
            </a:r>
            <a:endParaRPr lang="en-US" sz="3200" dirty="0"/>
          </a:p>
        </p:txBody>
      </p:sp>
      <p:pic>
        <p:nvPicPr>
          <p:cNvPr id="21" name="Content Placeholder 20" descr="The graph shows relative price of cloth, P sub C over P sub F, versus the relative quantity of cloth, Q sub C + Q sub C asterisk, over, Q sub F + S sub F asterisk.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3263702" y="1584246"/>
            <a:ext cx="2330844" cy="2446497"/>
          </a:xfrm>
        </p:spPr>
      </p:pic>
      <p:sp>
        <p:nvSpPr>
          <p:cNvPr id="5" name="Content Placeholder 4"/>
          <p:cNvSpPr>
            <a:spLocks noGrp="1"/>
          </p:cNvSpPr>
          <p:nvPr>
            <p:ph sz="quarter" idx="14"/>
          </p:nvPr>
        </p:nvSpPr>
        <p:spPr>
          <a:xfrm>
            <a:off x="457200" y="4083964"/>
            <a:ext cx="7943850" cy="456352"/>
          </a:xfrm>
        </p:spPr>
        <p:txBody>
          <a:bodyPr/>
          <a:lstStyle/>
          <a:p>
            <a:pPr marL="432" indent="0">
              <a:buNone/>
            </a:pPr>
            <a:r>
              <a:rPr lang="en-US" sz="2000" dirty="0"/>
              <a:t>An import tariff on food imposed by Home both reduces the relative</a:t>
            </a:r>
          </a:p>
        </p:txBody>
      </p:sp>
      <p:sp>
        <p:nvSpPr>
          <p:cNvPr id="6" name="Content Placeholder 5"/>
          <p:cNvSpPr>
            <a:spLocks noGrp="1"/>
          </p:cNvSpPr>
          <p:nvPr>
            <p:ph sz="quarter" idx="15"/>
          </p:nvPr>
        </p:nvSpPr>
        <p:spPr>
          <a:xfrm>
            <a:off x="457200" y="4599267"/>
            <a:ext cx="1809750" cy="364619"/>
          </a:xfrm>
        </p:spPr>
        <p:txBody>
          <a:bodyPr tIns="0"/>
          <a:lstStyle/>
          <a:p>
            <a:pPr marL="432" indent="0">
              <a:buNone/>
            </a:pPr>
            <a:r>
              <a:rPr lang="en-US" sz="2000" dirty="0"/>
              <a:t>supply of cloth</a:t>
            </a:r>
          </a:p>
        </p:txBody>
      </p:sp>
      <p:graphicFrame>
        <p:nvGraphicFramePr>
          <p:cNvPr id="18" name="Object 17" descr="left parenthesis from R S to the first power to R S squared right parenthesis"/>
          <p:cNvGraphicFramePr>
            <a:graphicFrameLocks noChangeAspect="1"/>
          </p:cNvGraphicFramePr>
          <p:nvPr>
            <p:extLst>
              <p:ext uri="{D42A27DB-BD31-4B8C-83A1-F6EECF244321}">
                <p14:modId xmlns:p14="http://schemas.microsoft.com/office/powerpoint/2010/main" val="957249036"/>
              </p:ext>
            </p:extLst>
          </p:nvPr>
        </p:nvGraphicFramePr>
        <p:xfrm>
          <a:off x="2318164" y="4598858"/>
          <a:ext cx="1897948" cy="341696"/>
        </p:xfrm>
        <a:graphic>
          <a:graphicData uri="http://schemas.openxmlformats.org/presentationml/2006/ole">
            <mc:AlternateContent xmlns:mc="http://schemas.openxmlformats.org/markup-compatibility/2006">
              <mc:Choice xmlns:v="urn:schemas-microsoft-com:vml" Requires="v">
                <p:oleObj spid="_x0000_s9218" name="Equation" r:id="rId5" imgW="1269720" imgH="228600" progId="Equation.DSMT4">
                  <p:embed/>
                </p:oleObj>
              </mc:Choice>
              <mc:Fallback>
                <p:oleObj name="Equation" r:id="rId5" imgW="1269720" imgH="228600" progId="Equation.DSMT4">
                  <p:embed/>
                  <p:pic>
                    <p:nvPicPr>
                      <p:cNvPr id="0" name=""/>
                      <p:cNvPicPr/>
                      <p:nvPr/>
                    </p:nvPicPr>
                    <p:blipFill>
                      <a:blip r:embed="rId6"/>
                      <a:stretch>
                        <a:fillRect/>
                      </a:stretch>
                    </p:blipFill>
                    <p:spPr>
                      <a:xfrm>
                        <a:off x="2318164" y="4598858"/>
                        <a:ext cx="1897948" cy="341696"/>
                      </a:xfrm>
                      <a:prstGeom prst="rect">
                        <a:avLst/>
                      </a:prstGeom>
                    </p:spPr>
                  </p:pic>
                </p:oleObj>
              </mc:Fallback>
            </mc:AlternateContent>
          </a:graphicData>
        </a:graphic>
      </p:graphicFrame>
      <p:sp>
        <p:nvSpPr>
          <p:cNvPr id="7" name="Content Placeholder 6"/>
          <p:cNvSpPr>
            <a:spLocks noGrp="1"/>
          </p:cNvSpPr>
          <p:nvPr>
            <p:ph sz="quarter" idx="16"/>
          </p:nvPr>
        </p:nvSpPr>
        <p:spPr>
          <a:xfrm>
            <a:off x="4314951" y="4601686"/>
            <a:ext cx="4021527" cy="362200"/>
          </a:xfrm>
        </p:spPr>
        <p:txBody>
          <a:bodyPr lIns="0" tIns="0"/>
          <a:lstStyle/>
          <a:p>
            <a:pPr marL="432" indent="0">
              <a:buNone/>
            </a:pPr>
            <a:r>
              <a:rPr lang="en-US" sz="2000" dirty="0"/>
              <a:t>and increases the relative demand</a:t>
            </a:r>
          </a:p>
        </p:txBody>
      </p:sp>
      <p:graphicFrame>
        <p:nvGraphicFramePr>
          <p:cNvPr id="19" name="Object 18" descr="left parenthesis from R D to the first power to R D squared right parenthesis"/>
          <p:cNvGraphicFramePr>
            <a:graphicFrameLocks noChangeAspect="1"/>
          </p:cNvGraphicFramePr>
          <p:nvPr>
            <p:extLst>
              <p:ext uri="{D42A27DB-BD31-4B8C-83A1-F6EECF244321}">
                <p14:modId xmlns:p14="http://schemas.microsoft.com/office/powerpoint/2010/main" val="1657275894"/>
              </p:ext>
            </p:extLst>
          </p:nvPr>
        </p:nvGraphicFramePr>
        <p:xfrm>
          <a:off x="469350" y="5077361"/>
          <a:ext cx="1896450" cy="340303"/>
        </p:xfrm>
        <a:graphic>
          <a:graphicData uri="http://schemas.openxmlformats.org/presentationml/2006/ole">
            <mc:AlternateContent xmlns:mc="http://schemas.openxmlformats.org/markup-compatibility/2006">
              <mc:Choice xmlns:v="urn:schemas-microsoft-com:vml" Requires="v">
                <p:oleObj spid="_x0000_s9219" name="Equation" r:id="rId7" imgW="1282680" imgH="228600" progId="Equation.DSMT4">
                  <p:embed/>
                </p:oleObj>
              </mc:Choice>
              <mc:Fallback>
                <p:oleObj name="Equation" r:id="rId7" imgW="1282680" imgH="228600" progId="Equation.DSMT4">
                  <p:embed/>
                  <p:pic>
                    <p:nvPicPr>
                      <p:cNvPr id="0" name=""/>
                      <p:cNvPicPr/>
                      <p:nvPr/>
                    </p:nvPicPr>
                    <p:blipFill>
                      <a:blip r:embed="rId8"/>
                      <a:stretch>
                        <a:fillRect/>
                      </a:stretch>
                    </p:blipFill>
                    <p:spPr>
                      <a:xfrm>
                        <a:off x="469350" y="5077361"/>
                        <a:ext cx="1896450" cy="340303"/>
                      </a:xfrm>
                      <a:prstGeom prst="rect">
                        <a:avLst/>
                      </a:prstGeom>
                    </p:spPr>
                  </p:pic>
                </p:oleObj>
              </mc:Fallback>
            </mc:AlternateContent>
          </a:graphicData>
        </a:graphic>
      </p:graphicFrame>
      <p:sp>
        <p:nvSpPr>
          <p:cNvPr id="8" name="Content Placeholder 7"/>
          <p:cNvSpPr>
            <a:spLocks noGrp="1"/>
          </p:cNvSpPr>
          <p:nvPr>
            <p:ph sz="quarter" idx="17"/>
          </p:nvPr>
        </p:nvSpPr>
        <p:spPr>
          <a:xfrm>
            <a:off x="2447950" y="5077494"/>
            <a:ext cx="5556019" cy="349530"/>
          </a:xfrm>
        </p:spPr>
        <p:txBody>
          <a:bodyPr lIns="0" tIns="0" rIns="0"/>
          <a:lstStyle/>
          <a:p>
            <a:pPr marL="432" indent="0">
              <a:buNone/>
            </a:pPr>
            <a:r>
              <a:rPr lang="en-US" sz="2000" dirty="0"/>
              <a:t>for the world as a whole. As a result, the relative</a:t>
            </a:r>
          </a:p>
        </p:txBody>
      </p:sp>
      <p:sp>
        <p:nvSpPr>
          <p:cNvPr id="9" name="Content Placeholder 8"/>
          <p:cNvSpPr>
            <a:spLocks noGrp="1"/>
          </p:cNvSpPr>
          <p:nvPr>
            <p:ph sz="quarter" idx="18"/>
          </p:nvPr>
        </p:nvSpPr>
        <p:spPr>
          <a:xfrm>
            <a:off x="457200" y="5684990"/>
            <a:ext cx="3324225" cy="359554"/>
          </a:xfrm>
        </p:spPr>
        <p:txBody>
          <a:bodyPr tIns="0"/>
          <a:lstStyle/>
          <a:p>
            <a:pPr marL="432" indent="0">
              <a:buNone/>
            </a:pPr>
            <a:r>
              <a:rPr lang="en-US" sz="2000" dirty="0"/>
              <a:t>price of cloth must rise from</a:t>
            </a:r>
          </a:p>
        </p:txBody>
      </p:sp>
      <p:graphicFrame>
        <p:nvGraphicFramePr>
          <p:cNvPr id="20" name="Object 19" descr="left parenthesis start fraction P sub C over P sub F end fraction right parenthesis to the first power to left parenthesis start fraction P sub C over P sub F end fraction right parenthesis squared."/>
          <p:cNvGraphicFramePr>
            <a:graphicFrameLocks noChangeAspect="1"/>
          </p:cNvGraphicFramePr>
          <p:nvPr>
            <p:extLst>
              <p:ext uri="{D42A27DB-BD31-4B8C-83A1-F6EECF244321}">
                <p14:modId xmlns:p14="http://schemas.microsoft.com/office/powerpoint/2010/main" val="4182430101"/>
              </p:ext>
            </p:extLst>
          </p:nvPr>
        </p:nvGraphicFramePr>
        <p:xfrm>
          <a:off x="3833519" y="5478502"/>
          <a:ext cx="1524713" cy="762357"/>
        </p:xfrm>
        <a:graphic>
          <a:graphicData uri="http://schemas.openxmlformats.org/presentationml/2006/ole">
            <mc:AlternateContent xmlns:mc="http://schemas.openxmlformats.org/markup-compatibility/2006">
              <mc:Choice xmlns:v="urn:schemas-microsoft-com:vml" Requires="v">
                <p:oleObj spid="_x0000_s9220" name="Equation" r:id="rId9" imgW="1041120" imgH="520560" progId="Equation.DSMT4">
                  <p:embed/>
                </p:oleObj>
              </mc:Choice>
              <mc:Fallback>
                <p:oleObj name="Equation" r:id="rId9" imgW="1041120" imgH="520560" progId="Equation.DSMT4">
                  <p:embed/>
                  <p:pic>
                    <p:nvPicPr>
                      <p:cNvPr id="0" name=""/>
                      <p:cNvPicPr/>
                      <p:nvPr/>
                    </p:nvPicPr>
                    <p:blipFill>
                      <a:blip r:embed="rId10"/>
                      <a:stretch>
                        <a:fillRect/>
                      </a:stretch>
                    </p:blipFill>
                    <p:spPr>
                      <a:xfrm>
                        <a:off x="3833519" y="5478502"/>
                        <a:ext cx="1524713" cy="762357"/>
                      </a:xfrm>
                      <a:prstGeom prst="rect">
                        <a:avLst/>
                      </a:prstGeom>
                    </p:spPr>
                  </p:pic>
                </p:oleObj>
              </mc:Fallback>
            </mc:AlternateContent>
          </a:graphicData>
        </a:graphic>
      </p:graphicFrame>
    </p:spTree>
    <p:extLst>
      <p:ext uri="{BB962C8B-B14F-4D97-AF65-F5344CB8AC3E}">
        <p14:creationId xmlns:p14="http://schemas.microsoft.com/office/powerpoint/2010/main" val="316619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an Export Subsidy </a:t>
            </a:r>
            <a:r>
              <a:rPr lang="en-US" altLang="en-US" sz="2000" b="0" dirty="0">
                <a:ea typeface="ヒラギノ角ゴ Pro W3" pitchFamily="-84" charset="-128"/>
              </a:rPr>
              <a:t>(1 of 2)</a:t>
            </a:r>
            <a:endParaRPr lang="en-US" dirty="0"/>
          </a:p>
        </p:txBody>
      </p:sp>
      <p:sp>
        <p:nvSpPr>
          <p:cNvPr id="17" name="Content Placeholder 16"/>
          <p:cNvSpPr>
            <a:spLocks noGrp="1"/>
          </p:cNvSpPr>
          <p:nvPr>
            <p:ph sz="quarter" idx="13"/>
          </p:nvPr>
        </p:nvSpPr>
        <p:spPr>
          <a:xfrm>
            <a:off x="457199" y="1556327"/>
            <a:ext cx="8283039" cy="4586896"/>
          </a:xfrm>
        </p:spPr>
        <p:txBody>
          <a:bodyPr/>
          <a:lstStyle/>
          <a:p>
            <a:r>
              <a:rPr lang="en-US" altLang="en-US" dirty="0">
                <a:ea typeface="ヒラギノ角ゴ Pro W3" pitchFamily="-84" charset="-128"/>
              </a:rPr>
              <a:t>If the home country imposes a subsidy on cloth exports, the price of cloth relative to the price of food rises for domestic consumers.</a:t>
            </a:r>
          </a:p>
          <a:p>
            <a:pPr lvl="1"/>
            <a:r>
              <a:rPr lang="en-US" altLang="en-US" dirty="0">
                <a:ea typeface="ヒラギノ角ゴ Pro W3" pitchFamily="-84" charset="-128"/>
              </a:rPr>
              <a:t>Domestic producers will receive a higher relative price of cloth when they export, and therefore will be more willing to switch to cloth production: relative supply of cloth will increase.</a:t>
            </a:r>
          </a:p>
          <a:p>
            <a:pPr lvl="1"/>
            <a:r>
              <a:rPr lang="en-US" altLang="en-US" dirty="0">
                <a:ea typeface="ヒラギノ角ゴ Pro W3" pitchFamily="-84" charset="-128"/>
              </a:rPr>
              <a:t>Domestic consumers must pay a higher relative price of cloth to producers, and therefore will be more willing to switch to food consumption: relative demand for cloth will decrease.</a:t>
            </a:r>
            <a:endParaRPr lang="en-US" dirty="0"/>
          </a:p>
        </p:txBody>
      </p:sp>
    </p:spTree>
    <p:extLst>
      <p:ext uri="{BB962C8B-B14F-4D97-AF65-F5344CB8AC3E}">
        <p14:creationId xmlns:p14="http://schemas.microsoft.com/office/powerpoint/2010/main" val="2795746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an Export Subsidy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a:xfrm>
            <a:off x="457200" y="1556327"/>
            <a:ext cx="8229600" cy="2041896"/>
          </a:xfrm>
        </p:spPr>
        <p:txBody>
          <a:bodyPr/>
          <a:lstStyle/>
          <a:p>
            <a:r>
              <a:rPr lang="en-US" altLang="en-US" dirty="0">
                <a:ea typeface="ヒラギノ角ゴ Pro W3" pitchFamily="-84" charset="-128"/>
              </a:rPr>
              <a:t>When the home country imposes an export subsidy, the terms of trade decrease and the welfare of the country decreases to the benefit of the foreign country.</a:t>
            </a:r>
            <a:endParaRPr lang="en-US" dirty="0"/>
          </a:p>
        </p:txBody>
      </p:sp>
    </p:spTree>
    <p:extLst>
      <p:ext uri="{BB962C8B-B14F-4D97-AF65-F5344CB8AC3E}">
        <p14:creationId xmlns:p14="http://schemas.microsoft.com/office/powerpoint/2010/main" val="2397292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6.10 Effects of a Cloth Subsidy on the Terms of Trade</a:t>
            </a:r>
            <a:endParaRPr lang="en-US" sz="3200" dirty="0"/>
          </a:p>
        </p:txBody>
      </p:sp>
      <p:pic>
        <p:nvPicPr>
          <p:cNvPr id="6" name="Content Placeholder 5" descr="The graph shows relative price of cloth, P sub C over P sub F, versus the relative quantity of cloth, Q sub C + Q sub C asterisk, over, Q sub F + S sub F asterisk.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3144440" y="1564366"/>
            <a:ext cx="2855119" cy="2986316"/>
          </a:xfrm>
        </p:spPr>
      </p:pic>
      <p:sp>
        <p:nvSpPr>
          <p:cNvPr id="5" name="Content Placeholder 4"/>
          <p:cNvSpPr>
            <a:spLocks noGrp="1"/>
          </p:cNvSpPr>
          <p:nvPr>
            <p:ph sz="quarter" idx="14"/>
          </p:nvPr>
        </p:nvSpPr>
        <p:spPr>
          <a:xfrm>
            <a:off x="466727" y="4657724"/>
            <a:ext cx="8220074" cy="942975"/>
          </a:xfrm>
        </p:spPr>
        <p:txBody>
          <a:bodyPr/>
          <a:lstStyle/>
          <a:p>
            <a:pPr marL="432" indent="0">
              <a:buNone/>
            </a:pPr>
            <a:r>
              <a:rPr lang="en-US" sz="1800" dirty="0"/>
              <a:t>An export subsidy on cloth has the opposite effects on relative supply and demand than the tariff on food. Relative supply of cloth for the world rises, while relative demand for the world falls. Home’s terms of trade decline as the</a:t>
            </a:r>
          </a:p>
        </p:txBody>
      </p:sp>
      <p:sp>
        <p:nvSpPr>
          <p:cNvPr id="7" name="Content Placeholder 6"/>
          <p:cNvSpPr>
            <a:spLocks noGrp="1"/>
          </p:cNvSpPr>
          <p:nvPr>
            <p:ph sz="quarter" idx="15"/>
          </p:nvPr>
        </p:nvSpPr>
        <p:spPr>
          <a:xfrm>
            <a:off x="466726" y="5824062"/>
            <a:ext cx="3276599" cy="316388"/>
          </a:xfrm>
        </p:spPr>
        <p:txBody>
          <a:bodyPr tIns="0"/>
          <a:lstStyle/>
          <a:p>
            <a:pPr marL="432" indent="0">
              <a:buNone/>
            </a:pPr>
            <a:r>
              <a:rPr lang="en-US" sz="1800" dirty="0"/>
              <a:t>relative price of cloth falls from</a:t>
            </a:r>
          </a:p>
        </p:txBody>
      </p:sp>
      <p:graphicFrame>
        <p:nvGraphicFramePr>
          <p:cNvPr id="8" name="Object 7" descr="left parenthesis start fraction P sub C over P sub F end fraction right parenthesis to the first power to left parenthesis start fraction P sub C over P sub F end fraction right parenthesis squared"/>
          <p:cNvGraphicFramePr>
            <a:graphicFrameLocks noChangeAspect="1"/>
          </p:cNvGraphicFramePr>
          <p:nvPr>
            <p:extLst>
              <p:ext uri="{D42A27DB-BD31-4B8C-83A1-F6EECF244321}">
                <p14:modId xmlns:p14="http://schemas.microsoft.com/office/powerpoint/2010/main" val="1103574735"/>
              </p:ext>
            </p:extLst>
          </p:nvPr>
        </p:nvGraphicFramePr>
        <p:xfrm>
          <a:off x="3877964" y="5653937"/>
          <a:ext cx="1470622" cy="693052"/>
        </p:xfrm>
        <a:graphic>
          <a:graphicData uri="http://schemas.openxmlformats.org/presentationml/2006/ole">
            <mc:AlternateContent xmlns:mc="http://schemas.openxmlformats.org/markup-compatibility/2006">
              <mc:Choice xmlns:v="urn:schemas-microsoft-com:vml" Requires="v">
                <p:oleObj spid="_x0000_s10242" name="Equation" r:id="rId5" imgW="1104840" imgH="520560" progId="Equation.DSMT4">
                  <p:embed/>
                </p:oleObj>
              </mc:Choice>
              <mc:Fallback>
                <p:oleObj name="Equation" r:id="rId5" imgW="1104840" imgH="520560" progId="Equation.DSMT4">
                  <p:embed/>
                  <p:pic>
                    <p:nvPicPr>
                      <p:cNvPr id="0" name=""/>
                      <p:cNvPicPr/>
                      <p:nvPr/>
                    </p:nvPicPr>
                    <p:blipFill>
                      <a:blip r:embed="rId6"/>
                      <a:stretch>
                        <a:fillRect/>
                      </a:stretch>
                    </p:blipFill>
                    <p:spPr>
                      <a:xfrm>
                        <a:off x="3877964" y="5653937"/>
                        <a:ext cx="1470622" cy="693052"/>
                      </a:xfrm>
                      <a:prstGeom prst="rect">
                        <a:avLst/>
                      </a:prstGeom>
                    </p:spPr>
                  </p:pic>
                </p:oleObj>
              </mc:Fallback>
            </mc:AlternateContent>
          </a:graphicData>
        </a:graphic>
      </p:graphicFrame>
    </p:spTree>
    <p:extLst>
      <p:ext uri="{BB962C8B-B14F-4D97-AF65-F5344CB8AC3E}">
        <p14:creationId xmlns:p14="http://schemas.microsoft.com/office/powerpoint/2010/main" val="33452091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(1 of 4)</a:t>
            </a:r>
            <a:endParaRPr lang="en-US" dirty="0"/>
          </a:p>
        </p:txBody>
      </p:sp>
      <p:sp>
        <p:nvSpPr>
          <p:cNvPr id="6" name="Content Placeholder 5"/>
          <p:cNvSpPr>
            <a:spLocks noGrp="1"/>
          </p:cNvSpPr>
          <p:nvPr>
            <p:ph sz="quarter" idx="13"/>
          </p:nvPr>
        </p:nvSpPr>
        <p:spPr>
          <a:xfrm>
            <a:off x="457200" y="1556327"/>
            <a:ext cx="8229600" cy="2706915"/>
          </a:xfrm>
        </p:spPr>
        <p:txBody>
          <a:bodyPr/>
          <a:lstStyle/>
          <a:p>
            <a:r>
              <a:rPr lang="en-US" altLang="en-US" dirty="0">
                <a:ea typeface="ヒラギノ角ゴ Pro W3" pitchFamily="-84" charset="-128"/>
              </a:rPr>
              <a:t>The standard trade model predicts that</a:t>
            </a:r>
          </a:p>
          <a:p>
            <a:pPr lvl="1">
              <a:spcBef>
                <a:spcPct val="40000"/>
              </a:spcBef>
            </a:pPr>
            <a:r>
              <a:rPr lang="en-US" altLang="en-US" dirty="0">
                <a:ea typeface="ヒラギノ角ゴ Pro W3" pitchFamily="-84" charset="-128"/>
              </a:rPr>
              <a:t>an import tariff by the home country can increase domestic welfare at the expense of the foreign country. </a:t>
            </a:r>
          </a:p>
          <a:p>
            <a:pPr lvl="1">
              <a:spcBef>
                <a:spcPct val="40000"/>
              </a:spcBef>
            </a:pPr>
            <a:r>
              <a:rPr lang="en-US" altLang="en-US" dirty="0">
                <a:ea typeface="ヒラギノ角ゴ Pro W3" pitchFamily="-84" charset="-128"/>
              </a:rPr>
              <a:t>an export subsidy by the home country reduces domestic welfare to the benefit of the foreign country.</a:t>
            </a:r>
            <a:endParaRPr lang="en-US" dirty="0"/>
          </a:p>
        </p:txBody>
      </p:sp>
    </p:spTree>
    <p:extLst>
      <p:ext uri="{BB962C8B-B14F-4D97-AF65-F5344CB8AC3E}">
        <p14:creationId xmlns:p14="http://schemas.microsoft.com/office/powerpoint/2010/main" val="26672145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(2 of 4)</a:t>
            </a:r>
            <a:endParaRPr lang="en-US" dirty="0"/>
          </a:p>
        </p:txBody>
      </p:sp>
      <p:sp>
        <p:nvSpPr>
          <p:cNvPr id="6" name="Content Placeholder 5"/>
          <p:cNvSpPr>
            <a:spLocks noGrp="1"/>
          </p:cNvSpPr>
          <p:nvPr>
            <p:ph sz="quarter" idx="13"/>
          </p:nvPr>
        </p:nvSpPr>
        <p:spPr>
          <a:xfrm>
            <a:off x="457200" y="1556326"/>
            <a:ext cx="8229600" cy="4788911"/>
          </a:xfrm>
        </p:spPr>
        <p:txBody>
          <a:bodyPr/>
          <a:lstStyle/>
          <a:p>
            <a:r>
              <a:rPr lang="en-US" altLang="en-US" sz="2200" dirty="0">
                <a:ea typeface="ヒラギノ角ゴ Pro W3" pitchFamily="-84" charset="-128"/>
              </a:rPr>
              <a:t>Additional effects of tariffs and subsidies that can occur in a world with many countries and many goods:</a:t>
            </a:r>
          </a:p>
          <a:p>
            <a:pPr lvl="1"/>
            <a:r>
              <a:rPr lang="en-US" altLang="en-US" sz="2200" dirty="0">
                <a:ea typeface="ヒラギノ角ゴ Pro W3" pitchFamily="-84" charset="-128"/>
              </a:rPr>
              <a:t>A foreign country may subsidize the export of a good that the United States also exports, which will reduce the price for the United States in world markets and decrease its terms of trade.</a:t>
            </a:r>
          </a:p>
          <a:p>
            <a:pPr lvl="2"/>
            <a:r>
              <a:rPr lang="en-US" altLang="en-US" sz="2200" dirty="0">
                <a:ea typeface="ヒラギノ角ゴ Pro W3" pitchFamily="-84" charset="-128"/>
              </a:rPr>
              <a:t>The E</a:t>
            </a:r>
            <a:r>
              <a:rPr lang="en-US" altLang="en-US" sz="100" dirty="0">
                <a:ea typeface="ヒラギノ角ゴ Pro W3" pitchFamily="-84" charset="-128"/>
              </a:rPr>
              <a:t> </a:t>
            </a:r>
            <a:r>
              <a:rPr lang="en-US" altLang="en-US" sz="2200" dirty="0">
                <a:ea typeface="ヒラギノ角ゴ Pro W3" pitchFamily="-84" charset="-128"/>
              </a:rPr>
              <a:t>U subsidizes agricultural exports, which reduce the price that American farmers receive for their goods in world markets. </a:t>
            </a:r>
          </a:p>
          <a:p>
            <a:pPr lvl="1"/>
            <a:r>
              <a:rPr lang="en-US" altLang="en-US" sz="2200" dirty="0">
                <a:ea typeface="ヒラギノ角ゴ Pro W3" pitchFamily="-84" charset="-128"/>
              </a:rPr>
              <a:t>A foreign country may put a tariff on an imported good that the United States also imports, which will reduce the price for the United States in world markets and increase its terms of trade.</a:t>
            </a:r>
            <a:endParaRPr lang="en-US" sz="2200" dirty="0"/>
          </a:p>
        </p:txBody>
      </p:sp>
    </p:spTree>
    <p:extLst>
      <p:ext uri="{BB962C8B-B14F-4D97-AF65-F5344CB8AC3E}">
        <p14:creationId xmlns:p14="http://schemas.microsoft.com/office/powerpoint/2010/main" val="26338156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(3 of 4)</a:t>
            </a:r>
            <a:endParaRPr lang="en-US" dirty="0"/>
          </a:p>
        </p:txBody>
      </p:sp>
      <p:sp>
        <p:nvSpPr>
          <p:cNvPr id="6" name="Content Placeholder 5"/>
          <p:cNvSpPr>
            <a:spLocks noGrp="1"/>
          </p:cNvSpPr>
          <p:nvPr>
            <p:ph sz="quarter" idx="13"/>
          </p:nvPr>
        </p:nvSpPr>
        <p:spPr>
          <a:xfrm>
            <a:off x="457200" y="1556326"/>
            <a:ext cx="8229600" cy="4788911"/>
          </a:xfrm>
        </p:spPr>
        <p:txBody>
          <a:bodyPr/>
          <a:lstStyle/>
          <a:p>
            <a:r>
              <a:rPr lang="en-US" altLang="en-US" sz="2200" dirty="0">
                <a:ea typeface="ヒラギノ角ゴ Pro W3" pitchFamily="-84" charset="-128"/>
              </a:rPr>
              <a:t>Export subsidies by foreign countries on goods that</a:t>
            </a:r>
          </a:p>
          <a:p>
            <a:pPr lvl="1"/>
            <a:r>
              <a:rPr lang="en-US" altLang="en-US" sz="2200" dirty="0">
                <a:ea typeface="ヒラギノ角ゴ Pro W3" pitchFamily="-84" charset="-128"/>
              </a:rPr>
              <a:t>the U.S. imports </a:t>
            </a:r>
            <a:r>
              <a:rPr lang="en-US" altLang="en-US" sz="2200" b="1" dirty="0">
                <a:ea typeface="ヒラギノ角ゴ Pro W3" pitchFamily="-84" charset="-128"/>
              </a:rPr>
              <a:t>reduce the world price of U.S. imports</a:t>
            </a:r>
            <a:r>
              <a:rPr lang="en-US" altLang="en-US" sz="2200" dirty="0">
                <a:ea typeface="ヒラギノ角ゴ Pro W3" pitchFamily="-84" charset="-128"/>
              </a:rPr>
              <a:t> and increase the terms of trade for the United States</a:t>
            </a:r>
          </a:p>
          <a:p>
            <a:pPr lvl="1"/>
            <a:r>
              <a:rPr lang="en-US" altLang="en-US" sz="2200" dirty="0">
                <a:ea typeface="ヒラギノ角ゴ Pro W3" pitchFamily="-84" charset="-128"/>
              </a:rPr>
              <a:t>the U.S. also exports </a:t>
            </a:r>
            <a:r>
              <a:rPr lang="en-US" altLang="en-US" sz="2200" b="1" dirty="0">
                <a:ea typeface="ヒラギノ角ゴ Pro W3" pitchFamily="-84" charset="-128"/>
              </a:rPr>
              <a:t>reduce the world price of U.S. exports</a:t>
            </a:r>
            <a:r>
              <a:rPr lang="en-US" altLang="en-US" sz="2200" dirty="0">
                <a:ea typeface="ヒラギノ角ゴ Pro W3" pitchFamily="-84" charset="-128"/>
              </a:rPr>
              <a:t> and decrease the terms of trade for the United States</a:t>
            </a:r>
          </a:p>
          <a:p>
            <a:r>
              <a:rPr lang="en-US" altLang="en-US" sz="2200" dirty="0">
                <a:ea typeface="ヒラギノ角ゴ Pro W3" pitchFamily="-84" charset="-128"/>
              </a:rPr>
              <a:t>Import tariffs by foreign countries on goods that</a:t>
            </a:r>
          </a:p>
          <a:p>
            <a:pPr lvl="1"/>
            <a:r>
              <a:rPr lang="en-US" altLang="en-US" sz="2200" dirty="0">
                <a:ea typeface="ヒラギノ角ゴ Pro W3" pitchFamily="-84" charset="-128"/>
              </a:rPr>
              <a:t>the U.S. exports </a:t>
            </a:r>
            <a:r>
              <a:rPr lang="en-US" altLang="en-US" sz="2200" b="1" dirty="0">
                <a:ea typeface="ヒラギノ角ゴ Pro W3" pitchFamily="-84" charset="-128"/>
              </a:rPr>
              <a:t>reduce the world price of U.S. exports</a:t>
            </a:r>
            <a:r>
              <a:rPr lang="en-US" altLang="en-US" sz="2200" dirty="0">
                <a:ea typeface="ヒラギノ角ゴ Pro W3" pitchFamily="-84" charset="-128"/>
              </a:rPr>
              <a:t> and decrease the terms of trade for the United States</a:t>
            </a:r>
          </a:p>
          <a:p>
            <a:pPr lvl="1"/>
            <a:r>
              <a:rPr lang="en-US" altLang="en-US" sz="2200" dirty="0">
                <a:ea typeface="ヒラギノ角ゴ Pro W3" pitchFamily="-84" charset="-128"/>
              </a:rPr>
              <a:t>the U.S. also imports </a:t>
            </a:r>
            <a:r>
              <a:rPr lang="en-US" altLang="en-US" sz="2200" b="1" dirty="0">
                <a:ea typeface="ヒラギノ角ゴ Pro W3" pitchFamily="-84" charset="-128"/>
              </a:rPr>
              <a:t>reduce the world price of U.S. imports</a:t>
            </a:r>
            <a:r>
              <a:rPr lang="en-US" altLang="en-US" sz="2200" dirty="0">
                <a:ea typeface="ヒラギノ角ゴ Pro W3" pitchFamily="-84" charset="-128"/>
              </a:rPr>
              <a:t> and increase the terms of trade for the United States.</a:t>
            </a:r>
            <a:endParaRPr lang="en-US" sz="2200" dirty="0"/>
          </a:p>
        </p:txBody>
      </p:sp>
    </p:spTree>
    <p:extLst>
      <p:ext uri="{BB962C8B-B14F-4D97-AF65-F5344CB8AC3E}">
        <p14:creationId xmlns:p14="http://schemas.microsoft.com/office/powerpoint/2010/main" val="11816254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(4 of 4)</a:t>
            </a:r>
            <a:endParaRPr lang="en-US" dirty="0"/>
          </a:p>
        </p:txBody>
      </p:sp>
      <p:sp>
        <p:nvSpPr>
          <p:cNvPr id="6" name="Content Placeholder 5"/>
          <p:cNvSpPr>
            <a:spLocks noGrp="1"/>
          </p:cNvSpPr>
          <p:nvPr>
            <p:ph sz="quarter" idx="13"/>
          </p:nvPr>
        </p:nvSpPr>
        <p:spPr>
          <a:xfrm>
            <a:off x="457200" y="1556327"/>
            <a:ext cx="8229600" cy="3241304"/>
          </a:xfrm>
        </p:spPr>
        <p:txBody>
          <a:bodyPr/>
          <a:lstStyle/>
          <a:p>
            <a:r>
              <a:rPr lang="en-US" altLang="en-US" dirty="0">
                <a:ea typeface="ヒラギノ角ゴ Pro W3" pitchFamily="-84" charset="-128"/>
              </a:rPr>
              <a:t>Export subsidies on a good </a:t>
            </a:r>
            <a:r>
              <a:rPr lang="en-US" altLang="en-US" b="1" dirty="0">
                <a:ea typeface="ヒラギノ角ゴ Pro W3" pitchFamily="-84" charset="-128"/>
              </a:rPr>
              <a:t>decrease the relative world price</a:t>
            </a:r>
            <a:r>
              <a:rPr lang="en-US" altLang="en-US" dirty="0">
                <a:ea typeface="ヒラギノ角ゴ Pro W3" pitchFamily="-84" charset="-128"/>
              </a:rPr>
              <a:t> of that good by increasing relative supply of that good and decreasing relative demand of that good.</a:t>
            </a:r>
          </a:p>
          <a:p>
            <a:r>
              <a:rPr lang="en-US" altLang="en-US" dirty="0">
                <a:ea typeface="ヒラギノ角ゴ Pro W3" pitchFamily="-84" charset="-128"/>
              </a:rPr>
              <a:t>Import tariffs on a good </a:t>
            </a:r>
            <a:r>
              <a:rPr lang="en-US" altLang="en-US" b="1" dirty="0">
                <a:ea typeface="ヒラギノ角ゴ Pro W3" pitchFamily="-84" charset="-128"/>
              </a:rPr>
              <a:t>decrease the relative world price </a:t>
            </a:r>
            <a:r>
              <a:rPr lang="en-US" altLang="en-US" dirty="0">
                <a:ea typeface="ヒラギノ角ゴ Pro W3" pitchFamily="-84" charset="-128"/>
              </a:rPr>
              <a:t>of that good (and increase the relative world price of other goods) by increasing the relative supply of that good and decreasing the relative demand of that good.</a:t>
            </a:r>
            <a:endParaRPr lang="en-US" dirty="0"/>
          </a:p>
        </p:txBody>
      </p:sp>
    </p:spTree>
    <p:extLst>
      <p:ext uri="{BB962C8B-B14F-4D97-AF65-F5344CB8AC3E}">
        <p14:creationId xmlns:p14="http://schemas.microsoft.com/office/powerpoint/2010/main" val="26117893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(1 of 5)</a:t>
            </a:r>
            <a:endParaRPr lang="en-US" dirty="0"/>
          </a:p>
        </p:txBody>
      </p:sp>
      <p:sp>
        <p:nvSpPr>
          <p:cNvPr id="3" name="Content Placeholder 2"/>
          <p:cNvSpPr>
            <a:spLocks noGrp="1"/>
          </p:cNvSpPr>
          <p:nvPr>
            <p:ph sz="quarter" idx="13"/>
          </p:nvPr>
        </p:nvSpPr>
        <p:spPr>
          <a:xfrm>
            <a:off x="457199" y="1556326"/>
            <a:ext cx="8283039" cy="4722553"/>
          </a:xfrm>
        </p:spPr>
        <p:txBody>
          <a:bodyPr/>
          <a:lstStyle/>
          <a:p>
            <a:r>
              <a:rPr lang="en-US" altLang="en-US" dirty="0">
                <a:ea typeface="ヒラギノ角ゴ Pro W3" pitchFamily="-84" charset="-128"/>
              </a:rPr>
              <a:t>The standard trade model can be modified to analyze international borrowing and lending.</a:t>
            </a:r>
          </a:p>
          <a:p>
            <a:pPr lvl="1"/>
            <a:r>
              <a:rPr lang="en-US" altLang="en-US" dirty="0">
                <a:ea typeface="ヒラギノ角ゴ Pro W3" pitchFamily="-84" charset="-128"/>
              </a:rPr>
              <a:t>Two goods are current and future consumption (same good at different times), rather than different goods at the same time.</a:t>
            </a:r>
          </a:p>
          <a:p>
            <a:r>
              <a:rPr lang="en-US" altLang="en-US" dirty="0">
                <a:ea typeface="ヒラギノ角ゴ Pro W3" pitchFamily="-84" charset="-128"/>
              </a:rPr>
              <a:t>Countries usually have different opportunities to invest to become able to produce more in the future.</a:t>
            </a:r>
          </a:p>
          <a:p>
            <a:r>
              <a:rPr lang="en-US" altLang="en-US" dirty="0">
                <a:ea typeface="ヒラギノ角ゴ Pro W3" pitchFamily="-84" charset="-128"/>
              </a:rPr>
              <a:t>A special kind of production possibility frontier, an </a:t>
            </a:r>
            <a:r>
              <a:rPr lang="en-US" altLang="en-US" b="1" dirty="0">
                <a:ea typeface="ヒラギノ角ゴ Pro W3" pitchFamily="-84" charset="-128"/>
              </a:rPr>
              <a:t>intertemporal production possibility frontier</a:t>
            </a:r>
            <a:r>
              <a:rPr lang="en-US" altLang="en-US" dirty="0">
                <a:ea typeface="ヒラギノ角ゴ Pro W3" pitchFamily="-84" charset="-128"/>
              </a:rPr>
              <a:t>, depicts different possible combinations of current output and future output.</a:t>
            </a:r>
            <a:endParaRPr lang="en-US" dirty="0"/>
          </a:p>
        </p:txBody>
      </p:sp>
    </p:spTree>
    <p:extLst>
      <p:ext uri="{BB962C8B-B14F-4D97-AF65-F5344CB8AC3E}">
        <p14:creationId xmlns:p14="http://schemas.microsoft.com/office/powerpoint/2010/main" val="2886233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6.11 The Intertemporal Production Possibility Frontier</a:t>
            </a:r>
            <a:endParaRPr lang="en-US" sz="3200" dirty="0"/>
          </a:p>
        </p:txBody>
      </p:sp>
      <p:pic>
        <p:nvPicPr>
          <p:cNvPr id="6" name="Content Placeholder 5" descr="A graph of an intertemporal production possibility frontier shows future consumption versus current consumption. The curve falls with increasing steepness"/>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806210" y="1562736"/>
            <a:ext cx="3531580" cy="3321366"/>
          </a:xfrm>
        </p:spPr>
      </p:pic>
      <p:sp>
        <p:nvSpPr>
          <p:cNvPr id="5" name="Content Placeholder 4"/>
          <p:cNvSpPr>
            <a:spLocks noGrp="1"/>
          </p:cNvSpPr>
          <p:nvPr>
            <p:ph sz="quarter" idx="14"/>
          </p:nvPr>
        </p:nvSpPr>
        <p:spPr>
          <a:xfrm>
            <a:off x="457200" y="5018610"/>
            <a:ext cx="8229600" cy="1307055"/>
          </a:xfrm>
        </p:spPr>
        <p:txBody>
          <a:bodyPr/>
          <a:lstStyle/>
          <a:p>
            <a:pPr marL="432" indent="0">
              <a:buNone/>
            </a:pPr>
            <a:r>
              <a:rPr lang="en-US" dirty="0"/>
              <a:t>A country can trade current consumption for future consumption in the same way that it can produce more of one good by producing less of another.</a:t>
            </a:r>
          </a:p>
        </p:txBody>
      </p:sp>
    </p:spTree>
    <p:extLst>
      <p:ext uri="{BB962C8B-B14F-4D97-AF65-F5344CB8AC3E}">
        <p14:creationId xmlns:p14="http://schemas.microsoft.com/office/powerpoint/2010/main" val="4123351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(2 of 5)</a:t>
            </a:r>
            <a:endParaRPr lang="en-US" dirty="0"/>
          </a:p>
        </p:txBody>
      </p:sp>
      <p:sp>
        <p:nvSpPr>
          <p:cNvPr id="3" name="Content Placeholder 2"/>
          <p:cNvSpPr>
            <a:spLocks noGrp="1"/>
          </p:cNvSpPr>
          <p:nvPr>
            <p:ph sz="quarter" idx="13"/>
          </p:nvPr>
        </p:nvSpPr>
        <p:spPr>
          <a:xfrm>
            <a:off x="457200" y="1556327"/>
            <a:ext cx="8229600" cy="2136899"/>
          </a:xfrm>
        </p:spPr>
        <p:txBody>
          <a:bodyPr/>
          <a:lstStyle/>
          <a:p>
            <a:r>
              <a:rPr lang="en-US" altLang="en-US" dirty="0">
                <a:ea typeface="ヒラギノ角ゴ Pro W3" pitchFamily="-84" charset="-128"/>
              </a:rPr>
              <a:t>Suppose that Home has production possibilities biased toward current output, while Foreign has production possibilities biased toward future output.</a:t>
            </a:r>
          </a:p>
          <a:p>
            <a:pPr lvl="1"/>
            <a:r>
              <a:rPr lang="en-US" altLang="en-US" dirty="0">
                <a:ea typeface="ヒラギノ角ゴ Pro W3" pitchFamily="-84" charset="-128"/>
              </a:rPr>
              <a:t>Foreign has better opportunities to invest now to generate more output in the future.</a:t>
            </a:r>
            <a:endParaRPr lang="en-US" dirty="0"/>
          </a:p>
        </p:txBody>
      </p:sp>
    </p:spTree>
    <p:extLst>
      <p:ext uri="{BB962C8B-B14F-4D97-AF65-F5344CB8AC3E}">
        <p14:creationId xmlns:p14="http://schemas.microsoft.com/office/powerpoint/2010/main" val="14397452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(3 of 5)</a:t>
            </a:r>
            <a:endParaRPr lang="en-US" dirty="0"/>
          </a:p>
        </p:txBody>
      </p:sp>
      <p:sp>
        <p:nvSpPr>
          <p:cNvPr id="5" name="Content Placeholder 4">
            <a:extLst>
              <a:ext uri="{C183D7F6-B498-43B3-948B-1728B52AA6E4}">
                <adec:decorative xmlns:adec="http://schemas.microsoft.com/office/drawing/2017/decorative" xmlns="" val="1"/>
              </a:ext>
            </a:extLst>
          </p:cNvPr>
          <p:cNvSpPr>
            <a:spLocks noGrp="1"/>
          </p:cNvSpPr>
          <p:nvPr>
            <p:ph sz="quarter" idx="13"/>
          </p:nvPr>
        </p:nvSpPr>
        <p:spPr>
          <a:xfrm>
            <a:off x="457200" y="1552574"/>
            <a:ext cx="8229600" cy="1800225"/>
          </a:xfrm>
        </p:spPr>
        <p:txBody>
          <a:bodyPr/>
          <a:lstStyle/>
          <a:p>
            <a:r>
              <a:rPr lang="en-US" altLang="en-US" dirty="0">
                <a:ea typeface="ヒラギノ角ゴ Pro W3" pitchFamily="-84" charset="-128"/>
              </a:rPr>
              <a:t>If you borrow 1 unit of output, you must repay principal + interest = 1 + </a:t>
            </a:r>
            <a:r>
              <a:rPr lang="en-US" altLang="en-US" i="1" dirty="0">
                <a:ea typeface="ヒラギノ角ゴ Pro W3" pitchFamily="-84" charset="-128"/>
              </a:rPr>
              <a:t>r </a:t>
            </a:r>
            <a:r>
              <a:rPr lang="en-US" altLang="en-US" dirty="0">
                <a:ea typeface="ヒラギノ角ゴ Pro W3" pitchFamily="-84" charset="-128"/>
              </a:rPr>
              <a:t>in the future, where </a:t>
            </a:r>
            <a:r>
              <a:rPr lang="en-US" altLang="en-US" i="1" dirty="0">
                <a:ea typeface="ヒラギノ角ゴ Pro W3" pitchFamily="-84" charset="-128"/>
              </a:rPr>
              <a:t>r</a:t>
            </a:r>
            <a:r>
              <a:rPr lang="en-US" altLang="en-US" dirty="0">
                <a:ea typeface="ヒラギノ角ゴ Pro W3" pitchFamily="-84" charset="-128"/>
              </a:rPr>
              <a:t> is the </a:t>
            </a:r>
            <a:r>
              <a:rPr lang="en-US" altLang="en-US" b="1" dirty="0">
                <a:ea typeface="ヒラギノ角ゴ Pro W3" pitchFamily="-84" charset="-128"/>
              </a:rPr>
              <a:t>real interest rate</a:t>
            </a:r>
            <a:r>
              <a:rPr lang="en-US" altLang="en-US" dirty="0">
                <a:ea typeface="ヒラギノ角ゴ Pro W3" pitchFamily="-84" charset="-128"/>
              </a:rPr>
              <a:t>.</a:t>
            </a:r>
          </a:p>
          <a:p>
            <a:r>
              <a:rPr lang="en-US" altLang="en-US" dirty="0">
                <a:ea typeface="ヒラギノ角ゴ Pro W3" pitchFamily="-84" charset="-128"/>
              </a:rPr>
              <a:t>The price of future consumption relative to current</a:t>
            </a:r>
            <a:endParaRPr lang="en-US" dirty="0"/>
          </a:p>
        </p:txBody>
      </p:sp>
      <p:sp>
        <p:nvSpPr>
          <p:cNvPr id="6" name="Content Placeholder 5">
            <a:extLst>
              <a:ext uri="{C183D7F6-B498-43B3-948B-1728B52AA6E4}">
                <adec:decorative xmlns:adec="http://schemas.microsoft.com/office/drawing/2017/decorative" xmlns="" val="1"/>
              </a:ext>
            </a:extLst>
          </p:cNvPr>
          <p:cNvSpPr>
            <a:spLocks noGrp="1"/>
          </p:cNvSpPr>
          <p:nvPr>
            <p:ph sz="quarter" idx="14"/>
          </p:nvPr>
        </p:nvSpPr>
        <p:spPr>
          <a:xfrm>
            <a:off x="457201" y="3507109"/>
            <a:ext cx="2542308" cy="435500"/>
          </a:xfrm>
        </p:spPr>
        <p:txBody>
          <a:bodyPr tIns="0"/>
          <a:lstStyle/>
          <a:p>
            <a:pPr marL="255600" indent="0">
              <a:buNone/>
            </a:pPr>
            <a:r>
              <a:rPr lang="en-US" altLang="en-US" dirty="0">
                <a:ea typeface="ヒラギノ角ゴ Pro W3" pitchFamily="-84" charset="-128"/>
              </a:rPr>
              <a:t>consumption is</a:t>
            </a:r>
            <a:endParaRPr lang="en-US" dirty="0"/>
          </a:p>
        </p:txBody>
      </p:sp>
      <p:graphicFrame>
        <p:nvGraphicFramePr>
          <p:cNvPr id="19" name="Object 18" descr="Start fraction 1 over left parenthesis 1 + r right parenthesis end fraction. "/>
          <p:cNvGraphicFramePr>
            <a:graphicFrameLocks noChangeAspect="1"/>
          </p:cNvGraphicFramePr>
          <p:nvPr>
            <p:extLst>
              <p:ext uri="{D42A27DB-BD31-4B8C-83A1-F6EECF244321}">
                <p14:modId xmlns:p14="http://schemas.microsoft.com/office/powerpoint/2010/main" val="2348138981"/>
              </p:ext>
            </p:extLst>
          </p:nvPr>
        </p:nvGraphicFramePr>
        <p:xfrm>
          <a:off x="3042486" y="3400299"/>
          <a:ext cx="736838" cy="674964"/>
        </p:xfrm>
        <a:graphic>
          <a:graphicData uri="http://schemas.openxmlformats.org/presentationml/2006/ole">
            <mc:AlternateContent xmlns:mc="http://schemas.openxmlformats.org/markup-compatibility/2006">
              <mc:Choice xmlns:v="urn:schemas-microsoft-com:vml" Requires="v">
                <p:oleObj spid="_x0000_s11266" name="Equation" r:id="rId3" imgW="457200" imgH="419040" progId="Equation.DSMT4">
                  <p:embed/>
                </p:oleObj>
              </mc:Choice>
              <mc:Fallback>
                <p:oleObj name="Equation" r:id="rId3" imgW="457200" imgH="419040" progId="Equation.DSMT4">
                  <p:embed/>
                  <p:pic>
                    <p:nvPicPr>
                      <p:cNvPr id="0" name=""/>
                      <p:cNvPicPr/>
                      <p:nvPr/>
                    </p:nvPicPr>
                    <p:blipFill>
                      <a:blip r:embed="rId4"/>
                      <a:stretch>
                        <a:fillRect/>
                      </a:stretch>
                    </p:blipFill>
                    <p:spPr>
                      <a:xfrm>
                        <a:off x="3042486" y="3400299"/>
                        <a:ext cx="736838" cy="674964"/>
                      </a:xfrm>
                      <a:prstGeom prst="rect">
                        <a:avLst/>
                      </a:prstGeom>
                    </p:spPr>
                  </p:pic>
                </p:oleObj>
              </mc:Fallback>
            </mc:AlternateContent>
          </a:graphicData>
        </a:graphic>
      </p:graphicFrame>
      <p:sp>
        <p:nvSpPr>
          <p:cNvPr id="7" name="Content Placeholder 6"/>
          <p:cNvSpPr>
            <a:spLocks noGrp="1"/>
          </p:cNvSpPr>
          <p:nvPr>
            <p:ph sz="quarter" idx="15"/>
          </p:nvPr>
        </p:nvSpPr>
        <p:spPr>
          <a:xfrm>
            <a:off x="457200" y="4148733"/>
            <a:ext cx="8229600" cy="791404"/>
          </a:xfrm>
        </p:spPr>
        <p:txBody>
          <a:bodyPr tIns="0"/>
          <a:lstStyle/>
          <a:p>
            <a:pPr lvl="1"/>
            <a:r>
              <a:rPr lang="en-US" altLang="en-US" dirty="0">
                <a:ea typeface="ヒラギノ角ゴ Pro W3" pitchFamily="-84" charset="-128"/>
              </a:rPr>
              <a:t>1 unit of current consumption is worth 1 +</a:t>
            </a:r>
            <a:r>
              <a:rPr lang="en-US" altLang="en-US" i="1" dirty="0">
                <a:ea typeface="ヒラギノ角ゴ Pro W3" pitchFamily="-84" charset="-128"/>
              </a:rPr>
              <a:t> r </a:t>
            </a:r>
            <a:r>
              <a:rPr lang="en-US" altLang="en-US" dirty="0">
                <a:ea typeface="ヒラギノ角ゴ Pro W3" pitchFamily="-84" charset="-128"/>
              </a:rPr>
              <a:t>of future consumption,</a:t>
            </a:r>
          </a:p>
        </p:txBody>
      </p:sp>
      <p:sp>
        <p:nvSpPr>
          <p:cNvPr id="8" name="Content Placeholder 7">
            <a:extLst>
              <a:ext uri="{C183D7F6-B498-43B3-948B-1728B52AA6E4}">
                <adec:decorative xmlns:adec="http://schemas.microsoft.com/office/drawing/2017/decorative" xmlns="" val="1"/>
              </a:ext>
            </a:extLst>
          </p:cNvPr>
          <p:cNvSpPr>
            <a:spLocks noGrp="1"/>
          </p:cNvSpPr>
          <p:nvPr>
            <p:ph sz="quarter" idx="16"/>
          </p:nvPr>
        </p:nvSpPr>
        <p:spPr>
          <a:xfrm>
            <a:off x="457201" y="5087951"/>
            <a:ext cx="6715496" cy="422199"/>
          </a:xfrm>
        </p:spPr>
        <p:txBody>
          <a:bodyPr tIns="0"/>
          <a:lstStyle/>
          <a:p>
            <a:pPr lvl="2"/>
            <a:r>
              <a:rPr lang="en-US" altLang="en-US" dirty="0">
                <a:ea typeface="ヒラギノ角ゴ Pro W3" pitchFamily="-84" charset="-128"/>
              </a:rPr>
              <a:t>so 1 unit of future consumption is worth</a:t>
            </a:r>
            <a:endParaRPr lang="en-US" dirty="0"/>
          </a:p>
        </p:txBody>
      </p:sp>
      <p:graphicFrame>
        <p:nvGraphicFramePr>
          <p:cNvPr id="20" name="Object 19" descr="Start fraction 1 over left parenthesis 1 + r right parenthesis end fraction"/>
          <p:cNvGraphicFramePr>
            <a:graphicFrameLocks noChangeAspect="1"/>
          </p:cNvGraphicFramePr>
          <p:nvPr>
            <p:extLst>
              <p:ext uri="{D42A27DB-BD31-4B8C-83A1-F6EECF244321}">
                <p14:modId xmlns:p14="http://schemas.microsoft.com/office/powerpoint/2010/main" val="3411665492"/>
              </p:ext>
            </p:extLst>
          </p:nvPr>
        </p:nvGraphicFramePr>
        <p:xfrm>
          <a:off x="7227888" y="4994463"/>
          <a:ext cx="674687" cy="676275"/>
        </p:xfrm>
        <a:graphic>
          <a:graphicData uri="http://schemas.openxmlformats.org/presentationml/2006/ole">
            <mc:AlternateContent xmlns:mc="http://schemas.openxmlformats.org/markup-compatibility/2006">
              <mc:Choice xmlns:v="urn:schemas-microsoft-com:vml" Requires="v">
                <p:oleObj spid="_x0000_s11267" name="Equation" r:id="rId5" imgW="419040" imgH="419040" progId="Equation.DSMT4">
                  <p:embed/>
                </p:oleObj>
              </mc:Choice>
              <mc:Fallback>
                <p:oleObj name="Equation" r:id="rId5" imgW="419040" imgH="419040" progId="Equation.DSMT4">
                  <p:embed/>
                  <p:pic>
                    <p:nvPicPr>
                      <p:cNvPr id="19" name="Object 18"/>
                      <p:cNvPicPr/>
                      <p:nvPr/>
                    </p:nvPicPr>
                    <p:blipFill>
                      <a:blip r:embed="rId6"/>
                      <a:stretch>
                        <a:fillRect/>
                      </a:stretch>
                    </p:blipFill>
                    <p:spPr>
                      <a:xfrm>
                        <a:off x="7227888" y="4994463"/>
                        <a:ext cx="674687" cy="676275"/>
                      </a:xfrm>
                      <a:prstGeom prst="rect">
                        <a:avLst/>
                      </a:prstGeom>
                    </p:spPr>
                  </p:pic>
                </p:oleObj>
              </mc:Fallback>
            </mc:AlternateContent>
          </a:graphicData>
        </a:graphic>
      </p:graphicFrame>
      <p:sp>
        <p:nvSpPr>
          <p:cNvPr id="9" name="Content Placeholder 8">
            <a:extLst>
              <a:ext uri="{C183D7F6-B498-43B3-948B-1728B52AA6E4}">
                <adec:decorative xmlns:adec="http://schemas.microsoft.com/office/drawing/2017/decorative" xmlns="" val="1"/>
              </a:ext>
            </a:extLst>
          </p:cNvPr>
          <p:cNvSpPr>
            <a:spLocks noGrp="1"/>
          </p:cNvSpPr>
          <p:nvPr>
            <p:ph sz="quarter" idx="17"/>
          </p:nvPr>
        </p:nvSpPr>
        <p:spPr>
          <a:xfrm>
            <a:off x="457200" y="5569526"/>
            <a:ext cx="5421086" cy="427513"/>
          </a:xfrm>
        </p:spPr>
        <p:txBody>
          <a:bodyPr tIns="0"/>
          <a:lstStyle/>
          <a:p>
            <a:pPr marL="1144800" lvl="2" indent="0">
              <a:buNone/>
            </a:pPr>
            <a:r>
              <a:rPr lang="en-US" altLang="en-US" dirty="0">
                <a:ea typeface="ヒラギノ角ゴ Pro W3" pitchFamily="-84" charset="-128"/>
              </a:rPr>
              <a:t>units of current consumption.</a:t>
            </a:r>
            <a:endParaRPr lang="en-US" dirty="0"/>
          </a:p>
        </p:txBody>
      </p:sp>
    </p:spTree>
    <p:extLst>
      <p:ext uri="{BB962C8B-B14F-4D97-AF65-F5344CB8AC3E}">
        <p14:creationId xmlns:p14="http://schemas.microsoft.com/office/powerpoint/2010/main" val="27952616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(4 of 5)</a:t>
            </a:r>
            <a:endParaRPr lang="en-US" dirty="0"/>
          </a:p>
        </p:txBody>
      </p:sp>
      <p:sp>
        <p:nvSpPr>
          <p:cNvPr id="17" name="Content Placeholder 16"/>
          <p:cNvSpPr>
            <a:spLocks noGrp="1"/>
          </p:cNvSpPr>
          <p:nvPr>
            <p:ph sz="quarter" idx="13"/>
          </p:nvPr>
        </p:nvSpPr>
        <p:spPr/>
        <p:txBody>
          <a:bodyPr/>
          <a:lstStyle/>
          <a:p>
            <a:r>
              <a:rPr lang="en-US" altLang="en-US" dirty="0"/>
              <a:t>Home exports current consumption and imports future consumption.</a:t>
            </a:r>
          </a:p>
          <a:p>
            <a:r>
              <a:rPr lang="en-US" altLang="en-US" dirty="0"/>
              <a:t>Home lends to Foreign by consuming less than it produces now. Home able to consume more than produces in the future when Foreign pays back the loan.</a:t>
            </a:r>
          </a:p>
          <a:p>
            <a:r>
              <a:rPr lang="en-US" altLang="en-US" dirty="0"/>
              <a:t>Foreign borrows to be able to consume more than produces now, and pays back the loan by consuming less than produces in the future.</a:t>
            </a:r>
            <a:endParaRPr lang="en-US" dirty="0"/>
          </a:p>
        </p:txBody>
      </p:sp>
    </p:spTree>
    <p:extLst>
      <p:ext uri="{BB962C8B-B14F-4D97-AF65-F5344CB8AC3E}">
        <p14:creationId xmlns:p14="http://schemas.microsoft.com/office/powerpoint/2010/main" val="23130039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(5 of 5)</a:t>
            </a:r>
            <a:endParaRPr lang="en-US" dirty="0"/>
          </a:p>
        </p:txBody>
      </p:sp>
      <p:sp>
        <p:nvSpPr>
          <p:cNvPr id="3" name="Content Placeholder 2"/>
          <p:cNvSpPr>
            <a:spLocks noGrp="1"/>
          </p:cNvSpPr>
          <p:nvPr>
            <p:ph sz="quarter" idx="13"/>
          </p:nvPr>
        </p:nvSpPr>
        <p:spPr/>
        <p:txBody>
          <a:bodyPr/>
          <a:lstStyle/>
          <a:p>
            <a:r>
              <a:rPr lang="en-US" altLang="en-US" dirty="0"/>
              <a:t>When international borrowing and lending are allowed, the world real interest rate is determined by the intersection of world relative demand and world relative supply.</a:t>
            </a:r>
          </a:p>
          <a:p>
            <a:pPr lvl="1"/>
            <a:r>
              <a:rPr lang="en-US" altLang="en-US" dirty="0"/>
              <a:t>The world real interest rate will be between the real interest rates that existed in the two country’s prior to intertemporal trade.</a:t>
            </a:r>
          </a:p>
          <a:p>
            <a:pPr lvl="1"/>
            <a:r>
              <a:rPr lang="en-US" altLang="en-US" dirty="0"/>
              <a:t>The real interest rate rises in the country that lends (home) and falls in the country that borrows (foreign) due to intertemporal trade.</a:t>
            </a:r>
            <a:endParaRPr lang="en-US" dirty="0"/>
          </a:p>
        </p:txBody>
      </p:sp>
    </p:spTree>
    <p:extLst>
      <p:ext uri="{BB962C8B-B14F-4D97-AF65-F5344CB8AC3E}">
        <p14:creationId xmlns:p14="http://schemas.microsoft.com/office/powerpoint/2010/main" val="36846189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6.12 Equilibrium Interest Rate with Borrowing and Lending</a:t>
            </a:r>
            <a:endParaRPr lang="en-US" sz="3200" dirty="0"/>
          </a:p>
        </p:txBody>
      </p:sp>
      <p:pic>
        <p:nvPicPr>
          <p:cNvPr id="6" name="Content Placeholder 5" descr="A graph plots relative price of future consumption, 1 over, 1 + r, versus future consumption over current consumption. 3 parallel rising R S curves intersect a falling R D curve. From left to right and highest to lowest, the R S curves are for home, world, and foreign. R S super world intersects R D at y = 1, over, 1 + r super 1."/>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709318" y="1555750"/>
            <a:ext cx="3725363" cy="3197225"/>
          </a:xfrm>
        </p:spPr>
      </p:pic>
      <p:sp>
        <p:nvSpPr>
          <p:cNvPr id="5" name="Content Placeholder 4"/>
          <p:cNvSpPr>
            <a:spLocks noGrp="1"/>
          </p:cNvSpPr>
          <p:nvPr>
            <p:ph sz="quarter" idx="14"/>
          </p:nvPr>
        </p:nvSpPr>
        <p:spPr>
          <a:xfrm>
            <a:off x="457200" y="4862608"/>
            <a:ext cx="8229600" cy="1466659"/>
          </a:xfrm>
        </p:spPr>
        <p:txBody>
          <a:bodyPr tIns="36000"/>
          <a:lstStyle/>
          <a:p>
            <a:pPr marL="432" indent="0">
              <a:buNone/>
            </a:pPr>
            <a:r>
              <a:rPr lang="en-US" sz="1800" dirty="0"/>
              <a:t>Home, Foreign, and world supply of future consumption relative to current consumption. Home and Foreign have the same relative demand for future consumption, which is also the relative demand for the world. The equilibrium interest rate is determined by the intersection of world relative supply and demand.</a:t>
            </a:r>
          </a:p>
        </p:txBody>
      </p:sp>
    </p:spTree>
    <p:extLst>
      <p:ext uri="{BB962C8B-B14F-4D97-AF65-F5344CB8AC3E}">
        <p14:creationId xmlns:p14="http://schemas.microsoft.com/office/powerpoint/2010/main" val="10243324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(1 of 3)</a:t>
            </a:r>
            <a:endParaRPr lang="en-US" dirty="0"/>
          </a:p>
        </p:txBody>
      </p:sp>
      <p:sp>
        <p:nvSpPr>
          <p:cNvPr id="5" name="Content Placeholder 4"/>
          <p:cNvSpPr>
            <a:spLocks noGrp="1"/>
          </p:cNvSpPr>
          <p:nvPr>
            <p:ph sz="quarter" idx="13"/>
          </p:nvPr>
        </p:nvSpPr>
        <p:spPr>
          <a:xfrm>
            <a:off x="457200" y="1556327"/>
            <a:ext cx="8069283" cy="4586896"/>
          </a:xfrm>
        </p:spPr>
        <p:txBody>
          <a:bodyPr/>
          <a:lstStyle/>
          <a:p>
            <a:pPr marL="432000" indent="-432000">
              <a:buFont typeface="Times" pitchFamily="-84" charset="0"/>
              <a:buAutoNum type="arabicPeriod"/>
            </a:pPr>
            <a:r>
              <a:rPr lang="en-US" altLang="en-US" dirty="0">
                <a:ea typeface="ヒラギノ角ゴ Pro W3" pitchFamily="-84" charset="-128"/>
              </a:rPr>
              <a:t>The </a:t>
            </a:r>
            <a:r>
              <a:rPr lang="en-US" altLang="en-US" b="1" dirty="0">
                <a:ea typeface="ヒラギノ角ゴ Pro W3" pitchFamily="-84" charset="-128"/>
              </a:rPr>
              <a:t>terms of trade </a:t>
            </a:r>
            <a:r>
              <a:rPr lang="en-US" altLang="en-US" dirty="0">
                <a:ea typeface="ヒラギノ角ゴ Pro W3" pitchFamily="-84" charset="-128"/>
              </a:rPr>
              <a:t>refers to the price of exports relative to the price of imports.</a:t>
            </a:r>
          </a:p>
          <a:p>
            <a:pPr marL="432000" indent="-432000">
              <a:buFont typeface="Times" pitchFamily="-84" charset="0"/>
              <a:buAutoNum type="arabicPeriod"/>
            </a:pPr>
            <a:r>
              <a:rPr lang="en-US" altLang="en-US" dirty="0">
                <a:ea typeface="ヒラギノ角ゴ Pro W3" pitchFamily="-84" charset="-128"/>
              </a:rPr>
              <a:t>Export-biased growth reduces a country</a:t>
            </a:r>
            <a:r>
              <a:rPr lang="en-US" altLang="ja-JP" dirty="0">
                <a:ea typeface="ヒラギノ角ゴ Pro W3" pitchFamily="-84" charset="-128"/>
              </a:rPr>
              <a:t>’s terms of trade, reducing its welfare and increasing the welfare of foreign countries.</a:t>
            </a:r>
          </a:p>
          <a:p>
            <a:pPr marL="432000" indent="-432000">
              <a:buFont typeface="Times" pitchFamily="-84" charset="0"/>
              <a:buAutoNum type="arabicPeriod"/>
            </a:pPr>
            <a:r>
              <a:rPr lang="en-US" altLang="en-US" dirty="0">
                <a:ea typeface="ヒラギノ角ゴ Pro W3" pitchFamily="-84" charset="-128"/>
              </a:rPr>
              <a:t>Import-biased growth increases a country</a:t>
            </a:r>
            <a:r>
              <a:rPr lang="en-US" altLang="ja-JP" dirty="0">
                <a:ea typeface="ヒラギノ角ゴ Pro W3" pitchFamily="-84" charset="-128"/>
              </a:rPr>
              <a:t>’s terms of trade, increasing its welfare and decreasing the welfare of foreign countries.</a:t>
            </a:r>
            <a:endParaRPr lang="en-US" dirty="0"/>
          </a:p>
        </p:txBody>
      </p:sp>
    </p:spTree>
    <p:extLst>
      <p:ext uri="{BB962C8B-B14F-4D97-AF65-F5344CB8AC3E}">
        <p14:creationId xmlns:p14="http://schemas.microsoft.com/office/powerpoint/2010/main" val="36279110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(2 of 3)</a:t>
            </a:r>
            <a:endParaRPr lang="en-US" dirty="0"/>
          </a:p>
        </p:txBody>
      </p:sp>
      <p:sp>
        <p:nvSpPr>
          <p:cNvPr id="5" name="Content Placeholder 4"/>
          <p:cNvSpPr>
            <a:spLocks noGrp="1"/>
          </p:cNvSpPr>
          <p:nvPr>
            <p:ph sz="quarter" idx="13"/>
          </p:nvPr>
        </p:nvSpPr>
        <p:spPr/>
        <p:txBody>
          <a:bodyPr/>
          <a:lstStyle/>
          <a:p>
            <a:pPr marL="432000" indent="-432000">
              <a:buFont typeface="Times" pitchFamily="-84" charset="0"/>
              <a:buAutoNum type="arabicPeriod" startAt="4"/>
            </a:pPr>
            <a:r>
              <a:rPr lang="en-US" altLang="en-US" dirty="0">
                <a:ea typeface="ヒラギノ角ゴ Pro W3" pitchFamily="-84" charset="-128"/>
              </a:rPr>
              <a:t>When a country imposes an import tariff, its terms of trade increase and its welfare may increase.</a:t>
            </a:r>
          </a:p>
          <a:p>
            <a:pPr marL="432000" indent="-432000">
              <a:buFont typeface="Times" pitchFamily="-84" charset="0"/>
              <a:buAutoNum type="arabicPeriod" startAt="4"/>
            </a:pPr>
            <a:r>
              <a:rPr lang="en-US" altLang="en-US" dirty="0">
                <a:ea typeface="ヒラギノ角ゴ Pro W3" pitchFamily="-84" charset="-128"/>
              </a:rPr>
              <a:t>When a country imposes an export subsidy, its terms of trade decrease and its welfare decreases.</a:t>
            </a:r>
            <a:endParaRPr lang="en-US" dirty="0"/>
          </a:p>
        </p:txBody>
      </p:sp>
    </p:spTree>
    <p:extLst>
      <p:ext uri="{BB962C8B-B14F-4D97-AF65-F5344CB8AC3E}">
        <p14:creationId xmlns:p14="http://schemas.microsoft.com/office/powerpoint/2010/main" val="26514754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(3 of 3)</a:t>
            </a:r>
            <a:endParaRPr lang="en-US" dirty="0"/>
          </a:p>
        </p:txBody>
      </p:sp>
      <p:sp>
        <p:nvSpPr>
          <p:cNvPr id="5" name="Content Placeholder 4"/>
          <p:cNvSpPr>
            <a:spLocks noGrp="1"/>
          </p:cNvSpPr>
          <p:nvPr>
            <p:ph sz="quarter" idx="13"/>
          </p:nvPr>
        </p:nvSpPr>
        <p:spPr>
          <a:xfrm>
            <a:off x="457200" y="1593308"/>
            <a:ext cx="8229600" cy="1613030"/>
          </a:xfrm>
        </p:spPr>
        <p:txBody>
          <a:bodyPr/>
          <a:lstStyle/>
          <a:p>
            <a:pPr marL="432000" indent="-432000">
              <a:buFont typeface="Times" pitchFamily="-84" charset="0"/>
              <a:buAutoNum type="arabicPeriod" startAt="6"/>
            </a:pPr>
            <a:r>
              <a:rPr lang="en-US" altLang="en-US" sz="2400" dirty="0">
                <a:ea typeface="ヒラギノ角ゴ Pro W3" pitchFamily="-84" charset="-128"/>
              </a:rPr>
              <a:t>International borrowing and lending is intertemporal trade, where countries with profitable investment opportunities borrow funds today and repay lenders in the future, benefiting both borrowers and lenders.</a:t>
            </a:r>
          </a:p>
        </p:txBody>
      </p:sp>
      <p:sp>
        <p:nvSpPr>
          <p:cNvPr id="7" name="Content Placeholder 6"/>
          <p:cNvSpPr>
            <a:spLocks noGrp="1"/>
          </p:cNvSpPr>
          <p:nvPr>
            <p:ph sz="quarter" idx="14"/>
          </p:nvPr>
        </p:nvSpPr>
        <p:spPr>
          <a:xfrm>
            <a:off x="457200" y="3270876"/>
            <a:ext cx="7962405" cy="422352"/>
          </a:xfrm>
        </p:spPr>
        <p:txBody>
          <a:bodyPr tIns="0"/>
          <a:lstStyle/>
          <a:p>
            <a:pPr marL="432000" indent="-432000">
              <a:buFont typeface="+mj-lt"/>
              <a:buAutoNum type="arabicPeriod" startAt="7"/>
            </a:pPr>
            <a:r>
              <a:rPr lang="en-US" altLang="en-US" sz="2400" dirty="0">
                <a:ea typeface="ヒラギノ角ゴ Pro W3" pitchFamily="-84" charset="-128"/>
              </a:rPr>
              <a:t>The price of future consumption relative to the price of</a:t>
            </a:r>
            <a:endParaRPr lang="en-US" sz="2400" dirty="0"/>
          </a:p>
        </p:txBody>
      </p:sp>
      <p:sp>
        <p:nvSpPr>
          <p:cNvPr id="8" name="Content Placeholder 7"/>
          <p:cNvSpPr>
            <a:spLocks noGrp="1"/>
          </p:cNvSpPr>
          <p:nvPr>
            <p:ph sz="quarter" idx="15"/>
          </p:nvPr>
        </p:nvSpPr>
        <p:spPr>
          <a:xfrm>
            <a:off x="457200" y="3757767"/>
            <a:ext cx="3519494" cy="398598"/>
          </a:xfrm>
        </p:spPr>
        <p:txBody>
          <a:bodyPr tIns="0"/>
          <a:lstStyle/>
          <a:p>
            <a:pPr marL="432000" indent="0">
              <a:buNone/>
            </a:pPr>
            <a:r>
              <a:rPr lang="en-US" altLang="en-US" sz="2400" dirty="0">
                <a:ea typeface="ヒラギノ角ゴ Pro W3" pitchFamily="-84" charset="-128"/>
              </a:rPr>
              <a:t>current consumption,</a:t>
            </a:r>
            <a:endParaRPr lang="en-US" sz="2400" dirty="0"/>
          </a:p>
        </p:txBody>
      </p:sp>
      <p:graphicFrame>
        <p:nvGraphicFramePr>
          <p:cNvPr id="30" name="Object 29" descr="Start fraction 1 over left parenthesis 1 + r right parenthesis end fraction,"/>
          <p:cNvGraphicFramePr>
            <a:graphicFrameLocks noChangeAspect="1"/>
          </p:cNvGraphicFramePr>
          <p:nvPr>
            <p:extLst>
              <p:ext uri="{D42A27DB-BD31-4B8C-83A1-F6EECF244321}">
                <p14:modId xmlns:p14="http://schemas.microsoft.com/office/powerpoint/2010/main" val="604957983"/>
              </p:ext>
            </p:extLst>
          </p:nvPr>
        </p:nvGraphicFramePr>
        <p:xfrm>
          <a:off x="4048763" y="3760788"/>
          <a:ext cx="1112837" cy="395287"/>
        </p:xfrm>
        <a:graphic>
          <a:graphicData uri="http://schemas.openxmlformats.org/presentationml/2006/ole">
            <mc:AlternateContent xmlns:mc="http://schemas.openxmlformats.org/markup-compatibility/2006">
              <mc:Choice xmlns:v="urn:schemas-microsoft-com:vml" Requires="v">
                <p:oleObj spid="_x0000_s12290" name="Equation" r:id="rId3" imgW="571320" imgH="203040" progId="Equation.DSMT4">
                  <p:embed/>
                </p:oleObj>
              </mc:Choice>
              <mc:Fallback>
                <p:oleObj name="Equation" r:id="rId3" imgW="571320" imgH="203040" progId="Equation.DSMT4">
                  <p:embed/>
                  <p:pic>
                    <p:nvPicPr>
                      <p:cNvPr id="0" name=""/>
                      <p:cNvPicPr/>
                      <p:nvPr/>
                    </p:nvPicPr>
                    <p:blipFill>
                      <a:blip r:embed="rId4"/>
                      <a:stretch>
                        <a:fillRect/>
                      </a:stretch>
                    </p:blipFill>
                    <p:spPr>
                      <a:xfrm>
                        <a:off x="4048763" y="3760788"/>
                        <a:ext cx="1112837" cy="395287"/>
                      </a:xfrm>
                      <a:prstGeom prst="rect">
                        <a:avLst/>
                      </a:prstGeom>
                    </p:spPr>
                  </p:pic>
                </p:oleObj>
              </mc:Fallback>
            </mc:AlternateContent>
          </a:graphicData>
        </a:graphic>
      </p:graphicFrame>
      <p:sp>
        <p:nvSpPr>
          <p:cNvPr id="9" name="Content Placeholder 8"/>
          <p:cNvSpPr>
            <a:spLocks noGrp="1"/>
          </p:cNvSpPr>
          <p:nvPr>
            <p:ph sz="quarter" idx="16"/>
          </p:nvPr>
        </p:nvSpPr>
        <p:spPr>
          <a:xfrm>
            <a:off x="5264920" y="3757766"/>
            <a:ext cx="3166560" cy="398599"/>
          </a:xfrm>
        </p:spPr>
        <p:txBody>
          <a:bodyPr lIns="0" tIns="0"/>
          <a:lstStyle/>
          <a:p>
            <a:pPr marL="432" indent="0">
              <a:buNone/>
            </a:pPr>
            <a:r>
              <a:rPr lang="en-US" altLang="en-US" sz="2400" dirty="0">
                <a:ea typeface="ヒラギノ角ゴ Pro W3" pitchFamily="-84" charset="-128"/>
              </a:rPr>
              <a:t>is determined like any</a:t>
            </a:r>
            <a:endParaRPr lang="en-US" sz="2400" dirty="0"/>
          </a:p>
        </p:txBody>
      </p:sp>
      <p:sp>
        <p:nvSpPr>
          <p:cNvPr id="10" name="Content Placeholder 9"/>
          <p:cNvSpPr>
            <a:spLocks noGrp="1"/>
          </p:cNvSpPr>
          <p:nvPr>
            <p:ph sz="quarter" idx="17"/>
          </p:nvPr>
        </p:nvSpPr>
        <p:spPr>
          <a:xfrm>
            <a:off x="457200" y="4220905"/>
            <a:ext cx="3378530" cy="422348"/>
          </a:xfrm>
        </p:spPr>
        <p:txBody>
          <a:bodyPr tIns="0"/>
          <a:lstStyle/>
          <a:p>
            <a:pPr marL="432000" indent="0">
              <a:buNone/>
            </a:pPr>
            <a:r>
              <a:rPr lang="en-US" altLang="en-US" sz="2400" dirty="0">
                <a:ea typeface="ヒラギノ角ゴ Pro W3" pitchFamily="-84" charset="-128"/>
              </a:rPr>
              <a:t>other relative price.</a:t>
            </a:r>
            <a:endParaRPr lang="en-US" sz="2400" dirty="0"/>
          </a:p>
        </p:txBody>
      </p:sp>
    </p:spTree>
    <p:extLst>
      <p:ext uri="{BB962C8B-B14F-4D97-AF65-F5344CB8AC3E}">
        <p14:creationId xmlns:p14="http://schemas.microsoft.com/office/powerpoint/2010/main" val="23989902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More On Intertemporal Trade</a:t>
            </a:r>
            <a:endParaRPr lang="en-US" dirty="0"/>
          </a:p>
        </p:txBody>
      </p:sp>
      <p:sp>
        <p:nvSpPr>
          <p:cNvPr id="27" name="Content Placeholder 26"/>
          <p:cNvSpPr>
            <a:spLocks noGrp="1"/>
          </p:cNvSpPr>
          <p:nvPr>
            <p:ph sz="quarter" idx="13"/>
          </p:nvPr>
        </p:nvSpPr>
        <p:spPr>
          <a:xfrm>
            <a:off x="457200" y="1556327"/>
            <a:ext cx="8140535" cy="2425123"/>
          </a:xfrm>
        </p:spPr>
        <p:txBody>
          <a:bodyPr/>
          <a:lstStyle/>
          <a:p>
            <a:r>
              <a:rPr lang="en-US" altLang="en-US" dirty="0"/>
              <a:t>Intertemporal budget constraint is similar to a regular budget constraint in restricting expenditure to match income, but in present discounted value terms so that trade is balanced intertemporally.</a:t>
            </a:r>
          </a:p>
          <a:p>
            <a:pPr lvl="1"/>
            <a:r>
              <a:rPr lang="en-US" altLang="en-US" dirty="0"/>
              <a:t>Every unit loaned now permits consuming 1+</a:t>
            </a:r>
            <a:r>
              <a:rPr lang="en-US" altLang="en-US" i="1" dirty="0"/>
              <a:t>r</a:t>
            </a:r>
            <a:r>
              <a:rPr lang="en-US" altLang="en-US" dirty="0"/>
              <a:t> more in the future (C = current, F = future).</a:t>
            </a:r>
            <a:endParaRPr lang="en-US" dirty="0"/>
          </a:p>
        </p:txBody>
      </p:sp>
      <p:graphicFrame>
        <p:nvGraphicFramePr>
          <p:cNvPr id="28" name="Object 27" descr="Start fraction P sub C over P sub F end fraction D sub C + D sub F = start fraction P sub C over P sub F end fraction Q  sub C + Q sub F "/>
          <p:cNvGraphicFramePr>
            <a:graphicFrameLocks noChangeAspect="1"/>
          </p:cNvGraphicFramePr>
          <p:nvPr>
            <p:extLst>
              <p:ext uri="{D42A27DB-BD31-4B8C-83A1-F6EECF244321}">
                <p14:modId xmlns:p14="http://schemas.microsoft.com/office/powerpoint/2010/main" val="1107294974"/>
              </p:ext>
            </p:extLst>
          </p:nvPr>
        </p:nvGraphicFramePr>
        <p:xfrm>
          <a:off x="1582738" y="4076700"/>
          <a:ext cx="3143250" cy="866775"/>
        </p:xfrm>
        <a:graphic>
          <a:graphicData uri="http://schemas.openxmlformats.org/presentationml/2006/ole">
            <mc:AlternateContent xmlns:mc="http://schemas.openxmlformats.org/markup-compatibility/2006">
              <mc:Choice xmlns:v="urn:schemas-microsoft-com:vml" Requires="v">
                <p:oleObj spid="_x0000_s13314" name="Equation" r:id="rId3" imgW="1612800" imgH="444240" progId="Equation.DSMT4">
                  <p:embed/>
                </p:oleObj>
              </mc:Choice>
              <mc:Fallback>
                <p:oleObj name="Equation" r:id="rId3" imgW="1612800" imgH="444240" progId="Equation.DSMT4">
                  <p:embed/>
                  <p:pic>
                    <p:nvPicPr>
                      <p:cNvPr id="0" name=""/>
                      <p:cNvPicPr/>
                      <p:nvPr/>
                    </p:nvPicPr>
                    <p:blipFill>
                      <a:blip r:embed="rId4"/>
                      <a:stretch>
                        <a:fillRect/>
                      </a:stretch>
                    </p:blipFill>
                    <p:spPr>
                      <a:xfrm>
                        <a:off x="1582738" y="4076700"/>
                        <a:ext cx="3143250" cy="866775"/>
                      </a:xfrm>
                      <a:prstGeom prst="rect">
                        <a:avLst/>
                      </a:prstGeom>
                    </p:spPr>
                  </p:pic>
                </p:oleObj>
              </mc:Fallback>
            </mc:AlternateContent>
          </a:graphicData>
        </a:graphic>
      </p:graphicFrame>
      <p:graphicFrame>
        <p:nvGraphicFramePr>
          <p:cNvPr id="29" name="Object 28" descr="left parenthesis 1 + r right parenthesis D sub C + D sub F = left parenthesis 1 + r right parenthesis Q sub C Q sub F "/>
          <p:cNvGraphicFramePr>
            <a:graphicFrameLocks noChangeAspect="1"/>
          </p:cNvGraphicFramePr>
          <p:nvPr>
            <p:extLst>
              <p:ext uri="{D42A27DB-BD31-4B8C-83A1-F6EECF244321}">
                <p14:modId xmlns:p14="http://schemas.microsoft.com/office/powerpoint/2010/main" val="376778992"/>
              </p:ext>
            </p:extLst>
          </p:nvPr>
        </p:nvGraphicFramePr>
        <p:xfrm>
          <a:off x="1433203" y="5029522"/>
          <a:ext cx="3442320" cy="404979"/>
        </p:xfrm>
        <a:graphic>
          <a:graphicData uri="http://schemas.openxmlformats.org/presentationml/2006/ole">
            <mc:AlternateContent xmlns:mc="http://schemas.openxmlformats.org/markup-compatibility/2006">
              <mc:Choice xmlns:v="urn:schemas-microsoft-com:vml" Requires="v">
                <p:oleObj spid="_x0000_s13315" name="Equation" r:id="rId5" imgW="1942920" imgH="228600" progId="Equation.DSMT4">
                  <p:embed/>
                </p:oleObj>
              </mc:Choice>
              <mc:Fallback>
                <p:oleObj name="Equation" r:id="rId5" imgW="1942920" imgH="228600" progId="Equation.DSMT4">
                  <p:embed/>
                  <p:pic>
                    <p:nvPicPr>
                      <p:cNvPr id="0" name=""/>
                      <p:cNvPicPr/>
                      <p:nvPr/>
                    </p:nvPicPr>
                    <p:blipFill>
                      <a:blip r:embed="rId6"/>
                      <a:stretch>
                        <a:fillRect/>
                      </a:stretch>
                    </p:blipFill>
                    <p:spPr>
                      <a:xfrm>
                        <a:off x="1433203" y="5029522"/>
                        <a:ext cx="3442320" cy="404979"/>
                      </a:xfrm>
                      <a:prstGeom prst="rect">
                        <a:avLst/>
                      </a:prstGeom>
                    </p:spPr>
                  </p:pic>
                </p:oleObj>
              </mc:Fallback>
            </mc:AlternateContent>
          </a:graphicData>
        </a:graphic>
      </p:graphicFrame>
      <p:graphicFrame>
        <p:nvGraphicFramePr>
          <p:cNvPr id="30" name="Object 29" descr="D sub F = Q sub F + left parenthesis 1 + r right parenthesis left parenthesis Q sub C minus D sub C right parenthesis"/>
          <p:cNvGraphicFramePr>
            <a:graphicFrameLocks noChangeAspect="1"/>
          </p:cNvGraphicFramePr>
          <p:nvPr>
            <p:extLst>
              <p:ext uri="{D42A27DB-BD31-4B8C-83A1-F6EECF244321}">
                <p14:modId xmlns:p14="http://schemas.microsoft.com/office/powerpoint/2010/main" val="619692677"/>
              </p:ext>
            </p:extLst>
          </p:nvPr>
        </p:nvGraphicFramePr>
        <p:xfrm>
          <a:off x="2658178" y="5504488"/>
          <a:ext cx="3014844" cy="404979"/>
        </p:xfrm>
        <a:graphic>
          <a:graphicData uri="http://schemas.openxmlformats.org/presentationml/2006/ole">
            <mc:AlternateContent xmlns:mc="http://schemas.openxmlformats.org/markup-compatibility/2006">
              <mc:Choice xmlns:v="urn:schemas-microsoft-com:vml" Requires="v">
                <p:oleObj spid="_x0000_s13316" name="Equation" r:id="rId7" imgW="1701720" imgH="228600" progId="Equation.DSMT4">
                  <p:embed/>
                </p:oleObj>
              </mc:Choice>
              <mc:Fallback>
                <p:oleObj name="Equation" r:id="rId7" imgW="1701720" imgH="228600" progId="Equation.DSMT4">
                  <p:embed/>
                  <p:pic>
                    <p:nvPicPr>
                      <p:cNvPr id="0" name=""/>
                      <p:cNvPicPr/>
                      <p:nvPr/>
                    </p:nvPicPr>
                    <p:blipFill>
                      <a:blip r:embed="rId8"/>
                      <a:stretch>
                        <a:fillRect/>
                      </a:stretch>
                    </p:blipFill>
                    <p:spPr>
                      <a:xfrm>
                        <a:off x="2658178" y="5504488"/>
                        <a:ext cx="3014844" cy="404979"/>
                      </a:xfrm>
                      <a:prstGeom prst="rect">
                        <a:avLst/>
                      </a:prstGeom>
                    </p:spPr>
                  </p:pic>
                </p:oleObj>
              </mc:Fallback>
            </mc:AlternateContent>
          </a:graphicData>
        </a:graphic>
      </p:graphicFrame>
    </p:spTree>
    <p:extLst>
      <p:ext uri="{BB962C8B-B14F-4D97-AF65-F5344CB8AC3E}">
        <p14:creationId xmlns:p14="http://schemas.microsoft.com/office/powerpoint/2010/main" val="17276872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6A1.1 Determining Home’</a:t>
            </a:r>
            <a:r>
              <a:rPr lang="en-US" altLang="ja-JP" sz="3200" dirty="0">
                <a:ea typeface="ヒラギノ角ゴ Pro W3" pitchFamily="-84" charset="-128"/>
              </a:rPr>
              <a:t>s Intertemporal Production Pattern</a:t>
            </a:r>
            <a:endParaRPr lang="en-US" sz="3200" dirty="0"/>
          </a:p>
        </p:txBody>
      </p:sp>
      <p:pic>
        <p:nvPicPr>
          <p:cNvPr id="6" name="Content Placeholder 5" descr="A graph of home’s intertemporal production possibility frontier plots future consumption versus current consumption.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677549" y="1555750"/>
            <a:ext cx="3788903" cy="3406775"/>
          </a:xfrm>
        </p:spPr>
      </p:pic>
      <p:sp>
        <p:nvSpPr>
          <p:cNvPr id="5" name="Content Placeholder 4"/>
          <p:cNvSpPr>
            <a:spLocks noGrp="1"/>
          </p:cNvSpPr>
          <p:nvPr>
            <p:ph sz="quarter" idx="14"/>
          </p:nvPr>
        </p:nvSpPr>
        <p:spPr>
          <a:xfrm>
            <a:off x="457200" y="5076825"/>
            <a:ext cx="7962405" cy="1247775"/>
          </a:xfrm>
        </p:spPr>
        <p:txBody>
          <a:bodyPr/>
          <a:lstStyle/>
          <a:p>
            <a:pPr marL="432" indent="0">
              <a:buNone/>
            </a:pPr>
            <a:r>
              <a:rPr lang="en-US" dirty="0"/>
              <a:t>At a world real interest rate of </a:t>
            </a:r>
            <a:r>
              <a:rPr lang="en-US" i="1" dirty="0"/>
              <a:t>r</a:t>
            </a:r>
            <a:r>
              <a:rPr lang="en-US" dirty="0"/>
              <a:t>, Home’s investment level maximizes the value of production over the two periods that the economy exists.</a:t>
            </a:r>
          </a:p>
        </p:txBody>
      </p:sp>
    </p:spTree>
    <p:extLst>
      <p:ext uri="{BB962C8B-B14F-4D97-AF65-F5344CB8AC3E}">
        <p14:creationId xmlns:p14="http://schemas.microsoft.com/office/powerpoint/2010/main" val="2646361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6A1.2 Determining Home’</a:t>
            </a:r>
            <a:r>
              <a:rPr lang="en-US" altLang="ja-JP" sz="3200" dirty="0">
                <a:ea typeface="ヒラギノ角ゴ Pro W3" pitchFamily="-84" charset="-128"/>
              </a:rPr>
              <a:t>s Intertemporal Consumption Pattern</a:t>
            </a:r>
            <a:endParaRPr lang="en-US" sz="3200" dirty="0"/>
          </a:p>
        </p:txBody>
      </p:sp>
      <p:pic>
        <p:nvPicPr>
          <p:cNvPr id="21" name="Content Placeholder 20" descr="A graph of home’s intertemporal consumption pattern plots future versus current consumption.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3035324" y="1562357"/>
            <a:ext cx="3073352" cy="3029587"/>
          </a:xfrm>
        </p:spPr>
      </p:pic>
      <p:sp>
        <p:nvSpPr>
          <p:cNvPr id="6" name="Content Placeholder 5"/>
          <p:cNvSpPr>
            <a:spLocks noGrp="1"/>
          </p:cNvSpPr>
          <p:nvPr>
            <p:ph sz="quarter" idx="14"/>
          </p:nvPr>
        </p:nvSpPr>
        <p:spPr>
          <a:xfrm>
            <a:off x="457200" y="4708116"/>
            <a:ext cx="7380514" cy="350769"/>
          </a:xfrm>
        </p:spPr>
        <p:txBody>
          <a:bodyPr tIns="0"/>
          <a:lstStyle/>
          <a:p>
            <a:pPr marL="432" indent="0">
              <a:buNone/>
            </a:pPr>
            <a:r>
              <a:rPr lang="en-US" sz="2000" dirty="0"/>
              <a:t>Home’s consumption places it on the highest indifference curve</a:t>
            </a:r>
          </a:p>
        </p:txBody>
      </p:sp>
      <p:sp>
        <p:nvSpPr>
          <p:cNvPr id="7" name="Content Placeholder 6"/>
          <p:cNvSpPr>
            <a:spLocks noGrp="1"/>
          </p:cNvSpPr>
          <p:nvPr>
            <p:ph sz="quarter" idx="15"/>
          </p:nvPr>
        </p:nvSpPr>
        <p:spPr>
          <a:xfrm>
            <a:off x="466724" y="5129849"/>
            <a:ext cx="7648576" cy="344673"/>
          </a:xfrm>
        </p:spPr>
        <p:txBody>
          <a:bodyPr tIns="0"/>
          <a:lstStyle/>
          <a:p>
            <a:pPr marL="432" indent="0">
              <a:buNone/>
            </a:pPr>
            <a:r>
              <a:rPr lang="en-US" sz="2000" dirty="0"/>
              <a:t>touching its intertemporal budget constraint. The economy exports</a:t>
            </a:r>
          </a:p>
        </p:txBody>
      </p:sp>
      <p:graphicFrame>
        <p:nvGraphicFramePr>
          <p:cNvPr id="19" name="Object 18" descr="Q sub C minus D sub C "/>
          <p:cNvGraphicFramePr>
            <a:graphicFrameLocks noChangeAspect="1"/>
          </p:cNvGraphicFramePr>
          <p:nvPr>
            <p:extLst>
              <p:ext uri="{D42A27DB-BD31-4B8C-83A1-F6EECF244321}">
                <p14:modId xmlns:p14="http://schemas.microsoft.com/office/powerpoint/2010/main" val="2016945309"/>
              </p:ext>
            </p:extLst>
          </p:nvPr>
        </p:nvGraphicFramePr>
        <p:xfrm>
          <a:off x="545097" y="5560077"/>
          <a:ext cx="762357" cy="334694"/>
        </p:xfrm>
        <a:graphic>
          <a:graphicData uri="http://schemas.openxmlformats.org/presentationml/2006/ole">
            <mc:AlternateContent xmlns:mc="http://schemas.openxmlformats.org/markup-compatibility/2006">
              <mc:Choice xmlns:v="urn:schemas-microsoft-com:vml" Requires="v">
                <p:oleObj spid="_x0000_s14338" name="Equation" r:id="rId5" imgW="520560" imgH="228600" progId="Equation.DSMT4">
                  <p:embed/>
                </p:oleObj>
              </mc:Choice>
              <mc:Fallback>
                <p:oleObj name="Equation" r:id="rId5" imgW="520560" imgH="228600" progId="Equation.DSMT4">
                  <p:embed/>
                  <p:pic>
                    <p:nvPicPr>
                      <p:cNvPr id="0" name=""/>
                      <p:cNvPicPr/>
                      <p:nvPr/>
                    </p:nvPicPr>
                    <p:blipFill>
                      <a:blip r:embed="rId6"/>
                      <a:stretch>
                        <a:fillRect/>
                      </a:stretch>
                    </p:blipFill>
                    <p:spPr>
                      <a:xfrm>
                        <a:off x="545097" y="5560077"/>
                        <a:ext cx="762357" cy="334694"/>
                      </a:xfrm>
                      <a:prstGeom prst="rect">
                        <a:avLst/>
                      </a:prstGeom>
                    </p:spPr>
                  </p:pic>
                </p:oleObj>
              </mc:Fallback>
            </mc:AlternateContent>
          </a:graphicData>
        </a:graphic>
      </p:graphicFrame>
      <p:sp>
        <p:nvSpPr>
          <p:cNvPr id="8" name="Content Placeholder 7"/>
          <p:cNvSpPr>
            <a:spLocks noGrp="1"/>
          </p:cNvSpPr>
          <p:nvPr>
            <p:ph sz="quarter" idx="16"/>
          </p:nvPr>
        </p:nvSpPr>
        <p:spPr>
          <a:xfrm>
            <a:off x="1438274" y="5545486"/>
            <a:ext cx="4701269" cy="356547"/>
          </a:xfrm>
        </p:spPr>
        <p:txBody>
          <a:bodyPr lIns="0" tIns="0"/>
          <a:lstStyle/>
          <a:p>
            <a:pPr marL="432" indent="0">
              <a:buNone/>
            </a:pPr>
            <a:r>
              <a:rPr lang="en-US" sz="2000" dirty="0"/>
              <a:t>units of current consumption and imports</a:t>
            </a:r>
          </a:p>
        </p:txBody>
      </p:sp>
      <p:graphicFrame>
        <p:nvGraphicFramePr>
          <p:cNvPr id="20" name="Object 19" descr="D sub F minus Q sub F left parenthesis 1 + r right parenthesis left parenthesis Q sub C minus D sub C right parenthesis"/>
          <p:cNvGraphicFramePr>
            <a:graphicFrameLocks noChangeAspect="1"/>
          </p:cNvGraphicFramePr>
          <p:nvPr>
            <p:extLst>
              <p:ext uri="{D42A27DB-BD31-4B8C-83A1-F6EECF244321}">
                <p14:modId xmlns:p14="http://schemas.microsoft.com/office/powerpoint/2010/main" val="2539360508"/>
              </p:ext>
            </p:extLst>
          </p:nvPr>
        </p:nvGraphicFramePr>
        <p:xfrm>
          <a:off x="6231901" y="5552883"/>
          <a:ext cx="2390248" cy="341696"/>
        </p:xfrm>
        <a:graphic>
          <a:graphicData uri="http://schemas.openxmlformats.org/presentationml/2006/ole">
            <mc:AlternateContent xmlns:mc="http://schemas.openxmlformats.org/markup-compatibility/2006">
              <mc:Choice xmlns:v="urn:schemas-microsoft-com:vml" Requires="v">
                <p:oleObj spid="_x0000_s14339" name="Equation" r:id="rId7" imgW="1600200" imgH="228600" progId="Equation.DSMT4">
                  <p:embed/>
                </p:oleObj>
              </mc:Choice>
              <mc:Fallback>
                <p:oleObj name="Equation" r:id="rId7" imgW="1600200" imgH="228600" progId="Equation.DSMT4">
                  <p:embed/>
                  <p:pic>
                    <p:nvPicPr>
                      <p:cNvPr id="0" name=""/>
                      <p:cNvPicPr/>
                      <p:nvPr/>
                    </p:nvPicPr>
                    <p:blipFill>
                      <a:blip r:embed="rId8"/>
                      <a:stretch>
                        <a:fillRect/>
                      </a:stretch>
                    </p:blipFill>
                    <p:spPr>
                      <a:xfrm>
                        <a:off x="6231901" y="5552883"/>
                        <a:ext cx="2390248" cy="341696"/>
                      </a:xfrm>
                      <a:prstGeom prst="rect">
                        <a:avLst/>
                      </a:prstGeom>
                    </p:spPr>
                  </p:pic>
                </p:oleObj>
              </mc:Fallback>
            </mc:AlternateContent>
          </a:graphicData>
        </a:graphic>
      </p:graphicFrame>
      <p:sp>
        <p:nvSpPr>
          <p:cNvPr id="9" name="Content Placeholder 8"/>
          <p:cNvSpPr>
            <a:spLocks noGrp="1"/>
          </p:cNvSpPr>
          <p:nvPr>
            <p:ph sz="quarter" idx="17"/>
          </p:nvPr>
        </p:nvSpPr>
        <p:spPr>
          <a:xfrm>
            <a:off x="457200" y="5972998"/>
            <a:ext cx="3319153" cy="368424"/>
          </a:xfrm>
        </p:spPr>
        <p:txBody>
          <a:bodyPr tIns="0"/>
          <a:lstStyle/>
          <a:p>
            <a:pPr marL="432" indent="0">
              <a:buNone/>
            </a:pPr>
            <a:r>
              <a:rPr lang="en-US" sz="2000" dirty="0"/>
              <a:t>units of future consumption.</a:t>
            </a:r>
          </a:p>
        </p:txBody>
      </p:sp>
    </p:spTree>
    <p:extLst>
      <p:ext uri="{BB962C8B-B14F-4D97-AF65-F5344CB8AC3E}">
        <p14:creationId xmlns:p14="http://schemas.microsoft.com/office/powerpoint/2010/main" val="4752166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229601" cy="1097279"/>
          </a:xfrm>
        </p:spPr>
        <p:txBody>
          <a:bodyPr anchor="b"/>
          <a:lstStyle/>
          <a:p>
            <a:r>
              <a:rPr lang="en-US" altLang="en-US" sz="2600" dirty="0">
                <a:ea typeface="ヒラギノ角ゴ Pro W3" pitchFamily="-84" charset="-128"/>
              </a:rPr>
              <a:t>Figure 6A1.3 Determining Foreign’</a:t>
            </a:r>
            <a:r>
              <a:rPr lang="en-US" altLang="ja-JP" sz="2600" dirty="0">
                <a:ea typeface="ヒラギノ角ゴ Pro W3" pitchFamily="-84" charset="-128"/>
              </a:rPr>
              <a:t>s Intertemporal Production and Consumption Patterns</a:t>
            </a:r>
            <a:endParaRPr lang="en-US" sz="2600" dirty="0"/>
          </a:p>
        </p:txBody>
      </p:sp>
      <p:pic>
        <p:nvPicPr>
          <p:cNvPr id="22" name="Content Placeholder 21" descr="A graph of foreign’s intertemporal production and consumption patterns plots future consumption versus current consumption.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939201" y="1573392"/>
            <a:ext cx="3265599" cy="3483677"/>
          </a:xfrm>
        </p:spPr>
      </p:pic>
      <p:sp>
        <p:nvSpPr>
          <p:cNvPr id="4" name="Content Placeholder 3"/>
          <p:cNvSpPr>
            <a:spLocks noGrp="1"/>
          </p:cNvSpPr>
          <p:nvPr>
            <p:ph sz="quarter" idx="14"/>
          </p:nvPr>
        </p:nvSpPr>
        <p:spPr>
          <a:xfrm>
            <a:off x="457201" y="5204156"/>
            <a:ext cx="2781300" cy="329745"/>
          </a:xfrm>
        </p:spPr>
        <p:txBody>
          <a:bodyPr tIns="0"/>
          <a:lstStyle/>
          <a:p>
            <a:pPr marL="432" indent="0">
              <a:buNone/>
            </a:pPr>
            <a:r>
              <a:rPr lang="en-US" sz="1800" dirty="0"/>
              <a:t>Foreign produces at point</a:t>
            </a:r>
          </a:p>
        </p:txBody>
      </p:sp>
      <p:graphicFrame>
        <p:nvGraphicFramePr>
          <p:cNvPr id="17" name="Object 16" descr="Q to the asterisk power"/>
          <p:cNvGraphicFramePr>
            <a:graphicFrameLocks noChangeAspect="1"/>
          </p:cNvGraphicFramePr>
          <p:nvPr>
            <p:extLst>
              <p:ext uri="{D42A27DB-BD31-4B8C-83A1-F6EECF244321}">
                <p14:modId xmlns:p14="http://schemas.microsoft.com/office/powerpoint/2010/main" val="291022828"/>
              </p:ext>
            </p:extLst>
          </p:nvPr>
        </p:nvGraphicFramePr>
        <p:xfrm>
          <a:off x="3324389" y="5212364"/>
          <a:ext cx="275896" cy="293139"/>
        </p:xfrm>
        <a:graphic>
          <a:graphicData uri="http://schemas.openxmlformats.org/presentationml/2006/ole">
            <mc:AlternateContent xmlns:mc="http://schemas.openxmlformats.org/markup-compatibility/2006">
              <mc:Choice xmlns:v="urn:schemas-microsoft-com:vml" Requires="v">
                <p:oleObj spid="_x0000_s15362" name="Equation" r:id="rId5" imgW="203040" imgH="215640" progId="Equation.DSMT4">
                  <p:embed/>
                </p:oleObj>
              </mc:Choice>
              <mc:Fallback>
                <p:oleObj name="Equation" r:id="rId5" imgW="203040" imgH="215640" progId="Equation.DSMT4">
                  <p:embed/>
                  <p:pic>
                    <p:nvPicPr>
                      <p:cNvPr id="0" name=""/>
                      <p:cNvPicPr/>
                      <p:nvPr/>
                    </p:nvPicPr>
                    <p:blipFill>
                      <a:blip r:embed="rId6"/>
                      <a:stretch>
                        <a:fillRect/>
                      </a:stretch>
                    </p:blipFill>
                    <p:spPr>
                      <a:xfrm>
                        <a:off x="3324389" y="5212364"/>
                        <a:ext cx="275896" cy="293139"/>
                      </a:xfrm>
                      <a:prstGeom prst="rect">
                        <a:avLst/>
                      </a:prstGeom>
                    </p:spPr>
                  </p:pic>
                </p:oleObj>
              </mc:Fallback>
            </mc:AlternateContent>
          </a:graphicData>
        </a:graphic>
      </p:graphicFrame>
      <p:sp>
        <p:nvSpPr>
          <p:cNvPr id="5" name="Content Placeholder 4"/>
          <p:cNvSpPr>
            <a:spLocks noGrp="1"/>
          </p:cNvSpPr>
          <p:nvPr>
            <p:ph sz="quarter" idx="15"/>
          </p:nvPr>
        </p:nvSpPr>
        <p:spPr>
          <a:xfrm>
            <a:off x="3686174" y="5201852"/>
            <a:ext cx="2417744" cy="327903"/>
          </a:xfrm>
        </p:spPr>
        <p:txBody>
          <a:bodyPr lIns="0" tIns="0"/>
          <a:lstStyle/>
          <a:p>
            <a:pPr marL="432" indent="0">
              <a:buNone/>
            </a:pPr>
            <a:r>
              <a:rPr lang="en-US" sz="1800" dirty="0"/>
              <a:t>and consumes at point</a:t>
            </a:r>
          </a:p>
        </p:txBody>
      </p:sp>
      <p:graphicFrame>
        <p:nvGraphicFramePr>
          <p:cNvPr id="18" name="Object 17" descr="D to the asterisk power"/>
          <p:cNvGraphicFramePr>
            <a:graphicFrameLocks noChangeAspect="1"/>
          </p:cNvGraphicFramePr>
          <p:nvPr>
            <p:extLst>
              <p:ext uri="{D42A27DB-BD31-4B8C-83A1-F6EECF244321}">
                <p14:modId xmlns:p14="http://schemas.microsoft.com/office/powerpoint/2010/main" val="4186273821"/>
              </p:ext>
            </p:extLst>
          </p:nvPr>
        </p:nvGraphicFramePr>
        <p:xfrm>
          <a:off x="6182039" y="5204145"/>
          <a:ext cx="270459" cy="253556"/>
        </p:xfrm>
        <a:graphic>
          <a:graphicData uri="http://schemas.openxmlformats.org/presentationml/2006/ole">
            <mc:AlternateContent xmlns:mc="http://schemas.openxmlformats.org/markup-compatibility/2006">
              <mc:Choice xmlns:v="urn:schemas-microsoft-com:vml" Requires="v">
                <p:oleObj spid="_x0000_s15363" name="Equation" r:id="rId7" imgW="203040" imgH="190440" progId="Equation.DSMT4">
                  <p:embed/>
                </p:oleObj>
              </mc:Choice>
              <mc:Fallback>
                <p:oleObj name="Equation" r:id="rId7" imgW="203040" imgH="190440" progId="Equation.DSMT4">
                  <p:embed/>
                  <p:pic>
                    <p:nvPicPr>
                      <p:cNvPr id="0" name=""/>
                      <p:cNvPicPr/>
                      <p:nvPr/>
                    </p:nvPicPr>
                    <p:blipFill>
                      <a:blip r:embed="rId8"/>
                      <a:stretch>
                        <a:fillRect/>
                      </a:stretch>
                    </p:blipFill>
                    <p:spPr>
                      <a:xfrm>
                        <a:off x="6182039" y="5204145"/>
                        <a:ext cx="270459" cy="253556"/>
                      </a:xfrm>
                      <a:prstGeom prst="rect">
                        <a:avLst/>
                      </a:prstGeom>
                    </p:spPr>
                  </p:pic>
                </p:oleObj>
              </mc:Fallback>
            </mc:AlternateContent>
          </a:graphicData>
        </a:graphic>
      </p:graphicFrame>
      <p:sp>
        <p:nvSpPr>
          <p:cNvPr id="6" name="Content Placeholder 5"/>
          <p:cNvSpPr>
            <a:spLocks noGrp="1"/>
          </p:cNvSpPr>
          <p:nvPr>
            <p:ph sz="quarter" idx="16"/>
          </p:nvPr>
        </p:nvSpPr>
        <p:spPr>
          <a:xfrm>
            <a:off x="6530620" y="5189977"/>
            <a:ext cx="1057712" cy="332049"/>
          </a:xfrm>
        </p:spPr>
        <p:txBody>
          <a:bodyPr lIns="0" tIns="0"/>
          <a:lstStyle/>
          <a:p>
            <a:pPr marL="432" indent="0">
              <a:buNone/>
            </a:pPr>
            <a:r>
              <a:rPr lang="en-US" sz="1800" dirty="0"/>
              <a:t>importing</a:t>
            </a:r>
          </a:p>
        </p:txBody>
      </p:sp>
      <p:graphicFrame>
        <p:nvGraphicFramePr>
          <p:cNvPr id="19" name="Object 18" descr="D to the asterisk power sub C minus Q to the asterisk power sub C"/>
          <p:cNvGraphicFramePr>
            <a:graphicFrameLocks noChangeAspect="1"/>
          </p:cNvGraphicFramePr>
          <p:nvPr>
            <p:extLst>
              <p:ext uri="{D42A27DB-BD31-4B8C-83A1-F6EECF244321}">
                <p14:modId xmlns:p14="http://schemas.microsoft.com/office/powerpoint/2010/main" val="2008111059"/>
              </p:ext>
            </p:extLst>
          </p:nvPr>
        </p:nvGraphicFramePr>
        <p:xfrm>
          <a:off x="534054" y="5608365"/>
          <a:ext cx="819492" cy="324382"/>
        </p:xfrm>
        <a:graphic>
          <a:graphicData uri="http://schemas.openxmlformats.org/presentationml/2006/ole">
            <mc:AlternateContent xmlns:mc="http://schemas.openxmlformats.org/markup-compatibility/2006">
              <mc:Choice xmlns:v="urn:schemas-microsoft-com:vml" Requires="v">
                <p:oleObj spid="_x0000_s15364" name="Equation" r:id="rId9" imgW="609480" imgH="241200" progId="Equation.DSMT4">
                  <p:embed/>
                </p:oleObj>
              </mc:Choice>
              <mc:Fallback>
                <p:oleObj name="Equation" r:id="rId9" imgW="609480" imgH="241200" progId="Equation.DSMT4">
                  <p:embed/>
                  <p:pic>
                    <p:nvPicPr>
                      <p:cNvPr id="0" name=""/>
                      <p:cNvPicPr/>
                      <p:nvPr/>
                    </p:nvPicPr>
                    <p:blipFill>
                      <a:blip r:embed="rId10"/>
                      <a:stretch>
                        <a:fillRect/>
                      </a:stretch>
                    </p:blipFill>
                    <p:spPr>
                      <a:xfrm>
                        <a:off x="534054" y="5608365"/>
                        <a:ext cx="819492" cy="324382"/>
                      </a:xfrm>
                      <a:prstGeom prst="rect">
                        <a:avLst/>
                      </a:prstGeom>
                    </p:spPr>
                  </p:pic>
                </p:oleObj>
              </mc:Fallback>
            </mc:AlternateContent>
          </a:graphicData>
        </a:graphic>
      </p:graphicFrame>
      <p:sp>
        <p:nvSpPr>
          <p:cNvPr id="7" name="Content Placeholder 6"/>
          <p:cNvSpPr>
            <a:spLocks noGrp="1"/>
          </p:cNvSpPr>
          <p:nvPr>
            <p:ph sz="quarter" idx="17"/>
          </p:nvPr>
        </p:nvSpPr>
        <p:spPr>
          <a:xfrm>
            <a:off x="1450276" y="5608365"/>
            <a:ext cx="4428012" cy="324382"/>
          </a:xfrm>
        </p:spPr>
        <p:txBody>
          <a:bodyPr lIns="0" tIns="0"/>
          <a:lstStyle/>
          <a:p>
            <a:pPr marL="432" indent="0">
              <a:buNone/>
            </a:pPr>
            <a:r>
              <a:rPr lang="en-US" sz="1800" dirty="0"/>
              <a:t>units of current consumption and exporting</a:t>
            </a:r>
          </a:p>
        </p:txBody>
      </p:sp>
      <p:graphicFrame>
        <p:nvGraphicFramePr>
          <p:cNvPr id="21" name="Object 20" descr="Q to the asterisk power sub F minus D to the asterisk power sub F = left parenthesis 1 + r right parenthesis left parenthesis D to the asterisk power sub C minus Q to the asterisk power sub C right parenthesis"/>
          <p:cNvGraphicFramePr>
            <a:graphicFrameLocks noChangeAspect="1"/>
          </p:cNvGraphicFramePr>
          <p:nvPr>
            <p:extLst>
              <p:ext uri="{D42A27DB-BD31-4B8C-83A1-F6EECF244321}">
                <p14:modId xmlns:p14="http://schemas.microsoft.com/office/powerpoint/2010/main" val="191880087"/>
              </p:ext>
            </p:extLst>
          </p:nvPr>
        </p:nvGraphicFramePr>
        <p:xfrm>
          <a:off x="5953371" y="5610162"/>
          <a:ext cx="2515696" cy="333502"/>
        </p:xfrm>
        <a:graphic>
          <a:graphicData uri="http://schemas.openxmlformats.org/presentationml/2006/ole">
            <mc:AlternateContent xmlns:mc="http://schemas.openxmlformats.org/markup-compatibility/2006">
              <mc:Choice xmlns:v="urn:schemas-microsoft-com:vml" Requires="v">
                <p:oleObj spid="_x0000_s15365" name="Equation" r:id="rId11" imgW="1815840" imgH="241200" progId="Equation.DSMT4">
                  <p:embed/>
                </p:oleObj>
              </mc:Choice>
              <mc:Fallback>
                <p:oleObj name="Equation" r:id="rId11" imgW="1815840" imgH="241200" progId="Equation.DSMT4">
                  <p:embed/>
                  <p:pic>
                    <p:nvPicPr>
                      <p:cNvPr id="0" name=""/>
                      <p:cNvPicPr/>
                      <p:nvPr/>
                    </p:nvPicPr>
                    <p:blipFill>
                      <a:blip r:embed="rId12"/>
                      <a:stretch>
                        <a:fillRect/>
                      </a:stretch>
                    </p:blipFill>
                    <p:spPr>
                      <a:xfrm>
                        <a:off x="5953371" y="5610162"/>
                        <a:ext cx="2515696" cy="333502"/>
                      </a:xfrm>
                      <a:prstGeom prst="rect">
                        <a:avLst/>
                      </a:prstGeom>
                    </p:spPr>
                  </p:pic>
                </p:oleObj>
              </mc:Fallback>
            </mc:AlternateContent>
          </a:graphicData>
        </a:graphic>
      </p:graphicFrame>
      <p:sp>
        <p:nvSpPr>
          <p:cNvPr id="8" name="Content Placeholder 7"/>
          <p:cNvSpPr>
            <a:spLocks noGrp="1"/>
          </p:cNvSpPr>
          <p:nvPr>
            <p:ph sz="quarter" idx="18"/>
          </p:nvPr>
        </p:nvSpPr>
        <p:spPr>
          <a:xfrm>
            <a:off x="457199" y="5998876"/>
            <a:ext cx="3069772" cy="330244"/>
          </a:xfrm>
        </p:spPr>
        <p:txBody>
          <a:bodyPr tIns="0"/>
          <a:lstStyle/>
          <a:p>
            <a:pPr marL="432" indent="0">
              <a:buNone/>
            </a:pPr>
            <a:r>
              <a:rPr lang="en-US" sz="1800" dirty="0"/>
              <a:t>units of future consumption.</a:t>
            </a:r>
          </a:p>
        </p:txBody>
      </p:sp>
    </p:spTree>
    <p:extLst>
      <p:ext uri="{BB962C8B-B14F-4D97-AF65-F5344CB8AC3E}">
        <p14:creationId xmlns:p14="http://schemas.microsoft.com/office/powerpoint/2010/main" val="24424653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148245</TotalTime>
  <Words>6216</Words>
  <Application>Microsoft Office PowerPoint</Application>
  <PresentationFormat>On-screen Show (4:3)</PresentationFormat>
  <Paragraphs>305</Paragraphs>
  <Slides>63</Slides>
  <Notes>18</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63</vt:i4>
      </vt:variant>
    </vt:vector>
  </HeadingPairs>
  <TitlesOfParts>
    <vt:vector size="72" baseType="lpstr">
      <vt:lpstr>Arial</vt:lpstr>
      <vt:lpstr>Times</vt:lpstr>
      <vt:lpstr>Noto Sans Symbols</vt:lpstr>
      <vt:lpstr>Verdana</vt:lpstr>
      <vt:lpstr>Times New Roman</vt:lpstr>
      <vt:lpstr>ヒラギノ角ゴ Pro W3</vt:lpstr>
      <vt:lpstr>USHE</vt:lpstr>
      <vt:lpstr>USHE_slide options</vt:lpstr>
      <vt:lpstr>Equation</vt:lpstr>
      <vt:lpstr>International Economics: Theory and Policy</vt:lpstr>
      <vt:lpstr>Learning Objectives (1 of 2)</vt:lpstr>
      <vt:lpstr>Learning Objectives (2 of 2)</vt:lpstr>
      <vt:lpstr>Preview</vt:lpstr>
      <vt:lpstr>Introduction (1 of 3)</vt:lpstr>
      <vt:lpstr>Introduction (2 of 3)</vt:lpstr>
      <vt:lpstr>Introduction (3 of 3)</vt:lpstr>
      <vt:lpstr>Production Possibilities and Relative Supply (1 of 2)</vt:lpstr>
      <vt:lpstr>Figure 6.1 Relative Prices Determine the Economy’s Output</vt:lpstr>
      <vt:lpstr>Production Possibilities and Relative Supply (2 of 2)</vt:lpstr>
      <vt:lpstr>Figure 6.2 How an Increase in the Relative Price of Cloth Affects Relative Supply</vt:lpstr>
      <vt:lpstr>Relative Prices and Demand (1 of 6)</vt:lpstr>
      <vt:lpstr>Relative Prices and Demand (2 of 6)</vt:lpstr>
      <vt:lpstr>Relative Prices and Demand (3 of 6)</vt:lpstr>
      <vt:lpstr>Relative Prices and Demand (4 of 6)</vt:lpstr>
      <vt:lpstr>Figure 6.3 Production, Consumption, and Trade in the Standard Model</vt:lpstr>
      <vt:lpstr>Relative Prices and Demand (5 of 6)</vt:lpstr>
      <vt:lpstr>Relative Prices and Demand (6 of 6)</vt:lpstr>
      <vt:lpstr>Figure 6.4 Effects of a Rise in the Relative Price of Cloth and Gains from Trade</vt:lpstr>
      <vt:lpstr>U.S. Consumer Gains from Chinese Imports (1 of 2)</vt:lpstr>
      <vt:lpstr>U.S. Consumer Gains from Chinese Imports (2 of 2)</vt:lpstr>
      <vt:lpstr>The Welfare Effects of Changes in the Terms of Trade</vt:lpstr>
      <vt:lpstr>Determining Relative Prices</vt:lpstr>
      <vt:lpstr>Figure 6.5a Equilibrium Relative Price with Trade and Associated Trade Flows</vt:lpstr>
      <vt:lpstr>Figure 6.5b Equilibrium Relative Price with Trade and Associated Trade Flows</vt:lpstr>
      <vt:lpstr>International Effects of Growth (1 of 5)</vt:lpstr>
      <vt:lpstr>International Effects of Growth (2 of 5)</vt:lpstr>
      <vt:lpstr>Figure 6.6 Biased Growth (1 of 2)</vt:lpstr>
      <vt:lpstr>Figure 6.6 Biased Growth (2 of 2)</vt:lpstr>
      <vt:lpstr>International Effects of Growth (3 of 5)</vt:lpstr>
      <vt:lpstr>Figure 6.7 Growth and World Relative Supply</vt:lpstr>
      <vt:lpstr>International Effects of Growth (4 of 5)</vt:lpstr>
      <vt:lpstr>International Effects of Growth (5 of 5)</vt:lpstr>
      <vt:lpstr>Has the Growth of Newly Industrializing Economies Hurt Advanced Nations? (1 of 3)</vt:lpstr>
      <vt:lpstr>Has the Growth of Newly Industrializing Economies Hurt Advanced Nations? (2 of 3)</vt:lpstr>
      <vt:lpstr>Has the Growth of Newly Industrializing Economies Hurt Advanced Nations? (3 of 3)</vt:lpstr>
      <vt:lpstr>Figure 6.8 Evolution of the Terms of Trade for the United States and China</vt:lpstr>
      <vt:lpstr>Import Tariffs and Export Subsidies: Simultaneous Shifts in R S and R D</vt:lpstr>
      <vt:lpstr>Relative Price and Supply Effects of a Tariff (1 of 2)</vt:lpstr>
      <vt:lpstr>Relative Price and Supply Effects of a Tariff (2 of 2)</vt:lpstr>
      <vt:lpstr>Figure 6.9 Effects of a Food Tariff on the Terms of Trade</vt:lpstr>
      <vt:lpstr>Effects of an Export Subsidy (1 of 2)</vt:lpstr>
      <vt:lpstr>Effects of an Export Subsidy (2 of 2)</vt:lpstr>
      <vt:lpstr>Figure 6.10 Effects of a Cloth Subsidy on the Terms of Trade</vt:lpstr>
      <vt:lpstr>Implications of Terms of Trade Effects: Who Gains and Who Loses? (1 of 4)</vt:lpstr>
      <vt:lpstr>Implications of Terms of Trade Effects: Who Gains and Who Loses? (2 of 4)</vt:lpstr>
      <vt:lpstr>Implications of Terms of Trade Effects: Who Gains and Who Loses? (3 of 4)</vt:lpstr>
      <vt:lpstr>Implications of Terms of Trade Effects: Who Gains and Who Loses? (4 of 4)</vt:lpstr>
      <vt:lpstr>International Borrowing and Lending (1 of 5)</vt:lpstr>
      <vt:lpstr>Figure 6.11 The Intertemporal Production Possibility Frontier</vt:lpstr>
      <vt:lpstr>International Borrowing and Lending (2 of 5)</vt:lpstr>
      <vt:lpstr>International Borrowing and Lending (3 of 5)</vt:lpstr>
      <vt:lpstr>International Borrowing and Lending (4 of 5)</vt:lpstr>
      <vt:lpstr>International Borrowing and Lending (5 of 5)</vt:lpstr>
      <vt:lpstr>Figure 6.12 Equilibrium Interest Rate with Borrowing and Lending</vt:lpstr>
      <vt:lpstr>Summary (1 of 3)</vt:lpstr>
      <vt:lpstr>Summary (2 of 3)</vt:lpstr>
      <vt:lpstr>Summary (3 of 3)</vt:lpstr>
      <vt:lpstr>More On Intertemporal Trade</vt:lpstr>
      <vt:lpstr>Figure 6A1.1 Determining Home’s Intertemporal Production Pattern</vt:lpstr>
      <vt:lpstr>Figure 6A1.2 Determining Home’s Intertemporal Consumption Pattern</vt:lpstr>
      <vt:lpstr>Figure 6A1.3 Determining Foreign’s Intertemporal Production and Consumption Patterns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6, The Standard Trade Model</dc:title>
  <dc:subject>Business</dc:subject>
  <dc:creator>Krugman/Obstfeld/Melitz</dc:creator>
  <cp:keywords>International Economics</cp:keywords>
  <dc:description>Long description alt-text is inserted in the notes pane.</dc:description>
  <cp:lastModifiedBy>admin</cp:lastModifiedBy>
  <cp:revision>1040</cp:revision>
  <dcterms:modified xsi:type="dcterms:W3CDTF">2021-11-02T06:34:29Z</dcterms:modified>
</cp:coreProperties>
</file>